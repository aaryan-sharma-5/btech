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82" r:id="rId34"/>
    <p:sldId id="283" r:id="rId35"/>
    <p:sldId id="284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5" r:id="rId78"/>
    <p:sldId id="336" r:id="rId79"/>
    <p:sldId id="337" r:id="rId80"/>
    <p:sldId id="355" r:id="rId81"/>
    <p:sldId id="338" r:id="rId82"/>
    <p:sldId id="334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6" r:id="rId100"/>
    <p:sldId id="357" r:id="rId101"/>
    <p:sldId id="358" r:id="rId102"/>
    <p:sldId id="359" r:id="rId103"/>
    <p:sldId id="360" r:id="rId104"/>
    <p:sldId id="361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4" r:id="rId116"/>
    <p:sldId id="375" r:id="rId117"/>
    <p:sldId id="373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72" r:id="rId128"/>
    <p:sldId id="385" r:id="rId129"/>
    <p:sldId id="386" r:id="rId130"/>
    <p:sldId id="387" r:id="rId131"/>
    <p:sldId id="388" r:id="rId1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6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6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60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509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68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37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585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2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02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97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46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52F33-D65B-4AD0-9CCF-47A1BDFF015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4BBC9-224D-4BCB-B4AE-8E210AC4D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987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hyperlink" Target="../../Desktop/The%20Differences%20Between%20Black%20Box%20and%20White%20Box%20Testing.docx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dirty="0"/>
              <a:t>Chapter 5</a:t>
            </a:r>
          </a:p>
        </p:txBody>
      </p:sp>
    </p:spTree>
    <p:extLst>
      <p:ext uri="{BB962C8B-B14F-4D97-AF65-F5344CB8AC3E}">
        <p14:creationId xmlns:p14="http://schemas.microsoft.com/office/powerpoint/2010/main" val="2440682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732626"/>
              </p:ext>
            </p:extLst>
          </p:nvPr>
        </p:nvGraphicFramePr>
        <p:xfrm>
          <a:off x="0" y="0"/>
          <a:ext cx="9143999" cy="6570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055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28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5.0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Testing and Maintenance 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828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5.1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Testing Concepts: Purpose of Software Testing, Testing Principles, Goals of Testing,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Testing aspects: Requirements, Test Scenarios, Test cases, Test scripts/procedures, 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0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5.2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Strategies for Software Testing, Testing Activities: Planning Verification and Validation, Software Inspections,FTR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2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5.3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Levels of Testing : unit testing, integration testing, regression testing, product  testing, acceptance testing and White-Box Testing 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38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5.4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Black-Box Testing: Test Case Design Criteria, Requirement Based Testing, Boundary Value Analysis, Equivalence Partitioning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9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5.5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Object Oriented Testing: Review of OOA and OOD models, class testing, integration testing, validation testing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25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5.6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Reverse and re-engineering, types of maintenance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7084" marR="6708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690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Purpose of Software Testing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Testing is the </a:t>
            </a:r>
            <a:r>
              <a:rPr lang="en-US" b="1" dirty="0"/>
              <a:t>process of analyzing a system </a:t>
            </a:r>
            <a:r>
              <a:rPr lang="en-US" dirty="0"/>
              <a:t>or system component </a:t>
            </a:r>
            <a:r>
              <a:rPr lang="en-US" b="1" dirty="0"/>
              <a:t>to detect the differences </a:t>
            </a:r>
            <a:r>
              <a:rPr lang="en-US" dirty="0"/>
              <a:t>between specified (</a:t>
            </a:r>
            <a:r>
              <a:rPr lang="en-US" b="1" dirty="0"/>
              <a:t>required</a:t>
            </a:r>
            <a:r>
              <a:rPr lang="en-US" dirty="0"/>
              <a:t>) and observed (</a:t>
            </a:r>
            <a:r>
              <a:rPr lang="en-US" b="1" dirty="0"/>
              <a:t>existing</a:t>
            </a:r>
            <a:r>
              <a:rPr lang="en-US" dirty="0"/>
              <a:t>) behavior.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Testing is a </a:t>
            </a:r>
            <a:r>
              <a:rPr lang="en-US" b="1" dirty="0"/>
              <a:t>set of activities </a:t>
            </a:r>
            <a:r>
              <a:rPr lang="en-US" dirty="0"/>
              <a:t>that can be </a:t>
            </a:r>
            <a:r>
              <a:rPr lang="en-US" b="1" dirty="0"/>
              <a:t>planned in advance </a:t>
            </a:r>
            <a:r>
              <a:rPr lang="en-US" dirty="0"/>
              <a:t>and conducted systematically</a:t>
            </a:r>
          </a:p>
        </p:txBody>
      </p:sp>
    </p:spTree>
    <p:extLst>
      <p:ext uri="{BB962C8B-B14F-4D97-AF65-F5344CB8AC3E}">
        <p14:creationId xmlns:p14="http://schemas.microsoft.com/office/powerpoint/2010/main" val="1134335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1. All tests should be traceable to customer requirements</a:t>
            </a:r>
          </a:p>
          <a:p>
            <a:pPr algn="just"/>
            <a:r>
              <a:rPr lang="en-US" dirty="0"/>
              <a:t> testing proves the presence of errors</a:t>
            </a:r>
          </a:p>
          <a:p>
            <a:pPr algn="just"/>
            <a:r>
              <a:rPr lang="en-US" dirty="0"/>
              <a:t>it does not verify that no more bugs exist</a:t>
            </a:r>
          </a:p>
          <a:p>
            <a:pPr algn="just"/>
            <a:r>
              <a:rPr lang="en-US" dirty="0"/>
              <a:t>Testing is not a prove that the system is free of errors.</a:t>
            </a:r>
          </a:p>
          <a:p>
            <a:pPr algn="just"/>
            <a:r>
              <a:rPr lang="en-US" dirty="0"/>
              <a:t>most severe defects are those that cause the program to fail to meet its requirements.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2. Exhaustive testing is not possible</a:t>
            </a:r>
          </a:p>
          <a:p>
            <a:pPr algn="just"/>
            <a:r>
              <a:rPr lang="en-US" dirty="0"/>
              <a:t>An exhaustive test which considers all possible input parameters, their combinations and different pre-conditions can not be accomplished.</a:t>
            </a:r>
          </a:p>
        </p:txBody>
      </p:sp>
    </p:spTree>
    <p:extLst>
      <p:ext uri="{BB962C8B-B14F-4D97-AF65-F5344CB8AC3E}">
        <p14:creationId xmlns:p14="http://schemas.microsoft.com/office/powerpoint/2010/main" val="185159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8991600" cy="53340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Test are always spot tests , hence efforts must be managed.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3. Tests should be planned long before testing begin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4. Test early and regularly</a:t>
            </a:r>
          </a:p>
          <a:p>
            <a:pPr algn="just"/>
            <a:r>
              <a:rPr lang="en-US" dirty="0"/>
              <a:t>Testing activities should begin as early as possible within the software life cycle.</a:t>
            </a:r>
          </a:p>
          <a:p>
            <a:pPr algn="just"/>
            <a:r>
              <a:rPr lang="en-US" dirty="0"/>
              <a:t>Early testing helps detecting errors at an early stage of the development process which simplifies error correction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81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257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5. Accumulation of errors</a:t>
            </a:r>
          </a:p>
          <a:p>
            <a:r>
              <a:rPr lang="en-US" dirty="0"/>
              <a:t>There is no equal distribution of errors within one test object.</a:t>
            </a:r>
          </a:p>
          <a:p>
            <a:pPr algn="just"/>
            <a:r>
              <a:rPr lang="en-US" dirty="0"/>
              <a:t>The place where one error occurs, it’s likely to find some more. The testing process must be flexible and respond to this behavior.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6. Fading effectiveness</a:t>
            </a:r>
          </a:p>
          <a:p>
            <a:pPr algn="just"/>
            <a:r>
              <a:rPr lang="en-US" dirty="0"/>
              <a:t>The effectiveness of software testing fades over time.</a:t>
            </a:r>
          </a:p>
          <a:p>
            <a:pPr algn="just"/>
            <a:r>
              <a:rPr lang="en-US" dirty="0"/>
              <a:t>If test-cases are only repeated, they do not expose new errors.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algn="just"/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488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334000"/>
          </a:xfrm>
        </p:spPr>
        <p:txBody>
          <a:bodyPr/>
          <a:lstStyle/>
          <a:p>
            <a:pPr algn="just"/>
            <a:r>
              <a:rPr lang="en-US" dirty="0"/>
              <a:t>Errors, remaining within untested functions may not be discovered.</a:t>
            </a:r>
          </a:p>
          <a:p>
            <a:pPr algn="just"/>
            <a:r>
              <a:rPr lang="en-US" dirty="0"/>
              <a:t>to prevent this effect, test-cases must be altered and reworked time by time.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7. Testing depends on context</a:t>
            </a:r>
          </a:p>
          <a:p>
            <a:pPr algn="just"/>
            <a:r>
              <a:rPr lang="en-US" dirty="0"/>
              <a:t>No two systems are the same and therefore can not be tested the same way.</a:t>
            </a: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2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Principles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8. False conclusion: no errors equals usable system</a:t>
            </a:r>
          </a:p>
          <a:p>
            <a:pPr algn="just"/>
            <a:r>
              <a:rPr lang="en-US" dirty="0"/>
              <a:t>Error detection and error fixing does not guarantee a usable system matching the users expectations. </a:t>
            </a:r>
          </a:p>
          <a:p>
            <a:pPr algn="just"/>
            <a:r>
              <a:rPr lang="en-US" dirty="0"/>
              <a:t>Early integration of users and rapid prototyping prevents unhappy clients and discussions.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9. The Pareto principle applies to software testing</a:t>
            </a:r>
          </a:p>
          <a:p>
            <a:pPr algn="just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10.Testing should begin “in the small” and progress toward testing “in the large.”</a:t>
            </a:r>
          </a:p>
          <a:p>
            <a:pPr algn="just">
              <a:buNone/>
            </a:pPr>
            <a:endParaRPr lang="en-US" b="1" dirty="0">
              <a:solidFill>
                <a:srgbClr val="FF0000"/>
              </a:solidFill>
            </a:endParaRPr>
          </a:p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11. To be most effective, testing should be conducted by an independent third party.</a:t>
            </a:r>
          </a:p>
        </p:txBody>
      </p:sp>
    </p:spTree>
    <p:extLst>
      <p:ext uri="{BB962C8B-B14F-4D97-AF65-F5344CB8AC3E}">
        <p14:creationId xmlns:p14="http://schemas.microsoft.com/office/powerpoint/2010/main" val="3728901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testing process has two distinct goals: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dirty="0"/>
              <a:t>To demonstrate to the developer and the customer that the software meets its requirements.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The first goal leads to </a:t>
            </a:r>
            <a:r>
              <a:rPr lang="en-US" b="1" dirty="0"/>
              <a:t>validation testing</a:t>
            </a:r>
            <a:r>
              <a:rPr lang="en-US" dirty="0"/>
              <a:t>, where you expect the system to perform correctly using a given set of test cases that reflect the system’s expected use.</a:t>
            </a:r>
          </a:p>
        </p:txBody>
      </p:sp>
    </p:spTree>
    <p:extLst>
      <p:ext uri="{BB962C8B-B14F-4D97-AF65-F5344CB8AC3E}">
        <p14:creationId xmlns:p14="http://schemas.microsoft.com/office/powerpoint/2010/main" val="3065819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2. To discover situations in which the behavior of the software is incorrect, undesirable, or does not conform to its specification</a:t>
            </a:r>
            <a:r>
              <a:rPr lang="en-US" b="1" dirty="0"/>
              <a:t>.(Verification)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second goal leads to defect testing, where the test cases are designed to expose defects.</a:t>
            </a:r>
          </a:p>
          <a:p>
            <a:endParaRPr lang="en-US" dirty="0"/>
          </a:p>
          <a:p>
            <a:pPr marL="342900" lvl="1" indent="-342900" algn="just">
              <a:buFont typeface="Arial" pitchFamily="34" charset="0"/>
              <a:buChar char="•"/>
            </a:pPr>
            <a:r>
              <a:rPr lang="en-US" sz="3200" dirty="0"/>
              <a:t>The set of activities that ensure that software correctly implements a specific function or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427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Testing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</a:t>
            </a:r>
            <a:r>
              <a:rPr lang="en-US" b="1" dirty="0"/>
              <a:t>test component </a:t>
            </a:r>
            <a:r>
              <a:rPr lang="en-US" dirty="0"/>
              <a:t>is a part of the system that can be isolated for testing.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fault</a:t>
            </a:r>
            <a:r>
              <a:rPr lang="en-US" dirty="0"/>
              <a:t>, also called </a:t>
            </a:r>
            <a:r>
              <a:rPr lang="en-US" b="1" dirty="0"/>
              <a:t>bug or defect</a:t>
            </a:r>
            <a:r>
              <a:rPr lang="en-US" dirty="0"/>
              <a:t>, is a design or coding mistake that may cause abnormal component behavior.</a:t>
            </a:r>
          </a:p>
          <a:p>
            <a:pPr algn="just"/>
            <a:r>
              <a:rPr lang="en-US" dirty="0"/>
              <a:t>An </a:t>
            </a:r>
            <a:r>
              <a:rPr lang="en-US" b="1" dirty="0"/>
              <a:t>erroneous state </a:t>
            </a:r>
            <a:r>
              <a:rPr lang="en-US" dirty="0"/>
              <a:t>is an indication of a fault during the execution of the system.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failure</a:t>
            </a:r>
            <a:r>
              <a:rPr lang="en-US" dirty="0"/>
              <a:t> is a deviation between the specification and the actual behavior. A </a:t>
            </a:r>
            <a:r>
              <a:rPr lang="en-US" b="1" dirty="0"/>
              <a:t>failure is triggered </a:t>
            </a:r>
            <a:r>
              <a:rPr lang="en-US" dirty="0"/>
              <a:t>by one or more </a:t>
            </a:r>
            <a:r>
              <a:rPr lang="en-US" b="1" dirty="0"/>
              <a:t>erroneous states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1. Testability</a:t>
            </a:r>
          </a:p>
          <a:p>
            <a:pPr algn="just"/>
            <a:r>
              <a:rPr lang="en-US" dirty="0"/>
              <a:t>Software testability is simply how easily [a computer program] can be tested.</a:t>
            </a:r>
          </a:p>
          <a:p>
            <a:pPr algn="just"/>
            <a:r>
              <a:rPr lang="en-US" dirty="0"/>
              <a:t>There are certainly metrics that could be used to measure testability.</a:t>
            </a:r>
          </a:p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2. Operability</a:t>
            </a:r>
          </a:p>
          <a:p>
            <a:pPr algn="just"/>
            <a:r>
              <a:rPr lang="en-US" dirty="0"/>
              <a:t>"The better it works, the more efficiently it can be tested.“</a:t>
            </a:r>
          </a:p>
          <a:p>
            <a:r>
              <a:rPr lang="en-US" dirty="0"/>
              <a:t>The system has few bugs (bugs add analysis and reporting overhead to the test process).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sz="3600" b="1" dirty="0">
                <a:solidFill>
                  <a:srgbClr val="FF0000"/>
                </a:solidFill>
              </a:rPr>
              <a:t>3. Observability</a:t>
            </a:r>
          </a:p>
          <a:p>
            <a:pPr algn="just"/>
            <a:r>
              <a:rPr lang="en-US" sz="3600" b="1" dirty="0"/>
              <a:t>"What you see is what you test."</a:t>
            </a:r>
          </a:p>
          <a:p>
            <a:pPr algn="just">
              <a:buNone/>
            </a:pPr>
            <a:r>
              <a:rPr lang="en-US" sz="3600" dirty="0"/>
              <a:t>• Distinct output is generated for each input.</a:t>
            </a:r>
          </a:p>
          <a:p>
            <a:pPr algn="just">
              <a:buNone/>
            </a:pPr>
            <a:r>
              <a:rPr lang="en-US" sz="3600" dirty="0"/>
              <a:t>• System states and variables are visible or </a:t>
            </a:r>
            <a:r>
              <a:rPr lang="en-US" sz="3600" dirty="0" err="1"/>
              <a:t>queriable</a:t>
            </a:r>
            <a:r>
              <a:rPr lang="en-US" sz="3600" dirty="0"/>
              <a:t> during execution.</a:t>
            </a:r>
          </a:p>
          <a:p>
            <a:pPr algn="just">
              <a:buNone/>
            </a:pPr>
            <a:r>
              <a:rPr lang="en-US" sz="3600" dirty="0"/>
              <a:t>• Past system states and variables are visible or </a:t>
            </a:r>
            <a:r>
              <a:rPr lang="en-US" sz="3600" dirty="0" err="1"/>
              <a:t>queriable</a:t>
            </a:r>
            <a:r>
              <a:rPr lang="en-US" sz="3600" dirty="0"/>
              <a:t> (e.g., transaction logs).</a:t>
            </a:r>
          </a:p>
          <a:p>
            <a:pPr algn="just">
              <a:buNone/>
            </a:pPr>
            <a:r>
              <a:rPr lang="en-US" sz="3600" dirty="0"/>
              <a:t>• All factors affecting the output are visible.</a:t>
            </a:r>
          </a:p>
          <a:p>
            <a:pPr algn="just">
              <a:buNone/>
            </a:pPr>
            <a:r>
              <a:rPr lang="en-US" sz="3600" dirty="0"/>
              <a:t>• Incorrect output is easily identified.</a:t>
            </a:r>
          </a:p>
          <a:p>
            <a:pPr algn="just">
              <a:buNone/>
            </a:pPr>
            <a:r>
              <a:rPr lang="en-US" sz="3600" dirty="0"/>
              <a:t>•Internal errors are automatically detected through self testing mechanisms.</a:t>
            </a:r>
          </a:p>
          <a:p>
            <a:pPr algn="just">
              <a:buNone/>
            </a:pPr>
            <a:r>
              <a:rPr lang="en-US" sz="3600" dirty="0"/>
              <a:t>• Internal errors are automatically reported.</a:t>
            </a:r>
          </a:p>
          <a:p>
            <a:pPr algn="just">
              <a:buNone/>
            </a:pPr>
            <a:r>
              <a:rPr lang="en-US" sz="3600" dirty="0"/>
              <a:t>• Source code is accessible.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71600"/>
            <a:ext cx="9144000" cy="54864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FF0000"/>
                </a:solidFill>
              </a:rPr>
              <a:t>4. Controllability. </a:t>
            </a:r>
          </a:p>
          <a:p>
            <a:pPr algn="just"/>
            <a:r>
              <a:rPr lang="en-US" sz="2400" dirty="0"/>
              <a:t>"The better we can control the software, the more the testing can</a:t>
            </a:r>
          </a:p>
          <a:p>
            <a:pPr algn="just">
              <a:buNone/>
            </a:pPr>
            <a:r>
              <a:rPr lang="en-US" sz="2400" dirty="0"/>
              <a:t>be automated and optimized."</a:t>
            </a:r>
          </a:p>
          <a:p>
            <a:pPr algn="just">
              <a:buNone/>
            </a:pPr>
            <a:r>
              <a:rPr lang="en-US" sz="2400" dirty="0"/>
              <a:t>• All possible outputs can be generated through some combination of input.</a:t>
            </a:r>
          </a:p>
          <a:p>
            <a:pPr algn="just">
              <a:buNone/>
            </a:pPr>
            <a:r>
              <a:rPr lang="en-US" sz="2400" dirty="0"/>
              <a:t>• All code is executable through some combination of input.</a:t>
            </a:r>
          </a:p>
          <a:p>
            <a:pPr algn="just">
              <a:buNone/>
            </a:pPr>
            <a:r>
              <a:rPr lang="en-US" sz="2400" dirty="0"/>
              <a:t>• Software and hardware states and variables can be controlled directly by the</a:t>
            </a:r>
          </a:p>
          <a:p>
            <a:pPr algn="just">
              <a:buNone/>
            </a:pPr>
            <a:r>
              <a:rPr lang="en-US" sz="2400" dirty="0"/>
              <a:t>test engineer.</a:t>
            </a:r>
          </a:p>
          <a:p>
            <a:pPr algn="just">
              <a:buNone/>
            </a:pPr>
            <a:r>
              <a:rPr lang="en-US" sz="2400" dirty="0"/>
              <a:t>• Input and output formats are consistent and structured.</a:t>
            </a:r>
          </a:p>
          <a:p>
            <a:pPr algn="just">
              <a:buNone/>
            </a:pPr>
            <a:r>
              <a:rPr lang="en-US" sz="2400" dirty="0"/>
              <a:t>• Tests can be conveniently specified, automated, and reproduced.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>
                <a:solidFill>
                  <a:srgbClr val="FF0000"/>
                </a:solidFill>
              </a:rPr>
              <a:t>5. Decomposability</a:t>
            </a:r>
          </a:p>
          <a:p>
            <a:pPr algn="just"/>
            <a:r>
              <a:rPr lang="en-US" dirty="0"/>
              <a:t>"By controlling the scope of testing, we can more quickly isolate problems and perform smarter retesting."</a:t>
            </a:r>
          </a:p>
          <a:p>
            <a:pPr algn="just">
              <a:buNone/>
            </a:pPr>
            <a:r>
              <a:rPr lang="en-US" dirty="0"/>
              <a:t>• The software system is built from independent modules.</a:t>
            </a:r>
          </a:p>
          <a:p>
            <a:pPr algn="just">
              <a:buNone/>
            </a:pPr>
            <a:r>
              <a:rPr lang="en-US" dirty="0"/>
              <a:t>• Software modules can be tested independently.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6. Simplicity. </a:t>
            </a:r>
          </a:p>
          <a:p>
            <a:pPr algn="just"/>
            <a:r>
              <a:rPr lang="en-US" b="1" dirty="0"/>
              <a:t>"The less there is to test, the more quickly we can test it.“</a:t>
            </a:r>
          </a:p>
          <a:p>
            <a:pPr algn="just">
              <a:buNone/>
            </a:pPr>
            <a:endParaRPr lang="en-US" b="1" dirty="0"/>
          </a:p>
          <a:p>
            <a:pPr algn="just">
              <a:buNone/>
            </a:pPr>
            <a:r>
              <a:rPr lang="en-US" dirty="0"/>
              <a:t>• </a:t>
            </a:r>
            <a:r>
              <a:rPr lang="en-US" b="1" dirty="0"/>
              <a:t>Functional simplicity </a:t>
            </a:r>
            <a:r>
              <a:rPr lang="en-US" dirty="0"/>
              <a:t>(e.g., the feature set is the minimum necessary to meet requirements).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Structural simplicity </a:t>
            </a:r>
            <a:r>
              <a:rPr lang="en-US" dirty="0"/>
              <a:t>(e.g., architecture is modularized to limit the propagation of faults).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• </a:t>
            </a:r>
            <a:r>
              <a:rPr lang="en-US" b="1" dirty="0"/>
              <a:t>Code simplicity </a:t>
            </a:r>
            <a:r>
              <a:rPr lang="en-US" dirty="0"/>
              <a:t>(e.g., a coding standard is adopted for ease of inspection and maintenance).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7. Stability</a:t>
            </a:r>
          </a:p>
          <a:p>
            <a:pPr algn="just"/>
            <a:r>
              <a:rPr lang="en-US" b="1" dirty="0"/>
              <a:t>"The fewer the changes, the fewer the disruptions to testing."</a:t>
            </a:r>
          </a:p>
          <a:p>
            <a:pPr algn="just">
              <a:buNone/>
            </a:pPr>
            <a:r>
              <a:rPr lang="en-US" dirty="0"/>
              <a:t>• Changes to the software are infrequent.</a:t>
            </a:r>
          </a:p>
          <a:p>
            <a:pPr algn="just">
              <a:buNone/>
            </a:pPr>
            <a:r>
              <a:rPr lang="en-US" dirty="0"/>
              <a:t>• Changes to the software are controlled.</a:t>
            </a:r>
          </a:p>
          <a:p>
            <a:pPr algn="just">
              <a:buNone/>
            </a:pPr>
            <a:r>
              <a:rPr lang="en-US" dirty="0"/>
              <a:t>• Changes to the software do not invalidate existing tests.</a:t>
            </a:r>
          </a:p>
          <a:p>
            <a:pPr algn="just">
              <a:buNone/>
            </a:pPr>
            <a:r>
              <a:rPr lang="en-US" dirty="0"/>
              <a:t>• The software recovers well from failures.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of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</a:rPr>
              <a:t>8. Understandability. </a:t>
            </a:r>
          </a:p>
          <a:p>
            <a:pPr algn="just"/>
            <a:r>
              <a:rPr lang="en-US" b="1" dirty="0"/>
              <a:t>"The more information we have, the smarter we will test."</a:t>
            </a:r>
          </a:p>
          <a:p>
            <a:pPr algn="just">
              <a:buNone/>
            </a:pPr>
            <a:r>
              <a:rPr lang="en-US" dirty="0"/>
              <a:t>• The design is well understood.</a:t>
            </a:r>
          </a:p>
          <a:p>
            <a:pPr algn="just">
              <a:buNone/>
            </a:pPr>
            <a:r>
              <a:rPr lang="en-US" dirty="0"/>
              <a:t>• Dependencies between internal, external, and shared components are well understood.</a:t>
            </a:r>
          </a:p>
          <a:p>
            <a:pPr algn="just">
              <a:buNone/>
            </a:pPr>
            <a:r>
              <a:rPr lang="en-US" dirty="0"/>
              <a:t>• Changes to the design are communicated.</a:t>
            </a:r>
          </a:p>
          <a:p>
            <a:pPr algn="just">
              <a:buNone/>
            </a:pPr>
            <a:r>
              <a:rPr lang="en-US" dirty="0"/>
              <a:t>• Technical documentation is instantly accessible.</a:t>
            </a:r>
          </a:p>
          <a:p>
            <a:pPr algn="just">
              <a:buNone/>
            </a:pPr>
            <a:r>
              <a:rPr lang="en-US" dirty="0"/>
              <a:t>• Technical documentation is well organized.</a:t>
            </a:r>
          </a:p>
          <a:p>
            <a:pPr algn="just">
              <a:buNone/>
            </a:pPr>
            <a:r>
              <a:rPr lang="en-US" dirty="0"/>
              <a:t>• Technical documentation is specific and detailed.</a:t>
            </a:r>
          </a:p>
          <a:p>
            <a:pPr>
              <a:buNone/>
            </a:pPr>
            <a:r>
              <a:rPr lang="en-US" dirty="0"/>
              <a:t>• Technical documentation is accurate.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test case is a set of </a:t>
            </a:r>
            <a:r>
              <a:rPr lang="en-US" b="1" dirty="0"/>
              <a:t>conditions or variables under which a tester will determine </a:t>
            </a:r>
            <a:r>
              <a:rPr lang="en-US" dirty="0"/>
              <a:t>whether a </a:t>
            </a:r>
            <a:r>
              <a:rPr lang="en-US" b="1" dirty="0"/>
              <a:t>system under test </a:t>
            </a:r>
            <a:r>
              <a:rPr lang="en-US" dirty="0"/>
              <a:t>satisfies requirements or works correctly.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process of developing test cases can also help find problems in the requirements or design of an application.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763000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test case has five attributes:</a:t>
            </a:r>
          </a:p>
          <a:p>
            <a:pPr marL="514350" indent="-514350" algn="just">
              <a:buAutoNum type="arabicPeriod"/>
            </a:pPr>
            <a:r>
              <a:rPr lang="en-US" dirty="0"/>
              <a:t>The </a:t>
            </a:r>
            <a:r>
              <a:rPr lang="en-US" b="1" dirty="0"/>
              <a:t>name</a:t>
            </a:r>
            <a:r>
              <a:rPr lang="en-US" dirty="0"/>
              <a:t> of the test case allows the tester to distinguish between different test cases.</a:t>
            </a:r>
          </a:p>
          <a:p>
            <a:pPr algn="just"/>
            <a:r>
              <a:rPr lang="en-US" b="1" dirty="0"/>
              <a:t>For example: </a:t>
            </a:r>
            <a:r>
              <a:rPr lang="en-US" dirty="0"/>
              <a:t>testing a use case Deposit(), call the test case </a:t>
            </a:r>
            <a:r>
              <a:rPr lang="en-US" dirty="0" err="1"/>
              <a:t>Test_Deposit</a:t>
            </a:r>
            <a:r>
              <a:rPr lang="en-US" i="1" dirty="0"/>
              <a:t>.</a:t>
            </a:r>
          </a:p>
          <a:p>
            <a:pPr algn="just">
              <a:buNone/>
            </a:pPr>
            <a:endParaRPr lang="en-US" i="1" dirty="0"/>
          </a:p>
          <a:p>
            <a:pPr algn="just">
              <a:buNone/>
            </a:pPr>
            <a:r>
              <a:rPr lang="en-US" i="1" dirty="0"/>
              <a:t>2. </a:t>
            </a:r>
            <a:r>
              <a:rPr lang="en-US" dirty="0"/>
              <a:t>The </a:t>
            </a:r>
            <a:r>
              <a:rPr lang="en-US" b="1" dirty="0"/>
              <a:t>location</a:t>
            </a:r>
            <a:r>
              <a:rPr lang="en-US" dirty="0"/>
              <a:t> attribute describes where the test case can be found.</a:t>
            </a:r>
          </a:p>
          <a:p>
            <a:pPr algn="just"/>
            <a:r>
              <a:rPr lang="en-US" dirty="0"/>
              <a:t>path name or the URL to the executable of the test program and its inputs.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/>
              <a:t>3. </a:t>
            </a:r>
            <a:r>
              <a:rPr lang="en-US" b="1" dirty="0"/>
              <a:t>Input (data)</a:t>
            </a:r>
            <a:r>
              <a:rPr lang="en-US" dirty="0"/>
              <a:t> describes the set of input data or commands to be entered by the actor of the test case.</a:t>
            </a:r>
          </a:p>
          <a:p>
            <a:pPr algn="just"/>
            <a:r>
              <a:rPr lang="en-US" dirty="0"/>
              <a:t>The test data, or links to the test data, that are to be used while conducting the test.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dirty="0"/>
              <a:t>4. The expected behavior is described by the </a:t>
            </a:r>
            <a:r>
              <a:rPr lang="en-US" b="1" dirty="0"/>
              <a:t>oracle</a:t>
            </a:r>
            <a:r>
              <a:rPr lang="en-US" dirty="0"/>
              <a:t> attribute.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5. The </a:t>
            </a:r>
            <a:r>
              <a:rPr lang="en-US" b="1" dirty="0"/>
              <a:t>log</a:t>
            </a:r>
            <a:r>
              <a:rPr lang="en-US" dirty="0"/>
              <a:t> is a set of time-stamped correlations of the observed behavior with the expected behavior for various test runs.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Testing is a </a:t>
            </a:r>
            <a:r>
              <a:rPr lang="en-US" b="1" dirty="0"/>
              <a:t>set of activities that can be planned in advance </a:t>
            </a:r>
            <a:r>
              <a:rPr lang="en-US" dirty="0"/>
              <a:t>and conducted systematically.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number of </a:t>
            </a:r>
            <a:r>
              <a:rPr lang="en-US" b="1" dirty="0"/>
              <a:t>software testing strategies provide</a:t>
            </a:r>
            <a:r>
              <a:rPr lang="en-US" dirty="0"/>
              <a:t> the </a:t>
            </a:r>
            <a:r>
              <a:rPr lang="en-US" b="1" dirty="0"/>
              <a:t>software developer </a:t>
            </a:r>
            <a:r>
              <a:rPr lang="en-US" dirty="0"/>
              <a:t>with a </a:t>
            </a:r>
            <a:r>
              <a:rPr lang="en-US" b="1" dirty="0"/>
              <a:t>template</a:t>
            </a:r>
            <a:r>
              <a:rPr lang="en-US" dirty="0"/>
              <a:t> for testing and have the following generic characteristics: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marL="514350" indent="-514350" algn="just">
              <a:buAutoNum type="arabicPeriod"/>
            </a:pPr>
            <a:r>
              <a:rPr lang="en-US" dirty="0"/>
              <a:t>Testing begins at the </a:t>
            </a:r>
            <a:r>
              <a:rPr lang="en-US" b="1" dirty="0"/>
              <a:t>component level </a:t>
            </a:r>
            <a:r>
              <a:rPr lang="en-US" dirty="0"/>
              <a:t>and works "</a:t>
            </a:r>
            <a:r>
              <a:rPr lang="en-US" b="1" dirty="0"/>
              <a:t>outward</a:t>
            </a:r>
            <a:r>
              <a:rPr lang="en-US" dirty="0"/>
              <a:t>" toward the </a:t>
            </a:r>
            <a:r>
              <a:rPr lang="en-US" b="1" dirty="0"/>
              <a:t>integration</a:t>
            </a:r>
            <a:r>
              <a:rPr lang="en-US" dirty="0"/>
              <a:t> of the entire computer-based </a:t>
            </a:r>
            <a:r>
              <a:rPr lang="en-US" b="1" dirty="0"/>
              <a:t>system</a:t>
            </a:r>
            <a:r>
              <a:rPr lang="en-US" dirty="0"/>
              <a:t>.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b="1" dirty="0"/>
              <a:t>Different testing techniques </a:t>
            </a:r>
            <a:r>
              <a:rPr lang="en-US" dirty="0"/>
              <a:t>are appropriate at </a:t>
            </a:r>
            <a:r>
              <a:rPr lang="en-US" b="1" dirty="0"/>
              <a:t>different points in time</a:t>
            </a:r>
            <a:r>
              <a:rPr lang="en-US" dirty="0"/>
              <a:t>.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dirty="0"/>
              <a:t>Testing is </a:t>
            </a:r>
            <a:r>
              <a:rPr lang="en-US" b="1" dirty="0"/>
              <a:t>conducted by the developer </a:t>
            </a:r>
            <a:r>
              <a:rPr lang="en-US" dirty="0"/>
              <a:t>of the software and (</a:t>
            </a:r>
            <a:r>
              <a:rPr lang="en-US" b="1" dirty="0"/>
              <a:t>for large projects</a:t>
            </a:r>
            <a:r>
              <a:rPr lang="en-US" dirty="0"/>
              <a:t>) an </a:t>
            </a:r>
            <a:r>
              <a:rPr lang="en-US" b="1" dirty="0"/>
              <a:t>independent test group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for 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/>
              <a:t>4. </a:t>
            </a:r>
            <a:r>
              <a:rPr lang="en-US" b="1" dirty="0"/>
              <a:t>Testing and debugging are different activities</a:t>
            </a:r>
            <a:r>
              <a:rPr lang="en-US" dirty="0"/>
              <a:t>, but debugging must be accommodated in any testing strategy.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A testing strategy must implement low level and high level tests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 strategy must provide guidance for the practitioner and a set of milestones for the manager.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best strategy will fail if a series of overriding issues are not addressed</a:t>
            </a:r>
          </a:p>
          <a:p>
            <a:pPr algn="just"/>
            <a:r>
              <a:rPr lang="en-US" dirty="0"/>
              <a:t>Following are the strategic issues to be considered: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rgbClr val="FF0000"/>
                </a:solidFill>
              </a:rPr>
              <a:t>1. </a:t>
            </a:r>
            <a:r>
              <a:rPr lang="en-US" sz="2800" b="1" i="1" dirty="0">
                <a:solidFill>
                  <a:srgbClr val="FF0000"/>
                </a:solidFill>
              </a:rPr>
              <a:t>Specify product requirements in a quantifiable manner long before testing commences.</a:t>
            </a:r>
            <a:endParaRPr lang="en-US" sz="2800" b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objective of testing is to find errors</a:t>
            </a:r>
          </a:p>
          <a:p>
            <a:pPr algn="just"/>
            <a:r>
              <a:rPr lang="en-US" dirty="0"/>
              <a:t>a good testing strategy also assesses other quality characteristics as well.</a:t>
            </a:r>
          </a:p>
          <a:p>
            <a:pPr algn="just"/>
            <a:r>
              <a:rPr lang="en-US" dirty="0"/>
              <a:t>Measurable requirements to be specified for unambiguous results</a:t>
            </a:r>
          </a:p>
        </p:txBody>
      </p:sp>
    </p:spTree>
    <p:extLst>
      <p:ext uri="{BB962C8B-B14F-4D97-AF65-F5344CB8AC3E}">
        <p14:creationId xmlns:p14="http://schemas.microsoft.com/office/powerpoint/2010/main" val="2338515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2. State testing objectives explicitly</a:t>
            </a:r>
          </a:p>
          <a:p>
            <a:r>
              <a:rPr lang="en-US" dirty="0"/>
              <a:t>specific objectives of testing should be stated in measurable terms.</a:t>
            </a:r>
          </a:p>
          <a:p>
            <a:endParaRPr lang="en-US" dirty="0"/>
          </a:p>
          <a:p>
            <a:r>
              <a:rPr lang="en-US" dirty="0"/>
              <a:t>For example, test effectiveness, test coverage, the cost to find and fix defects, frequency of occurrence, and test work-hours should be stated within the test plan.</a:t>
            </a:r>
          </a:p>
        </p:txBody>
      </p:sp>
    </p:spTree>
    <p:extLst>
      <p:ext uri="{BB962C8B-B14F-4D97-AF65-F5344CB8AC3E}">
        <p14:creationId xmlns:p14="http://schemas.microsoft.com/office/powerpoint/2010/main" val="3492200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3. </a:t>
            </a:r>
            <a:r>
              <a:rPr lang="en-US" b="1" i="1" dirty="0">
                <a:solidFill>
                  <a:srgbClr val="FF0000"/>
                </a:solidFill>
              </a:rPr>
              <a:t>Understand the users of the software and develop a profile for each user category.</a:t>
            </a:r>
          </a:p>
          <a:p>
            <a:pPr marL="0" indent="0" algn="just">
              <a:buNone/>
            </a:pPr>
            <a:endParaRPr lang="en-US" b="1" i="1" dirty="0">
              <a:solidFill>
                <a:srgbClr val="FF0000"/>
              </a:solidFill>
            </a:endParaRPr>
          </a:p>
          <a:p>
            <a:pPr algn="just"/>
            <a:r>
              <a:rPr lang="en-US" dirty="0"/>
              <a:t>Use cases that describe the </a:t>
            </a:r>
            <a:r>
              <a:rPr lang="en-US" b="1" dirty="0"/>
              <a:t>interaction scenario for each class of user</a:t>
            </a:r>
            <a:r>
              <a:rPr lang="en-US" dirty="0"/>
              <a:t> can </a:t>
            </a:r>
            <a:r>
              <a:rPr lang="en-US" b="1" dirty="0"/>
              <a:t>reduce overall testing effort</a:t>
            </a:r>
            <a:r>
              <a:rPr lang="en-US" dirty="0"/>
              <a:t> by focusing testing on actual use of the product.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292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4. </a:t>
            </a:r>
            <a:r>
              <a:rPr lang="en-US" b="1" i="1" dirty="0">
                <a:solidFill>
                  <a:srgbClr val="FF0000"/>
                </a:solidFill>
              </a:rPr>
              <a:t>Develop a testing plan that emphasizes “rapid cycle testing.”</a:t>
            </a:r>
          </a:p>
          <a:p>
            <a:pPr algn="just"/>
            <a:r>
              <a:rPr lang="en-US" dirty="0"/>
              <a:t>Is mindset and skill set to carry out testing more quickly , less expensive and best results.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feedback generated from these rapid cycle tests can be used to control quality levels and the corresponding test strategies.</a:t>
            </a:r>
          </a:p>
        </p:txBody>
      </p:sp>
    </p:spTree>
    <p:extLst>
      <p:ext uri="{BB962C8B-B14F-4D97-AF65-F5344CB8AC3E}">
        <p14:creationId xmlns:p14="http://schemas.microsoft.com/office/powerpoint/2010/main" val="13738979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</a:rPr>
              <a:t>5. Build “robust” software that is designed to test itself.</a:t>
            </a:r>
          </a:p>
          <a:p>
            <a:pPr algn="just"/>
            <a:r>
              <a:rPr lang="en-US" dirty="0"/>
              <a:t>Software should be capable of diagnosing certain classes of errors.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design should accommodate automated testing and regression testing.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28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6. Use effective technical reviews as a filter prior to testing</a:t>
            </a:r>
          </a:p>
          <a:p>
            <a:pPr algn="just"/>
            <a:r>
              <a:rPr lang="en-US" dirty="0"/>
              <a:t>Technical reviews can be as effective as testing in uncovering errors.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reviews can reduce the amount of testing effort that is required to produce high quality software.</a:t>
            </a:r>
          </a:p>
        </p:txBody>
      </p:sp>
    </p:spTree>
    <p:extLst>
      <p:ext uri="{BB962C8B-B14F-4D97-AF65-F5344CB8AC3E}">
        <p14:creationId xmlns:p14="http://schemas.microsoft.com/office/powerpoint/2010/main" val="35678401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i="1" dirty="0">
                <a:solidFill>
                  <a:srgbClr val="FF0000"/>
                </a:solidFill>
              </a:rPr>
              <a:t>7. Develop a continuous improvement approach for the testing process.</a:t>
            </a:r>
          </a:p>
          <a:p>
            <a:pPr algn="just"/>
            <a:r>
              <a:rPr lang="en-US" dirty="0"/>
              <a:t>The test strategy should be measured.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metrics collected during testing should be used as part of a statistical process control approach for software testing.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6585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Verification</a:t>
            </a:r>
            <a:r>
              <a:rPr lang="en-US" dirty="0"/>
              <a:t> refers to the set of activities that ensure that software correctly implements a specific function(</a:t>
            </a:r>
            <a:r>
              <a:rPr lang="en-US" b="1" dirty="0"/>
              <a:t>algorithm</a:t>
            </a:r>
            <a:r>
              <a:rPr lang="en-US" dirty="0"/>
              <a:t>).</a:t>
            </a:r>
          </a:p>
          <a:p>
            <a:endParaRPr lang="en-US" dirty="0"/>
          </a:p>
          <a:p>
            <a:pPr algn="just"/>
            <a:r>
              <a:rPr lang="en-US" b="1" dirty="0"/>
              <a:t>Validation</a:t>
            </a:r>
            <a:r>
              <a:rPr lang="en-US" dirty="0"/>
              <a:t> refers to a different set of activities that ensure that the software that has been built is traceable to </a:t>
            </a:r>
            <a:r>
              <a:rPr lang="en-US" b="1" dirty="0"/>
              <a:t>customer requirements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Verification and validation encompasses a wide array of SQA activities.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SQA includes following activities: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formal technical reviews</a:t>
            </a:r>
          </a:p>
          <a:p>
            <a:r>
              <a:rPr lang="en-US" dirty="0"/>
              <a:t>quality and configuration audits</a:t>
            </a:r>
          </a:p>
          <a:p>
            <a:r>
              <a:rPr lang="en-US" dirty="0"/>
              <a:t>performance monitoring</a:t>
            </a:r>
          </a:p>
          <a:p>
            <a:r>
              <a:rPr lang="en-US" dirty="0"/>
              <a:t>Simulation</a:t>
            </a:r>
          </a:p>
          <a:p>
            <a:r>
              <a:rPr lang="en-US" dirty="0"/>
              <a:t>feasibility study</a:t>
            </a:r>
          </a:p>
          <a:p>
            <a:r>
              <a:rPr lang="en-US" dirty="0"/>
              <a:t>documentation review</a:t>
            </a:r>
          </a:p>
          <a:p>
            <a:r>
              <a:rPr lang="en-US" dirty="0"/>
              <a:t>database review</a:t>
            </a:r>
          </a:p>
          <a:p>
            <a:r>
              <a:rPr lang="en-US" dirty="0"/>
              <a:t>algorithm analysis</a:t>
            </a:r>
          </a:p>
          <a:p>
            <a:r>
              <a:rPr lang="en-US" dirty="0"/>
              <a:t>development testing</a:t>
            </a:r>
          </a:p>
          <a:p>
            <a:r>
              <a:rPr lang="en-US" dirty="0"/>
              <a:t>qualification testing</a:t>
            </a:r>
          </a:p>
          <a:p>
            <a:r>
              <a:rPr lang="en-US" dirty="0"/>
              <a:t>installation testing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defines principles for quality assurance and error detection.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Formal Technical Review (FTR) is a </a:t>
            </a:r>
            <a:r>
              <a:rPr lang="en-US" b="1" dirty="0"/>
              <a:t>software</a:t>
            </a:r>
            <a:r>
              <a:rPr lang="en-US" dirty="0"/>
              <a:t> </a:t>
            </a:r>
            <a:r>
              <a:rPr lang="en-US" b="1" dirty="0"/>
              <a:t>quality control activity </a:t>
            </a:r>
            <a:r>
              <a:rPr lang="en-US" dirty="0"/>
              <a:t>performed by software engineers (and others).</a:t>
            </a:r>
          </a:p>
          <a:p>
            <a:pPr algn="just"/>
            <a:endParaRPr lang="en-US" dirty="0"/>
          </a:p>
          <a:p>
            <a:pPr marL="0" indent="0">
              <a:buNone/>
            </a:pPr>
            <a:r>
              <a:rPr lang="en-US" dirty="0"/>
              <a:t>The objectives of an FTR are: </a:t>
            </a:r>
          </a:p>
          <a:p>
            <a:pPr marL="514350" indent="-514350" algn="just">
              <a:buAutoNum type="arabicParenBoth"/>
            </a:pPr>
            <a:r>
              <a:rPr lang="en-US" dirty="0"/>
              <a:t>to </a:t>
            </a:r>
            <a:r>
              <a:rPr lang="en-US" b="1" dirty="0"/>
              <a:t>uncover errors in function, logic, or implementation </a:t>
            </a:r>
            <a:r>
              <a:rPr lang="en-US" dirty="0"/>
              <a:t>for any representation of the software</a:t>
            </a:r>
          </a:p>
          <a:p>
            <a:pPr marL="514350" indent="-514350" algn="just">
              <a:buAutoNum type="arabicParenBoth"/>
            </a:pPr>
            <a:r>
              <a:rPr lang="en-US" dirty="0"/>
              <a:t>To </a:t>
            </a:r>
            <a:r>
              <a:rPr lang="en-US" b="1" dirty="0"/>
              <a:t>verify</a:t>
            </a:r>
            <a:r>
              <a:rPr lang="en-US" dirty="0"/>
              <a:t> that the </a:t>
            </a:r>
            <a:r>
              <a:rPr lang="en-US" b="1" dirty="0"/>
              <a:t>software</a:t>
            </a:r>
            <a:r>
              <a:rPr lang="en-US" dirty="0"/>
              <a:t> under review </a:t>
            </a:r>
            <a:r>
              <a:rPr lang="en-US" b="1" dirty="0"/>
              <a:t>meets its requirements</a:t>
            </a:r>
          </a:p>
          <a:p>
            <a:pPr marL="514350" indent="-514350" algn="just">
              <a:buAutoNum type="arabicParenBoth"/>
            </a:pPr>
            <a:r>
              <a:rPr lang="en-US" dirty="0"/>
              <a:t>to </a:t>
            </a:r>
            <a:r>
              <a:rPr lang="en-US" b="1" dirty="0"/>
              <a:t>ensure</a:t>
            </a:r>
            <a:r>
              <a:rPr lang="en-US" dirty="0"/>
              <a:t> that the </a:t>
            </a:r>
            <a:r>
              <a:rPr lang="en-US" b="1" dirty="0"/>
              <a:t>software</a:t>
            </a:r>
            <a:r>
              <a:rPr lang="en-US" dirty="0"/>
              <a:t> has been </a:t>
            </a:r>
            <a:r>
              <a:rPr lang="en-US" b="1" dirty="0"/>
              <a:t>represented according to predefined standards</a:t>
            </a:r>
          </a:p>
          <a:p>
            <a:pPr marL="514350" indent="-514350" algn="just">
              <a:buAutoNum type="arabicParenBoth"/>
            </a:pPr>
            <a:r>
              <a:rPr lang="en-US" dirty="0"/>
              <a:t>to </a:t>
            </a:r>
            <a:r>
              <a:rPr lang="en-US" b="1" dirty="0"/>
              <a:t>achieve software </a:t>
            </a:r>
            <a:r>
              <a:rPr lang="en-US" dirty="0"/>
              <a:t>that is developed in a </a:t>
            </a:r>
            <a:r>
              <a:rPr lang="en-US" b="1" dirty="0"/>
              <a:t>uniform manner</a:t>
            </a:r>
            <a:endParaRPr lang="en-US" dirty="0"/>
          </a:p>
          <a:p>
            <a:pPr marL="514350" indent="-514350" algn="just">
              <a:buAutoNum type="arabicParenBoth"/>
            </a:pPr>
            <a:r>
              <a:rPr lang="en-US" dirty="0"/>
              <a:t>to make </a:t>
            </a:r>
            <a:r>
              <a:rPr lang="en-US" b="1" dirty="0"/>
              <a:t>projects more manageable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81425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the FTR serves as a training ground, enabling junior engineers to observe different approaches to software analysis, design, and implementation.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FTR is actually a class of reviews that includes </a:t>
            </a:r>
            <a:r>
              <a:rPr lang="en-US" b="1" i="1" dirty="0"/>
              <a:t>walkthroughs </a:t>
            </a:r>
            <a:r>
              <a:rPr lang="en-US" b="1" dirty="0"/>
              <a:t>and </a:t>
            </a:r>
            <a:r>
              <a:rPr lang="en-US" b="1" i="1" dirty="0"/>
              <a:t>inspections.</a:t>
            </a:r>
          </a:p>
          <a:p>
            <a:pPr algn="just"/>
            <a:endParaRPr lang="en-US" i="1" dirty="0"/>
          </a:p>
          <a:p>
            <a:pPr algn="just"/>
            <a:r>
              <a:rPr lang="en-US" b="1" dirty="0"/>
              <a:t>FTR is conducted as a meeting </a:t>
            </a:r>
            <a:r>
              <a:rPr lang="en-US" dirty="0"/>
              <a:t>and will be successful only if it is properly planned, controlled, and attended.</a:t>
            </a:r>
          </a:p>
        </p:txBody>
      </p:sp>
    </p:spTree>
    <p:extLst>
      <p:ext uri="{BB962C8B-B14F-4D97-AF65-F5344CB8AC3E}">
        <p14:creationId xmlns:p14="http://schemas.microsoft.com/office/powerpoint/2010/main" val="21871773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The Review Meeting</a:t>
            </a:r>
          </a:p>
          <a:p>
            <a:pPr algn="just"/>
            <a:r>
              <a:rPr lang="en-US" dirty="0"/>
              <a:t>Between </a:t>
            </a:r>
            <a:r>
              <a:rPr lang="en-US" b="1" dirty="0"/>
              <a:t>three and five people </a:t>
            </a:r>
            <a:r>
              <a:rPr lang="en-US" dirty="0"/>
              <a:t>(typically) should be involved in the review.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Advance preparation </a:t>
            </a:r>
            <a:r>
              <a:rPr lang="en-US" dirty="0"/>
              <a:t>should occur but should require no more than two hours of work for each person.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</a:t>
            </a:r>
            <a:r>
              <a:rPr lang="en-US" b="1" dirty="0"/>
              <a:t>duration</a:t>
            </a:r>
            <a:r>
              <a:rPr lang="en-US" dirty="0"/>
              <a:t> of the review meeting should be </a:t>
            </a:r>
            <a:r>
              <a:rPr lang="en-US" b="1" dirty="0"/>
              <a:t>less than two hours</a:t>
            </a:r>
            <a:r>
              <a:rPr lang="en-US" dirty="0"/>
              <a:t>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181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review meeting is attended by the review leader, all reviewers, and the producer.</a:t>
            </a:r>
          </a:p>
          <a:p>
            <a:pPr marL="0" indent="0" algn="just">
              <a:buNone/>
            </a:pPr>
            <a:endParaRPr lang="en-US" dirty="0"/>
          </a:p>
          <a:p>
            <a:r>
              <a:rPr lang="en-US" dirty="0"/>
              <a:t>One of the reviewers takes on the role of a </a:t>
            </a:r>
            <a:r>
              <a:rPr lang="en-US" i="1" dirty="0"/>
              <a:t>recorder</a:t>
            </a:r>
          </a:p>
          <a:p>
            <a:endParaRPr lang="en-US" i="1" dirty="0"/>
          </a:p>
          <a:p>
            <a:r>
              <a:rPr lang="en-US" dirty="0"/>
              <a:t>The producer proceeds to “walk through”</a:t>
            </a:r>
          </a:p>
        </p:txBody>
      </p:sp>
    </p:spTree>
    <p:extLst>
      <p:ext uri="{BB962C8B-B14F-4D97-AF65-F5344CB8AC3E}">
        <p14:creationId xmlns:p14="http://schemas.microsoft.com/office/powerpoint/2010/main" val="3727502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end of the review, all attendees of the FTR must decide whether to: </a:t>
            </a:r>
          </a:p>
          <a:p>
            <a:pPr marL="514350" indent="-514350">
              <a:buAutoNum type="arabicParenBoth"/>
            </a:pPr>
            <a:r>
              <a:rPr lang="en-US" dirty="0"/>
              <a:t>Accept the product without further modification</a:t>
            </a:r>
          </a:p>
          <a:p>
            <a:pPr marL="514350" indent="-514350">
              <a:buAutoNum type="arabicParenBoth"/>
            </a:pPr>
            <a:r>
              <a:rPr lang="en-US" dirty="0"/>
              <a:t>reject the product due to severe errors</a:t>
            </a:r>
          </a:p>
          <a:p>
            <a:pPr marL="0" indent="0">
              <a:buNone/>
            </a:pPr>
            <a:r>
              <a:rPr lang="en-US" dirty="0"/>
              <a:t>(3) accept the product with minor revisions</a:t>
            </a:r>
          </a:p>
        </p:txBody>
      </p:sp>
    </p:spTree>
    <p:extLst>
      <p:ext uri="{BB962C8B-B14F-4D97-AF65-F5344CB8AC3E}">
        <p14:creationId xmlns:p14="http://schemas.microsoft.com/office/powerpoint/2010/main" val="3218318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Review Reporting and Record Keeping</a:t>
            </a:r>
          </a:p>
          <a:p>
            <a:pPr algn="just"/>
            <a:r>
              <a:rPr lang="en-US" dirty="0"/>
              <a:t>During the FTR, a reviewer (the recorder) records all issues that have been raised.</a:t>
            </a:r>
          </a:p>
          <a:p>
            <a:pPr algn="just"/>
            <a:r>
              <a:rPr lang="en-US" dirty="0"/>
              <a:t>review issues list produced.</a:t>
            </a:r>
          </a:p>
          <a:p>
            <a:r>
              <a:rPr lang="en-US" dirty="0"/>
              <a:t>What was reviewed?</a:t>
            </a:r>
          </a:p>
          <a:p>
            <a:r>
              <a:rPr lang="en-US" dirty="0"/>
              <a:t>Who reviewed it?</a:t>
            </a:r>
          </a:p>
          <a:p>
            <a:r>
              <a:rPr lang="en-US" dirty="0"/>
              <a:t>What were the findings and conclusions?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2203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Review Guidelines</a:t>
            </a:r>
          </a:p>
          <a:p>
            <a:pPr algn="just"/>
            <a:r>
              <a:rPr lang="en-US" dirty="0"/>
              <a:t>The following represents a minimum set of guidelines for formal technical reviews: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Review the product, not the producer.</a:t>
            </a:r>
          </a:p>
          <a:p>
            <a:pPr marL="514350" indent="-514350" algn="just">
              <a:buAutoNum type="arabicPeriod"/>
            </a:pPr>
            <a:r>
              <a:rPr lang="en-US" b="1" dirty="0"/>
              <a:t>Set an agenda and maintain it.</a:t>
            </a:r>
          </a:p>
          <a:p>
            <a:pPr marL="514350" indent="-514350" algn="just">
              <a:buNone/>
            </a:pPr>
            <a:r>
              <a:rPr lang="en-US" dirty="0"/>
              <a:t>An FTR must be kept on track and on schedule. </a:t>
            </a:r>
          </a:p>
          <a:p>
            <a:pPr marL="514350" indent="-514350" algn="just">
              <a:buNone/>
            </a:pPr>
            <a:r>
              <a:rPr lang="en-US" b="1" dirty="0"/>
              <a:t>3.  Limit debate and rebuttal. </a:t>
            </a:r>
          </a:p>
          <a:p>
            <a:pPr marL="514350" indent="-514350" algn="just">
              <a:buNone/>
            </a:pPr>
            <a:r>
              <a:rPr lang="en-US" dirty="0"/>
              <a:t>When an issue is raised by a reviewer, there may</a:t>
            </a:r>
          </a:p>
          <a:p>
            <a:pPr marL="514350" indent="-514350" algn="just">
              <a:buNone/>
            </a:pPr>
            <a:r>
              <a:rPr lang="en-US" dirty="0"/>
              <a:t>not be universal agreement on its impact.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5105400"/>
          </a:xfrm>
        </p:spPr>
        <p:txBody>
          <a:bodyPr/>
          <a:lstStyle/>
          <a:p>
            <a:pPr algn="just">
              <a:buNone/>
            </a:pPr>
            <a:r>
              <a:rPr lang="en-US" b="1" dirty="0"/>
              <a:t>4. Enunciate problem areas, but don’t attempt to solve every problem noted. </a:t>
            </a:r>
          </a:p>
          <a:p>
            <a:pPr algn="just">
              <a:buNone/>
            </a:pPr>
            <a:r>
              <a:rPr lang="en-US" dirty="0"/>
              <a:t>A review is not a problem-solving session. </a:t>
            </a:r>
          </a:p>
          <a:p>
            <a:pPr algn="just">
              <a:buNone/>
            </a:pPr>
            <a:r>
              <a:rPr lang="en-US" dirty="0"/>
              <a:t> </a:t>
            </a:r>
          </a:p>
          <a:p>
            <a:pPr algn="just">
              <a:buNone/>
            </a:pPr>
            <a:r>
              <a:rPr lang="en-US" b="1" dirty="0"/>
              <a:t>5. Take written notes. </a:t>
            </a:r>
          </a:p>
          <a:p>
            <a:pPr algn="just">
              <a:buNone/>
            </a:pPr>
            <a:r>
              <a:rPr lang="en-US" dirty="0"/>
              <a:t>It is sometimes a good idea for the recorder to make notes on a wall board, so that wording and priorities can be assessed by other reviewers as information is recorded.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b="1" dirty="0"/>
              <a:t>6. Limit the number of participants and insist upon advance preparation</a:t>
            </a:r>
          </a:p>
          <a:p>
            <a:pPr algn="just">
              <a:buNone/>
            </a:pPr>
            <a:r>
              <a:rPr lang="en-US" dirty="0"/>
              <a:t>Keep the number of people involved to the necessary minimum.</a:t>
            </a:r>
          </a:p>
          <a:p>
            <a:pPr algn="just">
              <a:buNone/>
            </a:pPr>
            <a:r>
              <a:rPr lang="en-US" b="1" dirty="0"/>
              <a:t>7. Develop a checklist for each product that is likely to be reviewed. </a:t>
            </a:r>
          </a:p>
          <a:p>
            <a:pPr algn="just">
              <a:buNone/>
            </a:pPr>
            <a:r>
              <a:rPr lang="en-US" dirty="0"/>
              <a:t>A checklist helps the review leader to structure the FTR meeting and helps each reviewer to focus on important issues.</a:t>
            </a:r>
            <a:endParaRPr lang="en-US" b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Technical Reviews (FTR)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8. Allocate resources and schedule time for FTRs. </a:t>
            </a:r>
          </a:p>
          <a:p>
            <a:pPr algn="just">
              <a:buNone/>
            </a:pPr>
            <a:r>
              <a:rPr lang="en-US" dirty="0"/>
              <a:t>For reviews to be effective, they should be scheduled as tasks during the software process. </a:t>
            </a:r>
          </a:p>
          <a:p>
            <a:pPr algn="just">
              <a:buNone/>
            </a:pPr>
            <a:r>
              <a:rPr lang="en-US" b="1" dirty="0"/>
              <a:t>9. Conduct meaningful training for all reviewers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510540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Unit Testing</a:t>
            </a:r>
          </a:p>
          <a:p>
            <a:pPr marL="514350" indent="-514350" algn="just"/>
            <a:r>
              <a:rPr lang="en-US" b="1" dirty="0"/>
              <a:t>Unit Testing</a:t>
            </a:r>
            <a:r>
              <a:rPr lang="en-US" dirty="0"/>
              <a:t> is a level of software testing where </a:t>
            </a:r>
            <a:r>
              <a:rPr lang="en-US" b="1" dirty="0"/>
              <a:t>individual units/ components </a:t>
            </a:r>
            <a:r>
              <a:rPr lang="en-US" dirty="0"/>
              <a:t>of a software are </a:t>
            </a:r>
            <a:r>
              <a:rPr lang="en-US" b="1" dirty="0"/>
              <a:t>tested. </a:t>
            </a:r>
          </a:p>
          <a:p>
            <a:pPr marL="514350" indent="-514350" algn="just"/>
            <a:endParaRPr lang="en-US" dirty="0"/>
          </a:p>
          <a:p>
            <a:pPr marL="514350" indent="-514350" algn="just"/>
            <a:r>
              <a:rPr lang="en-US" dirty="0"/>
              <a:t>It is concerned with </a:t>
            </a:r>
            <a:r>
              <a:rPr lang="en-US" b="1" dirty="0"/>
              <a:t>functional correctness of the standalone modules.</a:t>
            </a:r>
          </a:p>
          <a:p>
            <a:pPr marL="514350" indent="-514350" algn="just"/>
            <a:endParaRPr lang="en-US" dirty="0"/>
          </a:p>
          <a:p>
            <a:pPr marL="514350" indent="-514350" algn="just"/>
            <a:r>
              <a:rPr lang="en-US" dirty="0"/>
              <a:t>Important control paths are tested to </a:t>
            </a:r>
            <a:r>
              <a:rPr lang="en-US" b="1" dirty="0"/>
              <a:t>uncover</a:t>
            </a:r>
            <a:r>
              <a:rPr lang="en-US" dirty="0"/>
              <a:t> </a:t>
            </a:r>
            <a:r>
              <a:rPr lang="en-US" b="1" dirty="0"/>
              <a:t>errors within the boundary </a:t>
            </a:r>
            <a:r>
              <a:rPr lang="en-US" dirty="0"/>
              <a:t>of the module.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b="1" dirty="0"/>
              <a:t>relative complexity of tests and the errors those tests uncover</a:t>
            </a:r>
            <a:r>
              <a:rPr lang="en-US" dirty="0"/>
              <a:t> is limited by the constrained </a:t>
            </a:r>
            <a:r>
              <a:rPr lang="en-US" b="1" dirty="0"/>
              <a:t>scope </a:t>
            </a:r>
            <a:r>
              <a:rPr lang="en-US" dirty="0"/>
              <a:t>established for unit testing.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focuses on the </a:t>
            </a:r>
            <a:r>
              <a:rPr lang="en-US" b="1" dirty="0"/>
              <a:t>internal processing logic and data structures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can be conducted in </a:t>
            </a:r>
            <a:r>
              <a:rPr lang="en-US" b="1" dirty="0"/>
              <a:t>parallel for multiple components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Unit Test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362200"/>
            <a:ext cx="6553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module interface is tested </a:t>
            </a:r>
            <a:r>
              <a:rPr lang="en-US" b="1" dirty="0"/>
              <a:t>to ensure that information properly flows into and out </a:t>
            </a:r>
            <a:r>
              <a:rPr lang="en-US" dirty="0"/>
              <a:t>of the program unit under test.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All </a:t>
            </a:r>
            <a:r>
              <a:rPr lang="en-US" b="1" dirty="0"/>
              <a:t>independent paths through control structure exercised </a:t>
            </a:r>
            <a:r>
              <a:rPr lang="en-US" dirty="0"/>
              <a:t>to ensure all statements executed.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Boundary conditions are tested to limit or restrict processing.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all error-handling paths are tested.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Data flow </a:t>
            </a:r>
            <a:r>
              <a:rPr lang="en-US" dirty="0"/>
              <a:t>across a component interface is </a:t>
            </a:r>
            <a:r>
              <a:rPr lang="en-US" b="1" dirty="0"/>
              <a:t>tested before </a:t>
            </a:r>
            <a:r>
              <a:rPr lang="en-US" dirty="0"/>
              <a:t>any other testing.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Test cases should be designed to uncover errors due to </a:t>
            </a:r>
            <a:r>
              <a:rPr lang="en-US" b="1" dirty="0"/>
              <a:t>improper computation , comparison and data flow.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Boundary testing is one of the most important unit testing tasks. </a:t>
            </a:r>
            <a:endParaRPr lang="en-US" b="1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errors often occur </a:t>
            </a:r>
            <a:r>
              <a:rPr lang="en-US" dirty="0"/>
              <a:t>when the </a:t>
            </a:r>
            <a:r>
              <a:rPr lang="en-US" b="1" dirty="0"/>
              <a:t>maximum or minimum allowable value</a:t>
            </a:r>
            <a:r>
              <a:rPr lang="en-US" dirty="0"/>
              <a:t> is encountered (boundary testing)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Test cases that exercise </a:t>
            </a:r>
            <a:r>
              <a:rPr lang="en-US" b="1" dirty="0"/>
              <a:t>data structure, control flow, and data values just below, at, and just above maxima and minima </a:t>
            </a:r>
            <a:r>
              <a:rPr lang="en-US" dirty="0"/>
              <a:t>are very likely to uncover errors.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458200" cy="641350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Levels of Testing (Unit Testing)</a:t>
            </a:r>
          </a:p>
        </p:txBody>
      </p:sp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75050" y="1295401"/>
            <a:ext cx="556895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sz="4000" b="1" dirty="0"/>
              <a:t>Drivers</a:t>
            </a:r>
            <a:r>
              <a:rPr lang="en-US" sz="4000" dirty="0"/>
              <a:t> are considered as the dummy modules that always </a:t>
            </a:r>
            <a:r>
              <a:rPr lang="en-US" sz="4000" b="1" dirty="0"/>
              <a:t>simulate the high level modules.</a:t>
            </a:r>
          </a:p>
          <a:p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86995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Levels of Testing (Unit Testing)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5118100"/>
          </a:xfrm>
        </p:spPr>
        <p:txBody>
          <a:bodyPr>
            <a:noAutofit/>
          </a:bodyPr>
          <a:lstStyle/>
          <a:p>
            <a:pPr algn="just"/>
            <a:r>
              <a:rPr lang="en-US" sz="4000" b="1" dirty="0"/>
              <a:t>Stubs</a:t>
            </a:r>
            <a:r>
              <a:rPr lang="en-US" sz="4000" dirty="0"/>
              <a:t> are considered as the dummy modules that always </a:t>
            </a:r>
            <a:r>
              <a:rPr lang="en-US" sz="4000" b="1" dirty="0"/>
              <a:t>simulate the low level modules.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657600" y="1676400"/>
            <a:ext cx="5029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Levels of Testing (Unit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Drivers and stubs represent testing “overhead.” 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both are software that must be written but that is not delivered with the final software product.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drivers and stubs are kept simple, actual overhead is relatively low.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Unit testing is simplified when a component with high cohesion is designed.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“If they all work individually, why do you doubt that they’ll work when we put them together?”</a:t>
            </a:r>
          </a:p>
          <a:p>
            <a:pPr algn="just"/>
            <a:r>
              <a:rPr lang="en-US" dirty="0"/>
              <a:t>Why integration testing?</a:t>
            </a:r>
          </a:p>
          <a:p>
            <a:pPr algn="just"/>
            <a:r>
              <a:rPr lang="en-US" dirty="0"/>
              <a:t>Data can be lost across an interface</a:t>
            </a:r>
          </a:p>
          <a:p>
            <a:pPr algn="just"/>
            <a:r>
              <a:rPr lang="en-US" dirty="0"/>
              <a:t>one component can have an adverse effect on another</a:t>
            </a:r>
          </a:p>
          <a:p>
            <a:pPr algn="just"/>
            <a:r>
              <a:rPr lang="en-US" dirty="0"/>
              <a:t>Sub functions, when combined, may not produce the desired major function</a:t>
            </a:r>
          </a:p>
          <a:p>
            <a:pPr algn="just"/>
            <a:r>
              <a:rPr lang="en-US" dirty="0"/>
              <a:t>global data structures can present problems</a:t>
            </a:r>
          </a:p>
          <a:p>
            <a:pPr algn="just"/>
            <a:r>
              <a:rPr lang="en-US" b="1" dirty="0"/>
              <a:t>“putting them together”—interfacing.</a:t>
            </a:r>
          </a:p>
        </p:txBody>
      </p:sp>
    </p:spTree>
    <p:extLst>
      <p:ext uri="{BB962C8B-B14F-4D97-AF65-F5344CB8AC3E}">
        <p14:creationId xmlns:p14="http://schemas.microsoft.com/office/powerpoint/2010/main" val="40411509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Integration testing </a:t>
            </a:r>
            <a:r>
              <a:rPr lang="en-US" dirty="0"/>
              <a:t>is a systematic technique for </a:t>
            </a:r>
            <a:r>
              <a:rPr lang="en-US" b="1" dirty="0"/>
              <a:t>constructing the software architecture </a:t>
            </a:r>
            <a:r>
              <a:rPr lang="en-US" dirty="0"/>
              <a:t>while at the same time conducting tests to </a:t>
            </a:r>
            <a:r>
              <a:rPr lang="en-US" b="1" dirty="0"/>
              <a:t>uncover errors associated with interfacing.</a:t>
            </a:r>
          </a:p>
          <a:p>
            <a:endParaRPr lang="en-US" dirty="0"/>
          </a:p>
          <a:p>
            <a:r>
              <a:rPr lang="en-US" dirty="0"/>
              <a:t>take unit-tested components and build a program structure by design.</a:t>
            </a:r>
          </a:p>
          <a:p>
            <a:endParaRPr lang="en-US" b="1" dirty="0"/>
          </a:p>
          <a:p>
            <a:pPr algn="just"/>
            <a:r>
              <a:rPr lang="en-US" dirty="0"/>
              <a:t>“</a:t>
            </a:r>
            <a:r>
              <a:rPr lang="en-US" b="1" dirty="0"/>
              <a:t>big bang</a:t>
            </a:r>
            <a:r>
              <a:rPr lang="en-US" dirty="0"/>
              <a:t>” approach to integration is a lazy strategy that might result into failure – endless loop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992165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US" b="1" dirty="0"/>
              <a:t>Incremental integration </a:t>
            </a:r>
            <a:r>
              <a:rPr lang="en-US" dirty="0"/>
              <a:t>- The program is constructed and tested in </a:t>
            </a:r>
            <a:r>
              <a:rPr lang="en-US" b="1" dirty="0"/>
              <a:t>small increments</a:t>
            </a:r>
            <a:r>
              <a:rPr lang="en-US" dirty="0"/>
              <a:t>, </a:t>
            </a:r>
            <a:r>
              <a:rPr lang="en-US" b="1" dirty="0"/>
              <a:t>easier to isolate and correct errors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interfaces are more likely to be tested completely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Incremental Integration strategies:</a:t>
            </a:r>
          </a:p>
          <a:p>
            <a:pPr marL="514350" indent="-514350" algn="just">
              <a:buAutoNum type="arabicPeriod"/>
            </a:pPr>
            <a:r>
              <a:rPr lang="en-US" dirty="0"/>
              <a:t>Top – down integration.</a:t>
            </a:r>
          </a:p>
          <a:p>
            <a:pPr marL="514350" indent="-514350" algn="just">
              <a:buAutoNum type="arabicPeriod"/>
            </a:pPr>
            <a:r>
              <a:rPr lang="en-US" dirty="0"/>
              <a:t>Bottom – up integration.</a:t>
            </a:r>
          </a:p>
        </p:txBody>
      </p:sp>
    </p:spTree>
    <p:extLst>
      <p:ext uri="{BB962C8B-B14F-4D97-AF65-F5344CB8AC3E}">
        <p14:creationId xmlns:p14="http://schemas.microsoft.com/office/powerpoint/2010/main" val="40311840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Top Down</a:t>
            </a:r>
            <a:r>
              <a:rPr lang="en-US" dirty="0"/>
              <a:t> is an approach to Integration Testing where top level units are tested first and lower level units are tested step by step after that.</a:t>
            </a:r>
          </a:p>
          <a:p>
            <a:pPr algn="just"/>
            <a:endParaRPr lang="en-US" dirty="0"/>
          </a:p>
          <a:p>
            <a:r>
              <a:rPr lang="en-US" b="1" dirty="0"/>
              <a:t>depth-first integration </a:t>
            </a:r>
            <a:r>
              <a:rPr lang="en-US" dirty="0"/>
              <a:t>integrates all components on a major control path of the program structure.</a:t>
            </a:r>
          </a:p>
          <a:p>
            <a:endParaRPr lang="en-US" dirty="0"/>
          </a:p>
          <a:p>
            <a:pPr algn="just"/>
            <a:r>
              <a:rPr lang="en-US" dirty="0"/>
              <a:t>For example, selecting the left-hand path, components M1, M2 , M5 would be integrated first. Next, M8 or M6 would be integrated.</a:t>
            </a:r>
          </a:p>
        </p:txBody>
      </p:sp>
    </p:spTree>
    <p:extLst>
      <p:ext uri="{BB962C8B-B14F-4D97-AF65-F5344CB8AC3E}">
        <p14:creationId xmlns:p14="http://schemas.microsoft.com/office/powerpoint/2010/main" val="34349588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95400"/>
            <a:ext cx="8839200" cy="5410200"/>
          </a:xfrm>
        </p:spPr>
        <p:txBody>
          <a:bodyPr/>
          <a:lstStyle/>
          <a:p>
            <a:pPr algn="just"/>
            <a:r>
              <a:rPr lang="en-US" b="1" dirty="0"/>
              <a:t>Breadth-first integration </a:t>
            </a:r>
            <a:r>
              <a:rPr lang="en-US" dirty="0"/>
              <a:t>incorporates all components directly subordinate at each level, moving across the structure horizontally.</a:t>
            </a:r>
          </a:p>
          <a:p>
            <a:pPr algn="just"/>
            <a:endParaRPr lang="en-US" dirty="0"/>
          </a:p>
          <a:p>
            <a:r>
              <a:rPr lang="en-US" dirty="0"/>
              <a:t>For example: components M2, M3, and M4 would be integrated first. The next control level, M5, M6, and so on, follows.</a:t>
            </a:r>
          </a:p>
        </p:txBody>
      </p:sp>
    </p:spTree>
    <p:extLst>
      <p:ext uri="{BB962C8B-B14F-4D97-AF65-F5344CB8AC3E}">
        <p14:creationId xmlns:p14="http://schemas.microsoft.com/office/powerpoint/2010/main" val="27529562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77724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Top – down integration.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1264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Steps of Integration:</a:t>
            </a:r>
          </a:p>
          <a:p>
            <a:pPr marL="514350" indent="-514350">
              <a:buAutoNum type="arabicPeriod"/>
            </a:pPr>
            <a:r>
              <a:rPr lang="en-US" dirty="0"/>
              <a:t>The </a:t>
            </a:r>
            <a:r>
              <a:rPr lang="en-US" b="1" dirty="0"/>
              <a:t>main control module is used as a test driver </a:t>
            </a:r>
            <a:r>
              <a:rPr lang="en-US" dirty="0"/>
              <a:t>and </a:t>
            </a:r>
            <a:r>
              <a:rPr lang="en-US" b="1" dirty="0"/>
              <a:t>stubs are substituted </a:t>
            </a:r>
            <a:r>
              <a:rPr lang="en-US" dirty="0"/>
              <a:t>for all components directly subordinate to the main control module.</a:t>
            </a:r>
          </a:p>
          <a:p>
            <a:pPr marL="514350" indent="-514350">
              <a:buAutoNum type="arabicPeriod"/>
            </a:pPr>
            <a:r>
              <a:rPr lang="en-US" dirty="0"/>
              <a:t>Depending on the </a:t>
            </a:r>
            <a:r>
              <a:rPr lang="en-US" b="1" dirty="0"/>
              <a:t>integration approach selected </a:t>
            </a:r>
            <a:r>
              <a:rPr lang="en-US" dirty="0"/>
              <a:t>(i.e., depth or breadth first), </a:t>
            </a:r>
            <a:r>
              <a:rPr lang="en-US" b="1" dirty="0"/>
              <a:t>subordinate stubs </a:t>
            </a:r>
            <a:r>
              <a:rPr lang="en-US" dirty="0"/>
              <a:t>are </a:t>
            </a:r>
            <a:r>
              <a:rPr lang="en-US" b="1" dirty="0"/>
              <a:t>replaced</a:t>
            </a:r>
            <a:r>
              <a:rPr lang="en-US" dirty="0"/>
              <a:t> one at a time with actual components.</a:t>
            </a:r>
          </a:p>
          <a:p>
            <a:pPr marL="514350" indent="-514350">
              <a:buAutoNum type="arabicPeriod"/>
            </a:pPr>
            <a:r>
              <a:rPr lang="en-US" b="1" dirty="0"/>
              <a:t>Tests are conducted </a:t>
            </a:r>
            <a:r>
              <a:rPr lang="en-US" dirty="0"/>
              <a:t>as each component is integrated.</a:t>
            </a:r>
          </a:p>
          <a:p>
            <a:pPr marL="514350" indent="-514350">
              <a:buAutoNum type="arabicPeriod"/>
            </a:pPr>
            <a:r>
              <a:rPr lang="en-US" dirty="0"/>
              <a:t>On completion of each set of tests, </a:t>
            </a:r>
            <a:r>
              <a:rPr lang="en-US" b="1" dirty="0"/>
              <a:t>another stub is replaced with the real component.</a:t>
            </a:r>
          </a:p>
          <a:p>
            <a:pPr marL="514350" indent="-514350">
              <a:buAutoNum type="arabicPeriod"/>
            </a:pPr>
            <a:r>
              <a:rPr lang="en-US" b="1" dirty="0"/>
              <a:t>Regression testing may be conducted </a:t>
            </a:r>
            <a:r>
              <a:rPr lang="en-US" dirty="0"/>
              <a:t>to ensure that new errors have not been introduced.</a:t>
            </a:r>
          </a:p>
        </p:txBody>
      </p:sp>
    </p:spTree>
    <p:extLst>
      <p:ext uri="{BB962C8B-B14F-4D97-AF65-F5344CB8AC3E}">
        <p14:creationId xmlns:p14="http://schemas.microsoft.com/office/powerpoint/2010/main" val="40427958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top-down integration strategy verifies major control or decision points early in the test process.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Problem with top down strategy - when processing at low levels in the hierarchy is required to adequately test upper levels.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Bottom – up integration</a:t>
            </a:r>
          </a:p>
        </p:txBody>
      </p:sp>
    </p:spTree>
    <p:extLst>
      <p:ext uri="{BB962C8B-B14F-4D97-AF65-F5344CB8AC3E}">
        <p14:creationId xmlns:p14="http://schemas.microsoft.com/office/powerpoint/2010/main" val="38111872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/>
              <a:t>Bottom Up</a:t>
            </a:r>
            <a:r>
              <a:rPr lang="en-US" dirty="0"/>
              <a:t> is an approach to Integration testing where </a:t>
            </a:r>
            <a:r>
              <a:rPr lang="en-US" b="1" dirty="0"/>
              <a:t>bottom level units are tested first</a:t>
            </a:r>
            <a:r>
              <a:rPr lang="en-US" dirty="0"/>
              <a:t> and </a:t>
            </a:r>
            <a:r>
              <a:rPr lang="en-US" b="1" dirty="0"/>
              <a:t>upper level units step by step after that.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Because components are </a:t>
            </a:r>
            <a:r>
              <a:rPr lang="en-US" b="1" dirty="0"/>
              <a:t>integrated</a:t>
            </a:r>
            <a:r>
              <a:rPr lang="en-US" dirty="0"/>
              <a:t> from the </a:t>
            </a:r>
            <a:r>
              <a:rPr lang="en-US" b="1" dirty="0"/>
              <a:t>bottom up</a:t>
            </a:r>
            <a:r>
              <a:rPr lang="en-US" dirty="0"/>
              <a:t>, need for </a:t>
            </a:r>
            <a:r>
              <a:rPr lang="en-US" b="1" dirty="0"/>
              <a:t>stubs is eliminated.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The whole program does not exist until the last module is integrated.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11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(Integration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Steps of Integration: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Low-level components are combined into clusters (sometimes called </a:t>
            </a:r>
            <a:r>
              <a:rPr lang="en-US" i="1" dirty="0"/>
              <a:t>builds</a:t>
            </a:r>
            <a:r>
              <a:rPr lang="en-US" dirty="0"/>
              <a:t>) that perform a specific software sub function.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 </a:t>
            </a:r>
            <a:r>
              <a:rPr lang="en-US" i="1" dirty="0"/>
              <a:t>driver </a:t>
            </a:r>
            <a:r>
              <a:rPr lang="en-US" dirty="0"/>
              <a:t>(a control program for testing) is written to coordinate test case input and output.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cluster is tested.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Drivers are removed and clusters are combined moving upward in the program structure.</a:t>
            </a:r>
          </a:p>
        </p:txBody>
      </p:sp>
    </p:spTree>
    <p:extLst>
      <p:ext uri="{BB962C8B-B14F-4D97-AF65-F5344CB8AC3E}">
        <p14:creationId xmlns:p14="http://schemas.microsoft.com/office/powerpoint/2010/main" val="212714955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1"/>
            <a:ext cx="87630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Bottom Up Integration</a:t>
            </a:r>
          </a:p>
        </p:txBody>
      </p:sp>
    </p:spTree>
    <p:extLst>
      <p:ext uri="{BB962C8B-B14F-4D97-AF65-F5344CB8AC3E}">
        <p14:creationId xmlns:p14="http://schemas.microsoft.com/office/powerpoint/2010/main" val="12635182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(Regression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Regression testing is a type of software testing that </a:t>
            </a:r>
            <a:r>
              <a:rPr lang="en-US" b="1" dirty="0"/>
              <a:t>intends to ensure that changes </a:t>
            </a:r>
            <a:r>
              <a:rPr lang="en-US" dirty="0"/>
              <a:t>(enhancements or defect fixes) </a:t>
            </a:r>
            <a:r>
              <a:rPr lang="en-US" b="1" dirty="0"/>
              <a:t>to the software have not adversely affected it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new module is added </a:t>
            </a:r>
            <a:r>
              <a:rPr lang="en-US" dirty="0"/>
              <a:t>as part of integration testing, the </a:t>
            </a:r>
            <a:r>
              <a:rPr lang="en-US" b="1" dirty="0"/>
              <a:t>software changes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New data flow paths, new I/O, and new control logic.</a:t>
            </a:r>
          </a:p>
        </p:txBody>
      </p:sp>
    </p:spTree>
    <p:extLst>
      <p:ext uri="{BB962C8B-B14F-4D97-AF65-F5344CB8AC3E}">
        <p14:creationId xmlns:p14="http://schemas.microsoft.com/office/powerpoint/2010/main" val="357597651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(Regression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334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changes may cause problems </a:t>
            </a:r>
            <a:r>
              <a:rPr lang="en-US" dirty="0"/>
              <a:t>with functions that previously worked flawlessly.</a:t>
            </a:r>
          </a:p>
          <a:p>
            <a:endParaRPr lang="en-US" dirty="0"/>
          </a:p>
          <a:p>
            <a:pPr algn="just"/>
            <a:r>
              <a:rPr lang="en-US" b="1" i="1" dirty="0"/>
              <a:t>regression testing </a:t>
            </a:r>
            <a:r>
              <a:rPr lang="en-US" dirty="0"/>
              <a:t>is the </a:t>
            </a:r>
            <a:r>
              <a:rPr lang="en-US" b="1" dirty="0"/>
              <a:t>re-execution of some subset of tests</a:t>
            </a:r>
            <a:r>
              <a:rPr lang="en-US" dirty="0"/>
              <a:t> that have already been conducted to </a:t>
            </a:r>
            <a:r>
              <a:rPr lang="en-US" b="1" dirty="0"/>
              <a:t>ensure that changes have not propagated unintended side effects.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Discovery of error and then correction changes some aspect of software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02386434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(Regression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/>
          <a:lstStyle/>
          <a:p>
            <a:pPr algn="just"/>
            <a:r>
              <a:rPr lang="en-US" dirty="0"/>
              <a:t>Regression testing ensures </a:t>
            </a:r>
            <a:r>
              <a:rPr lang="en-US" b="1" dirty="0"/>
              <a:t>additional errors are not  introduced.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Regression testing may be conducted </a:t>
            </a:r>
            <a:r>
              <a:rPr lang="en-US" b="1" dirty="0"/>
              <a:t>manually or by automated playback capture tools.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Effective Regression testing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418989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(Regression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486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The regression test suite contains three different classes of test cases: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A representative sample of tests that will </a:t>
            </a:r>
            <a:r>
              <a:rPr lang="en-US" b="1" dirty="0"/>
              <a:t>exercise all software functions.</a:t>
            </a:r>
          </a:p>
          <a:p>
            <a:pPr marL="514350" indent="-514350" algn="just">
              <a:buFont typeface="+mj-lt"/>
              <a:buAutoNum type="arabicPeriod"/>
            </a:pPr>
            <a:endParaRPr lang="en-US" b="1" dirty="0"/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Additional tests </a:t>
            </a:r>
            <a:r>
              <a:rPr lang="en-US" dirty="0"/>
              <a:t>that focus on </a:t>
            </a:r>
            <a:r>
              <a:rPr lang="en-US" b="1" dirty="0"/>
              <a:t>software functions </a:t>
            </a:r>
            <a:r>
              <a:rPr lang="en-US" dirty="0"/>
              <a:t>that are </a:t>
            </a:r>
            <a:r>
              <a:rPr lang="en-US" b="1" dirty="0"/>
              <a:t>likely</a:t>
            </a:r>
            <a:r>
              <a:rPr lang="en-US" dirty="0"/>
              <a:t> to be </a:t>
            </a:r>
            <a:r>
              <a:rPr lang="en-US" b="1" dirty="0"/>
              <a:t>affected by the change.</a:t>
            </a:r>
          </a:p>
          <a:p>
            <a:pPr marL="514350" indent="-514350" algn="just">
              <a:buFont typeface="+mj-lt"/>
              <a:buAutoNum type="arabicPeriod"/>
            </a:pPr>
            <a:endParaRPr lang="en-US" b="1" dirty="0"/>
          </a:p>
          <a:p>
            <a:pPr marL="514350" indent="-514350" algn="just">
              <a:buFont typeface="+mj-lt"/>
              <a:buAutoNum type="arabicPeriod"/>
            </a:pPr>
            <a:r>
              <a:rPr lang="en-US" dirty="0"/>
              <a:t>Tests that focus on the </a:t>
            </a:r>
            <a:r>
              <a:rPr lang="en-US" b="1" dirty="0"/>
              <a:t>software components </a:t>
            </a:r>
            <a:r>
              <a:rPr lang="en-US" dirty="0"/>
              <a:t>that have been </a:t>
            </a:r>
            <a:r>
              <a:rPr lang="en-US" b="1" dirty="0"/>
              <a:t>changed</a:t>
            </a:r>
            <a:r>
              <a:rPr lang="en-US" dirty="0"/>
              <a:t>.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802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(Acceptance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Acceptance testing</a:t>
            </a:r>
            <a:r>
              <a:rPr lang="en-US" dirty="0"/>
              <a:t>, a </a:t>
            </a:r>
            <a:r>
              <a:rPr lang="en-US" b="1" dirty="0"/>
              <a:t>testing</a:t>
            </a:r>
            <a:r>
              <a:rPr lang="en-US" dirty="0"/>
              <a:t> technique performed to determine whether or not the </a:t>
            </a:r>
            <a:r>
              <a:rPr lang="en-US" b="1" dirty="0"/>
              <a:t>software</a:t>
            </a:r>
            <a:r>
              <a:rPr lang="en-US" dirty="0"/>
              <a:t> system has </a:t>
            </a:r>
            <a:r>
              <a:rPr lang="en-US" b="1" dirty="0"/>
              <a:t>met</a:t>
            </a:r>
            <a:r>
              <a:rPr lang="en-US" dirty="0"/>
              <a:t> the </a:t>
            </a:r>
            <a:r>
              <a:rPr lang="en-US" b="1" dirty="0"/>
              <a:t>requirement specifications.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The main purpose of this test is to evaluate the </a:t>
            </a:r>
            <a:r>
              <a:rPr lang="en-US" b="1" dirty="0"/>
              <a:t>system's business requirements and verify delivery to end users.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Usually, Black Box Testing method is used in Acceptance Testing. 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108256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(Acceptance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1" i="1" dirty="0"/>
              <a:t>benchmark test</a:t>
            </a:r>
            <a:r>
              <a:rPr lang="en-US" dirty="0"/>
              <a:t>, the client prepares a set of test cases that represent typical conditions under which the system should operate.</a:t>
            </a:r>
          </a:p>
          <a:p>
            <a:pPr algn="just"/>
            <a:endParaRPr lang="en-US" dirty="0"/>
          </a:p>
          <a:p>
            <a:pPr algn="just"/>
            <a:r>
              <a:rPr lang="en-US" b="1" i="1" dirty="0"/>
              <a:t>competitor testing</a:t>
            </a:r>
            <a:r>
              <a:rPr lang="en-US" b="1" dirty="0"/>
              <a:t>, </a:t>
            </a:r>
            <a:r>
              <a:rPr lang="en-US" dirty="0"/>
              <a:t>the new system is tested against an existing system or competitor product.</a:t>
            </a:r>
          </a:p>
          <a:p>
            <a:pPr algn="just"/>
            <a:endParaRPr lang="en-US" dirty="0"/>
          </a:p>
          <a:p>
            <a:pPr algn="just"/>
            <a:r>
              <a:rPr lang="en-US" b="1" i="1" dirty="0"/>
              <a:t>shadow testing</a:t>
            </a:r>
            <a:r>
              <a:rPr lang="en-US" dirty="0"/>
              <a:t>, a form of comparison testing, the new</a:t>
            </a:r>
          </a:p>
          <a:p>
            <a:pPr marL="0" indent="0" algn="just">
              <a:buNone/>
            </a:pPr>
            <a:r>
              <a:rPr lang="en-US" dirty="0"/>
              <a:t> and the legacy systems are run in parallel and their outputs are compared.</a:t>
            </a:r>
          </a:p>
        </p:txBody>
      </p:sp>
    </p:spTree>
    <p:extLst>
      <p:ext uri="{BB962C8B-B14F-4D97-AF65-F5344CB8AC3E}">
        <p14:creationId xmlns:p14="http://schemas.microsoft.com/office/powerpoint/2010/main" val="4700682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(Acceptance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556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After acceptance testing, </a:t>
            </a:r>
            <a:r>
              <a:rPr lang="en-US" b="1" dirty="0"/>
              <a:t>the client reports to the project manager which requirements are not satisfied.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Acceptance testing also gives the opportunity for a </a:t>
            </a:r>
            <a:r>
              <a:rPr lang="en-US" b="1" dirty="0"/>
              <a:t>dialog</a:t>
            </a:r>
            <a:r>
              <a:rPr lang="en-US" dirty="0"/>
              <a:t> between the developers and client.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</a:t>
            </a:r>
            <a:r>
              <a:rPr lang="en-US" b="1" dirty="0"/>
              <a:t>requirements must be changed </a:t>
            </a:r>
            <a:r>
              <a:rPr lang="en-US" dirty="0"/>
              <a:t>form the basis for </a:t>
            </a:r>
            <a:r>
              <a:rPr lang="en-US" b="1" dirty="0"/>
              <a:t>another iteration </a:t>
            </a:r>
            <a:r>
              <a:rPr lang="en-US" dirty="0"/>
              <a:t>of the software life-cycle process.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the customer is satisfied, the system is accepted</a:t>
            </a:r>
          </a:p>
        </p:txBody>
      </p:sp>
    </p:spTree>
    <p:extLst>
      <p:ext uri="{BB962C8B-B14F-4D97-AF65-F5344CB8AC3E}">
        <p14:creationId xmlns:p14="http://schemas.microsoft.com/office/powerpoint/2010/main" val="46220035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/>
          <a:lstStyle/>
          <a:p>
            <a:pPr algn="just"/>
            <a:r>
              <a:rPr lang="en-US" dirty="0"/>
              <a:t>White Box Testing (also known as Clear Box Testing, Open Box Testing, Glass Box Testing, Transparent Box Testing, Code-Based Testing or Structural Testing) is a software testing method in which the internal structure/ design/ implementation of the item being tested is known to the tester.</a:t>
            </a:r>
          </a:p>
        </p:txBody>
      </p:sp>
    </p:spTree>
    <p:extLst>
      <p:ext uri="{BB962C8B-B14F-4D97-AF65-F5344CB8AC3E}">
        <p14:creationId xmlns:p14="http://schemas.microsoft.com/office/powerpoint/2010/main" val="19578225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Using white-box testing methods, you can derive test cases that</a:t>
            </a:r>
          </a:p>
          <a:p>
            <a:pPr marL="514350" indent="-514350" algn="just">
              <a:buAutoNum type="arabicParenBoth"/>
            </a:pPr>
            <a:r>
              <a:rPr lang="en-US" b="1" dirty="0"/>
              <a:t>all independent paths </a:t>
            </a:r>
            <a:r>
              <a:rPr lang="en-US" dirty="0"/>
              <a:t>within a module have been exercised </a:t>
            </a:r>
          </a:p>
          <a:p>
            <a:pPr marL="514350" indent="-514350" algn="just">
              <a:buAutoNum type="arabicParenBoth"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(2) exercise </a:t>
            </a:r>
            <a:r>
              <a:rPr lang="en-US" b="1" dirty="0"/>
              <a:t>all logical decisions </a:t>
            </a:r>
            <a:r>
              <a:rPr lang="en-US" dirty="0"/>
              <a:t>on their true and false sides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(3) Execute </a:t>
            </a:r>
            <a:r>
              <a:rPr lang="en-US" b="1" dirty="0"/>
              <a:t>all loops at their boundaries </a:t>
            </a:r>
            <a:r>
              <a:rPr lang="en-US" dirty="0"/>
              <a:t>and within their </a:t>
            </a:r>
            <a:r>
              <a:rPr lang="en-US" b="1" dirty="0"/>
              <a:t>operational bounds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(4) Exercise </a:t>
            </a:r>
            <a:r>
              <a:rPr lang="en-US" b="1" dirty="0"/>
              <a:t>internal data structures </a:t>
            </a:r>
            <a:r>
              <a:rPr lang="en-US" dirty="0"/>
              <a:t>to ensure their validity.</a:t>
            </a:r>
          </a:p>
        </p:txBody>
      </p:sp>
    </p:spTree>
    <p:extLst>
      <p:ext uri="{BB962C8B-B14F-4D97-AF65-F5344CB8AC3E}">
        <p14:creationId xmlns:p14="http://schemas.microsoft.com/office/powerpoint/2010/main" val="17868905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334000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Basis path testing</a:t>
            </a:r>
            <a:r>
              <a:rPr lang="en-US" dirty="0"/>
              <a:t> is a white-box testing technique.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basis path method – complexities , execution paths( data flow), independent paths and procedural design.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Test cases derived guaranteed to execute every statement in the program</a:t>
            </a:r>
          </a:p>
        </p:txBody>
      </p:sp>
    </p:spTree>
    <p:extLst>
      <p:ext uri="{BB962C8B-B14F-4D97-AF65-F5344CB8AC3E}">
        <p14:creationId xmlns:p14="http://schemas.microsoft.com/office/powerpoint/2010/main" val="36003150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Flow Graph Notation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each circle, called a </a:t>
            </a:r>
            <a:r>
              <a:rPr lang="en-US" b="1" i="1" dirty="0"/>
              <a:t>flow graph node</a:t>
            </a:r>
            <a:r>
              <a:rPr lang="en-US" i="1" dirty="0"/>
              <a:t>, </a:t>
            </a:r>
            <a:r>
              <a:rPr lang="en-US" dirty="0"/>
              <a:t>represents one or more procedural statements.</a:t>
            </a:r>
          </a:p>
          <a:p>
            <a:pPr algn="just"/>
            <a:endParaRPr lang="en-US" b="1" dirty="0"/>
          </a:p>
          <a:p>
            <a:pPr algn="just"/>
            <a:r>
              <a:rPr lang="en-US" b="1" i="1" dirty="0"/>
              <a:t>edges </a:t>
            </a:r>
            <a:r>
              <a:rPr lang="en-US" b="1" dirty="0"/>
              <a:t>or </a:t>
            </a:r>
            <a:r>
              <a:rPr lang="en-US" b="1" i="1" dirty="0"/>
              <a:t>links</a:t>
            </a:r>
            <a:r>
              <a:rPr lang="en-US" i="1" dirty="0"/>
              <a:t>, </a:t>
            </a:r>
            <a:r>
              <a:rPr lang="en-US" dirty="0"/>
              <a:t>represent flow of control and are analogous to flowchart arrows.</a:t>
            </a:r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0"/>
            <a:ext cx="8458199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308264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Areas bounded by edges and nodes are called </a:t>
            </a:r>
            <a:r>
              <a:rPr lang="en-US" b="1" i="1" dirty="0"/>
              <a:t>regions.</a:t>
            </a:r>
          </a:p>
          <a:p>
            <a:pPr algn="just"/>
            <a:endParaRPr lang="en-US" b="1" i="1" dirty="0"/>
          </a:p>
          <a:p>
            <a:r>
              <a:rPr lang="en-US" dirty="0"/>
              <a:t>Each node that contains a condition is called a </a:t>
            </a:r>
            <a:r>
              <a:rPr lang="en-US" b="1" i="1" dirty="0"/>
              <a:t>predicate node.</a:t>
            </a:r>
          </a:p>
          <a:p>
            <a:endParaRPr lang="en-US" b="1" i="1" dirty="0"/>
          </a:p>
          <a:p>
            <a:r>
              <a:rPr lang="en-US" dirty="0"/>
              <a:t>An </a:t>
            </a:r>
            <a:r>
              <a:rPr lang="en-US" b="1" i="1" dirty="0"/>
              <a:t>independent path</a:t>
            </a:r>
            <a:r>
              <a:rPr lang="en-US" i="1" dirty="0"/>
              <a:t> </a:t>
            </a:r>
            <a:r>
              <a:rPr lang="en-US" dirty="0"/>
              <a:t>is any path through the program that introduces at least </a:t>
            </a:r>
            <a:r>
              <a:rPr lang="en-US" b="1" dirty="0"/>
              <a:t>one new set of processing statements or a new condition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4673422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i="1" dirty="0" err="1"/>
              <a:t>Cyclomatic</a:t>
            </a:r>
            <a:r>
              <a:rPr lang="en-US" b="1" i="1" dirty="0"/>
              <a:t> complexity </a:t>
            </a:r>
            <a:r>
              <a:rPr lang="en-US" dirty="0"/>
              <a:t>is a software metric that provides a quantitative measure of the logical complexity of a program.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Cyclomatic</a:t>
            </a:r>
            <a:r>
              <a:rPr lang="en-US" dirty="0"/>
              <a:t> complexity </a:t>
            </a:r>
            <a:r>
              <a:rPr lang="en-US" b="1" dirty="0"/>
              <a:t>defines number of independent paths</a:t>
            </a:r>
            <a:r>
              <a:rPr lang="en-US" dirty="0"/>
              <a:t> which can be further used  in development of test cases.</a:t>
            </a:r>
          </a:p>
        </p:txBody>
      </p:sp>
    </p:spTree>
    <p:extLst>
      <p:ext uri="{BB962C8B-B14F-4D97-AF65-F5344CB8AC3E}">
        <p14:creationId xmlns:p14="http://schemas.microsoft.com/office/powerpoint/2010/main" val="29025345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457201"/>
            <a:ext cx="769620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915400" cy="5638800"/>
          </a:xfrm>
        </p:spPr>
        <p:txBody>
          <a:bodyPr>
            <a:noAutofit/>
          </a:bodyPr>
          <a:lstStyle/>
          <a:p>
            <a:r>
              <a:rPr lang="en-US" sz="2400" b="1" dirty="0"/>
              <a:t>Complexity is computed in one of three ways:</a:t>
            </a:r>
          </a:p>
          <a:p>
            <a:pPr marL="0" indent="0">
              <a:buNone/>
            </a:pPr>
            <a:r>
              <a:rPr lang="en-US" sz="2400" b="1" dirty="0"/>
              <a:t>1</a:t>
            </a:r>
            <a:r>
              <a:rPr lang="en-US" sz="2400" dirty="0"/>
              <a:t>. The number of regions of the flow graph corresponds to the </a:t>
            </a:r>
            <a:r>
              <a:rPr lang="en-US" sz="2400" dirty="0" err="1"/>
              <a:t>cyclomatic</a:t>
            </a:r>
            <a:r>
              <a:rPr lang="en-US" sz="2400" dirty="0"/>
              <a:t> complexity.</a:t>
            </a:r>
          </a:p>
          <a:p>
            <a:pPr marL="514350" indent="-514350">
              <a:buAutoNum type="arabicPeriod"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2. </a:t>
            </a:r>
            <a:r>
              <a:rPr lang="en-US" sz="2400" dirty="0" err="1"/>
              <a:t>Cyclomatic</a:t>
            </a:r>
            <a:r>
              <a:rPr lang="en-US" sz="2400" dirty="0"/>
              <a:t> complexity </a:t>
            </a:r>
            <a:r>
              <a:rPr lang="en-US" sz="2400" i="1" dirty="0"/>
              <a:t>V</a:t>
            </a:r>
            <a:r>
              <a:rPr lang="en-US" sz="2400" dirty="0"/>
              <a:t>(</a:t>
            </a:r>
            <a:r>
              <a:rPr lang="en-US" sz="2400" i="1" dirty="0"/>
              <a:t>G</a:t>
            </a:r>
            <a:r>
              <a:rPr lang="en-US" sz="2400" dirty="0"/>
              <a:t>) for a flow graph </a:t>
            </a:r>
            <a:r>
              <a:rPr lang="en-US" sz="2400" i="1" dirty="0"/>
              <a:t>G </a:t>
            </a:r>
            <a:r>
              <a:rPr lang="en-US" sz="2400" dirty="0"/>
              <a:t>is defined as</a:t>
            </a:r>
          </a:p>
          <a:p>
            <a:pPr marL="0" indent="0">
              <a:buNone/>
            </a:pPr>
            <a:r>
              <a:rPr lang="en-US" sz="2400" i="1" dirty="0"/>
              <a:t>                                             V</a:t>
            </a:r>
            <a:r>
              <a:rPr lang="en-US" sz="2400" dirty="0"/>
              <a:t>(</a:t>
            </a:r>
            <a:r>
              <a:rPr lang="en-US" sz="2400" i="1" dirty="0"/>
              <a:t>G</a:t>
            </a:r>
            <a:r>
              <a:rPr lang="en-US" sz="2400" dirty="0"/>
              <a:t>)  </a:t>
            </a:r>
            <a:r>
              <a:rPr lang="en-US" sz="2400" i="1" dirty="0"/>
              <a:t>E -</a:t>
            </a:r>
            <a:r>
              <a:rPr lang="en-US" sz="2400" dirty="0"/>
              <a:t> </a:t>
            </a:r>
            <a:r>
              <a:rPr lang="en-US" sz="2400" i="1" dirty="0"/>
              <a:t>N +</a:t>
            </a:r>
            <a:r>
              <a:rPr lang="en-US" sz="2400" dirty="0"/>
              <a:t> 2</a:t>
            </a:r>
          </a:p>
          <a:p>
            <a:pPr marL="0" indent="0">
              <a:buNone/>
            </a:pPr>
            <a:r>
              <a:rPr lang="en-US" sz="2400" dirty="0"/>
              <a:t>where </a:t>
            </a:r>
            <a:r>
              <a:rPr lang="en-US" sz="2400" i="1" dirty="0"/>
              <a:t>E </a:t>
            </a:r>
            <a:r>
              <a:rPr lang="en-US" sz="2400" dirty="0"/>
              <a:t>is the number of flow graph edges and </a:t>
            </a:r>
            <a:r>
              <a:rPr lang="en-US" sz="2400" i="1" dirty="0"/>
              <a:t>N </a:t>
            </a:r>
            <a:r>
              <a:rPr lang="en-US" sz="2400" dirty="0"/>
              <a:t>is the number of flow graph nodes.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3. </a:t>
            </a:r>
            <a:r>
              <a:rPr lang="en-US" sz="2400" dirty="0" err="1"/>
              <a:t>Cyclomatic</a:t>
            </a:r>
            <a:r>
              <a:rPr lang="en-US" sz="2400" dirty="0"/>
              <a:t> complexity </a:t>
            </a:r>
            <a:r>
              <a:rPr lang="en-US" sz="2400" i="1" dirty="0"/>
              <a:t>V</a:t>
            </a:r>
            <a:r>
              <a:rPr lang="en-US" sz="2400" dirty="0"/>
              <a:t>(</a:t>
            </a:r>
            <a:r>
              <a:rPr lang="en-US" sz="2400" i="1" dirty="0"/>
              <a:t>G</a:t>
            </a:r>
            <a:r>
              <a:rPr lang="en-US" sz="2400" dirty="0"/>
              <a:t>) for a flow graph </a:t>
            </a:r>
            <a:r>
              <a:rPr lang="en-US" sz="2400" i="1" dirty="0"/>
              <a:t>G </a:t>
            </a:r>
            <a:r>
              <a:rPr lang="en-US" sz="2400" dirty="0"/>
              <a:t>is also defined as</a:t>
            </a:r>
          </a:p>
          <a:p>
            <a:pPr marL="0" indent="0">
              <a:buNone/>
            </a:pPr>
            <a:r>
              <a:rPr lang="en-US" sz="2400" i="1" dirty="0"/>
              <a:t>                                                 V</a:t>
            </a:r>
            <a:r>
              <a:rPr lang="en-US" sz="2400" dirty="0"/>
              <a:t>(</a:t>
            </a:r>
            <a:r>
              <a:rPr lang="en-US" sz="2400" i="1" dirty="0"/>
              <a:t>G</a:t>
            </a:r>
            <a:r>
              <a:rPr lang="en-US" sz="2400" dirty="0"/>
              <a:t>)  </a:t>
            </a:r>
            <a:r>
              <a:rPr lang="en-US" sz="2400" i="1" dirty="0"/>
              <a:t>P +</a:t>
            </a:r>
            <a:r>
              <a:rPr lang="en-US" sz="2400" dirty="0"/>
              <a:t> 1</a:t>
            </a:r>
          </a:p>
          <a:p>
            <a:pPr marL="0" indent="0">
              <a:buNone/>
            </a:pPr>
            <a:r>
              <a:rPr lang="en-US" sz="2400" dirty="0"/>
              <a:t>where </a:t>
            </a:r>
            <a:r>
              <a:rPr lang="en-US" sz="2400" i="1" dirty="0"/>
              <a:t>P </a:t>
            </a:r>
            <a:r>
              <a:rPr lang="en-US" sz="2400" dirty="0"/>
              <a:t>is the number of predicate nodes contained in the flow graph </a:t>
            </a:r>
            <a:r>
              <a:rPr lang="en-US" sz="2400" i="1" dirty="0"/>
              <a:t>G.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6670315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white-box test design technique: </a:t>
            </a:r>
            <a:r>
              <a:rPr lang="en-US" dirty="0"/>
              <a:t>Procedure to derive and/or </a:t>
            </a:r>
            <a:r>
              <a:rPr lang="en-US" b="1" dirty="0"/>
              <a:t>select test cases </a:t>
            </a:r>
            <a:r>
              <a:rPr lang="en-US" dirty="0"/>
              <a:t>based on an</a:t>
            </a:r>
            <a:br>
              <a:rPr lang="en-US" dirty="0"/>
            </a:br>
            <a:r>
              <a:rPr lang="en-US" b="1" dirty="0"/>
              <a:t>analysis of the internal structure of a component or system.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Deriving Test Cases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b="1" dirty="0"/>
              <a:t>Using the design or code as a foundation, draw a corresponding flow graph.</a:t>
            </a:r>
          </a:p>
        </p:txBody>
      </p:sp>
    </p:spTree>
    <p:extLst>
      <p:ext uri="{BB962C8B-B14F-4D97-AF65-F5344CB8AC3E}">
        <p14:creationId xmlns:p14="http://schemas.microsoft.com/office/powerpoint/2010/main" val="21664090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2. Determine the </a:t>
            </a:r>
            <a:r>
              <a:rPr lang="en-US" b="1" dirty="0" err="1"/>
              <a:t>cyclomatic</a:t>
            </a:r>
            <a:r>
              <a:rPr lang="en-US" b="1" dirty="0"/>
              <a:t> complexity of the resultant flow graph.</a:t>
            </a:r>
          </a:p>
          <a:p>
            <a:pPr marL="0" indent="0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b="1" dirty="0"/>
              <a:t>3. Determine a set of linearly independent paths. </a:t>
            </a:r>
          </a:p>
          <a:p>
            <a:pPr marL="0" indent="0" algn="just">
              <a:buNone/>
            </a:pPr>
            <a:r>
              <a:rPr lang="en-US" dirty="0"/>
              <a:t>The value of </a:t>
            </a:r>
            <a:r>
              <a:rPr lang="en-US" i="1" dirty="0"/>
              <a:t>V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) provides the upper bound on the number of linearly independent paths.</a:t>
            </a:r>
          </a:p>
        </p:txBody>
      </p:sp>
    </p:spTree>
    <p:extLst>
      <p:ext uri="{BB962C8B-B14F-4D97-AF65-F5344CB8AC3E}">
        <p14:creationId xmlns:p14="http://schemas.microsoft.com/office/powerpoint/2010/main" val="179575458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/>
              <a:t>4. Prepare test cases that will force execution of each path in the set.</a:t>
            </a:r>
          </a:p>
          <a:p>
            <a:r>
              <a:rPr lang="en-US" dirty="0"/>
              <a:t>Data should be chosen so that conditions at the predicate nodes are appropriately set as each path is tested. </a:t>
            </a:r>
          </a:p>
          <a:p>
            <a:r>
              <a:rPr lang="en-US" dirty="0"/>
              <a:t>Each test case is executed and compared to expected results. </a:t>
            </a:r>
          </a:p>
          <a:p>
            <a:r>
              <a:rPr lang="en-US" dirty="0"/>
              <a:t>be sure that all statements in the program have been executed at least once.</a:t>
            </a:r>
          </a:p>
        </p:txBody>
      </p:sp>
    </p:spTree>
    <p:extLst>
      <p:ext uri="{BB962C8B-B14F-4D97-AF65-F5344CB8AC3E}">
        <p14:creationId xmlns:p14="http://schemas.microsoft.com/office/powerpoint/2010/main" val="167178290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/>
              <a:t>Levels of Testing (White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algn="just"/>
            <a:r>
              <a:rPr lang="en-US" dirty="0"/>
              <a:t>A data structure, called a </a:t>
            </a:r>
            <a:r>
              <a:rPr lang="en-US" b="1" i="1" dirty="0"/>
              <a:t>graph matrix</a:t>
            </a:r>
            <a:r>
              <a:rPr lang="en-US" i="1" dirty="0"/>
              <a:t>, </a:t>
            </a:r>
            <a:r>
              <a:rPr lang="en-US" dirty="0"/>
              <a:t>can be quite useful for developing a </a:t>
            </a:r>
            <a:r>
              <a:rPr lang="en-US" b="1" dirty="0"/>
              <a:t>software tool that assists in basis path testing.</a:t>
            </a:r>
          </a:p>
        </p:txBody>
      </p:sp>
    </p:spTree>
    <p:extLst>
      <p:ext uri="{BB962C8B-B14F-4D97-AF65-F5344CB8AC3E}">
        <p14:creationId xmlns:p14="http://schemas.microsoft.com/office/powerpoint/2010/main" val="41949156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dirty="0"/>
              <a:t>Levels of Testing (Black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915400" cy="533400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b="1" i="1" dirty="0"/>
              <a:t>Black-box testing</a:t>
            </a:r>
            <a:r>
              <a:rPr lang="en-US" dirty="0"/>
              <a:t>, also called </a:t>
            </a:r>
            <a:r>
              <a:rPr lang="en-US" b="1" i="1" dirty="0"/>
              <a:t>behavioral testing</a:t>
            </a:r>
            <a:r>
              <a:rPr lang="en-US" i="1" dirty="0"/>
              <a:t>, </a:t>
            </a:r>
            <a:r>
              <a:rPr lang="en-US" dirty="0"/>
              <a:t>focuses on the </a:t>
            </a:r>
            <a:r>
              <a:rPr lang="en-US" b="1" dirty="0"/>
              <a:t>functional requirements of the software.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exercise all functional requirements for a program</a:t>
            </a:r>
          </a:p>
          <a:p>
            <a:pPr algn="just"/>
            <a:endParaRPr lang="en-US" b="1" dirty="0"/>
          </a:p>
          <a:p>
            <a:r>
              <a:rPr lang="en-US" b="1" dirty="0"/>
              <a:t>Black-box testing attempts to find errors in the following categories:</a:t>
            </a:r>
          </a:p>
          <a:p>
            <a:pPr marL="0" indent="0">
              <a:buNone/>
            </a:pPr>
            <a:r>
              <a:rPr lang="en-US" dirty="0"/>
              <a:t> (1) incorrect or missing functions</a:t>
            </a:r>
          </a:p>
          <a:p>
            <a:pPr marL="0" indent="0">
              <a:buNone/>
            </a:pPr>
            <a:r>
              <a:rPr lang="en-US" dirty="0"/>
              <a:t> (2) interface errors</a:t>
            </a:r>
          </a:p>
          <a:p>
            <a:pPr marL="0" indent="0">
              <a:buNone/>
            </a:pPr>
            <a:r>
              <a:rPr lang="en-US" dirty="0"/>
              <a:t> (3) errors in data structures or external database access</a:t>
            </a:r>
          </a:p>
          <a:p>
            <a:pPr marL="0" indent="0">
              <a:buNone/>
            </a:pPr>
            <a:r>
              <a:rPr lang="en-US" dirty="0"/>
              <a:t> (4) behavior or performance errors</a:t>
            </a:r>
          </a:p>
          <a:p>
            <a:pPr marL="0" indent="0">
              <a:buNone/>
            </a:pPr>
            <a:r>
              <a:rPr lang="en-US" dirty="0"/>
              <a:t> (5) initialization and termination errors.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868785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Levels of Testing (Black Box 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Black-box testing is not an alternative to white-box techniques.</a:t>
            </a:r>
          </a:p>
          <a:p>
            <a:endParaRPr lang="en-US" dirty="0"/>
          </a:p>
          <a:p>
            <a:r>
              <a:rPr lang="en-US" dirty="0"/>
              <a:t>it is a complementary approach that is likely to uncover a different class of errors</a:t>
            </a:r>
          </a:p>
          <a:p>
            <a:endParaRPr lang="en-US" dirty="0"/>
          </a:p>
          <a:p>
            <a:r>
              <a:rPr lang="en-US" b="1" dirty="0"/>
              <a:t>Criteria for testing</a:t>
            </a:r>
          </a:p>
          <a:p>
            <a:r>
              <a:rPr lang="en-US" dirty="0"/>
              <a:t>Identifying classes or errors.</a:t>
            </a:r>
          </a:p>
          <a:p>
            <a:r>
              <a:rPr lang="en-US" dirty="0"/>
              <a:t>additional test cases that must be designed to achieve reasonable testing.</a:t>
            </a:r>
          </a:p>
        </p:txBody>
      </p:sp>
    </p:spTree>
    <p:extLst>
      <p:ext uri="{BB962C8B-B14F-4D97-AF65-F5344CB8AC3E}">
        <p14:creationId xmlns:p14="http://schemas.microsoft.com/office/powerpoint/2010/main" val="36703237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8915400" cy="5410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understand the objects </a:t>
            </a:r>
            <a:r>
              <a:rPr lang="en-US" dirty="0"/>
              <a:t>that are modeled in software and the </a:t>
            </a:r>
            <a:r>
              <a:rPr lang="en-US" b="1" dirty="0"/>
              <a:t>relationships that connect these objects.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Software testing begins by </a:t>
            </a:r>
            <a:r>
              <a:rPr lang="en-US" b="1" dirty="0"/>
              <a:t>creating a graph of important objects and their relationships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define a series of tests that </a:t>
            </a:r>
            <a:r>
              <a:rPr lang="en-US" b="1" dirty="0"/>
              <a:t>verify all objects have the expected relationship to one another.</a:t>
            </a:r>
          </a:p>
          <a:p>
            <a:pPr algn="just"/>
            <a:endParaRPr lang="en-US" b="1" dirty="0"/>
          </a:p>
          <a:p>
            <a:r>
              <a:rPr lang="en-US" dirty="0"/>
              <a:t>tests that will cover the graph - each object and relationship is exercised and errors are uncovered.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8522317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447800"/>
            <a:ext cx="8839200" cy="5257800"/>
          </a:xfrm>
        </p:spPr>
        <p:txBody>
          <a:bodyPr/>
          <a:lstStyle/>
          <a:p>
            <a:r>
              <a:rPr lang="en-US" dirty="0"/>
              <a:t>Graph notation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773363"/>
            <a:ext cx="6857999" cy="2789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407191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514600"/>
            <a:ext cx="7315199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048003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test cases are designed in an attempt to </a:t>
            </a:r>
            <a:r>
              <a:rPr lang="en-US" b="1" dirty="0"/>
              <a:t>find errors in any of the relationships.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number of behavioral testing methods that can make use of graphs:</a:t>
            </a:r>
          </a:p>
          <a:p>
            <a:pPr algn="just"/>
            <a:endParaRPr lang="en-US" dirty="0"/>
          </a:p>
          <a:p>
            <a:pPr marL="514350" indent="-514350" algn="just">
              <a:buAutoNum type="arabicPeriod"/>
            </a:pPr>
            <a:r>
              <a:rPr lang="en-US" b="1" dirty="0"/>
              <a:t>Transaction flow modeling</a:t>
            </a:r>
          </a:p>
          <a:p>
            <a:pPr marL="514350" indent="-514350" algn="just">
              <a:buNone/>
            </a:pPr>
            <a:r>
              <a:rPr lang="en-US" dirty="0"/>
              <a:t>Example: airline reservation with validation</a:t>
            </a:r>
          </a:p>
          <a:p>
            <a:pPr marL="514350" indent="-514350" algn="just">
              <a:buNone/>
            </a:pPr>
            <a:r>
              <a:rPr lang="en-US" dirty="0"/>
              <a:t>Data flow diagram can be used in creating graphs</a:t>
            </a:r>
          </a:p>
        </p:txBody>
      </p:sp>
    </p:spTree>
    <p:extLst>
      <p:ext uri="{BB962C8B-B14F-4D97-AF65-F5344CB8AC3E}">
        <p14:creationId xmlns:p14="http://schemas.microsoft.com/office/powerpoint/2010/main" val="41680389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2. Finite state modeling</a:t>
            </a:r>
          </a:p>
          <a:p>
            <a:pPr algn="just"/>
            <a:r>
              <a:rPr lang="en-US" dirty="0"/>
              <a:t>different user observable states of the software</a:t>
            </a:r>
          </a:p>
          <a:p>
            <a:pPr algn="just"/>
            <a:endParaRPr lang="en-US" dirty="0"/>
          </a:p>
          <a:p>
            <a:r>
              <a:rPr lang="en-US" b="1" dirty="0"/>
              <a:t>Example: order-information is verified during </a:t>
            </a:r>
            <a:r>
              <a:rPr lang="en-US" b="1" i="1" dirty="0"/>
              <a:t>inventory- </a:t>
            </a:r>
            <a:r>
              <a:rPr lang="en-US" i="1" dirty="0"/>
              <a:t>availability look-up and is followed by </a:t>
            </a:r>
            <a:r>
              <a:rPr lang="en-US" b="1" i="1" dirty="0"/>
              <a:t>customer-billing-information</a:t>
            </a:r>
          </a:p>
          <a:p>
            <a:endParaRPr lang="en-US" b="1" i="1" dirty="0"/>
          </a:p>
          <a:p>
            <a:pPr algn="just"/>
            <a:r>
              <a:rPr lang="en-US" b="1" dirty="0"/>
              <a:t>State transition diagram </a:t>
            </a:r>
            <a:r>
              <a:rPr lang="en-US" dirty="0"/>
              <a:t>can be used in creating graphs</a:t>
            </a:r>
          </a:p>
          <a:p>
            <a:endParaRPr lang="en-US" b="1" i="1" dirty="0"/>
          </a:p>
          <a:p>
            <a:endParaRPr lang="en-US" b="1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Graph-Based Testing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257800"/>
          </a:xfrm>
        </p:spPr>
        <p:txBody>
          <a:bodyPr/>
          <a:lstStyle/>
          <a:p>
            <a:pPr algn="just">
              <a:buNone/>
            </a:pPr>
            <a:r>
              <a:rPr lang="en-US" b="1" dirty="0"/>
              <a:t>3. Data flow modeling</a:t>
            </a:r>
          </a:p>
          <a:p>
            <a:pPr algn="just"/>
            <a:r>
              <a:rPr lang="en-US" dirty="0"/>
              <a:t>transformations that occur to translate one data object into another. </a:t>
            </a:r>
          </a:p>
          <a:p>
            <a:pPr algn="just"/>
            <a:endParaRPr lang="en-US" dirty="0"/>
          </a:p>
          <a:p>
            <a:pPr algn="just">
              <a:buNone/>
            </a:pPr>
            <a:r>
              <a:rPr lang="en-US" b="1" dirty="0"/>
              <a:t>4. Timing modeling</a:t>
            </a:r>
          </a:p>
          <a:p>
            <a:pPr algn="just">
              <a:buNone/>
            </a:pPr>
            <a:r>
              <a:rPr lang="en-US" dirty="0"/>
              <a:t>sequential connections between objects</a:t>
            </a:r>
          </a:p>
          <a:p>
            <a:pPr algn="just">
              <a:buNone/>
            </a:pPr>
            <a:r>
              <a:rPr lang="en-US" dirty="0"/>
              <a:t>specify the required execution times as the program executes</a:t>
            </a:r>
            <a:endParaRPr lang="en-US" b="1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Equivalence partitioning is a software testing technique that </a:t>
            </a:r>
            <a:r>
              <a:rPr lang="en-US" b="1" dirty="0"/>
              <a:t>divides the input and/or output data of a software unit into partitions </a:t>
            </a:r>
            <a:r>
              <a:rPr lang="en-US" dirty="0"/>
              <a:t>of data </a:t>
            </a:r>
            <a:r>
              <a:rPr lang="en-US" b="1" dirty="0"/>
              <a:t>from which test cases can be derived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equivalence partitions are </a:t>
            </a:r>
            <a:r>
              <a:rPr lang="en-US" b="1" dirty="0"/>
              <a:t>usually derived from the requirements specification for input.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Test cases are designed to </a:t>
            </a:r>
            <a:r>
              <a:rPr lang="en-US" b="1" dirty="0"/>
              <a:t>cover each partition at least once.</a:t>
            </a:r>
            <a:endParaRPr lang="lt-LT" b="1" dirty="0"/>
          </a:p>
          <a:p>
            <a:pPr algn="just"/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/>
              <a:t>Equivalence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/>
          <a:lstStyle/>
          <a:p>
            <a:pPr algn="just"/>
            <a:r>
              <a:rPr lang="en-US" dirty="0"/>
              <a:t>Equivalence partitioning technique </a:t>
            </a:r>
            <a:r>
              <a:rPr lang="en-US" b="1" dirty="0"/>
              <a:t>uncovers classes of errors.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An equivalence class represents a set of </a:t>
            </a:r>
            <a:r>
              <a:rPr lang="en-US" b="1" dirty="0"/>
              <a:t>valid or invalid states for input conditions.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Typically, an input condition is either a specific </a:t>
            </a:r>
            <a:r>
              <a:rPr lang="en-US" b="1" dirty="0"/>
              <a:t>numeric value, a range of values, a set of related values, or a Boolean condition.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Equivalence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54864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Guidelines for equivalence classes:</a:t>
            </a:r>
          </a:p>
          <a:p>
            <a:pPr marL="514350" indent="-514350">
              <a:buAutoNum type="arabicPeriod"/>
            </a:pPr>
            <a:r>
              <a:rPr lang="en-US" dirty="0"/>
              <a:t>If an input condition specifies a range, one valid and two invalid equivalence classes are defined.</a:t>
            </a:r>
          </a:p>
          <a:p>
            <a:pPr marL="514350" indent="-514350">
              <a:buAutoNum type="arabicPeriod"/>
            </a:pPr>
            <a:r>
              <a:rPr lang="en-US" dirty="0"/>
              <a:t>If an input condition requires a specific value, one valid and two invalid equivalence classes are defined.</a:t>
            </a:r>
          </a:p>
          <a:p>
            <a:pPr marL="514350" indent="-514350">
              <a:buAutoNum type="arabicPeriod"/>
            </a:pPr>
            <a:r>
              <a:rPr lang="en-US" dirty="0"/>
              <a:t>If an input condition specifies a member of a set, one valid and one invalid equivalence class are defined.</a:t>
            </a:r>
          </a:p>
          <a:p>
            <a:pPr marL="514350" indent="-514350">
              <a:buAutoNum type="arabicPeriod"/>
            </a:pPr>
            <a:r>
              <a:rPr lang="en-US" dirty="0"/>
              <a:t>If an input condition is Boolean, one valid and one invalid class are defined.</a:t>
            </a:r>
            <a:endParaRPr lang="en-US" b="1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Test cases are selected so that the </a:t>
            </a:r>
            <a:r>
              <a:rPr lang="en-US" b="1" dirty="0"/>
              <a:t>largest number of attributes of an equivalence class are exercised at once.</a:t>
            </a:r>
          </a:p>
          <a:p>
            <a:pPr algn="just"/>
            <a:r>
              <a:rPr lang="en-US" b="1" dirty="0"/>
              <a:t>For example, a savings account in a bank has a different rate of interest depending on the balance in the account.</a:t>
            </a:r>
          </a:p>
        </p:txBody>
      </p:sp>
      <p:pic>
        <p:nvPicPr>
          <p:cNvPr id="2050" name="Picture 2" descr="Equivalence partitioni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5029200"/>
            <a:ext cx="8153400" cy="1143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Boundary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486400"/>
          </a:xfrm>
        </p:spPr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greater number of errors occurs at the boundaries </a:t>
            </a:r>
            <a:r>
              <a:rPr lang="en-US" dirty="0"/>
              <a:t>of the input domain rather </a:t>
            </a:r>
            <a:r>
              <a:rPr lang="en-US" b="1" dirty="0"/>
              <a:t>than in the “center”.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Boundary value analysis leads to a </a:t>
            </a:r>
            <a:r>
              <a:rPr lang="en-US" b="1" dirty="0"/>
              <a:t>selection of test cases that exercise bounding values.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BVA leads to the </a:t>
            </a:r>
            <a:r>
              <a:rPr lang="en-US" b="1" dirty="0"/>
              <a:t>selection of test cases at the “edges” of the class.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dirty="0"/>
              <a:t>Boundary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5410200"/>
          </a:xfrm>
        </p:spPr>
        <p:txBody>
          <a:bodyPr/>
          <a:lstStyle/>
          <a:p>
            <a:pPr algn="just"/>
            <a:r>
              <a:rPr lang="en-US" dirty="0"/>
              <a:t>Rather than </a:t>
            </a:r>
            <a:r>
              <a:rPr lang="en-US" b="1" dirty="0"/>
              <a:t>focusing solely on input conditions</a:t>
            </a:r>
            <a:r>
              <a:rPr lang="en-US" dirty="0"/>
              <a:t>, </a:t>
            </a:r>
            <a:r>
              <a:rPr lang="en-US" b="1" dirty="0"/>
              <a:t>BVA derives test cases from the output domain as well.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Examples: </a:t>
            </a:r>
            <a:r>
              <a:rPr lang="en-US" dirty="0"/>
              <a:t>temperature versus pressure table</a:t>
            </a:r>
          </a:p>
          <a:p>
            <a:pPr algn="just"/>
            <a:r>
              <a:rPr lang="en-US" dirty="0"/>
              <a:t>internal program data structures with prescribed boundaries</a:t>
            </a:r>
            <a:endParaRPr lang="en-US" b="1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Boundary Value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r>
              <a:rPr lang="en-US" b="1" dirty="0"/>
              <a:t>Guidelines for BVA</a:t>
            </a:r>
          </a:p>
          <a:p>
            <a:pPr algn="just"/>
            <a:r>
              <a:rPr lang="en-US" dirty="0"/>
              <a:t>If an input condition specifies a range bounded by values a and b, test cases should be designed with values a and b and just above and just below a and b.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an input condition specifies a number of values then test case designed for maximum and minimum values.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Distinguish White &amp; Black Box </a:t>
            </a:r>
            <a:r>
              <a:rPr lang="en-US" dirty="0" err="1"/>
              <a:t>Testng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sz="4000" dirty="0">
                <a:hlinkClick r:id="rId2" action="ppaction://hlinkfile"/>
              </a:rPr>
              <a:t>..\..\Desktop\The Differences Between Black Box and White Box Testing.docx</a:t>
            </a:r>
            <a:endParaRPr lang="en-US" sz="40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7200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The </a:t>
            </a:r>
            <a:r>
              <a:rPr lang="en-US" sz="2800" b="1" dirty="0"/>
              <a:t>construction of object-oriented </a:t>
            </a:r>
            <a:r>
              <a:rPr lang="en-US" sz="2800" dirty="0"/>
              <a:t>software begins with the </a:t>
            </a:r>
            <a:r>
              <a:rPr lang="en-US" sz="2800" b="1" dirty="0"/>
              <a:t>creation of requirements (analysis) and design models.</a:t>
            </a:r>
          </a:p>
          <a:p>
            <a:pPr algn="just"/>
            <a:endParaRPr lang="en-US" sz="2800" b="1" dirty="0"/>
          </a:p>
          <a:p>
            <a:pPr algn="just"/>
            <a:r>
              <a:rPr lang="en-US" sz="2800" b="1" dirty="0"/>
              <a:t>review of OO analysis and design </a:t>
            </a:r>
            <a:r>
              <a:rPr lang="en-US" sz="2800" dirty="0"/>
              <a:t>models is especially useful because the same semantic </a:t>
            </a:r>
            <a:r>
              <a:rPr lang="en-US" sz="2800" b="1" dirty="0"/>
              <a:t>constructs various levels of software product.</a:t>
            </a:r>
          </a:p>
          <a:p>
            <a:pPr algn="just"/>
            <a:endParaRPr lang="en-US" sz="2800" b="1" dirty="0"/>
          </a:p>
          <a:p>
            <a:pPr algn="just"/>
            <a:endParaRPr lang="en-US" sz="2800" b="1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Earlier review may help in avoiding following problems in analysis:</a:t>
            </a:r>
          </a:p>
          <a:p>
            <a:pPr marL="514350" indent="-514350" algn="just">
              <a:buAutoNum type="arabicPeriod"/>
            </a:pPr>
            <a:r>
              <a:rPr lang="en-US" sz="2800" dirty="0"/>
              <a:t>Unnecessary creation of special subclasses to </a:t>
            </a:r>
            <a:r>
              <a:rPr lang="en-US" sz="2800" b="1" dirty="0"/>
              <a:t>accommodate invalid attributes</a:t>
            </a:r>
            <a:r>
              <a:rPr lang="en-US" sz="2800" dirty="0"/>
              <a:t> is avoided.</a:t>
            </a:r>
          </a:p>
          <a:p>
            <a:pPr marL="514350" indent="-514350" algn="just">
              <a:buAutoNum type="arabicPeriod"/>
            </a:pPr>
            <a:endParaRPr lang="en-US" sz="2800" dirty="0"/>
          </a:p>
          <a:p>
            <a:pPr marL="514350" indent="-514350" algn="just">
              <a:buAutoNum type="arabicPeriod"/>
            </a:pPr>
            <a:r>
              <a:rPr lang="en-US" sz="2800" dirty="0"/>
              <a:t>A misinterpretation of the class definition may lead to </a:t>
            </a:r>
            <a:r>
              <a:rPr lang="en-US" sz="2800" b="1" dirty="0"/>
              <a:t>incorrect or extraneous class relationships.</a:t>
            </a:r>
          </a:p>
          <a:p>
            <a:pPr marL="514350" indent="-514350" algn="just">
              <a:buAutoNum type="arabicPeriod"/>
            </a:pPr>
            <a:endParaRPr lang="en-US" sz="2800" dirty="0"/>
          </a:p>
          <a:p>
            <a:pPr marL="514350" indent="-514350" algn="just">
              <a:buAutoNum type="arabicPeriod"/>
            </a:pPr>
            <a:r>
              <a:rPr lang="en-US" sz="2800" dirty="0"/>
              <a:t>The </a:t>
            </a:r>
            <a:r>
              <a:rPr lang="en-US" sz="2800" b="1" dirty="0"/>
              <a:t>behavior of the system </a:t>
            </a:r>
            <a:r>
              <a:rPr lang="en-US" sz="2800" dirty="0"/>
              <a:t>or its classes may be </a:t>
            </a:r>
            <a:r>
              <a:rPr lang="en-US" sz="2800" b="1" dirty="0"/>
              <a:t>improperly characterized </a:t>
            </a:r>
            <a:r>
              <a:rPr lang="en-US" sz="2800" dirty="0"/>
              <a:t>to accommodate the extraneous attribute.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</a:rPr>
              <a:t>Earlier review may help in avoiding following problems in design:</a:t>
            </a:r>
          </a:p>
          <a:p>
            <a:pPr marL="514350" indent="-514350" algn="just">
              <a:buAutoNum type="arabicPeriod"/>
            </a:pPr>
            <a:r>
              <a:rPr lang="en-US" sz="2800" b="1" dirty="0"/>
              <a:t>Improper allocation of the class to subsystem </a:t>
            </a:r>
            <a:r>
              <a:rPr lang="en-US" sz="2800" dirty="0"/>
              <a:t>and/or tasks may occur during system design.</a:t>
            </a:r>
          </a:p>
          <a:p>
            <a:pPr marL="514350" indent="-514350" algn="just">
              <a:buAutoNum type="arabicPeriod"/>
            </a:pPr>
            <a:endParaRPr lang="en-US" sz="2800" dirty="0"/>
          </a:p>
          <a:p>
            <a:pPr marL="514350" indent="-514350" algn="just">
              <a:buAutoNum type="arabicPeriod"/>
            </a:pPr>
            <a:r>
              <a:rPr lang="en-US" sz="2800" b="1" dirty="0"/>
              <a:t>Unnecessary design work </a:t>
            </a:r>
            <a:r>
              <a:rPr lang="en-US" sz="2800" dirty="0"/>
              <a:t>to create the procedural design for the operations that address the </a:t>
            </a:r>
            <a:r>
              <a:rPr lang="en-US" sz="2800" b="1" dirty="0"/>
              <a:t>extraneous attribute.</a:t>
            </a:r>
          </a:p>
          <a:p>
            <a:pPr marL="514350" indent="-514350" algn="just">
              <a:buAutoNum type="arabicPeriod"/>
            </a:pPr>
            <a:endParaRPr lang="en-US" sz="2800" b="1" dirty="0"/>
          </a:p>
          <a:p>
            <a:pPr marL="514350" indent="-514350" algn="just">
              <a:buAutoNum type="arabicPeriod"/>
            </a:pPr>
            <a:r>
              <a:rPr lang="en-US" sz="2800" dirty="0"/>
              <a:t>The messaging model will be incorrect</a:t>
            </a:r>
            <a:endParaRPr lang="en-US" sz="2800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latter stages of their development, (OOA) and (OOD) </a:t>
            </a:r>
            <a:r>
              <a:rPr lang="en-US" b="1" dirty="0"/>
              <a:t>models provide substantial information about the structure and behavior of the system.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models should be </a:t>
            </a:r>
            <a:r>
              <a:rPr lang="en-US" b="1" dirty="0"/>
              <a:t>subjected to rigorous review </a:t>
            </a:r>
            <a:r>
              <a:rPr lang="en-US" dirty="0"/>
              <a:t>prior to the generation of code.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/>
          </a:bodyPr>
          <a:lstStyle/>
          <a:p>
            <a:r>
              <a:rPr lang="en-US" b="1" dirty="0"/>
              <a:t>Correctness of OOA and OOD Models</a:t>
            </a:r>
          </a:p>
          <a:p>
            <a:pPr algn="just"/>
            <a:r>
              <a:rPr lang="en-US" dirty="0"/>
              <a:t>syntactic correctness is judged on proper use of the </a:t>
            </a:r>
            <a:r>
              <a:rPr lang="en-US" dirty="0" err="1"/>
              <a:t>symbology</a:t>
            </a:r>
            <a:r>
              <a:rPr lang="en-US" dirty="0"/>
              <a:t>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each model is reviewed to ensure that proper modeling conventions have been maintained.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If the model accurately reflects the real world , then it is semantically correct. </a:t>
            </a:r>
            <a:endParaRPr lang="en-US" b="1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/>
              <a:t>Consistency of Object-Oriented Models</a:t>
            </a:r>
          </a:p>
          <a:p>
            <a:pPr algn="just"/>
            <a:r>
              <a:rPr lang="en-US" dirty="0"/>
              <a:t>The consistency judged by “considering the relationships among entities in the model.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Each class and its connections to other classes – examine consistency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class-responsibility-collaboration (CRC) model used to measure consistency.</a:t>
            </a:r>
            <a:endParaRPr lang="en-US" b="1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Steps to evaluate class model:</a:t>
            </a:r>
          </a:p>
          <a:p>
            <a:pPr marL="514350" indent="-514350" algn="just">
              <a:buAutoNum type="arabicPeriod"/>
            </a:pPr>
            <a:r>
              <a:rPr lang="en-US" dirty="0"/>
              <a:t>Revisit the CRC model and the object-relationship model – </a:t>
            </a:r>
            <a:r>
              <a:rPr lang="en-US" b="1" dirty="0"/>
              <a:t>requirements </a:t>
            </a:r>
          </a:p>
          <a:p>
            <a:pPr marL="514350" indent="-514350" algn="just">
              <a:buAutoNum type="arabicPeriod"/>
            </a:pPr>
            <a:endParaRPr lang="en-US" b="1" dirty="0"/>
          </a:p>
          <a:p>
            <a:pPr marL="514350" indent="-514350" algn="just">
              <a:buAutoNum type="arabicPeriod"/>
            </a:pPr>
            <a:r>
              <a:rPr lang="en-US" b="1" dirty="0"/>
              <a:t>Inspect</a:t>
            </a:r>
            <a:r>
              <a:rPr lang="en-US" dirty="0"/>
              <a:t> the description of each CRC index card to determine if a delegated responsibility is part of the collaborator’s definition. 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b="1" dirty="0"/>
              <a:t>Invert</a:t>
            </a:r>
            <a:r>
              <a:rPr lang="en-US" dirty="0"/>
              <a:t> the connection to ensure that each collaborator that is asked for service is receiving requests from a reasonable source.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 of OOA and OOD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4. determine whether classes are valid or whether responsibilities are properly grouped among the classes.</a:t>
            </a:r>
          </a:p>
          <a:p>
            <a:pPr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5. Determine whether widely requested responsibilities might be combined into a single responsibility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Testing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classical software testing strategy begins with “testing in the small” and works outward toward “testing in the large.”</a:t>
            </a:r>
          </a:p>
          <a:p>
            <a:pPr marL="514350" indent="-514350" algn="just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Unit Testing in the OO Context</a:t>
            </a:r>
          </a:p>
          <a:p>
            <a:pPr algn="just"/>
            <a:r>
              <a:rPr lang="en-US" dirty="0"/>
              <a:t>Classes and objects</a:t>
            </a:r>
          </a:p>
          <a:p>
            <a:pPr algn="just"/>
            <a:r>
              <a:rPr lang="en-US" dirty="0"/>
              <a:t>Each class and object have attributes and operations</a:t>
            </a:r>
          </a:p>
          <a:p>
            <a:pPr algn="just"/>
            <a:r>
              <a:rPr lang="en-US" dirty="0"/>
              <a:t>Here smallest testable unit is class.</a:t>
            </a:r>
          </a:p>
        </p:txBody>
      </p:sp>
    </p:spTree>
    <p:extLst>
      <p:ext uri="{BB962C8B-B14F-4D97-AF65-F5344CB8AC3E}">
        <p14:creationId xmlns:p14="http://schemas.microsoft.com/office/powerpoint/2010/main" val="149611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Testing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Class (superclass) has operations defined , which are inherited by subclasses.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Because </a:t>
            </a:r>
            <a:r>
              <a:rPr lang="en-US" b="1" dirty="0"/>
              <a:t>operation </a:t>
            </a:r>
            <a:r>
              <a:rPr lang="en-US" b="1" i="1" dirty="0"/>
              <a:t>X() </a:t>
            </a:r>
            <a:r>
              <a:rPr lang="en-US" dirty="0"/>
              <a:t>is used varies in subtle (</a:t>
            </a:r>
            <a:r>
              <a:rPr lang="en-US" b="1" dirty="0"/>
              <a:t>indirect) ways</a:t>
            </a:r>
            <a:r>
              <a:rPr lang="en-US" dirty="0"/>
              <a:t>, it is necessary to test operation </a:t>
            </a:r>
            <a:r>
              <a:rPr lang="en-US" b="1" i="1" dirty="0"/>
              <a:t>X() </a:t>
            </a:r>
            <a:r>
              <a:rPr lang="en-US" b="1" dirty="0"/>
              <a:t>in the context of each of the subclasses.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This means that testing operation </a:t>
            </a:r>
            <a:r>
              <a:rPr lang="en-US" i="1" dirty="0"/>
              <a:t>X() </a:t>
            </a:r>
            <a:r>
              <a:rPr lang="en-US" dirty="0"/>
              <a:t>in a vacuum (the traditional unit-testing approach) is ineffective in the object-oriented context.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8557526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Testing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class testing for OO software is driven by the operations encapsulated by the class and the state behavior of the class.</a:t>
            </a:r>
          </a:p>
          <a:p>
            <a:pPr algn="just"/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</a:rPr>
              <a:t>2. Integration Testing in the OO Context</a:t>
            </a:r>
          </a:p>
          <a:p>
            <a:pPr algn="just"/>
            <a:r>
              <a:rPr lang="en-US" dirty="0"/>
              <a:t>There are two different strategies for integration testing of OO systems</a:t>
            </a:r>
          </a:p>
          <a:p>
            <a:pPr algn="just"/>
            <a:endParaRPr lang="en-US" b="1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1" dirty="0"/>
              <a:t>1. Thread-based testing</a:t>
            </a:r>
          </a:p>
          <a:p>
            <a:pPr algn="just"/>
            <a:r>
              <a:rPr lang="en-US" i="1" dirty="0"/>
              <a:t> </a:t>
            </a:r>
            <a:r>
              <a:rPr lang="en-US" dirty="0"/>
              <a:t>integrates the set of classes required to respond to one input or event for the system.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Each thread is integrated and tested individually to ensure that no side effects occur.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9475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Testing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 startAt="2"/>
            </a:pPr>
            <a:r>
              <a:rPr lang="en-US" b="1" dirty="0"/>
              <a:t>Use-based testing</a:t>
            </a:r>
          </a:p>
          <a:p>
            <a:pPr algn="just"/>
            <a:r>
              <a:rPr lang="en-US" dirty="0"/>
              <a:t>begins the construction of the system by testing independent classes.</a:t>
            </a:r>
          </a:p>
          <a:p>
            <a:pPr algn="just"/>
            <a:endParaRPr lang="en-US" dirty="0"/>
          </a:p>
          <a:p>
            <a:r>
              <a:rPr lang="en-US" dirty="0"/>
              <a:t>Dependent classes, that use the independent classes are tested.</a:t>
            </a:r>
          </a:p>
          <a:p>
            <a:endParaRPr lang="en-US" dirty="0"/>
          </a:p>
          <a:p>
            <a:pPr algn="just"/>
            <a:r>
              <a:rPr lang="en-US" dirty="0"/>
              <a:t>This sequence of testing layers of dependent classes continues until the entire system is constructed.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Use of drivers and stubs is to be avoided.</a:t>
            </a:r>
          </a:p>
        </p:txBody>
      </p:sp>
    </p:spTree>
    <p:extLst>
      <p:ext uri="{BB962C8B-B14F-4D97-AF65-F5344CB8AC3E}">
        <p14:creationId xmlns:p14="http://schemas.microsoft.com/office/powerpoint/2010/main" val="1113745894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Oriented Testing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3. Validation Testing in an OO Context</a:t>
            </a:r>
          </a:p>
          <a:p>
            <a:pPr algn="just"/>
            <a:r>
              <a:rPr lang="en-US" dirty="0"/>
              <a:t>Like conventional validation, the validation of OO software </a:t>
            </a:r>
            <a:r>
              <a:rPr lang="en-US" b="1" dirty="0"/>
              <a:t>focuses on user-visible actions and user-recognizable outputs from the system.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Tester should draw upon </a:t>
            </a:r>
            <a:r>
              <a:rPr lang="en-US" b="1" dirty="0"/>
              <a:t>use cases based on requirement model.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use case provides a scenario that has a </a:t>
            </a:r>
            <a:r>
              <a:rPr lang="en-US" b="1" dirty="0"/>
              <a:t>high likelihood of uncovered errors in user-interaction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13860002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ea typeface="新細明體" pitchFamily="18" charset="-120"/>
              </a:rPr>
              <a:t>Software Rejuvenation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101012" cy="4953000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 pitchFamily="18" charset="-120"/>
              </a:rPr>
              <a:t>Re-documentation</a:t>
            </a:r>
          </a:p>
          <a:p>
            <a:pPr lvl="1" algn="just"/>
            <a:r>
              <a:rPr lang="en-US" altLang="zh-TW" dirty="0">
                <a:ea typeface="新細明體" pitchFamily="18" charset="-120"/>
              </a:rPr>
              <a:t>Creation or revision of alternative representations of software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at the same level of abstraction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Generates:</a:t>
            </a:r>
          </a:p>
          <a:p>
            <a:pPr lvl="2"/>
            <a:r>
              <a:rPr lang="en-US" altLang="zh-TW" dirty="0">
                <a:ea typeface="新細明體" pitchFamily="18" charset="-120"/>
              </a:rPr>
              <a:t>data interface tables, call graphs, component/variable cross references etc.</a:t>
            </a:r>
          </a:p>
          <a:p>
            <a:r>
              <a:rPr lang="en-US" altLang="zh-TW" b="1" dirty="0">
                <a:ea typeface="新細明體" pitchFamily="18" charset="-120"/>
              </a:rPr>
              <a:t>Restructuring</a:t>
            </a:r>
          </a:p>
          <a:p>
            <a:pPr lvl="1"/>
            <a:r>
              <a:rPr lang="en-US" altLang="zh-TW" dirty="0">
                <a:ea typeface="新細明體" pitchFamily="18" charset="-120"/>
              </a:rPr>
              <a:t>transformation of the system’s code without changing its behavior</a:t>
            </a:r>
          </a:p>
        </p:txBody>
      </p:sp>
    </p:spTree>
    <p:extLst>
      <p:ext uri="{BB962C8B-B14F-4D97-AF65-F5344CB8AC3E}">
        <p14:creationId xmlns:p14="http://schemas.microsoft.com/office/powerpoint/2010/main" val="242819583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Rejuvenation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4200" y="1825625"/>
            <a:ext cx="8101013" cy="4505325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b="1" dirty="0">
                <a:ea typeface="新細明體" pitchFamily="18" charset="-120"/>
              </a:rPr>
              <a:t>Reverse Engineering</a:t>
            </a:r>
          </a:p>
          <a:p>
            <a:pPr lvl="1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Analyzing a system to extract information about the behavior and/or structure</a:t>
            </a:r>
          </a:p>
          <a:p>
            <a:pPr lvl="2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also Design Recovery - recreation of design abstractions from code, documentation, and domain knowledge</a:t>
            </a:r>
          </a:p>
          <a:p>
            <a:pPr lvl="1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Generates:</a:t>
            </a:r>
          </a:p>
          <a:p>
            <a:pPr lvl="2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structure charts, entity relationship diagrams, DFDs, requirements models</a:t>
            </a:r>
          </a:p>
          <a:p>
            <a:pPr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b="1" dirty="0">
                <a:ea typeface="新細明體" pitchFamily="18" charset="-120"/>
              </a:rPr>
              <a:t>Re-engineering</a:t>
            </a:r>
          </a:p>
          <a:p>
            <a:pPr lvl="1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Examination and alteration of a system to reconstitute it in another form</a:t>
            </a:r>
          </a:p>
          <a:p>
            <a:pPr lvl="1" algn="just">
              <a:lnSpc>
                <a:spcPct val="80000"/>
              </a:lnSpc>
              <a:spcBef>
                <a:spcPct val="40000"/>
              </a:spcBef>
            </a:pPr>
            <a:r>
              <a:rPr lang="en-US" altLang="zh-TW" dirty="0">
                <a:ea typeface="新細明體" pitchFamily="18" charset="-120"/>
              </a:rPr>
              <a:t>Also known as renovation, reclamation</a:t>
            </a:r>
          </a:p>
        </p:txBody>
      </p:sp>
    </p:spTree>
    <p:extLst>
      <p:ext uri="{BB962C8B-B14F-4D97-AF65-F5344CB8AC3E}">
        <p14:creationId xmlns:p14="http://schemas.microsoft.com/office/powerpoint/2010/main" val="342103833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81600"/>
          </a:xfrm>
        </p:spPr>
        <p:txBody>
          <a:bodyPr/>
          <a:lstStyle/>
          <a:p>
            <a:pPr algn="just"/>
            <a:r>
              <a:rPr lang="en-US" dirty="0"/>
              <a:t>Reengineering – cost , time , resources - reengineering is not accomplished in a few months or years.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every organization needs a pragmatic strategy for software reengineering.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Reengineering is a rebuilding activity.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5485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1752600"/>
            <a:ext cx="7315200" cy="4876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1324211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Inventory analysis.</a:t>
            </a:r>
          </a:p>
          <a:p>
            <a:pPr algn="just"/>
            <a:r>
              <a:rPr lang="en-US" dirty="0"/>
              <a:t>The inventory can be nothing more than a spreadsheet model containing information that provides a detailed description (e.g., size, age, business criticality) of every active application.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As status of application can change any time , inventory should be revisited on regular basis.</a:t>
            </a:r>
          </a:p>
        </p:txBody>
      </p:sp>
    </p:spTree>
    <p:extLst>
      <p:ext uri="{BB962C8B-B14F-4D97-AF65-F5344CB8AC3E}">
        <p14:creationId xmlns:p14="http://schemas.microsoft.com/office/powerpoint/2010/main" val="263275431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Document restructuring.</a:t>
            </a:r>
          </a:p>
          <a:p>
            <a:pPr algn="just"/>
            <a:r>
              <a:rPr lang="en-US" dirty="0"/>
              <a:t>Weak documentation is the trademark of many legacy systems.</a:t>
            </a:r>
          </a:p>
          <a:p>
            <a:pPr marL="514350" indent="-514350" algn="just"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Creating documentation is far too time consuming. – </a:t>
            </a:r>
            <a:r>
              <a:rPr lang="en-US" dirty="0"/>
              <a:t>static programs</a:t>
            </a:r>
          </a:p>
          <a:p>
            <a:pPr marL="514350" indent="-514350" algn="just">
              <a:buAutoNum type="arabicPeriod"/>
            </a:pPr>
            <a:endParaRPr lang="en-US" dirty="0"/>
          </a:p>
          <a:p>
            <a:pPr marL="514350" indent="-514350" algn="just">
              <a:buAutoNum type="arabicPeriod"/>
            </a:pPr>
            <a:r>
              <a:rPr lang="en-US" i="1" dirty="0">
                <a:solidFill>
                  <a:srgbClr val="FF0000"/>
                </a:solidFill>
              </a:rPr>
              <a:t>Documentation must be updated, but your organization has limited resources – </a:t>
            </a:r>
            <a:r>
              <a:rPr lang="en-US" dirty="0"/>
              <a:t>re-document only changed portion</a:t>
            </a:r>
          </a:p>
        </p:txBody>
      </p:sp>
    </p:spTree>
    <p:extLst>
      <p:ext uri="{BB962C8B-B14F-4D97-AF65-F5344CB8AC3E}">
        <p14:creationId xmlns:p14="http://schemas.microsoft.com/office/powerpoint/2010/main" val="215100536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i="1" dirty="0">
                <a:solidFill>
                  <a:srgbClr val="FF0000"/>
                </a:solidFill>
              </a:rPr>
              <a:t>3. The system is business critical and must be fully re-documented </a:t>
            </a:r>
            <a:r>
              <a:rPr lang="en-US" i="1" dirty="0"/>
              <a:t>- </a:t>
            </a:r>
            <a:r>
              <a:rPr lang="en-US" dirty="0"/>
              <a:t>Even in this case, an intelligent approach is to pare documentation to an essential minimum.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/>
              <a:t>3. Reverse engineering</a:t>
            </a:r>
          </a:p>
          <a:p>
            <a:pPr algn="just"/>
            <a:r>
              <a:rPr lang="en-US" dirty="0"/>
              <a:t>A company disassembles a competitive hardware product in an effort to understand its competitor’s design and manufacturing “secrets.”</a:t>
            </a:r>
          </a:p>
          <a:p>
            <a:pPr algn="just"/>
            <a:endParaRPr lang="en-US" b="1" dirty="0"/>
          </a:p>
          <a:p>
            <a:pPr algn="just"/>
            <a:r>
              <a:rPr lang="en-US" dirty="0"/>
              <a:t>Reverse engineering tools extract data, architectural, and procedural design information from an existing program.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4093439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4. Code restructuring.</a:t>
            </a:r>
          </a:p>
          <a:p>
            <a:pPr marL="0" indent="0">
              <a:buNone/>
            </a:pPr>
            <a:r>
              <a:rPr lang="en-US" b="1" dirty="0"/>
              <a:t>5. Data restructuring</a:t>
            </a:r>
          </a:p>
          <a:p>
            <a:pPr algn="just"/>
            <a:r>
              <a:rPr lang="en-US" dirty="0"/>
              <a:t>A program with weak data architecture will be difficult to adapt and enhance.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Current data architecture is dissected, and necessary data models are defined.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Data objects and attributes are identified, and existing data structures are reviewed for quality.</a:t>
            </a:r>
          </a:p>
        </p:txBody>
      </p:sp>
    </p:spTree>
    <p:extLst>
      <p:ext uri="{BB962C8B-B14F-4D97-AF65-F5344CB8AC3E}">
        <p14:creationId xmlns:p14="http://schemas.microsoft.com/office/powerpoint/2010/main" val="246179485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Software Reengineering Process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6. Forward engineering</a:t>
            </a:r>
          </a:p>
          <a:p>
            <a:pPr algn="just"/>
            <a:r>
              <a:rPr lang="en-US" dirty="0"/>
              <a:t>Forward engineering not only recovers design information from existing software but uses this information to alter or reconstitute the existing system in an effort to </a:t>
            </a:r>
            <a:r>
              <a:rPr lang="en-US" b="1" dirty="0"/>
              <a:t>improve its overall quality.</a:t>
            </a:r>
          </a:p>
        </p:txBody>
      </p:sp>
    </p:spTree>
    <p:extLst>
      <p:ext uri="{BB962C8B-B14F-4D97-AF65-F5344CB8AC3E}">
        <p14:creationId xmlns:p14="http://schemas.microsoft.com/office/powerpoint/2010/main" val="194084728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process of recreating a design by analyzing a final product. 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</a:t>
            </a:r>
            <a:r>
              <a:rPr lang="en-US" b="1" dirty="0"/>
              <a:t>abstraction</a:t>
            </a:r>
            <a:r>
              <a:rPr lang="en-US" dirty="0"/>
              <a:t> level of a reverse engineering </a:t>
            </a:r>
            <a:r>
              <a:rPr lang="en-US" b="1" dirty="0"/>
              <a:t>refers to the sophistication of the design information </a:t>
            </a:r>
            <a:r>
              <a:rPr lang="en-US" dirty="0"/>
              <a:t>that can be extracted from source code.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</a:t>
            </a:r>
            <a:r>
              <a:rPr lang="en-US" b="1" dirty="0"/>
              <a:t>completeness</a:t>
            </a:r>
            <a:r>
              <a:rPr lang="en-US" dirty="0"/>
              <a:t> of a reverse engineering process </a:t>
            </a:r>
            <a:r>
              <a:rPr lang="en-US" b="1" dirty="0"/>
              <a:t>refers to the level of detail that is provided at an abstraction level.</a:t>
            </a:r>
          </a:p>
        </p:txBody>
      </p:sp>
    </p:spTree>
    <p:extLst>
      <p:ext uri="{BB962C8B-B14F-4D97-AF65-F5344CB8AC3E}">
        <p14:creationId xmlns:p14="http://schemas.microsoft.com/office/powerpoint/2010/main" val="364673719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/>
          <a:lstStyle/>
          <a:p>
            <a:pPr algn="just"/>
            <a:r>
              <a:rPr lang="en-US" b="1" dirty="0"/>
              <a:t>Interactivity</a:t>
            </a:r>
            <a:r>
              <a:rPr lang="en-US" dirty="0"/>
              <a:t> refers to the </a:t>
            </a:r>
            <a:r>
              <a:rPr lang="en-US" b="1" dirty="0"/>
              <a:t>degree to which the human is “integrated” with automated tools </a:t>
            </a:r>
            <a:r>
              <a:rPr lang="en-US" dirty="0"/>
              <a:t>to create an effective reverse engineering process.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Directionality – one way (maintenance activity) or two way (restructure)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engineering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Reverse Engineering Process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438400"/>
            <a:ext cx="46482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/>
          <a:p>
            <a:pPr algn="just"/>
            <a:r>
              <a:rPr lang="en-US" altLang="zh-TW" dirty="0">
                <a:ea typeface="新細明體" pitchFamily="18" charset="-120"/>
              </a:rPr>
              <a:t>Software maintenance is the general process of changing a system after it has been delivered. </a:t>
            </a:r>
          </a:p>
          <a:p>
            <a:pPr algn="just"/>
            <a:endParaRPr lang="en-US" altLang="zh-TW" dirty="0">
              <a:ea typeface="新細明體" pitchFamily="18" charset="-120"/>
            </a:endParaRPr>
          </a:p>
          <a:p>
            <a:pPr algn="just"/>
            <a:r>
              <a:rPr lang="en-US" altLang="zh-TW" dirty="0">
                <a:ea typeface="新細明體" pitchFamily="18" charset="-120"/>
              </a:rPr>
              <a:t>The change may be simple changes to correct coding errors, more extensive changes to correct design errors or significant enhancement to correct specification error or accommodate  new requirements.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836530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There are three different types of software maintenance:</a:t>
            </a:r>
          </a:p>
          <a:p>
            <a:pPr algn="just"/>
            <a:endParaRPr lang="en-US" b="1" dirty="0"/>
          </a:p>
          <a:p>
            <a:pPr>
              <a:buNone/>
            </a:pPr>
            <a:r>
              <a:rPr lang="en-US" b="1" dirty="0"/>
              <a:t>1. Fault repairs </a:t>
            </a:r>
          </a:p>
          <a:p>
            <a:pPr algn="just"/>
            <a:r>
              <a:rPr lang="en-US" dirty="0"/>
              <a:t>Coding errors are usually relatively cheap to correct.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Design errors are more expensive as they may involve rewriting several program components.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Requirements errors are the most expensive to repair because of the extensive system redesign which may be necessary.</a:t>
            </a:r>
            <a:endParaRPr lang="en-US" b="1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2. Environmental adaptation </a:t>
            </a:r>
          </a:p>
          <a:p>
            <a:pPr algn="just"/>
            <a:r>
              <a:rPr lang="en-US" dirty="0"/>
              <a:t>This type of maintenance is required when some aspect of the system’s environment changes.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Example: hardware, the platform operating system, or other support software changes.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application system must be modified to adapt it to cope with these environmental changes.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3. Functionality addition </a:t>
            </a:r>
          </a:p>
          <a:p>
            <a:pPr algn="just"/>
            <a:r>
              <a:rPr lang="en-US" i="1" dirty="0"/>
              <a:t>This type of maintenance is necessary when the system </a:t>
            </a:r>
            <a:r>
              <a:rPr lang="en-US" dirty="0"/>
              <a:t>requirements change.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The scale of the changes required to the software is often much greater than for the other types of maintenance.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ea typeface="新細明體" pitchFamily="18" charset="-120"/>
              </a:rPr>
              <a:t>Software Maintenance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Other types of software maintenance with different names:</a:t>
            </a:r>
          </a:p>
          <a:p>
            <a:endParaRPr lang="en-US" dirty="0"/>
          </a:p>
          <a:p>
            <a:r>
              <a:rPr lang="en-US" b="1" dirty="0"/>
              <a:t>Corrective maintenance</a:t>
            </a:r>
            <a:r>
              <a:rPr lang="en-US" dirty="0"/>
              <a:t> is universally used to refer to maintenance for fault repair.</a:t>
            </a:r>
          </a:p>
          <a:p>
            <a:endParaRPr lang="en-US" dirty="0"/>
          </a:p>
          <a:p>
            <a:pPr algn="just"/>
            <a:r>
              <a:rPr lang="en-US" b="1" dirty="0"/>
              <a:t>Adaptive maintenance </a:t>
            </a:r>
            <a:r>
              <a:rPr lang="en-US" dirty="0"/>
              <a:t>sometimes means adapting to a new environment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Perfective maintenance </a:t>
            </a:r>
            <a:r>
              <a:rPr lang="en-US" dirty="0"/>
              <a:t>sometimes means perfecting the software by implementing new requirements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3181</TotalTime>
  <Words>6890</Words>
  <Application>Microsoft Office PowerPoint</Application>
  <PresentationFormat>On-screen Show (4:3)</PresentationFormat>
  <Paragraphs>792</Paragraphs>
  <Slides>131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5" baseType="lpstr">
      <vt:lpstr>新細明體</vt:lpstr>
      <vt:lpstr>Arial</vt:lpstr>
      <vt:lpstr>Calibri</vt:lpstr>
      <vt:lpstr>Office Theme</vt:lpstr>
      <vt:lpstr>Chapter 5</vt:lpstr>
      <vt:lpstr>PowerPoint Presentation</vt:lpstr>
      <vt:lpstr>Purpose of Software Testing</vt:lpstr>
      <vt:lpstr>Principles of Testing</vt:lpstr>
      <vt:lpstr>Principles of Testing</vt:lpstr>
      <vt:lpstr>Principles of Testing</vt:lpstr>
      <vt:lpstr>Principles of Testing</vt:lpstr>
      <vt:lpstr>Principles of Testing</vt:lpstr>
      <vt:lpstr>Goals of Testing</vt:lpstr>
      <vt:lpstr>Goals of Testing</vt:lpstr>
      <vt:lpstr>Testing Concepts</vt:lpstr>
      <vt:lpstr>Requirements of Testing</vt:lpstr>
      <vt:lpstr>Requirements of Testing</vt:lpstr>
      <vt:lpstr>Requirements of Testing</vt:lpstr>
      <vt:lpstr>Requirements of Testing</vt:lpstr>
      <vt:lpstr>Requirements of Testing</vt:lpstr>
      <vt:lpstr>Requirements of Testing</vt:lpstr>
      <vt:lpstr>Requirements of Testing</vt:lpstr>
      <vt:lpstr>Requirements of Testing</vt:lpstr>
      <vt:lpstr>Test Case</vt:lpstr>
      <vt:lpstr>Test Case</vt:lpstr>
      <vt:lpstr>Test Case</vt:lpstr>
      <vt:lpstr>Strategies for Software Testing</vt:lpstr>
      <vt:lpstr>Strategies for Software Testing</vt:lpstr>
      <vt:lpstr>Strategies for Software Testing</vt:lpstr>
      <vt:lpstr>Strategic Issues</vt:lpstr>
      <vt:lpstr>Strategic Issues</vt:lpstr>
      <vt:lpstr>Strategic Issues</vt:lpstr>
      <vt:lpstr>Strategic Issues</vt:lpstr>
      <vt:lpstr>Strategic Issues</vt:lpstr>
      <vt:lpstr>Strategic Issues</vt:lpstr>
      <vt:lpstr>Strategic Issues</vt:lpstr>
      <vt:lpstr>Verification and Validation</vt:lpstr>
      <vt:lpstr>Verification and Validation</vt:lpstr>
      <vt:lpstr>Verification and Validation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Formal Technical Reviews (FTR)</vt:lpstr>
      <vt:lpstr>Levels of Testing (Unit Testing)</vt:lpstr>
      <vt:lpstr>Levels of Testing (Unit Testing)</vt:lpstr>
      <vt:lpstr>Levels of Testing (Unit Testing)</vt:lpstr>
      <vt:lpstr>Levels of Testing (Unit Testing)</vt:lpstr>
      <vt:lpstr>Levels of Testing (Unit Testing)</vt:lpstr>
      <vt:lpstr>Levels of Testing (Unit Testing)</vt:lpstr>
      <vt:lpstr>PowerPoint Presentation</vt:lpstr>
      <vt:lpstr>Levels of Testing (Unit Testing)</vt:lpstr>
      <vt:lpstr>Levels of Testing (Unit Testing)</vt:lpstr>
      <vt:lpstr>Levels of Testing (Unit Testing)</vt:lpstr>
      <vt:lpstr>Levels of Testing (Integration Testing)</vt:lpstr>
      <vt:lpstr>Levels of Testing (Integration Testing)</vt:lpstr>
      <vt:lpstr>Levels of Testing (Integration Testing)</vt:lpstr>
      <vt:lpstr>Levels of Testing (Integration Testing)</vt:lpstr>
      <vt:lpstr>Levels of Testing (Integration Testing)</vt:lpstr>
      <vt:lpstr> Top – down integration. </vt:lpstr>
      <vt:lpstr>Levels of Testing (Integration Testing)</vt:lpstr>
      <vt:lpstr>Levels of Testing (Integration Testing)</vt:lpstr>
      <vt:lpstr>Levels of Testing (Integration Testing)</vt:lpstr>
      <vt:lpstr>Levels of Testing (Integration Testing)</vt:lpstr>
      <vt:lpstr>Bottom Up Integration</vt:lpstr>
      <vt:lpstr>Levels of Testing (Regression Testing)</vt:lpstr>
      <vt:lpstr>Levels of Testing (Regression Testing)</vt:lpstr>
      <vt:lpstr>Levels of Testing (Regression Testing)</vt:lpstr>
      <vt:lpstr>Levels of Testing (Regression Testing)</vt:lpstr>
      <vt:lpstr>Levels of Testing (Acceptance Testing)</vt:lpstr>
      <vt:lpstr>Levels of Testing (Acceptance Testing)</vt:lpstr>
      <vt:lpstr>Levels of Testing (Acceptance Testing)</vt:lpstr>
      <vt:lpstr>Levels of Testing (White Box Testing)</vt:lpstr>
      <vt:lpstr>Levels of Testing (White Box Testing)</vt:lpstr>
      <vt:lpstr>Levels of Testing (White Box Testing)</vt:lpstr>
      <vt:lpstr>Levels of Testing (White Box Testing)</vt:lpstr>
      <vt:lpstr>Levels of Testing (White Box Testing)</vt:lpstr>
      <vt:lpstr>Levels of Testing (White Box Testing)</vt:lpstr>
      <vt:lpstr>PowerPoint Presentation</vt:lpstr>
      <vt:lpstr>Levels of Testing (White Box Testing)</vt:lpstr>
      <vt:lpstr>Levels of Testing (White Box Testing)</vt:lpstr>
      <vt:lpstr>Levels of Testing (White Box Testing)</vt:lpstr>
      <vt:lpstr>Levels of Testing (White Box Testing)</vt:lpstr>
      <vt:lpstr>Levels of Testing (White Box Testing)</vt:lpstr>
      <vt:lpstr>Levels of Testing (Black Box Testing)</vt:lpstr>
      <vt:lpstr>Levels of Testing (Black Box Testing)</vt:lpstr>
      <vt:lpstr>Graph-Based Testing Methods</vt:lpstr>
      <vt:lpstr>Graph-Based Testing Methods</vt:lpstr>
      <vt:lpstr>Graph-Based Testing Methods</vt:lpstr>
      <vt:lpstr>Graph-Based Testing Methods</vt:lpstr>
      <vt:lpstr>Graph-Based Testing Methods</vt:lpstr>
      <vt:lpstr>Graph-Based Testing Methods</vt:lpstr>
      <vt:lpstr>Equivalence Partitioning</vt:lpstr>
      <vt:lpstr>Equivalence Partitioning</vt:lpstr>
      <vt:lpstr>Equivalence Partitioning</vt:lpstr>
      <vt:lpstr>Equivalence Partitioning</vt:lpstr>
      <vt:lpstr>Boundary Value Analysis</vt:lpstr>
      <vt:lpstr>Boundary Value Analysis</vt:lpstr>
      <vt:lpstr>Boundary Value Analysis</vt:lpstr>
      <vt:lpstr>Distinguish White &amp; Black Box Testng</vt:lpstr>
      <vt:lpstr>Review of OOA and OOD models</vt:lpstr>
      <vt:lpstr>Review of OOA and OOD models</vt:lpstr>
      <vt:lpstr>Review of OOA and OOD models</vt:lpstr>
      <vt:lpstr>Review of OOA and OOD models</vt:lpstr>
      <vt:lpstr>Review of OOA and OOD models</vt:lpstr>
      <vt:lpstr>Review of OOA and OOD models</vt:lpstr>
      <vt:lpstr>Review of OOA and OOD models</vt:lpstr>
      <vt:lpstr>Review of OOA and OOD models</vt:lpstr>
      <vt:lpstr>Object Oriented Testing Strategies</vt:lpstr>
      <vt:lpstr>Object Oriented Testing Strategies</vt:lpstr>
      <vt:lpstr>Object Oriented Testing Strategies</vt:lpstr>
      <vt:lpstr>Object Oriented Testing Strategies</vt:lpstr>
      <vt:lpstr>Object Oriented Testing Strategies</vt:lpstr>
      <vt:lpstr>Software Rejuvenation</vt:lpstr>
      <vt:lpstr>Software Rejuvenation</vt:lpstr>
      <vt:lpstr>Reengineering</vt:lpstr>
      <vt:lpstr>Software Reengineering Process Model</vt:lpstr>
      <vt:lpstr>Software Reengineering Process Model</vt:lpstr>
      <vt:lpstr>Software Reengineering Process Model</vt:lpstr>
      <vt:lpstr>Software Reengineering Process Model</vt:lpstr>
      <vt:lpstr>Software Reengineering Process Model</vt:lpstr>
      <vt:lpstr>Software Reengineering Process Model</vt:lpstr>
      <vt:lpstr>Reverse engineering</vt:lpstr>
      <vt:lpstr>Reverse engineering</vt:lpstr>
      <vt:lpstr>Reverse engineering</vt:lpstr>
      <vt:lpstr>Software Maintenance</vt:lpstr>
      <vt:lpstr>Software Maintenance</vt:lpstr>
      <vt:lpstr>Software Maintenance</vt:lpstr>
      <vt:lpstr>Software Maintenance</vt:lpstr>
      <vt:lpstr>Software Maintenance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Lenovo</dc:creator>
  <cp:lastModifiedBy>Aaryan Sharma</cp:lastModifiedBy>
  <cp:revision>389</cp:revision>
  <dcterms:created xsi:type="dcterms:W3CDTF">2016-09-14T22:39:51Z</dcterms:created>
  <dcterms:modified xsi:type="dcterms:W3CDTF">2025-11-13T18:23:22Z</dcterms:modified>
</cp:coreProperties>
</file>