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3"/>
  </p:notesMasterIdLst>
  <p:sldIdLst>
    <p:sldId id="374" r:id="rId2"/>
    <p:sldId id="375" r:id="rId3"/>
    <p:sldId id="376" r:id="rId4"/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</p:sldIdLst>
  <p:sldSz cx="12192000" cy="6858000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Fira Sans" charset="0"/>
      <p:regular r:id="rId18"/>
      <p:bold r:id="rId19"/>
      <p:italic r:id="rId20"/>
      <p:boldItalic r:id="rId21"/>
    </p:embeddedFont>
    <p:embeddedFont>
      <p:font typeface="Trebuchet MS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3" roundtripDataSignature="AMtx7mgbWDH9BgynZPotlxacZXWgy2w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99" autoAdjust="0"/>
  </p:normalViewPr>
  <p:slideViewPr>
    <p:cSldViewPr snapToGrid="0">
      <p:cViewPr varScale="1">
        <p:scale>
          <a:sx n="49" d="100"/>
          <a:sy n="49" d="100"/>
        </p:scale>
        <p:origin x="-1284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133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13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13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13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13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94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74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03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094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58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98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07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65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721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4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87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12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859" y="929061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966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097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3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831618"/>
            <a:ext cx="10972800" cy="586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0C105-3FF4-40B5-A337-AC380C62911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Google Shape;21;p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xmlns="" id="{93B2F81F-E84E-30FC-261A-95AAEEBA8CF0}"/>
              </a:ext>
            </a:extLst>
          </p:cNvPr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11227237" y="86158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55" y="48266"/>
            <a:ext cx="2316256" cy="708705"/>
          </a:xfrm>
          <a:prstGeom prst="rect">
            <a:avLst/>
          </a:prstGeom>
        </p:spPr>
      </p:pic>
      <p:sp>
        <p:nvSpPr>
          <p:cNvPr id="9" name="Google Shape;12;p5">
            <a:extLst>
              <a:ext uri="{FF2B5EF4-FFF2-40B4-BE49-F238E27FC236}">
                <a16:creationId xmlns:a16="http://schemas.microsoft.com/office/drawing/2014/main" xmlns="" id="{44909106-E9FD-B340-07F3-E7E43E0C87E5}"/>
              </a:ext>
            </a:extLst>
          </p:cNvPr>
          <p:cNvSpPr/>
          <p:nvPr userDrawn="1"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3;p5">
            <a:extLst>
              <a:ext uri="{FF2B5EF4-FFF2-40B4-BE49-F238E27FC236}">
                <a16:creationId xmlns:a16="http://schemas.microsoft.com/office/drawing/2014/main" xmlns="" id="{EAAF044C-1D0D-0CFE-1234-30E94B876495}"/>
              </a:ext>
            </a:extLst>
          </p:cNvPr>
          <p:cNvSpPr/>
          <p:nvPr userDrawn="1"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4;p5">
            <a:extLst>
              <a:ext uri="{FF2B5EF4-FFF2-40B4-BE49-F238E27FC236}">
                <a16:creationId xmlns:a16="http://schemas.microsoft.com/office/drawing/2014/main" xmlns="" id="{5526ECCB-9585-9619-412C-AF7D491C3AAD}"/>
              </a:ext>
            </a:extLst>
          </p:cNvPr>
          <p:cNvSpPr/>
          <p:nvPr userDrawn="1"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4056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66" r:id="rId13"/>
    <p:sldLayoutId id="2147483680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Fira Sans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Fira Sans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Fira Sans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Fira Sans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Fira Sans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-121920"/>
            <a:ext cx="5120640" cy="5120640"/>
          </a:xfrm>
          <a:prstGeom prst="ellipse">
            <a:avLst/>
          </a:prstGeom>
          <a:solidFill>
            <a:srgbClr val="E85D26">
              <a:alpha val="20000"/>
            </a:srgbClr>
          </a:solidFill>
          <a:ln w="12700">
            <a:solidFill>
              <a:srgbClr val="E85D2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365760"/>
            <a:ext cx="3169920" cy="3169920"/>
          </a:xfrm>
          <a:prstGeom prst="ellipse">
            <a:avLst/>
          </a:prstGeom>
          <a:solidFill>
            <a:srgbClr val="F4A261">
              <a:alpha val="28000"/>
            </a:srgbClr>
          </a:solidFill>
          <a:ln w="12700">
            <a:solidFill>
              <a:srgbClr val="F4A261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75360" y="4389120"/>
            <a:ext cx="3657600" cy="3657600"/>
          </a:xfrm>
          <a:prstGeom prst="ellipse">
            <a:avLst/>
          </a:prstGeom>
          <a:solidFill>
            <a:srgbClr val="4CC9F0">
              <a:alpha val="16000"/>
            </a:srgbClr>
          </a:solidFill>
          <a:ln w="12700">
            <a:solidFill>
              <a:srgbClr val="4CC9F0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480" y="1097280"/>
            <a:ext cx="10485120" cy="117043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67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</a:t>
            </a:r>
            <a:endParaRPr lang="en-US" sz="6700" dirty="0">
              <a:solidFill>
                <a:schemeClr val="tx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92480" y="2231136"/>
            <a:ext cx="10485120" cy="117043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67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6700" dirty="0"/>
          </a:p>
        </p:txBody>
      </p:sp>
      <p:sp>
        <p:nvSpPr>
          <p:cNvPr id="7" name="Text 5"/>
          <p:cNvSpPr/>
          <p:nvPr/>
        </p:nvSpPr>
        <p:spPr>
          <a:xfrm>
            <a:off x="792480" y="3389376"/>
            <a:ext cx="2438400" cy="58521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2900" b="1" spc="1067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L P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92480" y="4120896"/>
            <a:ext cx="10485120" cy="87782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7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• Parsing • Semantic &amp; Pragmatic Processing</a:t>
            </a:r>
            <a:endParaRPr lang="en-US" sz="1700" dirty="0">
              <a:solidFill>
                <a:schemeClr val="tx1"/>
              </a:solidFill>
            </a:endParaRPr>
          </a:p>
          <a:p>
            <a:r>
              <a:rPr lang="en-US" sz="17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Analysis • Challenges • Strengths • Limitations • Applications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6364224"/>
            <a:ext cx="10972800" cy="46329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Artificial Intelligence &amp; Computational Linguistics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3865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96" y="268224"/>
            <a:ext cx="85344" cy="70713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2752" y="268224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 Processing — Definition &amp;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3297" y="1024128"/>
            <a:ext cx="1831239" cy="28041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833" y="1036320"/>
            <a:ext cx="1745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3296" y="1292352"/>
            <a:ext cx="11265408" cy="1316736"/>
          </a:xfrm>
          <a:prstGeom prst="rect">
            <a:avLst/>
          </a:prstGeom>
          <a:solidFill>
            <a:srgbClr val="FFF0E8"/>
          </a:solidFill>
          <a:ln w="19050">
            <a:solidFill>
              <a:srgbClr val="E85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0560" y="1341120"/>
            <a:ext cx="10972800" cy="121920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7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</a:t>
            </a:r>
            <a:r>
              <a:rPr lang="en-US" sz="1700" dirty="0">
                <a:solidFill>
                  <a:srgbClr val="1C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sub-field of Artificial Intelligence concerned with enabling computers to </a:t>
            </a:r>
            <a:r>
              <a:rPr lang="en-US" sz="1700" b="1" dirty="0">
                <a:solidFill>
                  <a:srgbClr val="1C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understand, interpret, manipulate and generate</a:t>
            </a:r>
            <a:r>
              <a:rPr lang="en-US" sz="1700" dirty="0">
                <a:solidFill>
                  <a:srgbClr val="1C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language — both written and spoken — in a meaningful and useful way.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3296" y="2877312"/>
            <a:ext cx="3633216" cy="16824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296" y="2877312"/>
            <a:ext cx="3633216" cy="4876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950464"/>
            <a:ext cx="341376" cy="3413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2950464"/>
            <a:ext cx="297484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Linguistics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85216" y="3462528"/>
            <a:ext cx="3389376" cy="9753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Grammar, morphology,</a:t>
            </a:r>
            <a:endParaRPr lang="en-US" dirty="0"/>
          </a:p>
          <a:p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semantics, pragmatics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303776" y="2877312"/>
            <a:ext cx="3633216" cy="16824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03776" y="2877312"/>
            <a:ext cx="3633216" cy="487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950464"/>
            <a:ext cx="341376" cy="3413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64608" y="2950464"/>
            <a:ext cx="297484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Science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425696" y="3462528"/>
            <a:ext cx="3389376" cy="9753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data structures,</a:t>
            </a:r>
            <a:endParaRPr lang="en-US" dirty="0"/>
          </a:p>
          <a:p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deep learning models</a:t>
            </a: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8144256" y="2877312"/>
            <a:ext cx="3633216" cy="16824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44256" y="2877312"/>
            <a:ext cx="3633216" cy="48768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950464"/>
            <a:ext cx="341376" cy="3413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05088" y="2950464"/>
            <a:ext cx="297484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Statistics &amp; ML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66176" y="3462528"/>
            <a:ext cx="3389376" cy="9753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models, neural</a:t>
            </a:r>
            <a:endParaRPr lang="en-US" dirty="0"/>
          </a:p>
          <a:p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Transformers</a:t>
            </a: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63296" y="4779264"/>
            <a:ext cx="11265408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Goals of NLP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63296" y="5181600"/>
            <a:ext cx="5486400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 — translating between human languages</a:t>
            </a: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193536" y="5181600"/>
            <a:ext cx="5486400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Extraction — pulling structured facts from text</a:t>
            </a: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63296" y="5644896"/>
            <a:ext cx="5486400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 — finding precise answers naturally</a:t>
            </a: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193536" y="5644896"/>
            <a:ext cx="5486400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— detecting opinion and emotion in text</a:t>
            </a: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63296" y="6108192"/>
            <a:ext cx="5486400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 — condensing long documents automatically</a:t>
            </a: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193536" y="6108192"/>
            <a:ext cx="5486400" cy="42672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Systems — conversational agents and chatbots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766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96" y="268224"/>
            <a:ext cx="85344" cy="70713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2752" y="268224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10-Stage NLP Pipeline  —  Steps 1 to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63296" y="1024128"/>
            <a:ext cx="2865120" cy="28041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832" y="1036320"/>
            <a:ext cx="280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·  PART 1 OF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6720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" y="1243584"/>
            <a:ext cx="2243328" cy="56083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328928"/>
            <a:ext cx="365760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</a:t>
            </a:r>
            <a:endParaRPr lang="en-US" sz="1300" dirty="0"/>
          </a:p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raw input — web scraping, PDF extraction, speech-to-text, database reads. Handles encoding (UTF-8, Unicode) and language detection.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70048" y="2706624"/>
            <a:ext cx="85344" cy="60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31008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31008" y="1243584"/>
            <a:ext cx="2243328" cy="5608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1328928"/>
            <a:ext cx="365760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218688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</a:t>
            </a:r>
            <a:endParaRPr lang="en-US" sz="1300" dirty="0"/>
          </a:p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52928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HTML tags, boilerplate, special characters, duplicate whitespace. Normalise unicode, fix encoding artefacts, handle contractions.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74336" y="2706624"/>
            <a:ext cx="85344" cy="60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35296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35296" y="1243584"/>
            <a:ext cx="2243328" cy="5608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328928"/>
            <a:ext cx="365760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522976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Sentence</a:t>
            </a:r>
            <a:endParaRPr lang="en-US" sz="1300" dirty="0"/>
          </a:p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57216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cleaned text into individual sentences using punctuation rules, abbreviation lists, and ML boundary detectors (e.g. spaCy sentencizer).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78624" y="2706624"/>
            <a:ext cx="85344" cy="60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9584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9584" y="1243584"/>
            <a:ext cx="2243328" cy="5608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1328928"/>
            <a:ext cx="365760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27264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Tokenisation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61504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sentences into words or sub-word tokens. Strategies: whitespace, rule-based, BPE (GPT), WordPiece (BERT), SentencePiece (T5).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582912" y="2706624"/>
            <a:ext cx="85344" cy="60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43872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43872" y="1243584"/>
            <a:ext cx="2243328" cy="5608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9216" y="1328928"/>
            <a:ext cx="365760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0131552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Morphological</a:t>
            </a:r>
            <a:endParaRPr lang="en-US" sz="1300" dirty="0"/>
          </a:p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65792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(Porter, Snowball), lemmatisation (WordNet), affix stripping, compound splitting. Reduces vocabulary and normalises word forms.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265920" y="6339840"/>
            <a:ext cx="2438400" cy="3657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5920" y="6339840"/>
            <a:ext cx="243840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6–10  →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4146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96" y="268224"/>
            <a:ext cx="85344" cy="70713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2752" y="268224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10-Stage NLP Pipeline  —  Steps 6 to 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63296" y="1024128"/>
            <a:ext cx="2865120" cy="28041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832" y="1036320"/>
            <a:ext cx="280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·  PART 2 OF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6720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" y="1243584"/>
            <a:ext cx="2243328" cy="56083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9872" y="1328928"/>
            <a:ext cx="390144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</a:t>
            </a:r>
            <a:endParaRPr lang="en-US" sz="1300" dirty="0"/>
          </a:p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token with its grammatical role: NN (noun), VBZ (verb), JJ (adjective), DT (determiner), IN (preposition), etc.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70048" y="2706624"/>
            <a:ext cx="85344" cy="60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31008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31008" y="1243584"/>
            <a:ext cx="2243328" cy="5608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4160" y="1328928"/>
            <a:ext cx="390144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218688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Entity</a:t>
            </a:r>
            <a:endParaRPr lang="en-US" sz="1300" dirty="0"/>
          </a:p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52928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classify named spans: PERSON, ORG, GPE, DATE, MONEY, PRODUCT. Tools: spaCy, Stanford NER, BERT-NER.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74336" y="2706624"/>
            <a:ext cx="85344" cy="60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35296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35296" y="1243584"/>
            <a:ext cx="2243328" cy="5608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8448" y="1328928"/>
            <a:ext cx="390144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522976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Syntactic</a:t>
            </a:r>
            <a:endParaRPr lang="en-US" sz="1300" dirty="0"/>
          </a:p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57216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constituency tree (CFG/CYK/Earley) or dependency graph (arc-eager, neural). Captures grammatical structure of the sentence.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78624" y="2706624"/>
            <a:ext cx="85344" cy="60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9584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9584" y="1243584"/>
            <a:ext cx="2243328" cy="5608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12736" y="1328928"/>
            <a:ext cx="390144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27264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1300" dirty="0"/>
          </a:p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61504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Sense Disambiguation, Semantic Role Labelling (FrameNet, PropBank), coreference resolution, FOL / lambda-calculus representation.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582912" y="2706624"/>
            <a:ext cx="85344" cy="60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43872" y="1243584"/>
            <a:ext cx="2243328" cy="5242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43872" y="1243584"/>
            <a:ext cx="2243328" cy="5608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17024" y="1328928"/>
            <a:ext cx="390144" cy="39014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0131552" y="1304544"/>
            <a:ext cx="16581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Pragmatic</a:t>
            </a:r>
            <a:endParaRPr lang="en-US" sz="1300" dirty="0"/>
          </a:p>
          <a:p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65792" y="1926336"/>
            <a:ext cx="2023872" cy="44135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coherence (RST), speech acts, Gricean maxims, presupposition, implicature, anaphora resolution, sentiment in context.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3296" y="6339840"/>
            <a:ext cx="2804160" cy="3657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3296" y="6339840"/>
            <a:ext cx="2804160" cy="3657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Steps 1–5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2839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96" y="268224"/>
            <a:ext cx="85344" cy="70713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2752" y="268224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  —  Steps 1–5  (Input: raw HTML article)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3296" y="1024128"/>
            <a:ext cx="4640275" cy="28041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832" y="1036320"/>
            <a:ext cx="45549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EXAMPLE  ·  PART 1 OF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3296" y="1097280"/>
            <a:ext cx="11265408" cy="560832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121664"/>
            <a:ext cx="10972800" cy="51206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7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input:  "&lt;p&gt;John's dog jumped quickly over the lazy foxes.&lt;/p&gt;"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3296" y="1780032"/>
            <a:ext cx="11265408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296" y="1780032"/>
            <a:ext cx="85344" cy="8534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176" y="1877568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Text Acquisition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28288" y="1877568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HTML source; detect encoding = UTF-8; detect language = English (langdetect)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3296" y="2706624"/>
            <a:ext cx="11265408" cy="853440"/>
          </a:xfrm>
          <a:prstGeom prst="rect">
            <a:avLst/>
          </a:prstGeom>
          <a:solidFill>
            <a:srgbClr val="F0EDE8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296" y="2706624"/>
            <a:ext cx="85344" cy="853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176" y="2804160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Text Cleaning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28288" y="2804160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 &lt;p&gt;…&lt;/p&gt; tags → "John's dog jumped quickly over the lazy foxes."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3296" y="3633216"/>
            <a:ext cx="11265408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296" y="3633216"/>
            <a:ext cx="85344" cy="8534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76" y="3730752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Sentence Segmentation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28288" y="3730752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["John's dog jumped quickly over the lazy foxes."]  — 1 sentence detected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3296" y="4559808"/>
            <a:ext cx="11265408" cy="853440"/>
          </a:xfrm>
          <a:prstGeom prst="rect">
            <a:avLst/>
          </a:prstGeom>
          <a:solidFill>
            <a:srgbClr val="F0EDE8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296" y="4559808"/>
            <a:ext cx="85344" cy="8534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76" y="4657344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Tokenisation (BPE)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28288" y="4657344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["John","'s","dog","jumped","quickly","over","the","lazy","foxes","."]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3296" y="5486400"/>
            <a:ext cx="11265408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296" y="5486400"/>
            <a:ext cx="85344" cy="853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176" y="5583936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Morphological Analysis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28288" y="5583936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"jumped"→"jump"  |  "quickly"→"quick"  |  "foxes"→"fox"  |  "John's"→"John"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65920" y="6400800"/>
            <a:ext cx="2438400" cy="3413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65920" y="6400800"/>
            <a:ext cx="2438400" cy="34137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6–10  →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960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96" y="268224"/>
            <a:ext cx="85344" cy="70713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2752" y="268224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  —  Steps 6–10  (continued)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3296" y="1024128"/>
            <a:ext cx="4640275" cy="28041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832" y="1036320"/>
            <a:ext cx="45549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EXAMPLE  ·  PART 2 OF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3296" y="1097280"/>
            <a:ext cx="11265408" cy="560832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121664"/>
            <a:ext cx="10972800" cy="51206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7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 (after cleaning):  "John's dog jumped quickly over the lazy foxes."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3296" y="1780032"/>
            <a:ext cx="11265408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296" y="1780032"/>
            <a:ext cx="85344" cy="8534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176" y="1877568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  POS Tagging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28288" y="1877568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John/NNP  's/POS  dog/NN  jumped/VBD  quickly/RB  over/IN  the/DT  lazy/JJ  foxes/NNS  ./.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3296" y="2706624"/>
            <a:ext cx="11265408" cy="853440"/>
          </a:xfrm>
          <a:prstGeom prst="rect">
            <a:avLst/>
          </a:prstGeom>
          <a:solidFill>
            <a:srgbClr val="F0EDE8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296" y="2706624"/>
            <a:ext cx="85344" cy="853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176" y="2804160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  Named Entity Recog.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28288" y="2804160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PERSON: "John"  (B-PER)  |  All other tokens: O (outside any entity)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3296" y="3633216"/>
            <a:ext cx="11265408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296" y="3633216"/>
            <a:ext cx="85344" cy="8534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76" y="3730752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  Syntactic Parse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28288" y="3730752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 [NP John's dog] [VP jumped quickly [PP over [NP the lazy foxes]]]]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3296" y="4559808"/>
            <a:ext cx="11265408" cy="853440"/>
          </a:xfrm>
          <a:prstGeom prst="rect">
            <a:avLst/>
          </a:prstGeom>
          <a:solidFill>
            <a:srgbClr val="F0EDE8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296" y="4559808"/>
            <a:ext cx="85344" cy="8534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76" y="4657344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  Semantic Analysis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28288" y="4657344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Agent="John's dog" | Predicate="jumped" | Manner="quickly" | Location="over the lazy foxes"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3296" y="5486400"/>
            <a:ext cx="11265408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296" y="5486400"/>
            <a:ext cx="85344" cy="853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176" y="5583936"/>
            <a:ext cx="30723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Pragmatic Processing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28288" y="5583936"/>
            <a:ext cx="7754112" cy="63398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dirty="0">
                <a:solidFill>
                  <a:srgbClr val="3D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Speech act: Declarative statement. No anaphora. No implicature detected. Sentiment: Neutral.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3296" y="6400800"/>
            <a:ext cx="2804160" cy="34137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296" y="6400800"/>
            <a:ext cx="2804160" cy="341376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Steps 1–5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8674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96" y="268224"/>
            <a:ext cx="85344" cy="70713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2752" y="268224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Challenges in NLP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3297" y="1024128"/>
            <a:ext cx="1948281" cy="28041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833" y="1036320"/>
            <a:ext cx="18629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PROBLEMS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3296" y="1219200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3296" y="1219200"/>
            <a:ext cx="85344" cy="1706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560" y="1341120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0560" y="1755648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Lexical: "book" (noun vs. verb) | "bank" (financial vs. river)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Syntactic: "I saw the man with the telescope" → 2 parse trees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"He fed the dog biscuits" — who got the biscuits?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can co-occur in the same sentence.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39840" y="1219200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39840" y="1219200"/>
            <a:ext cx="85344" cy="170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1341120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Knowledge &amp; Common Sense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47104" y="1755648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trophy didn't fit in the bag because it was too big."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"it"? Humans: obvious. NLP models: hard.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Winograd schema challenge. Models lack grounded physical &amp; social commonsense knowledge.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3296" y="3072384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3296" y="3072384"/>
            <a:ext cx="85344" cy="1706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560" y="3194304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Low-Resource Languages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0560" y="3608832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7,000+ languages exist; annotated data exists for ~100.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 languages are endangered.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SOTA models are English-centric.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transfer and zero-shot learning are active research areas.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39840" y="3072384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39840" y="3072384"/>
            <a:ext cx="85344" cy="170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3194304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Long-Range Dependencies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3608832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politician who the journalist the senator attacked interviewed resigned."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Center-embedding pushes capacity of sequential models.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Transformers: quadratic attention cost for long contexts limits scalability.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3296" y="4925568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3296" y="4925568"/>
            <a:ext cx="85344" cy="1706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560" y="5047488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Sarcasm, Irony &amp; Figurative Language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0560" y="5462016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 brilliant idea!" (said sarcastically)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Metaphor, idiom, hyperbole, sarcasm require pragmatic &amp; cultural reasoning beyond surface syntax.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 sarcasm tracks: models still well below human performance.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39840" y="4925568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39840" y="4925568"/>
            <a:ext cx="85344" cy="170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5047488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&amp; Fairness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47104" y="5462016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biased corpora reproduce &amp; amplify societal biases.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racial and cultural stereotypes in word embeddings (word2vec, GloVe).</a:t>
            </a:r>
            <a:endParaRPr lang="en-US" sz="1300" dirty="0"/>
          </a:p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debiasing algorithms, diverse data curation, red-teaming, constitutional AI.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67360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96" y="268224"/>
            <a:ext cx="85344" cy="70713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2752" y="268224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 of Modern NLP Systems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3297" y="1024128"/>
            <a:ext cx="2533497" cy="28041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833" y="1036320"/>
            <a:ext cx="24481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NLP DOES WELL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3296" y="1219200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655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377696"/>
            <a:ext cx="485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3984" y="1853184"/>
            <a:ext cx="5388864" cy="9753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models process millions of documents in minutes — impossible for human analysts. Enables automated ingestion of entire web corpora, legal archives and medical records at negligible marginal cost.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39840" y="1219200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144" y="13655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6976" y="1377696"/>
            <a:ext cx="485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 Capability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0528" y="1853184"/>
            <a:ext cx="5388864" cy="9753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mBERT and XLM-R cover 100+ languages from a single model. Zero-shot cross-lingual transfer enables deployment in languages with no task-specific training data.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3296" y="3072384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8688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3230880"/>
            <a:ext cx="485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Contextual Understanding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3984" y="3706368"/>
            <a:ext cx="5388864" cy="9753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models (BERT, GPT-4) capture long-range dependencies and polysemous word meaning — far surpassing early bag-of-words and n-gram approaches.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39840" y="3072384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144" y="3218688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6976" y="3230880"/>
            <a:ext cx="485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510528" y="3706368"/>
            <a:ext cx="5388864" cy="9753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once on large corpora; fine-tune cheaply on small domain datasets. BERT/GPT/T5 paradigm dramatically reduces task-specific data requirements — few-shot capability.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63296" y="4925568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071872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70432" y="5084064"/>
            <a:ext cx="485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 Task Coverage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3984" y="5559552"/>
            <a:ext cx="5388864" cy="9753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pre-trained model fine-tunes for translation, QA, summarisation, classification, NER and generation — versatile across the entire NLP task spectrum.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339840" y="4925568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144" y="5071872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6976" y="5084064"/>
            <a:ext cx="485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State-of-the-Art Performance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510528" y="5559552"/>
            <a:ext cx="5388864" cy="9753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SuperGLUE, SQuAD, WMT benchmarks, modern systems match or exceed human performance on many tasks — reading comprehension, MT, coreference, and more.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0554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96" y="268224"/>
            <a:ext cx="85344" cy="70713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2752" y="268224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Weaknesses &amp; Limitations of NLP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3297" y="1024128"/>
            <a:ext cx="1831239" cy="28041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833" y="1036320"/>
            <a:ext cx="1745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3296" y="1219200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3296" y="1219200"/>
            <a:ext cx="85344" cy="1706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560" y="1341120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 &amp; Factual Errors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0560" y="1755648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confidently generate plausible but incorrect facts. No built-in mechanism to verify claims against external knowledge without RAG or tool-use augmentation.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39840" y="1219200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39840" y="1219200"/>
            <a:ext cx="85344" cy="170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1341120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Lack of True Understanding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47104" y="1755648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excel at statistical pattern matching but lack grounded understanding. They pass benchmarks through shortcuts ('Clever Hans' effect) rather than genuine reasoning or causal inference.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3296" y="3072384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3296" y="3072384"/>
            <a:ext cx="85344" cy="1706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560" y="3194304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Computational 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0560" y="3608832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GPT-4 scale models costs millions of dollars and consumes enormous energy. Inference latency and memory requirements limit real-time and edge/IoT deployment.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39840" y="3072384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39840" y="3072384"/>
            <a:ext cx="85344" cy="170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3194304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Catastrophic Forgetting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3608832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 pre-trained model on new tasks degrades performance on prior tasks. Continual learning without full retraining remains an unsolved challenge (ICLR 2024).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3296" y="4925568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3296" y="4925568"/>
            <a:ext cx="85344" cy="1706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560" y="5047488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Interpretability &amp; Explainability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0560" y="5462016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attention is not a reliable explanation of model decisions. 'Black box' nature is a barrier for regulated industries requiring audit trails (healthcare, legal, finance).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39840" y="4925568"/>
            <a:ext cx="5657088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39840" y="4925568"/>
            <a:ext cx="85344" cy="170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5047488"/>
            <a:ext cx="5352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Hunger &amp; Privacy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47104" y="5462016"/>
            <a:ext cx="5352288" cy="104851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3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tokens needed for pre-training. Personal data in corpora poses GDPR risks. Memorisation of training examples can leak private information (Carlini et al. 2021).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6980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96" y="268224"/>
            <a:ext cx="85344" cy="70713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2752" y="268224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Applications Across Domains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3297" y="1024128"/>
            <a:ext cx="3001671" cy="28041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833" y="1036320"/>
            <a:ext cx="29163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6720" y="1219200"/>
            <a:ext cx="3730752" cy="1731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3024" y="1316736"/>
            <a:ext cx="609600" cy="60960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" y="1341120"/>
            <a:ext cx="560832" cy="5608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04544" y="1389888"/>
            <a:ext cx="2767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Assistants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50720"/>
            <a:ext cx="3511296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2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Google Assistant. Intent detection, slot filling, entity extraction and multi-turn dialogue management at billions of daily queries.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52544" y="1219200"/>
            <a:ext cx="3730752" cy="1731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98848" y="1316736"/>
            <a:ext cx="609600" cy="6096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232" y="1341120"/>
            <a:ext cx="560832" cy="5608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389888"/>
            <a:ext cx="2767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Translation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74464" y="1950720"/>
            <a:ext cx="3511296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2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Translate, DeepL, AWS Translate. Neural MT processes 100B+ words/day. UN adopts NMT for multilingual document production across 6 official languages.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78368" y="1219200"/>
            <a:ext cx="3730752" cy="1731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4672" y="1316736"/>
            <a:ext cx="609600" cy="609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341120"/>
            <a:ext cx="560832" cy="5608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56192" y="1389888"/>
            <a:ext cx="2767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NLP / Healthcare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00288" y="1950720"/>
            <a:ext cx="3511296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2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 coding from discharge summaries, drug interaction detection, radiology report analysis. Several FDA-cleared AI products use NLP for clinical decision support.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26720" y="3108960"/>
            <a:ext cx="3730752" cy="1731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73024" y="3206496"/>
            <a:ext cx="609600" cy="609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408" y="3230880"/>
            <a:ext cx="560832" cy="5608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04544" y="3279648"/>
            <a:ext cx="2767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 &amp; Sentiment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48640" y="3840480"/>
            <a:ext cx="3511296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2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Amazon/Flipkart product review analysis, aspect-level sentiment, fake review detection. Personalised recommendation systems augmented with NLP-extracted features.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52544" y="3108960"/>
            <a:ext cx="3730752" cy="1731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498848" y="3206496"/>
            <a:ext cx="609600" cy="6096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3232" y="3230880"/>
            <a:ext cx="560832" cy="5608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30368" y="3279648"/>
            <a:ext cx="2767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 &amp; Grading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474464" y="3840480"/>
            <a:ext cx="3511296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2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essay scoring (GRE, IELTS), intelligent tutoring (Duolingo), plagiarism detection, reading-level assessment at scale for millions of learners.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278368" y="3108960"/>
            <a:ext cx="3730752" cy="1731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24672" y="3206496"/>
            <a:ext cx="609600" cy="6096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3230880"/>
            <a:ext cx="560832" cy="5608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56192" y="3279648"/>
            <a:ext cx="2767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Retrieval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400288" y="3840480"/>
            <a:ext cx="3511296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2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neural ranking, BM25+BERT hybrid retrieval, semantic search. BERT re-ranks billions of search results daily — core to modern search engine architecture.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26720" y="4998720"/>
            <a:ext cx="3730752" cy="1731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73024" y="5096256"/>
            <a:ext cx="609600" cy="6096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408" y="5120640"/>
            <a:ext cx="560832" cy="56083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304544" y="5169408"/>
            <a:ext cx="2767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Intelligence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548640" y="5730240"/>
            <a:ext cx="3511296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2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Code Llama, Cursor. AI-assisted code generation, documentation, bug detection and automated code review — used by 1M+ developers (2024).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52544" y="4998720"/>
            <a:ext cx="3730752" cy="1731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498848" y="5096256"/>
            <a:ext cx="609600" cy="609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3232" y="5120640"/>
            <a:ext cx="560832" cy="56083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230368" y="5169408"/>
            <a:ext cx="2767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&amp; Financial NLP</a:t>
            </a:r>
            <a:endParaRPr lang="en-US" sz="1500" dirty="0"/>
          </a:p>
        </p:txBody>
      </p:sp>
      <p:sp>
        <p:nvSpPr>
          <p:cNvPr id="45" name="Text 35"/>
          <p:cNvSpPr/>
          <p:nvPr/>
        </p:nvSpPr>
        <p:spPr>
          <a:xfrm>
            <a:off x="4474464" y="5730240"/>
            <a:ext cx="3511296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2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 (Harvey AI), regulatory compliance, earnings call sentiment. SEC EDGAR filings processed for risk factor extraction and fraud signal detection.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278368" y="4998720"/>
            <a:ext cx="3730752" cy="1731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424672" y="5096256"/>
            <a:ext cx="609600" cy="60960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9056" y="5120640"/>
            <a:ext cx="560832" cy="56083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156192" y="5169408"/>
            <a:ext cx="27675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0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Speech &amp; Conversational AI</a:t>
            </a:r>
            <a:endParaRPr lang="en-US" sz="1500" dirty="0"/>
          </a:p>
        </p:txBody>
      </p:sp>
      <p:sp>
        <p:nvSpPr>
          <p:cNvPr id="50" name="Text 39"/>
          <p:cNvSpPr/>
          <p:nvPr/>
        </p:nvSpPr>
        <p:spPr>
          <a:xfrm>
            <a:off x="8400288" y="5730240"/>
            <a:ext cx="3511296" cy="926592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t"/>
          <a:lstStyle/>
          <a:p>
            <a:r>
              <a:rPr lang="en-US" sz="1200" dirty="0">
                <a:solidFill>
                  <a:srgbClr val="6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(Whisper), speaker diarisation, call centre automation. Nuance &amp; AWS Transcribe handle 100M+ call-centre minutes/month for enterprise customers.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67378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8224" cy="68580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68224"/>
            <a:ext cx="11216640" cy="75590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12064" y="1499616"/>
            <a:ext cx="512064" cy="512064"/>
          </a:xfrm>
          <a:prstGeom prst="ellipse">
            <a:avLst/>
          </a:prstGeom>
          <a:solidFill>
            <a:srgbClr val="E85D26">
              <a:alpha val="82000"/>
            </a:srgbClr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9200" y="1524000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5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Pipeline: 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30880" y="1524000"/>
            <a:ext cx="8485632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sequential stages — Acquire → Clean → Segment → Tokenise → Morphology → POS → NER → Parse → Semantics → Pragmatics. Errors propagate downstream.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12064" y="2572512"/>
            <a:ext cx="512064" cy="512064"/>
          </a:xfrm>
          <a:prstGeom prst="ellipse">
            <a:avLst/>
          </a:prstGeom>
          <a:solidFill>
            <a:srgbClr val="52B788">
              <a:alpha val="82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572512"/>
            <a:ext cx="512064" cy="51206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19200" y="259689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is Central: 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30880" y="2596896"/>
            <a:ext cx="8485632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 (CFG/CYK) and dependency parsing form the syntactic backbone. CYK &amp; Earley algorithms operationalise CFG parsing; PCFG adds probabilistic disambiguation.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2064" y="3645408"/>
            <a:ext cx="512064" cy="512064"/>
          </a:xfrm>
          <a:prstGeom prst="ellipse">
            <a:avLst/>
          </a:prstGeom>
          <a:solidFill>
            <a:srgbClr val="4CC9F0">
              <a:alpha val="82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645408"/>
            <a:ext cx="512064" cy="51206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19200" y="3669792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 is Layered: 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30880" y="3669792"/>
            <a:ext cx="8485632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interpretation (WSD, SRL, FOL) followed by pragmatic processing (speech acts, coreference, Gricean maxims) builds full contextual understanding.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2064" y="4718304"/>
            <a:ext cx="512064" cy="512064"/>
          </a:xfrm>
          <a:prstGeom prst="ellipse">
            <a:avLst/>
          </a:prstGeom>
          <a:solidFill>
            <a:srgbClr val="F4A261">
              <a:alpha val="8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4718304"/>
            <a:ext cx="512064" cy="51206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19200" y="4742688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 &amp; Weaknesses:  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30880" y="4742688"/>
            <a:ext cx="8485632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excels at scale, multilingual reach, and transfer learning. Key gaps: hallucination, commonsense reasoning, interpretability, and bias remain active frontiers.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2064" y="5791200"/>
            <a:ext cx="512064" cy="512064"/>
          </a:xfrm>
          <a:prstGeom prst="ellipse">
            <a:avLst/>
          </a:prstGeom>
          <a:solidFill>
            <a:srgbClr val="7B2FBE">
              <a:alpha val="8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5791200"/>
            <a:ext cx="512064" cy="512064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19200" y="5815584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7B2F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 Real-World Impact:  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30880" y="5815584"/>
            <a:ext cx="8485632" cy="670560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assistants, clinical AI, legal document analysis, code intelligence, machine translation — NLP underpins virtually every knowledge-intensive digital product.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364224"/>
            <a:ext cx="12192000" cy="4876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680" y="6388608"/>
            <a:ext cx="11216640" cy="414528"/>
          </a:xfrm>
          <a:prstGeom prst="rect">
            <a:avLst/>
          </a:prstGeom>
          <a:noFill/>
          <a:ln/>
        </p:spPr>
        <p:txBody>
          <a:bodyPr wrap="square" lIns="121917" tIns="60958" rIns="121917" bIns="60958" rtlCol="0" anchor="ctr"/>
          <a:lstStyle/>
          <a:p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"Language is the most massive and inclusive art we know, a mountainous and anonymous work of unconscious generations." — Edward Sapir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871974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1967</TotalTime>
  <Words>1847</Words>
  <Application>Microsoft Office PowerPoint</Application>
  <PresentationFormat>Custom</PresentationFormat>
  <Paragraphs>202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Fira Sans</vt:lpstr>
      <vt:lpstr>Trebuchet MS</vt:lpstr>
      <vt:lpstr>Courier New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Pushpendra Kumar Dhansoia</dc:creator>
  <cp:lastModifiedBy>HP</cp:lastModifiedBy>
  <cp:revision>92</cp:revision>
  <dcterms:created xsi:type="dcterms:W3CDTF">2022-02-21T05:08:08Z</dcterms:created>
  <dcterms:modified xsi:type="dcterms:W3CDTF">2026-05-06T10:38:07Z</dcterms:modified>
</cp:coreProperties>
</file>