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40FB-9959-AEB3-7E13-1B2FED4E2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5E792-EE3A-8CB1-B9E7-3B20663E9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C8632-CD2A-6286-A8CC-57E49EFE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D2BAE-4058-00A0-745F-417DF860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A446-0B78-6CC5-7CFF-9A8DD978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D4F4-72FB-99BA-6F42-D0F24D91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6E29-E14E-194D-CF9F-AAA7AFD3C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5E780-5C23-4BCA-9452-FA1A88B37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2E29-7159-AA56-89B6-E05F1767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42063-4A68-26C2-A7AA-8A7BAAF4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39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3FAE-C893-8EAB-24A2-CDABB68C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E54E5-5879-722A-9D49-8246E0F6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84AB6-4DCE-BCB7-4D40-B7E6D4E7F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DD43-F523-9A13-99D5-066E457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B5CA-81D4-3F24-5377-3AA7F129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25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1C5D-BE16-1808-D389-556488F36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07DB-C1BD-0187-C108-FEEC6A5FD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C1923-F0C6-71FB-2EDD-53B4CC2CF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EEF3A-405D-5950-D24D-22C66D56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F8378-AB1E-3223-DDF0-AEB80063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C32F0-5DF7-D147-D8B9-6B254354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70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27FF-9180-DC2D-8DB6-F64B4AAB7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FD4AF-D36A-E30E-7EE7-90F0B8A50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1E3C4-197A-B8F3-471D-58220E390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620E8-9EF8-C411-784E-ADDD20CF8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9E8A9-87CE-6A2C-FB6A-2F9337D6F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81284-13A1-10CA-FEC7-8077F360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94E31-E001-ABEB-4F19-76313349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ECA14-E0D1-C77D-8E47-B27584FE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5F1A-CA3D-C2BC-6B1E-684EF9B45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FA4B0-227B-7002-64E3-9AD87BC2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92412-6E7B-00C5-1106-798E00CC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D0B8F-E82C-0304-6CC1-70F3FFA8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84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A722E-37C7-940F-0F39-24CF8D7B5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7BDD7B-0906-D486-FDF3-66A30C81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F9909-B350-399C-0432-E06462A0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CD77-90D8-8D28-3591-DB823244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28BAA-ADE6-8B65-129B-7F806A976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291D-8E6F-131B-0953-5076124A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3074F-BA00-B612-DC2C-448EE93FC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10620-DABE-E9F6-0BC7-47525F88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2CF9F-812D-3A25-4E2F-8DFF772E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0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DB9A-0CAD-3BC7-F967-A3332865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14CF3-8EEF-2086-4722-D76810695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609C8-F6E4-6CEE-7981-A7763DF5C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8BE27-AF82-20DE-3160-43DCAADC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CB45-8FC5-DCDD-FCD2-42AFE3FC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E3CBA-1D3D-23B8-84DF-7DF49415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82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66C1-B8FA-C1FC-BA2F-D8E82AD6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10C6E-79E1-3A2E-11C6-34B474E66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4AE7-053E-EACB-1687-BDECC45B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D670C-677A-F24D-D81E-74C40EDD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4A243-9DB7-F424-33E8-F05C096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71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6186D-2CEC-B7D3-2BEA-14D560A41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2ACD1-40E6-54A9-3AF2-7AF0AD6BC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06E05-55B1-54DA-B61D-CE9B2515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050F2-BB7E-4F01-BF1A-DCCFE867C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97FC8-4510-64AD-A764-37130EF1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6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AF52A-BABC-DE6D-006B-6BE5215BD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C2854-4E17-1DC5-FA46-986F90A4F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4E05C-F54D-95FC-9717-26265169E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86924-5B00-4A86-A6F0-29DCFD9B5842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A657E-0EB9-9D73-772C-817245B45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F268A-429F-9955-11D4-7E79C1D07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13308-91D0-49A0-BD9F-1FCE7B2F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481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0C02-31AF-1748-D05F-03B7EE178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Spatial Association Rule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F20D1-56AC-DCA0-F587-C56A6BE8B6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Kaustubh Kulkarni</a:t>
            </a:r>
          </a:p>
        </p:txBody>
      </p:sp>
    </p:spTree>
    <p:extLst>
      <p:ext uri="{BB962C8B-B14F-4D97-AF65-F5344CB8AC3E}">
        <p14:creationId xmlns:p14="http://schemas.microsoft.com/office/powerpoint/2010/main" val="137060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255B-01CA-759B-6A43-6133AF14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829-41E4-55EA-30B9-CB057257D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items are derived from spatial predicates like “within 300 m from a river” or “intersects industrial polygon.”</a:t>
            </a:r>
          </a:p>
          <a:p>
            <a:r>
              <a:rPr lang="en-US" dirty="0"/>
              <a:t>Transactional units are spatial partitions (Wards, grid cells, census tracts).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Ward, we mark whether it contains—or is within a threshold distance of—certain spatial features: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within 300 m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within 300 m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highway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site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within 200 m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stop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population density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buffers like 300 m or 200 m is the “spatialization” step. Any point/polygon within the buffer becomes a 1/“present”.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750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E616-A4EA-537B-ADA6-64EBAF61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365126"/>
            <a:ext cx="11941628" cy="49484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 interesting Association Rules given the following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071E-CB8E-CA64-7A3D-D51C38C41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3"/>
            <a:ext cx="10515600" cy="546462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6 Wards (W1…W6). For each Ward, we mark whether it contains—or is within a threshold distance of—certain spatial features: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(one per Ward)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{R, H, B, D}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{H, B, D}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{R, I, B}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{H, I, D}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{R, H, B, D, I}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{R, B}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set: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minsup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(≥ 3 transactions)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minconf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68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6379-9853-1982-2844-D2E79E6F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Candidate </a:t>
            </a:r>
            <a:r>
              <a:rPr lang="en-IN" b="1" dirty="0" err="1"/>
              <a:t>itemsets</a:t>
            </a:r>
            <a:r>
              <a:rPr lang="en-IN" b="1" dirty="0"/>
              <a:t> of size 1 (C</a:t>
            </a:r>
            <a:r>
              <a:rPr lang="en-IN" b="1" baseline="-25000" dirty="0"/>
              <a:t>1</a:t>
            </a:r>
            <a:r>
              <a:rPr lang="en-IN" b="1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8F59C1-5939-DA6B-8EAA-308E386EC0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16135"/>
            <a:ext cx="1088571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R: 4 / 6 =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66.7%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W3, W5, W6)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H: 4 / 6 =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66.7%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W2, W4,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B: 5 / 6 =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83.3%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W2, W3, W5, W6)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D: 4 / 6 =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66.7%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W2, W4,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I: 3 / 6 =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50.0%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(W3, W4,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600" dirty="0">
                <a:latin typeface="Arial" panose="020B0604020202020204" pitchFamily="34" charset="0"/>
              </a:rPr>
              <a:t>All of them have support &gt;= min.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size 1 (L</a:t>
            </a:r>
            <a:r>
              <a:rPr kumimoji="0" lang="en-US" altLang="en-US" sz="36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same as C</a:t>
            </a:r>
            <a:r>
              <a:rPr kumimoji="0" lang="en-US" altLang="en-US" sz="36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769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3CB1-DA17-9A7A-C14A-430264A5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Candidate </a:t>
            </a:r>
            <a:r>
              <a:rPr lang="en-IN" b="1" dirty="0" err="1"/>
              <a:t>itemsets</a:t>
            </a:r>
            <a:r>
              <a:rPr lang="en-IN" b="1" dirty="0"/>
              <a:t> of size 2 (C</a:t>
            </a:r>
            <a:r>
              <a:rPr lang="en-IN" b="1" baseline="-25000" dirty="0"/>
              <a:t>2</a:t>
            </a:r>
            <a:r>
              <a:rPr lang="en-IN" b="1" dirty="0"/>
              <a:t>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DE0FE6-CAB7-E016-716F-AEC4C360D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829" y="2231579"/>
            <a:ext cx="1183277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{H, B}: 3 / 6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50.0%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W2,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{H, D}: 4 / 6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66.7%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W2, W4,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{B, D}: 3 / 6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50.0%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W2,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{R, B}: 4 / 6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66.7%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(W1, W3, W5, W6)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{I, H}: 2 / 6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33.3%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(W4, W5)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{I, D}: 2 / 6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33.3%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(W4, W5)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Frequent </a:t>
            </a:r>
            <a:r>
              <a:rPr lang="en-US" altLang="en-US" sz="3200" dirty="0" err="1">
                <a:latin typeface="Arial" panose="020B0604020202020204" pitchFamily="34" charset="0"/>
              </a:rPr>
              <a:t>itemsets</a:t>
            </a:r>
            <a:r>
              <a:rPr lang="en-US" altLang="en-US" sz="3200" dirty="0">
                <a:latin typeface="Arial" panose="020B0604020202020204" pitchFamily="34" charset="0"/>
              </a:rPr>
              <a:t> of size 2 (L</a:t>
            </a:r>
            <a:r>
              <a:rPr lang="en-US" altLang="en-US" sz="3200" baseline="-25000" dirty="0">
                <a:latin typeface="Arial" panose="020B0604020202020204" pitchFamily="34" charset="0"/>
              </a:rPr>
              <a:t>2</a:t>
            </a:r>
            <a:r>
              <a:rPr lang="en-US" altLang="en-US" sz="3200" dirty="0">
                <a:latin typeface="Arial" panose="020B0604020202020204" pitchFamily="34" charset="0"/>
              </a:rPr>
              <a:t>) = {{H, B}, {H, D}, {B, D}, {R, B}}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27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4C76-5FD9-7A07-0612-FDCC6DE1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Candidate itemset of size 3 (C</a:t>
            </a:r>
            <a:r>
              <a:rPr lang="en-IN" b="1" baseline="-25000" dirty="0"/>
              <a:t>3</a:t>
            </a:r>
            <a:r>
              <a:rPr lang="en-IN" b="1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A470-3B14-770C-C3CF-0731E20E4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600" dirty="0"/>
              <a:t>{H, B, D}: 3 / 6 = </a:t>
            </a:r>
            <a:r>
              <a:rPr lang="pt-BR" sz="3600" b="1" dirty="0"/>
              <a:t>50.0%</a:t>
            </a:r>
            <a:r>
              <a:rPr lang="pt-BR" sz="3600" dirty="0"/>
              <a:t> (W1, W2, W5)</a:t>
            </a:r>
          </a:p>
          <a:p>
            <a:r>
              <a:rPr lang="pt-BR" sz="3600" dirty="0"/>
              <a:t>{I, H, D}: 2 / 6 = </a:t>
            </a:r>
            <a:r>
              <a:rPr lang="pt-BR" sz="3600" b="1" dirty="0"/>
              <a:t>33.3%</a:t>
            </a:r>
            <a:r>
              <a:rPr lang="pt-BR" sz="3600" dirty="0"/>
              <a:t> (W4, W5)</a:t>
            </a:r>
          </a:p>
          <a:p>
            <a:r>
              <a:rPr lang="pt-BR" sz="3600" dirty="0"/>
              <a:t>{R, H, B}: 2 / 6 = </a:t>
            </a:r>
            <a:r>
              <a:rPr lang="pt-BR" sz="3600" b="1" dirty="0"/>
              <a:t>33.3%</a:t>
            </a:r>
            <a:r>
              <a:rPr lang="pt-BR" sz="3600" dirty="0"/>
              <a:t> (W1, W5)</a:t>
            </a:r>
          </a:p>
          <a:p>
            <a:r>
              <a:rPr lang="pt-BR" sz="3600" dirty="0"/>
              <a:t>Large itemset of size 3 (L</a:t>
            </a:r>
            <a:r>
              <a:rPr lang="pt-BR" sz="3600" baseline="-25000" dirty="0"/>
              <a:t>3</a:t>
            </a:r>
            <a:r>
              <a:rPr lang="pt-BR" sz="3600" dirty="0"/>
              <a:t>) = {{H, B, D}}</a:t>
            </a:r>
            <a:endParaRPr lang="pt-BR" sz="3600" baseline="-25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67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EBCE-988F-566B-1D5B-BB1B3D0F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Candidate spatial association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90BE3-7B0F-D542-4429-F59A3CFFC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8743" cy="49235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the rule: {H, B} → D</a:t>
            </a:r>
          </a:p>
          <a:p>
            <a:r>
              <a:rPr lang="en-US" dirty="0"/>
              <a:t>(“Wards within 300 m of a highway and 200 m of a bus stop tend to have high population density.”)</a:t>
            </a:r>
          </a:p>
          <a:p>
            <a:r>
              <a:rPr lang="en-US" dirty="0"/>
              <a:t>Support of {H, B, D} = 3</a:t>
            </a:r>
          </a:p>
          <a:p>
            <a:r>
              <a:rPr lang="en-US" dirty="0"/>
              <a:t>Support(rule) = 3 / 6 = 50.0% (meets </a:t>
            </a:r>
            <a:r>
              <a:rPr lang="en-US" dirty="0" err="1"/>
              <a:t>minsup</a:t>
            </a:r>
            <a:r>
              <a:rPr lang="en-US" dirty="0"/>
              <a:t> 50%)</a:t>
            </a:r>
          </a:p>
          <a:p>
            <a:r>
              <a:rPr lang="en-US" dirty="0"/>
              <a:t>Confidence(rule) = supp({H, B, D}) / supp({H, B}) = 3 / 3 = 100% (≥ 70%)</a:t>
            </a:r>
          </a:p>
          <a:p>
            <a:r>
              <a:rPr lang="en-US" dirty="0"/>
              <a:t>Lift = conf({H,B}→D)/ supp(D) ​=6/4​=1.5</a:t>
            </a:r>
          </a:p>
          <a:p>
            <a:r>
              <a:rPr lang="en-IN" dirty="0"/>
              <a:t>Lift </a:t>
            </a:r>
            <a:r>
              <a:rPr lang="en-IN" b="1" dirty="0"/>
              <a:t>1.5</a:t>
            </a:r>
            <a:r>
              <a:rPr lang="en-IN" dirty="0"/>
              <a:t> &gt; 1 indicates a positive association beyond baseline.</a:t>
            </a:r>
          </a:p>
          <a:p>
            <a:r>
              <a:rPr lang="en-US" b="1" dirty="0"/>
              <a:t>Interpretation</a:t>
            </a:r>
            <a:r>
              <a:rPr lang="en-US" dirty="0"/>
              <a:t>: In this dataset, every ward near both a highway and a bus stop is high-density; and such co-occurrence happens in 50% of all wards.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61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0860-0750-F9F5-BA1D-9C2DBD2D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96D7-69A4-229F-3B6D-7C683704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Candidate spatial association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65CC4-60FB-DC4C-5D87-0FF3D063A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8743" cy="4923518"/>
          </a:xfrm>
        </p:spPr>
        <p:txBody>
          <a:bodyPr>
            <a:normAutofit/>
          </a:bodyPr>
          <a:lstStyle/>
          <a:p>
            <a:r>
              <a:rPr lang="en-US" dirty="0"/>
              <a:t>Consider the rule: {H, D} → B</a:t>
            </a:r>
          </a:p>
          <a:p>
            <a:r>
              <a:rPr lang="en-US" dirty="0"/>
              <a:t>Support of {H, B, D} = 3</a:t>
            </a:r>
          </a:p>
          <a:p>
            <a:r>
              <a:rPr lang="en-US" dirty="0"/>
              <a:t>Support(rule) = 3 / 6 = 50.0% (meets </a:t>
            </a:r>
            <a:r>
              <a:rPr lang="en-US" dirty="0" err="1"/>
              <a:t>minsup</a:t>
            </a:r>
            <a:r>
              <a:rPr lang="en-US" dirty="0"/>
              <a:t> 50%)</a:t>
            </a:r>
          </a:p>
          <a:p>
            <a:r>
              <a:rPr lang="en-US" dirty="0"/>
              <a:t>Confidence(rule) = supp({H, B, D}) / supp({H, D}) = 3 / 4 = 75% (≥ 70%)</a:t>
            </a:r>
          </a:p>
          <a:p>
            <a:r>
              <a:rPr lang="en-US" dirty="0"/>
              <a:t>Lift = conf({H,D}→B)/ supp(B) ​= 0.75/(5/6) ​= 0.9</a:t>
            </a:r>
          </a:p>
          <a:p>
            <a:r>
              <a:rPr lang="en-IN" dirty="0"/>
              <a:t>Lift </a:t>
            </a:r>
            <a:r>
              <a:rPr lang="en-IN" b="1" dirty="0"/>
              <a:t>0.9</a:t>
            </a:r>
            <a:r>
              <a:rPr lang="en-IN" dirty="0"/>
              <a:t> &lt; 1. </a:t>
            </a:r>
            <a:r>
              <a:rPr lang="en-US" dirty="0"/>
              <a:t>Meaning “B” (bus stop proximity) is so common overall that knowing {H, D} doesn’t increase its likelihood.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23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6400-7D42-27FC-BFD1-9633E627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6C157-FA7F-65A3-0368-41BA5E3A4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Likewise mine all the candidate association </a:t>
            </a:r>
            <a:r>
              <a:rPr lang="en-IN"/>
              <a:t>rules possible </a:t>
            </a:r>
            <a:r>
              <a:rPr lang="en-IN" dirty="0"/>
              <a:t>and find their confidence </a:t>
            </a:r>
            <a:r>
              <a:rPr lang="en-IN"/>
              <a:t>and lift.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384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887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Spatial Association Rule Mining</vt:lpstr>
      <vt:lpstr>Background</vt:lpstr>
      <vt:lpstr>Mine interesting Association Rules given the following scenario</vt:lpstr>
      <vt:lpstr>Candidate itemsets of size 1 (C1)</vt:lpstr>
      <vt:lpstr>Candidate itemsets of size 2 (C2)</vt:lpstr>
      <vt:lpstr>Candidate itemset of size 3 (C3)</vt:lpstr>
      <vt:lpstr>Candidate spatial association rule</vt:lpstr>
      <vt:lpstr>Candidate spatial association rule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Kulkarni</dc:creator>
  <cp:lastModifiedBy>Kaustubh Kulkarni</cp:lastModifiedBy>
  <cp:revision>4</cp:revision>
  <dcterms:created xsi:type="dcterms:W3CDTF">2025-08-14T07:31:21Z</dcterms:created>
  <dcterms:modified xsi:type="dcterms:W3CDTF">2025-08-18T06:16:12Z</dcterms:modified>
</cp:coreProperties>
</file>