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1"/>
  </p:notesMasterIdLst>
  <p:sldIdLst>
    <p:sldId id="256" r:id="rId2"/>
    <p:sldId id="258" r:id="rId3"/>
    <p:sldId id="259" r:id="rId4"/>
    <p:sldId id="465" r:id="rId5"/>
    <p:sldId id="260" r:id="rId6"/>
    <p:sldId id="261" r:id="rId7"/>
    <p:sldId id="262" r:id="rId8"/>
    <p:sldId id="269" r:id="rId9"/>
    <p:sldId id="403" r:id="rId10"/>
    <p:sldId id="404" r:id="rId11"/>
    <p:sldId id="271" r:id="rId12"/>
    <p:sldId id="405" r:id="rId13"/>
    <p:sldId id="406" r:id="rId14"/>
    <p:sldId id="407" r:id="rId15"/>
    <p:sldId id="275" r:id="rId16"/>
    <p:sldId id="278" r:id="rId17"/>
    <p:sldId id="279" r:id="rId18"/>
    <p:sldId id="410" r:id="rId19"/>
    <p:sldId id="280" r:id="rId20"/>
    <p:sldId id="408" r:id="rId21"/>
    <p:sldId id="409" r:id="rId22"/>
    <p:sldId id="281" r:id="rId23"/>
    <p:sldId id="282" r:id="rId24"/>
    <p:sldId id="284" r:id="rId25"/>
    <p:sldId id="285" r:id="rId26"/>
    <p:sldId id="466" r:id="rId27"/>
    <p:sldId id="286" r:id="rId28"/>
    <p:sldId id="467" r:id="rId29"/>
    <p:sldId id="287" r:id="rId30"/>
    <p:sldId id="289" r:id="rId31"/>
    <p:sldId id="290" r:id="rId32"/>
    <p:sldId id="291" r:id="rId33"/>
    <p:sldId id="412" r:id="rId34"/>
    <p:sldId id="413" r:id="rId35"/>
    <p:sldId id="292" r:id="rId36"/>
    <p:sldId id="414" r:id="rId37"/>
    <p:sldId id="415" r:id="rId38"/>
    <p:sldId id="416" r:id="rId39"/>
    <p:sldId id="417" r:id="rId40"/>
    <p:sldId id="419" r:id="rId41"/>
    <p:sldId id="300" r:id="rId42"/>
    <p:sldId id="301" r:id="rId43"/>
    <p:sldId id="420" r:id="rId44"/>
    <p:sldId id="421" r:id="rId45"/>
    <p:sldId id="422" r:id="rId46"/>
    <p:sldId id="304" r:id="rId47"/>
    <p:sldId id="306" r:id="rId48"/>
    <p:sldId id="307" r:id="rId49"/>
    <p:sldId id="308" r:id="rId50"/>
    <p:sldId id="309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423" r:id="rId73"/>
    <p:sldId id="425" r:id="rId74"/>
    <p:sldId id="426" r:id="rId75"/>
    <p:sldId id="427" r:id="rId76"/>
    <p:sldId id="338" r:id="rId77"/>
    <p:sldId id="339" r:id="rId78"/>
    <p:sldId id="428" r:id="rId79"/>
    <p:sldId id="429" r:id="rId80"/>
    <p:sldId id="430" r:id="rId81"/>
    <p:sldId id="431" r:id="rId82"/>
    <p:sldId id="432" r:id="rId83"/>
    <p:sldId id="433" r:id="rId84"/>
    <p:sldId id="434" r:id="rId85"/>
    <p:sldId id="344" r:id="rId86"/>
    <p:sldId id="345" r:id="rId87"/>
    <p:sldId id="346" r:id="rId88"/>
    <p:sldId id="347" r:id="rId89"/>
    <p:sldId id="389" r:id="rId90"/>
    <p:sldId id="390" r:id="rId91"/>
    <p:sldId id="435" r:id="rId92"/>
    <p:sldId id="348" r:id="rId93"/>
    <p:sldId id="349" r:id="rId94"/>
    <p:sldId id="350" r:id="rId95"/>
    <p:sldId id="351" r:id="rId96"/>
    <p:sldId id="436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437" r:id="rId117"/>
    <p:sldId id="372" r:id="rId118"/>
    <p:sldId id="373" r:id="rId119"/>
    <p:sldId id="374" r:id="rId120"/>
    <p:sldId id="375" r:id="rId121"/>
    <p:sldId id="376" r:id="rId122"/>
    <p:sldId id="377" r:id="rId123"/>
    <p:sldId id="438" r:id="rId124"/>
    <p:sldId id="379" r:id="rId125"/>
    <p:sldId id="381" r:id="rId126"/>
    <p:sldId id="439" r:id="rId127"/>
    <p:sldId id="440" r:id="rId128"/>
    <p:sldId id="383" r:id="rId129"/>
    <p:sldId id="384" r:id="rId130"/>
    <p:sldId id="385" r:id="rId131"/>
    <p:sldId id="386" r:id="rId132"/>
    <p:sldId id="387" r:id="rId133"/>
    <p:sldId id="388" r:id="rId134"/>
    <p:sldId id="441" r:id="rId135"/>
    <p:sldId id="442" r:id="rId136"/>
    <p:sldId id="443" r:id="rId137"/>
    <p:sldId id="444" r:id="rId138"/>
    <p:sldId id="445" r:id="rId139"/>
    <p:sldId id="454" r:id="rId140"/>
    <p:sldId id="455" r:id="rId141"/>
    <p:sldId id="456" r:id="rId142"/>
    <p:sldId id="457" r:id="rId143"/>
    <p:sldId id="458" r:id="rId144"/>
    <p:sldId id="459" r:id="rId145"/>
    <p:sldId id="460" r:id="rId146"/>
    <p:sldId id="461" r:id="rId147"/>
    <p:sldId id="462" r:id="rId148"/>
    <p:sldId id="463" r:id="rId149"/>
    <p:sldId id="464" r:id="rId1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114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5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5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C8EEA-9B0D-40D1-813B-B1A0DB024338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F6089-A7F1-4F14-8EC5-1A88288EA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778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F6089-A7F1-4F14-8EC5-1A88288EA6B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474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F23DD19-EC4F-4C6E-AE2F-17EC4869BA6D}" type="slidenum">
              <a:rPr lang="en-US" altLang="en-US" smtClean="0">
                <a:solidFill>
                  <a:srgbClr val="000000"/>
                </a:solidFill>
                <a:latin typeface="Times New Roman" pitchFamily="16" charset="0"/>
              </a:rPr>
              <a:pPr eaLnBrk="1" hangingPunct="1"/>
              <a:t>2</a:t>
            </a:fld>
            <a:endParaRPr lang="en-US" altLang="en-US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29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7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361"/>
            <a:ext cx="5486400" cy="411707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eaLnBrk="0" hangingPunct="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00B6E52-14B0-4DC4-B519-6058A40C6E83}" type="slidenum">
              <a:rPr lang="en-US" altLang="en-US" smtClean="0">
                <a:solidFill>
                  <a:srgbClr val="000000"/>
                </a:solidFill>
                <a:latin typeface="Times New Roman" pitchFamily="16" charset="0"/>
              </a:rPr>
              <a:pPr eaLnBrk="1" hangingPunct="1"/>
              <a:t>3</a:t>
            </a:fld>
            <a:endParaRPr lang="en-US" altLang="en-US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30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7413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361"/>
            <a:ext cx="5486400" cy="411707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 eaLnBrk="1" hangingPunct="1"/>
            <a:fld id="{BCB5FAFA-BC04-46DC-9C08-05AF5A258752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867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 eaLnBrk="1" hangingPunct="1"/>
            <a:fld id="{D20E0A55-A425-483F-9AD3-DDB8B788A74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37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 eaLnBrk="1" hangingPunct="1"/>
            <a:fld id="{399FA635-67E4-4975-BEDA-E1B71D091E7A}" type="slidenum">
              <a:rPr lang="en-US" altLang="en-US" sz="1200">
                <a:solidFill>
                  <a:srgbClr val="000000"/>
                </a:solidFill>
              </a:rPr>
              <a:pPr eaLnBrk="1" hangingPunct="1"/>
              <a:t>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481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F6089-A7F1-4F14-8EC5-1A88288EA6B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093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F6089-A7F1-4F14-8EC5-1A88288EA6BF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453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F6089-A7F1-4F14-8EC5-1A88288EA6BF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70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EF6089-A7F1-4F14-8EC5-1A88288EA6BF}" type="slidenum">
              <a:rPr lang="en-IN" smtClean="0"/>
              <a:t>146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04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BB0F58D8-D68C-4FC5-948D-D8FB2550BA71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45D1E0B4-E4F0-4458-9B0C-850040A40C7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8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6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13" Type="http://schemas.openxmlformats.org/officeDocument/2006/relationships/image" Target="../media/image212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1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5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9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3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Chapter </a:t>
            </a:r>
            <a:r>
              <a:rPr lang="en-IN" smtClean="0"/>
              <a:t>1</a:t>
            </a:r>
            <a:endParaRPr lang="en-IN" sz="1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287612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1.1 Introduction to digital signals and systems, Properties and 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operations on digital signals, Introduction to </a:t>
            </a:r>
            <a:r>
              <a:rPr lang="en-IN" dirty="0" err="1">
                <a:solidFill>
                  <a:srgbClr val="FF0000"/>
                </a:solidFill>
              </a:rPr>
              <a:t>biosignals</a:t>
            </a:r>
            <a:r>
              <a:rPr lang="en-IN" dirty="0">
                <a:solidFill>
                  <a:srgbClr val="FF0000"/>
                </a:solidFill>
              </a:rPr>
              <a:t>: 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ECG, EEG, EMG, PPG 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1.2 Classification of signals, system, LTI system 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1.3 Convolution in time domain (linear &amp; circular), </a:t>
            </a:r>
          </a:p>
          <a:p>
            <a:pPr algn="just"/>
            <a:r>
              <a:rPr lang="en-IN" dirty="0">
                <a:solidFill>
                  <a:srgbClr val="FF0000"/>
                </a:solidFill>
              </a:rPr>
              <a:t>Correlation. </a:t>
            </a:r>
          </a:p>
        </p:txBody>
      </p:sp>
    </p:spTree>
    <p:extLst>
      <p:ext uri="{BB962C8B-B14F-4D97-AF65-F5344CB8AC3E}">
        <p14:creationId xmlns:p14="http://schemas.microsoft.com/office/powerpoint/2010/main" val="59109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altLang="en-US"/>
              <a:t>Signal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4267200"/>
          </a:xfrm>
        </p:spPr>
        <p:txBody>
          <a:bodyPr>
            <a:no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 signal is a pattern of variation that carry information.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endParaRPr lang="en-IN" altLang="en-US" sz="18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Signals are represented mathematically as a function of one or more independent variable.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endParaRPr lang="en-IN" altLang="en-US" sz="18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 picture is brightness as a function of two spatial variables, x and y.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endParaRPr lang="en-IN" altLang="en-US" sz="18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In this course signals involving a single independent variable, generally refer to as a time, t are considered. Although it may not represent time in specific application.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endParaRPr lang="en-IN" altLang="en-US" sz="18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  <a:defRPr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 signal is a real-valued or scalar-valued function of an independent variable t.  </a:t>
            </a:r>
          </a:p>
        </p:txBody>
      </p:sp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363C40D-AF77-4B39-A974-CBBAA6AEAEE4}" type="slidenum">
              <a:rPr lang="en-IN" altLang="en-US" smtClean="0">
                <a:solidFill>
                  <a:srgbClr val="000000"/>
                </a:solidFill>
              </a:rPr>
              <a:pPr eaLnBrk="1" hangingPunct="1"/>
              <a:t>2</a:t>
            </a:fld>
            <a:endParaRPr lang="en-I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6740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IN" altLang="en-US"/>
              <a:t>Example of signals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4267200"/>
          </a:xfrm>
        </p:spPr>
        <p:txBody>
          <a:bodyPr>
            <a:normAutofit/>
          </a:bodyPr>
          <a:lstStyle/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Electrical signals like voltages, current and EM field in circuit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Acoustic signals like audio or speech signals (</a:t>
            </a:r>
            <a:r>
              <a:rPr lang="en-IN" altLang="en-US" sz="1800" dirty="0" err="1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analog</a:t>
            </a: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or digital)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Video signals like intensity variation in an image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Biological signal like sequence of bases in gene 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alt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Noise which will be treated as unwanted signal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altLang="en-US" sz="1800" dirty="0">
              <a:solidFill>
                <a:srgbClr val="000000"/>
              </a:solidFill>
              <a:latin typeface="Verdana" pitchFamily="34" charset="0"/>
              <a:cs typeface="Arial" pitchFamily="34" charset="0"/>
            </a:endParaRPr>
          </a:p>
        </p:txBody>
      </p:sp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353CA55-8C50-4E28-8DD6-34D8794B3654}" type="slidenum">
              <a:rPr lang="en-IN" altLang="en-US" smtClean="0">
                <a:solidFill>
                  <a:srgbClr val="000000"/>
                </a:solidFill>
              </a:rPr>
              <a:pPr eaLnBrk="1" hangingPunct="1"/>
              <a:t>3</a:t>
            </a:fld>
            <a:endParaRPr lang="en-I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5531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39552" y="1556792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Continuous Time and Discrete Time Signals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3529" y="2095401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A signal is said to be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continuous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cs typeface="Arial" pitchFamily="34" charset="0"/>
              </a:rPr>
              <a:t> when it is defined for all instants of time.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1026" name="Picture 2" descr="Continuous sig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379" y="2564904"/>
            <a:ext cx="5229225" cy="191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iscrete sig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084" y="4797152"/>
            <a:ext cx="50673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3529" y="4293096"/>
            <a:ext cx="8280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A signal is said to be </a:t>
            </a:r>
            <a:r>
              <a:rPr lang="en-US" altLang="en-US" sz="1600" b="1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discrete </a:t>
            </a:r>
            <a:r>
              <a:rPr lang="en-US" altLang="en-US" sz="16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when it is defined at only discrete instants of time</a:t>
            </a:r>
            <a:endParaRPr lang="en-US" alt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84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30468" y="1736725"/>
            <a:ext cx="8729663" cy="521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buClrTx/>
              <a:buFontTx/>
              <a:buNone/>
              <a:defRPr/>
            </a:pPr>
            <a:r>
              <a:rPr 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-122"/>
                <a:ea typeface="黑体" charset="-122"/>
              </a:rPr>
              <a:t>       </a:t>
            </a:r>
            <a:endParaRPr lang="en-US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Signal 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Representation, transformation and manipulation of signals and the information they contain.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Signal operation include: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(1) Transform, filter, inspection, spectrum analysis;   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(2) Modulation and coding; 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(3) Analog Signal Processing;</a:t>
            </a:r>
          </a:p>
          <a:p>
            <a:pPr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 (4) Digital Signal Processing.</a:t>
            </a:r>
          </a:p>
          <a:p>
            <a:pPr>
              <a:lnSpc>
                <a:spcPct val="130000"/>
              </a:lnSpc>
              <a:buClrTx/>
              <a:buFontTx/>
              <a:buNone/>
              <a:defRPr/>
            </a:pPr>
            <a:endParaRPr lang="en-US" sz="1800" dirty="0">
              <a:latin typeface="Arial" charset="0"/>
              <a:ea typeface="黑体" charset="-122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950623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118269" y="5733256"/>
            <a:ext cx="9064625" cy="894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defRPr/>
            </a:pPr>
            <a:endParaRPr lang="en-US" sz="4000" spc="-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747713" y="1358900"/>
            <a:ext cx="6942137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  <a:buClrTx/>
              <a:buFontTx/>
              <a:buNone/>
              <a:defRPr/>
            </a:pPr>
            <a:r>
              <a:rPr lang="en-US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charset="-122"/>
              </a:rPr>
              <a:t>(1) Digitalized process for analog signals</a:t>
            </a:r>
          </a:p>
        </p:txBody>
      </p:sp>
      <p:grpSp>
        <p:nvGrpSpPr>
          <p:cNvPr id="10244" name="Group 3"/>
          <p:cNvGrpSpPr>
            <a:grpSpLocks/>
          </p:cNvGrpSpPr>
          <p:nvPr/>
        </p:nvGrpSpPr>
        <p:grpSpPr bwMode="auto">
          <a:xfrm>
            <a:off x="792163" y="2349500"/>
            <a:ext cx="7318375" cy="701675"/>
            <a:chOff x="499" y="1480"/>
            <a:chExt cx="4610" cy="442"/>
          </a:xfrm>
        </p:grpSpPr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411" y="1480"/>
              <a:ext cx="721" cy="442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Sample</a:t>
              </a:r>
            </a:p>
          </p:txBody>
        </p:sp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2417" y="1480"/>
              <a:ext cx="1025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Quantizer</a:t>
              </a:r>
            </a:p>
          </p:txBody>
        </p:sp>
        <p:sp>
          <p:nvSpPr>
            <p:cNvPr id="11270" name="Text Box 6"/>
            <p:cNvSpPr txBox="1">
              <a:spLocks noChangeArrowheads="1"/>
            </p:cNvSpPr>
            <p:nvPr/>
          </p:nvSpPr>
          <p:spPr bwMode="auto">
            <a:xfrm>
              <a:off x="3682" y="1480"/>
              <a:ext cx="644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Coder</a:t>
              </a:r>
            </a:p>
          </p:txBody>
        </p:sp>
        <p:sp>
          <p:nvSpPr>
            <p:cNvPr id="10265" name="AutoShape 7"/>
            <p:cNvSpPr>
              <a:spLocks noChangeArrowheads="1"/>
            </p:cNvSpPr>
            <p:nvPr/>
          </p:nvSpPr>
          <p:spPr bwMode="auto">
            <a:xfrm>
              <a:off x="2135" y="1556"/>
              <a:ext cx="276" cy="143"/>
            </a:xfrm>
            <a:prstGeom prst="rightArrow">
              <a:avLst>
                <a:gd name="adj1" fmla="val 50000"/>
                <a:gd name="adj2" fmla="val 48252"/>
              </a:avLst>
            </a:prstGeom>
            <a:noFill/>
            <a:ln w="1908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0266" name="AutoShape 8"/>
            <p:cNvSpPr>
              <a:spLocks noChangeArrowheads="1"/>
            </p:cNvSpPr>
            <p:nvPr/>
          </p:nvSpPr>
          <p:spPr bwMode="auto">
            <a:xfrm>
              <a:off x="3446" y="1555"/>
              <a:ext cx="225" cy="146"/>
            </a:xfrm>
            <a:prstGeom prst="rightArrow">
              <a:avLst>
                <a:gd name="adj1" fmla="val 50000"/>
                <a:gd name="adj2" fmla="val 38527"/>
              </a:avLst>
            </a:prstGeom>
            <a:noFill/>
            <a:ln w="1908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499" y="1484"/>
              <a:ext cx="717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x</a:t>
              </a:r>
              <a:r>
                <a:rPr lang="en-US" b="1" baseline="-25000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a</a:t>
              </a:r>
              <a:r>
                <a:rPr lang="en-US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(t)</a:t>
              </a:r>
            </a:p>
          </p:txBody>
        </p:sp>
        <p:sp>
          <p:nvSpPr>
            <p:cNvPr id="10268" name="Line 10"/>
            <p:cNvSpPr>
              <a:spLocks noChangeShapeType="1"/>
            </p:cNvSpPr>
            <p:nvPr/>
          </p:nvSpPr>
          <p:spPr bwMode="auto">
            <a:xfrm>
              <a:off x="1142" y="1628"/>
              <a:ext cx="230" cy="0"/>
            </a:xfrm>
            <a:prstGeom prst="line">
              <a:avLst/>
            </a:prstGeom>
            <a:noFill/>
            <a:ln w="9360" cap="sq">
              <a:solidFill>
                <a:srgbClr val="3333CC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75" name="Text Box 11"/>
            <p:cNvSpPr txBox="1">
              <a:spLocks noChangeArrowheads="1"/>
            </p:cNvSpPr>
            <p:nvPr/>
          </p:nvSpPr>
          <p:spPr bwMode="auto">
            <a:xfrm>
              <a:off x="4392" y="1484"/>
              <a:ext cx="717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x(n)</a:t>
              </a:r>
            </a:p>
          </p:txBody>
        </p:sp>
        <p:sp>
          <p:nvSpPr>
            <p:cNvPr id="10270" name="Line 12"/>
            <p:cNvSpPr>
              <a:spLocks noChangeShapeType="1"/>
            </p:cNvSpPr>
            <p:nvPr/>
          </p:nvSpPr>
          <p:spPr bwMode="auto">
            <a:xfrm>
              <a:off x="4348" y="1628"/>
              <a:ext cx="220" cy="0"/>
            </a:xfrm>
            <a:prstGeom prst="line">
              <a:avLst/>
            </a:prstGeom>
            <a:noFill/>
            <a:ln w="9360" cap="sq">
              <a:solidFill>
                <a:srgbClr val="3333CC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747713" y="3086100"/>
            <a:ext cx="4872037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  <a:buClrTx/>
              <a:buFontTx/>
              <a:buNone/>
              <a:defRPr/>
            </a:pPr>
            <a:r>
              <a:rPr lang="en-US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charset="-122"/>
              </a:rPr>
              <a:t>(2) Digital processing method</a:t>
            </a:r>
          </a:p>
        </p:txBody>
      </p:sp>
      <p:grpSp>
        <p:nvGrpSpPr>
          <p:cNvPr id="10246" name="Group 14"/>
          <p:cNvGrpSpPr>
            <a:grpSpLocks/>
          </p:cNvGrpSpPr>
          <p:nvPr/>
        </p:nvGrpSpPr>
        <p:grpSpPr bwMode="auto">
          <a:xfrm>
            <a:off x="747713" y="4211638"/>
            <a:ext cx="8151812" cy="722312"/>
            <a:chOff x="471" y="2653"/>
            <a:chExt cx="5135" cy="455"/>
          </a:xfrm>
        </p:grpSpPr>
        <p:sp>
          <p:nvSpPr>
            <p:cNvPr id="11279" name="Text Box 15"/>
            <p:cNvSpPr txBox="1">
              <a:spLocks noChangeArrowheads="1"/>
            </p:cNvSpPr>
            <p:nvPr/>
          </p:nvSpPr>
          <p:spPr bwMode="auto">
            <a:xfrm>
              <a:off x="2103" y="2653"/>
              <a:ext cx="479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A/D</a:t>
              </a:r>
            </a:p>
          </p:txBody>
        </p:sp>
        <p:sp>
          <p:nvSpPr>
            <p:cNvPr id="11280" name="Text Box 16"/>
            <p:cNvSpPr txBox="1">
              <a:spLocks noChangeArrowheads="1"/>
            </p:cNvSpPr>
            <p:nvPr/>
          </p:nvSpPr>
          <p:spPr bwMode="auto">
            <a:xfrm>
              <a:off x="2823" y="2653"/>
              <a:ext cx="479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DSP</a:t>
              </a:r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3543" y="2653"/>
              <a:ext cx="479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D/A</a:t>
              </a:r>
            </a:p>
          </p:txBody>
        </p:sp>
        <p:sp>
          <p:nvSpPr>
            <p:cNvPr id="10250" name="AutoShape 18"/>
            <p:cNvSpPr>
              <a:spLocks noChangeArrowheads="1"/>
            </p:cNvSpPr>
            <p:nvPr/>
          </p:nvSpPr>
          <p:spPr bwMode="auto">
            <a:xfrm>
              <a:off x="2583" y="2710"/>
              <a:ext cx="239" cy="143"/>
            </a:xfrm>
            <a:prstGeom prst="rightArrow">
              <a:avLst>
                <a:gd name="adj1" fmla="val 50000"/>
                <a:gd name="adj2" fmla="val 41783"/>
              </a:avLst>
            </a:prstGeom>
            <a:noFill/>
            <a:ln w="1908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0251" name="AutoShape 19"/>
            <p:cNvSpPr>
              <a:spLocks noChangeArrowheads="1"/>
            </p:cNvSpPr>
            <p:nvPr/>
          </p:nvSpPr>
          <p:spPr bwMode="auto">
            <a:xfrm>
              <a:off x="3303" y="2710"/>
              <a:ext cx="239" cy="143"/>
            </a:xfrm>
            <a:prstGeom prst="rightArrow">
              <a:avLst>
                <a:gd name="adj1" fmla="val 50000"/>
                <a:gd name="adj2" fmla="val 41783"/>
              </a:avLst>
            </a:prstGeom>
            <a:noFill/>
            <a:ln w="1908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1284" name="Text Box 20"/>
            <p:cNvSpPr txBox="1">
              <a:spLocks noChangeArrowheads="1"/>
            </p:cNvSpPr>
            <p:nvPr/>
          </p:nvSpPr>
          <p:spPr bwMode="auto">
            <a:xfrm>
              <a:off x="471" y="2657"/>
              <a:ext cx="623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x</a:t>
              </a:r>
              <a:r>
                <a:rPr lang="en-US" sz="2000" b="1" baseline="-25000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a</a:t>
              </a: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(t)</a:t>
              </a:r>
            </a:p>
          </p:txBody>
        </p:sp>
        <p:sp>
          <p:nvSpPr>
            <p:cNvPr id="10253" name="Line 21"/>
            <p:cNvSpPr>
              <a:spLocks noChangeShapeType="1"/>
            </p:cNvSpPr>
            <p:nvPr/>
          </p:nvSpPr>
          <p:spPr bwMode="auto">
            <a:xfrm>
              <a:off x="999" y="2782"/>
              <a:ext cx="239" cy="0"/>
            </a:xfrm>
            <a:prstGeom prst="line">
              <a:avLst/>
            </a:prstGeom>
            <a:noFill/>
            <a:ln w="9360" cap="sq">
              <a:solidFill>
                <a:srgbClr val="3333CC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86" name="Text Box 22"/>
            <p:cNvSpPr txBox="1">
              <a:spLocks noChangeArrowheads="1"/>
            </p:cNvSpPr>
            <p:nvPr/>
          </p:nvSpPr>
          <p:spPr bwMode="auto">
            <a:xfrm>
              <a:off x="4983" y="2657"/>
              <a:ext cx="623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y</a:t>
              </a:r>
              <a:r>
                <a:rPr lang="en-US" sz="2000" b="1" baseline="-25000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a</a:t>
              </a: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(t)</a:t>
              </a:r>
            </a:p>
          </p:txBody>
        </p:sp>
        <p:sp>
          <p:nvSpPr>
            <p:cNvPr id="10255" name="Line 23"/>
            <p:cNvSpPr>
              <a:spLocks noChangeShapeType="1"/>
            </p:cNvSpPr>
            <p:nvPr/>
          </p:nvSpPr>
          <p:spPr bwMode="auto">
            <a:xfrm>
              <a:off x="4935" y="2782"/>
              <a:ext cx="191" cy="0"/>
            </a:xfrm>
            <a:prstGeom prst="line">
              <a:avLst/>
            </a:prstGeom>
            <a:noFill/>
            <a:ln w="9360" cap="sq">
              <a:solidFill>
                <a:srgbClr val="3333CC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88" name="Text Box 24"/>
            <p:cNvSpPr txBox="1">
              <a:spLocks noChangeArrowheads="1"/>
            </p:cNvSpPr>
            <p:nvPr/>
          </p:nvSpPr>
          <p:spPr bwMode="auto">
            <a:xfrm>
              <a:off x="4263" y="2653"/>
              <a:ext cx="671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Filter</a:t>
              </a:r>
            </a:p>
          </p:txBody>
        </p:sp>
        <p:sp>
          <p:nvSpPr>
            <p:cNvPr id="10257" name="AutoShape 25"/>
            <p:cNvSpPr>
              <a:spLocks noChangeArrowheads="1"/>
            </p:cNvSpPr>
            <p:nvPr/>
          </p:nvSpPr>
          <p:spPr bwMode="auto">
            <a:xfrm>
              <a:off x="4023" y="2710"/>
              <a:ext cx="239" cy="143"/>
            </a:xfrm>
            <a:prstGeom prst="rightArrow">
              <a:avLst>
                <a:gd name="adj1" fmla="val 50000"/>
                <a:gd name="adj2" fmla="val 41783"/>
              </a:avLst>
            </a:prstGeom>
            <a:noFill/>
            <a:ln w="1908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  <p:sp>
          <p:nvSpPr>
            <p:cNvPr id="11290" name="Text Box 26"/>
            <p:cNvSpPr txBox="1">
              <a:spLocks noChangeArrowheads="1"/>
            </p:cNvSpPr>
            <p:nvPr/>
          </p:nvSpPr>
          <p:spPr bwMode="auto">
            <a:xfrm>
              <a:off x="2391" y="2877"/>
              <a:ext cx="6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x(n)</a:t>
              </a:r>
            </a:p>
          </p:txBody>
        </p:sp>
        <p:sp>
          <p:nvSpPr>
            <p:cNvPr id="11291" name="Text Box 27"/>
            <p:cNvSpPr txBox="1">
              <a:spLocks noChangeArrowheads="1"/>
            </p:cNvSpPr>
            <p:nvPr/>
          </p:nvSpPr>
          <p:spPr bwMode="auto">
            <a:xfrm>
              <a:off x="3111" y="2877"/>
              <a:ext cx="62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y(n)</a:t>
              </a:r>
            </a:p>
          </p:txBody>
        </p:sp>
        <p:sp>
          <p:nvSpPr>
            <p:cNvPr id="11292" name="Text Box 28"/>
            <p:cNvSpPr txBox="1">
              <a:spLocks noChangeArrowheads="1"/>
            </p:cNvSpPr>
            <p:nvPr/>
          </p:nvSpPr>
          <p:spPr bwMode="auto">
            <a:xfrm>
              <a:off x="1239" y="2654"/>
              <a:ext cx="623" cy="250"/>
            </a:xfrm>
            <a:prstGeom prst="rect">
              <a:avLst/>
            </a:prstGeom>
            <a:noFill/>
            <a:ln w="1260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Times New Roman" pitchFamily="16" charset="0"/>
                  <a:ea typeface="宋体" charset="-122"/>
                </a:defRPr>
              </a:lvl9pPr>
            </a:lstStyle>
            <a:p>
              <a:pPr algn="ctr">
                <a:buClrTx/>
                <a:buFontTx/>
                <a:buNone/>
                <a:defRPr/>
              </a:pPr>
              <a:r>
                <a:rPr lang="en-US" sz="20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4" charset="0"/>
                  <a:ea typeface="黑体" charset="-122"/>
                </a:rPr>
                <a:t>Filter</a:t>
              </a:r>
            </a:p>
          </p:txBody>
        </p:sp>
        <p:sp>
          <p:nvSpPr>
            <p:cNvPr id="10261" name="AutoShape 29"/>
            <p:cNvSpPr>
              <a:spLocks noChangeArrowheads="1"/>
            </p:cNvSpPr>
            <p:nvPr/>
          </p:nvSpPr>
          <p:spPr bwMode="auto">
            <a:xfrm>
              <a:off x="1863" y="2711"/>
              <a:ext cx="239" cy="143"/>
            </a:xfrm>
            <a:prstGeom prst="rightArrow">
              <a:avLst>
                <a:gd name="adj1" fmla="val 50000"/>
                <a:gd name="adj2" fmla="val 41783"/>
              </a:avLst>
            </a:prstGeom>
            <a:noFill/>
            <a:ln w="19080" cap="sq">
              <a:solidFill>
                <a:srgbClr val="3333CC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Processing of analog signal with digital methods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5229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 of Digital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(1) High accuracy: Floating point-8,16,32,64 bits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(2) High reliability: VLSI (analog: drift, calibration)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(3) Flexible: DSP, Software, FPGA, VHDL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(4) Easy to integrate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(5) Deal with high dimensional signals  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(6) Low costs: reusable, reconfigurable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(7) Data logging</a:t>
            </a:r>
          </a:p>
          <a:p>
            <a:pPr>
              <a:lnSpc>
                <a:spcPct val="150000"/>
              </a:lnSpc>
              <a:buClrTx/>
              <a:buNone/>
              <a:defRPr/>
            </a:pPr>
            <a:r>
              <a:rPr lang="en-US" sz="1900" dirty="0">
                <a:latin typeface="Arial" charset="0"/>
                <a:ea typeface="黑体" charset="-122"/>
              </a:rPr>
              <a:t>(8) Adaptive capability</a:t>
            </a:r>
          </a:p>
          <a:p>
            <a:endParaRPr lang="en-US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  <a:p>
            <a:endParaRPr lang="en-US" b="1" dirty="0">
              <a:solidFill>
                <a:srgbClr val="CC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  <a:p>
            <a:endParaRPr lang="en-US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  <a:p>
            <a:endParaRPr lang="en-US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  <a:p>
            <a:r>
              <a:rPr 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charset="-122"/>
              </a:rPr>
              <a:t> </a:t>
            </a:r>
          </a:p>
          <a:p>
            <a:endParaRPr lang="en-US" b="1" dirty="0">
              <a:solidFill>
                <a:srgbClr val="CC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  <a:p>
            <a:endParaRPr lang="en-US" b="1" dirty="0">
              <a:solidFill>
                <a:srgbClr val="33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黑体" charset="-12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21731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Signal and Discrete Time Signal</a:t>
            </a:r>
            <a:endParaRPr lang="en-IN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01" y="1700808"/>
            <a:ext cx="8229600" cy="73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555872"/>
            <a:ext cx="8654162" cy="180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509120"/>
            <a:ext cx="8343900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023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628800"/>
            <a:ext cx="83566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70754"/>
            <a:ext cx="5184576" cy="22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94" y="4581017"/>
            <a:ext cx="6032500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5857367"/>
            <a:ext cx="5168900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9343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192" y="332656"/>
            <a:ext cx="8229600" cy="990600"/>
          </a:xfrm>
        </p:spPr>
        <p:txBody>
          <a:bodyPr/>
          <a:lstStyle/>
          <a:p>
            <a:r>
              <a:rPr lang="en-US" dirty="0"/>
              <a:t>Digital Signal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196752"/>
            <a:ext cx="6336704" cy="3531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989" y="4728447"/>
            <a:ext cx="5880100" cy="172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1884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 of Discrete Time Signals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Representation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132856"/>
            <a:ext cx="3888432" cy="249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0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 of Discrete Time Signals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Graphical Representation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92896"/>
            <a:ext cx="3672408" cy="2527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203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 of Discrete Time Signals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Tabular Representation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240445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5736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 of Discrete Time Signals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Representation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04864"/>
            <a:ext cx="864096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311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Discrete Time Signal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" y="1484784"/>
            <a:ext cx="58610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" y="3140968"/>
            <a:ext cx="34163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140968"/>
            <a:ext cx="24638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" y="4869160"/>
            <a:ext cx="327025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070" y="4599285"/>
            <a:ext cx="297815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353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Discrete Time Signal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16</a:t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36" y="1700809"/>
            <a:ext cx="7896696" cy="430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7144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Discrete Time Signal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17</a:t>
            </a:fld>
            <a:endParaRPr lang="en-IN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6832600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7908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420"/>
            <a:ext cx="8229600" cy="4525963"/>
          </a:xfrm>
        </p:spPr>
        <p:txBody>
          <a:bodyPr/>
          <a:lstStyle/>
          <a:p>
            <a:endParaRPr lang="en-IN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908720"/>
            <a:ext cx="7721600" cy="509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7231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Discrete Time Signal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19</a:t>
            </a:fld>
            <a:endParaRPr lang="en-IN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1628800"/>
            <a:ext cx="6893599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523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60874"/>
            <a:ext cx="8018814" cy="3596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1821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2035175"/>
            <a:ext cx="8445500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9042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Sampling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A continuous time signal can be represented in its samples and can be recovered back when sampling frequency f</a:t>
            </a:r>
            <a:r>
              <a:rPr lang="en-IN" baseline="-25000" dirty="0"/>
              <a:t>s</a:t>
            </a:r>
            <a:r>
              <a:rPr lang="en-IN" dirty="0"/>
              <a:t> is greater than or equal to the twice the highest frequency component of message signal (</a:t>
            </a:r>
            <a:r>
              <a:rPr lang="en-IN" dirty="0" err="1"/>
              <a:t>fm</a:t>
            </a:r>
            <a:r>
              <a:rPr lang="en-IN" dirty="0"/>
              <a:t>). </a:t>
            </a:r>
            <a:r>
              <a:rPr lang="en-IN" b="0" i="0" u="none" strike="noStrike" dirty="0">
                <a:effectLst/>
              </a:rPr>
              <a:t/>
            </a:r>
            <a:br>
              <a:rPr lang="en-IN" b="0" i="0" u="none" strike="noStrike" dirty="0">
                <a:effectLst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22</a:t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653136"/>
            <a:ext cx="2710606" cy="120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7038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Relationship between </a:t>
            </a:r>
            <a:r>
              <a:rPr lang="en-IN" dirty="0" err="1"/>
              <a:t>analog</a:t>
            </a:r>
            <a:r>
              <a:rPr lang="en-IN" dirty="0"/>
              <a:t> and digital signal by sampling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23</a:t>
            </a:fld>
            <a:endParaRPr lang="en-IN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03" y="2496964"/>
            <a:ext cx="8952308" cy="3365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78" y="1772816"/>
            <a:ext cx="5264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48" y="2204864"/>
            <a:ext cx="775335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170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Classification of Discrete Time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24</a:t>
            </a:fld>
            <a:endParaRPr lang="en-IN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7818917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9642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686800" cy="990600"/>
          </a:xfrm>
        </p:spPr>
        <p:txBody>
          <a:bodyPr>
            <a:normAutofit fontScale="90000"/>
          </a:bodyPr>
          <a:lstStyle/>
          <a:p>
            <a:pPr marL="466725" indent="-466725"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</a:pPr>
            <a:r>
              <a:rPr lang="en-IN" altLang="en-US" dirty="0"/>
              <a:t>Deterministic and </a:t>
            </a:r>
            <a:r>
              <a:rPr lang="en-IN" dirty="0"/>
              <a:t>Non-deterministic Signals</a:t>
            </a:r>
            <a:endParaRPr lang="en-I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 signal is said to be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deterministic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if there is no uncertainty with respect to its value at any instant of time. Or, signals which can be defined exactly by a mathematical formula (</a:t>
            </a:r>
            <a:r>
              <a:rPr lang="en-IN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Eg</a:t>
            </a: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: Ramp , Unit Step, exponential, sinusoidal)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are known as deterministic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25</a:t>
            </a:fld>
            <a:endParaRPr lang="en-IN"/>
          </a:p>
        </p:txBody>
      </p:sp>
      <p:pic>
        <p:nvPicPr>
          <p:cNvPr id="2050" name="Picture 2" descr="Deterministic sig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429000"/>
            <a:ext cx="546735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508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579296" cy="990600"/>
          </a:xfrm>
        </p:spPr>
        <p:txBody>
          <a:bodyPr>
            <a:normAutofit fontScale="90000"/>
          </a:bodyPr>
          <a:lstStyle/>
          <a:p>
            <a:pPr marL="466725" indent="-466725">
              <a:tabLst>
                <a:tab pos="466725" algn="l"/>
                <a:tab pos="571500" algn="l"/>
                <a:tab pos="1020763" algn="l"/>
                <a:tab pos="1470025" algn="l"/>
                <a:tab pos="1919288" algn="l"/>
                <a:tab pos="2368550" algn="l"/>
                <a:tab pos="2817813" algn="l"/>
                <a:tab pos="3267075" algn="l"/>
                <a:tab pos="3716338" algn="l"/>
                <a:tab pos="4165600" algn="l"/>
                <a:tab pos="4614863" algn="l"/>
                <a:tab pos="5064125" algn="l"/>
                <a:tab pos="5513388" algn="l"/>
                <a:tab pos="5962650" algn="l"/>
                <a:tab pos="6411913" algn="l"/>
                <a:tab pos="6861175" algn="l"/>
                <a:tab pos="7310438" algn="l"/>
                <a:tab pos="7759700" algn="l"/>
                <a:tab pos="8208963" algn="l"/>
                <a:tab pos="8658225" algn="l"/>
                <a:tab pos="9107488" algn="l"/>
              </a:tabLst>
            </a:pPr>
            <a:r>
              <a:rPr lang="en-IN" altLang="en-US" dirty="0"/>
              <a:t>Deterministic and </a:t>
            </a:r>
            <a:r>
              <a:rPr lang="en-IN" dirty="0"/>
              <a:t>Non-deterministic Signals</a:t>
            </a:r>
            <a:endParaRPr lang="en-I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 signal is said to be 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non-deterministic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if there is uncertainty with respect to its value at some instant of time. Non-deterministic signals are random in nature hence they are called random signals. Random signals cannot be described by a mathematical equation. They are modelled in probabilistic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26</a:t>
            </a:fld>
            <a:endParaRPr lang="en-IN"/>
          </a:p>
        </p:txBody>
      </p:sp>
      <p:pic>
        <p:nvPicPr>
          <p:cNvPr id="3074" name="Picture 2" descr="Non-deterministic sig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626" y="3933056"/>
            <a:ext cx="4638675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629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>Periodic and Aperiodic Signals </a:t>
            </a:r>
            <a:br>
              <a:rPr lang="en-IN" alt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27</a:t>
            </a:fld>
            <a:endParaRPr lang="en-IN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00808"/>
            <a:ext cx="8299450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3123208"/>
            <a:ext cx="8375650" cy="36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3514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77724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9" y="810047"/>
            <a:ext cx="20193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04" y="1349050"/>
            <a:ext cx="28098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91" y="2276872"/>
            <a:ext cx="47529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015" y="2914650"/>
            <a:ext cx="68294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91" y="3573016"/>
            <a:ext cx="28384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725144"/>
            <a:ext cx="783907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3607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29</a:t>
            </a:fld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836712"/>
            <a:ext cx="3038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16832"/>
            <a:ext cx="7335837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2607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30</a:t>
            </a:fld>
            <a:endParaRPr lang="en-IN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47" y="908720"/>
            <a:ext cx="8801641" cy="5031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742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31</a:t>
            </a:fld>
            <a:endParaRPr lang="en-IN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58483"/>
            <a:ext cx="6120680" cy="593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3049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32</a:t>
            </a:fld>
            <a:endParaRPr lang="en-IN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0"/>
            <a:ext cx="6336704" cy="6231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8013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8698557" cy="4449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6133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1587500"/>
            <a:ext cx="8851900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3319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Symmetric(EVEN) and antisymmetric(ODD)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35</a:t>
            </a:fld>
            <a:endParaRPr lang="en-IN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60848"/>
            <a:ext cx="8208912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35027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Symmetric(EVEN) and antisymmetric(ODD) signals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36</a:t>
            </a:fld>
            <a:endParaRPr lang="en-IN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64904"/>
            <a:ext cx="813435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55432"/>
            <a:ext cx="1308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790" y="1950682"/>
            <a:ext cx="1390650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2539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Symmetric(EVEN) and antisymmetric(ODD)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1" y="1874838"/>
            <a:ext cx="8344006" cy="2922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97152"/>
            <a:ext cx="81216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247589"/>
            <a:ext cx="3314700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8011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Symmetric(EVEN) and antisymmetric(ODD) signals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4565" y="3482946"/>
            <a:ext cx="3314870" cy="1111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347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Symmetric(EVEN) and antisymmetric(ODD) signals</a:t>
            </a:r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2120" y="2297281"/>
            <a:ext cx="3314870" cy="111130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40926"/>
            <a:ext cx="7412476" cy="491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32854"/>
            <a:ext cx="1683882" cy="720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73016"/>
            <a:ext cx="7188684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228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Symmetric(EVEN) and antisymmetric(ODD) signals</a:t>
            </a:r>
          </a:p>
        </p:txBody>
      </p:sp>
      <p:pic>
        <p:nvPicPr>
          <p:cNvPr id="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188527"/>
            <a:ext cx="2554020" cy="85623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40926"/>
            <a:ext cx="7412476" cy="491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188527"/>
            <a:ext cx="1800200" cy="761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02322"/>
            <a:ext cx="8796436" cy="349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925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Energy and Power Signals</a:t>
            </a:r>
          </a:p>
        </p:txBody>
      </p:sp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628800"/>
            <a:ext cx="5926475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41</a:t>
            </a:fld>
            <a:endParaRPr lang="en-IN"/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29000"/>
            <a:ext cx="8208912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653136"/>
            <a:ext cx="86409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05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and power signals</a:t>
            </a:r>
            <a:endParaRPr lang="en-IN" dirty="0"/>
          </a:p>
        </p:txBody>
      </p:sp>
      <p:pic>
        <p:nvPicPr>
          <p:cNvPr id="440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501537"/>
            <a:ext cx="8229600" cy="307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80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28" y="790702"/>
            <a:ext cx="7171731" cy="130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28" y="2331498"/>
            <a:ext cx="40671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201369"/>
            <a:ext cx="45624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4731401"/>
            <a:ext cx="22193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loud Callout 1"/>
          <p:cNvSpPr/>
          <p:nvPr/>
        </p:nvSpPr>
        <p:spPr>
          <a:xfrm>
            <a:off x="3054615" y="1575414"/>
            <a:ext cx="4360523" cy="1512168"/>
          </a:xfrm>
          <a:prstGeom prst="cloudCallout">
            <a:avLst>
              <a:gd name="adj1" fmla="val -47057"/>
              <a:gd name="adj2" fmla="val 4738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607" y="1769523"/>
            <a:ext cx="2254537" cy="937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923" y="4045601"/>
            <a:ext cx="19431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10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84" y="1566713"/>
            <a:ext cx="54387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200001"/>
            <a:ext cx="20859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84984"/>
            <a:ext cx="267652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85" y="4725144"/>
            <a:ext cx="49053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692696"/>
            <a:ext cx="19907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349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5237501" cy="1962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022002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3" y="188640"/>
            <a:ext cx="8202994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54" y="5733256"/>
            <a:ext cx="8540486" cy="592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258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Causal, </a:t>
            </a:r>
            <a:r>
              <a:rPr lang="en-US" dirty="0" err="1"/>
              <a:t>Noncausal</a:t>
            </a:r>
            <a:r>
              <a:rPr lang="en-US" dirty="0"/>
              <a:t>, </a:t>
            </a:r>
            <a:r>
              <a:rPr lang="en-US" dirty="0" err="1"/>
              <a:t>Anticausal</a:t>
            </a:r>
            <a:r>
              <a:rPr lang="en-US" dirty="0"/>
              <a:t> Signals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Causal Signal</a:t>
            </a:r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Non Causal if defined for n&lt;=0 or for both n&gt;0 and n&lt;=0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If system is non causal then:</a:t>
            </a:r>
          </a:p>
          <a:p>
            <a:endParaRPr lang="en-US" sz="2800" dirty="0"/>
          </a:p>
          <a:p>
            <a:r>
              <a:rPr lang="en-US" sz="2800" dirty="0"/>
              <a:t>A non-causal signal can be converted into causal by multiplying it by unit step signal.</a:t>
            </a:r>
          </a:p>
          <a:p>
            <a:r>
              <a:rPr lang="en-US" sz="2800" dirty="0"/>
              <a:t>When a non causal signal is defined for only n&lt;0 then it is called </a:t>
            </a:r>
            <a:r>
              <a:rPr lang="en-US" sz="2800" dirty="0" err="1"/>
              <a:t>anticausal</a:t>
            </a:r>
            <a:r>
              <a:rPr lang="en-US" sz="2800" dirty="0"/>
              <a:t> signal.</a:t>
            </a:r>
            <a:endParaRPr lang="en-IN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46</a:t>
            </a:fld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809227"/>
            <a:ext cx="3240360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622" y="4100561"/>
            <a:ext cx="2808312" cy="41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25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47</a:t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4" y="908720"/>
            <a:ext cx="8999633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7019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Mathematical operations on Discrete Time Signals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48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8165707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4117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Scaling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49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1843088"/>
            <a:ext cx="8858250" cy="389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197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Scaling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50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" y="1556792"/>
            <a:ext cx="8791575" cy="3376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93622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51</a:t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8010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0035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Folding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52</a:t>
            </a:fld>
            <a:endParaRPr lang="en-IN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80" y="2276872"/>
            <a:ext cx="7982933" cy="4096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457722"/>
            <a:ext cx="88201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9361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3.Time Shifting of Discrete Time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28800"/>
            <a:ext cx="8712968" cy="51054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X(n)  signal will be shifted by variable m i.e. x(n)=x(n-m)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m is positive integer signal is delayed by m units of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Delay results in shifting each sample of x(n) to right.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m is negative integer signal is advanced by m units of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Advance results in shifting each sample of x(n) to left.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61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54</a:t>
            </a:fld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366" y="45511"/>
            <a:ext cx="9161365" cy="6812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28561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Addition of Discrete Time Signal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55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8839200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6201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56</a:t>
            </a:fld>
            <a:endParaRPr lang="en-IN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40" y="620688"/>
            <a:ext cx="9152740" cy="5072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4744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5.Multiplication of Discrete time signals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57</a:t>
            </a:fld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808"/>
            <a:ext cx="8886825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212976"/>
            <a:ext cx="6048672" cy="310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6405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58</a:t>
            </a:fld>
            <a:endParaRPr lang="en-IN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38" y="1124744"/>
            <a:ext cx="8856982" cy="468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8924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Discrete Time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Discrete time system is device or algorithm which accepts input in discrete signal form to produce output or response in discrete time signal form.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4451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Discrete Time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60</a:t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14" y="1556792"/>
            <a:ext cx="9556577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0918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LTI (Linear Time Invariant)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38" y="1752600"/>
            <a:ext cx="7997825" cy="4844752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A discrete time system is linear if it obeys principle of superposition and time invariant if input output relationship does not change with time.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When system satisfies property of linearity and time invariance it is called as LTI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3770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 Diagram and Signal Flow graph Representation of DT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38" y="1752600"/>
            <a:ext cx="7997825" cy="4844752"/>
          </a:xfrm>
        </p:spPr>
        <p:txBody>
          <a:bodyPr/>
          <a:lstStyle/>
          <a:p>
            <a:r>
              <a:rPr lang="en-IN" b="1" dirty="0"/>
              <a:t>Basic elements of Representation are:</a:t>
            </a:r>
          </a:p>
          <a:p>
            <a:pPr marL="514350" indent="-514350">
              <a:buAutoNum type="arabicParenR"/>
            </a:pPr>
            <a:r>
              <a:rPr lang="en-IN" dirty="0"/>
              <a:t>Adder</a:t>
            </a:r>
          </a:p>
          <a:p>
            <a:pPr marL="514350" indent="-514350">
              <a:buAutoNum type="arabicParenR"/>
            </a:pPr>
            <a:r>
              <a:rPr lang="en-IN" dirty="0"/>
              <a:t>Constant Multiplier – Constant scaling factor</a:t>
            </a:r>
          </a:p>
          <a:p>
            <a:pPr marL="514350" indent="-514350">
              <a:buAutoNum type="arabicParenR"/>
            </a:pPr>
            <a:r>
              <a:rPr lang="en-IN" dirty="0"/>
              <a:t>Unit Delay Element – one sample unit to delay</a:t>
            </a:r>
          </a:p>
          <a:p>
            <a:pPr marL="514350" indent="-514350">
              <a:buFont typeface="Times New Roman" pitchFamily="16" charset="0"/>
              <a:buAutoNum type="arabicParenR"/>
            </a:pPr>
            <a:r>
              <a:rPr lang="en-IN" dirty="0"/>
              <a:t>Unit Advance Element - one sample unit to advance</a:t>
            </a:r>
          </a:p>
          <a:p>
            <a:pPr marL="514350" indent="-514350">
              <a:buAutoNum type="arabicParenR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7207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63</a:t>
            </a:fld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0387"/>
            <a:ext cx="8856984" cy="6855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1836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 Diagram and Signal Flow graph Representation of DT System</a:t>
            </a:r>
            <a:endParaRPr lang="en-IN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1916832"/>
            <a:ext cx="7488832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6217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65</a:t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" y="764704"/>
            <a:ext cx="913859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84368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66</a:t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92088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51" y="620688"/>
            <a:ext cx="7641898" cy="902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4788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Static system and Dynamic System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Static System – Output depends on only current input samples but not on past or future samples – no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Dynamic System – Opposite of static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67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377566"/>
            <a:ext cx="6840760" cy="3235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3597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68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2572"/>
            <a:ext cx="6624736" cy="6825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0021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69</a:t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0"/>
            <a:ext cx="626469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38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Time Invariant and Time Variant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A system is said to be time invariant if its input output characteristics do not change with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70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708920"/>
            <a:ext cx="715578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5408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71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8640960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3158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the following system for time variance</a:t>
            </a:r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80728"/>
            <a:ext cx="3495662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628801"/>
            <a:ext cx="6912768" cy="230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74" y="3933149"/>
            <a:ext cx="6543829" cy="234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025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the following system for time variance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80728"/>
            <a:ext cx="221009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92" y="1653140"/>
            <a:ext cx="8450880" cy="220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07" y="4293096"/>
            <a:ext cx="8458065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403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95" y="404664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the following system for time variance</a:t>
            </a:r>
          </a:p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836712"/>
            <a:ext cx="2007995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628800"/>
            <a:ext cx="885698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365104"/>
            <a:ext cx="8856983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76730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the following system for time variance</a:t>
            </a:r>
          </a:p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80728"/>
            <a:ext cx="2027302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38" y="1988840"/>
            <a:ext cx="8313250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581128"/>
            <a:ext cx="8640960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12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and Non Linear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76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1628800"/>
            <a:ext cx="878205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3124200"/>
            <a:ext cx="8782050" cy="246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4179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Linear and Non Linear System(Check for Linearity)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77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65930"/>
            <a:ext cx="7776864" cy="489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91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r>
              <a:rPr lang="en-US" dirty="0"/>
              <a:t>Test the following system for linearity.</a:t>
            </a:r>
          </a:p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08720"/>
            <a:ext cx="2034893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88840"/>
            <a:ext cx="8837951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00870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844824"/>
            <a:ext cx="8760449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67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3147778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640960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487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44824"/>
            <a:ext cx="8248650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10836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1440160" cy="439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52736"/>
            <a:ext cx="8712968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905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745936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89" y="4365104"/>
            <a:ext cx="6026516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8640"/>
            <a:ext cx="1647875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" y="764704"/>
            <a:ext cx="8978875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" y="2996953"/>
            <a:ext cx="7865223" cy="241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1" y="5517232"/>
            <a:ext cx="5001786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630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Causal and Non Causal Systems</a:t>
            </a:r>
          </a:p>
        </p:txBody>
      </p:sp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42" y="2348880"/>
            <a:ext cx="8754464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85</a:t>
            </a:fld>
            <a:endParaRPr lang="en-IN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64" y="3645024"/>
            <a:ext cx="7990221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332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Causal and Non Causal Systems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5256584" cy="46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86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94184"/>
            <a:ext cx="8064896" cy="2967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75740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Causal and Non Causal Systems</a:t>
            </a: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6832"/>
            <a:ext cx="468052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87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52936"/>
            <a:ext cx="8712968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01767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Causal and Non Causal Systems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060848"/>
            <a:ext cx="3672408" cy="459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88</a:t>
            </a:fld>
            <a:endParaRPr lang="en-IN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780928"/>
            <a:ext cx="7848872" cy="1008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4293096"/>
            <a:ext cx="7848873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589240"/>
            <a:ext cx="3096344" cy="474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617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Stable and Unstable</a:t>
            </a: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568" y="1772816"/>
            <a:ext cx="76009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89</a:t>
            </a:fld>
            <a:endParaRPr lang="en-IN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16160"/>
            <a:ext cx="8208912" cy="1964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64548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Stable and Unstable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90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2708920"/>
            <a:ext cx="6275413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356992"/>
            <a:ext cx="173355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1535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2816"/>
            <a:ext cx="8079104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268760"/>
            <a:ext cx="11049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34974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 and IIR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38" y="1752600"/>
            <a:ext cx="7997825" cy="455672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FIR system (Finite duration Impulse Response System) , the impulse response consists of finite number of samples.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IIR system (Infinite duration Impulse Response System) , the impulse response consists of infinite number of samples.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4408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55" y="2060848"/>
            <a:ext cx="7553325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93</a:t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860" y="695221"/>
            <a:ext cx="6993516" cy="769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422073"/>
            <a:ext cx="7488832" cy="452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221088"/>
            <a:ext cx="769620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5301208"/>
            <a:ext cx="6584404" cy="69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59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Discrete or Linear Convolution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94</a:t>
            </a:fld>
            <a:endParaRPr lang="en-IN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99" y="2132856"/>
            <a:ext cx="8633997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829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Discrete or Linear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In linear convolution the x1 and x2 sequences are non periodic , hence convolution result x3 is also non periodic.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Linear convolution is said to be aperiodic.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2171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2081213"/>
            <a:ext cx="8410575" cy="39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85673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97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777686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495144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98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8568952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43090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99</a:t>
            </a:fld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60" y="1844824"/>
            <a:ext cx="3145696" cy="910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2755068"/>
            <a:ext cx="4665959" cy="50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60" y="3429000"/>
            <a:ext cx="6051127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836868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100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" y="548680"/>
            <a:ext cx="8297863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50" y="1549684"/>
            <a:ext cx="925988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40" y="2044984"/>
            <a:ext cx="907891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" y="2541984"/>
            <a:ext cx="9221788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734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Graphical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101</a:t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1988840"/>
            <a:ext cx="7858755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2765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102</a:t>
            </a:fld>
            <a:endParaRPr lang="en-IN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8"/>
            <a:ext cx="8280920" cy="48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18172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103</a:t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64096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77610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104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4"/>
            <a:ext cx="8964488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33812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105</a:t>
            </a:fld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9036496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864041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106</a:t>
            </a:fld>
            <a:endParaRPr lang="en-IN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56792"/>
            <a:ext cx="8784976" cy="43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5779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107</a:t>
            </a:fld>
            <a:endParaRPr lang="en-IN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8640960" cy="4032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539172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108</a:t>
            </a:fld>
            <a:endParaRPr lang="en-IN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2816"/>
            <a:ext cx="8784976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17930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109</a:t>
            </a:fld>
            <a:endParaRPr lang="en-IN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916832"/>
            <a:ext cx="7696200" cy="3744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89611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110</a:t>
            </a:fld>
            <a:endParaRPr lang="en-IN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2401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111</a:t>
            </a:fld>
            <a:endParaRPr lang="en-IN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09775"/>
            <a:ext cx="8856984" cy="285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28973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112</a:t>
            </a:fld>
            <a:endParaRPr lang="en-IN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1" y="548680"/>
            <a:ext cx="905489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21030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113</a:t>
            </a:fld>
            <a:endParaRPr lang="en-IN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629597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114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46175" y="260350"/>
            <a:ext cx="7997825" cy="1212850"/>
          </a:xfrm>
        </p:spPr>
        <p:txBody>
          <a:bodyPr/>
          <a:lstStyle/>
          <a:p>
            <a:r>
              <a:rPr lang="en-IN" dirty="0"/>
              <a:t>Circular Convolution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076450"/>
            <a:ext cx="8848725" cy="3512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49" y="5805264"/>
            <a:ext cx="4150363" cy="51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009930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Circular Convolution-Procedure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115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45" y="1628800"/>
            <a:ext cx="8858250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48079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9036496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02563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117</a:t>
            </a:fld>
            <a:endParaRPr lang="en-IN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404664"/>
            <a:ext cx="8784977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54" y="1844824"/>
            <a:ext cx="8468141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71" y="2752725"/>
            <a:ext cx="8290224" cy="138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335948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118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980728"/>
            <a:ext cx="9103233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842695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119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88640"/>
            <a:ext cx="9001000" cy="539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73386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120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836712"/>
            <a:ext cx="8947477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5547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121</a:t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52736"/>
            <a:ext cx="9024811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46010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122</a:t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980728"/>
            <a:ext cx="8894585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96057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7056784" cy="47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5"/>
            <a:ext cx="8640960" cy="4096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149190"/>
            <a:ext cx="7920880" cy="1708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877434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124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412776"/>
            <a:ext cx="8473487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676315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125</a:t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15" y="404664"/>
            <a:ext cx="705678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15" y="980728"/>
            <a:ext cx="8363070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84" y="3356992"/>
            <a:ext cx="8221593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34387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6336704" cy="1400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9" y="1320456"/>
            <a:ext cx="78771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1" y="1699935"/>
            <a:ext cx="79152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6" y="2136603"/>
            <a:ext cx="78962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2578767"/>
            <a:ext cx="79057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6" y="3067822"/>
            <a:ext cx="78962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22" y="3537828"/>
            <a:ext cx="78867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3964606"/>
            <a:ext cx="79057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4401086"/>
            <a:ext cx="79343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9" y="4867811"/>
            <a:ext cx="78867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6" y="5296436"/>
            <a:ext cx="79057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82" y="5763161"/>
            <a:ext cx="7924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0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66724"/>
            <a:ext cx="8496944" cy="6202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34471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128</a:t>
            </a:fld>
            <a:endParaRPr lang="en-IN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862988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953" y="2996952"/>
            <a:ext cx="9250363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658925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129</a:t>
            </a:fld>
            <a:endParaRPr lang="en-IN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64" y="548680"/>
            <a:ext cx="8562777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695277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130</a:t>
            </a:fld>
            <a:endParaRPr lang="en-IN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8206280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32510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29D70-B406-4794-9DFE-4AEEDDBE39A9}" type="slidenum">
              <a:rPr lang="en-IN" smtClean="0"/>
              <a:pPr>
                <a:defRPr/>
              </a:pPr>
              <a:t>131</a:t>
            </a:fld>
            <a:endParaRPr lang="en-IN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8496944" cy="460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806287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132</a:t>
            </a:fld>
            <a:endParaRPr lang="en-IN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30" y="157628"/>
            <a:ext cx="8208912" cy="67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42" y="2492896"/>
            <a:ext cx="8424300" cy="430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13" y="856508"/>
            <a:ext cx="9259888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96445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E48D7-CC8A-4795-8280-3E1F678B89F7}" type="slidenum">
              <a:rPr lang="en-IN" smtClean="0"/>
              <a:pPr>
                <a:defRPr/>
              </a:pPr>
              <a:t>133</a:t>
            </a:fld>
            <a:endParaRPr lang="en-IN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88"/>
            <a:ext cx="8445687" cy="6746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692456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Used when two signals are to be compared.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dirty="0"/>
              <a:t>Measure of degree to which two signals are similar.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b="1" dirty="0"/>
              <a:t>Cross Correlation </a:t>
            </a:r>
            <a:r>
              <a:rPr lang="en-IN" dirty="0"/>
              <a:t>– correlation of two separate signals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b="1" dirty="0"/>
              <a:t>Auto Correlation </a:t>
            </a:r>
            <a:r>
              <a:rPr lang="en-IN" dirty="0"/>
              <a:t>– correlation of signal with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60207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Cross Correlation</a:t>
            </a: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16832"/>
            <a:ext cx="8518369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135</a:t>
            </a:fld>
            <a:endParaRPr lang="en-IN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73016"/>
            <a:ext cx="8496944" cy="1110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748" y="4941168"/>
            <a:ext cx="4536504" cy="968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269613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Number of Samples = N1+N2-1 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Start of Sequence m</a:t>
            </a:r>
            <a:r>
              <a:rPr lang="en-IN" sz="2800" dirty="0"/>
              <a:t>i = n1-(n2+N2-1)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End of Sequence mf = mi+(N1+N2-2)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50045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Auto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137</a:t>
            </a:fld>
            <a:endParaRPr lang="en-IN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16832"/>
            <a:ext cx="7760955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02938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Number of Samples = 2N-1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/>
              <a:t>Start of Sequence </a:t>
            </a:r>
          </a:p>
          <a:p>
            <a:pPr marL="0" indent="0">
              <a:buNone/>
            </a:pPr>
            <a:r>
              <a:rPr lang="en-IN" dirty="0"/>
              <a:t>	initial value of m:m</a:t>
            </a:r>
            <a:r>
              <a:rPr lang="en-IN" sz="3200" dirty="0"/>
              <a:t>i = -(N-1)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End of Sequence </a:t>
            </a:r>
          </a:p>
          <a:p>
            <a:pPr marL="400050" lvl="1" indent="0">
              <a:buNone/>
            </a:pPr>
            <a:r>
              <a:rPr lang="en-IN" sz="2800" dirty="0"/>
              <a:t>	final value of m: mf = mi+(2N-2)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788A-BED9-42CF-B608-655389107FE0}" type="slidenum">
              <a:rPr lang="en-IN" smtClean="0"/>
              <a:pPr>
                <a:defRPr/>
              </a:pPr>
              <a:t>138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45801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77851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" y="1196752"/>
            <a:ext cx="8870950" cy="245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20" y="3861047"/>
            <a:ext cx="5934372" cy="281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989866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7495026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20" y="3563970"/>
            <a:ext cx="8403635" cy="2817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101303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39"/>
            <a:ext cx="8496944" cy="307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67" y="3486150"/>
            <a:ext cx="8715375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34916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7872"/>
            <a:ext cx="8424936" cy="2948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717032"/>
            <a:ext cx="8424936" cy="2802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723701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3824"/>
            <a:ext cx="8568952" cy="292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94516"/>
            <a:ext cx="5184576" cy="3571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355600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46204"/>
            <a:ext cx="5004048" cy="4987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88640"/>
            <a:ext cx="2089797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352" y="1484784"/>
            <a:ext cx="3911600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615000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674" y="1268760"/>
            <a:ext cx="9054903" cy="439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096563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260648"/>
            <a:ext cx="7584284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412775"/>
            <a:ext cx="7584284" cy="428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14285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88640"/>
            <a:ext cx="8439549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17498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4664"/>
            <a:ext cx="7977948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654055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6632" y="2967335"/>
            <a:ext cx="36307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806340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14005</TotalTime>
  <Words>1322</Words>
  <Application>Microsoft Office PowerPoint</Application>
  <PresentationFormat>On-screen Show (4:3)</PresentationFormat>
  <Paragraphs>298</Paragraphs>
  <Slides>149</Slides>
  <Notes>10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149</vt:i4>
      </vt:variant>
    </vt:vector>
  </HeadingPairs>
  <TitlesOfParts>
    <vt:vector size="150" baseType="lpstr">
      <vt:lpstr>Clarity</vt:lpstr>
      <vt:lpstr>Chapter 1</vt:lpstr>
      <vt:lpstr>Signal</vt:lpstr>
      <vt:lpstr>Example of signals</vt:lpstr>
      <vt:lpstr>Classification of Signal</vt:lpstr>
      <vt:lpstr>Signal Processing</vt:lpstr>
      <vt:lpstr>Processing of analog signal with digital methods </vt:lpstr>
      <vt:lpstr>Features of Digital System</vt:lpstr>
      <vt:lpstr>Discrete Signal and Discrete Time Signal</vt:lpstr>
      <vt:lpstr>Digital Signal</vt:lpstr>
      <vt:lpstr>Digital Signal</vt:lpstr>
      <vt:lpstr>Representation of Discrete Time Signals</vt:lpstr>
      <vt:lpstr>Representation of Discrete Time Signals</vt:lpstr>
      <vt:lpstr>Representation of Discrete Time Signals</vt:lpstr>
      <vt:lpstr>Representation of Discrete Time Signals</vt:lpstr>
      <vt:lpstr>Standard Discrete Time Signal</vt:lpstr>
      <vt:lpstr>Standard Discrete Time Signal</vt:lpstr>
      <vt:lpstr>Standard Discrete Time Signal</vt:lpstr>
      <vt:lpstr>PowerPoint Presentation</vt:lpstr>
      <vt:lpstr>Standard Discrete Time Signal</vt:lpstr>
      <vt:lpstr>PowerPoint Presentation</vt:lpstr>
      <vt:lpstr>PowerPoint Presentation</vt:lpstr>
      <vt:lpstr>Sampling theorem</vt:lpstr>
      <vt:lpstr>Relationship between analog and digital signal by sampling</vt:lpstr>
      <vt:lpstr>Classification of Discrete Time Signals</vt:lpstr>
      <vt:lpstr>Deterministic and Non-deterministic Signals</vt:lpstr>
      <vt:lpstr>Deterministic and Non-deterministic Signals</vt:lpstr>
      <vt:lpstr>  Periodic and Aperiodic Signals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Symmetric(EVEN) and antisymmetric(ODD) signals</vt:lpstr>
      <vt:lpstr>Symmetric(EVEN) and antisymmetric(ODD) signals</vt:lpstr>
      <vt:lpstr>Symmetric(EVEN) and antisymmetric(ODD) signals</vt:lpstr>
      <vt:lpstr>Symmetric(EVEN) and antisymmetric(ODD) signals</vt:lpstr>
      <vt:lpstr>Symmetric(EVEN) and antisymmetric(ODD) signals</vt:lpstr>
      <vt:lpstr>Symmetric(EVEN) and antisymmetric(ODD) signals</vt:lpstr>
      <vt:lpstr>Energy and Power Signals</vt:lpstr>
      <vt:lpstr>Energy and power signals</vt:lpstr>
      <vt:lpstr>PowerPoint Presentation</vt:lpstr>
      <vt:lpstr>PowerPoint Presentation</vt:lpstr>
      <vt:lpstr>PowerPoint Presentation</vt:lpstr>
      <vt:lpstr>Causal, Noncausal, Anticausal Signals</vt:lpstr>
      <vt:lpstr>PowerPoint Presentation</vt:lpstr>
      <vt:lpstr>Mathematical operations on Discrete Time Signals</vt:lpstr>
      <vt:lpstr>1. Scaling</vt:lpstr>
      <vt:lpstr>1. Scaling</vt:lpstr>
      <vt:lpstr>PowerPoint Presentation</vt:lpstr>
      <vt:lpstr>2. Folding</vt:lpstr>
      <vt:lpstr>3.Time Shifting of Discrete Time Signals</vt:lpstr>
      <vt:lpstr>PowerPoint Presentation</vt:lpstr>
      <vt:lpstr>4. Addition of Discrete Time Signal</vt:lpstr>
      <vt:lpstr>PowerPoint Presentation</vt:lpstr>
      <vt:lpstr>5.Multiplication of Discrete time signals</vt:lpstr>
      <vt:lpstr>PowerPoint Presentation</vt:lpstr>
      <vt:lpstr>Discrete Time System</vt:lpstr>
      <vt:lpstr>Discrete Time System</vt:lpstr>
      <vt:lpstr>LTI (Linear Time Invariant) System</vt:lpstr>
      <vt:lpstr>Block Diagram and Signal Flow graph Representation of DT System</vt:lpstr>
      <vt:lpstr>PowerPoint Presentation</vt:lpstr>
      <vt:lpstr>Block Diagram and Signal Flow graph Representation of DT System</vt:lpstr>
      <vt:lpstr>PowerPoint Presentation</vt:lpstr>
      <vt:lpstr>PowerPoint Presentation</vt:lpstr>
      <vt:lpstr>Static system and Dynamic System </vt:lpstr>
      <vt:lpstr>PowerPoint Presentation</vt:lpstr>
      <vt:lpstr>PowerPoint Presentation</vt:lpstr>
      <vt:lpstr>Time Invariant and Time Variant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and Non Linear System</vt:lpstr>
      <vt:lpstr>Linear and Non Linear System(Check for Linearity)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Causal and Non Causal Systems</vt:lpstr>
      <vt:lpstr>Causal and Non Causal Systems</vt:lpstr>
      <vt:lpstr>Causal and Non Causal Systems</vt:lpstr>
      <vt:lpstr>Causal and Non Causal Systems</vt:lpstr>
      <vt:lpstr>Stable and Unstable</vt:lpstr>
      <vt:lpstr>Stable and Unstable</vt:lpstr>
      <vt:lpstr>PowerPoint Presentation</vt:lpstr>
      <vt:lpstr>FIR and IIR Systems</vt:lpstr>
      <vt:lpstr>PowerPoint Presentation</vt:lpstr>
      <vt:lpstr>Discrete or Linear Convolution</vt:lpstr>
      <vt:lpstr>Discrete or Linear Convolution</vt:lpstr>
      <vt:lpstr>Procedure</vt:lpstr>
      <vt:lpstr>Properties</vt:lpstr>
      <vt:lpstr>PowerPoint Presentation</vt:lpstr>
      <vt:lpstr>PowerPoint Presentation</vt:lpstr>
      <vt:lpstr>PowerPoint Presentation</vt:lpstr>
      <vt:lpstr>Graphical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Circular Convolution</vt:lpstr>
      <vt:lpstr>Circular Convolution-Procedure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Correlation</vt:lpstr>
      <vt:lpstr>Cross Correlation</vt:lpstr>
      <vt:lpstr>Cross Correlation</vt:lpstr>
      <vt:lpstr>Auto Correlation</vt:lpstr>
      <vt:lpstr>Auto Correlation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Admin</dc:creator>
  <cp:lastModifiedBy>Admin</cp:lastModifiedBy>
  <cp:revision>269</cp:revision>
  <dcterms:created xsi:type="dcterms:W3CDTF">2022-01-06T12:44:16Z</dcterms:created>
  <dcterms:modified xsi:type="dcterms:W3CDTF">2026-01-05T08:52:07Z</dcterms:modified>
</cp:coreProperties>
</file>