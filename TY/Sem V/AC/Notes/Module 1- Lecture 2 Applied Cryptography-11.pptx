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98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300" r:id="rId18"/>
    <p:sldId id="271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331" r:id="rId28"/>
    <p:sldId id="332" r:id="rId29"/>
    <p:sldId id="333" r:id="rId30"/>
    <p:sldId id="334" r:id="rId31"/>
    <p:sldId id="281" r:id="rId32"/>
    <p:sldId id="330" r:id="rId33"/>
    <p:sldId id="301" r:id="rId34"/>
    <p:sldId id="302" r:id="rId35"/>
    <p:sldId id="303" r:id="rId36"/>
    <p:sldId id="304" r:id="rId37"/>
    <p:sldId id="305" r:id="rId38"/>
    <p:sldId id="306" r:id="rId39"/>
    <p:sldId id="285" r:id="rId40"/>
    <p:sldId id="286" r:id="rId41"/>
    <p:sldId id="335" r:id="rId42"/>
    <p:sldId id="336" r:id="rId43"/>
    <p:sldId id="337" r:id="rId44"/>
    <p:sldId id="338" r:id="rId45"/>
    <p:sldId id="339" r:id="rId46"/>
    <p:sldId id="340" r:id="rId47"/>
    <p:sldId id="341" r:id="rId48"/>
    <p:sldId id="342" r:id="rId49"/>
    <p:sldId id="343" r:id="rId50"/>
    <p:sldId id="287" r:id="rId51"/>
    <p:sldId id="297" r:id="rId52"/>
  </p:sldIdLst>
  <p:sldSz cx="9144000" cy="6858000" type="screen4x3"/>
  <p:notesSz cx="6858000" cy="9144000"/>
  <p:embeddedFontLst>
    <p:embeddedFont>
      <p:font typeface="Fira Sans" panose="020B0604020202020204" charset="0"/>
      <p:regular r:id="rId54"/>
      <p:bold r:id="rId55"/>
      <p:italic r:id="rId56"/>
      <p:boldItalic r:id="rId57"/>
    </p:embeddedFont>
    <p:embeddedFont>
      <p:font typeface="Cambria Math" panose="02040503050406030204" pitchFamily="18" charset="0"/>
      <p:regular r:id="rId58"/>
    </p:embeddedFont>
    <p:embeddedFont>
      <p:font typeface="Marcellus" panose="020B0604020202020204" charset="0"/>
      <p:regular r:id="rId59"/>
    </p:embeddedFont>
    <p:embeddedFont>
      <p:font typeface="Calibri" panose="020F0502020204030204" pitchFamily="34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3" roundtripDataSignature="AMtx7mjMlZQLcA4xnhbvmXz5NDg61+W6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-1344" y="-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63" Type="http://schemas.openxmlformats.org/officeDocument/2006/relationships/font" Target="fonts/font10.fntdata"/><Relationship Id="rId84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8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61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7.fntdata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font" Target="fonts/font9.fntdata"/><Relationship Id="rId83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287338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36"/>
          <p:cNvSpPr txBox="1">
            <a:spLocks noGrp="1"/>
          </p:cNvSpPr>
          <p:nvPr>
            <p:ph type="subTitle" idx="1"/>
          </p:nvPr>
        </p:nvSpPr>
        <p:spPr>
          <a:xfrm>
            <a:off x="685800" y="388620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3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 smtClean="0"/>
              <a:t>Ms. Swati Mali</a:t>
            </a:r>
            <a:endParaRPr/>
          </a:p>
        </p:txBody>
      </p:sp>
      <p:sp>
        <p:nvSpPr>
          <p:cNvPr id="30" name="Google Shape;30;p3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37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  <a:defRPr sz="3600" b="0" i="0" u="none" strike="noStrike" cap="none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37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−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8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38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3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3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 smtClean="0"/>
              <a:t>Ms. Swati Mali</a:t>
            </a:r>
            <a:endParaRPr/>
          </a:p>
        </p:txBody>
      </p:sp>
      <p:sp>
        <p:nvSpPr>
          <p:cNvPr id="38" name="Google Shape;38;p3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3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 smtClean="0"/>
              <a:t>Ms. Swati Mali</a:t>
            </a:r>
            <a:endParaRPr/>
          </a:p>
        </p:txBody>
      </p:sp>
      <p:sp>
        <p:nvSpPr>
          <p:cNvPr id="42" name="Google Shape;42;p3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39"/>
          <p:cNvSpPr txBox="1">
            <a:spLocks noGrp="1"/>
          </p:cNvSpPr>
          <p:nvPr>
            <p:ph type="body" idx="1"/>
          </p:nvPr>
        </p:nvSpPr>
        <p:spPr>
          <a:xfrm>
            <a:off x="728983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−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1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  <a:defRPr sz="3600" b="0" i="0" u="none" strike="noStrike" cap="none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41"/>
          <p:cNvSpPr txBox="1">
            <a:spLocks noGrp="1"/>
          </p:cNvSpPr>
          <p:nvPr>
            <p:ph type="body" idx="1"/>
          </p:nvPr>
        </p:nvSpPr>
        <p:spPr>
          <a:xfrm>
            <a:off x="655370" y="1189973"/>
            <a:ext cx="8248389" cy="489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55A11"/>
              </a:buClr>
              <a:buSzPts val="1680"/>
              <a:buFont typeface="Courier New"/>
              <a:buChar char="o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4427"/>
              </a:buClr>
              <a:buSzPts val="1400"/>
              <a:buFont typeface="Times New Roman"/>
              <a:buChar char="−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2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0" name="Google Shape;50;p42"/>
          <p:cNvSpPr txBox="1">
            <a:spLocks noGrp="1"/>
          </p:cNvSpPr>
          <p:nvPr>
            <p:ph type="body" idx="1"/>
          </p:nvPr>
        </p:nvSpPr>
        <p:spPr>
          <a:xfrm>
            <a:off x="681575" y="1606006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42"/>
          <p:cNvSpPr txBox="1">
            <a:spLocks noGrp="1"/>
          </p:cNvSpPr>
          <p:nvPr>
            <p:ph type="body" idx="2"/>
          </p:nvPr>
        </p:nvSpPr>
        <p:spPr>
          <a:xfrm>
            <a:off x="803704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42"/>
          <p:cNvSpPr txBox="1">
            <a:spLocks noGrp="1"/>
          </p:cNvSpPr>
          <p:nvPr>
            <p:ph type="body" idx="3"/>
          </p:nvPr>
        </p:nvSpPr>
        <p:spPr>
          <a:xfrm>
            <a:off x="4803013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42"/>
          <p:cNvSpPr txBox="1">
            <a:spLocks noGrp="1"/>
          </p:cNvSpPr>
          <p:nvPr>
            <p:ph type="body" idx="4"/>
          </p:nvPr>
        </p:nvSpPr>
        <p:spPr>
          <a:xfrm>
            <a:off x="4803013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4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4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 smtClean="0"/>
              <a:t>Ms. Swati Mali</a:t>
            </a:r>
            <a:endParaRPr/>
          </a:p>
        </p:txBody>
      </p:sp>
      <p:sp>
        <p:nvSpPr>
          <p:cNvPr id="56" name="Google Shape;56;p4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9" name="Google Shape;59;p4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4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 smtClean="0"/>
              <a:t>Ms. Swati Mali</a:t>
            </a:r>
            <a:endParaRPr/>
          </a:p>
        </p:txBody>
      </p:sp>
      <p:sp>
        <p:nvSpPr>
          <p:cNvPr id="61" name="Google Shape;61;p4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4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 smtClean="0"/>
              <a:t>Ms. Swati Mali</a:t>
            </a:r>
            <a:endParaRPr/>
          </a:p>
        </p:txBody>
      </p:sp>
      <p:sp>
        <p:nvSpPr>
          <p:cNvPr id="65" name="Google Shape;65;p4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8" name="Google Shape;68;p45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45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4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4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 smtClean="0"/>
              <a:t>Ms. Swati Mali</a:t>
            </a:r>
            <a:endParaRPr/>
          </a:p>
        </p:txBody>
      </p:sp>
      <p:sp>
        <p:nvSpPr>
          <p:cNvPr id="72" name="Google Shape;72;p4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6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5" name="Google Shape;75;p46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46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4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4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 smtClean="0"/>
              <a:t>Ms. Swati Mali</a:t>
            </a:r>
            <a:endParaRPr/>
          </a:p>
        </p:txBody>
      </p:sp>
      <p:sp>
        <p:nvSpPr>
          <p:cNvPr id="79" name="Google Shape;79;p4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47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4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4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 smtClean="0"/>
              <a:t>Ms. Swati Mali</a:t>
            </a:r>
            <a:endParaRPr/>
          </a:p>
        </p:txBody>
      </p:sp>
      <p:sp>
        <p:nvSpPr>
          <p:cNvPr id="85" name="Google Shape;85;p4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8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8" name="Google Shape;88;p48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4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4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 smtClean="0"/>
              <a:t>Ms. Swati Mali</a:t>
            </a:r>
            <a:endParaRPr/>
          </a:p>
        </p:txBody>
      </p:sp>
      <p:sp>
        <p:nvSpPr>
          <p:cNvPr id="91" name="Google Shape;91;p4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/>
        </p:nvSpPr>
        <p:spPr>
          <a:xfrm>
            <a:off x="1148443" y="294320"/>
            <a:ext cx="6847115" cy="73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35"/>
          <p:cNvSpPr txBox="1"/>
          <p:nvPr/>
        </p:nvSpPr>
        <p:spPr>
          <a:xfrm>
            <a:off x="324390" y="6373654"/>
            <a:ext cx="14559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8/26/2022</a:t>
            </a:r>
            <a:endParaRPr sz="14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35"/>
          <p:cNvSpPr txBox="1"/>
          <p:nvPr/>
        </p:nvSpPr>
        <p:spPr>
          <a:xfrm>
            <a:off x="8240198" y="6347051"/>
            <a:ext cx="6014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35"/>
          <p:cNvCxnSpPr/>
          <p:nvPr/>
        </p:nvCxnSpPr>
        <p:spPr>
          <a:xfrm>
            <a:off x="173929" y="524443"/>
            <a:ext cx="15020" cy="5873873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" name="Google Shape;14;p35"/>
          <p:cNvCxnSpPr/>
          <p:nvPr/>
        </p:nvCxnSpPr>
        <p:spPr>
          <a:xfrm>
            <a:off x="8958782" y="135448"/>
            <a:ext cx="14374" cy="6100958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" name="Google Shape;15;p35"/>
          <p:cNvCxnSpPr/>
          <p:nvPr/>
        </p:nvCxnSpPr>
        <p:spPr>
          <a:xfrm>
            <a:off x="429274" y="135448"/>
            <a:ext cx="8536694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" name="Google Shape;16;p35"/>
          <p:cNvCxnSpPr/>
          <p:nvPr/>
        </p:nvCxnSpPr>
        <p:spPr>
          <a:xfrm rot="-5400000" flipH="1">
            <a:off x="162549" y="6424715"/>
            <a:ext cx="293100" cy="2403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" name="Google Shape;17;p35"/>
          <p:cNvCxnSpPr/>
          <p:nvPr/>
        </p:nvCxnSpPr>
        <p:spPr>
          <a:xfrm rot="5400000">
            <a:off x="8611957" y="6330007"/>
            <a:ext cx="454800" cy="2676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8" name="Google Shape;18;p35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54" y="135448"/>
            <a:ext cx="425219" cy="6722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5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29588" y="135448"/>
            <a:ext cx="153343" cy="5305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5" descr="A close up of a sign&#10;&#10;Description automatically generated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321645" y="6043825"/>
            <a:ext cx="651512" cy="647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5" descr="A picture containing drawing&#10;&#10;Description automatically generated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54" y="6214968"/>
            <a:ext cx="1991676" cy="663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5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 rot="5400000">
            <a:off x="4987623" y="3550281"/>
            <a:ext cx="385984" cy="6282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5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 rot="5400000">
            <a:off x="5093663" y="3283949"/>
            <a:ext cx="173904" cy="628205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Module%201-%20Classical_Security_Attacks_Presentation.pptx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>
            <a:spLocks noGrp="1"/>
          </p:cNvSpPr>
          <p:nvPr>
            <p:ph type="subTitle" idx="1"/>
          </p:nvPr>
        </p:nvSpPr>
        <p:spPr>
          <a:xfrm>
            <a:off x="1115616" y="3676315"/>
            <a:ext cx="773433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US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Ms. Swati Mali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US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B-215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swatimali@gmail.com</a:t>
            </a:r>
            <a:endParaRPr sz="2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US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Assistant Professor,  Department of Computer Engineering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US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K. J. Somaiya College of Engineering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US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Somaiya Vidyavihar University</a:t>
            </a:r>
            <a:endParaRPr/>
          </a:p>
        </p:txBody>
      </p:sp>
      <p:pic>
        <p:nvPicPr>
          <p:cNvPr id="108" name="Google Shape;10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" y="2220"/>
            <a:ext cx="425219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5673" y="0"/>
            <a:ext cx="157258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" descr="A picture containing drawing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2930" y="2219"/>
            <a:ext cx="1991676" cy="6638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sz="6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Applied Cryptography</a:t>
            </a:r>
            <a:endParaRPr lang="en-IN" sz="6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endParaRPr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16" name="Google Shape;116;p2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17" name="Google Shape;11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3568" y="188640"/>
            <a:ext cx="8465192" cy="568863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Marcellus"/>
              <a:buNone/>
            </a:pPr>
            <a:r>
              <a:rPr lang="en-US">
                <a:latin typeface="Marcellus"/>
                <a:ea typeface="Marcellus"/>
                <a:cs typeface="Marcellus"/>
                <a:sym typeface="Marcellus"/>
              </a:rPr>
              <a:t>What is this course about?</a:t>
            </a:r>
            <a:endParaRPr/>
          </a:p>
        </p:txBody>
      </p:sp>
      <p:sp>
        <p:nvSpPr>
          <p:cNvPr id="123" name="Google Shape;123;p3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Objectives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Security needs / threats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Security Goals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Cryptography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Marcellus"/>
              <a:buNone/>
            </a:pPr>
            <a:r>
              <a:rPr lang="en-US">
                <a:latin typeface="Marcellus"/>
                <a:ea typeface="Marcellus"/>
                <a:cs typeface="Marcellus"/>
                <a:sym typeface="Marcellus"/>
              </a:rPr>
              <a:t>What we will cover?</a:t>
            </a:r>
            <a:endParaRPr/>
          </a:p>
        </p:txBody>
      </p:sp>
      <p:sp>
        <p:nvSpPr>
          <p:cNvPr id="129" name="Google Shape;129;p4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–Vulnerabilities, threats, security Goals, and methods of defense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–Cryptography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–Symmetric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–Asymmetric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–Message authentication and digital signature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–Advances in Cryptography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Vulnerability, Threat and Control</a:t>
            </a:r>
            <a:endParaRPr/>
          </a:p>
        </p:txBody>
      </p:sp>
      <p:sp>
        <p:nvSpPr>
          <p:cNvPr id="135" name="Google Shape;135;p5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A vulnerability is a weakness in the security system, in procedure, design, or implementation that might be exploited to cause loss or harm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A threat to a computer system is a set of circumstances that has the potential to cause loss or harm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Control is an action, device, procedure, or technique that removes or reduces a vulnerability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A threat is blocked by control of a vulnerability 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Threats, Controls, and Vulnerabilities</a:t>
            </a:r>
            <a:endParaRPr/>
          </a:p>
        </p:txBody>
      </p:sp>
      <p:sp>
        <p:nvSpPr>
          <p:cNvPr id="141" name="Google Shape;141;p6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</p:txBody>
      </p:sp>
      <p:pic>
        <p:nvPicPr>
          <p:cNvPr id="142" name="Google Shape;14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576" y="1052736"/>
            <a:ext cx="7400892" cy="36949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Threats, Controls, and Vulnerabilities</a:t>
            </a:r>
            <a:endParaRPr/>
          </a:p>
        </p:txBody>
      </p:sp>
      <p:sp>
        <p:nvSpPr>
          <p:cNvPr id="141" name="Google Shape;141;p6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Tx/>
              <a:buChar char="-"/>
            </a:pPr>
            <a:r>
              <a:rPr lang="en-IN" dirty="0" smtClean="0"/>
              <a:t>Glass home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Tx/>
              <a:buChar char="-"/>
            </a:pPr>
            <a:r>
              <a:rPr lang="en-IN" dirty="0" smtClean="0"/>
              <a:t>Social media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Tx/>
              <a:buChar char="-"/>
            </a:pPr>
            <a:r>
              <a:rPr lang="en-IN" dirty="0" smtClean="0"/>
              <a:t>Land slide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Tx/>
              <a:buChar char="-"/>
            </a:pPr>
            <a:r>
              <a:rPr lang="en-IN" dirty="0" smtClean="0"/>
              <a:t>Bank transaction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Tx/>
              <a:buChar char="-"/>
            </a:pPr>
            <a:r>
              <a:rPr lang="en-IN" dirty="0" err="1" smtClean="0"/>
              <a:t>Covid</a:t>
            </a:r>
            <a:r>
              <a:rPr lang="en-IN" dirty="0" smtClean="0"/>
              <a:t> vaccine booking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Tx/>
              <a:buChar char="-"/>
            </a:pPr>
            <a:r>
              <a:rPr lang="en-IN" dirty="0" smtClean="0"/>
              <a:t>Online zoom calls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021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Attacks, Services and Mechanisms</a:t>
            </a:r>
            <a:endParaRPr/>
          </a:p>
        </p:txBody>
      </p:sp>
      <p:sp>
        <p:nvSpPr>
          <p:cNvPr id="148" name="Google Shape;148;p7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Security Attack: Any action that compromises the security of information.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Security Mechanism: A mechanism that is designed to detect, prevent, or recover from a security attack.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Security Service: A service that enhances the security of data processing systems and information transfers. A security service makes use of one or more security mechanisms.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Books</a:t>
            </a:r>
            <a:endParaRPr/>
          </a:p>
        </p:txBody>
      </p:sp>
      <p:sp>
        <p:nvSpPr>
          <p:cNvPr id="154" name="Google Shape;154;p8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</p:txBody>
      </p:sp>
      <p:pic>
        <p:nvPicPr>
          <p:cNvPr id="155" name="Google Shape;15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3568" y="404663"/>
            <a:ext cx="8280920" cy="568572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Relationship Between Confidentiality, Integrity, and Availability</a:t>
            </a:r>
            <a:endParaRPr/>
          </a:p>
        </p:txBody>
      </p:sp>
      <p:sp>
        <p:nvSpPr>
          <p:cNvPr id="161" name="Google Shape;161;p9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</p:txBody>
      </p:sp>
      <p:pic>
        <p:nvPicPr>
          <p:cNvPr id="162" name="Google Shape;16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5656" y="836712"/>
            <a:ext cx="6696744" cy="528161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Confidentiality</a:t>
            </a:r>
            <a:endParaRPr/>
          </a:p>
        </p:txBody>
      </p:sp>
      <p:sp>
        <p:nvSpPr>
          <p:cNvPr id="168" name="Google Shape;168;p10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It ensures that computer-related assets are accessed only by authorized parties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Access means reading, viewing, printing, or simply knowing that a particular asset exists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It is sometimes also called secrecy or privacy </a:t>
            </a:r>
            <a:endParaRPr/>
          </a:p>
          <a:p>
            <a:pPr marL="285750" lvl="0" indent="-107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Integrity </a:t>
            </a:r>
            <a:endParaRPr/>
          </a:p>
        </p:txBody>
      </p:sp>
      <p:sp>
        <p:nvSpPr>
          <p:cNvPr id="174" name="Google Shape;174;p11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It means that assets can be modified only by authorized parties only in authorized ways.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The integrity of an item is preserved if it is: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Precise, accurate, unmodified, modified only in acceptable ways, modified by authorized people, modified by authorized processes, consistent, meaningful and usable. </a:t>
            </a:r>
            <a:endParaRPr/>
          </a:p>
          <a:p>
            <a:pPr marL="285750" lvl="0" indent="-107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Availability </a:t>
            </a:r>
            <a:endParaRPr/>
          </a:p>
        </p:txBody>
      </p:sp>
      <p:sp>
        <p:nvSpPr>
          <p:cNvPr id="180" name="Google Shape;180;p12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It applies to both data and data processing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A data item, service or system is available if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There is a timely response to our request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Fair to all i.e. some requesters are not favored over others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Fault tolerant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There is controlled concurrency, deadlock management, and exclusive access as required </a:t>
            </a:r>
            <a:endParaRPr/>
          </a:p>
          <a:p>
            <a:pPr marL="285750" lvl="0" indent="-107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 b="1"/>
              <a:t>Security Attacks </a:t>
            </a:r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</p:txBody>
      </p:sp>
      <p:pic>
        <p:nvPicPr>
          <p:cNvPr id="187" name="Google Shape;18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138" y="1381125"/>
            <a:ext cx="7705725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endParaRPr/>
          </a:p>
        </p:txBody>
      </p:sp>
      <p:pic>
        <p:nvPicPr>
          <p:cNvPr id="193" name="Google Shape;193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19283" y="1323975"/>
            <a:ext cx="7991210" cy="452596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 b="1"/>
              <a:t>Security Attacks </a:t>
            </a:r>
            <a:endParaRPr/>
          </a:p>
        </p:txBody>
      </p:sp>
      <p:sp>
        <p:nvSpPr>
          <p:cNvPr id="199" name="Google Shape;199;p15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b="1"/>
              <a:t>Interruption: </a:t>
            </a:r>
            <a:r>
              <a:rPr lang="en-US"/>
              <a:t>This is an attack on availability, confidentiality 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b="1"/>
              <a:t>Interception: </a:t>
            </a:r>
            <a:r>
              <a:rPr lang="en-US"/>
              <a:t>This is an attack on confidentiality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b="1"/>
              <a:t>Modification: </a:t>
            </a:r>
            <a:r>
              <a:rPr lang="en-US"/>
              <a:t>This is an attack on integrity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b="1"/>
              <a:t>Fabrication</a:t>
            </a:r>
            <a:r>
              <a:rPr lang="en-US"/>
              <a:t>: This is an attack on authenticity </a:t>
            </a:r>
            <a:endParaRPr/>
          </a:p>
          <a:p>
            <a:pPr marL="285750" lvl="0" indent="-107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attacks on </a:t>
            </a:r>
            <a:r>
              <a:rPr lang="en-US" dirty="0" smtClean="0"/>
              <a:t>security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>
                <a:hlinkClick r:id="rId2" action="ppaction://hlinkpres?slideindex=1&amp;slidetitle="/>
              </a:rPr>
              <a:t>Eavesdropping</a:t>
            </a:r>
            <a:r>
              <a:rPr lang="en-US" dirty="0" smtClean="0"/>
              <a:t> </a:t>
            </a:r>
          </a:p>
          <a:p>
            <a:r>
              <a:rPr lang="en-US" dirty="0" smtClean="0"/>
              <a:t>Traffic </a:t>
            </a:r>
            <a:r>
              <a:rPr lang="en-US" dirty="0"/>
              <a:t>Analysis </a:t>
            </a:r>
            <a:r>
              <a:rPr lang="en-US" dirty="0" smtClean="0"/>
              <a:t>attack </a:t>
            </a:r>
          </a:p>
          <a:p>
            <a:r>
              <a:rPr lang="en-US" dirty="0" smtClean="0"/>
              <a:t>Replay attack</a:t>
            </a:r>
          </a:p>
          <a:p>
            <a:r>
              <a:rPr lang="en-US" dirty="0" smtClean="0"/>
              <a:t>non-repudiation attack  </a:t>
            </a:r>
          </a:p>
          <a:p>
            <a:r>
              <a:rPr lang="en-US" dirty="0" smtClean="0"/>
              <a:t>Man-in-the-Middle attack</a:t>
            </a:r>
          </a:p>
          <a:p>
            <a:r>
              <a:rPr lang="en-US" dirty="0" smtClean="0"/>
              <a:t>Data Tampering </a:t>
            </a:r>
          </a:p>
          <a:p>
            <a:r>
              <a:rPr lang="en-US" dirty="0" smtClean="0"/>
              <a:t>Denial </a:t>
            </a:r>
            <a:r>
              <a:rPr lang="en-US" dirty="0"/>
              <a:t>of Service (</a:t>
            </a:r>
            <a:r>
              <a:rPr lang="en-US" dirty="0" err="1"/>
              <a:t>DoS</a:t>
            </a:r>
            <a:r>
              <a:rPr lang="en-US" dirty="0"/>
              <a:t>) </a:t>
            </a:r>
            <a:r>
              <a:rPr lang="en-US" dirty="0" smtClean="0"/>
              <a:t>attack </a:t>
            </a:r>
          </a:p>
          <a:p>
            <a:r>
              <a:rPr lang="en-US" dirty="0" smtClean="0"/>
              <a:t>Brute </a:t>
            </a:r>
            <a:r>
              <a:rPr lang="en-US" dirty="0"/>
              <a:t>Force </a:t>
            </a:r>
            <a:r>
              <a:rPr lang="en-US" dirty="0" smtClean="0"/>
              <a:t>Attack</a:t>
            </a:r>
          </a:p>
          <a:p>
            <a:r>
              <a:rPr lang="en-US" dirty="0" smtClean="0"/>
              <a:t>zero </a:t>
            </a:r>
            <a:r>
              <a:rPr lang="en-US" dirty="0"/>
              <a:t>day exploit attack</a:t>
            </a:r>
            <a:r>
              <a:rPr lang="en-US" dirty="0" smtClean="0"/>
              <a:t>,</a:t>
            </a:r>
          </a:p>
          <a:p>
            <a:r>
              <a:rPr lang="en-US" dirty="0" smtClean="0"/>
              <a:t>Phishing </a:t>
            </a:r>
            <a:r>
              <a:rPr lang="en-US" dirty="0"/>
              <a:t>and social </a:t>
            </a:r>
            <a:r>
              <a:rPr lang="en-US" dirty="0" smtClean="0"/>
              <a:t>engineering </a:t>
            </a:r>
          </a:p>
          <a:p>
            <a:r>
              <a:rPr lang="en-US" dirty="0" smtClean="0"/>
              <a:t>Spoofing </a:t>
            </a:r>
          </a:p>
          <a:p>
            <a:r>
              <a:rPr lang="en-US" dirty="0" smtClean="0"/>
              <a:t>Malware </a:t>
            </a:r>
          </a:p>
          <a:p>
            <a:r>
              <a:rPr lang="en-US" dirty="0" smtClean="0"/>
              <a:t>Session hijacking attack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537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endParaRPr/>
          </a:p>
        </p:txBody>
      </p:sp>
      <p:sp>
        <p:nvSpPr>
          <p:cNvPr id="205" name="Google Shape;205;p16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</p:txBody>
      </p:sp>
      <p:pic>
        <p:nvPicPr>
          <p:cNvPr id="206" name="Google Shape;20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7584" y="1196752"/>
            <a:ext cx="8042264" cy="46805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Attacks</a:t>
            </a:r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Cryptanalytic Attacks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Exploit mathematical weakness of cryptographic algorithm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Non-cryptanalytic Attacks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Threats to goal of security </a:t>
            </a:r>
            <a:endParaRPr/>
          </a:p>
          <a:p>
            <a:pPr marL="285750" lvl="0" indent="-107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endParaRPr/>
          </a:p>
        </p:txBody>
      </p:sp>
      <p:sp>
        <p:nvSpPr>
          <p:cNvPr id="224" name="Google Shape;224;p19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</p:txBody>
      </p:sp>
      <p:pic>
        <p:nvPicPr>
          <p:cNvPr id="225" name="Google Shape;22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607" y="0"/>
            <a:ext cx="9004393" cy="596659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 b="1"/>
              <a:t>Security Services </a:t>
            </a:r>
            <a:endParaRPr/>
          </a:p>
        </p:txBody>
      </p:sp>
      <p:sp>
        <p:nvSpPr>
          <p:cNvPr id="231" name="Google Shape;231;p20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Confidentiality (privacy)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Authentication (who created or sent the data)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Integrity (has not been altered)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Non-repudiation (the order is final)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Access control (prevent misuse of resources)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Availability (permanence, non-erasure)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 Denial of Service Attacks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 Virus that deletes files </a:t>
            </a:r>
            <a:endParaRPr/>
          </a:p>
          <a:p>
            <a:pPr marL="285750" lvl="0" indent="-107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endParaRPr/>
          </a:p>
        </p:txBody>
      </p:sp>
      <p:sp>
        <p:nvSpPr>
          <p:cNvPr id="237" name="Google Shape;237;p21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</p:txBody>
      </p:sp>
      <p:pic>
        <p:nvPicPr>
          <p:cNvPr id="238" name="Google Shape;23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60648"/>
            <a:ext cx="9144000" cy="54005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endParaRPr/>
          </a:p>
        </p:txBody>
      </p:sp>
      <p:sp>
        <p:nvSpPr>
          <p:cNvPr id="244" name="Google Shape;244;p22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</p:txBody>
      </p:sp>
      <p:pic>
        <p:nvPicPr>
          <p:cNvPr id="245" name="Google Shape;24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1640" y="1"/>
            <a:ext cx="6476776" cy="616530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Vulnerabilities</a:t>
            </a:r>
            <a:endParaRPr/>
          </a:p>
        </p:txBody>
      </p:sp>
      <p:sp>
        <p:nvSpPr>
          <p:cNvPr id="251" name="Google Shape;251;p23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Hardware vulnerabilities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Software vulnerabilities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Software deletion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Software modification </a:t>
            </a:r>
            <a:endParaRPr/>
          </a:p>
          <a:p>
            <a:pPr marL="1200150" lvl="2" indent="-13716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</a:pPr>
            <a:r>
              <a:rPr lang="en-US"/>
              <a:t>Viruses etc.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Software theft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Unauthorized copying etc.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Data vulnerabilities </a:t>
            </a:r>
            <a:endParaRPr/>
          </a:p>
          <a:p>
            <a:pPr marL="285750" lvl="0" indent="-107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Data Security</a:t>
            </a:r>
            <a:endParaRPr/>
          </a:p>
        </p:txBody>
      </p:sp>
      <p:sp>
        <p:nvSpPr>
          <p:cNvPr id="257" name="Google Shape;257;p24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</p:txBody>
      </p:sp>
      <p:pic>
        <p:nvPicPr>
          <p:cNvPr id="258" name="Google Shape;25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1268760"/>
            <a:ext cx="7926142" cy="489654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Computing system vulnerabilities</a:t>
            </a:r>
            <a:endParaRPr/>
          </a:p>
        </p:txBody>
      </p:sp>
      <p:sp>
        <p:nvSpPr>
          <p:cNvPr id="264" name="Google Shape;264;p25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</p:txBody>
      </p:sp>
      <p:pic>
        <p:nvPicPr>
          <p:cNvPr id="265" name="Google Shape;26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9592" y="1916832"/>
            <a:ext cx="8274462" cy="41244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Methods of Defense </a:t>
            </a:r>
            <a:endParaRPr/>
          </a:p>
        </p:txBody>
      </p:sp>
      <p:sp>
        <p:nvSpPr>
          <p:cNvPr id="277" name="Google Shape;277;p27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i="1"/>
              <a:t>Prevent it</a:t>
            </a:r>
            <a:r>
              <a:rPr lang="en-US"/>
              <a:t>, by blocking the attack or closing the vulnerability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i="1"/>
              <a:t>Deter it</a:t>
            </a:r>
            <a:r>
              <a:rPr lang="en-US"/>
              <a:t>, by making attack harder if not impossible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i="1"/>
              <a:t>Deflect it</a:t>
            </a:r>
            <a:r>
              <a:rPr lang="en-US"/>
              <a:t>, by making another target more attractive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i="1"/>
              <a:t>Mitigate it, </a:t>
            </a:r>
            <a:r>
              <a:rPr lang="en-US"/>
              <a:t>by making its impact less severe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i="1"/>
              <a:t>Detect it</a:t>
            </a:r>
            <a:r>
              <a:rPr lang="en-US"/>
              <a:t>, either as it happens or some time after the fact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Recover from its effects </a:t>
            </a:r>
            <a:endParaRPr/>
          </a:p>
          <a:p>
            <a:pPr marL="285750" lvl="0" indent="-107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66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Multiple levels of Defence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 descr="Maharashtra trip 6: Devagiri fort - Treks and Trave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56" y="1312862"/>
            <a:ext cx="7367443" cy="4880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078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dirty="0"/>
              <a:t>Multiple levels of Defence</a:t>
            </a:r>
            <a:endParaRPr dirty="0"/>
          </a:p>
        </p:txBody>
      </p:sp>
      <p:sp>
        <p:nvSpPr>
          <p:cNvPr id="283" name="Google Shape;283;p28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</p:txBody>
      </p:sp>
      <p:pic>
        <p:nvPicPr>
          <p:cNvPr id="284" name="Google Shape;28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679" y="1318777"/>
            <a:ext cx="9115321" cy="481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78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9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Methods of Defense </a:t>
            </a:r>
            <a:endParaRPr/>
          </a:p>
        </p:txBody>
      </p:sp>
      <p:sp>
        <p:nvSpPr>
          <p:cNvPr id="290" name="Google Shape;290;p29"/>
          <p:cNvSpPr txBox="1">
            <a:spLocks noGrp="1"/>
          </p:cNvSpPr>
          <p:nvPr>
            <p:ph type="body" idx="1"/>
          </p:nvPr>
        </p:nvSpPr>
        <p:spPr>
          <a:xfrm>
            <a:off x="700000" y="885174"/>
            <a:ext cx="8229600" cy="583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85750" lvl="0" indent="-27241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/>
              <a:t>Controls </a:t>
            </a:r>
            <a:endParaRPr dirty="0"/>
          </a:p>
          <a:p>
            <a:pPr marL="742950" lvl="1" indent="-27432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o"/>
            </a:pPr>
            <a:r>
              <a:rPr lang="en-US" dirty="0"/>
              <a:t>Encryption </a:t>
            </a:r>
            <a:endParaRPr dirty="0"/>
          </a:p>
          <a:p>
            <a:pPr marL="742950" lvl="1" indent="-27432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o"/>
            </a:pPr>
            <a:r>
              <a:rPr lang="en-US" dirty="0"/>
              <a:t>Hardware Controls </a:t>
            </a:r>
            <a:endParaRPr dirty="0"/>
          </a:p>
          <a:p>
            <a:pPr marL="1200150" lvl="2" indent="-12763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−"/>
            </a:pPr>
            <a:r>
              <a:rPr lang="en-US" dirty="0"/>
              <a:t>Hardware/smart card implementations of encryption </a:t>
            </a:r>
            <a:endParaRPr dirty="0"/>
          </a:p>
          <a:p>
            <a:pPr marL="1200150" lvl="2" indent="-12763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−"/>
            </a:pPr>
            <a:r>
              <a:rPr lang="en-US" dirty="0"/>
              <a:t>Locks or cables limiting access </a:t>
            </a:r>
            <a:endParaRPr dirty="0"/>
          </a:p>
          <a:p>
            <a:pPr marL="1200150" lvl="2" indent="-12763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−"/>
            </a:pPr>
            <a:r>
              <a:rPr lang="en-US" dirty="0"/>
              <a:t>Devices to verify users’ identity </a:t>
            </a:r>
            <a:endParaRPr dirty="0"/>
          </a:p>
          <a:p>
            <a:pPr marL="1200150" lvl="2" indent="-12763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−"/>
            </a:pPr>
            <a:r>
              <a:rPr lang="en-US" dirty="0"/>
              <a:t>Firewalls </a:t>
            </a:r>
            <a:endParaRPr dirty="0"/>
          </a:p>
          <a:p>
            <a:pPr marL="1200150" lvl="2" indent="-12763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−"/>
            </a:pPr>
            <a:r>
              <a:rPr lang="en-US" dirty="0"/>
              <a:t>Intrusion detection systems </a:t>
            </a:r>
            <a:endParaRPr dirty="0"/>
          </a:p>
          <a:p>
            <a:pPr marL="742950" lvl="1" indent="-27432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o"/>
            </a:pPr>
            <a:r>
              <a:rPr lang="en-US" dirty="0"/>
              <a:t>Software Controls </a:t>
            </a:r>
            <a:endParaRPr dirty="0"/>
          </a:p>
          <a:p>
            <a:pPr marL="1200150" lvl="2" indent="-12763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−"/>
            </a:pPr>
            <a:r>
              <a:rPr lang="en-US" dirty="0"/>
              <a:t>Internal program controls, </a:t>
            </a:r>
            <a:endParaRPr dirty="0"/>
          </a:p>
          <a:p>
            <a:pPr marL="1200150" lvl="2" indent="-12763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−"/>
            </a:pPr>
            <a:r>
              <a:rPr lang="en-US" dirty="0"/>
              <a:t>OS and Network system controls </a:t>
            </a:r>
            <a:endParaRPr dirty="0"/>
          </a:p>
          <a:p>
            <a:pPr marL="1200150" lvl="2" indent="-12763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−"/>
            </a:pPr>
            <a:r>
              <a:rPr lang="en-US" dirty="0"/>
              <a:t>Independent control program (anti virus, passwords etc.) </a:t>
            </a:r>
            <a:endParaRPr dirty="0"/>
          </a:p>
          <a:p>
            <a:pPr marL="1200150" lvl="2" indent="-12763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−"/>
            </a:pPr>
            <a:r>
              <a:rPr lang="en-US" dirty="0"/>
              <a:t>Development control </a:t>
            </a:r>
            <a:endParaRPr dirty="0"/>
          </a:p>
          <a:p>
            <a:pPr marL="742950" lvl="1" indent="-27432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o"/>
            </a:pPr>
            <a:r>
              <a:rPr lang="en-US" dirty="0"/>
              <a:t>Policies and Procedures </a:t>
            </a:r>
            <a:endParaRPr lang="en-US" dirty="0" smtClean="0"/>
          </a:p>
          <a:p>
            <a:pPr marL="1200150" lvl="2" indent="-274320">
              <a:buSzPct val="100000"/>
              <a:buChar char="o"/>
            </a:pPr>
            <a:r>
              <a:rPr lang="en-US" dirty="0" smtClean="0"/>
              <a:t>Time restrictions</a:t>
            </a:r>
          </a:p>
          <a:p>
            <a:pPr marL="1200150" lvl="2" indent="-274320">
              <a:buSzPct val="100000"/>
              <a:buChar char="o"/>
            </a:pPr>
            <a:r>
              <a:rPr lang="en-US" dirty="0" err="1" smtClean="0"/>
              <a:t>Geofencing</a:t>
            </a:r>
            <a:endParaRPr lang="en-US" dirty="0" smtClean="0"/>
          </a:p>
          <a:p>
            <a:pPr marL="1200150" lvl="2" indent="-274320">
              <a:buSzPct val="100000"/>
              <a:buChar char="o"/>
            </a:pPr>
            <a:r>
              <a:rPr lang="en-US" dirty="0" smtClean="0"/>
              <a:t>Standard development Environment</a:t>
            </a:r>
          </a:p>
          <a:p>
            <a:pPr marL="1200150" lvl="2" indent="-274320">
              <a:buSzPct val="100000"/>
              <a:buChar char="o"/>
            </a:pPr>
            <a:r>
              <a:rPr lang="en-US" dirty="0" smtClean="0"/>
              <a:t>Non Disclosure Agreement</a:t>
            </a:r>
            <a:endParaRPr dirty="0"/>
          </a:p>
          <a:p>
            <a:pPr marL="742950" lvl="1" indent="-27432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o"/>
            </a:pPr>
            <a:r>
              <a:rPr lang="en-US" dirty="0"/>
              <a:t>Physical Controls </a:t>
            </a:r>
            <a:endParaRPr dirty="0"/>
          </a:p>
          <a:p>
            <a:pPr marL="1200150" lvl="2" indent="-11811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−"/>
            </a:pPr>
            <a:r>
              <a:rPr lang="en-US" dirty="0"/>
              <a:t>locks</a:t>
            </a:r>
            <a:endParaRPr dirty="0"/>
          </a:p>
          <a:p>
            <a:pPr marL="1200150" lvl="2" indent="-11811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−"/>
            </a:pPr>
            <a:r>
              <a:rPr lang="en-US" dirty="0"/>
              <a:t>biometrics</a:t>
            </a:r>
            <a:endParaRPr dirty="0"/>
          </a:p>
          <a:p>
            <a:pPr marL="1200150" lvl="2" indent="-11811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−"/>
            </a:pPr>
            <a:r>
              <a:rPr lang="en-US" dirty="0"/>
              <a:t>guards</a:t>
            </a:r>
            <a:endParaRPr dirty="0"/>
          </a:p>
          <a:p>
            <a:pPr marL="285750" lvl="0" indent="-12128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95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 dirty="0" smtClean="0"/>
              <a:t>Reading </a:t>
            </a:r>
            <a:r>
              <a:rPr lang="en-US" dirty="0" err="1" smtClean="0"/>
              <a:t>slides:Computer</a:t>
            </a:r>
            <a:r>
              <a:rPr lang="en-US" dirty="0" smtClean="0"/>
              <a:t> </a:t>
            </a:r>
            <a:r>
              <a:rPr lang="en-US" dirty="0"/>
              <a:t>Criminals </a:t>
            </a:r>
            <a:endParaRPr dirty="0"/>
          </a:p>
        </p:txBody>
      </p:sp>
      <p:sp>
        <p:nvSpPr>
          <p:cNvPr id="271" name="Google Shape;271;p26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Amateurs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Personal works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Crackers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Trying to access computing facilities for which they are not authorized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The perception that nobody is hurt or even endangered by a little stolen machine time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Others attack for curiosity, personal gain, or self-satisfaction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Career Criminals 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/>
              <a:t>Reading </a:t>
            </a:r>
            <a:r>
              <a:rPr lang="en-US" dirty="0" err="1"/>
              <a:t>slides:Method</a:t>
            </a:r>
            <a:r>
              <a:rPr lang="en-US" dirty="0"/>
              <a:t>, Opportunity and Motive </a:t>
            </a:r>
            <a:endParaRPr dirty="0"/>
          </a:p>
        </p:txBody>
      </p:sp>
      <p:sp>
        <p:nvSpPr>
          <p:cNvPr id="212" name="Google Shape;212;p17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Method : the skills, knowledge, tools and other things with which to be able to pull off the attack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Opportunity : the time and access to accomplish the attack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Motive : a reason to want to perform this attack against this system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n-US" u="sng">
                <a:solidFill>
                  <a:srgbClr val="C00000"/>
                </a:solidFill>
              </a:rPr>
              <a:t>DENY ANY OF THESE THREE THINGS AND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n-US" u="sng">
                <a:solidFill>
                  <a:srgbClr val="C00000"/>
                </a:solidFill>
              </a:rPr>
              <a:t>ATTACKS WILL NOT OCCUR 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704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slides:</a:t>
            </a:r>
            <a:r>
              <a:rPr lang="en-IN" dirty="0" smtClean="0"/>
              <a:t>MOM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899" y="978766"/>
            <a:ext cx="4553527" cy="5161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3262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17323" y="214817"/>
            <a:ext cx="8576059" cy="874951"/>
          </a:xfrm>
        </p:spPr>
        <p:txBody>
          <a:bodyPr/>
          <a:lstStyle/>
          <a:p>
            <a:r>
              <a:rPr lang="en-US" dirty="0"/>
              <a:t>Reading slides:</a:t>
            </a:r>
            <a:r>
              <a:rPr lang="en-IN" dirty="0" smtClean="0"/>
              <a:t>MOM : EVM – breaking</a:t>
            </a:r>
            <a:endParaRPr lang="en-IN" dirty="0"/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262865"/>
              </p:ext>
            </p:extLst>
          </p:nvPr>
        </p:nvGraphicFramePr>
        <p:xfrm>
          <a:off x="652896" y="851838"/>
          <a:ext cx="8283286" cy="5507396"/>
        </p:xfrm>
        <a:graphic>
          <a:graphicData uri="http://schemas.openxmlformats.org/drawingml/2006/table">
            <a:tbl>
              <a:tblPr/>
              <a:tblGrid>
                <a:gridCol w="1264859"/>
                <a:gridCol w="7018427"/>
              </a:tblGrid>
              <a:tr h="4789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Skills and Knowledge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Understanding of EVM hardware and software, including operating systems, communication protocols, and cryptographic systems.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8904">
                <a:tc>
                  <a:txBody>
                    <a:bodyPr/>
                    <a:lstStyle/>
                    <a:p>
                      <a:pPr algn="l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Specialized hardware (e.g., card readers, microcontrollers, or probes), software tools to analyze or reverse-engineer firmware, and pre-designed attack scripts available online.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8904">
                <a:tc>
                  <a:txBody>
                    <a:bodyPr/>
                    <a:lstStyle/>
                    <a:p>
                      <a:pPr algn="l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Resources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Access to programming manuals, technical specifications, and publicly available security research papers on EVMs.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8904">
                <a:tc>
                  <a:txBody>
                    <a:bodyPr/>
                    <a:lstStyle/>
                    <a:p>
                      <a:pPr algn="l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 Variants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Techniques like malware injection, side-channel attacks, or exploiting software/firmware vulnerabilities to alter results or compromise integrity.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89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Opportunity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 Points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Physical access during storage, transport, or voting; insider threats from technicians or election staff.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8904">
                <a:tc>
                  <a:txBody>
                    <a:bodyPr/>
                    <a:lstStyle/>
                    <a:p>
                      <a:pPr algn="l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Weaknesses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Poorly implemented security protocols, use of default settings, lack of tamper-evident features, or absence of robust monitoring mechanisms during elections.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8904">
                <a:tc>
                  <a:txBody>
                    <a:bodyPr/>
                    <a:lstStyle/>
                    <a:p>
                      <a:pPr algn="l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Operational Gaps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Temporary loss of custody during transit, inadequate auditing of results, or lack of rigorous testing for vulnerabilities.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8904">
                <a:tc>
                  <a:txBody>
                    <a:bodyPr/>
                    <a:lstStyle/>
                    <a:p>
                      <a:pPr algn="l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 Accessibility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 some cases, older or widely used EVM models are studied extensively, making their weaknesses well-known.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5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Motive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Political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Altering election outcomes to favor specific candidates or parties.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52">
                <a:tc>
                  <a:txBody>
                    <a:bodyPr/>
                    <a:lstStyle/>
                    <a:p>
                      <a:pPr algn="l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Financial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Bribes or monetary gains in exchange for compromising election integrity.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8904">
                <a:tc>
                  <a:txBody>
                    <a:bodyPr/>
                    <a:lstStyle/>
                    <a:p>
                      <a:pPr algn="l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Ideological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Disrupting democratic processes to undermine trust in governance or to promote political agendas.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52">
                <a:tc>
                  <a:txBody>
                    <a:bodyPr/>
                    <a:lstStyle/>
                    <a:p>
                      <a:pPr algn="l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Reputation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Demonstrating technical prowess by hacking high-profile systems like EVMs.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8904">
                <a:tc>
                  <a:txBody>
                    <a:bodyPr/>
                    <a:lstStyle/>
                    <a:p>
                      <a:pPr algn="l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Sabotage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Creating confusion, delaying results, or delegitimizing election outcomes by spreading misinformation about the security of EVMs.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787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17323" y="214817"/>
            <a:ext cx="8638404" cy="874951"/>
          </a:xfrm>
        </p:spPr>
        <p:txBody>
          <a:bodyPr/>
          <a:lstStyle/>
          <a:p>
            <a:r>
              <a:rPr lang="en-US" dirty="0"/>
              <a:t>Reading slides:</a:t>
            </a:r>
            <a:r>
              <a:rPr lang="en-IN" dirty="0" smtClean="0"/>
              <a:t>MOM </a:t>
            </a:r>
            <a:r>
              <a:rPr lang="en-IN" dirty="0"/>
              <a:t>: EVM – breaking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127175"/>
              </p:ext>
            </p:extLst>
          </p:nvPr>
        </p:nvGraphicFramePr>
        <p:xfrm>
          <a:off x="614794" y="1192715"/>
          <a:ext cx="8269432" cy="4875575"/>
        </p:xfrm>
        <a:graphic>
          <a:graphicData uri="http://schemas.openxmlformats.org/drawingml/2006/table">
            <a:tbl>
              <a:tblPr/>
              <a:tblGrid>
                <a:gridCol w="1910197"/>
                <a:gridCol w="2224519"/>
                <a:gridCol w="2067358"/>
                <a:gridCol w="2067358"/>
              </a:tblGrid>
              <a:tr h="27086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Actor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Method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Opportunity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Motive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596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Amateur Hackers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Using publicly available hacking tools.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Insecure endpoints (voting kiosks, admin panels).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Gaining recognition or thrill.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59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Exploiting weak or reused passwords.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Lack of encryption in communication.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Testing their hacking skills for personal satisfaction.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73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Basic phishing or social engineering techniques.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Minimal technical safeguards in place.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596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Anti-Social Individuals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Spreading misinformation via fake e-voting portals.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Overloaded servers.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Causing disruption and chaos.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59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DDoS attacks to disrupt voting processes.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Lack of traffic filtering mechanisms.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Undermining public trust in technology and elections.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59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Tampering with voters’ devices.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High dependence on online systems without backup mechanisms.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48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17323" y="214817"/>
            <a:ext cx="8503322" cy="874951"/>
          </a:xfrm>
        </p:spPr>
        <p:txBody>
          <a:bodyPr/>
          <a:lstStyle/>
          <a:p>
            <a:r>
              <a:rPr lang="en-US" dirty="0"/>
              <a:t>Reading slides:</a:t>
            </a:r>
            <a:r>
              <a:rPr lang="en-IN" dirty="0" smtClean="0"/>
              <a:t>MOM </a:t>
            </a:r>
            <a:r>
              <a:rPr lang="en-IN" dirty="0"/>
              <a:t>: EVM – breaking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521960"/>
              </p:ext>
            </p:extLst>
          </p:nvPr>
        </p:nvGraphicFramePr>
        <p:xfrm>
          <a:off x="635576" y="1273535"/>
          <a:ext cx="8155132" cy="4888277"/>
        </p:xfrm>
        <a:graphic>
          <a:graphicData uri="http://schemas.openxmlformats.org/drawingml/2006/table">
            <a:tbl>
              <a:tblPr/>
              <a:tblGrid>
                <a:gridCol w="2038783"/>
                <a:gridCol w="2038783"/>
                <a:gridCol w="2038783"/>
                <a:gridCol w="2038783"/>
              </a:tblGrid>
              <a:tr h="22219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Actor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Method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Opportunity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Motive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389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Anti-Democratic Groups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Altering vote tallies by breaching databases.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Poorly secured servers and databases.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Undermining democracy to destabilize the nation.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38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Installing backdoors in e-voting infrastructure.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Insider access to the election systems.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Promoting authoritarian control.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38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Manipulating algorithms in vote counting software.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Lack of robust access control mechanisms.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389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Notorious-Studious Hackers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Creating custom malware to infiltrate systems.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Lack of regular security audits.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Gaining fame or infamy.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38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Exploiting zero-day vulnerabilities.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Use of outdated software/hardware.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Demonstrating technical superiority.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58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Reverse-engineering voting software to identify flaws.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Absence of real-time anomaly detection in e-voting systems.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Selling vulnerabilities to third parties.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583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Politicians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Colluding with insiders to manipulate vote records.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Access to campaign funds and influence over infrastructure.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Gaining an unfair advantage to win elections.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38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Funding professional hackers to breach systems.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Exploiting politically aligned insiders.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Ensuring their political power remains intact.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58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Using legal loopholes to influence voting systems.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Weak regulatory oversight of election systems.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53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17323" y="214817"/>
            <a:ext cx="8170813" cy="874951"/>
          </a:xfrm>
        </p:spPr>
        <p:txBody>
          <a:bodyPr/>
          <a:lstStyle/>
          <a:p>
            <a:r>
              <a:rPr lang="en-US" dirty="0"/>
              <a:t>Reading slides:</a:t>
            </a:r>
            <a:r>
              <a:rPr lang="en-IN" dirty="0" smtClean="0"/>
              <a:t>MOM </a:t>
            </a:r>
            <a:r>
              <a:rPr lang="en-IN" dirty="0"/>
              <a:t>: EVM – breaking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416068"/>
              </p:ext>
            </p:extLst>
          </p:nvPr>
        </p:nvGraphicFramePr>
        <p:xfrm>
          <a:off x="761263" y="1194951"/>
          <a:ext cx="8081400" cy="5021798"/>
        </p:xfrm>
        <a:graphic>
          <a:graphicData uri="http://schemas.openxmlformats.org/drawingml/2006/table">
            <a:tbl>
              <a:tblPr/>
              <a:tblGrid>
                <a:gridCol w="2020350"/>
                <a:gridCol w="2020350"/>
                <a:gridCol w="2020350"/>
                <a:gridCol w="2020350"/>
              </a:tblGrid>
              <a:tr h="18588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Actor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Method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Opportunity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Motive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646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Foreign Governments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Advanced persistent threats (APTs) targeting critical election systems.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Cross-border jurisdiction limits enforcement.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Undermining the country’s political stability.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64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Spreading propaganda and misinformation campaigns.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Geopolitical tensions creating vulnerabilities.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Influencing policies to favor their own geopolitical interests.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64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Lack of robust international cybersecurity coordination.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1763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Criminal Organizations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Stealing voter data for identity theft.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Weak encryption on databases.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Financial gain through data sales.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64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Selling vote manipulation as a service (election fraud as a business).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Lack of robust authentication for accessing systems.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Running election fraud services for profit.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64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High black-market demand for personal and voter information.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646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Disgruntled Employees/Insiders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Leaking sensitive data about voters or systems.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Direct access to e-voting infrastructure.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Personal vendetta against employers or the government.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64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Tampering with configurations to enable external breaches.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Minimal monitoring of employee activity.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Financial gain from selling information or services.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64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Intentionally bypassing security measures.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Insufficient background checks or employee screening.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5987" marR="5987" marT="59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407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slides:</a:t>
            </a:r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08863"/>
              </p:ext>
            </p:extLst>
          </p:nvPr>
        </p:nvGraphicFramePr>
        <p:xfrm>
          <a:off x="718703" y="1174173"/>
          <a:ext cx="7968096" cy="5072277"/>
        </p:xfrm>
        <a:graphic>
          <a:graphicData uri="http://schemas.openxmlformats.org/drawingml/2006/table">
            <a:tbl>
              <a:tblPr/>
              <a:tblGrid>
                <a:gridCol w="1992024"/>
                <a:gridCol w="1992024"/>
                <a:gridCol w="1992024"/>
                <a:gridCol w="1992024"/>
              </a:tblGrid>
              <a:tr h="31077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Actor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Method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Opportunity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Motive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2316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Activist Groups (Hacktivists)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Defacing e-voting portals to spread their message.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Overreliance on online platforms without redundancy.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Advocating for their causes.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23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Blocking systems through DDoS.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Lack of regular penetration testing.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Exposing perceived flaws in the democratic system.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Manipulating results to make a statement.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Misconfigured public-facing services.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Drawing attention to their ideologies.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3089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Curious Researchers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Ethical hacking to identify flaws.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Access to test environments or real systems due to weak authorization checks.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Publishing findings to improve security.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224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Testing various attack methods (often with consent).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Collaboration with system administrators without strict boundaries.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Building a reputation in cybersecurity circles.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7799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/>
              <a:t>Reading slides</a:t>
            </a:r>
            <a:r>
              <a:rPr lang="en-US" dirty="0" smtClean="0"/>
              <a:t>: Effectiveness </a:t>
            </a:r>
            <a:r>
              <a:rPr lang="en-US" dirty="0"/>
              <a:t>of Controls </a:t>
            </a:r>
            <a:endParaRPr dirty="0"/>
          </a:p>
        </p:txBody>
      </p:sp>
      <p:sp>
        <p:nvSpPr>
          <p:cNvPr id="296" name="Google Shape;296;p30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Awareness of Problem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Highlighting Need of security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Likelihood of Use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They must be efficient, easy to use, and appropriate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Overlapping Controls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Use several different controls, layered defense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Periodic reviews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Judging the effectiveness of control is an ongoing task </a:t>
            </a:r>
            <a:endParaRPr/>
          </a:p>
          <a:p>
            <a:pPr marL="285750" lvl="0" indent="-107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Others Exposed Assets </a:t>
            </a:r>
            <a:endParaRPr/>
          </a:p>
        </p:txBody>
      </p:sp>
      <p:sp>
        <p:nvSpPr>
          <p:cNvPr id="302" name="Google Shape;302;p31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Networks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Network’s lack of physical proximity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Use of insecure, shared media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Inability to identify remote users positively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Access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Computer time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Malicious access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Denial of service to legitimate user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Key People 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 attacker secretly intercepts communication between two parties to steal credentials.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0370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user receives a fake email asking to update bank details, which leads to credential theft.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13181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hacker floods a website with traffic until it becomes unavailable to real users.	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51558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An attacker captures and reuses valid authentication messages to gain unauthorized access.	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19944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attacker installs spyware to collect sensitive user information without consent.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16573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hacker modifies data in transit to alter financial transactions.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09384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attacker sends thousands of password attempts to crack a user's account.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3883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cybercriminal exploits an unknown vulnerability before the vendor can patch it.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51774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attacker impersonates a trusted website to steal login credentials.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6963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endParaRPr/>
          </a:p>
        </p:txBody>
      </p:sp>
      <p:sp>
        <p:nvSpPr>
          <p:cNvPr id="308" name="Google Shape;308;p32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</p:txBody>
      </p:sp>
      <p:pic>
        <p:nvPicPr>
          <p:cNvPr id="309" name="Google Shape;30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148" y="0"/>
            <a:ext cx="10116615" cy="63093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4"/>
          <p:cNvSpPr/>
          <p:nvPr/>
        </p:nvSpPr>
        <p:spPr>
          <a:xfrm>
            <a:off x="3033631" y="2967334"/>
            <a:ext cx="528278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FF9356"/>
                </a:solidFill>
                <a:latin typeface="Calibri"/>
                <a:ea typeface="Calibri"/>
                <a:cs typeface="Calibri"/>
                <a:sym typeface="Calibri"/>
              </a:rPr>
              <a:t>Questions? </a:t>
            </a:r>
            <a:endParaRPr sz="5400" b="1">
              <a:solidFill>
                <a:srgbClr val="FF93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25904</TotalTime>
  <Words>2170</Words>
  <Application>Microsoft Office PowerPoint</Application>
  <PresentationFormat>On-screen Show (4:3)</PresentationFormat>
  <Paragraphs>360</Paragraphs>
  <Slides>51</Slides>
  <Notes>34</Notes>
  <HiddenSlides>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0" baseType="lpstr">
      <vt:lpstr>Arial</vt:lpstr>
      <vt:lpstr>Fira Sans</vt:lpstr>
      <vt:lpstr>Cambria Math</vt:lpstr>
      <vt:lpstr>Times New Roman</vt:lpstr>
      <vt:lpstr>Marcellus</vt:lpstr>
      <vt:lpstr>Calibri</vt:lpstr>
      <vt:lpstr>Noto Sans Symbols</vt:lpstr>
      <vt:lpstr>Courier New</vt:lpstr>
      <vt:lpstr>2_Custom Design</vt:lpstr>
      <vt:lpstr>Applied Cryptography</vt:lpstr>
      <vt:lpstr>PowerPoint Presentation</vt:lpstr>
      <vt:lpstr>What is this course about?</vt:lpstr>
      <vt:lpstr>What we will cover?</vt:lpstr>
      <vt:lpstr>Vulnerability, Threat and Control</vt:lpstr>
      <vt:lpstr>Threats, Controls, and Vulnerabilities</vt:lpstr>
      <vt:lpstr>Threats, Controls, and Vulnerabilities</vt:lpstr>
      <vt:lpstr>Attacks, Services and Mechanisms</vt:lpstr>
      <vt:lpstr>Books</vt:lpstr>
      <vt:lpstr>Relationship Between Confidentiality, Integrity, and Availability</vt:lpstr>
      <vt:lpstr>Confidentiality</vt:lpstr>
      <vt:lpstr>Integrity </vt:lpstr>
      <vt:lpstr>Availability </vt:lpstr>
      <vt:lpstr>Security Attacks </vt:lpstr>
      <vt:lpstr>PowerPoint Presentation</vt:lpstr>
      <vt:lpstr>Security Attacks </vt:lpstr>
      <vt:lpstr>Classical attacks on security</vt:lpstr>
      <vt:lpstr>PowerPoint Presentation</vt:lpstr>
      <vt:lpstr>Attacks</vt:lpstr>
      <vt:lpstr>PowerPoint Presentation</vt:lpstr>
      <vt:lpstr>Security Services </vt:lpstr>
      <vt:lpstr>PowerPoint Presentation</vt:lpstr>
      <vt:lpstr>PowerPoint Presentation</vt:lpstr>
      <vt:lpstr>Vulnerabilities</vt:lpstr>
      <vt:lpstr>Data Security</vt:lpstr>
      <vt:lpstr>Computing system vulnerabilities</vt:lpstr>
      <vt:lpstr>Methods of Defense </vt:lpstr>
      <vt:lpstr>Multiple levels of Defence</vt:lpstr>
      <vt:lpstr>Multiple levels of Defence</vt:lpstr>
      <vt:lpstr>Methods of Defense </vt:lpstr>
      <vt:lpstr>Reading slides:Computer Criminals </vt:lpstr>
      <vt:lpstr>Reading slides:Method, Opportunity and Motive </vt:lpstr>
      <vt:lpstr>Reading slides:MOM</vt:lpstr>
      <vt:lpstr>Reading slides:MOM : EVM – breaking</vt:lpstr>
      <vt:lpstr>Reading slides:MOM : EVM – breaking</vt:lpstr>
      <vt:lpstr>Reading slides:MOM : EVM – breaking</vt:lpstr>
      <vt:lpstr>Reading slides:MOM : EVM – breaking</vt:lpstr>
      <vt:lpstr>Reading slides:</vt:lpstr>
      <vt:lpstr>Reading slides: Effectiveness of Controls </vt:lpstr>
      <vt:lpstr>Others Exposed Assets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Honours in Cyber Security &amp; Forensics  Applied Cryptography</dc:title>
  <dc:creator>Swati Mali</dc:creator>
  <cp:lastModifiedBy>Swati</cp:lastModifiedBy>
  <cp:revision>40</cp:revision>
  <dcterms:created xsi:type="dcterms:W3CDTF">2021-02-11T03:47:51Z</dcterms:created>
  <dcterms:modified xsi:type="dcterms:W3CDTF">2025-07-28T11:49:34Z</dcterms:modified>
</cp:coreProperties>
</file>