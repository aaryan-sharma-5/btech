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7" r:id="rId2"/>
    <p:sldId id="298" r:id="rId3"/>
    <p:sldId id="300" r:id="rId4"/>
    <p:sldId id="287" r:id="rId5"/>
    <p:sldId id="301" r:id="rId6"/>
    <p:sldId id="302" r:id="rId7"/>
    <p:sldId id="299" r:id="rId8"/>
    <p:sldId id="297" r:id="rId9"/>
    <p:sldId id="258" r:id="rId10"/>
    <p:sldId id="259" r:id="rId11"/>
    <p:sldId id="260" r:id="rId12"/>
    <p:sldId id="261" r:id="rId13"/>
    <p:sldId id="290" r:id="rId14"/>
    <p:sldId id="291" r:id="rId15"/>
    <p:sldId id="292" r:id="rId16"/>
    <p:sldId id="293" r:id="rId17"/>
    <p:sldId id="294" r:id="rId18"/>
    <p:sldId id="316" r:id="rId19"/>
    <p:sldId id="318" r:id="rId20"/>
    <p:sldId id="317" r:id="rId21"/>
    <p:sldId id="319" r:id="rId22"/>
    <p:sldId id="303" r:id="rId23"/>
    <p:sldId id="305" r:id="rId24"/>
    <p:sldId id="306" r:id="rId25"/>
    <p:sldId id="308" r:id="rId26"/>
    <p:sldId id="309" r:id="rId27"/>
    <p:sldId id="310" r:id="rId28"/>
    <p:sldId id="311" r:id="rId29"/>
    <p:sldId id="312" r:id="rId30"/>
    <p:sldId id="313" r:id="rId31"/>
    <p:sldId id="304" r:id="rId32"/>
    <p:sldId id="262" r:id="rId33"/>
    <p:sldId id="285" r:id="rId34"/>
    <p:sldId id="263" r:id="rId35"/>
    <p:sldId id="264" r:id="rId36"/>
    <p:sldId id="286" r:id="rId37"/>
    <p:sldId id="269" r:id="rId38"/>
    <p:sldId id="270" r:id="rId39"/>
    <p:sldId id="289" r:id="rId40"/>
    <p:sldId id="314" r:id="rId41"/>
    <p:sldId id="273" r:id="rId42"/>
    <p:sldId id="274" r:id="rId43"/>
    <p:sldId id="275" r:id="rId44"/>
    <p:sldId id="276" r:id="rId45"/>
    <p:sldId id="277" r:id="rId46"/>
    <p:sldId id="295" r:id="rId47"/>
    <p:sldId id="315" r:id="rId48"/>
    <p:sldId id="278" r:id="rId49"/>
    <p:sldId id="279" r:id="rId50"/>
    <p:sldId id="280" r:id="rId51"/>
    <p:sldId id="281" r:id="rId52"/>
    <p:sldId id="282" r:id="rId53"/>
    <p:sldId id="284" r:id="rId54"/>
    <p:sldId id="320" r:id="rId55"/>
    <p:sldId id="321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A6C18-46F9-42B1-8152-398A69D8C66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BDE9A-0309-44D1-B157-499445612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70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F763-598F-4434-975C-5139A6F7F3A4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45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D0D4-07A6-47EE-A73D-D2085B926A0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3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AE03-C1F6-4F7E-A2D4-DA17F5B7A31E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08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7F75-7F55-4ADE-A015-C9A52F3198F7}" type="datetime1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8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A86C3-E137-44C6-BAF7-EEC236BA64A2}" type="datetime1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68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22DEC-0490-4DA4-B2CC-699DBF6A8261}" type="datetime1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11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DC76-631F-4AD6-9DCF-2C17C7564DD3}" type="datetime1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26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F816-A85C-4350-844F-6D7FA9767B2F}" type="datetime1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2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82EEA-30B4-4A28-8656-C3790FDF5737}" type="datetime1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23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3923-E58D-46B7-B96F-FC4B6D8CEC57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9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7A0B-6F55-4AFD-B18A-4D25724749A1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52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_PlaceholderTitle"/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531319"/>
            <a:ext cx="8210550" cy="49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740" tIns="4740" rIns="4740" bIns="4740" numCol="1" anchor="t" anchorCtr="0" compatLnSpc="1">
            <a:prstTxWarp prst="textNoShape">
              <a:avLst/>
            </a:prstTxWarp>
          </a:bodyPr>
          <a:lstStyle>
            <a:lvl1pPr algn="ctr">
              <a:defRPr sz="3200">
                <a:solidFill>
                  <a:srgbClr val="095A8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66725" y="1124745"/>
            <a:ext cx="8210550" cy="4415367"/>
          </a:xfrm>
        </p:spPr>
        <p:txBody>
          <a:bodyPr/>
          <a:lstStyle>
            <a:lvl1pPr marL="320040" indent="-320040">
              <a:buClr>
                <a:srgbClr val="095A82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Add Title Here, Add Title Here, Add Title Here.</a:t>
            </a:r>
          </a:p>
          <a:p>
            <a:pPr lvl="0"/>
            <a:r>
              <a:rPr lang="en-US" dirty="0"/>
              <a:t>Add Title Here, Add Title Here, Add Title Here.</a:t>
            </a:r>
          </a:p>
          <a:p>
            <a:pPr lvl="0"/>
            <a:r>
              <a:rPr lang="en-US" dirty="0"/>
              <a:t>Add Title Here, Add Title Here, Add Title Here.</a:t>
            </a:r>
          </a:p>
          <a:p>
            <a:pPr lvl="0"/>
            <a:r>
              <a:rPr lang="en-US" dirty="0"/>
              <a:t>Add Title Here, Add Title Here, Add Title Here.</a:t>
            </a:r>
          </a:p>
          <a:p>
            <a:pPr lvl="0"/>
            <a:r>
              <a:rPr lang="en-US" dirty="0"/>
              <a:t>Add Title Here, Add Title Here, Add Title Here.</a:t>
            </a:r>
          </a:p>
          <a:p>
            <a:pPr lvl="0"/>
            <a:r>
              <a:rPr lang="en-US" dirty="0"/>
              <a:t>Add Title Here, Add Title Here, Add Title Here.</a:t>
            </a:r>
          </a:p>
          <a:p>
            <a:pPr lvl="0"/>
            <a:r>
              <a:rPr lang="en-US" dirty="0"/>
              <a:t>Add Title Here, Add Title Here, Add Title Here.</a:t>
            </a:r>
          </a:p>
          <a:p>
            <a:pPr lvl="0"/>
            <a:r>
              <a:rPr lang="en-US" dirty="0"/>
              <a:t>Add Title Here, Add Title Here, Add Title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23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DB584-6A0E-4AFD-A364-D0F2735679D8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BFE8F-3660-418B-A829-43CC6A39F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11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Module 3.2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696" y="1556792"/>
            <a:ext cx="5194920" cy="3201219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Google </a:t>
            </a:r>
            <a:r>
              <a:rPr lang="en-IN" dirty="0" err="1"/>
              <a:t>AppEngine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D0667-47E5-4433-B9FC-46DACA1F585E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22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Google App Engine (GAE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Google App Engine (often referred to as GAE or simply App Engine) is a cloud computing </a:t>
            </a:r>
            <a:r>
              <a:rPr lang="en-US" sz="2400" b="1" dirty="0"/>
              <a:t>platform as a service for developing and hosting web applications in Google-managed data centers. </a:t>
            </a:r>
            <a:endParaRPr lang="en-US" sz="2400" b="1" dirty="0" smtClean="0"/>
          </a:p>
          <a:p>
            <a:r>
              <a:rPr lang="en-US" sz="2400" dirty="0" smtClean="0"/>
              <a:t>PAAS</a:t>
            </a:r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0" indent="0" algn="r">
              <a:buNone/>
            </a:pPr>
            <a:r>
              <a:rPr lang="en-US" sz="2400" b="1" dirty="0" smtClean="0"/>
              <a:t>-Definition</a:t>
            </a:r>
            <a:endParaRPr lang="en-US" sz="28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281C-5E48-464F-96FA-6B51A2E60FF3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37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Google App Engine (GAE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Key Features-</a:t>
            </a:r>
          </a:p>
          <a:p>
            <a:r>
              <a:rPr lang="en-IN" sz="2400" dirty="0"/>
              <a:t>Popular </a:t>
            </a:r>
            <a:r>
              <a:rPr lang="en-IN" sz="2400" dirty="0" smtClean="0"/>
              <a:t>languages</a:t>
            </a:r>
          </a:p>
          <a:p>
            <a:r>
              <a:rPr lang="en-IN" sz="2400" dirty="0"/>
              <a:t>Fully </a:t>
            </a:r>
            <a:r>
              <a:rPr lang="en-IN" sz="2400" dirty="0" smtClean="0"/>
              <a:t>managed</a:t>
            </a:r>
          </a:p>
          <a:p>
            <a:r>
              <a:rPr lang="en-IN" sz="2400" dirty="0"/>
              <a:t>Powerful application </a:t>
            </a:r>
            <a:r>
              <a:rPr lang="en-IN" sz="2400" dirty="0" smtClean="0"/>
              <a:t>diagnostics</a:t>
            </a:r>
          </a:p>
          <a:p>
            <a:r>
              <a:rPr lang="en-IN" sz="2400" dirty="0"/>
              <a:t>Application </a:t>
            </a:r>
            <a:r>
              <a:rPr lang="en-IN" sz="2400" dirty="0" smtClean="0"/>
              <a:t>versioning</a:t>
            </a:r>
          </a:p>
          <a:p>
            <a:r>
              <a:rPr lang="en-IN" sz="2400" dirty="0"/>
              <a:t>Application </a:t>
            </a:r>
            <a:r>
              <a:rPr lang="en-IN" sz="2400" dirty="0" smtClean="0"/>
              <a:t>security</a:t>
            </a:r>
          </a:p>
          <a:p>
            <a:r>
              <a:rPr lang="en-IN" sz="2400" dirty="0"/>
              <a:t>Services ecosystem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281C-5E48-464F-96FA-6B51A2E60FF3}" type="datetime1">
              <a:rPr lang="en-IN" smtClean="0"/>
              <a:t>17-03-2026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28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Google App Engine (GAE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Popular languages</a:t>
            </a:r>
          </a:p>
          <a:p>
            <a:r>
              <a:rPr lang="en-US" sz="2400" dirty="0" smtClean="0"/>
              <a:t>Supported </a:t>
            </a:r>
            <a:r>
              <a:rPr lang="en-US" sz="2400" dirty="0"/>
              <a:t>programming </a:t>
            </a:r>
            <a:r>
              <a:rPr lang="en-US" sz="2400" dirty="0" smtClean="0"/>
              <a:t>languages-</a:t>
            </a:r>
            <a:endParaRPr lang="en-US" sz="2400" dirty="0"/>
          </a:p>
          <a:p>
            <a:r>
              <a:rPr lang="en-US" sz="2400" dirty="0"/>
              <a:t>Build your application in </a:t>
            </a:r>
            <a:r>
              <a:rPr lang="en-US" sz="2400" b="1" dirty="0"/>
              <a:t>Node.js, Java, Ruby, C#, Go, Python, or PHP</a:t>
            </a:r>
            <a:r>
              <a:rPr lang="en-US" sz="2400" b="1" dirty="0" smtClean="0"/>
              <a:t>.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IN" sz="2400" dirty="0"/>
              <a:t>Fully </a:t>
            </a:r>
            <a:r>
              <a:rPr lang="en-IN" sz="2400" dirty="0" smtClean="0"/>
              <a:t>managed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fully managed environment lets you focus on code while App Engine manages infrastructure concerns.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281C-5E48-464F-96FA-6B51A2E60FF3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07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Google App Engine (GAE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Powerful application </a:t>
            </a:r>
            <a:r>
              <a:rPr lang="en-IN" sz="2400" dirty="0" smtClean="0"/>
              <a:t>diagnostics</a:t>
            </a:r>
          </a:p>
          <a:p>
            <a:r>
              <a:rPr lang="en-US" sz="2400" dirty="0" smtClean="0"/>
              <a:t>Use Cloud Monitoring and Cloud Logging to monitor the health and performance of your app and Error Reporting to diagnose and fix bugs quickly.</a:t>
            </a:r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 smtClean="0"/>
              <a:t>Application versioning</a:t>
            </a:r>
          </a:p>
          <a:p>
            <a:r>
              <a:rPr lang="en-US" sz="2400" dirty="0" smtClean="0"/>
              <a:t>Easily </a:t>
            </a:r>
            <a:r>
              <a:rPr lang="en-US" sz="2400" dirty="0"/>
              <a:t>host different versions of your app, and easily create </a:t>
            </a:r>
            <a:r>
              <a:rPr lang="en-US" sz="2400" dirty="0" smtClean="0"/>
              <a:t>development</a:t>
            </a:r>
            <a:r>
              <a:rPr lang="en-US" sz="2400" dirty="0"/>
              <a:t>, test, staging, and production environments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281C-5E48-464F-96FA-6B51A2E60FF3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0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Google App Engine (GAE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Application </a:t>
            </a:r>
            <a:r>
              <a:rPr lang="en-IN" sz="2400" dirty="0" smtClean="0"/>
              <a:t>security</a:t>
            </a:r>
          </a:p>
          <a:p>
            <a:r>
              <a:rPr lang="en-US" sz="2400" dirty="0"/>
              <a:t>Help safeguard your application by defining access rules with App Engine firewall and leverage managed </a:t>
            </a:r>
            <a:r>
              <a:rPr lang="en-US" sz="2400" dirty="0" smtClean="0"/>
              <a:t>SSL(Secure Socket Layer)/TLS (Transport Layer Security) </a:t>
            </a:r>
            <a:r>
              <a:rPr lang="en-US" sz="2400" dirty="0"/>
              <a:t>certificates by default on your custom domain at no additional cost.</a:t>
            </a:r>
            <a:endParaRPr lang="en-IN" sz="2400" dirty="0" smtClean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Services </a:t>
            </a:r>
            <a:r>
              <a:rPr lang="en-IN" sz="2400" dirty="0" smtClean="0"/>
              <a:t>ecosystem</a:t>
            </a:r>
          </a:p>
          <a:p>
            <a:r>
              <a:rPr lang="en-US" sz="2400" dirty="0"/>
              <a:t>Tap a growing ecosystem of Google Cloud services from your app including an excellent suite of cloud developer tools.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281C-5E48-464F-96FA-6B51A2E60FF3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97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Google App Engine (GAE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Google has hundreds of data </a:t>
            </a:r>
            <a:r>
              <a:rPr lang="en-IN" sz="2400" dirty="0" err="1"/>
              <a:t>centers</a:t>
            </a:r>
            <a:r>
              <a:rPr lang="en-IN" sz="2400" dirty="0"/>
              <a:t> and has installed more than </a:t>
            </a:r>
            <a:r>
              <a:rPr lang="en-IN" sz="2400" dirty="0">
                <a:solidFill>
                  <a:schemeClr val="accent1"/>
                </a:solidFill>
              </a:rPr>
              <a:t>460,000 servers worldwide</a:t>
            </a:r>
            <a:r>
              <a:rPr lang="en-IN" sz="2400" dirty="0"/>
              <a:t>.</a:t>
            </a:r>
          </a:p>
          <a:p>
            <a:r>
              <a:rPr lang="en-IN" sz="2400" u="sng" dirty="0"/>
              <a:t>For example, </a:t>
            </a:r>
            <a:r>
              <a:rPr lang="en-IN" sz="2400" u="sng" dirty="0">
                <a:solidFill>
                  <a:schemeClr val="accent1"/>
                </a:solidFill>
              </a:rPr>
              <a:t>200 Google data </a:t>
            </a:r>
            <a:r>
              <a:rPr lang="en-IN" sz="2400" u="sng" dirty="0" err="1">
                <a:solidFill>
                  <a:schemeClr val="accent1"/>
                </a:solidFill>
              </a:rPr>
              <a:t>centers</a:t>
            </a:r>
            <a:r>
              <a:rPr lang="en-IN" sz="2400" u="sng" dirty="0">
                <a:solidFill>
                  <a:schemeClr val="accent1"/>
                </a:solidFill>
              </a:rPr>
              <a:t> </a:t>
            </a:r>
            <a:r>
              <a:rPr lang="en-IN" sz="2400" u="sng" dirty="0"/>
              <a:t>are used at </a:t>
            </a:r>
            <a:r>
              <a:rPr lang="en-IN" sz="2400" u="sng" dirty="0">
                <a:solidFill>
                  <a:schemeClr val="accent1"/>
                </a:solidFill>
              </a:rPr>
              <a:t>one time</a:t>
            </a:r>
            <a:r>
              <a:rPr lang="en-IN" sz="2400" u="sng" dirty="0"/>
              <a:t> for a number of cloud applications.</a:t>
            </a:r>
          </a:p>
          <a:p>
            <a:endParaRPr lang="en-IN" sz="2400" dirty="0" smtClean="0">
              <a:solidFill>
                <a:schemeClr val="accent1"/>
              </a:solidFill>
            </a:endParaRPr>
          </a:p>
          <a:p>
            <a:r>
              <a:rPr lang="en-IN" sz="2400" dirty="0" smtClean="0">
                <a:solidFill>
                  <a:schemeClr val="accent1"/>
                </a:solidFill>
              </a:rPr>
              <a:t>Data </a:t>
            </a:r>
            <a:r>
              <a:rPr lang="en-IN" sz="2400" dirty="0">
                <a:solidFill>
                  <a:schemeClr val="accent1"/>
                </a:solidFill>
              </a:rPr>
              <a:t>items </a:t>
            </a:r>
            <a:r>
              <a:rPr lang="en-IN" sz="2400" dirty="0"/>
              <a:t>are stored in </a:t>
            </a:r>
            <a:r>
              <a:rPr lang="en-IN" sz="2400" dirty="0">
                <a:solidFill>
                  <a:schemeClr val="accent1"/>
                </a:solidFill>
              </a:rPr>
              <a:t>text, images, and video </a:t>
            </a:r>
            <a:r>
              <a:rPr lang="en-IN" sz="2400" dirty="0"/>
              <a:t>and are </a:t>
            </a:r>
            <a:r>
              <a:rPr lang="en-IN" sz="2400" dirty="0">
                <a:solidFill>
                  <a:schemeClr val="accent1"/>
                </a:solidFill>
              </a:rPr>
              <a:t>replicated to tolerate faults or failures</a:t>
            </a:r>
            <a:r>
              <a:rPr lang="en-IN" sz="2400" dirty="0"/>
              <a:t>. </a:t>
            </a:r>
            <a:endParaRPr lang="en-IN" sz="2400" dirty="0" smtClean="0"/>
          </a:p>
          <a:p>
            <a:endParaRPr lang="en-IN" sz="2400" dirty="0"/>
          </a:p>
          <a:p>
            <a:r>
              <a:rPr lang="en-IN" sz="2400" dirty="0" smtClean="0"/>
              <a:t>Here </a:t>
            </a:r>
            <a:r>
              <a:rPr lang="en-IN" sz="2400" dirty="0"/>
              <a:t>we discuss Google’s App Engine (GAE) which offers </a:t>
            </a:r>
            <a:r>
              <a:rPr lang="en-IN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IN" sz="2400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PaaS</a:t>
            </a:r>
            <a:r>
              <a:rPr lang="en-IN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platform </a:t>
            </a:r>
            <a:r>
              <a:rPr lang="en-IN" sz="2400" dirty="0"/>
              <a:t>supporting various cloud and web applications.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281C-5E48-464F-96FA-6B51A2E60FF3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29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Google App Engine (GAE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Applications </a:t>
            </a:r>
            <a:r>
              <a:rPr lang="en-US" sz="2400" dirty="0"/>
              <a:t>are </a:t>
            </a:r>
            <a:r>
              <a:rPr lang="en-US" sz="2400" b="1" dirty="0"/>
              <a:t>sandboxed and run across multiple servers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App </a:t>
            </a:r>
            <a:r>
              <a:rPr lang="en-US" sz="2400" dirty="0"/>
              <a:t>Engine offers </a:t>
            </a:r>
            <a:r>
              <a:rPr lang="en-US" sz="2400" b="1" dirty="0"/>
              <a:t>automatic scaling for web applications</a:t>
            </a:r>
            <a:r>
              <a:rPr lang="en-US" sz="2400" dirty="0"/>
              <a:t>—as the number of requests increases for an application, </a:t>
            </a:r>
            <a:endParaRPr lang="en-US" sz="2400" dirty="0" smtClean="0"/>
          </a:p>
          <a:p>
            <a:r>
              <a:rPr lang="en-US" sz="2400" dirty="0" smtClean="0"/>
              <a:t>App </a:t>
            </a:r>
            <a:r>
              <a:rPr lang="en-US" sz="2400" dirty="0"/>
              <a:t>Engine </a:t>
            </a:r>
            <a:r>
              <a:rPr lang="en-US" sz="2400" b="1" dirty="0"/>
              <a:t>automatically allocates more resources </a:t>
            </a:r>
            <a:r>
              <a:rPr lang="en-US" sz="2400" dirty="0"/>
              <a:t>for the web application to handle the additional demand</a:t>
            </a:r>
            <a:r>
              <a:rPr lang="en-US" sz="2400" dirty="0" smtClean="0"/>
              <a:t>.</a:t>
            </a:r>
          </a:p>
          <a:p>
            <a:pPr marL="0" lvl="0" indent="0" algn="r">
              <a:buNone/>
            </a:pPr>
            <a:endParaRPr lang="en-US" sz="2400" b="1" dirty="0" smtClean="0">
              <a:solidFill>
                <a:prstClr val="black"/>
              </a:solidFill>
            </a:endParaRPr>
          </a:p>
          <a:p>
            <a:pPr marL="0" lvl="0" indent="0" algn="r">
              <a:buNone/>
            </a:pPr>
            <a:endParaRPr lang="en-US" sz="2400" b="1" dirty="0">
              <a:solidFill>
                <a:prstClr val="black"/>
              </a:solidFill>
            </a:endParaRPr>
          </a:p>
          <a:p>
            <a:pPr marL="0" lvl="0" indent="0" algn="r">
              <a:buNone/>
            </a:pPr>
            <a:endParaRPr lang="en-US" sz="2400" b="1" dirty="0" smtClean="0">
              <a:solidFill>
                <a:prstClr val="black"/>
              </a:solidFill>
            </a:endParaRPr>
          </a:p>
          <a:p>
            <a:pPr marL="0" lvl="0" indent="0" algn="r">
              <a:buNone/>
            </a:pPr>
            <a:endParaRPr lang="en-US" sz="2400" b="1" dirty="0">
              <a:solidFill>
                <a:prstClr val="black"/>
              </a:solidFill>
            </a:endParaRPr>
          </a:p>
          <a:p>
            <a:pPr marL="0" lvl="0" indent="0" algn="r">
              <a:buNone/>
            </a:pPr>
            <a:r>
              <a:rPr lang="en-US" sz="2400" b="1" dirty="0" smtClean="0">
                <a:solidFill>
                  <a:prstClr val="black"/>
                </a:solidFill>
              </a:rPr>
              <a:t>-</a:t>
            </a:r>
            <a:r>
              <a:rPr lang="en-US" sz="2400" b="1" dirty="0">
                <a:solidFill>
                  <a:prstClr val="black"/>
                </a:solidFill>
              </a:rPr>
              <a:t>Definition</a:t>
            </a:r>
            <a:endParaRPr lang="en-US" sz="2800" b="1" dirty="0">
              <a:solidFill>
                <a:prstClr val="black"/>
              </a:solidFill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281C-5E48-464F-96FA-6B51A2E60FF3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6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AppEngine</a:t>
            </a:r>
            <a:r>
              <a:rPr lang="en-US" sz="2400" dirty="0"/>
              <a:t> is a platform for developing scalable applications accessible through the </a:t>
            </a:r>
            <a:r>
              <a:rPr lang="en-US" sz="2400" dirty="0" smtClean="0"/>
              <a:t>Web. 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platform is logically divided into four major components: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Infrastructure</a:t>
            </a:r>
            <a:r>
              <a:rPr lang="en-US" sz="2400" dirty="0"/>
              <a:t>,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The runtime </a:t>
            </a:r>
            <a:r>
              <a:rPr lang="en-US" sz="2400" dirty="0"/>
              <a:t>environment,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The </a:t>
            </a:r>
            <a:r>
              <a:rPr lang="en-US" sz="2400" dirty="0"/>
              <a:t>underlying storage, and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The </a:t>
            </a:r>
            <a:r>
              <a:rPr lang="en-US" sz="2400" dirty="0"/>
              <a:t>set of scalable services that can be used to develop applications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0633-B0D3-4B8A-9680-8D83882CB4CF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49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415380"/>
            <a:ext cx="8372475" cy="453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6032-0598-4CEC-B1EC-C8348816B908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19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AppEngine</a:t>
            </a:r>
            <a:r>
              <a:rPr lang="en-US" sz="2400" dirty="0"/>
              <a:t> </a:t>
            </a:r>
            <a:r>
              <a:rPr lang="en-US" sz="2400" b="1" dirty="0"/>
              <a:t>hosts Web applications, and its primary function is to serve users requests efficiently. </a:t>
            </a:r>
            <a:endParaRPr lang="en-US" sz="2400" b="1" dirty="0" smtClean="0"/>
          </a:p>
          <a:p>
            <a:r>
              <a:rPr lang="en-US" sz="2400" dirty="0" smtClean="0"/>
              <a:t>To </a:t>
            </a:r>
            <a:r>
              <a:rPr lang="en-US" sz="2400" dirty="0"/>
              <a:t>do so, </a:t>
            </a:r>
            <a:r>
              <a:rPr lang="en-US" sz="2400" dirty="0" err="1"/>
              <a:t>AppEngine’s</a:t>
            </a:r>
            <a:r>
              <a:rPr lang="en-US" sz="2400" dirty="0"/>
              <a:t> infrastructure takes advantage of </a:t>
            </a:r>
            <a:r>
              <a:rPr lang="en-US" sz="2400" b="1" dirty="0"/>
              <a:t>many servers available within Google datacenters. </a:t>
            </a:r>
            <a:endParaRPr lang="en-US" sz="2400" b="1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each HTTP request, </a:t>
            </a:r>
            <a:r>
              <a:rPr lang="en-US" sz="2400" b="1" dirty="0" err="1"/>
              <a:t>AppEngine</a:t>
            </a:r>
            <a:r>
              <a:rPr lang="en-US" sz="2400" b="1" dirty="0"/>
              <a:t> locates the servers hosting the application that </a:t>
            </a:r>
            <a:r>
              <a:rPr lang="en-US" sz="2400" b="1" dirty="0" smtClean="0"/>
              <a:t>processes </a:t>
            </a:r>
            <a:r>
              <a:rPr lang="en-US" sz="2400" b="1" dirty="0"/>
              <a:t>the request</a:t>
            </a:r>
            <a:r>
              <a:rPr lang="en-US" sz="2400" dirty="0"/>
              <a:t>, </a:t>
            </a:r>
            <a:r>
              <a:rPr lang="en-US" sz="2400" b="1" dirty="0"/>
              <a:t>evaluates their load, and, if necessary, allocates additional resources </a:t>
            </a:r>
            <a:r>
              <a:rPr lang="en-US" sz="2400" dirty="0"/>
              <a:t>(i.e., </a:t>
            </a:r>
            <a:r>
              <a:rPr lang="en-US" sz="2400" dirty="0" smtClean="0"/>
              <a:t>servers</a:t>
            </a:r>
            <a:r>
              <a:rPr lang="en-US" sz="2400" dirty="0"/>
              <a:t>) or redirects the request to an existing server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793CB-7D0C-4A62-9CA5-05759572B039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91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Run time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The runtime environment represents </a:t>
            </a:r>
            <a:r>
              <a:rPr lang="en-US" sz="2400" b="1" dirty="0"/>
              <a:t>the execution context of applications hosted on </a:t>
            </a:r>
            <a:r>
              <a:rPr lang="en-US" sz="2400" b="1" dirty="0" err="1"/>
              <a:t>AppEngine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r>
              <a:rPr lang="en-US" sz="2400" dirty="0" smtClean="0"/>
              <a:t>With </a:t>
            </a:r>
            <a:r>
              <a:rPr lang="en-US" sz="2400" dirty="0"/>
              <a:t>reference to the </a:t>
            </a:r>
            <a:r>
              <a:rPr lang="en-US" sz="2400" b="1" dirty="0" err="1"/>
              <a:t>AppEngine</a:t>
            </a:r>
            <a:r>
              <a:rPr lang="en-US" sz="2400" b="1" dirty="0"/>
              <a:t> infrastructure code, which is always active and running</a:t>
            </a:r>
            <a:r>
              <a:rPr lang="en-US" sz="2400" dirty="0"/>
              <a:t>, </a:t>
            </a:r>
            <a:r>
              <a:rPr lang="en-US" sz="2400" b="1" dirty="0"/>
              <a:t>the </a:t>
            </a:r>
            <a:r>
              <a:rPr lang="en-US" sz="2400" b="1" dirty="0" smtClean="0"/>
              <a:t>runtime </a:t>
            </a:r>
            <a:r>
              <a:rPr lang="en-US" sz="2400" b="1" dirty="0"/>
              <a:t>comes into existence </a:t>
            </a:r>
            <a:r>
              <a:rPr lang="en-US" sz="2400" b="1" dirty="0" smtClean="0"/>
              <a:t>when the request handler starts executing and </a:t>
            </a:r>
            <a:r>
              <a:rPr lang="en-US" sz="2400" b="1" dirty="0"/>
              <a:t>terminates </a:t>
            </a:r>
            <a:r>
              <a:rPr lang="en-US" sz="2400" dirty="0"/>
              <a:t>once the </a:t>
            </a:r>
            <a:r>
              <a:rPr lang="en-US" sz="2400" dirty="0" smtClean="0"/>
              <a:t>handler </a:t>
            </a:r>
            <a:r>
              <a:rPr lang="en-US" sz="2400" dirty="0"/>
              <a:t>has completed.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6BDA-4056-4A88-82DB-A5C1820EF94E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32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Currently</a:t>
            </a:r>
            <a:r>
              <a:rPr lang="en-US" sz="2400" dirty="0"/>
              <a:t>, it is possible to develop </a:t>
            </a:r>
            <a:r>
              <a:rPr lang="en-US" sz="2400" dirty="0" err="1"/>
              <a:t>AppEngine</a:t>
            </a:r>
            <a:r>
              <a:rPr lang="en-US" sz="2400" dirty="0"/>
              <a:t> applications using three different languages and related technologies: Java, Python, and Go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8146A-3D6C-4CAA-A6F9-A045488269A9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13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24944"/>
            <a:ext cx="8445500" cy="2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66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Support for Python is provided by </a:t>
            </a:r>
            <a:r>
              <a:rPr lang="en-US" sz="2400" b="1" dirty="0"/>
              <a:t>an optimized Python </a:t>
            </a:r>
            <a:r>
              <a:rPr lang="en-US" sz="2400" b="1" dirty="0" smtClean="0"/>
              <a:t>interpreter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r>
              <a:rPr lang="en-US" sz="2400" dirty="0" smtClean="0"/>
              <a:t>The environment </a:t>
            </a:r>
            <a:r>
              <a:rPr lang="en-US" sz="2400" dirty="0"/>
              <a:t>supports the Python standard library, but </a:t>
            </a:r>
            <a:r>
              <a:rPr lang="en-US" sz="2400" b="1" dirty="0"/>
              <a:t>some of the modules that implement potentially harmful operations have been removed</a:t>
            </a:r>
            <a:r>
              <a:rPr lang="en-US" sz="2400" dirty="0"/>
              <a:t>, and </a:t>
            </a:r>
            <a:r>
              <a:rPr lang="en-US" sz="2400" b="1" dirty="0"/>
              <a:t>attempts to import such modules or to call specific methods generate exceptions.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E7FE-1D14-46CC-9ADE-B3EA5483CA44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81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Developers </a:t>
            </a:r>
            <a:r>
              <a:rPr lang="en-US" sz="2400" dirty="0"/>
              <a:t>can use the common tools for Web </a:t>
            </a:r>
            <a:r>
              <a:rPr lang="en-US" sz="2400" dirty="0" smtClean="0"/>
              <a:t>application </a:t>
            </a:r>
            <a:r>
              <a:rPr lang="en-US" sz="2400" dirty="0"/>
              <a:t>development in Java, </a:t>
            </a:r>
            <a:r>
              <a:rPr lang="en-US" sz="2400" b="1" dirty="0"/>
              <a:t>such as the Java Server Pages (JSP), and the applications interact with the environment by using the Java Servlet </a:t>
            </a:r>
            <a:r>
              <a:rPr lang="en-US" sz="2400" b="1" dirty="0" smtClean="0"/>
              <a:t>standard.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AA438-75DC-4F2A-AA3C-03085AB245F1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92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The Go runtime environment allows applications developed with the Go programming language </a:t>
            </a:r>
            <a:r>
              <a:rPr lang="en-US" sz="2400" dirty="0"/>
              <a:t>to be hosted and executed in </a:t>
            </a:r>
            <a:r>
              <a:rPr lang="en-US" sz="2400" dirty="0" err="1"/>
              <a:t>AppEngine</a:t>
            </a:r>
            <a:r>
              <a:rPr lang="en-US" sz="2400" dirty="0"/>
              <a:t>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85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17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628800"/>
            <a:ext cx="8316215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444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App Engine standard environment is based on </a:t>
            </a:r>
            <a:r>
              <a:rPr lang="en-US" sz="2400" b="1" dirty="0"/>
              <a:t>container instances running on Google's infrastructure. </a:t>
            </a:r>
            <a:endParaRPr lang="en-US" sz="2400" b="1" dirty="0" smtClean="0"/>
          </a:p>
          <a:p>
            <a:r>
              <a:rPr lang="en-US" sz="2400" b="1" dirty="0" smtClean="0"/>
              <a:t>Containers </a:t>
            </a:r>
            <a:r>
              <a:rPr lang="en-US" sz="2400" b="1" dirty="0"/>
              <a:t>are preconfigured with one of several available runtimes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D0D4-07A6-47EE-A73D-D2085B926A0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17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standard environment makes it easy to build and deploy an application that runs reliably even under heavy load and with large amounts of data.</a:t>
            </a:r>
          </a:p>
          <a:p>
            <a:r>
              <a:rPr lang="en-US" sz="2400" dirty="0"/>
              <a:t>Applications run in a secure, sandboxed </a:t>
            </a:r>
            <a:r>
              <a:rPr lang="en-US" sz="2400" dirty="0" smtClean="0"/>
              <a:t>environment. </a:t>
            </a:r>
            <a:r>
              <a:rPr lang="en-US" sz="2400" dirty="0"/>
              <a:t>Your application runs within its own secure, reliable environment that is independent of the hardware, operating system, or physical location of the server.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D0D4-07A6-47EE-A73D-D2085B926A0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2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Instance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The </a:t>
            </a:r>
            <a:r>
              <a:rPr lang="en-US" sz="2400" b="1" i="1" dirty="0" smtClean="0"/>
              <a:t>instance class</a:t>
            </a:r>
            <a:r>
              <a:rPr lang="en-US" sz="2400" b="1" dirty="0" smtClean="0"/>
              <a:t> determines the amount of memory and CPU available to each instance, the amount of free quota, and the cost per hour after your app exceeds the free quota.</a:t>
            </a:r>
          </a:p>
          <a:p>
            <a:endParaRPr lang="en-US" sz="2400" dirty="0" smtClean="0"/>
          </a:p>
          <a:p>
            <a:r>
              <a:rPr lang="en-US" sz="2400" b="1" dirty="0" smtClean="0"/>
              <a:t>For </a:t>
            </a:r>
            <a:r>
              <a:rPr lang="en-US" sz="2400" b="1" dirty="0"/>
              <a:t>all runtime generations, the memory limit includes the memory your app uses along with the memory that the runtime itself needs to run your app.</a:t>
            </a:r>
            <a:r>
              <a:rPr lang="en-US" sz="2400" dirty="0"/>
              <a:t>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dirty="0"/>
              <a:t>Java runtimes use more memory to run your app than other runtimes.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D0D4-07A6-47EE-A73D-D2085B926A0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9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Instance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The </a:t>
            </a:r>
            <a:r>
              <a:rPr lang="en-US" sz="2400" b="1" i="1" dirty="0" smtClean="0"/>
              <a:t>instance class</a:t>
            </a:r>
            <a:r>
              <a:rPr lang="en-US" sz="2400" b="1" dirty="0" smtClean="0"/>
              <a:t>es-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D0D4-07A6-47EE-A73D-D2085B926A0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21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122309"/>
            <a:ext cx="7358627" cy="3829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73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Lifecycle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App Engine standard environment runtimes use open source components that are maintained by their respective communities.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dirty="0"/>
              <a:t>runtimes are identified by their language version, for </a:t>
            </a:r>
            <a:r>
              <a:rPr lang="en-US" sz="2400" dirty="0" smtClean="0"/>
              <a:t>example</a:t>
            </a:r>
            <a:r>
              <a:rPr lang="en-US" sz="2400" dirty="0"/>
              <a:t>, Java 17, Python 3.10, and so forth.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2" y="4293096"/>
            <a:ext cx="9089499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26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Lifecycle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Google provides support for a runtime during General availability (GA). </a:t>
            </a:r>
            <a:endParaRPr lang="en-US" sz="2400" dirty="0" smtClean="0"/>
          </a:p>
          <a:p>
            <a:r>
              <a:rPr lang="en-US" sz="2400" dirty="0" smtClean="0"/>
              <a:t>During </a:t>
            </a:r>
            <a:r>
              <a:rPr lang="en-US" sz="2400" dirty="0"/>
              <a:t>this support window:</a:t>
            </a:r>
          </a:p>
          <a:p>
            <a:pPr lvl="1"/>
            <a:r>
              <a:rPr lang="en-US" sz="2400" dirty="0" smtClean="0"/>
              <a:t>Runtime </a:t>
            </a:r>
            <a:r>
              <a:rPr lang="en-US" sz="2400" dirty="0"/>
              <a:t>components are regularly updated with security and bug fixes.</a:t>
            </a:r>
          </a:p>
          <a:p>
            <a:pPr lvl="1"/>
            <a:r>
              <a:rPr lang="en-US" sz="2400" dirty="0"/>
              <a:t>To maintain stability, App Engine avoids implementing </a:t>
            </a:r>
            <a:r>
              <a:rPr lang="en-US" sz="2400" dirty="0" smtClean="0"/>
              <a:t>changes </a:t>
            </a:r>
            <a:r>
              <a:rPr lang="en-US" sz="2400" dirty="0"/>
              <a:t>into the runtime. Breaking changes will be announced in advance on the runtime-specific release notes.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23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150962"/>
            <a:ext cx="7607352" cy="144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891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Lifecycle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a language version is no longer actively maintained by the respective community, App Engine will also stop providing maintenance and support for that language runtime. 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24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150962"/>
            <a:ext cx="7607352" cy="144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590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Lifecycle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Google may make changes to any runtime's support schedule or lifecycle in accordance with the terms of your agreement for the use of Google Cloud platform services.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25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828249"/>
            <a:ext cx="7488832" cy="3479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689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Lifecycle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Before a runtime reaches the end of support phase as described in the runtimes support schedule, Google will provide a notification to customers.</a:t>
            </a:r>
            <a:endParaRPr lang="en-IN" sz="2400" dirty="0"/>
          </a:p>
          <a:p>
            <a:pPr marL="0" indent="0">
              <a:buNone/>
            </a:pPr>
            <a:r>
              <a:rPr lang="en-US" sz="2400" b="1" dirty="0" smtClean="0"/>
              <a:t>Notification </a:t>
            </a:r>
            <a:r>
              <a:rPr lang="en-US" sz="2400" b="1" dirty="0"/>
              <a:t>period</a:t>
            </a:r>
          </a:p>
          <a:p>
            <a:r>
              <a:rPr lang="en-US" sz="2400" dirty="0"/>
              <a:t>App Engine will begin issuing in-app notifications 90 days before the application reaches end of support. </a:t>
            </a:r>
            <a:endParaRPr lang="en-US" sz="2400" dirty="0" smtClean="0"/>
          </a:p>
          <a:p>
            <a:r>
              <a:rPr lang="en-US" sz="2400" dirty="0" smtClean="0"/>
              <a:t>Upon </a:t>
            </a:r>
            <a:r>
              <a:rPr lang="en-US" sz="2400" dirty="0"/>
              <a:t>notification, you should prepare to upgrade your application to a newer runtime that is supported in the standard environment.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24096"/>
            <a:ext cx="6696744" cy="127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015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 Of Support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runtime components reach the end of support date:</a:t>
            </a:r>
          </a:p>
          <a:p>
            <a:pPr lvl="1"/>
            <a:r>
              <a:rPr lang="en-US" sz="2400" dirty="0"/>
              <a:t>Google will no longer apply security updates or patches to components of the runtime environment.</a:t>
            </a:r>
          </a:p>
          <a:p>
            <a:pPr lvl="1"/>
            <a:r>
              <a:rPr lang="en-US" sz="2400" dirty="0"/>
              <a:t>Your application will continue to run and receive traffic.</a:t>
            </a:r>
          </a:p>
          <a:p>
            <a:pPr lvl="1"/>
            <a:r>
              <a:rPr lang="en-US" sz="2400" dirty="0"/>
              <a:t>You will no longer be able to create and/or update the application on the unsupported runtime.</a:t>
            </a:r>
          </a:p>
          <a:p>
            <a:pPr lvl="1"/>
            <a:r>
              <a:rPr lang="en-US" sz="2400" dirty="0"/>
              <a:t>Issues arising from the use of an unsupported runtime will not be eligible for technical </a:t>
            </a:r>
            <a:r>
              <a:rPr lang="en-US" sz="2400" dirty="0" smtClean="0"/>
              <a:t>support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27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24096"/>
            <a:ext cx="6696744" cy="127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76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 Of Support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certain cases, Google may permit your Organization to re-enable deployments in unsupported runtimes, subject to service specific terms and conditions. </a:t>
            </a:r>
            <a:endParaRPr lang="en-US" sz="2400" dirty="0" smtClean="0"/>
          </a:p>
          <a:p>
            <a:r>
              <a:rPr lang="en-US" sz="2400" dirty="0" smtClean="0"/>
              <a:t>Deployments </a:t>
            </a:r>
            <a:r>
              <a:rPr lang="en-US" sz="2400" dirty="0"/>
              <a:t>for legacy runtimes can be re-enabled using an organization policy.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28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24096"/>
            <a:ext cx="6696744" cy="127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284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Deprecated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Google allowed your Organization to re-enable deployments in an unsupported runtime, Google will remove that ability once the runtime is deprecated.</a:t>
            </a:r>
          </a:p>
          <a:p>
            <a:r>
              <a:rPr lang="en-US" sz="2400" dirty="0"/>
              <a:t>Where practicable, </a:t>
            </a:r>
            <a:r>
              <a:rPr lang="en-US" sz="2400" dirty="0" smtClean="0"/>
              <a:t>Google makes </a:t>
            </a:r>
            <a:r>
              <a:rPr lang="en-US" sz="2400" dirty="0"/>
              <a:t>reasonable efforts to notify you in advance of the deprecation by in-app notifications or other means.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29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24096"/>
            <a:ext cx="6696744" cy="127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544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Decommissioned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Applications that continue to use a decommissioned runtime may be disabled without further notice.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30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24096"/>
            <a:ext cx="6696744" cy="127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513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runtimes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C64F-23BC-466D-9650-368A626381C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628800"/>
            <a:ext cx="8316215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26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Sandboxing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To </a:t>
            </a:r>
            <a:r>
              <a:rPr lang="en-US" sz="2400" b="1" dirty="0"/>
              <a:t>provide the application </a:t>
            </a:r>
            <a:r>
              <a:rPr lang="en-US" sz="2400" b="1" dirty="0" smtClean="0"/>
              <a:t>environment </a:t>
            </a:r>
            <a:r>
              <a:rPr lang="en-US" sz="2400" b="1" dirty="0"/>
              <a:t>with an isolated and protected context in which it can execute </a:t>
            </a:r>
            <a:endParaRPr lang="en-US" sz="2400" b="1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without </a:t>
            </a:r>
            <a:r>
              <a:rPr lang="en-US" sz="2400" b="1" dirty="0">
                <a:solidFill>
                  <a:srgbClr val="FF0000"/>
                </a:solidFill>
              </a:rPr>
              <a:t>causing a threat to the server and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without </a:t>
            </a:r>
            <a:r>
              <a:rPr lang="en-US" sz="2400" b="1" dirty="0">
                <a:solidFill>
                  <a:srgbClr val="FF0000"/>
                </a:solidFill>
              </a:rPr>
              <a:t>being influenced by other applications.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dirty="0" smtClean="0"/>
          </a:p>
          <a:p>
            <a:r>
              <a:rPr lang="en-US" sz="2400" b="1" dirty="0" smtClean="0"/>
              <a:t>GAE </a:t>
            </a:r>
            <a:r>
              <a:rPr lang="en-US" sz="2400" b="1" dirty="0"/>
              <a:t>provides applications with a sandbox.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7B23E-D857-4554-A5EB-841330897CFC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64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Sandboxing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 smtClean="0"/>
              <a:t>The isolation metaphor is taken from the idea of children who do not play well together, so each is given their own sandbox to play in alone.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E5A37-4336-4CB4-9020-846A7AC8D64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27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Sandboxing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Currently, </a:t>
            </a:r>
            <a:r>
              <a:rPr lang="en-US" sz="2400" dirty="0" err="1"/>
              <a:t>AppEngine</a:t>
            </a:r>
            <a:r>
              <a:rPr lang="en-US" sz="2400" dirty="0"/>
              <a:t> </a:t>
            </a:r>
            <a:r>
              <a:rPr lang="en-US" sz="2400" b="1" dirty="0"/>
              <a:t>supports applications that are developed only with </a:t>
            </a:r>
            <a:r>
              <a:rPr lang="en-US" sz="2400" b="1" dirty="0" smtClean="0"/>
              <a:t>interpreted or managed languages</a:t>
            </a:r>
            <a:r>
              <a:rPr lang="en-US" sz="2400" b="1" dirty="0"/>
              <a:t>, which by design require a runtime </a:t>
            </a:r>
            <a:r>
              <a:rPr lang="en-US" sz="2400" dirty="0"/>
              <a:t>for translating their code into executable instructions. </a:t>
            </a:r>
            <a:endParaRPr lang="en-US" sz="2400" dirty="0" smtClean="0"/>
          </a:p>
          <a:p>
            <a:r>
              <a:rPr lang="en-US" sz="2400" dirty="0" smtClean="0"/>
              <a:t>Therefore</a:t>
            </a:r>
            <a:r>
              <a:rPr lang="en-US" sz="2400" dirty="0"/>
              <a:t>, </a:t>
            </a:r>
            <a:r>
              <a:rPr lang="en-US" sz="2400" b="1" dirty="0"/>
              <a:t>sandboxing is achieved by means of </a:t>
            </a:r>
            <a:r>
              <a:rPr lang="en-US" sz="2400" b="1" dirty="0">
                <a:solidFill>
                  <a:srgbClr val="FF0000"/>
                </a:solidFill>
              </a:rPr>
              <a:t>modified runtimes for applications that disable some of the common features normally available with their default implementations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68BB-1567-4169-B698-E766A96C2E2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44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Sandboxing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If </a:t>
            </a:r>
            <a:r>
              <a:rPr lang="en-US" sz="2400" dirty="0"/>
              <a:t>an </a:t>
            </a:r>
            <a:r>
              <a:rPr lang="en-US" sz="2400" dirty="0" smtClean="0"/>
              <a:t>application </a:t>
            </a:r>
            <a:r>
              <a:rPr lang="en-US" sz="2400" dirty="0"/>
              <a:t>tries to perform any operation that is considered potentially harmful, </a:t>
            </a:r>
            <a:r>
              <a:rPr lang="en-US" sz="2400" b="1" dirty="0"/>
              <a:t>an exception is thrown and the execution is interrupted.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0A458-0242-46AB-B4C4-B30EF6F107DD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66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Sandboxing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Some </a:t>
            </a:r>
            <a:r>
              <a:rPr lang="en-US" sz="2400" dirty="0"/>
              <a:t>of the operations that are not allowed in the sandbox include </a:t>
            </a:r>
            <a:endParaRPr lang="en-US" sz="2400" dirty="0" smtClean="0"/>
          </a:p>
          <a:p>
            <a:r>
              <a:rPr lang="en-US" sz="2400" b="1" dirty="0" smtClean="0"/>
              <a:t>writing </a:t>
            </a:r>
            <a:r>
              <a:rPr lang="en-US" sz="2400" b="1" dirty="0"/>
              <a:t>to the server’s file </a:t>
            </a:r>
            <a:r>
              <a:rPr lang="en-US" sz="2400" b="1" dirty="0" smtClean="0"/>
              <a:t>system</a:t>
            </a:r>
          </a:p>
          <a:p>
            <a:r>
              <a:rPr lang="en-US" sz="2400" b="1" dirty="0" smtClean="0"/>
              <a:t>accessing </a:t>
            </a:r>
            <a:r>
              <a:rPr lang="en-US" sz="2400" b="1" dirty="0"/>
              <a:t>computer through network besides using </a:t>
            </a:r>
            <a:r>
              <a:rPr lang="en-US" sz="2400" b="1" dirty="0" err="1" smtClean="0"/>
              <a:t>Mail,UrlFetch</a:t>
            </a:r>
            <a:r>
              <a:rPr lang="en-US" sz="2400" b="1" dirty="0"/>
              <a:t>, and </a:t>
            </a:r>
            <a:r>
              <a:rPr lang="en-US" sz="2400" b="1" dirty="0" smtClean="0"/>
              <a:t>XMPP(</a:t>
            </a:r>
            <a:r>
              <a:rPr lang="en-US" sz="2400" dirty="0"/>
              <a:t>Extensible Messaging and Presence </a:t>
            </a:r>
            <a:r>
              <a:rPr lang="en-US" sz="2400" dirty="0" smtClean="0"/>
              <a:t>Protocol)</a:t>
            </a:r>
            <a:endParaRPr lang="en-US" sz="2400" b="1" dirty="0" smtClean="0"/>
          </a:p>
          <a:p>
            <a:r>
              <a:rPr lang="en-US" sz="2400" b="1" dirty="0" smtClean="0"/>
              <a:t>executing </a:t>
            </a:r>
            <a:r>
              <a:rPr lang="en-US" sz="2400" b="1" dirty="0"/>
              <a:t>code outside the scope of a </a:t>
            </a:r>
            <a:r>
              <a:rPr lang="en-US" sz="2400" b="1" dirty="0" smtClean="0"/>
              <a:t>request</a:t>
            </a:r>
          </a:p>
          <a:p>
            <a:r>
              <a:rPr lang="en-US" sz="2400" b="1" dirty="0" smtClean="0"/>
              <a:t>a </a:t>
            </a:r>
            <a:r>
              <a:rPr lang="en-US" sz="2400" b="1" dirty="0"/>
              <a:t>queued </a:t>
            </a:r>
            <a:r>
              <a:rPr lang="en-US" sz="2400" b="1" dirty="0" smtClean="0"/>
              <a:t>task</a:t>
            </a:r>
          </a:p>
          <a:p>
            <a:r>
              <a:rPr lang="en-US" sz="2400" b="1" dirty="0" smtClean="0"/>
              <a:t>processing </a:t>
            </a:r>
            <a:r>
              <a:rPr lang="en-US" sz="2400" b="1" dirty="0"/>
              <a:t>a request for more than 30 seconds.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2F67-ECE1-4955-8CE4-18C9F57D24B5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85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AppEngine</a:t>
            </a:r>
            <a:r>
              <a:rPr lang="en-US" sz="2400" dirty="0"/>
              <a:t> provides </a:t>
            </a:r>
            <a:r>
              <a:rPr lang="en-US" sz="2400" b="1" dirty="0"/>
              <a:t>various types of storage, which operate differently depending on the volatility of the data. </a:t>
            </a:r>
            <a:endParaRPr lang="en-US" sz="2400" b="1" dirty="0" smtClean="0"/>
          </a:p>
          <a:p>
            <a:r>
              <a:rPr lang="en-US" sz="2400" dirty="0" smtClean="0"/>
              <a:t>There </a:t>
            </a:r>
            <a:r>
              <a:rPr lang="en-US" sz="2400" dirty="0"/>
              <a:t>are three different levels of storage: </a:t>
            </a:r>
            <a:r>
              <a:rPr lang="en-US" sz="2400" dirty="0" smtClean="0"/>
              <a:t>in </a:t>
            </a:r>
            <a:r>
              <a:rPr lang="en-US" sz="2400" dirty="0"/>
              <a:t>memory-cache, storage for </a:t>
            </a:r>
            <a:r>
              <a:rPr lang="en-US" sz="2400" dirty="0" err="1"/>
              <a:t>semistructured</a:t>
            </a:r>
            <a:r>
              <a:rPr lang="en-US" sz="2400" dirty="0"/>
              <a:t> data, and long-term storage for static data.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3558-465F-42DE-B44D-1FE96C775DE1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3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file servers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Web </a:t>
            </a:r>
            <a:r>
              <a:rPr lang="en-US" sz="2400" dirty="0"/>
              <a:t>applications are composed of dynamic and static data. </a:t>
            </a:r>
            <a:endParaRPr lang="en-US" sz="2400" dirty="0" smtClean="0"/>
          </a:p>
          <a:p>
            <a:r>
              <a:rPr lang="en-US" sz="2400" dirty="0" smtClean="0"/>
              <a:t>Dynamic </a:t>
            </a:r>
            <a:r>
              <a:rPr lang="en-US" sz="2400" dirty="0"/>
              <a:t>data are a result of the logic of the application and the interaction with the user. 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A39B7-A860-42B7-BEF0-233E437E5164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25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file servers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Static </a:t>
            </a:r>
            <a:r>
              <a:rPr lang="en-US" sz="2400" dirty="0"/>
              <a:t>data often are mostly constituted of the </a:t>
            </a:r>
            <a:r>
              <a:rPr lang="en-US" sz="2400" b="1" dirty="0"/>
              <a:t>components that define the graphical layout of the application (CSS files, plain HTML files, JavaScript files, images, icons, and sound files) or data files. </a:t>
            </a:r>
            <a:endParaRPr lang="en-US" sz="2400" b="1" dirty="0" smtClean="0"/>
          </a:p>
          <a:p>
            <a:r>
              <a:rPr lang="en-US" sz="2400" dirty="0" smtClean="0"/>
              <a:t>These </a:t>
            </a:r>
            <a:r>
              <a:rPr lang="en-US" sz="2400" dirty="0"/>
              <a:t>files </a:t>
            </a:r>
            <a:r>
              <a:rPr lang="en-US" sz="2400" b="1" dirty="0"/>
              <a:t>can be hosted on static file servers, since they are not frequently modified. 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A39B7-A860-42B7-BEF0-233E437E5164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1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Google Cloud Platform 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err="1" smtClean="0"/>
              <a:t>Datastore</a:t>
            </a:r>
            <a:endParaRPr lang="en-IN" sz="2400" b="1" dirty="0" smtClean="0"/>
          </a:p>
          <a:p>
            <a:r>
              <a:rPr lang="en-US" sz="2400" dirty="0" err="1"/>
              <a:t>Datastore</a:t>
            </a:r>
            <a:r>
              <a:rPr lang="en-US" sz="2400" dirty="0"/>
              <a:t> is a highly scalable </a:t>
            </a:r>
            <a:r>
              <a:rPr lang="en-US" sz="2400" dirty="0" err="1"/>
              <a:t>NoSQL</a:t>
            </a:r>
            <a:r>
              <a:rPr lang="en-US" sz="2400" dirty="0"/>
              <a:t> database for your web and mobile applications</a:t>
            </a:r>
            <a:r>
              <a:rPr lang="en-US" sz="2400" dirty="0" smtClean="0"/>
              <a:t>.</a:t>
            </a:r>
          </a:p>
          <a:p>
            <a:r>
              <a:rPr lang="en-US" sz="2400" b="1" dirty="0" err="1"/>
              <a:t>Datastore</a:t>
            </a:r>
            <a:r>
              <a:rPr lang="en-US" sz="2400" b="1" dirty="0"/>
              <a:t> automatically handles </a:t>
            </a:r>
            <a:r>
              <a:rPr lang="en-US" sz="2400" b="1" dirty="0" err="1"/>
              <a:t>sharding</a:t>
            </a:r>
            <a:r>
              <a:rPr lang="en-US" sz="2400" b="1" dirty="0"/>
              <a:t> and replication, </a:t>
            </a:r>
            <a:r>
              <a:rPr lang="en-US" sz="2400" dirty="0"/>
              <a:t>providing you with a highly available and durable database that scales automatically to handle your applications' load. </a:t>
            </a:r>
            <a:endParaRPr lang="en-US" sz="2400" dirty="0" smtClean="0"/>
          </a:p>
          <a:p>
            <a:r>
              <a:rPr lang="en-US" sz="2400" dirty="0" err="1" smtClean="0"/>
              <a:t>Datastore</a:t>
            </a:r>
            <a:r>
              <a:rPr lang="en-US" sz="2400" dirty="0" smtClean="0"/>
              <a:t> </a:t>
            </a:r>
            <a:r>
              <a:rPr lang="en-US" sz="2400" dirty="0"/>
              <a:t>provides a </a:t>
            </a:r>
            <a:r>
              <a:rPr lang="en-US" sz="2400" b="1" dirty="0"/>
              <a:t>myriad of capabilities such as ACID transactions,</a:t>
            </a:r>
            <a:r>
              <a:rPr lang="en-US" sz="2400" dirty="0"/>
              <a:t> SQL-like queries, indexes, and much more.</a:t>
            </a:r>
          </a:p>
        </p:txBody>
      </p:sp>
      <p:sp>
        <p:nvSpPr>
          <p:cNvPr id="4" name="AutoShape 2" descr="Google Compute Engine icon in Color Sty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2" descr="Managing SQL Database on Google Cloud - Analytics Vidhy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Managing SQL Database on Google Cloud - Analytics Vidhy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869160"/>
            <a:ext cx="30289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109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DataStore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Use </a:t>
            </a:r>
            <a:r>
              <a:rPr lang="en-US" sz="2400" dirty="0"/>
              <a:t>a managed, </a:t>
            </a:r>
            <a:r>
              <a:rPr lang="en-US" sz="2400" dirty="0" err="1"/>
              <a:t>NoSQL</a:t>
            </a:r>
            <a:r>
              <a:rPr lang="en-US" sz="2400" dirty="0"/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schemaless</a:t>
            </a:r>
            <a:r>
              <a:rPr lang="en-US" sz="2400" b="1" dirty="0">
                <a:solidFill>
                  <a:srgbClr val="FF0000"/>
                </a:solidFill>
              </a:rPr>
              <a:t> database for storing non-relational data.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Cloud </a:t>
            </a:r>
            <a:r>
              <a:rPr lang="en-US" sz="2400" dirty="0" err="1"/>
              <a:t>Datastore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automatically scales as you need it and supports transactions as well as robust, SQL-like </a:t>
            </a:r>
            <a:r>
              <a:rPr lang="en-US" sz="2400" b="1" dirty="0" smtClean="0">
                <a:solidFill>
                  <a:srgbClr val="FF0000"/>
                </a:solidFill>
              </a:rPr>
              <a:t>queries-GQL(Graph Query Language)</a:t>
            </a:r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underlying infrastructure of </a:t>
            </a:r>
            <a:r>
              <a:rPr lang="en-US" sz="2400" b="1" dirty="0" err="1"/>
              <a:t>DataStore</a:t>
            </a:r>
            <a:r>
              <a:rPr lang="en-US" sz="2400" b="1" dirty="0"/>
              <a:t> is based on </a:t>
            </a:r>
            <a:r>
              <a:rPr lang="en-US" sz="2400" b="1" dirty="0" err="1"/>
              <a:t>Bigtable</a:t>
            </a:r>
            <a:r>
              <a:rPr lang="en-US" sz="2400" b="1" dirty="0"/>
              <a:t> , a redundant, distributed, and </a:t>
            </a:r>
            <a:r>
              <a:rPr lang="en-US" sz="2400" b="1" dirty="0" err="1"/>
              <a:t>semistructured</a:t>
            </a:r>
            <a:r>
              <a:rPr lang="en-US" sz="2400" b="1" dirty="0"/>
              <a:t> data store that organizes data in the form of tables</a:t>
            </a:r>
          </a:p>
          <a:p>
            <a:endParaRPr lang="en-US" sz="2400" b="1" dirty="0"/>
          </a:p>
          <a:p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4B16-EB24-43F1-B6A6-CB1743725657}" type="datetime1">
              <a:rPr lang="en-IN" smtClean="0"/>
              <a:t>17-03-2026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2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MemCache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AppEngine</a:t>
            </a:r>
            <a:r>
              <a:rPr lang="en-US" sz="2400" dirty="0"/>
              <a:t> provides caching services by means of </a:t>
            </a:r>
            <a:r>
              <a:rPr lang="en-US" sz="2400" dirty="0" err="1"/>
              <a:t>MemCache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is a distributed in-memory cache that is optimized for fast access and provides developers with </a:t>
            </a:r>
            <a:r>
              <a:rPr lang="en-US" sz="2400" b="1" dirty="0">
                <a:solidFill>
                  <a:srgbClr val="FF0000"/>
                </a:solidFill>
              </a:rPr>
              <a:t>a volatile store </a:t>
            </a:r>
            <a:r>
              <a:rPr lang="en-US" sz="2400" b="1" dirty="0"/>
              <a:t>for the objects that are frequently accessed.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b="1" dirty="0" smtClean="0"/>
              <a:t>The </a:t>
            </a:r>
            <a:r>
              <a:rPr lang="en-US" sz="2400" b="1" dirty="0"/>
              <a:t>caching algorithm implemented by </a:t>
            </a:r>
            <a:r>
              <a:rPr lang="en-US" sz="2400" b="1" dirty="0" err="1"/>
              <a:t>MemCache</a:t>
            </a:r>
            <a:r>
              <a:rPr lang="en-US" sz="2400" b="1" dirty="0"/>
              <a:t> will </a:t>
            </a:r>
            <a:r>
              <a:rPr lang="en-US" sz="2400" b="1" dirty="0">
                <a:solidFill>
                  <a:srgbClr val="FF0000"/>
                </a:solidFill>
              </a:rPr>
              <a:t>automatically remove the objects that are rarely accessed. </a:t>
            </a:r>
            <a:endParaRPr lang="en-US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F18FB-17EC-4444-8A24-46DF01FACA6A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77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MemCache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use of </a:t>
            </a:r>
            <a:r>
              <a:rPr lang="en-US" sz="2400" dirty="0" err="1"/>
              <a:t>MemCache</a:t>
            </a:r>
            <a:r>
              <a:rPr lang="en-US" sz="2400" dirty="0"/>
              <a:t> can significantly </a:t>
            </a:r>
            <a:r>
              <a:rPr lang="en-US" sz="2400" b="1" dirty="0"/>
              <a:t>reduce the access time to data; </a:t>
            </a:r>
            <a:endParaRPr lang="en-US" sz="2400" b="1" dirty="0" smtClean="0"/>
          </a:p>
          <a:p>
            <a:r>
              <a:rPr lang="en-US" sz="2400" dirty="0" smtClean="0"/>
              <a:t>Developers </a:t>
            </a:r>
            <a:r>
              <a:rPr lang="en-US" sz="2400" dirty="0"/>
              <a:t>can structure their applications so that </a:t>
            </a:r>
            <a:r>
              <a:rPr lang="en-US" sz="2400" b="1" dirty="0" smtClean="0">
                <a:solidFill>
                  <a:srgbClr val="FF0000"/>
                </a:solidFill>
              </a:rPr>
              <a:t>each </a:t>
            </a:r>
            <a:r>
              <a:rPr lang="en-US" sz="2400" b="1" dirty="0">
                <a:solidFill>
                  <a:srgbClr val="FF0000"/>
                </a:solidFill>
              </a:rPr>
              <a:t>object is first looked up into </a:t>
            </a:r>
            <a:r>
              <a:rPr lang="en-US" sz="2400" b="1" dirty="0" err="1">
                <a:solidFill>
                  <a:srgbClr val="FF0000"/>
                </a:solidFill>
              </a:rPr>
              <a:t>MemCache</a:t>
            </a:r>
            <a:r>
              <a:rPr lang="en-US" sz="2400" b="1" dirty="0">
                <a:solidFill>
                  <a:srgbClr val="FF0000"/>
                </a:solidFill>
              </a:rPr>
              <a:t> and if there is a miss, it will be retrieved from </a:t>
            </a:r>
            <a:r>
              <a:rPr lang="en-US" sz="2400" b="1" dirty="0" err="1">
                <a:solidFill>
                  <a:srgbClr val="FF0000"/>
                </a:solidFill>
              </a:rPr>
              <a:t>DataStore</a:t>
            </a:r>
            <a:r>
              <a:rPr lang="en-US" sz="2400" b="1" dirty="0">
                <a:solidFill>
                  <a:srgbClr val="FF0000"/>
                </a:solidFill>
              </a:rPr>
              <a:t> and put into the cache for future lookups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F86-0E43-44F6-A146-6B8B9FAB9865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44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Mail and instant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facilitate the implementation of such tasks, </a:t>
            </a:r>
            <a:r>
              <a:rPr lang="en-US" sz="2400" dirty="0" err="1"/>
              <a:t>AppEngine</a:t>
            </a:r>
            <a:r>
              <a:rPr lang="en-US" sz="2400" dirty="0"/>
              <a:t> provides developers with the ability to send and receive mails through </a:t>
            </a:r>
            <a:r>
              <a:rPr lang="en-US" sz="2400" b="1" dirty="0"/>
              <a:t>Mail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service </a:t>
            </a:r>
            <a:r>
              <a:rPr lang="en-US" sz="2400" b="1" dirty="0"/>
              <a:t>allows sending email on behalf of the application to specific user accounts. </a:t>
            </a:r>
            <a:endParaRPr lang="en-US" sz="2400" b="1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also possible to include several types of attachments and to target multiple recipients. </a:t>
            </a:r>
            <a:endParaRPr lang="en-US" sz="2400" dirty="0" smtClean="0"/>
          </a:p>
          <a:p>
            <a:r>
              <a:rPr lang="en-US" sz="2400" dirty="0" smtClean="0"/>
              <a:t>Mail </a:t>
            </a:r>
            <a:r>
              <a:rPr lang="en-US" sz="2400" dirty="0"/>
              <a:t>operates asynchronously, and </a:t>
            </a:r>
            <a:r>
              <a:rPr lang="en-US" sz="2400" b="1" dirty="0"/>
              <a:t>in case of failed delivery the sending address is notified through an email detailing the error.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DFD0-AE7F-4B04-B76F-08C435FD9F98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87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XMPP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/>
              <a:t>AppEngine</a:t>
            </a:r>
            <a:r>
              <a:rPr lang="en-US" sz="2400" dirty="0"/>
              <a:t> provides also another way to communicate with the external </a:t>
            </a:r>
            <a:r>
              <a:rPr lang="en-US" sz="2400" dirty="0" smtClean="0"/>
              <a:t>world</a:t>
            </a:r>
          </a:p>
          <a:p>
            <a:r>
              <a:rPr lang="en-US" sz="2400" b="1" dirty="0" smtClean="0"/>
              <a:t>Extensible Messaging and Presence Protocol (XMPP). </a:t>
            </a:r>
          </a:p>
          <a:p>
            <a:r>
              <a:rPr lang="en-US" sz="2400" b="1" dirty="0"/>
              <a:t>XMPP is the open standard for </a:t>
            </a:r>
            <a:r>
              <a:rPr lang="en-US" sz="2400" b="1" dirty="0" smtClean="0"/>
              <a:t>instant messaging </a:t>
            </a:r>
            <a:r>
              <a:rPr lang="en-US" sz="2400" b="1" dirty="0"/>
              <a:t>and </a:t>
            </a:r>
            <a:r>
              <a:rPr lang="en-US" sz="2400" b="1" dirty="0" smtClean="0"/>
              <a:t>presence information.</a:t>
            </a:r>
          </a:p>
          <a:p>
            <a:r>
              <a:rPr lang="en-US" sz="2400" b="1" dirty="0" smtClean="0"/>
              <a:t> </a:t>
            </a:r>
            <a:r>
              <a:rPr lang="en-US" sz="2400" dirty="0" smtClean="0"/>
              <a:t>XMPP </a:t>
            </a:r>
            <a:r>
              <a:rPr lang="en-US" sz="2400" dirty="0"/>
              <a:t>is based on XML (Extensible Markup Language). 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D00D4-B7CA-46A3-8D82-FC1609F8FBF0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8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XMPP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set of open technologies for </a:t>
            </a:r>
            <a:r>
              <a:rPr lang="en-US" sz="2400" b="1" dirty="0"/>
              <a:t>instant messaging, presence, multi-party chat, voice and video calls</a:t>
            </a:r>
            <a:r>
              <a:rPr lang="en-US" sz="2400" dirty="0"/>
              <a:t>, collaboration, lightweight middleware, content syndication, and </a:t>
            </a:r>
            <a:r>
              <a:rPr lang="en-US" sz="2400" b="1" dirty="0"/>
              <a:t>generalized routing of XML data.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D00D4-B7CA-46A3-8D82-FC1609F8FBF0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5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XMPP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Any </a:t>
            </a:r>
            <a:r>
              <a:rPr lang="en-US" sz="2400" dirty="0"/>
              <a:t>chat service that supports XMPP, such as Google Talk, </a:t>
            </a:r>
            <a:r>
              <a:rPr lang="en-US" sz="2400" b="1" dirty="0">
                <a:solidFill>
                  <a:srgbClr val="FF0000"/>
                </a:solidFill>
              </a:rPr>
              <a:t>can send and receive chat messages to and from the Web application,</a:t>
            </a:r>
            <a:r>
              <a:rPr lang="en-US" sz="2400" dirty="0"/>
              <a:t> which is identified by its own address. </a:t>
            </a:r>
            <a:endParaRPr lang="en-US" sz="2400" dirty="0" smtClean="0"/>
          </a:p>
          <a:p>
            <a:r>
              <a:rPr lang="en-US" sz="2400" dirty="0" smtClean="0"/>
              <a:t>Even </a:t>
            </a:r>
            <a:r>
              <a:rPr lang="en-US" sz="2400" dirty="0"/>
              <a:t>though the chat is a communication medium mostly used for human </a:t>
            </a:r>
            <a:r>
              <a:rPr lang="en-US" sz="2400" dirty="0" smtClean="0"/>
              <a:t>interactions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0000"/>
                </a:solidFill>
              </a:rPr>
              <a:t>XMPP can be conveniently used to connect the Web application with chat bots</a:t>
            </a:r>
            <a:r>
              <a:rPr lang="en-US" sz="2400" dirty="0"/>
              <a:t> or to </a:t>
            </a:r>
            <a:r>
              <a:rPr lang="en-US" sz="2400" dirty="0" err="1"/>
              <a:t>implement</a:t>
            </a:r>
            <a:r>
              <a:rPr lang="en-US" sz="2400" dirty="0"/>
              <a:t> a small administrative console.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D00D4-B7CA-46A3-8D82-FC1609F8FBF0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26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Account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Web applications often keep various data that customize their interaction with users. </a:t>
            </a:r>
          </a:p>
          <a:p>
            <a:r>
              <a:rPr lang="en-US" sz="2400" dirty="0" smtClean="0"/>
              <a:t>These data normally go under the user profile and are attached to an account.</a:t>
            </a:r>
          </a:p>
          <a:p>
            <a:r>
              <a:rPr lang="en-US" sz="2400" dirty="0" err="1" smtClean="0"/>
              <a:t>AppEngine</a:t>
            </a:r>
            <a:r>
              <a:rPr lang="en-US" sz="2400" dirty="0" smtClean="0"/>
              <a:t> simplifies account management by allowing </a:t>
            </a:r>
            <a:r>
              <a:rPr lang="en-US" sz="2400" b="1" dirty="0" smtClean="0"/>
              <a:t>developers to leverage Google account management by means of Google Accounts.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FDC3-B9A0-44DF-A3F6-8C06AAB3A3FC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40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Account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Google Accounts, </a:t>
            </a:r>
            <a:r>
              <a:rPr lang="en-US" sz="2400" b="1" dirty="0"/>
              <a:t>Web applications can conveniently store profile settings in the form of key-value pairs, attach them to a given Google account</a:t>
            </a:r>
            <a:r>
              <a:rPr lang="en-US" sz="2400" dirty="0"/>
              <a:t>, and quickly retrieve them once the user authenticates. </a:t>
            </a:r>
            <a:endParaRPr lang="en-US" sz="2400" dirty="0" smtClean="0"/>
          </a:p>
          <a:p>
            <a:r>
              <a:rPr lang="en-US" sz="2400" dirty="0" smtClean="0"/>
              <a:t>With </a:t>
            </a:r>
            <a:r>
              <a:rPr lang="en-US" sz="2400" dirty="0"/>
              <a:t>respect to a custom solution, </a:t>
            </a:r>
            <a:r>
              <a:rPr lang="en-US" sz="2400" b="1" dirty="0"/>
              <a:t>the use of Google Accounts requires users to have a Google account, but it does not require any further implementation.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5E2E-E2FE-4C51-8489-B2B7F5FDCC72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91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Account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use of Google Accounts is particularly </a:t>
            </a:r>
            <a:r>
              <a:rPr lang="en-US" sz="2400" b="1" dirty="0"/>
              <a:t>advantageous for developing Web applications within a corporate environment using Google Apps.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this case, the applications </a:t>
            </a:r>
            <a:r>
              <a:rPr lang="en-US" sz="2400" b="1" dirty="0"/>
              <a:t>can be easily integrated with all the other services (and profile settings) included in Google Apps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5411-8D39-43FA-A309-929714281EFE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68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manipulation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Web </a:t>
            </a:r>
            <a:r>
              <a:rPr lang="en-US" sz="2400" dirty="0"/>
              <a:t>applications render pages with graphics. Often simple operations, </a:t>
            </a:r>
            <a:r>
              <a:rPr lang="en-US" sz="2400" b="1" dirty="0"/>
              <a:t>such as adding watermarks or applying simple filters, are required. </a:t>
            </a:r>
            <a:endParaRPr lang="en-US" sz="2400" b="1" dirty="0" smtClean="0"/>
          </a:p>
          <a:p>
            <a:r>
              <a:rPr lang="en-US" sz="2400" dirty="0" err="1" smtClean="0"/>
              <a:t>AppEngine</a:t>
            </a:r>
            <a:r>
              <a:rPr lang="en-US" sz="2400" dirty="0" smtClean="0"/>
              <a:t> </a:t>
            </a:r>
            <a:r>
              <a:rPr lang="en-US" sz="2400" dirty="0"/>
              <a:t>allows applications to perform </a:t>
            </a:r>
            <a:r>
              <a:rPr lang="en-US" sz="2400" b="1" dirty="0"/>
              <a:t>image resizing, rotation, mirroring, and enhancement by means of Image Manipulation, a service that is also used in other Google products. </a:t>
            </a:r>
            <a:endParaRPr lang="en-US" sz="2400" b="1" dirty="0" smtClean="0"/>
          </a:p>
          <a:p>
            <a:r>
              <a:rPr lang="en-US" sz="2400" dirty="0" smtClean="0"/>
              <a:t>Image </a:t>
            </a:r>
            <a:r>
              <a:rPr lang="en-US" sz="2400" dirty="0"/>
              <a:t>Manipulation is mostly designed for lightweight image processing and is optimized for speed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E597-5EEF-40A7-BFED-B119CA5E586F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56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Google App Engine (GAE)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" r="3532" b="6616"/>
          <a:stretch>
            <a:fillRect/>
          </a:stretch>
        </p:blipFill>
        <p:spPr bwMode="auto">
          <a:xfrm>
            <a:off x="395287" y="1556792"/>
            <a:ext cx="8497887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9CC0-B949-44CD-BE30-306B3518D6A6}" type="datetime1">
              <a:rPr lang="en-IN" smtClean="0"/>
              <a:t>17-03-2026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1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GAE </a:t>
            </a:r>
            <a:r>
              <a:rPr lang="en-IN" dirty="0" smtClean="0"/>
              <a:t>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10000"/>
          </a:bodyPr>
          <a:lstStyle/>
          <a:p>
            <a:r>
              <a:rPr lang="en-IN" dirty="0" smtClean="0"/>
              <a:t>Well-known </a:t>
            </a:r>
            <a:r>
              <a:rPr lang="en-IN" dirty="0"/>
              <a:t>GAE applications include the </a:t>
            </a:r>
            <a:r>
              <a:rPr lang="en-IN" dirty="0">
                <a:solidFill>
                  <a:schemeClr val="accent1"/>
                </a:solidFill>
              </a:rPr>
              <a:t>Google Search Engine, Google Docs, Google Earth, </a:t>
            </a:r>
            <a:r>
              <a:rPr lang="en-IN" dirty="0" smtClean="0">
                <a:solidFill>
                  <a:schemeClr val="accent1"/>
                </a:solidFill>
              </a:rPr>
              <a:t>and Gmail</a:t>
            </a:r>
            <a:r>
              <a:rPr lang="en-IN" dirty="0">
                <a:solidFill>
                  <a:schemeClr val="accent1"/>
                </a:solidFill>
              </a:rPr>
              <a:t>. </a:t>
            </a:r>
            <a:endParaRPr lang="en-IN" dirty="0" smtClean="0">
              <a:solidFill>
                <a:schemeClr val="accent1"/>
              </a:solidFill>
            </a:endParaRPr>
          </a:p>
          <a:p>
            <a:r>
              <a:rPr lang="en-IN" dirty="0" smtClean="0"/>
              <a:t>These </a:t>
            </a:r>
            <a:r>
              <a:rPr lang="en-IN" dirty="0"/>
              <a:t>applications can support large numbers of users simultaneously</a:t>
            </a:r>
            <a:r>
              <a:rPr lang="en-IN" dirty="0" smtClean="0"/>
              <a:t>.</a:t>
            </a:r>
          </a:p>
          <a:p>
            <a:r>
              <a:rPr lang="en-IN" dirty="0" smtClean="0"/>
              <a:t>The </a:t>
            </a:r>
            <a:r>
              <a:rPr lang="en-IN" dirty="0">
                <a:solidFill>
                  <a:schemeClr val="accent1"/>
                </a:solidFill>
              </a:rPr>
              <a:t>applications are </a:t>
            </a:r>
            <a:r>
              <a:rPr lang="en-IN" dirty="0" smtClean="0">
                <a:solidFill>
                  <a:schemeClr val="accent1"/>
                </a:solidFill>
              </a:rPr>
              <a:t>all run </a:t>
            </a:r>
            <a:r>
              <a:rPr lang="en-IN" dirty="0">
                <a:solidFill>
                  <a:schemeClr val="accent1"/>
                </a:solidFill>
              </a:rPr>
              <a:t>in the Google data </a:t>
            </a:r>
            <a:r>
              <a:rPr lang="en-IN" dirty="0" err="1">
                <a:solidFill>
                  <a:schemeClr val="accent1"/>
                </a:solidFill>
              </a:rPr>
              <a:t>centers</a:t>
            </a:r>
            <a:r>
              <a:rPr lang="en-IN" dirty="0"/>
              <a:t>. Inside each data </a:t>
            </a:r>
            <a:r>
              <a:rPr lang="en-IN" dirty="0" err="1"/>
              <a:t>center</a:t>
            </a:r>
            <a:r>
              <a:rPr lang="en-IN" dirty="0"/>
              <a:t>, there might be thousands of server nodes </a:t>
            </a:r>
            <a:r>
              <a:rPr lang="en-IN" dirty="0" smtClean="0"/>
              <a:t>to form </a:t>
            </a:r>
            <a:r>
              <a:rPr lang="en-IN" dirty="0"/>
              <a:t>different clusters. </a:t>
            </a:r>
            <a:r>
              <a:rPr lang="en-IN" dirty="0" smtClean="0"/>
              <a:t>Each </a:t>
            </a:r>
            <a:r>
              <a:rPr lang="en-IN" dirty="0"/>
              <a:t>cluster can run multipurpose servers</a:t>
            </a:r>
            <a:r>
              <a:rPr lang="en-IN" dirty="0" smtClean="0"/>
              <a:t>.</a:t>
            </a:r>
          </a:p>
          <a:p>
            <a:r>
              <a:rPr lang="en-IN" dirty="0"/>
              <a:t>GAE also provides </a:t>
            </a:r>
            <a:r>
              <a:rPr lang="en-IN" dirty="0">
                <a:solidFill>
                  <a:schemeClr val="accent1"/>
                </a:solidFill>
              </a:rPr>
              <a:t>Google-specific services, such as the Gmail account service (which </a:t>
            </a:r>
            <a:r>
              <a:rPr lang="en-IN" dirty="0" smtClean="0">
                <a:solidFill>
                  <a:schemeClr val="accent1"/>
                </a:solidFill>
              </a:rPr>
              <a:t>is the </a:t>
            </a:r>
            <a:r>
              <a:rPr lang="en-IN" dirty="0">
                <a:solidFill>
                  <a:schemeClr val="accent1"/>
                </a:solidFill>
              </a:rPr>
              <a:t>login service, </a:t>
            </a:r>
            <a:r>
              <a:rPr lang="en-IN" dirty="0"/>
              <a:t>that is, applications can use the Gmail account directly).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5F12-633D-4621-A839-4DD962547450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17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Cron</a:t>
            </a:r>
            <a:r>
              <a:rPr lang="en-IN" dirty="0" smtClean="0"/>
              <a:t> Jobs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App Engine </a:t>
            </a:r>
            <a:r>
              <a:rPr lang="en-US" sz="2400" dirty="0" err="1"/>
              <a:t>Cron</a:t>
            </a:r>
            <a:r>
              <a:rPr lang="en-US" sz="2400" dirty="0"/>
              <a:t> Service </a:t>
            </a:r>
            <a:r>
              <a:rPr lang="en-US" sz="2400" b="1" dirty="0"/>
              <a:t>allows you to configure </a:t>
            </a:r>
            <a:r>
              <a:rPr lang="en-US" sz="2400" b="1" dirty="0" smtClean="0"/>
              <a:t>scheduled </a:t>
            </a:r>
            <a:r>
              <a:rPr lang="en-US" sz="2400" b="1" dirty="0"/>
              <a:t>tasks that operate at defined times or regular intervals.</a:t>
            </a:r>
            <a:r>
              <a:rPr lang="en-US" sz="2400" dirty="0"/>
              <a:t> These tasks are commonly known as </a:t>
            </a:r>
            <a:r>
              <a:rPr lang="en-US" sz="2400" dirty="0" err="1"/>
              <a:t>cron</a:t>
            </a:r>
            <a:r>
              <a:rPr lang="en-US" sz="2400" dirty="0"/>
              <a:t> jobs. </a:t>
            </a:r>
            <a:endParaRPr lang="en-US" sz="2400" dirty="0" smtClean="0"/>
          </a:p>
          <a:p>
            <a:r>
              <a:rPr lang="en-US" sz="2400" b="1" dirty="0" smtClean="0"/>
              <a:t>These </a:t>
            </a:r>
            <a:r>
              <a:rPr lang="en-US" sz="2400" b="1" dirty="0" err="1"/>
              <a:t>cron</a:t>
            </a:r>
            <a:r>
              <a:rPr lang="en-US" sz="2400" b="1" dirty="0"/>
              <a:t> jobs are automatically triggered by the App Engine </a:t>
            </a:r>
            <a:r>
              <a:rPr lang="en-US" sz="2400" b="1" dirty="0" err="1"/>
              <a:t>Cron</a:t>
            </a:r>
            <a:r>
              <a:rPr lang="en-US" sz="2400" b="1" dirty="0"/>
              <a:t> Service. </a:t>
            </a:r>
            <a:endParaRPr lang="en-US" sz="2400" b="1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instance, you might use this to send out a report email on a daily basis, to update some cached data every 10 minutes, or to update some summary information once an hour.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D0D4-07A6-47EE-A73D-D2085B926A0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0491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Urlfetch</a:t>
            </a:r>
            <a:r>
              <a:rPr lang="en-IN" dirty="0" smtClean="0"/>
              <a:t> Service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This service allows scripts to access other resources on the web by fetching URLs. </a:t>
            </a:r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dirty="0"/>
              <a:t>script can use the </a:t>
            </a:r>
            <a:r>
              <a:rPr lang="en-US" sz="2400" dirty="0" err="1"/>
              <a:t>UrlFetch</a:t>
            </a:r>
            <a:r>
              <a:rPr lang="en-US" sz="2400" dirty="0"/>
              <a:t> service to issue HTTP and HTTPS requests and receive responses.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 err="1"/>
              <a:t>UrlFetch</a:t>
            </a:r>
            <a:r>
              <a:rPr lang="en-US" sz="2400" dirty="0"/>
              <a:t> service uses Google's network infrastructure for efficiency and scaling purposes</a:t>
            </a:r>
            <a:r>
              <a:rPr lang="en-US" sz="2400" dirty="0" smtClean="0"/>
              <a:t>.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0D0D4-07A6-47EE-A73D-D2085B926A0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BFE8F-3660-418B-A829-43CC6A39FCD6}" type="slidenum">
              <a:rPr lang="en-IN" smtClean="0"/>
              <a:t>55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3060"/>
              </p:ext>
            </p:extLst>
          </p:nvPr>
        </p:nvGraphicFramePr>
        <p:xfrm>
          <a:off x="683568" y="4005064"/>
          <a:ext cx="7920883" cy="2040703"/>
        </p:xfrm>
        <a:graphic>
          <a:graphicData uri="http://schemas.openxmlformats.org/drawingml/2006/table">
            <a:tbl>
              <a:tblPr/>
              <a:tblGrid>
                <a:gridCol w="2075799"/>
                <a:gridCol w="5845084"/>
              </a:tblGrid>
              <a:tr h="296496">
                <a:tc>
                  <a:txBody>
                    <a:bodyPr/>
                    <a:lstStyle/>
                    <a:p>
                      <a:pPr algn="l" fontAlgn="ctr"/>
                      <a:r>
                        <a:rPr lang="en-IN" b="0" dirty="0" smtClean="0">
                          <a:solidFill>
                            <a:srgbClr val="202124"/>
                          </a:solidFill>
                          <a:effectLst/>
                          <a:latin typeface="Roboto"/>
                        </a:rPr>
                        <a:t>Class</a:t>
                      </a:r>
                      <a:r>
                        <a:rPr lang="en-IN" b="0" baseline="0" dirty="0" smtClean="0">
                          <a:solidFill>
                            <a:srgbClr val="202124"/>
                          </a:solidFill>
                          <a:effectLst/>
                          <a:latin typeface="Roboto"/>
                        </a:rPr>
                        <a:t> </a:t>
                      </a:r>
                      <a:r>
                        <a:rPr lang="en-IN" b="0" dirty="0" smtClean="0">
                          <a:solidFill>
                            <a:srgbClr val="202124"/>
                          </a:solidFill>
                          <a:effectLst/>
                          <a:latin typeface="Roboto"/>
                        </a:rPr>
                        <a:t>Name</a:t>
                      </a:r>
                      <a:endParaRPr lang="en-IN" b="0" dirty="0">
                        <a:solidFill>
                          <a:srgbClr val="202124"/>
                        </a:solidFill>
                        <a:effectLst/>
                        <a:latin typeface="Roboto"/>
                      </a:endParaRP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b="0">
                          <a:solidFill>
                            <a:srgbClr val="202124"/>
                          </a:solidFill>
                          <a:effectLst/>
                          <a:latin typeface="Roboto"/>
                        </a:rPr>
                        <a:t>Brief description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0572">
                <a:tc>
                  <a:txBody>
                    <a:bodyPr/>
                    <a:lstStyle/>
                    <a:p>
                      <a:pPr algn="l" fontAlgn="t"/>
                      <a:r>
                        <a:rPr lang="en-IN" b="0" dirty="0" err="1" smtClean="0">
                          <a:solidFill>
                            <a:schemeClr val="tx1"/>
                          </a:solidFill>
                          <a:effectLst/>
                        </a:rPr>
                        <a:t>HTTPResponse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This class allows users to access specific information on HTTP responses.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4211">
                <a:tc>
                  <a:txBody>
                    <a:bodyPr/>
                    <a:lstStyle/>
                    <a:p>
                      <a:pPr algn="l" fontAlgn="t"/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</a:rPr>
                        <a:t>UrlFetchApp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Fetch resources and communicate with other hosts over the Internet.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4330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2802</Words>
  <Application>Microsoft Office PowerPoint</Application>
  <PresentationFormat>On-screen Show (4:3)</PresentationFormat>
  <Paragraphs>381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Module 3.2</vt:lpstr>
      <vt:lpstr>Google App Engine (GAE)</vt:lpstr>
      <vt:lpstr>Google App Engine (GAE)</vt:lpstr>
      <vt:lpstr>Google App Engine (GAE)</vt:lpstr>
      <vt:lpstr>Google App Engine (GAE)</vt:lpstr>
      <vt:lpstr>Google App Engine (GAE)</vt:lpstr>
      <vt:lpstr>Google App Engine (GAE)</vt:lpstr>
      <vt:lpstr>Google App Engine (GAE)</vt:lpstr>
      <vt:lpstr>Architecture </vt:lpstr>
      <vt:lpstr>Architecture </vt:lpstr>
      <vt:lpstr>Architecture </vt:lpstr>
      <vt:lpstr>Run time Environment</vt:lpstr>
      <vt:lpstr>Supported runtimes</vt:lpstr>
      <vt:lpstr>Supported runtimes</vt:lpstr>
      <vt:lpstr>Supported runtimes</vt:lpstr>
      <vt:lpstr>Supported runtimes</vt:lpstr>
      <vt:lpstr>Supported runtimes</vt:lpstr>
      <vt:lpstr>Runtimes</vt:lpstr>
      <vt:lpstr>Runtimes</vt:lpstr>
      <vt:lpstr>Instance classes</vt:lpstr>
      <vt:lpstr>Instance classes</vt:lpstr>
      <vt:lpstr>Runtime Lifecycle</vt:lpstr>
      <vt:lpstr>Runtime Lifecycle</vt:lpstr>
      <vt:lpstr>Runtime Lifecycle</vt:lpstr>
      <vt:lpstr>Runtime Lifecycle</vt:lpstr>
      <vt:lpstr>Runtime Lifecycle</vt:lpstr>
      <vt:lpstr>End Of Support</vt:lpstr>
      <vt:lpstr>End Of Support</vt:lpstr>
      <vt:lpstr>Deprecated</vt:lpstr>
      <vt:lpstr>Decommissioned</vt:lpstr>
      <vt:lpstr>Supported runtimes</vt:lpstr>
      <vt:lpstr>Sandboxing</vt:lpstr>
      <vt:lpstr>Sandboxing</vt:lpstr>
      <vt:lpstr>Sandboxing</vt:lpstr>
      <vt:lpstr>Sandboxing</vt:lpstr>
      <vt:lpstr>Sandboxing</vt:lpstr>
      <vt:lpstr>Storage</vt:lpstr>
      <vt:lpstr>Static file servers</vt:lpstr>
      <vt:lpstr>Static file servers</vt:lpstr>
      <vt:lpstr>Google Cloud Platform Services</vt:lpstr>
      <vt:lpstr>DataStore</vt:lpstr>
      <vt:lpstr>MemCache</vt:lpstr>
      <vt:lpstr>MemCache</vt:lpstr>
      <vt:lpstr>Mail and instant messaging</vt:lpstr>
      <vt:lpstr>XMPP</vt:lpstr>
      <vt:lpstr>XMPP</vt:lpstr>
      <vt:lpstr>XMPP</vt:lpstr>
      <vt:lpstr>Account management</vt:lpstr>
      <vt:lpstr>Account management</vt:lpstr>
      <vt:lpstr>Account management</vt:lpstr>
      <vt:lpstr>Image manipulation</vt:lpstr>
      <vt:lpstr>Google App Engine (GAE)</vt:lpstr>
      <vt:lpstr>GAE Applications</vt:lpstr>
      <vt:lpstr>Cron Jobs</vt:lpstr>
      <vt:lpstr>Urlfetch Service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3.2</dc:title>
  <dc:creator>Admin</dc:creator>
  <cp:lastModifiedBy>Admin</cp:lastModifiedBy>
  <cp:revision>46</cp:revision>
  <dcterms:created xsi:type="dcterms:W3CDTF">2023-03-08T10:59:49Z</dcterms:created>
  <dcterms:modified xsi:type="dcterms:W3CDTF">2026-03-17T04:38:02Z</dcterms:modified>
</cp:coreProperties>
</file>