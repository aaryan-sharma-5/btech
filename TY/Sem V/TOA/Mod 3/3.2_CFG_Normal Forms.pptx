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iqD5cGsH9SjEZAeyBKp2Gw5xH3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CFG Normal Forms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CNF Form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Removal of Left Recursion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GNF Form</a:t>
            </a:r>
            <a:endParaRPr/>
          </a:p>
        </p:txBody>
      </p:sp>
      <p:sp>
        <p:nvSpPr>
          <p:cNvPr id="90" name="Google Shape;90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Normal Forms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grammar is said to be in a Normal Form when every production of a grammar has specific form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This makes it convenient to design algorithms for working with CFGs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Normal  Forms for CFG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CNF, Chomsky Normal Form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GNF, Greibach Normal Form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07" name="Google Shape;10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CNF, Chomsky Normal Form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grammar is said to be in Chomsky Normal form (i.e. CNF) if every production rule of the grammar is of the form: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		A-&gt;BC or A-&gt;a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where A,B,C are in V and a is in T</a:t>
            </a:r>
            <a:endParaRPr/>
          </a:p>
        </p:txBody>
      </p:sp>
      <p:sp>
        <p:nvSpPr>
          <p:cNvPr id="114" name="Google Shape;11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Conversion to CNF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1:Simplify the grammar G by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eliminating null productions, useless productions and unit productions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Add to the solution, the productions which are already  in CNF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For the productions, not in CNF:-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Replace the terminals by some variables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limit the number of variables on RHS to 2</a:t>
            </a:r>
            <a:endParaRPr/>
          </a:p>
        </p:txBody>
      </p:sp>
      <p:sp>
        <p:nvSpPr>
          <p:cNvPr id="122" name="Google Shape;12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23" name="Google Shape;12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1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" y="476672"/>
            <a:ext cx="8229600" cy="564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Consider a CFG with following productions: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S-&gt;aB|bA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A-&gt;a|aS|bAA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B-&gt;b|bS|aBB</a:t>
            </a:r>
            <a:endParaRPr sz="2400"/>
          </a:p>
        </p:txBody>
      </p:sp>
      <p:sp>
        <p:nvSpPr>
          <p:cNvPr id="130" name="Google Shape;1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1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457200" y="476672"/>
            <a:ext cx="8229600" cy="564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Consider a CFG with following productions: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S-&gt;aB|bA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A-&gt;a|aS|bAA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B-&gt;b|bS|aBB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Solution-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Introduce new non-terminals Ca and Cb and production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</a:t>
            </a:r>
            <a:r>
              <a:rPr baseline="-25000" lang="en-IN" sz="2400"/>
              <a:t>a</a:t>
            </a:r>
            <a:r>
              <a:rPr lang="en-IN" sz="2400"/>
              <a:t>-&gt;a and C</a:t>
            </a:r>
            <a:r>
              <a:rPr baseline="-25000" lang="en-IN" sz="2400"/>
              <a:t>b</a:t>
            </a:r>
            <a:r>
              <a:rPr lang="en-IN" sz="2400"/>
              <a:t>-&gt;b , we get:-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S-&gt;C</a:t>
            </a:r>
            <a:r>
              <a:rPr baseline="-25000" lang="en-IN" sz="2400"/>
              <a:t>a</a:t>
            </a:r>
            <a:r>
              <a:rPr lang="en-IN" sz="2400"/>
              <a:t>B| C</a:t>
            </a:r>
            <a:r>
              <a:rPr baseline="-25000" lang="en-IN" sz="2400"/>
              <a:t>b</a:t>
            </a:r>
            <a:r>
              <a:rPr lang="en-IN" sz="2400"/>
              <a:t>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A-&gt;a|C</a:t>
            </a:r>
            <a:r>
              <a:rPr baseline="-25000" lang="en-IN" sz="2400"/>
              <a:t>a</a:t>
            </a:r>
            <a:r>
              <a:rPr lang="en-IN" sz="2400"/>
              <a:t>S| C</a:t>
            </a:r>
            <a:r>
              <a:rPr baseline="-25000" lang="en-IN" sz="2400"/>
              <a:t>b</a:t>
            </a:r>
            <a:r>
              <a:rPr lang="en-IN" sz="2400"/>
              <a:t>AA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B-&gt;b| C</a:t>
            </a:r>
            <a:r>
              <a:rPr baseline="-25000" lang="en-IN" sz="2400"/>
              <a:t>b</a:t>
            </a:r>
            <a:r>
              <a:rPr lang="en-IN" sz="2400"/>
              <a:t>S| C</a:t>
            </a:r>
            <a:r>
              <a:rPr baseline="-25000" lang="en-IN" sz="2400"/>
              <a:t>a</a:t>
            </a:r>
            <a:r>
              <a:rPr lang="en-IN" sz="2400"/>
              <a:t>BB</a:t>
            </a:r>
            <a:endParaRPr sz="2400"/>
          </a:p>
        </p:txBody>
      </p:sp>
      <p:sp>
        <p:nvSpPr>
          <p:cNvPr id="138" name="Google Shape;13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1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457200" y="476672"/>
            <a:ext cx="8229600" cy="619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S-&gt;C</a:t>
            </a:r>
            <a:r>
              <a:rPr baseline="-25000" lang="en-IN" sz="2400"/>
              <a:t>a</a:t>
            </a:r>
            <a:r>
              <a:rPr lang="en-IN" sz="2400"/>
              <a:t>B| C</a:t>
            </a:r>
            <a:r>
              <a:rPr baseline="-25000" lang="en-IN" sz="2400"/>
              <a:t>b</a:t>
            </a:r>
            <a:r>
              <a:rPr lang="en-IN" sz="2400"/>
              <a:t>A</a:t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A-&gt;a|C</a:t>
            </a:r>
            <a:r>
              <a:rPr baseline="-25000" lang="en-IN" sz="2400"/>
              <a:t>a</a:t>
            </a:r>
            <a:r>
              <a:rPr lang="en-IN" sz="2400"/>
              <a:t>S| C</a:t>
            </a:r>
            <a:r>
              <a:rPr baseline="-25000" lang="en-IN" sz="2400"/>
              <a:t>b</a:t>
            </a:r>
            <a:r>
              <a:rPr lang="en-IN" sz="2400"/>
              <a:t>AA</a:t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B-&gt;b| C</a:t>
            </a:r>
            <a:r>
              <a:rPr baseline="-25000" lang="en-IN" sz="2400"/>
              <a:t>b</a:t>
            </a:r>
            <a:r>
              <a:rPr lang="en-IN" sz="2400"/>
              <a:t>S| C</a:t>
            </a:r>
            <a:r>
              <a:rPr baseline="-25000" lang="en-IN" sz="2400"/>
              <a:t>a</a:t>
            </a:r>
            <a:r>
              <a:rPr lang="en-IN" sz="2400"/>
              <a:t>BB</a:t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a</a:t>
            </a:r>
            <a:r>
              <a:rPr lang="en-IN" sz="2400"/>
              <a:t>-&gt;a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b</a:t>
            </a:r>
            <a:r>
              <a:rPr lang="en-IN" sz="2400"/>
              <a:t>-&gt;b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Introduce D1 and D2 as two new non-terminals and productions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D</a:t>
            </a:r>
            <a:r>
              <a:rPr baseline="-25000" lang="en-IN" sz="2400"/>
              <a:t>1</a:t>
            </a:r>
            <a:r>
              <a:rPr lang="en-IN" sz="2400"/>
              <a:t>-&gt;AA and D</a:t>
            </a:r>
            <a:r>
              <a:rPr baseline="-25000" lang="en-IN" sz="2400"/>
              <a:t>2</a:t>
            </a:r>
            <a:r>
              <a:rPr lang="en-IN" sz="2400"/>
              <a:t>-&gt;BB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We get,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S-&gt;C</a:t>
            </a:r>
            <a:r>
              <a:rPr baseline="-25000" lang="en-IN" sz="2400"/>
              <a:t>a</a:t>
            </a:r>
            <a:r>
              <a:rPr lang="en-IN" sz="2400"/>
              <a:t>B| C</a:t>
            </a:r>
            <a:r>
              <a:rPr baseline="-25000" lang="en-IN" sz="2400"/>
              <a:t>b</a:t>
            </a:r>
            <a:r>
              <a:rPr lang="en-IN" sz="2400"/>
              <a:t>A</a:t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A-&gt;a|C</a:t>
            </a:r>
            <a:r>
              <a:rPr baseline="-25000" lang="en-IN" sz="2400"/>
              <a:t>a</a:t>
            </a:r>
            <a:r>
              <a:rPr lang="en-IN" sz="2400"/>
              <a:t>S| C</a:t>
            </a:r>
            <a:r>
              <a:rPr baseline="-25000" lang="en-IN" sz="2400"/>
              <a:t>b</a:t>
            </a:r>
            <a:r>
              <a:rPr lang="en-IN" sz="2400"/>
              <a:t>D</a:t>
            </a:r>
            <a:r>
              <a:rPr baseline="-25000" lang="en-IN" sz="2400"/>
              <a:t>1</a:t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B-&gt;b| C</a:t>
            </a:r>
            <a:r>
              <a:rPr baseline="-25000" lang="en-IN" sz="2400"/>
              <a:t>b</a:t>
            </a:r>
            <a:r>
              <a:rPr lang="en-IN" sz="2400"/>
              <a:t>S| C</a:t>
            </a:r>
            <a:r>
              <a:rPr baseline="-25000" lang="en-IN" sz="2400"/>
              <a:t>a</a:t>
            </a:r>
            <a:r>
              <a:rPr lang="en-IN" sz="2400"/>
              <a:t>D</a:t>
            </a:r>
            <a:r>
              <a:rPr baseline="-25000" lang="en-IN" sz="2400"/>
              <a:t>2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a</a:t>
            </a:r>
            <a:r>
              <a:rPr lang="en-IN" sz="2400"/>
              <a:t>-&gt;a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b</a:t>
            </a:r>
            <a:r>
              <a:rPr lang="en-IN" sz="2400"/>
              <a:t>-&gt;b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D</a:t>
            </a:r>
            <a:r>
              <a:rPr baseline="-25000" lang="en-IN" sz="2400"/>
              <a:t>1</a:t>
            </a:r>
            <a:r>
              <a:rPr lang="en-IN" sz="2400"/>
              <a:t>-&gt;AA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D</a:t>
            </a:r>
            <a:r>
              <a:rPr baseline="-25000" lang="en-IN" sz="2400"/>
              <a:t>2</a:t>
            </a:r>
            <a:r>
              <a:rPr lang="en-IN" sz="2400"/>
              <a:t>-&gt;BB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The grammar is in CNF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146" name="Google Shape;1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47" name="Google Shape;14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2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457200" y="476672"/>
            <a:ext cx="8229600" cy="6192688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CFG with the following productions: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S-&gt;aSa|bSb|ab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54" name="Google Shape;15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55" name="Google Shape;15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2</a:t>
            </a:r>
            <a:endParaRPr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457200" y="476672"/>
            <a:ext cx="8229600" cy="619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 CFG with the following productions: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S-&gt;aSa|bSb|ab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Introducing new non-terminals  C</a:t>
            </a:r>
            <a:r>
              <a:rPr baseline="-25000" lang="en-IN" sz="2400"/>
              <a:t>a</a:t>
            </a:r>
            <a:r>
              <a:rPr lang="en-IN" sz="2400"/>
              <a:t> and C</a:t>
            </a:r>
            <a:r>
              <a:rPr baseline="-25000" lang="en-IN" sz="2400"/>
              <a:t>b</a:t>
            </a:r>
            <a:r>
              <a:rPr lang="en-IN" sz="2400"/>
              <a:t>, we get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S-&gt;C</a:t>
            </a:r>
            <a:r>
              <a:rPr baseline="-25000" lang="en-IN" sz="2400"/>
              <a:t>a</a:t>
            </a:r>
            <a:r>
              <a:rPr lang="en-IN" sz="2400"/>
              <a:t>SC</a:t>
            </a:r>
            <a:r>
              <a:rPr baseline="-25000" lang="en-IN" sz="2400"/>
              <a:t>a</a:t>
            </a:r>
            <a:r>
              <a:rPr lang="en-IN" sz="2400"/>
              <a:t>| C</a:t>
            </a:r>
            <a:r>
              <a:rPr baseline="-25000" lang="en-IN" sz="2400"/>
              <a:t>b</a:t>
            </a:r>
            <a:r>
              <a:rPr lang="en-IN" sz="2400"/>
              <a:t>SC</a:t>
            </a:r>
            <a:r>
              <a:rPr baseline="-25000" lang="en-IN" sz="2400"/>
              <a:t>b</a:t>
            </a:r>
            <a:r>
              <a:rPr lang="en-IN" sz="2400"/>
              <a:t>| C</a:t>
            </a:r>
            <a:r>
              <a:rPr baseline="-25000" lang="en-IN" sz="2400"/>
              <a:t>a</a:t>
            </a:r>
            <a:r>
              <a:rPr lang="en-IN" sz="2400"/>
              <a:t>C</a:t>
            </a:r>
            <a:r>
              <a:rPr baseline="-25000" lang="en-IN" sz="2400"/>
              <a:t>b</a:t>
            </a:r>
            <a:endParaRPr baseline="-25000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</a:t>
            </a:r>
            <a:r>
              <a:rPr baseline="-25000" lang="en-IN" sz="2400"/>
              <a:t>a</a:t>
            </a:r>
            <a:r>
              <a:rPr lang="en-IN" sz="2400"/>
              <a:t>-&gt;a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</a:t>
            </a:r>
            <a:r>
              <a:rPr baseline="-25000" lang="en-IN" sz="2400"/>
              <a:t>b</a:t>
            </a:r>
            <a:r>
              <a:rPr lang="en-IN" sz="2400"/>
              <a:t>-&gt;b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Introducing D</a:t>
            </a:r>
            <a:r>
              <a:rPr baseline="-25000" lang="en-IN" sz="2400"/>
              <a:t>1</a:t>
            </a:r>
            <a:r>
              <a:rPr lang="en-IN" sz="2400"/>
              <a:t> and D</a:t>
            </a:r>
            <a:r>
              <a:rPr baseline="-25000" lang="en-IN" sz="2400"/>
              <a:t>2</a:t>
            </a:r>
            <a:r>
              <a:rPr lang="en-IN" sz="2400"/>
              <a:t>, we get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S-&gt;C</a:t>
            </a:r>
            <a:r>
              <a:rPr baseline="-25000" lang="en-IN" sz="2400"/>
              <a:t>a</a:t>
            </a:r>
            <a:r>
              <a:rPr lang="en-IN" sz="2400"/>
              <a:t>D</a:t>
            </a:r>
            <a:r>
              <a:rPr baseline="-25000" lang="en-IN" sz="2400"/>
              <a:t>1 </a:t>
            </a:r>
            <a:r>
              <a:rPr lang="en-IN" sz="2400"/>
              <a:t>| C</a:t>
            </a:r>
            <a:r>
              <a:rPr baseline="-25000" lang="en-IN" sz="2400"/>
              <a:t>b</a:t>
            </a:r>
            <a:r>
              <a:rPr lang="en-IN" sz="2400"/>
              <a:t>D</a:t>
            </a:r>
            <a:r>
              <a:rPr baseline="-25000" lang="en-IN" sz="2400"/>
              <a:t>2 </a:t>
            </a:r>
            <a:r>
              <a:rPr lang="en-IN" sz="2400"/>
              <a:t>| C</a:t>
            </a:r>
            <a:r>
              <a:rPr baseline="-25000" lang="en-IN" sz="2400"/>
              <a:t>a</a:t>
            </a:r>
            <a:r>
              <a:rPr lang="en-IN" sz="2400"/>
              <a:t>C</a:t>
            </a:r>
            <a:r>
              <a:rPr baseline="-25000" lang="en-IN" sz="2400"/>
              <a:t>b</a:t>
            </a:r>
            <a:endParaRPr baseline="-25000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</a:t>
            </a:r>
            <a:r>
              <a:rPr baseline="-25000" lang="en-IN" sz="2400"/>
              <a:t>a</a:t>
            </a:r>
            <a:r>
              <a:rPr lang="en-IN" sz="2400"/>
              <a:t>-&gt;a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</a:t>
            </a:r>
            <a:r>
              <a:rPr baseline="-25000" lang="en-IN" sz="2400"/>
              <a:t>b</a:t>
            </a:r>
            <a:r>
              <a:rPr lang="en-IN" sz="2400"/>
              <a:t>-&gt;b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D</a:t>
            </a:r>
            <a:r>
              <a:rPr baseline="-25000" lang="en-IN" sz="2400"/>
              <a:t>1</a:t>
            </a:r>
            <a:r>
              <a:rPr lang="en-IN" sz="2400"/>
              <a:t>-&gt;SC</a:t>
            </a:r>
            <a:r>
              <a:rPr baseline="-25000" lang="en-IN" sz="2400"/>
              <a:t>a</a:t>
            </a:r>
            <a:endParaRPr baseline="-25000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D</a:t>
            </a:r>
            <a:r>
              <a:rPr baseline="-25000" lang="en-IN" sz="2400"/>
              <a:t>2</a:t>
            </a:r>
            <a:r>
              <a:rPr lang="en-IN" sz="2400"/>
              <a:t>-&gt;SC</a:t>
            </a:r>
            <a:r>
              <a:rPr baseline="-25000" lang="en-IN" sz="2400"/>
              <a:t>b</a:t>
            </a:r>
            <a:endParaRPr baseline="-25000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grammar is in CNF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63" name="Google Shape;16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3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457200" y="476672"/>
            <a:ext cx="8229600" cy="6192688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CFG with the following productions: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S-&gt;aSb|aA|bB|a|b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A-&gt;aA|a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B-&gt;bB|b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70" name="Google Shape;17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3</a:t>
            </a:r>
            <a:endParaRPr/>
          </a:p>
        </p:txBody>
      </p:sp>
      <p:sp>
        <p:nvSpPr>
          <p:cNvPr id="177" name="Google Shape;177;p12"/>
          <p:cNvSpPr txBox="1"/>
          <p:nvPr>
            <p:ph idx="1" type="body"/>
          </p:nvPr>
        </p:nvSpPr>
        <p:spPr>
          <a:xfrm>
            <a:off x="457200" y="476672"/>
            <a:ext cx="8229600" cy="6192688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CFG with the following productions: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S-&gt;aSb|aA|bB|a|b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A-&gt;aA|a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B-&gt;bB|b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78" name="Google Shape;17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79" name="Google Shape;1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467544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CNF, Chomsky Normal Form-Example 3</a:t>
            </a:r>
            <a:endParaRPr/>
          </a:p>
        </p:txBody>
      </p:sp>
      <p:sp>
        <p:nvSpPr>
          <p:cNvPr id="185" name="Google Shape;185;p13"/>
          <p:cNvSpPr txBox="1"/>
          <p:nvPr>
            <p:ph idx="1" type="body"/>
          </p:nvPr>
        </p:nvSpPr>
        <p:spPr>
          <a:xfrm>
            <a:off x="457200" y="476672"/>
            <a:ext cx="8229600" cy="619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Consider a CFG with the following productions: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S-&gt;aSb|aA|bB|a|b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A-&gt;aA|a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B-&gt;bB|b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Introducing new non-terminals  C</a:t>
            </a:r>
            <a:r>
              <a:rPr baseline="-25000" lang="en-IN" sz="2400"/>
              <a:t>a</a:t>
            </a:r>
            <a:r>
              <a:rPr lang="en-IN" sz="2400"/>
              <a:t> and C</a:t>
            </a:r>
            <a:r>
              <a:rPr baseline="-25000" lang="en-IN" sz="2400"/>
              <a:t>b</a:t>
            </a:r>
            <a:r>
              <a:rPr lang="en-IN" sz="2400"/>
              <a:t>, we get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S-&gt;C</a:t>
            </a:r>
            <a:r>
              <a:rPr baseline="-25000" lang="en-IN" sz="2400"/>
              <a:t>a</a:t>
            </a:r>
            <a:r>
              <a:rPr lang="en-IN" sz="2400"/>
              <a:t>SC</a:t>
            </a:r>
            <a:r>
              <a:rPr baseline="-25000" lang="en-IN" sz="2400"/>
              <a:t>b</a:t>
            </a:r>
            <a:r>
              <a:rPr lang="en-IN" sz="2400"/>
              <a:t>| C</a:t>
            </a:r>
            <a:r>
              <a:rPr baseline="-25000" lang="en-IN" sz="2400"/>
              <a:t>a</a:t>
            </a:r>
            <a:r>
              <a:rPr lang="en-IN" sz="2400"/>
              <a:t>A| C</a:t>
            </a:r>
            <a:r>
              <a:rPr baseline="-25000" lang="en-IN" sz="2400"/>
              <a:t>b</a:t>
            </a:r>
            <a:r>
              <a:rPr lang="en-IN" sz="2400"/>
              <a:t>B|a|b</a:t>
            </a:r>
            <a:endParaRPr baseline="-25000"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A-&gt;C</a:t>
            </a:r>
            <a:r>
              <a:rPr baseline="-25000" lang="en-IN" sz="2400"/>
              <a:t>a</a:t>
            </a:r>
            <a:r>
              <a:rPr lang="en-IN" sz="2400"/>
              <a:t>A|a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B-&gt;C</a:t>
            </a:r>
            <a:r>
              <a:rPr baseline="-25000" lang="en-IN" sz="2400"/>
              <a:t>b</a:t>
            </a:r>
            <a:r>
              <a:rPr lang="en-IN" sz="2400"/>
              <a:t>B|b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a</a:t>
            </a:r>
            <a:r>
              <a:rPr lang="en-IN" sz="2400"/>
              <a:t>-&gt;a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b</a:t>
            </a:r>
            <a:r>
              <a:rPr lang="en-IN" sz="2400"/>
              <a:t>-&gt;b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Introducing D</a:t>
            </a:r>
            <a:r>
              <a:rPr baseline="-25000" lang="en-IN" sz="2400"/>
              <a:t>1</a:t>
            </a:r>
            <a:r>
              <a:rPr lang="en-IN" sz="2400"/>
              <a:t>, we get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S-&gt;C</a:t>
            </a:r>
            <a:r>
              <a:rPr baseline="-25000" lang="en-IN" sz="2400"/>
              <a:t>a</a:t>
            </a:r>
            <a:r>
              <a:rPr lang="en-IN" sz="2400"/>
              <a:t>D</a:t>
            </a:r>
            <a:r>
              <a:rPr baseline="-25000" lang="en-IN" sz="2400"/>
              <a:t>1 </a:t>
            </a:r>
            <a:r>
              <a:rPr lang="en-IN" sz="2400"/>
              <a:t>| C</a:t>
            </a:r>
            <a:r>
              <a:rPr baseline="-25000" lang="en-IN" sz="2400"/>
              <a:t>a</a:t>
            </a:r>
            <a:r>
              <a:rPr lang="en-IN" sz="2400"/>
              <a:t>A| C</a:t>
            </a:r>
            <a:r>
              <a:rPr baseline="-25000" lang="en-IN" sz="2400"/>
              <a:t>b</a:t>
            </a:r>
            <a:r>
              <a:rPr lang="en-IN" sz="2400"/>
              <a:t>B|a|b</a:t>
            </a:r>
            <a:endParaRPr baseline="-25000"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A-&gt;C</a:t>
            </a:r>
            <a:r>
              <a:rPr baseline="-25000" lang="en-IN" sz="2400"/>
              <a:t>a</a:t>
            </a:r>
            <a:r>
              <a:rPr lang="en-IN" sz="2400"/>
              <a:t>A|a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B-&gt;C</a:t>
            </a:r>
            <a:r>
              <a:rPr baseline="-25000" lang="en-IN" sz="2400"/>
              <a:t>b</a:t>
            </a:r>
            <a:r>
              <a:rPr lang="en-IN" sz="2400"/>
              <a:t>B|b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a</a:t>
            </a:r>
            <a:r>
              <a:rPr lang="en-IN" sz="2400"/>
              <a:t>-&gt;a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</a:t>
            </a:r>
            <a:r>
              <a:rPr baseline="-25000" lang="en-IN" sz="2400"/>
              <a:t>b</a:t>
            </a:r>
            <a:r>
              <a:rPr lang="en-IN" sz="2400"/>
              <a:t>-&gt;b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D</a:t>
            </a:r>
            <a:r>
              <a:rPr baseline="-25000" lang="en-IN" sz="2400"/>
              <a:t>1</a:t>
            </a:r>
            <a:r>
              <a:rPr lang="en-IN" sz="2400"/>
              <a:t>-&gt;SC</a:t>
            </a:r>
            <a:r>
              <a:rPr baseline="-25000" lang="en-IN" sz="2400"/>
              <a:t>b</a:t>
            </a:r>
            <a:endParaRPr baseline="-25000"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The grammar is in CNF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186" name="Google Shape;18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87" name="Google Shape;18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Elimination of Left Recursion</a:t>
            </a:r>
            <a:endParaRPr/>
          </a:p>
        </p:txBody>
      </p:sp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a grammar contains a pair of productions of the form          A-&gt;Aα|β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then the grammar is left recursive grammar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Left recursive grammar , if used for specification of the language then the top down parser may enter into the infinite loop during the parsing process on some erroneous input.</a:t>
            </a:r>
            <a:endParaRPr/>
          </a:p>
        </p:txBody>
      </p:sp>
      <p:sp>
        <p:nvSpPr>
          <p:cNvPr id="194" name="Google Shape;19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195" name="Google Shape;19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type="title"/>
          </p:nvPr>
        </p:nvSpPr>
        <p:spPr>
          <a:xfrm>
            <a:off x="467544" y="-27384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Elimination of Left Recursion</a:t>
            </a:r>
            <a:endParaRPr/>
          </a:p>
        </p:txBody>
      </p:sp>
      <p:sp>
        <p:nvSpPr>
          <p:cNvPr id="201" name="Google Shape;201;p15"/>
          <p:cNvSpPr txBox="1"/>
          <p:nvPr>
            <p:ph idx="1" type="body"/>
          </p:nvPr>
        </p:nvSpPr>
        <p:spPr>
          <a:xfrm>
            <a:off x="361950" y="534704"/>
            <a:ext cx="8229600" cy="7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100"/>
              <a:t>Left recursion can be eliminated from the grammar by the following rule-</a:t>
            </a:r>
            <a:endParaRPr sz="2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G=(V,T,P,S)</a:t>
            </a:r>
            <a:endParaRPr sz="2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1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For Production P:-</a:t>
            </a:r>
            <a:endParaRPr sz="2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A-&gt;Aα</a:t>
            </a:r>
            <a:r>
              <a:rPr b="1" baseline="-25000" lang="en-IN" sz="2100"/>
              <a:t>1</a:t>
            </a:r>
            <a:r>
              <a:rPr b="1" lang="en-IN" sz="2100"/>
              <a:t>|Aα</a:t>
            </a:r>
            <a:r>
              <a:rPr b="1" baseline="-25000" lang="en-IN" sz="2100"/>
              <a:t>2</a:t>
            </a:r>
            <a:r>
              <a:rPr b="1" lang="en-IN" sz="2100"/>
              <a:t>|………|Aα</a:t>
            </a:r>
            <a:r>
              <a:rPr b="1" baseline="-25000" lang="en-IN" sz="2100"/>
              <a:t>m</a:t>
            </a:r>
            <a:r>
              <a:rPr b="1" lang="en-IN" sz="2100"/>
              <a:t>|β</a:t>
            </a:r>
            <a:r>
              <a:rPr b="1" baseline="-25000" lang="en-IN" sz="2100"/>
              <a:t>1</a:t>
            </a:r>
            <a:r>
              <a:rPr b="1" lang="en-IN" sz="2100"/>
              <a:t>|β</a:t>
            </a:r>
            <a:r>
              <a:rPr b="1" baseline="-25000" lang="en-IN" sz="2100"/>
              <a:t>2</a:t>
            </a:r>
            <a:r>
              <a:rPr b="1" lang="en-IN" sz="2100"/>
              <a:t>|………|β</a:t>
            </a:r>
            <a:r>
              <a:rPr b="1" baseline="-25000" lang="en-IN" sz="2100"/>
              <a:t>n</a:t>
            </a:r>
            <a:endParaRPr sz="2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β does not start with A</a:t>
            </a:r>
            <a:endParaRPr sz="2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1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Replace by P1-</a:t>
            </a:r>
            <a:endParaRPr sz="2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A-&gt; β</a:t>
            </a:r>
            <a:r>
              <a:rPr b="1" baseline="-25000" lang="en-IN" sz="2100"/>
              <a:t>1</a:t>
            </a:r>
            <a:r>
              <a:rPr b="1" lang="en-IN" sz="2100"/>
              <a:t>Z| β</a:t>
            </a:r>
            <a:r>
              <a:rPr b="1" baseline="-25000" lang="en-IN" sz="2100"/>
              <a:t>2</a:t>
            </a:r>
            <a:r>
              <a:rPr b="1" lang="en-IN" sz="2100"/>
              <a:t>Z|………|β</a:t>
            </a:r>
            <a:r>
              <a:rPr b="1" baseline="-25000" lang="en-IN" sz="2100"/>
              <a:t>n</a:t>
            </a:r>
            <a:r>
              <a:rPr b="1" lang="en-IN" sz="2100"/>
              <a:t>| β</a:t>
            </a:r>
            <a:r>
              <a:rPr b="1" baseline="-25000" lang="en-IN" sz="2100"/>
              <a:t>1</a:t>
            </a:r>
            <a:r>
              <a:rPr b="1" lang="en-IN" sz="2100"/>
              <a:t>| β</a:t>
            </a:r>
            <a:r>
              <a:rPr b="1" baseline="-25000" lang="en-IN" sz="2100"/>
              <a:t>2</a:t>
            </a:r>
            <a:r>
              <a:rPr b="1" lang="en-IN" sz="2100"/>
              <a:t>|………|β</a:t>
            </a:r>
            <a:r>
              <a:rPr b="1" baseline="-25000" lang="en-IN" sz="2100"/>
              <a:t>n</a:t>
            </a:r>
            <a:endParaRPr b="1" sz="21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Z-&gt; α</a:t>
            </a:r>
            <a:r>
              <a:rPr b="1" baseline="-25000" lang="en-IN" sz="2100"/>
              <a:t>1</a:t>
            </a:r>
            <a:r>
              <a:rPr b="1" lang="en-IN" sz="2100"/>
              <a:t>Z| α</a:t>
            </a:r>
            <a:r>
              <a:rPr b="1" baseline="-25000" lang="en-IN" sz="2100"/>
              <a:t>2</a:t>
            </a:r>
            <a:r>
              <a:rPr b="1" lang="en-IN" sz="2100"/>
              <a:t>Z|………|α</a:t>
            </a:r>
            <a:r>
              <a:rPr b="1" baseline="-25000" lang="en-IN" sz="2100"/>
              <a:t>m</a:t>
            </a:r>
            <a:r>
              <a:rPr b="1" lang="en-IN" sz="2100"/>
              <a:t>Z| α</a:t>
            </a:r>
            <a:r>
              <a:rPr b="1" baseline="-25000" lang="en-IN" sz="2100"/>
              <a:t>1</a:t>
            </a:r>
            <a:r>
              <a:rPr b="1" lang="en-IN" sz="2100"/>
              <a:t>| α</a:t>
            </a:r>
            <a:r>
              <a:rPr b="1" baseline="-25000" lang="en-IN" sz="2100"/>
              <a:t>2</a:t>
            </a:r>
            <a:r>
              <a:rPr b="1" lang="en-IN" sz="2100"/>
              <a:t>|………|α</a:t>
            </a:r>
            <a:r>
              <a:rPr b="1" baseline="-25000" lang="en-IN" sz="2100"/>
              <a:t>m</a:t>
            </a:r>
            <a:endParaRPr b="1" sz="21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100"/>
              <a:t>OR</a:t>
            </a:r>
            <a:endParaRPr sz="2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A-&gt; β</a:t>
            </a:r>
            <a:r>
              <a:rPr b="1" baseline="-25000" lang="en-IN" sz="2100"/>
              <a:t>1</a:t>
            </a:r>
            <a:r>
              <a:rPr b="1" lang="en-IN" sz="2100"/>
              <a:t>Z| β</a:t>
            </a:r>
            <a:r>
              <a:rPr b="1" baseline="-25000" lang="en-IN" sz="2100"/>
              <a:t>2</a:t>
            </a:r>
            <a:r>
              <a:rPr b="1" lang="en-IN" sz="2100"/>
              <a:t>Z|………|β</a:t>
            </a:r>
            <a:r>
              <a:rPr b="1" baseline="-25000" lang="en-IN" sz="2100"/>
              <a:t>n</a:t>
            </a:r>
            <a:r>
              <a:rPr b="1" lang="en-IN" sz="2100"/>
              <a:t>Z</a:t>
            </a:r>
            <a:endParaRPr b="1" sz="21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Z-&gt; α</a:t>
            </a:r>
            <a:r>
              <a:rPr b="1" baseline="-25000" lang="en-IN" sz="2100"/>
              <a:t>1</a:t>
            </a:r>
            <a:r>
              <a:rPr b="1" lang="en-IN" sz="2100"/>
              <a:t>Z| α</a:t>
            </a:r>
            <a:r>
              <a:rPr b="1" baseline="-25000" lang="en-IN" sz="2100"/>
              <a:t>2</a:t>
            </a:r>
            <a:r>
              <a:rPr b="1" lang="en-IN" sz="2100"/>
              <a:t>Z|………|α</a:t>
            </a:r>
            <a:r>
              <a:rPr b="1" baseline="-25000" lang="en-IN" sz="2100"/>
              <a:t>m</a:t>
            </a:r>
            <a:r>
              <a:rPr b="1" lang="en-IN" sz="2100"/>
              <a:t>Z|</a:t>
            </a:r>
            <a:r>
              <a:rPr lang="en-IN" sz="2100"/>
              <a:t>ε</a:t>
            </a:r>
            <a:endParaRPr b="1" sz="21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100"/>
              <a:t>New Grammar G1=(V U {Z},T,P1,S)</a:t>
            </a:r>
            <a:endParaRPr sz="29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100"/>
          </a:p>
        </p:txBody>
      </p:sp>
      <p:sp>
        <p:nvSpPr>
          <p:cNvPr id="202" name="Google Shape;202;p15"/>
          <p:cNvSpPr txBox="1"/>
          <p:nvPr/>
        </p:nvSpPr>
        <p:spPr>
          <a:xfrm>
            <a:off x="6755012" y="5311409"/>
            <a:ext cx="2088300" cy="369300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Null Approach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6754974" y="3573004"/>
            <a:ext cx="2088300" cy="646500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Without Null Approach</a:t>
            </a:r>
            <a:endParaRPr/>
          </a:p>
        </p:txBody>
      </p:sp>
      <p:sp>
        <p:nvSpPr>
          <p:cNvPr id="204" name="Google Shape;20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05" name="Google Shape;205;p15"/>
          <p:cNvSpPr txBox="1"/>
          <p:nvPr>
            <p:ph idx="12" type="sldNum"/>
          </p:nvPr>
        </p:nvSpPr>
        <p:spPr>
          <a:xfrm>
            <a:off x="6553200" y="5120925"/>
            <a:ext cx="21336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467544" y="3314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Elimination of Left Recursion-Example 1</a:t>
            </a:r>
            <a:endParaRPr/>
          </a:p>
        </p:txBody>
      </p:sp>
      <p:sp>
        <p:nvSpPr>
          <p:cNvPr id="211" name="Google Shape;211;p16"/>
          <p:cNvSpPr txBox="1"/>
          <p:nvPr>
            <p:ph idx="1" type="body"/>
          </p:nvPr>
        </p:nvSpPr>
        <p:spPr>
          <a:xfrm>
            <a:off x="251520" y="54868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S-&gt;aBDh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B-&gt;Bb|c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D-&gt;EF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E-&gt;g|ε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F-&gt;f|ε</a:t>
            </a:r>
            <a:endParaRPr sz="2400"/>
          </a:p>
        </p:txBody>
      </p:sp>
      <p:sp>
        <p:nvSpPr>
          <p:cNvPr id="212" name="Google Shape;2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13" name="Google Shape;21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467544" y="3314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Elimination of Left Recursion-Example 1</a:t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251520" y="548680"/>
            <a:ext cx="417646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S-&gt;aBDh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B-&gt;Bb|c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D-&gt;EF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E-&gt;g|ε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F-&gt;f|ε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grammar is left recursive due to production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B-&gt;Bb|c</a:t>
            </a:r>
            <a:endParaRPr sz="2400"/>
          </a:p>
        </p:txBody>
      </p:sp>
      <p:sp>
        <p:nvSpPr>
          <p:cNvPr id="220" name="Google Shape;220;p17"/>
          <p:cNvSpPr txBox="1"/>
          <p:nvPr/>
        </p:nvSpPr>
        <p:spPr>
          <a:xfrm>
            <a:off x="4788024" y="699445"/>
            <a:ext cx="4176464" cy="690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eliminate the left recursion from the grammar,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this pair of production by:-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B-&gt;cZ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Z-&gt;bZ|ε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Final grammar is :-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S-&gt;aBDh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B-&gt;cZ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Z-&gt;bZ|ε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D-&gt;EF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E-&gt;g|ε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F-&gt;f|ε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22" name="Google Shape;22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588224" y="6093296"/>
            <a:ext cx="2088232" cy="369332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Null Approach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type="title"/>
          </p:nvPr>
        </p:nvSpPr>
        <p:spPr>
          <a:xfrm>
            <a:off x="467544" y="3314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Elimination of Left Recursion-Example 2</a:t>
            </a:r>
            <a:endParaRPr/>
          </a:p>
        </p:txBody>
      </p:sp>
      <p:sp>
        <p:nvSpPr>
          <p:cNvPr id="229" name="Google Shape;229;p18"/>
          <p:cNvSpPr txBox="1"/>
          <p:nvPr>
            <p:ph idx="1" type="body"/>
          </p:nvPr>
        </p:nvSpPr>
        <p:spPr>
          <a:xfrm>
            <a:off x="251520" y="548680"/>
            <a:ext cx="4176464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A-&gt;Ad|Ae|aB|aC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B-&gt;bBC|f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C-&gt;g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30" name="Google Shape;2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31" name="Google Shape;23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type="title"/>
          </p:nvPr>
        </p:nvSpPr>
        <p:spPr>
          <a:xfrm>
            <a:off x="467544" y="3314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Elimination of Left Recursion-Example 2</a:t>
            </a:r>
            <a:endParaRPr/>
          </a:p>
        </p:txBody>
      </p:sp>
      <p:sp>
        <p:nvSpPr>
          <p:cNvPr id="237" name="Google Shape;237;p19"/>
          <p:cNvSpPr txBox="1"/>
          <p:nvPr>
            <p:ph idx="1" type="body"/>
          </p:nvPr>
        </p:nvSpPr>
        <p:spPr>
          <a:xfrm>
            <a:off x="251520" y="548680"/>
            <a:ext cx="417646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A-&gt;Ad|Ae|aB|aC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B-&gt;bBC|f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C-&gt;g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grammar is left recursive due to production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A-&gt;Ad|Ae|aB|aC</a:t>
            </a:r>
            <a:endParaRPr sz="2400"/>
          </a:p>
        </p:txBody>
      </p:sp>
      <p:sp>
        <p:nvSpPr>
          <p:cNvPr id="238" name="Google Shape;238;p19"/>
          <p:cNvSpPr txBox="1"/>
          <p:nvPr/>
        </p:nvSpPr>
        <p:spPr>
          <a:xfrm>
            <a:off x="4788024" y="699445"/>
            <a:ext cx="417646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eliminate the left recursion from the grammar,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this pair of production by:-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A-&gt;aBZ|aCZ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Z-&gt;dZ|eZ|ε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Final grammar is :-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A-&gt;aBZ|aCZ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Z-&gt;dZ|eZ|ε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B-&gt;bBC|f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C-&gt;g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40" name="Google Shape;24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588224" y="6093296"/>
            <a:ext cx="2088232" cy="369332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Null Approach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/>
          <p:nvPr>
            <p:ph type="title"/>
          </p:nvPr>
        </p:nvSpPr>
        <p:spPr>
          <a:xfrm>
            <a:off x="467544" y="3314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Elimination of Left Recursion-Example 3</a:t>
            </a:r>
            <a:endParaRPr/>
          </a:p>
        </p:txBody>
      </p:sp>
      <p:sp>
        <p:nvSpPr>
          <p:cNvPr id="247" name="Google Shape;247;p20"/>
          <p:cNvSpPr txBox="1"/>
          <p:nvPr>
            <p:ph idx="1" type="body"/>
          </p:nvPr>
        </p:nvSpPr>
        <p:spPr>
          <a:xfrm>
            <a:off x="251520" y="548680"/>
            <a:ext cx="4176464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A-&gt;aBD|bDB|c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A-&gt;AB|AD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left recursion</a:t>
            </a:r>
            <a:endParaRPr/>
          </a:p>
        </p:txBody>
      </p:sp>
      <p:sp>
        <p:nvSpPr>
          <p:cNvPr id="248" name="Google Shape;2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49" name="Google Shape;2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/>
          <p:nvPr>
            <p:ph type="title"/>
          </p:nvPr>
        </p:nvSpPr>
        <p:spPr>
          <a:xfrm>
            <a:off x="467544" y="3314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Elimination of Left Recursion-Example 3</a:t>
            </a:r>
            <a:endParaRPr/>
          </a:p>
        </p:txBody>
      </p:sp>
      <p:sp>
        <p:nvSpPr>
          <p:cNvPr id="255" name="Google Shape;255;p21"/>
          <p:cNvSpPr txBox="1"/>
          <p:nvPr>
            <p:ph idx="1" type="body"/>
          </p:nvPr>
        </p:nvSpPr>
        <p:spPr>
          <a:xfrm>
            <a:off x="251520" y="548680"/>
            <a:ext cx="417646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A-&gt;aBD|bDB|c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A-&gt;AB|AD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Remove left recursion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56" name="Google Shape;256;p21"/>
          <p:cNvSpPr txBox="1"/>
          <p:nvPr/>
        </p:nvSpPr>
        <p:spPr>
          <a:xfrm>
            <a:off x="4788024" y="699445"/>
            <a:ext cx="417646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eliminate the left recursion from the grammar,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:-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A-&gt;AB|AD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this pair of production by:-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A-&gt;aBDZ|bDBZ|cZ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Z-&gt;BZ|DZ|ε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58" name="Google Shape;25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588224" y="6093296"/>
            <a:ext cx="2088232" cy="369332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Null Approach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GNF</a:t>
            </a:r>
            <a:endParaRPr/>
          </a:p>
        </p:txBody>
      </p:sp>
      <p:sp>
        <p:nvSpPr>
          <p:cNvPr id="265" name="Google Shape;265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67" name="Google Shape;2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GNF, Greibach Normal Form</a:t>
            </a:r>
            <a:endParaRPr/>
          </a:p>
        </p:txBody>
      </p:sp>
      <p:sp>
        <p:nvSpPr>
          <p:cNvPr id="273" name="Google Shape;27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grammar is said to be in </a:t>
            </a:r>
            <a:r>
              <a:rPr b="1" lang="en-IN" sz="2400"/>
              <a:t>Greibach</a:t>
            </a:r>
            <a:r>
              <a:rPr lang="en-IN" sz="2400"/>
              <a:t> Normal form (i.e. GNF) if every production rule of the grammar is of the form: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		A-&gt;aα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where A is the non terminal, a is the terminal and α is a string of non-terminals</a:t>
            </a:r>
            <a:r>
              <a:rPr lang="en-IN" sz="2400">
                <a:solidFill>
                  <a:srgbClr val="FF0000"/>
                </a:solidFill>
              </a:rPr>
              <a:t>(possibly empty)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α belongs to V*</a:t>
            </a:r>
            <a:endParaRPr/>
          </a:p>
        </p:txBody>
      </p:sp>
      <p:sp>
        <p:nvSpPr>
          <p:cNvPr id="274" name="Google Shape;27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GNF, Greibach Normal Form</a:t>
            </a:r>
            <a:endParaRPr/>
          </a:p>
        </p:txBody>
      </p:sp>
      <p:sp>
        <p:nvSpPr>
          <p:cNvPr id="281" name="Google Shape;28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Divide the production of Grammar G into left recursive and non-left recursive production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Then eliminate left recursion to get GNF</a:t>
            </a:r>
            <a:endParaRPr/>
          </a:p>
        </p:txBody>
      </p:sp>
      <p:sp>
        <p:nvSpPr>
          <p:cNvPr id="282" name="Google Shape;28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Conversion to GNF</a:t>
            </a:r>
            <a:endParaRPr/>
          </a:p>
        </p:txBody>
      </p:sp>
      <p:sp>
        <p:nvSpPr>
          <p:cNvPr id="289" name="Google Shape;28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1:Simplify the grammar G by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eliminating null productions, useless productions and unit productions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Add to the solution, the productions which are already  in GNF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For the productions, not in GNF:-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R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Substitution Rule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A-&gt;Bα</a:t>
            </a:r>
            <a:endParaRPr b="1"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B-&gt;β</a:t>
            </a:r>
            <a:r>
              <a:rPr b="1"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β</a:t>
            </a:r>
            <a:r>
              <a:rPr b="1"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|………|β</a:t>
            </a:r>
            <a:r>
              <a:rPr b="1"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we can write A as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A-&gt;β</a:t>
            </a:r>
            <a:r>
              <a:rPr b="1"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 | β</a:t>
            </a:r>
            <a:r>
              <a:rPr b="1"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 |………|β</a:t>
            </a:r>
            <a:r>
              <a:rPr b="1"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Remove left recursion , Use without epsilon approach</a:t>
            </a:r>
            <a:endParaRPr/>
          </a:p>
        </p:txBody>
      </p:sp>
      <p:sp>
        <p:nvSpPr>
          <p:cNvPr id="290" name="Google Shape;29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91" name="Google Shape;29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1</a:t>
            </a:r>
            <a:endParaRPr/>
          </a:p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457200" y="764704"/>
            <a:ext cx="8229600" cy="5361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 CFG with the following productions, Convert to GNF: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S-&gt;aSa|bSb|ab</a:t>
            </a:r>
            <a:endParaRPr sz="2400"/>
          </a:p>
        </p:txBody>
      </p:sp>
      <p:sp>
        <p:nvSpPr>
          <p:cNvPr id="298" name="Google Shape;29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299" name="Google Shape;29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5868144" y="1412776"/>
            <a:ext cx="3264380" cy="147732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GNF-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A-&gt;aα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A is the non terminal, a is the terminal and α is a string of </a:t>
            </a:r>
            <a:r>
              <a:rPr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non-terminals(possibly empty)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1</a:t>
            </a:r>
            <a:endParaRPr/>
          </a:p>
        </p:txBody>
      </p:sp>
      <p:sp>
        <p:nvSpPr>
          <p:cNvPr id="306" name="Google Shape;306;p27"/>
          <p:cNvSpPr txBox="1"/>
          <p:nvPr>
            <p:ph idx="1" type="body"/>
          </p:nvPr>
        </p:nvSpPr>
        <p:spPr>
          <a:xfrm>
            <a:off x="457200" y="764704"/>
            <a:ext cx="8229600" cy="5361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 CFG with the following productions, Convert to GNF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S-&gt;aSa|bSb|ab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Soln: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S-&gt;aSA|bSB|aB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A-&gt;a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B-&gt;b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grammar is in GNF</a:t>
            </a:r>
            <a:endParaRPr/>
          </a:p>
        </p:txBody>
      </p:sp>
      <p:sp>
        <p:nvSpPr>
          <p:cNvPr id="307" name="Google Shape;30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08" name="Google Shape;30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9" name="Google Shape;309;p27"/>
          <p:cNvSpPr/>
          <p:nvPr/>
        </p:nvSpPr>
        <p:spPr>
          <a:xfrm>
            <a:off x="5868144" y="1412776"/>
            <a:ext cx="3264380" cy="20313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GNF-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A-&gt;aα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A is the non terminal, a is the terminal and α is a string of </a:t>
            </a:r>
            <a:r>
              <a:rPr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non-terminals(possibly empty)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Variable Usage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2</a:t>
            </a:r>
            <a:endParaRPr/>
          </a:p>
        </p:txBody>
      </p:sp>
      <p:sp>
        <p:nvSpPr>
          <p:cNvPr id="315" name="Google Shape;315;p28"/>
          <p:cNvSpPr txBox="1"/>
          <p:nvPr>
            <p:ph idx="1" type="body"/>
          </p:nvPr>
        </p:nvSpPr>
        <p:spPr>
          <a:xfrm>
            <a:off x="323528" y="476672"/>
            <a:ext cx="8229600" cy="612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Consider a CFG with the following productions, Convert to GNF 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S-&gt;XY|XW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X-&gt;YZ|a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Z-&gt;c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Y-&gt;WZ|b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W-&gt;d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16" name="Google Shape;31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17" name="Google Shape;31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5868144" y="1412776"/>
            <a:ext cx="3264380" cy="230832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GNF-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A-&gt;aα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A is the non terminal, a is the terminal and α is a string of </a:t>
            </a:r>
            <a:r>
              <a:rPr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non-terminals(possibly empty)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Substitution Rule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2</a:t>
            </a:r>
            <a:endParaRPr/>
          </a:p>
        </p:txBody>
      </p:sp>
      <p:sp>
        <p:nvSpPr>
          <p:cNvPr id="324" name="Google Shape;324;p29"/>
          <p:cNvSpPr txBox="1"/>
          <p:nvPr>
            <p:ph idx="1" type="body"/>
          </p:nvPr>
        </p:nvSpPr>
        <p:spPr>
          <a:xfrm>
            <a:off x="457200" y="764704"/>
            <a:ext cx="4330824" cy="536145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CFG with the following productions, Convert to GNF :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S-&gt;XY|XW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X-&gt;YZ|a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Z-&gt;c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Y-&gt;WZ|b</a:t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W-&gt;d</a:t>
            </a:r>
            <a:endParaRPr/>
          </a:p>
          <a:p>
            <a:pPr indent="-213359" lvl="0" marL="3429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Substitute W value in Y production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Y-&gt;WZ|b, rewritten as-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Y-&gt;dZ|b</a:t>
            </a:r>
            <a:endParaRPr sz="2400"/>
          </a:p>
          <a:p>
            <a:pPr indent="-342900" lvl="0" marL="3429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Substitute Y value in X production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X-&gt;YZ|a, rewritten as-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X-&gt;dZZ|bZ|a</a:t>
            </a:r>
            <a:endParaRPr sz="2400"/>
          </a:p>
          <a:p>
            <a:pPr indent="-342900" lvl="0" marL="3429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Substitute X value in S production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S-&gt;XY|XW, rewritten as-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S-&gt;dZZY|bZY|aY|dZZW|bZW|aW</a:t>
            </a:r>
            <a:endParaRPr sz="2400"/>
          </a:p>
          <a:p>
            <a:pPr indent="-213359" lvl="0" marL="3429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325" name="Google Shape;325;p29"/>
          <p:cNvSpPr txBox="1"/>
          <p:nvPr/>
        </p:nvSpPr>
        <p:spPr>
          <a:xfrm>
            <a:off x="4932040" y="764704"/>
            <a:ext cx="4032448" cy="5400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productions are-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S-&gt;dZZY|bZY|aY|dZZW|bZW|aW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X-&gt;dZZ|bZ|a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Y-&gt;dZ|b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W-&gt;d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Z-&gt;c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27" name="Google Shape;32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3</a:t>
            </a:r>
            <a:endParaRPr/>
          </a:p>
        </p:txBody>
      </p:sp>
      <p:sp>
        <p:nvSpPr>
          <p:cNvPr id="333" name="Google Shape;333;p30"/>
          <p:cNvSpPr txBox="1"/>
          <p:nvPr>
            <p:ph idx="1" type="body"/>
          </p:nvPr>
        </p:nvSpPr>
        <p:spPr>
          <a:xfrm>
            <a:off x="107504" y="548680"/>
            <a:ext cx="4042792" cy="5361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Consider a CFG with the following productions, Convert to GNF 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S-&gt;AA|0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A-&gt;SS|1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34" name="Google Shape;33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35" name="Google Shape;335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3</a:t>
            </a:r>
            <a:endParaRPr/>
          </a:p>
        </p:txBody>
      </p:sp>
      <p:sp>
        <p:nvSpPr>
          <p:cNvPr id="341" name="Google Shape;341;p31"/>
          <p:cNvSpPr txBox="1"/>
          <p:nvPr>
            <p:ph idx="1" type="body"/>
          </p:nvPr>
        </p:nvSpPr>
        <p:spPr>
          <a:xfrm>
            <a:off x="107504" y="548680"/>
            <a:ext cx="4042792" cy="5361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Consider a CFG with the following productions, Convert to GNF 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S-&gt;AA|0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A-&gt;SS|1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42" name="Google Shape;34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43" name="Google Shape;34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3</a:t>
            </a:r>
            <a:endParaRPr/>
          </a:p>
        </p:txBody>
      </p:sp>
      <p:sp>
        <p:nvSpPr>
          <p:cNvPr id="349" name="Google Shape;349;p32"/>
          <p:cNvSpPr txBox="1"/>
          <p:nvPr>
            <p:ph idx="1" type="body"/>
          </p:nvPr>
        </p:nvSpPr>
        <p:spPr>
          <a:xfrm>
            <a:off x="457200" y="764704"/>
            <a:ext cx="4042792" cy="536145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CFG with the following productions, Convert to GNF :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S-&gt;AA|0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A-&gt;SS|1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Substitute first S in production of A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A-&gt;SS|1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A-&gt;AAS|0S|1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left recursion is there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eliminate Left recursion-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A-&gt;0SZ|1Z|0S|1		GNF Form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Z-&gt;ASZ|AS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Productions are: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S-&gt;AA|0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A-&gt;0SZ|1Z|0S|1		GNF Form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Z-&gt;ASZ|AS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350" name="Google Shape;35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51" name="Google Shape;35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4788024" y="764704"/>
            <a:ext cx="4042792" cy="536145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substitute the Value of A in S production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S-&gt;0SZA|1ZA|0SA|1A|0	GNF Form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A-&gt;0SZ|1Z|0S|1		GNF Form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Z-&gt;ASZ|AS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substitute the Value of A in Z production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S-&gt;0SZA|1ZA|0SA|1A|0	GNF Form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A-&gt;0SZ|1Z|0S|1		GNF Form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Z-&gt;</a:t>
            </a:r>
            <a:r>
              <a:rPr b="1" lang="en-IN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0SZSZ|1ZSZ|0SSZ|1SZ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0SZS|1ZS|0SS|1S	 GNF Form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/>
          <p:cNvSpPr txBox="1"/>
          <p:nvPr/>
        </p:nvSpPr>
        <p:spPr>
          <a:xfrm>
            <a:off x="2267744" y="5034662"/>
            <a:ext cx="2232248" cy="338554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Removal of Recursion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6516216" y="2514382"/>
            <a:ext cx="2232248" cy="338554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Substitution Rule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6516216" y="5013176"/>
            <a:ext cx="2232248" cy="338554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Substitution Rule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2267744" y="2514382"/>
            <a:ext cx="2232248" cy="338554"/>
          </a:xfrm>
          <a:prstGeom prst="rect">
            <a:avLst/>
          </a:prstGeom>
          <a:gradFill>
            <a:gsLst>
              <a:gs pos="0">
                <a:srgbClr val="C86C1F"/>
              </a:gs>
              <a:gs pos="80000">
                <a:srgbClr val="FF8E29"/>
              </a:gs>
              <a:gs pos="100000">
                <a:srgbClr val="FF8D25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Substitution Rule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4</a:t>
            </a:r>
            <a:endParaRPr/>
          </a:p>
        </p:txBody>
      </p:sp>
      <p:sp>
        <p:nvSpPr>
          <p:cNvPr id="362" name="Google Shape;362;p33"/>
          <p:cNvSpPr txBox="1"/>
          <p:nvPr>
            <p:ph idx="1" type="body"/>
          </p:nvPr>
        </p:nvSpPr>
        <p:spPr>
          <a:xfrm>
            <a:off x="251515" y="593006"/>
            <a:ext cx="8640900" cy="6048600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the following grammar into GNF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E-&gt;E+T|T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T-&gt;T*F|F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F-&gt;(E)|a</a:t>
            </a:r>
            <a:endParaRPr/>
          </a:p>
        </p:txBody>
      </p:sp>
      <p:sp>
        <p:nvSpPr>
          <p:cNvPr id="363" name="Google Shape;363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64" name="Google Shape;36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4</a:t>
            </a:r>
            <a:endParaRPr/>
          </a:p>
        </p:txBody>
      </p:sp>
      <p:sp>
        <p:nvSpPr>
          <p:cNvPr id="370" name="Google Shape;370;p34"/>
          <p:cNvSpPr txBox="1"/>
          <p:nvPr>
            <p:ph idx="1" type="body"/>
          </p:nvPr>
        </p:nvSpPr>
        <p:spPr>
          <a:xfrm>
            <a:off x="323528" y="332656"/>
            <a:ext cx="8640960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Convert the following grammar into GNF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E-&gt;E+T|T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T-&gt;T*F|F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F-&gt;(E)|a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Substitution Rule-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E-&gt;E+T|T*F|F or E-&gt;E+T|T*F|(E)|a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 T-&gt;T*F|(E)|a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F-&gt;(E)|a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Step 1: Remove unit productions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E-&gt;T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T-&gt;F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After removal of unit productions, we get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E-&gt;E+T|T*F|(E)|a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T-&gt;T*F|(E)|a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F-&gt;(E)|a</a:t>
            </a:r>
            <a:endParaRPr/>
          </a:p>
        </p:txBody>
      </p:sp>
      <p:sp>
        <p:nvSpPr>
          <p:cNvPr id="371" name="Google Shape;3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72" name="Google Shape;37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4</a:t>
            </a:r>
            <a:endParaRPr/>
          </a:p>
        </p:txBody>
      </p:sp>
      <p:sp>
        <p:nvSpPr>
          <p:cNvPr id="378" name="Google Shape;378;p35"/>
          <p:cNvSpPr txBox="1"/>
          <p:nvPr>
            <p:ph idx="1" type="body"/>
          </p:nvPr>
        </p:nvSpPr>
        <p:spPr>
          <a:xfrm>
            <a:off x="323528" y="332656"/>
            <a:ext cx="8640960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Step 2: Replace terminals of the productions which are not in GNF form by variables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E-&gt;E+T|T*F|(E)|a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T-&gt;T*F|(E)|a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F-&gt;(E)|a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Introduce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</a:t>
            </a:r>
            <a:r>
              <a:rPr baseline="-25000" lang="en-IN" sz="2400"/>
              <a:t>1</a:t>
            </a:r>
            <a:r>
              <a:rPr lang="en-IN" sz="2400"/>
              <a:t>-&gt;+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</a:t>
            </a:r>
            <a:r>
              <a:rPr baseline="-25000" lang="en-IN" sz="2400"/>
              <a:t>2</a:t>
            </a:r>
            <a:r>
              <a:rPr lang="en-IN" sz="2400"/>
              <a:t>-&gt;*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</a:t>
            </a:r>
            <a:r>
              <a:rPr baseline="-25000" lang="en-IN" sz="2400"/>
              <a:t>3</a:t>
            </a:r>
            <a:r>
              <a:rPr lang="en-IN" sz="2400"/>
              <a:t>-&gt;)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The resulting Productions are-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E-&gt;EA</a:t>
            </a:r>
            <a:r>
              <a:rPr baseline="-25000" lang="en-IN" sz="2400"/>
              <a:t>1</a:t>
            </a:r>
            <a:r>
              <a:rPr lang="en-IN" sz="2400"/>
              <a:t>T|TA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F-&gt;(EA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Now all F productions are in GNF form</a:t>
            </a:r>
            <a:endParaRPr/>
          </a:p>
        </p:txBody>
      </p:sp>
      <p:sp>
        <p:nvSpPr>
          <p:cNvPr id="379" name="Google Shape;379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80" name="Google Shape;38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4</a:t>
            </a:r>
            <a:endParaRPr/>
          </a:p>
        </p:txBody>
      </p:sp>
      <p:sp>
        <p:nvSpPr>
          <p:cNvPr id="386" name="Google Shape;386;p36"/>
          <p:cNvSpPr txBox="1"/>
          <p:nvPr>
            <p:ph idx="1" type="body"/>
          </p:nvPr>
        </p:nvSpPr>
        <p:spPr>
          <a:xfrm>
            <a:off x="323528" y="332656"/>
            <a:ext cx="8640960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Step 3:Remove Left Recursion for T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E-&gt;EA</a:t>
            </a:r>
            <a:r>
              <a:rPr baseline="-25000" lang="en-IN" sz="2400"/>
              <a:t>1</a:t>
            </a:r>
            <a:r>
              <a:rPr lang="en-IN" sz="2400"/>
              <a:t>T|TA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IN" sz="2400">
                <a:solidFill>
                  <a:srgbClr val="0070C0"/>
                </a:solidFill>
              </a:rPr>
              <a:t>F-&gt;(EA</a:t>
            </a:r>
            <a:r>
              <a:rPr baseline="-25000" lang="en-IN" sz="2400">
                <a:solidFill>
                  <a:srgbClr val="0070C0"/>
                </a:solidFill>
              </a:rPr>
              <a:t>3</a:t>
            </a:r>
            <a:r>
              <a:rPr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Left Recursion Removal-for T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Replace T-&gt;TA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 by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T-&gt;(EA</a:t>
            </a:r>
            <a:r>
              <a:rPr baseline="-25000" lang="en-IN" sz="2400"/>
              <a:t>3</a:t>
            </a:r>
            <a:r>
              <a:rPr lang="en-IN" sz="2400"/>
              <a:t>Z</a:t>
            </a:r>
            <a:r>
              <a:rPr baseline="-25000" lang="en-IN" sz="2400"/>
              <a:t>1</a:t>
            </a:r>
            <a:r>
              <a:rPr lang="en-IN" sz="2400"/>
              <a:t>|aZ</a:t>
            </a:r>
            <a:r>
              <a:rPr baseline="-25000" lang="en-IN" sz="2400"/>
              <a:t>1</a:t>
            </a:r>
            <a:r>
              <a:rPr lang="en-IN" sz="2400"/>
              <a:t>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Z</a:t>
            </a:r>
            <a:r>
              <a:rPr baseline="-25000" lang="en-IN" sz="2400"/>
              <a:t>1</a:t>
            </a:r>
            <a:r>
              <a:rPr lang="en-IN" sz="2400"/>
              <a:t>-&gt;A</a:t>
            </a:r>
            <a:r>
              <a:rPr baseline="-25000" lang="en-IN" sz="2400"/>
              <a:t>2</a:t>
            </a:r>
            <a:r>
              <a:rPr lang="en-IN" sz="2400"/>
              <a:t>FZ</a:t>
            </a:r>
            <a:r>
              <a:rPr baseline="-25000" lang="en-IN" sz="2400"/>
              <a:t>1</a:t>
            </a:r>
            <a:r>
              <a:rPr lang="en-IN" sz="2400"/>
              <a:t>|A</a:t>
            </a:r>
            <a:r>
              <a:rPr baseline="-25000" lang="en-IN" sz="2400"/>
              <a:t>2</a:t>
            </a:r>
            <a:r>
              <a:rPr lang="en-IN" sz="2400"/>
              <a:t>F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Substituting, we get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</a:t>
            </a:r>
            <a:r>
              <a:rPr baseline="-25000" lang="en-IN" sz="2400"/>
              <a:t>2</a:t>
            </a:r>
            <a:r>
              <a:rPr lang="en-IN" sz="2400"/>
              <a:t>-&gt;*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T-&gt;(EA</a:t>
            </a:r>
            <a:r>
              <a:rPr baseline="-25000" lang="en-IN" sz="2400"/>
              <a:t>3</a:t>
            </a:r>
            <a:r>
              <a:rPr lang="en-IN" sz="2400"/>
              <a:t>Z</a:t>
            </a:r>
            <a:r>
              <a:rPr baseline="-25000" lang="en-IN" sz="2400"/>
              <a:t>1</a:t>
            </a:r>
            <a:r>
              <a:rPr lang="en-IN" sz="2400"/>
              <a:t>|aZ</a:t>
            </a:r>
            <a:r>
              <a:rPr baseline="-25000" lang="en-IN" sz="2400"/>
              <a:t>1</a:t>
            </a:r>
            <a:r>
              <a:rPr lang="en-IN" sz="2400"/>
              <a:t>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Z</a:t>
            </a:r>
            <a:r>
              <a:rPr baseline="-25000" lang="en-IN" sz="2400"/>
              <a:t>1</a:t>
            </a:r>
            <a:r>
              <a:rPr lang="en-IN" sz="2400"/>
              <a:t>-&gt;*FZ</a:t>
            </a:r>
            <a:r>
              <a:rPr baseline="-25000" lang="en-IN" sz="2400"/>
              <a:t>1</a:t>
            </a:r>
            <a:r>
              <a:rPr lang="en-IN" sz="2400"/>
              <a:t>|*F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So Productions are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E-&gt;EA</a:t>
            </a:r>
            <a:r>
              <a:rPr baseline="-25000" lang="en-IN" sz="2400"/>
              <a:t>1</a:t>
            </a:r>
            <a:r>
              <a:rPr lang="en-IN" sz="2400"/>
              <a:t>T|TA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T-&gt;(EA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-&gt;*FZ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|*F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F-&gt;(EA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387" name="Google Shape;38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88" name="Google Shape;38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4</a:t>
            </a:r>
            <a:endParaRPr/>
          </a:p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23528" y="332656"/>
            <a:ext cx="8640960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Productions are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E-&gt;EA</a:t>
            </a:r>
            <a:r>
              <a:rPr baseline="-25000" lang="en-IN" sz="2400"/>
              <a:t>1</a:t>
            </a:r>
            <a:r>
              <a:rPr lang="en-IN" sz="2400"/>
              <a:t>T|TA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T-&gt;(EA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-&gt;*FZ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|*F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F-&gt;(EA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For Production E-&gt;TA</a:t>
            </a:r>
            <a:r>
              <a:rPr baseline="-25000" lang="en-IN" sz="2400"/>
              <a:t>2</a:t>
            </a:r>
            <a:r>
              <a:rPr lang="en-IN" sz="2400"/>
              <a:t>F , Substitute the value of T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Replace E-&gt;TA</a:t>
            </a:r>
            <a:r>
              <a:rPr baseline="-25000" lang="en-IN" sz="2400"/>
              <a:t>2</a:t>
            </a:r>
            <a:r>
              <a:rPr lang="en-IN" sz="2400"/>
              <a:t>F  by 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E-&gt;(EA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so Replace E-&gt;EA</a:t>
            </a:r>
            <a:r>
              <a:rPr baseline="-25000" lang="en-IN" sz="2400"/>
              <a:t>1</a:t>
            </a:r>
            <a:r>
              <a:rPr lang="en-IN" sz="2400"/>
              <a:t>T|TA</a:t>
            </a:r>
            <a:r>
              <a:rPr baseline="-25000" lang="en-IN" sz="2400"/>
              <a:t>2</a:t>
            </a:r>
            <a:r>
              <a:rPr lang="en-IN" sz="2400"/>
              <a:t>F|(EA</a:t>
            </a:r>
            <a:r>
              <a:rPr baseline="-25000" lang="en-IN" sz="2400"/>
              <a:t>3</a:t>
            </a:r>
            <a:r>
              <a:rPr lang="en-IN" sz="2400"/>
              <a:t>|a by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Productions are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T-&gt;(EA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-&gt;*FZ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|*F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F-&gt;(EA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All productions of E are in GNF except E-&gt;EA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endParaRPr/>
          </a:p>
        </p:txBody>
      </p:sp>
      <p:sp>
        <p:nvSpPr>
          <p:cNvPr id="395" name="Google Shape;39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396" name="Google Shape;39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 txBox="1"/>
          <p:nvPr>
            <p:ph type="title"/>
          </p:nvPr>
        </p:nvSpPr>
        <p:spPr>
          <a:xfrm>
            <a:off x="395536" y="0"/>
            <a:ext cx="8229600" cy="476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GNF, Greibach Normal Form-Example 4</a:t>
            </a:r>
            <a:endParaRPr/>
          </a:p>
        </p:txBody>
      </p:sp>
      <p:sp>
        <p:nvSpPr>
          <p:cNvPr id="402" name="Google Shape;402;p38"/>
          <p:cNvSpPr txBox="1"/>
          <p:nvPr>
            <p:ph idx="1" type="body"/>
          </p:nvPr>
        </p:nvSpPr>
        <p:spPr>
          <a:xfrm>
            <a:off x="179512" y="332656"/>
            <a:ext cx="8280920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Productions are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E-&gt;EA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T-&gt;(EA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-&gt;*FZ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|*F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F-&gt;(EA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All productions of E are in GNF except E-&gt;EA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Removing Left recursion for E-&gt;EA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Replace E-&gt;EA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 by 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/>
              <a:t>E-&gt;</a:t>
            </a:r>
            <a:r>
              <a:rPr b="1" lang="en-IN" sz="2400">
                <a:solidFill>
                  <a:srgbClr val="0070C0"/>
                </a:solidFill>
              </a:rPr>
              <a:t>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|a|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-&gt;</a:t>
            </a:r>
            <a:r>
              <a:rPr lang="en-IN" sz="2400"/>
              <a:t>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lang="en-IN" sz="2400"/>
              <a:t>| A</a:t>
            </a:r>
            <a:r>
              <a:rPr baseline="-25000" lang="en-IN" sz="2400"/>
              <a:t>1</a:t>
            </a:r>
            <a:r>
              <a:rPr lang="en-IN" sz="2400"/>
              <a:t>T</a:t>
            </a:r>
            <a:endParaRPr b="1"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Substituting + for </a:t>
            </a:r>
            <a:r>
              <a:rPr lang="en-IN" sz="2400"/>
              <a:t>A</a:t>
            </a:r>
            <a:r>
              <a:rPr baseline="-25000" lang="en-IN" sz="2400"/>
              <a:t>1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-&gt;+</a:t>
            </a:r>
            <a:r>
              <a:rPr lang="en-IN" sz="2400"/>
              <a:t>T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lang="en-IN" sz="2400"/>
              <a:t>| +T</a:t>
            </a:r>
            <a:endParaRPr b="1"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Resulting grammar is-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E-&gt;(EA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F|aA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F|(EA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|a|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-&gt;+TZ</a:t>
            </a:r>
            <a:r>
              <a:rPr b="1" baseline="-25000" lang="en-IN" sz="2400">
                <a:solidFill>
                  <a:srgbClr val="0070C0"/>
                </a:solidFill>
              </a:rPr>
              <a:t>2</a:t>
            </a:r>
            <a:r>
              <a:rPr b="1" lang="en-IN" sz="2400">
                <a:solidFill>
                  <a:srgbClr val="0070C0"/>
                </a:solidFill>
              </a:rPr>
              <a:t>| +T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T-&gt;(EA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|aZ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-&gt;*FZ</a:t>
            </a:r>
            <a:r>
              <a:rPr b="1" baseline="-25000" lang="en-IN" sz="2400">
                <a:solidFill>
                  <a:srgbClr val="0070C0"/>
                </a:solidFill>
              </a:rPr>
              <a:t>1</a:t>
            </a:r>
            <a:r>
              <a:rPr b="1" lang="en-IN" sz="2400">
                <a:solidFill>
                  <a:srgbClr val="0070C0"/>
                </a:solidFill>
              </a:rPr>
              <a:t>|*F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IN" sz="2400">
                <a:solidFill>
                  <a:srgbClr val="0070C0"/>
                </a:solidFill>
              </a:rPr>
              <a:t>F-&gt;(EA</a:t>
            </a:r>
            <a:r>
              <a:rPr b="1" baseline="-25000" lang="en-IN" sz="2400">
                <a:solidFill>
                  <a:srgbClr val="0070C0"/>
                </a:solidFill>
              </a:rPr>
              <a:t>3</a:t>
            </a:r>
            <a:r>
              <a:rPr b="1" lang="en-IN" sz="2400">
                <a:solidFill>
                  <a:srgbClr val="0070C0"/>
                </a:solidFill>
              </a:rPr>
              <a:t>|a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403" name="Google Shape;403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10-09-2025</a:t>
            </a:r>
            <a:endParaRPr/>
          </a:p>
        </p:txBody>
      </p:sp>
      <p:sp>
        <p:nvSpPr>
          <p:cNvPr id="404" name="Google Shape;40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2022-04-04T08:46:34Z</dcterms:created>
  <dc:creator>Admin</dc:creator>
</cp:coreProperties>
</file>