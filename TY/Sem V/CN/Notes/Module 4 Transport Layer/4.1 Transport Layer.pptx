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slide" Target="slides/slide79.xml"/><Relationship Id="rId83" Type="http://schemas.openxmlformats.org/officeDocument/2006/relationships/slide" Target="slides/slide78.xml"/><Relationship Id="rId42" Type="http://schemas.openxmlformats.org/officeDocument/2006/relationships/slide" Target="slides/slide37.xml"/><Relationship Id="rId86" Type="http://schemas.openxmlformats.org/officeDocument/2006/relationships/slide" Target="slides/slide81.xml"/><Relationship Id="rId41" Type="http://schemas.openxmlformats.org/officeDocument/2006/relationships/slide" Target="slides/slide36.xml"/><Relationship Id="rId85" Type="http://schemas.openxmlformats.org/officeDocument/2006/relationships/slide" Target="slides/slide80.xml"/><Relationship Id="rId44" Type="http://schemas.openxmlformats.org/officeDocument/2006/relationships/slide" Target="slides/slide39.xml"/><Relationship Id="rId88" Type="http://schemas.openxmlformats.org/officeDocument/2006/relationships/slide" Target="slides/slide83.xml"/><Relationship Id="rId43" Type="http://schemas.openxmlformats.org/officeDocument/2006/relationships/slide" Target="slides/slide38.xml"/><Relationship Id="rId87" Type="http://schemas.openxmlformats.org/officeDocument/2006/relationships/slide" Target="slides/slide82.xml"/><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0" Type="http://schemas.openxmlformats.org/officeDocument/2006/relationships/slide" Target="slides/slide85.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7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8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8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8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1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2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3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2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3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3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3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3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3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3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Transport Layer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Transport Layer Services</a:t>
            </a:r>
            <a:endParaRPr/>
          </a:p>
        </p:txBody>
      </p:sp>
      <p:sp>
        <p:nvSpPr>
          <p:cNvPr id="90" name="Google Shape;90;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FF0000"/>
              </a:buClr>
              <a:buSzPts val="3200"/>
              <a:buChar char="•"/>
            </a:pPr>
            <a:r>
              <a:rPr b="1" i="1" lang="en-US">
                <a:solidFill>
                  <a:srgbClr val="FF0000"/>
                </a:solidFill>
              </a:rPr>
              <a:t>Process-to-Process Communication</a:t>
            </a:r>
            <a:endParaRPr/>
          </a:p>
          <a:p>
            <a:pPr indent="-139700" lvl="0" marL="342900" rtl="0" algn="l">
              <a:spcBef>
                <a:spcPts val="640"/>
              </a:spcBef>
              <a:spcAft>
                <a:spcPts val="0"/>
              </a:spcAft>
              <a:buClr>
                <a:schemeClr val="dk1"/>
              </a:buClr>
              <a:buSzPts val="3200"/>
              <a:buNone/>
            </a:pPr>
            <a:r>
              <a:t/>
            </a:r>
            <a:endParaRPr/>
          </a:p>
        </p:txBody>
      </p:sp>
      <p:pic>
        <p:nvPicPr>
          <p:cNvPr id="91" name="Google Shape;91;p14"/>
          <p:cNvPicPr preferRelativeResize="0"/>
          <p:nvPr/>
        </p:nvPicPr>
        <p:blipFill rotWithShape="1">
          <a:blip r:embed="rId3">
            <a:alphaModFix/>
          </a:blip>
          <a:srcRect b="0" l="0" r="0" t="0"/>
          <a:stretch/>
        </p:blipFill>
        <p:spPr>
          <a:xfrm>
            <a:off x="533400" y="2819400"/>
            <a:ext cx="8374718" cy="3810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Transport Layer Services</a:t>
            </a:r>
            <a:endParaRPr/>
          </a:p>
        </p:txBody>
      </p:sp>
      <p:sp>
        <p:nvSpPr>
          <p:cNvPr id="97" name="Google Shape;97;p15"/>
          <p:cNvSpPr txBox="1"/>
          <p:nvPr>
            <p:ph idx="1" type="body"/>
          </p:nvPr>
        </p:nvSpPr>
        <p:spPr>
          <a:xfrm>
            <a:off x="152400" y="1600200"/>
            <a:ext cx="8839200" cy="5105400"/>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spcBef>
                <a:spcPts val="0"/>
              </a:spcBef>
              <a:spcAft>
                <a:spcPts val="0"/>
              </a:spcAft>
              <a:buClr>
                <a:srgbClr val="FF0000"/>
              </a:buClr>
              <a:buSzPct val="100000"/>
              <a:buChar char="•"/>
            </a:pPr>
            <a:r>
              <a:rPr b="1" i="1" lang="en-US">
                <a:solidFill>
                  <a:srgbClr val="FF0000"/>
                </a:solidFill>
              </a:rPr>
              <a:t>Addressing: Port Numbers</a:t>
            </a:r>
            <a:endParaRPr/>
          </a:p>
          <a:p>
            <a:pPr indent="-342900" lvl="0" marL="342900" rtl="0" algn="just">
              <a:spcBef>
                <a:spcPts val="592"/>
              </a:spcBef>
              <a:spcAft>
                <a:spcPts val="0"/>
              </a:spcAft>
              <a:buClr>
                <a:schemeClr val="dk1"/>
              </a:buClr>
              <a:buSzPct val="100000"/>
              <a:buChar char="•"/>
            </a:pPr>
            <a:r>
              <a:rPr lang="en-US"/>
              <a:t>To define the processes, we need second identifiers, called </a:t>
            </a:r>
            <a:r>
              <a:rPr b="1" lang="en-US"/>
              <a:t>port numbers.</a:t>
            </a:r>
            <a:endParaRPr/>
          </a:p>
          <a:p>
            <a:pPr indent="-154940" lvl="0" marL="342900" rtl="0" algn="just">
              <a:spcBef>
                <a:spcPts val="592"/>
              </a:spcBef>
              <a:spcAft>
                <a:spcPts val="0"/>
              </a:spcAft>
              <a:buClr>
                <a:schemeClr val="dk1"/>
              </a:buClr>
              <a:buSzPct val="100000"/>
              <a:buNone/>
            </a:pPr>
            <a:r>
              <a:t/>
            </a:r>
            <a:endParaRPr b="1"/>
          </a:p>
          <a:p>
            <a:pPr indent="-342900" lvl="0" marL="342900" rtl="0" algn="just">
              <a:spcBef>
                <a:spcPts val="592"/>
              </a:spcBef>
              <a:spcAft>
                <a:spcPts val="0"/>
              </a:spcAft>
              <a:buClr>
                <a:schemeClr val="dk1"/>
              </a:buClr>
              <a:buSzPct val="100000"/>
              <a:buChar char="•"/>
            </a:pPr>
            <a:r>
              <a:rPr lang="en-US"/>
              <a:t>Port Address – 16 bit</a:t>
            </a:r>
            <a:endParaRPr/>
          </a:p>
          <a:p>
            <a:pPr indent="-154940" lvl="0" marL="342900" rtl="0" algn="just">
              <a:spcBef>
                <a:spcPts val="592"/>
              </a:spcBef>
              <a:spcAft>
                <a:spcPts val="0"/>
              </a:spcAft>
              <a:buClr>
                <a:schemeClr val="dk1"/>
              </a:buClr>
              <a:buSzPct val="100000"/>
              <a:buNone/>
            </a:pPr>
            <a:r>
              <a:t/>
            </a:r>
            <a:endParaRPr/>
          </a:p>
          <a:p>
            <a:pPr indent="-342900" lvl="0" marL="342900" rtl="0" algn="just">
              <a:spcBef>
                <a:spcPts val="592"/>
              </a:spcBef>
              <a:spcAft>
                <a:spcPts val="0"/>
              </a:spcAft>
              <a:buClr>
                <a:schemeClr val="dk1"/>
              </a:buClr>
              <a:buSzPct val="100000"/>
              <a:buChar char="•"/>
            </a:pPr>
            <a:r>
              <a:rPr lang="en-US"/>
              <a:t>The client program defines itself with a port number, called the </a:t>
            </a:r>
            <a:r>
              <a:rPr b="1" lang="en-US"/>
              <a:t>ephemeral port number – short lived</a:t>
            </a:r>
            <a:endParaRPr/>
          </a:p>
          <a:p>
            <a:pPr indent="-154940" lvl="0" marL="342900" rtl="0" algn="just">
              <a:spcBef>
                <a:spcPts val="592"/>
              </a:spcBef>
              <a:spcAft>
                <a:spcPts val="0"/>
              </a:spcAft>
              <a:buClr>
                <a:schemeClr val="dk1"/>
              </a:buClr>
              <a:buSzPct val="100000"/>
              <a:buNone/>
            </a:pPr>
            <a:r>
              <a:t/>
            </a:r>
            <a:endParaRPr b="1"/>
          </a:p>
          <a:p>
            <a:pPr indent="-342900" lvl="0" marL="342900" rtl="0" algn="l">
              <a:spcBef>
                <a:spcPts val="592"/>
              </a:spcBef>
              <a:spcAft>
                <a:spcPts val="0"/>
              </a:spcAft>
              <a:buClr>
                <a:schemeClr val="dk1"/>
              </a:buClr>
              <a:buSzPct val="100000"/>
              <a:buChar char="•"/>
            </a:pPr>
            <a:r>
              <a:rPr lang="en-US"/>
              <a:t>TCP/IP has decided to use universal port numbers for servers; called </a:t>
            </a:r>
            <a:r>
              <a:rPr b="1" lang="en-US"/>
              <a:t>well-known port numbers.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Transport Layer Services</a:t>
            </a:r>
            <a:endParaRPr/>
          </a:p>
        </p:txBody>
      </p:sp>
      <p:sp>
        <p:nvSpPr>
          <p:cNvPr id="103" name="Google Shape;103;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id="104" name="Google Shape;104;p16"/>
          <p:cNvPicPr preferRelativeResize="0"/>
          <p:nvPr/>
        </p:nvPicPr>
        <p:blipFill rotWithShape="1">
          <a:blip r:embed="rId3">
            <a:alphaModFix/>
          </a:blip>
          <a:srcRect b="0" l="0" r="0" t="0"/>
          <a:stretch/>
        </p:blipFill>
        <p:spPr>
          <a:xfrm>
            <a:off x="457200" y="1598852"/>
            <a:ext cx="8226573" cy="48019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Transport Layer Services</a:t>
            </a:r>
            <a:endParaRPr/>
          </a:p>
        </p:txBody>
      </p:sp>
      <p:sp>
        <p:nvSpPr>
          <p:cNvPr id="110" name="Google Shape;110;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rgbClr val="FF0000"/>
              </a:buClr>
              <a:buSzPts val="3200"/>
              <a:buChar char="•"/>
            </a:pPr>
            <a:r>
              <a:rPr b="1" i="1" lang="en-US">
                <a:solidFill>
                  <a:srgbClr val="FF0000"/>
                </a:solidFill>
              </a:rPr>
              <a:t>ICANN (Internet Corporation for Assigned Names and Numbers) Range</a:t>
            </a:r>
            <a:endParaRPr/>
          </a:p>
          <a:p>
            <a:pPr indent="-139700" lvl="0" marL="342900" rtl="0" algn="just">
              <a:spcBef>
                <a:spcPts val="640"/>
              </a:spcBef>
              <a:spcAft>
                <a:spcPts val="0"/>
              </a:spcAft>
              <a:buClr>
                <a:schemeClr val="dk1"/>
              </a:buClr>
              <a:buSzPts val="3200"/>
              <a:buNone/>
            </a:pPr>
            <a:r>
              <a:t/>
            </a:r>
            <a:endParaRPr b="1" i="1">
              <a:solidFill>
                <a:srgbClr val="FF0000"/>
              </a:solidFill>
            </a:endParaRPr>
          </a:p>
        </p:txBody>
      </p:sp>
      <p:pic>
        <p:nvPicPr>
          <p:cNvPr id="111" name="Google Shape;111;p17"/>
          <p:cNvPicPr preferRelativeResize="0"/>
          <p:nvPr/>
        </p:nvPicPr>
        <p:blipFill rotWithShape="1">
          <a:blip r:embed="rId3">
            <a:alphaModFix/>
          </a:blip>
          <a:srcRect b="0" l="0" r="0" t="0"/>
          <a:stretch/>
        </p:blipFill>
        <p:spPr>
          <a:xfrm>
            <a:off x="0" y="2971800"/>
            <a:ext cx="9144000" cy="2895600"/>
          </a:xfrm>
          <a:prstGeom prst="rect">
            <a:avLst/>
          </a:prstGeom>
          <a:noFill/>
          <a:ln>
            <a:noFill/>
          </a:ln>
        </p:spPr>
      </p:pic>
      <p:sp>
        <p:nvSpPr>
          <p:cNvPr id="112" name="Google Shape;112;p17"/>
          <p:cNvSpPr txBox="1"/>
          <p:nvPr/>
        </p:nvSpPr>
        <p:spPr>
          <a:xfrm>
            <a:off x="2590800" y="5181600"/>
            <a:ext cx="2667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Not controlled by ICANN only registered here</a:t>
            </a:r>
            <a:endParaRPr sz="1800">
              <a:solidFill>
                <a:schemeClr val="dk1"/>
              </a:solidFill>
              <a:latin typeface="Calibri"/>
              <a:ea typeface="Calibri"/>
              <a:cs typeface="Calibri"/>
              <a:sym typeface="Calibri"/>
            </a:endParaRPr>
          </a:p>
        </p:txBody>
      </p:sp>
      <p:sp>
        <p:nvSpPr>
          <p:cNvPr id="113" name="Google Shape;113;p17"/>
          <p:cNvSpPr txBox="1"/>
          <p:nvPr/>
        </p:nvSpPr>
        <p:spPr>
          <a:xfrm>
            <a:off x="0" y="5638800"/>
            <a:ext cx="15240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Assigned and controlled by ICANN</a:t>
            </a:r>
            <a:endParaRPr sz="1800">
              <a:solidFill>
                <a:schemeClr val="dk1"/>
              </a:solidFill>
              <a:latin typeface="Calibri"/>
              <a:ea typeface="Calibri"/>
              <a:cs typeface="Calibri"/>
              <a:sym typeface="Calibri"/>
            </a:endParaRPr>
          </a:p>
        </p:txBody>
      </p:sp>
      <p:sp>
        <p:nvSpPr>
          <p:cNvPr id="114" name="Google Shape;114;p17"/>
          <p:cNvSpPr txBox="1"/>
          <p:nvPr/>
        </p:nvSpPr>
        <p:spPr>
          <a:xfrm>
            <a:off x="6629400" y="5410200"/>
            <a:ext cx="21336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Neither controlled nor registered by ICANN</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Transport Layer Services</a:t>
            </a:r>
            <a:endParaRPr/>
          </a:p>
        </p:txBody>
      </p:sp>
      <p:sp>
        <p:nvSpPr>
          <p:cNvPr id="120" name="Google Shape;120;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FF0000"/>
              </a:buClr>
              <a:buSzPts val="3200"/>
              <a:buChar char="•"/>
            </a:pPr>
            <a:r>
              <a:rPr b="1" i="1" lang="en-US">
                <a:solidFill>
                  <a:srgbClr val="FF0000"/>
                </a:solidFill>
              </a:rPr>
              <a:t>Encapsulation and Decapsulation</a:t>
            </a:r>
            <a:endParaRPr b="1" i="1">
              <a:solidFill>
                <a:srgbClr val="FF0000"/>
              </a:solidFill>
            </a:endParaRPr>
          </a:p>
          <a:p>
            <a:pPr indent="-139700" lvl="0" marL="342900" rtl="0" algn="l">
              <a:spcBef>
                <a:spcPts val="640"/>
              </a:spcBef>
              <a:spcAft>
                <a:spcPts val="0"/>
              </a:spcAft>
              <a:buClr>
                <a:schemeClr val="dk1"/>
              </a:buClr>
              <a:buSzPts val="3200"/>
              <a:buNone/>
            </a:pPr>
            <a:r>
              <a:t/>
            </a:r>
            <a:endParaRPr>
              <a:solidFill>
                <a:srgbClr val="FF0000"/>
              </a:solidFill>
            </a:endParaRPr>
          </a:p>
        </p:txBody>
      </p:sp>
      <p:pic>
        <p:nvPicPr>
          <p:cNvPr id="121" name="Google Shape;121;p18"/>
          <p:cNvPicPr preferRelativeResize="0"/>
          <p:nvPr/>
        </p:nvPicPr>
        <p:blipFill rotWithShape="1">
          <a:blip r:embed="rId3">
            <a:alphaModFix/>
          </a:blip>
          <a:srcRect b="0" l="0" r="0" t="0"/>
          <a:stretch/>
        </p:blipFill>
        <p:spPr>
          <a:xfrm>
            <a:off x="0" y="2286000"/>
            <a:ext cx="9144000" cy="4572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Transport Layer Services</a:t>
            </a:r>
            <a:endParaRPr/>
          </a:p>
        </p:txBody>
      </p:sp>
      <p:sp>
        <p:nvSpPr>
          <p:cNvPr id="127" name="Google Shape;12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rgbClr val="FF0000"/>
              </a:buClr>
              <a:buSzPts val="3200"/>
              <a:buChar char="•"/>
            </a:pPr>
            <a:r>
              <a:rPr b="1" i="1" lang="en-US">
                <a:solidFill>
                  <a:srgbClr val="FF0000"/>
                </a:solidFill>
              </a:rPr>
              <a:t>Multiplexing and Demultiplexing</a:t>
            </a:r>
            <a:endParaRPr b="1" i="1">
              <a:solidFill>
                <a:srgbClr val="FF0000"/>
              </a:solidFill>
            </a:endParaRPr>
          </a:p>
          <a:p>
            <a:pPr indent="-342900" lvl="0" marL="342900" rtl="0" algn="just">
              <a:spcBef>
                <a:spcPts val="640"/>
              </a:spcBef>
              <a:spcAft>
                <a:spcPts val="0"/>
              </a:spcAft>
              <a:buClr>
                <a:schemeClr val="dk1"/>
              </a:buClr>
              <a:buSzPts val="3200"/>
              <a:buNone/>
            </a:pPr>
            <a:r>
              <a:t/>
            </a:r>
            <a:endParaRPr b="1" i="1">
              <a:solidFill>
                <a:srgbClr val="FF0000"/>
              </a:solidFill>
            </a:endParaRPr>
          </a:p>
          <a:p>
            <a:pPr indent="-342900" lvl="0" marL="342900" rtl="0" algn="just">
              <a:spcBef>
                <a:spcPts val="640"/>
              </a:spcBef>
              <a:spcAft>
                <a:spcPts val="0"/>
              </a:spcAft>
              <a:buClr>
                <a:schemeClr val="dk1"/>
              </a:buClr>
              <a:buSzPts val="3200"/>
              <a:buChar char="•"/>
            </a:pPr>
            <a:r>
              <a:rPr lang="en-US"/>
              <a:t>The transport layer at the source performs multiplexing; the transport layer at the destination performs demultiplexing</a:t>
            </a:r>
            <a:endParaRPr b="1" i="1">
              <a:solidFill>
                <a:srgbClr val="FF0000"/>
              </a:solidFill>
            </a:endParaRPr>
          </a:p>
          <a:p>
            <a:pPr indent="-139700" lvl="0" marL="342900" rtl="0" algn="just">
              <a:spcBef>
                <a:spcPts val="640"/>
              </a:spcBef>
              <a:spcAft>
                <a:spcPts val="0"/>
              </a:spcAft>
              <a:buClr>
                <a:schemeClr val="dk1"/>
              </a:buClr>
              <a:buSzPts val="3200"/>
              <a:buNone/>
            </a:pPr>
            <a:r>
              <a:t/>
            </a:r>
            <a:endParaRPr>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0"/>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idx="1" type="body"/>
          </p:nvPr>
        </p:nvSpPr>
        <p:spPr>
          <a:xfrm>
            <a:off x="152400" y="1600200"/>
            <a:ext cx="8839200" cy="51054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i="1" lang="en-US"/>
              <a:t>Flow Control</a:t>
            </a:r>
            <a:endParaRPr/>
          </a:p>
          <a:p>
            <a:pPr indent="-342900" lvl="0" marL="342900" rtl="0" algn="just">
              <a:spcBef>
                <a:spcPts val="640"/>
              </a:spcBef>
              <a:spcAft>
                <a:spcPts val="0"/>
              </a:spcAft>
              <a:buClr>
                <a:schemeClr val="dk1"/>
              </a:buClr>
              <a:buSzPts val="3200"/>
              <a:buChar char="•"/>
            </a:pPr>
            <a:r>
              <a:rPr lang="en-US"/>
              <a:t>balance between production and consumption rates.</a:t>
            </a:r>
            <a:endParaRPr/>
          </a:p>
          <a:p>
            <a:pPr indent="-342900" lvl="0" marL="342900" rtl="0" algn="just">
              <a:spcBef>
                <a:spcPts val="640"/>
              </a:spcBef>
              <a:spcAft>
                <a:spcPts val="0"/>
              </a:spcAft>
              <a:buClr>
                <a:schemeClr val="dk1"/>
              </a:buClr>
              <a:buSzPts val="3200"/>
              <a:buChar char="•"/>
            </a:pPr>
            <a:r>
              <a:rPr b="1" i="1" lang="en-US"/>
              <a:t>Pushing or Pulling</a:t>
            </a:r>
            <a:endParaRPr/>
          </a:p>
          <a:p>
            <a:pPr indent="-342900" lvl="0" marL="342900" rtl="0" algn="just">
              <a:spcBef>
                <a:spcPts val="640"/>
              </a:spcBef>
              <a:spcAft>
                <a:spcPts val="0"/>
              </a:spcAft>
              <a:buClr>
                <a:schemeClr val="dk1"/>
              </a:buClr>
              <a:buSzPts val="3200"/>
              <a:buChar char="•"/>
            </a:pPr>
            <a:r>
              <a:rPr b="1" i="1" lang="en-US"/>
              <a:t>Pushing - </a:t>
            </a:r>
            <a:r>
              <a:rPr lang="en-US"/>
              <a:t>If the sender delivers items whenever they are produced ⎯ without a prior request from the consumer</a:t>
            </a:r>
            <a:endParaRPr/>
          </a:p>
          <a:p>
            <a:pPr indent="-342900" lvl="0" marL="342900" rtl="0" algn="just">
              <a:spcBef>
                <a:spcPts val="640"/>
              </a:spcBef>
              <a:spcAft>
                <a:spcPts val="0"/>
              </a:spcAft>
              <a:buClr>
                <a:schemeClr val="dk1"/>
              </a:buClr>
              <a:buSzPts val="3200"/>
              <a:buChar char="•"/>
            </a:pPr>
            <a:r>
              <a:rPr b="1" i="1" lang="en-US"/>
              <a:t>Pulling -</a:t>
            </a:r>
            <a:r>
              <a:rPr lang="en-US"/>
              <a:t> If the producer delivers the items after the consumer has requested them</a:t>
            </a:r>
            <a:endParaRPr/>
          </a:p>
        </p:txBody>
      </p:sp>
      <p:sp>
        <p:nvSpPr>
          <p:cNvPr id="138" name="Google Shape;138;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Transport Layer Services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22"/>
          <p:cNvPicPr preferRelativeResize="0"/>
          <p:nvPr/>
        </p:nvPicPr>
        <p:blipFill rotWithShape="1">
          <a:blip r:embed="rId3">
            <a:alphaModFix/>
          </a:blip>
          <a:srcRect b="0" l="0" r="0" t="0"/>
          <a:stretch/>
        </p:blipFill>
        <p:spPr>
          <a:xfrm>
            <a:off x="124721" y="1295400"/>
            <a:ext cx="8894553" cy="4572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Transport Layer Services</a:t>
            </a:r>
            <a:endParaRPr/>
          </a:p>
        </p:txBody>
      </p:sp>
      <p:sp>
        <p:nvSpPr>
          <p:cNvPr id="149" name="Google Shape;149;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FF0000"/>
              </a:buClr>
              <a:buSzPts val="3200"/>
              <a:buChar char="•"/>
            </a:pPr>
            <a:r>
              <a:rPr b="1" i="1" lang="en-US">
                <a:solidFill>
                  <a:srgbClr val="FF0000"/>
                </a:solidFill>
              </a:rPr>
              <a:t>Flow Control at Transport Layer</a:t>
            </a:r>
            <a:endParaRPr/>
          </a:p>
          <a:p>
            <a:pPr indent="-139700" lvl="0" marL="342900" rtl="0" algn="l">
              <a:spcBef>
                <a:spcPts val="640"/>
              </a:spcBef>
              <a:spcAft>
                <a:spcPts val="0"/>
              </a:spcAft>
              <a:buClr>
                <a:schemeClr val="dk1"/>
              </a:buClr>
              <a:buSzPts val="3200"/>
              <a:buNone/>
            </a:pPr>
            <a:r>
              <a:t/>
            </a:r>
            <a:endParaRPr>
              <a:solidFill>
                <a:srgbClr val="FF0000"/>
              </a:solidFill>
            </a:endParaRPr>
          </a:p>
        </p:txBody>
      </p:sp>
      <p:pic>
        <p:nvPicPr>
          <p:cNvPr id="150" name="Google Shape;150;p23"/>
          <p:cNvPicPr preferRelativeResize="0"/>
          <p:nvPr/>
        </p:nvPicPr>
        <p:blipFill rotWithShape="1">
          <a:blip r:embed="rId3">
            <a:alphaModFix/>
          </a:blip>
          <a:srcRect b="0" l="0" r="0" t="0"/>
          <a:stretch/>
        </p:blipFill>
        <p:spPr>
          <a:xfrm>
            <a:off x="0" y="2209799"/>
            <a:ext cx="9144000" cy="457865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4"/>
          <p:cNvSpPr txBox="1"/>
          <p:nvPr>
            <p:ph idx="1" type="body"/>
          </p:nvPr>
        </p:nvSpPr>
        <p:spPr>
          <a:xfrm>
            <a:off x="0" y="1600200"/>
            <a:ext cx="9144000" cy="525780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Clr>
                <a:schemeClr val="dk1"/>
              </a:buClr>
              <a:buSzPct val="100000"/>
              <a:buChar char="•"/>
            </a:pPr>
            <a:r>
              <a:rPr b="1" i="1" lang="en-US"/>
              <a:t>Buffers</a:t>
            </a:r>
            <a:endParaRPr/>
          </a:p>
          <a:p>
            <a:pPr indent="-342900" lvl="0" marL="342900" rtl="0" algn="just">
              <a:spcBef>
                <a:spcPts val="592"/>
              </a:spcBef>
              <a:spcAft>
                <a:spcPts val="0"/>
              </a:spcAft>
              <a:buClr>
                <a:schemeClr val="dk1"/>
              </a:buClr>
              <a:buSzPct val="100000"/>
              <a:buChar char="•"/>
            </a:pPr>
            <a:r>
              <a:rPr lang="en-US"/>
              <a:t>use two buffers: one at the sending transport layer and the other at the receiving transport layer.</a:t>
            </a:r>
            <a:endParaRPr/>
          </a:p>
          <a:p>
            <a:pPr indent="-154940" lvl="0" marL="342900" rtl="0" algn="just">
              <a:spcBef>
                <a:spcPts val="592"/>
              </a:spcBef>
              <a:spcAft>
                <a:spcPts val="0"/>
              </a:spcAft>
              <a:buClr>
                <a:schemeClr val="dk1"/>
              </a:buClr>
              <a:buSzPct val="100000"/>
              <a:buNone/>
            </a:pPr>
            <a:r>
              <a:t/>
            </a:r>
            <a:endParaRPr/>
          </a:p>
          <a:p>
            <a:pPr indent="-342900" lvl="0" marL="342900" rtl="0" algn="just">
              <a:spcBef>
                <a:spcPts val="592"/>
              </a:spcBef>
              <a:spcAft>
                <a:spcPts val="0"/>
              </a:spcAft>
              <a:buClr>
                <a:schemeClr val="dk1"/>
              </a:buClr>
              <a:buSzPct val="100000"/>
              <a:buChar char="•"/>
            </a:pPr>
            <a:r>
              <a:rPr lang="en-US"/>
              <a:t>When the buffer of the sending transport layer is full, it informs the application layer to stop passing chunks of messages.</a:t>
            </a:r>
            <a:endParaRPr/>
          </a:p>
          <a:p>
            <a:pPr indent="-154940" lvl="0" marL="342900" rtl="0" algn="just">
              <a:spcBef>
                <a:spcPts val="592"/>
              </a:spcBef>
              <a:spcAft>
                <a:spcPts val="0"/>
              </a:spcAft>
              <a:buClr>
                <a:schemeClr val="dk1"/>
              </a:buClr>
              <a:buSzPct val="100000"/>
              <a:buNone/>
            </a:pPr>
            <a:r>
              <a:t/>
            </a:r>
            <a:endParaRPr/>
          </a:p>
          <a:p>
            <a:pPr indent="-342900" lvl="0" marL="342900" rtl="0" algn="just">
              <a:spcBef>
                <a:spcPts val="592"/>
              </a:spcBef>
              <a:spcAft>
                <a:spcPts val="0"/>
              </a:spcAft>
              <a:buClr>
                <a:schemeClr val="dk1"/>
              </a:buClr>
              <a:buSzPct val="100000"/>
              <a:buChar char="•"/>
            </a:pPr>
            <a:r>
              <a:rPr lang="en-US"/>
              <a:t>When the buffer of the receiving transport layer is full, it informs the sending transport layer to stop sending packets.</a:t>
            </a:r>
            <a:endParaRPr/>
          </a:p>
        </p:txBody>
      </p:sp>
      <p:sp>
        <p:nvSpPr>
          <p:cNvPr id="156" name="Google Shape;15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Transport Layer Services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rgbClr val="FF0000"/>
              </a:buClr>
              <a:buSzPct val="100000"/>
              <a:buChar char="•"/>
            </a:pPr>
            <a:r>
              <a:rPr b="1" i="1" lang="en-US">
                <a:solidFill>
                  <a:srgbClr val="FF0000"/>
                </a:solidFill>
              </a:rPr>
              <a:t>Error Control</a:t>
            </a:r>
            <a:endParaRPr/>
          </a:p>
          <a:p>
            <a:pPr indent="-342900" lvl="0" marL="342900" rtl="0" algn="l">
              <a:spcBef>
                <a:spcPts val="592"/>
              </a:spcBef>
              <a:spcAft>
                <a:spcPts val="0"/>
              </a:spcAft>
              <a:buClr>
                <a:schemeClr val="dk1"/>
              </a:buClr>
              <a:buSzPct val="100000"/>
              <a:buChar char="•"/>
            </a:pPr>
            <a:r>
              <a:rPr lang="en-US"/>
              <a:t>Error control at the transport layer is responsible for</a:t>
            </a:r>
            <a:endParaRPr/>
          </a:p>
          <a:p>
            <a:pPr indent="-342900" lvl="0" marL="342900" rtl="0" algn="l">
              <a:spcBef>
                <a:spcPts val="592"/>
              </a:spcBef>
              <a:spcAft>
                <a:spcPts val="0"/>
              </a:spcAft>
              <a:buClr>
                <a:schemeClr val="dk1"/>
              </a:buClr>
              <a:buSzPct val="100000"/>
              <a:buNone/>
            </a:pPr>
            <a:r>
              <a:rPr lang="en-US"/>
              <a:t>1. Detecting and discarding corrupted packets.</a:t>
            </a:r>
            <a:endParaRPr/>
          </a:p>
          <a:p>
            <a:pPr indent="-342900" lvl="0" marL="342900" rtl="0" algn="l">
              <a:spcBef>
                <a:spcPts val="592"/>
              </a:spcBef>
              <a:spcAft>
                <a:spcPts val="0"/>
              </a:spcAft>
              <a:buClr>
                <a:schemeClr val="dk1"/>
              </a:buClr>
              <a:buSzPct val="100000"/>
              <a:buNone/>
            </a:pPr>
            <a:r>
              <a:rPr lang="en-US"/>
              <a:t>2. Keeping track of lost and discarded packets and resending them.</a:t>
            </a:r>
            <a:endParaRPr/>
          </a:p>
          <a:p>
            <a:pPr indent="-342900" lvl="0" marL="342900" rtl="0" algn="l">
              <a:spcBef>
                <a:spcPts val="592"/>
              </a:spcBef>
              <a:spcAft>
                <a:spcPts val="0"/>
              </a:spcAft>
              <a:buClr>
                <a:schemeClr val="dk1"/>
              </a:buClr>
              <a:buSzPct val="100000"/>
              <a:buNone/>
            </a:pPr>
            <a:r>
              <a:rPr lang="en-US"/>
              <a:t>3. Recognizing duplicate packets and discarding them.</a:t>
            </a:r>
            <a:endParaRPr/>
          </a:p>
          <a:p>
            <a:pPr indent="-342900" lvl="0" marL="342900" rtl="0" algn="l">
              <a:spcBef>
                <a:spcPts val="592"/>
              </a:spcBef>
              <a:spcAft>
                <a:spcPts val="0"/>
              </a:spcAft>
              <a:buClr>
                <a:schemeClr val="dk1"/>
              </a:buClr>
              <a:buSzPct val="100000"/>
              <a:buNone/>
            </a:pPr>
            <a:r>
              <a:rPr lang="en-US"/>
              <a:t>4. Buffering out-of-order packets until the missing packets arrive.</a:t>
            </a:r>
            <a:endParaRPr>
              <a:solidFill>
                <a:srgbClr val="FF0000"/>
              </a:solidFill>
            </a:endParaRPr>
          </a:p>
        </p:txBody>
      </p:sp>
      <p:sp>
        <p:nvSpPr>
          <p:cNvPr id="162" name="Google Shape;162;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Transport Layer Services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Transport Layer Services</a:t>
            </a:r>
            <a:endParaRPr/>
          </a:p>
        </p:txBody>
      </p:sp>
      <p:sp>
        <p:nvSpPr>
          <p:cNvPr id="168" name="Google Shape;168;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Receiving transport layer manages error control, most of the time, by informing the sending transport layer about the problems.</a:t>
            </a:r>
            <a:endParaRPr/>
          </a:p>
        </p:txBody>
      </p:sp>
      <p:pic>
        <p:nvPicPr>
          <p:cNvPr id="169" name="Google Shape;169;p26"/>
          <p:cNvPicPr preferRelativeResize="0"/>
          <p:nvPr/>
        </p:nvPicPr>
        <p:blipFill rotWithShape="1">
          <a:blip r:embed="rId3">
            <a:alphaModFix/>
          </a:blip>
          <a:srcRect b="0" l="0" r="0" t="0"/>
          <a:stretch/>
        </p:blipFill>
        <p:spPr>
          <a:xfrm>
            <a:off x="457200" y="3505200"/>
            <a:ext cx="8020137" cy="2971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Transport Layer Services</a:t>
            </a:r>
            <a:endParaRPr/>
          </a:p>
        </p:txBody>
      </p:sp>
      <p:sp>
        <p:nvSpPr>
          <p:cNvPr id="175" name="Google Shape;175;p27"/>
          <p:cNvSpPr txBox="1"/>
          <p:nvPr>
            <p:ph idx="1" type="body"/>
          </p:nvPr>
        </p:nvSpPr>
        <p:spPr>
          <a:xfrm>
            <a:off x="228600" y="1371600"/>
            <a:ext cx="8686800" cy="52578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rgbClr val="FF0000"/>
              </a:buClr>
              <a:buSzPts val="3200"/>
              <a:buChar char="•"/>
            </a:pPr>
            <a:r>
              <a:rPr b="1" i="1" lang="en-US">
                <a:solidFill>
                  <a:srgbClr val="FF0000"/>
                </a:solidFill>
              </a:rPr>
              <a:t>Sequence Numbers</a:t>
            </a:r>
            <a:endParaRPr/>
          </a:p>
          <a:p>
            <a:pPr indent="-342900" lvl="0" marL="342900" rtl="0" algn="just">
              <a:spcBef>
                <a:spcPts val="640"/>
              </a:spcBef>
              <a:spcAft>
                <a:spcPts val="0"/>
              </a:spcAft>
              <a:buClr>
                <a:schemeClr val="dk1"/>
              </a:buClr>
              <a:buSzPts val="3200"/>
              <a:buChar char="•"/>
            </a:pPr>
            <a:r>
              <a:rPr lang="en-US"/>
              <a:t>For error control, the sequence numbers are modulo 2m, where m is the size of the sequence number field in bits.</a:t>
            </a:r>
            <a:endParaRPr/>
          </a:p>
          <a:p>
            <a:pPr indent="-139700" lvl="0" marL="342900" rtl="0" algn="just">
              <a:spcBef>
                <a:spcPts val="640"/>
              </a:spcBef>
              <a:spcAft>
                <a:spcPts val="0"/>
              </a:spcAft>
              <a:buClr>
                <a:schemeClr val="dk1"/>
              </a:buClr>
              <a:buSzPts val="3200"/>
              <a:buNone/>
            </a:pPr>
            <a:r>
              <a:t/>
            </a:r>
            <a:endParaRPr>
              <a:solidFill>
                <a:srgbClr val="FF0000"/>
              </a:solidFill>
            </a:endParaRPr>
          </a:p>
          <a:p>
            <a:pPr indent="-342900" lvl="0" marL="342900" rtl="0" algn="just">
              <a:spcBef>
                <a:spcPts val="640"/>
              </a:spcBef>
              <a:spcAft>
                <a:spcPts val="0"/>
              </a:spcAft>
              <a:buClr>
                <a:srgbClr val="FF0000"/>
              </a:buClr>
              <a:buSzPts val="3200"/>
              <a:buChar char="•"/>
            </a:pPr>
            <a:r>
              <a:rPr b="1" i="1" lang="en-US">
                <a:solidFill>
                  <a:srgbClr val="FF0000"/>
                </a:solidFill>
              </a:rPr>
              <a:t>Acknowledgment</a:t>
            </a:r>
            <a:endParaRPr/>
          </a:p>
          <a:p>
            <a:pPr indent="-342900" lvl="0" marL="342900" rtl="0" algn="just">
              <a:spcBef>
                <a:spcPts val="640"/>
              </a:spcBef>
              <a:spcAft>
                <a:spcPts val="0"/>
              </a:spcAft>
              <a:buClr>
                <a:schemeClr val="dk1"/>
              </a:buClr>
              <a:buSzPts val="3200"/>
              <a:buChar char="•"/>
            </a:pPr>
            <a:r>
              <a:rPr lang="en-US"/>
              <a:t>both positive and negative ack signals as error control</a:t>
            </a:r>
            <a:endParaRPr>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Transport Layer Services</a:t>
            </a:r>
            <a:endParaRPr/>
          </a:p>
        </p:txBody>
      </p:sp>
      <p:sp>
        <p:nvSpPr>
          <p:cNvPr id="181" name="Google Shape;181;p28"/>
          <p:cNvSpPr txBox="1"/>
          <p:nvPr>
            <p:ph idx="1" type="body"/>
          </p:nvPr>
        </p:nvSpPr>
        <p:spPr>
          <a:xfrm>
            <a:off x="228600" y="1600200"/>
            <a:ext cx="8686800" cy="50292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rgbClr val="FF0000"/>
              </a:buClr>
              <a:buSzPts val="3200"/>
              <a:buChar char="•"/>
            </a:pPr>
            <a:r>
              <a:rPr b="1" i="1" lang="en-US">
                <a:solidFill>
                  <a:srgbClr val="FF0000"/>
                </a:solidFill>
              </a:rPr>
              <a:t>Congestion Control</a:t>
            </a:r>
            <a:endParaRPr/>
          </a:p>
          <a:p>
            <a:pPr indent="-342900" lvl="0" marL="342900" rtl="0" algn="just">
              <a:spcBef>
                <a:spcPts val="640"/>
              </a:spcBef>
              <a:spcAft>
                <a:spcPts val="0"/>
              </a:spcAft>
              <a:buClr>
                <a:schemeClr val="dk1"/>
              </a:buClr>
              <a:buSzPts val="3200"/>
              <a:buChar char="•"/>
            </a:pPr>
            <a:r>
              <a:rPr lang="en-US"/>
              <a:t>Congestion control refers to the mechanisms and techniques that control the congestion and keep the load below the capacity.</a:t>
            </a:r>
            <a:endParaRPr/>
          </a:p>
          <a:p>
            <a:pPr indent="-139700" lvl="0" marL="342900" rtl="0" algn="just">
              <a:spcBef>
                <a:spcPts val="640"/>
              </a:spcBef>
              <a:spcAft>
                <a:spcPts val="0"/>
              </a:spcAft>
              <a:buClr>
                <a:schemeClr val="dk1"/>
              </a:buClr>
              <a:buSzPts val="3200"/>
              <a:buNone/>
            </a:pPr>
            <a:r>
              <a:t/>
            </a:r>
            <a:endParaRPr>
              <a:solidFill>
                <a:srgbClr val="FF0000"/>
              </a:solidFill>
            </a:endParaRPr>
          </a:p>
          <a:p>
            <a:pPr indent="-342900" lvl="0" marL="342900" rtl="0" algn="just">
              <a:spcBef>
                <a:spcPts val="640"/>
              </a:spcBef>
              <a:spcAft>
                <a:spcPts val="0"/>
              </a:spcAft>
              <a:buClr>
                <a:schemeClr val="dk1"/>
              </a:buClr>
              <a:buSzPts val="3200"/>
              <a:buChar char="•"/>
            </a:pPr>
            <a:r>
              <a:rPr lang="en-US"/>
              <a:t>Congestion at the transport layer is actually the result of congestion at the network layer, which manifests itself at the transport layer.</a:t>
            </a:r>
            <a:endParaRPr>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i="1" lang="en-US"/>
              <a:t>Connectionless service</a:t>
            </a:r>
            <a:endParaRPr b="1"/>
          </a:p>
        </p:txBody>
      </p:sp>
      <p:sp>
        <p:nvSpPr>
          <p:cNvPr id="187" name="Google Shape;187;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id="188" name="Google Shape;188;p29"/>
          <p:cNvPicPr preferRelativeResize="0"/>
          <p:nvPr/>
        </p:nvPicPr>
        <p:blipFill rotWithShape="1">
          <a:blip r:embed="rId3">
            <a:alphaModFix/>
          </a:blip>
          <a:srcRect b="0" l="0" r="0" t="0"/>
          <a:stretch/>
        </p:blipFill>
        <p:spPr>
          <a:xfrm>
            <a:off x="0" y="1427771"/>
            <a:ext cx="8915400" cy="543022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i="1" lang="en-US"/>
              <a:t>Connection-Oriented Service</a:t>
            </a:r>
            <a:endParaRPr/>
          </a:p>
        </p:txBody>
      </p:sp>
      <p:sp>
        <p:nvSpPr>
          <p:cNvPr id="194" name="Google Shape;194;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id="195" name="Google Shape;195;p30"/>
          <p:cNvPicPr preferRelativeResize="0"/>
          <p:nvPr/>
        </p:nvPicPr>
        <p:blipFill rotWithShape="1">
          <a:blip r:embed="rId3">
            <a:alphaModFix/>
          </a:blip>
          <a:srcRect b="0" l="0" r="0" t="0"/>
          <a:stretch/>
        </p:blipFill>
        <p:spPr>
          <a:xfrm>
            <a:off x="0" y="1219200"/>
            <a:ext cx="9144000" cy="5638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i="1" lang="en-US"/>
              <a:t>Finite State Machine</a:t>
            </a:r>
            <a:endParaRPr/>
          </a:p>
        </p:txBody>
      </p:sp>
      <p:sp>
        <p:nvSpPr>
          <p:cNvPr id="201" name="Google Shape;201;p31"/>
          <p:cNvSpPr txBox="1"/>
          <p:nvPr>
            <p:ph idx="1" type="body"/>
          </p:nvPr>
        </p:nvSpPr>
        <p:spPr>
          <a:xfrm>
            <a:off x="152400" y="1371600"/>
            <a:ext cx="8839200" cy="52578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Behavior of a transport-layer protocol, both when it provides a connectionless and when it provides a connection-oriented protocol, can be better shown as a </a:t>
            </a:r>
            <a:r>
              <a:rPr b="1" lang="en-US"/>
              <a:t>finite state machine (FSM).</a:t>
            </a:r>
            <a:endParaRPr/>
          </a:p>
          <a:p>
            <a:pPr indent="-139700" lvl="0" marL="342900" rtl="0" algn="just">
              <a:spcBef>
                <a:spcPts val="640"/>
              </a:spcBef>
              <a:spcAft>
                <a:spcPts val="0"/>
              </a:spcAft>
              <a:buClr>
                <a:schemeClr val="dk1"/>
              </a:buClr>
              <a:buSzPts val="3200"/>
              <a:buNone/>
            </a:pPr>
            <a:r>
              <a:t/>
            </a:r>
            <a:endParaRPr b="1"/>
          </a:p>
          <a:p>
            <a:pPr indent="-342900" lvl="0" marL="342900" rtl="0" algn="l">
              <a:spcBef>
                <a:spcPts val="640"/>
              </a:spcBef>
              <a:spcAft>
                <a:spcPts val="0"/>
              </a:spcAft>
              <a:buClr>
                <a:schemeClr val="dk1"/>
              </a:buClr>
              <a:buSzPts val="3200"/>
              <a:buChar char="•"/>
            </a:pPr>
            <a:r>
              <a:rPr lang="en-US"/>
              <a:t>each transport layer (sender or receiver) is taught as a machine with a finite number of states.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32"/>
          <p:cNvPicPr preferRelativeResize="0"/>
          <p:nvPr/>
        </p:nvPicPr>
        <p:blipFill rotWithShape="1">
          <a:blip r:embed="rId3">
            <a:alphaModFix/>
          </a:blip>
          <a:srcRect b="0" l="0" r="0" t="0"/>
          <a:stretch/>
        </p:blipFill>
        <p:spPr>
          <a:xfrm>
            <a:off x="0" y="36998"/>
            <a:ext cx="9144000" cy="68210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USER DATAGRAM PROTOCOL</a:t>
            </a:r>
            <a:endParaRPr/>
          </a:p>
        </p:txBody>
      </p:sp>
      <p:sp>
        <p:nvSpPr>
          <p:cNvPr id="212" name="Google Shape;212;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UDP is an unreliable connectionless transport-layer protocol used for its simplicity and efficiency in applications where error control can be provided by the application-layer process.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Why use UDP?</a:t>
            </a:r>
            <a:endParaRPr/>
          </a:p>
        </p:txBody>
      </p:sp>
      <p:sp>
        <p:nvSpPr>
          <p:cNvPr id="218" name="Google Shape;218;p34"/>
          <p:cNvSpPr txBox="1"/>
          <p:nvPr>
            <p:ph idx="1" type="body"/>
          </p:nvPr>
        </p:nvSpPr>
        <p:spPr>
          <a:xfrm>
            <a:off x="0" y="1600200"/>
            <a:ext cx="9144000" cy="52578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UDP is a very simple protocol using a minimum of overhead.</a:t>
            </a:r>
            <a:endParaRPr/>
          </a:p>
          <a:p>
            <a:pPr indent="-139700" lvl="0" marL="342900" rtl="0" algn="just">
              <a:spcBef>
                <a:spcPts val="640"/>
              </a:spcBef>
              <a:spcAft>
                <a:spcPts val="0"/>
              </a:spcAft>
              <a:buClr>
                <a:schemeClr val="dk1"/>
              </a:buClr>
              <a:buSzPts val="3200"/>
              <a:buNone/>
            </a:pPr>
            <a:r>
              <a:t/>
            </a:r>
            <a:endParaRPr/>
          </a:p>
          <a:p>
            <a:pPr indent="-342900" lvl="0" marL="342900" rtl="0" algn="just">
              <a:spcBef>
                <a:spcPts val="640"/>
              </a:spcBef>
              <a:spcAft>
                <a:spcPts val="0"/>
              </a:spcAft>
              <a:buClr>
                <a:schemeClr val="dk1"/>
              </a:buClr>
              <a:buSzPts val="3200"/>
              <a:buChar char="•"/>
            </a:pPr>
            <a:r>
              <a:rPr lang="en-US"/>
              <a:t>If a process wants to send a small message and does not care much about reliability, it can use UDP.</a:t>
            </a:r>
            <a:endParaRPr/>
          </a:p>
          <a:p>
            <a:pPr indent="-139700" lvl="0" marL="342900" rtl="0" algn="just">
              <a:spcBef>
                <a:spcPts val="640"/>
              </a:spcBef>
              <a:spcAft>
                <a:spcPts val="0"/>
              </a:spcAft>
              <a:buClr>
                <a:schemeClr val="dk1"/>
              </a:buClr>
              <a:buSzPts val="3200"/>
              <a:buNone/>
            </a:pPr>
            <a:r>
              <a:t/>
            </a:r>
            <a:endParaRPr/>
          </a:p>
          <a:p>
            <a:pPr indent="-139700" lvl="0" marL="342900" rtl="0" algn="just">
              <a:spcBef>
                <a:spcPts val="640"/>
              </a:spcBef>
              <a:spcAft>
                <a:spcPts val="0"/>
              </a:spcAft>
              <a:buClr>
                <a:schemeClr val="dk1"/>
              </a:buClr>
              <a:buSzPts val="32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id="223" name="Google Shape;223;p35"/>
          <p:cNvPicPr preferRelativeResize="0"/>
          <p:nvPr/>
        </p:nvPicPr>
        <p:blipFill rotWithShape="1">
          <a:blip r:embed="rId3">
            <a:alphaModFix/>
          </a:blip>
          <a:srcRect b="0" l="0" r="0" t="0"/>
          <a:stretch/>
        </p:blipFill>
        <p:spPr>
          <a:xfrm>
            <a:off x="0" y="0"/>
            <a:ext cx="9010149" cy="6858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p36"/>
          <p:cNvPicPr preferRelativeResize="0"/>
          <p:nvPr/>
        </p:nvPicPr>
        <p:blipFill rotWithShape="1">
          <a:blip r:embed="rId3">
            <a:alphaModFix/>
          </a:blip>
          <a:srcRect b="0" l="0" r="0" t="0"/>
          <a:stretch/>
        </p:blipFill>
        <p:spPr>
          <a:xfrm>
            <a:off x="0" y="55294"/>
            <a:ext cx="9144000" cy="68176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UDP Services</a:t>
            </a:r>
            <a:endParaRPr b="1"/>
          </a:p>
        </p:txBody>
      </p:sp>
      <p:sp>
        <p:nvSpPr>
          <p:cNvPr id="234" name="Google Shape;234;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lang="en-US"/>
              <a:t>Process-to-Process Communication</a:t>
            </a:r>
            <a:endParaRPr/>
          </a:p>
          <a:p>
            <a:pPr indent="-342900" lvl="0" marL="342900" rtl="0" algn="just">
              <a:spcBef>
                <a:spcPts val="640"/>
              </a:spcBef>
              <a:spcAft>
                <a:spcPts val="0"/>
              </a:spcAft>
              <a:buClr>
                <a:schemeClr val="dk1"/>
              </a:buClr>
              <a:buSzPts val="3200"/>
              <a:buChar char="•"/>
            </a:pPr>
            <a:r>
              <a:rPr lang="en-US"/>
              <a:t>UDP provides process-to-process communication using </a:t>
            </a:r>
            <a:r>
              <a:rPr b="1" lang="en-US"/>
              <a:t>socket addresses, a combination </a:t>
            </a:r>
            <a:r>
              <a:rPr lang="en-US"/>
              <a:t>of IP addresses and port numbers.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p38"/>
          <p:cNvPicPr preferRelativeResize="0"/>
          <p:nvPr/>
        </p:nvPicPr>
        <p:blipFill rotWithShape="1">
          <a:blip r:embed="rId3">
            <a:alphaModFix/>
          </a:blip>
          <a:srcRect b="0" l="0" r="0" t="0"/>
          <a:stretch/>
        </p:blipFill>
        <p:spPr>
          <a:xfrm>
            <a:off x="228600" y="95693"/>
            <a:ext cx="8811491" cy="676230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UDP Services</a:t>
            </a:r>
            <a:endParaRPr/>
          </a:p>
        </p:txBody>
      </p:sp>
      <p:sp>
        <p:nvSpPr>
          <p:cNvPr id="245" name="Google Shape;245;p39"/>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i="1" lang="en-US"/>
              <a:t>Checksum</a:t>
            </a:r>
            <a:endParaRPr/>
          </a:p>
          <a:p>
            <a:pPr indent="-342900" lvl="0" marL="342900" rtl="0" algn="just">
              <a:spcBef>
                <a:spcPts val="640"/>
              </a:spcBef>
              <a:spcAft>
                <a:spcPts val="0"/>
              </a:spcAft>
              <a:buClr>
                <a:schemeClr val="dk1"/>
              </a:buClr>
              <a:buSzPts val="3200"/>
              <a:buChar char="•"/>
            </a:pPr>
            <a:r>
              <a:rPr lang="en-US"/>
              <a:t>What is Pseudo header?</a:t>
            </a:r>
            <a:endParaRPr/>
          </a:p>
          <a:p>
            <a:pPr indent="-342900" lvl="0" marL="342900" rtl="0" algn="just">
              <a:spcBef>
                <a:spcPts val="640"/>
              </a:spcBef>
              <a:spcAft>
                <a:spcPts val="0"/>
              </a:spcAft>
              <a:buClr>
                <a:schemeClr val="dk1"/>
              </a:buClr>
              <a:buSzPts val="3200"/>
              <a:buChar char="•"/>
            </a:pPr>
            <a:r>
              <a:rPr lang="en-US"/>
              <a:t>In Simple words, Pseudo header is one type of demo header that basically helps in calculating the CheckSum of TCP/UDP Packets. From the TCP or UDP point of view, the TCP packet does not contain IP addresses. Thus, to do a proper checksum, a "pseudo-header" is included.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https://www.slashroot.in/sites/default/files/TCP%3AUDP%20Checksum%20Calculation.png" id="250" name="Google Shape;250;p40"/>
          <p:cNvPicPr preferRelativeResize="0"/>
          <p:nvPr/>
        </p:nvPicPr>
        <p:blipFill rotWithShape="1">
          <a:blip r:embed="rId3">
            <a:alphaModFix/>
          </a:blip>
          <a:srcRect b="0" l="0" r="0" t="0"/>
          <a:stretch/>
        </p:blipFill>
        <p:spPr>
          <a:xfrm>
            <a:off x="0" y="1676400"/>
            <a:ext cx="8878955" cy="42672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41"/>
          <p:cNvPicPr preferRelativeResize="0"/>
          <p:nvPr/>
        </p:nvPicPr>
        <p:blipFill rotWithShape="1">
          <a:blip r:embed="rId3">
            <a:alphaModFix/>
          </a:blip>
          <a:srcRect b="0" l="0" r="0" t="0"/>
          <a:stretch/>
        </p:blipFill>
        <p:spPr>
          <a:xfrm>
            <a:off x="-6704" y="1143000"/>
            <a:ext cx="9150703" cy="44958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42"/>
          <p:cNvPicPr preferRelativeResize="0"/>
          <p:nvPr/>
        </p:nvPicPr>
        <p:blipFill rotWithShape="1">
          <a:blip r:embed="rId3">
            <a:alphaModFix/>
          </a:blip>
          <a:srcRect b="0" l="0" r="0" t="0"/>
          <a:stretch/>
        </p:blipFill>
        <p:spPr>
          <a:xfrm>
            <a:off x="0" y="1066800"/>
            <a:ext cx="9144000" cy="51308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3"/>
          <p:cNvSpPr txBox="1"/>
          <p:nvPr>
            <p:ph idx="1" type="body"/>
          </p:nvPr>
        </p:nvSpPr>
        <p:spPr>
          <a:xfrm>
            <a:off x="228600" y="1524000"/>
            <a:ext cx="8818418" cy="510540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just">
              <a:spcBef>
                <a:spcPts val="0"/>
              </a:spcBef>
              <a:spcAft>
                <a:spcPts val="0"/>
              </a:spcAft>
              <a:buClr>
                <a:schemeClr val="dk1"/>
              </a:buClr>
              <a:buSzPct val="100000"/>
              <a:buChar char="•"/>
            </a:pPr>
            <a:r>
              <a:rPr b="1" lang="en-US"/>
              <a:t>Connectionless Services</a:t>
            </a:r>
            <a:endParaRPr/>
          </a:p>
          <a:p>
            <a:pPr indent="-342900" lvl="0" marL="342900" rtl="0" algn="just">
              <a:spcBef>
                <a:spcPts val="592"/>
              </a:spcBef>
              <a:spcAft>
                <a:spcPts val="0"/>
              </a:spcAft>
              <a:buClr>
                <a:schemeClr val="dk1"/>
              </a:buClr>
              <a:buSzPct val="100000"/>
              <a:buChar char="•"/>
            </a:pPr>
            <a:r>
              <a:rPr lang="en-US"/>
              <a:t>UDP provides a </a:t>
            </a:r>
            <a:r>
              <a:rPr i="1" lang="en-US"/>
              <a:t>connectionless service.</a:t>
            </a:r>
            <a:endParaRPr/>
          </a:p>
          <a:p>
            <a:pPr indent="-154940" lvl="0" marL="342900" rtl="0" algn="just">
              <a:spcBef>
                <a:spcPts val="592"/>
              </a:spcBef>
              <a:spcAft>
                <a:spcPts val="0"/>
              </a:spcAft>
              <a:buClr>
                <a:schemeClr val="dk1"/>
              </a:buClr>
              <a:buSzPct val="100000"/>
              <a:buNone/>
            </a:pPr>
            <a:r>
              <a:t/>
            </a:r>
            <a:endParaRPr i="1"/>
          </a:p>
          <a:p>
            <a:pPr indent="-342900" lvl="0" marL="342900" rtl="0" algn="just">
              <a:spcBef>
                <a:spcPts val="592"/>
              </a:spcBef>
              <a:spcAft>
                <a:spcPts val="0"/>
              </a:spcAft>
              <a:buClr>
                <a:schemeClr val="dk1"/>
              </a:buClr>
              <a:buSzPct val="100000"/>
              <a:buChar char="•"/>
            </a:pPr>
            <a:r>
              <a:rPr lang="en-US"/>
              <a:t>Each user datagram sent by UDP is an independent datagram. </a:t>
            </a:r>
            <a:endParaRPr/>
          </a:p>
          <a:p>
            <a:pPr indent="-154940" lvl="0" marL="342900" rtl="0" algn="just">
              <a:spcBef>
                <a:spcPts val="592"/>
              </a:spcBef>
              <a:spcAft>
                <a:spcPts val="0"/>
              </a:spcAft>
              <a:buClr>
                <a:schemeClr val="dk1"/>
              </a:buClr>
              <a:buSzPct val="100000"/>
              <a:buNone/>
            </a:pPr>
            <a:r>
              <a:t/>
            </a:r>
            <a:endParaRPr/>
          </a:p>
          <a:p>
            <a:pPr indent="-342900" lvl="0" marL="342900" rtl="0" algn="just">
              <a:spcBef>
                <a:spcPts val="592"/>
              </a:spcBef>
              <a:spcAft>
                <a:spcPts val="0"/>
              </a:spcAft>
              <a:buClr>
                <a:schemeClr val="dk1"/>
              </a:buClr>
              <a:buSzPct val="100000"/>
              <a:buChar char="•"/>
            </a:pPr>
            <a:r>
              <a:rPr lang="en-US"/>
              <a:t>There is no relationship between the different user datagrams even if they are coming from the same source process and going to the same destination program.</a:t>
            </a:r>
            <a:endParaRPr/>
          </a:p>
        </p:txBody>
      </p:sp>
      <p:sp>
        <p:nvSpPr>
          <p:cNvPr id="266" name="Google Shape;266;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UDP Services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4"/>
          <p:cNvSpPr txBox="1"/>
          <p:nvPr>
            <p:ph idx="1" type="body"/>
          </p:nvPr>
        </p:nvSpPr>
        <p:spPr>
          <a:xfrm>
            <a:off x="228600" y="1600200"/>
            <a:ext cx="8763000" cy="5029200"/>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just">
              <a:spcBef>
                <a:spcPts val="0"/>
              </a:spcBef>
              <a:spcAft>
                <a:spcPts val="0"/>
              </a:spcAft>
              <a:buClr>
                <a:schemeClr val="dk1"/>
              </a:buClr>
              <a:buSzPct val="100000"/>
              <a:buChar char="•"/>
            </a:pPr>
            <a:r>
              <a:rPr b="1" lang="en-US"/>
              <a:t>Flow Control</a:t>
            </a:r>
            <a:endParaRPr/>
          </a:p>
          <a:p>
            <a:pPr indent="-342900" lvl="0" marL="342900" rtl="0" algn="just">
              <a:spcBef>
                <a:spcPts val="448"/>
              </a:spcBef>
              <a:spcAft>
                <a:spcPts val="0"/>
              </a:spcAft>
              <a:buClr>
                <a:schemeClr val="dk1"/>
              </a:buClr>
              <a:buSzPct val="100000"/>
              <a:buChar char="•"/>
            </a:pPr>
            <a:r>
              <a:rPr lang="en-US"/>
              <a:t>UDP is a very simple protocol. There is no </a:t>
            </a:r>
            <a:r>
              <a:rPr i="1" lang="en-US"/>
              <a:t>flow control</a:t>
            </a:r>
            <a:r>
              <a:rPr lang="en-US"/>
              <a:t>, and hence no window mechanism.</a:t>
            </a:r>
            <a:endParaRPr/>
          </a:p>
          <a:p>
            <a:pPr indent="-200660" lvl="0" marL="342900" rtl="0" algn="just">
              <a:spcBef>
                <a:spcPts val="448"/>
              </a:spcBef>
              <a:spcAft>
                <a:spcPts val="0"/>
              </a:spcAft>
              <a:buClr>
                <a:schemeClr val="dk1"/>
              </a:buClr>
              <a:buSzPct val="100000"/>
              <a:buNone/>
            </a:pPr>
            <a:r>
              <a:t/>
            </a:r>
            <a:endParaRPr/>
          </a:p>
          <a:p>
            <a:pPr indent="-342900" lvl="0" marL="342900" rtl="0" algn="l">
              <a:spcBef>
                <a:spcPts val="448"/>
              </a:spcBef>
              <a:spcAft>
                <a:spcPts val="0"/>
              </a:spcAft>
              <a:buClr>
                <a:schemeClr val="dk1"/>
              </a:buClr>
              <a:buSzPct val="100000"/>
              <a:buChar char="•"/>
            </a:pPr>
            <a:r>
              <a:rPr b="1" lang="en-US"/>
              <a:t>Error Control</a:t>
            </a:r>
            <a:endParaRPr/>
          </a:p>
          <a:p>
            <a:pPr indent="-342900" lvl="0" marL="342900" rtl="0" algn="l">
              <a:spcBef>
                <a:spcPts val="448"/>
              </a:spcBef>
              <a:spcAft>
                <a:spcPts val="0"/>
              </a:spcAft>
              <a:buClr>
                <a:schemeClr val="dk1"/>
              </a:buClr>
              <a:buSzPct val="100000"/>
              <a:buChar char="•"/>
            </a:pPr>
            <a:r>
              <a:rPr lang="en-US"/>
              <a:t>There is no error control mechanism in UDP except for the checksum. </a:t>
            </a:r>
            <a:endParaRPr/>
          </a:p>
          <a:p>
            <a:pPr indent="-200660" lvl="0" marL="342900" rtl="0" algn="l">
              <a:spcBef>
                <a:spcPts val="448"/>
              </a:spcBef>
              <a:spcAft>
                <a:spcPts val="0"/>
              </a:spcAft>
              <a:buClr>
                <a:schemeClr val="dk1"/>
              </a:buClr>
              <a:buSzPct val="100000"/>
              <a:buNone/>
            </a:pPr>
            <a:r>
              <a:t/>
            </a:r>
            <a:endParaRPr/>
          </a:p>
          <a:p>
            <a:pPr indent="-342900" lvl="0" marL="342900" rtl="0" algn="l">
              <a:spcBef>
                <a:spcPts val="448"/>
              </a:spcBef>
              <a:spcAft>
                <a:spcPts val="0"/>
              </a:spcAft>
              <a:buClr>
                <a:schemeClr val="dk1"/>
              </a:buClr>
              <a:buSzPct val="100000"/>
              <a:buChar char="•"/>
            </a:pPr>
            <a:r>
              <a:rPr lang="en-US"/>
              <a:t>Sender does not know if a message has been lost or duplicated. </a:t>
            </a:r>
            <a:endParaRPr/>
          </a:p>
          <a:p>
            <a:pPr indent="-200660" lvl="0" marL="342900" rtl="0" algn="l">
              <a:spcBef>
                <a:spcPts val="448"/>
              </a:spcBef>
              <a:spcAft>
                <a:spcPts val="0"/>
              </a:spcAft>
              <a:buClr>
                <a:schemeClr val="dk1"/>
              </a:buClr>
              <a:buSzPct val="100000"/>
              <a:buNone/>
            </a:pPr>
            <a:r>
              <a:t/>
            </a:r>
            <a:endParaRPr/>
          </a:p>
          <a:p>
            <a:pPr indent="-342900" lvl="0" marL="342900" rtl="0" algn="l">
              <a:spcBef>
                <a:spcPts val="448"/>
              </a:spcBef>
              <a:spcAft>
                <a:spcPts val="0"/>
              </a:spcAft>
              <a:buClr>
                <a:schemeClr val="dk1"/>
              </a:buClr>
              <a:buSzPct val="100000"/>
              <a:buChar char="•"/>
            </a:pPr>
            <a:r>
              <a:rPr lang="en-US"/>
              <a:t>When the receiver detects an error through the checksum, the user datagram is silently discarded. </a:t>
            </a:r>
            <a:endParaRPr/>
          </a:p>
          <a:p>
            <a:pPr indent="-200660" lvl="0" marL="342900" rtl="0" algn="l">
              <a:spcBef>
                <a:spcPts val="448"/>
              </a:spcBef>
              <a:spcAft>
                <a:spcPts val="0"/>
              </a:spcAft>
              <a:buClr>
                <a:schemeClr val="dk1"/>
              </a:buClr>
              <a:buSzPct val="100000"/>
              <a:buNone/>
            </a:pPr>
            <a:r>
              <a:t/>
            </a:r>
            <a:endParaRPr/>
          </a:p>
          <a:p>
            <a:pPr indent="-342900" lvl="0" marL="342900" rtl="0" algn="l">
              <a:spcBef>
                <a:spcPts val="448"/>
              </a:spcBef>
              <a:spcAft>
                <a:spcPts val="0"/>
              </a:spcAft>
              <a:buClr>
                <a:schemeClr val="dk1"/>
              </a:buClr>
              <a:buSzPct val="100000"/>
              <a:buChar char="•"/>
            </a:pPr>
            <a:r>
              <a:rPr lang="en-US"/>
              <a:t>The lack of error control means that the process using UDP should provide for this service, if needed.</a:t>
            </a:r>
            <a:endParaRPr/>
          </a:p>
        </p:txBody>
      </p:sp>
      <p:sp>
        <p:nvSpPr>
          <p:cNvPr id="272" name="Google Shape;272;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UDP Services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Congestion Control</a:t>
            </a:r>
            <a:endParaRPr/>
          </a:p>
          <a:p>
            <a:pPr indent="-342900" lvl="0" marL="342900" rtl="0" algn="l">
              <a:spcBef>
                <a:spcPts val="640"/>
              </a:spcBef>
              <a:spcAft>
                <a:spcPts val="0"/>
              </a:spcAft>
              <a:buClr>
                <a:schemeClr val="dk1"/>
              </a:buClr>
              <a:buSzPts val="3200"/>
              <a:buChar char="•"/>
            </a:pPr>
            <a:r>
              <a:rPr lang="en-US"/>
              <a:t>UDP is a connectionless protocol, it does not provide congestion control.</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b="1" i="1" lang="en-US"/>
              <a:t>Encapsulation and Decapsulation</a:t>
            </a:r>
            <a:endParaRPr/>
          </a:p>
        </p:txBody>
      </p:sp>
      <p:sp>
        <p:nvSpPr>
          <p:cNvPr id="278" name="Google Shape;278;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UDP Services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46"/>
          <p:cNvPicPr preferRelativeResize="0"/>
          <p:nvPr/>
        </p:nvPicPr>
        <p:blipFill rotWithShape="1">
          <a:blip r:embed="rId3">
            <a:alphaModFix/>
          </a:blip>
          <a:srcRect b="0" l="0" r="0" t="0"/>
          <a:stretch/>
        </p:blipFill>
        <p:spPr>
          <a:xfrm>
            <a:off x="104312" y="914400"/>
            <a:ext cx="8935375" cy="50292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pic>
        <p:nvPicPr>
          <p:cNvPr id="288" name="Google Shape;288;p47"/>
          <p:cNvPicPr preferRelativeResize="0"/>
          <p:nvPr/>
        </p:nvPicPr>
        <p:blipFill rotWithShape="1">
          <a:blip r:embed="rId3">
            <a:alphaModFix/>
          </a:blip>
          <a:srcRect b="0" l="0" r="0" t="0"/>
          <a:stretch/>
        </p:blipFill>
        <p:spPr>
          <a:xfrm>
            <a:off x="0" y="958102"/>
            <a:ext cx="9144000" cy="494179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Multiplexing and Demultiplexing</a:t>
            </a:r>
            <a:endParaRPr b="1"/>
          </a:p>
          <a:p>
            <a:pPr indent="-139700" lvl="0" marL="342900" rtl="0" algn="l">
              <a:spcBef>
                <a:spcPts val="640"/>
              </a:spcBef>
              <a:spcAft>
                <a:spcPts val="0"/>
              </a:spcAft>
              <a:buClr>
                <a:schemeClr val="dk1"/>
              </a:buClr>
              <a:buSzPts val="3200"/>
              <a:buNone/>
            </a:pPr>
            <a:r>
              <a:t/>
            </a:r>
            <a:endParaRPr/>
          </a:p>
        </p:txBody>
      </p:sp>
      <p:sp>
        <p:nvSpPr>
          <p:cNvPr id="294" name="Google Shape;294;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UDP Services</a:t>
            </a:r>
            <a:endParaRPr/>
          </a:p>
        </p:txBody>
      </p:sp>
      <p:pic>
        <p:nvPicPr>
          <p:cNvPr id="295" name="Google Shape;295;p48"/>
          <p:cNvPicPr preferRelativeResize="0"/>
          <p:nvPr/>
        </p:nvPicPr>
        <p:blipFill rotWithShape="1">
          <a:blip r:embed="rId3">
            <a:alphaModFix/>
          </a:blip>
          <a:srcRect b="0" l="0" r="0" t="0"/>
          <a:stretch/>
        </p:blipFill>
        <p:spPr>
          <a:xfrm>
            <a:off x="433820" y="2310245"/>
            <a:ext cx="8176779" cy="4432833"/>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UDP Applications</a:t>
            </a:r>
            <a:endParaRPr b="1"/>
          </a:p>
        </p:txBody>
      </p:sp>
      <p:sp>
        <p:nvSpPr>
          <p:cNvPr id="301" name="Google Shape;301;p49"/>
          <p:cNvSpPr txBox="1"/>
          <p:nvPr>
            <p:ph idx="1" type="body"/>
          </p:nvPr>
        </p:nvSpPr>
        <p:spPr>
          <a:xfrm>
            <a:off x="457200" y="1600200"/>
            <a:ext cx="8229600" cy="5029200"/>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spcBef>
                <a:spcPts val="0"/>
              </a:spcBef>
              <a:spcAft>
                <a:spcPts val="0"/>
              </a:spcAft>
              <a:buClr>
                <a:schemeClr val="dk1"/>
              </a:buClr>
              <a:buSzPct val="100000"/>
              <a:buChar char="•"/>
            </a:pPr>
            <a:r>
              <a:rPr lang="en-US"/>
              <a:t>Trivial File Transfer Protocol (TFTP) process includes flow and error control. It can easily use UDP.</a:t>
            </a:r>
            <a:endParaRPr/>
          </a:p>
          <a:p>
            <a:pPr indent="-342900" lvl="0" marL="342900" rtl="0" algn="just">
              <a:spcBef>
                <a:spcPts val="592"/>
              </a:spcBef>
              <a:spcAft>
                <a:spcPts val="0"/>
              </a:spcAft>
              <a:buClr>
                <a:schemeClr val="dk1"/>
              </a:buClr>
              <a:buSzPct val="100000"/>
              <a:buChar char="•"/>
            </a:pPr>
            <a:r>
              <a:rPr lang="en-US"/>
              <a:t>UDP is a suitable transport protocol for multicasting.</a:t>
            </a:r>
            <a:endParaRPr/>
          </a:p>
          <a:p>
            <a:pPr indent="-342900" lvl="0" marL="342900" rtl="0" algn="just">
              <a:spcBef>
                <a:spcPts val="592"/>
              </a:spcBef>
              <a:spcAft>
                <a:spcPts val="0"/>
              </a:spcAft>
              <a:buClr>
                <a:schemeClr val="dk1"/>
              </a:buClr>
              <a:buSzPct val="100000"/>
              <a:buChar char="•"/>
            </a:pPr>
            <a:r>
              <a:rPr lang="en-US"/>
              <a:t>UDP is used for management processes such as SNMP</a:t>
            </a:r>
            <a:endParaRPr/>
          </a:p>
          <a:p>
            <a:pPr indent="-342900" lvl="0" marL="342900" rtl="0" algn="just">
              <a:spcBef>
                <a:spcPts val="592"/>
              </a:spcBef>
              <a:spcAft>
                <a:spcPts val="0"/>
              </a:spcAft>
              <a:buClr>
                <a:schemeClr val="dk1"/>
              </a:buClr>
              <a:buSzPct val="100000"/>
              <a:buChar char="•"/>
            </a:pPr>
            <a:r>
              <a:rPr lang="en-US"/>
              <a:t>UDP is used for some route updating protocols such as Routing Information Protocol (RIP)</a:t>
            </a:r>
            <a:endParaRPr/>
          </a:p>
          <a:p>
            <a:pPr indent="-342900" lvl="0" marL="342900" rtl="0" algn="just">
              <a:spcBef>
                <a:spcPts val="592"/>
              </a:spcBef>
              <a:spcAft>
                <a:spcPts val="0"/>
              </a:spcAft>
              <a:buClr>
                <a:schemeClr val="dk1"/>
              </a:buClr>
              <a:buSzPct val="100000"/>
              <a:buChar char="•"/>
            </a:pPr>
            <a:r>
              <a:rPr lang="en-US"/>
              <a:t>UDP is normally used for interactive real-time applications that cannot tolerate uneven delay between sections of a received message.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a:t>TRANSMISSION CONTROL PROTOCOL</a:t>
            </a:r>
            <a:endParaRPr/>
          </a:p>
        </p:txBody>
      </p:sp>
      <p:sp>
        <p:nvSpPr>
          <p:cNvPr id="307" name="Google Shape;307;p50"/>
          <p:cNvSpPr txBox="1"/>
          <p:nvPr>
            <p:ph idx="1" type="body"/>
          </p:nvPr>
        </p:nvSpPr>
        <p:spPr>
          <a:xfrm>
            <a:off x="152400" y="1600200"/>
            <a:ext cx="8839200" cy="5029200"/>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spcBef>
                <a:spcPts val="0"/>
              </a:spcBef>
              <a:spcAft>
                <a:spcPts val="0"/>
              </a:spcAft>
              <a:buClr>
                <a:schemeClr val="dk1"/>
              </a:buClr>
              <a:buSzPct val="100000"/>
              <a:buChar char="•"/>
            </a:pPr>
            <a:r>
              <a:rPr lang="en-US"/>
              <a:t>Transmission Control Protocol (TCP) is a </a:t>
            </a:r>
            <a:r>
              <a:rPr b="1" lang="en-US"/>
              <a:t>connection-oriented, reliable protocol.</a:t>
            </a:r>
            <a:endParaRPr/>
          </a:p>
          <a:p>
            <a:pPr indent="-170180" lvl="0" marL="342900" rtl="0" algn="just">
              <a:spcBef>
                <a:spcPts val="544"/>
              </a:spcBef>
              <a:spcAft>
                <a:spcPts val="0"/>
              </a:spcAft>
              <a:buClr>
                <a:schemeClr val="dk1"/>
              </a:buClr>
              <a:buSzPct val="100000"/>
              <a:buNone/>
            </a:pPr>
            <a:r>
              <a:t/>
            </a:r>
            <a:endParaRPr b="1"/>
          </a:p>
          <a:p>
            <a:pPr indent="-342900" lvl="0" marL="342900" rtl="0" algn="just">
              <a:spcBef>
                <a:spcPts val="544"/>
              </a:spcBef>
              <a:spcAft>
                <a:spcPts val="0"/>
              </a:spcAft>
              <a:buClr>
                <a:schemeClr val="dk1"/>
              </a:buClr>
              <a:buSzPct val="100000"/>
              <a:buChar char="•"/>
            </a:pPr>
            <a:r>
              <a:rPr lang="en-US"/>
              <a:t>TCP explicitly defines </a:t>
            </a:r>
            <a:r>
              <a:rPr b="1" lang="en-US"/>
              <a:t>connection establishment, data transfer, and connection termination phases </a:t>
            </a:r>
            <a:r>
              <a:rPr lang="en-US"/>
              <a:t>to provide a connection-oriented service. </a:t>
            </a:r>
            <a:endParaRPr/>
          </a:p>
          <a:p>
            <a:pPr indent="-170180" lvl="0" marL="342900" rtl="0" algn="just">
              <a:spcBef>
                <a:spcPts val="544"/>
              </a:spcBef>
              <a:spcAft>
                <a:spcPts val="0"/>
              </a:spcAft>
              <a:buClr>
                <a:schemeClr val="dk1"/>
              </a:buClr>
              <a:buSzPct val="100000"/>
              <a:buNone/>
            </a:pPr>
            <a:r>
              <a:t/>
            </a:r>
            <a:endParaRPr/>
          </a:p>
          <a:p>
            <a:pPr indent="-342900" lvl="0" marL="342900" rtl="0" algn="just">
              <a:spcBef>
                <a:spcPts val="544"/>
              </a:spcBef>
              <a:spcAft>
                <a:spcPts val="0"/>
              </a:spcAft>
              <a:buClr>
                <a:schemeClr val="dk1"/>
              </a:buClr>
              <a:buSzPct val="100000"/>
              <a:buChar char="•"/>
            </a:pPr>
            <a:r>
              <a:rPr lang="en-US"/>
              <a:t>TCP uses a combination of </a:t>
            </a:r>
            <a:r>
              <a:rPr b="1" lang="en-US"/>
              <a:t>GBN and SR protocols </a:t>
            </a:r>
            <a:r>
              <a:rPr lang="en-US"/>
              <a:t>to provide reliability. </a:t>
            </a:r>
            <a:endParaRPr/>
          </a:p>
          <a:p>
            <a:pPr indent="-170180" lvl="0" marL="342900" rtl="0" algn="just">
              <a:spcBef>
                <a:spcPts val="544"/>
              </a:spcBef>
              <a:spcAft>
                <a:spcPts val="0"/>
              </a:spcAft>
              <a:buClr>
                <a:schemeClr val="dk1"/>
              </a:buClr>
              <a:buSzPct val="100000"/>
              <a:buNone/>
            </a:pPr>
            <a:r>
              <a:t/>
            </a:r>
            <a:endParaRPr/>
          </a:p>
          <a:p>
            <a:pPr indent="-342900" lvl="0" marL="342900" rtl="0" algn="just">
              <a:spcBef>
                <a:spcPts val="544"/>
              </a:spcBef>
              <a:spcAft>
                <a:spcPts val="0"/>
              </a:spcAft>
              <a:buClr>
                <a:schemeClr val="dk1"/>
              </a:buClr>
              <a:buSzPct val="100000"/>
              <a:buChar char="•"/>
            </a:pPr>
            <a:r>
              <a:rPr lang="en-US"/>
              <a:t>TCP uses </a:t>
            </a:r>
            <a:r>
              <a:rPr b="1" lang="en-US"/>
              <a:t>checksum (for error detection), retransmission of lost or corrupted packets</a:t>
            </a:r>
            <a:r>
              <a:rPr lang="en-US"/>
              <a:t>, cumulative and selective acknowledgments, and timers.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TCP Services</a:t>
            </a:r>
            <a:endParaRPr/>
          </a:p>
        </p:txBody>
      </p:sp>
      <p:sp>
        <p:nvSpPr>
          <p:cNvPr id="313" name="Google Shape;313;p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i="1" lang="en-US"/>
              <a:t>Process-to-Process Communication</a:t>
            </a:r>
            <a:endParaRPr/>
          </a:p>
          <a:p>
            <a:pPr indent="0" lvl="0" marL="0" rtl="0" algn="just">
              <a:spcBef>
                <a:spcPts val="640"/>
              </a:spcBef>
              <a:spcAft>
                <a:spcPts val="0"/>
              </a:spcAft>
              <a:buClr>
                <a:schemeClr val="dk1"/>
              </a:buClr>
              <a:buSzPts val="3200"/>
              <a:buNone/>
            </a:pPr>
            <a:r>
              <a:rPr lang="en-US"/>
              <a:t>TCP provides process-to-process communication using port numbers.</a:t>
            </a:r>
            <a:endParaRPr/>
          </a:p>
          <a:p>
            <a:pPr indent="-139700" lvl="0" marL="342900" rtl="0" algn="just">
              <a:spcBef>
                <a:spcPts val="640"/>
              </a:spcBef>
              <a:spcAft>
                <a:spcPts val="0"/>
              </a:spcAft>
              <a:buClr>
                <a:schemeClr val="dk1"/>
              </a:buClr>
              <a:buSzPts val="3200"/>
              <a:buNone/>
            </a:pPr>
            <a:r>
              <a:t/>
            </a:r>
            <a:endParaRPr/>
          </a:p>
          <a:p>
            <a:pPr indent="-342900" lvl="0" marL="342900" rtl="0" algn="just">
              <a:spcBef>
                <a:spcPts val="640"/>
              </a:spcBef>
              <a:spcAft>
                <a:spcPts val="0"/>
              </a:spcAft>
              <a:buClr>
                <a:schemeClr val="dk1"/>
              </a:buClr>
              <a:buSzPts val="3200"/>
              <a:buChar char="•"/>
            </a:pPr>
            <a:r>
              <a:rPr b="1" i="1" lang="en-US"/>
              <a:t>Stream Delivery Service</a:t>
            </a:r>
            <a:endParaRPr/>
          </a:p>
          <a:p>
            <a:pPr indent="0" lvl="0" marL="0" rtl="0" algn="l">
              <a:spcBef>
                <a:spcPts val="640"/>
              </a:spcBef>
              <a:spcAft>
                <a:spcPts val="0"/>
              </a:spcAft>
              <a:buClr>
                <a:schemeClr val="dk1"/>
              </a:buClr>
              <a:buSzPts val="3200"/>
              <a:buNone/>
            </a:pPr>
            <a:r>
              <a:rPr lang="en-US"/>
              <a:t>The sending process produces (writes to) the stream and the receiving process consumes (reads from) it.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319" name="Google Shape;319;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TCP Services</a:t>
            </a:r>
            <a:endParaRPr/>
          </a:p>
        </p:txBody>
      </p:sp>
      <p:pic>
        <p:nvPicPr>
          <p:cNvPr id="320" name="Google Shape;320;p52"/>
          <p:cNvPicPr preferRelativeResize="0"/>
          <p:nvPr/>
        </p:nvPicPr>
        <p:blipFill rotWithShape="1">
          <a:blip r:embed="rId3">
            <a:alphaModFix/>
          </a:blip>
          <a:srcRect b="0" l="0" r="0" t="0"/>
          <a:stretch/>
        </p:blipFill>
        <p:spPr>
          <a:xfrm>
            <a:off x="457200" y="1600200"/>
            <a:ext cx="8229600" cy="4953000"/>
          </a:xfrm>
          <a:prstGeom prst="rect">
            <a:avLst/>
          </a:prstGeom>
          <a:noFill/>
          <a:ln>
            <a:noFill/>
          </a:ln>
        </p:spPr>
      </p:pic>
      <p:sp>
        <p:nvSpPr>
          <p:cNvPr id="321" name="Google Shape;321;p52"/>
          <p:cNvSpPr txBox="1"/>
          <p:nvPr/>
        </p:nvSpPr>
        <p:spPr>
          <a:xfrm>
            <a:off x="3276600" y="3733800"/>
            <a:ext cx="25146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Imaginary tube to carry date from S to R</a:t>
            </a:r>
            <a:endParaRPr b="1" sz="1800">
              <a:solidFill>
                <a:schemeClr val="dk1"/>
              </a:solidFill>
              <a:latin typeface="Calibri"/>
              <a:ea typeface="Calibri"/>
              <a:cs typeface="Calibri"/>
              <a:sym typeface="Calibri"/>
            </a:endParaRPr>
          </a:p>
        </p:txBody>
      </p:sp>
      <p:sp>
        <p:nvSpPr>
          <p:cNvPr id="322" name="Google Shape;322;p52"/>
          <p:cNvSpPr/>
          <p:nvPr/>
        </p:nvSpPr>
        <p:spPr>
          <a:xfrm flipH="1">
            <a:off x="4419600" y="4419600"/>
            <a:ext cx="182881" cy="304800"/>
          </a:xfrm>
          <a:prstGeom prst="down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i="1" lang="en-US"/>
              <a:t>Sending and Receiving Buffers</a:t>
            </a:r>
            <a:endParaRPr/>
          </a:p>
        </p:txBody>
      </p:sp>
      <p:sp>
        <p:nvSpPr>
          <p:cNvPr id="328" name="Google Shape;328;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TCP Services</a:t>
            </a:r>
            <a:endParaRPr/>
          </a:p>
        </p:txBody>
      </p:sp>
      <p:pic>
        <p:nvPicPr>
          <p:cNvPr id="329" name="Google Shape;329;p53"/>
          <p:cNvPicPr preferRelativeResize="0"/>
          <p:nvPr/>
        </p:nvPicPr>
        <p:blipFill rotWithShape="1">
          <a:blip r:embed="rId3">
            <a:alphaModFix/>
          </a:blip>
          <a:srcRect b="0" l="0" r="0" t="0"/>
          <a:stretch/>
        </p:blipFill>
        <p:spPr>
          <a:xfrm>
            <a:off x="228600" y="2209800"/>
            <a:ext cx="8763000" cy="429049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just">
              <a:spcBef>
                <a:spcPts val="0"/>
              </a:spcBef>
              <a:spcAft>
                <a:spcPts val="0"/>
              </a:spcAft>
              <a:buClr>
                <a:schemeClr val="dk1"/>
              </a:buClr>
              <a:buSzPct val="100000"/>
              <a:buChar char="•"/>
            </a:pPr>
            <a:r>
              <a:rPr b="1" i="1" lang="en-US"/>
              <a:t>Segments</a:t>
            </a:r>
            <a:endParaRPr/>
          </a:p>
          <a:p>
            <a:pPr indent="-342900" lvl="0" marL="342900" rtl="0" algn="just">
              <a:spcBef>
                <a:spcPts val="544"/>
              </a:spcBef>
              <a:spcAft>
                <a:spcPts val="0"/>
              </a:spcAft>
              <a:buClr>
                <a:schemeClr val="dk1"/>
              </a:buClr>
              <a:buSzPct val="100000"/>
              <a:buChar char="•"/>
            </a:pPr>
            <a:r>
              <a:rPr lang="en-US"/>
              <a:t>Buffering - disparity between the speed of the producing and consuming processes.</a:t>
            </a:r>
            <a:endParaRPr/>
          </a:p>
          <a:p>
            <a:pPr indent="-170180" lvl="0" marL="342900" rtl="0" algn="just">
              <a:spcBef>
                <a:spcPts val="544"/>
              </a:spcBef>
              <a:spcAft>
                <a:spcPts val="0"/>
              </a:spcAft>
              <a:buClr>
                <a:schemeClr val="dk1"/>
              </a:buClr>
              <a:buSzPct val="100000"/>
              <a:buNone/>
            </a:pPr>
            <a:r>
              <a:t/>
            </a:r>
            <a:endParaRPr/>
          </a:p>
          <a:p>
            <a:pPr indent="-342900" lvl="0" marL="342900" rtl="0" algn="just">
              <a:spcBef>
                <a:spcPts val="544"/>
              </a:spcBef>
              <a:spcAft>
                <a:spcPts val="0"/>
              </a:spcAft>
              <a:buClr>
                <a:schemeClr val="dk1"/>
              </a:buClr>
              <a:buSzPct val="100000"/>
              <a:buChar char="•"/>
            </a:pPr>
            <a:r>
              <a:rPr lang="en-US"/>
              <a:t>The network layer, as a service provider for TCP, needs to send data in packets, not as a stream of bytes.</a:t>
            </a:r>
            <a:endParaRPr/>
          </a:p>
          <a:p>
            <a:pPr indent="-170180" lvl="0" marL="342900" rtl="0" algn="just">
              <a:spcBef>
                <a:spcPts val="544"/>
              </a:spcBef>
              <a:spcAft>
                <a:spcPts val="0"/>
              </a:spcAft>
              <a:buClr>
                <a:schemeClr val="dk1"/>
              </a:buClr>
              <a:buSzPct val="100000"/>
              <a:buNone/>
            </a:pPr>
            <a:r>
              <a:t/>
            </a:r>
            <a:endParaRPr/>
          </a:p>
          <a:p>
            <a:pPr indent="-342900" lvl="0" marL="342900" rtl="0" algn="just">
              <a:spcBef>
                <a:spcPts val="544"/>
              </a:spcBef>
              <a:spcAft>
                <a:spcPts val="0"/>
              </a:spcAft>
              <a:buClr>
                <a:schemeClr val="dk1"/>
              </a:buClr>
              <a:buSzPct val="100000"/>
              <a:buChar char="•"/>
            </a:pPr>
            <a:r>
              <a:rPr lang="en-US"/>
              <a:t>TCP groups a number of bytes together into a packet called a segment.</a:t>
            </a:r>
            <a:endParaRPr/>
          </a:p>
          <a:p>
            <a:pPr indent="-170180" lvl="0" marL="342900" rtl="0" algn="just">
              <a:spcBef>
                <a:spcPts val="544"/>
              </a:spcBef>
              <a:spcAft>
                <a:spcPts val="0"/>
              </a:spcAft>
              <a:buClr>
                <a:schemeClr val="dk1"/>
              </a:buClr>
              <a:buSzPct val="100000"/>
              <a:buNone/>
            </a:pPr>
            <a:r>
              <a:t/>
            </a:r>
            <a:endParaRPr/>
          </a:p>
          <a:p>
            <a:pPr indent="-342900" lvl="0" marL="342900" rtl="0" algn="just">
              <a:spcBef>
                <a:spcPts val="544"/>
              </a:spcBef>
              <a:spcAft>
                <a:spcPts val="0"/>
              </a:spcAft>
              <a:buClr>
                <a:schemeClr val="dk1"/>
              </a:buClr>
              <a:buSzPct val="100000"/>
              <a:buChar char="•"/>
            </a:pPr>
            <a:r>
              <a:rPr lang="en-US"/>
              <a:t>Header added to every segment</a:t>
            </a:r>
            <a:endParaRPr/>
          </a:p>
        </p:txBody>
      </p:sp>
      <p:sp>
        <p:nvSpPr>
          <p:cNvPr id="335" name="Google Shape;335;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TCP Services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id="340" name="Google Shape;340;p55"/>
          <p:cNvPicPr preferRelativeResize="0"/>
          <p:nvPr/>
        </p:nvPicPr>
        <p:blipFill rotWithShape="1">
          <a:blip r:embed="rId3">
            <a:alphaModFix/>
          </a:blip>
          <a:srcRect b="0" l="0" r="0" t="0"/>
          <a:stretch/>
        </p:blipFill>
        <p:spPr>
          <a:xfrm>
            <a:off x="133054" y="1295400"/>
            <a:ext cx="8877888" cy="426719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i="1" lang="en-US"/>
              <a:t>Full-Duplex Communication</a:t>
            </a:r>
            <a:endParaRPr/>
          </a:p>
          <a:p>
            <a:pPr indent="-342900" lvl="0" marL="342900" rtl="0" algn="just">
              <a:spcBef>
                <a:spcPts val="640"/>
              </a:spcBef>
              <a:spcAft>
                <a:spcPts val="0"/>
              </a:spcAft>
              <a:buClr>
                <a:schemeClr val="dk1"/>
              </a:buClr>
              <a:buSzPts val="3200"/>
              <a:buChar char="•"/>
            </a:pPr>
            <a:r>
              <a:rPr lang="en-US"/>
              <a:t>TCP offers full-duplex services</a:t>
            </a:r>
            <a:endParaRPr/>
          </a:p>
          <a:p>
            <a:pPr indent="-139700" lvl="0" marL="342900" rtl="0" algn="just">
              <a:spcBef>
                <a:spcPts val="640"/>
              </a:spcBef>
              <a:spcAft>
                <a:spcPts val="0"/>
              </a:spcAft>
              <a:buClr>
                <a:schemeClr val="dk1"/>
              </a:buClr>
              <a:buSzPts val="3200"/>
              <a:buNone/>
            </a:pPr>
            <a:r>
              <a:t/>
            </a:r>
            <a:endParaRPr/>
          </a:p>
          <a:p>
            <a:pPr indent="-342900" lvl="0" marL="342900" rtl="0" algn="just">
              <a:spcBef>
                <a:spcPts val="640"/>
              </a:spcBef>
              <a:spcAft>
                <a:spcPts val="0"/>
              </a:spcAft>
              <a:buClr>
                <a:schemeClr val="dk1"/>
              </a:buClr>
              <a:buSzPts val="3200"/>
              <a:buChar char="•"/>
            </a:pPr>
            <a:r>
              <a:rPr b="1" i="1" lang="en-US"/>
              <a:t>Multiplexing and Demultiplexing</a:t>
            </a:r>
            <a:endParaRPr b="1" i="1"/>
          </a:p>
          <a:p>
            <a:pPr indent="-342900" lvl="0" marL="342900" rtl="0" algn="just">
              <a:spcBef>
                <a:spcPts val="640"/>
              </a:spcBef>
              <a:spcAft>
                <a:spcPts val="0"/>
              </a:spcAft>
              <a:buClr>
                <a:schemeClr val="dk1"/>
              </a:buClr>
              <a:buSzPts val="3200"/>
              <a:buChar char="•"/>
            </a:pPr>
            <a:r>
              <a:rPr lang="en-US"/>
              <a:t>Like UDP, TCP performs multiplexing at the sender and demultiplexing at the receiver.</a:t>
            </a:r>
            <a:endParaRPr/>
          </a:p>
        </p:txBody>
      </p:sp>
      <p:sp>
        <p:nvSpPr>
          <p:cNvPr id="346" name="Google Shape;346;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TCP Services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TCP Services</a:t>
            </a:r>
            <a:endParaRPr/>
          </a:p>
        </p:txBody>
      </p:sp>
      <p:sp>
        <p:nvSpPr>
          <p:cNvPr id="352" name="Google Shape;352;p57"/>
          <p:cNvSpPr txBox="1"/>
          <p:nvPr>
            <p:ph idx="1" type="body"/>
          </p:nvPr>
        </p:nvSpPr>
        <p:spPr>
          <a:xfrm>
            <a:off x="457200" y="1600200"/>
            <a:ext cx="8229600" cy="50292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i="1" lang="en-US"/>
              <a:t>Connection-Oriented Service</a:t>
            </a:r>
            <a:endParaRPr/>
          </a:p>
          <a:p>
            <a:pPr indent="-342900" lvl="0" marL="342900" rtl="0" algn="just">
              <a:spcBef>
                <a:spcPts val="640"/>
              </a:spcBef>
              <a:spcAft>
                <a:spcPts val="0"/>
              </a:spcAft>
              <a:buClr>
                <a:schemeClr val="dk1"/>
              </a:buClr>
              <a:buSzPts val="3200"/>
              <a:buChar char="•"/>
            </a:pPr>
            <a:r>
              <a:rPr lang="en-US"/>
              <a:t>TCP is connection oriented </a:t>
            </a:r>
            <a:endParaRPr/>
          </a:p>
          <a:p>
            <a:pPr indent="-342900" lvl="0" marL="342900" rtl="0" algn="just">
              <a:spcBef>
                <a:spcPts val="640"/>
              </a:spcBef>
              <a:spcAft>
                <a:spcPts val="0"/>
              </a:spcAft>
              <a:buClr>
                <a:schemeClr val="dk1"/>
              </a:buClr>
              <a:buSzPts val="3200"/>
              <a:buNone/>
            </a:pPr>
            <a:r>
              <a:rPr lang="en-US"/>
              <a:t>1. The two TCP’s establish a logical connection between them.</a:t>
            </a:r>
            <a:endParaRPr/>
          </a:p>
          <a:p>
            <a:pPr indent="-342900" lvl="0" marL="342900" rtl="0" algn="just">
              <a:spcBef>
                <a:spcPts val="640"/>
              </a:spcBef>
              <a:spcAft>
                <a:spcPts val="0"/>
              </a:spcAft>
              <a:buClr>
                <a:schemeClr val="dk1"/>
              </a:buClr>
              <a:buSzPts val="3200"/>
              <a:buNone/>
            </a:pPr>
            <a:r>
              <a:rPr lang="en-US"/>
              <a:t>2. Data are exchanged in both directions.</a:t>
            </a:r>
            <a:endParaRPr/>
          </a:p>
          <a:p>
            <a:pPr indent="-342900" lvl="0" marL="342900" rtl="0" algn="just">
              <a:spcBef>
                <a:spcPts val="640"/>
              </a:spcBef>
              <a:spcAft>
                <a:spcPts val="0"/>
              </a:spcAft>
              <a:buClr>
                <a:schemeClr val="dk1"/>
              </a:buClr>
              <a:buSzPts val="3200"/>
              <a:buNone/>
            </a:pPr>
            <a:r>
              <a:rPr lang="en-US"/>
              <a:t>3. The connection is terminated.</a:t>
            </a:r>
            <a:endParaRPr/>
          </a:p>
          <a:p>
            <a:pPr indent="-342900" lvl="0" marL="342900" rtl="0" algn="just">
              <a:spcBef>
                <a:spcPts val="640"/>
              </a:spcBef>
              <a:spcAft>
                <a:spcPts val="0"/>
              </a:spcAft>
              <a:buClr>
                <a:schemeClr val="dk1"/>
              </a:buClr>
              <a:buSzPts val="3200"/>
              <a:buChar char="•"/>
            </a:pPr>
            <a:r>
              <a:rPr lang="en-US"/>
              <a:t>logical connection, not a physical connection.</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i="1" lang="en-US"/>
              <a:t>Reliable Service</a:t>
            </a:r>
            <a:endParaRPr/>
          </a:p>
          <a:p>
            <a:pPr indent="-342900" lvl="0" marL="342900" rtl="0" algn="just">
              <a:spcBef>
                <a:spcPts val="640"/>
              </a:spcBef>
              <a:spcAft>
                <a:spcPts val="0"/>
              </a:spcAft>
              <a:buClr>
                <a:schemeClr val="dk1"/>
              </a:buClr>
              <a:buSzPts val="3200"/>
              <a:buChar char="•"/>
            </a:pPr>
            <a:r>
              <a:rPr lang="en-US"/>
              <a:t>TCP is a reliable transport protocol. </a:t>
            </a:r>
            <a:endParaRPr/>
          </a:p>
          <a:p>
            <a:pPr indent="-342900" lvl="0" marL="342900" rtl="0" algn="just">
              <a:spcBef>
                <a:spcPts val="640"/>
              </a:spcBef>
              <a:spcAft>
                <a:spcPts val="0"/>
              </a:spcAft>
              <a:buClr>
                <a:schemeClr val="dk1"/>
              </a:buClr>
              <a:buSzPts val="3200"/>
              <a:buChar char="•"/>
            </a:pPr>
            <a:r>
              <a:rPr lang="en-US"/>
              <a:t>It uses an acknowledgment mechanism to check the safe and sound arrival of data. </a:t>
            </a:r>
            <a:endParaRPr/>
          </a:p>
        </p:txBody>
      </p:sp>
      <p:sp>
        <p:nvSpPr>
          <p:cNvPr id="358" name="Google Shape;358;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TCP Services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TCP Features</a:t>
            </a:r>
            <a:endParaRPr/>
          </a:p>
        </p:txBody>
      </p:sp>
      <p:sp>
        <p:nvSpPr>
          <p:cNvPr id="364" name="Google Shape;364;p59"/>
          <p:cNvSpPr txBox="1"/>
          <p:nvPr>
            <p:ph idx="1" type="body"/>
          </p:nvPr>
        </p:nvSpPr>
        <p:spPr>
          <a:xfrm>
            <a:off x="228600" y="1295400"/>
            <a:ext cx="8763000" cy="5334000"/>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spcBef>
                <a:spcPts val="0"/>
              </a:spcBef>
              <a:spcAft>
                <a:spcPts val="0"/>
              </a:spcAft>
              <a:buClr>
                <a:schemeClr val="dk1"/>
              </a:buClr>
              <a:buSzPts val="3200"/>
              <a:buChar char="•"/>
            </a:pPr>
            <a:r>
              <a:rPr b="1" i="1" lang="en-US"/>
              <a:t>Numbering System</a:t>
            </a:r>
            <a:endParaRPr i="1"/>
          </a:p>
          <a:p>
            <a:pPr indent="-342900" lvl="0" marL="342900" rtl="0" algn="just">
              <a:spcBef>
                <a:spcPts val="640"/>
              </a:spcBef>
              <a:spcAft>
                <a:spcPts val="0"/>
              </a:spcAft>
              <a:buClr>
                <a:schemeClr val="dk1"/>
              </a:buClr>
              <a:buSzPts val="3200"/>
              <a:buChar char="•"/>
            </a:pPr>
            <a:r>
              <a:rPr lang="en-US"/>
              <a:t>sequence number and the acknowledgment number. </a:t>
            </a:r>
            <a:endParaRPr/>
          </a:p>
          <a:p>
            <a:pPr indent="-342900" lvl="0" marL="342900" rtl="0" algn="just">
              <a:spcBef>
                <a:spcPts val="640"/>
              </a:spcBef>
              <a:spcAft>
                <a:spcPts val="0"/>
              </a:spcAft>
              <a:buClr>
                <a:schemeClr val="dk1"/>
              </a:buClr>
              <a:buSzPts val="3200"/>
              <a:buChar char="•"/>
            </a:pPr>
            <a:r>
              <a:rPr lang="en-US"/>
              <a:t>These two fields refer to a byte number and not a segment number.</a:t>
            </a:r>
            <a:endParaRPr/>
          </a:p>
          <a:p>
            <a:pPr indent="-139700" lvl="0" marL="342900" rtl="0" algn="just">
              <a:spcBef>
                <a:spcPts val="640"/>
              </a:spcBef>
              <a:spcAft>
                <a:spcPts val="0"/>
              </a:spcAft>
              <a:buClr>
                <a:schemeClr val="dk1"/>
              </a:buClr>
              <a:buSzPts val="3200"/>
              <a:buNone/>
            </a:pPr>
            <a:r>
              <a:t/>
            </a:r>
            <a:endParaRPr/>
          </a:p>
          <a:p>
            <a:pPr indent="-342900" lvl="0" marL="342900" rtl="0" algn="just">
              <a:spcBef>
                <a:spcPts val="640"/>
              </a:spcBef>
              <a:spcAft>
                <a:spcPts val="0"/>
              </a:spcAft>
              <a:buClr>
                <a:schemeClr val="dk1"/>
              </a:buClr>
              <a:buSzPts val="3200"/>
              <a:buChar char="•"/>
            </a:pPr>
            <a:r>
              <a:rPr b="1" i="1" lang="en-US"/>
              <a:t>Byte Number</a:t>
            </a:r>
            <a:endParaRPr/>
          </a:p>
          <a:p>
            <a:pPr indent="-342900" lvl="0" marL="342900" rtl="0" algn="just">
              <a:spcBef>
                <a:spcPts val="640"/>
              </a:spcBef>
              <a:spcAft>
                <a:spcPts val="0"/>
              </a:spcAft>
              <a:buClr>
                <a:schemeClr val="dk1"/>
              </a:buClr>
              <a:buSzPts val="3200"/>
              <a:buChar char="•"/>
            </a:pPr>
            <a:r>
              <a:rPr lang="en-US"/>
              <a:t>TCP numbers all data bytes (octets) that are transmitted in a connection.</a:t>
            </a:r>
            <a:endParaRPr/>
          </a:p>
          <a:p>
            <a:pPr indent="-342900" lvl="0" marL="342900" rtl="0" algn="just">
              <a:spcBef>
                <a:spcPts val="640"/>
              </a:spcBef>
              <a:spcAft>
                <a:spcPts val="0"/>
              </a:spcAft>
              <a:buClr>
                <a:schemeClr val="dk1"/>
              </a:buClr>
              <a:buSzPts val="3200"/>
              <a:buChar char="•"/>
            </a:pPr>
            <a:r>
              <a:rPr lang="en-US"/>
              <a:t>Numbering is arbitrary</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TCP Features</a:t>
            </a:r>
            <a:endParaRPr/>
          </a:p>
        </p:txBody>
      </p:sp>
      <p:sp>
        <p:nvSpPr>
          <p:cNvPr id="370" name="Google Shape;370;p60"/>
          <p:cNvSpPr txBox="1"/>
          <p:nvPr>
            <p:ph idx="1" type="body"/>
          </p:nvPr>
        </p:nvSpPr>
        <p:spPr>
          <a:xfrm>
            <a:off x="457200" y="1600200"/>
            <a:ext cx="8229600" cy="5029200"/>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b="1" i="1" lang="en-US"/>
              <a:t>Sequence Number</a:t>
            </a:r>
            <a:endParaRPr/>
          </a:p>
          <a:p>
            <a:pPr indent="-342900" lvl="0" marL="342900" rtl="0" algn="just">
              <a:spcBef>
                <a:spcPts val="640"/>
              </a:spcBef>
              <a:spcAft>
                <a:spcPts val="0"/>
              </a:spcAft>
              <a:buClr>
                <a:schemeClr val="dk1"/>
              </a:buClr>
              <a:buSzPts val="3200"/>
              <a:buNone/>
            </a:pPr>
            <a:r>
              <a:rPr b="1" lang="en-US"/>
              <a:t>1. The sequence number of the first segment is the ISN (initial sequence number),</a:t>
            </a:r>
            <a:endParaRPr/>
          </a:p>
          <a:p>
            <a:pPr indent="-342900" lvl="0" marL="342900" rtl="0" algn="just">
              <a:spcBef>
                <a:spcPts val="640"/>
              </a:spcBef>
              <a:spcAft>
                <a:spcPts val="0"/>
              </a:spcAft>
              <a:buClr>
                <a:schemeClr val="dk1"/>
              </a:buClr>
              <a:buSzPts val="3200"/>
              <a:buChar char="•"/>
            </a:pPr>
            <a:r>
              <a:rPr lang="en-US"/>
              <a:t>which is a random number.</a:t>
            </a:r>
            <a:endParaRPr/>
          </a:p>
          <a:p>
            <a:pPr indent="-139700" lvl="0" marL="342900" rtl="0" algn="just">
              <a:spcBef>
                <a:spcPts val="640"/>
              </a:spcBef>
              <a:spcAft>
                <a:spcPts val="0"/>
              </a:spcAft>
              <a:buClr>
                <a:schemeClr val="dk1"/>
              </a:buClr>
              <a:buSzPts val="3200"/>
              <a:buNone/>
            </a:pPr>
            <a:r>
              <a:t/>
            </a:r>
            <a:endParaRPr/>
          </a:p>
          <a:p>
            <a:pPr indent="-342900" lvl="0" marL="342900" rtl="0" algn="just">
              <a:spcBef>
                <a:spcPts val="640"/>
              </a:spcBef>
              <a:spcAft>
                <a:spcPts val="0"/>
              </a:spcAft>
              <a:buClr>
                <a:schemeClr val="dk1"/>
              </a:buClr>
              <a:buSzPts val="3200"/>
              <a:buNone/>
            </a:pPr>
            <a:r>
              <a:rPr b="1" lang="en-US"/>
              <a:t>2. The sequence number of any other segment is the sequence number of the previous </a:t>
            </a:r>
            <a:r>
              <a:rPr lang="en-US"/>
              <a:t>segment plus the number of bytes (real or imaginary) carried by the previous segment.</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pic>
        <p:nvPicPr>
          <p:cNvPr id="375" name="Google Shape;375;p61"/>
          <p:cNvPicPr preferRelativeResize="0"/>
          <p:nvPr/>
        </p:nvPicPr>
        <p:blipFill rotWithShape="1">
          <a:blip r:embed="rId3">
            <a:alphaModFix/>
          </a:blip>
          <a:srcRect b="0" l="0" r="0" t="0"/>
          <a:stretch/>
        </p:blipFill>
        <p:spPr>
          <a:xfrm>
            <a:off x="-1500" y="0"/>
            <a:ext cx="9146998" cy="68580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i="1" lang="en-US"/>
              <a:t>Acknowledgment Number</a:t>
            </a:r>
            <a:endParaRPr/>
          </a:p>
          <a:p>
            <a:pPr indent="-342900" lvl="0" marL="342900" rtl="0" algn="just">
              <a:spcBef>
                <a:spcPts val="640"/>
              </a:spcBef>
              <a:spcAft>
                <a:spcPts val="0"/>
              </a:spcAft>
              <a:buClr>
                <a:schemeClr val="dk1"/>
              </a:buClr>
              <a:buSzPts val="3200"/>
              <a:buChar char="•"/>
            </a:pPr>
            <a:r>
              <a:rPr lang="en-US"/>
              <a:t>The value of the acknowledgment field in a segment defines the number of the next byte a party expects to receive. The acknowledgment number is cumulative.</a:t>
            </a:r>
            <a:endParaRPr/>
          </a:p>
        </p:txBody>
      </p:sp>
      <p:sp>
        <p:nvSpPr>
          <p:cNvPr id="381" name="Google Shape;381;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TCP Features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3"/>
          <p:cNvSpPr txBox="1"/>
          <p:nvPr>
            <p:ph idx="1" type="body"/>
          </p:nvPr>
        </p:nvSpPr>
        <p:spPr>
          <a:xfrm>
            <a:off x="0" y="1295400"/>
            <a:ext cx="9144000" cy="5334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Segment</a:t>
            </a:r>
            <a:endParaRPr/>
          </a:p>
        </p:txBody>
      </p:sp>
      <p:sp>
        <p:nvSpPr>
          <p:cNvPr id="387" name="Google Shape;387;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TCP Features</a:t>
            </a:r>
            <a:endParaRPr/>
          </a:p>
        </p:txBody>
      </p:sp>
      <p:pic>
        <p:nvPicPr>
          <p:cNvPr id="388" name="Google Shape;388;p63"/>
          <p:cNvPicPr preferRelativeResize="0"/>
          <p:nvPr/>
        </p:nvPicPr>
        <p:blipFill rotWithShape="1">
          <a:blip r:embed="rId3">
            <a:alphaModFix/>
          </a:blip>
          <a:srcRect b="0" l="0" r="0" t="0"/>
          <a:stretch/>
        </p:blipFill>
        <p:spPr>
          <a:xfrm>
            <a:off x="457200" y="1752600"/>
            <a:ext cx="8153400" cy="5059997"/>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id="393" name="Google Shape;393;p64"/>
          <p:cNvPicPr preferRelativeResize="0"/>
          <p:nvPr/>
        </p:nvPicPr>
        <p:blipFill rotWithShape="1">
          <a:blip r:embed="rId3">
            <a:alphaModFix/>
          </a:blip>
          <a:srcRect b="0" l="0" r="0" t="0"/>
          <a:stretch/>
        </p:blipFill>
        <p:spPr>
          <a:xfrm>
            <a:off x="114300" y="2057400"/>
            <a:ext cx="8915401" cy="27432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pic>
        <p:nvPicPr>
          <p:cNvPr id="398" name="Google Shape;398;p65"/>
          <p:cNvPicPr preferRelativeResize="0"/>
          <p:nvPr/>
        </p:nvPicPr>
        <p:blipFill rotWithShape="1">
          <a:blip r:embed="rId3">
            <a:alphaModFix/>
          </a:blip>
          <a:srcRect b="0" l="0" r="0" t="0"/>
          <a:stretch/>
        </p:blipFill>
        <p:spPr>
          <a:xfrm>
            <a:off x="39245" y="381000"/>
            <a:ext cx="9065511" cy="60960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a:t>TCP Features</a:t>
            </a:r>
            <a:endParaRPr/>
          </a:p>
        </p:txBody>
      </p:sp>
      <p:sp>
        <p:nvSpPr>
          <p:cNvPr id="404" name="Google Shape;404;p6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i="1" lang="en-US"/>
              <a:t>Encapsulation</a:t>
            </a:r>
            <a:endParaRPr/>
          </a:p>
          <a:p>
            <a:pPr indent="-342900" lvl="0" marL="342900" rtl="0" algn="l">
              <a:spcBef>
                <a:spcPts val="640"/>
              </a:spcBef>
              <a:spcAft>
                <a:spcPts val="0"/>
              </a:spcAft>
              <a:buClr>
                <a:schemeClr val="dk1"/>
              </a:buClr>
              <a:buSzPts val="3200"/>
              <a:buChar char="•"/>
            </a:pPr>
            <a:r>
              <a:rPr lang="en-US"/>
              <a:t>A TCP segment encapsulates the data received from the application layer. The TCP segment is encapsulated in an IP datagram, which in turn is encapsulated in a frame at the data-link layer.</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5400"/>
              <a:buFont typeface="Calibri"/>
              <a:buNone/>
            </a:pPr>
            <a:r>
              <a:rPr b="1" lang="en-US" sz="5400"/>
              <a:t>A TCP Connection</a:t>
            </a:r>
            <a:endParaRPr b="1" sz="5400"/>
          </a:p>
        </p:txBody>
      </p:sp>
      <p:sp>
        <p:nvSpPr>
          <p:cNvPr id="410" name="Google Shape;410;p67"/>
          <p:cNvSpPr txBox="1"/>
          <p:nvPr>
            <p:ph idx="1" type="body"/>
          </p:nvPr>
        </p:nvSpPr>
        <p:spPr>
          <a:xfrm>
            <a:off x="990600" y="1600200"/>
            <a:ext cx="66294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Connection Establishment</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Data Transfer</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Connection Termination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Connection Establishment</a:t>
            </a:r>
            <a:endParaRPr/>
          </a:p>
        </p:txBody>
      </p:sp>
      <p:sp>
        <p:nvSpPr>
          <p:cNvPr id="416" name="Google Shape;416;p6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TCP transmits data in full duplex mode.</a:t>
            </a:r>
            <a:endParaRPr/>
          </a:p>
          <a:p>
            <a:pPr indent="-342900" lvl="0" marL="342900" rtl="0" algn="l">
              <a:spcBef>
                <a:spcPts val="640"/>
              </a:spcBef>
              <a:spcAft>
                <a:spcPts val="0"/>
              </a:spcAft>
              <a:buClr>
                <a:schemeClr val="dk1"/>
              </a:buClr>
              <a:buSzPts val="3200"/>
              <a:buChar char="•"/>
            </a:pPr>
            <a:r>
              <a:rPr lang="en-US"/>
              <a:t>Three-Way Handshake</a:t>
            </a:r>
            <a:endParaRPr/>
          </a:p>
          <a:p>
            <a:pPr indent="-285750" lvl="1" marL="742950" rtl="0" algn="l">
              <a:spcBef>
                <a:spcPts val="560"/>
              </a:spcBef>
              <a:spcAft>
                <a:spcPts val="0"/>
              </a:spcAft>
              <a:buClr>
                <a:schemeClr val="dk1"/>
              </a:buClr>
              <a:buSzPts val="2800"/>
              <a:buChar char="–"/>
            </a:pPr>
            <a:r>
              <a:rPr lang="en-US"/>
              <a:t>Server program tells its TCP that it is ready to accept a connection. This request is called a </a:t>
            </a:r>
            <a:r>
              <a:rPr i="1" lang="en-US">
                <a:solidFill>
                  <a:srgbClr val="FF0000"/>
                </a:solidFill>
              </a:rPr>
              <a:t>passive open</a:t>
            </a:r>
            <a:r>
              <a:rPr lang="en-US"/>
              <a:t>.</a:t>
            </a:r>
            <a:endParaRPr/>
          </a:p>
          <a:p>
            <a:pPr indent="-285750" lvl="1" marL="742950" rtl="0" algn="l">
              <a:spcBef>
                <a:spcPts val="560"/>
              </a:spcBef>
              <a:spcAft>
                <a:spcPts val="0"/>
              </a:spcAft>
              <a:buClr>
                <a:schemeClr val="dk1"/>
              </a:buClr>
              <a:buSzPts val="2800"/>
              <a:buChar char="–"/>
            </a:pPr>
            <a:r>
              <a:rPr lang="en-US"/>
              <a:t>The client program issues a request for an </a:t>
            </a:r>
            <a:r>
              <a:rPr i="1" lang="en-US">
                <a:solidFill>
                  <a:srgbClr val="FF0000"/>
                </a:solidFill>
              </a:rPr>
              <a:t>active open</a:t>
            </a:r>
            <a:r>
              <a:rPr lang="en-US">
                <a:solidFill>
                  <a:srgbClr val="FF0000"/>
                </a:solidFill>
              </a:rPr>
              <a:t>.</a:t>
            </a:r>
            <a:endParaRPr/>
          </a:p>
          <a:p>
            <a:pPr indent="-139700" lvl="0" marL="342900" rtl="0" algn="l">
              <a:spcBef>
                <a:spcPts val="640"/>
              </a:spcBef>
              <a:spcAft>
                <a:spcPts val="0"/>
              </a:spcAft>
              <a:buClr>
                <a:schemeClr val="dk1"/>
              </a:buClr>
              <a:buSzPts val="3200"/>
              <a:buNone/>
            </a:pPr>
            <a:r>
              <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pic>
        <p:nvPicPr>
          <p:cNvPr id="421" name="Google Shape;421;p69"/>
          <p:cNvPicPr preferRelativeResize="0"/>
          <p:nvPr/>
        </p:nvPicPr>
        <p:blipFill rotWithShape="1">
          <a:blip r:embed="rId3">
            <a:alphaModFix/>
          </a:blip>
          <a:srcRect b="0" l="0" r="0" t="0"/>
          <a:stretch/>
        </p:blipFill>
        <p:spPr>
          <a:xfrm>
            <a:off x="16170" y="1524000"/>
            <a:ext cx="9111660" cy="4800599"/>
          </a:xfrm>
          <a:prstGeom prst="rect">
            <a:avLst/>
          </a:prstGeom>
          <a:noFill/>
          <a:ln>
            <a:noFill/>
          </a:ln>
        </p:spPr>
      </p:pic>
      <p:sp>
        <p:nvSpPr>
          <p:cNvPr id="422" name="Google Shape;422;p6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Connection Establishment</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70"/>
          <p:cNvSpPr txBox="1"/>
          <p:nvPr>
            <p:ph type="title"/>
          </p:nvPr>
        </p:nvSpPr>
        <p:spPr>
          <a:xfrm>
            <a:off x="457200" y="274638"/>
            <a:ext cx="8229600" cy="4873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Connection Establishment</a:t>
            </a:r>
            <a:endParaRPr/>
          </a:p>
        </p:txBody>
      </p:sp>
      <p:sp>
        <p:nvSpPr>
          <p:cNvPr id="428" name="Google Shape;428;p70"/>
          <p:cNvSpPr txBox="1"/>
          <p:nvPr>
            <p:ph idx="1" type="body"/>
          </p:nvPr>
        </p:nvSpPr>
        <p:spPr>
          <a:xfrm>
            <a:off x="457200" y="762000"/>
            <a:ext cx="8229600" cy="6019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The client sends the first segment, a SYN segment</a:t>
            </a:r>
            <a:endParaRPr/>
          </a:p>
          <a:p>
            <a:pPr indent="-285750" lvl="1" marL="742950" rtl="0" algn="l">
              <a:spcBef>
                <a:spcPts val="560"/>
              </a:spcBef>
              <a:spcAft>
                <a:spcPts val="0"/>
              </a:spcAft>
              <a:buClr>
                <a:schemeClr val="dk1"/>
              </a:buClr>
              <a:buSzPts val="2800"/>
              <a:buChar char="–"/>
            </a:pPr>
            <a:r>
              <a:rPr lang="en-US"/>
              <a:t> Only the SYN flag is set.</a:t>
            </a:r>
            <a:endParaRPr/>
          </a:p>
          <a:p>
            <a:pPr indent="-285750" lvl="1" marL="742950" rtl="0" algn="l">
              <a:spcBef>
                <a:spcPts val="560"/>
              </a:spcBef>
              <a:spcAft>
                <a:spcPts val="0"/>
              </a:spcAft>
              <a:buClr>
                <a:schemeClr val="dk1"/>
              </a:buClr>
              <a:buSzPts val="2800"/>
              <a:buChar char="–"/>
            </a:pPr>
            <a:r>
              <a:rPr lang="en-US"/>
              <a:t>This segment is for </a:t>
            </a:r>
            <a:r>
              <a:rPr lang="en-US">
                <a:solidFill>
                  <a:srgbClr val="FF0000"/>
                </a:solidFill>
              </a:rPr>
              <a:t>synchronization of sequence numbers</a:t>
            </a:r>
            <a:endParaRPr/>
          </a:p>
          <a:p>
            <a:pPr indent="-285750" lvl="1" marL="742950" rtl="0" algn="l">
              <a:spcBef>
                <a:spcPts val="560"/>
              </a:spcBef>
              <a:spcAft>
                <a:spcPts val="0"/>
              </a:spcAft>
              <a:buClr>
                <a:schemeClr val="dk1"/>
              </a:buClr>
              <a:buSzPts val="2800"/>
              <a:buChar char="–"/>
            </a:pPr>
            <a:r>
              <a:rPr lang="en-US"/>
              <a:t>segment </a:t>
            </a:r>
            <a:r>
              <a:rPr lang="en-US">
                <a:solidFill>
                  <a:srgbClr val="FF0000"/>
                </a:solidFill>
              </a:rPr>
              <a:t>does not </a:t>
            </a:r>
            <a:r>
              <a:rPr lang="en-US"/>
              <a:t>contain an acknowledgment number</a:t>
            </a:r>
            <a:endParaRPr/>
          </a:p>
          <a:p>
            <a:pPr indent="-285750" lvl="1" marL="742950" rtl="0" algn="l">
              <a:spcBef>
                <a:spcPts val="560"/>
              </a:spcBef>
              <a:spcAft>
                <a:spcPts val="0"/>
              </a:spcAft>
              <a:buClr>
                <a:srgbClr val="FF0000"/>
              </a:buClr>
              <a:buSzPts val="2800"/>
              <a:buChar char="–"/>
            </a:pPr>
            <a:r>
              <a:rPr lang="en-US">
                <a:solidFill>
                  <a:srgbClr val="FF0000"/>
                </a:solidFill>
              </a:rPr>
              <a:t>Does not </a:t>
            </a:r>
            <a:r>
              <a:rPr lang="en-US"/>
              <a:t>define window size.</a:t>
            </a:r>
            <a:endParaRPr/>
          </a:p>
          <a:p>
            <a:pPr indent="-285750" lvl="1" marL="742950" rtl="0" algn="l">
              <a:spcBef>
                <a:spcPts val="560"/>
              </a:spcBef>
              <a:spcAft>
                <a:spcPts val="0"/>
              </a:spcAft>
              <a:buClr>
                <a:schemeClr val="dk1"/>
              </a:buClr>
              <a:buSzPts val="2800"/>
              <a:buChar char="–"/>
            </a:pPr>
            <a:r>
              <a:rPr b="1" lang="en-US"/>
              <a:t>SYN segment cannot carry data, but it consumes one sequence number </a:t>
            </a:r>
            <a:r>
              <a:rPr lang="en-US"/>
              <a:t>( for</a:t>
            </a:r>
            <a:r>
              <a:rPr b="1" lang="en-US"/>
              <a:t> </a:t>
            </a:r>
            <a:r>
              <a:rPr lang="en-US"/>
              <a:t>one imaginary byte)</a:t>
            </a:r>
            <a:r>
              <a:rPr b="1" lang="en-US"/>
              <a:t>.</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Connection Establishment</a:t>
            </a:r>
            <a:endParaRPr/>
          </a:p>
        </p:txBody>
      </p:sp>
      <p:sp>
        <p:nvSpPr>
          <p:cNvPr id="434" name="Google Shape;434;p71"/>
          <p:cNvSpPr txBox="1"/>
          <p:nvPr>
            <p:ph idx="1" type="body"/>
          </p:nvPr>
        </p:nvSpPr>
        <p:spPr>
          <a:xfrm>
            <a:off x="457200" y="1219200"/>
            <a:ext cx="8229600" cy="5562600"/>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Clr>
                <a:schemeClr val="dk1"/>
              </a:buClr>
              <a:buSzPct val="100000"/>
              <a:buChar char="•"/>
            </a:pPr>
            <a:r>
              <a:rPr lang="en-US"/>
              <a:t>Server sends the second segment, a </a:t>
            </a:r>
            <a:r>
              <a:rPr lang="en-US">
                <a:solidFill>
                  <a:srgbClr val="FF0000"/>
                </a:solidFill>
              </a:rPr>
              <a:t>SYN + ACK</a:t>
            </a:r>
            <a:r>
              <a:rPr lang="en-US"/>
              <a:t>.</a:t>
            </a:r>
            <a:endParaRPr/>
          </a:p>
          <a:p>
            <a:pPr indent="-342900" lvl="0" marL="342900" rtl="0" algn="l">
              <a:spcBef>
                <a:spcPts val="592"/>
              </a:spcBef>
              <a:spcAft>
                <a:spcPts val="0"/>
              </a:spcAft>
              <a:buClr>
                <a:schemeClr val="dk1"/>
              </a:buClr>
              <a:buSzPct val="100000"/>
              <a:buChar char="•"/>
            </a:pPr>
            <a:r>
              <a:rPr lang="en-US"/>
              <a:t>This segment has a dual purpose:</a:t>
            </a:r>
            <a:endParaRPr/>
          </a:p>
          <a:p>
            <a:pPr indent="-285750" lvl="1" marL="742950" rtl="0" algn="l">
              <a:spcBef>
                <a:spcPts val="518"/>
              </a:spcBef>
              <a:spcAft>
                <a:spcPts val="0"/>
              </a:spcAft>
              <a:buClr>
                <a:schemeClr val="dk1"/>
              </a:buClr>
              <a:buSzPct val="100000"/>
              <a:buChar char="–"/>
            </a:pPr>
            <a:r>
              <a:rPr lang="en-US"/>
              <a:t>SYN segment for communication in the other direction(initialize a sequence number for numbering the bytes sent from the server to the client).</a:t>
            </a:r>
            <a:endParaRPr/>
          </a:p>
          <a:p>
            <a:pPr indent="-285750" lvl="1" marL="742950" rtl="0" algn="l">
              <a:spcBef>
                <a:spcPts val="518"/>
              </a:spcBef>
              <a:spcAft>
                <a:spcPts val="0"/>
              </a:spcAft>
              <a:buClr>
                <a:schemeClr val="dk1"/>
              </a:buClr>
              <a:buSzPct val="100000"/>
              <a:buChar char="–"/>
            </a:pPr>
            <a:r>
              <a:rPr lang="en-US"/>
              <a:t>The server also acknowledges the receipt of the SYN segment from the client by setting ACK flag.</a:t>
            </a:r>
            <a:endParaRPr/>
          </a:p>
          <a:p>
            <a:pPr indent="-342900" lvl="0" marL="342900" rtl="0" algn="l">
              <a:spcBef>
                <a:spcPts val="592"/>
              </a:spcBef>
              <a:spcAft>
                <a:spcPts val="0"/>
              </a:spcAft>
              <a:buClr>
                <a:schemeClr val="dk1"/>
              </a:buClr>
              <a:buSzPct val="100000"/>
              <a:buChar char="•"/>
            </a:pPr>
            <a:r>
              <a:rPr lang="en-US"/>
              <a:t>Because segment contains an ACK, it also </a:t>
            </a:r>
            <a:r>
              <a:rPr lang="en-US">
                <a:solidFill>
                  <a:srgbClr val="FF0000"/>
                </a:solidFill>
              </a:rPr>
              <a:t>need to define window size</a:t>
            </a:r>
            <a:r>
              <a:rPr lang="en-US"/>
              <a:t>, </a:t>
            </a:r>
            <a:r>
              <a:rPr i="1" lang="en-US"/>
              <a:t>rwnd</a:t>
            </a:r>
            <a:r>
              <a:rPr lang="en-US"/>
              <a:t>(to be used by client).</a:t>
            </a:r>
            <a:endParaRPr/>
          </a:p>
          <a:p>
            <a:pPr indent="-342900" lvl="0" marL="342900" rtl="0" algn="l">
              <a:spcBef>
                <a:spcPts val="592"/>
              </a:spcBef>
              <a:spcAft>
                <a:spcPts val="0"/>
              </a:spcAft>
              <a:buClr>
                <a:schemeClr val="dk1"/>
              </a:buClr>
              <a:buSzPct val="100000"/>
              <a:buChar char="•"/>
            </a:pPr>
            <a:r>
              <a:rPr b="1" lang="en-US"/>
              <a:t>A SYN +</a:t>
            </a:r>
            <a:r>
              <a:rPr lang="en-US"/>
              <a:t> </a:t>
            </a:r>
            <a:r>
              <a:rPr b="1" lang="en-US"/>
              <a:t>ACK segment cannot carry data, but it does consume one sequence number.</a:t>
            </a:r>
            <a:endParaRPr/>
          </a:p>
          <a:p>
            <a:pPr indent="-121284" lvl="1" marL="742950" rtl="0" algn="l">
              <a:spcBef>
                <a:spcPts val="518"/>
              </a:spcBef>
              <a:spcAft>
                <a:spcPts val="0"/>
              </a:spcAft>
              <a:buClr>
                <a:schemeClr val="dk1"/>
              </a:buClr>
              <a:buSzPct val="100000"/>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7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Connection Establishment</a:t>
            </a:r>
            <a:endParaRPr/>
          </a:p>
        </p:txBody>
      </p:sp>
      <p:sp>
        <p:nvSpPr>
          <p:cNvPr id="440" name="Google Shape;440;p72"/>
          <p:cNvSpPr txBox="1"/>
          <p:nvPr>
            <p:ph idx="1" type="body"/>
          </p:nvPr>
        </p:nvSpPr>
        <p:spPr>
          <a:xfrm>
            <a:off x="457200" y="1981200"/>
            <a:ext cx="8229600" cy="2590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The client sends the third segment – an ACK segment.</a:t>
            </a:r>
            <a:endParaRPr/>
          </a:p>
          <a:p>
            <a:pPr indent="-342900" lvl="0" marL="342900" rtl="0" algn="l">
              <a:spcBef>
                <a:spcPts val="640"/>
              </a:spcBef>
              <a:spcAft>
                <a:spcPts val="0"/>
              </a:spcAft>
              <a:buClr>
                <a:schemeClr val="dk1"/>
              </a:buClr>
              <a:buSzPts val="3200"/>
              <a:buChar char="•"/>
            </a:pPr>
            <a:r>
              <a:rPr b="1" lang="en-US"/>
              <a:t>An ACK segment, if carrying no data, </a:t>
            </a:r>
            <a:r>
              <a:rPr b="1" lang="en-US">
                <a:solidFill>
                  <a:srgbClr val="FF0000"/>
                </a:solidFill>
              </a:rPr>
              <a:t>consumes no sequence number</a:t>
            </a:r>
            <a:r>
              <a:rPr b="1" lang="en-US"/>
              <a:t>.</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73"/>
          <p:cNvSpPr txBox="1"/>
          <p:nvPr>
            <p:ph type="title"/>
          </p:nvPr>
        </p:nvSpPr>
        <p:spPr>
          <a:xfrm>
            <a:off x="457200" y="61119"/>
            <a:ext cx="7010400" cy="4111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Data Transfer</a:t>
            </a:r>
            <a:endParaRPr/>
          </a:p>
        </p:txBody>
      </p:sp>
      <p:pic>
        <p:nvPicPr>
          <p:cNvPr id="446" name="Google Shape;446;p73"/>
          <p:cNvPicPr preferRelativeResize="0"/>
          <p:nvPr/>
        </p:nvPicPr>
        <p:blipFill rotWithShape="1">
          <a:blip r:embed="rId3">
            <a:alphaModFix/>
          </a:blip>
          <a:srcRect b="0" l="0" r="0" t="0"/>
          <a:stretch/>
        </p:blipFill>
        <p:spPr>
          <a:xfrm>
            <a:off x="457200" y="501411"/>
            <a:ext cx="8216900" cy="6369289"/>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74"/>
          <p:cNvSpPr txBox="1"/>
          <p:nvPr>
            <p:ph type="title"/>
          </p:nvPr>
        </p:nvSpPr>
        <p:spPr>
          <a:xfrm>
            <a:off x="457200" y="274638"/>
            <a:ext cx="8229600" cy="4873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Data Transfer</a:t>
            </a:r>
            <a:endParaRPr/>
          </a:p>
        </p:txBody>
      </p:sp>
      <p:sp>
        <p:nvSpPr>
          <p:cNvPr id="452" name="Google Shape;452;p74"/>
          <p:cNvSpPr txBox="1"/>
          <p:nvPr>
            <p:ph idx="1" type="body"/>
          </p:nvPr>
        </p:nvSpPr>
        <p:spPr>
          <a:xfrm>
            <a:off x="457200" y="838200"/>
            <a:ext cx="8229600" cy="5287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453" name="Google Shape;453;p74"/>
          <p:cNvSpPr txBox="1"/>
          <p:nvPr/>
        </p:nvSpPr>
        <p:spPr>
          <a:xfrm>
            <a:off x="457200" y="838200"/>
            <a:ext cx="8229600" cy="5562600"/>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After connection establishment, bidirectional data transfer can take place.</a:t>
            </a:r>
            <a:endParaRPr/>
          </a:p>
          <a:p>
            <a:pPr indent="-342900" lvl="0" marL="342900" marR="0" rtl="0" algn="l">
              <a:spcBef>
                <a:spcPts val="64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acknowledgment can be </a:t>
            </a:r>
            <a:r>
              <a:rPr lang="en-US" sz="3200">
                <a:solidFill>
                  <a:srgbClr val="FF0000"/>
                </a:solidFill>
                <a:latin typeface="Calibri"/>
                <a:ea typeface="Calibri"/>
                <a:cs typeface="Calibri"/>
                <a:sym typeface="Calibri"/>
              </a:rPr>
              <a:t>piggybacked</a:t>
            </a:r>
            <a:r>
              <a:rPr lang="en-US" sz="3200">
                <a:solidFill>
                  <a:schemeClr val="dk1"/>
                </a:solidFill>
                <a:latin typeface="Calibri"/>
                <a:ea typeface="Calibri"/>
                <a:cs typeface="Calibri"/>
                <a:sym typeface="Calibri"/>
              </a:rPr>
              <a:t> with the data.</a:t>
            </a:r>
            <a:endParaRPr sz="2400">
              <a:solidFill>
                <a:schemeClr val="dk1"/>
              </a:solidFill>
              <a:latin typeface="Calibri"/>
              <a:ea typeface="Calibri"/>
              <a:cs typeface="Calibri"/>
              <a:sym typeface="Calibri"/>
            </a:endParaRPr>
          </a:p>
          <a:p>
            <a:pPr indent="-342900" lvl="0" marL="342900" marR="0" rtl="0" algn="l">
              <a:spcBef>
                <a:spcPts val="64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Pushing Data:</a:t>
            </a:r>
            <a:endParaRPr/>
          </a:p>
          <a:p>
            <a:pPr indent="-285750" lvl="1" marL="742950" marR="0" rtl="0" algn="l">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Delayed transmission and delayed delivery of data may not be acceptable by the application program.</a:t>
            </a:r>
            <a:endParaRPr/>
          </a:p>
          <a:p>
            <a:pPr indent="-285750" lvl="1" marL="742950" marR="0" rtl="0" algn="l">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application program at the sender can request a </a:t>
            </a:r>
            <a:r>
              <a:rPr b="0" i="1" lang="en-US" sz="2800" u="none" cap="none" strike="noStrike">
                <a:solidFill>
                  <a:schemeClr val="dk1"/>
                </a:solidFill>
                <a:latin typeface="Calibri"/>
                <a:ea typeface="Calibri"/>
                <a:cs typeface="Calibri"/>
                <a:sym typeface="Calibri"/>
              </a:rPr>
              <a:t>push </a:t>
            </a:r>
            <a:r>
              <a:rPr b="0" i="0" lang="en-US" sz="2800" u="none" cap="none" strike="noStrike">
                <a:solidFill>
                  <a:schemeClr val="dk1"/>
                </a:solidFill>
                <a:latin typeface="Calibri"/>
                <a:ea typeface="Calibri"/>
                <a:cs typeface="Calibri"/>
                <a:sym typeface="Calibri"/>
              </a:rPr>
              <a:t>operation</a:t>
            </a:r>
            <a:endParaRPr b="0" i="0" sz="2800" u="none" cap="none" strike="noStrike">
              <a:solidFill>
                <a:schemeClr val="dk1"/>
              </a:solidFill>
              <a:latin typeface="Calibri"/>
              <a:ea typeface="Calibri"/>
              <a:cs typeface="Calibri"/>
              <a:sym typeface="Calibri"/>
            </a:endParaRPr>
          </a:p>
          <a:p>
            <a:pPr indent="-285750" lvl="1" marL="742950" marR="0" rtl="0" algn="l">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TCP can choose whether or not to use this feature.</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type="title"/>
          </p:nvPr>
        </p:nvSpPr>
        <p:spPr>
          <a:xfrm>
            <a:off x="457200" y="274638"/>
            <a:ext cx="8229600" cy="4873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Data Transfer</a:t>
            </a:r>
            <a:endParaRPr/>
          </a:p>
        </p:txBody>
      </p:sp>
      <p:sp>
        <p:nvSpPr>
          <p:cNvPr id="459" name="Google Shape;459;p75"/>
          <p:cNvSpPr txBox="1"/>
          <p:nvPr>
            <p:ph idx="1" type="body"/>
          </p:nvPr>
        </p:nvSpPr>
        <p:spPr>
          <a:xfrm>
            <a:off x="457200" y="838200"/>
            <a:ext cx="8229600" cy="5287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
        <p:nvSpPr>
          <p:cNvPr id="460" name="Google Shape;460;p75"/>
          <p:cNvSpPr txBox="1"/>
          <p:nvPr/>
        </p:nvSpPr>
        <p:spPr>
          <a:xfrm>
            <a:off x="457200" y="838200"/>
            <a:ext cx="8229600" cy="556260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marR="0" rtl="0" algn="l">
              <a:spcBef>
                <a:spcPts val="0"/>
              </a:spcBef>
              <a:spcAft>
                <a:spcPts val="0"/>
              </a:spcAft>
              <a:buClr>
                <a:schemeClr val="dk1"/>
              </a:buClr>
              <a:buSzPct val="100000"/>
              <a:buFont typeface="Arial"/>
              <a:buChar char="•"/>
            </a:pPr>
            <a:r>
              <a:rPr lang="en-US" sz="2400">
                <a:solidFill>
                  <a:schemeClr val="dk1"/>
                </a:solidFill>
                <a:latin typeface="Calibri"/>
                <a:ea typeface="Calibri"/>
                <a:cs typeface="Calibri"/>
                <a:sym typeface="Calibri"/>
              </a:rPr>
              <a:t>After connection establishment, bidirectional data transfer can take place</a:t>
            </a:r>
            <a:endParaRPr/>
          </a:p>
          <a:p>
            <a:pPr indent="-342900" lvl="0" marL="342900" marR="0" rtl="0" algn="l">
              <a:spcBef>
                <a:spcPts val="592"/>
              </a:spcBef>
              <a:spcAft>
                <a:spcPts val="0"/>
              </a:spcAft>
              <a:buClr>
                <a:schemeClr val="dk1"/>
              </a:buClr>
              <a:buSzPct val="100000"/>
              <a:buFont typeface="Arial"/>
              <a:buChar char="•"/>
            </a:pPr>
            <a:r>
              <a:rPr lang="en-US" sz="3200">
                <a:solidFill>
                  <a:schemeClr val="dk1"/>
                </a:solidFill>
                <a:latin typeface="Calibri"/>
                <a:ea typeface="Calibri"/>
                <a:cs typeface="Calibri"/>
                <a:sym typeface="Calibri"/>
              </a:rPr>
              <a:t>Urgent Data :</a:t>
            </a:r>
            <a:endParaRPr/>
          </a:p>
          <a:p>
            <a:pPr indent="-285750" lvl="1" marL="742950" marR="0" rtl="0" algn="l">
              <a:spcBef>
                <a:spcPts val="518"/>
              </a:spcBef>
              <a:spcAft>
                <a:spcPts val="0"/>
              </a:spcAft>
              <a:buClr>
                <a:schemeClr val="dk1"/>
              </a:buClr>
              <a:buSzPct val="100000"/>
              <a:buFont typeface="Arial"/>
              <a:buChar char="–"/>
            </a:pPr>
            <a:r>
              <a:rPr b="0" i="0" lang="en-US" sz="2800" u="none" cap="none" strike="noStrike">
                <a:solidFill>
                  <a:schemeClr val="dk1"/>
                </a:solidFill>
                <a:latin typeface="Calibri"/>
                <a:ea typeface="Calibri"/>
                <a:cs typeface="Calibri"/>
                <a:sym typeface="Calibri"/>
              </a:rPr>
              <a:t>Each byte of data has a position in the stream. However, there are occasions in which an application program needs to send </a:t>
            </a:r>
            <a:r>
              <a:rPr b="0" i="1" lang="en-US" sz="2800" u="none" cap="none" strike="noStrike">
                <a:solidFill>
                  <a:schemeClr val="dk1"/>
                </a:solidFill>
                <a:latin typeface="Calibri"/>
                <a:ea typeface="Calibri"/>
                <a:cs typeface="Calibri"/>
                <a:sym typeface="Calibri"/>
              </a:rPr>
              <a:t>urgent </a:t>
            </a:r>
            <a:r>
              <a:rPr b="0" i="0" lang="en-US" sz="2800" u="none" cap="none" strike="noStrike">
                <a:solidFill>
                  <a:schemeClr val="dk1"/>
                </a:solidFill>
                <a:latin typeface="Calibri"/>
                <a:ea typeface="Calibri"/>
                <a:cs typeface="Calibri"/>
                <a:sym typeface="Calibri"/>
              </a:rPr>
              <a:t>bytes</a:t>
            </a:r>
            <a:endParaRPr/>
          </a:p>
          <a:p>
            <a:pPr indent="-285750" lvl="1" marL="742950" marR="0" rtl="0" algn="l">
              <a:spcBef>
                <a:spcPts val="518"/>
              </a:spcBef>
              <a:spcAft>
                <a:spcPts val="0"/>
              </a:spcAft>
              <a:buClr>
                <a:schemeClr val="dk1"/>
              </a:buClr>
              <a:buSzPct val="100000"/>
              <a:buFont typeface="Arial"/>
              <a:buChar char="–"/>
            </a:pPr>
            <a:r>
              <a:rPr b="0" i="0" lang="en-US" sz="2800" u="none" cap="none" strike="noStrike">
                <a:solidFill>
                  <a:schemeClr val="dk1"/>
                </a:solidFill>
                <a:latin typeface="Calibri"/>
                <a:ea typeface="Calibri"/>
                <a:cs typeface="Calibri"/>
                <a:sym typeface="Calibri"/>
              </a:rPr>
              <a:t>send a segment with the URG bit set.</a:t>
            </a:r>
            <a:endParaRPr/>
          </a:p>
          <a:p>
            <a:pPr indent="-285750" lvl="1" marL="742950" marR="0" rtl="0" algn="l">
              <a:spcBef>
                <a:spcPts val="518"/>
              </a:spcBef>
              <a:spcAft>
                <a:spcPts val="0"/>
              </a:spcAft>
              <a:buClr>
                <a:schemeClr val="dk1"/>
              </a:buClr>
              <a:buSzPct val="100000"/>
              <a:buFont typeface="Arial"/>
              <a:buChar char="–"/>
            </a:pPr>
            <a:r>
              <a:rPr b="0" i="0" lang="en-US" sz="2800" u="none" cap="none" strike="noStrike">
                <a:solidFill>
                  <a:schemeClr val="dk1"/>
                </a:solidFill>
                <a:latin typeface="Calibri"/>
                <a:ea typeface="Calibri"/>
                <a:cs typeface="Calibri"/>
                <a:sym typeface="Calibri"/>
              </a:rPr>
              <a:t>Sending TCP send a segment with the URG bit set.</a:t>
            </a:r>
            <a:endParaRPr/>
          </a:p>
          <a:p>
            <a:pPr indent="-285750" lvl="1" marL="742950" marR="0" rtl="0" algn="l">
              <a:spcBef>
                <a:spcPts val="518"/>
              </a:spcBef>
              <a:spcAft>
                <a:spcPts val="0"/>
              </a:spcAft>
              <a:buClr>
                <a:schemeClr val="dk1"/>
              </a:buClr>
              <a:buSzPct val="100000"/>
              <a:buFont typeface="Arial"/>
              <a:buChar char="–"/>
            </a:pPr>
            <a:r>
              <a:rPr b="0" i="0" lang="en-US" sz="2800" u="none" cap="none" strike="noStrike">
                <a:solidFill>
                  <a:schemeClr val="dk1"/>
                </a:solidFill>
                <a:latin typeface="Calibri"/>
                <a:ea typeface="Calibri"/>
                <a:cs typeface="Calibri"/>
                <a:sym typeface="Calibri"/>
              </a:rPr>
              <a:t>Sending TCP creates a segment and inserts the urgent data at the beginning of the segment, rest segment can carry normal data.</a:t>
            </a:r>
            <a:endParaRPr/>
          </a:p>
          <a:p>
            <a:pPr indent="-285750" lvl="1" marL="742950" marR="0" rtl="0" algn="l">
              <a:spcBef>
                <a:spcPts val="518"/>
              </a:spcBef>
              <a:spcAft>
                <a:spcPts val="0"/>
              </a:spcAft>
              <a:buClr>
                <a:schemeClr val="dk1"/>
              </a:buClr>
              <a:buSzPct val="100000"/>
              <a:buFont typeface="Arial"/>
              <a:buChar char="–"/>
            </a:pPr>
            <a:r>
              <a:rPr b="0" i="0" lang="en-US" sz="2800" u="none" cap="none" strike="noStrike">
                <a:solidFill>
                  <a:schemeClr val="dk1"/>
                </a:solidFill>
                <a:latin typeface="Calibri"/>
                <a:ea typeface="Calibri"/>
                <a:cs typeface="Calibri"/>
                <a:sym typeface="Calibri"/>
              </a:rPr>
              <a:t>The urgent pointer field in the header defines the end of the urgent data (the last byte of urgent data).</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76"/>
          <p:cNvSpPr txBox="1"/>
          <p:nvPr>
            <p:ph type="title"/>
          </p:nvPr>
        </p:nvSpPr>
        <p:spPr>
          <a:xfrm>
            <a:off x="381000" y="820738"/>
            <a:ext cx="83058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Urgent Flag/Pointer</a:t>
            </a:r>
            <a:endParaRPr/>
          </a:p>
        </p:txBody>
      </p:sp>
      <p:sp>
        <p:nvSpPr>
          <p:cNvPr id="466" name="Google Shape;466;p7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For example, if</a:t>
            </a:r>
            <a:endParaRPr/>
          </a:p>
          <a:p>
            <a:pPr indent="-342900" lvl="0" marL="342900" rtl="0" algn="l">
              <a:spcBef>
                <a:spcPts val="640"/>
              </a:spcBef>
              <a:spcAft>
                <a:spcPts val="0"/>
              </a:spcAft>
              <a:buClr>
                <a:schemeClr val="dk1"/>
              </a:buClr>
              <a:buSzPts val="3200"/>
              <a:buChar char="•"/>
            </a:pPr>
            <a:r>
              <a:rPr lang="en-US"/>
              <a:t>the segment sequence number is 15000 and the value of the urgent pointer is 200, the first byte of urgent data is the byte 15000 and the last byte is the byte 15200. The rest of the bytes in the segment (if present) are non-urgent.</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7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Connection Termination</a:t>
            </a:r>
            <a:endParaRPr/>
          </a:p>
        </p:txBody>
      </p:sp>
      <p:sp>
        <p:nvSpPr>
          <p:cNvPr id="472" name="Google Shape;472;p7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Either of client or server can close the connection, usually initiated by the client.</a:t>
            </a:r>
            <a:endParaRPr/>
          </a:p>
          <a:p>
            <a:pPr indent="-342900" lvl="0" marL="342900" rtl="0" algn="l">
              <a:spcBef>
                <a:spcPts val="640"/>
              </a:spcBef>
              <a:spcAft>
                <a:spcPts val="0"/>
              </a:spcAft>
              <a:buClr>
                <a:schemeClr val="dk1"/>
              </a:buClr>
              <a:buSzPts val="3200"/>
              <a:buChar char="•"/>
            </a:pPr>
            <a:r>
              <a:rPr lang="en-US"/>
              <a:t>Most implementation allow two options:</a:t>
            </a:r>
            <a:endParaRPr/>
          </a:p>
          <a:p>
            <a:pPr indent="-285750" lvl="1" marL="742950" rtl="0" algn="l">
              <a:spcBef>
                <a:spcPts val="560"/>
              </a:spcBef>
              <a:spcAft>
                <a:spcPts val="0"/>
              </a:spcAft>
              <a:buClr>
                <a:schemeClr val="dk1"/>
              </a:buClr>
              <a:buSzPts val="2800"/>
              <a:buChar char="–"/>
            </a:pPr>
            <a:r>
              <a:rPr lang="en-US"/>
              <a:t>Three way handshaking</a:t>
            </a:r>
            <a:endParaRPr/>
          </a:p>
          <a:p>
            <a:pPr indent="-285750" lvl="1" marL="742950" rtl="0" algn="l">
              <a:spcBef>
                <a:spcPts val="560"/>
              </a:spcBef>
              <a:spcAft>
                <a:spcPts val="0"/>
              </a:spcAft>
              <a:buClr>
                <a:schemeClr val="dk1"/>
              </a:buClr>
              <a:buSzPts val="2800"/>
              <a:buChar char="–"/>
            </a:pPr>
            <a:r>
              <a:rPr lang="en-US"/>
              <a:t>Four way handshaking with Half-close option.</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78"/>
          <p:cNvSpPr txBox="1"/>
          <p:nvPr>
            <p:ph type="title"/>
          </p:nvPr>
        </p:nvSpPr>
        <p:spPr>
          <a:xfrm>
            <a:off x="457200" y="274638"/>
            <a:ext cx="8229600" cy="4873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Connection Termination</a:t>
            </a:r>
            <a:endParaRPr/>
          </a:p>
        </p:txBody>
      </p:sp>
      <p:pic>
        <p:nvPicPr>
          <p:cNvPr id="478" name="Google Shape;478;p78"/>
          <p:cNvPicPr preferRelativeResize="0"/>
          <p:nvPr>
            <p:ph idx="1" type="body"/>
          </p:nvPr>
        </p:nvPicPr>
        <p:blipFill rotWithShape="1">
          <a:blip r:embed="rId3">
            <a:alphaModFix/>
          </a:blip>
          <a:srcRect b="0" l="0" r="0" t="0"/>
          <a:stretch/>
        </p:blipFill>
        <p:spPr>
          <a:xfrm>
            <a:off x="457200" y="914400"/>
            <a:ext cx="8077200" cy="5572991"/>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79"/>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Connection Termination</a:t>
            </a:r>
            <a:endParaRPr/>
          </a:p>
        </p:txBody>
      </p:sp>
      <p:sp>
        <p:nvSpPr>
          <p:cNvPr id="484" name="Google Shape;484;p79"/>
          <p:cNvSpPr txBox="1"/>
          <p:nvPr>
            <p:ph idx="1" type="body"/>
          </p:nvPr>
        </p:nvSpPr>
        <p:spPr>
          <a:xfrm>
            <a:off x="457200" y="1219200"/>
            <a:ext cx="8229600" cy="4906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I. Three Way Handshake :</a:t>
            </a:r>
            <a:endParaRPr/>
          </a:p>
          <a:p>
            <a:pPr indent="-342900" lvl="0" marL="342900" rtl="0" algn="l">
              <a:spcBef>
                <a:spcPts val="640"/>
              </a:spcBef>
              <a:spcAft>
                <a:spcPts val="0"/>
              </a:spcAft>
              <a:buClr>
                <a:schemeClr val="dk1"/>
              </a:buClr>
              <a:buSzPts val="3200"/>
              <a:buChar char="•"/>
            </a:pPr>
            <a:r>
              <a:rPr lang="en-US"/>
              <a:t>Client TCP sends a FIN segment in which FIN flag is set.</a:t>
            </a:r>
            <a:endParaRPr/>
          </a:p>
          <a:p>
            <a:pPr indent="-342900" lvl="0" marL="342900" rtl="0" algn="l">
              <a:spcBef>
                <a:spcPts val="640"/>
              </a:spcBef>
              <a:spcAft>
                <a:spcPts val="0"/>
              </a:spcAft>
              <a:buClr>
                <a:schemeClr val="dk1"/>
              </a:buClr>
              <a:buSzPts val="3200"/>
              <a:buChar char="•"/>
            </a:pPr>
            <a:r>
              <a:rPr lang="en-US"/>
              <a:t>FIN segment can include the last chunk of data sent by the client or it can be just a control segment.</a:t>
            </a:r>
            <a:endParaRPr/>
          </a:p>
          <a:p>
            <a:pPr indent="-342900" lvl="0" marL="342900" rtl="0" algn="l">
              <a:spcBef>
                <a:spcPts val="640"/>
              </a:spcBef>
              <a:spcAft>
                <a:spcPts val="0"/>
              </a:spcAft>
              <a:buClr>
                <a:schemeClr val="dk1"/>
              </a:buClr>
              <a:buSzPts val="3200"/>
              <a:buChar char="•"/>
            </a:pPr>
            <a:r>
              <a:rPr b="1" lang="en-US"/>
              <a:t>The FIN segment consumes one sequence number if it does not carry data.</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80"/>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Connection Termination</a:t>
            </a:r>
            <a:endParaRPr/>
          </a:p>
        </p:txBody>
      </p:sp>
      <p:sp>
        <p:nvSpPr>
          <p:cNvPr id="490" name="Google Shape;490;p80"/>
          <p:cNvSpPr txBox="1"/>
          <p:nvPr>
            <p:ph idx="1" type="body"/>
          </p:nvPr>
        </p:nvSpPr>
        <p:spPr>
          <a:xfrm>
            <a:off x="457200" y="1219200"/>
            <a:ext cx="8229600" cy="4906963"/>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3200"/>
              <a:buNone/>
            </a:pPr>
            <a:r>
              <a:rPr lang="en-US"/>
              <a:t>II. Three Way Handshake :</a:t>
            </a:r>
            <a:endParaRPr/>
          </a:p>
          <a:p>
            <a:pPr indent="-342900" lvl="0" marL="342900" rtl="0" algn="l">
              <a:spcBef>
                <a:spcPts val="640"/>
              </a:spcBef>
              <a:spcAft>
                <a:spcPts val="0"/>
              </a:spcAft>
              <a:buClr>
                <a:schemeClr val="dk1"/>
              </a:buClr>
              <a:buSzPts val="3200"/>
              <a:buChar char="•"/>
            </a:pPr>
            <a:r>
              <a:rPr lang="en-US"/>
              <a:t>Server TCP, after receiving FIN segment sends a FIN+ACK segment to confirm receipt of FIN segment and also to announce closing of connection in other direction.</a:t>
            </a:r>
            <a:endParaRPr/>
          </a:p>
          <a:p>
            <a:pPr indent="-342900" lvl="0" marL="342900" rtl="0" algn="l">
              <a:spcBef>
                <a:spcPts val="640"/>
              </a:spcBef>
              <a:spcAft>
                <a:spcPts val="0"/>
              </a:spcAft>
              <a:buClr>
                <a:schemeClr val="dk1"/>
              </a:buClr>
              <a:buSzPts val="3200"/>
              <a:buChar char="•"/>
            </a:pPr>
            <a:r>
              <a:rPr lang="en-US"/>
              <a:t>This segment can also carry last chunk of data from server.</a:t>
            </a:r>
            <a:endParaRPr/>
          </a:p>
          <a:p>
            <a:pPr indent="-342900" lvl="0" marL="342900" rtl="0" algn="l">
              <a:spcBef>
                <a:spcPts val="640"/>
              </a:spcBef>
              <a:spcAft>
                <a:spcPts val="0"/>
              </a:spcAft>
              <a:buClr>
                <a:schemeClr val="dk1"/>
              </a:buClr>
              <a:buSzPts val="3200"/>
              <a:buChar char="•"/>
            </a:pPr>
            <a:r>
              <a:rPr lang="en-US"/>
              <a:t>If it does not carry data, it consumes only one sequence number because it needs to be acknowledged.</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81"/>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Connection Termination</a:t>
            </a:r>
            <a:endParaRPr/>
          </a:p>
        </p:txBody>
      </p:sp>
      <p:sp>
        <p:nvSpPr>
          <p:cNvPr id="496" name="Google Shape;496;p81"/>
          <p:cNvSpPr txBox="1"/>
          <p:nvPr>
            <p:ph idx="1" type="body"/>
          </p:nvPr>
        </p:nvSpPr>
        <p:spPr>
          <a:xfrm>
            <a:off x="457200" y="1219200"/>
            <a:ext cx="8229600" cy="4906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III. Three Way Handshake :</a:t>
            </a:r>
            <a:endParaRPr/>
          </a:p>
          <a:p>
            <a:pPr indent="-342900" lvl="0" marL="342900" rtl="0" algn="l">
              <a:spcBef>
                <a:spcPts val="640"/>
              </a:spcBef>
              <a:spcAft>
                <a:spcPts val="0"/>
              </a:spcAft>
              <a:buClr>
                <a:schemeClr val="dk1"/>
              </a:buClr>
              <a:buSzPts val="3200"/>
              <a:buChar char="•"/>
            </a:pPr>
            <a:r>
              <a:rPr lang="en-US"/>
              <a:t>Client TCP sends the last segment, an ACK segment, to confirm the receipt of the FIN segment from the TCP server.</a:t>
            </a:r>
            <a:endParaRPr/>
          </a:p>
          <a:p>
            <a:pPr indent="-342900" lvl="0" marL="342900" rtl="0" algn="l">
              <a:spcBef>
                <a:spcPts val="640"/>
              </a:spcBef>
              <a:spcAft>
                <a:spcPts val="0"/>
              </a:spcAft>
              <a:buClr>
                <a:schemeClr val="dk1"/>
              </a:buClr>
              <a:buSzPts val="3200"/>
              <a:buChar char="•"/>
            </a:pPr>
            <a:r>
              <a:rPr lang="en-US"/>
              <a:t>This segment cannot carry data and consumes no sequence numbers</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2"/>
          <p:cNvSpPr txBox="1"/>
          <p:nvPr>
            <p:ph type="title"/>
          </p:nvPr>
        </p:nvSpPr>
        <p:spPr>
          <a:xfrm>
            <a:off x="457200" y="274638"/>
            <a:ext cx="3581400" cy="2587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Half Close</a:t>
            </a:r>
            <a:endParaRPr/>
          </a:p>
        </p:txBody>
      </p:sp>
      <p:pic>
        <p:nvPicPr>
          <p:cNvPr id="502" name="Google Shape;502;p82"/>
          <p:cNvPicPr preferRelativeResize="0"/>
          <p:nvPr>
            <p:ph idx="1" type="body"/>
          </p:nvPr>
        </p:nvPicPr>
        <p:blipFill rotWithShape="1">
          <a:blip r:embed="rId3">
            <a:alphaModFix/>
          </a:blip>
          <a:srcRect b="0" l="0" r="0" t="0"/>
          <a:stretch/>
        </p:blipFill>
        <p:spPr>
          <a:xfrm>
            <a:off x="838200" y="762000"/>
            <a:ext cx="7924800" cy="571500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8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Half Close</a:t>
            </a:r>
            <a:endParaRPr/>
          </a:p>
        </p:txBody>
      </p:sp>
      <p:sp>
        <p:nvSpPr>
          <p:cNvPr id="508" name="Google Shape;508;p8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one end can stop sending data while still receiving data.</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Connection Reset</a:t>
            </a:r>
            <a:endParaRPr/>
          </a:p>
        </p:txBody>
      </p:sp>
      <p:sp>
        <p:nvSpPr>
          <p:cNvPr id="514" name="Google Shape;514;p84"/>
          <p:cNvSpPr txBox="1"/>
          <p:nvPr>
            <p:ph idx="1" type="body"/>
          </p:nvPr>
        </p:nvSpPr>
        <p:spPr>
          <a:xfrm>
            <a:off x="467345"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TCP at one end,</a:t>
            </a:r>
            <a:endParaRPr/>
          </a:p>
          <a:p>
            <a:pPr indent="-285750" lvl="1" marL="742950" rtl="0" algn="l">
              <a:spcBef>
                <a:spcPts val="560"/>
              </a:spcBef>
              <a:spcAft>
                <a:spcPts val="0"/>
              </a:spcAft>
              <a:buClr>
                <a:schemeClr val="dk1"/>
              </a:buClr>
              <a:buSzPts val="2800"/>
              <a:buChar char="–"/>
            </a:pPr>
            <a:r>
              <a:rPr lang="en-US"/>
              <a:t>may deny a connection request</a:t>
            </a:r>
            <a:endParaRPr/>
          </a:p>
          <a:p>
            <a:pPr indent="-285750" lvl="1" marL="742950" rtl="0" algn="l">
              <a:spcBef>
                <a:spcPts val="560"/>
              </a:spcBef>
              <a:spcAft>
                <a:spcPts val="0"/>
              </a:spcAft>
              <a:buClr>
                <a:schemeClr val="dk1"/>
              </a:buClr>
              <a:buSzPts val="2800"/>
              <a:buChar char="–"/>
            </a:pPr>
            <a:r>
              <a:rPr lang="en-US"/>
              <a:t>may abort an existing connection</a:t>
            </a:r>
            <a:endParaRPr/>
          </a:p>
          <a:p>
            <a:pPr indent="-285750" lvl="1" marL="742950" rtl="0" algn="l">
              <a:spcBef>
                <a:spcPts val="560"/>
              </a:spcBef>
              <a:spcAft>
                <a:spcPts val="0"/>
              </a:spcAft>
              <a:buClr>
                <a:schemeClr val="dk1"/>
              </a:buClr>
              <a:buSzPts val="2800"/>
              <a:buChar char="–"/>
            </a:pPr>
            <a:r>
              <a:rPr lang="en-US"/>
              <a:t>may terminate an idle connection</a:t>
            </a:r>
            <a:endParaRPr/>
          </a:p>
          <a:p>
            <a:pPr indent="-342900" lvl="0" marL="342900" rtl="0" algn="l">
              <a:spcBef>
                <a:spcPts val="640"/>
              </a:spcBef>
              <a:spcAft>
                <a:spcPts val="0"/>
              </a:spcAft>
              <a:buClr>
                <a:schemeClr val="dk1"/>
              </a:buClr>
              <a:buSzPts val="3200"/>
              <a:buChar char="•"/>
            </a:pPr>
            <a:r>
              <a:rPr lang="en-US"/>
              <a:t>All above is done using RST flag.</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85"/>
          <p:cNvSpPr txBox="1"/>
          <p:nvPr>
            <p:ph type="title"/>
          </p:nvPr>
        </p:nvSpPr>
        <p:spPr>
          <a:xfrm>
            <a:off x="381000" y="25400"/>
            <a:ext cx="8229600" cy="3349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State Transition Diagram</a:t>
            </a:r>
            <a:endParaRPr/>
          </a:p>
        </p:txBody>
      </p:sp>
      <p:pic>
        <p:nvPicPr>
          <p:cNvPr id="520" name="Google Shape;520;p85"/>
          <p:cNvPicPr preferRelativeResize="0"/>
          <p:nvPr>
            <p:ph idx="1" type="body"/>
          </p:nvPr>
        </p:nvPicPr>
        <p:blipFill rotWithShape="1">
          <a:blip r:embed="rId3">
            <a:alphaModFix/>
          </a:blip>
          <a:srcRect b="0" l="0" r="0" t="0"/>
          <a:stretch/>
        </p:blipFill>
        <p:spPr>
          <a:xfrm>
            <a:off x="533400" y="457200"/>
            <a:ext cx="8153400" cy="6248401"/>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pic>
        <p:nvPicPr>
          <p:cNvPr id="525" name="Google Shape;525;p86"/>
          <p:cNvPicPr preferRelativeResize="0"/>
          <p:nvPr>
            <p:ph idx="1" type="body"/>
          </p:nvPr>
        </p:nvPicPr>
        <p:blipFill rotWithShape="1">
          <a:blip r:embed="rId3">
            <a:alphaModFix/>
          </a:blip>
          <a:srcRect b="0" l="0" r="0" t="0"/>
          <a:stretch/>
        </p:blipFill>
        <p:spPr>
          <a:xfrm>
            <a:off x="457200" y="609600"/>
            <a:ext cx="8449533" cy="56388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87"/>
          <p:cNvSpPr txBox="1"/>
          <p:nvPr>
            <p:ph type="title"/>
          </p:nvPr>
        </p:nvSpPr>
        <p:spPr>
          <a:xfrm>
            <a:off x="457200" y="274638"/>
            <a:ext cx="8229600" cy="4111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Half Close Scenario</a:t>
            </a:r>
            <a:endParaRPr/>
          </a:p>
        </p:txBody>
      </p:sp>
      <p:pic>
        <p:nvPicPr>
          <p:cNvPr id="531" name="Google Shape;531;p87"/>
          <p:cNvPicPr preferRelativeResize="0"/>
          <p:nvPr>
            <p:ph idx="1" type="body"/>
          </p:nvPr>
        </p:nvPicPr>
        <p:blipFill rotWithShape="1">
          <a:blip r:embed="rId3">
            <a:alphaModFix/>
          </a:blip>
          <a:srcRect b="0" l="0" r="0" t="0"/>
          <a:stretch/>
        </p:blipFill>
        <p:spPr>
          <a:xfrm>
            <a:off x="1" y="1371601"/>
            <a:ext cx="8998810" cy="3733799"/>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8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Windows in TCP</a:t>
            </a:r>
            <a:endParaRPr/>
          </a:p>
        </p:txBody>
      </p:sp>
      <p:pic>
        <p:nvPicPr>
          <p:cNvPr id="537" name="Google Shape;537;p88"/>
          <p:cNvPicPr preferRelativeResize="0"/>
          <p:nvPr>
            <p:ph idx="1" type="body"/>
          </p:nvPr>
        </p:nvPicPr>
        <p:blipFill rotWithShape="1">
          <a:blip r:embed="rId3">
            <a:alphaModFix/>
          </a:blip>
          <a:srcRect b="0" l="0" r="0" t="0"/>
          <a:stretch/>
        </p:blipFill>
        <p:spPr>
          <a:xfrm>
            <a:off x="574015" y="1295400"/>
            <a:ext cx="8265185" cy="5308471"/>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8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Send Window</a:t>
            </a:r>
            <a:endParaRPr/>
          </a:p>
        </p:txBody>
      </p:sp>
      <p:sp>
        <p:nvSpPr>
          <p:cNvPr id="543" name="Google Shape;543;p8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Send window size is dictated by the receiver (flow control) and the congestion in the underlying network (congestion control).</a:t>
            </a:r>
            <a:endParaRPr/>
          </a:p>
          <a:p>
            <a:pPr indent="-342900" lvl="0" marL="342900" rtl="0" algn="l">
              <a:spcBef>
                <a:spcPts val="640"/>
              </a:spcBef>
              <a:spcAft>
                <a:spcPts val="0"/>
              </a:spcAft>
              <a:buClr>
                <a:schemeClr val="dk1"/>
              </a:buClr>
              <a:buSzPts val="3200"/>
              <a:buChar char="•"/>
            </a:pPr>
            <a:r>
              <a:rPr lang="en-US"/>
              <a:t>The figure shows how a send window </a:t>
            </a:r>
            <a:r>
              <a:rPr i="1" lang="en-US"/>
              <a:t>opens</a:t>
            </a:r>
            <a:r>
              <a:rPr lang="en-US"/>
              <a:t>, </a:t>
            </a:r>
            <a:r>
              <a:rPr i="1" lang="en-US"/>
              <a:t>closes</a:t>
            </a:r>
            <a:r>
              <a:rPr lang="en-US"/>
              <a:t>, or </a:t>
            </a:r>
            <a:r>
              <a:rPr i="1" lang="en-US"/>
              <a:t>shrinks</a:t>
            </a:r>
            <a:r>
              <a:rPr lang="en-US"/>
              <a:t>.</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0"/>
          <p:cNvSpPr txBox="1"/>
          <p:nvPr>
            <p:ph type="title"/>
          </p:nvPr>
        </p:nvSpPr>
        <p:spPr>
          <a:xfrm>
            <a:off x="457200" y="274638"/>
            <a:ext cx="8229600" cy="4111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Difference between TCP and SR send window</a:t>
            </a:r>
            <a:endParaRPr/>
          </a:p>
        </p:txBody>
      </p:sp>
      <p:sp>
        <p:nvSpPr>
          <p:cNvPr id="549" name="Google Shape;549;p90"/>
          <p:cNvSpPr txBox="1"/>
          <p:nvPr>
            <p:ph idx="1" type="body"/>
          </p:nvPr>
        </p:nvSpPr>
        <p:spPr>
          <a:xfrm>
            <a:off x="457200" y="1295400"/>
            <a:ext cx="82296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window size in SR is the number of packets, but the window size in TCP is the number of bytes.</a:t>
            </a:r>
            <a:endParaRPr/>
          </a:p>
          <a:p>
            <a:pPr indent="-342900" lvl="0" marL="342900" rtl="0" algn="l">
              <a:spcBef>
                <a:spcPts val="640"/>
              </a:spcBef>
              <a:spcAft>
                <a:spcPts val="0"/>
              </a:spcAft>
              <a:buClr>
                <a:schemeClr val="dk1"/>
              </a:buClr>
              <a:buSzPts val="3200"/>
              <a:buChar char="•"/>
            </a:pPr>
            <a:r>
              <a:rPr lang="en-US"/>
              <a:t>TCP can store data received from the process and send them later, but sending TCP is capable of sending segments of data as soon as it receives them from its process.</a:t>
            </a:r>
            <a:endParaRPr/>
          </a:p>
          <a:p>
            <a:pPr indent="-342900" lvl="0" marL="342900" rtl="0" algn="l">
              <a:spcBef>
                <a:spcPts val="640"/>
              </a:spcBef>
              <a:spcAft>
                <a:spcPts val="0"/>
              </a:spcAft>
              <a:buClr>
                <a:schemeClr val="dk1"/>
              </a:buClr>
              <a:buSzPts val="3200"/>
              <a:buChar char="•"/>
            </a:pPr>
            <a:r>
              <a:rPr lang="en-US"/>
              <a:t>number of timers</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91"/>
          <p:cNvSpPr txBox="1"/>
          <p:nvPr>
            <p:ph type="title"/>
          </p:nvPr>
        </p:nvSpPr>
        <p:spPr>
          <a:xfrm>
            <a:off x="457200" y="274638"/>
            <a:ext cx="8229600" cy="4873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Receive Window</a:t>
            </a:r>
            <a:endParaRPr/>
          </a:p>
        </p:txBody>
      </p:sp>
      <p:pic>
        <p:nvPicPr>
          <p:cNvPr id="555" name="Google Shape;555;p91"/>
          <p:cNvPicPr preferRelativeResize="0"/>
          <p:nvPr>
            <p:ph idx="1" type="body"/>
          </p:nvPr>
        </p:nvPicPr>
        <p:blipFill rotWithShape="1">
          <a:blip r:embed="rId3">
            <a:alphaModFix/>
          </a:blip>
          <a:srcRect b="0" l="0" r="0" t="0"/>
          <a:stretch/>
        </p:blipFill>
        <p:spPr>
          <a:xfrm>
            <a:off x="477964" y="1219200"/>
            <a:ext cx="8208836" cy="5301372"/>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9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Difference between TCP and SR Receive window </a:t>
            </a:r>
            <a:endParaRPr/>
          </a:p>
        </p:txBody>
      </p:sp>
      <p:sp>
        <p:nvSpPr>
          <p:cNvPr id="561" name="Google Shape;561;p9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lang="en-US"/>
              <a:t>TCP allows the receiving process to pull data at its own pace.</a:t>
            </a:r>
            <a:endParaRPr/>
          </a:p>
          <a:p>
            <a:pPr indent="-342900" lvl="0" marL="342900" rtl="0" algn="l">
              <a:spcBef>
                <a:spcPts val="640"/>
              </a:spcBef>
              <a:spcAft>
                <a:spcPts val="0"/>
              </a:spcAft>
              <a:buClr>
                <a:schemeClr val="dk1"/>
              </a:buClr>
              <a:buSzPts val="3200"/>
              <a:buChar char="•"/>
            </a:pPr>
            <a:r>
              <a:rPr lang="en-US"/>
              <a:t>The receive window size determines the number of bytes that the receive window can accept from the sender before being overwhelmed (flow control)</a:t>
            </a:r>
            <a:endParaRPr/>
          </a:p>
          <a:p>
            <a:pPr indent="0" lvl="0" marL="0" rtl="0" algn="ctr">
              <a:spcBef>
                <a:spcPts val="480"/>
              </a:spcBef>
              <a:spcAft>
                <a:spcPts val="0"/>
              </a:spcAft>
              <a:buClr>
                <a:schemeClr val="dk1"/>
              </a:buClr>
              <a:buSzPts val="2400"/>
              <a:buNone/>
            </a:pPr>
            <a:r>
              <a:rPr b="1" i="1" lang="en-US" sz="2400"/>
              <a:t>rwnd </a:t>
            </a:r>
            <a:r>
              <a:rPr lang="en-US" sz="2400"/>
              <a:t>= </a:t>
            </a:r>
            <a:r>
              <a:rPr b="1" lang="en-US" sz="2400"/>
              <a:t>buffer size </a:t>
            </a:r>
            <a:r>
              <a:rPr lang="en-US" sz="2400"/>
              <a:t>- </a:t>
            </a:r>
            <a:r>
              <a:rPr b="1" lang="en-US" sz="2400"/>
              <a:t>number of waiting bytes to be pulled</a:t>
            </a:r>
            <a:endParaRPr/>
          </a:p>
          <a:p>
            <a:pPr indent="-342900" lvl="0" marL="342900" rtl="0" algn="l">
              <a:spcBef>
                <a:spcPts val="640"/>
              </a:spcBef>
              <a:spcAft>
                <a:spcPts val="0"/>
              </a:spcAft>
              <a:buClr>
                <a:schemeClr val="dk1"/>
              </a:buClr>
              <a:buSzPts val="3200"/>
              <a:buChar char="•"/>
            </a:pPr>
            <a:r>
              <a:rPr lang="en-US"/>
              <a:t>Acknowledgments : New version of uses both cumulative and selective acknowledgments</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9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Flow Control</a:t>
            </a:r>
            <a:endParaRPr/>
          </a:p>
        </p:txBody>
      </p:sp>
      <p:pic>
        <p:nvPicPr>
          <p:cNvPr id="567" name="Google Shape;567;p93"/>
          <p:cNvPicPr preferRelativeResize="0"/>
          <p:nvPr>
            <p:ph idx="1" type="body"/>
          </p:nvPr>
        </p:nvPicPr>
        <p:blipFill rotWithShape="1">
          <a:blip r:embed="rId3">
            <a:alphaModFix/>
          </a:blip>
          <a:srcRect b="0" l="0" r="0" t="0"/>
          <a:stretch/>
        </p:blipFill>
        <p:spPr>
          <a:xfrm>
            <a:off x="648459" y="1905000"/>
            <a:ext cx="8038341" cy="396240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9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Flow Control</a:t>
            </a:r>
            <a:endParaRPr/>
          </a:p>
        </p:txBody>
      </p:sp>
      <p:sp>
        <p:nvSpPr>
          <p:cNvPr id="573" name="Google Shape;573;p94"/>
          <p:cNvSpPr txBox="1"/>
          <p:nvPr>
            <p:ph idx="1" type="body"/>
          </p:nvPr>
        </p:nvSpPr>
        <p:spPr>
          <a:xfrm>
            <a:off x="457200" y="1219200"/>
            <a:ext cx="8229600" cy="548640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a:t>To achieve flow control, TCP forces the sender and the receiver to </a:t>
            </a:r>
            <a:r>
              <a:rPr lang="en-US">
                <a:solidFill>
                  <a:srgbClr val="FF0000"/>
                </a:solidFill>
              </a:rPr>
              <a:t>adjust their window sizes</a:t>
            </a:r>
            <a:r>
              <a:rPr lang="en-US"/>
              <a:t>,</a:t>
            </a:r>
            <a:endParaRPr/>
          </a:p>
          <a:p>
            <a:pPr indent="-342900" lvl="0" marL="342900" rtl="0" algn="l">
              <a:spcBef>
                <a:spcPts val="592"/>
              </a:spcBef>
              <a:spcAft>
                <a:spcPts val="0"/>
              </a:spcAft>
              <a:buClr>
                <a:schemeClr val="dk1"/>
              </a:buClr>
              <a:buSzPct val="100000"/>
              <a:buChar char="•"/>
            </a:pPr>
            <a:r>
              <a:rPr lang="en-US"/>
              <a:t> The size of the buffer for both parties is </a:t>
            </a:r>
            <a:r>
              <a:rPr lang="en-US">
                <a:solidFill>
                  <a:srgbClr val="FF0000"/>
                </a:solidFill>
              </a:rPr>
              <a:t>fixed</a:t>
            </a:r>
            <a:r>
              <a:rPr lang="en-US"/>
              <a:t> when the connection is established.</a:t>
            </a:r>
            <a:endParaRPr/>
          </a:p>
          <a:p>
            <a:pPr indent="-342900" lvl="0" marL="342900" rtl="0" algn="l">
              <a:spcBef>
                <a:spcPts val="592"/>
              </a:spcBef>
              <a:spcAft>
                <a:spcPts val="0"/>
              </a:spcAft>
              <a:buClr>
                <a:schemeClr val="dk1"/>
              </a:buClr>
              <a:buSzPct val="100000"/>
              <a:buChar char="•"/>
            </a:pPr>
            <a:r>
              <a:rPr lang="en-US"/>
              <a:t>The opening, closing, and shrinking of the send window is controlled by the  receiver.</a:t>
            </a:r>
            <a:endParaRPr/>
          </a:p>
          <a:p>
            <a:pPr indent="-342900" lvl="0" marL="342900" rtl="0" algn="l">
              <a:spcBef>
                <a:spcPts val="592"/>
              </a:spcBef>
              <a:spcAft>
                <a:spcPts val="0"/>
              </a:spcAft>
              <a:buClr>
                <a:schemeClr val="dk1"/>
              </a:buClr>
              <a:buSzPct val="100000"/>
              <a:buChar char="•"/>
            </a:pPr>
            <a:r>
              <a:rPr lang="en-US"/>
              <a:t>The send window closes (moves its left wall to the right) when a new acknowledgment allows it to do so.</a:t>
            </a:r>
            <a:endParaRPr/>
          </a:p>
          <a:p>
            <a:pPr indent="-342900" lvl="0" marL="342900" rtl="0" algn="l">
              <a:spcBef>
                <a:spcPts val="592"/>
              </a:spcBef>
              <a:spcAft>
                <a:spcPts val="0"/>
              </a:spcAft>
              <a:buClr>
                <a:schemeClr val="dk1"/>
              </a:buClr>
              <a:buSzPct val="100000"/>
              <a:buChar char="•"/>
            </a:pPr>
            <a:r>
              <a:rPr lang="en-US"/>
              <a:t>The send window opens (its right wall moves to the right) when the receive window size (</a:t>
            </a:r>
            <a:r>
              <a:rPr i="1" lang="en-US"/>
              <a:t>rwnd</a:t>
            </a:r>
            <a:r>
              <a:rPr lang="en-US"/>
              <a:t>) advertised by the receiver allows it to do so.</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The receive window closes (moves its left wall to the right) when more bytes arrive from the sender;</a:t>
            </a:r>
            <a:endParaRPr/>
          </a:p>
          <a:p>
            <a:pPr indent="-342900" lvl="0" marL="342900" rtl="0" algn="l">
              <a:spcBef>
                <a:spcPts val="640"/>
              </a:spcBef>
              <a:spcAft>
                <a:spcPts val="0"/>
              </a:spcAft>
              <a:buClr>
                <a:schemeClr val="dk1"/>
              </a:buClr>
              <a:buSzPts val="3200"/>
              <a:buChar char="•"/>
            </a:pPr>
            <a:r>
              <a:rPr lang="en-US"/>
              <a:t> It opens (moves its right wall to the right) when more bytes are pulled by the process.</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9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Shrinking of Windows</a:t>
            </a:r>
            <a:endParaRPr/>
          </a:p>
        </p:txBody>
      </p:sp>
      <p:sp>
        <p:nvSpPr>
          <p:cNvPr id="584" name="Google Shape;584;p96"/>
          <p:cNvSpPr txBox="1"/>
          <p:nvPr>
            <p:ph idx="1" type="body"/>
          </p:nvPr>
        </p:nvSpPr>
        <p:spPr>
          <a:xfrm>
            <a:off x="152400" y="1524000"/>
            <a:ext cx="8763000" cy="46021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lang="en-US"/>
              <a:t>Receive window cannot shrink.</a:t>
            </a:r>
            <a:endParaRPr/>
          </a:p>
          <a:p>
            <a:pPr indent="-342900" lvl="0" marL="342900" rtl="0" algn="l">
              <a:spcBef>
                <a:spcPts val="592"/>
              </a:spcBef>
              <a:spcAft>
                <a:spcPts val="0"/>
              </a:spcAft>
              <a:buClr>
                <a:schemeClr val="dk1"/>
              </a:buClr>
              <a:buSzPct val="100000"/>
              <a:buChar char="•"/>
            </a:pPr>
            <a:r>
              <a:rPr lang="en-US"/>
              <a:t>Send window, can shrink if the receiver   defines a value for </a:t>
            </a:r>
            <a:r>
              <a:rPr i="1" lang="en-US"/>
              <a:t>rwnd </a:t>
            </a:r>
            <a:r>
              <a:rPr lang="en-US"/>
              <a:t>that results in shrinking the window</a:t>
            </a:r>
            <a:endParaRPr/>
          </a:p>
          <a:p>
            <a:pPr indent="-342900" lvl="0" marL="342900" rtl="0" algn="l">
              <a:spcBef>
                <a:spcPts val="592"/>
              </a:spcBef>
              <a:spcAft>
                <a:spcPts val="0"/>
              </a:spcAft>
              <a:buClr>
                <a:schemeClr val="dk1"/>
              </a:buClr>
              <a:buSzPct val="100000"/>
              <a:buChar char="•"/>
            </a:pPr>
            <a:r>
              <a:rPr lang="en-US"/>
              <a:t>Some implementation doesn’t allow shrinking of sender window </a:t>
            </a:r>
            <a:endParaRPr/>
          </a:p>
          <a:p>
            <a:pPr indent="-342900" lvl="0" marL="342900" rtl="0" algn="l">
              <a:spcBef>
                <a:spcPts val="592"/>
              </a:spcBef>
              <a:spcAft>
                <a:spcPts val="0"/>
              </a:spcAft>
              <a:buClr>
                <a:schemeClr val="dk1"/>
              </a:buClr>
              <a:buSzPct val="100000"/>
              <a:buChar char="•"/>
            </a:pPr>
            <a:r>
              <a:rPr lang="en-US"/>
              <a:t>the receiver needs to keep the following relationship between the last and new acknowledgment and the last and new </a:t>
            </a:r>
            <a:r>
              <a:rPr i="1" lang="en-US"/>
              <a:t>rwnd </a:t>
            </a:r>
            <a:r>
              <a:rPr lang="en-US"/>
              <a:t>values to prevent shrinking of the send window.</a:t>
            </a:r>
            <a:endParaRPr/>
          </a:p>
          <a:p>
            <a:pPr indent="0" lvl="0" marL="0" rtl="0" algn="l">
              <a:spcBef>
                <a:spcPts val="592"/>
              </a:spcBef>
              <a:spcAft>
                <a:spcPts val="0"/>
              </a:spcAft>
              <a:buClr>
                <a:schemeClr val="dk1"/>
              </a:buClr>
              <a:buSzPct val="100000"/>
              <a:buNone/>
            </a:pPr>
            <a:r>
              <a:rPr b="1" lang="en-US"/>
              <a:t>       </a:t>
            </a:r>
            <a:r>
              <a:rPr b="1" lang="en-US">
                <a:solidFill>
                  <a:srgbClr val="C00000"/>
                </a:solidFill>
              </a:rPr>
              <a:t>new ackNo </a:t>
            </a:r>
            <a:r>
              <a:rPr lang="en-US">
                <a:solidFill>
                  <a:srgbClr val="C00000"/>
                </a:solidFill>
              </a:rPr>
              <a:t>+ </a:t>
            </a:r>
            <a:r>
              <a:rPr b="1" lang="en-US">
                <a:solidFill>
                  <a:srgbClr val="C00000"/>
                </a:solidFill>
              </a:rPr>
              <a:t>new </a:t>
            </a:r>
            <a:r>
              <a:rPr b="1" i="1" lang="en-US">
                <a:solidFill>
                  <a:srgbClr val="C00000"/>
                </a:solidFill>
              </a:rPr>
              <a:t>rwnd </a:t>
            </a:r>
            <a:r>
              <a:rPr lang="en-US">
                <a:solidFill>
                  <a:srgbClr val="C00000"/>
                </a:solidFill>
              </a:rPr>
              <a:t>≥ </a:t>
            </a:r>
            <a:r>
              <a:rPr b="1" lang="en-US">
                <a:solidFill>
                  <a:srgbClr val="C00000"/>
                </a:solidFill>
              </a:rPr>
              <a:t>last ackNo </a:t>
            </a:r>
            <a:r>
              <a:rPr lang="en-US">
                <a:solidFill>
                  <a:srgbClr val="C00000"/>
                </a:solidFill>
              </a:rPr>
              <a:t>+ </a:t>
            </a:r>
            <a:r>
              <a:rPr b="1" lang="en-US">
                <a:solidFill>
                  <a:srgbClr val="C00000"/>
                </a:solidFill>
              </a:rPr>
              <a:t>last </a:t>
            </a:r>
            <a:r>
              <a:rPr b="1" i="1" lang="en-US">
                <a:solidFill>
                  <a:srgbClr val="C00000"/>
                </a:solidFill>
              </a:rPr>
              <a:t>rwnd</a:t>
            </a:r>
            <a:endParaRPr b="1" i="1">
              <a:solidFill>
                <a:srgbClr val="C00000"/>
              </a:solidFill>
            </a:endParaRPr>
          </a:p>
          <a:p>
            <a:pPr indent="0" lvl="0" marL="0" rtl="0" algn="l">
              <a:spcBef>
                <a:spcPts val="592"/>
              </a:spcBef>
              <a:spcAft>
                <a:spcPts val="0"/>
              </a:spcAft>
              <a:buClr>
                <a:srgbClr val="C00000"/>
              </a:buClr>
              <a:buSzPct val="100000"/>
              <a:buNone/>
            </a:pPr>
            <a:r>
              <a:rPr b="1" i="1" lang="en-US">
                <a:solidFill>
                  <a:srgbClr val="C00000"/>
                </a:solidFill>
              </a:rPr>
              <a:t>	(210)        +       (4)	      &lt;	    (206)	+	(12)</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9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Shrinking of WIndows</a:t>
            </a:r>
            <a:endParaRPr/>
          </a:p>
        </p:txBody>
      </p:sp>
      <p:pic>
        <p:nvPicPr>
          <p:cNvPr id="590" name="Google Shape;590;p97"/>
          <p:cNvPicPr preferRelativeResize="0"/>
          <p:nvPr>
            <p:ph idx="1" type="body"/>
          </p:nvPr>
        </p:nvPicPr>
        <p:blipFill rotWithShape="1">
          <a:blip r:embed="rId3">
            <a:alphaModFix/>
          </a:blip>
          <a:srcRect b="0" l="0" r="0" t="0"/>
          <a:stretch/>
        </p:blipFill>
        <p:spPr>
          <a:xfrm>
            <a:off x="822635" y="1698914"/>
            <a:ext cx="7498730" cy="432853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