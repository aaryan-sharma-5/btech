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84"/>
  </p:notesMasterIdLst>
  <p:sldIdLst>
    <p:sldId id="256" r:id="rId2"/>
    <p:sldId id="292" r:id="rId3"/>
    <p:sldId id="279" r:id="rId4"/>
    <p:sldId id="259" r:id="rId5"/>
    <p:sldId id="260" r:id="rId6"/>
    <p:sldId id="261" r:id="rId7"/>
    <p:sldId id="262" r:id="rId8"/>
    <p:sldId id="274" r:id="rId9"/>
    <p:sldId id="275" r:id="rId10"/>
    <p:sldId id="277" r:id="rId11"/>
    <p:sldId id="278" r:id="rId12"/>
    <p:sldId id="280" r:id="rId13"/>
    <p:sldId id="281" r:id="rId14"/>
    <p:sldId id="282" r:id="rId15"/>
    <p:sldId id="283" r:id="rId16"/>
    <p:sldId id="284" r:id="rId17"/>
    <p:sldId id="285" r:id="rId18"/>
    <p:sldId id="263" r:id="rId19"/>
    <p:sldId id="264" r:id="rId20"/>
    <p:sldId id="265" r:id="rId21"/>
    <p:sldId id="267" r:id="rId22"/>
    <p:sldId id="268" r:id="rId23"/>
    <p:sldId id="269" r:id="rId24"/>
    <p:sldId id="271" r:id="rId25"/>
    <p:sldId id="272" r:id="rId26"/>
    <p:sldId id="273" r:id="rId27"/>
    <p:sldId id="286" r:id="rId28"/>
    <p:sldId id="287" r:id="rId29"/>
    <p:sldId id="288" r:id="rId30"/>
    <p:sldId id="289" r:id="rId31"/>
    <p:sldId id="290" r:id="rId32"/>
    <p:sldId id="291" r:id="rId33"/>
    <p:sldId id="293" r:id="rId34"/>
    <p:sldId id="294" r:id="rId35"/>
    <p:sldId id="295" r:id="rId36"/>
    <p:sldId id="302" r:id="rId37"/>
    <p:sldId id="296" r:id="rId38"/>
    <p:sldId id="297" r:id="rId39"/>
    <p:sldId id="300" r:id="rId40"/>
    <p:sldId id="301" r:id="rId41"/>
    <p:sldId id="298" r:id="rId42"/>
    <p:sldId id="299" r:id="rId43"/>
    <p:sldId id="303" r:id="rId44"/>
    <p:sldId id="304" r:id="rId45"/>
    <p:sldId id="305" r:id="rId46"/>
    <p:sldId id="308" r:id="rId47"/>
    <p:sldId id="309" r:id="rId48"/>
    <p:sldId id="310" r:id="rId49"/>
    <p:sldId id="311" r:id="rId50"/>
    <p:sldId id="312" r:id="rId51"/>
    <p:sldId id="314" r:id="rId52"/>
    <p:sldId id="315" r:id="rId53"/>
    <p:sldId id="316" r:id="rId54"/>
    <p:sldId id="317" r:id="rId55"/>
    <p:sldId id="318" r:id="rId56"/>
    <p:sldId id="341" r:id="rId57"/>
    <p:sldId id="342" r:id="rId58"/>
    <p:sldId id="343" r:id="rId59"/>
    <p:sldId id="344" r:id="rId60"/>
    <p:sldId id="345" r:id="rId61"/>
    <p:sldId id="346" r:id="rId62"/>
    <p:sldId id="347" r:id="rId63"/>
    <p:sldId id="348" r:id="rId64"/>
    <p:sldId id="349" r:id="rId65"/>
    <p:sldId id="35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06" r:id="rId82"/>
    <p:sldId id="307" r:id="rId83"/>
  </p:sldIdLst>
  <p:sldSz cx="10160000" cy="7620000"/>
  <p:notesSz cx="6858000" cy="9144000"/>
  <p:defaultTextStyle>
    <a:defPPr>
      <a:defRPr lang="en-US"/>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FAB11C-05D3-4CBC-94A0-AC41417A4776}" v="216" dt="2023-03-29T11:36:18.3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97" autoAdjust="0"/>
    <p:restoredTop sz="90929"/>
  </p:normalViewPr>
  <p:slideViewPr>
    <p:cSldViewPr>
      <p:cViewPr>
        <p:scale>
          <a:sx n="58" d="100"/>
          <a:sy n="58" d="100"/>
        </p:scale>
        <p:origin x="-892" y="-2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72.xml"/><Relationship Id="rId2" Type="http://schemas.openxmlformats.org/officeDocument/2006/relationships/slide" Target="slides/slide70.xml"/><Relationship Id="rId1" Type="http://schemas.openxmlformats.org/officeDocument/2006/relationships/slide" Target="slides/slide66.xml"/><Relationship Id="rId5" Type="http://schemas.openxmlformats.org/officeDocument/2006/relationships/slide" Target="slides/slide76.xml"/><Relationship Id="rId4" Type="http://schemas.openxmlformats.org/officeDocument/2006/relationships/slide" Target="slides/slide7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12.emf"/><Relationship Id="rId1" Type="http://schemas.openxmlformats.org/officeDocument/2006/relationships/image" Target="../media/image11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4.wmf"/><Relationship Id="rId1" Type="http://schemas.openxmlformats.org/officeDocument/2006/relationships/image" Target="../media/image1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BD4F4F-AC15-4583-92A4-EB3A80A7E8D6}" type="datetimeFigureOut">
              <a:rPr lang="en-IN" smtClean="0"/>
              <a:t>29-01-2026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944E66F-7A9E-4CDE-A7CC-034C3735754D}" type="slidenum">
              <a:rPr lang="en-IN" smtClean="0"/>
              <a:t>‹#›</a:t>
            </a:fld>
            <a:endParaRPr lang="en-IN"/>
          </a:p>
        </p:txBody>
      </p:sp>
    </p:spTree>
    <p:extLst>
      <p:ext uri="{BB962C8B-B14F-4D97-AF65-F5344CB8AC3E}">
        <p14:creationId xmlns:p14="http://schemas.microsoft.com/office/powerpoint/2010/main" val="876466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1"/>
            <a:ext cx="10160000" cy="5080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5292" y="1"/>
            <a:ext cx="10154710" cy="5080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81000" y="5511263"/>
            <a:ext cx="6477000" cy="1625600"/>
          </a:xfrm>
        </p:spPr>
        <p:txBody>
          <a:bodyPr anchor="ctr">
            <a:normAutofit/>
          </a:bodyPr>
          <a:lstStyle>
            <a:lvl1pPr algn="r">
              <a:defRPr sz="5867" spc="267" baseline="0"/>
            </a:lvl1pPr>
          </a:lstStyle>
          <a:p>
            <a:r>
              <a:rPr lang="en-US" dirty="0"/>
              <a:t>Click to edit Master title style</a:t>
            </a:r>
          </a:p>
        </p:txBody>
      </p:sp>
      <p:sp>
        <p:nvSpPr>
          <p:cNvPr id="3" name="Subtitle 2"/>
          <p:cNvSpPr>
            <a:spLocks noGrp="1"/>
          </p:cNvSpPr>
          <p:nvPr>
            <p:ph type="subTitle" idx="1"/>
          </p:nvPr>
        </p:nvSpPr>
        <p:spPr>
          <a:xfrm>
            <a:off x="7175500" y="5511263"/>
            <a:ext cx="2667000" cy="1625600"/>
          </a:xfrm>
        </p:spPr>
        <p:txBody>
          <a:bodyPr lIns="91440" rIns="91440" anchor="ctr">
            <a:normAutofit/>
          </a:bodyPr>
          <a:lstStyle>
            <a:lvl1pPr marL="0" indent="0" algn="l">
              <a:lnSpc>
                <a:spcPct val="100000"/>
              </a:lnSpc>
              <a:spcBef>
                <a:spcPts val="0"/>
              </a:spcBef>
              <a:buNone/>
              <a:defRPr sz="2133">
                <a:solidFill>
                  <a:schemeClr val="tx1">
                    <a:lumMod val="95000"/>
                    <a:lumOff val="5000"/>
                  </a:schemeClr>
                </a:solidFill>
              </a:defRPr>
            </a:lvl1pPr>
            <a:lvl2pPr marL="609585" indent="0" algn="ctr">
              <a:buNone/>
              <a:defRPr sz="2133"/>
            </a:lvl2pPr>
            <a:lvl3pPr marL="1219170" indent="0" algn="ctr">
              <a:buNone/>
              <a:defRPr sz="2133"/>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p:cNvSpPr>
            <a:spLocks noGrp="1"/>
          </p:cNvSpPr>
          <p:nvPr>
            <p:ph type="dt" sz="half" idx="10"/>
          </p:nvPr>
        </p:nvSpPr>
        <p:spPr/>
        <p:txBody>
          <a:bodyPr/>
          <a:lstStyle>
            <a:lvl1pPr algn="l">
              <a:defRPr/>
            </a:lvl1pPr>
          </a:lstStyle>
          <a:p>
            <a:fld id="{96DFF08F-DC6B-4601-B491-B0F83F6DD2DA}" type="datetimeFigureOut">
              <a:rPr lang="en-US" dirty="0"/>
              <a:pPr/>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6989036" y="5849007"/>
            <a:ext cx="0" cy="10160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514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586829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0160000" cy="5080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5292" y="1"/>
            <a:ext cx="10154710" cy="5080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81000" y="5511263"/>
            <a:ext cx="6477000" cy="1625600"/>
          </a:xfrm>
        </p:spPr>
        <p:txBody>
          <a:bodyPr anchor="ctr">
            <a:normAutofit/>
          </a:bodyPr>
          <a:lstStyle>
            <a:lvl1pPr algn="r">
              <a:defRPr sz="5867" b="0" spc="267" baseline="0"/>
            </a:lvl1pPr>
          </a:lstStyle>
          <a:p>
            <a:r>
              <a:rPr lang="en-US" dirty="0"/>
              <a:t>Click to edit Master title style</a:t>
            </a:r>
          </a:p>
        </p:txBody>
      </p:sp>
      <p:sp>
        <p:nvSpPr>
          <p:cNvPr id="3" name="Text Placeholder 2"/>
          <p:cNvSpPr>
            <a:spLocks noGrp="1"/>
          </p:cNvSpPr>
          <p:nvPr>
            <p:ph type="body" idx="1"/>
          </p:nvPr>
        </p:nvSpPr>
        <p:spPr>
          <a:xfrm>
            <a:off x="7175500" y="5511263"/>
            <a:ext cx="2667000" cy="1625600"/>
          </a:xfrm>
        </p:spPr>
        <p:txBody>
          <a:bodyPr lIns="91440" rIns="91440" anchor="ctr">
            <a:normAutofit/>
          </a:bodyPr>
          <a:lstStyle>
            <a:lvl1pPr marL="0" indent="0">
              <a:lnSpc>
                <a:spcPct val="100000"/>
              </a:lnSpc>
              <a:spcBef>
                <a:spcPts val="0"/>
              </a:spcBef>
              <a:buNone/>
              <a:defRPr sz="2133">
                <a:solidFill>
                  <a:schemeClr val="tx1">
                    <a:lumMod val="95000"/>
                    <a:lumOff val="5000"/>
                  </a:schemeClr>
                </a:solidFill>
              </a:defRPr>
            </a:lvl1pPr>
            <a:lvl2pPr marL="609585" indent="0">
              <a:buNone/>
              <a:defRPr sz="2133">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6989036" y="5849007"/>
            <a:ext cx="0" cy="10160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5958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53440" y="650240"/>
            <a:ext cx="8100060" cy="1666240"/>
          </a:xfrm>
        </p:spPr>
        <p:txBody>
          <a:bodyPr/>
          <a:lstStyle/>
          <a:p>
            <a:r>
              <a:rPr lang="en-US" dirty="0"/>
              <a:t>Click to edit Master title style</a:t>
            </a:r>
          </a:p>
        </p:txBody>
      </p:sp>
      <p:sp>
        <p:nvSpPr>
          <p:cNvPr id="3" name="Content Placeholder 2"/>
          <p:cNvSpPr>
            <a:spLocks noGrp="1"/>
          </p:cNvSpPr>
          <p:nvPr>
            <p:ph sz="half" idx="1"/>
          </p:nvPr>
        </p:nvSpPr>
        <p:spPr>
          <a:xfrm>
            <a:off x="853440" y="2540000"/>
            <a:ext cx="3962400" cy="4470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991100" y="2540000"/>
            <a:ext cx="3962400" cy="4470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6DFF08F-DC6B-4601-B491-B0F83F6DD2DA}" type="datetimeFigureOut">
              <a:rPr lang="en-US" dirty="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717009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53440" y="650240"/>
            <a:ext cx="8100060" cy="1666240"/>
          </a:xfrm>
        </p:spPr>
        <p:txBody>
          <a:bodyPr/>
          <a:lstStyle/>
          <a:p>
            <a:r>
              <a:rPr lang="en-US" dirty="0"/>
              <a:t>Click to edit Master title style</a:t>
            </a:r>
          </a:p>
        </p:txBody>
      </p:sp>
      <p:sp>
        <p:nvSpPr>
          <p:cNvPr id="3" name="Text Placeholder 2"/>
          <p:cNvSpPr>
            <a:spLocks noGrp="1"/>
          </p:cNvSpPr>
          <p:nvPr>
            <p:ph type="body" idx="1"/>
          </p:nvPr>
        </p:nvSpPr>
        <p:spPr>
          <a:xfrm>
            <a:off x="853440" y="2421818"/>
            <a:ext cx="3962400" cy="914400"/>
          </a:xfrm>
        </p:spPr>
        <p:txBody>
          <a:bodyPr lIns="137160" rIns="137160" anchor="ctr">
            <a:normAutofit/>
          </a:bodyPr>
          <a:lstStyle>
            <a:lvl1pPr marL="0" indent="0">
              <a:spcBef>
                <a:spcPts val="0"/>
              </a:spcBef>
              <a:spcAft>
                <a:spcPts val="0"/>
              </a:spcAft>
              <a:buNone/>
              <a:defRPr sz="2933" b="0" cap="none" baseline="0">
                <a:solidFill>
                  <a:schemeClr val="accent1"/>
                </a:solidFill>
                <a:latin typeface="+mn-lt"/>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p:cNvSpPr>
            <a:spLocks noGrp="1"/>
          </p:cNvSpPr>
          <p:nvPr>
            <p:ph sz="half" idx="2"/>
          </p:nvPr>
        </p:nvSpPr>
        <p:spPr>
          <a:xfrm>
            <a:off x="853440" y="3297542"/>
            <a:ext cx="3962400" cy="37128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991100" y="2421818"/>
            <a:ext cx="3962400" cy="914400"/>
          </a:xfrm>
        </p:spPr>
        <p:txBody>
          <a:bodyPr lIns="137160" rIns="137160" anchor="ctr">
            <a:normAutofit/>
          </a:bodyPr>
          <a:lstStyle>
            <a:lvl1pPr marL="0" indent="0">
              <a:spcBef>
                <a:spcPts val="0"/>
              </a:spcBef>
              <a:spcAft>
                <a:spcPts val="0"/>
              </a:spcAft>
              <a:buNone/>
              <a:defRPr lang="en-US" sz="2933" b="0" kern="1200" cap="none" baseline="0" dirty="0">
                <a:solidFill>
                  <a:schemeClr val="accent1"/>
                </a:solidFill>
                <a:latin typeface="+mn-lt"/>
                <a:ea typeface="+mn-ea"/>
                <a:cs typeface="+mn-cs"/>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marL="0" lvl="0" indent="0" algn="l" defTabSz="1219170" rtl="0" eaLnBrk="1" latinLnBrk="0" hangingPunct="1">
              <a:lnSpc>
                <a:spcPct val="90000"/>
              </a:lnSpc>
              <a:spcBef>
                <a:spcPts val="2400"/>
              </a:spcBef>
              <a:buNone/>
            </a:pPr>
            <a:r>
              <a:rPr lang="en-US" dirty="0"/>
              <a:t>Click to edit Master text styles</a:t>
            </a:r>
          </a:p>
        </p:txBody>
      </p:sp>
      <p:sp>
        <p:nvSpPr>
          <p:cNvPr id="6" name="Content Placeholder 5"/>
          <p:cNvSpPr>
            <a:spLocks noGrp="1"/>
          </p:cNvSpPr>
          <p:nvPr>
            <p:ph sz="quarter" idx="4"/>
          </p:nvPr>
        </p:nvSpPr>
        <p:spPr>
          <a:xfrm>
            <a:off x="4991100" y="3297542"/>
            <a:ext cx="3962400" cy="37128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6DFF08F-DC6B-4601-B491-B0F83F6DD2DA}" type="datetimeFigureOut">
              <a:rPr lang="en-US" dirty="0"/>
              <a:t>1/29/2026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278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96DFF08F-DC6B-4601-B491-B0F83F6DD2DA}" type="datetimeFigureOut">
              <a:rPr lang="en-US" dirty="0"/>
              <a:t>1/29/2026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553897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1/29/2026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718361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853440" y="523899"/>
            <a:ext cx="3657600" cy="1930400"/>
          </a:xfrm>
        </p:spPr>
        <p:txBody>
          <a:bodyPr>
            <a:noAutofit/>
          </a:bodyPr>
          <a:lstStyle>
            <a:lvl1pPr>
              <a:lnSpc>
                <a:spcPct val="80000"/>
              </a:lnSpc>
              <a:defRPr sz="4800"/>
            </a:lvl1pPr>
          </a:lstStyle>
          <a:p>
            <a:r>
              <a:rPr lang="en-US" dirty="0"/>
              <a:t>Click to edit Master title style</a:t>
            </a:r>
          </a:p>
        </p:txBody>
      </p:sp>
      <p:sp>
        <p:nvSpPr>
          <p:cNvPr id="3" name="Content Placeholder 2"/>
          <p:cNvSpPr>
            <a:spLocks noGrp="1"/>
          </p:cNvSpPr>
          <p:nvPr>
            <p:ph idx="1"/>
          </p:nvPr>
        </p:nvSpPr>
        <p:spPr>
          <a:xfrm>
            <a:off x="4762500" y="914400"/>
            <a:ext cx="4732020" cy="5760720"/>
          </a:xfrm>
        </p:spPr>
        <p:txBody>
          <a:bodyPr>
            <a:normAutofit/>
          </a:bodyPr>
          <a:lstStyle>
            <a:lvl1pPr>
              <a:defRPr sz="2667"/>
            </a:lvl1pPr>
            <a:lvl2pPr>
              <a:defRPr sz="2133"/>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53440" y="2508340"/>
            <a:ext cx="3657600" cy="4180327"/>
          </a:xfrm>
        </p:spPr>
        <p:txBody>
          <a:bodyPr lIns="91440" rIns="91440">
            <a:normAutofit/>
          </a:bodyPr>
          <a:lstStyle>
            <a:lvl1pPr marL="0" indent="0">
              <a:lnSpc>
                <a:spcPct val="108000"/>
              </a:lnSpc>
              <a:spcBef>
                <a:spcPts val="800"/>
              </a:spcBef>
              <a:buNone/>
              <a:defRPr sz="2133"/>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84119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1000" y="5511264"/>
            <a:ext cx="6477000" cy="1625600"/>
          </a:xfrm>
        </p:spPr>
        <p:txBody>
          <a:bodyPr anchor="ctr">
            <a:normAutofit/>
          </a:bodyPr>
          <a:lstStyle>
            <a:lvl1pPr algn="r">
              <a:defRPr sz="5867" spc="267" baseline="0"/>
            </a:lvl1pPr>
          </a:lstStyle>
          <a:p>
            <a:r>
              <a:rPr lang="en-US" dirty="0"/>
              <a:t>Click to edit Master title style</a:t>
            </a:r>
          </a:p>
        </p:txBody>
      </p:sp>
      <p:sp>
        <p:nvSpPr>
          <p:cNvPr id="3" name="Picture Placeholder 2"/>
          <p:cNvSpPr>
            <a:spLocks noGrp="1" noChangeAspect="1"/>
          </p:cNvSpPr>
          <p:nvPr>
            <p:ph type="pic" idx="1"/>
          </p:nvPr>
        </p:nvSpPr>
        <p:spPr>
          <a:xfrm>
            <a:off x="0" y="-1"/>
            <a:ext cx="10157460" cy="5080000"/>
          </a:xfrm>
          <a:solidFill>
            <a:schemeClr val="accent1">
              <a:lumMod val="60000"/>
              <a:lumOff val="40000"/>
            </a:schemeClr>
          </a:solidFill>
        </p:spPr>
        <p:txBody>
          <a:bodyPr lIns="457200" tIns="365760"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4" name="Text Placeholder 3"/>
          <p:cNvSpPr>
            <a:spLocks noGrp="1"/>
          </p:cNvSpPr>
          <p:nvPr>
            <p:ph type="body" sz="half" idx="2"/>
          </p:nvPr>
        </p:nvSpPr>
        <p:spPr>
          <a:xfrm>
            <a:off x="7175500" y="5511264"/>
            <a:ext cx="2667000" cy="1625600"/>
          </a:xfrm>
        </p:spPr>
        <p:txBody>
          <a:bodyPr lIns="91440" rIns="91440" anchor="ctr">
            <a:normAutofit/>
          </a:bodyPr>
          <a:lstStyle>
            <a:lvl1pPr marL="0" indent="0">
              <a:lnSpc>
                <a:spcPct val="100000"/>
              </a:lnSpc>
              <a:spcBef>
                <a:spcPts val="0"/>
              </a:spcBef>
              <a:buNone/>
              <a:defRPr sz="2133">
                <a:solidFill>
                  <a:schemeClr val="tx1">
                    <a:lumMod val="95000"/>
                    <a:lumOff val="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CDD058F-B960-4439-B370-43D89816EE05}" type="datetimeFigureOut">
              <a:rPr lang="en-US" dirty="0"/>
              <a:t>1/29/2026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B229B06-CF2A-459A-8CBC-F18C1D67D2BB}" type="slidenum">
              <a:rPr lang="en-US" dirty="0"/>
              <a:t>‹#›</a:t>
            </a:fld>
            <a:endParaRPr lang="en-US" dirty="0"/>
          </a:p>
        </p:txBody>
      </p:sp>
      <p:cxnSp>
        <p:nvCxnSpPr>
          <p:cNvPr id="8" name="Straight Connector 7"/>
          <p:cNvCxnSpPr/>
          <p:nvPr/>
        </p:nvCxnSpPr>
        <p:spPr>
          <a:xfrm flipV="1">
            <a:off x="6989036" y="5849007"/>
            <a:ext cx="0" cy="1016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013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79082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70752" y="846667"/>
            <a:ext cx="2190750" cy="6011333"/>
          </a:xfrm>
        </p:spPr>
        <p:txBody>
          <a:bodyPr vert="eaVert" lIns="45720" tIns="91440" rIns="45720" bIns="91440"/>
          <a:lstStyle/>
          <a:p>
            <a:r>
              <a:rPr lang="en-US" dirty="0"/>
              <a:t>Click to edit Master title style</a:t>
            </a:r>
          </a:p>
        </p:txBody>
      </p:sp>
      <p:sp>
        <p:nvSpPr>
          <p:cNvPr id="3" name="Vertical Text Placeholder 2"/>
          <p:cNvSpPr>
            <a:spLocks noGrp="1"/>
          </p:cNvSpPr>
          <p:nvPr>
            <p:ph type="body" orient="vert" idx="1"/>
          </p:nvPr>
        </p:nvSpPr>
        <p:spPr>
          <a:xfrm>
            <a:off x="825502" y="846667"/>
            <a:ext cx="6318250" cy="601133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8382000" y="192848"/>
            <a:ext cx="0" cy="762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152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53440" y="650240"/>
            <a:ext cx="8100060" cy="166624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53441" y="2540000"/>
            <a:ext cx="8100061" cy="4470400"/>
          </a:xfrm>
          <a:prstGeom prst="rect">
            <a:avLst/>
          </a:prstGeom>
        </p:spPr>
        <p:txBody>
          <a:bodyPr vert="horz" lIns="45720" tIns="45720" rIns="4572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53442" y="7189671"/>
            <a:ext cx="1795119" cy="304800"/>
          </a:xfrm>
          <a:prstGeom prst="rect">
            <a:avLst/>
          </a:prstGeom>
        </p:spPr>
        <p:txBody>
          <a:bodyPr vert="horz" lIns="91440" tIns="45720" rIns="91440" bIns="45720" rtlCol="0" anchor="ctr"/>
          <a:lstStyle>
            <a:lvl1pPr algn="l">
              <a:defRPr sz="1333">
                <a:solidFill>
                  <a:schemeClr val="tx1">
                    <a:lumMod val="95000"/>
                    <a:lumOff val="5000"/>
                  </a:schemeClr>
                </a:solidFill>
                <a:latin typeface="+mj-lt"/>
              </a:defRPr>
            </a:lvl1pPr>
          </a:lstStyle>
          <a:p>
            <a:fld id="{96DFF08F-DC6B-4601-B491-B0F83F6DD2DA}" type="datetimeFigureOut">
              <a:rPr lang="en-US" dirty="0"/>
              <a:pPr/>
              <a:t>1/29/2026</a:t>
            </a:fld>
            <a:endParaRPr lang="en-US" dirty="0"/>
          </a:p>
        </p:txBody>
      </p:sp>
      <p:sp>
        <p:nvSpPr>
          <p:cNvPr id="5" name="Footer Placeholder 4"/>
          <p:cNvSpPr>
            <a:spLocks noGrp="1"/>
          </p:cNvSpPr>
          <p:nvPr>
            <p:ph type="ftr" sz="quarter" idx="3"/>
          </p:nvPr>
        </p:nvSpPr>
        <p:spPr>
          <a:xfrm>
            <a:off x="4035778" y="7189671"/>
            <a:ext cx="4917882" cy="304800"/>
          </a:xfrm>
          <a:prstGeom prst="rect">
            <a:avLst/>
          </a:prstGeom>
        </p:spPr>
        <p:txBody>
          <a:bodyPr vert="horz" lIns="91440" tIns="45720" rIns="91440" bIns="45720" rtlCol="0" anchor="ctr"/>
          <a:lstStyle>
            <a:lvl1pPr algn="r">
              <a:defRPr sz="1333"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9031111" y="7189671"/>
            <a:ext cx="811389" cy="304800"/>
          </a:xfrm>
          <a:prstGeom prst="rect">
            <a:avLst/>
          </a:prstGeom>
        </p:spPr>
        <p:txBody>
          <a:bodyPr vert="horz" lIns="91440" tIns="45720" rIns="91440" bIns="45720" rtlCol="0" anchor="ctr"/>
          <a:lstStyle>
            <a:lvl1pPr algn="l">
              <a:defRPr sz="1333">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635000" y="918138"/>
            <a:ext cx="0" cy="1016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256921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18" Type="http://schemas.openxmlformats.org/officeDocument/2006/relationships/image" Target="../media/image60.png"/><Relationship Id="rId26" Type="http://schemas.openxmlformats.org/officeDocument/2006/relationships/image" Target="../media/image12.png"/><Relationship Id="rId3" Type="http://schemas.openxmlformats.org/officeDocument/2006/relationships/image" Target="../media/image46.png"/><Relationship Id="rId21" Type="http://schemas.openxmlformats.org/officeDocument/2006/relationships/image" Target="../media/image15.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5" Type="http://schemas.openxmlformats.org/officeDocument/2006/relationships/image" Target="../media/image13.png"/><Relationship Id="rId2" Type="http://schemas.openxmlformats.org/officeDocument/2006/relationships/image" Target="../media/image25.png"/><Relationship Id="rId16" Type="http://schemas.openxmlformats.org/officeDocument/2006/relationships/image" Target="../media/image58.png"/><Relationship Id="rId20" Type="http://schemas.openxmlformats.org/officeDocument/2006/relationships/image" Target="../media/image62.png"/><Relationship Id="rId29"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53.png"/><Relationship Id="rId24" Type="http://schemas.openxmlformats.org/officeDocument/2006/relationships/image" Target="../media/image65.png"/><Relationship Id="rId32" Type="http://schemas.openxmlformats.org/officeDocument/2006/relationships/image" Target="../media/image69.png"/><Relationship Id="rId5" Type="http://schemas.openxmlformats.org/officeDocument/2006/relationships/image" Target="../media/image48.png"/><Relationship Id="rId15" Type="http://schemas.openxmlformats.org/officeDocument/2006/relationships/image" Target="../media/image57.png"/><Relationship Id="rId23" Type="http://schemas.openxmlformats.org/officeDocument/2006/relationships/image" Target="../media/image64.png"/><Relationship Id="rId28" Type="http://schemas.openxmlformats.org/officeDocument/2006/relationships/image" Target="../media/image67.png"/><Relationship Id="rId10" Type="http://schemas.openxmlformats.org/officeDocument/2006/relationships/image" Target="../media/image52.png"/><Relationship Id="rId19" Type="http://schemas.openxmlformats.org/officeDocument/2006/relationships/image" Target="../media/image61.png"/><Relationship Id="rId31" Type="http://schemas.openxmlformats.org/officeDocument/2006/relationships/image" Target="../media/image68.png"/><Relationship Id="rId4" Type="http://schemas.openxmlformats.org/officeDocument/2006/relationships/image" Target="../media/image47.png"/><Relationship Id="rId9" Type="http://schemas.openxmlformats.org/officeDocument/2006/relationships/image" Target="../media/image51.png"/><Relationship Id="rId14" Type="http://schemas.openxmlformats.org/officeDocument/2006/relationships/image" Target="../media/image56.png"/><Relationship Id="rId22" Type="http://schemas.openxmlformats.org/officeDocument/2006/relationships/image" Target="../media/image63.png"/><Relationship Id="rId27" Type="http://schemas.openxmlformats.org/officeDocument/2006/relationships/image" Target="../media/image66.png"/><Relationship Id="rId30"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5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09.wmf"/><Relationship Id="rId5" Type="http://schemas.openxmlformats.org/officeDocument/2006/relationships/oleObject" Target="../embeddings/oleObject2.bin"/><Relationship Id="rId4" Type="http://schemas.openxmlformats.org/officeDocument/2006/relationships/image" Target="../media/image108.wmf"/></Relationships>
</file>

<file path=ppt/slides/_rels/slide69.xml.rels><?xml version="1.0" encoding="UTF-8" standalone="yes"?>
<Relationships xmlns="http://schemas.openxmlformats.org/package/2006/relationships"><Relationship Id="rId8" Type="http://schemas.openxmlformats.org/officeDocument/2006/relationships/image" Target="../media/image113.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112.emf"/><Relationship Id="rId5" Type="http://schemas.openxmlformats.org/officeDocument/2006/relationships/oleObject" Target="../embeddings/oleObject5.bin"/><Relationship Id="rId4" Type="http://schemas.openxmlformats.org/officeDocument/2006/relationships/image" Target="../media/image111.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15.wmf"/><Relationship Id="rId5" Type="http://schemas.openxmlformats.org/officeDocument/2006/relationships/oleObject" Target="../embeddings/oleObject8.bin"/><Relationship Id="rId4" Type="http://schemas.openxmlformats.org/officeDocument/2006/relationships/image" Target="../media/image114.wmf"/></Relationships>
</file>

<file path=ppt/slides/_rels/slide71.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14.wmf"/><Relationship Id="rId5" Type="http://schemas.openxmlformats.org/officeDocument/2006/relationships/oleObject" Target="../embeddings/oleObject10.bin"/><Relationship Id="rId4" Type="http://schemas.openxmlformats.org/officeDocument/2006/relationships/image" Target="../media/image116.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3" name="Rectangle 2065">
            <a:extLst>
              <a:ext uri="{FF2B5EF4-FFF2-40B4-BE49-F238E27FC236}">
                <a16:creationId xmlns="" xmlns:a16="http://schemas.microsoft.com/office/drawing/2014/main" id="{62AE8E50-35D4-4D5A-A4BB-168CBB027DA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0" y="0"/>
            <a:ext cx="10157271" cy="76210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5" name="Freeform 16">
            <a:extLst>
              <a:ext uri="{FF2B5EF4-FFF2-40B4-BE49-F238E27FC236}">
                <a16:creationId xmlns="" xmlns:a16="http://schemas.microsoft.com/office/drawing/2014/main" id="{C37D1D6D-17D8-4296-B000-665D1892D0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765006" y="2016193"/>
            <a:ext cx="6189352" cy="3586897"/>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076" name="Rectangle 2069">
            <a:extLst>
              <a:ext uri="{FF2B5EF4-FFF2-40B4-BE49-F238E27FC236}">
                <a16:creationId xmlns="" xmlns:a16="http://schemas.microsoft.com/office/drawing/2014/main" id="{1B26E892-1320-40AA-9CA1-246721C187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523826" y="689688"/>
            <a:ext cx="6102693" cy="62146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Rectangle 1"/>
          <p:cNvSpPr>
            <a:spLocks noGrp="1" noChangeArrowheads="1"/>
          </p:cNvSpPr>
          <p:nvPr>
            <p:ph type="ctrTitle"/>
          </p:nvPr>
        </p:nvSpPr>
        <p:spPr>
          <a:xfrm>
            <a:off x="3927686" y="1228167"/>
            <a:ext cx="5294973" cy="3359979"/>
          </a:xfrm>
        </p:spPr>
        <p:txBody>
          <a:bodyPr lIns="0" tIns="0" rIns="0" bIns="0" anchor="b">
            <a:normAutofit/>
          </a:bodyPr>
          <a:lstStyle/>
          <a:p>
            <a:pPr algn="l"/>
            <a:r>
              <a:rPr lang="en-US" sz="4700" dirty="0">
                <a:solidFill>
                  <a:srgbClr val="FFFFFF"/>
                </a:solidFill>
                <a:ea typeface="+mj-lt"/>
                <a:cs typeface="+mj-lt"/>
              </a:rPr>
              <a:t>Introduction to Morphology and Image Compression</a:t>
            </a:r>
            <a:br>
              <a:rPr lang="en-US" sz="4700" dirty="0">
                <a:solidFill>
                  <a:srgbClr val="FFFFFF"/>
                </a:solidFill>
                <a:ea typeface="+mj-lt"/>
                <a:cs typeface="+mj-lt"/>
              </a:rPr>
            </a:br>
            <a:r>
              <a:rPr lang="en-US" sz="4700">
                <a:solidFill>
                  <a:srgbClr val="FFFFFF"/>
                </a:solidFill>
                <a:ea typeface="+mj-lt"/>
                <a:cs typeface="+mj-lt"/>
              </a:rPr>
              <a:t/>
            </a:r>
            <a:br>
              <a:rPr lang="en-US" sz="4700">
                <a:solidFill>
                  <a:srgbClr val="FFFFFF"/>
                </a:solidFill>
                <a:ea typeface="+mj-lt"/>
                <a:cs typeface="+mj-lt"/>
              </a:rPr>
            </a:br>
            <a:endParaRPr lang="en-US" sz="4700" dirty="0">
              <a:solidFill>
                <a:srgbClr val="FFFFFF"/>
              </a:solidFill>
            </a:endParaRPr>
          </a:p>
        </p:txBody>
      </p:sp>
      <p:cxnSp>
        <p:nvCxnSpPr>
          <p:cNvPr id="2072" name="Straight Connector 2071">
            <a:extLst>
              <a:ext uri="{FF2B5EF4-FFF2-40B4-BE49-F238E27FC236}">
                <a16:creationId xmlns="" xmlns:a16="http://schemas.microsoft.com/office/drawing/2014/main" id="{C9A1F79C-E4D1-4AAE-BA11-3A09005252E3}"/>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4035776" y="4682595"/>
            <a:ext cx="426720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074" name="Rectangle 2073">
            <a:extLst>
              <a:ext uri="{FF2B5EF4-FFF2-40B4-BE49-F238E27FC236}">
                <a16:creationId xmlns="" xmlns:a16="http://schemas.microsoft.com/office/drawing/2014/main" id="{C170DF7D-4686-4BD5-A9CD-C8964928468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386666" y="-2"/>
            <a:ext cx="137160" cy="7620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FC06CC-D83D-0AA5-68E1-44CDB1AD361B}"/>
              </a:ext>
            </a:extLst>
          </p:cNvPr>
          <p:cNvSpPr>
            <a:spLocks noGrp="1"/>
          </p:cNvSpPr>
          <p:nvPr>
            <p:ph type="title"/>
          </p:nvPr>
        </p:nvSpPr>
        <p:spPr/>
        <p:txBody>
          <a:bodyPr/>
          <a:lstStyle/>
          <a:p>
            <a:r>
              <a:rPr lang="en-US" dirty="0"/>
              <a:t>5.1</a:t>
            </a:r>
          </a:p>
        </p:txBody>
      </p:sp>
      <p:sp>
        <p:nvSpPr>
          <p:cNvPr id="3" name="Content Placeholder 2">
            <a:extLst>
              <a:ext uri="{FF2B5EF4-FFF2-40B4-BE49-F238E27FC236}">
                <a16:creationId xmlns="" xmlns:a16="http://schemas.microsoft.com/office/drawing/2014/main" id="{4B0A1850-7ED5-856C-63F3-75A749DCBF7F}"/>
              </a:ext>
            </a:extLst>
          </p:cNvPr>
          <p:cNvSpPr>
            <a:spLocks noGrp="1"/>
          </p:cNvSpPr>
          <p:nvPr>
            <p:ph idx="1"/>
          </p:nvPr>
        </p:nvSpPr>
        <p:spPr/>
        <p:txBody>
          <a:bodyPr vert="horz" lIns="45720" tIns="45720" rIns="45720" bIns="45720" rtlCol="0" anchor="t">
            <a:normAutofit/>
          </a:bodyPr>
          <a:lstStyle/>
          <a:p>
            <a:r>
              <a:rPr lang="en-US" sz="2800" dirty="0">
                <a:ea typeface="+mn-lt"/>
                <a:cs typeface="+mn-lt"/>
              </a:rPr>
              <a:t>Morphological operations: </a:t>
            </a:r>
          </a:p>
          <a:p>
            <a:pPr marL="514350" indent="-514350">
              <a:buAutoNum type="arabicPeriod"/>
            </a:pPr>
            <a:r>
              <a:rPr lang="en-US" sz="2800" dirty="0">
                <a:ea typeface="+mn-lt"/>
                <a:cs typeface="+mn-lt"/>
              </a:rPr>
              <a:t>Dilation</a:t>
            </a:r>
          </a:p>
          <a:p>
            <a:pPr marL="514350" indent="-514350">
              <a:buAutoNum type="arabicPeriod"/>
            </a:pPr>
            <a:r>
              <a:rPr lang="en-US" sz="2800" dirty="0">
                <a:ea typeface="+mn-lt"/>
                <a:cs typeface="+mn-lt"/>
              </a:rPr>
              <a:t>Erosion</a:t>
            </a:r>
          </a:p>
          <a:p>
            <a:pPr marL="514350" indent="-514350">
              <a:buAutoNum type="arabicPeriod"/>
            </a:pPr>
            <a:r>
              <a:rPr lang="en-US" sz="2800" dirty="0">
                <a:ea typeface="+mn-lt"/>
                <a:cs typeface="+mn-lt"/>
              </a:rPr>
              <a:t>Opening</a:t>
            </a:r>
          </a:p>
          <a:p>
            <a:pPr marL="514350" indent="-514350">
              <a:buAutoNum type="arabicPeriod"/>
            </a:pPr>
            <a:r>
              <a:rPr lang="en-US" sz="2800" dirty="0">
                <a:ea typeface="+mn-lt"/>
                <a:cs typeface="+mn-lt"/>
              </a:rPr>
              <a:t>Closing</a:t>
            </a:r>
          </a:p>
          <a:p>
            <a:pPr marL="514350" indent="-514350">
              <a:buAutoNum type="arabicPeriod"/>
            </a:pPr>
            <a:r>
              <a:rPr lang="en-US" sz="2800" dirty="0">
                <a:ea typeface="+mn-lt"/>
                <a:cs typeface="+mn-lt"/>
              </a:rPr>
              <a:t>Hit or Miss Transform</a:t>
            </a:r>
          </a:p>
          <a:p>
            <a:pPr marL="514350" indent="-514350">
              <a:buAutoNum type="arabicPeriod"/>
            </a:pPr>
            <a:r>
              <a:rPr lang="en-US" sz="2800" dirty="0">
                <a:ea typeface="+mn-lt"/>
                <a:cs typeface="+mn-lt"/>
              </a:rPr>
              <a:t> Boundary extraction</a:t>
            </a:r>
            <a:endParaRPr lang="en-US" sz="2800" dirty="0"/>
          </a:p>
        </p:txBody>
      </p:sp>
    </p:spTree>
    <p:extLst>
      <p:ext uri="{BB962C8B-B14F-4D97-AF65-F5344CB8AC3E}">
        <p14:creationId xmlns:p14="http://schemas.microsoft.com/office/powerpoint/2010/main" val="3750261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a:solidFill>
                  <a:srgbClr val="000000"/>
                </a:solidFill>
                <a:latin typeface="Arial" charset="0"/>
              </a:rPr>
              <a:t>Dilation</a:t>
            </a:r>
            <a:endParaRPr lang="en-IN" altLang="en-US"/>
          </a:p>
        </p:txBody>
      </p:sp>
      <p:sp>
        <p:nvSpPr>
          <p:cNvPr id="4099" name="Content Placeholder 2"/>
          <p:cNvSpPr>
            <a:spLocks noGrp="1"/>
          </p:cNvSpPr>
          <p:nvPr>
            <p:ph idx="1"/>
          </p:nvPr>
        </p:nvSpPr>
        <p:spPr>
          <a:xfrm>
            <a:off x="762000" y="2009775"/>
            <a:ext cx="8636000" cy="5329238"/>
          </a:xfrm>
        </p:spPr>
        <p:txBody>
          <a:bodyPr vert="horz" lIns="45720" tIns="45720" rIns="45720" bIns="45720" rtlCol="0" anchor="t">
            <a:normAutofit/>
          </a:bodyPr>
          <a:lstStyle/>
          <a:p>
            <a:pPr algn="just" eaLnBrk="1" hangingPunct="1"/>
            <a:r>
              <a:rPr lang="en-IN" altLang="en-US" sz="2800" dirty="0"/>
              <a:t>The dilation process the structuring element is reflected and shifted from left to right and from top to bottom, at each shift; the process will look for </a:t>
            </a:r>
            <a:r>
              <a:rPr lang="en-IN" altLang="en-US" sz="2800" b="1" dirty="0"/>
              <a:t>any overlapping </a:t>
            </a:r>
            <a:r>
              <a:rPr lang="en-IN" altLang="en-US" sz="2800" dirty="0"/>
              <a:t>similar pixels between the structuring element and that of the binary image. </a:t>
            </a:r>
            <a:endParaRPr lang="en-US" sz="2800">
              <a:cs typeface="Times New Roman"/>
            </a:endParaRPr>
          </a:p>
          <a:p>
            <a:pPr algn="just" eaLnBrk="1" hangingPunct="1"/>
            <a:r>
              <a:rPr lang="en-IN" altLang="en-US" sz="2800" dirty="0"/>
              <a:t>If there exists an overlapping then the pixels under the centre position of the structuring element will be turned to 1 or black.</a:t>
            </a:r>
            <a:endParaRPr lang="en-IN" altLang="en-US" sz="2800" dirty="0">
              <a:cs typeface="Times New Roman"/>
            </a:endParaRPr>
          </a:p>
          <a:p>
            <a:pPr algn="just"/>
            <a:endParaRPr lang="en-IN" altLang="en-US" sz="2800" dirty="0">
              <a:cs typeface="Times New Roman"/>
            </a:endParaRPr>
          </a:p>
        </p:txBody>
      </p:sp>
      <p:pic>
        <p:nvPicPr>
          <p:cNvPr id="3" name="Picture 7">
            <a:extLst>
              <a:ext uri="{FF2B5EF4-FFF2-40B4-BE49-F238E27FC236}">
                <a16:creationId xmlns="" xmlns:a16="http://schemas.microsoft.com/office/drawing/2014/main" id="{AC182640-1DB9-E3C2-2B5A-D4D22CC08C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120" y="5690972"/>
            <a:ext cx="57594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275" y="1746250"/>
            <a:ext cx="4383088"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Text Box 5"/>
          <p:cNvSpPr txBox="1">
            <a:spLocks noChangeArrowheads="1"/>
          </p:cNvSpPr>
          <p:nvPr/>
        </p:nvSpPr>
        <p:spPr bwMode="auto">
          <a:xfrm>
            <a:off x="3954463" y="6678613"/>
            <a:ext cx="35909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3100">
                <a:solidFill>
                  <a:srgbClr val="000000"/>
                </a:solidFill>
                <a:latin typeface="Arial" charset="0"/>
              </a:rPr>
              <a:t>Structuring Element</a:t>
            </a:r>
          </a:p>
        </p:txBody>
      </p:sp>
      <p:pic>
        <p:nvPicPr>
          <p:cNvPr id="614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2888" y="17462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750" y="17462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3500" y="17462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2"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62775" y="1746250"/>
            <a:ext cx="5730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3"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02525" y="1746250"/>
            <a:ext cx="5730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4"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53388" y="17462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5"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3138" y="17462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6"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17462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7"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22888" y="2286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8"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73750" y="2286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9"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13500" y="2286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0"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62775" y="22860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1"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02525" y="22860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2" name="Picture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53388" y="2286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3" name="Picture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93138" y="2286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4"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4000" y="2286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5"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2888" y="28257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6"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3750" y="28257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7" name="Picture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13500" y="28257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8" name="Picture 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62775" y="2825750"/>
            <a:ext cx="5730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9" name="Picture 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02525" y="2825750"/>
            <a:ext cx="5730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0" name="Picture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53388" y="28257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1" name="Picture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93138" y="28257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2"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28257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3" name="Picture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22888" y="3365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4" name="Picture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73750" y="3365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5" name="Picture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13500" y="3365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6" name="Picture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62775" y="33655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7" name="Picture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02525" y="33655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8" name="Picture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53388" y="3365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79" name="Picture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593138" y="3365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0" name="Picture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4000" y="3365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1" name="Picture 3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22888" y="39052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2" name="Picture 3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73750" y="39052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3" name="Picture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13500" y="39052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4" name="Picture 4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62775" y="39052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5" name="Picture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02525" y="39052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6" name="Picture 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53388" y="39052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7" name="Picture 4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593138" y="39052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8" name="Picture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4000" y="39052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9" name="Picture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22888" y="4445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0" name="Picture 4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73750" y="4445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1" name="Picture 4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13500" y="4445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2" name="Picture 4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62775" y="44450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3" name="Picture 5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502525" y="44450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4" name="Picture 5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53388" y="4445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5" name="Picture 5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593138" y="4445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6" name="Picture 5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144000" y="4445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7" name="Picture 5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22888" y="49847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8" name="Picture 5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73750" y="49847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99" name="Picture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13500" y="49847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0" name="Picture 5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62775" y="49847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1" name="Picture 5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502525" y="49847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2" name="Picture 5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53388" y="49847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3" name="Picture 6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593138" y="49847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4" name="Picture 6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4000" y="49847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5" name="Picture 6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22888" y="5524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6" name="Picture 6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873750" y="5524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7" name="Picture 6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413500" y="5524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8" name="Picture 6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962775" y="55245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09" name="Picture 6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502525" y="55245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10" name="Picture 6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53388" y="5524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11" name="Picture 6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593138" y="5524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12" name="Picture 6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144000" y="5524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13" name="Picture 7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26284" y="1252836"/>
            <a:ext cx="1633537"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14" name="Text Box 71"/>
          <p:cNvSpPr txBox="1">
            <a:spLocks noChangeArrowheads="1"/>
          </p:cNvSpPr>
          <p:nvPr/>
        </p:nvSpPr>
        <p:spPr bwMode="auto">
          <a:xfrm>
            <a:off x="2129244" y="445340"/>
            <a:ext cx="176688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000">
                <a:solidFill>
                  <a:srgbClr val="000000"/>
                </a:solidFill>
                <a:latin typeface="Arial" charset="0"/>
              </a:rPr>
              <a:t>Original Image</a:t>
            </a:r>
          </a:p>
        </p:txBody>
      </p:sp>
      <p:sp>
        <p:nvSpPr>
          <p:cNvPr id="6215" name="Text Box 72"/>
          <p:cNvSpPr txBox="1">
            <a:spLocks noChangeArrowheads="1"/>
          </p:cNvSpPr>
          <p:nvPr/>
        </p:nvSpPr>
        <p:spPr bwMode="auto">
          <a:xfrm>
            <a:off x="5368925" y="373635"/>
            <a:ext cx="42799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000">
                <a:solidFill>
                  <a:srgbClr val="000000"/>
                </a:solidFill>
                <a:latin typeface="Arial" charset="0"/>
              </a:rPr>
              <a:t>Processed Image With Dilated Pixels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p:txBody>
          <a:bodyPr lIns="0" tIns="0" rIns="0" bIns="0"/>
          <a:lstStyle/>
          <a:p>
            <a:pPr eaLnBrk="1" hangingPunct="1">
              <a:lnSpc>
                <a:spcPct val="95000"/>
              </a:lnSpc>
            </a:pPr>
            <a:r>
              <a:rPr lang="en-US" altLang="en-US" sz="4900" dirty="0">
                <a:solidFill>
                  <a:srgbClr val="000000"/>
                </a:solidFill>
                <a:latin typeface="Arial"/>
                <a:cs typeface="Arial"/>
              </a:rPr>
              <a:t>Dilation Example</a:t>
            </a:r>
          </a:p>
        </p:txBody>
      </p:sp>
      <p:pic>
        <p:nvPicPr>
          <p:cNvPr id="717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992" y="3352081"/>
            <a:ext cx="9186863"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ext Box 5"/>
          <p:cNvSpPr txBox="1">
            <a:spLocks noChangeArrowheads="1"/>
          </p:cNvSpPr>
          <p:nvPr/>
        </p:nvSpPr>
        <p:spPr bwMode="auto">
          <a:xfrm>
            <a:off x="1066470" y="2499158"/>
            <a:ext cx="17526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Original image</a:t>
            </a:r>
          </a:p>
        </p:txBody>
      </p:sp>
      <p:sp>
        <p:nvSpPr>
          <p:cNvPr id="7173" name="Text Box 6"/>
          <p:cNvSpPr txBox="1">
            <a:spLocks noChangeArrowheads="1"/>
          </p:cNvSpPr>
          <p:nvPr/>
        </p:nvSpPr>
        <p:spPr bwMode="auto">
          <a:xfrm>
            <a:off x="3536322" y="2346162"/>
            <a:ext cx="2387600"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Dilation by 3*3 square structuring element</a:t>
            </a:r>
          </a:p>
        </p:txBody>
      </p:sp>
      <p:sp>
        <p:nvSpPr>
          <p:cNvPr id="7174" name="Text Box 7"/>
          <p:cNvSpPr txBox="1">
            <a:spLocks noChangeArrowheads="1"/>
          </p:cNvSpPr>
          <p:nvPr/>
        </p:nvSpPr>
        <p:spPr bwMode="auto">
          <a:xfrm>
            <a:off x="6788823" y="2319206"/>
            <a:ext cx="2543175"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Dilation by 5*5 square structuring element</a:t>
            </a:r>
          </a:p>
        </p:txBody>
      </p:sp>
      <p:sp>
        <p:nvSpPr>
          <p:cNvPr id="7175" name="Text Box 8"/>
          <p:cNvSpPr txBox="1">
            <a:spLocks noChangeArrowheads="1"/>
          </p:cNvSpPr>
          <p:nvPr/>
        </p:nvSpPr>
        <p:spPr bwMode="auto">
          <a:xfrm>
            <a:off x="44450" y="7088188"/>
            <a:ext cx="10071100"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700" b="1">
                <a:solidFill>
                  <a:srgbClr val="000000"/>
                </a:solidFill>
                <a:latin typeface="Arial" charset="0"/>
              </a:rPr>
              <a:t>Watch out:</a:t>
            </a:r>
            <a:r>
              <a:rPr lang="en-US" altLang="en-US" sz="2700">
                <a:solidFill>
                  <a:srgbClr val="000000"/>
                </a:solidFill>
                <a:latin typeface="Arial" charset="0"/>
              </a:rPr>
              <a:t> In these examples a 1 refers to a black pixel!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lIns="0" tIns="0" rIns="0" bIns="0"/>
          <a:lstStyle/>
          <a:p>
            <a:pPr eaLnBrk="1" hangingPunct="1">
              <a:lnSpc>
                <a:spcPct val="95000"/>
              </a:lnSpc>
            </a:pPr>
            <a:r>
              <a:rPr lang="en-US" altLang="en-US" sz="4900" dirty="0">
                <a:solidFill>
                  <a:srgbClr val="000000"/>
                </a:solidFill>
                <a:latin typeface="Arial"/>
                <a:cs typeface="Arial"/>
              </a:rPr>
              <a:t>Dilation Example </a:t>
            </a:r>
          </a:p>
        </p:txBody>
      </p:sp>
      <p:sp>
        <p:nvSpPr>
          <p:cNvPr id="2" name="Content Placeholder 1">
            <a:extLst>
              <a:ext uri="{FF2B5EF4-FFF2-40B4-BE49-F238E27FC236}">
                <a16:creationId xmlns="" xmlns:a16="http://schemas.microsoft.com/office/drawing/2014/main" id="{5A1E8336-2458-31E3-0779-C4D2F2D87087}"/>
              </a:ext>
            </a:extLst>
          </p:cNvPr>
          <p:cNvSpPr>
            <a:spLocks noGrp="1"/>
          </p:cNvSpPr>
          <p:nvPr>
            <p:ph idx="1"/>
          </p:nvPr>
        </p:nvSpPr>
        <p:spPr/>
        <p:txBody>
          <a:bodyPr/>
          <a:lstStyle/>
          <a:p>
            <a:endParaRPr lang="en-US"/>
          </a:p>
        </p:txBody>
      </p:sp>
      <p:pic>
        <p:nvPicPr>
          <p:cNvPr id="819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668" y="2228958"/>
            <a:ext cx="8107363" cy="537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 Box 5"/>
          <p:cNvSpPr txBox="1">
            <a:spLocks noChangeArrowheads="1"/>
          </p:cNvSpPr>
          <p:nvPr/>
        </p:nvSpPr>
        <p:spPr bwMode="auto">
          <a:xfrm>
            <a:off x="6357549" y="7217703"/>
            <a:ext cx="2809875"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400">
                <a:solidFill>
                  <a:srgbClr val="000000"/>
                </a:solidFill>
                <a:latin typeface="Arial" charset="0"/>
              </a:rPr>
              <a:t>Structuring element</a:t>
            </a:r>
          </a:p>
        </p:txBody>
      </p:sp>
      <p:sp>
        <p:nvSpPr>
          <p:cNvPr id="8197" name="Text Box 6"/>
          <p:cNvSpPr txBox="1">
            <a:spLocks noChangeArrowheads="1"/>
          </p:cNvSpPr>
          <p:nvPr/>
        </p:nvSpPr>
        <p:spPr bwMode="auto">
          <a:xfrm>
            <a:off x="1827873" y="1945125"/>
            <a:ext cx="2119312"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400">
                <a:solidFill>
                  <a:srgbClr val="000000"/>
                </a:solidFill>
                <a:latin typeface="Arial" charset="0"/>
              </a:rPr>
              <a:t>Original image</a:t>
            </a:r>
          </a:p>
        </p:txBody>
      </p:sp>
      <p:sp>
        <p:nvSpPr>
          <p:cNvPr id="8198" name="Text Box 7"/>
          <p:cNvSpPr txBox="1">
            <a:spLocks noChangeArrowheads="1"/>
          </p:cNvSpPr>
          <p:nvPr/>
        </p:nvSpPr>
        <p:spPr bwMode="auto">
          <a:xfrm>
            <a:off x="6072188" y="1896904"/>
            <a:ext cx="1841500"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400">
                <a:solidFill>
                  <a:srgbClr val="000000"/>
                </a:solidFill>
                <a:latin typeface="Arial" charset="0"/>
              </a:rPr>
              <a:t>After dilation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p:txBody>
          <a:bodyPr lIns="0" tIns="0" rIns="0" bIns="0"/>
          <a:lstStyle/>
          <a:p>
            <a:pPr eaLnBrk="1" hangingPunct="1">
              <a:lnSpc>
                <a:spcPct val="95000"/>
              </a:lnSpc>
            </a:pPr>
            <a:r>
              <a:rPr lang="en-US" altLang="en-US" sz="4900">
                <a:solidFill>
                  <a:srgbClr val="000000"/>
                </a:solidFill>
                <a:latin typeface="Arial" charset="0"/>
              </a:rPr>
              <a:t>What Is Dilation For?</a:t>
            </a:r>
          </a:p>
        </p:txBody>
      </p:sp>
      <p:sp>
        <p:nvSpPr>
          <p:cNvPr id="9219" name="Rectangle 2"/>
          <p:cNvSpPr>
            <a:spLocks noGrp="1" noChangeArrowheads="1"/>
          </p:cNvSpPr>
          <p:nvPr>
            <p:ph idx="1"/>
          </p:nvPr>
        </p:nvSpPr>
        <p:spPr/>
        <p:txBody>
          <a:bodyPr lIns="0" tIns="0" rIns="0" bIns="0">
            <a:normAutofit lnSpcReduction="10000"/>
          </a:bodyPr>
          <a:lstStyle/>
          <a:p>
            <a:pPr algn="l" eaLnBrk="1" hangingPunct="1">
              <a:lnSpc>
                <a:spcPct val="95000"/>
              </a:lnSpc>
              <a:spcBef>
                <a:spcPct val="0"/>
              </a:spcBef>
            </a:pPr>
            <a:r>
              <a:rPr lang="en-US" altLang="en-US" sz="3600">
                <a:solidFill>
                  <a:srgbClr val="000000"/>
                </a:solidFill>
                <a:latin typeface="Arial" charset="0"/>
              </a:rPr>
              <a:t>Dilation can repair breaks</a:t>
            </a:r>
            <a:endParaRPr lang="en-US" altLang="en-US"/>
          </a:p>
          <a:p>
            <a:pPr algn="l" eaLnBrk="1" hangingPunct="1">
              <a:lnSpc>
                <a:spcPct val="95000"/>
              </a:lnSpc>
              <a:spcBef>
                <a:spcPct val="0"/>
              </a:spcBef>
            </a:pPr>
            <a:endParaRPr lang="en-US" altLang="en-US" sz="3600">
              <a:solidFill>
                <a:srgbClr val="000000"/>
              </a:solidFill>
              <a:latin typeface="Arial" charset="0"/>
            </a:endParaRPr>
          </a:p>
          <a:p>
            <a:pPr algn="l" eaLnBrk="1" hangingPunct="1">
              <a:lnSpc>
                <a:spcPct val="95000"/>
              </a:lnSpc>
              <a:spcBef>
                <a:spcPct val="0"/>
              </a:spcBef>
            </a:pPr>
            <a:endParaRPr lang="en-US" altLang="en-US" sz="3600">
              <a:solidFill>
                <a:srgbClr val="000000"/>
              </a:solidFill>
              <a:latin typeface="Arial" charset="0"/>
            </a:endParaRPr>
          </a:p>
          <a:p>
            <a:pPr algn="l" eaLnBrk="1" hangingPunct="1">
              <a:lnSpc>
                <a:spcPct val="95000"/>
              </a:lnSpc>
              <a:spcBef>
                <a:spcPct val="0"/>
              </a:spcBef>
            </a:pPr>
            <a:endParaRPr lang="en-US" altLang="en-US" sz="3600">
              <a:solidFill>
                <a:srgbClr val="000000"/>
              </a:solidFill>
              <a:latin typeface="Arial" charset="0"/>
            </a:endParaRPr>
          </a:p>
          <a:p>
            <a:pPr algn="l" eaLnBrk="1" hangingPunct="1">
              <a:lnSpc>
                <a:spcPct val="95000"/>
              </a:lnSpc>
              <a:spcBef>
                <a:spcPct val="0"/>
              </a:spcBef>
            </a:pPr>
            <a:r>
              <a:rPr lang="en-US" altLang="en-US" sz="3600">
                <a:solidFill>
                  <a:srgbClr val="000000"/>
                </a:solidFill>
                <a:latin typeface="Arial" charset="0"/>
              </a:rPr>
              <a:t>Dilation can repair intrusions</a:t>
            </a:r>
            <a:endParaRPr lang="en-US" altLang="en-US"/>
          </a:p>
          <a:p>
            <a:pPr algn="l" eaLnBrk="1" hangingPunct="1">
              <a:lnSpc>
                <a:spcPct val="95000"/>
              </a:lnSpc>
              <a:spcBef>
                <a:spcPct val="0"/>
              </a:spcBef>
            </a:pPr>
            <a:endParaRPr lang="en-US" altLang="en-US" sz="3600">
              <a:solidFill>
                <a:srgbClr val="000000"/>
              </a:solidFill>
              <a:latin typeface="Arial" charset="0"/>
            </a:endParaRPr>
          </a:p>
          <a:p>
            <a:pPr algn="l" eaLnBrk="1" hangingPunct="1">
              <a:lnSpc>
                <a:spcPct val="95000"/>
              </a:lnSpc>
              <a:spcBef>
                <a:spcPct val="0"/>
              </a:spcBef>
            </a:pPr>
            <a:endParaRPr lang="en-US" altLang="en-US" sz="3600">
              <a:solidFill>
                <a:srgbClr val="000000"/>
              </a:solidFill>
              <a:latin typeface="Arial" charset="0"/>
            </a:endParaRPr>
          </a:p>
          <a:p>
            <a:pPr algn="l" eaLnBrk="1" hangingPunct="1">
              <a:lnSpc>
                <a:spcPct val="95000"/>
              </a:lnSpc>
              <a:spcBef>
                <a:spcPct val="0"/>
              </a:spcBef>
            </a:pPr>
            <a:endParaRPr lang="en-US" altLang="en-US" sz="3600">
              <a:solidFill>
                <a:srgbClr val="000000"/>
              </a:solidFill>
              <a:latin typeface="Arial" charset="0"/>
            </a:endParaRPr>
          </a:p>
          <a:p>
            <a:pPr algn="l" eaLnBrk="1" hangingPunct="1">
              <a:lnSpc>
                <a:spcPct val="95000"/>
              </a:lnSpc>
              <a:spcBef>
                <a:spcPct val="0"/>
              </a:spcBef>
            </a:pPr>
            <a:r>
              <a:rPr lang="en-US" altLang="en-US" sz="3600" b="1">
                <a:solidFill>
                  <a:srgbClr val="000000"/>
                </a:solidFill>
                <a:latin typeface="Arial" charset="0"/>
              </a:rPr>
              <a:t>Watch out:</a:t>
            </a:r>
            <a:r>
              <a:rPr lang="en-US" altLang="en-US" sz="3600">
                <a:solidFill>
                  <a:srgbClr val="000000"/>
                </a:solidFill>
                <a:latin typeface="Arial" charset="0"/>
              </a:rPr>
              <a:t> Dilation enlarges objects</a:t>
            </a:r>
          </a:p>
        </p:txBody>
      </p:sp>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8513" y="3235545"/>
            <a:ext cx="2520280" cy="1122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3196" y="5371520"/>
            <a:ext cx="2816404" cy="126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25675"/>
            <a:ext cx="10064750" cy="3097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150" y="1111250"/>
            <a:ext cx="9802813" cy="4900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 y="569913"/>
            <a:ext cx="10206038" cy="6186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569913"/>
            <a:ext cx="9217025" cy="648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IN" altLang="en-US"/>
              <a:t>Erosion</a:t>
            </a:r>
          </a:p>
        </p:txBody>
      </p:sp>
      <p:sp>
        <p:nvSpPr>
          <p:cNvPr id="14339" name="Content Placeholder 2"/>
          <p:cNvSpPr>
            <a:spLocks noGrp="1"/>
          </p:cNvSpPr>
          <p:nvPr>
            <p:ph idx="1"/>
          </p:nvPr>
        </p:nvSpPr>
        <p:spPr/>
        <p:txBody>
          <a:bodyPr vert="horz" lIns="45720" tIns="45720" rIns="45720" bIns="45720" rtlCol="0" anchor="t">
            <a:normAutofit/>
          </a:bodyPr>
          <a:lstStyle/>
          <a:p>
            <a:pPr algn="just" eaLnBrk="1" hangingPunct="1"/>
            <a:r>
              <a:rPr lang="en-IN" altLang="en-US" sz="2800" dirty="0"/>
              <a:t>Erosion is the counter-process of dilation. If dilation enlarges an image then erosion shrinks the image.</a:t>
            </a:r>
          </a:p>
          <a:p>
            <a:pPr algn="just"/>
            <a:r>
              <a:rPr lang="en-IN" altLang="en-US" sz="2800" dirty="0"/>
              <a:t>The process will look for whether there is a complete overlap with the structuring element or not. </a:t>
            </a:r>
          </a:p>
          <a:p>
            <a:pPr algn="just" eaLnBrk="1" hangingPunct="1"/>
            <a:r>
              <a:rPr lang="en-IN" altLang="en-US" sz="2800" dirty="0"/>
              <a:t>If there is no complete overlapping then the centre pixel indicated by the centre of the structuring element will be set white or 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1073150"/>
            <a:ext cx="9145588" cy="51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25" y="1638300"/>
            <a:ext cx="10048875" cy="397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289050"/>
            <a:ext cx="10036175" cy="496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38" y="1289050"/>
            <a:ext cx="9890125" cy="5113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073150"/>
            <a:ext cx="9759950" cy="5400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p:txBody>
          <a:bodyPr lIns="0" tIns="0" rIns="0" bIns="0"/>
          <a:lstStyle/>
          <a:p>
            <a:pPr eaLnBrk="1" hangingPunct="1">
              <a:lnSpc>
                <a:spcPct val="95000"/>
              </a:lnSpc>
            </a:pPr>
            <a:r>
              <a:rPr lang="en-US" altLang="en-US" sz="4900">
                <a:solidFill>
                  <a:srgbClr val="000000"/>
                </a:solidFill>
                <a:latin typeface="Arial" charset="0"/>
              </a:rPr>
              <a:t>Compound Operations </a:t>
            </a:r>
          </a:p>
        </p:txBody>
      </p:sp>
      <p:sp>
        <p:nvSpPr>
          <p:cNvPr id="20483" name="Rectangle 2"/>
          <p:cNvSpPr>
            <a:spLocks noGrp="1" noChangeArrowheads="1"/>
          </p:cNvSpPr>
          <p:nvPr>
            <p:ph idx="1"/>
          </p:nvPr>
        </p:nvSpPr>
        <p:spPr/>
        <p:txBody>
          <a:bodyPr lIns="0" tIns="0" rIns="0" bIns="0"/>
          <a:lstStyle/>
          <a:p>
            <a:pPr algn="l" eaLnBrk="1" hangingPunct="1">
              <a:lnSpc>
                <a:spcPct val="95000"/>
              </a:lnSpc>
              <a:spcBef>
                <a:spcPct val="0"/>
              </a:spcBef>
            </a:pPr>
            <a:r>
              <a:rPr lang="en-US" altLang="en-US" sz="3600">
                <a:solidFill>
                  <a:srgbClr val="000000"/>
                </a:solidFill>
                <a:latin typeface="Arial" charset="0"/>
              </a:rPr>
              <a:t>More interesting morphological operations can be performed by performing combinations of erosions and dilations</a:t>
            </a:r>
            <a:endParaRPr lang="en-US" altLang="en-US"/>
          </a:p>
          <a:p>
            <a:pPr algn="l" eaLnBrk="1" hangingPunct="1">
              <a:lnSpc>
                <a:spcPct val="95000"/>
              </a:lnSpc>
              <a:spcBef>
                <a:spcPct val="0"/>
              </a:spcBef>
            </a:pPr>
            <a:r>
              <a:rPr lang="en-US" altLang="en-US" sz="3600">
                <a:solidFill>
                  <a:srgbClr val="000000"/>
                </a:solidFill>
                <a:latin typeface="Arial" charset="0"/>
              </a:rPr>
              <a:t>The most widely used of these </a:t>
            </a:r>
            <a:r>
              <a:rPr lang="en-US" altLang="en-US" sz="3600" i="1">
                <a:solidFill>
                  <a:srgbClr val="000000"/>
                </a:solidFill>
                <a:latin typeface="Arial" charset="0"/>
              </a:rPr>
              <a:t>compound operations</a:t>
            </a:r>
            <a:r>
              <a:rPr lang="en-US" altLang="en-US" sz="3600">
                <a:solidFill>
                  <a:srgbClr val="000000"/>
                </a:solidFill>
                <a:latin typeface="Arial" charset="0"/>
              </a:rPr>
              <a:t> are:</a:t>
            </a:r>
            <a:endParaRPr lang="en-US" altLang="en-US"/>
          </a:p>
          <a:p>
            <a:pPr lvl="1" indent="-342900" algn="l" eaLnBrk="1" hangingPunct="1">
              <a:lnSpc>
                <a:spcPct val="95000"/>
              </a:lnSpc>
              <a:spcBef>
                <a:spcPct val="0"/>
              </a:spcBef>
              <a:buClr>
                <a:srgbClr val="000000"/>
              </a:buClr>
              <a:buFontTx/>
              <a:buChar char="•"/>
            </a:pPr>
            <a:r>
              <a:rPr lang="en-US" altLang="en-US" sz="3100">
                <a:solidFill>
                  <a:srgbClr val="000000"/>
                </a:solidFill>
                <a:latin typeface="Arial" charset="0"/>
              </a:rPr>
              <a:t>Opening</a:t>
            </a:r>
            <a:endParaRPr lang="en-US" altLang="en-US"/>
          </a:p>
          <a:p>
            <a:pPr lvl="1" indent="-342900" algn="l" eaLnBrk="1" hangingPunct="1">
              <a:lnSpc>
                <a:spcPct val="95000"/>
              </a:lnSpc>
              <a:spcBef>
                <a:spcPct val="0"/>
              </a:spcBef>
              <a:buClr>
                <a:srgbClr val="000000"/>
              </a:buClr>
              <a:buFontTx/>
              <a:buChar char="•"/>
            </a:pPr>
            <a:r>
              <a:rPr lang="en-US" altLang="en-US" sz="3100">
                <a:solidFill>
                  <a:srgbClr val="000000"/>
                </a:solidFill>
                <a:latin typeface="Arial" charset="0"/>
              </a:rPr>
              <a:t>Closing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p:txBody>
          <a:bodyPr lIns="0" tIns="0" rIns="0" bIns="0"/>
          <a:lstStyle/>
          <a:p>
            <a:pPr eaLnBrk="1" hangingPunct="1">
              <a:lnSpc>
                <a:spcPct val="95000"/>
              </a:lnSpc>
            </a:pPr>
            <a:r>
              <a:rPr lang="en-US" altLang="en-US" sz="4900">
                <a:solidFill>
                  <a:srgbClr val="000000"/>
                </a:solidFill>
                <a:latin typeface="Arial" charset="0"/>
              </a:rPr>
              <a:t>Opening</a:t>
            </a:r>
          </a:p>
        </p:txBody>
      </p:sp>
      <p:sp>
        <p:nvSpPr>
          <p:cNvPr id="21507" name="Rectangle 2"/>
          <p:cNvSpPr>
            <a:spLocks noGrp="1" noChangeArrowheads="1"/>
          </p:cNvSpPr>
          <p:nvPr>
            <p:ph idx="1"/>
          </p:nvPr>
        </p:nvSpPr>
        <p:spPr/>
        <p:txBody>
          <a:bodyPr lIns="0" tIns="0" rIns="0" bIns="0"/>
          <a:lstStyle/>
          <a:p>
            <a:pPr algn="l" eaLnBrk="1" hangingPunct="1">
              <a:lnSpc>
                <a:spcPct val="95000"/>
              </a:lnSpc>
              <a:spcBef>
                <a:spcPct val="0"/>
              </a:spcBef>
            </a:pPr>
            <a:r>
              <a:rPr lang="en-US" altLang="en-US" sz="3600">
                <a:solidFill>
                  <a:srgbClr val="000000"/>
                </a:solidFill>
                <a:latin typeface="Arial" charset="0"/>
              </a:rPr>
              <a:t>The opening of image </a:t>
            </a:r>
            <a:r>
              <a:rPr lang="en-US" altLang="en-US" sz="3600" i="1">
                <a:solidFill>
                  <a:srgbClr val="000000"/>
                </a:solidFill>
                <a:latin typeface="Arial" charset="0"/>
              </a:rPr>
              <a:t>f</a:t>
            </a:r>
            <a:r>
              <a:rPr lang="en-US" altLang="en-US" sz="3600">
                <a:solidFill>
                  <a:srgbClr val="000000"/>
                </a:solidFill>
                <a:latin typeface="Arial" charset="0"/>
              </a:rPr>
              <a:t> by structuring element </a:t>
            </a:r>
            <a:r>
              <a:rPr lang="en-US" altLang="en-US" sz="3600" i="1">
                <a:solidFill>
                  <a:srgbClr val="000000"/>
                </a:solidFill>
                <a:latin typeface="Arial" charset="0"/>
              </a:rPr>
              <a:t>s,</a:t>
            </a:r>
            <a:r>
              <a:rPr lang="en-US" altLang="en-US" sz="3600">
                <a:solidFill>
                  <a:srgbClr val="000000"/>
                </a:solidFill>
                <a:latin typeface="Arial" charset="0"/>
              </a:rPr>
              <a:t> denoted </a:t>
            </a:r>
            <a:r>
              <a:rPr lang="en-US" altLang="en-US" sz="3600" i="1">
                <a:solidFill>
                  <a:srgbClr val="000000"/>
                </a:solidFill>
                <a:latin typeface="Arial" charset="0"/>
              </a:rPr>
              <a:t>f </a:t>
            </a:r>
            <a:r>
              <a:rPr lang="en-US" altLang="en-US" sz="2700">
                <a:solidFill>
                  <a:srgbClr val="000000"/>
                </a:solidFill>
                <a:latin typeface="Arial" charset="0"/>
              </a:rPr>
              <a:t>○ </a:t>
            </a:r>
            <a:r>
              <a:rPr lang="en-US" altLang="en-US" sz="3600" i="1">
                <a:solidFill>
                  <a:srgbClr val="000000"/>
                </a:solidFill>
                <a:latin typeface="Arial" charset="0"/>
              </a:rPr>
              <a:t>s</a:t>
            </a:r>
            <a:r>
              <a:rPr lang="en-US" altLang="en-US" sz="3600">
                <a:solidFill>
                  <a:srgbClr val="000000"/>
                </a:solidFill>
                <a:latin typeface="Arial" charset="0"/>
              </a:rPr>
              <a:t> is simply an </a:t>
            </a:r>
            <a:r>
              <a:rPr lang="en-US" altLang="en-US" sz="3600" u="sng">
                <a:solidFill>
                  <a:srgbClr val="000000"/>
                </a:solidFill>
                <a:latin typeface="Arial" charset="0"/>
              </a:rPr>
              <a:t>erosion followed by a dilation</a:t>
            </a:r>
            <a:endParaRPr lang="en-US" altLang="en-US"/>
          </a:p>
          <a:p>
            <a:pPr algn="l" eaLnBrk="1" hangingPunct="1">
              <a:lnSpc>
                <a:spcPct val="95000"/>
              </a:lnSpc>
              <a:spcBef>
                <a:spcPct val="0"/>
              </a:spcBef>
            </a:pPr>
            <a:r>
              <a:rPr lang="en-US" altLang="en-US" sz="3600" i="1">
                <a:solidFill>
                  <a:srgbClr val="000000"/>
                </a:solidFill>
                <a:latin typeface="Arial" charset="0"/>
              </a:rPr>
              <a:t>f </a:t>
            </a:r>
            <a:r>
              <a:rPr lang="en-US" altLang="en-US" sz="2700">
                <a:solidFill>
                  <a:srgbClr val="000000"/>
                </a:solidFill>
                <a:latin typeface="Arial" charset="0"/>
              </a:rPr>
              <a:t>○ </a:t>
            </a:r>
            <a:r>
              <a:rPr lang="en-US" altLang="en-US" sz="3600" i="1">
                <a:solidFill>
                  <a:srgbClr val="000000"/>
                </a:solidFill>
                <a:latin typeface="Arial" charset="0"/>
              </a:rPr>
              <a:t>s = (f </a:t>
            </a:r>
            <a:r>
              <a:rPr lang="en-US" altLang="en-US" sz="2700">
                <a:solidFill>
                  <a:srgbClr val="000000"/>
                </a:solidFill>
                <a:latin typeface="Arial" charset="0"/>
              </a:rPr>
              <a:t></a:t>
            </a:r>
            <a:r>
              <a:rPr lang="en-US" altLang="en-US" sz="3600" i="1">
                <a:solidFill>
                  <a:srgbClr val="000000"/>
                </a:solidFill>
                <a:latin typeface="Arial" charset="0"/>
              </a:rPr>
              <a:t>s) s</a:t>
            </a:r>
            <a:endParaRPr lang="en-US" altLang="en-US"/>
          </a:p>
          <a:p>
            <a:pPr algn="l" eaLnBrk="1" hangingPunct="1">
              <a:lnSpc>
                <a:spcPct val="95000"/>
              </a:lnSpc>
              <a:spcBef>
                <a:spcPct val="0"/>
              </a:spcBef>
            </a:pPr>
            <a:endParaRPr lang="en-US" altLang="en-US" sz="3600" i="1">
              <a:solidFill>
                <a:srgbClr val="000000"/>
              </a:solidFill>
              <a:latin typeface="Arial" charset="0"/>
            </a:endParaRPr>
          </a:p>
          <a:p>
            <a:pPr algn="l" eaLnBrk="1" hangingPunct="1">
              <a:lnSpc>
                <a:spcPct val="95000"/>
              </a:lnSpc>
              <a:spcBef>
                <a:spcPct val="0"/>
              </a:spcBef>
            </a:pPr>
            <a:endParaRPr lang="en-US" altLang="en-US" sz="3600">
              <a:solidFill>
                <a:srgbClr val="000000"/>
              </a:solidFill>
              <a:latin typeface="Arial" charset="0"/>
            </a:endParaRPr>
          </a:p>
        </p:txBody>
      </p:sp>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9250" y="3481388"/>
            <a:ext cx="212725"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4137025"/>
            <a:ext cx="3494087"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5750" y="4211638"/>
            <a:ext cx="254000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6888" y="4095750"/>
            <a:ext cx="2806700" cy="192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Text Box 8"/>
          <p:cNvSpPr txBox="1">
            <a:spLocks noChangeArrowheads="1"/>
          </p:cNvSpPr>
          <p:nvPr/>
        </p:nvSpPr>
        <p:spPr bwMode="auto">
          <a:xfrm>
            <a:off x="1277938" y="6011863"/>
            <a:ext cx="17526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Original shape</a:t>
            </a:r>
          </a:p>
        </p:txBody>
      </p:sp>
      <p:sp>
        <p:nvSpPr>
          <p:cNvPr id="21513" name="Text Box 9"/>
          <p:cNvSpPr txBox="1">
            <a:spLocks noChangeArrowheads="1"/>
          </p:cNvSpPr>
          <p:nvPr/>
        </p:nvSpPr>
        <p:spPr bwMode="auto">
          <a:xfrm>
            <a:off x="4667250" y="6011863"/>
            <a:ext cx="15557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After erosion</a:t>
            </a:r>
          </a:p>
        </p:txBody>
      </p:sp>
      <p:sp>
        <p:nvSpPr>
          <p:cNvPr id="21514" name="Text Box 10"/>
          <p:cNvSpPr txBox="1">
            <a:spLocks noChangeArrowheads="1"/>
          </p:cNvSpPr>
          <p:nvPr/>
        </p:nvSpPr>
        <p:spPr bwMode="auto">
          <a:xfrm>
            <a:off x="7685088" y="6011863"/>
            <a:ext cx="152717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After dilation</a:t>
            </a:r>
            <a:br>
              <a:rPr lang="en-US" altLang="en-US" sz="2000">
                <a:solidFill>
                  <a:srgbClr val="000000"/>
                </a:solidFill>
                <a:latin typeface="Arial" charset="0"/>
              </a:rPr>
            </a:br>
            <a:r>
              <a:rPr lang="en-US" altLang="en-US" sz="2000">
                <a:solidFill>
                  <a:srgbClr val="000000"/>
                </a:solidFill>
                <a:latin typeface="Arial" charset="0"/>
              </a:rPr>
              <a:t>(opening)</a:t>
            </a:r>
          </a:p>
        </p:txBody>
      </p:sp>
      <p:sp>
        <p:nvSpPr>
          <p:cNvPr id="21515" name="Text Box 11"/>
          <p:cNvSpPr txBox="1">
            <a:spLocks noChangeArrowheads="1"/>
          </p:cNvSpPr>
          <p:nvPr/>
        </p:nvSpPr>
        <p:spPr bwMode="auto">
          <a:xfrm>
            <a:off x="574675" y="7088188"/>
            <a:ext cx="9540875"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700">
                <a:solidFill>
                  <a:srgbClr val="000000"/>
                </a:solidFill>
                <a:latin typeface="Arial" charset="0"/>
              </a:rPr>
              <a:t>Note a disc shaped structuring element is used</a:t>
            </a:r>
          </a:p>
        </p:txBody>
      </p:sp>
      <p:sp>
        <p:nvSpPr>
          <p:cNvPr id="21517" name="Text Box 13"/>
          <p:cNvSpPr txBox="1">
            <a:spLocks noChangeArrowheads="1"/>
          </p:cNvSpPr>
          <p:nvPr/>
        </p:nvSpPr>
        <p:spPr bwMode="auto">
          <a:xfrm>
            <a:off x="-2609850" y="4527550"/>
            <a:ext cx="5492750" cy="16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1300">
                <a:solidFill>
                  <a:srgbClr val="FFFFFF"/>
                </a:solidFill>
                <a:latin typeface="Arial" charset="0"/>
              </a:rPr>
              <a:t>Images taken from Gonzalez &amp; Woods, Digital Image Processing (2002)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p:txBody>
          <a:bodyPr lIns="0" tIns="0" rIns="0" bIns="0"/>
          <a:lstStyle/>
          <a:p>
            <a:pPr eaLnBrk="1" hangingPunct="1">
              <a:lnSpc>
                <a:spcPct val="95000"/>
              </a:lnSpc>
            </a:pPr>
            <a:r>
              <a:rPr lang="en-US" altLang="en-US" sz="4900" dirty="0">
                <a:solidFill>
                  <a:srgbClr val="000000"/>
                </a:solidFill>
                <a:latin typeface="Arial" charset="0"/>
              </a:rPr>
              <a:t>Opening Example</a:t>
            </a:r>
          </a:p>
        </p:txBody>
      </p:sp>
      <p:sp>
        <p:nvSpPr>
          <p:cNvPr id="3" name="Content Placeholder 2">
            <a:extLst>
              <a:ext uri="{FF2B5EF4-FFF2-40B4-BE49-F238E27FC236}">
                <a16:creationId xmlns="" xmlns:a16="http://schemas.microsoft.com/office/drawing/2014/main" id="{6F8C2195-9F44-C088-C868-C0BB6FB4E5C2}"/>
              </a:ext>
            </a:extLst>
          </p:cNvPr>
          <p:cNvSpPr>
            <a:spLocks noGrp="1"/>
          </p:cNvSpPr>
          <p:nvPr>
            <p:ph idx="1"/>
          </p:nvPr>
        </p:nvSpPr>
        <p:spPr/>
        <p:txBody>
          <a:bodyPr/>
          <a:lstStyle/>
          <a:p>
            <a:endParaRPr lang="en-US"/>
          </a:p>
        </p:txBody>
      </p:sp>
      <p:pic>
        <p:nvPicPr>
          <p:cNvPr id="2253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069" y="3309282"/>
            <a:ext cx="4264438" cy="2428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0728" y="3312818"/>
            <a:ext cx="4277784" cy="2432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 Box 6"/>
          <p:cNvSpPr txBox="1">
            <a:spLocks noChangeArrowheads="1"/>
          </p:cNvSpPr>
          <p:nvPr/>
        </p:nvSpPr>
        <p:spPr bwMode="auto">
          <a:xfrm>
            <a:off x="435624" y="2905875"/>
            <a:ext cx="4031662" cy="394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2700">
                <a:solidFill>
                  <a:srgbClr val="000000"/>
                </a:solidFill>
                <a:latin typeface="Arial" charset="0"/>
              </a:rPr>
              <a:t>Original Image</a:t>
            </a:r>
          </a:p>
        </p:txBody>
      </p:sp>
      <p:sp>
        <p:nvSpPr>
          <p:cNvPr id="22534" name="Text Box 7"/>
          <p:cNvSpPr txBox="1">
            <a:spLocks noChangeArrowheads="1"/>
          </p:cNvSpPr>
          <p:nvPr/>
        </p:nvSpPr>
        <p:spPr bwMode="auto">
          <a:xfrm>
            <a:off x="5742619" y="2908708"/>
            <a:ext cx="3984625" cy="394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2700">
                <a:solidFill>
                  <a:srgbClr val="000000"/>
                </a:solidFill>
                <a:latin typeface="Arial" charset="0"/>
              </a:rPr>
              <a:t>Image After Opening</a:t>
            </a:r>
          </a:p>
        </p:txBody>
      </p:sp>
      <p:sp>
        <p:nvSpPr>
          <p:cNvPr id="22536" name="Text Box 9"/>
          <p:cNvSpPr txBox="1">
            <a:spLocks noChangeArrowheads="1"/>
          </p:cNvSpPr>
          <p:nvPr/>
        </p:nvSpPr>
        <p:spPr bwMode="auto">
          <a:xfrm>
            <a:off x="2221445" y="6174582"/>
            <a:ext cx="5492750" cy="190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1300" dirty="0">
                <a:latin typeface="Arial" charset="0"/>
              </a:rPr>
              <a:t>Images taken from Gonzalez &amp; Woods, Digital Image Processing (2002)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853440" y="-89452"/>
            <a:ext cx="8100060" cy="1666240"/>
          </a:xfrm>
        </p:spPr>
        <p:txBody>
          <a:bodyPr lIns="0" tIns="0" rIns="0" bIns="0"/>
          <a:lstStyle/>
          <a:p>
            <a:pPr eaLnBrk="1" hangingPunct="1">
              <a:lnSpc>
                <a:spcPct val="95000"/>
              </a:lnSpc>
            </a:pPr>
            <a:r>
              <a:rPr lang="en-US" altLang="en-US" sz="4900">
                <a:solidFill>
                  <a:srgbClr val="000000"/>
                </a:solidFill>
                <a:latin typeface="Arial" charset="0"/>
              </a:rPr>
              <a:t>Opening Example</a:t>
            </a:r>
          </a:p>
        </p:txBody>
      </p:sp>
      <p:sp>
        <p:nvSpPr>
          <p:cNvPr id="2" name="Content Placeholder 1">
            <a:extLst>
              <a:ext uri="{FF2B5EF4-FFF2-40B4-BE49-F238E27FC236}">
                <a16:creationId xmlns="" xmlns:a16="http://schemas.microsoft.com/office/drawing/2014/main" id="{3A621D60-7670-9E49-CA81-B12250E69E67}"/>
              </a:ext>
            </a:extLst>
          </p:cNvPr>
          <p:cNvSpPr>
            <a:spLocks noGrp="1"/>
          </p:cNvSpPr>
          <p:nvPr>
            <p:ph idx="1"/>
          </p:nvPr>
        </p:nvSpPr>
        <p:spPr/>
        <p:txBody>
          <a:bodyPr/>
          <a:lstStyle/>
          <a:p>
            <a:endParaRPr lang="en-US"/>
          </a:p>
        </p:txBody>
      </p:sp>
      <p:pic>
        <p:nvPicPr>
          <p:cNvPr id="2457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275" y="17462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1746250"/>
            <a:ext cx="561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888" y="17462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1746250"/>
            <a:ext cx="561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3500" y="17462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775" y="1746250"/>
            <a:ext cx="561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2525" y="17462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3388" y="1746250"/>
            <a:ext cx="561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7"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275" y="229552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8"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3138" y="22955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9"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2888" y="2295525"/>
            <a:ext cx="5730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0"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3750" y="22955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1"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3500" y="2295525"/>
            <a:ext cx="5715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2"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2775" y="22955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3" name="Picture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92525" y="229552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4"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43388" y="22955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5"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275" y="28257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6"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2825750"/>
            <a:ext cx="561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7" name="Picture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12888" y="28257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8" name="Picture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3750" y="2825750"/>
            <a:ext cx="561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9"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3500" y="28257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0"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775" y="2825750"/>
            <a:ext cx="561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1"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2525" y="28257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2"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3388" y="2825750"/>
            <a:ext cx="561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3" name="Picture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275" y="337502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4" name="Picture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3138" y="33750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5" name="Picture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12888" y="3375025"/>
            <a:ext cx="5730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6" name="Picture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3750" y="33750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7" name="Picture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3500" y="3375025"/>
            <a:ext cx="5715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8" name="Picture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2775" y="33750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9" name="Picture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2525" y="337502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0" name="Picture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43388" y="33750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1" name="Picture 3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2275" y="391477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2" name="Picture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3138" y="391477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3" name="Picture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12888" y="3914775"/>
            <a:ext cx="5730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4" name="Picture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63750" y="391477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5" name="Picture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03500" y="3914775"/>
            <a:ext cx="5715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6" name="Picture 4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52775" y="391477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7" name="Picture 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92525" y="391477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8" name="Picture 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43388" y="391477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9" name="Picture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275" y="445452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0"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3138" y="44545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1" name="Picture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2888" y="4454525"/>
            <a:ext cx="5730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2" name="Picture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0" y="44545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3" name="Picture 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500" y="4454525"/>
            <a:ext cx="5715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4" name="Picture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2775" y="44545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5" name="Picture 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2525" y="445452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6" name="Picture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3388" y="44545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7" name="Picture 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2275" y="499427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8" name="Picture 5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3138" y="499427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29" name="Picture 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12888" y="4994275"/>
            <a:ext cx="5730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0" name="Picture 5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63750" y="499427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1" name="Picture 5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03500" y="4994275"/>
            <a:ext cx="5715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2" name="Picture 5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52775" y="499427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3" name="Picture 5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92525" y="499427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4" name="Picture 5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43388" y="499427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5" name="Picture 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275" y="553402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6" name="Picture 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55340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7" name="Picture 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888" y="5534025"/>
            <a:ext cx="5730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8" name="Picture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55340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39" name="Picture 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500" y="5534025"/>
            <a:ext cx="5715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40" name="Picture 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2775" y="55340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41" name="Picture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2525" y="5534025"/>
            <a:ext cx="5730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42" name="Picture 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3388" y="5534025"/>
            <a:ext cx="56197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43" name="Text Box 68"/>
          <p:cNvSpPr txBox="1">
            <a:spLocks noChangeArrowheads="1"/>
          </p:cNvSpPr>
          <p:nvPr/>
        </p:nvSpPr>
        <p:spPr bwMode="auto">
          <a:xfrm>
            <a:off x="3954463" y="6680200"/>
            <a:ext cx="35909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3100">
                <a:solidFill>
                  <a:srgbClr val="000000"/>
                </a:solidFill>
                <a:latin typeface="Arial" charset="0"/>
              </a:rPr>
              <a:t>Structuring Element</a:t>
            </a:r>
          </a:p>
        </p:txBody>
      </p:sp>
      <p:pic>
        <p:nvPicPr>
          <p:cNvPr id="24644" name="Picture 6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19388" y="1746250"/>
            <a:ext cx="3176587" cy="578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45" name="Picture 7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73750" y="17462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46" name="Picture 7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13500" y="17462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47" name="Picture 7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62775" y="1746250"/>
            <a:ext cx="5730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48" name="Picture 7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02525" y="1746250"/>
            <a:ext cx="5730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49" name="Picture 7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53388" y="17462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0" name="Picture 7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593138" y="17462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1" name="Picture 7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144000" y="17462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2" name="Picture 7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22888" y="2286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3" name="Picture 7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873750" y="2286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4" name="Picture 7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13500" y="2286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5" name="Picture 8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962775" y="22860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6" name="Picture 8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502525" y="22860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7" name="Picture 8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053388" y="2286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8" name="Picture 8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593138" y="2286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59" name="Picture 8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144000" y="2286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0" name="Picture 8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322888" y="28257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1" name="Picture 8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73750" y="28257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2" name="Picture 8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13500" y="28257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3" name="Picture 8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62775" y="2825750"/>
            <a:ext cx="5730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4" name="Picture 8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02525" y="2825750"/>
            <a:ext cx="5730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5" name="Picture 9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53388" y="28257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6" name="Picture 9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593138" y="2825750"/>
            <a:ext cx="5730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7" name="Picture 9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144000" y="2825750"/>
            <a:ext cx="5715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8" name="Picture 9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22888" y="3365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69" name="Picture 9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873750" y="3365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0" name="Picture 9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13500" y="3365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1" name="Picture 9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962775" y="33655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2" name="Picture 9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502525" y="33655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3" name="Picture 9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053388" y="3365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4" name="Picture 9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93138" y="3365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5" name="Picture 10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144000" y="3365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6" name="Picture 10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22888" y="39052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7" name="Picture 10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873750" y="39052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8" name="Picture 10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13500" y="39052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79" name="Picture 10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962775" y="39052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0" name="Picture 10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502525" y="39052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1" name="Picture 10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053388" y="39052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2" name="Picture 10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93138" y="39052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3" name="Picture 10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144000" y="39052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4" name="Picture 10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22888" y="4445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5" name="Picture 11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873750" y="4445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6" name="Picture 11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413500" y="4445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7" name="Picture 11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962775" y="44450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8" name="Picture 11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502525" y="44450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89" name="Picture 11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053388" y="4445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0" name="Picture 11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593138" y="44450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1" name="Picture 11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9144000" y="44450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2" name="Picture 1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22888" y="49847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3" name="Picture 11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873750" y="49847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4" name="Picture 11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13500" y="49847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5" name="Picture 12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962775" y="49847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6" name="Picture 12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502525" y="498475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7" name="Picture 1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053388" y="49847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8" name="Picture 1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93138" y="498475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99" name="Picture 12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144000" y="498475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00" name="Picture 12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22888" y="5524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01" name="Picture 12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873750" y="5524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02" name="Picture 12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413500" y="5524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03" name="Picture 12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962775" y="55245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04" name="Picture 129"/>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502525" y="5524500"/>
            <a:ext cx="5730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05" name="Picture 13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053388" y="5524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06" name="Picture 13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593138" y="5524500"/>
            <a:ext cx="5730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07" name="Picture 13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9144000" y="5524500"/>
            <a:ext cx="57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08" name="Text Box 133"/>
          <p:cNvSpPr txBox="1">
            <a:spLocks noChangeArrowheads="1"/>
          </p:cNvSpPr>
          <p:nvPr/>
        </p:nvSpPr>
        <p:spPr bwMode="auto">
          <a:xfrm>
            <a:off x="1736725" y="1420813"/>
            <a:ext cx="17653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000">
                <a:solidFill>
                  <a:srgbClr val="000000"/>
                </a:solidFill>
                <a:latin typeface="Arial" charset="0"/>
              </a:rPr>
              <a:t>Original Image</a:t>
            </a:r>
          </a:p>
        </p:txBody>
      </p:sp>
      <p:sp>
        <p:nvSpPr>
          <p:cNvPr id="24709" name="Text Box 134"/>
          <p:cNvSpPr txBox="1">
            <a:spLocks noChangeArrowheads="1"/>
          </p:cNvSpPr>
          <p:nvPr/>
        </p:nvSpPr>
        <p:spPr bwMode="auto">
          <a:xfrm>
            <a:off x="6477000" y="1417638"/>
            <a:ext cx="2092325"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Processed Image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p:txBody>
          <a:bodyPr lIns="0" tIns="0" rIns="0" bIns="0"/>
          <a:lstStyle/>
          <a:p>
            <a:pPr eaLnBrk="1" hangingPunct="1">
              <a:lnSpc>
                <a:spcPct val="95000"/>
              </a:lnSpc>
            </a:pPr>
            <a:r>
              <a:rPr lang="en-US" altLang="en-US" sz="4900">
                <a:solidFill>
                  <a:srgbClr val="000000"/>
                </a:solidFill>
                <a:latin typeface="Arial" charset="0"/>
              </a:rPr>
              <a:t>Closing</a:t>
            </a:r>
          </a:p>
        </p:txBody>
      </p:sp>
      <p:sp>
        <p:nvSpPr>
          <p:cNvPr id="25603" name="Rectangle 2"/>
          <p:cNvSpPr>
            <a:spLocks noGrp="1" noChangeArrowheads="1"/>
          </p:cNvSpPr>
          <p:nvPr>
            <p:ph idx="1"/>
          </p:nvPr>
        </p:nvSpPr>
        <p:spPr/>
        <p:txBody>
          <a:bodyPr lIns="0" tIns="0" rIns="0" bIns="0"/>
          <a:lstStyle/>
          <a:p>
            <a:pPr algn="l" eaLnBrk="1" hangingPunct="1">
              <a:lnSpc>
                <a:spcPct val="95000"/>
              </a:lnSpc>
              <a:spcBef>
                <a:spcPct val="0"/>
              </a:spcBef>
            </a:pPr>
            <a:r>
              <a:rPr lang="en-US" altLang="en-US" sz="3600">
                <a:solidFill>
                  <a:srgbClr val="000000"/>
                </a:solidFill>
                <a:latin typeface="Arial" charset="0"/>
              </a:rPr>
              <a:t>The closing of image </a:t>
            </a:r>
            <a:r>
              <a:rPr lang="en-US" altLang="en-US" sz="3600" i="1">
                <a:solidFill>
                  <a:srgbClr val="000000"/>
                </a:solidFill>
                <a:latin typeface="Arial" charset="0"/>
              </a:rPr>
              <a:t>f</a:t>
            </a:r>
            <a:r>
              <a:rPr lang="en-US" altLang="en-US" sz="3600">
                <a:solidFill>
                  <a:srgbClr val="000000"/>
                </a:solidFill>
                <a:latin typeface="Arial" charset="0"/>
              </a:rPr>
              <a:t> by structuring element </a:t>
            </a:r>
            <a:r>
              <a:rPr lang="en-US" altLang="en-US" sz="3600" i="1">
                <a:solidFill>
                  <a:srgbClr val="000000"/>
                </a:solidFill>
                <a:latin typeface="Arial" charset="0"/>
              </a:rPr>
              <a:t>s,</a:t>
            </a:r>
            <a:r>
              <a:rPr lang="en-US" altLang="en-US" sz="3600">
                <a:solidFill>
                  <a:srgbClr val="000000"/>
                </a:solidFill>
                <a:latin typeface="Arial" charset="0"/>
              </a:rPr>
              <a:t> denoted </a:t>
            </a:r>
            <a:r>
              <a:rPr lang="en-US" altLang="en-US" sz="3600" i="1">
                <a:solidFill>
                  <a:srgbClr val="000000"/>
                </a:solidFill>
                <a:latin typeface="Arial" charset="0"/>
              </a:rPr>
              <a:t>f </a:t>
            </a:r>
            <a:r>
              <a:rPr lang="en-US" altLang="en-US" sz="2700">
                <a:solidFill>
                  <a:srgbClr val="000000"/>
                </a:solidFill>
                <a:latin typeface="Arial" charset="0"/>
              </a:rPr>
              <a:t>• </a:t>
            </a:r>
            <a:r>
              <a:rPr lang="en-US" altLang="en-US" sz="3600" i="1">
                <a:solidFill>
                  <a:srgbClr val="000000"/>
                </a:solidFill>
                <a:latin typeface="Arial" charset="0"/>
              </a:rPr>
              <a:t>s</a:t>
            </a:r>
            <a:r>
              <a:rPr lang="en-US" altLang="en-US" sz="3600">
                <a:solidFill>
                  <a:srgbClr val="000000"/>
                </a:solidFill>
                <a:latin typeface="Arial" charset="0"/>
              </a:rPr>
              <a:t> is simply a </a:t>
            </a:r>
            <a:r>
              <a:rPr lang="en-US" altLang="en-US" sz="3600" u="sng">
                <a:solidFill>
                  <a:srgbClr val="000000"/>
                </a:solidFill>
                <a:latin typeface="Arial" charset="0"/>
              </a:rPr>
              <a:t>dilation followed by an erosion</a:t>
            </a:r>
            <a:endParaRPr lang="en-US" altLang="en-US"/>
          </a:p>
          <a:p>
            <a:pPr algn="l" eaLnBrk="1" hangingPunct="1">
              <a:lnSpc>
                <a:spcPct val="95000"/>
              </a:lnSpc>
              <a:spcBef>
                <a:spcPct val="0"/>
              </a:spcBef>
            </a:pPr>
            <a:r>
              <a:rPr lang="en-US" altLang="en-US" sz="3600" i="1">
                <a:solidFill>
                  <a:srgbClr val="000000"/>
                </a:solidFill>
                <a:latin typeface="Arial" charset="0"/>
              </a:rPr>
              <a:t>f </a:t>
            </a:r>
            <a:r>
              <a:rPr lang="en-US" altLang="en-US" sz="2700">
                <a:solidFill>
                  <a:srgbClr val="000000"/>
                </a:solidFill>
                <a:latin typeface="Arial" charset="0"/>
              </a:rPr>
              <a:t>• </a:t>
            </a:r>
            <a:r>
              <a:rPr lang="en-US" altLang="en-US" sz="3600" i="1">
                <a:solidFill>
                  <a:srgbClr val="000000"/>
                </a:solidFill>
                <a:latin typeface="Arial" charset="0"/>
              </a:rPr>
              <a:t>s = (f s)</a:t>
            </a:r>
            <a:r>
              <a:rPr lang="en-US" altLang="en-US" sz="2700">
                <a:solidFill>
                  <a:srgbClr val="000000"/>
                </a:solidFill>
                <a:latin typeface="Arial" charset="0"/>
              </a:rPr>
              <a:t></a:t>
            </a:r>
            <a:r>
              <a:rPr lang="en-US" altLang="en-US" sz="3600" i="1">
                <a:solidFill>
                  <a:srgbClr val="000000"/>
                </a:solidFill>
                <a:latin typeface="Arial" charset="0"/>
              </a:rPr>
              <a:t>s</a:t>
            </a:r>
            <a:endParaRPr lang="en-US" altLang="en-US"/>
          </a:p>
          <a:p>
            <a:pPr algn="l" eaLnBrk="1" hangingPunct="1">
              <a:lnSpc>
                <a:spcPct val="95000"/>
              </a:lnSpc>
              <a:spcBef>
                <a:spcPct val="0"/>
              </a:spcBef>
            </a:pPr>
            <a:endParaRPr lang="en-US" altLang="en-US" sz="3600" i="1">
              <a:solidFill>
                <a:srgbClr val="000000"/>
              </a:solidFill>
              <a:latin typeface="Arial" charset="0"/>
            </a:endParaRPr>
          </a:p>
          <a:p>
            <a:pPr algn="l" eaLnBrk="1" hangingPunct="1">
              <a:lnSpc>
                <a:spcPct val="95000"/>
              </a:lnSpc>
              <a:spcBef>
                <a:spcPct val="0"/>
              </a:spcBef>
            </a:pPr>
            <a:endParaRPr lang="en-US" altLang="en-US" sz="3600">
              <a:solidFill>
                <a:srgbClr val="000000"/>
              </a:solidFill>
              <a:latin typeface="Arial" charset="0"/>
            </a:endParaRPr>
          </a:p>
        </p:txBody>
      </p:sp>
      <p:pic>
        <p:nvPicPr>
          <p:cNvPr id="256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525" y="3492500"/>
            <a:ext cx="21431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 y="4179888"/>
            <a:ext cx="3492500"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Text Box 6"/>
          <p:cNvSpPr txBox="1">
            <a:spLocks noChangeArrowheads="1"/>
          </p:cNvSpPr>
          <p:nvPr/>
        </p:nvSpPr>
        <p:spPr bwMode="auto">
          <a:xfrm>
            <a:off x="1103313" y="6059488"/>
            <a:ext cx="17526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Original shape</a:t>
            </a:r>
          </a:p>
        </p:txBody>
      </p:sp>
      <p:sp>
        <p:nvSpPr>
          <p:cNvPr id="25607" name="Text Box 7"/>
          <p:cNvSpPr txBox="1">
            <a:spLocks noChangeArrowheads="1"/>
          </p:cNvSpPr>
          <p:nvPr/>
        </p:nvSpPr>
        <p:spPr bwMode="auto">
          <a:xfrm>
            <a:off x="4633913" y="6107113"/>
            <a:ext cx="15271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After dilation</a:t>
            </a:r>
          </a:p>
        </p:txBody>
      </p:sp>
      <p:sp>
        <p:nvSpPr>
          <p:cNvPr id="25608" name="Text Box 8"/>
          <p:cNvSpPr txBox="1">
            <a:spLocks noChangeArrowheads="1"/>
          </p:cNvSpPr>
          <p:nvPr/>
        </p:nvSpPr>
        <p:spPr bwMode="auto">
          <a:xfrm>
            <a:off x="7766050" y="6091238"/>
            <a:ext cx="155575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After erosion</a:t>
            </a:r>
            <a:br>
              <a:rPr lang="en-US" altLang="en-US" sz="2000">
                <a:solidFill>
                  <a:srgbClr val="000000"/>
                </a:solidFill>
                <a:latin typeface="Arial" charset="0"/>
              </a:rPr>
            </a:br>
            <a:r>
              <a:rPr lang="en-US" altLang="en-US" sz="2000">
                <a:solidFill>
                  <a:srgbClr val="000000"/>
                </a:solidFill>
                <a:latin typeface="Arial" charset="0"/>
              </a:rPr>
              <a:t>(closing)</a:t>
            </a:r>
          </a:p>
        </p:txBody>
      </p:sp>
      <p:sp>
        <p:nvSpPr>
          <p:cNvPr id="25609" name="Text Box 9"/>
          <p:cNvSpPr txBox="1">
            <a:spLocks noChangeArrowheads="1"/>
          </p:cNvSpPr>
          <p:nvPr/>
        </p:nvSpPr>
        <p:spPr bwMode="auto">
          <a:xfrm>
            <a:off x="650875" y="6847682"/>
            <a:ext cx="9493250"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700" dirty="0">
                <a:solidFill>
                  <a:srgbClr val="000000"/>
                </a:solidFill>
                <a:latin typeface="Arial" charset="0"/>
              </a:rPr>
              <a:t>Note a disc shaped structuring element is used</a:t>
            </a:r>
          </a:p>
        </p:txBody>
      </p:sp>
      <p:pic>
        <p:nvPicPr>
          <p:cNvPr id="2561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4073525"/>
            <a:ext cx="3133725"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1"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4525" y="4159250"/>
            <a:ext cx="2974975"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3" name="Text Box 13"/>
          <p:cNvSpPr txBox="1">
            <a:spLocks noChangeArrowheads="1"/>
          </p:cNvSpPr>
          <p:nvPr/>
        </p:nvSpPr>
        <p:spPr bwMode="auto">
          <a:xfrm>
            <a:off x="1887538" y="7390830"/>
            <a:ext cx="5492750" cy="190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1300" dirty="0">
                <a:latin typeface="Arial" charset="0"/>
              </a:rPr>
              <a:t>Images taken from Gonzalez &amp; Woods, Digital Image Processing (2002)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p:txBody>
          <a:bodyPr lIns="0" tIns="0" rIns="0" bIns="0"/>
          <a:lstStyle/>
          <a:p>
            <a:pPr eaLnBrk="1" hangingPunct="1">
              <a:lnSpc>
                <a:spcPct val="95000"/>
              </a:lnSpc>
            </a:pPr>
            <a:r>
              <a:rPr lang="en-US" altLang="en-US" sz="4900">
                <a:solidFill>
                  <a:srgbClr val="000000"/>
                </a:solidFill>
                <a:latin typeface="Arial" charset="0"/>
              </a:rPr>
              <a:t>Closing Example</a:t>
            </a:r>
          </a:p>
        </p:txBody>
      </p:sp>
      <p:sp>
        <p:nvSpPr>
          <p:cNvPr id="2" name="Content Placeholder 1">
            <a:extLst>
              <a:ext uri="{FF2B5EF4-FFF2-40B4-BE49-F238E27FC236}">
                <a16:creationId xmlns="" xmlns:a16="http://schemas.microsoft.com/office/drawing/2014/main" id="{4E90F48C-A68E-4886-6B54-844E261B232A}"/>
              </a:ext>
            </a:extLst>
          </p:cNvPr>
          <p:cNvSpPr>
            <a:spLocks noGrp="1"/>
          </p:cNvSpPr>
          <p:nvPr>
            <p:ph idx="1"/>
          </p:nvPr>
        </p:nvSpPr>
        <p:spPr/>
        <p:txBody>
          <a:bodyPr/>
          <a:lstStyle/>
          <a:p>
            <a:endParaRPr lang="en-US"/>
          </a:p>
        </p:txBody>
      </p:sp>
      <p:pic>
        <p:nvPicPr>
          <p:cNvPr id="2662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40" y="3379729"/>
            <a:ext cx="5122863" cy="292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3936" y="3382671"/>
            <a:ext cx="5091113"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 Box 6"/>
          <p:cNvSpPr txBox="1">
            <a:spLocks noChangeArrowheads="1"/>
          </p:cNvSpPr>
          <p:nvPr/>
        </p:nvSpPr>
        <p:spPr bwMode="auto">
          <a:xfrm>
            <a:off x="1201" y="2976322"/>
            <a:ext cx="4184532" cy="394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2700">
                <a:solidFill>
                  <a:srgbClr val="000000"/>
                </a:solidFill>
                <a:latin typeface="Arial" charset="0"/>
              </a:rPr>
              <a:t>Original Image</a:t>
            </a:r>
          </a:p>
        </p:txBody>
      </p:sp>
      <p:sp>
        <p:nvSpPr>
          <p:cNvPr id="26630" name="Text Box 7"/>
          <p:cNvSpPr txBox="1">
            <a:spLocks noChangeArrowheads="1"/>
          </p:cNvSpPr>
          <p:nvPr/>
        </p:nvSpPr>
        <p:spPr bwMode="auto">
          <a:xfrm>
            <a:off x="6034554" y="2979156"/>
            <a:ext cx="3631846" cy="394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2700">
                <a:solidFill>
                  <a:srgbClr val="000000"/>
                </a:solidFill>
                <a:latin typeface="Arial" charset="0"/>
              </a:rPr>
              <a:t>Image After Closing</a:t>
            </a:r>
          </a:p>
        </p:txBody>
      </p:sp>
      <p:sp>
        <p:nvSpPr>
          <p:cNvPr id="26632" name="Text Box 9"/>
          <p:cNvSpPr txBox="1">
            <a:spLocks noChangeArrowheads="1"/>
          </p:cNvSpPr>
          <p:nvPr/>
        </p:nvSpPr>
        <p:spPr bwMode="auto">
          <a:xfrm>
            <a:off x="2296742" y="7038678"/>
            <a:ext cx="5492750" cy="190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1300" dirty="0">
                <a:latin typeface="Arial" charset="0"/>
              </a:rPr>
              <a:t>Images taken from Gonzalez &amp; Woods, Digital Image Processing (2002)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p:nvPr>
        </p:nvSpPr>
        <p:spPr>
          <a:xfrm>
            <a:off x="759511" y="86665"/>
            <a:ext cx="8100060" cy="1666240"/>
          </a:xfrm>
        </p:spPr>
        <p:txBody>
          <a:bodyPr lIns="0" tIns="0" rIns="0" bIns="0"/>
          <a:lstStyle/>
          <a:p>
            <a:pPr eaLnBrk="1" hangingPunct="1">
              <a:lnSpc>
                <a:spcPct val="95000"/>
              </a:lnSpc>
            </a:pPr>
            <a:r>
              <a:rPr lang="en-US" altLang="en-US" sz="4900">
                <a:solidFill>
                  <a:srgbClr val="000000"/>
                </a:solidFill>
                <a:latin typeface="Arial" charset="0"/>
              </a:rPr>
              <a:t>Closing Example</a:t>
            </a:r>
          </a:p>
        </p:txBody>
      </p:sp>
      <p:sp>
        <p:nvSpPr>
          <p:cNvPr id="2" name="Content Placeholder 1">
            <a:extLst>
              <a:ext uri="{FF2B5EF4-FFF2-40B4-BE49-F238E27FC236}">
                <a16:creationId xmlns="" xmlns:a16="http://schemas.microsoft.com/office/drawing/2014/main" id="{7E81EF5E-91B6-366F-9EED-A13303A15F40}"/>
              </a:ext>
            </a:extLst>
          </p:cNvPr>
          <p:cNvSpPr>
            <a:spLocks noGrp="1"/>
          </p:cNvSpPr>
          <p:nvPr>
            <p:ph idx="1"/>
          </p:nvPr>
        </p:nvSpPr>
        <p:spPr/>
        <p:txBody>
          <a:bodyPr/>
          <a:lstStyle/>
          <a:p>
            <a:endParaRPr lang="en-US"/>
          </a:p>
        </p:txBody>
      </p:sp>
      <p:pic>
        <p:nvPicPr>
          <p:cNvPr id="2867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275" y="1746250"/>
            <a:ext cx="4383088"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5"/>
          <p:cNvSpPr txBox="1">
            <a:spLocks noChangeArrowheads="1"/>
          </p:cNvSpPr>
          <p:nvPr/>
        </p:nvSpPr>
        <p:spPr bwMode="auto">
          <a:xfrm>
            <a:off x="3954463" y="6680200"/>
            <a:ext cx="35909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3100">
                <a:solidFill>
                  <a:srgbClr val="000000"/>
                </a:solidFill>
                <a:latin typeface="Arial" charset="0"/>
              </a:rPr>
              <a:t>Structuring Element</a:t>
            </a:r>
          </a:p>
        </p:txBody>
      </p:sp>
      <p:pic>
        <p:nvPicPr>
          <p:cNvPr id="2867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9388" y="6327775"/>
            <a:ext cx="121920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2888" y="1746250"/>
            <a:ext cx="4392612"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Text Box 8"/>
          <p:cNvSpPr txBox="1">
            <a:spLocks noChangeArrowheads="1"/>
          </p:cNvSpPr>
          <p:nvPr/>
        </p:nvSpPr>
        <p:spPr bwMode="auto">
          <a:xfrm>
            <a:off x="1736725" y="1420813"/>
            <a:ext cx="17653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eaLnBrk="1" hangingPunct="1">
              <a:lnSpc>
                <a:spcPct val="95000"/>
              </a:lnSpc>
              <a:spcBef>
                <a:spcPct val="0"/>
              </a:spcBef>
              <a:buFontTx/>
              <a:buNone/>
            </a:pPr>
            <a:r>
              <a:rPr lang="en-US" altLang="en-US" sz="2000">
                <a:solidFill>
                  <a:srgbClr val="000000"/>
                </a:solidFill>
                <a:latin typeface="Arial" charset="0"/>
              </a:rPr>
              <a:t>Original Image</a:t>
            </a:r>
          </a:p>
        </p:txBody>
      </p:sp>
      <p:sp>
        <p:nvSpPr>
          <p:cNvPr id="28680" name="Text Box 9"/>
          <p:cNvSpPr txBox="1">
            <a:spLocks noChangeArrowheads="1"/>
          </p:cNvSpPr>
          <p:nvPr/>
        </p:nvSpPr>
        <p:spPr bwMode="auto">
          <a:xfrm>
            <a:off x="6477000" y="1417638"/>
            <a:ext cx="2092325"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ctr" eaLnBrk="1" hangingPunct="1">
              <a:lnSpc>
                <a:spcPct val="95000"/>
              </a:lnSpc>
              <a:spcBef>
                <a:spcPct val="0"/>
              </a:spcBef>
              <a:buFontTx/>
              <a:buNone/>
            </a:pPr>
            <a:r>
              <a:rPr lang="en-US" altLang="en-US" sz="2000">
                <a:solidFill>
                  <a:srgbClr val="000000"/>
                </a:solidFill>
                <a:latin typeface="Arial" charset="0"/>
              </a:rPr>
              <a:t>Processed Image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ctrTitle" idx="4294967295"/>
          </p:nvPr>
        </p:nvSpPr>
        <p:spPr>
          <a:xfrm>
            <a:off x="70447" y="109036"/>
            <a:ext cx="10254544" cy="1168400"/>
          </a:xfrm>
        </p:spPr>
        <p:txBody>
          <a:bodyPr lIns="0" tIns="0" rIns="0" bIns="0">
            <a:normAutofit fontScale="90000"/>
          </a:bodyPr>
          <a:lstStyle/>
          <a:p>
            <a:pPr eaLnBrk="1" hangingPunct="1">
              <a:lnSpc>
                <a:spcPct val="95000"/>
              </a:lnSpc>
            </a:pPr>
            <a:r>
              <a:rPr lang="en-US" altLang="en-US" sz="4900">
                <a:solidFill>
                  <a:srgbClr val="000000"/>
                </a:solidFill>
                <a:latin typeface="Arial" charset="0"/>
              </a:rPr>
              <a:t>Morphological Processing Example</a:t>
            </a:r>
          </a:p>
        </p:txBody>
      </p:sp>
      <p:pic>
        <p:nvPicPr>
          <p:cNvPr id="2969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775" y="1449388"/>
            <a:ext cx="6764338" cy="617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 Box 6"/>
          <p:cNvSpPr txBox="1">
            <a:spLocks noChangeArrowheads="1"/>
          </p:cNvSpPr>
          <p:nvPr/>
        </p:nvSpPr>
        <p:spPr bwMode="auto">
          <a:xfrm>
            <a:off x="4359920" y="773982"/>
            <a:ext cx="5492750" cy="190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spcBef>
                <a:spcPct val="20000"/>
              </a:spcBef>
              <a:buChar char="•"/>
              <a:defRPr sz="3200">
                <a:solidFill>
                  <a:schemeClr val="tx1"/>
                </a:solidFill>
                <a:latin typeface="Times New Roman" charset="0"/>
              </a:defRPr>
            </a:lvl1pPr>
            <a:lvl2pPr marL="742950" indent="-342900" eaLnBrk="0" hangingPunct="0">
              <a:spcBef>
                <a:spcPct val="20000"/>
              </a:spcBef>
              <a:buChar char="–"/>
              <a:defRPr sz="2800">
                <a:solidFill>
                  <a:schemeClr val="tx1"/>
                </a:solidFill>
                <a:latin typeface="Times New Roman" charset="0"/>
              </a:defRPr>
            </a:lvl2pPr>
            <a:lvl3pPr marL="857250" indent="-285750" eaLnBrk="0" hangingPunct="0">
              <a:spcBef>
                <a:spcPct val="20000"/>
              </a:spcBef>
              <a:buChar char="•"/>
              <a:defRPr sz="2400">
                <a:solidFill>
                  <a:schemeClr val="tx1"/>
                </a:solidFill>
                <a:latin typeface="Times New Roman" charset="0"/>
              </a:defRPr>
            </a:lvl3pPr>
            <a:lvl4pPr marL="1257300" indent="-228600" eaLnBrk="0" hangingPunct="0">
              <a:spcBef>
                <a:spcPct val="20000"/>
              </a:spcBef>
              <a:buChar char="–"/>
              <a:defRPr sz="2000">
                <a:solidFill>
                  <a:schemeClr val="tx1"/>
                </a:solidFill>
                <a:latin typeface="Times New Roman" charset="0"/>
              </a:defRPr>
            </a:lvl4pPr>
            <a:lvl5pPr marL="1714500" indent="-228600" eaLnBrk="0" hangingPunct="0">
              <a:spcBef>
                <a:spcPct val="20000"/>
              </a:spcBef>
              <a:buChar char="»"/>
              <a:defRPr sz="2000">
                <a:solidFill>
                  <a:schemeClr val="tx1"/>
                </a:solidFill>
                <a:latin typeface="Times New Roman" charset="0"/>
              </a:defRPr>
            </a:lvl5pPr>
            <a:lvl6pPr marL="2171700" indent="-228600" eaLnBrk="0" fontAlgn="base" hangingPunct="0">
              <a:spcBef>
                <a:spcPct val="20000"/>
              </a:spcBef>
              <a:spcAft>
                <a:spcPct val="0"/>
              </a:spcAft>
              <a:buChar char="»"/>
              <a:defRPr sz="2000">
                <a:solidFill>
                  <a:schemeClr val="tx1"/>
                </a:solidFill>
                <a:latin typeface="Times New Roman" charset="0"/>
              </a:defRPr>
            </a:lvl6pPr>
            <a:lvl7pPr marL="2628900" indent="-228600" eaLnBrk="0" fontAlgn="base" hangingPunct="0">
              <a:spcBef>
                <a:spcPct val="20000"/>
              </a:spcBef>
              <a:spcAft>
                <a:spcPct val="0"/>
              </a:spcAft>
              <a:buChar char="»"/>
              <a:defRPr sz="2000">
                <a:solidFill>
                  <a:schemeClr val="tx1"/>
                </a:solidFill>
                <a:latin typeface="Times New Roman" charset="0"/>
              </a:defRPr>
            </a:lvl7pPr>
            <a:lvl8pPr marL="3086100" indent="-228600" eaLnBrk="0" fontAlgn="base" hangingPunct="0">
              <a:spcBef>
                <a:spcPct val="20000"/>
              </a:spcBef>
              <a:spcAft>
                <a:spcPct val="0"/>
              </a:spcAft>
              <a:buChar char="»"/>
              <a:defRPr sz="2000">
                <a:solidFill>
                  <a:schemeClr val="tx1"/>
                </a:solidFill>
                <a:latin typeface="Times New Roman" charset="0"/>
              </a:defRPr>
            </a:lvl8pPr>
            <a:lvl9pPr marL="3543300" indent="-228600" eaLnBrk="0" fontAlgn="base" hangingPunct="0">
              <a:spcBef>
                <a:spcPct val="20000"/>
              </a:spcBef>
              <a:spcAft>
                <a:spcPct val="0"/>
              </a:spcAft>
              <a:buChar char="»"/>
              <a:defRPr sz="2000">
                <a:solidFill>
                  <a:schemeClr val="tx1"/>
                </a:solidFill>
                <a:latin typeface="Times New Roman" charset="0"/>
              </a:defRPr>
            </a:lvl9pPr>
          </a:lstStyle>
          <a:p>
            <a:pPr algn="r" eaLnBrk="1" hangingPunct="1">
              <a:lnSpc>
                <a:spcPct val="95000"/>
              </a:lnSpc>
              <a:spcBef>
                <a:spcPct val="0"/>
              </a:spcBef>
              <a:buFontTx/>
              <a:buNone/>
            </a:pPr>
            <a:r>
              <a:rPr lang="en-US" altLang="en-US" sz="1300" dirty="0">
                <a:latin typeface="Arial" charset="0"/>
              </a:rPr>
              <a:t>Images taken from Gonzalez &amp; Woods, Digital Image Processing (2002)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a:xfrm>
            <a:off x="853440" y="650240"/>
            <a:ext cx="9264226" cy="1666240"/>
          </a:xfrm>
        </p:spPr>
        <p:txBody>
          <a:bodyPr lIns="0" tIns="0" rIns="0" bIns="0"/>
          <a:lstStyle/>
          <a:p>
            <a:pPr eaLnBrk="1" hangingPunct="1">
              <a:lnSpc>
                <a:spcPct val="95000"/>
              </a:lnSpc>
            </a:pPr>
            <a:r>
              <a:rPr lang="en-US" altLang="en-US" sz="4900">
                <a:solidFill>
                  <a:srgbClr val="000000"/>
                </a:solidFill>
                <a:latin typeface="Arial" charset="0"/>
              </a:rPr>
              <a:t>Morphological Algorithms</a:t>
            </a:r>
          </a:p>
        </p:txBody>
      </p:sp>
      <p:sp>
        <p:nvSpPr>
          <p:cNvPr id="30723" name="Rectangle 2"/>
          <p:cNvSpPr>
            <a:spLocks noGrp="1" noChangeArrowheads="1"/>
          </p:cNvSpPr>
          <p:nvPr>
            <p:ph type="subTitle" idx="4294967295"/>
          </p:nvPr>
        </p:nvSpPr>
        <p:spPr>
          <a:xfrm>
            <a:off x="493128" y="2321928"/>
            <a:ext cx="9055100" cy="4927600"/>
          </a:xfrm>
        </p:spPr>
        <p:txBody>
          <a:bodyPr vert="horz" lIns="0" tIns="0" rIns="0" bIns="0" rtlCol="0" anchor="t">
            <a:normAutofit/>
          </a:bodyPr>
          <a:lstStyle/>
          <a:p>
            <a:pPr algn="l" eaLnBrk="1" hangingPunct="1">
              <a:lnSpc>
                <a:spcPct val="95000"/>
              </a:lnSpc>
              <a:spcBef>
                <a:spcPct val="0"/>
              </a:spcBef>
            </a:pPr>
            <a:r>
              <a:rPr lang="en-US" altLang="en-US" sz="2400" dirty="0">
                <a:solidFill>
                  <a:srgbClr val="000000"/>
                </a:solidFill>
                <a:latin typeface="Arial"/>
                <a:cs typeface="Arial"/>
              </a:rPr>
              <a:t>Using the simple technique we have looked at so far we can begin to consider some more interesting morphological algorithms</a:t>
            </a:r>
            <a:endParaRPr lang="en-US" altLang="en-US" sz="2400" dirty="0">
              <a:latin typeface="Arial"/>
              <a:cs typeface="Arial"/>
            </a:endParaRPr>
          </a:p>
          <a:p>
            <a:pPr algn="l" eaLnBrk="1" hangingPunct="1">
              <a:lnSpc>
                <a:spcPct val="95000"/>
              </a:lnSpc>
              <a:spcBef>
                <a:spcPct val="0"/>
              </a:spcBef>
            </a:pPr>
            <a:r>
              <a:rPr lang="en-US" altLang="en-US" sz="2400" dirty="0">
                <a:solidFill>
                  <a:srgbClr val="000000"/>
                </a:solidFill>
                <a:latin typeface="Arial"/>
                <a:cs typeface="Arial"/>
              </a:rPr>
              <a:t>We will look at:</a:t>
            </a:r>
            <a:endParaRPr lang="en-US" altLang="en-US" sz="2400" dirty="0">
              <a:latin typeface="Arial"/>
              <a:cs typeface="Arial"/>
            </a:endParaRPr>
          </a:p>
          <a:p>
            <a:pPr marL="264795" lvl="1" indent="-342900" algn="l" eaLnBrk="1" hangingPunct="1">
              <a:lnSpc>
                <a:spcPct val="95000"/>
              </a:lnSpc>
              <a:spcBef>
                <a:spcPct val="0"/>
              </a:spcBef>
              <a:buClr>
                <a:srgbClr val="000000"/>
              </a:buClr>
              <a:buFontTx/>
              <a:buChar char="•"/>
            </a:pPr>
            <a:r>
              <a:rPr lang="en-US" altLang="en-US" sz="2400" dirty="0">
                <a:solidFill>
                  <a:srgbClr val="000000"/>
                </a:solidFill>
                <a:latin typeface="Arial"/>
                <a:cs typeface="Arial"/>
              </a:rPr>
              <a:t>Boundary extraction</a:t>
            </a:r>
            <a:endParaRPr lang="en-US" altLang="en-US" sz="2400" dirty="0">
              <a:latin typeface="Arial"/>
              <a:cs typeface="Arial"/>
            </a:endParaRPr>
          </a:p>
          <a:p>
            <a:pPr marL="264795" lvl="1" indent="-342900" algn="l" eaLnBrk="1" hangingPunct="1">
              <a:lnSpc>
                <a:spcPct val="95000"/>
              </a:lnSpc>
              <a:spcBef>
                <a:spcPct val="0"/>
              </a:spcBef>
              <a:buClr>
                <a:srgbClr val="000000"/>
              </a:buClr>
              <a:buFontTx/>
              <a:buChar char="•"/>
            </a:pPr>
            <a:r>
              <a:rPr lang="en-US" altLang="en-US" sz="2400" dirty="0">
                <a:solidFill>
                  <a:srgbClr val="000000"/>
                </a:solidFill>
                <a:latin typeface="Arial"/>
                <a:cs typeface="Arial"/>
              </a:rPr>
              <a:t>Region filling</a:t>
            </a:r>
            <a:endParaRPr lang="en-US" altLang="en-US" sz="2400" dirty="0">
              <a:latin typeface="Arial"/>
              <a:cs typeface="Arial"/>
            </a:endParaRPr>
          </a:p>
          <a:p>
            <a:pPr marL="264795" lvl="1" indent="-342900" algn="l" eaLnBrk="1" hangingPunct="1">
              <a:lnSpc>
                <a:spcPct val="95000"/>
              </a:lnSpc>
              <a:spcBef>
                <a:spcPct val="0"/>
              </a:spcBef>
              <a:buClr>
                <a:srgbClr val="000000"/>
              </a:buClr>
              <a:buFontTx/>
              <a:buChar char="•"/>
            </a:pPr>
            <a:r>
              <a:rPr lang="en-US" altLang="en-US" sz="2400" dirty="0">
                <a:solidFill>
                  <a:srgbClr val="000000"/>
                </a:solidFill>
                <a:latin typeface="Arial"/>
                <a:cs typeface="Arial"/>
              </a:rPr>
              <a:t>Extraction of connected components</a:t>
            </a:r>
            <a:endParaRPr lang="en-US" altLang="en-US" sz="2400" dirty="0">
              <a:latin typeface="Arial"/>
              <a:cs typeface="Arial"/>
            </a:endParaRPr>
          </a:p>
          <a:p>
            <a:pPr marL="264795" lvl="1" indent="-342900" algn="l" eaLnBrk="1" hangingPunct="1">
              <a:lnSpc>
                <a:spcPct val="95000"/>
              </a:lnSpc>
              <a:spcBef>
                <a:spcPct val="0"/>
              </a:spcBef>
              <a:buClr>
                <a:srgbClr val="000000"/>
              </a:buClr>
              <a:buFontTx/>
              <a:buChar char="•"/>
            </a:pPr>
            <a:r>
              <a:rPr lang="en-US" altLang="en-US" sz="2400" dirty="0">
                <a:solidFill>
                  <a:srgbClr val="000000"/>
                </a:solidFill>
                <a:latin typeface="Arial"/>
                <a:cs typeface="Arial"/>
              </a:rPr>
              <a:t>Thinning/thickening</a:t>
            </a:r>
            <a:endParaRPr lang="en-US" altLang="en-US" sz="2400" dirty="0">
              <a:latin typeface="Arial"/>
              <a:cs typeface="Arial"/>
            </a:endParaRPr>
          </a:p>
          <a:p>
            <a:pPr marL="264795" lvl="1" indent="-342900" algn="l" eaLnBrk="1" hangingPunct="1">
              <a:lnSpc>
                <a:spcPct val="95000"/>
              </a:lnSpc>
              <a:spcBef>
                <a:spcPct val="0"/>
              </a:spcBef>
              <a:buClr>
                <a:srgbClr val="000000"/>
              </a:buClr>
              <a:buFontTx/>
              <a:buChar char="•"/>
            </a:pPr>
            <a:r>
              <a:rPr lang="en-US" altLang="en-US" sz="2400" dirty="0">
                <a:solidFill>
                  <a:srgbClr val="000000"/>
                </a:solidFill>
                <a:latin typeface="Arial"/>
                <a:cs typeface="Arial"/>
              </a:rPr>
              <a:t>Skeletonization</a:t>
            </a:r>
            <a:endParaRPr lang="en-US" altLang="en-US" sz="2400" dirty="0">
              <a:latin typeface="Arial"/>
              <a:cs typeface="Arial"/>
            </a:endParaRPr>
          </a:p>
          <a:p>
            <a:pPr marL="264795" lvl="1" indent="-342900" algn="l" eaLnBrk="1" hangingPunct="1">
              <a:lnSpc>
                <a:spcPct val="95000"/>
              </a:lnSpc>
              <a:spcBef>
                <a:spcPct val="0"/>
              </a:spcBef>
              <a:buClr>
                <a:srgbClr val="000000"/>
              </a:buClr>
              <a:buFontTx/>
              <a:buChar char="•"/>
            </a:pPr>
            <a:r>
              <a:rPr lang="en-US" altLang="en-US" sz="2400" dirty="0">
                <a:solidFill>
                  <a:srgbClr val="000000"/>
                </a:solidFill>
                <a:latin typeface="Arial"/>
                <a:cs typeface="Arial"/>
              </a:rPr>
              <a:t>Convex Hull</a:t>
            </a:r>
            <a:endParaRPr lang="en-US" altLang="en-US" sz="2400" dirty="0">
              <a:latin typeface="Arial"/>
              <a:cs typeface="Arial"/>
            </a:endParaRPr>
          </a:p>
          <a:p>
            <a:pPr marL="264795" lvl="1" indent="-342900" algn="l" eaLnBrk="1" hangingPunct="1">
              <a:lnSpc>
                <a:spcPct val="95000"/>
              </a:lnSpc>
              <a:spcBef>
                <a:spcPct val="0"/>
              </a:spcBef>
              <a:buClr>
                <a:srgbClr val="000000"/>
              </a:buClr>
              <a:buFontTx/>
              <a:buChar char="•"/>
            </a:pPr>
            <a:r>
              <a:rPr lang="en-US" altLang="en-US" sz="2400" dirty="0">
                <a:solidFill>
                  <a:srgbClr val="000000"/>
                </a:solidFill>
                <a:latin typeface="Arial"/>
                <a:cs typeface="Arial"/>
              </a:rPr>
              <a:t>Pruning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IN" altLang="en-US"/>
              <a:t>Hit and Miss Transform</a:t>
            </a:r>
          </a:p>
        </p:txBody>
      </p:sp>
      <p:sp>
        <p:nvSpPr>
          <p:cNvPr id="31747" name="Content Placeholder 2"/>
          <p:cNvSpPr>
            <a:spLocks noGrp="1"/>
          </p:cNvSpPr>
          <p:nvPr>
            <p:ph idx="1"/>
          </p:nvPr>
        </p:nvSpPr>
        <p:spPr>
          <a:xfrm>
            <a:off x="597487" y="1912313"/>
            <a:ext cx="9306926" cy="5521619"/>
          </a:xfrm>
        </p:spPr>
        <p:txBody>
          <a:bodyPr vert="horz" lIns="45720" tIns="45720" rIns="45720" bIns="45720" rtlCol="0" anchor="t">
            <a:normAutofit/>
          </a:bodyPr>
          <a:lstStyle/>
          <a:p>
            <a:pPr algn="just"/>
            <a:r>
              <a:rPr lang="en-IN" altLang="en-US" dirty="0"/>
              <a:t>T</a:t>
            </a:r>
            <a:r>
              <a:rPr lang="en-IN" altLang="en-US" sz="2800" dirty="0"/>
              <a:t>he hit-or-miss transform is a transformation which is used for template matching. </a:t>
            </a:r>
          </a:p>
          <a:p>
            <a:pPr algn="just"/>
            <a:r>
              <a:rPr lang="en-IN" altLang="en-US" sz="2800" dirty="0"/>
              <a:t>The transformation involves two template sets, B and (W−B), which are disjoint. </a:t>
            </a:r>
          </a:p>
          <a:p>
            <a:pPr algn="just"/>
            <a:r>
              <a:rPr lang="en-IN" altLang="en-US" sz="2800" dirty="0"/>
              <a:t>Template B is used to match the foreground image, while (W−B) is used to match the background of the image. </a:t>
            </a:r>
          </a:p>
          <a:p>
            <a:pPr algn="just" eaLnBrk="1" hangingPunct="1"/>
            <a:r>
              <a:rPr lang="en-IN" altLang="en-US" sz="2800" dirty="0"/>
              <a:t>The hit-or-miss transformation is the intersection of the erosion of the foreground with B and the erosion of the background with (W−B).</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81213"/>
            <a:ext cx="9955213" cy="2592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8" y="1506538"/>
            <a:ext cx="9623425" cy="3959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63" y="361950"/>
            <a:ext cx="10048875" cy="691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 y="1162050"/>
            <a:ext cx="10086975" cy="509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FCA3241-1EE2-78B2-CF71-1F1A7C0C3ED5}"/>
              </a:ext>
            </a:extLst>
          </p:cNvPr>
          <p:cNvSpPr>
            <a:spLocks noGrp="1"/>
          </p:cNvSpPr>
          <p:nvPr>
            <p:ph idx="1"/>
          </p:nvPr>
        </p:nvSpPr>
        <p:spPr/>
        <p:txBody>
          <a:bodyPr vert="horz" lIns="45720" tIns="45720" rIns="45720" bIns="45720" rtlCol="0" anchor="t">
            <a:normAutofit/>
          </a:bodyPr>
          <a:lstStyle/>
          <a:p>
            <a:r>
              <a:rPr lang="en-US" b="1" dirty="0"/>
              <a:t>5.2 </a:t>
            </a:r>
          </a:p>
          <a:p>
            <a:r>
              <a:rPr lang="en-US" dirty="0">
                <a:ea typeface="+mn-lt"/>
                <a:cs typeface="+mn-lt"/>
              </a:rPr>
              <a:t>Introduction, redundancies: coding, inter-pixel, psycho-visual, compression ratio, fidelity criteria</a:t>
            </a:r>
            <a:endParaRPr lang="en-US" dirty="0"/>
          </a:p>
          <a:p>
            <a:r>
              <a:rPr lang="en-US" dirty="0">
                <a:ea typeface="+mn-lt"/>
                <a:cs typeface="+mn-lt"/>
              </a:rPr>
              <a:t>Lossless compression techniques: Run length coding, Arithmetic coding, Huffman coding, Differential PCM</a:t>
            </a:r>
          </a:p>
          <a:p>
            <a:r>
              <a:rPr lang="en-IN" b="1" dirty="0"/>
              <a:t>5.3</a:t>
            </a:r>
          </a:p>
          <a:p>
            <a:r>
              <a:rPr lang="en-IN" dirty="0" err="1"/>
              <a:t>Lossy</a:t>
            </a:r>
            <a:r>
              <a:rPr lang="en-IN" dirty="0"/>
              <a:t> Compression techniques: Improved grey scale quantization, Vector quantization, Transform coding, JPEG.</a:t>
            </a:r>
            <a:endParaRPr lang="en-US" dirty="0"/>
          </a:p>
        </p:txBody>
      </p:sp>
      <p:sp>
        <p:nvSpPr>
          <p:cNvPr id="4" name="Title 3"/>
          <p:cNvSpPr>
            <a:spLocks noGrp="1"/>
          </p:cNvSpPr>
          <p:nvPr>
            <p:ph type="title"/>
          </p:nvPr>
        </p:nvSpPr>
        <p:spPr/>
        <p:txBody>
          <a:bodyPr/>
          <a:lstStyle/>
          <a:p>
            <a:endParaRPr lang="en-IN"/>
          </a:p>
        </p:txBody>
      </p:sp>
    </p:spTree>
    <p:extLst>
      <p:ext uri="{BB962C8B-B14F-4D97-AF65-F5344CB8AC3E}">
        <p14:creationId xmlns:p14="http://schemas.microsoft.com/office/powerpoint/2010/main" val="4201268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C21804-9E15-1539-41B9-B186D2DCC57E}"/>
              </a:ext>
            </a:extLst>
          </p:cNvPr>
          <p:cNvSpPr>
            <a:spLocks noGrp="1"/>
          </p:cNvSpPr>
          <p:nvPr>
            <p:ph type="title"/>
          </p:nvPr>
        </p:nvSpPr>
        <p:spPr/>
        <p:txBody>
          <a:bodyPr/>
          <a:lstStyle/>
          <a:p>
            <a:r>
              <a:rPr lang="en-US" dirty="0"/>
              <a:t>Image Compression</a:t>
            </a:r>
          </a:p>
        </p:txBody>
      </p:sp>
      <p:pic>
        <p:nvPicPr>
          <p:cNvPr id="4" name="Picture 4" descr="Text&#10;&#10;Description automatically generated">
            <a:extLst>
              <a:ext uri="{FF2B5EF4-FFF2-40B4-BE49-F238E27FC236}">
                <a16:creationId xmlns="" xmlns:a16="http://schemas.microsoft.com/office/drawing/2014/main" id="{90A742B3-1BF1-4363-A0E5-3F6FEF7F5C33}"/>
              </a:ext>
            </a:extLst>
          </p:cNvPr>
          <p:cNvPicPr>
            <a:picLocks noGrp="1" noChangeAspect="1"/>
          </p:cNvPicPr>
          <p:nvPr>
            <p:ph idx="1"/>
          </p:nvPr>
        </p:nvPicPr>
        <p:blipFill>
          <a:blip r:embed="rId2"/>
          <a:stretch>
            <a:fillRect/>
          </a:stretch>
        </p:blipFill>
        <p:spPr>
          <a:xfrm>
            <a:off x="926784" y="2684462"/>
            <a:ext cx="7953375" cy="4181475"/>
          </a:xfrm>
        </p:spPr>
      </p:pic>
    </p:spTree>
    <p:extLst>
      <p:ext uri="{BB962C8B-B14F-4D97-AF65-F5344CB8AC3E}">
        <p14:creationId xmlns:p14="http://schemas.microsoft.com/office/powerpoint/2010/main" val="1691772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BA1652-D7D9-8E48-1B88-F12ECD17880B}"/>
              </a:ext>
            </a:extLst>
          </p:cNvPr>
          <p:cNvSpPr>
            <a:spLocks noGrp="1"/>
          </p:cNvSpPr>
          <p:nvPr>
            <p:ph type="title"/>
          </p:nvPr>
        </p:nvSpPr>
        <p:spPr/>
        <p:txBody>
          <a:bodyPr/>
          <a:lstStyle/>
          <a:p>
            <a:r>
              <a:rPr lang="en-US" dirty="0"/>
              <a:t>Compression ratio</a:t>
            </a:r>
          </a:p>
        </p:txBody>
      </p:sp>
      <p:pic>
        <p:nvPicPr>
          <p:cNvPr id="4" name="Picture 4" descr="Text, letter&#10;&#10;Description automatically generated">
            <a:extLst>
              <a:ext uri="{FF2B5EF4-FFF2-40B4-BE49-F238E27FC236}">
                <a16:creationId xmlns="" xmlns:a16="http://schemas.microsoft.com/office/drawing/2014/main" id="{6538E2CC-26AB-D0EB-D402-8F5AB1451734}"/>
              </a:ext>
            </a:extLst>
          </p:cNvPr>
          <p:cNvPicPr>
            <a:picLocks noGrp="1" noChangeAspect="1"/>
          </p:cNvPicPr>
          <p:nvPr>
            <p:ph idx="1"/>
          </p:nvPr>
        </p:nvPicPr>
        <p:blipFill>
          <a:blip r:embed="rId2"/>
          <a:stretch>
            <a:fillRect/>
          </a:stretch>
        </p:blipFill>
        <p:spPr>
          <a:xfrm>
            <a:off x="855346" y="2116081"/>
            <a:ext cx="8096250" cy="3181350"/>
          </a:xfrm>
        </p:spPr>
      </p:pic>
    </p:spTree>
    <p:extLst>
      <p:ext uri="{BB962C8B-B14F-4D97-AF65-F5344CB8AC3E}">
        <p14:creationId xmlns:p14="http://schemas.microsoft.com/office/powerpoint/2010/main" val="2953289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038526-A110-B645-3A5F-0A7BA310398D}"/>
              </a:ext>
            </a:extLst>
          </p:cNvPr>
          <p:cNvSpPr>
            <a:spLocks noGrp="1"/>
          </p:cNvSpPr>
          <p:nvPr>
            <p:ph type="title"/>
          </p:nvPr>
        </p:nvSpPr>
        <p:spPr/>
        <p:txBody>
          <a:bodyPr/>
          <a:lstStyle/>
          <a:p>
            <a:r>
              <a:rPr lang="en-US" dirty="0">
                <a:ea typeface="+mj-lt"/>
                <a:cs typeface="+mj-lt"/>
              </a:rPr>
              <a:t>Compression ratio</a:t>
            </a:r>
            <a:endParaRPr lang="en-US" dirty="0"/>
          </a:p>
        </p:txBody>
      </p:sp>
      <p:pic>
        <p:nvPicPr>
          <p:cNvPr id="4" name="Picture 4" descr="Text&#10;&#10;Description automatically generated">
            <a:extLst>
              <a:ext uri="{FF2B5EF4-FFF2-40B4-BE49-F238E27FC236}">
                <a16:creationId xmlns="" xmlns:a16="http://schemas.microsoft.com/office/drawing/2014/main" id="{13287608-C649-FCF1-C022-0C307936505C}"/>
              </a:ext>
            </a:extLst>
          </p:cNvPr>
          <p:cNvPicPr>
            <a:picLocks noGrp="1" noChangeAspect="1"/>
          </p:cNvPicPr>
          <p:nvPr>
            <p:ph idx="1"/>
          </p:nvPr>
        </p:nvPicPr>
        <p:blipFill>
          <a:blip r:embed="rId2"/>
          <a:stretch>
            <a:fillRect/>
          </a:stretch>
        </p:blipFill>
        <p:spPr>
          <a:xfrm>
            <a:off x="853440" y="2873896"/>
            <a:ext cx="8100061" cy="3828434"/>
          </a:xfrm>
        </p:spPr>
      </p:pic>
    </p:spTree>
    <p:extLst>
      <p:ext uri="{BB962C8B-B14F-4D97-AF65-F5344CB8AC3E}">
        <p14:creationId xmlns:p14="http://schemas.microsoft.com/office/powerpoint/2010/main" val="1998932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Redundancy and compression ratio</a:t>
            </a:r>
          </a:p>
        </p:txBody>
      </p:sp>
      <p:sp>
        <p:nvSpPr>
          <p:cNvPr id="3" name="Content Placeholder 2"/>
          <p:cNvSpPr>
            <a:spLocks noGrp="1"/>
          </p:cNvSpPr>
          <p:nvPr>
            <p:ph idx="1"/>
          </p:nvPr>
        </p:nvSpPr>
        <p:spPr/>
        <p:txBody>
          <a:bodyPr/>
          <a:lstStyle/>
          <a:p>
            <a:endParaRPr lang="en-IN"/>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480" y="2441848"/>
            <a:ext cx="9758622"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2232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788E25-7768-BDE6-7530-B8DC6BC929DF}"/>
              </a:ext>
            </a:extLst>
          </p:cNvPr>
          <p:cNvSpPr>
            <a:spLocks noGrp="1"/>
          </p:cNvSpPr>
          <p:nvPr>
            <p:ph type="title"/>
          </p:nvPr>
        </p:nvSpPr>
        <p:spPr/>
        <p:txBody>
          <a:bodyPr/>
          <a:lstStyle/>
          <a:p>
            <a:r>
              <a:rPr lang="en-US" dirty="0" err="1"/>
              <a:t>IMage</a:t>
            </a:r>
            <a:r>
              <a:rPr lang="en-US" dirty="0"/>
              <a:t> Data redundancies</a:t>
            </a:r>
          </a:p>
        </p:txBody>
      </p:sp>
      <p:pic>
        <p:nvPicPr>
          <p:cNvPr id="4" name="Picture 4" descr="Text, letter&#10;&#10;Description automatically generated">
            <a:extLst>
              <a:ext uri="{FF2B5EF4-FFF2-40B4-BE49-F238E27FC236}">
                <a16:creationId xmlns="" xmlns:a16="http://schemas.microsoft.com/office/drawing/2014/main" id="{B4460089-3D6D-EF1F-6128-633269048792}"/>
              </a:ext>
            </a:extLst>
          </p:cNvPr>
          <p:cNvPicPr>
            <a:picLocks noGrp="1" noChangeAspect="1"/>
          </p:cNvPicPr>
          <p:nvPr>
            <p:ph idx="1"/>
          </p:nvPr>
        </p:nvPicPr>
        <p:blipFill>
          <a:blip r:embed="rId2"/>
          <a:stretch>
            <a:fillRect/>
          </a:stretch>
        </p:blipFill>
        <p:spPr>
          <a:xfrm>
            <a:off x="898209" y="2932112"/>
            <a:ext cx="8010525" cy="3686175"/>
          </a:xfrm>
        </p:spPr>
      </p:pic>
    </p:spTree>
    <p:extLst>
      <p:ext uri="{BB962C8B-B14F-4D97-AF65-F5344CB8AC3E}">
        <p14:creationId xmlns:p14="http://schemas.microsoft.com/office/powerpoint/2010/main" val="24293117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0E95E9-097C-871F-BC4D-72ED1A0BBECB}"/>
              </a:ext>
            </a:extLst>
          </p:cNvPr>
          <p:cNvSpPr>
            <a:spLocks noGrp="1"/>
          </p:cNvSpPr>
          <p:nvPr>
            <p:ph type="title"/>
          </p:nvPr>
        </p:nvSpPr>
        <p:spPr/>
        <p:txBody>
          <a:bodyPr/>
          <a:lstStyle/>
          <a:p>
            <a:r>
              <a:rPr lang="en-US" dirty="0">
                <a:ea typeface="+mj-lt"/>
                <a:cs typeface="+mj-lt"/>
              </a:rPr>
              <a:t>IMAGE DATA REDUNDANCIES</a:t>
            </a:r>
            <a:endParaRPr lang="en-US" dirty="0"/>
          </a:p>
        </p:txBody>
      </p:sp>
      <p:pic>
        <p:nvPicPr>
          <p:cNvPr id="4" name="Picture 4" descr="Text&#10;&#10;Description automatically generated">
            <a:extLst>
              <a:ext uri="{FF2B5EF4-FFF2-40B4-BE49-F238E27FC236}">
                <a16:creationId xmlns="" xmlns:a16="http://schemas.microsoft.com/office/drawing/2014/main" id="{5301E52B-D860-6965-8062-01DC9BAC14C1}"/>
              </a:ext>
            </a:extLst>
          </p:cNvPr>
          <p:cNvPicPr>
            <a:picLocks noGrp="1" noChangeAspect="1"/>
          </p:cNvPicPr>
          <p:nvPr>
            <p:ph idx="1"/>
          </p:nvPr>
        </p:nvPicPr>
        <p:blipFill>
          <a:blip r:embed="rId2"/>
          <a:stretch>
            <a:fillRect/>
          </a:stretch>
        </p:blipFill>
        <p:spPr>
          <a:xfrm>
            <a:off x="759861" y="2594357"/>
            <a:ext cx="7981950" cy="2952750"/>
          </a:xfrm>
        </p:spPr>
      </p:pic>
    </p:spTree>
    <p:extLst>
      <p:ext uri="{BB962C8B-B14F-4D97-AF65-F5344CB8AC3E}">
        <p14:creationId xmlns:p14="http://schemas.microsoft.com/office/powerpoint/2010/main" val="1689015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 y="-88156"/>
            <a:ext cx="9015164" cy="6349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32" y="6186264"/>
            <a:ext cx="9024788" cy="1406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74656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457" y="512440"/>
            <a:ext cx="9865096" cy="3808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575944" y="1433736"/>
            <a:ext cx="3759362" cy="461665"/>
          </a:xfrm>
          <a:prstGeom prst="rect">
            <a:avLst/>
          </a:prstGeom>
        </p:spPr>
        <p:txBody>
          <a:bodyPr wrap="none">
            <a:spAutoFit/>
          </a:bodyPr>
          <a:lstStyle/>
          <a:p>
            <a:r>
              <a:rPr lang="en-IN" dirty="0"/>
              <a:t>The relative data redundancy</a:t>
            </a:r>
          </a:p>
        </p:txBody>
      </p:sp>
    </p:spTree>
    <p:extLst>
      <p:ext uri="{BB962C8B-B14F-4D97-AF65-F5344CB8AC3E}">
        <p14:creationId xmlns:p14="http://schemas.microsoft.com/office/powerpoint/2010/main" val="1167329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AACB4C-EC1E-60E6-996C-824F0C54EA49}"/>
              </a:ext>
            </a:extLst>
          </p:cNvPr>
          <p:cNvSpPr>
            <a:spLocks noGrp="1"/>
          </p:cNvSpPr>
          <p:nvPr>
            <p:ph type="title"/>
          </p:nvPr>
        </p:nvSpPr>
        <p:spPr/>
        <p:txBody>
          <a:bodyPr/>
          <a:lstStyle/>
          <a:p>
            <a:r>
              <a:rPr lang="en-US" dirty="0"/>
              <a:t>Huffman coding</a:t>
            </a:r>
          </a:p>
        </p:txBody>
      </p:sp>
      <p:pic>
        <p:nvPicPr>
          <p:cNvPr id="4" name="Picture 4" descr="Table&#10;&#10;Description automatically generated">
            <a:extLst>
              <a:ext uri="{FF2B5EF4-FFF2-40B4-BE49-F238E27FC236}">
                <a16:creationId xmlns="" xmlns:a16="http://schemas.microsoft.com/office/drawing/2014/main" id="{0BEDD9E5-6A89-B11A-09E0-082F2B84E190}"/>
              </a:ext>
            </a:extLst>
          </p:cNvPr>
          <p:cNvPicPr>
            <a:picLocks noGrp="1" noChangeAspect="1"/>
          </p:cNvPicPr>
          <p:nvPr>
            <p:ph idx="1"/>
          </p:nvPr>
        </p:nvPicPr>
        <p:blipFill>
          <a:blip r:embed="rId2"/>
          <a:stretch>
            <a:fillRect/>
          </a:stretch>
        </p:blipFill>
        <p:spPr>
          <a:xfrm>
            <a:off x="278125" y="2594826"/>
            <a:ext cx="9910986" cy="4373701"/>
          </a:xfrm>
        </p:spPr>
      </p:pic>
    </p:spTree>
    <p:extLst>
      <p:ext uri="{BB962C8B-B14F-4D97-AF65-F5344CB8AC3E}">
        <p14:creationId xmlns:p14="http://schemas.microsoft.com/office/powerpoint/2010/main" val="3640462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12" y="2009800"/>
            <a:ext cx="9058275" cy="5000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60876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Interpixel</a:t>
            </a:r>
            <a:r>
              <a:rPr lang="en-IN" b="1" dirty="0"/>
              <a:t> redundancy</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28" y="2081807"/>
            <a:ext cx="9073008" cy="5485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3"/>
          <p:cNvSpPr>
            <a:spLocks noGrp="1"/>
          </p:cNvSpPr>
          <p:nvPr>
            <p:ph idx="1"/>
          </p:nvPr>
        </p:nvSpPr>
        <p:spPr/>
        <p:txBody>
          <a:bodyPr/>
          <a:lstStyle/>
          <a:p>
            <a:endParaRPr lang="en-IN"/>
          </a:p>
        </p:txBody>
      </p:sp>
    </p:spTree>
    <p:extLst>
      <p:ext uri="{BB962C8B-B14F-4D97-AF65-F5344CB8AC3E}">
        <p14:creationId xmlns:p14="http://schemas.microsoft.com/office/powerpoint/2010/main" val="4162623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Run length encoding</a:t>
            </a:r>
          </a:p>
        </p:txBody>
      </p:sp>
      <p:sp>
        <p:nvSpPr>
          <p:cNvPr id="3" name="Content Placeholder 2"/>
          <p:cNvSpPr>
            <a:spLocks noGrp="1"/>
          </p:cNvSpPr>
          <p:nvPr>
            <p:ph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9725" y="2513856"/>
            <a:ext cx="694055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085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run-length encoding?</a:t>
            </a:r>
            <a:endParaRPr lang="en-IN" dirty="0"/>
          </a:p>
        </p:txBody>
      </p:sp>
      <p:sp>
        <p:nvSpPr>
          <p:cNvPr id="3" name="Content Placeholder 2"/>
          <p:cNvSpPr>
            <a:spLocks noGrp="1"/>
          </p:cNvSpPr>
          <p:nvPr>
            <p:ph idx="1"/>
          </p:nvPr>
        </p:nvSpPr>
        <p:spPr/>
        <p:txBody>
          <a:bodyPr/>
          <a:lstStyle/>
          <a:p>
            <a:pPr fontAlgn="base"/>
            <a:r>
              <a:rPr lang="en-US" dirty="0"/>
              <a:t>Run-length encoding (RLE) is a lossless compression method where sequences that display redundant data are stored as a single data value representing the repeated block and how many times it appears in the image.</a:t>
            </a:r>
          </a:p>
          <a:p>
            <a:pPr fontAlgn="base"/>
            <a:r>
              <a:rPr lang="en-US" dirty="0"/>
              <a:t>Later, during decompression, the image can be reconstructed exactly from this information.</a:t>
            </a:r>
          </a:p>
          <a:p>
            <a:pPr fontAlgn="base"/>
            <a:r>
              <a:rPr lang="en-US" dirty="0"/>
              <a:t>This type of compression works best with simple images and animations that have a lot of redundant pixels. It's useful for black and white images in particular. </a:t>
            </a:r>
          </a:p>
          <a:p>
            <a:pPr fontAlgn="base"/>
            <a:r>
              <a:rPr lang="en-US" dirty="0"/>
              <a:t>For complex images and animations, if there aren't many redundant sections, RLE can make the file size bigger rather than smaller. Thus it's important to understand the content and whether this algorithm will help or hinder.</a:t>
            </a:r>
          </a:p>
          <a:p>
            <a:endParaRPr lang="en-IN" dirty="0"/>
          </a:p>
        </p:txBody>
      </p:sp>
    </p:spTree>
    <p:extLst>
      <p:ext uri="{BB962C8B-B14F-4D97-AF65-F5344CB8AC3E}">
        <p14:creationId xmlns:p14="http://schemas.microsoft.com/office/powerpoint/2010/main" val="21300170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Psycho visual Redundancy</a:t>
            </a:r>
          </a:p>
        </p:txBody>
      </p:sp>
      <p:sp>
        <p:nvSpPr>
          <p:cNvPr id="3" name="Content Placeholder 2"/>
          <p:cNvSpPr>
            <a:spLocks noGrp="1"/>
          </p:cNvSpPr>
          <p:nvPr>
            <p:ph idx="1"/>
          </p:nvPr>
        </p:nvSpPr>
        <p:spPr/>
        <p:txBody>
          <a:bodyPr>
            <a:normAutofit/>
          </a:bodyPr>
          <a:lstStyle/>
          <a:p>
            <a:r>
              <a:rPr lang="en-US" dirty="0"/>
              <a:t>The eye and the brain do not respond to all visual information with same sensitivity.</a:t>
            </a:r>
          </a:p>
          <a:p>
            <a:r>
              <a:rPr lang="en-US" dirty="0"/>
              <a:t>Some information is neglected during the processing by the brain. Elimination of this information does not affect the interpretation of the image by the brain.</a:t>
            </a:r>
          </a:p>
          <a:p>
            <a:r>
              <a:rPr lang="en-US" dirty="0"/>
              <a:t>Edges and textural regions are interpreted as important features and the brain groups and correlates such grouping to produce its perception of an object.</a:t>
            </a:r>
          </a:p>
          <a:p>
            <a:r>
              <a:rPr lang="en-US" dirty="0"/>
              <a:t>Psycho visual redundancy is distinctly vision related, and its elimination does result in loss of information. Quantization is an example.</a:t>
            </a:r>
          </a:p>
          <a:p>
            <a:r>
              <a:rPr lang="en-US" dirty="0"/>
              <a:t>When 256 levels are reduced by grouping to 16 levels, objects are still recognizable. The compression is 2:1, but an objectionable graininess and contouring effect results.</a:t>
            </a:r>
            <a:endParaRPr lang="en-IN" dirty="0"/>
          </a:p>
        </p:txBody>
      </p:sp>
    </p:spTree>
    <p:extLst>
      <p:ext uri="{BB962C8B-B14F-4D97-AF65-F5344CB8AC3E}">
        <p14:creationId xmlns:p14="http://schemas.microsoft.com/office/powerpoint/2010/main" val="1228788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IGS Quantization</a:t>
            </a:r>
          </a:p>
        </p:txBody>
      </p:sp>
      <p:sp>
        <p:nvSpPr>
          <p:cNvPr id="3" name="Content Placeholder 2"/>
          <p:cNvSpPr>
            <a:spLocks noGrp="1"/>
          </p:cNvSpPr>
          <p:nvPr>
            <p:ph idx="1"/>
          </p:nvPr>
        </p:nvSpPr>
        <p:spPr/>
        <p:txBody>
          <a:bodyPr/>
          <a:lstStyle/>
          <a:p>
            <a:r>
              <a:rPr lang="en-US" dirty="0"/>
              <a:t>The graininess from quantization can be reduced by Improved Grey Scale quantization which breaks up the edges and contours and makes them less apparent. IGS adds a pseudo random number generated from low order bits of neighboring pixels to each pixel before quantizing them. If most significant bits are all 1, the 0s are added. The </a:t>
            </a:r>
            <a:r>
              <a:rPr lang="en-US" dirty="0" err="1"/>
              <a:t>msbs</a:t>
            </a:r>
            <a:r>
              <a:rPr lang="en-US" dirty="0"/>
              <a:t> </a:t>
            </a:r>
            <a:r>
              <a:rPr lang="en-IN" dirty="0"/>
              <a:t>become the coded value.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438962">
            <a:off x="1681151" y="4472662"/>
            <a:ext cx="6835444" cy="261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66753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fidelity criteria</a:t>
            </a:r>
            <a:endParaRPr lang="en-IN" dirty="0"/>
          </a:p>
        </p:txBody>
      </p:sp>
      <p:sp>
        <p:nvSpPr>
          <p:cNvPr id="3" name="Content Placeholder 2"/>
          <p:cNvSpPr>
            <a:spLocks noGrp="1"/>
          </p:cNvSpPr>
          <p:nvPr>
            <p:ph idx="1"/>
          </p:nvPr>
        </p:nvSpPr>
        <p:spPr/>
        <p:txBody>
          <a:bodyPr/>
          <a:lstStyle/>
          <a:p>
            <a:r>
              <a:rPr lang="en-US" dirty="0"/>
              <a:t>The removal of </a:t>
            </a:r>
            <a:r>
              <a:rPr lang="en-US" dirty="0" err="1"/>
              <a:t>psychovisually</a:t>
            </a:r>
            <a:r>
              <a:rPr lang="en-US" dirty="0"/>
              <a:t> redundant data results in a loss of real or quantitative visual information. Because information of interest may be lost, a repeatable or reproducible means of quantifying the nature and extent of information loss is highly desirable. Two general classes of criteria are used as the basis for such an assessment: </a:t>
            </a:r>
          </a:p>
          <a:p>
            <a:r>
              <a:rPr lang="en-US" dirty="0"/>
              <a:t>A) Objective fidelity criteria</a:t>
            </a:r>
            <a:endParaRPr lang="en-IN" dirty="0"/>
          </a:p>
          <a:p>
            <a:r>
              <a:rPr lang="en-IN" dirty="0"/>
              <a:t>B) Subjective fidelity criteria. </a:t>
            </a:r>
          </a:p>
          <a:p>
            <a:endParaRPr lang="en-IN" dirty="0"/>
          </a:p>
        </p:txBody>
      </p:sp>
    </p:spTree>
    <p:extLst>
      <p:ext uri="{BB962C8B-B14F-4D97-AF65-F5344CB8AC3E}">
        <p14:creationId xmlns:p14="http://schemas.microsoft.com/office/powerpoint/2010/main" val="590312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 fidelity criterion</a:t>
            </a:r>
            <a:endParaRPr lang="en-IN" dirty="0"/>
          </a:p>
        </p:txBody>
      </p:sp>
      <p:sp>
        <p:nvSpPr>
          <p:cNvPr id="3" name="Content Placeholder 2"/>
          <p:cNvSpPr>
            <a:spLocks noGrp="1"/>
          </p:cNvSpPr>
          <p:nvPr>
            <p:ph idx="1"/>
          </p:nvPr>
        </p:nvSpPr>
        <p:spPr/>
        <p:txBody>
          <a:bodyPr/>
          <a:lstStyle/>
          <a:p>
            <a:r>
              <a:rPr lang="en-US" dirty="0"/>
              <a:t>When the level of information loss can be expressed as a function of the original or input image and the compressed and subsequently decompressed output image, it is said to be based on an objective fidelity criterion</a:t>
            </a:r>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519" y="3449960"/>
            <a:ext cx="5491411" cy="417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080000" y="6186264"/>
            <a:ext cx="5080000" cy="923330"/>
          </a:xfrm>
          <a:prstGeom prst="rect">
            <a:avLst/>
          </a:prstGeom>
        </p:spPr>
        <p:txBody>
          <a:bodyPr>
            <a:spAutoFit/>
          </a:bodyPr>
          <a:lstStyle/>
          <a:p>
            <a:r>
              <a:rPr lang="en-US" sz="1800" dirty="0"/>
              <a:t>The </a:t>
            </a:r>
            <a:r>
              <a:rPr lang="en-US" sz="1800" dirty="0" err="1"/>
              <a:t>rms</a:t>
            </a:r>
            <a:r>
              <a:rPr lang="en-US" sz="1800" dirty="0"/>
              <a:t> value of the signal-to-noise ratio, denoted </a:t>
            </a:r>
            <a:r>
              <a:rPr lang="en-US" sz="1800" dirty="0" err="1"/>
              <a:t>SNRrms</a:t>
            </a:r>
            <a:r>
              <a:rPr lang="en-US" sz="1800" dirty="0"/>
              <a:t>, is obtained by taking the square root of Eq. above. </a:t>
            </a:r>
            <a:endParaRPr lang="en-IN" sz="1800" dirty="0"/>
          </a:p>
        </p:txBody>
      </p:sp>
    </p:spTree>
    <p:extLst>
      <p:ext uri="{BB962C8B-B14F-4D97-AF65-F5344CB8AC3E}">
        <p14:creationId xmlns:p14="http://schemas.microsoft.com/office/powerpoint/2010/main" val="13426535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subjective fidelity criterion</a:t>
            </a:r>
            <a:endParaRPr lang="en-IN" dirty="0"/>
          </a:p>
        </p:txBody>
      </p:sp>
      <p:sp>
        <p:nvSpPr>
          <p:cNvPr id="3" name="Content Placeholder 2"/>
          <p:cNvSpPr>
            <a:spLocks noGrp="1"/>
          </p:cNvSpPr>
          <p:nvPr>
            <p:ph idx="1"/>
          </p:nvPr>
        </p:nvSpPr>
        <p:spPr/>
        <p:txBody>
          <a:bodyPr/>
          <a:lstStyle/>
          <a:p>
            <a:r>
              <a:rPr lang="en-US" dirty="0"/>
              <a:t>Although objective fidelity criteria offer a simple and convenient mechanism for evaluating information loss, most decompressed images ultimately are viewed by humans. Consequently, measuring image quality by the subjective evaluations of a human observer often is more appropriate. This can be accomplished by showing a "typical" decompressed image to an appropriate cross section of viewers and averaging their evaluations. The evaluations may be made using an absolute rating scale or by means of side-by-side comparisons of f(x, y) and f^(x, y).</a:t>
            </a:r>
            <a:endParaRPr lang="en-IN" dirty="0"/>
          </a:p>
        </p:txBody>
      </p:sp>
    </p:spTree>
    <p:extLst>
      <p:ext uri="{BB962C8B-B14F-4D97-AF65-F5344CB8AC3E}">
        <p14:creationId xmlns:p14="http://schemas.microsoft.com/office/powerpoint/2010/main" val="16506968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Arithmetic coding</a:t>
            </a:r>
          </a:p>
        </p:txBody>
      </p:sp>
      <p:sp>
        <p:nvSpPr>
          <p:cNvPr id="3" name="Content Placeholder 2"/>
          <p:cNvSpPr>
            <a:spLocks noGrp="1"/>
          </p:cNvSpPr>
          <p:nvPr>
            <p:ph idx="1"/>
          </p:nvPr>
        </p:nvSpPr>
        <p:spPr/>
        <p:txBody>
          <a:bodyPr/>
          <a:lstStyle/>
          <a:p>
            <a:r>
              <a:rPr lang="en-US" b="1" dirty="0"/>
              <a:t>Main Idea of Arithmetic Coding</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535" y="2945904"/>
            <a:ext cx="7710357"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76101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how to obtain the segment 𝑆𝑀 for the message 𝑏</a:t>
            </a:r>
            <a:r>
              <a:rPr lang="en-US" dirty="0" err="1"/>
              <a:t>abc</a:t>
            </a:r>
            <a:r>
              <a:rPr lang="en-US" dirty="0"/>
              <a:t> produced by the source {′𝑎′:0.2,′𝑏′:0.5,′𝑐′:0.3}. </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44" y="3305944"/>
            <a:ext cx="4680520" cy="419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0080" y="3257550"/>
            <a:ext cx="4223334" cy="23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8112" y="5754216"/>
            <a:ext cx="244475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89125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504" y="2081808"/>
            <a:ext cx="8312761" cy="208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1096" y="4314054"/>
            <a:ext cx="3393543" cy="3037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p:nvPr>
        </p:nvSpPr>
        <p:spPr/>
        <p:txBody>
          <a:bodyPr/>
          <a:lstStyle/>
          <a:p>
            <a:r>
              <a:rPr lang="en-IN" dirty="0"/>
              <a:t>Arithmetic coding</a:t>
            </a:r>
          </a:p>
        </p:txBody>
      </p:sp>
      <p:sp>
        <p:nvSpPr>
          <p:cNvPr id="6" name="Content Placeholder 5"/>
          <p:cNvSpPr>
            <a:spLocks noGrp="1"/>
          </p:cNvSpPr>
          <p:nvPr>
            <p:ph idx="1"/>
          </p:nvPr>
        </p:nvSpPr>
        <p:spPr/>
        <p:txBody>
          <a:bodyPr/>
          <a:lstStyle/>
          <a:p>
            <a:endParaRPr lang="en-IN" dirty="0"/>
          </a:p>
        </p:txBody>
      </p:sp>
    </p:spTree>
    <p:extLst>
      <p:ext uri="{BB962C8B-B14F-4D97-AF65-F5344CB8AC3E}">
        <p14:creationId xmlns:p14="http://schemas.microsoft.com/office/powerpoint/2010/main" val="41617854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7" y="2657872"/>
            <a:ext cx="6424107"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997" y="2513856"/>
            <a:ext cx="3297877"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IN" dirty="0"/>
              <a:t>Arithmetic coding</a:t>
            </a:r>
          </a:p>
        </p:txBody>
      </p:sp>
      <p:sp>
        <p:nvSpPr>
          <p:cNvPr id="4" name="Content Placeholder 3"/>
          <p:cNvSpPr>
            <a:spLocks noGrp="1"/>
          </p:cNvSpPr>
          <p:nvPr>
            <p:ph idx="1"/>
          </p:nvPr>
        </p:nvSpPr>
        <p:spPr/>
        <p:txBody>
          <a:bodyPr/>
          <a:lstStyle/>
          <a:p>
            <a:endParaRPr lang="en-IN" dirty="0"/>
          </a:p>
        </p:txBody>
      </p:sp>
    </p:spTree>
    <p:extLst>
      <p:ext uri="{BB962C8B-B14F-4D97-AF65-F5344CB8AC3E}">
        <p14:creationId xmlns:p14="http://schemas.microsoft.com/office/powerpoint/2010/main" val="9829919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Arithmetic coding</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828835392"/>
              </p:ext>
            </p:extLst>
          </p:nvPr>
        </p:nvGraphicFramePr>
        <p:xfrm>
          <a:off x="3783855" y="2540000"/>
          <a:ext cx="5760640" cy="2763520"/>
        </p:xfrm>
        <a:graphic>
          <a:graphicData uri="http://schemas.openxmlformats.org/drawingml/2006/table">
            <a:tbl>
              <a:tblPr firstRow="1" bandRow="1">
                <a:tableStyleId>{5C22544A-7EE6-4342-B048-85BDC9FD1C3A}</a:tableStyleId>
              </a:tblPr>
              <a:tblGrid>
                <a:gridCol w="1152128">
                  <a:extLst>
                    <a:ext uri="{9D8B030D-6E8A-4147-A177-3AD203B41FA5}">
                      <a16:colId xmlns="" xmlns:a16="http://schemas.microsoft.com/office/drawing/2014/main" val="20000"/>
                    </a:ext>
                  </a:extLst>
                </a:gridCol>
                <a:gridCol w="1152128">
                  <a:extLst>
                    <a:ext uri="{9D8B030D-6E8A-4147-A177-3AD203B41FA5}">
                      <a16:colId xmlns="" xmlns:a16="http://schemas.microsoft.com/office/drawing/2014/main" val="20001"/>
                    </a:ext>
                  </a:extLst>
                </a:gridCol>
                <a:gridCol w="1330436">
                  <a:extLst>
                    <a:ext uri="{9D8B030D-6E8A-4147-A177-3AD203B41FA5}">
                      <a16:colId xmlns="" xmlns:a16="http://schemas.microsoft.com/office/drawing/2014/main" val="20002"/>
                    </a:ext>
                  </a:extLst>
                </a:gridCol>
                <a:gridCol w="1189845">
                  <a:extLst>
                    <a:ext uri="{9D8B030D-6E8A-4147-A177-3AD203B41FA5}">
                      <a16:colId xmlns="" xmlns:a16="http://schemas.microsoft.com/office/drawing/2014/main" val="20003"/>
                    </a:ext>
                  </a:extLst>
                </a:gridCol>
                <a:gridCol w="936103">
                  <a:extLst>
                    <a:ext uri="{9D8B030D-6E8A-4147-A177-3AD203B41FA5}">
                      <a16:colId xmlns="" xmlns:a16="http://schemas.microsoft.com/office/drawing/2014/main" val="20004"/>
                    </a:ext>
                  </a:extLst>
                </a:gridCol>
              </a:tblGrid>
              <a:tr h="370840">
                <a:tc>
                  <a:txBody>
                    <a:bodyPr/>
                    <a:lstStyle/>
                    <a:p>
                      <a:r>
                        <a:rPr lang="en-US" sz="1800" dirty="0"/>
                        <a:t>Interval</a:t>
                      </a:r>
                      <a:endParaRPr lang="en-IN" sz="1800" dirty="0"/>
                    </a:p>
                  </a:txBody>
                  <a:tcPr/>
                </a:tc>
                <a:tc gridSpan="3">
                  <a:txBody>
                    <a:bodyPr/>
                    <a:lstStyle/>
                    <a:p>
                      <a:r>
                        <a:rPr lang="en-US" sz="1800" dirty="0"/>
                        <a:t>Subinterval</a:t>
                      </a:r>
                      <a:endParaRPr lang="en-IN" sz="1800" dirty="0"/>
                    </a:p>
                  </a:txBody>
                  <a:tcPr/>
                </a:tc>
                <a:tc hMerge="1">
                  <a:txBody>
                    <a:bodyPr/>
                    <a:lstStyle/>
                    <a:p>
                      <a:endParaRPr lang="en-IN" dirty="0"/>
                    </a:p>
                  </a:txBody>
                  <a:tcPr/>
                </a:tc>
                <a:tc hMerge="1">
                  <a:txBody>
                    <a:bodyPr/>
                    <a:lstStyle/>
                    <a:p>
                      <a:endParaRPr lang="en-IN" dirty="0"/>
                    </a:p>
                  </a:txBody>
                  <a:tcPr/>
                </a:tc>
                <a:tc>
                  <a:txBody>
                    <a:bodyPr/>
                    <a:lstStyle/>
                    <a:p>
                      <a:r>
                        <a:rPr lang="en-US" sz="1800" dirty="0"/>
                        <a:t>Symbol</a:t>
                      </a:r>
                      <a:endParaRPr lang="en-IN" sz="1800" dirty="0"/>
                    </a:p>
                  </a:txBody>
                  <a:tcPr/>
                </a:tc>
                <a:extLst>
                  <a:ext uri="{0D108BD9-81ED-4DB2-BD59-A6C34878D82A}">
                    <a16:rowId xmlns="" xmlns:a16="http://schemas.microsoft.com/office/drawing/2014/main" val="10000"/>
                  </a:ext>
                </a:extLst>
              </a:tr>
              <a:tr h="370840">
                <a:tc>
                  <a:txBody>
                    <a:bodyPr/>
                    <a:lstStyle/>
                    <a:p>
                      <a:r>
                        <a:rPr lang="en-US" sz="1800" dirty="0"/>
                        <a:t>[0,1]</a:t>
                      </a:r>
                      <a:endParaRPr lang="en-IN" sz="1800" dirty="0"/>
                    </a:p>
                  </a:txBody>
                  <a:tcPr/>
                </a:tc>
                <a:tc>
                  <a:txBody>
                    <a:bodyPr/>
                    <a:lstStyle/>
                    <a:p>
                      <a:r>
                        <a:rPr lang="en-US" sz="1800" dirty="0"/>
                        <a:t>[0.0-0.2]</a:t>
                      </a:r>
                      <a:endParaRPr lang="en-IN" sz="1800" dirty="0"/>
                    </a:p>
                  </a:txBody>
                  <a:tcPr/>
                </a:tc>
                <a:tc>
                  <a:txBody>
                    <a:bodyPr/>
                    <a:lstStyle/>
                    <a:p>
                      <a:r>
                        <a:rPr lang="en-US" sz="1800" dirty="0"/>
                        <a:t>[0.2-0.7]</a:t>
                      </a:r>
                      <a:endParaRPr lang="en-IN" sz="1800" dirty="0"/>
                    </a:p>
                  </a:txBody>
                  <a:tcPr/>
                </a:tc>
                <a:tc>
                  <a:txBody>
                    <a:bodyPr/>
                    <a:lstStyle/>
                    <a:p>
                      <a:r>
                        <a:rPr lang="en-US" sz="1800" dirty="0"/>
                        <a:t>[0.7-1.0]</a:t>
                      </a:r>
                      <a:endParaRPr lang="en-IN" sz="1800" dirty="0"/>
                    </a:p>
                  </a:txBody>
                  <a:tcPr/>
                </a:tc>
                <a:tc>
                  <a:txBody>
                    <a:bodyPr/>
                    <a:lstStyle/>
                    <a:p>
                      <a:endParaRPr lang="en-IN" sz="1800" dirty="0"/>
                    </a:p>
                  </a:txBody>
                  <a:tcPr/>
                </a:tc>
                <a:extLst>
                  <a:ext uri="{0D108BD9-81ED-4DB2-BD59-A6C34878D82A}">
                    <a16:rowId xmlns=""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[0.2-0.7]</a:t>
                      </a:r>
                      <a:endParaRPr lang="en-IN" sz="1800" dirty="0"/>
                    </a:p>
                  </a:txBody>
                  <a:tcPr/>
                </a:tc>
                <a:tc>
                  <a:txBody>
                    <a:bodyPr/>
                    <a:lstStyle/>
                    <a:p>
                      <a:r>
                        <a:rPr lang="en-US" sz="1800" dirty="0"/>
                        <a:t>[0.2-0.3]</a:t>
                      </a:r>
                      <a:endParaRPr lang="en-IN" sz="1800" dirty="0"/>
                    </a:p>
                  </a:txBody>
                  <a:tcPr/>
                </a:tc>
                <a:tc>
                  <a:txBody>
                    <a:bodyPr/>
                    <a:lstStyle/>
                    <a:p>
                      <a:r>
                        <a:rPr lang="en-US" sz="1800" dirty="0"/>
                        <a:t>[0.3-0.55]</a:t>
                      </a:r>
                      <a:endParaRPr lang="en-IN" sz="1800" dirty="0"/>
                    </a:p>
                  </a:txBody>
                  <a:tcPr/>
                </a:tc>
                <a:tc>
                  <a:txBody>
                    <a:bodyPr/>
                    <a:lstStyle/>
                    <a:p>
                      <a:r>
                        <a:rPr lang="en-US" sz="1800" dirty="0"/>
                        <a:t>[0.55-0.7]</a:t>
                      </a:r>
                      <a:endParaRPr lang="en-IN" sz="1800" dirty="0"/>
                    </a:p>
                  </a:txBody>
                  <a:tcPr/>
                </a:tc>
                <a:tc>
                  <a:txBody>
                    <a:bodyPr/>
                    <a:lstStyle/>
                    <a:p>
                      <a:r>
                        <a:rPr lang="en-US" sz="1800" dirty="0"/>
                        <a:t>b</a:t>
                      </a:r>
                      <a:endParaRPr lang="en-IN" sz="1800" dirty="0"/>
                    </a:p>
                  </a:txBody>
                  <a:tcPr/>
                </a:tc>
                <a:extLst>
                  <a:ext uri="{0D108BD9-81ED-4DB2-BD59-A6C34878D82A}">
                    <a16:rowId xmlns="" xmlns:a16="http://schemas.microsoft.com/office/drawing/2014/main" val="10002"/>
                  </a:ext>
                </a:extLst>
              </a:tr>
              <a:tr h="370840">
                <a:tc>
                  <a:txBody>
                    <a:bodyPr/>
                    <a:lstStyle/>
                    <a:p>
                      <a:r>
                        <a:rPr lang="en-US" sz="1800" dirty="0"/>
                        <a:t>[0.2-0.3]</a:t>
                      </a:r>
                      <a:endParaRPr lang="en-IN" sz="1800" dirty="0"/>
                    </a:p>
                  </a:txBody>
                  <a:tcPr/>
                </a:tc>
                <a:tc>
                  <a:txBody>
                    <a:bodyPr/>
                    <a:lstStyle/>
                    <a:p>
                      <a:r>
                        <a:rPr lang="en-US" sz="1800" dirty="0"/>
                        <a:t>[0.2-0.22]</a:t>
                      </a:r>
                      <a:endParaRPr lang="en-IN" sz="1800" dirty="0"/>
                    </a:p>
                  </a:txBody>
                  <a:tcPr/>
                </a:tc>
                <a:tc>
                  <a:txBody>
                    <a:bodyPr/>
                    <a:lstStyle/>
                    <a:p>
                      <a:r>
                        <a:rPr lang="en-US" sz="1800" dirty="0"/>
                        <a:t>[0.22-0.27]</a:t>
                      </a:r>
                      <a:endParaRPr lang="en-IN" sz="1800" dirty="0"/>
                    </a:p>
                  </a:txBody>
                  <a:tcPr/>
                </a:tc>
                <a:tc>
                  <a:txBody>
                    <a:bodyPr/>
                    <a:lstStyle/>
                    <a:p>
                      <a:r>
                        <a:rPr lang="en-US" sz="1800" dirty="0"/>
                        <a:t>[0.27-0.3]</a:t>
                      </a:r>
                      <a:endParaRPr lang="en-IN" sz="1800" dirty="0"/>
                    </a:p>
                  </a:txBody>
                  <a:tcPr/>
                </a:tc>
                <a:tc>
                  <a:txBody>
                    <a:bodyPr/>
                    <a:lstStyle/>
                    <a:p>
                      <a:r>
                        <a:rPr lang="en-US" sz="1800" dirty="0"/>
                        <a:t>a</a:t>
                      </a:r>
                      <a:endParaRPr lang="en-IN" sz="1800" dirty="0"/>
                    </a:p>
                  </a:txBody>
                  <a:tcPr/>
                </a:tc>
                <a:extLst>
                  <a:ext uri="{0D108BD9-81ED-4DB2-BD59-A6C34878D82A}">
                    <a16:rowId xmlns="" xmlns:a16="http://schemas.microsoft.com/office/drawing/2014/main" val="10003"/>
                  </a:ext>
                </a:extLst>
              </a:tr>
              <a:tr h="370840">
                <a:tc>
                  <a:txBody>
                    <a:bodyPr/>
                    <a:lstStyle/>
                    <a:p>
                      <a:r>
                        <a:rPr lang="en-US" sz="1800" dirty="0"/>
                        <a:t>[0.22-0.27]</a:t>
                      </a:r>
                      <a:endParaRPr lang="en-IN" sz="1800" dirty="0"/>
                    </a:p>
                  </a:txBody>
                  <a:tcPr/>
                </a:tc>
                <a:tc>
                  <a:txBody>
                    <a:bodyPr/>
                    <a:lstStyle/>
                    <a:p>
                      <a:r>
                        <a:rPr lang="en-US" sz="1800" dirty="0"/>
                        <a:t>[0.22-0.23]</a:t>
                      </a:r>
                      <a:endParaRPr lang="en-IN" sz="1800" dirty="0"/>
                    </a:p>
                  </a:txBody>
                  <a:tcPr/>
                </a:tc>
                <a:tc>
                  <a:txBody>
                    <a:bodyPr/>
                    <a:lstStyle/>
                    <a:p>
                      <a:r>
                        <a:rPr lang="en-US" sz="1800" dirty="0"/>
                        <a:t>[0.23-0.255]</a:t>
                      </a:r>
                      <a:endParaRPr lang="en-IN" sz="1800" dirty="0"/>
                    </a:p>
                  </a:txBody>
                  <a:tcPr/>
                </a:tc>
                <a:tc>
                  <a:txBody>
                    <a:bodyPr/>
                    <a:lstStyle/>
                    <a:p>
                      <a:r>
                        <a:rPr lang="en-US" sz="1800" dirty="0"/>
                        <a:t>[0.255-0.27]</a:t>
                      </a:r>
                      <a:endParaRPr lang="en-IN" sz="1800" dirty="0"/>
                    </a:p>
                  </a:txBody>
                  <a:tcPr/>
                </a:tc>
                <a:tc>
                  <a:txBody>
                    <a:bodyPr/>
                    <a:lstStyle/>
                    <a:p>
                      <a:r>
                        <a:rPr lang="en-US" sz="1800" dirty="0"/>
                        <a:t>b</a:t>
                      </a:r>
                      <a:endParaRPr lang="en-IN" sz="1800" dirty="0"/>
                    </a:p>
                  </a:txBody>
                  <a:tcPr/>
                </a:tc>
                <a:extLst>
                  <a:ext uri="{0D108BD9-81ED-4DB2-BD59-A6C34878D82A}">
                    <a16:rowId xmlns=""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[0.255-0.27]</a:t>
                      </a:r>
                      <a:endParaRPr lang="en-IN" sz="1800" dirty="0"/>
                    </a:p>
                  </a:txBody>
                  <a:tcPr/>
                </a:tc>
                <a:tc>
                  <a:txBody>
                    <a:bodyPr/>
                    <a:lstStyle/>
                    <a:p>
                      <a:endParaRPr lang="en-IN" sz="1800" dirty="0"/>
                    </a:p>
                  </a:txBody>
                  <a:tcPr/>
                </a:tc>
                <a:tc>
                  <a:txBody>
                    <a:bodyPr/>
                    <a:lstStyle/>
                    <a:p>
                      <a:endParaRPr lang="en-IN" sz="1800" dirty="0"/>
                    </a:p>
                  </a:txBody>
                  <a:tcPr/>
                </a:tc>
                <a:tc>
                  <a:txBody>
                    <a:bodyPr/>
                    <a:lstStyle/>
                    <a:p>
                      <a:endParaRPr lang="en-IN" sz="1800" dirty="0"/>
                    </a:p>
                  </a:txBody>
                  <a:tcPr/>
                </a:tc>
                <a:tc>
                  <a:txBody>
                    <a:bodyPr/>
                    <a:lstStyle/>
                    <a:p>
                      <a:r>
                        <a:rPr lang="en-US" sz="1800" dirty="0"/>
                        <a:t>c</a:t>
                      </a:r>
                      <a:endParaRPr lang="en-IN" sz="1800" dirty="0"/>
                    </a:p>
                  </a:txBody>
                  <a:tcPr/>
                </a:tc>
                <a:extLst>
                  <a:ext uri="{0D108BD9-81ED-4DB2-BD59-A6C34878D82A}">
                    <a16:rowId xmlns="" xmlns:a16="http://schemas.microsoft.com/office/drawing/2014/main" val="10005"/>
                  </a:ext>
                </a:extLst>
              </a:tr>
            </a:tbl>
          </a:graphicData>
        </a:graphic>
      </p:graphicFrame>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12218"/>
            <a:ext cx="3297877"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2637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14362049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Vector Quantization </a:t>
            </a:r>
          </a:p>
        </p:txBody>
      </p:sp>
      <p:sp>
        <p:nvSpPr>
          <p:cNvPr id="143362" name="Rectangle 2"/>
          <p:cNvSpPr>
            <a:spLocks noGrp="1" noChangeArrowheads="1"/>
          </p:cNvSpPr>
          <p:nvPr>
            <p:ph idx="1"/>
          </p:nvPr>
        </p:nvSpPr>
        <p:spPr/>
        <p:txBody>
          <a:bodyPr/>
          <a:lstStyle/>
          <a:p>
            <a:pPr>
              <a:buClr>
                <a:schemeClr val="tx1"/>
              </a:buClr>
              <a:buFont typeface="Wingdings" pitchFamily="2" charset="2"/>
              <a:buChar char="ü"/>
            </a:pPr>
            <a:endParaRPr lang="en-US" altLang="en-US" dirty="0"/>
          </a:p>
          <a:p>
            <a:pPr>
              <a:buClr>
                <a:schemeClr val="tx1"/>
              </a:buClr>
              <a:buFontTx/>
              <a:buChar char="•"/>
            </a:pPr>
            <a:r>
              <a:rPr lang="en-US" altLang="en-US" i="1" dirty="0">
                <a:latin typeface="Arial" charset="0"/>
              </a:rPr>
              <a:t>Vector quantization (VQ)</a:t>
            </a:r>
            <a:r>
              <a:rPr lang="en-US" altLang="en-US" dirty="0">
                <a:latin typeface="Arial" charset="0"/>
              </a:rPr>
              <a:t> is the process of mapping a vector that can have many values to a vector that has a smaller (quantized) number of values</a:t>
            </a:r>
          </a:p>
          <a:p>
            <a:pPr>
              <a:buClr>
                <a:schemeClr val="tx1"/>
              </a:buClr>
              <a:buFontTx/>
              <a:buChar char="•"/>
            </a:pPr>
            <a:r>
              <a:rPr lang="en-US" altLang="en-US" dirty="0">
                <a:latin typeface="Arial" charset="0"/>
              </a:rPr>
              <a:t>For image compression, the vector corresponds to a small </a:t>
            </a:r>
            <a:r>
              <a:rPr lang="en-US" altLang="en-US" dirty="0" err="1">
                <a:latin typeface="Arial" charset="0"/>
              </a:rPr>
              <a:t>subimage</a:t>
            </a:r>
            <a:r>
              <a:rPr lang="en-US" altLang="en-US" dirty="0">
                <a:latin typeface="Arial" charset="0"/>
              </a:rPr>
              <a:t>, or block</a:t>
            </a:r>
            <a:r>
              <a:rPr lang="en-US" altLang="en-US" dirty="0"/>
              <a:t> </a:t>
            </a:r>
          </a:p>
        </p:txBody>
      </p:sp>
      <p:sp>
        <p:nvSpPr>
          <p:cNvPr id="3" name="Footer Placeholder 4"/>
          <p:cNvSpPr>
            <a:spLocks noGrp="1"/>
          </p:cNvSpPr>
          <p:nvPr>
            <p:ph type="ftr" sz="quarter" idx="11"/>
          </p:nvPr>
        </p:nvSpPr>
        <p:spPr/>
        <p:txBody>
          <a:bodyPr/>
          <a:lstStyle/>
          <a:p>
            <a:pPr>
              <a:defRPr/>
            </a:pPr>
            <a:r>
              <a:rPr lang="en-US" altLang="en-US"/>
              <a:t>(c) Scott E Umbaugh, SIUE 2005</a:t>
            </a:r>
          </a:p>
        </p:txBody>
      </p:sp>
      <p:sp>
        <p:nvSpPr>
          <p:cNvPr id="4" name="Slide Number Placeholder 5"/>
          <p:cNvSpPr>
            <a:spLocks noGrp="1"/>
          </p:cNvSpPr>
          <p:nvPr>
            <p:ph type="sldNum" sz="quarter" idx="12"/>
          </p:nvPr>
        </p:nvSpPr>
        <p:spPr/>
        <p:txBody>
          <a:bodyPr/>
          <a:lstStyle/>
          <a:p>
            <a:pPr>
              <a:defRPr/>
            </a:pPr>
            <a:fld id="{13F00047-B216-4F8C-89E2-71B2818D9A44}" type="slidenum">
              <a:rPr lang="en-US" altLang="en-US"/>
              <a:pPr>
                <a:defRPr/>
              </a:pPr>
              <a:t>57</a:t>
            </a:fld>
            <a:endParaRPr lang="en-US" altLang="en-US"/>
          </a:p>
        </p:txBody>
      </p:sp>
    </p:spTree>
    <p:extLst>
      <p:ext uri="{BB962C8B-B14F-4D97-AF65-F5344CB8AC3E}">
        <p14:creationId xmlns:p14="http://schemas.microsoft.com/office/powerpoint/2010/main" val="35786668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Vector Quantization </a:t>
            </a:r>
            <a:endParaRPr lang="en-IN" dirty="0"/>
          </a:p>
        </p:txBody>
      </p:sp>
      <p:sp>
        <p:nvSpPr>
          <p:cNvPr id="5" name="Content Placeholder 4"/>
          <p:cNvSpPr>
            <a:spLocks noGrp="1"/>
          </p:cNvSpPr>
          <p:nvPr>
            <p:ph idx="1"/>
          </p:nvPr>
        </p:nvSpPr>
        <p:spPr/>
        <p:txBody>
          <a:bodyPr/>
          <a:lstStyle/>
          <a:p>
            <a:endParaRPr lang="en-IN"/>
          </a:p>
        </p:txBody>
      </p:sp>
      <p:sp>
        <p:nvSpPr>
          <p:cNvPr id="3" name="Footer Placeholder 4"/>
          <p:cNvSpPr>
            <a:spLocks noGrp="1"/>
          </p:cNvSpPr>
          <p:nvPr>
            <p:ph type="ftr" sz="quarter" idx="11"/>
          </p:nvPr>
        </p:nvSpPr>
        <p:spPr/>
        <p:txBody>
          <a:bodyPr/>
          <a:lstStyle/>
          <a:p>
            <a:pPr>
              <a:defRPr/>
            </a:pPr>
            <a:r>
              <a:rPr lang="en-US" altLang="en-US"/>
              <a:t>(c) Scott E Umbaugh, SIUE 2005</a:t>
            </a:r>
          </a:p>
        </p:txBody>
      </p:sp>
      <p:sp>
        <p:nvSpPr>
          <p:cNvPr id="4" name="Slide Number Placeholder 5"/>
          <p:cNvSpPr>
            <a:spLocks noGrp="1"/>
          </p:cNvSpPr>
          <p:nvPr>
            <p:ph type="sldNum" sz="quarter" idx="12"/>
          </p:nvPr>
        </p:nvSpPr>
        <p:spPr/>
        <p:txBody>
          <a:bodyPr/>
          <a:lstStyle/>
          <a:p>
            <a:pPr>
              <a:defRPr/>
            </a:pPr>
            <a:fld id="{ED31665E-C928-45E1-AD85-1F5CD59A72EC}" type="slidenum">
              <a:rPr lang="en-US" altLang="en-US"/>
              <a:pPr>
                <a:defRPr/>
              </a:pPr>
              <a:t>58</a:t>
            </a:fld>
            <a:endParaRPr lang="en-US" altLang="en-US"/>
          </a:p>
        </p:txBody>
      </p:sp>
      <p:pic>
        <p:nvPicPr>
          <p:cNvPr id="144388" name="Picture 2" descr="ex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520" y="2225824"/>
            <a:ext cx="8636000" cy="4459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97937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Vector Quantization </a:t>
            </a:r>
            <a:endParaRPr lang="en-IN" dirty="0"/>
          </a:p>
        </p:txBody>
      </p:sp>
      <p:sp>
        <p:nvSpPr>
          <p:cNvPr id="145410" name="Rectangle 2"/>
          <p:cNvSpPr>
            <a:spLocks noGrp="1" noChangeArrowheads="1"/>
          </p:cNvSpPr>
          <p:nvPr>
            <p:ph idx="1"/>
          </p:nvPr>
        </p:nvSpPr>
        <p:spPr/>
        <p:txBody>
          <a:bodyPr/>
          <a:lstStyle/>
          <a:p>
            <a:pPr>
              <a:buClr>
                <a:schemeClr val="tx1"/>
              </a:buClr>
              <a:buFontTx/>
              <a:buChar char="•"/>
            </a:pPr>
            <a:r>
              <a:rPr lang="en-US" altLang="en-US" dirty="0">
                <a:latin typeface="Arial" charset="0"/>
              </a:rPr>
              <a:t>VQ can be applied in both the spectral or spatial domains</a:t>
            </a:r>
          </a:p>
          <a:p>
            <a:pPr>
              <a:buClr>
                <a:schemeClr val="tx1"/>
              </a:buClr>
              <a:buFontTx/>
              <a:buChar char="•"/>
            </a:pPr>
            <a:endParaRPr lang="en-US" altLang="en-US" dirty="0">
              <a:latin typeface="Arial" charset="0"/>
            </a:endParaRPr>
          </a:p>
          <a:p>
            <a:pPr>
              <a:buClr>
                <a:schemeClr val="tx1"/>
              </a:buClr>
              <a:buFontTx/>
              <a:buChar char="•"/>
            </a:pPr>
            <a:r>
              <a:rPr lang="en-US" altLang="en-US" dirty="0">
                <a:latin typeface="Arial" charset="0"/>
              </a:rPr>
              <a:t>Information theory tells us that better compression can be achieved with vector quantization than with scalar quantization (rounding or truncating individual values)</a:t>
            </a:r>
          </a:p>
          <a:p>
            <a:pPr>
              <a:buClr>
                <a:schemeClr val="tx1"/>
              </a:buClr>
              <a:buFontTx/>
              <a:buChar char="•"/>
            </a:pPr>
            <a:endParaRPr lang="en-US" altLang="en-US" dirty="0">
              <a:latin typeface="Arial" charset="0"/>
            </a:endParaRPr>
          </a:p>
          <a:p>
            <a:pPr>
              <a:buFont typeface="Symbol" pitchFamily="18" charset="2"/>
              <a:buNone/>
            </a:pPr>
            <a:endParaRPr lang="en-US" altLang="en-US" dirty="0">
              <a:latin typeface="Arial" charset="0"/>
            </a:endParaRPr>
          </a:p>
          <a:p>
            <a:pPr>
              <a:buFont typeface="Symbol" pitchFamily="18" charset="2"/>
              <a:buNone/>
            </a:pPr>
            <a:endParaRPr lang="en-US" altLang="en-US" dirty="0"/>
          </a:p>
          <a:p>
            <a:pPr>
              <a:buFont typeface="Wingdings" pitchFamily="2" charset="2"/>
              <a:buNone/>
            </a:pPr>
            <a:endParaRPr lang="en-US" altLang="en-US" dirty="0"/>
          </a:p>
        </p:txBody>
      </p:sp>
      <p:sp>
        <p:nvSpPr>
          <p:cNvPr id="3" name="Footer Placeholder 4"/>
          <p:cNvSpPr>
            <a:spLocks noGrp="1"/>
          </p:cNvSpPr>
          <p:nvPr>
            <p:ph type="ftr" sz="quarter" idx="11"/>
          </p:nvPr>
        </p:nvSpPr>
        <p:spPr/>
        <p:txBody>
          <a:bodyPr/>
          <a:lstStyle/>
          <a:p>
            <a:pPr>
              <a:defRPr/>
            </a:pPr>
            <a:r>
              <a:rPr lang="en-US" altLang="en-US"/>
              <a:t>(c) Scott E Umbaugh, SIUE 2005</a:t>
            </a:r>
          </a:p>
        </p:txBody>
      </p:sp>
      <p:sp>
        <p:nvSpPr>
          <p:cNvPr id="4" name="Slide Number Placeholder 5"/>
          <p:cNvSpPr>
            <a:spLocks noGrp="1"/>
          </p:cNvSpPr>
          <p:nvPr>
            <p:ph type="sldNum" sz="quarter" idx="12"/>
          </p:nvPr>
        </p:nvSpPr>
        <p:spPr/>
        <p:txBody>
          <a:bodyPr/>
          <a:lstStyle/>
          <a:p>
            <a:pPr>
              <a:defRPr/>
            </a:pPr>
            <a:fld id="{4A388928-195F-4BF6-A943-345E68BB99D2}" type="slidenum">
              <a:rPr lang="en-US" altLang="en-US"/>
              <a:pPr>
                <a:defRPr/>
              </a:pPr>
              <a:t>59</a:t>
            </a:fld>
            <a:endParaRPr lang="en-US" altLang="en-US"/>
          </a:p>
        </p:txBody>
      </p:sp>
    </p:spTree>
    <p:extLst>
      <p:ext uri="{BB962C8B-B14F-4D97-AF65-F5344CB8AC3E}">
        <p14:creationId xmlns:p14="http://schemas.microsoft.com/office/powerpoint/2010/main" val="3003136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Vector Quantization </a:t>
            </a:r>
            <a:endParaRPr lang="en-IN" dirty="0"/>
          </a:p>
        </p:txBody>
      </p:sp>
      <p:sp>
        <p:nvSpPr>
          <p:cNvPr id="146434" name="Rectangle 2"/>
          <p:cNvSpPr>
            <a:spLocks noGrp="1" noChangeArrowheads="1"/>
          </p:cNvSpPr>
          <p:nvPr>
            <p:ph idx="1"/>
          </p:nvPr>
        </p:nvSpPr>
        <p:spPr/>
        <p:txBody>
          <a:bodyPr/>
          <a:lstStyle/>
          <a:p>
            <a:pPr>
              <a:buClr>
                <a:schemeClr val="tx1"/>
              </a:buClr>
              <a:buFontTx/>
              <a:buChar char="•"/>
            </a:pPr>
            <a:r>
              <a:rPr lang="en-US" altLang="en-US" dirty="0">
                <a:latin typeface="Arial" charset="0"/>
              </a:rPr>
              <a:t>Vector quantization treats the entire </a:t>
            </a:r>
            <a:r>
              <a:rPr lang="en-US" altLang="en-US" dirty="0" err="1">
                <a:latin typeface="Arial" charset="0"/>
              </a:rPr>
              <a:t>subimage</a:t>
            </a:r>
            <a:r>
              <a:rPr lang="en-US" altLang="en-US" dirty="0">
                <a:latin typeface="Arial" charset="0"/>
              </a:rPr>
              <a:t> (vector) as a single entity and quantizes it by reducing the total number of bits required to represent the </a:t>
            </a:r>
            <a:r>
              <a:rPr lang="en-US" altLang="en-US" dirty="0" err="1">
                <a:latin typeface="Arial" charset="0"/>
              </a:rPr>
              <a:t>subimage</a:t>
            </a:r>
            <a:r>
              <a:rPr lang="en-US" altLang="en-US" dirty="0">
                <a:latin typeface="Arial" charset="0"/>
              </a:rPr>
              <a:t> </a:t>
            </a:r>
          </a:p>
          <a:p>
            <a:pPr>
              <a:buClr>
                <a:schemeClr val="tx1"/>
              </a:buClr>
              <a:buFontTx/>
              <a:buChar char="•"/>
            </a:pPr>
            <a:endParaRPr lang="en-US" altLang="en-US" dirty="0">
              <a:latin typeface="Arial" charset="0"/>
            </a:endParaRPr>
          </a:p>
          <a:p>
            <a:pPr>
              <a:buClr>
                <a:schemeClr val="tx1"/>
              </a:buClr>
              <a:buFontTx/>
              <a:buChar char="•"/>
            </a:pPr>
            <a:r>
              <a:rPr lang="en-US" altLang="en-US" dirty="0">
                <a:latin typeface="Arial" charset="0"/>
              </a:rPr>
              <a:t>This is done by utilizing a </a:t>
            </a:r>
            <a:r>
              <a:rPr lang="en-US" altLang="en-US" i="1" dirty="0">
                <a:latin typeface="Arial" charset="0"/>
              </a:rPr>
              <a:t>codebook</a:t>
            </a:r>
            <a:r>
              <a:rPr lang="en-US" altLang="en-US" dirty="0">
                <a:latin typeface="Arial" charset="0"/>
              </a:rPr>
              <a:t>, which stores a fixed set of vectors, and then coding the </a:t>
            </a:r>
            <a:r>
              <a:rPr lang="en-US" altLang="en-US" dirty="0" err="1">
                <a:latin typeface="Arial" charset="0"/>
              </a:rPr>
              <a:t>subimage</a:t>
            </a:r>
            <a:r>
              <a:rPr lang="en-US" altLang="en-US" dirty="0">
                <a:latin typeface="Arial" charset="0"/>
              </a:rPr>
              <a:t> by using the index (address) into the codebook</a:t>
            </a:r>
            <a:r>
              <a:rPr lang="en-US" altLang="en-US" dirty="0"/>
              <a:t> </a:t>
            </a:r>
          </a:p>
        </p:txBody>
      </p:sp>
      <p:sp>
        <p:nvSpPr>
          <p:cNvPr id="3" name="Footer Placeholder 4"/>
          <p:cNvSpPr>
            <a:spLocks noGrp="1"/>
          </p:cNvSpPr>
          <p:nvPr>
            <p:ph type="ftr" sz="quarter" idx="11"/>
          </p:nvPr>
        </p:nvSpPr>
        <p:spPr/>
        <p:txBody>
          <a:bodyPr/>
          <a:lstStyle/>
          <a:p>
            <a:pPr>
              <a:defRPr/>
            </a:pPr>
            <a:r>
              <a:rPr lang="en-US" altLang="en-US"/>
              <a:t>(c) Scott E Umbaugh, SIUE 2005</a:t>
            </a:r>
          </a:p>
        </p:txBody>
      </p:sp>
      <p:sp>
        <p:nvSpPr>
          <p:cNvPr id="4" name="Slide Number Placeholder 5"/>
          <p:cNvSpPr>
            <a:spLocks noGrp="1"/>
          </p:cNvSpPr>
          <p:nvPr>
            <p:ph type="sldNum" sz="quarter" idx="12"/>
          </p:nvPr>
        </p:nvSpPr>
        <p:spPr/>
        <p:txBody>
          <a:bodyPr/>
          <a:lstStyle/>
          <a:p>
            <a:pPr>
              <a:defRPr/>
            </a:pPr>
            <a:fld id="{6B3F2656-5BE2-4881-8557-3DEBE98DD25C}" type="slidenum">
              <a:rPr lang="en-US" altLang="en-US"/>
              <a:pPr>
                <a:defRPr/>
              </a:pPr>
              <a:t>60</a:t>
            </a:fld>
            <a:endParaRPr lang="en-US" altLang="en-US"/>
          </a:p>
        </p:txBody>
      </p:sp>
    </p:spTree>
    <p:extLst>
      <p:ext uri="{BB962C8B-B14F-4D97-AF65-F5344CB8AC3E}">
        <p14:creationId xmlns:p14="http://schemas.microsoft.com/office/powerpoint/2010/main" val="13337196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Vector Quantization </a:t>
            </a:r>
            <a:endParaRPr lang="en-IN" dirty="0"/>
          </a:p>
        </p:txBody>
      </p:sp>
      <p:sp>
        <p:nvSpPr>
          <p:cNvPr id="147458" name="Rectangle 2"/>
          <p:cNvSpPr>
            <a:spLocks noGrp="1" noChangeArrowheads="1"/>
          </p:cNvSpPr>
          <p:nvPr>
            <p:ph idx="1"/>
          </p:nvPr>
        </p:nvSpPr>
        <p:spPr/>
        <p:txBody>
          <a:bodyPr/>
          <a:lstStyle/>
          <a:p>
            <a:pPr>
              <a:buFont typeface="Wingdings" pitchFamily="2" charset="2"/>
              <a:buNone/>
            </a:pPr>
            <a:endParaRPr lang="en-US" altLang="en-US" dirty="0"/>
          </a:p>
          <a:p>
            <a:pPr>
              <a:buFont typeface="Wingdings" pitchFamily="2" charset="2"/>
              <a:buNone/>
            </a:pPr>
            <a:endParaRPr lang="en-US" altLang="en-US" dirty="0"/>
          </a:p>
          <a:p>
            <a:pPr>
              <a:buFont typeface="Wingdings" pitchFamily="2" charset="2"/>
              <a:buNone/>
            </a:pPr>
            <a:endParaRPr lang="en-US" altLang="en-US" dirty="0"/>
          </a:p>
          <a:p>
            <a:pPr>
              <a:buClr>
                <a:schemeClr val="tx1"/>
              </a:buClr>
              <a:buFontTx/>
              <a:buChar char="•"/>
            </a:pPr>
            <a:endParaRPr lang="en-US" altLang="en-US" dirty="0">
              <a:latin typeface="Arial" charset="0"/>
            </a:endParaRPr>
          </a:p>
          <a:p>
            <a:pPr>
              <a:buClr>
                <a:schemeClr val="tx1"/>
              </a:buClr>
              <a:buFontTx/>
              <a:buChar char="•"/>
            </a:pPr>
            <a:endParaRPr lang="en-US" altLang="en-US" dirty="0">
              <a:latin typeface="Arial" charset="0"/>
            </a:endParaRPr>
          </a:p>
          <a:p>
            <a:pPr>
              <a:buClr>
                <a:schemeClr val="tx1"/>
              </a:buClr>
              <a:buFontTx/>
              <a:buChar char="•"/>
            </a:pPr>
            <a:r>
              <a:rPr lang="en-US" altLang="en-US" dirty="0">
                <a:latin typeface="Arial" charset="0"/>
              </a:rPr>
              <a:t>In the example we achieved a 16:1 compression, but note that this assumes that the codebook is not stored with the compressed file</a:t>
            </a:r>
            <a:r>
              <a:rPr lang="en-US" altLang="en-US" dirty="0"/>
              <a:t> </a:t>
            </a:r>
          </a:p>
        </p:txBody>
      </p:sp>
      <p:sp>
        <p:nvSpPr>
          <p:cNvPr id="4" name="Footer Placeholder 4"/>
          <p:cNvSpPr>
            <a:spLocks noGrp="1"/>
          </p:cNvSpPr>
          <p:nvPr>
            <p:ph type="ftr" sz="quarter" idx="11"/>
          </p:nvPr>
        </p:nvSpPr>
        <p:spPr/>
        <p:txBody>
          <a:bodyPr/>
          <a:lstStyle/>
          <a:p>
            <a:pPr>
              <a:defRPr/>
            </a:pPr>
            <a:r>
              <a:rPr lang="en-US" altLang="en-US"/>
              <a:t>(c) Scott E Umbaugh, SIUE 2005</a:t>
            </a:r>
          </a:p>
        </p:txBody>
      </p:sp>
      <p:sp>
        <p:nvSpPr>
          <p:cNvPr id="5" name="Slide Number Placeholder 5"/>
          <p:cNvSpPr>
            <a:spLocks noGrp="1"/>
          </p:cNvSpPr>
          <p:nvPr>
            <p:ph type="sldNum" sz="quarter" idx="12"/>
          </p:nvPr>
        </p:nvSpPr>
        <p:spPr/>
        <p:txBody>
          <a:bodyPr/>
          <a:lstStyle/>
          <a:p>
            <a:pPr>
              <a:defRPr/>
            </a:pPr>
            <a:fld id="{59E40145-D46F-4E63-B77D-641514AC43BE}" type="slidenum">
              <a:rPr lang="en-US" altLang="en-US"/>
              <a:pPr>
                <a:defRPr/>
              </a:pPr>
              <a:t>61</a:t>
            </a:fld>
            <a:endParaRPr lang="en-US" altLang="en-US"/>
          </a:p>
        </p:txBody>
      </p:sp>
      <p:pic>
        <p:nvPicPr>
          <p:cNvPr id="147461" name="Picture 3" descr="ex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512" y="2369840"/>
            <a:ext cx="8720667" cy="2393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58616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ltLang="en-US"/>
              <a:t>(c) Scott E Umbaugh, SIUE 2005</a:t>
            </a:r>
          </a:p>
        </p:txBody>
      </p:sp>
      <p:sp>
        <p:nvSpPr>
          <p:cNvPr id="5" name="Slide Number Placeholder 5"/>
          <p:cNvSpPr>
            <a:spLocks noGrp="1"/>
          </p:cNvSpPr>
          <p:nvPr>
            <p:ph type="sldNum" sz="quarter" idx="12"/>
          </p:nvPr>
        </p:nvSpPr>
        <p:spPr/>
        <p:txBody>
          <a:bodyPr/>
          <a:lstStyle/>
          <a:p>
            <a:pPr>
              <a:defRPr/>
            </a:pPr>
            <a:fld id="{ABF2C6B5-47B7-4873-8F9A-38474058CC65}" type="slidenum">
              <a:rPr lang="en-US" altLang="en-US"/>
              <a:pPr>
                <a:defRPr/>
              </a:pPr>
              <a:t>62</a:t>
            </a:fld>
            <a:endParaRPr lang="en-US" altLang="en-US"/>
          </a:p>
        </p:txBody>
      </p:sp>
      <p:sp>
        <p:nvSpPr>
          <p:cNvPr id="148484" name="Rectangle 2"/>
          <p:cNvSpPr>
            <a:spLocks noChangeArrowheads="1"/>
          </p:cNvSpPr>
          <p:nvPr/>
        </p:nvSpPr>
        <p:spPr bwMode="auto">
          <a:xfrm>
            <a:off x="2529417" y="58209"/>
            <a:ext cx="10160000" cy="471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endParaRPr lang="en-IN" altLang="en-US"/>
          </a:p>
        </p:txBody>
      </p:sp>
      <p:pic>
        <p:nvPicPr>
          <p:cNvPr id="148485" name="Picture 3" descr="Fig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0" y="169334"/>
            <a:ext cx="4623153" cy="6799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42495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Vector Quantization </a:t>
            </a:r>
            <a:endParaRPr lang="en-IN" dirty="0"/>
          </a:p>
        </p:txBody>
      </p:sp>
      <p:sp>
        <p:nvSpPr>
          <p:cNvPr id="149506" name="Rectangle 2"/>
          <p:cNvSpPr>
            <a:spLocks noGrp="1" noChangeArrowheads="1"/>
          </p:cNvSpPr>
          <p:nvPr>
            <p:ph idx="1"/>
          </p:nvPr>
        </p:nvSpPr>
        <p:spPr/>
        <p:txBody>
          <a:bodyPr/>
          <a:lstStyle/>
          <a:p>
            <a:pPr>
              <a:buClr>
                <a:schemeClr val="tx1"/>
              </a:buClr>
              <a:buFontTx/>
              <a:buChar char="•"/>
            </a:pPr>
            <a:r>
              <a:rPr lang="en-US" altLang="en-US">
                <a:latin typeface="Arial" charset="0"/>
              </a:rPr>
              <a:t>However, the codebook will need to be stored unless a generic codebook is devised which could be used for a particular type of image, in that case we need only store the name of that particular codebook file </a:t>
            </a:r>
          </a:p>
          <a:p>
            <a:pPr>
              <a:buClr>
                <a:schemeClr val="tx1"/>
              </a:buClr>
              <a:buFontTx/>
              <a:buNone/>
            </a:pPr>
            <a:endParaRPr lang="en-US" altLang="en-US">
              <a:latin typeface="Arial" charset="0"/>
            </a:endParaRPr>
          </a:p>
          <a:p>
            <a:pPr>
              <a:buClr>
                <a:schemeClr val="tx1"/>
              </a:buClr>
              <a:buFontTx/>
              <a:buChar char="•"/>
            </a:pPr>
            <a:r>
              <a:rPr lang="en-US" altLang="en-US">
                <a:latin typeface="Arial" charset="0"/>
              </a:rPr>
              <a:t>In the general case, better results will be obtained with a codebook that is designed for a particular image </a:t>
            </a:r>
          </a:p>
        </p:txBody>
      </p:sp>
      <p:sp>
        <p:nvSpPr>
          <p:cNvPr id="3" name="Footer Placeholder 4"/>
          <p:cNvSpPr>
            <a:spLocks noGrp="1"/>
          </p:cNvSpPr>
          <p:nvPr>
            <p:ph type="ftr" sz="quarter" idx="11"/>
          </p:nvPr>
        </p:nvSpPr>
        <p:spPr/>
        <p:txBody>
          <a:bodyPr/>
          <a:lstStyle/>
          <a:p>
            <a:pPr>
              <a:defRPr/>
            </a:pPr>
            <a:r>
              <a:rPr lang="en-US" altLang="en-US"/>
              <a:t>(c) Scott E Umbaugh, SIUE 2005</a:t>
            </a:r>
          </a:p>
        </p:txBody>
      </p:sp>
      <p:sp>
        <p:nvSpPr>
          <p:cNvPr id="4" name="Slide Number Placeholder 5"/>
          <p:cNvSpPr>
            <a:spLocks noGrp="1"/>
          </p:cNvSpPr>
          <p:nvPr>
            <p:ph type="sldNum" sz="quarter" idx="12"/>
          </p:nvPr>
        </p:nvSpPr>
        <p:spPr/>
        <p:txBody>
          <a:bodyPr/>
          <a:lstStyle/>
          <a:p>
            <a:pPr>
              <a:defRPr/>
            </a:pPr>
            <a:fld id="{78AF7DA4-6F25-436F-9D8E-1C7E2BB16FBA}" type="slidenum">
              <a:rPr lang="en-US" altLang="en-US"/>
              <a:pPr>
                <a:defRPr/>
              </a:pPr>
              <a:t>63</a:t>
            </a:fld>
            <a:endParaRPr lang="en-US" altLang="en-US"/>
          </a:p>
        </p:txBody>
      </p:sp>
    </p:spTree>
    <p:extLst>
      <p:ext uri="{BB962C8B-B14F-4D97-AF65-F5344CB8AC3E}">
        <p14:creationId xmlns:p14="http://schemas.microsoft.com/office/powerpoint/2010/main" val="18292794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p:cNvSpPr>
            <a:spLocks noGrp="1"/>
          </p:cNvSpPr>
          <p:nvPr>
            <p:ph type="ftr" sz="quarter" idx="11"/>
          </p:nvPr>
        </p:nvSpPr>
        <p:spPr/>
        <p:txBody>
          <a:bodyPr/>
          <a:lstStyle/>
          <a:p>
            <a:pPr>
              <a:defRPr/>
            </a:pPr>
            <a:r>
              <a:rPr lang="en-US" altLang="en-US"/>
              <a:t>(c) Scott E Umbaugh, SIUE 2005</a:t>
            </a:r>
          </a:p>
        </p:txBody>
      </p:sp>
      <p:sp>
        <p:nvSpPr>
          <p:cNvPr id="4" name="Slide Number Placeholder 5"/>
          <p:cNvSpPr>
            <a:spLocks noGrp="1"/>
          </p:cNvSpPr>
          <p:nvPr>
            <p:ph type="sldNum" sz="quarter" idx="12"/>
          </p:nvPr>
        </p:nvSpPr>
        <p:spPr/>
        <p:txBody>
          <a:bodyPr/>
          <a:lstStyle/>
          <a:p>
            <a:pPr>
              <a:defRPr/>
            </a:pPr>
            <a:fld id="{8B15F2A1-E75E-4A8F-A9EF-C406DF060736}" type="slidenum">
              <a:rPr lang="en-US" altLang="en-US"/>
              <a:pPr>
                <a:defRPr/>
              </a:pPr>
              <a:t>64</a:t>
            </a:fld>
            <a:endParaRPr lang="en-US" altLang="en-US"/>
          </a:p>
        </p:txBody>
      </p:sp>
      <p:pic>
        <p:nvPicPr>
          <p:cNvPr id="150532" name="Picture 2" descr="ex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667" y="338667"/>
            <a:ext cx="8128000" cy="6723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07800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Vector Quantization </a:t>
            </a:r>
            <a:endParaRPr lang="en-IN" dirty="0"/>
          </a:p>
        </p:txBody>
      </p:sp>
      <p:sp>
        <p:nvSpPr>
          <p:cNvPr id="151554" name="Rectangle 2"/>
          <p:cNvSpPr>
            <a:spLocks noGrp="1" noChangeArrowheads="1"/>
          </p:cNvSpPr>
          <p:nvPr>
            <p:ph idx="1"/>
          </p:nvPr>
        </p:nvSpPr>
        <p:spPr/>
        <p:txBody>
          <a:bodyPr/>
          <a:lstStyle/>
          <a:p>
            <a:pPr>
              <a:buClr>
                <a:schemeClr val="tx1"/>
              </a:buClr>
              <a:buFontTx/>
              <a:buChar char="•"/>
            </a:pPr>
            <a:r>
              <a:rPr lang="en-US" altLang="en-US" dirty="0">
                <a:latin typeface="Arial" charset="0"/>
              </a:rPr>
              <a:t>A training algorithm determines which vectors will be stored in the codebook by finding a set of vectors that best represent the blocks in the image</a:t>
            </a:r>
          </a:p>
          <a:p>
            <a:pPr>
              <a:buClr>
                <a:schemeClr val="tx1"/>
              </a:buClr>
              <a:buFontTx/>
              <a:buNone/>
            </a:pPr>
            <a:endParaRPr lang="en-US" altLang="en-US" dirty="0">
              <a:latin typeface="Arial" charset="0"/>
            </a:endParaRPr>
          </a:p>
          <a:p>
            <a:pPr>
              <a:buClr>
                <a:schemeClr val="tx1"/>
              </a:buClr>
              <a:buFontTx/>
              <a:buChar char="•"/>
            </a:pPr>
            <a:r>
              <a:rPr lang="en-US" altLang="en-US" dirty="0">
                <a:latin typeface="Arial" charset="0"/>
              </a:rPr>
              <a:t>This set of vectors is determined by optimizing some error criterion, where the </a:t>
            </a:r>
            <a:r>
              <a:rPr lang="en-US" altLang="en-US" i="1" dirty="0">
                <a:latin typeface="Arial" charset="0"/>
              </a:rPr>
              <a:t>error</a:t>
            </a:r>
            <a:r>
              <a:rPr lang="en-US" altLang="en-US" dirty="0">
                <a:latin typeface="Arial" charset="0"/>
              </a:rPr>
              <a:t> is defined as the sum of the vector distances between the original </a:t>
            </a:r>
            <a:r>
              <a:rPr lang="en-US" altLang="en-US" dirty="0" err="1">
                <a:latin typeface="Arial" charset="0"/>
              </a:rPr>
              <a:t>subimages</a:t>
            </a:r>
            <a:r>
              <a:rPr lang="en-US" altLang="en-US" dirty="0">
                <a:latin typeface="Arial" charset="0"/>
              </a:rPr>
              <a:t> and the resulting decompressed </a:t>
            </a:r>
            <a:r>
              <a:rPr lang="en-US" altLang="en-US" dirty="0" err="1">
                <a:latin typeface="Arial" charset="0"/>
              </a:rPr>
              <a:t>subimages</a:t>
            </a:r>
            <a:r>
              <a:rPr lang="en-US" altLang="en-US" dirty="0">
                <a:latin typeface="Arial" charset="0"/>
              </a:rPr>
              <a:t> </a:t>
            </a:r>
          </a:p>
          <a:p>
            <a:pPr>
              <a:buClr>
                <a:schemeClr val="tx1"/>
              </a:buClr>
              <a:buFontTx/>
              <a:buNone/>
            </a:pPr>
            <a:endParaRPr lang="en-US" altLang="en-US" dirty="0">
              <a:latin typeface="Arial" charset="0"/>
            </a:endParaRPr>
          </a:p>
        </p:txBody>
      </p:sp>
      <p:sp>
        <p:nvSpPr>
          <p:cNvPr id="3" name="Footer Placeholder 4"/>
          <p:cNvSpPr>
            <a:spLocks noGrp="1"/>
          </p:cNvSpPr>
          <p:nvPr>
            <p:ph type="ftr" sz="quarter" idx="11"/>
          </p:nvPr>
        </p:nvSpPr>
        <p:spPr/>
        <p:txBody>
          <a:bodyPr/>
          <a:lstStyle/>
          <a:p>
            <a:pPr>
              <a:defRPr/>
            </a:pPr>
            <a:r>
              <a:rPr lang="en-US" altLang="en-US"/>
              <a:t>(c) Scott E Umbaugh, SIUE 2005</a:t>
            </a:r>
          </a:p>
        </p:txBody>
      </p:sp>
      <p:sp>
        <p:nvSpPr>
          <p:cNvPr id="4" name="Slide Number Placeholder 5"/>
          <p:cNvSpPr>
            <a:spLocks noGrp="1"/>
          </p:cNvSpPr>
          <p:nvPr>
            <p:ph type="sldNum" sz="quarter" idx="12"/>
          </p:nvPr>
        </p:nvSpPr>
        <p:spPr/>
        <p:txBody>
          <a:bodyPr/>
          <a:lstStyle/>
          <a:p>
            <a:pPr>
              <a:defRPr/>
            </a:pPr>
            <a:fld id="{794ABA2C-6B72-4062-9200-06A7019C8E31}" type="slidenum">
              <a:rPr lang="en-US" altLang="en-US"/>
              <a:pPr>
                <a:defRPr/>
              </a:pPr>
              <a:t>65</a:t>
            </a:fld>
            <a:endParaRPr lang="en-US" altLang="en-US"/>
          </a:p>
        </p:txBody>
      </p:sp>
    </p:spTree>
    <p:extLst>
      <p:ext uri="{BB962C8B-B14F-4D97-AF65-F5344CB8AC3E}">
        <p14:creationId xmlns:p14="http://schemas.microsoft.com/office/powerpoint/2010/main" val="23723489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94894165-F608-48D9-A6D3-CEF727DEFA55}" type="slidenum">
              <a:rPr lang="en-US" altLang="en-US"/>
              <a:pPr/>
              <a:t>66</a:t>
            </a:fld>
            <a:endParaRPr lang="en-US" altLang="en-US"/>
          </a:p>
        </p:txBody>
      </p:sp>
      <p:sp>
        <p:nvSpPr>
          <p:cNvPr id="3075" name="Rectangle 2"/>
          <p:cNvSpPr>
            <a:spLocks noGrp="1" noChangeArrowheads="1"/>
          </p:cNvSpPr>
          <p:nvPr>
            <p:ph type="title"/>
          </p:nvPr>
        </p:nvSpPr>
        <p:spPr>
          <a:xfrm>
            <a:off x="592667" y="254000"/>
            <a:ext cx="8636000" cy="687917"/>
          </a:xfrm>
        </p:spPr>
        <p:txBody>
          <a:bodyPr/>
          <a:lstStyle/>
          <a:p>
            <a:r>
              <a:rPr lang="en-US" altLang="en-US" sz="3600" dirty="0"/>
              <a:t>Why JPEG image compression?</a:t>
            </a:r>
          </a:p>
        </p:txBody>
      </p:sp>
      <p:sp>
        <p:nvSpPr>
          <p:cNvPr id="3076" name="Rectangle 3"/>
          <p:cNvSpPr>
            <a:spLocks noGrp="1" noChangeArrowheads="1"/>
          </p:cNvSpPr>
          <p:nvPr>
            <p:ph type="body" idx="1"/>
          </p:nvPr>
        </p:nvSpPr>
        <p:spPr>
          <a:xfrm>
            <a:off x="592667" y="1132417"/>
            <a:ext cx="8636000" cy="5810250"/>
          </a:xfrm>
        </p:spPr>
        <p:txBody>
          <a:bodyPr/>
          <a:lstStyle/>
          <a:p>
            <a:pPr>
              <a:lnSpc>
                <a:spcPct val="90000"/>
              </a:lnSpc>
            </a:pPr>
            <a:r>
              <a:rPr lang="en-US" altLang="en-US" sz="2700" dirty="0"/>
              <a:t>The </a:t>
            </a:r>
            <a:r>
              <a:rPr lang="en-US" altLang="en-US" sz="2700" i="1" dirty="0"/>
              <a:t>compression ratio</a:t>
            </a:r>
            <a:r>
              <a:rPr lang="en-US" altLang="en-US" sz="2700" dirty="0"/>
              <a:t> of lossless methods (e.g., Huffman, Arithmetic, LZW) is not high enough for image and video compression. </a:t>
            </a:r>
          </a:p>
          <a:p>
            <a:pPr>
              <a:lnSpc>
                <a:spcPct val="90000"/>
              </a:lnSpc>
            </a:pPr>
            <a:r>
              <a:rPr lang="en-US" altLang="en-US" sz="2700" dirty="0"/>
              <a:t>JPEG uses </a:t>
            </a:r>
            <a:r>
              <a:rPr lang="en-US" altLang="en-US" sz="2700" i="1" dirty="0"/>
              <a:t>transform coding</a:t>
            </a:r>
            <a:r>
              <a:rPr lang="en-US" altLang="en-US" sz="2700" dirty="0"/>
              <a:t>, it is largely based on the following observations: </a:t>
            </a:r>
          </a:p>
          <a:p>
            <a:pPr lvl="1">
              <a:lnSpc>
                <a:spcPct val="90000"/>
              </a:lnSpc>
            </a:pPr>
            <a:r>
              <a:rPr lang="en-US" altLang="en-US" sz="2200" dirty="0"/>
              <a:t>Observation 1: A large majority of useful image contents change relatively slowly across images, i.e., it is unusual for intensity values to alter up and down several times in a small area, for example, within an 8 x 8 image block. </a:t>
            </a:r>
            <a:br>
              <a:rPr lang="en-US" altLang="en-US" sz="2200" dirty="0"/>
            </a:br>
            <a:r>
              <a:rPr lang="en-US" altLang="en-US" sz="2200" dirty="0"/>
              <a:t>A translation of this fact into the spatial frequency domain, implies, generally, lower spatial frequency components contain </a:t>
            </a:r>
            <a:r>
              <a:rPr lang="en-US" altLang="en-US" sz="2200" b="1" dirty="0"/>
              <a:t>more information</a:t>
            </a:r>
            <a:r>
              <a:rPr lang="en-US" altLang="en-US" sz="2200" dirty="0"/>
              <a:t> than the high frequency components which often correspond to less useful details and noises. </a:t>
            </a:r>
          </a:p>
          <a:p>
            <a:pPr lvl="1">
              <a:lnSpc>
                <a:spcPct val="90000"/>
              </a:lnSpc>
            </a:pPr>
            <a:r>
              <a:rPr lang="en-US" altLang="en-US" sz="2200" dirty="0"/>
              <a:t>Observation 2: Experiments suggest that humans are more immune to loss of higher spatial frequency components than loss of lower frequency components. </a:t>
            </a:r>
          </a:p>
        </p:txBody>
      </p:sp>
    </p:spTree>
    <p:extLst>
      <p:ext uri="{BB962C8B-B14F-4D97-AF65-F5344CB8AC3E}">
        <p14:creationId xmlns:p14="http://schemas.microsoft.com/office/powerpoint/2010/main" val="23414582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61BC43A0-180A-43EA-B9FD-91F8913F3E56}" type="slidenum">
              <a:rPr lang="en-US" altLang="en-US"/>
              <a:pPr/>
              <a:t>67</a:t>
            </a:fld>
            <a:endParaRPr lang="en-US" altLang="en-US"/>
          </a:p>
        </p:txBody>
      </p:sp>
      <p:sp>
        <p:nvSpPr>
          <p:cNvPr id="4099" name="Rectangle 2"/>
          <p:cNvSpPr>
            <a:spLocks noGrp="1" noChangeArrowheads="1"/>
          </p:cNvSpPr>
          <p:nvPr>
            <p:ph type="title"/>
          </p:nvPr>
        </p:nvSpPr>
        <p:spPr>
          <a:xfrm>
            <a:off x="592667" y="254001"/>
            <a:ext cx="8636000" cy="603250"/>
          </a:xfrm>
        </p:spPr>
        <p:txBody>
          <a:bodyPr/>
          <a:lstStyle/>
          <a:p>
            <a:r>
              <a:rPr lang="en-US" altLang="en-US" sz="3600"/>
              <a:t>JPEG Coding</a:t>
            </a:r>
          </a:p>
        </p:txBody>
      </p:sp>
      <p:sp>
        <p:nvSpPr>
          <p:cNvPr id="4100" name="Rectangle 3"/>
          <p:cNvSpPr>
            <a:spLocks noChangeArrowheads="1"/>
          </p:cNvSpPr>
          <p:nvPr/>
        </p:nvSpPr>
        <p:spPr bwMode="auto">
          <a:xfrm>
            <a:off x="709083" y="154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1" name="Rectangle 4"/>
          <p:cNvSpPr>
            <a:spLocks noChangeArrowheads="1"/>
          </p:cNvSpPr>
          <p:nvPr/>
        </p:nvSpPr>
        <p:spPr bwMode="auto">
          <a:xfrm>
            <a:off x="963083" y="154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2" name="Rectangle 5"/>
          <p:cNvSpPr>
            <a:spLocks noChangeArrowheads="1"/>
          </p:cNvSpPr>
          <p:nvPr/>
        </p:nvSpPr>
        <p:spPr bwMode="auto">
          <a:xfrm>
            <a:off x="1217083" y="154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3" name="Rectangle 6"/>
          <p:cNvSpPr>
            <a:spLocks noChangeArrowheads="1"/>
          </p:cNvSpPr>
          <p:nvPr/>
        </p:nvSpPr>
        <p:spPr bwMode="auto">
          <a:xfrm>
            <a:off x="1471083" y="154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4" name="Rectangle 7"/>
          <p:cNvSpPr>
            <a:spLocks noChangeArrowheads="1"/>
          </p:cNvSpPr>
          <p:nvPr/>
        </p:nvSpPr>
        <p:spPr bwMode="auto">
          <a:xfrm>
            <a:off x="709083" y="178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5" name="Rectangle 8"/>
          <p:cNvSpPr>
            <a:spLocks noChangeArrowheads="1"/>
          </p:cNvSpPr>
          <p:nvPr/>
        </p:nvSpPr>
        <p:spPr bwMode="auto">
          <a:xfrm>
            <a:off x="963083" y="178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6" name="Rectangle 9"/>
          <p:cNvSpPr>
            <a:spLocks noChangeArrowheads="1"/>
          </p:cNvSpPr>
          <p:nvPr/>
        </p:nvSpPr>
        <p:spPr bwMode="auto">
          <a:xfrm>
            <a:off x="1217083" y="178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7" name="Rectangle 10"/>
          <p:cNvSpPr>
            <a:spLocks noChangeArrowheads="1"/>
          </p:cNvSpPr>
          <p:nvPr/>
        </p:nvSpPr>
        <p:spPr bwMode="auto">
          <a:xfrm>
            <a:off x="1471083" y="178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8" name="Rectangle 11"/>
          <p:cNvSpPr>
            <a:spLocks noChangeArrowheads="1"/>
          </p:cNvSpPr>
          <p:nvPr/>
        </p:nvSpPr>
        <p:spPr bwMode="auto">
          <a:xfrm>
            <a:off x="709083" y="203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09" name="Rectangle 12"/>
          <p:cNvSpPr>
            <a:spLocks noChangeArrowheads="1"/>
          </p:cNvSpPr>
          <p:nvPr/>
        </p:nvSpPr>
        <p:spPr bwMode="auto">
          <a:xfrm>
            <a:off x="963083" y="203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10" name="Rectangle 13"/>
          <p:cNvSpPr>
            <a:spLocks noChangeArrowheads="1"/>
          </p:cNvSpPr>
          <p:nvPr/>
        </p:nvSpPr>
        <p:spPr bwMode="auto">
          <a:xfrm>
            <a:off x="1217083" y="203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11" name="Rectangle 14"/>
          <p:cNvSpPr>
            <a:spLocks noChangeArrowheads="1"/>
          </p:cNvSpPr>
          <p:nvPr/>
        </p:nvSpPr>
        <p:spPr bwMode="auto">
          <a:xfrm>
            <a:off x="1471083" y="203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12" name="Line 15"/>
          <p:cNvSpPr>
            <a:spLocks noChangeShapeType="1"/>
          </p:cNvSpPr>
          <p:nvPr/>
        </p:nvSpPr>
        <p:spPr bwMode="auto">
          <a:xfrm flipV="1">
            <a:off x="846667" y="1418167"/>
            <a:ext cx="0" cy="127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13" name="Line 16"/>
          <p:cNvSpPr>
            <a:spLocks noChangeShapeType="1"/>
          </p:cNvSpPr>
          <p:nvPr/>
        </p:nvSpPr>
        <p:spPr bwMode="auto">
          <a:xfrm>
            <a:off x="846667" y="1418167"/>
            <a:ext cx="99483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14" name="Line 17"/>
          <p:cNvSpPr>
            <a:spLocks noChangeShapeType="1"/>
          </p:cNvSpPr>
          <p:nvPr/>
        </p:nvSpPr>
        <p:spPr bwMode="auto">
          <a:xfrm>
            <a:off x="1841500" y="1418167"/>
            <a:ext cx="0" cy="719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15" name="Line 18"/>
          <p:cNvSpPr>
            <a:spLocks noChangeShapeType="1"/>
          </p:cNvSpPr>
          <p:nvPr/>
        </p:nvSpPr>
        <p:spPr bwMode="auto">
          <a:xfrm flipH="1">
            <a:off x="1725084" y="2137833"/>
            <a:ext cx="11641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16" name="Line 19"/>
          <p:cNvSpPr>
            <a:spLocks noChangeShapeType="1"/>
          </p:cNvSpPr>
          <p:nvPr/>
        </p:nvSpPr>
        <p:spPr bwMode="auto">
          <a:xfrm flipV="1">
            <a:off x="963083" y="1280583"/>
            <a:ext cx="0" cy="127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17" name="Line 20"/>
          <p:cNvSpPr>
            <a:spLocks noChangeShapeType="1"/>
          </p:cNvSpPr>
          <p:nvPr/>
        </p:nvSpPr>
        <p:spPr bwMode="auto">
          <a:xfrm>
            <a:off x="963084" y="1280583"/>
            <a:ext cx="99483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18" name="Line 21"/>
          <p:cNvSpPr>
            <a:spLocks noChangeShapeType="1"/>
          </p:cNvSpPr>
          <p:nvPr/>
        </p:nvSpPr>
        <p:spPr bwMode="auto">
          <a:xfrm>
            <a:off x="1957917" y="1280583"/>
            <a:ext cx="0" cy="719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19" name="Line 22"/>
          <p:cNvSpPr>
            <a:spLocks noChangeShapeType="1"/>
          </p:cNvSpPr>
          <p:nvPr/>
        </p:nvSpPr>
        <p:spPr bwMode="auto">
          <a:xfrm flipH="1">
            <a:off x="1841500" y="2000250"/>
            <a:ext cx="11641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20" name="Text Box 23"/>
          <p:cNvSpPr txBox="1">
            <a:spLocks noChangeArrowheads="1"/>
          </p:cNvSpPr>
          <p:nvPr/>
        </p:nvSpPr>
        <p:spPr bwMode="auto">
          <a:xfrm>
            <a:off x="363361" y="1359960"/>
            <a:ext cx="205247"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US" altLang="en-US">
              <a:latin typeface="Comic Sans MS" pitchFamily="66" charset="0"/>
            </a:endParaRPr>
          </a:p>
        </p:txBody>
      </p:sp>
      <p:sp>
        <p:nvSpPr>
          <p:cNvPr id="4121" name="Text Box 24"/>
          <p:cNvSpPr txBox="1">
            <a:spLocks noChangeArrowheads="1"/>
          </p:cNvSpPr>
          <p:nvPr/>
        </p:nvSpPr>
        <p:spPr bwMode="auto">
          <a:xfrm>
            <a:off x="437445" y="1444626"/>
            <a:ext cx="318996"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Y</a:t>
            </a:r>
          </a:p>
        </p:txBody>
      </p:sp>
      <p:sp>
        <p:nvSpPr>
          <p:cNvPr id="4122" name="Text Box 25"/>
          <p:cNvSpPr txBox="1">
            <a:spLocks noChangeArrowheads="1"/>
          </p:cNvSpPr>
          <p:nvPr/>
        </p:nvSpPr>
        <p:spPr bwMode="auto">
          <a:xfrm>
            <a:off x="557389" y="1232960"/>
            <a:ext cx="383116"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C</a:t>
            </a:r>
            <a:r>
              <a:rPr lang="en-US" altLang="en-US" baseline="-25000">
                <a:latin typeface="Comic Sans MS" pitchFamily="66" charset="0"/>
              </a:rPr>
              <a:t>b</a:t>
            </a:r>
            <a:endParaRPr lang="en-US" altLang="en-US">
              <a:latin typeface="Comic Sans MS" pitchFamily="66" charset="0"/>
            </a:endParaRPr>
          </a:p>
        </p:txBody>
      </p:sp>
      <p:sp>
        <p:nvSpPr>
          <p:cNvPr id="4123" name="Text Box 26"/>
          <p:cNvSpPr txBox="1">
            <a:spLocks noChangeArrowheads="1"/>
          </p:cNvSpPr>
          <p:nvPr/>
        </p:nvSpPr>
        <p:spPr bwMode="auto">
          <a:xfrm>
            <a:off x="698500" y="1000126"/>
            <a:ext cx="370292"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C</a:t>
            </a:r>
            <a:r>
              <a:rPr lang="en-US" altLang="en-US" baseline="-25000">
                <a:latin typeface="Comic Sans MS" pitchFamily="66" charset="0"/>
              </a:rPr>
              <a:t>r</a:t>
            </a:r>
            <a:endParaRPr lang="en-US" altLang="en-US">
              <a:latin typeface="Comic Sans MS" pitchFamily="66" charset="0"/>
            </a:endParaRPr>
          </a:p>
        </p:txBody>
      </p:sp>
      <p:sp>
        <p:nvSpPr>
          <p:cNvPr id="4124" name="Line 34"/>
          <p:cNvSpPr>
            <a:spLocks noChangeShapeType="1"/>
          </p:cNvSpPr>
          <p:nvPr/>
        </p:nvSpPr>
        <p:spPr bwMode="auto">
          <a:xfrm>
            <a:off x="5598583" y="1682750"/>
            <a:ext cx="444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25" name="Line 35"/>
          <p:cNvSpPr>
            <a:spLocks noChangeShapeType="1"/>
          </p:cNvSpPr>
          <p:nvPr/>
        </p:nvSpPr>
        <p:spPr bwMode="auto">
          <a:xfrm>
            <a:off x="6043083" y="1682751"/>
            <a:ext cx="0" cy="35665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26" name="Line 36"/>
          <p:cNvSpPr>
            <a:spLocks noChangeShapeType="1"/>
          </p:cNvSpPr>
          <p:nvPr/>
        </p:nvSpPr>
        <p:spPr bwMode="auto">
          <a:xfrm flipH="1">
            <a:off x="5725583" y="5249333"/>
            <a:ext cx="317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27" name="Line 37"/>
          <p:cNvSpPr>
            <a:spLocks noChangeShapeType="1"/>
          </p:cNvSpPr>
          <p:nvPr/>
        </p:nvSpPr>
        <p:spPr bwMode="auto">
          <a:xfrm>
            <a:off x="5725583" y="4921251"/>
            <a:ext cx="0" cy="730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28" name="Line 38"/>
          <p:cNvSpPr>
            <a:spLocks noChangeShapeType="1"/>
          </p:cNvSpPr>
          <p:nvPr/>
        </p:nvSpPr>
        <p:spPr bwMode="auto">
          <a:xfrm flipH="1">
            <a:off x="5027083" y="4921250"/>
            <a:ext cx="698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29" name="Line 39"/>
          <p:cNvSpPr>
            <a:spLocks noChangeShapeType="1"/>
          </p:cNvSpPr>
          <p:nvPr/>
        </p:nvSpPr>
        <p:spPr bwMode="auto">
          <a:xfrm flipH="1">
            <a:off x="5027083" y="5640917"/>
            <a:ext cx="698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30" name="AutoShape 40"/>
          <p:cNvSpPr>
            <a:spLocks noChangeArrowheads="1"/>
          </p:cNvSpPr>
          <p:nvPr/>
        </p:nvSpPr>
        <p:spPr bwMode="auto">
          <a:xfrm>
            <a:off x="3979334" y="4751917"/>
            <a:ext cx="1047750" cy="359833"/>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dirty="0">
                <a:latin typeface="Comic Sans MS" pitchFamily="66" charset="0"/>
              </a:rPr>
              <a:t>DPCM</a:t>
            </a:r>
          </a:p>
        </p:txBody>
      </p:sp>
      <p:sp>
        <p:nvSpPr>
          <p:cNvPr id="4131" name="AutoShape 41"/>
          <p:cNvSpPr>
            <a:spLocks noChangeArrowheads="1"/>
          </p:cNvSpPr>
          <p:nvPr/>
        </p:nvSpPr>
        <p:spPr bwMode="auto">
          <a:xfrm>
            <a:off x="3979334" y="5471584"/>
            <a:ext cx="1047750" cy="359833"/>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RLC</a:t>
            </a:r>
          </a:p>
        </p:txBody>
      </p:sp>
      <p:sp>
        <p:nvSpPr>
          <p:cNvPr id="4132" name="Line 42"/>
          <p:cNvSpPr>
            <a:spLocks noChangeShapeType="1"/>
          </p:cNvSpPr>
          <p:nvPr/>
        </p:nvSpPr>
        <p:spPr bwMode="auto">
          <a:xfrm flipH="1">
            <a:off x="3291417" y="4942417"/>
            <a:ext cx="698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33" name="Line 43"/>
          <p:cNvSpPr>
            <a:spLocks noChangeShapeType="1"/>
          </p:cNvSpPr>
          <p:nvPr/>
        </p:nvSpPr>
        <p:spPr bwMode="auto">
          <a:xfrm flipH="1">
            <a:off x="3291417" y="5662083"/>
            <a:ext cx="698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34" name="AutoShape 44"/>
          <p:cNvSpPr>
            <a:spLocks noChangeArrowheads="1"/>
          </p:cNvSpPr>
          <p:nvPr/>
        </p:nvSpPr>
        <p:spPr bwMode="auto">
          <a:xfrm>
            <a:off x="2233084" y="4699000"/>
            <a:ext cx="1047750" cy="1185333"/>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dirty="0">
                <a:latin typeface="Comic Sans MS" pitchFamily="66" charset="0"/>
              </a:rPr>
              <a:t>Entropy </a:t>
            </a:r>
          </a:p>
          <a:p>
            <a:pPr algn="ctr"/>
            <a:r>
              <a:rPr lang="en-US" altLang="en-US" dirty="0">
                <a:latin typeface="Comic Sans MS" pitchFamily="66" charset="0"/>
              </a:rPr>
              <a:t>Coding</a:t>
            </a:r>
          </a:p>
        </p:txBody>
      </p:sp>
      <p:sp>
        <p:nvSpPr>
          <p:cNvPr id="4135" name="Rectangle 45"/>
          <p:cNvSpPr>
            <a:spLocks noChangeArrowheads="1"/>
          </p:cNvSpPr>
          <p:nvPr/>
        </p:nvSpPr>
        <p:spPr bwMode="auto">
          <a:xfrm>
            <a:off x="793751" y="4095751"/>
            <a:ext cx="1047750" cy="172508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36" name="Rectangle 46"/>
          <p:cNvSpPr>
            <a:spLocks noChangeArrowheads="1"/>
          </p:cNvSpPr>
          <p:nvPr/>
        </p:nvSpPr>
        <p:spPr bwMode="auto">
          <a:xfrm>
            <a:off x="793751" y="4095750"/>
            <a:ext cx="1047750" cy="2751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Header</a:t>
            </a:r>
          </a:p>
        </p:txBody>
      </p:sp>
      <p:sp>
        <p:nvSpPr>
          <p:cNvPr id="4137" name="Rectangle 50"/>
          <p:cNvSpPr>
            <a:spLocks noChangeArrowheads="1"/>
          </p:cNvSpPr>
          <p:nvPr/>
        </p:nvSpPr>
        <p:spPr bwMode="auto">
          <a:xfrm>
            <a:off x="793751" y="4370917"/>
            <a:ext cx="1047750" cy="27516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Tables</a:t>
            </a:r>
          </a:p>
        </p:txBody>
      </p:sp>
      <p:sp>
        <p:nvSpPr>
          <p:cNvPr id="4138" name="Rectangle 52"/>
          <p:cNvSpPr>
            <a:spLocks noChangeArrowheads="1"/>
          </p:cNvSpPr>
          <p:nvPr/>
        </p:nvSpPr>
        <p:spPr bwMode="auto">
          <a:xfrm>
            <a:off x="793751" y="4646084"/>
            <a:ext cx="1047750" cy="11747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Data</a:t>
            </a:r>
          </a:p>
        </p:txBody>
      </p:sp>
      <p:sp>
        <p:nvSpPr>
          <p:cNvPr id="4139" name="Rectangle 54"/>
          <p:cNvSpPr>
            <a:spLocks noChangeArrowheads="1"/>
          </p:cNvSpPr>
          <p:nvPr/>
        </p:nvSpPr>
        <p:spPr bwMode="auto">
          <a:xfrm>
            <a:off x="2730501" y="3249084"/>
            <a:ext cx="1047750" cy="6879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Coding</a:t>
            </a:r>
          </a:p>
          <a:p>
            <a:pPr algn="ctr"/>
            <a:r>
              <a:rPr lang="en-US" altLang="en-US">
                <a:latin typeface="Comic Sans MS" pitchFamily="66" charset="0"/>
              </a:rPr>
              <a:t>Tables</a:t>
            </a:r>
          </a:p>
        </p:txBody>
      </p:sp>
      <p:sp>
        <p:nvSpPr>
          <p:cNvPr id="4140" name="Rectangle 55"/>
          <p:cNvSpPr>
            <a:spLocks noChangeArrowheads="1"/>
          </p:cNvSpPr>
          <p:nvPr/>
        </p:nvSpPr>
        <p:spPr bwMode="auto">
          <a:xfrm>
            <a:off x="4487334" y="2624667"/>
            <a:ext cx="1047750" cy="6879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Quant…</a:t>
            </a:r>
          </a:p>
          <a:p>
            <a:pPr algn="ctr"/>
            <a:r>
              <a:rPr lang="en-US" altLang="en-US">
                <a:latin typeface="Comic Sans MS" pitchFamily="66" charset="0"/>
              </a:rPr>
              <a:t>Tables</a:t>
            </a:r>
          </a:p>
        </p:txBody>
      </p:sp>
      <p:sp>
        <p:nvSpPr>
          <p:cNvPr id="4141" name="Line 56"/>
          <p:cNvSpPr>
            <a:spLocks noChangeShapeType="1"/>
          </p:cNvSpPr>
          <p:nvPr/>
        </p:nvSpPr>
        <p:spPr bwMode="auto">
          <a:xfrm flipH="1">
            <a:off x="2381251" y="2910417"/>
            <a:ext cx="2106083"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42" name="Line 57"/>
          <p:cNvSpPr>
            <a:spLocks noChangeShapeType="1"/>
          </p:cNvSpPr>
          <p:nvPr/>
        </p:nvSpPr>
        <p:spPr bwMode="auto">
          <a:xfrm>
            <a:off x="2381250" y="2910417"/>
            <a:ext cx="0" cy="15875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43" name="Line 58"/>
          <p:cNvSpPr>
            <a:spLocks noChangeShapeType="1"/>
          </p:cNvSpPr>
          <p:nvPr/>
        </p:nvSpPr>
        <p:spPr bwMode="auto">
          <a:xfrm flipH="1">
            <a:off x="1841501" y="4476750"/>
            <a:ext cx="539750" cy="0"/>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44" name="Line 59"/>
          <p:cNvSpPr>
            <a:spLocks noChangeShapeType="1"/>
          </p:cNvSpPr>
          <p:nvPr/>
        </p:nvSpPr>
        <p:spPr bwMode="auto">
          <a:xfrm flipH="1" flipV="1">
            <a:off x="2381251" y="3651250"/>
            <a:ext cx="34925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4145" name="Line 60"/>
          <p:cNvSpPr>
            <a:spLocks noChangeShapeType="1"/>
          </p:cNvSpPr>
          <p:nvPr/>
        </p:nvSpPr>
        <p:spPr bwMode="auto">
          <a:xfrm flipV="1">
            <a:off x="4974167" y="1947334"/>
            <a:ext cx="0" cy="677333"/>
          </a:xfrm>
          <a:prstGeom prst="line">
            <a:avLst/>
          </a:prstGeom>
          <a:noFill/>
          <a:ln w="9525">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grpSp>
        <p:nvGrpSpPr>
          <p:cNvPr id="4146" name="Group 72"/>
          <p:cNvGrpSpPr>
            <a:grpSpLocks/>
          </p:cNvGrpSpPr>
          <p:nvPr/>
        </p:nvGrpSpPr>
        <p:grpSpPr bwMode="auto">
          <a:xfrm>
            <a:off x="2021417" y="1365250"/>
            <a:ext cx="1735667" cy="959556"/>
            <a:chOff x="1146" y="774"/>
            <a:chExt cx="984" cy="544"/>
          </a:xfrm>
        </p:grpSpPr>
        <p:sp>
          <p:nvSpPr>
            <p:cNvPr id="4159" name="Line 27"/>
            <p:cNvSpPr>
              <a:spLocks noChangeShapeType="1"/>
            </p:cNvSpPr>
            <p:nvPr/>
          </p:nvSpPr>
          <p:spPr bwMode="auto">
            <a:xfrm>
              <a:off x="1146" y="960"/>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4160" name="Group 70"/>
            <p:cNvGrpSpPr>
              <a:grpSpLocks/>
            </p:cNvGrpSpPr>
            <p:nvPr/>
          </p:nvGrpSpPr>
          <p:grpSpPr bwMode="auto">
            <a:xfrm>
              <a:off x="1160" y="774"/>
              <a:ext cx="970" cy="544"/>
              <a:chOff x="1160" y="774"/>
              <a:chExt cx="970" cy="544"/>
            </a:xfrm>
          </p:grpSpPr>
          <p:sp>
            <p:nvSpPr>
              <p:cNvPr id="4161" name="Rectangle 28"/>
              <p:cNvSpPr>
                <a:spLocks noChangeArrowheads="1"/>
              </p:cNvSpPr>
              <p:nvPr/>
            </p:nvSpPr>
            <p:spPr bwMode="auto">
              <a:xfrm>
                <a:off x="1266" y="1002"/>
                <a:ext cx="144" cy="1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62" name="AutoShape 29"/>
              <p:cNvSpPr>
                <a:spLocks noChangeArrowheads="1"/>
              </p:cNvSpPr>
              <p:nvPr/>
            </p:nvSpPr>
            <p:spPr bwMode="auto">
              <a:xfrm>
                <a:off x="1536" y="798"/>
                <a:ext cx="594" cy="306"/>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DCT</a:t>
                </a:r>
              </a:p>
            </p:txBody>
          </p:sp>
          <p:sp>
            <p:nvSpPr>
              <p:cNvPr id="4163" name="Text Box 61"/>
              <p:cNvSpPr txBox="1">
                <a:spLocks noChangeArrowheads="1"/>
              </p:cNvSpPr>
              <p:nvPr/>
            </p:nvSpPr>
            <p:spPr bwMode="auto">
              <a:xfrm>
                <a:off x="1160" y="774"/>
                <a:ext cx="341"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300">
                    <a:latin typeface="Comic Sans MS" pitchFamily="66" charset="0"/>
                  </a:rPr>
                  <a:t>f(i, j)</a:t>
                </a:r>
              </a:p>
            </p:txBody>
          </p:sp>
          <p:sp>
            <p:nvSpPr>
              <p:cNvPr id="4164" name="Text Box 63"/>
              <p:cNvSpPr txBox="1">
                <a:spLocks noChangeArrowheads="1"/>
              </p:cNvSpPr>
              <p:nvPr/>
            </p:nvSpPr>
            <p:spPr bwMode="auto">
              <a:xfrm>
                <a:off x="1166" y="1152"/>
                <a:ext cx="331"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300">
                    <a:latin typeface="Comic Sans MS" pitchFamily="66" charset="0"/>
                  </a:rPr>
                  <a:t>8 x 8</a:t>
                </a:r>
              </a:p>
            </p:txBody>
          </p:sp>
        </p:grpSp>
      </p:grpSp>
      <p:grpSp>
        <p:nvGrpSpPr>
          <p:cNvPr id="4147" name="Group 71"/>
          <p:cNvGrpSpPr>
            <a:grpSpLocks/>
          </p:cNvGrpSpPr>
          <p:nvPr/>
        </p:nvGrpSpPr>
        <p:grpSpPr bwMode="auto">
          <a:xfrm>
            <a:off x="3728863" y="1354667"/>
            <a:ext cx="672042" cy="970139"/>
            <a:chOff x="2114" y="768"/>
            <a:chExt cx="381" cy="550"/>
          </a:xfrm>
        </p:grpSpPr>
        <p:sp>
          <p:nvSpPr>
            <p:cNvPr id="4156" name="Rectangle 33"/>
            <p:cNvSpPr>
              <a:spLocks noChangeArrowheads="1"/>
            </p:cNvSpPr>
            <p:nvPr/>
          </p:nvSpPr>
          <p:spPr bwMode="auto">
            <a:xfrm>
              <a:off x="2214" y="984"/>
              <a:ext cx="144" cy="1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57" name="Text Box 62"/>
            <p:cNvSpPr txBox="1">
              <a:spLocks noChangeArrowheads="1"/>
            </p:cNvSpPr>
            <p:nvPr/>
          </p:nvSpPr>
          <p:spPr bwMode="auto">
            <a:xfrm>
              <a:off x="2114" y="768"/>
              <a:ext cx="381"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300">
                  <a:latin typeface="Comic Sans MS" pitchFamily="66" charset="0"/>
                </a:rPr>
                <a:t>F(u, v)</a:t>
              </a:r>
            </a:p>
          </p:txBody>
        </p:sp>
        <p:sp>
          <p:nvSpPr>
            <p:cNvPr id="4158" name="Text Box 64"/>
            <p:cNvSpPr txBox="1">
              <a:spLocks noChangeArrowheads="1"/>
            </p:cNvSpPr>
            <p:nvPr/>
          </p:nvSpPr>
          <p:spPr bwMode="auto">
            <a:xfrm>
              <a:off x="2126" y="1152"/>
              <a:ext cx="331"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300">
                  <a:latin typeface="Comic Sans MS" pitchFamily="66" charset="0"/>
                </a:rPr>
                <a:t>8 x 8</a:t>
              </a:r>
            </a:p>
          </p:txBody>
        </p:sp>
      </p:grpSp>
      <p:sp>
        <p:nvSpPr>
          <p:cNvPr id="4148" name="Line 65"/>
          <p:cNvSpPr>
            <a:spLocks noChangeShapeType="1"/>
          </p:cNvSpPr>
          <p:nvPr/>
        </p:nvSpPr>
        <p:spPr bwMode="auto">
          <a:xfrm flipH="1">
            <a:off x="1852083" y="5249333"/>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grpSp>
        <p:nvGrpSpPr>
          <p:cNvPr id="4149" name="Group 73"/>
          <p:cNvGrpSpPr>
            <a:grpSpLocks/>
          </p:cNvGrpSpPr>
          <p:nvPr/>
        </p:nvGrpSpPr>
        <p:grpSpPr bwMode="auto">
          <a:xfrm>
            <a:off x="3757083" y="1344084"/>
            <a:ext cx="2518834" cy="624417"/>
            <a:chOff x="2130" y="762"/>
            <a:chExt cx="1428" cy="354"/>
          </a:xfrm>
        </p:grpSpPr>
        <p:sp>
          <p:nvSpPr>
            <p:cNvPr id="4152" name="AutoShape 31"/>
            <p:cNvSpPr>
              <a:spLocks noChangeArrowheads="1"/>
            </p:cNvSpPr>
            <p:nvPr/>
          </p:nvSpPr>
          <p:spPr bwMode="auto">
            <a:xfrm>
              <a:off x="2490" y="798"/>
              <a:ext cx="684" cy="306"/>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Quantization</a:t>
              </a:r>
            </a:p>
          </p:txBody>
        </p:sp>
        <p:sp>
          <p:nvSpPr>
            <p:cNvPr id="4153" name="Line 32"/>
            <p:cNvSpPr>
              <a:spLocks noChangeShapeType="1"/>
            </p:cNvSpPr>
            <p:nvPr/>
          </p:nvSpPr>
          <p:spPr bwMode="auto">
            <a:xfrm>
              <a:off x="2130" y="960"/>
              <a:ext cx="3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154" name="Rectangle 66"/>
            <p:cNvSpPr>
              <a:spLocks noChangeArrowheads="1"/>
            </p:cNvSpPr>
            <p:nvPr/>
          </p:nvSpPr>
          <p:spPr bwMode="auto">
            <a:xfrm>
              <a:off x="3228" y="978"/>
              <a:ext cx="144" cy="1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4155" name="Text Box 67"/>
            <p:cNvSpPr txBox="1">
              <a:spLocks noChangeArrowheads="1"/>
            </p:cNvSpPr>
            <p:nvPr/>
          </p:nvSpPr>
          <p:spPr bwMode="auto">
            <a:xfrm>
              <a:off x="3128" y="762"/>
              <a:ext cx="430"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300">
                  <a:latin typeface="Comic Sans MS" pitchFamily="66" charset="0"/>
                </a:rPr>
                <a:t>Fq(u, v)</a:t>
              </a:r>
            </a:p>
          </p:txBody>
        </p:sp>
      </p:grpSp>
      <p:sp>
        <p:nvSpPr>
          <p:cNvPr id="4150" name="Text Box 68"/>
          <p:cNvSpPr txBox="1">
            <a:spLocks noChangeArrowheads="1"/>
          </p:cNvSpPr>
          <p:nvPr/>
        </p:nvSpPr>
        <p:spPr bwMode="auto">
          <a:xfrm>
            <a:off x="5655649" y="3497793"/>
            <a:ext cx="838369" cy="53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latin typeface="Comic Sans MS" pitchFamily="66" charset="0"/>
              </a:rPr>
              <a:t>Zig Zag</a:t>
            </a:r>
          </a:p>
          <a:p>
            <a:pPr algn="ctr"/>
            <a:r>
              <a:rPr lang="en-US" altLang="en-US">
                <a:latin typeface="Comic Sans MS" pitchFamily="66" charset="0"/>
              </a:rPr>
              <a:t>Scan</a:t>
            </a:r>
          </a:p>
        </p:txBody>
      </p:sp>
      <p:sp>
        <p:nvSpPr>
          <p:cNvPr id="4151" name="Rectangle 69"/>
          <p:cNvSpPr>
            <a:spLocks noChangeArrowheads="1"/>
          </p:cNvSpPr>
          <p:nvPr/>
        </p:nvSpPr>
        <p:spPr bwMode="auto">
          <a:xfrm>
            <a:off x="6529917" y="1206500"/>
            <a:ext cx="3321403" cy="57291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457200" indent="-457200">
              <a:defRPr sz="1400">
                <a:solidFill>
                  <a:schemeClr val="tx1"/>
                </a:solidFill>
                <a:latin typeface="Times New Roman" pitchFamily="18" charset="0"/>
              </a:defRPr>
            </a:lvl1pPr>
            <a:lvl2pPr marL="914400" indent="-457200">
              <a:defRPr sz="1400">
                <a:solidFill>
                  <a:schemeClr val="tx1"/>
                </a:solidFill>
                <a:latin typeface="Times New Roman" pitchFamily="18" charset="0"/>
              </a:defRPr>
            </a:lvl2pPr>
            <a:lvl3pPr marL="1371600" indent="-457200">
              <a:defRPr sz="1400">
                <a:solidFill>
                  <a:schemeClr val="tx1"/>
                </a:solidFill>
                <a:latin typeface="Times New Roman" pitchFamily="18" charset="0"/>
              </a:defRPr>
            </a:lvl3pPr>
            <a:lvl4pPr marL="1828800" indent="-457200">
              <a:defRPr sz="1400">
                <a:solidFill>
                  <a:schemeClr val="tx1"/>
                </a:solidFill>
                <a:latin typeface="Times New Roman" pitchFamily="18" charset="0"/>
              </a:defRPr>
            </a:lvl4pPr>
            <a:lvl5pPr marL="2286000" indent="-457200">
              <a:defRPr sz="1400">
                <a:solidFill>
                  <a:schemeClr val="tx1"/>
                </a:solidFill>
                <a:latin typeface="Times New Roman" pitchFamily="18" charset="0"/>
              </a:defRPr>
            </a:lvl5pPr>
            <a:lvl6pPr marL="2743200" indent="-457200" eaLnBrk="0" fontAlgn="base" hangingPunct="0">
              <a:spcBef>
                <a:spcPct val="0"/>
              </a:spcBef>
              <a:spcAft>
                <a:spcPct val="0"/>
              </a:spcAft>
              <a:defRPr sz="1400">
                <a:solidFill>
                  <a:schemeClr val="tx1"/>
                </a:solidFill>
                <a:latin typeface="Times New Roman" pitchFamily="18" charset="0"/>
              </a:defRPr>
            </a:lvl6pPr>
            <a:lvl7pPr marL="3200400" indent="-457200" eaLnBrk="0" fontAlgn="base" hangingPunct="0">
              <a:spcBef>
                <a:spcPct val="0"/>
              </a:spcBef>
              <a:spcAft>
                <a:spcPct val="0"/>
              </a:spcAft>
              <a:defRPr sz="1400">
                <a:solidFill>
                  <a:schemeClr val="tx1"/>
                </a:solidFill>
                <a:latin typeface="Times New Roman" pitchFamily="18" charset="0"/>
              </a:defRPr>
            </a:lvl7pPr>
            <a:lvl8pPr marL="3657600" indent="-457200" eaLnBrk="0" fontAlgn="base" hangingPunct="0">
              <a:spcBef>
                <a:spcPct val="0"/>
              </a:spcBef>
              <a:spcAft>
                <a:spcPct val="0"/>
              </a:spcAft>
              <a:defRPr sz="1400">
                <a:solidFill>
                  <a:schemeClr val="tx1"/>
                </a:solidFill>
                <a:latin typeface="Times New Roman" pitchFamily="18" charset="0"/>
              </a:defRPr>
            </a:lvl8pPr>
            <a:lvl9pPr marL="4114800" indent="-457200" eaLnBrk="0" fontAlgn="base" hangingPunct="0">
              <a:spcBef>
                <a:spcPct val="0"/>
              </a:spcBef>
              <a:spcAft>
                <a:spcPct val="0"/>
              </a:spcAft>
              <a:defRPr sz="1400">
                <a:solidFill>
                  <a:schemeClr val="tx1"/>
                </a:solidFill>
                <a:latin typeface="Times New Roman" pitchFamily="18" charset="0"/>
              </a:defRPr>
            </a:lvl9pPr>
          </a:lstStyle>
          <a:p>
            <a:pPr>
              <a:spcBef>
                <a:spcPct val="20000"/>
              </a:spcBef>
              <a:buClr>
                <a:schemeClr val="accent2"/>
              </a:buClr>
              <a:buSzPct val="85000"/>
              <a:buFont typeface="ZapfDingbats" pitchFamily="82" charset="0"/>
              <a:buNone/>
            </a:pPr>
            <a:r>
              <a:rPr lang="en-US" altLang="en-US" sz="1800">
                <a:latin typeface="Comic Sans MS" pitchFamily="66" charset="0"/>
              </a:rPr>
              <a:t>Steps Involved:</a:t>
            </a:r>
          </a:p>
          <a:p>
            <a:pPr>
              <a:spcBef>
                <a:spcPct val="20000"/>
              </a:spcBef>
              <a:buClr>
                <a:schemeClr val="accent2"/>
              </a:buClr>
              <a:buSzPct val="85000"/>
              <a:buFont typeface="ZapfDingbats" pitchFamily="82" charset="0"/>
              <a:buAutoNum type="arabicPeriod"/>
            </a:pPr>
            <a:r>
              <a:rPr lang="en-US" altLang="en-US" sz="1800">
                <a:latin typeface="Comic Sans MS" pitchFamily="66" charset="0"/>
              </a:rPr>
              <a:t>Discrete Cosine Transform of each 8x8 pixel array</a:t>
            </a:r>
            <a:br>
              <a:rPr lang="en-US" altLang="en-US" sz="1800">
                <a:latin typeface="Comic Sans MS" pitchFamily="66" charset="0"/>
              </a:rPr>
            </a:br>
            <a:r>
              <a:rPr lang="en-US" altLang="en-US" sz="1800">
                <a:latin typeface="Comic Sans MS" pitchFamily="66" charset="0"/>
              </a:rPr>
              <a:t>f(x,y) </a:t>
            </a:r>
            <a:r>
              <a:rPr lang="en-US" altLang="en-US" sz="1800">
                <a:latin typeface="Comic Sans MS" pitchFamily="66" charset="0"/>
                <a:sym typeface="Wingdings" pitchFamily="2" charset="2"/>
              </a:rPr>
              <a:t></a:t>
            </a:r>
            <a:r>
              <a:rPr lang="en-US" altLang="en-US" sz="1800" baseline="-25000">
                <a:latin typeface="Comic Sans MS" pitchFamily="66" charset="0"/>
                <a:sym typeface="Wingdings" pitchFamily="2" charset="2"/>
              </a:rPr>
              <a:t>T</a:t>
            </a:r>
            <a:r>
              <a:rPr lang="en-US" altLang="en-US" sz="1800">
                <a:latin typeface="Comic Sans MS" pitchFamily="66" charset="0"/>
                <a:sym typeface="Wingdings" pitchFamily="2" charset="2"/>
              </a:rPr>
              <a:t> F(u,v)</a:t>
            </a:r>
          </a:p>
          <a:p>
            <a:pPr>
              <a:spcBef>
                <a:spcPct val="20000"/>
              </a:spcBef>
              <a:buClr>
                <a:schemeClr val="accent2"/>
              </a:buClr>
              <a:buSzPct val="85000"/>
              <a:buFont typeface="ZapfDingbats" pitchFamily="82" charset="0"/>
              <a:buAutoNum type="arabicPeriod"/>
            </a:pPr>
            <a:r>
              <a:rPr lang="en-US" altLang="en-US" sz="1800">
                <a:latin typeface="Comic Sans MS" pitchFamily="66" charset="0"/>
                <a:sym typeface="Wingdings" pitchFamily="2" charset="2"/>
              </a:rPr>
              <a:t>Quantization using a table or using a constant</a:t>
            </a:r>
          </a:p>
          <a:p>
            <a:pPr>
              <a:spcBef>
                <a:spcPct val="20000"/>
              </a:spcBef>
              <a:buClr>
                <a:schemeClr val="accent2"/>
              </a:buClr>
              <a:buSzPct val="85000"/>
              <a:buFont typeface="ZapfDingbats" pitchFamily="82" charset="0"/>
              <a:buAutoNum type="arabicPeriod"/>
            </a:pPr>
            <a:r>
              <a:rPr lang="en-US" altLang="en-US" sz="1800">
                <a:latin typeface="Comic Sans MS" pitchFamily="66" charset="0"/>
                <a:sym typeface="Wingdings" pitchFamily="2" charset="2"/>
              </a:rPr>
              <a:t>Zig-Zag scan to exploit redundancy</a:t>
            </a:r>
          </a:p>
          <a:p>
            <a:pPr>
              <a:spcBef>
                <a:spcPct val="20000"/>
              </a:spcBef>
              <a:buClr>
                <a:schemeClr val="accent2"/>
              </a:buClr>
              <a:buSzPct val="85000"/>
              <a:buFont typeface="ZapfDingbats" pitchFamily="82" charset="0"/>
              <a:buAutoNum type="arabicPeriod"/>
            </a:pPr>
            <a:r>
              <a:rPr lang="en-US" altLang="en-US" sz="1800">
                <a:latin typeface="Comic Sans MS" pitchFamily="66" charset="0"/>
              </a:rPr>
              <a:t>Differential Pulse Code Modulation(DPCM) on the DC component and Run length Coding of the AC components</a:t>
            </a:r>
          </a:p>
          <a:p>
            <a:pPr>
              <a:spcBef>
                <a:spcPct val="20000"/>
              </a:spcBef>
              <a:buClr>
                <a:schemeClr val="accent2"/>
              </a:buClr>
              <a:buSzPct val="85000"/>
              <a:buFont typeface="ZapfDingbats" pitchFamily="82" charset="0"/>
              <a:buAutoNum type="arabicPeriod"/>
            </a:pPr>
            <a:r>
              <a:rPr lang="en-US" altLang="en-US" sz="1800">
                <a:latin typeface="Comic Sans MS" pitchFamily="66" charset="0"/>
              </a:rPr>
              <a:t>Entropy coding (Huffman) of the final output</a:t>
            </a:r>
          </a:p>
        </p:txBody>
      </p:sp>
    </p:spTree>
    <p:extLst>
      <p:ext uri="{BB962C8B-B14F-4D97-AF65-F5344CB8AC3E}">
        <p14:creationId xmlns:p14="http://schemas.microsoft.com/office/powerpoint/2010/main" val="36661445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C5722209-2064-453A-9381-B4D9BBB1B620}" type="slidenum">
              <a:rPr lang="en-US" altLang="en-US"/>
              <a:pPr/>
              <a:t>68</a:t>
            </a:fld>
            <a:endParaRPr lang="en-US" altLang="en-US"/>
          </a:p>
        </p:txBody>
      </p:sp>
      <p:sp>
        <p:nvSpPr>
          <p:cNvPr id="5123" name="Rectangle 2"/>
          <p:cNvSpPr>
            <a:spLocks noGrp="1" noChangeArrowheads="1"/>
          </p:cNvSpPr>
          <p:nvPr>
            <p:ph type="title"/>
          </p:nvPr>
        </p:nvSpPr>
        <p:spPr>
          <a:xfrm>
            <a:off x="592667" y="254000"/>
            <a:ext cx="8636000" cy="687917"/>
          </a:xfrm>
        </p:spPr>
        <p:txBody>
          <a:bodyPr/>
          <a:lstStyle/>
          <a:p>
            <a:r>
              <a:rPr lang="en-US" altLang="en-US" sz="3600"/>
              <a:t>DCT : Discrete Cosine Transform</a:t>
            </a:r>
          </a:p>
        </p:txBody>
      </p:sp>
      <p:sp>
        <p:nvSpPr>
          <p:cNvPr id="5124" name="Rectangle 3"/>
          <p:cNvSpPr>
            <a:spLocks noGrp="1" noChangeArrowheads="1"/>
          </p:cNvSpPr>
          <p:nvPr>
            <p:ph type="body" idx="1"/>
          </p:nvPr>
        </p:nvSpPr>
        <p:spPr>
          <a:xfrm>
            <a:off x="592667" y="1132417"/>
            <a:ext cx="8636000" cy="3767667"/>
          </a:xfrm>
        </p:spPr>
        <p:txBody>
          <a:bodyPr/>
          <a:lstStyle/>
          <a:p>
            <a:pPr>
              <a:lnSpc>
                <a:spcPct val="90000"/>
              </a:lnSpc>
              <a:buFont typeface="ZapfDingbats" pitchFamily="82" charset="0"/>
              <a:buNone/>
            </a:pPr>
            <a:r>
              <a:rPr lang="en-US" altLang="en-US" sz="2200" b="1"/>
              <a:t>DCT</a:t>
            </a:r>
            <a:r>
              <a:rPr lang="en-US" altLang="en-US" sz="2200"/>
              <a:t> converts the information contained in a block(8x8) of pixels from </a:t>
            </a:r>
            <a:r>
              <a:rPr lang="en-US" altLang="en-US" sz="2200" b="1" i="1"/>
              <a:t>spatial</a:t>
            </a:r>
            <a:r>
              <a:rPr lang="en-US" altLang="en-US" sz="2200"/>
              <a:t> domain to the </a:t>
            </a:r>
            <a:r>
              <a:rPr lang="en-US" altLang="en-US" sz="2200" b="1" i="1"/>
              <a:t>frequency</a:t>
            </a:r>
            <a:r>
              <a:rPr lang="en-US" altLang="en-US" sz="2200"/>
              <a:t> domain.</a:t>
            </a:r>
          </a:p>
          <a:p>
            <a:pPr lvl="1">
              <a:lnSpc>
                <a:spcPct val="90000"/>
              </a:lnSpc>
            </a:pPr>
            <a:r>
              <a:rPr lang="en-US" altLang="en-US" sz="2000"/>
              <a:t>A simple analogy: Consider a unsorted list of 12 numbers between 0 and 3 -&gt; (</a:t>
            </a:r>
            <a:r>
              <a:rPr lang="en-US" altLang="en-US" sz="2000" i="1"/>
              <a:t>2, 3, 1, 2, 2, 0, 1, 1, 0, 1, 0, 0</a:t>
            </a:r>
            <a:r>
              <a:rPr lang="en-US" altLang="en-US" sz="2000"/>
              <a:t>). Consider a transformation of the list involving two steps (1.) sort the list (2.) Count the frequency of occurrence of each of the numbers -&gt;(</a:t>
            </a:r>
            <a:r>
              <a:rPr lang="en-US" altLang="en-US" sz="2000" i="1"/>
              <a:t>4,4,3,1 </a:t>
            </a:r>
            <a:r>
              <a:rPr lang="en-US" altLang="en-US" sz="2000"/>
              <a:t>). : Through this transformation we lost the spatial information but captured the frequency information.</a:t>
            </a:r>
          </a:p>
          <a:p>
            <a:pPr lvl="1">
              <a:lnSpc>
                <a:spcPct val="90000"/>
              </a:lnSpc>
            </a:pPr>
            <a:r>
              <a:rPr lang="en-US" altLang="en-US" sz="2000"/>
              <a:t>There are other transformations which retain the spatial information. E.g., Fourier transform, DCT etc. Therefore allowing us to move back and forth between spatial and frequency domains.</a:t>
            </a:r>
            <a:endParaRPr lang="en-US" altLang="en-US" sz="1800"/>
          </a:p>
          <a:p>
            <a:pPr>
              <a:lnSpc>
                <a:spcPct val="90000"/>
              </a:lnSpc>
              <a:buFont typeface="ZapfDingbats" pitchFamily="82" charset="0"/>
              <a:buNone/>
            </a:pPr>
            <a:r>
              <a:rPr lang="en-US" altLang="en-US" sz="2200"/>
              <a:t>1-D DCT:			       1-D Inverese DCT:</a:t>
            </a:r>
          </a:p>
        </p:txBody>
      </p:sp>
      <p:graphicFrame>
        <p:nvGraphicFramePr>
          <p:cNvPr id="5125" name="Object 7"/>
          <p:cNvGraphicFramePr>
            <a:graphicFrameLocks noChangeAspect="1"/>
          </p:cNvGraphicFramePr>
          <p:nvPr/>
        </p:nvGraphicFramePr>
        <p:xfrm>
          <a:off x="735542" y="5690305"/>
          <a:ext cx="3640667" cy="832556"/>
        </p:xfrm>
        <a:graphic>
          <a:graphicData uri="http://schemas.openxmlformats.org/presentationml/2006/ole">
            <mc:AlternateContent xmlns:mc="http://schemas.openxmlformats.org/markup-compatibility/2006">
              <mc:Choice xmlns:v="urn:schemas-microsoft-com:vml" Requires="v">
                <p:oleObj spid="_x0000_s1029" name="Equation" r:id="rId3" imgW="3276600" imgH="749300" progId="Equation.3">
                  <p:embed/>
                </p:oleObj>
              </mc:Choice>
              <mc:Fallback>
                <p:oleObj name="Equation" r:id="rId3" imgW="3276600" imgH="749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542" y="5690305"/>
                        <a:ext cx="3640667" cy="8325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6" name="Object 8"/>
          <p:cNvGraphicFramePr>
            <a:graphicFrameLocks noChangeAspect="1"/>
          </p:cNvGraphicFramePr>
          <p:nvPr/>
        </p:nvGraphicFramePr>
        <p:xfrm>
          <a:off x="4295070" y="6101292"/>
          <a:ext cx="1608667" cy="903111"/>
        </p:xfrm>
        <a:graphic>
          <a:graphicData uri="http://schemas.openxmlformats.org/presentationml/2006/ole">
            <mc:AlternateContent xmlns:mc="http://schemas.openxmlformats.org/markup-compatibility/2006">
              <mc:Choice xmlns:v="urn:schemas-microsoft-com:vml" Requires="v">
                <p:oleObj spid="_x0000_s1030" name="Equation" r:id="rId5" imgW="1447800" imgH="812800" progId="Equation.3">
                  <p:embed/>
                </p:oleObj>
              </mc:Choice>
              <mc:Fallback>
                <p:oleObj name="Equation" r:id="rId5" imgW="1447800" imgH="812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070" y="6101292"/>
                        <a:ext cx="1608667" cy="903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7" name="Line 10"/>
          <p:cNvSpPr>
            <a:spLocks noChangeShapeType="1"/>
          </p:cNvSpPr>
          <p:nvPr/>
        </p:nvSpPr>
        <p:spPr bwMode="auto">
          <a:xfrm>
            <a:off x="5281083" y="5058833"/>
            <a:ext cx="0" cy="7831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graphicFrame>
        <p:nvGraphicFramePr>
          <p:cNvPr id="5128" name="Object 12"/>
          <p:cNvGraphicFramePr>
            <a:graphicFrameLocks noChangeAspect="1"/>
          </p:cNvGraphicFramePr>
          <p:nvPr/>
        </p:nvGraphicFramePr>
        <p:xfrm>
          <a:off x="5663848" y="5713236"/>
          <a:ext cx="3725333" cy="832556"/>
        </p:xfrm>
        <a:graphic>
          <a:graphicData uri="http://schemas.openxmlformats.org/presentationml/2006/ole">
            <mc:AlternateContent xmlns:mc="http://schemas.openxmlformats.org/markup-compatibility/2006">
              <mc:Choice xmlns:v="urn:schemas-microsoft-com:vml" Requires="v">
                <p:oleObj spid="_x0000_s1031" name="Equation" r:id="rId7" imgW="3352800" imgH="749300" progId="Equation.3">
                  <p:embed/>
                </p:oleObj>
              </mc:Choice>
              <mc:Fallback>
                <p:oleObj name="Equation" r:id="rId7" imgW="3352800" imgH="749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3848" y="5713236"/>
                        <a:ext cx="3725333" cy="8325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415768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1F3B5716-9231-44CE-99F4-E395BEAD7755}" type="slidenum">
              <a:rPr lang="en-US" altLang="en-US"/>
              <a:pPr/>
              <a:t>69</a:t>
            </a:fld>
            <a:endParaRPr lang="en-US" altLang="en-US"/>
          </a:p>
        </p:txBody>
      </p:sp>
      <p:sp>
        <p:nvSpPr>
          <p:cNvPr id="6147" name="Rectangle 2"/>
          <p:cNvSpPr>
            <a:spLocks noGrp="1" noChangeArrowheads="1"/>
          </p:cNvSpPr>
          <p:nvPr>
            <p:ph type="title"/>
          </p:nvPr>
        </p:nvSpPr>
        <p:spPr>
          <a:xfrm>
            <a:off x="592667" y="254000"/>
            <a:ext cx="8636000" cy="677333"/>
          </a:xfrm>
        </p:spPr>
        <p:txBody>
          <a:bodyPr/>
          <a:lstStyle/>
          <a:p>
            <a:r>
              <a:rPr lang="en-US" altLang="en-US" sz="3600"/>
              <a:t>Example and Comparison</a:t>
            </a:r>
          </a:p>
        </p:txBody>
      </p:sp>
      <p:graphicFrame>
        <p:nvGraphicFramePr>
          <p:cNvPr id="6148" name="Object 3"/>
          <p:cNvGraphicFramePr>
            <a:graphicFrameLocks noChangeAspect="1"/>
          </p:cNvGraphicFramePr>
          <p:nvPr/>
        </p:nvGraphicFramePr>
        <p:xfrm>
          <a:off x="2307167" y="878417"/>
          <a:ext cx="3524250" cy="1513417"/>
        </p:xfrm>
        <a:graphic>
          <a:graphicData uri="http://schemas.openxmlformats.org/presentationml/2006/ole">
            <mc:AlternateContent xmlns:mc="http://schemas.openxmlformats.org/markup-compatibility/2006">
              <mc:Choice xmlns:v="urn:schemas-microsoft-com:vml" Requires="v">
                <p:oleObj spid="_x0000_s2053" name="Chart" r:id="rId3" imgW="4757839" imgH="2043211" progId="MSGraph.Chart.8">
                  <p:embed followColorScheme="full"/>
                </p:oleObj>
              </mc:Choice>
              <mc:Fallback>
                <p:oleObj name="Chart" r:id="rId3" imgW="4757839" imgH="2043211" progId="MSGraph.Chart.8">
                  <p:embed followColorScheme="full"/>
                  <p:pic>
                    <p:nvPicPr>
                      <p:cNvPr id="0" name=""/>
                      <p:cNvPicPr>
                        <a:picLocks noChangeAspect="1" noChangeArrowheads="1"/>
                      </p:cNvPicPr>
                      <p:nvPr/>
                    </p:nvPicPr>
                    <p:blipFill>
                      <a:blip r:embed="rId4"/>
                      <a:srcRect/>
                      <a:stretch>
                        <a:fillRect/>
                      </a:stretch>
                    </p:blipFill>
                    <p:spPr bwMode="auto">
                      <a:xfrm>
                        <a:off x="2307167" y="878417"/>
                        <a:ext cx="3524250" cy="1513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Line 4"/>
          <p:cNvSpPr>
            <a:spLocks noChangeShapeType="1"/>
          </p:cNvSpPr>
          <p:nvPr/>
        </p:nvSpPr>
        <p:spPr bwMode="auto">
          <a:xfrm flipH="1">
            <a:off x="2010834" y="2286000"/>
            <a:ext cx="1682750" cy="444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6150" name="Line 5"/>
          <p:cNvSpPr>
            <a:spLocks noChangeShapeType="1"/>
          </p:cNvSpPr>
          <p:nvPr/>
        </p:nvSpPr>
        <p:spPr bwMode="auto">
          <a:xfrm>
            <a:off x="5291667" y="2222501"/>
            <a:ext cx="1979083" cy="4762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graphicFrame>
        <p:nvGraphicFramePr>
          <p:cNvPr id="140479" name="Group 191"/>
          <p:cNvGraphicFramePr>
            <a:graphicFrameLocks noGrp="1"/>
          </p:cNvGraphicFramePr>
          <p:nvPr/>
        </p:nvGraphicFramePr>
        <p:xfrm>
          <a:off x="560917" y="2843389"/>
          <a:ext cx="3587751" cy="324556"/>
        </p:xfrm>
        <a:graphic>
          <a:graphicData uri="http://schemas.openxmlformats.org/drawingml/2006/table">
            <a:tbl>
              <a:tblPr/>
              <a:tblGrid>
                <a:gridCol w="571500">
                  <a:extLst>
                    <a:ext uri="{9D8B030D-6E8A-4147-A177-3AD203B41FA5}">
                      <a16:colId xmlns="" xmlns:a16="http://schemas.microsoft.com/office/drawing/2014/main" val="20000"/>
                    </a:ext>
                  </a:extLst>
                </a:gridCol>
                <a:gridCol w="571500">
                  <a:extLst>
                    <a:ext uri="{9D8B030D-6E8A-4147-A177-3AD203B41FA5}">
                      <a16:colId xmlns="" xmlns:a16="http://schemas.microsoft.com/office/drawing/2014/main" val="20001"/>
                    </a:ext>
                  </a:extLst>
                </a:gridCol>
                <a:gridCol w="338667">
                  <a:extLst>
                    <a:ext uri="{9D8B030D-6E8A-4147-A177-3AD203B41FA5}">
                      <a16:colId xmlns="" xmlns:a16="http://schemas.microsoft.com/office/drawing/2014/main" val="20002"/>
                    </a:ext>
                  </a:extLst>
                </a:gridCol>
                <a:gridCol w="402167">
                  <a:extLst>
                    <a:ext uri="{9D8B030D-6E8A-4147-A177-3AD203B41FA5}">
                      <a16:colId xmlns="" xmlns:a16="http://schemas.microsoft.com/office/drawing/2014/main" val="20003"/>
                    </a:ext>
                  </a:extLst>
                </a:gridCol>
                <a:gridCol w="359833">
                  <a:extLst>
                    <a:ext uri="{9D8B030D-6E8A-4147-A177-3AD203B41FA5}">
                      <a16:colId xmlns="" xmlns:a16="http://schemas.microsoft.com/office/drawing/2014/main" val="20004"/>
                    </a:ext>
                  </a:extLst>
                </a:gridCol>
                <a:gridCol w="448028">
                  <a:extLst>
                    <a:ext uri="{9D8B030D-6E8A-4147-A177-3AD203B41FA5}">
                      <a16:colId xmlns="" xmlns:a16="http://schemas.microsoft.com/office/drawing/2014/main" val="20005"/>
                    </a:ext>
                  </a:extLst>
                </a:gridCol>
                <a:gridCol w="366889">
                  <a:extLst>
                    <a:ext uri="{9D8B030D-6E8A-4147-A177-3AD203B41FA5}">
                      <a16:colId xmlns="" xmlns:a16="http://schemas.microsoft.com/office/drawing/2014/main" val="20006"/>
                    </a:ext>
                  </a:extLst>
                </a:gridCol>
                <a:gridCol w="529167">
                  <a:extLst>
                    <a:ext uri="{9D8B030D-6E8A-4147-A177-3AD203B41FA5}">
                      <a16:colId xmlns="" xmlns:a16="http://schemas.microsoft.com/office/drawing/2014/main" val="20007"/>
                    </a:ext>
                  </a:extLst>
                </a:gridCol>
              </a:tblGrid>
              <a:tr h="324556">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100</a:t>
                      </a:r>
                    </a:p>
                  </a:txBody>
                  <a:tcPr marL="101600" marR="101600" marT="50800" marB="50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-52</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-5</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-2</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0.4</a:t>
                      </a:r>
                    </a:p>
                  </a:txBody>
                  <a:tcPr marL="101600" marR="101600" marT="50800" marB="50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40478" name="Group 190"/>
          <p:cNvGraphicFramePr>
            <a:graphicFrameLocks noGrp="1"/>
          </p:cNvGraphicFramePr>
          <p:nvPr/>
        </p:nvGraphicFramePr>
        <p:xfrm>
          <a:off x="4942417" y="2853972"/>
          <a:ext cx="3439584" cy="324556"/>
        </p:xfrm>
        <a:graphic>
          <a:graphicData uri="http://schemas.openxmlformats.org/drawingml/2006/table">
            <a:tbl>
              <a:tblPr/>
              <a:tblGrid>
                <a:gridCol w="430389">
                  <a:extLst>
                    <a:ext uri="{9D8B030D-6E8A-4147-A177-3AD203B41FA5}">
                      <a16:colId xmlns="" xmlns:a16="http://schemas.microsoft.com/office/drawing/2014/main" val="20000"/>
                    </a:ext>
                  </a:extLst>
                </a:gridCol>
                <a:gridCol w="430389">
                  <a:extLst>
                    <a:ext uri="{9D8B030D-6E8A-4147-A177-3AD203B41FA5}">
                      <a16:colId xmlns="" xmlns:a16="http://schemas.microsoft.com/office/drawing/2014/main" val="20001"/>
                    </a:ext>
                  </a:extLst>
                </a:gridCol>
                <a:gridCol w="428626">
                  <a:extLst>
                    <a:ext uri="{9D8B030D-6E8A-4147-A177-3AD203B41FA5}">
                      <a16:colId xmlns="" xmlns:a16="http://schemas.microsoft.com/office/drawing/2014/main" val="20002"/>
                    </a:ext>
                  </a:extLst>
                </a:gridCol>
                <a:gridCol w="430389">
                  <a:extLst>
                    <a:ext uri="{9D8B030D-6E8A-4147-A177-3AD203B41FA5}">
                      <a16:colId xmlns="" xmlns:a16="http://schemas.microsoft.com/office/drawing/2014/main" val="20003"/>
                    </a:ext>
                  </a:extLst>
                </a:gridCol>
                <a:gridCol w="430389">
                  <a:extLst>
                    <a:ext uri="{9D8B030D-6E8A-4147-A177-3AD203B41FA5}">
                      <a16:colId xmlns="" xmlns:a16="http://schemas.microsoft.com/office/drawing/2014/main" val="20004"/>
                    </a:ext>
                  </a:extLst>
                </a:gridCol>
                <a:gridCol w="430389">
                  <a:extLst>
                    <a:ext uri="{9D8B030D-6E8A-4147-A177-3AD203B41FA5}">
                      <a16:colId xmlns="" xmlns:a16="http://schemas.microsoft.com/office/drawing/2014/main" val="20005"/>
                    </a:ext>
                  </a:extLst>
                </a:gridCol>
                <a:gridCol w="428624">
                  <a:extLst>
                    <a:ext uri="{9D8B030D-6E8A-4147-A177-3AD203B41FA5}">
                      <a16:colId xmlns="" xmlns:a16="http://schemas.microsoft.com/office/drawing/2014/main" val="20006"/>
                    </a:ext>
                  </a:extLst>
                </a:gridCol>
                <a:gridCol w="430389">
                  <a:extLst>
                    <a:ext uri="{9D8B030D-6E8A-4147-A177-3AD203B41FA5}">
                      <a16:colId xmlns="" xmlns:a16="http://schemas.microsoft.com/office/drawing/2014/main" val="20007"/>
                    </a:ext>
                  </a:extLst>
                </a:gridCol>
              </a:tblGrid>
              <a:tr h="324556">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36</a:t>
                      </a:r>
                    </a:p>
                  </a:txBody>
                  <a:tcPr marL="101600" marR="101600" marT="50800" marB="50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10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10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6</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6</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a:t>
                      </a:r>
                    </a:p>
                  </a:txBody>
                  <a:tcPr marL="101600" marR="101600" marT="50800" marB="50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40477" name="Group 189"/>
          <p:cNvGraphicFramePr>
            <a:graphicFrameLocks noGrp="1"/>
          </p:cNvGraphicFramePr>
          <p:nvPr/>
        </p:nvGraphicFramePr>
        <p:xfrm>
          <a:off x="4931834" y="3499555"/>
          <a:ext cx="3439584" cy="324556"/>
        </p:xfrm>
        <a:graphic>
          <a:graphicData uri="http://schemas.openxmlformats.org/drawingml/2006/table">
            <a:tbl>
              <a:tblPr/>
              <a:tblGrid>
                <a:gridCol w="430389">
                  <a:extLst>
                    <a:ext uri="{9D8B030D-6E8A-4147-A177-3AD203B41FA5}">
                      <a16:colId xmlns="" xmlns:a16="http://schemas.microsoft.com/office/drawing/2014/main" val="20000"/>
                    </a:ext>
                  </a:extLst>
                </a:gridCol>
                <a:gridCol w="430389">
                  <a:extLst>
                    <a:ext uri="{9D8B030D-6E8A-4147-A177-3AD203B41FA5}">
                      <a16:colId xmlns="" xmlns:a16="http://schemas.microsoft.com/office/drawing/2014/main" val="20001"/>
                    </a:ext>
                  </a:extLst>
                </a:gridCol>
                <a:gridCol w="428626">
                  <a:extLst>
                    <a:ext uri="{9D8B030D-6E8A-4147-A177-3AD203B41FA5}">
                      <a16:colId xmlns="" xmlns:a16="http://schemas.microsoft.com/office/drawing/2014/main" val="20002"/>
                    </a:ext>
                  </a:extLst>
                </a:gridCol>
                <a:gridCol w="430389">
                  <a:extLst>
                    <a:ext uri="{9D8B030D-6E8A-4147-A177-3AD203B41FA5}">
                      <a16:colId xmlns="" xmlns:a16="http://schemas.microsoft.com/office/drawing/2014/main" val="20003"/>
                    </a:ext>
                  </a:extLst>
                </a:gridCol>
                <a:gridCol w="430389">
                  <a:extLst>
                    <a:ext uri="{9D8B030D-6E8A-4147-A177-3AD203B41FA5}">
                      <a16:colId xmlns="" xmlns:a16="http://schemas.microsoft.com/office/drawing/2014/main" val="20004"/>
                    </a:ext>
                  </a:extLst>
                </a:gridCol>
                <a:gridCol w="430389">
                  <a:extLst>
                    <a:ext uri="{9D8B030D-6E8A-4147-A177-3AD203B41FA5}">
                      <a16:colId xmlns="" xmlns:a16="http://schemas.microsoft.com/office/drawing/2014/main" val="20005"/>
                    </a:ext>
                  </a:extLst>
                </a:gridCol>
                <a:gridCol w="428624">
                  <a:extLst>
                    <a:ext uri="{9D8B030D-6E8A-4147-A177-3AD203B41FA5}">
                      <a16:colId xmlns="" xmlns:a16="http://schemas.microsoft.com/office/drawing/2014/main" val="20006"/>
                    </a:ext>
                  </a:extLst>
                </a:gridCol>
                <a:gridCol w="430389">
                  <a:extLst>
                    <a:ext uri="{9D8B030D-6E8A-4147-A177-3AD203B41FA5}">
                      <a16:colId xmlns="" xmlns:a16="http://schemas.microsoft.com/office/drawing/2014/main" val="20007"/>
                    </a:ext>
                  </a:extLst>
                </a:gridCol>
              </a:tblGrid>
              <a:tr h="324556">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36</a:t>
                      </a:r>
                    </a:p>
                  </a:txBody>
                  <a:tcPr marL="101600" marR="101600" marT="50800" marB="50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10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10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6</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6</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a:t>
                      </a:r>
                    </a:p>
                  </a:txBody>
                  <a:tcPr marL="101600" marR="101600" marT="50800" marB="50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40476" name="Group 188"/>
          <p:cNvGraphicFramePr>
            <a:graphicFrameLocks noGrp="1"/>
          </p:cNvGraphicFramePr>
          <p:nvPr/>
        </p:nvGraphicFramePr>
        <p:xfrm>
          <a:off x="550334" y="3457222"/>
          <a:ext cx="3587751" cy="324556"/>
        </p:xfrm>
        <a:graphic>
          <a:graphicData uri="http://schemas.openxmlformats.org/drawingml/2006/table">
            <a:tbl>
              <a:tblPr/>
              <a:tblGrid>
                <a:gridCol w="571500">
                  <a:extLst>
                    <a:ext uri="{9D8B030D-6E8A-4147-A177-3AD203B41FA5}">
                      <a16:colId xmlns="" xmlns:a16="http://schemas.microsoft.com/office/drawing/2014/main" val="20000"/>
                    </a:ext>
                  </a:extLst>
                </a:gridCol>
                <a:gridCol w="571500">
                  <a:extLst>
                    <a:ext uri="{9D8B030D-6E8A-4147-A177-3AD203B41FA5}">
                      <a16:colId xmlns="" xmlns:a16="http://schemas.microsoft.com/office/drawing/2014/main" val="20001"/>
                    </a:ext>
                  </a:extLst>
                </a:gridCol>
                <a:gridCol w="338667">
                  <a:extLst>
                    <a:ext uri="{9D8B030D-6E8A-4147-A177-3AD203B41FA5}">
                      <a16:colId xmlns="" xmlns:a16="http://schemas.microsoft.com/office/drawing/2014/main" val="20002"/>
                    </a:ext>
                  </a:extLst>
                </a:gridCol>
                <a:gridCol w="402167">
                  <a:extLst>
                    <a:ext uri="{9D8B030D-6E8A-4147-A177-3AD203B41FA5}">
                      <a16:colId xmlns="" xmlns:a16="http://schemas.microsoft.com/office/drawing/2014/main" val="20003"/>
                    </a:ext>
                  </a:extLst>
                </a:gridCol>
                <a:gridCol w="359833">
                  <a:extLst>
                    <a:ext uri="{9D8B030D-6E8A-4147-A177-3AD203B41FA5}">
                      <a16:colId xmlns="" xmlns:a16="http://schemas.microsoft.com/office/drawing/2014/main" val="20004"/>
                    </a:ext>
                  </a:extLst>
                </a:gridCol>
                <a:gridCol w="448028">
                  <a:extLst>
                    <a:ext uri="{9D8B030D-6E8A-4147-A177-3AD203B41FA5}">
                      <a16:colId xmlns="" xmlns:a16="http://schemas.microsoft.com/office/drawing/2014/main" val="20005"/>
                    </a:ext>
                  </a:extLst>
                </a:gridCol>
                <a:gridCol w="366889">
                  <a:extLst>
                    <a:ext uri="{9D8B030D-6E8A-4147-A177-3AD203B41FA5}">
                      <a16:colId xmlns="" xmlns:a16="http://schemas.microsoft.com/office/drawing/2014/main" val="20006"/>
                    </a:ext>
                  </a:extLst>
                </a:gridCol>
                <a:gridCol w="529167">
                  <a:extLst>
                    <a:ext uri="{9D8B030D-6E8A-4147-A177-3AD203B41FA5}">
                      <a16:colId xmlns="" xmlns:a16="http://schemas.microsoft.com/office/drawing/2014/main" val="20007"/>
                    </a:ext>
                  </a:extLst>
                </a:gridCol>
              </a:tblGrid>
              <a:tr h="324556">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100</a:t>
                      </a:r>
                    </a:p>
                  </a:txBody>
                  <a:tcPr marL="101600" marR="101600" marT="50800" marB="50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-52</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-5</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-2</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0.4</a:t>
                      </a:r>
                    </a:p>
                  </a:txBody>
                  <a:tcPr marL="101600" marR="101600" marT="50800" marB="50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sp>
        <p:nvSpPr>
          <p:cNvPr id="6231" name="Line 113"/>
          <p:cNvSpPr>
            <a:spLocks noChangeShapeType="1"/>
          </p:cNvSpPr>
          <p:nvPr/>
        </p:nvSpPr>
        <p:spPr bwMode="auto">
          <a:xfrm>
            <a:off x="2423583" y="3608917"/>
            <a:ext cx="1714500" cy="0"/>
          </a:xfrm>
          <a:prstGeom prst="line">
            <a:avLst/>
          </a:prstGeom>
          <a:noFill/>
          <a:ln w="317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6232" name="Line 114"/>
          <p:cNvSpPr>
            <a:spLocks noChangeShapeType="1"/>
          </p:cNvSpPr>
          <p:nvPr/>
        </p:nvSpPr>
        <p:spPr bwMode="auto">
          <a:xfrm>
            <a:off x="6646333" y="3640667"/>
            <a:ext cx="1714500" cy="0"/>
          </a:xfrm>
          <a:prstGeom prst="line">
            <a:avLst/>
          </a:prstGeom>
          <a:noFill/>
          <a:ln w="317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graphicFrame>
        <p:nvGraphicFramePr>
          <p:cNvPr id="140475" name="Group 187"/>
          <p:cNvGraphicFramePr>
            <a:graphicFrameLocks noGrp="1"/>
          </p:cNvGraphicFramePr>
          <p:nvPr/>
        </p:nvGraphicFramePr>
        <p:xfrm>
          <a:off x="4921251" y="4198055"/>
          <a:ext cx="3439584" cy="324556"/>
        </p:xfrm>
        <a:graphic>
          <a:graphicData uri="http://schemas.openxmlformats.org/drawingml/2006/table">
            <a:tbl>
              <a:tblPr/>
              <a:tblGrid>
                <a:gridCol w="430389">
                  <a:extLst>
                    <a:ext uri="{9D8B030D-6E8A-4147-A177-3AD203B41FA5}">
                      <a16:colId xmlns="" xmlns:a16="http://schemas.microsoft.com/office/drawing/2014/main" val="20000"/>
                    </a:ext>
                  </a:extLst>
                </a:gridCol>
                <a:gridCol w="430389">
                  <a:extLst>
                    <a:ext uri="{9D8B030D-6E8A-4147-A177-3AD203B41FA5}">
                      <a16:colId xmlns="" xmlns:a16="http://schemas.microsoft.com/office/drawing/2014/main" val="20001"/>
                    </a:ext>
                  </a:extLst>
                </a:gridCol>
                <a:gridCol w="428626">
                  <a:extLst>
                    <a:ext uri="{9D8B030D-6E8A-4147-A177-3AD203B41FA5}">
                      <a16:colId xmlns="" xmlns:a16="http://schemas.microsoft.com/office/drawing/2014/main" val="20002"/>
                    </a:ext>
                  </a:extLst>
                </a:gridCol>
                <a:gridCol w="430389">
                  <a:extLst>
                    <a:ext uri="{9D8B030D-6E8A-4147-A177-3AD203B41FA5}">
                      <a16:colId xmlns="" xmlns:a16="http://schemas.microsoft.com/office/drawing/2014/main" val="20003"/>
                    </a:ext>
                  </a:extLst>
                </a:gridCol>
                <a:gridCol w="430389">
                  <a:extLst>
                    <a:ext uri="{9D8B030D-6E8A-4147-A177-3AD203B41FA5}">
                      <a16:colId xmlns="" xmlns:a16="http://schemas.microsoft.com/office/drawing/2014/main" val="20004"/>
                    </a:ext>
                  </a:extLst>
                </a:gridCol>
                <a:gridCol w="430389">
                  <a:extLst>
                    <a:ext uri="{9D8B030D-6E8A-4147-A177-3AD203B41FA5}">
                      <a16:colId xmlns="" xmlns:a16="http://schemas.microsoft.com/office/drawing/2014/main" val="20005"/>
                    </a:ext>
                  </a:extLst>
                </a:gridCol>
                <a:gridCol w="428624">
                  <a:extLst>
                    <a:ext uri="{9D8B030D-6E8A-4147-A177-3AD203B41FA5}">
                      <a16:colId xmlns="" xmlns:a16="http://schemas.microsoft.com/office/drawing/2014/main" val="20006"/>
                    </a:ext>
                  </a:extLst>
                </a:gridCol>
                <a:gridCol w="430389">
                  <a:extLst>
                    <a:ext uri="{9D8B030D-6E8A-4147-A177-3AD203B41FA5}">
                      <a16:colId xmlns="" xmlns:a16="http://schemas.microsoft.com/office/drawing/2014/main" val="20007"/>
                    </a:ext>
                  </a:extLst>
                </a:gridCol>
              </a:tblGrid>
              <a:tr h="324556">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24</a:t>
                      </a:r>
                    </a:p>
                  </a:txBody>
                  <a:tcPr marL="101600" marR="101600" marT="50800" marB="50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12</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20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32</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51</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59</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48</a:t>
                      </a:r>
                    </a:p>
                  </a:txBody>
                  <a:tcPr marL="101600" marR="101600" marT="50800" marB="50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140474" name="Group 186"/>
          <p:cNvGraphicFramePr>
            <a:graphicFrameLocks noGrp="1"/>
          </p:cNvGraphicFramePr>
          <p:nvPr/>
        </p:nvGraphicFramePr>
        <p:xfrm>
          <a:off x="539751" y="4176889"/>
          <a:ext cx="3587751" cy="324556"/>
        </p:xfrm>
        <a:graphic>
          <a:graphicData uri="http://schemas.openxmlformats.org/drawingml/2006/table">
            <a:tbl>
              <a:tblPr/>
              <a:tblGrid>
                <a:gridCol w="448028">
                  <a:extLst>
                    <a:ext uri="{9D8B030D-6E8A-4147-A177-3AD203B41FA5}">
                      <a16:colId xmlns="" xmlns:a16="http://schemas.microsoft.com/office/drawing/2014/main" val="20000"/>
                    </a:ext>
                  </a:extLst>
                </a:gridCol>
                <a:gridCol w="449792">
                  <a:extLst>
                    <a:ext uri="{9D8B030D-6E8A-4147-A177-3AD203B41FA5}">
                      <a16:colId xmlns="" xmlns:a16="http://schemas.microsoft.com/office/drawing/2014/main" val="20001"/>
                    </a:ext>
                  </a:extLst>
                </a:gridCol>
                <a:gridCol w="448028">
                  <a:extLst>
                    <a:ext uri="{9D8B030D-6E8A-4147-A177-3AD203B41FA5}">
                      <a16:colId xmlns="" xmlns:a16="http://schemas.microsoft.com/office/drawing/2014/main" val="20002"/>
                    </a:ext>
                  </a:extLst>
                </a:gridCol>
                <a:gridCol w="448028">
                  <a:extLst>
                    <a:ext uri="{9D8B030D-6E8A-4147-A177-3AD203B41FA5}">
                      <a16:colId xmlns="" xmlns:a16="http://schemas.microsoft.com/office/drawing/2014/main" val="20003"/>
                    </a:ext>
                  </a:extLst>
                </a:gridCol>
                <a:gridCol w="448028">
                  <a:extLst>
                    <a:ext uri="{9D8B030D-6E8A-4147-A177-3AD203B41FA5}">
                      <a16:colId xmlns="" xmlns:a16="http://schemas.microsoft.com/office/drawing/2014/main" val="20004"/>
                    </a:ext>
                  </a:extLst>
                </a:gridCol>
                <a:gridCol w="449791">
                  <a:extLst>
                    <a:ext uri="{9D8B030D-6E8A-4147-A177-3AD203B41FA5}">
                      <a16:colId xmlns="" xmlns:a16="http://schemas.microsoft.com/office/drawing/2014/main" val="20005"/>
                    </a:ext>
                  </a:extLst>
                </a:gridCol>
                <a:gridCol w="448028">
                  <a:extLst>
                    <a:ext uri="{9D8B030D-6E8A-4147-A177-3AD203B41FA5}">
                      <a16:colId xmlns="" xmlns:a16="http://schemas.microsoft.com/office/drawing/2014/main" val="20006"/>
                    </a:ext>
                  </a:extLst>
                </a:gridCol>
                <a:gridCol w="448028">
                  <a:extLst>
                    <a:ext uri="{9D8B030D-6E8A-4147-A177-3AD203B41FA5}">
                      <a16:colId xmlns="" xmlns:a16="http://schemas.microsoft.com/office/drawing/2014/main" val="20007"/>
                    </a:ext>
                  </a:extLst>
                </a:gridCol>
              </a:tblGrid>
              <a:tr h="324556">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8</a:t>
                      </a:r>
                    </a:p>
                  </a:txBody>
                  <a:tcPr marL="101600" marR="101600" marT="50800" marB="50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15</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24</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32</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40</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48</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57</a:t>
                      </a:r>
                    </a:p>
                  </a:txBody>
                  <a:tcPr marL="101600" marR="101600" marT="50800" marB="50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0" i="0" u="none" strike="noStrike" cap="none" normalizeH="0" baseline="0">
                          <a:ln>
                            <a:noFill/>
                          </a:ln>
                          <a:solidFill>
                            <a:schemeClr val="tx1"/>
                          </a:solidFill>
                          <a:effectLst/>
                          <a:latin typeface="Comic Sans MS" pitchFamily="66" charset="0"/>
                        </a:rPr>
                        <a:t>63</a:t>
                      </a:r>
                    </a:p>
                  </a:txBody>
                  <a:tcPr marL="101600" marR="101600" marT="50800" marB="50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bl>
          </a:graphicData>
        </a:graphic>
      </p:graphicFrame>
      <p:graphicFrame>
        <p:nvGraphicFramePr>
          <p:cNvPr id="6273" name="Object 175"/>
          <p:cNvGraphicFramePr>
            <a:graphicFrameLocks noChangeAspect="1"/>
          </p:cNvGraphicFramePr>
          <p:nvPr/>
        </p:nvGraphicFramePr>
        <p:xfrm>
          <a:off x="592667" y="4614334"/>
          <a:ext cx="3524250" cy="1513417"/>
        </p:xfrm>
        <a:graphic>
          <a:graphicData uri="http://schemas.openxmlformats.org/presentationml/2006/ole">
            <mc:AlternateContent xmlns:mc="http://schemas.openxmlformats.org/markup-compatibility/2006">
              <mc:Choice xmlns:v="urn:schemas-microsoft-com:vml" Requires="v">
                <p:oleObj spid="_x0000_s2054" name="Chart" r:id="rId5" imgW="4757839" imgH="2043211" progId="MSGraph.Chart.8">
                  <p:embed followColorScheme="full"/>
                </p:oleObj>
              </mc:Choice>
              <mc:Fallback>
                <p:oleObj name="Chart" r:id="rId5" imgW="4757839" imgH="2043211" progId="MSGraph.Chart.8">
                  <p:embed followColorScheme="full"/>
                  <p:pic>
                    <p:nvPicPr>
                      <p:cNvPr id="0" name=""/>
                      <p:cNvPicPr>
                        <a:picLocks noChangeAspect="1" noChangeArrowheads="1"/>
                      </p:cNvPicPr>
                      <p:nvPr/>
                    </p:nvPicPr>
                    <p:blipFill>
                      <a:blip r:embed="rId6"/>
                      <a:srcRect/>
                      <a:stretch>
                        <a:fillRect/>
                      </a:stretch>
                    </p:blipFill>
                    <p:spPr bwMode="auto">
                      <a:xfrm>
                        <a:off x="592667" y="4614334"/>
                        <a:ext cx="3524250" cy="1513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74" name="Object 176"/>
          <p:cNvGraphicFramePr>
            <a:graphicFrameLocks noChangeAspect="1"/>
          </p:cNvGraphicFramePr>
          <p:nvPr/>
        </p:nvGraphicFramePr>
        <p:xfrm>
          <a:off x="4667251" y="4635500"/>
          <a:ext cx="3524250" cy="1513417"/>
        </p:xfrm>
        <a:graphic>
          <a:graphicData uri="http://schemas.openxmlformats.org/presentationml/2006/ole">
            <mc:AlternateContent xmlns:mc="http://schemas.openxmlformats.org/markup-compatibility/2006">
              <mc:Choice xmlns:v="urn:schemas-microsoft-com:vml" Requires="v">
                <p:oleObj spid="_x0000_s2055" name="Chart" r:id="rId7" imgW="4757839" imgH="2043211" progId="MSGraph.Chart.8">
                  <p:embed followColorScheme="full"/>
                </p:oleObj>
              </mc:Choice>
              <mc:Fallback>
                <p:oleObj name="Chart" r:id="rId7" imgW="4757839" imgH="2043211" progId="MSGraph.Chart.8">
                  <p:embed followColorScheme="full"/>
                  <p:pic>
                    <p:nvPicPr>
                      <p:cNvPr id="0" name=""/>
                      <p:cNvPicPr>
                        <a:picLocks noChangeAspect="1" noChangeArrowheads="1"/>
                      </p:cNvPicPr>
                      <p:nvPr/>
                    </p:nvPicPr>
                    <p:blipFill>
                      <a:blip r:embed="rId8"/>
                      <a:srcRect/>
                      <a:stretch>
                        <a:fillRect/>
                      </a:stretch>
                    </p:blipFill>
                    <p:spPr bwMode="auto">
                      <a:xfrm>
                        <a:off x="4667251" y="4635500"/>
                        <a:ext cx="3524250" cy="1513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75" name="Text Box 177"/>
          <p:cNvSpPr txBox="1">
            <a:spLocks noChangeArrowheads="1"/>
          </p:cNvSpPr>
          <p:nvPr/>
        </p:nvSpPr>
        <p:spPr bwMode="auto">
          <a:xfrm>
            <a:off x="3231445" y="2375960"/>
            <a:ext cx="564255"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DCT</a:t>
            </a:r>
          </a:p>
        </p:txBody>
      </p:sp>
      <p:sp>
        <p:nvSpPr>
          <p:cNvPr id="6276" name="Text Box 178"/>
          <p:cNvSpPr txBox="1">
            <a:spLocks noChangeArrowheads="1"/>
          </p:cNvSpPr>
          <p:nvPr/>
        </p:nvSpPr>
        <p:spPr bwMode="auto">
          <a:xfrm>
            <a:off x="5570361" y="2354793"/>
            <a:ext cx="54501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FFT</a:t>
            </a:r>
          </a:p>
        </p:txBody>
      </p:sp>
      <p:sp>
        <p:nvSpPr>
          <p:cNvPr id="6277" name="Line 179"/>
          <p:cNvSpPr>
            <a:spLocks noChangeShapeType="1"/>
          </p:cNvSpPr>
          <p:nvPr/>
        </p:nvSpPr>
        <p:spPr bwMode="auto">
          <a:xfrm>
            <a:off x="2169583" y="3175000"/>
            <a:ext cx="0" cy="27516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6278" name="Line 180"/>
          <p:cNvSpPr>
            <a:spLocks noChangeShapeType="1"/>
          </p:cNvSpPr>
          <p:nvPr/>
        </p:nvSpPr>
        <p:spPr bwMode="auto">
          <a:xfrm flipH="1">
            <a:off x="2159000" y="3778250"/>
            <a:ext cx="0" cy="37041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6279" name="Line 181"/>
          <p:cNvSpPr>
            <a:spLocks noChangeShapeType="1"/>
          </p:cNvSpPr>
          <p:nvPr/>
        </p:nvSpPr>
        <p:spPr bwMode="auto">
          <a:xfrm>
            <a:off x="6582833" y="3175000"/>
            <a:ext cx="0" cy="317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6280" name="Line 182"/>
          <p:cNvSpPr>
            <a:spLocks noChangeShapeType="1"/>
          </p:cNvSpPr>
          <p:nvPr/>
        </p:nvSpPr>
        <p:spPr bwMode="auto">
          <a:xfrm>
            <a:off x="6561667" y="3831167"/>
            <a:ext cx="0" cy="35983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6281" name="Text Box 183"/>
          <p:cNvSpPr txBox="1">
            <a:spLocks noChangeArrowheads="1"/>
          </p:cNvSpPr>
          <p:nvPr/>
        </p:nvSpPr>
        <p:spPr bwMode="auto">
          <a:xfrm>
            <a:off x="2268362" y="3804710"/>
            <a:ext cx="1266370"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Inverse DCT</a:t>
            </a:r>
          </a:p>
        </p:txBody>
      </p:sp>
      <p:sp>
        <p:nvSpPr>
          <p:cNvPr id="6282" name="Text Box 184"/>
          <p:cNvSpPr txBox="1">
            <a:spLocks noChangeArrowheads="1"/>
          </p:cNvSpPr>
          <p:nvPr/>
        </p:nvSpPr>
        <p:spPr bwMode="auto">
          <a:xfrm>
            <a:off x="6628695" y="3857626"/>
            <a:ext cx="1247134"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Inverse FFT</a:t>
            </a:r>
          </a:p>
        </p:txBody>
      </p:sp>
      <p:sp>
        <p:nvSpPr>
          <p:cNvPr id="6283" name="Rectangle 185"/>
          <p:cNvSpPr>
            <a:spLocks noChangeArrowheads="1"/>
          </p:cNvSpPr>
          <p:nvPr/>
        </p:nvSpPr>
        <p:spPr bwMode="auto">
          <a:xfrm>
            <a:off x="560917" y="6127750"/>
            <a:ext cx="7302500" cy="118004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457200" indent="-457200">
              <a:defRPr sz="1400">
                <a:solidFill>
                  <a:schemeClr val="tx1"/>
                </a:solidFill>
                <a:latin typeface="Times New Roman" pitchFamily="18" charset="0"/>
              </a:defRPr>
            </a:lvl1pPr>
            <a:lvl2pPr marL="914400" indent="-457200">
              <a:defRPr sz="1400">
                <a:solidFill>
                  <a:schemeClr val="tx1"/>
                </a:solidFill>
                <a:latin typeface="Times New Roman" pitchFamily="18" charset="0"/>
              </a:defRPr>
            </a:lvl2pPr>
            <a:lvl3pPr marL="1371600" indent="-457200">
              <a:defRPr sz="1400">
                <a:solidFill>
                  <a:schemeClr val="tx1"/>
                </a:solidFill>
                <a:latin typeface="Times New Roman" pitchFamily="18" charset="0"/>
              </a:defRPr>
            </a:lvl3pPr>
            <a:lvl4pPr marL="1828800" indent="-457200">
              <a:defRPr sz="1400">
                <a:solidFill>
                  <a:schemeClr val="tx1"/>
                </a:solidFill>
                <a:latin typeface="Times New Roman" pitchFamily="18" charset="0"/>
              </a:defRPr>
            </a:lvl4pPr>
            <a:lvl5pPr marL="2286000" indent="-457200">
              <a:defRPr sz="1400">
                <a:solidFill>
                  <a:schemeClr val="tx1"/>
                </a:solidFill>
                <a:latin typeface="Times New Roman" pitchFamily="18" charset="0"/>
              </a:defRPr>
            </a:lvl5pPr>
            <a:lvl6pPr marL="2743200" indent="-457200" eaLnBrk="0" fontAlgn="base" hangingPunct="0">
              <a:spcBef>
                <a:spcPct val="0"/>
              </a:spcBef>
              <a:spcAft>
                <a:spcPct val="0"/>
              </a:spcAft>
              <a:defRPr sz="1400">
                <a:solidFill>
                  <a:schemeClr val="tx1"/>
                </a:solidFill>
                <a:latin typeface="Times New Roman" pitchFamily="18" charset="0"/>
              </a:defRPr>
            </a:lvl6pPr>
            <a:lvl7pPr marL="3200400" indent="-457200" eaLnBrk="0" fontAlgn="base" hangingPunct="0">
              <a:spcBef>
                <a:spcPct val="0"/>
              </a:spcBef>
              <a:spcAft>
                <a:spcPct val="0"/>
              </a:spcAft>
              <a:defRPr sz="1400">
                <a:solidFill>
                  <a:schemeClr val="tx1"/>
                </a:solidFill>
                <a:latin typeface="Times New Roman" pitchFamily="18" charset="0"/>
              </a:defRPr>
            </a:lvl7pPr>
            <a:lvl8pPr marL="3657600" indent="-457200" eaLnBrk="0" fontAlgn="base" hangingPunct="0">
              <a:spcBef>
                <a:spcPct val="0"/>
              </a:spcBef>
              <a:spcAft>
                <a:spcPct val="0"/>
              </a:spcAft>
              <a:defRPr sz="1400">
                <a:solidFill>
                  <a:schemeClr val="tx1"/>
                </a:solidFill>
                <a:latin typeface="Times New Roman" pitchFamily="18" charset="0"/>
              </a:defRPr>
            </a:lvl8pPr>
            <a:lvl9pPr marL="4114800" indent="-457200" eaLnBrk="0" fontAlgn="base" hangingPunct="0">
              <a:spcBef>
                <a:spcPct val="0"/>
              </a:spcBef>
              <a:spcAft>
                <a:spcPct val="0"/>
              </a:spcAft>
              <a:defRPr sz="1400">
                <a:solidFill>
                  <a:schemeClr val="tx1"/>
                </a:solidFill>
                <a:latin typeface="Times New Roman" pitchFamily="18" charset="0"/>
              </a:defRPr>
            </a:lvl9pPr>
          </a:lstStyle>
          <a:p>
            <a:pPr>
              <a:spcBef>
                <a:spcPct val="20000"/>
              </a:spcBef>
              <a:buClr>
                <a:schemeClr val="accent2"/>
              </a:buClr>
              <a:buSzPct val="85000"/>
              <a:buFont typeface="ZapfDingbats" pitchFamily="82" charset="0"/>
              <a:buNone/>
            </a:pPr>
            <a:r>
              <a:rPr lang="en-US" altLang="en-US" sz="1300">
                <a:latin typeface="Comic Sans MS" pitchFamily="66" charset="0"/>
              </a:rPr>
              <a:t>Example Description:</a:t>
            </a:r>
          </a:p>
          <a:p>
            <a:pPr lvl="1">
              <a:spcBef>
                <a:spcPct val="20000"/>
              </a:spcBef>
              <a:buClr>
                <a:schemeClr val="accent2"/>
              </a:buClr>
              <a:buSzPct val="85000"/>
              <a:buFont typeface="ZapfDingbats" pitchFamily="82" charset="0"/>
              <a:buChar char="r"/>
            </a:pPr>
            <a:r>
              <a:rPr lang="en-US" altLang="en-US" sz="1300">
                <a:latin typeface="Comic Sans MS" pitchFamily="66" charset="0"/>
              </a:rPr>
              <a:t>f(n) is given from n = 0 to 7; (N=8)</a:t>
            </a:r>
          </a:p>
          <a:p>
            <a:pPr lvl="1">
              <a:spcBef>
                <a:spcPct val="20000"/>
              </a:spcBef>
              <a:buClr>
                <a:schemeClr val="accent2"/>
              </a:buClr>
              <a:buSzPct val="85000"/>
              <a:buFont typeface="ZapfDingbats" pitchFamily="82" charset="0"/>
              <a:buChar char="r"/>
            </a:pPr>
            <a:r>
              <a:rPr lang="en-US" altLang="en-US" sz="1300">
                <a:latin typeface="Comic Sans MS" pitchFamily="66" charset="0"/>
              </a:rPr>
              <a:t>Using DCT(FFT) we compute F(ω) for ω = 0 to 7</a:t>
            </a:r>
          </a:p>
          <a:p>
            <a:pPr lvl="1">
              <a:spcBef>
                <a:spcPct val="20000"/>
              </a:spcBef>
              <a:buClr>
                <a:schemeClr val="accent2"/>
              </a:buClr>
              <a:buSzPct val="85000"/>
              <a:buFont typeface="ZapfDingbats" pitchFamily="82" charset="0"/>
              <a:buChar char="r"/>
            </a:pPr>
            <a:r>
              <a:rPr lang="en-US" altLang="en-US" sz="1300">
                <a:latin typeface="Comic Sans MS" pitchFamily="66" charset="0"/>
              </a:rPr>
              <a:t>We truncate and use Inverse Transform to compute f’(n)</a:t>
            </a:r>
          </a:p>
        </p:txBody>
      </p:sp>
    </p:spTree>
    <p:extLst>
      <p:ext uri="{BB962C8B-B14F-4D97-AF65-F5344CB8AC3E}">
        <p14:creationId xmlns:p14="http://schemas.microsoft.com/office/powerpoint/2010/main" val="16359208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197027BB-7E8E-47E3-8D30-8FBDCB76109B}" type="slidenum">
              <a:rPr lang="en-US" altLang="en-US"/>
              <a:pPr/>
              <a:t>70</a:t>
            </a:fld>
            <a:endParaRPr lang="en-US" altLang="en-US"/>
          </a:p>
        </p:txBody>
      </p:sp>
      <p:sp>
        <p:nvSpPr>
          <p:cNvPr id="7171" name="Rectangle 2"/>
          <p:cNvSpPr>
            <a:spLocks noGrp="1" noChangeArrowheads="1"/>
          </p:cNvSpPr>
          <p:nvPr>
            <p:ph type="title"/>
          </p:nvPr>
        </p:nvSpPr>
        <p:spPr>
          <a:xfrm>
            <a:off x="592667" y="254001"/>
            <a:ext cx="8636000" cy="772583"/>
          </a:xfrm>
        </p:spPr>
        <p:txBody>
          <a:bodyPr/>
          <a:lstStyle/>
          <a:p>
            <a:r>
              <a:rPr lang="en-US" altLang="en-US" sz="3600"/>
              <a:t>2-D DCT</a:t>
            </a:r>
          </a:p>
        </p:txBody>
      </p:sp>
      <p:sp>
        <p:nvSpPr>
          <p:cNvPr id="7172" name="Rectangle 3"/>
          <p:cNvSpPr>
            <a:spLocks noGrp="1" noChangeArrowheads="1"/>
          </p:cNvSpPr>
          <p:nvPr>
            <p:ph type="body" idx="1"/>
          </p:nvPr>
        </p:nvSpPr>
        <p:spPr>
          <a:xfrm>
            <a:off x="592667" y="1100667"/>
            <a:ext cx="8636000" cy="973667"/>
          </a:xfrm>
        </p:spPr>
        <p:txBody>
          <a:bodyPr>
            <a:normAutofit lnSpcReduction="10000"/>
          </a:bodyPr>
          <a:lstStyle/>
          <a:p>
            <a:pPr>
              <a:lnSpc>
                <a:spcPct val="90000"/>
              </a:lnSpc>
            </a:pPr>
            <a:r>
              <a:rPr lang="en-US" altLang="en-US" sz="2200"/>
              <a:t>Images are two-dimensional; How do you perform 2-D DCT?</a:t>
            </a:r>
          </a:p>
          <a:p>
            <a:pPr lvl="1">
              <a:lnSpc>
                <a:spcPct val="90000"/>
              </a:lnSpc>
            </a:pPr>
            <a:r>
              <a:rPr lang="en-US" altLang="en-US" sz="2000"/>
              <a:t>Two series of 1-D transforms result in a 2-D transform as demonstrated in the figure below</a:t>
            </a:r>
          </a:p>
        </p:txBody>
      </p:sp>
      <p:sp>
        <p:nvSpPr>
          <p:cNvPr id="7173" name="Rectangle 4"/>
          <p:cNvSpPr>
            <a:spLocks noChangeArrowheads="1"/>
          </p:cNvSpPr>
          <p:nvPr/>
        </p:nvSpPr>
        <p:spPr bwMode="auto">
          <a:xfrm>
            <a:off x="35348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74" name="Rectangle 5"/>
          <p:cNvSpPr>
            <a:spLocks noChangeArrowheads="1"/>
          </p:cNvSpPr>
          <p:nvPr/>
        </p:nvSpPr>
        <p:spPr bwMode="auto">
          <a:xfrm>
            <a:off x="37888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75" name="Rectangle 6"/>
          <p:cNvSpPr>
            <a:spLocks noChangeArrowheads="1"/>
          </p:cNvSpPr>
          <p:nvPr/>
        </p:nvSpPr>
        <p:spPr bwMode="auto">
          <a:xfrm>
            <a:off x="40428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76" name="Rectangle 7"/>
          <p:cNvSpPr>
            <a:spLocks noChangeArrowheads="1"/>
          </p:cNvSpPr>
          <p:nvPr/>
        </p:nvSpPr>
        <p:spPr bwMode="auto">
          <a:xfrm>
            <a:off x="42968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77" name="Rectangle 8"/>
          <p:cNvSpPr>
            <a:spLocks noChangeArrowheads="1"/>
          </p:cNvSpPr>
          <p:nvPr/>
        </p:nvSpPr>
        <p:spPr bwMode="auto">
          <a:xfrm>
            <a:off x="35348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78" name="Rectangle 9"/>
          <p:cNvSpPr>
            <a:spLocks noChangeArrowheads="1"/>
          </p:cNvSpPr>
          <p:nvPr/>
        </p:nvSpPr>
        <p:spPr bwMode="auto">
          <a:xfrm>
            <a:off x="37888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79" name="Rectangle 10"/>
          <p:cNvSpPr>
            <a:spLocks noChangeArrowheads="1"/>
          </p:cNvSpPr>
          <p:nvPr/>
        </p:nvSpPr>
        <p:spPr bwMode="auto">
          <a:xfrm>
            <a:off x="40428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0" name="Rectangle 11"/>
          <p:cNvSpPr>
            <a:spLocks noChangeArrowheads="1"/>
          </p:cNvSpPr>
          <p:nvPr/>
        </p:nvSpPr>
        <p:spPr bwMode="auto">
          <a:xfrm>
            <a:off x="42968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1" name="Rectangle 12"/>
          <p:cNvSpPr>
            <a:spLocks noChangeArrowheads="1"/>
          </p:cNvSpPr>
          <p:nvPr/>
        </p:nvSpPr>
        <p:spPr bwMode="auto">
          <a:xfrm>
            <a:off x="35348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2" name="Rectangle 13"/>
          <p:cNvSpPr>
            <a:spLocks noChangeArrowheads="1"/>
          </p:cNvSpPr>
          <p:nvPr/>
        </p:nvSpPr>
        <p:spPr bwMode="auto">
          <a:xfrm>
            <a:off x="37888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3" name="Rectangle 14"/>
          <p:cNvSpPr>
            <a:spLocks noChangeArrowheads="1"/>
          </p:cNvSpPr>
          <p:nvPr/>
        </p:nvSpPr>
        <p:spPr bwMode="auto">
          <a:xfrm>
            <a:off x="40428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4" name="Rectangle 15"/>
          <p:cNvSpPr>
            <a:spLocks noChangeArrowheads="1"/>
          </p:cNvSpPr>
          <p:nvPr/>
        </p:nvSpPr>
        <p:spPr bwMode="auto">
          <a:xfrm>
            <a:off x="42968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5" name="Rectangle 29"/>
          <p:cNvSpPr>
            <a:spLocks noChangeArrowheads="1"/>
          </p:cNvSpPr>
          <p:nvPr/>
        </p:nvSpPr>
        <p:spPr bwMode="auto">
          <a:xfrm>
            <a:off x="45508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6" name="Rectangle 30"/>
          <p:cNvSpPr>
            <a:spLocks noChangeArrowheads="1"/>
          </p:cNvSpPr>
          <p:nvPr/>
        </p:nvSpPr>
        <p:spPr bwMode="auto">
          <a:xfrm>
            <a:off x="48048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7" name="Rectangle 31"/>
          <p:cNvSpPr>
            <a:spLocks noChangeArrowheads="1"/>
          </p:cNvSpPr>
          <p:nvPr/>
        </p:nvSpPr>
        <p:spPr bwMode="auto">
          <a:xfrm>
            <a:off x="50588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8" name="Rectangle 32"/>
          <p:cNvSpPr>
            <a:spLocks noChangeArrowheads="1"/>
          </p:cNvSpPr>
          <p:nvPr/>
        </p:nvSpPr>
        <p:spPr bwMode="auto">
          <a:xfrm>
            <a:off x="53128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89" name="Rectangle 33"/>
          <p:cNvSpPr>
            <a:spLocks noChangeArrowheads="1"/>
          </p:cNvSpPr>
          <p:nvPr/>
        </p:nvSpPr>
        <p:spPr bwMode="auto">
          <a:xfrm>
            <a:off x="45508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0" name="Rectangle 34"/>
          <p:cNvSpPr>
            <a:spLocks noChangeArrowheads="1"/>
          </p:cNvSpPr>
          <p:nvPr/>
        </p:nvSpPr>
        <p:spPr bwMode="auto">
          <a:xfrm>
            <a:off x="48048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1" name="Rectangle 35"/>
          <p:cNvSpPr>
            <a:spLocks noChangeArrowheads="1"/>
          </p:cNvSpPr>
          <p:nvPr/>
        </p:nvSpPr>
        <p:spPr bwMode="auto">
          <a:xfrm>
            <a:off x="50588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2" name="Rectangle 36"/>
          <p:cNvSpPr>
            <a:spLocks noChangeArrowheads="1"/>
          </p:cNvSpPr>
          <p:nvPr/>
        </p:nvSpPr>
        <p:spPr bwMode="auto">
          <a:xfrm>
            <a:off x="53128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3" name="Rectangle 37"/>
          <p:cNvSpPr>
            <a:spLocks noChangeArrowheads="1"/>
          </p:cNvSpPr>
          <p:nvPr/>
        </p:nvSpPr>
        <p:spPr bwMode="auto">
          <a:xfrm>
            <a:off x="45508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4" name="Rectangle 38"/>
          <p:cNvSpPr>
            <a:spLocks noChangeArrowheads="1"/>
          </p:cNvSpPr>
          <p:nvPr/>
        </p:nvSpPr>
        <p:spPr bwMode="auto">
          <a:xfrm>
            <a:off x="48048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5" name="Rectangle 39"/>
          <p:cNvSpPr>
            <a:spLocks noChangeArrowheads="1"/>
          </p:cNvSpPr>
          <p:nvPr/>
        </p:nvSpPr>
        <p:spPr bwMode="auto">
          <a:xfrm>
            <a:off x="50588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6" name="Rectangle 40"/>
          <p:cNvSpPr>
            <a:spLocks noChangeArrowheads="1"/>
          </p:cNvSpPr>
          <p:nvPr/>
        </p:nvSpPr>
        <p:spPr bwMode="auto">
          <a:xfrm>
            <a:off x="53128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7" name="Rectangle 41"/>
          <p:cNvSpPr>
            <a:spLocks noChangeArrowheads="1"/>
          </p:cNvSpPr>
          <p:nvPr/>
        </p:nvSpPr>
        <p:spPr bwMode="auto">
          <a:xfrm>
            <a:off x="35348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8" name="Rectangle 42"/>
          <p:cNvSpPr>
            <a:spLocks noChangeArrowheads="1"/>
          </p:cNvSpPr>
          <p:nvPr/>
        </p:nvSpPr>
        <p:spPr bwMode="auto">
          <a:xfrm>
            <a:off x="37888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199" name="Rectangle 43"/>
          <p:cNvSpPr>
            <a:spLocks noChangeArrowheads="1"/>
          </p:cNvSpPr>
          <p:nvPr/>
        </p:nvSpPr>
        <p:spPr bwMode="auto">
          <a:xfrm>
            <a:off x="40428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0" name="Rectangle 44"/>
          <p:cNvSpPr>
            <a:spLocks noChangeArrowheads="1"/>
          </p:cNvSpPr>
          <p:nvPr/>
        </p:nvSpPr>
        <p:spPr bwMode="auto">
          <a:xfrm>
            <a:off x="42968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1" name="Rectangle 45"/>
          <p:cNvSpPr>
            <a:spLocks noChangeArrowheads="1"/>
          </p:cNvSpPr>
          <p:nvPr/>
        </p:nvSpPr>
        <p:spPr bwMode="auto">
          <a:xfrm>
            <a:off x="35348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2" name="Rectangle 46"/>
          <p:cNvSpPr>
            <a:spLocks noChangeArrowheads="1"/>
          </p:cNvSpPr>
          <p:nvPr/>
        </p:nvSpPr>
        <p:spPr bwMode="auto">
          <a:xfrm>
            <a:off x="37888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3" name="Rectangle 47"/>
          <p:cNvSpPr>
            <a:spLocks noChangeArrowheads="1"/>
          </p:cNvSpPr>
          <p:nvPr/>
        </p:nvSpPr>
        <p:spPr bwMode="auto">
          <a:xfrm>
            <a:off x="40428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4" name="Rectangle 48"/>
          <p:cNvSpPr>
            <a:spLocks noChangeArrowheads="1"/>
          </p:cNvSpPr>
          <p:nvPr/>
        </p:nvSpPr>
        <p:spPr bwMode="auto">
          <a:xfrm>
            <a:off x="42968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5" name="Rectangle 49"/>
          <p:cNvSpPr>
            <a:spLocks noChangeArrowheads="1"/>
          </p:cNvSpPr>
          <p:nvPr/>
        </p:nvSpPr>
        <p:spPr bwMode="auto">
          <a:xfrm>
            <a:off x="35348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6" name="Rectangle 50"/>
          <p:cNvSpPr>
            <a:spLocks noChangeArrowheads="1"/>
          </p:cNvSpPr>
          <p:nvPr/>
        </p:nvSpPr>
        <p:spPr bwMode="auto">
          <a:xfrm>
            <a:off x="37888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7" name="Rectangle 51"/>
          <p:cNvSpPr>
            <a:spLocks noChangeArrowheads="1"/>
          </p:cNvSpPr>
          <p:nvPr/>
        </p:nvSpPr>
        <p:spPr bwMode="auto">
          <a:xfrm>
            <a:off x="40428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8" name="Rectangle 52"/>
          <p:cNvSpPr>
            <a:spLocks noChangeArrowheads="1"/>
          </p:cNvSpPr>
          <p:nvPr/>
        </p:nvSpPr>
        <p:spPr bwMode="auto">
          <a:xfrm>
            <a:off x="42968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09" name="Rectangle 53"/>
          <p:cNvSpPr>
            <a:spLocks noChangeArrowheads="1"/>
          </p:cNvSpPr>
          <p:nvPr/>
        </p:nvSpPr>
        <p:spPr bwMode="auto">
          <a:xfrm>
            <a:off x="45508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0" name="Rectangle 54"/>
          <p:cNvSpPr>
            <a:spLocks noChangeArrowheads="1"/>
          </p:cNvSpPr>
          <p:nvPr/>
        </p:nvSpPr>
        <p:spPr bwMode="auto">
          <a:xfrm>
            <a:off x="48048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1" name="Rectangle 55"/>
          <p:cNvSpPr>
            <a:spLocks noChangeArrowheads="1"/>
          </p:cNvSpPr>
          <p:nvPr/>
        </p:nvSpPr>
        <p:spPr bwMode="auto">
          <a:xfrm>
            <a:off x="50588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2" name="Rectangle 56"/>
          <p:cNvSpPr>
            <a:spLocks noChangeArrowheads="1"/>
          </p:cNvSpPr>
          <p:nvPr/>
        </p:nvSpPr>
        <p:spPr bwMode="auto">
          <a:xfrm>
            <a:off x="53128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3" name="Rectangle 57"/>
          <p:cNvSpPr>
            <a:spLocks noChangeArrowheads="1"/>
          </p:cNvSpPr>
          <p:nvPr/>
        </p:nvSpPr>
        <p:spPr bwMode="auto">
          <a:xfrm>
            <a:off x="45508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4" name="Rectangle 58"/>
          <p:cNvSpPr>
            <a:spLocks noChangeArrowheads="1"/>
          </p:cNvSpPr>
          <p:nvPr/>
        </p:nvSpPr>
        <p:spPr bwMode="auto">
          <a:xfrm>
            <a:off x="48048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5" name="Rectangle 59"/>
          <p:cNvSpPr>
            <a:spLocks noChangeArrowheads="1"/>
          </p:cNvSpPr>
          <p:nvPr/>
        </p:nvSpPr>
        <p:spPr bwMode="auto">
          <a:xfrm>
            <a:off x="50588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6" name="Rectangle 60"/>
          <p:cNvSpPr>
            <a:spLocks noChangeArrowheads="1"/>
          </p:cNvSpPr>
          <p:nvPr/>
        </p:nvSpPr>
        <p:spPr bwMode="auto">
          <a:xfrm>
            <a:off x="53128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7" name="Rectangle 61"/>
          <p:cNvSpPr>
            <a:spLocks noChangeArrowheads="1"/>
          </p:cNvSpPr>
          <p:nvPr/>
        </p:nvSpPr>
        <p:spPr bwMode="auto">
          <a:xfrm>
            <a:off x="45508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8" name="Rectangle 62"/>
          <p:cNvSpPr>
            <a:spLocks noChangeArrowheads="1"/>
          </p:cNvSpPr>
          <p:nvPr/>
        </p:nvSpPr>
        <p:spPr bwMode="auto">
          <a:xfrm>
            <a:off x="48048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19" name="Rectangle 63"/>
          <p:cNvSpPr>
            <a:spLocks noChangeArrowheads="1"/>
          </p:cNvSpPr>
          <p:nvPr/>
        </p:nvSpPr>
        <p:spPr bwMode="auto">
          <a:xfrm>
            <a:off x="50588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0" name="Rectangle 64"/>
          <p:cNvSpPr>
            <a:spLocks noChangeArrowheads="1"/>
          </p:cNvSpPr>
          <p:nvPr/>
        </p:nvSpPr>
        <p:spPr bwMode="auto">
          <a:xfrm>
            <a:off x="53128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1" name="Rectangle 105"/>
          <p:cNvSpPr>
            <a:spLocks noChangeArrowheads="1"/>
          </p:cNvSpPr>
          <p:nvPr/>
        </p:nvSpPr>
        <p:spPr bwMode="auto">
          <a:xfrm>
            <a:off x="35348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2" name="Rectangle 106"/>
          <p:cNvSpPr>
            <a:spLocks noChangeArrowheads="1"/>
          </p:cNvSpPr>
          <p:nvPr/>
        </p:nvSpPr>
        <p:spPr bwMode="auto">
          <a:xfrm>
            <a:off x="37888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3" name="Rectangle 107"/>
          <p:cNvSpPr>
            <a:spLocks noChangeArrowheads="1"/>
          </p:cNvSpPr>
          <p:nvPr/>
        </p:nvSpPr>
        <p:spPr bwMode="auto">
          <a:xfrm>
            <a:off x="40428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4" name="Rectangle 108"/>
          <p:cNvSpPr>
            <a:spLocks noChangeArrowheads="1"/>
          </p:cNvSpPr>
          <p:nvPr/>
        </p:nvSpPr>
        <p:spPr bwMode="auto">
          <a:xfrm>
            <a:off x="42968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5" name="Rectangle 109"/>
          <p:cNvSpPr>
            <a:spLocks noChangeArrowheads="1"/>
          </p:cNvSpPr>
          <p:nvPr/>
        </p:nvSpPr>
        <p:spPr bwMode="auto">
          <a:xfrm>
            <a:off x="35348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6" name="Rectangle 110"/>
          <p:cNvSpPr>
            <a:spLocks noChangeArrowheads="1"/>
          </p:cNvSpPr>
          <p:nvPr/>
        </p:nvSpPr>
        <p:spPr bwMode="auto">
          <a:xfrm>
            <a:off x="37888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7" name="Rectangle 111"/>
          <p:cNvSpPr>
            <a:spLocks noChangeArrowheads="1"/>
          </p:cNvSpPr>
          <p:nvPr/>
        </p:nvSpPr>
        <p:spPr bwMode="auto">
          <a:xfrm>
            <a:off x="40428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8" name="Rectangle 112"/>
          <p:cNvSpPr>
            <a:spLocks noChangeArrowheads="1"/>
          </p:cNvSpPr>
          <p:nvPr/>
        </p:nvSpPr>
        <p:spPr bwMode="auto">
          <a:xfrm>
            <a:off x="42968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29" name="Rectangle 113"/>
          <p:cNvSpPr>
            <a:spLocks noChangeArrowheads="1"/>
          </p:cNvSpPr>
          <p:nvPr/>
        </p:nvSpPr>
        <p:spPr bwMode="auto">
          <a:xfrm>
            <a:off x="45508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0" name="Rectangle 114"/>
          <p:cNvSpPr>
            <a:spLocks noChangeArrowheads="1"/>
          </p:cNvSpPr>
          <p:nvPr/>
        </p:nvSpPr>
        <p:spPr bwMode="auto">
          <a:xfrm>
            <a:off x="48048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1" name="Rectangle 115"/>
          <p:cNvSpPr>
            <a:spLocks noChangeArrowheads="1"/>
          </p:cNvSpPr>
          <p:nvPr/>
        </p:nvSpPr>
        <p:spPr bwMode="auto">
          <a:xfrm>
            <a:off x="50588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2" name="Rectangle 116"/>
          <p:cNvSpPr>
            <a:spLocks noChangeArrowheads="1"/>
          </p:cNvSpPr>
          <p:nvPr/>
        </p:nvSpPr>
        <p:spPr bwMode="auto">
          <a:xfrm>
            <a:off x="53128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3" name="Rectangle 117"/>
          <p:cNvSpPr>
            <a:spLocks noChangeArrowheads="1"/>
          </p:cNvSpPr>
          <p:nvPr/>
        </p:nvSpPr>
        <p:spPr bwMode="auto">
          <a:xfrm>
            <a:off x="45508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4" name="Rectangle 118"/>
          <p:cNvSpPr>
            <a:spLocks noChangeArrowheads="1"/>
          </p:cNvSpPr>
          <p:nvPr/>
        </p:nvSpPr>
        <p:spPr bwMode="auto">
          <a:xfrm>
            <a:off x="48048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5" name="Rectangle 119"/>
          <p:cNvSpPr>
            <a:spLocks noChangeArrowheads="1"/>
          </p:cNvSpPr>
          <p:nvPr/>
        </p:nvSpPr>
        <p:spPr bwMode="auto">
          <a:xfrm>
            <a:off x="50588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6" name="Rectangle 120"/>
          <p:cNvSpPr>
            <a:spLocks noChangeArrowheads="1"/>
          </p:cNvSpPr>
          <p:nvPr/>
        </p:nvSpPr>
        <p:spPr bwMode="auto">
          <a:xfrm>
            <a:off x="53128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7" name="Rectangle 442"/>
          <p:cNvSpPr>
            <a:spLocks noChangeArrowheads="1"/>
          </p:cNvSpPr>
          <p:nvPr/>
        </p:nvSpPr>
        <p:spPr bwMode="auto">
          <a:xfrm>
            <a:off x="65193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8" name="Rectangle 443"/>
          <p:cNvSpPr>
            <a:spLocks noChangeArrowheads="1"/>
          </p:cNvSpPr>
          <p:nvPr/>
        </p:nvSpPr>
        <p:spPr bwMode="auto">
          <a:xfrm>
            <a:off x="67733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39" name="Rectangle 444"/>
          <p:cNvSpPr>
            <a:spLocks noChangeArrowheads="1"/>
          </p:cNvSpPr>
          <p:nvPr/>
        </p:nvSpPr>
        <p:spPr bwMode="auto">
          <a:xfrm>
            <a:off x="70273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0" name="Rectangle 445"/>
          <p:cNvSpPr>
            <a:spLocks noChangeArrowheads="1"/>
          </p:cNvSpPr>
          <p:nvPr/>
        </p:nvSpPr>
        <p:spPr bwMode="auto">
          <a:xfrm>
            <a:off x="72813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1" name="Rectangle 446"/>
          <p:cNvSpPr>
            <a:spLocks noChangeArrowheads="1"/>
          </p:cNvSpPr>
          <p:nvPr/>
        </p:nvSpPr>
        <p:spPr bwMode="auto">
          <a:xfrm>
            <a:off x="65193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2" name="Rectangle 447"/>
          <p:cNvSpPr>
            <a:spLocks noChangeArrowheads="1"/>
          </p:cNvSpPr>
          <p:nvPr/>
        </p:nvSpPr>
        <p:spPr bwMode="auto">
          <a:xfrm>
            <a:off x="67733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3" name="Rectangle 448"/>
          <p:cNvSpPr>
            <a:spLocks noChangeArrowheads="1"/>
          </p:cNvSpPr>
          <p:nvPr/>
        </p:nvSpPr>
        <p:spPr bwMode="auto">
          <a:xfrm>
            <a:off x="70273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4" name="Rectangle 449"/>
          <p:cNvSpPr>
            <a:spLocks noChangeArrowheads="1"/>
          </p:cNvSpPr>
          <p:nvPr/>
        </p:nvSpPr>
        <p:spPr bwMode="auto">
          <a:xfrm>
            <a:off x="72813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5" name="Rectangle 450"/>
          <p:cNvSpPr>
            <a:spLocks noChangeArrowheads="1"/>
          </p:cNvSpPr>
          <p:nvPr/>
        </p:nvSpPr>
        <p:spPr bwMode="auto">
          <a:xfrm>
            <a:off x="65193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6" name="Rectangle 451"/>
          <p:cNvSpPr>
            <a:spLocks noChangeArrowheads="1"/>
          </p:cNvSpPr>
          <p:nvPr/>
        </p:nvSpPr>
        <p:spPr bwMode="auto">
          <a:xfrm>
            <a:off x="67733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7" name="Rectangle 452"/>
          <p:cNvSpPr>
            <a:spLocks noChangeArrowheads="1"/>
          </p:cNvSpPr>
          <p:nvPr/>
        </p:nvSpPr>
        <p:spPr bwMode="auto">
          <a:xfrm>
            <a:off x="70273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8" name="Rectangle 453"/>
          <p:cNvSpPr>
            <a:spLocks noChangeArrowheads="1"/>
          </p:cNvSpPr>
          <p:nvPr/>
        </p:nvSpPr>
        <p:spPr bwMode="auto">
          <a:xfrm>
            <a:off x="72813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49" name="Rectangle 454"/>
          <p:cNvSpPr>
            <a:spLocks noChangeArrowheads="1"/>
          </p:cNvSpPr>
          <p:nvPr/>
        </p:nvSpPr>
        <p:spPr bwMode="auto">
          <a:xfrm>
            <a:off x="75353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0" name="Rectangle 455"/>
          <p:cNvSpPr>
            <a:spLocks noChangeArrowheads="1"/>
          </p:cNvSpPr>
          <p:nvPr/>
        </p:nvSpPr>
        <p:spPr bwMode="auto">
          <a:xfrm>
            <a:off x="77893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1" name="Rectangle 456"/>
          <p:cNvSpPr>
            <a:spLocks noChangeArrowheads="1"/>
          </p:cNvSpPr>
          <p:nvPr/>
        </p:nvSpPr>
        <p:spPr bwMode="auto">
          <a:xfrm>
            <a:off x="80433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2" name="Rectangle 457"/>
          <p:cNvSpPr>
            <a:spLocks noChangeArrowheads="1"/>
          </p:cNvSpPr>
          <p:nvPr/>
        </p:nvSpPr>
        <p:spPr bwMode="auto">
          <a:xfrm>
            <a:off x="8297333" y="2815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3" name="Rectangle 458"/>
          <p:cNvSpPr>
            <a:spLocks noChangeArrowheads="1"/>
          </p:cNvSpPr>
          <p:nvPr/>
        </p:nvSpPr>
        <p:spPr bwMode="auto">
          <a:xfrm>
            <a:off x="75353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4" name="Rectangle 459"/>
          <p:cNvSpPr>
            <a:spLocks noChangeArrowheads="1"/>
          </p:cNvSpPr>
          <p:nvPr/>
        </p:nvSpPr>
        <p:spPr bwMode="auto">
          <a:xfrm>
            <a:off x="77893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5" name="Rectangle 460"/>
          <p:cNvSpPr>
            <a:spLocks noChangeArrowheads="1"/>
          </p:cNvSpPr>
          <p:nvPr/>
        </p:nvSpPr>
        <p:spPr bwMode="auto">
          <a:xfrm>
            <a:off x="80433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6" name="Rectangle 461"/>
          <p:cNvSpPr>
            <a:spLocks noChangeArrowheads="1"/>
          </p:cNvSpPr>
          <p:nvPr/>
        </p:nvSpPr>
        <p:spPr bwMode="auto">
          <a:xfrm>
            <a:off x="8297333" y="3058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7" name="Rectangle 462"/>
          <p:cNvSpPr>
            <a:spLocks noChangeArrowheads="1"/>
          </p:cNvSpPr>
          <p:nvPr/>
        </p:nvSpPr>
        <p:spPr bwMode="auto">
          <a:xfrm>
            <a:off x="75353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8" name="Rectangle 463"/>
          <p:cNvSpPr>
            <a:spLocks noChangeArrowheads="1"/>
          </p:cNvSpPr>
          <p:nvPr/>
        </p:nvSpPr>
        <p:spPr bwMode="auto">
          <a:xfrm>
            <a:off x="77893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59" name="Rectangle 464"/>
          <p:cNvSpPr>
            <a:spLocks noChangeArrowheads="1"/>
          </p:cNvSpPr>
          <p:nvPr/>
        </p:nvSpPr>
        <p:spPr bwMode="auto">
          <a:xfrm>
            <a:off x="80433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0" name="Rectangle 465"/>
          <p:cNvSpPr>
            <a:spLocks noChangeArrowheads="1"/>
          </p:cNvSpPr>
          <p:nvPr/>
        </p:nvSpPr>
        <p:spPr bwMode="auto">
          <a:xfrm>
            <a:off x="8297333" y="3302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1" name="Rectangle 466"/>
          <p:cNvSpPr>
            <a:spLocks noChangeArrowheads="1"/>
          </p:cNvSpPr>
          <p:nvPr/>
        </p:nvSpPr>
        <p:spPr bwMode="auto">
          <a:xfrm>
            <a:off x="65193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2" name="Rectangle 467"/>
          <p:cNvSpPr>
            <a:spLocks noChangeArrowheads="1"/>
          </p:cNvSpPr>
          <p:nvPr/>
        </p:nvSpPr>
        <p:spPr bwMode="auto">
          <a:xfrm>
            <a:off x="67733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3" name="Rectangle 468"/>
          <p:cNvSpPr>
            <a:spLocks noChangeArrowheads="1"/>
          </p:cNvSpPr>
          <p:nvPr/>
        </p:nvSpPr>
        <p:spPr bwMode="auto">
          <a:xfrm>
            <a:off x="70273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4" name="Rectangle 469"/>
          <p:cNvSpPr>
            <a:spLocks noChangeArrowheads="1"/>
          </p:cNvSpPr>
          <p:nvPr/>
        </p:nvSpPr>
        <p:spPr bwMode="auto">
          <a:xfrm>
            <a:off x="72813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5" name="Rectangle 470"/>
          <p:cNvSpPr>
            <a:spLocks noChangeArrowheads="1"/>
          </p:cNvSpPr>
          <p:nvPr/>
        </p:nvSpPr>
        <p:spPr bwMode="auto">
          <a:xfrm>
            <a:off x="65193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6" name="Rectangle 471"/>
          <p:cNvSpPr>
            <a:spLocks noChangeArrowheads="1"/>
          </p:cNvSpPr>
          <p:nvPr/>
        </p:nvSpPr>
        <p:spPr bwMode="auto">
          <a:xfrm>
            <a:off x="67733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7" name="Rectangle 472"/>
          <p:cNvSpPr>
            <a:spLocks noChangeArrowheads="1"/>
          </p:cNvSpPr>
          <p:nvPr/>
        </p:nvSpPr>
        <p:spPr bwMode="auto">
          <a:xfrm>
            <a:off x="70273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8" name="Rectangle 473"/>
          <p:cNvSpPr>
            <a:spLocks noChangeArrowheads="1"/>
          </p:cNvSpPr>
          <p:nvPr/>
        </p:nvSpPr>
        <p:spPr bwMode="auto">
          <a:xfrm>
            <a:off x="72813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69" name="Rectangle 474"/>
          <p:cNvSpPr>
            <a:spLocks noChangeArrowheads="1"/>
          </p:cNvSpPr>
          <p:nvPr/>
        </p:nvSpPr>
        <p:spPr bwMode="auto">
          <a:xfrm>
            <a:off x="65193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0" name="Rectangle 475"/>
          <p:cNvSpPr>
            <a:spLocks noChangeArrowheads="1"/>
          </p:cNvSpPr>
          <p:nvPr/>
        </p:nvSpPr>
        <p:spPr bwMode="auto">
          <a:xfrm>
            <a:off x="67733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1" name="Rectangle 476"/>
          <p:cNvSpPr>
            <a:spLocks noChangeArrowheads="1"/>
          </p:cNvSpPr>
          <p:nvPr/>
        </p:nvSpPr>
        <p:spPr bwMode="auto">
          <a:xfrm>
            <a:off x="70273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2" name="Rectangle 477"/>
          <p:cNvSpPr>
            <a:spLocks noChangeArrowheads="1"/>
          </p:cNvSpPr>
          <p:nvPr/>
        </p:nvSpPr>
        <p:spPr bwMode="auto">
          <a:xfrm>
            <a:off x="72813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3" name="Rectangle 478"/>
          <p:cNvSpPr>
            <a:spLocks noChangeArrowheads="1"/>
          </p:cNvSpPr>
          <p:nvPr/>
        </p:nvSpPr>
        <p:spPr bwMode="auto">
          <a:xfrm>
            <a:off x="75353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4" name="Rectangle 479"/>
          <p:cNvSpPr>
            <a:spLocks noChangeArrowheads="1"/>
          </p:cNvSpPr>
          <p:nvPr/>
        </p:nvSpPr>
        <p:spPr bwMode="auto">
          <a:xfrm>
            <a:off x="77893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5" name="Rectangle 480"/>
          <p:cNvSpPr>
            <a:spLocks noChangeArrowheads="1"/>
          </p:cNvSpPr>
          <p:nvPr/>
        </p:nvSpPr>
        <p:spPr bwMode="auto">
          <a:xfrm>
            <a:off x="80433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6" name="Rectangle 481"/>
          <p:cNvSpPr>
            <a:spLocks noChangeArrowheads="1"/>
          </p:cNvSpPr>
          <p:nvPr/>
        </p:nvSpPr>
        <p:spPr bwMode="auto">
          <a:xfrm>
            <a:off x="8297333" y="3545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7" name="Rectangle 482"/>
          <p:cNvSpPr>
            <a:spLocks noChangeArrowheads="1"/>
          </p:cNvSpPr>
          <p:nvPr/>
        </p:nvSpPr>
        <p:spPr bwMode="auto">
          <a:xfrm>
            <a:off x="75353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8" name="Rectangle 483"/>
          <p:cNvSpPr>
            <a:spLocks noChangeArrowheads="1"/>
          </p:cNvSpPr>
          <p:nvPr/>
        </p:nvSpPr>
        <p:spPr bwMode="auto">
          <a:xfrm>
            <a:off x="77893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79" name="Rectangle 484"/>
          <p:cNvSpPr>
            <a:spLocks noChangeArrowheads="1"/>
          </p:cNvSpPr>
          <p:nvPr/>
        </p:nvSpPr>
        <p:spPr bwMode="auto">
          <a:xfrm>
            <a:off x="80433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0" name="Rectangle 485"/>
          <p:cNvSpPr>
            <a:spLocks noChangeArrowheads="1"/>
          </p:cNvSpPr>
          <p:nvPr/>
        </p:nvSpPr>
        <p:spPr bwMode="auto">
          <a:xfrm>
            <a:off x="8297333" y="3788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1" name="Rectangle 486"/>
          <p:cNvSpPr>
            <a:spLocks noChangeArrowheads="1"/>
          </p:cNvSpPr>
          <p:nvPr/>
        </p:nvSpPr>
        <p:spPr bwMode="auto">
          <a:xfrm>
            <a:off x="75353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2" name="Rectangle 487"/>
          <p:cNvSpPr>
            <a:spLocks noChangeArrowheads="1"/>
          </p:cNvSpPr>
          <p:nvPr/>
        </p:nvSpPr>
        <p:spPr bwMode="auto">
          <a:xfrm>
            <a:off x="77893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3" name="Rectangle 488"/>
          <p:cNvSpPr>
            <a:spLocks noChangeArrowheads="1"/>
          </p:cNvSpPr>
          <p:nvPr/>
        </p:nvSpPr>
        <p:spPr bwMode="auto">
          <a:xfrm>
            <a:off x="80433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4" name="Rectangle 489"/>
          <p:cNvSpPr>
            <a:spLocks noChangeArrowheads="1"/>
          </p:cNvSpPr>
          <p:nvPr/>
        </p:nvSpPr>
        <p:spPr bwMode="auto">
          <a:xfrm>
            <a:off x="8297333" y="4032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5" name="Rectangle 490"/>
          <p:cNvSpPr>
            <a:spLocks noChangeArrowheads="1"/>
          </p:cNvSpPr>
          <p:nvPr/>
        </p:nvSpPr>
        <p:spPr bwMode="auto">
          <a:xfrm>
            <a:off x="65193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6" name="Rectangle 491"/>
          <p:cNvSpPr>
            <a:spLocks noChangeArrowheads="1"/>
          </p:cNvSpPr>
          <p:nvPr/>
        </p:nvSpPr>
        <p:spPr bwMode="auto">
          <a:xfrm>
            <a:off x="67733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7" name="Rectangle 492"/>
          <p:cNvSpPr>
            <a:spLocks noChangeArrowheads="1"/>
          </p:cNvSpPr>
          <p:nvPr/>
        </p:nvSpPr>
        <p:spPr bwMode="auto">
          <a:xfrm>
            <a:off x="70273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8" name="Rectangle 493"/>
          <p:cNvSpPr>
            <a:spLocks noChangeArrowheads="1"/>
          </p:cNvSpPr>
          <p:nvPr/>
        </p:nvSpPr>
        <p:spPr bwMode="auto">
          <a:xfrm>
            <a:off x="72813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89" name="Rectangle 494"/>
          <p:cNvSpPr>
            <a:spLocks noChangeArrowheads="1"/>
          </p:cNvSpPr>
          <p:nvPr/>
        </p:nvSpPr>
        <p:spPr bwMode="auto">
          <a:xfrm>
            <a:off x="65193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0" name="Rectangle 495"/>
          <p:cNvSpPr>
            <a:spLocks noChangeArrowheads="1"/>
          </p:cNvSpPr>
          <p:nvPr/>
        </p:nvSpPr>
        <p:spPr bwMode="auto">
          <a:xfrm>
            <a:off x="67733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1" name="Rectangle 496"/>
          <p:cNvSpPr>
            <a:spLocks noChangeArrowheads="1"/>
          </p:cNvSpPr>
          <p:nvPr/>
        </p:nvSpPr>
        <p:spPr bwMode="auto">
          <a:xfrm>
            <a:off x="70273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2" name="Rectangle 497"/>
          <p:cNvSpPr>
            <a:spLocks noChangeArrowheads="1"/>
          </p:cNvSpPr>
          <p:nvPr/>
        </p:nvSpPr>
        <p:spPr bwMode="auto">
          <a:xfrm>
            <a:off x="72813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3" name="Rectangle 498"/>
          <p:cNvSpPr>
            <a:spLocks noChangeArrowheads="1"/>
          </p:cNvSpPr>
          <p:nvPr/>
        </p:nvSpPr>
        <p:spPr bwMode="auto">
          <a:xfrm>
            <a:off x="75353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4" name="Rectangle 499"/>
          <p:cNvSpPr>
            <a:spLocks noChangeArrowheads="1"/>
          </p:cNvSpPr>
          <p:nvPr/>
        </p:nvSpPr>
        <p:spPr bwMode="auto">
          <a:xfrm>
            <a:off x="77893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5" name="Rectangle 500"/>
          <p:cNvSpPr>
            <a:spLocks noChangeArrowheads="1"/>
          </p:cNvSpPr>
          <p:nvPr/>
        </p:nvSpPr>
        <p:spPr bwMode="auto">
          <a:xfrm>
            <a:off x="80433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6" name="Rectangle 501"/>
          <p:cNvSpPr>
            <a:spLocks noChangeArrowheads="1"/>
          </p:cNvSpPr>
          <p:nvPr/>
        </p:nvSpPr>
        <p:spPr bwMode="auto">
          <a:xfrm>
            <a:off x="8297333" y="4275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7" name="Rectangle 502"/>
          <p:cNvSpPr>
            <a:spLocks noChangeArrowheads="1"/>
          </p:cNvSpPr>
          <p:nvPr/>
        </p:nvSpPr>
        <p:spPr bwMode="auto">
          <a:xfrm>
            <a:off x="75353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8" name="Rectangle 503"/>
          <p:cNvSpPr>
            <a:spLocks noChangeArrowheads="1"/>
          </p:cNvSpPr>
          <p:nvPr/>
        </p:nvSpPr>
        <p:spPr bwMode="auto">
          <a:xfrm>
            <a:off x="77893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299" name="Rectangle 504"/>
          <p:cNvSpPr>
            <a:spLocks noChangeArrowheads="1"/>
          </p:cNvSpPr>
          <p:nvPr/>
        </p:nvSpPr>
        <p:spPr bwMode="auto">
          <a:xfrm>
            <a:off x="80433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0" name="Rectangle 505"/>
          <p:cNvSpPr>
            <a:spLocks noChangeArrowheads="1"/>
          </p:cNvSpPr>
          <p:nvPr/>
        </p:nvSpPr>
        <p:spPr bwMode="auto">
          <a:xfrm>
            <a:off x="8297333" y="4519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1" name="Rectangle 506"/>
          <p:cNvSpPr>
            <a:spLocks noChangeArrowheads="1"/>
          </p:cNvSpPr>
          <p:nvPr/>
        </p:nvSpPr>
        <p:spPr bwMode="auto">
          <a:xfrm>
            <a:off x="76200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2" name="Rectangle 507"/>
          <p:cNvSpPr>
            <a:spLocks noChangeArrowheads="1"/>
          </p:cNvSpPr>
          <p:nvPr/>
        </p:nvSpPr>
        <p:spPr bwMode="auto">
          <a:xfrm>
            <a:off x="101600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3" name="Rectangle 508"/>
          <p:cNvSpPr>
            <a:spLocks noChangeArrowheads="1"/>
          </p:cNvSpPr>
          <p:nvPr/>
        </p:nvSpPr>
        <p:spPr bwMode="auto">
          <a:xfrm>
            <a:off x="127000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4" name="Rectangle 509"/>
          <p:cNvSpPr>
            <a:spLocks noChangeArrowheads="1"/>
          </p:cNvSpPr>
          <p:nvPr/>
        </p:nvSpPr>
        <p:spPr bwMode="auto">
          <a:xfrm>
            <a:off x="152400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5" name="Rectangle 510"/>
          <p:cNvSpPr>
            <a:spLocks noChangeArrowheads="1"/>
          </p:cNvSpPr>
          <p:nvPr/>
        </p:nvSpPr>
        <p:spPr bwMode="auto">
          <a:xfrm>
            <a:off x="76200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6" name="Rectangle 511"/>
          <p:cNvSpPr>
            <a:spLocks noChangeArrowheads="1"/>
          </p:cNvSpPr>
          <p:nvPr/>
        </p:nvSpPr>
        <p:spPr bwMode="auto">
          <a:xfrm>
            <a:off x="101600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7" name="Rectangle 512"/>
          <p:cNvSpPr>
            <a:spLocks noChangeArrowheads="1"/>
          </p:cNvSpPr>
          <p:nvPr/>
        </p:nvSpPr>
        <p:spPr bwMode="auto">
          <a:xfrm>
            <a:off x="127000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8" name="Rectangle 513"/>
          <p:cNvSpPr>
            <a:spLocks noChangeArrowheads="1"/>
          </p:cNvSpPr>
          <p:nvPr/>
        </p:nvSpPr>
        <p:spPr bwMode="auto">
          <a:xfrm>
            <a:off x="152400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09" name="Rectangle 514"/>
          <p:cNvSpPr>
            <a:spLocks noChangeArrowheads="1"/>
          </p:cNvSpPr>
          <p:nvPr/>
        </p:nvSpPr>
        <p:spPr bwMode="auto">
          <a:xfrm>
            <a:off x="76200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0" name="Rectangle 515"/>
          <p:cNvSpPr>
            <a:spLocks noChangeArrowheads="1"/>
          </p:cNvSpPr>
          <p:nvPr/>
        </p:nvSpPr>
        <p:spPr bwMode="auto">
          <a:xfrm>
            <a:off x="101600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1" name="Rectangle 516"/>
          <p:cNvSpPr>
            <a:spLocks noChangeArrowheads="1"/>
          </p:cNvSpPr>
          <p:nvPr/>
        </p:nvSpPr>
        <p:spPr bwMode="auto">
          <a:xfrm>
            <a:off x="127000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2" name="Rectangle 517"/>
          <p:cNvSpPr>
            <a:spLocks noChangeArrowheads="1"/>
          </p:cNvSpPr>
          <p:nvPr/>
        </p:nvSpPr>
        <p:spPr bwMode="auto">
          <a:xfrm>
            <a:off x="152400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3" name="Rectangle 518"/>
          <p:cNvSpPr>
            <a:spLocks noChangeArrowheads="1"/>
          </p:cNvSpPr>
          <p:nvPr/>
        </p:nvSpPr>
        <p:spPr bwMode="auto">
          <a:xfrm>
            <a:off x="177800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4" name="Rectangle 519"/>
          <p:cNvSpPr>
            <a:spLocks noChangeArrowheads="1"/>
          </p:cNvSpPr>
          <p:nvPr/>
        </p:nvSpPr>
        <p:spPr bwMode="auto">
          <a:xfrm>
            <a:off x="203200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5" name="Rectangle 520"/>
          <p:cNvSpPr>
            <a:spLocks noChangeArrowheads="1"/>
          </p:cNvSpPr>
          <p:nvPr/>
        </p:nvSpPr>
        <p:spPr bwMode="auto">
          <a:xfrm>
            <a:off x="228600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6" name="Rectangle 521"/>
          <p:cNvSpPr>
            <a:spLocks noChangeArrowheads="1"/>
          </p:cNvSpPr>
          <p:nvPr/>
        </p:nvSpPr>
        <p:spPr bwMode="auto">
          <a:xfrm>
            <a:off x="254000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7" name="Rectangle 522"/>
          <p:cNvSpPr>
            <a:spLocks noChangeArrowheads="1"/>
          </p:cNvSpPr>
          <p:nvPr/>
        </p:nvSpPr>
        <p:spPr bwMode="auto">
          <a:xfrm>
            <a:off x="177800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8" name="Rectangle 523"/>
          <p:cNvSpPr>
            <a:spLocks noChangeArrowheads="1"/>
          </p:cNvSpPr>
          <p:nvPr/>
        </p:nvSpPr>
        <p:spPr bwMode="auto">
          <a:xfrm>
            <a:off x="203200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19" name="Rectangle 524"/>
          <p:cNvSpPr>
            <a:spLocks noChangeArrowheads="1"/>
          </p:cNvSpPr>
          <p:nvPr/>
        </p:nvSpPr>
        <p:spPr bwMode="auto">
          <a:xfrm>
            <a:off x="228600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0" name="Rectangle 525"/>
          <p:cNvSpPr>
            <a:spLocks noChangeArrowheads="1"/>
          </p:cNvSpPr>
          <p:nvPr/>
        </p:nvSpPr>
        <p:spPr bwMode="auto">
          <a:xfrm>
            <a:off x="254000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1" name="Rectangle 526"/>
          <p:cNvSpPr>
            <a:spLocks noChangeArrowheads="1"/>
          </p:cNvSpPr>
          <p:nvPr/>
        </p:nvSpPr>
        <p:spPr bwMode="auto">
          <a:xfrm>
            <a:off x="177800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2" name="Rectangle 527"/>
          <p:cNvSpPr>
            <a:spLocks noChangeArrowheads="1"/>
          </p:cNvSpPr>
          <p:nvPr/>
        </p:nvSpPr>
        <p:spPr bwMode="auto">
          <a:xfrm>
            <a:off x="203200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3" name="Rectangle 528"/>
          <p:cNvSpPr>
            <a:spLocks noChangeArrowheads="1"/>
          </p:cNvSpPr>
          <p:nvPr/>
        </p:nvSpPr>
        <p:spPr bwMode="auto">
          <a:xfrm>
            <a:off x="228600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4" name="Rectangle 529"/>
          <p:cNvSpPr>
            <a:spLocks noChangeArrowheads="1"/>
          </p:cNvSpPr>
          <p:nvPr/>
        </p:nvSpPr>
        <p:spPr bwMode="auto">
          <a:xfrm>
            <a:off x="254000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5" name="Rectangle 530"/>
          <p:cNvSpPr>
            <a:spLocks noChangeArrowheads="1"/>
          </p:cNvSpPr>
          <p:nvPr/>
        </p:nvSpPr>
        <p:spPr bwMode="auto">
          <a:xfrm>
            <a:off x="76200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6" name="Rectangle 531"/>
          <p:cNvSpPr>
            <a:spLocks noChangeArrowheads="1"/>
          </p:cNvSpPr>
          <p:nvPr/>
        </p:nvSpPr>
        <p:spPr bwMode="auto">
          <a:xfrm>
            <a:off x="101600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7" name="Rectangle 532"/>
          <p:cNvSpPr>
            <a:spLocks noChangeArrowheads="1"/>
          </p:cNvSpPr>
          <p:nvPr/>
        </p:nvSpPr>
        <p:spPr bwMode="auto">
          <a:xfrm>
            <a:off x="127000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8" name="Rectangle 533"/>
          <p:cNvSpPr>
            <a:spLocks noChangeArrowheads="1"/>
          </p:cNvSpPr>
          <p:nvPr/>
        </p:nvSpPr>
        <p:spPr bwMode="auto">
          <a:xfrm>
            <a:off x="152400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29" name="Rectangle 534"/>
          <p:cNvSpPr>
            <a:spLocks noChangeArrowheads="1"/>
          </p:cNvSpPr>
          <p:nvPr/>
        </p:nvSpPr>
        <p:spPr bwMode="auto">
          <a:xfrm>
            <a:off x="76200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0" name="Rectangle 535"/>
          <p:cNvSpPr>
            <a:spLocks noChangeArrowheads="1"/>
          </p:cNvSpPr>
          <p:nvPr/>
        </p:nvSpPr>
        <p:spPr bwMode="auto">
          <a:xfrm>
            <a:off x="101600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1" name="Rectangle 536"/>
          <p:cNvSpPr>
            <a:spLocks noChangeArrowheads="1"/>
          </p:cNvSpPr>
          <p:nvPr/>
        </p:nvSpPr>
        <p:spPr bwMode="auto">
          <a:xfrm>
            <a:off x="127000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2" name="Rectangle 537"/>
          <p:cNvSpPr>
            <a:spLocks noChangeArrowheads="1"/>
          </p:cNvSpPr>
          <p:nvPr/>
        </p:nvSpPr>
        <p:spPr bwMode="auto">
          <a:xfrm>
            <a:off x="152400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3" name="Rectangle 538"/>
          <p:cNvSpPr>
            <a:spLocks noChangeArrowheads="1"/>
          </p:cNvSpPr>
          <p:nvPr/>
        </p:nvSpPr>
        <p:spPr bwMode="auto">
          <a:xfrm>
            <a:off x="76200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4" name="Rectangle 539"/>
          <p:cNvSpPr>
            <a:spLocks noChangeArrowheads="1"/>
          </p:cNvSpPr>
          <p:nvPr/>
        </p:nvSpPr>
        <p:spPr bwMode="auto">
          <a:xfrm>
            <a:off x="101600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5" name="Rectangle 540"/>
          <p:cNvSpPr>
            <a:spLocks noChangeArrowheads="1"/>
          </p:cNvSpPr>
          <p:nvPr/>
        </p:nvSpPr>
        <p:spPr bwMode="auto">
          <a:xfrm>
            <a:off x="127000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6" name="Rectangle 541"/>
          <p:cNvSpPr>
            <a:spLocks noChangeArrowheads="1"/>
          </p:cNvSpPr>
          <p:nvPr/>
        </p:nvSpPr>
        <p:spPr bwMode="auto">
          <a:xfrm>
            <a:off x="152400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7" name="Rectangle 542"/>
          <p:cNvSpPr>
            <a:spLocks noChangeArrowheads="1"/>
          </p:cNvSpPr>
          <p:nvPr/>
        </p:nvSpPr>
        <p:spPr bwMode="auto">
          <a:xfrm>
            <a:off x="177800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8" name="Rectangle 543"/>
          <p:cNvSpPr>
            <a:spLocks noChangeArrowheads="1"/>
          </p:cNvSpPr>
          <p:nvPr/>
        </p:nvSpPr>
        <p:spPr bwMode="auto">
          <a:xfrm>
            <a:off x="203200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39" name="Rectangle 544"/>
          <p:cNvSpPr>
            <a:spLocks noChangeArrowheads="1"/>
          </p:cNvSpPr>
          <p:nvPr/>
        </p:nvSpPr>
        <p:spPr bwMode="auto">
          <a:xfrm>
            <a:off x="228600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0" name="Rectangle 545"/>
          <p:cNvSpPr>
            <a:spLocks noChangeArrowheads="1"/>
          </p:cNvSpPr>
          <p:nvPr/>
        </p:nvSpPr>
        <p:spPr bwMode="auto">
          <a:xfrm>
            <a:off x="254000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1" name="Rectangle 546"/>
          <p:cNvSpPr>
            <a:spLocks noChangeArrowheads="1"/>
          </p:cNvSpPr>
          <p:nvPr/>
        </p:nvSpPr>
        <p:spPr bwMode="auto">
          <a:xfrm>
            <a:off x="177800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2" name="Rectangle 547"/>
          <p:cNvSpPr>
            <a:spLocks noChangeArrowheads="1"/>
          </p:cNvSpPr>
          <p:nvPr/>
        </p:nvSpPr>
        <p:spPr bwMode="auto">
          <a:xfrm>
            <a:off x="203200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3" name="Rectangle 548"/>
          <p:cNvSpPr>
            <a:spLocks noChangeArrowheads="1"/>
          </p:cNvSpPr>
          <p:nvPr/>
        </p:nvSpPr>
        <p:spPr bwMode="auto">
          <a:xfrm>
            <a:off x="228600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4" name="Rectangle 549"/>
          <p:cNvSpPr>
            <a:spLocks noChangeArrowheads="1"/>
          </p:cNvSpPr>
          <p:nvPr/>
        </p:nvSpPr>
        <p:spPr bwMode="auto">
          <a:xfrm>
            <a:off x="254000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5" name="Rectangle 550"/>
          <p:cNvSpPr>
            <a:spLocks noChangeArrowheads="1"/>
          </p:cNvSpPr>
          <p:nvPr/>
        </p:nvSpPr>
        <p:spPr bwMode="auto">
          <a:xfrm>
            <a:off x="177800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6" name="Rectangle 551"/>
          <p:cNvSpPr>
            <a:spLocks noChangeArrowheads="1"/>
          </p:cNvSpPr>
          <p:nvPr/>
        </p:nvSpPr>
        <p:spPr bwMode="auto">
          <a:xfrm>
            <a:off x="203200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7" name="Rectangle 552"/>
          <p:cNvSpPr>
            <a:spLocks noChangeArrowheads="1"/>
          </p:cNvSpPr>
          <p:nvPr/>
        </p:nvSpPr>
        <p:spPr bwMode="auto">
          <a:xfrm>
            <a:off x="228600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8" name="Rectangle 553"/>
          <p:cNvSpPr>
            <a:spLocks noChangeArrowheads="1"/>
          </p:cNvSpPr>
          <p:nvPr/>
        </p:nvSpPr>
        <p:spPr bwMode="auto">
          <a:xfrm>
            <a:off x="254000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49" name="Rectangle 554"/>
          <p:cNvSpPr>
            <a:spLocks noChangeArrowheads="1"/>
          </p:cNvSpPr>
          <p:nvPr/>
        </p:nvSpPr>
        <p:spPr bwMode="auto">
          <a:xfrm>
            <a:off x="76200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0" name="Rectangle 555"/>
          <p:cNvSpPr>
            <a:spLocks noChangeArrowheads="1"/>
          </p:cNvSpPr>
          <p:nvPr/>
        </p:nvSpPr>
        <p:spPr bwMode="auto">
          <a:xfrm>
            <a:off x="101600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1" name="Rectangle 556"/>
          <p:cNvSpPr>
            <a:spLocks noChangeArrowheads="1"/>
          </p:cNvSpPr>
          <p:nvPr/>
        </p:nvSpPr>
        <p:spPr bwMode="auto">
          <a:xfrm>
            <a:off x="127000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2" name="Rectangle 557"/>
          <p:cNvSpPr>
            <a:spLocks noChangeArrowheads="1"/>
          </p:cNvSpPr>
          <p:nvPr/>
        </p:nvSpPr>
        <p:spPr bwMode="auto">
          <a:xfrm>
            <a:off x="152400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3" name="Rectangle 558"/>
          <p:cNvSpPr>
            <a:spLocks noChangeArrowheads="1"/>
          </p:cNvSpPr>
          <p:nvPr/>
        </p:nvSpPr>
        <p:spPr bwMode="auto">
          <a:xfrm>
            <a:off x="762000" y="4529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4" name="Rectangle 559"/>
          <p:cNvSpPr>
            <a:spLocks noChangeArrowheads="1"/>
          </p:cNvSpPr>
          <p:nvPr/>
        </p:nvSpPr>
        <p:spPr bwMode="auto">
          <a:xfrm>
            <a:off x="1016000" y="4529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5" name="Rectangle 560"/>
          <p:cNvSpPr>
            <a:spLocks noChangeArrowheads="1"/>
          </p:cNvSpPr>
          <p:nvPr/>
        </p:nvSpPr>
        <p:spPr bwMode="auto">
          <a:xfrm>
            <a:off x="1270000" y="4529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6" name="Rectangle 561"/>
          <p:cNvSpPr>
            <a:spLocks noChangeArrowheads="1"/>
          </p:cNvSpPr>
          <p:nvPr/>
        </p:nvSpPr>
        <p:spPr bwMode="auto">
          <a:xfrm>
            <a:off x="1524000" y="4529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7" name="Rectangle 562"/>
          <p:cNvSpPr>
            <a:spLocks noChangeArrowheads="1"/>
          </p:cNvSpPr>
          <p:nvPr/>
        </p:nvSpPr>
        <p:spPr bwMode="auto">
          <a:xfrm>
            <a:off x="177800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8" name="Rectangle 563"/>
          <p:cNvSpPr>
            <a:spLocks noChangeArrowheads="1"/>
          </p:cNvSpPr>
          <p:nvPr/>
        </p:nvSpPr>
        <p:spPr bwMode="auto">
          <a:xfrm>
            <a:off x="203200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59" name="Rectangle 564"/>
          <p:cNvSpPr>
            <a:spLocks noChangeArrowheads="1"/>
          </p:cNvSpPr>
          <p:nvPr/>
        </p:nvSpPr>
        <p:spPr bwMode="auto">
          <a:xfrm>
            <a:off x="228600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60" name="Rectangle 565"/>
          <p:cNvSpPr>
            <a:spLocks noChangeArrowheads="1"/>
          </p:cNvSpPr>
          <p:nvPr/>
        </p:nvSpPr>
        <p:spPr bwMode="auto">
          <a:xfrm>
            <a:off x="254000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61" name="Rectangle 566"/>
          <p:cNvSpPr>
            <a:spLocks noChangeArrowheads="1"/>
          </p:cNvSpPr>
          <p:nvPr/>
        </p:nvSpPr>
        <p:spPr bwMode="auto">
          <a:xfrm>
            <a:off x="1778000" y="4529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62" name="Rectangle 567"/>
          <p:cNvSpPr>
            <a:spLocks noChangeArrowheads="1"/>
          </p:cNvSpPr>
          <p:nvPr/>
        </p:nvSpPr>
        <p:spPr bwMode="auto">
          <a:xfrm>
            <a:off x="2032000" y="4529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63" name="Rectangle 568"/>
          <p:cNvSpPr>
            <a:spLocks noChangeArrowheads="1"/>
          </p:cNvSpPr>
          <p:nvPr/>
        </p:nvSpPr>
        <p:spPr bwMode="auto">
          <a:xfrm>
            <a:off x="2286000" y="4529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64" name="Rectangle 569"/>
          <p:cNvSpPr>
            <a:spLocks noChangeArrowheads="1"/>
          </p:cNvSpPr>
          <p:nvPr/>
        </p:nvSpPr>
        <p:spPr bwMode="auto">
          <a:xfrm>
            <a:off x="2540000" y="4529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7365" name="Line 573"/>
          <p:cNvSpPr>
            <a:spLocks noChangeShapeType="1"/>
          </p:cNvSpPr>
          <p:nvPr/>
        </p:nvSpPr>
        <p:spPr bwMode="auto">
          <a:xfrm>
            <a:off x="3630084" y="2931583"/>
            <a:ext cx="1809750" cy="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66" name="Line 574"/>
          <p:cNvSpPr>
            <a:spLocks noChangeShapeType="1"/>
          </p:cNvSpPr>
          <p:nvPr/>
        </p:nvSpPr>
        <p:spPr bwMode="auto">
          <a:xfrm>
            <a:off x="3640667" y="3185583"/>
            <a:ext cx="1809750" cy="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67" name="Line 575"/>
          <p:cNvSpPr>
            <a:spLocks noChangeShapeType="1"/>
          </p:cNvSpPr>
          <p:nvPr/>
        </p:nvSpPr>
        <p:spPr bwMode="auto">
          <a:xfrm>
            <a:off x="3661834" y="3672417"/>
            <a:ext cx="1809750" cy="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68" name="Line 576"/>
          <p:cNvSpPr>
            <a:spLocks noChangeShapeType="1"/>
          </p:cNvSpPr>
          <p:nvPr/>
        </p:nvSpPr>
        <p:spPr bwMode="auto">
          <a:xfrm>
            <a:off x="3651251" y="3915833"/>
            <a:ext cx="1809750" cy="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69" name="Line 577"/>
          <p:cNvSpPr>
            <a:spLocks noChangeShapeType="1"/>
          </p:cNvSpPr>
          <p:nvPr/>
        </p:nvSpPr>
        <p:spPr bwMode="auto">
          <a:xfrm>
            <a:off x="3640667" y="4148667"/>
            <a:ext cx="1809750" cy="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0" name="Line 578"/>
          <p:cNvSpPr>
            <a:spLocks noChangeShapeType="1"/>
          </p:cNvSpPr>
          <p:nvPr/>
        </p:nvSpPr>
        <p:spPr bwMode="auto">
          <a:xfrm>
            <a:off x="3640667" y="4402667"/>
            <a:ext cx="1809750" cy="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1" name="Line 579"/>
          <p:cNvSpPr>
            <a:spLocks noChangeShapeType="1"/>
          </p:cNvSpPr>
          <p:nvPr/>
        </p:nvSpPr>
        <p:spPr bwMode="auto">
          <a:xfrm>
            <a:off x="3651251" y="4635500"/>
            <a:ext cx="1809750" cy="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2" name="Line 580"/>
          <p:cNvSpPr>
            <a:spLocks noChangeShapeType="1"/>
          </p:cNvSpPr>
          <p:nvPr/>
        </p:nvSpPr>
        <p:spPr bwMode="auto">
          <a:xfrm>
            <a:off x="3640667" y="3407833"/>
            <a:ext cx="1809750" cy="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3" name="Line 581"/>
          <p:cNvSpPr>
            <a:spLocks noChangeShapeType="1"/>
          </p:cNvSpPr>
          <p:nvPr/>
        </p:nvSpPr>
        <p:spPr bwMode="auto">
          <a:xfrm>
            <a:off x="6635750" y="2931584"/>
            <a:ext cx="0" cy="174625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4" name="Line 582"/>
          <p:cNvSpPr>
            <a:spLocks noChangeShapeType="1"/>
          </p:cNvSpPr>
          <p:nvPr/>
        </p:nvSpPr>
        <p:spPr bwMode="auto">
          <a:xfrm>
            <a:off x="6900333" y="2942167"/>
            <a:ext cx="0" cy="174625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5" name="Line 583"/>
          <p:cNvSpPr>
            <a:spLocks noChangeShapeType="1"/>
          </p:cNvSpPr>
          <p:nvPr/>
        </p:nvSpPr>
        <p:spPr bwMode="auto">
          <a:xfrm>
            <a:off x="7143750" y="2952751"/>
            <a:ext cx="0" cy="174625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6" name="Line 584"/>
          <p:cNvSpPr>
            <a:spLocks noChangeShapeType="1"/>
          </p:cNvSpPr>
          <p:nvPr/>
        </p:nvSpPr>
        <p:spPr bwMode="auto">
          <a:xfrm>
            <a:off x="7408333" y="2952751"/>
            <a:ext cx="0" cy="174625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7" name="Line 585"/>
          <p:cNvSpPr>
            <a:spLocks noChangeShapeType="1"/>
          </p:cNvSpPr>
          <p:nvPr/>
        </p:nvSpPr>
        <p:spPr bwMode="auto">
          <a:xfrm>
            <a:off x="8149167" y="2952751"/>
            <a:ext cx="0" cy="174625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8" name="Line 586"/>
          <p:cNvSpPr>
            <a:spLocks noChangeShapeType="1"/>
          </p:cNvSpPr>
          <p:nvPr/>
        </p:nvSpPr>
        <p:spPr bwMode="auto">
          <a:xfrm>
            <a:off x="8413750" y="2921001"/>
            <a:ext cx="0" cy="174625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79" name="Line 587"/>
          <p:cNvSpPr>
            <a:spLocks noChangeShapeType="1"/>
          </p:cNvSpPr>
          <p:nvPr/>
        </p:nvSpPr>
        <p:spPr bwMode="auto">
          <a:xfrm>
            <a:off x="7662333" y="2942167"/>
            <a:ext cx="0" cy="174625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80" name="Line 590"/>
          <p:cNvSpPr>
            <a:spLocks noChangeShapeType="1"/>
          </p:cNvSpPr>
          <p:nvPr/>
        </p:nvSpPr>
        <p:spPr bwMode="auto">
          <a:xfrm>
            <a:off x="7926917" y="2952751"/>
            <a:ext cx="0" cy="1746250"/>
          </a:xfrm>
          <a:prstGeom prst="line">
            <a:avLst/>
          </a:prstGeom>
          <a:noFill/>
          <a:ln w="9525">
            <a:solidFill>
              <a:schemeClr val="tx1"/>
            </a:solidFill>
            <a:prstDash val="sysDot"/>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81" name="Line 591"/>
          <p:cNvSpPr>
            <a:spLocks noChangeShapeType="1"/>
          </p:cNvSpPr>
          <p:nvPr/>
        </p:nvSpPr>
        <p:spPr bwMode="auto">
          <a:xfrm>
            <a:off x="2868083" y="3746500"/>
            <a:ext cx="635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82" name="Line 592"/>
          <p:cNvSpPr>
            <a:spLocks noChangeShapeType="1"/>
          </p:cNvSpPr>
          <p:nvPr/>
        </p:nvSpPr>
        <p:spPr bwMode="auto">
          <a:xfrm>
            <a:off x="5704417" y="3704167"/>
            <a:ext cx="635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83" name="Text Box 593"/>
          <p:cNvSpPr txBox="1">
            <a:spLocks noChangeArrowheads="1"/>
          </p:cNvSpPr>
          <p:nvPr/>
        </p:nvSpPr>
        <p:spPr bwMode="auto">
          <a:xfrm>
            <a:off x="2818694" y="3444876"/>
            <a:ext cx="610743" cy="74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1-D </a:t>
            </a:r>
          </a:p>
          <a:p>
            <a:r>
              <a:rPr lang="en-US" altLang="en-US">
                <a:latin typeface="Comic Sans MS" pitchFamily="66" charset="0"/>
              </a:rPr>
              <a:t>Row-</a:t>
            </a:r>
          </a:p>
          <a:p>
            <a:r>
              <a:rPr lang="en-US" altLang="en-US">
                <a:latin typeface="Comic Sans MS" pitchFamily="66" charset="0"/>
              </a:rPr>
              <a:t>wise</a:t>
            </a:r>
          </a:p>
        </p:txBody>
      </p:sp>
      <p:sp>
        <p:nvSpPr>
          <p:cNvPr id="7384" name="Text Box 594"/>
          <p:cNvSpPr txBox="1">
            <a:spLocks noChangeArrowheads="1"/>
          </p:cNvSpPr>
          <p:nvPr/>
        </p:nvSpPr>
        <p:spPr bwMode="auto">
          <a:xfrm>
            <a:off x="5686778" y="3413126"/>
            <a:ext cx="859208" cy="74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1-D </a:t>
            </a:r>
          </a:p>
          <a:p>
            <a:r>
              <a:rPr lang="en-US" altLang="en-US">
                <a:latin typeface="Comic Sans MS" pitchFamily="66" charset="0"/>
              </a:rPr>
              <a:t>Column-</a:t>
            </a:r>
          </a:p>
          <a:p>
            <a:r>
              <a:rPr lang="en-US" altLang="en-US">
                <a:latin typeface="Comic Sans MS" pitchFamily="66" charset="0"/>
              </a:rPr>
              <a:t>wise</a:t>
            </a:r>
          </a:p>
        </p:txBody>
      </p:sp>
      <p:sp>
        <p:nvSpPr>
          <p:cNvPr id="7385" name="Text Box 595"/>
          <p:cNvSpPr txBox="1">
            <a:spLocks noChangeArrowheads="1"/>
          </p:cNvSpPr>
          <p:nvPr/>
        </p:nvSpPr>
        <p:spPr bwMode="auto">
          <a:xfrm>
            <a:off x="2575278" y="4725460"/>
            <a:ext cx="52898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8x8</a:t>
            </a:r>
          </a:p>
        </p:txBody>
      </p:sp>
      <p:sp>
        <p:nvSpPr>
          <p:cNvPr id="7386" name="Text Box 596"/>
          <p:cNvSpPr txBox="1">
            <a:spLocks noChangeArrowheads="1"/>
          </p:cNvSpPr>
          <p:nvPr/>
        </p:nvSpPr>
        <p:spPr bwMode="auto">
          <a:xfrm>
            <a:off x="5348112" y="4725460"/>
            <a:ext cx="52898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8x8</a:t>
            </a:r>
          </a:p>
        </p:txBody>
      </p:sp>
      <p:sp>
        <p:nvSpPr>
          <p:cNvPr id="7387" name="Text Box 597"/>
          <p:cNvSpPr txBox="1">
            <a:spLocks noChangeArrowheads="1"/>
          </p:cNvSpPr>
          <p:nvPr/>
        </p:nvSpPr>
        <p:spPr bwMode="auto">
          <a:xfrm>
            <a:off x="8332612" y="4736043"/>
            <a:ext cx="52898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8x8</a:t>
            </a:r>
          </a:p>
        </p:txBody>
      </p:sp>
      <p:graphicFrame>
        <p:nvGraphicFramePr>
          <p:cNvPr id="7388" name="Object 6"/>
          <p:cNvGraphicFramePr>
            <a:graphicFrameLocks noChangeAspect="1"/>
          </p:cNvGraphicFramePr>
          <p:nvPr/>
        </p:nvGraphicFramePr>
        <p:xfrm>
          <a:off x="1421695" y="2448278"/>
          <a:ext cx="564444" cy="310444"/>
        </p:xfrm>
        <a:graphic>
          <a:graphicData uri="http://schemas.openxmlformats.org/presentationml/2006/ole">
            <mc:AlternateContent xmlns:mc="http://schemas.openxmlformats.org/markup-compatibility/2006">
              <mc:Choice xmlns:v="urn:schemas-microsoft-com:vml" Requires="v">
                <p:oleObj spid="_x0000_s3076" name="Equation" r:id="rId3" imgW="508000" imgH="279400" progId="Equation.3">
                  <p:embed/>
                </p:oleObj>
              </mc:Choice>
              <mc:Fallback>
                <p:oleObj name="Equation" r:id="rId3" imgW="508000" imgH="279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1695" y="2448278"/>
                        <a:ext cx="564444" cy="310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89" name="Object 7"/>
          <p:cNvGraphicFramePr>
            <a:graphicFrameLocks noChangeAspect="1"/>
          </p:cNvGraphicFramePr>
          <p:nvPr/>
        </p:nvGraphicFramePr>
        <p:xfrm>
          <a:off x="7270750" y="5746750"/>
          <a:ext cx="635000" cy="296333"/>
        </p:xfrm>
        <a:graphic>
          <a:graphicData uri="http://schemas.openxmlformats.org/presentationml/2006/ole">
            <mc:AlternateContent xmlns:mc="http://schemas.openxmlformats.org/markup-compatibility/2006">
              <mc:Choice xmlns:v="urn:schemas-microsoft-com:vml" Requires="v">
                <p:oleObj spid="_x0000_s3077" name="Equation" r:id="rId5" imgW="571252" imgH="266584" progId="Equation.3">
                  <p:embed/>
                </p:oleObj>
              </mc:Choice>
              <mc:Fallback>
                <p:oleObj name="Equation" r:id="rId5" imgW="571252" imgH="26658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0750" y="5746750"/>
                        <a:ext cx="635000" cy="296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90" name="Line 8"/>
          <p:cNvSpPr>
            <a:spLocks noChangeShapeType="1"/>
          </p:cNvSpPr>
          <p:nvPr/>
        </p:nvSpPr>
        <p:spPr bwMode="auto">
          <a:xfrm>
            <a:off x="7545917" y="4953000"/>
            <a:ext cx="0" cy="635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7391" name="Rectangle 9"/>
          <p:cNvSpPr>
            <a:spLocks noChangeArrowheads="1"/>
          </p:cNvSpPr>
          <p:nvPr/>
        </p:nvSpPr>
        <p:spPr bwMode="auto">
          <a:xfrm>
            <a:off x="613833" y="6223001"/>
            <a:ext cx="8636000" cy="836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ClrTx/>
              <a:buSzTx/>
              <a:buFontTx/>
              <a:buNone/>
            </a:pPr>
            <a:r>
              <a:rPr lang="en-US" altLang="en-US" sz="2000"/>
              <a:t>F(0,0) includes the lowest frequency in both directions is called DC coefficient Determines fundamental color of the block</a:t>
            </a:r>
          </a:p>
          <a:p>
            <a:pPr>
              <a:spcBef>
                <a:spcPct val="0"/>
              </a:spcBef>
              <a:buClrTx/>
              <a:buSzTx/>
              <a:buFontTx/>
              <a:buNone/>
            </a:pPr>
            <a:r>
              <a:rPr lang="en-US" altLang="en-US" sz="2000"/>
              <a:t>F(0,1) …. F(7,7) are called AC coefficients Their frequency is non-zero in one or both directions</a:t>
            </a:r>
          </a:p>
          <a:p>
            <a:endParaRPr lang="en-US" altLang="en-US" sz="2000"/>
          </a:p>
        </p:txBody>
      </p:sp>
    </p:spTree>
    <p:extLst>
      <p:ext uri="{BB962C8B-B14F-4D97-AF65-F5344CB8AC3E}">
        <p14:creationId xmlns:p14="http://schemas.microsoft.com/office/powerpoint/2010/main" val="7800757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73626249-6D35-4275-A65C-D0B815A8B337}" type="slidenum">
              <a:rPr lang="en-US" altLang="en-US"/>
              <a:pPr/>
              <a:t>71</a:t>
            </a:fld>
            <a:endParaRPr lang="en-US" altLang="en-US"/>
          </a:p>
        </p:txBody>
      </p:sp>
      <p:sp>
        <p:nvSpPr>
          <p:cNvPr id="8195" name="Rectangle 2"/>
          <p:cNvSpPr>
            <a:spLocks noGrp="1" noChangeArrowheads="1"/>
          </p:cNvSpPr>
          <p:nvPr>
            <p:ph type="title"/>
          </p:nvPr>
        </p:nvSpPr>
        <p:spPr>
          <a:xfrm>
            <a:off x="592667" y="254001"/>
            <a:ext cx="8636000" cy="772583"/>
          </a:xfrm>
        </p:spPr>
        <p:txBody>
          <a:bodyPr/>
          <a:lstStyle/>
          <a:p>
            <a:r>
              <a:rPr lang="en-US" altLang="en-US" sz="3600"/>
              <a:t>2-D Transform Example</a:t>
            </a:r>
          </a:p>
        </p:txBody>
      </p:sp>
      <p:sp>
        <p:nvSpPr>
          <p:cNvPr id="8196" name="Rectangle 3"/>
          <p:cNvSpPr>
            <a:spLocks noGrp="1" noChangeArrowheads="1"/>
          </p:cNvSpPr>
          <p:nvPr>
            <p:ph type="body" idx="1"/>
          </p:nvPr>
        </p:nvSpPr>
        <p:spPr>
          <a:xfrm>
            <a:off x="592667" y="1100667"/>
            <a:ext cx="8636000" cy="1270000"/>
          </a:xfrm>
        </p:spPr>
        <p:txBody>
          <a:bodyPr/>
          <a:lstStyle/>
          <a:p>
            <a:r>
              <a:rPr lang="en-US" altLang="en-US" sz="2200"/>
              <a:t>The following example will demonstrate the idea behind a 2-D transform by using our own cooked up transform: The transform computes a running  cumulative sum.</a:t>
            </a:r>
          </a:p>
        </p:txBody>
      </p:sp>
      <p:sp>
        <p:nvSpPr>
          <p:cNvPr id="8197" name="Rectangle 291"/>
          <p:cNvSpPr>
            <a:spLocks noChangeArrowheads="1"/>
          </p:cNvSpPr>
          <p:nvPr/>
        </p:nvSpPr>
        <p:spPr bwMode="auto">
          <a:xfrm>
            <a:off x="751417" y="2603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198" name="Line 355"/>
          <p:cNvSpPr>
            <a:spLocks noChangeShapeType="1"/>
          </p:cNvSpPr>
          <p:nvPr/>
        </p:nvSpPr>
        <p:spPr bwMode="auto">
          <a:xfrm>
            <a:off x="2815167" y="4233333"/>
            <a:ext cx="635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8199" name="Line 356"/>
          <p:cNvSpPr>
            <a:spLocks noChangeShapeType="1"/>
          </p:cNvSpPr>
          <p:nvPr/>
        </p:nvSpPr>
        <p:spPr bwMode="auto">
          <a:xfrm>
            <a:off x="5651500" y="5513917"/>
            <a:ext cx="635000" cy="176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8200" name="Text Box 357"/>
          <p:cNvSpPr txBox="1">
            <a:spLocks noChangeArrowheads="1"/>
          </p:cNvSpPr>
          <p:nvPr/>
        </p:nvSpPr>
        <p:spPr bwMode="auto">
          <a:xfrm>
            <a:off x="2808111" y="4333876"/>
            <a:ext cx="610743" cy="74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1-D </a:t>
            </a:r>
          </a:p>
          <a:p>
            <a:r>
              <a:rPr lang="en-US" altLang="en-US">
                <a:latin typeface="Comic Sans MS" pitchFamily="66" charset="0"/>
              </a:rPr>
              <a:t>Row-</a:t>
            </a:r>
          </a:p>
          <a:p>
            <a:r>
              <a:rPr lang="en-US" altLang="en-US">
                <a:latin typeface="Comic Sans MS" pitchFamily="66" charset="0"/>
              </a:rPr>
              <a:t>wise</a:t>
            </a:r>
          </a:p>
        </p:txBody>
      </p:sp>
      <p:sp>
        <p:nvSpPr>
          <p:cNvPr id="8201" name="Text Box 358"/>
          <p:cNvSpPr txBox="1">
            <a:spLocks noChangeArrowheads="1"/>
          </p:cNvSpPr>
          <p:nvPr/>
        </p:nvSpPr>
        <p:spPr bwMode="auto">
          <a:xfrm>
            <a:off x="5633861" y="5222876"/>
            <a:ext cx="859208" cy="74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1-D </a:t>
            </a:r>
          </a:p>
          <a:p>
            <a:r>
              <a:rPr lang="en-US" altLang="en-US">
                <a:latin typeface="Comic Sans MS" pitchFamily="66" charset="0"/>
              </a:rPr>
              <a:t>Column-</a:t>
            </a:r>
          </a:p>
          <a:p>
            <a:r>
              <a:rPr lang="en-US" altLang="en-US">
                <a:latin typeface="Comic Sans MS" pitchFamily="66" charset="0"/>
              </a:rPr>
              <a:t>wise</a:t>
            </a:r>
          </a:p>
        </p:txBody>
      </p:sp>
      <p:sp>
        <p:nvSpPr>
          <p:cNvPr id="8202" name="Text Box 359"/>
          <p:cNvSpPr txBox="1">
            <a:spLocks noChangeArrowheads="1"/>
          </p:cNvSpPr>
          <p:nvPr/>
        </p:nvSpPr>
        <p:spPr bwMode="auto">
          <a:xfrm>
            <a:off x="1379362" y="4587876"/>
            <a:ext cx="52898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8x8</a:t>
            </a:r>
          </a:p>
        </p:txBody>
      </p:sp>
      <p:sp>
        <p:nvSpPr>
          <p:cNvPr id="8203" name="Text Box 360"/>
          <p:cNvSpPr txBox="1">
            <a:spLocks noChangeArrowheads="1"/>
          </p:cNvSpPr>
          <p:nvPr/>
        </p:nvSpPr>
        <p:spPr bwMode="auto">
          <a:xfrm>
            <a:off x="4279195" y="5709710"/>
            <a:ext cx="52898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8x8</a:t>
            </a:r>
          </a:p>
        </p:txBody>
      </p:sp>
      <p:sp>
        <p:nvSpPr>
          <p:cNvPr id="8204" name="Text Box 361"/>
          <p:cNvSpPr txBox="1">
            <a:spLocks noChangeArrowheads="1"/>
          </p:cNvSpPr>
          <p:nvPr/>
        </p:nvSpPr>
        <p:spPr bwMode="auto">
          <a:xfrm>
            <a:off x="8247945" y="6789210"/>
            <a:ext cx="52898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8x8</a:t>
            </a:r>
          </a:p>
        </p:txBody>
      </p:sp>
      <p:sp>
        <p:nvSpPr>
          <p:cNvPr id="8205" name="Rectangle 373"/>
          <p:cNvSpPr>
            <a:spLocks noChangeArrowheads="1"/>
          </p:cNvSpPr>
          <p:nvPr/>
        </p:nvSpPr>
        <p:spPr bwMode="auto">
          <a:xfrm>
            <a:off x="751417" y="2846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06" name="Rectangle 374"/>
          <p:cNvSpPr>
            <a:spLocks noChangeArrowheads="1"/>
          </p:cNvSpPr>
          <p:nvPr/>
        </p:nvSpPr>
        <p:spPr bwMode="auto">
          <a:xfrm>
            <a:off x="751417" y="3090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07" name="Rectangle 375"/>
          <p:cNvSpPr>
            <a:spLocks noChangeArrowheads="1"/>
          </p:cNvSpPr>
          <p:nvPr/>
        </p:nvSpPr>
        <p:spPr bwMode="auto">
          <a:xfrm>
            <a:off x="751417" y="3333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08" name="Rectangle 380"/>
          <p:cNvSpPr>
            <a:spLocks noChangeArrowheads="1"/>
          </p:cNvSpPr>
          <p:nvPr/>
        </p:nvSpPr>
        <p:spPr bwMode="auto">
          <a:xfrm>
            <a:off x="1005417" y="2603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09" name="Rectangle 381"/>
          <p:cNvSpPr>
            <a:spLocks noChangeArrowheads="1"/>
          </p:cNvSpPr>
          <p:nvPr/>
        </p:nvSpPr>
        <p:spPr bwMode="auto">
          <a:xfrm>
            <a:off x="1005417" y="2846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0" name="Rectangle 382"/>
          <p:cNvSpPr>
            <a:spLocks noChangeArrowheads="1"/>
          </p:cNvSpPr>
          <p:nvPr/>
        </p:nvSpPr>
        <p:spPr bwMode="auto">
          <a:xfrm>
            <a:off x="1005417" y="3090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1" name="Rectangle 383"/>
          <p:cNvSpPr>
            <a:spLocks noChangeArrowheads="1"/>
          </p:cNvSpPr>
          <p:nvPr/>
        </p:nvSpPr>
        <p:spPr bwMode="auto">
          <a:xfrm>
            <a:off x="1005417" y="3333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2" name="Rectangle 388"/>
          <p:cNvSpPr>
            <a:spLocks noChangeArrowheads="1"/>
          </p:cNvSpPr>
          <p:nvPr/>
        </p:nvSpPr>
        <p:spPr bwMode="auto">
          <a:xfrm>
            <a:off x="1259417" y="2603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3" name="Rectangle 389"/>
          <p:cNvSpPr>
            <a:spLocks noChangeArrowheads="1"/>
          </p:cNvSpPr>
          <p:nvPr/>
        </p:nvSpPr>
        <p:spPr bwMode="auto">
          <a:xfrm>
            <a:off x="1259417" y="2846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4" name="Rectangle 390"/>
          <p:cNvSpPr>
            <a:spLocks noChangeArrowheads="1"/>
          </p:cNvSpPr>
          <p:nvPr/>
        </p:nvSpPr>
        <p:spPr bwMode="auto">
          <a:xfrm>
            <a:off x="1259417" y="3090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5" name="Rectangle 391"/>
          <p:cNvSpPr>
            <a:spLocks noChangeArrowheads="1"/>
          </p:cNvSpPr>
          <p:nvPr/>
        </p:nvSpPr>
        <p:spPr bwMode="auto">
          <a:xfrm>
            <a:off x="1259417" y="3333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6" name="Rectangle 396"/>
          <p:cNvSpPr>
            <a:spLocks noChangeArrowheads="1"/>
          </p:cNvSpPr>
          <p:nvPr/>
        </p:nvSpPr>
        <p:spPr bwMode="auto">
          <a:xfrm>
            <a:off x="1513417" y="2603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7" name="Rectangle 397"/>
          <p:cNvSpPr>
            <a:spLocks noChangeArrowheads="1"/>
          </p:cNvSpPr>
          <p:nvPr/>
        </p:nvSpPr>
        <p:spPr bwMode="auto">
          <a:xfrm>
            <a:off x="1513417" y="2846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8" name="Rectangle 398"/>
          <p:cNvSpPr>
            <a:spLocks noChangeArrowheads="1"/>
          </p:cNvSpPr>
          <p:nvPr/>
        </p:nvSpPr>
        <p:spPr bwMode="auto">
          <a:xfrm>
            <a:off x="1513417" y="3090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19" name="Rectangle 399"/>
          <p:cNvSpPr>
            <a:spLocks noChangeArrowheads="1"/>
          </p:cNvSpPr>
          <p:nvPr/>
        </p:nvSpPr>
        <p:spPr bwMode="auto">
          <a:xfrm>
            <a:off x="1513417" y="3333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0" name="Rectangle 404"/>
          <p:cNvSpPr>
            <a:spLocks noChangeArrowheads="1"/>
          </p:cNvSpPr>
          <p:nvPr/>
        </p:nvSpPr>
        <p:spPr bwMode="auto">
          <a:xfrm>
            <a:off x="1767417" y="2603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1" name="Rectangle 405"/>
          <p:cNvSpPr>
            <a:spLocks noChangeArrowheads="1"/>
          </p:cNvSpPr>
          <p:nvPr/>
        </p:nvSpPr>
        <p:spPr bwMode="auto">
          <a:xfrm>
            <a:off x="1767417" y="2846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2" name="Rectangle 406"/>
          <p:cNvSpPr>
            <a:spLocks noChangeArrowheads="1"/>
          </p:cNvSpPr>
          <p:nvPr/>
        </p:nvSpPr>
        <p:spPr bwMode="auto">
          <a:xfrm>
            <a:off x="1767417" y="3090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3" name="Rectangle 407"/>
          <p:cNvSpPr>
            <a:spLocks noChangeArrowheads="1"/>
          </p:cNvSpPr>
          <p:nvPr/>
        </p:nvSpPr>
        <p:spPr bwMode="auto">
          <a:xfrm>
            <a:off x="1767417" y="3333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4" name="Rectangle 412"/>
          <p:cNvSpPr>
            <a:spLocks noChangeArrowheads="1"/>
          </p:cNvSpPr>
          <p:nvPr/>
        </p:nvSpPr>
        <p:spPr bwMode="auto">
          <a:xfrm>
            <a:off x="2021417" y="2603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5" name="Rectangle 413"/>
          <p:cNvSpPr>
            <a:spLocks noChangeArrowheads="1"/>
          </p:cNvSpPr>
          <p:nvPr/>
        </p:nvSpPr>
        <p:spPr bwMode="auto">
          <a:xfrm>
            <a:off x="2021417" y="2846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6" name="Rectangle 414"/>
          <p:cNvSpPr>
            <a:spLocks noChangeArrowheads="1"/>
          </p:cNvSpPr>
          <p:nvPr/>
        </p:nvSpPr>
        <p:spPr bwMode="auto">
          <a:xfrm>
            <a:off x="2021417" y="3090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7" name="Rectangle 415"/>
          <p:cNvSpPr>
            <a:spLocks noChangeArrowheads="1"/>
          </p:cNvSpPr>
          <p:nvPr/>
        </p:nvSpPr>
        <p:spPr bwMode="auto">
          <a:xfrm>
            <a:off x="2021417" y="3333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8" name="Rectangle 420"/>
          <p:cNvSpPr>
            <a:spLocks noChangeArrowheads="1"/>
          </p:cNvSpPr>
          <p:nvPr/>
        </p:nvSpPr>
        <p:spPr bwMode="auto">
          <a:xfrm>
            <a:off x="2275417" y="2603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29" name="Rectangle 421"/>
          <p:cNvSpPr>
            <a:spLocks noChangeArrowheads="1"/>
          </p:cNvSpPr>
          <p:nvPr/>
        </p:nvSpPr>
        <p:spPr bwMode="auto">
          <a:xfrm>
            <a:off x="2275417" y="2846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0" name="Rectangle 422"/>
          <p:cNvSpPr>
            <a:spLocks noChangeArrowheads="1"/>
          </p:cNvSpPr>
          <p:nvPr/>
        </p:nvSpPr>
        <p:spPr bwMode="auto">
          <a:xfrm>
            <a:off x="2275417" y="3090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1" name="Rectangle 423"/>
          <p:cNvSpPr>
            <a:spLocks noChangeArrowheads="1"/>
          </p:cNvSpPr>
          <p:nvPr/>
        </p:nvSpPr>
        <p:spPr bwMode="auto">
          <a:xfrm>
            <a:off x="2275417" y="3333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2" name="Rectangle 428"/>
          <p:cNvSpPr>
            <a:spLocks noChangeArrowheads="1"/>
          </p:cNvSpPr>
          <p:nvPr/>
        </p:nvSpPr>
        <p:spPr bwMode="auto">
          <a:xfrm>
            <a:off x="2529417" y="2603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3" name="Rectangle 429"/>
          <p:cNvSpPr>
            <a:spLocks noChangeArrowheads="1"/>
          </p:cNvSpPr>
          <p:nvPr/>
        </p:nvSpPr>
        <p:spPr bwMode="auto">
          <a:xfrm>
            <a:off x="2529417" y="2846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4" name="Rectangle 430"/>
          <p:cNvSpPr>
            <a:spLocks noChangeArrowheads="1"/>
          </p:cNvSpPr>
          <p:nvPr/>
        </p:nvSpPr>
        <p:spPr bwMode="auto">
          <a:xfrm>
            <a:off x="2529417" y="3090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5" name="Rectangle 431"/>
          <p:cNvSpPr>
            <a:spLocks noChangeArrowheads="1"/>
          </p:cNvSpPr>
          <p:nvPr/>
        </p:nvSpPr>
        <p:spPr bwMode="auto">
          <a:xfrm>
            <a:off x="2529417" y="3333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6" name="Rectangle 436"/>
          <p:cNvSpPr>
            <a:spLocks noChangeArrowheads="1"/>
          </p:cNvSpPr>
          <p:nvPr/>
        </p:nvSpPr>
        <p:spPr bwMode="auto">
          <a:xfrm>
            <a:off x="751417" y="3577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7" name="Rectangle 437"/>
          <p:cNvSpPr>
            <a:spLocks noChangeArrowheads="1"/>
          </p:cNvSpPr>
          <p:nvPr/>
        </p:nvSpPr>
        <p:spPr bwMode="auto">
          <a:xfrm>
            <a:off x="751417" y="3820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8" name="Rectangle 438"/>
          <p:cNvSpPr>
            <a:spLocks noChangeArrowheads="1"/>
          </p:cNvSpPr>
          <p:nvPr/>
        </p:nvSpPr>
        <p:spPr bwMode="auto">
          <a:xfrm>
            <a:off x="751417" y="4064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39" name="Rectangle 439"/>
          <p:cNvSpPr>
            <a:spLocks noChangeArrowheads="1"/>
          </p:cNvSpPr>
          <p:nvPr/>
        </p:nvSpPr>
        <p:spPr bwMode="auto">
          <a:xfrm>
            <a:off x="751417" y="4307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0" name="Rectangle 440"/>
          <p:cNvSpPr>
            <a:spLocks noChangeArrowheads="1"/>
          </p:cNvSpPr>
          <p:nvPr/>
        </p:nvSpPr>
        <p:spPr bwMode="auto">
          <a:xfrm>
            <a:off x="1005417" y="3577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1" name="Rectangle 441"/>
          <p:cNvSpPr>
            <a:spLocks noChangeArrowheads="1"/>
          </p:cNvSpPr>
          <p:nvPr/>
        </p:nvSpPr>
        <p:spPr bwMode="auto">
          <a:xfrm>
            <a:off x="1005417" y="3820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2" name="Rectangle 442"/>
          <p:cNvSpPr>
            <a:spLocks noChangeArrowheads="1"/>
          </p:cNvSpPr>
          <p:nvPr/>
        </p:nvSpPr>
        <p:spPr bwMode="auto">
          <a:xfrm>
            <a:off x="1005417" y="4064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3" name="Rectangle 443"/>
          <p:cNvSpPr>
            <a:spLocks noChangeArrowheads="1"/>
          </p:cNvSpPr>
          <p:nvPr/>
        </p:nvSpPr>
        <p:spPr bwMode="auto">
          <a:xfrm>
            <a:off x="1005417" y="4307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4" name="Rectangle 444"/>
          <p:cNvSpPr>
            <a:spLocks noChangeArrowheads="1"/>
          </p:cNvSpPr>
          <p:nvPr/>
        </p:nvSpPr>
        <p:spPr bwMode="auto">
          <a:xfrm>
            <a:off x="1259417" y="3577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5" name="Rectangle 445"/>
          <p:cNvSpPr>
            <a:spLocks noChangeArrowheads="1"/>
          </p:cNvSpPr>
          <p:nvPr/>
        </p:nvSpPr>
        <p:spPr bwMode="auto">
          <a:xfrm>
            <a:off x="1259417" y="3820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6" name="Rectangle 446"/>
          <p:cNvSpPr>
            <a:spLocks noChangeArrowheads="1"/>
          </p:cNvSpPr>
          <p:nvPr/>
        </p:nvSpPr>
        <p:spPr bwMode="auto">
          <a:xfrm>
            <a:off x="1259417" y="4064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7" name="Rectangle 447"/>
          <p:cNvSpPr>
            <a:spLocks noChangeArrowheads="1"/>
          </p:cNvSpPr>
          <p:nvPr/>
        </p:nvSpPr>
        <p:spPr bwMode="auto">
          <a:xfrm>
            <a:off x="1259417" y="4307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8" name="Rectangle 448"/>
          <p:cNvSpPr>
            <a:spLocks noChangeArrowheads="1"/>
          </p:cNvSpPr>
          <p:nvPr/>
        </p:nvSpPr>
        <p:spPr bwMode="auto">
          <a:xfrm>
            <a:off x="1513417" y="3577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49" name="Rectangle 449"/>
          <p:cNvSpPr>
            <a:spLocks noChangeArrowheads="1"/>
          </p:cNvSpPr>
          <p:nvPr/>
        </p:nvSpPr>
        <p:spPr bwMode="auto">
          <a:xfrm>
            <a:off x="1513417" y="3820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0" name="Rectangle 450"/>
          <p:cNvSpPr>
            <a:spLocks noChangeArrowheads="1"/>
          </p:cNvSpPr>
          <p:nvPr/>
        </p:nvSpPr>
        <p:spPr bwMode="auto">
          <a:xfrm>
            <a:off x="1513417" y="4064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1" name="Rectangle 451"/>
          <p:cNvSpPr>
            <a:spLocks noChangeArrowheads="1"/>
          </p:cNvSpPr>
          <p:nvPr/>
        </p:nvSpPr>
        <p:spPr bwMode="auto">
          <a:xfrm>
            <a:off x="1513417" y="4307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2" name="Rectangle 452"/>
          <p:cNvSpPr>
            <a:spLocks noChangeArrowheads="1"/>
          </p:cNvSpPr>
          <p:nvPr/>
        </p:nvSpPr>
        <p:spPr bwMode="auto">
          <a:xfrm>
            <a:off x="1767417" y="3577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3" name="Rectangle 453"/>
          <p:cNvSpPr>
            <a:spLocks noChangeArrowheads="1"/>
          </p:cNvSpPr>
          <p:nvPr/>
        </p:nvSpPr>
        <p:spPr bwMode="auto">
          <a:xfrm>
            <a:off x="1767417" y="3820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4" name="Rectangle 454"/>
          <p:cNvSpPr>
            <a:spLocks noChangeArrowheads="1"/>
          </p:cNvSpPr>
          <p:nvPr/>
        </p:nvSpPr>
        <p:spPr bwMode="auto">
          <a:xfrm>
            <a:off x="1767417" y="4064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5" name="Rectangle 455"/>
          <p:cNvSpPr>
            <a:spLocks noChangeArrowheads="1"/>
          </p:cNvSpPr>
          <p:nvPr/>
        </p:nvSpPr>
        <p:spPr bwMode="auto">
          <a:xfrm>
            <a:off x="1767417" y="4307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6" name="Rectangle 456"/>
          <p:cNvSpPr>
            <a:spLocks noChangeArrowheads="1"/>
          </p:cNvSpPr>
          <p:nvPr/>
        </p:nvSpPr>
        <p:spPr bwMode="auto">
          <a:xfrm>
            <a:off x="2021417" y="3577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7" name="Rectangle 457"/>
          <p:cNvSpPr>
            <a:spLocks noChangeArrowheads="1"/>
          </p:cNvSpPr>
          <p:nvPr/>
        </p:nvSpPr>
        <p:spPr bwMode="auto">
          <a:xfrm>
            <a:off x="2021417" y="3820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8" name="Rectangle 458"/>
          <p:cNvSpPr>
            <a:spLocks noChangeArrowheads="1"/>
          </p:cNvSpPr>
          <p:nvPr/>
        </p:nvSpPr>
        <p:spPr bwMode="auto">
          <a:xfrm>
            <a:off x="2021417" y="4064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59" name="Rectangle 459"/>
          <p:cNvSpPr>
            <a:spLocks noChangeArrowheads="1"/>
          </p:cNvSpPr>
          <p:nvPr/>
        </p:nvSpPr>
        <p:spPr bwMode="auto">
          <a:xfrm>
            <a:off x="2021417" y="4307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0" name="Rectangle 460"/>
          <p:cNvSpPr>
            <a:spLocks noChangeArrowheads="1"/>
          </p:cNvSpPr>
          <p:nvPr/>
        </p:nvSpPr>
        <p:spPr bwMode="auto">
          <a:xfrm>
            <a:off x="2275417" y="3577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1" name="Rectangle 461"/>
          <p:cNvSpPr>
            <a:spLocks noChangeArrowheads="1"/>
          </p:cNvSpPr>
          <p:nvPr/>
        </p:nvSpPr>
        <p:spPr bwMode="auto">
          <a:xfrm>
            <a:off x="2275417" y="3820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2" name="Rectangle 462"/>
          <p:cNvSpPr>
            <a:spLocks noChangeArrowheads="1"/>
          </p:cNvSpPr>
          <p:nvPr/>
        </p:nvSpPr>
        <p:spPr bwMode="auto">
          <a:xfrm>
            <a:off x="2275417" y="4064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3" name="Rectangle 463"/>
          <p:cNvSpPr>
            <a:spLocks noChangeArrowheads="1"/>
          </p:cNvSpPr>
          <p:nvPr/>
        </p:nvSpPr>
        <p:spPr bwMode="auto">
          <a:xfrm>
            <a:off x="2275417" y="4307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4" name="Rectangle 464"/>
          <p:cNvSpPr>
            <a:spLocks noChangeArrowheads="1"/>
          </p:cNvSpPr>
          <p:nvPr/>
        </p:nvSpPr>
        <p:spPr bwMode="auto">
          <a:xfrm>
            <a:off x="2529417" y="3577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5" name="Rectangle 465"/>
          <p:cNvSpPr>
            <a:spLocks noChangeArrowheads="1"/>
          </p:cNvSpPr>
          <p:nvPr/>
        </p:nvSpPr>
        <p:spPr bwMode="auto">
          <a:xfrm>
            <a:off x="2529417" y="3820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6" name="Rectangle 466"/>
          <p:cNvSpPr>
            <a:spLocks noChangeArrowheads="1"/>
          </p:cNvSpPr>
          <p:nvPr/>
        </p:nvSpPr>
        <p:spPr bwMode="auto">
          <a:xfrm>
            <a:off x="2529417" y="4064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7" name="Rectangle 467"/>
          <p:cNvSpPr>
            <a:spLocks noChangeArrowheads="1"/>
          </p:cNvSpPr>
          <p:nvPr/>
        </p:nvSpPr>
        <p:spPr bwMode="auto">
          <a:xfrm>
            <a:off x="2529417" y="4307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68" name="Rectangle 468"/>
          <p:cNvSpPr>
            <a:spLocks noChangeArrowheads="1"/>
          </p:cNvSpPr>
          <p:nvPr/>
        </p:nvSpPr>
        <p:spPr bwMode="auto">
          <a:xfrm>
            <a:off x="3481917" y="3725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269" name="Rectangle 469"/>
          <p:cNvSpPr>
            <a:spLocks noChangeArrowheads="1"/>
          </p:cNvSpPr>
          <p:nvPr/>
        </p:nvSpPr>
        <p:spPr bwMode="auto">
          <a:xfrm>
            <a:off x="3735917" y="3725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270" name="Rectangle 470"/>
          <p:cNvSpPr>
            <a:spLocks noChangeArrowheads="1"/>
          </p:cNvSpPr>
          <p:nvPr/>
        </p:nvSpPr>
        <p:spPr bwMode="auto">
          <a:xfrm>
            <a:off x="3989917" y="3725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271" name="Rectangle 471"/>
          <p:cNvSpPr>
            <a:spLocks noChangeArrowheads="1"/>
          </p:cNvSpPr>
          <p:nvPr/>
        </p:nvSpPr>
        <p:spPr bwMode="auto">
          <a:xfrm>
            <a:off x="4243917" y="3725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272" name="Rectangle 472"/>
          <p:cNvSpPr>
            <a:spLocks noChangeArrowheads="1"/>
          </p:cNvSpPr>
          <p:nvPr/>
        </p:nvSpPr>
        <p:spPr bwMode="auto">
          <a:xfrm>
            <a:off x="4497917" y="3725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273" name="Rectangle 473"/>
          <p:cNvSpPr>
            <a:spLocks noChangeArrowheads="1"/>
          </p:cNvSpPr>
          <p:nvPr/>
        </p:nvSpPr>
        <p:spPr bwMode="auto">
          <a:xfrm>
            <a:off x="4751917" y="3725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274" name="Rectangle 474"/>
          <p:cNvSpPr>
            <a:spLocks noChangeArrowheads="1"/>
          </p:cNvSpPr>
          <p:nvPr/>
        </p:nvSpPr>
        <p:spPr bwMode="auto">
          <a:xfrm>
            <a:off x="5005917" y="3725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275" name="Rectangle 475"/>
          <p:cNvSpPr>
            <a:spLocks noChangeArrowheads="1"/>
          </p:cNvSpPr>
          <p:nvPr/>
        </p:nvSpPr>
        <p:spPr bwMode="auto">
          <a:xfrm>
            <a:off x="5259917" y="3725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76" name="Rectangle 476"/>
          <p:cNvSpPr>
            <a:spLocks noChangeArrowheads="1"/>
          </p:cNvSpPr>
          <p:nvPr/>
        </p:nvSpPr>
        <p:spPr bwMode="auto">
          <a:xfrm>
            <a:off x="34819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277" name="Rectangle 477"/>
          <p:cNvSpPr>
            <a:spLocks noChangeArrowheads="1"/>
          </p:cNvSpPr>
          <p:nvPr/>
        </p:nvSpPr>
        <p:spPr bwMode="auto">
          <a:xfrm>
            <a:off x="37359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278" name="Rectangle 478"/>
          <p:cNvSpPr>
            <a:spLocks noChangeArrowheads="1"/>
          </p:cNvSpPr>
          <p:nvPr/>
        </p:nvSpPr>
        <p:spPr bwMode="auto">
          <a:xfrm>
            <a:off x="39899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279" name="Rectangle 479"/>
          <p:cNvSpPr>
            <a:spLocks noChangeArrowheads="1"/>
          </p:cNvSpPr>
          <p:nvPr/>
        </p:nvSpPr>
        <p:spPr bwMode="auto">
          <a:xfrm>
            <a:off x="42439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280" name="Rectangle 480"/>
          <p:cNvSpPr>
            <a:spLocks noChangeArrowheads="1"/>
          </p:cNvSpPr>
          <p:nvPr/>
        </p:nvSpPr>
        <p:spPr bwMode="auto">
          <a:xfrm>
            <a:off x="44979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281" name="Rectangle 481"/>
          <p:cNvSpPr>
            <a:spLocks noChangeArrowheads="1"/>
          </p:cNvSpPr>
          <p:nvPr/>
        </p:nvSpPr>
        <p:spPr bwMode="auto">
          <a:xfrm>
            <a:off x="47519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282" name="Rectangle 482"/>
          <p:cNvSpPr>
            <a:spLocks noChangeArrowheads="1"/>
          </p:cNvSpPr>
          <p:nvPr/>
        </p:nvSpPr>
        <p:spPr bwMode="auto">
          <a:xfrm>
            <a:off x="50059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283" name="Rectangle 483"/>
          <p:cNvSpPr>
            <a:spLocks noChangeArrowheads="1"/>
          </p:cNvSpPr>
          <p:nvPr/>
        </p:nvSpPr>
        <p:spPr bwMode="auto">
          <a:xfrm>
            <a:off x="52599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84" name="Rectangle 484"/>
          <p:cNvSpPr>
            <a:spLocks noChangeArrowheads="1"/>
          </p:cNvSpPr>
          <p:nvPr/>
        </p:nvSpPr>
        <p:spPr bwMode="auto">
          <a:xfrm>
            <a:off x="3481917" y="4212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285" name="Rectangle 485"/>
          <p:cNvSpPr>
            <a:spLocks noChangeArrowheads="1"/>
          </p:cNvSpPr>
          <p:nvPr/>
        </p:nvSpPr>
        <p:spPr bwMode="auto">
          <a:xfrm>
            <a:off x="3735917" y="4212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286" name="Rectangle 486"/>
          <p:cNvSpPr>
            <a:spLocks noChangeArrowheads="1"/>
          </p:cNvSpPr>
          <p:nvPr/>
        </p:nvSpPr>
        <p:spPr bwMode="auto">
          <a:xfrm>
            <a:off x="3989917" y="4212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287" name="Rectangle 487"/>
          <p:cNvSpPr>
            <a:spLocks noChangeArrowheads="1"/>
          </p:cNvSpPr>
          <p:nvPr/>
        </p:nvSpPr>
        <p:spPr bwMode="auto">
          <a:xfrm>
            <a:off x="4243917" y="4212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288" name="Rectangle 488"/>
          <p:cNvSpPr>
            <a:spLocks noChangeArrowheads="1"/>
          </p:cNvSpPr>
          <p:nvPr/>
        </p:nvSpPr>
        <p:spPr bwMode="auto">
          <a:xfrm>
            <a:off x="4497917" y="4212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289" name="Rectangle 489"/>
          <p:cNvSpPr>
            <a:spLocks noChangeArrowheads="1"/>
          </p:cNvSpPr>
          <p:nvPr/>
        </p:nvSpPr>
        <p:spPr bwMode="auto">
          <a:xfrm>
            <a:off x="4751917" y="4212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290" name="Rectangle 490"/>
          <p:cNvSpPr>
            <a:spLocks noChangeArrowheads="1"/>
          </p:cNvSpPr>
          <p:nvPr/>
        </p:nvSpPr>
        <p:spPr bwMode="auto">
          <a:xfrm>
            <a:off x="5005917" y="4212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291" name="Rectangle 491"/>
          <p:cNvSpPr>
            <a:spLocks noChangeArrowheads="1"/>
          </p:cNvSpPr>
          <p:nvPr/>
        </p:nvSpPr>
        <p:spPr bwMode="auto">
          <a:xfrm>
            <a:off x="5259917" y="4212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292" name="Rectangle 492"/>
          <p:cNvSpPr>
            <a:spLocks noChangeArrowheads="1"/>
          </p:cNvSpPr>
          <p:nvPr/>
        </p:nvSpPr>
        <p:spPr bwMode="auto">
          <a:xfrm>
            <a:off x="3481917" y="4455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293" name="Rectangle 493"/>
          <p:cNvSpPr>
            <a:spLocks noChangeArrowheads="1"/>
          </p:cNvSpPr>
          <p:nvPr/>
        </p:nvSpPr>
        <p:spPr bwMode="auto">
          <a:xfrm>
            <a:off x="3735917" y="4455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294" name="Rectangle 494"/>
          <p:cNvSpPr>
            <a:spLocks noChangeArrowheads="1"/>
          </p:cNvSpPr>
          <p:nvPr/>
        </p:nvSpPr>
        <p:spPr bwMode="auto">
          <a:xfrm>
            <a:off x="3989917" y="4455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295" name="Rectangle 495"/>
          <p:cNvSpPr>
            <a:spLocks noChangeArrowheads="1"/>
          </p:cNvSpPr>
          <p:nvPr/>
        </p:nvSpPr>
        <p:spPr bwMode="auto">
          <a:xfrm>
            <a:off x="4243917" y="4455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296" name="Rectangle 496"/>
          <p:cNvSpPr>
            <a:spLocks noChangeArrowheads="1"/>
          </p:cNvSpPr>
          <p:nvPr/>
        </p:nvSpPr>
        <p:spPr bwMode="auto">
          <a:xfrm>
            <a:off x="4497917" y="4455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297" name="Rectangle 497"/>
          <p:cNvSpPr>
            <a:spLocks noChangeArrowheads="1"/>
          </p:cNvSpPr>
          <p:nvPr/>
        </p:nvSpPr>
        <p:spPr bwMode="auto">
          <a:xfrm>
            <a:off x="4751917" y="4455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298" name="Rectangle 498"/>
          <p:cNvSpPr>
            <a:spLocks noChangeArrowheads="1"/>
          </p:cNvSpPr>
          <p:nvPr/>
        </p:nvSpPr>
        <p:spPr bwMode="auto">
          <a:xfrm>
            <a:off x="5005917" y="4455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299" name="Rectangle 499"/>
          <p:cNvSpPr>
            <a:spLocks noChangeArrowheads="1"/>
          </p:cNvSpPr>
          <p:nvPr/>
        </p:nvSpPr>
        <p:spPr bwMode="auto">
          <a:xfrm>
            <a:off x="5259917" y="4455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300" name="Rectangle 500"/>
          <p:cNvSpPr>
            <a:spLocks noChangeArrowheads="1"/>
          </p:cNvSpPr>
          <p:nvPr/>
        </p:nvSpPr>
        <p:spPr bwMode="auto">
          <a:xfrm>
            <a:off x="3481917" y="4699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301" name="Rectangle 501"/>
          <p:cNvSpPr>
            <a:spLocks noChangeArrowheads="1"/>
          </p:cNvSpPr>
          <p:nvPr/>
        </p:nvSpPr>
        <p:spPr bwMode="auto">
          <a:xfrm>
            <a:off x="3735917" y="4699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302" name="Rectangle 502"/>
          <p:cNvSpPr>
            <a:spLocks noChangeArrowheads="1"/>
          </p:cNvSpPr>
          <p:nvPr/>
        </p:nvSpPr>
        <p:spPr bwMode="auto">
          <a:xfrm>
            <a:off x="3989917" y="4699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303" name="Rectangle 503"/>
          <p:cNvSpPr>
            <a:spLocks noChangeArrowheads="1"/>
          </p:cNvSpPr>
          <p:nvPr/>
        </p:nvSpPr>
        <p:spPr bwMode="auto">
          <a:xfrm>
            <a:off x="4243917" y="4699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304" name="Rectangle 504"/>
          <p:cNvSpPr>
            <a:spLocks noChangeArrowheads="1"/>
          </p:cNvSpPr>
          <p:nvPr/>
        </p:nvSpPr>
        <p:spPr bwMode="auto">
          <a:xfrm>
            <a:off x="4497917" y="4699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305" name="Rectangle 505"/>
          <p:cNvSpPr>
            <a:spLocks noChangeArrowheads="1"/>
          </p:cNvSpPr>
          <p:nvPr/>
        </p:nvSpPr>
        <p:spPr bwMode="auto">
          <a:xfrm>
            <a:off x="4751917" y="4699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306" name="Rectangle 506"/>
          <p:cNvSpPr>
            <a:spLocks noChangeArrowheads="1"/>
          </p:cNvSpPr>
          <p:nvPr/>
        </p:nvSpPr>
        <p:spPr bwMode="auto">
          <a:xfrm>
            <a:off x="5005917" y="4699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307" name="Rectangle 507"/>
          <p:cNvSpPr>
            <a:spLocks noChangeArrowheads="1"/>
          </p:cNvSpPr>
          <p:nvPr/>
        </p:nvSpPr>
        <p:spPr bwMode="auto">
          <a:xfrm>
            <a:off x="5259917" y="4699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308" name="Rectangle 508"/>
          <p:cNvSpPr>
            <a:spLocks noChangeArrowheads="1"/>
          </p:cNvSpPr>
          <p:nvPr/>
        </p:nvSpPr>
        <p:spPr bwMode="auto">
          <a:xfrm>
            <a:off x="3481917" y="4942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309" name="Rectangle 509"/>
          <p:cNvSpPr>
            <a:spLocks noChangeArrowheads="1"/>
          </p:cNvSpPr>
          <p:nvPr/>
        </p:nvSpPr>
        <p:spPr bwMode="auto">
          <a:xfrm>
            <a:off x="3735917" y="4942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310" name="Rectangle 510"/>
          <p:cNvSpPr>
            <a:spLocks noChangeArrowheads="1"/>
          </p:cNvSpPr>
          <p:nvPr/>
        </p:nvSpPr>
        <p:spPr bwMode="auto">
          <a:xfrm>
            <a:off x="3989917" y="4942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311" name="Rectangle 511"/>
          <p:cNvSpPr>
            <a:spLocks noChangeArrowheads="1"/>
          </p:cNvSpPr>
          <p:nvPr/>
        </p:nvSpPr>
        <p:spPr bwMode="auto">
          <a:xfrm>
            <a:off x="4243917" y="4942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312" name="Rectangle 512"/>
          <p:cNvSpPr>
            <a:spLocks noChangeArrowheads="1"/>
          </p:cNvSpPr>
          <p:nvPr/>
        </p:nvSpPr>
        <p:spPr bwMode="auto">
          <a:xfrm>
            <a:off x="4497917" y="4942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313" name="Rectangle 513"/>
          <p:cNvSpPr>
            <a:spLocks noChangeArrowheads="1"/>
          </p:cNvSpPr>
          <p:nvPr/>
        </p:nvSpPr>
        <p:spPr bwMode="auto">
          <a:xfrm>
            <a:off x="4751917" y="4942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314" name="Rectangle 514"/>
          <p:cNvSpPr>
            <a:spLocks noChangeArrowheads="1"/>
          </p:cNvSpPr>
          <p:nvPr/>
        </p:nvSpPr>
        <p:spPr bwMode="auto">
          <a:xfrm>
            <a:off x="5005917" y="4942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315" name="Rectangle 515"/>
          <p:cNvSpPr>
            <a:spLocks noChangeArrowheads="1"/>
          </p:cNvSpPr>
          <p:nvPr/>
        </p:nvSpPr>
        <p:spPr bwMode="auto">
          <a:xfrm>
            <a:off x="5259917" y="4942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316" name="Rectangle 516"/>
          <p:cNvSpPr>
            <a:spLocks noChangeArrowheads="1"/>
          </p:cNvSpPr>
          <p:nvPr/>
        </p:nvSpPr>
        <p:spPr bwMode="auto">
          <a:xfrm>
            <a:off x="3481917" y="5185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317" name="Rectangle 517"/>
          <p:cNvSpPr>
            <a:spLocks noChangeArrowheads="1"/>
          </p:cNvSpPr>
          <p:nvPr/>
        </p:nvSpPr>
        <p:spPr bwMode="auto">
          <a:xfrm>
            <a:off x="3735917" y="5185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318" name="Rectangle 518"/>
          <p:cNvSpPr>
            <a:spLocks noChangeArrowheads="1"/>
          </p:cNvSpPr>
          <p:nvPr/>
        </p:nvSpPr>
        <p:spPr bwMode="auto">
          <a:xfrm>
            <a:off x="3989917" y="5185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319" name="Rectangle 519"/>
          <p:cNvSpPr>
            <a:spLocks noChangeArrowheads="1"/>
          </p:cNvSpPr>
          <p:nvPr/>
        </p:nvSpPr>
        <p:spPr bwMode="auto">
          <a:xfrm>
            <a:off x="4243917" y="5185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320" name="Rectangle 520"/>
          <p:cNvSpPr>
            <a:spLocks noChangeArrowheads="1"/>
          </p:cNvSpPr>
          <p:nvPr/>
        </p:nvSpPr>
        <p:spPr bwMode="auto">
          <a:xfrm>
            <a:off x="4497917" y="5185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321" name="Rectangle 521"/>
          <p:cNvSpPr>
            <a:spLocks noChangeArrowheads="1"/>
          </p:cNvSpPr>
          <p:nvPr/>
        </p:nvSpPr>
        <p:spPr bwMode="auto">
          <a:xfrm>
            <a:off x="4751917" y="5185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322" name="Rectangle 522"/>
          <p:cNvSpPr>
            <a:spLocks noChangeArrowheads="1"/>
          </p:cNvSpPr>
          <p:nvPr/>
        </p:nvSpPr>
        <p:spPr bwMode="auto">
          <a:xfrm>
            <a:off x="5005917" y="5185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323" name="Rectangle 523"/>
          <p:cNvSpPr>
            <a:spLocks noChangeArrowheads="1"/>
          </p:cNvSpPr>
          <p:nvPr/>
        </p:nvSpPr>
        <p:spPr bwMode="auto">
          <a:xfrm>
            <a:off x="5259917" y="5185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324" name="Rectangle 524"/>
          <p:cNvSpPr>
            <a:spLocks noChangeArrowheads="1"/>
          </p:cNvSpPr>
          <p:nvPr/>
        </p:nvSpPr>
        <p:spPr bwMode="auto">
          <a:xfrm>
            <a:off x="3481917" y="5429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325" name="Rectangle 525"/>
          <p:cNvSpPr>
            <a:spLocks noChangeArrowheads="1"/>
          </p:cNvSpPr>
          <p:nvPr/>
        </p:nvSpPr>
        <p:spPr bwMode="auto">
          <a:xfrm>
            <a:off x="3735917" y="5429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326" name="Rectangle 526"/>
          <p:cNvSpPr>
            <a:spLocks noChangeArrowheads="1"/>
          </p:cNvSpPr>
          <p:nvPr/>
        </p:nvSpPr>
        <p:spPr bwMode="auto">
          <a:xfrm>
            <a:off x="3989917" y="5429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327" name="Rectangle 527"/>
          <p:cNvSpPr>
            <a:spLocks noChangeArrowheads="1"/>
          </p:cNvSpPr>
          <p:nvPr/>
        </p:nvSpPr>
        <p:spPr bwMode="auto">
          <a:xfrm>
            <a:off x="4243917" y="5429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328" name="Rectangle 528"/>
          <p:cNvSpPr>
            <a:spLocks noChangeArrowheads="1"/>
          </p:cNvSpPr>
          <p:nvPr/>
        </p:nvSpPr>
        <p:spPr bwMode="auto">
          <a:xfrm>
            <a:off x="4497917" y="5429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329" name="Rectangle 529"/>
          <p:cNvSpPr>
            <a:spLocks noChangeArrowheads="1"/>
          </p:cNvSpPr>
          <p:nvPr/>
        </p:nvSpPr>
        <p:spPr bwMode="auto">
          <a:xfrm>
            <a:off x="4751917" y="5429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330" name="Rectangle 530"/>
          <p:cNvSpPr>
            <a:spLocks noChangeArrowheads="1"/>
          </p:cNvSpPr>
          <p:nvPr/>
        </p:nvSpPr>
        <p:spPr bwMode="auto">
          <a:xfrm>
            <a:off x="5005917" y="5429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331" name="Rectangle 531"/>
          <p:cNvSpPr>
            <a:spLocks noChangeArrowheads="1"/>
          </p:cNvSpPr>
          <p:nvPr/>
        </p:nvSpPr>
        <p:spPr bwMode="auto">
          <a:xfrm>
            <a:off x="5259917" y="5429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8332" name="Rectangle 532"/>
          <p:cNvSpPr>
            <a:spLocks noChangeArrowheads="1"/>
          </p:cNvSpPr>
          <p:nvPr/>
        </p:nvSpPr>
        <p:spPr bwMode="auto">
          <a:xfrm>
            <a:off x="6498167" y="4910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64</a:t>
            </a:r>
          </a:p>
        </p:txBody>
      </p:sp>
      <p:sp>
        <p:nvSpPr>
          <p:cNvPr id="8333" name="Rectangle 533"/>
          <p:cNvSpPr>
            <a:spLocks noChangeArrowheads="1"/>
          </p:cNvSpPr>
          <p:nvPr/>
        </p:nvSpPr>
        <p:spPr bwMode="auto">
          <a:xfrm>
            <a:off x="6752167" y="4910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56</a:t>
            </a:r>
          </a:p>
        </p:txBody>
      </p:sp>
      <p:sp>
        <p:nvSpPr>
          <p:cNvPr id="8334" name="Rectangle 534"/>
          <p:cNvSpPr>
            <a:spLocks noChangeArrowheads="1"/>
          </p:cNvSpPr>
          <p:nvPr/>
        </p:nvSpPr>
        <p:spPr bwMode="auto">
          <a:xfrm>
            <a:off x="7006167" y="4910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48</a:t>
            </a:r>
          </a:p>
        </p:txBody>
      </p:sp>
      <p:sp>
        <p:nvSpPr>
          <p:cNvPr id="8335" name="Rectangle 535"/>
          <p:cNvSpPr>
            <a:spLocks noChangeArrowheads="1"/>
          </p:cNvSpPr>
          <p:nvPr/>
        </p:nvSpPr>
        <p:spPr bwMode="auto">
          <a:xfrm>
            <a:off x="7260167" y="4910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40</a:t>
            </a:r>
          </a:p>
        </p:txBody>
      </p:sp>
      <p:sp>
        <p:nvSpPr>
          <p:cNvPr id="8336" name="Rectangle 536"/>
          <p:cNvSpPr>
            <a:spLocks noChangeArrowheads="1"/>
          </p:cNvSpPr>
          <p:nvPr/>
        </p:nvSpPr>
        <p:spPr bwMode="auto">
          <a:xfrm>
            <a:off x="7514167" y="4910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32</a:t>
            </a:r>
          </a:p>
        </p:txBody>
      </p:sp>
      <p:sp>
        <p:nvSpPr>
          <p:cNvPr id="8337" name="Rectangle 537"/>
          <p:cNvSpPr>
            <a:spLocks noChangeArrowheads="1"/>
          </p:cNvSpPr>
          <p:nvPr/>
        </p:nvSpPr>
        <p:spPr bwMode="auto">
          <a:xfrm>
            <a:off x="7768167" y="4910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24</a:t>
            </a:r>
          </a:p>
        </p:txBody>
      </p:sp>
      <p:sp>
        <p:nvSpPr>
          <p:cNvPr id="8338" name="Rectangle 538"/>
          <p:cNvSpPr>
            <a:spLocks noChangeArrowheads="1"/>
          </p:cNvSpPr>
          <p:nvPr/>
        </p:nvSpPr>
        <p:spPr bwMode="auto">
          <a:xfrm>
            <a:off x="8022167" y="4910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16</a:t>
            </a:r>
          </a:p>
        </p:txBody>
      </p:sp>
      <p:sp>
        <p:nvSpPr>
          <p:cNvPr id="8339" name="Rectangle 539"/>
          <p:cNvSpPr>
            <a:spLocks noChangeArrowheads="1"/>
          </p:cNvSpPr>
          <p:nvPr/>
        </p:nvSpPr>
        <p:spPr bwMode="auto">
          <a:xfrm>
            <a:off x="8276167" y="4910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340" name="Rectangle 540"/>
          <p:cNvSpPr>
            <a:spLocks noChangeArrowheads="1"/>
          </p:cNvSpPr>
          <p:nvPr/>
        </p:nvSpPr>
        <p:spPr bwMode="auto">
          <a:xfrm>
            <a:off x="6498167" y="5154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56</a:t>
            </a:r>
          </a:p>
        </p:txBody>
      </p:sp>
      <p:sp>
        <p:nvSpPr>
          <p:cNvPr id="8341" name="Rectangle 541"/>
          <p:cNvSpPr>
            <a:spLocks noChangeArrowheads="1"/>
          </p:cNvSpPr>
          <p:nvPr/>
        </p:nvSpPr>
        <p:spPr bwMode="auto">
          <a:xfrm>
            <a:off x="6498167" y="5397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48</a:t>
            </a:r>
          </a:p>
        </p:txBody>
      </p:sp>
      <p:sp>
        <p:nvSpPr>
          <p:cNvPr id="8342" name="Rectangle 542"/>
          <p:cNvSpPr>
            <a:spLocks noChangeArrowheads="1"/>
          </p:cNvSpPr>
          <p:nvPr/>
        </p:nvSpPr>
        <p:spPr bwMode="auto">
          <a:xfrm>
            <a:off x="6498167" y="5640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40</a:t>
            </a:r>
          </a:p>
        </p:txBody>
      </p:sp>
      <p:sp>
        <p:nvSpPr>
          <p:cNvPr id="8343" name="Rectangle 543"/>
          <p:cNvSpPr>
            <a:spLocks noChangeArrowheads="1"/>
          </p:cNvSpPr>
          <p:nvPr/>
        </p:nvSpPr>
        <p:spPr bwMode="auto">
          <a:xfrm>
            <a:off x="6498167" y="588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32</a:t>
            </a:r>
          </a:p>
        </p:txBody>
      </p:sp>
      <p:sp>
        <p:nvSpPr>
          <p:cNvPr id="8344" name="Rectangle 544"/>
          <p:cNvSpPr>
            <a:spLocks noChangeArrowheads="1"/>
          </p:cNvSpPr>
          <p:nvPr/>
        </p:nvSpPr>
        <p:spPr bwMode="auto">
          <a:xfrm>
            <a:off x="6498167" y="6127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24</a:t>
            </a:r>
          </a:p>
        </p:txBody>
      </p:sp>
      <p:sp>
        <p:nvSpPr>
          <p:cNvPr id="8345" name="Rectangle 545"/>
          <p:cNvSpPr>
            <a:spLocks noChangeArrowheads="1"/>
          </p:cNvSpPr>
          <p:nvPr/>
        </p:nvSpPr>
        <p:spPr bwMode="auto">
          <a:xfrm>
            <a:off x="6498167"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16</a:t>
            </a:r>
          </a:p>
        </p:txBody>
      </p:sp>
      <p:sp>
        <p:nvSpPr>
          <p:cNvPr id="8346" name="Rectangle 546"/>
          <p:cNvSpPr>
            <a:spLocks noChangeArrowheads="1"/>
          </p:cNvSpPr>
          <p:nvPr/>
        </p:nvSpPr>
        <p:spPr bwMode="auto">
          <a:xfrm>
            <a:off x="6498167" y="661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347" name="Rectangle 547"/>
          <p:cNvSpPr>
            <a:spLocks noChangeArrowheads="1"/>
          </p:cNvSpPr>
          <p:nvPr/>
        </p:nvSpPr>
        <p:spPr bwMode="auto">
          <a:xfrm>
            <a:off x="6752167" y="5154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49</a:t>
            </a:r>
          </a:p>
        </p:txBody>
      </p:sp>
      <p:sp>
        <p:nvSpPr>
          <p:cNvPr id="8348" name="Rectangle 548"/>
          <p:cNvSpPr>
            <a:spLocks noChangeArrowheads="1"/>
          </p:cNvSpPr>
          <p:nvPr/>
        </p:nvSpPr>
        <p:spPr bwMode="auto">
          <a:xfrm>
            <a:off x="6752167" y="5397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42</a:t>
            </a:r>
          </a:p>
        </p:txBody>
      </p:sp>
      <p:sp>
        <p:nvSpPr>
          <p:cNvPr id="8349" name="Rectangle 549"/>
          <p:cNvSpPr>
            <a:spLocks noChangeArrowheads="1"/>
          </p:cNvSpPr>
          <p:nvPr/>
        </p:nvSpPr>
        <p:spPr bwMode="auto">
          <a:xfrm>
            <a:off x="6752167" y="5640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35</a:t>
            </a:r>
          </a:p>
        </p:txBody>
      </p:sp>
      <p:sp>
        <p:nvSpPr>
          <p:cNvPr id="8350" name="Rectangle 550"/>
          <p:cNvSpPr>
            <a:spLocks noChangeArrowheads="1"/>
          </p:cNvSpPr>
          <p:nvPr/>
        </p:nvSpPr>
        <p:spPr bwMode="auto">
          <a:xfrm>
            <a:off x="6752167" y="588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28</a:t>
            </a:r>
          </a:p>
        </p:txBody>
      </p:sp>
      <p:sp>
        <p:nvSpPr>
          <p:cNvPr id="8351" name="Rectangle 551"/>
          <p:cNvSpPr>
            <a:spLocks noChangeArrowheads="1"/>
          </p:cNvSpPr>
          <p:nvPr/>
        </p:nvSpPr>
        <p:spPr bwMode="auto">
          <a:xfrm>
            <a:off x="6752167" y="6127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21</a:t>
            </a:r>
          </a:p>
        </p:txBody>
      </p:sp>
      <p:sp>
        <p:nvSpPr>
          <p:cNvPr id="8352" name="Rectangle 552"/>
          <p:cNvSpPr>
            <a:spLocks noChangeArrowheads="1"/>
          </p:cNvSpPr>
          <p:nvPr/>
        </p:nvSpPr>
        <p:spPr bwMode="auto">
          <a:xfrm>
            <a:off x="6752167"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14</a:t>
            </a:r>
          </a:p>
        </p:txBody>
      </p:sp>
      <p:sp>
        <p:nvSpPr>
          <p:cNvPr id="8353" name="Rectangle 553"/>
          <p:cNvSpPr>
            <a:spLocks noChangeArrowheads="1"/>
          </p:cNvSpPr>
          <p:nvPr/>
        </p:nvSpPr>
        <p:spPr bwMode="auto">
          <a:xfrm>
            <a:off x="6752167" y="661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354" name="Rectangle 554"/>
          <p:cNvSpPr>
            <a:spLocks noChangeArrowheads="1"/>
          </p:cNvSpPr>
          <p:nvPr/>
        </p:nvSpPr>
        <p:spPr bwMode="auto">
          <a:xfrm>
            <a:off x="7006167" y="5154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42</a:t>
            </a:r>
          </a:p>
        </p:txBody>
      </p:sp>
      <p:sp>
        <p:nvSpPr>
          <p:cNvPr id="8355" name="Rectangle 555"/>
          <p:cNvSpPr>
            <a:spLocks noChangeArrowheads="1"/>
          </p:cNvSpPr>
          <p:nvPr/>
        </p:nvSpPr>
        <p:spPr bwMode="auto">
          <a:xfrm>
            <a:off x="7006167" y="5397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36</a:t>
            </a:r>
          </a:p>
        </p:txBody>
      </p:sp>
      <p:sp>
        <p:nvSpPr>
          <p:cNvPr id="8356" name="Rectangle 556"/>
          <p:cNvSpPr>
            <a:spLocks noChangeArrowheads="1"/>
          </p:cNvSpPr>
          <p:nvPr/>
        </p:nvSpPr>
        <p:spPr bwMode="auto">
          <a:xfrm>
            <a:off x="7006167" y="5640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30</a:t>
            </a:r>
          </a:p>
        </p:txBody>
      </p:sp>
      <p:sp>
        <p:nvSpPr>
          <p:cNvPr id="8357" name="Rectangle 557"/>
          <p:cNvSpPr>
            <a:spLocks noChangeArrowheads="1"/>
          </p:cNvSpPr>
          <p:nvPr/>
        </p:nvSpPr>
        <p:spPr bwMode="auto">
          <a:xfrm>
            <a:off x="7006167" y="588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24</a:t>
            </a:r>
          </a:p>
        </p:txBody>
      </p:sp>
      <p:sp>
        <p:nvSpPr>
          <p:cNvPr id="8358" name="Rectangle 558"/>
          <p:cNvSpPr>
            <a:spLocks noChangeArrowheads="1"/>
          </p:cNvSpPr>
          <p:nvPr/>
        </p:nvSpPr>
        <p:spPr bwMode="auto">
          <a:xfrm>
            <a:off x="7006167" y="6127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18</a:t>
            </a:r>
          </a:p>
        </p:txBody>
      </p:sp>
      <p:sp>
        <p:nvSpPr>
          <p:cNvPr id="8359" name="Rectangle 559"/>
          <p:cNvSpPr>
            <a:spLocks noChangeArrowheads="1"/>
          </p:cNvSpPr>
          <p:nvPr/>
        </p:nvSpPr>
        <p:spPr bwMode="auto">
          <a:xfrm>
            <a:off x="7006167"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12</a:t>
            </a:r>
          </a:p>
        </p:txBody>
      </p:sp>
      <p:sp>
        <p:nvSpPr>
          <p:cNvPr id="8360" name="Rectangle 560"/>
          <p:cNvSpPr>
            <a:spLocks noChangeArrowheads="1"/>
          </p:cNvSpPr>
          <p:nvPr/>
        </p:nvSpPr>
        <p:spPr bwMode="auto">
          <a:xfrm>
            <a:off x="7006167" y="661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361" name="Rectangle 561"/>
          <p:cNvSpPr>
            <a:spLocks noChangeArrowheads="1"/>
          </p:cNvSpPr>
          <p:nvPr/>
        </p:nvSpPr>
        <p:spPr bwMode="auto">
          <a:xfrm>
            <a:off x="7260167" y="5154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35</a:t>
            </a:r>
          </a:p>
        </p:txBody>
      </p:sp>
      <p:sp>
        <p:nvSpPr>
          <p:cNvPr id="8362" name="Rectangle 562"/>
          <p:cNvSpPr>
            <a:spLocks noChangeArrowheads="1"/>
          </p:cNvSpPr>
          <p:nvPr/>
        </p:nvSpPr>
        <p:spPr bwMode="auto">
          <a:xfrm>
            <a:off x="7260167" y="5397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30</a:t>
            </a:r>
          </a:p>
        </p:txBody>
      </p:sp>
      <p:sp>
        <p:nvSpPr>
          <p:cNvPr id="8363" name="Rectangle 563"/>
          <p:cNvSpPr>
            <a:spLocks noChangeArrowheads="1"/>
          </p:cNvSpPr>
          <p:nvPr/>
        </p:nvSpPr>
        <p:spPr bwMode="auto">
          <a:xfrm>
            <a:off x="7260167" y="5640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25</a:t>
            </a:r>
          </a:p>
        </p:txBody>
      </p:sp>
      <p:sp>
        <p:nvSpPr>
          <p:cNvPr id="8364" name="Rectangle 564"/>
          <p:cNvSpPr>
            <a:spLocks noChangeArrowheads="1"/>
          </p:cNvSpPr>
          <p:nvPr/>
        </p:nvSpPr>
        <p:spPr bwMode="auto">
          <a:xfrm>
            <a:off x="7260167" y="588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20</a:t>
            </a:r>
          </a:p>
        </p:txBody>
      </p:sp>
      <p:sp>
        <p:nvSpPr>
          <p:cNvPr id="8365" name="Rectangle 565"/>
          <p:cNvSpPr>
            <a:spLocks noChangeArrowheads="1"/>
          </p:cNvSpPr>
          <p:nvPr/>
        </p:nvSpPr>
        <p:spPr bwMode="auto">
          <a:xfrm>
            <a:off x="7260167" y="6127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15</a:t>
            </a:r>
          </a:p>
        </p:txBody>
      </p:sp>
      <p:sp>
        <p:nvSpPr>
          <p:cNvPr id="8366" name="Rectangle 566"/>
          <p:cNvSpPr>
            <a:spLocks noChangeArrowheads="1"/>
          </p:cNvSpPr>
          <p:nvPr/>
        </p:nvSpPr>
        <p:spPr bwMode="auto">
          <a:xfrm>
            <a:off x="7260167"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10</a:t>
            </a:r>
          </a:p>
        </p:txBody>
      </p:sp>
      <p:sp>
        <p:nvSpPr>
          <p:cNvPr id="8367" name="Rectangle 567"/>
          <p:cNvSpPr>
            <a:spLocks noChangeArrowheads="1"/>
          </p:cNvSpPr>
          <p:nvPr/>
        </p:nvSpPr>
        <p:spPr bwMode="auto">
          <a:xfrm>
            <a:off x="7260167" y="661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368" name="Rectangle 568"/>
          <p:cNvSpPr>
            <a:spLocks noChangeArrowheads="1"/>
          </p:cNvSpPr>
          <p:nvPr/>
        </p:nvSpPr>
        <p:spPr bwMode="auto">
          <a:xfrm>
            <a:off x="7514167" y="5154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28</a:t>
            </a:r>
          </a:p>
        </p:txBody>
      </p:sp>
      <p:sp>
        <p:nvSpPr>
          <p:cNvPr id="8369" name="Rectangle 569"/>
          <p:cNvSpPr>
            <a:spLocks noChangeArrowheads="1"/>
          </p:cNvSpPr>
          <p:nvPr/>
        </p:nvSpPr>
        <p:spPr bwMode="auto">
          <a:xfrm>
            <a:off x="7514167" y="5397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24</a:t>
            </a:r>
          </a:p>
        </p:txBody>
      </p:sp>
      <p:sp>
        <p:nvSpPr>
          <p:cNvPr id="8370" name="Rectangle 570"/>
          <p:cNvSpPr>
            <a:spLocks noChangeArrowheads="1"/>
          </p:cNvSpPr>
          <p:nvPr/>
        </p:nvSpPr>
        <p:spPr bwMode="auto">
          <a:xfrm>
            <a:off x="7514167" y="5640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20</a:t>
            </a:r>
          </a:p>
        </p:txBody>
      </p:sp>
      <p:sp>
        <p:nvSpPr>
          <p:cNvPr id="8371" name="Rectangle 571"/>
          <p:cNvSpPr>
            <a:spLocks noChangeArrowheads="1"/>
          </p:cNvSpPr>
          <p:nvPr/>
        </p:nvSpPr>
        <p:spPr bwMode="auto">
          <a:xfrm>
            <a:off x="7514167" y="588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16</a:t>
            </a:r>
          </a:p>
        </p:txBody>
      </p:sp>
      <p:sp>
        <p:nvSpPr>
          <p:cNvPr id="8372" name="Rectangle 572"/>
          <p:cNvSpPr>
            <a:spLocks noChangeArrowheads="1"/>
          </p:cNvSpPr>
          <p:nvPr/>
        </p:nvSpPr>
        <p:spPr bwMode="auto">
          <a:xfrm>
            <a:off x="7514167" y="6127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12</a:t>
            </a:r>
          </a:p>
        </p:txBody>
      </p:sp>
      <p:sp>
        <p:nvSpPr>
          <p:cNvPr id="8373" name="Rectangle 573"/>
          <p:cNvSpPr>
            <a:spLocks noChangeArrowheads="1"/>
          </p:cNvSpPr>
          <p:nvPr/>
        </p:nvSpPr>
        <p:spPr bwMode="auto">
          <a:xfrm>
            <a:off x="7514167"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374" name="Rectangle 574"/>
          <p:cNvSpPr>
            <a:spLocks noChangeArrowheads="1"/>
          </p:cNvSpPr>
          <p:nvPr/>
        </p:nvSpPr>
        <p:spPr bwMode="auto">
          <a:xfrm>
            <a:off x="7514167" y="661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375" name="Rectangle 575"/>
          <p:cNvSpPr>
            <a:spLocks noChangeArrowheads="1"/>
          </p:cNvSpPr>
          <p:nvPr/>
        </p:nvSpPr>
        <p:spPr bwMode="auto">
          <a:xfrm>
            <a:off x="7768167" y="5154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21</a:t>
            </a:r>
          </a:p>
        </p:txBody>
      </p:sp>
      <p:sp>
        <p:nvSpPr>
          <p:cNvPr id="8376" name="Rectangle 576"/>
          <p:cNvSpPr>
            <a:spLocks noChangeArrowheads="1"/>
          </p:cNvSpPr>
          <p:nvPr/>
        </p:nvSpPr>
        <p:spPr bwMode="auto">
          <a:xfrm>
            <a:off x="7768167" y="5397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18</a:t>
            </a:r>
          </a:p>
        </p:txBody>
      </p:sp>
      <p:sp>
        <p:nvSpPr>
          <p:cNvPr id="8377" name="Rectangle 577"/>
          <p:cNvSpPr>
            <a:spLocks noChangeArrowheads="1"/>
          </p:cNvSpPr>
          <p:nvPr/>
        </p:nvSpPr>
        <p:spPr bwMode="auto">
          <a:xfrm>
            <a:off x="7768167" y="5640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15</a:t>
            </a:r>
          </a:p>
        </p:txBody>
      </p:sp>
      <p:sp>
        <p:nvSpPr>
          <p:cNvPr id="8378" name="Rectangle 578"/>
          <p:cNvSpPr>
            <a:spLocks noChangeArrowheads="1"/>
          </p:cNvSpPr>
          <p:nvPr/>
        </p:nvSpPr>
        <p:spPr bwMode="auto">
          <a:xfrm>
            <a:off x="7768167" y="588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12</a:t>
            </a:r>
          </a:p>
        </p:txBody>
      </p:sp>
      <p:sp>
        <p:nvSpPr>
          <p:cNvPr id="8379" name="Rectangle 579"/>
          <p:cNvSpPr>
            <a:spLocks noChangeArrowheads="1"/>
          </p:cNvSpPr>
          <p:nvPr/>
        </p:nvSpPr>
        <p:spPr bwMode="auto">
          <a:xfrm>
            <a:off x="7768167" y="6127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9</a:t>
            </a:r>
          </a:p>
        </p:txBody>
      </p:sp>
      <p:sp>
        <p:nvSpPr>
          <p:cNvPr id="8380" name="Rectangle 580"/>
          <p:cNvSpPr>
            <a:spLocks noChangeArrowheads="1"/>
          </p:cNvSpPr>
          <p:nvPr/>
        </p:nvSpPr>
        <p:spPr bwMode="auto">
          <a:xfrm>
            <a:off x="7768167"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381" name="Rectangle 581"/>
          <p:cNvSpPr>
            <a:spLocks noChangeArrowheads="1"/>
          </p:cNvSpPr>
          <p:nvPr/>
        </p:nvSpPr>
        <p:spPr bwMode="auto">
          <a:xfrm>
            <a:off x="7768167" y="661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382" name="Rectangle 582"/>
          <p:cNvSpPr>
            <a:spLocks noChangeArrowheads="1"/>
          </p:cNvSpPr>
          <p:nvPr/>
        </p:nvSpPr>
        <p:spPr bwMode="auto">
          <a:xfrm>
            <a:off x="8022167" y="5154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14</a:t>
            </a:r>
          </a:p>
        </p:txBody>
      </p:sp>
      <p:sp>
        <p:nvSpPr>
          <p:cNvPr id="8383" name="Rectangle 583"/>
          <p:cNvSpPr>
            <a:spLocks noChangeArrowheads="1"/>
          </p:cNvSpPr>
          <p:nvPr/>
        </p:nvSpPr>
        <p:spPr bwMode="auto">
          <a:xfrm>
            <a:off x="8022167" y="5397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12</a:t>
            </a:r>
          </a:p>
        </p:txBody>
      </p:sp>
      <p:sp>
        <p:nvSpPr>
          <p:cNvPr id="8384" name="Rectangle 584"/>
          <p:cNvSpPr>
            <a:spLocks noChangeArrowheads="1"/>
          </p:cNvSpPr>
          <p:nvPr/>
        </p:nvSpPr>
        <p:spPr bwMode="auto">
          <a:xfrm>
            <a:off x="8022167" y="5640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10</a:t>
            </a:r>
          </a:p>
        </p:txBody>
      </p:sp>
      <p:sp>
        <p:nvSpPr>
          <p:cNvPr id="8385" name="Rectangle 585"/>
          <p:cNvSpPr>
            <a:spLocks noChangeArrowheads="1"/>
          </p:cNvSpPr>
          <p:nvPr/>
        </p:nvSpPr>
        <p:spPr bwMode="auto">
          <a:xfrm>
            <a:off x="8022167" y="588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8</a:t>
            </a:r>
          </a:p>
        </p:txBody>
      </p:sp>
      <p:sp>
        <p:nvSpPr>
          <p:cNvPr id="8386" name="Rectangle 586"/>
          <p:cNvSpPr>
            <a:spLocks noChangeArrowheads="1"/>
          </p:cNvSpPr>
          <p:nvPr/>
        </p:nvSpPr>
        <p:spPr bwMode="auto">
          <a:xfrm>
            <a:off x="8022167" y="6127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387" name="Rectangle 587"/>
          <p:cNvSpPr>
            <a:spLocks noChangeArrowheads="1"/>
          </p:cNvSpPr>
          <p:nvPr/>
        </p:nvSpPr>
        <p:spPr bwMode="auto">
          <a:xfrm>
            <a:off x="8022167"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388" name="Rectangle 588"/>
          <p:cNvSpPr>
            <a:spLocks noChangeArrowheads="1"/>
          </p:cNvSpPr>
          <p:nvPr/>
        </p:nvSpPr>
        <p:spPr bwMode="auto">
          <a:xfrm>
            <a:off x="8022167" y="661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389" name="Rectangle 589"/>
          <p:cNvSpPr>
            <a:spLocks noChangeArrowheads="1"/>
          </p:cNvSpPr>
          <p:nvPr/>
        </p:nvSpPr>
        <p:spPr bwMode="auto">
          <a:xfrm>
            <a:off x="8276167" y="5154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8390" name="Rectangle 590"/>
          <p:cNvSpPr>
            <a:spLocks noChangeArrowheads="1"/>
          </p:cNvSpPr>
          <p:nvPr/>
        </p:nvSpPr>
        <p:spPr bwMode="auto">
          <a:xfrm>
            <a:off x="8276167" y="5397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8391" name="Rectangle 591"/>
          <p:cNvSpPr>
            <a:spLocks noChangeArrowheads="1"/>
          </p:cNvSpPr>
          <p:nvPr/>
        </p:nvSpPr>
        <p:spPr bwMode="auto">
          <a:xfrm>
            <a:off x="8276167" y="56409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a:t>
            </a:r>
          </a:p>
        </p:txBody>
      </p:sp>
      <p:sp>
        <p:nvSpPr>
          <p:cNvPr id="8392" name="Rectangle 592"/>
          <p:cNvSpPr>
            <a:spLocks noChangeArrowheads="1"/>
          </p:cNvSpPr>
          <p:nvPr/>
        </p:nvSpPr>
        <p:spPr bwMode="auto">
          <a:xfrm>
            <a:off x="8276167" y="588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8393" name="Rectangle 593"/>
          <p:cNvSpPr>
            <a:spLocks noChangeArrowheads="1"/>
          </p:cNvSpPr>
          <p:nvPr/>
        </p:nvSpPr>
        <p:spPr bwMode="auto">
          <a:xfrm>
            <a:off x="8276167" y="6127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a:t>
            </a:r>
          </a:p>
        </p:txBody>
      </p:sp>
      <p:sp>
        <p:nvSpPr>
          <p:cNvPr id="8394" name="Rectangle 594"/>
          <p:cNvSpPr>
            <a:spLocks noChangeArrowheads="1"/>
          </p:cNvSpPr>
          <p:nvPr/>
        </p:nvSpPr>
        <p:spPr bwMode="auto">
          <a:xfrm>
            <a:off x="8276167"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
        <p:nvSpPr>
          <p:cNvPr id="8395" name="Rectangle 595"/>
          <p:cNvSpPr>
            <a:spLocks noChangeArrowheads="1"/>
          </p:cNvSpPr>
          <p:nvPr/>
        </p:nvSpPr>
        <p:spPr bwMode="auto">
          <a:xfrm>
            <a:off x="8276167" y="661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graphicFrame>
        <p:nvGraphicFramePr>
          <p:cNvPr id="8396" name="Object 596"/>
          <p:cNvGraphicFramePr>
            <a:graphicFrameLocks noChangeAspect="1"/>
          </p:cNvGraphicFramePr>
          <p:nvPr/>
        </p:nvGraphicFramePr>
        <p:xfrm>
          <a:off x="5379861" y="2822222"/>
          <a:ext cx="1411111" cy="324556"/>
        </p:xfrm>
        <a:graphic>
          <a:graphicData uri="http://schemas.openxmlformats.org/presentationml/2006/ole">
            <mc:AlternateContent xmlns:mc="http://schemas.openxmlformats.org/markup-compatibility/2006">
              <mc:Choice xmlns:v="urn:schemas-microsoft-com:vml" Requires="v">
                <p:oleObj spid="_x0000_s4101" name="Equation" r:id="rId3" imgW="1269449" imgH="291973" progId="Equation.3">
                  <p:embed/>
                </p:oleObj>
              </mc:Choice>
              <mc:Fallback>
                <p:oleObj name="Equation" r:id="rId3" imgW="1269449" imgH="29197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9861" y="2822222"/>
                        <a:ext cx="1411111" cy="3245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 name="Text Box 597"/>
          <p:cNvSpPr txBox="1">
            <a:spLocks noChangeArrowheads="1"/>
          </p:cNvSpPr>
          <p:nvPr/>
        </p:nvSpPr>
        <p:spPr bwMode="auto">
          <a:xfrm>
            <a:off x="3771194" y="2809876"/>
            <a:ext cx="1457128"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u="sng">
                <a:latin typeface="Comic Sans MS" pitchFamily="66" charset="0"/>
              </a:rPr>
              <a:t>My Transform:</a:t>
            </a:r>
          </a:p>
        </p:txBody>
      </p:sp>
      <p:graphicFrame>
        <p:nvGraphicFramePr>
          <p:cNvPr id="8398" name="Object 598"/>
          <p:cNvGraphicFramePr>
            <a:graphicFrameLocks noChangeAspect="1"/>
          </p:cNvGraphicFramePr>
          <p:nvPr/>
        </p:nvGraphicFramePr>
        <p:xfrm>
          <a:off x="1400528" y="2257778"/>
          <a:ext cx="564444" cy="310444"/>
        </p:xfrm>
        <a:graphic>
          <a:graphicData uri="http://schemas.openxmlformats.org/presentationml/2006/ole">
            <mc:AlternateContent xmlns:mc="http://schemas.openxmlformats.org/markup-compatibility/2006">
              <mc:Choice xmlns:v="urn:schemas-microsoft-com:vml" Requires="v">
                <p:oleObj spid="_x0000_s4102" name="Equation" r:id="rId5" imgW="508000" imgH="279400" progId="Equation.3">
                  <p:embed/>
                </p:oleObj>
              </mc:Choice>
              <mc:Fallback>
                <p:oleObj name="Equation" r:id="rId5" imgW="508000" imgH="279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0528" y="2257778"/>
                        <a:ext cx="564444" cy="310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9" name="Object 599"/>
          <p:cNvGraphicFramePr>
            <a:graphicFrameLocks noChangeAspect="1"/>
          </p:cNvGraphicFramePr>
          <p:nvPr/>
        </p:nvGraphicFramePr>
        <p:xfrm>
          <a:off x="8597195" y="5647972"/>
          <a:ext cx="903111" cy="409222"/>
        </p:xfrm>
        <a:graphic>
          <a:graphicData uri="http://schemas.openxmlformats.org/presentationml/2006/ole">
            <mc:AlternateContent xmlns:mc="http://schemas.openxmlformats.org/markup-compatibility/2006">
              <mc:Choice xmlns:v="urn:schemas-microsoft-com:vml" Requires="v">
                <p:oleObj spid="_x0000_s4103" name="Equation" r:id="rId7" imgW="812447" imgH="368140" progId="Equation.3">
                  <p:embed/>
                </p:oleObj>
              </mc:Choice>
              <mc:Fallback>
                <p:oleObj name="Equation" r:id="rId7" imgW="812447" imgH="3681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97195" y="5647972"/>
                        <a:ext cx="903111" cy="409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0" name="Rectangle 600"/>
          <p:cNvSpPr>
            <a:spLocks noChangeArrowheads="1"/>
          </p:cNvSpPr>
          <p:nvPr/>
        </p:nvSpPr>
        <p:spPr bwMode="auto">
          <a:xfrm>
            <a:off x="613834" y="6477001"/>
            <a:ext cx="5704417" cy="836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buFont typeface="ZapfDingbats" pitchFamily="82" charset="0"/>
              <a:buNone/>
            </a:pPr>
            <a:r>
              <a:rPr lang="en-US" altLang="en-US" sz="2000" i="1"/>
              <a:t>Note that this is only a hypothetical transform. Do not confuse this with DCT</a:t>
            </a:r>
          </a:p>
        </p:txBody>
      </p:sp>
    </p:spTree>
    <p:extLst>
      <p:ext uri="{BB962C8B-B14F-4D97-AF65-F5344CB8AC3E}">
        <p14:creationId xmlns:p14="http://schemas.microsoft.com/office/powerpoint/2010/main" val="20022610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AD608CB1-E2E3-4B36-A42B-C6604CFBC818}" type="slidenum">
              <a:rPr lang="en-US" altLang="en-US"/>
              <a:pPr/>
              <a:t>72</a:t>
            </a:fld>
            <a:endParaRPr lang="en-US" altLang="en-US"/>
          </a:p>
        </p:txBody>
      </p:sp>
      <p:sp>
        <p:nvSpPr>
          <p:cNvPr id="9219" name="Rectangle 2"/>
          <p:cNvSpPr>
            <a:spLocks noGrp="1" noChangeArrowheads="1"/>
          </p:cNvSpPr>
          <p:nvPr>
            <p:ph type="title"/>
          </p:nvPr>
        </p:nvSpPr>
        <p:spPr>
          <a:xfrm>
            <a:off x="592667" y="254001"/>
            <a:ext cx="8636000" cy="709083"/>
          </a:xfrm>
        </p:spPr>
        <p:txBody>
          <a:bodyPr/>
          <a:lstStyle/>
          <a:p>
            <a:r>
              <a:rPr lang="en-US" altLang="en-US" sz="3600"/>
              <a:t>Quantization</a:t>
            </a:r>
          </a:p>
        </p:txBody>
      </p:sp>
      <p:sp>
        <p:nvSpPr>
          <p:cNvPr id="9220" name="Rectangle 3"/>
          <p:cNvSpPr>
            <a:spLocks noGrp="1" noChangeArrowheads="1"/>
          </p:cNvSpPr>
          <p:nvPr>
            <p:ph type="body" idx="1"/>
          </p:nvPr>
        </p:nvSpPr>
        <p:spPr>
          <a:xfrm>
            <a:off x="592667" y="1047751"/>
            <a:ext cx="8752417" cy="6191250"/>
          </a:xfrm>
        </p:spPr>
        <p:txBody>
          <a:bodyPr/>
          <a:lstStyle/>
          <a:p>
            <a:pPr>
              <a:lnSpc>
                <a:spcPct val="90000"/>
              </a:lnSpc>
            </a:pPr>
            <a:r>
              <a:rPr lang="en-US" altLang="en-US" sz="2200"/>
              <a:t>Why? -- To reduce number of bits per sample </a:t>
            </a:r>
          </a:p>
          <a:p>
            <a:pPr lvl="1">
              <a:lnSpc>
                <a:spcPct val="90000"/>
              </a:lnSpc>
              <a:buFont typeface="ZapfDingbats" pitchFamily="82" charset="0"/>
              <a:buNone/>
            </a:pPr>
            <a:r>
              <a:rPr lang="en-US" altLang="en-US" sz="2000"/>
              <a:t>F’(u,v) = round(F(u,v)/q(u,v))</a:t>
            </a:r>
          </a:p>
          <a:p>
            <a:pPr>
              <a:lnSpc>
                <a:spcPct val="90000"/>
              </a:lnSpc>
            </a:pPr>
            <a:r>
              <a:rPr lang="en-US" altLang="en-US" sz="2200"/>
              <a:t>Example: 101101 = 45 (6 bits). </a:t>
            </a:r>
            <a:br>
              <a:rPr lang="en-US" altLang="en-US" sz="2200"/>
            </a:br>
            <a:r>
              <a:rPr lang="en-US" altLang="en-US" sz="2200"/>
              <a:t>Truncate to 4 bits: 1011 = 11. (Compare 11 x 4 =44 against 45) </a:t>
            </a:r>
            <a:br>
              <a:rPr lang="en-US" altLang="en-US" sz="2200"/>
            </a:br>
            <a:r>
              <a:rPr lang="en-US" altLang="en-US" sz="2200"/>
              <a:t>Truncate to 3 bits: 101 = 5. (Compare 8 x 5 =40 against 45) </a:t>
            </a:r>
            <a:br>
              <a:rPr lang="en-US" altLang="en-US" sz="2200"/>
            </a:br>
            <a:r>
              <a:rPr lang="en-US" altLang="en-US" i="1"/>
              <a:t>Note, that the more bits we truncate the more precision we lose</a:t>
            </a:r>
          </a:p>
          <a:p>
            <a:pPr>
              <a:lnSpc>
                <a:spcPct val="90000"/>
              </a:lnSpc>
            </a:pPr>
            <a:r>
              <a:rPr lang="en-US" altLang="en-US" sz="2200"/>
              <a:t>Quantization error is the main source of the Lossy Compression. </a:t>
            </a:r>
          </a:p>
          <a:p>
            <a:pPr>
              <a:lnSpc>
                <a:spcPct val="90000"/>
              </a:lnSpc>
            </a:pPr>
            <a:r>
              <a:rPr lang="en-US" altLang="en-US" sz="2200" b="1"/>
              <a:t>Uniform Quantization:</a:t>
            </a:r>
          </a:p>
          <a:p>
            <a:pPr lvl="1">
              <a:lnSpc>
                <a:spcPct val="90000"/>
              </a:lnSpc>
            </a:pPr>
            <a:r>
              <a:rPr lang="en-US" altLang="en-US" sz="2000"/>
              <a:t>q(u,v) is a constant.</a:t>
            </a:r>
          </a:p>
          <a:p>
            <a:pPr>
              <a:lnSpc>
                <a:spcPct val="90000"/>
              </a:lnSpc>
            </a:pPr>
            <a:r>
              <a:rPr lang="en-US" altLang="en-US" sz="2200" b="1"/>
              <a:t>Non-uniform Quantization -- Quantization Tables</a:t>
            </a:r>
          </a:p>
          <a:p>
            <a:pPr lvl="1">
              <a:lnSpc>
                <a:spcPct val="90000"/>
              </a:lnSpc>
            </a:pPr>
            <a:r>
              <a:rPr lang="en-US" altLang="en-US" sz="2000"/>
              <a:t>Eye is most sensitive to low frequencies (upper left corner in frequency matrix), less sensitive to high frequencies (lower right corner) </a:t>
            </a:r>
          </a:p>
          <a:p>
            <a:pPr lvl="1">
              <a:lnSpc>
                <a:spcPct val="90000"/>
              </a:lnSpc>
            </a:pPr>
            <a:r>
              <a:rPr lang="en-US" altLang="en-US" sz="2000"/>
              <a:t>Custom quantization tables can be put in image/scan header. </a:t>
            </a:r>
          </a:p>
          <a:p>
            <a:pPr lvl="1">
              <a:lnSpc>
                <a:spcPct val="90000"/>
              </a:lnSpc>
            </a:pPr>
            <a:r>
              <a:rPr lang="en-US" altLang="en-US" sz="2000"/>
              <a:t>JPEG Standard defines two default quantization tables, one each for luminance and chrominance.</a:t>
            </a:r>
          </a:p>
        </p:txBody>
      </p:sp>
    </p:spTree>
    <p:extLst>
      <p:ext uri="{BB962C8B-B14F-4D97-AF65-F5344CB8AC3E}">
        <p14:creationId xmlns:p14="http://schemas.microsoft.com/office/powerpoint/2010/main" val="41079441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7BAC75A3-B749-45D8-A153-0F1D7E3146D7}" type="slidenum">
              <a:rPr lang="en-US" altLang="en-US"/>
              <a:pPr/>
              <a:t>73</a:t>
            </a:fld>
            <a:endParaRPr lang="en-US" altLang="en-US"/>
          </a:p>
        </p:txBody>
      </p:sp>
      <p:sp>
        <p:nvSpPr>
          <p:cNvPr id="10243" name="Rectangle 2"/>
          <p:cNvSpPr>
            <a:spLocks noGrp="1" noChangeArrowheads="1"/>
          </p:cNvSpPr>
          <p:nvPr>
            <p:ph type="title"/>
          </p:nvPr>
        </p:nvSpPr>
        <p:spPr>
          <a:xfrm>
            <a:off x="592667" y="254001"/>
            <a:ext cx="8636000" cy="709083"/>
          </a:xfrm>
        </p:spPr>
        <p:txBody>
          <a:bodyPr/>
          <a:lstStyle/>
          <a:p>
            <a:r>
              <a:rPr lang="en-US" altLang="en-US" sz="3600"/>
              <a:t>Zig-Zag Scan</a:t>
            </a:r>
          </a:p>
        </p:txBody>
      </p:sp>
      <p:sp>
        <p:nvSpPr>
          <p:cNvPr id="10244" name="Rectangle 97"/>
          <p:cNvSpPr>
            <a:spLocks noGrp="1" noChangeArrowheads="1"/>
          </p:cNvSpPr>
          <p:nvPr>
            <p:ph type="body" idx="1"/>
          </p:nvPr>
        </p:nvSpPr>
        <p:spPr>
          <a:xfrm>
            <a:off x="592667" y="1100667"/>
            <a:ext cx="8847667" cy="1333500"/>
          </a:xfrm>
        </p:spPr>
        <p:txBody>
          <a:bodyPr/>
          <a:lstStyle/>
          <a:p>
            <a:r>
              <a:rPr lang="en-US" altLang="en-US" sz="2200"/>
              <a:t>Why? -- to group low frequency coefficients in top of vector and high frequency coefficients at the bottom</a:t>
            </a:r>
          </a:p>
          <a:p>
            <a:r>
              <a:rPr lang="en-US" altLang="en-US" sz="2200"/>
              <a:t>Maps 8 x 8 matrix to a 1 x 64 vector </a:t>
            </a:r>
          </a:p>
        </p:txBody>
      </p:sp>
      <p:sp>
        <p:nvSpPr>
          <p:cNvPr id="10245" name="Rectangle 96"/>
          <p:cNvSpPr>
            <a:spLocks noChangeArrowheads="1"/>
          </p:cNvSpPr>
          <p:nvPr/>
        </p:nvSpPr>
        <p:spPr bwMode="auto">
          <a:xfrm>
            <a:off x="592667" y="1047751"/>
            <a:ext cx="8583083"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nSpc>
                <a:spcPct val="90000"/>
              </a:lnSpc>
              <a:buSzPct val="75000"/>
              <a:buFont typeface="ZapfDingbats" pitchFamily="82" charset="0"/>
              <a:buNone/>
            </a:pPr>
            <a:endParaRPr lang="en-US" altLang="en-US" sz="2000"/>
          </a:p>
          <a:p>
            <a:pPr>
              <a:lnSpc>
                <a:spcPct val="90000"/>
              </a:lnSpc>
              <a:buSzPct val="75000"/>
              <a:buFont typeface="ZapfDingbats" pitchFamily="82" charset="0"/>
              <a:buNone/>
            </a:pPr>
            <a:endParaRPr lang="en-US" altLang="en-US" sz="2000"/>
          </a:p>
          <a:p>
            <a:endParaRPr lang="en-US" altLang="en-US" sz="2200"/>
          </a:p>
        </p:txBody>
      </p:sp>
      <p:sp>
        <p:nvSpPr>
          <p:cNvPr id="10246" name="Rectangle 191"/>
          <p:cNvSpPr>
            <a:spLocks noChangeArrowheads="1"/>
          </p:cNvSpPr>
          <p:nvPr/>
        </p:nvSpPr>
        <p:spPr bwMode="auto">
          <a:xfrm>
            <a:off x="3206750" y="2582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47" name="Rectangle 192"/>
          <p:cNvSpPr>
            <a:spLocks noChangeArrowheads="1"/>
          </p:cNvSpPr>
          <p:nvPr/>
        </p:nvSpPr>
        <p:spPr bwMode="auto">
          <a:xfrm>
            <a:off x="3460750" y="2582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48" name="Rectangle 193"/>
          <p:cNvSpPr>
            <a:spLocks noChangeArrowheads="1"/>
          </p:cNvSpPr>
          <p:nvPr/>
        </p:nvSpPr>
        <p:spPr bwMode="auto">
          <a:xfrm>
            <a:off x="3714750" y="2582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49" name="Rectangle 194"/>
          <p:cNvSpPr>
            <a:spLocks noChangeArrowheads="1"/>
          </p:cNvSpPr>
          <p:nvPr/>
        </p:nvSpPr>
        <p:spPr bwMode="auto">
          <a:xfrm>
            <a:off x="3968750" y="2582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0" name="Rectangle 195"/>
          <p:cNvSpPr>
            <a:spLocks noChangeArrowheads="1"/>
          </p:cNvSpPr>
          <p:nvPr/>
        </p:nvSpPr>
        <p:spPr bwMode="auto">
          <a:xfrm>
            <a:off x="320675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1" name="Rectangle 196"/>
          <p:cNvSpPr>
            <a:spLocks noChangeArrowheads="1"/>
          </p:cNvSpPr>
          <p:nvPr/>
        </p:nvSpPr>
        <p:spPr bwMode="auto">
          <a:xfrm>
            <a:off x="346075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2" name="Rectangle 197"/>
          <p:cNvSpPr>
            <a:spLocks noChangeArrowheads="1"/>
          </p:cNvSpPr>
          <p:nvPr/>
        </p:nvSpPr>
        <p:spPr bwMode="auto">
          <a:xfrm>
            <a:off x="371475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3" name="Rectangle 198"/>
          <p:cNvSpPr>
            <a:spLocks noChangeArrowheads="1"/>
          </p:cNvSpPr>
          <p:nvPr/>
        </p:nvSpPr>
        <p:spPr bwMode="auto">
          <a:xfrm>
            <a:off x="396875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4" name="Rectangle 199"/>
          <p:cNvSpPr>
            <a:spLocks noChangeArrowheads="1"/>
          </p:cNvSpPr>
          <p:nvPr/>
        </p:nvSpPr>
        <p:spPr bwMode="auto">
          <a:xfrm>
            <a:off x="320675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5" name="Rectangle 200"/>
          <p:cNvSpPr>
            <a:spLocks noChangeArrowheads="1"/>
          </p:cNvSpPr>
          <p:nvPr/>
        </p:nvSpPr>
        <p:spPr bwMode="auto">
          <a:xfrm>
            <a:off x="346075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6" name="Rectangle 201"/>
          <p:cNvSpPr>
            <a:spLocks noChangeArrowheads="1"/>
          </p:cNvSpPr>
          <p:nvPr/>
        </p:nvSpPr>
        <p:spPr bwMode="auto">
          <a:xfrm>
            <a:off x="371475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7" name="Rectangle 202"/>
          <p:cNvSpPr>
            <a:spLocks noChangeArrowheads="1"/>
          </p:cNvSpPr>
          <p:nvPr/>
        </p:nvSpPr>
        <p:spPr bwMode="auto">
          <a:xfrm>
            <a:off x="396875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8" name="Rectangle 203"/>
          <p:cNvSpPr>
            <a:spLocks noChangeArrowheads="1"/>
          </p:cNvSpPr>
          <p:nvPr/>
        </p:nvSpPr>
        <p:spPr bwMode="auto">
          <a:xfrm>
            <a:off x="4222750" y="2582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59" name="Rectangle 204"/>
          <p:cNvSpPr>
            <a:spLocks noChangeArrowheads="1"/>
          </p:cNvSpPr>
          <p:nvPr/>
        </p:nvSpPr>
        <p:spPr bwMode="auto">
          <a:xfrm>
            <a:off x="4476750" y="2582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0" name="Rectangle 205"/>
          <p:cNvSpPr>
            <a:spLocks noChangeArrowheads="1"/>
          </p:cNvSpPr>
          <p:nvPr/>
        </p:nvSpPr>
        <p:spPr bwMode="auto">
          <a:xfrm>
            <a:off x="4730750" y="2582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1" name="Rectangle 206"/>
          <p:cNvSpPr>
            <a:spLocks noChangeArrowheads="1"/>
          </p:cNvSpPr>
          <p:nvPr/>
        </p:nvSpPr>
        <p:spPr bwMode="auto">
          <a:xfrm>
            <a:off x="4984750" y="2582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2" name="Rectangle 207"/>
          <p:cNvSpPr>
            <a:spLocks noChangeArrowheads="1"/>
          </p:cNvSpPr>
          <p:nvPr/>
        </p:nvSpPr>
        <p:spPr bwMode="auto">
          <a:xfrm>
            <a:off x="422275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3" name="Rectangle 208"/>
          <p:cNvSpPr>
            <a:spLocks noChangeArrowheads="1"/>
          </p:cNvSpPr>
          <p:nvPr/>
        </p:nvSpPr>
        <p:spPr bwMode="auto">
          <a:xfrm>
            <a:off x="447675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4" name="Rectangle 209"/>
          <p:cNvSpPr>
            <a:spLocks noChangeArrowheads="1"/>
          </p:cNvSpPr>
          <p:nvPr/>
        </p:nvSpPr>
        <p:spPr bwMode="auto">
          <a:xfrm>
            <a:off x="473075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5" name="Rectangle 210"/>
          <p:cNvSpPr>
            <a:spLocks noChangeArrowheads="1"/>
          </p:cNvSpPr>
          <p:nvPr/>
        </p:nvSpPr>
        <p:spPr bwMode="auto">
          <a:xfrm>
            <a:off x="4984750" y="2825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6" name="Rectangle 211"/>
          <p:cNvSpPr>
            <a:spLocks noChangeArrowheads="1"/>
          </p:cNvSpPr>
          <p:nvPr/>
        </p:nvSpPr>
        <p:spPr bwMode="auto">
          <a:xfrm>
            <a:off x="422275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7" name="Rectangle 212"/>
          <p:cNvSpPr>
            <a:spLocks noChangeArrowheads="1"/>
          </p:cNvSpPr>
          <p:nvPr/>
        </p:nvSpPr>
        <p:spPr bwMode="auto">
          <a:xfrm>
            <a:off x="447675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8" name="Rectangle 213"/>
          <p:cNvSpPr>
            <a:spLocks noChangeArrowheads="1"/>
          </p:cNvSpPr>
          <p:nvPr/>
        </p:nvSpPr>
        <p:spPr bwMode="auto">
          <a:xfrm>
            <a:off x="473075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69" name="Rectangle 214"/>
          <p:cNvSpPr>
            <a:spLocks noChangeArrowheads="1"/>
          </p:cNvSpPr>
          <p:nvPr/>
        </p:nvSpPr>
        <p:spPr bwMode="auto">
          <a:xfrm>
            <a:off x="4984750" y="3069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0" name="Rectangle 215"/>
          <p:cNvSpPr>
            <a:spLocks noChangeArrowheads="1"/>
          </p:cNvSpPr>
          <p:nvPr/>
        </p:nvSpPr>
        <p:spPr bwMode="auto">
          <a:xfrm>
            <a:off x="320675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1" name="Rectangle 216"/>
          <p:cNvSpPr>
            <a:spLocks noChangeArrowheads="1"/>
          </p:cNvSpPr>
          <p:nvPr/>
        </p:nvSpPr>
        <p:spPr bwMode="auto">
          <a:xfrm>
            <a:off x="346075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2" name="Rectangle 217"/>
          <p:cNvSpPr>
            <a:spLocks noChangeArrowheads="1"/>
          </p:cNvSpPr>
          <p:nvPr/>
        </p:nvSpPr>
        <p:spPr bwMode="auto">
          <a:xfrm>
            <a:off x="371475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3" name="Rectangle 218"/>
          <p:cNvSpPr>
            <a:spLocks noChangeArrowheads="1"/>
          </p:cNvSpPr>
          <p:nvPr/>
        </p:nvSpPr>
        <p:spPr bwMode="auto">
          <a:xfrm>
            <a:off x="396875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4" name="Rectangle 219"/>
          <p:cNvSpPr>
            <a:spLocks noChangeArrowheads="1"/>
          </p:cNvSpPr>
          <p:nvPr/>
        </p:nvSpPr>
        <p:spPr bwMode="auto">
          <a:xfrm>
            <a:off x="320675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5" name="Rectangle 220"/>
          <p:cNvSpPr>
            <a:spLocks noChangeArrowheads="1"/>
          </p:cNvSpPr>
          <p:nvPr/>
        </p:nvSpPr>
        <p:spPr bwMode="auto">
          <a:xfrm>
            <a:off x="346075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6" name="Rectangle 221"/>
          <p:cNvSpPr>
            <a:spLocks noChangeArrowheads="1"/>
          </p:cNvSpPr>
          <p:nvPr/>
        </p:nvSpPr>
        <p:spPr bwMode="auto">
          <a:xfrm>
            <a:off x="371475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7" name="Rectangle 222"/>
          <p:cNvSpPr>
            <a:spLocks noChangeArrowheads="1"/>
          </p:cNvSpPr>
          <p:nvPr/>
        </p:nvSpPr>
        <p:spPr bwMode="auto">
          <a:xfrm>
            <a:off x="396875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8" name="Rectangle 223"/>
          <p:cNvSpPr>
            <a:spLocks noChangeArrowheads="1"/>
          </p:cNvSpPr>
          <p:nvPr/>
        </p:nvSpPr>
        <p:spPr bwMode="auto">
          <a:xfrm>
            <a:off x="320675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79" name="Rectangle 224"/>
          <p:cNvSpPr>
            <a:spLocks noChangeArrowheads="1"/>
          </p:cNvSpPr>
          <p:nvPr/>
        </p:nvSpPr>
        <p:spPr bwMode="auto">
          <a:xfrm>
            <a:off x="346075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0" name="Rectangle 225"/>
          <p:cNvSpPr>
            <a:spLocks noChangeArrowheads="1"/>
          </p:cNvSpPr>
          <p:nvPr/>
        </p:nvSpPr>
        <p:spPr bwMode="auto">
          <a:xfrm>
            <a:off x="371475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1" name="Rectangle 226"/>
          <p:cNvSpPr>
            <a:spLocks noChangeArrowheads="1"/>
          </p:cNvSpPr>
          <p:nvPr/>
        </p:nvSpPr>
        <p:spPr bwMode="auto">
          <a:xfrm>
            <a:off x="396875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2" name="Rectangle 227"/>
          <p:cNvSpPr>
            <a:spLocks noChangeArrowheads="1"/>
          </p:cNvSpPr>
          <p:nvPr/>
        </p:nvSpPr>
        <p:spPr bwMode="auto">
          <a:xfrm>
            <a:off x="422275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3" name="Rectangle 228"/>
          <p:cNvSpPr>
            <a:spLocks noChangeArrowheads="1"/>
          </p:cNvSpPr>
          <p:nvPr/>
        </p:nvSpPr>
        <p:spPr bwMode="auto">
          <a:xfrm>
            <a:off x="447675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4" name="Rectangle 229"/>
          <p:cNvSpPr>
            <a:spLocks noChangeArrowheads="1"/>
          </p:cNvSpPr>
          <p:nvPr/>
        </p:nvSpPr>
        <p:spPr bwMode="auto">
          <a:xfrm>
            <a:off x="473075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5" name="Rectangle 230"/>
          <p:cNvSpPr>
            <a:spLocks noChangeArrowheads="1"/>
          </p:cNvSpPr>
          <p:nvPr/>
        </p:nvSpPr>
        <p:spPr bwMode="auto">
          <a:xfrm>
            <a:off x="4984750" y="331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6" name="Rectangle 231"/>
          <p:cNvSpPr>
            <a:spLocks noChangeArrowheads="1"/>
          </p:cNvSpPr>
          <p:nvPr/>
        </p:nvSpPr>
        <p:spPr bwMode="auto">
          <a:xfrm>
            <a:off x="422275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7" name="Rectangle 232"/>
          <p:cNvSpPr>
            <a:spLocks noChangeArrowheads="1"/>
          </p:cNvSpPr>
          <p:nvPr/>
        </p:nvSpPr>
        <p:spPr bwMode="auto">
          <a:xfrm>
            <a:off x="447675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8" name="Rectangle 233"/>
          <p:cNvSpPr>
            <a:spLocks noChangeArrowheads="1"/>
          </p:cNvSpPr>
          <p:nvPr/>
        </p:nvSpPr>
        <p:spPr bwMode="auto">
          <a:xfrm>
            <a:off x="473075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89" name="Rectangle 234"/>
          <p:cNvSpPr>
            <a:spLocks noChangeArrowheads="1"/>
          </p:cNvSpPr>
          <p:nvPr/>
        </p:nvSpPr>
        <p:spPr bwMode="auto">
          <a:xfrm>
            <a:off x="4984750" y="3556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0" name="Rectangle 235"/>
          <p:cNvSpPr>
            <a:spLocks noChangeArrowheads="1"/>
          </p:cNvSpPr>
          <p:nvPr/>
        </p:nvSpPr>
        <p:spPr bwMode="auto">
          <a:xfrm>
            <a:off x="422275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1" name="Rectangle 236"/>
          <p:cNvSpPr>
            <a:spLocks noChangeArrowheads="1"/>
          </p:cNvSpPr>
          <p:nvPr/>
        </p:nvSpPr>
        <p:spPr bwMode="auto">
          <a:xfrm>
            <a:off x="447675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2" name="Rectangle 237"/>
          <p:cNvSpPr>
            <a:spLocks noChangeArrowheads="1"/>
          </p:cNvSpPr>
          <p:nvPr/>
        </p:nvSpPr>
        <p:spPr bwMode="auto">
          <a:xfrm>
            <a:off x="473075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3" name="Rectangle 238"/>
          <p:cNvSpPr>
            <a:spLocks noChangeArrowheads="1"/>
          </p:cNvSpPr>
          <p:nvPr/>
        </p:nvSpPr>
        <p:spPr bwMode="auto">
          <a:xfrm>
            <a:off x="4984750" y="379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4" name="Rectangle 239"/>
          <p:cNvSpPr>
            <a:spLocks noChangeArrowheads="1"/>
          </p:cNvSpPr>
          <p:nvPr/>
        </p:nvSpPr>
        <p:spPr bwMode="auto">
          <a:xfrm>
            <a:off x="320675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5" name="Rectangle 240"/>
          <p:cNvSpPr>
            <a:spLocks noChangeArrowheads="1"/>
          </p:cNvSpPr>
          <p:nvPr/>
        </p:nvSpPr>
        <p:spPr bwMode="auto">
          <a:xfrm>
            <a:off x="346075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6" name="Rectangle 241"/>
          <p:cNvSpPr>
            <a:spLocks noChangeArrowheads="1"/>
          </p:cNvSpPr>
          <p:nvPr/>
        </p:nvSpPr>
        <p:spPr bwMode="auto">
          <a:xfrm>
            <a:off x="371475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7" name="Rectangle 242"/>
          <p:cNvSpPr>
            <a:spLocks noChangeArrowheads="1"/>
          </p:cNvSpPr>
          <p:nvPr/>
        </p:nvSpPr>
        <p:spPr bwMode="auto">
          <a:xfrm>
            <a:off x="396875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8" name="Rectangle 243"/>
          <p:cNvSpPr>
            <a:spLocks noChangeArrowheads="1"/>
          </p:cNvSpPr>
          <p:nvPr/>
        </p:nvSpPr>
        <p:spPr bwMode="auto">
          <a:xfrm>
            <a:off x="320675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299" name="Rectangle 244"/>
          <p:cNvSpPr>
            <a:spLocks noChangeArrowheads="1"/>
          </p:cNvSpPr>
          <p:nvPr/>
        </p:nvSpPr>
        <p:spPr bwMode="auto">
          <a:xfrm>
            <a:off x="346075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0" name="Rectangle 245"/>
          <p:cNvSpPr>
            <a:spLocks noChangeArrowheads="1"/>
          </p:cNvSpPr>
          <p:nvPr/>
        </p:nvSpPr>
        <p:spPr bwMode="auto">
          <a:xfrm>
            <a:off x="371475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1" name="Rectangle 246"/>
          <p:cNvSpPr>
            <a:spLocks noChangeArrowheads="1"/>
          </p:cNvSpPr>
          <p:nvPr/>
        </p:nvSpPr>
        <p:spPr bwMode="auto">
          <a:xfrm>
            <a:off x="396875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2" name="Rectangle 247"/>
          <p:cNvSpPr>
            <a:spLocks noChangeArrowheads="1"/>
          </p:cNvSpPr>
          <p:nvPr/>
        </p:nvSpPr>
        <p:spPr bwMode="auto">
          <a:xfrm>
            <a:off x="422275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3" name="Rectangle 248"/>
          <p:cNvSpPr>
            <a:spLocks noChangeArrowheads="1"/>
          </p:cNvSpPr>
          <p:nvPr/>
        </p:nvSpPr>
        <p:spPr bwMode="auto">
          <a:xfrm>
            <a:off x="447675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4" name="Rectangle 249"/>
          <p:cNvSpPr>
            <a:spLocks noChangeArrowheads="1"/>
          </p:cNvSpPr>
          <p:nvPr/>
        </p:nvSpPr>
        <p:spPr bwMode="auto">
          <a:xfrm>
            <a:off x="473075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5" name="Rectangle 250"/>
          <p:cNvSpPr>
            <a:spLocks noChangeArrowheads="1"/>
          </p:cNvSpPr>
          <p:nvPr/>
        </p:nvSpPr>
        <p:spPr bwMode="auto">
          <a:xfrm>
            <a:off x="4984750" y="4042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6" name="Rectangle 251"/>
          <p:cNvSpPr>
            <a:spLocks noChangeArrowheads="1"/>
          </p:cNvSpPr>
          <p:nvPr/>
        </p:nvSpPr>
        <p:spPr bwMode="auto">
          <a:xfrm>
            <a:off x="422275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7" name="Rectangle 252"/>
          <p:cNvSpPr>
            <a:spLocks noChangeArrowheads="1"/>
          </p:cNvSpPr>
          <p:nvPr/>
        </p:nvSpPr>
        <p:spPr bwMode="auto">
          <a:xfrm>
            <a:off x="447675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8" name="Rectangle 253"/>
          <p:cNvSpPr>
            <a:spLocks noChangeArrowheads="1"/>
          </p:cNvSpPr>
          <p:nvPr/>
        </p:nvSpPr>
        <p:spPr bwMode="auto">
          <a:xfrm>
            <a:off x="473075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09" name="Rectangle 254"/>
          <p:cNvSpPr>
            <a:spLocks noChangeArrowheads="1"/>
          </p:cNvSpPr>
          <p:nvPr/>
        </p:nvSpPr>
        <p:spPr bwMode="auto">
          <a:xfrm>
            <a:off x="4984750" y="4286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10" name="Text Box 255"/>
          <p:cNvSpPr txBox="1">
            <a:spLocks noChangeArrowheads="1"/>
          </p:cNvSpPr>
          <p:nvPr/>
        </p:nvSpPr>
        <p:spPr bwMode="auto">
          <a:xfrm>
            <a:off x="5020028" y="4482043"/>
            <a:ext cx="52898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8x8</a:t>
            </a:r>
          </a:p>
        </p:txBody>
      </p:sp>
      <p:sp>
        <p:nvSpPr>
          <p:cNvPr id="10311" name="Line 256"/>
          <p:cNvSpPr>
            <a:spLocks noChangeShapeType="1"/>
          </p:cNvSpPr>
          <p:nvPr/>
        </p:nvSpPr>
        <p:spPr bwMode="auto">
          <a:xfrm>
            <a:off x="3323167" y="2730500"/>
            <a:ext cx="22225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12" name="Line 257"/>
          <p:cNvSpPr>
            <a:spLocks noChangeShapeType="1"/>
          </p:cNvSpPr>
          <p:nvPr/>
        </p:nvSpPr>
        <p:spPr bwMode="auto">
          <a:xfrm flipH="1">
            <a:off x="3333750" y="2730500"/>
            <a:ext cx="211667" cy="2328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13" name="Line 258"/>
          <p:cNvSpPr>
            <a:spLocks noChangeShapeType="1"/>
          </p:cNvSpPr>
          <p:nvPr/>
        </p:nvSpPr>
        <p:spPr bwMode="auto">
          <a:xfrm>
            <a:off x="3333750" y="2963334"/>
            <a:ext cx="0" cy="2328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14" name="Line 259"/>
          <p:cNvSpPr>
            <a:spLocks noChangeShapeType="1"/>
          </p:cNvSpPr>
          <p:nvPr/>
        </p:nvSpPr>
        <p:spPr bwMode="auto">
          <a:xfrm flipV="1">
            <a:off x="3333751" y="2698750"/>
            <a:ext cx="518583" cy="4974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15" name="Line 261"/>
          <p:cNvSpPr>
            <a:spLocks noChangeShapeType="1"/>
          </p:cNvSpPr>
          <p:nvPr/>
        </p:nvSpPr>
        <p:spPr bwMode="auto">
          <a:xfrm>
            <a:off x="3831167" y="2709333"/>
            <a:ext cx="25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16" name="Line 262"/>
          <p:cNvSpPr>
            <a:spLocks noChangeShapeType="1"/>
          </p:cNvSpPr>
          <p:nvPr/>
        </p:nvSpPr>
        <p:spPr bwMode="auto">
          <a:xfrm flipH="1">
            <a:off x="3333750" y="2709334"/>
            <a:ext cx="740833" cy="73025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17" name="Line 263"/>
          <p:cNvSpPr>
            <a:spLocks noChangeShapeType="1"/>
          </p:cNvSpPr>
          <p:nvPr/>
        </p:nvSpPr>
        <p:spPr bwMode="auto">
          <a:xfrm>
            <a:off x="3354917" y="3947584"/>
            <a:ext cx="0" cy="2434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18" name="Line 265"/>
          <p:cNvSpPr>
            <a:spLocks noChangeShapeType="1"/>
          </p:cNvSpPr>
          <p:nvPr/>
        </p:nvSpPr>
        <p:spPr bwMode="auto">
          <a:xfrm flipH="1">
            <a:off x="3333750" y="2688167"/>
            <a:ext cx="1005417" cy="10054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19" name="Line 266"/>
          <p:cNvSpPr>
            <a:spLocks noChangeShapeType="1"/>
          </p:cNvSpPr>
          <p:nvPr/>
        </p:nvSpPr>
        <p:spPr bwMode="auto">
          <a:xfrm>
            <a:off x="4339167" y="2698750"/>
            <a:ext cx="25400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0" name="Line 267"/>
          <p:cNvSpPr>
            <a:spLocks noChangeShapeType="1"/>
          </p:cNvSpPr>
          <p:nvPr/>
        </p:nvSpPr>
        <p:spPr bwMode="auto">
          <a:xfrm flipH="1">
            <a:off x="3344334" y="2709334"/>
            <a:ext cx="1238250" cy="1238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1" name="Line 268"/>
          <p:cNvSpPr>
            <a:spLocks noChangeShapeType="1"/>
          </p:cNvSpPr>
          <p:nvPr/>
        </p:nvSpPr>
        <p:spPr bwMode="auto">
          <a:xfrm>
            <a:off x="3333750" y="3429000"/>
            <a:ext cx="0" cy="2751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2" name="Line 269"/>
          <p:cNvSpPr>
            <a:spLocks noChangeShapeType="1"/>
          </p:cNvSpPr>
          <p:nvPr/>
        </p:nvSpPr>
        <p:spPr bwMode="auto">
          <a:xfrm>
            <a:off x="4857750" y="2709333"/>
            <a:ext cx="25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3" name="Line 270"/>
          <p:cNvSpPr>
            <a:spLocks noChangeShapeType="1"/>
          </p:cNvSpPr>
          <p:nvPr/>
        </p:nvSpPr>
        <p:spPr bwMode="auto">
          <a:xfrm flipH="1">
            <a:off x="3344333" y="2688167"/>
            <a:ext cx="1524000" cy="1524000"/>
          </a:xfrm>
          <a:prstGeom prst="line">
            <a:avLst/>
          </a:prstGeom>
          <a:noFill/>
          <a:ln w="952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4" name="Line 271"/>
          <p:cNvSpPr>
            <a:spLocks noChangeShapeType="1"/>
          </p:cNvSpPr>
          <p:nvPr/>
        </p:nvSpPr>
        <p:spPr bwMode="auto">
          <a:xfrm flipH="1">
            <a:off x="3397250" y="2719917"/>
            <a:ext cx="1703917" cy="17039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5" name="Line 272"/>
          <p:cNvSpPr>
            <a:spLocks noChangeShapeType="1"/>
          </p:cNvSpPr>
          <p:nvPr/>
        </p:nvSpPr>
        <p:spPr bwMode="auto">
          <a:xfrm>
            <a:off x="3407834" y="4423833"/>
            <a:ext cx="222250"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6" name="Line 273"/>
          <p:cNvSpPr>
            <a:spLocks noChangeShapeType="1"/>
          </p:cNvSpPr>
          <p:nvPr/>
        </p:nvSpPr>
        <p:spPr bwMode="auto">
          <a:xfrm flipH="1">
            <a:off x="3608917" y="2942167"/>
            <a:ext cx="1492250" cy="1492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7" name="Line 274"/>
          <p:cNvSpPr>
            <a:spLocks noChangeShapeType="1"/>
          </p:cNvSpPr>
          <p:nvPr/>
        </p:nvSpPr>
        <p:spPr bwMode="auto">
          <a:xfrm>
            <a:off x="5111750" y="2952750"/>
            <a:ext cx="0" cy="23283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8" name="Line 275"/>
          <p:cNvSpPr>
            <a:spLocks noChangeShapeType="1"/>
          </p:cNvSpPr>
          <p:nvPr/>
        </p:nvSpPr>
        <p:spPr bwMode="auto">
          <a:xfrm flipH="1">
            <a:off x="3841750" y="3175000"/>
            <a:ext cx="1270000" cy="1270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29" name="Line 276"/>
          <p:cNvSpPr>
            <a:spLocks noChangeShapeType="1"/>
          </p:cNvSpPr>
          <p:nvPr/>
        </p:nvSpPr>
        <p:spPr bwMode="auto">
          <a:xfrm>
            <a:off x="3873500" y="4423833"/>
            <a:ext cx="25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0" name="Line 277"/>
          <p:cNvSpPr>
            <a:spLocks noChangeShapeType="1"/>
          </p:cNvSpPr>
          <p:nvPr/>
        </p:nvSpPr>
        <p:spPr bwMode="auto">
          <a:xfrm flipH="1">
            <a:off x="4085167" y="3460751"/>
            <a:ext cx="994833" cy="984250"/>
          </a:xfrm>
          <a:prstGeom prst="line">
            <a:avLst/>
          </a:prstGeom>
          <a:noFill/>
          <a:ln w="952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1" name="Line 278"/>
          <p:cNvSpPr>
            <a:spLocks noChangeShapeType="1"/>
          </p:cNvSpPr>
          <p:nvPr/>
        </p:nvSpPr>
        <p:spPr bwMode="auto">
          <a:xfrm flipH="1">
            <a:off x="4349750" y="3704167"/>
            <a:ext cx="740833" cy="730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2" name="Line 279"/>
          <p:cNvSpPr>
            <a:spLocks noChangeShapeType="1"/>
          </p:cNvSpPr>
          <p:nvPr/>
        </p:nvSpPr>
        <p:spPr bwMode="auto">
          <a:xfrm flipV="1">
            <a:off x="4603751" y="3937000"/>
            <a:ext cx="518583" cy="4974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3" name="Line 280"/>
          <p:cNvSpPr>
            <a:spLocks noChangeShapeType="1"/>
          </p:cNvSpPr>
          <p:nvPr/>
        </p:nvSpPr>
        <p:spPr bwMode="auto">
          <a:xfrm>
            <a:off x="5090583" y="3450167"/>
            <a:ext cx="0" cy="2434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4" name="Line 281"/>
          <p:cNvSpPr>
            <a:spLocks noChangeShapeType="1"/>
          </p:cNvSpPr>
          <p:nvPr/>
        </p:nvSpPr>
        <p:spPr bwMode="auto">
          <a:xfrm>
            <a:off x="4370917" y="4423833"/>
            <a:ext cx="232833"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5" name="Line 282"/>
          <p:cNvSpPr>
            <a:spLocks noChangeShapeType="1"/>
          </p:cNvSpPr>
          <p:nvPr/>
        </p:nvSpPr>
        <p:spPr bwMode="auto">
          <a:xfrm flipH="1">
            <a:off x="4889500" y="4191000"/>
            <a:ext cx="211667" cy="2328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6" name="Line 283"/>
          <p:cNvSpPr>
            <a:spLocks noChangeShapeType="1"/>
          </p:cNvSpPr>
          <p:nvPr/>
        </p:nvSpPr>
        <p:spPr bwMode="auto">
          <a:xfrm>
            <a:off x="5111750" y="3947584"/>
            <a:ext cx="0" cy="2434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7" name="Line 284"/>
          <p:cNvSpPr>
            <a:spLocks noChangeShapeType="1"/>
          </p:cNvSpPr>
          <p:nvPr/>
        </p:nvSpPr>
        <p:spPr bwMode="auto">
          <a:xfrm flipV="1">
            <a:off x="4889501" y="4413251"/>
            <a:ext cx="201083" cy="1058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38" name="Rectangle 285"/>
          <p:cNvSpPr>
            <a:spLocks noChangeArrowheads="1"/>
          </p:cNvSpPr>
          <p:nvPr/>
        </p:nvSpPr>
        <p:spPr bwMode="auto">
          <a:xfrm>
            <a:off x="1407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39" name="Rectangle 286"/>
          <p:cNvSpPr>
            <a:spLocks noChangeArrowheads="1"/>
          </p:cNvSpPr>
          <p:nvPr/>
        </p:nvSpPr>
        <p:spPr bwMode="auto">
          <a:xfrm>
            <a:off x="1661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0" name="Rectangle 287"/>
          <p:cNvSpPr>
            <a:spLocks noChangeArrowheads="1"/>
          </p:cNvSpPr>
          <p:nvPr/>
        </p:nvSpPr>
        <p:spPr bwMode="auto">
          <a:xfrm>
            <a:off x="1915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1" name="Rectangle 288"/>
          <p:cNvSpPr>
            <a:spLocks noChangeArrowheads="1"/>
          </p:cNvSpPr>
          <p:nvPr/>
        </p:nvSpPr>
        <p:spPr bwMode="auto">
          <a:xfrm>
            <a:off x="2169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2" name="Rectangle 289"/>
          <p:cNvSpPr>
            <a:spLocks noChangeArrowheads="1"/>
          </p:cNvSpPr>
          <p:nvPr/>
        </p:nvSpPr>
        <p:spPr bwMode="auto">
          <a:xfrm>
            <a:off x="2423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3" name="Rectangle 290"/>
          <p:cNvSpPr>
            <a:spLocks noChangeArrowheads="1"/>
          </p:cNvSpPr>
          <p:nvPr/>
        </p:nvSpPr>
        <p:spPr bwMode="auto">
          <a:xfrm>
            <a:off x="2677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4" name="Rectangle 291"/>
          <p:cNvSpPr>
            <a:spLocks noChangeArrowheads="1"/>
          </p:cNvSpPr>
          <p:nvPr/>
        </p:nvSpPr>
        <p:spPr bwMode="auto">
          <a:xfrm>
            <a:off x="2931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5" name="Rectangle 292"/>
          <p:cNvSpPr>
            <a:spLocks noChangeArrowheads="1"/>
          </p:cNvSpPr>
          <p:nvPr/>
        </p:nvSpPr>
        <p:spPr bwMode="auto">
          <a:xfrm>
            <a:off x="3185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6" name="Rectangle 309"/>
          <p:cNvSpPr>
            <a:spLocks noChangeArrowheads="1"/>
          </p:cNvSpPr>
          <p:nvPr/>
        </p:nvSpPr>
        <p:spPr bwMode="auto">
          <a:xfrm>
            <a:off x="3439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7" name="Rectangle 310"/>
          <p:cNvSpPr>
            <a:spLocks noChangeArrowheads="1"/>
          </p:cNvSpPr>
          <p:nvPr/>
        </p:nvSpPr>
        <p:spPr bwMode="auto">
          <a:xfrm>
            <a:off x="3693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8" name="Rectangle 311"/>
          <p:cNvSpPr>
            <a:spLocks noChangeArrowheads="1"/>
          </p:cNvSpPr>
          <p:nvPr/>
        </p:nvSpPr>
        <p:spPr bwMode="auto">
          <a:xfrm>
            <a:off x="3947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49" name="Rectangle 312"/>
          <p:cNvSpPr>
            <a:spLocks noChangeArrowheads="1"/>
          </p:cNvSpPr>
          <p:nvPr/>
        </p:nvSpPr>
        <p:spPr bwMode="auto">
          <a:xfrm>
            <a:off x="4201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0" name="Rectangle 313"/>
          <p:cNvSpPr>
            <a:spLocks noChangeArrowheads="1"/>
          </p:cNvSpPr>
          <p:nvPr/>
        </p:nvSpPr>
        <p:spPr bwMode="auto">
          <a:xfrm>
            <a:off x="4455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1" name="Rectangle 314"/>
          <p:cNvSpPr>
            <a:spLocks noChangeArrowheads="1"/>
          </p:cNvSpPr>
          <p:nvPr/>
        </p:nvSpPr>
        <p:spPr bwMode="auto">
          <a:xfrm>
            <a:off x="4709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2" name="Rectangle 315"/>
          <p:cNvSpPr>
            <a:spLocks noChangeArrowheads="1"/>
          </p:cNvSpPr>
          <p:nvPr/>
        </p:nvSpPr>
        <p:spPr bwMode="auto">
          <a:xfrm>
            <a:off x="4963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3" name="Rectangle 316"/>
          <p:cNvSpPr>
            <a:spLocks noChangeArrowheads="1"/>
          </p:cNvSpPr>
          <p:nvPr/>
        </p:nvSpPr>
        <p:spPr bwMode="auto">
          <a:xfrm>
            <a:off x="5217583"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4" name="Rectangle 317"/>
          <p:cNvSpPr>
            <a:spLocks noChangeArrowheads="1"/>
          </p:cNvSpPr>
          <p:nvPr/>
        </p:nvSpPr>
        <p:spPr bwMode="auto">
          <a:xfrm>
            <a:off x="5990167"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5" name="Rectangle 318"/>
          <p:cNvSpPr>
            <a:spLocks noChangeArrowheads="1"/>
          </p:cNvSpPr>
          <p:nvPr/>
        </p:nvSpPr>
        <p:spPr bwMode="auto">
          <a:xfrm>
            <a:off x="6244167"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6" name="Rectangle 319"/>
          <p:cNvSpPr>
            <a:spLocks noChangeArrowheads="1"/>
          </p:cNvSpPr>
          <p:nvPr/>
        </p:nvSpPr>
        <p:spPr bwMode="auto">
          <a:xfrm>
            <a:off x="6498167"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7" name="Rectangle 320"/>
          <p:cNvSpPr>
            <a:spLocks noChangeArrowheads="1"/>
          </p:cNvSpPr>
          <p:nvPr/>
        </p:nvSpPr>
        <p:spPr bwMode="auto">
          <a:xfrm>
            <a:off x="6752167"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8" name="Rectangle 321"/>
          <p:cNvSpPr>
            <a:spLocks noChangeArrowheads="1"/>
          </p:cNvSpPr>
          <p:nvPr/>
        </p:nvSpPr>
        <p:spPr bwMode="auto">
          <a:xfrm>
            <a:off x="7006167"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59" name="Rectangle 322"/>
          <p:cNvSpPr>
            <a:spLocks noChangeArrowheads="1"/>
          </p:cNvSpPr>
          <p:nvPr/>
        </p:nvSpPr>
        <p:spPr bwMode="auto">
          <a:xfrm>
            <a:off x="7260167"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60" name="Rectangle 323"/>
          <p:cNvSpPr>
            <a:spLocks noChangeArrowheads="1"/>
          </p:cNvSpPr>
          <p:nvPr/>
        </p:nvSpPr>
        <p:spPr bwMode="auto">
          <a:xfrm>
            <a:off x="7514167"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61" name="Rectangle 324"/>
          <p:cNvSpPr>
            <a:spLocks noChangeArrowheads="1"/>
          </p:cNvSpPr>
          <p:nvPr/>
        </p:nvSpPr>
        <p:spPr bwMode="auto">
          <a:xfrm>
            <a:off x="7768167" y="5683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0362" name="Text Box 325"/>
          <p:cNvSpPr txBox="1">
            <a:spLocks noChangeArrowheads="1"/>
          </p:cNvSpPr>
          <p:nvPr/>
        </p:nvSpPr>
        <p:spPr bwMode="auto">
          <a:xfrm>
            <a:off x="5475112" y="5603876"/>
            <a:ext cx="445633"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 . .</a:t>
            </a:r>
          </a:p>
        </p:txBody>
      </p:sp>
      <p:sp>
        <p:nvSpPr>
          <p:cNvPr id="10363" name="Line 326"/>
          <p:cNvSpPr>
            <a:spLocks noChangeShapeType="1"/>
          </p:cNvSpPr>
          <p:nvPr/>
        </p:nvSpPr>
        <p:spPr bwMode="auto">
          <a:xfrm>
            <a:off x="4212167" y="4783667"/>
            <a:ext cx="0" cy="62441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0364" name="Text Box 327"/>
          <p:cNvSpPr txBox="1">
            <a:spLocks noChangeArrowheads="1"/>
          </p:cNvSpPr>
          <p:nvPr/>
        </p:nvSpPr>
        <p:spPr bwMode="auto">
          <a:xfrm>
            <a:off x="7581194" y="5974293"/>
            <a:ext cx="60913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1x64</a:t>
            </a:r>
          </a:p>
        </p:txBody>
      </p:sp>
    </p:spTree>
    <p:extLst>
      <p:ext uri="{BB962C8B-B14F-4D97-AF65-F5344CB8AC3E}">
        <p14:creationId xmlns:p14="http://schemas.microsoft.com/office/powerpoint/2010/main" val="16535078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8B0B8960-54AE-4212-8914-2FC3D301FC3E}" type="slidenum">
              <a:rPr lang="en-US" altLang="en-US"/>
              <a:pPr/>
              <a:t>74</a:t>
            </a:fld>
            <a:endParaRPr lang="en-US" altLang="en-US"/>
          </a:p>
        </p:txBody>
      </p:sp>
      <p:sp>
        <p:nvSpPr>
          <p:cNvPr id="11267" name="Rectangle 2"/>
          <p:cNvSpPr>
            <a:spLocks noGrp="1" noChangeArrowheads="1"/>
          </p:cNvSpPr>
          <p:nvPr>
            <p:ph type="title"/>
          </p:nvPr>
        </p:nvSpPr>
        <p:spPr>
          <a:xfrm>
            <a:off x="592667" y="254001"/>
            <a:ext cx="8636000" cy="709083"/>
          </a:xfrm>
        </p:spPr>
        <p:txBody>
          <a:bodyPr/>
          <a:lstStyle/>
          <a:p>
            <a:r>
              <a:rPr lang="en-US" altLang="en-US" sz="3600"/>
              <a:t>DPCM on DC Components</a:t>
            </a:r>
          </a:p>
        </p:txBody>
      </p:sp>
      <p:sp>
        <p:nvSpPr>
          <p:cNvPr id="11268" name="Rectangle 3"/>
          <p:cNvSpPr>
            <a:spLocks noGrp="1" noChangeArrowheads="1"/>
          </p:cNvSpPr>
          <p:nvPr>
            <p:ph type="body" idx="1"/>
          </p:nvPr>
        </p:nvSpPr>
        <p:spPr>
          <a:xfrm>
            <a:off x="592667" y="1100667"/>
            <a:ext cx="8847667" cy="2116667"/>
          </a:xfrm>
        </p:spPr>
        <p:txBody>
          <a:bodyPr/>
          <a:lstStyle/>
          <a:p>
            <a:r>
              <a:rPr lang="en-US" altLang="en-US" sz="2200"/>
              <a:t>The DC component value in each 8x8 block is large and varies across blocks, but is often close to that in the previous block.</a:t>
            </a:r>
          </a:p>
          <a:p>
            <a:r>
              <a:rPr lang="en-US" altLang="en-US" sz="2200"/>
              <a:t>Differential Pulse Code Modulation (DPCM): Encode the difference between the current and previous 8x8 block. Remember, smaller number -&gt; fewer bits</a:t>
            </a:r>
          </a:p>
        </p:txBody>
      </p:sp>
      <p:sp>
        <p:nvSpPr>
          <p:cNvPr id="11269" name="Rectangle 4"/>
          <p:cNvSpPr>
            <a:spLocks noChangeArrowheads="1"/>
          </p:cNvSpPr>
          <p:nvPr/>
        </p:nvSpPr>
        <p:spPr bwMode="auto">
          <a:xfrm>
            <a:off x="592667" y="1047751"/>
            <a:ext cx="8583083"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nSpc>
                <a:spcPct val="90000"/>
              </a:lnSpc>
              <a:buSzPct val="75000"/>
              <a:buFont typeface="ZapfDingbats" pitchFamily="82" charset="0"/>
              <a:buNone/>
            </a:pPr>
            <a:endParaRPr lang="en-US" altLang="en-US" sz="2000"/>
          </a:p>
          <a:p>
            <a:pPr>
              <a:lnSpc>
                <a:spcPct val="90000"/>
              </a:lnSpc>
              <a:buSzPct val="75000"/>
              <a:buFont typeface="ZapfDingbats" pitchFamily="82" charset="0"/>
              <a:buNone/>
            </a:pPr>
            <a:endParaRPr lang="en-US" altLang="en-US" sz="2000"/>
          </a:p>
          <a:p>
            <a:endParaRPr lang="en-US" altLang="en-US" sz="2200"/>
          </a:p>
        </p:txBody>
      </p:sp>
      <p:sp>
        <p:nvSpPr>
          <p:cNvPr id="11270" name="Rectangle 188"/>
          <p:cNvSpPr>
            <a:spLocks noChangeArrowheads="1"/>
          </p:cNvSpPr>
          <p:nvPr/>
        </p:nvSpPr>
        <p:spPr bwMode="auto">
          <a:xfrm>
            <a:off x="1100667" y="334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1" name="Rectangle 189"/>
          <p:cNvSpPr>
            <a:spLocks noChangeArrowheads="1"/>
          </p:cNvSpPr>
          <p:nvPr/>
        </p:nvSpPr>
        <p:spPr bwMode="auto">
          <a:xfrm>
            <a:off x="1354667" y="334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2" name="Rectangle 190"/>
          <p:cNvSpPr>
            <a:spLocks noChangeArrowheads="1"/>
          </p:cNvSpPr>
          <p:nvPr/>
        </p:nvSpPr>
        <p:spPr bwMode="auto">
          <a:xfrm>
            <a:off x="1608667" y="334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3" name="Rectangle 191"/>
          <p:cNvSpPr>
            <a:spLocks noChangeArrowheads="1"/>
          </p:cNvSpPr>
          <p:nvPr/>
        </p:nvSpPr>
        <p:spPr bwMode="auto">
          <a:xfrm>
            <a:off x="1862667" y="334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4" name="Rectangle 192"/>
          <p:cNvSpPr>
            <a:spLocks noChangeArrowheads="1"/>
          </p:cNvSpPr>
          <p:nvPr/>
        </p:nvSpPr>
        <p:spPr bwMode="auto">
          <a:xfrm>
            <a:off x="2116667" y="334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5" name="Rectangle 193"/>
          <p:cNvSpPr>
            <a:spLocks noChangeArrowheads="1"/>
          </p:cNvSpPr>
          <p:nvPr/>
        </p:nvSpPr>
        <p:spPr bwMode="auto">
          <a:xfrm>
            <a:off x="2825750" y="334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6" name="Rectangle 194"/>
          <p:cNvSpPr>
            <a:spLocks noChangeArrowheads="1"/>
          </p:cNvSpPr>
          <p:nvPr/>
        </p:nvSpPr>
        <p:spPr bwMode="auto">
          <a:xfrm>
            <a:off x="3079750" y="33443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7" name="Rectangle 239"/>
          <p:cNvSpPr>
            <a:spLocks noChangeArrowheads="1"/>
          </p:cNvSpPr>
          <p:nvPr/>
        </p:nvSpPr>
        <p:spPr bwMode="auto">
          <a:xfrm>
            <a:off x="1333500" y="3937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8" name="Rectangle 240"/>
          <p:cNvSpPr>
            <a:spLocks noChangeArrowheads="1"/>
          </p:cNvSpPr>
          <p:nvPr/>
        </p:nvSpPr>
        <p:spPr bwMode="auto">
          <a:xfrm>
            <a:off x="1587500" y="3937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79" name="Rectangle 241"/>
          <p:cNvSpPr>
            <a:spLocks noChangeArrowheads="1"/>
          </p:cNvSpPr>
          <p:nvPr/>
        </p:nvSpPr>
        <p:spPr bwMode="auto">
          <a:xfrm>
            <a:off x="1841500" y="3937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0" name="Rectangle 242"/>
          <p:cNvSpPr>
            <a:spLocks noChangeArrowheads="1"/>
          </p:cNvSpPr>
          <p:nvPr/>
        </p:nvSpPr>
        <p:spPr bwMode="auto">
          <a:xfrm>
            <a:off x="2095500" y="3937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1" name="Rectangle 243"/>
          <p:cNvSpPr>
            <a:spLocks noChangeArrowheads="1"/>
          </p:cNvSpPr>
          <p:nvPr/>
        </p:nvSpPr>
        <p:spPr bwMode="auto">
          <a:xfrm>
            <a:off x="2804583" y="3937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2" name="Rectangle 244"/>
          <p:cNvSpPr>
            <a:spLocks noChangeArrowheads="1"/>
          </p:cNvSpPr>
          <p:nvPr/>
        </p:nvSpPr>
        <p:spPr bwMode="auto">
          <a:xfrm>
            <a:off x="3058583" y="3937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3" name="Rectangle 264"/>
          <p:cNvSpPr>
            <a:spLocks noChangeArrowheads="1"/>
          </p:cNvSpPr>
          <p:nvPr/>
        </p:nvSpPr>
        <p:spPr bwMode="auto">
          <a:xfrm>
            <a:off x="1333500" y="455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4" name="Rectangle 265"/>
          <p:cNvSpPr>
            <a:spLocks noChangeArrowheads="1"/>
          </p:cNvSpPr>
          <p:nvPr/>
        </p:nvSpPr>
        <p:spPr bwMode="auto">
          <a:xfrm>
            <a:off x="1587500" y="455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5" name="Rectangle 266"/>
          <p:cNvSpPr>
            <a:spLocks noChangeArrowheads="1"/>
          </p:cNvSpPr>
          <p:nvPr/>
        </p:nvSpPr>
        <p:spPr bwMode="auto">
          <a:xfrm>
            <a:off x="1841500" y="455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6" name="Rectangle 267"/>
          <p:cNvSpPr>
            <a:spLocks noChangeArrowheads="1"/>
          </p:cNvSpPr>
          <p:nvPr/>
        </p:nvSpPr>
        <p:spPr bwMode="auto">
          <a:xfrm>
            <a:off x="2095500" y="455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7" name="Rectangle 268"/>
          <p:cNvSpPr>
            <a:spLocks noChangeArrowheads="1"/>
          </p:cNvSpPr>
          <p:nvPr/>
        </p:nvSpPr>
        <p:spPr bwMode="auto">
          <a:xfrm>
            <a:off x="2804583" y="455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8" name="Rectangle 269"/>
          <p:cNvSpPr>
            <a:spLocks noChangeArrowheads="1"/>
          </p:cNvSpPr>
          <p:nvPr/>
        </p:nvSpPr>
        <p:spPr bwMode="auto">
          <a:xfrm>
            <a:off x="3058583" y="455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89" name="Rectangle 289"/>
          <p:cNvSpPr>
            <a:spLocks noChangeArrowheads="1"/>
          </p:cNvSpPr>
          <p:nvPr/>
        </p:nvSpPr>
        <p:spPr bwMode="auto">
          <a:xfrm>
            <a:off x="1312333" y="582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90" name="Rectangle 290"/>
          <p:cNvSpPr>
            <a:spLocks noChangeArrowheads="1"/>
          </p:cNvSpPr>
          <p:nvPr/>
        </p:nvSpPr>
        <p:spPr bwMode="auto">
          <a:xfrm>
            <a:off x="1566333" y="582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91" name="Rectangle 291"/>
          <p:cNvSpPr>
            <a:spLocks noChangeArrowheads="1"/>
          </p:cNvSpPr>
          <p:nvPr/>
        </p:nvSpPr>
        <p:spPr bwMode="auto">
          <a:xfrm>
            <a:off x="1820333" y="582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92" name="Rectangle 292"/>
          <p:cNvSpPr>
            <a:spLocks noChangeArrowheads="1"/>
          </p:cNvSpPr>
          <p:nvPr/>
        </p:nvSpPr>
        <p:spPr bwMode="auto">
          <a:xfrm>
            <a:off x="2074333" y="582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93" name="Rectangle 293"/>
          <p:cNvSpPr>
            <a:spLocks noChangeArrowheads="1"/>
          </p:cNvSpPr>
          <p:nvPr/>
        </p:nvSpPr>
        <p:spPr bwMode="auto">
          <a:xfrm>
            <a:off x="2783417" y="582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94" name="Rectangle 294"/>
          <p:cNvSpPr>
            <a:spLocks noChangeArrowheads="1"/>
          </p:cNvSpPr>
          <p:nvPr/>
        </p:nvSpPr>
        <p:spPr bwMode="auto">
          <a:xfrm>
            <a:off x="3037417" y="5820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295" name="Rectangle 315"/>
          <p:cNvSpPr>
            <a:spLocks noChangeArrowheads="1"/>
          </p:cNvSpPr>
          <p:nvPr/>
        </p:nvSpPr>
        <p:spPr bwMode="auto">
          <a:xfrm>
            <a:off x="1100667" y="3344334"/>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45</a:t>
            </a:r>
          </a:p>
        </p:txBody>
      </p:sp>
      <p:sp>
        <p:nvSpPr>
          <p:cNvPr id="11296" name="Rectangle 316"/>
          <p:cNvSpPr>
            <a:spLocks noChangeArrowheads="1"/>
          </p:cNvSpPr>
          <p:nvPr/>
        </p:nvSpPr>
        <p:spPr bwMode="auto">
          <a:xfrm>
            <a:off x="1079500" y="393700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54</a:t>
            </a:r>
          </a:p>
        </p:txBody>
      </p:sp>
      <p:sp>
        <p:nvSpPr>
          <p:cNvPr id="11297" name="Rectangle 317"/>
          <p:cNvSpPr>
            <a:spLocks noChangeArrowheads="1"/>
          </p:cNvSpPr>
          <p:nvPr/>
        </p:nvSpPr>
        <p:spPr bwMode="auto">
          <a:xfrm>
            <a:off x="1079500" y="4550834"/>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48</a:t>
            </a:r>
          </a:p>
        </p:txBody>
      </p:sp>
      <p:sp>
        <p:nvSpPr>
          <p:cNvPr id="11298" name="Rectangle 318"/>
          <p:cNvSpPr>
            <a:spLocks noChangeArrowheads="1"/>
          </p:cNvSpPr>
          <p:nvPr/>
        </p:nvSpPr>
        <p:spPr bwMode="auto">
          <a:xfrm>
            <a:off x="1058333" y="5820834"/>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32</a:t>
            </a:r>
          </a:p>
        </p:txBody>
      </p:sp>
      <p:sp>
        <p:nvSpPr>
          <p:cNvPr id="11299" name="Rectangle 319"/>
          <p:cNvSpPr>
            <a:spLocks noChangeArrowheads="1"/>
          </p:cNvSpPr>
          <p:nvPr/>
        </p:nvSpPr>
        <p:spPr bwMode="auto">
          <a:xfrm>
            <a:off x="5217583" y="3376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0" name="Rectangle 320"/>
          <p:cNvSpPr>
            <a:spLocks noChangeArrowheads="1"/>
          </p:cNvSpPr>
          <p:nvPr/>
        </p:nvSpPr>
        <p:spPr bwMode="auto">
          <a:xfrm>
            <a:off x="5471583" y="3376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1" name="Rectangle 321"/>
          <p:cNvSpPr>
            <a:spLocks noChangeArrowheads="1"/>
          </p:cNvSpPr>
          <p:nvPr/>
        </p:nvSpPr>
        <p:spPr bwMode="auto">
          <a:xfrm>
            <a:off x="5725583" y="3376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2" name="Rectangle 322"/>
          <p:cNvSpPr>
            <a:spLocks noChangeArrowheads="1"/>
          </p:cNvSpPr>
          <p:nvPr/>
        </p:nvSpPr>
        <p:spPr bwMode="auto">
          <a:xfrm>
            <a:off x="5979583" y="3376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3" name="Rectangle 323"/>
          <p:cNvSpPr>
            <a:spLocks noChangeArrowheads="1"/>
          </p:cNvSpPr>
          <p:nvPr/>
        </p:nvSpPr>
        <p:spPr bwMode="auto">
          <a:xfrm>
            <a:off x="6233583" y="3376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4" name="Rectangle 324"/>
          <p:cNvSpPr>
            <a:spLocks noChangeArrowheads="1"/>
          </p:cNvSpPr>
          <p:nvPr/>
        </p:nvSpPr>
        <p:spPr bwMode="auto">
          <a:xfrm>
            <a:off x="6942667" y="3376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5" name="Rectangle 325"/>
          <p:cNvSpPr>
            <a:spLocks noChangeArrowheads="1"/>
          </p:cNvSpPr>
          <p:nvPr/>
        </p:nvSpPr>
        <p:spPr bwMode="auto">
          <a:xfrm>
            <a:off x="7196667" y="3376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6" name="Rectangle 326"/>
          <p:cNvSpPr>
            <a:spLocks noChangeArrowheads="1"/>
          </p:cNvSpPr>
          <p:nvPr/>
        </p:nvSpPr>
        <p:spPr bwMode="auto">
          <a:xfrm>
            <a:off x="54504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7" name="Rectangle 327"/>
          <p:cNvSpPr>
            <a:spLocks noChangeArrowheads="1"/>
          </p:cNvSpPr>
          <p:nvPr/>
        </p:nvSpPr>
        <p:spPr bwMode="auto">
          <a:xfrm>
            <a:off x="57044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8" name="Rectangle 328"/>
          <p:cNvSpPr>
            <a:spLocks noChangeArrowheads="1"/>
          </p:cNvSpPr>
          <p:nvPr/>
        </p:nvSpPr>
        <p:spPr bwMode="auto">
          <a:xfrm>
            <a:off x="59584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09" name="Rectangle 329"/>
          <p:cNvSpPr>
            <a:spLocks noChangeArrowheads="1"/>
          </p:cNvSpPr>
          <p:nvPr/>
        </p:nvSpPr>
        <p:spPr bwMode="auto">
          <a:xfrm>
            <a:off x="6212417"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0" name="Rectangle 330"/>
          <p:cNvSpPr>
            <a:spLocks noChangeArrowheads="1"/>
          </p:cNvSpPr>
          <p:nvPr/>
        </p:nvSpPr>
        <p:spPr bwMode="auto">
          <a:xfrm>
            <a:off x="6921500"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1" name="Rectangle 331"/>
          <p:cNvSpPr>
            <a:spLocks noChangeArrowheads="1"/>
          </p:cNvSpPr>
          <p:nvPr/>
        </p:nvSpPr>
        <p:spPr bwMode="auto">
          <a:xfrm>
            <a:off x="7175500" y="3968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2" name="Rectangle 332"/>
          <p:cNvSpPr>
            <a:spLocks noChangeArrowheads="1"/>
          </p:cNvSpPr>
          <p:nvPr/>
        </p:nvSpPr>
        <p:spPr bwMode="auto">
          <a:xfrm>
            <a:off x="5450417" y="458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3" name="Rectangle 333"/>
          <p:cNvSpPr>
            <a:spLocks noChangeArrowheads="1"/>
          </p:cNvSpPr>
          <p:nvPr/>
        </p:nvSpPr>
        <p:spPr bwMode="auto">
          <a:xfrm>
            <a:off x="5704417" y="458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4" name="Rectangle 334"/>
          <p:cNvSpPr>
            <a:spLocks noChangeArrowheads="1"/>
          </p:cNvSpPr>
          <p:nvPr/>
        </p:nvSpPr>
        <p:spPr bwMode="auto">
          <a:xfrm>
            <a:off x="5958417" y="458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5" name="Rectangle 335"/>
          <p:cNvSpPr>
            <a:spLocks noChangeArrowheads="1"/>
          </p:cNvSpPr>
          <p:nvPr/>
        </p:nvSpPr>
        <p:spPr bwMode="auto">
          <a:xfrm>
            <a:off x="6212417" y="458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6" name="Rectangle 336"/>
          <p:cNvSpPr>
            <a:spLocks noChangeArrowheads="1"/>
          </p:cNvSpPr>
          <p:nvPr/>
        </p:nvSpPr>
        <p:spPr bwMode="auto">
          <a:xfrm>
            <a:off x="6921500" y="458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7" name="Rectangle 337"/>
          <p:cNvSpPr>
            <a:spLocks noChangeArrowheads="1"/>
          </p:cNvSpPr>
          <p:nvPr/>
        </p:nvSpPr>
        <p:spPr bwMode="auto">
          <a:xfrm>
            <a:off x="7175500" y="458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8" name="Rectangle 338"/>
          <p:cNvSpPr>
            <a:spLocks noChangeArrowheads="1"/>
          </p:cNvSpPr>
          <p:nvPr/>
        </p:nvSpPr>
        <p:spPr bwMode="auto">
          <a:xfrm>
            <a:off x="5429250" y="585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19" name="Rectangle 339"/>
          <p:cNvSpPr>
            <a:spLocks noChangeArrowheads="1"/>
          </p:cNvSpPr>
          <p:nvPr/>
        </p:nvSpPr>
        <p:spPr bwMode="auto">
          <a:xfrm>
            <a:off x="5683250" y="585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20" name="Rectangle 340"/>
          <p:cNvSpPr>
            <a:spLocks noChangeArrowheads="1"/>
          </p:cNvSpPr>
          <p:nvPr/>
        </p:nvSpPr>
        <p:spPr bwMode="auto">
          <a:xfrm>
            <a:off x="5937250" y="585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21" name="Rectangle 341"/>
          <p:cNvSpPr>
            <a:spLocks noChangeArrowheads="1"/>
          </p:cNvSpPr>
          <p:nvPr/>
        </p:nvSpPr>
        <p:spPr bwMode="auto">
          <a:xfrm>
            <a:off x="6191250" y="585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22" name="Rectangle 342"/>
          <p:cNvSpPr>
            <a:spLocks noChangeArrowheads="1"/>
          </p:cNvSpPr>
          <p:nvPr/>
        </p:nvSpPr>
        <p:spPr bwMode="auto">
          <a:xfrm>
            <a:off x="6900333" y="585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23" name="Rectangle 343"/>
          <p:cNvSpPr>
            <a:spLocks noChangeArrowheads="1"/>
          </p:cNvSpPr>
          <p:nvPr/>
        </p:nvSpPr>
        <p:spPr bwMode="auto">
          <a:xfrm>
            <a:off x="7154333" y="5852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24" name="Rectangle 344"/>
          <p:cNvSpPr>
            <a:spLocks noChangeArrowheads="1"/>
          </p:cNvSpPr>
          <p:nvPr/>
        </p:nvSpPr>
        <p:spPr bwMode="auto">
          <a:xfrm>
            <a:off x="5217583" y="3376084"/>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45</a:t>
            </a:r>
          </a:p>
        </p:txBody>
      </p:sp>
      <p:sp>
        <p:nvSpPr>
          <p:cNvPr id="11325" name="Rectangle 345"/>
          <p:cNvSpPr>
            <a:spLocks noChangeArrowheads="1"/>
          </p:cNvSpPr>
          <p:nvPr/>
        </p:nvSpPr>
        <p:spPr bwMode="auto">
          <a:xfrm>
            <a:off x="5196417" y="3968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9</a:t>
            </a:r>
          </a:p>
        </p:txBody>
      </p:sp>
      <p:sp>
        <p:nvSpPr>
          <p:cNvPr id="11326" name="Rectangle 346"/>
          <p:cNvSpPr>
            <a:spLocks noChangeArrowheads="1"/>
          </p:cNvSpPr>
          <p:nvPr/>
        </p:nvSpPr>
        <p:spPr bwMode="auto">
          <a:xfrm>
            <a:off x="5196417" y="4582584"/>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-6</a:t>
            </a:r>
          </a:p>
        </p:txBody>
      </p:sp>
      <p:sp>
        <p:nvSpPr>
          <p:cNvPr id="11327" name="Rectangle 347"/>
          <p:cNvSpPr>
            <a:spLocks noChangeArrowheads="1"/>
          </p:cNvSpPr>
          <p:nvPr/>
        </p:nvSpPr>
        <p:spPr bwMode="auto">
          <a:xfrm>
            <a:off x="5175250" y="5852584"/>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12</a:t>
            </a:r>
          </a:p>
        </p:txBody>
      </p:sp>
      <p:sp>
        <p:nvSpPr>
          <p:cNvPr id="11328" name="Rectangle 377"/>
          <p:cNvSpPr>
            <a:spLocks noChangeArrowheads="1"/>
          </p:cNvSpPr>
          <p:nvPr/>
        </p:nvSpPr>
        <p:spPr bwMode="auto">
          <a:xfrm>
            <a:off x="1312333" y="633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29" name="Rectangle 378"/>
          <p:cNvSpPr>
            <a:spLocks noChangeArrowheads="1"/>
          </p:cNvSpPr>
          <p:nvPr/>
        </p:nvSpPr>
        <p:spPr bwMode="auto">
          <a:xfrm>
            <a:off x="1566333" y="633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0" name="Rectangle 379"/>
          <p:cNvSpPr>
            <a:spLocks noChangeArrowheads="1"/>
          </p:cNvSpPr>
          <p:nvPr/>
        </p:nvSpPr>
        <p:spPr bwMode="auto">
          <a:xfrm>
            <a:off x="1820333" y="633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1" name="Rectangle 380"/>
          <p:cNvSpPr>
            <a:spLocks noChangeArrowheads="1"/>
          </p:cNvSpPr>
          <p:nvPr/>
        </p:nvSpPr>
        <p:spPr bwMode="auto">
          <a:xfrm>
            <a:off x="2074333" y="633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2" name="Rectangle 381"/>
          <p:cNvSpPr>
            <a:spLocks noChangeArrowheads="1"/>
          </p:cNvSpPr>
          <p:nvPr/>
        </p:nvSpPr>
        <p:spPr bwMode="auto">
          <a:xfrm>
            <a:off x="2783417" y="633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3" name="Rectangle 382"/>
          <p:cNvSpPr>
            <a:spLocks noChangeArrowheads="1"/>
          </p:cNvSpPr>
          <p:nvPr/>
        </p:nvSpPr>
        <p:spPr bwMode="auto">
          <a:xfrm>
            <a:off x="3037417" y="6339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4" name="Rectangle 383"/>
          <p:cNvSpPr>
            <a:spLocks noChangeArrowheads="1"/>
          </p:cNvSpPr>
          <p:nvPr/>
        </p:nvSpPr>
        <p:spPr bwMode="auto">
          <a:xfrm>
            <a:off x="1058333" y="6339417"/>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36</a:t>
            </a:r>
          </a:p>
        </p:txBody>
      </p:sp>
      <p:sp>
        <p:nvSpPr>
          <p:cNvPr id="11335" name="Rectangle 384"/>
          <p:cNvSpPr>
            <a:spLocks noChangeArrowheads="1"/>
          </p:cNvSpPr>
          <p:nvPr/>
        </p:nvSpPr>
        <p:spPr bwMode="auto">
          <a:xfrm>
            <a:off x="5429250"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6" name="Rectangle 385"/>
          <p:cNvSpPr>
            <a:spLocks noChangeArrowheads="1"/>
          </p:cNvSpPr>
          <p:nvPr/>
        </p:nvSpPr>
        <p:spPr bwMode="auto">
          <a:xfrm>
            <a:off x="5683250"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7" name="Rectangle 386"/>
          <p:cNvSpPr>
            <a:spLocks noChangeArrowheads="1"/>
          </p:cNvSpPr>
          <p:nvPr/>
        </p:nvSpPr>
        <p:spPr bwMode="auto">
          <a:xfrm>
            <a:off x="5937250"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8" name="Rectangle 387"/>
          <p:cNvSpPr>
            <a:spLocks noChangeArrowheads="1"/>
          </p:cNvSpPr>
          <p:nvPr/>
        </p:nvSpPr>
        <p:spPr bwMode="auto">
          <a:xfrm>
            <a:off x="6191250"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39" name="Rectangle 388"/>
          <p:cNvSpPr>
            <a:spLocks noChangeArrowheads="1"/>
          </p:cNvSpPr>
          <p:nvPr/>
        </p:nvSpPr>
        <p:spPr bwMode="auto">
          <a:xfrm>
            <a:off x="6900333"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40" name="Rectangle 389"/>
          <p:cNvSpPr>
            <a:spLocks noChangeArrowheads="1"/>
          </p:cNvSpPr>
          <p:nvPr/>
        </p:nvSpPr>
        <p:spPr bwMode="auto">
          <a:xfrm>
            <a:off x="7154333" y="63711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1341" name="Rectangle 390"/>
          <p:cNvSpPr>
            <a:spLocks noChangeArrowheads="1"/>
          </p:cNvSpPr>
          <p:nvPr/>
        </p:nvSpPr>
        <p:spPr bwMode="auto">
          <a:xfrm>
            <a:off x="5175250" y="6371167"/>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11342" name="Text Box 391"/>
          <p:cNvSpPr txBox="1">
            <a:spLocks noChangeArrowheads="1"/>
          </p:cNvSpPr>
          <p:nvPr/>
        </p:nvSpPr>
        <p:spPr bwMode="auto">
          <a:xfrm>
            <a:off x="2067278" y="4880681"/>
            <a:ext cx="250066" cy="74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t>.</a:t>
            </a:r>
          </a:p>
          <a:p>
            <a:r>
              <a:rPr lang="en-US" altLang="en-US"/>
              <a:t>.</a:t>
            </a:r>
          </a:p>
          <a:p>
            <a:r>
              <a:rPr lang="en-US" altLang="en-US"/>
              <a:t>.</a:t>
            </a:r>
          </a:p>
        </p:txBody>
      </p:sp>
      <p:sp>
        <p:nvSpPr>
          <p:cNvPr id="11343" name="Text Box 392"/>
          <p:cNvSpPr txBox="1">
            <a:spLocks noChangeArrowheads="1"/>
          </p:cNvSpPr>
          <p:nvPr/>
        </p:nvSpPr>
        <p:spPr bwMode="auto">
          <a:xfrm>
            <a:off x="6226528" y="4933598"/>
            <a:ext cx="250066" cy="74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t>.</a:t>
            </a:r>
          </a:p>
          <a:p>
            <a:r>
              <a:rPr lang="en-US" altLang="en-US"/>
              <a:t>.</a:t>
            </a:r>
          </a:p>
          <a:p>
            <a:r>
              <a:rPr lang="en-US" altLang="en-US"/>
              <a:t>.</a:t>
            </a:r>
          </a:p>
        </p:txBody>
      </p:sp>
      <p:sp>
        <p:nvSpPr>
          <p:cNvPr id="11344" name="Line 393"/>
          <p:cNvSpPr>
            <a:spLocks noChangeShapeType="1"/>
          </p:cNvSpPr>
          <p:nvPr/>
        </p:nvSpPr>
        <p:spPr bwMode="auto">
          <a:xfrm>
            <a:off x="3894667" y="4868333"/>
            <a:ext cx="941917"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1345" name="Text Box 394"/>
          <p:cNvSpPr txBox="1">
            <a:spLocks noChangeArrowheads="1"/>
          </p:cNvSpPr>
          <p:nvPr/>
        </p:nvSpPr>
        <p:spPr bwMode="auto">
          <a:xfrm>
            <a:off x="3199694" y="3582459"/>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46" name="Text Box 395"/>
          <p:cNvSpPr txBox="1">
            <a:spLocks noChangeArrowheads="1"/>
          </p:cNvSpPr>
          <p:nvPr/>
        </p:nvSpPr>
        <p:spPr bwMode="auto">
          <a:xfrm>
            <a:off x="3178528" y="4175126"/>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47" name="Text Box 396"/>
          <p:cNvSpPr txBox="1">
            <a:spLocks noChangeArrowheads="1"/>
          </p:cNvSpPr>
          <p:nvPr/>
        </p:nvSpPr>
        <p:spPr bwMode="auto">
          <a:xfrm>
            <a:off x="3189111" y="4788959"/>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48" name="Text Box 397"/>
          <p:cNvSpPr txBox="1">
            <a:spLocks noChangeArrowheads="1"/>
          </p:cNvSpPr>
          <p:nvPr/>
        </p:nvSpPr>
        <p:spPr bwMode="auto">
          <a:xfrm>
            <a:off x="3167944" y="6058959"/>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49" name="Text Box 398"/>
          <p:cNvSpPr txBox="1">
            <a:spLocks noChangeArrowheads="1"/>
          </p:cNvSpPr>
          <p:nvPr/>
        </p:nvSpPr>
        <p:spPr bwMode="auto">
          <a:xfrm>
            <a:off x="3167944" y="6588126"/>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50" name="Text Box 399"/>
          <p:cNvSpPr txBox="1">
            <a:spLocks noChangeArrowheads="1"/>
          </p:cNvSpPr>
          <p:nvPr/>
        </p:nvSpPr>
        <p:spPr bwMode="auto">
          <a:xfrm>
            <a:off x="7327194" y="3603626"/>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51" name="Text Box 400"/>
          <p:cNvSpPr txBox="1">
            <a:spLocks noChangeArrowheads="1"/>
          </p:cNvSpPr>
          <p:nvPr/>
        </p:nvSpPr>
        <p:spPr bwMode="auto">
          <a:xfrm>
            <a:off x="7306028" y="4196293"/>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52" name="Text Box 401"/>
          <p:cNvSpPr txBox="1">
            <a:spLocks noChangeArrowheads="1"/>
          </p:cNvSpPr>
          <p:nvPr/>
        </p:nvSpPr>
        <p:spPr bwMode="auto">
          <a:xfrm>
            <a:off x="7316611" y="4810126"/>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53" name="Text Box 402"/>
          <p:cNvSpPr txBox="1">
            <a:spLocks noChangeArrowheads="1"/>
          </p:cNvSpPr>
          <p:nvPr/>
        </p:nvSpPr>
        <p:spPr bwMode="auto">
          <a:xfrm>
            <a:off x="7295444" y="6080126"/>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
        <p:nvSpPr>
          <p:cNvPr id="11354" name="Text Box 403"/>
          <p:cNvSpPr txBox="1">
            <a:spLocks noChangeArrowheads="1"/>
          </p:cNvSpPr>
          <p:nvPr/>
        </p:nvSpPr>
        <p:spPr bwMode="auto">
          <a:xfrm>
            <a:off x="7295444" y="6609293"/>
            <a:ext cx="525783" cy="27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sz="1100">
                <a:latin typeface="Comic Sans MS" pitchFamily="66" charset="0"/>
              </a:rPr>
              <a:t>1x64</a:t>
            </a:r>
          </a:p>
        </p:txBody>
      </p:sp>
    </p:spTree>
    <p:extLst>
      <p:ext uri="{BB962C8B-B14F-4D97-AF65-F5344CB8AC3E}">
        <p14:creationId xmlns:p14="http://schemas.microsoft.com/office/powerpoint/2010/main" val="40531635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02AD588F-587F-42B6-A8D7-AEFC6197D4CF}" type="slidenum">
              <a:rPr lang="en-US" altLang="en-US"/>
              <a:pPr/>
              <a:t>75</a:t>
            </a:fld>
            <a:endParaRPr lang="en-US" altLang="en-US"/>
          </a:p>
        </p:txBody>
      </p:sp>
      <p:sp>
        <p:nvSpPr>
          <p:cNvPr id="12291" name="Rectangle 2"/>
          <p:cNvSpPr>
            <a:spLocks noGrp="1" noChangeArrowheads="1"/>
          </p:cNvSpPr>
          <p:nvPr>
            <p:ph type="title"/>
          </p:nvPr>
        </p:nvSpPr>
        <p:spPr>
          <a:xfrm>
            <a:off x="592667" y="254001"/>
            <a:ext cx="8636000" cy="709083"/>
          </a:xfrm>
        </p:spPr>
        <p:txBody>
          <a:bodyPr/>
          <a:lstStyle/>
          <a:p>
            <a:r>
              <a:rPr lang="en-US" altLang="en-US" sz="3600"/>
              <a:t>RLE on AC Components</a:t>
            </a:r>
          </a:p>
        </p:txBody>
      </p:sp>
      <p:sp>
        <p:nvSpPr>
          <p:cNvPr id="12292" name="Rectangle 3"/>
          <p:cNvSpPr>
            <a:spLocks noGrp="1" noChangeArrowheads="1"/>
          </p:cNvSpPr>
          <p:nvPr>
            <p:ph type="body" idx="1"/>
          </p:nvPr>
        </p:nvSpPr>
        <p:spPr>
          <a:xfrm>
            <a:off x="592667" y="1100667"/>
            <a:ext cx="8847667" cy="3354917"/>
          </a:xfrm>
        </p:spPr>
        <p:txBody>
          <a:bodyPr/>
          <a:lstStyle/>
          <a:p>
            <a:r>
              <a:rPr lang="en-US" altLang="en-US" sz="2200"/>
              <a:t>The 1x64 vectors have a lot of zeros in them, more so towards the end of the vector. </a:t>
            </a:r>
          </a:p>
          <a:p>
            <a:pPr lvl="1"/>
            <a:r>
              <a:rPr lang="en-US" altLang="en-US" sz="2000"/>
              <a:t>Higher up entries in the vector capture higher frequency (DCT) components which tend to be capture less of the content.</a:t>
            </a:r>
          </a:p>
          <a:p>
            <a:pPr lvl="1"/>
            <a:r>
              <a:rPr lang="en-US" altLang="en-US" sz="2000"/>
              <a:t>Could have been as a result of using a quantization table</a:t>
            </a:r>
          </a:p>
          <a:p>
            <a:r>
              <a:rPr lang="en-US" altLang="en-US" sz="2200"/>
              <a:t>Encode a series of 0s as a (</a:t>
            </a:r>
            <a:r>
              <a:rPr lang="en-US" altLang="en-US" sz="2200" i="1"/>
              <a:t>skip</a:t>
            </a:r>
            <a:r>
              <a:rPr lang="en-US" altLang="en-US" sz="2200"/>
              <a:t>,</a:t>
            </a:r>
            <a:r>
              <a:rPr lang="en-US" altLang="en-US" sz="2200" i="1"/>
              <a:t>value</a:t>
            </a:r>
            <a:r>
              <a:rPr lang="en-US" altLang="en-US" sz="2200"/>
              <a:t>) pair, where </a:t>
            </a:r>
            <a:r>
              <a:rPr lang="en-US" altLang="en-US" sz="2200" i="1"/>
              <a:t>skip</a:t>
            </a:r>
            <a:r>
              <a:rPr lang="en-US" altLang="en-US" sz="2200"/>
              <a:t> is the number of zeros and </a:t>
            </a:r>
            <a:r>
              <a:rPr lang="en-US" altLang="en-US" sz="2200" i="1"/>
              <a:t>value</a:t>
            </a:r>
            <a:r>
              <a:rPr lang="en-US" altLang="en-US" sz="2200"/>
              <a:t> is the next non-zero component. </a:t>
            </a:r>
          </a:p>
          <a:p>
            <a:pPr lvl="1"/>
            <a:r>
              <a:rPr lang="en-US" altLang="en-US" sz="2000"/>
              <a:t>Send (0,0) as end-of-block sentinel value.</a:t>
            </a:r>
          </a:p>
          <a:p>
            <a:endParaRPr lang="en-US" altLang="en-US" sz="2200"/>
          </a:p>
        </p:txBody>
      </p:sp>
      <p:sp>
        <p:nvSpPr>
          <p:cNvPr id="12293" name="Rectangle 4"/>
          <p:cNvSpPr>
            <a:spLocks noChangeArrowheads="1"/>
          </p:cNvSpPr>
          <p:nvPr/>
        </p:nvSpPr>
        <p:spPr bwMode="auto">
          <a:xfrm>
            <a:off x="592667" y="1047751"/>
            <a:ext cx="8583083"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nSpc>
                <a:spcPct val="90000"/>
              </a:lnSpc>
              <a:buSzPct val="75000"/>
              <a:buFont typeface="ZapfDingbats" pitchFamily="82" charset="0"/>
              <a:buNone/>
            </a:pPr>
            <a:endParaRPr lang="en-US" altLang="en-US" sz="2000"/>
          </a:p>
          <a:p>
            <a:pPr>
              <a:lnSpc>
                <a:spcPct val="90000"/>
              </a:lnSpc>
              <a:buSzPct val="75000"/>
              <a:buFont typeface="ZapfDingbats" pitchFamily="82" charset="0"/>
              <a:buNone/>
            </a:pPr>
            <a:endParaRPr lang="en-US" altLang="en-US" sz="2000"/>
          </a:p>
          <a:p>
            <a:endParaRPr lang="en-US" altLang="en-US" sz="2200"/>
          </a:p>
        </p:txBody>
      </p:sp>
      <p:sp>
        <p:nvSpPr>
          <p:cNvPr id="12294" name="Rectangle 90"/>
          <p:cNvSpPr>
            <a:spLocks noChangeArrowheads="1"/>
          </p:cNvSpPr>
          <p:nvPr/>
        </p:nvSpPr>
        <p:spPr bwMode="auto">
          <a:xfrm>
            <a:off x="1545167"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295" name="Rectangle 91"/>
          <p:cNvSpPr>
            <a:spLocks noChangeArrowheads="1"/>
          </p:cNvSpPr>
          <p:nvPr/>
        </p:nvSpPr>
        <p:spPr bwMode="auto">
          <a:xfrm>
            <a:off x="1799167"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296" name="Rectangle 92"/>
          <p:cNvSpPr>
            <a:spLocks noChangeArrowheads="1"/>
          </p:cNvSpPr>
          <p:nvPr/>
        </p:nvSpPr>
        <p:spPr bwMode="auto">
          <a:xfrm>
            <a:off x="2053167"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297" name="Rectangle 93"/>
          <p:cNvSpPr>
            <a:spLocks noChangeArrowheads="1"/>
          </p:cNvSpPr>
          <p:nvPr/>
        </p:nvSpPr>
        <p:spPr bwMode="auto">
          <a:xfrm>
            <a:off x="2307167"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298" name="Rectangle 97"/>
          <p:cNvSpPr>
            <a:spLocks noChangeArrowheads="1"/>
          </p:cNvSpPr>
          <p:nvPr/>
        </p:nvSpPr>
        <p:spPr bwMode="auto">
          <a:xfrm>
            <a:off x="2963333"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299" name="Rectangle 98"/>
          <p:cNvSpPr>
            <a:spLocks noChangeArrowheads="1"/>
          </p:cNvSpPr>
          <p:nvPr/>
        </p:nvSpPr>
        <p:spPr bwMode="auto">
          <a:xfrm>
            <a:off x="3217333"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300" name="Rectangle 99"/>
          <p:cNvSpPr>
            <a:spLocks noChangeArrowheads="1"/>
          </p:cNvSpPr>
          <p:nvPr/>
        </p:nvSpPr>
        <p:spPr bwMode="auto">
          <a:xfrm>
            <a:off x="3471333"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301" name="Rectangle 100"/>
          <p:cNvSpPr>
            <a:spLocks noChangeArrowheads="1"/>
          </p:cNvSpPr>
          <p:nvPr/>
        </p:nvSpPr>
        <p:spPr bwMode="auto">
          <a:xfrm>
            <a:off x="3725333"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302" name="Text Box 114"/>
          <p:cNvSpPr txBox="1">
            <a:spLocks noChangeArrowheads="1"/>
          </p:cNvSpPr>
          <p:nvPr/>
        </p:nvSpPr>
        <p:spPr bwMode="auto">
          <a:xfrm>
            <a:off x="2543528" y="5021793"/>
            <a:ext cx="445633"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 . .</a:t>
            </a:r>
          </a:p>
        </p:txBody>
      </p:sp>
      <p:sp>
        <p:nvSpPr>
          <p:cNvPr id="12303" name="Text Box 115"/>
          <p:cNvSpPr txBox="1">
            <a:spLocks noChangeArrowheads="1"/>
          </p:cNvSpPr>
          <p:nvPr/>
        </p:nvSpPr>
        <p:spPr bwMode="auto">
          <a:xfrm>
            <a:off x="8893528" y="5455710"/>
            <a:ext cx="609139"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1x64</a:t>
            </a:r>
          </a:p>
        </p:txBody>
      </p:sp>
      <p:sp>
        <p:nvSpPr>
          <p:cNvPr id="12304" name="Rectangle 116"/>
          <p:cNvSpPr>
            <a:spLocks noChangeArrowheads="1"/>
          </p:cNvSpPr>
          <p:nvPr/>
        </p:nvSpPr>
        <p:spPr bwMode="auto">
          <a:xfrm>
            <a:off x="3979333"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05" name="Rectangle 117"/>
          <p:cNvSpPr>
            <a:spLocks noChangeArrowheads="1"/>
          </p:cNvSpPr>
          <p:nvPr/>
        </p:nvSpPr>
        <p:spPr bwMode="auto">
          <a:xfrm>
            <a:off x="4222750"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06" name="Rectangle 118"/>
          <p:cNvSpPr>
            <a:spLocks noChangeArrowheads="1"/>
          </p:cNvSpPr>
          <p:nvPr/>
        </p:nvSpPr>
        <p:spPr bwMode="auto">
          <a:xfrm>
            <a:off x="4476750"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07" name="Rectangle 120"/>
          <p:cNvSpPr>
            <a:spLocks noChangeArrowheads="1"/>
          </p:cNvSpPr>
          <p:nvPr/>
        </p:nvSpPr>
        <p:spPr bwMode="auto">
          <a:xfrm>
            <a:off x="4730750"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08" name="Rectangle 122"/>
          <p:cNvSpPr>
            <a:spLocks noChangeArrowheads="1"/>
          </p:cNvSpPr>
          <p:nvPr/>
        </p:nvSpPr>
        <p:spPr bwMode="auto">
          <a:xfrm>
            <a:off x="4984750"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09" name="Rectangle 123"/>
          <p:cNvSpPr>
            <a:spLocks noChangeArrowheads="1"/>
          </p:cNvSpPr>
          <p:nvPr/>
        </p:nvSpPr>
        <p:spPr bwMode="auto">
          <a:xfrm>
            <a:off x="5228167"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12310" name="Rectangle 124"/>
          <p:cNvSpPr>
            <a:spLocks noChangeArrowheads="1"/>
          </p:cNvSpPr>
          <p:nvPr/>
        </p:nvSpPr>
        <p:spPr bwMode="auto">
          <a:xfrm>
            <a:off x="5482167"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12311" name="Rectangle 125"/>
          <p:cNvSpPr>
            <a:spLocks noChangeArrowheads="1"/>
          </p:cNvSpPr>
          <p:nvPr/>
        </p:nvSpPr>
        <p:spPr bwMode="auto">
          <a:xfrm>
            <a:off x="5736167"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12" name="Rectangle 126"/>
          <p:cNvSpPr>
            <a:spLocks noChangeArrowheads="1"/>
          </p:cNvSpPr>
          <p:nvPr/>
        </p:nvSpPr>
        <p:spPr bwMode="auto">
          <a:xfrm>
            <a:off x="5990167"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13" name="Rectangle 127"/>
          <p:cNvSpPr>
            <a:spLocks noChangeArrowheads="1"/>
          </p:cNvSpPr>
          <p:nvPr/>
        </p:nvSpPr>
        <p:spPr bwMode="auto">
          <a:xfrm>
            <a:off x="6233583"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14" name="Rectangle 128"/>
          <p:cNvSpPr>
            <a:spLocks noChangeArrowheads="1"/>
          </p:cNvSpPr>
          <p:nvPr/>
        </p:nvSpPr>
        <p:spPr bwMode="auto">
          <a:xfrm>
            <a:off x="6487583"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15" name="Rectangle 129"/>
          <p:cNvSpPr>
            <a:spLocks noChangeArrowheads="1"/>
          </p:cNvSpPr>
          <p:nvPr/>
        </p:nvSpPr>
        <p:spPr bwMode="auto">
          <a:xfrm>
            <a:off x="6741583"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16" name="Line 130"/>
          <p:cNvSpPr>
            <a:spLocks noChangeShapeType="1"/>
          </p:cNvSpPr>
          <p:nvPr/>
        </p:nvSpPr>
        <p:spPr bwMode="auto">
          <a:xfrm>
            <a:off x="3979333" y="5355167"/>
            <a:ext cx="402167" cy="41275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2317" name="Line 131"/>
          <p:cNvSpPr>
            <a:spLocks noChangeShapeType="1"/>
          </p:cNvSpPr>
          <p:nvPr/>
        </p:nvSpPr>
        <p:spPr bwMode="auto">
          <a:xfrm flipH="1">
            <a:off x="4783667" y="5344584"/>
            <a:ext cx="444500" cy="45508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2318" name="Rectangle 132"/>
          <p:cNvSpPr>
            <a:spLocks noChangeArrowheads="1"/>
          </p:cNvSpPr>
          <p:nvPr/>
        </p:nvSpPr>
        <p:spPr bwMode="auto">
          <a:xfrm>
            <a:off x="4370917" y="5789084"/>
            <a:ext cx="41275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5,1</a:t>
            </a:r>
          </a:p>
        </p:txBody>
      </p:sp>
      <p:sp>
        <p:nvSpPr>
          <p:cNvPr id="12319" name="Rectangle 133"/>
          <p:cNvSpPr>
            <a:spLocks noChangeArrowheads="1"/>
          </p:cNvSpPr>
          <p:nvPr/>
        </p:nvSpPr>
        <p:spPr bwMode="auto">
          <a:xfrm>
            <a:off x="6995583"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20" name="Rectangle 134"/>
          <p:cNvSpPr>
            <a:spLocks noChangeArrowheads="1"/>
          </p:cNvSpPr>
          <p:nvPr/>
        </p:nvSpPr>
        <p:spPr bwMode="auto">
          <a:xfrm>
            <a:off x="7249583"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21" name="Line 135"/>
          <p:cNvSpPr>
            <a:spLocks noChangeShapeType="1"/>
          </p:cNvSpPr>
          <p:nvPr/>
        </p:nvSpPr>
        <p:spPr bwMode="auto">
          <a:xfrm>
            <a:off x="5736167" y="5355167"/>
            <a:ext cx="613833" cy="41275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2322" name="Line 136"/>
          <p:cNvSpPr>
            <a:spLocks noChangeShapeType="1"/>
          </p:cNvSpPr>
          <p:nvPr/>
        </p:nvSpPr>
        <p:spPr bwMode="auto">
          <a:xfrm flipH="1">
            <a:off x="6762750" y="5365750"/>
            <a:ext cx="740833" cy="42333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p>
            <a:endParaRPr lang="en-IN"/>
          </a:p>
        </p:txBody>
      </p:sp>
      <p:sp>
        <p:nvSpPr>
          <p:cNvPr id="12323" name="Rectangle 137"/>
          <p:cNvSpPr>
            <a:spLocks noChangeArrowheads="1"/>
          </p:cNvSpPr>
          <p:nvPr/>
        </p:nvSpPr>
        <p:spPr bwMode="auto">
          <a:xfrm>
            <a:off x="6360584" y="5799667"/>
            <a:ext cx="41275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7,2</a:t>
            </a:r>
          </a:p>
        </p:txBody>
      </p:sp>
      <p:sp>
        <p:nvSpPr>
          <p:cNvPr id="12324" name="Rectangle 138"/>
          <p:cNvSpPr>
            <a:spLocks noChangeArrowheads="1"/>
          </p:cNvSpPr>
          <p:nvPr/>
        </p:nvSpPr>
        <p:spPr bwMode="auto">
          <a:xfrm>
            <a:off x="7503583"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2325" name="Rectangle 140"/>
          <p:cNvSpPr>
            <a:spLocks noChangeArrowheads="1"/>
          </p:cNvSpPr>
          <p:nvPr/>
        </p:nvSpPr>
        <p:spPr bwMode="auto">
          <a:xfrm>
            <a:off x="8445500"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326" name="Rectangle 141"/>
          <p:cNvSpPr>
            <a:spLocks noChangeArrowheads="1"/>
          </p:cNvSpPr>
          <p:nvPr/>
        </p:nvSpPr>
        <p:spPr bwMode="auto">
          <a:xfrm>
            <a:off x="8699500" y="51117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IN" altLang="en-US"/>
          </a:p>
        </p:txBody>
      </p:sp>
      <p:sp>
        <p:nvSpPr>
          <p:cNvPr id="12327" name="Text Box 142"/>
          <p:cNvSpPr txBox="1">
            <a:spLocks noChangeArrowheads="1"/>
          </p:cNvSpPr>
          <p:nvPr/>
        </p:nvSpPr>
        <p:spPr bwMode="auto">
          <a:xfrm>
            <a:off x="7983362" y="5042960"/>
            <a:ext cx="445633"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 . .</a:t>
            </a:r>
          </a:p>
        </p:txBody>
      </p:sp>
      <p:sp>
        <p:nvSpPr>
          <p:cNvPr id="12328" name="Rectangle 143"/>
          <p:cNvSpPr>
            <a:spLocks noChangeArrowheads="1"/>
          </p:cNvSpPr>
          <p:nvPr/>
        </p:nvSpPr>
        <p:spPr bwMode="auto">
          <a:xfrm>
            <a:off x="7736417" y="5111750"/>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2</a:t>
            </a:r>
          </a:p>
        </p:txBody>
      </p:sp>
    </p:spTree>
    <p:extLst>
      <p:ext uri="{BB962C8B-B14F-4D97-AF65-F5344CB8AC3E}">
        <p14:creationId xmlns:p14="http://schemas.microsoft.com/office/powerpoint/2010/main" val="16230719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8F413A78-7AAC-4D43-A94F-1BBF4CDF9B1A}" type="slidenum">
              <a:rPr lang="en-US" altLang="en-US"/>
              <a:pPr/>
              <a:t>76</a:t>
            </a:fld>
            <a:endParaRPr lang="en-US" altLang="en-US"/>
          </a:p>
        </p:txBody>
      </p:sp>
      <p:sp>
        <p:nvSpPr>
          <p:cNvPr id="13315" name="Rectangle 2"/>
          <p:cNvSpPr>
            <a:spLocks noGrp="1" noChangeArrowheads="1"/>
          </p:cNvSpPr>
          <p:nvPr>
            <p:ph type="title"/>
          </p:nvPr>
        </p:nvSpPr>
        <p:spPr>
          <a:xfrm>
            <a:off x="592667" y="254001"/>
            <a:ext cx="8636000" cy="709083"/>
          </a:xfrm>
        </p:spPr>
        <p:txBody>
          <a:bodyPr/>
          <a:lstStyle/>
          <a:p>
            <a:r>
              <a:rPr lang="en-US" altLang="en-US" sz="3600"/>
              <a:t>Entropy Coding: DC Components</a:t>
            </a:r>
          </a:p>
        </p:txBody>
      </p:sp>
      <p:sp>
        <p:nvSpPr>
          <p:cNvPr id="13316" name="Rectangle 4"/>
          <p:cNvSpPr>
            <a:spLocks noChangeArrowheads="1"/>
          </p:cNvSpPr>
          <p:nvPr/>
        </p:nvSpPr>
        <p:spPr bwMode="auto">
          <a:xfrm>
            <a:off x="592667" y="1047751"/>
            <a:ext cx="8583083"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nSpc>
                <a:spcPct val="90000"/>
              </a:lnSpc>
              <a:buSzPct val="75000"/>
              <a:buFont typeface="ZapfDingbats" pitchFamily="82" charset="0"/>
              <a:buNone/>
            </a:pPr>
            <a:endParaRPr lang="en-US" altLang="en-US" sz="2000"/>
          </a:p>
        </p:txBody>
      </p:sp>
      <p:graphicFrame>
        <p:nvGraphicFramePr>
          <p:cNvPr id="150642" name="Group 114"/>
          <p:cNvGraphicFramePr>
            <a:graphicFrameLocks noGrp="1"/>
          </p:cNvGraphicFramePr>
          <p:nvPr/>
        </p:nvGraphicFramePr>
        <p:xfrm>
          <a:off x="719667" y="1933223"/>
          <a:ext cx="7768167" cy="3383388"/>
        </p:xfrm>
        <a:graphic>
          <a:graphicData uri="http://schemas.openxmlformats.org/drawingml/2006/table">
            <a:tbl>
              <a:tblPr/>
              <a:tblGrid>
                <a:gridCol w="1344083">
                  <a:extLst>
                    <a:ext uri="{9D8B030D-6E8A-4147-A177-3AD203B41FA5}">
                      <a16:colId xmlns="" xmlns:a16="http://schemas.microsoft.com/office/drawing/2014/main" val="20000"/>
                    </a:ext>
                  </a:extLst>
                </a:gridCol>
                <a:gridCol w="3418417">
                  <a:extLst>
                    <a:ext uri="{9D8B030D-6E8A-4147-A177-3AD203B41FA5}">
                      <a16:colId xmlns="" xmlns:a16="http://schemas.microsoft.com/office/drawing/2014/main" val="20001"/>
                    </a:ext>
                  </a:extLst>
                </a:gridCol>
                <a:gridCol w="3005667">
                  <a:extLst>
                    <a:ext uri="{9D8B030D-6E8A-4147-A177-3AD203B41FA5}">
                      <a16:colId xmlns="" xmlns:a16="http://schemas.microsoft.com/office/drawing/2014/main" val="20002"/>
                    </a:ext>
                  </a:extLst>
                </a:gridCol>
              </a:tblGrid>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 </a:t>
                      </a:r>
                      <a:r>
                        <a:rPr kumimoji="0" lang="en-US" altLang="en-US" sz="1800" b="1" i="0" u="none" strike="noStrike" cap="none" normalizeH="0" baseline="0">
                          <a:ln>
                            <a:noFill/>
                          </a:ln>
                          <a:solidFill>
                            <a:schemeClr val="tx1"/>
                          </a:solidFill>
                          <a:effectLst/>
                          <a:latin typeface="Comic Sans MS" pitchFamily="66" charset="0"/>
                        </a:rPr>
                        <a:t>SIZE</a:t>
                      </a:r>
                      <a:endParaRPr kumimoji="0" lang="en-US" altLang="en-US" sz="1800" b="0" i="0" u="none" strike="noStrike" cap="none" normalizeH="0" baseline="0">
                        <a:ln>
                          <a:noFill/>
                        </a:ln>
                        <a:solidFill>
                          <a:schemeClr val="tx1"/>
                        </a:solidFill>
                        <a:effectLst/>
                        <a:latin typeface="Comic Sans MS" pitchFamily="66" charset="0"/>
                      </a:endParaRP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1" i="0" u="none" strike="noStrike" cap="none" normalizeH="0" baseline="0">
                          <a:ln>
                            <a:noFill/>
                          </a:ln>
                          <a:solidFill>
                            <a:schemeClr val="tx1"/>
                          </a:solidFill>
                          <a:effectLst/>
                          <a:latin typeface="Comic Sans MS" pitchFamily="66" charset="0"/>
                        </a:rPr>
                        <a:t>Value</a:t>
                      </a: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1" i="0" u="none" strike="noStrike" cap="none" normalizeH="0" baseline="0">
                          <a:ln>
                            <a:noFill/>
                          </a:ln>
                          <a:solidFill>
                            <a:schemeClr val="tx1"/>
                          </a:solidFill>
                          <a:effectLst/>
                          <a:latin typeface="Comic Sans MS" pitchFamily="66" charset="0"/>
                        </a:rPr>
                        <a:t>Code</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a:t>
                      </a: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a:t>
                      </a: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a:t>
                      </a: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a:t>
                      </a: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0,1</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2</a:t>
                      </a: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-3, -2, 2,3</a:t>
                      </a: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00,01,10,11</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3</a:t>
                      </a: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-7,…, -4, 4,…, 7</a:t>
                      </a: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000,…, 011, 100,…111</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4</a:t>
                      </a: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-15,…, -8, 8,…, 15</a:t>
                      </a: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0000,…, 0111, 1000,…, 1111</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a:t>
                      </a: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endParaRPr kumimoji="0" lang="en-US" altLang="en-US" sz="1800" b="0" i="0" u="none" strike="noStrike" cap="none" normalizeH="0" baseline="0">
                        <a:ln>
                          <a:noFill/>
                        </a:ln>
                        <a:solidFill>
                          <a:schemeClr val="tx1"/>
                        </a:solidFill>
                        <a:effectLst/>
                        <a:latin typeface="Comic Sans MS" pitchFamily="66" charset="0"/>
                      </a:endParaRP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a:t>
                      </a: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endParaRPr kumimoji="0" lang="en-US" altLang="en-US" sz="1800" b="0" i="0" u="none" strike="noStrike" cap="none" normalizeH="0" baseline="0">
                        <a:ln>
                          <a:noFill/>
                        </a:ln>
                        <a:solidFill>
                          <a:schemeClr val="tx1"/>
                        </a:solidFill>
                        <a:effectLst/>
                        <a:latin typeface="Comic Sans MS" pitchFamily="66" charset="0"/>
                      </a:endParaRP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3725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a:t>
                      </a:r>
                    </a:p>
                  </a:txBody>
                  <a:tcPr marL="101600" marR="101600" marT="50806" marB="508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-2047,…, -1024, 1024,… 2047</a:t>
                      </a:r>
                    </a:p>
                  </a:txBody>
                  <a:tcPr marL="101600" marR="101600" marT="50806" marB="508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a:t>
                      </a:r>
                    </a:p>
                  </a:txBody>
                  <a:tcPr marL="101600" marR="101600" marT="50806" marB="508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bl>
          </a:graphicData>
        </a:graphic>
      </p:graphicFrame>
      <p:sp>
        <p:nvSpPr>
          <p:cNvPr id="13359" name="Rectangle 105"/>
          <p:cNvSpPr>
            <a:spLocks noGrp="1" noChangeArrowheads="1"/>
          </p:cNvSpPr>
          <p:nvPr>
            <p:ph type="body" idx="1"/>
          </p:nvPr>
        </p:nvSpPr>
        <p:spPr>
          <a:xfrm>
            <a:off x="592667" y="1100667"/>
            <a:ext cx="8847667" cy="709083"/>
          </a:xfrm>
          <a:noFill/>
        </p:spPr>
        <p:txBody>
          <a:bodyPr/>
          <a:lstStyle/>
          <a:p>
            <a:pPr>
              <a:lnSpc>
                <a:spcPct val="90000"/>
              </a:lnSpc>
            </a:pPr>
            <a:r>
              <a:rPr lang="en-US" altLang="en-US"/>
              <a:t>DC components are differentially coded as (</a:t>
            </a:r>
            <a:r>
              <a:rPr lang="en-US" altLang="en-US" b="1"/>
              <a:t>SIZE</a:t>
            </a:r>
            <a:r>
              <a:rPr lang="en-US" altLang="en-US"/>
              <a:t>,</a:t>
            </a:r>
            <a:r>
              <a:rPr lang="en-US" altLang="en-US" b="1"/>
              <a:t>Value</a:t>
            </a:r>
            <a:r>
              <a:rPr lang="en-US" altLang="en-US"/>
              <a:t>)</a:t>
            </a:r>
          </a:p>
          <a:p>
            <a:pPr lvl="1">
              <a:lnSpc>
                <a:spcPct val="90000"/>
              </a:lnSpc>
            </a:pPr>
            <a:r>
              <a:rPr lang="en-US" altLang="en-US" sz="1800"/>
              <a:t>The code for a </a:t>
            </a:r>
            <a:r>
              <a:rPr lang="en-US" altLang="en-US" sz="1800" b="1"/>
              <a:t>Value</a:t>
            </a:r>
            <a:r>
              <a:rPr lang="en-US" altLang="en-US" sz="1800"/>
              <a:t> is derived from the following table</a:t>
            </a:r>
          </a:p>
        </p:txBody>
      </p:sp>
      <p:sp>
        <p:nvSpPr>
          <p:cNvPr id="13360" name="Text Box 112"/>
          <p:cNvSpPr txBox="1">
            <a:spLocks noChangeArrowheads="1"/>
          </p:cNvSpPr>
          <p:nvPr/>
        </p:nvSpPr>
        <p:spPr bwMode="auto">
          <a:xfrm>
            <a:off x="2924528" y="5367514"/>
            <a:ext cx="2808111"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US" altLang="en-US"/>
          </a:p>
        </p:txBody>
      </p:sp>
      <p:sp>
        <p:nvSpPr>
          <p:cNvPr id="13361" name="Text Box 113"/>
          <p:cNvSpPr txBox="1">
            <a:spLocks noChangeArrowheads="1"/>
          </p:cNvSpPr>
          <p:nvPr/>
        </p:nvSpPr>
        <p:spPr bwMode="auto">
          <a:xfrm>
            <a:off x="3718278" y="5423960"/>
            <a:ext cx="2125580"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b="1">
                <a:latin typeface="Comic Sans MS" pitchFamily="66" charset="0"/>
              </a:rPr>
              <a:t>Size_and_Value Table</a:t>
            </a:r>
          </a:p>
        </p:txBody>
      </p:sp>
    </p:spTree>
    <p:extLst>
      <p:ext uri="{BB962C8B-B14F-4D97-AF65-F5344CB8AC3E}">
        <p14:creationId xmlns:p14="http://schemas.microsoft.com/office/powerpoint/2010/main" val="7631856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8AD1B305-73AD-4B22-9A35-1F305FA8955A}" type="slidenum">
              <a:rPr lang="en-US" altLang="en-US"/>
              <a:pPr/>
              <a:t>77</a:t>
            </a:fld>
            <a:endParaRPr lang="en-US" altLang="en-US"/>
          </a:p>
        </p:txBody>
      </p:sp>
      <p:sp>
        <p:nvSpPr>
          <p:cNvPr id="14339" name="Rectangle 2"/>
          <p:cNvSpPr>
            <a:spLocks noGrp="1" noChangeArrowheads="1"/>
          </p:cNvSpPr>
          <p:nvPr>
            <p:ph type="title"/>
          </p:nvPr>
        </p:nvSpPr>
        <p:spPr>
          <a:xfrm>
            <a:off x="592667" y="254001"/>
            <a:ext cx="8805333" cy="709083"/>
          </a:xfrm>
        </p:spPr>
        <p:txBody>
          <a:bodyPr/>
          <a:lstStyle/>
          <a:p>
            <a:r>
              <a:rPr lang="en-US" altLang="en-US" sz="3600"/>
              <a:t>Entropy Coding: DC Components (Contd..)</a:t>
            </a:r>
          </a:p>
        </p:txBody>
      </p:sp>
      <p:sp>
        <p:nvSpPr>
          <p:cNvPr id="14340" name="Rectangle 3"/>
          <p:cNvSpPr>
            <a:spLocks noChangeArrowheads="1"/>
          </p:cNvSpPr>
          <p:nvPr/>
        </p:nvSpPr>
        <p:spPr bwMode="auto">
          <a:xfrm>
            <a:off x="592667" y="1047751"/>
            <a:ext cx="8583083"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nSpc>
                <a:spcPct val="90000"/>
              </a:lnSpc>
              <a:buSzPct val="75000"/>
              <a:buFont typeface="ZapfDingbats" pitchFamily="82" charset="0"/>
              <a:buNone/>
            </a:pPr>
            <a:endParaRPr lang="en-US" altLang="en-US" sz="2000"/>
          </a:p>
        </p:txBody>
      </p:sp>
      <p:graphicFrame>
        <p:nvGraphicFramePr>
          <p:cNvPr id="151642" name="Group 90"/>
          <p:cNvGraphicFramePr>
            <a:graphicFrameLocks noGrp="1"/>
          </p:cNvGraphicFramePr>
          <p:nvPr/>
        </p:nvGraphicFramePr>
        <p:xfrm>
          <a:off x="730250" y="1795640"/>
          <a:ext cx="3661834" cy="5216170"/>
        </p:xfrm>
        <a:graphic>
          <a:graphicData uri="http://schemas.openxmlformats.org/drawingml/2006/table">
            <a:tbl>
              <a:tblPr/>
              <a:tblGrid>
                <a:gridCol w="1047750">
                  <a:extLst>
                    <a:ext uri="{9D8B030D-6E8A-4147-A177-3AD203B41FA5}">
                      <a16:colId xmlns="" xmlns:a16="http://schemas.microsoft.com/office/drawing/2014/main" val="20000"/>
                    </a:ext>
                  </a:extLst>
                </a:gridCol>
                <a:gridCol w="1100667">
                  <a:extLst>
                    <a:ext uri="{9D8B030D-6E8A-4147-A177-3AD203B41FA5}">
                      <a16:colId xmlns="" xmlns:a16="http://schemas.microsoft.com/office/drawing/2014/main" val="20001"/>
                    </a:ext>
                  </a:extLst>
                </a:gridCol>
                <a:gridCol w="1513417">
                  <a:extLst>
                    <a:ext uri="{9D8B030D-6E8A-4147-A177-3AD203B41FA5}">
                      <a16:colId xmlns="" xmlns:a16="http://schemas.microsoft.com/office/drawing/2014/main" val="20002"/>
                    </a:ext>
                  </a:extLst>
                </a:gridCol>
              </a:tblGrid>
              <a:tr h="69767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 </a:t>
                      </a:r>
                      <a:r>
                        <a:rPr kumimoji="0" lang="en-US" altLang="en-US" sz="1800" b="1" i="0" u="none" strike="noStrike" cap="none" normalizeH="0" baseline="0">
                          <a:ln>
                            <a:noFill/>
                          </a:ln>
                          <a:solidFill>
                            <a:schemeClr val="tx1"/>
                          </a:solidFill>
                          <a:effectLst/>
                          <a:latin typeface="Comic Sans MS" pitchFamily="66" charset="0"/>
                        </a:rPr>
                        <a:t>SIZE</a:t>
                      </a:r>
                      <a:endParaRPr kumimoji="0" lang="en-US" altLang="en-US" sz="1800" b="0" i="0" u="none" strike="noStrike" cap="none" normalizeH="0" baseline="0">
                        <a:ln>
                          <a:noFill/>
                        </a:ln>
                        <a:solidFill>
                          <a:schemeClr val="tx1"/>
                        </a:solidFill>
                        <a:effectLst/>
                        <a:latin typeface="Comic Sans MS" pitchFamily="66" charset="0"/>
                      </a:endParaRP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1" i="0" u="none" strike="noStrike" cap="none" normalizeH="0" baseline="0">
                          <a:ln>
                            <a:noFill/>
                          </a:ln>
                          <a:solidFill>
                            <a:schemeClr val="tx1"/>
                          </a:solidFill>
                          <a:effectLst/>
                          <a:latin typeface="Comic Sans MS" pitchFamily="66" charset="0"/>
                        </a:rPr>
                        <a:t>Code </a:t>
                      </a:r>
                    </a:p>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1" i="0" u="none" strike="noStrike" cap="none" normalizeH="0" baseline="0">
                          <a:ln>
                            <a:noFill/>
                          </a:ln>
                          <a:solidFill>
                            <a:schemeClr val="tx1"/>
                          </a:solidFill>
                          <a:effectLst/>
                          <a:latin typeface="Comic Sans MS" pitchFamily="66" charset="0"/>
                        </a:rPr>
                        <a:t>Length</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1" i="0" u="none" strike="noStrike" cap="none" normalizeH="0" baseline="0">
                          <a:ln>
                            <a:noFill/>
                          </a:ln>
                          <a:solidFill>
                            <a:schemeClr val="tx1"/>
                          </a:solidFill>
                          <a:effectLst/>
                          <a:latin typeface="Comic Sans MS" pitchFamily="66" charset="0"/>
                        </a:rPr>
                        <a:t>Code</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2</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3</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010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2</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3</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011</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3</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3</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100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4</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3</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101</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5</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3</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6</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4</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1110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7</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5</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11110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8</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6</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111110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9</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7</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1111110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0"/>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10</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8</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11111110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1"/>
                  </a:ext>
                </a:extLst>
              </a:tr>
              <a:tr h="372543">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a:t>
                      </a:r>
                    </a:p>
                  </a:txBody>
                  <a:tcPr marL="101600" marR="101600" marT="50801" marB="508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9</a:t>
                      </a:r>
                    </a:p>
                  </a:txBody>
                  <a:tcPr marL="101600" marR="101600" marT="50801" marB="508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800" b="0" i="0" u="none" strike="noStrike" cap="none" normalizeH="0" baseline="0">
                          <a:ln>
                            <a:noFill/>
                          </a:ln>
                          <a:solidFill>
                            <a:schemeClr val="tx1"/>
                          </a:solidFill>
                          <a:effectLst/>
                          <a:latin typeface="Comic Sans MS" pitchFamily="66" charset="0"/>
                        </a:rPr>
                        <a:t>111111110</a:t>
                      </a:r>
                    </a:p>
                  </a:txBody>
                  <a:tcPr marL="101600" marR="101600" marT="50801" marB="508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2"/>
                  </a:ext>
                </a:extLst>
              </a:tr>
            </a:tbl>
          </a:graphicData>
        </a:graphic>
      </p:graphicFrame>
      <p:sp>
        <p:nvSpPr>
          <p:cNvPr id="14399" name="Rectangle 46"/>
          <p:cNvSpPr>
            <a:spLocks noGrp="1" noChangeArrowheads="1"/>
          </p:cNvSpPr>
          <p:nvPr>
            <p:ph type="body" idx="1"/>
          </p:nvPr>
        </p:nvSpPr>
        <p:spPr>
          <a:xfrm>
            <a:off x="592667" y="1100667"/>
            <a:ext cx="8847667" cy="709083"/>
          </a:xfrm>
          <a:noFill/>
        </p:spPr>
        <p:txBody>
          <a:bodyPr/>
          <a:lstStyle/>
          <a:p>
            <a:pPr>
              <a:lnSpc>
                <a:spcPct val="90000"/>
              </a:lnSpc>
            </a:pPr>
            <a:r>
              <a:rPr lang="en-US" altLang="en-US"/>
              <a:t>DC components are differentially coded as (</a:t>
            </a:r>
            <a:r>
              <a:rPr lang="en-US" altLang="en-US" b="1"/>
              <a:t>SIZE</a:t>
            </a:r>
            <a:r>
              <a:rPr lang="en-US" altLang="en-US"/>
              <a:t>,</a:t>
            </a:r>
            <a:r>
              <a:rPr lang="en-US" altLang="en-US" b="1"/>
              <a:t>Value</a:t>
            </a:r>
            <a:r>
              <a:rPr lang="en-US" altLang="en-US"/>
              <a:t>)</a:t>
            </a:r>
          </a:p>
          <a:p>
            <a:pPr lvl="1">
              <a:lnSpc>
                <a:spcPct val="90000"/>
              </a:lnSpc>
            </a:pPr>
            <a:r>
              <a:rPr lang="en-US" altLang="en-US" sz="1800"/>
              <a:t>The code for a </a:t>
            </a:r>
            <a:r>
              <a:rPr lang="en-US" altLang="en-US" sz="1800" b="1"/>
              <a:t>SIZE</a:t>
            </a:r>
            <a:r>
              <a:rPr lang="en-US" altLang="en-US" sz="1800"/>
              <a:t> is derived from the following table</a:t>
            </a:r>
          </a:p>
        </p:txBody>
      </p:sp>
      <p:sp>
        <p:nvSpPr>
          <p:cNvPr id="14400" name="Rectangle 87"/>
          <p:cNvSpPr>
            <a:spLocks noChangeArrowheads="1"/>
          </p:cNvSpPr>
          <p:nvPr/>
        </p:nvSpPr>
        <p:spPr bwMode="auto">
          <a:xfrm>
            <a:off x="5397500" y="1820333"/>
            <a:ext cx="3979333" cy="3810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457200" indent="-457200">
              <a:defRPr sz="1400">
                <a:solidFill>
                  <a:schemeClr val="tx1"/>
                </a:solidFill>
                <a:latin typeface="Times New Roman" pitchFamily="18" charset="0"/>
              </a:defRPr>
            </a:lvl1pPr>
            <a:lvl2pPr marL="914400" indent="-457200">
              <a:defRPr sz="1400">
                <a:solidFill>
                  <a:schemeClr val="tx1"/>
                </a:solidFill>
                <a:latin typeface="Times New Roman" pitchFamily="18" charset="0"/>
              </a:defRPr>
            </a:lvl2pPr>
            <a:lvl3pPr marL="1371600" indent="-457200">
              <a:defRPr sz="1400">
                <a:solidFill>
                  <a:schemeClr val="tx1"/>
                </a:solidFill>
                <a:latin typeface="Times New Roman" pitchFamily="18" charset="0"/>
              </a:defRPr>
            </a:lvl3pPr>
            <a:lvl4pPr marL="1828800" indent="-457200">
              <a:defRPr sz="1400">
                <a:solidFill>
                  <a:schemeClr val="tx1"/>
                </a:solidFill>
                <a:latin typeface="Times New Roman" pitchFamily="18" charset="0"/>
              </a:defRPr>
            </a:lvl4pPr>
            <a:lvl5pPr marL="2286000" indent="-457200">
              <a:defRPr sz="1400">
                <a:solidFill>
                  <a:schemeClr val="tx1"/>
                </a:solidFill>
                <a:latin typeface="Times New Roman" pitchFamily="18" charset="0"/>
              </a:defRPr>
            </a:lvl5pPr>
            <a:lvl6pPr marL="2743200" indent="-457200" eaLnBrk="0" fontAlgn="base" hangingPunct="0">
              <a:spcBef>
                <a:spcPct val="0"/>
              </a:spcBef>
              <a:spcAft>
                <a:spcPct val="0"/>
              </a:spcAft>
              <a:defRPr sz="1400">
                <a:solidFill>
                  <a:schemeClr val="tx1"/>
                </a:solidFill>
                <a:latin typeface="Times New Roman" pitchFamily="18" charset="0"/>
              </a:defRPr>
            </a:lvl6pPr>
            <a:lvl7pPr marL="3200400" indent="-457200" eaLnBrk="0" fontAlgn="base" hangingPunct="0">
              <a:spcBef>
                <a:spcPct val="0"/>
              </a:spcBef>
              <a:spcAft>
                <a:spcPct val="0"/>
              </a:spcAft>
              <a:defRPr sz="1400">
                <a:solidFill>
                  <a:schemeClr val="tx1"/>
                </a:solidFill>
                <a:latin typeface="Times New Roman" pitchFamily="18" charset="0"/>
              </a:defRPr>
            </a:lvl7pPr>
            <a:lvl8pPr marL="3657600" indent="-457200" eaLnBrk="0" fontAlgn="base" hangingPunct="0">
              <a:spcBef>
                <a:spcPct val="0"/>
              </a:spcBef>
              <a:spcAft>
                <a:spcPct val="0"/>
              </a:spcAft>
              <a:defRPr sz="1400">
                <a:solidFill>
                  <a:schemeClr val="tx1"/>
                </a:solidFill>
                <a:latin typeface="Times New Roman" pitchFamily="18" charset="0"/>
              </a:defRPr>
            </a:lvl8pPr>
            <a:lvl9pPr marL="4114800" indent="-457200" eaLnBrk="0" fontAlgn="base" hangingPunct="0">
              <a:spcBef>
                <a:spcPct val="0"/>
              </a:spcBef>
              <a:spcAft>
                <a:spcPct val="0"/>
              </a:spcAft>
              <a:defRPr sz="1400">
                <a:solidFill>
                  <a:schemeClr val="tx1"/>
                </a:solidFill>
                <a:latin typeface="Times New Roman" pitchFamily="18" charset="0"/>
              </a:defRPr>
            </a:lvl9pPr>
          </a:lstStyle>
          <a:p>
            <a:pPr>
              <a:spcBef>
                <a:spcPct val="20000"/>
              </a:spcBef>
              <a:buClr>
                <a:schemeClr val="accent2"/>
              </a:buClr>
              <a:buSzPct val="85000"/>
              <a:buFont typeface="ZapfDingbats" pitchFamily="82" charset="0"/>
              <a:buNone/>
            </a:pPr>
            <a:r>
              <a:rPr lang="en-US" altLang="en-US" sz="1800">
                <a:latin typeface="Comic Sans MS" pitchFamily="66" charset="0"/>
              </a:rPr>
              <a:t>Example: If a DC component is 40 and the previous DC component is 48. The difference is -8. Therefore it is coded as:</a:t>
            </a:r>
          </a:p>
          <a:p>
            <a:pPr>
              <a:spcBef>
                <a:spcPct val="20000"/>
              </a:spcBef>
              <a:buClr>
                <a:schemeClr val="accent2"/>
              </a:buClr>
              <a:buSzPct val="85000"/>
              <a:buFont typeface="ZapfDingbats" pitchFamily="82" charset="0"/>
              <a:buNone/>
            </a:pPr>
            <a:r>
              <a:rPr lang="en-US" altLang="en-US" sz="1800">
                <a:latin typeface="Comic Sans MS" pitchFamily="66" charset="0"/>
              </a:rPr>
              <a:t>	</a:t>
            </a:r>
            <a:r>
              <a:rPr lang="en-US" altLang="en-US" sz="1800">
                <a:solidFill>
                  <a:schemeClr val="accent1"/>
                </a:solidFill>
                <a:latin typeface="Comic Sans MS" pitchFamily="66" charset="0"/>
              </a:rPr>
              <a:t>101</a:t>
            </a:r>
            <a:r>
              <a:rPr lang="en-US" altLang="en-US" sz="1800">
                <a:solidFill>
                  <a:srgbClr val="CC00CC"/>
                </a:solidFill>
                <a:latin typeface="Comic Sans MS" pitchFamily="66" charset="0"/>
              </a:rPr>
              <a:t>0111</a:t>
            </a:r>
            <a:endParaRPr lang="en-US" altLang="en-US" sz="1800">
              <a:latin typeface="Comic Sans MS" pitchFamily="66" charset="0"/>
            </a:endParaRPr>
          </a:p>
          <a:p>
            <a:pPr>
              <a:spcBef>
                <a:spcPct val="20000"/>
              </a:spcBef>
              <a:buClr>
                <a:schemeClr val="accent2"/>
              </a:buClr>
              <a:buSzPct val="85000"/>
              <a:buFont typeface="ZapfDingbats" pitchFamily="82" charset="0"/>
              <a:buNone/>
            </a:pPr>
            <a:r>
              <a:rPr lang="en-US" altLang="en-US" sz="1800">
                <a:solidFill>
                  <a:srgbClr val="CC00CC"/>
                </a:solidFill>
                <a:latin typeface="Comic Sans MS" pitchFamily="66" charset="0"/>
              </a:rPr>
              <a:t>0111</a:t>
            </a:r>
            <a:r>
              <a:rPr lang="en-US" altLang="en-US" sz="1800">
                <a:latin typeface="Comic Sans MS" pitchFamily="66" charset="0"/>
              </a:rPr>
              <a:t>: The value for representing –8</a:t>
            </a:r>
          </a:p>
          <a:p>
            <a:pPr>
              <a:spcBef>
                <a:spcPct val="20000"/>
              </a:spcBef>
              <a:buClr>
                <a:schemeClr val="accent2"/>
              </a:buClr>
              <a:buSzPct val="85000"/>
              <a:buFont typeface="ZapfDingbats" pitchFamily="82" charset="0"/>
              <a:buNone/>
            </a:pPr>
            <a:r>
              <a:rPr lang="en-US" altLang="en-US" sz="1800">
                <a:latin typeface="Comic Sans MS" pitchFamily="66" charset="0"/>
              </a:rPr>
              <a:t>	 (see Size_and_Value table)</a:t>
            </a:r>
            <a:endParaRPr lang="en-US" altLang="en-US" sz="1800">
              <a:solidFill>
                <a:srgbClr val="CC00CC"/>
              </a:solidFill>
              <a:latin typeface="Comic Sans MS" pitchFamily="66" charset="0"/>
            </a:endParaRPr>
          </a:p>
          <a:p>
            <a:pPr>
              <a:spcBef>
                <a:spcPct val="20000"/>
              </a:spcBef>
              <a:buClr>
                <a:schemeClr val="accent2"/>
              </a:buClr>
              <a:buSzPct val="85000"/>
              <a:buFont typeface="ZapfDingbats" pitchFamily="82" charset="0"/>
              <a:buNone/>
            </a:pPr>
            <a:r>
              <a:rPr lang="en-US" altLang="en-US" sz="1800">
                <a:solidFill>
                  <a:schemeClr val="accent1"/>
                </a:solidFill>
                <a:latin typeface="Comic Sans MS" pitchFamily="66" charset="0"/>
              </a:rPr>
              <a:t>101</a:t>
            </a:r>
            <a:r>
              <a:rPr lang="en-US" altLang="en-US" sz="1800">
                <a:latin typeface="Comic Sans MS" pitchFamily="66" charset="0"/>
              </a:rPr>
              <a:t>:  The size from the same table reads 4. The corresponding code from the table at left is 101.</a:t>
            </a:r>
          </a:p>
        </p:txBody>
      </p:sp>
      <p:sp>
        <p:nvSpPr>
          <p:cNvPr id="14401" name="Text Box 88"/>
          <p:cNvSpPr txBox="1">
            <a:spLocks noChangeArrowheads="1"/>
          </p:cNvSpPr>
          <p:nvPr/>
        </p:nvSpPr>
        <p:spPr bwMode="auto">
          <a:xfrm>
            <a:off x="1167695" y="7039681"/>
            <a:ext cx="205247"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endParaRPr lang="en-US" altLang="en-US"/>
          </a:p>
        </p:txBody>
      </p:sp>
      <p:sp>
        <p:nvSpPr>
          <p:cNvPr id="14402" name="Text Box 89"/>
          <p:cNvSpPr txBox="1">
            <a:spLocks noChangeArrowheads="1"/>
          </p:cNvSpPr>
          <p:nvPr/>
        </p:nvSpPr>
        <p:spPr bwMode="auto">
          <a:xfrm>
            <a:off x="606778" y="6990293"/>
            <a:ext cx="3981857" cy="318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Huffman Table for DC component SIZE field</a:t>
            </a:r>
          </a:p>
        </p:txBody>
      </p:sp>
    </p:spTree>
    <p:extLst>
      <p:ext uri="{BB962C8B-B14F-4D97-AF65-F5344CB8AC3E}">
        <p14:creationId xmlns:p14="http://schemas.microsoft.com/office/powerpoint/2010/main" val="8221408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65C134A4-C7CC-484D-9845-6CEB289C0A5E}" type="slidenum">
              <a:rPr lang="en-US" altLang="en-US"/>
              <a:pPr/>
              <a:t>78</a:t>
            </a:fld>
            <a:endParaRPr lang="en-US" altLang="en-US"/>
          </a:p>
        </p:txBody>
      </p:sp>
      <p:sp>
        <p:nvSpPr>
          <p:cNvPr id="15363" name="Rectangle 2"/>
          <p:cNvSpPr>
            <a:spLocks noGrp="1" noChangeArrowheads="1"/>
          </p:cNvSpPr>
          <p:nvPr>
            <p:ph type="title"/>
          </p:nvPr>
        </p:nvSpPr>
        <p:spPr>
          <a:xfrm>
            <a:off x="582084" y="158750"/>
            <a:ext cx="8805333" cy="635000"/>
          </a:xfrm>
        </p:spPr>
        <p:txBody>
          <a:bodyPr/>
          <a:lstStyle/>
          <a:p>
            <a:r>
              <a:rPr lang="en-US" altLang="en-US" sz="3600"/>
              <a:t>Entropy Coding: AC Components </a:t>
            </a:r>
          </a:p>
        </p:txBody>
      </p:sp>
      <p:sp>
        <p:nvSpPr>
          <p:cNvPr id="15364" name="Rectangle 3"/>
          <p:cNvSpPr>
            <a:spLocks noChangeArrowheads="1"/>
          </p:cNvSpPr>
          <p:nvPr/>
        </p:nvSpPr>
        <p:spPr bwMode="auto">
          <a:xfrm>
            <a:off x="592667" y="1047751"/>
            <a:ext cx="8583083"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nSpc>
                <a:spcPct val="90000"/>
              </a:lnSpc>
              <a:buSzPct val="75000"/>
              <a:buFont typeface="ZapfDingbats" pitchFamily="82" charset="0"/>
              <a:buNone/>
            </a:pPr>
            <a:endParaRPr lang="en-US" altLang="en-US" sz="2000"/>
          </a:p>
        </p:txBody>
      </p:sp>
      <p:sp>
        <p:nvSpPr>
          <p:cNvPr id="15365" name="Rectangle 62"/>
          <p:cNvSpPr>
            <a:spLocks noGrp="1" noChangeArrowheads="1"/>
          </p:cNvSpPr>
          <p:nvPr>
            <p:ph type="body" idx="1"/>
          </p:nvPr>
        </p:nvSpPr>
        <p:spPr>
          <a:xfrm>
            <a:off x="508000" y="772584"/>
            <a:ext cx="8942917" cy="2762250"/>
          </a:xfrm>
          <a:noFill/>
        </p:spPr>
        <p:txBody>
          <a:bodyPr/>
          <a:lstStyle/>
          <a:p>
            <a:r>
              <a:rPr lang="en-US" altLang="en-US"/>
              <a:t>AC components (range –1023..1023) are coded as (S1,S2 pairs):</a:t>
            </a:r>
          </a:p>
          <a:p>
            <a:pPr lvl="1"/>
            <a:r>
              <a:rPr lang="en-US" altLang="en-US" sz="1800" b="1"/>
              <a:t>S1: </a:t>
            </a:r>
            <a:r>
              <a:rPr lang="en-US" altLang="en-US" sz="1800"/>
              <a:t>(</a:t>
            </a:r>
            <a:r>
              <a:rPr lang="en-US" altLang="en-US" sz="1800" b="1"/>
              <a:t>RunLength/SIZE</a:t>
            </a:r>
            <a:r>
              <a:rPr lang="en-US" altLang="en-US" sz="1800"/>
              <a:t>)</a:t>
            </a:r>
            <a:r>
              <a:rPr lang="en-US" altLang="en-US" sz="2000"/>
              <a:t> </a:t>
            </a:r>
          </a:p>
          <a:p>
            <a:pPr lvl="2"/>
            <a:r>
              <a:rPr lang="en-US" altLang="en-US" sz="1300" b="1"/>
              <a:t>RunLength:</a:t>
            </a:r>
            <a:r>
              <a:rPr lang="en-US" altLang="en-US" sz="1300"/>
              <a:t> The length of the consecutive zero values [0..15]</a:t>
            </a:r>
          </a:p>
          <a:p>
            <a:pPr lvl="2"/>
            <a:r>
              <a:rPr lang="en-US" altLang="en-US" sz="1300" b="1"/>
              <a:t>SIZE:</a:t>
            </a:r>
            <a:r>
              <a:rPr lang="en-US" altLang="en-US" sz="1300"/>
              <a:t> The number of bits needed to code the </a:t>
            </a:r>
            <a:r>
              <a:rPr lang="en-US" altLang="en-US" sz="1300" i="1"/>
              <a:t>next</a:t>
            </a:r>
            <a:r>
              <a:rPr lang="en-US" altLang="en-US" sz="1300"/>
              <a:t> nonzero AC component’s value. [0-A]</a:t>
            </a:r>
          </a:p>
          <a:p>
            <a:pPr lvl="2"/>
            <a:r>
              <a:rPr lang="en-US" altLang="en-US" sz="1300"/>
              <a:t>(0,0) is the End_Of_Block for the 8x8 block.</a:t>
            </a:r>
          </a:p>
          <a:p>
            <a:pPr lvl="2"/>
            <a:r>
              <a:rPr lang="en-US" altLang="en-US" sz="1300" b="1"/>
              <a:t>S1</a:t>
            </a:r>
            <a:r>
              <a:rPr lang="en-US" altLang="en-US" sz="1300"/>
              <a:t> is Huffman coded (see AC code table below)</a:t>
            </a:r>
          </a:p>
          <a:p>
            <a:pPr lvl="1"/>
            <a:r>
              <a:rPr lang="en-US" altLang="en-US" sz="1800" b="1"/>
              <a:t>S2: (Value)</a:t>
            </a:r>
          </a:p>
          <a:p>
            <a:pPr lvl="2"/>
            <a:r>
              <a:rPr lang="en-US" altLang="en-US" sz="1300" b="1"/>
              <a:t>Value:</a:t>
            </a:r>
            <a:r>
              <a:rPr lang="en-US" altLang="en-US" sz="1300"/>
              <a:t> Is the value of the AC component.(refer to size_and_value table)</a:t>
            </a:r>
            <a:endParaRPr lang="en-US" altLang="en-US" sz="1300" b="1"/>
          </a:p>
        </p:txBody>
      </p:sp>
      <p:graphicFrame>
        <p:nvGraphicFramePr>
          <p:cNvPr id="152912" name="Group 336"/>
          <p:cNvGraphicFramePr>
            <a:graphicFrameLocks noGrp="1"/>
          </p:cNvGraphicFramePr>
          <p:nvPr/>
        </p:nvGraphicFramePr>
        <p:xfrm>
          <a:off x="1090084" y="3496029"/>
          <a:ext cx="3439583" cy="3529541"/>
        </p:xfrm>
        <a:graphic>
          <a:graphicData uri="http://schemas.openxmlformats.org/drawingml/2006/table">
            <a:tbl>
              <a:tblPr/>
              <a:tblGrid>
                <a:gridCol w="984250">
                  <a:extLst>
                    <a:ext uri="{9D8B030D-6E8A-4147-A177-3AD203B41FA5}">
                      <a16:colId xmlns="" xmlns:a16="http://schemas.microsoft.com/office/drawing/2014/main" val="20000"/>
                    </a:ext>
                  </a:extLst>
                </a:gridCol>
                <a:gridCol w="1033639">
                  <a:extLst>
                    <a:ext uri="{9D8B030D-6E8A-4147-A177-3AD203B41FA5}">
                      <a16:colId xmlns="" xmlns:a16="http://schemas.microsoft.com/office/drawing/2014/main" val="20001"/>
                    </a:ext>
                  </a:extLst>
                </a:gridCol>
                <a:gridCol w="1421694">
                  <a:extLst>
                    <a:ext uri="{9D8B030D-6E8A-4147-A177-3AD203B41FA5}">
                      <a16:colId xmlns="" xmlns:a16="http://schemas.microsoft.com/office/drawing/2014/main" val="20002"/>
                    </a:ext>
                  </a:extLst>
                </a:gridCol>
              </a:tblGrid>
              <a:tr h="548739">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Run/</a:t>
                      </a:r>
                    </a:p>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SIZE</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Code </a:t>
                      </a:r>
                    </a:p>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Length</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Code</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0/0</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4</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1010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0/1</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2</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0/2</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2</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01</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0/3</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3</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100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0/4</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4</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1011</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0/5</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5</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11010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0/6</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7</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1111000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0/7</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8</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11111000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0/8</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10</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1111110110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0/9</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16</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1111111110000010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0"/>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0/A</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16</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1111111110000011</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1"/>
                  </a:ext>
                </a:extLst>
              </a:tr>
            </a:tbl>
          </a:graphicData>
        </a:graphic>
      </p:graphicFrame>
      <p:graphicFrame>
        <p:nvGraphicFramePr>
          <p:cNvPr id="152911" name="Group 335"/>
          <p:cNvGraphicFramePr>
            <a:graphicFrameLocks noGrp="1"/>
          </p:cNvGraphicFramePr>
          <p:nvPr/>
        </p:nvGraphicFramePr>
        <p:xfrm>
          <a:off x="5005917" y="3496029"/>
          <a:ext cx="3439583" cy="3529541"/>
        </p:xfrm>
        <a:graphic>
          <a:graphicData uri="http://schemas.openxmlformats.org/drawingml/2006/table">
            <a:tbl>
              <a:tblPr/>
              <a:tblGrid>
                <a:gridCol w="984250">
                  <a:extLst>
                    <a:ext uri="{9D8B030D-6E8A-4147-A177-3AD203B41FA5}">
                      <a16:colId xmlns="" xmlns:a16="http://schemas.microsoft.com/office/drawing/2014/main" val="20000"/>
                    </a:ext>
                  </a:extLst>
                </a:gridCol>
                <a:gridCol w="1033639">
                  <a:extLst>
                    <a:ext uri="{9D8B030D-6E8A-4147-A177-3AD203B41FA5}">
                      <a16:colId xmlns="" xmlns:a16="http://schemas.microsoft.com/office/drawing/2014/main" val="20001"/>
                    </a:ext>
                  </a:extLst>
                </a:gridCol>
                <a:gridCol w="1421694">
                  <a:extLst>
                    <a:ext uri="{9D8B030D-6E8A-4147-A177-3AD203B41FA5}">
                      <a16:colId xmlns="" xmlns:a16="http://schemas.microsoft.com/office/drawing/2014/main" val="20002"/>
                    </a:ext>
                  </a:extLst>
                </a:gridCol>
              </a:tblGrid>
              <a:tr h="548739">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Run/</a:t>
                      </a:r>
                    </a:p>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SIZE</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Code </a:t>
                      </a:r>
                    </a:p>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Length</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300" b="1" i="0" u="none" strike="noStrike" cap="none" normalizeH="0" baseline="0">
                          <a:ln>
                            <a:noFill/>
                          </a:ln>
                          <a:solidFill>
                            <a:schemeClr val="tx1"/>
                          </a:solidFill>
                          <a:effectLst/>
                          <a:latin typeface="Comic Sans MS" pitchFamily="66" charset="0"/>
                        </a:rPr>
                        <a:t>Code</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4</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1100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1/2</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5</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11011</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1/3</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7</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1111001</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1/4</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9</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111110110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1/5</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11111110110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1/6</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16</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1111111110000100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6"/>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1/7</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16</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1111111110000101</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7"/>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1/8</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16</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1111111110000110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8"/>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1/9</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16</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1111111110000111</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9"/>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1/A</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16</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1111111110001000</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0"/>
                  </a:ext>
                </a:extLst>
              </a:tr>
              <a:tr h="270982">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 15/A</a:t>
                      </a:r>
                    </a:p>
                  </a:txBody>
                  <a:tcPr marL="101600" marR="101600" marT="50809" marB="508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More</a:t>
                      </a:r>
                    </a:p>
                  </a:txBody>
                  <a:tcPr marL="101600" marR="101600" marT="50809" marB="5080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85000"/>
                        <a:buFont typeface="ZapfDingbats" pitchFamily="82" charset="0"/>
                        <a:defRPr sz="2400">
                          <a:solidFill>
                            <a:schemeClr val="tx1"/>
                          </a:solidFill>
                          <a:latin typeface="Comic Sans MS" pitchFamily="66" charset="0"/>
                        </a:defRPr>
                      </a:lvl1pPr>
                      <a:lvl2pPr>
                        <a:spcBef>
                          <a:spcPct val="20000"/>
                        </a:spcBef>
                        <a:buClr>
                          <a:schemeClr val="accent2"/>
                        </a:buClr>
                        <a:buSzPct val="75000"/>
                        <a:buFont typeface="ZapfDingbats" pitchFamily="82" charset="0"/>
                        <a:defRPr sz="2000">
                          <a:solidFill>
                            <a:schemeClr val="tx1"/>
                          </a:solidFill>
                          <a:latin typeface="Comic Sans MS" pitchFamily="66" charset="0"/>
                        </a:defRPr>
                      </a:lvl2pPr>
                      <a:lvl3pPr>
                        <a:spcBef>
                          <a:spcPct val="20000"/>
                        </a:spcBef>
                        <a:defRPr>
                          <a:solidFill>
                            <a:schemeClr val="tx1"/>
                          </a:solidFill>
                          <a:latin typeface="Comic Sans MS" pitchFamily="66" charset="0"/>
                        </a:defRPr>
                      </a:lvl3pPr>
                      <a:lvl4pPr>
                        <a:spcBef>
                          <a:spcPct val="20000"/>
                        </a:spcBef>
                        <a:defRPr>
                          <a:solidFill>
                            <a:schemeClr val="tx1"/>
                          </a:solidFill>
                          <a:latin typeface="Times New Roman" pitchFamily="18" charset="0"/>
                        </a:defRPr>
                      </a:lvl4pPr>
                      <a:lvl5pPr>
                        <a:spcBef>
                          <a:spcPct val="20000"/>
                        </a:spcBef>
                        <a:defRPr>
                          <a:solidFill>
                            <a:schemeClr val="tx1"/>
                          </a:solidFill>
                          <a:latin typeface="Times New Roman" pitchFamily="18" charset="0"/>
                        </a:defRPr>
                      </a:lvl5pPr>
                      <a:lvl6pPr eaLnBrk="0" fontAlgn="base" hangingPunct="0">
                        <a:spcBef>
                          <a:spcPct val="20000"/>
                        </a:spcBef>
                        <a:spcAft>
                          <a:spcPct val="0"/>
                        </a:spcAft>
                        <a:defRPr>
                          <a:solidFill>
                            <a:schemeClr val="tx1"/>
                          </a:solidFill>
                          <a:latin typeface="Times New Roman" pitchFamily="18" charset="0"/>
                        </a:defRPr>
                      </a:lvl6pPr>
                      <a:lvl7pPr eaLnBrk="0" fontAlgn="base" hangingPunct="0">
                        <a:spcBef>
                          <a:spcPct val="20000"/>
                        </a:spcBef>
                        <a:spcAft>
                          <a:spcPct val="0"/>
                        </a:spcAft>
                        <a:defRPr>
                          <a:solidFill>
                            <a:schemeClr val="tx1"/>
                          </a:solidFill>
                          <a:latin typeface="Times New Roman" pitchFamily="18" charset="0"/>
                        </a:defRPr>
                      </a:lvl7pPr>
                      <a:lvl8pPr eaLnBrk="0" fontAlgn="base" hangingPunct="0">
                        <a:spcBef>
                          <a:spcPct val="20000"/>
                        </a:spcBef>
                        <a:spcAft>
                          <a:spcPct val="0"/>
                        </a:spcAft>
                        <a:defRPr>
                          <a:solidFill>
                            <a:schemeClr val="tx1"/>
                          </a:solidFill>
                          <a:latin typeface="Times New Roman" pitchFamily="18" charset="0"/>
                        </a:defRPr>
                      </a:lvl8pPr>
                      <a:lvl9pPr eaLnBrk="0" fontAlgn="base" hangingPunct="0">
                        <a:spcBef>
                          <a:spcPct val="20000"/>
                        </a:spcBef>
                        <a:spcAft>
                          <a:spcPct val="0"/>
                        </a:spcAft>
                        <a:defRPr>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Pct val="85000"/>
                        <a:buFont typeface="ZapfDingbats" pitchFamily="82" charset="0"/>
                        <a:buNone/>
                        <a:tabLst/>
                      </a:pPr>
                      <a:r>
                        <a:rPr kumimoji="0" lang="en-US" altLang="en-US" sz="1100" b="0" i="0" u="none" strike="noStrike" cap="none" normalizeH="0" baseline="0">
                          <a:ln>
                            <a:noFill/>
                          </a:ln>
                          <a:solidFill>
                            <a:schemeClr val="tx1"/>
                          </a:solidFill>
                          <a:effectLst/>
                          <a:latin typeface="Comic Sans MS" pitchFamily="66" charset="0"/>
                        </a:rPr>
                        <a:t>Such rows</a:t>
                      </a:r>
                    </a:p>
                  </a:txBody>
                  <a:tcPr marL="101600" marR="101600" marT="50809" marB="508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11"/>
                  </a:ext>
                </a:extLst>
              </a:tr>
            </a:tbl>
          </a:graphicData>
        </a:graphic>
      </p:graphicFrame>
      <p:sp>
        <p:nvSpPr>
          <p:cNvPr id="15474" name="Text Box 334"/>
          <p:cNvSpPr txBox="1">
            <a:spLocks noChangeArrowheads="1"/>
          </p:cNvSpPr>
          <p:nvPr/>
        </p:nvSpPr>
        <p:spPr bwMode="auto">
          <a:xfrm rot="10788379">
            <a:off x="352368" y="3363013"/>
            <a:ext cx="420626" cy="3852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01599" tIns="50799" rIns="101599" bIns="50799" anchor="b">
            <a:spAutoFit/>
          </a:bodyP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r>
              <a:rPr lang="en-US" altLang="en-US">
                <a:latin typeface="Comic Sans MS" pitchFamily="66" charset="0"/>
              </a:rPr>
              <a:t>Partial Huffman Table for AC Run/Size Pairs</a:t>
            </a:r>
          </a:p>
        </p:txBody>
      </p:sp>
    </p:spTree>
    <p:extLst>
      <p:ext uri="{BB962C8B-B14F-4D97-AF65-F5344CB8AC3E}">
        <p14:creationId xmlns:p14="http://schemas.microsoft.com/office/powerpoint/2010/main" val="2676394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68D3577B-54D2-40E0-B0B4-6A11B9A57ECF}" type="slidenum">
              <a:rPr lang="en-US" altLang="en-US"/>
              <a:pPr/>
              <a:t>79</a:t>
            </a:fld>
            <a:endParaRPr lang="en-US" altLang="en-US"/>
          </a:p>
        </p:txBody>
      </p:sp>
      <p:sp>
        <p:nvSpPr>
          <p:cNvPr id="16387" name="Rectangle 2"/>
          <p:cNvSpPr>
            <a:spLocks noGrp="1" noChangeArrowheads="1"/>
          </p:cNvSpPr>
          <p:nvPr>
            <p:ph type="title"/>
          </p:nvPr>
        </p:nvSpPr>
        <p:spPr>
          <a:xfrm>
            <a:off x="592667" y="254001"/>
            <a:ext cx="8805333" cy="709083"/>
          </a:xfrm>
        </p:spPr>
        <p:txBody>
          <a:bodyPr/>
          <a:lstStyle/>
          <a:p>
            <a:r>
              <a:rPr lang="en-US" altLang="en-US" sz="3600"/>
              <a:t>Entropy Coding: Example </a:t>
            </a:r>
          </a:p>
        </p:txBody>
      </p:sp>
      <p:sp>
        <p:nvSpPr>
          <p:cNvPr id="16388" name="Rectangle 3"/>
          <p:cNvSpPr>
            <a:spLocks noChangeArrowheads="1"/>
          </p:cNvSpPr>
          <p:nvPr/>
        </p:nvSpPr>
        <p:spPr bwMode="auto">
          <a:xfrm>
            <a:off x="592667" y="1047751"/>
            <a:ext cx="8583083"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342900" indent="-342900">
              <a:spcBef>
                <a:spcPct val="20000"/>
              </a:spcBef>
              <a:buClr>
                <a:schemeClr val="accent2"/>
              </a:buClr>
              <a:buSzPct val="85000"/>
              <a:buFont typeface="ZapfDingbats" pitchFamily="82" charset="0"/>
              <a:buChar char="r"/>
              <a:defRPr sz="2800">
                <a:solidFill>
                  <a:schemeClr val="tx1"/>
                </a:solidFill>
                <a:latin typeface="Comic Sans MS" pitchFamily="66" charset="0"/>
              </a:defRPr>
            </a:lvl1pPr>
            <a:lvl2pPr marL="742950" indent="-285750">
              <a:spcBef>
                <a:spcPct val="20000"/>
              </a:spcBef>
              <a:buClr>
                <a:schemeClr val="accent2"/>
              </a:buClr>
              <a:buSzPct val="75000"/>
              <a:buFont typeface="ZapfDingbats" pitchFamily="82" charset="0"/>
              <a:buChar char="m"/>
              <a:defRPr sz="2400">
                <a:solidFill>
                  <a:schemeClr val="tx1"/>
                </a:solidFill>
                <a:latin typeface="Comic Sans MS" pitchFamily="66" charset="0"/>
              </a:defRPr>
            </a:lvl2pPr>
            <a:lvl3pPr marL="1143000" indent="-228600">
              <a:spcBef>
                <a:spcPct val="20000"/>
              </a:spcBef>
              <a:buChar char="•"/>
              <a:defRPr sz="2000">
                <a:solidFill>
                  <a:schemeClr val="tx1"/>
                </a:solidFill>
                <a:latin typeface="Comic Sans MS" pitchFamily="66"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nSpc>
                <a:spcPct val="90000"/>
              </a:lnSpc>
              <a:buSzPct val="75000"/>
              <a:buFont typeface="ZapfDingbats" pitchFamily="82" charset="0"/>
              <a:buNone/>
            </a:pPr>
            <a:endParaRPr lang="en-US" altLang="en-US" sz="2000"/>
          </a:p>
        </p:txBody>
      </p:sp>
      <p:sp>
        <p:nvSpPr>
          <p:cNvPr id="16389" name="Rectangle 5"/>
          <p:cNvSpPr>
            <a:spLocks noChangeArrowheads="1"/>
          </p:cNvSpPr>
          <p:nvPr/>
        </p:nvSpPr>
        <p:spPr bwMode="auto">
          <a:xfrm>
            <a:off x="3577167" y="1174751"/>
            <a:ext cx="5725583" cy="597958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599" tIns="50799" rIns="101599" bIns="50799"/>
          <a:lstStyle>
            <a:lvl1pPr marL="457200" indent="-457200">
              <a:defRPr sz="1400">
                <a:solidFill>
                  <a:schemeClr val="tx1"/>
                </a:solidFill>
                <a:latin typeface="Times New Roman" pitchFamily="18" charset="0"/>
              </a:defRPr>
            </a:lvl1pPr>
            <a:lvl2pPr marL="914400" indent="-457200">
              <a:defRPr sz="1400">
                <a:solidFill>
                  <a:schemeClr val="tx1"/>
                </a:solidFill>
                <a:latin typeface="Times New Roman" pitchFamily="18" charset="0"/>
              </a:defRPr>
            </a:lvl2pPr>
            <a:lvl3pPr marL="1371600" indent="-457200">
              <a:defRPr sz="1400">
                <a:solidFill>
                  <a:schemeClr val="tx1"/>
                </a:solidFill>
                <a:latin typeface="Times New Roman" pitchFamily="18" charset="0"/>
              </a:defRPr>
            </a:lvl3pPr>
            <a:lvl4pPr marL="1828800" indent="-457200">
              <a:defRPr sz="1400">
                <a:solidFill>
                  <a:schemeClr val="tx1"/>
                </a:solidFill>
                <a:latin typeface="Times New Roman" pitchFamily="18" charset="0"/>
              </a:defRPr>
            </a:lvl4pPr>
            <a:lvl5pPr marL="2286000" indent="-457200">
              <a:defRPr sz="1400">
                <a:solidFill>
                  <a:schemeClr val="tx1"/>
                </a:solidFill>
                <a:latin typeface="Times New Roman" pitchFamily="18" charset="0"/>
              </a:defRPr>
            </a:lvl5pPr>
            <a:lvl6pPr marL="2743200" indent="-457200" eaLnBrk="0" fontAlgn="base" hangingPunct="0">
              <a:spcBef>
                <a:spcPct val="0"/>
              </a:spcBef>
              <a:spcAft>
                <a:spcPct val="0"/>
              </a:spcAft>
              <a:defRPr sz="1400">
                <a:solidFill>
                  <a:schemeClr val="tx1"/>
                </a:solidFill>
                <a:latin typeface="Times New Roman" pitchFamily="18" charset="0"/>
              </a:defRPr>
            </a:lvl6pPr>
            <a:lvl7pPr marL="3200400" indent="-457200" eaLnBrk="0" fontAlgn="base" hangingPunct="0">
              <a:spcBef>
                <a:spcPct val="0"/>
              </a:spcBef>
              <a:spcAft>
                <a:spcPct val="0"/>
              </a:spcAft>
              <a:defRPr sz="1400">
                <a:solidFill>
                  <a:schemeClr val="tx1"/>
                </a:solidFill>
                <a:latin typeface="Times New Roman" pitchFamily="18" charset="0"/>
              </a:defRPr>
            </a:lvl7pPr>
            <a:lvl8pPr marL="3657600" indent="-457200" eaLnBrk="0" fontAlgn="base" hangingPunct="0">
              <a:spcBef>
                <a:spcPct val="0"/>
              </a:spcBef>
              <a:spcAft>
                <a:spcPct val="0"/>
              </a:spcAft>
              <a:defRPr sz="1400">
                <a:solidFill>
                  <a:schemeClr val="tx1"/>
                </a:solidFill>
                <a:latin typeface="Times New Roman" pitchFamily="18" charset="0"/>
              </a:defRPr>
            </a:lvl8pPr>
            <a:lvl9pPr marL="4114800" indent="-457200" eaLnBrk="0" fontAlgn="base" hangingPunct="0">
              <a:spcBef>
                <a:spcPct val="0"/>
              </a:spcBef>
              <a:spcAft>
                <a:spcPct val="0"/>
              </a:spcAft>
              <a:defRPr sz="1400">
                <a:solidFill>
                  <a:schemeClr val="tx1"/>
                </a:solidFill>
                <a:latin typeface="Times New Roman" pitchFamily="18" charset="0"/>
              </a:defRPr>
            </a:lvl9pPr>
          </a:lstStyle>
          <a:p>
            <a:pPr>
              <a:spcBef>
                <a:spcPct val="20000"/>
              </a:spcBef>
              <a:buClr>
                <a:schemeClr val="accent2"/>
              </a:buClr>
              <a:buSzPct val="85000"/>
              <a:buFont typeface="ZapfDingbats" pitchFamily="82" charset="0"/>
              <a:buNone/>
            </a:pPr>
            <a:r>
              <a:rPr lang="en-US" altLang="en-US" sz="1800">
                <a:latin typeface="Comic Sans MS" pitchFamily="66" charset="0"/>
              </a:rPr>
              <a:t>Example: Consider encoding the AC components by arranging them in a zig-zag order -&gt; 12,10, 1, -7 2 0s, -4, 56 zeros</a:t>
            </a:r>
          </a:p>
          <a:p>
            <a:pPr>
              <a:spcBef>
                <a:spcPct val="20000"/>
              </a:spcBef>
              <a:buClr>
                <a:schemeClr val="accent2"/>
              </a:buClr>
              <a:buSzPct val="85000"/>
              <a:buFont typeface="ZapfDingbats" pitchFamily="82" charset="0"/>
              <a:buNone/>
            </a:pPr>
            <a:r>
              <a:rPr lang="en-US" altLang="en-US" sz="1800">
                <a:latin typeface="Comic Sans MS" pitchFamily="66" charset="0"/>
              </a:rPr>
              <a:t>12: read as zero 0s,12: (0/4)12 </a:t>
            </a:r>
            <a:r>
              <a:rPr lang="en-US" altLang="en-US" sz="1800">
                <a:latin typeface="Comic Sans MS" pitchFamily="66" charset="0"/>
                <a:sym typeface="Wingdings" pitchFamily="2" charset="2"/>
              </a:rPr>
              <a:t> </a:t>
            </a:r>
            <a:r>
              <a:rPr lang="en-US" altLang="en-US" sz="1800">
                <a:solidFill>
                  <a:schemeClr val="accent1"/>
                </a:solidFill>
                <a:latin typeface="Comic Sans MS" pitchFamily="66" charset="0"/>
                <a:sym typeface="Wingdings" pitchFamily="2" charset="2"/>
              </a:rPr>
              <a:t>1011</a:t>
            </a:r>
            <a:r>
              <a:rPr lang="en-US" altLang="en-US" sz="1800">
                <a:solidFill>
                  <a:srgbClr val="CC00CC"/>
                </a:solidFill>
                <a:latin typeface="Comic Sans MS" pitchFamily="66" charset="0"/>
                <a:sym typeface="Wingdings" pitchFamily="2" charset="2"/>
              </a:rPr>
              <a:t>1100</a:t>
            </a:r>
          </a:p>
          <a:p>
            <a:pPr lvl="1">
              <a:spcBef>
                <a:spcPct val="20000"/>
              </a:spcBef>
              <a:buClr>
                <a:schemeClr val="accent2"/>
              </a:buClr>
              <a:buSzPct val="85000"/>
              <a:buFont typeface="ZapfDingbats" pitchFamily="82" charset="0"/>
              <a:buNone/>
            </a:pPr>
            <a:r>
              <a:rPr lang="en-US" altLang="en-US" sz="1800">
                <a:solidFill>
                  <a:schemeClr val="accent1"/>
                </a:solidFill>
                <a:latin typeface="Comic Sans MS" pitchFamily="66" charset="0"/>
                <a:sym typeface="Wingdings" pitchFamily="2" charset="2"/>
              </a:rPr>
              <a:t>1011</a:t>
            </a:r>
            <a:r>
              <a:rPr lang="en-US" altLang="en-US" sz="1800">
                <a:latin typeface="Comic Sans MS" pitchFamily="66" charset="0"/>
                <a:sym typeface="Wingdings" pitchFamily="2" charset="2"/>
              </a:rPr>
              <a:t>: The code for (0/4 from  AC code table)</a:t>
            </a:r>
          </a:p>
          <a:p>
            <a:pPr lvl="1">
              <a:spcBef>
                <a:spcPct val="20000"/>
              </a:spcBef>
              <a:buClr>
                <a:schemeClr val="accent2"/>
              </a:buClr>
              <a:buSzPct val="85000"/>
              <a:buFont typeface="ZapfDingbats" pitchFamily="82" charset="0"/>
              <a:buNone/>
            </a:pPr>
            <a:r>
              <a:rPr lang="en-US" altLang="en-US" sz="1800">
                <a:solidFill>
                  <a:srgbClr val="CC00CC"/>
                </a:solidFill>
                <a:latin typeface="Comic Sans MS" pitchFamily="66" charset="0"/>
                <a:sym typeface="Wingdings" pitchFamily="2" charset="2"/>
              </a:rPr>
              <a:t>1100</a:t>
            </a:r>
            <a:r>
              <a:rPr lang="en-US" altLang="en-US" sz="1800">
                <a:latin typeface="Comic Sans MS" pitchFamily="66" charset="0"/>
                <a:sym typeface="Wingdings" pitchFamily="2" charset="2"/>
              </a:rPr>
              <a:t>: The code for 12 from the Size_and_Value table.</a:t>
            </a:r>
            <a:endParaRPr lang="en-US" altLang="en-US" sz="1800">
              <a:solidFill>
                <a:srgbClr val="CC00CC"/>
              </a:solidFill>
              <a:latin typeface="Comic Sans MS" pitchFamily="66" charset="0"/>
              <a:sym typeface="Wingdings" pitchFamily="2" charset="2"/>
            </a:endParaRPr>
          </a:p>
          <a:p>
            <a:pPr>
              <a:spcBef>
                <a:spcPct val="20000"/>
              </a:spcBef>
              <a:buClr>
                <a:schemeClr val="accent2"/>
              </a:buClr>
              <a:buSzPct val="85000"/>
              <a:buFont typeface="ZapfDingbats" pitchFamily="82" charset="0"/>
              <a:buNone/>
            </a:pPr>
            <a:r>
              <a:rPr lang="en-US" altLang="en-US" sz="1800">
                <a:latin typeface="Comic Sans MS" pitchFamily="66" charset="0"/>
              </a:rPr>
              <a:t>10:	(0/4)10 </a:t>
            </a:r>
            <a:r>
              <a:rPr lang="en-US" altLang="en-US" sz="1800">
                <a:latin typeface="Comic Sans MS" pitchFamily="66" charset="0"/>
                <a:sym typeface="Wingdings" pitchFamily="2" charset="2"/>
              </a:rPr>
              <a:t> </a:t>
            </a:r>
            <a:r>
              <a:rPr lang="en-US" altLang="en-US" sz="1800">
                <a:solidFill>
                  <a:schemeClr val="accent1"/>
                </a:solidFill>
                <a:latin typeface="Comic Sans MS" pitchFamily="66" charset="0"/>
                <a:sym typeface="Wingdings" pitchFamily="2" charset="2"/>
              </a:rPr>
              <a:t>1011</a:t>
            </a:r>
            <a:r>
              <a:rPr lang="en-US" altLang="en-US" sz="1800">
                <a:solidFill>
                  <a:srgbClr val="CC00CC"/>
                </a:solidFill>
                <a:latin typeface="Comic Sans MS" pitchFamily="66" charset="0"/>
                <a:sym typeface="Wingdings" pitchFamily="2" charset="2"/>
              </a:rPr>
              <a:t>1010</a:t>
            </a:r>
            <a:endParaRPr lang="en-US" altLang="en-US" sz="1800">
              <a:solidFill>
                <a:srgbClr val="CC00CC"/>
              </a:solidFill>
              <a:latin typeface="Comic Sans MS" pitchFamily="66" charset="0"/>
            </a:endParaRPr>
          </a:p>
          <a:p>
            <a:pPr>
              <a:spcBef>
                <a:spcPct val="20000"/>
              </a:spcBef>
              <a:buClr>
                <a:schemeClr val="accent2"/>
              </a:buClr>
              <a:buSzPct val="85000"/>
              <a:buFont typeface="ZapfDingbats" pitchFamily="82" charset="0"/>
              <a:buNone/>
            </a:pPr>
            <a:r>
              <a:rPr lang="en-US" altLang="en-US" sz="1800">
                <a:latin typeface="Comic Sans MS" pitchFamily="66" charset="0"/>
              </a:rPr>
              <a:t>1: 	(0/1)1 </a:t>
            </a:r>
            <a:r>
              <a:rPr lang="en-US" altLang="en-US" sz="1800">
                <a:latin typeface="Comic Sans MS" pitchFamily="66" charset="0"/>
                <a:sym typeface="Wingdings" pitchFamily="2" charset="2"/>
              </a:rPr>
              <a:t> </a:t>
            </a:r>
            <a:r>
              <a:rPr lang="en-US" altLang="en-US" sz="1800">
                <a:solidFill>
                  <a:schemeClr val="accent1"/>
                </a:solidFill>
                <a:latin typeface="Comic Sans MS" pitchFamily="66" charset="0"/>
                <a:sym typeface="Wingdings" pitchFamily="2" charset="2"/>
              </a:rPr>
              <a:t>00</a:t>
            </a:r>
            <a:r>
              <a:rPr lang="en-US" altLang="en-US" sz="1800">
                <a:solidFill>
                  <a:srgbClr val="CC00CC"/>
                </a:solidFill>
                <a:latin typeface="Comic Sans MS" pitchFamily="66" charset="0"/>
                <a:sym typeface="Wingdings" pitchFamily="2" charset="2"/>
              </a:rPr>
              <a:t>1</a:t>
            </a:r>
          </a:p>
          <a:p>
            <a:pPr>
              <a:spcBef>
                <a:spcPct val="20000"/>
              </a:spcBef>
              <a:buClr>
                <a:schemeClr val="accent2"/>
              </a:buClr>
              <a:buSzPct val="85000"/>
              <a:buFont typeface="ZapfDingbats" pitchFamily="82" charset="0"/>
              <a:buNone/>
            </a:pPr>
            <a:r>
              <a:rPr lang="en-US" altLang="en-US" sz="1800">
                <a:latin typeface="Comic Sans MS" pitchFamily="66" charset="0"/>
              </a:rPr>
              <a:t>-7:	(0/3)-7 </a:t>
            </a:r>
            <a:r>
              <a:rPr lang="en-US" altLang="en-US" sz="1800">
                <a:latin typeface="Comic Sans MS" pitchFamily="66" charset="0"/>
                <a:sym typeface="Wingdings" pitchFamily="2" charset="2"/>
              </a:rPr>
              <a:t> </a:t>
            </a:r>
            <a:r>
              <a:rPr lang="en-US" altLang="en-US" sz="1800">
                <a:solidFill>
                  <a:schemeClr val="accent1"/>
                </a:solidFill>
                <a:latin typeface="Comic Sans MS" pitchFamily="66" charset="0"/>
                <a:sym typeface="Wingdings" pitchFamily="2" charset="2"/>
              </a:rPr>
              <a:t>100</a:t>
            </a:r>
            <a:r>
              <a:rPr lang="en-US" altLang="en-US" sz="1800">
                <a:solidFill>
                  <a:srgbClr val="CC00CC"/>
                </a:solidFill>
                <a:latin typeface="Comic Sans MS" pitchFamily="66" charset="0"/>
                <a:sym typeface="Wingdings" pitchFamily="2" charset="2"/>
              </a:rPr>
              <a:t>000</a:t>
            </a:r>
          </a:p>
          <a:p>
            <a:pPr>
              <a:spcBef>
                <a:spcPct val="20000"/>
              </a:spcBef>
              <a:buClr>
                <a:schemeClr val="accent2"/>
              </a:buClr>
              <a:buSzPct val="85000"/>
              <a:buFont typeface="ZapfDingbats" pitchFamily="82" charset="0"/>
              <a:buNone/>
            </a:pPr>
            <a:r>
              <a:rPr lang="en-US" altLang="en-US" sz="1800">
                <a:latin typeface="Comic Sans MS" pitchFamily="66" charset="0"/>
              </a:rPr>
              <a:t>2 0s, -4: (2/3)-4 </a:t>
            </a:r>
            <a:r>
              <a:rPr lang="en-US" altLang="en-US" sz="1800">
                <a:latin typeface="Comic Sans MS" pitchFamily="66" charset="0"/>
                <a:sym typeface="Wingdings" pitchFamily="2" charset="2"/>
              </a:rPr>
              <a:t> </a:t>
            </a:r>
            <a:r>
              <a:rPr lang="en-US" altLang="en-US" sz="1800">
                <a:solidFill>
                  <a:schemeClr val="accent1"/>
                </a:solidFill>
                <a:latin typeface="Comic Sans MS" pitchFamily="66" charset="0"/>
                <a:sym typeface="Wingdings" pitchFamily="2" charset="2"/>
              </a:rPr>
              <a:t>1111110111</a:t>
            </a:r>
            <a:r>
              <a:rPr lang="en-US" altLang="en-US" sz="1800">
                <a:solidFill>
                  <a:srgbClr val="CC00CC"/>
                </a:solidFill>
                <a:latin typeface="Comic Sans MS" pitchFamily="66" charset="0"/>
                <a:sym typeface="Wingdings" pitchFamily="2" charset="2"/>
              </a:rPr>
              <a:t>011</a:t>
            </a:r>
          </a:p>
          <a:p>
            <a:pPr lvl="1">
              <a:spcBef>
                <a:spcPct val="20000"/>
              </a:spcBef>
              <a:buClr>
                <a:schemeClr val="accent2"/>
              </a:buClr>
              <a:buSzPct val="85000"/>
              <a:buFont typeface="ZapfDingbats" pitchFamily="82" charset="0"/>
              <a:buNone/>
            </a:pPr>
            <a:r>
              <a:rPr lang="en-US" altLang="en-US" sz="1800">
                <a:solidFill>
                  <a:schemeClr val="accent1"/>
                </a:solidFill>
                <a:latin typeface="Comic Sans MS" pitchFamily="66" charset="0"/>
                <a:sym typeface="Wingdings" pitchFamily="2" charset="2"/>
              </a:rPr>
              <a:t>1111110111</a:t>
            </a:r>
            <a:r>
              <a:rPr lang="en-US" altLang="en-US" sz="1800">
                <a:latin typeface="Comic Sans MS" pitchFamily="66" charset="0"/>
                <a:sym typeface="Wingdings" pitchFamily="2" charset="2"/>
              </a:rPr>
              <a:t>: The 10-bit code for 2/3</a:t>
            </a:r>
          </a:p>
          <a:p>
            <a:pPr lvl="1">
              <a:spcBef>
                <a:spcPct val="20000"/>
              </a:spcBef>
              <a:buClr>
                <a:schemeClr val="accent2"/>
              </a:buClr>
              <a:buSzPct val="85000"/>
              <a:buFont typeface="ZapfDingbats" pitchFamily="82" charset="0"/>
              <a:buNone/>
            </a:pPr>
            <a:r>
              <a:rPr lang="en-US" altLang="en-US" sz="1800">
                <a:solidFill>
                  <a:srgbClr val="CC00CC"/>
                </a:solidFill>
                <a:latin typeface="Comic Sans MS" pitchFamily="66" charset="0"/>
                <a:sym typeface="Wingdings" pitchFamily="2" charset="2"/>
              </a:rPr>
              <a:t>011</a:t>
            </a:r>
            <a:r>
              <a:rPr lang="en-US" altLang="en-US" sz="1800">
                <a:latin typeface="Comic Sans MS" pitchFamily="66" charset="0"/>
                <a:sym typeface="Wingdings" pitchFamily="2" charset="2"/>
              </a:rPr>
              <a:t>: representation of –4 from Size_and_Value table.</a:t>
            </a:r>
            <a:endParaRPr lang="en-US" altLang="en-US" sz="1800">
              <a:solidFill>
                <a:schemeClr val="accent2"/>
              </a:solidFill>
              <a:latin typeface="Comic Sans MS" pitchFamily="66" charset="0"/>
              <a:sym typeface="Wingdings" pitchFamily="2" charset="2"/>
            </a:endParaRPr>
          </a:p>
          <a:p>
            <a:pPr>
              <a:spcBef>
                <a:spcPct val="20000"/>
              </a:spcBef>
              <a:buClr>
                <a:schemeClr val="accent2"/>
              </a:buClr>
              <a:buSzPct val="85000"/>
              <a:buFont typeface="ZapfDingbats" pitchFamily="82" charset="0"/>
              <a:buNone/>
            </a:pPr>
            <a:r>
              <a:rPr lang="en-US" altLang="en-US" sz="1800">
                <a:latin typeface="Comic Sans MS" pitchFamily="66" charset="0"/>
                <a:sym typeface="Wingdings" pitchFamily="2" charset="2"/>
              </a:rPr>
              <a:t>56 0s: (0,0)  </a:t>
            </a:r>
            <a:r>
              <a:rPr lang="en-US" altLang="en-US" sz="1800">
                <a:solidFill>
                  <a:schemeClr val="accent1"/>
                </a:solidFill>
                <a:latin typeface="Comic Sans MS" pitchFamily="66" charset="0"/>
                <a:sym typeface="Wingdings" pitchFamily="2" charset="2"/>
              </a:rPr>
              <a:t>1010</a:t>
            </a:r>
            <a:r>
              <a:rPr lang="en-US" altLang="en-US" sz="1800">
                <a:latin typeface="Comic Sans MS" pitchFamily="66" charset="0"/>
                <a:sym typeface="Wingdings" pitchFamily="2" charset="2"/>
              </a:rPr>
              <a:t> (Rest of the components are zeros therefore we simply put the EOB to signify this fact)</a:t>
            </a:r>
          </a:p>
        </p:txBody>
      </p:sp>
      <p:sp>
        <p:nvSpPr>
          <p:cNvPr id="16390" name="Rectangle 6"/>
          <p:cNvSpPr>
            <a:spLocks noChangeArrowheads="1"/>
          </p:cNvSpPr>
          <p:nvPr/>
        </p:nvSpPr>
        <p:spPr bwMode="auto">
          <a:xfrm>
            <a:off x="804333" y="1534584"/>
            <a:ext cx="254000" cy="243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40</a:t>
            </a:r>
          </a:p>
        </p:txBody>
      </p:sp>
      <p:sp>
        <p:nvSpPr>
          <p:cNvPr id="16391" name="Rectangle 7"/>
          <p:cNvSpPr>
            <a:spLocks noChangeArrowheads="1"/>
          </p:cNvSpPr>
          <p:nvPr/>
        </p:nvSpPr>
        <p:spPr bwMode="auto">
          <a:xfrm>
            <a:off x="1058333" y="153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12</a:t>
            </a:r>
          </a:p>
        </p:txBody>
      </p:sp>
      <p:sp>
        <p:nvSpPr>
          <p:cNvPr id="16392" name="Rectangle 8"/>
          <p:cNvSpPr>
            <a:spLocks noChangeArrowheads="1"/>
          </p:cNvSpPr>
          <p:nvPr/>
        </p:nvSpPr>
        <p:spPr bwMode="auto">
          <a:xfrm>
            <a:off x="1312333" y="153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393" name="Rectangle 9"/>
          <p:cNvSpPr>
            <a:spLocks noChangeArrowheads="1"/>
          </p:cNvSpPr>
          <p:nvPr/>
        </p:nvSpPr>
        <p:spPr bwMode="auto">
          <a:xfrm>
            <a:off x="1566333" y="153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394" name="Rectangle 10"/>
          <p:cNvSpPr>
            <a:spLocks noChangeArrowheads="1"/>
          </p:cNvSpPr>
          <p:nvPr/>
        </p:nvSpPr>
        <p:spPr bwMode="auto">
          <a:xfrm>
            <a:off x="1820333" y="153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395" name="Rectangle 11"/>
          <p:cNvSpPr>
            <a:spLocks noChangeArrowheads="1"/>
          </p:cNvSpPr>
          <p:nvPr/>
        </p:nvSpPr>
        <p:spPr bwMode="auto">
          <a:xfrm>
            <a:off x="2074333" y="153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396" name="Rectangle 12"/>
          <p:cNvSpPr>
            <a:spLocks noChangeArrowheads="1"/>
          </p:cNvSpPr>
          <p:nvPr/>
        </p:nvSpPr>
        <p:spPr bwMode="auto">
          <a:xfrm>
            <a:off x="2328333" y="153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397" name="Rectangle 13"/>
          <p:cNvSpPr>
            <a:spLocks noChangeArrowheads="1"/>
          </p:cNvSpPr>
          <p:nvPr/>
        </p:nvSpPr>
        <p:spPr bwMode="auto">
          <a:xfrm>
            <a:off x="2582333" y="15345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398" name="Rectangle 14"/>
          <p:cNvSpPr>
            <a:spLocks noChangeArrowheads="1"/>
          </p:cNvSpPr>
          <p:nvPr/>
        </p:nvSpPr>
        <p:spPr bwMode="auto">
          <a:xfrm>
            <a:off x="804333" y="1778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10</a:t>
            </a:r>
          </a:p>
        </p:txBody>
      </p:sp>
      <p:sp>
        <p:nvSpPr>
          <p:cNvPr id="16399" name="Rectangle 15"/>
          <p:cNvSpPr>
            <a:spLocks noChangeArrowheads="1"/>
          </p:cNvSpPr>
          <p:nvPr/>
        </p:nvSpPr>
        <p:spPr bwMode="auto">
          <a:xfrm>
            <a:off x="1058333" y="1778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-7</a:t>
            </a:r>
          </a:p>
        </p:txBody>
      </p:sp>
      <p:sp>
        <p:nvSpPr>
          <p:cNvPr id="16400" name="Rectangle 16"/>
          <p:cNvSpPr>
            <a:spLocks noChangeArrowheads="1"/>
          </p:cNvSpPr>
          <p:nvPr/>
        </p:nvSpPr>
        <p:spPr bwMode="auto">
          <a:xfrm>
            <a:off x="1312333" y="1778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-4</a:t>
            </a:r>
          </a:p>
        </p:txBody>
      </p:sp>
      <p:sp>
        <p:nvSpPr>
          <p:cNvPr id="16401" name="Rectangle 17"/>
          <p:cNvSpPr>
            <a:spLocks noChangeArrowheads="1"/>
          </p:cNvSpPr>
          <p:nvPr/>
        </p:nvSpPr>
        <p:spPr bwMode="auto">
          <a:xfrm>
            <a:off x="1566333" y="1778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02" name="Rectangle 18"/>
          <p:cNvSpPr>
            <a:spLocks noChangeArrowheads="1"/>
          </p:cNvSpPr>
          <p:nvPr/>
        </p:nvSpPr>
        <p:spPr bwMode="auto">
          <a:xfrm>
            <a:off x="1820333" y="1778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03" name="Rectangle 19"/>
          <p:cNvSpPr>
            <a:spLocks noChangeArrowheads="1"/>
          </p:cNvSpPr>
          <p:nvPr/>
        </p:nvSpPr>
        <p:spPr bwMode="auto">
          <a:xfrm>
            <a:off x="2074333" y="1778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04" name="Rectangle 20"/>
          <p:cNvSpPr>
            <a:spLocks noChangeArrowheads="1"/>
          </p:cNvSpPr>
          <p:nvPr/>
        </p:nvSpPr>
        <p:spPr bwMode="auto">
          <a:xfrm>
            <a:off x="2328333" y="1778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05" name="Rectangle 21"/>
          <p:cNvSpPr>
            <a:spLocks noChangeArrowheads="1"/>
          </p:cNvSpPr>
          <p:nvPr/>
        </p:nvSpPr>
        <p:spPr bwMode="auto">
          <a:xfrm>
            <a:off x="2582333" y="17780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06" name="Rectangle 22"/>
          <p:cNvSpPr>
            <a:spLocks noChangeArrowheads="1"/>
          </p:cNvSpPr>
          <p:nvPr/>
        </p:nvSpPr>
        <p:spPr bwMode="auto">
          <a:xfrm>
            <a:off x="804333" y="2021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1</a:t>
            </a:r>
          </a:p>
        </p:txBody>
      </p:sp>
      <p:sp>
        <p:nvSpPr>
          <p:cNvPr id="16407" name="Rectangle 23"/>
          <p:cNvSpPr>
            <a:spLocks noChangeArrowheads="1"/>
          </p:cNvSpPr>
          <p:nvPr/>
        </p:nvSpPr>
        <p:spPr bwMode="auto">
          <a:xfrm>
            <a:off x="1058333" y="2021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08" name="Rectangle 24"/>
          <p:cNvSpPr>
            <a:spLocks noChangeArrowheads="1"/>
          </p:cNvSpPr>
          <p:nvPr/>
        </p:nvSpPr>
        <p:spPr bwMode="auto">
          <a:xfrm>
            <a:off x="1312333" y="2021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09" name="Rectangle 25"/>
          <p:cNvSpPr>
            <a:spLocks noChangeArrowheads="1"/>
          </p:cNvSpPr>
          <p:nvPr/>
        </p:nvSpPr>
        <p:spPr bwMode="auto">
          <a:xfrm>
            <a:off x="1566333" y="2021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0" name="Rectangle 26"/>
          <p:cNvSpPr>
            <a:spLocks noChangeArrowheads="1"/>
          </p:cNvSpPr>
          <p:nvPr/>
        </p:nvSpPr>
        <p:spPr bwMode="auto">
          <a:xfrm>
            <a:off x="1820333" y="2021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1" name="Rectangle 27"/>
          <p:cNvSpPr>
            <a:spLocks noChangeArrowheads="1"/>
          </p:cNvSpPr>
          <p:nvPr/>
        </p:nvSpPr>
        <p:spPr bwMode="auto">
          <a:xfrm>
            <a:off x="2074333" y="2021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2" name="Rectangle 28"/>
          <p:cNvSpPr>
            <a:spLocks noChangeArrowheads="1"/>
          </p:cNvSpPr>
          <p:nvPr/>
        </p:nvSpPr>
        <p:spPr bwMode="auto">
          <a:xfrm>
            <a:off x="2328333" y="2021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3" name="Rectangle 29"/>
          <p:cNvSpPr>
            <a:spLocks noChangeArrowheads="1"/>
          </p:cNvSpPr>
          <p:nvPr/>
        </p:nvSpPr>
        <p:spPr bwMode="auto">
          <a:xfrm>
            <a:off x="2582333" y="202141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4" name="Rectangle 30"/>
          <p:cNvSpPr>
            <a:spLocks noChangeArrowheads="1"/>
          </p:cNvSpPr>
          <p:nvPr/>
        </p:nvSpPr>
        <p:spPr bwMode="auto">
          <a:xfrm>
            <a:off x="804333" y="2264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5" name="Rectangle 31"/>
          <p:cNvSpPr>
            <a:spLocks noChangeArrowheads="1"/>
          </p:cNvSpPr>
          <p:nvPr/>
        </p:nvSpPr>
        <p:spPr bwMode="auto">
          <a:xfrm>
            <a:off x="1058333" y="2264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6" name="Rectangle 32"/>
          <p:cNvSpPr>
            <a:spLocks noChangeArrowheads="1"/>
          </p:cNvSpPr>
          <p:nvPr/>
        </p:nvSpPr>
        <p:spPr bwMode="auto">
          <a:xfrm>
            <a:off x="1312333" y="2264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7" name="Rectangle 33"/>
          <p:cNvSpPr>
            <a:spLocks noChangeArrowheads="1"/>
          </p:cNvSpPr>
          <p:nvPr/>
        </p:nvSpPr>
        <p:spPr bwMode="auto">
          <a:xfrm>
            <a:off x="1566333" y="2264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8" name="Rectangle 34"/>
          <p:cNvSpPr>
            <a:spLocks noChangeArrowheads="1"/>
          </p:cNvSpPr>
          <p:nvPr/>
        </p:nvSpPr>
        <p:spPr bwMode="auto">
          <a:xfrm>
            <a:off x="1820333" y="2264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19" name="Rectangle 35"/>
          <p:cNvSpPr>
            <a:spLocks noChangeArrowheads="1"/>
          </p:cNvSpPr>
          <p:nvPr/>
        </p:nvSpPr>
        <p:spPr bwMode="auto">
          <a:xfrm>
            <a:off x="2074333" y="2264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0" name="Rectangle 36"/>
          <p:cNvSpPr>
            <a:spLocks noChangeArrowheads="1"/>
          </p:cNvSpPr>
          <p:nvPr/>
        </p:nvSpPr>
        <p:spPr bwMode="auto">
          <a:xfrm>
            <a:off x="2328333" y="2264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1" name="Rectangle 37"/>
          <p:cNvSpPr>
            <a:spLocks noChangeArrowheads="1"/>
          </p:cNvSpPr>
          <p:nvPr/>
        </p:nvSpPr>
        <p:spPr bwMode="auto">
          <a:xfrm>
            <a:off x="2582333" y="226483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2" name="Rectangle 38"/>
          <p:cNvSpPr>
            <a:spLocks noChangeArrowheads="1"/>
          </p:cNvSpPr>
          <p:nvPr/>
        </p:nvSpPr>
        <p:spPr bwMode="auto">
          <a:xfrm>
            <a:off x="804333" y="2508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3" name="Rectangle 39"/>
          <p:cNvSpPr>
            <a:spLocks noChangeArrowheads="1"/>
          </p:cNvSpPr>
          <p:nvPr/>
        </p:nvSpPr>
        <p:spPr bwMode="auto">
          <a:xfrm>
            <a:off x="1058333" y="2508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4" name="Rectangle 40"/>
          <p:cNvSpPr>
            <a:spLocks noChangeArrowheads="1"/>
          </p:cNvSpPr>
          <p:nvPr/>
        </p:nvSpPr>
        <p:spPr bwMode="auto">
          <a:xfrm>
            <a:off x="1312333" y="2508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5" name="Rectangle 41"/>
          <p:cNvSpPr>
            <a:spLocks noChangeArrowheads="1"/>
          </p:cNvSpPr>
          <p:nvPr/>
        </p:nvSpPr>
        <p:spPr bwMode="auto">
          <a:xfrm>
            <a:off x="1566333" y="2508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6" name="Rectangle 42"/>
          <p:cNvSpPr>
            <a:spLocks noChangeArrowheads="1"/>
          </p:cNvSpPr>
          <p:nvPr/>
        </p:nvSpPr>
        <p:spPr bwMode="auto">
          <a:xfrm>
            <a:off x="1820333" y="2508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7" name="Rectangle 43"/>
          <p:cNvSpPr>
            <a:spLocks noChangeArrowheads="1"/>
          </p:cNvSpPr>
          <p:nvPr/>
        </p:nvSpPr>
        <p:spPr bwMode="auto">
          <a:xfrm>
            <a:off x="2074333" y="2508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8" name="Rectangle 44"/>
          <p:cNvSpPr>
            <a:spLocks noChangeArrowheads="1"/>
          </p:cNvSpPr>
          <p:nvPr/>
        </p:nvSpPr>
        <p:spPr bwMode="auto">
          <a:xfrm>
            <a:off x="2328333" y="2508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29" name="Rectangle 45"/>
          <p:cNvSpPr>
            <a:spLocks noChangeArrowheads="1"/>
          </p:cNvSpPr>
          <p:nvPr/>
        </p:nvSpPr>
        <p:spPr bwMode="auto">
          <a:xfrm>
            <a:off x="2582333" y="250825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0" name="Rectangle 46"/>
          <p:cNvSpPr>
            <a:spLocks noChangeArrowheads="1"/>
          </p:cNvSpPr>
          <p:nvPr/>
        </p:nvSpPr>
        <p:spPr bwMode="auto">
          <a:xfrm>
            <a:off x="804333" y="2751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1" name="Rectangle 47"/>
          <p:cNvSpPr>
            <a:spLocks noChangeArrowheads="1"/>
          </p:cNvSpPr>
          <p:nvPr/>
        </p:nvSpPr>
        <p:spPr bwMode="auto">
          <a:xfrm>
            <a:off x="1058333" y="2751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2" name="Rectangle 48"/>
          <p:cNvSpPr>
            <a:spLocks noChangeArrowheads="1"/>
          </p:cNvSpPr>
          <p:nvPr/>
        </p:nvSpPr>
        <p:spPr bwMode="auto">
          <a:xfrm>
            <a:off x="1312333" y="2751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3" name="Rectangle 49"/>
          <p:cNvSpPr>
            <a:spLocks noChangeArrowheads="1"/>
          </p:cNvSpPr>
          <p:nvPr/>
        </p:nvSpPr>
        <p:spPr bwMode="auto">
          <a:xfrm>
            <a:off x="1566333" y="2751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4" name="Rectangle 50"/>
          <p:cNvSpPr>
            <a:spLocks noChangeArrowheads="1"/>
          </p:cNvSpPr>
          <p:nvPr/>
        </p:nvSpPr>
        <p:spPr bwMode="auto">
          <a:xfrm>
            <a:off x="1820333" y="2751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5" name="Rectangle 51"/>
          <p:cNvSpPr>
            <a:spLocks noChangeArrowheads="1"/>
          </p:cNvSpPr>
          <p:nvPr/>
        </p:nvSpPr>
        <p:spPr bwMode="auto">
          <a:xfrm>
            <a:off x="2074333" y="2751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6" name="Rectangle 52"/>
          <p:cNvSpPr>
            <a:spLocks noChangeArrowheads="1"/>
          </p:cNvSpPr>
          <p:nvPr/>
        </p:nvSpPr>
        <p:spPr bwMode="auto">
          <a:xfrm>
            <a:off x="2328333" y="2751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7" name="Rectangle 53"/>
          <p:cNvSpPr>
            <a:spLocks noChangeArrowheads="1"/>
          </p:cNvSpPr>
          <p:nvPr/>
        </p:nvSpPr>
        <p:spPr bwMode="auto">
          <a:xfrm>
            <a:off x="2582333" y="2751667"/>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8" name="Rectangle 54"/>
          <p:cNvSpPr>
            <a:spLocks noChangeArrowheads="1"/>
          </p:cNvSpPr>
          <p:nvPr/>
        </p:nvSpPr>
        <p:spPr bwMode="auto">
          <a:xfrm>
            <a:off x="804333" y="2995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39" name="Rectangle 55"/>
          <p:cNvSpPr>
            <a:spLocks noChangeArrowheads="1"/>
          </p:cNvSpPr>
          <p:nvPr/>
        </p:nvSpPr>
        <p:spPr bwMode="auto">
          <a:xfrm>
            <a:off x="1058333" y="2995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0" name="Rectangle 56"/>
          <p:cNvSpPr>
            <a:spLocks noChangeArrowheads="1"/>
          </p:cNvSpPr>
          <p:nvPr/>
        </p:nvSpPr>
        <p:spPr bwMode="auto">
          <a:xfrm>
            <a:off x="1312333" y="2995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1" name="Rectangle 57"/>
          <p:cNvSpPr>
            <a:spLocks noChangeArrowheads="1"/>
          </p:cNvSpPr>
          <p:nvPr/>
        </p:nvSpPr>
        <p:spPr bwMode="auto">
          <a:xfrm>
            <a:off x="1566333" y="2995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2" name="Rectangle 58"/>
          <p:cNvSpPr>
            <a:spLocks noChangeArrowheads="1"/>
          </p:cNvSpPr>
          <p:nvPr/>
        </p:nvSpPr>
        <p:spPr bwMode="auto">
          <a:xfrm>
            <a:off x="1820333" y="2995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3" name="Rectangle 59"/>
          <p:cNvSpPr>
            <a:spLocks noChangeArrowheads="1"/>
          </p:cNvSpPr>
          <p:nvPr/>
        </p:nvSpPr>
        <p:spPr bwMode="auto">
          <a:xfrm>
            <a:off x="2074333" y="2995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4" name="Rectangle 60"/>
          <p:cNvSpPr>
            <a:spLocks noChangeArrowheads="1"/>
          </p:cNvSpPr>
          <p:nvPr/>
        </p:nvSpPr>
        <p:spPr bwMode="auto">
          <a:xfrm>
            <a:off x="2328333" y="2995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5" name="Rectangle 61"/>
          <p:cNvSpPr>
            <a:spLocks noChangeArrowheads="1"/>
          </p:cNvSpPr>
          <p:nvPr/>
        </p:nvSpPr>
        <p:spPr bwMode="auto">
          <a:xfrm>
            <a:off x="2582333" y="2995084"/>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6" name="Rectangle 62"/>
          <p:cNvSpPr>
            <a:spLocks noChangeArrowheads="1"/>
          </p:cNvSpPr>
          <p:nvPr/>
        </p:nvSpPr>
        <p:spPr bwMode="auto">
          <a:xfrm>
            <a:off x="804333" y="3238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7" name="Rectangle 63"/>
          <p:cNvSpPr>
            <a:spLocks noChangeArrowheads="1"/>
          </p:cNvSpPr>
          <p:nvPr/>
        </p:nvSpPr>
        <p:spPr bwMode="auto">
          <a:xfrm>
            <a:off x="1058333" y="3238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8" name="Rectangle 64"/>
          <p:cNvSpPr>
            <a:spLocks noChangeArrowheads="1"/>
          </p:cNvSpPr>
          <p:nvPr/>
        </p:nvSpPr>
        <p:spPr bwMode="auto">
          <a:xfrm>
            <a:off x="1312333" y="3238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49" name="Rectangle 65"/>
          <p:cNvSpPr>
            <a:spLocks noChangeArrowheads="1"/>
          </p:cNvSpPr>
          <p:nvPr/>
        </p:nvSpPr>
        <p:spPr bwMode="auto">
          <a:xfrm>
            <a:off x="1566333" y="3238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50" name="Rectangle 66"/>
          <p:cNvSpPr>
            <a:spLocks noChangeArrowheads="1"/>
          </p:cNvSpPr>
          <p:nvPr/>
        </p:nvSpPr>
        <p:spPr bwMode="auto">
          <a:xfrm>
            <a:off x="1820333" y="3238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51" name="Rectangle 67"/>
          <p:cNvSpPr>
            <a:spLocks noChangeArrowheads="1"/>
          </p:cNvSpPr>
          <p:nvPr/>
        </p:nvSpPr>
        <p:spPr bwMode="auto">
          <a:xfrm>
            <a:off x="2074333" y="3238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52" name="Rectangle 68"/>
          <p:cNvSpPr>
            <a:spLocks noChangeArrowheads="1"/>
          </p:cNvSpPr>
          <p:nvPr/>
        </p:nvSpPr>
        <p:spPr bwMode="auto">
          <a:xfrm>
            <a:off x="2328333" y="3238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
        <p:nvSpPr>
          <p:cNvPr id="16453" name="Rectangle 69"/>
          <p:cNvSpPr>
            <a:spLocks noChangeArrowheads="1"/>
          </p:cNvSpPr>
          <p:nvPr/>
        </p:nvSpPr>
        <p:spPr bwMode="auto">
          <a:xfrm>
            <a:off x="2582333" y="3238500"/>
            <a:ext cx="254000" cy="24341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599" tIns="50799" rIns="101599" bIns="50799" anchor="ctr"/>
          <a:lstStyle>
            <a:lvl1pPr>
              <a:defRPr sz="1400">
                <a:solidFill>
                  <a:schemeClr val="tx1"/>
                </a:solidFill>
                <a:latin typeface="Times New Roman" pitchFamily="18" charset="0"/>
              </a:defRPr>
            </a:lvl1pPr>
            <a:lvl2pPr marL="742950" indent="-285750">
              <a:defRPr sz="1400">
                <a:solidFill>
                  <a:schemeClr val="tx1"/>
                </a:solidFill>
                <a:latin typeface="Times New Roman" pitchFamily="18" charset="0"/>
              </a:defRPr>
            </a:lvl2pPr>
            <a:lvl3pPr marL="1143000" indent="-228600">
              <a:defRPr sz="1400">
                <a:solidFill>
                  <a:schemeClr val="tx1"/>
                </a:solidFill>
                <a:latin typeface="Times New Roman" pitchFamily="18" charset="0"/>
              </a:defRPr>
            </a:lvl3pPr>
            <a:lvl4pPr marL="1600200" indent="-228600">
              <a:defRPr sz="1400">
                <a:solidFill>
                  <a:schemeClr val="tx1"/>
                </a:solidFill>
                <a:latin typeface="Times New Roman" pitchFamily="18" charset="0"/>
              </a:defRPr>
            </a:lvl4pPr>
            <a:lvl5pPr marL="2057400" indent="-228600">
              <a:defRPr sz="1400">
                <a:solidFill>
                  <a:schemeClr val="tx1"/>
                </a:solidFill>
                <a:latin typeface="Times New Roman" pitchFamily="18" charset="0"/>
              </a:defRPr>
            </a:lvl5pPr>
            <a:lvl6pPr marL="2514600" indent="-228600" eaLnBrk="0" fontAlgn="base" hangingPunct="0">
              <a:spcBef>
                <a:spcPct val="0"/>
              </a:spcBef>
              <a:spcAft>
                <a:spcPct val="0"/>
              </a:spcAft>
              <a:defRPr sz="1400">
                <a:solidFill>
                  <a:schemeClr val="tx1"/>
                </a:solidFill>
                <a:latin typeface="Times New Roman" pitchFamily="18" charset="0"/>
              </a:defRPr>
            </a:lvl6pPr>
            <a:lvl7pPr marL="2971800" indent="-228600" eaLnBrk="0" fontAlgn="base" hangingPunct="0">
              <a:spcBef>
                <a:spcPct val="0"/>
              </a:spcBef>
              <a:spcAft>
                <a:spcPct val="0"/>
              </a:spcAft>
              <a:defRPr sz="1400">
                <a:solidFill>
                  <a:schemeClr val="tx1"/>
                </a:solidFill>
                <a:latin typeface="Times New Roman" pitchFamily="18" charset="0"/>
              </a:defRPr>
            </a:lvl7pPr>
            <a:lvl8pPr marL="3429000" indent="-228600" eaLnBrk="0" fontAlgn="base" hangingPunct="0">
              <a:spcBef>
                <a:spcPct val="0"/>
              </a:spcBef>
              <a:spcAft>
                <a:spcPct val="0"/>
              </a:spcAft>
              <a:defRPr sz="1400">
                <a:solidFill>
                  <a:schemeClr val="tx1"/>
                </a:solidFill>
                <a:latin typeface="Times New Roman" pitchFamily="18" charset="0"/>
              </a:defRPr>
            </a:lvl8pPr>
            <a:lvl9pPr marL="3886200" indent="-228600" eaLnBrk="0" fontAlgn="base" hangingPunct="0">
              <a:spcBef>
                <a:spcPct val="0"/>
              </a:spcBef>
              <a:spcAft>
                <a:spcPct val="0"/>
              </a:spcAft>
              <a:defRPr sz="1400">
                <a:solidFill>
                  <a:schemeClr val="tx1"/>
                </a:solidFill>
                <a:latin typeface="Times New Roman" pitchFamily="18" charset="0"/>
              </a:defRPr>
            </a:lvl9pPr>
          </a:lstStyle>
          <a:p>
            <a:pPr algn="ctr"/>
            <a:r>
              <a:rPr lang="en-US" altLang="en-US"/>
              <a:t>0</a:t>
            </a:r>
          </a:p>
        </p:txBody>
      </p:sp>
    </p:spTree>
    <p:extLst>
      <p:ext uri="{BB962C8B-B14F-4D97-AF65-F5344CB8AC3E}">
        <p14:creationId xmlns:p14="http://schemas.microsoft.com/office/powerpoint/2010/main" val="2886143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lvl1pPr>
              <a:defRPr sz="1600">
                <a:solidFill>
                  <a:schemeClr val="tx1"/>
                </a:solidFill>
                <a:latin typeface="Times New Roman" pitchFamily="18" charset="0"/>
              </a:defRPr>
            </a:lvl1pPr>
            <a:lvl2pPr marL="825492" indent="-317497">
              <a:defRPr sz="1600">
                <a:solidFill>
                  <a:schemeClr val="tx1"/>
                </a:solidFill>
                <a:latin typeface="Times New Roman" pitchFamily="18" charset="0"/>
              </a:defRPr>
            </a:lvl2pPr>
            <a:lvl3pPr marL="1269987" indent="-253997">
              <a:defRPr sz="1600">
                <a:solidFill>
                  <a:schemeClr val="tx1"/>
                </a:solidFill>
                <a:latin typeface="Times New Roman" pitchFamily="18" charset="0"/>
              </a:defRPr>
            </a:lvl3pPr>
            <a:lvl4pPr marL="1777982" indent="-253997">
              <a:defRPr sz="1600">
                <a:solidFill>
                  <a:schemeClr val="tx1"/>
                </a:solidFill>
                <a:latin typeface="Times New Roman" pitchFamily="18" charset="0"/>
              </a:defRPr>
            </a:lvl4pPr>
            <a:lvl5pPr marL="2285977" indent="-253997">
              <a:defRPr sz="1600">
                <a:solidFill>
                  <a:schemeClr val="tx1"/>
                </a:solidFill>
                <a:latin typeface="Times New Roman" pitchFamily="18" charset="0"/>
              </a:defRPr>
            </a:lvl5pPr>
            <a:lvl6pPr marL="2793972" indent="-253997" eaLnBrk="0" fontAlgn="base" hangingPunct="0">
              <a:spcBef>
                <a:spcPct val="0"/>
              </a:spcBef>
              <a:spcAft>
                <a:spcPct val="0"/>
              </a:spcAft>
              <a:defRPr sz="1600">
                <a:solidFill>
                  <a:schemeClr val="tx1"/>
                </a:solidFill>
                <a:latin typeface="Times New Roman" pitchFamily="18" charset="0"/>
              </a:defRPr>
            </a:lvl6pPr>
            <a:lvl7pPr marL="3301967" indent="-253997" eaLnBrk="0" fontAlgn="base" hangingPunct="0">
              <a:spcBef>
                <a:spcPct val="0"/>
              </a:spcBef>
              <a:spcAft>
                <a:spcPct val="0"/>
              </a:spcAft>
              <a:defRPr sz="1600">
                <a:solidFill>
                  <a:schemeClr val="tx1"/>
                </a:solidFill>
                <a:latin typeface="Times New Roman" pitchFamily="18" charset="0"/>
              </a:defRPr>
            </a:lvl7pPr>
            <a:lvl8pPr marL="3809962" indent="-253997" eaLnBrk="0" fontAlgn="base" hangingPunct="0">
              <a:spcBef>
                <a:spcPct val="0"/>
              </a:spcBef>
              <a:spcAft>
                <a:spcPct val="0"/>
              </a:spcAft>
              <a:defRPr sz="1600">
                <a:solidFill>
                  <a:schemeClr val="tx1"/>
                </a:solidFill>
                <a:latin typeface="Times New Roman" pitchFamily="18" charset="0"/>
              </a:defRPr>
            </a:lvl8pPr>
            <a:lvl9pPr marL="4317957" indent="-253997" eaLnBrk="0" fontAlgn="base" hangingPunct="0">
              <a:spcBef>
                <a:spcPct val="0"/>
              </a:spcBef>
              <a:spcAft>
                <a:spcPct val="0"/>
              </a:spcAft>
              <a:defRPr sz="1600">
                <a:solidFill>
                  <a:schemeClr val="tx1"/>
                </a:solidFill>
                <a:latin typeface="Times New Roman" pitchFamily="18" charset="0"/>
              </a:defRPr>
            </a:lvl9pPr>
          </a:lstStyle>
          <a:p>
            <a:fld id="{47D5D618-38A7-41E2-AB71-68AF59B81F07}" type="slidenum">
              <a:rPr lang="en-US" altLang="en-US"/>
              <a:pPr/>
              <a:t>80</a:t>
            </a:fld>
            <a:endParaRPr lang="en-US" altLang="en-US"/>
          </a:p>
        </p:txBody>
      </p:sp>
      <p:sp>
        <p:nvSpPr>
          <p:cNvPr id="17411" name="Rectangle 2"/>
          <p:cNvSpPr>
            <a:spLocks noGrp="1" noChangeArrowheads="1"/>
          </p:cNvSpPr>
          <p:nvPr>
            <p:ph type="title"/>
          </p:nvPr>
        </p:nvSpPr>
        <p:spPr>
          <a:xfrm>
            <a:off x="592667" y="254001"/>
            <a:ext cx="8636000" cy="645583"/>
          </a:xfrm>
        </p:spPr>
        <p:txBody>
          <a:bodyPr/>
          <a:lstStyle/>
          <a:p>
            <a:r>
              <a:rPr lang="en-US" altLang="en-US" sz="3600"/>
              <a:t>JPEG Modes</a:t>
            </a:r>
          </a:p>
        </p:txBody>
      </p:sp>
      <p:sp>
        <p:nvSpPr>
          <p:cNvPr id="17412" name="Rectangle 3"/>
          <p:cNvSpPr>
            <a:spLocks noGrp="1" noChangeArrowheads="1"/>
          </p:cNvSpPr>
          <p:nvPr>
            <p:ph type="body" idx="1"/>
          </p:nvPr>
        </p:nvSpPr>
        <p:spPr>
          <a:xfrm>
            <a:off x="592667" y="920750"/>
            <a:ext cx="8636000" cy="6021917"/>
          </a:xfrm>
        </p:spPr>
        <p:txBody>
          <a:bodyPr/>
          <a:lstStyle/>
          <a:p>
            <a:pPr>
              <a:buFont typeface="ZapfDingbats" pitchFamily="82" charset="0"/>
              <a:buNone/>
            </a:pPr>
            <a:r>
              <a:rPr lang="en-US" altLang="en-US" sz="2700" b="1"/>
              <a:t>Sequential Mode:</a:t>
            </a:r>
          </a:p>
          <a:p>
            <a:r>
              <a:rPr lang="en-US" altLang="en-US" sz="2700"/>
              <a:t>Each image is encoded in a single left-to-right, top-to-bottom scan. </a:t>
            </a:r>
          </a:p>
          <a:p>
            <a:pPr lvl="1"/>
            <a:r>
              <a:rPr lang="en-US" altLang="en-US" sz="2200"/>
              <a:t>The technique we have been discussing so far is an example of such a mode, also referred to as the </a:t>
            </a:r>
            <a:r>
              <a:rPr lang="en-US" altLang="en-US" sz="2200" b="1"/>
              <a:t>Baseline Sequential Mode.</a:t>
            </a:r>
          </a:p>
          <a:p>
            <a:pPr lvl="1"/>
            <a:r>
              <a:rPr lang="en-US" altLang="en-US" sz="2200"/>
              <a:t>It supports only 8-bit images as opposed to 12-bit images as described before.</a:t>
            </a:r>
          </a:p>
          <a:p>
            <a:pPr lvl="1"/>
            <a:endParaRPr lang="en-US" altLang="en-US" sz="2200"/>
          </a:p>
        </p:txBody>
      </p:sp>
    </p:spTree>
    <p:extLst>
      <p:ext uri="{BB962C8B-B14F-4D97-AF65-F5344CB8AC3E}">
        <p14:creationId xmlns:p14="http://schemas.microsoft.com/office/powerpoint/2010/main" val="39981000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Image compression methods</a:t>
            </a:r>
          </a:p>
        </p:txBody>
      </p:sp>
      <p:sp>
        <p:nvSpPr>
          <p:cNvPr id="3" name="Content Placeholder 2"/>
          <p:cNvSpPr>
            <a:spLocks noGrp="1"/>
          </p:cNvSpPr>
          <p:nvPr>
            <p:ph idx="1"/>
          </p:nvPr>
        </p:nvSpPr>
        <p:spPr/>
        <p:txBody>
          <a:bodyPr/>
          <a:lstStyle/>
          <a:p>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519" y="2297832"/>
            <a:ext cx="9260021"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6422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1488" y="173596"/>
            <a:ext cx="6891055"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480" y="4746104"/>
            <a:ext cx="5586148"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06691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2716</TotalTime>
  <Words>3097</Words>
  <Application>Microsoft Office PowerPoint</Application>
  <PresentationFormat>Custom</PresentationFormat>
  <Paragraphs>860</Paragraphs>
  <Slides>82</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82</vt:i4>
      </vt:variant>
    </vt:vector>
  </HeadingPairs>
  <TitlesOfParts>
    <vt:vector size="85" baseType="lpstr">
      <vt:lpstr>Integral</vt:lpstr>
      <vt:lpstr>Equation</vt:lpstr>
      <vt:lpstr>Chart</vt:lpstr>
      <vt:lpstr>Introduction to Morphology and Image Compression  </vt:lpstr>
      <vt:lpstr>5.1</vt:lpstr>
      <vt:lpstr>Dilation</vt:lpstr>
      <vt:lpstr>PowerPoint Presentation</vt:lpstr>
      <vt:lpstr>Dilation Example</vt:lpstr>
      <vt:lpstr>Dilation Example </vt:lpstr>
      <vt:lpstr>What Is Dilation For?</vt:lpstr>
      <vt:lpstr>PowerPoint Presentation</vt:lpstr>
      <vt:lpstr>PowerPoint Presentation</vt:lpstr>
      <vt:lpstr>PowerPoint Presentation</vt:lpstr>
      <vt:lpstr>PowerPoint Presentation</vt:lpstr>
      <vt:lpstr>Erosion</vt:lpstr>
      <vt:lpstr>PowerPoint Presentation</vt:lpstr>
      <vt:lpstr>PowerPoint Presentation</vt:lpstr>
      <vt:lpstr>PowerPoint Presentation</vt:lpstr>
      <vt:lpstr>PowerPoint Presentation</vt:lpstr>
      <vt:lpstr>PowerPoint Presentation</vt:lpstr>
      <vt:lpstr>Compound Operations </vt:lpstr>
      <vt:lpstr>Opening</vt:lpstr>
      <vt:lpstr>Opening Example</vt:lpstr>
      <vt:lpstr>Opening Example</vt:lpstr>
      <vt:lpstr>Closing</vt:lpstr>
      <vt:lpstr>Closing Example</vt:lpstr>
      <vt:lpstr>Closing Example</vt:lpstr>
      <vt:lpstr>Morphological Processing Example</vt:lpstr>
      <vt:lpstr>Morphological Algorithms</vt:lpstr>
      <vt:lpstr>Hit and Miss Transform</vt:lpstr>
      <vt:lpstr>PowerPoint Presentation</vt:lpstr>
      <vt:lpstr>PowerPoint Presentation</vt:lpstr>
      <vt:lpstr>PowerPoint Presentation</vt:lpstr>
      <vt:lpstr>PowerPoint Presentation</vt:lpstr>
      <vt:lpstr>PowerPoint Presentation</vt:lpstr>
      <vt:lpstr>Image Compression</vt:lpstr>
      <vt:lpstr>Compression ratio</vt:lpstr>
      <vt:lpstr>Compression ratio</vt:lpstr>
      <vt:lpstr>Redundancy and compression ratio</vt:lpstr>
      <vt:lpstr>IMage Data redundancies</vt:lpstr>
      <vt:lpstr>IMAGE DATA REDUNDANCIES</vt:lpstr>
      <vt:lpstr>PowerPoint Presentation</vt:lpstr>
      <vt:lpstr>PowerPoint Presentation</vt:lpstr>
      <vt:lpstr>Huffman coding</vt:lpstr>
      <vt:lpstr>PowerPoint Presentation</vt:lpstr>
      <vt:lpstr>Interpixel redundancy</vt:lpstr>
      <vt:lpstr>Run length encoding</vt:lpstr>
      <vt:lpstr>What is run-length encoding?</vt:lpstr>
      <vt:lpstr>Psycho visual Redundancy</vt:lpstr>
      <vt:lpstr>IGS Quantization</vt:lpstr>
      <vt:lpstr>fidelity criteria</vt:lpstr>
      <vt:lpstr>objective fidelity criterion</vt:lpstr>
      <vt:lpstr>subjective fidelity criterion</vt:lpstr>
      <vt:lpstr>Arithmetic coding</vt:lpstr>
      <vt:lpstr>PowerPoint Presentation</vt:lpstr>
      <vt:lpstr>Arithmetic coding</vt:lpstr>
      <vt:lpstr>Arithmetic coding</vt:lpstr>
      <vt:lpstr>Arithmetic coding</vt:lpstr>
      <vt:lpstr>PowerPoint Presentation</vt:lpstr>
      <vt:lpstr>Vector Quantization </vt:lpstr>
      <vt:lpstr>Vector Quantization </vt:lpstr>
      <vt:lpstr>Vector Quantization </vt:lpstr>
      <vt:lpstr>Vector Quantization </vt:lpstr>
      <vt:lpstr>Vector Quantization </vt:lpstr>
      <vt:lpstr>PowerPoint Presentation</vt:lpstr>
      <vt:lpstr>Vector Quantization </vt:lpstr>
      <vt:lpstr>PowerPoint Presentation</vt:lpstr>
      <vt:lpstr>Vector Quantization </vt:lpstr>
      <vt:lpstr>Why JPEG image compression?</vt:lpstr>
      <vt:lpstr>JPEG Coding</vt:lpstr>
      <vt:lpstr>DCT : Discrete Cosine Transform</vt:lpstr>
      <vt:lpstr>Example and Comparison</vt:lpstr>
      <vt:lpstr>2-D DCT</vt:lpstr>
      <vt:lpstr>2-D Transform Example</vt:lpstr>
      <vt:lpstr>Quantization</vt:lpstr>
      <vt:lpstr>Zig-Zag Scan</vt:lpstr>
      <vt:lpstr>DPCM on DC Components</vt:lpstr>
      <vt:lpstr>RLE on AC Components</vt:lpstr>
      <vt:lpstr>Entropy Coding: DC Components</vt:lpstr>
      <vt:lpstr>Entropy Coding: DC Components (Contd..)</vt:lpstr>
      <vt:lpstr>Entropy Coding: AC Components </vt:lpstr>
      <vt:lpstr>Entropy Coding: Example </vt:lpstr>
      <vt:lpstr>JPEG Modes</vt:lpstr>
      <vt:lpstr>Image compression methods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Bhakti Palkar</dc:creator>
  <cp:lastModifiedBy>Admin</cp:lastModifiedBy>
  <cp:revision>189</cp:revision>
  <dcterms:created xsi:type="dcterms:W3CDTF">2004-05-06T09:28:21Z</dcterms:created>
  <dcterms:modified xsi:type="dcterms:W3CDTF">2026-01-29T05:41:18Z</dcterms:modified>
</cp:coreProperties>
</file>