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Dela Gothic One" panose="020B0604020202020204" charset="-128"/>
      <p:regular r:id="rId12"/>
    </p:embeddedFont>
    <p:embeddedFont>
      <p:font typeface="Montserrat Bold" panose="020B0604020202020204" charset="0"/>
      <p:regular r:id="rId13"/>
    </p:embeddedFont>
    <p:embeddedFont>
      <p:font typeface="Source Sans 3" panose="020B0604020202020204" charset="0"/>
      <p:regular r:id="rId14"/>
    </p:embeddedFont>
    <p:embeddedFont>
      <p:font typeface="Source Sans 3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6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4982" y="5524500"/>
            <a:ext cx="4435181" cy="1568196"/>
            <a:chOff x="0" y="0"/>
            <a:chExt cx="4975975" cy="17594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75931" cy="1759382"/>
            </a:xfrm>
            <a:custGeom>
              <a:avLst/>
              <a:gdLst/>
              <a:ahLst/>
              <a:cxnLst/>
              <a:rect l="l" t="t" r="r" b="b"/>
              <a:pathLst>
                <a:path w="4975931" h="1759382">
                  <a:moveTo>
                    <a:pt x="0" y="126039"/>
                  </a:moveTo>
                  <a:cubicBezTo>
                    <a:pt x="0" y="56273"/>
                    <a:pt x="22178" y="0"/>
                    <a:pt x="49235" y="0"/>
                  </a:cubicBezTo>
                  <a:lnTo>
                    <a:pt x="4926696" y="0"/>
                  </a:lnTo>
                  <a:lnTo>
                    <a:pt x="4926696" y="14355"/>
                  </a:lnTo>
                  <a:lnTo>
                    <a:pt x="4926696" y="0"/>
                  </a:lnTo>
                  <a:cubicBezTo>
                    <a:pt x="4953864" y="0"/>
                    <a:pt x="4975931" y="56273"/>
                    <a:pt x="4975931" y="126039"/>
                  </a:cubicBezTo>
                  <a:lnTo>
                    <a:pt x="4970387" y="126039"/>
                  </a:lnTo>
                  <a:lnTo>
                    <a:pt x="4975931" y="126039"/>
                  </a:lnTo>
                  <a:lnTo>
                    <a:pt x="4975931" y="1633342"/>
                  </a:lnTo>
                  <a:lnTo>
                    <a:pt x="4970387" y="1633342"/>
                  </a:lnTo>
                  <a:lnTo>
                    <a:pt x="4975931" y="1633342"/>
                  </a:lnTo>
                  <a:cubicBezTo>
                    <a:pt x="4975931" y="1703109"/>
                    <a:pt x="4953753" y="1759382"/>
                    <a:pt x="4926696" y="1759382"/>
                  </a:cubicBezTo>
                  <a:lnTo>
                    <a:pt x="4926696" y="1745026"/>
                  </a:lnTo>
                  <a:lnTo>
                    <a:pt x="4926696" y="1759382"/>
                  </a:lnTo>
                  <a:lnTo>
                    <a:pt x="49235" y="1759382"/>
                  </a:lnTo>
                  <a:lnTo>
                    <a:pt x="49235" y="1745026"/>
                  </a:lnTo>
                  <a:lnTo>
                    <a:pt x="49235" y="1759382"/>
                  </a:lnTo>
                  <a:cubicBezTo>
                    <a:pt x="22178" y="1759382"/>
                    <a:pt x="0" y="1703109"/>
                    <a:pt x="0" y="1633342"/>
                  </a:cubicBezTo>
                  <a:lnTo>
                    <a:pt x="0" y="126039"/>
                  </a:lnTo>
                  <a:lnTo>
                    <a:pt x="5544" y="126039"/>
                  </a:lnTo>
                  <a:lnTo>
                    <a:pt x="0" y="126039"/>
                  </a:lnTo>
                  <a:moveTo>
                    <a:pt x="11089" y="126039"/>
                  </a:moveTo>
                  <a:lnTo>
                    <a:pt x="11089" y="1633342"/>
                  </a:lnTo>
                  <a:lnTo>
                    <a:pt x="5544" y="1633342"/>
                  </a:lnTo>
                  <a:lnTo>
                    <a:pt x="11089" y="1633342"/>
                  </a:lnTo>
                  <a:cubicBezTo>
                    <a:pt x="11089" y="1686744"/>
                    <a:pt x="28055" y="1730671"/>
                    <a:pt x="49235" y="1730671"/>
                  </a:cubicBezTo>
                  <a:lnTo>
                    <a:pt x="4926696" y="1730671"/>
                  </a:lnTo>
                  <a:cubicBezTo>
                    <a:pt x="4947876" y="1730671"/>
                    <a:pt x="4964842" y="1687031"/>
                    <a:pt x="4964842" y="1633342"/>
                  </a:cubicBezTo>
                  <a:lnTo>
                    <a:pt x="4964842" y="126039"/>
                  </a:lnTo>
                  <a:cubicBezTo>
                    <a:pt x="4964842" y="72638"/>
                    <a:pt x="4947876" y="28711"/>
                    <a:pt x="4926696" y="28711"/>
                  </a:cubicBezTo>
                  <a:lnTo>
                    <a:pt x="49235" y="28711"/>
                  </a:lnTo>
                  <a:lnTo>
                    <a:pt x="49235" y="14355"/>
                  </a:lnTo>
                  <a:lnTo>
                    <a:pt x="49235" y="28711"/>
                  </a:lnTo>
                  <a:cubicBezTo>
                    <a:pt x="28055" y="28711"/>
                    <a:pt x="11089" y="72351"/>
                    <a:pt x="11089" y="126039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171134" y="1028700"/>
            <a:ext cx="8116866" cy="8229600"/>
          </a:xfrm>
          <a:custGeom>
            <a:avLst/>
            <a:gdLst/>
            <a:ahLst/>
            <a:cxnLst/>
            <a:rect l="l" t="t" r="r" b="b"/>
            <a:pathLst>
              <a:path w="8116866" h="8229600">
                <a:moveTo>
                  <a:pt x="0" y="0"/>
                </a:moveTo>
                <a:lnTo>
                  <a:pt x="8116866" y="0"/>
                </a:lnTo>
                <a:lnTo>
                  <a:pt x="811686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2054492"/>
            <a:ext cx="9270502" cy="1781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Marvel vs DC Box Office Comparison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4982" y="4141889"/>
            <a:ext cx="9270502" cy="100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 Data Visualization and Comparative Analysis of Cinematic Universe Performance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3395" y="5590842"/>
            <a:ext cx="4831143" cy="1333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1"/>
              </a:lnSpc>
            </a:pPr>
            <a:r>
              <a:rPr lang="en-US" sz="2415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16010123012 Aaryan Sharma</a:t>
            </a:r>
          </a:p>
          <a:p>
            <a:pPr algn="l">
              <a:lnSpc>
                <a:spcPts val="3581"/>
              </a:lnSpc>
            </a:pPr>
            <a:r>
              <a:rPr lang="en-US" sz="2415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16010123017 Aditey Kshirsagar</a:t>
            </a:r>
          </a:p>
          <a:p>
            <a:pPr algn="l">
              <a:lnSpc>
                <a:spcPts val="3583"/>
              </a:lnSpc>
            </a:pPr>
            <a:r>
              <a:rPr lang="en-US" sz="2415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16010123023 Aditya Baheti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28700" y="1111153"/>
            <a:ext cx="7796803" cy="877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312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Objectives of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7750" y="2033149"/>
            <a:ext cx="16195777" cy="507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31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This study examines four key dimensions of Marvel and DC cinematic performance.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2694241"/>
            <a:ext cx="7991180" cy="3079699"/>
            <a:chOff x="0" y="0"/>
            <a:chExt cx="10654906" cy="4106266"/>
          </a:xfrm>
        </p:grpSpPr>
        <p:sp>
          <p:nvSpPr>
            <p:cNvPr id="9" name="Freeform 9"/>
            <p:cNvSpPr/>
            <p:nvPr/>
          </p:nvSpPr>
          <p:spPr>
            <a:xfrm>
              <a:off x="25400" y="25400"/>
              <a:ext cx="10604119" cy="4055491"/>
            </a:xfrm>
            <a:custGeom>
              <a:avLst/>
              <a:gdLst/>
              <a:ahLst/>
              <a:cxnLst/>
              <a:rect l="l" t="t" r="r" b="b"/>
              <a:pathLst>
                <a:path w="10604119" h="4055491">
                  <a:moveTo>
                    <a:pt x="0" y="59817"/>
                  </a:moveTo>
                  <a:cubicBezTo>
                    <a:pt x="0" y="26797"/>
                    <a:pt x="26924" y="0"/>
                    <a:pt x="60198" y="0"/>
                  </a:cubicBezTo>
                  <a:lnTo>
                    <a:pt x="10543921" y="0"/>
                  </a:lnTo>
                  <a:cubicBezTo>
                    <a:pt x="10577195" y="0"/>
                    <a:pt x="10604119" y="26797"/>
                    <a:pt x="10604119" y="59817"/>
                  </a:cubicBezTo>
                  <a:lnTo>
                    <a:pt x="10604119" y="3995674"/>
                  </a:lnTo>
                  <a:cubicBezTo>
                    <a:pt x="10604119" y="4028694"/>
                    <a:pt x="10577195" y="4055491"/>
                    <a:pt x="10543921" y="4055491"/>
                  </a:cubicBezTo>
                  <a:lnTo>
                    <a:pt x="60198" y="4055491"/>
                  </a:lnTo>
                  <a:cubicBezTo>
                    <a:pt x="26924" y="4055491"/>
                    <a:pt x="0" y="4028694"/>
                    <a:pt x="0" y="399567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0654919" cy="4106291"/>
            </a:xfrm>
            <a:custGeom>
              <a:avLst/>
              <a:gdLst/>
              <a:ahLst/>
              <a:cxnLst/>
              <a:rect l="l" t="t" r="r" b="b"/>
              <a:pathLst>
                <a:path w="10654919" h="4106291">
                  <a:moveTo>
                    <a:pt x="0" y="85217"/>
                  </a:moveTo>
                  <a:cubicBezTo>
                    <a:pt x="0" y="37973"/>
                    <a:pt x="38481" y="0"/>
                    <a:pt x="85598" y="0"/>
                  </a:cubicBezTo>
                  <a:lnTo>
                    <a:pt x="10569321" y="0"/>
                  </a:lnTo>
                  <a:lnTo>
                    <a:pt x="10569321" y="25400"/>
                  </a:lnTo>
                  <a:lnTo>
                    <a:pt x="10569321" y="0"/>
                  </a:lnTo>
                  <a:cubicBezTo>
                    <a:pt x="10616438" y="0"/>
                    <a:pt x="10654919" y="37973"/>
                    <a:pt x="10654919" y="85217"/>
                  </a:cubicBezTo>
                  <a:lnTo>
                    <a:pt x="10629519" y="85217"/>
                  </a:lnTo>
                  <a:lnTo>
                    <a:pt x="10654919" y="85217"/>
                  </a:lnTo>
                  <a:lnTo>
                    <a:pt x="10654919" y="4021074"/>
                  </a:lnTo>
                  <a:lnTo>
                    <a:pt x="10629519" y="4021074"/>
                  </a:lnTo>
                  <a:lnTo>
                    <a:pt x="10654919" y="4021074"/>
                  </a:lnTo>
                  <a:cubicBezTo>
                    <a:pt x="10654919" y="4068318"/>
                    <a:pt x="10616438" y="4106291"/>
                    <a:pt x="10569321" y="4106291"/>
                  </a:cubicBezTo>
                  <a:lnTo>
                    <a:pt x="10569321" y="4080891"/>
                  </a:lnTo>
                  <a:lnTo>
                    <a:pt x="10569321" y="4106291"/>
                  </a:lnTo>
                  <a:lnTo>
                    <a:pt x="85598" y="4106291"/>
                  </a:lnTo>
                  <a:lnTo>
                    <a:pt x="85598" y="4080891"/>
                  </a:lnTo>
                  <a:lnTo>
                    <a:pt x="85598" y="4106291"/>
                  </a:lnTo>
                  <a:cubicBezTo>
                    <a:pt x="38481" y="4106291"/>
                    <a:pt x="0" y="4068318"/>
                    <a:pt x="0" y="4021074"/>
                  </a:cubicBezTo>
                  <a:lnTo>
                    <a:pt x="0" y="85217"/>
                  </a:lnTo>
                  <a:lnTo>
                    <a:pt x="25400" y="85217"/>
                  </a:lnTo>
                  <a:lnTo>
                    <a:pt x="0" y="85217"/>
                  </a:lnTo>
                  <a:moveTo>
                    <a:pt x="50800" y="85217"/>
                  </a:moveTo>
                  <a:lnTo>
                    <a:pt x="50800" y="4021074"/>
                  </a:lnTo>
                  <a:lnTo>
                    <a:pt x="25400" y="4021074"/>
                  </a:lnTo>
                  <a:lnTo>
                    <a:pt x="50800" y="4021074"/>
                  </a:lnTo>
                  <a:cubicBezTo>
                    <a:pt x="50800" y="4039870"/>
                    <a:pt x="66167" y="4055491"/>
                    <a:pt x="85598" y="4055491"/>
                  </a:cubicBezTo>
                  <a:lnTo>
                    <a:pt x="10569321" y="4055491"/>
                  </a:lnTo>
                  <a:cubicBezTo>
                    <a:pt x="10588752" y="4055491"/>
                    <a:pt x="10604119" y="4039870"/>
                    <a:pt x="10604119" y="4021074"/>
                  </a:cubicBezTo>
                  <a:lnTo>
                    <a:pt x="10604119" y="85217"/>
                  </a:lnTo>
                  <a:cubicBezTo>
                    <a:pt x="10604119" y="66421"/>
                    <a:pt x="10588752" y="50800"/>
                    <a:pt x="10569321" y="50800"/>
                  </a:cubicBezTo>
                  <a:lnTo>
                    <a:pt x="85598" y="50800"/>
                  </a:lnTo>
                  <a:lnTo>
                    <a:pt x="85598" y="25400"/>
                  </a:lnTo>
                  <a:lnTo>
                    <a:pt x="85598" y="50800"/>
                  </a:lnTo>
                  <a:cubicBezTo>
                    <a:pt x="66167" y="50800"/>
                    <a:pt x="50800" y="66421"/>
                    <a:pt x="50800" y="85217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085850" y="2751391"/>
            <a:ext cx="7876880" cy="896693"/>
            <a:chOff x="0" y="0"/>
            <a:chExt cx="10502506" cy="11955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02519" cy="1195578"/>
            </a:xfrm>
            <a:custGeom>
              <a:avLst/>
              <a:gdLst/>
              <a:ahLst/>
              <a:cxnLst/>
              <a:rect l="l" t="t" r="r" b="b"/>
              <a:pathLst>
                <a:path w="10502519" h="1195578">
                  <a:moveTo>
                    <a:pt x="0" y="0"/>
                  </a:moveTo>
                  <a:lnTo>
                    <a:pt x="10502519" y="0"/>
                  </a:lnTo>
                  <a:lnTo>
                    <a:pt x="10502519" y="1195578"/>
                  </a:lnTo>
                  <a:lnTo>
                    <a:pt x="0" y="1195578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4800152" y="2976715"/>
            <a:ext cx="448266" cy="503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84697" y="3918499"/>
            <a:ext cx="4756099" cy="443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Total Revenue Comparison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84697" y="4469016"/>
            <a:ext cx="7279186" cy="94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31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Compare aggregate box office revenue across both franchises.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271254" y="2694241"/>
            <a:ext cx="7991323" cy="3079699"/>
            <a:chOff x="0" y="0"/>
            <a:chExt cx="10655097" cy="4106266"/>
          </a:xfrm>
        </p:grpSpPr>
        <p:sp>
          <p:nvSpPr>
            <p:cNvPr id="17" name="Freeform 17"/>
            <p:cNvSpPr/>
            <p:nvPr/>
          </p:nvSpPr>
          <p:spPr>
            <a:xfrm>
              <a:off x="25400" y="25400"/>
              <a:ext cx="10604246" cy="4055491"/>
            </a:xfrm>
            <a:custGeom>
              <a:avLst/>
              <a:gdLst/>
              <a:ahLst/>
              <a:cxnLst/>
              <a:rect l="l" t="t" r="r" b="b"/>
              <a:pathLst>
                <a:path w="10604246" h="4055491">
                  <a:moveTo>
                    <a:pt x="0" y="59817"/>
                  </a:moveTo>
                  <a:cubicBezTo>
                    <a:pt x="0" y="26797"/>
                    <a:pt x="26924" y="0"/>
                    <a:pt x="60198" y="0"/>
                  </a:cubicBezTo>
                  <a:lnTo>
                    <a:pt x="10544048" y="0"/>
                  </a:lnTo>
                  <a:cubicBezTo>
                    <a:pt x="10577322" y="0"/>
                    <a:pt x="10604246" y="26797"/>
                    <a:pt x="10604246" y="59817"/>
                  </a:cubicBezTo>
                  <a:lnTo>
                    <a:pt x="10604246" y="3995674"/>
                  </a:lnTo>
                  <a:cubicBezTo>
                    <a:pt x="10604246" y="4028694"/>
                    <a:pt x="10577322" y="4055491"/>
                    <a:pt x="10544048" y="4055491"/>
                  </a:cubicBezTo>
                  <a:lnTo>
                    <a:pt x="60198" y="4055491"/>
                  </a:lnTo>
                  <a:cubicBezTo>
                    <a:pt x="26924" y="4055491"/>
                    <a:pt x="0" y="4028694"/>
                    <a:pt x="0" y="399567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10655046" cy="4106291"/>
            </a:xfrm>
            <a:custGeom>
              <a:avLst/>
              <a:gdLst/>
              <a:ahLst/>
              <a:cxnLst/>
              <a:rect l="l" t="t" r="r" b="b"/>
              <a:pathLst>
                <a:path w="10655046" h="4106291">
                  <a:moveTo>
                    <a:pt x="0" y="85217"/>
                  </a:moveTo>
                  <a:cubicBezTo>
                    <a:pt x="0" y="37973"/>
                    <a:pt x="38481" y="0"/>
                    <a:pt x="85598" y="0"/>
                  </a:cubicBezTo>
                  <a:lnTo>
                    <a:pt x="10569448" y="0"/>
                  </a:lnTo>
                  <a:lnTo>
                    <a:pt x="10569448" y="25400"/>
                  </a:lnTo>
                  <a:lnTo>
                    <a:pt x="10569448" y="0"/>
                  </a:lnTo>
                  <a:cubicBezTo>
                    <a:pt x="10616565" y="0"/>
                    <a:pt x="10655046" y="37973"/>
                    <a:pt x="10655046" y="85217"/>
                  </a:cubicBezTo>
                  <a:lnTo>
                    <a:pt x="10629646" y="85217"/>
                  </a:lnTo>
                  <a:lnTo>
                    <a:pt x="10655046" y="85217"/>
                  </a:lnTo>
                  <a:lnTo>
                    <a:pt x="10655046" y="4021074"/>
                  </a:lnTo>
                  <a:lnTo>
                    <a:pt x="10629646" y="4021074"/>
                  </a:lnTo>
                  <a:lnTo>
                    <a:pt x="10655046" y="4021074"/>
                  </a:lnTo>
                  <a:cubicBezTo>
                    <a:pt x="10655046" y="4068318"/>
                    <a:pt x="10616565" y="4106291"/>
                    <a:pt x="10569448" y="4106291"/>
                  </a:cubicBezTo>
                  <a:lnTo>
                    <a:pt x="10569448" y="4080891"/>
                  </a:lnTo>
                  <a:lnTo>
                    <a:pt x="10569448" y="4106291"/>
                  </a:lnTo>
                  <a:lnTo>
                    <a:pt x="85598" y="4106291"/>
                  </a:lnTo>
                  <a:lnTo>
                    <a:pt x="85598" y="4080891"/>
                  </a:lnTo>
                  <a:lnTo>
                    <a:pt x="85598" y="4106291"/>
                  </a:lnTo>
                  <a:cubicBezTo>
                    <a:pt x="38481" y="4106291"/>
                    <a:pt x="0" y="4068318"/>
                    <a:pt x="0" y="4021074"/>
                  </a:cubicBezTo>
                  <a:lnTo>
                    <a:pt x="0" y="85217"/>
                  </a:lnTo>
                  <a:lnTo>
                    <a:pt x="25400" y="85217"/>
                  </a:lnTo>
                  <a:lnTo>
                    <a:pt x="0" y="85217"/>
                  </a:lnTo>
                  <a:moveTo>
                    <a:pt x="50800" y="85217"/>
                  </a:moveTo>
                  <a:lnTo>
                    <a:pt x="50800" y="4021074"/>
                  </a:lnTo>
                  <a:lnTo>
                    <a:pt x="25400" y="4021074"/>
                  </a:lnTo>
                  <a:lnTo>
                    <a:pt x="50800" y="4021074"/>
                  </a:lnTo>
                  <a:cubicBezTo>
                    <a:pt x="50800" y="4039870"/>
                    <a:pt x="66167" y="4055491"/>
                    <a:pt x="85598" y="4055491"/>
                  </a:cubicBezTo>
                  <a:lnTo>
                    <a:pt x="10569448" y="4055491"/>
                  </a:lnTo>
                  <a:cubicBezTo>
                    <a:pt x="10588879" y="4055491"/>
                    <a:pt x="10604246" y="4039870"/>
                    <a:pt x="10604246" y="4021074"/>
                  </a:cubicBezTo>
                  <a:lnTo>
                    <a:pt x="10604246" y="85217"/>
                  </a:lnTo>
                  <a:cubicBezTo>
                    <a:pt x="10604246" y="66421"/>
                    <a:pt x="10588879" y="50800"/>
                    <a:pt x="10569448" y="50800"/>
                  </a:cubicBezTo>
                  <a:lnTo>
                    <a:pt x="85598" y="50800"/>
                  </a:lnTo>
                  <a:lnTo>
                    <a:pt x="85598" y="25400"/>
                  </a:lnTo>
                  <a:lnTo>
                    <a:pt x="85598" y="50800"/>
                  </a:lnTo>
                  <a:cubicBezTo>
                    <a:pt x="66167" y="50800"/>
                    <a:pt x="50800" y="66421"/>
                    <a:pt x="50800" y="85217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328404" y="2751391"/>
            <a:ext cx="7877023" cy="896693"/>
            <a:chOff x="0" y="0"/>
            <a:chExt cx="10502697" cy="119559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502646" cy="1195578"/>
            </a:xfrm>
            <a:custGeom>
              <a:avLst/>
              <a:gdLst/>
              <a:ahLst/>
              <a:cxnLst/>
              <a:rect l="l" t="t" r="r" b="b"/>
              <a:pathLst>
                <a:path w="10502646" h="1195578">
                  <a:moveTo>
                    <a:pt x="0" y="0"/>
                  </a:moveTo>
                  <a:lnTo>
                    <a:pt x="10502646" y="0"/>
                  </a:lnTo>
                  <a:lnTo>
                    <a:pt x="10502646" y="1195578"/>
                  </a:lnTo>
                  <a:lnTo>
                    <a:pt x="0" y="1195578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3042706" y="2976715"/>
            <a:ext cx="448266" cy="503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27241" y="3918499"/>
            <a:ext cx="5338020" cy="443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Individual Movie Performance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27241" y="4469016"/>
            <a:ext cx="7279329" cy="94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31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Analyze per-film earnings to identify top performers and outliers.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28700" y="6025305"/>
            <a:ext cx="7991180" cy="3079699"/>
            <a:chOff x="0" y="0"/>
            <a:chExt cx="10654906" cy="4106266"/>
          </a:xfrm>
        </p:grpSpPr>
        <p:sp>
          <p:nvSpPr>
            <p:cNvPr id="25" name="Freeform 25"/>
            <p:cNvSpPr/>
            <p:nvPr/>
          </p:nvSpPr>
          <p:spPr>
            <a:xfrm>
              <a:off x="25400" y="25400"/>
              <a:ext cx="10604119" cy="4055491"/>
            </a:xfrm>
            <a:custGeom>
              <a:avLst/>
              <a:gdLst/>
              <a:ahLst/>
              <a:cxnLst/>
              <a:rect l="l" t="t" r="r" b="b"/>
              <a:pathLst>
                <a:path w="10604119" h="4055491">
                  <a:moveTo>
                    <a:pt x="0" y="59817"/>
                  </a:moveTo>
                  <a:cubicBezTo>
                    <a:pt x="0" y="26797"/>
                    <a:pt x="26924" y="0"/>
                    <a:pt x="60198" y="0"/>
                  </a:cubicBezTo>
                  <a:lnTo>
                    <a:pt x="10543921" y="0"/>
                  </a:lnTo>
                  <a:cubicBezTo>
                    <a:pt x="10577195" y="0"/>
                    <a:pt x="10604119" y="26797"/>
                    <a:pt x="10604119" y="59817"/>
                  </a:cubicBezTo>
                  <a:lnTo>
                    <a:pt x="10604119" y="3995674"/>
                  </a:lnTo>
                  <a:cubicBezTo>
                    <a:pt x="10604119" y="4028694"/>
                    <a:pt x="10577195" y="4055491"/>
                    <a:pt x="10543921" y="4055491"/>
                  </a:cubicBezTo>
                  <a:lnTo>
                    <a:pt x="60198" y="4055491"/>
                  </a:lnTo>
                  <a:cubicBezTo>
                    <a:pt x="26924" y="4055491"/>
                    <a:pt x="0" y="4028694"/>
                    <a:pt x="0" y="399567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0"/>
              <a:ext cx="10654919" cy="4106291"/>
            </a:xfrm>
            <a:custGeom>
              <a:avLst/>
              <a:gdLst/>
              <a:ahLst/>
              <a:cxnLst/>
              <a:rect l="l" t="t" r="r" b="b"/>
              <a:pathLst>
                <a:path w="10654919" h="4106291">
                  <a:moveTo>
                    <a:pt x="0" y="85217"/>
                  </a:moveTo>
                  <a:cubicBezTo>
                    <a:pt x="0" y="37973"/>
                    <a:pt x="38481" y="0"/>
                    <a:pt x="85598" y="0"/>
                  </a:cubicBezTo>
                  <a:lnTo>
                    <a:pt x="10569321" y="0"/>
                  </a:lnTo>
                  <a:lnTo>
                    <a:pt x="10569321" y="25400"/>
                  </a:lnTo>
                  <a:lnTo>
                    <a:pt x="10569321" y="0"/>
                  </a:lnTo>
                  <a:cubicBezTo>
                    <a:pt x="10616438" y="0"/>
                    <a:pt x="10654919" y="37973"/>
                    <a:pt x="10654919" y="85217"/>
                  </a:cubicBezTo>
                  <a:lnTo>
                    <a:pt x="10629519" y="85217"/>
                  </a:lnTo>
                  <a:lnTo>
                    <a:pt x="10654919" y="85217"/>
                  </a:lnTo>
                  <a:lnTo>
                    <a:pt x="10654919" y="4021074"/>
                  </a:lnTo>
                  <a:lnTo>
                    <a:pt x="10629519" y="4021074"/>
                  </a:lnTo>
                  <a:lnTo>
                    <a:pt x="10654919" y="4021074"/>
                  </a:lnTo>
                  <a:cubicBezTo>
                    <a:pt x="10654919" y="4068318"/>
                    <a:pt x="10616438" y="4106291"/>
                    <a:pt x="10569321" y="4106291"/>
                  </a:cubicBezTo>
                  <a:lnTo>
                    <a:pt x="10569321" y="4080891"/>
                  </a:lnTo>
                  <a:lnTo>
                    <a:pt x="10569321" y="4106291"/>
                  </a:lnTo>
                  <a:lnTo>
                    <a:pt x="85598" y="4106291"/>
                  </a:lnTo>
                  <a:lnTo>
                    <a:pt x="85598" y="4080891"/>
                  </a:lnTo>
                  <a:lnTo>
                    <a:pt x="85598" y="4106291"/>
                  </a:lnTo>
                  <a:cubicBezTo>
                    <a:pt x="38481" y="4106291"/>
                    <a:pt x="0" y="4068318"/>
                    <a:pt x="0" y="4021074"/>
                  </a:cubicBezTo>
                  <a:lnTo>
                    <a:pt x="0" y="85217"/>
                  </a:lnTo>
                  <a:lnTo>
                    <a:pt x="25400" y="85217"/>
                  </a:lnTo>
                  <a:lnTo>
                    <a:pt x="0" y="85217"/>
                  </a:lnTo>
                  <a:moveTo>
                    <a:pt x="50800" y="85217"/>
                  </a:moveTo>
                  <a:lnTo>
                    <a:pt x="50800" y="4021074"/>
                  </a:lnTo>
                  <a:lnTo>
                    <a:pt x="25400" y="4021074"/>
                  </a:lnTo>
                  <a:lnTo>
                    <a:pt x="50800" y="4021074"/>
                  </a:lnTo>
                  <a:cubicBezTo>
                    <a:pt x="50800" y="4039870"/>
                    <a:pt x="66167" y="4055491"/>
                    <a:pt x="85598" y="4055491"/>
                  </a:cubicBezTo>
                  <a:lnTo>
                    <a:pt x="10569321" y="4055491"/>
                  </a:lnTo>
                  <a:cubicBezTo>
                    <a:pt x="10588752" y="4055491"/>
                    <a:pt x="10604119" y="4039870"/>
                    <a:pt x="10604119" y="4021074"/>
                  </a:cubicBezTo>
                  <a:lnTo>
                    <a:pt x="10604119" y="85217"/>
                  </a:lnTo>
                  <a:cubicBezTo>
                    <a:pt x="10604119" y="66421"/>
                    <a:pt x="10588752" y="50800"/>
                    <a:pt x="10569321" y="50800"/>
                  </a:cubicBezTo>
                  <a:lnTo>
                    <a:pt x="85598" y="50800"/>
                  </a:lnTo>
                  <a:lnTo>
                    <a:pt x="85598" y="25400"/>
                  </a:lnTo>
                  <a:lnTo>
                    <a:pt x="85598" y="50800"/>
                  </a:lnTo>
                  <a:cubicBezTo>
                    <a:pt x="66167" y="50800"/>
                    <a:pt x="50800" y="66421"/>
                    <a:pt x="50800" y="85217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085850" y="6082455"/>
            <a:ext cx="7876880" cy="896693"/>
            <a:chOff x="0" y="0"/>
            <a:chExt cx="10502506" cy="119559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502519" cy="1195578"/>
            </a:xfrm>
            <a:custGeom>
              <a:avLst/>
              <a:gdLst/>
              <a:ahLst/>
              <a:cxnLst/>
              <a:rect l="l" t="t" r="r" b="b"/>
              <a:pathLst>
                <a:path w="10502519" h="1195578">
                  <a:moveTo>
                    <a:pt x="0" y="0"/>
                  </a:moveTo>
                  <a:lnTo>
                    <a:pt x="10502519" y="0"/>
                  </a:lnTo>
                  <a:lnTo>
                    <a:pt x="10502519" y="1195578"/>
                  </a:lnTo>
                  <a:lnTo>
                    <a:pt x="0" y="1195578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4800152" y="6307779"/>
            <a:ext cx="448266" cy="503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84697" y="7249573"/>
            <a:ext cx="4785722" cy="443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Revenue Trends Over Time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84697" y="7800080"/>
            <a:ext cx="7279186" cy="94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31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Study how box office performance has evolved across release years.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271254" y="6025305"/>
            <a:ext cx="7991323" cy="3079699"/>
            <a:chOff x="0" y="0"/>
            <a:chExt cx="10655097" cy="4106266"/>
          </a:xfrm>
        </p:grpSpPr>
        <p:sp>
          <p:nvSpPr>
            <p:cNvPr id="33" name="Freeform 33"/>
            <p:cNvSpPr/>
            <p:nvPr/>
          </p:nvSpPr>
          <p:spPr>
            <a:xfrm>
              <a:off x="25400" y="25400"/>
              <a:ext cx="10604246" cy="4055491"/>
            </a:xfrm>
            <a:custGeom>
              <a:avLst/>
              <a:gdLst/>
              <a:ahLst/>
              <a:cxnLst/>
              <a:rect l="l" t="t" r="r" b="b"/>
              <a:pathLst>
                <a:path w="10604246" h="4055491">
                  <a:moveTo>
                    <a:pt x="0" y="59817"/>
                  </a:moveTo>
                  <a:cubicBezTo>
                    <a:pt x="0" y="26797"/>
                    <a:pt x="26924" y="0"/>
                    <a:pt x="60198" y="0"/>
                  </a:cubicBezTo>
                  <a:lnTo>
                    <a:pt x="10544048" y="0"/>
                  </a:lnTo>
                  <a:cubicBezTo>
                    <a:pt x="10577322" y="0"/>
                    <a:pt x="10604246" y="26797"/>
                    <a:pt x="10604246" y="59817"/>
                  </a:cubicBezTo>
                  <a:lnTo>
                    <a:pt x="10604246" y="3995674"/>
                  </a:lnTo>
                  <a:cubicBezTo>
                    <a:pt x="10604246" y="4028694"/>
                    <a:pt x="10577322" y="4055491"/>
                    <a:pt x="10544048" y="4055491"/>
                  </a:cubicBezTo>
                  <a:lnTo>
                    <a:pt x="60198" y="4055491"/>
                  </a:lnTo>
                  <a:cubicBezTo>
                    <a:pt x="26924" y="4055491"/>
                    <a:pt x="0" y="4028694"/>
                    <a:pt x="0" y="399567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10655046" cy="4106291"/>
            </a:xfrm>
            <a:custGeom>
              <a:avLst/>
              <a:gdLst/>
              <a:ahLst/>
              <a:cxnLst/>
              <a:rect l="l" t="t" r="r" b="b"/>
              <a:pathLst>
                <a:path w="10655046" h="4106291">
                  <a:moveTo>
                    <a:pt x="0" y="85217"/>
                  </a:moveTo>
                  <a:cubicBezTo>
                    <a:pt x="0" y="37973"/>
                    <a:pt x="38481" y="0"/>
                    <a:pt x="85598" y="0"/>
                  </a:cubicBezTo>
                  <a:lnTo>
                    <a:pt x="10569448" y="0"/>
                  </a:lnTo>
                  <a:lnTo>
                    <a:pt x="10569448" y="25400"/>
                  </a:lnTo>
                  <a:lnTo>
                    <a:pt x="10569448" y="0"/>
                  </a:lnTo>
                  <a:cubicBezTo>
                    <a:pt x="10616565" y="0"/>
                    <a:pt x="10655046" y="37973"/>
                    <a:pt x="10655046" y="85217"/>
                  </a:cubicBezTo>
                  <a:lnTo>
                    <a:pt x="10629646" y="85217"/>
                  </a:lnTo>
                  <a:lnTo>
                    <a:pt x="10655046" y="85217"/>
                  </a:lnTo>
                  <a:lnTo>
                    <a:pt x="10655046" y="4021074"/>
                  </a:lnTo>
                  <a:lnTo>
                    <a:pt x="10629646" y="4021074"/>
                  </a:lnTo>
                  <a:lnTo>
                    <a:pt x="10655046" y="4021074"/>
                  </a:lnTo>
                  <a:cubicBezTo>
                    <a:pt x="10655046" y="4068318"/>
                    <a:pt x="10616565" y="4106291"/>
                    <a:pt x="10569448" y="4106291"/>
                  </a:cubicBezTo>
                  <a:lnTo>
                    <a:pt x="10569448" y="4080891"/>
                  </a:lnTo>
                  <a:lnTo>
                    <a:pt x="10569448" y="4106291"/>
                  </a:lnTo>
                  <a:lnTo>
                    <a:pt x="85598" y="4106291"/>
                  </a:lnTo>
                  <a:lnTo>
                    <a:pt x="85598" y="4080891"/>
                  </a:lnTo>
                  <a:lnTo>
                    <a:pt x="85598" y="4106291"/>
                  </a:lnTo>
                  <a:cubicBezTo>
                    <a:pt x="38481" y="4106291"/>
                    <a:pt x="0" y="4068318"/>
                    <a:pt x="0" y="4021074"/>
                  </a:cubicBezTo>
                  <a:lnTo>
                    <a:pt x="0" y="85217"/>
                  </a:lnTo>
                  <a:lnTo>
                    <a:pt x="25400" y="85217"/>
                  </a:lnTo>
                  <a:lnTo>
                    <a:pt x="0" y="85217"/>
                  </a:lnTo>
                  <a:moveTo>
                    <a:pt x="50800" y="85217"/>
                  </a:moveTo>
                  <a:lnTo>
                    <a:pt x="50800" y="4021074"/>
                  </a:lnTo>
                  <a:lnTo>
                    <a:pt x="25400" y="4021074"/>
                  </a:lnTo>
                  <a:lnTo>
                    <a:pt x="50800" y="4021074"/>
                  </a:lnTo>
                  <a:cubicBezTo>
                    <a:pt x="50800" y="4039870"/>
                    <a:pt x="66167" y="4055491"/>
                    <a:pt x="85598" y="4055491"/>
                  </a:cubicBezTo>
                  <a:lnTo>
                    <a:pt x="10569448" y="4055491"/>
                  </a:lnTo>
                  <a:cubicBezTo>
                    <a:pt x="10588879" y="4055491"/>
                    <a:pt x="10604246" y="4039870"/>
                    <a:pt x="10604246" y="4021074"/>
                  </a:cubicBezTo>
                  <a:lnTo>
                    <a:pt x="10604246" y="85217"/>
                  </a:lnTo>
                  <a:cubicBezTo>
                    <a:pt x="10604246" y="66421"/>
                    <a:pt x="10588879" y="50800"/>
                    <a:pt x="10569448" y="50800"/>
                  </a:cubicBezTo>
                  <a:lnTo>
                    <a:pt x="85598" y="50800"/>
                  </a:lnTo>
                  <a:lnTo>
                    <a:pt x="85598" y="25400"/>
                  </a:lnTo>
                  <a:lnTo>
                    <a:pt x="85598" y="50800"/>
                  </a:lnTo>
                  <a:cubicBezTo>
                    <a:pt x="66167" y="50800"/>
                    <a:pt x="50800" y="66421"/>
                    <a:pt x="50800" y="85217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9328404" y="6082455"/>
            <a:ext cx="7877023" cy="896693"/>
            <a:chOff x="0" y="0"/>
            <a:chExt cx="10502697" cy="119559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502646" cy="1195578"/>
            </a:xfrm>
            <a:custGeom>
              <a:avLst/>
              <a:gdLst/>
              <a:ahLst/>
              <a:cxnLst/>
              <a:rect l="l" t="t" r="r" b="b"/>
              <a:pathLst>
                <a:path w="10502646" h="1195578">
                  <a:moveTo>
                    <a:pt x="0" y="0"/>
                  </a:moveTo>
                  <a:lnTo>
                    <a:pt x="10502646" y="0"/>
                  </a:lnTo>
                  <a:lnTo>
                    <a:pt x="10502646" y="1195578"/>
                  </a:lnTo>
                  <a:lnTo>
                    <a:pt x="0" y="1195578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37" name="TextBox 37"/>
          <p:cNvSpPr txBox="1"/>
          <p:nvPr/>
        </p:nvSpPr>
        <p:spPr>
          <a:xfrm>
            <a:off x="13042706" y="6307779"/>
            <a:ext cx="448266" cy="503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627241" y="7249573"/>
            <a:ext cx="5623474" cy="443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Consistency &amp; Success Patterns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627241" y="7800080"/>
            <a:ext cx="7279329" cy="94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31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Evaluate the reliability and predictability of each franchise's output.</a:t>
            </a:r>
          </a:p>
        </p:txBody>
      </p:sp>
      <p:sp>
        <p:nvSpPr>
          <p:cNvPr id="40" name="Freeform 40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2" name="Group 42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6637" y="2047570"/>
            <a:ext cx="5875614" cy="2195360"/>
            <a:chOff x="0" y="0"/>
            <a:chExt cx="7834152" cy="2927147"/>
          </a:xfrm>
        </p:grpSpPr>
        <p:sp>
          <p:nvSpPr>
            <p:cNvPr id="3" name="Freeform 3"/>
            <p:cNvSpPr/>
            <p:nvPr/>
          </p:nvSpPr>
          <p:spPr>
            <a:xfrm>
              <a:off x="23558" y="19050"/>
              <a:ext cx="7787067" cy="2888996"/>
            </a:xfrm>
            <a:custGeom>
              <a:avLst/>
              <a:gdLst/>
              <a:ahLst/>
              <a:cxnLst/>
              <a:rect l="l" t="t" r="r" b="b"/>
              <a:pathLst>
                <a:path w="7787067" h="2888996">
                  <a:moveTo>
                    <a:pt x="0" y="182880"/>
                  </a:moveTo>
                  <a:cubicBezTo>
                    <a:pt x="0" y="81915"/>
                    <a:pt x="101926" y="0"/>
                    <a:pt x="227724" y="0"/>
                  </a:cubicBezTo>
                  <a:lnTo>
                    <a:pt x="7559343" y="0"/>
                  </a:lnTo>
                  <a:cubicBezTo>
                    <a:pt x="7685141" y="0"/>
                    <a:pt x="7787067" y="81915"/>
                    <a:pt x="7787067" y="182880"/>
                  </a:cubicBezTo>
                  <a:lnTo>
                    <a:pt x="7787067" y="2706116"/>
                  </a:lnTo>
                  <a:cubicBezTo>
                    <a:pt x="7787067" y="2807081"/>
                    <a:pt x="7685141" y="2888996"/>
                    <a:pt x="7559343" y="2888996"/>
                  </a:cubicBezTo>
                  <a:lnTo>
                    <a:pt x="227724" y="2888996"/>
                  </a:lnTo>
                  <a:cubicBezTo>
                    <a:pt x="101926" y="2888996"/>
                    <a:pt x="0" y="2807081"/>
                    <a:pt x="0" y="27061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7834177" cy="2927096"/>
            </a:xfrm>
            <a:custGeom>
              <a:avLst/>
              <a:gdLst/>
              <a:ahLst/>
              <a:cxnLst/>
              <a:rect l="l" t="t" r="r" b="b"/>
              <a:pathLst>
                <a:path w="7834177" h="2927096">
                  <a:moveTo>
                    <a:pt x="0" y="201930"/>
                  </a:moveTo>
                  <a:cubicBezTo>
                    <a:pt x="0" y="90297"/>
                    <a:pt x="112606" y="0"/>
                    <a:pt x="251282" y="0"/>
                  </a:cubicBezTo>
                  <a:lnTo>
                    <a:pt x="7582901" y="0"/>
                  </a:lnTo>
                  <a:lnTo>
                    <a:pt x="7582901" y="19050"/>
                  </a:lnTo>
                  <a:lnTo>
                    <a:pt x="7582901" y="0"/>
                  </a:lnTo>
                  <a:cubicBezTo>
                    <a:pt x="7721577" y="0"/>
                    <a:pt x="7834177" y="90297"/>
                    <a:pt x="7834177" y="201930"/>
                  </a:cubicBezTo>
                  <a:lnTo>
                    <a:pt x="7810625" y="201930"/>
                  </a:lnTo>
                  <a:lnTo>
                    <a:pt x="7834177" y="201930"/>
                  </a:lnTo>
                  <a:lnTo>
                    <a:pt x="7834177" y="2725166"/>
                  </a:lnTo>
                  <a:lnTo>
                    <a:pt x="7810625" y="2725166"/>
                  </a:lnTo>
                  <a:lnTo>
                    <a:pt x="7834177" y="2725166"/>
                  </a:lnTo>
                  <a:cubicBezTo>
                    <a:pt x="7834177" y="2836799"/>
                    <a:pt x="7721577" y="2927096"/>
                    <a:pt x="7582901" y="2927096"/>
                  </a:cubicBezTo>
                  <a:lnTo>
                    <a:pt x="7582901" y="2908046"/>
                  </a:lnTo>
                  <a:lnTo>
                    <a:pt x="7582901" y="2927096"/>
                  </a:lnTo>
                  <a:lnTo>
                    <a:pt x="251282" y="2927096"/>
                  </a:lnTo>
                  <a:lnTo>
                    <a:pt x="251282" y="2908046"/>
                  </a:lnTo>
                  <a:lnTo>
                    <a:pt x="251282" y="2927096"/>
                  </a:lnTo>
                  <a:cubicBezTo>
                    <a:pt x="112606" y="2927096"/>
                    <a:pt x="0" y="2836799"/>
                    <a:pt x="0" y="2725166"/>
                  </a:cubicBezTo>
                  <a:lnTo>
                    <a:pt x="0" y="201930"/>
                  </a:lnTo>
                  <a:lnTo>
                    <a:pt x="23558" y="201930"/>
                  </a:lnTo>
                  <a:lnTo>
                    <a:pt x="0" y="201930"/>
                  </a:lnTo>
                  <a:moveTo>
                    <a:pt x="47115" y="201930"/>
                  </a:moveTo>
                  <a:lnTo>
                    <a:pt x="47115" y="2725166"/>
                  </a:lnTo>
                  <a:lnTo>
                    <a:pt x="23558" y="2725166"/>
                  </a:lnTo>
                  <a:lnTo>
                    <a:pt x="47115" y="2725166"/>
                  </a:lnTo>
                  <a:cubicBezTo>
                    <a:pt x="47115" y="2815463"/>
                    <a:pt x="138362" y="2888996"/>
                    <a:pt x="251282" y="2888996"/>
                  </a:cubicBezTo>
                  <a:lnTo>
                    <a:pt x="7582901" y="2888996"/>
                  </a:lnTo>
                  <a:cubicBezTo>
                    <a:pt x="7695821" y="2888996"/>
                    <a:pt x="7787067" y="2815463"/>
                    <a:pt x="7787067" y="2725166"/>
                  </a:cubicBezTo>
                  <a:lnTo>
                    <a:pt x="7787067" y="201930"/>
                  </a:lnTo>
                  <a:cubicBezTo>
                    <a:pt x="7787067" y="111633"/>
                    <a:pt x="7695821" y="38100"/>
                    <a:pt x="7582901" y="38100"/>
                  </a:cubicBezTo>
                  <a:lnTo>
                    <a:pt x="251282" y="38100"/>
                  </a:lnTo>
                  <a:lnTo>
                    <a:pt x="251282" y="19050"/>
                  </a:lnTo>
                  <a:lnTo>
                    <a:pt x="251282" y="38100"/>
                  </a:lnTo>
                  <a:cubicBezTo>
                    <a:pt x="138362" y="38100"/>
                    <a:pt x="47115" y="111633"/>
                    <a:pt x="47115" y="20193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488968" y="2061857"/>
            <a:ext cx="141346" cy="2166785"/>
            <a:chOff x="0" y="0"/>
            <a:chExt cx="188461" cy="28890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8461" cy="2888996"/>
            </a:xfrm>
            <a:custGeom>
              <a:avLst/>
              <a:gdLst/>
              <a:ahLst/>
              <a:cxnLst/>
              <a:rect l="l" t="t" r="r" b="b"/>
              <a:pathLst>
                <a:path w="188461" h="2888996">
                  <a:moveTo>
                    <a:pt x="0" y="46228"/>
                  </a:moveTo>
                  <a:cubicBezTo>
                    <a:pt x="0" y="20701"/>
                    <a:pt x="25599" y="0"/>
                    <a:pt x="57167" y="0"/>
                  </a:cubicBezTo>
                  <a:lnTo>
                    <a:pt x="131295" y="0"/>
                  </a:lnTo>
                  <a:cubicBezTo>
                    <a:pt x="162862" y="0"/>
                    <a:pt x="188461" y="20701"/>
                    <a:pt x="188461" y="46228"/>
                  </a:cubicBezTo>
                  <a:lnTo>
                    <a:pt x="188461" y="2842768"/>
                  </a:lnTo>
                  <a:cubicBezTo>
                    <a:pt x="188461" y="2868295"/>
                    <a:pt x="162862" y="2888996"/>
                    <a:pt x="131295" y="2888996"/>
                  </a:cubicBezTo>
                  <a:lnTo>
                    <a:pt x="57167" y="2888996"/>
                  </a:lnTo>
                  <a:cubicBezTo>
                    <a:pt x="25599" y="2888996"/>
                    <a:pt x="0" y="2868295"/>
                    <a:pt x="0" y="2842768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506637" y="4347705"/>
            <a:ext cx="5875614" cy="2195360"/>
            <a:chOff x="0" y="0"/>
            <a:chExt cx="7834152" cy="2927147"/>
          </a:xfrm>
        </p:grpSpPr>
        <p:sp>
          <p:nvSpPr>
            <p:cNvPr id="8" name="Freeform 8"/>
            <p:cNvSpPr/>
            <p:nvPr/>
          </p:nvSpPr>
          <p:spPr>
            <a:xfrm>
              <a:off x="23558" y="19050"/>
              <a:ext cx="7787067" cy="2888996"/>
            </a:xfrm>
            <a:custGeom>
              <a:avLst/>
              <a:gdLst/>
              <a:ahLst/>
              <a:cxnLst/>
              <a:rect l="l" t="t" r="r" b="b"/>
              <a:pathLst>
                <a:path w="7787067" h="2888996">
                  <a:moveTo>
                    <a:pt x="0" y="182880"/>
                  </a:moveTo>
                  <a:cubicBezTo>
                    <a:pt x="0" y="81915"/>
                    <a:pt x="101926" y="0"/>
                    <a:pt x="227724" y="0"/>
                  </a:cubicBezTo>
                  <a:lnTo>
                    <a:pt x="7559343" y="0"/>
                  </a:lnTo>
                  <a:cubicBezTo>
                    <a:pt x="7685141" y="0"/>
                    <a:pt x="7787067" y="81915"/>
                    <a:pt x="7787067" y="182880"/>
                  </a:cubicBezTo>
                  <a:lnTo>
                    <a:pt x="7787067" y="2706116"/>
                  </a:lnTo>
                  <a:cubicBezTo>
                    <a:pt x="7787067" y="2807081"/>
                    <a:pt x="7685141" y="2888996"/>
                    <a:pt x="7559343" y="2888996"/>
                  </a:cubicBezTo>
                  <a:lnTo>
                    <a:pt x="227724" y="2888996"/>
                  </a:lnTo>
                  <a:cubicBezTo>
                    <a:pt x="101926" y="2888996"/>
                    <a:pt x="0" y="2807081"/>
                    <a:pt x="0" y="27061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7834177" cy="2927096"/>
            </a:xfrm>
            <a:custGeom>
              <a:avLst/>
              <a:gdLst/>
              <a:ahLst/>
              <a:cxnLst/>
              <a:rect l="l" t="t" r="r" b="b"/>
              <a:pathLst>
                <a:path w="7834177" h="2927096">
                  <a:moveTo>
                    <a:pt x="0" y="201930"/>
                  </a:moveTo>
                  <a:cubicBezTo>
                    <a:pt x="0" y="90297"/>
                    <a:pt x="112606" y="0"/>
                    <a:pt x="251282" y="0"/>
                  </a:cubicBezTo>
                  <a:lnTo>
                    <a:pt x="7582901" y="0"/>
                  </a:lnTo>
                  <a:lnTo>
                    <a:pt x="7582901" y="19050"/>
                  </a:lnTo>
                  <a:lnTo>
                    <a:pt x="7582901" y="0"/>
                  </a:lnTo>
                  <a:cubicBezTo>
                    <a:pt x="7721577" y="0"/>
                    <a:pt x="7834177" y="90297"/>
                    <a:pt x="7834177" y="201930"/>
                  </a:cubicBezTo>
                  <a:lnTo>
                    <a:pt x="7810625" y="201930"/>
                  </a:lnTo>
                  <a:lnTo>
                    <a:pt x="7834177" y="201930"/>
                  </a:lnTo>
                  <a:lnTo>
                    <a:pt x="7834177" y="2725166"/>
                  </a:lnTo>
                  <a:lnTo>
                    <a:pt x="7810625" y="2725166"/>
                  </a:lnTo>
                  <a:lnTo>
                    <a:pt x="7834177" y="2725166"/>
                  </a:lnTo>
                  <a:cubicBezTo>
                    <a:pt x="7834177" y="2836799"/>
                    <a:pt x="7721577" y="2927096"/>
                    <a:pt x="7582901" y="2927096"/>
                  </a:cubicBezTo>
                  <a:lnTo>
                    <a:pt x="7582901" y="2908046"/>
                  </a:lnTo>
                  <a:lnTo>
                    <a:pt x="7582901" y="2927096"/>
                  </a:lnTo>
                  <a:lnTo>
                    <a:pt x="251282" y="2927096"/>
                  </a:lnTo>
                  <a:lnTo>
                    <a:pt x="251282" y="2908046"/>
                  </a:lnTo>
                  <a:lnTo>
                    <a:pt x="251282" y="2927096"/>
                  </a:lnTo>
                  <a:cubicBezTo>
                    <a:pt x="112606" y="2927096"/>
                    <a:pt x="0" y="2836799"/>
                    <a:pt x="0" y="2725166"/>
                  </a:cubicBezTo>
                  <a:lnTo>
                    <a:pt x="0" y="201930"/>
                  </a:lnTo>
                  <a:lnTo>
                    <a:pt x="23558" y="201930"/>
                  </a:lnTo>
                  <a:lnTo>
                    <a:pt x="0" y="201930"/>
                  </a:lnTo>
                  <a:moveTo>
                    <a:pt x="47115" y="201930"/>
                  </a:moveTo>
                  <a:lnTo>
                    <a:pt x="47115" y="2725166"/>
                  </a:lnTo>
                  <a:lnTo>
                    <a:pt x="23558" y="2725166"/>
                  </a:lnTo>
                  <a:lnTo>
                    <a:pt x="47115" y="2725166"/>
                  </a:lnTo>
                  <a:cubicBezTo>
                    <a:pt x="47115" y="2815463"/>
                    <a:pt x="138362" y="2888996"/>
                    <a:pt x="251282" y="2888996"/>
                  </a:cubicBezTo>
                  <a:lnTo>
                    <a:pt x="7582901" y="2888996"/>
                  </a:lnTo>
                  <a:cubicBezTo>
                    <a:pt x="7695821" y="2888996"/>
                    <a:pt x="7787067" y="2815463"/>
                    <a:pt x="7787067" y="2725166"/>
                  </a:cubicBezTo>
                  <a:lnTo>
                    <a:pt x="7787067" y="201930"/>
                  </a:lnTo>
                  <a:cubicBezTo>
                    <a:pt x="7787067" y="111633"/>
                    <a:pt x="7695821" y="38100"/>
                    <a:pt x="7582901" y="38100"/>
                  </a:cubicBezTo>
                  <a:lnTo>
                    <a:pt x="251282" y="38100"/>
                  </a:lnTo>
                  <a:lnTo>
                    <a:pt x="251282" y="19050"/>
                  </a:lnTo>
                  <a:lnTo>
                    <a:pt x="251282" y="38100"/>
                  </a:lnTo>
                  <a:cubicBezTo>
                    <a:pt x="138362" y="38100"/>
                    <a:pt x="47115" y="111633"/>
                    <a:pt x="47115" y="20193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488968" y="4361992"/>
            <a:ext cx="141346" cy="2166785"/>
            <a:chOff x="0" y="0"/>
            <a:chExt cx="188461" cy="288904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8461" cy="2888996"/>
            </a:xfrm>
            <a:custGeom>
              <a:avLst/>
              <a:gdLst/>
              <a:ahLst/>
              <a:cxnLst/>
              <a:rect l="l" t="t" r="r" b="b"/>
              <a:pathLst>
                <a:path w="188461" h="2888996">
                  <a:moveTo>
                    <a:pt x="0" y="46228"/>
                  </a:moveTo>
                  <a:cubicBezTo>
                    <a:pt x="0" y="20701"/>
                    <a:pt x="25599" y="0"/>
                    <a:pt x="57167" y="0"/>
                  </a:cubicBezTo>
                  <a:lnTo>
                    <a:pt x="131295" y="0"/>
                  </a:lnTo>
                  <a:cubicBezTo>
                    <a:pt x="162862" y="0"/>
                    <a:pt x="188461" y="20701"/>
                    <a:pt x="188461" y="46228"/>
                  </a:cubicBezTo>
                  <a:lnTo>
                    <a:pt x="188461" y="2842768"/>
                  </a:lnTo>
                  <a:cubicBezTo>
                    <a:pt x="188461" y="2868295"/>
                    <a:pt x="162862" y="2888996"/>
                    <a:pt x="131295" y="2888996"/>
                  </a:cubicBezTo>
                  <a:lnTo>
                    <a:pt x="57167" y="2888996"/>
                  </a:lnTo>
                  <a:cubicBezTo>
                    <a:pt x="25599" y="2888996"/>
                    <a:pt x="0" y="2868295"/>
                    <a:pt x="0" y="2842768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506637" y="6714515"/>
            <a:ext cx="5875614" cy="2195360"/>
            <a:chOff x="0" y="0"/>
            <a:chExt cx="7834152" cy="2927147"/>
          </a:xfrm>
        </p:grpSpPr>
        <p:sp>
          <p:nvSpPr>
            <p:cNvPr id="13" name="Freeform 13"/>
            <p:cNvSpPr/>
            <p:nvPr/>
          </p:nvSpPr>
          <p:spPr>
            <a:xfrm>
              <a:off x="23558" y="19050"/>
              <a:ext cx="7787067" cy="2888996"/>
            </a:xfrm>
            <a:custGeom>
              <a:avLst/>
              <a:gdLst/>
              <a:ahLst/>
              <a:cxnLst/>
              <a:rect l="l" t="t" r="r" b="b"/>
              <a:pathLst>
                <a:path w="7787067" h="2888996">
                  <a:moveTo>
                    <a:pt x="0" y="182880"/>
                  </a:moveTo>
                  <a:cubicBezTo>
                    <a:pt x="0" y="81915"/>
                    <a:pt x="101926" y="0"/>
                    <a:pt x="227724" y="0"/>
                  </a:cubicBezTo>
                  <a:lnTo>
                    <a:pt x="7559343" y="0"/>
                  </a:lnTo>
                  <a:cubicBezTo>
                    <a:pt x="7685141" y="0"/>
                    <a:pt x="7787067" y="81915"/>
                    <a:pt x="7787067" y="182880"/>
                  </a:cubicBezTo>
                  <a:lnTo>
                    <a:pt x="7787067" y="2706116"/>
                  </a:lnTo>
                  <a:cubicBezTo>
                    <a:pt x="7787067" y="2807081"/>
                    <a:pt x="7685141" y="2888996"/>
                    <a:pt x="7559343" y="2888996"/>
                  </a:cubicBezTo>
                  <a:lnTo>
                    <a:pt x="227724" y="2888996"/>
                  </a:lnTo>
                  <a:cubicBezTo>
                    <a:pt x="101926" y="2888996"/>
                    <a:pt x="0" y="2807081"/>
                    <a:pt x="0" y="270611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7834177" cy="2927096"/>
            </a:xfrm>
            <a:custGeom>
              <a:avLst/>
              <a:gdLst/>
              <a:ahLst/>
              <a:cxnLst/>
              <a:rect l="l" t="t" r="r" b="b"/>
              <a:pathLst>
                <a:path w="7834177" h="2927096">
                  <a:moveTo>
                    <a:pt x="0" y="201930"/>
                  </a:moveTo>
                  <a:cubicBezTo>
                    <a:pt x="0" y="90297"/>
                    <a:pt x="112606" y="0"/>
                    <a:pt x="251282" y="0"/>
                  </a:cubicBezTo>
                  <a:lnTo>
                    <a:pt x="7582901" y="0"/>
                  </a:lnTo>
                  <a:lnTo>
                    <a:pt x="7582901" y="19050"/>
                  </a:lnTo>
                  <a:lnTo>
                    <a:pt x="7582901" y="0"/>
                  </a:lnTo>
                  <a:cubicBezTo>
                    <a:pt x="7721577" y="0"/>
                    <a:pt x="7834177" y="90297"/>
                    <a:pt x="7834177" y="201930"/>
                  </a:cubicBezTo>
                  <a:lnTo>
                    <a:pt x="7810625" y="201930"/>
                  </a:lnTo>
                  <a:lnTo>
                    <a:pt x="7834177" y="201930"/>
                  </a:lnTo>
                  <a:lnTo>
                    <a:pt x="7834177" y="2725166"/>
                  </a:lnTo>
                  <a:lnTo>
                    <a:pt x="7810625" y="2725166"/>
                  </a:lnTo>
                  <a:lnTo>
                    <a:pt x="7834177" y="2725166"/>
                  </a:lnTo>
                  <a:cubicBezTo>
                    <a:pt x="7834177" y="2836799"/>
                    <a:pt x="7721577" y="2927096"/>
                    <a:pt x="7582901" y="2927096"/>
                  </a:cubicBezTo>
                  <a:lnTo>
                    <a:pt x="7582901" y="2908046"/>
                  </a:lnTo>
                  <a:lnTo>
                    <a:pt x="7582901" y="2927096"/>
                  </a:lnTo>
                  <a:lnTo>
                    <a:pt x="251282" y="2927096"/>
                  </a:lnTo>
                  <a:lnTo>
                    <a:pt x="251282" y="2908046"/>
                  </a:lnTo>
                  <a:lnTo>
                    <a:pt x="251282" y="2927096"/>
                  </a:lnTo>
                  <a:cubicBezTo>
                    <a:pt x="112606" y="2927096"/>
                    <a:pt x="0" y="2836799"/>
                    <a:pt x="0" y="2725166"/>
                  </a:cubicBezTo>
                  <a:lnTo>
                    <a:pt x="0" y="201930"/>
                  </a:lnTo>
                  <a:lnTo>
                    <a:pt x="23558" y="201930"/>
                  </a:lnTo>
                  <a:lnTo>
                    <a:pt x="0" y="201930"/>
                  </a:lnTo>
                  <a:moveTo>
                    <a:pt x="47115" y="201930"/>
                  </a:moveTo>
                  <a:lnTo>
                    <a:pt x="47115" y="2725166"/>
                  </a:lnTo>
                  <a:lnTo>
                    <a:pt x="23558" y="2725166"/>
                  </a:lnTo>
                  <a:lnTo>
                    <a:pt x="47115" y="2725166"/>
                  </a:lnTo>
                  <a:cubicBezTo>
                    <a:pt x="47115" y="2815463"/>
                    <a:pt x="138362" y="2888996"/>
                    <a:pt x="251282" y="2888996"/>
                  </a:cubicBezTo>
                  <a:lnTo>
                    <a:pt x="7582901" y="2888996"/>
                  </a:lnTo>
                  <a:cubicBezTo>
                    <a:pt x="7695821" y="2888996"/>
                    <a:pt x="7787067" y="2815463"/>
                    <a:pt x="7787067" y="2725166"/>
                  </a:cubicBezTo>
                  <a:lnTo>
                    <a:pt x="7787067" y="201930"/>
                  </a:lnTo>
                  <a:cubicBezTo>
                    <a:pt x="7787067" y="111633"/>
                    <a:pt x="7695821" y="38100"/>
                    <a:pt x="7582901" y="38100"/>
                  </a:cubicBezTo>
                  <a:lnTo>
                    <a:pt x="251282" y="38100"/>
                  </a:lnTo>
                  <a:lnTo>
                    <a:pt x="251282" y="19050"/>
                  </a:lnTo>
                  <a:lnTo>
                    <a:pt x="251282" y="38100"/>
                  </a:lnTo>
                  <a:cubicBezTo>
                    <a:pt x="138362" y="38100"/>
                    <a:pt x="47115" y="111633"/>
                    <a:pt x="47115" y="20193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488968" y="6728802"/>
            <a:ext cx="141346" cy="2166785"/>
            <a:chOff x="0" y="0"/>
            <a:chExt cx="188461" cy="288904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8461" cy="2888996"/>
            </a:xfrm>
            <a:custGeom>
              <a:avLst/>
              <a:gdLst/>
              <a:ahLst/>
              <a:cxnLst/>
              <a:rect l="l" t="t" r="r" b="b"/>
              <a:pathLst>
                <a:path w="188461" h="2888996">
                  <a:moveTo>
                    <a:pt x="0" y="46228"/>
                  </a:moveTo>
                  <a:cubicBezTo>
                    <a:pt x="0" y="20701"/>
                    <a:pt x="25599" y="0"/>
                    <a:pt x="57167" y="0"/>
                  </a:cubicBezTo>
                  <a:lnTo>
                    <a:pt x="131295" y="0"/>
                  </a:lnTo>
                  <a:cubicBezTo>
                    <a:pt x="162862" y="0"/>
                    <a:pt x="188461" y="20701"/>
                    <a:pt x="188461" y="46228"/>
                  </a:cubicBezTo>
                  <a:lnTo>
                    <a:pt x="188461" y="2842768"/>
                  </a:lnTo>
                  <a:cubicBezTo>
                    <a:pt x="188461" y="2868295"/>
                    <a:pt x="162862" y="2888996"/>
                    <a:pt x="131295" y="2888996"/>
                  </a:cubicBezTo>
                  <a:lnTo>
                    <a:pt x="57167" y="2888996"/>
                  </a:lnTo>
                  <a:cubicBezTo>
                    <a:pt x="25599" y="2888996"/>
                    <a:pt x="0" y="2868295"/>
                    <a:pt x="0" y="2842768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9013964" y="2047570"/>
            <a:ext cx="7032286" cy="6759356"/>
          </a:xfrm>
          <a:custGeom>
            <a:avLst/>
            <a:gdLst/>
            <a:ahLst/>
            <a:cxnLst/>
            <a:rect l="l" t="t" r="r" b="b"/>
            <a:pathLst>
              <a:path w="7032286" h="6759356">
                <a:moveTo>
                  <a:pt x="0" y="0"/>
                </a:moveTo>
                <a:lnTo>
                  <a:pt x="7032286" y="0"/>
                </a:lnTo>
                <a:lnTo>
                  <a:pt x="7032286" y="6759356"/>
                </a:lnTo>
                <a:lnTo>
                  <a:pt x="0" y="67593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765" b="-6275"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506637" y="1097131"/>
            <a:ext cx="6875363" cy="621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24"/>
              </a:lnSpc>
            </a:pPr>
            <a:r>
              <a:rPr lang="en-US" sz="4124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Source &amp; Metadata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51653" y="7402249"/>
            <a:ext cx="5091591" cy="87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1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Revenue figures are approximate; inflation, currency fluctuations, and external market factors may affect comparability across years.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51653" y="2312184"/>
            <a:ext cx="3027529" cy="646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2062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Overview</a:t>
            </a:r>
          </a:p>
          <a:p>
            <a:pPr algn="l">
              <a:lnSpc>
                <a:spcPts val="2562"/>
              </a:lnSpc>
            </a:pPr>
            <a:endParaRPr lang="en-US" sz="2062" b="1">
              <a:solidFill>
                <a:srgbClr val="3D3838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951653" y="2735303"/>
            <a:ext cx="5091591" cy="87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1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 custom-compiled dataset covering Marvel and DC theatrical releases, structured for quantitative comparison.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51653" y="4612319"/>
            <a:ext cx="3251689" cy="32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Type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51653" y="5035438"/>
            <a:ext cx="5091591" cy="28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1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Structured numerical and categorical data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51653" y="6979129"/>
            <a:ext cx="3251689" cy="32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38430" y="7636221"/>
            <a:ext cx="385610" cy="308524"/>
            <a:chOff x="0" y="0"/>
            <a:chExt cx="514147" cy="411366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514096" cy="411353"/>
            </a:xfrm>
            <a:custGeom>
              <a:avLst/>
              <a:gdLst/>
              <a:ahLst/>
              <a:cxnLst/>
              <a:rect l="l" t="t" r="r" b="b"/>
              <a:pathLst>
                <a:path w="514096" h="411353">
                  <a:moveTo>
                    <a:pt x="0" y="0"/>
                  </a:moveTo>
                  <a:lnTo>
                    <a:pt x="514096" y="0"/>
                  </a:lnTo>
                  <a:lnTo>
                    <a:pt x="514096" y="411353"/>
                  </a:lnTo>
                  <a:lnTo>
                    <a:pt x="0" y="411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" r="-14" b="-3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845020" y="1028700"/>
            <a:ext cx="14597960" cy="8229600"/>
          </a:xfrm>
          <a:custGeom>
            <a:avLst/>
            <a:gdLst/>
            <a:ahLst/>
            <a:cxnLst/>
            <a:rect l="l" t="t" r="r" b="b"/>
            <a:pathLst>
              <a:path w="14597960" h="8229600">
                <a:moveTo>
                  <a:pt x="0" y="0"/>
                </a:moveTo>
                <a:lnTo>
                  <a:pt x="14597960" y="0"/>
                </a:lnTo>
                <a:lnTo>
                  <a:pt x="145979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845020" y="1028700"/>
            <a:ext cx="14597960" cy="8229600"/>
          </a:xfrm>
          <a:custGeom>
            <a:avLst/>
            <a:gdLst/>
            <a:ahLst/>
            <a:cxnLst/>
            <a:rect l="l" t="t" r="r" b="b"/>
            <a:pathLst>
              <a:path w="14597960" h="8229600">
                <a:moveTo>
                  <a:pt x="0" y="0"/>
                </a:moveTo>
                <a:lnTo>
                  <a:pt x="14597960" y="0"/>
                </a:lnTo>
                <a:lnTo>
                  <a:pt x="145979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861168" y="1028700"/>
            <a:ext cx="14565664" cy="8229600"/>
          </a:xfrm>
          <a:custGeom>
            <a:avLst/>
            <a:gdLst/>
            <a:ahLst/>
            <a:cxnLst/>
            <a:rect l="l" t="t" r="r" b="b"/>
            <a:pathLst>
              <a:path w="14565664" h="8229600">
                <a:moveTo>
                  <a:pt x="0" y="0"/>
                </a:moveTo>
                <a:lnTo>
                  <a:pt x="14565664" y="0"/>
                </a:lnTo>
                <a:lnTo>
                  <a:pt x="1456566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00125"/>
            <a:ext cx="8994572" cy="767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2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Interpretation – Key Findings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768078"/>
            <a:ext cx="9239529" cy="1675125"/>
            <a:chOff x="0" y="0"/>
            <a:chExt cx="12810338" cy="23225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10363" cy="2322449"/>
            </a:xfrm>
            <a:custGeom>
              <a:avLst/>
              <a:gdLst/>
              <a:ahLst/>
              <a:cxnLst/>
              <a:rect l="l" t="t" r="r" b="b"/>
              <a:pathLst>
                <a:path w="12810363" h="2322449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2758293" y="0"/>
                  </a:lnTo>
                  <a:cubicBezTo>
                    <a:pt x="12786995" y="0"/>
                    <a:pt x="12810363" y="23368"/>
                    <a:pt x="12810363" y="52070"/>
                  </a:cubicBezTo>
                  <a:lnTo>
                    <a:pt x="12810363" y="2270379"/>
                  </a:lnTo>
                  <a:cubicBezTo>
                    <a:pt x="12810363" y="2299081"/>
                    <a:pt x="12786995" y="2322449"/>
                    <a:pt x="12758293" y="2322449"/>
                  </a:cubicBezTo>
                  <a:lnTo>
                    <a:pt x="52070" y="2322449"/>
                  </a:lnTo>
                  <a:cubicBezTo>
                    <a:pt x="23368" y="2322449"/>
                    <a:pt x="0" y="2299081"/>
                    <a:pt x="0" y="2270379"/>
                  </a:cubicBezTo>
                  <a:close/>
                </a:path>
              </a:pathLst>
            </a:custGeom>
            <a:solidFill>
              <a:srgbClr val="CC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028700" y="3654313"/>
            <a:ext cx="9239529" cy="1675125"/>
            <a:chOff x="0" y="0"/>
            <a:chExt cx="12810338" cy="23225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10363" cy="2322449"/>
            </a:xfrm>
            <a:custGeom>
              <a:avLst/>
              <a:gdLst/>
              <a:ahLst/>
              <a:cxnLst/>
              <a:rect l="l" t="t" r="r" b="b"/>
              <a:pathLst>
                <a:path w="12810363" h="2322449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2758293" y="0"/>
                  </a:lnTo>
                  <a:cubicBezTo>
                    <a:pt x="12786995" y="0"/>
                    <a:pt x="12810363" y="23368"/>
                    <a:pt x="12810363" y="52070"/>
                  </a:cubicBezTo>
                  <a:lnTo>
                    <a:pt x="12810363" y="2270379"/>
                  </a:lnTo>
                  <a:cubicBezTo>
                    <a:pt x="12810363" y="2299081"/>
                    <a:pt x="12786995" y="2322449"/>
                    <a:pt x="12758293" y="2322449"/>
                  </a:cubicBezTo>
                  <a:lnTo>
                    <a:pt x="52070" y="2322449"/>
                  </a:lnTo>
                  <a:cubicBezTo>
                    <a:pt x="23368" y="2322449"/>
                    <a:pt x="0" y="2299081"/>
                    <a:pt x="0" y="2270379"/>
                  </a:cubicBezTo>
                  <a:close/>
                </a:path>
              </a:pathLst>
            </a:custGeom>
            <a:solidFill>
              <a:srgbClr val="0033CC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028700" y="5540548"/>
            <a:ext cx="9239529" cy="1675125"/>
            <a:chOff x="0" y="0"/>
            <a:chExt cx="12810338" cy="232251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810363" cy="2322449"/>
            </a:xfrm>
            <a:custGeom>
              <a:avLst/>
              <a:gdLst/>
              <a:ahLst/>
              <a:cxnLst/>
              <a:rect l="l" t="t" r="r" b="b"/>
              <a:pathLst>
                <a:path w="12810363" h="2322449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2758293" y="0"/>
                  </a:lnTo>
                  <a:cubicBezTo>
                    <a:pt x="12786995" y="0"/>
                    <a:pt x="12810363" y="23368"/>
                    <a:pt x="12810363" y="52070"/>
                  </a:cubicBezTo>
                  <a:lnTo>
                    <a:pt x="12810363" y="2270379"/>
                  </a:lnTo>
                  <a:cubicBezTo>
                    <a:pt x="12810363" y="2299081"/>
                    <a:pt x="12786995" y="2322449"/>
                    <a:pt x="12758293" y="2322449"/>
                  </a:cubicBezTo>
                  <a:lnTo>
                    <a:pt x="52070" y="2322449"/>
                  </a:lnTo>
                  <a:cubicBezTo>
                    <a:pt x="23368" y="2322449"/>
                    <a:pt x="0" y="2299081"/>
                    <a:pt x="0" y="2270379"/>
                  </a:cubicBezTo>
                  <a:close/>
                </a:path>
              </a:pathLst>
            </a:custGeom>
            <a:solidFill>
              <a:srgbClr val="CC000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028700" y="7426782"/>
            <a:ext cx="9239529" cy="1675125"/>
            <a:chOff x="0" y="0"/>
            <a:chExt cx="12810338" cy="23225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810363" cy="2322449"/>
            </a:xfrm>
            <a:custGeom>
              <a:avLst/>
              <a:gdLst/>
              <a:ahLst/>
              <a:cxnLst/>
              <a:rect l="l" t="t" r="r" b="b"/>
              <a:pathLst>
                <a:path w="12810363" h="2322449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2758293" y="0"/>
                  </a:lnTo>
                  <a:cubicBezTo>
                    <a:pt x="12786995" y="0"/>
                    <a:pt x="12810363" y="23368"/>
                    <a:pt x="12810363" y="52070"/>
                  </a:cubicBezTo>
                  <a:lnTo>
                    <a:pt x="12810363" y="2270379"/>
                  </a:lnTo>
                  <a:cubicBezTo>
                    <a:pt x="12810363" y="2299081"/>
                    <a:pt x="12786995" y="2322449"/>
                    <a:pt x="12758293" y="2322449"/>
                  </a:cubicBezTo>
                  <a:lnTo>
                    <a:pt x="52070" y="2322449"/>
                  </a:lnTo>
                  <a:cubicBezTo>
                    <a:pt x="23368" y="2322449"/>
                    <a:pt x="0" y="2299081"/>
                    <a:pt x="0" y="2270379"/>
                  </a:cubicBezTo>
                  <a:close/>
                </a:path>
              </a:pathLst>
            </a:custGeom>
            <a:solidFill>
              <a:srgbClr val="0033CC"/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0667846" y="1716999"/>
            <a:ext cx="7125889" cy="7224878"/>
          </a:xfrm>
          <a:custGeom>
            <a:avLst/>
            <a:gdLst/>
            <a:ahLst/>
            <a:cxnLst/>
            <a:rect l="l" t="t" r="r" b="b"/>
            <a:pathLst>
              <a:path w="7125889" h="7224878">
                <a:moveTo>
                  <a:pt x="0" y="0"/>
                </a:moveTo>
                <a:lnTo>
                  <a:pt x="7125888" y="0"/>
                </a:lnTo>
                <a:lnTo>
                  <a:pt x="7125888" y="7224878"/>
                </a:lnTo>
                <a:lnTo>
                  <a:pt x="0" y="72248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6891" b="-5251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279023" y="2008876"/>
            <a:ext cx="3033372" cy="365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2223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Revenue Leadership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79023" y="2453112"/>
            <a:ext cx="8738874" cy="739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1923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Marvel leads decisively in both total revenue and per-film average, reflecting stronger commercial execution.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79023" y="3895111"/>
            <a:ext cx="2844878" cy="365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2223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DC Variability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79023" y="4339346"/>
            <a:ext cx="8738874" cy="739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1923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DC exhibits high performance variance — capable of exceptional hits, but without the floor of consistent mid-tier returns.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9023" y="5781346"/>
            <a:ext cx="2844878" cy="365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2223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Franchise Strategy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79023" y="6225572"/>
            <a:ext cx="8738874" cy="739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1923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Marvel's interconnected cinematic universe creates compounding audience investment, directly impacting financial outcomes.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79023" y="7667580"/>
            <a:ext cx="3437701" cy="365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2223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Audience Engagement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79023" y="8111807"/>
            <a:ext cx="8738874" cy="739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4"/>
              </a:lnSpc>
            </a:pPr>
            <a:r>
              <a:rPr lang="en-US" sz="1923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Marvel sustains stronger long-term audience loyalty, evidenced by repeat viewings and sustained opening-weekend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1028700" y="3677819"/>
            <a:ext cx="346599" cy="346599"/>
          </a:xfrm>
          <a:custGeom>
            <a:avLst/>
            <a:gdLst/>
            <a:ahLst/>
            <a:cxnLst/>
            <a:rect l="l" t="t" r="r" b="b"/>
            <a:pathLst>
              <a:path w="346599" h="346599">
                <a:moveTo>
                  <a:pt x="0" y="0"/>
                </a:moveTo>
                <a:lnTo>
                  <a:pt x="346599" y="0"/>
                </a:lnTo>
                <a:lnTo>
                  <a:pt x="346599" y="346599"/>
                </a:lnTo>
                <a:lnTo>
                  <a:pt x="0" y="3465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974" r="-8972"/>
            </a:stretch>
          </a:blipFill>
        </p:spPr>
      </p:sp>
      <p:sp>
        <p:nvSpPr>
          <p:cNvPr id="3" name="Freeform 3" descr="preencoded.png"/>
          <p:cNvSpPr/>
          <p:nvPr/>
        </p:nvSpPr>
        <p:spPr>
          <a:xfrm>
            <a:off x="1028700" y="5422622"/>
            <a:ext cx="346599" cy="346599"/>
          </a:xfrm>
          <a:custGeom>
            <a:avLst/>
            <a:gdLst/>
            <a:ahLst/>
            <a:cxnLst/>
            <a:rect l="l" t="t" r="r" b="b"/>
            <a:pathLst>
              <a:path w="346599" h="346599">
                <a:moveTo>
                  <a:pt x="0" y="0"/>
                </a:moveTo>
                <a:lnTo>
                  <a:pt x="346599" y="0"/>
                </a:lnTo>
                <a:lnTo>
                  <a:pt x="346599" y="346599"/>
                </a:lnTo>
                <a:lnTo>
                  <a:pt x="0" y="3465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974" r="-8972"/>
            </a:stretch>
          </a:blipFill>
        </p:spPr>
      </p:sp>
      <p:sp>
        <p:nvSpPr>
          <p:cNvPr id="4" name="Freeform 4" descr="preencoded.png"/>
          <p:cNvSpPr/>
          <p:nvPr/>
        </p:nvSpPr>
        <p:spPr>
          <a:xfrm>
            <a:off x="1028700" y="6946607"/>
            <a:ext cx="346599" cy="346599"/>
          </a:xfrm>
          <a:custGeom>
            <a:avLst/>
            <a:gdLst/>
            <a:ahLst/>
            <a:cxnLst/>
            <a:rect l="l" t="t" r="r" b="b"/>
            <a:pathLst>
              <a:path w="346599" h="346599">
                <a:moveTo>
                  <a:pt x="0" y="0"/>
                </a:moveTo>
                <a:lnTo>
                  <a:pt x="346599" y="0"/>
                </a:lnTo>
                <a:lnTo>
                  <a:pt x="346599" y="346599"/>
                </a:lnTo>
                <a:lnTo>
                  <a:pt x="0" y="3465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974" r="-897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9144000" y="1608892"/>
            <a:ext cx="7633408" cy="6830227"/>
          </a:xfrm>
          <a:custGeom>
            <a:avLst/>
            <a:gdLst/>
            <a:ahLst/>
            <a:cxnLst/>
            <a:rect l="l" t="t" r="r" b="b"/>
            <a:pathLst>
              <a:path w="7633408" h="6830227">
                <a:moveTo>
                  <a:pt x="0" y="0"/>
                </a:moveTo>
                <a:lnTo>
                  <a:pt x="7633408" y="0"/>
                </a:lnTo>
                <a:lnTo>
                  <a:pt x="7633408" y="6830227"/>
                </a:lnTo>
                <a:lnTo>
                  <a:pt x="0" y="68302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0588" b="-7660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1113210"/>
            <a:ext cx="5587898" cy="717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7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1924745"/>
            <a:ext cx="3704866" cy="394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3"/>
              </a:lnSpc>
            </a:pPr>
            <a:r>
              <a:rPr lang="en-US" sz="252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Strategic Implications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408375"/>
            <a:ext cx="6133257" cy="1145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sz="223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This analysis reveals that long-term franchise architecture — not individual film quality alone — drives sustained box office success.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93074" y="3639790"/>
            <a:ext cx="5468883" cy="153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sz="2232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Marvel</a:t>
            </a:r>
            <a:r>
              <a:rPr lang="en-US" sz="223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demonstrates a more stable and commercially successful cinematic strategy, built on interconnected storytelling and disciplined release planning.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93083" y="5384593"/>
            <a:ext cx="5468874" cy="1145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sz="2232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DC</a:t>
            </a:r>
            <a:r>
              <a:rPr lang="en-US" sz="223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possesses significant creative potential but lacks the operational consistency required to compete at aggregate scale.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93083" y="6908579"/>
            <a:ext cx="5468874" cy="153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sz="2232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Key lesson:</a:t>
            </a:r>
            <a:r>
              <a:rPr lang="en-US" sz="223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Data underscores the importance of long-term planning, universe coherence, and audience trust in driving franchise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32406" y="3891500"/>
            <a:ext cx="12840994" cy="2418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501"/>
              </a:lnSpc>
              <a:spcBef>
                <a:spcPct val="0"/>
              </a:spcBef>
            </a:pPr>
            <a:r>
              <a:rPr lang="en-US" sz="15600" dirty="0">
                <a:solidFill>
                  <a:srgbClr val="0A0A0A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</Words>
  <Application>Microsoft Office PowerPoint</Application>
  <PresentationFormat>Custom</PresentationFormat>
  <Paragraphs>66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Source Sans 3 Bold</vt:lpstr>
      <vt:lpstr>Dela Gothic One</vt:lpstr>
      <vt:lpstr>Montserrat Bold</vt:lpstr>
      <vt:lpstr>Calibri</vt:lpstr>
      <vt:lpstr>Source Sans 3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Marvel-vs-DC-Box-Office-Comparison.pptx</dc:title>
  <cp:lastModifiedBy>692_Aditya_Baheti</cp:lastModifiedBy>
  <cp:revision>2</cp:revision>
  <dcterms:created xsi:type="dcterms:W3CDTF">2006-08-16T00:00:00Z</dcterms:created>
  <dcterms:modified xsi:type="dcterms:W3CDTF">2026-04-21T19:05:34Z</dcterms:modified>
  <dc:identifier>DAHHgo4oWnI</dc:identifier>
</cp:coreProperties>
</file>