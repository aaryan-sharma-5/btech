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y="6858000" cx="9144000"/>
  <p:notesSz cx="6858000" cy="9144000"/>
  <p:embeddedFontLst>
    <p:embeddedFont>
      <p:font typeface="Marcellus SC"/>
      <p:regular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31" roundtripDataSignature="AMtx7milQYbPXYegzdb3wgyJpygC5v6sK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0B721DB-D983-4BF6-AE67-ED3659DE7749}">
  <a:tblStyle styleId="{E0B721DB-D983-4BF6-AE67-ED3659DE7749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customschemas.google.com/relationships/presentationmetadata" Target="metadata"/><Relationship Id="rId30" Type="http://schemas.openxmlformats.org/officeDocument/2006/relationships/font" Target="fonts/MarcellusSC-regular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IN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7" name="Google Shape;87;p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b7a787bc74_1_22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g3b7a787bc74_1_2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8" name="Google Shape;98;g3b7a787bc74_1_22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bc6f659c99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/>
              <a:t>3 tier - 3 </a:t>
            </a:r>
            <a:r>
              <a:rPr lang="en-IN"/>
              <a:t>switches</a:t>
            </a:r>
            <a:r>
              <a:rPr lang="en-IN"/>
              <a:t>- access, </a:t>
            </a:r>
            <a:r>
              <a:rPr lang="en-IN"/>
              <a:t>aggregate</a:t>
            </a:r>
            <a:r>
              <a:rPr lang="en-IN"/>
              <a:t>, switch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/>
              <a:t>2 tier - 2 switches-  leaf, spine</a:t>
            </a:r>
            <a:endParaRPr/>
          </a:p>
        </p:txBody>
      </p:sp>
      <p:sp>
        <p:nvSpPr>
          <p:cNvPr id="105" name="Google Shape;105;g3bc6f659c99_0_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bdb2d03317_0_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bdb2d03317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In a 5:1 oversubscribed leaf, the aggregate server bandwidth is five times greater than the uplink capacity, meaning that if multiple servers transmit simultaneously at line rate, they must share the uplink bandwidth.”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At full load, five times more server bandwidth exists than uplink capacity.</a:t>
            </a:r>
            <a:endParaRPr/>
          </a:p>
        </p:txBody>
      </p:sp>
      <p:sp>
        <p:nvSpPr>
          <p:cNvPr id="123" name="Google Shape;123;g3bdb2d03317_0_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bc6f659c99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0" name="Google Shape;130;g3bc6f659c99_0_2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bdb2d03317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4" name="Google Shape;144;g3bdb2d03317_0_9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bc6f659c99_0_4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8" name="Google Shape;158;g3bc6f659c99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/>
              <a:t>CR - like which data center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/>
              <a:t>AR- INside data center, which block or cluster the request should go to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/>
              <a:t>AS and L2 switch, they will check source and destination MAC address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/>
              <a:t>ToR swith- at top of every server</a:t>
            </a:r>
            <a:endParaRPr/>
          </a:p>
        </p:txBody>
      </p:sp>
      <p:sp>
        <p:nvSpPr>
          <p:cNvPr id="159" name="Google Shape;159;g3bc6f659c99_0_4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c721df266a_0_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5" name="Google Shape;165;g3c721df266a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/>
              <a:t>CR - like which data center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/>
              <a:t>AR- INside data center, which block or cluster the request should go to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/>
              <a:t>AS and L2 switch, they will check source and destination MAC address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/>
              <a:t>ToR swith- at top of every server</a:t>
            </a:r>
            <a:endParaRPr/>
          </a:p>
        </p:txBody>
      </p:sp>
      <p:sp>
        <p:nvSpPr>
          <p:cNvPr id="166" name="Google Shape;166;g3c721df266a_0_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c721df266a_0_1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3" name="Google Shape;173;g3c721df266a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/>
              <a:t>CR - like which data center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/>
              <a:t>AR- INside data center, which block or cluster the request should go to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/>
              <a:t>AS and L2 switch, they will check source and destination MAC address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/>
              <a:t>ToR swith- at top of every server</a:t>
            </a:r>
            <a:endParaRPr/>
          </a:p>
        </p:txBody>
      </p:sp>
      <p:sp>
        <p:nvSpPr>
          <p:cNvPr id="174" name="Google Shape;174;g3c721df266a_0_11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bdc8abc338_1_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1" name="Google Shape;181;g3bdc8abc338_1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/>
              <a:t>CR - like which data center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/>
              <a:t>AR- INside data center, which block or cluster the request should go to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/>
              <a:t>AS and L2 switch, they will check source and destination MAC address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/>
              <a:t>ToR swith- at top of every server</a:t>
            </a:r>
            <a:endParaRPr/>
          </a:p>
        </p:txBody>
      </p:sp>
      <p:sp>
        <p:nvSpPr>
          <p:cNvPr id="182" name="Google Shape;182;g3bdc8abc338_1_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c721df266a_0_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8" name="Google Shape;188;g3c721df266a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/>
              <a:t>CR - like which data center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/>
              <a:t>AR- INside data center, which block or cluster the request should go to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/>
              <a:t>AS and L2 switch, they will check source and destination MAC address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/>
              <a:t>ToR swith- at top of every server</a:t>
            </a:r>
            <a:endParaRPr/>
          </a:p>
        </p:txBody>
      </p:sp>
      <p:sp>
        <p:nvSpPr>
          <p:cNvPr id="189" name="Google Shape;189;g3c721df266a_0_1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c721df266a_0_2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7" name="Google Shape;197;g3c721df266a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/>
              <a:t>CR - like which data center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/>
              <a:t>AR- INside data center, which block or cluster the request should go to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/>
              <a:t>AS and L2 switch, they will check source and destination MAC address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/>
              <a:t>ToR swith- at top of every server</a:t>
            </a:r>
            <a:endParaRPr/>
          </a:p>
        </p:txBody>
      </p:sp>
      <p:sp>
        <p:nvSpPr>
          <p:cNvPr id="198" name="Google Shape;198;g3c721df266a_0_2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c721df266a_0_3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3c721df266a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g3c721df266a_0_3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c721df266a_0_9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3c721df266a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g3c721df266a_0_9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c721df266a_0_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6" name="Google Shape;226;g3c721df266a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/>
              <a:t>CR - like which data center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/>
              <a:t>AR- INside data center, which block or cluster the request should go to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/>
              <a:t>AS and L2 switch, they will check source and destination MAC address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/>
              <a:t>ToR swith- at top of every server</a:t>
            </a:r>
            <a:endParaRPr/>
          </a:p>
        </p:txBody>
      </p:sp>
      <p:sp>
        <p:nvSpPr>
          <p:cNvPr id="227" name="Google Shape;227;g3c721df266a_0_1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c721df266a_0_15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3c721df266a_0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Total 4 hops</a:t>
            </a:r>
            <a:endParaRPr/>
          </a:p>
        </p:txBody>
      </p:sp>
      <p:sp>
        <p:nvSpPr>
          <p:cNvPr id="238" name="Google Shape;238;g3c721df266a_0_15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c721df266a_0_5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3c721df266a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Networks that primarily make use of MAC addresses for forwarding and ARP broadcasts</a:t>
            </a:r>
            <a:endParaRPr/>
          </a:p>
        </p:txBody>
      </p:sp>
      <p:sp>
        <p:nvSpPr>
          <p:cNvPr id="253" name="Google Shape;253;g3c721df266a_0_5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c721df266a_0_17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g3c721df266a_0_1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1 A, 2C</a:t>
            </a:r>
            <a:endParaRPr/>
          </a:p>
        </p:txBody>
      </p:sp>
      <p:sp>
        <p:nvSpPr>
          <p:cNvPr id="261" name="Google Shape;261;g3c721df266a_0_17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c721df266a_0_18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3c721df266a_0_1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3 A,  4A</a:t>
            </a:r>
            <a:endParaRPr/>
          </a:p>
        </p:txBody>
      </p:sp>
      <p:sp>
        <p:nvSpPr>
          <p:cNvPr id="269" name="Google Shape;269;g3c721df266a_0_18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3c721df266a_0_19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" name="Google Shape;276;g3c721df266a_0_1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g3c721df266a_0_19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3c721df266a_0_19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5" name="Google Shape;285;g3c721df266a_0_1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5B,6B</a:t>
            </a:r>
            <a:endParaRPr/>
          </a:p>
        </p:txBody>
      </p:sp>
      <p:sp>
        <p:nvSpPr>
          <p:cNvPr id="286" name="Google Shape;286;g3c721df266a_0_19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c721df266a_0_2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3c721df266a_0_2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7- B, D</a:t>
            </a:r>
            <a:endParaRPr/>
          </a:p>
        </p:txBody>
      </p:sp>
      <p:sp>
        <p:nvSpPr>
          <p:cNvPr id="294" name="Google Shape;294;g3c721df266a_0_21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3c721df266a_0_22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" name="Google Shape;301;g3c721df266a_0_2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g3c721df266a_0_22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_1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g3b7a787bc74_1_69"/>
          <p:cNvSpPr txBox="1"/>
          <p:nvPr>
            <p:ph type="ctrTitle"/>
          </p:nvPr>
        </p:nvSpPr>
        <p:spPr>
          <a:xfrm>
            <a:off x="685800" y="2130425"/>
            <a:ext cx="7772400" cy="14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g3b7a787bc74_1_69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g3b7a787bc74_1_69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g3b7a787bc74_1_69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" name="Google Shape;15;g3b7a787bc74_1_69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BJECT" type="obj">
  <p:cSld name="OBJECT">
    <p:bg>
      <p:bgPr>
        <a:solidFill>
          <a:schemeClr val="lt1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g3b7a787bc74_1_1"/>
          <p:cNvSpPr txBox="1"/>
          <p:nvPr>
            <p:ph type="title"/>
          </p:nvPr>
        </p:nvSpPr>
        <p:spPr>
          <a:xfrm>
            <a:off x="457200" y="274680"/>
            <a:ext cx="8229300" cy="114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8" name="Google Shape;18;g3b7a787bc74_1_1"/>
          <p:cNvSpPr txBox="1"/>
          <p:nvPr>
            <p:ph idx="1" type="body"/>
          </p:nvPr>
        </p:nvSpPr>
        <p:spPr>
          <a:xfrm>
            <a:off x="457200" y="1600200"/>
            <a:ext cx="8229300" cy="45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9" name="Google Shape;19;g3b7a787bc74_1_1"/>
          <p:cNvSpPr txBox="1"/>
          <p:nvPr>
            <p:ph idx="10" type="dt"/>
          </p:nvPr>
        </p:nvSpPr>
        <p:spPr>
          <a:xfrm>
            <a:off x="45720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0" name="Google Shape;20;g3b7a787bc74_1_1"/>
          <p:cNvSpPr txBox="1"/>
          <p:nvPr>
            <p:ph idx="11" type="ftr"/>
          </p:nvPr>
        </p:nvSpPr>
        <p:spPr>
          <a:xfrm>
            <a:off x="3124080" y="6356520"/>
            <a:ext cx="28950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1" name="Google Shape;21;g3b7a787bc74_1_1"/>
          <p:cNvSpPr txBox="1"/>
          <p:nvPr>
            <p:ph idx="12" type="sldNum"/>
          </p:nvPr>
        </p:nvSpPr>
        <p:spPr>
          <a:xfrm>
            <a:off x="655308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_TEXT" type="vertTx">
  <p:cSld name="VERTICAL_TEXT">
    <p:bg>
      <p:bgPr>
        <a:solidFill>
          <a:schemeClr val="lt1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g3b7a787bc74_1_7"/>
          <p:cNvSpPr txBox="1"/>
          <p:nvPr>
            <p:ph type="title"/>
          </p:nvPr>
        </p:nvSpPr>
        <p:spPr>
          <a:xfrm>
            <a:off x="457200" y="274680"/>
            <a:ext cx="8229300" cy="114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4" name="Google Shape;24;g3b7a787bc74_1_7"/>
          <p:cNvSpPr txBox="1"/>
          <p:nvPr>
            <p:ph idx="1" type="body"/>
          </p:nvPr>
        </p:nvSpPr>
        <p:spPr>
          <a:xfrm rot="5400000">
            <a:off x="2309400" y="-251700"/>
            <a:ext cx="4525500" cy="82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5" name="Google Shape;25;g3b7a787bc74_1_7"/>
          <p:cNvSpPr txBox="1"/>
          <p:nvPr>
            <p:ph idx="10" type="dt"/>
          </p:nvPr>
        </p:nvSpPr>
        <p:spPr>
          <a:xfrm>
            <a:off x="45720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6" name="Google Shape;26;g3b7a787bc74_1_7"/>
          <p:cNvSpPr txBox="1"/>
          <p:nvPr>
            <p:ph idx="11" type="ftr"/>
          </p:nvPr>
        </p:nvSpPr>
        <p:spPr>
          <a:xfrm>
            <a:off x="3124080" y="6356520"/>
            <a:ext cx="28950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7" name="Google Shape;27;g3b7a787bc74_1_7"/>
          <p:cNvSpPr txBox="1"/>
          <p:nvPr>
            <p:ph idx="12" type="sldNum"/>
          </p:nvPr>
        </p:nvSpPr>
        <p:spPr>
          <a:xfrm>
            <a:off x="655308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_TITLE_AND_VERTICAL_TEXT" type="vertTitleAndTx">
  <p:cSld name="VERTICAL_TITLE_AND_VERTICAL_TEXT">
    <p:bg>
      <p:bgPr>
        <a:solidFill>
          <a:schemeClr val="lt1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g3b7a787bc74_1_13"/>
          <p:cNvSpPr txBox="1"/>
          <p:nvPr>
            <p:ph type="title"/>
          </p:nvPr>
        </p:nvSpPr>
        <p:spPr>
          <a:xfrm rot="5400000">
            <a:off x="4732470" y="2171550"/>
            <a:ext cx="5851200" cy="2057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0" name="Google Shape;30;g3b7a787bc74_1_13"/>
          <p:cNvSpPr txBox="1"/>
          <p:nvPr>
            <p:ph idx="1" type="body"/>
          </p:nvPr>
        </p:nvSpPr>
        <p:spPr>
          <a:xfrm rot="5400000">
            <a:off x="541770" y="190170"/>
            <a:ext cx="5851200" cy="601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1" name="Google Shape;31;g3b7a787bc74_1_13"/>
          <p:cNvSpPr txBox="1"/>
          <p:nvPr>
            <p:ph idx="10" type="dt"/>
          </p:nvPr>
        </p:nvSpPr>
        <p:spPr>
          <a:xfrm>
            <a:off x="45720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2" name="Google Shape;32;g3b7a787bc74_1_13"/>
          <p:cNvSpPr txBox="1"/>
          <p:nvPr>
            <p:ph idx="11" type="ftr"/>
          </p:nvPr>
        </p:nvSpPr>
        <p:spPr>
          <a:xfrm>
            <a:off x="3124080" y="6356520"/>
            <a:ext cx="28950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3" name="Google Shape;33;g3b7a787bc74_1_13"/>
          <p:cNvSpPr txBox="1"/>
          <p:nvPr>
            <p:ph idx="12" type="sldNum"/>
          </p:nvPr>
        </p:nvSpPr>
        <p:spPr>
          <a:xfrm>
            <a:off x="655308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 type="title">
  <p:cSld name="TITLE">
    <p:bg>
      <p:bgPr>
        <a:solidFill>
          <a:schemeClr val="lt1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g3b7a787bc74_1_19"/>
          <p:cNvSpPr txBox="1"/>
          <p:nvPr>
            <p:ph type="title"/>
          </p:nvPr>
        </p:nvSpPr>
        <p:spPr>
          <a:xfrm>
            <a:off x="685800" y="2130480"/>
            <a:ext cx="7772100" cy="1469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6" name="Google Shape;36;g3b7a787bc74_1_19"/>
          <p:cNvSpPr txBox="1"/>
          <p:nvPr>
            <p:ph idx="10" type="dt"/>
          </p:nvPr>
        </p:nvSpPr>
        <p:spPr>
          <a:xfrm>
            <a:off x="45720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7" name="Google Shape;37;g3b7a787bc74_1_19"/>
          <p:cNvSpPr txBox="1"/>
          <p:nvPr>
            <p:ph idx="11" type="ftr"/>
          </p:nvPr>
        </p:nvSpPr>
        <p:spPr>
          <a:xfrm>
            <a:off x="3124080" y="6356520"/>
            <a:ext cx="28950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8" name="Google Shape;38;g3b7a787bc74_1_19"/>
          <p:cNvSpPr txBox="1"/>
          <p:nvPr>
            <p:ph idx="12" type="sldNum"/>
          </p:nvPr>
        </p:nvSpPr>
        <p:spPr>
          <a:xfrm>
            <a:off x="655308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_HEADER" type="blank">
  <p:cSld name="BLANK">
    <p:bg>
      <p:bgPr>
        <a:solidFill>
          <a:schemeClr val="lt1"/>
        </a:solidFill>
      </p:bgPr>
    </p:bg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g3b7a787bc74_1_24"/>
          <p:cNvSpPr txBox="1"/>
          <p:nvPr>
            <p:ph type="title"/>
          </p:nvPr>
        </p:nvSpPr>
        <p:spPr>
          <a:xfrm>
            <a:off x="722160" y="4406760"/>
            <a:ext cx="7772100" cy="13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1" name="Google Shape;41;g3b7a787bc74_1_24"/>
          <p:cNvSpPr txBox="1"/>
          <p:nvPr>
            <p:ph idx="1" type="body"/>
          </p:nvPr>
        </p:nvSpPr>
        <p:spPr>
          <a:xfrm>
            <a:off x="722160" y="2906640"/>
            <a:ext cx="7772100" cy="1499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2" name="Google Shape;42;g3b7a787bc74_1_24"/>
          <p:cNvSpPr txBox="1"/>
          <p:nvPr>
            <p:ph idx="10" type="dt"/>
          </p:nvPr>
        </p:nvSpPr>
        <p:spPr>
          <a:xfrm>
            <a:off x="45720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3" name="Google Shape;43;g3b7a787bc74_1_24"/>
          <p:cNvSpPr txBox="1"/>
          <p:nvPr>
            <p:ph idx="11" type="ftr"/>
          </p:nvPr>
        </p:nvSpPr>
        <p:spPr>
          <a:xfrm>
            <a:off x="3124080" y="6356520"/>
            <a:ext cx="28950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4" name="Google Shape;44;g3b7a787bc74_1_24"/>
          <p:cNvSpPr txBox="1"/>
          <p:nvPr>
            <p:ph idx="12" type="sldNum"/>
          </p:nvPr>
        </p:nvSpPr>
        <p:spPr>
          <a:xfrm>
            <a:off x="655308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_OBJECTS" type="twoObj">
  <p:cSld name="TWO_OBJECTS">
    <p:bg>
      <p:bgPr>
        <a:solidFill>
          <a:schemeClr val="lt1"/>
        </a:solidFill>
      </p:bgPr>
    </p:bg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g3b7a787bc74_1_30"/>
          <p:cNvSpPr txBox="1"/>
          <p:nvPr>
            <p:ph type="title"/>
          </p:nvPr>
        </p:nvSpPr>
        <p:spPr>
          <a:xfrm>
            <a:off x="457200" y="274680"/>
            <a:ext cx="8229300" cy="114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7" name="Google Shape;47;g3b7a787bc74_1_30"/>
          <p:cNvSpPr txBox="1"/>
          <p:nvPr>
            <p:ph idx="1" type="body"/>
          </p:nvPr>
        </p:nvSpPr>
        <p:spPr>
          <a:xfrm>
            <a:off x="457200" y="1600200"/>
            <a:ext cx="4038000" cy="45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8" name="Google Shape;48;g3b7a787bc74_1_30"/>
          <p:cNvSpPr txBox="1"/>
          <p:nvPr>
            <p:ph idx="2" type="body"/>
          </p:nvPr>
        </p:nvSpPr>
        <p:spPr>
          <a:xfrm>
            <a:off x="4648320" y="1600200"/>
            <a:ext cx="4038000" cy="45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9" name="Google Shape;49;g3b7a787bc74_1_30"/>
          <p:cNvSpPr txBox="1"/>
          <p:nvPr>
            <p:ph idx="10" type="dt"/>
          </p:nvPr>
        </p:nvSpPr>
        <p:spPr>
          <a:xfrm>
            <a:off x="45720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0" name="Google Shape;50;g3b7a787bc74_1_30"/>
          <p:cNvSpPr txBox="1"/>
          <p:nvPr>
            <p:ph idx="11" type="ftr"/>
          </p:nvPr>
        </p:nvSpPr>
        <p:spPr>
          <a:xfrm>
            <a:off x="3124080" y="6356520"/>
            <a:ext cx="28950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1" name="Google Shape;51;g3b7a787bc74_1_30"/>
          <p:cNvSpPr txBox="1"/>
          <p:nvPr>
            <p:ph idx="12" type="sldNum"/>
          </p:nvPr>
        </p:nvSpPr>
        <p:spPr>
          <a:xfrm>
            <a:off x="655308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_OBJECTS_WITH_TEXT" type="twoTxTwoObj">
  <p:cSld name="TWO_OBJECTS_WITH_TEXT">
    <p:bg>
      <p:bgPr>
        <a:solidFill>
          <a:schemeClr val="lt1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g3b7a787bc74_1_37"/>
          <p:cNvSpPr txBox="1"/>
          <p:nvPr>
            <p:ph type="title"/>
          </p:nvPr>
        </p:nvSpPr>
        <p:spPr>
          <a:xfrm>
            <a:off x="457200" y="274680"/>
            <a:ext cx="8229300" cy="114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4" name="Google Shape;54;g3b7a787bc74_1_37"/>
          <p:cNvSpPr txBox="1"/>
          <p:nvPr>
            <p:ph idx="1" type="body"/>
          </p:nvPr>
        </p:nvSpPr>
        <p:spPr>
          <a:xfrm>
            <a:off x="457200" y="1535040"/>
            <a:ext cx="4039800" cy="639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5" name="Google Shape;55;g3b7a787bc74_1_37"/>
          <p:cNvSpPr txBox="1"/>
          <p:nvPr>
            <p:ph idx="2" type="body"/>
          </p:nvPr>
        </p:nvSpPr>
        <p:spPr>
          <a:xfrm>
            <a:off x="457200" y="2174760"/>
            <a:ext cx="4039800" cy="395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6" name="Google Shape;56;g3b7a787bc74_1_37"/>
          <p:cNvSpPr txBox="1"/>
          <p:nvPr>
            <p:ph idx="3" type="body"/>
          </p:nvPr>
        </p:nvSpPr>
        <p:spPr>
          <a:xfrm>
            <a:off x="4645080" y="1535040"/>
            <a:ext cx="4041300" cy="639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7" name="Google Shape;57;g3b7a787bc74_1_37"/>
          <p:cNvSpPr txBox="1"/>
          <p:nvPr>
            <p:ph idx="4" type="body"/>
          </p:nvPr>
        </p:nvSpPr>
        <p:spPr>
          <a:xfrm>
            <a:off x="4645080" y="2174760"/>
            <a:ext cx="4041300" cy="395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8" name="Google Shape;58;g3b7a787bc74_1_37"/>
          <p:cNvSpPr txBox="1"/>
          <p:nvPr>
            <p:ph idx="10" type="dt"/>
          </p:nvPr>
        </p:nvSpPr>
        <p:spPr>
          <a:xfrm>
            <a:off x="45720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9" name="Google Shape;59;g3b7a787bc74_1_37"/>
          <p:cNvSpPr txBox="1"/>
          <p:nvPr>
            <p:ph idx="11" type="ftr"/>
          </p:nvPr>
        </p:nvSpPr>
        <p:spPr>
          <a:xfrm>
            <a:off x="3124080" y="6356520"/>
            <a:ext cx="28950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0" name="Google Shape;60;g3b7a787bc74_1_37"/>
          <p:cNvSpPr txBox="1"/>
          <p:nvPr>
            <p:ph idx="12" type="sldNum"/>
          </p:nvPr>
        </p:nvSpPr>
        <p:spPr>
          <a:xfrm>
            <a:off x="655308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ONLY" type="titleOnly">
  <p:cSld name="TITLE_ONLY"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b7a787bc74_1_46"/>
          <p:cNvSpPr txBox="1"/>
          <p:nvPr>
            <p:ph type="title"/>
          </p:nvPr>
        </p:nvSpPr>
        <p:spPr>
          <a:xfrm>
            <a:off x="457200" y="274680"/>
            <a:ext cx="8229300" cy="114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3" name="Google Shape;63;g3b7a787bc74_1_46"/>
          <p:cNvSpPr txBox="1"/>
          <p:nvPr>
            <p:ph idx="10" type="dt"/>
          </p:nvPr>
        </p:nvSpPr>
        <p:spPr>
          <a:xfrm>
            <a:off x="45720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4" name="Google Shape;64;g3b7a787bc74_1_46"/>
          <p:cNvSpPr txBox="1"/>
          <p:nvPr>
            <p:ph idx="11" type="ftr"/>
          </p:nvPr>
        </p:nvSpPr>
        <p:spPr>
          <a:xfrm>
            <a:off x="3124080" y="6356520"/>
            <a:ext cx="28950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5" name="Google Shape;65;g3b7a787bc74_1_46"/>
          <p:cNvSpPr txBox="1"/>
          <p:nvPr>
            <p:ph idx="12" type="sldNum"/>
          </p:nvPr>
        </p:nvSpPr>
        <p:spPr>
          <a:xfrm>
            <a:off x="655308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 2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b7a787bc74_1_51"/>
          <p:cNvSpPr txBox="1"/>
          <p:nvPr>
            <p:ph idx="10" type="dt"/>
          </p:nvPr>
        </p:nvSpPr>
        <p:spPr>
          <a:xfrm>
            <a:off x="45720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8" name="Google Shape;68;g3b7a787bc74_1_51"/>
          <p:cNvSpPr txBox="1"/>
          <p:nvPr>
            <p:ph idx="11" type="ftr"/>
          </p:nvPr>
        </p:nvSpPr>
        <p:spPr>
          <a:xfrm>
            <a:off x="3124080" y="6356520"/>
            <a:ext cx="28950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9" name="Google Shape;69;g3b7a787bc74_1_51"/>
          <p:cNvSpPr txBox="1"/>
          <p:nvPr>
            <p:ph idx="12" type="sldNum"/>
          </p:nvPr>
        </p:nvSpPr>
        <p:spPr>
          <a:xfrm>
            <a:off x="655308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BJECT_WITH_CAPTION_TEXT" type="objTx">
  <p:cSld name="OBJECT_WITH_CAPTION_TEXT">
    <p:bg>
      <p:bgPr>
        <a:solidFill>
          <a:schemeClr val="lt1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b7a787bc74_1_55"/>
          <p:cNvSpPr txBox="1"/>
          <p:nvPr>
            <p:ph type="title"/>
          </p:nvPr>
        </p:nvSpPr>
        <p:spPr>
          <a:xfrm>
            <a:off x="457200" y="272880"/>
            <a:ext cx="3007800" cy="1161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2" name="Google Shape;72;g3b7a787bc74_1_55"/>
          <p:cNvSpPr txBox="1"/>
          <p:nvPr>
            <p:ph idx="1" type="body"/>
          </p:nvPr>
        </p:nvSpPr>
        <p:spPr>
          <a:xfrm>
            <a:off x="3575160" y="272880"/>
            <a:ext cx="5111400" cy="58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3" name="Google Shape;73;g3b7a787bc74_1_55"/>
          <p:cNvSpPr txBox="1"/>
          <p:nvPr>
            <p:ph idx="2"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4" name="Google Shape;74;g3b7a787bc74_1_55"/>
          <p:cNvSpPr txBox="1"/>
          <p:nvPr>
            <p:ph idx="10" type="dt"/>
          </p:nvPr>
        </p:nvSpPr>
        <p:spPr>
          <a:xfrm>
            <a:off x="45720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5" name="Google Shape;75;g3b7a787bc74_1_55"/>
          <p:cNvSpPr txBox="1"/>
          <p:nvPr>
            <p:ph idx="11" type="ftr"/>
          </p:nvPr>
        </p:nvSpPr>
        <p:spPr>
          <a:xfrm>
            <a:off x="3124080" y="6356520"/>
            <a:ext cx="28950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6" name="Google Shape;76;g3b7a787bc74_1_55"/>
          <p:cNvSpPr txBox="1"/>
          <p:nvPr>
            <p:ph idx="12" type="sldNum"/>
          </p:nvPr>
        </p:nvSpPr>
        <p:spPr>
          <a:xfrm>
            <a:off x="655308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_WITH_CAPTION_TEXT" type="picTx">
  <p:cSld name="PICTURE_WITH_CAPTION_TEXT">
    <p:bg>
      <p:bgPr>
        <a:solidFill>
          <a:schemeClr val="lt1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b7a787bc74_1_62"/>
          <p:cNvSpPr txBox="1"/>
          <p:nvPr>
            <p:ph type="title"/>
          </p:nvPr>
        </p:nvSpPr>
        <p:spPr>
          <a:xfrm>
            <a:off x="1792440" y="4800600"/>
            <a:ext cx="5486100" cy="566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9" name="Google Shape;79;g3b7a787bc74_1_62"/>
          <p:cNvSpPr txBox="1"/>
          <p:nvPr>
            <p:ph idx="1" type="body"/>
          </p:nvPr>
        </p:nvSpPr>
        <p:spPr>
          <a:xfrm>
            <a:off x="1792440" y="612720"/>
            <a:ext cx="5486100" cy="41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000" lIns="90000" spcFirstLastPara="1" rIns="90000" wrap="square" tIns="4500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0" name="Google Shape;80;g3b7a787bc74_1_62"/>
          <p:cNvSpPr txBox="1"/>
          <p:nvPr>
            <p:ph idx="2" type="body"/>
          </p:nvPr>
        </p:nvSpPr>
        <p:spPr>
          <a:xfrm>
            <a:off x="1792440" y="5367240"/>
            <a:ext cx="5486100" cy="80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1" name="Google Shape;81;g3b7a787bc74_1_62"/>
          <p:cNvSpPr txBox="1"/>
          <p:nvPr>
            <p:ph idx="10" type="dt"/>
          </p:nvPr>
        </p:nvSpPr>
        <p:spPr>
          <a:xfrm>
            <a:off x="45720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2" name="Google Shape;82;g3b7a787bc74_1_62"/>
          <p:cNvSpPr txBox="1"/>
          <p:nvPr>
            <p:ph idx="11" type="ftr"/>
          </p:nvPr>
        </p:nvSpPr>
        <p:spPr>
          <a:xfrm>
            <a:off x="3124080" y="6356520"/>
            <a:ext cx="28950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Times New Roman"/>
              <a:buNone/>
              <a:defRPr b="0" i="0" sz="1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3" name="Google Shape;83;g3b7a787bc74_1_62"/>
          <p:cNvSpPr txBox="1"/>
          <p:nvPr>
            <p:ph idx="12" type="sldNum"/>
          </p:nvPr>
        </p:nvSpPr>
        <p:spPr>
          <a:xfrm>
            <a:off x="655308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9.jpg"/><Relationship Id="rId6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9.jpg"/><Relationship Id="rId6" Type="http://schemas.openxmlformats.org/officeDocument/2006/relationships/image" Target="../media/image2.png"/><Relationship Id="rId7" Type="http://schemas.openxmlformats.org/officeDocument/2006/relationships/image" Target="../media/image6.png"/><Relationship Id="rId8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9.jpg"/><Relationship Id="rId6" Type="http://schemas.openxmlformats.org/officeDocument/2006/relationships/image" Target="../media/image2.png"/><Relationship Id="rId7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5.png"/><Relationship Id="rId5" Type="http://schemas.openxmlformats.org/officeDocument/2006/relationships/image" Target="../media/image9.jpg"/><Relationship Id="rId6" Type="http://schemas.openxmlformats.org/officeDocument/2006/relationships/image" Target="../media/image2.png"/><Relationship Id="rId7" Type="http://schemas.openxmlformats.org/officeDocument/2006/relationships/image" Target="../media/image1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4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6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pic>
        <p:nvPicPr>
          <p:cNvPr id="90" name="Google Shape;90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76320" y="1440"/>
            <a:ext cx="568080" cy="685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200" y="0"/>
            <a:ext cx="209160" cy="543996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drawing&#10;&#10;Description automatically generated" id="92" name="Google Shape;92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2520" y="5929560"/>
            <a:ext cx="3246120" cy="8107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93" name="Google Shape;93;p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898760" y="5932800"/>
            <a:ext cx="968040" cy="72180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"/>
          <p:cNvSpPr txBox="1"/>
          <p:nvPr/>
        </p:nvSpPr>
        <p:spPr>
          <a:xfrm>
            <a:off x="1061400" y="1850200"/>
            <a:ext cx="7625400" cy="15834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13300">
            <a:spAutoFit/>
          </a:bodyPr>
          <a:lstStyle/>
          <a:p>
            <a:pPr indent="0" lvl="0" marL="12599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rPr b="0" i="0" lang="en-IN" sz="3400" u="none" cap="none" strike="noStrike">
                <a:solidFill>
                  <a:srgbClr val="FF0000"/>
                </a:solidFill>
                <a:latin typeface="Marcellus SC"/>
                <a:ea typeface="Marcellus SC"/>
                <a:cs typeface="Marcellus SC"/>
                <a:sym typeface="Marcellus SC"/>
              </a:rPr>
              <a:t>Module 3: Cloud Infrastructure and Platforms in Industry</a:t>
            </a:r>
            <a:endParaRPr b="0" i="0" sz="3400" u="none" cap="none" strike="noStrike">
              <a:solidFill>
                <a:srgbClr val="FF0000"/>
              </a:solidFill>
              <a:latin typeface="Marcellus SC"/>
              <a:ea typeface="Marcellus SC"/>
              <a:cs typeface="Marcellus SC"/>
              <a:sym typeface="Marcellus SC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400"/>
              <a:buFont typeface="Arial"/>
              <a:buNone/>
            </a:pPr>
            <a:r>
              <a:t/>
            </a:r>
            <a:endParaRPr b="0" i="0" sz="3400" u="none" cap="none" strike="noStrike">
              <a:solidFill>
                <a:srgbClr val="FF0000"/>
              </a:solidFill>
              <a:latin typeface="Marcellus SC"/>
              <a:ea typeface="Marcellus SC"/>
              <a:cs typeface="Marcellus SC"/>
              <a:sym typeface="Marcellus SC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b7a787bc74_1_220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  <p:sp>
        <p:nvSpPr>
          <p:cNvPr id="101" name="Google Shape;101;g3b7a787bc74_1_220"/>
          <p:cNvSpPr/>
          <p:nvPr/>
        </p:nvSpPr>
        <p:spPr>
          <a:xfrm>
            <a:off x="478800" y="533520"/>
            <a:ext cx="8152800" cy="5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i="0" lang="en-IN" sz="3000" u="none" cap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Outline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g3b7a787bc74_1_220"/>
          <p:cNvSpPr/>
          <p:nvPr/>
        </p:nvSpPr>
        <p:spPr>
          <a:xfrm>
            <a:off x="521250" y="1639850"/>
            <a:ext cx="8067900" cy="43062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556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AutoNum type="arabicPeriod"/>
            </a:pPr>
            <a:r>
              <a:rPr b="0" i="0" lang="en-I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Why Data Center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AutoNum type="arabicPeriod"/>
            </a:pPr>
            <a:r>
              <a:rPr b="0" i="0" lang="en-I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Data Center- Servers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AutoNum type="arabicPeriod"/>
            </a:pPr>
            <a:r>
              <a:rPr b="0" i="0" lang="en-I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Basic DCN Architecture (3 tier)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AutoNum type="arabicPeriod"/>
            </a:pPr>
            <a:r>
              <a:rPr b="0" i="0" lang="en-I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Issues with traditional 3 tier architecture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AutoNum type="arabicPeriod"/>
            </a:pPr>
            <a:r>
              <a:rPr b="0" i="0" lang="en-I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What is WSD (</a:t>
            </a:r>
            <a:r>
              <a:rPr b="0" i="0" lang="en-IN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Warehouse-Scale Data-Center)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AutoNum type="arabicPeriod"/>
            </a:pPr>
            <a:r>
              <a:rPr b="0" i="0" lang="en-IN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Leaf Spine Architecture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5560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AutoNum type="arabicPeriod"/>
            </a:pPr>
            <a:r>
              <a:rPr b="0" i="0" lang="en-I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Topologies in WSD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I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i. Fat-Tree topology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9144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IN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      ii. BCube network 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bc6f659c99_0_8"/>
          <p:cNvSpPr txBox="1"/>
          <p:nvPr>
            <p:ph idx="1" type="body"/>
          </p:nvPr>
        </p:nvSpPr>
        <p:spPr>
          <a:xfrm>
            <a:off x="188975" y="1340775"/>
            <a:ext cx="8773800" cy="43893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FF0000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000">
                <a:solidFill>
                  <a:schemeClr val="dk1"/>
                </a:solidFill>
              </a:rPr>
              <a:t>                    3 TIER (tree) - oversubscription, looping</a:t>
            </a:r>
            <a:endParaRPr b="1"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000">
                <a:solidFill>
                  <a:schemeClr val="dk1"/>
                </a:solidFill>
              </a:rPr>
              <a:t>              FAT TREE CLOS (no oversubscription, no looping)</a:t>
            </a:r>
            <a:endParaRPr b="1" sz="20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chemeClr val="dk1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000">
                <a:solidFill>
                  <a:schemeClr val="dk1"/>
                </a:solidFill>
              </a:rPr>
              <a:t>                                 Leaf Spine (strictly 2 tier)</a:t>
            </a:r>
            <a:endParaRPr b="1" sz="2000">
              <a:solidFill>
                <a:schemeClr val="dk1"/>
              </a:solidFill>
            </a:endParaRPr>
          </a:p>
        </p:txBody>
      </p:sp>
      <p:sp>
        <p:nvSpPr>
          <p:cNvPr id="108" name="Google Shape;108;g3bc6f659c99_0_8"/>
          <p:cNvSpPr txBox="1"/>
          <p:nvPr>
            <p:ph idx="10" type="dt"/>
          </p:nvPr>
        </p:nvSpPr>
        <p:spPr>
          <a:xfrm>
            <a:off x="45720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/>
              <a:t>28-01-2025</a:t>
            </a:r>
            <a:endParaRPr/>
          </a:p>
        </p:txBody>
      </p:sp>
      <p:sp>
        <p:nvSpPr>
          <p:cNvPr id="109" name="Google Shape;109;g3bc6f659c99_0_8"/>
          <p:cNvSpPr txBox="1"/>
          <p:nvPr>
            <p:ph idx="11" type="ftr"/>
          </p:nvPr>
        </p:nvSpPr>
        <p:spPr>
          <a:xfrm>
            <a:off x="3124080" y="6356520"/>
            <a:ext cx="28950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110" name="Google Shape;110;g3bc6f659c99_0_8"/>
          <p:cNvSpPr txBox="1"/>
          <p:nvPr>
            <p:ph idx="12" type="sldNum"/>
          </p:nvPr>
        </p:nvSpPr>
        <p:spPr>
          <a:xfrm>
            <a:off x="655308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IN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11" name="Google Shape;111;g3bc6f659c99_0_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33480" y="6492960"/>
            <a:ext cx="9177120" cy="385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g3bc6f659c99_0_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33480" y="6332400"/>
            <a:ext cx="6998761" cy="1756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drawing&#10;&#10;Description automatically generated" id="113" name="Google Shape;113;g3bc6f659c99_0_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200" y="5823000"/>
            <a:ext cx="1699200" cy="4244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114" name="Google Shape;114;g3bc6f659c99_0_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307720" y="5730120"/>
            <a:ext cx="654840" cy="42444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g3bc6f659c99_0_8"/>
          <p:cNvSpPr/>
          <p:nvPr/>
        </p:nvSpPr>
        <p:spPr>
          <a:xfrm>
            <a:off x="478800" y="533520"/>
            <a:ext cx="8152800" cy="5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3000">
                <a:solidFill>
                  <a:srgbClr val="FF0000"/>
                </a:solidFill>
              </a:rPr>
              <a:t>Data Center Network Evolution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g3bc6f659c99_0_8"/>
          <p:cNvSpPr/>
          <p:nvPr/>
        </p:nvSpPr>
        <p:spPr>
          <a:xfrm>
            <a:off x="4147225" y="2895225"/>
            <a:ext cx="218100" cy="6678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g3bc6f659c99_0_8"/>
          <p:cNvSpPr/>
          <p:nvPr/>
        </p:nvSpPr>
        <p:spPr>
          <a:xfrm>
            <a:off x="4215800" y="4238125"/>
            <a:ext cx="218100" cy="667800"/>
          </a:xfrm>
          <a:prstGeom prst="down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8" name="Google Shape;118;g3bc6f659c99_0_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107725" y="1486725"/>
            <a:ext cx="2689524" cy="177392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19" name="Google Shape;119;g3bc6f659c99_0_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-314050" y="4525775"/>
            <a:ext cx="3097425" cy="19001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bdb2d03317_0_5"/>
          <p:cNvSpPr txBox="1"/>
          <p:nvPr>
            <p:ph idx="12" type="sldNum"/>
          </p:nvPr>
        </p:nvSpPr>
        <p:spPr>
          <a:xfrm>
            <a:off x="6553080" y="6356520"/>
            <a:ext cx="2133300" cy="3648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IN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6" name="Google Shape;126;g3bdb2d03317_0_5"/>
          <p:cNvSpPr/>
          <p:nvPr/>
        </p:nvSpPr>
        <p:spPr>
          <a:xfrm>
            <a:off x="153600" y="524525"/>
            <a:ext cx="8845800" cy="713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Arial"/>
              <a:buNone/>
            </a:pPr>
            <a:r>
              <a:rPr b="1" lang="en-IN" sz="3000">
                <a:solidFill>
                  <a:srgbClr val="FF0000"/>
                </a:solidFill>
              </a:rPr>
              <a:t>Clos Topology</a:t>
            </a:r>
            <a:endParaRPr i="1" sz="1700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t/>
            </a:r>
            <a:endParaRPr b="1" sz="3000">
              <a:solidFill>
                <a:srgbClr val="FF0000"/>
              </a:solidFill>
            </a:endParaRPr>
          </a:p>
        </p:txBody>
      </p:sp>
      <p:sp>
        <p:nvSpPr>
          <p:cNvPr id="127" name="Google Shape;127;g3bdb2d03317_0_5"/>
          <p:cNvSpPr txBox="1"/>
          <p:nvPr/>
        </p:nvSpPr>
        <p:spPr>
          <a:xfrm>
            <a:off x="688050" y="1860175"/>
            <a:ext cx="7776900" cy="34170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AutoNum type="arabicPeriod"/>
            </a:pPr>
            <a:r>
              <a:rPr lang="en-IN" sz="2100">
                <a:solidFill>
                  <a:schemeClr val="dk1"/>
                </a:solidFill>
                <a:highlight>
                  <a:srgbClr val="FFFFFF"/>
                </a:highlight>
              </a:rPr>
              <a:t>In a classic Clos network, all the racks on the left send data to the racks on the right. </a:t>
            </a:r>
            <a:endParaRPr sz="21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AutoNum type="arabicPeriod"/>
            </a:pPr>
            <a:r>
              <a:rPr lang="en-IN" sz="2100">
                <a:solidFill>
                  <a:schemeClr val="dk1"/>
                </a:solidFill>
                <a:highlight>
                  <a:srgbClr val="FFFFFF"/>
                </a:highlight>
              </a:rPr>
              <a:t>In datacenters, racks can both send and receive data, so instead of having a separate layer of senders and recipients, we can have a single layer with all the racks (acting as either sender or recipient). </a:t>
            </a:r>
            <a:endParaRPr sz="21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AutoNum type="arabicPeriod"/>
            </a:pPr>
            <a:r>
              <a:rPr lang="en-IN" sz="2100">
                <a:solidFill>
                  <a:schemeClr val="dk1"/>
                </a:solidFill>
                <a:highlight>
                  <a:srgbClr val="FFFFFF"/>
                </a:highlight>
              </a:rPr>
              <a:t>Then, data travels along one of the many paths deeper into the network, and then back out to reach the recipient. This result is called a </a:t>
            </a:r>
            <a:r>
              <a:rPr b="1" lang="en-IN" sz="2100">
                <a:solidFill>
                  <a:srgbClr val="FF0000"/>
                </a:solidFill>
                <a:highlight>
                  <a:srgbClr val="FFFFFF"/>
                </a:highlight>
              </a:rPr>
              <a:t>folded Clos network</a:t>
            </a:r>
            <a:r>
              <a:rPr lang="en-IN" sz="2100">
                <a:solidFill>
                  <a:schemeClr val="dk1"/>
                </a:solidFill>
                <a:highlight>
                  <a:srgbClr val="FFFFFF"/>
                </a:highlight>
              </a:rPr>
              <a:t>, because we’ve </a:t>
            </a:r>
            <a:r>
              <a:rPr b="1" lang="en-IN" sz="2100">
                <a:solidFill>
                  <a:srgbClr val="FF0000"/>
                </a:solidFill>
                <a:highlight>
                  <a:srgbClr val="FFFFFF"/>
                </a:highlight>
              </a:rPr>
              <a:t>“folded” the sender and recipient layers into one.</a:t>
            </a:r>
            <a:endParaRPr b="1" sz="21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bc6f659c99_0_21"/>
          <p:cNvSpPr txBox="1"/>
          <p:nvPr>
            <p:ph idx="10" type="dt"/>
          </p:nvPr>
        </p:nvSpPr>
        <p:spPr>
          <a:xfrm>
            <a:off x="45720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/>
              <a:t>28-01-2025</a:t>
            </a:r>
            <a:endParaRPr/>
          </a:p>
        </p:txBody>
      </p:sp>
      <p:sp>
        <p:nvSpPr>
          <p:cNvPr id="133" name="Google Shape;133;g3bc6f659c99_0_21"/>
          <p:cNvSpPr txBox="1"/>
          <p:nvPr>
            <p:ph idx="11" type="ftr"/>
          </p:nvPr>
        </p:nvSpPr>
        <p:spPr>
          <a:xfrm>
            <a:off x="3124080" y="6356520"/>
            <a:ext cx="28950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134" name="Google Shape;134;g3bc6f659c99_0_21"/>
          <p:cNvSpPr txBox="1"/>
          <p:nvPr>
            <p:ph idx="12" type="sldNum"/>
          </p:nvPr>
        </p:nvSpPr>
        <p:spPr>
          <a:xfrm>
            <a:off x="655308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IN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35" name="Google Shape;135;g3bc6f659c99_0_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33480" y="6492960"/>
            <a:ext cx="9177120" cy="385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g3bc6f659c99_0_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33480" y="6332400"/>
            <a:ext cx="6998761" cy="1756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drawing&#10;&#10;Description automatically generated" id="137" name="Google Shape;137;g3bc6f659c99_0_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200" y="5823000"/>
            <a:ext cx="1699200" cy="4244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138" name="Google Shape;138;g3bc6f659c99_0_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307720" y="5730120"/>
            <a:ext cx="654840" cy="42444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g3bc6f659c99_0_21"/>
          <p:cNvSpPr/>
          <p:nvPr/>
        </p:nvSpPr>
        <p:spPr>
          <a:xfrm>
            <a:off x="478688" y="372320"/>
            <a:ext cx="8152800" cy="5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lang="en-IN" sz="3000">
                <a:solidFill>
                  <a:srgbClr val="FF0000"/>
                </a:solidFill>
              </a:rPr>
              <a:t>Fat Tree Clos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0" name="Google Shape;140;g3bc6f659c99_0_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35488" y="1598320"/>
            <a:ext cx="8839202" cy="2423133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41" name="Google Shape;141;g3bc6f659c99_0_21"/>
          <p:cNvSpPr txBox="1"/>
          <p:nvPr/>
        </p:nvSpPr>
        <p:spPr>
          <a:xfrm>
            <a:off x="961350" y="4309325"/>
            <a:ext cx="7277100" cy="7389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IN" sz="1800">
                <a:solidFill>
                  <a:schemeClr val="dk1"/>
                </a:solidFill>
                <a:highlight>
                  <a:srgbClr val="FFFFFF"/>
                </a:highlight>
              </a:rPr>
              <a:t>k-ary fat tree, we create k pods. Each pod has k switches.</a:t>
            </a:r>
            <a:endParaRPr sz="18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IN" sz="1800">
                <a:solidFill>
                  <a:schemeClr val="dk1"/>
                </a:solidFill>
                <a:highlight>
                  <a:srgbClr val="FFFFFF"/>
                </a:highlight>
              </a:rPr>
              <a:t>Equal-cost paths</a:t>
            </a:r>
            <a:endParaRPr sz="1800">
              <a:solidFill>
                <a:schemeClr val="dk1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bdb2d03317_0_90"/>
          <p:cNvSpPr txBox="1"/>
          <p:nvPr>
            <p:ph idx="10" type="dt"/>
          </p:nvPr>
        </p:nvSpPr>
        <p:spPr>
          <a:xfrm>
            <a:off x="45720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/>
              <a:t>28-01-2025</a:t>
            </a:r>
            <a:endParaRPr/>
          </a:p>
        </p:txBody>
      </p:sp>
      <p:sp>
        <p:nvSpPr>
          <p:cNvPr id="147" name="Google Shape;147;g3bdb2d03317_0_90"/>
          <p:cNvSpPr txBox="1"/>
          <p:nvPr>
            <p:ph idx="11" type="ftr"/>
          </p:nvPr>
        </p:nvSpPr>
        <p:spPr>
          <a:xfrm>
            <a:off x="3124080" y="6356520"/>
            <a:ext cx="28950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IN"/>
              <a:t>Prof. Shweta Dhawan Chachra</a:t>
            </a:r>
            <a:endParaRPr/>
          </a:p>
        </p:txBody>
      </p:sp>
      <p:sp>
        <p:nvSpPr>
          <p:cNvPr id="148" name="Google Shape;148;g3bdb2d03317_0_90"/>
          <p:cNvSpPr txBox="1"/>
          <p:nvPr>
            <p:ph idx="12" type="sldNum"/>
          </p:nvPr>
        </p:nvSpPr>
        <p:spPr>
          <a:xfrm>
            <a:off x="6553080" y="6356520"/>
            <a:ext cx="21333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IN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49" name="Google Shape;149;g3bdb2d03317_0_9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33480" y="6492960"/>
            <a:ext cx="9177120" cy="385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g3bdb2d03317_0_9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33480" y="6332400"/>
            <a:ext cx="6998761" cy="1756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picture containing drawing&#10;&#10;Description automatically generated" id="151" name="Google Shape;151;g3bdb2d03317_0_9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4200" y="5823000"/>
            <a:ext cx="1699200" cy="4244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close up of a sign&#10;&#10;Description automatically generated" id="152" name="Google Shape;152;g3bdb2d03317_0_9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307720" y="5730120"/>
            <a:ext cx="654840" cy="42444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g3bdb2d03317_0_90"/>
          <p:cNvSpPr/>
          <p:nvPr/>
        </p:nvSpPr>
        <p:spPr>
          <a:xfrm>
            <a:off x="478688" y="372320"/>
            <a:ext cx="8152800" cy="5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lang="en-IN" sz="3000">
                <a:solidFill>
                  <a:srgbClr val="FF0000"/>
                </a:solidFill>
              </a:rPr>
              <a:t>Fat Tree Clos</a:t>
            </a:r>
            <a:endParaRPr b="0" i="0" sz="3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g3bdb2d03317_0_90"/>
          <p:cNvSpPr txBox="1"/>
          <p:nvPr/>
        </p:nvSpPr>
        <p:spPr>
          <a:xfrm>
            <a:off x="659525" y="3926288"/>
            <a:ext cx="7495200" cy="18471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IN" sz="1800">
                <a:solidFill>
                  <a:schemeClr val="dk1"/>
                </a:solidFill>
                <a:highlight>
                  <a:srgbClr val="FFFFFF"/>
                </a:highlight>
              </a:rPr>
              <a:t>Each switch in the pod has k links. Half of the links (k/2) connect upwards, and the other half (k/2) connect downwards. </a:t>
            </a:r>
            <a:endParaRPr sz="18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IN" sz="1800">
                <a:solidFill>
                  <a:schemeClr val="dk1"/>
                </a:solidFill>
                <a:highlight>
                  <a:srgbClr val="FFFFFF"/>
                </a:highlight>
              </a:rPr>
              <a:t>Total </a:t>
            </a:r>
            <a:r>
              <a:rPr b="1" lang="en-IN" sz="1800">
                <a:solidFill>
                  <a:srgbClr val="FF0000"/>
                </a:solidFill>
                <a:highlight>
                  <a:srgbClr val="FFFFFF"/>
                </a:highlight>
              </a:rPr>
              <a:t>uplink bandwidth = total downlink </a:t>
            </a:r>
            <a:r>
              <a:rPr lang="en-IN" sz="1800">
                <a:solidFill>
                  <a:schemeClr val="dk1"/>
                </a:solidFill>
                <a:highlight>
                  <a:srgbClr val="FFFFFF"/>
                </a:highlight>
              </a:rPr>
              <a:t>bandwidth (Fat-tree </a:t>
            </a:r>
            <a:r>
              <a:rPr b="1" lang="en-IN" sz="1800">
                <a:solidFill>
                  <a:srgbClr val="FF0000"/>
                </a:solidFill>
                <a:highlight>
                  <a:srgbClr val="FFFFFF"/>
                </a:highlight>
              </a:rPr>
              <a:t>stops unintended oversubscription</a:t>
            </a:r>
            <a:r>
              <a:rPr lang="en-IN" sz="1800">
                <a:solidFill>
                  <a:schemeClr val="dk1"/>
                </a:solidFill>
                <a:highlight>
                  <a:srgbClr val="FFFFFF"/>
                </a:highlight>
              </a:rPr>
              <a:t>; it only exists if the designer deliberately introduces it.)</a:t>
            </a:r>
            <a:endParaRPr sz="18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IN" sz="1800">
                <a:solidFill>
                  <a:schemeClr val="dk1"/>
                </a:solidFill>
                <a:highlight>
                  <a:srgbClr val="FFFFFF"/>
                </a:highlight>
              </a:rPr>
              <a:t>Each core switch has k links, connecting to each of the k pods.</a:t>
            </a:r>
            <a:endParaRPr sz="1800">
              <a:solidFill>
                <a:schemeClr val="dk1"/>
              </a:solidFill>
              <a:highlight>
                <a:srgbClr val="FFFFFF"/>
              </a:highlight>
            </a:endParaRPr>
          </a:p>
        </p:txBody>
      </p:sp>
      <p:pic>
        <p:nvPicPr>
          <p:cNvPr id="155" name="Google Shape;155;g3bdb2d03317_0_9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35488" y="1463757"/>
            <a:ext cx="8839200" cy="24129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bc6f659c99_0_43"/>
          <p:cNvSpPr/>
          <p:nvPr/>
        </p:nvSpPr>
        <p:spPr>
          <a:xfrm>
            <a:off x="153600" y="514200"/>
            <a:ext cx="88458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lang="en-IN" sz="2900">
                <a:solidFill>
                  <a:srgbClr val="FF0000"/>
                </a:solidFill>
              </a:rPr>
              <a:t>B Cube Network</a:t>
            </a:r>
            <a:endParaRPr b="0" i="1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g3bc6f659c99_0_43"/>
          <p:cNvSpPr txBox="1"/>
          <p:nvPr/>
        </p:nvSpPr>
        <p:spPr>
          <a:xfrm>
            <a:off x="688050" y="1558800"/>
            <a:ext cx="7776900" cy="40635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AutoNum type="arabicPeriod"/>
            </a:pPr>
            <a:r>
              <a:rPr lang="en-IN" sz="2100">
                <a:solidFill>
                  <a:schemeClr val="dk1"/>
                </a:solidFill>
                <a:highlight>
                  <a:srgbClr val="FFFFFF"/>
                </a:highlight>
              </a:rPr>
              <a:t>BCube is a </a:t>
            </a:r>
            <a:r>
              <a:rPr b="1" lang="en-IN" sz="2100">
                <a:solidFill>
                  <a:srgbClr val="FF0000"/>
                </a:solidFill>
                <a:highlight>
                  <a:srgbClr val="FFFFFF"/>
                </a:highlight>
              </a:rPr>
              <a:t>server-centric data</a:t>
            </a:r>
            <a:r>
              <a:rPr lang="en-IN" sz="2100">
                <a:solidFill>
                  <a:schemeClr val="dk1"/>
                </a:solidFill>
                <a:highlight>
                  <a:srgbClr val="FFFFFF"/>
                </a:highlight>
              </a:rPr>
              <a:t> center network topology proposed by </a:t>
            </a:r>
            <a:r>
              <a:rPr b="1" lang="en-IN" sz="2100">
                <a:solidFill>
                  <a:srgbClr val="FF0000"/>
                </a:solidFill>
                <a:highlight>
                  <a:srgbClr val="FFFFFF"/>
                </a:highlight>
              </a:rPr>
              <a:t>Microsoft Research</a:t>
            </a:r>
            <a:r>
              <a:rPr lang="en-IN" sz="2100">
                <a:solidFill>
                  <a:schemeClr val="dk1"/>
                </a:solidFill>
                <a:highlight>
                  <a:srgbClr val="FFFFFF"/>
                </a:highlight>
              </a:rPr>
              <a:t> for modular data centers.</a:t>
            </a:r>
            <a:endParaRPr sz="21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AutoNum type="arabicPeriod"/>
            </a:pPr>
            <a:r>
              <a:rPr b="1" lang="en-IN" sz="2100">
                <a:solidFill>
                  <a:srgbClr val="FF0000"/>
                </a:solidFill>
                <a:highlight>
                  <a:srgbClr val="FFFFFF"/>
                </a:highlight>
              </a:rPr>
              <a:t>Servers participate in packet forwarding</a:t>
            </a:r>
            <a:r>
              <a:rPr lang="en-IN" sz="2100">
                <a:solidFill>
                  <a:schemeClr val="dk1"/>
                </a:solidFill>
                <a:highlight>
                  <a:srgbClr val="FFFFFF"/>
                </a:highlight>
              </a:rPr>
              <a:t>, not just switches.</a:t>
            </a:r>
            <a:endParaRPr sz="21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AutoNum type="arabicPeriod"/>
            </a:pPr>
            <a:r>
              <a:rPr lang="en-IN" sz="2100">
                <a:solidFill>
                  <a:schemeClr val="dk1"/>
                </a:solidFill>
                <a:highlight>
                  <a:srgbClr val="FFFFFF"/>
                </a:highlight>
              </a:rPr>
              <a:t>BCube is especially designed for:</a:t>
            </a:r>
            <a:endParaRPr sz="21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61950" lvl="0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-"/>
            </a:pPr>
            <a:r>
              <a:rPr lang="en-IN" sz="2100">
                <a:solidFill>
                  <a:schemeClr val="dk1"/>
                </a:solidFill>
                <a:highlight>
                  <a:srgbClr val="FFFFFF"/>
                </a:highlight>
              </a:rPr>
              <a:t>High fault tolerance</a:t>
            </a:r>
            <a:endParaRPr sz="21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61950" lvl="0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-"/>
            </a:pPr>
            <a:r>
              <a:rPr lang="en-IN" sz="2100">
                <a:solidFill>
                  <a:schemeClr val="dk1"/>
                </a:solidFill>
                <a:highlight>
                  <a:srgbClr val="FFFFFF"/>
                </a:highlight>
              </a:rPr>
              <a:t>Horizontal scalability</a:t>
            </a:r>
            <a:endParaRPr sz="21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61950" lvl="0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Char char="-"/>
            </a:pPr>
            <a:r>
              <a:rPr lang="en-IN" sz="2100">
                <a:solidFill>
                  <a:schemeClr val="dk1"/>
                </a:solidFill>
                <a:highlight>
                  <a:srgbClr val="FFFFFF"/>
                </a:highlight>
              </a:rPr>
              <a:t>Commodity (low-cost) switches</a:t>
            </a:r>
            <a:endParaRPr sz="21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AutoNum type="arabicPeriod"/>
            </a:pPr>
            <a:r>
              <a:rPr lang="en-IN" sz="2100">
                <a:solidFill>
                  <a:schemeClr val="dk1"/>
                </a:solidFill>
                <a:highlight>
                  <a:srgbClr val="FFFFFF"/>
                </a:highlight>
              </a:rPr>
              <a:t>Traditional data center networks assume that </a:t>
            </a:r>
            <a:r>
              <a:rPr b="1" lang="en-IN" sz="2100">
                <a:solidFill>
                  <a:srgbClr val="FF0000"/>
                </a:solidFill>
                <a:highlight>
                  <a:srgbClr val="FFFFFF"/>
                </a:highlight>
              </a:rPr>
              <a:t>switches do all routing and servers are end points only.</a:t>
            </a:r>
            <a:endParaRPr b="1" sz="2100">
              <a:solidFill>
                <a:srgbClr val="FF0000"/>
              </a:solidFill>
              <a:highlight>
                <a:srgbClr val="FFFFFF"/>
              </a:highlight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AutoNum type="arabicPeriod"/>
            </a:pPr>
            <a:r>
              <a:rPr lang="en-IN" sz="2100">
                <a:solidFill>
                  <a:schemeClr val="dk1"/>
                </a:solidFill>
                <a:highlight>
                  <a:srgbClr val="FFFFFF"/>
                </a:highlight>
              </a:rPr>
              <a:t>This lead to </a:t>
            </a:r>
            <a:r>
              <a:rPr lang="en-IN" sz="2100">
                <a:solidFill>
                  <a:schemeClr val="dk1"/>
                </a:solidFill>
                <a:highlight>
                  <a:srgbClr val="FFFFFF"/>
                </a:highlight>
              </a:rPr>
              <a:t>problems like</a:t>
            </a:r>
            <a:r>
              <a:rPr lang="en-IN" sz="2100">
                <a:solidFill>
                  <a:schemeClr val="dk1"/>
                </a:solidFill>
                <a:highlight>
                  <a:srgbClr val="FFFFFF"/>
                </a:highlight>
              </a:rPr>
              <a:t>: </a:t>
            </a:r>
            <a:r>
              <a:rPr b="1" lang="en-IN" sz="2100">
                <a:solidFill>
                  <a:srgbClr val="FF0000"/>
                </a:solidFill>
                <a:highlight>
                  <a:srgbClr val="FFFFFF"/>
                </a:highlight>
              </a:rPr>
              <a:t>if switches fail, big outages happen</a:t>
            </a:r>
            <a:endParaRPr b="1" sz="2100">
              <a:solidFill>
                <a:srgbClr val="FF0000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c721df266a_0_3"/>
          <p:cNvSpPr/>
          <p:nvPr/>
        </p:nvSpPr>
        <p:spPr>
          <a:xfrm>
            <a:off x="153600" y="514200"/>
            <a:ext cx="88458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lang="en-IN" sz="2900">
                <a:solidFill>
                  <a:srgbClr val="FF0000"/>
                </a:solidFill>
              </a:rPr>
              <a:t>Basic Building Block: BCube₀</a:t>
            </a:r>
            <a:endParaRPr b="0" i="1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g3c721df266a_0_3"/>
          <p:cNvSpPr txBox="1"/>
          <p:nvPr/>
        </p:nvSpPr>
        <p:spPr>
          <a:xfrm>
            <a:off x="683550" y="1357575"/>
            <a:ext cx="7776900" cy="14160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>
                <a:solidFill>
                  <a:schemeClr val="dk1"/>
                </a:solidFill>
                <a:highlight>
                  <a:srgbClr val="FFFFFF"/>
                </a:highlight>
              </a:rPr>
              <a:t>BCube₀ Structure has-</a:t>
            </a:r>
            <a:endParaRPr sz="2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IN" sz="2000">
                <a:solidFill>
                  <a:schemeClr val="dk1"/>
                </a:solidFill>
                <a:highlight>
                  <a:srgbClr val="FFFFFF"/>
                </a:highlight>
              </a:rPr>
              <a:t>n servers </a:t>
            </a:r>
            <a:endParaRPr sz="2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IN" sz="2000">
                <a:solidFill>
                  <a:schemeClr val="dk1"/>
                </a:solidFill>
                <a:highlight>
                  <a:srgbClr val="FFFFFF"/>
                </a:highlight>
              </a:rPr>
              <a:t>1 n-port switch</a:t>
            </a:r>
            <a:endParaRPr sz="2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IN" sz="2000">
                <a:solidFill>
                  <a:schemeClr val="dk1"/>
                </a:solidFill>
                <a:highlight>
                  <a:srgbClr val="FFFFFF"/>
                </a:highlight>
              </a:rPr>
              <a:t>Each server connects to the switch using 1 NIC</a:t>
            </a:r>
            <a:endParaRPr sz="2000">
              <a:solidFill>
                <a:schemeClr val="dk1"/>
              </a:solidFill>
              <a:highlight>
                <a:srgbClr val="FFFFFF"/>
              </a:highlight>
            </a:endParaRPr>
          </a:p>
        </p:txBody>
      </p:sp>
      <p:pic>
        <p:nvPicPr>
          <p:cNvPr id="170" name="Google Shape;170;g3c721df266a_0_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6950" y="3089325"/>
            <a:ext cx="7067550" cy="295275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c721df266a_0_111"/>
          <p:cNvSpPr/>
          <p:nvPr/>
        </p:nvSpPr>
        <p:spPr>
          <a:xfrm>
            <a:off x="149100" y="497450"/>
            <a:ext cx="88458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lang="en-IN" sz="2600">
                <a:solidFill>
                  <a:srgbClr val="FF0000"/>
                </a:solidFill>
              </a:rPr>
              <a:t>BCube Topology</a:t>
            </a:r>
            <a:endParaRPr b="0" i="1" sz="2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7" name="Google Shape;177;g3c721df266a_0_1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38225" y="1664050"/>
            <a:ext cx="7067550" cy="295275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78" name="Google Shape;178;g3c721df266a_0_111"/>
          <p:cNvSpPr txBox="1"/>
          <p:nvPr/>
        </p:nvSpPr>
        <p:spPr>
          <a:xfrm>
            <a:off x="1038225" y="5197975"/>
            <a:ext cx="7267500" cy="13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-IN" sz="1900"/>
              <a:t>At each switch level, one address digit is fixed and the other varies.</a:t>
            </a:r>
            <a:endParaRPr sz="1900"/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-IN" sz="1900"/>
              <a:t>Every Level 1 switch is connected to a server with same second digit</a:t>
            </a:r>
            <a:endParaRPr sz="19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bdc8abc338_1_2"/>
          <p:cNvSpPr/>
          <p:nvPr/>
        </p:nvSpPr>
        <p:spPr>
          <a:xfrm>
            <a:off x="153600" y="514200"/>
            <a:ext cx="88458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lang="en-IN" sz="2900">
                <a:solidFill>
                  <a:srgbClr val="FF0000"/>
                </a:solidFill>
              </a:rPr>
              <a:t>Basic Building Block: BCube₀</a:t>
            </a:r>
            <a:endParaRPr b="0" i="1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5" name="Google Shape;185;g3bdc8abc338_1_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7588" y="1907775"/>
            <a:ext cx="8346725" cy="348717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c721df266a_0_17"/>
          <p:cNvSpPr/>
          <p:nvPr/>
        </p:nvSpPr>
        <p:spPr>
          <a:xfrm>
            <a:off x="149100" y="497450"/>
            <a:ext cx="88458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lang="en-IN" sz="2600">
                <a:solidFill>
                  <a:srgbClr val="FF0000"/>
                </a:solidFill>
              </a:rPr>
              <a:t>Recursive Construction: BCube₁, BCube₂, … BCubeₖ</a:t>
            </a:r>
            <a:endParaRPr b="0" i="1" sz="2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g3c721df266a_0_17"/>
          <p:cNvSpPr txBox="1"/>
          <p:nvPr/>
        </p:nvSpPr>
        <p:spPr>
          <a:xfrm>
            <a:off x="220738" y="4392600"/>
            <a:ext cx="5986200" cy="15699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-IN" sz="1800">
                <a:solidFill>
                  <a:schemeClr val="dk1"/>
                </a:solidFill>
                <a:highlight>
                  <a:srgbClr val="FFFFFF"/>
                </a:highlight>
              </a:rPr>
              <a:t>Case 1: n = 4, k = 0 → BCube₀  (1 Level)</a:t>
            </a:r>
            <a:endParaRPr b="1" sz="18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highlight>
                  <a:srgbClr val="FFFFFF"/>
                </a:highlight>
              </a:rPr>
              <a:t>Number of servers</a:t>
            </a:r>
            <a:r>
              <a:rPr lang="en-IN" sz="1800">
                <a:solidFill>
                  <a:schemeClr val="dk1"/>
                </a:solidFill>
                <a:highlight>
                  <a:srgbClr val="FFFFFF"/>
                </a:highlight>
              </a:rPr>
              <a:t> - </a:t>
            </a:r>
            <a:r>
              <a:rPr lang="en-IN" sz="1800">
                <a:solidFill>
                  <a:schemeClr val="dk1"/>
                </a:solidFill>
              </a:rPr>
              <a:t>n^{k+1} = 4^{0+1} = 4</a:t>
            </a:r>
            <a:endParaRPr sz="18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800">
                <a:solidFill>
                  <a:schemeClr val="dk1"/>
                </a:solidFill>
              </a:rPr>
              <a:t>Number of levels = k+1 = 0+1 = 1</a:t>
            </a:r>
            <a:endParaRPr sz="18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</a:rPr>
              <a:t>Switches per level - n^k = 4^0 = 1</a:t>
            </a:r>
            <a:endParaRPr sz="18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</a:rPr>
              <a:t>NICs per server = k+1 = 0+1 = 1</a:t>
            </a:r>
            <a:endParaRPr sz="1800">
              <a:solidFill>
                <a:schemeClr val="dk1"/>
              </a:solidFill>
            </a:endParaRPr>
          </a:p>
        </p:txBody>
      </p:sp>
      <p:graphicFrame>
        <p:nvGraphicFramePr>
          <p:cNvPr id="193" name="Google Shape;193;g3c721df266a_0_17"/>
          <p:cNvGraphicFramePr/>
          <p:nvPr/>
        </p:nvGraphicFramePr>
        <p:xfrm>
          <a:off x="1394013" y="1774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{E0B721DB-D983-4BF6-AE67-ED3659DE7749}</a:tableStyleId>
              </a:tblPr>
              <a:tblGrid>
                <a:gridCol w="4282200"/>
                <a:gridCol w="2073775"/>
              </a:tblGrid>
              <a:tr h="100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800"/>
                        <a:t>Component</a:t>
                      </a:r>
                      <a:endParaRPr b="1" sz="18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800"/>
                        <a:t>Formula</a:t>
                      </a:r>
                      <a:endParaRPr b="1" sz="18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Number of servers</a:t>
                      </a:r>
                      <a:endParaRPr sz="18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( n^{k+1} )</a:t>
                      </a:r>
                      <a:endParaRPr sz="18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IN" sz="1800">
                          <a:solidFill>
                            <a:schemeClr val="dk1"/>
                          </a:solidFill>
                        </a:rPr>
                        <a:t>Number of levels</a:t>
                      </a:r>
                      <a:endParaRPr sz="18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IN" sz="1800">
                          <a:solidFill>
                            <a:schemeClr val="dk1"/>
                          </a:solidFill>
                        </a:rPr>
                        <a:t>( k + 1 )</a:t>
                      </a:r>
                      <a:endParaRPr sz="18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>
                          <a:solidFill>
                            <a:schemeClr val="dk1"/>
                          </a:solidFill>
                        </a:rPr>
                        <a:t>Switches per level</a:t>
                      </a:r>
                      <a:endParaRPr sz="18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>
                          <a:solidFill>
                            <a:schemeClr val="dk1"/>
                          </a:solidFill>
                        </a:rPr>
                        <a:t>( n^k )</a:t>
                      </a:r>
                      <a:endParaRPr sz="18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NICs per server</a:t>
                      </a:r>
                      <a:endParaRPr sz="18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( k + 1 )</a:t>
                      </a:r>
                      <a:endParaRPr sz="18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194" name="Google Shape;194;g3c721df266a_0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59353" y="4259950"/>
            <a:ext cx="2344525" cy="1804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c721df266a_0_28"/>
          <p:cNvSpPr/>
          <p:nvPr/>
        </p:nvSpPr>
        <p:spPr>
          <a:xfrm>
            <a:off x="149100" y="497450"/>
            <a:ext cx="88458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lang="en-IN" sz="2600">
                <a:solidFill>
                  <a:srgbClr val="FF0000"/>
                </a:solidFill>
              </a:rPr>
              <a:t>Recursive Construction: BCube₁, BCube₂, … BCubeₖ</a:t>
            </a:r>
            <a:endParaRPr b="0" i="1" sz="2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g3c721df266a_0_28"/>
          <p:cNvSpPr txBox="1"/>
          <p:nvPr/>
        </p:nvSpPr>
        <p:spPr>
          <a:xfrm>
            <a:off x="1830388" y="4191375"/>
            <a:ext cx="5986200" cy="15699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-IN" sz="1800">
                <a:solidFill>
                  <a:schemeClr val="dk1"/>
                </a:solidFill>
                <a:highlight>
                  <a:srgbClr val="FFFFFF"/>
                </a:highlight>
              </a:rPr>
              <a:t>Case 2: n = 4, k = 1 → BCube₁ (2 levels)</a:t>
            </a:r>
            <a:endParaRPr b="1" sz="18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highlight>
                  <a:srgbClr val="FFFFFF"/>
                </a:highlight>
              </a:rPr>
              <a:t>Number of servers - </a:t>
            </a:r>
            <a:r>
              <a:rPr lang="en-IN" sz="1800">
                <a:solidFill>
                  <a:schemeClr val="dk1"/>
                </a:solidFill>
              </a:rPr>
              <a:t>n^{k+1} = 4^{1+1} = 16</a:t>
            </a:r>
            <a:endParaRPr sz="18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800">
                <a:solidFill>
                  <a:schemeClr val="dk1"/>
                </a:solidFill>
              </a:rPr>
              <a:t>Number of levels = 1+1 = 1+1 = 2</a:t>
            </a:r>
            <a:endParaRPr sz="18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</a:rPr>
              <a:t>Switches per level - n^k = 4^1 = 4</a:t>
            </a:r>
            <a:endParaRPr sz="18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</a:rPr>
              <a:t>NICs per server = </a:t>
            </a:r>
            <a:r>
              <a:rPr lang="en-IN" sz="1800">
                <a:solidFill>
                  <a:schemeClr val="dk1"/>
                </a:solidFill>
              </a:rPr>
              <a:t>k</a:t>
            </a:r>
            <a:r>
              <a:rPr lang="en-IN" sz="1800">
                <a:solidFill>
                  <a:schemeClr val="dk1"/>
                </a:solidFill>
              </a:rPr>
              <a:t>+1 = 1+1 = 2</a:t>
            </a:r>
            <a:endParaRPr sz="1800">
              <a:solidFill>
                <a:schemeClr val="dk1"/>
              </a:solidFill>
            </a:endParaRPr>
          </a:p>
        </p:txBody>
      </p:sp>
      <p:graphicFrame>
        <p:nvGraphicFramePr>
          <p:cNvPr id="202" name="Google Shape;202;g3c721df266a_0_28"/>
          <p:cNvGraphicFramePr/>
          <p:nvPr/>
        </p:nvGraphicFramePr>
        <p:xfrm>
          <a:off x="1561688" y="1220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{E0B721DB-D983-4BF6-AE67-ED3659DE7749}</a:tableStyleId>
              </a:tblPr>
              <a:tblGrid>
                <a:gridCol w="4282200"/>
                <a:gridCol w="2073775"/>
              </a:tblGrid>
              <a:tr h="1000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800"/>
                        <a:t>Component</a:t>
                      </a:r>
                      <a:endParaRPr b="1" sz="18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IN" sz="1800"/>
                        <a:t>Formula</a:t>
                      </a:r>
                      <a:endParaRPr b="1" sz="18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Number of servers</a:t>
                      </a:r>
                      <a:endParaRPr sz="18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( n^{k+1} )</a:t>
                      </a:r>
                      <a:endParaRPr sz="18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>
                          <a:solidFill>
                            <a:schemeClr val="dk1"/>
                          </a:solidFill>
                        </a:rPr>
                        <a:t>Number of levels</a:t>
                      </a:r>
                      <a:endParaRPr sz="18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>
                          <a:solidFill>
                            <a:schemeClr val="dk1"/>
                          </a:solidFill>
                        </a:rPr>
                        <a:t>( k + 1 )</a:t>
                      </a:r>
                      <a:endParaRPr sz="18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>
                          <a:solidFill>
                            <a:schemeClr val="dk1"/>
                          </a:solidFill>
                        </a:rPr>
                        <a:t>Switches per level</a:t>
                      </a:r>
                      <a:endParaRPr sz="18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>
                          <a:solidFill>
                            <a:schemeClr val="dk1"/>
                          </a:solidFill>
                        </a:rPr>
                        <a:t>( n^k )</a:t>
                      </a:r>
                      <a:endParaRPr sz="18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9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NICs per server</a:t>
                      </a:r>
                      <a:endParaRPr sz="18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800"/>
                        <a:t>( k + 1 )</a:t>
                      </a:r>
                      <a:endParaRPr sz="1800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c721df266a_0_37"/>
          <p:cNvSpPr txBox="1"/>
          <p:nvPr>
            <p:ph idx="12" type="sldNum"/>
          </p:nvPr>
        </p:nvSpPr>
        <p:spPr>
          <a:xfrm>
            <a:off x="6553080" y="6356520"/>
            <a:ext cx="2133300" cy="3648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IN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09" name="Google Shape;209;g3c721df266a_0_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01925" y="3516150"/>
            <a:ext cx="6919849" cy="216857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10" name="Google Shape;210;g3c721df266a_0_37"/>
          <p:cNvSpPr txBox="1"/>
          <p:nvPr/>
        </p:nvSpPr>
        <p:spPr>
          <a:xfrm>
            <a:off x="1863913" y="1583500"/>
            <a:ext cx="5986200" cy="15699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-IN" sz="1800">
                <a:solidFill>
                  <a:schemeClr val="dk1"/>
                </a:solidFill>
                <a:highlight>
                  <a:srgbClr val="FFFFFF"/>
                </a:highlight>
              </a:rPr>
              <a:t>Case 2: n = 4, k = 1 → BCube₁ (2 levels)</a:t>
            </a:r>
            <a:endParaRPr b="1" sz="18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highlight>
                  <a:srgbClr val="FFFFFF"/>
                </a:highlight>
              </a:rPr>
              <a:t>Number of servers - </a:t>
            </a:r>
            <a:r>
              <a:rPr lang="en-IN" sz="1800">
                <a:solidFill>
                  <a:schemeClr val="dk1"/>
                </a:solidFill>
              </a:rPr>
              <a:t>n^{k+1} = 4^{1+1} = 16</a:t>
            </a:r>
            <a:endParaRPr sz="18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IN" sz="1800">
                <a:solidFill>
                  <a:schemeClr val="dk1"/>
                </a:solidFill>
              </a:rPr>
              <a:t>Number of levels = 1+1 = 1+1 = 2</a:t>
            </a:r>
            <a:endParaRPr sz="18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</a:rPr>
              <a:t>Switches per level - n^k = 4^1 = 4</a:t>
            </a:r>
            <a:endParaRPr sz="18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</a:rPr>
              <a:t>NICs per server = k+1 = 1+1 = 2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211" name="Google Shape;211;g3c721df266a_0_37"/>
          <p:cNvSpPr/>
          <p:nvPr/>
        </p:nvSpPr>
        <p:spPr>
          <a:xfrm>
            <a:off x="149100" y="497450"/>
            <a:ext cx="88458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lang="en-IN" sz="2600">
                <a:solidFill>
                  <a:srgbClr val="FF0000"/>
                </a:solidFill>
              </a:rPr>
              <a:t>Recursive Construction: BCube₁, BCube₂, … BCubeₖ</a:t>
            </a:r>
            <a:endParaRPr b="0" i="1" sz="2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g3c721df266a_0_90"/>
          <p:cNvSpPr txBox="1"/>
          <p:nvPr>
            <p:ph idx="12" type="sldNum"/>
          </p:nvPr>
        </p:nvSpPr>
        <p:spPr>
          <a:xfrm>
            <a:off x="6553080" y="6356520"/>
            <a:ext cx="2133300" cy="3648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8" name="Google Shape;218;g3c721df266a_0_90"/>
          <p:cNvSpPr/>
          <p:nvPr/>
        </p:nvSpPr>
        <p:spPr>
          <a:xfrm>
            <a:off x="149100" y="497450"/>
            <a:ext cx="88458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lang="en-IN" sz="2600">
                <a:solidFill>
                  <a:srgbClr val="FF0000"/>
                </a:solidFill>
              </a:rPr>
              <a:t>How uplink / downlink communication happens</a:t>
            </a:r>
            <a:endParaRPr b="0" i="1" sz="2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9" name="Google Shape;219;g3c721df266a_0_9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50810" y="4077442"/>
            <a:ext cx="6328284" cy="2643892"/>
          </a:xfrm>
          <a:prstGeom prst="rect">
            <a:avLst/>
          </a:prstGeom>
          <a:noFill/>
          <a:ln cap="flat" cmpd="sng" w="8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20" name="Google Shape;220;g3c721df266a_0_90"/>
          <p:cNvSpPr txBox="1"/>
          <p:nvPr/>
        </p:nvSpPr>
        <p:spPr>
          <a:xfrm>
            <a:off x="704225" y="1220750"/>
            <a:ext cx="30000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700"/>
              <a:t> 01, wants to talk to 33</a:t>
            </a:r>
            <a:endParaRPr sz="1700"/>
          </a:p>
        </p:txBody>
      </p:sp>
      <p:sp>
        <p:nvSpPr>
          <p:cNvPr id="221" name="Google Shape;221;g3c721df266a_0_90"/>
          <p:cNvSpPr/>
          <p:nvPr/>
        </p:nvSpPr>
        <p:spPr>
          <a:xfrm>
            <a:off x="1565000" y="6198450"/>
            <a:ext cx="410400" cy="3648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g3c721df266a_0_90"/>
          <p:cNvSpPr/>
          <p:nvPr/>
        </p:nvSpPr>
        <p:spPr>
          <a:xfrm>
            <a:off x="6982475" y="6198450"/>
            <a:ext cx="410400" cy="3648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g3c721df266a_0_90"/>
          <p:cNvSpPr txBox="1"/>
          <p:nvPr/>
        </p:nvSpPr>
        <p:spPr>
          <a:xfrm>
            <a:off x="816050" y="1667150"/>
            <a:ext cx="6997800" cy="240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IN" sz="1700">
                <a:solidFill>
                  <a:schemeClr val="dk1"/>
                </a:solidFill>
              </a:rPr>
              <a:t>Setup</a:t>
            </a:r>
            <a:endParaRPr b="1"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IN" sz="1700">
                <a:solidFill>
                  <a:schemeClr val="dk1"/>
                </a:solidFill>
              </a:rPr>
              <a:t>Node </a:t>
            </a:r>
            <a:r>
              <a:rPr b="1" lang="en-IN" sz="1700">
                <a:solidFill>
                  <a:schemeClr val="dk1"/>
                </a:solidFill>
              </a:rPr>
              <a:t>01</a:t>
            </a:r>
            <a:r>
              <a:rPr lang="en-IN" sz="1700">
                <a:solidFill>
                  <a:schemeClr val="dk1"/>
                </a:solidFill>
              </a:rPr>
              <a:t> means:</a:t>
            </a:r>
            <a:endParaRPr sz="1700">
              <a:solidFill>
                <a:schemeClr val="dk1"/>
              </a:solidFill>
            </a:endParaRPr>
          </a:p>
          <a:p>
            <a:pPr indent="-3365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○"/>
            </a:pPr>
            <a:r>
              <a:rPr lang="en-IN" sz="1700">
                <a:solidFill>
                  <a:schemeClr val="dk1"/>
                </a:solidFill>
              </a:rPr>
              <a:t>First digit = 0 → connected to </a:t>
            </a:r>
            <a:r>
              <a:rPr b="1" lang="en-IN" sz="1700">
                <a:solidFill>
                  <a:schemeClr val="dk1"/>
                </a:solidFill>
              </a:rPr>
              <a:t>Level-0 switch &lt;0,0&gt;</a:t>
            </a:r>
            <a:endParaRPr b="1" sz="1700">
              <a:solidFill>
                <a:schemeClr val="dk1"/>
              </a:solidFill>
            </a:endParaRPr>
          </a:p>
          <a:p>
            <a:pPr indent="-3365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○"/>
            </a:pPr>
            <a:r>
              <a:rPr lang="en-IN" sz="1700">
                <a:solidFill>
                  <a:schemeClr val="dk1"/>
                </a:solidFill>
              </a:rPr>
              <a:t>Second digit = 1 → connected to </a:t>
            </a:r>
            <a:r>
              <a:rPr b="1" lang="en-IN" sz="1700">
                <a:solidFill>
                  <a:schemeClr val="dk1"/>
                </a:solidFill>
              </a:rPr>
              <a:t>Level-1 switch &lt;1,1&gt;</a:t>
            </a:r>
            <a:endParaRPr b="1" sz="1700">
              <a:solidFill>
                <a:schemeClr val="dk1"/>
              </a:solidFill>
            </a:endParaRPr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IN" sz="1700">
                <a:solidFill>
                  <a:schemeClr val="dk1"/>
                </a:solidFill>
              </a:rPr>
              <a:t>Node </a:t>
            </a:r>
            <a:r>
              <a:rPr b="1" lang="en-IN" sz="1700">
                <a:solidFill>
                  <a:schemeClr val="dk1"/>
                </a:solidFill>
              </a:rPr>
              <a:t>33</a:t>
            </a:r>
            <a:r>
              <a:rPr lang="en-IN" sz="1700">
                <a:solidFill>
                  <a:schemeClr val="dk1"/>
                </a:solidFill>
              </a:rPr>
              <a:t> means:</a:t>
            </a:r>
            <a:endParaRPr sz="1700">
              <a:solidFill>
                <a:schemeClr val="dk1"/>
              </a:solidFill>
            </a:endParaRPr>
          </a:p>
          <a:p>
            <a:pPr indent="-3365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○"/>
            </a:pPr>
            <a:r>
              <a:rPr lang="en-IN" sz="1700">
                <a:solidFill>
                  <a:schemeClr val="dk1"/>
                </a:solidFill>
              </a:rPr>
              <a:t>First digit = 3 → connected to </a:t>
            </a:r>
            <a:r>
              <a:rPr b="1" lang="en-IN" sz="1700">
                <a:solidFill>
                  <a:schemeClr val="dk1"/>
                </a:solidFill>
              </a:rPr>
              <a:t>Level-0 switch &lt;0,3&gt;</a:t>
            </a:r>
            <a:endParaRPr b="1" sz="1700">
              <a:solidFill>
                <a:schemeClr val="dk1"/>
              </a:solidFill>
            </a:endParaRPr>
          </a:p>
          <a:p>
            <a:pPr indent="-3365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○"/>
            </a:pPr>
            <a:r>
              <a:rPr lang="en-IN" sz="1700">
                <a:solidFill>
                  <a:schemeClr val="dk1"/>
                </a:solidFill>
              </a:rPr>
              <a:t>Second digit = 3 → connected to </a:t>
            </a:r>
            <a:r>
              <a:rPr b="1" lang="en-IN" sz="1700">
                <a:solidFill>
                  <a:schemeClr val="dk1"/>
                </a:solidFill>
              </a:rPr>
              <a:t>Level-1 switch &lt;1,3&gt;</a:t>
            </a:r>
            <a:endParaRPr b="1" sz="1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c721df266a_0_10"/>
          <p:cNvSpPr/>
          <p:nvPr/>
        </p:nvSpPr>
        <p:spPr>
          <a:xfrm>
            <a:off x="149100" y="497450"/>
            <a:ext cx="88458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lang="en-IN" sz="2600">
                <a:solidFill>
                  <a:srgbClr val="FF0000"/>
                </a:solidFill>
              </a:rPr>
              <a:t>Recursive Construction: BCube₁, BCube₂, … BCubeₖ</a:t>
            </a:r>
            <a:endParaRPr b="0" i="1" sz="2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g3c721df266a_0_10"/>
          <p:cNvSpPr txBox="1"/>
          <p:nvPr/>
        </p:nvSpPr>
        <p:spPr>
          <a:xfrm>
            <a:off x="683550" y="1357575"/>
            <a:ext cx="7776900" cy="20319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>
                <a:solidFill>
                  <a:schemeClr val="dk1"/>
                </a:solidFill>
                <a:highlight>
                  <a:srgbClr val="FFFFFF"/>
                </a:highlight>
              </a:rPr>
              <a:t>BCube₁ is:</a:t>
            </a:r>
            <a:endParaRPr sz="2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IN" sz="2000">
                <a:solidFill>
                  <a:schemeClr val="dk1"/>
                </a:solidFill>
                <a:highlight>
                  <a:srgbClr val="FFFFFF"/>
                </a:highlight>
              </a:rPr>
              <a:t>Built using n BCube₀ units</a:t>
            </a:r>
            <a:endParaRPr sz="2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IN" sz="2000">
                <a:solidFill>
                  <a:schemeClr val="dk1"/>
                </a:solidFill>
                <a:highlight>
                  <a:srgbClr val="FFFFFF"/>
                </a:highlight>
              </a:rPr>
              <a:t> n switches at level-1</a:t>
            </a:r>
            <a:endParaRPr sz="2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●"/>
            </a:pPr>
            <a:r>
              <a:rPr lang="en-IN" sz="2000">
                <a:solidFill>
                  <a:schemeClr val="dk1"/>
                </a:solidFill>
                <a:highlight>
                  <a:srgbClr val="FFFFFF"/>
                </a:highlight>
              </a:rPr>
              <a:t>Each server now has 2 NICs:</a:t>
            </a:r>
            <a:endParaRPr sz="2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55600" lvl="0" marL="18288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-"/>
            </a:pPr>
            <a:r>
              <a:rPr lang="en-IN" sz="2000">
                <a:solidFill>
                  <a:schemeClr val="dk1"/>
                </a:solidFill>
                <a:highlight>
                  <a:srgbClr val="FFFFFF"/>
                </a:highlight>
              </a:rPr>
              <a:t>NIC-0 → level-0 switch</a:t>
            </a:r>
            <a:endParaRPr sz="20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55600" lvl="0" marL="18288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-"/>
            </a:pPr>
            <a:r>
              <a:rPr lang="en-IN" sz="2000">
                <a:solidFill>
                  <a:schemeClr val="dk1"/>
                </a:solidFill>
                <a:highlight>
                  <a:srgbClr val="FFFFFF"/>
                </a:highlight>
              </a:rPr>
              <a:t>NIC-1 → level-1 switch      </a:t>
            </a:r>
            <a:endParaRPr sz="2000">
              <a:solidFill>
                <a:schemeClr val="dk1"/>
              </a:solidFill>
              <a:highlight>
                <a:srgbClr val="FFFFFF"/>
              </a:highlight>
            </a:endParaRPr>
          </a:p>
        </p:txBody>
      </p:sp>
      <p:pic>
        <p:nvPicPr>
          <p:cNvPr id="231" name="Google Shape;231;g3c721df266a_0_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53025" y="3743250"/>
            <a:ext cx="7067550" cy="295275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cxnSp>
        <p:nvCxnSpPr>
          <p:cNvPr id="232" name="Google Shape;232;g3c721df266a_0_10"/>
          <p:cNvCxnSpPr/>
          <p:nvPr/>
        </p:nvCxnSpPr>
        <p:spPr>
          <a:xfrm>
            <a:off x="2051250" y="5678675"/>
            <a:ext cx="1173900" cy="4359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3" name="Google Shape;233;g3c721df266a_0_10"/>
          <p:cNvCxnSpPr/>
          <p:nvPr/>
        </p:nvCxnSpPr>
        <p:spPr>
          <a:xfrm>
            <a:off x="2034475" y="5695425"/>
            <a:ext cx="2900700" cy="4026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4" name="Google Shape;234;g3c721df266a_0_10"/>
          <p:cNvCxnSpPr/>
          <p:nvPr/>
        </p:nvCxnSpPr>
        <p:spPr>
          <a:xfrm>
            <a:off x="2101550" y="5695425"/>
            <a:ext cx="4627800" cy="3858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c721df266a_0_151"/>
          <p:cNvSpPr txBox="1"/>
          <p:nvPr>
            <p:ph idx="12" type="sldNum"/>
          </p:nvPr>
        </p:nvSpPr>
        <p:spPr>
          <a:xfrm>
            <a:off x="6553080" y="6356520"/>
            <a:ext cx="2133300" cy="3648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1" name="Google Shape;241;g3c721df266a_0_151"/>
          <p:cNvSpPr/>
          <p:nvPr/>
        </p:nvSpPr>
        <p:spPr>
          <a:xfrm>
            <a:off x="149100" y="81550"/>
            <a:ext cx="88458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lang="en-IN" sz="2600">
                <a:solidFill>
                  <a:srgbClr val="FF0000"/>
                </a:solidFill>
              </a:rPr>
              <a:t>How uplink / downlink communication happens</a:t>
            </a:r>
            <a:endParaRPr b="0" i="1" sz="2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2" name="Google Shape;242;g3c721df266a_0_15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50810" y="4077442"/>
            <a:ext cx="6328284" cy="2643892"/>
          </a:xfrm>
          <a:prstGeom prst="rect">
            <a:avLst/>
          </a:prstGeom>
          <a:noFill/>
          <a:ln cap="flat" cmpd="sng" w="8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243" name="Google Shape;243;g3c721df266a_0_151"/>
          <p:cNvSpPr/>
          <p:nvPr/>
        </p:nvSpPr>
        <p:spPr>
          <a:xfrm>
            <a:off x="1565000" y="6198450"/>
            <a:ext cx="410400" cy="3648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g3c721df266a_0_151"/>
          <p:cNvSpPr/>
          <p:nvPr/>
        </p:nvSpPr>
        <p:spPr>
          <a:xfrm>
            <a:off x="6982475" y="6198450"/>
            <a:ext cx="410400" cy="364800"/>
          </a:xfrm>
          <a:prstGeom prst="ellipse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g3c721df266a_0_151"/>
          <p:cNvSpPr txBox="1"/>
          <p:nvPr/>
        </p:nvSpPr>
        <p:spPr>
          <a:xfrm>
            <a:off x="184500" y="804850"/>
            <a:ext cx="8775000" cy="32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IN" sz="1300">
                <a:solidFill>
                  <a:schemeClr val="dk1"/>
                </a:solidFill>
              </a:rPr>
              <a:t>Path from 01 to 33</a:t>
            </a:r>
            <a:endParaRPr b="1"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1" lang="en-IN" sz="1300">
                <a:solidFill>
                  <a:schemeClr val="dk1"/>
                </a:solidFill>
              </a:rPr>
              <a:t>01 → Level-1 switch &lt;1,1&gt;</a:t>
            </a:r>
            <a:r>
              <a:rPr lang="en-IN" sz="1300">
                <a:solidFill>
                  <a:schemeClr val="dk1"/>
                </a:solidFill>
              </a:rPr>
              <a:t>  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lang="en-IN" sz="1300">
                <a:solidFill>
                  <a:schemeClr val="dk1"/>
                </a:solidFill>
              </a:rPr>
              <a:t>Node 01 uses its second digit (1) to connect directly to switch &lt;1,1&gt;.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IN" sz="1300">
                <a:solidFill>
                  <a:schemeClr val="dk1"/>
                </a:solidFill>
              </a:rPr>
              <a:t>Level-1 switch &lt;1,1&gt; → Node 31</a:t>
            </a:r>
            <a:r>
              <a:rPr lang="en-IN" sz="1300">
                <a:solidFill>
                  <a:schemeClr val="dk1"/>
                </a:solidFill>
              </a:rPr>
              <a:t>  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lang="en-IN" sz="1300">
                <a:solidFill>
                  <a:schemeClr val="dk1"/>
                </a:solidFill>
              </a:rPr>
              <a:t>Switch &lt;1,1&gt; connects to all nodes whose second digit is 1. That includes node </a:t>
            </a:r>
            <a:r>
              <a:rPr b="1" lang="en-IN" sz="1300">
                <a:solidFill>
                  <a:schemeClr val="dk1"/>
                </a:solidFill>
              </a:rPr>
              <a:t>31</a:t>
            </a:r>
            <a:r>
              <a:rPr lang="en-IN" sz="1300">
                <a:solidFill>
                  <a:schemeClr val="dk1"/>
                </a:solidFill>
              </a:rPr>
              <a:t> (address digits: 3 and 1).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IN" sz="1300">
                <a:solidFill>
                  <a:schemeClr val="dk1"/>
                </a:solidFill>
              </a:rPr>
              <a:t>Node 31 → Level-0 switch &lt;0,3&gt;</a:t>
            </a:r>
            <a:r>
              <a:rPr lang="en-IN" sz="1300">
                <a:solidFill>
                  <a:schemeClr val="dk1"/>
                </a:solidFill>
              </a:rPr>
              <a:t>  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lang="en-IN" sz="1300">
                <a:solidFill>
                  <a:schemeClr val="dk1"/>
                </a:solidFill>
              </a:rPr>
              <a:t>Node 31 is inside BCube0 &lt;0,3&gt;, so it connects to that local level-0 switch.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IN" sz="1300">
                <a:solidFill>
                  <a:schemeClr val="dk1"/>
                </a:solidFill>
              </a:rPr>
              <a:t>Level-0 switch &lt;0,3&gt; → Node 33</a:t>
            </a:r>
            <a:r>
              <a:rPr lang="en-IN" sz="1300">
                <a:solidFill>
                  <a:schemeClr val="dk1"/>
                </a:solidFill>
              </a:rPr>
              <a:t>  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lang="en-IN" sz="1300">
                <a:solidFill>
                  <a:schemeClr val="dk1"/>
                </a:solidFill>
              </a:rPr>
              <a:t>Finally, within BCube0 &lt;0,3&gt;, the level-0 switch connects node 31 to node 33.</a:t>
            </a:r>
            <a:endParaRPr sz="1300">
              <a:solidFill>
                <a:schemeClr val="dk1"/>
              </a:solidFill>
            </a:endParaRPr>
          </a:p>
        </p:txBody>
      </p:sp>
      <p:cxnSp>
        <p:nvCxnSpPr>
          <p:cNvPr id="246" name="Google Shape;246;g3c721df266a_0_151"/>
          <p:cNvCxnSpPr>
            <a:stCxn id="243" idx="7"/>
          </p:cNvCxnSpPr>
          <p:nvPr/>
        </p:nvCxnSpPr>
        <p:spPr>
          <a:xfrm flipH="1" rot="10800000">
            <a:off x="1915298" y="4924074"/>
            <a:ext cx="1494000" cy="13278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7" name="Google Shape;247;g3c721df266a_0_151"/>
          <p:cNvCxnSpPr/>
          <p:nvPr/>
        </p:nvCxnSpPr>
        <p:spPr>
          <a:xfrm>
            <a:off x="3660950" y="4773225"/>
            <a:ext cx="2733300" cy="14253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8" name="Google Shape;248;g3c721df266a_0_151"/>
          <p:cNvCxnSpPr/>
          <p:nvPr/>
        </p:nvCxnSpPr>
        <p:spPr>
          <a:xfrm flipH="1" rot="10800000">
            <a:off x="6545000" y="5661875"/>
            <a:ext cx="117300" cy="4863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49" name="Google Shape;249;g3c721df266a_0_151"/>
          <p:cNvCxnSpPr>
            <a:endCxn id="244" idx="7"/>
          </p:cNvCxnSpPr>
          <p:nvPr/>
        </p:nvCxnSpPr>
        <p:spPr>
          <a:xfrm>
            <a:off x="6779873" y="5728974"/>
            <a:ext cx="552900" cy="522900"/>
          </a:xfrm>
          <a:prstGeom prst="straightConnector1">
            <a:avLst/>
          </a:prstGeom>
          <a:noFill/>
          <a:ln cap="flat" cmpd="sng" w="9525">
            <a:solidFill>
              <a:srgbClr val="FF0000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c721df266a_0_50"/>
          <p:cNvSpPr txBox="1"/>
          <p:nvPr>
            <p:ph idx="12" type="sldNum"/>
          </p:nvPr>
        </p:nvSpPr>
        <p:spPr>
          <a:xfrm>
            <a:off x="6553080" y="6356520"/>
            <a:ext cx="2133300" cy="3648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6" name="Google Shape;256;g3c721df266a_0_50"/>
          <p:cNvSpPr txBox="1"/>
          <p:nvPr/>
        </p:nvSpPr>
        <p:spPr>
          <a:xfrm>
            <a:off x="525400" y="1583475"/>
            <a:ext cx="7947900" cy="2401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highlight>
                  <a:srgbClr val="FFFFFF"/>
                </a:highlight>
              </a:rPr>
              <a:t>BCube is ideal for:</a:t>
            </a:r>
            <a:endParaRPr sz="18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IN" sz="1800">
                <a:solidFill>
                  <a:schemeClr val="dk1"/>
                </a:solidFill>
                <a:highlight>
                  <a:srgbClr val="FFFFFF"/>
                </a:highlight>
              </a:rPr>
              <a:t>Modular data centers</a:t>
            </a:r>
            <a:endParaRPr sz="18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IN" sz="1800">
                <a:solidFill>
                  <a:schemeClr val="dk1"/>
                </a:solidFill>
                <a:highlight>
                  <a:srgbClr val="FFFFFF"/>
                </a:highlight>
              </a:rPr>
              <a:t>Cloud platforms with homogeneous servers</a:t>
            </a:r>
            <a:endParaRPr sz="18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IN" sz="1800">
                <a:solidFill>
                  <a:schemeClr val="dk1"/>
                </a:solidFill>
                <a:highlight>
                  <a:srgbClr val="FFFFFF"/>
                </a:highlight>
              </a:rPr>
              <a:t>Environments where server reliability is high</a:t>
            </a:r>
            <a:endParaRPr sz="18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highlight>
                  <a:srgbClr val="FFFFFF"/>
                </a:highlight>
              </a:rPr>
              <a:t>Not ideal when:</a:t>
            </a:r>
            <a:endParaRPr sz="18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IN" sz="1800">
                <a:solidFill>
                  <a:schemeClr val="dk1"/>
                </a:solidFill>
                <a:highlight>
                  <a:srgbClr val="FFFFFF"/>
                </a:highlight>
              </a:rPr>
              <a:t>Servers cannot forward packets</a:t>
            </a:r>
            <a:endParaRPr sz="18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IN" sz="1800">
                <a:solidFill>
                  <a:schemeClr val="dk1"/>
                </a:solidFill>
                <a:highlight>
                  <a:srgbClr val="FFFFFF"/>
                </a:highlight>
              </a:rPr>
              <a:t>Legacy applications expect pure L2 networks</a:t>
            </a:r>
            <a:endParaRPr sz="1800">
              <a:solidFill>
                <a:schemeClr val="dk1"/>
              </a:solidFill>
              <a:highlight>
                <a:srgbClr val="FFFFFF"/>
              </a:highlight>
            </a:endParaRPr>
          </a:p>
        </p:txBody>
      </p:sp>
      <p:sp>
        <p:nvSpPr>
          <p:cNvPr id="257" name="Google Shape;257;g3c721df266a_0_50"/>
          <p:cNvSpPr/>
          <p:nvPr/>
        </p:nvSpPr>
        <p:spPr>
          <a:xfrm>
            <a:off x="149100" y="631575"/>
            <a:ext cx="88458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lang="en-IN" sz="2600">
                <a:solidFill>
                  <a:srgbClr val="FF0000"/>
                </a:solidFill>
              </a:rPr>
              <a:t>Where BCube Is Used (or Suitable)</a:t>
            </a:r>
            <a:endParaRPr b="0" i="1" sz="2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c721df266a_0_170"/>
          <p:cNvSpPr txBox="1"/>
          <p:nvPr>
            <p:ph idx="12" type="sldNum"/>
          </p:nvPr>
        </p:nvSpPr>
        <p:spPr>
          <a:xfrm>
            <a:off x="6553080" y="6356520"/>
            <a:ext cx="2133300" cy="3648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4" name="Google Shape;264;g3c721df266a_0_170"/>
          <p:cNvSpPr txBox="1"/>
          <p:nvPr/>
        </p:nvSpPr>
        <p:spPr>
          <a:xfrm>
            <a:off x="391250" y="1193700"/>
            <a:ext cx="8417400" cy="52590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b="1" lang="en-IN" sz="1800">
                <a:solidFill>
                  <a:schemeClr val="dk1"/>
                </a:solidFill>
                <a:highlight>
                  <a:srgbClr val="FFFFFF"/>
                </a:highlight>
              </a:rPr>
              <a:t>In a Fat-Tree topology, what is the primary advantage of using Clos network design?</a:t>
            </a:r>
            <a:endParaRPr b="1" sz="18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highlight>
                  <a:srgbClr val="FFFFFF"/>
                </a:highlight>
              </a:rPr>
              <a:t>A. It ensures full bisection bandwidth</a:t>
            </a:r>
            <a:endParaRPr sz="18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highlight>
                  <a:srgbClr val="FFFFFF"/>
                </a:highlight>
              </a:rPr>
              <a:t>B.  It minimizes the number of switches required</a:t>
            </a:r>
            <a:endParaRPr sz="18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highlight>
                  <a:srgbClr val="FFFFFF"/>
                </a:highlight>
              </a:rPr>
              <a:t>C. It eliminates the need for core switches</a:t>
            </a:r>
            <a:endParaRPr sz="18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highlight>
                  <a:srgbClr val="FFFFFF"/>
                </a:highlight>
              </a:rPr>
              <a:t>D. It reduces the number of server ports</a:t>
            </a:r>
            <a:endParaRPr sz="18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b="1" lang="en-IN" sz="1800">
                <a:solidFill>
                  <a:schemeClr val="dk1"/>
                </a:solidFill>
                <a:highlight>
                  <a:srgbClr val="FFFFFF"/>
                </a:highlight>
              </a:rPr>
              <a:t>In BCube0, how are servers connected?</a:t>
            </a:r>
            <a:endParaRPr b="1" sz="18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lphaUcPeriod"/>
            </a:pPr>
            <a:r>
              <a:rPr lang="en-IN" sz="1800">
                <a:solidFill>
                  <a:schemeClr val="dk1"/>
                </a:solidFill>
                <a:highlight>
                  <a:srgbClr val="FFFFFF"/>
                </a:highlight>
              </a:rPr>
              <a:t>Each server connects to multiple switches</a:t>
            </a:r>
            <a:endParaRPr sz="18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lphaUcPeriod"/>
            </a:pPr>
            <a:r>
              <a:rPr lang="en-IN" sz="1800">
                <a:solidFill>
                  <a:schemeClr val="dk1"/>
                </a:solidFill>
                <a:highlight>
                  <a:srgbClr val="FFFFFF"/>
                </a:highlight>
              </a:rPr>
              <a:t>Servers are connected directly to each other</a:t>
            </a:r>
            <a:endParaRPr sz="18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lphaUcPeriod"/>
            </a:pPr>
            <a:r>
              <a:rPr lang="en-IN" sz="1800">
                <a:solidFill>
                  <a:schemeClr val="dk1"/>
                </a:solidFill>
                <a:highlight>
                  <a:srgbClr val="FFFFFF"/>
                </a:highlight>
              </a:rPr>
              <a:t>Each server connects to a single n-port switch</a:t>
            </a:r>
            <a:endParaRPr sz="18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lphaUcPeriod"/>
            </a:pPr>
            <a:r>
              <a:rPr lang="en-IN" sz="1800">
                <a:solidFill>
                  <a:schemeClr val="dk1"/>
                </a:solidFill>
                <a:highlight>
                  <a:srgbClr val="FFFFFF"/>
                </a:highlight>
              </a:rPr>
              <a:t>Servers connect only to core switches</a:t>
            </a:r>
            <a:endParaRPr sz="1800">
              <a:solidFill>
                <a:schemeClr val="dk1"/>
              </a:solidFill>
              <a:highlight>
                <a:srgbClr val="FFFFFF"/>
              </a:highlight>
            </a:endParaRPr>
          </a:p>
        </p:txBody>
      </p:sp>
      <p:sp>
        <p:nvSpPr>
          <p:cNvPr id="265" name="Google Shape;265;g3c721df266a_0_170"/>
          <p:cNvSpPr/>
          <p:nvPr/>
        </p:nvSpPr>
        <p:spPr>
          <a:xfrm>
            <a:off x="149100" y="631575"/>
            <a:ext cx="88458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lang="en-IN" sz="2600">
                <a:solidFill>
                  <a:srgbClr val="FF0000"/>
                </a:solidFill>
              </a:rPr>
              <a:t>Knowledge Check</a:t>
            </a:r>
            <a:endParaRPr b="0" i="1" sz="2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3c721df266a_0_182"/>
          <p:cNvSpPr txBox="1"/>
          <p:nvPr>
            <p:ph idx="12" type="sldNum"/>
          </p:nvPr>
        </p:nvSpPr>
        <p:spPr>
          <a:xfrm>
            <a:off x="6553080" y="6356520"/>
            <a:ext cx="2133300" cy="3648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2" name="Google Shape;272;g3c721df266a_0_182"/>
          <p:cNvSpPr txBox="1"/>
          <p:nvPr/>
        </p:nvSpPr>
        <p:spPr>
          <a:xfrm>
            <a:off x="391250" y="1193700"/>
            <a:ext cx="8417400" cy="50235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IN" sz="1800">
                <a:solidFill>
                  <a:schemeClr val="dk1"/>
                </a:solidFill>
                <a:highlight>
                  <a:srgbClr val="FFFFFF"/>
                </a:highlight>
              </a:rPr>
              <a:t>3. Which of the following best describes BCube1?</a:t>
            </a:r>
            <a:endParaRPr b="1" sz="18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lphaUcPeriod"/>
            </a:pPr>
            <a:r>
              <a:rPr lang="en-IN" sz="1800">
                <a:solidFill>
                  <a:schemeClr val="dk1"/>
                </a:solidFill>
                <a:highlight>
                  <a:srgbClr val="FFFFFF"/>
                </a:highlight>
              </a:rPr>
              <a:t>It adds a second layer of switches, giving each server two ports</a:t>
            </a:r>
            <a:endParaRPr sz="18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lphaUcPeriod"/>
            </a:pPr>
            <a:r>
              <a:rPr lang="en-IN" sz="1800">
                <a:solidFill>
                  <a:schemeClr val="dk1"/>
                </a:solidFill>
                <a:highlight>
                  <a:srgbClr val="FFFFFF"/>
                </a:highlight>
              </a:rPr>
              <a:t>It uses a ring topology for interconnection</a:t>
            </a:r>
            <a:endParaRPr sz="18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lphaUcPeriod"/>
            </a:pPr>
            <a:r>
              <a:rPr lang="en-IN" sz="1800">
                <a:solidFill>
                  <a:schemeClr val="dk1"/>
                </a:solidFill>
                <a:highlight>
                  <a:srgbClr val="FFFFFF"/>
                </a:highlight>
              </a:rPr>
              <a:t>It eliminates switches entirely</a:t>
            </a:r>
            <a:endParaRPr sz="18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lphaUcPeriod"/>
            </a:pPr>
            <a:r>
              <a:rPr lang="en-IN" sz="1800">
                <a:solidFill>
                  <a:schemeClr val="dk1"/>
                </a:solidFill>
                <a:highlight>
                  <a:srgbClr val="FFFFFF"/>
                </a:highlight>
              </a:rPr>
              <a:t>It connects servers only through level-0 switches</a:t>
            </a:r>
            <a:endParaRPr sz="18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IN" sz="1800">
                <a:solidFill>
                  <a:schemeClr val="dk1"/>
                </a:solidFill>
                <a:highlight>
                  <a:srgbClr val="FFFFFF"/>
                </a:highlight>
              </a:rPr>
              <a:t>4. In a Fat-Tree topology with k-port switches, how many servers can be supported?</a:t>
            </a:r>
            <a:endParaRPr b="1" sz="18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lphaUcPeriod"/>
            </a:pPr>
            <a:r>
              <a:rPr lang="en-IN" sz="1800">
                <a:solidFill>
                  <a:schemeClr val="dk1"/>
                </a:solidFill>
                <a:highlight>
                  <a:srgbClr val="FFFFFF"/>
                </a:highlight>
              </a:rPr>
              <a:t>k^3 / 4</a:t>
            </a:r>
            <a:endParaRPr sz="18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lphaUcPeriod"/>
            </a:pPr>
            <a:r>
              <a:rPr lang="en-IN" sz="1800">
                <a:solidFill>
                  <a:schemeClr val="dk1"/>
                </a:solidFill>
                <a:highlight>
                  <a:srgbClr val="FFFFFF"/>
                </a:highlight>
              </a:rPr>
              <a:t>k^3</a:t>
            </a:r>
            <a:endParaRPr sz="18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lphaUcPeriod"/>
            </a:pPr>
            <a:r>
              <a:rPr lang="en-IN" sz="1800">
                <a:solidFill>
                  <a:schemeClr val="dk1"/>
                </a:solidFill>
                <a:highlight>
                  <a:srgbClr val="FFFFFF"/>
                </a:highlight>
              </a:rPr>
              <a:t>2k</a:t>
            </a:r>
            <a:endParaRPr sz="18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lphaUcPeriod"/>
            </a:pPr>
            <a:r>
              <a:rPr lang="en-IN" sz="1800">
                <a:solidFill>
                  <a:schemeClr val="dk1"/>
                </a:solidFill>
                <a:highlight>
                  <a:srgbClr val="FFFFFF"/>
                </a:highlight>
              </a:rPr>
              <a:t>k^2</a:t>
            </a:r>
            <a:endParaRPr sz="18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highlight>
                <a:srgbClr val="FFFFFF"/>
              </a:highlight>
            </a:endParaRPr>
          </a:p>
        </p:txBody>
      </p:sp>
      <p:sp>
        <p:nvSpPr>
          <p:cNvPr id="273" name="Google Shape;273;g3c721df266a_0_182"/>
          <p:cNvSpPr/>
          <p:nvPr/>
        </p:nvSpPr>
        <p:spPr>
          <a:xfrm>
            <a:off x="149100" y="631575"/>
            <a:ext cx="88458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lang="en-IN" sz="2600">
                <a:solidFill>
                  <a:srgbClr val="FF0000"/>
                </a:solidFill>
              </a:rPr>
              <a:t>Knowledge Check</a:t>
            </a:r>
            <a:endParaRPr b="0" i="1" sz="2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c721df266a_0_191"/>
          <p:cNvSpPr txBox="1"/>
          <p:nvPr>
            <p:ph type="title"/>
          </p:nvPr>
        </p:nvSpPr>
        <p:spPr>
          <a:xfrm>
            <a:off x="457200" y="274680"/>
            <a:ext cx="8229300" cy="1142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g3c721df266a_0_191"/>
          <p:cNvSpPr txBox="1"/>
          <p:nvPr>
            <p:ph idx="1" type="body"/>
          </p:nvPr>
        </p:nvSpPr>
        <p:spPr>
          <a:xfrm>
            <a:off x="457200" y="1600200"/>
            <a:ext cx="8229300" cy="4525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g3c721df266a_0_191"/>
          <p:cNvSpPr txBox="1"/>
          <p:nvPr>
            <p:ph idx="12" type="sldNum"/>
          </p:nvPr>
        </p:nvSpPr>
        <p:spPr>
          <a:xfrm>
            <a:off x="6553080" y="6356520"/>
            <a:ext cx="2133300" cy="3648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IN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82" name="Google Shape;282;g3c721df266a_0_19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238" y="2017082"/>
            <a:ext cx="8839200" cy="24129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c721df266a_0_199"/>
          <p:cNvSpPr txBox="1"/>
          <p:nvPr>
            <p:ph idx="12" type="sldNum"/>
          </p:nvPr>
        </p:nvSpPr>
        <p:spPr>
          <a:xfrm>
            <a:off x="6553080" y="6356520"/>
            <a:ext cx="2133300" cy="3648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89" name="Google Shape;289;g3c721df266a_0_199"/>
          <p:cNvSpPr txBox="1"/>
          <p:nvPr/>
        </p:nvSpPr>
        <p:spPr>
          <a:xfrm>
            <a:off x="391250" y="1193700"/>
            <a:ext cx="8417400" cy="56556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IN" sz="1800">
                <a:solidFill>
                  <a:schemeClr val="dk1"/>
                </a:solidFill>
                <a:highlight>
                  <a:srgbClr val="FFFFFF"/>
                </a:highlight>
              </a:rPr>
              <a:t>5. What is a key difference between Fat-Tree and BCube topologies?</a:t>
            </a:r>
            <a:endParaRPr b="1" sz="18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lphaUcPeriod"/>
            </a:pPr>
            <a:r>
              <a:rPr lang="en-IN" sz="1800">
                <a:solidFill>
                  <a:schemeClr val="dk1"/>
                </a:solidFill>
                <a:highlight>
                  <a:srgbClr val="FFFFFF"/>
                </a:highlight>
              </a:rPr>
              <a:t>Fat-Tree eliminates redundancy, BCube adds redundancy</a:t>
            </a:r>
            <a:endParaRPr sz="18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lphaUcPeriod"/>
            </a:pPr>
            <a:r>
              <a:rPr lang="en-IN" sz="1800">
                <a:solidFill>
                  <a:schemeClr val="dk1"/>
                </a:solidFill>
                <a:highlight>
                  <a:srgbClr val="FFFFFF"/>
                </a:highlight>
              </a:rPr>
              <a:t>Fat-Tree uses hierarchical switches, BCube uses recursive server-switch connections</a:t>
            </a:r>
            <a:endParaRPr sz="18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lphaUcPeriod"/>
            </a:pPr>
            <a:r>
              <a:rPr lang="en-IN" sz="1800">
                <a:solidFill>
                  <a:schemeClr val="dk1"/>
                </a:solidFill>
                <a:highlight>
                  <a:srgbClr val="FFFFFF"/>
                </a:highlight>
              </a:rPr>
              <a:t>Fat-Tree is server-centric, BCube is switch-centric</a:t>
            </a:r>
            <a:endParaRPr sz="18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lphaUcPeriod"/>
            </a:pPr>
            <a:r>
              <a:rPr lang="en-IN" sz="1800">
                <a:solidFill>
                  <a:schemeClr val="dk1"/>
                </a:solidFill>
                <a:highlight>
                  <a:srgbClr val="FFFFFF"/>
                </a:highlight>
              </a:rPr>
              <a:t>Fat-Tree supports fewer servers than BCube</a:t>
            </a:r>
            <a:endParaRPr sz="18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IN" sz="1800">
                <a:solidFill>
                  <a:schemeClr val="dk1"/>
                </a:solidFill>
                <a:highlight>
                  <a:srgbClr val="FFFFFF"/>
                </a:highlight>
              </a:rPr>
              <a:t>6. In a 2‑level BCube (BCube1), what does the two‑digit server address represent?</a:t>
            </a:r>
            <a:endParaRPr b="1" sz="18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highlight>
                  <a:srgbClr val="FFFFFF"/>
                </a:highlight>
              </a:rPr>
              <a:t>A) The rack number and the server’s MAC address </a:t>
            </a:r>
            <a:endParaRPr sz="18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highlight>
                  <a:srgbClr val="FFFFFF"/>
                </a:highlight>
              </a:rPr>
              <a:t>B) The level‑0 switch ID and the level‑1 switch ID the server connects to </a:t>
            </a:r>
            <a:endParaRPr sz="18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highlight>
                  <a:srgbClr val="FFFFFF"/>
                </a:highlight>
              </a:rPr>
              <a:t>C) The IP subnet and the physical port number </a:t>
            </a:r>
            <a:endParaRPr sz="18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highlight>
                  <a:srgbClr val="FFFFFF"/>
                </a:highlight>
              </a:rPr>
              <a:t>D) The server’s position in the Fat‑Tree hierarchy</a:t>
            </a:r>
            <a:endParaRPr sz="18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highlight>
                <a:srgbClr val="FFFFFF"/>
              </a:highlight>
            </a:endParaRPr>
          </a:p>
        </p:txBody>
      </p:sp>
      <p:sp>
        <p:nvSpPr>
          <p:cNvPr id="290" name="Google Shape;290;g3c721df266a_0_199"/>
          <p:cNvSpPr/>
          <p:nvPr/>
        </p:nvSpPr>
        <p:spPr>
          <a:xfrm>
            <a:off x="149100" y="631575"/>
            <a:ext cx="88458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lang="en-IN" sz="2600">
                <a:solidFill>
                  <a:srgbClr val="FF0000"/>
                </a:solidFill>
              </a:rPr>
              <a:t>Knowledge Check</a:t>
            </a:r>
            <a:endParaRPr b="0" i="1" sz="2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3c721df266a_0_218"/>
          <p:cNvSpPr txBox="1"/>
          <p:nvPr>
            <p:ph idx="12" type="sldNum"/>
          </p:nvPr>
        </p:nvSpPr>
        <p:spPr>
          <a:xfrm>
            <a:off x="6553080" y="6356520"/>
            <a:ext cx="2133300" cy="3648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7" name="Google Shape;297;g3c721df266a_0_218"/>
          <p:cNvSpPr txBox="1"/>
          <p:nvPr/>
        </p:nvSpPr>
        <p:spPr>
          <a:xfrm>
            <a:off x="391250" y="1193700"/>
            <a:ext cx="8417400" cy="44175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IN" sz="1800">
                <a:solidFill>
                  <a:schemeClr val="dk1"/>
                </a:solidFill>
                <a:highlight>
                  <a:srgbClr val="FFFFFF"/>
                </a:highlight>
              </a:rPr>
              <a:t>7. Why is BCube considered server-centric?</a:t>
            </a:r>
            <a:endParaRPr b="1" sz="18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lphaUcPeriod"/>
            </a:pPr>
            <a:r>
              <a:rPr lang="en-IN" sz="1800">
                <a:solidFill>
                  <a:schemeClr val="dk1"/>
                </a:solidFill>
                <a:highlight>
                  <a:srgbClr val="FFFFFF"/>
                </a:highlight>
              </a:rPr>
              <a:t>Servers are connected only through core switches</a:t>
            </a:r>
            <a:endParaRPr sz="18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lphaUcPeriod"/>
            </a:pPr>
            <a:r>
              <a:rPr lang="en-IN" sz="1800">
                <a:solidFill>
                  <a:schemeClr val="dk1"/>
                </a:solidFill>
                <a:highlight>
                  <a:srgbClr val="FFFFFF"/>
                </a:highlight>
              </a:rPr>
              <a:t>Servers are directly connected to multiple levels of switches</a:t>
            </a:r>
            <a:endParaRPr sz="18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lphaUcPeriod"/>
            </a:pPr>
            <a:r>
              <a:rPr lang="en-IN" sz="1800">
                <a:solidFill>
                  <a:schemeClr val="dk1"/>
                </a:solidFill>
                <a:highlight>
                  <a:srgbClr val="FFFFFF"/>
                </a:highlight>
              </a:rPr>
              <a:t>Switches form the hierarchy and servers only connect at the edge</a:t>
            </a:r>
            <a:endParaRPr sz="18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lphaUcPeriod"/>
            </a:pPr>
            <a:r>
              <a:rPr lang="en-IN" sz="1800">
                <a:solidFill>
                  <a:schemeClr val="dk1"/>
                </a:solidFill>
                <a:highlight>
                  <a:srgbClr val="FFFFFF"/>
                </a:highlight>
              </a:rPr>
              <a:t>Servers act as routers for each other</a:t>
            </a:r>
            <a:endParaRPr sz="18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IN" sz="1800">
                <a:solidFill>
                  <a:schemeClr val="dk1"/>
                </a:solidFill>
                <a:highlight>
                  <a:srgbClr val="FFFFFF"/>
                </a:highlight>
              </a:rPr>
              <a:t>8. In a 2‑level BCube (BCube1), if server 23 wants to communicate with server 10, what is the path taken ?</a:t>
            </a:r>
            <a:endParaRPr b="1" sz="18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highlight>
                  <a:srgbClr val="FFFFFF"/>
                </a:highlight>
              </a:rPr>
              <a:t>Ans: </a:t>
            </a:r>
            <a:endParaRPr sz="18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b="1" sz="1800">
              <a:solidFill>
                <a:schemeClr val="dk1"/>
              </a:solidFill>
              <a:highlight>
                <a:srgbClr val="FFFFFF"/>
              </a:highlight>
            </a:endParaRPr>
          </a:p>
        </p:txBody>
      </p:sp>
      <p:sp>
        <p:nvSpPr>
          <p:cNvPr id="298" name="Google Shape;298;g3c721df266a_0_218"/>
          <p:cNvSpPr/>
          <p:nvPr/>
        </p:nvSpPr>
        <p:spPr>
          <a:xfrm>
            <a:off x="149100" y="631575"/>
            <a:ext cx="8845800" cy="7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1" lang="en-IN" sz="2600">
                <a:solidFill>
                  <a:srgbClr val="FF0000"/>
                </a:solidFill>
              </a:rPr>
              <a:t>Knowledge Check</a:t>
            </a:r>
            <a:endParaRPr b="0" i="1" sz="2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3c721df266a_0_227"/>
          <p:cNvSpPr txBox="1"/>
          <p:nvPr>
            <p:ph type="title"/>
          </p:nvPr>
        </p:nvSpPr>
        <p:spPr>
          <a:xfrm>
            <a:off x="457200" y="274680"/>
            <a:ext cx="8229300" cy="1142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g3c721df266a_0_227"/>
          <p:cNvSpPr txBox="1"/>
          <p:nvPr>
            <p:ph idx="1" type="body"/>
          </p:nvPr>
        </p:nvSpPr>
        <p:spPr>
          <a:xfrm>
            <a:off x="457200" y="1600200"/>
            <a:ext cx="8229300" cy="45255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g3c721df266a_0_227"/>
          <p:cNvSpPr txBox="1"/>
          <p:nvPr>
            <p:ph idx="12" type="sldNum"/>
          </p:nvPr>
        </p:nvSpPr>
        <p:spPr>
          <a:xfrm>
            <a:off x="6553080" y="6356520"/>
            <a:ext cx="2133300" cy="3648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fld id="{00000000-1234-1234-1234-123412341234}" type="slidenum">
              <a:rPr lang="en-IN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307" name="Google Shape;307;g3c721df266a_0_2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1417375"/>
            <a:ext cx="8846625" cy="3696025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2023-02-09T09:07:05Z</dcterms:created>
  <dc:creator>Admin</dc:creator>
</cp:coreProperties>
</file>