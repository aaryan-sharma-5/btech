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78" r:id="rId4"/>
    <p:sldId id="279" r:id="rId5"/>
    <p:sldId id="300" r:id="rId6"/>
    <p:sldId id="301" r:id="rId7"/>
    <p:sldId id="302" r:id="rId8"/>
    <p:sldId id="303" r:id="rId9"/>
    <p:sldId id="304" r:id="rId10"/>
    <p:sldId id="305" r:id="rId11"/>
    <p:sldId id="321" r:id="rId12"/>
    <p:sldId id="277" r:id="rId13"/>
    <p:sldId id="271" r:id="rId14"/>
    <p:sldId id="266" r:id="rId15"/>
    <p:sldId id="280" r:id="rId16"/>
    <p:sldId id="281" r:id="rId17"/>
    <p:sldId id="291" r:id="rId18"/>
    <p:sldId id="258" r:id="rId19"/>
    <p:sldId id="261" r:id="rId20"/>
    <p:sldId id="262" r:id="rId21"/>
    <p:sldId id="263" r:id="rId22"/>
    <p:sldId id="348" r:id="rId23"/>
    <p:sldId id="290" r:id="rId24"/>
    <p:sldId id="260" r:id="rId25"/>
    <p:sldId id="264" r:id="rId26"/>
    <p:sldId id="267" r:id="rId27"/>
    <p:sldId id="268" r:id="rId28"/>
    <p:sldId id="269" r:id="rId29"/>
    <p:sldId id="270" r:id="rId30"/>
    <p:sldId id="292" r:id="rId31"/>
    <p:sldId id="293" r:id="rId32"/>
    <p:sldId id="298" r:id="rId33"/>
    <p:sldId id="299" r:id="rId34"/>
    <p:sldId id="294" r:id="rId35"/>
    <p:sldId id="272" r:id="rId36"/>
    <p:sldId id="276" r:id="rId37"/>
    <p:sldId id="296" r:id="rId38"/>
    <p:sldId id="297" r:id="rId39"/>
    <p:sldId id="274" r:id="rId40"/>
    <p:sldId id="295" r:id="rId41"/>
    <p:sldId id="275" r:id="rId42"/>
    <p:sldId id="306" r:id="rId43"/>
    <p:sldId id="329" r:id="rId44"/>
    <p:sldId id="307" r:id="rId45"/>
    <p:sldId id="310" r:id="rId46"/>
    <p:sldId id="311" r:id="rId47"/>
    <p:sldId id="315" r:id="rId48"/>
    <p:sldId id="316" r:id="rId49"/>
    <p:sldId id="319" r:id="rId50"/>
    <p:sldId id="325" r:id="rId51"/>
    <p:sldId id="320" r:id="rId52"/>
    <p:sldId id="326" r:id="rId53"/>
    <p:sldId id="323" r:id="rId54"/>
    <p:sldId id="324" r:id="rId55"/>
    <p:sldId id="327" r:id="rId56"/>
    <p:sldId id="328" r:id="rId57"/>
    <p:sldId id="330" r:id="rId58"/>
    <p:sldId id="331" r:id="rId59"/>
    <p:sldId id="333" r:id="rId60"/>
    <p:sldId id="334" r:id="rId61"/>
    <p:sldId id="335" r:id="rId62"/>
    <p:sldId id="337" r:id="rId63"/>
    <p:sldId id="338" r:id="rId64"/>
    <p:sldId id="341" r:id="rId65"/>
    <p:sldId id="340" r:id="rId66"/>
    <p:sldId id="343" r:id="rId67"/>
    <p:sldId id="344" r:id="rId68"/>
    <p:sldId id="345" r:id="rId69"/>
    <p:sldId id="346" r:id="rId70"/>
    <p:sldId id="347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1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9F962-F75B-417A-89CC-B2098D0E7909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A5004-7C30-4D6E-85A9-A8F6A990D7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62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F92FA-13FA-4CC5-88C3-479FFB240B59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06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9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4AC01-F926-4767-927B-7258DC80B39B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149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40CED-6D47-47BA-8A55-B2195EB01DF6}" type="datetime1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275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0882-4C3F-4728-9941-50AA8624C7D8}" type="datetime1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86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93729-6963-41B7-951D-90350FC0C670}" type="datetime1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322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42622-A6DF-4691-8E1E-B5F8B3FED96C}" type="datetime1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588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3C74-4136-4E28-B5C7-03DD86B86A52}" type="datetime1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68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72E4-AEF8-4B0E-8C62-2D0E30FA5169}" type="datetime1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86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0990A-64FA-4318-9889-3A11F53CEC89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339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D1832-301A-49CC-A14A-9752B1F37AF5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12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9E9A4-2717-4611-BA98-26C83A53F363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9CD84-036B-4754-BD39-CB865687F0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821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Third Party Cloud Services: </a:t>
            </a:r>
            <a:r>
              <a:rPr lang="en-US" dirty="0" err="1" smtClean="0"/>
              <a:t>MetaCDN</a:t>
            </a:r>
            <a:r>
              <a:rPr lang="en-US" dirty="0" smtClean="0"/>
              <a:t>, </a:t>
            </a:r>
            <a:r>
              <a:rPr lang="en-US" dirty="0" err="1" smtClean="0"/>
              <a:t>SpotCloud</a:t>
            </a:r>
            <a:r>
              <a:rPr lang="en-US" dirty="0" smtClean="0"/>
              <a:t>, </a:t>
            </a:r>
            <a:r>
              <a:rPr lang="en-IN"/>
              <a:t>Federated Clouds / Inter Cloud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5.1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8C6CD-0A07-40FE-887F-D08928A28E8C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1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Third Party Cloud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One of the key elements of cloud computing is </a:t>
            </a:r>
            <a:r>
              <a:rPr lang="en-IN" sz="2400" b="1" dirty="0" smtClean="0"/>
              <a:t>the possibility of composing services that belong to different vendors or integrating them into existing software systems. </a:t>
            </a:r>
          </a:p>
          <a:p>
            <a:r>
              <a:rPr lang="en-IN" sz="2400" dirty="0" smtClean="0"/>
              <a:t>The service-oriented model, which is the basis of cloud computing, facilitates such an approach and provides the opportunity</a:t>
            </a:r>
            <a:r>
              <a:rPr lang="en-IN" sz="2400" dirty="0"/>
              <a:t> </a:t>
            </a:r>
            <a:r>
              <a:rPr lang="en-IN" sz="2400" dirty="0" smtClean="0"/>
              <a:t>for </a:t>
            </a:r>
            <a:r>
              <a:rPr lang="en-IN" sz="2400" b="1" dirty="0" smtClean="0"/>
              <a:t>developing a new class of services that can be called third-party cloud services.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C55B-295A-4150-890F-8C089D0F2EEA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09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Third Party Cloud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These are </a:t>
            </a:r>
            <a:r>
              <a:rPr lang="en-IN" sz="2400" b="1" dirty="0" smtClean="0"/>
              <a:t>the </a:t>
            </a:r>
            <a:r>
              <a:rPr lang="en-US" sz="2400" b="1" dirty="0"/>
              <a:t>result of adding value to preexisting cloud computing services, thus providing customers with a </a:t>
            </a:r>
            <a:r>
              <a:rPr lang="en-US" sz="2400" b="1" dirty="0" smtClean="0"/>
              <a:t>different </a:t>
            </a:r>
            <a:r>
              <a:rPr lang="en-US" sz="2400" b="1" dirty="0"/>
              <a:t>and more sophisticated service. </a:t>
            </a:r>
            <a:endParaRPr lang="en-US" sz="2400" b="1" dirty="0" smtClean="0"/>
          </a:p>
          <a:p>
            <a:r>
              <a:rPr lang="en-US" sz="2400" b="1" dirty="0" smtClean="0"/>
              <a:t>Added </a:t>
            </a:r>
            <a:r>
              <a:rPr lang="en-US" sz="2400" b="1" dirty="0"/>
              <a:t>value can be either created by smartly coordinating existing services or implementing additional features</a:t>
            </a:r>
            <a:r>
              <a:rPr lang="en-US" sz="2400" dirty="0"/>
              <a:t> on top of an existing basic service. </a:t>
            </a:r>
            <a:endParaRPr lang="en-IN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131B7-F7B6-436C-90E9-AEB6064B184B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864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Third Party Cloud 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Some </a:t>
            </a:r>
            <a:r>
              <a:rPr lang="en-US" sz="2400" dirty="0"/>
              <a:t>examples of third-party </a:t>
            </a:r>
            <a:r>
              <a:rPr lang="en-US" sz="2400" dirty="0" smtClean="0"/>
              <a:t>services:-</a:t>
            </a:r>
          </a:p>
          <a:p>
            <a:r>
              <a:rPr lang="en-US" sz="2400" dirty="0" err="1" smtClean="0"/>
              <a:t>MetaCDN</a:t>
            </a:r>
            <a:endParaRPr lang="en-US" sz="2400" dirty="0" smtClean="0"/>
          </a:p>
          <a:p>
            <a:r>
              <a:rPr lang="en-US" sz="2400" dirty="0" err="1" smtClean="0"/>
              <a:t>SpotCloud</a:t>
            </a:r>
            <a:endParaRPr lang="en-IN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53084-3DE6-47C2-9334-168F0C6B653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5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CDN</a:t>
            </a:r>
            <a:r>
              <a:rPr lang="en-US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 </a:t>
            </a:r>
            <a:r>
              <a:rPr lang="en-US" sz="2400" dirty="0"/>
              <a:t>content delivery network (CDN) is </a:t>
            </a:r>
            <a:r>
              <a:rPr lang="en-US" sz="2400" b="1" dirty="0"/>
              <a:t>a network of interconnected servers that speeds up webpage loading </a:t>
            </a:r>
            <a:r>
              <a:rPr lang="en-US" sz="2400" dirty="0"/>
              <a:t>for data-heavy applications. </a:t>
            </a:r>
            <a:endParaRPr lang="en-US" sz="2400" dirty="0" smtClean="0"/>
          </a:p>
          <a:p>
            <a:r>
              <a:rPr lang="en-US" sz="2400" dirty="0" smtClean="0"/>
              <a:t>CDN </a:t>
            </a:r>
            <a:r>
              <a:rPr lang="en-US" sz="2400" dirty="0"/>
              <a:t>can stand for content delivery network or content distribution network. </a:t>
            </a:r>
            <a:endParaRPr lang="en-US" sz="2400" dirty="0" smtClean="0"/>
          </a:p>
          <a:p>
            <a:endParaRPr lang="en-US" sz="2400" b="1" dirty="0"/>
          </a:p>
          <a:p>
            <a:pPr marL="0" indent="0">
              <a:buNone/>
            </a:pPr>
            <a:r>
              <a:rPr lang="en-IN" sz="1600" b="1" dirty="0"/>
              <a:t>https://aws.amazon.com/what-is/cdn/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8C015-9DB9-44EB-8132-3C05A310C0E5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08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CDN</a:t>
            </a:r>
            <a:r>
              <a:rPr lang="en-US" dirty="0" smtClean="0"/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When </a:t>
            </a:r>
            <a:r>
              <a:rPr lang="en-US" sz="2400" dirty="0"/>
              <a:t>a user visits a website, data from that website's server has to travel across the internet to reach the user's computer. </a:t>
            </a:r>
            <a:r>
              <a:rPr lang="en-US" sz="2400" b="1" dirty="0"/>
              <a:t>If the user is located far from that server, it will take a long time to load a large file, such as a video or website image. </a:t>
            </a:r>
            <a:endParaRPr lang="en-US" sz="2400" b="1" dirty="0" smtClean="0"/>
          </a:p>
          <a:p>
            <a:r>
              <a:rPr lang="en-US" sz="2400" dirty="0" smtClean="0"/>
              <a:t>Instead</a:t>
            </a:r>
            <a:r>
              <a:rPr lang="en-US" sz="2400" dirty="0"/>
              <a:t>, the </a:t>
            </a:r>
            <a:r>
              <a:rPr lang="en-US" sz="2400" b="1" dirty="0"/>
              <a:t>website content is stored on CDN servers geographically closer to the users and reaches their computers much faster.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IN" sz="1600" b="1" dirty="0"/>
              <a:t>https://aws.amazon.com/what-is/cdn/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0DAB7-171C-487C-ADEC-061845869EFE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0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a CDN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primary purpose of a content delivery network (CDN) is to </a:t>
            </a:r>
            <a:r>
              <a:rPr lang="en-US" sz="2400" b="1" dirty="0" smtClean="0"/>
              <a:t>reduce latency, or reduce the delay in communication created by a network's design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Because of the global and complex nature of the internet, </a:t>
            </a:r>
            <a:r>
              <a:rPr lang="en-US" sz="2400" b="1" dirty="0" smtClean="0"/>
              <a:t>communication traffic between websites (servers) and their users (clients) has to move over large physical distances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The communication is also two-way, with requests going from the client to the server and responses coming back.</a:t>
            </a:r>
          </a:p>
          <a:p>
            <a:endParaRPr lang="en-US" sz="2400" b="1" dirty="0"/>
          </a:p>
          <a:p>
            <a:pPr marL="0" indent="0">
              <a:buNone/>
            </a:pPr>
            <a:r>
              <a:rPr lang="en-IN" sz="1600" b="1" dirty="0" smtClean="0"/>
              <a:t>https://aws.amazon.com/what-is/cdn/</a:t>
            </a:r>
            <a:endParaRPr lang="en-IN" sz="1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71579-55C3-414D-AF4B-40F691475A4B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34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is a CDN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CDN improves efficiency by introducing </a:t>
            </a:r>
            <a:r>
              <a:rPr lang="en-US" sz="2400" b="1" dirty="0"/>
              <a:t>intermediary servers between the client and the website server. </a:t>
            </a:r>
            <a:endParaRPr lang="en-US" sz="2400" b="1" dirty="0" smtClean="0"/>
          </a:p>
          <a:p>
            <a:r>
              <a:rPr lang="en-US" sz="2400" dirty="0" smtClean="0"/>
              <a:t>These </a:t>
            </a:r>
            <a:r>
              <a:rPr lang="en-US" sz="2400" dirty="0"/>
              <a:t>CDN servers manage some of the client-server communications. </a:t>
            </a:r>
            <a:r>
              <a:rPr lang="en-US" sz="2400" b="1" dirty="0"/>
              <a:t>They decrease web traffic to the web server, reduce bandwidth consumption,</a:t>
            </a:r>
            <a:r>
              <a:rPr lang="en-US" sz="2400" dirty="0"/>
              <a:t> and improve the user experience of your applications</a:t>
            </a:r>
            <a:r>
              <a:rPr lang="en-US" sz="2400" dirty="0" smtClean="0"/>
              <a:t>.</a:t>
            </a:r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IN" sz="1600" b="1" dirty="0" smtClean="0"/>
              <a:t>https://aws.amazon.com/what-is/cdn/</a:t>
            </a:r>
            <a:endParaRPr lang="en-IN" sz="1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8A4F-30A4-4422-BC8E-06782258F9D3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24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CDN?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You could think of a CDN like an ATM. </a:t>
            </a:r>
            <a:endParaRPr lang="en-US" sz="2400" dirty="0" smtClean="0"/>
          </a:p>
          <a:p>
            <a:r>
              <a:rPr lang="en-US" sz="2400" dirty="0" smtClean="0"/>
              <a:t>Having </a:t>
            </a:r>
            <a:r>
              <a:rPr lang="en-US" sz="2400" dirty="0"/>
              <a:t>a cash machine on practically every corner makes it fast and efficient to get money. </a:t>
            </a:r>
            <a:r>
              <a:rPr lang="en-US" sz="2400" b="1" dirty="0"/>
              <a:t>There’s no wait time in long bank lines, and the ATMs are placed in many convenient locations for immediate access.</a:t>
            </a:r>
          </a:p>
          <a:p>
            <a:endParaRPr lang="en-US" sz="2400" b="1" dirty="0" smtClean="0"/>
          </a:p>
          <a:p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IN" sz="1600" b="1" dirty="0" smtClean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 smtClean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 smtClean="0"/>
              <a:t>https</a:t>
            </a:r>
            <a:r>
              <a:rPr lang="en-IN" sz="1600" b="1" dirty="0"/>
              <a:t>://www.akamai.com/our-thinking/cdn/what-is-a-cdn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C3BD2-86CE-4E08-84F7-6C5E75CC772E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88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CDN?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CDN services were created to </a:t>
            </a:r>
            <a:r>
              <a:rPr lang="en-US" sz="2400" b="1" dirty="0"/>
              <a:t>solve the problem of network congestion caused by delivering rich web content, such as graphics and video over the internet — much like a traffic jam. </a:t>
            </a:r>
            <a:endParaRPr lang="en-US" sz="2400" b="1" dirty="0" smtClean="0"/>
          </a:p>
          <a:p>
            <a:r>
              <a:rPr lang="en-US" sz="2400" dirty="0" smtClean="0"/>
              <a:t>Getting </a:t>
            </a:r>
            <a:r>
              <a:rPr lang="en-US" sz="2400" dirty="0"/>
              <a:t>content from centrally located servers to individual users simply took too long. </a:t>
            </a:r>
            <a:endParaRPr lang="en-US" sz="2400" dirty="0" smtClean="0"/>
          </a:p>
          <a:p>
            <a:r>
              <a:rPr lang="en-US" sz="2400" b="1" dirty="0" smtClean="0"/>
              <a:t>CDNs </a:t>
            </a:r>
            <a:r>
              <a:rPr lang="en-US" sz="2400" b="1" dirty="0"/>
              <a:t>have now grown to include everything from text, graphics, scripts, and media files to software downloads, documents, portals, ecommerce, live streaming media, on-demand video streaming media, and social media sites.</a:t>
            </a:r>
            <a:endParaRPr lang="en-US" sz="2400" b="1" dirty="0" smtClean="0"/>
          </a:p>
          <a:p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IN" sz="1600" b="1" dirty="0" smtClean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endParaRPr lang="en-IN" sz="1600" b="1" dirty="0" smtClean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lang="en-IN" sz="1600" b="1" dirty="0" smtClean="0"/>
              <a:t>https</a:t>
            </a:r>
            <a:r>
              <a:rPr lang="en-IN" sz="1600" b="1" dirty="0"/>
              <a:t>://www.akamai.com/our-thinking/cdn/what-is-a-cdn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6840F-B4BE-4246-BCD2-69143A86486B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2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Existing CDN providers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r>
              <a:rPr lang="en-IN" sz="2400" dirty="0" smtClean="0"/>
              <a:t>Akamai </a:t>
            </a:r>
            <a:r>
              <a:rPr lang="en-IN" sz="2400" dirty="0"/>
              <a:t>is the clear leader in coverage and market share (approx. 80%) </a:t>
            </a:r>
            <a:endParaRPr lang="en-IN" sz="2400" dirty="0" smtClean="0"/>
          </a:p>
          <a:p>
            <a:pPr lvl="1"/>
            <a:r>
              <a:rPr lang="en-IN" sz="2400" dirty="0" smtClean="0"/>
              <a:t>Price </a:t>
            </a:r>
            <a:r>
              <a:rPr lang="en-IN" sz="2400" dirty="0"/>
              <a:t>is prohibitive for SME, NGO, Gov... </a:t>
            </a:r>
            <a:endParaRPr lang="en-IN" sz="2400" dirty="0" smtClean="0"/>
          </a:p>
          <a:p>
            <a:pPr marL="457200" lvl="1" indent="0">
              <a:buNone/>
            </a:pPr>
            <a:endParaRPr lang="en-IN" sz="2400" dirty="0" smtClean="0"/>
          </a:p>
          <a:p>
            <a:pPr marL="0" indent="0">
              <a:buNone/>
            </a:pPr>
            <a:r>
              <a:rPr lang="en-IN" sz="2400" dirty="0" smtClean="0"/>
              <a:t>• </a:t>
            </a:r>
            <a:r>
              <a:rPr lang="en-IN" sz="2400" dirty="0"/>
              <a:t>Academic CDNs include Coral, </a:t>
            </a:r>
            <a:r>
              <a:rPr lang="en-IN" sz="2400" dirty="0" err="1"/>
              <a:t>Codeen</a:t>
            </a:r>
            <a:r>
              <a:rPr lang="en-IN" sz="2400" dirty="0"/>
              <a:t>, Globule....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11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11" y="3501008"/>
            <a:ext cx="8464676" cy="2770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4736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MetaCDN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err="1" smtClean="0"/>
              <a:t>MetaCDN</a:t>
            </a:r>
            <a:r>
              <a:rPr lang="en-IN" sz="2400" dirty="0"/>
              <a:t> </a:t>
            </a:r>
            <a:r>
              <a:rPr lang="en-IN" sz="2400" dirty="0" smtClean="0"/>
              <a:t>provides users with a Content Delivery Network (CDN).</a:t>
            </a:r>
          </a:p>
          <a:p>
            <a:r>
              <a:rPr lang="en-IN" sz="2400" dirty="0" smtClean="0"/>
              <a:t>It implements a software overlay that </a:t>
            </a:r>
            <a:r>
              <a:rPr lang="en-IN" sz="2400" b="1" dirty="0" smtClean="0"/>
              <a:t>coordinates the service offerings of different cloud storage vendors and uses them as distributed elastic storage on which the user content is stored.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5049-380B-43E4-B176-56F8458D2BE6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86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MetaCDN</a:t>
            </a:r>
            <a:r>
              <a:rPr lang="en-US" sz="2400" dirty="0" smtClean="0"/>
              <a:t> </a:t>
            </a:r>
            <a:r>
              <a:rPr lang="en-US" sz="2400" b="1" dirty="0" smtClean="0"/>
              <a:t>enables </a:t>
            </a:r>
            <a:r>
              <a:rPr lang="en-US" sz="2400" b="1" dirty="0"/>
              <a:t>the uniform use of heterogeneous storage clouds as a single, large, distributed content delivery network. </a:t>
            </a:r>
            <a:endParaRPr lang="en-US" sz="2400" b="1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The </a:t>
            </a:r>
            <a:r>
              <a:rPr lang="en-US" sz="2400" b="1" dirty="0">
                <a:solidFill>
                  <a:srgbClr val="FF0000"/>
                </a:solidFill>
              </a:rPr>
              <a:t>advantage is not only given by providing a CDN service at accessible costs but also in </a:t>
            </a:r>
            <a:r>
              <a:rPr lang="en-US" sz="2400" b="1" dirty="0" smtClean="0">
                <a:solidFill>
                  <a:srgbClr val="FF0000"/>
                </a:solidFill>
              </a:rPr>
              <a:t>enriching </a:t>
            </a:r>
            <a:r>
              <a:rPr lang="en-US" sz="2400" b="1" dirty="0">
                <a:solidFill>
                  <a:srgbClr val="FF0000"/>
                </a:solidFill>
              </a:rPr>
              <a:t>the original service offering of existing cloud services with additional functionalities,</a:t>
            </a:r>
            <a:endParaRPr lang="en-IN" sz="2400" b="1" dirty="0" smtClean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E4CBF-9BF1-47D7-8D7A-D962024BDE5D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04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MetaCDN</a:t>
            </a:r>
            <a:r>
              <a:rPr lang="en-US" sz="2400" dirty="0" smtClean="0"/>
              <a:t> </a:t>
            </a:r>
            <a:r>
              <a:rPr lang="en-US" sz="2400" dirty="0"/>
              <a:t>provides users with the </a:t>
            </a:r>
            <a:r>
              <a:rPr lang="en-US" sz="2400" b="1" dirty="0"/>
              <a:t>high-level services of a CDN </a:t>
            </a:r>
            <a:r>
              <a:rPr lang="en-US" sz="2400" dirty="0"/>
              <a:t>for content distribution and </a:t>
            </a:r>
            <a:r>
              <a:rPr lang="en-US" sz="2400" b="1" dirty="0"/>
              <a:t>interacts with the low-level interfaces of storage clouds to optimally place the user content in accordance with the expected geography of its demand.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FD04A-1D69-49AA-A8DF-0D9CDDB4D0E3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5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MetaCDN</a:t>
            </a:r>
            <a:r>
              <a:rPr lang="en-US" sz="2400" dirty="0"/>
              <a:t> is a pioneering "4th generation" content delivery network (CDN) provider. Our patent pending approach leverages </a:t>
            </a:r>
            <a:r>
              <a:rPr lang="en-US" sz="2400" b="1" dirty="0"/>
              <a:t>Tier-1 Cloud Storage &amp; CDN suppliers such as Amazon, Microsoft and Google to offer enterprise-class content delivery, video encoding and streaming services on an unmatched global scale. </a:t>
            </a:r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pPr marL="0" indent="0">
              <a:buNone/>
            </a:pPr>
            <a:r>
              <a:rPr lang="en-IN" sz="2400" b="1" dirty="0"/>
              <a:t>http://www.metacdn.com/aboutus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D5EA-928C-4B55-BF4D-D304631B6766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59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Founded in 2011 from </a:t>
            </a:r>
            <a:r>
              <a:rPr lang="en-US" sz="2400" b="1" dirty="0"/>
              <a:t>research out of the University of Melbourne</a:t>
            </a:r>
            <a:r>
              <a:rPr lang="en-US" sz="2400" dirty="0"/>
              <a:t>, </a:t>
            </a:r>
            <a:endParaRPr lang="en-US" sz="2400" dirty="0" smtClean="0"/>
          </a:p>
          <a:p>
            <a:r>
              <a:rPr lang="en-US" sz="2400" dirty="0" err="1" smtClean="0"/>
              <a:t>MetaCDN</a:t>
            </a:r>
            <a:r>
              <a:rPr lang="en-US" sz="2400" dirty="0" smtClean="0"/>
              <a:t> </a:t>
            </a:r>
            <a:r>
              <a:rPr lang="en-US" sz="2400" dirty="0"/>
              <a:t>is </a:t>
            </a:r>
            <a:r>
              <a:rPr lang="en-US" sz="2400" b="1" dirty="0"/>
              <a:t>backed by leading Australian venture capital firm Starfish Ventures and the University of Melbourne's </a:t>
            </a:r>
            <a:r>
              <a:rPr lang="en-US" sz="2400" b="1" dirty="0" err="1"/>
              <a:t>commercialisation</a:t>
            </a:r>
            <a:r>
              <a:rPr lang="en-US" sz="2400" b="1" dirty="0"/>
              <a:t> arm</a:t>
            </a:r>
            <a:endParaRPr lang="en-US" sz="2400" b="1" dirty="0" smtClean="0"/>
          </a:p>
          <a:p>
            <a:endParaRPr lang="en-US" sz="2400" b="1" dirty="0"/>
          </a:p>
          <a:p>
            <a:pPr marL="0" indent="0">
              <a:buNone/>
            </a:pPr>
            <a:endParaRPr lang="en-IN" sz="2400" b="1" dirty="0" smtClean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endParaRPr lang="en-IN" sz="2400" b="1" dirty="0" smtClean="0"/>
          </a:p>
          <a:p>
            <a:pPr marL="0" indent="0">
              <a:buNone/>
            </a:pPr>
            <a:r>
              <a:rPr lang="en-IN" sz="2400" b="1" dirty="0" smtClean="0"/>
              <a:t>http</a:t>
            </a:r>
            <a:r>
              <a:rPr lang="en-IN" sz="2400" b="1" dirty="0"/>
              <a:t>://www.metacdn.com/aboutus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933056"/>
            <a:ext cx="6458554" cy="1117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DD3D2-5E4A-40C2-B59C-E17362D4DF3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68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What if we could create a low-cost, high performance overlay CDN using </a:t>
            </a:r>
            <a:r>
              <a:rPr lang="en-US" sz="2800" b="1" dirty="0" err="1" smtClean="0"/>
              <a:t>heterogenous</a:t>
            </a:r>
            <a:r>
              <a:rPr lang="en-US" sz="2800" b="1" dirty="0" smtClean="0"/>
              <a:t> </a:t>
            </a:r>
            <a:r>
              <a:rPr lang="en-US" sz="2800" b="1" dirty="0"/>
              <a:t>storage clouds?</a:t>
            </a:r>
            <a:br>
              <a:rPr lang="en-US" sz="2800" b="1" dirty="0"/>
            </a:b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Exploit </a:t>
            </a:r>
            <a:r>
              <a:rPr lang="en-US" sz="2400" b="1" dirty="0">
                <a:solidFill>
                  <a:srgbClr val="FF0000"/>
                </a:solidFill>
              </a:rPr>
              <a:t>the strengths and </a:t>
            </a:r>
            <a:r>
              <a:rPr lang="en-US" sz="2400" b="1" dirty="0" smtClean="0">
                <a:solidFill>
                  <a:srgbClr val="FF0000"/>
                </a:solidFill>
              </a:rPr>
              <a:t>coverage footprints </a:t>
            </a:r>
            <a:r>
              <a:rPr lang="en-US" sz="2400" b="1" dirty="0">
                <a:solidFill>
                  <a:srgbClr val="FF0000"/>
                </a:solidFill>
              </a:rPr>
              <a:t>of multiple providers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Cherry </a:t>
            </a:r>
            <a:r>
              <a:rPr lang="en-US" sz="2400" b="1" dirty="0">
                <a:solidFill>
                  <a:srgbClr val="FF0000"/>
                </a:solidFill>
              </a:rPr>
              <a:t>pick providers based </a:t>
            </a:r>
            <a:r>
              <a:rPr lang="en-US" sz="2400" b="1" dirty="0" smtClean="0">
                <a:solidFill>
                  <a:srgbClr val="FF0000"/>
                </a:solidFill>
              </a:rPr>
              <a:t>on customers </a:t>
            </a:r>
            <a:r>
              <a:rPr lang="en-US" sz="2400" b="1" dirty="0" err="1">
                <a:solidFill>
                  <a:srgbClr val="FF0000"/>
                </a:solidFill>
              </a:rPr>
              <a:t>QoS</a:t>
            </a:r>
            <a:r>
              <a:rPr lang="en-US" sz="2400" b="1" dirty="0">
                <a:solidFill>
                  <a:srgbClr val="FF0000"/>
                </a:solidFill>
              </a:rPr>
              <a:t> needs / cost budget</a:t>
            </a:r>
          </a:p>
          <a:p>
            <a:r>
              <a:rPr lang="en-US" sz="2400" b="1" dirty="0" err="1" smtClean="0">
                <a:solidFill>
                  <a:srgbClr val="FF0000"/>
                </a:solidFill>
              </a:rPr>
              <a:t>MetaCDN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provides this while hiding </a:t>
            </a:r>
            <a:r>
              <a:rPr lang="en-US" sz="2400" b="1" dirty="0" smtClean="0">
                <a:solidFill>
                  <a:srgbClr val="FF0000"/>
                </a:solidFill>
              </a:rPr>
              <a:t>the complexity </a:t>
            </a:r>
            <a:r>
              <a:rPr lang="en-US" sz="2400" b="1" dirty="0">
                <a:solidFill>
                  <a:srgbClr val="FF0000"/>
                </a:solidFill>
              </a:rPr>
              <a:t>from </a:t>
            </a:r>
            <a:r>
              <a:rPr lang="en-US" sz="2400" b="1" dirty="0" smtClean="0">
                <a:solidFill>
                  <a:srgbClr val="FF0000"/>
                </a:solidFill>
              </a:rPr>
              <a:t>users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F6706-B7C5-44A8-9DC2-8BCCB4B8A1E9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89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897753"/>
            <a:ext cx="8352928" cy="5824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67744" y="188640"/>
            <a:ext cx="3072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/>
              <a:t>MetaCDN</a:t>
            </a:r>
            <a:r>
              <a:rPr lang="en-IN" sz="2400" b="1" dirty="0" smtClean="0"/>
              <a:t> Architecture</a:t>
            </a:r>
            <a:endParaRPr lang="en-IN" sz="24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3E94-E494-4648-869F-03FA702814BE}" type="datetime1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526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996951"/>
            <a:ext cx="8352928" cy="3725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67744" y="188640"/>
            <a:ext cx="3072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/>
              <a:t>MetaCDN</a:t>
            </a:r>
            <a:r>
              <a:rPr lang="en-IN" sz="2400" b="1" dirty="0" smtClean="0"/>
              <a:t> Architecture</a:t>
            </a:r>
            <a:endParaRPr lang="en-IN" sz="24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5760" y="98072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The </a:t>
            </a:r>
            <a:r>
              <a:rPr lang="en-US" sz="2400" dirty="0" err="1" smtClean="0"/>
              <a:t>MetaCDN</a:t>
            </a:r>
            <a:r>
              <a:rPr lang="en-US" sz="2400" dirty="0" smtClean="0"/>
              <a:t> interface exposes its services through users and applications through the Web; </a:t>
            </a:r>
          </a:p>
          <a:p>
            <a:r>
              <a:rPr lang="en-US" sz="2400" b="1" dirty="0" smtClean="0"/>
              <a:t>users interact with a portal,  </a:t>
            </a:r>
          </a:p>
          <a:p>
            <a:r>
              <a:rPr lang="en-US" sz="2400" dirty="0" smtClean="0"/>
              <a:t>while </a:t>
            </a:r>
            <a:r>
              <a:rPr lang="en-US" sz="2400" b="1" dirty="0" smtClean="0"/>
              <a:t>applications take advantage of the Web services. </a:t>
            </a:r>
            <a:endParaRPr lang="en-US" sz="24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ECA00-164E-457C-8EBD-E1B6DC07002D}" type="datetime1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19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996951"/>
            <a:ext cx="8352928" cy="3725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67744" y="188640"/>
            <a:ext cx="3072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/>
              <a:t>MetaCDN</a:t>
            </a:r>
            <a:r>
              <a:rPr lang="en-IN" sz="2400" b="1" dirty="0" smtClean="0"/>
              <a:t> Architecture</a:t>
            </a:r>
            <a:endParaRPr lang="en-IN" sz="24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5760" y="98072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 portal constitutes a more intuitive interface for users with basic requirements,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Web service provides access to the full capabilities of </a:t>
            </a:r>
            <a:r>
              <a:rPr lang="en-US" sz="2400" dirty="0" err="1"/>
              <a:t>MetaCDN</a:t>
            </a:r>
            <a:r>
              <a:rPr lang="en-US" sz="2400" dirty="0"/>
              <a:t> and allows for more complex and sophisticated deployment.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2AB0B-F6DA-411A-B1E7-CE622608CA58}" type="datetime1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4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996951"/>
            <a:ext cx="8352928" cy="3725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67744" y="188640"/>
            <a:ext cx="3072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err="1" smtClean="0"/>
              <a:t>MetaCDN</a:t>
            </a:r>
            <a:r>
              <a:rPr lang="en-IN" sz="2400" b="1" dirty="0" smtClean="0"/>
              <a:t> Architecture</a:t>
            </a:r>
            <a:endParaRPr lang="en-IN" sz="24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5760" y="980728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The main operations of </a:t>
            </a:r>
            <a:r>
              <a:rPr lang="en-US" sz="2400" dirty="0" err="1" smtClean="0"/>
              <a:t>MetaCDN</a:t>
            </a:r>
            <a:r>
              <a:rPr lang="en-US" sz="2400" dirty="0" smtClean="0"/>
              <a:t> are the </a:t>
            </a:r>
            <a:r>
              <a:rPr lang="en-US" sz="2400" b="1" dirty="0" smtClean="0"/>
              <a:t>creation of deployments over storage clouds and their management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6F613-DE3C-45AD-8133-EC64653D4C4D}" type="datetime1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4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A99AD-9EC4-46B8-BCE1-78AA68A45874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22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5" b="44941"/>
          <a:stretch/>
        </p:blipFill>
        <p:spPr bwMode="auto">
          <a:xfrm>
            <a:off x="487016" y="384174"/>
            <a:ext cx="8189439" cy="5709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280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MetaCDN</a:t>
            </a:r>
            <a:r>
              <a:rPr lang="en-IN" dirty="0" smtClean="0"/>
              <a:t> deployment options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/>
              <a:t>In particular, four different deployment options can be selected:</a:t>
            </a:r>
          </a:p>
          <a:p>
            <a:r>
              <a:rPr lang="en-US" sz="2400" dirty="0"/>
              <a:t>Coverage and performance-optimized deployment.</a:t>
            </a:r>
          </a:p>
          <a:p>
            <a:r>
              <a:rPr lang="en-US" sz="2400" dirty="0" smtClean="0"/>
              <a:t>Direct </a:t>
            </a:r>
            <a:r>
              <a:rPr lang="en-US" sz="2400" dirty="0"/>
              <a:t>deployment.</a:t>
            </a:r>
          </a:p>
          <a:p>
            <a:r>
              <a:rPr lang="en-US" sz="2400" dirty="0" smtClean="0"/>
              <a:t>Cost-optimized </a:t>
            </a:r>
            <a:r>
              <a:rPr lang="en-US" sz="2400" dirty="0"/>
              <a:t>deployment.</a:t>
            </a:r>
          </a:p>
          <a:p>
            <a:r>
              <a:rPr lang="en-US" sz="2400" dirty="0" err="1" smtClean="0"/>
              <a:t>QoS</a:t>
            </a:r>
            <a:r>
              <a:rPr lang="en-US" sz="2400" dirty="0" smtClean="0"/>
              <a:t> </a:t>
            </a:r>
            <a:r>
              <a:rPr lang="en-US" sz="2400" dirty="0"/>
              <a:t>optimized deployment.</a:t>
            </a:r>
            <a:endParaRPr lang="en-IN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A99AD-9EC4-46B8-BCE1-78AA68A45874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02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MetaCDN</a:t>
            </a:r>
            <a:r>
              <a:rPr lang="en-IN" dirty="0" smtClean="0"/>
              <a:t> deployment options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/>
              <a:t>In particular, four different deployment options can be selected:</a:t>
            </a:r>
          </a:p>
          <a:p>
            <a:r>
              <a:rPr lang="en-IN" sz="2400" dirty="0" smtClean="0"/>
              <a:t>Coverage and performance-optimized deployment-</a:t>
            </a:r>
          </a:p>
          <a:p>
            <a:pPr lvl="1"/>
            <a:r>
              <a:rPr lang="en-IN" sz="2400" dirty="0" smtClean="0"/>
              <a:t>In this case </a:t>
            </a:r>
            <a:r>
              <a:rPr lang="en-IN" sz="2400" dirty="0" err="1" smtClean="0"/>
              <a:t>MetaCDN</a:t>
            </a:r>
            <a:r>
              <a:rPr lang="en-IN" sz="2400" dirty="0" smtClean="0"/>
              <a:t> </a:t>
            </a:r>
            <a:r>
              <a:rPr lang="en-IN" sz="2400" b="1" dirty="0" smtClean="0"/>
              <a:t>will deploy as many replicas as possible to all available locations</a:t>
            </a:r>
            <a:r>
              <a:rPr lang="en-IN" sz="2400" dirty="0" smtClean="0"/>
              <a:t>.</a:t>
            </a:r>
          </a:p>
          <a:p>
            <a:r>
              <a:rPr lang="en-IN" sz="2400" dirty="0" smtClean="0"/>
              <a:t>Direct deployment-</a:t>
            </a:r>
          </a:p>
          <a:p>
            <a:pPr lvl="1"/>
            <a:r>
              <a:rPr lang="en-IN" sz="2400" dirty="0" smtClean="0"/>
              <a:t>In this case </a:t>
            </a:r>
            <a:r>
              <a:rPr lang="en-IN" sz="2400" b="1" dirty="0" err="1" smtClean="0"/>
              <a:t>MetaCDN</a:t>
            </a:r>
            <a:r>
              <a:rPr lang="en-IN" sz="2400" b="1" dirty="0" smtClean="0"/>
              <a:t> allows the selection of the deployment regions for the content </a:t>
            </a:r>
            <a:r>
              <a:rPr lang="en-IN" sz="2400" dirty="0" smtClean="0"/>
              <a:t>and </a:t>
            </a:r>
            <a:r>
              <a:rPr lang="en-IN" sz="2400" b="1" dirty="0" smtClean="0"/>
              <a:t>will match the selected regions with the supported providers </a:t>
            </a:r>
            <a:r>
              <a:rPr lang="en-IN" sz="2400" dirty="0" smtClean="0"/>
              <a:t>serving those areas.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FD6-A3B6-4DC4-B5CE-810B73AA1C6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38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MetaCDN</a:t>
            </a:r>
            <a:r>
              <a:rPr lang="en-IN" dirty="0" smtClean="0"/>
              <a:t> deployment options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Cost-optimized deployment- </a:t>
            </a:r>
          </a:p>
          <a:p>
            <a:pPr lvl="1"/>
            <a:r>
              <a:rPr lang="en-IN" sz="2400" dirty="0" smtClean="0"/>
              <a:t>In this case </a:t>
            </a:r>
            <a:r>
              <a:rPr lang="en-IN" sz="2400" dirty="0" err="1" smtClean="0"/>
              <a:t>MetaCDN</a:t>
            </a:r>
            <a:r>
              <a:rPr lang="en-IN" sz="2400" dirty="0" smtClean="0"/>
              <a:t> deploys </a:t>
            </a:r>
            <a:r>
              <a:rPr lang="en-IN" sz="2400" b="1" dirty="0" smtClean="0"/>
              <a:t>as many replicas in the locations identified by the deployment request. The </a:t>
            </a:r>
            <a:r>
              <a:rPr lang="en-IN" sz="2400" dirty="0" smtClean="0"/>
              <a:t>available storage transfer allowance and </a:t>
            </a:r>
            <a:r>
              <a:rPr lang="en-IN" sz="2400" b="1" dirty="0" smtClean="0"/>
              <a:t>budget will be used to deploy the replicas and keep them active for as long as possible.</a:t>
            </a:r>
          </a:p>
          <a:p>
            <a:r>
              <a:rPr lang="en-IN" sz="2400" dirty="0" err="1" smtClean="0"/>
              <a:t>QoS</a:t>
            </a:r>
            <a:r>
              <a:rPr lang="en-IN" sz="2400" dirty="0" smtClean="0"/>
              <a:t> optimized deployment-</a:t>
            </a:r>
          </a:p>
          <a:p>
            <a:pPr lvl="1"/>
            <a:r>
              <a:rPr lang="en-IN" sz="2400" b="1" dirty="0" smtClean="0"/>
              <a:t>In this case </a:t>
            </a:r>
            <a:r>
              <a:rPr lang="en-IN" sz="2400" b="1" dirty="0" err="1" smtClean="0"/>
              <a:t>MetaCDN</a:t>
            </a:r>
            <a:r>
              <a:rPr lang="en-IN" sz="2400" b="1" dirty="0" smtClean="0"/>
              <a:t> selects the providers that can better match The </a:t>
            </a:r>
            <a:r>
              <a:rPr lang="en-IN" sz="2400" b="1" dirty="0" err="1" smtClean="0"/>
              <a:t>QoS</a:t>
            </a:r>
            <a:r>
              <a:rPr lang="en-IN" sz="2400" b="1" dirty="0" smtClean="0"/>
              <a:t> requirements attached to the deployment</a:t>
            </a:r>
            <a:r>
              <a:rPr lang="en-IN" sz="2400" dirty="0" smtClean="0"/>
              <a:t>, such as average response time and throughput from a particular location.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D234F-5517-494D-8295-6F31DB20119B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270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MetaCDN</a:t>
            </a:r>
            <a:r>
              <a:rPr lang="en-IN" dirty="0" smtClean="0"/>
              <a:t>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Of particular importance are three components:</a:t>
            </a:r>
          </a:p>
          <a:p>
            <a:pPr lvl="1"/>
            <a:r>
              <a:rPr lang="en-IN" sz="2400" dirty="0" smtClean="0"/>
              <a:t>the </a:t>
            </a:r>
            <a:r>
              <a:rPr lang="en-IN" sz="2400" dirty="0" err="1" smtClean="0"/>
              <a:t>MetaCDN</a:t>
            </a:r>
            <a:r>
              <a:rPr lang="en-IN" sz="2400" dirty="0" smtClean="0"/>
              <a:t> Manager, </a:t>
            </a:r>
          </a:p>
          <a:p>
            <a:pPr lvl="1"/>
            <a:r>
              <a:rPr lang="en-IN" sz="2400" dirty="0" smtClean="0"/>
              <a:t>the </a:t>
            </a:r>
            <a:r>
              <a:rPr lang="en-IN" sz="2400" dirty="0" err="1" smtClean="0"/>
              <a:t>MetaCDN</a:t>
            </a:r>
            <a:r>
              <a:rPr lang="en-IN" sz="2400" dirty="0" smtClean="0"/>
              <a:t> </a:t>
            </a:r>
            <a:r>
              <a:rPr lang="en-IN" sz="2400" dirty="0" err="1" smtClean="0"/>
              <a:t>QoS</a:t>
            </a:r>
            <a:r>
              <a:rPr lang="en-IN" sz="2400" dirty="0" smtClean="0"/>
              <a:t> Monitor, and</a:t>
            </a:r>
          </a:p>
          <a:p>
            <a:pPr lvl="1"/>
            <a:r>
              <a:rPr lang="en-IN" sz="2400" dirty="0" smtClean="0"/>
              <a:t>the Load Redirector.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E56D-802B-4D91-A406-7B5D9A90C709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07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MetaCDN</a:t>
            </a:r>
            <a:r>
              <a:rPr lang="en-IN" dirty="0" smtClean="0"/>
              <a:t>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The Manager is responsible for </a:t>
            </a:r>
            <a:r>
              <a:rPr lang="en-IN" sz="2400" b="1" dirty="0" smtClean="0"/>
              <a:t>ensuring that all the content deployments are meeting the expected </a:t>
            </a:r>
            <a:r>
              <a:rPr lang="en-IN" sz="2400" b="1" dirty="0" err="1" smtClean="0"/>
              <a:t>QoS</a:t>
            </a:r>
            <a:r>
              <a:rPr lang="en-IN" sz="2400" b="1" dirty="0" smtClean="0"/>
              <a:t>.</a:t>
            </a:r>
          </a:p>
          <a:p>
            <a:r>
              <a:rPr lang="en-IN" sz="2400" dirty="0" smtClean="0"/>
              <a:t>Manager is supported in this Activity by the Monitor, which constantly probes storage providers and </a:t>
            </a:r>
            <a:r>
              <a:rPr lang="en-IN" sz="2400" b="1" dirty="0" smtClean="0"/>
              <a:t>monitors data </a:t>
            </a:r>
            <a:r>
              <a:rPr lang="en-IN" sz="2400" dirty="0" smtClean="0"/>
              <a:t>transfers to </a:t>
            </a:r>
            <a:r>
              <a:rPr lang="en-IN" sz="2400" b="1" dirty="0" smtClean="0"/>
              <a:t>assess the performance of each provider.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4D81C-AE5F-4DC3-B140-B63F4ED75029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27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80927"/>
            <a:ext cx="8352928" cy="394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464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-12982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MetaCDN</a:t>
            </a:r>
            <a:r>
              <a:rPr lang="en-IN" dirty="0" smtClean="0"/>
              <a:t>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620688"/>
            <a:ext cx="8229600" cy="4525963"/>
          </a:xfrm>
        </p:spPr>
        <p:txBody>
          <a:bodyPr>
            <a:normAutofit/>
          </a:bodyPr>
          <a:lstStyle/>
          <a:p>
            <a:r>
              <a:rPr lang="en-IN" sz="2400" dirty="0" smtClean="0"/>
              <a:t>Content serving is controlled by the Load Redirector, Which is in-charge of </a:t>
            </a:r>
            <a:r>
              <a:rPr lang="en-IN" sz="2400" b="1" dirty="0" smtClean="0"/>
              <a:t>redirecting user content requests to the most suitable replica</a:t>
            </a:r>
            <a:r>
              <a:rPr lang="en-IN" sz="2400" dirty="0" smtClean="0"/>
              <a:t> given the condition of the systems and the options specified during the deployment.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276873"/>
            <a:ext cx="8352928" cy="4445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56A78-8C93-4FAE-AEC2-F756B3942CCC}" type="datetime1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44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864" y="116632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MetaCDN</a:t>
            </a:r>
            <a:r>
              <a:rPr lang="en-IN" dirty="0" smtClean="0"/>
              <a:t>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3969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Interactions </a:t>
            </a:r>
            <a:r>
              <a:rPr lang="en-US" sz="2400" b="1" dirty="0"/>
              <a:t>with </a:t>
            </a:r>
            <a:r>
              <a:rPr lang="en-US" sz="2400" b="1" dirty="0" smtClean="0"/>
              <a:t>storage clouds </a:t>
            </a:r>
            <a:r>
              <a:rPr lang="en-US" sz="2400" b="1" dirty="0"/>
              <a:t>are managed by means of connectors</a:t>
            </a:r>
            <a:r>
              <a:rPr lang="en-US" sz="2400" dirty="0"/>
              <a:t>, which </a:t>
            </a:r>
            <a:r>
              <a:rPr lang="en-US" sz="2400" b="1" dirty="0"/>
              <a:t>abstract away the different interfaces exposed by the providers and present a uniform interface </a:t>
            </a:r>
            <a:r>
              <a:rPr lang="en-US" sz="2400" dirty="0"/>
              <a:t>within the </a:t>
            </a:r>
            <a:r>
              <a:rPr lang="en-US" sz="2400" dirty="0" err="1"/>
              <a:t>MetaCDN</a:t>
            </a:r>
            <a:r>
              <a:rPr lang="en-US" sz="2400" dirty="0"/>
              <a:t> system. </a:t>
            </a:r>
            <a:endParaRPr lang="en-IN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276873"/>
            <a:ext cx="8352928" cy="4445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85E1E-F88D-4747-94E0-E6E44192AB21}" type="datetime1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33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</a:t>
            </a:r>
            <a:r>
              <a:rPr lang="en-IN" dirty="0" err="1"/>
              <a:t>MetaCDN</a:t>
            </a:r>
            <a:r>
              <a:rPr lang="en-IN" dirty="0"/>
              <a:t> works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68760"/>
            <a:ext cx="8229600" cy="4968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8ABC6-B377-46D3-A720-F40260D9B820}" type="datetime1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86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</a:t>
            </a:r>
            <a:r>
              <a:rPr lang="en-IN" dirty="0" err="1"/>
              <a:t>MetaCDN</a:t>
            </a:r>
            <a:r>
              <a:rPr lang="en-IN" dirty="0"/>
              <a:t>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" y="1567904"/>
            <a:ext cx="8674100" cy="45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8E278-E6B1-4446-9FAC-88B7EE468957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13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SpotCloud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SpotCloud</a:t>
            </a:r>
            <a:r>
              <a:rPr lang="en-US" sz="2400" dirty="0" smtClean="0"/>
              <a:t> </a:t>
            </a:r>
            <a:r>
              <a:rPr lang="en-US" sz="2400" dirty="0"/>
              <a:t>is an </a:t>
            </a:r>
            <a:r>
              <a:rPr lang="en-US" sz="2400" b="1" dirty="0"/>
              <a:t>online portal that implements a virtual marketplace,</a:t>
            </a:r>
            <a:r>
              <a:rPr lang="en-US" sz="2400" dirty="0"/>
              <a:t> </a:t>
            </a:r>
            <a:r>
              <a:rPr lang="en-US" sz="2400" b="1" dirty="0"/>
              <a:t>where sellers and buyers </a:t>
            </a:r>
            <a:r>
              <a:rPr lang="en-US" sz="2400" b="1" dirty="0" smtClean="0"/>
              <a:t>can register </a:t>
            </a:r>
            <a:r>
              <a:rPr lang="en-US" sz="2400" b="1" dirty="0"/>
              <a:t>and trade </a:t>
            </a:r>
            <a:r>
              <a:rPr lang="en-US" sz="2400" dirty="0"/>
              <a:t>cloud computing services.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platform is a </a:t>
            </a:r>
            <a:r>
              <a:rPr lang="en-US" sz="2400" b="1" dirty="0"/>
              <a:t>market place operating in the </a:t>
            </a:r>
            <a:r>
              <a:rPr lang="en-US" sz="2400" b="1" dirty="0" err="1" smtClean="0"/>
              <a:t>IaaS</a:t>
            </a:r>
            <a:r>
              <a:rPr lang="en-US" sz="2400" b="1" dirty="0" smtClean="0"/>
              <a:t> sector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Buyers </a:t>
            </a:r>
            <a:r>
              <a:rPr lang="en-US" sz="2400" dirty="0"/>
              <a:t>are looking for compute capacity that can meet the requirements of their </a:t>
            </a:r>
            <a:r>
              <a:rPr lang="en-US" sz="2400" dirty="0" smtClean="0"/>
              <a:t>applications</a:t>
            </a:r>
            <a:r>
              <a:rPr lang="en-US" sz="2400" dirty="0"/>
              <a:t>, while sellers can make available their infrastructure to serve </a:t>
            </a:r>
            <a:r>
              <a:rPr lang="en-US" sz="2400" dirty="0" smtClean="0"/>
              <a:t>buyers</a:t>
            </a:r>
            <a:endParaRPr lang="en-IN" sz="2400" b="1" dirty="0" smtClean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5BA5B-6942-45A6-8394-1D6A418B9DA6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82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SpotCloud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 err="1"/>
              <a:t>SpotCloud</a:t>
            </a:r>
            <a:r>
              <a:rPr lang="en-US" sz="2400" dirty="0"/>
              <a:t> provides a comprehensive set of features that are expected for a virtual marketplace.</a:t>
            </a:r>
          </a:p>
          <a:p>
            <a:r>
              <a:rPr lang="en-US" sz="2400" dirty="0"/>
              <a:t>Some of them include:</a:t>
            </a:r>
          </a:p>
          <a:p>
            <a:pPr lvl="1"/>
            <a:r>
              <a:rPr lang="en-US" sz="2400" dirty="0" smtClean="0"/>
              <a:t>Detailed </a:t>
            </a:r>
            <a:r>
              <a:rPr lang="en-US" sz="2400" dirty="0"/>
              <a:t>logging of all the buyers’ transactions</a:t>
            </a:r>
          </a:p>
          <a:p>
            <a:pPr lvl="1"/>
            <a:r>
              <a:rPr lang="en-US" sz="2400" dirty="0" smtClean="0"/>
              <a:t>Full </a:t>
            </a:r>
            <a:r>
              <a:rPr lang="en-US" sz="2400" dirty="0"/>
              <a:t>metering, billing for any capacity</a:t>
            </a:r>
          </a:p>
          <a:p>
            <a:pPr lvl="1"/>
            <a:r>
              <a:rPr lang="en-US" sz="2400" dirty="0" smtClean="0"/>
              <a:t>Full </a:t>
            </a:r>
            <a:r>
              <a:rPr lang="en-US" sz="2400" dirty="0"/>
              <a:t>control over pricing and availability of capacity in the market</a:t>
            </a:r>
          </a:p>
          <a:p>
            <a:pPr lvl="1"/>
            <a:r>
              <a:rPr lang="en-US" sz="2400" dirty="0" smtClean="0"/>
              <a:t>Management </a:t>
            </a:r>
            <a:r>
              <a:rPr lang="en-US" sz="2400" dirty="0"/>
              <a:t>of quotas and utilization levels for providers</a:t>
            </a:r>
          </a:p>
          <a:p>
            <a:pPr lvl="1"/>
            <a:r>
              <a:rPr lang="en-US" sz="2400" dirty="0" smtClean="0"/>
              <a:t>Federation </a:t>
            </a:r>
            <a:r>
              <a:rPr lang="en-US" sz="2400" dirty="0"/>
              <a:t>management (many providers, many customers, but one platform)</a:t>
            </a:r>
          </a:p>
          <a:p>
            <a:pPr lvl="1"/>
            <a:r>
              <a:rPr lang="en-US" sz="2400" dirty="0" smtClean="0"/>
              <a:t>Hybrid </a:t>
            </a:r>
            <a:r>
              <a:rPr lang="en-US" sz="2400" dirty="0"/>
              <a:t>cloud support (internal and external resource management)</a:t>
            </a:r>
          </a:p>
          <a:p>
            <a:pPr lvl="1"/>
            <a:r>
              <a:rPr lang="en-US" sz="2400" dirty="0" smtClean="0"/>
              <a:t>Full </a:t>
            </a:r>
            <a:r>
              <a:rPr lang="en-US" sz="2400" dirty="0"/>
              <a:t>market administration and reporting</a:t>
            </a:r>
          </a:p>
          <a:p>
            <a:pPr lvl="1"/>
            <a:r>
              <a:rPr lang="en-US" sz="2400" dirty="0" smtClean="0"/>
              <a:t>Applications </a:t>
            </a:r>
            <a:r>
              <a:rPr lang="en-US" sz="2400" dirty="0"/>
              <a:t>and pre-build appliances directories</a:t>
            </a:r>
            <a:endParaRPr lang="en-IN" sz="2400" b="1" dirty="0" smtClean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5BA5B-6942-45A6-8394-1D6A418B9DA6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03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5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SpotCloud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r>
              <a:rPr lang="en-US" sz="2400" dirty="0"/>
              <a:t>By acting as an </a:t>
            </a:r>
            <a:r>
              <a:rPr lang="en-US" sz="2400" b="1" dirty="0"/>
              <a:t>intermediary for trading compute and storage </a:t>
            </a:r>
            <a:r>
              <a:rPr lang="en-US" sz="2400" dirty="0"/>
              <a:t>between consumers and service providers, it provides the two parties with added value. </a:t>
            </a: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00808"/>
            <a:ext cx="8064896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0F693-5B33-460D-AF7D-28497502565F}" type="datetime1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39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SpotCloud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 addition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FF0000"/>
                </a:solidFill>
              </a:rPr>
              <a:t>it allows users with available computing capacity to easily turn themselves into service </a:t>
            </a:r>
            <a:r>
              <a:rPr lang="en-US" sz="2400" b="1" dirty="0" smtClean="0">
                <a:solidFill>
                  <a:srgbClr val="FF0000"/>
                </a:solidFill>
              </a:rPr>
              <a:t>providers </a:t>
            </a:r>
            <a:r>
              <a:rPr lang="en-US" sz="2400" b="1" dirty="0">
                <a:solidFill>
                  <a:srgbClr val="FF0000"/>
                </a:solidFill>
              </a:rPr>
              <a:t>by deploying the runtime environment required by </a:t>
            </a:r>
            <a:r>
              <a:rPr lang="en-US" sz="2400" b="1" dirty="0" err="1">
                <a:solidFill>
                  <a:srgbClr val="FF0000"/>
                </a:solidFill>
              </a:rPr>
              <a:t>SpotCloud</a:t>
            </a:r>
            <a:r>
              <a:rPr lang="en-US" sz="2400" b="1" dirty="0">
                <a:solidFill>
                  <a:srgbClr val="FF0000"/>
                </a:solidFill>
              </a:rPr>
              <a:t> on their infrastructure </a:t>
            </a:r>
            <a:endParaRPr lang="en-IN" sz="2400" b="1" dirty="0" smtClean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5BA5B-6942-45A6-8394-1D6A418B9DA6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58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5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SpotCloud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For </a:t>
            </a:r>
            <a:r>
              <a:rPr lang="en-US" sz="2400" b="1" dirty="0"/>
              <a:t>service consumers, it acts as a market directory where they can browse and compare different </a:t>
            </a:r>
            <a:r>
              <a:rPr lang="en-US" sz="2400" b="1" dirty="0" err="1"/>
              <a:t>IaaS</a:t>
            </a:r>
            <a:r>
              <a:rPr lang="en-US" sz="2400" b="1" dirty="0"/>
              <a:t> service </a:t>
            </a:r>
            <a:r>
              <a:rPr lang="en-US" sz="2400" dirty="0"/>
              <a:t>offerings and select the most appropriate solution for them. </a:t>
            </a:r>
            <a:endParaRPr lang="en-US" sz="2400" dirty="0" smtClean="0"/>
          </a:p>
          <a:p>
            <a:r>
              <a:rPr lang="en-US" sz="2400" b="1" dirty="0" smtClean="0"/>
              <a:t>For </a:t>
            </a:r>
            <a:r>
              <a:rPr lang="en-US" sz="2400" b="1" dirty="0"/>
              <a:t>service providers it constitutes an opportunity for advertising their offerings. </a:t>
            </a:r>
            <a:endParaRPr lang="en-US" sz="2400" b="1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80928"/>
            <a:ext cx="7272213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9D64F-7B6C-49B0-A8F7-0554B978E817}" type="datetime1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SpotCloud</a:t>
            </a:r>
            <a:r>
              <a:rPr lang="en-US" b="1" dirty="0"/>
              <a:t>, the First Clearinghouse at Marketplace for Cloud Computing Services, Launched by </a:t>
            </a:r>
            <a:r>
              <a:rPr lang="en-US" b="1" dirty="0" err="1" smtClean="0"/>
              <a:t>Enomaly</a:t>
            </a: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??</a:t>
            </a:r>
            <a:endParaRPr lang="en-US" b="1" dirty="0"/>
          </a:p>
          <a:p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9423F-E384-49F2-8013-ED2F4674178E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43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Spotcloud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For cloud service providers</a:t>
            </a:r>
            <a:r>
              <a:rPr lang="en-US" sz="2400" dirty="0" smtClean="0"/>
              <a:t>, the </a:t>
            </a:r>
            <a:r>
              <a:rPr lang="en-US" sz="2400" dirty="0" err="1" smtClean="0"/>
              <a:t>SpotCloud</a:t>
            </a:r>
            <a:r>
              <a:rPr lang="en-US" sz="2400" dirty="0" smtClean="0"/>
              <a:t> marketplace platform provides </a:t>
            </a:r>
            <a:r>
              <a:rPr lang="en-US" sz="2400" b="1" dirty="0" smtClean="0">
                <a:solidFill>
                  <a:srgbClr val="FF0000"/>
                </a:solidFill>
              </a:rPr>
              <a:t>an easy way to sell unused cloud capacity. </a:t>
            </a:r>
          </a:p>
          <a:p>
            <a:r>
              <a:rPr lang="en-US" sz="2400" dirty="0" smtClean="0"/>
              <a:t>Cloud providers can use </a:t>
            </a:r>
            <a:r>
              <a:rPr lang="en-US" sz="2400" dirty="0" err="1" smtClean="0"/>
              <a:t>SpotCloud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FF0000"/>
                </a:solidFill>
              </a:rPr>
              <a:t>to clear out unused capacity and sell computing inventory that would otherwise go unsold, </a:t>
            </a:r>
            <a:r>
              <a:rPr lang="en-US" sz="2400" dirty="0" smtClean="0"/>
              <a:t>enabling </a:t>
            </a:r>
            <a:r>
              <a:rPr lang="en-US" sz="2400" b="1" dirty="0" smtClean="0">
                <a:solidFill>
                  <a:srgbClr val="FF0000"/>
                </a:solidFill>
              </a:rPr>
              <a:t>increased utilization and revenue, without undermining </a:t>
            </a:r>
            <a:r>
              <a:rPr lang="en-US" sz="2400" b="1" dirty="0">
                <a:solidFill>
                  <a:srgbClr val="FF0000"/>
                </a:solidFill>
              </a:rPr>
              <a:t>their standard pricing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700C4-BB5B-40AF-BC98-77E7617E1896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64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571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SpotCloud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2696"/>
            <a:ext cx="8229600" cy="5433467"/>
          </a:xfrm>
        </p:spPr>
        <p:txBody>
          <a:bodyPr>
            <a:normAutofit/>
          </a:bodyPr>
          <a:lstStyle/>
          <a:p>
            <a:r>
              <a:rPr lang="en-US" sz="2400" dirty="0" err="1"/>
              <a:t>SpotCloud</a:t>
            </a:r>
            <a:r>
              <a:rPr lang="en-US" sz="2400" dirty="0"/>
              <a:t> is not only an enabler for </a:t>
            </a:r>
            <a:r>
              <a:rPr lang="en-US" sz="2400" dirty="0" err="1"/>
              <a:t>IaaS</a:t>
            </a:r>
            <a:r>
              <a:rPr lang="en-US" sz="2400" dirty="0"/>
              <a:t> providers and resellers, </a:t>
            </a:r>
            <a:endParaRPr lang="en-US" sz="2400" dirty="0" smtClean="0"/>
          </a:p>
          <a:p>
            <a:r>
              <a:rPr lang="en-US" sz="2400" b="1" dirty="0" smtClean="0"/>
              <a:t>Also </a:t>
            </a:r>
            <a:r>
              <a:rPr lang="en-US" sz="2400" b="1" dirty="0"/>
              <a:t>includes a complete bookkeeping of the transactions associated with the use of resources. </a:t>
            </a:r>
            <a:endParaRPr lang="en-US" sz="2400" b="1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348880"/>
            <a:ext cx="7272213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2253-5BA1-4723-9039-9586C6676AA4}" type="datetime1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08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 err="1" smtClean="0"/>
              <a:t>SpotCloud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Users </a:t>
            </a:r>
            <a:r>
              <a:rPr lang="en-US" sz="2400" b="1" dirty="0"/>
              <a:t>deposit credit on their </a:t>
            </a:r>
            <a:r>
              <a:rPr lang="en-US" sz="2400" b="1" dirty="0" err="1"/>
              <a:t>SpotCloud</a:t>
            </a:r>
            <a:r>
              <a:rPr lang="en-US" sz="2400" b="1" dirty="0"/>
              <a:t> account and capacity sellers are paid following the usual pay- per-use model. </a:t>
            </a:r>
            <a:endParaRPr lang="en-US" sz="2400" b="1" dirty="0" smtClean="0"/>
          </a:p>
          <a:p>
            <a:r>
              <a:rPr lang="en-US" sz="2400" dirty="0" err="1" smtClean="0"/>
              <a:t>SpotCloud</a:t>
            </a:r>
            <a:r>
              <a:rPr lang="en-US" sz="2400" dirty="0" smtClean="0"/>
              <a:t> </a:t>
            </a:r>
            <a:r>
              <a:rPr lang="en-US" sz="2400" b="1" dirty="0"/>
              <a:t>retains a percentage of the amount billed to the user. </a:t>
            </a:r>
            <a:endParaRPr lang="en-US" sz="2400" b="1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060848"/>
            <a:ext cx="7272213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8D0D-BEB1-44FD-B452-4482C6AD8DF6}" type="datetime1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0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SpotCloud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Moreover</a:t>
            </a:r>
            <a:r>
              <a:rPr lang="en-US" sz="2400" dirty="0"/>
              <a:t>, by leveraging a </a:t>
            </a:r>
            <a:r>
              <a:rPr lang="en-US" sz="2400" b="1" dirty="0"/>
              <a:t>uniform runtime environment and virtual machine management layer, it provides users with a vendor lock-in-free solution,</a:t>
            </a:r>
            <a:r>
              <a:rPr lang="en-US" sz="2400" dirty="0"/>
              <a:t> which might be strategic for specific applications.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275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Federated Clouds/</a:t>
            </a:r>
            <a:r>
              <a:rPr lang="en-IN" dirty="0" err="1" smtClean="0"/>
              <a:t>Intercloud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These are enablers for MOCC since they provide </a:t>
            </a:r>
            <a:r>
              <a:rPr lang="en-US" sz="2400" b="1" dirty="0"/>
              <a:t>means for interoperation among different cloud providers. </a:t>
            </a:r>
            <a:endParaRPr lang="en-US" sz="2400" b="1" dirty="0" smtClean="0"/>
          </a:p>
          <a:p>
            <a:r>
              <a:rPr lang="en-US" sz="2400" b="1" dirty="0" smtClean="0"/>
              <a:t>Building aggregations of clouds that belong to different administrative domains.</a:t>
            </a: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30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Federated Clouds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Federation 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Creation of an organization that supersedes the decisional and </a:t>
            </a:r>
            <a:r>
              <a:rPr lang="en-US" sz="2400" b="1" dirty="0">
                <a:solidFill>
                  <a:srgbClr val="FF0000"/>
                </a:solidFill>
              </a:rPr>
              <a:t>administrative power</a:t>
            </a:r>
            <a:r>
              <a:rPr lang="en-US" sz="2400" dirty="0"/>
              <a:t> of the single entities and that acts as a </a:t>
            </a:r>
            <a:r>
              <a:rPr lang="en-US" sz="2400" dirty="0" smtClean="0"/>
              <a:t>whole.</a:t>
            </a:r>
          </a:p>
          <a:p>
            <a:endParaRPr lang="en-US" sz="2400" b="1" dirty="0"/>
          </a:p>
          <a:p>
            <a:r>
              <a:rPr lang="en-IN" sz="2400" dirty="0"/>
              <a:t>Within </a:t>
            </a:r>
            <a:r>
              <a:rPr lang="en-IN" sz="2400" dirty="0" smtClean="0"/>
              <a:t>a cloud computing context</a:t>
            </a:r>
            <a:r>
              <a:rPr lang="en-IN" sz="2400" dirty="0"/>
              <a:t>, </a:t>
            </a:r>
            <a:r>
              <a:rPr lang="en-IN" sz="2400" b="1" dirty="0" smtClean="0">
                <a:solidFill>
                  <a:srgbClr val="FF0000"/>
                </a:solidFill>
              </a:rPr>
              <a:t>the word </a:t>
            </a:r>
            <a:r>
              <a:rPr lang="en-IN" sz="2400" b="1" dirty="0">
                <a:solidFill>
                  <a:srgbClr val="FF0000"/>
                </a:solidFill>
              </a:rPr>
              <a:t>federation </a:t>
            </a:r>
            <a:r>
              <a:rPr lang="en-IN" sz="2400" b="1" dirty="0" smtClean="0">
                <a:solidFill>
                  <a:srgbClr val="FF0000"/>
                </a:solidFill>
              </a:rPr>
              <a:t>implies that there are agreements between the various cloud providers</a:t>
            </a:r>
            <a:r>
              <a:rPr lang="en-IN" sz="2400" dirty="0" smtClean="0"/>
              <a:t>, allowing them to leverage each other’s services in a privileged manner</a:t>
            </a:r>
            <a:r>
              <a:rPr lang="en-IN" sz="2400" dirty="0"/>
              <a:t>.</a:t>
            </a: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47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Federated Clouds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Definition:-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“Cloud </a:t>
            </a:r>
            <a:r>
              <a:rPr lang="en-US" sz="2400" b="1" dirty="0">
                <a:solidFill>
                  <a:srgbClr val="FF0000"/>
                </a:solidFill>
              </a:rPr>
              <a:t>federation manages consistency and access controls when two or more independent </a:t>
            </a:r>
            <a:r>
              <a:rPr lang="en-US" sz="2400" b="1" dirty="0" smtClean="0">
                <a:solidFill>
                  <a:srgbClr val="FF0000"/>
                </a:solidFill>
              </a:rPr>
              <a:t>geographically </a:t>
            </a:r>
            <a:r>
              <a:rPr lang="en-US" sz="2400" b="1" dirty="0">
                <a:solidFill>
                  <a:srgbClr val="FF0000"/>
                </a:solidFill>
              </a:rPr>
              <a:t>distinct Clouds share either authentication, files, computing resources, command and control or access to storage </a:t>
            </a:r>
            <a:r>
              <a:rPr lang="en-US" sz="2400" b="1" dirty="0" smtClean="0">
                <a:solidFill>
                  <a:srgbClr val="FF0000"/>
                </a:solidFill>
              </a:rPr>
              <a:t>resources”</a:t>
            </a:r>
            <a:endParaRPr lang="en-IN" sz="2400" b="1" dirty="0" smtClean="0">
              <a:solidFill>
                <a:srgbClr val="FF0000"/>
              </a:solidFill>
            </a:endParaRPr>
          </a:p>
          <a:p>
            <a:pPr marL="0" indent="0" algn="r">
              <a:buNone/>
            </a:pPr>
            <a:r>
              <a:rPr lang="en-IN" sz="2400" dirty="0"/>
              <a:t>-</a:t>
            </a:r>
            <a:r>
              <a:rPr lang="en-IN" sz="2400" dirty="0" smtClean="0"/>
              <a:t>By </a:t>
            </a:r>
            <a:r>
              <a:rPr lang="en-IN" sz="2400" dirty="0" err="1" smtClean="0"/>
              <a:t>Reuven</a:t>
            </a:r>
            <a:r>
              <a:rPr lang="en-IN" sz="2400" dirty="0" smtClean="0"/>
              <a:t> Cohen, founder </a:t>
            </a:r>
            <a:r>
              <a:rPr lang="en-IN" sz="2400" dirty="0"/>
              <a:t>and </a:t>
            </a:r>
            <a:r>
              <a:rPr lang="en-IN" sz="2400" dirty="0" smtClean="0"/>
              <a:t>CTO of </a:t>
            </a:r>
            <a:r>
              <a:rPr lang="en-IN" sz="2400" dirty="0" err="1" smtClean="0"/>
              <a:t>Enomaly</a:t>
            </a:r>
            <a:r>
              <a:rPr lang="en-IN" sz="2400" dirty="0" smtClean="0"/>
              <a:t> Inc. </a:t>
            </a: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56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for cloud federations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Even though the concept of cloud federation or the </a:t>
            </a:r>
            <a:r>
              <a:rPr lang="en-US" sz="2400" b="1" dirty="0" err="1" smtClean="0"/>
              <a:t>InterCloud</a:t>
            </a:r>
            <a:r>
              <a:rPr lang="en-US" sz="2400" b="1" dirty="0" smtClean="0"/>
              <a:t> is still immature</a:t>
            </a:r>
            <a:r>
              <a:rPr lang="en-US" sz="2400" dirty="0" smtClean="0"/>
              <a:t>, </a:t>
            </a:r>
            <a:r>
              <a:rPr lang="en-US" sz="2400" dirty="0"/>
              <a:t>there are some supporting technologies that enable the deployment of interoperable </a:t>
            </a:r>
            <a:r>
              <a:rPr lang="en-US" sz="2400" dirty="0" smtClean="0"/>
              <a:t>clouds:-</a:t>
            </a:r>
          </a:p>
          <a:p>
            <a:r>
              <a:rPr lang="en-IN" sz="2400" dirty="0" smtClean="0"/>
              <a:t>RESERVOIR</a:t>
            </a:r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76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RESERVOIR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Resources and Services Virtualization Without Barriers</a:t>
            </a:r>
            <a:r>
              <a:rPr lang="en-US" sz="2400" b="1" dirty="0"/>
              <a:t>, or </a:t>
            </a:r>
            <a:r>
              <a:rPr lang="en-US" sz="2400" b="1" dirty="0" smtClean="0"/>
              <a:t>RESERVOIR</a:t>
            </a:r>
          </a:p>
          <a:p>
            <a:r>
              <a:rPr lang="en-US" sz="2400" dirty="0" smtClean="0"/>
              <a:t>A </a:t>
            </a:r>
            <a:r>
              <a:rPr lang="en-US" sz="2400" dirty="0"/>
              <a:t>European research project focused on developing an architecture that supports </a:t>
            </a:r>
            <a:r>
              <a:rPr lang="en-US" sz="2400" b="1" dirty="0">
                <a:solidFill>
                  <a:srgbClr val="FF0000"/>
                </a:solidFill>
              </a:rPr>
              <a:t>providers of cloud </a:t>
            </a:r>
            <a:r>
              <a:rPr lang="en-US" sz="2400" b="1" dirty="0" smtClean="0">
                <a:solidFill>
                  <a:srgbClr val="FF0000"/>
                </a:solidFill>
              </a:rPr>
              <a:t>infrastructures </a:t>
            </a:r>
            <a:r>
              <a:rPr lang="en-US" sz="2400" b="1" dirty="0">
                <a:solidFill>
                  <a:srgbClr val="FF0000"/>
                </a:solidFill>
              </a:rPr>
              <a:t>to dynamically partner with each other to extend their capabilities while preserving their administrative autonomy.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283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RESERVOIR Architecture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47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09572"/>
            <a:ext cx="7704856" cy="5627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448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RESERVOIR Architecture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48</a:t>
            </a:fld>
            <a:endParaRPr lang="en-IN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7504" y="404664"/>
            <a:ext cx="4176464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 smtClean="0"/>
              <a:t>Service </a:t>
            </a:r>
            <a:r>
              <a:rPr lang="en-IN" sz="2400" b="1" dirty="0"/>
              <a:t>Manager </a:t>
            </a:r>
            <a:r>
              <a:rPr lang="en-IN" sz="2400" b="1" dirty="0" smtClean="0"/>
              <a:t>–</a:t>
            </a:r>
          </a:p>
          <a:p>
            <a:r>
              <a:rPr lang="en-IN" sz="2400" b="1" dirty="0" smtClean="0">
                <a:solidFill>
                  <a:srgbClr val="FF0000"/>
                </a:solidFill>
              </a:rPr>
              <a:t>Constitutes </a:t>
            </a:r>
            <a:r>
              <a:rPr lang="en-IN" sz="2400" b="1" dirty="0">
                <a:solidFill>
                  <a:srgbClr val="FF0000"/>
                </a:solidFill>
              </a:rPr>
              <a:t>the front-end used by </a:t>
            </a:r>
            <a:r>
              <a:rPr lang="en-IN" sz="2400" b="1" dirty="0" smtClean="0">
                <a:solidFill>
                  <a:srgbClr val="FF0000"/>
                </a:solidFill>
              </a:rPr>
              <a:t>service </a:t>
            </a:r>
            <a:r>
              <a:rPr lang="en-IN" sz="2400" b="1" dirty="0">
                <a:solidFill>
                  <a:srgbClr val="FF0000"/>
                </a:solidFill>
              </a:rPr>
              <a:t>providers to submit service </a:t>
            </a:r>
            <a:r>
              <a:rPr lang="en-IN" sz="2400" dirty="0"/>
              <a:t>manifests, negotiate pricing, and </a:t>
            </a:r>
            <a:r>
              <a:rPr lang="en-IN" sz="2400" dirty="0" smtClean="0"/>
              <a:t>monitor </a:t>
            </a:r>
            <a:r>
              <a:rPr lang="en-US" sz="2400" dirty="0"/>
              <a:t>applications.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This </a:t>
            </a:r>
            <a:r>
              <a:rPr lang="en-US" sz="2400" b="1" dirty="0">
                <a:solidFill>
                  <a:srgbClr val="FF0000"/>
                </a:solidFill>
              </a:rPr>
              <a:t>component deploys and provisions VEEs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according to the service manifest and </a:t>
            </a:r>
            <a:r>
              <a:rPr lang="en-US" sz="2400" b="1" dirty="0">
                <a:solidFill>
                  <a:srgbClr val="FF0000"/>
                </a:solidFill>
              </a:rPr>
              <a:t>monitors and enforces SLA compliance by controlling the capacity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of a service application. 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456" y="692696"/>
            <a:ext cx="4896544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403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RESERVOIR Architecture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49</a:t>
            </a:fld>
            <a:endParaRPr lang="en-IN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51520" y="548680"/>
            <a:ext cx="4176464" cy="5904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Virtual </a:t>
            </a:r>
            <a:r>
              <a:rPr lang="en-IN" sz="2400" b="1" dirty="0"/>
              <a:t>Execution Environment (VEE) Manager –</a:t>
            </a:r>
          </a:p>
          <a:p>
            <a:r>
              <a:rPr lang="en-US" sz="2400" dirty="0" smtClean="0"/>
              <a:t>Core </a:t>
            </a:r>
            <a:r>
              <a:rPr lang="en-US" sz="2400" dirty="0"/>
              <a:t>of the RESERVOIR </a:t>
            </a:r>
            <a:r>
              <a:rPr lang="en-US" sz="2400" dirty="0" smtClean="0"/>
              <a:t>middleware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is </a:t>
            </a:r>
            <a:r>
              <a:rPr lang="en-US" sz="2400" b="1" dirty="0">
                <a:solidFill>
                  <a:srgbClr val="FF0000"/>
                </a:solidFill>
              </a:rPr>
              <a:t>responsible for the optimal placement of VEEs into VEE hosts according to the constraints expressed by the Service Manager.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456" y="1412776"/>
            <a:ext cx="4896544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600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RESERVOIR Architecture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50</a:t>
            </a:fld>
            <a:endParaRPr lang="en-IN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51520" y="548680"/>
            <a:ext cx="4104456" cy="59046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Virtual </a:t>
            </a:r>
            <a:r>
              <a:rPr lang="en-IN" sz="2400" b="1" dirty="0"/>
              <a:t>Execution Environment (VEE) Manager –</a:t>
            </a:r>
          </a:p>
          <a:p>
            <a:r>
              <a:rPr lang="en-US" sz="2400" dirty="0" smtClean="0"/>
              <a:t>Moreover</a:t>
            </a:r>
            <a:r>
              <a:rPr lang="en-US" sz="2400" dirty="0"/>
              <a:t>, the VEE Manager </a:t>
            </a:r>
            <a:r>
              <a:rPr lang="en-US" sz="2400" b="1" dirty="0">
                <a:solidFill>
                  <a:srgbClr val="FF0000"/>
                </a:solidFill>
              </a:rPr>
              <a:t>also interacts with VEE Managers in other sites to provision additional instances for the execution of service applications or move VEEs to other sites in case of overload.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This </a:t>
            </a:r>
            <a:r>
              <a:rPr lang="en-US" sz="2400" dirty="0"/>
              <a:t>component </a:t>
            </a:r>
            <a:r>
              <a:rPr lang="en-US" sz="2400" b="1" dirty="0">
                <a:solidFill>
                  <a:srgbClr val="FF0000"/>
                </a:solidFill>
              </a:rPr>
              <a:t>realizes the cloud federation.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456" y="1412776"/>
            <a:ext cx="4896544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9609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RESERVOIR Architecture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51</a:t>
            </a:fld>
            <a:endParaRPr lang="en-IN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3816424" cy="50300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VEE Host(VEEH</a:t>
            </a:r>
            <a:r>
              <a:rPr lang="en-IN" sz="2400" b="1" dirty="0" smtClean="0"/>
              <a:t>) –</a:t>
            </a:r>
          </a:p>
          <a:p>
            <a:r>
              <a:rPr lang="en-US" sz="2400" dirty="0" smtClean="0"/>
              <a:t>Interacts </a:t>
            </a:r>
            <a:r>
              <a:rPr lang="en-US" sz="2400" dirty="0"/>
              <a:t>with the VEE Manager to </a:t>
            </a:r>
            <a:r>
              <a:rPr lang="en-US" sz="2400" b="1" dirty="0">
                <a:solidFill>
                  <a:srgbClr val="FF0000"/>
                </a:solidFill>
              </a:rPr>
              <a:t>put into practice the IT management decisions regarding heterogeneous sets of </a:t>
            </a:r>
            <a:r>
              <a:rPr lang="en-US" sz="2400" b="1" dirty="0" smtClean="0">
                <a:solidFill>
                  <a:srgbClr val="FF0000"/>
                </a:solidFill>
              </a:rPr>
              <a:t>virtualization </a:t>
            </a:r>
            <a:r>
              <a:rPr lang="en-US" sz="2400" b="1" dirty="0">
                <a:solidFill>
                  <a:srgbClr val="FF0000"/>
                </a:solidFill>
              </a:rPr>
              <a:t>platforms.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Ensures </a:t>
            </a:r>
            <a:r>
              <a:rPr lang="en-US" sz="2400" b="1" dirty="0" smtClean="0">
                <a:solidFill>
                  <a:srgbClr val="FF0000"/>
                </a:solidFill>
              </a:rPr>
              <a:t>networking </a:t>
            </a:r>
            <a:r>
              <a:rPr lang="en-US" sz="2400" b="1" dirty="0">
                <a:solidFill>
                  <a:srgbClr val="FF0000"/>
                </a:solidFill>
              </a:rPr>
              <a:t>among VEEs that belong to the same application </a:t>
            </a:r>
          </a:p>
          <a:p>
            <a:endParaRPr lang="en-US" sz="2400" dirty="0" smtClean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456" y="1412776"/>
            <a:ext cx="4896544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600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RESERVOIR Architecture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52</a:t>
            </a:fld>
            <a:endParaRPr lang="en-IN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3816424" cy="50300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600" b="1" dirty="0"/>
              <a:t>VEE Host(VEEH</a:t>
            </a:r>
            <a:r>
              <a:rPr lang="en-IN" sz="2600" b="1" dirty="0" smtClean="0"/>
              <a:t>) –</a:t>
            </a:r>
          </a:p>
          <a:p>
            <a:r>
              <a:rPr lang="en-US" sz="2600" dirty="0" smtClean="0"/>
              <a:t>The </a:t>
            </a:r>
            <a:r>
              <a:rPr lang="en-US" sz="2600" dirty="0"/>
              <a:t>VEEH </a:t>
            </a:r>
            <a:r>
              <a:rPr lang="en-US" sz="2600" b="1" dirty="0">
                <a:solidFill>
                  <a:srgbClr val="FF0000"/>
                </a:solidFill>
              </a:rPr>
              <a:t>encapsulates all platform-specific management </a:t>
            </a:r>
            <a:r>
              <a:rPr lang="en-US" sz="2600" dirty="0"/>
              <a:t>that is required to expose the used virtualization technology </a:t>
            </a:r>
            <a:r>
              <a:rPr lang="en-US" sz="2600" b="1" dirty="0">
                <a:solidFill>
                  <a:srgbClr val="FF0000"/>
                </a:solidFill>
              </a:rPr>
              <a:t>through a standardized interface to the VEE Manager. 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456" y="1412776"/>
            <a:ext cx="4896544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89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RESERVOIR Cloud deployment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1942"/>
            <a:ext cx="8229600" cy="5030019"/>
          </a:xfrm>
        </p:spPr>
        <p:txBody>
          <a:bodyPr>
            <a:normAutofit/>
          </a:bodyPr>
          <a:lstStyle/>
          <a:p>
            <a:r>
              <a:rPr lang="en-US" sz="2400" dirty="0"/>
              <a:t>The framework defines an infrastructure overlay that spans multiple administrative domains and different geographic locations. 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Each </a:t>
            </a:r>
            <a:r>
              <a:rPr lang="en-US" sz="2400" b="1" dirty="0">
                <a:solidFill>
                  <a:srgbClr val="FF0000"/>
                </a:solidFill>
              </a:rPr>
              <a:t>site runs the RESERVOIR software </a:t>
            </a:r>
            <a:r>
              <a:rPr lang="en-US" sz="2400" b="1" dirty="0" smtClean="0">
                <a:solidFill>
                  <a:srgbClr val="FF0000"/>
                </a:solidFill>
              </a:rPr>
              <a:t>stack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53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0" y="2420888"/>
            <a:ext cx="6903854" cy="4087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687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RESERVOIR Cloud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459225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Infrastructure providers operate RESERVOIR sites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Service </a:t>
            </a:r>
            <a:r>
              <a:rPr lang="en-US" sz="2400" b="1" dirty="0">
                <a:solidFill>
                  <a:srgbClr val="FF0000"/>
                </a:solidFill>
              </a:rPr>
              <a:t>providers define service </a:t>
            </a:r>
            <a:r>
              <a:rPr lang="en-US" sz="2400" b="1" dirty="0" smtClean="0">
                <a:solidFill>
                  <a:srgbClr val="FF0000"/>
                </a:solidFill>
              </a:rPr>
              <a:t>applications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54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060848"/>
            <a:ext cx="8288498" cy="430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981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RESERVOIR Cloud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1942"/>
            <a:ext cx="8229600" cy="503001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In </a:t>
            </a:r>
            <a:r>
              <a:rPr lang="en-US" sz="2400" dirty="0"/>
              <a:t>the first case, the </a:t>
            </a:r>
            <a:r>
              <a:rPr lang="en-US" sz="2400" b="1" dirty="0">
                <a:solidFill>
                  <a:srgbClr val="FF0000"/>
                </a:solidFill>
              </a:rPr>
              <a:t>service provider conducts sizing </a:t>
            </a:r>
            <a:r>
              <a:rPr lang="en-US" sz="2400" b="1" dirty="0" smtClean="0">
                <a:solidFill>
                  <a:srgbClr val="FF0000"/>
                </a:solidFill>
              </a:rPr>
              <a:t>to </a:t>
            </a:r>
            <a:r>
              <a:rPr lang="en-US" sz="2400" b="1" dirty="0">
                <a:solidFill>
                  <a:srgbClr val="FF0000"/>
                </a:solidFill>
              </a:rPr>
              <a:t>identify the appropriate number of components to be required for a given workload condition.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dirty="0" smtClean="0"/>
              <a:t>The </a:t>
            </a:r>
            <a:r>
              <a:rPr lang="en-US" sz="2400" dirty="0"/>
              <a:t>specification is obtained </a:t>
            </a:r>
            <a:r>
              <a:rPr lang="en-US" sz="2400" b="1" dirty="0">
                <a:solidFill>
                  <a:srgbClr val="FF0000"/>
                </a:solidFill>
              </a:rPr>
              <a:t>by means of minimal service configuration and a set of elasticity rules that are used by </a:t>
            </a:r>
            <a:r>
              <a:rPr lang="en-US" sz="2400" b="1" dirty="0" smtClean="0">
                <a:solidFill>
                  <a:srgbClr val="FF0000"/>
                </a:solidFill>
              </a:rPr>
              <a:t>RESERVOIR</a:t>
            </a:r>
            <a:endParaRPr lang="en-IN" sz="24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55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550" y="3429000"/>
            <a:ext cx="5930900" cy="3079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244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RESERVOIR Cloud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81942"/>
            <a:ext cx="8229600" cy="5030019"/>
          </a:xfrm>
        </p:spPr>
        <p:txBody>
          <a:bodyPr>
            <a:normAutofit/>
          </a:bodyPr>
          <a:lstStyle/>
          <a:p>
            <a:r>
              <a:rPr lang="en-US" sz="2400" dirty="0"/>
              <a:t>In the second case, the service provider provides </a:t>
            </a:r>
            <a:r>
              <a:rPr lang="en-US" sz="2400" b="1" dirty="0">
                <a:solidFill>
                  <a:srgbClr val="FF0000"/>
                </a:solidFill>
              </a:rPr>
              <a:t>neither a minimal service </a:t>
            </a:r>
            <a:r>
              <a:rPr lang="en-US" sz="2400" b="1" dirty="0" smtClean="0">
                <a:solidFill>
                  <a:srgbClr val="FF0000"/>
                </a:solidFill>
              </a:rPr>
              <a:t>configuration </a:t>
            </a:r>
            <a:r>
              <a:rPr lang="en-US" sz="2400" b="1" dirty="0">
                <a:solidFill>
                  <a:srgbClr val="FF0000"/>
                </a:solidFill>
              </a:rPr>
              <a:t>nor elasticity rules.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The </a:t>
            </a:r>
            <a:r>
              <a:rPr lang="en-US" sz="2400" b="1" dirty="0">
                <a:solidFill>
                  <a:srgbClr val="FF0000"/>
                </a:solidFill>
              </a:rPr>
              <a:t>sizing is automatically made by the RESERVOIR middleware, which tries to minimize overprovisioning.</a:t>
            </a:r>
            <a:r>
              <a:rPr lang="en-US" sz="2400" dirty="0"/>
              <a:t> 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7924A-04BC-497A-987E-CE58EEB54800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56</a:t>
            </a:fld>
            <a:endParaRPr lang="en-IN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149698"/>
            <a:ext cx="8288498" cy="430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5379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Intercloud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InterCloud</a:t>
            </a:r>
            <a:r>
              <a:rPr lang="en-US" sz="2400" dirty="0"/>
              <a:t> </a:t>
            </a:r>
            <a:r>
              <a:rPr lang="en-US" sz="2400" dirty="0" smtClean="0"/>
              <a:t>is a term that is often </a:t>
            </a:r>
            <a:r>
              <a:rPr lang="en-US" sz="2400" b="1" dirty="0" smtClean="0"/>
              <a:t>used interchangeably to express the concept of Cloud federation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r>
              <a:rPr lang="en-US" sz="2400" b="1" dirty="0" smtClean="0"/>
              <a:t>It was introduced by Cisco </a:t>
            </a:r>
            <a:r>
              <a:rPr lang="en-US" sz="2400" dirty="0" smtClean="0"/>
              <a:t>for expressing </a:t>
            </a:r>
            <a:r>
              <a:rPr lang="en-US" sz="2400" b="1" dirty="0" smtClean="0"/>
              <a:t>a composition of clouds that are interconnected by </a:t>
            </a:r>
            <a:r>
              <a:rPr lang="en-US" sz="2400" b="1" dirty="0"/>
              <a:t>means of open standards </a:t>
            </a:r>
            <a:r>
              <a:rPr lang="en-US" sz="2400" dirty="0"/>
              <a:t>to provide a universal environment that leverages cloud computing </a:t>
            </a:r>
            <a:r>
              <a:rPr lang="en-US" sz="2400" dirty="0" smtClean="0"/>
              <a:t>services</a:t>
            </a:r>
            <a:r>
              <a:rPr lang="en-US" sz="2400" dirty="0"/>
              <a:t>. </a:t>
            </a: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32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Intercloud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By mimicking the Internet term, often referred as the “network of networks,” </a:t>
            </a:r>
          </a:p>
          <a:p>
            <a:r>
              <a:rPr lang="en-US" sz="2400" b="1" dirty="0" err="1" smtClean="0"/>
              <a:t>InterCloud</a:t>
            </a:r>
            <a:r>
              <a:rPr lang="en-US" sz="2400" b="1" dirty="0" smtClean="0"/>
              <a:t> </a:t>
            </a:r>
            <a:r>
              <a:rPr lang="en-US" sz="2400" b="1" dirty="0"/>
              <a:t>represents a “Cloud of </a:t>
            </a:r>
            <a:r>
              <a:rPr lang="en-US" sz="2400" b="1" dirty="0" smtClean="0"/>
              <a:t>Clouds”</a:t>
            </a: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27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Intercloud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 smtClean="0"/>
              <a:t>Intercloud</a:t>
            </a:r>
            <a:r>
              <a:rPr lang="en-US" sz="2400" dirty="0" smtClean="0"/>
              <a:t> Expresses the same concept of federating together clouds </a:t>
            </a:r>
          </a:p>
          <a:p>
            <a:r>
              <a:rPr lang="en-US" sz="2400" dirty="0" smtClean="0"/>
              <a:t>In many cases acceptable</a:t>
            </a:r>
            <a:r>
              <a:rPr lang="en-US" sz="2400" dirty="0"/>
              <a:t>, </a:t>
            </a:r>
            <a:endParaRPr lang="en-US" sz="2400" dirty="0" smtClean="0"/>
          </a:p>
          <a:p>
            <a:r>
              <a:rPr lang="en-US" sz="2400" dirty="0" smtClean="0"/>
              <a:t>Some practitioners and experts like Ellen </a:t>
            </a:r>
            <a:r>
              <a:rPr lang="en-US" sz="2400" dirty="0" err="1" smtClean="0"/>
              <a:t>Rubin,founder</a:t>
            </a:r>
            <a:r>
              <a:rPr lang="en-US" sz="2400" dirty="0" smtClean="0"/>
              <a:t> and VP of Products at </a:t>
            </a:r>
            <a:r>
              <a:rPr lang="en-US" sz="2400" dirty="0" err="1" smtClean="0"/>
              <a:t>CloudSwitch</a:t>
            </a:r>
            <a:r>
              <a:rPr lang="en-US" sz="2400" dirty="0" smtClean="0"/>
              <a:t>— </a:t>
            </a:r>
            <a:r>
              <a:rPr lang="en-US" sz="2400" b="1" dirty="0" smtClean="0"/>
              <a:t>prefer to give different connotations to the two terms</a:t>
            </a:r>
            <a:r>
              <a:rPr lang="en-US" sz="2400" b="1" dirty="0"/>
              <a:t>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24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Intercloud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InterCloud</a:t>
            </a:r>
            <a:r>
              <a:rPr lang="en-IN" sz="2400" dirty="0"/>
              <a:t> refers </a:t>
            </a:r>
            <a:r>
              <a:rPr lang="en-IN" sz="2400" dirty="0" smtClean="0"/>
              <a:t>mostly to a global vision in which interoperability among different cloud providers is </a:t>
            </a:r>
            <a:r>
              <a:rPr lang="en-IN" sz="2400" b="1" dirty="0" smtClean="0">
                <a:solidFill>
                  <a:srgbClr val="FF0000"/>
                </a:solidFill>
              </a:rPr>
              <a:t>governed by standards, thus creating an open platform where applications can shift workloads and freely compose services from different sources. </a:t>
            </a:r>
          </a:p>
          <a:p>
            <a:r>
              <a:rPr lang="en-IN" sz="2400" dirty="0" smtClean="0"/>
              <a:t>On the other hand</a:t>
            </a:r>
            <a:r>
              <a:rPr lang="en-IN" sz="2400" dirty="0"/>
              <a:t>, the </a:t>
            </a:r>
            <a:r>
              <a:rPr lang="en-IN" sz="2400" dirty="0" smtClean="0"/>
              <a:t>concept of a </a:t>
            </a:r>
            <a:r>
              <a:rPr lang="en-IN" sz="2400" dirty="0"/>
              <a:t>cloud federation is </a:t>
            </a:r>
            <a:r>
              <a:rPr lang="en-IN" sz="2400" dirty="0" smtClean="0"/>
              <a:t>more general and </a:t>
            </a:r>
            <a:r>
              <a:rPr lang="en-IN" sz="2400" b="1" dirty="0" smtClean="0">
                <a:solidFill>
                  <a:srgbClr val="FF0000"/>
                </a:solidFill>
              </a:rPr>
              <a:t>includes </a:t>
            </a:r>
            <a:r>
              <a:rPr lang="en-IN" sz="2400" b="1" dirty="0">
                <a:solidFill>
                  <a:srgbClr val="FF0000"/>
                </a:solidFill>
              </a:rPr>
              <a:t>ad hoc </a:t>
            </a:r>
            <a:r>
              <a:rPr lang="en-IN" sz="2400" b="1" dirty="0" smtClean="0">
                <a:solidFill>
                  <a:srgbClr val="FF0000"/>
                </a:solidFill>
              </a:rPr>
              <a:t>aggregations between cloud providers on the basis of private agreements and proprietary interfaces</a:t>
            </a:r>
            <a:r>
              <a:rPr lang="en-IN" sz="2400" b="1" dirty="0">
                <a:solidFill>
                  <a:srgbClr val="FF0000"/>
                </a:solidFill>
              </a:rPr>
              <a:t>.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179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InterCloud</a:t>
            </a:r>
            <a:r>
              <a:rPr lang="en-IN" b="1" dirty="0" smtClean="0"/>
              <a:t> Architecture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61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87462"/>
            <a:ext cx="8280920" cy="527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69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InterCloud</a:t>
            </a:r>
            <a:r>
              <a:rPr lang="en-IN" b="1" dirty="0" smtClean="0"/>
              <a:t> Architecture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62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err="1" smtClean="0"/>
              <a:t>InterCloud</a:t>
            </a:r>
            <a:r>
              <a:rPr lang="en-IN" sz="2400" dirty="0" smtClean="0"/>
              <a:t> </a:t>
            </a:r>
            <a:r>
              <a:rPr lang="en-IN" sz="2400" dirty="0"/>
              <a:t>is </a:t>
            </a:r>
            <a:r>
              <a:rPr lang="en-IN" sz="2400" dirty="0" smtClean="0"/>
              <a:t>a service-oriented architectural framework for cloud federation that supports utility-driven interconnection of clouds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7351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InterCloud</a:t>
            </a:r>
            <a:r>
              <a:rPr lang="en-IN" b="1" dirty="0" smtClean="0"/>
              <a:t> Architecture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63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1556792"/>
            <a:ext cx="3384376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</a:t>
            </a:r>
            <a:r>
              <a:rPr lang="en-US" sz="2400" dirty="0" smtClean="0"/>
              <a:t>he </a:t>
            </a:r>
            <a:r>
              <a:rPr lang="en-US" sz="2400" dirty="0" err="1"/>
              <a:t>InterCloud</a:t>
            </a:r>
            <a:r>
              <a:rPr lang="en-US" sz="2400" dirty="0"/>
              <a:t> model comprises two main elements: </a:t>
            </a:r>
            <a:endParaRPr lang="en-US" sz="2400" dirty="0" smtClean="0"/>
          </a:p>
          <a:p>
            <a:r>
              <a:rPr lang="en-US" sz="2400" dirty="0" err="1" smtClean="0"/>
              <a:t>CloudExchange</a:t>
            </a:r>
            <a:endParaRPr lang="en-US" sz="2400" dirty="0" smtClean="0"/>
          </a:p>
          <a:p>
            <a:r>
              <a:rPr lang="en-US" sz="2400" dirty="0" err="1" smtClean="0"/>
              <a:t>CloudCoordinator</a:t>
            </a:r>
            <a:endParaRPr lang="en-IN" sz="2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287462"/>
            <a:ext cx="5616624" cy="527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765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InterCloud</a:t>
            </a:r>
            <a:r>
              <a:rPr lang="en-IN" b="1" dirty="0" smtClean="0"/>
              <a:t> Architecture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64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1052736"/>
            <a:ext cx="3528392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 smtClean="0"/>
              <a:t>CloudExchange</a:t>
            </a:r>
            <a:endParaRPr lang="en-US" sz="2400" b="1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the former case, </a:t>
            </a:r>
            <a:r>
              <a:rPr lang="en-US" sz="2400" b="1" dirty="0" err="1">
                <a:solidFill>
                  <a:srgbClr val="FF0000"/>
                </a:solidFill>
              </a:rPr>
              <a:t>CloudExchange</a:t>
            </a:r>
            <a:r>
              <a:rPr lang="en-US" sz="2400" b="1" dirty="0">
                <a:solidFill>
                  <a:srgbClr val="FF0000"/>
                </a:solidFill>
              </a:rPr>
              <a:t> acts as a directory service</a:t>
            </a:r>
            <a:r>
              <a:rPr lang="en-US" sz="2400" dirty="0"/>
              <a:t> for the federation.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the latter case, </a:t>
            </a:r>
            <a:r>
              <a:rPr lang="en-US" sz="2400" b="1" dirty="0">
                <a:solidFill>
                  <a:srgbClr val="FF0000"/>
                </a:solidFill>
              </a:rPr>
              <a:t>it runs the auction.</a:t>
            </a:r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287462"/>
            <a:ext cx="5328592" cy="527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5548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InterCloud</a:t>
            </a:r>
            <a:r>
              <a:rPr lang="en-IN" b="1" dirty="0" smtClean="0"/>
              <a:t> Architecture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65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1052736"/>
            <a:ext cx="3384376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 smtClean="0"/>
              <a:t>CloudExchange</a:t>
            </a:r>
            <a:endParaRPr lang="en-US" sz="2400" b="1" dirty="0" smtClean="0"/>
          </a:p>
          <a:p>
            <a:r>
              <a:rPr lang="en-US" sz="2400" dirty="0"/>
              <a:t>This is the </a:t>
            </a:r>
            <a:r>
              <a:rPr lang="en-US" sz="2400" b="1" dirty="0" smtClean="0">
                <a:solidFill>
                  <a:srgbClr val="FF0000"/>
                </a:solidFill>
              </a:rPr>
              <a:t>market-making component of the architecture. </a:t>
            </a:r>
          </a:p>
          <a:p>
            <a:r>
              <a:rPr lang="en-US" sz="2400" dirty="0" smtClean="0"/>
              <a:t>It </a:t>
            </a:r>
            <a:r>
              <a:rPr lang="en-US" sz="2400" dirty="0"/>
              <a:t>offers </a:t>
            </a:r>
            <a:r>
              <a:rPr lang="en-US" sz="2400" b="1" dirty="0"/>
              <a:t>services that allow providers to find each other</a:t>
            </a:r>
            <a:r>
              <a:rPr lang="en-US" sz="2400" dirty="0"/>
              <a:t> in order to directly trade cloud assets, as well as </a:t>
            </a:r>
            <a:r>
              <a:rPr lang="en-US" sz="2400" b="1" dirty="0"/>
              <a:t>allowing parties to register and run auctions. </a:t>
            </a:r>
            <a:endParaRPr lang="en-US" sz="2400" b="1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287462"/>
            <a:ext cx="5112568" cy="527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083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InterCloud</a:t>
            </a:r>
            <a:r>
              <a:rPr lang="en-IN" b="1" dirty="0" smtClean="0"/>
              <a:t> Architecture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66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1052736"/>
            <a:ext cx="3528392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 smtClean="0"/>
              <a:t>CloudCoordinator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dirty="0" err="1" smtClean="0"/>
              <a:t>CloudCoordinator</a:t>
            </a:r>
            <a:r>
              <a:rPr lang="en-US" sz="2400" dirty="0" smtClean="0"/>
              <a:t> has </a:t>
            </a:r>
          </a:p>
          <a:p>
            <a:r>
              <a:rPr lang="en-US" sz="2400" b="1" dirty="0" smtClean="0"/>
              <a:t>Front-end </a:t>
            </a:r>
            <a:r>
              <a:rPr lang="en-US" sz="2400" b="1" dirty="0"/>
              <a:t>components </a:t>
            </a:r>
            <a:r>
              <a:rPr lang="en-US" sz="2400" dirty="0"/>
              <a:t>(i.e., elements that interact with the federation</a:t>
            </a:r>
            <a:r>
              <a:rPr lang="en-US" sz="2400" dirty="0" smtClean="0"/>
              <a:t>)</a:t>
            </a:r>
          </a:p>
          <a:p>
            <a:r>
              <a:rPr lang="en-US" sz="2400" b="1" dirty="0" smtClean="0"/>
              <a:t>Back-end </a:t>
            </a:r>
            <a:r>
              <a:rPr lang="en-US" sz="2400" b="1" dirty="0"/>
              <a:t>components </a:t>
            </a:r>
            <a:r>
              <a:rPr lang="en-US" sz="2400" dirty="0"/>
              <a:t>(i.e., components that interact with the associated datacenter). </a:t>
            </a:r>
            <a:endParaRPr lang="en-US" sz="2400" b="1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287462"/>
            <a:ext cx="5328592" cy="527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2564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InterCloud</a:t>
            </a:r>
            <a:r>
              <a:rPr lang="en-IN" b="1" dirty="0" smtClean="0"/>
              <a:t> Architecture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67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1052736"/>
            <a:ext cx="3528392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 smtClean="0"/>
              <a:t>CloudCoordinator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dirty="0" smtClean="0"/>
              <a:t>Front-end components </a:t>
            </a:r>
            <a:r>
              <a:rPr lang="en-US" sz="2400" b="1" dirty="0" smtClean="0">
                <a:solidFill>
                  <a:srgbClr val="FF0000"/>
                </a:solidFill>
              </a:rPr>
              <a:t>interact with the </a:t>
            </a:r>
            <a:r>
              <a:rPr lang="en-US" sz="2400" b="1" dirty="0" err="1" smtClean="0">
                <a:solidFill>
                  <a:srgbClr val="FF0000"/>
                </a:solidFill>
              </a:rPr>
              <a:t>CloudExchange</a:t>
            </a:r>
            <a:r>
              <a:rPr lang="en-US" sz="2400" b="1" dirty="0" smtClean="0">
                <a:solidFill>
                  <a:srgbClr val="FF0000"/>
                </a:solidFill>
              </a:rPr>
              <a:t> and with other coordinators. </a:t>
            </a:r>
          </a:p>
          <a:p>
            <a:r>
              <a:rPr lang="en-US" sz="2400" b="1" dirty="0" smtClean="0"/>
              <a:t>Allows </a:t>
            </a:r>
            <a:r>
              <a:rPr lang="en-US" sz="2400" b="1" dirty="0"/>
              <a:t>datacenters to announce their offers and </a:t>
            </a:r>
            <a:r>
              <a:rPr lang="en-US" sz="2400" b="1" dirty="0" smtClean="0"/>
              <a:t>requirements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287462"/>
            <a:ext cx="5328592" cy="527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0768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InterCloud</a:t>
            </a:r>
            <a:r>
              <a:rPr lang="en-IN" b="1" dirty="0" smtClean="0"/>
              <a:t> Architecture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68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1052736"/>
            <a:ext cx="3528392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 smtClean="0"/>
              <a:t>CloudCoordinator</a:t>
            </a:r>
            <a:endParaRPr lang="en-US" sz="2400" b="1" dirty="0" smtClean="0"/>
          </a:p>
          <a:p>
            <a:pPr marL="0" indent="0">
              <a:buNone/>
            </a:pPr>
            <a:r>
              <a:rPr lang="en-US" sz="2400" dirty="0" smtClean="0"/>
              <a:t>Back-end components allows the </a:t>
            </a:r>
            <a:r>
              <a:rPr lang="en-US" sz="2400" b="1" dirty="0" smtClean="0">
                <a:solidFill>
                  <a:srgbClr val="FF0000"/>
                </a:solidFill>
              </a:rPr>
              <a:t>Coordinator to learn about the current state of the datacenter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to decide </a:t>
            </a:r>
            <a:r>
              <a:rPr lang="en-US" sz="2400" b="1" dirty="0" smtClean="0"/>
              <a:t>whether actions from the federation </a:t>
            </a:r>
            <a:r>
              <a:rPr lang="en-IN" sz="2400" b="1" dirty="0" smtClean="0"/>
              <a:t>are required or not.</a:t>
            </a:r>
            <a:endParaRPr lang="en-US" sz="2400" b="1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287462"/>
            <a:ext cx="5328592" cy="527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817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InterCloud</a:t>
            </a:r>
            <a:r>
              <a:rPr lang="en-IN" b="1" dirty="0" smtClean="0"/>
              <a:t> Architecture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69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1052736"/>
            <a:ext cx="3528392" cy="53285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 err="1" smtClean="0"/>
              <a:t>CloudExchange</a:t>
            </a:r>
            <a:endParaRPr lang="en-US" sz="2400" b="1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Wherever </a:t>
            </a:r>
            <a:r>
              <a:rPr lang="en-US" sz="2400" dirty="0"/>
              <a:t>the </a:t>
            </a:r>
            <a:r>
              <a:rPr lang="en-US" sz="2400" b="1" dirty="0"/>
              <a:t>Coordinator detects that extra resources are required by the datacenter, </a:t>
            </a:r>
            <a:endParaRPr lang="en-US" sz="2400" b="1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it </a:t>
            </a:r>
            <a:r>
              <a:rPr lang="en-US" sz="2400" dirty="0"/>
              <a:t>triggers the </a:t>
            </a:r>
            <a:r>
              <a:rPr lang="en-US" sz="2400" b="1" dirty="0"/>
              <a:t>process of discovery of potential providers </a:t>
            </a:r>
            <a:r>
              <a:rPr lang="en-US" sz="2400" dirty="0"/>
              <a:t>(by interacting with the cloud federation). </a:t>
            </a:r>
            <a:endParaRPr lang="en-US" sz="2400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Once </a:t>
            </a:r>
            <a:r>
              <a:rPr lang="en-US" sz="2400" b="1" dirty="0"/>
              <a:t>potential providers are discovered and the preferred one is selected, the Coordinator contacts the remote Coordinator and negotiates</a:t>
            </a:r>
            <a:endParaRPr lang="en-US" sz="2400" b="1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287462"/>
            <a:ext cx="5328592" cy="527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608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InterCloud</a:t>
            </a:r>
            <a:r>
              <a:rPr lang="en-IN" b="1" dirty="0" smtClean="0"/>
              <a:t> Architecture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2807E-CE97-4F55-8E68-5101FDCF57DF}" type="datetime1">
              <a:rPr lang="en-IN" smtClean="0"/>
              <a:t>10-04-2026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CD84-036B-4754-BD39-CB865687F047}" type="slidenum">
              <a:rPr lang="en-IN" smtClean="0"/>
              <a:t>70</a:t>
            </a:fld>
            <a:endParaRPr lang="en-IN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9512" y="1052736"/>
            <a:ext cx="3528392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 smtClean="0"/>
              <a:t>CloudExchange</a:t>
            </a:r>
            <a:endParaRPr lang="en-US" sz="2400" b="1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Similarly, when the </a:t>
            </a:r>
            <a:r>
              <a:rPr lang="en-US" sz="2400" b="1" dirty="0"/>
              <a:t>Coordinator detects that local resources are underutilized, </a:t>
            </a:r>
            <a:endParaRPr lang="en-US" sz="2400" b="1" dirty="0" smtClean="0"/>
          </a:p>
          <a:p>
            <a:pPr marL="457200" indent="-457200">
              <a:buFont typeface="+mj-lt"/>
              <a:buAutoNum type="arabicParenR"/>
            </a:pPr>
            <a:r>
              <a:rPr lang="en-US" sz="2400" dirty="0" smtClean="0"/>
              <a:t>They </a:t>
            </a:r>
            <a:r>
              <a:rPr lang="en-US" sz="2400" dirty="0"/>
              <a:t>can publish an </a:t>
            </a:r>
            <a:r>
              <a:rPr lang="en-US" sz="2400" b="1" dirty="0"/>
              <a:t>offer for resources in the </a:t>
            </a:r>
            <a:r>
              <a:rPr lang="en-US" sz="2400" b="1" dirty="0" err="1"/>
              <a:t>CloudExchange</a:t>
            </a:r>
            <a:r>
              <a:rPr lang="en-US" sz="2400" b="1" dirty="0"/>
              <a:t> or they can look for matches among requirements registered in the Exchange service. </a:t>
            </a:r>
            <a:endParaRPr lang="en-US" sz="2400" b="1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287462"/>
            <a:ext cx="5328592" cy="5270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166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1382</TotalTime>
  <Words>3160</Words>
  <Application>Microsoft Office PowerPoint</Application>
  <PresentationFormat>On-screen Show (4:3)</PresentationFormat>
  <Paragraphs>474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Office Theme</vt:lpstr>
      <vt:lpstr>Third Party Cloud Services: MetaCDN, SpotCloud, Federated Clouds / Inter Cloud</vt:lpstr>
      <vt:lpstr>Third Party Cloud Services</vt:lpstr>
      <vt:lpstr>Third Party Cloud Services</vt:lpstr>
      <vt:lpstr>Third Party Cloud Services</vt:lpstr>
      <vt:lpstr>What is a CDN?</vt:lpstr>
      <vt:lpstr>What is a CDN?</vt:lpstr>
      <vt:lpstr>Why is a CDN important?</vt:lpstr>
      <vt:lpstr>Why is a CDN important?</vt:lpstr>
      <vt:lpstr>CDN?</vt:lpstr>
      <vt:lpstr>CDN?</vt:lpstr>
      <vt:lpstr>Existing CDN providers</vt:lpstr>
      <vt:lpstr>MetaCDN</vt:lpstr>
      <vt:lpstr>PowerPoint Presentation</vt:lpstr>
      <vt:lpstr>PowerPoint Presentation</vt:lpstr>
      <vt:lpstr>PowerPoint Presentation</vt:lpstr>
      <vt:lpstr>PowerPoint Presentation</vt:lpstr>
      <vt:lpstr>What if we could create a low-cost, high performance overlay CDN using heterogenous storage clouds?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MetaCDN deployment options</vt:lpstr>
      <vt:lpstr>MetaCDN deployment options</vt:lpstr>
      <vt:lpstr>MetaCDN deployment options</vt:lpstr>
      <vt:lpstr>MetaCDN components</vt:lpstr>
      <vt:lpstr>MetaCDN components</vt:lpstr>
      <vt:lpstr>MetaCDN components</vt:lpstr>
      <vt:lpstr>MetaCDN components</vt:lpstr>
      <vt:lpstr>How MetaCDN works</vt:lpstr>
      <vt:lpstr>How MetaCDN works</vt:lpstr>
      <vt:lpstr>SpotCloud</vt:lpstr>
      <vt:lpstr>SpotCloud</vt:lpstr>
      <vt:lpstr>SpotCloud</vt:lpstr>
      <vt:lpstr>SpotCloud</vt:lpstr>
      <vt:lpstr>SpotCloud</vt:lpstr>
      <vt:lpstr>PowerPoint Presentation</vt:lpstr>
      <vt:lpstr>Spotcloud</vt:lpstr>
      <vt:lpstr>SpotCloud</vt:lpstr>
      <vt:lpstr>SpotCloud</vt:lpstr>
      <vt:lpstr>SpotCloud</vt:lpstr>
      <vt:lpstr>Federated Clouds/Intercloud</vt:lpstr>
      <vt:lpstr>Federated Clouds</vt:lpstr>
      <vt:lpstr>Federated Clouds</vt:lpstr>
      <vt:lpstr>Technologies for cloud federations </vt:lpstr>
      <vt:lpstr>RESERVOIR</vt:lpstr>
      <vt:lpstr>RESERVOIR Architecture</vt:lpstr>
      <vt:lpstr>RESERVOIR Architecture</vt:lpstr>
      <vt:lpstr>RESERVOIR Architecture</vt:lpstr>
      <vt:lpstr>RESERVOIR Architecture</vt:lpstr>
      <vt:lpstr>RESERVOIR Architecture</vt:lpstr>
      <vt:lpstr>RESERVOIR Architecture</vt:lpstr>
      <vt:lpstr>RESERVOIR Cloud deployment</vt:lpstr>
      <vt:lpstr>RESERVOIR Cloud deployment</vt:lpstr>
      <vt:lpstr>RESERVOIR Cloud deployment</vt:lpstr>
      <vt:lpstr>RESERVOIR Cloud deployment</vt:lpstr>
      <vt:lpstr>Intercloud</vt:lpstr>
      <vt:lpstr>Intercloud</vt:lpstr>
      <vt:lpstr>Intercloud</vt:lpstr>
      <vt:lpstr>Intercloud</vt:lpstr>
      <vt:lpstr>InterCloud Architecture</vt:lpstr>
      <vt:lpstr>InterCloud Architecture</vt:lpstr>
      <vt:lpstr>InterCloud Architecture</vt:lpstr>
      <vt:lpstr>InterCloud Architecture</vt:lpstr>
      <vt:lpstr>InterCloud Architecture</vt:lpstr>
      <vt:lpstr>InterCloud Architecture</vt:lpstr>
      <vt:lpstr>InterCloud Architecture</vt:lpstr>
      <vt:lpstr>InterCloud Architecture</vt:lpstr>
      <vt:lpstr>InterCloud Architecture</vt:lpstr>
      <vt:lpstr>InterCloud Architecture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106</cp:revision>
  <dcterms:created xsi:type="dcterms:W3CDTF">2023-04-09T11:22:46Z</dcterms:created>
  <dcterms:modified xsi:type="dcterms:W3CDTF">2026-04-10T04:21:58Z</dcterms:modified>
</cp:coreProperties>
</file>