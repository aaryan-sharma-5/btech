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5"/>
  </p:notesMasterIdLst>
  <p:sldIdLst>
    <p:sldId id="264" r:id="rId2"/>
    <p:sldId id="374" r:id="rId3"/>
    <p:sldId id="375" r:id="rId4"/>
    <p:sldId id="376" r:id="rId5"/>
    <p:sldId id="377" r:id="rId6"/>
    <p:sldId id="378" r:id="rId7"/>
    <p:sldId id="379" r:id="rId8"/>
    <p:sldId id="380" r:id="rId9"/>
    <p:sldId id="381" r:id="rId10"/>
    <p:sldId id="382" r:id="rId11"/>
    <p:sldId id="383" r:id="rId12"/>
    <p:sldId id="384" r:id="rId13"/>
    <p:sldId id="385" r:id="rId14"/>
  </p:sldIdLst>
  <p:sldSz cx="12192000" cy="6858000"/>
  <p:notesSz cx="6858000" cy="9144000"/>
  <p:embeddedFontLs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Fira Sans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3" roundtripDataSignature="AMtx7mgbWDH9BgynZPotlxacZXWgy2w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499" autoAdjust="0"/>
  </p:normalViewPr>
  <p:slideViewPr>
    <p:cSldViewPr snapToGrid="0">
      <p:cViewPr>
        <p:scale>
          <a:sx n="70" d="100"/>
          <a:sy n="70" d="100"/>
        </p:scale>
        <p:origin x="-484" y="8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133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13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3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13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13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59485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136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10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11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12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084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  <a:latin typeface="Calibri"/>
              </a:rPr>
              <a:pPr/>
              <a:t>13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74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03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094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58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986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07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65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721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4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873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012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859" y="929061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9661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097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405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831618"/>
            <a:ext cx="10972800" cy="5860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0C105-3FF4-40B5-A337-AC380C629111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AF470-7A7B-47B7-8D85-331B6B3F324A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Google Shape;21;p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xmlns="" id="{93B2F81F-E84E-30FC-261A-95AAEEBA8CF0}"/>
              </a:ext>
            </a:extLst>
          </p:cNvPr>
          <p:cNvPicPr preferRelativeResize="0"/>
          <p:nvPr userDrawn="1"/>
        </p:nvPicPr>
        <p:blipFill rotWithShape="1">
          <a:blip r:embed="rId16">
            <a:alphaModFix/>
          </a:blip>
          <a:srcRect/>
          <a:stretch/>
        </p:blipFill>
        <p:spPr>
          <a:xfrm>
            <a:off x="11227237" y="86158"/>
            <a:ext cx="728472" cy="539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55" y="48266"/>
            <a:ext cx="2316256" cy="708705"/>
          </a:xfrm>
          <a:prstGeom prst="rect">
            <a:avLst/>
          </a:prstGeom>
        </p:spPr>
      </p:pic>
      <p:sp>
        <p:nvSpPr>
          <p:cNvPr id="9" name="Google Shape;12;p5">
            <a:extLst>
              <a:ext uri="{FF2B5EF4-FFF2-40B4-BE49-F238E27FC236}">
                <a16:creationId xmlns:a16="http://schemas.microsoft.com/office/drawing/2014/main" xmlns="" id="{44909106-E9FD-B340-07F3-E7E43E0C87E5}"/>
              </a:ext>
            </a:extLst>
          </p:cNvPr>
          <p:cNvSpPr/>
          <p:nvPr userDrawn="1"/>
        </p:nvSpPr>
        <p:spPr>
          <a:xfrm>
            <a:off x="0" y="6080760"/>
            <a:ext cx="838200" cy="79049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3;p5">
            <a:extLst>
              <a:ext uri="{FF2B5EF4-FFF2-40B4-BE49-F238E27FC236}">
                <a16:creationId xmlns:a16="http://schemas.microsoft.com/office/drawing/2014/main" xmlns="" id="{EAAF044C-1D0D-0CFE-1234-30E94B876495}"/>
              </a:ext>
            </a:extLst>
          </p:cNvPr>
          <p:cNvSpPr/>
          <p:nvPr userDrawn="1"/>
        </p:nvSpPr>
        <p:spPr>
          <a:xfrm>
            <a:off x="10169610" y="6356350"/>
            <a:ext cx="2022390" cy="514900"/>
          </a:xfrm>
          <a:prstGeom prst="rect">
            <a:avLst/>
          </a:prstGeom>
          <a:solidFill>
            <a:srgbClr val="D922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4;p5">
            <a:extLst>
              <a:ext uri="{FF2B5EF4-FFF2-40B4-BE49-F238E27FC236}">
                <a16:creationId xmlns:a16="http://schemas.microsoft.com/office/drawing/2014/main" xmlns="" id="{5526ECCB-9585-9619-412C-AF7D491C3AAD}"/>
              </a:ext>
            </a:extLst>
          </p:cNvPr>
          <p:cNvSpPr/>
          <p:nvPr userDrawn="1"/>
        </p:nvSpPr>
        <p:spPr>
          <a:xfrm>
            <a:off x="838199" y="6356350"/>
            <a:ext cx="9331411" cy="514901"/>
          </a:xfrm>
          <a:prstGeom prst="rect">
            <a:avLst/>
          </a:prstGeom>
          <a:solidFill>
            <a:srgbClr val="A425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  <p:extLst>
      <p:ext uri="{BB962C8B-B14F-4D97-AF65-F5344CB8AC3E}">
        <p14:creationId xmlns:p14="http://schemas.microsoft.com/office/powerpoint/2010/main" val="24056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66" r:id="rId13"/>
    <p:sldLayoutId id="2147483693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Fira Sans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Fira Sans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Fira Sans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Fira Sans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Fira Sans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Retrieval Augmented Generation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sz="4300" dirty="0" err="1"/>
              <a:t>Ms.</a:t>
            </a:r>
            <a:r>
              <a:rPr lang="en-IN" sz="4300" dirty="0"/>
              <a:t> Swati Mali</a:t>
            </a:r>
            <a:endParaRPr lang="en-IN" sz="4300" dirty="0"/>
          </a:p>
          <a:p>
            <a:r>
              <a:rPr lang="en-IN" sz="4300" dirty="0"/>
              <a:t/>
            </a:r>
            <a:br>
              <a:rPr lang="en-IN" sz="4300" dirty="0"/>
            </a:br>
            <a:r>
              <a:rPr lang="en-GB" sz="4300" dirty="0"/>
              <a:t>Assistant Professor</a:t>
            </a:r>
            <a:endParaRPr lang="en-GB" sz="4300" dirty="0"/>
          </a:p>
          <a:p>
            <a:r>
              <a:rPr lang="en-GB" sz="4300" dirty="0"/>
              <a:t>Department of Computer Engineering </a:t>
            </a:r>
            <a:endParaRPr lang="en-GB" sz="4300" dirty="0"/>
          </a:p>
          <a:p>
            <a:r>
              <a:rPr lang="en-GB" sz="4300" dirty="0"/>
              <a:t>K. J. </a:t>
            </a:r>
            <a:r>
              <a:rPr lang="en-GB" sz="4300" dirty="0" err="1"/>
              <a:t>Somaiya</a:t>
            </a:r>
            <a:r>
              <a:rPr lang="en-GB" sz="4300" dirty="0"/>
              <a:t> </a:t>
            </a:r>
            <a:r>
              <a:rPr lang="en-GB" sz="4300" dirty="0" smtClean="0"/>
              <a:t>School </a:t>
            </a:r>
            <a:r>
              <a:rPr lang="en-GB" sz="4300" dirty="0"/>
              <a:t>of Engineering</a:t>
            </a:r>
            <a:endParaRPr lang="en-GB" sz="4300" dirty="0"/>
          </a:p>
          <a:p>
            <a:r>
              <a:rPr lang="en-GB" sz="4300" dirty="0" err="1"/>
              <a:t>Somaiya</a:t>
            </a:r>
            <a:r>
              <a:rPr lang="en-GB" sz="4300" dirty="0"/>
              <a:t> </a:t>
            </a:r>
            <a:r>
              <a:rPr lang="en-GB" sz="4300" dirty="0" err="1"/>
              <a:t>Vidyavihar</a:t>
            </a:r>
            <a:r>
              <a:rPr lang="en-GB" sz="4300" dirty="0"/>
              <a:t> </a:t>
            </a:r>
            <a:r>
              <a:rPr lang="en-GB" sz="4300" dirty="0" smtClean="0"/>
              <a:t>University</a:t>
            </a:r>
            <a:endParaRPr lang="en-GB" sz="4300" dirty="0"/>
          </a:p>
        </p:txBody>
      </p:sp>
    </p:spTree>
    <p:extLst>
      <p:ext uri="{BB962C8B-B14F-4D97-AF65-F5344CB8AC3E}">
        <p14:creationId xmlns:p14="http://schemas.microsoft.com/office/powerpoint/2010/main" val="62458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19456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b="1" spc="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OVERVIEW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670560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3700" b="1" kern="1200" dirty="0" smtClean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3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2011680"/>
            <a:ext cx="566928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2011680"/>
            <a:ext cx="670560" cy="1158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680" y="2011680"/>
            <a:ext cx="6705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24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80160" y="2133600"/>
            <a:ext cx="4730496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 Context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80160" y="2621280"/>
            <a:ext cx="4730496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i="1" kern="1200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alone are insufficient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66928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011680"/>
            <a:ext cx="670560" cy="1158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11680"/>
            <a:ext cx="6705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24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93280" y="2133600"/>
            <a:ext cx="4730496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RAG?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93280" y="2621280"/>
            <a:ext cx="4730496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i="1" kern="1200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architecture, core pipeline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377184"/>
            <a:ext cx="566928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7680" y="3377184"/>
            <a:ext cx="670560" cy="1158240"/>
          </a:xfrm>
          <a:prstGeom prst="rect">
            <a:avLst/>
          </a:prstGeom>
          <a:solidFill>
            <a:srgbClr val="14A9AE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680" y="3377184"/>
            <a:ext cx="6705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24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80160" y="3499104"/>
            <a:ext cx="4730496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&amp; Approaches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280160" y="3986784"/>
            <a:ext cx="4730496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i="1" kern="1200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Naive, Advanced, Modular, Agentic RAG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3377184"/>
            <a:ext cx="566928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377184"/>
            <a:ext cx="670560" cy="1158240"/>
          </a:xfrm>
          <a:prstGeom prst="rect">
            <a:avLst/>
          </a:prstGeom>
          <a:solidFill>
            <a:srgbClr val="14A9AE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377184"/>
            <a:ext cx="6705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24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93280" y="3499104"/>
            <a:ext cx="4730496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193280" y="3986784"/>
            <a:ext cx="4730496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i="1" kern="1200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baseline LLMs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7680" y="4742688"/>
            <a:ext cx="566928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680" y="4742688"/>
            <a:ext cx="670560" cy="1158240"/>
          </a:xfrm>
          <a:prstGeom prst="rect">
            <a:avLst/>
          </a:prstGeom>
          <a:solidFill>
            <a:srgbClr val="F0A50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" y="4742688"/>
            <a:ext cx="6705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24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80160" y="4864608"/>
            <a:ext cx="4730496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&amp; Limitations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280160" y="5352288"/>
            <a:ext cx="4730496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i="1" kern="1200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failure modes, open problems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0" y="4742688"/>
            <a:ext cx="5669280" cy="1158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742688"/>
            <a:ext cx="670560" cy="1158240"/>
          </a:xfrm>
          <a:prstGeom prst="rect">
            <a:avLst/>
          </a:prstGeom>
          <a:solidFill>
            <a:srgbClr val="F0A500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742688"/>
            <a:ext cx="6705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24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93280" y="4864608"/>
            <a:ext cx="4730496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93280" y="5352288"/>
            <a:ext cx="4730496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i="1" kern="1200" dirty="0">
                <a:solidFill>
                  <a:srgbClr val="6A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and use-case examples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846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19456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b="1" spc="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MOTIVATION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670560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37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LLMs Need External Knowledge?</a:t>
            </a:r>
            <a:endParaRPr lang="en-US" sz="3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950720"/>
            <a:ext cx="5669280" cy="1487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950720"/>
            <a:ext cx="5669280" cy="85344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136" y="2133600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Cutoff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7136" y="2535936"/>
            <a:ext cx="5242560" cy="82905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trained on static datasets with a fixed cutoff date. They cannot access events, publications, or facts that emerged after training.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1950720"/>
            <a:ext cx="5669280" cy="1487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950720"/>
            <a:ext cx="5669280" cy="85344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2133600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20256" y="2535936"/>
            <a:ext cx="5242560" cy="82905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grounding, LLMs confidently generate plausible-sounding but factually incorrect responses — a critical failure mode for high-stakes applications.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7680" y="3657600"/>
            <a:ext cx="5669280" cy="1487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680" y="3657600"/>
            <a:ext cx="5669280" cy="8534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136" y="3840480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Specificity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7136" y="4242816"/>
            <a:ext cx="5242560" cy="82905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LLMs lack deep expertise in proprietary, specialised, or enterprise-specific knowledge (legal, medical, financial documents).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3657600"/>
            <a:ext cx="5669280" cy="14874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657600"/>
            <a:ext cx="5669280" cy="8534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3840480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Verifiability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20256" y="4242816"/>
            <a:ext cx="5242560" cy="82905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from standalone LLMs cannot be easily traced to a source, making fact-checking and audit trails nearly impossible.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7680" y="5547360"/>
            <a:ext cx="11216640" cy="853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2480" y="5547360"/>
            <a:ext cx="10607040" cy="85344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directly addresses all four limitations by dynamically retrieving relevant, current, verifiable information at inference time.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8624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19456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200" b="1" spc="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DEFINITION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670560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40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Retrieval-Augmented Generation?</a:t>
            </a:r>
            <a:endParaRPr lang="en-US" sz="40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560576"/>
            <a:ext cx="1121664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i="1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Lewis et al. (2020, Facebook AI Research)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975104"/>
            <a:ext cx="11216640" cy="1072896"/>
          </a:xfrm>
          <a:prstGeom prst="rect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14A9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2480" y="2048256"/>
            <a:ext cx="10607040" cy="9265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6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</a:t>
            </a:r>
            <a:r>
              <a:rPr lang="en-US" sz="1600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hybrid AI framework that enhances large language models by coupling them with a </a:t>
            </a:r>
            <a:r>
              <a:rPr lang="en-US" sz="1600" b="1" kern="1200" dirty="0">
                <a:solidFill>
                  <a:srgbClr val="14A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mechanism</a:t>
            </a:r>
            <a:r>
              <a:rPr lang="en-US" sz="1600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an external knowledge corpus, enabling the model to produce responses grounded in retrieved, up-to-date, and domain-specific information.</a:t>
            </a:r>
            <a:endParaRPr lang="en-US" sz="16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63296" y="3352800"/>
            <a:ext cx="1731264" cy="95097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296" y="3352800"/>
            <a:ext cx="1731264" cy="9509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194560" y="3742944"/>
            <a:ext cx="182880" cy="1706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3352800"/>
            <a:ext cx="1731264" cy="9509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3352800"/>
            <a:ext cx="1731264" cy="9509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08704" y="3742944"/>
            <a:ext cx="182880" cy="1706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1584" y="3352800"/>
            <a:ext cx="1731264" cy="9509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1584" y="3352800"/>
            <a:ext cx="1731264" cy="9509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22848" y="3742944"/>
            <a:ext cx="182880" cy="1706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5728" y="3352800"/>
            <a:ext cx="1731264" cy="950976"/>
          </a:xfrm>
          <a:prstGeom prst="rect">
            <a:avLst/>
          </a:prstGeom>
          <a:solidFill>
            <a:srgbClr val="14A9AE"/>
          </a:solidFill>
          <a:ln w="12700">
            <a:solidFill>
              <a:srgbClr val="14A9A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05728" y="3352800"/>
            <a:ext cx="1731264" cy="9509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936992" y="3742944"/>
            <a:ext cx="182880" cy="1706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19872" y="3352800"/>
            <a:ext cx="1731264" cy="9509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19872" y="3352800"/>
            <a:ext cx="1731264" cy="9509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851136" y="3742944"/>
            <a:ext cx="182880" cy="1706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34016" y="3352800"/>
            <a:ext cx="1731264" cy="950976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34016" y="3352800"/>
            <a:ext cx="1731264" cy="9509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algn="ctr" defTabSz="1219140">
              <a:buClrTx/>
            </a:pPr>
            <a:r>
              <a:rPr lang="en-US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840736" y="4572000"/>
            <a:ext cx="3511296" cy="755904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8BA5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40736" y="4572000"/>
            <a:ext cx="3511296" cy="75590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algn="ctr" defTabSz="1219140">
              <a:buClrTx/>
            </a:pPr>
            <a:r>
              <a:rPr lang="en-US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/ Vector Store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  <a:p>
            <a:pPr algn="ctr" defTabSz="1219140">
              <a:buClrTx/>
            </a:pPr>
            <a:r>
              <a:rPr lang="en-US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(PDF, DB, web, APIs)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96384" y="4572000"/>
            <a:ext cx="0" cy="0"/>
          </a:xfrm>
          <a:prstGeom prst="line">
            <a:avLst/>
          </a:prstGeom>
          <a:noFill/>
          <a:ln w="12700">
            <a:solidFill>
              <a:srgbClr val="8BA5B5"/>
            </a:solidFill>
            <a:prstDash val="sysDash"/>
          </a:ln>
        </p:spPr>
      </p:sp>
      <p:sp>
        <p:nvSpPr>
          <p:cNvPr id="28" name="Text 26"/>
          <p:cNvSpPr/>
          <p:nvPr/>
        </p:nvSpPr>
        <p:spPr>
          <a:xfrm>
            <a:off x="609600" y="5608320"/>
            <a:ext cx="1097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Retriever: </a:t>
            </a:r>
            <a:r>
              <a:rPr lang="en-US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relevant chunks from the corpus (dense or sparse)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9600" y="5949696"/>
            <a:ext cx="1097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Generator: </a:t>
            </a:r>
            <a:r>
              <a:rPr lang="en-US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that conditions its output on the retrieved context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9600" y="6291072"/>
            <a:ext cx="1097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Base: </a:t>
            </a:r>
            <a:r>
              <a:rPr lang="en-US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corpus — static or dynamic, structured or unstructured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39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19456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b="1" spc="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ARCHITECTURE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670560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37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RAG Architecture</a:t>
            </a:r>
            <a:endParaRPr lang="en-US" sz="3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487424"/>
            <a:ext cx="1121664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700" i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Pipeline + Retrieval-Generation Pipeline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950720"/>
            <a:ext cx="5364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680" y="1950720"/>
            <a:ext cx="5364480" cy="426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195072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PIPELINE (Offline)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5904" y="2596896"/>
            <a:ext cx="414528" cy="4145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904" y="259689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41120" y="2535936"/>
            <a:ext cx="426720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Loading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41120" y="2901696"/>
            <a:ext cx="4267200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raw sources: PDFs, HTML, databases, APIs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5904" y="3523488"/>
            <a:ext cx="414528" cy="4145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904" y="352348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41120" y="3462528"/>
            <a:ext cx="426720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41120" y="3828288"/>
            <a:ext cx="4267200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fixed / semantic / sentence-level chunks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5904" y="4450080"/>
            <a:ext cx="414528" cy="4145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904" y="4450080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41120" y="4389120"/>
            <a:ext cx="426720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41120" y="4754880"/>
            <a:ext cx="4267200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chunks via embedding model into dense vectors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55904" y="5376672"/>
            <a:ext cx="414528" cy="41452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904" y="5376672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41120" y="5315712"/>
            <a:ext cx="426720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41120" y="5681472"/>
            <a:ext cx="4267200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vectors in FAISS, Pinecone, Weaviate, Chroma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39840" y="1950720"/>
            <a:ext cx="5364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9840" y="1950720"/>
            <a:ext cx="5364480" cy="426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1760" y="1950720"/>
            <a:ext cx="51206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+ GENERATION (Online)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608064" y="2596896"/>
            <a:ext cx="414528" cy="4145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8064" y="2596896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193280" y="2535936"/>
            <a:ext cx="426720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Encoding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193280" y="2901696"/>
            <a:ext cx="4267200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user query using the same embedding model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608064" y="3523488"/>
            <a:ext cx="414528" cy="4145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08064" y="3523488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93280" y="3462528"/>
            <a:ext cx="426720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193280" y="3828288"/>
            <a:ext cx="4267200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vector search (cosine / dot-product / MMR)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608064" y="4450080"/>
            <a:ext cx="414528" cy="4145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08064" y="4450080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193280" y="4389120"/>
            <a:ext cx="426720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93280" y="4754880"/>
            <a:ext cx="4267200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retrieved chunks with the original query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608064" y="5376672"/>
            <a:ext cx="414528" cy="41452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8064" y="5376672"/>
            <a:ext cx="41452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193280" y="5315712"/>
            <a:ext cx="426720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193280" y="5681472"/>
            <a:ext cx="4267200" cy="43891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produces a final grounded, cited response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876544" y="3962400"/>
            <a:ext cx="438912" cy="170688"/>
          </a:xfrm>
          <a:prstGeom prst="rect">
            <a:avLst/>
          </a:prstGeom>
          <a:solidFill>
            <a:srgbClr val="14A9AE"/>
          </a:solidFill>
          <a:ln w="12700">
            <a:solidFill>
              <a:srgbClr val="14A9A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76544" y="3925824"/>
            <a:ext cx="438912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700" b="1" kern="1200" dirty="0">
                <a:solidFill>
                  <a:srgbClr val="0D7377"/>
                </a:solidFill>
                <a:latin typeface="Calibri"/>
                <a:ea typeface="+mn-ea"/>
                <a:cs typeface="+mn-cs"/>
              </a:rPr>
              <a:t>→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63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19456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b="1" spc="200" dirty="0" smtClean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TYPES&amp; </a:t>
            </a:r>
            <a:r>
              <a:rPr lang="en-US" sz="1100" b="1" spc="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APPROACHES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670560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37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RAG: An Evolution</a:t>
            </a:r>
            <a:endParaRPr lang="en-US" sz="3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487424"/>
            <a:ext cx="1121664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700" i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basic retrieval to autonomous agents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975104"/>
            <a:ext cx="265785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680" y="1975104"/>
            <a:ext cx="2657856" cy="67056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680" y="1975104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300" b="1" kern="12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2896" y="2023872"/>
            <a:ext cx="1975104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RAG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743200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retrieve-then-read pipeline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401568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chunking and top-k retrieval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4059936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generation without iteration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4718304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architecture; easy to implement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5376672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simple Q&amp;A over static corpora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352800" y="1975104"/>
            <a:ext cx="265785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52800" y="1975104"/>
            <a:ext cx="2657856" cy="6705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2800" y="1975104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300" b="1" kern="12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938016" y="2023872"/>
            <a:ext cx="1975104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4720" y="2743200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and expansion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474720" y="3401568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(cross-encoders, Cohere Rerank)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74720" y="4059936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dense + sparse (BM25 + DPR)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74720" y="4718304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Sentence-window &amp; parent-document retrieval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74720" y="5376672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complex documents, enterprise search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17920" y="1975104"/>
            <a:ext cx="265785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975104"/>
            <a:ext cx="2657856" cy="6705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975104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300" b="1" kern="12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03136" y="2023872"/>
            <a:ext cx="1975104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RAG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39840" y="2743200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retriever / generator modules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39840" y="3401568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&amp; adaptive retrieval loops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339840" y="4059936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FLARE: forward-looking active retrieval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339840" y="4718304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Fusion: multi-query generation + RRF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39840" y="5376672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research pipelines, custom workflows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083040" y="1975104"/>
            <a:ext cx="2657856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83040" y="1975104"/>
            <a:ext cx="2657856" cy="6705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83040" y="1975104"/>
            <a:ext cx="609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300" b="1" kern="120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668256" y="2023872"/>
            <a:ext cx="1975104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204960" y="2743200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decides when &amp; what to retrieve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204960" y="3401568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 with tool use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204960" y="4059936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Reflexion, IRCOT frameworks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204960" y="4718304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Self-correcting via feedback loops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204960" y="5376672"/>
            <a:ext cx="2438400" cy="58521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autonomous assistants, complex tasks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70560" y="6559296"/>
            <a:ext cx="10728960" cy="0"/>
          </a:xfrm>
          <a:prstGeom prst="line">
            <a:avLst/>
          </a:prstGeom>
          <a:noFill/>
          <a:ln w="19050">
            <a:solidFill>
              <a:srgbClr val="14A9AE"/>
            </a:solidFill>
            <a:prstDash val="sysDash"/>
          </a:ln>
        </p:spPr>
      </p:sp>
      <p:sp>
        <p:nvSpPr>
          <p:cNvPr id="43" name="Text 41"/>
          <p:cNvSpPr/>
          <p:nvPr/>
        </p:nvSpPr>
        <p:spPr>
          <a:xfrm>
            <a:off x="3901440" y="6437376"/>
            <a:ext cx="4145280" cy="2682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algn="ctr" defTabSz="1219140">
              <a:buClrTx/>
            </a:pPr>
            <a:r>
              <a:rPr lang="en-US" sz="1100" i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Complexity &amp; Capability →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886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670560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37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Retrieval Approaches</a:t>
            </a:r>
            <a:endParaRPr lang="en-US" sz="3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487424"/>
            <a:ext cx="1121664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700" i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retrieval strategy is critical to RAG performance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950720"/>
            <a:ext cx="112166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680" y="1950720"/>
            <a:ext cx="97536" cy="99974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5904" y="2023872"/>
            <a:ext cx="390144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Retrieval (BM25 / TF-IDF)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5904" y="2438400"/>
            <a:ext cx="487680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interpretable, no training needed, strong for keyword-heavy queries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52160" y="2438400"/>
            <a:ext cx="566928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capture semantic similarity; fails on paraphrase or synonym queries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91200" y="2048256"/>
            <a:ext cx="0" cy="804672"/>
          </a:xfrm>
          <a:prstGeom prst="line">
            <a:avLst/>
          </a:prstGeom>
          <a:noFill/>
          <a:ln w="12700">
            <a:solidFill>
              <a:srgbClr val="D0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904" y="2048256"/>
            <a:ext cx="67056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100" i="1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52160" y="2048256"/>
            <a:ext cx="67056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100" i="1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3084576"/>
            <a:ext cx="112166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7680" y="3084576"/>
            <a:ext cx="97536" cy="999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904" y="3157728"/>
            <a:ext cx="390144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(DPR, Contriever)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5904" y="3572256"/>
            <a:ext cx="487680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semantic meaning; strong for natural language questions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52160" y="3572256"/>
            <a:ext cx="566928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training or fine-tuning; computationally expensive at scale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791200" y="3182112"/>
            <a:ext cx="0" cy="804672"/>
          </a:xfrm>
          <a:prstGeom prst="line">
            <a:avLst/>
          </a:prstGeom>
          <a:noFill/>
          <a:ln w="12700">
            <a:solidFill>
              <a:srgbClr val="D0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904" y="3182112"/>
            <a:ext cx="67056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100" i="1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852160" y="3182112"/>
            <a:ext cx="67056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100" i="1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680" y="4218432"/>
            <a:ext cx="112166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7680" y="4218432"/>
            <a:ext cx="97536" cy="99974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5904" y="4291584"/>
            <a:ext cx="390144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(Sparse + Dense)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5904" y="4706112"/>
            <a:ext cx="487680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worlds; robust across query types; used in enterprise search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52160" y="4706112"/>
            <a:ext cx="566928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score normalisation and careful weight tuning (RRF often used)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791200" y="4315968"/>
            <a:ext cx="0" cy="804672"/>
          </a:xfrm>
          <a:prstGeom prst="line">
            <a:avLst/>
          </a:prstGeom>
          <a:noFill/>
          <a:ln w="12700">
            <a:solidFill>
              <a:srgbClr val="D0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5904" y="4315968"/>
            <a:ext cx="67056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100" i="1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52160" y="4315968"/>
            <a:ext cx="67056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100" i="1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7680" y="5352288"/>
            <a:ext cx="112166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7680" y="5352288"/>
            <a:ext cx="97536" cy="999744"/>
          </a:xfrm>
          <a:prstGeom prst="rect">
            <a:avLst/>
          </a:prstGeom>
          <a:solidFill>
            <a:srgbClr val="14A9AE"/>
          </a:solidFill>
          <a:ln w="12700">
            <a:solidFill>
              <a:srgbClr val="14A9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904" y="5425440"/>
            <a:ext cx="390144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(Cross-Encoders)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55904" y="5839968"/>
            <a:ext cx="487680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accurate re-scoring of retrieved candidates; significantly improves precision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52160" y="5839968"/>
            <a:ext cx="566928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latency; cannot scale to full corpora; used as second-stage only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791200" y="5449824"/>
            <a:ext cx="0" cy="804672"/>
          </a:xfrm>
          <a:prstGeom prst="line">
            <a:avLst/>
          </a:prstGeom>
          <a:noFill/>
          <a:ln w="12700">
            <a:solidFill>
              <a:srgbClr val="D0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5904" y="5449824"/>
            <a:ext cx="67056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100" i="1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852160" y="5449824"/>
            <a:ext cx="67056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100" i="1" kern="1200" dirty="0">
                <a:solidFill>
                  <a:srgbClr val="8B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5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19456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b="1" spc="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STRENGTHS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670560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37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of RAG</a:t>
            </a:r>
            <a:endParaRPr lang="en-US" sz="3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487424"/>
            <a:ext cx="1121664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700" i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is widely adopted in production AI systems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92633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680" y="1926336"/>
            <a:ext cx="85344" cy="13655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984" y="2023872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7136" y="202387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 &amp; Grounding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7136" y="243840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conditioning generation on retrieved documents, RAG dramatically reduces hallucination. The model cites its sources, enabling fact-verification.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0" y="192633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926336"/>
            <a:ext cx="85344" cy="13655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2023872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0256" y="202387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Required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0256" y="243840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can be updated simply by refreshing the vector store — without expensive fine-tuning or full model retraining cycles.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351129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7680" y="3511296"/>
            <a:ext cx="85344" cy="13655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984" y="3608832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7136" y="360883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Adaptability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7136" y="402336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LLM backbone can serve multiple verticals (legal, medical, financial) simply by swapping or partitioning the knowledge base.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0" y="351129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511296"/>
            <a:ext cx="85344" cy="13655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608832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20256" y="360883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Explainability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20256" y="402336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passages provide an audit trail. Users and auditors can verify which sources informed a given answer — critical in regulated industries.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509625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7680" y="5096256"/>
            <a:ext cx="85344" cy="13655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984" y="5193792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7136" y="519379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Scaling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7136" y="560832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knowledge externally is far cheaper than encoding it in model parameters. As knowledge grows, only storage scales — not compute.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0" y="509625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5096256"/>
            <a:ext cx="85344" cy="1365504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7104" y="5193792"/>
            <a:ext cx="3657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20256" y="519379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&amp; Real-Time Knowledge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20256" y="560832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 can be updated continuously, enabling the system to handle breaking news, real-time data feeds, and live enterprise databases.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62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670560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37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 &amp; Challenges</a:t>
            </a:r>
            <a:endParaRPr lang="en-US" sz="3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487424"/>
            <a:ext cx="1121664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700" i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failure modes and active research problems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92633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680" y="1926336"/>
            <a:ext cx="85344" cy="1365504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984" y="2023872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7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7136" y="202387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Bottleneck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7136" y="243840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quality is fundamentally bounded by retrieval quality. Irrelevant or misleading retrieved chunks propagate errors into the final response (GIGO problem).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0" y="192633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926336"/>
            <a:ext cx="85344" cy="1365504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2023872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7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0256" y="202387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Limitations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0256" y="243840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limited number of retrieved chunks fit in the context window. With long documents, critical information may be lost or diluted.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351129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7680" y="3511296"/>
            <a:ext cx="85344" cy="136550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984" y="3608832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7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07136" y="360883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Retrieval-Generation Mismatch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7136" y="402336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retriever and generator are often trained with different objectives. Misalignment between them leads to retrieved content that the generator cannot effectively use.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0" y="351129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511296"/>
            <a:ext cx="85344" cy="136550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608832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7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20256" y="360883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 Failure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20256" y="402336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struggles when the answer requires synthesising information across multiple non-adjacent documents (multi-hop, multi-document reasoning).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509625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7680" y="5096256"/>
            <a:ext cx="85344" cy="136550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984" y="5193792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700" b="1" kern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7136" y="519379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Overhead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7136" y="560832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 requires an embedding computation + vector search + LLM inference. This pipeline introduces significant latency vs. a standalone LLM.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0" y="5096256"/>
            <a:ext cx="5669280" cy="136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5096256"/>
            <a:ext cx="85344" cy="1365504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7104" y="5193792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700" b="1" kern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20256" y="5193792"/>
            <a:ext cx="524256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Dependency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20256" y="5608320"/>
            <a:ext cx="5242560" cy="780288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of retrieval depends heavily on the embedding model used. Domain mismatch between the embedding model and the corpus degrades performance.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937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19456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b="1" spc="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LIMITATIONS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670560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37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 &amp; Research Frontiers</a:t>
            </a:r>
            <a:endParaRPr lang="en-US" sz="3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487424"/>
            <a:ext cx="1121664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700" i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where RAG remains an unsolved challenge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950720"/>
            <a:ext cx="5669280" cy="13411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2072640"/>
            <a:ext cx="48768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048256"/>
            <a:ext cx="530352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Faithfulness </a:t>
            </a:r>
            <a:r>
              <a:rPr lang="en-US" sz="15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</a:t>
            </a:r>
            <a:r>
              <a:rPr lang="en-US" sz="15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Tension</a:t>
            </a:r>
            <a:endParaRPr lang="en-US" sz="15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487168"/>
            <a:ext cx="5425440" cy="73152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constrains the model to retrieved content, potentially suppressing valid inferences. How to balance grounding with generative flexibility is an open design problem.</a:t>
            </a:r>
            <a:endParaRPr lang="en-US" sz="12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1950720"/>
            <a:ext cx="5669280" cy="13411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2720" y="2072640"/>
            <a:ext cx="48768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22720" y="2048256"/>
            <a:ext cx="530352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Chunk </a:t>
            </a:r>
            <a:r>
              <a:rPr lang="en-US" sz="15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</a:t>
            </a:r>
            <a:r>
              <a:rPr lang="en-US" sz="15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</a:t>
            </a:r>
            <a:endParaRPr lang="en-US" sz="15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22720" y="2487168"/>
            <a:ext cx="5425440" cy="73152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documents at arbitrary boundaries fractures contextual coherence. Semantic chunking methods (propositions, discourse units) are actively being researched.</a:t>
            </a:r>
            <a:endParaRPr lang="en-US" sz="12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7680" y="3474720"/>
            <a:ext cx="5669280" cy="13411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" y="3596640"/>
            <a:ext cx="48768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3572256"/>
            <a:ext cx="530352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Evaluation </a:t>
            </a:r>
            <a:r>
              <a:rPr lang="en-US" sz="15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Gap</a:t>
            </a:r>
            <a:endParaRPr lang="en-US" sz="15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4011168"/>
            <a:ext cx="5425440" cy="73152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standardised benchmark captures the full RAG pipeline. Metrics like RAGAS, RGB, and ARES partially address this, but retrieval and generation evaluation remain coupled.</a:t>
            </a:r>
            <a:endParaRPr lang="en-US" sz="12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0" y="3474720"/>
            <a:ext cx="5669280" cy="13411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2720" y="3596640"/>
            <a:ext cx="48768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22720" y="3572256"/>
            <a:ext cx="530352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 smtClean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Adversarial </a:t>
            </a:r>
            <a:r>
              <a:rPr lang="en-US" sz="15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5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22720" y="4011168"/>
            <a:ext cx="5425440" cy="73152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 are vulnerable to corpus poisoning: an attacker injecting misleading documents into the knowledge base can systematically corrupt model outputs.</a:t>
            </a:r>
            <a:endParaRPr lang="en-US" sz="12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7680" y="4998720"/>
            <a:ext cx="5669280" cy="13411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600" y="5120640"/>
            <a:ext cx="48768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9600" y="5096256"/>
            <a:ext cx="530352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RAG</a:t>
            </a:r>
            <a:endParaRPr lang="en-US" sz="15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9600" y="5535168"/>
            <a:ext cx="5425440" cy="73152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LLMs gain longer context windows (128K+), the role of retrieval shifts. Understanding when retrieval helps vs. hurts at long context is an active empirical question.</a:t>
            </a:r>
            <a:endParaRPr lang="en-US" sz="12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4998720"/>
            <a:ext cx="5669280" cy="134112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2720" y="5120640"/>
            <a:ext cx="487680" cy="3657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22720" y="5096256"/>
            <a:ext cx="530352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</a:t>
            </a:r>
            <a:endParaRPr lang="en-US" sz="15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22720" y="5535168"/>
            <a:ext cx="5425440" cy="73152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RAG to images, audio, code, and tables requires cross-modal embedding spaces and retrieval mechanisms that are still maturing.</a:t>
            </a:r>
            <a:endParaRPr lang="en-US" sz="12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65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19456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b="1" spc="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APPLICATIONS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670560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37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of RAG</a:t>
            </a:r>
            <a:endParaRPr lang="en-US" sz="3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487424"/>
            <a:ext cx="1121664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700" i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across high-value, knowledge-intensive domains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950720"/>
            <a:ext cx="359664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680" y="1950720"/>
            <a:ext cx="3596640" cy="4876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984" y="1950720"/>
            <a:ext cx="3304032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Medicine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560320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 (EHR + literature)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901696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interaction Q&amp;A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3243072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coding assistance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3584448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Patient-facing symptom triage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91584" y="1950720"/>
            <a:ext cx="359664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1584" y="1950720"/>
            <a:ext cx="3596640" cy="487680"/>
          </a:xfrm>
          <a:prstGeom prst="rect">
            <a:avLst/>
          </a:prstGeom>
          <a:solidFill>
            <a:srgbClr val="4A4A9B"/>
          </a:solidFill>
          <a:ln w="12700">
            <a:solidFill>
              <a:srgbClr val="4A4A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7888" y="1950720"/>
            <a:ext cx="3304032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13504" y="2560320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4A4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analysis and review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13504" y="2901696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4A4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law research assistants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13504" y="3243072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4A4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checking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13504" y="3584448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4A4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automation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303707" y="1761930"/>
            <a:ext cx="359664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3707" y="1761930"/>
            <a:ext cx="3596640" cy="487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0011" y="1761930"/>
            <a:ext cx="3304032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25627" y="2371530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chatbots over HR / IT wikis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25627" y="2712906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over product docs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25627" y="3054282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(RFP automation)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25627" y="3395658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and training assistants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7680" y="4206240"/>
            <a:ext cx="359664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7680" y="4206240"/>
            <a:ext cx="3596640" cy="48768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984" y="4206240"/>
            <a:ext cx="3304032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Research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09600" y="4815840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Q&amp;A (Semantic Scholar)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09600" y="5157216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tutoring with curriculum retrieval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9600" y="5498592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Citation-grounded writing assistants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9600" y="5839968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acceleration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291584" y="4162298"/>
            <a:ext cx="359664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1584" y="4180404"/>
            <a:ext cx="3596640" cy="4876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4230524"/>
            <a:ext cx="3304032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Banking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413504" y="4871481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call Q&amp;A over filings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413504" y="5212857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 summarisation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413504" y="5554233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research assistants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413504" y="5895609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capital query systems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303707" y="4017450"/>
            <a:ext cx="3596640" cy="207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03707" y="4017450"/>
            <a:ext cx="3596640" cy="48768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50011" y="4017450"/>
            <a:ext cx="3304032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425627" y="4627050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Codebase-aware code generation (Cursor)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8425627" y="4968426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 Q&amp;A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425627" y="5309802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triage over issue trackers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425627" y="5651178"/>
            <a:ext cx="3352800" cy="316992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vulnerability lookup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12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19456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b="1" spc="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COMPARISON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525712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37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Fine-Tuning: When to Use Which?</a:t>
            </a:r>
            <a:endParaRPr lang="en-US" sz="3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1183626"/>
            <a:ext cx="11216640" cy="487680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183626"/>
            <a:ext cx="292608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535680" y="1183626"/>
            <a:ext cx="4084320" cy="4876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5680" y="1183626"/>
            <a:ext cx="408432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algn="ctr" defTabSz="1219140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0" y="1183626"/>
            <a:ext cx="4084320" cy="48768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0" y="1183626"/>
            <a:ext cx="408432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algn="ctr" defTabSz="1219140">
              <a:buClrTx/>
            </a:pPr>
            <a:r>
              <a:rPr lang="en-US" sz="1300" b="1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1707882"/>
            <a:ext cx="1121664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984" y="1707882"/>
            <a:ext cx="280416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Update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35680" y="1707882"/>
            <a:ext cx="390144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— update vector store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37120" y="1707882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500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56576" y="1707882"/>
            <a:ext cx="365760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full retraining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2219946"/>
            <a:ext cx="11216640" cy="487680"/>
          </a:xfrm>
          <a:prstGeom prst="rect">
            <a:avLst/>
          </a:prstGeom>
          <a:solidFill>
            <a:srgbClr val="F0F5F8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3984" y="2219946"/>
            <a:ext cx="280416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35680" y="2219946"/>
            <a:ext cx="390144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knowledge base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56576" y="2219946"/>
            <a:ext cx="365760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behavioural adaptation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2732010"/>
            <a:ext cx="1121664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984" y="2732010"/>
            <a:ext cx="280416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535680" y="2732010"/>
            <a:ext cx="390144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(grounded in retrieved docs)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37120" y="273201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500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56576" y="2732010"/>
            <a:ext cx="365760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hallucinate without retrieval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7680" y="3244074"/>
            <a:ext cx="11216640" cy="487680"/>
          </a:xfrm>
          <a:prstGeom prst="rect">
            <a:avLst/>
          </a:prstGeom>
          <a:solidFill>
            <a:srgbClr val="F0F5F8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984" y="3244074"/>
            <a:ext cx="280416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535680" y="3244074"/>
            <a:ext cx="390144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no model retraining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37120" y="3244074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500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656576" y="3244074"/>
            <a:ext cx="365760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GPU compute intensive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7680" y="3756138"/>
            <a:ext cx="1121664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984" y="3756138"/>
            <a:ext cx="280416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535680" y="3756138"/>
            <a:ext cx="390144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(retrieval overhead)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56576" y="3756138"/>
            <a:ext cx="365760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(single forward pass)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7680" y="4268202"/>
            <a:ext cx="11216640" cy="487680"/>
          </a:xfrm>
          <a:prstGeom prst="rect">
            <a:avLst/>
          </a:prstGeom>
          <a:solidFill>
            <a:srgbClr val="F0F5F8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984" y="4268202"/>
            <a:ext cx="280416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535680" y="4268202"/>
            <a:ext cx="390144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sources traceable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437120" y="4268202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500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656576" y="4268202"/>
            <a:ext cx="365760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knowledge implicit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87680" y="4780266"/>
            <a:ext cx="1121664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984" y="4780266"/>
            <a:ext cx="280416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Knowledge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535680" y="4780266"/>
            <a:ext cx="390144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— any doc in corpus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437120" y="4780266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buClrTx/>
            </a:pPr>
            <a:r>
              <a:rPr lang="en-US" sz="1500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56576" y="4780266"/>
            <a:ext cx="365760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by training coverage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87680" y="5292330"/>
            <a:ext cx="11216640" cy="487680"/>
          </a:xfrm>
          <a:prstGeom prst="rect">
            <a:avLst/>
          </a:prstGeom>
          <a:solidFill>
            <a:srgbClr val="F0F5F8"/>
          </a:solidFill>
          <a:ln w="6350">
            <a:solidFill>
              <a:srgbClr val="D0DD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984" y="5292330"/>
            <a:ext cx="280416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/ Tone Control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535680" y="5292330"/>
            <a:ext cx="390144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kern="120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— LLM's base style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656576" y="5292330"/>
            <a:ext cx="3657600" cy="48768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b="1" kern="120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— trainable</a:t>
            </a:r>
            <a:endParaRPr lang="en-US" sz="12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728005" y="5853162"/>
            <a:ext cx="11216640" cy="2682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200" i="1" kern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RAG + Fine-Tuning together (hybrid) often yields the best results in production.</a:t>
            </a:r>
            <a:endParaRPr lang="en-US" sz="1200" kern="1200" dirty="0">
              <a:solidFill>
                <a:schemeClr val="tx1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1952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87680" y="219456"/>
            <a:ext cx="2072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b="1" spc="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EVALUATION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670560"/>
            <a:ext cx="11216640" cy="87782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37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RAG Systems</a:t>
            </a:r>
            <a:endParaRPr lang="en-US" sz="3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487424"/>
            <a:ext cx="11216640" cy="390144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700" i="1" kern="12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and frameworks for measuring RAG quality</a:t>
            </a:r>
            <a:endParaRPr lang="en-US" sz="17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7680" y="195072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136" y="2060448"/>
            <a:ext cx="390144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2097024"/>
            <a:ext cx="1219200" cy="2682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097024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7136" y="2462784"/>
            <a:ext cx="5242560" cy="6705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retrieved chunks are actually relevant to the query?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0" y="195072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0256" y="2060448"/>
            <a:ext cx="390144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0668000" y="2097024"/>
            <a:ext cx="1219200" cy="2682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68000" y="2097024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0256" y="2462784"/>
            <a:ext cx="5242560" cy="6705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fraction of the relevant information was retrieved from the corpus?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341376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7136" y="3523488"/>
            <a:ext cx="390144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3560064"/>
            <a:ext cx="1219200" cy="2682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560064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/ TruLens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7136" y="3925824"/>
            <a:ext cx="5242560" cy="6705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claim in the generated answer supported by the retrieved context?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0" y="341376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3523488"/>
            <a:ext cx="390144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Relevance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668000" y="3560064"/>
            <a:ext cx="1219200" cy="2682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68000" y="3560064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20256" y="3925824"/>
            <a:ext cx="5242560" cy="6705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generated answer actually address the user's question?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7680" y="487680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7136" y="4986528"/>
            <a:ext cx="390144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NDCG@k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54880" y="5023104"/>
            <a:ext cx="1219200" cy="2682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5023104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Evaluation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7136" y="5388864"/>
            <a:ext cx="5242560" cy="6705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Discounted Cumulative Gain — classic IR metric for retrieval ranking quality.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00800" y="487680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4986528"/>
            <a:ext cx="3901440" cy="341376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500" b="1" kern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</a:t>
            </a:r>
            <a:endParaRPr lang="en-US" sz="15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0668000" y="5023104"/>
            <a:ext cx="1219200" cy="2682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68000" y="5023104"/>
            <a:ext cx="1219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buClrTx/>
            </a:pPr>
            <a:r>
              <a:rPr lang="en-US" sz="1100" kern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FactScore / SAFE</a:t>
            </a:r>
            <a:endParaRPr lang="en-US" sz="11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20256" y="5388864"/>
            <a:ext cx="5242560" cy="670560"/>
          </a:xfrm>
          <a:prstGeom prst="rect">
            <a:avLst/>
          </a:prstGeom>
          <a:noFill/>
          <a:ln/>
        </p:spPr>
        <p:txBody>
          <a:bodyPr wrap="square" lIns="121914" tIns="60957" rIns="121914" bIns="60957" rtlCol="0" anchor="ctr"/>
          <a:lstStyle/>
          <a:p>
            <a:pPr defTabSz="1219140">
              <a:buClrTx/>
            </a:pPr>
            <a:r>
              <a:rPr lang="en-US" sz="1300" kern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generated statements not grounded in retrieved or world knowledge.</a:t>
            </a:r>
            <a:endParaRPr lang="en-US" sz="1300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8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1979</TotalTime>
  <Words>1678</Words>
  <Application>Microsoft Office PowerPoint</Application>
  <PresentationFormat>Custom</PresentationFormat>
  <Paragraphs>305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Fira Sans</vt:lpstr>
      <vt:lpstr>Custom Design</vt:lpstr>
      <vt:lpstr>Retrieval Augmented Generation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Pushpendra Kumar Dhansoia</dc:creator>
  <cp:lastModifiedBy>HP</cp:lastModifiedBy>
  <cp:revision>93</cp:revision>
  <dcterms:created xsi:type="dcterms:W3CDTF">2022-02-21T05:08:08Z</dcterms:created>
  <dcterms:modified xsi:type="dcterms:W3CDTF">2026-04-30T06:35:07Z</dcterms:modified>
</cp:coreProperties>
</file>