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728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EFF-60D0-4C85-A7E1-671C82BDD0B5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88AF-D389-4CBF-AA03-7CCBF7264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370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EFF-60D0-4C85-A7E1-671C82BDD0B5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88AF-D389-4CBF-AA03-7CCBF7264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633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EFF-60D0-4C85-A7E1-671C82BDD0B5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88AF-D389-4CBF-AA03-7CCBF7264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779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EFF-60D0-4C85-A7E1-671C82BDD0B5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88AF-D389-4CBF-AA03-7CCBF7264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568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EFF-60D0-4C85-A7E1-671C82BDD0B5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88AF-D389-4CBF-AA03-7CCBF7264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182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EFF-60D0-4C85-A7E1-671C82BDD0B5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88AF-D389-4CBF-AA03-7CCBF7264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224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EFF-60D0-4C85-A7E1-671C82BDD0B5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88AF-D389-4CBF-AA03-7CCBF7264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985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EFF-60D0-4C85-A7E1-671C82BDD0B5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88AF-D389-4CBF-AA03-7CCBF7264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706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EFF-60D0-4C85-A7E1-671C82BDD0B5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88AF-D389-4CBF-AA03-7CCBF7264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086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EFF-60D0-4C85-A7E1-671C82BDD0B5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88AF-D389-4CBF-AA03-7CCBF7264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65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EFF-60D0-4C85-A7E1-671C82BDD0B5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88AF-D389-4CBF-AA03-7CCBF7264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709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F7EFF-60D0-4C85-A7E1-671C82BDD0B5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E88AF-D389-4CBF-AA03-7CCBF7264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853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Region based Segmentation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127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Region Growing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8207288"/>
              </p:ext>
            </p:extLst>
          </p:nvPr>
        </p:nvGraphicFramePr>
        <p:xfrm>
          <a:off x="457200" y="1600200"/>
          <a:ext cx="82296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802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Region Growing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/>
                      </a:rPr>
                      <m:t>max</m:t>
                    </m:r>
                    <m:r>
                      <a:rPr lang="en-IN" b="0" i="1" smtClean="0">
                        <a:latin typeface="Cambria Math"/>
                      </a:rPr>
                      <m:t>⁡{</m:t>
                    </m:r>
                    <m:r>
                      <a:rPr lang="en-IN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I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/>
                          </a:rPr>
                          <m:t>𝑥</m:t>
                        </m:r>
                        <m:r>
                          <a:rPr lang="en-IN" b="0" i="1" smtClean="0">
                            <a:latin typeface="Cambria Math"/>
                          </a:rPr>
                          <m:t>,</m:t>
                        </m:r>
                        <m:r>
                          <a:rPr lang="en-IN" b="0" i="1" smtClean="0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IN" b="0" i="1" smtClean="0">
                        <a:latin typeface="Cambria Math"/>
                      </a:rPr>
                      <m:t>} −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/>
                      </a:rPr>
                      <m:t>min</m:t>
                    </m:r>
                    <m:r>
                      <a:rPr lang="en-IN" b="0" i="1" smtClean="0">
                        <a:latin typeface="Cambria Math"/>
                      </a:rPr>
                      <m:t>⁡{</m:t>
                    </m:r>
                    <m:r>
                      <a:rPr lang="en-IN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I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/>
                          </a:rPr>
                          <m:t>𝑥</m:t>
                        </m:r>
                        <m:r>
                          <a:rPr lang="en-IN" b="0" i="1" smtClean="0">
                            <a:latin typeface="Cambria Math"/>
                          </a:rPr>
                          <m:t>,</m:t>
                        </m:r>
                        <m:r>
                          <a:rPr lang="en-IN" b="0" i="1" smtClean="0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IN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en-IN" dirty="0" smtClean="0"/>
                  <a:t> &lt;= 3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6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9140941"/>
              </p:ext>
            </p:extLst>
          </p:nvPr>
        </p:nvGraphicFramePr>
        <p:xfrm>
          <a:off x="467544" y="2924944"/>
          <a:ext cx="8229600" cy="3261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5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7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7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7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2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IN" sz="2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7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5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5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7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rgbClr val="7030A0"/>
                          </a:solidFill>
                        </a:rPr>
                        <a:t>5</a:t>
                      </a:r>
                      <a:endParaRPr lang="en-IN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en-IN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5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5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en-IN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en-IN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en-IN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en-IN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rgbClr val="7030A0"/>
                          </a:solidFill>
                        </a:rPr>
                        <a:t>7</a:t>
                      </a:r>
                      <a:endParaRPr lang="en-IN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2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IN" sz="2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rgbClr val="7030A0"/>
                          </a:solidFill>
                        </a:rPr>
                        <a:t>5</a:t>
                      </a:r>
                      <a:endParaRPr lang="en-IN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rgbClr val="7030A0"/>
                          </a:solidFill>
                        </a:rPr>
                        <a:t>6</a:t>
                      </a:r>
                      <a:endParaRPr lang="en-IN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en-IN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en-IN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rgbClr val="7030A0"/>
                          </a:solidFill>
                        </a:rPr>
                        <a:t>5</a:t>
                      </a:r>
                      <a:endParaRPr lang="en-IN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rgbClr val="7030A0"/>
                          </a:solidFill>
                        </a:rPr>
                        <a:t>4</a:t>
                      </a:r>
                      <a:endParaRPr lang="en-IN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43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Region splitting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215098"/>
              </p:ext>
            </p:extLst>
          </p:nvPr>
        </p:nvGraphicFramePr>
        <p:xfrm>
          <a:off x="1691680" y="1772816"/>
          <a:ext cx="5770984" cy="326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1373"/>
                <a:gridCol w="721373"/>
                <a:gridCol w="721373"/>
                <a:gridCol w="721373"/>
                <a:gridCol w="721373"/>
                <a:gridCol w="721373"/>
                <a:gridCol w="721373"/>
                <a:gridCol w="721373"/>
              </a:tblGrid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2123728" y="5229200"/>
                <a:ext cx="5184576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1" i="0" smtClean="0">
                        <a:latin typeface="Cambria Math"/>
                      </a:rPr>
                      <m:t>𝐦𝐚𝐱</m:t>
                    </m:r>
                    <m:r>
                      <a:rPr lang="en-IN" sz="2000" b="1" i="1" smtClean="0">
                        <a:latin typeface="Cambria Math"/>
                      </a:rPr>
                      <m:t>⁡{</m:t>
                    </m:r>
                    <m:r>
                      <a:rPr lang="en-IN" sz="2000" b="1" i="1" smtClean="0">
                        <a:latin typeface="Cambria Math"/>
                      </a:rPr>
                      <m:t>𝒈</m:t>
                    </m:r>
                    <m:d>
                      <m:dPr>
                        <m:ctrlPr>
                          <a:rPr lang="en-IN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IN" sz="2000" b="1" i="1" smtClean="0">
                            <a:latin typeface="Cambria Math"/>
                          </a:rPr>
                          <m:t>𝒙</m:t>
                        </m:r>
                        <m:r>
                          <a:rPr lang="en-IN" sz="2000" b="1" i="1" smtClean="0">
                            <a:latin typeface="Cambria Math"/>
                          </a:rPr>
                          <m:t>,</m:t>
                        </m:r>
                        <m:r>
                          <a:rPr lang="en-IN" sz="2000" b="1" i="1" smtClean="0"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IN" sz="2000" b="1" i="1" smtClean="0">
                        <a:latin typeface="Cambria Math"/>
                      </a:rPr>
                      <m:t>} −</m:t>
                    </m:r>
                    <m:r>
                      <a:rPr lang="en-IN" sz="2000" b="1" i="0" smtClean="0">
                        <a:latin typeface="Cambria Math"/>
                      </a:rPr>
                      <m:t>𝐦𝐢𝐧</m:t>
                    </m:r>
                    <m:r>
                      <a:rPr lang="en-IN" sz="2000" b="1" i="1" smtClean="0">
                        <a:latin typeface="Cambria Math"/>
                      </a:rPr>
                      <m:t>⁡{</m:t>
                    </m:r>
                    <m:r>
                      <a:rPr lang="en-IN" sz="2000" b="1" i="1" smtClean="0">
                        <a:latin typeface="Cambria Math"/>
                      </a:rPr>
                      <m:t>𝒈</m:t>
                    </m:r>
                    <m:d>
                      <m:dPr>
                        <m:ctrlPr>
                          <a:rPr lang="en-IN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IN" sz="2000" b="1" i="1" smtClean="0">
                            <a:latin typeface="Cambria Math"/>
                          </a:rPr>
                          <m:t>𝒙</m:t>
                        </m:r>
                        <m:r>
                          <a:rPr lang="en-IN" sz="2000" b="1" i="1" smtClean="0">
                            <a:latin typeface="Cambria Math"/>
                          </a:rPr>
                          <m:t>,</m:t>
                        </m:r>
                        <m:r>
                          <a:rPr lang="en-IN" sz="2000" b="1" i="1" smtClean="0"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IN" sz="2000" b="1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en-IN" sz="2000" b="1" dirty="0" smtClean="0"/>
                  <a:t> &lt;= 3</a:t>
                </a:r>
                <a:endParaRPr lang="en-IN" sz="2000" b="1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5229200"/>
                <a:ext cx="5184576" cy="400110"/>
              </a:xfrm>
              <a:prstGeom prst="rect">
                <a:avLst/>
              </a:prstGeom>
              <a:blipFill rotWithShape="1">
                <a:blip r:embed="rId2"/>
                <a:stretch>
                  <a:fillRect t="-7692" b="-2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91580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R1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791580" y="400506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R3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7884368" y="4037337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R4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7884368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44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Region Splitting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R1 and R3 satisfy homogeneity condition means all pixels in R1 satisfy threshold &lt;=3 condition.</a:t>
            </a:r>
          </a:p>
          <a:p>
            <a:endParaRPr lang="en-IN" dirty="0"/>
          </a:p>
          <a:p>
            <a:r>
              <a:rPr lang="en-IN" dirty="0" smtClean="0"/>
              <a:t>R1 is 7 – 4 = 3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R2 is 7 – 2 = 5</a:t>
            </a:r>
          </a:p>
          <a:p>
            <a:r>
              <a:rPr lang="en-IN" dirty="0" smtClean="0"/>
              <a:t>R3 is 3 – 0 = 3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R4 is 7 – 0 = 7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164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Region Splitting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0706220"/>
              </p:ext>
            </p:extLst>
          </p:nvPr>
        </p:nvGraphicFramePr>
        <p:xfrm>
          <a:off x="1691680" y="1772816"/>
          <a:ext cx="5770984" cy="326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1373"/>
                <a:gridCol w="721373"/>
                <a:gridCol w="721373"/>
                <a:gridCol w="721373"/>
                <a:gridCol w="721373"/>
                <a:gridCol w="721373"/>
                <a:gridCol w="721373"/>
                <a:gridCol w="721373"/>
              </a:tblGrid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71600" y="2420888"/>
            <a:ext cx="4267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R1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971600" y="396806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R3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7812360" y="2209613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R2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7812360" y="4003801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R4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2699792" y="58772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Final Answer of Region splitting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331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Region Merging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IN" b="1" i="0" smtClean="0">
                        <a:latin typeface="Cambria Math"/>
                      </a:rPr>
                      <m:t>𝐦𝐚𝐱</m:t>
                    </m:r>
                    <m:r>
                      <a:rPr lang="en-IN" b="1" i="1" smtClean="0">
                        <a:latin typeface="Cambria Math"/>
                      </a:rPr>
                      <m:t>⁡{</m:t>
                    </m:r>
                    <m:r>
                      <a:rPr lang="en-IN" b="1" i="1" smtClean="0">
                        <a:latin typeface="Cambria Math"/>
                      </a:rPr>
                      <m:t>𝒈</m:t>
                    </m:r>
                    <m:d>
                      <m:dPr>
                        <m:ctrlPr>
                          <a:rPr lang="en-IN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IN" b="1" i="1" smtClean="0">
                            <a:latin typeface="Cambria Math"/>
                          </a:rPr>
                          <m:t>𝒙</m:t>
                        </m:r>
                        <m:r>
                          <a:rPr lang="en-IN" b="1" i="1" smtClean="0">
                            <a:latin typeface="Cambria Math"/>
                          </a:rPr>
                          <m:t>,</m:t>
                        </m:r>
                        <m:r>
                          <a:rPr lang="en-IN" b="1" i="1" smtClean="0"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IN" b="1" i="1" smtClean="0">
                        <a:latin typeface="Cambria Math"/>
                      </a:rPr>
                      <m:t>} −</m:t>
                    </m:r>
                    <m:r>
                      <a:rPr lang="en-IN" b="1" i="0" smtClean="0">
                        <a:latin typeface="Cambria Math"/>
                      </a:rPr>
                      <m:t>𝐦𝐢𝐧</m:t>
                    </m:r>
                    <m:r>
                      <a:rPr lang="en-IN" b="1" i="1" smtClean="0">
                        <a:latin typeface="Cambria Math"/>
                      </a:rPr>
                      <m:t>⁡{</m:t>
                    </m:r>
                    <m:r>
                      <a:rPr lang="en-IN" b="1" i="1" smtClean="0">
                        <a:latin typeface="Cambria Math"/>
                      </a:rPr>
                      <m:t>𝒈</m:t>
                    </m:r>
                    <m:d>
                      <m:dPr>
                        <m:ctrlPr>
                          <a:rPr lang="en-IN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IN" b="1" i="1" smtClean="0">
                            <a:latin typeface="Cambria Math"/>
                          </a:rPr>
                          <m:t>𝒙</m:t>
                        </m:r>
                        <m:r>
                          <a:rPr lang="en-IN" b="1" i="1" smtClean="0">
                            <a:latin typeface="Cambria Math"/>
                          </a:rPr>
                          <m:t>,</m:t>
                        </m:r>
                        <m:r>
                          <a:rPr lang="en-IN" b="1" i="1" smtClean="0"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IN" b="1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en-IN" b="1" dirty="0" smtClean="0"/>
                  <a:t> &lt;= 3</a:t>
                </a:r>
                <a:endParaRPr lang="en-IN" b="1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6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3440697"/>
              </p:ext>
            </p:extLst>
          </p:nvPr>
        </p:nvGraphicFramePr>
        <p:xfrm>
          <a:off x="1763688" y="2348880"/>
          <a:ext cx="5770984" cy="326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1373"/>
                <a:gridCol w="721373"/>
                <a:gridCol w="721373"/>
                <a:gridCol w="721373"/>
                <a:gridCol w="721373"/>
                <a:gridCol w="721373"/>
                <a:gridCol w="721373"/>
                <a:gridCol w="721373"/>
              </a:tblGrid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08620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360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Region Merging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Check for four adjacent homogeneous regions</a:t>
            </a:r>
          </a:p>
          <a:p>
            <a:r>
              <a:rPr lang="en-IN" dirty="0" smtClean="0"/>
              <a:t>Image after step 1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163" y="2996952"/>
            <a:ext cx="5780087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5474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Region Split and Merge</a:t>
            </a:r>
            <a:endParaRPr lang="en-IN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521" y="1929336"/>
            <a:ext cx="6496957" cy="3867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518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225" y="852488"/>
            <a:ext cx="6811963" cy="515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787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38" y="1466850"/>
            <a:ext cx="7145337" cy="392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676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0" y="1771650"/>
            <a:ext cx="7364413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329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895350"/>
            <a:ext cx="7631113" cy="506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3912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719138"/>
            <a:ext cx="5783263" cy="541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865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71600" y="18288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685800">
                <a:tc>
                  <a:txBody>
                    <a:bodyPr/>
                    <a:lstStyle/>
                    <a:p>
                      <a:r>
                        <a:rPr dirty="0"/>
                        <a:t>10</a:t>
                      </a:r>
                    </a:p>
                  </a:txBody>
                  <a:tcPr>
                    <a:solidFill>
                      <a:srgbClr val="ADD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>
                    <a:solidFill>
                      <a:srgbClr val="ADD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205</a:t>
                      </a:r>
                    </a:p>
                  </a:txBody>
                  <a:tcPr>
                    <a:solidFill>
                      <a:srgbClr val="FFB6C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>
                    <a:solidFill>
                      <a:srgbClr val="ADD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>
                    <a:solidFill>
                      <a:srgbClr val="ADD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</a:t>
                      </a:r>
                    </a:p>
                  </a:txBody>
                  <a:tcPr>
                    <a:solidFill>
                      <a:srgbClr val="FFB6C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>
                    <a:solidFill>
                      <a:srgbClr val="ADD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>
                    <a:solidFill>
                      <a:srgbClr val="ADD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>
                    <a:solidFill>
                      <a:srgbClr val="ADD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>
                    <a:solidFill>
                      <a:srgbClr val="ADD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54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51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488</Words>
  <Application>Microsoft Office PowerPoint</Application>
  <PresentationFormat>On-screen Show (4:3)</PresentationFormat>
  <Paragraphs>365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Region based Segmentation</vt:lpstr>
      <vt:lpstr>Region Growing</vt:lpstr>
      <vt:lpstr>Region Growing</vt:lpstr>
      <vt:lpstr>Region splitting</vt:lpstr>
      <vt:lpstr>Region Splitting</vt:lpstr>
      <vt:lpstr>Region Splitting</vt:lpstr>
      <vt:lpstr>Region Merging</vt:lpstr>
      <vt:lpstr>Region Merging</vt:lpstr>
      <vt:lpstr>Region Split and Merge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Region based Segmentation</dc:title>
  <dc:creator>Admin</dc:creator>
  <cp:lastModifiedBy>Admin</cp:lastModifiedBy>
  <cp:revision>5</cp:revision>
  <dcterms:created xsi:type="dcterms:W3CDTF">2026-04-01T06:11:41Z</dcterms:created>
  <dcterms:modified xsi:type="dcterms:W3CDTF">2026-04-01T07:08:36Z</dcterms:modified>
</cp:coreProperties>
</file>