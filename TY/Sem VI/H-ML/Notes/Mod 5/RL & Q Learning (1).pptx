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67" r:id="rId10"/>
    <p:sldId id="280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F81EB-4275-4AC0-B1F1-FC299F8A8FB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2BB7D-583C-49F5-AAE4-987AD8DBE3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39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2BB7D-583C-49F5-AAE4-987AD8DBE33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26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18513" y="2498217"/>
            <a:ext cx="550697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4222" y="72390"/>
            <a:ext cx="751555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4330"/>
            <a:ext cx="8013065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Reinforcement</a:t>
            </a:r>
            <a:r>
              <a:rPr sz="4400" b="0" spc="-35" dirty="0">
                <a:latin typeface="Times New Roman"/>
                <a:cs typeface="Times New Roman"/>
              </a:rPr>
              <a:t> </a:t>
            </a:r>
            <a:r>
              <a:rPr sz="4400" b="0" spc="-10" dirty="0">
                <a:latin typeface="Times New Roman"/>
                <a:cs typeface="Times New Roman"/>
              </a:rPr>
              <a:t>Learning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565149"/>
            <a:ext cx="3632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Reinforcement</a:t>
            </a:r>
            <a:r>
              <a:rPr spc="-114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941" y="955230"/>
            <a:ext cx="8603615" cy="529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51460" indent="-342900">
              <a:lnSpc>
                <a:spcPct val="1201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Reinforcement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sense 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environment, </a:t>
            </a:r>
            <a:r>
              <a:rPr sz="2400" dirty="0">
                <a:latin typeface="Times New Roman"/>
                <a:cs typeface="Times New Roman"/>
              </a:rPr>
              <a:t>learns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(act)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actions </a:t>
            </a:r>
            <a:r>
              <a:rPr sz="2400" dirty="0">
                <a:latin typeface="Times New Roman"/>
                <a:cs typeface="Times New Roman"/>
              </a:rPr>
              <a:t>(reinforcement)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Task</a:t>
            </a:r>
            <a:endParaRPr sz="2400">
              <a:latin typeface="Times New Roman"/>
              <a:cs typeface="Times New Roman"/>
            </a:endParaRPr>
          </a:p>
          <a:p>
            <a:pPr marL="927100" marR="5715" indent="-228600" algn="just">
              <a:lnSpc>
                <a:spcPct val="12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behave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successfully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goal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interacting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external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environment.</a:t>
            </a:r>
            <a:endParaRPr sz="2400">
              <a:latin typeface="Times New Roman"/>
              <a:cs typeface="Times New Roman"/>
            </a:endParaRPr>
          </a:p>
          <a:p>
            <a:pPr marL="868680" marR="5080" indent="-287020" algn="just">
              <a:lnSpc>
                <a:spcPct val="120000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goal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learn</a:t>
            </a:r>
            <a:r>
              <a:rPr sz="2400" b="1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action</a:t>
            </a:r>
            <a:r>
              <a:rPr sz="2400" b="1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policy</a:t>
            </a:r>
            <a:r>
              <a:rPr sz="2400" b="1" spc="10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maximizes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starting state.</a:t>
            </a:r>
            <a:endParaRPr sz="24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Examples</a:t>
            </a:r>
            <a:endParaRPr sz="2400">
              <a:latin typeface="Times New Roman"/>
              <a:cs typeface="Times New Roman"/>
            </a:endParaRPr>
          </a:p>
          <a:p>
            <a:pPr marL="756285" marR="471170" indent="-287020" algn="just">
              <a:lnSpc>
                <a:spcPts val="3460"/>
              </a:lnSpc>
              <a:spcBef>
                <a:spcPts val="95"/>
              </a:spcBef>
            </a:pP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Game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playing: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lose,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25" dirty="0">
                <a:latin typeface="Times New Roman"/>
                <a:cs typeface="Times New Roman"/>
              </a:rPr>
              <a:t> not </a:t>
            </a:r>
            <a:r>
              <a:rPr sz="2400" dirty="0">
                <a:latin typeface="Times New Roman"/>
                <a:cs typeface="Times New Roman"/>
              </a:rPr>
              <a:t>know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step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-13588"/>
            <a:ext cx="28854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Times New Roman"/>
                <a:cs typeface="Times New Roman"/>
              </a:rPr>
              <a:t>Applications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140" y="999490"/>
            <a:ext cx="656145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100"/>
              </a:spcBef>
              <a:buChar char="•"/>
              <a:tabLst>
                <a:tab pos="17843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robot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recharging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battery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spc="-10" dirty="0">
                <a:latin typeface="Times New Roman"/>
                <a:cs typeface="Times New Roman"/>
              </a:rPr>
              <a:t>Robot-soccer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invest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Modeling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economy through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agents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helicopter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Scheduling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their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destinations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365">
              <a:lnSpc>
                <a:spcPct val="100000"/>
              </a:lnSpc>
              <a:spcBef>
                <a:spcPts val="95"/>
              </a:spcBef>
            </a:pPr>
            <a:r>
              <a:rPr dirty="0"/>
              <a:t>Reinforcement</a:t>
            </a:r>
            <a:r>
              <a:rPr spc="-110" dirty="0"/>
              <a:t> </a:t>
            </a:r>
            <a:r>
              <a:rPr dirty="0"/>
              <a:t>Learning</a:t>
            </a:r>
            <a:r>
              <a:rPr spc="-12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529589"/>
            <a:ext cx="8593455" cy="357377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7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RL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primary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components: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Agent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(A)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trial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error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Environment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World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agent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moves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(interact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action)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9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(S)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Current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situation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environment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7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Reward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(R)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 immediate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 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environment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appraise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last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9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Policy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(π)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–Agent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decide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current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30" dirty="0">
                <a:latin typeface="Times New Roman"/>
                <a:cs typeface="Times New Roman"/>
              </a:rPr>
              <a:t>Value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(V)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Expected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long-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discount.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Oppose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short-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reward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(R)</a:t>
            </a:r>
            <a:endParaRPr sz="1800">
              <a:latin typeface="Times New Roman"/>
              <a:cs typeface="Times New Roman"/>
            </a:endParaRPr>
          </a:p>
          <a:p>
            <a:pPr marL="299085" marR="431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Action-</a:t>
            </a:r>
            <a:r>
              <a:rPr sz="1800" spc="-35" dirty="0">
                <a:latin typeface="Times New Roman"/>
                <a:cs typeface="Times New Roman"/>
              </a:rPr>
              <a:t>Value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(Q)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Similar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except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additional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parameter,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current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(A)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800">
              <a:latin typeface="Times New Roman"/>
              <a:cs typeface="Times New Roman"/>
            </a:endParaRPr>
          </a:p>
          <a:p>
            <a:pPr marL="264668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Figure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shows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RL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learning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from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interaction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4495800"/>
            <a:ext cx="4479855" cy="21788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9658" y="247015"/>
            <a:ext cx="2423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RL</a:t>
            </a:r>
            <a:r>
              <a:rPr spc="-45" dirty="0"/>
              <a:t> </a:t>
            </a: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05078"/>
            <a:ext cx="8578850" cy="56673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approaches</a:t>
            </a:r>
            <a:endParaRPr sz="2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Times New Roman"/>
              <a:buChar char="–"/>
              <a:tabLst>
                <a:tab pos="756285" algn="l"/>
              </a:tabLst>
            </a:pPr>
            <a:r>
              <a:rPr sz="2800" i="1" dirty="0">
                <a:latin typeface="Times New Roman"/>
                <a:cs typeface="Times New Roman"/>
              </a:rPr>
              <a:t>Model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based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approach</a:t>
            </a:r>
            <a:r>
              <a:rPr sz="2800" i="1" spc="-80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RL</a:t>
            </a:r>
            <a:r>
              <a:rPr sz="2800" spc="-2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155065" lvl="2" indent="-227965">
              <a:lnSpc>
                <a:spcPct val="100000"/>
              </a:lnSpc>
              <a:spcBef>
                <a:spcPts val="640"/>
              </a:spcBef>
              <a:buChar char="•"/>
              <a:tabLst>
                <a:tab pos="1155065" algn="l"/>
                <a:tab pos="7120255" algn="l"/>
              </a:tabLst>
            </a:pP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policy.</a:t>
            </a:r>
            <a:endParaRPr sz="2400">
              <a:latin typeface="Times New Roman"/>
              <a:cs typeface="Times New Roman"/>
            </a:endParaRPr>
          </a:p>
          <a:p>
            <a:pPr marL="1193800">
              <a:lnSpc>
                <a:spcPct val="100000"/>
              </a:lnSpc>
              <a:spcBef>
                <a:spcPts val="610"/>
              </a:spcBef>
              <a:tabLst>
                <a:tab pos="1795145" algn="l"/>
              </a:tabLst>
            </a:pPr>
            <a:r>
              <a:rPr sz="2800" spc="-25" dirty="0">
                <a:latin typeface="Times New Roman"/>
                <a:cs typeface="Times New Roman"/>
              </a:rPr>
              <a:t>e.g</a:t>
            </a:r>
            <a:r>
              <a:rPr sz="2800" dirty="0">
                <a:latin typeface="Times New Roman"/>
                <a:cs typeface="Times New Roman"/>
              </a:rPr>
              <a:t>	Adaptive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dynamic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learning(ADP)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approach</a:t>
            </a:r>
            <a:endParaRPr sz="280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670"/>
              </a:spcBef>
              <a:buFont typeface="Times New Roman"/>
              <a:buChar char="–"/>
              <a:tabLst>
                <a:tab pos="756285" algn="l"/>
              </a:tabLst>
            </a:pPr>
            <a:r>
              <a:rPr sz="2800" i="1" dirty="0">
                <a:latin typeface="Times New Roman"/>
                <a:cs typeface="Times New Roman"/>
              </a:rPr>
              <a:t>Model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free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approach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RL</a:t>
            </a:r>
            <a:r>
              <a:rPr sz="2800" spc="-2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155065" lvl="1" indent="-227965">
              <a:lnSpc>
                <a:spcPct val="100000"/>
              </a:lnSpc>
              <a:spcBef>
                <a:spcPts val="640"/>
              </a:spcBef>
              <a:buChar char="•"/>
              <a:tabLst>
                <a:tab pos="1155065" algn="l"/>
              </a:tabLst>
            </a:pPr>
            <a:r>
              <a:rPr sz="2400" dirty="0">
                <a:latin typeface="Times New Roman"/>
                <a:cs typeface="Times New Roman"/>
              </a:rPr>
              <a:t>derive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optimal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610"/>
              </a:spcBef>
              <a:tabLst>
                <a:tab pos="1757045" algn="l"/>
              </a:tabLst>
            </a:pPr>
            <a:r>
              <a:rPr sz="2800" spc="-25" dirty="0">
                <a:latin typeface="Times New Roman"/>
                <a:cs typeface="Times New Roman"/>
              </a:rPr>
              <a:t>e.g</a:t>
            </a:r>
            <a:r>
              <a:rPr sz="2800" dirty="0">
                <a:latin typeface="Times New Roman"/>
                <a:cs typeface="Times New Roman"/>
              </a:rPr>
              <a:t>	LMS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Temporal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difference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approach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Passive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20000"/>
              </a:lnSpc>
              <a:buChar char="–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watches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 during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transition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utilities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Active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watches,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8280" y="254888"/>
            <a:ext cx="464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Reinforcement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4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2534" y="836041"/>
            <a:ext cx="8424266" cy="518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080" marR="5715" indent="-501015" algn="just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51689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percept(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enough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State(the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spc="-10" dirty="0">
                <a:latin typeface="Times New Roman"/>
                <a:cs typeface="Times New Roman"/>
              </a:rPr>
              <a:t>accessible)</a:t>
            </a:r>
            <a:endParaRPr sz="2400" dirty="0">
              <a:latin typeface="Times New Roman"/>
              <a:cs typeface="Times New Roman"/>
            </a:endParaRPr>
          </a:p>
          <a:p>
            <a:pPr marL="513080" marR="5080" indent="-501015" algn="just">
              <a:lnSpc>
                <a:spcPct val="150000"/>
              </a:lnSpc>
              <a:spcBef>
                <a:spcPts val="575"/>
              </a:spcBef>
              <a:buFont typeface="Arial"/>
              <a:buChar char="•"/>
              <a:tabLst>
                <a:tab pos="516890" algn="l"/>
              </a:tabLst>
            </a:pPr>
            <a:r>
              <a:rPr sz="2400" b="1" dirty="0">
                <a:latin typeface="Times New Roman"/>
                <a:cs typeface="Times New Roman"/>
              </a:rPr>
              <a:t>Agent’s</a:t>
            </a:r>
            <a:r>
              <a:rPr sz="2400" b="1" spc="2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task:</a:t>
            </a:r>
            <a:r>
              <a:rPr sz="2400" b="1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2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policy</a:t>
            </a:r>
            <a:r>
              <a:rPr sz="2400" spc="2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22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mapping</a:t>
            </a:r>
            <a:r>
              <a:rPr sz="2400" spc="2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of 	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actions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agent,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maximize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long-</a:t>
            </a:r>
            <a:r>
              <a:rPr sz="2400" spc="-25" dirty="0">
                <a:latin typeface="Times New Roman"/>
                <a:cs typeface="Times New Roman"/>
              </a:rPr>
              <a:t>run 	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(reinforcement)</a:t>
            </a:r>
            <a:endParaRPr sz="2400" dirty="0">
              <a:latin typeface="Times New Roman"/>
              <a:cs typeface="Times New Roman"/>
            </a:endParaRPr>
          </a:p>
          <a:p>
            <a:pPr marL="513715" indent="-501015" algn="just">
              <a:lnSpc>
                <a:spcPct val="100000"/>
              </a:lnSpc>
              <a:spcBef>
                <a:spcPts val="2014"/>
              </a:spcBef>
              <a:buFont typeface="Arial"/>
              <a:buChar char="•"/>
              <a:tabLst>
                <a:tab pos="51371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Markov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(MDP)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model.</a:t>
            </a:r>
            <a:endParaRPr sz="2400" dirty="0">
              <a:latin typeface="Times New Roman"/>
              <a:cs typeface="Times New Roman"/>
            </a:endParaRPr>
          </a:p>
          <a:p>
            <a:pPr marL="970915" marR="5080" lvl="1" indent="-501650" algn="just">
              <a:lnSpc>
                <a:spcPct val="150000"/>
              </a:lnSpc>
              <a:spcBef>
                <a:spcPts val="580"/>
              </a:spcBef>
              <a:buFont typeface="Arial"/>
              <a:buChar char="•"/>
              <a:tabLst>
                <a:tab pos="974090" algn="l"/>
              </a:tabLst>
            </a:pPr>
            <a:r>
              <a:rPr sz="2400" dirty="0">
                <a:latin typeface="Times New Roman"/>
                <a:cs typeface="Times New Roman"/>
              </a:rPr>
              <a:t>Markov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MDP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7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mathematical 	</a:t>
            </a:r>
            <a:r>
              <a:rPr sz="2400" dirty="0">
                <a:latin typeface="Times New Roman"/>
                <a:cs typeface="Times New Roman"/>
              </a:rPr>
              <a:t>framework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2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modeling</a:t>
            </a:r>
            <a:r>
              <a:rPr sz="2400" b="1" spc="22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22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2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i.e</a:t>
            </a:r>
            <a:r>
              <a:rPr sz="2400" spc="22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mapping</a:t>
            </a:r>
            <a:r>
              <a:rPr sz="2400" spc="229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dirty="0">
                <a:latin typeface="Times New Roman"/>
                <a:cs typeface="Times New Roman"/>
              </a:rPr>
              <a:t>solution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reinforcement</a:t>
            </a:r>
            <a:r>
              <a:rPr sz="2400" spc="-10" dirty="0">
                <a:latin typeface="Times New Roman"/>
                <a:cs typeface="Times New Roman"/>
              </a:rPr>
              <a:t> learning.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0754" y="64134"/>
            <a:ext cx="21145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MDP </a:t>
            </a:r>
            <a:r>
              <a:rPr sz="3200" spc="-10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54939" y="914780"/>
            <a:ext cx="37769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MDP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&lt;S,T,A,R&gt;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283" y="2028444"/>
            <a:ext cx="2819400" cy="685800"/>
          </a:xfrm>
          <a:prstGeom prst="rect">
            <a:avLst/>
          </a:prstGeom>
          <a:solidFill>
            <a:srgbClr val="BADFE2"/>
          </a:solidFill>
          <a:ln w="9144">
            <a:solidFill>
              <a:srgbClr val="333399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50"/>
              </a:spcBef>
            </a:pPr>
            <a:r>
              <a:rPr sz="2000" spc="-10" dirty="0">
                <a:latin typeface="Arial"/>
                <a:cs typeface="Arial"/>
              </a:rPr>
              <a:t>Agent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84" y="3323844"/>
            <a:ext cx="3657600" cy="533400"/>
          </a:xfrm>
          <a:prstGeom prst="rect">
            <a:avLst/>
          </a:prstGeom>
          <a:solidFill>
            <a:srgbClr val="89C5CD"/>
          </a:solidFill>
          <a:ln w="9144">
            <a:solidFill>
              <a:srgbClr val="333399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113790">
              <a:lnSpc>
                <a:spcPct val="100000"/>
              </a:lnSpc>
              <a:spcBef>
                <a:spcPts val="850"/>
              </a:spcBef>
            </a:pPr>
            <a:r>
              <a:rPr sz="2000" spc="-10" dirty="0">
                <a:latin typeface="Arial"/>
                <a:cs typeface="Arial"/>
              </a:rPr>
              <a:t>Environment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3171" y="2715005"/>
            <a:ext cx="1233170" cy="623570"/>
          </a:xfrm>
          <a:custGeom>
            <a:avLst/>
            <a:gdLst/>
            <a:ahLst/>
            <a:cxnLst/>
            <a:rect l="l" t="t" r="r" b="b"/>
            <a:pathLst>
              <a:path w="1233170" h="623570">
                <a:moveTo>
                  <a:pt x="623074" y="0"/>
                </a:moveTo>
                <a:lnTo>
                  <a:pt x="501840" y="40386"/>
                </a:lnTo>
                <a:lnTo>
                  <a:pt x="528764" y="67348"/>
                </a:lnTo>
                <a:lnTo>
                  <a:pt x="0" y="596138"/>
                </a:lnTo>
                <a:lnTo>
                  <a:pt x="26949" y="623062"/>
                </a:lnTo>
                <a:lnTo>
                  <a:pt x="555675" y="94284"/>
                </a:lnTo>
                <a:lnTo>
                  <a:pt x="582663" y="121285"/>
                </a:lnTo>
                <a:lnTo>
                  <a:pt x="605129" y="53848"/>
                </a:lnTo>
                <a:lnTo>
                  <a:pt x="623074" y="0"/>
                </a:lnTo>
                <a:close/>
              </a:path>
              <a:path w="1233170" h="623570">
                <a:moveTo>
                  <a:pt x="1232674" y="0"/>
                </a:moveTo>
                <a:lnTo>
                  <a:pt x="1111389" y="40386"/>
                </a:lnTo>
                <a:lnTo>
                  <a:pt x="1138364" y="67373"/>
                </a:lnTo>
                <a:lnTo>
                  <a:pt x="609600" y="596138"/>
                </a:lnTo>
                <a:lnTo>
                  <a:pt x="636549" y="623062"/>
                </a:lnTo>
                <a:lnTo>
                  <a:pt x="1165301" y="94310"/>
                </a:lnTo>
                <a:lnTo>
                  <a:pt x="1192288" y="121285"/>
                </a:lnTo>
                <a:lnTo>
                  <a:pt x="1214742" y="53848"/>
                </a:lnTo>
                <a:lnTo>
                  <a:pt x="123267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16783" y="2701544"/>
            <a:ext cx="623570" cy="623570"/>
          </a:xfrm>
          <a:custGeom>
            <a:avLst/>
            <a:gdLst/>
            <a:ahLst/>
            <a:cxnLst/>
            <a:rect l="l" t="t" r="r" b="b"/>
            <a:pathLst>
              <a:path w="623570" h="623570">
                <a:moveTo>
                  <a:pt x="528764" y="555688"/>
                </a:moveTo>
                <a:lnTo>
                  <a:pt x="501777" y="582676"/>
                </a:lnTo>
                <a:lnTo>
                  <a:pt x="623062" y="623061"/>
                </a:lnTo>
                <a:lnTo>
                  <a:pt x="605131" y="569213"/>
                </a:lnTo>
                <a:lnTo>
                  <a:pt x="542290" y="569213"/>
                </a:lnTo>
                <a:lnTo>
                  <a:pt x="528764" y="555688"/>
                </a:lnTo>
                <a:close/>
              </a:path>
              <a:path w="623570" h="623570">
                <a:moveTo>
                  <a:pt x="555688" y="528764"/>
                </a:moveTo>
                <a:lnTo>
                  <a:pt x="528764" y="555688"/>
                </a:lnTo>
                <a:lnTo>
                  <a:pt x="542290" y="569213"/>
                </a:lnTo>
                <a:lnTo>
                  <a:pt x="569214" y="542289"/>
                </a:lnTo>
                <a:lnTo>
                  <a:pt x="555688" y="528764"/>
                </a:lnTo>
                <a:close/>
              </a:path>
              <a:path w="623570" h="623570">
                <a:moveTo>
                  <a:pt x="582676" y="501776"/>
                </a:moveTo>
                <a:lnTo>
                  <a:pt x="555688" y="528764"/>
                </a:lnTo>
                <a:lnTo>
                  <a:pt x="569214" y="542289"/>
                </a:lnTo>
                <a:lnTo>
                  <a:pt x="542290" y="569213"/>
                </a:lnTo>
                <a:lnTo>
                  <a:pt x="605131" y="569213"/>
                </a:lnTo>
                <a:lnTo>
                  <a:pt x="582676" y="501776"/>
                </a:lnTo>
                <a:close/>
              </a:path>
              <a:path w="623570" h="623570">
                <a:moveTo>
                  <a:pt x="26924" y="0"/>
                </a:moveTo>
                <a:lnTo>
                  <a:pt x="0" y="26923"/>
                </a:lnTo>
                <a:lnTo>
                  <a:pt x="528764" y="555688"/>
                </a:lnTo>
                <a:lnTo>
                  <a:pt x="555688" y="528764"/>
                </a:lnTo>
                <a:lnTo>
                  <a:pt x="2692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2569" y="2968828"/>
            <a:ext cx="903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Reward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6814" y="2800857"/>
            <a:ext cx="39338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3100" algn="l"/>
              </a:tabLst>
            </a:pPr>
            <a:r>
              <a:rPr sz="2000" spc="-10" dirty="0">
                <a:latin typeface="Arial"/>
                <a:cs typeface="Arial"/>
              </a:rPr>
              <a:t>State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Action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614" y="440143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630" y="4549266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-5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6985" y="4629734"/>
            <a:ext cx="1104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2329" y="4777562"/>
            <a:ext cx="120014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i="1" spc="-5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8922" y="4575809"/>
            <a:ext cx="835660" cy="58419"/>
          </a:xfrm>
          <a:custGeom>
            <a:avLst/>
            <a:gdLst/>
            <a:ahLst/>
            <a:cxnLst/>
            <a:rect l="l" t="t" r="r" b="b"/>
            <a:pathLst>
              <a:path w="835660" h="58420">
                <a:moveTo>
                  <a:pt x="777240" y="0"/>
                </a:moveTo>
                <a:lnTo>
                  <a:pt x="777240" y="57912"/>
                </a:lnTo>
                <a:lnTo>
                  <a:pt x="806196" y="43433"/>
                </a:lnTo>
                <a:lnTo>
                  <a:pt x="791718" y="43433"/>
                </a:lnTo>
                <a:lnTo>
                  <a:pt x="791718" y="14477"/>
                </a:lnTo>
                <a:lnTo>
                  <a:pt x="806195" y="14477"/>
                </a:lnTo>
                <a:lnTo>
                  <a:pt x="777240" y="0"/>
                </a:lnTo>
                <a:close/>
              </a:path>
              <a:path w="835660" h="58420">
                <a:moveTo>
                  <a:pt x="777240" y="14477"/>
                </a:moveTo>
                <a:lnTo>
                  <a:pt x="0" y="14477"/>
                </a:lnTo>
                <a:lnTo>
                  <a:pt x="0" y="43433"/>
                </a:lnTo>
                <a:lnTo>
                  <a:pt x="777240" y="43433"/>
                </a:lnTo>
                <a:lnTo>
                  <a:pt x="777240" y="14477"/>
                </a:lnTo>
                <a:close/>
              </a:path>
              <a:path w="835660" h="58420">
                <a:moveTo>
                  <a:pt x="806195" y="14477"/>
                </a:moveTo>
                <a:lnTo>
                  <a:pt x="791718" y="14477"/>
                </a:lnTo>
                <a:lnTo>
                  <a:pt x="791718" y="43433"/>
                </a:lnTo>
                <a:lnTo>
                  <a:pt x="806196" y="43433"/>
                </a:lnTo>
                <a:lnTo>
                  <a:pt x="835152" y="28956"/>
                </a:lnTo>
                <a:lnTo>
                  <a:pt x="806195" y="144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92122" y="441274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0138" y="4560570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spc="-5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514" y="4249039"/>
            <a:ext cx="16687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sz="2000" i="1" spc="-25" dirty="0">
                <a:latin typeface="Arial"/>
                <a:cs typeface="Arial"/>
              </a:rPr>
              <a:t>a</a:t>
            </a:r>
            <a:r>
              <a:rPr sz="1950" i="1" spc="-37" baseline="-21367" dirty="0">
                <a:latin typeface="Arial"/>
                <a:cs typeface="Arial"/>
              </a:rPr>
              <a:t>0</a:t>
            </a:r>
            <a:r>
              <a:rPr sz="1950" i="1" baseline="-21367" dirty="0">
                <a:latin typeface="Arial"/>
                <a:cs typeface="Arial"/>
              </a:rPr>
              <a:t>	</a:t>
            </a:r>
            <a:r>
              <a:rPr sz="2000" i="1" spc="-25" dirty="0">
                <a:latin typeface="Arial"/>
                <a:cs typeface="Arial"/>
              </a:rPr>
              <a:t>a1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2664" y="4629734"/>
            <a:ext cx="2533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25" dirty="0">
                <a:latin typeface="Arial"/>
                <a:cs typeface="Arial"/>
              </a:rPr>
              <a:t>r1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14322" y="4575809"/>
            <a:ext cx="835660" cy="58419"/>
          </a:xfrm>
          <a:custGeom>
            <a:avLst/>
            <a:gdLst/>
            <a:ahLst/>
            <a:cxnLst/>
            <a:rect l="l" t="t" r="r" b="b"/>
            <a:pathLst>
              <a:path w="835660" h="58420">
                <a:moveTo>
                  <a:pt x="777239" y="0"/>
                </a:moveTo>
                <a:lnTo>
                  <a:pt x="777239" y="57912"/>
                </a:lnTo>
                <a:lnTo>
                  <a:pt x="806196" y="43433"/>
                </a:lnTo>
                <a:lnTo>
                  <a:pt x="791717" y="43433"/>
                </a:lnTo>
                <a:lnTo>
                  <a:pt x="791717" y="14477"/>
                </a:lnTo>
                <a:lnTo>
                  <a:pt x="806195" y="14477"/>
                </a:lnTo>
                <a:lnTo>
                  <a:pt x="777239" y="0"/>
                </a:lnTo>
                <a:close/>
              </a:path>
              <a:path w="835660" h="58420">
                <a:moveTo>
                  <a:pt x="777239" y="14477"/>
                </a:moveTo>
                <a:lnTo>
                  <a:pt x="0" y="14477"/>
                </a:lnTo>
                <a:lnTo>
                  <a:pt x="0" y="43433"/>
                </a:lnTo>
                <a:lnTo>
                  <a:pt x="777239" y="43433"/>
                </a:lnTo>
                <a:lnTo>
                  <a:pt x="777239" y="14477"/>
                </a:lnTo>
                <a:close/>
              </a:path>
              <a:path w="835660" h="58420">
                <a:moveTo>
                  <a:pt x="806195" y="14477"/>
                </a:moveTo>
                <a:lnTo>
                  <a:pt x="791717" y="14477"/>
                </a:lnTo>
                <a:lnTo>
                  <a:pt x="791717" y="43433"/>
                </a:lnTo>
                <a:lnTo>
                  <a:pt x="806196" y="43433"/>
                </a:lnTo>
                <a:lnTo>
                  <a:pt x="835151" y="28956"/>
                </a:lnTo>
                <a:lnTo>
                  <a:pt x="806195" y="144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762376" y="4249039"/>
            <a:ext cx="7143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baseline="-36111" dirty="0">
                <a:latin typeface="Arial"/>
                <a:cs typeface="Arial"/>
              </a:rPr>
              <a:t>s2</a:t>
            </a:r>
            <a:r>
              <a:rPr sz="3000" i="1" spc="165" baseline="-36111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a2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9984" y="4629734"/>
            <a:ext cx="2533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25" dirty="0">
                <a:latin typeface="Arial"/>
                <a:cs typeface="Arial"/>
              </a:rPr>
              <a:t>r2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31057" y="4575809"/>
            <a:ext cx="1056640" cy="58419"/>
          </a:xfrm>
          <a:custGeom>
            <a:avLst/>
            <a:gdLst/>
            <a:ahLst/>
            <a:cxnLst/>
            <a:rect l="l" t="t" r="r" b="b"/>
            <a:pathLst>
              <a:path w="1056639" h="58420">
                <a:moveTo>
                  <a:pt x="998219" y="0"/>
                </a:moveTo>
                <a:lnTo>
                  <a:pt x="998219" y="57912"/>
                </a:lnTo>
                <a:lnTo>
                  <a:pt x="1027176" y="43433"/>
                </a:lnTo>
                <a:lnTo>
                  <a:pt x="1012697" y="43433"/>
                </a:lnTo>
                <a:lnTo>
                  <a:pt x="1012697" y="14477"/>
                </a:lnTo>
                <a:lnTo>
                  <a:pt x="1027175" y="14477"/>
                </a:lnTo>
                <a:lnTo>
                  <a:pt x="998219" y="0"/>
                </a:lnTo>
                <a:close/>
              </a:path>
              <a:path w="1056639" h="58420">
                <a:moveTo>
                  <a:pt x="998219" y="14477"/>
                </a:moveTo>
                <a:lnTo>
                  <a:pt x="0" y="14477"/>
                </a:lnTo>
                <a:lnTo>
                  <a:pt x="0" y="43433"/>
                </a:lnTo>
                <a:lnTo>
                  <a:pt x="998219" y="43433"/>
                </a:lnTo>
                <a:lnTo>
                  <a:pt x="998219" y="14477"/>
                </a:lnTo>
                <a:close/>
              </a:path>
              <a:path w="1056639" h="58420">
                <a:moveTo>
                  <a:pt x="1027175" y="14477"/>
                </a:moveTo>
                <a:lnTo>
                  <a:pt x="1012697" y="14477"/>
                </a:lnTo>
                <a:lnTo>
                  <a:pt x="1012697" y="43433"/>
                </a:lnTo>
                <a:lnTo>
                  <a:pt x="1027176" y="43433"/>
                </a:lnTo>
                <a:lnTo>
                  <a:pt x="1056132" y="28956"/>
                </a:lnTo>
                <a:lnTo>
                  <a:pt x="1027175" y="144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92270" y="4401439"/>
            <a:ext cx="294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Arial"/>
                <a:cs typeface="Arial"/>
              </a:rPr>
              <a:t>s3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9253" y="1518382"/>
            <a:ext cx="1977389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575"/>
              </a:spcBef>
              <a:buChar char="•"/>
              <a:tabLst>
                <a:tab pos="250190" algn="l"/>
              </a:tabLst>
            </a:pPr>
            <a:r>
              <a:rPr sz="2000" dirty="0">
                <a:latin typeface="Times New Roman"/>
                <a:cs typeface="Times New Roman"/>
              </a:rPr>
              <a:t>S–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states</a:t>
            </a:r>
            <a:endParaRPr sz="20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480"/>
              </a:spcBef>
              <a:buChar char="•"/>
              <a:tabLst>
                <a:tab pos="250190" algn="l"/>
              </a:tabLst>
            </a:pPr>
            <a:r>
              <a:rPr sz="2000" dirty="0">
                <a:latin typeface="Times New Roman"/>
                <a:cs typeface="Times New Roman"/>
              </a:rPr>
              <a:t>A–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99253" y="2310130"/>
            <a:ext cx="4236085" cy="1306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0190" marR="5080" indent="-238125" algn="just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250190" algn="l"/>
              </a:tabLst>
            </a:pPr>
            <a:r>
              <a:rPr sz="2000" b="1" dirty="0">
                <a:latin typeface="Times New Roman"/>
                <a:cs typeface="Times New Roman"/>
              </a:rPr>
              <a:t>Transition</a:t>
            </a:r>
            <a:r>
              <a:rPr sz="2000" b="1" spc="170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Function:</a:t>
            </a:r>
            <a:r>
              <a:rPr sz="2000" b="1" spc="16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T(s,a,s’)</a:t>
            </a:r>
            <a:r>
              <a:rPr sz="2000" spc="175" dirty="0">
                <a:latin typeface="Times New Roman"/>
                <a:cs typeface="Times New Roman"/>
              </a:rPr>
              <a:t>   </a:t>
            </a:r>
            <a:r>
              <a:rPr sz="2000" spc="-50" dirty="0">
                <a:latin typeface="Times New Roman"/>
                <a:cs typeface="Times New Roman"/>
              </a:rPr>
              <a:t>= </a:t>
            </a:r>
            <a:r>
              <a:rPr sz="2000" dirty="0">
                <a:latin typeface="Times New Roman"/>
                <a:cs typeface="Times New Roman"/>
              </a:rPr>
              <a:t>P(s’|s,a)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probability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transition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s’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986155" algn="just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Times New Roman"/>
                <a:cs typeface="Times New Roman"/>
              </a:rPr>
              <a:t>T(s,a)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99253" y="3651630"/>
            <a:ext cx="42360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 algn="just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50190" algn="l"/>
              </a:tabLst>
            </a:pPr>
            <a:r>
              <a:rPr sz="2000" b="1" dirty="0">
                <a:latin typeface="Times New Roman"/>
                <a:cs typeface="Times New Roman"/>
              </a:rPr>
              <a:t>Reward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Function: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r(s,a)</a:t>
            </a:r>
            <a:r>
              <a:rPr sz="2000" spc="1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19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expected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reward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taking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1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9447" y="4983238"/>
            <a:ext cx="2332990" cy="9721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1450" i="1" spc="20" dirty="0">
                <a:latin typeface="Times New Roman"/>
                <a:cs typeface="Times New Roman"/>
              </a:rPr>
              <a:t>R</a:t>
            </a:r>
            <a:r>
              <a:rPr sz="1450" spc="20" dirty="0">
                <a:latin typeface="Times New Roman"/>
                <a:cs typeface="Times New Roman"/>
              </a:rPr>
              <a:t>(</a:t>
            </a:r>
            <a:r>
              <a:rPr sz="1450" i="1" spc="20" dirty="0">
                <a:latin typeface="Times New Roman"/>
                <a:cs typeface="Times New Roman"/>
              </a:rPr>
              <a:t>s</a:t>
            </a:r>
            <a:r>
              <a:rPr sz="1450" spc="20" dirty="0">
                <a:latin typeface="Times New Roman"/>
                <a:cs typeface="Times New Roman"/>
              </a:rPr>
              <a:t>,</a:t>
            </a:r>
            <a:r>
              <a:rPr sz="1450" spc="-165" dirty="0">
                <a:latin typeface="Times New Roman"/>
                <a:cs typeface="Times New Roman"/>
              </a:rPr>
              <a:t> </a:t>
            </a:r>
            <a:r>
              <a:rPr sz="1450" i="1" spc="20" dirty="0">
                <a:latin typeface="Times New Roman"/>
                <a:cs typeface="Times New Roman"/>
              </a:rPr>
              <a:t>a</a:t>
            </a:r>
            <a:r>
              <a:rPr sz="1450" spc="20" dirty="0">
                <a:latin typeface="Times New Roman"/>
                <a:cs typeface="Times New Roman"/>
              </a:rPr>
              <a:t>) </a:t>
            </a:r>
            <a:r>
              <a:rPr sz="1450" spc="20" dirty="0">
                <a:latin typeface="Symbol"/>
                <a:cs typeface="Symbol"/>
              </a:rPr>
              <a:t>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3300" spc="15" baseline="-8838" dirty="0">
                <a:latin typeface="Symbol"/>
                <a:cs typeface="Symbol"/>
              </a:rPr>
              <a:t></a:t>
            </a:r>
            <a:r>
              <a:rPr sz="3300" spc="-450" baseline="-8838" dirty="0">
                <a:latin typeface="Times New Roman"/>
                <a:cs typeface="Times New Roman"/>
              </a:rPr>
              <a:t> </a:t>
            </a:r>
            <a:r>
              <a:rPr sz="1450" i="1" spc="20" dirty="0">
                <a:latin typeface="Times New Roman"/>
                <a:cs typeface="Times New Roman"/>
              </a:rPr>
              <a:t>P</a:t>
            </a:r>
            <a:r>
              <a:rPr sz="1450" spc="20" dirty="0">
                <a:latin typeface="Times New Roman"/>
                <a:cs typeface="Times New Roman"/>
              </a:rPr>
              <a:t>(</a:t>
            </a:r>
            <a:r>
              <a:rPr sz="1450" i="1" spc="20" dirty="0">
                <a:latin typeface="Times New Roman"/>
                <a:cs typeface="Times New Roman"/>
              </a:rPr>
              <a:t>s</a:t>
            </a:r>
            <a:r>
              <a:rPr sz="1450" spc="20" dirty="0">
                <a:latin typeface="Times New Roman"/>
                <a:cs typeface="Times New Roman"/>
              </a:rPr>
              <a:t>'|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i="1" spc="10" dirty="0">
                <a:latin typeface="Times New Roman"/>
                <a:cs typeface="Times New Roman"/>
              </a:rPr>
              <a:t>s</a:t>
            </a:r>
            <a:r>
              <a:rPr sz="1450" spc="10" dirty="0">
                <a:latin typeface="Times New Roman"/>
                <a:cs typeface="Times New Roman"/>
              </a:rPr>
              <a:t>,</a:t>
            </a:r>
            <a:r>
              <a:rPr sz="1450" spc="-160" dirty="0">
                <a:latin typeface="Times New Roman"/>
                <a:cs typeface="Times New Roman"/>
              </a:rPr>
              <a:t> </a:t>
            </a:r>
            <a:r>
              <a:rPr sz="1450" i="1" spc="20" dirty="0">
                <a:latin typeface="Times New Roman"/>
                <a:cs typeface="Times New Roman"/>
              </a:rPr>
              <a:t>a</a:t>
            </a:r>
            <a:r>
              <a:rPr sz="1450" spc="20" dirty="0">
                <a:latin typeface="Times New Roman"/>
                <a:cs typeface="Times New Roman"/>
              </a:rPr>
              <a:t>)</a:t>
            </a:r>
            <a:r>
              <a:rPr sz="1450" i="1" spc="20" dirty="0">
                <a:latin typeface="Times New Roman"/>
                <a:cs typeface="Times New Roman"/>
              </a:rPr>
              <a:t>r</a:t>
            </a:r>
            <a:r>
              <a:rPr sz="1450" spc="20" dirty="0">
                <a:latin typeface="Times New Roman"/>
                <a:cs typeface="Times New Roman"/>
              </a:rPr>
              <a:t>(</a:t>
            </a:r>
            <a:r>
              <a:rPr sz="1450" i="1" spc="20" dirty="0">
                <a:latin typeface="Times New Roman"/>
                <a:cs typeface="Times New Roman"/>
              </a:rPr>
              <a:t>s</a:t>
            </a:r>
            <a:r>
              <a:rPr sz="1450" spc="20" dirty="0">
                <a:latin typeface="Times New Roman"/>
                <a:cs typeface="Times New Roman"/>
              </a:rPr>
              <a:t>,</a:t>
            </a:r>
            <a:r>
              <a:rPr sz="1450" spc="-155" dirty="0">
                <a:latin typeface="Times New Roman"/>
                <a:cs typeface="Times New Roman"/>
              </a:rPr>
              <a:t> </a:t>
            </a:r>
            <a:r>
              <a:rPr sz="1450" i="1" spc="10" dirty="0">
                <a:latin typeface="Times New Roman"/>
                <a:cs typeface="Times New Roman"/>
              </a:rPr>
              <a:t>a</a:t>
            </a:r>
            <a:r>
              <a:rPr sz="1450" spc="10" dirty="0">
                <a:latin typeface="Times New Roman"/>
                <a:cs typeface="Times New Roman"/>
              </a:rPr>
              <a:t>,</a:t>
            </a:r>
            <a:r>
              <a:rPr sz="1450" spc="-135" dirty="0">
                <a:latin typeface="Times New Roman"/>
                <a:cs typeface="Times New Roman"/>
              </a:rPr>
              <a:t> </a:t>
            </a:r>
            <a:r>
              <a:rPr sz="1450" i="1" spc="30" dirty="0">
                <a:latin typeface="Times New Roman"/>
                <a:cs typeface="Times New Roman"/>
              </a:rPr>
              <a:t>s</a:t>
            </a:r>
            <a:r>
              <a:rPr sz="1450" spc="30" dirty="0">
                <a:latin typeface="Times New Roman"/>
                <a:cs typeface="Times New Roman"/>
              </a:rPr>
              <a:t>')</a:t>
            </a:r>
            <a:endParaRPr sz="1450">
              <a:latin typeface="Times New Roman"/>
              <a:cs typeface="Times New Roman"/>
            </a:endParaRPr>
          </a:p>
          <a:p>
            <a:pPr marR="686435" algn="ctr">
              <a:lnSpc>
                <a:spcPts val="844"/>
              </a:lnSpc>
              <a:spcBef>
                <a:spcPts val="110"/>
              </a:spcBef>
            </a:pPr>
            <a:r>
              <a:rPr sz="850" i="1" spc="-25" dirty="0">
                <a:latin typeface="Times New Roman"/>
                <a:cs typeface="Times New Roman"/>
              </a:rPr>
              <a:t>s</a:t>
            </a:r>
            <a:r>
              <a:rPr sz="850" spc="-25" dirty="0"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  <a:p>
            <a:pPr marL="38100">
              <a:lnSpc>
                <a:spcPts val="2465"/>
              </a:lnSpc>
            </a:pPr>
            <a:r>
              <a:rPr sz="1450" i="1" dirty="0">
                <a:latin typeface="Times New Roman"/>
                <a:cs typeface="Times New Roman"/>
              </a:rPr>
              <a:t>R</a:t>
            </a:r>
            <a:r>
              <a:rPr sz="1450" dirty="0">
                <a:latin typeface="Times New Roman"/>
                <a:cs typeface="Times New Roman"/>
              </a:rPr>
              <a:t>(</a:t>
            </a:r>
            <a:r>
              <a:rPr sz="1450" i="1" dirty="0">
                <a:latin typeface="Times New Roman"/>
                <a:cs typeface="Times New Roman"/>
              </a:rPr>
              <a:t>s</a:t>
            </a:r>
            <a:r>
              <a:rPr sz="1450" dirty="0">
                <a:latin typeface="Times New Roman"/>
                <a:cs typeface="Times New Roman"/>
              </a:rPr>
              <a:t>,</a:t>
            </a:r>
            <a:r>
              <a:rPr sz="1450" spc="-145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a</a:t>
            </a:r>
            <a:r>
              <a:rPr sz="1450" dirty="0">
                <a:latin typeface="Times New Roman"/>
                <a:cs typeface="Times New Roman"/>
              </a:rPr>
              <a:t>)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Symbol"/>
                <a:cs typeface="Symbol"/>
              </a:rPr>
              <a:t></a:t>
            </a:r>
            <a:r>
              <a:rPr sz="1450" spc="25" dirty="0">
                <a:latin typeface="Times New Roman"/>
                <a:cs typeface="Times New Roman"/>
              </a:rPr>
              <a:t> </a:t>
            </a:r>
            <a:r>
              <a:rPr sz="3300" baseline="-8838" dirty="0">
                <a:latin typeface="Symbol"/>
                <a:cs typeface="Symbol"/>
              </a:rPr>
              <a:t></a:t>
            </a:r>
            <a:r>
              <a:rPr sz="1450" i="1" dirty="0">
                <a:latin typeface="Times New Roman"/>
                <a:cs typeface="Times New Roman"/>
              </a:rPr>
              <a:t>T</a:t>
            </a:r>
            <a:r>
              <a:rPr sz="1450" i="1" spc="-1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</a:t>
            </a:r>
            <a:r>
              <a:rPr sz="1450" i="1" dirty="0">
                <a:latin typeface="Times New Roman"/>
                <a:cs typeface="Times New Roman"/>
              </a:rPr>
              <a:t>s</a:t>
            </a:r>
            <a:r>
              <a:rPr sz="1450" dirty="0">
                <a:latin typeface="Times New Roman"/>
                <a:cs typeface="Times New Roman"/>
              </a:rPr>
              <a:t>,</a:t>
            </a:r>
            <a:r>
              <a:rPr sz="1450" spc="-145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a</a:t>
            </a:r>
            <a:r>
              <a:rPr sz="1450" dirty="0">
                <a:latin typeface="Times New Roman"/>
                <a:cs typeface="Times New Roman"/>
              </a:rPr>
              <a:t>,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1450" i="1" spc="50" dirty="0">
                <a:latin typeface="Times New Roman"/>
                <a:cs typeface="Times New Roman"/>
              </a:rPr>
              <a:t>s</a:t>
            </a:r>
            <a:r>
              <a:rPr sz="1450" spc="50" dirty="0">
                <a:latin typeface="Times New Roman"/>
                <a:cs typeface="Times New Roman"/>
              </a:rPr>
              <a:t>')</a:t>
            </a:r>
            <a:r>
              <a:rPr sz="1450" i="1" spc="50" dirty="0">
                <a:latin typeface="Times New Roman"/>
                <a:cs typeface="Times New Roman"/>
              </a:rPr>
              <a:t>r</a:t>
            </a:r>
            <a:r>
              <a:rPr sz="1450" spc="50" dirty="0">
                <a:latin typeface="Times New Roman"/>
                <a:cs typeface="Times New Roman"/>
              </a:rPr>
              <a:t>(</a:t>
            </a:r>
            <a:r>
              <a:rPr sz="1450" i="1" spc="50" dirty="0">
                <a:latin typeface="Times New Roman"/>
                <a:cs typeface="Times New Roman"/>
              </a:rPr>
              <a:t>s</a:t>
            </a:r>
            <a:r>
              <a:rPr sz="1450" spc="50" dirty="0">
                <a:latin typeface="Times New Roman"/>
                <a:cs typeface="Times New Roman"/>
              </a:rPr>
              <a:t>,</a:t>
            </a:r>
            <a:r>
              <a:rPr sz="1450" spc="-145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a</a:t>
            </a:r>
            <a:r>
              <a:rPr sz="1450" dirty="0">
                <a:latin typeface="Times New Roman"/>
                <a:cs typeface="Times New Roman"/>
              </a:rPr>
              <a:t>,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1450" i="1" spc="30" dirty="0">
                <a:latin typeface="Times New Roman"/>
                <a:cs typeface="Times New Roman"/>
              </a:rPr>
              <a:t>s</a:t>
            </a:r>
            <a:r>
              <a:rPr sz="1450" spc="30" dirty="0">
                <a:latin typeface="Times New Roman"/>
                <a:cs typeface="Times New Roman"/>
              </a:rPr>
              <a:t>')</a:t>
            </a:r>
            <a:endParaRPr sz="1450">
              <a:latin typeface="Times New Roman"/>
              <a:cs typeface="Times New Roman"/>
            </a:endParaRPr>
          </a:p>
          <a:p>
            <a:pPr marR="686435" algn="ctr">
              <a:lnSpc>
                <a:spcPct val="100000"/>
              </a:lnSpc>
              <a:spcBef>
                <a:spcPts val="110"/>
              </a:spcBef>
            </a:pPr>
            <a:r>
              <a:rPr sz="850" i="1" spc="-25" dirty="0">
                <a:latin typeface="Times New Roman"/>
                <a:cs typeface="Times New Roman"/>
              </a:rPr>
              <a:t>s</a:t>
            </a:r>
            <a:r>
              <a:rPr sz="850" spc="-25" dirty="0"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494" y="-7238"/>
            <a:ext cx="1998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598449"/>
            <a:ext cx="8815070" cy="627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2900" algn="just">
              <a:lnSpc>
                <a:spcPct val="130000"/>
              </a:lnSpc>
              <a:spcBef>
                <a:spcPts val="1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Q</a:t>
            </a:r>
            <a:r>
              <a:rPr sz="2200" spc="-20" dirty="0">
                <a:latin typeface="Times New Roman"/>
                <a:cs typeface="Times New Roman"/>
              </a:rPr>
              <a:t>-</a:t>
            </a: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value-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reinforcement</a:t>
            </a:r>
            <a:r>
              <a:rPr sz="2200" b="1" spc="2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Q- </a:t>
            </a:r>
            <a:r>
              <a:rPr sz="2200" dirty="0">
                <a:latin typeface="Times New Roman"/>
                <a:cs typeface="Times New Roman"/>
              </a:rPr>
              <a:t>values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(action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values)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iteratively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learning agent.</a:t>
            </a:r>
            <a:endParaRPr sz="2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maximize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optimal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action-</a:t>
            </a:r>
            <a:r>
              <a:rPr sz="2200" dirty="0">
                <a:latin typeface="Times New Roman"/>
                <a:cs typeface="Times New Roman"/>
              </a:rPr>
              <a:t>selection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policy.</a:t>
            </a:r>
            <a:endParaRPr sz="220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30000"/>
              </a:lnSpc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table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find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maximize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expected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reward.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5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Q-</a:t>
            </a:r>
            <a:r>
              <a:rPr sz="2200" b="1" dirty="0">
                <a:latin typeface="Times New Roman"/>
                <a:cs typeface="Times New Roman"/>
              </a:rPr>
              <a:t>Values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/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Action-</a:t>
            </a:r>
            <a:r>
              <a:rPr sz="2200" b="1" dirty="0">
                <a:latin typeface="Times New Roman"/>
                <a:cs typeface="Times New Roman"/>
              </a:rPr>
              <a:t>Values: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Q-</a:t>
            </a:r>
            <a:r>
              <a:rPr sz="2200" dirty="0">
                <a:latin typeface="Times New Roman"/>
                <a:cs typeface="Times New Roman"/>
              </a:rPr>
              <a:t>values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2200" i="1" dirty="0">
                <a:latin typeface="Times New Roman"/>
                <a:cs typeface="Times New Roman"/>
              </a:rPr>
              <a:t>Q(s,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a)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denotes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estimation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s.</a:t>
            </a:r>
            <a:endParaRPr sz="2200">
              <a:latin typeface="Times New Roman"/>
              <a:cs typeface="Times New Roman"/>
            </a:endParaRPr>
          </a:p>
          <a:p>
            <a:pPr marL="355600" marR="6985" indent="-342900">
              <a:lnSpc>
                <a:spcPct val="120000"/>
              </a:lnSpc>
              <a:buChar char="•"/>
              <a:tabLst>
                <a:tab pos="355600" algn="l"/>
                <a:tab pos="986155" algn="l"/>
                <a:tab pos="2286635" algn="l"/>
                <a:tab pos="2653665" algn="l"/>
                <a:tab pos="3260725" algn="l"/>
                <a:tab pos="3629660" algn="l"/>
                <a:tab pos="4199255" algn="l"/>
                <a:tab pos="4598670" algn="l"/>
                <a:tab pos="5868670" algn="l"/>
                <a:tab pos="7103109" algn="l"/>
                <a:tab pos="7842250" algn="l"/>
                <a:tab pos="8319134" algn="l"/>
              </a:tabLst>
            </a:pPr>
            <a:r>
              <a:rPr sz="2200" spc="-20" dirty="0">
                <a:latin typeface="Times New Roman"/>
                <a:cs typeface="Times New Roman"/>
              </a:rPr>
              <a:t>This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estimation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i="1" spc="-20" dirty="0">
                <a:latin typeface="Times New Roman"/>
                <a:cs typeface="Times New Roman"/>
              </a:rPr>
              <a:t>Q(s,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5" dirty="0">
                <a:latin typeface="Times New Roman"/>
                <a:cs typeface="Times New Roman"/>
              </a:rPr>
              <a:t>a)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will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iteratively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computed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using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25" dirty="0">
                <a:latin typeface="Times New Roman"/>
                <a:cs typeface="Times New Roman"/>
              </a:rPr>
              <a:t>TD- </a:t>
            </a:r>
            <a:r>
              <a:rPr sz="2200" b="1" dirty="0">
                <a:latin typeface="Times New Roman"/>
                <a:cs typeface="Times New Roman"/>
              </a:rPr>
              <a:t>Update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rule.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Reward: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every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transition,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observes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reward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every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transits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2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2200" b="1" dirty="0">
                <a:latin typeface="Times New Roman"/>
                <a:cs typeface="Times New Roman"/>
              </a:rPr>
              <a:t>Episode: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 ends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terminating </a:t>
            </a:r>
            <a:r>
              <a:rPr sz="2200" dirty="0">
                <a:latin typeface="Times New Roman"/>
                <a:cs typeface="Times New Roman"/>
              </a:rPr>
              <a:t>states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i.e.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further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transition possible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completion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an </a:t>
            </a:r>
            <a:r>
              <a:rPr sz="2200" b="1" spc="-10" dirty="0">
                <a:latin typeface="Times New Roman"/>
                <a:cs typeface="Times New Roman"/>
              </a:rPr>
              <a:t>episode.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4922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Q-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09600"/>
            <a:ext cx="9065261" cy="6445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Initially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explore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update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Q-</a:t>
            </a:r>
            <a:r>
              <a:rPr sz="2200" dirty="0">
                <a:latin typeface="Times New Roman"/>
                <a:cs typeface="Times New Roman"/>
              </a:rPr>
              <a:t>Table.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spc="-20" dirty="0">
                <a:latin typeface="Times New Roman"/>
                <a:cs typeface="Times New Roman"/>
              </a:rPr>
              <a:t>Q-</a:t>
            </a:r>
            <a:r>
              <a:rPr sz="2200" dirty="0">
                <a:latin typeface="Times New Roman"/>
                <a:cs typeface="Times New Roman"/>
              </a:rPr>
              <a:t>Table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ready,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exploit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taking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actions.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525"/>
              </a:spcBef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3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off-</a:t>
            </a:r>
            <a:r>
              <a:rPr sz="2200" dirty="0">
                <a:latin typeface="Times New Roman"/>
                <a:cs typeface="Times New Roman"/>
              </a:rPr>
              <a:t>policy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i.e.</a:t>
            </a:r>
            <a:r>
              <a:rPr sz="2200" spc="3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updated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policy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endParaRPr sz="2200" dirty="0">
              <a:latin typeface="Times New Roman"/>
              <a:cs typeface="Times New Roman"/>
            </a:endParaRPr>
          </a:p>
          <a:p>
            <a:pPr marL="355600" marR="6985" algn="just">
              <a:lnSpc>
                <a:spcPct val="12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behavior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policy.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estimates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reward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actions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appends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greedy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 smtClean="0">
                <a:latin typeface="Times New Roman"/>
                <a:cs typeface="Times New Roman"/>
              </a:rPr>
              <a:t>policy</a:t>
            </a:r>
            <a:r>
              <a:rPr lang="en-IN" sz="2200" spc="-10" dirty="0" smtClean="0">
                <a:latin typeface="Times New Roman"/>
                <a:cs typeface="Times New Roman"/>
              </a:rPr>
              <a:t>.</a:t>
            </a:r>
            <a:r>
              <a:rPr lang="en-IN" sz="1800" dirty="0"/>
              <a:t> </a:t>
            </a:r>
            <a:r>
              <a:rPr lang="en-IN" sz="2200" dirty="0">
                <a:latin typeface="Times New Roman"/>
                <a:cs typeface="Times New Roman"/>
              </a:rPr>
              <a:t>Temporal difference(TD) learning is one of the model-free reinforcement learning techniques </a:t>
            </a:r>
            <a:endParaRPr sz="2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30"/>
              </a:spcBef>
            </a:pPr>
            <a:r>
              <a:rPr sz="2200" b="1" spc="-25" dirty="0">
                <a:latin typeface="Times New Roman"/>
                <a:cs typeface="Times New Roman"/>
              </a:rPr>
              <a:t>Temporal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Difference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or</a:t>
            </a:r>
            <a:r>
              <a:rPr sz="2200" b="1" spc="-1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TD-Update: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Estimate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applied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every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agents</a:t>
            </a:r>
            <a:endParaRPr sz="220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interaction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 smtClean="0">
                <a:latin typeface="Times New Roman"/>
                <a:cs typeface="Times New Roman"/>
              </a:rPr>
              <a:t>environment</a:t>
            </a:r>
            <a:r>
              <a:rPr lang="en-IN" sz="2200" spc="-10" dirty="0" smtClean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Times New Roman"/>
                <a:cs typeface="Times New Roman"/>
              </a:rPr>
              <a:t>Advantage: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Converges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optimal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policy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deterministic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nondeterministic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30"/>
              </a:spcBef>
            </a:pPr>
            <a:r>
              <a:rPr sz="2200" spc="-10" dirty="0">
                <a:latin typeface="Times New Roman"/>
                <a:cs typeface="Times New Roman"/>
              </a:rPr>
              <a:t>MDPs.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Times New Roman"/>
                <a:cs typeface="Times New Roman"/>
              </a:rPr>
              <a:t>Disadvantage: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Suitable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problems.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0" y="4572000"/>
            <a:ext cx="4279310" cy="672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222" y="72390"/>
            <a:ext cx="7515555" cy="430887"/>
          </a:xfrm>
        </p:spPr>
        <p:txBody>
          <a:bodyPr/>
          <a:lstStyle/>
          <a:p>
            <a:pPr algn="ctr"/>
            <a:r>
              <a:rPr lang="en-IN" dirty="0" smtClean="0"/>
              <a:t> Bellman Equation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066800"/>
            <a:ext cx="8382000" cy="5355312"/>
          </a:xfrm>
        </p:spPr>
        <p:txBody>
          <a:bodyPr/>
          <a:lstStyle/>
          <a:p>
            <a:pPr algn="just"/>
            <a:r>
              <a:rPr lang="en-IN" sz="2200" dirty="0"/>
              <a:t>In </a:t>
            </a:r>
            <a:r>
              <a:rPr lang="en-IN" sz="2200" dirty="0"/>
              <a:t>the context of Q-learning, Bellman's equation is utilized to determine the value of a specific state and evaluate its relative placement. </a:t>
            </a:r>
            <a:endParaRPr lang="en-IN" sz="2200" dirty="0"/>
          </a:p>
          <a:p>
            <a:pPr algn="just"/>
            <a:r>
              <a:rPr lang="en-IN" sz="2200" dirty="0"/>
              <a:t>The </a:t>
            </a:r>
            <a:r>
              <a:rPr lang="en-IN" sz="2200" dirty="0"/>
              <a:t>optimal state is determined by the state with the highest value.</a:t>
            </a:r>
          </a:p>
          <a:p>
            <a:pPr algn="just"/>
            <a:r>
              <a:rPr lang="en-IN" sz="2200" dirty="0"/>
              <a:t>The Bellman's equation can be represented as </a:t>
            </a:r>
            <a:endParaRPr lang="en-IN" sz="2200" dirty="0"/>
          </a:p>
          <a:p>
            <a:pPr algn="just"/>
            <a:endParaRPr lang="en-IN" sz="2200" dirty="0"/>
          </a:p>
          <a:p>
            <a:pPr marL="0" lvl="1" algn="just"/>
            <a:r>
              <a:rPr lang="en-US" sz="2200" dirty="0">
                <a:latin typeface="Times New Roman"/>
                <a:cs typeface="Times New Roman"/>
              </a:rPr>
              <a:t>Q(state, action) = R(state, action) + Gamma * max[Q(next state, all actions)]</a:t>
            </a:r>
          </a:p>
          <a:p>
            <a:pPr algn="just"/>
            <a:r>
              <a:rPr lang="en-IN" sz="2200" dirty="0"/>
              <a:t>Where,</a:t>
            </a:r>
          </a:p>
          <a:p>
            <a:pPr algn="just"/>
            <a:r>
              <a:rPr lang="en-IN" sz="2200" dirty="0"/>
              <a:t>Q(</a:t>
            </a:r>
            <a:r>
              <a:rPr lang="en-IN" sz="2200" dirty="0" err="1"/>
              <a:t>s,a</a:t>
            </a:r>
            <a:r>
              <a:rPr lang="en-IN" sz="2200" dirty="0"/>
              <a:t>) represents the expected reward for an action 'a' in state 's'.</a:t>
            </a:r>
          </a:p>
          <a:p>
            <a:pPr algn="just"/>
            <a:r>
              <a:rPr lang="en-IN" sz="2200" dirty="0"/>
              <a:t>R (</a:t>
            </a:r>
            <a:r>
              <a:rPr lang="en-IN" sz="2200" dirty="0" err="1"/>
              <a:t>s,a</a:t>
            </a:r>
            <a:r>
              <a:rPr lang="en-IN" sz="2200" dirty="0"/>
              <a:t>) represents the reward earned when action a is carried out in state 's'.</a:t>
            </a:r>
          </a:p>
          <a:p>
            <a:pPr algn="just"/>
            <a:r>
              <a:rPr lang="en-IN" sz="2200" dirty="0"/>
              <a:t>ɑ is the discount factor, which denotes the significance of future rewards.</a:t>
            </a:r>
          </a:p>
          <a:p>
            <a:pPr algn="just"/>
            <a:r>
              <a:rPr lang="en-IN" sz="2200" dirty="0" err="1"/>
              <a:t>maxaQ</a:t>
            </a:r>
            <a:r>
              <a:rPr lang="en-IN" sz="2200" dirty="0"/>
              <a:t>(</a:t>
            </a:r>
            <a:r>
              <a:rPr lang="en-IN" sz="2200" dirty="0" err="1"/>
              <a:t>s',a</a:t>
            </a:r>
            <a:r>
              <a:rPr lang="en-IN" sz="2200" dirty="0"/>
              <a:t>) represents the maximum Q-value for the next state s' and every possible action.</a:t>
            </a:r>
          </a:p>
          <a:p>
            <a:pPr marL="0" lvl="1"/>
            <a:endParaRPr lang="en-US" sz="20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113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95"/>
              </a:spcBef>
            </a:pP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Q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85695"/>
            <a:ext cx="8987790" cy="20370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doors.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outside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5.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Doors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leads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outside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5.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2200" b="1" dirty="0">
                <a:latin typeface="Times New Roman"/>
                <a:cs typeface="Times New Roman"/>
              </a:rPr>
              <a:t>Problem:</a:t>
            </a:r>
            <a:r>
              <a:rPr sz="2200" b="1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rooms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(0,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2,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3,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4).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Agent’s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outside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(room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5).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2790442"/>
            <a:ext cx="7488935" cy="4098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95"/>
              </a:spcBef>
            </a:pP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Q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681732"/>
            <a:ext cx="6087745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Represent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graph.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Room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 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edge.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59862"/>
            <a:ext cx="4572000" cy="47746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5656" y="1975314"/>
            <a:ext cx="4378343" cy="4728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95"/>
              </a:spcBef>
            </a:pP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Q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66" y="685695"/>
            <a:ext cx="4451350" cy="445198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  <a:tab pos="1283335" algn="l"/>
                <a:tab pos="1777364" algn="l"/>
                <a:tab pos="2797175" algn="l"/>
                <a:tab pos="3556000" algn="l"/>
                <a:tab pos="3926840" algn="l"/>
              </a:tabLst>
            </a:pPr>
            <a:r>
              <a:rPr sz="2200" spc="-10" dirty="0">
                <a:latin typeface="Times New Roman"/>
                <a:cs typeface="Times New Roman"/>
              </a:rPr>
              <a:t>Assign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Reward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value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each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sz="2200" spc="-10" dirty="0">
                <a:latin typeface="Times New Roman"/>
                <a:cs typeface="Times New Roman"/>
              </a:rPr>
              <a:t>door.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2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doors</a:t>
            </a:r>
            <a:r>
              <a:rPr sz="2200" spc="3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lead</a:t>
            </a:r>
            <a:r>
              <a:rPr sz="2200" spc="3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immediately</a:t>
            </a:r>
            <a:r>
              <a:rPr sz="2200" spc="36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target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assigned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instant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reward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100.</a:t>
            </a:r>
            <a:endParaRPr sz="22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doors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directly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connected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35"/>
              </a:spcBef>
              <a:tabLst>
                <a:tab pos="824865" algn="l"/>
                <a:tab pos="1417320" algn="l"/>
                <a:tab pos="2305050" algn="l"/>
                <a:tab pos="3145790" algn="l"/>
                <a:tab pos="3926840" algn="l"/>
              </a:tabLst>
            </a:pP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target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room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have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20" dirty="0">
                <a:latin typeface="Times New Roman"/>
                <a:cs typeface="Times New Roman"/>
              </a:rPr>
              <a:t>zero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25"/>
              </a:spcBef>
            </a:pPr>
            <a:r>
              <a:rPr sz="2200" spc="-10" dirty="0">
                <a:latin typeface="Times New Roman"/>
                <a:cs typeface="Times New Roman"/>
              </a:rPr>
              <a:t>reward.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20000"/>
              </a:lnSpc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example,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doors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two-</a:t>
            </a:r>
            <a:r>
              <a:rPr sz="2200" dirty="0">
                <a:latin typeface="Times New Roman"/>
                <a:cs typeface="Times New Roman"/>
              </a:rPr>
              <a:t>way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0 </a:t>
            </a:r>
            <a:r>
              <a:rPr sz="2200" dirty="0">
                <a:latin typeface="Times New Roman"/>
                <a:cs typeface="Times New Roman"/>
              </a:rPr>
              <a:t>leads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4,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leads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),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2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edges</a:t>
            </a:r>
            <a:r>
              <a:rPr sz="2200" spc="2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assigned</a:t>
            </a:r>
            <a:r>
              <a:rPr sz="2200" spc="22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20" dirty="0">
                <a:latin typeface="Times New Roman"/>
                <a:cs typeface="Times New Roman"/>
              </a:rPr>
              <a:t>  </a:t>
            </a:r>
            <a:r>
              <a:rPr sz="2200" spc="-20" dirty="0">
                <a:latin typeface="Times New Roman"/>
                <a:cs typeface="Times New Roman"/>
              </a:rPr>
              <a:t>each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66" y="5111902"/>
            <a:ext cx="1819275" cy="12331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25"/>
              </a:spcBef>
            </a:pPr>
            <a:r>
              <a:rPr sz="2200" spc="-10" dirty="0">
                <a:latin typeface="Times New Roman"/>
                <a:cs typeface="Times New Roman"/>
              </a:rPr>
              <a:t>room.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170"/>
              </a:lnSpc>
              <a:spcBef>
                <a:spcPts val="100"/>
              </a:spcBef>
              <a:buChar char="•"/>
              <a:tabLst>
                <a:tab pos="355600" algn="l"/>
                <a:tab pos="1177925" algn="l"/>
              </a:tabLst>
            </a:pPr>
            <a:r>
              <a:rPr sz="2200" spc="-20" dirty="0">
                <a:latin typeface="Times New Roman"/>
                <a:cs typeface="Times New Roman"/>
              </a:rPr>
              <a:t>Each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edge </a:t>
            </a:r>
            <a:r>
              <a:rPr sz="2200" dirty="0">
                <a:latin typeface="Times New Roman"/>
                <a:cs typeface="Times New Roman"/>
              </a:rPr>
              <a:t>reward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value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961" y="5581903"/>
            <a:ext cx="2492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05865" algn="l"/>
                <a:tab pos="1734820" algn="l"/>
              </a:tabLst>
            </a:pPr>
            <a:r>
              <a:rPr sz="2200" spc="-10" dirty="0">
                <a:latin typeface="Times New Roman"/>
                <a:cs typeface="Times New Roman"/>
              </a:rPr>
              <a:t>contains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instant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616" y="1205740"/>
            <a:ext cx="4514415" cy="48348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95"/>
              </a:spcBef>
            </a:pP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Q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681732"/>
            <a:ext cx="7851140" cy="28136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 </a:t>
            </a:r>
            <a:r>
              <a:rPr sz="2400" dirty="0">
                <a:latin typeface="Times New Roman"/>
                <a:cs typeface="Times New Roman"/>
              </a:rPr>
              <a:t>(Room) </a:t>
            </a:r>
            <a:r>
              <a:rPr sz="2400" spc="-25" dirty="0">
                <a:latin typeface="Times New Roman"/>
                <a:cs typeface="Times New Roman"/>
              </a:rPr>
              <a:t>2.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Agent’s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movement 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traversing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(Target).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4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Initial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current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i.e.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12462"/>
            <a:ext cx="4389120" cy="31455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0198" y="3722448"/>
            <a:ext cx="4534275" cy="31155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95"/>
              </a:spcBef>
            </a:pP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Q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563" y="872956"/>
            <a:ext cx="9040495" cy="4538980"/>
            <a:chOff x="103563" y="872956"/>
            <a:chExt cx="9040495" cy="4538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63" y="872956"/>
              <a:ext cx="5434009" cy="33837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2260091"/>
              <a:ext cx="4572000" cy="315163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Understanding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Q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–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Learning: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dirty="0"/>
              <a:t>Prepare</a:t>
            </a:r>
            <a:r>
              <a:rPr spc="-60" dirty="0"/>
              <a:t> </a:t>
            </a:r>
            <a:r>
              <a:rPr dirty="0"/>
              <a:t>matrix</a:t>
            </a:r>
            <a:r>
              <a:rPr spc="-65" dirty="0"/>
              <a:t> </a:t>
            </a:r>
            <a:r>
              <a:rPr spc="-50" dirty="0"/>
              <a:t>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681732"/>
            <a:ext cx="8813800" cy="609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350" indent="-342900">
              <a:lnSpc>
                <a:spcPct val="12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learned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from experience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stored.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agent</a:t>
            </a:r>
            <a:endParaRPr sz="2400">
              <a:latin typeface="Times New Roman"/>
              <a:cs typeface="Times New Roman"/>
            </a:endParaRPr>
          </a:p>
          <a:p>
            <a:pPr marL="12700" marR="1033144" indent="342265">
              <a:lnSpc>
                <a:spcPct val="12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Column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matrix: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45"/>
              </a:spcBef>
            </a:pPr>
            <a:r>
              <a:rPr sz="2000" i="1" dirty="0">
                <a:latin typeface="Times New Roman"/>
                <a:cs typeface="Times New Roman"/>
              </a:rPr>
              <a:t>Q(state,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R(state,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Gamma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*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max[Q(next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state,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all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actions)]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Gamma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discounting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factor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future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rewards.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i.e.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Gamma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&lt;1.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Future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valuable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must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10" dirty="0">
                <a:latin typeface="Times New Roman"/>
                <a:cs typeface="Times New Roman"/>
              </a:rPr>
              <a:t>discounted.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0000"/>
              </a:lnSpc>
              <a:buChar char="•"/>
              <a:tabLst>
                <a:tab pos="355600" algn="l"/>
                <a:tab pos="685800" algn="l"/>
                <a:tab pos="1777364" algn="l"/>
                <a:tab pos="2111375" algn="l"/>
                <a:tab pos="2967990" algn="l"/>
                <a:tab pos="3333750" algn="l"/>
                <a:tab pos="3690620" algn="l"/>
                <a:tab pos="4191635" algn="l"/>
                <a:tab pos="4978400" algn="l"/>
                <a:tab pos="6232525" algn="l"/>
                <a:tab pos="6597015" algn="l"/>
                <a:tab pos="7758430" algn="l"/>
                <a:tab pos="8428990" algn="l"/>
              </a:tabLst>
            </a:pPr>
            <a:r>
              <a:rPr sz="2400" spc="-2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Gamma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closer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agent</a:t>
            </a:r>
            <a:r>
              <a:rPr sz="2400" dirty="0">
                <a:latin typeface="Times New Roman"/>
                <a:cs typeface="Times New Roman"/>
              </a:rPr>
              <a:t>	will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consider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only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immediate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rewards.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Gamma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closer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tend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future </a:t>
            </a:r>
            <a:r>
              <a:rPr sz="2400" dirty="0">
                <a:latin typeface="Times New Roman"/>
                <a:cs typeface="Times New Roman"/>
              </a:rPr>
              <a:t>rewards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635">
              <a:lnSpc>
                <a:spcPct val="100000"/>
              </a:lnSpc>
              <a:spcBef>
                <a:spcPts val="95"/>
              </a:spcBef>
            </a:pPr>
            <a:r>
              <a:rPr dirty="0"/>
              <a:t>Q</a:t>
            </a:r>
            <a:r>
              <a:rPr spc="-5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681732"/>
            <a:ext cx="8812530" cy="60248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gamma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parameter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Initialize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Zero</a:t>
            </a:r>
            <a:endParaRPr sz="2400" dirty="0">
              <a:latin typeface="Times New Roman"/>
              <a:cs typeface="Times New Roman"/>
            </a:endParaRPr>
          </a:p>
          <a:p>
            <a:pPr marL="286385" marR="3803015" lvl="1" indent="-286385" algn="r">
              <a:lnSpc>
                <a:spcPct val="100000"/>
              </a:lnSpc>
              <a:spcBef>
                <a:spcPts val="575"/>
              </a:spcBef>
              <a:buChar char="–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random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(source)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</a:t>
            </a:r>
            <a:endParaRPr sz="2400" dirty="0">
              <a:latin typeface="Times New Roman"/>
              <a:cs typeface="Times New Roman"/>
            </a:endParaRPr>
          </a:p>
          <a:p>
            <a:pPr marL="228600" marR="3823970" lvl="2" indent="-228600" algn="r">
              <a:lnSpc>
                <a:spcPct val="100000"/>
              </a:lnSpc>
              <a:spcBef>
                <a:spcPts val="580"/>
              </a:spcBef>
              <a:buChar char="•"/>
              <a:tabLst>
                <a:tab pos="228600" algn="l"/>
              </a:tabLst>
            </a:pP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10" dirty="0">
                <a:latin typeface="Times New Roman"/>
                <a:cs typeface="Times New Roman"/>
              </a:rPr>
              <a:t> state</a:t>
            </a:r>
            <a:endParaRPr sz="2400" dirty="0">
              <a:latin typeface="Times New Roman"/>
              <a:cs typeface="Times New Roman"/>
            </a:endParaRPr>
          </a:p>
          <a:p>
            <a:pPr marL="1212215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exploratory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policy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, going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next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state</a:t>
            </a:r>
            <a:r>
              <a:rPr sz="2400" i="1" spc="-25" dirty="0">
                <a:latin typeface="Times New Roman"/>
                <a:cs typeface="Times New Roman"/>
              </a:rPr>
              <a:t> s’.</a:t>
            </a:r>
            <a:endParaRPr sz="24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580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Observe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reward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r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possible</a:t>
            </a:r>
            <a:endParaRPr sz="2400" dirty="0">
              <a:latin typeface="Times New Roman"/>
              <a:cs typeface="Times New Roman"/>
            </a:endParaRPr>
          </a:p>
          <a:p>
            <a:pPr marR="7182484" algn="r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Times New Roman"/>
                <a:cs typeface="Times New Roman"/>
              </a:rPr>
              <a:t>actions</a:t>
            </a:r>
            <a:endParaRPr sz="2400" dirty="0">
              <a:latin typeface="Times New Roman"/>
              <a:cs typeface="Times New Roman"/>
            </a:endParaRPr>
          </a:p>
          <a:p>
            <a:pPr marL="342265" marR="7248525" indent="-342265" algn="r">
              <a:lnSpc>
                <a:spcPct val="100000"/>
              </a:lnSpc>
              <a:spcBef>
                <a:spcPts val="580"/>
              </a:spcBef>
              <a:buChar char="•"/>
              <a:tabLst>
                <a:tab pos="3422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Compute: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40"/>
              </a:spcBef>
              <a:buFont typeface="Times New Roman"/>
              <a:buChar char="–"/>
              <a:tabLst>
                <a:tab pos="756285" algn="l"/>
              </a:tabLst>
            </a:pPr>
            <a:r>
              <a:rPr sz="2000" i="1" dirty="0">
                <a:latin typeface="Times New Roman"/>
                <a:cs typeface="Times New Roman"/>
              </a:rPr>
              <a:t>Q(state,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R(state,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Gamma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*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max[Q(next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state,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all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actions)]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Repeat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reach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goal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goal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30" dirty="0"/>
              <a:t> </a:t>
            </a:r>
            <a:r>
              <a:rPr dirty="0"/>
              <a:t>Q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745" y="872956"/>
            <a:ext cx="8737166" cy="43696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28369" y="2896361"/>
            <a:ext cx="2480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630" algn="l"/>
                <a:tab pos="925194" algn="l"/>
                <a:tab pos="1438275" algn="l"/>
                <a:tab pos="1896110" algn="l"/>
                <a:tab pos="2352675" algn="l"/>
              </a:tabLst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6126" y="29865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3175" y="29865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1368" y="29865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2303" y="2711653"/>
            <a:ext cx="674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Action</a:t>
            </a:r>
            <a:endParaRPr sz="1800">
              <a:latin typeface="Times New Roman"/>
              <a:cs typeface="Times New Roman"/>
            </a:endParaRPr>
          </a:p>
          <a:p>
            <a:pPr marL="479425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0146" y="29865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21268" y="29865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1901" y="2989833"/>
            <a:ext cx="578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State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30" dirty="0"/>
              <a:t> </a:t>
            </a:r>
            <a:r>
              <a:rPr dirty="0"/>
              <a:t>Q</a:t>
            </a:r>
            <a:r>
              <a:rPr spc="-5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1405" y="3974719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Action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124" y="821245"/>
            <a:ext cx="8559165" cy="2866390"/>
            <a:chOff x="262124" y="821245"/>
            <a:chExt cx="8559165" cy="2866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124" y="849616"/>
              <a:ext cx="7943135" cy="28377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7604" y="1037844"/>
              <a:ext cx="2078989" cy="1727200"/>
            </a:xfrm>
            <a:custGeom>
              <a:avLst/>
              <a:gdLst/>
              <a:ahLst/>
              <a:cxnLst/>
              <a:rect l="l" t="t" r="r" b="b"/>
              <a:pathLst>
                <a:path w="2078990" h="1727200">
                  <a:moveTo>
                    <a:pt x="1325879" y="1168907"/>
                  </a:moveTo>
                  <a:lnTo>
                    <a:pt x="2078736" y="1726691"/>
                  </a:lnTo>
                </a:path>
                <a:path w="2078990" h="1727200">
                  <a:moveTo>
                    <a:pt x="2005584" y="0"/>
                  </a:moveTo>
                  <a:lnTo>
                    <a:pt x="1306068" y="1127759"/>
                  </a:lnTo>
                </a:path>
                <a:path w="2078990" h="1727200">
                  <a:moveTo>
                    <a:pt x="0" y="1127759"/>
                  </a:moveTo>
                  <a:lnTo>
                    <a:pt x="920496" y="1202435"/>
                  </a:lnTo>
                </a:path>
                <a:path w="2078990" h="1727200">
                  <a:moveTo>
                    <a:pt x="16764" y="970788"/>
                  </a:moveTo>
                  <a:lnTo>
                    <a:pt x="365760" y="245363"/>
                  </a:lnTo>
                </a:path>
                <a:path w="2078990" h="1727200">
                  <a:moveTo>
                    <a:pt x="1325879" y="1135379"/>
                  </a:moveTo>
                  <a:lnTo>
                    <a:pt x="2063496" y="94640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21067" y="826008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192024" y="0"/>
                  </a:moveTo>
                  <a:lnTo>
                    <a:pt x="147996" y="6038"/>
                  </a:lnTo>
                  <a:lnTo>
                    <a:pt x="107579" y="23237"/>
                  </a:lnTo>
                  <a:lnTo>
                    <a:pt x="71925" y="50225"/>
                  </a:lnTo>
                  <a:lnTo>
                    <a:pt x="42187" y="85628"/>
                  </a:lnTo>
                  <a:lnTo>
                    <a:pt x="19518" y="128073"/>
                  </a:lnTo>
                  <a:lnTo>
                    <a:pt x="5071" y="176188"/>
                  </a:lnTo>
                  <a:lnTo>
                    <a:pt x="0" y="228600"/>
                  </a:lnTo>
                  <a:lnTo>
                    <a:pt x="5071" y="281011"/>
                  </a:lnTo>
                  <a:lnTo>
                    <a:pt x="19518" y="329126"/>
                  </a:lnTo>
                  <a:lnTo>
                    <a:pt x="42187" y="371571"/>
                  </a:lnTo>
                  <a:lnTo>
                    <a:pt x="71925" y="406974"/>
                  </a:lnTo>
                  <a:lnTo>
                    <a:pt x="107579" y="433962"/>
                  </a:lnTo>
                  <a:lnTo>
                    <a:pt x="147996" y="451161"/>
                  </a:lnTo>
                  <a:lnTo>
                    <a:pt x="192024" y="457200"/>
                  </a:lnTo>
                  <a:lnTo>
                    <a:pt x="236051" y="451161"/>
                  </a:lnTo>
                  <a:lnTo>
                    <a:pt x="276468" y="433962"/>
                  </a:lnTo>
                  <a:lnTo>
                    <a:pt x="312122" y="406974"/>
                  </a:lnTo>
                  <a:lnTo>
                    <a:pt x="341860" y="371571"/>
                  </a:lnTo>
                  <a:lnTo>
                    <a:pt x="364529" y="329126"/>
                  </a:lnTo>
                  <a:lnTo>
                    <a:pt x="378976" y="281011"/>
                  </a:lnTo>
                  <a:lnTo>
                    <a:pt x="384048" y="228600"/>
                  </a:lnTo>
                  <a:lnTo>
                    <a:pt x="378976" y="176188"/>
                  </a:lnTo>
                  <a:lnTo>
                    <a:pt x="364529" y="128073"/>
                  </a:lnTo>
                  <a:lnTo>
                    <a:pt x="341860" y="85628"/>
                  </a:lnTo>
                  <a:lnTo>
                    <a:pt x="312122" y="50225"/>
                  </a:lnTo>
                  <a:lnTo>
                    <a:pt x="276468" y="23237"/>
                  </a:lnTo>
                  <a:lnTo>
                    <a:pt x="236051" y="6038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21067" y="826008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0" y="228600"/>
                  </a:moveTo>
                  <a:lnTo>
                    <a:pt x="5071" y="176188"/>
                  </a:lnTo>
                  <a:lnTo>
                    <a:pt x="19518" y="128073"/>
                  </a:lnTo>
                  <a:lnTo>
                    <a:pt x="42187" y="85628"/>
                  </a:lnTo>
                  <a:lnTo>
                    <a:pt x="71925" y="50225"/>
                  </a:lnTo>
                  <a:lnTo>
                    <a:pt x="107579" y="23237"/>
                  </a:lnTo>
                  <a:lnTo>
                    <a:pt x="147996" y="6038"/>
                  </a:lnTo>
                  <a:lnTo>
                    <a:pt x="192024" y="0"/>
                  </a:lnTo>
                  <a:lnTo>
                    <a:pt x="236051" y="6038"/>
                  </a:lnTo>
                  <a:lnTo>
                    <a:pt x="276468" y="23237"/>
                  </a:lnTo>
                  <a:lnTo>
                    <a:pt x="312122" y="50225"/>
                  </a:lnTo>
                  <a:lnTo>
                    <a:pt x="341860" y="85628"/>
                  </a:lnTo>
                  <a:lnTo>
                    <a:pt x="364529" y="128073"/>
                  </a:lnTo>
                  <a:lnTo>
                    <a:pt x="378976" y="176188"/>
                  </a:lnTo>
                  <a:lnTo>
                    <a:pt x="384048" y="228600"/>
                  </a:lnTo>
                  <a:lnTo>
                    <a:pt x="378976" y="281011"/>
                  </a:lnTo>
                  <a:lnTo>
                    <a:pt x="364529" y="329126"/>
                  </a:lnTo>
                  <a:lnTo>
                    <a:pt x="341860" y="371571"/>
                  </a:lnTo>
                  <a:lnTo>
                    <a:pt x="312122" y="406974"/>
                  </a:lnTo>
                  <a:lnTo>
                    <a:pt x="276468" y="433962"/>
                  </a:lnTo>
                  <a:lnTo>
                    <a:pt x="236051" y="451161"/>
                  </a:lnTo>
                  <a:lnTo>
                    <a:pt x="192024" y="457200"/>
                  </a:lnTo>
                  <a:lnTo>
                    <a:pt x="147996" y="451161"/>
                  </a:lnTo>
                  <a:lnTo>
                    <a:pt x="107579" y="433962"/>
                  </a:lnTo>
                  <a:lnTo>
                    <a:pt x="71925" y="406974"/>
                  </a:lnTo>
                  <a:lnTo>
                    <a:pt x="42187" y="371571"/>
                  </a:lnTo>
                  <a:lnTo>
                    <a:pt x="19518" y="329126"/>
                  </a:lnTo>
                  <a:lnTo>
                    <a:pt x="5071" y="281011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57084" y="89839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11277" y="1935289"/>
            <a:ext cx="393700" cy="466725"/>
            <a:chOff x="6411277" y="1935289"/>
            <a:chExt cx="393700" cy="466725"/>
          </a:xfrm>
        </p:grpSpPr>
        <p:sp>
          <p:nvSpPr>
            <p:cNvPr id="11" name="object 11"/>
            <p:cNvSpPr/>
            <p:nvPr/>
          </p:nvSpPr>
          <p:spPr>
            <a:xfrm>
              <a:off x="6416040" y="1940051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192024" y="0"/>
                  </a:moveTo>
                  <a:lnTo>
                    <a:pt x="147996" y="6038"/>
                  </a:lnTo>
                  <a:lnTo>
                    <a:pt x="107579" y="23237"/>
                  </a:lnTo>
                  <a:lnTo>
                    <a:pt x="71925" y="50225"/>
                  </a:lnTo>
                  <a:lnTo>
                    <a:pt x="42187" y="85628"/>
                  </a:lnTo>
                  <a:lnTo>
                    <a:pt x="19518" y="128073"/>
                  </a:lnTo>
                  <a:lnTo>
                    <a:pt x="5071" y="176188"/>
                  </a:lnTo>
                  <a:lnTo>
                    <a:pt x="0" y="228600"/>
                  </a:lnTo>
                  <a:lnTo>
                    <a:pt x="5071" y="281011"/>
                  </a:lnTo>
                  <a:lnTo>
                    <a:pt x="19518" y="329126"/>
                  </a:lnTo>
                  <a:lnTo>
                    <a:pt x="42187" y="371571"/>
                  </a:lnTo>
                  <a:lnTo>
                    <a:pt x="71925" y="406974"/>
                  </a:lnTo>
                  <a:lnTo>
                    <a:pt x="107579" y="433962"/>
                  </a:lnTo>
                  <a:lnTo>
                    <a:pt x="147996" y="451161"/>
                  </a:lnTo>
                  <a:lnTo>
                    <a:pt x="192024" y="457200"/>
                  </a:lnTo>
                  <a:lnTo>
                    <a:pt x="236051" y="451161"/>
                  </a:lnTo>
                  <a:lnTo>
                    <a:pt x="276468" y="433962"/>
                  </a:lnTo>
                  <a:lnTo>
                    <a:pt x="312122" y="406974"/>
                  </a:lnTo>
                  <a:lnTo>
                    <a:pt x="341860" y="371571"/>
                  </a:lnTo>
                  <a:lnTo>
                    <a:pt x="364529" y="329126"/>
                  </a:lnTo>
                  <a:lnTo>
                    <a:pt x="378976" y="281011"/>
                  </a:lnTo>
                  <a:lnTo>
                    <a:pt x="384048" y="228600"/>
                  </a:lnTo>
                  <a:lnTo>
                    <a:pt x="378976" y="176188"/>
                  </a:lnTo>
                  <a:lnTo>
                    <a:pt x="364529" y="128073"/>
                  </a:lnTo>
                  <a:lnTo>
                    <a:pt x="341860" y="85628"/>
                  </a:lnTo>
                  <a:lnTo>
                    <a:pt x="312122" y="50225"/>
                  </a:lnTo>
                  <a:lnTo>
                    <a:pt x="276468" y="23237"/>
                  </a:lnTo>
                  <a:lnTo>
                    <a:pt x="236051" y="6038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16040" y="1940051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0" y="228600"/>
                  </a:moveTo>
                  <a:lnTo>
                    <a:pt x="5071" y="176188"/>
                  </a:lnTo>
                  <a:lnTo>
                    <a:pt x="19518" y="128073"/>
                  </a:lnTo>
                  <a:lnTo>
                    <a:pt x="42187" y="85628"/>
                  </a:lnTo>
                  <a:lnTo>
                    <a:pt x="71925" y="50225"/>
                  </a:lnTo>
                  <a:lnTo>
                    <a:pt x="107579" y="23237"/>
                  </a:lnTo>
                  <a:lnTo>
                    <a:pt x="147996" y="6038"/>
                  </a:lnTo>
                  <a:lnTo>
                    <a:pt x="192024" y="0"/>
                  </a:lnTo>
                  <a:lnTo>
                    <a:pt x="236051" y="6038"/>
                  </a:lnTo>
                  <a:lnTo>
                    <a:pt x="276468" y="23237"/>
                  </a:lnTo>
                  <a:lnTo>
                    <a:pt x="312122" y="50225"/>
                  </a:lnTo>
                  <a:lnTo>
                    <a:pt x="341860" y="85628"/>
                  </a:lnTo>
                  <a:lnTo>
                    <a:pt x="364529" y="128073"/>
                  </a:lnTo>
                  <a:lnTo>
                    <a:pt x="378976" y="176188"/>
                  </a:lnTo>
                  <a:lnTo>
                    <a:pt x="384048" y="228600"/>
                  </a:lnTo>
                  <a:lnTo>
                    <a:pt x="378976" y="281011"/>
                  </a:lnTo>
                  <a:lnTo>
                    <a:pt x="364529" y="329126"/>
                  </a:lnTo>
                  <a:lnTo>
                    <a:pt x="341860" y="371571"/>
                  </a:lnTo>
                  <a:lnTo>
                    <a:pt x="312122" y="406974"/>
                  </a:lnTo>
                  <a:lnTo>
                    <a:pt x="276468" y="433962"/>
                  </a:lnTo>
                  <a:lnTo>
                    <a:pt x="236051" y="451161"/>
                  </a:lnTo>
                  <a:lnTo>
                    <a:pt x="192024" y="457200"/>
                  </a:lnTo>
                  <a:lnTo>
                    <a:pt x="147996" y="451161"/>
                  </a:lnTo>
                  <a:lnTo>
                    <a:pt x="107579" y="433962"/>
                  </a:lnTo>
                  <a:lnTo>
                    <a:pt x="71925" y="406974"/>
                  </a:lnTo>
                  <a:lnTo>
                    <a:pt x="42187" y="371571"/>
                  </a:lnTo>
                  <a:lnTo>
                    <a:pt x="19518" y="329126"/>
                  </a:lnTo>
                  <a:lnTo>
                    <a:pt x="5071" y="281011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51168" y="20129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74673" y="1961197"/>
            <a:ext cx="393700" cy="466725"/>
            <a:chOff x="7674673" y="1961197"/>
            <a:chExt cx="393700" cy="466725"/>
          </a:xfrm>
        </p:grpSpPr>
        <p:sp>
          <p:nvSpPr>
            <p:cNvPr id="15" name="object 15"/>
            <p:cNvSpPr/>
            <p:nvPr/>
          </p:nvSpPr>
          <p:spPr>
            <a:xfrm>
              <a:off x="7679435" y="1965960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192024" y="0"/>
                  </a:moveTo>
                  <a:lnTo>
                    <a:pt x="147996" y="6038"/>
                  </a:lnTo>
                  <a:lnTo>
                    <a:pt x="107579" y="23237"/>
                  </a:lnTo>
                  <a:lnTo>
                    <a:pt x="71925" y="50225"/>
                  </a:lnTo>
                  <a:lnTo>
                    <a:pt x="42187" y="85628"/>
                  </a:lnTo>
                  <a:lnTo>
                    <a:pt x="19518" y="128073"/>
                  </a:lnTo>
                  <a:lnTo>
                    <a:pt x="5071" y="176188"/>
                  </a:lnTo>
                  <a:lnTo>
                    <a:pt x="0" y="228600"/>
                  </a:lnTo>
                  <a:lnTo>
                    <a:pt x="5071" y="281011"/>
                  </a:lnTo>
                  <a:lnTo>
                    <a:pt x="19518" y="329126"/>
                  </a:lnTo>
                  <a:lnTo>
                    <a:pt x="42187" y="371571"/>
                  </a:lnTo>
                  <a:lnTo>
                    <a:pt x="71925" y="406974"/>
                  </a:lnTo>
                  <a:lnTo>
                    <a:pt x="107579" y="433962"/>
                  </a:lnTo>
                  <a:lnTo>
                    <a:pt x="147996" y="451161"/>
                  </a:lnTo>
                  <a:lnTo>
                    <a:pt x="192024" y="457200"/>
                  </a:lnTo>
                  <a:lnTo>
                    <a:pt x="236051" y="451161"/>
                  </a:lnTo>
                  <a:lnTo>
                    <a:pt x="276468" y="433962"/>
                  </a:lnTo>
                  <a:lnTo>
                    <a:pt x="312122" y="406974"/>
                  </a:lnTo>
                  <a:lnTo>
                    <a:pt x="341860" y="371571"/>
                  </a:lnTo>
                  <a:lnTo>
                    <a:pt x="364529" y="329126"/>
                  </a:lnTo>
                  <a:lnTo>
                    <a:pt x="378976" y="281011"/>
                  </a:lnTo>
                  <a:lnTo>
                    <a:pt x="384048" y="228600"/>
                  </a:lnTo>
                  <a:lnTo>
                    <a:pt x="378976" y="176188"/>
                  </a:lnTo>
                  <a:lnTo>
                    <a:pt x="364529" y="128073"/>
                  </a:lnTo>
                  <a:lnTo>
                    <a:pt x="341860" y="85628"/>
                  </a:lnTo>
                  <a:lnTo>
                    <a:pt x="312122" y="50225"/>
                  </a:lnTo>
                  <a:lnTo>
                    <a:pt x="276468" y="23237"/>
                  </a:lnTo>
                  <a:lnTo>
                    <a:pt x="236051" y="6038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79435" y="1965960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0" y="228600"/>
                  </a:moveTo>
                  <a:lnTo>
                    <a:pt x="5071" y="176188"/>
                  </a:lnTo>
                  <a:lnTo>
                    <a:pt x="19518" y="128073"/>
                  </a:lnTo>
                  <a:lnTo>
                    <a:pt x="42187" y="85628"/>
                  </a:lnTo>
                  <a:lnTo>
                    <a:pt x="71925" y="50225"/>
                  </a:lnTo>
                  <a:lnTo>
                    <a:pt x="107579" y="23237"/>
                  </a:lnTo>
                  <a:lnTo>
                    <a:pt x="147996" y="6038"/>
                  </a:lnTo>
                  <a:lnTo>
                    <a:pt x="192024" y="0"/>
                  </a:lnTo>
                  <a:lnTo>
                    <a:pt x="236051" y="6038"/>
                  </a:lnTo>
                  <a:lnTo>
                    <a:pt x="276468" y="23237"/>
                  </a:lnTo>
                  <a:lnTo>
                    <a:pt x="312122" y="50225"/>
                  </a:lnTo>
                  <a:lnTo>
                    <a:pt x="341860" y="85628"/>
                  </a:lnTo>
                  <a:lnTo>
                    <a:pt x="364529" y="128073"/>
                  </a:lnTo>
                  <a:lnTo>
                    <a:pt x="378976" y="176188"/>
                  </a:lnTo>
                  <a:lnTo>
                    <a:pt x="384048" y="228600"/>
                  </a:lnTo>
                  <a:lnTo>
                    <a:pt x="378976" y="281011"/>
                  </a:lnTo>
                  <a:lnTo>
                    <a:pt x="364529" y="329126"/>
                  </a:lnTo>
                  <a:lnTo>
                    <a:pt x="341860" y="371571"/>
                  </a:lnTo>
                  <a:lnTo>
                    <a:pt x="312122" y="406974"/>
                  </a:lnTo>
                  <a:lnTo>
                    <a:pt x="276468" y="433962"/>
                  </a:lnTo>
                  <a:lnTo>
                    <a:pt x="236051" y="451161"/>
                  </a:lnTo>
                  <a:lnTo>
                    <a:pt x="192024" y="457200"/>
                  </a:lnTo>
                  <a:lnTo>
                    <a:pt x="147996" y="451161"/>
                  </a:lnTo>
                  <a:lnTo>
                    <a:pt x="107579" y="433962"/>
                  </a:lnTo>
                  <a:lnTo>
                    <a:pt x="71925" y="406974"/>
                  </a:lnTo>
                  <a:lnTo>
                    <a:pt x="42187" y="371571"/>
                  </a:lnTo>
                  <a:lnTo>
                    <a:pt x="19518" y="329126"/>
                  </a:lnTo>
                  <a:lnTo>
                    <a:pt x="5071" y="281011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14818" y="203804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32329" y="2522029"/>
            <a:ext cx="393700" cy="466725"/>
            <a:chOff x="8732329" y="2522029"/>
            <a:chExt cx="393700" cy="466725"/>
          </a:xfrm>
        </p:grpSpPr>
        <p:sp>
          <p:nvSpPr>
            <p:cNvPr id="19" name="object 19"/>
            <p:cNvSpPr/>
            <p:nvPr/>
          </p:nvSpPr>
          <p:spPr>
            <a:xfrm>
              <a:off x="8737092" y="2526792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192024" y="0"/>
                  </a:moveTo>
                  <a:lnTo>
                    <a:pt x="147996" y="6038"/>
                  </a:lnTo>
                  <a:lnTo>
                    <a:pt x="107579" y="23237"/>
                  </a:lnTo>
                  <a:lnTo>
                    <a:pt x="71925" y="50225"/>
                  </a:lnTo>
                  <a:lnTo>
                    <a:pt x="42187" y="85628"/>
                  </a:lnTo>
                  <a:lnTo>
                    <a:pt x="19518" y="128073"/>
                  </a:lnTo>
                  <a:lnTo>
                    <a:pt x="5071" y="176188"/>
                  </a:lnTo>
                  <a:lnTo>
                    <a:pt x="0" y="228600"/>
                  </a:lnTo>
                  <a:lnTo>
                    <a:pt x="5071" y="281011"/>
                  </a:lnTo>
                  <a:lnTo>
                    <a:pt x="19518" y="329126"/>
                  </a:lnTo>
                  <a:lnTo>
                    <a:pt x="42187" y="371571"/>
                  </a:lnTo>
                  <a:lnTo>
                    <a:pt x="71925" y="406974"/>
                  </a:lnTo>
                  <a:lnTo>
                    <a:pt x="107579" y="433962"/>
                  </a:lnTo>
                  <a:lnTo>
                    <a:pt x="147996" y="451161"/>
                  </a:lnTo>
                  <a:lnTo>
                    <a:pt x="192024" y="457200"/>
                  </a:lnTo>
                  <a:lnTo>
                    <a:pt x="236051" y="451161"/>
                  </a:lnTo>
                  <a:lnTo>
                    <a:pt x="276468" y="433962"/>
                  </a:lnTo>
                  <a:lnTo>
                    <a:pt x="312122" y="406974"/>
                  </a:lnTo>
                  <a:lnTo>
                    <a:pt x="341860" y="371571"/>
                  </a:lnTo>
                  <a:lnTo>
                    <a:pt x="364529" y="329126"/>
                  </a:lnTo>
                  <a:lnTo>
                    <a:pt x="378976" y="281011"/>
                  </a:lnTo>
                  <a:lnTo>
                    <a:pt x="384048" y="228600"/>
                  </a:lnTo>
                  <a:lnTo>
                    <a:pt x="378976" y="176188"/>
                  </a:lnTo>
                  <a:lnTo>
                    <a:pt x="364529" y="128073"/>
                  </a:lnTo>
                  <a:lnTo>
                    <a:pt x="341860" y="85628"/>
                  </a:lnTo>
                  <a:lnTo>
                    <a:pt x="312122" y="50225"/>
                  </a:lnTo>
                  <a:lnTo>
                    <a:pt x="276468" y="23237"/>
                  </a:lnTo>
                  <a:lnTo>
                    <a:pt x="236051" y="6038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37092" y="2526792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0" y="228600"/>
                  </a:moveTo>
                  <a:lnTo>
                    <a:pt x="5071" y="176188"/>
                  </a:lnTo>
                  <a:lnTo>
                    <a:pt x="19518" y="128073"/>
                  </a:lnTo>
                  <a:lnTo>
                    <a:pt x="42187" y="85628"/>
                  </a:lnTo>
                  <a:lnTo>
                    <a:pt x="71925" y="50225"/>
                  </a:lnTo>
                  <a:lnTo>
                    <a:pt x="107579" y="23237"/>
                  </a:lnTo>
                  <a:lnTo>
                    <a:pt x="147996" y="6038"/>
                  </a:lnTo>
                  <a:lnTo>
                    <a:pt x="192024" y="0"/>
                  </a:lnTo>
                  <a:lnTo>
                    <a:pt x="236051" y="6038"/>
                  </a:lnTo>
                  <a:lnTo>
                    <a:pt x="276468" y="23237"/>
                  </a:lnTo>
                  <a:lnTo>
                    <a:pt x="312122" y="50225"/>
                  </a:lnTo>
                  <a:lnTo>
                    <a:pt x="341860" y="85628"/>
                  </a:lnTo>
                  <a:lnTo>
                    <a:pt x="364529" y="128073"/>
                  </a:lnTo>
                  <a:lnTo>
                    <a:pt x="378976" y="176188"/>
                  </a:lnTo>
                  <a:lnTo>
                    <a:pt x="384048" y="228600"/>
                  </a:lnTo>
                  <a:lnTo>
                    <a:pt x="378976" y="281011"/>
                  </a:lnTo>
                  <a:lnTo>
                    <a:pt x="364529" y="329126"/>
                  </a:lnTo>
                  <a:lnTo>
                    <a:pt x="341860" y="371571"/>
                  </a:lnTo>
                  <a:lnTo>
                    <a:pt x="312122" y="406974"/>
                  </a:lnTo>
                  <a:lnTo>
                    <a:pt x="276468" y="433962"/>
                  </a:lnTo>
                  <a:lnTo>
                    <a:pt x="236051" y="451161"/>
                  </a:lnTo>
                  <a:lnTo>
                    <a:pt x="192024" y="457200"/>
                  </a:lnTo>
                  <a:lnTo>
                    <a:pt x="147996" y="451161"/>
                  </a:lnTo>
                  <a:lnTo>
                    <a:pt x="107579" y="433962"/>
                  </a:lnTo>
                  <a:lnTo>
                    <a:pt x="71925" y="406974"/>
                  </a:lnTo>
                  <a:lnTo>
                    <a:pt x="42187" y="371571"/>
                  </a:lnTo>
                  <a:lnTo>
                    <a:pt x="19518" y="329126"/>
                  </a:lnTo>
                  <a:lnTo>
                    <a:pt x="5071" y="281011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73108" y="260070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06421" y="714565"/>
            <a:ext cx="393700" cy="466725"/>
            <a:chOff x="8706421" y="714565"/>
            <a:chExt cx="393700" cy="466725"/>
          </a:xfrm>
        </p:grpSpPr>
        <p:sp>
          <p:nvSpPr>
            <p:cNvPr id="23" name="object 23"/>
            <p:cNvSpPr/>
            <p:nvPr/>
          </p:nvSpPr>
          <p:spPr>
            <a:xfrm>
              <a:off x="8711183" y="719327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192024" y="0"/>
                  </a:moveTo>
                  <a:lnTo>
                    <a:pt x="147996" y="6038"/>
                  </a:lnTo>
                  <a:lnTo>
                    <a:pt x="107579" y="23237"/>
                  </a:lnTo>
                  <a:lnTo>
                    <a:pt x="71925" y="50225"/>
                  </a:lnTo>
                  <a:lnTo>
                    <a:pt x="42187" y="85628"/>
                  </a:lnTo>
                  <a:lnTo>
                    <a:pt x="19518" y="128073"/>
                  </a:lnTo>
                  <a:lnTo>
                    <a:pt x="5071" y="176188"/>
                  </a:lnTo>
                  <a:lnTo>
                    <a:pt x="0" y="228600"/>
                  </a:lnTo>
                  <a:lnTo>
                    <a:pt x="5071" y="281011"/>
                  </a:lnTo>
                  <a:lnTo>
                    <a:pt x="19518" y="329126"/>
                  </a:lnTo>
                  <a:lnTo>
                    <a:pt x="42187" y="371571"/>
                  </a:lnTo>
                  <a:lnTo>
                    <a:pt x="71925" y="406974"/>
                  </a:lnTo>
                  <a:lnTo>
                    <a:pt x="107579" y="433962"/>
                  </a:lnTo>
                  <a:lnTo>
                    <a:pt x="147996" y="451161"/>
                  </a:lnTo>
                  <a:lnTo>
                    <a:pt x="192024" y="457200"/>
                  </a:lnTo>
                  <a:lnTo>
                    <a:pt x="236051" y="451161"/>
                  </a:lnTo>
                  <a:lnTo>
                    <a:pt x="276468" y="433962"/>
                  </a:lnTo>
                  <a:lnTo>
                    <a:pt x="312122" y="406974"/>
                  </a:lnTo>
                  <a:lnTo>
                    <a:pt x="341860" y="371571"/>
                  </a:lnTo>
                  <a:lnTo>
                    <a:pt x="364529" y="329126"/>
                  </a:lnTo>
                  <a:lnTo>
                    <a:pt x="378976" y="281011"/>
                  </a:lnTo>
                  <a:lnTo>
                    <a:pt x="384048" y="228600"/>
                  </a:lnTo>
                  <a:lnTo>
                    <a:pt x="378976" y="176188"/>
                  </a:lnTo>
                  <a:lnTo>
                    <a:pt x="364529" y="128073"/>
                  </a:lnTo>
                  <a:lnTo>
                    <a:pt x="341860" y="85628"/>
                  </a:lnTo>
                  <a:lnTo>
                    <a:pt x="312122" y="50225"/>
                  </a:lnTo>
                  <a:lnTo>
                    <a:pt x="276468" y="23237"/>
                  </a:lnTo>
                  <a:lnTo>
                    <a:pt x="236051" y="6038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11183" y="719327"/>
              <a:ext cx="384175" cy="457200"/>
            </a:xfrm>
            <a:custGeom>
              <a:avLst/>
              <a:gdLst/>
              <a:ahLst/>
              <a:cxnLst/>
              <a:rect l="l" t="t" r="r" b="b"/>
              <a:pathLst>
                <a:path w="384175" h="457200">
                  <a:moveTo>
                    <a:pt x="0" y="228600"/>
                  </a:moveTo>
                  <a:lnTo>
                    <a:pt x="5071" y="176188"/>
                  </a:lnTo>
                  <a:lnTo>
                    <a:pt x="19518" y="128073"/>
                  </a:lnTo>
                  <a:lnTo>
                    <a:pt x="42187" y="85628"/>
                  </a:lnTo>
                  <a:lnTo>
                    <a:pt x="71925" y="50225"/>
                  </a:lnTo>
                  <a:lnTo>
                    <a:pt x="107579" y="23237"/>
                  </a:lnTo>
                  <a:lnTo>
                    <a:pt x="147996" y="6038"/>
                  </a:lnTo>
                  <a:lnTo>
                    <a:pt x="192024" y="0"/>
                  </a:lnTo>
                  <a:lnTo>
                    <a:pt x="236051" y="6038"/>
                  </a:lnTo>
                  <a:lnTo>
                    <a:pt x="276468" y="23237"/>
                  </a:lnTo>
                  <a:lnTo>
                    <a:pt x="312122" y="50225"/>
                  </a:lnTo>
                  <a:lnTo>
                    <a:pt x="341860" y="85628"/>
                  </a:lnTo>
                  <a:lnTo>
                    <a:pt x="364529" y="128073"/>
                  </a:lnTo>
                  <a:lnTo>
                    <a:pt x="378976" y="176188"/>
                  </a:lnTo>
                  <a:lnTo>
                    <a:pt x="384048" y="228600"/>
                  </a:lnTo>
                  <a:lnTo>
                    <a:pt x="378976" y="281011"/>
                  </a:lnTo>
                  <a:lnTo>
                    <a:pt x="364529" y="329126"/>
                  </a:lnTo>
                  <a:lnTo>
                    <a:pt x="341860" y="371571"/>
                  </a:lnTo>
                  <a:lnTo>
                    <a:pt x="312122" y="406974"/>
                  </a:lnTo>
                  <a:lnTo>
                    <a:pt x="276468" y="433962"/>
                  </a:lnTo>
                  <a:lnTo>
                    <a:pt x="236051" y="451161"/>
                  </a:lnTo>
                  <a:lnTo>
                    <a:pt x="192024" y="457200"/>
                  </a:lnTo>
                  <a:lnTo>
                    <a:pt x="147996" y="451161"/>
                  </a:lnTo>
                  <a:lnTo>
                    <a:pt x="107579" y="433962"/>
                  </a:lnTo>
                  <a:lnTo>
                    <a:pt x="71925" y="406974"/>
                  </a:lnTo>
                  <a:lnTo>
                    <a:pt x="42187" y="371571"/>
                  </a:lnTo>
                  <a:lnTo>
                    <a:pt x="19518" y="329126"/>
                  </a:lnTo>
                  <a:lnTo>
                    <a:pt x="5071" y="281011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47835" y="79197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816340" y="1708404"/>
            <a:ext cx="327660" cy="457200"/>
          </a:xfrm>
          <a:custGeom>
            <a:avLst/>
            <a:gdLst/>
            <a:ahLst/>
            <a:cxnLst/>
            <a:rect l="l" t="t" r="r" b="b"/>
            <a:pathLst>
              <a:path w="327659" h="457200">
                <a:moveTo>
                  <a:pt x="327659" y="390001"/>
                </a:moveTo>
                <a:lnTo>
                  <a:pt x="313344" y="406974"/>
                </a:lnTo>
                <a:lnTo>
                  <a:pt x="277547" y="433962"/>
                </a:lnTo>
                <a:lnTo>
                  <a:pt x="236975" y="451161"/>
                </a:lnTo>
                <a:lnTo>
                  <a:pt x="192785" y="457200"/>
                </a:lnTo>
                <a:lnTo>
                  <a:pt x="148596" y="451161"/>
                </a:lnTo>
                <a:lnTo>
                  <a:pt x="108024" y="433962"/>
                </a:lnTo>
                <a:lnTo>
                  <a:pt x="72227" y="406974"/>
                </a:lnTo>
                <a:lnTo>
                  <a:pt x="42367" y="371571"/>
                </a:lnTo>
                <a:lnTo>
                  <a:pt x="19603" y="329126"/>
                </a:lnTo>
                <a:lnTo>
                  <a:pt x="5094" y="281011"/>
                </a:lnTo>
                <a:lnTo>
                  <a:pt x="0" y="228600"/>
                </a:lnTo>
                <a:lnTo>
                  <a:pt x="5094" y="176188"/>
                </a:lnTo>
                <a:lnTo>
                  <a:pt x="19603" y="128073"/>
                </a:lnTo>
                <a:lnTo>
                  <a:pt x="42367" y="85628"/>
                </a:lnTo>
                <a:lnTo>
                  <a:pt x="72227" y="50225"/>
                </a:lnTo>
                <a:lnTo>
                  <a:pt x="108024" y="23237"/>
                </a:lnTo>
                <a:lnTo>
                  <a:pt x="148596" y="6038"/>
                </a:lnTo>
                <a:lnTo>
                  <a:pt x="192785" y="0"/>
                </a:lnTo>
                <a:lnTo>
                  <a:pt x="236975" y="6038"/>
                </a:lnTo>
                <a:lnTo>
                  <a:pt x="277547" y="23237"/>
                </a:lnTo>
                <a:lnTo>
                  <a:pt x="313344" y="50225"/>
                </a:lnTo>
                <a:lnTo>
                  <a:pt x="327659" y="6719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953245" y="178074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4060" y="5323128"/>
            <a:ext cx="791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𝑅</a:t>
            </a:r>
            <a:r>
              <a:rPr sz="2200" spc="18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0" dirty="0">
                <a:latin typeface="Cambria Math"/>
                <a:cs typeface="Cambria Math"/>
              </a:rPr>
              <a:t> </a:t>
            </a:r>
            <a:r>
              <a:rPr sz="3300" spc="-75" baseline="25252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3300" baseline="25252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8100" y="5475528"/>
            <a:ext cx="1924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4477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1978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1978" y="1692910"/>
                </a:lnTo>
                <a:lnTo>
                  <a:pt x="81978" y="1680210"/>
                </a:lnTo>
                <a:lnTo>
                  <a:pt x="28600" y="1680210"/>
                </a:lnTo>
                <a:lnTo>
                  <a:pt x="28600" y="12700"/>
                </a:lnTo>
                <a:lnTo>
                  <a:pt x="81978" y="12700"/>
                </a:lnTo>
                <a:lnTo>
                  <a:pt x="8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0651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8100" y="4252086"/>
            <a:ext cx="400685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100"/>
              </a:spcBef>
              <a:tabLst>
                <a:tab pos="1111885" algn="l"/>
                <a:tab pos="1796414" algn="l"/>
                <a:tab pos="2427605" algn="l"/>
                <a:tab pos="2999105" algn="l"/>
                <a:tab pos="3683635" algn="l"/>
              </a:tabLst>
            </a:pP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610"/>
              </a:lnSpc>
              <a:spcBef>
                <a:spcPts val="125"/>
              </a:spcBef>
              <a:tabLst>
                <a:tab pos="323215" algn="l"/>
                <a:tab pos="965200" algn="l"/>
                <a:tab pos="1606550" algn="l"/>
                <a:tab pos="2248535" algn="l"/>
                <a:tab pos="2994025" algn="l"/>
                <a:tab pos="3580765" algn="l"/>
              </a:tabLst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  <a:tabLst>
                <a:tab pos="323215" algn="l"/>
                <a:tab pos="965200" algn="l"/>
                <a:tab pos="1606550" algn="l"/>
                <a:tab pos="2352040" algn="l"/>
                <a:tab pos="2890520" algn="l"/>
                <a:tab pos="3531870" algn="l"/>
              </a:tabLst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−1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latin typeface="Cambria Math"/>
                <a:cs typeface="Cambria Math"/>
              </a:rPr>
              <a:t>100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86526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28575" y="1680210"/>
                </a:lnTo>
                <a:lnTo>
                  <a:pt x="28575" y="1270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45474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313553" y="4222826"/>
            <a:ext cx="3465195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  <a:tabLst>
                <a:tab pos="1171575" algn="l"/>
                <a:tab pos="1628775" algn="l"/>
                <a:tab pos="2028189" algn="l"/>
                <a:tab pos="2487295" algn="l"/>
                <a:tab pos="3114040" algn="l"/>
              </a:tabLst>
            </a:pPr>
            <a:r>
              <a:rPr sz="3000" b="1" baseline="-6944" dirty="0">
                <a:latin typeface="Times New Roman"/>
                <a:cs typeface="Times New Roman"/>
              </a:rPr>
              <a:t>State</a:t>
            </a:r>
            <a:r>
              <a:rPr sz="3000" b="1" spc="262" baseline="-6944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449580">
              <a:lnSpc>
                <a:spcPts val="2610"/>
              </a:lnSpc>
              <a:spcBef>
                <a:spcPts val="110"/>
              </a:spcBef>
              <a:tabLst>
                <a:tab pos="760730" algn="l"/>
                <a:tab pos="1193165" algn="l"/>
                <a:tab pos="1627505" algn="l"/>
                <a:tab pos="2060575" algn="l"/>
                <a:tab pos="2493645" algn="l"/>
                <a:tab pos="3100070" algn="l"/>
              </a:tabLst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endParaRPr sz="2200">
              <a:latin typeface="Cambria Math"/>
              <a:cs typeface="Cambria Math"/>
            </a:endParaRPr>
          </a:p>
          <a:p>
            <a:pPr marL="449580">
              <a:lnSpc>
                <a:spcPts val="2610"/>
              </a:lnSpc>
              <a:tabLst>
                <a:tab pos="760730" algn="l"/>
                <a:tab pos="1193165" algn="l"/>
                <a:tab pos="1627505" algn="l"/>
                <a:tab pos="2060575" algn="l"/>
                <a:tab pos="2493645" algn="l"/>
                <a:tab pos="2927985" algn="l"/>
              </a:tabLst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2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50" dirty="0">
                <a:latin typeface="Cambria Math"/>
                <a:cs typeface="Cambria Math"/>
              </a:rPr>
              <a:t>0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spc="-25" dirty="0">
                <a:solidFill>
                  <a:srgbClr val="006FC0"/>
                </a:solidFill>
                <a:latin typeface="Cambria Math"/>
                <a:cs typeface="Cambria Math"/>
              </a:rPr>
              <a:t>𝟏𝟎𝟎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159078" y="5271246"/>
          <a:ext cx="7435847" cy="1212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855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marL="72390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2390">
                        <a:lnSpc>
                          <a:spcPts val="24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87325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920"/>
                        </a:lnSpc>
                        <a:spcBef>
                          <a:spcPts val="505"/>
                        </a:spcBef>
                        <a:tabLst>
                          <a:tab pos="788670" algn="l"/>
                        </a:tabLst>
                      </a:pPr>
                      <a:r>
                        <a:rPr sz="2200" dirty="0">
                          <a:latin typeface="Cambria Math"/>
                          <a:cs typeface="Cambria Math"/>
                        </a:rPr>
                        <a:t>Q</a:t>
                      </a:r>
                      <a:r>
                        <a:rPr sz="22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3300" spc="-75" baseline="25252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3300" baseline="25252">
                        <a:latin typeface="Cambria Math"/>
                        <a:cs typeface="Cambria Math"/>
                      </a:endParaRPr>
                    </a:p>
                    <a:p>
                      <a:pPr marR="64135" algn="r">
                        <a:lnSpc>
                          <a:spcPts val="19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1755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065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930"/>
                        </a:lnSpc>
                        <a:tabLst>
                          <a:tab pos="572770" algn="l"/>
                          <a:tab pos="1005205" algn="l"/>
                        </a:tabLst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39700">
                        <a:lnSpc>
                          <a:spcPts val="2425"/>
                        </a:lnSpc>
                        <a:tabLst>
                          <a:tab pos="744855" algn="l"/>
                          <a:tab pos="1179195" algn="l"/>
                        </a:tabLst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26060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R="5651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2335"/>
                        </a:lnSpc>
                        <a:tabLst>
                          <a:tab pos="605155" algn="l"/>
                          <a:tab pos="1039494" algn="l"/>
                        </a:tabLst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R="58419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2290"/>
                        </a:lnSpc>
                        <a:tabLst>
                          <a:tab pos="605155" algn="l"/>
                          <a:tab pos="1039494" algn="l"/>
                        </a:tabLst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298195" y="3771645"/>
            <a:ext cx="2973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Update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Matrix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Q.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7154"/>
            <a:ext cx="6182995" cy="24396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  <a:tab pos="4610100" algn="l"/>
              </a:tabLst>
            </a:pP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episode,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choose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3</a:t>
            </a:r>
            <a:r>
              <a:rPr sz="2200" dirty="0">
                <a:latin typeface="Times New Roman"/>
                <a:cs typeface="Times New Roman"/>
              </a:rPr>
              <a:t>	randomly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that</a:t>
            </a:r>
            <a:endParaRPr sz="22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Times New Roman"/>
                <a:cs typeface="Times New Roman"/>
              </a:rPr>
              <a:t>becomes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choices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i.e.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4.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Let’s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choose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Compute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based</a:t>
            </a:r>
            <a:endParaRPr sz="2200">
              <a:latin typeface="Times New Roman"/>
              <a:cs typeface="Times New Roman"/>
            </a:endParaRPr>
          </a:p>
          <a:p>
            <a:pPr marL="360045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582359"/>
            <a:ext cx="8341359" cy="11950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580"/>
              </a:spcBef>
            </a:pPr>
            <a:r>
              <a:rPr sz="2000" i="1" dirty="0">
                <a:latin typeface="Times New Roman"/>
                <a:cs typeface="Times New Roman"/>
              </a:rPr>
              <a:t>Q(state,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R(state,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Gamma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*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max[Q(next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actions)]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Q(3,1)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R(3,1)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0.8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*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max[Q(1,3),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Q(1,5)]</a:t>
            </a:r>
            <a:endParaRPr sz="2200">
              <a:latin typeface="Times New Roman"/>
              <a:cs typeface="Times New Roman"/>
            </a:endParaRPr>
          </a:p>
          <a:p>
            <a:pPr marL="127635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0.8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*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max[0,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100]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80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80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819220"/>
            <a:ext cx="2757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Update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Matrix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Q.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59078" y="4286630"/>
          <a:ext cx="7788907" cy="2196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8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95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62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5080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5290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2000" b="1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spc="-75" baseline="7716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00" baseline="771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72390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3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23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15265" algn="r">
                        <a:lnSpc>
                          <a:spcPts val="232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72390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15265" algn="r">
                        <a:lnSpc>
                          <a:spcPts val="234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335"/>
                        </a:lnSpc>
                      </a:pPr>
                      <a:r>
                        <a:rPr sz="2200" spc="-25" dirty="0">
                          <a:solidFill>
                            <a:srgbClr val="006FC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72390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2390">
                        <a:lnSpc>
                          <a:spcPts val="24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87325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920"/>
                        </a:lnSpc>
                        <a:spcBef>
                          <a:spcPts val="505"/>
                        </a:spcBef>
                        <a:tabLst>
                          <a:tab pos="788670" algn="l"/>
                        </a:tabLst>
                      </a:pPr>
                      <a:r>
                        <a:rPr sz="2200" dirty="0">
                          <a:latin typeface="Cambria Math"/>
                          <a:cs typeface="Cambria Math"/>
                        </a:rPr>
                        <a:t>Q</a:t>
                      </a:r>
                      <a:r>
                        <a:rPr sz="22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3300" spc="-75" baseline="25252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3300" baseline="25252">
                        <a:latin typeface="Cambria Math"/>
                        <a:cs typeface="Cambria Math"/>
                      </a:endParaRPr>
                    </a:p>
                    <a:p>
                      <a:pPr marR="63500" algn="r">
                        <a:lnSpc>
                          <a:spcPts val="19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64135" marB="0"/>
                </a:tc>
                <a:tc gridSpan="2">
                  <a:txBody>
                    <a:bodyPr/>
                    <a:lstStyle/>
                    <a:p>
                      <a:pPr marL="16319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3025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04775">
                        <a:lnSpc>
                          <a:spcPts val="2425"/>
                        </a:lnSpc>
                      </a:pPr>
                      <a:r>
                        <a:rPr sz="2200" spc="-25" dirty="0">
                          <a:solidFill>
                            <a:srgbClr val="006FC0"/>
                          </a:solidFill>
                          <a:latin typeface="Cambria Math"/>
                          <a:cs typeface="Cambria Math"/>
                        </a:rPr>
                        <a:t>𝟖𝟎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28600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75"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311150"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89230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R="635"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7780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005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7239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005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431405" y="3974719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Action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060" y="5323128"/>
            <a:ext cx="791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𝑅</a:t>
            </a:r>
            <a:r>
              <a:rPr sz="2200" spc="18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0" dirty="0">
                <a:latin typeface="Cambria Math"/>
                <a:cs typeface="Cambria Math"/>
              </a:rPr>
              <a:t> </a:t>
            </a:r>
            <a:r>
              <a:rPr sz="3300" spc="-75" baseline="25252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3300" baseline="25252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8100" y="4542790"/>
            <a:ext cx="192405" cy="688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8100" y="5475528"/>
            <a:ext cx="1924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4477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1978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1978" y="1692910"/>
                </a:lnTo>
                <a:lnTo>
                  <a:pt x="81978" y="1680210"/>
                </a:lnTo>
                <a:lnTo>
                  <a:pt x="28600" y="1680210"/>
                </a:lnTo>
                <a:lnTo>
                  <a:pt x="28600" y="12700"/>
                </a:lnTo>
                <a:lnTo>
                  <a:pt x="81978" y="12700"/>
                </a:lnTo>
                <a:lnTo>
                  <a:pt x="8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0651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86526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28575" y="1680210"/>
                </a:lnTo>
                <a:lnTo>
                  <a:pt x="28575" y="1270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85682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365557" y="255841"/>
            <a:ext cx="2301875" cy="2146300"/>
            <a:chOff x="6365557" y="255841"/>
            <a:chExt cx="2301875" cy="2146300"/>
          </a:xfrm>
        </p:grpSpPr>
        <p:sp>
          <p:nvSpPr>
            <p:cNvPr id="15" name="object 15"/>
            <p:cNvSpPr/>
            <p:nvPr/>
          </p:nvSpPr>
          <p:spPr>
            <a:xfrm>
              <a:off x="6370320" y="519684"/>
              <a:ext cx="1990725" cy="1877695"/>
            </a:xfrm>
            <a:custGeom>
              <a:avLst/>
              <a:gdLst/>
              <a:ahLst/>
              <a:cxnLst/>
              <a:rect l="l" t="t" r="r" b="b"/>
              <a:pathLst>
                <a:path w="1990725" h="1877695">
                  <a:moveTo>
                    <a:pt x="22859" y="1613915"/>
                  </a:moveTo>
                  <a:lnTo>
                    <a:pt x="940307" y="1877567"/>
                  </a:lnTo>
                </a:path>
                <a:path w="1990725" h="1877695">
                  <a:moveTo>
                    <a:pt x="832103" y="445007"/>
                  </a:moveTo>
                  <a:lnTo>
                    <a:pt x="0" y="1572767"/>
                  </a:lnTo>
                </a:path>
                <a:path w="1990725" h="1877695">
                  <a:moveTo>
                    <a:pt x="1197863" y="454151"/>
                  </a:moveTo>
                  <a:lnTo>
                    <a:pt x="1897379" y="723900"/>
                  </a:lnTo>
                </a:path>
                <a:path w="1990725" h="1877695">
                  <a:moveTo>
                    <a:pt x="1216152" y="297179"/>
                  </a:moveTo>
                  <a:lnTo>
                    <a:pt x="1990344" y="0"/>
                  </a:lnTo>
                </a:path>
                <a:path w="1990725" h="1877695">
                  <a:moveTo>
                    <a:pt x="22859" y="1580388"/>
                  </a:moveTo>
                  <a:lnTo>
                    <a:pt x="900683" y="13914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05216" y="2606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05216" y="2606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52790" y="33388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37313" y="1935289"/>
            <a:ext cx="466725" cy="466725"/>
            <a:chOff x="5937313" y="1935289"/>
            <a:chExt cx="466725" cy="466725"/>
          </a:xfrm>
        </p:grpSpPr>
        <p:sp>
          <p:nvSpPr>
            <p:cNvPr id="20" name="object 20"/>
            <p:cNvSpPr/>
            <p:nvPr/>
          </p:nvSpPr>
          <p:spPr>
            <a:xfrm>
              <a:off x="5942076" y="19400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42076" y="19400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87871" y="20129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67700" y="9799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414131" y="105321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10628" y="22189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458202" y="22918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59561" y="641413"/>
            <a:ext cx="466725" cy="466725"/>
            <a:chOff x="7159561" y="641413"/>
            <a:chExt cx="466725" cy="466725"/>
          </a:xfrm>
        </p:grpSpPr>
        <p:sp>
          <p:nvSpPr>
            <p:cNvPr id="28" name="object 28"/>
            <p:cNvSpPr/>
            <p:nvPr/>
          </p:nvSpPr>
          <p:spPr>
            <a:xfrm>
              <a:off x="7164323" y="6461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64323" y="6461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311008" y="71907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289292" y="16352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436611" y="17081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148" y="26568"/>
            <a:ext cx="6022975" cy="123253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625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episode,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becomes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</a:t>
            </a:r>
            <a:endParaRPr sz="22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530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Repeat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inner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target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</a:t>
            </a:r>
            <a:endParaRPr sz="22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530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either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5.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148" y="1232877"/>
            <a:ext cx="8198484" cy="240474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635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Let’s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choose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5.</a:t>
            </a:r>
            <a:endParaRPr sz="2200">
              <a:latin typeface="Times New Roman"/>
              <a:cs typeface="Times New Roman"/>
            </a:endParaRPr>
          </a:p>
          <a:p>
            <a:pPr marL="250190" marR="2578100" indent="-238125">
              <a:lnSpc>
                <a:spcPct val="120000"/>
              </a:lnSpc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Compute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next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state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based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actions.</a:t>
            </a:r>
            <a:endParaRPr sz="22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490"/>
              </a:spcBef>
              <a:buFont typeface="Times New Roman"/>
              <a:buChar char="•"/>
              <a:tabLst>
                <a:tab pos="250190" algn="l"/>
              </a:tabLst>
            </a:pPr>
            <a:r>
              <a:rPr sz="2000" i="1" dirty="0">
                <a:latin typeface="Times New Roman"/>
                <a:cs typeface="Times New Roman"/>
              </a:rPr>
              <a:t>Q(state,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R(state,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action)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Gamma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*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max[Q(next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state,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actions)]</a:t>
            </a:r>
            <a:endParaRPr sz="20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520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Q(1,5)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R(1,5)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0.8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*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max[Q(5,1),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Q(5,4),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Q(5,5)]</a:t>
            </a:r>
            <a:endParaRPr sz="2200">
              <a:latin typeface="Times New Roman"/>
              <a:cs typeface="Times New Roman"/>
            </a:endParaRPr>
          </a:p>
          <a:p>
            <a:pPr marL="59944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0.8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*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max[0,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0]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100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148" y="3679316"/>
            <a:ext cx="8760460" cy="1551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indent="-237490">
              <a:lnSpc>
                <a:spcPts val="2485"/>
              </a:lnSpc>
              <a:spcBef>
                <a:spcPts val="95"/>
              </a:spcBef>
              <a:buChar char="•"/>
              <a:tabLst>
                <a:tab pos="250190" algn="l"/>
              </a:tabLst>
            </a:pPr>
            <a:r>
              <a:rPr sz="2200" dirty="0">
                <a:latin typeface="Times New Roman"/>
                <a:cs typeface="Times New Roman"/>
              </a:rPr>
              <a:t>Q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Q(1,5)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already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agent.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</a:t>
            </a:r>
            <a:endParaRPr sz="2200">
              <a:latin typeface="Times New Roman"/>
              <a:cs typeface="Times New Roman"/>
            </a:endParaRPr>
          </a:p>
          <a:p>
            <a:pPr marR="808990" algn="r">
              <a:lnSpc>
                <a:spcPts val="2005"/>
              </a:lnSpc>
            </a:pPr>
            <a:r>
              <a:rPr sz="1800" b="1" spc="-10" dirty="0">
                <a:latin typeface="Times New Roman"/>
                <a:cs typeface="Times New Roman"/>
              </a:rPr>
              <a:t>Action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800">
              <a:latin typeface="Times New Roman"/>
              <a:cs typeface="Times New Roman"/>
            </a:endParaRPr>
          </a:p>
          <a:p>
            <a:pPr marL="771525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  <a:p>
            <a:pPr marL="771525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59078" y="4286630"/>
          <a:ext cx="7788907" cy="2196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8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95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62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5080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989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5290">
                        <a:lnSpc>
                          <a:spcPts val="22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2000" b="1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spc="-75" baseline="7716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00" baseline="7716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64"/>
                        </a:lnSpc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72390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3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231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15265" algn="r">
                        <a:lnSpc>
                          <a:spcPts val="232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31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72390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4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15265" algn="r">
                        <a:lnSpc>
                          <a:spcPts val="234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335"/>
                        </a:lnSpc>
                      </a:pPr>
                      <a:r>
                        <a:rPr sz="2200" spc="-25" dirty="0">
                          <a:solidFill>
                            <a:srgbClr val="006FC0"/>
                          </a:solidFill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72390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2390">
                        <a:lnSpc>
                          <a:spcPts val="242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93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87325">
                        <a:lnSpc>
                          <a:spcPts val="242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920"/>
                        </a:lnSpc>
                        <a:spcBef>
                          <a:spcPts val="505"/>
                        </a:spcBef>
                        <a:tabLst>
                          <a:tab pos="788670" algn="l"/>
                        </a:tabLst>
                      </a:pPr>
                      <a:r>
                        <a:rPr sz="2200" dirty="0">
                          <a:latin typeface="Cambria Math"/>
                          <a:cs typeface="Cambria Math"/>
                        </a:rPr>
                        <a:t>Q</a:t>
                      </a:r>
                      <a:r>
                        <a:rPr sz="2200" spc="11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5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3300" spc="-75" baseline="25252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3300" baseline="25252">
                        <a:latin typeface="Cambria Math"/>
                        <a:cs typeface="Cambria Math"/>
                      </a:endParaRPr>
                    </a:p>
                    <a:p>
                      <a:pPr marR="63500" algn="r">
                        <a:lnSpc>
                          <a:spcPts val="19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64135" marB="0"/>
                </a:tc>
                <a:tc gridSpan="2">
                  <a:txBody>
                    <a:bodyPr/>
                    <a:lstStyle/>
                    <a:p>
                      <a:pPr marL="16319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73025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04775">
                        <a:lnSpc>
                          <a:spcPts val="2425"/>
                        </a:lnSpc>
                      </a:pPr>
                      <a:r>
                        <a:rPr sz="2200" spc="-25" dirty="0">
                          <a:solidFill>
                            <a:srgbClr val="006FC0"/>
                          </a:solidFill>
                          <a:latin typeface="Cambria Math"/>
                          <a:cs typeface="Cambria Math"/>
                        </a:rPr>
                        <a:t>𝟖𝟎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228600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75"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311150"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L="189230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93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  <a:p>
                      <a:pPr marR="635" algn="ctr">
                        <a:lnSpc>
                          <a:spcPts val="242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7780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335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0050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335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72390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−1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2290"/>
                        </a:lnSpc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100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0050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290"/>
                        </a:lnSpc>
                      </a:pPr>
                      <a:r>
                        <a:rPr sz="22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34060" y="5323128"/>
            <a:ext cx="791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 Math"/>
                <a:cs typeface="Cambria Math"/>
              </a:rPr>
              <a:t>𝑅</a:t>
            </a:r>
            <a:r>
              <a:rPr sz="2200" spc="18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0" dirty="0">
                <a:latin typeface="Cambria Math"/>
                <a:cs typeface="Cambria Math"/>
              </a:rPr>
              <a:t> </a:t>
            </a:r>
            <a:r>
              <a:rPr sz="3300" spc="-75" baseline="25252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3300" baseline="2525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8100" y="5475528"/>
            <a:ext cx="1924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58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  <a:p>
            <a:pPr marL="12700">
              <a:lnSpc>
                <a:spcPts val="2610"/>
              </a:lnSpc>
            </a:pPr>
            <a:r>
              <a:rPr sz="220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477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1978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1978" y="1692910"/>
                </a:lnTo>
                <a:lnTo>
                  <a:pt x="81978" y="1680210"/>
                </a:lnTo>
                <a:lnTo>
                  <a:pt x="28600" y="1680210"/>
                </a:lnTo>
                <a:lnTo>
                  <a:pt x="28600" y="12700"/>
                </a:lnTo>
                <a:lnTo>
                  <a:pt x="81978" y="12700"/>
                </a:lnTo>
                <a:lnTo>
                  <a:pt x="81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6518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86526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28575" y="1680210"/>
                </a:lnTo>
                <a:lnTo>
                  <a:pt x="28575" y="1270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85682" y="4687570"/>
            <a:ext cx="82550" cy="1692910"/>
          </a:xfrm>
          <a:custGeom>
            <a:avLst/>
            <a:gdLst/>
            <a:ahLst/>
            <a:cxnLst/>
            <a:rect l="l" t="t" r="r" b="b"/>
            <a:pathLst>
              <a:path w="82550" h="1692910">
                <a:moveTo>
                  <a:pt x="82042" y="0"/>
                </a:moveTo>
                <a:lnTo>
                  <a:pt x="0" y="0"/>
                </a:lnTo>
                <a:lnTo>
                  <a:pt x="0" y="12700"/>
                </a:lnTo>
                <a:lnTo>
                  <a:pt x="53340" y="12700"/>
                </a:lnTo>
                <a:lnTo>
                  <a:pt x="53340" y="1680210"/>
                </a:lnTo>
                <a:lnTo>
                  <a:pt x="0" y="1680210"/>
                </a:lnTo>
                <a:lnTo>
                  <a:pt x="0" y="1692910"/>
                </a:lnTo>
                <a:lnTo>
                  <a:pt x="82042" y="1692910"/>
                </a:lnTo>
                <a:lnTo>
                  <a:pt x="82042" y="1680210"/>
                </a:lnTo>
                <a:lnTo>
                  <a:pt x="82042" y="12700"/>
                </a:lnTo>
                <a:lnTo>
                  <a:pt x="82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50864" y="233172"/>
            <a:ext cx="2473960" cy="1938655"/>
          </a:xfrm>
          <a:custGeom>
            <a:avLst/>
            <a:gdLst/>
            <a:ahLst/>
            <a:cxnLst/>
            <a:rect l="l" t="t" r="r" b="b"/>
            <a:pathLst>
              <a:path w="2473959" h="1938655">
                <a:moveTo>
                  <a:pt x="1575815" y="1380743"/>
                </a:moveTo>
                <a:lnTo>
                  <a:pt x="2473452" y="1938527"/>
                </a:lnTo>
              </a:path>
              <a:path w="2473959" h="1938655">
                <a:moveTo>
                  <a:pt x="2386584" y="211836"/>
                </a:moveTo>
                <a:lnTo>
                  <a:pt x="1554480" y="1339595"/>
                </a:lnTo>
              </a:path>
              <a:path w="2473959" h="1938655">
                <a:moveTo>
                  <a:pt x="0" y="1339595"/>
                </a:moveTo>
                <a:lnTo>
                  <a:pt x="1095756" y="1414272"/>
                </a:lnTo>
              </a:path>
              <a:path w="2473959" h="1938655">
                <a:moveTo>
                  <a:pt x="19812" y="1182624"/>
                </a:moveTo>
                <a:lnTo>
                  <a:pt x="434339" y="457200"/>
                </a:lnTo>
              </a:path>
              <a:path w="2473959" h="1938655">
                <a:moveTo>
                  <a:pt x="1575815" y="1347215"/>
                </a:moveTo>
                <a:lnTo>
                  <a:pt x="2453640" y="1158239"/>
                </a:lnTo>
              </a:path>
              <a:path w="2473959" h="1938655">
                <a:moveTo>
                  <a:pt x="336803" y="228600"/>
                </a:moveTo>
                <a:lnTo>
                  <a:pt x="341448" y="182533"/>
                </a:lnTo>
                <a:lnTo>
                  <a:pt x="354770" y="139624"/>
                </a:lnTo>
                <a:lnTo>
                  <a:pt x="375849" y="100793"/>
                </a:lnTo>
                <a:lnTo>
                  <a:pt x="403764" y="66960"/>
                </a:lnTo>
                <a:lnTo>
                  <a:pt x="437597" y="39045"/>
                </a:lnTo>
                <a:lnTo>
                  <a:pt x="476428" y="17966"/>
                </a:lnTo>
                <a:lnTo>
                  <a:pt x="519337" y="4644"/>
                </a:lnTo>
                <a:lnTo>
                  <a:pt x="565404" y="0"/>
                </a:lnTo>
                <a:lnTo>
                  <a:pt x="611470" y="4644"/>
                </a:lnTo>
                <a:lnTo>
                  <a:pt x="654379" y="17966"/>
                </a:lnTo>
                <a:lnTo>
                  <a:pt x="693210" y="39045"/>
                </a:lnTo>
                <a:lnTo>
                  <a:pt x="727043" y="66960"/>
                </a:lnTo>
                <a:lnTo>
                  <a:pt x="754958" y="100793"/>
                </a:lnTo>
                <a:lnTo>
                  <a:pt x="776037" y="139624"/>
                </a:lnTo>
                <a:lnTo>
                  <a:pt x="789359" y="182533"/>
                </a:lnTo>
                <a:lnTo>
                  <a:pt x="794004" y="228600"/>
                </a:lnTo>
                <a:lnTo>
                  <a:pt x="789359" y="274666"/>
                </a:lnTo>
                <a:lnTo>
                  <a:pt x="776037" y="317575"/>
                </a:lnTo>
                <a:lnTo>
                  <a:pt x="754958" y="356406"/>
                </a:lnTo>
                <a:lnTo>
                  <a:pt x="727043" y="390239"/>
                </a:lnTo>
                <a:lnTo>
                  <a:pt x="693210" y="418154"/>
                </a:lnTo>
                <a:lnTo>
                  <a:pt x="654379" y="439233"/>
                </a:lnTo>
                <a:lnTo>
                  <a:pt x="611470" y="452555"/>
                </a:lnTo>
                <a:lnTo>
                  <a:pt x="565404" y="457200"/>
                </a:lnTo>
                <a:lnTo>
                  <a:pt x="519337" y="452555"/>
                </a:lnTo>
                <a:lnTo>
                  <a:pt x="476428" y="439233"/>
                </a:lnTo>
                <a:lnTo>
                  <a:pt x="437597" y="418154"/>
                </a:lnTo>
                <a:lnTo>
                  <a:pt x="403764" y="390239"/>
                </a:lnTo>
                <a:lnTo>
                  <a:pt x="375849" y="356406"/>
                </a:lnTo>
                <a:lnTo>
                  <a:pt x="354770" y="317575"/>
                </a:lnTo>
                <a:lnTo>
                  <a:pt x="341448" y="274666"/>
                </a:lnTo>
                <a:lnTo>
                  <a:pt x="336803" y="228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34098" y="30556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62053" y="1342453"/>
            <a:ext cx="466725" cy="466725"/>
            <a:chOff x="5762053" y="1342453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5766815" y="134721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6815" y="134721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13501" y="142011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64717" y="1368361"/>
            <a:ext cx="466725" cy="466725"/>
            <a:chOff x="7264717" y="1368361"/>
            <a:chExt cx="466725" cy="466725"/>
          </a:xfrm>
        </p:grpSpPr>
        <p:sp>
          <p:nvSpPr>
            <p:cNvPr id="19" name="object 19"/>
            <p:cNvSpPr/>
            <p:nvPr/>
          </p:nvSpPr>
          <p:spPr>
            <a:xfrm>
              <a:off x="7269480" y="13731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69480" y="13731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417054" y="144520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523541" y="1929193"/>
            <a:ext cx="466725" cy="466725"/>
            <a:chOff x="8523541" y="1929193"/>
            <a:chExt cx="466725" cy="466725"/>
          </a:xfrm>
        </p:grpSpPr>
        <p:sp>
          <p:nvSpPr>
            <p:cNvPr id="23" name="object 23"/>
            <p:cNvSpPr/>
            <p:nvPr/>
          </p:nvSpPr>
          <p:spPr>
            <a:xfrm>
              <a:off x="8528304" y="19339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28304" y="19339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675878" y="200787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94585" y="121729"/>
            <a:ext cx="466725" cy="466725"/>
            <a:chOff x="8494585" y="121729"/>
            <a:chExt cx="466725" cy="466725"/>
          </a:xfrm>
        </p:grpSpPr>
        <p:sp>
          <p:nvSpPr>
            <p:cNvPr id="27" name="object 27"/>
            <p:cNvSpPr/>
            <p:nvPr/>
          </p:nvSpPr>
          <p:spPr>
            <a:xfrm>
              <a:off x="8499347" y="12649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199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99347" y="12649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199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645779" y="1991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624316" y="11155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771381" y="118846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641" y="672211"/>
            <a:ext cx="1156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spc="-10" dirty="0"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05"/>
              </a:spcBef>
              <a:buChar char="•"/>
              <a:tabLst>
                <a:tab pos="419100" algn="l"/>
              </a:tabLst>
            </a:pPr>
            <a:r>
              <a:rPr dirty="0"/>
              <a:t>Tom</a:t>
            </a:r>
            <a:r>
              <a:rPr spc="-25" dirty="0"/>
              <a:t> </a:t>
            </a:r>
            <a:r>
              <a:rPr dirty="0"/>
              <a:t>Markiewicz&amp;</a:t>
            </a:r>
            <a:r>
              <a:rPr spc="-40" dirty="0"/>
              <a:t> </a:t>
            </a:r>
            <a:r>
              <a:rPr dirty="0"/>
              <a:t>Josh</a:t>
            </a:r>
            <a:r>
              <a:rPr spc="-30" dirty="0"/>
              <a:t> </a:t>
            </a:r>
            <a:r>
              <a:rPr dirty="0"/>
              <a:t>Zheng,Getting</a:t>
            </a:r>
            <a:r>
              <a:rPr spc="-40" dirty="0"/>
              <a:t> </a:t>
            </a:r>
            <a:r>
              <a:rPr dirty="0"/>
              <a:t>started</a:t>
            </a:r>
            <a:r>
              <a:rPr spc="-2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spc="-10" dirty="0"/>
              <a:t>Intelligence,</a:t>
            </a:r>
          </a:p>
          <a:p>
            <a:pPr marL="355600">
              <a:lnSpc>
                <a:spcPct val="100000"/>
              </a:lnSpc>
            </a:pPr>
            <a:r>
              <a:rPr dirty="0"/>
              <a:t>Published</a:t>
            </a:r>
            <a:r>
              <a:rPr spc="-35" dirty="0"/>
              <a:t> </a:t>
            </a:r>
            <a:r>
              <a:rPr dirty="0"/>
              <a:t>by</a:t>
            </a:r>
            <a:r>
              <a:rPr spc="-10" dirty="0"/>
              <a:t> </a:t>
            </a:r>
            <a:r>
              <a:rPr dirty="0"/>
              <a:t>O’Reilly</a:t>
            </a:r>
            <a:r>
              <a:rPr spc="-5" dirty="0"/>
              <a:t> </a:t>
            </a:r>
            <a:r>
              <a:rPr spc="-10" dirty="0"/>
              <a:t>Media,2017</a:t>
            </a:r>
          </a:p>
          <a:p>
            <a:pPr marL="355600" marR="84518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dirty="0"/>
              <a:t>Stuart</a:t>
            </a:r>
            <a:r>
              <a:rPr spc="-45" dirty="0"/>
              <a:t> </a:t>
            </a:r>
            <a:r>
              <a:rPr dirty="0"/>
              <a:t>J.</a:t>
            </a:r>
            <a:r>
              <a:rPr spc="-20" dirty="0"/>
              <a:t> </a:t>
            </a:r>
            <a:r>
              <a:rPr dirty="0"/>
              <a:t>Russell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Peter</a:t>
            </a:r>
            <a:r>
              <a:rPr spc="-55" dirty="0"/>
              <a:t> </a:t>
            </a:r>
            <a:r>
              <a:rPr dirty="0"/>
              <a:t>Norvig,Artificial</a:t>
            </a:r>
            <a:r>
              <a:rPr spc="-35" dirty="0"/>
              <a:t> </a:t>
            </a:r>
            <a:r>
              <a:rPr dirty="0"/>
              <a:t>Intelligence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Modern Approach</a:t>
            </a:r>
          </a:p>
          <a:p>
            <a:pPr marL="355600" marR="1905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dirty="0"/>
              <a:t>Richard</a:t>
            </a:r>
            <a:r>
              <a:rPr spc="-40" dirty="0"/>
              <a:t> </a:t>
            </a:r>
            <a:r>
              <a:rPr dirty="0"/>
              <a:t>Szeliski,</a:t>
            </a:r>
            <a:r>
              <a:rPr spc="-40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dirty="0"/>
              <a:t>Vision:</a:t>
            </a:r>
            <a:r>
              <a:rPr spc="-40" dirty="0"/>
              <a:t> </a:t>
            </a:r>
            <a:r>
              <a:rPr dirty="0"/>
              <a:t>Algorithms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Applications,</a:t>
            </a:r>
            <a:r>
              <a:rPr spc="-55" dirty="0"/>
              <a:t> </a:t>
            </a:r>
            <a:r>
              <a:rPr spc="-10" dirty="0"/>
              <a:t>Springer </a:t>
            </a:r>
            <a:r>
              <a:rPr spc="-20" dirty="0"/>
              <a:t>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1668</Words>
  <Application>Microsoft Office PowerPoint</Application>
  <PresentationFormat>On-screen Show (4:3)</PresentationFormat>
  <Paragraphs>467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Reinforcement Learning</vt:lpstr>
      <vt:lpstr>Reinforcement learning</vt:lpstr>
      <vt:lpstr>Applications</vt:lpstr>
      <vt:lpstr>Reinforcement Learning Process</vt:lpstr>
      <vt:lpstr>RL Approaches</vt:lpstr>
      <vt:lpstr>Reinforcement learning model</vt:lpstr>
      <vt:lpstr>MDP model</vt:lpstr>
      <vt:lpstr>Q - Learning</vt:lpstr>
      <vt:lpstr>Q-Learning</vt:lpstr>
      <vt:lpstr> Bellman Equation</vt:lpstr>
      <vt:lpstr>Understanding the Q – Learning</vt:lpstr>
      <vt:lpstr>Understanding the Q – Learning</vt:lpstr>
      <vt:lpstr>Understanding the Q – Learning</vt:lpstr>
      <vt:lpstr>Understanding the Q – Learning</vt:lpstr>
      <vt:lpstr>Understanding the Q – Learning</vt:lpstr>
      <vt:lpstr>Understanding the Q – Learning: Prepare matrix Q</vt:lpstr>
      <vt:lpstr>Q – Learning Algorithm</vt:lpstr>
      <vt:lpstr>Example: Q – Learning</vt:lpstr>
      <vt:lpstr>Example: Q – Learning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ABC</dc:creator>
  <cp:lastModifiedBy>Admin</cp:lastModifiedBy>
  <cp:revision>6</cp:revision>
  <dcterms:created xsi:type="dcterms:W3CDTF">2025-06-06T02:48:00Z</dcterms:created>
  <dcterms:modified xsi:type="dcterms:W3CDTF">2026-04-18T12:53:15Z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2025-06-06T00:00:00Z</vt:filetime>
  </property>
  <property fmtid="{D5CDD505-2E9C-101B-9397-08002B2CF9AE}" pid="5" name="Producer">
    <vt:lpwstr>Microsoft® PowerPoint® 2016</vt:lpwstr>
  </property>
</Properties>
</file>