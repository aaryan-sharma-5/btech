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0"/>
  </p:notesMasterIdLst>
  <p:sldIdLst>
    <p:sldId id="416" r:id="rId5"/>
    <p:sldId id="257" r:id="rId6"/>
    <p:sldId id="258" r:id="rId7"/>
    <p:sldId id="259" r:id="rId8"/>
    <p:sldId id="260" r:id="rId9"/>
    <p:sldId id="410" r:id="rId10"/>
    <p:sldId id="417" r:id="rId11"/>
    <p:sldId id="411" r:id="rId12"/>
    <p:sldId id="412" r:id="rId13"/>
    <p:sldId id="262" r:id="rId14"/>
    <p:sldId id="265" r:id="rId15"/>
    <p:sldId id="261" r:id="rId16"/>
    <p:sldId id="263" r:id="rId17"/>
    <p:sldId id="264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80" r:id="rId32"/>
    <p:sldId id="279" r:id="rId33"/>
    <p:sldId id="281" r:id="rId34"/>
    <p:sldId id="282" r:id="rId35"/>
    <p:sldId id="283" r:id="rId36"/>
    <p:sldId id="419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27" r:id="rId45"/>
    <p:sldId id="428" r:id="rId46"/>
    <p:sldId id="429" r:id="rId47"/>
    <p:sldId id="430" r:id="rId48"/>
    <p:sldId id="431" r:id="rId49"/>
    <p:sldId id="432" r:id="rId50"/>
    <p:sldId id="433" r:id="rId51"/>
    <p:sldId id="434" r:id="rId52"/>
    <p:sldId id="435" r:id="rId53"/>
    <p:sldId id="436" r:id="rId54"/>
    <p:sldId id="437" r:id="rId55"/>
    <p:sldId id="438" r:id="rId56"/>
    <p:sldId id="439" r:id="rId57"/>
    <p:sldId id="440" r:id="rId58"/>
    <p:sldId id="441" r:id="rId59"/>
    <p:sldId id="442" r:id="rId60"/>
    <p:sldId id="286" r:id="rId61"/>
    <p:sldId id="287" r:id="rId62"/>
    <p:sldId id="288" r:id="rId63"/>
    <p:sldId id="289" r:id="rId64"/>
    <p:sldId id="285" r:id="rId65"/>
    <p:sldId id="292" r:id="rId66"/>
    <p:sldId id="346" r:id="rId67"/>
    <p:sldId id="341" r:id="rId68"/>
    <p:sldId id="342" r:id="rId69"/>
    <p:sldId id="343" r:id="rId70"/>
    <p:sldId id="354" r:id="rId71"/>
    <p:sldId id="344" r:id="rId72"/>
    <p:sldId id="345" r:id="rId73"/>
    <p:sldId id="355" r:id="rId74"/>
    <p:sldId id="356" r:id="rId75"/>
    <p:sldId id="409" r:id="rId76"/>
    <p:sldId id="293" r:id="rId77"/>
    <p:sldId id="294" r:id="rId78"/>
    <p:sldId id="295" r:id="rId79"/>
    <p:sldId id="296" r:id="rId80"/>
    <p:sldId id="297" r:id="rId81"/>
    <p:sldId id="298" r:id="rId82"/>
    <p:sldId id="311" r:id="rId83"/>
    <p:sldId id="351" r:id="rId84"/>
    <p:sldId id="306" r:id="rId85"/>
    <p:sldId id="352" r:id="rId86"/>
    <p:sldId id="366" r:id="rId87"/>
    <p:sldId id="367" r:id="rId88"/>
    <p:sldId id="368" r:id="rId89"/>
    <p:sldId id="380" r:id="rId90"/>
    <p:sldId id="369" r:id="rId91"/>
    <p:sldId id="370" r:id="rId92"/>
    <p:sldId id="392" r:id="rId93"/>
    <p:sldId id="393" r:id="rId94"/>
    <p:sldId id="415" r:id="rId95"/>
    <p:sldId id="376" r:id="rId96"/>
    <p:sldId id="377" r:id="rId97"/>
    <p:sldId id="383" r:id="rId98"/>
    <p:sldId id="385" r:id="rId99"/>
    <p:sldId id="384" r:id="rId100"/>
    <p:sldId id="386" r:id="rId101"/>
    <p:sldId id="388" r:id="rId102"/>
    <p:sldId id="387" r:id="rId103"/>
    <p:sldId id="389" r:id="rId104"/>
    <p:sldId id="390" r:id="rId105"/>
    <p:sldId id="391" r:id="rId106"/>
    <p:sldId id="378" r:id="rId107"/>
    <p:sldId id="379" r:id="rId108"/>
    <p:sldId id="418" r:id="rId109"/>
    <p:sldId id="443" r:id="rId110"/>
    <p:sldId id="444" r:id="rId111"/>
    <p:sldId id="448" r:id="rId112"/>
    <p:sldId id="447" r:id="rId113"/>
    <p:sldId id="445" r:id="rId114"/>
    <p:sldId id="446" r:id="rId115"/>
    <p:sldId id="449" r:id="rId116"/>
    <p:sldId id="451" r:id="rId117"/>
    <p:sldId id="453" r:id="rId118"/>
    <p:sldId id="452" r:id="rId1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>
        <p:scale>
          <a:sx n="58" d="100"/>
          <a:sy n="58" d="100"/>
        </p:scale>
        <p:origin x="-848" y="-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16" Type="http://schemas.openxmlformats.org/officeDocument/2006/relationships/slide" Target="slides/slide112.xml"/><Relationship Id="rId124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11" Type="http://schemas.openxmlformats.org/officeDocument/2006/relationships/slide" Target="slides/slide10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D5B41-F77A-4A79-9CF2-279ECBD726BC}" type="datetimeFigureOut">
              <a:rPr lang="en-IN" smtClean="0"/>
              <a:t>21-07-2025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7F3E4-B2A9-4597-85EF-1CA3B87B33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9282b19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89282b19f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189282b19f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89282b19f6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89282b19f6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g189282b19f6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189282b19f6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189282b19f6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g189282b19f6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189282c1ec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189282c1ec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g189282c1ec0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89282c1ec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189282c1ec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g189282c1ec0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189282c1ec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189282c1ec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g189282c1ec0_0_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06e41dbfa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06e41dbfa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206e41dbfa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189282c1ec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189282c1ec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g189282c1ec0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Shape 1269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1270" name="Shape 1270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1" name="Shape 1271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272" name="Shape 1272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Shape 882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883" name="Shape 883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4" name="Shape 884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885" name="Shape 885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173" name="Shape 173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Shape 174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195" name="Shape 195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197" name="Shape 197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Shape 214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215" name="Shape 215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" name="Shape 216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17" name="Shape 217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257" name="Shape 257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278" name="Shape 278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Shape 279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0" name="Shape 280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278" name="Shape 278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Shape 279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280" name="Shape 280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Shape 321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2" name="Shape 322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/>
          <p:nvPr/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Font typeface="Arial"/>
              <a:buNone/>
            </a:pPr>
            <a:r>
              <a:rPr lang="en-US" sz="1200" b="0" i="0" u="none" strike="noStrike" cap="none" baseline="0"/>
              <a:t>*</a:t>
            </a:r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5763" y="687388"/>
            <a:ext cx="6088062" cy="3425825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Shape 321"/>
          <p:cNvSpPr txBox="1">
            <a:spLocks noGrp="1"/>
          </p:cNvSpPr>
          <p:nvPr>
            <p:ph type="body" idx="1"/>
          </p:nvPr>
        </p:nvSpPr>
        <p:spPr>
          <a:xfrm>
            <a:off x="685332" y="4343451"/>
            <a:ext cx="5487336" cy="4113860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/>
          </a:p>
        </p:txBody>
      </p:sp>
      <p:sp>
        <p:nvSpPr>
          <p:cNvPr id="322" name="Shape 322"/>
          <p:cNvSpPr txBox="1">
            <a:spLocks noGrp="1"/>
          </p:cNvSpPr>
          <p:nvPr>
            <p:ph type="sldNum" idx="12"/>
          </p:nvPr>
        </p:nvSpPr>
        <p:spPr>
          <a:xfrm>
            <a:off x="3885109" y="8684815"/>
            <a:ext cx="2971722" cy="457095"/>
          </a:xfrm>
          <a:prstGeom prst="rect">
            <a:avLst/>
          </a:prstGeom>
          <a:noFill/>
          <a:ln>
            <a:noFill/>
          </a:ln>
        </p:spPr>
        <p:txBody>
          <a:bodyPr lIns="92925" tIns="46450" rIns="92925" bIns="46450" anchor="b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/>
              <a:t> 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103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7F3E4-B2A9-4597-85EF-1CA3B87B333C}" type="slidenum">
              <a:rPr lang="en-IN" smtClean="0"/>
              <a:t>104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952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735B2-7862-422E-A07A-6B53FA343919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04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80063-C9E7-45A6-8313-E0BB9D68DE3C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94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81055-354E-45E1-BEB2-EA0DC28B904E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62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3BBC3-8E9A-4399-903F-1E5C385491AC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48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54428-4AA8-410D-A05E-6AC6C8943B63}" type="datetime1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70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61E7B-7541-47B9-A8DE-45E797F88126}" type="datetime1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13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E8B81-C35B-495D-B32E-45CA7E91966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8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941E6-656B-4913-902C-88135A14BA83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86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AD6506-AD44-4515-9FDF-8A6E6CB24458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76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5C6-8535-46EF-9670-9B50A6095D97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600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IN" smtClean="0"/>
              <a:t>Ms. Swati Mali</a:t>
            </a:r>
            <a:endParaRPr/>
          </a:p>
        </p:txBody>
      </p:sp>
      <p:sp>
        <p:nvSpPr>
          <p:cNvPr id="30" name="Google Shape;30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title"/>
          </p:nvPr>
        </p:nvSpPr>
        <p:spPr>
          <a:xfrm>
            <a:off x="1089765" y="214818"/>
            <a:ext cx="9870511" cy="874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30B0B"/>
              </a:buClr>
              <a:buSzPts val="3600"/>
              <a:buFont typeface="Times New Roman"/>
              <a:buNone/>
              <a:defRPr sz="3600" b="0" i="0" u="none" strike="noStrike" cap="none">
                <a:solidFill>
                  <a:srgbClr val="930B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2" name="Google Shape;32;p37"/>
          <p:cNvSpPr txBox="1">
            <a:spLocks noGrp="1"/>
          </p:cNvSpPr>
          <p:nvPr>
            <p:ph type="body" idx="1"/>
          </p:nvPr>
        </p:nvSpPr>
        <p:spPr>
          <a:xfrm>
            <a:off x="933339" y="132463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urier New"/>
              <a:buChar char="o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−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754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AE5E4-6F9A-4ED5-8E8D-B614F6AA77C8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5E5CB-9241-4665-889D-78B918CC36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06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ilearn.com/tutorials/cyber-security-tutorial/what-is-penetration-test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ypto-it.net/eng/asymmetric/rsa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implilearn.com/tutorials/java-tutorial/what-is-java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C00000"/>
                </a:solidFill>
                <a:latin typeface="Marcellus" panose="020B0604020202020204" charset="0"/>
              </a:rPr>
              <a:t>Basics of Cryptography</a:t>
            </a:r>
            <a:endParaRPr lang="en-IN" dirty="0">
              <a:solidFill>
                <a:srgbClr val="C00000"/>
              </a:solidFill>
              <a:latin typeface="Marcellus" panose="020B0604020202020204" charset="0"/>
            </a:endParaRP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Ms. Swati Mali</a:t>
            </a:r>
          </a:p>
          <a:p>
            <a:r>
              <a:rPr lang="en-IN" dirty="0" smtClean="0"/>
              <a:t>swatimali@somaiya.edu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10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40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smtClean="0">
                <a:solidFill>
                  <a:srgbClr val="C00000"/>
                </a:solidFill>
                <a:latin typeface="Marcellus" panose="020E0602050203020307" pitchFamily="34" charset="0"/>
              </a:rPr>
              <a:t>Module 1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Contents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01C24-AE0F-4405-8C73-57F755E710EA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25" y="1054758"/>
            <a:ext cx="10770830" cy="45187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04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Module 1.2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Fira Sans" panose="020B0503050000020004" pitchFamily="34" charset="0"/>
              </a:rPr>
              <a:t>Cryptography 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Fira Sans" panose="020B0503050000020004" pitchFamily="34" charset="0"/>
              </a:rPr>
              <a:t>Word with Greek Origin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ea typeface="Fira Sans" panose="020B0503050000020004" pitchFamily="34" charset="0"/>
            </a:endParaRP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Fira Sans" panose="020B0503050000020004" pitchFamily="34" charset="0"/>
              </a:rPr>
              <a:t>Means “Secret Writing”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ea typeface="Fira Sans" panose="020B0503050000020004" pitchFamily="34" charset="0"/>
              </a:rPr>
              <a:t>Science &amp; Art of transforming messages to make them secure and immune to attacks-</a:t>
            </a:r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ea typeface="Fira Sans" panose="020B0503050000020004" pitchFamily="34" charset="0"/>
              </a:rPr>
              <a:t>Forouzan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ea typeface="Fira Sans" panose="020B0503050000020004" pitchFamily="34" charset="0"/>
            </a:endParaRPr>
          </a:p>
          <a:p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0C4ED-BA97-46E6-8BA0-8D89322DB037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74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Definitions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211543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Plaintext-</a:t>
            </a:r>
            <a:r>
              <a:rPr lang="en-IN" dirty="0" smtClean="0"/>
              <a:t>An </a:t>
            </a:r>
            <a:r>
              <a:rPr lang="en-IN" dirty="0"/>
              <a:t>original </a:t>
            </a:r>
            <a:r>
              <a:rPr lang="en-IN" dirty="0" smtClean="0"/>
              <a:t>message</a:t>
            </a:r>
          </a:p>
          <a:p>
            <a:r>
              <a:rPr lang="en-IN" b="1" dirty="0" err="1" smtClean="0"/>
              <a:t>Ciphertext</a:t>
            </a:r>
            <a:r>
              <a:rPr lang="en-IN" b="1" dirty="0" smtClean="0"/>
              <a:t>-T</a:t>
            </a:r>
            <a:r>
              <a:rPr lang="en-IN" dirty="0" smtClean="0"/>
              <a:t>he </a:t>
            </a:r>
            <a:r>
              <a:rPr lang="en-IN" dirty="0"/>
              <a:t>coded message </a:t>
            </a:r>
            <a:endParaRPr lang="en-IN" dirty="0" smtClean="0"/>
          </a:p>
          <a:p>
            <a:r>
              <a:rPr lang="en-IN" b="1" dirty="0" smtClean="0"/>
              <a:t>Enciphering </a:t>
            </a:r>
            <a:r>
              <a:rPr lang="en-IN" dirty="0"/>
              <a:t>or </a:t>
            </a:r>
            <a:r>
              <a:rPr lang="en-IN" dirty="0" smtClean="0"/>
              <a:t>E</a:t>
            </a:r>
            <a:r>
              <a:rPr lang="en-IN" b="1" dirty="0" smtClean="0"/>
              <a:t>ncryption</a:t>
            </a:r>
            <a:r>
              <a:rPr lang="en-IN" dirty="0" smtClean="0"/>
              <a:t>- The </a:t>
            </a:r>
            <a:r>
              <a:rPr lang="en-IN" dirty="0"/>
              <a:t>process of </a:t>
            </a:r>
            <a:r>
              <a:rPr lang="en-IN" dirty="0" smtClean="0"/>
              <a:t>converting from </a:t>
            </a:r>
            <a:r>
              <a:rPr lang="en-IN" dirty="0"/>
              <a:t>plaintext to </a:t>
            </a:r>
            <a:r>
              <a:rPr lang="en-IN" dirty="0" err="1" smtClean="0"/>
              <a:t>ciphertext</a:t>
            </a:r>
            <a:endParaRPr lang="en-IN" dirty="0" smtClean="0"/>
          </a:p>
          <a:p>
            <a:r>
              <a:rPr lang="en-IN" b="1" dirty="0" smtClean="0"/>
              <a:t>Deciphering </a:t>
            </a:r>
            <a:r>
              <a:rPr lang="en-IN" dirty="0"/>
              <a:t>or </a:t>
            </a:r>
            <a:r>
              <a:rPr lang="en-IN" dirty="0" smtClean="0"/>
              <a:t>D</a:t>
            </a:r>
            <a:r>
              <a:rPr lang="en-IN" b="1" dirty="0" smtClean="0"/>
              <a:t>ecryption</a:t>
            </a:r>
            <a:r>
              <a:rPr lang="en-IN" dirty="0" smtClean="0"/>
              <a:t>- Restoring the plaintext </a:t>
            </a:r>
            <a:r>
              <a:rPr lang="en-IN" dirty="0"/>
              <a:t>from the </a:t>
            </a:r>
            <a:r>
              <a:rPr lang="en-IN" dirty="0" err="1" smtClean="0"/>
              <a:t>ciphertext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FB75A-0AC6-413F-809F-E3DD5FFE3311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6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Definitions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 smtClean="0"/>
              <a:t>Cryptography –</a:t>
            </a:r>
          </a:p>
          <a:p>
            <a:pPr lvl="1"/>
            <a:r>
              <a:rPr lang="en-IN" dirty="0" smtClean="0"/>
              <a:t>The many schemes used for </a:t>
            </a:r>
            <a:r>
              <a:rPr lang="en-IN" dirty="0"/>
              <a:t>encryption constitute the area of study known as </a:t>
            </a:r>
            <a:r>
              <a:rPr lang="en-IN" b="1" dirty="0"/>
              <a:t>cryptography</a:t>
            </a:r>
            <a:r>
              <a:rPr lang="en-IN" dirty="0"/>
              <a:t>. </a:t>
            </a:r>
            <a:r>
              <a:rPr lang="en-IN" dirty="0" smtClean="0"/>
              <a:t> Such </a:t>
            </a:r>
            <a:r>
              <a:rPr lang="en-IN" dirty="0"/>
              <a:t>a </a:t>
            </a:r>
            <a:r>
              <a:rPr lang="en-IN" dirty="0" smtClean="0"/>
              <a:t>scheme is </a:t>
            </a:r>
            <a:r>
              <a:rPr lang="en-IN" dirty="0"/>
              <a:t>known as a </a:t>
            </a:r>
            <a:r>
              <a:rPr lang="en-IN" b="1" dirty="0"/>
              <a:t>cryptographic system </a:t>
            </a:r>
            <a:r>
              <a:rPr lang="en-IN" dirty="0"/>
              <a:t>or a </a:t>
            </a:r>
            <a:r>
              <a:rPr lang="en-IN" b="1" dirty="0"/>
              <a:t>cipher</a:t>
            </a:r>
            <a:r>
              <a:rPr lang="en-IN" dirty="0"/>
              <a:t>. </a:t>
            </a:r>
            <a:endParaRPr lang="en-IN" dirty="0" smtClean="0"/>
          </a:p>
          <a:p>
            <a:endParaRPr lang="en-IN" dirty="0" smtClean="0"/>
          </a:p>
          <a:p>
            <a:r>
              <a:rPr lang="en-IN" b="1" dirty="0" smtClean="0"/>
              <a:t>Cryptanalysis-</a:t>
            </a:r>
          </a:p>
          <a:p>
            <a:pPr lvl="1"/>
            <a:r>
              <a:rPr lang="en-IN" dirty="0" smtClean="0"/>
              <a:t>Techniques </a:t>
            </a:r>
            <a:r>
              <a:rPr lang="en-IN" dirty="0"/>
              <a:t>used for </a:t>
            </a:r>
            <a:r>
              <a:rPr lang="en-IN" dirty="0" smtClean="0"/>
              <a:t>deciphering a </a:t>
            </a:r>
            <a:r>
              <a:rPr lang="en-IN" dirty="0"/>
              <a:t>message without any knowledge of the enciphering details fall into the area </a:t>
            </a:r>
            <a:r>
              <a:rPr lang="en-IN" dirty="0" smtClean="0"/>
              <a:t>of </a:t>
            </a:r>
            <a:r>
              <a:rPr lang="en-IN" b="1" dirty="0" smtClean="0"/>
              <a:t>cryptanalysis</a:t>
            </a:r>
            <a:r>
              <a:rPr lang="en-IN" dirty="0"/>
              <a:t>. </a:t>
            </a:r>
            <a:endParaRPr lang="en-IN" dirty="0" smtClean="0"/>
          </a:p>
          <a:p>
            <a:pPr lvl="1"/>
            <a:r>
              <a:rPr lang="en-IN" dirty="0" smtClean="0"/>
              <a:t>Cryptanalysis </a:t>
            </a:r>
            <a:r>
              <a:rPr lang="en-IN" dirty="0"/>
              <a:t>is what the layperson calls “breaking the code.” </a:t>
            </a:r>
            <a:endParaRPr lang="en-IN" dirty="0" smtClean="0"/>
          </a:p>
          <a:p>
            <a:endParaRPr lang="en-IN" dirty="0"/>
          </a:p>
          <a:p>
            <a:r>
              <a:rPr lang="en-IN" b="1" dirty="0" smtClean="0"/>
              <a:t>Cryptology - </a:t>
            </a:r>
            <a:r>
              <a:rPr lang="en-IN" dirty="0" smtClean="0"/>
              <a:t>The areas of </a:t>
            </a:r>
            <a:r>
              <a:rPr lang="en-IN" dirty="0"/>
              <a:t>cryptography and cryptanalysis </a:t>
            </a:r>
            <a:r>
              <a:rPr lang="en-IN" dirty="0" smtClean="0"/>
              <a:t>together.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718-65DB-474B-BA9E-0F7688AF035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35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Stream Cipher Vs Block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/>
                <a:ea typeface="Fira Sans" panose="020B0503050000020004" pitchFamily="34" charset="0"/>
              </a:rPr>
              <a:t>Stream Cipher : </a:t>
            </a:r>
          </a:p>
          <a:p>
            <a:pPr lvl="1"/>
            <a:r>
              <a:rPr lang="en-US" dirty="0" smtClean="0">
                <a:latin typeface="Fira Sans"/>
              </a:rPr>
              <a:t>stream </a:t>
            </a:r>
            <a:r>
              <a:rPr lang="en-US" dirty="0">
                <a:latin typeface="Fira Sans"/>
              </a:rPr>
              <a:t>cipher Converts the plain text into cipher text by taking 1 byte of plain text at a time</a:t>
            </a:r>
            <a:r>
              <a:rPr lang="en-US" dirty="0" smtClean="0">
                <a:latin typeface="Fira Sans"/>
              </a:rPr>
              <a:t>.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/>
                <a:ea typeface="Fira Sans" panose="020B0503050000020004" pitchFamily="34" charset="0"/>
              </a:rPr>
              <a:t>Block Cipher :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/>
                <a:ea typeface="Fira Sans" panose="020B0503050000020004" pitchFamily="34" charset="0"/>
              </a:rPr>
              <a:t> </a:t>
            </a:r>
            <a:r>
              <a:rPr lang="en-US" dirty="0">
                <a:latin typeface="Fira Sans"/>
              </a:rPr>
              <a:t>block cipher converts the plain text into cipher text by taking plain text’s block at a </a:t>
            </a:r>
            <a:r>
              <a:rPr lang="en-US" dirty="0" smtClean="0">
                <a:latin typeface="Fira Sans"/>
              </a:rPr>
              <a:t>time</a:t>
            </a:r>
          </a:p>
          <a:p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718-65DB-474B-BA9E-0F7688AF035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2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697762"/>
              </p:ext>
            </p:extLst>
          </p:nvPr>
        </p:nvGraphicFramePr>
        <p:xfrm>
          <a:off x="508000" y="1088914"/>
          <a:ext cx="11303000" cy="5187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24808"/>
                <a:gridCol w="4917539"/>
                <a:gridCol w="4660653"/>
              </a:tblGrid>
              <a:tr h="3419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 Cipher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 Cipher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Concept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Encrypts data one bit or byte at a time.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Encrypts data in fixed-size blocks (e.g., 64 or 128 bits).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Processing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Continuous, works on data streams.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t-IT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Discrete, processes data in chunks.</a:t>
                      </a:r>
                      <a:endParaRPr lang="it-IT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Speed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 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slower, 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especially for real-time applications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., discrete, exponential operations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</a:t>
                      </a:r>
                      <a:r>
                        <a:rPr lang="en-US" sz="1600" u="none" strike="noStrike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due </a:t>
                      </a:r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block-wise </a:t>
                      </a:r>
                      <a:r>
                        <a:rPr lang="en-US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operations,</a:t>
                      </a:r>
                      <a:r>
                        <a:rPr lang="en-US" sz="1600" u="none" strike="noStrike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Ex-OR operations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Complexity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Simpler implementation.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 design and implementation.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660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 of Operation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Doesn't require padding as it works bit-by-bit.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padding if data size is not a multiple of block size.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660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Usage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Often uses a single key and generates a pseudorandom keystream.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keys in conjunction with specific modes like ECB, CBC, etc.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660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Suitability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applications needing real-time or streaming encryption (e.g., voice, video).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for encrypting files or data at rest.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Propagation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affect only the bit/byte in question.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Errors can propagate throughout the block.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6603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vulnerability to pattern attacks if the keystream is not truly random.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robust due to structured modes of operation.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  <a:tr h="34195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RC4, </a:t>
                      </a:r>
                      <a:r>
                        <a:rPr lang="en-IN" sz="1600" u="none" strike="noStrik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RSA, ECC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AES, DES, Blowfish.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454" y="3442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Stream Cipher Vs Block Cipher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11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2" name="Picture 11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245736" cy="811434"/>
          </a:xfrm>
          <a:prstGeom prst="rect">
            <a:avLst/>
          </a:prstGeom>
        </p:spPr>
      </p:pic>
      <p:sp>
        <p:nvSpPr>
          <p:cNvPr id="13" name="Date Placeholder 2"/>
          <p:cNvSpPr txBox="1">
            <a:spLocks/>
          </p:cNvSpPr>
          <p:nvPr/>
        </p:nvSpPr>
        <p:spPr>
          <a:xfrm>
            <a:off x="9906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F8DE718-65DB-474B-BA9E-0F7688AF0350}" type="datetime1">
              <a:rPr lang="en-US" smtClean="0"/>
              <a:pPr/>
              <a:t>7/21/2025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6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Stream Cipher Vs Block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Datasize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? 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8 bits Vs 64, 128 bits?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Technique?</a:t>
            </a:r>
          </a:p>
          <a:p>
            <a:pPr lvl="1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stream cipher uses only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confusion.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Block cipher Uses confusion as well as diffusion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Applications?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Short data</a:t>
            </a:r>
          </a:p>
          <a:p>
            <a:pPr lvl="1"/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Large data?</a:t>
            </a:r>
          </a:p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Strength?</a:t>
            </a:r>
          </a:p>
          <a:p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718-65DB-474B-BA9E-0F7688AF035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0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Stream Cipher Vs Block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Block ciphers are More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secure than stream ciphers when the same key is used multiple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times; Stream ciphers are less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secure than block ciphers when the same key is used multiple </a:t>
            </a:r>
            <a:r>
              <a:rPr 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Fira Sans" panose="020B0503050000020004" pitchFamily="34" charset="0"/>
                <a:ea typeface="Fira Sans" panose="020B0503050000020004" pitchFamily="34" charset="0"/>
              </a:rPr>
              <a:t>times</a:t>
            </a:r>
          </a:p>
          <a:p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E718-65DB-474B-BA9E-0F7688AF035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0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/>
              <a:t>A symmetric encryption scheme has five ingredients </a:t>
            </a:r>
            <a:endParaRPr lang="en-IN" dirty="0" smtClean="0"/>
          </a:p>
          <a:p>
            <a:r>
              <a:rPr lang="en-IN" b="1" dirty="0" smtClean="0"/>
              <a:t>Plaintext</a:t>
            </a:r>
          </a:p>
          <a:p>
            <a:r>
              <a:rPr lang="en-IN" b="1" dirty="0" smtClean="0"/>
              <a:t>Encryption algorithm</a:t>
            </a:r>
          </a:p>
          <a:p>
            <a:r>
              <a:rPr lang="en-IN" b="1" dirty="0" smtClean="0"/>
              <a:t>Secret key</a:t>
            </a:r>
          </a:p>
          <a:p>
            <a:r>
              <a:rPr lang="en-IN" b="1" dirty="0" err="1" smtClean="0"/>
              <a:t>Ciphertext</a:t>
            </a:r>
            <a:endParaRPr lang="en-IN" b="1" dirty="0" smtClean="0"/>
          </a:p>
          <a:p>
            <a:r>
              <a:rPr lang="en-IN" b="1" dirty="0" smtClean="0"/>
              <a:t>Decryption algorithm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3D5C-410D-4F81-86EE-CD2502679E2A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25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1005992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58" y="1224188"/>
            <a:ext cx="11269776" cy="405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E62D1-8617-4648-B228-D7FDD27BF16F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7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539129" y="565121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 smtClean="0"/>
              <a:t>Plaintext</a:t>
            </a:r>
          </a:p>
          <a:p>
            <a:r>
              <a:rPr lang="en-IN" dirty="0" smtClean="0"/>
              <a:t>This </a:t>
            </a:r>
            <a:r>
              <a:rPr lang="en-IN" dirty="0"/>
              <a:t>is the original intelligible message or data that is fed into </a:t>
            </a:r>
            <a:r>
              <a:rPr lang="en-IN" dirty="0" smtClean="0"/>
              <a:t>the algorithm </a:t>
            </a:r>
            <a:r>
              <a:rPr lang="en-IN" dirty="0"/>
              <a:t>as input</a:t>
            </a:r>
            <a:r>
              <a:rPr lang="en-IN" dirty="0" smtClean="0"/>
              <a:t>.</a:t>
            </a:r>
          </a:p>
          <a:p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Encryption algorithm</a:t>
            </a:r>
          </a:p>
          <a:p>
            <a:r>
              <a:rPr lang="en-IN" dirty="0" smtClean="0"/>
              <a:t>The </a:t>
            </a:r>
            <a:r>
              <a:rPr lang="en-IN" dirty="0"/>
              <a:t>encryption algorithm performs various </a:t>
            </a:r>
            <a:r>
              <a:rPr lang="en-IN" dirty="0" smtClean="0"/>
              <a:t>substitutions and </a:t>
            </a:r>
            <a:r>
              <a:rPr lang="en-IN" dirty="0"/>
              <a:t>transformations on the plaintext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50249"/>
            <a:ext cx="6700729" cy="2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D1770-253D-4A5B-8E00-7DD0E8597F97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1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054" y="191861"/>
            <a:ext cx="11395912" cy="721920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614096"/>
            <a:ext cx="10315074" cy="4487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 smtClean="0"/>
              <a:t>Secret </a:t>
            </a:r>
            <a:r>
              <a:rPr lang="en-IN" b="1" dirty="0"/>
              <a:t>key: </a:t>
            </a:r>
          </a:p>
          <a:p>
            <a:r>
              <a:rPr lang="en-IN" dirty="0" smtClean="0"/>
              <a:t>The </a:t>
            </a:r>
            <a:r>
              <a:rPr lang="en-IN" dirty="0"/>
              <a:t>secret key is also input to the encryption algorithm. </a:t>
            </a:r>
            <a:endParaRPr lang="en-IN" dirty="0" smtClean="0"/>
          </a:p>
          <a:p>
            <a:r>
              <a:rPr lang="en-IN" dirty="0" smtClean="0"/>
              <a:t>The key is </a:t>
            </a:r>
            <a:r>
              <a:rPr lang="en-IN" dirty="0"/>
              <a:t>a value independent of the plaintext and of the algorithm. </a:t>
            </a:r>
            <a:endParaRPr lang="en-IN" dirty="0" smtClean="0"/>
          </a:p>
          <a:p>
            <a:r>
              <a:rPr lang="en-IN" dirty="0" smtClean="0"/>
              <a:t>The algorithm will </a:t>
            </a:r>
            <a:r>
              <a:rPr lang="en-IN" dirty="0"/>
              <a:t>produce a different output depending on the specific key being used at </a:t>
            </a:r>
            <a:r>
              <a:rPr lang="en-IN" dirty="0" smtClean="0"/>
              <a:t>the time</a:t>
            </a:r>
            <a:r>
              <a:rPr lang="en-IN" dirty="0"/>
              <a:t>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exact substitutions and transformations performed by the </a:t>
            </a:r>
            <a:r>
              <a:rPr lang="en-IN" dirty="0" smtClean="0"/>
              <a:t>algorithm depend </a:t>
            </a:r>
            <a:r>
              <a:rPr lang="en-IN" dirty="0"/>
              <a:t>on the key</a:t>
            </a:r>
            <a:r>
              <a:rPr lang="en-IN" dirty="0" smtClean="0"/>
              <a:t>.</a:t>
            </a:r>
            <a:endParaRPr lang="en-IN" dirty="0"/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50249"/>
            <a:ext cx="6700729" cy="2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3625-F912-4FA5-9E4F-69BD2D870E33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364222"/>
            <a:ext cx="10315074" cy="50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b="1" dirty="0" smtClean="0"/>
              <a:t>Cipher text</a:t>
            </a:r>
            <a:endParaRPr lang="en-IN" b="1" dirty="0"/>
          </a:p>
          <a:p>
            <a:r>
              <a:rPr lang="en-IN" dirty="0" smtClean="0"/>
              <a:t>This </a:t>
            </a:r>
            <a:r>
              <a:rPr lang="en-IN" dirty="0"/>
              <a:t>is the scrambled message produced as output. </a:t>
            </a:r>
            <a:endParaRPr lang="en-IN" dirty="0" smtClean="0"/>
          </a:p>
          <a:p>
            <a:r>
              <a:rPr lang="en-IN" dirty="0" smtClean="0"/>
              <a:t>An </a:t>
            </a:r>
            <a:r>
              <a:rPr lang="en-IN" dirty="0"/>
              <a:t>apparently random stream of data and, as it stands, is unintelligible.</a:t>
            </a:r>
          </a:p>
          <a:p>
            <a:r>
              <a:rPr lang="en-IN" dirty="0" smtClean="0"/>
              <a:t>It </a:t>
            </a:r>
            <a:r>
              <a:rPr lang="en-IN" dirty="0"/>
              <a:t>depends </a:t>
            </a:r>
            <a:r>
              <a:rPr lang="en-IN" dirty="0" smtClean="0"/>
              <a:t>on the </a:t>
            </a:r>
            <a:r>
              <a:rPr lang="en-IN" dirty="0"/>
              <a:t>plaintext and the secret key. </a:t>
            </a:r>
            <a:endParaRPr lang="en-IN" dirty="0" smtClean="0"/>
          </a:p>
          <a:p>
            <a:r>
              <a:rPr lang="en-IN" b="1" u="sng" dirty="0" smtClean="0"/>
              <a:t>For </a:t>
            </a:r>
            <a:r>
              <a:rPr lang="en-IN" b="1" u="sng" dirty="0"/>
              <a:t>a given message, two different keys </a:t>
            </a:r>
            <a:r>
              <a:rPr lang="en-IN" b="1" u="sng" dirty="0" smtClean="0"/>
              <a:t>will produce </a:t>
            </a:r>
            <a:r>
              <a:rPr lang="en-IN" b="1" u="sng" dirty="0"/>
              <a:t>two different </a:t>
            </a:r>
            <a:r>
              <a:rPr lang="en-IN" b="1" u="sng" dirty="0" smtClean="0"/>
              <a:t>cipher texts</a:t>
            </a:r>
            <a:r>
              <a:rPr lang="en-IN" b="1" u="sng" dirty="0"/>
              <a:t>. </a:t>
            </a:r>
            <a:endParaRPr lang="en-IN" b="1" u="sng" dirty="0" smtClean="0"/>
          </a:p>
          <a:p>
            <a:pPr marL="0" indent="0">
              <a:buNone/>
            </a:pPr>
            <a:endParaRPr lang="en-IN" b="1" dirty="0" smtClean="0"/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850249"/>
            <a:ext cx="6700729" cy="2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67AA7-B280-4905-81D4-C1E3BFDE5689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364222"/>
            <a:ext cx="10315074" cy="50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b="1" dirty="0" smtClean="0"/>
              <a:t>Decryption algorithm</a:t>
            </a:r>
          </a:p>
          <a:p>
            <a:r>
              <a:rPr lang="en-IN" dirty="0" smtClean="0"/>
              <a:t>This </a:t>
            </a:r>
            <a:r>
              <a:rPr lang="en-IN" dirty="0"/>
              <a:t>is essentially the encryption algorithm run </a:t>
            </a:r>
            <a:r>
              <a:rPr lang="en-IN" dirty="0" smtClean="0"/>
              <a:t>in reverse</a:t>
            </a:r>
            <a:r>
              <a:rPr lang="en-IN" dirty="0"/>
              <a:t>. </a:t>
            </a:r>
            <a:endParaRPr lang="en-IN" dirty="0" smtClean="0"/>
          </a:p>
          <a:p>
            <a:r>
              <a:rPr lang="en-IN" dirty="0" smtClean="0"/>
              <a:t>It </a:t>
            </a:r>
            <a:r>
              <a:rPr lang="en-IN" dirty="0"/>
              <a:t>takes the </a:t>
            </a:r>
            <a:r>
              <a:rPr lang="en-IN" dirty="0" smtClean="0"/>
              <a:t>cipher text </a:t>
            </a:r>
            <a:r>
              <a:rPr lang="en-IN" dirty="0"/>
              <a:t>and the secret key and produces the </a:t>
            </a:r>
            <a:r>
              <a:rPr lang="en-IN" dirty="0" smtClean="0"/>
              <a:t>original </a:t>
            </a:r>
            <a:r>
              <a:rPr lang="en-IN" dirty="0"/>
              <a:t>plaintext</a:t>
            </a:r>
            <a:r>
              <a:rPr lang="en-IN" dirty="0" smtClean="0"/>
              <a:t>.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4214" y="2650670"/>
            <a:ext cx="7921970" cy="2934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4B9C-DD5D-4FE7-BC7D-879FA91C79CC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364222"/>
            <a:ext cx="10315074" cy="50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dirty="0" smtClean="0"/>
              <a:t>Requirements </a:t>
            </a:r>
            <a:r>
              <a:rPr lang="en-IN" dirty="0"/>
              <a:t>for secure use of </a:t>
            </a:r>
            <a:r>
              <a:rPr lang="en-IN" dirty="0" smtClean="0"/>
              <a:t>conventional/Symmetric encryption:</a:t>
            </a:r>
          </a:p>
          <a:p>
            <a:r>
              <a:rPr lang="en-IN" dirty="0" smtClean="0"/>
              <a:t>A </a:t>
            </a:r>
            <a:r>
              <a:rPr lang="en-IN" dirty="0"/>
              <a:t>strong encryption algorithm. </a:t>
            </a:r>
            <a:endParaRPr lang="en-IN" dirty="0" smtClean="0"/>
          </a:p>
          <a:p>
            <a:r>
              <a:rPr lang="en-IN" dirty="0" smtClean="0"/>
              <a:t>Secure Secret Key 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B76D46-2009-47C5-923B-8C5A39626A86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095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364222"/>
            <a:ext cx="10315074" cy="50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dirty="0" smtClean="0"/>
              <a:t>A </a:t>
            </a:r>
            <a:r>
              <a:rPr lang="en-IN" dirty="0"/>
              <a:t>strong encryption algorithm. </a:t>
            </a:r>
            <a:endParaRPr lang="en-IN" dirty="0" smtClean="0"/>
          </a:p>
          <a:p>
            <a:r>
              <a:rPr lang="en-IN" dirty="0" smtClean="0"/>
              <a:t>Even if the opponent knows </a:t>
            </a:r>
            <a:r>
              <a:rPr lang="en-IN" dirty="0"/>
              <a:t>the algorithm and </a:t>
            </a:r>
            <a:r>
              <a:rPr lang="en-IN" dirty="0" smtClean="0"/>
              <a:t>has access </a:t>
            </a:r>
            <a:r>
              <a:rPr lang="en-IN" dirty="0"/>
              <a:t>to one or more </a:t>
            </a:r>
            <a:r>
              <a:rPr lang="en-IN" dirty="0" err="1" smtClean="0"/>
              <a:t>ciphertexts</a:t>
            </a:r>
            <a:r>
              <a:rPr lang="en-IN" dirty="0" smtClean="0"/>
              <a:t>, Still </a:t>
            </a:r>
            <a:r>
              <a:rPr lang="en-IN" dirty="0"/>
              <a:t>would be unable to decipher the </a:t>
            </a:r>
            <a:r>
              <a:rPr lang="en-IN" dirty="0" err="1" smtClean="0"/>
              <a:t>ciphertext</a:t>
            </a:r>
            <a:r>
              <a:rPr lang="en-IN" dirty="0" smtClean="0"/>
              <a:t> or </a:t>
            </a:r>
            <a:r>
              <a:rPr lang="en-IN" dirty="0"/>
              <a:t>figure out the key. </a:t>
            </a:r>
            <a:endParaRPr lang="en-IN" dirty="0" smtClean="0"/>
          </a:p>
          <a:p>
            <a:r>
              <a:rPr lang="en-IN" dirty="0" smtClean="0"/>
              <a:t>The </a:t>
            </a:r>
            <a:r>
              <a:rPr lang="en-IN" dirty="0"/>
              <a:t>opponent should be unable to decrypt </a:t>
            </a:r>
            <a:r>
              <a:rPr lang="en-IN" dirty="0" err="1"/>
              <a:t>ciphertext</a:t>
            </a:r>
            <a:r>
              <a:rPr lang="en-IN" dirty="0"/>
              <a:t> or discover the key </a:t>
            </a:r>
            <a:r>
              <a:rPr lang="en-IN" dirty="0" smtClean="0"/>
              <a:t>even if </a:t>
            </a:r>
            <a:r>
              <a:rPr lang="en-IN" dirty="0"/>
              <a:t>he or she is in possession of a number of </a:t>
            </a:r>
            <a:r>
              <a:rPr lang="en-IN" dirty="0" err="1"/>
              <a:t>ciphertexts</a:t>
            </a:r>
            <a:r>
              <a:rPr lang="en-IN" dirty="0"/>
              <a:t> together with the </a:t>
            </a:r>
            <a:r>
              <a:rPr lang="en-IN" dirty="0" smtClean="0"/>
              <a:t>plaintext that </a:t>
            </a:r>
            <a:r>
              <a:rPr lang="en-IN" dirty="0"/>
              <a:t>produced each </a:t>
            </a:r>
            <a:r>
              <a:rPr lang="en-IN" dirty="0" err="1"/>
              <a:t>ciphertext</a:t>
            </a:r>
            <a:r>
              <a:rPr lang="en-IN" dirty="0" smtClean="0"/>
              <a:t>.</a:t>
            </a: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B64FA-CFDD-438C-8571-53F5C5FCE816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1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Symmetric Encryption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xmlns="" id="{5AB99583-1BD7-4DF1-9DBD-299F1C8E7BF2}"/>
              </a:ext>
            </a:extLst>
          </p:cNvPr>
          <p:cNvSpPr txBox="1">
            <a:spLocks/>
          </p:cNvSpPr>
          <p:nvPr/>
        </p:nvSpPr>
        <p:spPr>
          <a:xfrm>
            <a:off x="669758" y="364222"/>
            <a:ext cx="10315074" cy="509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b="1" dirty="0" smtClean="0"/>
          </a:p>
          <a:p>
            <a:pPr marL="0" indent="0">
              <a:buNone/>
            </a:pPr>
            <a:r>
              <a:rPr lang="en-IN" dirty="0" smtClean="0"/>
              <a:t>Secure Secret Key-</a:t>
            </a:r>
          </a:p>
          <a:p>
            <a:r>
              <a:rPr lang="en-IN" dirty="0" smtClean="0"/>
              <a:t>Sender and receiver must have </a:t>
            </a:r>
          </a:p>
          <a:p>
            <a:pPr lvl="1"/>
            <a:r>
              <a:rPr lang="en-IN" sz="2800" dirty="0" smtClean="0"/>
              <a:t>obtained copies of the secret key in a secure fashion and </a:t>
            </a:r>
          </a:p>
          <a:p>
            <a:pPr lvl="1"/>
            <a:r>
              <a:rPr lang="en-IN" sz="2800" dirty="0" smtClean="0"/>
              <a:t>must keep the key secure. </a:t>
            </a:r>
          </a:p>
          <a:p>
            <a:endParaRPr lang="en-IN" dirty="0" smtClean="0"/>
          </a:p>
          <a:p>
            <a:r>
              <a:rPr lang="en-IN" dirty="0" smtClean="0"/>
              <a:t>If someone can discover the key and knows the algorithm, all communication using this key is readable.</a:t>
            </a: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  <a:latin typeface="Fira Sans" panose="020B0503050000020004" pitchFamily="34" charset="0"/>
              <a:ea typeface="Fira Sans" panose="020B0503050000020004" pitchFamily="34" charset="0"/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CA3B7-184F-4F3D-94EC-3A3204E863C0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623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Model of Symmetric Cryptosystem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52" y="695325"/>
            <a:ext cx="9427028" cy="4745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0D1EB-FABC-4E19-B446-DC8758F4FB27}" type="datetime1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0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Model of Symmetric Cryptosystem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141" y="3959711"/>
            <a:ext cx="4713514" cy="237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8085" y="496194"/>
            <a:ext cx="1074964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 source produces a message in plaintext,</a:t>
            </a:r>
          </a:p>
          <a:p>
            <a:r>
              <a:rPr lang="en-IN" sz="2800" i="1" dirty="0" smtClean="0"/>
              <a:t>					X </a:t>
            </a:r>
            <a:r>
              <a:rPr lang="en-IN" sz="2800" dirty="0"/>
              <a:t>= [</a:t>
            </a:r>
            <a:r>
              <a:rPr lang="en-IN" sz="2800" i="1" dirty="0"/>
              <a:t>X</a:t>
            </a:r>
            <a:r>
              <a:rPr lang="en-IN" sz="2800" dirty="0"/>
              <a:t>1, </a:t>
            </a:r>
            <a:r>
              <a:rPr lang="en-IN" sz="2800" i="1" dirty="0"/>
              <a:t>X</a:t>
            </a:r>
            <a:r>
              <a:rPr lang="en-IN" sz="2800" dirty="0"/>
              <a:t>2, </a:t>
            </a:r>
            <a:r>
              <a:rPr lang="en-IN" sz="2800" dirty="0" smtClean="0"/>
              <a:t>…………, </a:t>
            </a:r>
            <a:r>
              <a:rPr lang="en-IN" sz="2800" i="1" dirty="0"/>
              <a:t>XM</a:t>
            </a:r>
            <a:r>
              <a:rPr lang="en-IN" sz="2800" dirty="0"/>
              <a:t>].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i="1" dirty="0"/>
              <a:t>M </a:t>
            </a:r>
            <a:r>
              <a:rPr lang="en-IN" sz="2800" dirty="0"/>
              <a:t>elements of </a:t>
            </a:r>
            <a:r>
              <a:rPr lang="en-IN" sz="2800" i="1" dirty="0"/>
              <a:t>X </a:t>
            </a:r>
            <a:r>
              <a:rPr lang="en-IN" sz="2800" dirty="0"/>
              <a:t>are letters in some finite </a:t>
            </a:r>
            <a:r>
              <a:rPr lang="en-IN" sz="2800" dirty="0" smtClean="0"/>
              <a:t>alphabet(26 Capital letters or {0,1})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Key generation</a:t>
            </a:r>
          </a:p>
          <a:p>
            <a:r>
              <a:rPr lang="en-IN" sz="2800" i="1" dirty="0" smtClean="0"/>
              <a:t>					K </a:t>
            </a:r>
            <a:r>
              <a:rPr lang="en-IN" sz="2800" dirty="0"/>
              <a:t>= [</a:t>
            </a:r>
            <a:r>
              <a:rPr lang="en-IN" sz="2800" i="1" dirty="0"/>
              <a:t>K</a:t>
            </a:r>
            <a:r>
              <a:rPr lang="en-IN" sz="2800" dirty="0"/>
              <a:t>1, </a:t>
            </a:r>
            <a:r>
              <a:rPr lang="en-IN" sz="2800" i="1" dirty="0"/>
              <a:t>K</a:t>
            </a:r>
            <a:r>
              <a:rPr lang="en-IN" sz="2800" dirty="0"/>
              <a:t>2, c, </a:t>
            </a:r>
            <a:r>
              <a:rPr lang="en-IN" sz="2800" i="1" dirty="0"/>
              <a:t>KJ</a:t>
            </a:r>
            <a:r>
              <a:rPr lang="en-IN" sz="2800" dirty="0"/>
              <a:t>]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the key is generated at the </a:t>
            </a:r>
            <a:r>
              <a:rPr lang="en-IN" sz="2800" dirty="0" smtClean="0"/>
              <a:t>Message source or Third Party, delivered to </a:t>
            </a:r>
            <a:r>
              <a:rPr lang="en-IN" sz="2800" dirty="0"/>
              <a:t>the destination by means of some secure channel</a:t>
            </a:r>
            <a:r>
              <a:rPr lang="en-IN" sz="2800" dirty="0" smtClean="0"/>
              <a:t>.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B6B8-3665-43B8-A1AE-B8786FC1690B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26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Model of Symmetric Cryptosystem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2470" y="3959711"/>
            <a:ext cx="4713514" cy="237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468085" y="332908"/>
            <a:ext cx="107496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Cipher text generation</a:t>
            </a:r>
          </a:p>
          <a:p>
            <a:r>
              <a:rPr lang="en-IN" sz="2800" i="1" dirty="0"/>
              <a:t>	</a:t>
            </a:r>
            <a:r>
              <a:rPr lang="en-IN" sz="2800" i="1" dirty="0" smtClean="0"/>
              <a:t>							Y </a:t>
            </a:r>
            <a:r>
              <a:rPr lang="en-IN" sz="2800" dirty="0"/>
              <a:t>= [</a:t>
            </a:r>
            <a:r>
              <a:rPr lang="en-IN" sz="2800" i="1" dirty="0"/>
              <a:t>Y</a:t>
            </a:r>
            <a:r>
              <a:rPr lang="en-IN" sz="2800" dirty="0"/>
              <a:t>1, </a:t>
            </a:r>
            <a:r>
              <a:rPr lang="en-IN" sz="2800" i="1" dirty="0"/>
              <a:t>Y</a:t>
            </a:r>
            <a:r>
              <a:rPr lang="en-IN" sz="2800" dirty="0"/>
              <a:t>2, </a:t>
            </a:r>
            <a:r>
              <a:rPr lang="en-IN" sz="2800" dirty="0" smtClean="0"/>
              <a:t>….., </a:t>
            </a:r>
            <a:r>
              <a:rPr lang="en-IN" sz="2800" i="1" dirty="0"/>
              <a:t>YN</a:t>
            </a:r>
            <a:r>
              <a:rPr lang="en-IN" sz="2800" dirty="0"/>
              <a:t>]. </a:t>
            </a:r>
            <a:endParaRPr lang="en-IN" sz="2800" dirty="0" smtClean="0"/>
          </a:p>
          <a:p>
            <a:r>
              <a:rPr lang="en-IN" sz="2800" i="1" dirty="0" smtClean="0"/>
              <a:t>								Y </a:t>
            </a:r>
            <a:r>
              <a:rPr lang="en-IN" sz="2800" dirty="0"/>
              <a:t>= E(</a:t>
            </a:r>
            <a:r>
              <a:rPr lang="en-IN" sz="2800" i="1" dirty="0"/>
              <a:t>K</a:t>
            </a:r>
            <a:r>
              <a:rPr lang="en-IN" sz="2800" dirty="0"/>
              <a:t>, </a:t>
            </a:r>
            <a:r>
              <a:rPr lang="en-IN" sz="2800" i="1" dirty="0"/>
              <a:t>X</a:t>
            </a:r>
            <a:r>
              <a:rPr lang="en-IN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i="1" dirty="0" smtClean="0"/>
              <a:t>Y </a:t>
            </a:r>
            <a:r>
              <a:rPr lang="en-IN" sz="2800" dirty="0"/>
              <a:t>is produced by using encryption algorithm E as </a:t>
            </a:r>
            <a:r>
              <a:rPr lang="en-IN" sz="2800" dirty="0" smtClean="0"/>
              <a:t>a function </a:t>
            </a:r>
            <a:r>
              <a:rPr lang="en-IN" sz="2800" dirty="0"/>
              <a:t>of the </a:t>
            </a:r>
            <a:r>
              <a:rPr lang="en-IN" sz="2800" dirty="0" smtClean="0"/>
              <a:t>plaintext  </a:t>
            </a:r>
            <a:r>
              <a:rPr lang="en-IN" sz="2800" i="1" dirty="0"/>
              <a:t>X</a:t>
            </a:r>
            <a:r>
              <a:rPr lang="en-IN" sz="2800" dirty="0"/>
              <a:t>, </a:t>
            </a:r>
            <a:r>
              <a:rPr lang="en-IN" sz="2800" dirty="0" smtClean="0"/>
              <a:t>the </a:t>
            </a:r>
            <a:r>
              <a:rPr lang="en-IN" sz="2800" dirty="0"/>
              <a:t>value </a:t>
            </a:r>
            <a:r>
              <a:rPr lang="en-IN" sz="2800" dirty="0" smtClean="0"/>
              <a:t>of the </a:t>
            </a:r>
            <a:r>
              <a:rPr lang="en-IN" sz="2800" dirty="0"/>
              <a:t>key </a:t>
            </a:r>
            <a:r>
              <a:rPr lang="en-IN" sz="2800" i="1" dirty="0"/>
              <a:t>K</a:t>
            </a:r>
            <a:r>
              <a:rPr lang="en-IN" sz="280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intended receiver, in possession of the key, is able to invert </a:t>
            </a:r>
            <a:r>
              <a:rPr lang="en-IN" sz="2800" dirty="0" smtClean="0"/>
              <a:t>the transformation</a:t>
            </a:r>
            <a:r>
              <a:rPr lang="en-IN" sz="2800" dirty="0"/>
              <a:t>:</a:t>
            </a:r>
          </a:p>
          <a:p>
            <a:r>
              <a:rPr lang="en-IN" sz="2800" i="1" dirty="0" smtClean="0"/>
              <a:t>								X </a:t>
            </a:r>
            <a:r>
              <a:rPr lang="en-IN" sz="2800" dirty="0"/>
              <a:t>= D(</a:t>
            </a:r>
            <a:r>
              <a:rPr lang="en-IN" sz="2800" i="1" dirty="0"/>
              <a:t>K</a:t>
            </a:r>
            <a:r>
              <a:rPr lang="en-IN" sz="2800" dirty="0"/>
              <a:t>, </a:t>
            </a:r>
            <a:r>
              <a:rPr lang="en-IN" sz="2800" i="1" dirty="0"/>
              <a:t>Y</a:t>
            </a:r>
            <a:r>
              <a:rPr lang="en-IN" sz="2800" dirty="0"/>
              <a:t>)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7D97-2AF7-4451-B8C8-96B02D642F32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095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Categories of Cryptographic 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Characterized </a:t>
            </a:r>
            <a:r>
              <a:rPr lang="en-IN" sz="2800" dirty="0"/>
              <a:t>along three independent dimensions</a:t>
            </a:r>
            <a:r>
              <a:rPr lang="en-IN" sz="2800" dirty="0" smtClean="0"/>
              <a:t>:</a:t>
            </a:r>
          </a:p>
          <a:p>
            <a:endParaRPr lang="en-IN" sz="2800" dirty="0"/>
          </a:p>
          <a:p>
            <a:pPr marL="514350" indent="-514350">
              <a:buAutoNum type="arabicPeriod"/>
            </a:pPr>
            <a:r>
              <a:rPr lang="en-IN" sz="2800" b="1" dirty="0" smtClean="0"/>
              <a:t>The </a:t>
            </a:r>
            <a:r>
              <a:rPr lang="en-IN" sz="2800" b="1" dirty="0"/>
              <a:t>type of operations used for transforming plaintext to </a:t>
            </a:r>
            <a:r>
              <a:rPr lang="en-IN" sz="2800" b="1" dirty="0" smtClean="0"/>
              <a:t>cipher text.</a:t>
            </a:r>
          </a:p>
          <a:p>
            <a:pPr marL="514350" indent="-514350">
              <a:buAutoNum type="arabicPeriod"/>
            </a:pPr>
            <a:endParaRPr lang="en-IN" sz="2800" b="1" dirty="0" smtClean="0"/>
          </a:p>
          <a:p>
            <a:pPr marL="514350" indent="-514350">
              <a:buAutoNum type="arabicPeriod"/>
            </a:pPr>
            <a:r>
              <a:rPr lang="en-IN" sz="2800" b="1" dirty="0" smtClean="0"/>
              <a:t>The </a:t>
            </a:r>
            <a:r>
              <a:rPr lang="en-IN" sz="2800" b="1" dirty="0"/>
              <a:t>number of keys used</a:t>
            </a:r>
            <a:r>
              <a:rPr lang="en-IN" sz="2800" b="1" dirty="0" smtClean="0"/>
              <a:t>.</a:t>
            </a:r>
          </a:p>
          <a:p>
            <a:pPr marL="514350" indent="-514350">
              <a:buAutoNum type="arabicPeriod"/>
            </a:pPr>
            <a:endParaRPr lang="en-IN" sz="2800" b="1" dirty="0" smtClean="0"/>
          </a:p>
          <a:p>
            <a:pPr marL="514350" indent="-514350">
              <a:buAutoNum type="arabicPeriod"/>
            </a:pPr>
            <a:r>
              <a:rPr lang="en-IN" sz="2800" b="1" dirty="0" smtClean="0"/>
              <a:t>The </a:t>
            </a:r>
            <a:r>
              <a:rPr lang="en-IN" sz="2800" b="1" dirty="0"/>
              <a:t>way in which the plaintext is processed.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C3305-7B4C-4D6C-B8E5-4C6FE3E20296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00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Categories of Cryptographic 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The </a:t>
            </a:r>
            <a:r>
              <a:rPr lang="en-IN" sz="2800" b="1" dirty="0"/>
              <a:t>type of operations used for transforming plaintext to </a:t>
            </a:r>
            <a:r>
              <a:rPr lang="en-IN" sz="2800" b="1" dirty="0" smtClean="0"/>
              <a:t>cipher text-</a:t>
            </a:r>
          </a:p>
          <a:p>
            <a:r>
              <a:rPr lang="en-IN" sz="2800" dirty="0" smtClean="0"/>
              <a:t>All encryption </a:t>
            </a:r>
            <a:r>
              <a:rPr lang="en-IN" sz="2800" dirty="0"/>
              <a:t>algorithms are based on two general principles: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Substitution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Transpositions</a:t>
            </a:r>
            <a:endParaRPr lang="en-IN" sz="2800" b="1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5B81D-34BF-4042-AF11-62669A71D0C9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Categories of Cryptographic 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039604"/>
            <a:ext cx="1074964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Substitution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Each </a:t>
            </a:r>
            <a:r>
              <a:rPr lang="en-IN" sz="2800" dirty="0"/>
              <a:t>element in the plaintext (bit, letter, group of bits or letters) </a:t>
            </a:r>
            <a:r>
              <a:rPr lang="en-IN" sz="2800" dirty="0" smtClean="0"/>
              <a:t>is mapped </a:t>
            </a:r>
            <a:r>
              <a:rPr lang="en-IN" sz="2800" dirty="0"/>
              <a:t>into another </a:t>
            </a:r>
            <a:r>
              <a:rPr lang="en-IN" sz="2800" dirty="0" smtClean="0"/>
              <a:t>element</a:t>
            </a:r>
          </a:p>
          <a:p>
            <a:r>
              <a:rPr lang="en-IN" sz="2800" b="1" dirty="0" smtClean="0"/>
              <a:t>Transposition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Elements </a:t>
            </a:r>
            <a:r>
              <a:rPr lang="en-IN" sz="2800" dirty="0"/>
              <a:t>in </a:t>
            </a:r>
            <a:r>
              <a:rPr lang="en-IN" sz="2800" dirty="0" smtClean="0"/>
              <a:t>the plaintext </a:t>
            </a:r>
            <a:r>
              <a:rPr lang="en-IN" sz="2800" dirty="0"/>
              <a:t>are rearranged.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fundamental requirement is that </a:t>
            </a:r>
            <a:r>
              <a:rPr lang="en-IN" sz="2800" dirty="0" smtClean="0"/>
              <a:t>no information be </a:t>
            </a:r>
            <a:r>
              <a:rPr lang="en-IN" sz="2800" dirty="0"/>
              <a:t>lost (i.e., that all operations are reversible).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Most systems involve </a:t>
            </a:r>
            <a:r>
              <a:rPr lang="en-IN" sz="2800" dirty="0"/>
              <a:t>multiple stages of substitutions and transpositions.</a:t>
            </a:r>
            <a:endParaRPr lang="en-IN" sz="2800" b="1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F556C-8129-4159-89F3-790FA937B8FA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253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Categories of Cryptographic 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The </a:t>
            </a:r>
            <a:r>
              <a:rPr lang="en-IN" sz="2800" b="1" dirty="0"/>
              <a:t>number of keys </a:t>
            </a:r>
            <a:r>
              <a:rPr lang="en-IN" sz="2800" b="1" dirty="0" smtClean="0"/>
              <a:t>used-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both sender and receiver use the same key, </a:t>
            </a:r>
            <a:r>
              <a:rPr lang="en-IN" sz="2800" dirty="0" smtClean="0"/>
              <a:t>the system </a:t>
            </a:r>
            <a:r>
              <a:rPr lang="en-IN" sz="2800" dirty="0"/>
              <a:t>is referred to as </a:t>
            </a:r>
            <a:r>
              <a:rPr lang="en-IN" sz="2800" b="1" u="sng" dirty="0"/>
              <a:t>symmetric, single-key, secret-key, or </a:t>
            </a:r>
            <a:r>
              <a:rPr lang="en-IN" sz="2800" b="1" u="sng" dirty="0" smtClean="0"/>
              <a:t> conventional encryption</a:t>
            </a:r>
            <a:r>
              <a:rPr lang="en-IN" sz="2800" b="1" u="sng" dirty="0"/>
              <a:t>. </a:t>
            </a:r>
            <a:endParaRPr lang="en-IN" sz="2800" b="1" u="sng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the sender and receiver use different keys, the system is </a:t>
            </a:r>
            <a:r>
              <a:rPr lang="en-IN" sz="2800" dirty="0" smtClean="0"/>
              <a:t>referred to </a:t>
            </a:r>
            <a:r>
              <a:rPr lang="en-IN" sz="2800" dirty="0"/>
              <a:t>as </a:t>
            </a:r>
            <a:r>
              <a:rPr lang="en-IN" sz="2800" b="1" u="sng" dirty="0"/>
              <a:t>asymmetric, two-key, or public-key encryption</a:t>
            </a:r>
            <a:r>
              <a:rPr lang="en-IN" sz="2800" b="1" u="sng" dirty="0" smtClean="0"/>
              <a:t>.</a:t>
            </a:r>
            <a:endParaRPr lang="en-IN" sz="2800" b="1" u="sng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2F62D6-050F-469B-8BF3-2E31D3D61D39}" type="datetime1">
              <a:rPr lang="en-US" smtClean="0"/>
              <a:t>7/21/2025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8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Categories of Cryptographic System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The </a:t>
            </a:r>
            <a:r>
              <a:rPr lang="en-IN" sz="2800" b="1" dirty="0"/>
              <a:t>way in which the plaintext is </a:t>
            </a:r>
            <a:r>
              <a:rPr lang="en-IN" sz="2800" b="1" dirty="0" smtClean="0"/>
              <a:t>processed-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A </a:t>
            </a:r>
            <a:r>
              <a:rPr lang="en-IN" sz="2800" b="1" i="1" dirty="0"/>
              <a:t>block cipher </a:t>
            </a:r>
            <a:r>
              <a:rPr lang="en-IN" sz="2800" dirty="0"/>
              <a:t>processes </a:t>
            </a:r>
            <a:r>
              <a:rPr lang="en-IN" sz="2800" dirty="0" smtClean="0"/>
              <a:t>the input </a:t>
            </a:r>
            <a:r>
              <a:rPr lang="en-IN" sz="2800" dirty="0"/>
              <a:t>one block of elements at a time, producing an output block for </a:t>
            </a:r>
            <a:r>
              <a:rPr lang="en-IN" sz="2800" dirty="0" smtClean="0"/>
              <a:t>each input </a:t>
            </a:r>
            <a:r>
              <a:rPr lang="en-IN" sz="2800" dirty="0"/>
              <a:t>block.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A </a:t>
            </a:r>
            <a:r>
              <a:rPr lang="en-IN" sz="2800" b="1" i="1" dirty="0"/>
              <a:t>stream cipher </a:t>
            </a:r>
            <a:r>
              <a:rPr lang="en-IN" sz="2800" dirty="0"/>
              <a:t>processes the input elements continuously</a:t>
            </a:r>
            <a:r>
              <a:rPr lang="en-IN" sz="2800" dirty="0" smtClean="0"/>
              <a:t>, producing </a:t>
            </a:r>
            <a:r>
              <a:rPr lang="en-IN" sz="2800" dirty="0"/>
              <a:t>output one element at a time, as it goes along.</a:t>
            </a: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3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The </a:t>
            </a:r>
            <a:r>
              <a:rPr lang="en-IN" sz="2800" dirty="0"/>
              <a:t>objective of attacking an encryption system is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To </a:t>
            </a:r>
            <a:r>
              <a:rPr lang="en-IN" sz="2800" dirty="0"/>
              <a:t>recover the key </a:t>
            </a:r>
            <a:r>
              <a:rPr lang="en-IN" sz="2800" dirty="0" smtClean="0"/>
              <a:t>in use </a:t>
            </a:r>
            <a:r>
              <a:rPr lang="en-IN" sz="2800" dirty="0"/>
              <a:t>rather than simply to recover the plaintext of a single </a:t>
            </a:r>
            <a:r>
              <a:rPr lang="en-IN" sz="2800" dirty="0" err="1"/>
              <a:t>ciphertext</a:t>
            </a:r>
            <a:r>
              <a:rPr lang="en-IN" sz="2800" dirty="0"/>
              <a:t>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Why?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8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There </a:t>
            </a:r>
            <a:r>
              <a:rPr lang="en-IN" sz="2800" dirty="0"/>
              <a:t>are </a:t>
            </a:r>
            <a:r>
              <a:rPr lang="en-IN" sz="2800" dirty="0" smtClean="0"/>
              <a:t>two general </a:t>
            </a:r>
            <a:r>
              <a:rPr lang="en-IN" sz="2800" dirty="0"/>
              <a:t>approaches to attacking a conventional encryption scheme: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Cryptanalysis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Brute-force attack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b="1" u="sng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6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Cryptanalysis</a:t>
            </a:r>
            <a:r>
              <a:rPr lang="en-IN" sz="2800" b="1" dirty="0"/>
              <a:t>: </a:t>
            </a:r>
            <a:endParaRPr lang="en-IN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Cryptanalytic </a:t>
            </a:r>
            <a:r>
              <a:rPr lang="en-IN" sz="2800" dirty="0"/>
              <a:t>attacks rely on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nature of the algorithm </a:t>
            </a:r>
            <a:r>
              <a:rPr lang="en-IN" sz="2800" dirty="0" smtClean="0"/>
              <a:t>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general characteristics of the plaintext </a:t>
            </a:r>
            <a:r>
              <a:rPr lang="en-IN" sz="2800" dirty="0" smtClean="0"/>
              <a:t>or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even </a:t>
            </a:r>
            <a:r>
              <a:rPr lang="en-IN" sz="2800" dirty="0"/>
              <a:t>some sample plaintext–</a:t>
            </a:r>
            <a:r>
              <a:rPr lang="en-IN" sz="2800" dirty="0" err="1"/>
              <a:t>ciphertext</a:t>
            </a:r>
            <a:r>
              <a:rPr lang="en-IN" sz="2800" dirty="0"/>
              <a:t> pairs.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This </a:t>
            </a:r>
            <a:r>
              <a:rPr lang="en-IN" sz="2800" dirty="0"/>
              <a:t>type of attack exploits </a:t>
            </a:r>
            <a:r>
              <a:rPr lang="en-IN" sz="2800" dirty="0" smtClean="0"/>
              <a:t>the characteristics </a:t>
            </a:r>
            <a:r>
              <a:rPr lang="en-IN" sz="2800" dirty="0"/>
              <a:t>of the algorithm to attempt to deduce a specific plaintext or </a:t>
            </a:r>
            <a:r>
              <a:rPr lang="en-IN" sz="2800" dirty="0" smtClean="0"/>
              <a:t>to deduce </a:t>
            </a:r>
            <a:r>
              <a:rPr lang="en-IN" sz="2800" dirty="0"/>
              <a:t>the key being used</a:t>
            </a:r>
            <a:r>
              <a:rPr lang="en-IN" sz="2800" dirty="0" smtClean="0"/>
              <a:t>.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0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83771" y="792264"/>
            <a:ext cx="107496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Brute-force </a:t>
            </a:r>
            <a:r>
              <a:rPr lang="en-IN" sz="2800" b="1" dirty="0"/>
              <a:t>attack: </a:t>
            </a:r>
            <a:endParaRPr lang="en-IN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attacker tries every possible key on a piece of </a:t>
            </a:r>
            <a:r>
              <a:rPr lang="en-IN" sz="2800" dirty="0" err="1" smtClean="0"/>
              <a:t>ciphertext</a:t>
            </a:r>
            <a:r>
              <a:rPr lang="en-IN" sz="2800" dirty="0" smtClean="0"/>
              <a:t> until </a:t>
            </a:r>
            <a:r>
              <a:rPr lang="en-IN" sz="2800" dirty="0"/>
              <a:t>an intelligible translation into plaintext is obtained.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On </a:t>
            </a:r>
            <a:r>
              <a:rPr lang="en-IN" sz="2800" dirty="0"/>
              <a:t>average, </a:t>
            </a:r>
            <a:r>
              <a:rPr lang="en-IN" sz="2800" dirty="0" smtClean="0"/>
              <a:t>half of </a:t>
            </a:r>
            <a:r>
              <a:rPr lang="en-IN" sz="2800" dirty="0"/>
              <a:t>all possible keys must be tried to achieve success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Involves trying every possible key until an intelligible translation of the </a:t>
            </a:r>
            <a:r>
              <a:rPr lang="en-IN" sz="2800" dirty="0" err="1"/>
              <a:t>ciphertext</a:t>
            </a:r>
            <a:r>
              <a:rPr lang="en-IN" sz="2800" dirty="0"/>
              <a:t> into plaintext is obtained.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On </a:t>
            </a:r>
            <a:r>
              <a:rPr lang="en-IN" sz="2800" dirty="0"/>
              <a:t>average, half of all possible keys must be tried to achieve success.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That </a:t>
            </a:r>
            <a:r>
              <a:rPr lang="en-IN" sz="2800" dirty="0"/>
              <a:t>is, if there are </a:t>
            </a:r>
            <a:r>
              <a:rPr lang="en-IN" sz="2800" i="1" dirty="0"/>
              <a:t>X </a:t>
            </a:r>
            <a:r>
              <a:rPr lang="en-IN" sz="2800" dirty="0"/>
              <a:t>different keys, on average an attacker would discover the actual key after </a:t>
            </a:r>
            <a:r>
              <a:rPr lang="en-IN" sz="2800" i="1" dirty="0"/>
              <a:t>X</a:t>
            </a:r>
            <a:r>
              <a:rPr lang="en-IN" sz="2800" dirty="0"/>
              <a:t>/2 tries</a:t>
            </a:r>
            <a:endParaRPr lang="en-IN" sz="2800" b="1" u="sng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97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either type of attack succeeds in deducing the key, the effect is catastrophic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All </a:t>
            </a:r>
            <a:r>
              <a:rPr lang="en-IN" sz="2800" dirty="0"/>
              <a:t>future and past messages encrypted with that key are compromised.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385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Cryptanalysis and Brute-Force Attack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4" y="366108"/>
            <a:ext cx="107496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Summary of the </a:t>
            </a:r>
            <a:r>
              <a:rPr lang="en-IN" sz="2800" dirty="0"/>
              <a:t>various types of </a:t>
            </a:r>
            <a:r>
              <a:rPr lang="en-IN" sz="2800" b="1" dirty="0"/>
              <a:t>cryptanalytic attacks </a:t>
            </a:r>
            <a:r>
              <a:rPr lang="en-IN" sz="2800" dirty="0"/>
              <a:t>based on the</a:t>
            </a:r>
          </a:p>
          <a:p>
            <a:r>
              <a:rPr lang="en-IN" sz="2800" dirty="0"/>
              <a:t>amount of information known to the cryptanalyst.</a:t>
            </a: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32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698" y="1254899"/>
            <a:ext cx="9759042" cy="4185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55657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15" name="Google Shape;315;g189282b19f6_0_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Cryptanalysis 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-457200">
              <a:buSzPts val="1100"/>
            </a:pPr>
            <a:r>
              <a:rPr lang="en-US" dirty="0"/>
              <a:t>Cryptanalysis is the study and process of analyzing and decrypting ciphers, codes, and encrypted text without using the real key. </a:t>
            </a:r>
          </a:p>
          <a:p>
            <a:pPr indent="-457200">
              <a:buSzPts val="1100"/>
            </a:pPr>
            <a:r>
              <a:rPr lang="en-US" dirty="0"/>
              <a:t>Alternately, we can say it’s the technique of accessing a communication’s plain text content when you don’t have access to the decryption key.</a:t>
            </a:r>
          </a:p>
          <a:p>
            <a:pPr indent="-457200">
              <a:buSzPts val="1100"/>
            </a:pPr>
            <a:endParaRPr lang="en-US" dirty="0"/>
          </a:p>
          <a:p>
            <a:pPr indent="-457200">
              <a:buSzPts val="1100"/>
            </a:pPr>
            <a:r>
              <a:rPr lang="en-US" dirty="0"/>
              <a:t>Put simply, </a:t>
            </a:r>
            <a:r>
              <a:rPr lang="en-US" u="sng" dirty="0"/>
              <a:t>cryptanalysis is the practice, science, or art of decrypting encrypted messages.</a:t>
            </a:r>
          </a:p>
          <a:p>
            <a:pPr marL="0" lvl="0" indent="0">
              <a:buSzPts val="1100"/>
              <a:buNone/>
            </a:pP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445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89282b19f6_0_13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Cryptanalysis </a:t>
            </a:r>
            <a:endParaRPr/>
          </a:p>
        </p:txBody>
      </p:sp>
      <p:sp>
        <p:nvSpPr>
          <p:cNvPr id="323" name="Google Shape;323;g189282b19f6_0_13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Cryptanalysis experts study ciphers, cryptosystems, and ciphertext to understand their functions. 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Then, they use that knowledge to find or improve techniques to weaken or defeat them. 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Cryptographer : one who writes encryption code used in cybersecurity, 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Cryptoanalyst : one who tries to crack those encryption codes. </a:t>
            </a:r>
            <a:endParaRPr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Two opposing sides of the cybersecurity coin, locked in conflict, trying to one-up the other, constantly inventing new measures and countermeasures.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558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9282b19f6_0_19"/>
          <p:cNvSpPr txBox="1">
            <a:spLocks noGrp="1"/>
          </p:cNvSpPr>
          <p:nvPr>
            <p:ph type="title"/>
          </p:nvPr>
        </p:nvSpPr>
        <p:spPr>
          <a:xfrm>
            <a:off x="1067992" y="-100868"/>
            <a:ext cx="9870400" cy="64515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dirty="0" smtClean="0">
                <a:highlight>
                  <a:srgbClr val="FFFFFF"/>
                </a:highlight>
                <a:latin typeface="Marcellus" panose="020B0604020202020204" charset="0"/>
                <a:ea typeface="Roboto"/>
                <a:cs typeface="Roboto"/>
                <a:sym typeface="Roboto"/>
              </a:rPr>
              <a:t>Who Uses Cryptanalysis?</a:t>
            </a:r>
            <a:endParaRPr sz="6000" dirty="0">
              <a:latin typeface="Marcellus" panose="020B0604020202020204" charset="0"/>
            </a:endParaRPr>
          </a:p>
        </p:txBody>
      </p:sp>
      <p:sp>
        <p:nvSpPr>
          <p:cNvPr id="330" name="Google Shape;330;g189282b19f6_0_19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Hackers use cryptanalysis. 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Would-be hackers use cryptanalysis to root out cryptosystem vulnerabilities rather than a brute force attack. 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Governments use cryptanalysis to decipher the encrypted messages of other nations. 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Companies specializing in cybersecurity products and services use cryptanalysis to test their security features. 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Even the world of academia gets in on the action, with researchers and academicians looking for weaknesses in cryptographic algorithms and protocols.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•"/>
            </a:pP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Black-hat hackers use it to commit cybercrimes, and white-hat hackers use it to conduct </a:t>
            </a:r>
            <a:r>
              <a:rPr lang="en-US" sz="2400" dirty="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3"/>
              </a:rPr>
              <a:t>penetration testing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as directed by organizations that hire them to test their security.</a:t>
            </a:r>
            <a:endParaRPr sz="3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694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9282c1ec0_0_0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sz="2644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Cryptanalysis Attacks and Techniques</a:t>
            </a:r>
            <a:endParaRPr/>
          </a:p>
        </p:txBody>
      </p:sp>
      <p:sp>
        <p:nvSpPr>
          <p:cNvPr id="337" name="Google Shape;337;g189282c1ec0_0_0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25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</a:pPr>
            <a:r>
              <a:rPr lang="en-US" sz="2300" dirty="0" smtClean="0">
                <a:highlight>
                  <a:srgbClr val="FFFFFF"/>
                </a:highlight>
              </a:rPr>
              <a:t>1. </a:t>
            </a:r>
            <a:r>
              <a:rPr lang="en-US" sz="2300" dirty="0" err="1" smtClean="0">
                <a:highlight>
                  <a:srgbClr val="FFFFFF"/>
                </a:highlight>
              </a:rPr>
              <a:t>Ciphertext</a:t>
            </a:r>
            <a:r>
              <a:rPr lang="en-US" sz="2300" dirty="0" smtClean="0">
                <a:highlight>
                  <a:srgbClr val="FFFFFF"/>
                </a:highlight>
              </a:rPr>
              <a:t>-Only </a:t>
            </a:r>
            <a:r>
              <a:rPr lang="en-US" sz="2300" dirty="0">
                <a:highlight>
                  <a:srgbClr val="FFFFFF"/>
                </a:highlight>
              </a:rPr>
              <a:t>Attack </a:t>
            </a:r>
            <a:endParaRPr sz="2300" dirty="0"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dirty="0">
                <a:solidFill>
                  <a:srgbClr val="51565E"/>
                </a:solidFill>
                <a:highlight>
                  <a:srgbClr val="FFFFFF"/>
                </a:highlight>
              </a:rPr>
              <a:t>The  attacker only has access to :</a:t>
            </a:r>
            <a:endParaRPr sz="23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o"/>
            </a:pPr>
            <a:r>
              <a:rPr lang="en-US" sz="2300" dirty="0">
                <a:solidFill>
                  <a:srgbClr val="51565E"/>
                </a:solidFill>
                <a:highlight>
                  <a:srgbClr val="FFFFFF"/>
                </a:highlight>
              </a:rPr>
              <a:t>at least one encrypted message </a:t>
            </a:r>
            <a:endParaRPr sz="23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o"/>
            </a:pPr>
            <a:r>
              <a:rPr lang="en-US" sz="2300" dirty="0">
                <a:solidFill>
                  <a:srgbClr val="51565E"/>
                </a:solidFill>
                <a:highlight>
                  <a:srgbClr val="FFFFFF"/>
                </a:highlight>
              </a:rPr>
              <a:t>but does not know the plaintext data, any cryptographic key data used, or the encryption algorithm being employed. </a:t>
            </a:r>
            <a:endParaRPr sz="23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o"/>
            </a:pPr>
            <a:r>
              <a:rPr lang="en-US" sz="2300" dirty="0">
                <a:solidFill>
                  <a:srgbClr val="51565E"/>
                </a:solidFill>
                <a:highlight>
                  <a:srgbClr val="FFFFFF"/>
                </a:highlight>
              </a:rPr>
              <a:t>Intelligence agencies often face this challenge when they've intercepted encrypted communications from a target. </a:t>
            </a:r>
            <a:endParaRPr sz="23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74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o"/>
            </a:pPr>
            <a:r>
              <a:rPr lang="en-US" sz="2300" dirty="0">
                <a:solidFill>
                  <a:srgbClr val="51565E"/>
                </a:solidFill>
                <a:highlight>
                  <a:srgbClr val="FFFFFF"/>
                </a:highlight>
              </a:rPr>
              <a:t>However, this is a formidable attack to pull off, thanks to the lack of target data.</a:t>
            </a:r>
            <a:endParaRPr sz="23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630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Ciphertext</a:t>
            </a:r>
            <a:r>
              <a:rPr lang="en-IN" dirty="0"/>
              <a:t>-Only Attack (</a:t>
            </a:r>
            <a:r>
              <a:rPr lang="en-IN" dirty="0" smtClean="0"/>
              <a:t>COA)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Problem:  </a:t>
            </a:r>
            <a:r>
              <a:rPr lang="en-IN" dirty="0" smtClean="0"/>
              <a:t>cryptanalyze</a:t>
            </a:r>
            <a:r>
              <a:rPr lang="en-IN" b="1" dirty="0" smtClean="0"/>
              <a:t> </a:t>
            </a:r>
            <a:r>
              <a:rPr lang="en-IN" dirty="0" smtClean="0"/>
              <a:t>: </a:t>
            </a:r>
            <a:r>
              <a:rPr lang="en-IN" b="1" dirty="0"/>
              <a:t>"DQG D FKLOG UHQWLQJ."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Assume the cipher is a </a:t>
            </a:r>
            <a:r>
              <a:rPr lang="en-IN" dirty="0" err="1" smtClean="0"/>
              <a:t>Monoalphabetic</a:t>
            </a:r>
            <a:r>
              <a:rPr lang="en-IN" dirty="0" smtClean="0"/>
              <a:t> substitution cipher</a:t>
            </a:r>
            <a:r>
              <a:rPr lang="en-IN" dirty="0"/>
              <a:t>. Decrypt the message.</a:t>
            </a:r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/>
              <a:t>Since only the </a:t>
            </a:r>
            <a:r>
              <a:rPr lang="en-IN" dirty="0" err="1"/>
              <a:t>ciphertext</a:t>
            </a:r>
            <a:r>
              <a:rPr lang="en-IN" dirty="0"/>
              <a:t> is given, try all possible </a:t>
            </a:r>
            <a:r>
              <a:rPr lang="en-IN" dirty="0" smtClean="0"/>
              <a:t>cipher </a:t>
            </a:r>
            <a:r>
              <a:rPr lang="en-IN" dirty="0"/>
              <a:t>shifts (brute force).</a:t>
            </a:r>
          </a:p>
          <a:p>
            <a:r>
              <a:rPr lang="en-IN" dirty="0"/>
              <a:t>Shifting letters by 3 (common Caesar cipher key):</a:t>
            </a:r>
          </a:p>
          <a:p>
            <a:pPr lvl="1"/>
            <a:r>
              <a:rPr lang="en-IN" dirty="0"/>
              <a:t>'D' → 'A', 'Q' → 'N', 'G' → 'D', etc.</a:t>
            </a:r>
          </a:p>
          <a:p>
            <a:r>
              <a:rPr lang="en-IN" dirty="0"/>
              <a:t>Decrypted text: </a:t>
            </a:r>
            <a:r>
              <a:rPr lang="en-IN" b="1" dirty="0"/>
              <a:t>"AND A CHILD RENTING."</a:t>
            </a:r>
            <a:endParaRPr lang="en-IN" dirty="0"/>
          </a:p>
          <a:p>
            <a:r>
              <a:rPr lang="en-IN" dirty="0"/>
              <a:t>Success with a shift of 3.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4027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89282c1ec0_0_9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sz="2644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Cryptanalysis Attacks and Techniques</a:t>
            </a:r>
            <a:endParaRPr/>
          </a:p>
        </p:txBody>
      </p:sp>
      <p:sp>
        <p:nvSpPr>
          <p:cNvPr id="344" name="Google Shape;344;g189282c1ec0_0_9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10795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900"/>
              <a:buNone/>
            </a:pPr>
            <a:r>
              <a:rPr lang="en-US" sz="1900" dirty="0" smtClean="0">
                <a:highlight>
                  <a:srgbClr val="FFFFFF"/>
                </a:highlight>
              </a:rPr>
              <a:t>2. </a:t>
            </a:r>
            <a:r>
              <a:rPr lang="en-US" sz="2400" dirty="0" smtClean="0">
                <a:highlight>
                  <a:srgbClr val="FFFFFF"/>
                </a:highlight>
              </a:rPr>
              <a:t>Known </a:t>
            </a:r>
            <a:r>
              <a:rPr lang="en-US" sz="2400" dirty="0">
                <a:highlight>
                  <a:srgbClr val="FFFFFF"/>
                </a:highlight>
              </a:rPr>
              <a:t>Plaintext Attack</a:t>
            </a:r>
            <a:endParaRPr sz="2400" dirty="0">
              <a:highlight>
                <a:srgbClr val="FFFFFF"/>
              </a:highlight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This attack is easier to implement, compared to the </a:t>
            </a:r>
            <a:r>
              <a:rPr lang="en-US" dirty="0" err="1">
                <a:solidFill>
                  <a:srgbClr val="51565E"/>
                </a:solidFill>
                <a:highlight>
                  <a:srgbClr val="FFFFFF"/>
                </a:highlight>
              </a:rPr>
              <a:t>ciphertext</a:t>
            </a: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-only attack.</a:t>
            </a:r>
            <a:endParaRPr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analyst most likely has access to some or all the </a:t>
            </a:r>
            <a:r>
              <a:rPr lang="en-US" dirty="0" err="1">
                <a:solidFill>
                  <a:srgbClr val="51565E"/>
                </a:solidFill>
                <a:highlight>
                  <a:srgbClr val="FFFFFF"/>
                </a:highlight>
              </a:rPr>
              <a:t>ciphertext’s</a:t>
            </a: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 plaintext. </a:t>
            </a:r>
            <a:endParaRPr lang="en-US" dirty="0" smtClean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lvl="2" indent="-349250">
              <a:lnSpc>
                <a:spcPct val="115000"/>
              </a:lnSpc>
              <a:spcBef>
                <a:spcPts val="0"/>
              </a:spcBef>
              <a:buSzPts val="1900"/>
              <a:buFont typeface="Calibri"/>
              <a:buChar char="o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E.g. Hello in beginning or Regards in the end of message</a:t>
            </a: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</a:pPr>
            <a:r>
              <a:rPr lang="en-US" dirty="0" smtClean="0">
                <a:solidFill>
                  <a:srgbClr val="51565E"/>
                </a:solidFill>
                <a:highlight>
                  <a:srgbClr val="FFFFFF"/>
                </a:highlight>
              </a:rPr>
              <a:t>The </a:t>
            </a: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goal is to discover the key the target uses to encrypt the message and use the key to decrypt the message. </a:t>
            </a:r>
            <a:endParaRPr lang="en-US" dirty="0" smtClean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</a:pPr>
            <a:r>
              <a:rPr lang="en-US" dirty="0" smtClean="0">
                <a:solidFill>
                  <a:srgbClr val="51565E"/>
                </a:solidFill>
                <a:highlight>
                  <a:srgbClr val="FFFFFF"/>
                </a:highlight>
              </a:rPr>
              <a:t>Once </a:t>
            </a: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the key is discovered, the attacker can decrypt every message encrypted with that specific key. </a:t>
            </a:r>
            <a:endParaRPr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o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Known plaintext attacks rely on the attacker finding or guessing all or part of an encrypted message, or alternately, even the original plaintext's format.</a:t>
            </a:r>
            <a:endParaRPr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1800"/>
              </a:spcBef>
              <a:spcAft>
                <a:spcPts val="0"/>
              </a:spcAft>
              <a:buNone/>
            </a:pPr>
            <a:endParaRPr sz="29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32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Known Plaintext Attack (KPA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 smtClean="0"/>
              <a:t>Problem</a:t>
            </a:r>
            <a:r>
              <a:rPr lang="en-IN" b="1" dirty="0"/>
              <a:t>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You know the plaintext </a:t>
            </a:r>
            <a:r>
              <a:rPr lang="en-IN" b="1" dirty="0"/>
              <a:t>"HELLO"</a:t>
            </a:r>
            <a:r>
              <a:rPr lang="en-IN" dirty="0"/>
              <a:t> maps to the </a:t>
            </a:r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"KHOOR"</a:t>
            </a:r>
            <a:r>
              <a:rPr lang="en-IN" dirty="0"/>
              <a:t> using a Caesar cipher.</a:t>
            </a:r>
            <a:br>
              <a:rPr lang="en-IN" dirty="0"/>
            </a:br>
            <a:r>
              <a:rPr lang="en-IN" dirty="0"/>
              <a:t>Decrypt </a:t>
            </a:r>
            <a:r>
              <a:rPr lang="en-IN" b="1" dirty="0"/>
              <a:t>"ZRUOG."</a:t>
            </a:r>
            <a:endParaRPr lang="en-IN" dirty="0"/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/>
              <a:t>Calculate the shift:</a:t>
            </a:r>
          </a:p>
          <a:p>
            <a:pPr lvl="1"/>
            <a:r>
              <a:rPr lang="en-IN" dirty="0"/>
              <a:t>'H' → 'K' (shift of 3).</a:t>
            </a:r>
          </a:p>
          <a:p>
            <a:r>
              <a:rPr lang="en-IN" dirty="0"/>
              <a:t>Use this shift to decrypt </a:t>
            </a:r>
            <a:r>
              <a:rPr lang="en-IN" b="1" dirty="0"/>
              <a:t>"ZRUOG"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Z → W, R → O, U → R, L → I, G → D.</a:t>
            </a:r>
          </a:p>
          <a:p>
            <a:r>
              <a:rPr lang="en-IN" dirty="0"/>
              <a:t>Decrypted text: </a:t>
            </a:r>
            <a:r>
              <a:rPr lang="en-IN" b="1" dirty="0"/>
              <a:t>"WORLD."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926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Known Plaintext Attack (KPA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Problem: </a:t>
            </a:r>
            <a:r>
              <a:rPr lang="en-IN" dirty="0" smtClean="0"/>
              <a:t>You </a:t>
            </a:r>
            <a:r>
              <a:rPr lang="en-IN" dirty="0"/>
              <a:t>know the plaintext </a:t>
            </a:r>
            <a:r>
              <a:rPr lang="en-IN" b="1" dirty="0"/>
              <a:t>"ATTACK"</a:t>
            </a:r>
            <a:r>
              <a:rPr lang="en-IN" dirty="0"/>
              <a:t> maps to </a:t>
            </a:r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"DWWDFN"</a:t>
            </a:r>
            <a:r>
              <a:rPr lang="en-IN" dirty="0"/>
              <a:t> using a </a:t>
            </a:r>
            <a:r>
              <a:rPr lang="en-IN" dirty="0" smtClean="0"/>
              <a:t>substitution cipher</a:t>
            </a:r>
            <a:r>
              <a:rPr lang="en-IN" dirty="0"/>
              <a:t>. Decrypt </a:t>
            </a:r>
            <a:r>
              <a:rPr lang="en-IN" b="1" dirty="0"/>
              <a:t>"FDWDWDFNHUV."</a:t>
            </a:r>
            <a:endParaRPr lang="en-IN" dirty="0"/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/>
              <a:t>Determine the shift:</a:t>
            </a:r>
          </a:p>
          <a:p>
            <a:pPr lvl="1"/>
            <a:r>
              <a:rPr lang="en-IN" dirty="0"/>
              <a:t>A → D (shift of 3).</a:t>
            </a:r>
          </a:p>
          <a:p>
            <a:r>
              <a:rPr lang="en-IN" dirty="0"/>
              <a:t>Decrypt </a:t>
            </a:r>
            <a:r>
              <a:rPr lang="en-IN" b="1" dirty="0"/>
              <a:t>"FDWWDFNHUV"</a:t>
            </a:r>
            <a:r>
              <a:rPr lang="en-IN" dirty="0"/>
              <a:t> by reversing the shift:</a:t>
            </a:r>
          </a:p>
          <a:p>
            <a:pPr lvl="1"/>
            <a:r>
              <a:rPr lang="en-IN" dirty="0"/>
              <a:t>F → C, D → A, W → T, etc.</a:t>
            </a:r>
          </a:p>
          <a:p>
            <a:r>
              <a:rPr lang="en-IN" dirty="0"/>
              <a:t>Decrypted text: </a:t>
            </a:r>
            <a:r>
              <a:rPr lang="en-IN" b="1" dirty="0"/>
              <a:t>"CAT ATTACKERS."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0887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89282c1ec0_0_16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sz="2644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Cryptanalysis Attacks and Techniques</a:t>
            </a:r>
            <a:endParaRPr/>
          </a:p>
        </p:txBody>
      </p:sp>
      <p:sp>
        <p:nvSpPr>
          <p:cNvPr id="351" name="Google Shape;351;g189282c1ec0_0_16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smtClean="0">
                <a:highlight>
                  <a:srgbClr val="FFFFFF"/>
                </a:highlight>
              </a:rPr>
              <a:t>3. C</a:t>
            </a:r>
            <a:r>
              <a:rPr lang="en-US" dirty="0" smtClean="0">
                <a:highlight>
                  <a:srgbClr val="FFFFFF"/>
                </a:highlight>
              </a:rPr>
              <a:t>hosen </a:t>
            </a:r>
            <a:r>
              <a:rPr lang="en-US" dirty="0">
                <a:highlight>
                  <a:srgbClr val="FFFFFF"/>
                </a:highlight>
              </a:rPr>
              <a:t>Plaintext Attack</a:t>
            </a:r>
            <a:endParaRPr dirty="0">
              <a:highlight>
                <a:srgbClr val="FFFFFF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Analysts using a chosen plaintext attack either already knows the encryption or can use the device used for encryption. </a:t>
            </a:r>
            <a:endParaRPr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dirty="0">
                <a:solidFill>
                  <a:srgbClr val="51565E"/>
                </a:solidFill>
                <a:highlight>
                  <a:srgbClr val="FFFFFF"/>
                </a:highlight>
              </a:rPr>
              <a:t>The cryptanalyst can then encrypt the chosen plaintext using the targeted algorithm to gather information regarding the key.</a:t>
            </a:r>
            <a:endParaRPr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8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8" dirty="0">
              <a:solidFill>
                <a:srgbClr val="51565E"/>
              </a:solidFill>
              <a:highlight>
                <a:srgbClr val="FFFFFF"/>
              </a:highlight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5528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Chosen Plaintext Attack (CPA</a:t>
            </a:r>
            <a:r>
              <a:rPr lang="en-IN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Problem</a:t>
            </a:r>
            <a:r>
              <a:rPr lang="en-IN" b="1" dirty="0" smtClean="0"/>
              <a:t>: </a:t>
            </a:r>
            <a:r>
              <a:rPr lang="en-IN" dirty="0" smtClean="0"/>
              <a:t>You </a:t>
            </a:r>
            <a:r>
              <a:rPr lang="en-IN" dirty="0"/>
              <a:t>suspect a substitution </a:t>
            </a:r>
            <a:r>
              <a:rPr lang="en-IN" dirty="0" smtClean="0"/>
              <a:t>cipher, as </a:t>
            </a:r>
            <a:r>
              <a:rPr lang="en-IN" b="1" dirty="0" smtClean="0"/>
              <a:t>“CAT"</a:t>
            </a:r>
            <a:r>
              <a:rPr lang="en-IN" dirty="0" smtClean="0"/>
              <a:t> = </a:t>
            </a:r>
            <a:r>
              <a:rPr lang="en-IN" b="1" dirty="0" smtClean="0"/>
              <a:t>“FDW."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Decrypt the </a:t>
            </a:r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"LQIRUPDWLRQ"</a:t>
            </a:r>
            <a:r>
              <a:rPr lang="en-IN" dirty="0" smtClean="0"/>
              <a:t> </a:t>
            </a:r>
            <a:r>
              <a:rPr lang="en-IN" dirty="0"/>
              <a:t>using the known plaintext.</a:t>
            </a:r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/>
              <a:t>Map plaintext to </a:t>
            </a:r>
            <a:r>
              <a:rPr lang="en-IN" dirty="0" err="1"/>
              <a:t>ciphertext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</a:t>
            </a:r>
            <a:r>
              <a:rPr lang="en-IN" dirty="0" smtClean="0"/>
              <a:t> </a:t>
            </a:r>
            <a:r>
              <a:rPr lang="en-IN" dirty="0"/>
              <a:t>→ </a:t>
            </a:r>
            <a:r>
              <a:rPr lang="en-IN" dirty="0" smtClean="0"/>
              <a:t>F, A </a:t>
            </a:r>
            <a:r>
              <a:rPr lang="en-IN" dirty="0"/>
              <a:t>→ </a:t>
            </a:r>
            <a:r>
              <a:rPr lang="en-IN" dirty="0" smtClean="0"/>
              <a:t>D, T </a:t>
            </a:r>
            <a:r>
              <a:rPr lang="en-IN" dirty="0"/>
              <a:t>→ </a:t>
            </a:r>
            <a:r>
              <a:rPr lang="en-IN" dirty="0" smtClean="0"/>
              <a:t>W</a:t>
            </a:r>
            <a:endParaRPr lang="en-IN" dirty="0"/>
          </a:p>
          <a:p>
            <a:r>
              <a:rPr lang="en-IN" dirty="0"/>
              <a:t>Use the substitution mapping to decode other </a:t>
            </a:r>
            <a:r>
              <a:rPr lang="en-IN" dirty="0" err="1"/>
              <a:t>ciphertext</a:t>
            </a:r>
            <a:r>
              <a:rPr lang="en-IN" dirty="0"/>
              <a:t> messages.</a:t>
            </a:r>
          </a:p>
          <a:p>
            <a:r>
              <a:rPr lang="en-IN" dirty="0"/>
              <a:t>For </a:t>
            </a:r>
            <a:r>
              <a:rPr lang="en-IN" b="1" dirty="0" smtClean="0"/>
              <a:t>"</a:t>
            </a:r>
            <a:r>
              <a:rPr lang="en-IN" dirty="0"/>
              <a:t>LQIRUPDWLRQ</a:t>
            </a:r>
            <a:r>
              <a:rPr lang="en-IN" b="1" dirty="0" smtClean="0"/>
              <a:t>"</a:t>
            </a:r>
            <a:r>
              <a:rPr lang="en-IN" dirty="0" smtClean="0"/>
              <a:t>, </a:t>
            </a:r>
            <a:r>
              <a:rPr lang="en-IN" dirty="0"/>
              <a:t>apply the reverse mapping:</a:t>
            </a:r>
          </a:p>
          <a:p>
            <a:pPr marL="533400" lvl="1" indent="0">
              <a:buNone/>
            </a:pPr>
            <a:endParaRPr lang="en-IN" dirty="0"/>
          </a:p>
          <a:p>
            <a:r>
              <a:rPr lang="en-IN" dirty="0"/>
              <a:t>Decrypted text: </a:t>
            </a:r>
            <a:r>
              <a:rPr lang="en-IN" b="1" dirty="0" smtClean="0"/>
              <a:t>"</a:t>
            </a:r>
            <a:r>
              <a:rPr lang="en-IN" dirty="0"/>
              <a:t>INFORMATION</a:t>
            </a:r>
            <a:r>
              <a:rPr lang="en-IN" b="1" dirty="0" smtClean="0"/>
              <a:t>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276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Chosen Plaintext Attack (CPA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Problem: </a:t>
            </a:r>
            <a:r>
              <a:rPr lang="en-IN" dirty="0" smtClean="0"/>
              <a:t>You </a:t>
            </a:r>
            <a:r>
              <a:rPr lang="en-IN" dirty="0"/>
              <a:t>suspect a transposition </a:t>
            </a:r>
            <a:r>
              <a:rPr lang="en-IN" dirty="0" smtClean="0"/>
              <a:t>cipher with  </a:t>
            </a:r>
            <a:r>
              <a:rPr lang="en-IN" b="1" dirty="0"/>
              <a:t>"</a:t>
            </a:r>
            <a:r>
              <a:rPr lang="en-IN" b="1" dirty="0" smtClean="0"/>
              <a:t>HELLO" =</a:t>
            </a:r>
            <a:r>
              <a:rPr lang="en-IN" dirty="0" smtClean="0"/>
              <a:t> </a:t>
            </a:r>
            <a:r>
              <a:rPr lang="en-IN" b="1" dirty="0"/>
              <a:t>"LEHLO."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Decrypt the </a:t>
            </a:r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"LEHLO"</a:t>
            </a:r>
            <a:r>
              <a:rPr lang="en-IN" dirty="0"/>
              <a:t> using the pattern observed.</a:t>
            </a:r>
          </a:p>
          <a:p>
            <a:endParaRPr lang="en-IN" dirty="0" smtClean="0"/>
          </a:p>
          <a:p>
            <a:endParaRPr lang="en-IN" dirty="0"/>
          </a:p>
          <a:p>
            <a:r>
              <a:rPr lang="en-IN" dirty="0" smtClean="0"/>
              <a:t>Solve it..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587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Chosen Plaintext Attack (CPA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Problem: </a:t>
            </a:r>
            <a:r>
              <a:rPr lang="en-IN" dirty="0" smtClean="0"/>
              <a:t>You </a:t>
            </a:r>
            <a:r>
              <a:rPr lang="en-IN" dirty="0"/>
              <a:t>suspect a transposition </a:t>
            </a:r>
            <a:r>
              <a:rPr lang="en-IN" dirty="0" smtClean="0"/>
              <a:t>cipher with  </a:t>
            </a:r>
            <a:r>
              <a:rPr lang="en-IN" b="1" dirty="0"/>
              <a:t>"</a:t>
            </a:r>
            <a:r>
              <a:rPr lang="en-IN" b="1" dirty="0" smtClean="0"/>
              <a:t>HELLO" =</a:t>
            </a:r>
            <a:r>
              <a:rPr lang="en-IN" dirty="0" smtClean="0"/>
              <a:t> </a:t>
            </a:r>
            <a:r>
              <a:rPr lang="en-IN" b="1" dirty="0"/>
              <a:t>"LEHLO."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Decrypt the </a:t>
            </a:r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"LEHLO"</a:t>
            </a:r>
            <a:r>
              <a:rPr lang="en-IN" dirty="0"/>
              <a:t> using the pattern observed.</a:t>
            </a:r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 err="1"/>
              <a:t>Analyze</a:t>
            </a:r>
            <a:r>
              <a:rPr lang="en-IN" dirty="0"/>
              <a:t> how plaintext maps to </a:t>
            </a:r>
            <a:r>
              <a:rPr lang="en-IN" dirty="0" err="1"/>
              <a:t>ciphertext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"HELLO" → "LEHLO" (swap positions 1↔2, 4↔5).</a:t>
            </a:r>
          </a:p>
          <a:p>
            <a:r>
              <a:rPr lang="en-IN" dirty="0"/>
              <a:t>Apply the same swaps in reverse:</a:t>
            </a:r>
          </a:p>
          <a:p>
            <a:pPr lvl="1"/>
            <a:r>
              <a:rPr lang="en-IN" dirty="0" err="1"/>
              <a:t>Ciphertext</a:t>
            </a:r>
            <a:r>
              <a:rPr lang="en-IN" dirty="0"/>
              <a:t> </a:t>
            </a:r>
            <a:r>
              <a:rPr lang="en-IN" b="1" dirty="0"/>
              <a:t>"LEHLO"</a:t>
            </a:r>
            <a:r>
              <a:rPr lang="en-IN" dirty="0"/>
              <a:t> → Plaintext </a:t>
            </a:r>
            <a:r>
              <a:rPr lang="en-IN" b="1" dirty="0"/>
              <a:t>"HELLO."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5867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06e41dbfa3_0_0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sz="2644"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Cryptanalysis Attacks and Techniques</a:t>
            </a:r>
            <a:endParaRPr/>
          </a:p>
        </p:txBody>
      </p:sp>
      <p:sp>
        <p:nvSpPr>
          <p:cNvPr id="358" name="Google Shape;358;g206e41dbfa3_0_0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8" dirty="0" smtClean="0">
                <a:highlight>
                  <a:schemeClr val="lt1"/>
                </a:highlight>
              </a:rPr>
              <a:t>4. A </a:t>
            </a:r>
            <a:r>
              <a:rPr lang="en-US" sz="1908" dirty="0">
                <a:highlight>
                  <a:schemeClr val="lt1"/>
                </a:highlight>
              </a:rPr>
              <a:t>chosen-</a:t>
            </a:r>
            <a:r>
              <a:rPr lang="en-US" sz="1908" dirty="0" err="1">
                <a:highlight>
                  <a:schemeClr val="lt1"/>
                </a:highlight>
              </a:rPr>
              <a:t>ciphertext</a:t>
            </a:r>
            <a:r>
              <a:rPr lang="en-US" sz="1908" dirty="0">
                <a:highlight>
                  <a:schemeClr val="lt1"/>
                </a:highlight>
              </a:rPr>
              <a:t> attack </a:t>
            </a:r>
            <a:endParaRPr sz="1908" dirty="0"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cryptanalyst can 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analyse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any chosen 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ciphertexts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together with their corresponding plaintexts. 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the  goal is to acquire a secret key or to get as many information about the attacked system as possible.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The attacker has capability to make the victim (who obviously knows the secret key) decrypt any 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ciphertext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and send him back the result. 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By 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analysing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the chosen 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ciphertext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and the corresponding received plaintext, the intruder tries to guess the secret key which has been used by the victim.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Chosen-</a:t>
            </a:r>
            <a:r>
              <a:rPr lang="en-US" sz="1808" dirty="0" err="1">
                <a:solidFill>
                  <a:srgbClr val="51565E"/>
                </a:solidFill>
                <a:highlight>
                  <a:schemeClr val="lt1"/>
                </a:highlight>
              </a:rPr>
              <a:t>ciphertext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attacks are usually used for breaking systems with public key encryption. 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457200" lvl="0" indent="-34341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8"/>
              <a:buFont typeface="Times New Roman"/>
              <a:buChar char="•"/>
            </a:pP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For example, early versions of the 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RSA cipher</a:t>
            </a:r>
            <a:r>
              <a:rPr lang="en-US" sz="1808" dirty="0">
                <a:solidFill>
                  <a:srgbClr val="51565E"/>
                </a:solidFill>
                <a:highlight>
                  <a:schemeClr val="lt1"/>
                </a:highlight>
              </a:rPr>
              <a:t> were vulnerable to such attacks. They are used less often for attacking systems protected by symmetric ciphers. Some self-synchronizing stream ciphers have been also attacked successfully in that way.</a:t>
            </a:r>
            <a:endParaRPr sz="1808" dirty="0">
              <a:solidFill>
                <a:srgbClr val="51565E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5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Chosen </a:t>
            </a:r>
            <a:r>
              <a:rPr lang="en-IN" b="1" dirty="0" err="1"/>
              <a:t>Ciphertext</a:t>
            </a:r>
            <a:r>
              <a:rPr lang="en-IN" b="1" dirty="0"/>
              <a:t> Attack (CCA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Problem:</a:t>
            </a:r>
            <a:r>
              <a:rPr lang="en-IN" dirty="0" smtClean="0"/>
              <a:t>  </a:t>
            </a:r>
            <a:r>
              <a:rPr lang="en-IN" dirty="0"/>
              <a:t>You submit </a:t>
            </a:r>
            <a:r>
              <a:rPr lang="en-IN" b="1" dirty="0"/>
              <a:t>"KHOOR"</a:t>
            </a:r>
            <a:r>
              <a:rPr lang="en-IN" dirty="0"/>
              <a:t> (Caesar cipher) for decryption and receive </a:t>
            </a:r>
            <a:r>
              <a:rPr lang="en-IN" b="1" dirty="0"/>
              <a:t>"HELLO</a:t>
            </a:r>
            <a:r>
              <a:rPr lang="en-IN" b="1" dirty="0" smtClean="0"/>
              <a:t>.“</a:t>
            </a:r>
          </a:p>
          <a:p>
            <a:r>
              <a:rPr lang="en-IN" dirty="0" smtClean="0"/>
              <a:t>Decrypt </a:t>
            </a:r>
            <a:r>
              <a:rPr lang="en-IN" b="1" dirty="0"/>
              <a:t>"FRQJUDWXODWLRQV."</a:t>
            </a:r>
            <a:endParaRPr lang="en-IN" dirty="0"/>
          </a:p>
          <a:p>
            <a:r>
              <a:rPr lang="en-IN" b="1" dirty="0"/>
              <a:t>Solution:</a:t>
            </a:r>
            <a:endParaRPr lang="en-IN" dirty="0"/>
          </a:p>
          <a:p>
            <a:r>
              <a:rPr lang="en-IN" dirty="0"/>
              <a:t>From the given decryption, the cipher uses a Caesar shift of 3 (reverse each letter by 3).</a:t>
            </a:r>
          </a:p>
          <a:p>
            <a:r>
              <a:rPr lang="en-IN" dirty="0"/>
              <a:t>Decrypt </a:t>
            </a:r>
            <a:r>
              <a:rPr lang="en-IN" b="1" dirty="0"/>
              <a:t>"FRQJUDWXODWLRQV"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F → C, R → O, Q → N, G → D, etc.</a:t>
            </a:r>
          </a:p>
          <a:p>
            <a:r>
              <a:rPr lang="en-IN" dirty="0"/>
              <a:t>Decrypted text: </a:t>
            </a:r>
            <a:r>
              <a:rPr lang="en-IN" b="1" dirty="0"/>
              <a:t>"CONGRATULATIONS."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692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Summary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Ciphertext</a:t>
            </a:r>
            <a:r>
              <a:rPr lang="en-US" b="1" dirty="0" smtClean="0"/>
              <a:t>-only </a:t>
            </a:r>
            <a:r>
              <a:rPr lang="en-US" b="1" dirty="0"/>
              <a:t>attack:</a:t>
            </a:r>
            <a:r>
              <a:rPr lang="en-US" dirty="0"/>
              <a:t> Attacker only has access to </a:t>
            </a:r>
            <a:r>
              <a:rPr lang="en-US" dirty="0" err="1"/>
              <a:t>ciphertext</a:t>
            </a:r>
            <a:r>
              <a:rPr lang="en-US" dirty="0"/>
              <a:t>. This is the most challenging scenario.</a:t>
            </a:r>
          </a:p>
          <a:p>
            <a:r>
              <a:rPr lang="en-US" b="1" dirty="0"/>
              <a:t>Known-plaintext attack:</a:t>
            </a:r>
            <a:r>
              <a:rPr lang="en-US" dirty="0"/>
              <a:t> Attacker has access to both </a:t>
            </a:r>
            <a:r>
              <a:rPr lang="en-US" dirty="0" err="1"/>
              <a:t>ciphertext</a:t>
            </a:r>
            <a:r>
              <a:rPr lang="en-US" dirty="0"/>
              <a:t> and corresponding plaintext.</a:t>
            </a:r>
          </a:p>
          <a:p>
            <a:r>
              <a:rPr lang="en-US" b="1" dirty="0"/>
              <a:t>Chosen-plaintext attack:</a:t>
            </a:r>
            <a:r>
              <a:rPr lang="en-US" dirty="0"/>
              <a:t> Attacker can choose plaintext and obtain corresponding </a:t>
            </a:r>
            <a:r>
              <a:rPr lang="en-US" dirty="0" err="1"/>
              <a:t>ciphertext</a:t>
            </a:r>
            <a:r>
              <a:rPr lang="en-US" dirty="0"/>
              <a:t>.</a:t>
            </a:r>
          </a:p>
          <a:p>
            <a:r>
              <a:rPr lang="en-US" b="1" dirty="0"/>
              <a:t>Chosen-</a:t>
            </a:r>
            <a:r>
              <a:rPr lang="en-US" b="1" dirty="0" err="1"/>
              <a:t>ciphertext</a:t>
            </a:r>
            <a:r>
              <a:rPr lang="en-US" b="1" dirty="0"/>
              <a:t> attack:</a:t>
            </a:r>
            <a:r>
              <a:rPr lang="en-US" dirty="0"/>
              <a:t> Attacker can choose </a:t>
            </a:r>
            <a:r>
              <a:rPr lang="en-US" dirty="0" err="1"/>
              <a:t>ciphertext</a:t>
            </a:r>
            <a:r>
              <a:rPr lang="en-US" dirty="0"/>
              <a:t> and obtain corresponding </a:t>
            </a:r>
            <a:r>
              <a:rPr lang="en-US" dirty="0" smtClean="0"/>
              <a:t>plaintext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74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Cryptanalysis of Classical </a:t>
            </a:r>
            <a:r>
              <a:rPr lang="en-US" b="1" dirty="0" smtClean="0"/>
              <a:t>Ciphers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Caesar </a:t>
            </a:r>
            <a:r>
              <a:rPr lang="en-US" b="1" dirty="0"/>
              <a:t>Cipher</a:t>
            </a:r>
            <a:endParaRPr lang="en-US" dirty="0"/>
          </a:p>
          <a:p>
            <a:pPr lvl="1"/>
            <a:r>
              <a:rPr lang="en-US" b="1" dirty="0" smtClean="0"/>
              <a:t>Brute-force </a:t>
            </a:r>
            <a:r>
              <a:rPr lang="en-US" b="1" dirty="0"/>
              <a:t>attack:</a:t>
            </a:r>
            <a:r>
              <a:rPr lang="en-US" dirty="0"/>
              <a:t> </a:t>
            </a:r>
            <a:r>
              <a:rPr lang="en-US" dirty="0" smtClean="0"/>
              <a:t>try </a:t>
            </a:r>
            <a:r>
              <a:rPr lang="en-US" dirty="0"/>
              <a:t>all 25 possible key shifts. </a:t>
            </a:r>
            <a:endParaRPr lang="en-US" dirty="0" smtClean="0"/>
          </a:p>
          <a:p>
            <a:pPr lvl="1"/>
            <a:r>
              <a:rPr lang="en-US" b="1" dirty="0" smtClean="0"/>
              <a:t>Frequency analysis</a:t>
            </a:r>
          </a:p>
          <a:p>
            <a:r>
              <a:rPr lang="en-US" b="1" dirty="0"/>
              <a:t>Rail Fence Cipher</a:t>
            </a:r>
            <a:endParaRPr lang="en-US" dirty="0"/>
          </a:p>
          <a:p>
            <a:pPr lvl="1"/>
            <a:r>
              <a:rPr lang="en-US" b="1" dirty="0"/>
              <a:t>Brute-force attack:</a:t>
            </a:r>
            <a:r>
              <a:rPr lang="en-US" dirty="0"/>
              <a:t> </a:t>
            </a:r>
            <a:r>
              <a:rPr lang="en-US" dirty="0" smtClean="0"/>
              <a:t>test </a:t>
            </a:r>
            <a:r>
              <a:rPr lang="en-US" dirty="0"/>
              <a:t>different numbers of "rails" until a meaningful plaintext emerges. </a:t>
            </a:r>
          </a:p>
          <a:p>
            <a:pPr lvl="1"/>
            <a:r>
              <a:rPr lang="en-US" b="1" dirty="0"/>
              <a:t>Visual inspection:</a:t>
            </a:r>
            <a:r>
              <a:rPr lang="en-US" dirty="0"/>
              <a:t> For short </a:t>
            </a:r>
            <a:r>
              <a:rPr lang="en-US" dirty="0" err="1"/>
              <a:t>ciphertexts</a:t>
            </a:r>
            <a:r>
              <a:rPr lang="en-US" dirty="0"/>
              <a:t>, visual inspection and rearranging the characters can sometimes reveal the plaintext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493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Columnar </a:t>
            </a:r>
            <a:r>
              <a:rPr lang="en-US" b="1" dirty="0"/>
              <a:t>Transposition </a:t>
            </a:r>
            <a:r>
              <a:rPr lang="en-US" b="1" dirty="0" smtClean="0"/>
              <a:t>Cipher</a:t>
            </a:r>
          </a:p>
          <a:p>
            <a:pPr lvl="1"/>
            <a:r>
              <a:rPr lang="en-US" b="1" dirty="0" smtClean="0"/>
              <a:t>Anagramming </a:t>
            </a:r>
            <a:r>
              <a:rPr lang="en-US" b="1" dirty="0"/>
              <a:t>and Columnar Transposition:</a:t>
            </a:r>
            <a:r>
              <a:rPr lang="en-US" dirty="0"/>
              <a:t> Explain the process</a:t>
            </a:r>
            <a:r>
              <a:rPr lang="en-US" dirty="0" smtClean="0"/>
              <a:t>. </a:t>
            </a:r>
          </a:p>
          <a:p>
            <a:pPr lvl="1"/>
            <a:r>
              <a:rPr lang="en-US" b="1" dirty="0" smtClean="0"/>
              <a:t>Brute-force </a:t>
            </a:r>
            <a:r>
              <a:rPr lang="en-US" b="1" dirty="0"/>
              <a:t>attack:</a:t>
            </a:r>
            <a:r>
              <a:rPr lang="en-US" dirty="0"/>
              <a:t> Discuss brute-forcing different key lengths and permutations. Mention the increasing complexity with longer keys</a:t>
            </a:r>
            <a:r>
              <a:rPr lang="en-US" dirty="0" smtClean="0"/>
              <a:t>. </a:t>
            </a:r>
          </a:p>
          <a:p>
            <a:pPr lvl="1"/>
            <a:r>
              <a:rPr lang="en-US" b="1" dirty="0" smtClean="0"/>
              <a:t>Frequency </a:t>
            </a:r>
            <a:r>
              <a:rPr lang="en-US" b="1" dirty="0"/>
              <a:t>analysis:</a:t>
            </a:r>
            <a:r>
              <a:rPr lang="en-US" dirty="0"/>
              <a:t> </a:t>
            </a:r>
            <a:r>
              <a:rPr lang="en-US" dirty="0" smtClean="0"/>
              <a:t>digraph </a:t>
            </a:r>
            <a:r>
              <a:rPr lang="en-US" dirty="0"/>
              <a:t>and </a:t>
            </a:r>
            <a:r>
              <a:rPr lang="en-US" dirty="0" err="1"/>
              <a:t>trigraph</a:t>
            </a:r>
            <a:r>
              <a:rPr lang="en-US" dirty="0"/>
              <a:t> frequencies can aid in identifying column </a:t>
            </a:r>
            <a:r>
              <a:rPr lang="en-US" dirty="0" smtClean="0"/>
              <a:t>order</a:t>
            </a:r>
          </a:p>
          <a:p>
            <a:r>
              <a:rPr lang="en-US" b="1" dirty="0" err="1" smtClean="0"/>
              <a:t>Playfair</a:t>
            </a:r>
            <a:r>
              <a:rPr lang="en-US" b="1" dirty="0" smtClean="0"/>
              <a:t> Cipher</a:t>
            </a:r>
          </a:p>
          <a:p>
            <a:pPr lvl="1"/>
            <a:r>
              <a:rPr lang="en-US" b="1" dirty="0" smtClean="0"/>
              <a:t>Frequency </a:t>
            </a:r>
            <a:r>
              <a:rPr lang="en-US" b="1" dirty="0"/>
              <a:t>analysis:</a:t>
            </a:r>
            <a:r>
              <a:rPr lang="en-US" dirty="0"/>
              <a:t> </a:t>
            </a:r>
            <a:r>
              <a:rPr lang="en-US" dirty="0" smtClean="0"/>
              <a:t>digraph </a:t>
            </a:r>
            <a:r>
              <a:rPr lang="en-US" dirty="0"/>
              <a:t>frequencies can be used to identify common digraphs and infer the </a:t>
            </a:r>
            <a:r>
              <a:rPr lang="en-US" dirty="0" err="1"/>
              <a:t>Playfair</a:t>
            </a:r>
            <a:r>
              <a:rPr lang="en-US" dirty="0"/>
              <a:t> square structure. </a:t>
            </a:r>
            <a:endParaRPr lang="en-US" dirty="0" smtClean="0"/>
          </a:p>
          <a:p>
            <a:pPr lvl="1"/>
            <a:r>
              <a:rPr lang="en-US" b="1" dirty="0" smtClean="0"/>
              <a:t>Known-plaintext </a:t>
            </a:r>
            <a:r>
              <a:rPr lang="en-US" b="1" dirty="0"/>
              <a:t>attack:</a:t>
            </a:r>
            <a:r>
              <a:rPr lang="en-US" dirty="0"/>
              <a:t> </a:t>
            </a:r>
            <a:r>
              <a:rPr lang="en-US" dirty="0" smtClean="0"/>
              <a:t>a </a:t>
            </a:r>
            <a:r>
              <a:rPr lang="en-US" dirty="0"/>
              <a:t>small amount of plaintext-</a:t>
            </a:r>
            <a:r>
              <a:rPr lang="en-US" dirty="0" err="1"/>
              <a:t>ciphertext</a:t>
            </a:r>
            <a:r>
              <a:rPr lang="en-US" dirty="0"/>
              <a:t> pairs can be very effective in deducing the </a:t>
            </a:r>
            <a:r>
              <a:rPr lang="en-US" dirty="0" err="1"/>
              <a:t>Playfair</a:t>
            </a:r>
            <a:r>
              <a:rPr lang="en-US" dirty="0"/>
              <a:t> </a:t>
            </a:r>
            <a:r>
              <a:rPr lang="en-US" dirty="0" smtClean="0"/>
              <a:t>square.</a:t>
            </a:r>
          </a:p>
          <a:p>
            <a:pPr lvl="1"/>
            <a:r>
              <a:rPr lang="en-US" b="1" dirty="0" smtClean="0"/>
              <a:t>Brute-force </a:t>
            </a:r>
            <a:r>
              <a:rPr lang="en-US" b="1" dirty="0"/>
              <a:t>attack:</a:t>
            </a:r>
            <a:r>
              <a:rPr lang="en-US" dirty="0"/>
              <a:t> </a:t>
            </a:r>
            <a:r>
              <a:rPr lang="en-US" dirty="0" smtClean="0"/>
              <a:t>brute-forcing </a:t>
            </a:r>
            <a:r>
              <a:rPr lang="en-US" dirty="0"/>
              <a:t>a </a:t>
            </a:r>
            <a:r>
              <a:rPr lang="en-US" dirty="0" err="1"/>
              <a:t>Playfair</a:t>
            </a:r>
            <a:r>
              <a:rPr lang="en-US" dirty="0"/>
              <a:t> cipher is significantly harder compared to the previous ciphers due to the larger key space (possible arrangements of the 5x5 grid</a:t>
            </a:r>
            <a:r>
              <a:rPr lang="en-US" dirty="0" smtClean="0"/>
              <a:t>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89282c1ec0_0_23"/>
          <p:cNvSpPr txBox="1">
            <a:spLocks noGrp="1"/>
          </p:cNvSpPr>
          <p:nvPr>
            <p:ph type="title"/>
          </p:nvPr>
        </p:nvSpPr>
        <p:spPr>
          <a:xfrm>
            <a:off x="1089764" y="214817"/>
            <a:ext cx="9870400" cy="875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4800"/>
              </a:spcBef>
              <a:spcAft>
                <a:spcPts val="2400"/>
              </a:spcAft>
              <a:buNone/>
            </a:pPr>
            <a:r>
              <a:rPr lang="en-US" sz="2500">
                <a:highlight>
                  <a:srgbClr val="FFFFFF"/>
                </a:highlight>
              </a:rPr>
              <a:t>Cryptanalysis Tools</a:t>
            </a:r>
            <a:endParaRPr sz="4400"/>
          </a:p>
        </p:txBody>
      </p:sp>
      <p:sp>
        <p:nvSpPr>
          <p:cNvPr id="365" name="Google Shape;365;g189282c1ec0_0_23"/>
          <p:cNvSpPr txBox="1">
            <a:spLocks noGrp="1"/>
          </p:cNvSpPr>
          <p:nvPr>
            <p:ph type="body" idx="1"/>
          </p:nvPr>
        </p:nvSpPr>
        <p:spPr>
          <a:xfrm>
            <a:off x="933339" y="1324629"/>
            <a:ext cx="109728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477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Times New Roman"/>
              <a:buChar char="●"/>
            </a:pPr>
            <a:r>
              <a:rPr lang="en-US" sz="2400" b="1" dirty="0" err="1">
                <a:solidFill>
                  <a:srgbClr val="51565E"/>
                </a:solidFill>
                <a:highlight>
                  <a:srgbClr val="FFFFFF"/>
                </a:highlight>
              </a:rPr>
              <a:t>Cryptol</a:t>
            </a:r>
            <a:r>
              <a:rPr lang="en-US" sz="2400" b="1" dirty="0">
                <a:solidFill>
                  <a:srgbClr val="51565E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This tool is an open-source license initially designed to be used by the Nation Security Agency (NSA), the United States intelligence agency, targeting cryptographic algorithms. </a:t>
            </a:r>
            <a:r>
              <a:rPr lang="en-US" sz="2400" dirty="0" err="1">
                <a:solidFill>
                  <a:srgbClr val="51565E"/>
                </a:solidFill>
                <a:highlight>
                  <a:srgbClr val="FFFFFF"/>
                </a:highlight>
              </a:rPr>
              <a:t>Cryptol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allows users to monitor how algorithms operate in programs that specify the ciphers or algorithms.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6477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Times New Roman"/>
              <a:buChar char="●"/>
            </a:pPr>
            <a:r>
              <a:rPr lang="en-US" sz="2400" b="1" dirty="0" err="1">
                <a:solidFill>
                  <a:srgbClr val="51565E"/>
                </a:solidFill>
                <a:highlight>
                  <a:srgbClr val="FFFFFF"/>
                </a:highlight>
              </a:rPr>
              <a:t>CrypTool</a:t>
            </a:r>
            <a:r>
              <a:rPr lang="en-US" sz="2400" b="1" dirty="0">
                <a:solidFill>
                  <a:srgbClr val="51565E"/>
                </a:solidFill>
                <a:highlight>
                  <a:srgbClr val="FFFFFF"/>
                </a:highlight>
              </a:rPr>
              <a:t>: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</a:t>
            </a:r>
            <a:r>
              <a:rPr lang="en-US" sz="2400" dirty="0" err="1">
                <a:solidFill>
                  <a:srgbClr val="51565E"/>
                </a:solidFill>
                <a:highlight>
                  <a:srgbClr val="FFFFFF"/>
                </a:highlight>
              </a:rPr>
              <a:t>CrypTool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is another open-source offering that creates </a:t>
            </a:r>
            <a:r>
              <a:rPr lang="en-US" sz="2400" dirty="0" err="1">
                <a:solidFill>
                  <a:srgbClr val="51565E"/>
                </a:solidFill>
                <a:highlight>
                  <a:srgbClr val="FFFFFF"/>
                </a:highlight>
              </a:rPr>
              <a:t>elearning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programs, plus a web portal designed to help users learn about cryptographic algorithms and cryptanalysis.</a:t>
            </a:r>
            <a:endParaRPr sz="2400" dirty="0">
              <a:solidFill>
                <a:srgbClr val="51565E"/>
              </a:solidFill>
              <a:highlight>
                <a:srgbClr val="FFFFFF"/>
              </a:highlight>
            </a:endParaRPr>
          </a:p>
          <a:p>
            <a:pPr marL="6477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1565E"/>
              </a:buClr>
              <a:buSzPts val="1800"/>
              <a:buFont typeface="Times New Roman"/>
              <a:buChar char="●"/>
            </a:pPr>
            <a:r>
              <a:rPr lang="en-US" sz="2400" b="1" dirty="0" err="1">
                <a:solidFill>
                  <a:srgbClr val="51565E"/>
                </a:solidFill>
                <a:highlight>
                  <a:srgbClr val="FFFFFF"/>
                </a:highlight>
              </a:rPr>
              <a:t>Ganzua</a:t>
            </a:r>
            <a:r>
              <a:rPr lang="en-US" sz="2400" b="1" dirty="0">
                <a:solidFill>
                  <a:srgbClr val="51565E"/>
                </a:solidFill>
                <a:highlight>
                  <a:srgbClr val="FFFFFF"/>
                </a:highlight>
              </a:rPr>
              <a:t>: </a:t>
            </a:r>
            <a:r>
              <a:rPr lang="en-US" sz="2400" dirty="0" err="1">
                <a:solidFill>
                  <a:srgbClr val="51565E"/>
                </a:solidFill>
                <a:highlight>
                  <a:srgbClr val="FFFFFF"/>
                </a:highlight>
              </a:rPr>
              <a:t>Ganzua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 is the Spanish term for a skeleton key or </a:t>
            </a:r>
            <a:r>
              <a:rPr lang="en-US" sz="2400" dirty="0" err="1">
                <a:solidFill>
                  <a:srgbClr val="51565E"/>
                </a:solidFill>
                <a:highlight>
                  <a:srgbClr val="FFFFFF"/>
                </a:highlight>
              </a:rPr>
              <a:t>lockpick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. It’s an open-source, multi-platform </a:t>
            </a:r>
            <a:r>
              <a:rPr lang="en-US" sz="2400" dirty="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hlinkClick r:id="rId3"/>
              </a:rPr>
              <a:t>Java</a:t>
            </a:r>
            <a:r>
              <a:rPr lang="en-US" sz="2400" dirty="0">
                <a:solidFill>
                  <a:srgbClr val="51565E"/>
                </a:solidFill>
                <a:highlight>
                  <a:srgbClr val="FFFFFF"/>
                </a:highlight>
              </a:rPr>
              <a:t>-based tool that allows analysts to define almost totally arbitrary cipher and plain alphabets. In addition, this function will enable users to crack non-English cryptograms.</a:t>
            </a:r>
            <a:endParaRPr sz="36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92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Cryptanalysis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ciphertext</a:t>
            </a:r>
            <a:r>
              <a:rPr lang="en-US" dirty="0"/>
              <a:t> is </a:t>
            </a:r>
            <a:r>
              <a:rPr lang="en-US" b="1" dirty="0"/>
              <a:t>"BMODZBXDNABEKUDMUIXMMOUVIF"</a:t>
            </a:r>
            <a:r>
              <a:rPr lang="en-US" dirty="0"/>
              <a:t>, and you know the keyword is </a:t>
            </a:r>
            <a:r>
              <a:rPr lang="en-US" b="1" dirty="0"/>
              <a:t>"MONARCHY"</a:t>
            </a:r>
            <a:r>
              <a:rPr lang="en-US" dirty="0"/>
              <a:t>. Decrypt the message.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648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Solution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/>
              <a:t>Construct the </a:t>
            </a:r>
            <a:r>
              <a:rPr lang="en-IN" b="1" dirty="0" err="1"/>
              <a:t>Playfair</a:t>
            </a:r>
            <a:r>
              <a:rPr lang="en-IN" b="1" dirty="0"/>
              <a:t> Matrix: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Using the keyword </a:t>
            </a:r>
            <a:r>
              <a:rPr lang="en-IN" b="1" dirty="0"/>
              <a:t>"MONARCHY"</a:t>
            </a:r>
            <a:r>
              <a:rPr lang="en-IN" dirty="0"/>
              <a:t> (no repeated letters), fill a 5x5 grid:</a:t>
            </a:r>
          </a:p>
          <a:p>
            <a:pPr marL="50800" indent="0" algn="ctr">
              <a:buNone/>
            </a:pPr>
            <a:r>
              <a:rPr lang="pt-BR" b="1" dirty="0"/>
              <a:t>M O N A R  </a:t>
            </a:r>
          </a:p>
          <a:p>
            <a:pPr marL="50800" indent="0" algn="ctr">
              <a:buNone/>
            </a:pPr>
            <a:r>
              <a:rPr lang="pt-BR" b="1" dirty="0"/>
              <a:t>C H Y B D  </a:t>
            </a:r>
          </a:p>
          <a:p>
            <a:pPr marL="50800" indent="0" algn="ctr">
              <a:buNone/>
            </a:pPr>
            <a:r>
              <a:rPr lang="pt-BR" b="1" dirty="0"/>
              <a:t>E F G I K  </a:t>
            </a:r>
          </a:p>
          <a:p>
            <a:pPr marL="50800" indent="0" algn="ctr">
              <a:buNone/>
            </a:pPr>
            <a:r>
              <a:rPr lang="pt-BR" b="1" dirty="0"/>
              <a:t>L P Q S T  </a:t>
            </a:r>
          </a:p>
          <a:p>
            <a:pPr marL="50800" indent="0" algn="ctr">
              <a:buNone/>
            </a:pPr>
            <a:r>
              <a:rPr lang="pt-BR" b="1" dirty="0"/>
              <a:t>U V W X Z </a:t>
            </a:r>
            <a:endParaRPr lang="en-IN" b="1" dirty="0" smtClean="0"/>
          </a:p>
          <a:p>
            <a:r>
              <a:rPr lang="en-IN" b="1" dirty="0" smtClean="0"/>
              <a:t>Decrypt </a:t>
            </a:r>
            <a:r>
              <a:rPr lang="en-IN" b="1" dirty="0"/>
              <a:t>Digraphs: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Ciphertext</a:t>
            </a:r>
            <a:r>
              <a:rPr lang="en-IN" dirty="0"/>
              <a:t> digraphs are </a:t>
            </a:r>
            <a:r>
              <a:rPr lang="en-IN" b="1" dirty="0"/>
              <a:t>BM, OD, ZB, XD, NA, BE, KU, DM, UI, XM, MO, UV, IF</a:t>
            </a:r>
            <a:r>
              <a:rPr lang="en-IN" dirty="0"/>
              <a:t>.</a:t>
            </a:r>
          </a:p>
          <a:p>
            <a:r>
              <a:rPr lang="en-IN" dirty="0"/>
              <a:t>For each pair, locate letters in the grid:</a:t>
            </a:r>
          </a:p>
          <a:p>
            <a:pPr lvl="1"/>
            <a:r>
              <a:rPr lang="en-IN" b="1" dirty="0"/>
              <a:t>BM</a:t>
            </a:r>
            <a:r>
              <a:rPr lang="en-IN" dirty="0"/>
              <a:t>: 'B' (row 2, col 4) and 'M' (row 1, col 1). They form a rectangle. Swap columns: </a:t>
            </a:r>
            <a:r>
              <a:rPr lang="en-IN" b="1" dirty="0"/>
              <a:t>AN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OD</a:t>
            </a:r>
            <a:r>
              <a:rPr lang="en-IN" dirty="0"/>
              <a:t>: 'O' (row 1, col 2) and 'D' (row 2, col 5). Rectangle swap: </a:t>
            </a:r>
            <a:r>
              <a:rPr lang="en-IN" b="1" dirty="0"/>
              <a:t>RY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Continue for all pairs.</a:t>
            </a:r>
          </a:p>
          <a:p>
            <a:r>
              <a:rPr lang="en-IN" b="1" dirty="0"/>
              <a:t>Final Decrypted Text:</a:t>
            </a:r>
            <a:r>
              <a:rPr lang="en-IN" dirty="0"/>
              <a:t/>
            </a:r>
            <a:br>
              <a:rPr lang="en-IN" dirty="0"/>
            </a:br>
            <a:r>
              <a:rPr lang="en-IN" dirty="0"/>
              <a:t>Result: </a:t>
            </a:r>
            <a:r>
              <a:rPr lang="en-IN" b="1" dirty="0"/>
              <a:t>"AN INSTRUCTION IS IMPORTANT."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979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/>
              <a:t>Cihertext</a:t>
            </a:r>
            <a:r>
              <a:rPr lang="en-US" b="1" dirty="0" smtClean="0"/>
              <a:t>-Only </a:t>
            </a:r>
            <a:r>
              <a:rPr lang="en-US" b="1" dirty="0"/>
              <a:t>Attack</a:t>
            </a:r>
            <a:br>
              <a:rPr lang="en-US" b="1" dirty="0"/>
            </a:b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Problem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err="1"/>
              <a:t>ciphertext</a:t>
            </a:r>
            <a:r>
              <a:rPr lang="en-US" dirty="0"/>
              <a:t> is </a:t>
            </a:r>
            <a:r>
              <a:rPr lang="en-US" b="1" dirty="0"/>
              <a:t>"WECRLTEERDSOEEFEAOCAIVDEN"</a:t>
            </a:r>
            <a:r>
              <a:rPr lang="en-US" dirty="0"/>
              <a:t>. The number of rails is unknown. Decrypt the message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917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Test Different Rails: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Use trial and error to reconstruct plaintext by arranging the </a:t>
            </a:r>
            <a:r>
              <a:rPr lang="en-US" dirty="0" err="1"/>
              <a:t>ciphertext</a:t>
            </a:r>
            <a:r>
              <a:rPr lang="en-US" dirty="0"/>
              <a:t> in a zig-zag pattern</a:t>
            </a:r>
            <a:r>
              <a:rPr lang="en-US" dirty="0" smtClean="0"/>
              <a:t>.</a:t>
            </a:r>
          </a:p>
          <a:p>
            <a:pPr marL="50800" indent="0" algn="ctr">
              <a:buNone/>
            </a:pPr>
            <a:r>
              <a:rPr lang="pt-BR" dirty="0"/>
              <a:t>W . . . E . . . C . . . R . . . L  </a:t>
            </a:r>
          </a:p>
          <a:p>
            <a:pPr marL="50800" indent="0" algn="ctr">
              <a:buNone/>
            </a:pPr>
            <a:r>
              <a:rPr lang="pt-BR" dirty="0"/>
              <a:t>. E . R . D . S . E . E . F . A .  </a:t>
            </a:r>
          </a:p>
          <a:p>
            <a:pPr marL="50800" indent="0" algn="ctr">
              <a:buNone/>
            </a:pPr>
            <a:r>
              <a:rPr lang="pt-BR" dirty="0"/>
              <a:t>. . O . . . C . . . A . . . I . V </a:t>
            </a:r>
            <a:endParaRPr lang="pt-BR" dirty="0" smtClean="0"/>
          </a:p>
          <a:p>
            <a:r>
              <a:rPr lang="en-US" dirty="0"/>
              <a:t>Read horizontally: </a:t>
            </a:r>
            <a:r>
              <a:rPr lang="en-US" b="1" dirty="0"/>
              <a:t>"WEAREDISCOVEREDFLEEATONCE"</a:t>
            </a:r>
            <a:endParaRPr lang="en-US" dirty="0"/>
          </a:p>
          <a:p>
            <a:r>
              <a:rPr lang="en-US" dirty="0"/>
              <a:t>Final Plaintext: </a:t>
            </a:r>
            <a:r>
              <a:rPr lang="en-US" b="1" dirty="0"/>
              <a:t>"WE ARE DISCOVERED FLEE AT ONCE."</a:t>
            </a:r>
            <a:endParaRPr lang="en-US" dirty="0"/>
          </a:p>
          <a:p>
            <a:pPr marL="508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05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Columnar Transposition Cipher </a:t>
            </a:r>
            <a:r>
              <a:rPr lang="en-US" b="1" dirty="0" smtClean="0"/>
              <a:t>Cryptanalysis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Problem: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Ciphertext</a:t>
            </a:r>
            <a:r>
              <a:rPr lang="en-US" dirty="0"/>
              <a:t>: </a:t>
            </a:r>
            <a:r>
              <a:rPr lang="en-US" b="1" dirty="0"/>
              <a:t>"HWEOLRLLDO"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Key: </a:t>
            </a:r>
            <a:r>
              <a:rPr lang="en-US" b="1" dirty="0"/>
              <a:t>"</a:t>
            </a:r>
            <a:r>
              <a:rPr lang="en-US" b="1" dirty="0" smtClean="0"/>
              <a:t>312“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873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IN" smtClean="0"/>
              <a:t>Ms. Swati Mali</a:t>
            </a:r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 smtClean="0"/>
              <a:t>Solution: </a:t>
            </a:r>
          </a:p>
          <a:p>
            <a:r>
              <a:rPr lang="en-US" dirty="0" smtClean="0"/>
              <a:t>Arrange </a:t>
            </a:r>
            <a:r>
              <a:rPr lang="en-US" dirty="0" err="1"/>
              <a:t>Ciphertext</a:t>
            </a:r>
            <a:r>
              <a:rPr lang="en-US" dirty="0"/>
              <a:t> in Columns Based on Key:</a:t>
            </a:r>
            <a:br>
              <a:rPr lang="en-US" dirty="0"/>
            </a:br>
            <a:r>
              <a:rPr lang="en-US" dirty="0"/>
              <a:t>Key: </a:t>
            </a:r>
            <a:r>
              <a:rPr lang="en-US" b="1" dirty="0"/>
              <a:t>3 1 </a:t>
            </a:r>
            <a:r>
              <a:rPr lang="en-US" b="1" dirty="0" smtClean="0"/>
              <a:t>2</a:t>
            </a:r>
          </a:p>
          <a:p>
            <a:pPr marL="50800" indent="0" algn="ctr">
              <a:buNone/>
            </a:pPr>
            <a:r>
              <a:rPr lang="pt-BR" dirty="0"/>
              <a:t>3 | 1 | 2  </a:t>
            </a:r>
          </a:p>
          <a:p>
            <a:pPr marL="50800" indent="0" algn="ctr">
              <a:buNone/>
            </a:pPr>
            <a:r>
              <a:rPr lang="pt-BR" dirty="0"/>
              <a:t>---------  </a:t>
            </a:r>
          </a:p>
          <a:p>
            <a:pPr marL="50800" indent="0" algn="ctr">
              <a:buNone/>
            </a:pPr>
            <a:r>
              <a:rPr lang="pt-BR" dirty="0"/>
              <a:t>W | H | E  </a:t>
            </a:r>
          </a:p>
          <a:p>
            <a:pPr marL="50800" indent="0" algn="ctr">
              <a:buNone/>
            </a:pPr>
            <a:r>
              <a:rPr lang="pt-BR" dirty="0"/>
              <a:t>O | L | L  </a:t>
            </a:r>
          </a:p>
          <a:p>
            <a:pPr marL="50800" indent="0" algn="ctr">
              <a:buNone/>
            </a:pPr>
            <a:r>
              <a:rPr lang="pt-BR" dirty="0"/>
              <a:t>D | O | R </a:t>
            </a:r>
            <a:endParaRPr lang="pt-BR" dirty="0" smtClean="0"/>
          </a:p>
          <a:p>
            <a:r>
              <a:rPr lang="en-US" dirty="0"/>
              <a:t>Rearrange Columns by Key Order:</a:t>
            </a:r>
            <a:br>
              <a:rPr lang="en-US" dirty="0"/>
            </a:br>
            <a:r>
              <a:rPr lang="en-US" dirty="0"/>
              <a:t>Key Order: </a:t>
            </a:r>
            <a:r>
              <a:rPr lang="en-US" b="1" dirty="0"/>
              <a:t>1 2 </a:t>
            </a:r>
            <a:r>
              <a:rPr lang="en-US" b="1" dirty="0" smtClean="0"/>
              <a:t>3</a:t>
            </a:r>
          </a:p>
          <a:p>
            <a:pPr marL="50800" indent="0" algn="ctr">
              <a:buNone/>
            </a:pPr>
            <a:r>
              <a:rPr lang="pt-BR" b="1" dirty="0"/>
              <a:t>H E W  </a:t>
            </a:r>
          </a:p>
          <a:p>
            <a:pPr marL="50800" indent="0" algn="ctr">
              <a:buNone/>
            </a:pPr>
            <a:r>
              <a:rPr lang="pt-BR" b="1" dirty="0"/>
              <a:t>L L O  </a:t>
            </a:r>
          </a:p>
          <a:p>
            <a:pPr marL="50800" indent="0" algn="ctr">
              <a:buNone/>
            </a:pPr>
            <a:r>
              <a:rPr lang="pt-BR" b="1" dirty="0"/>
              <a:t>O R D </a:t>
            </a:r>
            <a:endParaRPr lang="pt-BR" b="1" dirty="0" smtClean="0"/>
          </a:p>
          <a:p>
            <a:r>
              <a:rPr lang="en-US" b="1" dirty="0"/>
              <a:t>Read Row by Row: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Plaintext: </a:t>
            </a:r>
            <a:r>
              <a:rPr lang="en-US" b="1" dirty="0"/>
              <a:t>"HELLO WORLD."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8080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Asymmetric cryptography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1456292"/>
            <a:ext cx="107496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Public-key </a:t>
            </a:r>
            <a:r>
              <a:rPr lang="en-IN" sz="2800" dirty="0" smtClean="0"/>
              <a:t>cryptography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Asymmetric </a:t>
            </a:r>
            <a:r>
              <a:rPr lang="en-IN" sz="2800" dirty="0"/>
              <a:t>cryptography,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 </a:t>
            </a:r>
            <a:r>
              <a:rPr lang="en-IN" sz="2800" dirty="0"/>
              <a:t>cryptographic system that uses pairs of </a:t>
            </a:r>
            <a:r>
              <a:rPr lang="en-IN" sz="2800" dirty="0" smtClean="0"/>
              <a:t>keys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Public </a:t>
            </a:r>
            <a:r>
              <a:rPr lang="en-IN" sz="2800" dirty="0"/>
              <a:t>keys (which may be known to others),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Private </a:t>
            </a:r>
            <a:r>
              <a:rPr lang="en-IN" sz="2800" dirty="0"/>
              <a:t>keys (which may never be known by any except the owner). </a:t>
            </a: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5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Asymmetric cryptography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58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87" y="540203"/>
            <a:ext cx="11348357" cy="4672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236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Asymmetric cryptography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852135"/>
            <a:ext cx="748393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The essential steps are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Each </a:t>
            </a:r>
            <a:r>
              <a:rPr lang="en-IN" sz="2800" dirty="0"/>
              <a:t>user generates a pair of keys to be used for the encryption and </a:t>
            </a:r>
            <a:r>
              <a:rPr lang="en-IN" sz="2800" dirty="0" smtClean="0"/>
              <a:t>decryption of </a:t>
            </a:r>
            <a:r>
              <a:rPr lang="en-IN" sz="2800" dirty="0"/>
              <a:t>messages.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Each </a:t>
            </a:r>
            <a:r>
              <a:rPr lang="en-IN" sz="2800" dirty="0"/>
              <a:t>user places one of the two keys in a public register or other </a:t>
            </a:r>
            <a:r>
              <a:rPr lang="en-IN" sz="2800" dirty="0" smtClean="0"/>
              <a:t>accessible file</a:t>
            </a:r>
            <a:r>
              <a:rPr lang="en-IN" sz="2800" dirty="0"/>
              <a:t>. This is the public key.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companion key is kept private.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Each </a:t>
            </a:r>
            <a:r>
              <a:rPr lang="en-IN" sz="2800" dirty="0"/>
              <a:t>user maintains a collection of public keys obtained from others</a:t>
            </a:r>
            <a:r>
              <a:rPr lang="en-IN" sz="2800" dirty="0" smtClean="0"/>
              <a:t>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59</a:t>
            </a:fld>
            <a:endParaRPr lang="en-US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1" r="55606" b="2869"/>
          <a:stretch/>
        </p:blipFill>
        <p:spPr bwMode="auto">
          <a:xfrm>
            <a:off x="8621487" y="902827"/>
            <a:ext cx="3331028" cy="45379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208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Asymmetric cryptography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290854"/>
            <a:ext cx="1074964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/>
              <a:t>The essential steps are the following.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Bob wishes to send a confidential message to </a:t>
            </a:r>
            <a:r>
              <a:rPr lang="en-IN" sz="2800" dirty="0" smtClean="0"/>
              <a:t>Alice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Bob </a:t>
            </a:r>
            <a:r>
              <a:rPr lang="en-IN" sz="2800" dirty="0"/>
              <a:t>encrypts the </a:t>
            </a:r>
            <a:r>
              <a:rPr lang="en-IN" sz="2800" dirty="0" smtClean="0"/>
              <a:t>message using </a:t>
            </a:r>
            <a:r>
              <a:rPr lang="en-IN" sz="2800" dirty="0"/>
              <a:t>Alice’s public key.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When </a:t>
            </a:r>
            <a:r>
              <a:rPr lang="en-IN" sz="2800" dirty="0"/>
              <a:t>Alice receives the message, she decrypts it using her private key.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No other </a:t>
            </a:r>
            <a:r>
              <a:rPr lang="en-IN" sz="2800" dirty="0"/>
              <a:t>recipient can decrypt the message because only Alice knows Alice’s </a:t>
            </a:r>
            <a:r>
              <a:rPr lang="en-IN" sz="2800" dirty="0" smtClean="0"/>
              <a:t>private key</a:t>
            </a:r>
            <a:r>
              <a:rPr lang="en-IN" sz="2800" dirty="0"/>
              <a:t>.</a:t>
            </a: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60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842" y="3399397"/>
            <a:ext cx="7445829" cy="2639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1713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Difference between Symmetric and Asymmetric Encryption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61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47" y="583746"/>
            <a:ext cx="10358438" cy="485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4385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Classical Encryption 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07496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Basic </a:t>
            </a:r>
            <a:r>
              <a:rPr lang="en-IN" sz="2800" dirty="0"/>
              <a:t>approaches to symmetric </a:t>
            </a:r>
            <a:r>
              <a:rPr lang="en-IN" sz="2800" dirty="0" smtClean="0"/>
              <a:t>encryption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two basic building blocks of all encryption techniques </a:t>
            </a:r>
            <a:r>
              <a:rPr lang="en-IN" sz="2800" dirty="0" smtClean="0"/>
              <a:t>are-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S</a:t>
            </a:r>
            <a:r>
              <a:rPr lang="en-IN" sz="2800" dirty="0" smtClean="0"/>
              <a:t>ubstitution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T</a:t>
            </a:r>
            <a:r>
              <a:rPr lang="en-IN" sz="2800" dirty="0" smtClean="0"/>
              <a:t>ransposition</a:t>
            </a:r>
            <a:endParaRPr lang="en-IN" sz="2800" b="1" u="sng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7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Classical Encryption 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115785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Substitution Techniques: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err="1" smtClean="0"/>
              <a:t>Monoalphabetic</a:t>
            </a:r>
            <a:r>
              <a:rPr lang="en-IN" sz="2800" b="1" dirty="0" smtClean="0"/>
              <a:t> Cipher: Caesar Cipher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err="1" smtClean="0"/>
              <a:t>Playfair</a:t>
            </a:r>
            <a:r>
              <a:rPr lang="en-IN" sz="2800" b="1" dirty="0" smtClean="0"/>
              <a:t> Cipher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b="1" dirty="0" smtClean="0"/>
          </a:p>
          <a:p>
            <a:r>
              <a:rPr lang="en-IN" sz="2800" b="1" dirty="0" smtClean="0"/>
              <a:t>Transposition Techniques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Rail Fence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Rectangle Transposition</a:t>
            </a:r>
          </a:p>
          <a:p>
            <a:endParaRPr lang="en-IN" sz="28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70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Substitution-All </a:t>
            </a:r>
            <a:r>
              <a:rPr lang="en-IN" sz="2800" dirty="0"/>
              <a:t>the techniques </a:t>
            </a:r>
            <a:r>
              <a:rPr lang="en-IN" sz="2800" dirty="0" smtClean="0"/>
              <a:t>involve </a:t>
            </a:r>
            <a:r>
              <a:rPr lang="en-IN" sz="2800" dirty="0"/>
              <a:t>the substitution of a </a:t>
            </a:r>
            <a:r>
              <a:rPr lang="en-IN" sz="2800" dirty="0" err="1"/>
              <a:t>ciphertext</a:t>
            </a:r>
            <a:r>
              <a:rPr lang="en-IN" sz="2800" dirty="0"/>
              <a:t> </a:t>
            </a:r>
            <a:r>
              <a:rPr lang="en-IN" sz="2800" dirty="0" smtClean="0"/>
              <a:t>symbol for </a:t>
            </a:r>
            <a:r>
              <a:rPr lang="en-IN" sz="2800" dirty="0"/>
              <a:t>a plaintext symbol.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r>
              <a:rPr lang="en-IN" sz="2800" b="1" dirty="0" smtClean="0"/>
              <a:t>Transposition cipher-</a:t>
            </a:r>
            <a:endParaRPr lang="en-IN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A </a:t>
            </a:r>
            <a:r>
              <a:rPr lang="en-IN" sz="2800" b="1" dirty="0"/>
              <a:t>very different kind of mapping </a:t>
            </a:r>
            <a:r>
              <a:rPr lang="en-IN" sz="2800" b="1" dirty="0" smtClean="0"/>
              <a:t>achieved </a:t>
            </a:r>
            <a:r>
              <a:rPr lang="en-IN" sz="2800" b="1" dirty="0"/>
              <a:t>by </a:t>
            </a:r>
            <a:r>
              <a:rPr lang="en-IN" sz="2800" b="1" dirty="0" smtClean="0"/>
              <a:t>performing some </a:t>
            </a:r>
            <a:r>
              <a:rPr lang="en-IN" sz="2800" b="1" dirty="0"/>
              <a:t>sort of permutation on the plaintext letters. </a:t>
            </a:r>
            <a:endParaRPr lang="en-IN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248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Techniques-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R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ail 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fence 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u="sng" dirty="0" smtClean="0"/>
              <a:t>The </a:t>
            </a:r>
            <a:r>
              <a:rPr lang="en-IN" sz="2800" b="1" u="sng" dirty="0"/>
              <a:t>plaintext </a:t>
            </a:r>
            <a:r>
              <a:rPr lang="en-IN" sz="2800" b="1" u="sng" dirty="0" smtClean="0"/>
              <a:t>is written </a:t>
            </a:r>
            <a:r>
              <a:rPr lang="en-IN" sz="2800" b="1" u="sng" dirty="0"/>
              <a:t>down as a sequence of diagonals and then read off as a sequence of rows.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For example, to encipher the message “meet me after the toga party” with a </a:t>
            </a:r>
            <a:r>
              <a:rPr lang="en-IN" sz="2800" dirty="0" smtClean="0"/>
              <a:t>rail fence </a:t>
            </a:r>
            <a:r>
              <a:rPr lang="en-IN" sz="2800" dirty="0"/>
              <a:t>of depth 2, we write the following</a:t>
            </a:r>
            <a:r>
              <a:rPr lang="en-IN" sz="2800" dirty="0" smtClean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encrypted message is</a:t>
            </a:r>
          </a:p>
          <a:p>
            <a:r>
              <a:rPr lang="en-IN" sz="2800" dirty="0" smtClean="0"/>
              <a:t>						MEMATRHTGPRYETEFETEOAAT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Trivial </a:t>
            </a:r>
            <a:r>
              <a:rPr lang="en-IN" sz="2800" dirty="0"/>
              <a:t>to cryptanalyze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3231" y="2753088"/>
            <a:ext cx="8204119" cy="136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055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A more complex </a:t>
            </a:r>
            <a:r>
              <a:rPr lang="en-IN" sz="2800" b="1" dirty="0" smtClean="0"/>
              <a:t>scheme:</a:t>
            </a:r>
          </a:p>
          <a:p>
            <a:pPr marL="514350" indent="-514350">
              <a:buFont typeface="+mj-lt"/>
              <a:buAutoNum type="arabicParenR"/>
            </a:pPr>
            <a:r>
              <a:rPr lang="en-IN" sz="2800" b="1" dirty="0" smtClean="0"/>
              <a:t>Write </a:t>
            </a:r>
            <a:r>
              <a:rPr lang="en-IN" sz="2800" b="1" dirty="0"/>
              <a:t>the message in a rectangle, row by </a:t>
            </a:r>
            <a:r>
              <a:rPr lang="en-IN" sz="2800" b="1" dirty="0" smtClean="0"/>
              <a:t>row</a:t>
            </a:r>
          </a:p>
          <a:p>
            <a:pPr marL="514350" indent="-514350">
              <a:buFont typeface="+mj-lt"/>
              <a:buAutoNum type="arabicParenR"/>
            </a:pPr>
            <a:endParaRPr lang="en-IN" sz="2800" b="1" dirty="0" smtClean="0"/>
          </a:p>
          <a:p>
            <a:pPr marL="514350" indent="-514350">
              <a:buFont typeface="+mj-lt"/>
              <a:buAutoNum type="arabicParenR"/>
            </a:pPr>
            <a:r>
              <a:rPr lang="en-IN" sz="2800" b="1" dirty="0" smtClean="0"/>
              <a:t>Read </a:t>
            </a:r>
            <a:r>
              <a:rPr lang="en-IN" sz="2800" b="1" dirty="0"/>
              <a:t>the message off, </a:t>
            </a:r>
            <a:r>
              <a:rPr lang="en-IN" sz="2800" b="1" dirty="0" smtClean="0"/>
              <a:t>column by column</a:t>
            </a:r>
          </a:p>
          <a:p>
            <a:pPr marL="514350" indent="-514350">
              <a:buFont typeface="+mj-lt"/>
              <a:buAutoNum type="arabicParenR"/>
            </a:pPr>
            <a:endParaRPr lang="en-IN" sz="2800" b="1" dirty="0" smtClean="0"/>
          </a:p>
          <a:p>
            <a:pPr marL="514350" indent="-514350">
              <a:buFont typeface="+mj-lt"/>
              <a:buAutoNum type="arabicParenR"/>
            </a:pPr>
            <a:r>
              <a:rPr lang="en-IN" sz="2800" b="1" dirty="0" smtClean="0"/>
              <a:t>Permute </a:t>
            </a:r>
            <a:r>
              <a:rPr lang="en-IN" sz="2800" b="1" dirty="0"/>
              <a:t>the order of the </a:t>
            </a:r>
            <a:r>
              <a:rPr lang="en-IN" sz="2800" b="1" dirty="0" smtClean="0"/>
              <a:t>columns</a:t>
            </a:r>
          </a:p>
          <a:p>
            <a:pPr marL="514350" indent="-514350">
              <a:buFont typeface="+mj-lt"/>
              <a:buAutoNum type="arabicParenR"/>
            </a:pPr>
            <a:endParaRPr lang="en-IN" sz="2800" b="1" dirty="0" smtClean="0"/>
          </a:p>
          <a:p>
            <a:pPr marL="514350" indent="-514350">
              <a:buFont typeface="+mj-lt"/>
              <a:buAutoNum type="arabicParenR"/>
            </a:pPr>
            <a:r>
              <a:rPr lang="en-IN" sz="2800" b="1" dirty="0" smtClean="0"/>
              <a:t>The </a:t>
            </a:r>
            <a:r>
              <a:rPr lang="en-IN" sz="2800" b="1" dirty="0"/>
              <a:t>order of the columns </a:t>
            </a:r>
            <a:r>
              <a:rPr lang="en-IN" sz="2800" b="1" dirty="0" smtClean="0"/>
              <a:t>then becomes </a:t>
            </a:r>
            <a:r>
              <a:rPr lang="en-IN" sz="2800" b="1" dirty="0"/>
              <a:t>the key to the </a:t>
            </a:r>
            <a:r>
              <a:rPr lang="en-IN" sz="2800" b="1" dirty="0" smtClean="0"/>
              <a:t>algorithm</a:t>
            </a:r>
          </a:p>
          <a:p>
            <a:pPr marL="514350" indent="-514350">
              <a:buFont typeface="+mj-lt"/>
              <a:buAutoNum type="arabicParenR"/>
            </a:pPr>
            <a:endParaRPr lang="en-IN" sz="28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580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 smtClean="0"/>
              <a:t>For </a:t>
            </a:r>
            <a:r>
              <a:rPr lang="en-IN" sz="2800" b="1" dirty="0"/>
              <a:t>example,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67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713" y="1923362"/>
            <a:ext cx="6133612" cy="212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82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The </a:t>
            </a:r>
            <a:r>
              <a:rPr lang="en-IN" sz="2800" b="1" dirty="0"/>
              <a:t>key is 4312567. </a:t>
            </a:r>
            <a:endParaRPr lang="en-IN" sz="28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 smtClean="0"/>
              <a:t>To </a:t>
            </a:r>
            <a:r>
              <a:rPr lang="en-IN" sz="2800" b="1" dirty="0"/>
              <a:t>encrypt, start with the </a:t>
            </a:r>
            <a:r>
              <a:rPr lang="en-IN" sz="2800" b="1" dirty="0" smtClean="0"/>
              <a:t>column that </a:t>
            </a:r>
            <a:r>
              <a:rPr lang="en-IN" sz="2800" b="1" dirty="0"/>
              <a:t>is </a:t>
            </a:r>
            <a:r>
              <a:rPr lang="en-IN" sz="2800" b="1" dirty="0" err="1"/>
              <a:t>labeled</a:t>
            </a:r>
            <a:r>
              <a:rPr lang="en-IN" sz="2800" b="1" dirty="0"/>
              <a:t> 1, in this case column 3. Write down all the letters in that column.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/>
              <a:t>Proceed to column 4, which is </a:t>
            </a:r>
            <a:r>
              <a:rPr lang="en-IN" sz="2800" b="1" dirty="0" err="1"/>
              <a:t>labeled</a:t>
            </a:r>
            <a:r>
              <a:rPr lang="en-IN" sz="2800" b="1" dirty="0"/>
              <a:t> 2, then column 2, then column 1, then columns 5, 6, and 7. 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860" y="3717008"/>
            <a:ext cx="6133612" cy="212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357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 </a:t>
            </a:r>
            <a:r>
              <a:rPr lang="en-IN" sz="2800" dirty="0"/>
              <a:t>pure transposition cipher is easily recognized because it has the same </a:t>
            </a:r>
            <a:r>
              <a:rPr lang="en-IN" sz="2800" dirty="0" smtClean="0"/>
              <a:t>letter frequencies </a:t>
            </a:r>
            <a:r>
              <a:rPr lang="en-IN" sz="2800" dirty="0"/>
              <a:t>as the original plaintext.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Cryptanalysis </a:t>
            </a:r>
            <a:r>
              <a:rPr lang="en-IN" sz="2800" dirty="0"/>
              <a:t>is fairly straightforward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Involves </a:t>
            </a:r>
            <a:r>
              <a:rPr lang="en-IN" sz="2800" dirty="0"/>
              <a:t>laying out </a:t>
            </a:r>
            <a:r>
              <a:rPr lang="en-IN" sz="2800" dirty="0" smtClean="0"/>
              <a:t>the  </a:t>
            </a:r>
            <a:r>
              <a:rPr lang="en-IN" sz="2800" dirty="0" err="1" smtClean="0"/>
              <a:t>ciphertext</a:t>
            </a:r>
            <a:r>
              <a:rPr lang="en-IN" sz="2800" dirty="0" smtClean="0"/>
              <a:t> in </a:t>
            </a:r>
            <a:r>
              <a:rPr lang="en-IN" sz="2800" dirty="0"/>
              <a:t>a matrix and playing around with column positions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 smtClean="0"/>
              <a:t>Digram</a:t>
            </a:r>
            <a:r>
              <a:rPr lang="en-IN" sz="2800" dirty="0" smtClean="0"/>
              <a:t> </a:t>
            </a:r>
            <a:r>
              <a:rPr lang="en-IN" sz="2800" dirty="0"/>
              <a:t>and </a:t>
            </a:r>
            <a:r>
              <a:rPr lang="en-IN" sz="2800" dirty="0" smtClean="0"/>
              <a:t>trigram frequency </a:t>
            </a:r>
            <a:r>
              <a:rPr lang="en-IN" sz="2800" dirty="0"/>
              <a:t>tables can be useful.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0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transposition cipher can be made significantly more secure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By performing more </a:t>
            </a:r>
            <a:r>
              <a:rPr lang="en-IN" sz="2800" dirty="0"/>
              <a:t>than one stage of transposition.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result is a more complex </a:t>
            </a:r>
            <a:r>
              <a:rPr lang="en-IN" sz="2800" dirty="0" smtClean="0"/>
              <a:t>permutation that </a:t>
            </a:r>
            <a:r>
              <a:rPr lang="en-IN" sz="2800" dirty="0"/>
              <a:t>is not easily reconstructed.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Transposition 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1090954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the </a:t>
            </a:r>
            <a:r>
              <a:rPr lang="en-IN" sz="2800" dirty="0"/>
              <a:t>foregoing message is </a:t>
            </a:r>
            <a:r>
              <a:rPr lang="en-IN" sz="2800" dirty="0" smtClean="0"/>
              <a:t>re-encrypted using the </a:t>
            </a:r>
            <a:r>
              <a:rPr lang="en-IN" sz="2800" dirty="0"/>
              <a:t>same </a:t>
            </a:r>
            <a:r>
              <a:rPr lang="en-IN" sz="2800" dirty="0" smtClean="0"/>
              <a:t>algorithm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71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6909" y="1762806"/>
            <a:ext cx="5765348" cy="20395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2365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Shape 1255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1256" name="Shape 1256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57" name="Shape 1257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58" name="Shape 1258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59" name="Shape 1259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60" name="Shape 1260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61" name="Shape 1261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62" name="Shape 1262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263" name="Shape 1263"/>
          <p:cNvSpPr txBox="1"/>
          <p:nvPr/>
        </p:nvSpPr>
        <p:spPr>
          <a:xfrm>
            <a:off x="1524000" y="0"/>
            <a:ext cx="8255000" cy="579436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39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Combining Two Approaches</a:t>
            </a:r>
          </a:p>
        </p:txBody>
      </p:sp>
      <p:sp>
        <p:nvSpPr>
          <p:cNvPr id="1264" name="Shape 1264"/>
          <p:cNvSpPr txBox="1"/>
          <p:nvPr/>
        </p:nvSpPr>
        <p:spPr>
          <a:xfrm>
            <a:off x="556684" y="1066800"/>
            <a:ext cx="2592916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3.26</a:t>
            </a:r>
          </a:p>
        </p:txBody>
      </p:sp>
      <p:pic>
        <p:nvPicPr>
          <p:cNvPr id="1265" name="Shape 12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201" y="1828802"/>
            <a:ext cx="9249832" cy="4656137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Shape 1266"/>
          <p:cNvSpPr txBox="1"/>
          <p:nvPr/>
        </p:nvSpPr>
        <p:spPr>
          <a:xfrm>
            <a:off x="4599517" y="1295400"/>
            <a:ext cx="2309282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Figure  </a:t>
            </a:r>
          </a:p>
        </p:txBody>
      </p:sp>
      <p:sp>
        <p:nvSpPr>
          <p:cNvPr id="1267" name="Shape 1267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44834423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Classical Encryption Techniques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074964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Substitution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u="sng" dirty="0" smtClean="0"/>
              <a:t>One </a:t>
            </a:r>
            <a:r>
              <a:rPr lang="en-IN" sz="2800" b="1" u="sng" dirty="0"/>
              <a:t>in which the letters of plaintext are replaced </a:t>
            </a:r>
            <a:r>
              <a:rPr lang="en-IN" sz="2800" b="1" u="sng" dirty="0" smtClean="0"/>
              <a:t>by other </a:t>
            </a:r>
            <a:r>
              <a:rPr lang="en-IN" sz="2800" b="1" u="sng" dirty="0"/>
              <a:t>letters or by numbers or symbols</a:t>
            </a:r>
            <a:r>
              <a:rPr lang="en-IN" sz="2800" b="1" u="sng" dirty="0" smtClean="0"/>
              <a:t>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u="sng" dirty="0" smtClean="0"/>
              <a:t>If </a:t>
            </a:r>
            <a:r>
              <a:rPr lang="en-IN" sz="2800" b="1" u="sng" dirty="0"/>
              <a:t>the plaintext is viewed as a </a:t>
            </a:r>
            <a:r>
              <a:rPr lang="en-IN" sz="2800" b="1" u="sng" dirty="0" smtClean="0"/>
              <a:t> sequence </a:t>
            </a:r>
            <a:r>
              <a:rPr lang="en-IN" sz="2800" b="1" u="sng" dirty="0"/>
              <a:t>of bits</a:t>
            </a:r>
            <a:r>
              <a:rPr lang="en-IN" sz="2800" b="1" u="sng" dirty="0" smtClean="0"/>
              <a:t>, then </a:t>
            </a:r>
            <a:r>
              <a:rPr lang="en-IN" sz="2800" b="1" u="sng" dirty="0"/>
              <a:t>substitution involves replacing plaintext bit patterns with </a:t>
            </a:r>
            <a:r>
              <a:rPr lang="en-IN" sz="2800" b="1" u="sng" dirty="0" err="1"/>
              <a:t>ciphertext</a:t>
            </a:r>
            <a:r>
              <a:rPr lang="en-IN" sz="2800" b="1" u="sng" dirty="0"/>
              <a:t> bit patterns.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35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07496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u="sng" dirty="0" smtClean="0"/>
              <a:t>The </a:t>
            </a:r>
            <a:r>
              <a:rPr lang="en-IN" sz="2800" b="1" u="sng" dirty="0"/>
              <a:t>earliest known, and the simplest, use of a substitution cipher was by </a:t>
            </a:r>
            <a:r>
              <a:rPr lang="en-IN" sz="2800" b="1" u="sng" dirty="0" smtClean="0"/>
              <a:t>Julius Caesar</a:t>
            </a:r>
            <a:r>
              <a:rPr lang="en-IN" sz="2800" b="1" u="sng" dirty="0"/>
              <a:t>. </a:t>
            </a:r>
            <a:endParaRPr lang="en-IN" sz="2800" b="1" u="sng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b="1" u="sng" dirty="0" smtClean="0"/>
              <a:t>The </a:t>
            </a:r>
            <a:r>
              <a:rPr lang="en-IN" sz="2800" b="1" u="sng" dirty="0"/>
              <a:t>Caesar cipher involves replacing each letter of the alphabet with </a:t>
            </a:r>
            <a:r>
              <a:rPr lang="en-IN" sz="2800" b="1" u="sng" dirty="0" smtClean="0"/>
              <a:t>the letter </a:t>
            </a:r>
            <a:r>
              <a:rPr lang="en-IN" sz="2800" b="1" u="sng" dirty="0"/>
              <a:t>standing three places further down the alphabet. For example,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81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0749643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2800" dirty="0" smtClean="0"/>
              <a:t>For </a:t>
            </a:r>
            <a:r>
              <a:rPr lang="en-IN" sz="2800" dirty="0"/>
              <a:t>example</a:t>
            </a:r>
            <a:r>
              <a:rPr lang="en-IN" sz="2800" dirty="0" smtClean="0"/>
              <a:t>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Note </a:t>
            </a:r>
            <a:r>
              <a:rPr lang="en-IN" sz="2800" dirty="0"/>
              <a:t>that the alphabet is wrapped around, so that the letter following Z is A.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We can define the transformation by listing all possibilities, as follows</a:t>
            </a:r>
            <a:r>
              <a:rPr lang="en-IN" sz="2800" dirty="0" smtClean="0"/>
              <a:t>: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75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31" y="4669387"/>
            <a:ext cx="9382125" cy="767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4530" y="1771650"/>
            <a:ext cx="7716761" cy="80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155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0749643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IN" sz="2800" dirty="0" smtClean="0"/>
              <a:t>Let </a:t>
            </a:r>
            <a:r>
              <a:rPr lang="en-IN" sz="2800" dirty="0"/>
              <a:t>us assign a numerical equivalent to each letter: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Then </a:t>
            </a:r>
            <a:r>
              <a:rPr lang="en-IN" sz="2800" dirty="0"/>
              <a:t>the algorithm can be expressed as follows. For each plaintext letter p, </a:t>
            </a:r>
            <a:r>
              <a:rPr lang="en-IN" sz="2800" dirty="0" smtClean="0"/>
              <a:t>substitute the </a:t>
            </a:r>
            <a:r>
              <a:rPr lang="en-IN" sz="2800" dirty="0" err="1"/>
              <a:t>ciphertext</a:t>
            </a:r>
            <a:r>
              <a:rPr lang="en-IN" sz="2800" dirty="0"/>
              <a:t> letter C</a:t>
            </a:r>
            <a:r>
              <a:rPr lang="en-IN" sz="2800" dirty="0" smtClean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a-DK" sz="2800" i="1" dirty="0"/>
              <a:t>C </a:t>
            </a:r>
            <a:r>
              <a:rPr lang="da-DK" sz="2800" dirty="0"/>
              <a:t>= E(3, </a:t>
            </a:r>
            <a:r>
              <a:rPr lang="da-DK" sz="2800" i="1" dirty="0"/>
              <a:t>p</a:t>
            </a:r>
            <a:r>
              <a:rPr lang="da-DK" sz="2800" dirty="0"/>
              <a:t>) = (</a:t>
            </a:r>
            <a:r>
              <a:rPr lang="da-DK" sz="2800" i="1" dirty="0"/>
              <a:t>p </a:t>
            </a:r>
            <a:r>
              <a:rPr lang="da-DK" sz="2800" dirty="0"/>
              <a:t>+ 3) mod 26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76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2882" y="1609720"/>
            <a:ext cx="7972618" cy="161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4765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 </a:t>
            </a:r>
            <a:r>
              <a:rPr lang="en-IN" sz="2800" dirty="0"/>
              <a:t>shift may be of any amount, so that the general Caesar algorithm is</a:t>
            </a:r>
          </a:p>
          <a:p>
            <a:pPr lvl="1"/>
            <a:r>
              <a:rPr lang="en-IN" sz="2800" dirty="0" smtClean="0"/>
              <a:t>				C </a:t>
            </a:r>
            <a:r>
              <a:rPr lang="en-IN" sz="2800" dirty="0"/>
              <a:t>= E(k, p) = (p + k) mod 26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where k takes on a value in the range 1 to 25.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decryption algorithm is </a:t>
            </a:r>
            <a:r>
              <a:rPr lang="en-IN" sz="2800" dirty="0" smtClean="0"/>
              <a:t>simply </a:t>
            </a:r>
          </a:p>
          <a:p>
            <a:pPr lvl="1"/>
            <a:r>
              <a:rPr lang="en-IN" sz="2800" dirty="0"/>
              <a:t>	</a:t>
            </a:r>
            <a:r>
              <a:rPr lang="en-IN" sz="2800" dirty="0" smtClean="0"/>
              <a:t>			p </a:t>
            </a:r>
            <a:r>
              <a:rPr lang="en-IN" sz="2800" dirty="0"/>
              <a:t>= D(k, C) = (C - k) mod </a:t>
            </a:r>
            <a:r>
              <a:rPr lang="en-IN" sz="2800" dirty="0" smtClean="0"/>
              <a:t>26</a:t>
            </a:r>
          </a:p>
          <a:p>
            <a:pPr lvl="1"/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it is known that a given </a:t>
            </a:r>
            <a:r>
              <a:rPr lang="en-IN" sz="2800" dirty="0" smtClean="0"/>
              <a:t>cipher text </a:t>
            </a:r>
            <a:r>
              <a:rPr lang="en-IN" sz="2800" dirty="0"/>
              <a:t>is a Caesar cipher, then a </a:t>
            </a:r>
            <a:r>
              <a:rPr lang="en-IN" sz="2800" dirty="0" smtClean="0"/>
              <a:t>brute-force cryptanalysis </a:t>
            </a:r>
            <a:r>
              <a:rPr lang="en-IN" sz="2800" dirty="0"/>
              <a:t>is easily performed: simply try all the 25 possible keys.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9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C00000"/>
                </a:solidFill>
                <a:latin typeface="Marcellus" panose="020E0602050203020307" pitchFamily="34" charset="0"/>
              </a:rPr>
              <a:t>Brute-Force Cryptanalysis of </a:t>
            </a:r>
            <a:r>
              <a:rPr lang="en-IN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4005945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results of applying this strategy to the example </a:t>
            </a:r>
            <a:r>
              <a:rPr lang="en-IN" sz="2800" dirty="0" err="1"/>
              <a:t>ciphertext</a:t>
            </a:r>
            <a:r>
              <a:rPr lang="en-IN" sz="2800" dirty="0"/>
              <a:t>.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In </a:t>
            </a:r>
            <a:r>
              <a:rPr lang="en-IN" sz="2800" dirty="0"/>
              <a:t>this case, </a:t>
            </a:r>
            <a:r>
              <a:rPr lang="en-IN" sz="2800" dirty="0" smtClean="0"/>
              <a:t>the plaintext </a:t>
            </a:r>
            <a:r>
              <a:rPr lang="en-IN" sz="2800" dirty="0"/>
              <a:t>leaps out as occupying the third line.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78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924" y="472849"/>
            <a:ext cx="5485719" cy="5779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7496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 </a:t>
            </a:r>
            <a:r>
              <a:rPr lang="en-IN" sz="2800" dirty="0"/>
              <a:t>shift may be of any amount, so that the general Caesar algorithm is</a:t>
            </a:r>
          </a:p>
          <a:p>
            <a:pPr lvl="1"/>
            <a:r>
              <a:rPr lang="en-IN" sz="2800" dirty="0" smtClean="0"/>
              <a:t>				C </a:t>
            </a:r>
            <a:r>
              <a:rPr lang="en-IN" sz="2800" dirty="0"/>
              <a:t>= E(k, p) = (p + k) mod 26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/>
              <a:t>where k takes on a value in the range 1 to 25.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decryption algorithm is </a:t>
            </a:r>
            <a:r>
              <a:rPr lang="en-IN" sz="2800" dirty="0" smtClean="0"/>
              <a:t>simply </a:t>
            </a:r>
          </a:p>
          <a:p>
            <a:pPr lvl="1"/>
            <a:r>
              <a:rPr lang="en-IN" sz="2800" dirty="0"/>
              <a:t>	</a:t>
            </a:r>
            <a:r>
              <a:rPr lang="en-IN" sz="2800" dirty="0" smtClean="0"/>
              <a:t>			p </a:t>
            </a:r>
            <a:r>
              <a:rPr lang="en-IN" sz="2800" dirty="0"/>
              <a:t>= D(k, C) = (C - k) mod </a:t>
            </a:r>
            <a:r>
              <a:rPr lang="en-IN" sz="2800" dirty="0" smtClean="0"/>
              <a:t>26</a:t>
            </a:r>
          </a:p>
          <a:p>
            <a:pPr lvl="1"/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 </a:t>
            </a:r>
            <a:r>
              <a:rPr lang="en-IN" sz="2800" dirty="0"/>
              <a:t>it is known that a given </a:t>
            </a:r>
            <a:r>
              <a:rPr lang="en-IN" sz="2800" dirty="0" smtClean="0"/>
              <a:t>cipher text </a:t>
            </a:r>
            <a:r>
              <a:rPr lang="en-IN" sz="2800" dirty="0"/>
              <a:t>is a Caesar cipher, then a </a:t>
            </a:r>
            <a:r>
              <a:rPr lang="en-IN" sz="2800" dirty="0" smtClean="0"/>
              <a:t>brute-force cryptanalysis </a:t>
            </a:r>
            <a:r>
              <a:rPr lang="en-IN" sz="2800" dirty="0"/>
              <a:t>is easily performed: simply try all the 25 possible keys.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8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99068"/>
            <a:ext cx="111578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With only 25 possible keys, the Caesar cipher is far from secure.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 </a:t>
            </a:r>
            <a:r>
              <a:rPr lang="en-IN" sz="2800" dirty="0"/>
              <a:t>dramatic </a:t>
            </a:r>
            <a:r>
              <a:rPr lang="en-IN" sz="2800" dirty="0" smtClean="0"/>
              <a:t>increase in </a:t>
            </a:r>
            <a:r>
              <a:rPr lang="en-IN" sz="2800" dirty="0"/>
              <a:t>the key space can be achieved by allowing an arbitrary substitution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Permutation!!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07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99068"/>
            <a:ext cx="1115785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 </a:t>
            </a:r>
            <a:r>
              <a:rPr lang="en-IN" sz="2800" b="1" dirty="0"/>
              <a:t>permutation </a:t>
            </a:r>
            <a:r>
              <a:rPr lang="en-IN" sz="2800" dirty="0"/>
              <a:t>of a finite set of elements </a:t>
            </a:r>
            <a:r>
              <a:rPr lang="en-IN" sz="2800" i="1" dirty="0" smtClean="0"/>
              <a:t>S </a:t>
            </a:r>
            <a:r>
              <a:rPr lang="en-IN" sz="2800" dirty="0" smtClean="0"/>
              <a:t>is </a:t>
            </a:r>
            <a:r>
              <a:rPr lang="en-IN" sz="2800" dirty="0"/>
              <a:t>an ordered sequence of all the elements of </a:t>
            </a:r>
            <a:r>
              <a:rPr lang="en-IN" sz="2800" i="1" dirty="0"/>
              <a:t>S</a:t>
            </a:r>
            <a:r>
              <a:rPr lang="en-IN" sz="2800" dirty="0"/>
              <a:t>, with each element appearing </a:t>
            </a:r>
            <a:r>
              <a:rPr lang="en-IN" sz="2800" dirty="0" smtClean="0"/>
              <a:t>exactly once</a:t>
            </a:r>
            <a:r>
              <a:rPr lang="en-IN" sz="2800" dirty="0"/>
              <a:t>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For </a:t>
            </a:r>
            <a:r>
              <a:rPr lang="en-IN" sz="2800" dirty="0"/>
              <a:t>example, </a:t>
            </a:r>
            <a:endParaRPr lang="en-IN" sz="2800" dirty="0" smtClean="0"/>
          </a:p>
          <a:p>
            <a:r>
              <a:rPr lang="en-IN" sz="2800" i="1" dirty="0" smtClean="0"/>
              <a:t>S </a:t>
            </a:r>
            <a:r>
              <a:rPr lang="en-IN" sz="2800" dirty="0"/>
              <a:t>= {a, b, c}, there are six permutations of </a:t>
            </a:r>
            <a:r>
              <a:rPr lang="en-IN" sz="2800" i="1" dirty="0"/>
              <a:t>S</a:t>
            </a:r>
            <a:r>
              <a:rPr lang="en-IN" sz="2800" dirty="0"/>
              <a:t>:</a:t>
            </a:r>
          </a:p>
          <a:p>
            <a:r>
              <a:rPr lang="en-IN" sz="2800" dirty="0" err="1"/>
              <a:t>abc</a:t>
            </a:r>
            <a:r>
              <a:rPr lang="en-IN" sz="2800" dirty="0"/>
              <a:t>, </a:t>
            </a:r>
            <a:r>
              <a:rPr lang="en-IN" sz="2800" dirty="0" err="1"/>
              <a:t>acb</a:t>
            </a:r>
            <a:r>
              <a:rPr lang="en-IN" sz="2800" dirty="0"/>
              <a:t>, bac, </a:t>
            </a:r>
            <a:r>
              <a:rPr lang="en-IN" sz="2800" dirty="0" err="1"/>
              <a:t>bca</a:t>
            </a:r>
            <a:r>
              <a:rPr lang="en-IN" sz="2800" dirty="0"/>
              <a:t>, cab, </a:t>
            </a:r>
            <a:r>
              <a:rPr lang="en-IN" sz="2800" dirty="0" err="1"/>
              <a:t>cba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There </a:t>
            </a:r>
            <a:r>
              <a:rPr lang="en-IN" sz="2800" dirty="0"/>
              <a:t>are </a:t>
            </a:r>
            <a:r>
              <a:rPr lang="en-IN" sz="2800" i="1" dirty="0"/>
              <a:t>n</a:t>
            </a:r>
            <a:r>
              <a:rPr lang="en-IN" sz="2800" dirty="0"/>
              <a:t>! permutations of a set of </a:t>
            </a:r>
            <a:r>
              <a:rPr lang="en-IN" sz="2800" i="1" dirty="0"/>
              <a:t>n </a:t>
            </a:r>
            <a:r>
              <a:rPr lang="en-IN" sz="2800" dirty="0"/>
              <a:t>elements,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first element </a:t>
            </a:r>
            <a:r>
              <a:rPr lang="en-IN" sz="2800" dirty="0"/>
              <a:t>can be chosen in one of </a:t>
            </a:r>
            <a:r>
              <a:rPr lang="en-IN" sz="2800" i="1" dirty="0"/>
              <a:t>n </a:t>
            </a:r>
            <a:r>
              <a:rPr lang="en-IN" sz="2800" dirty="0"/>
              <a:t>ways,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second in </a:t>
            </a:r>
            <a:r>
              <a:rPr lang="en-IN" sz="2800" i="1" dirty="0"/>
              <a:t>n </a:t>
            </a:r>
            <a:r>
              <a:rPr lang="en-IN" sz="2800" dirty="0"/>
              <a:t>- 1 ways, </a:t>
            </a:r>
            <a:endParaRPr lang="en-IN" sz="2800" dirty="0" smtClean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third in </a:t>
            </a:r>
            <a:r>
              <a:rPr lang="en-IN" sz="2800" i="1" dirty="0"/>
              <a:t>n </a:t>
            </a:r>
            <a:r>
              <a:rPr lang="en-IN" sz="2800" dirty="0" smtClean="0"/>
              <a:t>– 2 ways</a:t>
            </a:r>
            <a:r>
              <a:rPr lang="en-IN" sz="2800" dirty="0"/>
              <a:t>, and so on.</a:t>
            </a: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17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Caesar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99068"/>
            <a:ext cx="11157859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Caesar Cipher-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If</a:t>
            </a:r>
            <a:r>
              <a:rPr lang="en-IN" sz="2800" dirty="0"/>
              <a:t>, instead, the “cipher” line can be any permutation of the 26 alphabetic characters</a:t>
            </a:r>
            <a:r>
              <a:rPr lang="en-IN" sz="2800" dirty="0" smtClean="0"/>
              <a:t>, then </a:t>
            </a:r>
            <a:r>
              <a:rPr lang="en-IN" sz="2800" dirty="0"/>
              <a:t>there are 26</a:t>
            </a:r>
            <a:r>
              <a:rPr lang="en-IN" sz="2800" dirty="0" smtClean="0"/>
              <a:t>! </a:t>
            </a:r>
            <a:r>
              <a:rPr lang="en-IN" sz="2800" dirty="0"/>
              <a:t>possible keys.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Such </a:t>
            </a:r>
            <a:r>
              <a:rPr lang="en-IN" sz="2800" dirty="0"/>
              <a:t>an approach is referred to as a </a:t>
            </a:r>
            <a:r>
              <a:rPr lang="en-IN" sz="2800" dirty="0" err="1" smtClean="0"/>
              <a:t>monoalphabetic</a:t>
            </a:r>
            <a:r>
              <a:rPr lang="en-IN" sz="2800" dirty="0" smtClean="0"/>
              <a:t> substitution </a:t>
            </a:r>
            <a:r>
              <a:rPr lang="en-IN" sz="2800" dirty="0"/>
              <a:t>cipher, because a single cipher alphabet (mapping from plain </a:t>
            </a:r>
            <a:r>
              <a:rPr lang="en-IN" sz="2800" dirty="0" smtClean="0"/>
              <a:t>alphabet to </a:t>
            </a:r>
            <a:r>
              <a:rPr lang="en-IN" sz="2800" dirty="0"/>
              <a:t>cipher alphabet) is used per message.</a:t>
            </a: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82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065" y="1432832"/>
            <a:ext cx="10569249" cy="8041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941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17426"/>
            <a:ext cx="1115785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err="1" smtClean="0"/>
              <a:t>Playfair</a:t>
            </a:r>
            <a:r>
              <a:rPr lang="en-IN" sz="2800" dirty="0" smtClean="0"/>
              <a:t>, treats </a:t>
            </a:r>
            <a:r>
              <a:rPr lang="en-IN" sz="2800" b="1" dirty="0" err="1" smtClean="0"/>
              <a:t>digrams</a:t>
            </a:r>
            <a:r>
              <a:rPr lang="en-IN" sz="2800" dirty="0" smtClean="0"/>
              <a:t> in the plaintext as single units 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Translates these units into </a:t>
            </a:r>
            <a:r>
              <a:rPr lang="en-IN" sz="2800" dirty="0" err="1" smtClean="0"/>
              <a:t>ciphertext</a:t>
            </a:r>
            <a:r>
              <a:rPr lang="en-IN" sz="2800" dirty="0" smtClean="0"/>
              <a:t> </a:t>
            </a:r>
            <a:r>
              <a:rPr lang="en-IN" sz="2800" dirty="0" err="1" smtClean="0"/>
              <a:t>digrams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 err="1"/>
              <a:t>Playfair</a:t>
            </a:r>
            <a:r>
              <a:rPr lang="en-IN" sz="2800" dirty="0"/>
              <a:t> algorithm is based on the use of a 5 * 5 matrix of letters </a:t>
            </a:r>
            <a:r>
              <a:rPr lang="en-IN" sz="2800" dirty="0" smtClean="0"/>
              <a:t>constructed using </a:t>
            </a:r>
            <a:r>
              <a:rPr lang="en-IN" sz="2800" dirty="0"/>
              <a:t>a keyword</a:t>
            </a:r>
            <a:r>
              <a:rPr lang="en-IN" sz="28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In this case, the keyword is </a:t>
            </a:r>
            <a:r>
              <a:rPr lang="en-IN" sz="2800" dirty="0" smtClean="0"/>
              <a:t>monarchy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83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750" y="3725969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0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3" y="461067"/>
            <a:ext cx="111578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matrix is constructed by </a:t>
            </a:r>
            <a:r>
              <a:rPr lang="en-IN" sz="2800" dirty="0" smtClean="0"/>
              <a:t>filling in </a:t>
            </a:r>
            <a:r>
              <a:rPr lang="en-IN" sz="2800" dirty="0"/>
              <a:t>the letters of the keyword (minus duplicates) from left to right and from top </a:t>
            </a:r>
            <a:r>
              <a:rPr lang="en-IN" sz="2800" dirty="0" smtClean="0"/>
              <a:t>to bottom</a:t>
            </a:r>
            <a:r>
              <a:rPr lang="en-IN" sz="2800" dirty="0"/>
              <a:t>, and then filling in the remainder of the matrix with the remaining letters </a:t>
            </a:r>
            <a:r>
              <a:rPr lang="en-IN" sz="2800" dirty="0" smtClean="0"/>
              <a:t>in alphabetic </a:t>
            </a:r>
            <a:r>
              <a:rPr lang="en-IN" sz="2800" dirty="0"/>
              <a:t>order.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letters I and J count as one letter.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84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5750" y="3742298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81138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4" y="470470"/>
            <a:ext cx="111578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Plaintext </a:t>
            </a:r>
            <a:r>
              <a:rPr lang="en-IN" sz="2800" dirty="0"/>
              <a:t>is encrypted </a:t>
            </a:r>
            <a:r>
              <a:rPr lang="en-IN" sz="2800" dirty="0" smtClean="0"/>
              <a:t>two letters </a:t>
            </a:r>
            <a:r>
              <a:rPr lang="en-IN" sz="2800" dirty="0"/>
              <a:t>at a time, according to the following rules:</a:t>
            </a:r>
          </a:p>
          <a:p>
            <a:pPr marL="514350" indent="-514350">
              <a:buFont typeface="+mj-lt"/>
              <a:buAutoNum type="arabicParenR"/>
            </a:pPr>
            <a:endParaRPr lang="en-IN" sz="2800" dirty="0" smtClean="0"/>
          </a:p>
          <a:p>
            <a:pPr marL="514350" indent="-514350">
              <a:buFont typeface="+mj-lt"/>
              <a:buAutoNum type="arabicParenR"/>
            </a:pPr>
            <a:r>
              <a:rPr lang="en-IN" sz="2800" dirty="0" smtClean="0"/>
              <a:t>Repeating </a:t>
            </a:r>
            <a:r>
              <a:rPr lang="en-IN" sz="2800" dirty="0"/>
              <a:t>plaintext letters that are in the same pair are separated with a </a:t>
            </a:r>
            <a:r>
              <a:rPr lang="en-IN" sz="2800" dirty="0" smtClean="0"/>
              <a:t>filler letter</a:t>
            </a:r>
            <a:r>
              <a:rPr lang="en-IN" sz="2800" dirty="0"/>
              <a:t>, such as x, so that balloon would be treated as </a:t>
            </a:r>
            <a:r>
              <a:rPr lang="en-IN" sz="2800" dirty="0" err="1"/>
              <a:t>ba</a:t>
            </a:r>
            <a:r>
              <a:rPr lang="en-IN" sz="2800" dirty="0"/>
              <a:t> lx lo on.</a:t>
            </a:r>
          </a:p>
          <a:p>
            <a:pPr marL="514350" indent="-514350">
              <a:buFont typeface="+mj-lt"/>
              <a:buAutoNum type="arabicParenR"/>
            </a:pP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85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9421" y="3725969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758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258198"/>
            <a:ext cx="111578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Plaintext </a:t>
            </a:r>
            <a:r>
              <a:rPr lang="en-IN" sz="2800" dirty="0"/>
              <a:t>is encrypted </a:t>
            </a:r>
            <a:r>
              <a:rPr lang="en-IN" sz="2800" dirty="0" smtClean="0"/>
              <a:t>two letters </a:t>
            </a:r>
            <a:r>
              <a:rPr lang="en-IN" sz="2800" dirty="0"/>
              <a:t>at a time, according to the following rules:</a:t>
            </a:r>
          </a:p>
          <a:p>
            <a:pPr marL="514350" indent="-514350">
              <a:buFont typeface="+mj-lt"/>
              <a:buAutoNum type="arabicParenR"/>
            </a:pPr>
            <a:endParaRPr lang="en-IN" sz="2800" dirty="0" smtClean="0"/>
          </a:p>
          <a:p>
            <a:pPr marL="514350" indent="-514350">
              <a:buFont typeface="+mj-lt"/>
              <a:buAutoNum type="arabicParenR"/>
            </a:pPr>
            <a:r>
              <a:rPr lang="en-IN" sz="2800" dirty="0" smtClean="0"/>
              <a:t>Two </a:t>
            </a:r>
            <a:r>
              <a:rPr lang="en-IN" sz="2800" dirty="0"/>
              <a:t>plaintext letters that fall in the same row of the matrix are each </a:t>
            </a:r>
            <a:r>
              <a:rPr lang="en-IN" sz="2800" dirty="0" smtClean="0"/>
              <a:t>replaced by </a:t>
            </a:r>
            <a:r>
              <a:rPr lang="en-IN" sz="2800" dirty="0"/>
              <a:t>the letter to the right, with the first element of the row circularly </a:t>
            </a:r>
            <a:r>
              <a:rPr lang="en-IN" sz="2800" dirty="0" smtClean="0"/>
              <a:t>following the </a:t>
            </a:r>
            <a:r>
              <a:rPr lang="en-IN" sz="2800" dirty="0"/>
              <a:t>last. </a:t>
            </a:r>
            <a:endParaRPr lang="en-IN" sz="2800" dirty="0" smtClean="0"/>
          </a:p>
          <a:p>
            <a:r>
              <a:rPr lang="en-IN" sz="2800" dirty="0" smtClean="0"/>
              <a:t>For </a:t>
            </a:r>
            <a:r>
              <a:rPr lang="en-IN" sz="2800" dirty="0"/>
              <a:t>example, </a:t>
            </a:r>
            <a:r>
              <a:rPr lang="en-IN" sz="2800" dirty="0" err="1"/>
              <a:t>ar</a:t>
            </a:r>
            <a:r>
              <a:rPr lang="en-IN" sz="2800" dirty="0"/>
              <a:t> is encrypted as </a:t>
            </a:r>
            <a:r>
              <a:rPr lang="en-IN" sz="2800" dirty="0" smtClean="0"/>
              <a:t>RM, </a:t>
            </a:r>
            <a:r>
              <a:rPr lang="en-IN" sz="2800" dirty="0" err="1" smtClean="0"/>
              <a:t>st</a:t>
            </a:r>
            <a:r>
              <a:rPr lang="en-IN" sz="2800" dirty="0" smtClean="0"/>
              <a:t>=TL</a:t>
            </a:r>
            <a:endParaRPr lang="en-IN" sz="2800" dirty="0"/>
          </a:p>
          <a:p>
            <a:pPr marL="514350" indent="-514350">
              <a:buFont typeface="+mj-lt"/>
              <a:buAutoNum type="arabicParenR"/>
            </a:pP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86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54" y="2881313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 descr="https://media.geeksforgeeks.org/wp-content/uploads/20190818175435/encryption-of-st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61" y="3261393"/>
            <a:ext cx="4657725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7189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4" y="273626"/>
            <a:ext cx="1115785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/>
              <a:t>Plaintext </a:t>
            </a:r>
            <a:r>
              <a:rPr lang="en-IN" sz="2800" dirty="0"/>
              <a:t>is encrypted </a:t>
            </a:r>
            <a:r>
              <a:rPr lang="en-IN" sz="2800" dirty="0" smtClean="0"/>
              <a:t>two letters </a:t>
            </a:r>
            <a:r>
              <a:rPr lang="en-IN" sz="2800" dirty="0"/>
              <a:t>at a time, according to the following rules:</a:t>
            </a:r>
          </a:p>
          <a:p>
            <a:pPr marL="514350" indent="-514350">
              <a:buFont typeface="+mj-lt"/>
              <a:buAutoNum type="arabicParenR"/>
            </a:pPr>
            <a:endParaRPr lang="en-IN" sz="2800" dirty="0" smtClean="0"/>
          </a:p>
          <a:p>
            <a:pPr marL="514350" indent="-514350">
              <a:buFont typeface="+mj-lt"/>
              <a:buAutoNum type="arabicParenR" startAt="3"/>
            </a:pPr>
            <a:r>
              <a:rPr lang="en-IN" sz="2800" dirty="0" smtClean="0"/>
              <a:t>Two </a:t>
            </a:r>
            <a:r>
              <a:rPr lang="en-IN" sz="2800" dirty="0"/>
              <a:t>plaintext letters that fall in the same column are each replaced by </a:t>
            </a:r>
            <a:r>
              <a:rPr lang="en-IN" sz="2800" dirty="0" smtClean="0"/>
              <a:t>the letter </a:t>
            </a:r>
            <a:r>
              <a:rPr lang="en-IN" sz="2800" dirty="0"/>
              <a:t>beneath, with the top element of the column circularly following the last</a:t>
            </a:r>
            <a:r>
              <a:rPr lang="en-IN" sz="2800" dirty="0" smtClean="0"/>
              <a:t>. </a:t>
            </a:r>
          </a:p>
          <a:p>
            <a:r>
              <a:rPr lang="en-IN" sz="2800" dirty="0" smtClean="0"/>
              <a:t>For </a:t>
            </a:r>
            <a:r>
              <a:rPr lang="en-IN" sz="2800" dirty="0"/>
              <a:t>example, mu is encrypted as </a:t>
            </a:r>
            <a:r>
              <a:rPr lang="en-IN" sz="2800" dirty="0" smtClean="0"/>
              <a:t>CM, me=CL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87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455" y="2881313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 descr="https://media.geeksforgeeks.org/wp-content/uploads/20190818175431/encryption-of-me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0422" y="3251867"/>
            <a:ext cx="4657725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7175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Playfair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3" y="396541"/>
            <a:ext cx="111578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arenR" startAt="4"/>
            </a:pPr>
            <a:r>
              <a:rPr lang="en-IN" sz="2800" dirty="0" smtClean="0"/>
              <a:t>Otherwise</a:t>
            </a:r>
            <a:r>
              <a:rPr lang="en-IN" sz="2800" dirty="0"/>
              <a:t>, each plaintext letter in a pair is replaced by the letter that lies </a:t>
            </a:r>
            <a:r>
              <a:rPr lang="en-IN" sz="2800" dirty="0" smtClean="0"/>
              <a:t>in its </a:t>
            </a:r>
            <a:r>
              <a:rPr lang="en-IN" sz="2800" dirty="0"/>
              <a:t>own row and the column occupied by the other plaintext letter. Thus, </a:t>
            </a:r>
            <a:r>
              <a:rPr lang="en-IN" sz="2800" dirty="0" err="1" smtClean="0"/>
              <a:t>hs</a:t>
            </a:r>
            <a:r>
              <a:rPr lang="en-IN" sz="2800" dirty="0" smtClean="0"/>
              <a:t> becomes </a:t>
            </a:r>
            <a:r>
              <a:rPr lang="en-IN" sz="2800" dirty="0"/>
              <a:t>BP and </a:t>
            </a:r>
            <a:r>
              <a:rPr lang="en-IN" sz="2800" dirty="0" err="1"/>
              <a:t>ea</a:t>
            </a:r>
            <a:r>
              <a:rPr lang="en-IN" sz="2800" dirty="0"/>
              <a:t> becomes IM (or JM, as the </a:t>
            </a:r>
            <a:r>
              <a:rPr lang="en-IN" sz="2800" dirty="0" err="1"/>
              <a:t>encipherer</a:t>
            </a:r>
            <a:r>
              <a:rPr lang="en-IN" sz="2800" dirty="0"/>
              <a:t> wishes</a:t>
            </a:r>
            <a:r>
              <a:rPr lang="en-IN" sz="2800" dirty="0" smtClean="0"/>
              <a:t>).</a:t>
            </a:r>
          </a:p>
          <a:p>
            <a:r>
              <a:rPr lang="en-IN" sz="2800" b="1" dirty="0"/>
              <a:t>Diagraph:</a:t>
            </a:r>
            <a:r>
              <a:rPr lang="en-IN" sz="2800" dirty="0"/>
              <a:t> "</a:t>
            </a:r>
            <a:r>
              <a:rPr lang="en-IN" sz="2800" dirty="0" err="1"/>
              <a:t>nt</a:t>
            </a:r>
            <a:r>
              <a:rPr lang="en-IN" sz="2800" dirty="0"/>
              <a:t>" </a:t>
            </a:r>
            <a:r>
              <a:rPr lang="en-IN" sz="2800" b="1" dirty="0"/>
              <a:t>Encrypted Text:</a:t>
            </a:r>
            <a:r>
              <a:rPr lang="en-IN" sz="2800" dirty="0"/>
              <a:t> </a:t>
            </a:r>
            <a:r>
              <a:rPr lang="en-IN" sz="2800" dirty="0" err="1"/>
              <a:t>rq</a:t>
            </a: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88</a:t>
            </a:fld>
            <a:endParaRPr lang="en-US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4" y="2881313"/>
            <a:ext cx="4161963" cy="255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https://media.geeksforgeeks.org/wp-content/uploads/20190818175433/encryption-of-nt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760" y="2881313"/>
            <a:ext cx="4657725" cy="3000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5801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Shape 865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866" name="Shape 866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67" name="Shape 867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68" name="Shape 868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69" name="Shape 869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70" name="Shape 870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71" name="Shape 871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72" name="Shape 872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874" name="Shape 874"/>
          <p:cNvSpPr txBox="1"/>
          <p:nvPr/>
        </p:nvSpPr>
        <p:spPr>
          <a:xfrm>
            <a:off x="1524001" y="533401"/>
            <a:ext cx="7315200" cy="471486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 err="1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Playfair</a:t>
            </a:r>
            <a:r>
              <a:rPr lang="en-US" sz="2900" b="1" dirty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Cipher</a:t>
            </a:r>
          </a:p>
        </p:txBody>
      </p:sp>
      <p:pic>
        <p:nvPicPr>
          <p:cNvPr id="875" name="Shape 8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3" y="1757361"/>
            <a:ext cx="6407148" cy="2357436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Shape 876"/>
          <p:cNvSpPr txBox="1"/>
          <p:nvPr/>
        </p:nvSpPr>
        <p:spPr>
          <a:xfrm>
            <a:off x="1422401" y="1066800"/>
            <a:ext cx="10566399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Figure 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 example of a secret key </a:t>
            </a:r>
            <a:r>
              <a:rPr lang="en-US" sz="24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matrix in 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Playfair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cipher</a:t>
            </a:r>
          </a:p>
        </p:txBody>
      </p:sp>
      <p:sp>
        <p:nvSpPr>
          <p:cNvPr id="877" name="Shape 877"/>
          <p:cNvSpPr txBox="1"/>
          <p:nvPr/>
        </p:nvSpPr>
        <p:spPr>
          <a:xfrm>
            <a:off x="203201" y="4521672"/>
            <a:ext cx="11785599" cy="809958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Let us encrypt the plaintext “hello” using the key in given Figure </a:t>
            </a:r>
          </a:p>
        </p:txBody>
      </p:sp>
      <p:pic>
        <p:nvPicPr>
          <p:cNvPr id="878" name="Shape 8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5334002"/>
            <a:ext cx="10750550" cy="958849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Shape 879"/>
          <p:cNvSpPr txBox="1"/>
          <p:nvPr/>
        </p:nvSpPr>
        <p:spPr>
          <a:xfrm>
            <a:off x="304802" y="4038600"/>
            <a:ext cx="2592916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3.15</a:t>
            </a:r>
          </a:p>
        </p:txBody>
      </p:sp>
      <p:sp>
        <p:nvSpPr>
          <p:cNvPr id="880" name="Shape 880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6019988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866" y="0"/>
            <a:ext cx="10515600" cy="581932"/>
          </a:xfrm>
        </p:spPr>
        <p:txBody>
          <a:bodyPr>
            <a:normAutofit/>
          </a:bodyPr>
          <a:lstStyle/>
          <a:p>
            <a:r>
              <a:rPr lang="en-IN" sz="3200" dirty="0" smtClean="0">
                <a:solidFill>
                  <a:srgbClr val="C00000"/>
                </a:solidFill>
                <a:latin typeface="Marcellus"/>
              </a:rPr>
              <a:t>Cryptanalysis of </a:t>
            </a:r>
            <a:r>
              <a:rPr lang="en-IN" sz="3200" dirty="0" err="1" smtClean="0">
                <a:solidFill>
                  <a:srgbClr val="C00000"/>
                </a:solidFill>
                <a:latin typeface="Marcellus"/>
              </a:rPr>
              <a:t>Playfair</a:t>
            </a:r>
            <a:r>
              <a:rPr lang="en-IN" sz="3200" dirty="0" smtClean="0">
                <a:solidFill>
                  <a:srgbClr val="C00000"/>
                </a:solidFill>
                <a:latin typeface="Marcellus"/>
              </a:rPr>
              <a:t> Cipher</a:t>
            </a:r>
            <a:endParaRPr lang="en-IN" sz="3200" dirty="0">
              <a:solidFill>
                <a:srgbClr val="C00000"/>
              </a:solidFill>
              <a:latin typeface="Marcellu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Brute force is difficult</a:t>
            </a:r>
          </a:p>
          <a:p>
            <a:r>
              <a:rPr lang="en-IN" dirty="0" smtClean="0"/>
              <a:t>Size of key domain 25!</a:t>
            </a:r>
          </a:p>
          <a:p>
            <a:r>
              <a:rPr lang="en-IN" dirty="0" smtClean="0"/>
              <a:t>Hides single letter frequency of characters</a:t>
            </a:r>
          </a:p>
          <a:p>
            <a:r>
              <a:rPr lang="en-IN" dirty="0" smtClean="0"/>
              <a:t>Still leaves much of the structure of the plaintext language intact.</a:t>
            </a:r>
          </a:p>
          <a:p>
            <a:r>
              <a:rPr lang="en-IN" dirty="0" smtClean="0"/>
              <a:t>A few hundred  letters of </a:t>
            </a:r>
            <a:r>
              <a:rPr lang="en-IN" dirty="0" err="1" smtClean="0"/>
              <a:t>ciphertext</a:t>
            </a:r>
            <a:r>
              <a:rPr lang="en-IN" dirty="0" smtClean="0"/>
              <a:t> are generally sufficient</a:t>
            </a:r>
          </a:p>
          <a:p>
            <a:r>
              <a:rPr lang="en-IN" dirty="0"/>
              <a:t>Cryptanalyst can have </a:t>
            </a:r>
            <a:r>
              <a:rPr lang="en-IN" dirty="0" err="1"/>
              <a:t>ciphertext</a:t>
            </a:r>
            <a:r>
              <a:rPr lang="en-IN" dirty="0"/>
              <a:t> only attack based on </a:t>
            </a:r>
            <a:r>
              <a:rPr lang="en-IN" dirty="0" err="1"/>
              <a:t>digram</a:t>
            </a:r>
            <a:r>
              <a:rPr lang="en-IN" dirty="0"/>
              <a:t> frequency test to find the key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6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533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Polyalphabetic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99068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Another way to improve on the simple </a:t>
            </a:r>
            <a:r>
              <a:rPr lang="en-IN" sz="2800" dirty="0" err="1"/>
              <a:t>monoalphabetic</a:t>
            </a:r>
            <a:r>
              <a:rPr lang="en-IN" sz="2800" dirty="0"/>
              <a:t> technique is to use </a:t>
            </a:r>
            <a:r>
              <a:rPr lang="en-IN" sz="2800" dirty="0" smtClean="0"/>
              <a:t>different </a:t>
            </a:r>
            <a:r>
              <a:rPr lang="en-IN" sz="2800" dirty="0" err="1" smtClean="0"/>
              <a:t>monoalphabetic</a:t>
            </a:r>
            <a:r>
              <a:rPr lang="en-IN" sz="2800" dirty="0" smtClean="0"/>
              <a:t> </a:t>
            </a:r>
            <a:r>
              <a:rPr lang="en-IN" sz="2800" dirty="0"/>
              <a:t>substitutions as one proceeds through the plaintext message.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Called as polyalphabetic </a:t>
            </a:r>
            <a:r>
              <a:rPr lang="en-IN" sz="2800" dirty="0"/>
              <a:t>substitution cipher.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All these techniques have the following features in common:</a:t>
            </a:r>
          </a:p>
          <a:p>
            <a:pPr marL="514350" indent="-514350">
              <a:buFont typeface="+mj-lt"/>
              <a:buAutoNum type="arabicParenR"/>
            </a:pPr>
            <a:r>
              <a:rPr lang="en-IN" sz="2800" dirty="0" smtClean="0"/>
              <a:t>A set of related mono alphabetic substitution rules is used.</a:t>
            </a:r>
          </a:p>
          <a:p>
            <a:pPr marL="514350" indent="-514350">
              <a:buFont typeface="+mj-lt"/>
              <a:buAutoNum type="arabicParenR"/>
            </a:pPr>
            <a:r>
              <a:rPr lang="en-IN" sz="2800" dirty="0" smtClean="0"/>
              <a:t>A key determines which particular rule is chosen for a given transformation.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15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 smtClean="0">
                <a:solidFill>
                  <a:srgbClr val="C00000"/>
                </a:solidFill>
                <a:latin typeface="Marcellus" panose="020E0602050203020307" pitchFamily="34" charset="0"/>
              </a:rPr>
              <a:t>Monoalphabetic</a:t>
            </a:r>
            <a:r>
              <a:rPr lang="en-US" sz="3600" dirty="0" smtClean="0">
                <a:solidFill>
                  <a:srgbClr val="C00000"/>
                </a:solidFill>
                <a:latin typeface="Marcellus" panose="020E0602050203020307" pitchFamily="34" charset="0"/>
              </a:rPr>
              <a:t> vs Polyalphabetic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37455" y="699068"/>
            <a:ext cx="1115785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err="1"/>
              <a:t>Monoalphabetic</a:t>
            </a:r>
            <a:r>
              <a:rPr lang="en-IN" sz="2800" dirty="0"/>
              <a:t> </a:t>
            </a:r>
            <a:r>
              <a:rPr lang="en-IN" sz="2800" dirty="0" smtClean="0"/>
              <a:t>cipher-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cipher alphabet for each plain alphabet is fixed throughout the encryption process. </a:t>
            </a:r>
            <a:endParaRPr lang="en-IN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For </a:t>
            </a:r>
            <a:r>
              <a:rPr lang="en-IN" sz="2800" dirty="0"/>
              <a:t>example, if ‘A’ is encrypted as ‘D’, for any number of occurrence in that plaintext, ‘A’ will always get encrypted to ‘D</a:t>
            </a:r>
            <a:r>
              <a:rPr lang="en-IN" sz="2800" dirty="0" smtClean="0"/>
              <a:t>’.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r>
              <a:rPr lang="en-IN" sz="2800" dirty="0"/>
              <a:t>Polyalphabetic Cipher </a:t>
            </a:r>
            <a:r>
              <a:rPr lang="en-IN" sz="2800" dirty="0" smtClean="0"/>
              <a:t>–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The </a:t>
            </a:r>
            <a:r>
              <a:rPr lang="en-IN" sz="2800" dirty="0"/>
              <a:t>cipher alphabet for the plain alphabet may be different at different places during the encryption process.</a:t>
            </a:r>
            <a:endParaRPr lang="en-IN" sz="2800" dirty="0" smtClean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10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10" y="0"/>
            <a:ext cx="11395912" cy="50868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dirty="0" err="1">
                <a:solidFill>
                  <a:srgbClr val="C00000"/>
                </a:solidFill>
                <a:latin typeface="Marcellus" panose="020E0602050203020307" pitchFamily="34" charset="0"/>
              </a:rPr>
              <a:t>Monoalphabetic</a:t>
            </a:r>
            <a:r>
              <a:rPr lang="en-US" sz="3600" dirty="0">
                <a:solidFill>
                  <a:srgbClr val="C00000"/>
                </a:solidFill>
                <a:latin typeface="Marcellus" panose="020E0602050203020307" pitchFamily="34" charset="0"/>
              </a:rPr>
              <a:t> vs Polyalphabetic Cipher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93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8" y="832756"/>
            <a:ext cx="11759141" cy="46080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859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cxnSp>
        <p:nvCxnSpPr>
          <p:cNvPr id="166" name="Shape 166"/>
          <p:cNvCxnSpPr/>
          <p:nvPr/>
        </p:nvCxnSpPr>
        <p:spPr>
          <a:xfrm>
            <a:off x="609601" y="2590800"/>
            <a:ext cx="10871199" cy="0"/>
          </a:xfrm>
          <a:prstGeom prst="straightConnector1">
            <a:avLst/>
          </a:prstGeom>
          <a:noFill/>
          <a:ln w="76200" cap="rnd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167" name="Shape 167"/>
          <p:cNvCxnSpPr/>
          <p:nvPr/>
        </p:nvCxnSpPr>
        <p:spPr>
          <a:xfrm>
            <a:off x="611716" y="4800600"/>
            <a:ext cx="10871199" cy="0"/>
          </a:xfrm>
          <a:prstGeom prst="straightConnector1">
            <a:avLst/>
          </a:prstGeom>
          <a:noFill/>
          <a:ln w="76200" cap="rnd" cmpd="sng">
            <a:solidFill>
              <a:srgbClr val="009900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168" name="Shape 168"/>
          <p:cNvSpPr txBox="1"/>
          <p:nvPr/>
        </p:nvSpPr>
        <p:spPr>
          <a:xfrm>
            <a:off x="660401" y="2682875"/>
            <a:ext cx="10769599" cy="2041524"/>
          </a:xfrm>
          <a:prstGeom prst="rect">
            <a:avLst/>
          </a:prstGeom>
          <a:solidFill>
            <a:srgbClr val="99FF33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 algn="ctr">
              <a:buClr>
                <a:schemeClr val="dk1"/>
              </a:buClr>
              <a:buSzPct val="25000"/>
            </a:pPr>
            <a:r>
              <a:rPr lang="en-US" sz="3900" dirty="0">
                <a:solidFill>
                  <a:schemeClr val="dk1"/>
                </a:solidFill>
              </a:rPr>
              <a:t>In </a:t>
            </a:r>
            <a:r>
              <a:rPr lang="en-US" sz="3900" dirty="0" err="1">
                <a:solidFill>
                  <a:schemeClr val="dk1"/>
                </a:solidFill>
              </a:rPr>
              <a:t>monoalphabetic</a:t>
            </a:r>
            <a:r>
              <a:rPr lang="en-US" sz="3900" dirty="0">
                <a:solidFill>
                  <a:schemeClr val="dk1"/>
                </a:solidFill>
              </a:rPr>
              <a:t> substitution, the relationship between a symbol in the plaintext to a symbol in the </a:t>
            </a:r>
            <a:r>
              <a:rPr lang="en-US" sz="3900" dirty="0" err="1">
                <a:solidFill>
                  <a:schemeClr val="dk1"/>
                </a:solidFill>
              </a:rPr>
              <a:t>ciphertext</a:t>
            </a:r>
            <a:r>
              <a:rPr lang="en-US" sz="3900" dirty="0">
                <a:solidFill>
                  <a:schemeClr val="dk1"/>
                </a:solidFill>
              </a:rPr>
              <a:t> is always one-to-one.</a:t>
            </a:r>
          </a:p>
        </p:txBody>
      </p:sp>
      <p:sp>
        <p:nvSpPr>
          <p:cNvPr id="169" name="Shape 169"/>
          <p:cNvSpPr txBox="1"/>
          <p:nvPr/>
        </p:nvSpPr>
        <p:spPr>
          <a:xfrm>
            <a:off x="787400" y="1981200"/>
            <a:ext cx="1166282" cy="519112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SzPct val="25000"/>
            </a:pPr>
            <a:r>
              <a:rPr lang="en-US" sz="220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Note</a:t>
            </a:r>
          </a:p>
        </p:txBody>
      </p:sp>
      <p:sp>
        <p:nvSpPr>
          <p:cNvPr id="170" name="Shape 170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 txBox="1">
            <a:spLocks/>
          </p:cNvSpPr>
          <p:nvPr/>
        </p:nvSpPr>
        <p:spPr>
          <a:xfrm>
            <a:off x="375710" y="0"/>
            <a:ext cx="11395912" cy="508682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smtClean="0">
                <a:solidFill>
                  <a:srgbClr val="C00000"/>
                </a:solidFill>
                <a:latin typeface="Marcellus" panose="020E0602050203020307" pitchFamily="34" charset="0"/>
              </a:rPr>
              <a:t>Monoalphabetic vs Polyalphabetic Cipher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164264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177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178" name="Shape 178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79" name="Shape 179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0" name="Shape 180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1" name="Shape 181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2" name="Shape 182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3" name="Shape 183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4" name="Shape 184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186" name="Shape 186"/>
          <p:cNvSpPr txBox="1"/>
          <p:nvPr/>
        </p:nvSpPr>
        <p:spPr>
          <a:xfrm>
            <a:off x="203201" y="1828802"/>
            <a:ext cx="11785599" cy="1187449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following shows a plaintext and its corresponding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ciphertext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The cipher is probably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monoalphabetic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because both l’s </a:t>
            </a:r>
            <a:r>
              <a:rPr lang="en-US" sz="29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are 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encrypted as O’s.</a:t>
            </a:r>
          </a:p>
        </p:txBody>
      </p:sp>
      <p:sp>
        <p:nvSpPr>
          <p:cNvPr id="187" name="Shape 187"/>
          <p:cNvSpPr txBox="1"/>
          <p:nvPr/>
        </p:nvSpPr>
        <p:spPr>
          <a:xfrm>
            <a:off x="304801" y="1219200"/>
            <a:ext cx="2389714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3.1</a:t>
            </a:r>
          </a:p>
        </p:txBody>
      </p:sp>
      <p:pic>
        <p:nvPicPr>
          <p:cNvPr id="188" name="Shape 1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551" y="3124200"/>
            <a:ext cx="8629649" cy="78263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Shape 189"/>
          <p:cNvSpPr txBox="1"/>
          <p:nvPr/>
        </p:nvSpPr>
        <p:spPr>
          <a:xfrm>
            <a:off x="203201" y="4495801"/>
            <a:ext cx="11785599" cy="1369499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following shows a plaintext and its corresponding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ciphertext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The cipher is not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monoalphabetic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because each l </a:t>
            </a:r>
            <a:r>
              <a:rPr lang="en-US" sz="29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is 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encrypted by a different character. </a:t>
            </a:r>
          </a:p>
        </p:txBody>
      </p:sp>
      <p:sp>
        <p:nvSpPr>
          <p:cNvPr id="190" name="Shape 190"/>
          <p:cNvSpPr txBox="1"/>
          <p:nvPr/>
        </p:nvSpPr>
        <p:spPr>
          <a:xfrm>
            <a:off x="197967" y="3872126"/>
            <a:ext cx="2389600" cy="481025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3.2</a:t>
            </a:r>
          </a:p>
        </p:txBody>
      </p:sp>
      <p:sp>
        <p:nvSpPr>
          <p:cNvPr id="192" name="Shape 192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38299" y="5824125"/>
            <a:ext cx="9334501" cy="5577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110368" tIns="55184" rIns="110368" bIns="55184" rtlCol="0">
            <a:spAutoFit/>
          </a:bodyPr>
          <a:lstStyle/>
          <a:p>
            <a:r>
              <a:rPr lang="en-US" sz="2900" dirty="0">
                <a:latin typeface="Times New Roman" pitchFamily="18" charset="0"/>
                <a:cs typeface="Times New Roman" pitchFamily="18" charset="0"/>
              </a:rPr>
              <a:t>Plain Text; hello                          Cipher text: ABNZF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xmlns="" id="{E17A2AFA-9E80-4F87-B3B2-19708553D0D5}"/>
              </a:ext>
            </a:extLst>
          </p:cNvPr>
          <p:cNvSpPr txBox="1">
            <a:spLocks/>
          </p:cNvSpPr>
          <p:nvPr/>
        </p:nvSpPr>
        <p:spPr>
          <a:xfrm>
            <a:off x="375710" y="0"/>
            <a:ext cx="11395912" cy="508682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smtClean="0">
                <a:solidFill>
                  <a:srgbClr val="C00000"/>
                </a:solidFill>
                <a:latin typeface="Marcellus" panose="020E0602050203020307" pitchFamily="34" charset="0"/>
              </a:rPr>
              <a:t>Monoalphabetic vs Polyalphabetic Cipher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200754481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200" name="Shape 200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1" name="Shape 201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2" name="Shape 202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3" name="Shape 203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4" name="Shape 204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5" name="Shape 205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6" name="Shape 206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08" name="Shape 208"/>
          <p:cNvSpPr txBox="1"/>
          <p:nvPr/>
        </p:nvSpPr>
        <p:spPr>
          <a:xfrm>
            <a:off x="203201" y="1325563"/>
            <a:ext cx="11785599" cy="1552575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simplest mono alphabetic cipher is the additive cipher. This cipher is sometimes called a </a:t>
            </a:r>
            <a:r>
              <a:rPr lang="en-US" sz="29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shift cipher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and sometimes a </a:t>
            </a:r>
            <a:r>
              <a:rPr lang="en-US" sz="2900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Caesar cipher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but the term </a:t>
            </a:r>
            <a:r>
              <a:rPr lang="en-US" sz="2900" dirty="0">
                <a:solidFill>
                  <a:srgbClr val="0070C0"/>
                </a:solidFill>
                <a:latin typeface="Tahoma"/>
                <a:ea typeface="Tahoma"/>
                <a:cs typeface="Tahoma"/>
                <a:sym typeface="Tahoma"/>
              </a:rPr>
              <a:t>additive cipher 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better reveals its mathematical nature. 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2930649" y="61112"/>
            <a:ext cx="8540800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 err="1" smtClean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Eg</a:t>
            </a:r>
            <a:r>
              <a:rPr lang="en-US" sz="2900" b="1" dirty="0" smtClean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of </a:t>
            </a:r>
            <a:r>
              <a:rPr lang="en-US" sz="2900" b="1" dirty="0" err="1" smtClean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Monoalphabetic</a:t>
            </a:r>
            <a:r>
              <a:rPr lang="en-US" sz="2900" b="1" dirty="0" smtClean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 Cipher</a:t>
            </a:r>
            <a:endParaRPr lang="en-US" sz="2900" b="1" dirty="0">
              <a:solidFill>
                <a:schemeClr val="folHlink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0" name="Shape 2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2802" y="4038602"/>
            <a:ext cx="9848850" cy="914399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Shape 211"/>
          <p:cNvSpPr txBox="1"/>
          <p:nvPr/>
        </p:nvSpPr>
        <p:spPr>
          <a:xfrm>
            <a:off x="2817282" y="3352800"/>
            <a:ext cx="6428316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folHlink"/>
                </a:solidFill>
                <a:latin typeface="Tahoma"/>
                <a:ea typeface="Tahoma"/>
                <a:cs typeface="Tahoma"/>
                <a:sym typeface="Tahoma"/>
              </a:rPr>
              <a:t>Figure 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Plaintext and </a:t>
            </a:r>
            <a:r>
              <a:rPr lang="en-US" sz="24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ciphertext</a:t>
            </a:r>
            <a:r>
              <a:rPr lang="en-US" sz="24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 Z</a:t>
            </a:r>
            <a:r>
              <a:rPr lang="en-US" sz="2400" baseline="-250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26</a:t>
            </a:r>
          </a:p>
        </p:txBody>
      </p:sp>
      <p:sp>
        <p:nvSpPr>
          <p:cNvPr id="212" name="Shape 212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705672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3" name="Shape 243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4" name="Shape 244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5" name="Shape 245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6" name="Shape 246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7" name="Shape 247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9" name="Shape 249"/>
          <p:cNvSpPr txBox="1"/>
          <p:nvPr/>
        </p:nvSpPr>
        <p:spPr>
          <a:xfrm>
            <a:off x="203201" y="1143000"/>
            <a:ext cx="11785599" cy="822324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the additive cipher with key = 15 to encrypt the message “hello”.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1524000" y="533400"/>
            <a:ext cx="2389714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3.3</a:t>
            </a:r>
          </a:p>
        </p:txBody>
      </p:sp>
      <p:sp>
        <p:nvSpPr>
          <p:cNvPr id="253" name="Shape 253"/>
          <p:cNvSpPr/>
          <p:nvPr/>
        </p:nvSpPr>
        <p:spPr>
          <a:xfrm>
            <a:off x="618067" y="3457575"/>
            <a:ext cx="10761132" cy="1647824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254" name="Shape 254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421247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241" name="Shape 241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2" name="Shape 242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3" name="Shape 243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4" name="Shape 244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5" name="Shape 245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6" name="Shape 246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7" name="Shape 247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49" name="Shape 249"/>
          <p:cNvSpPr txBox="1"/>
          <p:nvPr/>
        </p:nvSpPr>
        <p:spPr>
          <a:xfrm>
            <a:off x="203201" y="1143000"/>
            <a:ext cx="11785599" cy="822324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the additive cipher with key = 15 to encrypt the message “hello”.</a:t>
            </a:r>
          </a:p>
        </p:txBody>
      </p:sp>
      <p:sp>
        <p:nvSpPr>
          <p:cNvPr id="250" name="Shape 250"/>
          <p:cNvSpPr txBox="1"/>
          <p:nvPr/>
        </p:nvSpPr>
        <p:spPr>
          <a:xfrm>
            <a:off x="1524000" y="533400"/>
            <a:ext cx="2389714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3.3</a:t>
            </a:r>
          </a:p>
        </p:txBody>
      </p:sp>
      <p:sp>
        <p:nvSpPr>
          <p:cNvPr id="251" name="Shape 251"/>
          <p:cNvSpPr txBox="1"/>
          <p:nvPr/>
        </p:nvSpPr>
        <p:spPr>
          <a:xfrm>
            <a:off x="203201" y="2606675"/>
            <a:ext cx="11785599" cy="822324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apply the encryption algorithm to the plaintext, character by character:</a:t>
            </a:r>
          </a:p>
        </p:txBody>
      </p:sp>
      <p:sp>
        <p:nvSpPr>
          <p:cNvPr id="252" name="Shape 252"/>
          <p:cNvSpPr txBox="1"/>
          <p:nvPr/>
        </p:nvSpPr>
        <p:spPr>
          <a:xfrm>
            <a:off x="203201" y="2147886"/>
            <a:ext cx="10972801" cy="519112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200" b="1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Solution</a:t>
            </a:r>
          </a:p>
        </p:txBody>
      </p:sp>
      <p:sp>
        <p:nvSpPr>
          <p:cNvPr id="253" name="Shape 253"/>
          <p:cNvSpPr/>
          <p:nvPr/>
        </p:nvSpPr>
        <p:spPr>
          <a:xfrm>
            <a:off x="618067" y="3457575"/>
            <a:ext cx="10761132" cy="1647824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254" name="Shape 254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  <p:pic>
        <p:nvPicPr>
          <p:cNvPr id="17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2" y="3457577"/>
            <a:ext cx="11756383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706474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3" name="Shape 263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4" name="Shape 264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5" name="Shape 265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6" name="Shape 266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7" name="Shape 267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8" name="Shape 268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70" name="Shape 270"/>
          <p:cNvSpPr txBox="1"/>
          <p:nvPr/>
        </p:nvSpPr>
        <p:spPr>
          <a:xfrm>
            <a:off x="142687" y="1591473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the additive cipher with key = 15 to decrypt the message “WTAAD”.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75150" y="1079930"/>
            <a:ext cx="2389600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3.4</a:t>
            </a:r>
          </a:p>
        </p:txBody>
      </p:sp>
      <p:sp>
        <p:nvSpPr>
          <p:cNvPr id="274" name="Shape 274"/>
          <p:cNvSpPr/>
          <p:nvPr/>
        </p:nvSpPr>
        <p:spPr>
          <a:xfrm>
            <a:off x="698500" y="3581401"/>
            <a:ext cx="10883898" cy="1601786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275" name="Shape 275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2636226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3" name="Shape 263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4" name="Shape 264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5" name="Shape 265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6" name="Shape 266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7" name="Shape 267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68" name="Shape 268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270" name="Shape 270"/>
          <p:cNvSpPr txBox="1"/>
          <p:nvPr/>
        </p:nvSpPr>
        <p:spPr>
          <a:xfrm>
            <a:off x="142687" y="1591473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Use the additive cipher with key = 15 to decrypt the message “WTAAD”.</a:t>
            </a:r>
          </a:p>
        </p:txBody>
      </p:sp>
      <p:sp>
        <p:nvSpPr>
          <p:cNvPr id="271" name="Shape 271"/>
          <p:cNvSpPr txBox="1"/>
          <p:nvPr/>
        </p:nvSpPr>
        <p:spPr>
          <a:xfrm>
            <a:off x="75150" y="1079930"/>
            <a:ext cx="2389600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3.4</a:t>
            </a:r>
          </a:p>
        </p:txBody>
      </p:sp>
      <p:sp>
        <p:nvSpPr>
          <p:cNvPr id="272" name="Shape 272"/>
          <p:cNvSpPr txBox="1"/>
          <p:nvPr/>
        </p:nvSpPr>
        <p:spPr>
          <a:xfrm>
            <a:off x="219450" y="2932772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apply the decryption algorithm to the plaintext character by character:</a:t>
            </a:r>
          </a:p>
        </p:txBody>
      </p:sp>
      <p:sp>
        <p:nvSpPr>
          <p:cNvPr id="273" name="Shape 273"/>
          <p:cNvSpPr txBox="1"/>
          <p:nvPr/>
        </p:nvSpPr>
        <p:spPr>
          <a:xfrm>
            <a:off x="219450" y="2413775"/>
            <a:ext cx="10972801" cy="518999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200" b="1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Solution</a:t>
            </a:r>
          </a:p>
        </p:txBody>
      </p:sp>
      <p:sp>
        <p:nvSpPr>
          <p:cNvPr id="274" name="Shape 274"/>
          <p:cNvSpPr/>
          <p:nvPr/>
        </p:nvSpPr>
        <p:spPr>
          <a:xfrm>
            <a:off x="698500" y="3581401"/>
            <a:ext cx="10883898" cy="1601786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275" name="Shape 275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  <p:pic>
        <p:nvPicPr>
          <p:cNvPr id="1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1" y="3960812"/>
            <a:ext cx="10883900" cy="1601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278432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5" name="Shape 305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6" name="Shape 306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7" name="Shape 307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8" name="Shape 308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9" name="Shape 309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10" name="Shape 310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12" name="Shape 312"/>
          <p:cNvSpPr txBox="1"/>
          <p:nvPr/>
        </p:nvSpPr>
        <p:spPr>
          <a:xfrm>
            <a:off x="274340" y="1371600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 has intercepted the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ciphertext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“UVACLYFZLJBYL”. Show how she can use a brute-force attack to break the </a:t>
            </a:r>
            <a:r>
              <a:rPr lang="en-US" sz="2900" dirty="0" smtClean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Caesar cipher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345198" y="595311"/>
            <a:ext cx="2389600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3.5</a:t>
            </a:r>
          </a:p>
        </p:txBody>
      </p:sp>
      <p:sp>
        <p:nvSpPr>
          <p:cNvPr id="316" name="Shape 316"/>
          <p:cNvSpPr/>
          <p:nvPr/>
        </p:nvSpPr>
        <p:spPr>
          <a:xfrm>
            <a:off x="884769" y="3429000"/>
            <a:ext cx="9884833" cy="3155950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317" name="Shape 317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0661309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Shape 303"/>
          <p:cNvSpPr txBox="1"/>
          <p:nvPr/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1400" b="1">
                <a:solidFill>
                  <a:schemeClr val="dk1"/>
                </a:solidFill>
              </a:rPr>
              <a:t>3.*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88949" y="107952"/>
            <a:ext cx="584200" cy="47466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5" name="Shape 305"/>
          <p:cNvSpPr txBox="1"/>
          <p:nvPr/>
        </p:nvSpPr>
        <p:spPr>
          <a:xfrm>
            <a:off x="999067" y="107952"/>
            <a:ext cx="438148" cy="474661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6" name="Shape 306"/>
          <p:cNvSpPr txBox="1"/>
          <p:nvPr/>
        </p:nvSpPr>
        <p:spPr>
          <a:xfrm>
            <a:off x="654052" y="530226"/>
            <a:ext cx="563034" cy="474661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7" name="Shape 307"/>
          <p:cNvSpPr txBox="1"/>
          <p:nvPr/>
        </p:nvSpPr>
        <p:spPr>
          <a:xfrm>
            <a:off x="1147235" y="530226"/>
            <a:ext cx="491065" cy="474661"/>
          </a:xfrm>
          <a:prstGeom prst="rect">
            <a:avLst/>
          </a:prstGeom>
          <a:gradFill>
            <a:gsLst>
              <a:gs pos="0">
                <a:schemeClr val="folHlink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8" name="Shape 308"/>
          <p:cNvSpPr txBox="1"/>
          <p:nvPr/>
        </p:nvSpPr>
        <p:spPr>
          <a:xfrm>
            <a:off x="101600" y="457202"/>
            <a:ext cx="747183" cy="422275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chemeClr val="hlink"/>
              </a:gs>
            </a:gsLst>
            <a:lin ang="18899999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09" name="Shape 309"/>
          <p:cNvSpPr txBox="1"/>
          <p:nvPr/>
        </p:nvSpPr>
        <p:spPr>
          <a:xfrm>
            <a:off x="948267" y="1"/>
            <a:ext cx="42333" cy="105251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10" name="Shape 310"/>
          <p:cNvSpPr txBox="1"/>
          <p:nvPr/>
        </p:nvSpPr>
        <p:spPr>
          <a:xfrm>
            <a:off x="590550" y="533400"/>
            <a:ext cx="10968566" cy="31750"/>
          </a:xfrm>
          <a:prstGeom prst="rect">
            <a:avLst/>
          </a:prstGeom>
          <a:gradFill>
            <a:gsLst>
              <a:gs pos="0">
                <a:schemeClr val="l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endParaRPr/>
          </a:p>
        </p:txBody>
      </p:sp>
      <p:sp>
        <p:nvSpPr>
          <p:cNvPr id="312" name="Shape 312"/>
          <p:cNvSpPr txBox="1"/>
          <p:nvPr/>
        </p:nvSpPr>
        <p:spPr>
          <a:xfrm>
            <a:off x="274340" y="1371600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 has intercepted the </a:t>
            </a:r>
            <a:r>
              <a:rPr lang="en-US" sz="2900" dirty="0" err="1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ciphertext</a:t>
            </a: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“UVACLYFZLJBYL”. Show how she can use a brute-force attack to break the cipher.</a:t>
            </a:r>
          </a:p>
        </p:txBody>
      </p:sp>
      <p:sp>
        <p:nvSpPr>
          <p:cNvPr id="313" name="Shape 313"/>
          <p:cNvSpPr txBox="1"/>
          <p:nvPr/>
        </p:nvSpPr>
        <p:spPr>
          <a:xfrm>
            <a:off x="1345198" y="595311"/>
            <a:ext cx="2389600" cy="457200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lIns="110350" tIns="55160" rIns="110350" bIns="55160" anchor="t" anchorCtr="0">
            <a:noAutofit/>
          </a:bodyPr>
          <a:lstStyle/>
          <a:p>
            <a:pPr>
              <a:buClr>
                <a:schemeClr val="dk1"/>
              </a:buClr>
              <a:buSzPct val="25000"/>
            </a:pPr>
            <a:r>
              <a:rPr lang="en-US" sz="2900" b="1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Example 3.5</a:t>
            </a:r>
          </a:p>
        </p:txBody>
      </p:sp>
      <p:sp>
        <p:nvSpPr>
          <p:cNvPr id="314" name="Shape 314"/>
          <p:cNvSpPr txBox="1"/>
          <p:nvPr/>
        </p:nvSpPr>
        <p:spPr>
          <a:xfrm>
            <a:off x="406402" y="2606700"/>
            <a:ext cx="11785599" cy="8223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9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 tries keys from 1 to 7. With a key of 7, the plaintext is “not very secure”, which makes sense.</a:t>
            </a:r>
          </a:p>
        </p:txBody>
      </p:sp>
      <p:sp>
        <p:nvSpPr>
          <p:cNvPr id="315" name="Shape 315"/>
          <p:cNvSpPr txBox="1"/>
          <p:nvPr/>
        </p:nvSpPr>
        <p:spPr>
          <a:xfrm>
            <a:off x="340784" y="2193901"/>
            <a:ext cx="10972801" cy="518999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ctr" anchorCtr="0">
            <a:noAutofit/>
          </a:bodyPr>
          <a:lstStyle/>
          <a:p>
            <a:pPr algn="just">
              <a:buClr>
                <a:schemeClr val="dk1"/>
              </a:buClr>
              <a:buSzPct val="25000"/>
            </a:pPr>
            <a:r>
              <a:rPr lang="en-US" sz="2200" b="1" dirty="0">
                <a:solidFill>
                  <a:schemeClr val="hlink"/>
                </a:solidFill>
                <a:latin typeface="Tahoma"/>
                <a:ea typeface="Tahoma"/>
                <a:cs typeface="Tahoma"/>
                <a:sym typeface="Tahoma"/>
              </a:rPr>
              <a:t>Solution</a:t>
            </a:r>
          </a:p>
        </p:txBody>
      </p:sp>
      <p:sp>
        <p:nvSpPr>
          <p:cNvPr id="316" name="Shape 316"/>
          <p:cNvSpPr/>
          <p:nvPr/>
        </p:nvSpPr>
        <p:spPr>
          <a:xfrm>
            <a:off x="884769" y="3429000"/>
            <a:ext cx="9884833" cy="3155950"/>
          </a:xfrm>
          <a:prstGeom prst="rect">
            <a:avLst/>
          </a:prstGeom>
          <a:noFill/>
          <a:ln>
            <a:noFill/>
          </a:ln>
        </p:spPr>
        <p:txBody>
          <a:bodyPr lIns="110350" tIns="110350" rIns="110350" bIns="110350" anchor="ctr" anchorCtr="0">
            <a:noAutofit/>
          </a:bodyPr>
          <a:lstStyle/>
          <a:p>
            <a:endParaRPr/>
          </a:p>
        </p:txBody>
      </p:sp>
      <p:sp>
        <p:nvSpPr>
          <p:cNvPr id="317" name="Shape 317"/>
          <p:cNvSpPr txBox="1">
            <a:spLocks noGrp="1"/>
          </p:cNvSpPr>
          <p:nvPr>
            <p:ph type="sldNum" idx="4294967295"/>
          </p:nvPr>
        </p:nvSpPr>
        <p:spPr>
          <a:xfrm>
            <a:off x="3" y="6400800"/>
            <a:ext cx="2539998" cy="457200"/>
          </a:xfrm>
          <a:prstGeom prst="rect">
            <a:avLst/>
          </a:prstGeom>
          <a:noFill/>
          <a:ln>
            <a:noFill/>
          </a:ln>
        </p:spPr>
        <p:txBody>
          <a:bodyPr lIns="110350" tIns="55160" rIns="110350" bIns="55160" anchor="b" anchorCtr="0">
            <a:noAutofit/>
          </a:bodyPr>
          <a:lstStyle/>
          <a:p>
            <a:pPr>
              <a:buSzPct val="25000"/>
            </a:pPr>
            <a:r>
              <a:rPr lang="en-US"/>
              <a:t> </a:t>
            </a:r>
          </a:p>
        </p:txBody>
      </p:sp>
      <p:pic>
        <p:nvPicPr>
          <p:cNvPr id="17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969" y="3483784"/>
            <a:ext cx="9884833" cy="3155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6242917"/>
      </p:ext>
    </p:extLst>
  </p:cSld>
  <p:clrMapOvr>
    <a:masterClrMapping/>
  </p:clrMapOvr>
  <p:transition spd="slow">
    <p:cut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394935"/>
            <a:ext cx="107496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GATE | GATE-IT-2004 | Question 25</a:t>
            </a:r>
          </a:p>
          <a:p>
            <a:r>
              <a:rPr lang="en-IN" sz="2800" dirty="0" smtClean="0"/>
              <a:t>A </a:t>
            </a:r>
            <a:r>
              <a:rPr lang="en-IN" sz="2800" dirty="0"/>
              <a:t>sender is employing public key cryptography to send a secret message to a receiver. Which one of the following statements is TRUE?</a:t>
            </a:r>
            <a:br>
              <a:rPr lang="en-IN" sz="2800" dirty="0"/>
            </a:br>
            <a:r>
              <a:rPr lang="en-IN" sz="2800" b="1" dirty="0"/>
              <a:t>(A)</a:t>
            </a:r>
            <a:r>
              <a:rPr lang="en-IN" sz="2800" dirty="0"/>
              <a:t> Sender encrypts using receiver’s public key</a:t>
            </a:r>
            <a:br>
              <a:rPr lang="en-IN" sz="2800" dirty="0"/>
            </a:br>
            <a:r>
              <a:rPr lang="en-IN" sz="2800" b="1" dirty="0"/>
              <a:t>(B)</a:t>
            </a:r>
            <a:r>
              <a:rPr lang="en-IN" sz="2800" dirty="0"/>
              <a:t> Sender encrypts using his own public key</a:t>
            </a:r>
            <a:br>
              <a:rPr lang="en-IN" sz="2800" dirty="0"/>
            </a:br>
            <a:r>
              <a:rPr lang="en-IN" sz="2800" b="1" dirty="0"/>
              <a:t>(C)</a:t>
            </a:r>
            <a:r>
              <a:rPr lang="en-IN" sz="2800" dirty="0"/>
              <a:t> Receiver decrypts using sender’s public key</a:t>
            </a:r>
            <a:br>
              <a:rPr lang="en-IN" sz="2800" dirty="0"/>
            </a:br>
            <a:r>
              <a:rPr lang="en-IN" sz="2800" b="1" dirty="0"/>
              <a:t>(D)</a:t>
            </a:r>
            <a:r>
              <a:rPr lang="en-IN" sz="2800" dirty="0"/>
              <a:t> Receiver decrypts using his own public key</a:t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880674" y="567534"/>
            <a:ext cx="385984" cy="122366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533653" y="1754134"/>
            <a:ext cx="176409" cy="9333048"/>
          </a:xfrm>
          <a:prstGeom prst="rect">
            <a:avLst/>
          </a:prstGeom>
        </p:spPr>
      </p:pic>
      <p:pic>
        <p:nvPicPr>
          <p:cNvPr id="7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421" y="5610533"/>
            <a:ext cx="968545" cy="721920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14" y="5440809"/>
            <a:ext cx="3245736" cy="81143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68085" y="394935"/>
            <a:ext cx="107496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GATE | GATE-IT-2004 | Question 25</a:t>
            </a:r>
          </a:p>
          <a:p>
            <a:r>
              <a:rPr lang="en-IN" sz="2800" dirty="0" smtClean="0"/>
              <a:t>A </a:t>
            </a:r>
            <a:r>
              <a:rPr lang="en-IN" sz="2800" dirty="0"/>
              <a:t>sender is employing public key cryptography to send a secret message to a receiver. Which one of the following statements is TRUE?</a:t>
            </a:r>
            <a:br>
              <a:rPr lang="en-IN" sz="2800" dirty="0"/>
            </a:br>
            <a:r>
              <a:rPr lang="en-IN" sz="2800" b="1" dirty="0"/>
              <a:t>(A)</a:t>
            </a:r>
            <a:r>
              <a:rPr lang="en-IN" sz="2800" dirty="0"/>
              <a:t> Sender encrypts using receiver’s public key</a:t>
            </a:r>
            <a:br>
              <a:rPr lang="en-IN" sz="2800" dirty="0"/>
            </a:br>
            <a:r>
              <a:rPr lang="en-IN" sz="2800" b="1" dirty="0"/>
              <a:t>(B)</a:t>
            </a:r>
            <a:r>
              <a:rPr lang="en-IN" sz="2800" dirty="0"/>
              <a:t> Sender encrypts using his own public key</a:t>
            </a:r>
            <a:br>
              <a:rPr lang="en-IN" sz="2800" dirty="0"/>
            </a:br>
            <a:r>
              <a:rPr lang="en-IN" sz="2800" b="1" dirty="0"/>
              <a:t>(C)</a:t>
            </a:r>
            <a:r>
              <a:rPr lang="en-IN" sz="2800" dirty="0"/>
              <a:t> Receiver decrypts using sender’s public key</a:t>
            </a:r>
            <a:br>
              <a:rPr lang="en-IN" sz="2800" dirty="0"/>
            </a:br>
            <a:r>
              <a:rPr lang="en-IN" sz="2800" b="1" dirty="0"/>
              <a:t>(D)</a:t>
            </a:r>
            <a:r>
              <a:rPr lang="en-IN" sz="2800" dirty="0"/>
              <a:t> Receiver decrypts using his own public key</a:t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dirty="0"/>
              <a:t/>
            </a:r>
            <a:br>
              <a:rPr lang="en-IN" sz="2800" dirty="0"/>
            </a:br>
            <a:r>
              <a:rPr lang="en-IN" sz="2800" b="1" dirty="0"/>
              <a:t>Answer:</a:t>
            </a:r>
            <a:r>
              <a:rPr lang="en-IN" sz="2800" dirty="0"/>
              <a:t> </a:t>
            </a:r>
            <a:r>
              <a:rPr lang="en-IN" sz="2800" b="1" dirty="0"/>
              <a:t>(A)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C2255-CDC1-42CB-A7F8-7E115AAB09ED}" type="datetime1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Prof. Shweta Dhawan Chachra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01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343" y="103868"/>
            <a:ext cx="10515600" cy="1325563"/>
          </a:xfrm>
        </p:spPr>
        <p:txBody>
          <a:bodyPr/>
          <a:lstStyle/>
          <a:p>
            <a:r>
              <a:rPr lang="en-IN" dirty="0" smtClean="0"/>
              <a:t>TYPES OF KEYS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221" y="124187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Public key</a:t>
            </a:r>
          </a:p>
          <a:p>
            <a:r>
              <a:rPr lang="en-IN" dirty="0" smtClean="0"/>
              <a:t>Private key</a:t>
            </a:r>
          </a:p>
          <a:p>
            <a:r>
              <a:rPr lang="en-IN" dirty="0" smtClean="0"/>
              <a:t>Symmetric key</a:t>
            </a:r>
          </a:p>
          <a:p>
            <a:r>
              <a:rPr lang="en-IN" dirty="0" smtClean="0"/>
              <a:t>Session key</a:t>
            </a:r>
          </a:p>
          <a:p>
            <a:r>
              <a:rPr lang="en-IN" dirty="0" smtClean="0"/>
              <a:t>keystream</a:t>
            </a:r>
          </a:p>
          <a:p>
            <a:r>
              <a:rPr lang="en-IN" dirty="0" smtClean="0"/>
              <a:t>Passphrase</a:t>
            </a:r>
          </a:p>
          <a:p>
            <a:r>
              <a:rPr lang="en-IN" dirty="0" smtClean="0"/>
              <a:t>Key protection/encryption keys</a:t>
            </a:r>
          </a:p>
          <a:p>
            <a:r>
              <a:rPr lang="en-IN" dirty="0" smtClean="0"/>
              <a:t>Access keys/granting keys</a:t>
            </a:r>
          </a:p>
          <a:p>
            <a:r>
              <a:rPr lang="en-IN" dirty="0" smtClean="0"/>
              <a:t>Data encryption keys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631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Symmetric Key (Secret Key)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Used in:</a:t>
            </a:r>
            <a:r>
              <a:rPr lang="en-US" dirty="0"/>
              <a:t> Symmetric encryption</a:t>
            </a:r>
          </a:p>
          <a:p>
            <a:r>
              <a:rPr lang="en-US" b="1" dirty="0"/>
              <a:t>Key characteristic:</a:t>
            </a:r>
            <a:r>
              <a:rPr lang="en-US" dirty="0"/>
              <a:t> Same key used for encryption and decryption</a:t>
            </a:r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b="1" dirty="0"/>
              <a:t>AES key (Advanced Encryption Standard)</a:t>
            </a:r>
            <a:r>
              <a:rPr lang="en-US" dirty="0"/>
              <a:t> – 128, 192, or 256 bits</a:t>
            </a:r>
          </a:p>
          <a:p>
            <a:r>
              <a:rPr lang="en-US" b="1" dirty="0"/>
              <a:t>DES key (Data Encryption Standard)</a:t>
            </a:r>
            <a:r>
              <a:rPr lang="en-US" dirty="0"/>
              <a:t> – 56 bits (now obsolete)</a:t>
            </a:r>
          </a:p>
          <a:p>
            <a:r>
              <a:rPr lang="en-US" b="1" dirty="0"/>
              <a:t>3DES key</a:t>
            </a:r>
            <a:r>
              <a:rPr lang="en-US" dirty="0"/>
              <a:t> – 112 or 168 bits</a:t>
            </a:r>
          </a:p>
          <a:p>
            <a:r>
              <a:rPr lang="en-US" b="1" dirty="0"/>
              <a:t>RC4, RC5, RC6 keys</a:t>
            </a:r>
            <a:endParaRPr lang="en-US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656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Asymmetric Key (Public/Private Key Pair</a:t>
            </a:r>
            <a:r>
              <a:rPr lang="en-IN" b="1" dirty="0" smtClean="0"/>
              <a:t>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 smtClean="0"/>
              <a:t>Used </a:t>
            </a:r>
            <a:r>
              <a:rPr lang="en-IN" b="1" dirty="0"/>
              <a:t>in:</a:t>
            </a:r>
            <a:r>
              <a:rPr lang="en-IN" dirty="0"/>
              <a:t> Asymmetric encryption, digital signatures, key exchange</a:t>
            </a:r>
          </a:p>
          <a:p>
            <a:r>
              <a:rPr lang="en-IN" b="1" dirty="0"/>
              <a:t>Key characteristic:</a:t>
            </a:r>
            <a:r>
              <a:rPr lang="en-IN" dirty="0"/>
              <a:t> Public key for encryption or signature verification; private key for decryption or signing</a:t>
            </a:r>
          </a:p>
          <a:p>
            <a:r>
              <a:rPr lang="en-IN" b="1" dirty="0"/>
              <a:t>Examples:</a:t>
            </a:r>
            <a:endParaRPr lang="en-IN" dirty="0"/>
          </a:p>
          <a:p>
            <a:pPr lvl="1"/>
            <a:r>
              <a:rPr lang="en-IN" b="1" dirty="0"/>
              <a:t>Public Key</a:t>
            </a:r>
            <a:r>
              <a:rPr lang="en-IN" dirty="0"/>
              <a:t> – Used to encrypt data or verify digital signatures</a:t>
            </a:r>
          </a:p>
          <a:p>
            <a:pPr lvl="1"/>
            <a:r>
              <a:rPr lang="en-IN" b="1" dirty="0"/>
              <a:t>Private Key</a:t>
            </a:r>
            <a:r>
              <a:rPr lang="en-IN" dirty="0"/>
              <a:t> – Used to decrypt data or create digital signatures</a:t>
            </a:r>
          </a:p>
          <a:p>
            <a:pPr lvl="1"/>
            <a:r>
              <a:rPr lang="en-IN" b="1" dirty="0"/>
              <a:t>RSA Key</a:t>
            </a:r>
            <a:r>
              <a:rPr lang="en-IN" dirty="0"/>
              <a:t> – Common in email and secure web communication</a:t>
            </a:r>
          </a:p>
          <a:p>
            <a:pPr lvl="1"/>
            <a:r>
              <a:rPr lang="en-IN" b="1" dirty="0"/>
              <a:t>ECC Key</a:t>
            </a:r>
            <a:r>
              <a:rPr lang="en-IN" dirty="0"/>
              <a:t> – Elliptic Curve Cryptography (e.g., P-256, Ed25519)</a:t>
            </a:r>
          </a:p>
          <a:p>
            <a:pPr lvl="1"/>
            <a:r>
              <a:rPr lang="en-IN" b="1" dirty="0"/>
              <a:t>DSA Key</a:t>
            </a:r>
            <a:r>
              <a:rPr lang="en-IN" dirty="0"/>
              <a:t> – Digital Signature Algorithm</a:t>
            </a:r>
          </a:p>
          <a:p>
            <a:pPr lvl="1"/>
            <a:r>
              <a:rPr lang="en-IN" b="1" dirty="0" err="1"/>
              <a:t>ElGamal</a:t>
            </a:r>
            <a:r>
              <a:rPr lang="en-IN" b="1" dirty="0"/>
              <a:t> Key</a:t>
            </a:r>
            <a:r>
              <a:rPr lang="en-IN" dirty="0"/>
              <a:t> – Often used for encryption based on </a:t>
            </a:r>
            <a:r>
              <a:rPr lang="en-IN" dirty="0" err="1"/>
              <a:t>Diffie</a:t>
            </a:r>
            <a:r>
              <a:rPr lang="en-IN" dirty="0"/>
              <a:t>–Hellman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73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Public </a:t>
            </a:r>
            <a:r>
              <a:rPr lang="en-US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Used </a:t>
            </a:r>
            <a:r>
              <a:rPr lang="en-US" b="1" dirty="0"/>
              <a:t>in:</a:t>
            </a:r>
            <a:r>
              <a:rPr lang="en-US" dirty="0"/>
              <a:t> Encryption or signature verification</a:t>
            </a:r>
          </a:p>
          <a:p>
            <a:r>
              <a:rPr lang="en-US" b="1" dirty="0"/>
              <a:t>Key characteristic:</a:t>
            </a:r>
            <a:r>
              <a:rPr lang="en-US" dirty="0"/>
              <a:t> Can be shared openly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695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Private Key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Used </a:t>
            </a:r>
            <a:r>
              <a:rPr lang="en-US" b="1" dirty="0"/>
              <a:t>in:</a:t>
            </a:r>
            <a:r>
              <a:rPr lang="en-US" dirty="0"/>
              <a:t> Decryption or digital signing</a:t>
            </a:r>
          </a:p>
          <a:p>
            <a:r>
              <a:rPr lang="en-US" b="1" dirty="0"/>
              <a:t>Key characteristic:</a:t>
            </a:r>
            <a:r>
              <a:rPr lang="en-US" dirty="0"/>
              <a:t> Must be kept secret; compromise means full access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109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2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Session </a:t>
            </a:r>
            <a:r>
              <a:rPr lang="en-US" b="1" dirty="0" smtClean="0"/>
              <a:t>Key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Used </a:t>
            </a:r>
            <a:r>
              <a:rPr lang="en-US" b="1" dirty="0"/>
              <a:t>in:</a:t>
            </a:r>
            <a:r>
              <a:rPr lang="en-US" dirty="0"/>
              <a:t> Temporary communication sessions</a:t>
            </a:r>
          </a:p>
          <a:p>
            <a:r>
              <a:rPr lang="en-US" b="1" dirty="0"/>
              <a:t>Key characteristic:</a:t>
            </a:r>
            <a:r>
              <a:rPr lang="en-US" dirty="0"/>
              <a:t> Ephemeral symmetric key generated for a single session</a:t>
            </a:r>
          </a:p>
          <a:p>
            <a:r>
              <a:rPr lang="en-US" b="1" dirty="0"/>
              <a:t>Often used with:</a:t>
            </a:r>
            <a:r>
              <a:rPr lang="en-US" dirty="0"/>
              <a:t> TLS, VPNs, secure messaging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54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Exchange / Derivation / Wrapping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Pre-shared </a:t>
            </a:r>
            <a:r>
              <a:rPr lang="en-US" b="1" dirty="0"/>
              <a:t>Key (PSK)</a:t>
            </a:r>
            <a:r>
              <a:rPr lang="en-US" dirty="0"/>
              <a:t> – Shared in advance, used in VPNs, Wi-Fi (WPA2-PSK)</a:t>
            </a:r>
          </a:p>
          <a:p>
            <a:r>
              <a:rPr lang="en-US" b="1" dirty="0"/>
              <a:t>Key Derivation Key (KDK)</a:t>
            </a:r>
            <a:r>
              <a:rPr lang="en-US" dirty="0"/>
              <a:t> – Used in key derivation functions (KDFs)</a:t>
            </a:r>
          </a:p>
          <a:p>
            <a:r>
              <a:rPr lang="en-US" b="1" dirty="0"/>
              <a:t>Key Encryption Key (KEK)</a:t>
            </a:r>
            <a:r>
              <a:rPr lang="en-US" dirty="0"/>
              <a:t> – Encrypts other keys, not data directly</a:t>
            </a:r>
          </a:p>
          <a:p>
            <a:r>
              <a:rPr lang="en-US" b="1" dirty="0"/>
              <a:t>Master Key / Root Key</a:t>
            </a:r>
            <a:r>
              <a:rPr lang="en-US" dirty="0"/>
              <a:t> – Base key used to derive or sign other keys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Prof. Shweta </a:t>
            </a:r>
            <a:r>
              <a:rPr lang="en-US" dirty="0" err="1" smtClean="0"/>
              <a:t>Dhawan</a:t>
            </a:r>
            <a:r>
              <a:rPr lang="en-US" dirty="0" smtClean="0"/>
              <a:t> </a:t>
            </a:r>
            <a:r>
              <a:rPr lang="en-US" dirty="0" err="1" smtClean="0"/>
              <a:t>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8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Application-Specific Keys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Data </a:t>
            </a:r>
            <a:r>
              <a:rPr lang="en-IN" b="1" dirty="0"/>
              <a:t>Encryption Key (DEK)</a:t>
            </a:r>
            <a:r>
              <a:rPr lang="en-IN" dirty="0"/>
              <a:t> – Specifically used to encrypt data (e.g., in databases, cloud storage)</a:t>
            </a:r>
          </a:p>
          <a:p>
            <a:r>
              <a:rPr lang="en-IN" b="1" dirty="0"/>
              <a:t>Authentication Key (</a:t>
            </a:r>
            <a:r>
              <a:rPr lang="en-IN" b="1" dirty="0" err="1"/>
              <a:t>Auth</a:t>
            </a:r>
            <a:r>
              <a:rPr lang="en-IN" b="1" dirty="0"/>
              <a:t> Key)</a:t>
            </a:r>
            <a:r>
              <a:rPr lang="en-IN" dirty="0"/>
              <a:t> – Used in MACs (Message Authentication Codes), HMACs, and digital signatures</a:t>
            </a:r>
          </a:p>
          <a:p>
            <a:r>
              <a:rPr lang="en-IN" b="1" dirty="0"/>
              <a:t>Passphrase / Password Key</a:t>
            </a:r>
            <a:r>
              <a:rPr lang="en-IN" dirty="0"/>
              <a:t> – A human-memorable string often turned into a cryptographic key via a KDF (like PBKDF2, </a:t>
            </a:r>
            <a:r>
              <a:rPr lang="en-IN" dirty="0" err="1"/>
              <a:t>scrypt</a:t>
            </a:r>
            <a:r>
              <a:rPr lang="en-IN" dirty="0"/>
              <a:t>, Argon2)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09048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895648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52047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82323"/>
            <a:ext cx="3245736" cy="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1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Passphrase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passphrase is a </a:t>
            </a:r>
            <a:r>
              <a:rPr lang="en-US" b="1" dirty="0"/>
              <a:t>human-readable string</a:t>
            </a:r>
            <a:r>
              <a:rPr lang="en-US" dirty="0"/>
              <a:t> (often multiple words) used to derive a cryptographic key. It's similar to a password but typically </a:t>
            </a:r>
            <a:r>
              <a:rPr lang="en-US" b="1" dirty="0"/>
              <a:t>longer and more secure</a:t>
            </a:r>
            <a:r>
              <a:rPr lang="en-US" dirty="0"/>
              <a:t>.</a:t>
            </a:r>
          </a:p>
          <a:p>
            <a:r>
              <a:rPr lang="en-US" b="1" dirty="0"/>
              <a:t>Usage:</a:t>
            </a:r>
            <a:endParaRPr lang="en-US" dirty="0"/>
          </a:p>
          <a:p>
            <a:pPr lvl="1"/>
            <a:r>
              <a:rPr lang="en-US" dirty="0"/>
              <a:t>Protect private keys (e.g., PGP or SSH keys)</a:t>
            </a:r>
          </a:p>
          <a:p>
            <a:pPr lvl="1"/>
            <a:r>
              <a:rPr lang="en-US" dirty="0"/>
              <a:t>Used in key derivation functions (KDFs) like PBKDF2, </a:t>
            </a:r>
            <a:r>
              <a:rPr lang="en-US" dirty="0" err="1"/>
              <a:t>scrypt</a:t>
            </a:r>
            <a:r>
              <a:rPr lang="en-US" dirty="0"/>
              <a:t>, Argon2</a:t>
            </a:r>
          </a:p>
          <a:p>
            <a:pPr lvl="1"/>
            <a:r>
              <a:rPr lang="en-US" dirty="0"/>
              <a:t>Encrypt files, devices, or secure messages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"correct horse battery staple" → used to generate a 256-bit encryption </a:t>
            </a:r>
            <a:r>
              <a:rPr lang="en-US" dirty="0" smtClean="0"/>
              <a:t>key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802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Keystream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Definition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 </a:t>
            </a:r>
            <a:r>
              <a:rPr lang="en-US" b="1" dirty="0"/>
              <a:t>keystream</a:t>
            </a:r>
            <a:r>
              <a:rPr lang="en-US" dirty="0"/>
              <a:t> is a sequence of bits or bytes </a:t>
            </a:r>
            <a:r>
              <a:rPr lang="en-US" b="1" dirty="0"/>
              <a:t>generated by a stream cipher</a:t>
            </a:r>
            <a:r>
              <a:rPr lang="en-US" dirty="0"/>
              <a:t>, which is </a:t>
            </a:r>
            <a:r>
              <a:rPr lang="en-US" b="1" dirty="0"/>
              <a:t>combined (usually </a:t>
            </a:r>
            <a:r>
              <a:rPr lang="en-US" b="1" dirty="0" err="1"/>
              <a:t>XORed</a:t>
            </a:r>
            <a:r>
              <a:rPr lang="en-US" b="1" dirty="0"/>
              <a:t>)</a:t>
            </a:r>
            <a:r>
              <a:rPr lang="en-US" dirty="0"/>
              <a:t> with plaintext to produce </a:t>
            </a:r>
            <a:r>
              <a:rPr lang="en-US" dirty="0" err="1"/>
              <a:t>ciphertext</a:t>
            </a:r>
            <a:r>
              <a:rPr lang="en-US" dirty="0"/>
              <a:t>.</a:t>
            </a:r>
          </a:p>
          <a:p>
            <a:r>
              <a:rPr lang="en-US" b="1" dirty="0"/>
              <a:t>Usage:</a:t>
            </a:r>
            <a:endParaRPr lang="en-US" dirty="0"/>
          </a:p>
          <a:p>
            <a:pPr lvl="1"/>
            <a:r>
              <a:rPr lang="en-US" dirty="0"/>
              <a:t>Core component in stream ciphers like </a:t>
            </a:r>
            <a:r>
              <a:rPr lang="en-US" b="1" dirty="0"/>
              <a:t>RC4</a:t>
            </a:r>
            <a:r>
              <a:rPr lang="en-US" dirty="0"/>
              <a:t>, </a:t>
            </a:r>
            <a:r>
              <a:rPr lang="en-US" b="1" dirty="0"/>
              <a:t>ChaCha20</a:t>
            </a:r>
            <a:r>
              <a:rPr lang="en-US" dirty="0"/>
              <a:t>, </a:t>
            </a:r>
            <a:r>
              <a:rPr lang="en-US" b="1" dirty="0"/>
              <a:t>Salsa20</a:t>
            </a:r>
            <a:endParaRPr lang="en-US" dirty="0"/>
          </a:p>
          <a:p>
            <a:pPr lvl="1"/>
            <a:r>
              <a:rPr lang="en-US" dirty="0"/>
              <a:t>Ensures data is encrypted </a:t>
            </a:r>
            <a:r>
              <a:rPr lang="en-US" b="1" dirty="0"/>
              <a:t>bit by bit or byte by byte</a:t>
            </a:r>
            <a:endParaRPr lang="en-US" dirty="0"/>
          </a:p>
          <a:p>
            <a:r>
              <a:rPr lang="en-US" b="1" dirty="0"/>
              <a:t>Properties:</a:t>
            </a:r>
            <a:endParaRPr lang="en-US" dirty="0"/>
          </a:p>
          <a:p>
            <a:pPr lvl="1"/>
            <a:r>
              <a:rPr lang="en-US" dirty="0"/>
              <a:t>Must be </a:t>
            </a:r>
            <a:r>
              <a:rPr lang="en-US" b="1" dirty="0"/>
              <a:t>random-looking</a:t>
            </a:r>
            <a:r>
              <a:rPr lang="en-US" dirty="0"/>
              <a:t> and </a:t>
            </a:r>
            <a:r>
              <a:rPr lang="en-US" b="1" dirty="0"/>
              <a:t>synchronized</a:t>
            </a:r>
            <a:r>
              <a:rPr lang="en-US" dirty="0"/>
              <a:t> between sender and receiver</a:t>
            </a:r>
          </a:p>
          <a:p>
            <a:pPr lvl="1"/>
            <a:r>
              <a:rPr lang="en-US" dirty="0"/>
              <a:t>Should never be reused with the same key (to avoid attacks)</a:t>
            </a:r>
          </a:p>
          <a:p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Plaintext: 10110100</a:t>
            </a:r>
            <a:br>
              <a:rPr lang="en-US" dirty="0"/>
            </a:br>
            <a:r>
              <a:rPr lang="en-US" dirty="0"/>
              <a:t>Keystream: 01001110</a:t>
            </a:r>
            <a:br>
              <a:rPr lang="en-US" dirty="0"/>
            </a:br>
            <a:r>
              <a:rPr lang="en-US" dirty="0" err="1"/>
              <a:t>Ciphertext</a:t>
            </a:r>
            <a:r>
              <a:rPr lang="en-US" dirty="0"/>
              <a:t> = Plaintext XOR Keystream = 11111010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114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09048"/>
            <a:ext cx="385984" cy="122366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895648"/>
            <a:ext cx="176409" cy="9333048"/>
          </a:xfrm>
          <a:prstGeom prst="rect">
            <a:avLst/>
          </a:prstGeom>
        </p:spPr>
      </p:pic>
      <p:pic>
        <p:nvPicPr>
          <p:cNvPr id="10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52047"/>
            <a:ext cx="968545" cy="721920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82323"/>
            <a:ext cx="3245736" cy="81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7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Question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What is salt?</a:t>
            </a:r>
          </a:p>
          <a:p>
            <a:r>
              <a:rPr lang="en-IN" dirty="0" smtClean="0"/>
              <a:t>How passwords are stored in databases?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7EF8-A612-4D5E-B866-E350BD10CB61}" type="datetime1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Prof. Shweta Dhawan Chachra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5E5CB-9241-4665-889D-78B918CC363E}" type="slidenum">
              <a:rPr lang="en-US" smtClean="0"/>
              <a:t>115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547C2F5-D0C4-4329-8DC2-48B66EE4F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6033074" y="719934"/>
            <a:ext cx="385984" cy="122366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B15A553C-6E56-4E14-9B40-3D70033DB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686053" y="1906534"/>
            <a:ext cx="176409" cy="9333048"/>
          </a:xfrm>
          <a:prstGeom prst="rect">
            <a:avLst/>
          </a:prstGeom>
        </p:spPr>
      </p:pic>
      <p:pic>
        <p:nvPicPr>
          <p:cNvPr id="9" name="Content Placeholder 6" descr="A close up of a sign&#10;&#10;Description automatically generated">
            <a:extLst>
              <a:ext uri="{FF2B5EF4-FFF2-40B4-BE49-F238E27FC236}">
                <a16:creationId xmlns:a16="http://schemas.microsoft.com/office/drawing/2014/main" xmlns="" id="{AFB8B780-B92F-4BF8-8EAF-809E1CF540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0821" y="5762933"/>
            <a:ext cx="968545" cy="721920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xmlns="" id="{81B8989A-C3D5-4971-8D6D-F3A911E415F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14" y="5593209"/>
            <a:ext cx="3245736" cy="811434"/>
          </a:xfrm>
          <a:prstGeom prst="rect">
            <a:avLst/>
          </a:prstGeom>
        </p:spPr>
      </p:pic>
      <p:sp>
        <p:nvSpPr>
          <p:cNvPr id="11" name="Footer Placeholder 7"/>
          <p:cNvSpPr txBox="1">
            <a:spLocks/>
          </p:cNvSpPr>
          <p:nvPr/>
        </p:nvSpPr>
        <p:spPr>
          <a:xfrm>
            <a:off x="4191000" y="65087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Prof. Shweta Dhawan Chachra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2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49D96BC694D34BAF1DC321C056EFD8" ma:contentTypeVersion="0" ma:contentTypeDescription="Create a new document." ma:contentTypeScope="" ma:versionID="8cae557015c09e05b6bee23926ed25e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967b7be50301903c78f9c39c6fd9a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082A9EB-3019-4A87-A753-6B36020ECB56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7B4F30-0DF0-44DB-B524-DB476EE543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72FF6E-A8D3-4D0F-A743-10418D7CB0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22885</TotalTime>
  <Words>5512</Words>
  <Application>Microsoft Office PowerPoint</Application>
  <PresentationFormat>Custom</PresentationFormat>
  <Paragraphs>1049</Paragraphs>
  <Slides>115</Slides>
  <Notes>62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115</vt:i4>
      </vt:variant>
    </vt:vector>
  </HeadingPairs>
  <TitlesOfParts>
    <vt:vector size="116" baseType="lpstr">
      <vt:lpstr>Office Theme</vt:lpstr>
      <vt:lpstr>Basics of Cryptography</vt:lpstr>
      <vt:lpstr>Module 1</vt:lpstr>
      <vt:lpstr>Module 1.2</vt:lpstr>
      <vt:lpstr>Definitions</vt:lpstr>
      <vt:lpstr>Definitions</vt:lpstr>
      <vt:lpstr>Stream Cipher Vs Block Cipher</vt:lpstr>
      <vt:lpstr>Stream Cipher Vs Block Cipher</vt:lpstr>
      <vt:lpstr>Stream Cipher Vs Block Cipher</vt:lpstr>
      <vt:lpstr>Stream Cipher Vs Block Cipher</vt:lpstr>
      <vt:lpstr>Symmetric Encryption </vt:lpstr>
      <vt:lpstr>Symmetric Encryption </vt:lpstr>
      <vt:lpstr>Symmetric Encryption </vt:lpstr>
      <vt:lpstr>Symmetric Encryption </vt:lpstr>
      <vt:lpstr>Symmetric Encryption </vt:lpstr>
      <vt:lpstr>Symmetric Encryption </vt:lpstr>
      <vt:lpstr>Symmetric Encryption </vt:lpstr>
      <vt:lpstr>Symmetric Encryption </vt:lpstr>
      <vt:lpstr>Symmetric Encryption </vt:lpstr>
      <vt:lpstr>Model of Symmetric Cryptosystem</vt:lpstr>
      <vt:lpstr>Model of Symmetric Cryptosystem</vt:lpstr>
      <vt:lpstr>Model of Symmetric Cryptosystem</vt:lpstr>
      <vt:lpstr>Categories of Cryptographic System</vt:lpstr>
      <vt:lpstr>Categories of Cryptographic System</vt:lpstr>
      <vt:lpstr>Categories of Cryptographic System</vt:lpstr>
      <vt:lpstr>Categories of Cryptographic System</vt:lpstr>
      <vt:lpstr>Categories of Cryptographic System</vt:lpstr>
      <vt:lpstr>Cryptanalysis and Brute-Force Attack</vt:lpstr>
      <vt:lpstr>Cryptanalysis and Brute-Force Attack</vt:lpstr>
      <vt:lpstr>Cryptanalysis and Brute-Force Attack</vt:lpstr>
      <vt:lpstr>Cryptanalysis and Brute-Force Attack</vt:lpstr>
      <vt:lpstr>Cryptanalysis and Brute-Force Attack</vt:lpstr>
      <vt:lpstr>Cryptanalysis and Brute-Force Attack</vt:lpstr>
      <vt:lpstr>Cryptanalysis </vt:lpstr>
      <vt:lpstr>Cryptanalysis </vt:lpstr>
      <vt:lpstr>Who Uses Cryptanalysis?</vt:lpstr>
      <vt:lpstr>Cryptanalysis Attacks and Techniques</vt:lpstr>
      <vt:lpstr>Ciphertext-Only Attack (COA)</vt:lpstr>
      <vt:lpstr>Cryptanalysis Attacks and Techniques</vt:lpstr>
      <vt:lpstr>Known Plaintext Attack (KPA)</vt:lpstr>
      <vt:lpstr>Known Plaintext Attack (KPA)</vt:lpstr>
      <vt:lpstr>Cryptanalysis Attacks and Techniques</vt:lpstr>
      <vt:lpstr>Chosen Plaintext Attack (CPA)</vt:lpstr>
      <vt:lpstr>Chosen Plaintext Attack (CPA)</vt:lpstr>
      <vt:lpstr>Chosen Plaintext Attack (CPA)</vt:lpstr>
      <vt:lpstr>Cryptanalysis Attacks and Techniques</vt:lpstr>
      <vt:lpstr>Chosen Ciphertext Attack (CCA)</vt:lpstr>
      <vt:lpstr>Summary</vt:lpstr>
      <vt:lpstr>Cryptanalysis of Classical Ciphers</vt:lpstr>
      <vt:lpstr>PowerPoint Presentation</vt:lpstr>
      <vt:lpstr>Cryptanalysis Tools</vt:lpstr>
      <vt:lpstr>Cryptanalysis</vt:lpstr>
      <vt:lpstr>Solution</vt:lpstr>
      <vt:lpstr>Cihertext-Only Attack </vt:lpstr>
      <vt:lpstr>PowerPoint Presentation</vt:lpstr>
      <vt:lpstr>Columnar Transposition Cipher Cryptanalysis</vt:lpstr>
      <vt:lpstr>PowerPoint Presentation</vt:lpstr>
      <vt:lpstr>Asymmetric cryptography</vt:lpstr>
      <vt:lpstr>Asymmetric cryptography</vt:lpstr>
      <vt:lpstr>Asymmetric cryptography</vt:lpstr>
      <vt:lpstr>Asymmetric cryptography</vt:lpstr>
      <vt:lpstr>Difference between Symmetric and Asymmetric Encryption</vt:lpstr>
      <vt:lpstr>Classical Encryption Techniques</vt:lpstr>
      <vt:lpstr>Classical Encryption Techniques</vt:lpstr>
      <vt:lpstr>Transposition Techniques</vt:lpstr>
      <vt:lpstr>Transposition Techniques-Rail fence </vt:lpstr>
      <vt:lpstr>Transposition Techniques</vt:lpstr>
      <vt:lpstr>Transposition Techniques</vt:lpstr>
      <vt:lpstr>Transposition Techniques</vt:lpstr>
      <vt:lpstr>Transposition Techniques</vt:lpstr>
      <vt:lpstr>Transposition Techniques</vt:lpstr>
      <vt:lpstr>Transposition Techniques</vt:lpstr>
      <vt:lpstr>PowerPoint Presentation</vt:lpstr>
      <vt:lpstr>Classical Encryption Techniques</vt:lpstr>
      <vt:lpstr>Caesar Cipher</vt:lpstr>
      <vt:lpstr>Caesar Cipher</vt:lpstr>
      <vt:lpstr>Caesar Cipher</vt:lpstr>
      <vt:lpstr>Caesar Cipher</vt:lpstr>
      <vt:lpstr>Brute-Force Cryptanalysis of Caesar Cipher</vt:lpstr>
      <vt:lpstr>Caesar Cipher</vt:lpstr>
      <vt:lpstr>Caesar Cipher</vt:lpstr>
      <vt:lpstr>Caesar Cipher</vt:lpstr>
      <vt:lpstr>Caesar Cipher</vt:lpstr>
      <vt:lpstr>Playfair Cipher</vt:lpstr>
      <vt:lpstr>Playfair Cipher</vt:lpstr>
      <vt:lpstr>Playfair Cipher</vt:lpstr>
      <vt:lpstr>Playfair Cipher</vt:lpstr>
      <vt:lpstr>Playfair Cipher</vt:lpstr>
      <vt:lpstr>Playfair Cipher</vt:lpstr>
      <vt:lpstr>PowerPoint Presentation</vt:lpstr>
      <vt:lpstr>Cryptanalysis of Playfair Cipher</vt:lpstr>
      <vt:lpstr>Polyalphabetic Cipher</vt:lpstr>
      <vt:lpstr>Monoalphabetic vs Polyalphabetic Cipher</vt:lpstr>
      <vt:lpstr>Monoalphabetic vs Polyalphabetic Cipher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KEYS</vt:lpstr>
      <vt:lpstr>Symmetric Key (Secret Key)</vt:lpstr>
      <vt:lpstr>Asymmetric Key (Public/Private Key Pair)</vt:lpstr>
      <vt:lpstr>Public Key</vt:lpstr>
      <vt:lpstr>Private Key </vt:lpstr>
      <vt:lpstr>Session Key</vt:lpstr>
      <vt:lpstr>Key Exchange / Derivation / Wrapping</vt:lpstr>
      <vt:lpstr>Application-Specific Keys</vt:lpstr>
      <vt:lpstr>Passphrase</vt:lpstr>
      <vt:lpstr>Keystream</vt:lpstr>
      <vt:lpstr>Question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Swati Mali</dc:creator>
  <cp:lastModifiedBy>Swati</cp:lastModifiedBy>
  <cp:revision>208</cp:revision>
  <dcterms:created xsi:type="dcterms:W3CDTF">2020-04-30T07:52:47Z</dcterms:created>
  <dcterms:modified xsi:type="dcterms:W3CDTF">2025-07-28T11:49:18Z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0x010100B049D96BC694D34BAF1DC321C056EFD8</vt:lpwstr>
  </property>
</Properties>
</file>