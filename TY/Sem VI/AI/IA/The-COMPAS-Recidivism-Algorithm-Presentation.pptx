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Dela Gothic One" panose="020B0604020202020204" charset="-128"/>
      <p:regular r:id="rId13"/>
    </p:embeddedFont>
    <p:embeddedFont>
      <p:font typeface="DM Sans" pitchFamily="2" charset="0"/>
      <p:regular r:id="rId14"/>
    </p:embeddedFont>
    <p:embeddedFont>
      <p:font typeface="DM Sans Bold" panose="020B0604020202020204"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6" d="100"/>
          <a:sy n="56" d="100"/>
        </p:scale>
        <p:origin x="61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02.03.2026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png"/><Relationship Id="rId9"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hyperlink" Target="https://gamma.app/?utm_source=made-with-gamma" TargetMode="External"/></Relationships>
</file>

<file path=ppt/slides/_rels/slide7.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svg"/><Relationship Id="rId3" Type="http://schemas.openxmlformats.org/officeDocument/2006/relationships/image" Target="../media/image1.png"/><Relationship Id="rId7" Type="http://schemas.openxmlformats.org/officeDocument/2006/relationships/image" Target="../media/image21.svg"/><Relationship Id="rId12" Type="http://schemas.openxmlformats.org/officeDocument/2006/relationships/image" Target="../media/image26.png"/><Relationship Id="rId17" Type="http://schemas.openxmlformats.org/officeDocument/2006/relationships/image" Target="../media/image31.svg"/><Relationship Id="rId2" Type="http://schemas.openxmlformats.org/officeDocument/2006/relationships/notesSlide" Target="../notesSlides/notesSlide7.xml"/><Relationship Id="rId16" Type="http://schemas.openxmlformats.org/officeDocument/2006/relationships/image" Target="../media/image30.png"/><Relationship Id="rId1" Type="http://schemas.openxmlformats.org/officeDocument/2006/relationships/slideLayout" Target="../slideLayouts/slideLayout7.xml"/><Relationship Id="rId6" Type="http://schemas.openxmlformats.org/officeDocument/2006/relationships/image" Target="../media/image20.png"/><Relationship Id="rId11" Type="http://schemas.openxmlformats.org/officeDocument/2006/relationships/image" Target="../media/image25.svg"/><Relationship Id="rId5" Type="http://schemas.openxmlformats.org/officeDocument/2006/relationships/image" Target="../media/image19.svg"/><Relationship Id="rId15" Type="http://schemas.openxmlformats.org/officeDocument/2006/relationships/image" Target="../media/image29.sv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svg"/><Relationship Id="rId14" Type="http://schemas.openxmlformats.org/officeDocument/2006/relationships/image" Target="../media/image28.png"/></Relationships>
</file>

<file path=ppt/slides/_rels/slide8.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1.png"/><Relationship Id="rId7" Type="http://schemas.openxmlformats.org/officeDocument/2006/relationships/image" Target="../media/image33.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16.png"/><Relationship Id="rId10" Type="http://schemas.openxmlformats.org/officeDocument/2006/relationships/image" Target="../media/image36.png"/><Relationship Id="rId4" Type="http://schemas.openxmlformats.org/officeDocument/2006/relationships/hyperlink" Target="https://gamma.app/?utm_source=made-with-gamma" TargetMode="External"/><Relationship Id="rId9" Type="http://schemas.openxmlformats.org/officeDocument/2006/relationships/image" Target="../media/image35.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A0A0A">
                <a:alpha val="90196"/>
              </a:srgbClr>
            </a:solidFill>
          </p:spPr>
        </p:sp>
      </p:grpSp>
      <p:grpSp>
        <p:nvGrpSpPr>
          <p:cNvPr id="6" name="Group 6"/>
          <p:cNvGrpSpPr/>
          <p:nvPr/>
        </p:nvGrpSpPr>
        <p:grpSpPr>
          <a:xfrm>
            <a:off x="0" y="0"/>
            <a:ext cx="6858000" cy="10287000"/>
            <a:chOff x="0" y="0"/>
            <a:chExt cx="9144000" cy="13716000"/>
          </a:xfrm>
        </p:grpSpPr>
        <p:sp>
          <p:nvSpPr>
            <p:cNvPr id="7" name="Freeform 7"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4"/>
              <a:stretch>
                <a:fillRect/>
              </a:stretch>
            </a:blipFill>
          </p:spPr>
        </p:sp>
      </p:grpSp>
      <p:sp>
        <p:nvSpPr>
          <p:cNvPr id="8" name="TextBox 8"/>
          <p:cNvSpPr txBox="1"/>
          <p:nvPr/>
        </p:nvSpPr>
        <p:spPr>
          <a:xfrm>
            <a:off x="7805890" y="3587506"/>
            <a:ext cx="9534230" cy="1810341"/>
          </a:xfrm>
          <a:prstGeom prst="rect">
            <a:avLst/>
          </a:prstGeom>
        </p:spPr>
        <p:txBody>
          <a:bodyPr lIns="0" tIns="0" rIns="0" bIns="0" rtlCol="0" anchor="t">
            <a:spAutoFit/>
          </a:bodyPr>
          <a:lstStyle/>
          <a:p>
            <a:pPr algn="l">
              <a:lnSpc>
                <a:spcPts val="7000"/>
              </a:lnSpc>
            </a:pPr>
            <a:r>
              <a:rPr lang="en-US" sz="5562">
                <a:solidFill>
                  <a:srgbClr val="FAEBEB"/>
                </a:solidFill>
                <a:latin typeface="Dela Gothic One"/>
                <a:ea typeface="Dela Gothic One"/>
                <a:cs typeface="Dela Gothic One"/>
                <a:sym typeface="Dela Gothic One"/>
              </a:rPr>
              <a:t>The COMPAS Recidivism Algorithm</a:t>
            </a:r>
          </a:p>
        </p:txBody>
      </p:sp>
      <p:sp>
        <p:nvSpPr>
          <p:cNvPr id="9" name="TextBox 9"/>
          <p:cNvSpPr txBox="1"/>
          <p:nvPr/>
        </p:nvSpPr>
        <p:spPr>
          <a:xfrm>
            <a:off x="7805890" y="5727802"/>
            <a:ext cx="9534230" cy="942975"/>
          </a:xfrm>
          <a:prstGeom prst="rect">
            <a:avLst/>
          </a:prstGeom>
        </p:spPr>
        <p:txBody>
          <a:bodyPr lIns="0" tIns="0" rIns="0" bIns="0" rtlCol="0" anchor="t">
            <a:spAutoFit/>
          </a:bodyPr>
          <a:lstStyle/>
          <a:p>
            <a:pPr algn="l">
              <a:lnSpc>
                <a:spcPts val="3374"/>
              </a:lnSpc>
            </a:pPr>
            <a:r>
              <a:rPr lang="en-US" sz="2125">
                <a:solidFill>
                  <a:srgbClr val="FFE5E5"/>
                </a:solidFill>
                <a:latin typeface="DM Sans"/>
                <a:ea typeface="DM Sans"/>
                <a:cs typeface="DM Sans"/>
                <a:sym typeface="DM Sans"/>
              </a:rPr>
              <a:t>An examination of ethics, bias, and accountability in AI-driven criminal justice systems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A0A0A">
                <a:alpha val="90196"/>
              </a:srgbClr>
            </a:solidFill>
          </p:spPr>
        </p:sp>
      </p:grpSp>
      <p:grpSp>
        <p:nvGrpSpPr>
          <p:cNvPr id="6" name="Group 6"/>
          <p:cNvGrpSpPr/>
          <p:nvPr/>
        </p:nvGrpSpPr>
        <p:grpSpPr>
          <a:xfrm>
            <a:off x="11430000" y="0"/>
            <a:ext cx="6858000" cy="10287000"/>
            <a:chOff x="0" y="0"/>
            <a:chExt cx="9144000" cy="13716000"/>
          </a:xfrm>
        </p:grpSpPr>
        <p:sp>
          <p:nvSpPr>
            <p:cNvPr id="7" name="Freeform 7"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4"/>
              <a:stretch>
                <a:fillRect/>
              </a:stretch>
            </a:blipFill>
          </p:spPr>
        </p:sp>
      </p:grpSp>
      <p:sp>
        <p:nvSpPr>
          <p:cNvPr id="8" name="TextBox 8"/>
          <p:cNvSpPr txBox="1"/>
          <p:nvPr/>
        </p:nvSpPr>
        <p:spPr>
          <a:xfrm>
            <a:off x="947890" y="1303134"/>
            <a:ext cx="9534230" cy="1810341"/>
          </a:xfrm>
          <a:prstGeom prst="rect">
            <a:avLst/>
          </a:prstGeom>
        </p:spPr>
        <p:txBody>
          <a:bodyPr lIns="0" tIns="0" rIns="0" bIns="0" rtlCol="0" anchor="t">
            <a:spAutoFit/>
          </a:bodyPr>
          <a:lstStyle/>
          <a:p>
            <a:pPr algn="l">
              <a:lnSpc>
                <a:spcPts val="7000"/>
              </a:lnSpc>
            </a:pPr>
            <a:r>
              <a:rPr lang="en-US" sz="5562">
                <a:solidFill>
                  <a:srgbClr val="FAEBEB"/>
                </a:solidFill>
                <a:latin typeface="Dela Gothic One"/>
                <a:ea typeface="Dela Gothic One"/>
                <a:cs typeface="Dela Gothic One"/>
                <a:sym typeface="Dela Gothic One"/>
              </a:rPr>
              <a:t>The Algorithmic Justice Revolution</a:t>
            </a:r>
          </a:p>
        </p:txBody>
      </p:sp>
      <p:sp>
        <p:nvSpPr>
          <p:cNvPr id="9" name="TextBox 9"/>
          <p:cNvSpPr txBox="1"/>
          <p:nvPr/>
        </p:nvSpPr>
        <p:spPr>
          <a:xfrm>
            <a:off x="947890" y="3761784"/>
            <a:ext cx="3563388" cy="473869"/>
          </a:xfrm>
          <a:prstGeom prst="rect">
            <a:avLst/>
          </a:prstGeom>
        </p:spPr>
        <p:txBody>
          <a:bodyPr lIns="0" tIns="0" rIns="0" bIns="0" rtlCol="0" anchor="t">
            <a:spAutoFit/>
          </a:bodyPr>
          <a:lstStyle/>
          <a:p>
            <a:pPr algn="l">
              <a:lnSpc>
                <a:spcPts val="3500"/>
              </a:lnSpc>
            </a:pPr>
            <a:r>
              <a:rPr lang="en-US" sz="2750">
                <a:solidFill>
                  <a:srgbClr val="FAEBEB"/>
                </a:solidFill>
                <a:latin typeface="Dela Gothic One"/>
                <a:ea typeface="Dela Gothic One"/>
                <a:cs typeface="Dela Gothic One"/>
                <a:sym typeface="Dela Gothic One"/>
              </a:rPr>
              <a:t>The Shift</a:t>
            </a:r>
          </a:p>
        </p:txBody>
      </p:sp>
      <p:sp>
        <p:nvSpPr>
          <p:cNvPr id="10" name="TextBox 10"/>
          <p:cNvSpPr txBox="1"/>
          <p:nvPr/>
        </p:nvSpPr>
        <p:spPr>
          <a:xfrm>
            <a:off x="947890" y="4430163"/>
            <a:ext cx="4436716" cy="2243138"/>
          </a:xfrm>
          <a:prstGeom prst="rect">
            <a:avLst/>
          </a:prstGeom>
        </p:spPr>
        <p:txBody>
          <a:bodyPr lIns="0" tIns="0" rIns="0" bIns="0" rtlCol="0" anchor="t">
            <a:spAutoFit/>
          </a:bodyPr>
          <a:lstStyle/>
          <a:p>
            <a:pPr algn="l">
              <a:lnSpc>
                <a:spcPts val="3374"/>
              </a:lnSpc>
            </a:pPr>
            <a:r>
              <a:rPr lang="en-US" sz="2125">
                <a:solidFill>
                  <a:srgbClr val="FFE5E5"/>
                </a:solidFill>
                <a:latin typeface="DM Sans"/>
                <a:ea typeface="DM Sans"/>
                <a:cs typeface="DM Sans"/>
                <a:sym typeface="DM Sans"/>
              </a:rPr>
              <a:t>AI and machine learning have fundamentally changed high-stakes decision-making in criminal justice, employment, healthcare, and access to opportunities.</a:t>
            </a:r>
          </a:p>
        </p:txBody>
      </p:sp>
      <p:sp>
        <p:nvSpPr>
          <p:cNvPr id="11" name="TextBox 11"/>
          <p:cNvSpPr txBox="1"/>
          <p:nvPr/>
        </p:nvSpPr>
        <p:spPr>
          <a:xfrm>
            <a:off x="6054928" y="3761784"/>
            <a:ext cx="3563388" cy="473869"/>
          </a:xfrm>
          <a:prstGeom prst="rect">
            <a:avLst/>
          </a:prstGeom>
        </p:spPr>
        <p:txBody>
          <a:bodyPr lIns="0" tIns="0" rIns="0" bIns="0" rtlCol="0" anchor="t">
            <a:spAutoFit/>
          </a:bodyPr>
          <a:lstStyle/>
          <a:p>
            <a:pPr algn="l">
              <a:lnSpc>
                <a:spcPts val="3500"/>
              </a:lnSpc>
            </a:pPr>
            <a:r>
              <a:rPr lang="en-US" sz="2750">
                <a:solidFill>
                  <a:srgbClr val="FAEBEB"/>
                </a:solidFill>
                <a:latin typeface="Dela Gothic One"/>
                <a:ea typeface="Dela Gothic One"/>
                <a:cs typeface="Dela Gothic One"/>
                <a:sym typeface="Dela Gothic One"/>
              </a:rPr>
              <a:t>The Promise</a:t>
            </a:r>
          </a:p>
        </p:txBody>
      </p:sp>
      <p:sp>
        <p:nvSpPr>
          <p:cNvPr id="12" name="TextBox 12"/>
          <p:cNvSpPr txBox="1"/>
          <p:nvPr/>
        </p:nvSpPr>
        <p:spPr>
          <a:xfrm>
            <a:off x="6054928" y="4430163"/>
            <a:ext cx="4436716" cy="1809750"/>
          </a:xfrm>
          <a:prstGeom prst="rect">
            <a:avLst/>
          </a:prstGeom>
        </p:spPr>
        <p:txBody>
          <a:bodyPr lIns="0" tIns="0" rIns="0" bIns="0" rtlCol="0" anchor="t">
            <a:spAutoFit/>
          </a:bodyPr>
          <a:lstStyle/>
          <a:p>
            <a:pPr algn="l">
              <a:lnSpc>
                <a:spcPts val="3374"/>
              </a:lnSpc>
            </a:pPr>
            <a:r>
              <a:rPr lang="en-US" sz="2125">
                <a:solidFill>
                  <a:srgbClr val="FFE5E5"/>
                </a:solidFill>
                <a:latin typeface="DM Sans"/>
                <a:ea typeface="DM Sans"/>
                <a:cs typeface="DM Sans"/>
                <a:sym typeface="DM Sans"/>
              </a:rPr>
              <a:t>Algorithmic systems are praised as objective tools capable of reducing human bias and bringing consistency to complex decisions.</a:t>
            </a:r>
          </a:p>
        </p:txBody>
      </p:sp>
      <p:sp>
        <p:nvSpPr>
          <p:cNvPr id="13" name="TextBox 13"/>
          <p:cNvSpPr txBox="1"/>
          <p:nvPr/>
        </p:nvSpPr>
        <p:spPr>
          <a:xfrm>
            <a:off x="947890" y="7145388"/>
            <a:ext cx="9534230" cy="1809750"/>
          </a:xfrm>
          <a:prstGeom prst="rect">
            <a:avLst/>
          </a:prstGeom>
        </p:spPr>
        <p:txBody>
          <a:bodyPr lIns="0" tIns="0" rIns="0" bIns="0" rtlCol="0" anchor="t">
            <a:spAutoFit/>
          </a:bodyPr>
          <a:lstStyle/>
          <a:p>
            <a:pPr algn="l">
              <a:lnSpc>
                <a:spcPts val="3374"/>
              </a:lnSpc>
            </a:pPr>
            <a:r>
              <a:rPr lang="en-US" sz="2125">
                <a:solidFill>
                  <a:srgbClr val="FFE5E5"/>
                </a:solidFill>
                <a:latin typeface="DM Sans"/>
                <a:ea typeface="DM Sans"/>
                <a:cs typeface="DM Sans"/>
                <a:sym typeface="DM Sans"/>
              </a:rPr>
              <a:t>Yet this shift introduces serious ethical concerns. When AI systems are trained on historical data shaped by social inequalities, they absorb, optimize, and reproduce those inequalities. What appears to be neutral mathematical objectivity can mask deeply embedded structural bias.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A0A0A">
                <a:alpha val="90196"/>
              </a:srgbClr>
            </a:solidFill>
          </p:spPr>
        </p:sp>
      </p:grpSp>
      <p:grpSp>
        <p:nvGrpSpPr>
          <p:cNvPr id="6" name="Group 6"/>
          <p:cNvGrpSpPr/>
          <p:nvPr/>
        </p:nvGrpSpPr>
        <p:grpSpPr>
          <a:xfrm>
            <a:off x="0" y="0"/>
            <a:ext cx="6858000" cy="10287000"/>
            <a:chOff x="0" y="0"/>
            <a:chExt cx="9144000" cy="13716000"/>
          </a:xfrm>
        </p:grpSpPr>
        <p:sp>
          <p:nvSpPr>
            <p:cNvPr id="7" name="Freeform 7"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4"/>
              <a:stretch>
                <a:fillRect/>
              </a:stretch>
            </a:blipFill>
          </p:spPr>
        </p:sp>
      </p:grpSp>
      <p:sp>
        <p:nvSpPr>
          <p:cNvPr id="8" name="TextBox 8"/>
          <p:cNvSpPr txBox="1"/>
          <p:nvPr/>
        </p:nvSpPr>
        <p:spPr>
          <a:xfrm>
            <a:off x="7778506" y="736702"/>
            <a:ext cx="8528294" cy="820481"/>
          </a:xfrm>
          <a:prstGeom prst="rect">
            <a:avLst/>
          </a:prstGeom>
        </p:spPr>
        <p:txBody>
          <a:bodyPr wrap="square" lIns="0" tIns="0" rIns="0" bIns="0" rtlCol="0" anchor="t">
            <a:spAutoFit/>
          </a:bodyPr>
          <a:lstStyle/>
          <a:p>
            <a:pPr algn="l">
              <a:lnSpc>
                <a:spcPts val="6812"/>
              </a:lnSpc>
            </a:pPr>
            <a:r>
              <a:rPr lang="en-US" sz="5437" dirty="0">
                <a:solidFill>
                  <a:srgbClr val="FAEBEB"/>
                </a:solidFill>
                <a:latin typeface="Dela Gothic One"/>
                <a:ea typeface="Dela Gothic One"/>
                <a:cs typeface="Dela Gothic One"/>
                <a:sym typeface="Dela Gothic One"/>
              </a:rPr>
              <a:t>What is COMPAS?</a:t>
            </a:r>
          </a:p>
        </p:txBody>
      </p:sp>
      <p:grpSp>
        <p:nvGrpSpPr>
          <p:cNvPr id="9" name="Group 9"/>
          <p:cNvGrpSpPr/>
          <p:nvPr/>
        </p:nvGrpSpPr>
        <p:grpSpPr>
          <a:xfrm>
            <a:off x="7773743" y="2008737"/>
            <a:ext cx="4676327" cy="4257827"/>
            <a:chOff x="0" y="0"/>
            <a:chExt cx="6235103" cy="5677103"/>
          </a:xfrm>
        </p:grpSpPr>
        <p:sp>
          <p:nvSpPr>
            <p:cNvPr id="10" name="Freeform 10"/>
            <p:cNvSpPr/>
            <p:nvPr/>
          </p:nvSpPr>
          <p:spPr>
            <a:xfrm>
              <a:off x="6350" y="6350"/>
              <a:ext cx="6222365" cy="5664454"/>
            </a:xfrm>
            <a:custGeom>
              <a:avLst/>
              <a:gdLst/>
              <a:ahLst/>
              <a:cxnLst/>
              <a:rect l="l" t="t" r="r" b="b"/>
              <a:pathLst>
                <a:path w="6222365" h="5664454">
                  <a:moveTo>
                    <a:pt x="0" y="147320"/>
                  </a:moveTo>
                  <a:cubicBezTo>
                    <a:pt x="0" y="65913"/>
                    <a:pt x="65913" y="0"/>
                    <a:pt x="147320" y="0"/>
                  </a:cubicBezTo>
                  <a:lnTo>
                    <a:pt x="6075045" y="0"/>
                  </a:lnTo>
                  <a:cubicBezTo>
                    <a:pt x="6156452" y="0"/>
                    <a:pt x="6222365" y="65913"/>
                    <a:pt x="6222365" y="147320"/>
                  </a:cubicBezTo>
                  <a:lnTo>
                    <a:pt x="6222365" y="5517134"/>
                  </a:lnTo>
                  <a:cubicBezTo>
                    <a:pt x="6222365" y="5598414"/>
                    <a:pt x="6156452" y="5664454"/>
                    <a:pt x="6075045" y="5664454"/>
                  </a:cubicBezTo>
                  <a:lnTo>
                    <a:pt x="147320" y="5664454"/>
                  </a:lnTo>
                  <a:cubicBezTo>
                    <a:pt x="65913" y="5664454"/>
                    <a:pt x="0" y="5598541"/>
                    <a:pt x="0" y="5517134"/>
                  </a:cubicBezTo>
                  <a:close/>
                </a:path>
              </a:pathLst>
            </a:custGeom>
            <a:solidFill>
              <a:srgbClr val="740B0B"/>
            </a:solidFill>
          </p:spPr>
        </p:sp>
        <p:sp>
          <p:nvSpPr>
            <p:cNvPr id="11" name="Freeform 11"/>
            <p:cNvSpPr/>
            <p:nvPr/>
          </p:nvSpPr>
          <p:spPr>
            <a:xfrm>
              <a:off x="0" y="0"/>
              <a:ext cx="6235065" cy="5677154"/>
            </a:xfrm>
            <a:custGeom>
              <a:avLst/>
              <a:gdLst/>
              <a:ahLst/>
              <a:cxnLst/>
              <a:rect l="l" t="t" r="r" b="b"/>
              <a:pathLst>
                <a:path w="6235065" h="5677154">
                  <a:moveTo>
                    <a:pt x="0" y="153670"/>
                  </a:moveTo>
                  <a:cubicBezTo>
                    <a:pt x="0" y="68834"/>
                    <a:pt x="68834" y="0"/>
                    <a:pt x="153670" y="0"/>
                  </a:cubicBezTo>
                  <a:lnTo>
                    <a:pt x="6081395" y="0"/>
                  </a:lnTo>
                  <a:lnTo>
                    <a:pt x="6081395" y="6350"/>
                  </a:lnTo>
                  <a:lnTo>
                    <a:pt x="6081395" y="0"/>
                  </a:lnTo>
                  <a:cubicBezTo>
                    <a:pt x="6166231" y="0"/>
                    <a:pt x="6235065" y="68834"/>
                    <a:pt x="6235065" y="153670"/>
                  </a:cubicBezTo>
                  <a:lnTo>
                    <a:pt x="6228715" y="153670"/>
                  </a:lnTo>
                  <a:lnTo>
                    <a:pt x="6235065" y="153670"/>
                  </a:lnTo>
                  <a:lnTo>
                    <a:pt x="6235065" y="5523484"/>
                  </a:lnTo>
                  <a:lnTo>
                    <a:pt x="6228715" y="5523484"/>
                  </a:lnTo>
                  <a:lnTo>
                    <a:pt x="6235065" y="5523484"/>
                  </a:lnTo>
                  <a:cubicBezTo>
                    <a:pt x="6235065" y="5608320"/>
                    <a:pt x="6166231" y="5677154"/>
                    <a:pt x="6081395" y="5677154"/>
                  </a:cubicBezTo>
                  <a:lnTo>
                    <a:pt x="6081395" y="5670804"/>
                  </a:lnTo>
                  <a:lnTo>
                    <a:pt x="6081395" y="5677154"/>
                  </a:lnTo>
                  <a:lnTo>
                    <a:pt x="153670" y="5677154"/>
                  </a:lnTo>
                  <a:lnTo>
                    <a:pt x="153670" y="5670804"/>
                  </a:lnTo>
                  <a:lnTo>
                    <a:pt x="153670" y="5677154"/>
                  </a:lnTo>
                  <a:cubicBezTo>
                    <a:pt x="68834" y="5677154"/>
                    <a:pt x="0" y="5608320"/>
                    <a:pt x="0" y="5523484"/>
                  </a:cubicBezTo>
                  <a:lnTo>
                    <a:pt x="0" y="153670"/>
                  </a:lnTo>
                  <a:lnTo>
                    <a:pt x="6350" y="153670"/>
                  </a:lnTo>
                  <a:lnTo>
                    <a:pt x="0" y="153670"/>
                  </a:lnTo>
                  <a:moveTo>
                    <a:pt x="12700" y="153670"/>
                  </a:moveTo>
                  <a:lnTo>
                    <a:pt x="12700" y="5523484"/>
                  </a:lnTo>
                  <a:lnTo>
                    <a:pt x="6350" y="5523484"/>
                  </a:lnTo>
                  <a:lnTo>
                    <a:pt x="12700" y="5523484"/>
                  </a:lnTo>
                  <a:cubicBezTo>
                    <a:pt x="12700" y="5601335"/>
                    <a:pt x="75819" y="5664454"/>
                    <a:pt x="153670" y="5664454"/>
                  </a:cubicBezTo>
                  <a:lnTo>
                    <a:pt x="6081395" y="5664454"/>
                  </a:lnTo>
                  <a:cubicBezTo>
                    <a:pt x="6159246" y="5664454"/>
                    <a:pt x="6222365" y="5601335"/>
                    <a:pt x="6222365" y="5523484"/>
                  </a:cubicBezTo>
                  <a:lnTo>
                    <a:pt x="6222365" y="153670"/>
                  </a:lnTo>
                  <a:cubicBezTo>
                    <a:pt x="6222365" y="75819"/>
                    <a:pt x="6159246" y="12700"/>
                    <a:pt x="6081395" y="12700"/>
                  </a:cubicBezTo>
                  <a:lnTo>
                    <a:pt x="153670" y="12700"/>
                  </a:lnTo>
                  <a:lnTo>
                    <a:pt x="153670" y="6350"/>
                  </a:lnTo>
                  <a:lnTo>
                    <a:pt x="153670" y="12700"/>
                  </a:lnTo>
                  <a:cubicBezTo>
                    <a:pt x="75819" y="12700"/>
                    <a:pt x="12700" y="75819"/>
                    <a:pt x="12700" y="153670"/>
                  </a:cubicBezTo>
                  <a:close/>
                </a:path>
              </a:pathLst>
            </a:custGeom>
            <a:solidFill>
              <a:srgbClr val="8D2424"/>
            </a:solidFill>
          </p:spPr>
        </p:sp>
      </p:grpSp>
      <p:grpSp>
        <p:nvGrpSpPr>
          <p:cNvPr id="12" name="Group 12"/>
          <p:cNvGrpSpPr/>
          <p:nvPr/>
        </p:nvGrpSpPr>
        <p:grpSpPr>
          <a:xfrm>
            <a:off x="8051006" y="2286000"/>
            <a:ext cx="789089" cy="789089"/>
            <a:chOff x="0" y="0"/>
            <a:chExt cx="1052119" cy="1052119"/>
          </a:xfrm>
        </p:grpSpPr>
        <p:sp>
          <p:nvSpPr>
            <p:cNvPr id="13" name="Freeform 13"/>
            <p:cNvSpPr/>
            <p:nvPr/>
          </p:nvSpPr>
          <p:spPr>
            <a:xfrm>
              <a:off x="0" y="0"/>
              <a:ext cx="1052068" cy="1052068"/>
            </a:xfrm>
            <a:custGeom>
              <a:avLst/>
              <a:gdLst/>
              <a:ahLst/>
              <a:cxnLst/>
              <a:rect l="l" t="t" r="r" b="b"/>
              <a:pathLst>
                <a:path w="1052068" h="1052068">
                  <a:moveTo>
                    <a:pt x="0" y="526034"/>
                  </a:moveTo>
                  <a:cubicBezTo>
                    <a:pt x="0" y="235585"/>
                    <a:pt x="235585" y="0"/>
                    <a:pt x="526034" y="0"/>
                  </a:cubicBezTo>
                  <a:cubicBezTo>
                    <a:pt x="816483" y="0"/>
                    <a:pt x="1052068" y="235585"/>
                    <a:pt x="1052068" y="526034"/>
                  </a:cubicBezTo>
                  <a:cubicBezTo>
                    <a:pt x="1052068" y="816483"/>
                    <a:pt x="816610" y="1052068"/>
                    <a:pt x="526034" y="1052068"/>
                  </a:cubicBezTo>
                  <a:cubicBezTo>
                    <a:pt x="235458" y="1052068"/>
                    <a:pt x="0" y="816610"/>
                    <a:pt x="0" y="526034"/>
                  </a:cubicBezTo>
                  <a:close/>
                </a:path>
              </a:pathLst>
            </a:custGeom>
            <a:solidFill>
              <a:srgbClr val="C91313"/>
            </a:solidFill>
          </p:spPr>
        </p:sp>
      </p:grpSp>
      <p:sp>
        <p:nvSpPr>
          <p:cNvPr id="14" name="Freeform 14" descr="preencoded.png"/>
          <p:cNvSpPr/>
          <p:nvPr/>
        </p:nvSpPr>
        <p:spPr>
          <a:xfrm>
            <a:off x="8267995" y="2502989"/>
            <a:ext cx="354959" cy="354959"/>
          </a:xfrm>
          <a:custGeom>
            <a:avLst/>
            <a:gdLst/>
            <a:ahLst/>
            <a:cxnLst/>
            <a:rect l="l" t="t" r="r" b="b"/>
            <a:pathLst>
              <a:path w="354959" h="354959">
                <a:moveTo>
                  <a:pt x="0" y="0"/>
                </a:moveTo>
                <a:lnTo>
                  <a:pt x="354959" y="0"/>
                </a:lnTo>
                <a:lnTo>
                  <a:pt x="354959" y="354959"/>
                </a:lnTo>
                <a:lnTo>
                  <a:pt x="0" y="35495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5" name="TextBox 15"/>
          <p:cNvSpPr txBox="1"/>
          <p:nvPr/>
        </p:nvSpPr>
        <p:spPr>
          <a:xfrm>
            <a:off x="8051006" y="3320948"/>
            <a:ext cx="3460852" cy="442017"/>
          </a:xfrm>
          <a:prstGeom prst="rect">
            <a:avLst/>
          </a:prstGeom>
        </p:spPr>
        <p:txBody>
          <a:bodyPr lIns="0" tIns="0" rIns="0" bIns="0" rtlCol="0" anchor="t">
            <a:spAutoFit/>
          </a:bodyPr>
          <a:lstStyle/>
          <a:p>
            <a:pPr algn="l">
              <a:lnSpc>
                <a:spcPts val="3374"/>
              </a:lnSpc>
            </a:pPr>
            <a:r>
              <a:rPr lang="en-US" sz="2687">
                <a:solidFill>
                  <a:srgbClr val="FFE5E5"/>
                </a:solidFill>
                <a:latin typeface="Dela Gothic One"/>
                <a:ea typeface="Dela Gothic One"/>
                <a:cs typeface="Dela Gothic One"/>
                <a:sym typeface="Dela Gothic One"/>
              </a:rPr>
              <a:t>Proprietary Tool</a:t>
            </a:r>
          </a:p>
        </p:txBody>
      </p:sp>
      <p:sp>
        <p:nvSpPr>
          <p:cNvPr id="16" name="TextBox 16"/>
          <p:cNvSpPr txBox="1"/>
          <p:nvPr/>
        </p:nvSpPr>
        <p:spPr>
          <a:xfrm>
            <a:off x="8051006" y="3839918"/>
            <a:ext cx="4121791" cy="2149373"/>
          </a:xfrm>
          <a:prstGeom prst="rect">
            <a:avLst/>
          </a:prstGeom>
        </p:spPr>
        <p:txBody>
          <a:bodyPr lIns="0" tIns="0" rIns="0" bIns="0" rtlCol="0" anchor="t">
            <a:spAutoFit/>
          </a:bodyPr>
          <a:lstStyle/>
          <a:p>
            <a:pPr algn="l">
              <a:lnSpc>
                <a:spcPts val="3249"/>
              </a:lnSpc>
            </a:pPr>
            <a:r>
              <a:rPr lang="en-US" sz="2062">
                <a:solidFill>
                  <a:srgbClr val="FFE5E5"/>
                </a:solidFill>
                <a:latin typeface="DM Sans"/>
                <a:ea typeface="DM Sans"/>
                <a:cs typeface="DM Sans"/>
                <a:sym typeface="DM Sans"/>
              </a:rPr>
              <a:t>Developed by Northpointe, Inc. (now Equivant), widely adopted by courts and correctional agencies across the United States.</a:t>
            </a:r>
          </a:p>
        </p:txBody>
      </p:sp>
      <p:grpSp>
        <p:nvGrpSpPr>
          <p:cNvPr id="17" name="Group 17"/>
          <p:cNvGrpSpPr/>
          <p:nvPr/>
        </p:nvGrpSpPr>
        <p:grpSpPr>
          <a:xfrm>
            <a:off x="12695930" y="2008737"/>
            <a:ext cx="4676327" cy="4257827"/>
            <a:chOff x="0" y="0"/>
            <a:chExt cx="6235103" cy="5677103"/>
          </a:xfrm>
        </p:grpSpPr>
        <p:sp>
          <p:nvSpPr>
            <p:cNvPr id="18" name="Freeform 18"/>
            <p:cNvSpPr/>
            <p:nvPr/>
          </p:nvSpPr>
          <p:spPr>
            <a:xfrm>
              <a:off x="6350" y="6350"/>
              <a:ext cx="6222365" cy="5664454"/>
            </a:xfrm>
            <a:custGeom>
              <a:avLst/>
              <a:gdLst/>
              <a:ahLst/>
              <a:cxnLst/>
              <a:rect l="l" t="t" r="r" b="b"/>
              <a:pathLst>
                <a:path w="6222365" h="5664454">
                  <a:moveTo>
                    <a:pt x="0" y="147320"/>
                  </a:moveTo>
                  <a:cubicBezTo>
                    <a:pt x="0" y="65913"/>
                    <a:pt x="65913" y="0"/>
                    <a:pt x="147320" y="0"/>
                  </a:cubicBezTo>
                  <a:lnTo>
                    <a:pt x="6075045" y="0"/>
                  </a:lnTo>
                  <a:cubicBezTo>
                    <a:pt x="6156452" y="0"/>
                    <a:pt x="6222365" y="65913"/>
                    <a:pt x="6222365" y="147320"/>
                  </a:cubicBezTo>
                  <a:lnTo>
                    <a:pt x="6222365" y="5517134"/>
                  </a:lnTo>
                  <a:cubicBezTo>
                    <a:pt x="6222365" y="5598414"/>
                    <a:pt x="6156452" y="5664454"/>
                    <a:pt x="6075045" y="5664454"/>
                  </a:cubicBezTo>
                  <a:lnTo>
                    <a:pt x="147320" y="5664454"/>
                  </a:lnTo>
                  <a:cubicBezTo>
                    <a:pt x="65913" y="5664454"/>
                    <a:pt x="0" y="5598541"/>
                    <a:pt x="0" y="5517134"/>
                  </a:cubicBezTo>
                  <a:close/>
                </a:path>
              </a:pathLst>
            </a:custGeom>
            <a:solidFill>
              <a:srgbClr val="740B0B"/>
            </a:solidFill>
          </p:spPr>
        </p:sp>
        <p:sp>
          <p:nvSpPr>
            <p:cNvPr id="19" name="Freeform 19"/>
            <p:cNvSpPr/>
            <p:nvPr/>
          </p:nvSpPr>
          <p:spPr>
            <a:xfrm>
              <a:off x="0" y="0"/>
              <a:ext cx="6235065" cy="5677154"/>
            </a:xfrm>
            <a:custGeom>
              <a:avLst/>
              <a:gdLst/>
              <a:ahLst/>
              <a:cxnLst/>
              <a:rect l="l" t="t" r="r" b="b"/>
              <a:pathLst>
                <a:path w="6235065" h="5677154">
                  <a:moveTo>
                    <a:pt x="0" y="153670"/>
                  </a:moveTo>
                  <a:cubicBezTo>
                    <a:pt x="0" y="68834"/>
                    <a:pt x="68834" y="0"/>
                    <a:pt x="153670" y="0"/>
                  </a:cubicBezTo>
                  <a:lnTo>
                    <a:pt x="6081395" y="0"/>
                  </a:lnTo>
                  <a:lnTo>
                    <a:pt x="6081395" y="6350"/>
                  </a:lnTo>
                  <a:lnTo>
                    <a:pt x="6081395" y="0"/>
                  </a:lnTo>
                  <a:cubicBezTo>
                    <a:pt x="6166231" y="0"/>
                    <a:pt x="6235065" y="68834"/>
                    <a:pt x="6235065" y="153670"/>
                  </a:cubicBezTo>
                  <a:lnTo>
                    <a:pt x="6228715" y="153670"/>
                  </a:lnTo>
                  <a:lnTo>
                    <a:pt x="6235065" y="153670"/>
                  </a:lnTo>
                  <a:lnTo>
                    <a:pt x="6235065" y="5523484"/>
                  </a:lnTo>
                  <a:lnTo>
                    <a:pt x="6228715" y="5523484"/>
                  </a:lnTo>
                  <a:lnTo>
                    <a:pt x="6235065" y="5523484"/>
                  </a:lnTo>
                  <a:cubicBezTo>
                    <a:pt x="6235065" y="5608320"/>
                    <a:pt x="6166231" y="5677154"/>
                    <a:pt x="6081395" y="5677154"/>
                  </a:cubicBezTo>
                  <a:lnTo>
                    <a:pt x="6081395" y="5670804"/>
                  </a:lnTo>
                  <a:lnTo>
                    <a:pt x="6081395" y="5677154"/>
                  </a:lnTo>
                  <a:lnTo>
                    <a:pt x="153670" y="5677154"/>
                  </a:lnTo>
                  <a:lnTo>
                    <a:pt x="153670" y="5670804"/>
                  </a:lnTo>
                  <a:lnTo>
                    <a:pt x="153670" y="5677154"/>
                  </a:lnTo>
                  <a:cubicBezTo>
                    <a:pt x="68834" y="5677154"/>
                    <a:pt x="0" y="5608320"/>
                    <a:pt x="0" y="5523484"/>
                  </a:cubicBezTo>
                  <a:lnTo>
                    <a:pt x="0" y="153670"/>
                  </a:lnTo>
                  <a:lnTo>
                    <a:pt x="6350" y="153670"/>
                  </a:lnTo>
                  <a:lnTo>
                    <a:pt x="0" y="153670"/>
                  </a:lnTo>
                  <a:moveTo>
                    <a:pt x="12700" y="153670"/>
                  </a:moveTo>
                  <a:lnTo>
                    <a:pt x="12700" y="5523484"/>
                  </a:lnTo>
                  <a:lnTo>
                    <a:pt x="6350" y="5523484"/>
                  </a:lnTo>
                  <a:lnTo>
                    <a:pt x="12700" y="5523484"/>
                  </a:lnTo>
                  <a:cubicBezTo>
                    <a:pt x="12700" y="5601335"/>
                    <a:pt x="75819" y="5664454"/>
                    <a:pt x="153670" y="5664454"/>
                  </a:cubicBezTo>
                  <a:lnTo>
                    <a:pt x="6081395" y="5664454"/>
                  </a:lnTo>
                  <a:cubicBezTo>
                    <a:pt x="6159246" y="5664454"/>
                    <a:pt x="6222365" y="5601335"/>
                    <a:pt x="6222365" y="5523484"/>
                  </a:cubicBezTo>
                  <a:lnTo>
                    <a:pt x="6222365" y="153670"/>
                  </a:lnTo>
                  <a:cubicBezTo>
                    <a:pt x="6222365" y="75819"/>
                    <a:pt x="6159246" y="12700"/>
                    <a:pt x="6081395" y="12700"/>
                  </a:cubicBezTo>
                  <a:lnTo>
                    <a:pt x="153670" y="12700"/>
                  </a:lnTo>
                  <a:lnTo>
                    <a:pt x="153670" y="6350"/>
                  </a:lnTo>
                  <a:lnTo>
                    <a:pt x="153670" y="12700"/>
                  </a:lnTo>
                  <a:cubicBezTo>
                    <a:pt x="75819" y="12700"/>
                    <a:pt x="12700" y="75819"/>
                    <a:pt x="12700" y="153670"/>
                  </a:cubicBezTo>
                  <a:close/>
                </a:path>
              </a:pathLst>
            </a:custGeom>
            <a:solidFill>
              <a:srgbClr val="8D2424"/>
            </a:solidFill>
          </p:spPr>
        </p:sp>
      </p:grpSp>
      <p:grpSp>
        <p:nvGrpSpPr>
          <p:cNvPr id="20" name="Group 20"/>
          <p:cNvGrpSpPr/>
          <p:nvPr/>
        </p:nvGrpSpPr>
        <p:grpSpPr>
          <a:xfrm>
            <a:off x="12973202" y="2286000"/>
            <a:ext cx="789089" cy="789089"/>
            <a:chOff x="0" y="0"/>
            <a:chExt cx="1052119" cy="1052119"/>
          </a:xfrm>
        </p:grpSpPr>
        <p:sp>
          <p:nvSpPr>
            <p:cNvPr id="21" name="Freeform 21"/>
            <p:cNvSpPr/>
            <p:nvPr/>
          </p:nvSpPr>
          <p:spPr>
            <a:xfrm>
              <a:off x="0" y="0"/>
              <a:ext cx="1052068" cy="1052068"/>
            </a:xfrm>
            <a:custGeom>
              <a:avLst/>
              <a:gdLst/>
              <a:ahLst/>
              <a:cxnLst/>
              <a:rect l="l" t="t" r="r" b="b"/>
              <a:pathLst>
                <a:path w="1052068" h="1052068">
                  <a:moveTo>
                    <a:pt x="0" y="526034"/>
                  </a:moveTo>
                  <a:cubicBezTo>
                    <a:pt x="0" y="235585"/>
                    <a:pt x="235585" y="0"/>
                    <a:pt x="526034" y="0"/>
                  </a:cubicBezTo>
                  <a:cubicBezTo>
                    <a:pt x="816483" y="0"/>
                    <a:pt x="1052068" y="235585"/>
                    <a:pt x="1052068" y="526034"/>
                  </a:cubicBezTo>
                  <a:cubicBezTo>
                    <a:pt x="1052068" y="816483"/>
                    <a:pt x="816610" y="1052068"/>
                    <a:pt x="526034" y="1052068"/>
                  </a:cubicBezTo>
                  <a:cubicBezTo>
                    <a:pt x="235458" y="1052068"/>
                    <a:pt x="0" y="816610"/>
                    <a:pt x="0" y="526034"/>
                  </a:cubicBezTo>
                  <a:close/>
                </a:path>
              </a:pathLst>
            </a:custGeom>
            <a:solidFill>
              <a:srgbClr val="C91313"/>
            </a:solidFill>
          </p:spPr>
        </p:sp>
      </p:grpSp>
      <p:sp>
        <p:nvSpPr>
          <p:cNvPr id="22" name="Freeform 22" descr="preencoded.png"/>
          <p:cNvSpPr/>
          <p:nvPr/>
        </p:nvSpPr>
        <p:spPr>
          <a:xfrm>
            <a:off x="13190191" y="2502989"/>
            <a:ext cx="354959" cy="354959"/>
          </a:xfrm>
          <a:custGeom>
            <a:avLst/>
            <a:gdLst/>
            <a:ahLst/>
            <a:cxnLst/>
            <a:rect l="l" t="t" r="r" b="b"/>
            <a:pathLst>
              <a:path w="354959" h="354959">
                <a:moveTo>
                  <a:pt x="0" y="0"/>
                </a:moveTo>
                <a:lnTo>
                  <a:pt x="354959" y="0"/>
                </a:lnTo>
                <a:lnTo>
                  <a:pt x="354959" y="354959"/>
                </a:lnTo>
                <a:lnTo>
                  <a:pt x="0" y="354959"/>
                </a:lnTo>
                <a:lnTo>
                  <a:pt x="0" y="0"/>
                </a:lnTo>
                <a:close/>
              </a:path>
            </a:pathLst>
          </a:custGeom>
          <a:blipFill>
            <a:blip r:embed="rId7">
              <a:extLst>
                <a:ext uri="{96DAC541-7B7A-43D3-8B79-37D633B846F1}">
                  <asvg:svgBlip xmlns:asvg="http://schemas.microsoft.com/office/drawing/2016/SVG/main" r:embed="rId8"/>
                </a:ext>
              </a:extLst>
            </a:blip>
            <a:stretch>
              <a:fillRect l="-6579" r="-6577"/>
            </a:stretch>
          </a:blipFill>
        </p:spPr>
      </p:sp>
      <p:sp>
        <p:nvSpPr>
          <p:cNvPr id="23" name="TextBox 23"/>
          <p:cNvSpPr txBox="1"/>
          <p:nvPr/>
        </p:nvSpPr>
        <p:spPr>
          <a:xfrm>
            <a:off x="12973202" y="3320948"/>
            <a:ext cx="3460852" cy="442017"/>
          </a:xfrm>
          <a:prstGeom prst="rect">
            <a:avLst/>
          </a:prstGeom>
        </p:spPr>
        <p:txBody>
          <a:bodyPr lIns="0" tIns="0" rIns="0" bIns="0" rtlCol="0" anchor="t">
            <a:spAutoFit/>
          </a:bodyPr>
          <a:lstStyle/>
          <a:p>
            <a:pPr algn="l">
              <a:lnSpc>
                <a:spcPts val="3374"/>
              </a:lnSpc>
            </a:pPr>
            <a:r>
              <a:rPr lang="en-US" sz="2687">
                <a:solidFill>
                  <a:srgbClr val="FFE5E5"/>
                </a:solidFill>
                <a:latin typeface="Dela Gothic One"/>
                <a:ea typeface="Dela Gothic One"/>
                <a:cs typeface="Dela Gothic One"/>
                <a:sym typeface="Dela Gothic One"/>
              </a:rPr>
              <a:t>137 Questions</a:t>
            </a:r>
          </a:p>
        </p:txBody>
      </p:sp>
      <p:sp>
        <p:nvSpPr>
          <p:cNvPr id="24" name="TextBox 24"/>
          <p:cNvSpPr txBox="1"/>
          <p:nvPr/>
        </p:nvSpPr>
        <p:spPr>
          <a:xfrm>
            <a:off x="12973202" y="3839918"/>
            <a:ext cx="4121791" cy="2149373"/>
          </a:xfrm>
          <a:prstGeom prst="rect">
            <a:avLst/>
          </a:prstGeom>
        </p:spPr>
        <p:txBody>
          <a:bodyPr lIns="0" tIns="0" rIns="0" bIns="0" rtlCol="0" anchor="t">
            <a:spAutoFit/>
          </a:bodyPr>
          <a:lstStyle/>
          <a:p>
            <a:pPr algn="l">
              <a:lnSpc>
                <a:spcPts val="3249"/>
              </a:lnSpc>
            </a:pPr>
            <a:r>
              <a:rPr lang="en-US" sz="2062">
                <a:solidFill>
                  <a:srgbClr val="FFE5E5"/>
                </a:solidFill>
                <a:latin typeface="DM Sans"/>
                <a:ea typeface="DM Sans"/>
                <a:cs typeface="DM Sans"/>
                <a:sym typeface="DM Sans"/>
              </a:rPr>
              <a:t>Defendants complete extensive survey about socio-economic background, family history, peer behavior, and personal circumstances.</a:t>
            </a:r>
          </a:p>
        </p:txBody>
      </p:sp>
      <p:grpSp>
        <p:nvGrpSpPr>
          <p:cNvPr id="25" name="Group 25"/>
          <p:cNvGrpSpPr/>
          <p:nvPr/>
        </p:nvGrpSpPr>
        <p:grpSpPr>
          <a:xfrm>
            <a:off x="7773743" y="6512423"/>
            <a:ext cx="9598523" cy="3013920"/>
            <a:chOff x="0" y="0"/>
            <a:chExt cx="12798031" cy="4018559"/>
          </a:xfrm>
        </p:grpSpPr>
        <p:sp>
          <p:nvSpPr>
            <p:cNvPr id="26" name="Freeform 26"/>
            <p:cNvSpPr/>
            <p:nvPr/>
          </p:nvSpPr>
          <p:spPr>
            <a:xfrm>
              <a:off x="6350" y="6350"/>
              <a:ext cx="12785344" cy="4005834"/>
            </a:xfrm>
            <a:custGeom>
              <a:avLst/>
              <a:gdLst/>
              <a:ahLst/>
              <a:cxnLst/>
              <a:rect l="l" t="t" r="r" b="b"/>
              <a:pathLst>
                <a:path w="12785344" h="4005834">
                  <a:moveTo>
                    <a:pt x="0" y="147320"/>
                  </a:moveTo>
                  <a:cubicBezTo>
                    <a:pt x="0" y="65913"/>
                    <a:pt x="66040" y="0"/>
                    <a:pt x="147574" y="0"/>
                  </a:cubicBezTo>
                  <a:lnTo>
                    <a:pt x="12637770" y="0"/>
                  </a:lnTo>
                  <a:cubicBezTo>
                    <a:pt x="12719303" y="0"/>
                    <a:pt x="12785344" y="65913"/>
                    <a:pt x="12785344" y="147320"/>
                  </a:cubicBezTo>
                  <a:lnTo>
                    <a:pt x="12785344" y="3858514"/>
                  </a:lnTo>
                  <a:cubicBezTo>
                    <a:pt x="12785344" y="3939921"/>
                    <a:pt x="12719303" y="4005834"/>
                    <a:pt x="12637770" y="4005834"/>
                  </a:cubicBezTo>
                  <a:lnTo>
                    <a:pt x="147574" y="4005834"/>
                  </a:lnTo>
                  <a:cubicBezTo>
                    <a:pt x="66040" y="4005834"/>
                    <a:pt x="0" y="3939921"/>
                    <a:pt x="0" y="3858514"/>
                  </a:cubicBezTo>
                  <a:close/>
                </a:path>
              </a:pathLst>
            </a:custGeom>
            <a:solidFill>
              <a:srgbClr val="740B0B"/>
            </a:solidFill>
          </p:spPr>
        </p:sp>
        <p:sp>
          <p:nvSpPr>
            <p:cNvPr id="27" name="Freeform 27"/>
            <p:cNvSpPr/>
            <p:nvPr/>
          </p:nvSpPr>
          <p:spPr>
            <a:xfrm>
              <a:off x="0" y="0"/>
              <a:ext cx="12798044" cy="4018534"/>
            </a:xfrm>
            <a:custGeom>
              <a:avLst/>
              <a:gdLst/>
              <a:ahLst/>
              <a:cxnLst/>
              <a:rect l="l" t="t" r="r" b="b"/>
              <a:pathLst>
                <a:path w="12798044" h="4018534">
                  <a:moveTo>
                    <a:pt x="0" y="153670"/>
                  </a:moveTo>
                  <a:cubicBezTo>
                    <a:pt x="0" y="68834"/>
                    <a:pt x="68961" y="0"/>
                    <a:pt x="153924" y="0"/>
                  </a:cubicBezTo>
                  <a:lnTo>
                    <a:pt x="12644120" y="0"/>
                  </a:lnTo>
                  <a:lnTo>
                    <a:pt x="12644120" y="6350"/>
                  </a:lnTo>
                  <a:lnTo>
                    <a:pt x="12644120" y="0"/>
                  </a:lnTo>
                  <a:cubicBezTo>
                    <a:pt x="12729083" y="0"/>
                    <a:pt x="12798044" y="68834"/>
                    <a:pt x="12798044" y="153670"/>
                  </a:cubicBezTo>
                  <a:lnTo>
                    <a:pt x="12791694" y="153670"/>
                  </a:lnTo>
                  <a:lnTo>
                    <a:pt x="12798044" y="153670"/>
                  </a:lnTo>
                  <a:lnTo>
                    <a:pt x="12798044" y="3864864"/>
                  </a:lnTo>
                  <a:lnTo>
                    <a:pt x="12791694" y="3864864"/>
                  </a:lnTo>
                  <a:lnTo>
                    <a:pt x="12798044" y="3864864"/>
                  </a:lnTo>
                  <a:cubicBezTo>
                    <a:pt x="12798044" y="3949700"/>
                    <a:pt x="12729083" y="4018534"/>
                    <a:pt x="12644120" y="4018534"/>
                  </a:cubicBezTo>
                  <a:lnTo>
                    <a:pt x="12644120" y="4012184"/>
                  </a:lnTo>
                  <a:lnTo>
                    <a:pt x="12644120" y="4018534"/>
                  </a:lnTo>
                  <a:lnTo>
                    <a:pt x="153924" y="4018534"/>
                  </a:lnTo>
                  <a:lnTo>
                    <a:pt x="153924" y="4012184"/>
                  </a:lnTo>
                  <a:lnTo>
                    <a:pt x="153924" y="4018534"/>
                  </a:lnTo>
                  <a:cubicBezTo>
                    <a:pt x="68961" y="4018534"/>
                    <a:pt x="0" y="3949827"/>
                    <a:pt x="0" y="3864864"/>
                  </a:cubicBezTo>
                  <a:lnTo>
                    <a:pt x="0" y="153670"/>
                  </a:lnTo>
                  <a:lnTo>
                    <a:pt x="6350" y="153670"/>
                  </a:lnTo>
                  <a:lnTo>
                    <a:pt x="0" y="153670"/>
                  </a:lnTo>
                  <a:moveTo>
                    <a:pt x="12700" y="153670"/>
                  </a:moveTo>
                  <a:lnTo>
                    <a:pt x="12700" y="3864864"/>
                  </a:lnTo>
                  <a:lnTo>
                    <a:pt x="6350" y="3864864"/>
                  </a:lnTo>
                  <a:lnTo>
                    <a:pt x="12700" y="3864864"/>
                  </a:lnTo>
                  <a:cubicBezTo>
                    <a:pt x="12700" y="3942715"/>
                    <a:pt x="75946" y="4005834"/>
                    <a:pt x="153924" y="4005834"/>
                  </a:cubicBezTo>
                  <a:lnTo>
                    <a:pt x="12644120" y="4005834"/>
                  </a:lnTo>
                  <a:cubicBezTo>
                    <a:pt x="12722098" y="4005834"/>
                    <a:pt x="12785344" y="3942715"/>
                    <a:pt x="12785344" y="3864864"/>
                  </a:cubicBezTo>
                  <a:lnTo>
                    <a:pt x="12785344" y="153670"/>
                  </a:lnTo>
                  <a:cubicBezTo>
                    <a:pt x="12785344" y="75819"/>
                    <a:pt x="12722098" y="12700"/>
                    <a:pt x="12644120" y="12700"/>
                  </a:cubicBezTo>
                  <a:lnTo>
                    <a:pt x="153924" y="12700"/>
                  </a:lnTo>
                  <a:lnTo>
                    <a:pt x="153924" y="6350"/>
                  </a:lnTo>
                  <a:lnTo>
                    <a:pt x="153924" y="12700"/>
                  </a:lnTo>
                  <a:cubicBezTo>
                    <a:pt x="75946" y="12700"/>
                    <a:pt x="12700" y="75819"/>
                    <a:pt x="12700" y="153670"/>
                  </a:cubicBezTo>
                  <a:close/>
                </a:path>
              </a:pathLst>
            </a:custGeom>
            <a:solidFill>
              <a:srgbClr val="8D2424"/>
            </a:solidFill>
          </p:spPr>
        </p:sp>
      </p:grpSp>
      <p:grpSp>
        <p:nvGrpSpPr>
          <p:cNvPr id="28" name="Group 28"/>
          <p:cNvGrpSpPr/>
          <p:nvPr/>
        </p:nvGrpSpPr>
        <p:grpSpPr>
          <a:xfrm>
            <a:off x="8051006" y="6789687"/>
            <a:ext cx="789089" cy="789089"/>
            <a:chOff x="0" y="0"/>
            <a:chExt cx="1052119" cy="1052119"/>
          </a:xfrm>
        </p:grpSpPr>
        <p:sp>
          <p:nvSpPr>
            <p:cNvPr id="29" name="Freeform 29"/>
            <p:cNvSpPr/>
            <p:nvPr/>
          </p:nvSpPr>
          <p:spPr>
            <a:xfrm>
              <a:off x="0" y="0"/>
              <a:ext cx="1052068" cy="1052068"/>
            </a:xfrm>
            <a:custGeom>
              <a:avLst/>
              <a:gdLst/>
              <a:ahLst/>
              <a:cxnLst/>
              <a:rect l="l" t="t" r="r" b="b"/>
              <a:pathLst>
                <a:path w="1052068" h="1052068">
                  <a:moveTo>
                    <a:pt x="0" y="526034"/>
                  </a:moveTo>
                  <a:cubicBezTo>
                    <a:pt x="0" y="235585"/>
                    <a:pt x="235585" y="0"/>
                    <a:pt x="526034" y="0"/>
                  </a:cubicBezTo>
                  <a:cubicBezTo>
                    <a:pt x="816483" y="0"/>
                    <a:pt x="1052068" y="235585"/>
                    <a:pt x="1052068" y="526034"/>
                  </a:cubicBezTo>
                  <a:cubicBezTo>
                    <a:pt x="1052068" y="816483"/>
                    <a:pt x="816610" y="1052068"/>
                    <a:pt x="526034" y="1052068"/>
                  </a:cubicBezTo>
                  <a:cubicBezTo>
                    <a:pt x="235458" y="1052068"/>
                    <a:pt x="0" y="816610"/>
                    <a:pt x="0" y="526034"/>
                  </a:cubicBezTo>
                  <a:close/>
                </a:path>
              </a:pathLst>
            </a:custGeom>
            <a:solidFill>
              <a:srgbClr val="C91313"/>
            </a:solidFill>
          </p:spPr>
        </p:sp>
      </p:grpSp>
      <p:sp>
        <p:nvSpPr>
          <p:cNvPr id="30" name="Freeform 30" descr="preencoded.png"/>
          <p:cNvSpPr/>
          <p:nvPr/>
        </p:nvSpPr>
        <p:spPr>
          <a:xfrm>
            <a:off x="8267995" y="7006676"/>
            <a:ext cx="354959" cy="354959"/>
          </a:xfrm>
          <a:custGeom>
            <a:avLst/>
            <a:gdLst/>
            <a:ahLst/>
            <a:cxnLst/>
            <a:rect l="l" t="t" r="r" b="b"/>
            <a:pathLst>
              <a:path w="354959" h="354959">
                <a:moveTo>
                  <a:pt x="0" y="0"/>
                </a:moveTo>
                <a:lnTo>
                  <a:pt x="354959" y="0"/>
                </a:lnTo>
                <a:lnTo>
                  <a:pt x="354959" y="354958"/>
                </a:lnTo>
                <a:lnTo>
                  <a:pt x="0" y="354958"/>
                </a:lnTo>
                <a:lnTo>
                  <a:pt x="0" y="0"/>
                </a:lnTo>
                <a:close/>
              </a:path>
            </a:pathLst>
          </a:custGeom>
          <a:blipFill>
            <a:blip r:embed="rId9">
              <a:extLst>
                <a:ext uri="{96DAC541-7B7A-43D3-8B79-37D633B846F1}">
                  <asvg:svgBlip xmlns:asvg="http://schemas.microsoft.com/office/drawing/2016/SVG/main" r:embed="rId10"/>
                </a:ext>
              </a:extLst>
            </a:blip>
            <a:stretch>
              <a:fillRect l="-1314" r="-1314"/>
            </a:stretch>
          </a:blipFill>
        </p:spPr>
      </p:sp>
      <p:sp>
        <p:nvSpPr>
          <p:cNvPr id="31" name="TextBox 31"/>
          <p:cNvSpPr txBox="1"/>
          <p:nvPr/>
        </p:nvSpPr>
        <p:spPr>
          <a:xfrm>
            <a:off x="8051006" y="7824635"/>
            <a:ext cx="3460852" cy="442017"/>
          </a:xfrm>
          <a:prstGeom prst="rect">
            <a:avLst/>
          </a:prstGeom>
        </p:spPr>
        <p:txBody>
          <a:bodyPr lIns="0" tIns="0" rIns="0" bIns="0" rtlCol="0" anchor="t">
            <a:spAutoFit/>
          </a:bodyPr>
          <a:lstStyle/>
          <a:p>
            <a:pPr algn="l">
              <a:lnSpc>
                <a:spcPts val="3374"/>
              </a:lnSpc>
            </a:pPr>
            <a:r>
              <a:rPr lang="en-US" sz="2687">
                <a:solidFill>
                  <a:srgbClr val="FFE5E5"/>
                </a:solidFill>
                <a:latin typeface="Dela Gothic One"/>
                <a:ea typeface="Dela Gothic One"/>
                <a:cs typeface="Dela Gothic One"/>
                <a:sym typeface="Dela Gothic One"/>
              </a:rPr>
              <a:t>Risk Scores</a:t>
            </a:r>
          </a:p>
        </p:txBody>
      </p:sp>
      <p:sp>
        <p:nvSpPr>
          <p:cNvPr id="32" name="TextBox 32"/>
          <p:cNvSpPr txBox="1"/>
          <p:nvPr/>
        </p:nvSpPr>
        <p:spPr>
          <a:xfrm>
            <a:off x="8051006" y="8343605"/>
            <a:ext cx="9043988" cy="905466"/>
          </a:xfrm>
          <a:prstGeom prst="rect">
            <a:avLst/>
          </a:prstGeom>
        </p:spPr>
        <p:txBody>
          <a:bodyPr lIns="0" tIns="0" rIns="0" bIns="0" rtlCol="0" anchor="t">
            <a:spAutoFit/>
          </a:bodyPr>
          <a:lstStyle/>
          <a:p>
            <a:pPr algn="l">
              <a:lnSpc>
                <a:spcPts val="3249"/>
              </a:lnSpc>
            </a:pPr>
            <a:r>
              <a:rPr lang="en-US" sz="2062">
                <a:solidFill>
                  <a:srgbClr val="FFE5E5"/>
                </a:solidFill>
                <a:latin typeface="DM Sans"/>
                <a:ea typeface="DM Sans"/>
                <a:cs typeface="DM Sans"/>
                <a:sym typeface="DM Sans"/>
              </a:rPr>
              <a:t>Generates numerical scores (1-10) classifying individuals as low, medium, or high risk for general and violent recidivism.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A0A0A">
                <a:alpha val="90196"/>
              </a:srgbClr>
            </a:solidFill>
          </p:spPr>
        </p:sp>
      </p:grpSp>
      <p:grpSp>
        <p:nvGrpSpPr>
          <p:cNvPr id="6" name="Group 6"/>
          <p:cNvGrpSpPr/>
          <p:nvPr/>
        </p:nvGrpSpPr>
        <p:grpSpPr>
          <a:xfrm>
            <a:off x="0" y="0"/>
            <a:ext cx="6858000" cy="10287000"/>
            <a:chOff x="0" y="0"/>
            <a:chExt cx="9144000" cy="13716000"/>
          </a:xfrm>
        </p:grpSpPr>
        <p:sp>
          <p:nvSpPr>
            <p:cNvPr id="7" name="Freeform 7"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4"/>
              <a:stretch>
                <a:fillRect/>
              </a:stretch>
            </a:blipFill>
          </p:spPr>
        </p:sp>
      </p:grpSp>
      <p:sp>
        <p:nvSpPr>
          <p:cNvPr id="8" name="TextBox 8"/>
          <p:cNvSpPr txBox="1"/>
          <p:nvPr/>
        </p:nvSpPr>
        <p:spPr>
          <a:xfrm>
            <a:off x="7805890" y="1514923"/>
            <a:ext cx="9534230" cy="1810341"/>
          </a:xfrm>
          <a:prstGeom prst="rect">
            <a:avLst/>
          </a:prstGeom>
        </p:spPr>
        <p:txBody>
          <a:bodyPr lIns="0" tIns="0" rIns="0" bIns="0" rtlCol="0" anchor="t">
            <a:spAutoFit/>
          </a:bodyPr>
          <a:lstStyle/>
          <a:p>
            <a:pPr algn="l">
              <a:lnSpc>
                <a:spcPts val="7000"/>
              </a:lnSpc>
            </a:pPr>
            <a:r>
              <a:rPr lang="en-US" sz="5562">
                <a:solidFill>
                  <a:srgbClr val="FAEBEB"/>
                </a:solidFill>
                <a:latin typeface="Dela Gothic One"/>
                <a:ea typeface="Dela Gothic One"/>
                <a:cs typeface="Dela Gothic One"/>
                <a:sym typeface="Dela Gothic One"/>
              </a:rPr>
              <a:t>The ProPublica Investigation</a:t>
            </a:r>
          </a:p>
        </p:txBody>
      </p:sp>
      <p:sp>
        <p:nvSpPr>
          <p:cNvPr id="9" name="TextBox 9"/>
          <p:cNvSpPr txBox="1"/>
          <p:nvPr/>
        </p:nvSpPr>
        <p:spPr>
          <a:xfrm>
            <a:off x="7805890" y="3404892"/>
            <a:ext cx="8902151" cy="473869"/>
          </a:xfrm>
          <a:prstGeom prst="rect">
            <a:avLst/>
          </a:prstGeom>
        </p:spPr>
        <p:txBody>
          <a:bodyPr lIns="0" tIns="0" rIns="0" bIns="0" rtlCol="0" anchor="t">
            <a:spAutoFit/>
          </a:bodyPr>
          <a:lstStyle/>
          <a:p>
            <a:pPr algn="l">
              <a:lnSpc>
                <a:spcPts val="3500"/>
              </a:lnSpc>
            </a:pPr>
            <a:r>
              <a:rPr lang="en-US" sz="2750" dirty="0">
                <a:solidFill>
                  <a:srgbClr val="FAEBEB"/>
                </a:solidFill>
                <a:latin typeface="Dela Gothic One"/>
                <a:ea typeface="Dela Gothic One"/>
                <a:cs typeface="Dela Gothic One"/>
                <a:sym typeface="Dela Gothic One"/>
              </a:rPr>
              <a:t>May 2016 - Analysis of 7,000+ Defendants</a:t>
            </a:r>
          </a:p>
        </p:txBody>
      </p:sp>
      <p:sp>
        <p:nvSpPr>
          <p:cNvPr id="10" name="TextBox 10"/>
          <p:cNvSpPr txBox="1"/>
          <p:nvPr/>
        </p:nvSpPr>
        <p:spPr>
          <a:xfrm>
            <a:off x="7805890" y="4208707"/>
            <a:ext cx="9534230" cy="1376362"/>
          </a:xfrm>
          <a:prstGeom prst="rect">
            <a:avLst/>
          </a:prstGeom>
        </p:spPr>
        <p:txBody>
          <a:bodyPr lIns="0" tIns="0" rIns="0" bIns="0" rtlCol="0" anchor="t">
            <a:spAutoFit/>
          </a:bodyPr>
          <a:lstStyle/>
          <a:p>
            <a:pPr algn="l">
              <a:lnSpc>
                <a:spcPts val="3374"/>
              </a:lnSpc>
            </a:pPr>
            <a:r>
              <a:rPr lang="en-US" sz="2125">
                <a:solidFill>
                  <a:srgbClr val="FFE5E5"/>
                </a:solidFill>
                <a:latin typeface="DM Sans"/>
                <a:ea typeface="DM Sans"/>
                <a:cs typeface="DM Sans"/>
                <a:sym typeface="DM Sans"/>
              </a:rPr>
              <a:t>ProPublica's investigation of Broward County, Florida data revealed troubling racial disparities in error rates, challenging assumptions of algorithmic neutrality.</a:t>
            </a:r>
          </a:p>
        </p:txBody>
      </p:sp>
      <p:sp>
        <p:nvSpPr>
          <p:cNvPr id="11" name="TextBox 11"/>
          <p:cNvSpPr txBox="1"/>
          <p:nvPr/>
        </p:nvSpPr>
        <p:spPr>
          <a:xfrm>
            <a:off x="7805890" y="6158360"/>
            <a:ext cx="4597898" cy="760362"/>
          </a:xfrm>
          <a:prstGeom prst="rect">
            <a:avLst/>
          </a:prstGeom>
        </p:spPr>
        <p:txBody>
          <a:bodyPr lIns="0" tIns="0" rIns="0" bIns="0" rtlCol="0" anchor="t">
            <a:spAutoFit/>
          </a:bodyPr>
          <a:lstStyle/>
          <a:p>
            <a:pPr algn="ctr">
              <a:lnSpc>
                <a:spcPts val="7000"/>
              </a:lnSpc>
            </a:pPr>
            <a:r>
              <a:rPr lang="en-US" sz="7000">
                <a:solidFill>
                  <a:srgbClr val="FFE5E5"/>
                </a:solidFill>
                <a:latin typeface="Dela Gothic One"/>
                <a:ea typeface="Dela Gothic One"/>
                <a:cs typeface="Dela Gothic One"/>
                <a:sym typeface="Dela Gothic One"/>
              </a:rPr>
              <a:t>61%</a:t>
            </a:r>
          </a:p>
        </p:txBody>
      </p:sp>
      <p:sp>
        <p:nvSpPr>
          <p:cNvPr id="12" name="TextBox 12"/>
          <p:cNvSpPr txBox="1"/>
          <p:nvPr/>
        </p:nvSpPr>
        <p:spPr>
          <a:xfrm>
            <a:off x="7805890" y="7228437"/>
            <a:ext cx="4597898" cy="919163"/>
          </a:xfrm>
          <a:prstGeom prst="rect">
            <a:avLst/>
          </a:prstGeom>
        </p:spPr>
        <p:txBody>
          <a:bodyPr lIns="0" tIns="0" rIns="0" bIns="0" rtlCol="0" anchor="t">
            <a:spAutoFit/>
          </a:bodyPr>
          <a:lstStyle/>
          <a:p>
            <a:pPr algn="ctr">
              <a:lnSpc>
                <a:spcPts val="3500"/>
              </a:lnSpc>
            </a:pPr>
            <a:r>
              <a:rPr lang="en-US" sz="2750">
                <a:solidFill>
                  <a:srgbClr val="FFE5E5"/>
                </a:solidFill>
                <a:latin typeface="Dela Gothic One"/>
                <a:ea typeface="Dela Gothic One"/>
                <a:cs typeface="Dela Gothic One"/>
                <a:sym typeface="Dela Gothic One"/>
              </a:rPr>
              <a:t>General Recidivism Accuracy</a:t>
            </a:r>
          </a:p>
        </p:txBody>
      </p:sp>
      <p:sp>
        <p:nvSpPr>
          <p:cNvPr id="13" name="TextBox 13"/>
          <p:cNvSpPr txBox="1"/>
          <p:nvPr/>
        </p:nvSpPr>
        <p:spPr>
          <a:xfrm>
            <a:off x="7805890" y="8233772"/>
            <a:ext cx="4597898" cy="509588"/>
          </a:xfrm>
          <a:prstGeom prst="rect">
            <a:avLst/>
          </a:prstGeom>
        </p:spPr>
        <p:txBody>
          <a:bodyPr lIns="0" tIns="0" rIns="0" bIns="0" rtlCol="0" anchor="t">
            <a:spAutoFit/>
          </a:bodyPr>
          <a:lstStyle/>
          <a:p>
            <a:pPr algn="ctr">
              <a:lnSpc>
                <a:spcPts val="3374"/>
              </a:lnSpc>
            </a:pPr>
            <a:r>
              <a:rPr lang="en-US" sz="2125">
                <a:solidFill>
                  <a:srgbClr val="FFE5E5"/>
                </a:solidFill>
                <a:latin typeface="DM Sans"/>
                <a:ea typeface="DM Sans"/>
                <a:cs typeface="DM Sans"/>
                <a:sym typeface="DM Sans"/>
              </a:rPr>
              <a:t>Only slightly better than chance</a:t>
            </a:r>
          </a:p>
        </p:txBody>
      </p:sp>
      <p:sp>
        <p:nvSpPr>
          <p:cNvPr id="14" name="TextBox 14"/>
          <p:cNvSpPr txBox="1"/>
          <p:nvPr/>
        </p:nvSpPr>
        <p:spPr>
          <a:xfrm>
            <a:off x="12742221" y="6158360"/>
            <a:ext cx="4597898" cy="760362"/>
          </a:xfrm>
          <a:prstGeom prst="rect">
            <a:avLst/>
          </a:prstGeom>
        </p:spPr>
        <p:txBody>
          <a:bodyPr lIns="0" tIns="0" rIns="0" bIns="0" rtlCol="0" anchor="t">
            <a:spAutoFit/>
          </a:bodyPr>
          <a:lstStyle/>
          <a:p>
            <a:pPr algn="ctr">
              <a:lnSpc>
                <a:spcPts val="7000"/>
              </a:lnSpc>
            </a:pPr>
            <a:r>
              <a:rPr lang="en-US" sz="7000">
                <a:solidFill>
                  <a:srgbClr val="FFE5E5"/>
                </a:solidFill>
                <a:latin typeface="Dela Gothic One"/>
                <a:ea typeface="Dela Gothic One"/>
                <a:cs typeface="Dela Gothic One"/>
                <a:sym typeface="Dela Gothic One"/>
              </a:rPr>
              <a:t>20%</a:t>
            </a:r>
          </a:p>
        </p:txBody>
      </p:sp>
      <p:sp>
        <p:nvSpPr>
          <p:cNvPr id="15" name="TextBox 15"/>
          <p:cNvSpPr txBox="1"/>
          <p:nvPr/>
        </p:nvSpPr>
        <p:spPr>
          <a:xfrm>
            <a:off x="12742221" y="7228437"/>
            <a:ext cx="4597898" cy="919163"/>
          </a:xfrm>
          <a:prstGeom prst="rect">
            <a:avLst/>
          </a:prstGeom>
        </p:spPr>
        <p:txBody>
          <a:bodyPr lIns="0" tIns="0" rIns="0" bIns="0" rtlCol="0" anchor="t">
            <a:spAutoFit/>
          </a:bodyPr>
          <a:lstStyle/>
          <a:p>
            <a:pPr algn="ctr">
              <a:lnSpc>
                <a:spcPts val="3500"/>
              </a:lnSpc>
            </a:pPr>
            <a:r>
              <a:rPr lang="en-US" sz="2750">
                <a:solidFill>
                  <a:srgbClr val="FFE5E5"/>
                </a:solidFill>
                <a:latin typeface="Dela Gothic One"/>
                <a:ea typeface="Dela Gothic One"/>
                <a:cs typeface="Dela Gothic One"/>
                <a:sym typeface="Dela Gothic One"/>
              </a:rPr>
              <a:t>Violent Recidivism Accuracy</a:t>
            </a:r>
          </a:p>
        </p:txBody>
      </p:sp>
      <p:sp>
        <p:nvSpPr>
          <p:cNvPr id="16" name="TextBox 16"/>
          <p:cNvSpPr txBox="1"/>
          <p:nvPr/>
        </p:nvSpPr>
        <p:spPr>
          <a:xfrm>
            <a:off x="12742221" y="8233772"/>
            <a:ext cx="4597898" cy="509588"/>
          </a:xfrm>
          <a:prstGeom prst="rect">
            <a:avLst/>
          </a:prstGeom>
        </p:spPr>
        <p:txBody>
          <a:bodyPr lIns="0" tIns="0" rIns="0" bIns="0" rtlCol="0" anchor="t">
            <a:spAutoFit/>
          </a:bodyPr>
          <a:lstStyle/>
          <a:p>
            <a:pPr algn="ctr">
              <a:lnSpc>
                <a:spcPts val="3374"/>
              </a:lnSpc>
            </a:pPr>
            <a:r>
              <a:rPr lang="en-US" sz="2125">
                <a:solidFill>
                  <a:srgbClr val="FFE5E5"/>
                </a:solidFill>
                <a:latin typeface="DM Sans"/>
                <a:ea typeface="DM Sans"/>
                <a:cs typeface="DM Sans"/>
                <a:sym typeface="DM Sans"/>
              </a:rPr>
              <a:t>Significantly lower prediction rate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A0A0A">
                <a:alpha val="90196"/>
              </a:srgbClr>
            </a:solidFill>
          </p:spPr>
        </p:sp>
      </p:grpSp>
      <p:sp>
        <p:nvSpPr>
          <p:cNvPr id="6" name="TextBox 6"/>
          <p:cNvSpPr txBox="1"/>
          <p:nvPr/>
        </p:nvSpPr>
        <p:spPr>
          <a:xfrm>
            <a:off x="2854966" y="1079154"/>
            <a:ext cx="8700935" cy="579091"/>
          </a:xfrm>
          <a:prstGeom prst="rect">
            <a:avLst/>
          </a:prstGeom>
        </p:spPr>
        <p:txBody>
          <a:bodyPr lIns="0" tIns="0" rIns="0" bIns="0" rtlCol="0" anchor="t">
            <a:spAutoFit/>
          </a:bodyPr>
          <a:lstStyle/>
          <a:p>
            <a:pPr algn="l">
              <a:lnSpc>
                <a:spcPts val="4437"/>
              </a:lnSpc>
            </a:pPr>
            <a:r>
              <a:rPr lang="en-US" sz="3562">
                <a:solidFill>
                  <a:srgbClr val="FAEBEB"/>
                </a:solidFill>
                <a:latin typeface="Dela Gothic One"/>
                <a:ea typeface="Dela Gothic One"/>
                <a:cs typeface="Dela Gothic One"/>
                <a:sym typeface="Dela Gothic One"/>
              </a:rPr>
              <a:t>Racial Disparities in Error Rates</a:t>
            </a:r>
          </a:p>
        </p:txBody>
      </p:sp>
      <p:sp>
        <p:nvSpPr>
          <p:cNvPr id="7" name="TextBox 7"/>
          <p:cNvSpPr txBox="1"/>
          <p:nvPr/>
        </p:nvSpPr>
        <p:spPr>
          <a:xfrm>
            <a:off x="4899717" y="3071813"/>
            <a:ext cx="2129876" cy="366122"/>
          </a:xfrm>
          <a:prstGeom prst="rect">
            <a:avLst/>
          </a:prstGeom>
        </p:spPr>
        <p:txBody>
          <a:bodyPr lIns="0" tIns="0" rIns="0" bIns="0" rtlCol="0" anchor="t">
            <a:spAutoFit/>
          </a:bodyPr>
          <a:lstStyle/>
          <a:p>
            <a:pPr algn="ctr">
              <a:lnSpc>
                <a:spcPts val="3374"/>
              </a:lnSpc>
            </a:pPr>
            <a:r>
              <a:rPr lang="en-US" sz="3374">
                <a:solidFill>
                  <a:srgbClr val="FFE5E5"/>
                </a:solidFill>
                <a:latin typeface="Dela Gothic One"/>
                <a:ea typeface="Dela Gothic One"/>
                <a:cs typeface="Dela Gothic One"/>
                <a:sym typeface="Dela Gothic One"/>
              </a:rPr>
              <a:t>44.9%</a:t>
            </a:r>
          </a:p>
        </p:txBody>
      </p:sp>
      <p:grpSp>
        <p:nvGrpSpPr>
          <p:cNvPr id="8" name="Group 8"/>
          <p:cNvGrpSpPr/>
          <p:nvPr/>
        </p:nvGrpSpPr>
        <p:grpSpPr>
          <a:xfrm>
            <a:off x="4666059" y="1922859"/>
            <a:ext cx="2597496" cy="2597496"/>
            <a:chOff x="0" y="0"/>
            <a:chExt cx="3463328" cy="3463328"/>
          </a:xfrm>
        </p:grpSpPr>
        <p:sp>
          <p:nvSpPr>
            <p:cNvPr id="9" name="Freeform 9" descr="preencoded.png"/>
            <p:cNvSpPr/>
            <p:nvPr/>
          </p:nvSpPr>
          <p:spPr>
            <a:xfrm>
              <a:off x="0" y="0"/>
              <a:ext cx="3463290" cy="3463290"/>
            </a:xfrm>
            <a:custGeom>
              <a:avLst/>
              <a:gdLst/>
              <a:ahLst/>
              <a:cxnLst/>
              <a:rect l="l" t="t" r="r" b="b"/>
              <a:pathLst>
                <a:path w="3463290" h="3463290">
                  <a:moveTo>
                    <a:pt x="0" y="0"/>
                  </a:moveTo>
                  <a:lnTo>
                    <a:pt x="3463290" y="0"/>
                  </a:lnTo>
                  <a:lnTo>
                    <a:pt x="3463290" y="3463290"/>
                  </a:lnTo>
                  <a:lnTo>
                    <a:pt x="0" y="3463290"/>
                  </a:lnTo>
                  <a:lnTo>
                    <a:pt x="0" y="0"/>
                  </a:lnTo>
                  <a:close/>
                </a:path>
              </a:pathLst>
            </a:custGeom>
            <a:blipFill>
              <a:blip r:embed="rId4"/>
              <a:stretch>
                <a:fillRect r="-1" b="-1"/>
              </a:stretch>
            </a:blipFill>
          </p:spPr>
        </p:sp>
      </p:grpSp>
      <p:sp>
        <p:nvSpPr>
          <p:cNvPr id="10" name="TextBox 10"/>
          <p:cNvSpPr txBox="1"/>
          <p:nvPr/>
        </p:nvSpPr>
        <p:spPr>
          <a:xfrm>
            <a:off x="4163168" y="4674241"/>
            <a:ext cx="3603127" cy="284712"/>
          </a:xfrm>
          <a:prstGeom prst="rect">
            <a:avLst/>
          </a:prstGeom>
        </p:spPr>
        <p:txBody>
          <a:bodyPr lIns="0" tIns="0" rIns="0" bIns="0" rtlCol="0" anchor="t">
            <a:spAutoFit/>
          </a:bodyPr>
          <a:lstStyle/>
          <a:p>
            <a:pPr algn="ctr">
              <a:lnSpc>
                <a:spcPts val="2187"/>
              </a:lnSpc>
            </a:pPr>
            <a:r>
              <a:rPr lang="en-US" sz="1750">
                <a:solidFill>
                  <a:srgbClr val="FFE5E5"/>
                </a:solidFill>
                <a:latin typeface="Dela Gothic One"/>
                <a:ea typeface="Dela Gothic One"/>
                <a:cs typeface="Dela Gothic One"/>
                <a:sym typeface="Dela Gothic One"/>
              </a:rPr>
              <a:t>False Positive Rate - Black</a:t>
            </a:r>
          </a:p>
        </p:txBody>
      </p:sp>
      <p:sp>
        <p:nvSpPr>
          <p:cNvPr id="11" name="TextBox 11"/>
          <p:cNvSpPr txBox="1"/>
          <p:nvPr/>
        </p:nvSpPr>
        <p:spPr>
          <a:xfrm>
            <a:off x="2854966" y="5015808"/>
            <a:ext cx="6219673" cy="236639"/>
          </a:xfrm>
          <a:prstGeom prst="rect">
            <a:avLst/>
          </a:prstGeom>
        </p:spPr>
        <p:txBody>
          <a:bodyPr lIns="0" tIns="0" rIns="0" bIns="0" rtlCol="0" anchor="t">
            <a:spAutoFit/>
          </a:bodyPr>
          <a:lstStyle/>
          <a:p>
            <a:pPr algn="ctr">
              <a:lnSpc>
                <a:spcPts val="1750"/>
              </a:lnSpc>
            </a:pPr>
            <a:r>
              <a:rPr lang="en-US" sz="1312">
                <a:solidFill>
                  <a:srgbClr val="FFE5E5"/>
                </a:solidFill>
                <a:latin typeface="DM Sans"/>
                <a:ea typeface="DM Sans"/>
                <a:cs typeface="DM Sans"/>
                <a:sym typeface="DM Sans"/>
              </a:rPr>
              <a:t>Black defendants who did not reoffend incorrectly labeled high risk</a:t>
            </a:r>
          </a:p>
        </p:txBody>
      </p:sp>
      <p:sp>
        <p:nvSpPr>
          <p:cNvPr id="12" name="TextBox 12"/>
          <p:cNvSpPr txBox="1"/>
          <p:nvPr/>
        </p:nvSpPr>
        <p:spPr>
          <a:xfrm>
            <a:off x="11257807" y="3071813"/>
            <a:ext cx="2129876" cy="366122"/>
          </a:xfrm>
          <a:prstGeom prst="rect">
            <a:avLst/>
          </a:prstGeom>
        </p:spPr>
        <p:txBody>
          <a:bodyPr lIns="0" tIns="0" rIns="0" bIns="0" rtlCol="0" anchor="t">
            <a:spAutoFit/>
          </a:bodyPr>
          <a:lstStyle/>
          <a:p>
            <a:pPr algn="ctr">
              <a:lnSpc>
                <a:spcPts val="3374"/>
              </a:lnSpc>
            </a:pPr>
            <a:r>
              <a:rPr lang="en-US" sz="3374">
                <a:solidFill>
                  <a:srgbClr val="FFE5E5"/>
                </a:solidFill>
                <a:latin typeface="Dela Gothic One"/>
                <a:ea typeface="Dela Gothic One"/>
                <a:cs typeface="Dela Gothic One"/>
                <a:sym typeface="Dela Gothic One"/>
              </a:rPr>
              <a:t>23.5%</a:t>
            </a:r>
          </a:p>
        </p:txBody>
      </p:sp>
      <p:grpSp>
        <p:nvGrpSpPr>
          <p:cNvPr id="13" name="Group 13"/>
          <p:cNvGrpSpPr/>
          <p:nvPr/>
        </p:nvGrpSpPr>
        <p:grpSpPr>
          <a:xfrm>
            <a:off x="11024149" y="1922859"/>
            <a:ext cx="2597496" cy="2597496"/>
            <a:chOff x="0" y="0"/>
            <a:chExt cx="3463328" cy="3463328"/>
          </a:xfrm>
        </p:grpSpPr>
        <p:sp>
          <p:nvSpPr>
            <p:cNvPr id="14" name="Freeform 14" descr="preencoded.png"/>
            <p:cNvSpPr/>
            <p:nvPr/>
          </p:nvSpPr>
          <p:spPr>
            <a:xfrm>
              <a:off x="0" y="0"/>
              <a:ext cx="3463290" cy="3463290"/>
            </a:xfrm>
            <a:custGeom>
              <a:avLst/>
              <a:gdLst/>
              <a:ahLst/>
              <a:cxnLst/>
              <a:rect l="l" t="t" r="r" b="b"/>
              <a:pathLst>
                <a:path w="3463290" h="3463290">
                  <a:moveTo>
                    <a:pt x="0" y="0"/>
                  </a:moveTo>
                  <a:lnTo>
                    <a:pt x="3463290" y="0"/>
                  </a:lnTo>
                  <a:lnTo>
                    <a:pt x="3463290" y="3463290"/>
                  </a:lnTo>
                  <a:lnTo>
                    <a:pt x="0" y="3463290"/>
                  </a:lnTo>
                  <a:lnTo>
                    <a:pt x="0" y="0"/>
                  </a:lnTo>
                  <a:close/>
                </a:path>
              </a:pathLst>
            </a:custGeom>
            <a:blipFill>
              <a:blip r:embed="rId5"/>
              <a:stretch>
                <a:fillRect r="-1" b="-1"/>
              </a:stretch>
            </a:blipFill>
          </p:spPr>
        </p:sp>
      </p:grpSp>
      <p:sp>
        <p:nvSpPr>
          <p:cNvPr id="15" name="TextBox 15"/>
          <p:cNvSpPr txBox="1"/>
          <p:nvPr/>
        </p:nvSpPr>
        <p:spPr>
          <a:xfrm>
            <a:off x="10524534" y="4674241"/>
            <a:ext cx="3596878" cy="284712"/>
          </a:xfrm>
          <a:prstGeom prst="rect">
            <a:avLst/>
          </a:prstGeom>
        </p:spPr>
        <p:txBody>
          <a:bodyPr lIns="0" tIns="0" rIns="0" bIns="0" rtlCol="0" anchor="t">
            <a:spAutoFit/>
          </a:bodyPr>
          <a:lstStyle/>
          <a:p>
            <a:pPr algn="ctr">
              <a:lnSpc>
                <a:spcPts val="2187"/>
              </a:lnSpc>
            </a:pPr>
            <a:r>
              <a:rPr lang="en-US" sz="1750">
                <a:solidFill>
                  <a:srgbClr val="FFE5E5"/>
                </a:solidFill>
                <a:latin typeface="Dela Gothic One"/>
                <a:ea typeface="Dela Gothic One"/>
                <a:cs typeface="Dela Gothic One"/>
                <a:sym typeface="Dela Gothic One"/>
              </a:rPr>
              <a:t>False Positive Rate - White</a:t>
            </a:r>
          </a:p>
        </p:txBody>
      </p:sp>
      <p:sp>
        <p:nvSpPr>
          <p:cNvPr id="16" name="TextBox 16"/>
          <p:cNvSpPr txBox="1"/>
          <p:nvPr/>
        </p:nvSpPr>
        <p:spPr>
          <a:xfrm>
            <a:off x="9213056" y="5015808"/>
            <a:ext cx="6219825" cy="236639"/>
          </a:xfrm>
          <a:prstGeom prst="rect">
            <a:avLst/>
          </a:prstGeom>
        </p:spPr>
        <p:txBody>
          <a:bodyPr lIns="0" tIns="0" rIns="0" bIns="0" rtlCol="0" anchor="t">
            <a:spAutoFit/>
          </a:bodyPr>
          <a:lstStyle/>
          <a:p>
            <a:pPr algn="ctr">
              <a:lnSpc>
                <a:spcPts val="1750"/>
              </a:lnSpc>
            </a:pPr>
            <a:r>
              <a:rPr lang="en-US" sz="1312">
                <a:solidFill>
                  <a:srgbClr val="FFE5E5"/>
                </a:solidFill>
                <a:latin typeface="DM Sans"/>
                <a:ea typeface="DM Sans"/>
                <a:cs typeface="DM Sans"/>
                <a:sym typeface="DM Sans"/>
              </a:rPr>
              <a:t>White defendants who did not reoffend incorrectly labeled high risk</a:t>
            </a:r>
          </a:p>
        </p:txBody>
      </p:sp>
      <p:sp>
        <p:nvSpPr>
          <p:cNvPr id="17" name="TextBox 17"/>
          <p:cNvSpPr txBox="1"/>
          <p:nvPr/>
        </p:nvSpPr>
        <p:spPr>
          <a:xfrm>
            <a:off x="4899717" y="6666014"/>
            <a:ext cx="2129876" cy="366122"/>
          </a:xfrm>
          <a:prstGeom prst="rect">
            <a:avLst/>
          </a:prstGeom>
        </p:spPr>
        <p:txBody>
          <a:bodyPr lIns="0" tIns="0" rIns="0" bIns="0" rtlCol="0" anchor="t">
            <a:spAutoFit/>
          </a:bodyPr>
          <a:lstStyle/>
          <a:p>
            <a:pPr algn="ctr">
              <a:lnSpc>
                <a:spcPts val="3374"/>
              </a:lnSpc>
            </a:pPr>
            <a:r>
              <a:rPr lang="en-US" sz="3374">
                <a:solidFill>
                  <a:srgbClr val="FFE5E5"/>
                </a:solidFill>
                <a:latin typeface="Dela Gothic One"/>
                <a:ea typeface="Dela Gothic One"/>
                <a:cs typeface="Dela Gothic One"/>
                <a:sym typeface="Dela Gothic One"/>
              </a:rPr>
              <a:t>47.7%</a:t>
            </a:r>
          </a:p>
        </p:txBody>
      </p:sp>
      <p:grpSp>
        <p:nvGrpSpPr>
          <p:cNvPr id="18" name="Group 18"/>
          <p:cNvGrpSpPr/>
          <p:nvPr/>
        </p:nvGrpSpPr>
        <p:grpSpPr>
          <a:xfrm>
            <a:off x="4666059" y="5517061"/>
            <a:ext cx="2597496" cy="2597496"/>
            <a:chOff x="0" y="0"/>
            <a:chExt cx="3463328" cy="3463328"/>
          </a:xfrm>
        </p:grpSpPr>
        <p:sp>
          <p:nvSpPr>
            <p:cNvPr id="19" name="Freeform 19" descr="preencoded.png"/>
            <p:cNvSpPr/>
            <p:nvPr/>
          </p:nvSpPr>
          <p:spPr>
            <a:xfrm>
              <a:off x="0" y="0"/>
              <a:ext cx="3463290" cy="3463290"/>
            </a:xfrm>
            <a:custGeom>
              <a:avLst/>
              <a:gdLst/>
              <a:ahLst/>
              <a:cxnLst/>
              <a:rect l="l" t="t" r="r" b="b"/>
              <a:pathLst>
                <a:path w="3463290" h="3463290">
                  <a:moveTo>
                    <a:pt x="0" y="0"/>
                  </a:moveTo>
                  <a:lnTo>
                    <a:pt x="3463290" y="0"/>
                  </a:lnTo>
                  <a:lnTo>
                    <a:pt x="3463290" y="3463290"/>
                  </a:lnTo>
                  <a:lnTo>
                    <a:pt x="0" y="3463290"/>
                  </a:lnTo>
                  <a:lnTo>
                    <a:pt x="0" y="0"/>
                  </a:lnTo>
                  <a:close/>
                </a:path>
              </a:pathLst>
            </a:custGeom>
            <a:blipFill>
              <a:blip r:embed="rId6"/>
              <a:stretch>
                <a:fillRect r="-1" b="-1"/>
              </a:stretch>
            </a:blipFill>
          </p:spPr>
        </p:sp>
      </p:grpSp>
      <p:sp>
        <p:nvSpPr>
          <p:cNvPr id="20" name="TextBox 20"/>
          <p:cNvSpPr txBox="1"/>
          <p:nvPr/>
        </p:nvSpPr>
        <p:spPr>
          <a:xfrm>
            <a:off x="4115391" y="8268443"/>
            <a:ext cx="3698672" cy="284712"/>
          </a:xfrm>
          <a:prstGeom prst="rect">
            <a:avLst/>
          </a:prstGeom>
        </p:spPr>
        <p:txBody>
          <a:bodyPr lIns="0" tIns="0" rIns="0" bIns="0" rtlCol="0" anchor="t">
            <a:spAutoFit/>
          </a:bodyPr>
          <a:lstStyle/>
          <a:p>
            <a:pPr algn="ctr">
              <a:lnSpc>
                <a:spcPts val="2187"/>
              </a:lnSpc>
            </a:pPr>
            <a:r>
              <a:rPr lang="en-US" sz="1750">
                <a:solidFill>
                  <a:srgbClr val="FFE5E5"/>
                </a:solidFill>
                <a:latin typeface="Dela Gothic One"/>
                <a:ea typeface="Dela Gothic One"/>
                <a:cs typeface="Dela Gothic One"/>
                <a:sym typeface="Dela Gothic One"/>
              </a:rPr>
              <a:t>False Negative Rate - White</a:t>
            </a:r>
          </a:p>
        </p:txBody>
      </p:sp>
      <p:sp>
        <p:nvSpPr>
          <p:cNvPr id="21" name="TextBox 21"/>
          <p:cNvSpPr txBox="1"/>
          <p:nvPr/>
        </p:nvSpPr>
        <p:spPr>
          <a:xfrm>
            <a:off x="2854966" y="8610009"/>
            <a:ext cx="6219673" cy="236639"/>
          </a:xfrm>
          <a:prstGeom prst="rect">
            <a:avLst/>
          </a:prstGeom>
        </p:spPr>
        <p:txBody>
          <a:bodyPr lIns="0" tIns="0" rIns="0" bIns="0" rtlCol="0" anchor="t">
            <a:spAutoFit/>
          </a:bodyPr>
          <a:lstStyle/>
          <a:p>
            <a:pPr algn="ctr">
              <a:lnSpc>
                <a:spcPts val="1750"/>
              </a:lnSpc>
            </a:pPr>
            <a:r>
              <a:rPr lang="en-US" sz="1312">
                <a:solidFill>
                  <a:srgbClr val="FFE5E5"/>
                </a:solidFill>
                <a:latin typeface="DM Sans"/>
                <a:ea typeface="DM Sans"/>
                <a:cs typeface="DM Sans"/>
                <a:sym typeface="DM Sans"/>
              </a:rPr>
              <a:t>White defendants who reoffended incorrectly classified as low risk</a:t>
            </a:r>
          </a:p>
        </p:txBody>
      </p:sp>
      <p:sp>
        <p:nvSpPr>
          <p:cNvPr id="22" name="TextBox 22"/>
          <p:cNvSpPr txBox="1"/>
          <p:nvPr/>
        </p:nvSpPr>
        <p:spPr>
          <a:xfrm>
            <a:off x="11257807" y="6666014"/>
            <a:ext cx="2129876" cy="366122"/>
          </a:xfrm>
          <a:prstGeom prst="rect">
            <a:avLst/>
          </a:prstGeom>
        </p:spPr>
        <p:txBody>
          <a:bodyPr lIns="0" tIns="0" rIns="0" bIns="0" rtlCol="0" anchor="t">
            <a:spAutoFit/>
          </a:bodyPr>
          <a:lstStyle/>
          <a:p>
            <a:pPr algn="ctr">
              <a:lnSpc>
                <a:spcPts val="3374"/>
              </a:lnSpc>
            </a:pPr>
            <a:r>
              <a:rPr lang="en-US" sz="3374">
                <a:solidFill>
                  <a:srgbClr val="FFE5E5"/>
                </a:solidFill>
                <a:latin typeface="Dela Gothic One"/>
                <a:ea typeface="Dela Gothic One"/>
                <a:cs typeface="Dela Gothic One"/>
                <a:sym typeface="Dela Gothic One"/>
              </a:rPr>
              <a:t>28.0%</a:t>
            </a:r>
          </a:p>
        </p:txBody>
      </p:sp>
      <p:grpSp>
        <p:nvGrpSpPr>
          <p:cNvPr id="23" name="Group 23"/>
          <p:cNvGrpSpPr/>
          <p:nvPr/>
        </p:nvGrpSpPr>
        <p:grpSpPr>
          <a:xfrm>
            <a:off x="11024149" y="5517061"/>
            <a:ext cx="2597496" cy="2597496"/>
            <a:chOff x="0" y="0"/>
            <a:chExt cx="3463328" cy="3463328"/>
          </a:xfrm>
        </p:grpSpPr>
        <p:sp>
          <p:nvSpPr>
            <p:cNvPr id="24" name="Freeform 24" descr="preencoded.png"/>
            <p:cNvSpPr/>
            <p:nvPr/>
          </p:nvSpPr>
          <p:spPr>
            <a:xfrm>
              <a:off x="0" y="0"/>
              <a:ext cx="3463290" cy="3463290"/>
            </a:xfrm>
            <a:custGeom>
              <a:avLst/>
              <a:gdLst/>
              <a:ahLst/>
              <a:cxnLst/>
              <a:rect l="l" t="t" r="r" b="b"/>
              <a:pathLst>
                <a:path w="3463290" h="3463290">
                  <a:moveTo>
                    <a:pt x="0" y="0"/>
                  </a:moveTo>
                  <a:lnTo>
                    <a:pt x="3463290" y="0"/>
                  </a:lnTo>
                  <a:lnTo>
                    <a:pt x="3463290" y="3463290"/>
                  </a:lnTo>
                  <a:lnTo>
                    <a:pt x="0" y="3463290"/>
                  </a:lnTo>
                  <a:lnTo>
                    <a:pt x="0" y="0"/>
                  </a:lnTo>
                  <a:close/>
                </a:path>
              </a:pathLst>
            </a:custGeom>
            <a:blipFill>
              <a:blip r:embed="rId7"/>
              <a:stretch>
                <a:fillRect r="-1" b="-1"/>
              </a:stretch>
            </a:blipFill>
          </p:spPr>
        </p:sp>
      </p:grpSp>
      <p:sp>
        <p:nvSpPr>
          <p:cNvPr id="25" name="TextBox 25"/>
          <p:cNvSpPr txBox="1"/>
          <p:nvPr/>
        </p:nvSpPr>
        <p:spPr>
          <a:xfrm>
            <a:off x="10470509" y="8268443"/>
            <a:ext cx="3704930" cy="284712"/>
          </a:xfrm>
          <a:prstGeom prst="rect">
            <a:avLst/>
          </a:prstGeom>
        </p:spPr>
        <p:txBody>
          <a:bodyPr lIns="0" tIns="0" rIns="0" bIns="0" rtlCol="0" anchor="t">
            <a:spAutoFit/>
          </a:bodyPr>
          <a:lstStyle/>
          <a:p>
            <a:pPr algn="ctr">
              <a:lnSpc>
                <a:spcPts val="2187"/>
              </a:lnSpc>
            </a:pPr>
            <a:r>
              <a:rPr lang="en-US" sz="1750">
                <a:solidFill>
                  <a:srgbClr val="FFE5E5"/>
                </a:solidFill>
                <a:latin typeface="Dela Gothic One"/>
                <a:ea typeface="Dela Gothic One"/>
                <a:cs typeface="Dela Gothic One"/>
                <a:sym typeface="Dela Gothic One"/>
              </a:rPr>
              <a:t>False Negative Rate - Black</a:t>
            </a:r>
          </a:p>
        </p:txBody>
      </p:sp>
      <p:sp>
        <p:nvSpPr>
          <p:cNvPr id="26" name="TextBox 26"/>
          <p:cNvSpPr txBox="1"/>
          <p:nvPr/>
        </p:nvSpPr>
        <p:spPr>
          <a:xfrm>
            <a:off x="9213056" y="8610009"/>
            <a:ext cx="6219825" cy="236639"/>
          </a:xfrm>
          <a:prstGeom prst="rect">
            <a:avLst/>
          </a:prstGeom>
        </p:spPr>
        <p:txBody>
          <a:bodyPr lIns="0" tIns="0" rIns="0" bIns="0" rtlCol="0" anchor="t">
            <a:spAutoFit/>
          </a:bodyPr>
          <a:lstStyle/>
          <a:p>
            <a:pPr algn="ctr">
              <a:lnSpc>
                <a:spcPts val="1750"/>
              </a:lnSpc>
            </a:pPr>
            <a:r>
              <a:rPr lang="en-US" sz="1312">
                <a:solidFill>
                  <a:srgbClr val="FFE5E5"/>
                </a:solidFill>
                <a:latin typeface="DM Sans"/>
                <a:ea typeface="DM Sans"/>
                <a:cs typeface="DM Sans"/>
                <a:sym typeface="DM Sans"/>
              </a:rPr>
              <a:t>Black defendants who reoffended incorrectly classified as low risk</a:t>
            </a:r>
          </a:p>
        </p:txBody>
      </p:sp>
      <p:sp>
        <p:nvSpPr>
          <p:cNvPr id="27" name="TextBox 27"/>
          <p:cNvSpPr txBox="1"/>
          <p:nvPr/>
        </p:nvSpPr>
        <p:spPr>
          <a:xfrm>
            <a:off x="2854966" y="8961682"/>
            <a:ext cx="12577915" cy="236639"/>
          </a:xfrm>
          <a:prstGeom prst="rect">
            <a:avLst/>
          </a:prstGeom>
        </p:spPr>
        <p:txBody>
          <a:bodyPr lIns="0" tIns="0" rIns="0" bIns="0" rtlCol="0" anchor="t">
            <a:spAutoFit/>
          </a:bodyPr>
          <a:lstStyle/>
          <a:p>
            <a:pPr algn="l">
              <a:lnSpc>
                <a:spcPts val="1750"/>
              </a:lnSpc>
            </a:pPr>
            <a:r>
              <a:rPr lang="en-US" sz="1312">
                <a:solidFill>
                  <a:srgbClr val="FFE5E5"/>
                </a:solidFill>
                <a:latin typeface="DM Sans"/>
                <a:ea typeface="DM Sans"/>
                <a:cs typeface="DM Sans"/>
                <a:sym typeface="DM Sans"/>
              </a:rPr>
              <a:t>These disparities remained significant even after controlling for prior criminal history, age, gender, and actual reoffending rates.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A0A0A">
                <a:alpha val="90196"/>
              </a:srgbClr>
            </a:solidFill>
          </p:spPr>
        </p:sp>
      </p:grpSp>
      <p:grpSp>
        <p:nvGrpSpPr>
          <p:cNvPr id="6" name="Group 6"/>
          <p:cNvGrpSpPr/>
          <p:nvPr/>
        </p:nvGrpSpPr>
        <p:grpSpPr>
          <a:xfrm>
            <a:off x="16049015" y="9686925"/>
            <a:ext cx="2153260" cy="514350"/>
            <a:chOff x="0" y="0"/>
            <a:chExt cx="2871013" cy="685800"/>
          </a:xfrm>
        </p:grpSpPr>
        <p:sp>
          <p:nvSpPr>
            <p:cNvPr id="7" name="Freeform 7" descr="preencoded.png">
              <a:hlinkClick r:id="rId4" tooltip="https://gamma.app/?utm_source=made-with-gamma"/>
            </p:cNvPr>
            <p:cNvSpPr/>
            <p:nvPr/>
          </p:nvSpPr>
          <p:spPr>
            <a:xfrm>
              <a:off x="0" y="0"/>
              <a:ext cx="2870962" cy="685800"/>
            </a:xfrm>
            <a:custGeom>
              <a:avLst/>
              <a:gdLst/>
              <a:ahLst/>
              <a:cxnLst/>
              <a:rect l="l" t="t" r="r" b="b"/>
              <a:pathLst>
                <a:path w="2870962" h="685800">
                  <a:moveTo>
                    <a:pt x="0" y="0"/>
                  </a:moveTo>
                  <a:lnTo>
                    <a:pt x="2870962" y="0"/>
                  </a:lnTo>
                  <a:lnTo>
                    <a:pt x="2870962" y="685800"/>
                  </a:lnTo>
                  <a:lnTo>
                    <a:pt x="0" y="685800"/>
                  </a:lnTo>
                  <a:lnTo>
                    <a:pt x="0" y="0"/>
                  </a:lnTo>
                  <a:close/>
                </a:path>
              </a:pathLst>
            </a:custGeom>
            <a:blipFill>
              <a:blip r:embed="rId5"/>
              <a:stretch>
                <a:fillRect r="-1"/>
              </a:stretch>
            </a:blipFill>
          </p:spPr>
        </p:sp>
      </p:grpSp>
      <p:grpSp>
        <p:nvGrpSpPr>
          <p:cNvPr id="8" name="Group 8"/>
          <p:cNvGrpSpPr/>
          <p:nvPr/>
        </p:nvGrpSpPr>
        <p:grpSpPr>
          <a:xfrm>
            <a:off x="11430000" y="0"/>
            <a:ext cx="6858000" cy="10287000"/>
            <a:chOff x="0" y="0"/>
            <a:chExt cx="9144000" cy="13716000"/>
          </a:xfrm>
        </p:grpSpPr>
        <p:sp>
          <p:nvSpPr>
            <p:cNvPr id="9" name="Freeform 9"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6"/>
              <a:stretch>
                <a:fillRect/>
              </a:stretch>
            </a:blipFill>
          </p:spPr>
        </p:sp>
      </p:grpSp>
      <p:sp>
        <p:nvSpPr>
          <p:cNvPr id="10" name="TextBox 10"/>
          <p:cNvSpPr txBox="1"/>
          <p:nvPr/>
        </p:nvSpPr>
        <p:spPr>
          <a:xfrm>
            <a:off x="826884" y="1397794"/>
            <a:ext cx="9511456" cy="735907"/>
          </a:xfrm>
          <a:prstGeom prst="rect">
            <a:avLst/>
          </a:prstGeom>
        </p:spPr>
        <p:txBody>
          <a:bodyPr wrap="square" lIns="0" tIns="0" rIns="0" bIns="0" rtlCol="0" anchor="t">
            <a:spAutoFit/>
          </a:bodyPr>
          <a:lstStyle/>
          <a:p>
            <a:pPr algn="l">
              <a:lnSpc>
                <a:spcPts val="6062"/>
              </a:lnSpc>
            </a:pPr>
            <a:r>
              <a:rPr lang="en-US" sz="4875" dirty="0">
                <a:solidFill>
                  <a:srgbClr val="FAEBEB"/>
                </a:solidFill>
                <a:latin typeface="Dela Gothic One"/>
                <a:ea typeface="Dela Gothic One"/>
                <a:cs typeface="Dela Gothic One"/>
                <a:sym typeface="Dela Gothic One"/>
              </a:rPr>
              <a:t>Key Academic Findings</a:t>
            </a:r>
          </a:p>
        </p:txBody>
      </p:sp>
      <p:grpSp>
        <p:nvGrpSpPr>
          <p:cNvPr id="11" name="Group 11"/>
          <p:cNvGrpSpPr/>
          <p:nvPr/>
        </p:nvGrpSpPr>
        <p:grpSpPr>
          <a:xfrm>
            <a:off x="812597" y="2488854"/>
            <a:ext cx="9804797" cy="2131514"/>
            <a:chOff x="0" y="0"/>
            <a:chExt cx="13073062" cy="2842019"/>
          </a:xfrm>
        </p:grpSpPr>
        <p:sp>
          <p:nvSpPr>
            <p:cNvPr id="12" name="Freeform 12"/>
            <p:cNvSpPr/>
            <p:nvPr/>
          </p:nvSpPr>
          <p:spPr>
            <a:xfrm>
              <a:off x="19050" y="19050"/>
              <a:ext cx="13034899" cy="2803906"/>
            </a:xfrm>
            <a:custGeom>
              <a:avLst/>
              <a:gdLst/>
              <a:ahLst/>
              <a:cxnLst/>
              <a:rect l="l" t="t" r="r" b="b"/>
              <a:pathLst>
                <a:path w="13034899" h="2803906">
                  <a:moveTo>
                    <a:pt x="0" y="182880"/>
                  </a:moveTo>
                  <a:cubicBezTo>
                    <a:pt x="0" y="81915"/>
                    <a:pt x="82804" y="0"/>
                    <a:pt x="184785" y="0"/>
                  </a:cubicBezTo>
                  <a:lnTo>
                    <a:pt x="12850114" y="0"/>
                  </a:lnTo>
                  <a:cubicBezTo>
                    <a:pt x="12952223" y="0"/>
                    <a:pt x="13034899" y="81915"/>
                    <a:pt x="13034899" y="182880"/>
                  </a:cubicBezTo>
                  <a:lnTo>
                    <a:pt x="13034899" y="2621026"/>
                  </a:lnTo>
                  <a:cubicBezTo>
                    <a:pt x="13034899" y="2721991"/>
                    <a:pt x="12952095" y="2803906"/>
                    <a:pt x="12850114" y="2803906"/>
                  </a:cubicBezTo>
                  <a:lnTo>
                    <a:pt x="184785" y="2803906"/>
                  </a:lnTo>
                  <a:cubicBezTo>
                    <a:pt x="82677" y="2803906"/>
                    <a:pt x="0" y="2721991"/>
                    <a:pt x="0" y="2621026"/>
                  </a:cubicBezTo>
                  <a:close/>
                </a:path>
              </a:pathLst>
            </a:custGeom>
            <a:solidFill>
              <a:srgbClr val="0A0A0A">
                <a:alpha val="90196"/>
              </a:srgbClr>
            </a:solidFill>
          </p:spPr>
        </p:sp>
        <p:sp>
          <p:nvSpPr>
            <p:cNvPr id="13" name="Freeform 13"/>
            <p:cNvSpPr/>
            <p:nvPr/>
          </p:nvSpPr>
          <p:spPr>
            <a:xfrm>
              <a:off x="0" y="0"/>
              <a:ext cx="13072999" cy="2842006"/>
            </a:xfrm>
            <a:custGeom>
              <a:avLst/>
              <a:gdLst/>
              <a:ahLst/>
              <a:cxnLst/>
              <a:rect l="l" t="t" r="r" b="b"/>
              <a:pathLst>
                <a:path w="13072999" h="2842006">
                  <a:moveTo>
                    <a:pt x="0" y="201930"/>
                  </a:moveTo>
                  <a:cubicBezTo>
                    <a:pt x="0" y="90170"/>
                    <a:pt x="91440" y="0"/>
                    <a:pt x="203835" y="0"/>
                  </a:cubicBezTo>
                  <a:lnTo>
                    <a:pt x="12869164" y="0"/>
                  </a:lnTo>
                  <a:lnTo>
                    <a:pt x="12869164" y="19050"/>
                  </a:lnTo>
                  <a:lnTo>
                    <a:pt x="12869164" y="0"/>
                  </a:lnTo>
                  <a:cubicBezTo>
                    <a:pt x="12981560" y="0"/>
                    <a:pt x="13072999" y="90170"/>
                    <a:pt x="13072999" y="201930"/>
                  </a:cubicBezTo>
                  <a:lnTo>
                    <a:pt x="13053949" y="201930"/>
                  </a:lnTo>
                  <a:lnTo>
                    <a:pt x="13072999" y="201930"/>
                  </a:lnTo>
                  <a:lnTo>
                    <a:pt x="13072999" y="2640076"/>
                  </a:lnTo>
                  <a:lnTo>
                    <a:pt x="13053949" y="2640076"/>
                  </a:lnTo>
                  <a:lnTo>
                    <a:pt x="13072999" y="2640076"/>
                  </a:lnTo>
                  <a:cubicBezTo>
                    <a:pt x="13072999" y="2751836"/>
                    <a:pt x="12981560" y="2842006"/>
                    <a:pt x="12869164" y="2842006"/>
                  </a:cubicBezTo>
                  <a:lnTo>
                    <a:pt x="12869164" y="2822956"/>
                  </a:lnTo>
                  <a:lnTo>
                    <a:pt x="12869164" y="2842006"/>
                  </a:lnTo>
                  <a:lnTo>
                    <a:pt x="203835" y="2842006"/>
                  </a:lnTo>
                  <a:lnTo>
                    <a:pt x="203835" y="2822956"/>
                  </a:lnTo>
                  <a:lnTo>
                    <a:pt x="203835" y="2842006"/>
                  </a:lnTo>
                  <a:cubicBezTo>
                    <a:pt x="91440" y="2842006"/>
                    <a:pt x="0" y="2751836"/>
                    <a:pt x="0" y="2640076"/>
                  </a:cubicBezTo>
                  <a:lnTo>
                    <a:pt x="0" y="201930"/>
                  </a:lnTo>
                  <a:lnTo>
                    <a:pt x="19050" y="201930"/>
                  </a:lnTo>
                  <a:lnTo>
                    <a:pt x="0" y="201930"/>
                  </a:lnTo>
                  <a:moveTo>
                    <a:pt x="38100" y="201930"/>
                  </a:moveTo>
                  <a:lnTo>
                    <a:pt x="38100" y="2640076"/>
                  </a:lnTo>
                  <a:lnTo>
                    <a:pt x="19050" y="2640076"/>
                  </a:lnTo>
                  <a:lnTo>
                    <a:pt x="38100" y="2640076"/>
                  </a:lnTo>
                  <a:cubicBezTo>
                    <a:pt x="38100" y="2730373"/>
                    <a:pt x="112141" y="2803906"/>
                    <a:pt x="203835" y="2803906"/>
                  </a:cubicBezTo>
                  <a:lnTo>
                    <a:pt x="12869164" y="2803906"/>
                  </a:lnTo>
                  <a:cubicBezTo>
                    <a:pt x="12960858" y="2803906"/>
                    <a:pt x="13034899" y="2730373"/>
                    <a:pt x="13034899" y="2640076"/>
                  </a:cubicBezTo>
                  <a:lnTo>
                    <a:pt x="13034899" y="201930"/>
                  </a:lnTo>
                  <a:cubicBezTo>
                    <a:pt x="13034899" y="111633"/>
                    <a:pt x="12960858" y="38100"/>
                    <a:pt x="12869164" y="38100"/>
                  </a:cubicBezTo>
                  <a:lnTo>
                    <a:pt x="203835" y="38100"/>
                  </a:lnTo>
                  <a:lnTo>
                    <a:pt x="203835" y="19050"/>
                  </a:lnTo>
                  <a:lnTo>
                    <a:pt x="203835" y="38100"/>
                  </a:lnTo>
                  <a:cubicBezTo>
                    <a:pt x="112141" y="38100"/>
                    <a:pt x="38100" y="111633"/>
                    <a:pt x="38100" y="201930"/>
                  </a:cubicBezTo>
                  <a:close/>
                </a:path>
              </a:pathLst>
            </a:custGeom>
            <a:solidFill>
              <a:srgbClr val="8D2424"/>
            </a:solidFill>
          </p:spPr>
        </p:sp>
      </p:grpSp>
      <p:grpSp>
        <p:nvGrpSpPr>
          <p:cNvPr id="14" name="Group 14"/>
          <p:cNvGrpSpPr/>
          <p:nvPr/>
        </p:nvGrpSpPr>
        <p:grpSpPr>
          <a:xfrm>
            <a:off x="798309" y="2503141"/>
            <a:ext cx="114300" cy="2102939"/>
            <a:chOff x="0" y="0"/>
            <a:chExt cx="152400" cy="2803919"/>
          </a:xfrm>
        </p:grpSpPr>
        <p:sp>
          <p:nvSpPr>
            <p:cNvPr id="15" name="Freeform 15"/>
            <p:cNvSpPr/>
            <p:nvPr/>
          </p:nvSpPr>
          <p:spPr>
            <a:xfrm>
              <a:off x="0" y="0"/>
              <a:ext cx="152400" cy="2803906"/>
            </a:xfrm>
            <a:custGeom>
              <a:avLst/>
              <a:gdLst/>
              <a:ahLst/>
              <a:cxnLst/>
              <a:rect l="l" t="t" r="r" b="b"/>
              <a:pathLst>
                <a:path w="152400" h="2803906">
                  <a:moveTo>
                    <a:pt x="0" y="76200"/>
                  </a:moveTo>
                  <a:cubicBezTo>
                    <a:pt x="0" y="34163"/>
                    <a:pt x="34163" y="0"/>
                    <a:pt x="76200" y="0"/>
                  </a:cubicBezTo>
                  <a:cubicBezTo>
                    <a:pt x="118237" y="0"/>
                    <a:pt x="152400" y="34163"/>
                    <a:pt x="152400" y="76200"/>
                  </a:cubicBezTo>
                  <a:lnTo>
                    <a:pt x="152400" y="2727706"/>
                  </a:lnTo>
                  <a:cubicBezTo>
                    <a:pt x="152400" y="2769743"/>
                    <a:pt x="118237" y="2803906"/>
                    <a:pt x="76200" y="2803906"/>
                  </a:cubicBezTo>
                  <a:cubicBezTo>
                    <a:pt x="34163" y="2803906"/>
                    <a:pt x="0" y="2769743"/>
                    <a:pt x="0" y="2727706"/>
                  </a:cubicBezTo>
                  <a:close/>
                </a:path>
              </a:pathLst>
            </a:custGeom>
            <a:solidFill>
              <a:srgbClr val="C91313"/>
            </a:solidFill>
          </p:spPr>
        </p:sp>
      </p:grpSp>
      <p:sp>
        <p:nvSpPr>
          <p:cNvPr id="16" name="TextBox 16"/>
          <p:cNvSpPr txBox="1"/>
          <p:nvPr/>
        </p:nvSpPr>
        <p:spPr>
          <a:xfrm>
            <a:off x="1177376" y="2767908"/>
            <a:ext cx="4097979" cy="388591"/>
          </a:xfrm>
          <a:prstGeom prst="rect">
            <a:avLst/>
          </a:prstGeom>
        </p:spPr>
        <p:txBody>
          <a:bodyPr lIns="0" tIns="0" rIns="0" bIns="0" rtlCol="0" anchor="t">
            <a:spAutoFit/>
          </a:bodyPr>
          <a:lstStyle/>
          <a:p>
            <a:pPr algn="l">
              <a:lnSpc>
                <a:spcPts val="2999"/>
              </a:lnSpc>
            </a:pPr>
            <a:r>
              <a:rPr lang="en-US" sz="2437">
                <a:solidFill>
                  <a:srgbClr val="FFE5E5"/>
                </a:solidFill>
                <a:latin typeface="Dela Gothic One"/>
                <a:ea typeface="Dela Gothic One"/>
                <a:cs typeface="Dela Gothic One"/>
                <a:sym typeface="Dela Gothic One"/>
              </a:rPr>
              <a:t>Dressel &amp; Farid (2018)</a:t>
            </a:r>
          </a:p>
        </p:txBody>
      </p:sp>
      <p:sp>
        <p:nvSpPr>
          <p:cNvPr id="17" name="TextBox 17"/>
          <p:cNvSpPr txBox="1"/>
          <p:nvPr/>
        </p:nvSpPr>
        <p:spPr>
          <a:xfrm>
            <a:off x="1177376" y="3222869"/>
            <a:ext cx="9160964" cy="1118445"/>
          </a:xfrm>
          <a:prstGeom prst="rect">
            <a:avLst/>
          </a:prstGeom>
        </p:spPr>
        <p:txBody>
          <a:bodyPr lIns="0" tIns="0" rIns="0" bIns="0" rtlCol="0" anchor="t">
            <a:spAutoFit/>
          </a:bodyPr>
          <a:lstStyle/>
          <a:p>
            <a:pPr algn="l">
              <a:lnSpc>
                <a:spcPts val="2750"/>
              </a:lnSpc>
            </a:pPr>
            <a:r>
              <a:rPr lang="en-US" sz="1812">
                <a:solidFill>
                  <a:srgbClr val="FFE5E5"/>
                </a:solidFill>
                <a:latin typeface="DM Sans"/>
                <a:ea typeface="DM Sans"/>
                <a:cs typeface="DM Sans"/>
                <a:sym typeface="DM Sans"/>
              </a:rPr>
              <a:t>Non-expert humans using only 7 basic features achieved 67% accuracy—matching COMPAS's 65.2% with 137 variables. A simple 2-variable model performed identically to proprietary system.</a:t>
            </a:r>
          </a:p>
        </p:txBody>
      </p:sp>
      <p:grpSp>
        <p:nvGrpSpPr>
          <p:cNvPr id="18" name="Group 18"/>
          <p:cNvGrpSpPr/>
          <p:nvPr/>
        </p:nvGrpSpPr>
        <p:grpSpPr>
          <a:xfrm>
            <a:off x="812597" y="4797771"/>
            <a:ext cx="9804797" cy="1777756"/>
            <a:chOff x="0" y="0"/>
            <a:chExt cx="13073062" cy="2370341"/>
          </a:xfrm>
        </p:grpSpPr>
        <p:sp>
          <p:nvSpPr>
            <p:cNvPr id="19" name="Freeform 19"/>
            <p:cNvSpPr/>
            <p:nvPr/>
          </p:nvSpPr>
          <p:spPr>
            <a:xfrm>
              <a:off x="19050" y="19050"/>
              <a:ext cx="13034899" cy="2332228"/>
            </a:xfrm>
            <a:custGeom>
              <a:avLst/>
              <a:gdLst/>
              <a:ahLst/>
              <a:cxnLst/>
              <a:rect l="l" t="t" r="r" b="b"/>
              <a:pathLst>
                <a:path w="13034899" h="2332228">
                  <a:moveTo>
                    <a:pt x="0" y="182880"/>
                  </a:moveTo>
                  <a:cubicBezTo>
                    <a:pt x="0" y="81915"/>
                    <a:pt x="82931" y="0"/>
                    <a:pt x="185293" y="0"/>
                  </a:cubicBezTo>
                  <a:lnTo>
                    <a:pt x="12849606" y="0"/>
                  </a:lnTo>
                  <a:cubicBezTo>
                    <a:pt x="12951968" y="0"/>
                    <a:pt x="13034899" y="81915"/>
                    <a:pt x="13034899" y="182880"/>
                  </a:cubicBezTo>
                  <a:lnTo>
                    <a:pt x="13034899" y="2149348"/>
                  </a:lnTo>
                  <a:cubicBezTo>
                    <a:pt x="13034899" y="2250313"/>
                    <a:pt x="12951968" y="2332228"/>
                    <a:pt x="12849606" y="2332228"/>
                  </a:cubicBezTo>
                  <a:lnTo>
                    <a:pt x="185293" y="2332228"/>
                  </a:lnTo>
                  <a:cubicBezTo>
                    <a:pt x="82931" y="2332228"/>
                    <a:pt x="0" y="2250313"/>
                    <a:pt x="0" y="2149348"/>
                  </a:cubicBezTo>
                  <a:close/>
                </a:path>
              </a:pathLst>
            </a:custGeom>
            <a:solidFill>
              <a:srgbClr val="0A0A0A">
                <a:alpha val="90196"/>
              </a:srgbClr>
            </a:solidFill>
          </p:spPr>
        </p:sp>
        <p:sp>
          <p:nvSpPr>
            <p:cNvPr id="20" name="Freeform 20"/>
            <p:cNvSpPr/>
            <p:nvPr/>
          </p:nvSpPr>
          <p:spPr>
            <a:xfrm>
              <a:off x="0" y="0"/>
              <a:ext cx="13072999" cy="2370328"/>
            </a:xfrm>
            <a:custGeom>
              <a:avLst/>
              <a:gdLst/>
              <a:ahLst/>
              <a:cxnLst/>
              <a:rect l="l" t="t" r="r" b="b"/>
              <a:pathLst>
                <a:path w="13072999" h="2370328">
                  <a:moveTo>
                    <a:pt x="0" y="201930"/>
                  </a:moveTo>
                  <a:cubicBezTo>
                    <a:pt x="0" y="90170"/>
                    <a:pt x="91694" y="0"/>
                    <a:pt x="204343" y="0"/>
                  </a:cubicBezTo>
                  <a:lnTo>
                    <a:pt x="12868656" y="0"/>
                  </a:lnTo>
                  <a:lnTo>
                    <a:pt x="12868656" y="19050"/>
                  </a:lnTo>
                  <a:lnTo>
                    <a:pt x="12868656" y="0"/>
                  </a:lnTo>
                  <a:cubicBezTo>
                    <a:pt x="12981305" y="0"/>
                    <a:pt x="13072999" y="90170"/>
                    <a:pt x="13072999" y="201930"/>
                  </a:cubicBezTo>
                  <a:lnTo>
                    <a:pt x="13053949" y="201930"/>
                  </a:lnTo>
                  <a:lnTo>
                    <a:pt x="13072999" y="201930"/>
                  </a:lnTo>
                  <a:lnTo>
                    <a:pt x="13072999" y="2168398"/>
                  </a:lnTo>
                  <a:lnTo>
                    <a:pt x="13053949" y="2168398"/>
                  </a:lnTo>
                  <a:lnTo>
                    <a:pt x="13072999" y="2168398"/>
                  </a:lnTo>
                  <a:cubicBezTo>
                    <a:pt x="13072999" y="2280158"/>
                    <a:pt x="12981305" y="2370328"/>
                    <a:pt x="12868656" y="2370328"/>
                  </a:cubicBezTo>
                  <a:lnTo>
                    <a:pt x="12868656" y="2351278"/>
                  </a:lnTo>
                  <a:lnTo>
                    <a:pt x="12868656" y="2370328"/>
                  </a:lnTo>
                  <a:lnTo>
                    <a:pt x="204343" y="2370328"/>
                  </a:lnTo>
                  <a:lnTo>
                    <a:pt x="204343" y="2351278"/>
                  </a:lnTo>
                  <a:lnTo>
                    <a:pt x="204343" y="2370328"/>
                  </a:lnTo>
                  <a:cubicBezTo>
                    <a:pt x="91694" y="2370328"/>
                    <a:pt x="0" y="2280158"/>
                    <a:pt x="0" y="2168398"/>
                  </a:cubicBezTo>
                  <a:lnTo>
                    <a:pt x="0" y="201930"/>
                  </a:lnTo>
                  <a:lnTo>
                    <a:pt x="19050" y="201930"/>
                  </a:lnTo>
                  <a:lnTo>
                    <a:pt x="0" y="201930"/>
                  </a:lnTo>
                  <a:moveTo>
                    <a:pt x="38100" y="201930"/>
                  </a:moveTo>
                  <a:lnTo>
                    <a:pt x="38100" y="2168398"/>
                  </a:lnTo>
                  <a:lnTo>
                    <a:pt x="19050" y="2168398"/>
                  </a:lnTo>
                  <a:lnTo>
                    <a:pt x="38100" y="2168398"/>
                  </a:lnTo>
                  <a:cubicBezTo>
                    <a:pt x="38100" y="2258695"/>
                    <a:pt x="112268" y="2332228"/>
                    <a:pt x="204343" y="2332228"/>
                  </a:cubicBezTo>
                  <a:lnTo>
                    <a:pt x="12868656" y="2332228"/>
                  </a:lnTo>
                  <a:cubicBezTo>
                    <a:pt x="12960731" y="2332228"/>
                    <a:pt x="13034899" y="2258695"/>
                    <a:pt x="13034899" y="2168398"/>
                  </a:cubicBezTo>
                  <a:lnTo>
                    <a:pt x="13034899" y="201930"/>
                  </a:lnTo>
                  <a:cubicBezTo>
                    <a:pt x="13034899" y="111633"/>
                    <a:pt x="12960731" y="38100"/>
                    <a:pt x="12868656" y="38100"/>
                  </a:cubicBezTo>
                  <a:lnTo>
                    <a:pt x="204343" y="38100"/>
                  </a:lnTo>
                  <a:lnTo>
                    <a:pt x="204343" y="19050"/>
                  </a:lnTo>
                  <a:lnTo>
                    <a:pt x="204343" y="38100"/>
                  </a:lnTo>
                  <a:cubicBezTo>
                    <a:pt x="112268" y="38100"/>
                    <a:pt x="38100" y="111633"/>
                    <a:pt x="38100" y="201930"/>
                  </a:cubicBezTo>
                  <a:close/>
                </a:path>
              </a:pathLst>
            </a:custGeom>
            <a:solidFill>
              <a:srgbClr val="8D2424"/>
            </a:solidFill>
          </p:spPr>
        </p:sp>
      </p:grpSp>
      <p:grpSp>
        <p:nvGrpSpPr>
          <p:cNvPr id="21" name="Group 21"/>
          <p:cNvGrpSpPr/>
          <p:nvPr/>
        </p:nvGrpSpPr>
        <p:grpSpPr>
          <a:xfrm>
            <a:off x="798309" y="4812059"/>
            <a:ext cx="114300" cy="1749181"/>
            <a:chOff x="0" y="0"/>
            <a:chExt cx="152400" cy="2332241"/>
          </a:xfrm>
        </p:grpSpPr>
        <p:sp>
          <p:nvSpPr>
            <p:cNvPr id="22" name="Freeform 22"/>
            <p:cNvSpPr/>
            <p:nvPr/>
          </p:nvSpPr>
          <p:spPr>
            <a:xfrm>
              <a:off x="0" y="0"/>
              <a:ext cx="152400" cy="2332228"/>
            </a:xfrm>
            <a:custGeom>
              <a:avLst/>
              <a:gdLst/>
              <a:ahLst/>
              <a:cxnLst/>
              <a:rect l="l" t="t" r="r" b="b"/>
              <a:pathLst>
                <a:path w="152400" h="2332228">
                  <a:moveTo>
                    <a:pt x="0" y="76200"/>
                  </a:moveTo>
                  <a:cubicBezTo>
                    <a:pt x="0" y="34163"/>
                    <a:pt x="34163" y="0"/>
                    <a:pt x="76200" y="0"/>
                  </a:cubicBezTo>
                  <a:cubicBezTo>
                    <a:pt x="118237" y="0"/>
                    <a:pt x="152400" y="34163"/>
                    <a:pt x="152400" y="76200"/>
                  </a:cubicBezTo>
                  <a:lnTo>
                    <a:pt x="152400" y="2256028"/>
                  </a:lnTo>
                  <a:cubicBezTo>
                    <a:pt x="152400" y="2298065"/>
                    <a:pt x="118237" y="2332228"/>
                    <a:pt x="76200" y="2332228"/>
                  </a:cubicBezTo>
                  <a:cubicBezTo>
                    <a:pt x="34163" y="2332228"/>
                    <a:pt x="0" y="2298065"/>
                    <a:pt x="0" y="2256028"/>
                  </a:cubicBezTo>
                  <a:close/>
                </a:path>
              </a:pathLst>
            </a:custGeom>
            <a:solidFill>
              <a:srgbClr val="C91313"/>
            </a:solidFill>
          </p:spPr>
        </p:sp>
      </p:grpSp>
      <p:sp>
        <p:nvSpPr>
          <p:cNvPr id="23" name="TextBox 23"/>
          <p:cNvSpPr txBox="1"/>
          <p:nvPr/>
        </p:nvSpPr>
        <p:spPr>
          <a:xfrm>
            <a:off x="1177376" y="5076825"/>
            <a:ext cx="3415303" cy="388591"/>
          </a:xfrm>
          <a:prstGeom prst="rect">
            <a:avLst/>
          </a:prstGeom>
        </p:spPr>
        <p:txBody>
          <a:bodyPr lIns="0" tIns="0" rIns="0" bIns="0" rtlCol="0" anchor="t">
            <a:spAutoFit/>
          </a:bodyPr>
          <a:lstStyle/>
          <a:p>
            <a:pPr algn="l">
              <a:lnSpc>
                <a:spcPts val="2999"/>
              </a:lnSpc>
            </a:pPr>
            <a:r>
              <a:rPr lang="en-US" sz="2437">
                <a:solidFill>
                  <a:srgbClr val="FFE5E5"/>
                </a:solidFill>
                <a:latin typeface="Dela Gothic One"/>
                <a:ea typeface="Dela Gothic One"/>
                <a:cs typeface="Dela Gothic One"/>
                <a:sym typeface="Dela Gothic One"/>
              </a:rPr>
              <a:t>Selbst et al. (2019)</a:t>
            </a:r>
          </a:p>
        </p:txBody>
      </p:sp>
      <p:sp>
        <p:nvSpPr>
          <p:cNvPr id="24" name="TextBox 24"/>
          <p:cNvSpPr txBox="1"/>
          <p:nvPr/>
        </p:nvSpPr>
        <p:spPr>
          <a:xfrm>
            <a:off x="1177376" y="5531796"/>
            <a:ext cx="9160964" cy="764677"/>
          </a:xfrm>
          <a:prstGeom prst="rect">
            <a:avLst/>
          </a:prstGeom>
        </p:spPr>
        <p:txBody>
          <a:bodyPr lIns="0" tIns="0" rIns="0" bIns="0" rtlCol="0" anchor="t">
            <a:spAutoFit/>
          </a:bodyPr>
          <a:lstStyle/>
          <a:p>
            <a:pPr algn="l">
              <a:lnSpc>
                <a:spcPts val="2750"/>
              </a:lnSpc>
            </a:pPr>
            <a:r>
              <a:rPr lang="en-US" sz="1812">
                <a:solidFill>
                  <a:srgbClr val="FFE5E5"/>
                </a:solidFill>
                <a:latin typeface="DM Sans"/>
                <a:ea typeface="DM Sans"/>
                <a:cs typeface="DM Sans"/>
                <a:sym typeface="DM Sans"/>
              </a:rPr>
              <a:t>Identified five abstraction traps: Framing, Portability, Formalism, Ripple Effect, and Solutionism. Fairness is not a property of software but of entire social systems.</a:t>
            </a:r>
          </a:p>
        </p:txBody>
      </p:sp>
      <p:grpSp>
        <p:nvGrpSpPr>
          <p:cNvPr id="25" name="Group 25"/>
          <p:cNvGrpSpPr/>
          <p:nvPr/>
        </p:nvGrpSpPr>
        <p:grpSpPr>
          <a:xfrm>
            <a:off x="812597" y="6752930"/>
            <a:ext cx="9804797" cy="2131514"/>
            <a:chOff x="0" y="0"/>
            <a:chExt cx="13073062" cy="2842019"/>
          </a:xfrm>
        </p:grpSpPr>
        <p:sp>
          <p:nvSpPr>
            <p:cNvPr id="26" name="Freeform 26"/>
            <p:cNvSpPr/>
            <p:nvPr/>
          </p:nvSpPr>
          <p:spPr>
            <a:xfrm>
              <a:off x="19050" y="19050"/>
              <a:ext cx="13034899" cy="2803906"/>
            </a:xfrm>
            <a:custGeom>
              <a:avLst/>
              <a:gdLst/>
              <a:ahLst/>
              <a:cxnLst/>
              <a:rect l="l" t="t" r="r" b="b"/>
              <a:pathLst>
                <a:path w="13034899" h="2803906">
                  <a:moveTo>
                    <a:pt x="0" y="182880"/>
                  </a:moveTo>
                  <a:cubicBezTo>
                    <a:pt x="0" y="81915"/>
                    <a:pt x="82804" y="0"/>
                    <a:pt x="184785" y="0"/>
                  </a:cubicBezTo>
                  <a:lnTo>
                    <a:pt x="12850114" y="0"/>
                  </a:lnTo>
                  <a:cubicBezTo>
                    <a:pt x="12952223" y="0"/>
                    <a:pt x="13034899" y="81915"/>
                    <a:pt x="13034899" y="182880"/>
                  </a:cubicBezTo>
                  <a:lnTo>
                    <a:pt x="13034899" y="2621026"/>
                  </a:lnTo>
                  <a:cubicBezTo>
                    <a:pt x="13034899" y="2721991"/>
                    <a:pt x="12952095" y="2803906"/>
                    <a:pt x="12850114" y="2803906"/>
                  </a:cubicBezTo>
                  <a:lnTo>
                    <a:pt x="184785" y="2803906"/>
                  </a:lnTo>
                  <a:cubicBezTo>
                    <a:pt x="82677" y="2803906"/>
                    <a:pt x="0" y="2721991"/>
                    <a:pt x="0" y="2621026"/>
                  </a:cubicBezTo>
                  <a:close/>
                </a:path>
              </a:pathLst>
            </a:custGeom>
            <a:solidFill>
              <a:srgbClr val="0A0A0A">
                <a:alpha val="90196"/>
              </a:srgbClr>
            </a:solidFill>
          </p:spPr>
        </p:sp>
        <p:sp>
          <p:nvSpPr>
            <p:cNvPr id="27" name="Freeform 27"/>
            <p:cNvSpPr/>
            <p:nvPr/>
          </p:nvSpPr>
          <p:spPr>
            <a:xfrm>
              <a:off x="0" y="0"/>
              <a:ext cx="13072999" cy="2842006"/>
            </a:xfrm>
            <a:custGeom>
              <a:avLst/>
              <a:gdLst/>
              <a:ahLst/>
              <a:cxnLst/>
              <a:rect l="l" t="t" r="r" b="b"/>
              <a:pathLst>
                <a:path w="13072999" h="2842006">
                  <a:moveTo>
                    <a:pt x="0" y="201930"/>
                  </a:moveTo>
                  <a:cubicBezTo>
                    <a:pt x="0" y="90170"/>
                    <a:pt x="91440" y="0"/>
                    <a:pt x="203835" y="0"/>
                  </a:cubicBezTo>
                  <a:lnTo>
                    <a:pt x="12869164" y="0"/>
                  </a:lnTo>
                  <a:lnTo>
                    <a:pt x="12869164" y="19050"/>
                  </a:lnTo>
                  <a:lnTo>
                    <a:pt x="12869164" y="0"/>
                  </a:lnTo>
                  <a:cubicBezTo>
                    <a:pt x="12981560" y="0"/>
                    <a:pt x="13072999" y="90170"/>
                    <a:pt x="13072999" y="201930"/>
                  </a:cubicBezTo>
                  <a:lnTo>
                    <a:pt x="13053949" y="201930"/>
                  </a:lnTo>
                  <a:lnTo>
                    <a:pt x="13072999" y="201930"/>
                  </a:lnTo>
                  <a:lnTo>
                    <a:pt x="13072999" y="2640076"/>
                  </a:lnTo>
                  <a:lnTo>
                    <a:pt x="13053949" y="2640076"/>
                  </a:lnTo>
                  <a:lnTo>
                    <a:pt x="13072999" y="2640076"/>
                  </a:lnTo>
                  <a:cubicBezTo>
                    <a:pt x="13072999" y="2751836"/>
                    <a:pt x="12981560" y="2842006"/>
                    <a:pt x="12869164" y="2842006"/>
                  </a:cubicBezTo>
                  <a:lnTo>
                    <a:pt x="12869164" y="2822956"/>
                  </a:lnTo>
                  <a:lnTo>
                    <a:pt x="12869164" y="2842006"/>
                  </a:lnTo>
                  <a:lnTo>
                    <a:pt x="203835" y="2842006"/>
                  </a:lnTo>
                  <a:lnTo>
                    <a:pt x="203835" y="2822956"/>
                  </a:lnTo>
                  <a:lnTo>
                    <a:pt x="203835" y="2842006"/>
                  </a:lnTo>
                  <a:cubicBezTo>
                    <a:pt x="91440" y="2842006"/>
                    <a:pt x="0" y="2751836"/>
                    <a:pt x="0" y="2640076"/>
                  </a:cubicBezTo>
                  <a:lnTo>
                    <a:pt x="0" y="201930"/>
                  </a:lnTo>
                  <a:lnTo>
                    <a:pt x="19050" y="201930"/>
                  </a:lnTo>
                  <a:lnTo>
                    <a:pt x="0" y="201930"/>
                  </a:lnTo>
                  <a:moveTo>
                    <a:pt x="38100" y="201930"/>
                  </a:moveTo>
                  <a:lnTo>
                    <a:pt x="38100" y="2640076"/>
                  </a:lnTo>
                  <a:lnTo>
                    <a:pt x="19050" y="2640076"/>
                  </a:lnTo>
                  <a:lnTo>
                    <a:pt x="38100" y="2640076"/>
                  </a:lnTo>
                  <a:cubicBezTo>
                    <a:pt x="38100" y="2730373"/>
                    <a:pt x="112141" y="2803906"/>
                    <a:pt x="203835" y="2803906"/>
                  </a:cubicBezTo>
                  <a:lnTo>
                    <a:pt x="12869164" y="2803906"/>
                  </a:lnTo>
                  <a:cubicBezTo>
                    <a:pt x="12960858" y="2803906"/>
                    <a:pt x="13034899" y="2730373"/>
                    <a:pt x="13034899" y="2640076"/>
                  </a:cubicBezTo>
                  <a:lnTo>
                    <a:pt x="13034899" y="201930"/>
                  </a:lnTo>
                  <a:cubicBezTo>
                    <a:pt x="13034899" y="111633"/>
                    <a:pt x="12960858" y="38100"/>
                    <a:pt x="12869164" y="38100"/>
                  </a:cubicBezTo>
                  <a:lnTo>
                    <a:pt x="203835" y="38100"/>
                  </a:lnTo>
                  <a:lnTo>
                    <a:pt x="203835" y="19050"/>
                  </a:lnTo>
                  <a:lnTo>
                    <a:pt x="203835" y="38100"/>
                  </a:lnTo>
                  <a:cubicBezTo>
                    <a:pt x="112141" y="38100"/>
                    <a:pt x="38100" y="111633"/>
                    <a:pt x="38100" y="201930"/>
                  </a:cubicBezTo>
                  <a:close/>
                </a:path>
              </a:pathLst>
            </a:custGeom>
            <a:solidFill>
              <a:srgbClr val="8D2424"/>
            </a:solidFill>
          </p:spPr>
        </p:sp>
      </p:grpSp>
      <p:grpSp>
        <p:nvGrpSpPr>
          <p:cNvPr id="28" name="Group 28"/>
          <p:cNvGrpSpPr/>
          <p:nvPr/>
        </p:nvGrpSpPr>
        <p:grpSpPr>
          <a:xfrm>
            <a:off x="798309" y="6767217"/>
            <a:ext cx="114300" cy="2102939"/>
            <a:chOff x="0" y="0"/>
            <a:chExt cx="152400" cy="2803919"/>
          </a:xfrm>
        </p:grpSpPr>
        <p:sp>
          <p:nvSpPr>
            <p:cNvPr id="29" name="Freeform 29"/>
            <p:cNvSpPr/>
            <p:nvPr/>
          </p:nvSpPr>
          <p:spPr>
            <a:xfrm>
              <a:off x="0" y="0"/>
              <a:ext cx="152400" cy="2803906"/>
            </a:xfrm>
            <a:custGeom>
              <a:avLst/>
              <a:gdLst/>
              <a:ahLst/>
              <a:cxnLst/>
              <a:rect l="l" t="t" r="r" b="b"/>
              <a:pathLst>
                <a:path w="152400" h="2803906">
                  <a:moveTo>
                    <a:pt x="0" y="76200"/>
                  </a:moveTo>
                  <a:cubicBezTo>
                    <a:pt x="0" y="34163"/>
                    <a:pt x="34163" y="0"/>
                    <a:pt x="76200" y="0"/>
                  </a:cubicBezTo>
                  <a:cubicBezTo>
                    <a:pt x="118237" y="0"/>
                    <a:pt x="152400" y="34163"/>
                    <a:pt x="152400" y="76200"/>
                  </a:cubicBezTo>
                  <a:lnTo>
                    <a:pt x="152400" y="2727706"/>
                  </a:lnTo>
                  <a:cubicBezTo>
                    <a:pt x="152400" y="2769743"/>
                    <a:pt x="118237" y="2803906"/>
                    <a:pt x="76200" y="2803906"/>
                  </a:cubicBezTo>
                  <a:cubicBezTo>
                    <a:pt x="34163" y="2803906"/>
                    <a:pt x="0" y="2769743"/>
                    <a:pt x="0" y="2727706"/>
                  </a:cubicBezTo>
                  <a:close/>
                </a:path>
              </a:pathLst>
            </a:custGeom>
            <a:solidFill>
              <a:srgbClr val="C91313"/>
            </a:solidFill>
          </p:spPr>
        </p:sp>
      </p:grpSp>
      <p:sp>
        <p:nvSpPr>
          <p:cNvPr id="30" name="TextBox 30"/>
          <p:cNvSpPr txBox="1"/>
          <p:nvPr/>
        </p:nvSpPr>
        <p:spPr>
          <a:xfrm>
            <a:off x="1177376" y="7031984"/>
            <a:ext cx="3362773" cy="388591"/>
          </a:xfrm>
          <a:prstGeom prst="rect">
            <a:avLst/>
          </a:prstGeom>
        </p:spPr>
        <p:txBody>
          <a:bodyPr lIns="0" tIns="0" rIns="0" bIns="0" rtlCol="0" anchor="t">
            <a:spAutoFit/>
          </a:bodyPr>
          <a:lstStyle/>
          <a:p>
            <a:pPr algn="l">
              <a:lnSpc>
                <a:spcPts val="2999"/>
              </a:lnSpc>
            </a:pPr>
            <a:r>
              <a:rPr lang="en-US" sz="2437">
                <a:solidFill>
                  <a:srgbClr val="FFE5E5"/>
                </a:solidFill>
                <a:latin typeface="Dela Gothic One"/>
                <a:ea typeface="Dela Gothic One"/>
                <a:cs typeface="Dela Gothic One"/>
                <a:sym typeface="Dela Gothic One"/>
              </a:rPr>
              <a:t>Slack et al. (2020)</a:t>
            </a:r>
          </a:p>
        </p:txBody>
      </p:sp>
      <p:sp>
        <p:nvSpPr>
          <p:cNvPr id="31" name="TextBox 31"/>
          <p:cNvSpPr txBox="1"/>
          <p:nvPr/>
        </p:nvSpPr>
        <p:spPr>
          <a:xfrm>
            <a:off x="1177376" y="7486945"/>
            <a:ext cx="9160964" cy="1118445"/>
          </a:xfrm>
          <a:prstGeom prst="rect">
            <a:avLst/>
          </a:prstGeom>
        </p:spPr>
        <p:txBody>
          <a:bodyPr lIns="0" tIns="0" rIns="0" bIns="0" rtlCol="0" anchor="t">
            <a:spAutoFit/>
          </a:bodyPr>
          <a:lstStyle/>
          <a:p>
            <a:pPr algn="l">
              <a:lnSpc>
                <a:spcPts val="2750"/>
              </a:lnSpc>
            </a:pPr>
            <a:r>
              <a:rPr lang="en-US" sz="1812">
                <a:solidFill>
                  <a:srgbClr val="FFE5E5"/>
                </a:solidFill>
                <a:latin typeface="DM Sans"/>
                <a:ea typeface="DM Sans"/>
                <a:cs typeface="DM Sans"/>
                <a:sym typeface="DM Sans"/>
              </a:rPr>
              <a:t>Demonstrated that explanation tools like LIME and SHAP can be manipulated. Adversarial techniques fooled explanations in every tested case, concealing discriminatory logic.</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A0A0A">
                <a:alpha val="90196"/>
              </a:srgbClr>
            </a:solidFill>
          </p:spPr>
        </p:sp>
      </p:grpSp>
      <p:sp>
        <p:nvSpPr>
          <p:cNvPr id="6" name="TextBox 6"/>
          <p:cNvSpPr txBox="1"/>
          <p:nvPr/>
        </p:nvSpPr>
        <p:spPr>
          <a:xfrm>
            <a:off x="825998" y="1440066"/>
            <a:ext cx="9010202" cy="772420"/>
          </a:xfrm>
          <a:prstGeom prst="rect">
            <a:avLst/>
          </a:prstGeom>
        </p:spPr>
        <p:txBody>
          <a:bodyPr lIns="0" tIns="0" rIns="0" bIns="0" rtlCol="0" anchor="t">
            <a:spAutoFit/>
          </a:bodyPr>
          <a:lstStyle/>
          <a:p>
            <a:pPr algn="l">
              <a:lnSpc>
                <a:spcPts val="5874"/>
              </a:lnSpc>
            </a:pPr>
            <a:r>
              <a:rPr lang="en-US" sz="4687">
                <a:solidFill>
                  <a:srgbClr val="FAEBEB"/>
                </a:solidFill>
                <a:latin typeface="Dela Gothic One"/>
                <a:ea typeface="Dela Gothic One"/>
                <a:cs typeface="Dela Gothic One"/>
                <a:sym typeface="Dela Gothic One"/>
              </a:rPr>
              <a:t>Seven Pillars of AI Ethics</a:t>
            </a:r>
          </a:p>
        </p:txBody>
      </p:sp>
      <p:sp>
        <p:nvSpPr>
          <p:cNvPr id="7" name="TextBox 7"/>
          <p:cNvSpPr txBox="1"/>
          <p:nvPr/>
        </p:nvSpPr>
        <p:spPr>
          <a:xfrm>
            <a:off x="825998" y="2270817"/>
            <a:ext cx="9084173" cy="395735"/>
          </a:xfrm>
          <a:prstGeom prst="rect">
            <a:avLst/>
          </a:prstGeom>
        </p:spPr>
        <p:txBody>
          <a:bodyPr lIns="0" tIns="0" rIns="0" bIns="0" rtlCol="0" anchor="t">
            <a:spAutoFit/>
          </a:bodyPr>
          <a:lstStyle/>
          <a:p>
            <a:pPr algn="l">
              <a:lnSpc>
                <a:spcPts val="2937"/>
              </a:lnSpc>
            </a:pPr>
            <a:r>
              <a:rPr lang="en-US" sz="2312">
                <a:solidFill>
                  <a:srgbClr val="FAEBEB"/>
                </a:solidFill>
                <a:latin typeface="Dela Gothic One"/>
                <a:ea typeface="Dela Gothic One"/>
                <a:cs typeface="Dela Gothic One"/>
                <a:sym typeface="Dela Gothic One"/>
              </a:rPr>
              <a:t>Evaluation of COMPAS Through Ethical Framework</a:t>
            </a:r>
          </a:p>
        </p:txBody>
      </p:sp>
      <p:sp>
        <p:nvSpPr>
          <p:cNvPr id="8" name="Freeform 8" descr="preencoded.png"/>
          <p:cNvSpPr/>
          <p:nvPr/>
        </p:nvSpPr>
        <p:spPr>
          <a:xfrm>
            <a:off x="825998" y="2957065"/>
            <a:ext cx="458095" cy="458095"/>
          </a:xfrm>
          <a:custGeom>
            <a:avLst/>
            <a:gdLst/>
            <a:ahLst/>
            <a:cxnLst/>
            <a:rect l="l" t="t" r="r" b="b"/>
            <a:pathLst>
              <a:path w="458095" h="458095">
                <a:moveTo>
                  <a:pt x="0" y="0"/>
                </a:moveTo>
                <a:lnTo>
                  <a:pt x="458096" y="0"/>
                </a:lnTo>
                <a:lnTo>
                  <a:pt x="458096" y="458095"/>
                </a:lnTo>
                <a:lnTo>
                  <a:pt x="0" y="458095"/>
                </a:lnTo>
                <a:lnTo>
                  <a:pt x="0" y="0"/>
                </a:lnTo>
                <a:close/>
              </a:path>
            </a:pathLst>
          </a:custGeom>
          <a:blipFill>
            <a:blip r:embed="rId4">
              <a:extLst>
                <a:ext uri="{96DAC541-7B7A-43D3-8B79-37D633B846F1}">
                  <asvg:svgBlip xmlns:asvg="http://schemas.microsoft.com/office/drawing/2016/SVG/main" r:embed="rId5"/>
                </a:ext>
              </a:extLst>
            </a:blip>
            <a:stretch>
              <a:fillRect l="-8163" r="-8163"/>
            </a:stretch>
          </a:blipFill>
        </p:spPr>
      </p:sp>
      <p:sp>
        <p:nvSpPr>
          <p:cNvPr id="9" name="TextBox 9"/>
          <p:cNvSpPr txBox="1"/>
          <p:nvPr/>
        </p:nvSpPr>
        <p:spPr>
          <a:xfrm>
            <a:off x="1526086" y="3016748"/>
            <a:ext cx="3013767" cy="395735"/>
          </a:xfrm>
          <a:prstGeom prst="rect">
            <a:avLst/>
          </a:prstGeom>
        </p:spPr>
        <p:txBody>
          <a:bodyPr lIns="0" tIns="0" rIns="0" bIns="0" rtlCol="0" anchor="t">
            <a:spAutoFit/>
          </a:bodyPr>
          <a:lstStyle/>
          <a:p>
            <a:pPr algn="l">
              <a:lnSpc>
                <a:spcPts val="2937"/>
              </a:lnSpc>
            </a:pPr>
            <a:r>
              <a:rPr lang="en-US" sz="2312">
                <a:solidFill>
                  <a:srgbClr val="FFE5E5"/>
                </a:solidFill>
                <a:latin typeface="Dela Gothic One"/>
                <a:ea typeface="Dela Gothic One"/>
                <a:cs typeface="Dela Gothic One"/>
                <a:sym typeface="Dela Gothic One"/>
              </a:rPr>
              <a:t>Fairness</a:t>
            </a:r>
          </a:p>
        </p:txBody>
      </p:sp>
      <p:sp>
        <p:nvSpPr>
          <p:cNvPr id="10" name="TextBox 10"/>
          <p:cNvSpPr txBox="1"/>
          <p:nvPr/>
        </p:nvSpPr>
        <p:spPr>
          <a:xfrm>
            <a:off x="1526086" y="3480940"/>
            <a:ext cx="4683919" cy="1400175"/>
          </a:xfrm>
          <a:prstGeom prst="rect">
            <a:avLst/>
          </a:prstGeom>
        </p:spPr>
        <p:txBody>
          <a:bodyPr lIns="0" tIns="0" rIns="0" bIns="0" rtlCol="0" anchor="t">
            <a:spAutoFit/>
          </a:bodyPr>
          <a:lstStyle/>
          <a:p>
            <a:pPr algn="l">
              <a:lnSpc>
                <a:spcPts val="2625"/>
              </a:lnSpc>
            </a:pPr>
            <a:r>
              <a:rPr lang="en-US" sz="1750">
                <a:solidFill>
                  <a:srgbClr val="FFE5E5"/>
                </a:solidFill>
                <a:latin typeface="DM Sans"/>
                <a:ea typeface="DM Sans"/>
                <a:cs typeface="DM Sans"/>
                <a:sym typeface="DM Sans"/>
              </a:rPr>
              <a:t>Unequal error rates disproportionately harmed Black defendants. System absorbed historical disparities from biased policing data.</a:t>
            </a:r>
          </a:p>
        </p:txBody>
      </p:sp>
      <p:sp>
        <p:nvSpPr>
          <p:cNvPr id="11" name="Freeform 11" descr="preencoded.png"/>
          <p:cNvSpPr/>
          <p:nvPr/>
        </p:nvSpPr>
        <p:spPr>
          <a:xfrm>
            <a:off x="6451997" y="2957065"/>
            <a:ext cx="458095" cy="458095"/>
          </a:xfrm>
          <a:custGeom>
            <a:avLst/>
            <a:gdLst/>
            <a:ahLst/>
            <a:cxnLst/>
            <a:rect l="l" t="t" r="r" b="b"/>
            <a:pathLst>
              <a:path w="458095" h="458095">
                <a:moveTo>
                  <a:pt x="0" y="0"/>
                </a:moveTo>
                <a:lnTo>
                  <a:pt x="458095" y="0"/>
                </a:lnTo>
                <a:lnTo>
                  <a:pt x="458095" y="458095"/>
                </a:lnTo>
                <a:lnTo>
                  <a:pt x="0" y="458095"/>
                </a:lnTo>
                <a:lnTo>
                  <a:pt x="0" y="0"/>
                </a:lnTo>
                <a:close/>
              </a:path>
            </a:pathLst>
          </a:custGeom>
          <a:blipFill>
            <a:blip r:embed="rId6">
              <a:extLst>
                <a:ext uri="{96DAC541-7B7A-43D3-8B79-37D633B846F1}">
                  <asvg:svgBlip xmlns:asvg="http://schemas.microsoft.com/office/drawing/2016/SVG/main" r:embed="rId7"/>
                </a:ext>
              </a:extLst>
            </a:blip>
            <a:stretch>
              <a:fillRect t="-9184" b="-9182"/>
            </a:stretch>
          </a:blipFill>
        </p:spPr>
      </p:sp>
      <p:sp>
        <p:nvSpPr>
          <p:cNvPr id="12" name="TextBox 12"/>
          <p:cNvSpPr txBox="1"/>
          <p:nvPr/>
        </p:nvSpPr>
        <p:spPr>
          <a:xfrm>
            <a:off x="7152084" y="3016748"/>
            <a:ext cx="3013767" cy="395735"/>
          </a:xfrm>
          <a:prstGeom prst="rect">
            <a:avLst/>
          </a:prstGeom>
        </p:spPr>
        <p:txBody>
          <a:bodyPr lIns="0" tIns="0" rIns="0" bIns="0" rtlCol="0" anchor="t">
            <a:spAutoFit/>
          </a:bodyPr>
          <a:lstStyle/>
          <a:p>
            <a:pPr algn="l">
              <a:lnSpc>
                <a:spcPts val="2937"/>
              </a:lnSpc>
            </a:pPr>
            <a:r>
              <a:rPr lang="en-US" sz="2312">
                <a:solidFill>
                  <a:srgbClr val="FFE5E5"/>
                </a:solidFill>
                <a:latin typeface="Dela Gothic One"/>
                <a:ea typeface="Dela Gothic One"/>
                <a:cs typeface="Dela Gothic One"/>
                <a:sym typeface="Dela Gothic One"/>
              </a:rPr>
              <a:t>Accountability</a:t>
            </a:r>
          </a:p>
        </p:txBody>
      </p:sp>
      <p:sp>
        <p:nvSpPr>
          <p:cNvPr id="13" name="TextBox 13"/>
          <p:cNvSpPr txBox="1"/>
          <p:nvPr/>
        </p:nvSpPr>
        <p:spPr>
          <a:xfrm>
            <a:off x="7152084" y="3480940"/>
            <a:ext cx="4683919" cy="1062037"/>
          </a:xfrm>
          <a:prstGeom prst="rect">
            <a:avLst/>
          </a:prstGeom>
        </p:spPr>
        <p:txBody>
          <a:bodyPr lIns="0" tIns="0" rIns="0" bIns="0" rtlCol="0" anchor="t">
            <a:spAutoFit/>
          </a:bodyPr>
          <a:lstStyle/>
          <a:p>
            <a:pPr algn="l">
              <a:lnSpc>
                <a:spcPts val="2625"/>
              </a:lnSpc>
            </a:pPr>
            <a:r>
              <a:rPr lang="en-US" sz="1750">
                <a:solidFill>
                  <a:srgbClr val="FFE5E5"/>
                </a:solidFill>
                <a:latin typeface="DM Sans"/>
                <a:ea typeface="DM Sans"/>
                <a:cs typeface="DM Sans"/>
                <a:sym typeface="DM Sans"/>
              </a:rPr>
              <a:t>Responsibility diffused between vendor, data, and judge. No party could be directly held accountable for score calculation.</a:t>
            </a:r>
          </a:p>
        </p:txBody>
      </p:sp>
      <p:sp>
        <p:nvSpPr>
          <p:cNvPr id="14" name="Freeform 14" descr="preencoded.png"/>
          <p:cNvSpPr/>
          <p:nvPr/>
        </p:nvSpPr>
        <p:spPr>
          <a:xfrm>
            <a:off x="12077995" y="2957065"/>
            <a:ext cx="458095" cy="458095"/>
          </a:xfrm>
          <a:custGeom>
            <a:avLst/>
            <a:gdLst/>
            <a:ahLst/>
            <a:cxnLst/>
            <a:rect l="l" t="t" r="r" b="b"/>
            <a:pathLst>
              <a:path w="458095" h="458095">
                <a:moveTo>
                  <a:pt x="0" y="0"/>
                </a:moveTo>
                <a:lnTo>
                  <a:pt x="458096" y="0"/>
                </a:lnTo>
                <a:lnTo>
                  <a:pt x="458096" y="458095"/>
                </a:lnTo>
                <a:lnTo>
                  <a:pt x="0" y="458095"/>
                </a:lnTo>
                <a:lnTo>
                  <a:pt x="0" y="0"/>
                </a:lnTo>
                <a:close/>
              </a:path>
            </a:pathLst>
          </a:custGeom>
          <a:blipFill>
            <a:blip r:embed="rId8">
              <a:extLst>
                <a:ext uri="{96DAC541-7B7A-43D3-8B79-37D633B846F1}">
                  <asvg:svgBlip xmlns:asvg="http://schemas.microsoft.com/office/drawing/2016/SVG/main" r:embed="rId9"/>
                </a:ext>
              </a:extLst>
            </a:blip>
            <a:stretch>
              <a:fillRect l="-14286" r="-14284"/>
            </a:stretch>
          </a:blipFill>
        </p:spPr>
      </p:sp>
      <p:sp>
        <p:nvSpPr>
          <p:cNvPr id="15" name="TextBox 15"/>
          <p:cNvSpPr txBox="1"/>
          <p:nvPr/>
        </p:nvSpPr>
        <p:spPr>
          <a:xfrm>
            <a:off x="12778083" y="3016748"/>
            <a:ext cx="3013767" cy="395735"/>
          </a:xfrm>
          <a:prstGeom prst="rect">
            <a:avLst/>
          </a:prstGeom>
        </p:spPr>
        <p:txBody>
          <a:bodyPr lIns="0" tIns="0" rIns="0" bIns="0" rtlCol="0" anchor="t">
            <a:spAutoFit/>
          </a:bodyPr>
          <a:lstStyle/>
          <a:p>
            <a:pPr algn="l">
              <a:lnSpc>
                <a:spcPts val="2937"/>
              </a:lnSpc>
            </a:pPr>
            <a:r>
              <a:rPr lang="en-US" sz="2312">
                <a:solidFill>
                  <a:srgbClr val="FFE5E5"/>
                </a:solidFill>
                <a:latin typeface="Dela Gothic One"/>
                <a:ea typeface="Dela Gothic One"/>
                <a:cs typeface="Dela Gothic One"/>
                <a:sym typeface="Dela Gothic One"/>
              </a:rPr>
              <a:t>Transparency</a:t>
            </a:r>
          </a:p>
        </p:txBody>
      </p:sp>
      <p:sp>
        <p:nvSpPr>
          <p:cNvPr id="16" name="TextBox 16"/>
          <p:cNvSpPr txBox="1"/>
          <p:nvPr/>
        </p:nvSpPr>
        <p:spPr>
          <a:xfrm>
            <a:off x="12778083" y="3480940"/>
            <a:ext cx="4683919" cy="1062037"/>
          </a:xfrm>
          <a:prstGeom prst="rect">
            <a:avLst/>
          </a:prstGeom>
        </p:spPr>
        <p:txBody>
          <a:bodyPr lIns="0" tIns="0" rIns="0" bIns="0" rtlCol="0" anchor="t">
            <a:spAutoFit/>
          </a:bodyPr>
          <a:lstStyle/>
          <a:p>
            <a:pPr algn="l">
              <a:lnSpc>
                <a:spcPts val="2625"/>
              </a:lnSpc>
            </a:pPr>
            <a:r>
              <a:rPr lang="en-US" sz="1750">
                <a:solidFill>
                  <a:srgbClr val="FFE5E5"/>
                </a:solidFill>
                <a:latin typeface="DM Sans"/>
                <a:ea typeface="DM Sans"/>
                <a:cs typeface="DM Sans"/>
                <a:sym typeface="DM Sans"/>
              </a:rPr>
              <a:t>Proprietary calculations protected as trade secrets. Defendants cannot meaningfully question logic behind risk scores.</a:t>
            </a:r>
          </a:p>
        </p:txBody>
      </p:sp>
      <p:sp>
        <p:nvSpPr>
          <p:cNvPr id="17" name="Freeform 17" descr="preencoded.png"/>
          <p:cNvSpPr/>
          <p:nvPr/>
        </p:nvSpPr>
        <p:spPr>
          <a:xfrm>
            <a:off x="825998" y="5268516"/>
            <a:ext cx="458095" cy="458095"/>
          </a:xfrm>
          <a:custGeom>
            <a:avLst/>
            <a:gdLst/>
            <a:ahLst/>
            <a:cxnLst/>
            <a:rect l="l" t="t" r="r" b="b"/>
            <a:pathLst>
              <a:path w="458095" h="458095">
                <a:moveTo>
                  <a:pt x="0" y="0"/>
                </a:moveTo>
                <a:lnTo>
                  <a:pt x="458096" y="0"/>
                </a:lnTo>
                <a:lnTo>
                  <a:pt x="458096" y="458095"/>
                </a:lnTo>
                <a:lnTo>
                  <a:pt x="0" y="458095"/>
                </a:lnTo>
                <a:lnTo>
                  <a:pt x="0" y="0"/>
                </a:lnTo>
                <a:close/>
              </a:path>
            </a:pathLst>
          </a:custGeom>
          <a:blipFill>
            <a:blip r:embed="rId10">
              <a:extLst>
                <a:ext uri="{96DAC541-7B7A-43D3-8B79-37D633B846F1}">
                  <asvg:svgBlip xmlns:asvg="http://schemas.microsoft.com/office/drawing/2016/SVG/main" r:embed="rId11"/>
                </a:ext>
              </a:extLst>
            </a:blip>
            <a:stretch>
              <a:fillRect t="-13265" b="-13263"/>
            </a:stretch>
          </a:blipFill>
        </p:spPr>
      </p:sp>
      <p:sp>
        <p:nvSpPr>
          <p:cNvPr id="18" name="TextBox 18"/>
          <p:cNvSpPr txBox="1"/>
          <p:nvPr/>
        </p:nvSpPr>
        <p:spPr>
          <a:xfrm>
            <a:off x="1526086" y="5328199"/>
            <a:ext cx="3013767" cy="395735"/>
          </a:xfrm>
          <a:prstGeom prst="rect">
            <a:avLst/>
          </a:prstGeom>
        </p:spPr>
        <p:txBody>
          <a:bodyPr lIns="0" tIns="0" rIns="0" bIns="0" rtlCol="0" anchor="t">
            <a:spAutoFit/>
          </a:bodyPr>
          <a:lstStyle/>
          <a:p>
            <a:pPr algn="l">
              <a:lnSpc>
                <a:spcPts val="2937"/>
              </a:lnSpc>
            </a:pPr>
            <a:r>
              <a:rPr lang="en-US" sz="2312">
                <a:solidFill>
                  <a:srgbClr val="FFE5E5"/>
                </a:solidFill>
                <a:latin typeface="Dela Gothic One"/>
                <a:ea typeface="Dela Gothic One"/>
                <a:cs typeface="Dela Gothic One"/>
                <a:sym typeface="Dela Gothic One"/>
              </a:rPr>
              <a:t>Privacy</a:t>
            </a:r>
          </a:p>
        </p:txBody>
      </p:sp>
      <p:sp>
        <p:nvSpPr>
          <p:cNvPr id="19" name="TextBox 19"/>
          <p:cNvSpPr txBox="1"/>
          <p:nvPr/>
        </p:nvSpPr>
        <p:spPr>
          <a:xfrm>
            <a:off x="1526086" y="5792391"/>
            <a:ext cx="4683919" cy="1062037"/>
          </a:xfrm>
          <a:prstGeom prst="rect">
            <a:avLst/>
          </a:prstGeom>
        </p:spPr>
        <p:txBody>
          <a:bodyPr lIns="0" tIns="0" rIns="0" bIns="0" rtlCol="0" anchor="t">
            <a:spAutoFit/>
          </a:bodyPr>
          <a:lstStyle/>
          <a:p>
            <a:pPr algn="l">
              <a:lnSpc>
                <a:spcPts val="2625"/>
              </a:lnSpc>
            </a:pPr>
            <a:r>
              <a:rPr lang="en-US" sz="1750">
                <a:solidFill>
                  <a:srgbClr val="FFE5E5"/>
                </a:solidFill>
                <a:latin typeface="DM Sans"/>
                <a:ea typeface="DM Sans"/>
                <a:cs typeface="DM Sans"/>
                <a:sym typeface="DM Sans"/>
              </a:rPr>
              <a:t>137-question survey in coercive booking environment raises questions about genuine informed consent.</a:t>
            </a:r>
          </a:p>
        </p:txBody>
      </p:sp>
      <p:sp>
        <p:nvSpPr>
          <p:cNvPr id="20" name="Freeform 20" descr="preencoded.png"/>
          <p:cNvSpPr/>
          <p:nvPr/>
        </p:nvSpPr>
        <p:spPr>
          <a:xfrm>
            <a:off x="6451997" y="5268516"/>
            <a:ext cx="458095" cy="458095"/>
          </a:xfrm>
          <a:custGeom>
            <a:avLst/>
            <a:gdLst/>
            <a:ahLst/>
            <a:cxnLst/>
            <a:rect l="l" t="t" r="r" b="b"/>
            <a:pathLst>
              <a:path w="458095" h="458095">
                <a:moveTo>
                  <a:pt x="0" y="0"/>
                </a:moveTo>
                <a:lnTo>
                  <a:pt x="458095" y="0"/>
                </a:lnTo>
                <a:lnTo>
                  <a:pt x="458095" y="458095"/>
                </a:lnTo>
                <a:lnTo>
                  <a:pt x="0" y="458095"/>
                </a:lnTo>
                <a:lnTo>
                  <a:pt x="0" y="0"/>
                </a:lnTo>
                <a:close/>
              </a:path>
            </a:pathLst>
          </a:custGeom>
          <a:blipFill>
            <a:blip r:embed="rId12">
              <a:extLst>
                <a:ext uri="{96DAC541-7B7A-43D3-8B79-37D633B846F1}">
                  <asvg:svgBlip xmlns:asvg="http://schemas.microsoft.com/office/drawing/2016/SVG/main" r:embed="rId13"/>
                </a:ext>
              </a:extLst>
            </a:blip>
            <a:stretch>
              <a:fillRect l="-5102" r="-5100"/>
            </a:stretch>
          </a:blipFill>
        </p:spPr>
      </p:sp>
      <p:sp>
        <p:nvSpPr>
          <p:cNvPr id="21" name="TextBox 21"/>
          <p:cNvSpPr txBox="1"/>
          <p:nvPr/>
        </p:nvSpPr>
        <p:spPr>
          <a:xfrm>
            <a:off x="7152084" y="5328199"/>
            <a:ext cx="3013767" cy="395735"/>
          </a:xfrm>
          <a:prstGeom prst="rect">
            <a:avLst/>
          </a:prstGeom>
        </p:spPr>
        <p:txBody>
          <a:bodyPr lIns="0" tIns="0" rIns="0" bIns="0" rtlCol="0" anchor="t">
            <a:spAutoFit/>
          </a:bodyPr>
          <a:lstStyle/>
          <a:p>
            <a:pPr algn="l">
              <a:lnSpc>
                <a:spcPts val="2937"/>
              </a:lnSpc>
            </a:pPr>
            <a:r>
              <a:rPr lang="en-US" sz="2312">
                <a:solidFill>
                  <a:srgbClr val="FFE5E5"/>
                </a:solidFill>
                <a:latin typeface="Dela Gothic One"/>
                <a:ea typeface="Dela Gothic One"/>
                <a:cs typeface="Dela Gothic One"/>
                <a:sym typeface="Dela Gothic One"/>
              </a:rPr>
              <a:t>Safety</a:t>
            </a:r>
          </a:p>
        </p:txBody>
      </p:sp>
      <p:sp>
        <p:nvSpPr>
          <p:cNvPr id="22" name="TextBox 22"/>
          <p:cNvSpPr txBox="1"/>
          <p:nvPr/>
        </p:nvSpPr>
        <p:spPr>
          <a:xfrm>
            <a:off x="7152084" y="5792391"/>
            <a:ext cx="4683919" cy="1062037"/>
          </a:xfrm>
          <a:prstGeom prst="rect">
            <a:avLst/>
          </a:prstGeom>
        </p:spPr>
        <p:txBody>
          <a:bodyPr lIns="0" tIns="0" rIns="0" bIns="0" rtlCol="0" anchor="t">
            <a:spAutoFit/>
          </a:bodyPr>
          <a:lstStyle/>
          <a:p>
            <a:pPr algn="l">
              <a:lnSpc>
                <a:spcPts val="2625"/>
              </a:lnSpc>
            </a:pPr>
            <a:r>
              <a:rPr lang="en-US" sz="1750">
                <a:solidFill>
                  <a:srgbClr val="FFE5E5"/>
                </a:solidFill>
                <a:latin typeface="DM Sans"/>
                <a:ea typeface="DM Sans"/>
                <a:cs typeface="DM Sans"/>
                <a:sym typeface="DM Sans"/>
              </a:rPr>
              <a:t>Inflated scores led to longer detention, higher bail, extended sentences with serious life consequences.</a:t>
            </a:r>
          </a:p>
        </p:txBody>
      </p:sp>
      <p:sp>
        <p:nvSpPr>
          <p:cNvPr id="23" name="Freeform 23" descr="preencoded.png"/>
          <p:cNvSpPr/>
          <p:nvPr/>
        </p:nvSpPr>
        <p:spPr>
          <a:xfrm>
            <a:off x="12077995" y="5268516"/>
            <a:ext cx="458095" cy="458095"/>
          </a:xfrm>
          <a:custGeom>
            <a:avLst/>
            <a:gdLst/>
            <a:ahLst/>
            <a:cxnLst/>
            <a:rect l="l" t="t" r="r" b="b"/>
            <a:pathLst>
              <a:path w="458095" h="458095">
                <a:moveTo>
                  <a:pt x="0" y="0"/>
                </a:moveTo>
                <a:lnTo>
                  <a:pt x="458096" y="0"/>
                </a:lnTo>
                <a:lnTo>
                  <a:pt x="458096" y="458095"/>
                </a:lnTo>
                <a:lnTo>
                  <a:pt x="0" y="458095"/>
                </a:lnTo>
                <a:lnTo>
                  <a:pt x="0" y="0"/>
                </a:lnTo>
                <a:close/>
              </a:path>
            </a:pathLst>
          </a:custGeom>
          <a:blipFill>
            <a:blip r:embed="rId14">
              <a:extLst>
                <a:ext uri="{96DAC541-7B7A-43D3-8B79-37D633B846F1}">
                  <asvg:svgBlip xmlns:asvg="http://schemas.microsoft.com/office/drawing/2016/SVG/main" r:embed="rId15"/>
                </a:ext>
              </a:extLst>
            </a:blip>
            <a:stretch>
              <a:fillRect t="-18368" b="-18366"/>
            </a:stretch>
          </a:blipFill>
        </p:spPr>
      </p:sp>
      <p:sp>
        <p:nvSpPr>
          <p:cNvPr id="24" name="TextBox 24"/>
          <p:cNvSpPr txBox="1"/>
          <p:nvPr/>
        </p:nvSpPr>
        <p:spPr>
          <a:xfrm>
            <a:off x="12778083" y="5328199"/>
            <a:ext cx="3013767" cy="395735"/>
          </a:xfrm>
          <a:prstGeom prst="rect">
            <a:avLst/>
          </a:prstGeom>
        </p:spPr>
        <p:txBody>
          <a:bodyPr lIns="0" tIns="0" rIns="0" bIns="0" rtlCol="0" anchor="t">
            <a:spAutoFit/>
          </a:bodyPr>
          <a:lstStyle/>
          <a:p>
            <a:pPr algn="l">
              <a:lnSpc>
                <a:spcPts val="2937"/>
              </a:lnSpc>
            </a:pPr>
            <a:r>
              <a:rPr lang="en-US" sz="2312">
                <a:solidFill>
                  <a:srgbClr val="FFE5E5"/>
                </a:solidFill>
                <a:latin typeface="Dela Gothic One"/>
                <a:ea typeface="Dela Gothic One"/>
                <a:cs typeface="Dela Gothic One"/>
                <a:sym typeface="Dela Gothic One"/>
              </a:rPr>
              <a:t>Explainability</a:t>
            </a:r>
          </a:p>
        </p:txBody>
      </p:sp>
      <p:sp>
        <p:nvSpPr>
          <p:cNvPr id="25" name="TextBox 25"/>
          <p:cNvSpPr txBox="1"/>
          <p:nvPr/>
        </p:nvSpPr>
        <p:spPr>
          <a:xfrm>
            <a:off x="12778083" y="5792391"/>
            <a:ext cx="4683919" cy="1062037"/>
          </a:xfrm>
          <a:prstGeom prst="rect">
            <a:avLst/>
          </a:prstGeom>
        </p:spPr>
        <p:txBody>
          <a:bodyPr lIns="0" tIns="0" rIns="0" bIns="0" rtlCol="0" anchor="t">
            <a:spAutoFit/>
          </a:bodyPr>
          <a:lstStyle/>
          <a:p>
            <a:pPr algn="l">
              <a:lnSpc>
                <a:spcPts val="2625"/>
              </a:lnSpc>
            </a:pPr>
            <a:r>
              <a:rPr lang="en-US" sz="1750">
                <a:solidFill>
                  <a:srgbClr val="FFE5E5"/>
                </a:solidFill>
                <a:latin typeface="DM Sans"/>
                <a:ea typeface="DM Sans"/>
                <a:cs typeface="DM Sans"/>
                <a:sym typeface="DM Sans"/>
              </a:rPr>
              <a:t>Numerical scores provided without clear explanation of contributing factors or reasoning paths.</a:t>
            </a:r>
          </a:p>
        </p:txBody>
      </p:sp>
      <p:sp>
        <p:nvSpPr>
          <p:cNvPr id="26" name="Freeform 26" descr="preencoded.png"/>
          <p:cNvSpPr/>
          <p:nvPr/>
        </p:nvSpPr>
        <p:spPr>
          <a:xfrm>
            <a:off x="825998" y="7241829"/>
            <a:ext cx="458095" cy="458095"/>
          </a:xfrm>
          <a:custGeom>
            <a:avLst/>
            <a:gdLst/>
            <a:ahLst/>
            <a:cxnLst/>
            <a:rect l="l" t="t" r="r" b="b"/>
            <a:pathLst>
              <a:path w="458095" h="458095">
                <a:moveTo>
                  <a:pt x="0" y="0"/>
                </a:moveTo>
                <a:lnTo>
                  <a:pt x="458096" y="0"/>
                </a:lnTo>
                <a:lnTo>
                  <a:pt x="458096" y="458095"/>
                </a:lnTo>
                <a:lnTo>
                  <a:pt x="0" y="458095"/>
                </a:lnTo>
                <a:lnTo>
                  <a:pt x="0" y="0"/>
                </a:lnTo>
                <a:close/>
              </a:path>
            </a:pathLst>
          </a:custGeom>
          <a:blipFill>
            <a:blip r:embed="rId16">
              <a:extLst>
                <a:ext uri="{96DAC541-7B7A-43D3-8B79-37D633B846F1}">
                  <asvg:svgBlip xmlns:asvg="http://schemas.microsoft.com/office/drawing/2016/SVG/main" r:embed="rId17"/>
                </a:ext>
              </a:extLst>
            </a:blip>
            <a:stretch>
              <a:fillRect t="-1020" b="-1018"/>
            </a:stretch>
          </a:blipFill>
        </p:spPr>
      </p:sp>
      <p:sp>
        <p:nvSpPr>
          <p:cNvPr id="27" name="TextBox 27"/>
          <p:cNvSpPr txBox="1"/>
          <p:nvPr/>
        </p:nvSpPr>
        <p:spPr>
          <a:xfrm>
            <a:off x="1526086" y="7301503"/>
            <a:ext cx="3013767" cy="395735"/>
          </a:xfrm>
          <a:prstGeom prst="rect">
            <a:avLst/>
          </a:prstGeom>
        </p:spPr>
        <p:txBody>
          <a:bodyPr lIns="0" tIns="0" rIns="0" bIns="0" rtlCol="0" anchor="t">
            <a:spAutoFit/>
          </a:bodyPr>
          <a:lstStyle/>
          <a:p>
            <a:pPr algn="l">
              <a:lnSpc>
                <a:spcPts val="2937"/>
              </a:lnSpc>
            </a:pPr>
            <a:r>
              <a:rPr lang="en-US" sz="2312">
                <a:solidFill>
                  <a:srgbClr val="FFE5E5"/>
                </a:solidFill>
                <a:latin typeface="Dela Gothic One"/>
                <a:ea typeface="Dela Gothic One"/>
                <a:cs typeface="Dela Gothic One"/>
                <a:sym typeface="Dela Gothic One"/>
              </a:rPr>
              <a:t>Responsibility</a:t>
            </a:r>
          </a:p>
        </p:txBody>
      </p:sp>
      <p:sp>
        <p:nvSpPr>
          <p:cNvPr id="28" name="TextBox 28"/>
          <p:cNvSpPr txBox="1"/>
          <p:nvPr/>
        </p:nvSpPr>
        <p:spPr>
          <a:xfrm>
            <a:off x="1526086" y="7765704"/>
            <a:ext cx="4683919" cy="1062037"/>
          </a:xfrm>
          <a:prstGeom prst="rect">
            <a:avLst/>
          </a:prstGeom>
        </p:spPr>
        <p:txBody>
          <a:bodyPr lIns="0" tIns="0" rIns="0" bIns="0" rtlCol="0" anchor="t">
            <a:spAutoFit/>
          </a:bodyPr>
          <a:lstStyle/>
          <a:p>
            <a:pPr algn="l">
              <a:lnSpc>
                <a:spcPts val="2625"/>
              </a:lnSpc>
            </a:pPr>
            <a:r>
              <a:rPr lang="en-US" sz="1750">
                <a:solidFill>
                  <a:srgbClr val="FFE5E5"/>
                </a:solidFill>
                <a:latin typeface="DM Sans"/>
                <a:ea typeface="DM Sans"/>
                <a:cs typeface="DM Sans"/>
                <a:sym typeface="DM Sans"/>
              </a:rPr>
              <a:t>Limited ability to challenge algorithmic formula itself, narrowing scope of contestation and redress.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A0A0A">
                <a:alpha val="90196"/>
              </a:srgbClr>
            </a:solidFill>
          </p:spPr>
        </p:sp>
      </p:grpSp>
      <p:grpSp>
        <p:nvGrpSpPr>
          <p:cNvPr id="6" name="Group 6"/>
          <p:cNvGrpSpPr/>
          <p:nvPr/>
        </p:nvGrpSpPr>
        <p:grpSpPr>
          <a:xfrm>
            <a:off x="16049015" y="9686925"/>
            <a:ext cx="2153260" cy="514350"/>
            <a:chOff x="0" y="0"/>
            <a:chExt cx="2871013" cy="685800"/>
          </a:xfrm>
        </p:grpSpPr>
        <p:sp>
          <p:nvSpPr>
            <p:cNvPr id="7" name="Freeform 7" descr="preencoded.png">
              <a:hlinkClick r:id="rId4" tooltip="https://gamma.app/?utm_source=made-with-gamma"/>
            </p:cNvPr>
            <p:cNvSpPr/>
            <p:nvPr/>
          </p:nvSpPr>
          <p:spPr>
            <a:xfrm>
              <a:off x="0" y="0"/>
              <a:ext cx="2870962" cy="685800"/>
            </a:xfrm>
            <a:custGeom>
              <a:avLst/>
              <a:gdLst/>
              <a:ahLst/>
              <a:cxnLst/>
              <a:rect l="l" t="t" r="r" b="b"/>
              <a:pathLst>
                <a:path w="2870962" h="685800">
                  <a:moveTo>
                    <a:pt x="0" y="0"/>
                  </a:moveTo>
                  <a:lnTo>
                    <a:pt x="2870962" y="0"/>
                  </a:lnTo>
                  <a:lnTo>
                    <a:pt x="2870962" y="685800"/>
                  </a:lnTo>
                  <a:lnTo>
                    <a:pt x="0" y="685800"/>
                  </a:lnTo>
                  <a:lnTo>
                    <a:pt x="0" y="0"/>
                  </a:lnTo>
                  <a:close/>
                </a:path>
              </a:pathLst>
            </a:custGeom>
            <a:blipFill>
              <a:blip r:embed="rId5"/>
              <a:stretch>
                <a:fillRect r="-1"/>
              </a:stretch>
            </a:blipFill>
          </p:spPr>
        </p:sp>
      </p:grpSp>
      <p:grpSp>
        <p:nvGrpSpPr>
          <p:cNvPr id="8" name="Group 8"/>
          <p:cNvGrpSpPr/>
          <p:nvPr/>
        </p:nvGrpSpPr>
        <p:grpSpPr>
          <a:xfrm>
            <a:off x="11430000" y="0"/>
            <a:ext cx="6858000" cy="10287000"/>
            <a:chOff x="0" y="0"/>
            <a:chExt cx="9144000" cy="13716000"/>
          </a:xfrm>
        </p:grpSpPr>
        <p:sp>
          <p:nvSpPr>
            <p:cNvPr id="9" name="Freeform 9"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6"/>
              <a:stretch>
                <a:fillRect/>
              </a:stretch>
            </a:blipFill>
          </p:spPr>
        </p:sp>
      </p:grpSp>
      <p:sp>
        <p:nvSpPr>
          <p:cNvPr id="10" name="TextBox 10"/>
          <p:cNvSpPr txBox="1"/>
          <p:nvPr/>
        </p:nvSpPr>
        <p:spPr>
          <a:xfrm>
            <a:off x="680590" y="1071115"/>
            <a:ext cx="10068820" cy="1298372"/>
          </a:xfrm>
          <a:prstGeom prst="rect">
            <a:avLst/>
          </a:prstGeom>
        </p:spPr>
        <p:txBody>
          <a:bodyPr lIns="0" tIns="0" rIns="0" bIns="0" rtlCol="0" anchor="t">
            <a:spAutoFit/>
          </a:bodyPr>
          <a:lstStyle/>
          <a:p>
            <a:pPr algn="l">
              <a:lnSpc>
                <a:spcPts val="5000"/>
              </a:lnSpc>
            </a:pPr>
            <a:r>
              <a:rPr lang="en-US" sz="4000">
                <a:solidFill>
                  <a:srgbClr val="FAEBEB"/>
                </a:solidFill>
                <a:latin typeface="Dela Gothic One"/>
                <a:ea typeface="Dela Gothic One"/>
                <a:cs typeface="Dela Gothic One"/>
                <a:sym typeface="Dela Gothic One"/>
              </a:rPr>
              <a:t>Explainable AI: Promise and Limits</a:t>
            </a:r>
          </a:p>
        </p:txBody>
      </p:sp>
      <p:sp>
        <p:nvSpPr>
          <p:cNvPr id="11" name="TextBox 11"/>
          <p:cNvSpPr txBox="1"/>
          <p:nvPr/>
        </p:nvSpPr>
        <p:spPr>
          <a:xfrm>
            <a:off x="680590" y="2708967"/>
            <a:ext cx="3507877" cy="329203"/>
          </a:xfrm>
          <a:prstGeom prst="rect">
            <a:avLst/>
          </a:prstGeom>
        </p:spPr>
        <p:txBody>
          <a:bodyPr lIns="0" tIns="0" rIns="0" bIns="0" rtlCol="0" anchor="t">
            <a:spAutoFit/>
          </a:bodyPr>
          <a:lstStyle/>
          <a:p>
            <a:pPr algn="l">
              <a:lnSpc>
                <a:spcPts val="2500"/>
              </a:lnSpc>
            </a:pPr>
            <a:r>
              <a:rPr lang="en-US" sz="2000">
                <a:solidFill>
                  <a:srgbClr val="FAEBEB"/>
                </a:solidFill>
                <a:latin typeface="Dela Gothic One"/>
                <a:ea typeface="Dela Gothic One"/>
                <a:cs typeface="Dela Gothic One"/>
                <a:sym typeface="Dela Gothic One"/>
              </a:rPr>
              <a:t>The Black Box Problem</a:t>
            </a:r>
          </a:p>
        </p:txBody>
      </p:sp>
      <p:sp>
        <p:nvSpPr>
          <p:cNvPr id="12" name="TextBox 12"/>
          <p:cNvSpPr txBox="1"/>
          <p:nvPr/>
        </p:nvSpPr>
        <p:spPr>
          <a:xfrm>
            <a:off x="680590" y="3149203"/>
            <a:ext cx="4797181" cy="1097756"/>
          </a:xfrm>
          <a:prstGeom prst="rect">
            <a:avLst/>
          </a:prstGeom>
        </p:spPr>
        <p:txBody>
          <a:bodyPr lIns="0" tIns="0" rIns="0" bIns="0" rtlCol="0" anchor="t">
            <a:spAutoFit/>
          </a:bodyPr>
          <a:lstStyle/>
          <a:p>
            <a:pPr algn="l">
              <a:lnSpc>
                <a:spcPts val="2062"/>
              </a:lnSpc>
            </a:pPr>
            <a:r>
              <a:rPr lang="en-US" sz="1500">
                <a:solidFill>
                  <a:srgbClr val="FFE5E5"/>
                </a:solidFill>
                <a:latin typeface="DM Sans"/>
                <a:ea typeface="DM Sans"/>
                <a:cs typeface="DM Sans"/>
                <a:sym typeface="DM Sans"/>
              </a:rPr>
              <a:t>COMPAS opacity was not technical necessity but legal protection under trade secrets. Relatively standard statistical techniques shielded from scrutiny.</a:t>
            </a:r>
          </a:p>
        </p:txBody>
      </p:sp>
      <p:sp>
        <p:nvSpPr>
          <p:cNvPr id="13" name="TextBox 13"/>
          <p:cNvSpPr txBox="1"/>
          <p:nvPr/>
        </p:nvSpPr>
        <p:spPr>
          <a:xfrm>
            <a:off x="5961755" y="2708967"/>
            <a:ext cx="3493741" cy="329203"/>
          </a:xfrm>
          <a:prstGeom prst="rect">
            <a:avLst/>
          </a:prstGeom>
        </p:spPr>
        <p:txBody>
          <a:bodyPr lIns="0" tIns="0" rIns="0" bIns="0" rtlCol="0" anchor="t">
            <a:spAutoFit/>
          </a:bodyPr>
          <a:lstStyle/>
          <a:p>
            <a:pPr algn="l">
              <a:lnSpc>
                <a:spcPts val="2500"/>
              </a:lnSpc>
            </a:pPr>
            <a:r>
              <a:rPr lang="en-US" sz="2000">
                <a:solidFill>
                  <a:srgbClr val="FAEBEB"/>
                </a:solidFill>
                <a:latin typeface="Dela Gothic One"/>
                <a:ea typeface="Dela Gothic One"/>
                <a:cs typeface="Dela Gothic One"/>
                <a:sym typeface="Dela Gothic One"/>
              </a:rPr>
              <a:t>Post-Hoc Explanations</a:t>
            </a:r>
          </a:p>
        </p:txBody>
      </p:sp>
      <p:sp>
        <p:nvSpPr>
          <p:cNvPr id="14" name="TextBox 14"/>
          <p:cNvSpPr txBox="1"/>
          <p:nvPr/>
        </p:nvSpPr>
        <p:spPr>
          <a:xfrm>
            <a:off x="5961755" y="3149203"/>
            <a:ext cx="4797181" cy="1097756"/>
          </a:xfrm>
          <a:prstGeom prst="rect">
            <a:avLst/>
          </a:prstGeom>
        </p:spPr>
        <p:txBody>
          <a:bodyPr lIns="0" tIns="0" rIns="0" bIns="0" rtlCol="0" anchor="t">
            <a:spAutoFit/>
          </a:bodyPr>
          <a:lstStyle/>
          <a:p>
            <a:pPr algn="l">
              <a:lnSpc>
                <a:spcPts val="2062"/>
              </a:lnSpc>
            </a:pPr>
            <a:r>
              <a:rPr lang="en-US" sz="1500">
                <a:solidFill>
                  <a:srgbClr val="FFE5E5"/>
                </a:solidFill>
                <a:latin typeface="DM Sans"/>
                <a:ea typeface="DM Sans"/>
                <a:cs typeface="DM Sans"/>
                <a:sym typeface="DM Sans"/>
              </a:rPr>
              <a:t>Tools like LIME and SHAP provide local interpretability but can be manipulated through adversarial techniques to conceal discriminatory logic.</a:t>
            </a:r>
          </a:p>
        </p:txBody>
      </p:sp>
      <p:grpSp>
        <p:nvGrpSpPr>
          <p:cNvPr id="15" name="Group 15"/>
          <p:cNvGrpSpPr/>
          <p:nvPr/>
        </p:nvGrpSpPr>
        <p:grpSpPr>
          <a:xfrm>
            <a:off x="680590" y="4529585"/>
            <a:ext cx="972293" cy="1166812"/>
            <a:chOff x="0" y="0"/>
            <a:chExt cx="1296391" cy="1555750"/>
          </a:xfrm>
        </p:grpSpPr>
        <p:sp>
          <p:nvSpPr>
            <p:cNvPr id="16" name="Freeform 16" descr="preencoded.png"/>
            <p:cNvSpPr/>
            <p:nvPr/>
          </p:nvSpPr>
          <p:spPr>
            <a:xfrm>
              <a:off x="0" y="0"/>
              <a:ext cx="1296416" cy="1555750"/>
            </a:xfrm>
            <a:custGeom>
              <a:avLst/>
              <a:gdLst/>
              <a:ahLst/>
              <a:cxnLst/>
              <a:rect l="l" t="t" r="r" b="b"/>
              <a:pathLst>
                <a:path w="1296416" h="1555750">
                  <a:moveTo>
                    <a:pt x="0" y="0"/>
                  </a:moveTo>
                  <a:lnTo>
                    <a:pt x="1296416" y="0"/>
                  </a:lnTo>
                  <a:lnTo>
                    <a:pt x="1296416" y="1555750"/>
                  </a:lnTo>
                  <a:lnTo>
                    <a:pt x="0" y="1555750"/>
                  </a:lnTo>
                  <a:lnTo>
                    <a:pt x="0" y="0"/>
                  </a:lnTo>
                  <a:close/>
                </a:path>
              </a:pathLst>
            </a:custGeom>
            <a:blipFill>
              <a:blip r:embed="rId7"/>
              <a:stretch>
                <a:fillRect t="-242" r="1" b="-242"/>
              </a:stretch>
            </a:blipFill>
          </p:spPr>
        </p:sp>
      </p:grpSp>
      <p:sp>
        <p:nvSpPr>
          <p:cNvPr id="17" name="TextBox 17"/>
          <p:cNvSpPr txBox="1"/>
          <p:nvPr/>
        </p:nvSpPr>
        <p:spPr>
          <a:xfrm>
            <a:off x="1792491" y="4714427"/>
            <a:ext cx="2558806" cy="329203"/>
          </a:xfrm>
          <a:prstGeom prst="rect">
            <a:avLst/>
          </a:prstGeom>
        </p:spPr>
        <p:txBody>
          <a:bodyPr lIns="0" tIns="0" rIns="0" bIns="0" rtlCol="0" anchor="t">
            <a:spAutoFit/>
          </a:bodyPr>
          <a:lstStyle/>
          <a:p>
            <a:pPr algn="l">
              <a:lnSpc>
                <a:spcPts val="2500"/>
              </a:lnSpc>
            </a:pPr>
            <a:r>
              <a:rPr lang="en-US" sz="2000">
                <a:solidFill>
                  <a:srgbClr val="FFE5E5"/>
                </a:solidFill>
                <a:latin typeface="Dela Gothic One"/>
                <a:ea typeface="Dela Gothic One"/>
                <a:cs typeface="Dela Gothic One"/>
                <a:sym typeface="Dela Gothic One"/>
              </a:rPr>
              <a:t>Problem</a:t>
            </a:r>
          </a:p>
        </p:txBody>
      </p:sp>
      <p:sp>
        <p:nvSpPr>
          <p:cNvPr id="18" name="TextBox 18"/>
          <p:cNvSpPr txBox="1"/>
          <p:nvPr/>
        </p:nvSpPr>
        <p:spPr>
          <a:xfrm>
            <a:off x="1792491" y="5098847"/>
            <a:ext cx="8956919" cy="295866"/>
          </a:xfrm>
          <a:prstGeom prst="rect">
            <a:avLst/>
          </a:prstGeom>
        </p:spPr>
        <p:txBody>
          <a:bodyPr lIns="0" tIns="0" rIns="0" bIns="0" rtlCol="0" anchor="t">
            <a:spAutoFit/>
          </a:bodyPr>
          <a:lstStyle/>
          <a:p>
            <a:pPr algn="l">
              <a:lnSpc>
                <a:spcPts val="2062"/>
              </a:lnSpc>
            </a:pPr>
            <a:r>
              <a:rPr lang="en-US" sz="1500">
                <a:solidFill>
                  <a:srgbClr val="FFE5E5"/>
                </a:solidFill>
                <a:latin typeface="DM Sans"/>
                <a:ea typeface="DM Sans"/>
                <a:cs typeface="DM Sans"/>
                <a:sym typeface="DM Sans"/>
              </a:rPr>
              <a:t>Opaque proprietary systems</a:t>
            </a:r>
          </a:p>
        </p:txBody>
      </p:sp>
      <p:grpSp>
        <p:nvGrpSpPr>
          <p:cNvPr id="19" name="Group 19"/>
          <p:cNvGrpSpPr/>
          <p:nvPr/>
        </p:nvGrpSpPr>
        <p:grpSpPr>
          <a:xfrm>
            <a:off x="680590" y="5696398"/>
            <a:ext cx="972293" cy="1166812"/>
            <a:chOff x="0" y="0"/>
            <a:chExt cx="1296391" cy="1555750"/>
          </a:xfrm>
        </p:grpSpPr>
        <p:sp>
          <p:nvSpPr>
            <p:cNvPr id="20" name="Freeform 20" descr="preencoded.png"/>
            <p:cNvSpPr/>
            <p:nvPr/>
          </p:nvSpPr>
          <p:spPr>
            <a:xfrm>
              <a:off x="0" y="0"/>
              <a:ext cx="1296416" cy="1555750"/>
            </a:xfrm>
            <a:custGeom>
              <a:avLst/>
              <a:gdLst/>
              <a:ahLst/>
              <a:cxnLst/>
              <a:rect l="l" t="t" r="r" b="b"/>
              <a:pathLst>
                <a:path w="1296416" h="1555750">
                  <a:moveTo>
                    <a:pt x="0" y="0"/>
                  </a:moveTo>
                  <a:lnTo>
                    <a:pt x="1296416" y="0"/>
                  </a:lnTo>
                  <a:lnTo>
                    <a:pt x="1296416" y="1555750"/>
                  </a:lnTo>
                  <a:lnTo>
                    <a:pt x="0" y="1555750"/>
                  </a:lnTo>
                  <a:lnTo>
                    <a:pt x="0" y="0"/>
                  </a:lnTo>
                  <a:close/>
                </a:path>
              </a:pathLst>
            </a:custGeom>
            <a:blipFill>
              <a:blip r:embed="rId8"/>
              <a:stretch>
                <a:fillRect t="-242" r="1" b="-242"/>
              </a:stretch>
            </a:blipFill>
          </p:spPr>
        </p:sp>
      </p:grpSp>
      <p:sp>
        <p:nvSpPr>
          <p:cNvPr id="21" name="TextBox 21"/>
          <p:cNvSpPr txBox="1"/>
          <p:nvPr/>
        </p:nvSpPr>
        <p:spPr>
          <a:xfrm>
            <a:off x="1792491" y="5881240"/>
            <a:ext cx="2807341" cy="329203"/>
          </a:xfrm>
          <a:prstGeom prst="rect">
            <a:avLst/>
          </a:prstGeom>
        </p:spPr>
        <p:txBody>
          <a:bodyPr lIns="0" tIns="0" rIns="0" bIns="0" rtlCol="0" anchor="t">
            <a:spAutoFit/>
          </a:bodyPr>
          <a:lstStyle/>
          <a:p>
            <a:pPr algn="l">
              <a:lnSpc>
                <a:spcPts val="2500"/>
              </a:lnSpc>
            </a:pPr>
            <a:r>
              <a:rPr lang="en-US" sz="2000">
                <a:solidFill>
                  <a:srgbClr val="FFE5E5"/>
                </a:solidFill>
                <a:latin typeface="Dela Gothic One"/>
                <a:ea typeface="Dela Gothic One"/>
                <a:cs typeface="Dela Gothic One"/>
                <a:sym typeface="Dela Gothic One"/>
              </a:rPr>
              <a:t>Proposed Solution</a:t>
            </a:r>
          </a:p>
        </p:txBody>
      </p:sp>
      <p:sp>
        <p:nvSpPr>
          <p:cNvPr id="22" name="TextBox 22"/>
          <p:cNvSpPr txBox="1"/>
          <p:nvPr/>
        </p:nvSpPr>
        <p:spPr>
          <a:xfrm>
            <a:off x="1792491" y="6265659"/>
            <a:ext cx="8956919" cy="295866"/>
          </a:xfrm>
          <a:prstGeom prst="rect">
            <a:avLst/>
          </a:prstGeom>
        </p:spPr>
        <p:txBody>
          <a:bodyPr lIns="0" tIns="0" rIns="0" bIns="0" rtlCol="0" anchor="t">
            <a:spAutoFit/>
          </a:bodyPr>
          <a:lstStyle/>
          <a:p>
            <a:pPr algn="l">
              <a:lnSpc>
                <a:spcPts val="2062"/>
              </a:lnSpc>
            </a:pPr>
            <a:r>
              <a:rPr lang="en-US" sz="1500">
                <a:solidFill>
                  <a:srgbClr val="FFE5E5"/>
                </a:solidFill>
                <a:latin typeface="DM Sans"/>
                <a:ea typeface="DM Sans"/>
                <a:cs typeface="DM Sans"/>
                <a:sym typeface="DM Sans"/>
              </a:rPr>
              <a:t>Post-hoc explanation tools</a:t>
            </a:r>
          </a:p>
        </p:txBody>
      </p:sp>
      <p:grpSp>
        <p:nvGrpSpPr>
          <p:cNvPr id="23" name="Group 23"/>
          <p:cNvGrpSpPr/>
          <p:nvPr/>
        </p:nvGrpSpPr>
        <p:grpSpPr>
          <a:xfrm>
            <a:off x="680590" y="6863210"/>
            <a:ext cx="972293" cy="1166812"/>
            <a:chOff x="0" y="0"/>
            <a:chExt cx="1296391" cy="1555750"/>
          </a:xfrm>
        </p:grpSpPr>
        <p:sp>
          <p:nvSpPr>
            <p:cNvPr id="24" name="Freeform 24" descr="preencoded.png"/>
            <p:cNvSpPr/>
            <p:nvPr/>
          </p:nvSpPr>
          <p:spPr>
            <a:xfrm>
              <a:off x="0" y="0"/>
              <a:ext cx="1296416" cy="1555750"/>
            </a:xfrm>
            <a:custGeom>
              <a:avLst/>
              <a:gdLst/>
              <a:ahLst/>
              <a:cxnLst/>
              <a:rect l="l" t="t" r="r" b="b"/>
              <a:pathLst>
                <a:path w="1296416" h="1555750">
                  <a:moveTo>
                    <a:pt x="0" y="0"/>
                  </a:moveTo>
                  <a:lnTo>
                    <a:pt x="1296416" y="0"/>
                  </a:lnTo>
                  <a:lnTo>
                    <a:pt x="1296416" y="1555750"/>
                  </a:lnTo>
                  <a:lnTo>
                    <a:pt x="0" y="1555750"/>
                  </a:lnTo>
                  <a:lnTo>
                    <a:pt x="0" y="0"/>
                  </a:lnTo>
                  <a:close/>
                </a:path>
              </a:pathLst>
            </a:custGeom>
            <a:blipFill>
              <a:blip r:embed="rId9"/>
              <a:stretch>
                <a:fillRect t="-242" r="1" b="-242"/>
              </a:stretch>
            </a:blipFill>
          </p:spPr>
        </p:sp>
      </p:grpSp>
      <p:sp>
        <p:nvSpPr>
          <p:cNvPr id="25" name="TextBox 25"/>
          <p:cNvSpPr txBox="1"/>
          <p:nvPr/>
        </p:nvSpPr>
        <p:spPr>
          <a:xfrm>
            <a:off x="1792491" y="7048052"/>
            <a:ext cx="2558806" cy="329203"/>
          </a:xfrm>
          <a:prstGeom prst="rect">
            <a:avLst/>
          </a:prstGeom>
        </p:spPr>
        <p:txBody>
          <a:bodyPr lIns="0" tIns="0" rIns="0" bIns="0" rtlCol="0" anchor="t">
            <a:spAutoFit/>
          </a:bodyPr>
          <a:lstStyle/>
          <a:p>
            <a:pPr algn="l">
              <a:lnSpc>
                <a:spcPts val="2500"/>
              </a:lnSpc>
            </a:pPr>
            <a:r>
              <a:rPr lang="en-US" sz="2000">
                <a:solidFill>
                  <a:srgbClr val="FFE5E5"/>
                </a:solidFill>
                <a:latin typeface="Dela Gothic One"/>
                <a:ea typeface="Dela Gothic One"/>
                <a:cs typeface="Dela Gothic One"/>
                <a:sym typeface="Dela Gothic One"/>
              </a:rPr>
              <a:t>Reality</a:t>
            </a:r>
          </a:p>
        </p:txBody>
      </p:sp>
      <p:sp>
        <p:nvSpPr>
          <p:cNvPr id="26" name="TextBox 26"/>
          <p:cNvSpPr txBox="1"/>
          <p:nvPr/>
        </p:nvSpPr>
        <p:spPr>
          <a:xfrm>
            <a:off x="1792491" y="7432472"/>
            <a:ext cx="8956919" cy="295866"/>
          </a:xfrm>
          <a:prstGeom prst="rect">
            <a:avLst/>
          </a:prstGeom>
        </p:spPr>
        <p:txBody>
          <a:bodyPr lIns="0" tIns="0" rIns="0" bIns="0" rtlCol="0" anchor="t">
            <a:spAutoFit/>
          </a:bodyPr>
          <a:lstStyle/>
          <a:p>
            <a:pPr algn="l">
              <a:lnSpc>
                <a:spcPts val="2062"/>
              </a:lnSpc>
            </a:pPr>
            <a:r>
              <a:rPr lang="en-US" sz="1500">
                <a:solidFill>
                  <a:srgbClr val="FFE5E5"/>
                </a:solidFill>
                <a:latin typeface="DM Sans"/>
                <a:ea typeface="DM Sans"/>
                <a:cs typeface="DM Sans"/>
                <a:sym typeface="DM Sans"/>
              </a:rPr>
              <a:t>Vulnerable to manipulation</a:t>
            </a:r>
          </a:p>
        </p:txBody>
      </p:sp>
      <p:grpSp>
        <p:nvGrpSpPr>
          <p:cNvPr id="27" name="Group 27"/>
          <p:cNvGrpSpPr/>
          <p:nvPr/>
        </p:nvGrpSpPr>
        <p:grpSpPr>
          <a:xfrm>
            <a:off x="680590" y="8030023"/>
            <a:ext cx="972293" cy="1166812"/>
            <a:chOff x="0" y="0"/>
            <a:chExt cx="1296391" cy="1555750"/>
          </a:xfrm>
        </p:grpSpPr>
        <p:sp>
          <p:nvSpPr>
            <p:cNvPr id="28" name="Freeform 28" descr="preencoded.png"/>
            <p:cNvSpPr/>
            <p:nvPr/>
          </p:nvSpPr>
          <p:spPr>
            <a:xfrm>
              <a:off x="0" y="0"/>
              <a:ext cx="1296416" cy="1555750"/>
            </a:xfrm>
            <a:custGeom>
              <a:avLst/>
              <a:gdLst/>
              <a:ahLst/>
              <a:cxnLst/>
              <a:rect l="l" t="t" r="r" b="b"/>
              <a:pathLst>
                <a:path w="1296416" h="1555750">
                  <a:moveTo>
                    <a:pt x="0" y="0"/>
                  </a:moveTo>
                  <a:lnTo>
                    <a:pt x="1296416" y="0"/>
                  </a:lnTo>
                  <a:lnTo>
                    <a:pt x="1296416" y="1555750"/>
                  </a:lnTo>
                  <a:lnTo>
                    <a:pt x="0" y="1555750"/>
                  </a:lnTo>
                  <a:lnTo>
                    <a:pt x="0" y="0"/>
                  </a:lnTo>
                  <a:close/>
                </a:path>
              </a:pathLst>
            </a:custGeom>
            <a:blipFill>
              <a:blip r:embed="rId10"/>
              <a:stretch>
                <a:fillRect t="-242" r="1" b="-242"/>
              </a:stretch>
            </a:blipFill>
          </p:spPr>
        </p:sp>
      </p:grpSp>
      <p:sp>
        <p:nvSpPr>
          <p:cNvPr id="29" name="TextBox 29"/>
          <p:cNvSpPr txBox="1"/>
          <p:nvPr/>
        </p:nvSpPr>
        <p:spPr>
          <a:xfrm>
            <a:off x="1792491" y="8214865"/>
            <a:ext cx="2558806" cy="329203"/>
          </a:xfrm>
          <a:prstGeom prst="rect">
            <a:avLst/>
          </a:prstGeom>
        </p:spPr>
        <p:txBody>
          <a:bodyPr lIns="0" tIns="0" rIns="0" bIns="0" rtlCol="0" anchor="t">
            <a:spAutoFit/>
          </a:bodyPr>
          <a:lstStyle/>
          <a:p>
            <a:pPr algn="l">
              <a:lnSpc>
                <a:spcPts val="2500"/>
              </a:lnSpc>
            </a:pPr>
            <a:r>
              <a:rPr lang="en-US" sz="2000">
                <a:solidFill>
                  <a:srgbClr val="FFE5E5"/>
                </a:solidFill>
                <a:latin typeface="Dela Gothic One"/>
                <a:ea typeface="Dela Gothic One"/>
                <a:cs typeface="Dela Gothic One"/>
                <a:sym typeface="Dela Gothic One"/>
              </a:rPr>
              <a:t>True Fix</a:t>
            </a:r>
          </a:p>
        </p:txBody>
      </p:sp>
      <p:sp>
        <p:nvSpPr>
          <p:cNvPr id="30" name="TextBox 30"/>
          <p:cNvSpPr txBox="1"/>
          <p:nvPr/>
        </p:nvSpPr>
        <p:spPr>
          <a:xfrm>
            <a:off x="1792491" y="8599284"/>
            <a:ext cx="8956919" cy="295866"/>
          </a:xfrm>
          <a:prstGeom prst="rect">
            <a:avLst/>
          </a:prstGeom>
        </p:spPr>
        <p:txBody>
          <a:bodyPr lIns="0" tIns="0" rIns="0" bIns="0" rtlCol="0" anchor="t">
            <a:spAutoFit/>
          </a:bodyPr>
          <a:lstStyle/>
          <a:p>
            <a:pPr algn="l">
              <a:lnSpc>
                <a:spcPts val="2062"/>
              </a:lnSpc>
            </a:pPr>
            <a:r>
              <a:rPr lang="en-US" sz="1500">
                <a:solidFill>
                  <a:srgbClr val="FFE5E5"/>
                </a:solidFill>
                <a:latin typeface="DM Sans"/>
                <a:ea typeface="DM Sans"/>
                <a:cs typeface="DM Sans"/>
                <a:sym typeface="DM Sans"/>
              </a:rPr>
              <a:t>Interpretable glass-box models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A0A0A">
                <a:alpha val="90196"/>
              </a:srgbClr>
            </a:solidFill>
          </p:spPr>
        </p:sp>
      </p:grpSp>
      <p:sp>
        <p:nvSpPr>
          <p:cNvPr id="6" name="TextBox 6"/>
          <p:cNvSpPr txBox="1"/>
          <p:nvPr/>
        </p:nvSpPr>
        <p:spPr>
          <a:xfrm>
            <a:off x="947890" y="1079744"/>
            <a:ext cx="15017801" cy="919458"/>
          </a:xfrm>
          <a:prstGeom prst="rect">
            <a:avLst/>
          </a:prstGeom>
        </p:spPr>
        <p:txBody>
          <a:bodyPr lIns="0" tIns="0" rIns="0" bIns="0" rtlCol="0" anchor="t">
            <a:spAutoFit/>
          </a:bodyPr>
          <a:lstStyle/>
          <a:p>
            <a:pPr algn="l">
              <a:lnSpc>
                <a:spcPts val="7000"/>
              </a:lnSpc>
            </a:pPr>
            <a:r>
              <a:rPr lang="en-US" sz="5562">
                <a:solidFill>
                  <a:srgbClr val="FAEBEB"/>
                </a:solidFill>
                <a:latin typeface="Dela Gothic One"/>
                <a:ea typeface="Dela Gothic One"/>
                <a:cs typeface="Dela Gothic One"/>
                <a:sym typeface="Dela Gothic One"/>
              </a:rPr>
              <a:t>Essential Safeguards and Solutions</a:t>
            </a:r>
          </a:p>
        </p:txBody>
      </p:sp>
      <p:sp>
        <p:nvSpPr>
          <p:cNvPr id="7" name="TextBox 7"/>
          <p:cNvSpPr txBox="1"/>
          <p:nvPr/>
        </p:nvSpPr>
        <p:spPr>
          <a:xfrm>
            <a:off x="947890" y="2464595"/>
            <a:ext cx="576110" cy="392030"/>
          </a:xfrm>
          <a:prstGeom prst="rect">
            <a:avLst/>
          </a:prstGeom>
        </p:spPr>
        <p:txBody>
          <a:bodyPr wrap="square" lIns="0" tIns="0" rIns="0" bIns="0" rtlCol="0" anchor="t">
            <a:spAutoFit/>
          </a:bodyPr>
          <a:lstStyle/>
          <a:p>
            <a:pPr algn="l">
              <a:lnSpc>
                <a:spcPts val="3374"/>
              </a:lnSpc>
            </a:pPr>
            <a:r>
              <a:rPr lang="en-US" sz="2125" dirty="0">
                <a:solidFill>
                  <a:srgbClr val="FFE5E5"/>
                </a:solidFill>
                <a:latin typeface="Dela Gothic One"/>
                <a:ea typeface="Dela Gothic One"/>
                <a:cs typeface="Dela Gothic One"/>
                <a:sym typeface="Dela Gothic One"/>
              </a:rPr>
              <a:t>01</a:t>
            </a:r>
          </a:p>
        </p:txBody>
      </p:sp>
      <p:grpSp>
        <p:nvGrpSpPr>
          <p:cNvPr id="8" name="Group 8"/>
          <p:cNvGrpSpPr/>
          <p:nvPr/>
        </p:nvGrpSpPr>
        <p:grpSpPr>
          <a:xfrm>
            <a:off x="947890" y="2962723"/>
            <a:ext cx="5283546" cy="38100"/>
            <a:chOff x="0" y="0"/>
            <a:chExt cx="7044728" cy="50800"/>
          </a:xfrm>
        </p:grpSpPr>
        <p:sp>
          <p:nvSpPr>
            <p:cNvPr id="9" name="Freeform 9"/>
            <p:cNvSpPr/>
            <p:nvPr/>
          </p:nvSpPr>
          <p:spPr>
            <a:xfrm>
              <a:off x="0" y="0"/>
              <a:ext cx="7044690" cy="50800"/>
            </a:xfrm>
            <a:custGeom>
              <a:avLst/>
              <a:gdLst/>
              <a:ahLst/>
              <a:cxnLst/>
              <a:rect l="l" t="t" r="r" b="b"/>
              <a:pathLst>
                <a:path w="7044690" h="50800">
                  <a:moveTo>
                    <a:pt x="0" y="0"/>
                  </a:moveTo>
                  <a:lnTo>
                    <a:pt x="7044690" y="0"/>
                  </a:lnTo>
                  <a:lnTo>
                    <a:pt x="7044690" y="50800"/>
                  </a:lnTo>
                  <a:lnTo>
                    <a:pt x="0" y="50800"/>
                  </a:lnTo>
                  <a:close/>
                </a:path>
              </a:pathLst>
            </a:custGeom>
            <a:solidFill>
              <a:srgbClr val="C91313"/>
            </a:solidFill>
          </p:spPr>
        </p:sp>
      </p:grpSp>
      <p:sp>
        <p:nvSpPr>
          <p:cNvPr id="10" name="TextBox 10"/>
          <p:cNvSpPr txBox="1"/>
          <p:nvPr/>
        </p:nvSpPr>
        <p:spPr>
          <a:xfrm>
            <a:off x="947890" y="3145631"/>
            <a:ext cx="5283518" cy="869662"/>
          </a:xfrm>
          <a:prstGeom prst="rect">
            <a:avLst/>
          </a:prstGeom>
        </p:spPr>
        <p:txBody>
          <a:bodyPr wrap="square" lIns="0" tIns="0" rIns="0" bIns="0" rtlCol="0" anchor="t">
            <a:spAutoFit/>
          </a:bodyPr>
          <a:lstStyle/>
          <a:p>
            <a:pPr algn="l">
              <a:lnSpc>
                <a:spcPts val="3500"/>
              </a:lnSpc>
            </a:pPr>
            <a:r>
              <a:rPr lang="en-US" sz="2750" dirty="0">
                <a:solidFill>
                  <a:srgbClr val="FFE5E5"/>
                </a:solidFill>
                <a:latin typeface="Dela Gothic One"/>
                <a:ea typeface="Dela Gothic One"/>
                <a:cs typeface="Dela Gothic One"/>
                <a:sym typeface="Dela Gothic One"/>
              </a:rPr>
              <a:t>Mandatory Glass-Box Models</a:t>
            </a:r>
          </a:p>
        </p:txBody>
      </p:sp>
      <p:sp>
        <p:nvSpPr>
          <p:cNvPr id="11" name="TextBox 11"/>
          <p:cNvSpPr txBox="1"/>
          <p:nvPr/>
        </p:nvSpPr>
        <p:spPr>
          <a:xfrm>
            <a:off x="947890" y="4150966"/>
            <a:ext cx="5283546" cy="1809750"/>
          </a:xfrm>
          <a:prstGeom prst="rect">
            <a:avLst/>
          </a:prstGeom>
        </p:spPr>
        <p:txBody>
          <a:bodyPr lIns="0" tIns="0" rIns="0" bIns="0" rtlCol="0" anchor="t">
            <a:spAutoFit/>
          </a:bodyPr>
          <a:lstStyle/>
          <a:p>
            <a:pPr algn="l">
              <a:lnSpc>
                <a:spcPts val="3374"/>
              </a:lnSpc>
            </a:pPr>
            <a:r>
              <a:rPr lang="en-US" sz="2125">
                <a:solidFill>
                  <a:srgbClr val="FFE5E5"/>
                </a:solidFill>
                <a:latin typeface="DM Sans"/>
                <a:ea typeface="DM Sans"/>
                <a:cs typeface="DM Sans"/>
                <a:sym typeface="DM Sans"/>
              </a:rPr>
              <a:t>Inherently interpretable systems transparent by design, open to adversarial scrutiny and plain-language explanation.</a:t>
            </a:r>
          </a:p>
        </p:txBody>
      </p:sp>
      <p:sp>
        <p:nvSpPr>
          <p:cNvPr id="12" name="TextBox 12"/>
          <p:cNvSpPr txBox="1"/>
          <p:nvPr/>
        </p:nvSpPr>
        <p:spPr>
          <a:xfrm>
            <a:off x="6502156" y="2487197"/>
            <a:ext cx="576110" cy="392030"/>
          </a:xfrm>
          <a:prstGeom prst="rect">
            <a:avLst/>
          </a:prstGeom>
        </p:spPr>
        <p:txBody>
          <a:bodyPr wrap="square" lIns="0" tIns="0" rIns="0" bIns="0" rtlCol="0" anchor="t">
            <a:spAutoFit/>
          </a:bodyPr>
          <a:lstStyle/>
          <a:p>
            <a:pPr algn="l">
              <a:lnSpc>
                <a:spcPts val="3374"/>
              </a:lnSpc>
            </a:pPr>
            <a:r>
              <a:rPr lang="en-US" sz="2125" dirty="0">
                <a:solidFill>
                  <a:srgbClr val="FFE5E5"/>
                </a:solidFill>
                <a:latin typeface="Dela Gothic One"/>
                <a:ea typeface="Dela Gothic One"/>
                <a:cs typeface="Dela Gothic One"/>
                <a:sym typeface="Dela Gothic One"/>
              </a:rPr>
              <a:t>02</a:t>
            </a:r>
          </a:p>
        </p:txBody>
      </p:sp>
      <p:grpSp>
        <p:nvGrpSpPr>
          <p:cNvPr id="13" name="Group 13"/>
          <p:cNvGrpSpPr/>
          <p:nvPr/>
        </p:nvGrpSpPr>
        <p:grpSpPr>
          <a:xfrm>
            <a:off x="6502156" y="2962723"/>
            <a:ext cx="5283546" cy="38100"/>
            <a:chOff x="0" y="0"/>
            <a:chExt cx="7044728" cy="50800"/>
          </a:xfrm>
        </p:grpSpPr>
        <p:sp>
          <p:nvSpPr>
            <p:cNvPr id="14" name="Freeform 14"/>
            <p:cNvSpPr/>
            <p:nvPr/>
          </p:nvSpPr>
          <p:spPr>
            <a:xfrm>
              <a:off x="0" y="0"/>
              <a:ext cx="7044690" cy="50800"/>
            </a:xfrm>
            <a:custGeom>
              <a:avLst/>
              <a:gdLst/>
              <a:ahLst/>
              <a:cxnLst/>
              <a:rect l="l" t="t" r="r" b="b"/>
              <a:pathLst>
                <a:path w="7044690" h="50800">
                  <a:moveTo>
                    <a:pt x="0" y="0"/>
                  </a:moveTo>
                  <a:lnTo>
                    <a:pt x="7044690" y="0"/>
                  </a:lnTo>
                  <a:lnTo>
                    <a:pt x="7044690" y="50800"/>
                  </a:lnTo>
                  <a:lnTo>
                    <a:pt x="0" y="50800"/>
                  </a:lnTo>
                  <a:close/>
                </a:path>
              </a:pathLst>
            </a:custGeom>
            <a:solidFill>
              <a:srgbClr val="C91313"/>
            </a:solidFill>
          </p:spPr>
        </p:sp>
      </p:grpSp>
      <p:sp>
        <p:nvSpPr>
          <p:cNvPr id="15" name="TextBox 15"/>
          <p:cNvSpPr txBox="1"/>
          <p:nvPr/>
        </p:nvSpPr>
        <p:spPr>
          <a:xfrm>
            <a:off x="6502156" y="3145631"/>
            <a:ext cx="4196505" cy="473869"/>
          </a:xfrm>
          <a:prstGeom prst="rect">
            <a:avLst/>
          </a:prstGeom>
        </p:spPr>
        <p:txBody>
          <a:bodyPr lIns="0" tIns="0" rIns="0" bIns="0" rtlCol="0" anchor="t">
            <a:spAutoFit/>
          </a:bodyPr>
          <a:lstStyle/>
          <a:p>
            <a:pPr algn="l">
              <a:lnSpc>
                <a:spcPts val="3500"/>
              </a:lnSpc>
            </a:pPr>
            <a:r>
              <a:rPr lang="en-US" sz="2750">
                <a:solidFill>
                  <a:srgbClr val="FFE5E5"/>
                </a:solidFill>
                <a:latin typeface="Dela Gothic One"/>
                <a:ea typeface="Dela Gothic One"/>
                <a:cs typeface="Dela Gothic One"/>
                <a:sym typeface="Dela Gothic One"/>
              </a:rPr>
              <a:t>Independent Audits</a:t>
            </a:r>
          </a:p>
        </p:txBody>
      </p:sp>
      <p:sp>
        <p:nvSpPr>
          <p:cNvPr id="16" name="TextBox 16"/>
          <p:cNvSpPr txBox="1"/>
          <p:nvPr/>
        </p:nvSpPr>
        <p:spPr>
          <a:xfrm>
            <a:off x="6502156" y="3705673"/>
            <a:ext cx="5283546" cy="1809750"/>
          </a:xfrm>
          <a:prstGeom prst="rect">
            <a:avLst/>
          </a:prstGeom>
        </p:spPr>
        <p:txBody>
          <a:bodyPr lIns="0" tIns="0" rIns="0" bIns="0" rtlCol="0" anchor="t">
            <a:spAutoFit/>
          </a:bodyPr>
          <a:lstStyle/>
          <a:p>
            <a:pPr algn="l">
              <a:lnSpc>
                <a:spcPts val="3374"/>
              </a:lnSpc>
            </a:pPr>
            <a:r>
              <a:rPr lang="en-US" sz="2125">
                <a:solidFill>
                  <a:srgbClr val="FFE5E5"/>
                </a:solidFill>
                <a:latin typeface="DM Sans"/>
                <a:ea typeface="DM Sans"/>
                <a:cs typeface="DM Sans"/>
                <a:sym typeface="DM Sans"/>
              </a:rPr>
              <a:t>Rigorous third-party evaluation before deployment and periodic audits examining racial disparities and proxy variables.</a:t>
            </a:r>
          </a:p>
        </p:txBody>
      </p:sp>
      <p:sp>
        <p:nvSpPr>
          <p:cNvPr id="17" name="TextBox 17"/>
          <p:cNvSpPr txBox="1"/>
          <p:nvPr/>
        </p:nvSpPr>
        <p:spPr>
          <a:xfrm>
            <a:off x="12056420" y="2440782"/>
            <a:ext cx="576109" cy="392030"/>
          </a:xfrm>
          <a:prstGeom prst="rect">
            <a:avLst/>
          </a:prstGeom>
        </p:spPr>
        <p:txBody>
          <a:bodyPr wrap="square" lIns="0" tIns="0" rIns="0" bIns="0" rtlCol="0" anchor="t">
            <a:spAutoFit/>
          </a:bodyPr>
          <a:lstStyle/>
          <a:p>
            <a:pPr algn="l">
              <a:lnSpc>
                <a:spcPts val="3374"/>
              </a:lnSpc>
            </a:pPr>
            <a:r>
              <a:rPr lang="en-US" sz="2125" dirty="0">
                <a:solidFill>
                  <a:srgbClr val="FFE5E5"/>
                </a:solidFill>
                <a:latin typeface="Dela Gothic One"/>
                <a:ea typeface="Dela Gothic One"/>
                <a:cs typeface="Dela Gothic One"/>
                <a:sym typeface="Dela Gothic One"/>
              </a:rPr>
              <a:t>03</a:t>
            </a:r>
          </a:p>
        </p:txBody>
      </p:sp>
      <p:grpSp>
        <p:nvGrpSpPr>
          <p:cNvPr id="18" name="Group 18"/>
          <p:cNvGrpSpPr/>
          <p:nvPr/>
        </p:nvGrpSpPr>
        <p:grpSpPr>
          <a:xfrm>
            <a:off x="12056421" y="2962723"/>
            <a:ext cx="5283698" cy="38100"/>
            <a:chOff x="0" y="0"/>
            <a:chExt cx="7044931" cy="50800"/>
          </a:xfrm>
        </p:grpSpPr>
        <p:sp>
          <p:nvSpPr>
            <p:cNvPr id="19" name="Freeform 19"/>
            <p:cNvSpPr/>
            <p:nvPr/>
          </p:nvSpPr>
          <p:spPr>
            <a:xfrm>
              <a:off x="0" y="0"/>
              <a:ext cx="7044944" cy="50800"/>
            </a:xfrm>
            <a:custGeom>
              <a:avLst/>
              <a:gdLst/>
              <a:ahLst/>
              <a:cxnLst/>
              <a:rect l="l" t="t" r="r" b="b"/>
              <a:pathLst>
                <a:path w="7044944" h="50800">
                  <a:moveTo>
                    <a:pt x="0" y="0"/>
                  </a:moveTo>
                  <a:lnTo>
                    <a:pt x="7044944" y="0"/>
                  </a:lnTo>
                  <a:lnTo>
                    <a:pt x="7044944" y="50800"/>
                  </a:lnTo>
                  <a:lnTo>
                    <a:pt x="0" y="50800"/>
                  </a:lnTo>
                  <a:close/>
                </a:path>
              </a:pathLst>
            </a:custGeom>
            <a:solidFill>
              <a:srgbClr val="C91313"/>
            </a:solidFill>
          </p:spPr>
        </p:sp>
      </p:grpSp>
      <p:sp>
        <p:nvSpPr>
          <p:cNvPr id="20" name="TextBox 20"/>
          <p:cNvSpPr txBox="1"/>
          <p:nvPr/>
        </p:nvSpPr>
        <p:spPr>
          <a:xfrm>
            <a:off x="12056421" y="3145631"/>
            <a:ext cx="4510383" cy="473869"/>
          </a:xfrm>
          <a:prstGeom prst="rect">
            <a:avLst/>
          </a:prstGeom>
        </p:spPr>
        <p:txBody>
          <a:bodyPr lIns="0" tIns="0" rIns="0" bIns="0" rtlCol="0" anchor="t">
            <a:spAutoFit/>
          </a:bodyPr>
          <a:lstStyle/>
          <a:p>
            <a:pPr algn="l">
              <a:lnSpc>
                <a:spcPts val="3500"/>
              </a:lnSpc>
            </a:pPr>
            <a:r>
              <a:rPr lang="en-US" sz="2750">
                <a:solidFill>
                  <a:srgbClr val="FFE5E5"/>
                </a:solidFill>
                <a:latin typeface="Dela Gothic One"/>
                <a:ea typeface="Dela Gothic One"/>
                <a:cs typeface="Dela Gothic One"/>
                <a:sym typeface="Dela Gothic One"/>
              </a:rPr>
              <a:t>Right to Contestation</a:t>
            </a:r>
          </a:p>
        </p:txBody>
      </p:sp>
      <p:sp>
        <p:nvSpPr>
          <p:cNvPr id="21" name="TextBox 21"/>
          <p:cNvSpPr txBox="1"/>
          <p:nvPr/>
        </p:nvSpPr>
        <p:spPr>
          <a:xfrm>
            <a:off x="12056421" y="3705673"/>
            <a:ext cx="5283698" cy="1376362"/>
          </a:xfrm>
          <a:prstGeom prst="rect">
            <a:avLst/>
          </a:prstGeom>
        </p:spPr>
        <p:txBody>
          <a:bodyPr lIns="0" tIns="0" rIns="0" bIns="0" rtlCol="0" anchor="t">
            <a:spAutoFit/>
          </a:bodyPr>
          <a:lstStyle/>
          <a:p>
            <a:pPr algn="l">
              <a:lnSpc>
                <a:spcPts val="3374"/>
              </a:lnSpc>
            </a:pPr>
            <a:r>
              <a:rPr lang="en-US" sz="2125">
                <a:solidFill>
                  <a:srgbClr val="FFE5E5"/>
                </a:solidFill>
                <a:latin typeface="DM Sans"/>
                <a:ea typeface="DM Sans"/>
                <a:cs typeface="DM Sans"/>
                <a:sym typeface="DM Sans"/>
              </a:rPr>
              <a:t>Access to meaningful explanations, ability to question computational logic, guaranteed human review rights.</a:t>
            </a:r>
          </a:p>
        </p:txBody>
      </p:sp>
      <p:sp>
        <p:nvSpPr>
          <p:cNvPr id="22" name="TextBox 22"/>
          <p:cNvSpPr txBox="1"/>
          <p:nvPr/>
        </p:nvSpPr>
        <p:spPr>
          <a:xfrm>
            <a:off x="947890" y="6396333"/>
            <a:ext cx="576110" cy="392030"/>
          </a:xfrm>
          <a:prstGeom prst="rect">
            <a:avLst/>
          </a:prstGeom>
        </p:spPr>
        <p:txBody>
          <a:bodyPr wrap="square" lIns="0" tIns="0" rIns="0" bIns="0" rtlCol="0" anchor="t">
            <a:spAutoFit/>
          </a:bodyPr>
          <a:lstStyle/>
          <a:p>
            <a:pPr algn="l">
              <a:lnSpc>
                <a:spcPts val="3374"/>
              </a:lnSpc>
            </a:pPr>
            <a:r>
              <a:rPr lang="en-US" sz="2125" dirty="0">
                <a:solidFill>
                  <a:srgbClr val="FFE5E5"/>
                </a:solidFill>
                <a:latin typeface="Dela Gothic One"/>
                <a:ea typeface="Dela Gothic One"/>
                <a:cs typeface="Dela Gothic One"/>
                <a:sym typeface="Dela Gothic One"/>
              </a:rPr>
              <a:t>04</a:t>
            </a:r>
          </a:p>
        </p:txBody>
      </p:sp>
      <p:grpSp>
        <p:nvGrpSpPr>
          <p:cNvPr id="23" name="Group 23"/>
          <p:cNvGrpSpPr/>
          <p:nvPr/>
        </p:nvGrpSpPr>
        <p:grpSpPr>
          <a:xfrm>
            <a:off x="947890" y="6856362"/>
            <a:ext cx="8060684" cy="38100"/>
            <a:chOff x="0" y="0"/>
            <a:chExt cx="10747578" cy="50800"/>
          </a:xfrm>
        </p:grpSpPr>
        <p:sp>
          <p:nvSpPr>
            <p:cNvPr id="24" name="Freeform 24"/>
            <p:cNvSpPr/>
            <p:nvPr/>
          </p:nvSpPr>
          <p:spPr>
            <a:xfrm>
              <a:off x="0" y="0"/>
              <a:ext cx="10747629" cy="50800"/>
            </a:xfrm>
            <a:custGeom>
              <a:avLst/>
              <a:gdLst/>
              <a:ahLst/>
              <a:cxnLst/>
              <a:rect l="l" t="t" r="r" b="b"/>
              <a:pathLst>
                <a:path w="10747629" h="50800">
                  <a:moveTo>
                    <a:pt x="0" y="0"/>
                  </a:moveTo>
                  <a:lnTo>
                    <a:pt x="10747629" y="0"/>
                  </a:lnTo>
                  <a:lnTo>
                    <a:pt x="10747629" y="50800"/>
                  </a:lnTo>
                  <a:lnTo>
                    <a:pt x="0" y="50800"/>
                  </a:lnTo>
                  <a:close/>
                </a:path>
              </a:pathLst>
            </a:custGeom>
            <a:solidFill>
              <a:srgbClr val="C91313"/>
            </a:solidFill>
          </p:spPr>
        </p:sp>
      </p:grpSp>
      <p:sp>
        <p:nvSpPr>
          <p:cNvPr id="25" name="TextBox 25"/>
          <p:cNvSpPr txBox="1"/>
          <p:nvPr/>
        </p:nvSpPr>
        <p:spPr>
          <a:xfrm>
            <a:off x="947890" y="7039270"/>
            <a:ext cx="3640036" cy="473869"/>
          </a:xfrm>
          <a:prstGeom prst="rect">
            <a:avLst/>
          </a:prstGeom>
        </p:spPr>
        <p:txBody>
          <a:bodyPr lIns="0" tIns="0" rIns="0" bIns="0" rtlCol="0" anchor="t">
            <a:spAutoFit/>
          </a:bodyPr>
          <a:lstStyle/>
          <a:p>
            <a:pPr algn="l">
              <a:lnSpc>
                <a:spcPts val="3500"/>
              </a:lnSpc>
            </a:pPr>
            <a:r>
              <a:rPr lang="en-US" sz="2750">
                <a:solidFill>
                  <a:srgbClr val="FFE5E5"/>
                </a:solidFill>
                <a:latin typeface="Dela Gothic One"/>
                <a:ea typeface="Dela Gothic One"/>
                <a:cs typeface="Dela Gothic One"/>
                <a:sym typeface="Dela Gothic One"/>
              </a:rPr>
              <a:t>Data Governance</a:t>
            </a:r>
          </a:p>
        </p:txBody>
      </p:sp>
      <p:sp>
        <p:nvSpPr>
          <p:cNvPr id="26" name="TextBox 26"/>
          <p:cNvSpPr txBox="1"/>
          <p:nvPr/>
        </p:nvSpPr>
        <p:spPr>
          <a:xfrm>
            <a:off x="947890" y="7599312"/>
            <a:ext cx="8060684" cy="942975"/>
          </a:xfrm>
          <a:prstGeom prst="rect">
            <a:avLst/>
          </a:prstGeom>
        </p:spPr>
        <p:txBody>
          <a:bodyPr lIns="0" tIns="0" rIns="0" bIns="0" rtlCol="0" anchor="t">
            <a:spAutoFit/>
          </a:bodyPr>
          <a:lstStyle/>
          <a:p>
            <a:pPr algn="l">
              <a:lnSpc>
                <a:spcPts val="3374"/>
              </a:lnSpc>
            </a:pPr>
            <a:r>
              <a:rPr lang="en-US" sz="2125">
                <a:solidFill>
                  <a:srgbClr val="FFE5E5"/>
                </a:solidFill>
                <a:latin typeface="DM Sans"/>
                <a:ea typeface="DM Sans"/>
                <a:cs typeface="DM Sans"/>
                <a:sym typeface="DM Sans"/>
              </a:rPr>
              <a:t>Bias impact assessments, careful evaluation of proxy variables, transparent documentation through Model Cards.</a:t>
            </a:r>
          </a:p>
        </p:txBody>
      </p:sp>
      <p:sp>
        <p:nvSpPr>
          <p:cNvPr id="27" name="TextBox 27"/>
          <p:cNvSpPr txBox="1"/>
          <p:nvPr/>
        </p:nvSpPr>
        <p:spPr>
          <a:xfrm>
            <a:off x="9279284" y="6380836"/>
            <a:ext cx="576110" cy="392030"/>
          </a:xfrm>
          <a:prstGeom prst="rect">
            <a:avLst/>
          </a:prstGeom>
        </p:spPr>
        <p:txBody>
          <a:bodyPr wrap="square" lIns="0" tIns="0" rIns="0" bIns="0" rtlCol="0" anchor="t">
            <a:spAutoFit/>
          </a:bodyPr>
          <a:lstStyle/>
          <a:p>
            <a:pPr algn="l">
              <a:lnSpc>
                <a:spcPts val="3374"/>
              </a:lnSpc>
            </a:pPr>
            <a:r>
              <a:rPr lang="en-US" sz="2125" dirty="0">
                <a:solidFill>
                  <a:srgbClr val="FFE5E5"/>
                </a:solidFill>
                <a:latin typeface="Dela Gothic One"/>
                <a:ea typeface="Dela Gothic One"/>
                <a:cs typeface="Dela Gothic One"/>
                <a:sym typeface="Dela Gothic One"/>
              </a:rPr>
              <a:t>05</a:t>
            </a:r>
          </a:p>
        </p:txBody>
      </p:sp>
      <p:grpSp>
        <p:nvGrpSpPr>
          <p:cNvPr id="28" name="Group 28"/>
          <p:cNvGrpSpPr/>
          <p:nvPr/>
        </p:nvGrpSpPr>
        <p:grpSpPr>
          <a:xfrm>
            <a:off x="9279284" y="6856362"/>
            <a:ext cx="8060827" cy="38100"/>
            <a:chOff x="0" y="0"/>
            <a:chExt cx="10747769" cy="50800"/>
          </a:xfrm>
        </p:grpSpPr>
        <p:sp>
          <p:nvSpPr>
            <p:cNvPr id="29" name="Freeform 29"/>
            <p:cNvSpPr/>
            <p:nvPr/>
          </p:nvSpPr>
          <p:spPr>
            <a:xfrm>
              <a:off x="0" y="0"/>
              <a:ext cx="10747756" cy="50800"/>
            </a:xfrm>
            <a:custGeom>
              <a:avLst/>
              <a:gdLst/>
              <a:ahLst/>
              <a:cxnLst/>
              <a:rect l="l" t="t" r="r" b="b"/>
              <a:pathLst>
                <a:path w="10747756" h="50800">
                  <a:moveTo>
                    <a:pt x="0" y="0"/>
                  </a:moveTo>
                  <a:lnTo>
                    <a:pt x="10747756" y="0"/>
                  </a:lnTo>
                  <a:lnTo>
                    <a:pt x="10747756" y="50800"/>
                  </a:lnTo>
                  <a:lnTo>
                    <a:pt x="0" y="50800"/>
                  </a:lnTo>
                  <a:close/>
                </a:path>
              </a:pathLst>
            </a:custGeom>
            <a:solidFill>
              <a:srgbClr val="C91313"/>
            </a:solidFill>
          </p:spPr>
        </p:sp>
      </p:grpSp>
      <p:sp>
        <p:nvSpPr>
          <p:cNvPr id="30" name="TextBox 30"/>
          <p:cNvSpPr txBox="1"/>
          <p:nvPr/>
        </p:nvSpPr>
        <p:spPr>
          <a:xfrm>
            <a:off x="9279284" y="7039270"/>
            <a:ext cx="5837187" cy="473869"/>
          </a:xfrm>
          <a:prstGeom prst="rect">
            <a:avLst/>
          </a:prstGeom>
        </p:spPr>
        <p:txBody>
          <a:bodyPr lIns="0" tIns="0" rIns="0" bIns="0" rtlCol="0" anchor="t">
            <a:spAutoFit/>
          </a:bodyPr>
          <a:lstStyle/>
          <a:p>
            <a:pPr algn="l">
              <a:lnSpc>
                <a:spcPts val="3500"/>
              </a:lnSpc>
            </a:pPr>
            <a:r>
              <a:rPr lang="en-US" sz="2750">
                <a:solidFill>
                  <a:srgbClr val="FFE5E5"/>
                </a:solidFill>
                <a:latin typeface="Dela Gothic One"/>
                <a:ea typeface="Dela Gothic One"/>
                <a:cs typeface="Dela Gothic One"/>
                <a:sym typeface="Dela Gothic One"/>
              </a:rPr>
              <a:t>Accountability Frameworks</a:t>
            </a:r>
          </a:p>
        </p:txBody>
      </p:sp>
      <p:sp>
        <p:nvSpPr>
          <p:cNvPr id="31" name="TextBox 31"/>
          <p:cNvSpPr txBox="1"/>
          <p:nvPr/>
        </p:nvSpPr>
        <p:spPr>
          <a:xfrm>
            <a:off x="9279284" y="7599312"/>
            <a:ext cx="8060827" cy="1376362"/>
          </a:xfrm>
          <a:prstGeom prst="rect">
            <a:avLst/>
          </a:prstGeom>
        </p:spPr>
        <p:txBody>
          <a:bodyPr lIns="0" tIns="0" rIns="0" bIns="0" rtlCol="0" anchor="t">
            <a:spAutoFit/>
          </a:bodyPr>
          <a:lstStyle/>
          <a:p>
            <a:pPr algn="l">
              <a:lnSpc>
                <a:spcPts val="3374"/>
              </a:lnSpc>
            </a:pPr>
            <a:r>
              <a:rPr lang="en-US" sz="2125">
                <a:solidFill>
                  <a:srgbClr val="FFE5E5"/>
                </a:solidFill>
                <a:latin typeface="DM Sans"/>
                <a:ea typeface="DM Sans"/>
                <a:cs typeface="DM Sans"/>
                <a:sym typeface="DM Sans"/>
              </a:rPr>
              <a:t>Shared responsibility between developers and institutions, clear documentation of human overrides, discouragement of blind reliance.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A0A0A">
                <a:alpha val="90196"/>
              </a:srgbClr>
            </a:solidFill>
          </p:spPr>
        </p:sp>
      </p:grpSp>
      <p:grpSp>
        <p:nvGrpSpPr>
          <p:cNvPr id="6" name="Group 6"/>
          <p:cNvGrpSpPr/>
          <p:nvPr/>
        </p:nvGrpSpPr>
        <p:grpSpPr>
          <a:xfrm>
            <a:off x="11430000" y="0"/>
            <a:ext cx="6858000" cy="10287000"/>
            <a:chOff x="0" y="0"/>
            <a:chExt cx="9144000" cy="13716000"/>
          </a:xfrm>
        </p:grpSpPr>
        <p:sp>
          <p:nvSpPr>
            <p:cNvPr id="7" name="Freeform 7"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4"/>
              <a:stretch>
                <a:fillRect/>
              </a:stretch>
            </a:blipFill>
          </p:spPr>
        </p:sp>
      </p:grpSp>
      <p:sp>
        <p:nvSpPr>
          <p:cNvPr id="8" name="TextBox 8"/>
          <p:cNvSpPr txBox="1"/>
          <p:nvPr/>
        </p:nvSpPr>
        <p:spPr>
          <a:xfrm>
            <a:off x="846687" y="1204322"/>
            <a:ext cx="6366567" cy="824360"/>
          </a:xfrm>
          <a:prstGeom prst="rect">
            <a:avLst/>
          </a:prstGeom>
        </p:spPr>
        <p:txBody>
          <a:bodyPr lIns="0" tIns="0" rIns="0" bIns="0" rtlCol="0" anchor="t">
            <a:spAutoFit/>
          </a:bodyPr>
          <a:lstStyle/>
          <a:p>
            <a:pPr algn="l">
              <a:lnSpc>
                <a:spcPts val="6249"/>
              </a:lnSpc>
            </a:pPr>
            <a:r>
              <a:rPr lang="en-US" sz="4999">
                <a:solidFill>
                  <a:srgbClr val="FAEBEB"/>
                </a:solidFill>
                <a:latin typeface="Dela Gothic One"/>
                <a:ea typeface="Dela Gothic One"/>
                <a:cs typeface="Dela Gothic One"/>
                <a:sym typeface="Dela Gothic One"/>
              </a:rPr>
              <a:t>Key Takeaways</a:t>
            </a:r>
          </a:p>
        </p:txBody>
      </p:sp>
      <p:grpSp>
        <p:nvGrpSpPr>
          <p:cNvPr id="9" name="Group 9"/>
          <p:cNvGrpSpPr/>
          <p:nvPr/>
        </p:nvGrpSpPr>
        <p:grpSpPr>
          <a:xfrm>
            <a:off x="841924" y="2348065"/>
            <a:ext cx="4769796" cy="2903191"/>
            <a:chOff x="0" y="0"/>
            <a:chExt cx="6359728" cy="3870922"/>
          </a:xfrm>
        </p:grpSpPr>
        <p:sp>
          <p:nvSpPr>
            <p:cNvPr id="10" name="Freeform 10"/>
            <p:cNvSpPr/>
            <p:nvPr/>
          </p:nvSpPr>
          <p:spPr>
            <a:xfrm>
              <a:off x="6350" y="6350"/>
              <a:ext cx="6347079" cy="3858260"/>
            </a:xfrm>
            <a:custGeom>
              <a:avLst/>
              <a:gdLst/>
              <a:ahLst/>
              <a:cxnLst/>
              <a:rect l="l" t="t" r="r" b="b"/>
              <a:pathLst>
                <a:path w="6347079" h="3858260">
                  <a:moveTo>
                    <a:pt x="0" y="135509"/>
                  </a:moveTo>
                  <a:cubicBezTo>
                    <a:pt x="0" y="60706"/>
                    <a:pt x="60706" y="0"/>
                    <a:pt x="135636" y="0"/>
                  </a:cubicBezTo>
                  <a:lnTo>
                    <a:pt x="6211443" y="0"/>
                  </a:lnTo>
                  <a:cubicBezTo>
                    <a:pt x="6286373" y="0"/>
                    <a:pt x="6347079" y="60706"/>
                    <a:pt x="6347079" y="135509"/>
                  </a:cubicBezTo>
                  <a:lnTo>
                    <a:pt x="6347079" y="3722751"/>
                  </a:lnTo>
                  <a:cubicBezTo>
                    <a:pt x="6347079" y="3797554"/>
                    <a:pt x="6286373" y="3858260"/>
                    <a:pt x="6211443" y="3858260"/>
                  </a:cubicBezTo>
                  <a:lnTo>
                    <a:pt x="135636" y="3858260"/>
                  </a:lnTo>
                  <a:cubicBezTo>
                    <a:pt x="60706" y="3858260"/>
                    <a:pt x="0" y="3797554"/>
                    <a:pt x="0" y="3722751"/>
                  </a:cubicBezTo>
                  <a:close/>
                </a:path>
              </a:pathLst>
            </a:custGeom>
            <a:solidFill>
              <a:srgbClr val="740B0B"/>
            </a:solidFill>
          </p:spPr>
        </p:sp>
        <p:sp>
          <p:nvSpPr>
            <p:cNvPr id="11" name="Freeform 11"/>
            <p:cNvSpPr/>
            <p:nvPr/>
          </p:nvSpPr>
          <p:spPr>
            <a:xfrm>
              <a:off x="0" y="0"/>
              <a:ext cx="6359779" cy="3870960"/>
            </a:xfrm>
            <a:custGeom>
              <a:avLst/>
              <a:gdLst/>
              <a:ahLst/>
              <a:cxnLst/>
              <a:rect l="l" t="t" r="r" b="b"/>
              <a:pathLst>
                <a:path w="6359779" h="3870960">
                  <a:moveTo>
                    <a:pt x="0" y="141859"/>
                  </a:moveTo>
                  <a:cubicBezTo>
                    <a:pt x="0" y="63500"/>
                    <a:pt x="63627" y="0"/>
                    <a:pt x="141986" y="0"/>
                  </a:cubicBezTo>
                  <a:lnTo>
                    <a:pt x="6217793" y="0"/>
                  </a:lnTo>
                  <a:lnTo>
                    <a:pt x="6217793" y="6350"/>
                  </a:lnTo>
                  <a:lnTo>
                    <a:pt x="6217793" y="0"/>
                  </a:lnTo>
                  <a:cubicBezTo>
                    <a:pt x="6296152" y="0"/>
                    <a:pt x="6359779" y="63500"/>
                    <a:pt x="6359779" y="141859"/>
                  </a:cubicBezTo>
                  <a:lnTo>
                    <a:pt x="6353429" y="141859"/>
                  </a:lnTo>
                  <a:lnTo>
                    <a:pt x="6359779" y="141859"/>
                  </a:lnTo>
                  <a:lnTo>
                    <a:pt x="6359779" y="3729101"/>
                  </a:lnTo>
                  <a:lnTo>
                    <a:pt x="6353429" y="3729101"/>
                  </a:lnTo>
                  <a:lnTo>
                    <a:pt x="6359779" y="3729101"/>
                  </a:lnTo>
                  <a:cubicBezTo>
                    <a:pt x="6359779" y="3807460"/>
                    <a:pt x="6296152" y="3870960"/>
                    <a:pt x="6217793" y="3870960"/>
                  </a:cubicBezTo>
                  <a:lnTo>
                    <a:pt x="6217793" y="3864610"/>
                  </a:lnTo>
                  <a:lnTo>
                    <a:pt x="6217793" y="3870960"/>
                  </a:lnTo>
                  <a:lnTo>
                    <a:pt x="141986" y="3870960"/>
                  </a:lnTo>
                  <a:lnTo>
                    <a:pt x="141986" y="3864610"/>
                  </a:lnTo>
                  <a:lnTo>
                    <a:pt x="141986" y="3870960"/>
                  </a:lnTo>
                  <a:cubicBezTo>
                    <a:pt x="63627" y="3870960"/>
                    <a:pt x="0" y="3807460"/>
                    <a:pt x="0" y="3729101"/>
                  </a:cubicBezTo>
                  <a:lnTo>
                    <a:pt x="0" y="141859"/>
                  </a:lnTo>
                  <a:lnTo>
                    <a:pt x="6350" y="141859"/>
                  </a:lnTo>
                  <a:lnTo>
                    <a:pt x="0" y="141859"/>
                  </a:lnTo>
                  <a:moveTo>
                    <a:pt x="12700" y="141859"/>
                  </a:moveTo>
                  <a:lnTo>
                    <a:pt x="12700" y="3729101"/>
                  </a:lnTo>
                  <a:lnTo>
                    <a:pt x="6350" y="3729101"/>
                  </a:lnTo>
                  <a:lnTo>
                    <a:pt x="12700" y="3729101"/>
                  </a:lnTo>
                  <a:cubicBezTo>
                    <a:pt x="12700" y="3800348"/>
                    <a:pt x="70612" y="3858260"/>
                    <a:pt x="141986" y="3858260"/>
                  </a:cubicBezTo>
                  <a:lnTo>
                    <a:pt x="6217793" y="3858260"/>
                  </a:lnTo>
                  <a:cubicBezTo>
                    <a:pt x="6289167" y="3858260"/>
                    <a:pt x="6347079" y="3800475"/>
                    <a:pt x="6347079" y="3729101"/>
                  </a:cubicBezTo>
                  <a:lnTo>
                    <a:pt x="6347079" y="141859"/>
                  </a:lnTo>
                  <a:cubicBezTo>
                    <a:pt x="6347079" y="70485"/>
                    <a:pt x="6289167" y="12700"/>
                    <a:pt x="6217793" y="12700"/>
                  </a:cubicBezTo>
                  <a:lnTo>
                    <a:pt x="141986" y="12700"/>
                  </a:lnTo>
                  <a:lnTo>
                    <a:pt x="141986" y="6350"/>
                  </a:lnTo>
                  <a:lnTo>
                    <a:pt x="141986" y="12700"/>
                  </a:lnTo>
                  <a:cubicBezTo>
                    <a:pt x="70612" y="12700"/>
                    <a:pt x="12700" y="70485"/>
                    <a:pt x="12700" y="141859"/>
                  </a:cubicBezTo>
                  <a:close/>
                </a:path>
              </a:pathLst>
            </a:custGeom>
            <a:solidFill>
              <a:srgbClr val="8D2424"/>
            </a:solidFill>
          </p:spPr>
        </p:sp>
      </p:grpSp>
      <p:sp>
        <p:nvSpPr>
          <p:cNvPr id="12" name="TextBox 12"/>
          <p:cNvSpPr txBox="1"/>
          <p:nvPr/>
        </p:nvSpPr>
        <p:spPr>
          <a:xfrm>
            <a:off x="1098052" y="2594667"/>
            <a:ext cx="4257523" cy="805158"/>
          </a:xfrm>
          <a:prstGeom prst="rect">
            <a:avLst/>
          </a:prstGeom>
        </p:spPr>
        <p:txBody>
          <a:bodyPr lIns="0" tIns="0" rIns="0" bIns="0" rtlCol="0" anchor="t">
            <a:spAutoFit/>
          </a:bodyPr>
          <a:lstStyle/>
          <a:p>
            <a:pPr algn="l">
              <a:lnSpc>
                <a:spcPts val="3124"/>
              </a:lnSpc>
            </a:pPr>
            <a:r>
              <a:rPr lang="en-US" sz="2499">
                <a:solidFill>
                  <a:srgbClr val="FFE5E5"/>
                </a:solidFill>
                <a:latin typeface="Dela Gothic One"/>
                <a:ea typeface="Dela Gothic One"/>
                <a:cs typeface="Dela Gothic One"/>
                <a:sym typeface="Dela Gothic One"/>
              </a:rPr>
              <a:t>Algorithmic Neutrality is a Myth</a:t>
            </a:r>
          </a:p>
        </p:txBody>
      </p:sp>
      <p:sp>
        <p:nvSpPr>
          <p:cNvPr id="13" name="TextBox 13"/>
          <p:cNvSpPr txBox="1"/>
          <p:nvPr/>
        </p:nvSpPr>
        <p:spPr>
          <a:xfrm>
            <a:off x="1098052" y="3472310"/>
            <a:ext cx="4257523" cy="1522809"/>
          </a:xfrm>
          <a:prstGeom prst="rect">
            <a:avLst/>
          </a:prstGeom>
        </p:spPr>
        <p:txBody>
          <a:bodyPr lIns="0" tIns="0" rIns="0" bIns="0" rtlCol="0" anchor="t">
            <a:spAutoFit/>
          </a:bodyPr>
          <a:lstStyle/>
          <a:p>
            <a:pPr algn="l">
              <a:lnSpc>
                <a:spcPts val="2874"/>
              </a:lnSpc>
            </a:pPr>
            <a:r>
              <a:rPr lang="en-US" sz="1874">
                <a:solidFill>
                  <a:srgbClr val="FFE5E5"/>
                </a:solidFill>
                <a:latin typeface="DM Sans"/>
                <a:ea typeface="DM Sans"/>
                <a:cs typeface="DM Sans"/>
                <a:sym typeface="DM Sans"/>
              </a:rPr>
              <a:t>AI trained on historical human data reflects embedded inequalities. Complexity does not automatically produce fairness or accuracy.</a:t>
            </a:r>
          </a:p>
        </p:txBody>
      </p:sp>
      <p:grpSp>
        <p:nvGrpSpPr>
          <p:cNvPr id="14" name="Group 14"/>
          <p:cNvGrpSpPr/>
          <p:nvPr/>
        </p:nvGrpSpPr>
        <p:grpSpPr>
          <a:xfrm>
            <a:off x="5818289" y="2348065"/>
            <a:ext cx="4769796" cy="2903191"/>
            <a:chOff x="0" y="0"/>
            <a:chExt cx="6359728" cy="3870922"/>
          </a:xfrm>
        </p:grpSpPr>
        <p:sp>
          <p:nvSpPr>
            <p:cNvPr id="15" name="Freeform 15"/>
            <p:cNvSpPr/>
            <p:nvPr/>
          </p:nvSpPr>
          <p:spPr>
            <a:xfrm>
              <a:off x="6350" y="6350"/>
              <a:ext cx="6347079" cy="3858260"/>
            </a:xfrm>
            <a:custGeom>
              <a:avLst/>
              <a:gdLst/>
              <a:ahLst/>
              <a:cxnLst/>
              <a:rect l="l" t="t" r="r" b="b"/>
              <a:pathLst>
                <a:path w="6347079" h="3858260">
                  <a:moveTo>
                    <a:pt x="0" y="135509"/>
                  </a:moveTo>
                  <a:cubicBezTo>
                    <a:pt x="0" y="60706"/>
                    <a:pt x="60706" y="0"/>
                    <a:pt x="135636" y="0"/>
                  </a:cubicBezTo>
                  <a:lnTo>
                    <a:pt x="6211443" y="0"/>
                  </a:lnTo>
                  <a:cubicBezTo>
                    <a:pt x="6286373" y="0"/>
                    <a:pt x="6347079" y="60706"/>
                    <a:pt x="6347079" y="135509"/>
                  </a:cubicBezTo>
                  <a:lnTo>
                    <a:pt x="6347079" y="3722751"/>
                  </a:lnTo>
                  <a:cubicBezTo>
                    <a:pt x="6347079" y="3797554"/>
                    <a:pt x="6286373" y="3858260"/>
                    <a:pt x="6211443" y="3858260"/>
                  </a:cubicBezTo>
                  <a:lnTo>
                    <a:pt x="135636" y="3858260"/>
                  </a:lnTo>
                  <a:cubicBezTo>
                    <a:pt x="60706" y="3858260"/>
                    <a:pt x="0" y="3797554"/>
                    <a:pt x="0" y="3722751"/>
                  </a:cubicBezTo>
                  <a:close/>
                </a:path>
              </a:pathLst>
            </a:custGeom>
            <a:solidFill>
              <a:srgbClr val="740B0B"/>
            </a:solidFill>
          </p:spPr>
        </p:sp>
        <p:sp>
          <p:nvSpPr>
            <p:cNvPr id="16" name="Freeform 16"/>
            <p:cNvSpPr/>
            <p:nvPr/>
          </p:nvSpPr>
          <p:spPr>
            <a:xfrm>
              <a:off x="0" y="0"/>
              <a:ext cx="6359779" cy="3870960"/>
            </a:xfrm>
            <a:custGeom>
              <a:avLst/>
              <a:gdLst/>
              <a:ahLst/>
              <a:cxnLst/>
              <a:rect l="l" t="t" r="r" b="b"/>
              <a:pathLst>
                <a:path w="6359779" h="3870960">
                  <a:moveTo>
                    <a:pt x="0" y="141859"/>
                  </a:moveTo>
                  <a:cubicBezTo>
                    <a:pt x="0" y="63500"/>
                    <a:pt x="63627" y="0"/>
                    <a:pt x="141986" y="0"/>
                  </a:cubicBezTo>
                  <a:lnTo>
                    <a:pt x="6217793" y="0"/>
                  </a:lnTo>
                  <a:lnTo>
                    <a:pt x="6217793" y="6350"/>
                  </a:lnTo>
                  <a:lnTo>
                    <a:pt x="6217793" y="0"/>
                  </a:lnTo>
                  <a:cubicBezTo>
                    <a:pt x="6296152" y="0"/>
                    <a:pt x="6359779" y="63500"/>
                    <a:pt x="6359779" y="141859"/>
                  </a:cubicBezTo>
                  <a:lnTo>
                    <a:pt x="6353429" y="141859"/>
                  </a:lnTo>
                  <a:lnTo>
                    <a:pt x="6359779" y="141859"/>
                  </a:lnTo>
                  <a:lnTo>
                    <a:pt x="6359779" y="3729101"/>
                  </a:lnTo>
                  <a:lnTo>
                    <a:pt x="6353429" y="3729101"/>
                  </a:lnTo>
                  <a:lnTo>
                    <a:pt x="6359779" y="3729101"/>
                  </a:lnTo>
                  <a:cubicBezTo>
                    <a:pt x="6359779" y="3807460"/>
                    <a:pt x="6296152" y="3870960"/>
                    <a:pt x="6217793" y="3870960"/>
                  </a:cubicBezTo>
                  <a:lnTo>
                    <a:pt x="6217793" y="3864610"/>
                  </a:lnTo>
                  <a:lnTo>
                    <a:pt x="6217793" y="3870960"/>
                  </a:lnTo>
                  <a:lnTo>
                    <a:pt x="141986" y="3870960"/>
                  </a:lnTo>
                  <a:lnTo>
                    <a:pt x="141986" y="3864610"/>
                  </a:lnTo>
                  <a:lnTo>
                    <a:pt x="141986" y="3870960"/>
                  </a:lnTo>
                  <a:cubicBezTo>
                    <a:pt x="63627" y="3870960"/>
                    <a:pt x="0" y="3807460"/>
                    <a:pt x="0" y="3729101"/>
                  </a:cubicBezTo>
                  <a:lnTo>
                    <a:pt x="0" y="141859"/>
                  </a:lnTo>
                  <a:lnTo>
                    <a:pt x="6350" y="141859"/>
                  </a:lnTo>
                  <a:lnTo>
                    <a:pt x="0" y="141859"/>
                  </a:lnTo>
                  <a:moveTo>
                    <a:pt x="12700" y="141859"/>
                  </a:moveTo>
                  <a:lnTo>
                    <a:pt x="12700" y="3729101"/>
                  </a:lnTo>
                  <a:lnTo>
                    <a:pt x="6350" y="3729101"/>
                  </a:lnTo>
                  <a:lnTo>
                    <a:pt x="12700" y="3729101"/>
                  </a:lnTo>
                  <a:cubicBezTo>
                    <a:pt x="12700" y="3800348"/>
                    <a:pt x="70612" y="3858260"/>
                    <a:pt x="141986" y="3858260"/>
                  </a:cubicBezTo>
                  <a:lnTo>
                    <a:pt x="6217793" y="3858260"/>
                  </a:lnTo>
                  <a:cubicBezTo>
                    <a:pt x="6289167" y="3858260"/>
                    <a:pt x="6347079" y="3800475"/>
                    <a:pt x="6347079" y="3729101"/>
                  </a:cubicBezTo>
                  <a:lnTo>
                    <a:pt x="6347079" y="141859"/>
                  </a:lnTo>
                  <a:cubicBezTo>
                    <a:pt x="6347079" y="70485"/>
                    <a:pt x="6289167" y="12700"/>
                    <a:pt x="6217793" y="12700"/>
                  </a:cubicBezTo>
                  <a:lnTo>
                    <a:pt x="141986" y="12700"/>
                  </a:lnTo>
                  <a:lnTo>
                    <a:pt x="141986" y="6350"/>
                  </a:lnTo>
                  <a:lnTo>
                    <a:pt x="141986" y="12700"/>
                  </a:lnTo>
                  <a:cubicBezTo>
                    <a:pt x="70612" y="12700"/>
                    <a:pt x="12700" y="70485"/>
                    <a:pt x="12700" y="141859"/>
                  </a:cubicBezTo>
                  <a:close/>
                </a:path>
              </a:pathLst>
            </a:custGeom>
            <a:solidFill>
              <a:srgbClr val="8D2424"/>
            </a:solidFill>
          </p:spPr>
        </p:sp>
      </p:grpSp>
      <p:sp>
        <p:nvSpPr>
          <p:cNvPr id="17" name="TextBox 17"/>
          <p:cNvSpPr txBox="1"/>
          <p:nvPr/>
        </p:nvSpPr>
        <p:spPr>
          <a:xfrm>
            <a:off x="6074416" y="2594667"/>
            <a:ext cx="4257523" cy="805158"/>
          </a:xfrm>
          <a:prstGeom prst="rect">
            <a:avLst/>
          </a:prstGeom>
        </p:spPr>
        <p:txBody>
          <a:bodyPr lIns="0" tIns="0" rIns="0" bIns="0" rtlCol="0" anchor="t">
            <a:spAutoFit/>
          </a:bodyPr>
          <a:lstStyle/>
          <a:p>
            <a:pPr algn="l">
              <a:lnSpc>
                <a:spcPts val="3124"/>
              </a:lnSpc>
            </a:pPr>
            <a:r>
              <a:rPr lang="en-US" sz="2499">
                <a:solidFill>
                  <a:srgbClr val="FFE5E5"/>
                </a:solidFill>
                <a:latin typeface="Dela Gothic One"/>
                <a:ea typeface="Dela Gothic One"/>
                <a:cs typeface="Dela Gothic One"/>
                <a:sym typeface="Dela Gothic One"/>
              </a:rPr>
              <a:t>Transparency is Non-Negotiable</a:t>
            </a:r>
          </a:p>
        </p:txBody>
      </p:sp>
      <p:sp>
        <p:nvSpPr>
          <p:cNvPr id="18" name="TextBox 18"/>
          <p:cNvSpPr txBox="1"/>
          <p:nvPr/>
        </p:nvSpPr>
        <p:spPr>
          <a:xfrm>
            <a:off x="6074416" y="3472310"/>
            <a:ext cx="4257523" cy="1522809"/>
          </a:xfrm>
          <a:prstGeom prst="rect">
            <a:avLst/>
          </a:prstGeom>
        </p:spPr>
        <p:txBody>
          <a:bodyPr lIns="0" tIns="0" rIns="0" bIns="0" rtlCol="0" anchor="t">
            <a:spAutoFit/>
          </a:bodyPr>
          <a:lstStyle/>
          <a:p>
            <a:pPr algn="l">
              <a:lnSpc>
                <a:spcPts val="2874"/>
              </a:lnSpc>
            </a:pPr>
            <a:r>
              <a:rPr lang="en-US" sz="1874">
                <a:solidFill>
                  <a:srgbClr val="FFE5E5"/>
                </a:solidFill>
                <a:latin typeface="DM Sans"/>
                <a:ea typeface="DM Sans"/>
                <a:cs typeface="DM Sans"/>
                <a:sym typeface="DM Sans"/>
              </a:rPr>
              <a:t>Post-hoc explanations are insufficient in high-stakes settings. Glass-box models must be legally mandated prerequisites.</a:t>
            </a:r>
          </a:p>
        </p:txBody>
      </p:sp>
      <p:grpSp>
        <p:nvGrpSpPr>
          <p:cNvPr id="19" name="Group 19"/>
          <p:cNvGrpSpPr/>
          <p:nvPr/>
        </p:nvGrpSpPr>
        <p:grpSpPr>
          <a:xfrm>
            <a:off x="841924" y="5457825"/>
            <a:ext cx="9746161" cy="1772545"/>
            <a:chOff x="0" y="0"/>
            <a:chExt cx="12994881" cy="2363394"/>
          </a:xfrm>
        </p:grpSpPr>
        <p:sp>
          <p:nvSpPr>
            <p:cNvPr id="20" name="Freeform 20"/>
            <p:cNvSpPr/>
            <p:nvPr/>
          </p:nvSpPr>
          <p:spPr>
            <a:xfrm>
              <a:off x="6350" y="6350"/>
              <a:ext cx="12982067" cy="2350770"/>
            </a:xfrm>
            <a:custGeom>
              <a:avLst/>
              <a:gdLst/>
              <a:ahLst/>
              <a:cxnLst/>
              <a:rect l="l" t="t" r="r" b="b"/>
              <a:pathLst>
                <a:path w="12982067" h="2350770">
                  <a:moveTo>
                    <a:pt x="0" y="135509"/>
                  </a:moveTo>
                  <a:cubicBezTo>
                    <a:pt x="0" y="60706"/>
                    <a:pt x="60960" y="0"/>
                    <a:pt x="136017" y="0"/>
                  </a:cubicBezTo>
                  <a:lnTo>
                    <a:pt x="12846050" y="0"/>
                  </a:lnTo>
                  <a:cubicBezTo>
                    <a:pt x="12921234" y="0"/>
                    <a:pt x="12982067" y="60706"/>
                    <a:pt x="12982067" y="135509"/>
                  </a:cubicBezTo>
                  <a:lnTo>
                    <a:pt x="12982067" y="2215261"/>
                  </a:lnTo>
                  <a:cubicBezTo>
                    <a:pt x="12982067" y="2290064"/>
                    <a:pt x="12921107" y="2350770"/>
                    <a:pt x="12846050" y="2350770"/>
                  </a:cubicBezTo>
                  <a:lnTo>
                    <a:pt x="136017" y="2350770"/>
                  </a:lnTo>
                  <a:cubicBezTo>
                    <a:pt x="60960" y="2350643"/>
                    <a:pt x="0" y="2290064"/>
                    <a:pt x="0" y="2215261"/>
                  </a:cubicBezTo>
                  <a:close/>
                </a:path>
              </a:pathLst>
            </a:custGeom>
            <a:solidFill>
              <a:srgbClr val="740B0B"/>
            </a:solidFill>
          </p:spPr>
        </p:sp>
        <p:sp>
          <p:nvSpPr>
            <p:cNvPr id="21" name="Freeform 21"/>
            <p:cNvSpPr/>
            <p:nvPr/>
          </p:nvSpPr>
          <p:spPr>
            <a:xfrm>
              <a:off x="0" y="0"/>
              <a:ext cx="12994767" cy="2363470"/>
            </a:xfrm>
            <a:custGeom>
              <a:avLst/>
              <a:gdLst/>
              <a:ahLst/>
              <a:cxnLst/>
              <a:rect l="l" t="t" r="r" b="b"/>
              <a:pathLst>
                <a:path w="12994767" h="2363470">
                  <a:moveTo>
                    <a:pt x="0" y="141859"/>
                  </a:moveTo>
                  <a:cubicBezTo>
                    <a:pt x="0" y="63500"/>
                    <a:pt x="63754" y="0"/>
                    <a:pt x="142367" y="0"/>
                  </a:cubicBezTo>
                  <a:lnTo>
                    <a:pt x="12852400" y="0"/>
                  </a:lnTo>
                  <a:lnTo>
                    <a:pt x="12852400" y="6350"/>
                  </a:lnTo>
                  <a:lnTo>
                    <a:pt x="12852400" y="0"/>
                  </a:lnTo>
                  <a:cubicBezTo>
                    <a:pt x="12931013" y="0"/>
                    <a:pt x="12994767" y="63500"/>
                    <a:pt x="12994767" y="141859"/>
                  </a:cubicBezTo>
                  <a:lnTo>
                    <a:pt x="12988417" y="141859"/>
                  </a:lnTo>
                  <a:lnTo>
                    <a:pt x="12994767" y="141859"/>
                  </a:lnTo>
                  <a:lnTo>
                    <a:pt x="12994767" y="2221611"/>
                  </a:lnTo>
                  <a:lnTo>
                    <a:pt x="12988417" y="2221611"/>
                  </a:lnTo>
                  <a:lnTo>
                    <a:pt x="12994767" y="2221611"/>
                  </a:lnTo>
                  <a:cubicBezTo>
                    <a:pt x="12994767" y="2299970"/>
                    <a:pt x="12931013" y="2363470"/>
                    <a:pt x="12852400" y="2363470"/>
                  </a:cubicBezTo>
                  <a:lnTo>
                    <a:pt x="12852400" y="2357120"/>
                  </a:lnTo>
                  <a:lnTo>
                    <a:pt x="12852400" y="2363470"/>
                  </a:lnTo>
                  <a:lnTo>
                    <a:pt x="142367" y="2363470"/>
                  </a:lnTo>
                  <a:lnTo>
                    <a:pt x="142367" y="2357120"/>
                  </a:lnTo>
                  <a:lnTo>
                    <a:pt x="142367" y="2363470"/>
                  </a:lnTo>
                  <a:cubicBezTo>
                    <a:pt x="63754" y="2363470"/>
                    <a:pt x="0" y="2299970"/>
                    <a:pt x="0" y="2221611"/>
                  </a:cubicBezTo>
                  <a:lnTo>
                    <a:pt x="0" y="141859"/>
                  </a:lnTo>
                  <a:lnTo>
                    <a:pt x="6350" y="141859"/>
                  </a:lnTo>
                  <a:lnTo>
                    <a:pt x="0" y="141859"/>
                  </a:lnTo>
                  <a:moveTo>
                    <a:pt x="12700" y="141859"/>
                  </a:moveTo>
                  <a:lnTo>
                    <a:pt x="12700" y="2221611"/>
                  </a:lnTo>
                  <a:lnTo>
                    <a:pt x="6350" y="2221611"/>
                  </a:lnTo>
                  <a:lnTo>
                    <a:pt x="12700" y="2221611"/>
                  </a:lnTo>
                  <a:cubicBezTo>
                    <a:pt x="12700" y="2292858"/>
                    <a:pt x="70739" y="2350770"/>
                    <a:pt x="142367" y="2350770"/>
                  </a:cubicBezTo>
                  <a:lnTo>
                    <a:pt x="12852400" y="2350770"/>
                  </a:lnTo>
                  <a:cubicBezTo>
                    <a:pt x="12924028" y="2350770"/>
                    <a:pt x="12982067" y="2292985"/>
                    <a:pt x="12982067" y="2221611"/>
                  </a:cubicBezTo>
                  <a:lnTo>
                    <a:pt x="12982067" y="141859"/>
                  </a:lnTo>
                  <a:cubicBezTo>
                    <a:pt x="12982194" y="70485"/>
                    <a:pt x="12924155" y="12700"/>
                    <a:pt x="12852400" y="12700"/>
                  </a:cubicBezTo>
                  <a:lnTo>
                    <a:pt x="142367" y="12700"/>
                  </a:lnTo>
                  <a:lnTo>
                    <a:pt x="142367" y="6350"/>
                  </a:lnTo>
                  <a:lnTo>
                    <a:pt x="142367" y="12700"/>
                  </a:lnTo>
                  <a:cubicBezTo>
                    <a:pt x="70739" y="12700"/>
                    <a:pt x="12700" y="70485"/>
                    <a:pt x="12700" y="141859"/>
                  </a:cubicBezTo>
                  <a:close/>
                </a:path>
              </a:pathLst>
            </a:custGeom>
            <a:solidFill>
              <a:srgbClr val="8D2424"/>
            </a:solidFill>
          </p:spPr>
        </p:sp>
      </p:grpSp>
      <p:sp>
        <p:nvSpPr>
          <p:cNvPr id="22" name="TextBox 22"/>
          <p:cNvSpPr txBox="1"/>
          <p:nvPr/>
        </p:nvSpPr>
        <p:spPr>
          <a:xfrm>
            <a:off x="1098052" y="5704436"/>
            <a:ext cx="6445748" cy="374654"/>
          </a:xfrm>
          <a:prstGeom prst="rect">
            <a:avLst/>
          </a:prstGeom>
        </p:spPr>
        <p:txBody>
          <a:bodyPr wrap="square" lIns="0" tIns="0" rIns="0" bIns="0" rtlCol="0" anchor="t">
            <a:spAutoFit/>
          </a:bodyPr>
          <a:lstStyle/>
          <a:p>
            <a:pPr algn="l">
              <a:lnSpc>
                <a:spcPts val="3124"/>
              </a:lnSpc>
            </a:pPr>
            <a:r>
              <a:rPr lang="en-US" sz="2499" dirty="0">
                <a:solidFill>
                  <a:srgbClr val="FFE5E5"/>
                </a:solidFill>
                <a:latin typeface="Dela Gothic One"/>
                <a:ea typeface="Dela Gothic One"/>
                <a:cs typeface="Dela Gothic One"/>
                <a:sym typeface="Dela Gothic One"/>
              </a:rPr>
              <a:t>Accountability Requires Power</a:t>
            </a:r>
          </a:p>
        </p:txBody>
      </p:sp>
      <p:sp>
        <p:nvSpPr>
          <p:cNvPr id="23" name="TextBox 23"/>
          <p:cNvSpPr txBox="1"/>
          <p:nvPr/>
        </p:nvSpPr>
        <p:spPr>
          <a:xfrm>
            <a:off x="1098052" y="6184259"/>
            <a:ext cx="9233897" cy="789984"/>
          </a:xfrm>
          <a:prstGeom prst="rect">
            <a:avLst/>
          </a:prstGeom>
        </p:spPr>
        <p:txBody>
          <a:bodyPr lIns="0" tIns="0" rIns="0" bIns="0" rtlCol="0" anchor="t">
            <a:spAutoFit/>
          </a:bodyPr>
          <a:lstStyle/>
          <a:p>
            <a:pPr algn="l">
              <a:lnSpc>
                <a:spcPts val="2874"/>
              </a:lnSpc>
            </a:pPr>
            <a:r>
              <a:rPr lang="en-US" sz="1874" dirty="0">
                <a:solidFill>
                  <a:srgbClr val="FFE5E5"/>
                </a:solidFill>
                <a:latin typeface="DM Sans"/>
                <a:ea typeface="DM Sans"/>
                <a:cs typeface="DM Sans"/>
                <a:sym typeface="DM Sans"/>
              </a:rPr>
              <a:t>Explanations alone don't guarantee accountability. Decision-makers need authority, knowledge, and support to meaningfully challenge algorithms.</a:t>
            </a:r>
          </a:p>
        </p:txBody>
      </p:sp>
      <p:sp>
        <p:nvSpPr>
          <p:cNvPr id="24" name="TextBox 24"/>
          <p:cNvSpPr txBox="1"/>
          <p:nvPr/>
        </p:nvSpPr>
        <p:spPr>
          <a:xfrm>
            <a:off x="1209523" y="7654528"/>
            <a:ext cx="9373791" cy="1156392"/>
          </a:xfrm>
          <a:prstGeom prst="rect">
            <a:avLst/>
          </a:prstGeom>
        </p:spPr>
        <p:txBody>
          <a:bodyPr lIns="0" tIns="0" rIns="0" bIns="0" rtlCol="0" anchor="t">
            <a:spAutoFit/>
          </a:bodyPr>
          <a:lstStyle/>
          <a:p>
            <a:pPr algn="l">
              <a:lnSpc>
                <a:spcPts val="2874"/>
              </a:lnSpc>
            </a:pPr>
            <a:r>
              <a:rPr lang="en-US" sz="1874" b="1">
                <a:solidFill>
                  <a:srgbClr val="FFE5E5"/>
                </a:solidFill>
                <a:latin typeface="DM Sans Bold"/>
                <a:ea typeface="DM Sans Bold"/>
                <a:cs typeface="DM Sans Bold"/>
                <a:sym typeface="DM Sans Bold"/>
              </a:rPr>
              <a:t>AI in criminal justice cannot rely on proprietary algorithms. Transparency and interpretability must be legally mandated prerequisites rather than optional features.</a:t>
            </a:r>
          </a:p>
        </p:txBody>
      </p:sp>
      <p:grpSp>
        <p:nvGrpSpPr>
          <p:cNvPr id="25" name="Group 25"/>
          <p:cNvGrpSpPr/>
          <p:nvPr/>
        </p:nvGrpSpPr>
        <p:grpSpPr>
          <a:xfrm>
            <a:off x="846687" y="7468638"/>
            <a:ext cx="28575" cy="1585322"/>
            <a:chOff x="0" y="0"/>
            <a:chExt cx="38100" cy="2113763"/>
          </a:xfrm>
        </p:grpSpPr>
        <p:sp>
          <p:nvSpPr>
            <p:cNvPr id="26" name="Freeform 26"/>
            <p:cNvSpPr/>
            <p:nvPr/>
          </p:nvSpPr>
          <p:spPr>
            <a:xfrm>
              <a:off x="0" y="0"/>
              <a:ext cx="38100" cy="2113788"/>
            </a:xfrm>
            <a:custGeom>
              <a:avLst/>
              <a:gdLst/>
              <a:ahLst/>
              <a:cxnLst/>
              <a:rect l="l" t="t" r="r" b="b"/>
              <a:pathLst>
                <a:path w="38100" h="2113788">
                  <a:moveTo>
                    <a:pt x="0" y="0"/>
                  </a:moveTo>
                  <a:lnTo>
                    <a:pt x="38100" y="0"/>
                  </a:lnTo>
                  <a:lnTo>
                    <a:pt x="38100" y="2113788"/>
                  </a:lnTo>
                  <a:lnTo>
                    <a:pt x="0" y="2113788"/>
                  </a:lnTo>
                  <a:close/>
                </a:path>
              </a:pathLst>
            </a:custGeom>
            <a:solidFill>
              <a:srgbClr val="C91313"/>
            </a:solid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858</Words>
  <Application>Microsoft Office PowerPoint</Application>
  <PresentationFormat>Custom</PresentationFormat>
  <Paragraphs>128</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DM Sans</vt:lpstr>
      <vt:lpstr>Calibri</vt:lpstr>
      <vt:lpstr>DM Sans Bold</vt:lpstr>
      <vt:lpstr>Dela Gothic One</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The-COMPAS-Recidivism-Algorithm.pptx</dc:title>
  <cp:lastModifiedBy>Aaryan Sharma</cp:lastModifiedBy>
  <cp:revision>2</cp:revision>
  <dcterms:created xsi:type="dcterms:W3CDTF">2006-08-16T00:00:00Z</dcterms:created>
  <dcterms:modified xsi:type="dcterms:W3CDTF">2026-03-02T17:38:12Z</dcterms:modified>
  <dc:identifier>DAHC0SKs6yM</dc:identifier>
</cp:coreProperties>
</file>