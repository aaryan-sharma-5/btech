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embeddedFontLst>
    <p:embeddedFont>
      <p:font typeface="Marcellus"/>
      <p:regular r:id="rId34"/>
    </p:embeddedFont>
    <p:embeddedFont>
      <p:font typeface="Fira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vylVii58cXf/Q6t3K2Aw6c4eg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C63336-4840-4636-81EA-05B013CC43CC}">
  <a:tblStyle styleId="{41C63336-4840-4636-81EA-05B013CC43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FiraSans-regular.fntdata"/><Relationship Id="rId12" Type="http://schemas.openxmlformats.org/officeDocument/2006/relationships/slide" Target="slides/slide6.xml"/><Relationship Id="rId34" Type="http://schemas.openxmlformats.org/officeDocument/2006/relationships/font" Target="fonts/Marcellus-regular.fntdata"/><Relationship Id="rId15" Type="http://schemas.openxmlformats.org/officeDocument/2006/relationships/slide" Target="slides/slide9.xml"/><Relationship Id="rId37" Type="http://schemas.openxmlformats.org/officeDocument/2006/relationships/font" Target="fonts/FiraSans-italic.fntdata"/><Relationship Id="rId14" Type="http://schemas.openxmlformats.org/officeDocument/2006/relationships/slide" Target="slides/slide8.xml"/><Relationship Id="rId36" Type="http://schemas.openxmlformats.org/officeDocument/2006/relationships/font" Target="fonts/Fira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Fira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29"/>
          <p:cNvSpPr txBox="1"/>
          <p:nvPr>
            <p:ph idx="1" type="subTitle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b="0" i="0" sz="3600" u="none" cap="none" strike="noStrik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b="0" i="0" sz="3600" u="none" cap="none" strike="noStrik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728983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35"/>
          <p:cNvSpPr txBox="1"/>
          <p:nvPr>
            <p:ph idx="1" type="body"/>
          </p:nvPr>
        </p:nvSpPr>
        <p:spPr>
          <a:xfrm>
            <a:off x="681575" y="1606006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35"/>
          <p:cNvSpPr txBox="1"/>
          <p:nvPr>
            <p:ph idx="2" type="body"/>
          </p:nvPr>
        </p:nvSpPr>
        <p:spPr>
          <a:xfrm>
            <a:off x="803704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5"/>
          <p:cNvSpPr txBox="1"/>
          <p:nvPr>
            <p:ph idx="3" type="body"/>
          </p:nvPr>
        </p:nvSpPr>
        <p:spPr>
          <a:xfrm>
            <a:off x="4803013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35"/>
          <p:cNvSpPr txBox="1"/>
          <p:nvPr>
            <p:ph idx="4" type="body"/>
          </p:nvPr>
        </p:nvSpPr>
        <p:spPr>
          <a:xfrm>
            <a:off x="4803013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3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4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8" name="Google Shape;88;p4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4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p44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4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4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/>
        </p:nvSpPr>
        <p:spPr>
          <a:xfrm>
            <a:off x="1148443" y="294320"/>
            <a:ext cx="6847115" cy="7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8"/>
          <p:cNvSpPr txBox="1"/>
          <p:nvPr/>
        </p:nvSpPr>
        <p:spPr>
          <a:xfrm>
            <a:off x="324390" y="6373654"/>
            <a:ext cx="1455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7/13/2025</a:t>
            </a:r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28"/>
          <p:cNvSpPr txBox="1"/>
          <p:nvPr/>
        </p:nvSpPr>
        <p:spPr>
          <a:xfrm>
            <a:off x="8240198" y="6347051"/>
            <a:ext cx="6014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173929" y="524443"/>
            <a:ext cx="15020" cy="5873873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28"/>
          <p:cNvCxnSpPr/>
          <p:nvPr/>
        </p:nvCxnSpPr>
        <p:spPr>
          <a:xfrm>
            <a:off x="8958782" y="135448"/>
            <a:ext cx="14374" cy="610095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28"/>
          <p:cNvCxnSpPr/>
          <p:nvPr/>
        </p:nvCxnSpPr>
        <p:spPr>
          <a:xfrm>
            <a:off x="429274" y="135448"/>
            <a:ext cx="8536694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28"/>
          <p:cNvCxnSpPr/>
          <p:nvPr/>
        </p:nvCxnSpPr>
        <p:spPr>
          <a:xfrm flipH="1" rot="-5400000">
            <a:off x="162549" y="6424715"/>
            <a:ext cx="293100" cy="24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8"/>
          <p:cNvCxnSpPr/>
          <p:nvPr/>
        </p:nvCxnSpPr>
        <p:spPr>
          <a:xfrm rot="5400000">
            <a:off x="8611957" y="6330007"/>
            <a:ext cx="454800" cy="267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" name="Google Shape;18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4" y="135448"/>
            <a:ext cx="425219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9588" y="135448"/>
            <a:ext cx="153343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" name="Google Shape;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645" y="6043825"/>
            <a:ext cx="651512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1" name="Google Shape;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" y="6214968"/>
            <a:ext cx="1991676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987623" y="3550281"/>
            <a:ext cx="385984" cy="628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5093663" y="3283949"/>
            <a:ext cx="173904" cy="62820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watimali@gmail.com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soonline.com/article/2130877/the-biggest-data-breaches-of-the-21st-century.html" TargetMode="External"/><Relationship Id="rId4" Type="http://schemas.openxmlformats.org/officeDocument/2006/relationships/hyperlink" Target="https://www.csoonline.com/article/2130877/the-biggest-data-breaches-of-the-21st-century.html" TargetMode="External"/><Relationship Id="rId5" Type="http://schemas.openxmlformats.org/officeDocument/2006/relationships/hyperlink" Target="https://www.ekransystem.com/en/blog/real-life-exam" TargetMode="External"/><Relationship Id="rId6" Type="http://schemas.openxmlformats.org/officeDocument/2006/relationships/hyperlink" Target="https://firewalltimes.com/netflix-data-breach-timeline/" TargetMode="External"/><Relationship Id="rId7" Type="http://schemas.openxmlformats.org/officeDocument/2006/relationships/hyperlink" Target="https://www.upguard.com/blog/biggest-data-breaches-u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1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ctrTitle"/>
          </p:nvPr>
        </p:nvSpPr>
        <p:spPr>
          <a:xfrm>
            <a:off x="755576" y="66611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Applied Cryptography</a:t>
            </a:r>
            <a:br>
              <a:rPr lang="en-US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5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1115616" y="3676315"/>
            <a:ext cx="7734334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Ms. Swati Mali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B-215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swatimali@gmail.com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Assistant Professor,  Department of Computer Engineering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K. J. Somaiya School of Engineering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Somaiya Vidyavihar University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0" name="Google Shape;11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930" y="2219"/>
            <a:ext cx="1991676" cy="66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The Enigma Machine &amp; World War II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</a:t>
            </a:r>
            <a:r>
              <a:rPr lang="en-US"/>
              <a:t>: breaking Germany’s Enigma cipher shortened WWII by ~2 years and saved millions of lives.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</a:t>
            </a:r>
            <a:r>
              <a:rPr lang="en-US"/>
              <a:t>: Demonstrates the life-or-death impact of cryptography.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Weak crypto = catastrophic consequences.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The Zimmerman Telegram (World War I)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</a:t>
            </a:r>
            <a:r>
              <a:rPr lang="en-US"/>
              <a:t>: A decrypted German diplomatic message that brought the US into WWI.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</a:t>
            </a:r>
            <a:r>
              <a:rPr lang="en-US"/>
              <a:t>: Cryptanalysis changed the course of history.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Cryptography influences global politics.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Edward Snowden &amp; NSA Surveillance Leaks (2013)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Snowden revealed global surveillance programs exploiting encryption weaknesses.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</a:t>
            </a:r>
            <a:r>
              <a:rPr lang="en-US"/>
              <a:t>: Exposed how government agencies break or bypass cryptography to gather intelligence.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Privacy vs. surveillance, trust in cryptographic systems.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The FBI vs. Apple Encryption Dispute (San Bernardino Case)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FBI demanded Apple unlock an iPhone; Apple refused citing global security concerns.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</a:t>
            </a:r>
            <a:r>
              <a:rPr lang="en-US"/>
              <a:t>: Raised ethical, technical, and legal debates on encryption backdoors.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Security vs. law enforcement access.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Stuxnet Malware (Cyber-Warfare)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Cyberattack on Iran’s nuclear program using forged digital certificates and exploits.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</a:t>
            </a:r>
            <a:r>
              <a:rPr lang="en-US"/>
              <a:t>: A sophisticated example of cryptography in cyber-warfare.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Cryptographic trust abused in malware delivery.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Gerard Cotten / QuadrigaCX Mystery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Gerard Cotten, CEO of QuadrigaCX, Canada's largest crypto exchange, allegedly died in 2018. He was the </a:t>
            </a:r>
            <a:r>
              <a:rPr b="1" lang="en-US"/>
              <a:t>only person with access to the private keys</a:t>
            </a:r>
            <a:r>
              <a:rPr lang="en-US"/>
              <a:t> securing ~$190 million in cryptocurrency. No keys, no access — money gone.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Lesson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Importance of </a:t>
            </a:r>
            <a:r>
              <a:rPr b="1" lang="en-US"/>
              <a:t>key management policies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Cryptography isn’t enough without governance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Systems fail not just technically, but operationally.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KGB Deep Infiltration into the US (The Americans, Real Basis)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Soviet spies (Illegals Program) embedded deep into American life, using covert communication techniques including </a:t>
            </a:r>
            <a:r>
              <a:rPr b="1" lang="en-US"/>
              <a:t>one-time pads</a:t>
            </a:r>
            <a:r>
              <a:rPr lang="en-US"/>
              <a:t>, </a:t>
            </a:r>
            <a:r>
              <a:rPr b="1" lang="en-US"/>
              <a:t>dead drops</a:t>
            </a:r>
            <a:r>
              <a:rPr lang="en-US"/>
              <a:t>, and </a:t>
            </a:r>
            <a:r>
              <a:rPr b="1" lang="en-US"/>
              <a:t>coded messages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Lesson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Cryptography is central to espionage (communications security)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Weaknesses aren’t always technical — sometimes social.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Cryptography as an enabler of covert operations.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Gillette Trade Secret Theft During Razor Launch (Corporate Espionage)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In 1997, an engineer leaked confidential designs for Gillette's upcoming razor to competitors. The breach was detected when emails were found, but the intent was to </a:t>
            </a:r>
            <a:r>
              <a:rPr b="1" lang="en-US"/>
              <a:t>sell competitive advantage through stolen information.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Lesson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Protecting data at rest and in transit (encryption, DLP systems)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Insider threats can bypass crypto if access controls fail.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Corporate security relies on cryptography and policies.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Pepsi vs Coca-Cola: Espionage Thwarted by Encryption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Story</a:t>
            </a:r>
            <a:r>
              <a:rPr lang="en-US"/>
              <a:t>: In 2006, Coca-Cola employees tried to sell trade secrets (including new formula details) to Pepsi. Pepsi reported them to the FBI instead. Some of the leaked material included </a:t>
            </a:r>
            <a:r>
              <a:rPr b="1" lang="en-US"/>
              <a:t>protected corporate information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Lesson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Encryption in business is critical to protecting IP.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Ethical responses to corporate espionage matter.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Corporate trust relies on protecting secrets cryptographically.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Applied Cryptography and real world</a:t>
            </a:r>
            <a:endParaRPr/>
          </a:p>
        </p:txBody>
      </p:sp>
      <p:sp>
        <p:nvSpPr>
          <p:cNvPr id="170" name="Google Shape;170;p11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Corporate Espionage and Encryption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b="1" lang="en-US"/>
              <a:t>Volkswagen vs. GM</a:t>
            </a:r>
            <a:r>
              <a:rPr lang="en-US"/>
              <a:t>: Alleged theft of car designs through insider leaks.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b="1" lang="en-US"/>
              <a:t>Samsung vs. Apple</a:t>
            </a:r>
            <a:r>
              <a:rPr lang="en-US"/>
              <a:t>: IP theft claims involving trade secrets.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Modern espionage includes planting malware to extract encrypted files.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Lesson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Encryption prevents easy data leaks.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Char char="o"/>
            </a:pPr>
            <a:r>
              <a:rPr lang="en-US"/>
              <a:t>Insider threats need cryptography </a:t>
            </a:r>
            <a:r>
              <a:rPr i="1" lang="en-US"/>
              <a:t>plus controls</a:t>
            </a:r>
            <a:r>
              <a:rPr lang="en-US"/>
              <a:t> (e.g., PKI, MFA, audit logs).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Emphasis</a:t>
            </a:r>
            <a:r>
              <a:rPr lang="en-US"/>
              <a:t>: Real-world economic impact of weak cryptographic protection.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Lesson?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“</a:t>
            </a:r>
            <a:r>
              <a:rPr b="1" i="1" lang="en-US">
                <a:solidFill>
                  <a:srgbClr val="2F5496"/>
                </a:solidFill>
              </a:rPr>
              <a:t>Behind every major theft, betrayal, and billion-dollar mistake, you'll often find either broken cryptography or broken trust in cryptography. Both are your responsibility as future engineers.”</a:t>
            </a:r>
            <a:endParaRPr b="1" i="1">
              <a:solidFill>
                <a:srgbClr val="2F549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Marcellus"/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Why</a:t>
            </a:r>
            <a:r>
              <a:rPr lang="en-US"/>
              <a:t>?</a:t>
            </a:r>
            <a:endParaRPr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Cryptography &amp;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Keeps your information safe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Helps keep your reputation clean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Gives you a competitive edge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Saves on support and development costs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Security violation Examples?</a:t>
            </a:r>
            <a:endParaRPr/>
          </a:p>
        </p:txBody>
      </p:sp>
      <p:sp>
        <p:nvSpPr>
          <p:cNvPr id="190" name="Google Shape;190;p14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https://www.livemint.com/news/trends/upset-with-termination-indian-national-deletes-data-worth-rs-5-6-crore-from-singapore-company-server-11718439829899.html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https://www.csoonline.com/article/2130877/the-biggest-data-breaches-of-the-21st-century.html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https://www.ekransystem.com/en/blog/real-life-exam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https://firewalltimes.com/netflix-data-breach-timeline/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https://www.upguard.com/blog/biggest-data-breaches-us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https://www.wired.com/2012/08/apple-amazon-mat-honan-hacking/</a:t>
            </a:r>
            <a:endParaRPr/>
          </a:p>
          <a:p>
            <a:pPr indent="-121285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121285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Popular story</a:t>
            </a:r>
            <a:endParaRPr/>
          </a:p>
        </p:txBody>
      </p:sp>
      <p:pic>
        <p:nvPicPr>
          <p:cNvPr id="198" name="Google Shape;19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437" y="764704"/>
            <a:ext cx="4274233" cy="3384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lian Assange | Biography, WikiLeaks, Extradition, Release, &amp; Facts |  Britannica"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016" y="3010540"/>
            <a:ext cx="4176464" cy="321848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1979712" y="6334780"/>
            <a:ext cx="52220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 pic source- newsweek.com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 pic source- https://www.britannica.com/biography/Julian-Assange</a:t>
            </a:r>
            <a:endParaRPr/>
          </a:p>
        </p:txBody>
      </p:sp>
      <p:sp>
        <p:nvSpPr>
          <p:cNvPr id="201" name="Google Shape;201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Forms of security?</a:t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Data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Programming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Network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OS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Database security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0" name="Google Shape;21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Security at a glance</a:t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How can you make yourself secure?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How can you break other’s security?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Combination of both!!</a:t>
            </a:r>
            <a:endParaRPr/>
          </a:p>
        </p:txBody>
      </p:sp>
      <p:sp>
        <p:nvSpPr>
          <p:cNvPr id="217" name="Google Shape;217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8" name="Google Shape;218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How to make/break secure systems?</a:t>
            </a:r>
            <a:endParaRPr/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450" y="836712"/>
            <a:ext cx="24955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>
            <p:ph type="title"/>
          </p:nvPr>
        </p:nvSpPr>
        <p:spPr>
          <a:xfrm>
            <a:off x="817323" y="214817"/>
            <a:ext cx="785913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1. Mathematical concepts</a:t>
            </a:r>
            <a:endParaRPr/>
          </a:p>
        </p:txBody>
      </p:sp>
      <p:sp>
        <p:nvSpPr>
          <p:cNvPr id="231" name="Google Shape;231;p19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Number Theory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Security Algorithms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3" name="Google Shape;233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229" y="3798987"/>
            <a:ext cx="4036219" cy="232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C00000"/>
                </a:solidFill>
              </a:rPr>
              <a:t>How to make/break secure systems?</a:t>
            </a:r>
            <a:endParaRPr/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Programming carefully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Using various layers/forms of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Obfuscation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Look for weaknesses and attack them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2" name="Google Shape;242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248" name="Google Shape;248;p21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0" name="Google Shape;250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713729" y="188640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Lab work</a:t>
            </a:r>
            <a:endParaRPr/>
          </a:p>
        </p:txBody>
      </p:sp>
      <p:sp>
        <p:nvSpPr>
          <p:cNvPr id="256" name="Google Shape;256;p22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4" name="Google Shape;26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2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Lab CA breakup</a:t>
            </a:r>
            <a:endParaRPr/>
          </a:p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Lab experiments – 25 Marks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Lab CA components – 20 (10 marks each)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Theory and Lab attendance- 5 Marks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Internal assessments</a:t>
            </a:r>
            <a:endParaRPr/>
          </a:p>
        </p:txBody>
      </p:sp>
      <p:sp>
        <p:nvSpPr>
          <p:cNvPr id="272" name="Google Shape;272;p24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IA1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Cryptanalysis test- in classroom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Group assignment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Aug 19,2025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IA 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 Protocol Design and authentication mechanism for secure data transmission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Group assignment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Open book, internet will be disconnected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Post ISE, on  Sept 23,2025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IA2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Case study Analysis to discover cryptographic techniques used, vulnerabilities, MOMs, attacks. Suggest controls.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Group assignment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Open book, internet will be disconnected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Nov 04,2025</a:t>
            </a:r>
            <a:endParaRPr/>
          </a:p>
        </p:txBody>
      </p:sp>
      <p:sp>
        <p:nvSpPr>
          <p:cNvPr id="273" name="Google Shape;273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4" name="Google Shape;274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Books</a:t>
            </a:r>
            <a:endParaRPr/>
          </a:p>
        </p:txBody>
      </p:sp>
      <p:pic>
        <p:nvPicPr>
          <p:cNvPr id="280" name="Google Shape;28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119790"/>
            <a:ext cx="2618473" cy="3534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Computer Security: Principles and Practice Book Online at Low Prices in  India | Computer Security: Principles and Practice Reviews &amp; Ratings -  Amazon.in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3887" y="1114404"/>
            <a:ext cx="2415267" cy="3538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ed Cryptography: Protocols, Algorithms and Source Code in C, 20th  Anniversary Edition | Wiley" id="282" name="Google Shape;2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378" y="1118397"/>
            <a:ext cx="28575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4" name="Google Shape;284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Course Outcomes</a:t>
            </a:r>
            <a:endParaRPr/>
          </a:p>
        </p:txBody>
      </p:sp>
      <p:sp>
        <p:nvSpPr>
          <p:cNvPr id="290" name="Google Shape;290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1" name="Google Shape;291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292" name="Google Shape;292;p26"/>
          <p:cNvGraphicFramePr/>
          <p:nvPr/>
        </p:nvGraphicFramePr>
        <p:xfrm>
          <a:off x="611560" y="184482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{41C63336-4840-4636-81EA-05B013CC43CC}</a:tableStyleId>
              </a:tblPr>
              <a:tblGrid>
                <a:gridCol w="8208900"/>
              </a:tblGrid>
              <a:tr h="75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CO1:  Discuss fundamentals of cryptography and classical attacks on security goals</a:t>
                      </a:r>
                      <a:endParaRPr/>
                    </a:p>
                  </a:txBody>
                  <a:tcPr marT="0" marB="0" marR="68575" marL="68575"/>
                </a:tc>
              </a:tr>
              <a:tr h="75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CO2:  Implement various Cryptographic arithmetic algorithms for securing systems</a:t>
                      </a:r>
                      <a:endParaRPr/>
                    </a:p>
                  </a:txBody>
                  <a:tcPr marT="0" marB="0" marR="68575" marL="68575"/>
                </a:tc>
              </a:tr>
              <a:tr h="56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CO3:  Analyze and Implement Symmetric and ASymmetric Key Cryptography Algorithms</a:t>
                      </a:r>
                      <a:endParaRPr/>
                    </a:p>
                  </a:txBody>
                  <a:tcPr marT="0" marB="0" marR="68575" marL="68575"/>
                </a:tc>
              </a:tr>
              <a:tr h="84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CO4:  Understand Authentication Mechanisms and Evaluate Cryptographic Hash Functions</a:t>
                      </a:r>
                      <a:endParaRPr/>
                    </a:p>
                  </a:txBody>
                  <a:tcPr marT="0" marB="0" marR="68575" marL="68575"/>
                </a:tc>
              </a:tr>
              <a:tr h="56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CO5:  Explore and investigate advances in the field of cryptography</a:t>
                      </a:r>
                      <a:endParaRPr/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3033631" y="2967334"/>
            <a:ext cx="528278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9356"/>
                </a:solidFill>
                <a:latin typeface="Calibri"/>
                <a:ea typeface="Calibri"/>
                <a:cs typeface="Calibri"/>
                <a:sym typeface="Calibri"/>
              </a:rPr>
              <a:t>Questions? </a:t>
            </a:r>
            <a:endParaRPr b="1" sz="5400">
              <a:solidFill>
                <a:srgbClr val="FF9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Ms. Swati Mali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9" name="Google Shape;299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2021-02-11T03:47:51Z</dcterms:created>
  <dc:creator>Swati Mali</dc:creator>
</cp:coreProperties>
</file>