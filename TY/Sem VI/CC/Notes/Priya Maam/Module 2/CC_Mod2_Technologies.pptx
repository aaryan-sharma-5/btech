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6858000" cy="9144000"/>
  <p:embeddedFontLst>
    <p:embeddedFont>
      <p:font typeface="Marcellus SC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QpyyePVwH7De3BmrXxWp172yB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614D6D-1C40-4602-B716-DA1638E756CA}">
  <a:tblStyle styleId="{80614D6D-1C40-4602-B716-DA1638E756C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MarcellusSC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a787bc74_1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7a787bc74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b7a787bc74_1_2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afff51c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bafff51cc0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030fcbc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030fcb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b030fcbc9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b030fcbc9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b030fcbc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b030fcbc9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030fcbc9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b030fcbc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b030fcbc9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fff51cc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bafff51cc0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afff51cc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bafff51cc0_0_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afff51cc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bafff51cc0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afff51cc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bafff51cc0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7b2301977_1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b7b2301977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b7b2301977_1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afff51cc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bafff51cc0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afff51cc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bafff51cc0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afff51cc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bafff51cc0_0_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afff51cc0_0_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afff51cc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bafff51cc0_0_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afff51cc0_0_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bafff51cc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bafff51cc0_0_1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b030fcbc9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b030fcbc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b030fcbc9_0_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b030fcbc9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b030fcbc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b030fcbc9_0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fff51cc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bafff51cc0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afff51cc0_0_1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bafff51cc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bafff51cc0_0_1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afff51cc0_0_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bafff51cc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bafff51cc0_0_1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afff51cc0_0_2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bafff51cc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bafff51cc0_0_2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b030fcbc9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bb030fcbc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bb030fcbc9_0_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b030fcbc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3bb030fcbc9_0_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b030fcbc9_0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b030fcbc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bb030fcbc9_0_1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b030fcbc9_0_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b030fcbc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bb030fcbc9_0_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b030fcbc9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b030fcbc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bb030fcbc9_0_1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b030fcbc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b030fcbc9_0_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b7a787bc74_1_6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7a787bc74_1_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b7a787bc74_1_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b7a787bc74_1_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b7a787bc74_1_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7a787bc74_1_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b7a787bc74_1_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b7a787bc74_1_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b7a787bc74_1_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b7a787bc74_1_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a787bc74_1_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b7a787bc74_1_7"/>
          <p:cNvSpPr txBox="1"/>
          <p:nvPr>
            <p:ph idx="1" type="body"/>
          </p:nvPr>
        </p:nvSpPr>
        <p:spPr>
          <a:xfrm rot="5400000">
            <a:off x="2309400" y="-251700"/>
            <a:ext cx="4525500" cy="8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b7a787bc74_1_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3b7a787bc74_1_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g3b7a787bc74_1_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7a787bc74_1_13"/>
          <p:cNvSpPr txBox="1"/>
          <p:nvPr>
            <p:ph type="title"/>
          </p:nvPr>
        </p:nvSpPr>
        <p:spPr>
          <a:xfrm rot="5400000">
            <a:off x="4732470" y="2171550"/>
            <a:ext cx="58512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b7a787bc74_1_13"/>
          <p:cNvSpPr txBox="1"/>
          <p:nvPr>
            <p:ph idx="1" type="body"/>
          </p:nvPr>
        </p:nvSpPr>
        <p:spPr>
          <a:xfrm rot="5400000">
            <a:off x="541770" y="190170"/>
            <a:ext cx="58512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b7a787bc74_1_13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3b7a787bc74_1_13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g3b7a787bc74_1_1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a787bc74_1_19"/>
          <p:cNvSpPr txBox="1"/>
          <p:nvPr>
            <p:ph type="title"/>
          </p:nvPr>
        </p:nvSpPr>
        <p:spPr>
          <a:xfrm>
            <a:off x="685800" y="2130480"/>
            <a:ext cx="77721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b7a787bc74_1_1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g3b7a787bc74_1_1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3b7a787bc74_1_1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7a787bc74_1_24"/>
          <p:cNvSpPr txBox="1"/>
          <p:nvPr>
            <p:ph type="title"/>
          </p:nvPr>
        </p:nvSpPr>
        <p:spPr>
          <a:xfrm>
            <a:off x="722160" y="4406760"/>
            <a:ext cx="7772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b7a787bc74_1_24"/>
          <p:cNvSpPr txBox="1"/>
          <p:nvPr>
            <p:ph idx="1" type="body"/>
          </p:nvPr>
        </p:nvSpPr>
        <p:spPr>
          <a:xfrm>
            <a:off x="722160" y="2906640"/>
            <a:ext cx="77721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3b7a787bc74_1_2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g3b7a787bc74_1_2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b7a787bc74_1_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7a787bc74_1_3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b7a787bc74_1_30"/>
          <p:cNvSpPr txBox="1"/>
          <p:nvPr>
            <p:ph idx="1" type="body"/>
          </p:nvPr>
        </p:nvSpPr>
        <p:spPr>
          <a:xfrm>
            <a:off x="45720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b7a787bc74_1_30"/>
          <p:cNvSpPr txBox="1"/>
          <p:nvPr>
            <p:ph idx="2" type="body"/>
          </p:nvPr>
        </p:nvSpPr>
        <p:spPr>
          <a:xfrm>
            <a:off x="464832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b7a787bc74_1_30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b7a787bc74_1_30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b7a787bc74_1_3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7a787bc74_1_3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b7a787bc74_1_37"/>
          <p:cNvSpPr txBox="1"/>
          <p:nvPr>
            <p:ph idx="1" type="body"/>
          </p:nvPr>
        </p:nvSpPr>
        <p:spPr>
          <a:xfrm>
            <a:off x="457200" y="1535040"/>
            <a:ext cx="4039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g3b7a787bc74_1_37"/>
          <p:cNvSpPr txBox="1"/>
          <p:nvPr>
            <p:ph idx="2" type="body"/>
          </p:nvPr>
        </p:nvSpPr>
        <p:spPr>
          <a:xfrm>
            <a:off x="457200" y="2174760"/>
            <a:ext cx="40398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b7a787bc74_1_37"/>
          <p:cNvSpPr txBox="1"/>
          <p:nvPr>
            <p:ph idx="3" type="body"/>
          </p:nvPr>
        </p:nvSpPr>
        <p:spPr>
          <a:xfrm>
            <a:off x="4645080" y="1535040"/>
            <a:ext cx="4041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b7a787bc74_1_37"/>
          <p:cNvSpPr txBox="1"/>
          <p:nvPr>
            <p:ph idx="4" type="body"/>
          </p:nvPr>
        </p:nvSpPr>
        <p:spPr>
          <a:xfrm>
            <a:off x="4645080" y="2174760"/>
            <a:ext cx="40413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b7a787bc74_1_3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b7a787bc74_1_3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b7a787bc74_1_3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a787bc74_1_46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b7a787bc74_1_46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b7a787bc74_1_46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b7a787bc74_1_4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7a787bc74_1_5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b7a787bc74_1_5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3b7a787bc74_1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a787bc74_1_55"/>
          <p:cNvSpPr txBox="1"/>
          <p:nvPr>
            <p:ph type="title"/>
          </p:nvPr>
        </p:nvSpPr>
        <p:spPr>
          <a:xfrm>
            <a:off x="457200" y="272880"/>
            <a:ext cx="3007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b7a787bc74_1_55"/>
          <p:cNvSpPr txBox="1"/>
          <p:nvPr>
            <p:ph idx="1" type="body"/>
          </p:nvPr>
        </p:nvSpPr>
        <p:spPr>
          <a:xfrm>
            <a:off x="3575160" y="272880"/>
            <a:ext cx="51114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b7a787bc74_1_55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b7a787bc74_1_5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b7a787bc74_1_5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b7a787bc74_1_5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a787bc74_1_62"/>
          <p:cNvSpPr txBox="1"/>
          <p:nvPr>
            <p:ph type="title"/>
          </p:nvPr>
        </p:nvSpPr>
        <p:spPr>
          <a:xfrm>
            <a:off x="1792440" y="4800600"/>
            <a:ext cx="54861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b7a787bc74_1_62"/>
          <p:cNvSpPr txBox="1"/>
          <p:nvPr>
            <p:ph idx="1" type="body"/>
          </p:nvPr>
        </p:nvSpPr>
        <p:spPr>
          <a:xfrm>
            <a:off x="1792440" y="61272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g3b7a787bc74_1_62"/>
          <p:cNvSpPr txBox="1"/>
          <p:nvPr>
            <p:ph idx="2" type="body"/>
          </p:nvPr>
        </p:nvSpPr>
        <p:spPr>
          <a:xfrm>
            <a:off x="1792440" y="5367240"/>
            <a:ext cx="5486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b7a787bc74_1_6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b7a787bc74_1_6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b7a787bc74_1_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320" y="1440"/>
            <a:ext cx="568080" cy="68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0"/>
            <a:ext cx="209160" cy="54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520" y="5929560"/>
            <a:ext cx="3246120" cy="81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8760" y="5932800"/>
            <a:ext cx="968040" cy="7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061400" y="1850200"/>
            <a:ext cx="7625400" cy="158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3300">
            <a:spAutoFit/>
          </a:bodyPr>
          <a:lstStyle/>
          <a:p>
            <a:pPr indent="0" lvl="0" marL="1259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IN" sz="3400" u="none" cap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Module 2: Virtualization T</a:t>
            </a:r>
            <a:r>
              <a:rPr lang="en-IN" sz="3400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echnologies</a:t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7425" y="3331029"/>
            <a:ext cx="4507975" cy="1730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a787bc74_1_2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2" name="Google Shape;102;g3b7a787bc74_1_22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7a787bc74_1_220"/>
          <p:cNvSpPr/>
          <p:nvPr/>
        </p:nvSpPr>
        <p:spPr>
          <a:xfrm>
            <a:off x="521250" y="1639850"/>
            <a:ext cx="8067900" cy="334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Introduction, Characteristics of Virtualized Environments, Taxonomy of Virtualization Techniques, Virtualization and Cloud Computing, Pros and Cons of Virtualization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Technology Examples: Xen: Para virtualization, VMware: Full Virtualization, Microsoft Hyper-V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2.3 Cloud Computing Architecture : Cloud Reference Model, Types of Clouds, Economics of the Cloud, Open Challenges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09" name="Google Shape;109;p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0" name="Google Shape;110;p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3" name="Google Shape;11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4" name="Google Shape;11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 Hypervisor Classification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8618" y="1221125"/>
            <a:ext cx="7379095" cy="43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fff51cc0_0_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22" name="Google Shape;122;g3bafff51cc0_0_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3" name="Google Shape;123;g3bafff51cc0_0_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g3bafff51cc0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bafff51cc0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26" name="Google Shape;126;g3bafff51cc0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7" name="Google Shape;127;g3bafff51cc0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bafff51cc0_0_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 Hypervisor Classification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bafff51cc0_0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8100" y="1537150"/>
            <a:ext cx="7249625" cy="41467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030fcbc9_0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b030fcbc9_0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b030fcbc9_0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bb030fcbc9_0_0"/>
          <p:cNvSpPr txBox="1"/>
          <p:nvPr/>
        </p:nvSpPr>
        <p:spPr>
          <a:xfrm>
            <a:off x="5531700" y="3982000"/>
            <a:ext cx="3154800" cy="156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CPU scheduling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Memory management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Device drivers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I/O stack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39" name="Google Shape;139;g3bb030fcbc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75" y="172000"/>
            <a:ext cx="7219400" cy="360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b030fcbc9_0_13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b030fcbc9_0_13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b030fcbc9_0_1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g3bb030fcbc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825" y="274675"/>
            <a:ext cx="6868475" cy="344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g3bb030fcbc9_0_13"/>
          <p:cNvSpPr txBox="1"/>
          <p:nvPr/>
        </p:nvSpPr>
        <p:spPr>
          <a:xfrm>
            <a:off x="254725" y="4040100"/>
            <a:ext cx="5055300" cy="243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the hypervisor is </a:t>
            </a:r>
            <a:r>
              <a:rPr b="1" lang="en-IN" sz="1800">
                <a:solidFill>
                  <a:schemeClr val="dk1"/>
                </a:solidFill>
              </a:rPr>
              <a:t>very small</a:t>
            </a:r>
            <a:r>
              <a:rPr lang="en-IN" sz="1800">
                <a:solidFill>
                  <a:schemeClr val="dk1"/>
                </a:solidFill>
              </a:rPr>
              <a:t> and does only </a:t>
            </a:r>
            <a:r>
              <a:rPr b="1" lang="en-IN" sz="1800">
                <a:solidFill>
                  <a:schemeClr val="dk1"/>
                </a:solidFill>
              </a:rPr>
              <a:t>critical tasks</a:t>
            </a:r>
            <a:r>
              <a:rPr lang="en-I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CPU scheduling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Memory isolation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VM context switching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All </a:t>
            </a:r>
            <a:r>
              <a:rPr b="1" lang="en-IN" sz="1800">
                <a:solidFill>
                  <a:schemeClr val="dk1"/>
                </a:solidFill>
              </a:rPr>
              <a:t>drivers and I/O stacks are moved outside</a:t>
            </a:r>
            <a:r>
              <a:rPr lang="en-IN" sz="1800">
                <a:solidFill>
                  <a:schemeClr val="dk1"/>
                </a:solidFill>
              </a:rPr>
              <a:t> the hypervisor.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0" name="Google Shape;150;g3bb030fcbc9_0_13"/>
          <p:cNvSpPr txBox="1"/>
          <p:nvPr/>
        </p:nvSpPr>
        <p:spPr>
          <a:xfrm>
            <a:off x="5545175" y="3920100"/>
            <a:ext cx="3409500" cy="277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A special VM called the </a:t>
            </a:r>
            <a:r>
              <a:rPr b="1" lang="en-IN">
                <a:solidFill>
                  <a:schemeClr val="dk1"/>
                </a:solidFill>
              </a:rPr>
              <a:t>parent VM</a:t>
            </a:r>
            <a:r>
              <a:rPr lang="en-IN">
                <a:solidFill>
                  <a:schemeClr val="dk1"/>
                </a:solidFill>
              </a:rPr>
              <a:t> (or control domain) runs: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Device drivers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I/O stack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Management tools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Other VMs (</a:t>
            </a:r>
            <a:r>
              <a:rPr b="1" lang="en-IN">
                <a:solidFill>
                  <a:schemeClr val="dk1"/>
                </a:solidFill>
              </a:rPr>
              <a:t>child VMs</a:t>
            </a:r>
            <a:r>
              <a:rPr lang="en-IN">
                <a:solidFill>
                  <a:schemeClr val="dk1"/>
                </a:solidFill>
              </a:rPr>
              <a:t>) send I/O requests: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Child VM → Hypervisor → Parent VM → Hardware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g3bb030fcbc9_0_13"/>
          <p:cNvSpPr/>
          <p:nvPr/>
        </p:nvSpPr>
        <p:spPr>
          <a:xfrm>
            <a:off x="7317200" y="274675"/>
            <a:ext cx="2382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Microkernel</a:t>
            </a:r>
            <a:endParaRPr b="1" i="0" sz="2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b030fcbc9_0_2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bb030fcbc9_0_27"/>
          <p:cNvSpPr/>
          <p:nvPr/>
        </p:nvSpPr>
        <p:spPr>
          <a:xfrm>
            <a:off x="495588" y="-5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Monolithic vs Microkernel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g3bb030fcbc9_0_27"/>
          <p:cNvGraphicFramePr/>
          <p:nvPr/>
        </p:nvGraphicFramePr>
        <p:xfrm>
          <a:off x="383300" y="55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{80614D6D-1C40-4602-B716-DA1638E756CA}</a:tableStyleId>
              </a:tblPr>
              <a:tblGrid>
                <a:gridCol w="1846050"/>
                <a:gridCol w="3201400"/>
                <a:gridCol w="3329925"/>
              </a:tblGrid>
              <a:tr h="31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Parameter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Monolithic Hypervisor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Microkernelized Hypervisor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Hypervisor size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Large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Very small (thin hypervisor)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Device drivers location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Inside the hypervisor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In a separate </a:t>
                      </a:r>
                      <a:r>
                        <a:rPr b="1" lang="en-IN" sz="1600"/>
                        <a:t>parent VM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I/O stack location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Inside the hypervisor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Inside the parent VM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Virtualization stack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Part of hypervisor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Runs in parent VM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Security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Lower (large trusted code base)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Higher (smaller attack surface)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Fault isolation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Poor – driver failure may crash hypervisor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Better – driver failure isolated to parent VM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Performance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Higher I/O performance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Slight I/O overhead due to extra layer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Complexity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Simpler architecture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More complex architecture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Critical dependency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Hypervisor itself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Parent VM is critical for I/O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Typical use case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Performance-critical workloads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Security-sensitive environments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afff51cc0_0_16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65" name="Google Shape;165;g3bafff51cc0_0_16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66" name="Google Shape;166;g3bafff51cc0_0_1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g3bafff51cc0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bafff51cc0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69" name="Google Shape;169;g3bafff51cc0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0" name="Google Shape;170;g3bafff51cc0_0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bafff51cc0_0_16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Leading Hypervisors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bafff51cc0_0_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5737" y="1434425"/>
            <a:ext cx="7361763" cy="40414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afff51cc0_0_118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78" name="Google Shape;178;g3bafff51cc0_0_118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79" name="Google Shape;179;g3bafff51cc0_0_11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g3bafff51cc0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bafff51cc0_0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82" name="Google Shape;182;g3bafff51cc0_0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3" name="Google Shape;183;g3bafff51cc0_0_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bafff51cc0_0_118"/>
          <p:cNvSpPr/>
          <p:nvPr/>
        </p:nvSpPr>
        <p:spPr>
          <a:xfrm>
            <a:off x="478688" y="2875195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1- VMware ESX and ESXi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bafff51cc0_0_118"/>
          <p:cNvSpPr txBox="1"/>
          <p:nvPr/>
        </p:nvSpPr>
        <p:spPr>
          <a:xfrm>
            <a:off x="3213475" y="3585750"/>
            <a:ext cx="2703900" cy="553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1" lang="en-IN" sz="2600">
                <a:solidFill>
                  <a:srgbClr val="FF0000"/>
                </a:solidFill>
              </a:rPr>
              <a:t>Monolithic</a:t>
            </a:r>
            <a:endParaRPr i="1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afff51cc0_0_30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91" name="Google Shape;191;g3bafff51cc0_0_30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92" name="Google Shape;192;g3bafff51cc0_0_3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g3bafff51cc0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bafff51cc0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95" name="Google Shape;195;g3bafff51cc0_0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6" name="Google Shape;196;g3bafff51cc0_0_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bafff51cc0_0_3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1- VMware ESX and ESXi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bafff51cc0_0_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875" y="1265393"/>
            <a:ext cx="7802250" cy="42866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afff51cc0_0_43"/>
          <p:cNvSpPr/>
          <p:nvPr/>
        </p:nvSpPr>
        <p:spPr>
          <a:xfrm>
            <a:off x="533500" y="1097275"/>
            <a:ext cx="8283900" cy="4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afff51cc0_0_43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205" name="Google Shape;205;g3bafff51cc0_0_43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06" name="Google Shape;206;g3bafff51cc0_0_4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g3bafff51cc0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bafff51cc0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09" name="Google Shape;209;g3bafff51cc0_0_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0" name="Google Shape;210;g3bafff51cc0_0_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bafff51cc0_0_43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1- VMware ESX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bafff51cc0_0_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538" y="1386562"/>
            <a:ext cx="7828925" cy="413720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bafff51cc0_0_43"/>
          <p:cNvSpPr txBox="1"/>
          <p:nvPr/>
        </p:nvSpPr>
        <p:spPr>
          <a:xfrm>
            <a:off x="802800" y="5269200"/>
            <a:ext cx="7828800" cy="553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/>
              <a:t>HARDWARE</a:t>
            </a:r>
            <a:endParaRPr b="1" sz="1800"/>
          </a:p>
        </p:txBody>
      </p:sp>
      <p:sp>
        <p:nvSpPr>
          <p:cNvPr id="214" name="Google Shape;214;g3bafff51cc0_0_43"/>
          <p:cNvSpPr txBox="1"/>
          <p:nvPr/>
        </p:nvSpPr>
        <p:spPr>
          <a:xfrm>
            <a:off x="5307725" y="1195250"/>
            <a:ext cx="3000000" cy="83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A </a:t>
            </a:r>
            <a:r>
              <a:rPr b="1" lang="en-IN">
                <a:solidFill>
                  <a:schemeClr val="dk1"/>
                </a:solidFill>
              </a:rPr>
              <a:t>Linux-based management environment, </a:t>
            </a:r>
            <a:r>
              <a:rPr lang="en-IN">
                <a:solidFill>
                  <a:schemeClr val="dk1"/>
                </a:solidFill>
              </a:rPr>
              <a:t>Used only for </a:t>
            </a:r>
            <a:r>
              <a:rPr b="1" lang="en-IN">
                <a:solidFill>
                  <a:schemeClr val="dk1"/>
                </a:solidFill>
              </a:rPr>
              <a:t>administration &amp; monitoring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7b2301977_1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g3b7b2301977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b7b2301977_1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23" name="Google Shape;223;g3b7b2301977_1_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4" name="Google Shape;224;g3b7b2301977_1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b7b2301977_1_5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Type 1- VMware ESXi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3b7b2301977_1_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3425" y="1536750"/>
            <a:ext cx="7848175" cy="37439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afff51cc0_0_5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232" name="Google Shape;232;g3bafff51cc0_0_5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33" name="Google Shape;233;g3bafff51cc0_0_5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g3bafff51cc0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bafff51cc0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36" name="Google Shape;236;g3bafff51cc0_0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7" name="Google Shape;237;g3bafff51cc0_0_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bafff51cc0_0_57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1- VMware ESXi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bafff51cc0_0_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3450" y="1087325"/>
            <a:ext cx="7204275" cy="45093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afff51cc0_0_8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245" name="Google Shape;245;g3bafff51cc0_0_8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46" name="Google Shape;246;g3bafff51cc0_0_8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7" name="Google Shape;247;g3bafff51cc0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bafff51cc0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49" name="Google Shape;249;g3bafff51cc0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0" name="Google Shape;250;g3bafff51cc0_0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bafff51cc0_0_85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ESX and ESXi Differences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bafff51cc0_0_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301" y="1069939"/>
            <a:ext cx="7701424" cy="471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afff51cc0_0_13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258" name="Google Shape;258;g3bafff51cc0_0_13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59" name="Google Shape;259;g3bafff51cc0_0_13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0" name="Google Shape;260;g3bafff51cc0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bafff51cc0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62" name="Google Shape;262;g3bafff51cc0_0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3" name="Google Shape;263;g3bafff51cc0_0_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bafff51cc0_0_131"/>
          <p:cNvSpPr/>
          <p:nvPr/>
        </p:nvSpPr>
        <p:spPr>
          <a:xfrm>
            <a:off x="478675" y="1904545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1- Microsoft Hyper-V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bafff51cc0_0_131"/>
          <p:cNvSpPr txBox="1"/>
          <p:nvPr/>
        </p:nvSpPr>
        <p:spPr>
          <a:xfrm>
            <a:off x="1371038" y="2967300"/>
            <a:ext cx="6368100" cy="147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100">
                <a:solidFill>
                  <a:schemeClr val="dk1"/>
                </a:solidFill>
              </a:rPr>
              <a:t>Hyper-V is a </a:t>
            </a:r>
            <a:r>
              <a:rPr b="1" i="1" lang="en-IN" sz="2100">
                <a:solidFill>
                  <a:srgbClr val="FF0000"/>
                </a:solidFill>
              </a:rPr>
              <a:t>Type-1, microkernelized hypervisor </a:t>
            </a:r>
            <a:r>
              <a:rPr i="1" lang="en-IN" sz="2100">
                <a:solidFill>
                  <a:schemeClr val="dk1"/>
                </a:solidFill>
              </a:rPr>
              <a:t>where only a </a:t>
            </a:r>
            <a:r>
              <a:rPr b="1" i="1" lang="en-IN" sz="2100">
                <a:solidFill>
                  <a:srgbClr val="FF0000"/>
                </a:solidFill>
              </a:rPr>
              <a:t>small hypervisor</a:t>
            </a:r>
            <a:r>
              <a:rPr i="1" lang="en-IN" sz="2100">
                <a:solidFill>
                  <a:schemeClr val="dk1"/>
                </a:solidFill>
              </a:rPr>
              <a:t> runs on hardware, and </a:t>
            </a:r>
            <a:r>
              <a:rPr b="1" i="1" lang="en-IN" sz="2100">
                <a:solidFill>
                  <a:srgbClr val="FF0000"/>
                </a:solidFill>
              </a:rPr>
              <a:t>all device drivers + I/O stack </a:t>
            </a:r>
            <a:r>
              <a:rPr i="1" lang="en-IN" sz="2100">
                <a:solidFill>
                  <a:schemeClr val="dk1"/>
                </a:solidFill>
              </a:rPr>
              <a:t>live in a </a:t>
            </a:r>
            <a:r>
              <a:rPr b="1" i="1" lang="en-IN" sz="2100">
                <a:solidFill>
                  <a:srgbClr val="FF0000"/>
                </a:solidFill>
              </a:rPr>
              <a:t>special OS called the Root (Parent) Partition.</a:t>
            </a:r>
            <a:endParaRPr b="1" i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afff51cc0_0_14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g3bafff51cc0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bafff51cc0_0_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74" name="Google Shape;274;g3bafff51cc0_0_1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5" name="Google Shape;275;g3bafff51cc0_0_1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bafff51cc0_0_14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Type 1- </a:t>
            </a:r>
            <a:r>
              <a:rPr b="1" lang="en-IN" sz="3000">
                <a:solidFill>
                  <a:srgbClr val="FF0000"/>
                </a:solidFill>
              </a:rPr>
              <a:t>Microsoft Hyper-V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g3bafff51cc0_0_1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2500" y="1264050"/>
            <a:ext cx="7785393" cy="4289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afff51cc0_0_15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g3bafff51cc0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bafff51cc0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86" name="Google Shape;286;g3bafff51cc0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7" name="Google Shape;287;g3bafff51cc0_0_1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bafff51cc0_0_157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Microsoft Hyper-V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bafff51cc0_0_1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700" y="1255476"/>
            <a:ext cx="7777383" cy="43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bafff51cc0_0_157"/>
          <p:cNvSpPr txBox="1"/>
          <p:nvPr/>
        </p:nvSpPr>
        <p:spPr>
          <a:xfrm>
            <a:off x="176350" y="666200"/>
            <a:ext cx="1077600" cy="52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Windows OS</a:t>
            </a:r>
            <a:endParaRPr/>
          </a:p>
        </p:txBody>
      </p:sp>
      <p:sp>
        <p:nvSpPr>
          <p:cNvPr id="291" name="Google Shape;291;g3bafff51cc0_0_157"/>
          <p:cNvSpPr/>
          <p:nvPr/>
        </p:nvSpPr>
        <p:spPr>
          <a:xfrm rot="-8704452">
            <a:off x="1227636" y="1066323"/>
            <a:ext cx="871942" cy="18250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b030fcbc9_0_5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8" name="Google Shape;298;g3bb030fcbc9_0_56"/>
          <p:cNvGraphicFramePr/>
          <p:nvPr/>
        </p:nvGraphicFramePr>
        <p:xfrm>
          <a:off x="437600" y="191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{80614D6D-1C40-4602-B716-DA1638E756CA}</a:tableStyleId>
              </a:tblPr>
              <a:tblGrid>
                <a:gridCol w="2152650"/>
                <a:gridCol w="1857375"/>
              </a:tblGrid>
              <a:tr h="47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Component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Role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4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I/O Stack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Complete I/O processing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4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Drivers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Real hardware drivers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4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VSPs (Virtual Service Providers)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Provide services to child VMs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4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VMbus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Communication channel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Root OS Kernel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Windows kernel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9" name="Google Shape;299;g3bb030fcbc9_0_56"/>
          <p:cNvSpPr txBox="1"/>
          <p:nvPr/>
        </p:nvSpPr>
        <p:spPr>
          <a:xfrm>
            <a:off x="437600" y="1391200"/>
            <a:ext cx="477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What runs inside Root Partition (from diagram)</a:t>
            </a:r>
            <a:endParaRPr sz="1600"/>
          </a:p>
        </p:txBody>
      </p:sp>
      <p:sp>
        <p:nvSpPr>
          <p:cNvPr id="300" name="Google Shape;300;g3bb030fcbc9_0_56"/>
          <p:cNvSpPr txBox="1"/>
          <p:nvPr/>
        </p:nvSpPr>
        <p:spPr>
          <a:xfrm>
            <a:off x="5588425" y="1661150"/>
            <a:ext cx="3000000" cy="243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Child Partitions (Guest VMs)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Each Child Partition contains: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Guest OS (Windows / Linux)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Applications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IN" sz="1600">
                <a:solidFill>
                  <a:schemeClr val="dk1"/>
                </a:solidFill>
              </a:rPr>
              <a:t>VSCs (Virtual Service Clients)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01" name="Google Shape;301;g3bb030fcbc9_0_56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Microsoft Hyper-V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b030fcbc9_0_7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3bb030fcbc9_0_71"/>
          <p:cNvSpPr txBox="1"/>
          <p:nvPr/>
        </p:nvSpPr>
        <p:spPr>
          <a:xfrm>
            <a:off x="478800" y="1195250"/>
            <a:ext cx="7966500" cy="461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How I/O actually works?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Let’s say a </a:t>
            </a:r>
            <a:r>
              <a:rPr b="1" lang="en-IN" sz="1800">
                <a:solidFill>
                  <a:schemeClr val="dk1"/>
                </a:solidFill>
              </a:rPr>
              <a:t>child VM wants to read a disk</a:t>
            </a:r>
            <a:r>
              <a:rPr lang="en-I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Child VM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 ↓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VSC (Virtual Service Client)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 ↓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VMbus (shared memory channel)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 ↓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VSP (in Root Partition)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 ↓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Root Partition I/O Stack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 ↓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Hardware Driver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 ↓</a:t>
            </a:r>
            <a:endParaRPr sz="180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Physical Device</a:t>
            </a:r>
            <a:endParaRPr sz="1800"/>
          </a:p>
        </p:txBody>
      </p:sp>
      <p:sp>
        <p:nvSpPr>
          <p:cNvPr id="309" name="Google Shape;309;g3bb030fcbc9_0_7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Microsoft Hyper-V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afff51cc0_0_16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315" name="Google Shape;315;g3bafff51cc0_0_16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16" name="Google Shape;316;g3bafff51cc0_0_16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g3bafff51cc0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bafff51cc0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19" name="Google Shape;319;g3bafff51cc0_0_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0" name="Google Shape;320;g3bafff51cc0_0_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bafff51cc0_0_169"/>
          <p:cNvSpPr/>
          <p:nvPr/>
        </p:nvSpPr>
        <p:spPr>
          <a:xfrm>
            <a:off x="478688" y="222857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Type 1- Citrix Systems XenServer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bafff51cc0_0_169"/>
          <p:cNvSpPr txBox="1"/>
          <p:nvPr/>
        </p:nvSpPr>
        <p:spPr>
          <a:xfrm>
            <a:off x="1527788" y="2958725"/>
            <a:ext cx="6054600" cy="129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800">
                <a:solidFill>
                  <a:schemeClr val="dk1"/>
                </a:solidFill>
              </a:rPr>
              <a:t>Xen is a Type-1, </a:t>
            </a:r>
            <a:r>
              <a:rPr b="1" i="1" lang="en-IN" sz="1800">
                <a:solidFill>
                  <a:srgbClr val="FF0000"/>
                </a:solidFill>
              </a:rPr>
              <a:t>microkernelized hypervisor</a:t>
            </a:r>
            <a:r>
              <a:rPr b="1" i="1" lang="en-IN" sz="1800">
                <a:solidFill>
                  <a:schemeClr val="dk1"/>
                </a:solidFill>
              </a:rPr>
              <a:t> that uses a special privileged virtual machine called </a:t>
            </a:r>
            <a:r>
              <a:rPr b="1" i="1" lang="en-IN" sz="1800">
                <a:solidFill>
                  <a:srgbClr val="FF0000"/>
                </a:solidFill>
              </a:rPr>
              <a:t>Domain 0 (dom0) </a:t>
            </a:r>
            <a:r>
              <a:rPr b="1" i="1" lang="en-IN" sz="1800">
                <a:solidFill>
                  <a:schemeClr val="dk1"/>
                </a:solidFill>
              </a:rPr>
              <a:t>to manage hardware access and other guest VMs.</a:t>
            </a:r>
            <a:endParaRPr b="1" i="1" sz="2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afff51cc0_0_18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g3bafff51cc0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bafff51cc0_0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31" name="Google Shape;331;g3bafff51cc0_0_1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2" name="Google Shape;332;g3bafff51cc0_0_1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bafff51cc0_0_18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Citrix Systems XenServer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g3bafff51cc0_0_1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3050" y="1237038"/>
            <a:ext cx="7788550" cy="43433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afff51cc0_0_19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1" name="Google Shape;341;g3bafff51cc0_0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bafff51cc0_0_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43" name="Google Shape;343;g3bafff51cc0_0_1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4" name="Google Shape;344;g3bafff51cc0_0_1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bafff51cc0_0_193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Citrix Systems XenServer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g3bafff51cc0_0_1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8800" y="1163527"/>
            <a:ext cx="7966402" cy="449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afff51cc0_0_20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3" name="Google Shape;353;g3bafff51cc0_0_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bafff51cc0_0_2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55" name="Google Shape;355;g3bafff51cc0_0_2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6" name="Google Shape;356;g3bafff51cc0_0_2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bafff51cc0_0_205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Citrix Systems XenServer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bafff51cc0_0_2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7299" y="1195475"/>
            <a:ext cx="6469414" cy="45193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b030fcbc9_0_9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g3bb030fcbc9_0_94"/>
          <p:cNvSpPr txBox="1"/>
          <p:nvPr/>
        </p:nvSpPr>
        <p:spPr>
          <a:xfrm>
            <a:off x="372275" y="1328100"/>
            <a:ext cx="3624900" cy="310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</a:rPr>
              <a:t>What is dom0?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First VM started by Xen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Runs a </a:t>
            </a:r>
            <a:r>
              <a:rPr b="1" lang="en-IN" sz="1800">
                <a:solidFill>
                  <a:srgbClr val="FF0000"/>
                </a:solidFill>
              </a:rPr>
              <a:t>special Linux OS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Has </a:t>
            </a:r>
            <a:r>
              <a:rPr b="1" lang="en-IN" sz="1800">
                <a:solidFill>
                  <a:schemeClr val="dk1"/>
                </a:solidFill>
              </a:rPr>
              <a:t>direct access to hardware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Is </a:t>
            </a:r>
            <a:r>
              <a:rPr b="1" lang="en-IN" sz="1800">
                <a:solidFill>
                  <a:schemeClr val="dk1"/>
                </a:solidFill>
              </a:rPr>
              <a:t>trusted and privileged</a:t>
            </a:r>
            <a:br>
              <a:rPr b="1" lang="en-IN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</p:txBody>
      </p:sp>
      <p:sp>
        <p:nvSpPr>
          <p:cNvPr id="366" name="Google Shape;366;g3bb030fcbc9_0_94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Citrix Systems Xen Server Architecture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bb030fcbc9_0_94"/>
          <p:cNvSpPr txBox="1"/>
          <p:nvPr/>
        </p:nvSpPr>
        <p:spPr>
          <a:xfrm>
            <a:off x="5094500" y="1328100"/>
            <a:ext cx="3291900" cy="300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</a:rPr>
              <a:t>Guest domains (domU)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These are the normal VMs: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domU = unprivileged guest V</a:t>
            </a:r>
            <a:r>
              <a:rPr lang="en-IN" sz="1800">
                <a:solidFill>
                  <a:schemeClr val="dk1"/>
                </a:solidFill>
              </a:rPr>
              <a:t>M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Run Linux / Windows</a:t>
            </a:r>
            <a:br>
              <a:rPr lang="en-I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Have applications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b030fcbc9_0_12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373" name="Google Shape;373;g3bb030fcbc9_0_12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74" name="Google Shape;374;g3bb030fcbc9_0_1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" name="Google Shape;375;g3bb030fcbc9_0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bb030fcbc9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77" name="Google Shape;377;g3bb030fcbc9_0_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78" name="Google Shape;378;g3bb030fcbc9_0_1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bb030fcbc9_0_124"/>
          <p:cNvSpPr/>
          <p:nvPr/>
        </p:nvSpPr>
        <p:spPr>
          <a:xfrm>
            <a:off x="478688" y="222857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Kernel-based Virtual Machine (KVM)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b030fcbc9_0_13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g3bb030fcbc9_0_136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KVM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bb030fcbc9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25" y="1432040"/>
            <a:ext cx="8652350" cy="4579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b030fcbc9_0_14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4" name="Google Shape;394;g3bb030fcbc9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279550"/>
            <a:ext cx="7465425" cy="4884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5" name="Google Shape;395;g3bb030fcbc9_0_145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KVM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b030fcbc9_0_15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g3bb030fcbc9_0_154"/>
          <p:cNvSpPr txBox="1"/>
          <p:nvPr/>
        </p:nvSpPr>
        <p:spPr>
          <a:xfrm>
            <a:off x="470275" y="1481225"/>
            <a:ext cx="8053200" cy="14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2000">
                <a:solidFill>
                  <a:srgbClr val="FF0000"/>
                </a:solidFill>
              </a:rPr>
              <a:t>KVM cannot be classified as a pure Type-2 hypervisor because once KVM is loaded, Linux itself becomes the hypervisor and controls the hardware directly using hardware-assisted virtualization.</a:t>
            </a:r>
            <a:endParaRPr b="1" i="1" sz="2000">
              <a:solidFill>
                <a:srgbClr val="FF0000"/>
              </a:solidFill>
            </a:endParaRPr>
          </a:p>
        </p:txBody>
      </p:sp>
      <p:sp>
        <p:nvSpPr>
          <p:cNvPr id="403" name="Google Shape;403;g3bb030fcbc9_0_154"/>
          <p:cNvSpPr txBox="1"/>
          <p:nvPr/>
        </p:nvSpPr>
        <p:spPr>
          <a:xfrm>
            <a:off x="568225" y="3997250"/>
            <a:ext cx="7955400" cy="14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2000">
                <a:solidFill>
                  <a:srgbClr val="FF0000"/>
                </a:solidFill>
              </a:rPr>
              <a:t>KVM is not a classical (pure) Type-1 hypervisor because it depends on a general-purpose Linux OS for device drivers, I/O stack, and management, instead of being a standalone hypervisor.</a:t>
            </a:r>
            <a:endParaRPr b="1" i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b030fcbc9_0_10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409" name="Google Shape;409;g3bb030fcbc9_0_10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10" name="Google Shape;410;g3bb030fcbc9_0_10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1" name="Google Shape;411;g3bb030fcbc9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bb030fcbc9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13" name="Google Shape;413;g3bb030fcbc9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14" name="Google Shape;414;g3bb030fcbc9_0_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bb030fcbc9_0_109"/>
          <p:cNvSpPr txBox="1"/>
          <p:nvPr/>
        </p:nvSpPr>
        <p:spPr>
          <a:xfrm>
            <a:off x="604350" y="1312825"/>
            <a:ext cx="7935300" cy="411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900">
                <a:solidFill>
                  <a:schemeClr val="dk1"/>
                </a:solidFill>
              </a:rPr>
              <a:t>In Type-2 virtualization, the host OS itself already provides drivers, I/O stack, and hardware abstraction.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900">
                <a:solidFill>
                  <a:schemeClr val="dk1"/>
                </a:solidFill>
              </a:rPr>
              <a:t>So the hypervisor does NOT need to: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Design a driver model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Create privileged domains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Manage hardware directl</a:t>
            </a:r>
            <a:r>
              <a:rPr lang="en-IN" sz="1900">
                <a:solidFill>
                  <a:schemeClr val="dk1"/>
                </a:solidFill>
              </a:rPr>
              <a:t>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900">
                <a:solidFill>
                  <a:schemeClr val="dk1"/>
                </a:solidFill>
              </a:rPr>
              <a:t>Therefore: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No complex internal architecture is required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</a:rPr>
              <a:t>No standardized diagram exists</a:t>
            </a:r>
            <a:br>
              <a:rPr lang="en-I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2023-02-09T09:07:05Z</dcterms:created>
  <dc:creator>Admin</dc:creator>
</cp:coreProperties>
</file>