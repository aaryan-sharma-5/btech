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VIQC8FGOcz/e4KdhpV533xRtR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0a481627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70a481627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a481627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70a481627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0a481627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70a481627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871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018"/>
              <a:buFont typeface="Calibri"/>
              <a:buNone/>
            </a:pPr>
            <a:br>
              <a:rPr b="1" lang="en-IN"/>
            </a:br>
            <a: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  <a:t>Alphabets</a:t>
            </a:r>
            <a:b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alphabet (Σ)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finite, non-empty set of symbols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Σ = {0, 1} → binary alphabet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Σ = {a, b, c, ..., z} → English alphabet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Σ = {a, b} → a simple two-symbol alphabet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871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018"/>
              <a:buFont typeface="Calibri"/>
              <a:buNone/>
            </a:pPr>
            <a:br>
              <a:rPr b="1" lang="en-IN"/>
            </a:br>
            <a: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  <a:t>String</a:t>
            </a:r>
            <a:b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403797"/>
            <a:ext cx="10515600" cy="4773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string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finite sequence of symbols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from an alphabet.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Over Σ = {0, 1}: "0101", "1"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Over Σ = {a, b}: "abba", "a“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Empty string (ε)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: A string with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zero length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Length of a string (|w|):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Number of symbols in the string.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Example: If w = "010", |w| = 3.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6"/>
            <a:ext cx="10515600" cy="742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IN"/>
            </a:br>
            <a: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  <a:t>Language</a:t>
            </a:r>
            <a:br>
              <a:rPr b="1" lang="en-IN"/>
            </a:b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339403"/>
            <a:ext cx="10515600" cy="48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language (L)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is any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set of strings formed from an alphabet Σ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 ⊆ Σ*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Σ* = set of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all possible strings (including ε) over Σ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Σ = {a, b}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L = {ε, a, ab, bba}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6"/>
            <a:ext cx="10515600" cy="79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IN"/>
            </a:br>
            <a: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  <a:t>Basic Operations on Language</a:t>
            </a:r>
            <a:br>
              <a:rPr b="1" lang="en-IN"/>
            </a:b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159100"/>
            <a:ext cx="10515600" cy="5017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Let L1 and L2 be two languages over the same alphabet Σ.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Union (L1 ∪ L2)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All strings that are in L1, L2, or both.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Example: L1 = {a, b}, L2 = {b, c} ⇒ L1 ∪ L2 = {a, b, c}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Concatenation (L1 L2)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Set of all strings formed by taking a string from L1 followed by a string from L2.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L1 = {a, 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L2 = {c, d}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L1 L2 = {ac, ad, bc, bd}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  <a:t>Basic Operations on Language</a:t>
            </a: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IN">
                <a:latin typeface="Times New Roman"/>
                <a:ea typeface="Times New Roman"/>
                <a:cs typeface="Times New Roman"/>
                <a:sym typeface="Times New Roman"/>
              </a:rPr>
              <a:t>Kleene Star (L)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Set of all strings formed by concatenating zero or more strings from 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Includes the empty string ε.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If L = {a}, then L* = {ε, a, aa, aaa, ...}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018"/>
              <a:buFont typeface="Calibri"/>
              <a:buNone/>
            </a:pPr>
            <a:br>
              <a:rPr b="1" lang="en-IN"/>
            </a:br>
            <a: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  <a:t>Basic Operations on Language</a:t>
            </a:r>
            <a:b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Intersection (L1 ∩ L2)</a:t>
            </a:r>
            <a:br>
              <a:rPr lang="en-IN"/>
            </a:br>
            <a:r>
              <a:rPr lang="en-IN"/>
              <a:t>Set of strings that are in both L1 and L2.</a:t>
            </a:r>
            <a:br>
              <a:rPr lang="en-IN"/>
            </a:br>
            <a:r>
              <a:rPr lang="en-IN"/>
              <a:t>Example: L1 = {a, b}, L2 = {b, c} ⇒ L1 ∩ L2 = {b}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Difference (L1 - L2)</a:t>
            </a:r>
            <a:br>
              <a:rPr lang="en-IN"/>
            </a:br>
            <a:r>
              <a:rPr lang="en-IN"/>
              <a:t>Set of strings in L1 but not in L2.</a:t>
            </a:r>
            <a:br>
              <a:rPr lang="en-IN"/>
            </a:br>
            <a:r>
              <a:rPr lang="en-IN"/>
              <a:t>Example: L1 = {a, b, c}, L2 = {b, c} ⇒ L1 - L2 = {a}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Complement (~L or L')</a:t>
            </a:r>
            <a:br>
              <a:rPr lang="en-IN"/>
            </a:br>
            <a:r>
              <a:rPr lang="en-IN"/>
              <a:t>Set of all strings over Σ* that are not in 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871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  <a:t>Concatenation of Languages</a:t>
            </a: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Given two languages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L₁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L₂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over the same alphabet Σ,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their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concatenation (L₁ L₂)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L1L2={xy  ∣  x∈L1,y∈L2}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It contains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all strings formed by taking a string from L₁ followed by a string from L₂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018"/>
              <a:buFont typeface="Times New Roman"/>
              <a:buNone/>
            </a:pPr>
            <a:b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  <a:t>Concatenation of Languages</a:t>
            </a:r>
            <a:br>
              <a:rPr b="1" lang="en-IN" sz="5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300"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Let: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Σ = {a, b}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L₁ = {a, ab}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L₂ = {b, ba}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Compute L₁ L₂: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Take each x ∈ L₁ and concatenate with each y ∈ L₂: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For x = "a": "a" + "b" = "ab", "a" + "ba" = "aba"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For x = "ab": "ab" + "b" = "abb", "ab" + "ba" = "abba"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Thus:L1L2={ab,aba,abb,abba}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Concatenation is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not commutative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: L₁ L₂ ≠ L₂ L₁ in general.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365125"/>
            <a:ext cx="10515600" cy="89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Kleene Star (Closure)</a:t>
            </a: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378039"/>
            <a:ext cx="10515600" cy="4798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Definition: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For a language </a:t>
            </a:r>
            <a:r>
              <a:rPr b="1" lang="en-IN"/>
              <a:t>L</a:t>
            </a:r>
            <a:r>
              <a:rPr lang="en-IN"/>
              <a:t> over alphabet Σ, the </a:t>
            </a:r>
            <a:r>
              <a:rPr b="1" lang="en-IN"/>
              <a:t>Kleene Star of L (L*)</a:t>
            </a:r>
            <a:r>
              <a:rPr lang="en-IN"/>
              <a:t> 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where: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L⁰ = {ε} (language containing only the empty string)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L¹ = 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L² = L L (concatenation of L with itself)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L³ = L L 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Thus, L* contains </a:t>
            </a:r>
            <a:r>
              <a:rPr b="1" lang="en-IN"/>
              <a:t>all strings formed by concatenating zero or more strings from L</a:t>
            </a:r>
            <a:r>
              <a:rPr lang="en-IN"/>
              <a:t>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Kleene Star (Closure)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Let: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 = {a}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L⁰ = {ε}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L¹ = {a}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L² = {aa}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L³ = {aaa}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L⁴ = {aaaa}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So: L\*={ϵ,a,aa,aaa,aaaa,…}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Kleene Star (Closure)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Another 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Let: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 = {ab, c}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L⁰ = {ε}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L¹ = {ab, c}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L² = {abab, abc, cab, cc}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L³ = {ababab, ababc, abcab, abcc, cabab, cabc, ccab, ccc}, etc.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0a4816270_0_5"/>
          <p:cNvSpPr txBox="1"/>
          <p:nvPr>
            <p:ph type="title"/>
          </p:nvPr>
        </p:nvSpPr>
        <p:spPr>
          <a:xfrm>
            <a:off x="838200" y="365125"/>
            <a:ext cx="105156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Kleene Positive (Closure)</a:t>
            </a:r>
            <a:br>
              <a:rPr b="1" lang="en-IN" sz="4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70a4816270_0_5"/>
          <p:cNvSpPr txBox="1"/>
          <p:nvPr>
            <p:ph idx="1" type="body"/>
          </p:nvPr>
        </p:nvSpPr>
        <p:spPr>
          <a:xfrm>
            <a:off x="838200" y="1378039"/>
            <a:ext cx="10515600" cy="47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/>
              <a:t>Definition: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For a language </a:t>
            </a:r>
            <a:r>
              <a:rPr b="1" lang="en-IN"/>
              <a:t>L</a:t>
            </a:r>
            <a:r>
              <a:rPr lang="en-IN"/>
              <a:t> over alphabet Σ, the </a:t>
            </a:r>
            <a:r>
              <a:rPr b="1" lang="en-IN"/>
              <a:t>Kleene Star of L (L+)</a:t>
            </a:r>
            <a:r>
              <a:rPr lang="en-IN"/>
              <a:t> 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where: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L¹ = 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L² = L L (concatenation of L with itself)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L³ = L L L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Thus, L+ contains </a:t>
            </a:r>
            <a:r>
              <a:rPr b="1" lang="en-IN"/>
              <a:t>all strings formed by concatenating one or more strings from L</a:t>
            </a:r>
            <a:r>
              <a:rPr lang="en-IN"/>
              <a:t>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0a4816270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Kleene Positive (Closure)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370a4816270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Let: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 = {a}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L¹ = {a}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L² = {aa}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L³ = {aaa}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L⁴ = {aaaa}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So: L+ ={a,aa,aaa,aaaa,…}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0a4816270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Kleene Positive (Closure)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g370a4816270_0_15"/>
          <p:cNvSpPr txBox="1"/>
          <p:nvPr>
            <p:ph idx="1" type="body"/>
          </p:nvPr>
        </p:nvSpPr>
        <p:spPr>
          <a:xfrm>
            <a:off x="838200" y="1825625"/>
            <a:ext cx="105156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Another 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Let: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 = {ab, c}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L¹ = {ab, c}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L² = {abab, abc, cab, cc}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L³ = {ababab, ababc, abcab, abcc, cabab, cabc, ccab, ccc}, etc.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So: L+ ={ab, c, abab, abc, cab, cc, ababab, ababc, abcab, abcc, cabab, cabc, ccab, ccc  …}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is a classification of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formal grammars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into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four types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It was proposed by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Noam Chomsky in 1956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Type-0: Unrestricted Grammars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Form of production: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α → β, where α and β are strings of variables and terminals with α ≠ ε.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Language generated: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Recursively Enumerable Languages.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Accepted by: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Turing Machine.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 sz="4800"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Type-1: Context-Sensitive Grammars (CSG)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Form of production: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α A β → α γ β, where A is a non-terminal, α, β are strings (can be empty), and γ ≠ ε.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Length of RHS ≥ Length of LHS.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Language generated: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Context-Sensitive Languages.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Accepted by: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Linear Bounded Automaton (LBA).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 sz="4800"/>
          </a:p>
        </p:txBody>
      </p:sp>
      <p:sp>
        <p:nvSpPr>
          <p:cNvPr id="187" name="Google Shape;18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Type-2: Context-Free Grammars (CFG)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Form of production: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A → γ, where A is a single non-terminal, and γ is a string of terminals and/or non-terminals.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Language generated: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Context-Free Languages.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Accepted by: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Pushdown Automaton (PDA).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Examples: Balanced parentheses, arithmetic expressions.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 sz="4800"/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Type-3: Regular Grammars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Form of production: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A → aB or A → a, where A and B are non-terminals, a is a terminal.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Can be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right-linear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left-linear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Language generated: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Regular Languages.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Accepted by: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Finite Automaton (DFA, NFA).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Examples: Strings with an even number of 0s, strings ending with 'ab'.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Chomsky Hierarchy</a:t>
            </a:r>
            <a:endParaRPr sz="4800"/>
          </a:p>
        </p:txBody>
      </p:sp>
      <p:sp>
        <p:nvSpPr>
          <p:cNvPr id="199" name="Google Shape;19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Hierarchy Relationship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classes are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nested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Regular⊆Context-Free⊆Context-Sensitive⊆Recursively Enumerable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Meaning: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Every Regular Language is Context-Free.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Every Context-Free Language is Context-Sensitive.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Every Context-Sensitive Language is Recursively Enumerable.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2025-06-29T06:19:37Z</dcterms:created>
  <dc:creator>Amol</dc:creator>
</cp:coreProperties>
</file>