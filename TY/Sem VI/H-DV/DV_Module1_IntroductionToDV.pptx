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77" roundtripDataSignature="AMtx7mhB9QYr5XSeDd5uwPyeVckeuDXB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6EE7B5-BC37-42DC-A412-73184333C272}">
  <a:tblStyle styleId="{3C6EE7B5-BC37-42DC-A412-73184333C272}"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63F28D5-AB2C-417E-9CEE-CEB66C62715A}"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customschemas.google.com/relationships/presentationmetadata" Target="metadata"/><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45aa5eecf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g145aa5eecf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g145aa5eecf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45aa5eecfc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g145aa5eecfc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g145aa5eecfc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4464aad1b1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g14464aad1b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3" name="Google Shape;163;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437b5ba2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437b5ba2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3b437b5ba2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0" name="Google Shape;200;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4464aad1b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g14464aad1b1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g14464aad1b1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4464aad1b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g14464aad1b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g14464aad1b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8" name="Google Shape;29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4464aad1b1_3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2" name="Google Shape;342;g14464aad1b1_3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45eb60f366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145eb60f366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45eb60f366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g145eb60f366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45aa5eecfc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9" name="Google Shape;389;g145aa5eecfc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45aa5eecfc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g145aa5eecfc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145aa5eecfc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g145aa5eecfc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145aa5eecfc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145aa5eecfc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g145aa5eecfc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145aa5eecfc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145aa5eecfc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145aa5eecfc_0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4b51d4441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7" name="Google Shape;447;g14b51d4441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4b51d44415_0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2" name="Google Shape;462;g14b51d44415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4b51d44415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0" name="Google Shape;470;g14b51d4441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4b51d44415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g14b51d44415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7" name="Google Shape;48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53c3bd0df0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3" name="Google Shape;503;g153c3bd0df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53c3bd0df0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153c3bd0df0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45aa5eecfc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g145aa5eecfc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53c3bd0df0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g153c3bd0df0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53c3bd0df0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2" name="Google Shape;552;g153c3bd0df0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53c3bd0df0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2" name="Google Shape;562;g153c3bd0df0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1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2" name="Google Shape;622;p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0" name="Google Shape;660;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1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0" name="Google Shape;680;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1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8" name="Google Shape;708;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2000"/>
              <a:buFont typeface="Arial"/>
              <a:buNone/>
              <a:defRPr b="1" i="0" sz="20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800"/>
              <a:buFont typeface="Arial"/>
              <a:buNone/>
              <a:defRPr b="1" i="0" sz="18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2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p:nvPr>
            <p:ph idx="2" type="pic"/>
          </p:nvPr>
        </p:nvSpPr>
        <p:spPr>
          <a:xfrm>
            <a:off x="5183188" y="987425"/>
            <a:ext cx="6172200" cy="4873625"/>
          </a:xfrm>
          <a:prstGeom prst="rect">
            <a:avLst/>
          </a:prstGeom>
          <a:noFill/>
          <a:ln>
            <a:noFill/>
          </a:ln>
        </p:spPr>
      </p:sp>
      <p:sp>
        <p:nvSpPr>
          <p:cNvPr id="68" name="Google Shape;68;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rgbClr val="2F5496"/>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feedbacksampleform.pdf" TargetMode="External"/><Relationship Id="rId4" Type="http://schemas.openxmlformats.org/officeDocument/2006/relationships/hyperlink" Target="about:blank" TargetMode="External"/><Relationship Id="rId5" Type="http://schemas.openxmlformats.org/officeDocument/2006/relationships/hyperlink" Target="http://responsesingraphicalform.pd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2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1.png"/><Relationship Id="rId4"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0.png"/><Relationship Id="rId4" Type="http://schemas.openxmlformats.org/officeDocument/2006/relationships/image" Target="../media/image4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9.png"/><Relationship Id="rId4" Type="http://schemas.openxmlformats.org/officeDocument/2006/relationships/image" Target="../media/image44.png"/><Relationship Id="rId5" Type="http://schemas.openxmlformats.org/officeDocument/2006/relationships/image" Target="../media/image2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0.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0.jpg"/><Relationship Id="rId4"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52.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Font typeface="Times New Roman"/>
              <a:buNone/>
            </a:pPr>
            <a:r>
              <a:rPr b="1" lang="en-US" sz="6600">
                <a:latin typeface="Times New Roman"/>
                <a:ea typeface="Times New Roman"/>
                <a:cs typeface="Times New Roman"/>
                <a:sym typeface="Times New Roman"/>
              </a:rPr>
              <a:t>Data Visualization</a:t>
            </a:r>
            <a:endParaRPr sz="6600"/>
          </a:p>
        </p:txBody>
      </p:sp>
      <p:sp>
        <p:nvSpPr>
          <p:cNvPr id="89" name="Google Shape;89;p1"/>
          <p:cNvSpPr txBox="1"/>
          <p:nvPr>
            <p:ph idx="1" type="subTitle"/>
          </p:nvPr>
        </p:nvSpPr>
        <p:spPr>
          <a:xfrm>
            <a:off x="1524000" y="3870979"/>
            <a:ext cx="9144000" cy="636475"/>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SzPts val="4000"/>
              <a:buNone/>
            </a:pPr>
            <a:r>
              <a:rPr b="1" lang="en-US" sz="4000">
                <a:latin typeface="Times New Roman"/>
                <a:ea typeface="Times New Roman"/>
                <a:cs typeface="Times New Roman"/>
                <a:sym typeface="Times New Roman"/>
              </a:rPr>
              <a:t>216H03L602</a:t>
            </a:r>
            <a:endParaRPr sz="4000"/>
          </a:p>
        </p:txBody>
      </p:sp>
      <p:graphicFrame>
        <p:nvGraphicFramePr>
          <p:cNvPr id="90" name="Google Shape;90;p1"/>
          <p:cNvGraphicFramePr/>
          <p:nvPr/>
        </p:nvGraphicFramePr>
        <p:xfrm>
          <a:off x="945776" y="56929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solidFill>
                <a:srgbClr val="833C0B"/>
              </a:solidFill>
            </a:endParaRPr>
          </a:p>
        </p:txBody>
      </p:sp>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2000"/>
              <a:buNone/>
            </a:pPr>
            <a:fld id="{00000000-1234-1234-1234-123412341234}" type="slidenum">
              <a:rPr lang="en-US"/>
              <a:t>‹#›</a:t>
            </a:fld>
            <a:endParaRPr/>
          </a:p>
        </p:txBody>
      </p:sp>
      <p:sp>
        <p:nvSpPr>
          <p:cNvPr id="93" name="Google Shape;93;p1"/>
          <p:cNvSpPr txBox="1"/>
          <p:nvPr/>
        </p:nvSpPr>
        <p:spPr>
          <a:xfrm>
            <a:off x="2377975" y="4992425"/>
            <a:ext cx="7606800" cy="8313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200"/>
              <a:buFont typeface="Arial"/>
              <a:buNone/>
            </a:pPr>
            <a:r>
              <a:rPr b="0" i="0" lang="en-US" sz="4200" u="none" cap="none" strike="noStrike">
                <a:solidFill>
                  <a:srgbClr val="FF0000"/>
                </a:solidFill>
                <a:latin typeface="Calibri"/>
                <a:ea typeface="Calibri"/>
                <a:cs typeface="Calibri"/>
                <a:sym typeface="Calibri"/>
              </a:rPr>
              <a:t>Module 1</a:t>
            </a:r>
            <a:endParaRPr b="0" i="0" sz="4400" u="none" cap="none" strike="noStrike">
              <a:solidFill>
                <a:srgbClr val="FF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838200" y="0"/>
            <a:ext cx="10515600" cy="1008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Introduction data visualization  (5)</a:t>
            </a:r>
            <a:endParaRPr/>
          </a:p>
        </p:txBody>
      </p:sp>
      <p:graphicFrame>
        <p:nvGraphicFramePr>
          <p:cNvPr id="99" name="Google Shape;99;p2"/>
          <p:cNvGraphicFramePr/>
          <p:nvPr/>
        </p:nvGraphicFramePr>
        <p:xfrm>
          <a:off x="838200" y="38641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00" name="Google Shape;100;p2"/>
          <p:cNvGraphicFramePr/>
          <p:nvPr/>
        </p:nvGraphicFramePr>
        <p:xfrm>
          <a:off x="838200" y="1229449"/>
          <a:ext cx="3000000" cy="3000000"/>
        </p:xfrm>
        <a:graphic>
          <a:graphicData uri="http://schemas.openxmlformats.org/drawingml/2006/table">
            <a:tbl>
              <a:tblPr>
                <a:noFill/>
                <a:tableStyleId>{3C6EE7B5-BC37-42DC-A412-73184333C272}</a:tableStyleId>
              </a:tblPr>
              <a:tblGrid>
                <a:gridCol w="10285200"/>
              </a:tblGrid>
              <a:tr h="4763350">
                <a:tc>
                  <a:txBody>
                    <a:bodyPr/>
                    <a:lstStyle/>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Introduction to data visualization and it’s needs.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Data analysis lifecycle.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A Visual Revolution, Various types of visualization with its best practices. </a:t>
                      </a:r>
                      <a:endParaRPr sz="1400" u="none" cap="none" strike="noStrike"/>
                    </a:p>
                    <a:p>
                      <a:pPr indent="-285750" lvl="0" marL="285750" marR="0" rtl="0" algn="l">
                        <a:lnSpc>
                          <a:spcPct val="100000"/>
                        </a:lnSpc>
                        <a:spcBef>
                          <a:spcPts val="0"/>
                        </a:spcBef>
                        <a:spcAft>
                          <a:spcPts val="0"/>
                        </a:spcAft>
                        <a:buClr>
                          <a:srgbClr val="2F5496"/>
                        </a:buClr>
                        <a:buSzPts val="2400"/>
                        <a:buFont typeface="Arial"/>
                        <a:buChar char="•"/>
                      </a:pPr>
                      <a:r>
                        <a:rPr b="1" lang="en-US" sz="2400" u="none" cap="none" strike="noStrike">
                          <a:solidFill>
                            <a:srgbClr val="2F5496"/>
                          </a:solidFill>
                          <a:latin typeface="Times New Roman"/>
                          <a:ea typeface="Times New Roman"/>
                          <a:cs typeface="Times New Roman"/>
                          <a:sym typeface="Times New Roman"/>
                        </a:rPr>
                        <a:t>From Visualization to Visual Data Storytelling: An Evolution, From Visual to Story: Bridging the Gap</a:t>
                      </a:r>
                      <a:endParaRPr sz="1400" u="none" cap="none" strike="noStrike"/>
                    </a:p>
                    <a:p>
                      <a:pPr indent="-285750" lvl="0" marL="285750" marR="0" rtl="0" algn="l">
                        <a:lnSpc>
                          <a:spcPct val="100000"/>
                        </a:lnSpc>
                        <a:spcBef>
                          <a:spcPts val="0"/>
                        </a:spcBef>
                        <a:spcAft>
                          <a:spcPts val="0"/>
                        </a:spcAft>
                        <a:buClr>
                          <a:srgbClr val="00B050"/>
                        </a:buClr>
                        <a:buSzPts val="2400"/>
                        <a:buFont typeface="Arial"/>
                        <a:buChar char="•"/>
                      </a:pPr>
                      <a:r>
                        <a:rPr b="1" lang="en-US" sz="2400" u="none" cap="none" strike="noStrike">
                          <a:solidFill>
                            <a:srgbClr val="00B050"/>
                          </a:solidFill>
                          <a:latin typeface="Times New Roman"/>
                          <a:ea typeface="Times New Roman"/>
                          <a:cs typeface="Times New Roman"/>
                          <a:sym typeface="Times New Roman"/>
                        </a:rPr>
                        <a:t>Data Fundamentals, Collecting data, Preparing Data</a:t>
                      </a:r>
                      <a:endParaRPr/>
                    </a:p>
                    <a:p>
                      <a:pPr indent="-285750" lvl="0" marL="285750" marR="0" rtl="0" algn="l">
                        <a:lnSpc>
                          <a:spcPct val="100000"/>
                        </a:lnSpc>
                        <a:spcBef>
                          <a:spcPts val="0"/>
                        </a:spcBef>
                        <a:spcAft>
                          <a:spcPts val="0"/>
                        </a:spcAft>
                        <a:buClr>
                          <a:srgbClr val="00B050"/>
                        </a:buClr>
                        <a:buSzPts val="2400"/>
                        <a:buFont typeface="Arial"/>
                        <a:buChar char="•"/>
                      </a:pPr>
                      <a:r>
                        <a:rPr b="1" lang="en-US" sz="2400" u="none" cap="none" strike="noStrike">
                          <a:solidFill>
                            <a:srgbClr val="00B050"/>
                          </a:solidFill>
                          <a:latin typeface="Times New Roman"/>
                          <a:ea typeface="Times New Roman"/>
                          <a:cs typeface="Times New Roman"/>
                          <a:sym typeface="Times New Roman"/>
                        </a:rPr>
                        <a:t>Gestalt Principles</a:t>
                      </a:r>
                      <a:endParaRPr/>
                    </a:p>
                    <a:p>
                      <a:pPr indent="-285750" lvl="0" marL="285750" marR="0" rtl="0" algn="l">
                        <a:lnSpc>
                          <a:spcPct val="100000"/>
                        </a:lnSpc>
                        <a:spcBef>
                          <a:spcPts val="0"/>
                        </a:spcBef>
                        <a:spcAft>
                          <a:spcPts val="0"/>
                        </a:spcAft>
                        <a:buClr>
                          <a:srgbClr val="00B050"/>
                        </a:buClr>
                        <a:buSzPts val="2400"/>
                        <a:buFont typeface="Arial"/>
                        <a:buChar char="•"/>
                      </a:pPr>
                      <a:r>
                        <a:rPr b="1" lang="en-US" sz="2400" u="none" cap="none" strike="noStrike">
                          <a:solidFill>
                            <a:srgbClr val="00B050"/>
                          </a:solidFill>
                          <a:latin typeface="Times New Roman"/>
                          <a:ea typeface="Times New Roman"/>
                          <a:cs typeface="Times New Roman"/>
                          <a:sym typeface="Times New Roman"/>
                        </a:rPr>
                        <a:t>Cleaning Data using Excel</a:t>
                      </a:r>
                      <a:endParaRPr sz="1400" u="none" cap="none" strike="noStrike"/>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01" name="Google Shape;101;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102" name="Google Shape;102;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145aa5eecfc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t>Books</a:t>
            </a:r>
            <a:endParaRPr/>
          </a:p>
        </p:txBody>
      </p:sp>
      <p:sp>
        <p:nvSpPr>
          <p:cNvPr id="109" name="Google Shape;109;g145aa5eecfc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275"/>
              <a:buNone/>
            </a:pPr>
            <a:r>
              <a:rPr b="1" lang="en-US"/>
              <a:t>Lindy Ryan</a:t>
            </a:r>
            <a:r>
              <a:rPr lang="en-US"/>
              <a:t>, “Visual Data Storytelling with Tableau”, Pearson Education First edition, 2018</a:t>
            </a:r>
            <a:endParaRPr/>
          </a:p>
          <a:p>
            <a:pPr indent="0" lvl="0" marL="0" rtl="0" algn="l">
              <a:lnSpc>
                <a:spcPct val="70000"/>
              </a:lnSpc>
              <a:spcBef>
                <a:spcPts val="1000"/>
              </a:spcBef>
              <a:spcAft>
                <a:spcPts val="0"/>
              </a:spcAft>
              <a:buSzPts val="275"/>
              <a:buNone/>
            </a:pPr>
            <a:r>
              <a:rPr b="1" lang="en-US"/>
              <a:t>Cole Nussbaumer Knaflic</a:t>
            </a:r>
            <a:r>
              <a:rPr lang="en-US"/>
              <a:t>, “Storytelling with Data”, Wiley First edition,</a:t>
            </a:r>
            <a:endParaRPr/>
          </a:p>
          <a:p>
            <a:pPr indent="0" lvl="0" marL="0" rtl="0" algn="l">
              <a:lnSpc>
                <a:spcPct val="70000"/>
              </a:lnSpc>
              <a:spcBef>
                <a:spcPts val="1000"/>
              </a:spcBef>
              <a:spcAft>
                <a:spcPts val="0"/>
              </a:spcAft>
              <a:buSzPts val="275"/>
              <a:buNone/>
            </a:pPr>
            <a:r>
              <a:rPr lang="en-US"/>
              <a:t>2015</a:t>
            </a:r>
            <a:endParaRPr/>
          </a:p>
          <a:p>
            <a:pPr indent="0" lvl="0" marL="0" rtl="0" algn="l">
              <a:lnSpc>
                <a:spcPct val="70000"/>
              </a:lnSpc>
              <a:spcBef>
                <a:spcPts val="1000"/>
              </a:spcBef>
              <a:spcAft>
                <a:spcPts val="0"/>
              </a:spcAft>
              <a:buSzPts val="275"/>
              <a:buNone/>
            </a:pPr>
            <a:r>
              <a:rPr b="1" lang="en-US"/>
              <a:t>Alberto Ferrari and Marco Russo</a:t>
            </a:r>
            <a:r>
              <a:rPr lang="en-US"/>
              <a:t>, “Introducing Microsoft Power BI”, Microsoft Press, 2016</a:t>
            </a:r>
            <a:endParaRPr/>
          </a:p>
        </p:txBody>
      </p:sp>
      <p:sp>
        <p:nvSpPr>
          <p:cNvPr id="110" name="Google Shape;110;g145aa5eecfc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111" name="Google Shape;111;g145aa5eecfc_0_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45aa5eecfc_0_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118" name="Google Shape;118;g145aa5eecfc_0_8"/>
          <p:cNvPicPr preferRelativeResize="0"/>
          <p:nvPr/>
        </p:nvPicPr>
        <p:blipFill rotWithShape="1">
          <a:blip r:embed="rId3">
            <a:alphaModFix/>
          </a:blip>
          <a:srcRect b="0" l="0" r="0" t="0"/>
          <a:stretch/>
        </p:blipFill>
        <p:spPr>
          <a:xfrm>
            <a:off x="119336" y="188640"/>
            <a:ext cx="3888432" cy="6056023"/>
          </a:xfrm>
          <a:prstGeom prst="rect">
            <a:avLst/>
          </a:prstGeom>
          <a:noFill/>
          <a:ln>
            <a:noFill/>
          </a:ln>
        </p:spPr>
      </p:pic>
      <p:pic>
        <p:nvPicPr>
          <p:cNvPr id="119" name="Google Shape;119;g145aa5eecfc_0_8"/>
          <p:cNvPicPr preferRelativeResize="0"/>
          <p:nvPr/>
        </p:nvPicPr>
        <p:blipFill rotWithShape="1">
          <a:blip r:embed="rId4">
            <a:alphaModFix/>
          </a:blip>
          <a:srcRect b="0" l="0" r="0" t="0"/>
          <a:stretch/>
        </p:blipFill>
        <p:spPr>
          <a:xfrm>
            <a:off x="4007768" y="188640"/>
            <a:ext cx="4077613" cy="6056011"/>
          </a:xfrm>
          <a:prstGeom prst="rect">
            <a:avLst/>
          </a:prstGeom>
          <a:noFill/>
          <a:ln>
            <a:noFill/>
          </a:ln>
        </p:spPr>
      </p:pic>
      <p:sp>
        <p:nvSpPr>
          <p:cNvPr id="120" name="Google Shape;120;g145aa5eecfc_0_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pic>
        <p:nvPicPr>
          <p:cNvPr id="121" name="Google Shape;121;g145aa5eecfc_0_8"/>
          <p:cNvPicPr preferRelativeResize="0"/>
          <p:nvPr/>
        </p:nvPicPr>
        <p:blipFill rotWithShape="1">
          <a:blip r:embed="rId5">
            <a:alphaModFix/>
          </a:blip>
          <a:srcRect b="0" l="0" r="0" t="0"/>
          <a:stretch/>
        </p:blipFill>
        <p:spPr>
          <a:xfrm>
            <a:off x="8040216" y="188639"/>
            <a:ext cx="4178874" cy="60560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745732"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solidFill>
                  <a:srgbClr val="002060"/>
                </a:solidFill>
              </a:rPr>
              <a:t>Data Visualization</a:t>
            </a:r>
            <a:endParaRPr b="1">
              <a:solidFill>
                <a:srgbClr val="002060"/>
              </a:solidFill>
            </a:endParaRPr>
          </a:p>
        </p:txBody>
      </p:sp>
      <p:sp>
        <p:nvSpPr>
          <p:cNvPr id="127" name="Google Shape;127;p3"/>
          <p:cNvSpPr txBox="1"/>
          <p:nvPr>
            <p:ph idx="1" type="body"/>
          </p:nvPr>
        </p:nvSpPr>
        <p:spPr>
          <a:xfrm>
            <a:off x="838200" y="1071565"/>
            <a:ext cx="10515600" cy="623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picture speaks more than 1000 words</a:t>
            </a:r>
            <a:endParaRPr/>
          </a:p>
        </p:txBody>
      </p:sp>
      <p:sp>
        <p:nvSpPr>
          <p:cNvPr id="128" name="Google Shape;128;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29" name="Google Shape;129;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pSp>
        <p:nvGrpSpPr>
          <p:cNvPr id="130" name="Google Shape;130;p3"/>
          <p:cNvGrpSpPr/>
          <p:nvPr/>
        </p:nvGrpSpPr>
        <p:grpSpPr>
          <a:xfrm>
            <a:off x="900362" y="3430864"/>
            <a:ext cx="3048000" cy="2667000"/>
            <a:chOff x="1325366" y="3430864"/>
            <a:chExt cx="3048000" cy="2667000"/>
          </a:xfrm>
        </p:grpSpPr>
        <p:pic>
          <p:nvPicPr>
            <p:cNvPr id="131" name="Google Shape;131;p3"/>
            <p:cNvPicPr preferRelativeResize="0"/>
            <p:nvPr/>
          </p:nvPicPr>
          <p:blipFill rotWithShape="1">
            <a:blip r:embed="rId3">
              <a:alphaModFix/>
            </a:blip>
            <a:srcRect b="0" l="0" r="0" t="0"/>
            <a:stretch/>
          </p:blipFill>
          <p:spPr>
            <a:xfrm>
              <a:off x="1325366" y="3430864"/>
              <a:ext cx="3048000" cy="2667000"/>
            </a:xfrm>
            <a:prstGeom prst="rect">
              <a:avLst/>
            </a:prstGeom>
            <a:noFill/>
            <a:ln>
              <a:noFill/>
            </a:ln>
          </p:spPr>
        </p:pic>
        <p:sp>
          <p:nvSpPr>
            <p:cNvPr id="132" name="Google Shape;132;p3"/>
            <p:cNvSpPr txBox="1"/>
            <p:nvPr/>
          </p:nvSpPr>
          <p:spPr>
            <a:xfrm>
              <a:off x="1325366" y="3945276"/>
              <a:ext cx="3048000" cy="64633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3"/>
          <p:cNvGrpSpPr/>
          <p:nvPr/>
        </p:nvGrpSpPr>
        <p:grpSpPr>
          <a:xfrm>
            <a:off x="4158862" y="3519195"/>
            <a:ext cx="3323762" cy="1266503"/>
            <a:chOff x="4931596" y="3637052"/>
            <a:chExt cx="3323762" cy="1266503"/>
          </a:xfrm>
        </p:grpSpPr>
        <p:grpSp>
          <p:nvGrpSpPr>
            <p:cNvPr id="134" name="Google Shape;134;p3"/>
            <p:cNvGrpSpPr/>
            <p:nvPr/>
          </p:nvGrpSpPr>
          <p:grpSpPr>
            <a:xfrm>
              <a:off x="4931596" y="3637052"/>
              <a:ext cx="3323762" cy="493159"/>
              <a:chOff x="4931596" y="3637052"/>
              <a:chExt cx="3323762" cy="493159"/>
            </a:xfrm>
          </p:grpSpPr>
          <p:sp>
            <p:nvSpPr>
              <p:cNvPr id="135" name="Google Shape;135;p3"/>
              <p:cNvSpPr/>
              <p:nvPr/>
            </p:nvSpPr>
            <p:spPr>
              <a:xfrm>
                <a:off x="4931596" y="3637052"/>
                <a:ext cx="493159" cy="493159"/>
              </a:xfrm>
              <a:prstGeom prst="ellipse">
                <a:avLst/>
              </a:prstGeom>
              <a:solidFill>
                <a:srgbClr val="00B05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6" name="Google Shape;136;p3"/>
              <p:cNvSpPr txBox="1"/>
              <p:nvPr/>
            </p:nvSpPr>
            <p:spPr>
              <a:xfrm>
                <a:off x="5821251" y="3637052"/>
                <a:ext cx="2434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Vegetarian</a:t>
                </a:r>
                <a:endParaRPr b="0" i="0" sz="1400" u="none" cap="none" strike="noStrike">
                  <a:solidFill>
                    <a:srgbClr val="000000"/>
                  </a:solidFill>
                  <a:latin typeface="Arial"/>
                  <a:ea typeface="Arial"/>
                  <a:cs typeface="Arial"/>
                  <a:sym typeface="Arial"/>
                </a:endParaRPr>
              </a:p>
            </p:txBody>
          </p:sp>
        </p:grpSp>
        <p:grpSp>
          <p:nvGrpSpPr>
            <p:cNvPr id="137" name="Google Shape;137;p3"/>
            <p:cNvGrpSpPr/>
            <p:nvPr/>
          </p:nvGrpSpPr>
          <p:grpSpPr>
            <a:xfrm>
              <a:off x="4931596" y="4410396"/>
              <a:ext cx="3323762" cy="493159"/>
              <a:chOff x="4931596" y="3637052"/>
              <a:chExt cx="3323762" cy="493159"/>
            </a:xfrm>
          </p:grpSpPr>
          <p:sp>
            <p:nvSpPr>
              <p:cNvPr id="138" name="Google Shape;138;p3"/>
              <p:cNvSpPr/>
              <p:nvPr/>
            </p:nvSpPr>
            <p:spPr>
              <a:xfrm>
                <a:off x="4931596" y="3637052"/>
                <a:ext cx="493159" cy="493159"/>
              </a:xfrm>
              <a:prstGeom prst="ellipse">
                <a:avLst/>
              </a:prstGeom>
              <a:solidFill>
                <a:srgbClr val="FF0000"/>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9" name="Google Shape;139;p3"/>
              <p:cNvSpPr txBox="1"/>
              <p:nvPr/>
            </p:nvSpPr>
            <p:spPr>
              <a:xfrm>
                <a:off x="5821251" y="3637052"/>
                <a:ext cx="24341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Non- Vegetarian</a:t>
                </a:r>
                <a:endParaRPr b="0" i="0" sz="1400" u="none" cap="none" strike="noStrike">
                  <a:solidFill>
                    <a:srgbClr val="000000"/>
                  </a:solidFill>
                  <a:latin typeface="Arial"/>
                  <a:ea typeface="Arial"/>
                  <a:cs typeface="Arial"/>
                  <a:sym typeface="Arial"/>
                </a:endParaRPr>
              </a:p>
            </p:txBody>
          </p:sp>
        </p:grpSp>
      </p:grpSp>
      <p:pic>
        <p:nvPicPr>
          <p:cNvPr id="140" name="Google Shape;140;p3"/>
          <p:cNvPicPr preferRelativeResize="0"/>
          <p:nvPr/>
        </p:nvPicPr>
        <p:blipFill rotWithShape="1">
          <a:blip r:embed="rId4">
            <a:alphaModFix/>
          </a:blip>
          <a:srcRect b="0" l="0" r="0" t="0"/>
          <a:stretch/>
        </p:blipFill>
        <p:spPr>
          <a:xfrm>
            <a:off x="6774267" y="3240364"/>
            <a:ext cx="2857500" cy="2857500"/>
          </a:xfrm>
          <a:prstGeom prst="rect">
            <a:avLst/>
          </a:prstGeom>
          <a:noFill/>
          <a:ln>
            <a:noFill/>
          </a:ln>
        </p:spPr>
      </p:pic>
      <p:pic>
        <p:nvPicPr>
          <p:cNvPr id="141" name="Google Shape;141;p3"/>
          <p:cNvPicPr preferRelativeResize="0"/>
          <p:nvPr/>
        </p:nvPicPr>
        <p:blipFill rotWithShape="1">
          <a:blip r:embed="rId5">
            <a:alphaModFix/>
          </a:blip>
          <a:srcRect b="0" l="0" r="0" t="0"/>
          <a:stretch/>
        </p:blipFill>
        <p:spPr>
          <a:xfrm>
            <a:off x="9464325" y="3361953"/>
            <a:ext cx="2750491" cy="2354330"/>
          </a:xfrm>
          <a:prstGeom prst="rect">
            <a:avLst/>
          </a:prstGeom>
          <a:noFill/>
          <a:ln>
            <a:noFill/>
          </a:ln>
        </p:spPr>
      </p:pic>
      <p:sp>
        <p:nvSpPr>
          <p:cNvPr id="142" name="Google Shape;142;p3"/>
          <p:cNvSpPr txBox="1"/>
          <p:nvPr/>
        </p:nvSpPr>
        <p:spPr>
          <a:xfrm>
            <a:off x="838200" y="1606325"/>
            <a:ext cx="6300900" cy="572700"/>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Colors attracts more attention  </a:t>
            </a:r>
            <a:endParaRPr b="0" i="0" sz="2800" u="none" cap="none" strike="noStrike">
              <a:solidFill>
                <a:schemeClr val="dk1"/>
              </a:solidFill>
              <a:latin typeface="Calibri"/>
              <a:ea typeface="Calibri"/>
              <a:cs typeface="Calibri"/>
              <a:sym typeface="Calibri"/>
            </a:endParaRPr>
          </a:p>
        </p:txBody>
      </p:sp>
      <p:sp>
        <p:nvSpPr>
          <p:cNvPr id="143" name="Google Shape;143;p3"/>
          <p:cNvSpPr txBox="1"/>
          <p:nvPr/>
        </p:nvSpPr>
        <p:spPr>
          <a:xfrm>
            <a:off x="900350" y="2181175"/>
            <a:ext cx="9336900" cy="572700"/>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Non-verbal communication can influence human mind subtly </a:t>
            </a:r>
            <a:endParaRPr b="0" i="0" sz="1400" u="none" cap="none" strike="noStrike">
              <a:solidFill>
                <a:srgbClr val="000000"/>
              </a:solidFill>
              <a:latin typeface="Arial"/>
              <a:ea typeface="Arial"/>
              <a:cs typeface="Arial"/>
              <a:sym typeface="Arial"/>
            </a:endParaRPr>
          </a:p>
        </p:txBody>
      </p:sp>
      <p:sp>
        <p:nvSpPr>
          <p:cNvPr id="144" name="Google Shape;144;p3"/>
          <p:cNvSpPr txBox="1"/>
          <p:nvPr/>
        </p:nvSpPr>
        <p:spPr>
          <a:xfrm>
            <a:off x="1042874" y="2806025"/>
            <a:ext cx="5485173" cy="700674"/>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Universal language has no bar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838200" y="0"/>
            <a:ext cx="11110645"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50" name="Google Shape;150;p4"/>
          <p:cNvSpPr txBox="1"/>
          <p:nvPr>
            <p:ph idx="1" type="body"/>
          </p:nvPr>
        </p:nvSpPr>
        <p:spPr>
          <a:xfrm>
            <a:off x="838200" y="1435199"/>
            <a:ext cx="10515600" cy="4817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900"/>
              <a:buChar char="•"/>
            </a:pPr>
            <a:r>
              <a:rPr b="1" lang="en-US" sz="2900">
                <a:latin typeface="Times New Roman"/>
                <a:ea typeface="Times New Roman"/>
                <a:cs typeface="Times New Roman"/>
                <a:sym typeface="Times New Roman"/>
              </a:rPr>
              <a:t>Data visualization:</a:t>
            </a:r>
            <a:r>
              <a:rPr lang="en-US" sz="2900">
                <a:latin typeface="Times New Roman"/>
                <a:ea typeface="Times New Roman"/>
                <a:cs typeface="Times New Roman"/>
                <a:sym typeface="Times New Roman"/>
              </a:rPr>
              <a:t> </a:t>
            </a:r>
            <a:endParaRPr sz="2900"/>
          </a:p>
          <a:p>
            <a:pPr indent="-234950" lvl="1" marL="685800" rtl="0" algn="l">
              <a:lnSpc>
                <a:spcPct val="90000"/>
              </a:lnSpc>
              <a:spcBef>
                <a:spcPts val="500"/>
              </a:spcBef>
              <a:spcAft>
                <a:spcPts val="0"/>
              </a:spcAft>
              <a:buClr>
                <a:schemeClr val="dk1"/>
              </a:buClr>
              <a:buSzPts val="2500"/>
              <a:buChar char="•"/>
            </a:pPr>
            <a:r>
              <a:rPr lang="en-US" sz="2500">
                <a:latin typeface="Times New Roman"/>
                <a:ea typeface="Times New Roman"/>
                <a:cs typeface="Times New Roman"/>
                <a:sym typeface="Times New Roman"/>
              </a:rPr>
              <a:t>A graphic representation that </a:t>
            </a:r>
            <a:r>
              <a:rPr lang="en-US" sz="2500" u="sng">
                <a:latin typeface="Times New Roman"/>
                <a:ea typeface="Times New Roman"/>
                <a:cs typeface="Times New Roman"/>
                <a:sym typeface="Times New Roman"/>
              </a:rPr>
              <a:t>expresses the significance of data</a:t>
            </a:r>
            <a:r>
              <a:rPr lang="en-US" sz="2500">
                <a:latin typeface="Times New Roman"/>
                <a:ea typeface="Times New Roman"/>
                <a:cs typeface="Times New Roman"/>
                <a:sym typeface="Times New Roman"/>
              </a:rPr>
              <a:t> </a:t>
            </a:r>
            <a:endParaRPr sz="2500"/>
          </a:p>
          <a:p>
            <a:pPr indent="-234950" lvl="1" marL="685800" rtl="0" algn="l">
              <a:lnSpc>
                <a:spcPct val="90000"/>
              </a:lnSpc>
              <a:spcBef>
                <a:spcPts val="1000"/>
              </a:spcBef>
              <a:spcAft>
                <a:spcPts val="0"/>
              </a:spcAft>
              <a:buClr>
                <a:schemeClr val="dk1"/>
              </a:buClr>
              <a:buSzPts val="2500"/>
              <a:buChar char="•"/>
            </a:pPr>
            <a:r>
              <a:rPr lang="en-US" sz="2500">
                <a:latin typeface="Times New Roman"/>
                <a:ea typeface="Times New Roman"/>
                <a:cs typeface="Times New Roman"/>
                <a:sym typeface="Times New Roman"/>
              </a:rPr>
              <a:t>Reveals insights and patterns that are not immediately visible in the raw data</a:t>
            </a:r>
            <a:endParaRPr sz="2500"/>
          </a:p>
          <a:p>
            <a:pPr indent="-234950" lvl="1" marL="685800" rtl="0" algn="l">
              <a:lnSpc>
                <a:spcPct val="90000"/>
              </a:lnSpc>
              <a:spcBef>
                <a:spcPts val="1000"/>
              </a:spcBef>
              <a:spcAft>
                <a:spcPts val="0"/>
              </a:spcAft>
              <a:buClr>
                <a:schemeClr val="dk1"/>
              </a:buClr>
              <a:buSzPts val="2500"/>
              <a:buChar char="•"/>
            </a:pPr>
            <a:r>
              <a:rPr lang="en-US" sz="2500">
                <a:latin typeface="Times New Roman"/>
                <a:ea typeface="Times New Roman"/>
                <a:cs typeface="Times New Roman"/>
                <a:sym typeface="Times New Roman"/>
              </a:rPr>
              <a:t>An art through which information, numbers, and measurements can be made easy to understand and manipulate making the information useful</a:t>
            </a:r>
            <a:endParaRPr sz="2500"/>
          </a:p>
          <a:p>
            <a:pPr indent="-234950" lvl="1" marL="685800" rtl="0" algn="l">
              <a:lnSpc>
                <a:spcPct val="90000"/>
              </a:lnSpc>
              <a:spcBef>
                <a:spcPts val="1000"/>
              </a:spcBef>
              <a:spcAft>
                <a:spcPts val="0"/>
              </a:spcAft>
              <a:buClr>
                <a:srgbClr val="833C0B"/>
              </a:buClr>
              <a:buSzPts val="2500"/>
              <a:buChar char="•"/>
            </a:pPr>
            <a:r>
              <a:rPr b="1" lang="en-US" sz="2500">
                <a:solidFill>
                  <a:srgbClr val="833C0B"/>
                </a:solidFill>
                <a:latin typeface="Times New Roman"/>
                <a:ea typeface="Times New Roman"/>
                <a:cs typeface="Times New Roman"/>
                <a:sym typeface="Times New Roman"/>
              </a:rPr>
              <a:t>Primary goal is to communicate information clearly and effectively through graphical means</a:t>
            </a:r>
            <a:endParaRPr b="1" sz="2500">
              <a:solidFill>
                <a:srgbClr val="833C0B"/>
              </a:solidFill>
              <a:latin typeface="Times New Roman"/>
              <a:ea typeface="Times New Roman"/>
              <a:cs typeface="Times New Roman"/>
              <a:sym typeface="Times New Roman"/>
            </a:endParaRPr>
          </a:p>
          <a:p>
            <a:pPr indent="-234950" lvl="1" marL="685800" rtl="0" algn="l">
              <a:lnSpc>
                <a:spcPct val="90000"/>
              </a:lnSpc>
              <a:spcBef>
                <a:spcPts val="1000"/>
              </a:spcBef>
              <a:spcAft>
                <a:spcPts val="0"/>
              </a:spcAft>
              <a:buSzPts val="2500"/>
              <a:buFont typeface="Times New Roman"/>
              <a:buChar char="•"/>
            </a:pPr>
            <a:r>
              <a:rPr b="1" lang="en-US" sz="2500">
                <a:latin typeface="Times New Roman"/>
                <a:ea typeface="Times New Roman"/>
                <a:cs typeface="Times New Roman"/>
                <a:sym typeface="Times New Roman"/>
              </a:rPr>
              <a:t>Pictorial format representing some form of collected data which would help in making decision or navigation</a:t>
            </a:r>
            <a:endParaRPr b="1" sz="2500">
              <a:latin typeface="Times New Roman"/>
              <a:ea typeface="Times New Roman"/>
              <a:cs typeface="Times New Roman"/>
              <a:sym typeface="Times New Roman"/>
            </a:endParaRPr>
          </a:p>
          <a:p>
            <a:pPr indent="0" lvl="0" marL="685800" rtl="0" algn="l">
              <a:lnSpc>
                <a:spcPct val="90000"/>
              </a:lnSpc>
              <a:spcBef>
                <a:spcPts val="1000"/>
              </a:spcBef>
              <a:spcAft>
                <a:spcPts val="0"/>
              </a:spcAft>
              <a:buSzPts val="1800"/>
              <a:buNone/>
            </a:pPr>
            <a:r>
              <a:t/>
            </a:r>
            <a:endParaRPr sz="2900">
              <a:latin typeface="Times New Roman"/>
              <a:ea typeface="Times New Roman"/>
              <a:cs typeface="Times New Roman"/>
              <a:sym typeface="Times New Roman"/>
            </a:endParaRPr>
          </a:p>
        </p:txBody>
      </p:sp>
      <p:sp>
        <p:nvSpPr>
          <p:cNvPr id="151" name="Google Shape;15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52" name="Google Shape;15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g14464aad1b1_0_0"/>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58" name="Google Shape;158;g14464aad1b1_0_0"/>
          <p:cNvSpPr txBox="1"/>
          <p:nvPr>
            <p:ph idx="1" type="body"/>
          </p:nvPr>
        </p:nvSpPr>
        <p:spPr>
          <a:xfrm>
            <a:off x="838200" y="1435207"/>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228600" lvl="1" marL="685800" rtl="0" algn="l">
              <a:lnSpc>
                <a:spcPct val="90000"/>
              </a:lnSpc>
              <a:spcBef>
                <a:spcPts val="500"/>
              </a:spcBef>
              <a:spcAft>
                <a:spcPts val="0"/>
              </a:spcAft>
              <a:buClr>
                <a:schemeClr val="dk1"/>
              </a:buClr>
              <a:buSzPts val="2400"/>
              <a:buChar char="•"/>
            </a:pPr>
            <a:r>
              <a:rPr b="1" lang="en-US">
                <a:latin typeface="Times New Roman"/>
                <a:ea typeface="Times New Roman"/>
                <a:cs typeface="Times New Roman"/>
                <a:sym typeface="Times New Roman"/>
              </a:rPr>
              <a:t>65% of the audience is visual learner</a:t>
            </a:r>
            <a:endParaRPr b="1">
              <a:latin typeface="Times New Roman"/>
              <a:ea typeface="Times New Roman"/>
              <a:cs typeface="Times New Roman"/>
              <a:sym typeface="Times New Roman"/>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compared </a:t>
            </a:r>
            <a:r>
              <a:rPr b="1" lang="en-US" sz="2400">
                <a:solidFill>
                  <a:srgbClr val="F4B081"/>
                </a:solidFill>
                <a:latin typeface="Times New Roman"/>
                <a:ea typeface="Times New Roman"/>
                <a:cs typeface="Times New Roman"/>
                <a:sym typeface="Times New Roman"/>
              </a:rPr>
              <a:t>to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0% of what we hear</a:t>
            </a:r>
            <a:endParaRPr b="1">
              <a:solidFill>
                <a:srgbClr val="F7CAAC"/>
              </a:solidFill>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It takes </a:t>
            </a:r>
            <a:r>
              <a:rPr b="1" lang="en-US" u="sng">
                <a:latin typeface="Times New Roman"/>
                <a:ea typeface="Times New Roman"/>
                <a:cs typeface="Times New Roman"/>
                <a:sym typeface="Times New Roman"/>
              </a:rPr>
              <a:t>just 1/10 seconds </a:t>
            </a:r>
            <a:r>
              <a:rPr b="1" lang="en-US">
                <a:latin typeface="Times New Roman"/>
                <a:ea typeface="Times New Roman"/>
                <a:cs typeface="Times New Roman"/>
                <a:sym typeface="Times New Roman"/>
              </a:rPr>
              <a:t>for brain to process as an image </a:t>
            </a:r>
            <a:endParaRPr b="1">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Pictures would help in </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Decision making</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Uncovering patterns and trends</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Presenting arguments or telling story  </a:t>
            </a:r>
            <a:endParaRPr>
              <a:latin typeface="Times New Roman"/>
              <a:ea typeface="Times New Roman"/>
              <a:cs typeface="Times New Roman"/>
              <a:sym typeface="Times New Roman"/>
            </a:endParaRPr>
          </a:p>
        </p:txBody>
      </p:sp>
      <p:sp>
        <p:nvSpPr>
          <p:cNvPr id="159" name="Google Shape;159;g14464aad1b1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60" name="Google Shape;160;g14464aad1b1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3"/>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66" name="Google Shape;166;p93"/>
          <p:cNvSpPr txBox="1"/>
          <p:nvPr>
            <p:ph idx="1" type="body"/>
          </p:nvPr>
        </p:nvSpPr>
        <p:spPr>
          <a:xfrm>
            <a:off x="838200" y="1124744"/>
            <a:ext cx="10515600" cy="5256584"/>
          </a:xfrm>
          <a:prstGeom prst="rect">
            <a:avLst/>
          </a:prstGeom>
          <a:noFill/>
          <a:ln>
            <a:noFill/>
          </a:ln>
        </p:spPr>
        <p:txBody>
          <a:bodyPr anchorCtr="0" anchor="t" bIns="45700" lIns="91425" spcFirstLastPara="1" rIns="91425" wrap="square" tIns="45700">
            <a:normAutofit fontScale="85000" lnSpcReduction="20000"/>
          </a:bodyPr>
          <a:lstStyle/>
          <a:p>
            <a:pPr indent="-214183" lvl="0" marL="228600" rtl="0" algn="l">
              <a:lnSpc>
                <a:spcPct val="90000"/>
              </a:lnSpc>
              <a:spcBef>
                <a:spcPts val="0"/>
              </a:spcBef>
              <a:spcAft>
                <a:spcPts val="0"/>
              </a:spcAft>
              <a:buClr>
                <a:schemeClr val="dk1"/>
              </a:buClr>
              <a:buSzPct val="89030"/>
              <a:buChar char="•"/>
            </a:pPr>
            <a:r>
              <a:rPr b="1" lang="en-US" sz="3400">
                <a:latin typeface="Times New Roman"/>
                <a:ea typeface="Times New Roman"/>
                <a:cs typeface="Times New Roman"/>
                <a:sym typeface="Times New Roman"/>
              </a:rPr>
              <a:t>Data visualization: </a:t>
            </a:r>
            <a:endParaRPr b="1" sz="3400">
              <a:latin typeface="Times New Roman"/>
              <a:ea typeface="Times New Roman"/>
              <a:cs typeface="Times New Roman"/>
              <a:sym typeface="Times New Roman"/>
            </a:endParaRPr>
          </a:p>
          <a:p>
            <a:pPr indent="-216243" lvl="1" marL="685800" rtl="0" algn="l">
              <a:lnSpc>
                <a:spcPct val="90000"/>
              </a:lnSpc>
              <a:spcBef>
                <a:spcPts val="500"/>
              </a:spcBef>
              <a:spcAft>
                <a:spcPts val="0"/>
              </a:spcAft>
              <a:buClr>
                <a:schemeClr val="dk1"/>
              </a:buClr>
              <a:buSzPct val="78624"/>
              <a:buChar char="•"/>
            </a:pPr>
            <a:r>
              <a:rPr b="1" lang="en-US" sz="3300">
                <a:latin typeface="Times New Roman"/>
                <a:ea typeface="Times New Roman"/>
                <a:cs typeface="Times New Roman"/>
                <a:sym typeface="Times New Roman"/>
              </a:rPr>
              <a:t>65% of the audience is visual learner</a:t>
            </a:r>
            <a:endParaRPr/>
          </a:p>
          <a:p>
            <a:pPr indent="-333632" lvl="1" marL="914400" rtl="0" algn="l">
              <a:lnSpc>
                <a:spcPct val="90000"/>
              </a:lnSpc>
              <a:spcBef>
                <a:spcPts val="500"/>
              </a:spcBef>
              <a:spcAft>
                <a:spcPts val="0"/>
              </a:spcAft>
              <a:buSzPct val="69498"/>
              <a:buChar char="•"/>
            </a:pPr>
            <a:r>
              <a:rPr b="1" lang="en-US" sz="2800"/>
              <a:t>Tools for Visual Learners</a:t>
            </a:r>
            <a:endParaRPr/>
          </a:p>
          <a:p>
            <a:pPr indent="-333632" lvl="2" marL="1371600" rtl="0" algn="l">
              <a:lnSpc>
                <a:spcPct val="90000"/>
              </a:lnSpc>
              <a:spcBef>
                <a:spcPts val="500"/>
              </a:spcBef>
              <a:spcAft>
                <a:spcPts val="0"/>
              </a:spcAft>
              <a:buSzPct val="88452"/>
              <a:buChar char="•"/>
            </a:pPr>
            <a:r>
              <a:rPr lang="en-US" sz="2200"/>
              <a:t>Use mind pictures or mind maps  </a:t>
            </a:r>
            <a:endParaRPr/>
          </a:p>
          <a:p>
            <a:pPr indent="-333632" lvl="2" marL="1371600" rtl="0" algn="l">
              <a:lnSpc>
                <a:spcPct val="90000"/>
              </a:lnSpc>
              <a:spcBef>
                <a:spcPts val="500"/>
              </a:spcBef>
              <a:spcAft>
                <a:spcPts val="0"/>
              </a:spcAft>
              <a:buSzPct val="88452"/>
              <a:buChar char="•"/>
            </a:pPr>
            <a:r>
              <a:rPr lang="en-US" sz="2200"/>
              <a:t>Take notes</a:t>
            </a:r>
            <a:endParaRPr/>
          </a:p>
          <a:p>
            <a:pPr indent="-333632" lvl="2" marL="1371600" rtl="0" algn="l">
              <a:lnSpc>
                <a:spcPct val="90000"/>
              </a:lnSpc>
              <a:spcBef>
                <a:spcPts val="500"/>
              </a:spcBef>
              <a:spcAft>
                <a:spcPts val="0"/>
              </a:spcAft>
              <a:buSzPct val="88452"/>
              <a:buChar char="•"/>
            </a:pPr>
            <a:r>
              <a:rPr lang="en-US" sz="2200"/>
              <a:t>Use "clue" words for recalling</a:t>
            </a:r>
            <a:endParaRPr/>
          </a:p>
          <a:p>
            <a:pPr indent="-333632" lvl="2" marL="1371600" rtl="0" algn="l">
              <a:lnSpc>
                <a:spcPct val="90000"/>
              </a:lnSpc>
              <a:spcBef>
                <a:spcPts val="500"/>
              </a:spcBef>
              <a:spcAft>
                <a:spcPts val="0"/>
              </a:spcAft>
              <a:buSzPct val="88452"/>
              <a:buChar char="•"/>
            </a:pPr>
            <a:r>
              <a:rPr lang="en-US" sz="2200"/>
              <a:t>Use colored highlighters to color code texts and notes</a:t>
            </a:r>
            <a:endParaRPr/>
          </a:p>
          <a:p>
            <a:pPr indent="-333632" lvl="2" marL="1371600" rtl="0" algn="l">
              <a:lnSpc>
                <a:spcPct val="90000"/>
              </a:lnSpc>
              <a:spcBef>
                <a:spcPts val="500"/>
              </a:spcBef>
              <a:spcAft>
                <a:spcPts val="0"/>
              </a:spcAft>
              <a:buSzPct val="88452"/>
              <a:buChar char="•"/>
            </a:pPr>
            <a:r>
              <a:rPr lang="en-US" sz="2200"/>
              <a:t>Use maps, charts, diagrams, and lists</a:t>
            </a:r>
            <a:endParaRPr/>
          </a:p>
          <a:p>
            <a:pPr indent="-333632" lvl="2" marL="1371600" rtl="0" algn="l">
              <a:lnSpc>
                <a:spcPct val="90000"/>
              </a:lnSpc>
              <a:spcBef>
                <a:spcPts val="500"/>
              </a:spcBef>
              <a:spcAft>
                <a:spcPts val="0"/>
              </a:spcAft>
              <a:buSzPct val="88452"/>
              <a:buChar char="•"/>
            </a:pPr>
            <a:r>
              <a:rPr lang="en-US" sz="2200"/>
              <a:t>Watch audiovisuals</a:t>
            </a:r>
            <a:endParaRPr/>
          </a:p>
          <a:p>
            <a:pPr indent="-333632" lvl="2" marL="1371600" rtl="0" algn="l">
              <a:lnSpc>
                <a:spcPct val="90000"/>
              </a:lnSpc>
              <a:spcBef>
                <a:spcPts val="500"/>
              </a:spcBef>
              <a:spcAft>
                <a:spcPts val="0"/>
              </a:spcAft>
              <a:buSzPct val="88452"/>
              <a:buChar char="•"/>
            </a:pPr>
            <a:r>
              <a:rPr lang="en-US" sz="2200"/>
              <a:t>Take photographs</a:t>
            </a:r>
            <a:endParaRPr/>
          </a:p>
          <a:p>
            <a:pPr indent="-333632" lvl="2" marL="1371600" rtl="0" algn="l">
              <a:lnSpc>
                <a:spcPct val="90000"/>
              </a:lnSpc>
              <a:spcBef>
                <a:spcPts val="500"/>
              </a:spcBef>
              <a:spcAft>
                <a:spcPts val="0"/>
              </a:spcAft>
              <a:buSzPct val="88452"/>
              <a:buChar char="•"/>
            </a:pPr>
            <a:r>
              <a:rPr lang="en-US" sz="2200"/>
              <a:t>Use study cards or flashcards</a:t>
            </a:r>
            <a:endParaRPr/>
          </a:p>
          <a:p>
            <a:pPr indent="-333632" lvl="2" marL="1371600" rtl="0" algn="l">
              <a:lnSpc>
                <a:spcPct val="90000"/>
              </a:lnSpc>
              <a:spcBef>
                <a:spcPts val="500"/>
              </a:spcBef>
              <a:spcAft>
                <a:spcPts val="0"/>
              </a:spcAft>
              <a:buSzPct val="88452"/>
              <a:buChar char="•"/>
            </a:pPr>
            <a:r>
              <a:rPr lang="en-US" sz="2200"/>
              <a:t>Use notebooks</a:t>
            </a:r>
            <a:endParaRPr/>
          </a:p>
          <a:p>
            <a:pPr indent="-333632" lvl="2" marL="1371600" rtl="0" algn="l">
              <a:lnSpc>
                <a:spcPct val="90000"/>
              </a:lnSpc>
              <a:spcBef>
                <a:spcPts val="500"/>
              </a:spcBef>
              <a:spcAft>
                <a:spcPts val="0"/>
              </a:spcAft>
              <a:buSzPct val="88452"/>
              <a:buChar char="•"/>
            </a:pPr>
            <a:r>
              <a:rPr lang="en-US" sz="2200"/>
              <a:t>Watch instructor's mouth and face</a:t>
            </a:r>
            <a:endParaRPr/>
          </a:p>
          <a:p>
            <a:pPr indent="-333632" lvl="2" marL="1371600" rtl="0" algn="l">
              <a:lnSpc>
                <a:spcPct val="90000"/>
              </a:lnSpc>
              <a:spcBef>
                <a:spcPts val="500"/>
              </a:spcBef>
              <a:spcAft>
                <a:spcPts val="0"/>
              </a:spcAft>
              <a:buSzPct val="88452"/>
              <a:buChar char="•"/>
            </a:pPr>
            <a:r>
              <a:rPr lang="en-US" sz="2200"/>
              <a:t>Use visual chains or mnemonics</a:t>
            </a:r>
            <a:endParaRPr/>
          </a:p>
          <a:p>
            <a:pPr indent="-333632" lvl="2" marL="1371600" rtl="0" algn="l">
              <a:lnSpc>
                <a:spcPct val="90000"/>
              </a:lnSpc>
              <a:spcBef>
                <a:spcPts val="500"/>
              </a:spcBef>
              <a:spcAft>
                <a:spcPts val="0"/>
              </a:spcAft>
              <a:buSzPct val="88452"/>
              <a:buChar char="•"/>
            </a:pPr>
            <a:r>
              <a:rPr lang="en-US" sz="2200"/>
              <a:t>Watch TV</a:t>
            </a:r>
            <a:endParaRPr/>
          </a:p>
          <a:p>
            <a:pPr indent="-333632" lvl="2" marL="1371600" rtl="0" algn="l">
              <a:lnSpc>
                <a:spcPct val="90000"/>
              </a:lnSpc>
              <a:spcBef>
                <a:spcPts val="500"/>
              </a:spcBef>
              <a:spcAft>
                <a:spcPts val="0"/>
              </a:spcAft>
              <a:buSzPct val="88452"/>
              <a:buChar char="•"/>
            </a:pPr>
            <a:r>
              <a:rPr lang="en-US" sz="2200"/>
              <a:t>See parts of words</a:t>
            </a:r>
            <a:endParaRPr/>
          </a:p>
          <a:p>
            <a:pPr indent="-333632" lvl="2" marL="1371600" rtl="0" algn="l">
              <a:lnSpc>
                <a:spcPct val="90000"/>
              </a:lnSpc>
              <a:spcBef>
                <a:spcPts val="500"/>
              </a:spcBef>
              <a:spcAft>
                <a:spcPts val="0"/>
              </a:spcAft>
              <a:buSzPct val="88452"/>
              <a:buChar char="•"/>
            </a:pPr>
            <a:r>
              <a:rPr lang="en-US" sz="2200"/>
              <a:t>Write down directions</a:t>
            </a:r>
            <a:endParaRPr/>
          </a:p>
          <a:p>
            <a:pPr indent="-76200" lvl="1" marL="685800" rtl="0" algn="l">
              <a:lnSpc>
                <a:spcPct val="90000"/>
              </a:lnSpc>
              <a:spcBef>
                <a:spcPts val="500"/>
              </a:spcBef>
              <a:spcAft>
                <a:spcPts val="0"/>
              </a:spcAft>
              <a:buClr>
                <a:schemeClr val="dk1"/>
              </a:buClr>
              <a:buSzPct val="108108"/>
              <a:buNone/>
            </a:pPr>
            <a:r>
              <a:t/>
            </a:r>
            <a:endParaRPr b="1">
              <a:latin typeface="Times New Roman"/>
              <a:ea typeface="Times New Roman"/>
              <a:cs typeface="Times New Roman"/>
              <a:sym typeface="Times New Roman"/>
            </a:endParaRPr>
          </a:p>
        </p:txBody>
      </p:sp>
      <p:sp>
        <p:nvSpPr>
          <p:cNvPr id="167" name="Google Shape;167;p9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68" name="Google Shape;168;p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b437b5ba23_0_0"/>
          <p:cNvSpPr txBox="1"/>
          <p:nvPr>
            <p:ph type="title"/>
          </p:nvPr>
        </p:nvSpPr>
        <p:spPr>
          <a:xfrm>
            <a:off x="952500" y="-10617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Mind Map of DV</a:t>
            </a:r>
            <a:r>
              <a:rPr lang="en-US"/>
              <a:t> </a:t>
            </a:r>
            <a:endParaRPr/>
          </a:p>
        </p:txBody>
      </p:sp>
      <p:sp>
        <p:nvSpPr>
          <p:cNvPr id="175" name="Google Shape;175;g3b437b5ba23_0_0"/>
          <p:cNvSpPr txBox="1"/>
          <p:nvPr>
            <p:ph idx="1" type="body"/>
          </p:nvPr>
        </p:nvSpPr>
        <p:spPr>
          <a:xfrm>
            <a:off x="1170075" y="5951550"/>
            <a:ext cx="10515600" cy="518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
        <p:nvSpPr>
          <p:cNvPr id="176" name="Google Shape;176;g3b437b5ba23_0_0"/>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800"/>
              <a:buFont typeface="Arial"/>
              <a:buNone/>
            </a:pPr>
            <a:fld id="{00000000-1234-1234-1234-123412341234}" type="slidenum">
              <a:rPr lang="en-US"/>
              <a:t>‹#›</a:t>
            </a:fld>
            <a:endParaRPr/>
          </a:p>
        </p:txBody>
      </p:sp>
      <p:pic>
        <p:nvPicPr>
          <p:cNvPr id="177" name="Google Shape;177;g3b437b5ba23_0_0" title="mindmap_DV.png"/>
          <p:cNvPicPr preferRelativeResize="0"/>
          <p:nvPr/>
        </p:nvPicPr>
        <p:blipFill>
          <a:blip r:embed="rId3">
            <a:alphaModFix/>
          </a:blip>
          <a:stretch>
            <a:fillRect/>
          </a:stretch>
        </p:blipFill>
        <p:spPr>
          <a:xfrm>
            <a:off x="952500" y="848675"/>
            <a:ext cx="10286999" cy="5102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1" name="Shape 181"/>
        <p:cNvGrpSpPr/>
        <p:nvPr/>
      </p:nvGrpSpPr>
      <p:grpSpPr>
        <a:xfrm>
          <a:off x="0" y="0"/>
          <a:ext cx="0" cy="0"/>
          <a:chOff x="0" y="0"/>
          <a:chExt cx="0" cy="0"/>
        </a:xfrm>
      </p:grpSpPr>
      <p:sp>
        <p:nvSpPr>
          <p:cNvPr id="182" name="Google Shape;182;p94"/>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83" name="Google Shape;183;p94"/>
          <p:cNvSpPr txBox="1"/>
          <p:nvPr>
            <p:ph idx="1" type="body"/>
          </p:nvPr>
        </p:nvSpPr>
        <p:spPr>
          <a:xfrm>
            <a:off x="767408" y="980728"/>
            <a:ext cx="10515600" cy="151216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184" name="Google Shape;184;p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85" name="Google Shape;185;p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186" name="Google Shape;186;p94"/>
          <p:cNvPicPr preferRelativeResize="0"/>
          <p:nvPr/>
        </p:nvPicPr>
        <p:blipFill rotWithShape="1">
          <a:blip r:embed="rId3">
            <a:alphaModFix/>
          </a:blip>
          <a:srcRect b="0" l="0" r="0" t="51135"/>
          <a:stretch/>
        </p:blipFill>
        <p:spPr>
          <a:xfrm>
            <a:off x="2127128" y="2636912"/>
            <a:ext cx="2361886" cy="3168352"/>
          </a:xfrm>
          <a:prstGeom prst="rect">
            <a:avLst/>
          </a:prstGeom>
          <a:noFill/>
          <a:ln>
            <a:noFill/>
          </a:ln>
        </p:spPr>
      </p:pic>
      <p:pic>
        <p:nvPicPr>
          <p:cNvPr id="187" name="Google Shape;187;p94"/>
          <p:cNvPicPr preferRelativeResize="0"/>
          <p:nvPr/>
        </p:nvPicPr>
        <p:blipFill rotWithShape="1">
          <a:blip r:embed="rId4">
            <a:alphaModFix/>
          </a:blip>
          <a:srcRect b="10740" l="21428" r="60280" t="45876"/>
          <a:stretch/>
        </p:blipFill>
        <p:spPr>
          <a:xfrm>
            <a:off x="4838164" y="2670776"/>
            <a:ext cx="2230018" cy="2975194"/>
          </a:xfrm>
          <a:prstGeom prst="rect">
            <a:avLst/>
          </a:prstGeom>
          <a:noFill/>
          <a:ln>
            <a:noFill/>
          </a:ln>
        </p:spPr>
      </p:pic>
      <p:pic>
        <p:nvPicPr>
          <p:cNvPr id="188" name="Google Shape;188;p94"/>
          <p:cNvPicPr preferRelativeResize="0"/>
          <p:nvPr/>
        </p:nvPicPr>
        <p:blipFill rotWithShape="1">
          <a:blip r:embed="rId5">
            <a:alphaModFix/>
          </a:blip>
          <a:srcRect b="9091" l="40057" r="40767" t="45757"/>
          <a:stretch/>
        </p:blipFill>
        <p:spPr>
          <a:xfrm>
            <a:off x="7646476" y="2702143"/>
            <a:ext cx="2337956" cy="309649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2" name="Shape 192"/>
        <p:cNvGrpSpPr/>
        <p:nvPr/>
      </p:nvGrpSpPr>
      <p:grpSpPr>
        <a:xfrm>
          <a:off x="0" y="0"/>
          <a:ext cx="0" cy="0"/>
          <a:chOff x="0" y="0"/>
          <a:chExt cx="0" cy="0"/>
        </a:xfrm>
      </p:grpSpPr>
      <p:pic>
        <p:nvPicPr>
          <p:cNvPr id="193" name="Google Shape;193;p95"/>
          <p:cNvPicPr preferRelativeResize="0"/>
          <p:nvPr/>
        </p:nvPicPr>
        <p:blipFill rotWithShape="1">
          <a:blip r:embed="rId3">
            <a:alphaModFix/>
          </a:blip>
          <a:srcRect b="11667" l="4773" r="43665" t="26061"/>
          <a:stretch/>
        </p:blipFill>
        <p:spPr>
          <a:xfrm>
            <a:off x="2495600" y="2254680"/>
            <a:ext cx="6286501" cy="4270664"/>
          </a:xfrm>
          <a:prstGeom prst="rect">
            <a:avLst/>
          </a:prstGeom>
          <a:noFill/>
          <a:ln>
            <a:noFill/>
          </a:ln>
        </p:spPr>
      </p:pic>
      <p:sp>
        <p:nvSpPr>
          <p:cNvPr id="194" name="Google Shape;194;p95"/>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195" name="Google Shape;195;p95"/>
          <p:cNvSpPr txBox="1"/>
          <p:nvPr>
            <p:ph idx="1" type="body"/>
          </p:nvPr>
        </p:nvSpPr>
        <p:spPr>
          <a:xfrm>
            <a:off x="407368" y="980728"/>
            <a:ext cx="11377264" cy="15121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196" name="Google Shape;196;p9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197" name="Google Shape;197;p9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1" name="Shape 201"/>
        <p:cNvGrpSpPr/>
        <p:nvPr/>
      </p:nvGrpSpPr>
      <p:grpSpPr>
        <a:xfrm>
          <a:off x="0" y="0"/>
          <a:ext cx="0" cy="0"/>
          <a:chOff x="0" y="0"/>
          <a:chExt cx="0" cy="0"/>
        </a:xfrm>
      </p:grpSpPr>
      <p:pic>
        <p:nvPicPr>
          <p:cNvPr id="202" name="Google Shape;202;p96"/>
          <p:cNvPicPr preferRelativeResize="0"/>
          <p:nvPr/>
        </p:nvPicPr>
        <p:blipFill rotWithShape="1">
          <a:blip r:embed="rId3">
            <a:alphaModFix/>
          </a:blip>
          <a:srcRect b="10758" l="12869" r="66080" t="58654"/>
          <a:stretch/>
        </p:blipFill>
        <p:spPr>
          <a:xfrm>
            <a:off x="6672064" y="3111748"/>
            <a:ext cx="4176464" cy="3413596"/>
          </a:xfrm>
          <a:prstGeom prst="rect">
            <a:avLst/>
          </a:prstGeom>
          <a:noFill/>
          <a:ln>
            <a:noFill/>
          </a:ln>
        </p:spPr>
      </p:pic>
      <p:sp>
        <p:nvSpPr>
          <p:cNvPr id="203" name="Google Shape;203;p96"/>
          <p:cNvSpPr txBox="1"/>
          <p:nvPr>
            <p:ph type="title"/>
          </p:nvPr>
        </p:nvSpPr>
        <p:spPr>
          <a:xfrm>
            <a:off x="838200" y="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204" name="Google Shape;204;p96"/>
          <p:cNvSpPr txBox="1"/>
          <p:nvPr>
            <p:ph idx="1" type="body"/>
          </p:nvPr>
        </p:nvSpPr>
        <p:spPr>
          <a:xfrm>
            <a:off x="407368" y="980728"/>
            <a:ext cx="11377264" cy="151216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1905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Easy to retain</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b="1" lang="en-US" sz="2600">
                <a:solidFill>
                  <a:srgbClr val="833C0B"/>
                </a:solidFill>
                <a:latin typeface="Times New Roman"/>
                <a:ea typeface="Times New Roman"/>
                <a:cs typeface="Times New Roman"/>
                <a:sym typeface="Times New Roman"/>
              </a:rPr>
              <a:t>80% of what we see </a:t>
            </a:r>
            <a:r>
              <a:rPr b="1" lang="en-US" sz="2600">
                <a:solidFill>
                  <a:srgbClr val="2E75B5"/>
                </a:solidFill>
                <a:latin typeface="Times New Roman"/>
                <a:ea typeface="Times New Roman"/>
                <a:cs typeface="Times New Roman"/>
                <a:sym typeface="Times New Roman"/>
              </a:rPr>
              <a:t>compared </a:t>
            </a:r>
            <a:r>
              <a:rPr b="1" lang="en-US" sz="2400">
                <a:solidFill>
                  <a:srgbClr val="2E75B5"/>
                </a:solidFill>
                <a:latin typeface="Times New Roman"/>
                <a:ea typeface="Times New Roman"/>
                <a:cs typeface="Times New Roman"/>
                <a:sym typeface="Times New Roman"/>
              </a:rPr>
              <a:t>to</a:t>
            </a:r>
            <a:r>
              <a:rPr b="1" lang="en-US" sz="2400">
                <a:solidFill>
                  <a:srgbClr val="F4B081"/>
                </a:solidFill>
                <a:latin typeface="Times New Roman"/>
                <a:ea typeface="Times New Roman"/>
                <a:cs typeface="Times New Roman"/>
                <a:sym typeface="Times New Roman"/>
              </a:rPr>
              <a:t>  20% of what we read</a:t>
            </a:r>
            <a:r>
              <a:rPr b="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 </a:t>
            </a:r>
            <a:r>
              <a:rPr b="1" lang="en-US">
                <a:solidFill>
                  <a:srgbClr val="F7CAAC"/>
                </a:solidFill>
                <a:latin typeface="Times New Roman"/>
                <a:ea typeface="Times New Roman"/>
                <a:cs typeface="Times New Roman"/>
                <a:sym typeface="Times New Roman"/>
              </a:rPr>
              <a:t>10% of what we hear</a:t>
            </a:r>
            <a:endParaRPr b="1">
              <a:solidFill>
                <a:srgbClr val="F7CAAC"/>
              </a:solidFill>
              <a:latin typeface="Times New Roman"/>
              <a:ea typeface="Times New Roman"/>
              <a:cs typeface="Times New Roman"/>
              <a:sym typeface="Times New Roman"/>
            </a:endParaRPr>
          </a:p>
        </p:txBody>
      </p:sp>
      <p:sp>
        <p:nvSpPr>
          <p:cNvPr id="205" name="Google Shape;205;p9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06" name="Google Shape;206;p9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07" name="Google Shape;207;p96"/>
          <p:cNvPicPr preferRelativeResize="0"/>
          <p:nvPr/>
        </p:nvPicPr>
        <p:blipFill rotWithShape="1">
          <a:blip r:embed="rId4">
            <a:alphaModFix/>
          </a:blip>
          <a:srcRect b="0" l="0" r="0" t="0"/>
          <a:stretch/>
        </p:blipFill>
        <p:spPr>
          <a:xfrm>
            <a:off x="4005263" y="2313310"/>
            <a:ext cx="5370744" cy="971674"/>
          </a:xfrm>
          <a:prstGeom prst="rect">
            <a:avLst/>
          </a:prstGeom>
          <a:noFill/>
          <a:ln>
            <a:noFill/>
          </a:ln>
        </p:spPr>
      </p:pic>
      <p:pic>
        <p:nvPicPr>
          <p:cNvPr id="208" name="Google Shape;208;p96"/>
          <p:cNvPicPr preferRelativeResize="0"/>
          <p:nvPr/>
        </p:nvPicPr>
        <p:blipFill rotWithShape="1">
          <a:blip r:embed="rId3">
            <a:alphaModFix/>
          </a:blip>
          <a:srcRect b="41272" l="12869" r="66080" t="31495"/>
          <a:stretch/>
        </p:blipFill>
        <p:spPr>
          <a:xfrm>
            <a:off x="846858" y="3210087"/>
            <a:ext cx="4457054" cy="32432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sp>
        <p:nvSpPr>
          <p:cNvPr id="213" name="Google Shape;213;p97"/>
          <p:cNvSpPr txBox="1"/>
          <p:nvPr>
            <p:ph type="title"/>
          </p:nvPr>
        </p:nvSpPr>
        <p:spPr>
          <a:xfrm>
            <a:off x="838200" y="-171400"/>
            <a:ext cx="111105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000"/>
              <a:buFont typeface="Times New Roman"/>
              <a:buNone/>
            </a:pPr>
            <a:r>
              <a:rPr b="1" lang="en-US" sz="4000">
                <a:solidFill>
                  <a:srgbClr val="002060"/>
                </a:solidFill>
                <a:latin typeface="Times New Roman"/>
                <a:ea typeface="Times New Roman"/>
                <a:cs typeface="Times New Roman"/>
                <a:sym typeface="Times New Roman"/>
              </a:rPr>
              <a:t>Introduction to data visualization and it’s need</a:t>
            </a:r>
            <a:endParaRPr sz="4000">
              <a:solidFill>
                <a:srgbClr val="002060"/>
              </a:solidFill>
            </a:endParaRPr>
          </a:p>
        </p:txBody>
      </p:sp>
      <p:sp>
        <p:nvSpPr>
          <p:cNvPr id="214" name="Google Shape;214;p97"/>
          <p:cNvSpPr txBox="1"/>
          <p:nvPr>
            <p:ph idx="1" type="body"/>
          </p:nvPr>
        </p:nvSpPr>
        <p:spPr>
          <a:xfrm>
            <a:off x="838200" y="1022016"/>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a:t>
            </a:r>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It takes just </a:t>
            </a:r>
            <a:r>
              <a:rPr b="1" lang="en-US" u="sng">
                <a:latin typeface="Times New Roman"/>
                <a:ea typeface="Times New Roman"/>
                <a:cs typeface="Times New Roman"/>
                <a:sym typeface="Times New Roman"/>
              </a:rPr>
              <a:t>1/10 seconds </a:t>
            </a:r>
            <a:r>
              <a:rPr b="1" lang="en-US">
                <a:latin typeface="Times New Roman"/>
                <a:ea typeface="Times New Roman"/>
                <a:cs typeface="Times New Roman"/>
                <a:sym typeface="Times New Roman"/>
              </a:rPr>
              <a:t>for brain to process as an image </a:t>
            </a:r>
            <a:endParaRPr b="1">
              <a:latin typeface="Times New Roman"/>
              <a:ea typeface="Times New Roman"/>
              <a:cs typeface="Times New Roman"/>
              <a:sym typeface="Times New Roman"/>
            </a:endParaRPr>
          </a:p>
          <a:p>
            <a:pPr indent="-228600" lvl="1" marL="685800" rtl="0" algn="l">
              <a:lnSpc>
                <a:spcPct val="90000"/>
              </a:lnSpc>
              <a:spcBef>
                <a:spcPts val="500"/>
              </a:spcBef>
              <a:spcAft>
                <a:spcPts val="0"/>
              </a:spcAft>
              <a:buSzPts val="1800"/>
              <a:buFont typeface="Times New Roman"/>
              <a:buChar char="•"/>
            </a:pPr>
            <a:r>
              <a:rPr b="1" lang="en-US">
                <a:latin typeface="Times New Roman"/>
                <a:ea typeface="Times New Roman"/>
                <a:cs typeface="Times New Roman"/>
                <a:sym typeface="Times New Roman"/>
              </a:rPr>
              <a:t>Pictures would help in </a:t>
            </a:r>
            <a:endParaRPr b="1">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Decision making</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Uncovering patterns and trends</a:t>
            </a:r>
            <a:endParaRPr>
              <a:latin typeface="Times New Roman"/>
              <a:ea typeface="Times New Roman"/>
              <a:cs typeface="Times New Roman"/>
              <a:sym typeface="Times New Roman"/>
            </a:endParaRPr>
          </a:p>
          <a:p>
            <a:pPr indent="-228600" lvl="2" marL="1143000" rtl="0" algn="l">
              <a:lnSpc>
                <a:spcPct val="90000"/>
              </a:lnSpc>
              <a:spcBef>
                <a:spcPts val="500"/>
              </a:spcBef>
              <a:spcAft>
                <a:spcPts val="0"/>
              </a:spcAft>
              <a:buSzPts val="1800"/>
              <a:buFont typeface="Times New Roman"/>
              <a:buChar char="•"/>
            </a:pPr>
            <a:r>
              <a:rPr lang="en-US">
                <a:latin typeface="Times New Roman"/>
                <a:ea typeface="Times New Roman"/>
                <a:cs typeface="Times New Roman"/>
                <a:sym typeface="Times New Roman"/>
              </a:rPr>
              <a:t>Presenting arguments or telling story  </a:t>
            </a:r>
            <a:endParaRPr>
              <a:latin typeface="Times New Roman"/>
              <a:ea typeface="Times New Roman"/>
              <a:cs typeface="Times New Roman"/>
              <a:sym typeface="Times New Roman"/>
            </a:endParaRPr>
          </a:p>
        </p:txBody>
      </p:sp>
      <p:sp>
        <p:nvSpPr>
          <p:cNvPr id="215" name="Google Shape;215;p9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16" name="Google Shape;216;p9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17" name="Google Shape;217;p97"/>
          <p:cNvPicPr preferRelativeResize="0"/>
          <p:nvPr/>
        </p:nvPicPr>
        <p:blipFill rotWithShape="1">
          <a:blip r:embed="rId3">
            <a:alphaModFix/>
          </a:blip>
          <a:srcRect b="0" l="0" r="0" t="0"/>
          <a:stretch/>
        </p:blipFill>
        <p:spPr>
          <a:xfrm>
            <a:off x="1055440" y="3432207"/>
            <a:ext cx="3312368" cy="2735721"/>
          </a:xfrm>
          <a:prstGeom prst="rect">
            <a:avLst/>
          </a:prstGeom>
          <a:noFill/>
          <a:ln>
            <a:noFill/>
          </a:ln>
        </p:spPr>
      </p:pic>
      <p:pic>
        <p:nvPicPr>
          <p:cNvPr id="218" name="Google Shape;218;p97"/>
          <p:cNvPicPr preferRelativeResize="0"/>
          <p:nvPr/>
        </p:nvPicPr>
        <p:blipFill rotWithShape="1">
          <a:blip r:embed="rId4">
            <a:alphaModFix/>
          </a:blip>
          <a:srcRect b="0" l="0" r="0" t="0"/>
          <a:stretch/>
        </p:blipFill>
        <p:spPr>
          <a:xfrm>
            <a:off x="4727848" y="3428999"/>
            <a:ext cx="3528392" cy="2750479"/>
          </a:xfrm>
          <a:prstGeom prst="rect">
            <a:avLst/>
          </a:prstGeom>
          <a:noFill/>
          <a:ln>
            <a:noFill/>
          </a:ln>
        </p:spPr>
      </p:pic>
      <p:pic>
        <p:nvPicPr>
          <p:cNvPr id="219" name="Google Shape;219;p97"/>
          <p:cNvPicPr preferRelativeResize="0"/>
          <p:nvPr/>
        </p:nvPicPr>
        <p:blipFill rotWithShape="1">
          <a:blip r:embed="rId5">
            <a:alphaModFix/>
          </a:blip>
          <a:srcRect b="0" l="0" r="0" t="0"/>
          <a:stretch/>
        </p:blipFill>
        <p:spPr>
          <a:xfrm>
            <a:off x="8616280" y="3411131"/>
            <a:ext cx="3168352" cy="279716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14464aad1b1_0_7"/>
          <p:cNvSpPr txBox="1"/>
          <p:nvPr>
            <p:ph type="title"/>
          </p:nvPr>
        </p:nvSpPr>
        <p:spPr>
          <a:xfrm>
            <a:off x="838200" y="676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solidFill>
                  <a:srgbClr val="2E75B5"/>
                </a:solidFill>
              </a:rPr>
              <a:t>Importance of data visualisation</a:t>
            </a:r>
            <a:endParaRPr b="1">
              <a:solidFill>
                <a:srgbClr val="2E75B5"/>
              </a:solidFill>
            </a:endParaRPr>
          </a:p>
        </p:txBody>
      </p:sp>
      <p:sp>
        <p:nvSpPr>
          <p:cNvPr id="226" name="Google Shape;226;g14464aad1b1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pic>
        <p:nvPicPr>
          <p:cNvPr id="227" name="Google Shape;227;g14464aad1b1_0_7"/>
          <p:cNvPicPr preferRelativeResize="0"/>
          <p:nvPr/>
        </p:nvPicPr>
        <p:blipFill rotWithShape="1">
          <a:blip r:embed="rId3">
            <a:alphaModFix/>
          </a:blip>
          <a:srcRect b="0" l="0" r="0" t="0"/>
          <a:stretch/>
        </p:blipFill>
        <p:spPr>
          <a:xfrm>
            <a:off x="1140250" y="1317651"/>
            <a:ext cx="9218351" cy="5142225"/>
          </a:xfrm>
          <a:prstGeom prst="rect">
            <a:avLst/>
          </a:prstGeom>
          <a:noFill/>
          <a:ln>
            <a:noFill/>
          </a:ln>
        </p:spPr>
      </p:pic>
      <p:sp>
        <p:nvSpPr>
          <p:cNvPr id="228" name="Google Shape;228;g14464aad1b1_0_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14464aad1b1_0_15"/>
          <p:cNvSpPr txBox="1"/>
          <p:nvPr>
            <p:ph type="title"/>
          </p:nvPr>
        </p:nvSpPr>
        <p:spPr>
          <a:xfrm>
            <a:off x="68947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a:solidFill>
                  <a:srgbClr val="2E75B5"/>
                </a:solidFill>
              </a:rPr>
              <a:t>Same data presented in graphical form </a:t>
            </a:r>
            <a:endParaRPr b="1">
              <a:solidFill>
                <a:srgbClr val="2E75B5"/>
              </a:solidFill>
            </a:endParaRPr>
          </a:p>
        </p:txBody>
      </p:sp>
      <p:sp>
        <p:nvSpPr>
          <p:cNvPr id="235" name="Google Shape;235;g14464aad1b1_0_1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36" name="Google Shape;236;g14464aad1b1_0_15"/>
          <p:cNvPicPr preferRelativeResize="0"/>
          <p:nvPr/>
        </p:nvPicPr>
        <p:blipFill rotWithShape="1">
          <a:blip r:embed="rId3">
            <a:alphaModFix/>
          </a:blip>
          <a:srcRect b="0" l="0" r="0" t="0"/>
          <a:stretch/>
        </p:blipFill>
        <p:spPr>
          <a:xfrm>
            <a:off x="1061300" y="3694075"/>
            <a:ext cx="8915400" cy="2886075"/>
          </a:xfrm>
          <a:prstGeom prst="rect">
            <a:avLst/>
          </a:prstGeom>
          <a:noFill/>
          <a:ln>
            <a:noFill/>
          </a:ln>
        </p:spPr>
      </p:pic>
      <p:pic>
        <p:nvPicPr>
          <p:cNvPr id="237" name="Google Shape;237;g14464aad1b1_0_15"/>
          <p:cNvPicPr preferRelativeResize="0"/>
          <p:nvPr/>
        </p:nvPicPr>
        <p:blipFill rotWithShape="1">
          <a:blip r:embed="rId4">
            <a:alphaModFix/>
          </a:blip>
          <a:srcRect b="0" l="0" r="0" t="0"/>
          <a:stretch/>
        </p:blipFill>
        <p:spPr>
          <a:xfrm>
            <a:off x="1101897" y="1249500"/>
            <a:ext cx="8664103" cy="2804725"/>
          </a:xfrm>
          <a:prstGeom prst="rect">
            <a:avLst/>
          </a:prstGeom>
          <a:noFill/>
          <a:ln>
            <a:noFill/>
          </a:ln>
        </p:spPr>
      </p:pic>
      <p:sp>
        <p:nvSpPr>
          <p:cNvPr id="238" name="Google Shape;238;g14464aad1b1_0_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5"/>
          <p:cNvSpPr txBox="1"/>
          <p:nvPr>
            <p:ph type="title"/>
          </p:nvPr>
        </p:nvSpPr>
        <p:spPr>
          <a:xfrm>
            <a:off x="838200" y="92411"/>
            <a:ext cx="10515600" cy="716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Visualization steps</a:t>
            </a:r>
            <a:endParaRPr/>
          </a:p>
        </p:txBody>
      </p:sp>
      <p:sp>
        <p:nvSpPr>
          <p:cNvPr id="244" name="Google Shape;24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45" name="Google Shape;24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46" name="Google Shape;246;p5"/>
          <p:cNvSpPr/>
          <p:nvPr/>
        </p:nvSpPr>
        <p:spPr>
          <a:xfrm>
            <a:off x="746975" y="1416676"/>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 acquisition</a:t>
            </a:r>
            <a:endParaRPr b="0" i="0" sz="1400" u="none" cap="none" strike="noStrike">
              <a:solidFill>
                <a:srgbClr val="000000"/>
              </a:solidFill>
              <a:latin typeface="Arial"/>
              <a:ea typeface="Arial"/>
              <a:cs typeface="Arial"/>
              <a:sym typeface="Arial"/>
            </a:endParaRPr>
          </a:p>
        </p:txBody>
      </p:sp>
      <p:sp>
        <p:nvSpPr>
          <p:cNvPr id="247" name="Google Shape;247;p5"/>
          <p:cNvSpPr/>
          <p:nvPr/>
        </p:nvSpPr>
        <p:spPr>
          <a:xfrm>
            <a:off x="1725769" y="2539284"/>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Data enhancement</a:t>
            </a:r>
            <a:endParaRPr b="0" i="0" sz="1400" u="none" cap="none" strike="noStrike">
              <a:solidFill>
                <a:srgbClr val="000000"/>
              </a:solidFill>
              <a:latin typeface="Arial"/>
              <a:ea typeface="Arial"/>
              <a:cs typeface="Arial"/>
              <a:sym typeface="Arial"/>
            </a:endParaRPr>
          </a:p>
        </p:txBody>
      </p:sp>
      <p:sp>
        <p:nvSpPr>
          <p:cNvPr id="248" name="Google Shape;248;p5"/>
          <p:cNvSpPr/>
          <p:nvPr/>
        </p:nvSpPr>
        <p:spPr>
          <a:xfrm>
            <a:off x="2486696" y="3661892"/>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00"/>
                </a:solidFill>
                <a:latin typeface="Calibri"/>
                <a:ea typeface="Calibri"/>
                <a:cs typeface="Calibri"/>
                <a:sym typeface="Calibri"/>
              </a:rPr>
              <a:t>Visualization mapping</a:t>
            </a:r>
            <a:endParaRPr b="0" i="0" sz="1400" u="none" cap="none" strike="noStrike">
              <a:solidFill>
                <a:srgbClr val="000000"/>
              </a:solidFill>
              <a:latin typeface="Arial"/>
              <a:ea typeface="Arial"/>
              <a:cs typeface="Arial"/>
              <a:sym typeface="Arial"/>
            </a:endParaRPr>
          </a:p>
        </p:txBody>
      </p:sp>
      <p:sp>
        <p:nvSpPr>
          <p:cNvPr id="249" name="Google Shape;249;p5"/>
          <p:cNvSpPr/>
          <p:nvPr/>
        </p:nvSpPr>
        <p:spPr>
          <a:xfrm>
            <a:off x="3447246" y="4771621"/>
            <a:ext cx="3103808" cy="656823"/>
          </a:xfrm>
          <a:prstGeom prst="roundRect">
            <a:avLst>
              <a:gd fmla="val 16667"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Rendering (ND to  2D)</a:t>
            </a:r>
            <a:endParaRPr b="0" i="0" sz="1400" u="none" cap="none" strike="noStrike">
              <a:solidFill>
                <a:srgbClr val="000000"/>
              </a:solidFill>
              <a:latin typeface="Arial"/>
              <a:ea typeface="Arial"/>
              <a:cs typeface="Arial"/>
              <a:sym typeface="Arial"/>
            </a:endParaRPr>
          </a:p>
        </p:txBody>
      </p:sp>
      <p:sp>
        <p:nvSpPr>
          <p:cNvPr id="250" name="Google Shape;250;p5"/>
          <p:cNvSpPr txBox="1"/>
          <p:nvPr/>
        </p:nvSpPr>
        <p:spPr>
          <a:xfrm>
            <a:off x="7469746" y="1326524"/>
            <a:ext cx="4340181" cy="4154984"/>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generated/ collected </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processed</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Data mapped to visual primitive; (color, geometry etc.)</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Images generated  </a:t>
            </a:r>
            <a:endParaRPr b="0" i="0" sz="1400" u="none" cap="none" strike="noStrike">
              <a:solidFill>
                <a:srgbClr val="000000"/>
              </a:solidFill>
              <a:latin typeface="Arial"/>
              <a:ea typeface="Arial"/>
              <a:cs typeface="Arial"/>
              <a:sym typeface="Arial"/>
            </a:endParaRPr>
          </a:p>
        </p:txBody>
      </p:sp>
      <p:sp>
        <p:nvSpPr>
          <p:cNvPr id="251" name="Google Shape;251;p5"/>
          <p:cNvSpPr/>
          <p:nvPr/>
        </p:nvSpPr>
        <p:spPr>
          <a:xfrm>
            <a:off x="1068946" y="2073499"/>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5"/>
          <p:cNvSpPr/>
          <p:nvPr/>
        </p:nvSpPr>
        <p:spPr>
          <a:xfrm>
            <a:off x="1813777" y="3191815"/>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p5"/>
          <p:cNvSpPr/>
          <p:nvPr/>
        </p:nvSpPr>
        <p:spPr>
          <a:xfrm>
            <a:off x="2728177" y="4312276"/>
            <a:ext cx="656823" cy="965915"/>
          </a:xfrm>
          <a:prstGeom prst="curvedRight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6"/>
          <p:cNvSpPr txBox="1"/>
          <p:nvPr>
            <p:ph type="title"/>
          </p:nvPr>
        </p:nvSpPr>
        <p:spPr>
          <a:xfrm>
            <a:off x="838200" y="-52348"/>
            <a:ext cx="10515600" cy="118568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Types of Visulaisation</a:t>
            </a:r>
            <a:endParaRPr b="1">
              <a:solidFill>
                <a:srgbClr val="BFBFBF"/>
              </a:solidFill>
              <a:latin typeface="Times New Roman"/>
              <a:ea typeface="Times New Roman"/>
              <a:cs typeface="Times New Roman"/>
              <a:sym typeface="Times New Roman"/>
            </a:endParaRPr>
          </a:p>
        </p:txBody>
      </p:sp>
      <p:sp>
        <p:nvSpPr>
          <p:cNvPr id="259" name="Google Shape;25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60" name="Google Shape;26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61" name="Google Shape;261;p6"/>
          <p:cNvSpPr/>
          <p:nvPr/>
        </p:nvSpPr>
        <p:spPr>
          <a:xfrm>
            <a:off x="928352" y="1090519"/>
            <a:ext cx="10425448" cy="255450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chemeClr val="dk1"/>
                </a:solidFill>
                <a:latin typeface="Times New Roman"/>
                <a:ea typeface="Times New Roman"/>
                <a:cs typeface="Times New Roman"/>
                <a:sym typeface="Times New Roman"/>
              </a:rPr>
              <a:t>Scientific Visualisation SciVis</a:t>
            </a:r>
            <a:r>
              <a:rPr b="0" i="0" lang="en-US" sz="3200" u="none" cap="none" strike="noStrike">
                <a:solidFill>
                  <a:schemeClr val="dk1"/>
                </a:solidFill>
                <a:latin typeface="Times New Roman"/>
                <a:ea typeface="Times New Roman"/>
                <a:cs typeface="Times New Roman"/>
                <a:sym typeface="Times New Roman"/>
              </a:rPr>
              <a:t>:</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3200" u="none" cap="none" strike="noStrike">
                <a:solidFill>
                  <a:srgbClr val="000000"/>
                </a:solidFill>
                <a:latin typeface="Times New Roman"/>
                <a:ea typeface="Times New Roman"/>
                <a:cs typeface="Times New Roman"/>
                <a:sym typeface="Times New Roman"/>
              </a:rPr>
              <a:t>used for the clarification of well-known phenomena</a:t>
            </a:r>
            <a:endParaRPr/>
          </a:p>
          <a:p>
            <a:pPr indent="0" lvl="0" marL="0" marR="0" rtl="0" algn="l">
              <a:lnSpc>
                <a:spcPct val="100000"/>
              </a:lnSpc>
              <a:spcBef>
                <a:spcPts val="0"/>
              </a:spcBef>
              <a:spcAft>
                <a:spcPts val="0"/>
              </a:spcAft>
              <a:buClr>
                <a:srgbClr val="000000"/>
              </a:buClr>
              <a:buSzPts val="2400"/>
              <a:buFont typeface="Arial"/>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1" i="0" lang="en-US" sz="3200" u="none" cap="none" strike="noStrike">
                <a:solidFill>
                  <a:schemeClr val="dk1"/>
                </a:solidFill>
                <a:latin typeface="Times New Roman"/>
                <a:ea typeface="Times New Roman"/>
                <a:cs typeface="Times New Roman"/>
                <a:sym typeface="Times New Roman"/>
              </a:rPr>
              <a:t>Information Visualisation InfoVis:</a:t>
            </a:r>
            <a:endParaRPr/>
          </a:p>
          <a:p>
            <a:pPr indent="-457200" lvl="0" marL="457200" marR="0" rtl="0" algn="l">
              <a:lnSpc>
                <a:spcPct val="100000"/>
              </a:lnSpc>
              <a:spcBef>
                <a:spcPts val="0"/>
              </a:spcBef>
              <a:spcAft>
                <a:spcPts val="0"/>
              </a:spcAft>
              <a:buClr>
                <a:srgbClr val="000000"/>
              </a:buClr>
              <a:buSzPts val="2400"/>
              <a:buFont typeface="Arial"/>
              <a:buChar char="•"/>
            </a:pPr>
            <a:r>
              <a:rPr b="0" i="0" lang="en-US" sz="3200" u="none" cap="none" strike="noStrike">
                <a:solidFill>
                  <a:srgbClr val="000000"/>
                </a:solidFill>
                <a:latin typeface="Times New Roman"/>
                <a:ea typeface="Times New Roman"/>
                <a:cs typeface="Times New Roman"/>
                <a:sym typeface="Times New Roman"/>
              </a:rPr>
              <a:t>used for searching for interesting phenomena</a:t>
            </a:r>
            <a:endParaRPr b="0" i="0" sz="3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5" name="Shape 265"/>
        <p:cNvGrpSpPr/>
        <p:nvPr/>
      </p:nvGrpSpPr>
      <p:grpSpPr>
        <a:xfrm>
          <a:off x="0" y="0"/>
          <a:ext cx="0" cy="0"/>
          <a:chOff x="0" y="0"/>
          <a:chExt cx="0" cy="0"/>
        </a:xfrm>
      </p:grpSpPr>
      <p:sp>
        <p:nvSpPr>
          <p:cNvPr id="266" name="Google Shape;266;p98"/>
          <p:cNvSpPr txBox="1"/>
          <p:nvPr>
            <p:ph type="title"/>
          </p:nvPr>
        </p:nvSpPr>
        <p:spPr>
          <a:xfrm>
            <a:off x="838200" y="-52348"/>
            <a:ext cx="10515600" cy="118568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SciVis vs. </a:t>
            </a:r>
            <a:r>
              <a:rPr b="1" lang="en-US">
                <a:solidFill>
                  <a:srgbClr val="BFBFBF"/>
                </a:solidFill>
                <a:latin typeface="Times New Roman"/>
                <a:ea typeface="Times New Roman"/>
                <a:cs typeface="Times New Roman"/>
                <a:sym typeface="Times New Roman"/>
              </a:rPr>
              <a:t>InfoVis</a:t>
            </a:r>
            <a:endParaRPr b="1">
              <a:solidFill>
                <a:srgbClr val="BFBFBF"/>
              </a:solidFill>
              <a:latin typeface="Times New Roman"/>
              <a:ea typeface="Times New Roman"/>
              <a:cs typeface="Times New Roman"/>
              <a:sym typeface="Times New Roman"/>
            </a:endParaRPr>
          </a:p>
        </p:txBody>
      </p:sp>
      <p:sp>
        <p:nvSpPr>
          <p:cNvPr id="267" name="Google Shape;267;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68" name="Google Shape;268;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269" name="Google Shape;269;p98"/>
          <p:cNvPicPr preferRelativeResize="0"/>
          <p:nvPr/>
        </p:nvPicPr>
        <p:blipFill rotWithShape="1">
          <a:blip r:embed="rId3">
            <a:alphaModFix/>
          </a:blip>
          <a:srcRect b="16994" l="28013" r="8604" t="40563"/>
          <a:stretch/>
        </p:blipFill>
        <p:spPr>
          <a:xfrm>
            <a:off x="2434107" y="3322748"/>
            <a:ext cx="6954591" cy="2910625"/>
          </a:xfrm>
          <a:prstGeom prst="rect">
            <a:avLst/>
          </a:prstGeom>
          <a:noFill/>
          <a:ln>
            <a:noFill/>
          </a:ln>
        </p:spPr>
      </p:pic>
      <p:sp>
        <p:nvSpPr>
          <p:cNvPr id="270" name="Google Shape;270;p98"/>
          <p:cNvSpPr/>
          <p:nvPr/>
        </p:nvSpPr>
        <p:spPr>
          <a:xfrm>
            <a:off x="928352" y="889217"/>
            <a:ext cx="1042544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Scientific visualization is mostly concerned with: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defined in physical space, i.e. spatio-temporal data (2~4 dimensions)</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describes continuous events in continuous space, however, the representation is discrete (i.e. sampled data)</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Examples include simulation and measurement data from physics, chemistry, geo-science, medical-biological, climate, oceanography, energy,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Features are well-defined</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4" name="Shape 274"/>
        <p:cNvGrpSpPr/>
        <p:nvPr/>
      </p:nvGrpSpPr>
      <p:grpSpPr>
        <a:xfrm>
          <a:off x="0" y="0"/>
          <a:ext cx="0" cy="0"/>
          <a:chOff x="0" y="0"/>
          <a:chExt cx="0" cy="0"/>
        </a:xfrm>
      </p:grpSpPr>
      <p:sp>
        <p:nvSpPr>
          <p:cNvPr id="275" name="Google Shape;275;p7"/>
          <p:cNvSpPr txBox="1"/>
          <p:nvPr>
            <p:ph type="title"/>
          </p:nvPr>
        </p:nvSpPr>
        <p:spPr>
          <a:xfrm>
            <a:off x="838200" y="-52348"/>
            <a:ext cx="10515600" cy="87896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BFBFBF"/>
              </a:buClr>
              <a:buSzPts val="4400"/>
              <a:buFont typeface="Times New Roman"/>
              <a:buNone/>
            </a:pPr>
            <a:r>
              <a:rPr b="1" lang="en-US">
                <a:solidFill>
                  <a:srgbClr val="BFBFBF"/>
                </a:solidFill>
                <a:latin typeface="Times New Roman"/>
                <a:ea typeface="Times New Roman"/>
                <a:cs typeface="Times New Roman"/>
                <a:sym typeface="Times New Roman"/>
              </a:rPr>
              <a:t>SciVis vs. </a:t>
            </a:r>
            <a:r>
              <a:rPr b="1" lang="en-US">
                <a:latin typeface="Times New Roman"/>
                <a:ea typeface="Times New Roman"/>
                <a:cs typeface="Times New Roman"/>
                <a:sym typeface="Times New Roman"/>
              </a:rPr>
              <a:t>InfoVis</a:t>
            </a:r>
            <a:endParaRPr b="1">
              <a:latin typeface="Times New Roman"/>
              <a:ea typeface="Times New Roman"/>
              <a:cs typeface="Times New Roman"/>
              <a:sym typeface="Times New Roman"/>
            </a:endParaRPr>
          </a:p>
        </p:txBody>
      </p:sp>
      <p:sp>
        <p:nvSpPr>
          <p:cNvPr id="276" name="Google Shape;276;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77" name="Google Shape;277;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278" name="Google Shape;278;p7"/>
          <p:cNvSpPr/>
          <p:nvPr/>
        </p:nvSpPr>
        <p:spPr>
          <a:xfrm>
            <a:off x="928352" y="673249"/>
            <a:ext cx="10425448" cy="26776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Information visualization focuses on: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high-dimensional (&gt;&gt;4), abstract data (i.e. tree, graphs, hierarchy,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Data is discrete in the nature</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Examples include financial, marketing, HR, statistical, social media, political, …... </a:t>
            </a:r>
            <a:endParaRPr b="0" i="0" sz="1400" u="none" cap="none" strike="noStrike">
              <a:solidFill>
                <a:srgbClr val="000000"/>
              </a:solidFill>
              <a:latin typeface="Arial"/>
              <a:ea typeface="Arial"/>
              <a:cs typeface="Arial"/>
              <a:sym typeface="Arial"/>
            </a:endParaRPr>
          </a:p>
          <a:p>
            <a:pPr indent="-342900" lvl="1" marL="8001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Feature are not well-defined, the typical analysis tasks including finding patterns, clusters, voids, outliers</a:t>
            </a:r>
            <a:endParaRPr b="0" i="0" sz="2400" u="none" cap="none" strike="noStrike">
              <a:solidFill>
                <a:schemeClr val="dk1"/>
              </a:solidFill>
              <a:latin typeface="Times New Roman"/>
              <a:ea typeface="Times New Roman"/>
              <a:cs typeface="Times New Roman"/>
              <a:sym typeface="Times New Roman"/>
            </a:endParaRPr>
          </a:p>
        </p:txBody>
      </p:sp>
      <p:pic>
        <p:nvPicPr>
          <p:cNvPr id="279" name="Google Shape;279;p7"/>
          <p:cNvPicPr preferRelativeResize="0"/>
          <p:nvPr/>
        </p:nvPicPr>
        <p:blipFill rotWithShape="1">
          <a:blip r:embed="rId3">
            <a:alphaModFix/>
          </a:blip>
          <a:srcRect b="40845" l="27191" r="6024" t="15212"/>
          <a:stretch/>
        </p:blipFill>
        <p:spPr>
          <a:xfrm>
            <a:off x="2654121" y="3287694"/>
            <a:ext cx="7328079" cy="30136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8"/>
          <p:cNvSpPr txBox="1"/>
          <p:nvPr>
            <p:ph type="title"/>
          </p:nvPr>
        </p:nvSpPr>
        <p:spPr>
          <a:xfrm>
            <a:off x="838200" y="-17140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800"/>
              <a:buFont typeface="Calibri"/>
              <a:buNone/>
            </a:pPr>
            <a:r>
              <a:rPr b="1" lang="en-US" sz="4800">
                <a:solidFill>
                  <a:srgbClr val="0070C0"/>
                </a:solidFill>
              </a:rPr>
              <a:t>Need of Data Visualization  </a:t>
            </a:r>
            <a:endParaRPr/>
          </a:p>
        </p:txBody>
      </p:sp>
      <p:sp>
        <p:nvSpPr>
          <p:cNvPr id="285" name="Google Shape;285;p8"/>
          <p:cNvSpPr txBox="1"/>
          <p:nvPr>
            <p:ph idx="1" type="body"/>
          </p:nvPr>
        </p:nvSpPr>
        <p:spPr>
          <a:xfrm>
            <a:off x="838200" y="836712"/>
            <a:ext cx="113538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650"/>
              <a:buChar char="•"/>
            </a:pPr>
            <a:r>
              <a:rPr lang="en-US" sz="2650">
                <a:latin typeface="Times New Roman"/>
                <a:ea typeface="Times New Roman"/>
                <a:cs typeface="Times New Roman"/>
                <a:sym typeface="Times New Roman"/>
              </a:rPr>
              <a:t>Data visualization </a:t>
            </a:r>
            <a:r>
              <a:rPr b="1" lang="en-US" sz="2650">
                <a:latin typeface="Times New Roman"/>
                <a:ea typeface="Times New Roman"/>
                <a:cs typeface="Times New Roman"/>
                <a:sym typeface="Times New Roman"/>
              </a:rPr>
              <a:t>helps to tell stories by curating data into a form easier to understand, highlighting the trends and outliers</a:t>
            </a:r>
            <a:r>
              <a:rPr lang="en-US" sz="2650">
                <a:latin typeface="Times New Roman"/>
                <a:ea typeface="Times New Roman"/>
                <a:cs typeface="Times New Roman"/>
                <a:sym typeface="Times New Roman"/>
              </a:rPr>
              <a:t>.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B050"/>
              </a:buClr>
              <a:buSzPts val="2650"/>
              <a:buChar char="•"/>
            </a:pPr>
            <a:r>
              <a:rPr b="1" lang="en-US" sz="2650">
                <a:solidFill>
                  <a:srgbClr val="00B050"/>
                </a:solidFill>
                <a:latin typeface="Times New Roman"/>
                <a:ea typeface="Times New Roman"/>
                <a:cs typeface="Times New Roman"/>
                <a:sym typeface="Times New Roman"/>
              </a:rPr>
              <a:t> Analysing the Data in a Better way</a:t>
            </a:r>
            <a:endParaRPr sz="2650">
              <a:solidFill>
                <a:srgbClr val="00B05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can help by delivering data in the most efficient way possible.</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takes the raw data, models it, and delivers the data so that conclusions can be reached.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b="1" lang="en-US" sz="2650">
                <a:latin typeface="Times New Roman"/>
                <a:ea typeface="Times New Roman"/>
                <a:cs typeface="Times New Roman"/>
                <a:sym typeface="Times New Roman"/>
              </a:rPr>
              <a:t>Faster Decision Making</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uses visual data to communicate information in a manner that is universal, fast, and effective. </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b="1" lang="en-US" sz="2650">
                <a:latin typeface="Times New Roman"/>
                <a:ea typeface="Times New Roman"/>
                <a:cs typeface="Times New Roman"/>
                <a:sym typeface="Times New Roman"/>
              </a:rPr>
              <a:t>Making Sense of Complicated Data</a:t>
            </a:r>
            <a:endParaRPr sz="26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650"/>
              <a:buChar char="•"/>
            </a:pPr>
            <a:r>
              <a:rPr lang="en-US" sz="2650">
                <a:latin typeface="Times New Roman"/>
                <a:ea typeface="Times New Roman"/>
                <a:cs typeface="Times New Roman"/>
                <a:sym typeface="Times New Roman"/>
              </a:rPr>
              <a:t>Data visualization positively affects an organization’s decision-making process with interactive visual representations of data.</a:t>
            </a:r>
            <a:endParaRPr sz="2650">
              <a:latin typeface="Times New Roman"/>
              <a:ea typeface="Times New Roman"/>
              <a:cs typeface="Times New Roman"/>
              <a:sym typeface="Times New Roman"/>
            </a:endParaRPr>
          </a:p>
          <a:p>
            <a:pPr indent="-77470" lvl="0" marL="228600" rtl="0" algn="l">
              <a:lnSpc>
                <a:spcPct val="90000"/>
              </a:lnSpc>
              <a:spcBef>
                <a:spcPts val="1000"/>
              </a:spcBef>
              <a:spcAft>
                <a:spcPts val="0"/>
              </a:spcAft>
              <a:buClr>
                <a:schemeClr val="dk1"/>
              </a:buClr>
              <a:buSzPts val="2650"/>
              <a:buNone/>
            </a:pPr>
            <a:r>
              <a:t/>
            </a:r>
            <a:endParaRPr sz="2650">
              <a:latin typeface="Times New Roman"/>
              <a:ea typeface="Times New Roman"/>
              <a:cs typeface="Times New Roman"/>
              <a:sym typeface="Times New Roman"/>
            </a:endParaRPr>
          </a:p>
        </p:txBody>
      </p:sp>
      <p:sp>
        <p:nvSpPr>
          <p:cNvPr id="286" name="Google Shape;28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87" name="Google Shape;28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1" name="Shape 291"/>
        <p:cNvGrpSpPr/>
        <p:nvPr/>
      </p:nvGrpSpPr>
      <p:grpSpPr>
        <a:xfrm>
          <a:off x="0" y="0"/>
          <a:ext cx="0" cy="0"/>
          <a:chOff x="0" y="0"/>
          <a:chExt cx="0" cy="0"/>
        </a:xfrm>
      </p:grpSpPr>
      <p:sp>
        <p:nvSpPr>
          <p:cNvPr id="292" name="Google Shape;292;p9"/>
          <p:cNvSpPr txBox="1"/>
          <p:nvPr>
            <p:ph type="title"/>
          </p:nvPr>
        </p:nvSpPr>
        <p:spPr>
          <a:xfrm>
            <a:off x="695400" y="-17140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Class participation</a:t>
            </a:r>
            <a:endParaRPr/>
          </a:p>
        </p:txBody>
      </p:sp>
      <p:sp>
        <p:nvSpPr>
          <p:cNvPr id="293" name="Google Shape;293;p9"/>
          <p:cNvSpPr txBox="1"/>
          <p:nvPr>
            <p:ph idx="1" type="body"/>
          </p:nvPr>
        </p:nvSpPr>
        <p:spPr>
          <a:xfrm>
            <a:off x="839416" y="1124744"/>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u="sng">
                <a:solidFill>
                  <a:schemeClr val="hlink"/>
                </a:solidFill>
                <a:hlinkClick r:id="rId3"/>
              </a:rPr>
              <a:t>Google form to collect Data</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4"/>
              </a:rPr>
              <a:t>Sample Responses (Excel format)</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u="sng">
                <a:solidFill>
                  <a:schemeClr val="hlink"/>
                </a:solidFill>
                <a:hlinkClick r:id="rId5"/>
              </a:rPr>
              <a:t>Sample Responses Graphical form</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94" name="Google Shape;294;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295" name="Google Shape;29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1"/>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01" name="Google Shape;301;p11"/>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Correlations in Relationships:</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Without data visualization, it is challenging to identify the correlations between the relationship of independent variables. Make better business decisions by making sense of those independent variables.</a:t>
            </a:r>
            <a:endParaRPr sz="2150">
              <a:latin typeface="Times New Roman"/>
              <a:ea typeface="Times New Roman"/>
              <a:cs typeface="Times New Roman"/>
              <a:sym typeface="Times New Roman"/>
            </a:endParaRPr>
          </a:p>
        </p:txBody>
      </p:sp>
      <p:sp>
        <p:nvSpPr>
          <p:cNvPr id="302" name="Google Shape;30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03" name="Google Shape;30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04" name="Google Shape;304;p11"/>
          <p:cNvPicPr preferRelativeResize="0"/>
          <p:nvPr/>
        </p:nvPicPr>
        <p:blipFill rotWithShape="1">
          <a:blip r:embed="rId3">
            <a:alphaModFix/>
          </a:blip>
          <a:srcRect b="0" l="0" r="0" t="0"/>
          <a:stretch/>
        </p:blipFill>
        <p:spPr>
          <a:xfrm>
            <a:off x="3647728" y="2924944"/>
            <a:ext cx="4178101" cy="331595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99"/>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10" name="Google Shape;310;p99"/>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Trends Over Time:</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an obvious and one of the most valuable applications use of data visualization It’s impossible to make predictions without having the necessary information from the past and present. Trends over time tell where we were and where we can potentially go.</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p:txBody>
      </p:sp>
      <p:sp>
        <p:nvSpPr>
          <p:cNvPr id="311" name="Google Shape;311;p9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12" name="Google Shape;312;p9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13" name="Google Shape;313;p99"/>
          <p:cNvPicPr preferRelativeResize="0"/>
          <p:nvPr/>
        </p:nvPicPr>
        <p:blipFill rotWithShape="1">
          <a:blip r:embed="rId3">
            <a:alphaModFix/>
          </a:blip>
          <a:srcRect b="0" l="0" r="0" t="0"/>
          <a:stretch/>
        </p:blipFill>
        <p:spPr>
          <a:xfrm>
            <a:off x="3575720" y="3140968"/>
            <a:ext cx="4320480" cy="315411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00"/>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19" name="Google Shape;319;p100"/>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Frequency:</a:t>
            </a:r>
            <a:r>
              <a:rPr lang="en-US" sz="2150">
                <a:latin typeface="Times New Roman"/>
                <a:ea typeface="Times New Roman"/>
                <a:cs typeface="Times New Roman"/>
                <a:sym typeface="Times New Roman"/>
              </a:rPr>
              <a:t> Closely related to trends over time is frequency. By examining the rate, or how often, customers purchase and when they buy gives a better feel for how potential new customers might act and react to different marketing and customer acquisition strategies. </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20" name="Google Shape;320;p10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21" name="Google Shape;321;p10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22" name="Google Shape;322;p100"/>
          <p:cNvPicPr preferRelativeResize="0"/>
          <p:nvPr/>
        </p:nvPicPr>
        <p:blipFill rotWithShape="1">
          <a:blip r:embed="rId3">
            <a:alphaModFix/>
          </a:blip>
          <a:srcRect b="0" l="0" r="0" t="0"/>
          <a:stretch/>
        </p:blipFill>
        <p:spPr>
          <a:xfrm>
            <a:off x="3799632" y="2910938"/>
            <a:ext cx="4672632" cy="34703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01"/>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28" name="Google Shape;328;p101"/>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Examining the Market:</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Data visualization takes the information from different markets to give you insights into which audiences to focus your attention on and which ones to stay away from. We get a clearer picture of the opportunities within those markets by displaying this data on various charts and graphs.</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29" name="Google Shape;329;p10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30" name="Google Shape;330;p10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331" name="Google Shape;331;p101"/>
          <p:cNvPicPr preferRelativeResize="0"/>
          <p:nvPr/>
        </p:nvPicPr>
        <p:blipFill rotWithShape="1">
          <a:blip r:embed="rId3">
            <a:alphaModFix/>
          </a:blip>
          <a:srcRect b="0" l="0" r="0" t="0"/>
          <a:stretch/>
        </p:blipFill>
        <p:spPr>
          <a:xfrm>
            <a:off x="3160713" y="3238078"/>
            <a:ext cx="5867400" cy="3143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02"/>
          <p:cNvSpPr txBox="1"/>
          <p:nvPr>
            <p:ph type="title"/>
          </p:nvPr>
        </p:nvSpPr>
        <p:spPr>
          <a:xfrm>
            <a:off x="838200" y="190465"/>
            <a:ext cx="10515600" cy="78558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37" name="Google Shape;337;p102"/>
          <p:cNvSpPr txBox="1"/>
          <p:nvPr>
            <p:ph idx="1" type="body"/>
          </p:nvPr>
        </p:nvSpPr>
        <p:spPr>
          <a:xfrm>
            <a:off x="910119" y="1055062"/>
            <a:ext cx="10515600" cy="519162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50"/>
              <a:buFont typeface="Times New Roman"/>
              <a:buChar char="•"/>
            </a:pPr>
            <a:r>
              <a:rPr lang="en-US">
                <a:latin typeface="Times New Roman"/>
                <a:ea typeface="Times New Roman"/>
                <a:cs typeface="Times New Roman"/>
                <a:sym typeface="Times New Roman"/>
              </a:rPr>
              <a:t>Businesses can now recognize patterns more quickly because they can interpret data in graphical or pictorial forms.</a:t>
            </a:r>
            <a:endParaRPr>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Correlations in Relationships:</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Trends Over Time:</a:t>
            </a:r>
            <a:r>
              <a:rPr b="1"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Frequency:</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rgbClr val="0070C0"/>
              </a:buClr>
              <a:buSzPts val="2150"/>
              <a:buChar char="•"/>
            </a:pPr>
            <a:r>
              <a:rPr b="1" lang="en-US" sz="2150">
                <a:solidFill>
                  <a:srgbClr val="0070C0"/>
                </a:solidFill>
                <a:latin typeface="Times New Roman"/>
                <a:ea typeface="Times New Roman"/>
                <a:cs typeface="Times New Roman"/>
                <a:sym typeface="Times New Roman"/>
              </a:rPr>
              <a:t>Examining the Market:</a:t>
            </a:r>
            <a:r>
              <a:rPr b="1" lang="en-US" sz="2150">
                <a:latin typeface="Times New Roman"/>
                <a:ea typeface="Times New Roman"/>
                <a:cs typeface="Times New Roman"/>
                <a:sym typeface="Times New Roman"/>
              </a:rPr>
              <a:t> </a:t>
            </a:r>
            <a:r>
              <a:rPr lang="en-US" sz="2150">
                <a:latin typeface="Times New Roman"/>
                <a:ea typeface="Times New Roman"/>
                <a:cs typeface="Times New Roman"/>
                <a:sym typeface="Times New Roman"/>
              </a:rPr>
              <a:t> </a:t>
            </a:r>
            <a:endParaRPr sz="2150">
              <a:latin typeface="Times New Roman"/>
              <a:ea typeface="Times New Roman"/>
              <a:cs typeface="Times New Roman"/>
              <a:sym typeface="Times New Roman"/>
            </a:endParaRPr>
          </a:p>
          <a:p>
            <a:pPr indent="0" lvl="0" marL="228600" rtl="0" algn="l">
              <a:lnSpc>
                <a:spcPct val="90000"/>
              </a:lnSpc>
              <a:spcBef>
                <a:spcPts val="1000"/>
              </a:spcBef>
              <a:spcAft>
                <a:spcPts val="0"/>
              </a:spcAft>
              <a:buSzPts val="1800"/>
              <a:buNone/>
            </a:pPr>
            <a:r>
              <a:t/>
            </a:r>
            <a:endParaRPr sz="2150">
              <a:latin typeface="Times New Roman"/>
              <a:ea typeface="Times New Roman"/>
              <a:cs typeface="Times New Roman"/>
              <a:sym typeface="Times New Roman"/>
            </a:endParaRPr>
          </a:p>
        </p:txBody>
      </p:sp>
      <p:sp>
        <p:nvSpPr>
          <p:cNvPr id="338" name="Google Shape;338;p10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39" name="Google Shape;339;p10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14464aad1b1_3_6"/>
          <p:cNvSpPr txBox="1"/>
          <p:nvPr>
            <p:ph type="title"/>
          </p:nvPr>
        </p:nvSpPr>
        <p:spPr>
          <a:xfrm>
            <a:off x="838200" y="190465"/>
            <a:ext cx="10515600" cy="78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400"/>
              <a:buFont typeface="Calibri"/>
              <a:buNone/>
            </a:pPr>
            <a:r>
              <a:rPr b="1" lang="en-US">
                <a:solidFill>
                  <a:srgbClr val="0070C0"/>
                </a:solidFill>
              </a:rPr>
              <a:t>Need of Data Visualization  </a:t>
            </a:r>
            <a:endParaRPr/>
          </a:p>
        </p:txBody>
      </p:sp>
      <p:sp>
        <p:nvSpPr>
          <p:cNvPr id="345" name="Google Shape;345;g14464aad1b1_3_6"/>
          <p:cNvSpPr txBox="1"/>
          <p:nvPr>
            <p:ph idx="1" type="body"/>
          </p:nvPr>
        </p:nvSpPr>
        <p:spPr>
          <a:xfrm>
            <a:off x="910119" y="1055062"/>
            <a:ext cx="10515600" cy="51915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1000"/>
              </a:spcBef>
              <a:spcAft>
                <a:spcPts val="0"/>
              </a:spcAft>
              <a:buClr>
                <a:srgbClr val="0070C0"/>
              </a:buClr>
              <a:buSzPts val="2200"/>
              <a:buChar char="•"/>
            </a:pPr>
            <a:r>
              <a:rPr b="1" lang="en-US" sz="2200">
                <a:solidFill>
                  <a:srgbClr val="0070C0"/>
                </a:solidFill>
                <a:latin typeface="Times New Roman"/>
                <a:ea typeface="Times New Roman"/>
                <a:cs typeface="Times New Roman"/>
                <a:sym typeface="Times New Roman"/>
              </a:rPr>
              <a:t>Risk and Reward:</a:t>
            </a: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Looking at value and risk metrics requires expertise because, without data visualization, we must interpret complicated spreadsheets and numbers. Once information is visualized, we can then pinpoint areas that may or may not require action.</a:t>
            </a:r>
            <a:endParaRPr sz="2200">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rgbClr val="0070C0"/>
              </a:buClr>
              <a:buSzPts val="2200"/>
              <a:buChar char="•"/>
            </a:pPr>
            <a:r>
              <a:rPr b="1" lang="en-US" sz="2200">
                <a:solidFill>
                  <a:srgbClr val="0070C0"/>
                </a:solidFill>
                <a:latin typeface="Times New Roman"/>
                <a:ea typeface="Times New Roman"/>
                <a:cs typeface="Times New Roman"/>
                <a:sym typeface="Times New Roman"/>
              </a:rPr>
              <a:t>Reacting to the Market:</a:t>
            </a:r>
            <a:r>
              <a:rPr b="1" lang="en-US" sz="2200">
                <a:latin typeface="Times New Roman"/>
                <a:ea typeface="Times New Roman"/>
                <a:cs typeface="Times New Roman"/>
                <a:sym typeface="Times New Roman"/>
              </a:rPr>
              <a:t> </a:t>
            </a:r>
            <a:r>
              <a:rPr lang="en-US" sz="2200">
                <a:latin typeface="Times New Roman"/>
                <a:ea typeface="Times New Roman"/>
                <a:cs typeface="Times New Roman"/>
                <a:sym typeface="Times New Roman"/>
              </a:rPr>
              <a:t>The ability to obtain information quickly and easily with data displayed clearly on a functional dashboard allows businesses to act and respond to findings swiftly and helps to avoid making mistakes.</a:t>
            </a:r>
            <a:endParaRPr sz="2200">
              <a:latin typeface="Times New Roman"/>
              <a:ea typeface="Times New Roman"/>
              <a:cs typeface="Times New Roman"/>
              <a:sym typeface="Times New Roman"/>
            </a:endParaRPr>
          </a:p>
          <a:p>
            <a:pPr indent="0" lvl="0" marL="228600" rtl="0" algn="l">
              <a:lnSpc>
                <a:spcPct val="80000"/>
              </a:lnSpc>
              <a:spcBef>
                <a:spcPts val="0"/>
              </a:spcBef>
              <a:spcAft>
                <a:spcPts val="0"/>
              </a:spcAft>
              <a:buSzPts val="1800"/>
              <a:buNone/>
            </a:pPr>
            <a:r>
              <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Data visualization helps to tell stories by curating data into a form easier to understand, highlighting the trends and outliers</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A good visualization tells a story, removing the noise from data and highlighting the useful information</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Effective data visualization is a delicate balancing act between form and function</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0"/>
              </a:spcAft>
              <a:buClr>
                <a:schemeClr val="dk1"/>
              </a:buClr>
              <a:buSzPts val="2800"/>
              <a:buFont typeface="Times New Roman"/>
              <a:buChar char="•"/>
            </a:pPr>
            <a:r>
              <a:rPr lang="en-US" sz="2200">
                <a:solidFill>
                  <a:srgbClr val="333333"/>
                </a:solidFill>
                <a:latin typeface="Times New Roman"/>
                <a:ea typeface="Times New Roman"/>
                <a:cs typeface="Times New Roman"/>
                <a:sym typeface="Times New Roman"/>
              </a:rPr>
              <a:t>The most stunning visualization could utterly fail at conveying the right message or it could speak volumes </a:t>
            </a:r>
            <a:endParaRPr sz="2200">
              <a:solidFill>
                <a:srgbClr val="333333"/>
              </a:solidFill>
              <a:latin typeface="Times New Roman"/>
              <a:ea typeface="Times New Roman"/>
              <a:cs typeface="Times New Roman"/>
              <a:sym typeface="Times New Roman"/>
            </a:endParaRPr>
          </a:p>
          <a:p>
            <a:pPr indent="-228600" lvl="0" marL="228600" rtl="0" algn="l">
              <a:lnSpc>
                <a:spcPct val="80000"/>
              </a:lnSpc>
              <a:spcBef>
                <a:spcPts val="1000"/>
              </a:spcBef>
              <a:spcAft>
                <a:spcPts val="1000"/>
              </a:spcAft>
              <a:buClr>
                <a:schemeClr val="dk1"/>
              </a:buClr>
              <a:buSzPts val="2700"/>
              <a:buFont typeface="Times New Roman"/>
              <a:buChar char="•"/>
            </a:pPr>
            <a:r>
              <a:rPr lang="en-US" sz="2200">
                <a:solidFill>
                  <a:srgbClr val="333333"/>
                </a:solidFill>
                <a:latin typeface="Times New Roman"/>
                <a:ea typeface="Times New Roman"/>
                <a:cs typeface="Times New Roman"/>
                <a:sym typeface="Times New Roman"/>
              </a:rPr>
              <a:t>The data and the visuals need to work togethe</a:t>
            </a:r>
            <a:r>
              <a:rPr lang="en-US" sz="2000">
                <a:solidFill>
                  <a:srgbClr val="333333"/>
                </a:solidFill>
                <a:latin typeface="Times New Roman"/>
                <a:ea typeface="Times New Roman"/>
                <a:cs typeface="Times New Roman"/>
                <a:sym typeface="Times New Roman"/>
              </a:rPr>
              <a:t>r </a:t>
            </a:r>
            <a:endParaRPr sz="2000">
              <a:solidFill>
                <a:srgbClr val="333333"/>
              </a:solidFill>
              <a:latin typeface="Times New Roman"/>
              <a:ea typeface="Times New Roman"/>
              <a:cs typeface="Times New Roman"/>
              <a:sym typeface="Times New Roman"/>
            </a:endParaRPr>
          </a:p>
        </p:txBody>
      </p:sp>
      <p:sp>
        <p:nvSpPr>
          <p:cNvPr id="346" name="Google Shape;346;g14464aad1b1_3_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47" name="Google Shape;347;g14464aad1b1_3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03"/>
          <p:cNvSpPr txBox="1"/>
          <p:nvPr>
            <p:ph type="title"/>
          </p:nvPr>
        </p:nvSpPr>
        <p:spPr>
          <a:xfrm>
            <a:off x="838200" y="365126"/>
            <a:ext cx="10515600" cy="631468"/>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0070C0"/>
              </a:buClr>
              <a:buSzPct val="100000"/>
              <a:buFont typeface="Calibri"/>
              <a:buNone/>
            </a:pPr>
            <a:r>
              <a:rPr b="1" lang="en-US">
                <a:solidFill>
                  <a:srgbClr val="0070C0"/>
                </a:solidFill>
              </a:rPr>
              <a:t>Data Analysis Lifecycle</a:t>
            </a:r>
            <a:endParaRPr/>
          </a:p>
        </p:txBody>
      </p:sp>
      <p:sp>
        <p:nvSpPr>
          <p:cNvPr id="353" name="Google Shape;353;p10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54" name="Google Shape;354;p10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355" name="Google Shape;355;p103"/>
          <p:cNvSpPr/>
          <p:nvPr/>
        </p:nvSpPr>
        <p:spPr>
          <a:xfrm>
            <a:off x="4744464" y="1265625"/>
            <a:ext cx="1870800" cy="14037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964E"/>
                </a:solidFill>
                <a:latin typeface="Calibri"/>
                <a:ea typeface="Calibri"/>
                <a:cs typeface="Calibri"/>
                <a:sym typeface="Calibri"/>
              </a:rPr>
              <a:t>Objective</a:t>
            </a:r>
            <a:endParaRPr b="1" i="0" sz="2200" u="none" cap="none" strike="noStrike">
              <a:solidFill>
                <a:srgbClr val="000000"/>
              </a:solidFill>
              <a:latin typeface="Calibri"/>
              <a:ea typeface="Calibri"/>
              <a:cs typeface="Calibri"/>
              <a:sym typeface="Calibri"/>
            </a:endParaRPr>
          </a:p>
        </p:txBody>
      </p:sp>
      <p:sp>
        <p:nvSpPr>
          <p:cNvPr id="356" name="Google Shape;356;p103"/>
          <p:cNvSpPr/>
          <p:nvPr/>
        </p:nvSpPr>
        <p:spPr>
          <a:xfrm>
            <a:off x="2478776" y="3783024"/>
            <a:ext cx="2208600" cy="15546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FF00FF"/>
                </a:solidFill>
                <a:latin typeface="Calibri"/>
                <a:ea typeface="Calibri"/>
                <a:cs typeface="Calibri"/>
                <a:sym typeface="Calibri"/>
              </a:rPr>
              <a:t>Data Analytics</a:t>
            </a:r>
            <a:endParaRPr b="1" i="0" sz="2200" u="none" cap="none" strike="noStrike">
              <a:solidFill>
                <a:srgbClr val="FF00FF"/>
              </a:solidFill>
              <a:latin typeface="Calibri"/>
              <a:ea typeface="Calibri"/>
              <a:cs typeface="Calibri"/>
              <a:sym typeface="Calibri"/>
            </a:endParaRPr>
          </a:p>
        </p:txBody>
      </p:sp>
      <p:sp>
        <p:nvSpPr>
          <p:cNvPr id="357" name="Google Shape;357;p103"/>
          <p:cNvSpPr/>
          <p:nvPr/>
        </p:nvSpPr>
        <p:spPr>
          <a:xfrm>
            <a:off x="6672325" y="3783025"/>
            <a:ext cx="2631300" cy="1554600"/>
          </a:xfrm>
          <a:prstGeom prst="ellipse">
            <a:avLst/>
          </a:prstGeom>
          <a:solidFill>
            <a:srgbClr val="FFF2CC"/>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Data Cleaning &amp; Transformation</a:t>
            </a:r>
            <a:endParaRPr b="1" i="0" sz="1800" u="none" cap="none" strike="noStrike">
              <a:solidFill>
                <a:schemeClr val="dk1"/>
              </a:solidFill>
              <a:latin typeface="Calibri"/>
              <a:ea typeface="Calibri"/>
              <a:cs typeface="Calibri"/>
              <a:sym typeface="Calibri"/>
            </a:endParaRPr>
          </a:p>
        </p:txBody>
      </p:sp>
      <p:sp>
        <p:nvSpPr>
          <p:cNvPr id="358" name="Google Shape;358;p103"/>
          <p:cNvSpPr/>
          <p:nvPr/>
        </p:nvSpPr>
        <p:spPr>
          <a:xfrm>
            <a:off x="6672325" y="1987550"/>
            <a:ext cx="2631300" cy="15546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0000"/>
                </a:solidFill>
                <a:latin typeface="Arial"/>
                <a:ea typeface="Arial"/>
                <a:cs typeface="Arial"/>
                <a:sym typeface="Arial"/>
              </a:rPr>
              <a:t>Understanding the data</a:t>
            </a:r>
            <a:endParaRPr b="0" i="0" sz="1800" u="none" cap="none" strike="noStrike">
              <a:solidFill>
                <a:srgbClr val="000000"/>
              </a:solidFill>
              <a:latin typeface="Arial"/>
              <a:ea typeface="Arial"/>
              <a:cs typeface="Arial"/>
              <a:sym typeface="Arial"/>
            </a:endParaRPr>
          </a:p>
        </p:txBody>
      </p:sp>
      <p:sp>
        <p:nvSpPr>
          <p:cNvPr id="359" name="Google Shape;359;p103"/>
          <p:cNvSpPr/>
          <p:nvPr/>
        </p:nvSpPr>
        <p:spPr>
          <a:xfrm>
            <a:off x="4602203" y="4839901"/>
            <a:ext cx="2208600" cy="16215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chemeClr val="lt1"/>
                </a:solidFill>
                <a:latin typeface="Calibri"/>
                <a:ea typeface="Calibri"/>
                <a:cs typeface="Calibri"/>
                <a:sym typeface="Calibri"/>
              </a:rPr>
              <a:t>Data Enhancing</a:t>
            </a:r>
            <a:endParaRPr b="1" i="0" sz="1900" u="none" cap="none" strike="noStrike">
              <a:solidFill>
                <a:schemeClr val="lt1"/>
              </a:solidFill>
              <a:latin typeface="Calibri"/>
              <a:ea typeface="Calibri"/>
              <a:cs typeface="Calibri"/>
              <a:sym typeface="Calibri"/>
            </a:endParaRPr>
          </a:p>
        </p:txBody>
      </p:sp>
      <p:sp>
        <p:nvSpPr>
          <p:cNvPr id="360" name="Google Shape;360;p103"/>
          <p:cNvSpPr/>
          <p:nvPr/>
        </p:nvSpPr>
        <p:spPr>
          <a:xfrm>
            <a:off x="2478799" y="2138500"/>
            <a:ext cx="2208600" cy="1403700"/>
          </a:xfrm>
          <a:prstGeom prst="ellipse">
            <a:avLst/>
          </a:prstGeom>
          <a:solidFill>
            <a:srgbClr val="F4B08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0000FF"/>
                </a:solidFill>
                <a:latin typeface="Calibri"/>
                <a:ea typeface="Calibri"/>
                <a:cs typeface="Calibri"/>
                <a:sym typeface="Calibri"/>
              </a:rPr>
              <a:t>Data Visualisation</a:t>
            </a:r>
            <a:endParaRPr b="1" i="0" sz="2000" u="none" cap="none" strike="noStrike">
              <a:solidFill>
                <a:srgbClr val="0000FF"/>
              </a:solidFill>
              <a:latin typeface="Calibri"/>
              <a:ea typeface="Calibri"/>
              <a:cs typeface="Calibri"/>
              <a:sym typeface="Calibri"/>
            </a:endParaRPr>
          </a:p>
        </p:txBody>
      </p:sp>
      <p:sp>
        <p:nvSpPr>
          <p:cNvPr id="361" name="Google Shape;361;p103"/>
          <p:cNvSpPr/>
          <p:nvPr/>
        </p:nvSpPr>
        <p:spPr>
          <a:xfrm rot="5400000">
            <a:off x="5464700" y="3199313"/>
            <a:ext cx="1581600" cy="11106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03"/>
          <p:cNvSpPr/>
          <p:nvPr/>
        </p:nvSpPr>
        <p:spPr>
          <a:xfrm rot="-5400000">
            <a:off x="4208550" y="3121163"/>
            <a:ext cx="1581600" cy="1110600"/>
          </a:xfrm>
          <a:prstGeom prst="curvedDown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3"/>
          <p:cNvSpPr txBox="1"/>
          <p:nvPr>
            <p:ph type="title"/>
          </p:nvPr>
        </p:nvSpPr>
        <p:spPr>
          <a:xfrm>
            <a:off x="838200" y="365126"/>
            <a:ext cx="10515600" cy="63146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Analysis Lifecycle</a:t>
            </a:r>
            <a:endParaRPr/>
          </a:p>
        </p:txBody>
      </p:sp>
      <p:sp>
        <p:nvSpPr>
          <p:cNvPr id="368" name="Google Shape;368;p13"/>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lnSpcReduction="10000"/>
          </a:bodyPr>
          <a:lstStyle/>
          <a:p>
            <a:pPr indent="-406400" lvl="0" marL="457200" rtl="0" algn="l">
              <a:lnSpc>
                <a:spcPct val="90000"/>
              </a:lnSpc>
              <a:spcBef>
                <a:spcPts val="0"/>
              </a:spcBef>
              <a:spcAft>
                <a:spcPts val="0"/>
              </a:spcAft>
              <a:buSzPts val="2800"/>
              <a:buAutoNum type="arabicPeriod"/>
            </a:pPr>
            <a:r>
              <a:rPr lang="en-US">
                <a:latin typeface="Arial"/>
                <a:ea typeface="Arial"/>
                <a:cs typeface="Arial"/>
                <a:sym typeface="Arial"/>
              </a:rPr>
              <a:t>Objective</a:t>
            </a:r>
            <a:endParaRPr>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a:latin typeface="Arial"/>
                <a:ea typeface="Arial"/>
                <a:cs typeface="Arial"/>
                <a:sym typeface="Arial"/>
              </a:rPr>
              <a:t>Identify </a:t>
            </a:r>
            <a:r>
              <a:rPr b="1" lang="en-US">
                <a:latin typeface="Arial"/>
                <a:ea typeface="Arial"/>
                <a:cs typeface="Arial"/>
                <a:sym typeface="Arial"/>
              </a:rPr>
              <a:t>WHY</a:t>
            </a:r>
            <a:r>
              <a:rPr lang="en-US">
                <a:latin typeface="Arial"/>
                <a:ea typeface="Arial"/>
                <a:cs typeface="Arial"/>
                <a:sym typeface="Arial"/>
              </a:rPr>
              <a:t> is the data collected.</a:t>
            </a:r>
            <a:endParaRPr>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a:latin typeface="Arial"/>
                <a:ea typeface="Arial"/>
                <a:cs typeface="Arial"/>
                <a:sym typeface="Arial"/>
              </a:rPr>
              <a:t>The purpose of data collection decides </a:t>
            </a:r>
            <a:r>
              <a:rPr b="1" lang="en-US">
                <a:latin typeface="Arial"/>
                <a:ea typeface="Arial"/>
                <a:cs typeface="Arial"/>
                <a:sym typeface="Arial"/>
              </a:rPr>
              <a:t>WHAT</a:t>
            </a:r>
            <a:r>
              <a:rPr lang="en-US">
                <a:latin typeface="Arial"/>
                <a:ea typeface="Arial"/>
                <a:cs typeface="Arial"/>
                <a:sym typeface="Arial"/>
              </a:rPr>
              <a:t> to collect and </a:t>
            </a:r>
            <a:r>
              <a:rPr b="1" lang="en-US">
                <a:latin typeface="Arial"/>
                <a:ea typeface="Arial"/>
                <a:cs typeface="Arial"/>
                <a:sym typeface="Arial"/>
              </a:rPr>
              <a:t>HOW</a:t>
            </a:r>
            <a:r>
              <a:rPr lang="en-US">
                <a:latin typeface="Arial"/>
                <a:ea typeface="Arial"/>
                <a:cs typeface="Arial"/>
                <a:sym typeface="Arial"/>
              </a:rPr>
              <a:t> and from </a:t>
            </a:r>
            <a:r>
              <a:rPr b="1" lang="en-US">
                <a:latin typeface="Arial"/>
                <a:ea typeface="Arial"/>
                <a:cs typeface="Arial"/>
                <a:sym typeface="Arial"/>
              </a:rPr>
              <a:t>WHOM</a:t>
            </a:r>
            <a:r>
              <a:rPr lang="en-US">
                <a:latin typeface="Arial"/>
                <a:ea typeface="Arial"/>
                <a:cs typeface="Arial"/>
                <a:sym typeface="Arial"/>
              </a:rPr>
              <a:t> and to </a:t>
            </a:r>
            <a:r>
              <a:rPr b="1" lang="en-US">
                <a:latin typeface="Arial"/>
                <a:ea typeface="Arial"/>
                <a:cs typeface="Arial"/>
                <a:sym typeface="Arial"/>
              </a:rPr>
              <a:t>WHOM</a:t>
            </a:r>
            <a:r>
              <a:rPr lang="en-US">
                <a:latin typeface="Arial"/>
                <a:ea typeface="Arial"/>
                <a:cs typeface="Arial"/>
                <a:sym typeface="Arial"/>
              </a:rPr>
              <a:t> will that be presented   </a:t>
            </a:r>
            <a:endParaRPr>
              <a:latin typeface="Arial"/>
              <a:ea typeface="Arial"/>
              <a:cs typeface="Arial"/>
              <a:sym typeface="Arial"/>
            </a:endParaRPr>
          </a:p>
          <a:p>
            <a:pPr indent="-406400" lvl="0" marL="457200" rtl="0" algn="l">
              <a:lnSpc>
                <a:spcPct val="90000"/>
              </a:lnSpc>
              <a:spcBef>
                <a:spcPts val="0"/>
              </a:spcBef>
              <a:spcAft>
                <a:spcPts val="0"/>
              </a:spcAft>
              <a:buSzPts val="2800"/>
              <a:buAutoNum type="arabicPeriod"/>
            </a:pPr>
            <a:r>
              <a:rPr lang="en-US"/>
              <a:t>Understanding the Data</a:t>
            </a:r>
            <a:endParaRPr/>
          </a:p>
          <a:p>
            <a:pPr indent="-342900" lvl="1" marL="914400" rtl="0" algn="l">
              <a:lnSpc>
                <a:spcPct val="90000"/>
              </a:lnSpc>
              <a:spcBef>
                <a:spcPts val="0"/>
              </a:spcBef>
              <a:spcAft>
                <a:spcPts val="0"/>
              </a:spcAft>
              <a:buSzPts val="1800"/>
              <a:buChar char="•"/>
            </a:pPr>
            <a:r>
              <a:rPr lang="en-US"/>
              <a:t>Know </a:t>
            </a:r>
            <a:r>
              <a:rPr b="1" lang="en-US"/>
              <a:t>WHAT</a:t>
            </a:r>
            <a:r>
              <a:rPr lang="en-US"/>
              <a:t> is collected </a:t>
            </a:r>
            <a:endParaRPr/>
          </a:p>
          <a:p>
            <a:pPr indent="-406400" lvl="0" marL="457200" rtl="0" algn="l">
              <a:lnSpc>
                <a:spcPct val="90000"/>
              </a:lnSpc>
              <a:spcBef>
                <a:spcPts val="0"/>
              </a:spcBef>
              <a:spcAft>
                <a:spcPts val="0"/>
              </a:spcAft>
              <a:buSzPts val="2800"/>
              <a:buAutoNum type="arabicPeriod"/>
            </a:pPr>
            <a:r>
              <a:rPr lang="en-US"/>
              <a:t>Data Cleaning &amp; Data Transformation</a:t>
            </a:r>
            <a:endParaRPr/>
          </a:p>
          <a:p>
            <a:pPr indent="-342900" lvl="1" marL="914400" rtl="0" algn="l">
              <a:lnSpc>
                <a:spcPct val="90000"/>
              </a:lnSpc>
              <a:spcBef>
                <a:spcPts val="0"/>
              </a:spcBef>
              <a:spcAft>
                <a:spcPts val="0"/>
              </a:spcAft>
              <a:buSzPts val="1800"/>
              <a:buChar char="•"/>
            </a:pPr>
            <a:r>
              <a:rPr lang="en-US"/>
              <a:t>Remove the UNWANTED data (noise) which may be irrelevant </a:t>
            </a:r>
            <a:endParaRPr/>
          </a:p>
          <a:p>
            <a:pPr indent="-342900" lvl="1" marL="914400" rtl="0" algn="l">
              <a:lnSpc>
                <a:spcPct val="90000"/>
              </a:lnSpc>
              <a:spcBef>
                <a:spcPts val="0"/>
              </a:spcBef>
              <a:spcAft>
                <a:spcPts val="0"/>
              </a:spcAft>
              <a:buSzPts val="1800"/>
              <a:buChar char="•"/>
            </a:pPr>
            <a:r>
              <a:rPr lang="en-US"/>
              <a:t>Convert data from one form to another if needed</a:t>
            </a:r>
            <a:endParaRPr/>
          </a:p>
          <a:p>
            <a:pPr indent="-406400" lvl="0" marL="457200" rtl="0" algn="l">
              <a:lnSpc>
                <a:spcPct val="90000"/>
              </a:lnSpc>
              <a:spcBef>
                <a:spcPts val="0"/>
              </a:spcBef>
              <a:spcAft>
                <a:spcPts val="0"/>
              </a:spcAft>
              <a:buSzPts val="2800"/>
              <a:buAutoNum type="arabicPeriod"/>
            </a:pPr>
            <a:r>
              <a:rPr lang="en-US"/>
              <a:t>Data Enhancing</a:t>
            </a:r>
            <a:endParaRPr/>
          </a:p>
          <a:p>
            <a:pPr indent="-342900" lvl="1" marL="914400" rtl="0" algn="l">
              <a:lnSpc>
                <a:spcPct val="90000"/>
              </a:lnSpc>
              <a:spcBef>
                <a:spcPts val="0"/>
              </a:spcBef>
              <a:spcAft>
                <a:spcPts val="0"/>
              </a:spcAft>
              <a:buSzPts val="1800"/>
              <a:buChar char="•"/>
            </a:pPr>
            <a:r>
              <a:rPr lang="en-US"/>
              <a:t>Identify the distinguishing  features of the data and highlight them</a:t>
            </a:r>
            <a:endParaRPr/>
          </a:p>
          <a:p>
            <a:pPr indent="-406400" lvl="0" marL="457200" rtl="0" algn="l">
              <a:lnSpc>
                <a:spcPct val="90000"/>
              </a:lnSpc>
              <a:spcBef>
                <a:spcPts val="0"/>
              </a:spcBef>
              <a:spcAft>
                <a:spcPts val="0"/>
              </a:spcAft>
              <a:buSzPts val="2800"/>
              <a:buAutoNum type="arabicPeriod"/>
            </a:pPr>
            <a:r>
              <a:rPr lang="en-US"/>
              <a:t>Data Analytics</a:t>
            </a:r>
            <a:endParaRPr/>
          </a:p>
          <a:p>
            <a:pPr indent="-342900" lvl="1" marL="914400" rtl="0" algn="l">
              <a:lnSpc>
                <a:spcPct val="90000"/>
              </a:lnSpc>
              <a:spcBef>
                <a:spcPts val="0"/>
              </a:spcBef>
              <a:spcAft>
                <a:spcPts val="0"/>
              </a:spcAft>
              <a:buSzPts val="1800"/>
              <a:buChar char="•"/>
            </a:pPr>
            <a:r>
              <a:rPr lang="en-US"/>
              <a:t>Model the data for presentation</a:t>
            </a:r>
            <a:endParaRPr/>
          </a:p>
          <a:p>
            <a:pPr indent="-342900" lvl="1" marL="914400" rtl="0" algn="l">
              <a:lnSpc>
                <a:spcPct val="90000"/>
              </a:lnSpc>
              <a:spcBef>
                <a:spcPts val="0"/>
              </a:spcBef>
              <a:spcAft>
                <a:spcPts val="0"/>
              </a:spcAft>
              <a:buSzPts val="1800"/>
              <a:buChar char="•"/>
            </a:pPr>
            <a:r>
              <a:rPr lang="en-US"/>
              <a:t>Interpret the data</a:t>
            </a:r>
            <a:endParaRPr/>
          </a:p>
          <a:p>
            <a:pPr indent="-406400" lvl="0" marL="457200" rtl="0" algn="l">
              <a:lnSpc>
                <a:spcPct val="90000"/>
              </a:lnSpc>
              <a:spcBef>
                <a:spcPts val="0"/>
              </a:spcBef>
              <a:spcAft>
                <a:spcPts val="0"/>
              </a:spcAft>
              <a:buSzPts val="2800"/>
              <a:buAutoNum type="arabicPeriod"/>
            </a:pPr>
            <a:r>
              <a:rPr lang="en-US"/>
              <a:t>Data Visualisation </a:t>
            </a:r>
            <a:endParaRPr/>
          </a:p>
          <a:p>
            <a:pPr indent="-342900" lvl="1" marL="914400" rtl="0" algn="l">
              <a:lnSpc>
                <a:spcPct val="90000"/>
              </a:lnSpc>
              <a:spcBef>
                <a:spcPts val="0"/>
              </a:spcBef>
              <a:spcAft>
                <a:spcPts val="0"/>
              </a:spcAft>
              <a:buSzPts val="1800"/>
              <a:buChar char="•"/>
            </a:pPr>
            <a:r>
              <a:rPr lang="en-US"/>
              <a:t>Present the data to the end user in the way (s)he will use to gain </a:t>
            </a:r>
            <a:endParaRPr/>
          </a:p>
        </p:txBody>
      </p:sp>
      <p:sp>
        <p:nvSpPr>
          <p:cNvPr id="369" name="Google Shape;36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70" name="Google Shape;37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xEl>
                                              <p:pRg end="14" st="1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145eb60f366_0_6"/>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76" name="Google Shape;376;g145eb60f366_0_6"/>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Autofit/>
          </a:bodyPr>
          <a:lstStyle/>
          <a:p>
            <a:pPr indent="-406400" lvl="0" marL="457200" rtl="0" algn="l">
              <a:lnSpc>
                <a:spcPct val="90000"/>
              </a:lnSpc>
              <a:spcBef>
                <a:spcPts val="0"/>
              </a:spcBef>
              <a:spcAft>
                <a:spcPts val="0"/>
              </a:spcAft>
              <a:buClr>
                <a:srgbClr val="1155CC"/>
              </a:buClr>
              <a:buSzPts val="2800"/>
              <a:buAutoNum type="arabicPeriod"/>
            </a:pPr>
            <a:r>
              <a:rPr b="1" lang="en-US" sz="2300">
                <a:solidFill>
                  <a:srgbClr val="1155CC"/>
                </a:solidFill>
                <a:latin typeface="Arial"/>
                <a:ea typeface="Arial"/>
                <a:cs typeface="Arial"/>
                <a:sym typeface="Arial"/>
              </a:rPr>
              <a:t>Data Discovery and Formation</a:t>
            </a:r>
            <a:endParaRPr b="1" sz="2300">
              <a:solidFill>
                <a:srgbClr val="1155CC"/>
              </a:solidFill>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sz="2300">
                <a:latin typeface="Arial"/>
                <a:ea typeface="Arial"/>
                <a:cs typeface="Arial"/>
                <a:sym typeface="Arial"/>
              </a:rPr>
              <a:t>Identify data’s purpose and how to achieve it</a:t>
            </a:r>
            <a:endParaRPr sz="2300">
              <a:latin typeface="Arial"/>
              <a:ea typeface="Arial"/>
              <a:cs typeface="Arial"/>
              <a:sym typeface="Arial"/>
            </a:endParaRPr>
          </a:p>
          <a:p>
            <a:pPr indent="-342900" lvl="1" marL="914400" rtl="0" algn="l">
              <a:lnSpc>
                <a:spcPct val="90000"/>
              </a:lnSpc>
              <a:spcBef>
                <a:spcPts val="0"/>
              </a:spcBef>
              <a:spcAft>
                <a:spcPts val="0"/>
              </a:spcAft>
              <a:buSzPts val="1800"/>
              <a:buFont typeface="Arial"/>
              <a:buChar char="○"/>
            </a:pPr>
            <a:r>
              <a:rPr lang="en-US" sz="2300">
                <a:latin typeface="Arial"/>
                <a:ea typeface="Arial"/>
                <a:cs typeface="Arial"/>
                <a:sym typeface="Arial"/>
              </a:rPr>
              <a:t>Consists of mapping out the potential use and requirement of data,</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Source of information; Where the information is coming from</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What story you want your data to convey</a:t>
            </a:r>
            <a:endParaRPr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lang="en-US" sz="2300">
                <a:latin typeface="Arial"/>
                <a:ea typeface="Arial"/>
                <a:cs typeface="Arial"/>
                <a:sym typeface="Arial"/>
              </a:rPr>
              <a:t>How your organization benefits from the incoming data</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b="1" lang="en-US" sz="2300">
                <a:latin typeface="Arial"/>
                <a:ea typeface="Arial"/>
                <a:cs typeface="Arial"/>
                <a:sym typeface="Arial"/>
              </a:rPr>
              <a:t>Focus on enterprise requirements related to data, rather than data itself</a:t>
            </a:r>
            <a:endParaRPr b="1" sz="2300">
              <a:latin typeface="Arial"/>
              <a:ea typeface="Arial"/>
              <a:cs typeface="Arial"/>
              <a:sym typeface="Arial"/>
            </a:endParaRPr>
          </a:p>
          <a:p>
            <a:pPr indent="-342900" lvl="2" marL="1371600" rtl="0" algn="l">
              <a:lnSpc>
                <a:spcPct val="90000"/>
              </a:lnSpc>
              <a:spcBef>
                <a:spcPts val="0"/>
              </a:spcBef>
              <a:spcAft>
                <a:spcPts val="0"/>
              </a:spcAft>
              <a:buSzPts val="1800"/>
              <a:buFont typeface="Arial"/>
              <a:buChar char="■"/>
            </a:pPr>
            <a:r>
              <a:rPr b="1" lang="en-US" sz="2300">
                <a:latin typeface="Arial"/>
                <a:ea typeface="Arial"/>
                <a:cs typeface="Arial"/>
                <a:sym typeface="Arial"/>
              </a:rPr>
              <a:t>Assessing the tools and systems that are necessary to read, organize, and process all the incoming data.</a:t>
            </a:r>
            <a:endParaRPr b="1"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The data science team learn and investigate the problem.</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Develop context and understanding.</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Come to know about data sources needed and available for the project.</a:t>
            </a:r>
            <a:endParaRPr sz="2300">
              <a:latin typeface="Arial"/>
              <a:ea typeface="Arial"/>
              <a:cs typeface="Arial"/>
              <a:sym typeface="Arial"/>
            </a:endParaRPr>
          </a:p>
          <a:p>
            <a:pPr indent="-342900" lvl="2" marL="1371600" rtl="0" algn="l">
              <a:lnSpc>
                <a:spcPct val="90000"/>
              </a:lnSpc>
              <a:spcBef>
                <a:spcPts val="0"/>
              </a:spcBef>
              <a:spcAft>
                <a:spcPts val="0"/>
              </a:spcAft>
              <a:buSzPts val="1800"/>
              <a:buChar char="■"/>
            </a:pPr>
            <a:r>
              <a:rPr lang="en-US" sz="2300">
                <a:latin typeface="Arial"/>
                <a:ea typeface="Arial"/>
                <a:cs typeface="Arial"/>
                <a:sym typeface="Arial"/>
              </a:rPr>
              <a:t>The team formulates initial hypothesis that can be later tested with data</a:t>
            </a:r>
            <a:endParaRPr sz="2300"/>
          </a:p>
        </p:txBody>
      </p:sp>
      <p:sp>
        <p:nvSpPr>
          <p:cNvPr id="377" name="Google Shape;377;g145eb60f366_0_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78" name="Google Shape;378;g145eb60f366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145eb60f366_0_14"/>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84" name="Google Shape;384;g145eb60f366_0_14"/>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lnSpcReduction="10000"/>
          </a:bodyPr>
          <a:lstStyle/>
          <a:p>
            <a:pPr indent="-406400" lvl="0" marL="457200" rtl="0" algn="l">
              <a:lnSpc>
                <a:spcPct val="90000"/>
              </a:lnSpc>
              <a:spcBef>
                <a:spcPts val="0"/>
              </a:spcBef>
              <a:spcAft>
                <a:spcPts val="0"/>
              </a:spcAft>
              <a:buClr>
                <a:srgbClr val="2E75B5"/>
              </a:buClr>
              <a:buSzPts val="2800"/>
              <a:buAutoNum type="arabicPeriod"/>
            </a:pPr>
            <a:r>
              <a:rPr b="1" lang="en-US">
                <a:solidFill>
                  <a:srgbClr val="BFBFBF"/>
                </a:solidFill>
                <a:latin typeface="Arial"/>
                <a:ea typeface="Arial"/>
                <a:cs typeface="Arial"/>
                <a:sym typeface="Arial"/>
              </a:rPr>
              <a:t>Data Discovery and Formation</a:t>
            </a:r>
            <a:endParaRPr>
              <a:solidFill>
                <a:srgbClr val="BFBFBF"/>
              </a:solidFill>
              <a:latin typeface="Arial"/>
              <a:ea typeface="Arial"/>
              <a:cs typeface="Arial"/>
              <a:sym typeface="Arial"/>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Data Preparation </a:t>
            </a:r>
            <a:endParaRPr b="1">
              <a:solidFill>
                <a:schemeClr val="accent1"/>
              </a:solidFill>
            </a:endParaRPr>
          </a:p>
          <a:p>
            <a:pPr indent="-342900" lvl="1" marL="914400" rtl="0" algn="l">
              <a:lnSpc>
                <a:spcPct val="90000"/>
              </a:lnSpc>
              <a:spcBef>
                <a:spcPts val="0"/>
              </a:spcBef>
              <a:spcAft>
                <a:spcPts val="0"/>
              </a:spcAft>
              <a:buSzPts val="1800"/>
              <a:buChar char="•"/>
            </a:pPr>
            <a:r>
              <a:rPr lang="en-US"/>
              <a:t>Steps to explore, preprocess, and condition data prior to modeling and analysis.</a:t>
            </a:r>
            <a:endParaRPr/>
          </a:p>
          <a:p>
            <a:pPr indent="-342900" lvl="1" marL="914400" rtl="0" algn="l">
              <a:lnSpc>
                <a:spcPct val="90000"/>
              </a:lnSpc>
              <a:spcBef>
                <a:spcPts val="0"/>
              </a:spcBef>
              <a:spcAft>
                <a:spcPts val="0"/>
              </a:spcAft>
              <a:buSzPts val="1800"/>
              <a:buChar char="•"/>
            </a:pPr>
            <a:r>
              <a:rPr lang="en-US"/>
              <a:t>Execute, load, and transform the data </a:t>
            </a:r>
            <a:endParaRPr/>
          </a:p>
          <a:p>
            <a:pPr indent="-342900" lvl="1" marL="914400" rtl="0" algn="l">
              <a:lnSpc>
                <a:spcPct val="90000"/>
              </a:lnSpc>
              <a:spcBef>
                <a:spcPts val="0"/>
              </a:spcBef>
              <a:spcAft>
                <a:spcPts val="0"/>
              </a:spcAft>
              <a:buSzPts val="1800"/>
              <a:buChar char="•"/>
            </a:pPr>
            <a:r>
              <a:rPr lang="en-US"/>
              <a:t>Tasks could be performed multiple times and not in predefined order</a:t>
            </a:r>
            <a:endParaRPr/>
          </a:p>
          <a:p>
            <a:pPr indent="-342900" lvl="1" marL="914400" rtl="0" algn="l">
              <a:lnSpc>
                <a:spcPct val="90000"/>
              </a:lnSpc>
              <a:spcBef>
                <a:spcPts val="0"/>
              </a:spcBef>
              <a:spcAft>
                <a:spcPts val="0"/>
              </a:spcAft>
              <a:buSzPts val="1800"/>
              <a:buChar char="•"/>
            </a:pPr>
            <a:r>
              <a:rPr lang="en-US"/>
              <a:t>Several tools commonly used for this phase are – Hadoop, Alpine Miner, Open Refine, etc.</a:t>
            </a:r>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Model Planning </a:t>
            </a:r>
            <a:endParaRPr b="1">
              <a:solidFill>
                <a:schemeClr val="accent1"/>
              </a:solidFill>
            </a:endParaRPr>
          </a:p>
          <a:p>
            <a:pPr indent="-342900" lvl="1" marL="914400" rtl="0" algn="l">
              <a:lnSpc>
                <a:spcPct val="90000"/>
              </a:lnSpc>
              <a:spcBef>
                <a:spcPts val="0"/>
              </a:spcBef>
              <a:spcAft>
                <a:spcPts val="0"/>
              </a:spcAft>
              <a:buSzPts val="1800"/>
              <a:buChar char="•"/>
            </a:pPr>
            <a:r>
              <a:rPr lang="en-US"/>
              <a:t>Data is explored to learn about relationships between variables and subsequently, selects key variables and the most suitable models.</a:t>
            </a:r>
            <a:endParaRPr/>
          </a:p>
          <a:p>
            <a:pPr indent="-342900" lvl="1" marL="914400" rtl="0" algn="l">
              <a:lnSpc>
                <a:spcPct val="90000"/>
              </a:lnSpc>
              <a:spcBef>
                <a:spcPts val="0"/>
              </a:spcBef>
              <a:spcAft>
                <a:spcPts val="0"/>
              </a:spcAft>
              <a:buSzPts val="1800"/>
              <a:buChar char="•"/>
            </a:pPr>
            <a:r>
              <a:rPr lang="en-US"/>
              <a:t>Data science team develop data sets for training, testing, and production purposes</a:t>
            </a:r>
            <a:endParaRPr/>
          </a:p>
          <a:p>
            <a:pPr indent="-342900" lvl="1" marL="914400" rtl="0" algn="l">
              <a:lnSpc>
                <a:spcPct val="90000"/>
              </a:lnSpc>
              <a:spcBef>
                <a:spcPts val="0"/>
              </a:spcBef>
              <a:spcAft>
                <a:spcPts val="0"/>
              </a:spcAft>
              <a:buSzPts val="1800"/>
              <a:buChar char="•"/>
            </a:pPr>
            <a:r>
              <a:rPr lang="en-US"/>
              <a:t>Team builds and executes models based on the work done in the model planning phase.</a:t>
            </a:r>
            <a:endParaRPr/>
          </a:p>
          <a:p>
            <a:pPr indent="-342900" lvl="1" marL="914400" rtl="0" algn="l">
              <a:lnSpc>
                <a:spcPct val="90000"/>
              </a:lnSpc>
              <a:spcBef>
                <a:spcPts val="0"/>
              </a:spcBef>
              <a:spcAft>
                <a:spcPts val="0"/>
              </a:spcAft>
              <a:buSzPts val="1800"/>
              <a:buChar char="•"/>
            </a:pPr>
            <a:r>
              <a:rPr lang="en-US"/>
              <a:t>Several tools commonly used for this phase are – Matlab, STASTICA.</a:t>
            </a:r>
            <a:endParaRPr/>
          </a:p>
          <a:p>
            <a:pPr indent="0" lvl="0" marL="0" rtl="0" algn="l">
              <a:lnSpc>
                <a:spcPct val="90000"/>
              </a:lnSpc>
              <a:spcBef>
                <a:spcPts val="0"/>
              </a:spcBef>
              <a:spcAft>
                <a:spcPts val="0"/>
              </a:spcAft>
              <a:buSzPts val="1800"/>
              <a:buNone/>
            </a:pPr>
            <a:r>
              <a:t/>
            </a:r>
            <a:endParaRPr/>
          </a:p>
        </p:txBody>
      </p:sp>
      <p:sp>
        <p:nvSpPr>
          <p:cNvPr id="385" name="Google Shape;385;g145eb60f366_0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86" name="Google Shape;386;g145eb60f366_0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145aa5eecfc_0_18"/>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392" name="Google Shape;392;g145aa5eecfc_0_18"/>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fontScale="92500"/>
          </a:bodyPr>
          <a:lstStyle/>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latin typeface="Arial"/>
                <a:ea typeface="Arial"/>
                <a:cs typeface="Arial"/>
                <a:sym typeface="Arial"/>
              </a:rPr>
              <a:t>Data Discovery and Formation</a:t>
            </a:r>
            <a:endParaRPr>
              <a:solidFill>
                <a:srgbClr val="A5A5A5"/>
              </a:solidFill>
              <a:latin typeface="Arial"/>
              <a:ea typeface="Arial"/>
              <a:cs typeface="Arial"/>
              <a:sym typeface="Arial"/>
            </a:endParaRPr>
          </a:p>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rPr>
              <a:t>Data Preparation </a:t>
            </a:r>
            <a:endParaRPr>
              <a:solidFill>
                <a:srgbClr val="A5A5A5"/>
              </a:solidFill>
            </a:endParaRPr>
          </a:p>
          <a:p>
            <a:pPr indent="-406400" lvl="0" marL="457200" rtl="0" algn="l">
              <a:lnSpc>
                <a:spcPct val="90000"/>
              </a:lnSpc>
              <a:spcBef>
                <a:spcPts val="0"/>
              </a:spcBef>
              <a:spcAft>
                <a:spcPts val="0"/>
              </a:spcAft>
              <a:buClr>
                <a:srgbClr val="2E75B5"/>
              </a:buClr>
              <a:buSzPct val="108108"/>
              <a:buAutoNum type="arabicPeriod"/>
            </a:pPr>
            <a:r>
              <a:rPr b="1" lang="en-US">
                <a:solidFill>
                  <a:srgbClr val="A5A5A5"/>
                </a:solidFill>
              </a:rPr>
              <a:t>Model Planning </a:t>
            </a:r>
            <a:endParaRPr>
              <a:solidFill>
                <a:srgbClr val="A5A5A5"/>
              </a:solidFill>
            </a:endParaRPr>
          </a:p>
          <a:p>
            <a:pPr indent="-406400" lvl="0" marL="457200" rtl="0" algn="l">
              <a:lnSpc>
                <a:spcPct val="90000"/>
              </a:lnSpc>
              <a:spcBef>
                <a:spcPts val="0"/>
              </a:spcBef>
              <a:spcAft>
                <a:spcPts val="0"/>
              </a:spcAft>
              <a:buClr>
                <a:schemeClr val="accent1"/>
              </a:buClr>
              <a:buSzPct val="108108"/>
              <a:buAutoNum type="arabicPeriod"/>
            </a:pPr>
            <a:r>
              <a:rPr b="1" lang="en-US">
                <a:solidFill>
                  <a:schemeClr val="accent1"/>
                </a:solidFill>
              </a:rPr>
              <a:t>Model Building </a:t>
            </a:r>
            <a:endParaRPr b="1">
              <a:solidFill>
                <a:schemeClr val="accent1"/>
              </a:solidFill>
            </a:endParaRPr>
          </a:p>
          <a:p>
            <a:pPr indent="-342900" lvl="1" marL="914400" rtl="0" algn="l">
              <a:lnSpc>
                <a:spcPct val="90000"/>
              </a:lnSpc>
              <a:spcBef>
                <a:spcPts val="0"/>
              </a:spcBef>
              <a:spcAft>
                <a:spcPts val="0"/>
              </a:spcAft>
              <a:buSzPct val="81081"/>
              <a:buChar char="•"/>
            </a:pPr>
            <a:r>
              <a:rPr lang="en-US"/>
              <a:t>Team develops datasets for testing, training, and production purposes.</a:t>
            </a:r>
            <a:endParaRPr/>
          </a:p>
          <a:p>
            <a:pPr indent="-342900" lvl="1" marL="914400" rtl="0" algn="l">
              <a:lnSpc>
                <a:spcPct val="90000"/>
              </a:lnSpc>
              <a:spcBef>
                <a:spcPts val="0"/>
              </a:spcBef>
              <a:spcAft>
                <a:spcPts val="0"/>
              </a:spcAft>
              <a:buSzPct val="81081"/>
              <a:buChar char="•"/>
            </a:pPr>
            <a:r>
              <a:rPr lang="en-US"/>
              <a:t>Team also considers whether its existing tools will suffice for running the models or if they need more robust environment for executing models.</a:t>
            </a:r>
            <a:endParaRPr/>
          </a:p>
          <a:p>
            <a:pPr indent="-342900" lvl="1" marL="914400" rtl="0" algn="l">
              <a:lnSpc>
                <a:spcPct val="90000"/>
              </a:lnSpc>
              <a:spcBef>
                <a:spcPts val="0"/>
              </a:spcBef>
              <a:spcAft>
                <a:spcPts val="0"/>
              </a:spcAft>
              <a:buSzPct val="81081"/>
              <a:buChar char="•"/>
            </a:pPr>
            <a:r>
              <a:rPr lang="en-US"/>
              <a:t>Free or open-source tools – Rand PL/R, Octave, WEKA.</a:t>
            </a:r>
            <a:endParaRPr/>
          </a:p>
          <a:p>
            <a:pPr indent="-342900" lvl="1" marL="914400" rtl="0" algn="l">
              <a:lnSpc>
                <a:spcPct val="90000"/>
              </a:lnSpc>
              <a:spcBef>
                <a:spcPts val="0"/>
              </a:spcBef>
              <a:spcAft>
                <a:spcPts val="0"/>
              </a:spcAft>
              <a:buSzPct val="81081"/>
              <a:buChar char="•"/>
            </a:pPr>
            <a:r>
              <a:rPr lang="en-US"/>
              <a:t>Commercial tools – Matlab , STASTICA.</a:t>
            </a:r>
            <a:endParaRPr/>
          </a:p>
          <a:p>
            <a:pPr indent="-406400" lvl="0" marL="457200" rtl="0" algn="l">
              <a:lnSpc>
                <a:spcPct val="90000"/>
              </a:lnSpc>
              <a:spcBef>
                <a:spcPts val="0"/>
              </a:spcBef>
              <a:spcAft>
                <a:spcPts val="0"/>
              </a:spcAft>
              <a:buClr>
                <a:schemeClr val="accent1"/>
              </a:buClr>
              <a:buSzPct val="108108"/>
              <a:buAutoNum type="arabicPeriod"/>
            </a:pPr>
            <a:r>
              <a:rPr b="1" lang="en-US">
                <a:solidFill>
                  <a:schemeClr val="accent1"/>
                </a:solidFill>
              </a:rPr>
              <a:t>Communication of Results</a:t>
            </a:r>
            <a:endParaRPr b="1">
              <a:solidFill>
                <a:schemeClr val="accent1"/>
              </a:solidFill>
            </a:endParaRPr>
          </a:p>
          <a:p>
            <a:pPr indent="-342900" lvl="1" marL="914400" rtl="0" algn="l">
              <a:lnSpc>
                <a:spcPct val="90000"/>
              </a:lnSpc>
              <a:spcBef>
                <a:spcPts val="0"/>
              </a:spcBef>
              <a:spcAft>
                <a:spcPts val="0"/>
              </a:spcAft>
              <a:buSzPct val="81081"/>
              <a:buChar char="•"/>
            </a:pPr>
            <a:r>
              <a:rPr lang="en-US"/>
              <a:t>After executing model team need to compare outcomes of modeling to criteria established for success and failure.</a:t>
            </a:r>
            <a:endParaRPr/>
          </a:p>
          <a:p>
            <a:pPr indent="-342900" lvl="1" marL="914400" rtl="0" algn="l">
              <a:lnSpc>
                <a:spcPct val="90000"/>
              </a:lnSpc>
              <a:spcBef>
                <a:spcPts val="0"/>
              </a:spcBef>
              <a:spcAft>
                <a:spcPts val="0"/>
              </a:spcAft>
              <a:buSzPct val="81081"/>
              <a:buChar char="•"/>
            </a:pPr>
            <a:r>
              <a:rPr lang="en-US"/>
              <a:t>Team considers how best to articulate findings and outcomes to various team members and stakeholders, taking into account warning, assumptions.</a:t>
            </a:r>
            <a:endParaRPr/>
          </a:p>
          <a:p>
            <a:pPr indent="-342900" lvl="1" marL="914400" rtl="0" algn="l">
              <a:lnSpc>
                <a:spcPct val="90000"/>
              </a:lnSpc>
              <a:spcBef>
                <a:spcPts val="0"/>
              </a:spcBef>
              <a:spcAft>
                <a:spcPts val="0"/>
              </a:spcAft>
              <a:buSzPct val="81081"/>
              <a:buChar char="•"/>
            </a:pPr>
            <a:r>
              <a:rPr lang="en-US"/>
              <a:t>Team should identify key findings, quantify business value, and develop narrative to summarize and convey findings to stakeholders.</a:t>
            </a:r>
            <a:endParaRPr/>
          </a:p>
          <a:p>
            <a:pPr indent="0" lvl="0" marL="457200" rtl="0" algn="l">
              <a:lnSpc>
                <a:spcPct val="90000"/>
              </a:lnSpc>
              <a:spcBef>
                <a:spcPts val="0"/>
              </a:spcBef>
              <a:spcAft>
                <a:spcPts val="0"/>
              </a:spcAft>
              <a:buSzPct val="69498"/>
              <a:buNone/>
            </a:pPr>
            <a:r>
              <a:t/>
            </a:r>
            <a:endParaRPr/>
          </a:p>
        </p:txBody>
      </p:sp>
      <p:sp>
        <p:nvSpPr>
          <p:cNvPr id="393" name="Google Shape;393;g145aa5eecfc_0_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394" name="Google Shape;394;g145aa5eecfc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145aa5eecfc_0_25"/>
          <p:cNvSpPr txBox="1"/>
          <p:nvPr>
            <p:ph type="title"/>
          </p:nvPr>
        </p:nvSpPr>
        <p:spPr>
          <a:xfrm>
            <a:off x="838200" y="365126"/>
            <a:ext cx="10515600" cy="6315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Data Analytics Lifecycle</a:t>
            </a:r>
            <a:endParaRPr/>
          </a:p>
        </p:txBody>
      </p:sp>
      <p:sp>
        <p:nvSpPr>
          <p:cNvPr id="400" name="Google Shape;400;g145aa5eecfc_0_25"/>
          <p:cNvSpPr txBox="1"/>
          <p:nvPr>
            <p:ph idx="1" type="body"/>
          </p:nvPr>
        </p:nvSpPr>
        <p:spPr>
          <a:xfrm>
            <a:off x="838200" y="1126972"/>
            <a:ext cx="10515600" cy="522930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latin typeface="Arial"/>
                <a:ea typeface="Arial"/>
                <a:cs typeface="Arial"/>
                <a:sym typeface="Arial"/>
              </a:rPr>
              <a:t>Data Discovery and Formation</a:t>
            </a:r>
            <a:endParaRPr>
              <a:solidFill>
                <a:srgbClr val="BFBFBF"/>
              </a:solidFill>
              <a:latin typeface="Arial"/>
              <a:ea typeface="Arial"/>
              <a:cs typeface="Arial"/>
              <a:sym typeface="Arial"/>
            </a:endParaRPr>
          </a:p>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rPr>
              <a:t>Data Preparation </a:t>
            </a:r>
            <a:endParaRPr>
              <a:solidFill>
                <a:srgbClr val="BFBFBF"/>
              </a:solidFill>
            </a:endParaRPr>
          </a:p>
          <a:p>
            <a:pPr indent="-406400" lvl="0" marL="457200" rtl="0" algn="l">
              <a:lnSpc>
                <a:spcPct val="90000"/>
              </a:lnSpc>
              <a:spcBef>
                <a:spcPts val="0"/>
              </a:spcBef>
              <a:spcAft>
                <a:spcPts val="0"/>
              </a:spcAft>
              <a:buClr>
                <a:srgbClr val="2F5496"/>
              </a:buClr>
              <a:buSzPts val="2800"/>
              <a:buAutoNum type="arabicPeriod"/>
            </a:pPr>
            <a:r>
              <a:rPr b="1" lang="en-US">
                <a:solidFill>
                  <a:srgbClr val="BFBFBF"/>
                </a:solidFill>
              </a:rPr>
              <a:t>Model Planning </a:t>
            </a:r>
            <a:endParaRPr>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rgbClr val="BFBFBF"/>
                </a:solidFill>
              </a:rPr>
              <a:t>Model Building </a:t>
            </a:r>
            <a:endParaRPr b="1">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rgbClr val="BFBFBF"/>
                </a:solidFill>
              </a:rPr>
              <a:t>Communication of Results</a:t>
            </a:r>
            <a:endParaRPr b="1">
              <a:solidFill>
                <a:srgbClr val="BFBFBF"/>
              </a:solidFill>
            </a:endParaRPr>
          </a:p>
          <a:p>
            <a:pPr indent="-406400" lvl="0" marL="457200" rtl="0" algn="l">
              <a:lnSpc>
                <a:spcPct val="90000"/>
              </a:lnSpc>
              <a:spcBef>
                <a:spcPts val="0"/>
              </a:spcBef>
              <a:spcAft>
                <a:spcPts val="0"/>
              </a:spcAft>
              <a:buClr>
                <a:schemeClr val="accent1"/>
              </a:buClr>
              <a:buSzPts val="2800"/>
              <a:buAutoNum type="arabicPeriod"/>
            </a:pPr>
            <a:r>
              <a:rPr b="1" lang="en-US">
                <a:solidFill>
                  <a:schemeClr val="accent1"/>
                </a:solidFill>
              </a:rPr>
              <a:t>Optimization</a:t>
            </a:r>
            <a:endParaRPr b="1">
              <a:solidFill>
                <a:schemeClr val="accent1"/>
              </a:solidFill>
            </a:endParaRPr>
          </a:p>
          <a:p>
            <a:pPr indent="-342900" lvl="1" marL="914400" rtl="0" algn="l">
              <a:lnSpc>
                <a:spcPct val="90000"/>
              </a:lnSpc>
              <a:spcBef>
                <a:spcPts val="0"/>
              </a:spcBef>
              <a:spcAft>
                <a:spcPts val="0"/>
              </a:spcAft>
              <a:buSzPts val="1800"/>
              <a:buChar char="•"/>
            </a:pPr>
            <a:r>
              <a:rPr lang="en-US"/>
              <a:t>The team communicates benefits of project more broadly and sets up pilot project to deploy work in controlled way before broadening the work to full enterprise of users.</a:t>
            </a:r>
            <a:endParaRPr/>
          </a:p>
          <a:p>
            <a:pPr indent="-342900" lvl="1" marL="914400" rtl="0" algn="l">
              <a:lnSpc>
                <a:spcPct val="90000"/>
              </a:lnSpc>
              <a:spcBef>
                <a:spcPts val="0"/>
              </a:spcBef>
              <a:spcAft>
                <a:spcPts val="0"/>
              </a:spcAft>
              <a:buSzPts val="1800"/>
              <a:buChar char="•"/>
            </a:pPr>
            <a:r>
              <a:rPr lang="en-US"/>
              <a:t>This approach enables team to learn about performance and related constraints of the model in production environment on small scale  , and make adjustments before full deployment.</a:t>
            </a:r>
            <a:endParaRPr/>
          </a:p>
          <a:p>
            <a:pPr indent="-342900" lvl="1" marL="914400" rtl="0" algn="l">
              <a:lnSpc>
                <a:spcPct val="90000"/>
              </a:lnSpc>
              <a:spcBef>
                <a:spcPts val="0"/>
              </a:spcBef>
              <a:spcAft>
                <a:spcPts val="0"/>
              </a:spcAft>
              <a:buSzPts val="1800"/>
              <a:buChar char="•"/>
            </a:pPr>
            <a:r>
              <a:rPr lang="en-US"/>
              <a:t>The team delivers final reports, briefings, codes.</a:t>
            </a:r>
            <a:endParaRPr/>
          </a:p>
          <a:p>
            <a:pPr indent="-342900" lvl="1" marL="914400" rtl="0" algn="l">
              <a:lnSpc>
                <a:spcPct val="90000"/>
              </a:lnSpc>
              <a:spcBef>
                <a:spcPts val="0"/>
              </a:spcBef>
              <a:spcAft>
                <a:spcPts val="0"/>
              </a:spcAft>
              <a:buSzPts val="1800"/>
              <a:buChar char="•"/>
            </a:pPr>
            <a:r>
              <a:rPr lang="en-US"/>
              <a:t>Free or open source tools – Octave, WEKA, SQL, MADlib.</a:t>
            </a:r>
            <a:endParaRPr/>
          </a:p>
        </p:txBody>
      </p:sp>
      <p:sp>
        <p:nvSpPr>
          <p:cNvPr id="401" name="Google Shape;401;g145aa5eecfc_0_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02" name="Google Shape;402;g145aa5eecfc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4"/>
          <p:cNvSpPr txBox="1"/>
          <p:nvPr>
            <p:ph type="title"/>
          </p:nvPr>
        </p:nvSpPr>
        <p:spPr>
          <a:xfrm>
            <a:off x="838200" y="19046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a:solidFill>
                  <a:srgbClr val="2F5496"/>
                </a:solidFill>
                <a:latin typeface="Times New Roman"/>
                <a:ea typeface="Times New Roman"/>
                <a:cs typeface="Times New Roman"/>
                <a:sym typeface="Times New Roman"/>
              </a:rPr>
              <a:t>Visual Revolution, Various types of visualization with its best practices.</a:t>
            </a:r>
            <a:endParaRPr/>
          </a:p>
        </p:txBody>
      </p:sp>
      <p:sp>
        <p:nvSpPr>
          <p:cNvPr id="408" name="Google Shape;408;p14"/>
          <p:cNvSpPr txBox="1"/>
          <p:nvPr>
            <p:ph idx="1" type="body"/>
          </p:nvPr>
        </p:nvSpPr>
        <p:spPr>
          <a:xfrm>
            <a:off x="838200" y="1825625"/>
            <a:ext cx="10515600" cy="45858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SzPts val="1800"/>
              <a:buNone/>
            </a:pPr>
            <a:r>
              <a:rPr b="1" lang="en-US" sz="3100">
                <a:solidFill>
                  <a:srgbClr val="FFFF00"/>
                </a:solidFill>
                <a:highlight>
                  <a:srgbClr val="0000FF"/>
                </a:highlight>
              </a:rPr>
              <a:t>A 'Visual Revolution' is changing the way we communicate</a:t>
            </a:r>
            <a:endParaRPr b="1" sz="3100">
              <a:solidFill>
                <a:srgbClr val="FFFF00"/>
              </a:solidFill>
              <a:highlight>
                <a:srgbClr val="0000FF"/>
              </a:highlight>
            </a:endParaRPr>
          </a:p>
          <a:p>
            <a:pPr indent="0" lvl="0" marL="457200" rtl="0" algn="l">
              <a:lnSpc>
                <a:spcPct val="90000"/>
              </a:lnSpc>
              <a:spcBef>
                <a:spcPts val="0"/>
              </a:spcBef>
              <a:spcAft>
                <a:spcPts val="0"/>
              </a:spcAft>
              <a:buSzPts val="1800"/>
              <a:buNone/>
            </a:pPr>
            <a:r>
              <a:t/>
            </a:r>
            <a:endParaRPr b="1" sz="3100">
              <a:solidFill>
                <a:srgbClr val="FFFF00"/>
              </a:solidFill>
              <a:highlight>
                <a:srgbClr val="0000FF"/>
              </a:highlight>
            </a:endParaRPr>
          </a:p>
          <a:p>
            <a:pPr indent="-342900" lvl="0" marL="457200" rtl="0" algn="l">
              <a:lnSpc>
                <a:spcPct val="90000"/>
              </a:lnSpc>
              <a:spcBef>
                <a:spcPts val="0"/>
              </a:spcBef>
              <a:spcAft>
                <a:spcPts val="0"/>
              </a:spcAft>
              <a:buSzPts val="1800"/>
              <a:buChar char="•"/>
            </a:pPr>
            <a:r>
              <a:rPr b="1" lang="en-US"/>
              <a:t>Use all kind of visuals - images, graphics, videos and animations to create emotional connections</a:t>
            </a:r>
            <a:endParaRPr b="1"/>
          </a:p>
          <a:p>
            <a:pPr indent="-342900" lvl="0" marL="457200" rtl="0" algn="l">
              <a:lnSpc>
                <a:spcPct val="90000"/>
              </a:lnSpc>
              <a:spcBef>
                <a:spcPts val="0"/>
              </a:spcBef>
              <a:spcAft>
                <a:spcPts val="0"/>
              </a:spcAft>
              <a:buSzPts val="1800"/>
              <a:buChar char="•"/>
            </a:pPr>
            <a:r>
              <a:rPr b="1" lang="en-US"/>
              <a:t>Make sure your content is unique so that people will remember for longer duration, creating impact</a:t>
            </a:r>
            <a:endParaRPr b="1"/>
          </a:p>
          <a:p>
            <a:pPr indent="-342900" lvl="0" marL="457200" rtl="0" algn="l">
              <a:lnSpc>
                <a:spcPct val="90000"/>
              </a:lnSpc>
              <a:spcBef>
                <a:spcPts val="0"/>
              </a:spcBef>
              <a:spcAft>
                <a:spcPts val="0"/>
              </a:spcAft>
              <a:buSzPts val="1800"/>
              <a:buChar char="•"/>
            </a:pPr>
            <a:r>
              <a:rPr b="1" lang="en-US"/>
              <a:t>Create visuals that are useful to customers, or other supporters</a:t>
            </a:r>
            <a:endParaRPr b="1"/>
          </a:p>
          <a:p>
            <a:pPr indent="-342900" lvl="0" marL="457200" rtl="0" algn="l">
              <a:lnSpc>
                <a:spcPct val="90000"/>
              </a:lnSpc>
              <a:spcBef>
                <a:spcPts val="0"/>
              </a:spcBef>
              <a:spcAft>
                <a:spcPts val="0"/>
              </a:spcAft>
              <a:buSzPts val="1800"/>
              <a:buChar char="•"/>
            </a:pPr>
            <a:r>
              <a:rPr b="1" lang="en-US"/>
              <a:t>Invite other people to share their images to encourage interaction and engagement</a:t>
            </a:r>
            <a:endParaRPr b="1"/>
          </a:p>
          <a:p>
            <a:pPr indent="-342900" lvl="0" marL="457200" rtl="0" algn="l">
              <a:lnSpc>
                <a:spcPct val="90000"/>
              </a:lnSpc>
              <a:spcBef>
                <a:spcPts val="0"/>
              </a:spcBef>
              <a:spcAft>
                <a:spcPts val="0"/>
              </a:spcAft>
              <a:buSzPts val="1800"/>
              <a:buChar char="•"/>
            </a:pPr>
            <a:r>
              <a:rPr b="1" lang="en-US"/>
              <a:t>Include short captions with your visuals to give context or include a call to action that asks people to take the next step</a:t>
            </a:r>
            <a:endParaRPr b="1"/>
          </a:p>
        </p:txBody>
      </p:sp>
      <p:sp>
        <p:nvSpPr>
          <p:cNvPr id="409" name="Google Shape;40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10" name="Google Shape;41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145aa5eecfc_0_49"/>
          <p:cNvSpPr txBox="1"/>
          <p:nvPr>
            <p:ph type="title"/>
          </p:nvPr>
        </p:nvSpPr>
        <p:spPr>
          <a:xfrm>
            <a:off x="838200" y="19046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F5496"/>
              </a:buClr>
              <a:buSzPts val="4400"/>
              <a:buFont typeface="Times New Roman"/>
              <a:buNone/>
            </a:pPr>
            <a:r>
              <a:rPr b="1" lang="en-US">
                <a:solidFill>
                  <a:srgbClr val="2F5496"/>
                </a:solidFill>
                <a:latin typeface="Times New Roman"/>
                <a:ea typeface="Times New Roman"/>
                <a:cs typeface="Times New Roman"/>
                <a:sym typeface="Times New Roman"/>
              </a:rPr>
              <a:t>Visualization best practices</a:t>
            </a:r>
            <a:endParaRPr/>
          </a:p>
        </p:txBody>
      </p:sp>
      <p:sp>
        <p:nvSpPr>
          <p:cNvPr id="416" name="Google Shape;416;g145aa5eecfc_0_49"/>
          <p:cNvSpPr txBox="1"/>
          <p:nvPr>
            <p:ph idx="1" type="body"/>
          </p:nvPr>
        </p:nvSpPr>
        <p:spPr>
          <a:xfrm>
            <a:off x="838200" y="1825625"/>
            <a:ext cx="10515600" cy="45858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0"/>
              </a:spcBef>
              <a:spcAft>
                <a:spcPts val="0"/>
              </a:spcAft>
              <a:buSzPts val="1800"/>
              <a:buNone/>
            </a:pPr>
            <a:r>
              <a:rPr b="1" lang="en-US" sz="3100">
                <a:solidFill>
                  <a:srgbClr val="FFFF00"/>
                </a:solidFill>
                <a:highlight>
                  <a:srgbClr val="0000FF"/>
                </a:highlight>
              </a:rPr>
              <a:t>With explosion in volume and complexity of data generated, use of data visualitzation becomes essential  </a:t>
            </a:r>
            <a:endParaRPr b="1" sz="3100">
              <a:solidFill>
                <a:srgbClr val="FFFF00"/>
              </a:solidFill>
              <a:highlight>
                <a:srgbClr val="0000FF"/>
              </a:highlight>
            </a:endParaRPr>
          </a:p>
          <a:p>
            <a:pPr indent="0" lvl="0" marL="457200" rtl="0" algn="l">
              <a:lnSpc>
                <a:spcPct val="90000"/>
              </a:lnSpc>
              <a:spcBef>
                <a:spcPts val="0"/>
              </a:spcBef>
              <a:spcAft>
                <a:spcPts val="0"/>
              </a:spcAft>
              <a:buSzPts val="1800"/>
              <a:buNone/>
            </a:pPr>
            <a:r>
              <a:t/>
            </a:r>
            <a:endParaRPr b="1" sz="3100">
              <a:solidFill>
                <a:srgbClr val="FFFF00"/>
              </a:solidFill>
              <a:highlight>
                <a:srgbClr val="0000FF"/>
              </a:highlight>
            </a:endParaRPr>
          </a:p>
          <a:p>
            <a:pPr indent="-342900" lvl="0" marL="457200" rtl="0" algn="l">
              <a:lnSpc>
                <a:spcPct val="90000"/>
              </a:lnSpc>
              <a:spcBef>
                <a:spcPts val="0"/>
              </a:spcBef>
              <a:spcAft>
                <a:spcPts val="0"/>
              </a:spcAft>
              <a:buSzPts val="1800"/>
              <a:buChar char="•"/>
            </a:pPr>
            <a:r>
              <a:rPr b="1" lang="en-US"/>
              <a:t>Human processes visual information better than tables, numbers, and text</a:t>
            </a:r>
            <a:endParaRPr b="1"/>
          </a:p>
          <a:p>
            <a:pPr indent="-342900" lvl="0" marL="457200" rtl="0" algn="l">
              <a:lnSpc>
                <a:spcPct val="90000"/>
              </a:lnSpc>
              <a:spcBef>
                <a:spcPts val="0"/>
              </a:spcBef>
              <a:spcAft>
                <a:spcPts val="0"/>
              </a:spcAft>
              <a:buSzPts val="1800"/>
              <a:buChar char="•"/>
            </a:pPr>
            <a:r>
              <a:rPr b="1" lang="en-US"/>
              <a:t>Converting into graphs and charts data is transformed into easy-to -understand form</a:t>
            </a:r>
            <a:endParaRPr b="1"/>
          </a:p>
          <a:p>
            <a:pPr indent="0" lvl="0" marL="457200" rtl="0" algn="l">
              <a:lnSpc>
                <a:spcPct val="90000"/>
              </a:lnSpc>
              <a:spcBef>
                <a:spcPts val="0"/>
              </a:spcBef>
              <a:spcAft>
                <a:spcPts val="0"/>
              </a:spcAft>
              <a:buSzPts val="1800"/>
              <a:buNone/>
            </a:pPr>
            <a:r>
              <a:t/>
            </a:r>
            <a:endParaRPr b="1"/>
          </a:p>
        </p:txBody>
      </p:sp>
      <p:sp>
        <p:nvSpPr>
          <p:cNvPr id="417" name="Google Shape;417;g145aa5eecfc_0_4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18" name="Google Shape;418;g145aa5eecfc_0_4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145aa5eecfc_0_56"/>
          <p:cNvSpPr txBox="1"/>
          <p:nvPr>
            <p:ph type="title"/>
          </p:nvPr>
        </p:nvSpPr>
        <p:spPr>
          <a:xfrm>
            <a:off x="740325" y="0"/>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a:t>Data Types </a:t>
            </a:r>
            <a:endParaRPr/>
          </a:p>
        </p:txBody>
      </p:sp>
      <p:sp>
        <p:nvSpPr>
          <p:cNvPr id="425" name="Google Shape;425;g145aa5eecfc_0_56"/>
          <p:cNvSpPr txBox="1"/>
          <p:nvPr>
            <p:ph idx="1" type="body"/>
          </p:nvPr>
        </p:nvSpPr>
        <p:spPr>
          <a:xfrm>
            <a:off x="838200" y="1154500"/>
            <a:ext cx="10515600" cy="4773600"/>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SzPts val="1800"/>
              <a:buChar char="•"/>
            </a:pPr>
            <a:r>
              <a:rPr lang="en-US"/>
              <a:t>Numeric / alpha numeric / Images/ Audio</a:t>
            </a:r>
            <a:endParaRPr/>
          </a:p>
          <a:p>
            <a:pPr indent="0" lvl="0" marL="0" rtl="0" algn="l">
              <a:lnSpc>
                <a:spcPct val="90000"/>
              </a:lnSpc>
              <a:spcBef>
                <a:spcPts val="1000"/>
              </a:spcBef>
              <a:spcAft>
                <a:spcPts val="0"/>
              </a:spcAft>
              <a:buSzPts val="1800"/>
              <a:buNone/>
            </a:pPr>
            <a:r>
              <a:rPr lang="en-US"/>
              <a:t>Numeric Data:</a:t>
            </a:r>
            <a:endParaRPr/>
          </a:p>
          <a:p>
            <a:pPr indent="-342900" lvl="0" marL="457200" rtl="0" algn="l">
              <a:lnSpc>
                <a:spcPct val="90000"/>
              </a:lnSpc>
              <a:spcBef>
                <a:spcPts val="1000"/>
              </a:spcBef>
              <a:spcAft>
                <a:spcPts val="0"/>
              </a:spcAft>
              <a:buSzPts val="1800"/>
              <a:buChar char="•"/>
            </a:pPr>
            <a:r>
              <a:rPr lang="en-US"/>
              <a:t>Categories based on measurement scale:</a:t>
            </a:r>
            <a:endParaRPr/>
          </a:p>
          <a:p>
            <a:pPr indent="-342900" lvl="1" marL="914400" rtl="0" algn="l">
              <a:lnSpc>
                <a:spcPct val="90000"/>
              </a:lnSpc>
              <a:spcBef>
                <a:spcPts val="0"/>
              </a:spcBef>
              <a:spcAft>
                <a:spcPts val="0"/>
              </a:spcAft>
              <a:buSzPts val="1800"/>
              <a:buChar char="•"/>
            </a:pPr>
            <a:r>
              <a:rPr lang="en-US"/>
              <a:t> </a:t>
            </a:r>
            <a:r>
              <a:rPr b="1" lang="en-US">
                <a:solidFill>
                  <a:srgbClr val="0000FF"/>
                </a:solidFill>
              </a:rPr>
              <a:t>Nominal Scale</a:t>
            </a:r>
            <a:r>
              <a:rPr lang="en-US"/>
              <a:t> (qualitative variable or categorical variable). </a:t>
            </a:r>
            <a:r>
              <a:rPr b="1" lang="en-US"/>
              <a:t>NO arithmetic operations are possible </a:t>
            </a:r>
            <a:endParaRPr b="1"/>
          </a:p>
          <a:p>
            <a:pPr indent="-342900" lvl="2" marL="1371600" rtl="0" algn="l">
              <a:lnSpc>
                <a:spcPct val="90000"/>
              </a:lnSpc>
              <a:spcBef>
                <a:spcPts val="0"/>
              </a:spcBef>
              <a:spcAft>
                <a:spcPts val="0"/>
              </a:spcAft>
              <a:buSzPts val="1800"/>
              <a:buChar char="•"/>
            </a:pPr>
            <a:r>
              <a:rPr lang="en-US"/>
              <a:t>e.g blood group : A, B, AB &amp; O</a:t>
            </a:r>
            <a:endParaRPr/>
          </a:p>
          <a:p>
            <a:pPr indent="-342900" lvl="1" marL="914400" rtl="0" algn="l">
              <a:lnSpc>
                <a:spcPct val="90000"/>
              </a:lnSpc>
              <a:spcBef>
                <a:spcPts val="0"/>
              </a:spcBef>
              <a:spcAft>
                <a:spcPts val="0"/>
              </a:spcAft>
              <a:buSzPts val="1800"/>
              <a:buChar char="•"/>
            </a:pPr>
            <a:r>
              <a:rPr lang="en-US"/>
              <a:t> </a:t>
            </a:r>
            <a:r>
              <a:rPr b="1" lang="en-US">
                <a:solidFill>
                  <a:srgbClr val="0000FF"/>
                </a:solidFill>
              </a:rPr>
              <a:t>Ordinal Scale:</a:t>
            </a:r>
            <a:r>
              <a:rPr b="1" lang="en-US">
                <a:solidFill>
                  <a:srgbClr val="1155CC"/>
                </a:solidFill>
              </a:rPr>
              <a:t> </a:t>
            </a:r>
            <a:r>
              <a:rPr lang="en-US"/>
              <a:t>(values are captured from an ordered set). Order is fixed and no arithmetic operations can be performed</a:t>
            </a:r>
            <a:endParaRPr/>
          </a:p>
          <a:p>
            <a:pPr indent="-342900" lvl="2" marL="1371600" rtl="0" algn="l">
              <a:lnSpc>
                <a:spcPct val="90000"/>
              </a:lnSpc>
              <a:spcBef>
                <a:spcPts val="0"/>
              </a:spcBef>
              <a:spcAft>
                <a:spcPts val="0"/>
              </a:spcAft>
              <a:buSzPts val="1800"/>
              <a:buChar char="•"/>
            </a:pPr>
            <a:r>
              <a:rPr lang="en-US"/>
              <a:t>e.g. review ratings on a Likert scale (1-5, 5 being highest )</a:t>
            </a:r>
            <a:endParaRPr/>
          </a:p>
          <a:p>
            <a:pPr indent="-342900" lvl="1" marL="914400" rtl="0" algn="l">
              <a:lnSpc>
                <a:spcPct val="90000"/>
              </a:lnSpc>
              <a:spcBef>
                <a:spcPts val="0"/>
              </a:spcBef>
              <a:spcAft>
                <a:spcPts val="0"/>
              </a:spcAft>
              <a:buSzPts val="1800"/>
              <a:buChar char="•"/>
            </a:pPr>
            <a:r>
              <a:rPr b="1" lang="en-US">
                <a:solidFill>
                  <a:srgbClr val="0000FF"/>
                </a:solidFill>
              </a:rPr>
              <a:t>Interval Scale:</a:t>
            </a:r>
            <a:r>
              <a:rPr lang="en-US"/>
              <a:t> (Data points taken from a fixed interval set) Cannot perform ratios on interval scale data </a:t>
            </a:r>
            <a:endParaRPr/>
          </a:p>
          <a:p>
            <a:pPr indent="-342900" lvl="2" marL="1371600" rtl="0" algn="l">
              <a:lnSpc>
                <a:spcPct val="90000"/>
              </a:lnSpc>
              <a:spcBef>
                <a:spcPts val="0"/>
              </a:spcBef>
              <a:spcAft>
                <a:spcPts val="0"/>
              </a:spcAft>
              <a:buSzPts val="1800"/>
              <a:buChar char="•"/>
            </a:pPr>
            <a:r>
              <a:rPr lang="en-US"/>
              <a:t>e.g. 50 degree C is not twice hot as 25 degree  C</a:t>
            </a:r>
            <a:endParaRPr/>
          </a:p>
          <a:p>
            <a:pPr indent="-342900" lvl="1" marL="914400" rtl="0" algn="l">
              <a:lnSpc>
                <a:spcPct val="90000"/>
              </a:lnSpc>
              <a:spcBef>
                <a:spcPts val="0"/>
              </a:spcBef>
              <a:spcAft>
                <a:spcPts val="0"/>
              </a:spcAft>
              <a:buSzPts val="1800"/>
              <a:buChar char="•"/>
            </a:pPr>
            <a:r>
              <a:rPr b="1" lang="en-US">
                <a:solidFill>
                  <a:srgbClr val="0000FF"/>
                </a:solidFill>
              </a:rPr>
              <a:t>Ratio Scale:</a:t>
            </a:r>
            <a:r>
              <a:rPr lang="en-US"/>
              <a:t> Arithmetic operations are possible </a:t>
            </a:r>
            <a:endParaRPr/>
          </a:p>
          <a:p>
            <a:pPr indent="-342900" lvl="2" marL="1371600" rtl="0" algn="l">
              <a:lnSpc>
                <a:spcPct val="90000"/>
              </a:lnSpc>
              <a:spcBef>
                <a:spcPts val="0"/>
              </a:spcBef>
              <a:spcAft>
                <a:spcPts val="0"/>
              </a:spcAft>
              <a:buSzPts val="1800"/>
              <a:buChar char="•"/>
            </a:pPr>
            <a:r>
              <a:rPr lang="en-US"/>
              <a:t>Product sales, salary </a:t>
            </a:r>
            <a:endParaRPr/>
          </a:p>
        </p:txBody>
      </p:sp>
      <p:sp>
        <p:nvSpPr>
          <p:cNvPr id="426" name="Google Shape;426;g145aa5eecfc_0_5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800"/>
              <a:buFont typeface="Arial"/>
              <a:buNone/>
            </a:pPr>
            <a:fld id="{00000000-1234-1234-1234-123412341234}" type="slidenum">
              <a:rPr lang="en-US"/>
              <a:t>‹#›</a:t>
            </a:fld>
            <a:endParaRPr/>
          </a:p>
        </p:txBody>
      </p:sp>
      <p:sp>
        <p:nvSpPr>
          <p:cNvPr id="427" name="Google Shape;427;g145aa5eecfc_0_5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145aa5eecfc_0_63"/>
          <p:cNvSpPr txBox="1"/>
          <p:nvPr>
            <p:ph type="title"/>
          </p:nvPr>
        </p:nvSpPr>
        <p:spPr>
          <a:xfrm>
            <a:off x="740325"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Data Types &amp; Operations </a:t>
            </a:r>
            <a:endParaRPr/>
          </a:p>
        </p:txBody>
      </p:sp>
      <p:sp>
        <p:nvSpPr>
          <p:cNvPr id="434" name="Google Shape;434;g145aa5eecfc_0_6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435" name="Google Shape;435;g145aa5eecfc_0_63"/>
          <p:cNvGraphicFramePr/>
          <p:nvPr/>
        </p:nvGraphicFramePr>
        <p:xfrm>
          <a:off x="740325" y="1445575"/>
          <a:ext cx="3000000" cy="3000000"/>
        </p:xfrm>
        <a:graphic>
          <a:graphicData uri="http://schemas.openxmlformats.org/drawingml/2006/table">
            <a:tbl>
              <a:tblPr>
                <a:noFill/>
                <a:tableStyleId>{563F28D5-AB2C-417E-9CEE-CEB66C62715A}</a:tableStyleId>
              </a:tblPr>
              <a:tblGrid>
                <a:gridCol w="1946075"/>
                <a:gridCol w="8340925"/>
              </a:tblGrid>
              <a:tr h="381000">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t>Data Type</a:t>
                      </a:r>
                      <a:endParaRPr sz="2600" u="none" cap="none" strike="noStrike"/>
                    </a:p>
                  </a:txBody>
                  <a:tcPr marT="91425" marB="91425" marR="91425" marL="91425">
                    <a:solidFill>
                      <a:srgbClr val="A4C2F4"/>
                    </a:solidFill>
                  </a:tcPr>
                </a:tc>
                <a:tc>
                  <a:txBody>
                    <a:bodyPr/>
                    <a:lstStyle/>
                    <a:p>
                      <a:pPr indent="0" lvl="0" marL="0" marR="0" rtl="0" algn="ctr">
                        <a:lnSpc>
                          <a:spcPct val="100000"/>
                        </a:lnSpc>
                        <a:spcBef>
                          <a:spcPts val="0"/>
                        </a:spcBef>
                        <a:spcAft>
                          <a:spcPts val="0"/>
                        </a:spcAft>
                        <a:buClr>
                          <a:srgbClr val="000000"/>
                        </a:buClr>
                        <a:buSzPts val="2600"/>
                        <a:buFont typeface="Arial"/>
                        <a:buNone/>
                      </a:pPr>
                      <a:r>
                        <a:rPr lang="en-US" sz="2600" u="none" cap="none" strike="noStrike"/>
                        <a:t>Operations </a:t>
                      </a:r>
                      <a:endParaRPr sz="2600" u="none" cap="none" strike="noStrike"/>
                    </a:p>
                  </a:txBody>
                  <a:tcPr marT="91425" marB="91425" marR="91425" marL="91425">
                    <a:solidFill>
                      <a:srgbClr val="A4C2F4"/>
                    </a:solidFill>
                  </a:tcPr>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Nominal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only check if the values are same or not (= = or !=)</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Ordinal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compare ( ==, != , &lt; , &gt;)</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Interval</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measure distance or span with operations ( ==, !=, &lt; , &gt; ,-)</a:t>
                      </a:r>
                      <a:endParaRPr sz="2600" u="none" cap="none" strike="noStrike"/>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Ratio</a:t>
                      </a:r>
                      <a:endParaRPr sz="26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2600"/>
                        <a:buFont typeface="Arial"/>
                        <a:buNone/>
                      </a:pPr>
                      <a:r>
                        <a:rPr lang="en-US" sz="2600" u="none" cap="none" strike="noStrike"/>
                        <a:t>Can measure proportions with operations (== ,!=, &lt; , &gt; ,+, - ,%)</a:t>
                      </a:r>
                      <a:endParaRPr sz="2600" u="none" cap="none" strike="noStrike"/>
                    </a:p>
                  </a:txBody>
                  <a:tcPr marT="91425" marB="91425" marR="91425" marL="91425"/>
                </a:tc>
              </a:tr>
            </a:tbl>
          </a:graphicData>
        </a:graphic>
      </p:graphicFrame>
      <p:sp>
        <p:nvSpPr>
          <p:cNvPr id="436" name="Google Shape;436;g145aa5eecfc_0_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15"/>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42" name="Google Shape;44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 will depend on statistical understanding of the data, its context and to measure it to avoid false analysis and skewed decision making</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US"/>
              <a:t>Human visual cognition system demands a way to encode numbers with meaning by relying on colours and shapes to support interpretation</a:t>
            </a:r>
            <a:endParaRPr/>
          </a:p>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0"/>
              </a:spcBef>
              <a:spcAft>
                <a:spcPts val="0"/>
              </a:spcAft>
              <a:buClr>
                <a:schemeClr val="dk1"/>
              </a:buClr>
              <a:buSzPts val="2800"/>
              <a:buNone/>
            </a:pPr>
            <a:r>
              <a:rPr lang="en-US"/>
              <a:t>Data visualization is the best way to see and understand huge, most diverse data </a:t>
            </a:r>
            <a:endParaRPr/>
          </a:p>
        </p:txBody>
      </p:sp>
      <p:sp>
        <p:nvSpPr>
          <p:cNvPr id="443" name="Google Shape;44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44" name="Google Shape;44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14b51d44415_0_0"/>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50" name="Google Shape;450;g14b51d44415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a:t>
            </a:r>
            <a:endParaRPr/>
          </a:p>
          <a:p>
            <a:pPr indent="-342900" lvl="0" marL="457200" rtl="0" algn="l">
              <a:lnSpc>
                <a:spcPct val="90000"/>
              </a:lnSpc>
              <a:spcBef>
                <a:spcPts val="0"/>
              </a:spcBef>
              <a:spcAft>
                <a:spcPts val="0"/>
              </a:spcAft>
              <a:buSzPts val="1800"/>
              <a:buChar char="•"/>
            </a:pPr>
            <a:r>
              <a:rPr lang="en-US"/>
              <a:t>Cave drawings</a:t>
            </a:r>
            <a:endParaRPr/>
          </a:p>
          <a:p>
            <a:pPr indent="0" lvl="0" marL="45720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p:txBody>
      </p:sp>
      <p:sp>
        <p:nvSpPr>
          <p:cNvPr id="451" name="Google Shape;451;g14b51d44415_0_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52" name="Google Shape;452;g14b51d44415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453" name="Google Shape;453;g14b51d44415_0_0"/>
          <p:cNvPicPr preferRelativeResize="0"/>
          <p:nvPr/>
        </p:nvPicPr>
        <p:blipFill rotWithShape="1">
          <a:blip r:embed="rId3">
            <a:alphaModFix/>
          </a:blip>
          <a:srcRect b="0" l="0" r="0" t="0"/>
          <a:stretch/>
        </p:blipFill>
        <p:spPr>
          <a:xfrm>
            <a:off x="1340075" y="2763415"/>
            <a:ext cx="3310750" cy="2834825"/>
          </a:xfrm>
          <a:prstGeom prst="rect">
            <a:avLst/>
          </a:prstGeom>
          <a:noFill/>
          <a:ln>
            <a:noFill/>
          </a:ln>
        </p:spPr>
      </p:pic>
      <p:pic>
        <p:nvPicPr>
          <p:cNvPr id="454" name="Google Shape;454;g14b51d44415_0_0"/>
          <p:cNvPicPr preferRelativeResize="0"/>
          <p:nvPr/>
        </p:nvPicPr>
        <p:blipFill rotWithShape="1">
          <a:blip r:embed="rId4">
            <a:alphaModFix/>
          </a:blip>
          <a:srcRect b="0" l="0" r="0" t="0"/>
          <a:stretch/>
        </p:blipFill>
        <p:spPr>
          <a:xfrm>
            <a:off x="3024686" y="2763425"/>
            <a:ext cx="5059089" cy="2834825"/>
          </a:xfrm>
          <a:prstGeom prst="rect">
            <a:avLst/>
          </a:prstGeom>
          <a:noFill/>
          <a:ln>
            <a:noFill/>
          </a:ln>
        </p:spPr>
      </p:pic>
      <p:sp>
        <p:nvSpPr>
          <p:cNvPr id="455" name="Google Shape;455;g14b51d44415_0_0"/>
          <p:cNvSpPr txBox="1"/>
          <p:nvPr/>
        </p:nvSpPr>
        <p:spPr>
          <a:xfrm>
            <a:off x="3796800" y="2147825"/>
            <a:ext cx="1905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Early Maps</a:t>
            </a:r>
            <a:endParaRPr b="0" i="0" sz="2800" u="none" cap="none" strike="noStrike">
              <a:solidFill>
                <a:srgbClr val="000000"/>
              </a:solidFill>
              <a:latin typeface="Calibri"/>
              <a:ea typeface="Calibri"/>
              <a:cs typeface="Calibri"/>
              <a:sym typeface="Calibri"/>
            </a:endParaRPr>
          </a:p>
        </p:txBody>
      </p:sp>
      <p:sp>
        <p:nvSpPr>
          <p:cNvPr id="456" name="Google Shape;456;g14b51d44415_0_0"/>
          <p:cNvSpPr txBox="1"/>
          <p:nvPr/>
        </p:nvSpPr>
        <p:spPr>
          <a:xfrm>
            <a:off x="5942288" y="2147825"/>
            <a:ext cx="2447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Modern Maps</a:t>
            </a:r>
            <a:endParaRPr b="0" i="0" sz="2800" u="none" cap="none" strike="noStrike">
              <a:solidFill>
                <a:srgbClr val="000000"/>
              </a:solidFill>
              <a:latin typeface="Calibri"/>
              <a:ea typeface="Calibri"/>
              <a:cs typeface="Calibri"/>
              <a:sym typeface="Calibri"/>
            </a:endParaRPr>
          </a:p>
        </p:txBody>
      </p:sp>
      <p:sp>
        <p:nvSpPr>
          <p:cNvPr id="457" name="Google Shape;457;g14b51d44415_0_0"/>
          <p:cNvSpPr txBox="1"/>
          <p:nvPr/>
        </p:nvSpPr>
        <p:spPr>
          <a:xfrm>
            <a:off x="8890500" y="2147825"/>
            <a:ext cx="2920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Statistical graphs </a:t>
            </a:r>
            <a:endParaRPr b="0" i="0" sz="2800" u="none" cap="none" strike="noStrike">
              <a:solidFill>
                <a:srgbClr val="000000"/>
              </a:solidFill>
              <a:latin typeface="Calibri"/>
              <a:ea typeface="Calibri"/>
              <a:cs typeface="Calibri"/>
              <a:sym typeface="Calibri"/>
            </a:endParaRPr>
          </a:p>
        </p:txBody>
      </p:sp>
      <p:pic>
        <p:nvPicPr>
          <p:cNvPr id="458" name="Google Shape;458;g14b51d44415_0_0"/>
          <p:cNvPicPr preferRelativeResize="0"/>
          <p:nvPr/>
        </p:nvPicPr>
        <p:blipFill rotWithShape="1">
          <a:blip r:embed="rId5">
            <a:alphaModFix/>
          </a:blip>
          <a:srcRect b="0" l="0" r="0" t="0"/>
          <a:stretch/>
        </p:blipFill>
        <p:spPr>
          <a:xfrm>
            <a:off x="3956800" y="2763425"/>
            <a:ext cx="6191250" cy="3219450"/>
          </a:xfrm>
          <a:prstGeom prst="rect">
            <a:avLst/>
          </a:prstGeom>
          <a:noFill/>
          <a:ln>
            <a:noFill/>
          </a:ln>
        </p:spPr>
      </p:pic>
      <p:pic>
        <p:nvPicPr>
          <p:cNvPr id="459" name="Google Shape;459;g14b51d44415_0_0"/>
          <p:cNvPicPr preferRelativeResize="0"/>
          <p:nvPr/>
        </p:nvPicPr>
        <p:blipFill rotWithShape="1">
          <a:blip r:embed="rId6">
            <a:alphaModFix/>
          </a:blip>
          <a:srcRect b="0" l="0" r="0" t="0"/>
          <a:stretch/>
        </p:blipFill>
        <p:spPr>
          <a:xfrm>
            <a:off x="6767001" y="2763425"/>
            <a:ext cx="5425000" cy="30563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1000"/>
                                        <p:tgtEl>
                                          <p:spTgt spid="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1000"/>
                                        <p:tgtEl>
                                          <p:spTgt spid="4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53"/>
                                        </p:tgtEl>
                                      </p:cBhvr>
                                    </p:animEffect>
                                    <p:set>
                                      <p:cBhvr>
                                        <p:cTn dur="1" fill="hold">
                                          <p:stCondLst>
                                            <p:cond delay="1000"/>
                                          </p:stCondLst>
                                        </p:cTn>
                                        <p:tgtEl>
                                          <p:spTgt spid="45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1000"/>
                                        <p:tgtEl>
                                          <p:spTgt spid="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54"/>
                                        </p:tgtEl>
                                      </p:cBhvr>
                                    </p:animEffect>
                                    <p:set>
                                      <p:cBhvr>
                                        <p:cTn dur="1" fill="hold">
                                          <p:stCondLst>
                                            <p:cond delay="1000"/>
                                          </p:stCondLst>
                                        </p:cTn>
                                        <p:tgtEl>
                                          <p:spTgt spid="4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10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458"/>
                                        </p:tgtEl>
                                      </p:cBhvr>
                                    </p:animEffect>
                                    <p:set>
                                      <p:cBhvr>
                                        <p:cTn dur="1" fill="hold">
                                          <p:stCondLst>
                                            <p:cond delay="1000"/>
                                          </p:stCondLst>
                                        </p:cTn>
                                        <p:tgtEl>
                                          <p:spTgt spid="4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10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14b51d44415_0_14"/>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65" name="Google Shape;465;g14b51d44415_0_14"/>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rPr lang="en-US"/>
              <a:t>Data visualization aided by:</a:t>
            </a:r>
            <a:endParaRPr/>
          </a:p>
          <a:p>
            <a:pPr indent="-342900" lvl="0" marL="457200" rtl="0" algn="l">
              <a:lnSpc>
                <a:spcPct val="90000"/>
              </a:lnSpc>
              <a:spcBef>
                <a:spcPts val="0"/>
              </a:spcBef>
              <a:spcAft>
                <a:spcPts val="0"/>
              </a:spcAft>
              <a:buSzPts val="1800"/>
              <a:buChar char="•"/>
            </a:pPr>
            <a:r>
              <a:rPr lang="en-US"/>
              <a:t>Advancement in visual design</a:t>
            </a:r>
            <a:endParaRPr/>
          </a:p>
          <a:p>
            <a:pPr indent="-342900" lvl="0" marL="457200" rtl="0" algn="l">
              <a:lnSpc>
                <a:spcPct val="90000"/>
              </a:lnSpc>
              <a:spcBef>
                <a:spcPts val="0"/>
              </a:spcBef>
              <a:spcAft>
                <a:spcPts val="0"/>
              </a:spcAft>
              <a:buSzPts val="1800"/>
              <a:buChar char="•"/>
            </a:pPr>
            <a:r>
              <a:rPr lang="en-US"/>
              <a:t>Cognitive science </a:t>
            </a:r>
            <a:endParaRPr/>
          </a:p>
          <a:p>
            <a:pPr indent="-342900" lvl="0" marL="457200" rtl="0" algn="l">
              <a:lnSpc>
                <a:spcPct val="90000"/>
              </a:lnSpc>
              <a:spcBef>
                <a:spcPts val="0"/>
              </a:spcBef>
              <a:spcAft>
                <a:spcPts val="0"/>
              </a:spcAft>
              <a:buSzPts val="1800"/>
              <a:buChar char="•"/>
            </a:pPr>
            <a:r>
              <a:rPr lang="en-US"/>
              <a:t>Technology and </a:t>
            </a:r>
            <a:endParaRPr/>
          </a:p>
          <a:p>
            <a:pPr indent="-342900" lvl="0" marL="457200" rtl="0" algn="l">
              <a:lnSpc>
                <a:spcPct val="90000"/>
              </a:lnSpc>
              <a:spcBef>
                <a:spcPts val="0"/>
              </a:spcBef>
              <a:spcAft>
                <a:spcPts val="0"/>
              </a:spcAft>
              <a:buSzPts val="1800"/>
              <a:buChar char="•"/>
            </a:pPr>
            <a:r>
              <a:rPr lang="en-US"/>
              <a:t>Business intelligence </a:t>
            </a:r>
            <a:endParaRPr/>
          </a:p>
          <a:p>
            <a:pPr indent="0" lvl="0" marL="0" rtl="0" algn="l">
              <a:lnSpc>
                <a:spcPct val="90000"/>
              </a:lnSpc>
              <a:spcBef>
                <a:spcPts val="0"/>
              </a:spcBef>
              <a:spcAft>
                <a:spcPts val="0"/>
              </a:spcAft>
              <a:buSzPts val="1800"/>
              <a:buNone/>
            </a:pPr>
            <a:r>
              <a:t/>
            </a:r>
            <a:endParaRPr/>
          </a:p>
          <a:p>
            <a:pPr indent="0" lvl="0" marL="0" rtl="0" algn="l">
              <a:lnSpc>
                <a:spcPct val="115000"/>
              </a:lnSpc>
              <a:spcBef>
                <a:spcPts val="0"/>
              </a:spcBef>
              <a:spcAft>
                <a:spcPts val="0"/>
              </a:spcAft>
              <a:buClr>
                <a:schemeClr val="dk1"/>
              </a:buClr>
              <a:buSzPts val="1100"/>
              <a:buFont typeface="Arial"/>
              <a:buNone/>
            </a:pPr>
            <a:r>
              <a:rPr lang="en-US"/>
              <a:t>An emerging new approach to storytelling attempts to combine data with graphics and tell the world’s stories through the power of information visualization.</a:t>
            </a:r>
            <a:endParaRPr sz="1100">
              <a:solidFill>
                <a:srgbClr val="333333"/>
              </a:solidFill>
              <a:latin typeface="Arial"/>
              <a:ea typeface="Arial"/>
              <a:cs typeface="Arial"/>
              <a:sym typeface="Arial"/>
            </a:endParaRPr>
          </a:p>
          <a:p>
            <a:pPr indent="0" lvl="0" marL="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a:p>
            <a:pPr indent="0" lvl="0" marL="457200" rtl="0" algn="l">
              <a:lnSpc>
                <a:spcPct val="90000"/>
              </a:lnSpc>
              <a:spcBef>
                <a:spcPts val="0"/>
              </a:spcBef>
              <a:spcAft>
                <a:spcPts val="0"/>
              </a:spcAft>
              <a:buSzPts val="1800"/>
              <a:buNone/>
            </a:pPr>
            <a:r>
              <a:t/>
            </a:r>
            <a:endParaRPr/>
          </a:p>
        </p:txBody>
      </p:sp>
      <p:sp>
        <p:nvSpPr>
          <p:cNvPr id="466" name="Google Shape;466;g14b51d44415_0_1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67" name="Google Shape;467;g14b51d44415_0_1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14b51d44415_0_29"/>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73" name="Google Shape;473;g14b51d44415_0_29"/>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Evidence of the cognitive effects of storytelling in neurology is it’s a central way that we learn, remember, and communicate information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Important goal of visual story is to prepare business decision makers to leave a data presentation with a story in their head that helps them both to </a:t>
            </a:r>
            <a:r>
              <a:rPr b="1" lang="en-US"/>
              <a:t>remembe</a:t>
            </a:r>
            <a:r>
              <a:rPr lang="en-US"/>
              <a:t>r your message and </a:t>
            </a:r>
            <a:r>
              <a:rPr b="1" lang="en-US"/>
              <a:t>take action</a:t>
            </a:r>
            <a:r>
              <a:rPr lang="en-US"/>
              <a:t> on it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rPr lang="en-US"/>
              <a:t>Data stories provide tool to communicate information in ways the facts and figures alone can’t</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p:txBody>
      </p:sp>
      <p:sp>
        <p:nvSpPr>
          <p:cNvPr id="474" name="Google Shape;474;g14b51d44415_0_2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75" name="Google Shape;475;g14b51d44415_0_2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14b51d44415_0_36"/>
          <p:cNvSpPr txBox="1"/>
          <p:nvPr>
            <p:ph type="title"/>
          </p:nvPr>
        </p:nvSpPr>
        <p:spPr>
          <a:xfrm>
            <a:off x="838200" y="190475"/>
            <a:ext cx="109728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4200">
                <a:solidFill>
                  <a:srgbClr val="2F5496"/>
                </a:solidFill>
                <a:latin typeface="Times New Roman"/>
                <a:ea typeface="Times New Roman"/>
                <a:cs typeface="Times New Roman"/>
                <a:sym typeface="Times New Roman"/>
              </a:rPr>
              <a:t>From Visualization to Visual Data Storytelling: An Evolution</a:t>
            </a:r>
            <a:endParaRPr sz="4200"/>
          </a:p>
        </p:txBody>
      </p:sp>
      <p:sp>
        <p:nvSpPr>
          <p:cNvPr id="481" name="Google Shape;481;g14b51d44415_0_36"/>
          <p:cNvSpPr txBox="1"/>
          <p:nvPr>
            <p:ph idx="1" type="body"/>
          </p:nvPr>
        </p:nvSpPr>
        <p:spPr>
          <a:xfrm>
            <a:off x="838200" y="1825625"/>
            <a:ext cx="110700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a:t>Storytelling Process  </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p:txBody>
      </p:sp>
      <p:sp>
        <p:nvSpPr>
          <p:cNvPr id="482" name="Google Shape;482;g14b51d44415_0_3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83" name="Google Shape;483;g14b51d44415_0_3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id="484" name="Google Shape;484;g14b51d44415_0_36"/>
          <p:cNvPicPr preferRelativeResize="0"/>
          <p:nvPr/>
        </p:nvPicPr>
        <p:blipFill rotWithShape="1">
          <a:blip r:embed="rId3">
            <a:alphaModFix/>
          </a:blip>
          <a:srcRect b="60975" l="16334" r="38915" t="22108"/>
          <a:stretch/>
        </p:blipFill>
        <p:spPr>
          <a:xfrm>
            <a:off x="1218675" y="2651225"/>
            <a:ext cx="8956199" cy="2115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6"/>
          <p:cNvSpPr txBox="1"/>
          <p:nvPr>
            <p:ph type="title"/>
          </p:nvPr>
        </p:nvSpPr>
        <p:spPr>
          <a:xfrm>
            <a:off x="838200" y="-2"/>
            <a:ext cx="10515600" cy="1040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a:solidFill>
                  <a:srgbClr val="2F5496"/>
                </a:solidFill>
                <a:latin typeface="Times New Roman"/>
                <a:ea typeface="Times New Roman"/>
                <a:cs typeface="Times New Roman"/>
                <a:sym typeface="Times New Roman"/>
              </a:rPr>
              <a:t>From Visual to Story: Bridging the Gap</a:t>
            </a:r>
            <a:endParaRPr/>
          </a:p>
        </p:txBody>
      </p:sp>
      <p:sp>
        <p:nvSpPr>
          <p:cNvPr id="490" name="Google Shape;490;p16"/>
          <p:cNvSpPr txBox="1"/>
          <p:nvPr>
            <p:ph idx="1" type="body"/>
          </p:nvPr>
        </p:nvSpPr>
        <p:spPr>
          <a:xfrm>
            <a:off x="838200" y="11207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0"/>
              </a:spcBef>
              <a:spcAft>
                <a:spcPts val="0"/>
              </a:spcAft>
              <a:buSzPts val="1800"/>
              <a:buChar char="•"/>
            </a:pPr>
            <a:r>
              <a:rPr lang="en-US"/>
              <a:t>Data Storytelling is needed as amount of data is growing day-by-day</a:t>
            </a:r>
            <a:endParaRPr/>
          </a:p>
          <a:p>
            <a:pPr indent="-342900" lvl="0" marL="457200" rtl="0" algn="l">
              <a:lnSpc>
                <a:spcPct val="90000"/>
              </a:lnSpc>
              <a:spcBef>
                <a:spcPts val="0"/>
              </a:spcBef>
              <a:spcAft>
                <a:spcPts val="0"/>
              </a:spcAft>
              <a:buSzPts val="1800"/>
              <a:buChar char="•"/>
            </a:pPr>
            <a:r>
              <a:rPr lang="en-US"/>
              <a:t> Steps </a:t>
            </a:r>
            <a:endParaRPr/>
          </a:p>
          <a:p>
            <a:pPr indent="-342900" lvl="0" marL="914400" rtl="0" algn="l">
              <a:lnSpc>
                <a:spcPct val="90000"/>
              </a:lnSpc>
              <a:spcBef>
                <a:spcPts val="0"/>
              </a:spcBef>
              <a:spcAft>
                <a:spcPts val="0"/>
              </a:spcAft>
              <a:buSzPts val="1800"/>
              <a:buAutoNum type="arabicPeriod"/>
            </a:pPr>
            <a:r>
              <a:rPr lang="en-US"/>
              <a:t>Create Data</a:t>
            </a:r>
            <a:endParaRPr/>
          </a:p>
          <a:p>
            <a:pPr indent="-342900" lvl="0" marL="914400" rtl="0" algn="l">
              <a:lnSpc>
                <a:spcPct val="90000"/>
              </a:lnSpc>
              <a:spcBef>
                <a:spcPts val="0"/>
              </a:spcBef>
              <a:spcAft>
                <a:spcPts val="0"/>
              </a:spcAft>
              <a:buSzPts val="1800"/>
              <a:buAutoNum type="arabicPeriod"/>
            </a:pPr>
            <a:r>
              <a:rPr lang="en-US"/>
              <a:t>Collect Data</a:t>
            </a:r>
            <a:endParaRPr/>
          </a:p>
          <a:p>
            <a:pPr indent="-342900" lvl="0" marL="914400" rtl="0" algn="l">
              <a:lnSpc>
                <a:spcPct val="90000"/>
              </a:lnSpc>
              <a:spcBef>
                <a:spcPts val="0"/>
              </a:spcBef>
              <a:spcAft>
                <a:spcPts val="0"/>
              </a:spcAft>
              <a:buSzPts val="1800"/>
              <a:buAutoNum type="arabicPeriod"/>
            </a:pPr>
            <a:r>
              <a:rPr lang="en-US"/>
              <a:t>Clean/ Prepare Data</a:t>
            </a:r>
            <a:endParaRPr/>
          </a:p>
          <a:p>
            <a:pPr indent="-342900" lvl="0" marL="914400" rtl="0" algn="l">
              <a:lnSpc>
                <a:spcPct val="90000"/>
              </a:lnSpc>
              <a:spcBef>
                <a:spcPts val="0"/>
              </a:spcBef>
              <a:spcAft>
                <a:spcPts val="0"/>
              </a:spcAft>
              <a:buSzPts val="1800"/>
              <a:buAutoNum type="arabicPeriod"/>
            </a:pPr>
            <a:r>
              <a:rPr lang="en-US"/>
              <a:t>Present Data (Visualization)</a:t>
            </a:r>
            <a:endParaRPr/>
          </a:p>
          <a:p>
            <a:pPr indent="-342900" lvl="0" marL="914400" rtl="0" algn="l">
              <a:lnSpc>
                <a:spcPct val="90000"/>
              </a:lnSpc>
              <a:spcBef>
                <a:spcPts val="0"/>
              </a:spcBef>
              <a:spcAft>
                <a:spcPts val="0"/>
              </a:spcAft>
              <a:buSzPts val="1800"/>
              <a:buAutoNum type="arabicPeriod"/>
            </a:pPr>
            <a:r>
              <a:rPr lang="en-US"/>
              <a:t>Storytelling (Communication)</a:t>
            </a:r>
            <a:endParaRPr/>
          </a:p>
          <a:p>
            <a:pPr indent="0" lvl="0" marL="0" rtl="0" algn="l">
              <a:lnSpc>
                <a:spcPct val="90000"/>
              </a:lnSpc>
              <a:spcBef>
                <a:spcPts val="0"/>
              </a:spcBef>
              <a:spcAft>
                <a:spcPts val="0"/>
              </a:spcAft>
              <a:buSzPts val="1800"/>
              <a:buNone/>
            </a:pPr>
            <a:r>
              <a:t/>
            </a:r>
            <a:endParaRPr/>
          </a:p>
          <a:p>
            <a:pPr indent="0" lvl="0" marL="0" rtl="0" algn="l">
              <a:lnSpc>
                <a:spcPct val="90000"/>
              </a:lnSpc>
              <a:spcBef>
                <a:spcPts val="0"/>
              </a:spcBef>
              <a:spcAft>
                <a:spcPts val="0"/>
              </a:spcAft>
              <a:buSzPts val="1800"/>
              <a:buNone/>
            </a:pPr>
            <a:r>
              <a:t/>
            </a:r>
            <a:endParaRPr/>
          </a:p>
          <a:p>
            <a:pPr indent="0" lvl="0" marL="1828800" rtl="0" algn="l">
              <a:lnSpc>
                <a:spcPct val="90000"/>
              </a:lnSpc>
              <a:spcBef>
                <a:spcPts val="0"/>
              </a:spcBef>
              <a:spcAft>
                <a:spcPts val="0"/>
              </a:spcAft>
              <a:buSzPts val="1800"/>
              <a:buNone/>
            </a:pPr>
            <a:r>
              <a:t/>
            </a:r>
            <a:endParaRPr/>
          </a:p>
          <a:p>
            <a:pPr indent="-50800" lvl="0" marL="228600" rtl="0" algn="l">
              <a:lnSpc>
                <a:spcPct val="90000"/>
              </a:lnSpc>
              <a:spcBef>
                <a:spcPts val="0"/>
              </a:spcBef>
              <a:spcAft>
                <a:spcPts val="0"/>
              </a:spcAft>
              <a:buClr>
                <a:schemeClr val="dk1"/>
              </a:buClr>
              <a:buSzPts val="2800"/>
              <a:buNone/>
            </a:pPr>
            <a:r>
              <a:t/>
            </a:r>
            <a:endParaRPr/>
          </a:p>
        </p:txBody>
      </p:sp>
      <p:sp>
        <p:nvSpPr>
          <p:cNvPr id="491" name="Google Shape;49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492" name="Google Shape;49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Data Visualization V/s Data Storytelling </a:t>
            </a:r>
            <a:endParaRPr/>
          </a:p>
        </p:txBody>
      </p:sp>
      <p:sp>
        <p:nvSpPr>
          <p:cNvPr id="498" name="Google Shape;498;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Data visualization:</a:t>
            </a:r>
            <a:r>
              <a:rPr lang="en-US">
                <a:latin typeface="Times New Roman"/>
                <a:ea typeface="Times New Roman"/>
                <a:cs typeface="Times New Roman"/>
                <a:sym typeface="Times New Roman"/>
              </a:rPr>
              <a:t> the practice of graphically representing data to help people see and understand patterns, insights, and other discoveries hidden inside information</a:t>
            </a:r>
            <a:endParaRPr/>
          </a:p>
          <a:p>
            <a:pPr indent="-228600" lvl="0" marL="228600" rtl="0" algn="just">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Data storytelling:  </a:t>
            </a:r>
            <a:r>
              <a:rPr lang="en-US">
                <a:latin typeface="Times New Roman"/>
                <a:ea typeface="Times New Roman"/>
                <a:cs typeface="Times New Roman"/>
                <a:sym typeface="Times New Roman"/>
              </a:rPr>
              <a:t>translate seeing into meaning by weaving a narrative around the data to answer questions and support decision making</a:t>
            </a:r>
            <a:endParaRPr/>
          </a:p>
          <a:p>
            <a:pPr indent="0" lvl="0" marL="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latin typeface="Times New Roman"/>
              <a:ea typeface="Times New Roman"/>
              <a:cs typeface="Times New Roman"/>
              <a:sym typeface="Times New Roman"/>
            </a:endParaRPr>
          </a:p>
        </p:txBody>
      </p:sp>
      <p:sp>
        <p:nvSpPr>
          <p:cNvPr id="499" name="Google Shape;49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500" name="Google Shape;50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153c3bd0df0_0_3"/>
          <p:cNvSpPr txBox="1"/>
          <p:nvPr>
            <p:ph type="title"/>
          </p:nvPr>
        </p:nvSpPr>
        <p:spPr>
          <a:xfrm>
            <a:off x="838200" y="0"/>
            <a:ext cx="10515600" cy="72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Digital Storytelling </a:t>
            </a:r>
            <a:endParaRPr/>
          </a:p>
        </p:txBody>
      </p:sp>
      <p:sp>
        <p:nvSpPr>
          <p:cNvPr id="506" name="Google Shape;506;g153c3bd0df0_0_3"/>
          <p:cNvSpPr txBox="1"/>
          <p:nvPr>
            <p:ph idx="1" type="body"/>
          </p:nvPr>
        </p:nvSpPr>
        <p:spPr>
          <a:xfrm>
            <a:off x="838200" y="866575"/>
            <a:ext cx="10515600" cy="5216400"/>
          </a:xfrm>
          <a:prstGeom prst="rect">
            <a:avLst/>
          </a:prstGeom>
          <a:noFill/>
          <a:ln>
            <a:noFill/>
          </a:ln>
        </p:spPr>
        <p:txBody>
          <a:bodyPr anchorCtr="0" anchor="t" bIns="45700" lIns="91425" spcFirstLastPara="1" rIns="91425" wrap="square" tIns="45700">
            <a:normAutofit fontScale="25000" lnSpcReduction="20000"/>
          </a:bodyPr>
          <a:lstStyle/>
          <a:p>
            <a:pPr indent="-209550" lvl="0" marL="228600" rtl="0" algn="just">
              <a:lnSpc>
                <a:spcPct val="90000"/>
              </a:lnSpc>
              <a:spcBef>
                <a:spcPts val="1000"/>
              </a:spcBef>
              <a:spcAft>
                <a:spcPts val="0"/>
              </a:spcAft>
              <a:buClr>
                <a:schemeClr val="dk1"/>
              </a:buClr>
              <a:buSzPct val="100000"/>
              <a:buChar char="•"/>
            </a:pPr>
            <a:r>
              <a:rPr b="1" lang="en-US" sz="10000">
                <a:latin typeface="Times New Roman"/>
                <a:ea typeface="Times New Roman"/>
                <a:cs typeface="Times New Roman"/>
                <a:sym typeface="Times New Roman"/>
              </a:rPr>
              <a:t>Process of using Digital Technology to communicate to aid taking decision making </a:t>
            </a:r>
            <a:endParaRPr sz="10000"/>
          </a:p>
          <a:p>
            <a:pPr indent="0" lvl="0" marL="0" rtl="0" algn="l">
              <a:lnSpc>
                <a:spcPct val="90000"/>
              </a:lnSpc>
              <a:spcBef>
                <a:spcPts val="1000"/>
              </a:spcBef>
              <a:spcAft>
                <a:spcPts val="0"/>
              </a:spcAft>
              <a:buClr>
                <a:schemeClr val="dk1"/>
              </a:buClr>
              <a:buSzPct val="35408"/>
              <a:buNone/>
            </a:pPr>
            <a:r>
              <a:t/>
            </a:r>
            <a:endParaRPr sz="79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28000"/>
              <a:buNone/>
            </a:pPr>
            <a:r>
              <a:rPr b="1" lang="en-US" sz="10000">
                <a:latin typeface="Times New Roman"/>
                <a:ea typeface="Times New Roman"/>
                <a:cs typeface="Times New Roman"/>
                <a:sym typeface="Times New Roman"/>
              </a:rPr>
              <a:t>Process of Storytelling:</a:t>
            </a:r>
            <a:endParaRPr sz="79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Use of media</a:t>
            </a:r>
            <a:endParaRPr sz="11107">
              <a:latin typeface="Times New Roman"/>
              <a:ea typeface="Times New Roman"/>
              <a:cs typeface="Times New Roman"/>
              <a:sym typeface="Times New Roman"/>
            </a:endParaRPr>
          </a:p>
          <a:p>
            <a:pPr indent="0" lvl="0" marL="4572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Text,</a:t>
            </a:r>
            <a:endParaRPr sz="11107">
              <a:latin typeface="Times New Roman"/>
              <a:ea typeface="Times New Roman"/>
              <a:cs typeface="Times New Roman"/>
              <a:sym typeface="Times New Roman"/>
            </a:endParaRPr>
          </a:p>
          <a:p>
            <a:pPr indent="0" lvl="0" marL="45720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Visuals</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Music</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Video</a:t>
            </a:r>
            <a:endParaRPr sz="11107">
              <a:latin typeface="Times New Roman"/>
              <a:ea typeface="Times New Roman"/>
              <a:cs typeface="Times New Roman"/>
              <a:sym typeface="Times New Roman"/>
            </a:endParaRPr>
          </a:p>
          <a:p>
            <a:pPr indent="457200" lvl="0" marL="0" rtl="0" algn="l">
              <a:lnSpc>
                <a:spcPct val="90000"/>
              </a:lnSpc>
              <a:spcBef>
                <a:spcPts val="1000"/>
              </a:spcBef>
              <a:spcAft>
                <a:spcPts val="0"/>
              </a:spcAft>
              <a:buClr>
                <a:schemeClr val="dk1"/>
              </a:buClr>
              <a:buSzPct val="25207"/>
              <a:buNone/>
            </a:pPr>
            <a:r>
              <a:rPr lang="en-US" sz="11107">
                <a:latin typeface="Times New Roman"/>
                <a:ea typeface="Times New Roman"/>
                <a:cs typeface="Times New Roman"/>
                <a:sym typeface="Times New Roman"/>
              </a:rPr>
              <a:t>Voice</a:t>
            </a:r>
            <a:endParaRPr sz="111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ct val="44390"/>
              <a:buNone/>
            </a:pPr>
            <a:r>
              <a:t/>
            </a:r>
            <a:endParaRPr sz="6307">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700"/>
              <a:buNone/>
            </a:pPr>
            <a:r>
              <a:rPr lang="en-US" sz="14707">
                <a:solidFill>
                  <a:srgbClr val="FF0000"/>
                </a:solidFill>
                <a:highlight>
                  <a:srgbClr val="FFF2CC"/>
                </a:highlight>
                <a:latin typeface="Times New Roman"/>
                <a:ea typeface="Times New Roman"/>
                <a:cs typeface="Times New Roman"/>
                <a:sym typeface="Times New Roman"/>
              </a:rPr>
              <a:t>To reach to wider audience in more convincing way</a:t>
            </a:r>
            <a:r>
              <a:rPr lang="en-US" sz="14707">
                <a:solidFill>
                  <a:srgbClr val="FF0000"/>
                </a:solidFill>
                <a:highlight>
                  <a:srgbClr val="6D9EEB"/>
                </a:highlight>
                <a:latin typeface="Times New Roman"/>
                <a:ea typeface="Times New Roman"/>
                <a:cs typeface="Times New Roman"/>
                <a:sym typeface="Times New Roman"/>
              </a:rPr>
              <a:t> </a:t>
            </a:r>
            <a:endParaRPr sz="14707">
              <a:solidFill>
                <a:srgbClr val="FF0000"/>
              </a:solidFill>
              <a:highlight>
                <a:srgbClr val="6D9EEB"/>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
        <p:nvSpPr>
          <p:cNvPr id="507" name="Google Shape;507;g153c3bd0df0_0_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508" name="Google Shape;508;g153c3bd0df0_0_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153c3bd0df0_0_10"/>
          <p:cNvSpPr txBox="1"/>
          <p:nvPr>
            <p:ph type="title"/>
          </p:nvPr>
        </p:nvSpPr>
        <p:spPr>
          <a:xfrm>
            <a:off x="838200" y="0"/>
            <a:ext cx="10515600" cy="722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Digital Storytelling </a:t>
            </a:r>
            <a:endParaRPr/>
          </a:p>
        </p:txBody>
      </p:sp>
      <p:sp>
        <p:nvSpPr>
          <p:cNvPr id="514" name="Google Shape;514;g153c3bd0df0_0_10"/>
          <p:cNvSpPr txBox="1"/>
          <p:nvPr>
            <p:ph idx="1" type="body"/>
          </p:nvPr>
        </p:nvSpPr>
        <p:spPr>
          <a:xfrm>
            <a:off x="838200" y="866575"/>
            <a:ext cx="10515600" cy="2023800"/>
          </a:xfrm>
          <a:prstGeom prst="rect">
            <a:avLst/>
          </a:prstGeom>
          <a:noFill/>
          <a:ln>
            <a:noFill/>
          </a:ln>
        </p:spPr>
        <p:txBody>
          <a:bodyPr anchorCtr="0" anchor="t" bIns="45700" lIns="91425" spcFirstLastPara="1" rIns="91425" wrap="square" tIns="45700">
            <a:normAutofit/>
          </a:bodyPr>
          <a:lstStyle/>
          <a:p>
            <a:pPr indent="0" lvl="0" marL="177800" rtl="0" algn="l">
              <a:lnSpc>
                <a:spcPct val="90000"/>
              </a:lnSpc>
              <a:spcBef>
                <a:spcPts val="1000"/>
              </a:spcBef>
              <a:spcAft>
                <a:spcPts val="0"/>
              </a:spcAft>
              <a:buClr>
                <a:schemeClr val="dk1"/>
              </a:buClr>
              <a:buSzPts val="2800"/>
              <a:buNone/>
            </a:pPr>
            <a:r>
              <a:rPr lang="en-US" sz="2500">
                <a:solidFill>
                  <a:srgbClr val="FF0000"/>
                </a:solidFill>
                <a:highlight>
                  <a:srgbClr val="FFF2CC"/>
                </a:highlight>
                <a:latin typeface="Times New Roman"/>
                <a:ea typeface="Times New Roman"/>
                <a:cs typeface="Times New Roman"/>
                <a:sym typeface="Times New Roman"/>
              </a:rPr>
              <a:t>Data:</a:t>
            </a:r>
            <a:endParaRPr sz="2500">
              <a:solidFill>
                <a:srgbClr val="FF0000"/>
              </a:solidFill>
              <a:highlight>
                <a:srgbClr val="FFF2CC"/>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How to prepare pasta :</a:t>
            </a:r>
            <a:endParaRPr sz="2500">
              <a:highlight>
                <a:schemeClr val="lt1"/>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Ingredients</a:t>
            </a:r>
            <a:endParaRPr sz="2500">
              <a:highlight>
                <a:schemeClr val="lt1"/>
              </a:highlight>
              <a:latin typeface="Times New Roman"/>
              <a:ea typeface="Times New Roman"/>
              <a:cs typeface="Times New Roman"/>
              <a:sym typeface="Times New Roman"/>
            </a:endParaRPr>
          </a:p>
          <a:p>
            <a:pPr indent="0" lvl="0" marL="177800" rtl="0" algn="l">
              <a:lnSpc>
                <a:spcPct val="90000"/>
              </a:lnSpc>
              <a:spcBef>
                <a:spcPts val="1000"/>
              </a:spcBef>
              <a:spcAft>
                <a:spcPts val="0"/>
              </a:spcAft>
              <a:buClr>
                <a:schemeClr val="dk1"/>
              </a:buClr>
              <a:buSzPts val="2800"/>
              <a:buNone/>
            </a:pPr>
            <a:r>
              <a:rPr lang="en-US" sz="2500">
                <a:highlight>
                  <a:schemeClr val="lt1"/>
                </a:highlight>
                <a:latin typeface="Times New Roman"/>
                <a:ea typeface="Times New Roman"/>
                <a:cs typeface="Times New Roman"/>
                <a:sym typeface="Times New Roman"/>
              </a:rPr>
              <a:t>Process/ Procedure</a:t>
            </a:r>
            <a:endParaRPr sz="2500">
              <a:solidFill>
                <a:srgbClr val="FF0000"/>
              </a:solidFill>
              <a:highlight>
                <a:srgbClr val="FFF2CC"/>
              </a:highlight>
              <a:latin typeface="Times New Roman"/>
              <a:ea typeface="Times New Roman"/>
              <a:cs typeface="Times New Roman"/>
              <a:sym typeface="Times New Roman"/>
            </a:endParaRPr>
          </a:p>
        </p:txBody>
      </p:sp>
      <p:sp>
        <p:nvSpPr>
          <p:cNvPr id="515" name="Google Shape;515;g153c3bd0df0_0_1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b="1">
              <a:solidFill>
                <a:srgbClr val="833C0B"/>
              </a:solidFill>
            </a:endParaRPr>
          </a:p>
        </p:txBody>
      </p:sp>
      <p:sp>
        <p:nvSpPr>
          <p:cNvPr id="516" name="Google Shape;516;g153c3bd0df0_0_1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pic>
        <p:nvPicPr>
          <p:cNvPr descr="Image result for difference between visualization and presentation" id="517" name="Google Shape;517;g153c3bd0df0_0_10"/>
          <p:cNvPicPr preferRelativeResize="0"/>
          <p:nvPr/>
        </p:nvPicPr>
        <p:blipFill rotWithShape="1">
          <a:blip r:embed="rId3">
            <a:alphaModFix/>
          </a:blip>
          <a:srcRect b="0" l="0" r="51872" t="22390"/>
          <a:stretch/>
        </p:blipFill>
        <p:spPr>
          <a:xfrm>
            <a:off x="4465025" y="2736550"/>
            <a:ext cx="3901050" cy="2328525"/>
          </a:xfrm>
          <a:prstGeom prst="rect">
            <a:avLst/>
          </a:prstGeom>
          <a:noFill/>
          <a:ln>
            <a:noFill/>
          </a:ln>
        </p:spPr>
      </p:pic>
      <p:sp>
        <p:nvSpPr>
          <p:cNvPr id="518" name="Google Shape;518;g153c3bd0df0_0_10"/>
          <p:cNvSpPr txBox="1"/>
          <p:nvPr/>
        </p:nvSpPr>
        <p:spPr>
          <a:xfrm>
            <a:off x="936775" y="2904113"/>
            <a:ext cx="3000000" cy="13518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rgbClr val="FF0000"/>
                </a:solidFill>
                <a:highlight>
                  <a:srgbClr val="FFF2CC"/>
                </a:highlight>
                <a:latin typeface="Times New Roman"/>
                <a:ea typeface="Times New Roman"/>
                <a:cs typeface="Times New Roman"/>
                <a:sym typeface="Times New Roman"/>
              </a:rPr>
              <a:t>Visualisation:</a:t>
            </a:r>
            <a:endParaRPr b="0" i="0" sz="2500" u="none" cap="none" strike="noStrike">
              <a:solidFill>
                <a:srgbClr val="FF0000"/>
              </a:solidFill>
              <a:highlight>
                <a:srgbClr val="FFF2CC"/>
              </a:highlight>
              <a:latin typeface="Times New Roman"/>
              <a:ea typeface="Times New Roman"/>
              <a:cs typeface="Times New Roman"/>
              <a:sym typeface="Times New Roman"/>
            </a:endParaRPr>
          </a:p>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chemeClr val="dk1"/>
                </a:solidFill>
                <a:highlight>
                  <a:schemeClr val="lt1"/>
                </a:highlight>
                <a:latin typeface="Times New Roman"/>
                <a:ea typeface="Times New Roman"/>
                <a:cs typeface="Times New Roman"/>
                <a:sym typeface="Times New Roman"/>
              </a:rPr>
              <a:t>Use images to express</a:t>
            </a:r>
            <a:endParaRPr b="0" i="0" sz="1400" u="none" cap="none" strike="noStrike">
              <a:solidFill>
                <a:srgbClr val="000000"/>
              </a:solidFill>
              <a:latin typeface="Arial"/>
              <a:ea typeface="Arial"/>
              <a:cs typeface="Arial"/>
              <a:sym typeface="Arial"/>
            </a:endParaRPr>
          </a:p>
        </p:txBody>
      </p:sp>
      <p:sp>
        <p:nvSpPr>
          <p:cNvPr id="519" name="Google Shape;519;g153c3bd0df0_0_10"/>
          <p:cNvSpPr txBox="1"/>
          <p:nvPr/>
        </p:nvSpPr>
        <p:spPr>
          <a:xfrm>
            <a:off x="936775" y="4809700"/>
            <a:ext cx="3000000" cy="5310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rgbClr val="FF0000"/>
                </a:solidFill>
                <a:highlight>
                  <a:srgbClr val="FFF2CC"/>
                </a:highlight>
                <a:latin typeface="Times New Roman"/>
                <a:ea typeface="Times New Roman"/>
                <a:cs typeface="Times New Roman"/>
                <a:sym typeface="Times New Roman"/>
              </a:rPr>
              <a:t>Presentation:</a:t>
            </a:r>
            <a:endParaRPr b="0" i="0" sz="1400" u="none" cap="none" strike="noStrike">
              <a:solidFill>
                <a:srgbClr val="000000"/>
              </a:solidFill>
              <a:latin typeface="Arial"/>
              <a:ea typeface="Arial"/>
              <a:cs typeface="Arial"/>
              <a:sym typeface="Arial"/>
            </a:endParaRPr>
          </a:p>
        </p:txBody>
      </p:sp>
      <p:pic>
        <p:nvPicPr>
          <p:cNvPr descr="Image result for difference between visualization and presentation" id="520" name="Google Shape;520;g153c3bd0df0_0_10"/>
          <p:cNvPicPr preferRelativeResize="0"/>
          <p:nvPr/>
        </p:nvPicPr>
        <p:blipFill rotWithShape="1">
          <a:blip r:embed="rId3">
            <a:alphaModFix/>
          </a:blip>
          <a:srcRect b="2803" l="51872" r="3445" t="24514"/>
          <a:stretch/>
        </p:blipFill>
        <p:spPr>
          <a:xfrm>
            <a:off x="4531600" y="3984941"/>
            <a:ext cx="3621801" cy="2180525"/>
          </a:xfrm>
          <a:prstGeom prst="rect">
            <a:avLst/>
          </a:prstGeom>
          <a:noFill/>
          <a:ln>
            <a:noFill/>
          </a:ln>
        </p:spPr>
      </p:pic>
      <p:sp>
        <p:nvSpPr>
          <p:cNvPr id="521" name="Google Shape;521;g153c3bd0df0_0_10"/>
          <p:cNvSpPr txBox="1"/>
          <p:nvPr/>
        </p:nvSpPr>
        <p:spPr>
          <a:xfrm>
            <a:off x="1298925" y="5760150"/>
            <a:ext cx="9341100" cy="531000"/>
          </a:xfrm>
          <a:prstGeom prst="rect">
            <a:avLst/>
          </a:prstGeom>
          <a:noFill/>
          <a:ln>
            <a:noFill/>
          </a:ln>
        </p:spPr>
        <p:txBody>
          <a:bodyPr anchorCtr="0" anchor="t" bIns="91425" lIns="91425" spcFirstLastPara="1" rIns="91425" wrap="square" tIns="91425">
            <a:spAutoFit/>
          </a:bodyPr>
          <a:lstStyle/>
          <a:p>
            <a:pPr indent="0" lvl="0" marL="177800" marR="0" rtl="0" algn="l">
              <a:lnSpc>
                <a:spcPct val="90000"/>
              </a:lnSpc>
              <a:spcBef>
                <a:spcPts val="1000"/>
              </a:spcBef>
              <a:spcAft>
                <a:spcPts val="0"/>
              </a:spcAft>
              <a:buClr>
                <a:srgbClr val="000000"/>
              </a:buClr>
              <a:buSzPts val="2500"/>
              <a:buFont typeface="Arial"/>
              <a:buNone/>
            </a:pPr>
            <a:r>
              <a:rPr b="0" i="0" lang="en-US" sz="2500" u="none" cap="none" strike="noStrike">
                <a:solidFill>
                  <a:schemeClr val="dk1"/>
                </a:solidFill>
                <a:highlight>
                  <a:schemeClr val="lt1"/>
                </a:highlight>
                <a:latin typeface="Times New Roman"/>
                <a:ea typeface="Times New Roman"/>
                <a:cs typeface="Times New Roman"/>
                <a:sym typeface="Times New Roman"/>
              </a:rPr>
              <a:t>Use presentation to create long lasting impression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1000"/>
                                        <p:tgtEl>
                                          <p:spTgt spid="5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5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0"/>
                                        </p:tgtEl>
                                        <p:attrNameLst>
                                          <p:attrName>style.visibility</p:attrName>
                                        </p:attrNameLst>
                                      </p:cBhvr>
                                      <p:to>
                                        <p:strVal val="visible"/>
                                      </p:to>
                                    </p:set>
                                    <p:animEffect filter="fade" transition="in">
                                      <p:cBhvr>
                                        <p:cTn dur="1000"/>
                                        <p:tgtEl>
                                          <p:spTgt spid="5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Module 1.2</a:t>
            </a:r>
            <a:endParaRPr/>
          </a:p>
        </p:txBody>
      </p:sp>
      <p:sp>
        <p:nvSpPr>
          <p:cNvPr id="527" name="Google Shape;527;p10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a:t>Data Fundamentals</a:t>
            </a:r>
            <a:endParaRPr/>
          </a:p>
          <a:p>
            <a:pPr indent="-342900" lvl="0" marL="457200" rtl="0" algn="l">
              <a:lnSpc>
                <a:spcPct val="90000"/>
              </a:lnSpc>
              <a:spcBef>
                <a:spcPts val="1000"/>
              </a:spcBef>
              <a:spcAft>
                <a:spcPts val="0"/>
              </a:spcAft>
              <a:buClr>
                <a:schemeClr val="dk1"/>
              </a:buClr>
              <a:buSzPts val="1800"/>
              <a:buChar char="•"/>
            </a:pPr>
            <a:r>
              <a:rPr lang="en-US"/>
              <a:t>Collecting data</a:t>
            </a:r>
            <a:endParaRPr/>
          </a:p>
          <a:p>
            <a:pPr indent="-342900" lvl="0" marL="457200" rtl="0" algn="l">
              <a:lnSpc>
                <a:spcPct val="90000"/>
              </a:lnSpc>
              <a:spcBef>
                <a:spcPts val="1000"/>
              </a:spcBef>
              <a:spcAft>
                <a:spcPts val="0"/>
              </a:spcAft>
              <a:buClr>
                <a:schemeClr val="dk1"/>
              </a:buClr>
              <a:buSzPts val="1800"/>
              <a:buChar char="•"/>
            </a:pPr>
            <a:r>
              <a:rPr lang="en-US"/>
              <a:t>Preparing Data 	</a:t>
            </a:r>
            <a:br>
              <a:rPr lang="en-US"/>
            </a:br>
            <a:endParaRPr/>
          </a:p>
        </p:txBody>
      </p:sp>
      <p:sp>
        <p:nvSpPr>
          <p:cNvPr id="528" name="Google Shape;528;p10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29" name="Google Shape;529;p10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145aa5eecfc_0_32"/>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a:t>
            </a:r>
            <a:endParaRPr/>
          </a:p>
        </p:txBody>
      </p:sp>
      <p:graphicFrame>
        <p:nvGraphicFramePr>
          <p:cNvPr id="535" name="Google Shape;535;g145aa5eecfc_0_32"/>
          <p:cNvGraphicFramePr/>
          <p:nvPr/>
        </p:nvGraphicFramePr>
        <p:xfrm>
          <a:off x="838200" y="38641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36" name="Google Shape;536;g145aa5eecfc_0_3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37" name="Google Shape;537;g145aa5eecfc_0_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38" name="Google Shape;538;g145aa5eecfc_0_32"/>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9" name="Google Shape;539;g145aa5eecfc_0_32"/>
          <p:cNvSpPr txBox="1"/>
          <p:nvPr/>
        </p:nvSpPr>
        <p:spPr>
          <a:xfrm>
            <a:off x="551353" y="1052736"/>
            <a:ext cx="10405200" cy="557072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Data Fundamental:</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Collected  afresh </a:t>
            </a:r>
            <a:endParaRPr b="0"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Need to validate the process and collected information</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Secondary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Collected by some one </a:t>
            </a:r>
            <a:endParaRPr b="0" i="0" sz="2900" u="none" cap="none" strike="noStrike">
              <a:solidFill>
                <a:schemeClr val="dk1"/>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chemeClr val="dk1"/>
                </a:solidFill>
                <a:latin typeface="Calibri"/>
                <a:ea typeface="Calibri"/>
                <a:cs typeface="Calibri"/>
                <a:sym typeface="Calibri"/>
              </a:rPr>
              <a:t>Validity/ relevance may be checked </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153c3bd0df0_0_34"/>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Collecting data</a:t>
            </a:r>
            <a:endParaRPr/>
          </a:p>
        </p:txBody>
      </p:sp>
      <p:graphicFrame>
        <p:nvGraphicFramePr>
          <p:cNvPr id="545" name="Google Shape;545;g153c3bd0df0_0_34"/>
          <p:cNvGraphicFramePr/>
          <p:nvPr/>
        </p:nvGraphicFramePr>
        <p:xfrm>
          <a:off x="838200" y="38641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46" name="Google Shape;546;g153c3bd0df0_0_3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47" name="Google Shape;547;g153c3bd0df0_0_3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48" name="Google Shape;548;g153c3bd0df0_0_34"/>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49" name="Google Shape;549;g153c3bd0df0_0_34"/>
          <p:cNvSpPr txBox="1"/>
          <p:nvPr/>
        </p:nvSpPr>
        <p:spPr>
          <a:xfrm>
            <a:off x="590000" y="1149550"/>
            <a:ext cx="10405200" cy="512444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Collecting data:</a:t>
            </a:r>
            <a:endParaRPr b="1"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Survey</a:t>
            </a:r>
            <a:endParaRPr b="0"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Descriptive research</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Observation: systematic viewing</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Direct Communication </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Personal Interviews </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Secondary Data:</a:t>
            </a:r>
            <a:endParaRPr b="1" i="0" sz="2900" u="none" cap="none" strike="noStrike">
              <a:solidFill>
                <a:srgbClr val="000000"/>
              </a:solidFill>
              <a:latin typeface="Calibri"/>
              <a:ea typeface="Calibri"/>
              <a:cs typeface="Calibri"/>
              <a:sym typeface="Calibri"/>
            </a:endParaRPr>
          </a:p>
          <a:p>
            <a:pPr indent="-412750" lvl="0" marL="457200" marR="0" rtl="0" algn="l">
              <a:lnSpc>
                <a:spcPct val="100000"/>
              </a:lnSpc>
              <a:spcBef>
                <a:spcPts val="0"/>
              </a:spcBef>
              <a:spcAft>
                <a:spcPts val="0"/>
              </a:spcAft>
              <a:buClr>
                <a:schemeClr val="dk1"/>
              </a:buClr>
              <a:buSzPts val="2900"/>
              <a:buFont typeface="Calibri"/>
              <a:buChar char="●"/>
            </a:pPr>
            <a:r>
              <a:rPr b="0" i="0" lang="en-US" sz="2900" u="none" cap="none" strike="noStrike">
                <a:solidFill>
                  <a:srgbClr val="000000"/>
                </a:solidFill>
                <a:latin typeface="Calibri"/>
                <a:ea typeface="Calibri"/>
                <a:cs typeface="Calibri"/>
                <a:sym typeface="Calibri"/>
              </a:rPr>
              <a:t>Download from reliable source</a:t>
            </a:r>
            <a:endParaRPr b="0" i="0" sz="2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153c3bd0df0_0_25"/>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Collecting data</a:t>
            </a:r>
            <a:endParaRPr/>
          </a:p>
        </p:txBody>
      </p:sp>
      <p:graphicFrame>
        <p:nvGraphicFramePr>
          <p:cNvPr id="555" name="Google Shape;555;g153c3bd0df0_0_25"/>
          <p:cNvGraphicFramePr/>
          <p:nvPr/>
        </p:nvGraphicFramePr>
        <p:xfrm>
          <a:off x="838200" y="38641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56" name="Google Shape;556;g153c3bd0df0_0_2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57" name="Google Shape;557;g153c3bd0df0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58" name="Google Shape;558;g153c3bd0df0_0_25"/>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9" name="Google Shape;559;g153c3bd0df0_0_25"/>
          <p:cNvSpPr txBox="1"/>
          <p:nvPr/>
        </p:nvSpPr>
        <p:spPr>
          <a:xfrm>
            <a:off x="590000" y="1149550"/>
            <a:ext cx="10405200" cy="512444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Primary Data:</a:t>
            </a:r>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 </a:t>
            </a:r>
            <a:r>
              <a:rPr b="1" i="0" lang="en-US" sz="2900" u="none" cap="none" strike="noStrike">
                <a:solidFill>
                  <a:srgbClr val="000000"/>
                </a:solidFill>
                <a:highlight>
                  <a:schemeClr val="accent6"/>
                </a:highlight>
                <a:latin typeface="Calibri"/>
                <a:ea typeface="Calibri"/>
                <a:cs typeface="Calibri"/>
                <a:sym typeface="Calibri"/>
              </a:rPr>
              <a:t>Advantages </a:t>
            </a:r>
            <a:endParaRPr b="1" i="0" sz="2900" u="none" cap="none" strike="noStrike">
              <a:solidFill>
                <a:srgbClr val="000000"/>
              </a:solidFill>
              <a:highlight>
                <a:schemeClr val="accent6"/>
              </a:highlight>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Unbiased data</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Fresh Information </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Relevant information could be captured</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highlight>
                  <a:srgbClr val="FF0000"/>
                </a:highlight>
                <a:latin typeface="Calibri"/>
                <a:ea typeface="Calibri"/>
                <a:cs typeface="Calibri"/>
                <a:sym typeface="Calibri"/>
              </a:rPr>
              <a:t>Limitations:</a:t>
            </a:r>
            <a:endParaRPr b="1" i="0" sz="2900" u="none" cap="none" strike="noStrike">
              <a:solidFill>
                <a:srgbClr val="000000"/>
              </a:solidFill>
              <a:highlight>
                <a:srgbClr val="FF0000"/>
              </a:highlight>
              <a:latin typeface="Calibri"/>
              <a:ea typeface="Calibri"/>
              <a:cs typeface="Calibri"/>
              <a:sym typeface="Calibri"/>
            </a:endParaRPr>
          </a:p>
          <a:p>
            <a:pPr indent="-412750" lvl="0" marL="1371600" marR="0" rtl="0" algn="l">
              <a:lnSpc>
                <a:spcPct val="100000"/>
              </a:lnSpc>
              <a:spcBef>
                <a:spcPts val="0"/>
              </a:spcBef>
              <a:spcAft>
                <a:spcPts val="0"/>
              </a:spcAft>
              <a:buClr>
                <a:schemeClr val="dk1"/>
              </a:buClr>
              <a:buSzPts val="2900"/>
              <a:buFont typeface="Calibri"/>
              <a:buChar char="●"/>
            </a:pPr>
            <a:r>
              <a:rPr b="0" i="0" lang="en-US" sz="2900" u="none" cap="none" strike="noStrike">
                <a:solidFill>
                  <a:srgbClr val="000000"/>
                </a:solidFill>
                <a:latin typeface="Calibri"/>
                <a:ea typeface="Calibri"/>
                <a:cs typeface="Calibri"/>
                <a:sym typeface="Calibri"/>
              </a:rPr>
              <a:t>Time consuming</a:t>
            </a:r>
            <a:endParaRPr b="0" i="0" sz="2900" u="none" cap="none" strike="noStrike">
              <a:solidFill>
                <a:srgbClr val="000000"/>
              </a:solidFill>
              <a:latin typeface="Calibri"/>
              <a:ea typeface="Calibri"/>
              <a:cs typeface="Calibri"/>
              <a:sym typeface="Calibri"/>
            </a:endParaRPr>
          </a:p>
          <a:p>
            <a:pPr indent="-412750" lvl="0"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Costly</a:t>
            </a:r>
            <a:endParaRPr b="0" i="0" sz="2900" u="none" cap="none" strike="noStrike">
              <a:solidFill>
                <a:srgbClr val="000000"/>
              </a:solidFill>
              <a:latin typeface="Calibri"/>
              <a:ea typeface="Calibri"/>
              <a:cs typeface="Calibri"/>
              <a:sym typeface="Calibri"/>
            </a:endParaRPr>
          </a:p>
          <a:p>
            <a:pPr indent="-412750" lvl="0"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Limited scope</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9">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153c3bd0df0_0_43"/>
          <p:cNvSpPr txBox="1"/>
          <p:nvPr>
            <p:ph type="title"/>
          </p:nvPr>
        </p:nvSpPr>
        <p:spPr>
          <a:xfrm>
            <a:off x="177300" y="208900"/>
            <a:ext cx="11837400" cy="657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ts val="990"/>
              <a:buFont typeface="Arial"/>
              <a:buNone/>
            </a:pPr>
            <a:r>
              <a:rPr b="1" lang="en-US">
                <a:latin typeface="Times New Roman"/>
                <a:ea typeface="Times New Roman"/>
                <a:cs typeface="Times New Roman"/>
                <a:sym typeface="Times New Roman"/>
              </a:rPr>
              <a:t>Data Fundamentals, Collecting data, Preparing Data</a:t>
            </a:r>
            <a:endParaRPr/>
          </a:p>
        </p:txBody>
      </p:sp>
      <p:graphicFrame>
        <p:nvGraphicFramePr>
          <p:cNvPr id="565" name="Google Shape;565;g153c3bd0df0_0_43"/>
          <p:cNvGraphicFramePr/>
          <p:nvPr/>
        </p:nvGraphicFramePr>
        <p:xfrm>
          <a:off x="838200" y="3864134"/>
          <a:ext cx="3000000" cy="3000000"/>
        </p:xfrm>
        <a:graphic>
          <a:graphicData uri="http://schemas.openxmlformats.org/drawingml/2006/table">
            <a:tbl>
              <a:tblPr>
                <a:noFill/>
                <a:tableStyleId>{3C6EE7B5-BC37-42DC-A412-73184333C272}</a:tableStyleId>
              </a:tblPr>
              <a:tblGrid>
                <a:gridCol w="10515600"/>
              </a:tblGrid>
              <a:tr h="2286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 </a:t>
                      </a:r>
                      <a:endParaRPr sz="1800" u="none" cap="none" strike="noStrike">
                        <a:latin typeface="Times New Roman"/>
                        <a:ea typeface="Times New Roman"/>
                        <a:cs typeface="Times New Roman"/>
                        <a:sym typeface="Times New Roman"/>
                      </a:endParaRPr>
                    </a:p>
                  </a:txBody>
                  <a:tcPr marT="0" marB="0" marR="47625" marL="476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566" name="Google Shape;566;g153c3bd0df0_0_4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67" name="Google Shape;567;g153c3bd0df0_0_4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
        <p:nvSpPr>
          <p:cNvPr id="568" name="Google Shape;568;g153c3bd0df0_0_43"/>
          <p:cNvSpPr txBox="1"/>
          <p:nvPr/>
        </p:nvSpPr>
        <p:spPr>
          <a:xfrm>
            <a:off x="670025" y="1182425"/>
            <a:ext cx="12468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9" name="Google Shape;569;g153c3bd0df0_0_43"/>
          <p:cNvSpPr txBox="1"/>
          <p:nvPr/>
        </p:nvSpPr>
        <p:spPr>
          <a:xfrm>
            <a:off x="590000" y="1149550"/>
            <a:ext cx="10405200" cy="4817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000000"/>
                </a:solidFill>
                <a:latin typeface="Calibri"/>
                <a:ea typeface="Calibri"/>
                <a:cs typeface="Calibri"/>
                <a:sym typeface="Calibri"/>
              </a:rPr>
              <a:t>Collecting Primary data:</a:t>
            </a:r>
            <a:endParaRPr b="1"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Types of observation:</a:t>
            </a:r>
            <a:endParaRPr b="0" i="0" sz="2900" u="none" cap="none" strike="noStrike">
              <a:solidFill>
                <a:srgbClr val="000000"/>
              </a:solidFill>
              <a:latin typeface="Calibri"/>
              <a:ea typeface="Calibri"/>
              <a:cs typeface="Calibri"/>
              <a:sym typeface="Calibri"/>
            </a:endParaRPr>
          </a:p>
          <a:p>
            <a:pPr indent="-412750" lvl="2" marL="18288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Structured:</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Standard conditions </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Well prepared</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Forms/ formats</a:t>
            </a:r>
            <a:endParaRPr b="0" i="0" sz="2900" u="none" cap="none" strike="noStrike">
              <a:solidFill>
                <a:srgbClr val="000000"/>
              </a:solidFill>
              <a:latin typeface="Calibri"/>
              <a:ea typeface="Calibri"/>
              <a:cs typeface="Calibri"/>
              <a:sym typeface="Calibri"/>
            </a:endParaRPr>
          </a:p>
          <a:p>
            <a:pPr indent="0" lvl="0" marL="1828800" marR="0" rtl="0" algn="l">
              <a:lnSpc>
                <a:spcPct val="100000"/>
              </a:lnSpc>
              <a:spcBef>
                <a:spcPts val="0"/>
              </a:spcBef>
              <a:spcAft>
                <a:spcPts val="0"/>
              </a:spcAft>
              <a:buClr>
                <a:srgbClr val="000000"/>
              </a:buClr>
              <a:buSzPts val="2900"/>
              <a:buFont typeface="Arial"/>
              <a:buNone/>
            </a:pPr>
            <a:r>
              <a:rPr b="0" i="0" lang="en-US" sz="2900" u="none" cap="none" strike="noStrike">
                <a:solidFill>
                  <a:srgbClr val="000000"/>
                </a:solidFill>
                <a:latin typeface="Calibri"/>
                <a:ea typeface="Calibri"/>
                <a:cs typeface="Calibri"/>
                <a:sym typeface="Calibri"/>
              </a:rPr>
              <a:t>Checklist</a:t>
            </a:r>
            <a:endParaRPr b="0" i="0" sz="2900" u="none" cap="none" strike="noStrike">
              <a:solidFill>
                <a:srgbClr val="000000"/>
              </a:solidFill>
              <a:latin typeface="Calibri"/>
              <a:ea typeface="Calibri"/>
              <a:cs typeface="Calibri"/>
              <a:sym typeface="Calibri"/>
            </a:endParaRPr>
          </a:p>
          <a:p>
            <a:pPr indent="-412750" lvl="2" marL="18288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Unstructured:</a:t>
            </a:r>
            <a:endParaRPr b="0" i="0" sz="2900" u="none" cap="none" strike="noStrike">
              <a:solidFill>
                <a:srgbClr val="000000"/>
              </a:solidFill>
              <a:latin typeface="Calibri"/>
              <a:ea typeface="Calibri"/>
              <a:cs typeface="Calibri"/>
              <a:sym typeface="Calibri"/>
            </a:endParaRPr>
          </a:p>
          <a:p>
            <a:pPr indent="-412750" lvl="1" marL="1371600" marR="0" rtl="0" algn="l">
              <a:lnSpc>
                <a:spcPct val="100000"/>
              </a:lnSpc>
              <a:spcBef>
                <a:spcPts val="0"/>
              </a:spcBef>
              <a:spcAft>
                <a:spcPts val="0"/>
              </a:spcAft>
              <a:buClr>
                <a:srgbClr val="000000"/>
              </a:buClr>
              <a:buSzPts val="2900"/>
              <a:buFont typeface="Calibri"/>
              <a:buChar char="○"/>
            </a:pPr>
            <a:r>
              <a:rPr b="0" i="0" lang="en-US" sz="2900" u="none" cap="none" strike="noStrike">
                <a:solidFill>
                  <a:srgbClr val="000000"/>
                </a:solidFill>
                <a:latin typeface="Calibri"/>
                <a:ea typeface="Calibri"/>
                <a:cs typeface="Calibri"/>
                <a:sym typeface="Calibri"/>
              </a:rPr>
              <a:t>Without much preparation </a:t>
            </a:r>
            <a:endParaRPr b="0" i="0" sz="2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0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Module 1.3</a:t>
            </a:r>
            <a:endParaRPr/>
          </a:p>
        </p:txBody>
      </p:sp>
      <p:sp>
        <p:nvSpPr>
          <p:cNvPr id="575" name="Google Shape;575;p10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a:t>Gestalt Principles of Visual Perception </a:t>
            </a:r>
            <a:endParaRPr b="1"/>
          </a:p>
          <a:p>
            <a:pPr indent="-228600" lvl="0" marL="457200" rtl="0" algn="l">
              <a:lnSpc>
                <a:spcPct val="90000"/>
              </a:lnSpc>
              <a:spcBef>
                <a:spcPts val="1000"/>
              </a:spcBef>
              <a:spcAft>
                <a:spcPts val="0"/>
              </a:spcAft>
              <a:buClr>
                <a:schemeClr val="dk1"/>
              </a:buClr>
              <a:buSzPts val="1800"/>
              <a:buNone/>
            </a:pPr>
            <a:r>
              <a:t/>
            </a:r>
            <a:endParaRPr/>
          </a:p>
        </p:txBody>
      </p:sp>
      <p:sp>
        <p:nvSpPr>
          <p:cNvPr id="576" name="Google Shape;576;p10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77" name="Google Shape;577;p10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106"/>
          <p:cNvSpPr txBox="1"/>
          <p:nvPr>
            <p:ph type="title"/>
          </p:nvPr>
        </p:nvSpPr>
        <p:spPr>
          <a:xfrm>
            <a:off x="2235200" y="457201"/>
            <a:ext cx="9347200" cy="6397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2600"/>
              <a:t>Gestalt Principles of Visual Perception</a:t>
            </a:r>
            <a:endParaRPr/>
          </a:p>
        </p:txBody>
      </p:sp>
      <p:sp>
        <p:nvSpPr>
          <p:cNvPr id="583" name="Google Shape;583;p106"/>
          <p:cNvSpPr txBox="1"/>
          <p:nvPr>
            <p:ph idx="4294967295" type="body"/>
          </p:nvPr>
        </p:nvSpPr>
        <p:spPr>
          <a:xfrm>
            <a:off x="911424" y="1828800"/>
            <a:ext cx="10975776" cy="4114800"/>
          </a:xfrm>
          <a:prstGeom prst="rect">
            <a:avLst/>
          </a:prstGeom>
          <a:noFill/>
          <a:ln>
            <a:noFill/>
          </a:ln>
        </p:spPr>
        <p:txBody>
          <a:bodyPr anchorCtr="0" anchor="t" bIns="45700" lIns="91425" spcFirstLastPara="1" rIns="91425" wrap="square" tIns="45700">
            <a:normAutofit/>
          </a:bodyPr>
          <a:lstStyle/>
          <a:p>
            <a:pPr indent="-406400" lvl="0" marL="457200" rtl="0" algn="l">
              <a:lnSpc>
                <a:spcPct val="90000"/>
              </a:lnSpc>
              <a:spcBef>
                <a:spcPts val="1000"/>
              </a:spcBef>
              <a:spcAft>
                <a:spcPts val="0"/>
              </a:spcAft>
              <a:buSzPts val="2400"/>
              <a:buFont typeface="Noto Sans Symbols"/>
              <a:buChar char="❖"/>
            </a:pPr>
            <a:r>
              <a:rPr lang="en-US" sz="2400"/>
              <a:t>Human brain perceive objects as well-organized patterns rather than separate components.</a:t>
            </a:r>
            <a:endParaRPr/>
          </a:p>
          <a:p>
            <a:pPr indent="-406400" lvl="0" marL="457200" rtl="0" algn="l">
              <a:lnSpc>
                <a:spcPct val="90000"/>
              </a:lnSpc>
              <a:spcBef>
                <a:spcPts val="1000"/>
              </a:spcBef>
              <a:spcAft>
                <a:spcPts val="0"/>
              </a:spcAft>
              <a:buSzPts val="2400"/>
              <a:buFont typeface="Noto Sans Symbols"/>
              <a:buNone/>
            </a:pPr>
            <a:r>
              <a:t/>
            </a:r>
            <a:endParaRPr sz="2400"/>
          </a:p>
          <a:p>
            <a:pPr indent="-406400" lvl="0" marL="457200" rtl="0" algn="l">
              <a:lnSpc>
                <a:spcPct val="90000"/>
              </a:lnSpc>
              <a:spcBef>
                <a:spcPts val="1000"/>
              </a:spcBef>
              <a:spcAft>
                <a:spcPts val="0"/>
              </a:spcAft>
              <a:buSzPts val="2400"/>
              <a:buFont typeface="Noto Sans Symbols"/>
              <a:buChar char="❖"/>
            </a:pPr>
            <a:r>
              <a:rPr lang="en-US" sz="2400"/>
              <a:t>“The whole is greater than the sum of it’s parts.”</a:t>
            </a:r>
            <a:endParaRPr/>
          </a:p>
          <a:p>
            <a:pPr indent="-406400" lvl="0" marL="457200" rtl="0" algn="l">
              <a:lnSpc>
                <a:spcPct val="90000"/>
              </a:lnSpc>
              <a:spcBef>
                <a:spcPts val="1000"/>
              </a:spcBef>
              <a:spcAft>
                <a:spcPts val="0"/>
              </a:spcAft>
              <a:buSzPts val="2400"/>
              <a:buFont typeface="Noto Sans Symbols"/>
              <a:buNone/>
            </a:pPr>
            <a:r>
              <a:t/>
            </a:r>
            <a:endParaRPr sz="2400"/>
          </a:p>
          <a:p>
            <a:pPr indent="-406400" lvl="0" marL="457200" rtl="0" algn="l">
              <a:lnSpc>
                <a:spcPct val="90000"/>
              </a:lnSpc>
              <a:spcBef>
                <a:spcPts val="1000"/>
              </a:spcBef>
              <a:spcAft>
                <a:spcPts val="0"/>
              </a:spcAft>
              <a:buSzPts val="2400"/>
              <a:buFont typeface="Noto Sans Symbols"/>
              <a:buChar char="❖"/>
            </a:pPr>
            <a:r>
              <a:rPr lang="en-US" sz="2400"/>
              <a:t>Based on the concept of “grouping”.</a:t>
            </a:r>
            <a:endParaRPr/>
          </a:p>
        </p:txBody>
      </p:sp>
      <p:sp>
        <p:nvSpPr>
          <p:cNvPr id="584" name="Google Shape;584;p10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85" name="Google Shape;585;p10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pic>
        <p:nvPicPr>
          <p:cNvPr id="590" name="Google Shape;590;p107"/>
          <p:cNvPicPr preferRelativeResize="0"/>
          <p:nvPr/>
        </p:nvPicPr>
        <p:blipFill rotWithShape="1">
          <a:blip r:embed="rId3">
            <a:alphaModFix/>
          </a:blip>
          <a:srcRect b="0" l="0" r="0" t="0"/>
          <a:stretch/>
        </p:blipFill>
        <p:spPr>
          <a:xfrm>
            <a:off x="1559496" y="705444"/>
            <a:ext cx="8671644" cy="5510017"/>
          </a:xfrm>
          <a:prstGeom prst="rect">
            <a:avLst/>
          </a:prstGeom>
          <a:noFill/>
          <a:ln>
            <a:noFill/>
          </a:ln>
        </p:spPr>
      </p:pic>
      <p:sp>
        <p:nvSpPr>
          <p:cNvPr id="591" name="Google Shape;591;p107"/>
          <p:cNvSpPr txBox="1"/>
          <p:nvPr>
            <p:ph type="title"/>
          </p:nvPr>
        </p:nvSpPr>
        <p:spPr>
          <a:xfrm>
            <a:off x="1415480" y="65681"/>
            <a:ext cx="9347200" cy="6397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600"/>
              <a:t>Gestalt Principles of Visual Perception</a:t>
            </a:r>
            <a:endParaRPr/>
          </a:p>
        </p:txBody>
      </p:sp>
      <p:sp>
        <p:nvSpPr>
          <p:cNvPr id="592" name="Google Shape;592;p10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593" name="Google Shape;593;p10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8"/>
          <p:cNvSpPr txBox="1"/>
          <p:nvPr>
            <p:ph type="title"/>
          </p:nvPr>
        </p:nvSpPr>
        <p:spPr>
          <a:xfrm>
            <a:off x="2235200" y="457201"/>
            <a:ext cx="9347200" cy="6397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600"/>
              <a:t>Gestalt Principles of Visual Perception</a:t>
            </a:r>
            <a:endParaRPr/>
          </a:p>
        </p:txBody>
      </p:sp>
      <p:sp>
        <p:nvSpPr>
          <p:cNvPr id="599" name="Google Shape;599;p108"/>
          <p:cNvSpPr txBox="1"/>
          <p:nvPr>
            <p:ph idx="4294967295" type="body"/>
          </p:nvPr>
        </p:nvSpPr>
        <p:spPr>
          <a:xfrm>
            <a:off x="914400" y="6248400"/>
            <a:ext cx="10566400" cy="609600"/>
          </a:xfrm>
          <a:prstGeom prst="rect">
            <a:avLst/>
          </a:prstGeom>
          <a:noFill/>
          <a:ln>
            <a:noFill/>
          </a:ln>
        </p:spPr>
        <p:txBody>
          <a:bodyPr anchorCtr="0" anchor="t" bIns="45700" lIns="91425" spcFirstLastPara="1" rIns="91425" wrap="square" tIns="45700">
            <a:normAutofit/>
          </a:bodyPr>
          <a:lstStyle/>
          <a:p>
            <a:pPr indent="-406400" lvl="0" marL="457200" rtl="0" algn="ctr">
              <a:lnSpc>
                <a:spcPct val="90000"/>
              </a:lnSpc>
              <a:spcBef>
                <a:spcPts val="1000"/>
              </a:spcBef>
              <a:spcAft>
                <a:spcPts val="0"/>
              </a:spcAft>
              <a:buSzPts val="2800"/>
              <a:buFont typeface="Noto Sans Symbols"/>
              <a:buNone/>
            </a:pPr>
            <a:r>
              <a:rPr b="1" lang="en-US" sz="2400"/>
              <a:t>We impose visual organization on stimuli</a:t>
            </a:r>
            <a:endParaRPr/>
          </a:p>
        </p:txBody>
      </p:sp>
      <p:pic>
        <p:nvPicPr>
          <p:cNvPr id="600" name="Google Shape;600;p108"/>
          <p:cNvPicPr preferRelativeResize="0"/>
          <p:nvPr/>
        </p:nvPicPr>
        <p:blipFill rotWithShape="1">
          <a:blip r:embed="rId3">
            <a:alphaModFix/>
          </a:blip>
          <a:srcRect b="0" l="0" r="0" t="0"/>
          <a:stretch/>
        </p:blipFill>
        <p:spPr>
          <a:xfrm>
            <a:off x="1199456" y="1344894"/>
            <a:ext cx="4896544" cy="4896544"/>
          </a:xfrm>
          <a:prstGeom prst="rect">
            <a:avLst/>
          </a:prstGeom>
          <a:noFill/>
          <a:ln>
            <a:noFill/>
          </a:ln>
        </p:spPr>
      </p:pic>
      <p:pic>
        <p:nvPicPr>
          <p:cNvPr id="601" name="Google Shape;601;p108"/>
          <p:cNvPicPr preferRelativeResize="0"/>
          <p:nvPr/>
        </p:nvPicPr>
        <p:blipFill rotWithShape="1">
          <a:blip r:embed="rId4">
            <a:alphaModFix/>
          </a:blip>
          <a:srcRect b="0" l="0" r="0" t="0"/>
          <a:stretch/>
        </p:blipFill>
        <p:spPr>
          <a:xfrm>
            <a:off x="6528048" y="1373153"/>
            <a:ext cx="4626695" cy="4534774"/>
          </a:xfrm>
          <a:prstGeom prst="rect">
            <a:avLst/>
          </a:prstGeom>
          <a:noFill/>
          <a:ln>
            <a:noFill/>
          </a:ln>
        </p:spPr>
      </p:pic>
      <p:sp>
        <p:nvSpPr>
          <p:cNvPr id="602" name="Google Shape;602;p10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03" name="Google Shape;603;p10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pic>
        <p:nvPicPr>
          <p:cNvPr descr="The image “http://www.iknow.net/images/kanisza.gif” cannot be displayed, because it contains errors." id="608" name="Google Shape;608;p109"/>
          <p:cNvPicPr preferRelativeResize="0"/>
          <p:nvPr/>
        </p:nvPicPr>
        <p:blipFill rotWithShape="1">
          <a:blip r:embed="rId3">
            <a:alphaModFix/>
          </a:blip>
          <a:srcRect b="0" l="0" r="0" t="0"/>
          <a:stretch/>
        </p:blipFill>
        <p:spPr>
          <a:xfrm>
            <a:off x="1055440" y="1967628"/>
            <a:ext cx="6480720" cy="3032774"/>
          </a:xfrm>
          <a:prstGeom prst="rect">
            <a:avLst/>
          </a:prstGeom>
          <a:noFill/>
          <a:ln>
            <a:noFill/>
          </a:ln>
        </p:spPr>
      </p:pic>
      <p:sp>
        <p:nvSpPr>
          <p:cNvPr id="609" name="Google Shape;609;p109"/>
          <p:cNvSpPr txBox="1"/>
          <p:nvPr>
            <p:ph type="title"/>
          </p:nvPr>
        </p:nvSpPr>
        <p:spPr>
          <a:xfrm>
            <a:off x="2235200" y="457201"/>
            <a:ext cx="9347200" cy="6397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600"/>
              <a:t>Gestalt Principles of Visual Perception</a:t>
            </a:r>
            <a:endParaRPr/>
          </a:p>
        </p:txBody>
      </p:sp>
      <p:sp>
        <p:nvSpPr>
          <p:cNvPr id="610" name="Google Shape;610;p109"/>
          <p:cNvSpPr txBox="1"/>
          <p:nvPr>
            <p:ph idx="4294967295" type="body"/>
          </p:nvPr>
        </p:nvSpPr>
        <p:spPr>
          <a:xfrm>
            <a:off x="191344" y="1412776"/>
            <a:ext cx="2946400" cy="1143000"/>
          </a:xfrm>
          <a:prstGeom prst="rect">
            <a:avLst/>
          </a:prstGeom>
          <a:noFill/>
          <a:ln>
            <a:noFill/>
          </a:ln>
        </p:spPr>
        <p:txBody>
          <a:bodyPr anchorCtr="0" anchor="t" bIns="45700" lIns="91425" spcFirstLastPara="1" rIns="91425" wrap="square" tIns="45700">
            <a:normAutofit fontScale="55000" lnSpcReduction="20000"/>
          </a:bodyPr>
          <a:lstStyle/>
          <a:p>
            <a:pPr indent="50800" lvl="0" marL="0" rtl="0" algn="l">
              <a:lnSpc>
                <a:spcPct val="90000"/>
              </a:lnSpc>
              <a:spcBef>
                <a:spcPts val="1000"/>
              </a:spcBef>
              <a:spcAft>
                <a:spcPts val="0"/>
              </a:spcAft>
              <a:buSzPct val="181818"/>
              <a:buFont typeface="Noto Sans Symbols"/>
              <a:buNone/>
            </a:pPr>
            <a:r>
              <a:rPr lang="en-US"/>
              <a:t>Illusory Contours:</a:t>
            </a:r>
            <a:endParaRPr/>
          </a:p>
          <a:p>
            <a:pPr indent="50800" lvl="0" marL="0" rtl="0" algn="l">
              <a:lnSpc>
                <a:spcPct val="90000"/>
              </a:lnSpc>
              <a:spcBef>
                <a:spcPts val="1000"/>
              </a:spcBef>
              <a:spcAft>
                <a:spcPts val="0"/>
              </a:spcAft>
              <a:buSzPct val="212121"/>
              <a:buFont typeface="Noto Sans Symbols"/>
              <a:buNone/>
            </a:pPr>
            <a:r>
              <a:rPr lang="en-US" sz="2400"/>
              <a:t>Visual connection or continuity between sets of elements which do not actually touch  each other in a composition </a:t>
            </a:r>
            <a:endParaRPr/>
          </a:p>
        </p:txBody>
      </p:sp>
      <p:sp>
        <p:nvSpPr>
          <p:cNvPr id="611" name="Google Shape;611;p109"/>
          <p:cNvSpPr txBox="1"/>
          <p:nvPr/>
        </p:nvSpPr>
        <p:spPr>
          <a:xfrm>
            <a:off x="2641600" y="5715001"/>
            <a:ext cx="934720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Kanisza triangle as figure-ground illusory contours </a:t>
            </a:r>
            <a:endParaRPr/>
          </a:p>
        </p:txBody>
      </p:sp>
      <p:grpSp>
        <p:nvGrpSpPr>
          <p:cNvPr id="612" name="Google Shape;612;p109"/>
          <p:cNvGrpSpPr/>
          <p:nvPr/>
        </p:nvGrpSpPr>
        <p:grpSpPr>
          <a:xfrm>
            <a:off x="8616280" y="2132856"/>
            <a:ext cx="3240360" cy="2232248"/>
            <a:chOff x="8616280" y="2132856"/>
            <a:chExt cx="3240360" cy="2232248"/>
          </a:xfrm>
        </p:grpSpPr>
        <p:sp>
          <p:nvSpPr>
            <p:cNvPr id="613" name="Google Shape;613;p109"/>
            <p:cNvSpPr/>
            <p:nvPr/>
          </p:nvSpPr>
          <p:spPr>
            <a:xfrm>
              <a:off x="9768408" y="2132856"/>
              <a:ext cx="864096" cy="864096"/>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4" name="Google Shape;614;p109"/>
            <p:cNvSpPr/>
            <p:nvPr/>
          </p:nvSpPr>
          <p:spPr>
            <a:xfrm>
              <a:off x="8616280" y="3501008"/>
              <a:ext cx="864096" cy="864096"/>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5" name="Google Shape;615;p109"/>
            <p:cNvSpPr/>
            <p:nvPr/>
          </p:nvSpPr>
          <p:spPr>
            <a:xfrm>
              <a:off x="10992544" y="3501008"/>
              <a:ext cx="864096" cy="864096"/>
            </a:xfrm>
            <a:prstGeom prst="ellipse">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616" name="Google Shape;616;p109"/>
          <p:cNvSpPr/>
          <p:nvPr/>
        </p:nvSpPr>
        <p:spPr>
          <a:xfrm rot="10800000">
            <a:off x="9101630" y="3068961"/>
            <a:ext cx="2214246" cy="1369642"/>
          </a:xfrm>
          <a:prstGeom prst="triangle">
            <a:avLst>
              <a:gd fmla="val 50000" name="adj"/>
            </a:avLst>
          </a:prstGeom>
          <a:no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7" name="Google Shape;617;p109"/>
          <p:cNvSpPr/>
          <p:nvPr/>
        </p:nvSpPr>
        <p:spPr>
          <a:xfrm>
            <a:off x="8922314" y="2558154"/>
            <a:ext cx="2556284" cy="1368152"/>
          </a:xfrm>
          <a:prstGeom prst="triangle">
            <a:avLst>
              <a:gd fmla="val 50000" name="adj"/>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18" name="Google Shape;618;p10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19" name="Google Shape;619;p10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110"/>
          <p:cNvSpPr txBox="1"/>
          <p:nvPr>
            <p:ph type="title"/>
          </p:nvPr>
        </p:nvSpPr>
        <p:spPr>
          <a:xfrm>
            <a:off x="1847528" y="0"/>
            <a:ext cx="965200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600"/>
              <a:t>Gestalt Principles of Visual Perception</a:t>
            </a:r>
            <a:endParaRPr/>
          </a:p>
        </p:txBody>
      </p:sp>
      <p:sp>
        <p:nvSpPr>
          <p:cNvPr id="625" name="Google Shape;625;p110"/>
          <p:cNvSpPr txBox="1"/>
          <p:nvPr>
            <p:ph idx="4294967295" type="body"/>
          </p:nvPr>
        </p:nvSpPr>
        <p:spPr>
          <a:xfrm>
            <a:off x="1559496" y="1196752"/>
            <a:ext cx="10369152" cy="3124200"/>
          </a:xfrm>
          <a:prstGeom prst="rect">
            <a:avLst/>
          </a:prstGeom>
          <a:noFill/>
          <a:ln>
            <a:noFill/>
          </a:ln>
        </p:spPr>
        <p:txBody>
          <a:bodyPr anchorCtr="0" anchor="t" bIns="45700" lIns="91425" spcFirstLastPara="1" rIns="91425" wrap="square" tIns="45700">
            <a:normAutofit lnSpcReduction="10000"/>
          </a:bodyPr>
          <a:lstStyle/>
          <a:p>
            <a:pPr indent="-406400" lvl="0" marL="457200" rtl="0" algn="l">
              <a:lnSpc>
                <a:spcPct val="90000"/>
              </a:lnSpc>
              <a:spcBef>
                <a:spcPts val="1000"/>
              </a:spcBef>
              <a:spcAft>
                <a:spcPts val="0"/>
              </a:spcAft>
              <a:buSzPts val="2800"/>
              <a:buFont typeface="Noto Sans Symbols"/>
              <a:buNone/>
            </a:pPr>
            <a:r>
              <a:rPr b="1" lang="en-US" sz="3200"/>
              <a:t>Three Main Principles:</a:t>
            </a:r>
            <a:endParaRPr/>
          </a:p>
          <a:p>
            <a:pPr indent="-406400" lvl="0" marL="457200" rtl="0" algn="l">
              <a:lnSpc>
                <a:spcPct val="150000"/>
              </a:lnSpc>
              <a:spcBef>
                <a:spcPts val="1000"/>
              </a:spcBef>
              <a:spcAft>
                <a:spcPts val="0"/>
              </a:spcAft>
              <a:buSzPts val="3200"/>
              <a:buFont typeface="Noto Sans Symbols"/>
              <a:buChar char="❖"/>
            </a:pPr>
            <a:r>
              <a:rPr lang="en-US" sz="3200"/>
              <a:t>Grouping (proximity, similarity, continuity, closure)</a:t>
            </a:r>
            <a:endParaRPr/>
          </a:p>
          <a:p>
            <a:pPr indent="-406400" lvl="0" marL="457200" rtl="0" algn="l">
              <a:lnSpc>
                <a:spcPct val="150000"/>
              </a:lnSpc>
              <a:spcBef>
                <a:spcPts val="1000"/>
              </a:spcBef>
              <a:spcAft>
                <a:spcPts val="0"/>
              </a:spcAft>
              <a:buSzPts val="3200"/>
              <a:buFont typeface="Noto Sans Symbols"/>
              <a:buChar char="❖"/>
            </a:pPr>
            <a:r>
              <a:rPr lang="en-US" sz="3200"/>
              <a:t>Goodness of figures</a:t>
            </a:r>
            <a:endParaRPr/>
          </a:p>
          <a:p>
            <a:pPr indent="-406400" lvl="0" marL="457200" rtl="0" algn="l">
              <a:lnSpc>
                <a:spcPct val="150000"/>
              </a:lnSpc>
              <a:spcBef>
                <a:spcPts val="1000"/>
              </a:spcBef>
              <a:spcAft>
                <a:spcPts val="0"/>
              </a:spcAft>
              <a:buSzPts val="3200"/>
              <a:buFont typeface="Noto Sans Symbols"/>
              <a:buChar char="❖"/>
            </a:pPr>
            <a:r>
              <a:rPr lang="en-US" sz="3200"/>
              <a:t>Figure/ground relationships</a:t>
            </a:r>
            <a:endParaRPr/>
          </a:p>
        </p:txBody>
      </p:sp>
      <p:sp>
        <p:nvSpPr>
          <p:cNvPr id="626" name="Google Shape;626;p1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27" name="Google Shape;627;p1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111"/>
          <p:cNvSpPr txBox="1"/>
          <p:nvPr>
            <p:ph type="title"/>
          </p:nvPr>
        </p:nvSpPr>
        <p:spPr>
          <a:xfrm>
            <a:off x="1415480" y="116632"/>
            <a:ext cx="9347200" cy="685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200"/>
              </a:spcBef>
              <a:spcAft>
                <a:spcPts val="0"/>
              </a:spcAft>
              <a:buSzPts val="1800"/>
              <a:buNone/>
            </a:pPr>
            <a:r>
              <a:rPr b="1" lang="en-US" sz="2400">
                <a:latin typeface="Arial"/>
                <a:ea typeface="Arial"/>
                <a:cs typeface="Arial"/>
                <a:sym typeface="Arial"/>
              </a:rPr>
              <a:t>Grouping: Law of Proximity</a:t>
            </a:r>
            <a:endParaRPr b="1" sz="2400">
              <a:latin typeface="Arial"/>
              <a:ea typeface="Arial"/>
              <a:cs typeface="Arial"/>
              <a:sym typeface="Arial"/>
            </a:endParaRPr>
          </a:p>
        </p:txBody>
      </p:sp>
      <p:sp>
        <p:nvSpPr>
          <p:cNvPr id="633" name="Google Shape;633;p111"/>
          <p:cNvSpPr txBox="1"/>
          <p:nvPr/>
        </p:nvSpPr>
        <p:spPr>
          <a:xfrm>
            <a:off x="479376" y="1556793"/>
            <a:ext cx="633670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Objects close to each other are perceived as a group</a:t>
            </a:r>
            <a:endParaRPr b="0" i="0" sz="2800" u="none" cap="none" strike="noStrike">
              <a:solidFill>
                <a:srgbClr val="000000"/>
              </a:solidFill>
              <a:latin typeface="Arial"/>
              <a:ea typeface="Arial"/>
              <a:cs typeface="Arial"/>
              <a:sym typeface="Arial"/>
            </a:endParaRPr>
          </a:p>
        </p:txBody>
      </p:sp>
      <p:sp>
        <p:nvSpPr>
          <p:cNvPr id="634" name="Google Shape;634;p1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35" name="Google Shape;635;p1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36" name="Google Shape;636;p111"/>
          <p:cNvPicPr preferRelativeResize="0"/>
          <p:nvPr/>
        </p:nvPicPr>
        <p:blipFill rotWithShape="1">
          <a:blip r:embed="rId3">
            <a:alphaModFix/>
          </a:blip>
          <a:srcRect b="0" l="0" r="0" t="0"/>
          <a:stretch/>
        </p:blipFill>
        <p:spPr>
          <a:xfrm>
            <a:off x="4151784" y="2204864"/>
            <a:ext cx="7344815" cy="382591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pic>
        <p:nvPicPr>
          <p:cNvPr id="641" name="Google Shape;641;p112"/>
          <p:cNvPicPr preferRelativeResize="0"/>
          <p:nvPr/>
        </p:nvPicPr>
        <p:blipFill rotWithShape="1">
          <a:blip r:embed="rId3">
            <a:alphaModFix/>
          </a:blip>
          <a:srcRect b="0" l="0" r="0" t="0"/>
          <a:stretch/>
        </p:blipFill>
        <p:spPr>
          <a:xfrm>
            <a:off x="2855640" y="620688"/>
            <a:ext cx="4536504" cy="5470490"/>
          </a:xfrm>
          <a:prstGeom prst="rect">
            <a:avLst/>
          </a:prstGeom>
          <a:noFill/>
          <a:ln>
            <a:noFill/>
          </a:ln>
        </p:spPr>
      </p:pic>
      <p:sp>
        <p:nvSpPr>
          <p:cNvPr id="642" name="Google Shape;642;p112"/>
          <p:cNvSpPr txBox="1"/>
          <p:nvPr>
            <p:ph type="title"/>
          </p:nvPr>
        </p:nvSpPr>
        <p:spPr>
          <a:xfrm>
            <a:off x="2392363" y="0"/>
            <a:ext cx="5719861" cy="6926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2600"/>
              <a:t>Gestalt Principles of Visual Perception</a:t>
            </a:r>
            <a:endParaRPr/>
          </a:p>
        </p:txBody>
      </p:sp>
      <p:sp>
        <p:nvSpPr>
          <p:cNvPr id="643" name="Google Shape;643;p112"/>
          <p:cNvSpPr txBox="1"/>
          <p:nvPr/>
        </p:nvSpPr>
        <p:spPr>
          <a:xfrm>
            <a:off x="335360" y="1340768"/>
            <a:ext cx="4470400" cy="11604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Grouping:</a:t>
            </a:r>
            <a:endParaRPr/>
          </a:p>
          <a:p>
            <a:pPr indent="0" lvl="0" marL="0" marR="0" rtl="0" algn="l">
              <a:lnSpc>
                <a:spcPct val="100000"/>
              </a:lnSpc>
              <a:spcBef>
                <a:spcPts val="1400"/>
              </a:spcBef>
              <a:spcAft>
                <a:spcPts val="0"/>
              </a:spcAft>
              <a:buNone/>
            </a:pPr>
            <a:r>
              <a:rPr b="0" i="0" lang="en-US" sz="2800" u="none" cap="none" strike="noStrike">
                <a:solidFill>
                  <a:srgbClr val="000000"/>
                </a:solidFill>
                <a:latin typeface="Arial"/>
                <a:ea typeface="Arial"/>
                <a:cs typeface="Arial"/>
                <a:sym typeface="Arial"/>
              </a:rPr>
              <a:t>Law of Similarity</a:t>
            </a:r>
            <a:endParaRPr/>
          </a:p>
        </p:txBody>
      </p:sp>
      <p:sp>
        <p:nvSpPr>
          <p:cNvPr id="644" name="Google Shape;644;p1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45" name="Google Shape;645;p1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46" name="Google Shape;646;p112"/>
          <p:cNvPicPr preferRelativeResize="0"/>
          <p:nvPr/>
        </p:nvPicPr>
        <p:blipFill rotWithShape="1">
          <a:blip r:embed="rId4">
            <a:alphaModFix/>
          </a:blip>
          <a:srcRect b="0" l="0" r="0" t="0"/>
          <a:stretch/>
        </p:blipFill>
        <p:spPr>
          <a:xfrm>
            <a:off x="7392144" y="1052736"/>
            <a:ext cx="4515548" cy="48196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ph type="title"/>
          </p:nvPr>
        </p:nvSpPr>
        <p:spPr>
          <a:xfrm>
            <a:off x="2235200" y="533400"/>
            <a:ext cx="9347200" cy="6858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2600"/>
              <a:t>Gestalt Principles of Visual Perception</a:t>
            </a:r>
            <a:endParaRPr/>
          </a:p>
        </p:txBody>
      </p:sp>
      <p:sp>
        <p:nvSpPr>
          <p:cNvPr id="652" name="Google Shape;652;p113"/>
          <p:cNvSpPr txBox="1"/>
          <p:nvPr/>
        </p:nvSpPr>
        <p:spPr>
          <a:xfrm>
            <a:off x="263352" y="4941168"/>
            <a:ext cx="11379200" cy="5191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Grouping: Law of Similarity: Shape, Scale, Color</a:t>
            </a:r>
            <a:endParaRPr/>
          </a:p>
        </p:txBody>
      </p:sp>
      <p:pic>
        <p:nvPicPr>
          <p:cNvPr descr="img013" id="653" name="Google Shape;653;p113"/>
          <p:cNvPicPr preferRelativeResize="0"/>
          <p:nvPr/>
        </p:nvPicPr>
        <p:blipFill rotWithShape="1">
          <a:blip r:embed="rId3">
            <a:alphaModFix/>
          </a:blip>
          <a:srcRect b="20000" l="18333" r="33333" t="17500"/>
          <a:stretch/>
        </p:blipFill>
        <p:spPr>
          <a:xfrm>
            <a:off x="9192344" y="1556792"/>
            <a:ext cx="2298700" cy="2971800"/>
          </a:xfrm>
          <a:prstGeom prst="rect">
            <a:avLst/>
          </a:prstGeom>
          <a:noFill/>
          <a:ln>
            <a:noFill/>
          </a:ln>
        </p:spPr>
      </p:pic>
      <p:pic>
        <p:nvPicPr>
          <p:cNvPr descr="Size Similarity" id="654" name="Google Shape;654;p113"/>
          <p:cNvPicPr preferRelativeResize="0"/>
          <p:nvPr/>
        </p:nvPicPr>
        <p:blipFill rotWithShape="1">
          <a:blip r:embed="rId4">
            <a:alphaModFix/>
          </a:blip>
          <a:srcRect b="8952" l="0" r="0" t="0"/>
          <a:stretch/>
        </p:blipFill>
        <p:spPr>
          <a:xfrm>
            <a:off x="5087888" y="1773237"/>
            <a:ext cx="3094567" cy="2112963"/>
          </a:xfrm>
          <a:prstGeom prst="rect">
            <a:avLst/>
          </a:prstGeom>
          <a:noFill/>
          <a:ln>
            <a:noFill/>
          </a:ln>
        </p:spPr>
      </p:pic>
      <p:pic>
        <p:nvPicPr>
          <p:cNvPr descr="8gest2" id="655" name="Google Shape;655;p113"/>
          <p:cNvPicPr preferRelativeResize="0"/>
          <p:nvPr/>
        </p:nvPicPr>
        <p:blipFill rotWithShape="1">
          <a:blip r:embed="rId5">
            <a:alphaModFix/>
          </a:blip>
          <a:srcRect b="0" l="0" r="0" t="0"/>
          <a:stretch/>
        </p:blipFill>
        <p:spPr>
          <a:xfrm>
            <a:off x="406400" y="2057400"/>
            <a:ext cx="4368800" cy="1828800"/>
          </a:xfrm>
          <a:prstGeom prst="rect">
            <a:avLst/>
          </a:prstGeom>
          <a:noFill/>
          <a:ln>
            <a:noFill/>
          </a:ln>
        </p:spPr>
      </p:pic>
      <p:sp>
        <p:nvSpPr>
          <p:cNvPr id="656" name="Google Shape;656;p1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57" name="Google Shape;657;p1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114"/>
          <p:cNvSpPr txBox="1"/>
          <p:nvPr>
            <p:ph type="title"/>
          </p:nvPr>
        </p:nvSpPr>
        <p:spPr>
          <a:xfrm>
            <a:off x="1703512" y="228537"/>
            <a:ext cx="9347200" cy="533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2600"/>
              <a:t>Gestalt Principles of Visual Perception</a:t>
            </a:r>
            <a:endParaRPr/>
          </a:p>
        </p:txBody>
      </p:sp>
      <p:pic>
        <p:nvPicPr>
          <p:cNvPr descr="Good Continuation" id="663" name="Google Shape;663;p114"/>
          <p:cNvPicPr preferRelativeResize="0"/>
          <p:nvPr/>
        </p:nvPicPr>
        <p:blipFill rotWithShape="1">
          <a:blip r:embed="rId3">
            <a:alphaModFix/>
          </a:blip>
          <a:srcRect b="0" l="0" r="0" t="0"/>
          <a:stretch/>
        </p:blipFill>
        <p:spPr>
          <a:xfrm>
            <a:off x="8904312" y="764704"/>
            <a:ext cx="2434167" cy="2247900"/>
          </a:xfrm>
          <a:prstGeom prst="rect">
            <a:avLst/>
          </a:prstGeom>
          <a:noFill/>
          <a:ln>
            <a:noFill/>
          </a:ln>
        </p:spPr>
      </p:pic>
      <p:sp>
        <p:nvSpPr>
          <p:cNvPr id="664" name="Google Shape;664;p114"/>
          <p:cNvSpPr txBox="1"/>
          <p:nvPr/>
        </p:nvSpPr>
        <p:spPr>
          <a:xfrm>
            <a:off x="695400" y="1593763"/>
            <a:ext cx="7053808" cy="135421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Law of Good Continuation, or Continuity</a:t>
            </a:r>
            <a:endParaRPr/>
          </a:p>
          <a:p>
            <a:pPr indent="0" lvl="0" marL="0" marR="0" rtl="0" algn="l">
              <a:lnSpc>
                <a:spcPct val="100000"/>
              </a:lnSpc>
              <a:spcBef>
                <a:spcPts val="1200"/>
              </a:spcBef>
              <a:spcAft>
                <a:spcPts val="0"/>
              </a:spcAft>
              <a:buNone/>
            </a:pPr>
            <a:r>
              <a:rPr b="0" i="0" lang="en-US" sz="2000" u="none" cap="none" strike="noStrike">
                <a:solidFill>
                  <a:srgbClr val="000000"/>
                </a:solidFill>
                <a:latin typeface="Arial"/>
                <a:ea typeface="Arial"/>
                <a:cs typeface="Arial"/>
                <a:sym typeface="Arial"/>
              </a:rPr>
              <a:t>Objects arranged in either a straight line or a smooth curve tend to be seen as a unit</a:t>
            </a:r>
            <a:r>
              <a:rPr b="0" i="0" lang="en-US" sz="2400" u="none" cap="none" strike="noStrike">
                <a:solidFill>
                  <a:srgbClr val="000000"/>
                </a:solidFill>
                <a:latin typeface="Arial"/>
                <a:ea typeface="Arial"/>
                <a:cs typeface="Arial"/>
                <a:sym typeface="Arial"/>
              </a:rPr>
              <a:t>. </a:t>
            </a:r>
            <a:endParaRPr/>
          </a:p>
        </p:txBody>
      </p:sp>
      <p:sp>
        <p:nvSpPr>
          <p:cNvPr id="665" name="Google Shape;665;p1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66" name="Google Shape;666;p1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67" name="Google Shape;667;p114"/>
          <p:cNvPicPr preferRelativeResize="0"/>
          <p:nvPr/>
        </p:nvPicPr>
        <p:blipFill rotWithShape="1">
          <a:blip r:embed="rId4">
            <a:alphaModFix/>
          </a:blip>
          <a:srcRect b="0" l="0" r="0" t="0"/>
          <a:stretch/>
        </p:blipFill>
        <p:spPr>
          <a:xfrm>
            <a:off x="8387463" y="3501008"/>
            <a:ext cx="3319154" cy="220874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5"/>
          <p:cNvSpPr txBox="1"/>
          <p:nvPr>
            <p:ph type="title"/>
          </p:nvPr>
        </p:nvSpPr>
        <p:spPr>
          <a:xfrm>
            <a:off x="1271464" y="332656"/>
            <a:ext cx="9347200" cy="533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2600"/>
              <a:t>Gestalt Principles of Visual Perception</a:t>
            </a:r>
            <a:endParaRPr/>
          </a:p>
        </p:txBody>
      </p:sp>
      <p:sp>
        <p:nvSpPr>
          <p:cNvPr id="673" name="Google Shape;673;p115"/>
          <p:cNvSpPr txBox="1"/>
          <p:nvPr/>
        </p:nvSpPr>
        <p:spPr>
          <a:xfrm>
            <a:off x="606818" y="1556792"/>
            <a:ext cx="4165600" cy="5191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Law of Closure</a:t>
            </a:r>
            <a:endParaRPr/>
          </a:p>
        </p:txBody>
      </p:sp>
      <p:pic>
        <p:nvPicPr>
          <p:cNvPr descr="image002" id="674" name="Google Shape;674;p115"/>
          <p:cNvPicPr preferRelativeResize="0"/>
          <p:nvPr/>
        </p:nvPicPr>
        <p:blipFill rotWithShape="1">
          <a:blip r:embed="rId3">
            <a:alphaModFix/>
          </a:blip>
          <a:srcRect b="0" l="0" r="0" t="0"/>
          <a:stretch/>
        </p:blipFill>
        <p:spPr>
          <a:xfrm>
            <a:off x="4775200" y="1371601"/>
            <a:ext cx="6502400" cy="4511675"/>
          </a:xfrm>
          <a:prstGeom prst="rect">
            <a:avLst/>
          </a:prstGeom>
          <a:noFill/>
          <a:ln>
            <a:noFill/>
          </a:ln>
        </p:spPr>
      </p:pic>
      <p:sp>
        <p:nvSpPr>
          <p:cNvPr id="675" name="Google Shape;675;p1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76" name="Google Shape;676;p1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77" name="Google Shape;677;p115"/>
          <p:cNvPicPr preferRelativeResize="0"/>
          <p:nvPr/>
        </p:nvPicPr>
        <p:blipFill rotWithShape="1">
          <a:blip r:embed="rId4">
            <a:alphaModFix/>
          </a:blip>
          <a:srcRect b="0" l="0" r="0" t="0"/>
          <a:stretch/>
        </p:blipFill>
        <p:spPr>
          <a:xfrm>
            <a:off x="236126" y="2505074"/>
            <a:ext cx="4213654" cy="3156173"/>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116"/>
          <p:cNvSpPr txBox="1"/>
          <p:nvPr>
            <p:ph type="title"/>
          </p:nvPr>
        </p:nvSpPr>
        <p:spPr>
          <a:xfrm>
            <a:off x="2235200" y="609600"/>
            <a:ext cx="9347200" cy="53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2600"/>
              <a:t>Gestalt Principles of Visual Perception</a:t>
            </a:r>
            <a:endParaRPr/>
          </a:p>
        </p:txBody>
      </p:sp>
      <p:sp>
        <p:nvSpPr>
          <p:cNvPr id="683" name="Google Shape;683;p116"/>
          <p:cNvSpPr txBox="1"/>
          <p:nvPr/>
        </p:nvSpPr>
        <p:spPr>
          <a:xfrm>
            <a:off x="263352" y="1541032"/>
            <a:ext cx="4876800" cy="218521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Law of Common Fate:</a:t>
            </a:r>
            <a:endParaRPr/>
          </a:p>
          <a:p>
            <a:pPr indent="0" lvl="0" marL="0" marR="0" rtl="0" algn="l">
              <a:lnSpc>
                <a:spcPct val="100000"/>
              </a:lnSpc>
              <a:spcBef>
                <a:spcPts val="1200"/>
              </a:spcBef>
              <a:spcAft>
                <a:spcPts val="0"/>
              </a:spcAft>
              <a:buNone/>
            </a:pPr>
            <a:r>
              <a:rPr b="0" i="0" lang="en-US" sz="2400" u="none" cap="none" strike="noStrike">
                <a:solidFill>
                  <a:srgbClr val="000000"/>
                </a:solidFill>
                <a:latin typeface="Arial"/>
                <a:ea typeface="Arial"/>
                <a:cs typeface="Arial"/>
                <a:sym typeface="Arial"/>
              </a:rPr>
              <a:t>Explains our tendency to see visually related elements moving together (same speed, direction) as a single, unified group or object</a:t>
            </a:r>
            <a:endParaRPr b="0" i="0" sz="2400" u="none" cap="none" strike="noStrike">
              <a:solidFill>
                <a:srgbClr val="000000"/>
              </a:solidFill>
              <a:latin typeface="Arial"/>
              <a:ea typeface="Arial"/>
              <a:cs typeface="Arial"/>
              <a:sym typeface="Arial"/>
            </a:endParaRPr>
          </a:p>
        </p:txBody>
      </p:sp>
      <p:sp>
        <p:nvSpPr>
          <p:cNvPr id="684" name="Google Shape;684;p1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85" name="Google Shape;685;p1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686" name="Google Shape;686;p116"/>
          <p:cNvPicPr preferRelativeResize="0"/>
          <p:nvPr/>
        </p:nvPicPr>
        <p:blipFill rotWithShape="1">
          <a:blip r:embed="rId3">
            <a:alphaModFix/>
          </a:blip>
          <a:srcRect b="29854" l="0" r="0" t="26440"/>
          <a:stretch/>
        </p:blipFill>
        <p:spPr>
          <a:xfrm>
            <a:off x="6600056" y="2060848"/>
            <a:ext cx="4660403" cy="253538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17"/>
          <p:cNvSpPr txBox="1"/>
          <p:nvPr>
            <p:ph type="title"/>
          </p:nvPr>
        </p:nvSpPr>
        <p:spPr>
          <a:xfrm>
            <a:off x="2235200" y="609600"/>
            <a:ext cx="9347200" cy="53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2600"/>
              <a:t>Gestalt Principles of Visual Perception</a:t>
            </a:r>
            <a:endParaRPr/>
          </a:p>
        </p:txBody>
      </p:sp>
      <p:sp>
        <p:nvSpPr>
          <p:cNvPr id="692" name="Google Shape;692;p117"/>
          <p:cNvSpPr txBox="1"/>
          <p:nvPr/>
        </p:nvSpPr>
        <p:spPr>
          <a:xfrm>
            <a:off x="551384" y="1397967"/>
            <a:ext cx="837560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chemeClr val="dk1"/>
                </a:solidFill>
                <a:latin typeface="Arial"/>
                <a:ea typeface="Arial"/>
                <a:cs typeface="Arial"/>
                <a:sym typeface="Arial"/>
              </a:rPr>
              <a:t>Goodness of Figure, or the Law of Pragnanz (with meaning)</a:t>
            </a:r>
            <a:endParaRPr b="0" i="0" sz="2400" u="none" cap="none" strike="noStrike">
              <a:solidFill>
                <a:schemeClr val="dk1"/>
              </a:solidFill>
              <a:latin typeface="Arial"/>
              <a:ea typeface="Arial"/>
              <a:cs typeface="Arial"/>
              <a:sym typeface="Arial"/>
            </a:endParaRPr>
          </a:p>
        </p:txBody>
      </p:sp>
      <p:pic>
        <p:nvPicPr>
          <p:cNvPr descr="tie" id="693" name="Google Shape;693;p117"/>
          <p:cNvPicPr preferRelativeResize="0"/>
          <p:nvPr/>
        </p:nvPicPr>
        <p:blipFill rotWithShape="1">
          <a:blip r:embed="rId3">
            <a:alphaModFix/>
          </a:blip>
          <a:srcRect b="0" l="0" r="0" t="0"/>
          <a:stretch/>
        </p:blipFill>
        <p:spPr>
          <a:xfrm>
            <a:off x="767408" y="1988840"/>
            <a:ext cx="6299200" cy="1978025"/>
          </a:xfrm>
          <a:prstGeom prst="rect">
            <a:avLst/>
          </a:prstGeom>
          <a:noFill/>
          <a:ln>
            <a:noFill/>
          </a:ln>
        </p:spPr>
      </p:pic>
      <p:sp>
        <p:nvSpPr>
          <p:cNvPr id="694" name="Google Shape;694;p1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695" name="Google Shape;695;p1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96" name="Google Shape;696;p117"/>
          <p:cNvSpPr/>
          <p:nvPr/>
        </p:nvSpPr>
        <p:spPr>
          <a:xfrm>
            <a:off x="7846864" y="1988840"/>
            <a:ext cx="2160240" cy="1440160"/>
          </a:xfrm>
          <a:prstGeom prst="wedgeEllipseCallout">
            <a:avLst>
              <a:gd fmla="val -20833" name="adj1"/>
              <a:gd fmla="val 62500" name="adj2"/>
            </a:avLst>
          </a:prstGeom>
          <a:solidFill>
            <a:schemeClr val="accent1"/>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The word is </a:t>
            </a:r>
            <a:endParaRPr/>
          </a:p>
          <a:p>
            <a:pPr indent="0" lvl="0" marL="0" marR="0" rtl="0" algn="ctr">
              <a:lnSpc>
                <a:spcPct val="100000"/>
              </a:lnSpc>
              <a:spcBef>
                <a:spcPts val="0"/>
              </a:spcBef>
              <a:spcAft>
                <a:spcPts val="0"/>
              </a:spcAft>
              <a:buNone/>
            </a:pPr>
            <a:r>
              <a:rPr b="1" i="0" lang="en-US" sz="4400" u="none" cap="none" strike="noStrike">
                <a:solidFill>
                  <a:srgbClr val="FFFF00"/>
                </a:solidFill>
                <a:latin typeface="Arial"/>
                <a:ea typeface="Arial"/>
                <a:cs typeface="Arial"/>
                <a:sym typeface="Arial"/>
              </a:rPr>
              <a:t>TIE</a:t>
            </a:r>
            <a:endParaRPr b="1" i="0" sz="4400" u="none" cap="none" strike="noStrike">
              <a:solidFill>
                <a:srgbClr val="FFFF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118"/>
          <p:cNvSpPr txBox="1"/>
          <p:nvPr>
            <p:ph type="title"/>
          </p:nvPr>
        </p:nvSpPr>
        <p:spPr>
          <a:xfrm>
            <a:off x="551384" y="116632"/>
            <a:ext cx="9347200" cy="533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2600"/>
              <a:t>Gestalt Principles of Visual Perception</a:t>
            </a:r>
            <a:endParaRPr/>
          </a:p>
        </p:txBody>
      </p:sp>
      <p:sp>
        <p:nvSpPr>
          <p:cNvPr id="702" name="Google Shape;702;p118"/>
          <p:cNvSpPr txBox="1"/>
          <p:nvPr/>
        </p:nvSpPr>
        <p:spPr>
          <a:xfrm>
            <a:off x="551384" y="1196752"/>
            <a:ext cx="6237064" cy="24431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800" u="none" cap="none" strike="noStrike">
                <a:solidFill>
                  <a:srgbClr val="000000"/>
                </a:solidFill>
                <a:latin typeface="Arial"/>
                <a:ea typeface="Arial"/>
                <a:cs typeface="Arial"/>
                <a:sym typeface="Arial"/>
              </a:rPr>
              <a:t>Figure/Ground relationships</a:t>
            </a:r>
            <a:endParaRPr/>
          </a:p>
          <a:p>
            <a:pPr indent="0" lvl="0" marL="0" marR="0" rtl="0" algn="l">
              <a:lnSpc>
                <a:spcPct val="100000"/>
              </a:lnSpc>
              <a:spcBef>
                <a:spcPts val="1400"/>
              </a:spcBef>
              <a:spcAft>
                <a:spcPts val="0"/>
              </a:spcAft>
              <a:buNone/>
            </a:pPr>
            <a:r>
              <a:rPr b="0" i="0" lang="en-US" sz="2800" u="none" cap="none" strike="noStrike">
                <a:solidFill>
                  <a:srgbClr val="000000"/>
                </a:solidFill>
                <a:latin typeface="Arial"/>
                <a:ea typeface="Arial"/>
                <a:cs typeface="Arial"/>
                <a:sym typeface="Arial"/>
              </a:rPr>
              <a:t>Figure – seen as the foreground</a:t>
            </a:r>
            <a:endParaRPr/>
          </a:p>
          <a:p>
            <a:pPr indent="0" lvl="0" marL="0" marR="0" rtl="0" algn="l">
              <a:lnSpc>
                <a:spcPct val="100000"/>
              </a:lnSpc>
              <a:spcBef>
                <a:spcPts val="1400"/>
              </a:spcBef>
              <a:spcAft>
                <a:spcPts val="0"/>
              </a:spcAft>
              <a:buNone/>
            </a:pPr>
            <a:r>
              <a:rPr b="0" i="0" lang="en-US" sz="2800" u="none" cap="none" strike="noStrike">
                <a:solidFill>
                  <a:srgbClr val="000000"/>
                </a:solidFill>
                <a:latin typeface="Arial"/>
                <a:ea typeface="Arial"/>
                <a:cs typeface="Arial"/>
                <a:sym typeface="Arial"/>
              </a:rPr>
              <a:t>Ground – seen as the background</a:t>
            </a:r>
            <a:endParaRPr/>
          </a:p>
          <a:p>
            <a:pPr indent="0" lvl="0" marL="0" marR="0" rtl="0" algn="l">
              <a:lnSpc>
                <a:spcPct val="100000"/>
              </a:lnSpc>
              <a:spcBef>
                <a:spcPts val="1400"/>
              </a:spcBef>
              <a:spcAft>
                <a:spcPts val="0"/>
              </a:spcAft>
              <a:buNone/>
            </a:pPr>
            <a:r>
              <a:rPr b="0" i="0" lang="en-US" sz="2800" u="none" cap="none" strike="noStrike">
                <a:solidFill>
                  <a:srgbClr val="000000"/>
                </a:solidFill>
                <a:latin typeface="Arial"/>
                <a:ea typeface="Arial"/>
                <a:cs typeface="Arial"/>
                <a:sym typeface="Arial"/>
              </a:rPr>
              <a:t>Contours – “belong” to the figure</a:t>
            </a:r>
            <a:endParaRPr/>
          </a:p>
        </p:txBody>
      </p:sp>
      <p:sp>
        <p:nvSpPr>
          <p:cNvPr id="703" name="Google Shape;703;p1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04" name="Google Shape;704;p1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705" name="Google Shape;705;p118"/>
          <p:cNvPicPr preferRelativeResize="0"/>
          <p:nvPr/>
        </p:nvPicPr>
        <p:blipFill rotWithShape="1">
          <a:blip r:embed="rId3">
            <a:alphaModFix/>
          </a:blip>
          <a:srcRect b="0" l="0" r="0" t="0"/>
          <a:stretch/>
        </p:blipFill>
        <p:spPr>
          <a:xfrm>
            <a:off x="6240016" y="931532"/>
            <a:ext cx="5399732" cy="270838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119"/>
          <p:cNvSpPr txBox="1"/>
          <p:nvPr>
            <p:ph type="title"/>
          </p:nvPr>
        </p:nvSpPr>
        <p:spPr>
          <a:xfrm>
            <a:off x="2235200" y="609600"/>
            <a:ext cx="9347200" cy="53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2600"/>
              <a:t>Gestalt Principles of Visual Perception</a:t>
            </a:r>
            <a:endParaRPr/>
          </a:p>
        </p:txBody>
      </p:sp>
      <p:sp>
        <p:nvSpPr>
          <p:cNvPr id="711" name="Google Shape;711;p119"/>
          <p:cNvSpPr txBox="1"/>
          <p:nvPr/>
        </p:nvSpPr>
        <p:spPr>
          <a:xfrm>
            <a:off x="609600" y="2057400"/>
            <a:ext cx="4978400"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Reversible Figure/Ground</a:t>
            </a:r>
            <a:endParaRPr/>
          </a:p>
          <a:p>
            <a:pPr indent="0" lvl="0" marL="0" marR="0" rtl="0" algn="l">
              <a:lnSpc>
                <a:spcPct val="100000"/>
              </a:lnSpc>
              <a:spcBef>
                <a:spcPts val="1200"/>
              </a:spcBef>
              <a:spcAft>
                <a:spcPts val="0"/>
              </a:spcAft>
              <a:buNone/>
            </a:pPr>
            <a:r>
              <a:rPr b="0" i="0" lang="en-US" sz="2400" u="none" cap="none" strike="noStrike">
                <a:solidFill>
                  <a:srgbClr val="000000"/>
                </a:solidFill>
                <a:latin typeface="Arial"/>
                <a:ea typeface="Arial"/>
                <a:cs typeface="Arial"/>
                <a:sym typeface="Arial"/>
              </a:rPr>
              <a:t>relationship</a:t>
            </a:r>
            <a:endParaRPr/>
          </a:p>
        </p:txBody>
      </p:sp>
      <p:pic>
        <p:nvPicPr>
          <p:cNvPr descr="vase" id="712" name="Google Shape;712;p119"/>
          <p:cNvPicPr preferRelativeResize="0"/>
          <p:nvPr/>
        </p:nvPicPr>
        <p:blipFill rotWithShape="1">
          <a:blip r:embed="rId3">
            <a:alphaModFix/>
          </a:blip>
          <a:srcRect b="0" l="0" r="0" t="0"/>
          <a:stretch/>
        </p:blipFill>
        <p:spPr>
          <a:xfrm>
            <a:off x="6502401" y="2133600"/>
            <a:ext cx="4290484" cy="3352800"/>
          </a:xfrm>
          <a:prstGeom prst="rect">
            <a:avLst/>
          </a:prstGeom>
          <a:noFill/>
          <a:ln>
            <a:noFill/>
          </a:ln>
        </p:spPr>
      </p:pic>
      <p:sp>
        <p:nvSpPr>
          <p:cNvPr id="713" name="Google Shape;713;p1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14" name="Google Shape;714;p1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120"/>
          <p:cNvSpPr txBox="1"/>
          <p:nvPr>
            <p:ph type="title"/>
          </p:nvPr>
        </p:nvSpPr>
        <p:spPr>
          <a:xfrm>
            <a:off x="2235200" y="609600"/>
            <a:ext cx="9347200" cy="533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sz="2600"/>
              <a:t>Gestalt Principles of Visual Perception</a:t>
            </a:r>
            <a:endParaRPr/>
          </a:p>
        </p:txBody>
      </p:sp>
      <p:sp>
        <p:nvSpPr>
          <p:cNvPr id="720" name="Google Shape;720;p120"/>
          <p:cNvSpPr txBox="1"/>
          <p:nvPr/>
        </p:nvSpPr>
        <p:spPr>
          <a:xfrm>
            <a:off x="508000" y="2667000"/>
            <a:ext cx="49784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Arial"/>
                <a:ea typeface="Arial"/>
                <a:cs typeface="Arial"/>
                <a:sym typeface="Arial"/>
              </a:rPr>
              <a:t>Reversible Figure/Ground</a:t>
            </a:r>
            <a:endParaRPr/>
          </a:p>
          <a:p>
            <a:pPr indent="0" lvl="0" marL="0" marR="0" rtl="0" algn="l">
              <a:lnSpc>
                <a:spcPct val="100000"/>
              </a:lnSpc>
              <a:spcBef>
                <a:spcPts val="1200"/>
              </a:spcBef>
              <a:spcAft>
                <a:spcPts val="0"/>
              </a:spcAft>
              <a:buNone/>
            </a:pPr>
            <a:r>
              <a:rPr b="0" i="0" lang="en-US" sz="2400" u="none" cap="none" strike="noStrike">
                <a:solidFill>
                  <a:srgbClr val="000000"/>
                </a:solidFill>
                <a:latin typeface="Arial"/>
                <a:ea typeface="Arial"/>
                <a:cs typeface="Arial"/>
                <a:sym typeface="Arial"/>
              </a:rPr>
              <a:t>Relationship:</a:t>
            </a:r>
            <a:endParaRPr/>
          </a:p>
          <a:p>
            <a:pPr indent="0" lvl="0" marL="0" marR="0" rtl="0" algn="l">
              <a:lnSpc>
                <a:spcPct val="100000"/>
              </a:lnSpc>
              <a:spcBef>
                <a:spcPts val="1200"/>
              </a:spcBef>
              <a:spcAft>
                <a:spcPts val="0"/>
              </a:spcAft>
              <a:buNone/>
            </a:pPr>
            <a:r>
              <a:rPr b="0" i="0" lang="en-US" sz="2400" u="none" cap="none" strike="noStrike">
                <a:solidFill>
                  <a:srgbClr val="000000"/>
                </a:solidFill>
                <a:latin typeface="Arial"/>
                <a:ea typeface="Arial"/>
                <a:cs typeface="Arial"/>
                <a:sym typeface="Arial"/>
              </a:rPr>
              <a:t>Tessellation – interlocking figure/ground</a:t>
            </a:r>
            <a:endParaRPr/>
          </a:p>
        </p:txBody>
      </p:sp>
      <p:pic>
        <p:nvPicPr>
          <p:cNvPr descr="Pic: horses" id="721" name="Google Shape;721;p120"/>
          <p:cNvPicPr preferRelativeResize="0"/>
          <p:nvPr/>
        </p:nvPicPr>
        <p:blipFill rotWithShape="1">
          <a:blip r:embed="rId3">
            <a:alphaModFix/>
          </a:blip>
          <a:srcRect b="0" l="0" r="0" t="0"/>
          <a:stretch/>
        </p:blipFill>
        <p:spPr>
          <a:xfrm>
            <a:off x="5994400" y="2286000"/>
            <a:ext cx="5640917" cy="2609850"/>
          </a:xfrm>
          <a:prstGeom prst="rect">
            <a:avLst/>
          </a:prstGeom>
          <a:noFill/>
          <a:ln>
            <a:noFill/>
          </a:ln>
        </p:spPr>
      </p:pic>
      <p:sp>
        <p:nvSpPr>
          <p:cNvPr id="722" name="Google Shape;722;p120"/>
          <p:cNvSpPr txBox="1"/>
          <p:nvPr/>
        </p:nvSpPr>
        <p:spPr>
          <a:xfrm>
            <a:off x="6502400" y="5257801"/>
            <a:ext cx="4470400"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M.C. Escher</a:t>
            </a:r>
            <a:endParaRPr/>
          </a:p>
        </p:txBody>
      </p:sp>
      <p:sp>
        <p:nvSpPr>
          <p:cNvPr id="723" name="Google Shape;723;p1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24" name="Google Shape;724;p1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Module 1.4</a:t>
            </a:r>
            <a:endParaRPr/>
          </a:p>
        </p:txBody>
      </p:sp>
      <p:sp>
        <p:nvSpPr>
          <p:cNvPr id="730" name="Google Shape;730;p1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342900" lvl="0" marL="457200" rtl="0" algn="l">
              <a:lnSpc>
                <a:spcPct val="90000"/>
              </a:lnSpc>
              <a:spcBef>
                <a:spcPts val="1000"/>
              </a:spcBef>
              <a:spcAft>
                <a:spcPts val="0"/>
              </a:spcAft>
              <a:buClr>
                <a:schemeClr val="dk1"/>
              </a:buClr>
              <a:buSzPct val="69498"/>
              <a:buChar char="•"/>
            </a:pPr>
            <a:r>
              <a:rPr lang="en-US"/>
              <a:t>Data Cleaning Using Excel</a:t>
            </a:r>
            <a:endParaRPr/>
          </a:p>
          <a:p>
            <a:pPr indent="-342900" lvl="0" marL="457200" rtl="0" algn="l">
              <a:lnSpc>
                <a:spcPct val="90000"/>
              </a:lnSpc>
              <a:spcBef>
                <a:spcPts val="1000"/>
              </a:spcBef>
              <a:spcAft>
                <a:spcPts val="0"/>
              </a:spcAft>
              <a:buClr>
                <a:schemeClr val="dk1"/>
              </a:buClr>
              <a:buSzPct val="69498"/>
              <a:buChar char="•"/>
            </a:pPr>
            <a:r>
              <a:rPr lang="en-US"/>
              <a:t>Essential step as the real world data is often</a:t>
            </a:r>
            <a:endParaRPr/>
          </a:p>
          <a:p>
            <a:pPr indent="-342900" lvl="1" marL="914400" rtl="0" algn="l">
              <a:lnSpc>
                <a:spcPct val="90000"/>
              </a:lnSpc>
              <a:spcBef>
                <a:spcPts val="500"/>
              </a:spcBef>
              <a:spcAft>
                <a:spcPts val="0"/>
              </a:spcAft>
              <a:buSzPct val="81081"/>
              <a:buChar char="•"/>
            </a:pPr>
            <a:r>
              <a:rPr lang="en-US"/>
              <a:t>Inconsistent</a:t>
            </a:r>
            <a:endParaRPr/>
          </a:p>
          <a:p>
            <a:pPr indent="-342900" lvl="1" marL="914400" rtl="0" algn="l">
              <a:lnSpc>
                <a:spcPct val="90000"/>
              </a:lnSpc>
              <a:spcBef>
                <a:spcPts val="500"/>
              </a:spcBef>
              <a:spcAft>
                <a:spcPts val="0"/>
              </a:spcAft>
              <a:buSzPct val="81081"/>
              <a:buChar char="•"/>
            </a:pPr>
            <a:r>
              <a:rPr lang="en-US"/>
              <a:t>Incomplete </a:t>
            </a:r>
            <a:endParaRPr/>
          </a:p>
          <a:p>
            <a:pPr indent="-342900" lvl="1" marL="914400" rtl="0" algn="l">
              <a:lnSpc>
                <a:spcPct val="90000"/>
              </a:lnSpc>
              <a:spcBef>
                <a:spcPts val="500"/>
              </a:spcBef>
              <a:spcAft>
                <a:spcPts val="0"/>
              </a:spcAft>
              <a:buSzPct val="81081"/>
              <a:buChar char="•"/>
            </a:pPr>
            <a:r>
              <a:rPr lang="en-US"/>
              <a:t>Inaccurate</a:t>
            </a:r>
            <a:endParaRPr/>
          </a:p>
          <a:p>
            <a:pPr indent="-228600" lvl="1" marL="914400" rtl="0" algn="l">
              <a:lnSpc>
                <a:spcPct val="90000"/>
              </a:lnSpc>
              <a:spcBef>
                <a:spcPts val="500"/>
              </a:spcBef>
              <a:spcAft>
                <a:spcPts val="0"/>
              </a:spcAft>
              <a:buSzPct val="81081"/>
              <a:buNone/>
            </a:pPr>
            <a:r>
              <a:t/>
            </a:r>
            <a:endParaRPr/>
          </a:p>
          <a:p>
            <a:pPr indent="-342900" lvl="0" marL="457200" rtl="0" algn="l">
              <a:lnSpc>
                <a:spcPct val="90000"/>
              </a:lnSpc>
              <a:spcBef>
                <a:spcPts val="1000"/>
              </a:spcBef>
              <a:spcAft>
                <a:spcPts val="0"/>
              </a:spcAft>
              <a:buClr>
                <a:schemeClr val="dk1"/>
              </a:buClr>
              <a:buSzPct val="69498"/>
              <a:buChar char="•"/>
            </a:pPr>
            <a:r>
              <a:rPr lang="en-US"/>
              <a:t>Data cleaning will improve:</a:t>
            </a:r>
            <a:endParaRPr/>
          </a:p>
          <a:p>
            <a:pPr indent="-342900" lvl="1" marL="914400" rtl="0" algn="l">
              <a:lnSpc>
                <a:spcPct val="90000"/>
              </a:lnSpc>
              <a:spcBef>
                <a:spcPts val="500"/>
              </a:spcBef>
              <a:spcAft>
                <a:spcPts val="0"/>
              </a:spcAft>
              <a:buSzPct val="81081"/>
              <a:buChar char="•"/>
            </a:pPr>
            <a:r>
              <a:rPr lang="en-US"/>
              <a:t>Accuracy of Analysis</a:t>
            </a:r>
            <a:endParaRPr/>
          </a:p>
          <a:p>
            <a:pPr indent="-342900" lvl="1" marL="914400" rtl="0" algn="l">
              <a:lnSpc>
                <a:spcPct val="90000"/>
              </a:lnSpc>
              <a:spcBef>
                <a:spcPts val="500"/>
              </a:spcBef>
              <a:spcAft>
                <a:spcPts val="0"/>
              </a:spcAft>
              <a:buSzPct val="81081"/>
              <a:buChar char="•"/>
            </a:pPr>
            <a:r>
              <a:rPr lang="en-US"/>
              <a:t>Enhances visualization quality</a:t>
            </a:r>
            <a:endParaRPr/>
          </a:p>
          <a:p>
            <a:pPr indent="-342900" lvl="1" marL="914400" rtl="0" algn="l">
              <a:lnSpc>
                <a:spcPct val="90000"/>
              </a:lnSpc>
              <a:spcBef>
                <a:spcPts val="500"/>
              </a:spcBef>
              <a:spcAft>
                <a:spcPts val="0"/>
              </a:spcAft>
              <a:buSzPct val="81081"/>
              <a:buChar char="•"/>
            </a:pPr>
            <a:r>
              <a:rPr lang="en-US"/>
              <a:t>In better Decision making</a:t>
            </a:r>
            <a:endParaRPr/>
          </a:p>
          <a:p>
            <a:pPr indent="-342900" lvl="1" marL="914400" rtl="0" algn="l">
              <a:lnSpc>
                <a:spcPct val="90000"/>
              </a:lnSpc>
              <a:spcBef>
                <a:spcPts val="500"/>
              </a:spcBef>
              <a:spcAft>
                <a:spcPts val="0"/>
              </a:spcAft>
              <a:buSzPct val="81081"/>
              <a:buChar char="•"/>
            </a:pPr>
            <a:r>
              <a:rPr lang="en-US"/>
              <a:t>Required for advanced analytics </a:t>
            </a:r>
            <a:br>
              <a:rPr lang="en-US"/>
            </a:br>
            <a:endParaRPr/>
          </a:p>
        </p:txBody>
      </p:sp>
      <p:sp>
        <p:nvSpPr>
          <p:cNvPr id="731" name="Google Shape;731;p1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32" name="Google Shape;732;p1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122"/>
          <p:cNvSpPr txBox="1"/>
          <p:nvPr>
            <p:ph type="title"/>
          </p:nvPr>
        </p:nvSpPr>
        <p:spPr>
          <a:xfrm>
            <a:off x="695400" y="30591"/>
            <a:ext cx="10515600" cy="7596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Excel Functions </a:t>
            </a:r>
            <a:endParaRPr/>
          </a:p>
        </p:txBody>
      </p:sp>
      <p:sp>
        <p:nvSpPr>
          <p:cNvPr id="738" name="Google Shape;738;p1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39" name="Google Shape;739;p1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740" name="Google Shape;740;p122"/>
          <p:cNvGraphicFramePr/>
          <p:nvPr/>
        </p:nvGraphicFramePr>
        <p:xfrm>
          <a:off x="1487488" y="980728"/>
          <a:ext cx="3000000" cy="3000000"/>
        </p:xfrm>
        <a:graphic>
          <a:graphicData uri="http://schemas.openxmlformats.org/drawingml/2006/table">
            <a:tbl>
              <a:tblPr>
                <a:noFill/>
                <a:tableStyleId>{3C6EE7B5-BC37-42DC-A412-73184333C272}</a:tableStyleId>
              </a:tblPr>
              <a:tblGrid>
                <a:gridCol w="2365575"/>
                <a:gridCol w="2143800"/>
                <a:gridCol w="2143800"/>
                <a:gridCol w="3067875"/>
              </a:tblGrid>
              <a:tr h="696575">
                <a:tc>
                  <a:txBody>
                    <a:bodyPr/>
                    <a:lstStyle/>
                    <a:p>
                      <a:pPr indent="0" lvl="0" marL="0" marR="0" rtl="0" algn="ctr">
                        <a:lnSpc>
                          <a:spcPct val="100000"/>
                        </a:lnSpc>
                        <a:spcBef>
                          <a:spcPts val="0"/>
                        </a:spcBef>
                        <a:spcAft>
                          <a:spcPts val="0"/>
                        </a:spcAft>
                        <a:buNone/>
                      </a:pPr>
                      <a:r>
                        <a:rPr b="1" lang="en-US" sz="1800" u="none" cap="none" strike="noStrike"/>
                        <a:t>Original Data</a:t>
                      </a:r>
                      <a:endParaRPr b="1"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b="1" lang="en-US" sz="1800" u="none" cap="none" strike="noStrike"/>
                        <a:t>Name of the Function used</a:t>
                      </a:r>
                      <a:endParaRPr b="1"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b="1" lang="en-US" sz="1800" u="none" cap="none" strike="noStrike"/>
                        <a:t>Purpose</a:t>
                      </a:r>
                      <a:endParaRPr b="1"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b="1" lang="en-US" sz="1800" u="none" cap="none" strike="noStrike"/>
                        <a:t>Result</a:t>
                      </a:r>
                      <a:endParaRPr b="1" i="0" sz="1800" u="none" cap="none" strike="noStrike">
                        <a:solidFill>
                          <a:srgbClr val="000000"/>
                        </a:solidFill>
                        <a:latin typeface="Calibri"/>
                        <a:ea typeface="Calibri"/>
                        <a:cs typeface="Calibri"/>
                        <a:sym typeface="Calibri"/>
                      </a:endParaRPr>
                    </a:p>
                  </a:txBody>
                  <a:tcPr marT="5525" marB="0" marR="5525" marL="5525" anchor="b"/>
                </a:tc>
              </a:tr>
              <a:tr h="639500">
                <a:tc>
                  <a:txBody>
                    <a:bodyPr/>
                    <a:lstStyle/>
                    <a:p>
                      <a:pPr indent="0" lvl="0" marL="0" marR="0" rtl="0" algn="l">
                        <a:lnSpc>
                          <a:spcPct val="100000"/>
                        </a:lnSpc>
                        <a:spcBef>
                          <a:spcPts val="0"/>
                        </a:spcBef>
                        <a:spcAft>
                          <a:spcPts val="0"/>
                        </a:spcAft>
                        <a:buNone/>
                      </a:pPr>
                      <a:r>
                        <a:rPr lang="en-US" sz="1800" u="none" cap="none" strike="noStrike"/>
                        <a:t>Testing of the informarion </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proper</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Converts into Title case</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Testing Of The Informarion </a:t>
                      </a:r>
                      <a:endParaRPr b="0" i="0" sz="1800" u="none" cap="none" strike="noStrike">
                        <a:solidFill>
                          <a:srgbClr val="000000"/>
                        </a:solidFill>
                        <a:latin typeface="Calibri"/>
                        <a:ea typeface="Calibri"/>
                        <a:cs typeface="Calibri"/>
                        <a:sym typeface="Calibri"/>
                      </a:endParaRPr>
                    </a:p>
                  </a:txBody>
                  <a:tcPr marT="5525" marB="0" marR="5525" marL="5525" anchor="b"/>
                </a:tc>
              </a:tr>
              <a:tr h="956050">
                <a:tc>
                  <a:txBody>
                    <a:bodyPr/>
                    <a:lstStyle/>
                    <a:p>
                      <a:pPr indent="0" lvl="0" marL="0" marR="0" rtl="0" algn="just">
                        <a:lnSpc>
                          <a:spcPct val="100000"/>
                        </a:lnSpc>
                        <a:spcBef>
                          <a:spcPts val="0"/>
                        </a:spcBef>
                        <a:spcAft>
                          <a:spcPts val="0"/>
                        </a:spcAft>
                        <a:buNone/>
                      </a:pPr>
                      <a:r>
                        <a:rPr b="1" lang="en-US" sz="1800" u="none" cap="none" strike="noStrike"/>
                        <a:t>3.10 IFERROR() </a:t>
                      </a:r>
                      <a:endParaRPr b="1" i="0" sz="1800" u="none" cap="none" strike="noStrike">
                        <a:solidFill>
                          <a:srgbClr val="202122"/>
                        </a:solidFill>
                        <a:latin typeface="Times New Roman"/>
                        <a:ea typeface="Times New Roman"/>
                        <a:cs typeface="Times New Roman"/>
                        <a:sym typeface="Times New Roman"/>
                      </a:endParaRPr>
                    </a:p>
                  </a:txBody>
                  <a:tcPr marT="5525" marB="0" marR="5525" marL="5525" anchor="ctr"/>
                </a:tc>
                <a:tc>
                  <a:txBody>
                    <a:bodyPr/>
                    <a:lstStyle/>
                    <a:p>
                      <a:pPr indent="0" lvl="0" marL="0" marR="0" rtl="0" algn="l">
                        <a:lnSpc>
                          <a:spcPct val="100000"/>
                        </a:lnSpc>
                        <a:spcBef>
                          <a:spcPts val="0"/>
                        </a:spcBef>
                        <a:spcAft>
                          <a:spcPts val="0"/>
                        </a:spcAft>
                        <a:buNone/>
                      </a:pPr>
                      <a:r>
                        <a:rPr lang="en-US" sz="1800" u="none" cap="none" strike="noStrike"/>
                        <a:t>clean</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Removes unprintable characters</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3.10 IFERROR() </a:t>
                      </a:r>
                      <a:endParaRPr b="0" i="0" sz="1800" u="none" cap="none" strike="noStrike">
                        <a:solidFill>
                          <a:srgbClr val="000000"/>
                        </a:solidFill>
                        <a:latin typeface="Calibri"/>
                        <a:ea typeface="Calibri"/>
                        <a:cs typeface="Calibri"/>
                        <a:sym typeface="Calibri"/>
                      </a:endParaRPr>
                    </a:p>
                  </a:txBody>
                  <a:tcPr marT="5525" marB="0" marR="5525" marL="5525" anchor="b"/>
                </a:tc>
              </a:tr>
              <a:tr h="1589175">
                <a:tc>
                  <a:txBody>
                    <a:bodyPr/>
                    <a:lstStyle/>
                    <a:p>
                      <a:pPr indent="0" lvl="0" marL="0" marR="0" rtl="0" algn="l">
                        <a:lnSpc>
                          <a:spcPct val="100000"/>
                        </a:lnSpc>
                        <a:spcBef>
                          <a:spcPts val="0"/>
                        </a:spcBef>
                        <a:spcAft>
                          <a:spcPts val="0"/>
                        </a:spcAft>
                        <a:buNone/>
                      </a:pPr>
                      <a:r>
                        <a:rPr lang="en-US" sz="1800" u="none" cap="none" strike="noStrike"/>
                        <a:t>      there is a lot of empty space on either side       </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trim</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Removes extra spaces (leading, trailing, and multiple spaces between words).</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there is a lot of empty space on either side</a:t>
                      </a:r>
                      <a:endParaRPr b="0" i="0" sz="1800" u="none" cap="none" strike="noStrike">
                        <a:solidFill>
                          <a:srgbClr val="000000"/>
                        </a:solidFill>
                        <a:latin typeface="Calibri"/>
                        <a:ea typeface="Calibri"/>
                        <a:cs typeface="Calibri"/>
                        <a:sym typeface="Calibri"/>
                      </a:endParaRPr>
                    </a:p>
                  </a:txBody>
                  <a:tcPr marT="5525" marB="0" marR="5525" marL="5525" anchor="b"/>
                </a:tc>
              </a:tr>
              <a:tr h="651625">
                <a:tc>
                  <a:txBody>
                    <a:bodyPr/>
                    <a:lstStyle/>
                    <a:p>
                      <a:pPr indent="0" lvl="0" marL="0" marR="0" rtl="0" algn="l">
                        <a:lnSpc>
                          <a:spcPct val="100000"/>
                        </a:lnSpc>
                        <a:spcBef>
                          <a:spcPts val="0"/>
                        </a:spcBef>
                        <a:spcAft>
                          <a:spcPts val="0"/>
                        </a:spcAft>
                        <a:buNone/>
                      </a:pPr>
                      <a:r>
                        <a:rPr lang="en-US" sz="1800" u="none" cap="none" strike="noStrike"/>
                        <a:t>this is a text ENterED </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upper</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Converts text to uppercase.</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THIS IS A TEXT ENTERED </a:t>
                      </a:r>
                      <a:endParaRPr b="0" i="0" sz="1800" u="none" cap="none" strike="noStrike">
                        <a:solidFill>
                          <a:srgbClr val="000000"/>
                        </a:solidFill>
                        <a:latin typeface="Calibri"/>
                        <a:ea typeface="Calibri"/>
                        <a:cs typeface="Calibri"/>
                        <a:sym typeface="Calibri"/>
                      </a:endParaRPr>
                    </a:p>
                  </a:txBody>
                  <a:tcPr marT="5525" marB="0" marR="5525" marL="5525" anchor="b"/>
                </a:tc>
              </a:tr>
              <a:tr h="651625">
                <a:tc>
                  <a:txBody>
                    <a:bodyPr/>
                    <a:lstStyle/>
                    <a:p>
                      <a:pPr indent="0" lvl="0" marL="0" marR="0" rtl="0" algn="l">
                        <a:lnSpc>
                          <a:spcPct val="100000"/>
                        </a:lnSpc>
                        <a:spcBef>
                          <a:spcPts val="0"/>
                        </a:spcBef>
                        <a:spcAft>
                          <a:spcPts val="0"/>
                        </a:spcAft>
                        <a:buNone/>
                      </a:pPr>
                      <a:r>
                        <a:rPr lang="en-US" sz="1800" u="none" cap="none" strike="noStrike"/>
                        <a:t>This a TEXT Entered in </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lower</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Converts text to  lowerrcase.</a:t>
                      </a:r>
                      <a:endParaRPr b="0" i="0" sz="18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1800" u="none" cap="none" strike="noStrike"/>
                        <a:t>this a text entered in </a:t>
                      </a:r>
                      <a:endParaRPr b="0" i="0" sz="1800" u="none" cap="none" strike="noStrike">
                        <a:solidFill>
                          <a:srgbClr val="000000"/>
                        </a:solidFill>
                        <a:latin typeface="Calibri"/>
                        <a:ea typeface="Calibri"/>
                        <a:cs typeface="Calibri"/>
                        <a:sym typeface="Calibri"/>
                      </a:endParaRPr>
                    </a:p>
                  </a:txBody>
                  <a:tcPr marT="5525" marB="0" marR="5525" marL="5525" anchor="b"/>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23"/>
          <p:cNvSpPr txBox="1"/>
          <p:nvPr>
            <p:ph type="title"/>
          </p:nvPr>
        </p:nvSpPr>
        <p:spPr>
          <a:xfrm>
            <a:off x="695400" y="30591"/>
            <a:ext cx="10515600" cy="7596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a:t>Excel Functions </a:t>
            </a:r>
            <a:endParaRPr/>
          </a:p>
        </p:txBody>
      </p:sp>
      <p:sp>
        <p:nvSpPr>
          <p:cNvPr id="746" name="Google Shape;746;p1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t>216H03L602 Module 1 Jan -APril 2026</a:t>
            </a:r>
            <a:endParaRPr/>
          </a:p>
        </p:txBody>
      </p:sp>
      <p:sp>
        <p:nvSpPr>
          <p:cNvPr id="747" name="Google Shape;747;p1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en-US"/>
              <a:t>‹#›</a:t>
            </a:fld>
            <a:endParaRPr/>
          </a:p>
        </p:txBody>
      </p:sp>
      <p:graphicFrame>
        <p:nvGraphicFramePr>
          <p:cNvPr id="748" name="Google Shape;748;p123"/>
          <p:cNvGraphicFramePr/>
          <p:nvPr/>
        </p:nvGraphicFramePr>
        <p:xfrm>
          <a:off x="1415480" y="681084"/>
          <a:ext cx="3000000" cy="3000000"/>
        </p:xfrm>
        <a:graphic>
          <a:graphicData uri="http://schemas.openxmlformats.org/drawingml/2006/table">
            <a:tbl>
              <a:tblPr>
                <a:noFill/>
                <a:tableStyleId>{3C6EE7B5-BC37-42DC-A412-73184333C272}</a:tableStyleId>
              </a:tblPr>
              <a:tblGrid>
                <a:gridCol w="2190350"/>
                <a:gridCol w="1985000"/>
                <a:gridCol w="2881425"/>
                <a:gridCol w="1944225"/>
              </a:tblGrid>
              <a:tr h="686850">
                <a:tc>
                  <a:txBody>
                    <a:bodyPr/>
                    <a:lstStyle/>
                    <a:p>
                      <a:pPr indent="0" lvl="0" marL="0" marR="0" rtl="0" algn="ctr">
                        <a:lnSpc>
                          <a:spcPct val="100000"/>
                        </a:lnSpc>
                        <a:spcBef>
                          <a:spcPts val="0"/>
                        </a:spcBef>
                        <a:spcAft>
                          <a:spcPts val="0"/>
                        </a:spcAft>
                        <a:buNone/>
                      </a:pPr>
                      <a:r>
                        <a:rPr lang="en-US" sz="2000" u="none" cap="none" strike="noStrike"/>
                        <a:t>Original Data</a:t>
                      </a:r>
                      <a:endParaRPr b="1"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lang="en-US" sz="2000" u="none" cap="none" strike="noStrike"/>
                        <a:t>Name of the Function used</a:t>
                      </a:r>
                      <a:endParaRPr b="1"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lang="en-US" sz="2000" u="none" cap="none" strike="noStrike"/>
                        <a:t>Purpose</a:t>
                      </a:r>
                      <a:endParaRPr b="1"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ctr">
                        <a:lnSpc>
                          <a:spcPct val="100000"/>
                        </a:lnSpc>
                        <a:spcBef>
                          <a:spcPts val="0"/>
                        </a:spcBef>
                        <a:spcAft>
                          <a:spcPts val="0"/>
                        </a:spcAft>
                        <a:buNone/>
                      </a:pPr>
                      <a:r>
                        <a:rPr lang="en-US" sz="2000" u="none" cap="none" strike="noStrike"/>
                        <a:t>Result</a:t>
                      </a:r>
                      <a:endParaRPr b="1" i="0" sz="2000" u="none" cap="none" strike="noStrike">
                        <a:solidFill>
                          <a:srgbClr val="000000"/>
                        </a:solidFill>
                        <a:latin typeface="Calibri"/>
                        <a:ea typeface="Calibri"/>
                        <a:cs typeface="Calibri"/>
                        <a:sym typeface="Calibri"/>
                      </a:endParaRPr>
                    </a:p>
                  </a:txBody>
                  <a:tcPr marT="5525" marB="0" marR="5525" marL="5525" anchor="b"/>
                </a:tc>
              </a:tr>
              <a:tr h="1927600">
                <a:tc>
                  <a:txBody>
                    <a:bodyPr/>
                    <a:lstStyle/>
                    <a:p>
                      <a:pPr indent="0" lvl="0" marL="0" marR="0" rtl="0" algn="l">
                        <a:lnSpc>
                          <a:spcPct val="100000"/>
                        </a:lnSpc>
                        <a:spcBef>
                          <a:spcPts val="0"/>
                        </a:spcBef>
                        <a:spcAft>
                          <a:spcPts val="0"/>
                        </a:spcAft>
                        <a:buNone/>
                      </a:pPr>
                      <a:r>
                        <a:rPr lang="en-US" sz="2000" u="none" cap="none" strike="noStrike"/>
                        <a:t>123</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value</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Converts numbers stored as text into numeric format. Fixing calculation errors due to text-formatted numbers.</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r">
                        <a:lnSpc>
                          <a:spcPct val="100000"/>
                        </a:lnSpc>
                        <a:spcBef>
                          <a:spcPts val="0"/>
                        </a:spcBef>
                        <a:spcAft>
                          <a:spcPts val="0"/>
                        </a:spcAft>
                        <a:buNone/>
                      </a:pPr>
                      <a:r>
                        <a:rPr lang="en-US" sz="2000" u="none" cap="none" strike="noStrike"/>
                        <a:t>123</a:t>
                      </a:r>
                      <a:endParaRPr b="0" i="0" sz="2000" u="none" cap="none" strike="noStrike">
                        <a:solidFill>
                          <a:srgbClr val="000000"/>
                        </a:solidFill>
                        <a:latin typeface="Calibri"/>
                        <a:ea typeface="Calibri"/>
                        <a:cs typeface="Calibri"/>
                        <a:sym typeface="Calibri"/>
                      </a:endParaRPr>
                    </a:p>
                  </a:txBody>
                  <a:tcPr marT="5525" marB="0" marR="5525" marL="5525" anchor="b"/>
                </a:tc>
              </a:tr>
              <a:tr h="1285075">
                <a:tc>
                  <a:txBody>
                    <a:bodyPr/>
                    <a:lstStyle/>
                    <a:p>
                      <a:pPr indent="0" lvl="0" marL="0" marR="0" rtl="0" algn="l">
                        <a:lnSpc>
                          <a:spcPct val="100000"/>
                        </a:lnSpc>
                        <a:spcBef>
                          <a:spcPts val="0"/>
                        </a:spcBef>
                        <a:spcAft>
                          <a:spcPts val="0"/>
                        </a:spcAft>
                        <a:buNone/>
                      </a:pPr>
                      <a:r>
                        <a:rPr lang="en-US" sz="2000" u="none" cap="none" strike="noStrike"/>
                        <a:t>13-01-2026</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datevalue</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Dates are stored as text, so Excel cannot sort or calculate with them.</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r">
                        <a:lnSpc>
                          <a:spcPct val="100000"/>
                        </a:lnSpc>
                        <a:spcBef>
                          <a:spcPts val="0"/>
                        </a:spcBef>
                        <a:spcAft>
                          <a:spcPts val="0"/>
                        </a:spcAft>
                        <a:buNone/>
                      </a:pPr>
                      <a:r>
                        <a:rPr lang="en-US" sz="2000" u="none" cap="none" strike="noStrike"/>
                        <a:t>46035</a:t>
                      </a:r>
                      <a:endParaRPr b="0" i="0" sz="2000" u="none" cap="none" strike="noStrike">
                        <a:solidFill>
                          <a:srgbClr val="000000"/>
                        </a:solidFill>
                        <a:latin typeface="Calibri"/>
                        <a:ea typeface="Calibri"/>
                        <a:cs typeface="Calibri"/>
                        <a:sym typeface="Calibri"/>
                      </a:endParaRPr>
                    </a:p>
                  </a:txBody>
                  <a:tcPr marT="5525" marB="0" marR="5525" marL="5525" anchor="b"/>
                </a:tc>
              </a:tr>
              <a:tr h="1285075">
                <a:tc>
                  <a:txBody>
                    <a:bodyPr/>
                    <a:lstStyle/>
                    <a:p>
                      <a:pPr indent="0" lvl="0" marL="0" marR="0" rtl="0" algn="l">
                        <a:lnSpc>
                          <a:spcPct val="100000"/>
                        </a:lnSpc>
                        <a:spcBef>
                          <a:spcPts val="0"/>
                        </a:spcBef>
                        <a:spcAft>
                          <a:spcPts val="0"/>
                        </a:spcAft>
                        <a:buNone/>
                      </a:pPr>
                      <a:r>
                        <a:rPr lang="en-US" sz="2000" u="none" cap="none" strike="noStrike"/>
                        <a:t>entered 0 as year, 4 as month and 3 as day in three different columns</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date </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l">
                        <a:lnSpc>
                          <a:spcPct val="100000"/>
                        </a:lnSpc>
                        <a:spcBef>
                          <a:spcPts val="0"/>
                        </a:spcBef>
                        <a:spcAft>
                          <a:spcPts val="0"/>
                        </a:spcAft>
                        <a:buNone/>
                      </a:pPr>
                      <a:r>
                        <a:rPr lang="en-US" sz="2000" u="none" cap="none" strike="noStrike"/>
                        <a:t>Converts numers stored as year, month and day format into one date format</a:t>
                      </a:r>
                      <a:endParaRPr b="0" i="0" sz="2000" u="none" cap="none" strike="noStrike">
                        <a:solidFill>
                          <a:srgbClr val="000000"/>
                        </a:solidFill>
                        <a:latin typeface="Calibri"/>
                        <a:ea typeface="Calibri"/>
                        <a:cs typeface="Calibri"/>
                        <a:sym typeface="Calibri"/>
                      </a:endParaRPr>
                    </a:p>
                  </a:txBody>
                  <a:tcPr marT="5525" marB="0" marR="5525" marL="5525" anchor="b"/>
                </a:tc>
                <a:tc>
                  <a:txBody>
                    <a:bodyPr/>
                    <a:lstStyle/>
                    <a:p>
                      <a:pPr indent="0" lvl="0" marL="0" marR="0" rtl="0" algn="r">
                        <a:lnSpc>
                          <a:spcPct val="100000"/>
                        </a:lnSpc>
                        <a:spcBef>
                          <a:spcPts val="0"/>
                        </a:spcBef>
                        <a:spcAft>
                          <a:spcPts val="0"/>
                        </a:spcAft>
                        <a:buNone/>
                      </a:pPr>
                      <a:r>
                        <a:rPr lang="en-US" sz="2000" u="none" cap="none" strike="noStrike"/>
                        <a:t>03-04-1900</a:t>
                      </a:r>
                      <a:endParaRPr b="0" i="0" sz="2000" u="none" cap="none" strike="noStrike">
                        <a:solidFill>
                          <a:srgbClr val="000000"/>
                        </a:solidFill>
                        <a:latin typeface="Calibri"/>
                        <a:ea typeface="Calibri"/>
                        <a:cs typeface="Calibri"/>
                        <a:sym typeface="Calibri"/>
                      </a:endParaRPr>
                    </a:p>
                  </a:txBody>
                  <a:tcPr marT="5525" marB="0" marR="5525" marL="5525" anchor="b"/>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2022-08-02T15:22:50Z</dcterms:created>
  <dc:creator>Microsoft Office User</dc:creator>
</cp:coreProperties>
</file>