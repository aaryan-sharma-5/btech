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2.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ink/ink3.xml" ContentType="application/inkml+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ink/ink4.xml" ContentType="application/inkml+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ink/ink5.xml" ContentType="application/inkml+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ink/ink6.xml" ContentType="application/inkml+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1" r:id="rId2"/>
  </p:sldMasterIdLst>
  <p:notesMasterIdLst>
    <p:notesMasterId r:id="rId8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347"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40" r:id="rId49"/>
    <p:sldId id="341" r:id="rId50"/>
    <p:sldId id="301" r:id="rId51"/>
    <p:sldId id="302" r:id="rId52"/>
    <p:sldId id="303" r:id="rId53"/>
    <p:sldId id="304" r:id="rId54"/>
    <p:sldId id="342" r:id="rId55"/>
    <p:sldId id="305" r:id="rId56"/>
    <p:sldId id="307" r:id="rId57"/>
    <p:sldId id="312" r:id="rId58"/>
    <p:sldId id="348" r:id="rId59"/>
    <p:sldId id="313" r:id="rId60"/>
    <p:sldId id="314" r:id="rId61"/>
    <p:sldId id="315" r:id="rId62"/>
    <p:sldId id="316" r:id="rId63"/>
    <p:sldId id="317" r:id="rId64"/>
    <p:sldId id="318" r:id="rId65"/>
    <p:sldId id="319" r:id="rId66"/>
    <p:sldId id="320" r:id="rId67"/>
    <p:sldId id="321" r:id="rId68"/>
    <p:sldId id="322" r:id="rId69"/>
    <p:sldId id="323" r:id="rId70"/>
    <p:sldId id="345" r:id="rId71"/>
    <p:sldId id="324" r:id="rId72"/>
    <p:sldId id="325" r:id="rId73"/>
    <p:sldId id="326" r:id="rId74"/>
    <p:sldId id="327" r:id="rId75"/>
    <p:sldId id="328" r:id="rId76"/>
    <p:sldId id="329" r:id="rId77"/>
    <p:sldId id="330" r:id="rId78"/>
    <p:sldId id="331" r:id="rId79"/>
    <p:sldId id="332" r:id="rId80"/>
    <p:sldId id="338" r:id="rId81"/>
    <p:sldId id="339" r:id="rId82"/>
    <p:sldId id="333" r:id="rId83"/>
    <p:sldId id="334" r:id="rId84"/>
    <p:sldId id="335" r:id="rId85"/>
    <p:sldId id="336" r:id="rId86"/>
    <p:sldId id="337" r:id="rId87"/>
    <p:sldId id="346" r:id="rId88"/>
  </p:sldIdLst>
  <p:sldSz cx="12188825" cy="6858000"/>
  <p:notesSz cx="9309100" cy="6954838"/>
  <p:custDataLst>
    <p:tags r:id="rId90"/>
  </p:custDataLst>
  <p:defaultTextStyle>
    <a:defPPr marR="0" algn="l" rtl="0">
      <a:lnSpc>
        <a:spcPct val="100000"/>
      </a:lnSpc>
      <a:spcBef>
        <a:spcPts val="0"/>
      </a:spcBef>
      <a:spcAft>
        <a:spcPts val="0"/>
      </a:spcAft>
    </a:defPPr>
    <a:lvl1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976" y="32"/>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gs" Target="tags/tag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08-20T07:41:33.318"/>
    </inkml:context>
    <inkml:brush xml:id="br0">
      <inkml:brushProperty name="width" value="0.05292" units="cm"/>
      <inkml:brushProperty name="height" value="0.05292" units="cm"/>
      <inkml:brushProperty name="color" value="#FF0000"/>
    </inkml:brush>
  </inkml:definitions>
  <inkml:trace contextRef="#ctx0" brushRef="#br0">27855 15230</inkml:trace>
  <inkml:trace contextRef="#ctx0" brushRef="#br0" timeOffset="638.95">27855 15230</inkml:trace>
  <inkml:trace contextRef="#ctx0" brushRef="#br0" timeOffset="756.94">27855 15230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08-20T07:52:22.342"/>
    </inkml:context>
    <inkml:brush xml:id="br0">
      <inkml:brushProperty name="width" value="0.05292" units="cm"/>
      <inkml:brushProperty name="height" value="0.05292" units="cm"/>
      <inkml:brushProperty name="color" value="#FF0000"/>
    </inkml:brush>
  </inkml:definitions>
  <inkml:trace contextRef="#ctx0" brushRef="#br0">26590 18207</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0-08-26T08:03:40.346"/>
    </inkml:context>
    <inkml:brush xml:id="br0">
      <inkml:brushProperty name="width" value="0.05292" units="cm"/>
      <inkml:brushProperty name="height" value="0.05292" units="cm"/>
      <inkml:brushProperty name="color" value="#FF0000"/>
    </inkml:brush>
  </inkml:definitions>
  <inkml:trace contextRef="#ctx0" brushRef="#br0">12788 17488 337,'0'0'57,"0"0"-56,0 0 32,0 0 31,0 0-5,0 0-23,0 0-13,0 0-1,-69-22-9,63 13 9,-4 4 1,-5-2 6,-1-2-12,-1 5-3,-4-3 11,1 0-3,-2 2-3,2 1-6,-5-4-13,-6 6 2,-2 2-5,-5 0 6,-3 0-1,-1 0 3,-4 0 0,-8 0-3,3 0 1,-5 0-3,-2 2 6,0 5 0,-5-6 6,13 3-12,-4 1 1,0 4 0,3-4 0,-4-1 1,-3 5 0,-5-2 2,3-5 9,0 6-10,-5 1-1,7-4 6,5 7-1,1-6-6,4-2 4,-2 4-3,6 1-2,-3 3 0,-5-1 0,4 1 5,-2-6 5,6-1-10,1 0 1,1-1 8,-3-1-5,3 2 3,-7-1-3,0 1-2,2 0 3,-1-1 6,-2 10-2,5-5 12,1 3-12,0 7-9,3-1 3,1 3-3,5-2 3,-4 1 0,10-1-3,1-5 0,1 4 8,5-4-6,-1 4-2,1 0 1,-2 4 1,6-4-2,-3 0 0,8 4 0,-3-4 0,3 3 0,-3 2-1,3 3 1,0 2 3,4-1 0,-2-1-3,7 1 0,-3-5 4,2 0-3,-2 2 0,5-3-2,2 1 1,-2 2 0,-4-2 0,-1 4 1,-5-3 1,8 1-2,-7 5 3,7 1 0,-8 3 7,1-4-2,3 5-7,-2 0 9,-1-3-10,5 3-5,2-8 5,-4-4 5,6-4-5,0 0-5,2-2 5,-2-2 5,2-5-5,0 0-5,0 3 5,0-1 0,0-4 0,0-2 0,0 4 0,2-5-1,2 3 1,-2 0 0,8 0 3,-4 0 0,5 3 0,1-6-2,1 10-1,3-5 0,1-2 0,4 3 0,1-1 1,0-2-1,0-1 0,5 8 0,0-6-1,0 3 1,2-4-1,2 2-2,0-1 3,11-3-1,-2 8-17,3-8 17,3 6-5,4-6 3,1 2 0,2 1-6,5-4 2,4-2-1,8-2-5,-1 0 12,2 0-4,3 0-14,6 0 18,0-2 0,1-10-5,-6 5 6,-4 2 0,1-6-3,-3 7 3,2-5-1,3 0 1,4-4 0,-2 4 0,-3-5 0,-1 5-1,-5-4-4,-3 3 4,1-2 2,-3 2 1,-4-3-1,2-4-1,7-3 0,3-6 1,3-4-1,0-2 0,-1 2 19,-5 2-18,-11-2 5,-8-3-2,-3 6 0,-11-8 1,-3 0 18,-4-6-16,-3-8 7,5-4-4,-2-10-3,7 0-4,-11-4 4,2 9-5,-11 4 5,-5 11 6,-7 6-8,-2 1 9,0 2-11,0 2 14,0-3-6,-7 1-5,-7 0-5,6 2 7,-7 3-1,-6-4 8,-6 3-6,3-6 4,-10-4 1,1-2-1,0-6-3,-3-1-7,7 10 2,-2-2-5,-2 5-2,-1 2-8,3 4 7,0 4-4,2 5-13,0 6-20,-2 3-10,-3 7-47,-4 5-78,-9 0-144</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08-26T08:27:51.834"/>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1" timeString="2020-08-26T08:28:00.112"/>
    </inkml:context>
  </inkml:definitions>
  <inkml:trace contextRef="#ctx0" brushRef="#br0">20935 7863,'25'0,"-1"0,1 0,0 0,0 0,0 25,-1-25,26 25,24-25,-24 24,-25-24,0 0,49 0,-24 0,-25 0,-25 25,-50-25,-25 0,51 0,-1 0,0 0,-49 25,49-25,0 0,0 0,0 0,1 0,-26 0,25 0,0 0,50 0,0 0,0 0</inkml:trace>
  <inkml:trace contextRef="#ctx1" brushRef="#br0">13000 10957 313,'0'0'51,"0"0"-44,0 0 14,0 0 37,0 0-19,0 0-19,0 0-7,-9-2 16,9 2-3,0 0-3,0 0-7,0 0 2,0 0 8,-2 0 11,2 0-16,0 0-1,-2 0-2,2 0-6,0 0-5,0 0-2,0 0-1,0 0-4,0 0-4,0 0 4,4 0-5,18 0 11,2-2-3,10-1-2,-1-1-1,8 1 0,3-4-1,3 1 1,7 1-1,-8-2 1,4 3 2,-6-1-2,-9 2-4,6 1 4,-5 0 0,1-3 0,6-2 0,8 2-1,0-3 1,3 2-2,-1-1 4,-4-1-4,3 3 3,-6 2-1,1-5 0,2 4 0,-4 2 1,-3 0-1,1 0 0,1 0 0,1 2 1,-1 0 3,-4 0-4,-9 0 0,-2 0-1,0 0 2,-4 0 5,-7 0-5,-5 0-1,1 0 0,-3 0 1,0 0 20,-4 0-8,-3 0-2,1 0 1,-3 0-9,-2 0 1,0 0 0,0 0 4,0 0-5,0 0 2,0 0-5,0 0-2,0 0-12,0 0-41,0 0-21,-2 2-114,-19 14-114</inkml:trace>
  <inkml:trace contextRef="#ctx1" brushRef="#br0" timeOffset="1658.48">13357 13668 285,'0'0'80,"0"0"-61,0 0 23,0 0 18,0 0-27,0 0-33,0 0 0,0 0 0,0 0 0,4-2 3,7-1 21,5 2 17,1-2-4,1 3-17,9 0-5,2 0-5,2 0 23,9 0-18,3 0-15,1 0 1,10 0-3,2 0 2,2 3 0,2-3 0,-3 0 0,9 0 8,-4-3-8,5-6 6,2-3 8,2 0 2,3 1-9,3 0-3,2 4 10,-6-1-10,-11 6-4,-4-2-1,-15 3-7,-7-1 1,-7 0-4,-7-5 10,-2 5-4,-2 1 1,-1-3-1,-1-1 6,7 1-1,-4 0 4,-3 2 2,5 0-4,-11 2 1,1 0-3,1 0-5,-10 0 5,0 0 0,-2 0 0,0 0 9,0 0 10,0 0 9,0 0-11,0 0 0,0 0-3,0 0 4,0 0-1,0 0-6,0 0-7,0 0 0,0 0-4,0 0 0,0 0-1,0 0-15,0 0-31,0 0-37,0 0-88,-2 0-100</inkml:trace>
  <inkml:trace contextRef="#ctx1" brushRef="#br0" timeOffset="7808.57">28546 16270 252,'0'0'56,"0"0"-52,0 0 2,0 0 16,0 0 20,0 0 5,0 0-4,58 9-7,-58-9 18,0 0-6,0 0-10,0 0-8,0 0-22,0 0-8,0 0 1,0 0-1,6 4 0,7-3 5,10 10-4,10-6 9,12 6 1,11-2 11,11 0-12,4 3-8,1-2-1,-1-3-1,0 0 0,-9 1 0,5-6 1,-9 0 18,0-2-4,-4 0-3,-9 0 8,-3 0 8,-9 0-10,-6 0 4,-7 0-7,-7-2-8,-6 2-1,-5-2-2,-2 2-2,0 0-2,0 0-12,0 0-34,0 0-56,0 0-83,-22 8 28</inkml:trace>
  <inkml:trace contextRef="#ctx1" brushRef="#br0" timeOffset="9343.91">8651 17302 390,'0'0'51,"0"0"-51,0 0 1,0 0-1,0 0 0,0 0 0,15 0 6,-5 0 11,-2 0 27,5 0-8,3 0-2,5 0 14,2 0-24,18 0-8,3-5 7,19-2 1,11-4-20,12 7 2,13-1-6,7-2 2,10 2 3,11-2-5,2 0 5,6-4-9,-6-1 9,-13 3-10,-12 0 9,-15 1-4,-8 8 0,-19-4-7,-8-1 5,-21 0 2,-10 1 0,-12 4 2,-9 0 0,-2 0-3,0 0 1,0 0-9,2 0-80,4 0-81,6 0-288</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0-08-28T10:09:23.599"/>
    </inkml:context>
    <inkml:brush xml:id="br0">
      <inkml:brushProperty name="width" value="0.05292" units="cm"/>
      <inkml:brushProperty name="height" value="0.05292" units="cm"/>
      <inkml:brushProperty name="color" value="#FF0000"/>
    </inkml:brush>
  </inkml:definitions>
  <inkml:trace contextRef="#ctx0" brushRef="#br0">3397 4217 212,'0'0'46,"0"0"-41,0 0 6,0 0-4,0 0 14,0 0 1,0 0 3,6-32 36,-6 32-13,0 0-28,0 0-11,0 0-4,0 0 3,0 0-7,0 0 14,0 0 4,0 0 7,0 0 10,0 0-3,0 0-8,0 0-11,2-3-1,3 1-2,1-5-11,2 2 0,5 0 0,5-4-1,7 5 1,6 0-2,6 0 1,5 3 2,8 1-2,8-4 0,6 4 0,10 0-6,8 0 6,5 0 1,-2 0 0,-3 0-1,-1 0-11,-5 4 3,-3 0 7,-2 1-10,-3-1 12,-4 2-2,-1-3-5,-1-2 7,0 2 4,7-2-4,-2 2-4,-3-1 2,2-2 4,-6 2-4,-5-2 5,-3 0 0,-5 0-3,-5 0-6,2 0 6,-1 0 0,-3 0 0,-3 0 0,0 0 2,-4 0-2,-2 0 0,-2 0-3,-2 0 3,-3 0 0,-4 0 0,1 0 0,-6 0 0,-1 0 3,-1 0-1,-5 0 3,0 0 0,-6 0 14,0 0-19,-2 0 4,0 0-1,0 0 9,0 0 19,0 0-9,0 0 9,0 0-6,0 0-9,0 0-4,0 0 1,0 0 7,0 0 3,0 0-11,0 0-10,0 0-2,0 0 0,0 0-5,0 0-39,0 0-20,0 7-42,0-2-85,0-3-15</inkml:trace>
  <inkml:trace contextRef="#ctx0" brushRef="#br0" timeOffset="2926.9">4850 8671 305,'0'0'41,"0"0"26,0 0-31,0 0-6,0 0 2,0 0-2,0 0 3,0 0 1,0 0-13,3 0-4,5 0 4,3 0-9,3 0-9,8 0 10,4 0 8,9 0-6,4 0-6,11-7-9,5 6-1,7 1 1,8 0 0,1 0 1,5 0-1,2 0 0,4 0 1,8 8-1,5-3 7,17 0-7,9-5 0,16 0-1,15 0 1,4 0-3,2 0-1,-11 0 2,-13 0 2,-21 0-4,-18 12 0,-20-2-20,-17-1 3,-8 0 13,-13 1 2,-1-5 2,-5 2 3,0-1 1,0-4 0,-2 3 1,7-5 2,-1 2-2,-1 1 7,-5 1-8,-7 1 0,-6-2 0,-3 1 0,-6-2-1,-3 0 1,-4-2 0,0 1 0,0-1 0,0 0 2,0 0 19,0 0 24,0 0-7,0 0-16,0 0 6,0 0-18,0 0-10,0 0-4,0 0 4,0 0-1,0 0-22,0 0-15,0 0-8,0 7-49,0-2-26,-11 0-33,-18-5-32</inkml:trace>
  <inkml:trace contextRef="#ctx0" brushRef="#br0" timeOffset="4470.06">4020 14650 292,'0'0'34,"0"0"17,0 0-11,0 0-18,0 0-1,0 0 22,0 0-6,19-34 13,-9 26 4,2 1-9,1 4-9,8 1-7,5-2-6,12 4 31,16 0-4,19 0-5,18 0-33,17 0 8,12 8-16,11-1 1,10 0-4,3-1-1,6-2-1,-5 0 1,2-4 1,-2 0-1,-5 0 0,-1 0 3,-6 0-3,-10 0-2,-14 0-4,-13 0 3,-25 0 0,-19 0 2,-17 0 1,-10 0 0,-5-2 0,0-2 1,0-2 1,7 0 3,-2 0 1,-4 3-5,2 3-2,-5 0 2,-3 0-2,1 0 2,-5 0-3,-5-1 4,2 1-4,-6 0 2,0 0 0,-2 0 4,0 0 5,0-2-1,0 2 7,0 0-13,0 0 6,0 0-8,0 0 0,0 0-14,0 0-37,0 0-47,0 0-36,0 0-63,0-8-76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0-08-28T10:11:03.370"/>
    </inkml:context>
    <inkml:brush xml:id="br0">
      <inkml:brushProperty name="width" value="0.05292" units="cm"/>
      <inkml:brushProperty name="height" value="0.05292" units="cm"/>
      <inkml:brushProperty name="color" value="#FF0000"/>
    </inkml:brush>
  </inkml:definitions>
  <inkml:trace contextRef="#ctx0" brushRef="#br0">2463 5332 207,'0'0'67,"0"0"-43,0 0-18,0 0 9,0 0 11,0 0-2,0 0 1,0 0-9,0-27 2,0 27 19,-3 0-22,3 0-3,0 0 9,0 0-12,-2 0-2,2 0 6,0 0-4,0 0 5,0 0 2,0 0-2,0 0 2,0 0 2,0 0-10,0 0 0,0 0-7,0 0-1,0 0-1,5 0 1,19-1 0,16-1 4,12 2 6,12 0-3,9 0 0,6 0-7,-3 0-2,-3 0 2,0 0-1,-1 0 2,6 0-1,-6 0 1,-6 0-1,-5 0 0,-13 0 5,-1 0-5,-7 2 0,1-1 1,-3 1-1,-3 1 0,-2-1-4,1 0 4,1 1 4,2-3-4,0 0 0,3 0 2,3 0-2,1 0 0,4 3-2,-2-3 2,-1 0-4,-3 0 4,-4 0 4,-3 0-4,-6 0 4,-2 0-5,-7 0 1,3 0 0,-2 0 0,6 0-3,2 0 5,9 0-2,7 0 9,1 0-9,4 0 0,-1 0 3,-5 0-3,1 0 1,-3 2-9,-4 0 15,3-1-9,-6 2 2,7-3-6,-2 0 6,1 1 0,-6 2 0,1-3-2,-5 2 4,-2 1-2,-2 0 4,-4-3-8,-2 0 4,-3 0 0,1 0 0,-2 0 0,1 0 1,-3 0 3,3 0-4,1 0 1,-2 2 1,-1 0-2,1 0 1,-3-2 0,-3 0 1,-5 2-2,-1-2 6,0 0-1,-3 0 2,-2 0 9,2 0 6,-2 0-1,0 0 0,0 0 1,0 0-17,0 0 3,0 0-3,0 0-5,0 0-5,0 0-28,0 1-48,0 4-119,0-5-49</inkml:trace>
  <inkml:trace contextRef="#ctx0" brushRef="#br0" timeOffset="13598.16">1275 6679 48,'0'0'116,"0"0"-38,0 0-24,0 0-23,0 0-8,0 0-3,0 0 2,0 0-22,-32 0 0,26 0-1,-2 0-1,0 0-3,-1 5-2,3-2-2,-2 5 7,2-1-13,-1-4 9,1 1 0,4 0 1,0-4 1,2 0 2,0 0 2,0 0 0,0 0 30,0 0-6,0 0 3,0 0 3,0 0 3,0 0-4,15-5-4,18-16-15,25-9 1,16-12 8,15-7 28,3 6-16,-10 5-18,-6 7-12,-14 5-1,-8 7 0,-12 5 0,-9 3-24,-8 11-33,-10 0 0,-5 0-4,-6 16-39,-4 19 37,-12 4 31,-21 7-78</inkml:trace>
  <inkml:trace contextRef="#ctx0" brushRef="#br0" timeOffset="13823.57">1562 6858 182,'0'0'123,"0"0"-57,0 0-9,0 0-6,0 0-17,0 0 5,180-133 13,-101 87 6,-6 3-38,-5 8-16,-11 12-1,-8 4-3,-9 6-9,-6 12-36,-8 1-25,-3 0 6,-5 1-59,-7 12 38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0" y="0"/>
            <a:ext cx="4033837" cy="347662"/>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3" name="Shape 3"/>
          <p:cNvSpPr txBox="1">
            <a:spLocks noGrp="1"/>
          </p:cNvSpPr>
          <p:nvPr>
            <p:ph type="dt" idx="10"/>
          </p:nvPr>
        </p:nvSpPr>
        <p:spPr>
          <a:xfrm>
            <a:off x="5273675" y="0"/>
            <a:ext cx="4033837" cy="347662"/>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4" name="Shape 4"/>
          <p:cNvSpPr>
            <a:spLocks noGrp="1" noRot="1" noChangeAspect="1"/>
          </p:cNvSpPr>
          <p:nvPr>
            <p:ph type="sldImg" idx="3"/>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w="9525" cap="rnd" cmpd="sng">
            <a:solidFill>
              <a:srgbClr val="000000"/>
            </a:solidFill>
            <a:prstDash val="solid"/>
            <a:miter/>
            <a:headEnd type="none" w="med" len="med"/>
            <a:tailEnd type="none" w="med" len="med"/>
          </a:ln>
        </p:spPr>
      </p:sp>
      <p:sp>
        <p:nvSpPr>
          <p:cNvPr id="5" name="Shape 5"/>
          <p:cNvSpPr txBox="1">
            <a:spLocks noGrp="1"/>
          </p:cNvSpPr>
          <p:nvPr>
            <p:ph type="body" idx="1"/>
          </p:nvPr>
        </p:nvSpPr>
        <p:spPr>
          <a:xfrm>
            <a:off x="930275" y="3303587"/>
            <a:ext cx="7448550" cy="3128962"/>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6" name="Shape 6"/>
          <p:cNvSpPr txBox="1">
            <a:spLocks noGrp="1"/>
          </p:cNvSpPr>
          <p:nvPr>
            <p:ph type="ftr" idx="11"/>
          </p:nvPr>
        </p:nvSpPr>
        <p:spPr>
          <a:xfrm>
            <a:off x="0" y="6605586"/>
            <a:ext cx="4033837" cy="347662"/>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7" name="Shape 7"/>
          <p:cNvSpPr txBox="1">
            <a:spLocks noGrp="1"/>
          </p:cNvSpPr>
          <p:nvPr>
            <p:ph type="sldNum" idx="12"/>
          </p:nvPr>
        </p:nvSpPr>
        <p:spPr>
          <a:xfrm>
            <a:off x="5273675" y="6605586"/>
            <a:ext cx="4033837" cy="347662"/>
          </a:xfrm>
          <a:prstGeom prst="rect">
            <a:avLst/>
          </a:prstGeom>
          <a:noFill/>
          <a:ln>
            <a:noFill/>
          </a:ln>
        </p:spPr>
        <p:txBody>
          <a:bodyPr lIns="91425" tIns="91425" rIns="91425" bIns="91425" anchor="b" anchorCtr="0">
            <a:noAutofit/>
          </a:bodyPr>
          <a:lstStyle/>
          <a:p>
            <a:pPr marL="0" lvl="0" indent="-88900">
              <a:spcBef>
                <a:spcPts val="0"/>
              </a:spcBef>
              <a:buClr>
                <a:srgbClr val="000000"/>
              </a:buClr>
              <a:buFont typeface="Arial"/>
              <a:buChar char="●"/>
            </a:pPr>
            <a:endParaRPr sz="1200" b="0" i="0" u="none" strike="noStrike" cap="none" baseline="0"/>
          </a:p>
          <a:p>
            <a:pPr lvl="1">
              <a:spcBef>
                <a:spcPts val="0"/>
              </a:spcBef>
              <a:buClr>
                <a:srgbClr val="000000"/>
              </a:buClr>
              <a:buFont typeface="Courier New"/>
              <a:buChar char="o"/>
            </a:pPr>
            <a:endParaRPr/>
          </a:p>
          <a:p>
            <a:pPr lvl="2">
              <a:spcBef>
                <a:spcPts val="0"/>
              </a:spcBef>
              <a:buClr>
                <a:srgbClr val="000000"/>
              </a:buClr>
              <a:buFont typeface="Wingdings"/>
              <a:buChar char="§"/>
            </a:pPr>
            <a:endParaRPr/>
          </a:p>
          <a:p>
            <a:pPr lvl="3">
              <a:spcBef>
                <a:spcPts val="0"/>
              </a:spcBef>
              <a:buClr>
                <a:srgbClr val="000000"/>
              </a:buClr>
              <a:buFont typeface="Arial"/>
              <a:buChar char="●"/>
            </a:pPr>
            <a:endParaRPr/>
          </a:p>
          <a:p>
            <a:pPr lvl="4">
              <a:spcBef>
                <a:spcPts val="0"/>
              </a:spcBef>
              <a:buClr>
                <a:srgbClr val="000000"/>
              </a:buClr>
              <a:buFont typeface="Courier New"/>
              <a:buChar char="o"/>
            </a:pPr>
            <a:endParaRPr/>
          </a:p>
          <a:p>
            <a:pPr lvl="5">
              <a:spcBef>
                <a:spcPts val="0"/>
              </a:spcBef>
              <a:buClr>
                <a:srgbClr val="000000"/>
              </a:buClr>
              <a:buFont typeface="Wingdings"/>
              <a:buChar char="§"/>
            </a:pPr>
            <a:endParaRPr/>
          </a:p>
          <a:p>
            <a:pPr lvl="6">
              <a:spcBef>
                <a:spcPts val="0"/>
              </a:spcBef>
              <a:buClr>
                <a:srgbClr val="000000"/>
              </a:buClr>
              <a:buFont typeface="Arial"/>
              <a:buChar char="●"/>
            </a:pPr>
            <a:endParaRPr/>
          </a:p>
          <a:p>
            <a:pPr lvl="7">
              <a:spcBef>
                <a:spcPts val="0"/>
              </a:spcBef>
              <a:buClr>
                <a:srgbClr val="000000"/>
              </a:buClr>
              <a:buFont typeface="Courier New"/>
              <a:buChar char="o"/>
            </a:pPr>
            <a:endParaRPr/>
          </a:p>
          <a:p>
            <a:pPr lvl="8">
              <a:spcBef>
                <a:spcPts val="0"/>
              </a:spcBef>
              <a:buClr>
                <a:srgbClr val="000000"/>
              </a:buClr>
              <a:buFont typeface="Wingdings"/>
              <a:buChar char="§"/>
            </a:pPr>
            <a:endParaRPr/>
          </a:p>
        </p:txBody>
      </p:sp>
    </p:spTree>
    <p:extLst>
      <p:ext uri="{BB962C8B-B14F-4D97-AF65-F5344CB8AC3E}">
        <p14:creationId xmlns:p14="http://schemas.microsoft.com/office/powerpoint/2010/main" val="1613585530"/>
      </p:ext>
    </p:extLst>
  </p:cSld>
  <p:clrMap bg1="lt1" tx1="dk1" bg2="dk2" tx2="lt2" accent1="accent1" accent2="accent2" accent3="accent3" accent4="accent4" accent5="accent5" accent6="accent6" hlink="hlink" folHlink="folHlink"/>
  <p:notesStyle>
    <a:lvl1pPr marL="0" algn="l" defTabSz="1103681" rtl="0" eaLnBrk="1" latinLnBrk="0" hangingPunct="1">
      <a:defRPr sz="1400" kern="1200">
        <a:solidFill>
          <a:schemeClr val="tx1"/>
        </a:solidFill>
        <a:latin typeface="+mn-lt"/>
        <a:ea typeface="+mn-ea"/>
        <a:cs typeface="+mn-cs"/>
      </a:defRPr>
    </a:lvl1pPr>
    <a:lvl2pPr marL="551840" algn="l" defTabSz="1103681" rtl="0" eaLnBrk="1" latinLnBrk="0" hangingPunct="1">
      <a:defRPr sz="1400" kern="1200">
        <a:solidFill>
          <a:schemeClr val="tx1"/>
        </a:solidFill>
        <a:latin typeface="+mn-lt"/>
        <a:ea typeface="+mn-ea"/>
        <a:cs typeface="+mn-cs"/>
      </a:defRPr>
    </a:lvl2pPr>
    <a:lvl3pPr marL="1103681" algn="l" defTabSz="1103681" rtl="0" eaLnBrk="1" latinLnBrk="0" hangingPunct="1">
      <a:defRPr sz="1400" kern="1200">
        <a:solidFill>
          <a:schemeClr val="tx1"/>
        </a:solidFill>
        <a:latin typeface="+mn-lt"/>
        <a:ea typeface="+mn-ea"/>
        <a:cs typeface="+mn-cs"/>
      </a:defRPr>
    </a:lvl3pPr>
    <a:lvl4pPr marL="1655521" algn="l" defTabSz="1103681" rtl="0" eaLnBrk="1" latinLnBrk="0" hangingPunct="1">
      <a:defRPr sz="1400" kern="1200">
        <a:solidFill>
          <a:schemeClr val="tx1"/>
        </a:solidFill>
        <a:latin typeface="+mn-lt"/>
        <a:ea typeface="+mn-ea"/>
        <a:cs typeface="+mn-cs"/>
      </a:defRPr>
    </a:lvl4pPr>
    <a:lvl5pPr marL="2207362" algn="l" defTabSz="1103681" rtl="0" eaLnBrk="1" latinLnBrk="0" hangingPunct="1">
      <a:defRPr sz="1400" kern="1200">
        <a:solidFill>
          <a:schemeClr val="tx1"/>
        </a:solidFill>
        <a:latin typeface="+mn-lt"/>
        <a:ea typeface="+mn-ea"/>
        <a:cs typeface="+mn-cs"/>
      </a:defRPr>
    </a:lvl5pPr>
    <a:lvl6pPr marL="2759202" algn="l" defTabSz="1103681" rtl="0" eaLnBrk="1" latinLnBrk="0" hangingPunct="1">
      <a:defRPr sz="1400" kern="1200">
        <a:solidFill>
          <a:schemeClr val="tx1"/>
        </a:solidFill>
        <a:latin typeface="+mn-lt"/>
        <a:ea typeface="+mn-ea"/>
        <a:cs typeface="+mn-cs"/>
      </a:defRPr>
    </a:lvl6pPr>
    <a:lvl7pPr marL="3311042" algn="l" defTabSz="1103681" rtl="0" eaLnBrk="1" latinLnBrk="0" hangingPunct="1">
      <a:defRPr sz="1400" kern="1200">
        <a:solidFill>
          <a:schemeClr val="tx1"/>
        </a:solidFill>
        <a:latin typeface="+mn-lt"/>
        <a:ea typeface="+mn-ea"/>
        <a:cs typeface="+mn-cs"/>
      </a:defRPr>
    </a:lvl7pPr>
    <a:lvl8pPr marL="3862883" algn="l" defTabSz="1103681" rtl="0" eaLnBrk="1" latinLnBrk="0" hangingPunct="1">
      <a:defRPr sz="1400" kern="1200">
        <a:solidFill>
          <a:schemeClr val="tx1"/>
        </a:solidFill>
        <a:latin typeface="+mn-lt"/>
        <a:ea typeface="+mn-ea"/>
        <a:cs typeface="+mn-cs"/>
      </a:defRPr>
    </a:lvl8pPr>
    <a:lvl9pPr marL="4414723" algn="l" defTabSz="1103681"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Shape 54"/>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55" name="Shape 55"/>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6" name="Shape 56"/>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57" name="Shape 57"/>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Shape 64"/>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65" name="Shape 65"/>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6" name="Shape 66"/>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67" name="Shape 67"/>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Shape 78"/>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79" name="Shape 79"/>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80" name="Shape 80"/>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81" name="Shape 81"/>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Shape 90"/>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91" name="Shape 91"/>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2" name="Shape 92"/>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93" name="Shape 93"/>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06" name="Shape 106"/>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07" name="Shape 107"/>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08" name="Shape 108"/>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18" name="Shape 118"/>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19" name="Shape 119"/>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20" name="Shape 120"/>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Shape 134"/>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35" name="Shape 135"/>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36" name="Shape 136"/>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37" name="Shape 137"/>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Shape 15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53" name="Shape 15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54" name="Shape 15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55" name="Shape 15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Shape 17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73" name="Shape 17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74" name="Shape 17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75" name="Shape 17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Shape 194"/>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95" name="Shape 195"/>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96" name="Shape 196"/>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97" name="Shape 197"/>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Shape 214"/>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215" name="Shape 215"/>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16" name="Shape 216"/>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217" name="Shape 217"/>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Shape 235"/>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236" name="Shape 236"/>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37" name="Shape 237"/>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238" name="Shape 238"/>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257" name="Shape 257"/>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58" name="Shape 258"/>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259" name="Shape 259"/>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Shape 277"/>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278" name="Shape 278"/>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279" name="Shape 279"/>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280" name="Shape 280"/>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Shape 298"/>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299" name="Shape 299"/>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00" name="Shape 300"/>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301" name="Shape 301"/>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Shape 319"/>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320" name="Shape 320"/>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21" name="Shape 321"/>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322" name="Shape 322"/>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Shape 339"/>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340" name="Shape 340"/>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41" name="Shape 341"/>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342" name="Shape 342"/>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Shape 361"/>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362" name="Shape 362"/>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63" name="Shape 363"/>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364" name="Shape 364"/>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Shape 384"/>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385" name="Shape 385"/>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86" name="Shape 386"/>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387" name="Shape 387"/>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Shape 402"/>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03" name="Shape 403"/>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404" name="Shape 404"/>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Shape 419"/>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20" name="Shape 420"/>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421" name="Shape 421"/>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Shape 435"/>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36" name="Shape 436"/>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437" name="Shape 437"/>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Shape 450"/>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51" name="Shape 451"/>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452" name="Shape 452"/>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Shape 471"/>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72" name="Shape 472"/>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473" name="Shape 473"/>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Shape 489"/>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90" name="Shape 490"/>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491" name="Shape 491"/>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Shape 510"/>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11" name="Shape 511"/>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512" name="Shape 512"/>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Shape 532"/>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33" name="Shape 533"/>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534" name="Shape 534"/>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Shape 550"/>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51" name="Shape 551"/>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552" name="Shape 552"/>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Shape 568"/>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69" name="Shape 569"/>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570" name="Shape 570"/>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Shape 568"/>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69" name="Shape 569"/>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570" name="Shape 570"/>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Shape 584"/>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85" name="Shape 585"/>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586" name="Shape 586"/>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Shape 604"/>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05" name="Shape 605"/>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606" name="Shape 606"/>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Shape 624"/>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25" name="Shape 625"/>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626" name="Shape 626"/>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Shape 643"/>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44" name="Shape 644"/>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645" name="Shape 645"/>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Shape 659"/>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60" name="Shape 660"/>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661" name="Shape 661"/>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Shape 679"/>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80" name="Shape 680"/>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681" name="Shape 681"/>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Shape 695"/>
          <p:cNvSpPr>
            <a:spLocks noGrp="1" noRot="1" noChangeAspect="1"/>
          </p:cNvSpPr>
          <p:nvPr>
            <p:ph type="sldImg" idx="2"/>
          </p:nvPr>
        </p:nvSpPr>
        <p:spPr>
          <a:xfrm>
            <a:off x="2336800" y="522288"/>
            <a:ext cx="4635500" cy="2608262"/>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96" name="Shape 696"/>
          <p:cNvSpPr txBox="1">
            <a:spLocks noGrp="1"/>
          </p:cNvSpPr>
          <p:nvPr>
            <p:ph type="body" idx="1"/>
          </p:nvPr>
        </p:nvSpPr>
        <p:spPr>
          <a:xfrm>
            <a:off x="930909" y="3303541"/>
            <a:ext cx="7447199" cy="3129600"/>
          </a:xfrm>
          <a:prstGeom prst="rect">
            <a:avLst/>
          </a:prstGeom>
          <a:noFill/>
          <a:ln>
            <a:noFill/>
          </a:ln>
        </p:spPr>
        <p:txBody>
          <a:bodyPr lIns="91425" tIns="45700" rIns="91425" bIns="45700" anchor="t" anchorCtr="0">
            <a:noAutofit/>
          </a:bodyPr>
          <a:lstStyle/>
          <a:p>
            <a:pPr lvl="0" rtl="0">
              <a:spcBef>
                <a:spcPts val="0"/>
              </a:spcBef>
              <a:buNone/>
            </a:pPr>
            <a:endParaRPr/>
          </a:p>
        </p:txBody>
      </p:sp>
      <p:sp>
        <p:nvSpPr>
          <p:cNvPr id="697" name="Shape 697"/>
          <p:cNvSpPr txBox="1">
            <a:spLocks noGrp="1"/>
          </p:cNvSpPr>
          <p:nvPr>
            <p:ph type="sldNum" idx="12"/>
          </p:nvPr>
        </p:nvSpPr>
        <p:spPr>
          <a:xfrm>
            <a:off x="5273001" y="6605875"/>
            <a:ext cx="4033799" cy="347700"/>
          </a:xfrm>
          <a:prstGeom prst="rect">
            <a:avLst/>
          </a:prstGeom>
          <a:noFill/>
          <a:ln>
            <a:noFill/>
          </a:ln>
        </p:spPr>
        <p:txBody>
          <a:bodyPr lIns="91425" tIns="45700" rIns="91425" bIns="45700" anchor="b" anchorCtr="0">
            <a:noAutofit/>
          </a:bodyPr>
          <a:lstStyle/>
          <a:p>
            <a:pPr lvl="0" rtl="0">
              <a:spcBef>
                <a:spcPts val="0"/>
              </a:spcBef>
              <a:buNone/>
            </a:pPr>
            <a:r>
              <a:rPr lang="en-US"/>
              <a:t>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Shape 717"/>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718" name="Shape 718"/>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719" name="Shape 719"/>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720" name="Shape 720"/>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Shape 737"/>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738" name="Shape 738"/>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739" name="Shape 739"/>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740" name="Shape 740"/>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Shape 758"/>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759" name="Shape 759"/>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760" name="Shape 760"/>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761" name="Shape 761"/>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Shape 780"/>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781" name="Shape 781"/>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782" name="Shape 782"/>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783" name="Shape 783"/>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Shape 801"/>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802" name="Shape 802"/>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803" name="Shape 803"/>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804" name="Shape 804"/>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Shape 82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823" name="Shape 82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824" name="Shape 82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825" name="Shape 82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Shape 841"/>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842" name="Shape 842"/>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843" name="Shape 843"/>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844" name="Shape 844"/>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Shape 860"/>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861" name="Shape 861"/>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862" name="Shape 862"/>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863" name="Shape 863"/>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Shape 88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883" name="Shape 88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884" name="Shape 88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885" name="Shape 88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Shape 92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923" name="Shape 92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24" name="Shape 92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925" name="Shape 92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Shape 903"/>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904" name="Shape 904"/>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05" name="Shape 905"/>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906" name="Shape 906"/>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Shape 92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923" name="Shape 92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24" name="Shape 92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925" name="Shape 92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Shape 94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943" name="Shape 94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44" name="Shape 94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945" name="Shape 94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Shape 96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963" name="Shape 96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64" name="Shape 96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965" name="Shape 96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Shape 984"/>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985" name="Shape 985"/>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86" name="Shape 986"/>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987" name="Shape 987"/>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Shape 1027"/>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028" name="Shape 1028"/>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029" name="Shape 1029"/>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030" name="Shape 1030"/>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Shape 1131"/>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132" name="Shape 1132"/>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133" name="Shape 1133"/>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134" name="Shape 1134"/>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8"/>
        <p:cNvGrpSpPr/>
        <p:nvPr/>
      </p:nvGrpSpPr>
      <p:grpSpPr>
        <a:xfrm>
          <a:off x="0" y="0"/>
          <a:ext cx="0" cy="0"/>
          <a:chOff x="0" y="0"/>
          <a:chExt cx="0" cy="0"/>
        </a:xfrm>
      </p:grpSpPr>
      <p:sp>
        <p:nvSpPr>
          <p:cNvPr id="1149" name="Shape 1149"/>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150" name="Shape 1150"/>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151" name="Shape 1151"/>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152" name="Shape 1152"/>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Shape 1170"/>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171" name="Shape 1171"/>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172" name="Shape 1172"/>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173" name="Shape 1173"/>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Shape 1190"/>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191" name="Shape 1191"/>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192" name="Shape 1192"/>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193" name="Shape 1193"/>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Shape 1210"/>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211" name="Shape 1211"/>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212" name="Shape 1212"/>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213" name="Shape 1213"/>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Shape 1227"/>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228" name="Shape 1228"/>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229" name="Shape 1229"/>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230" name="Shape 1230"/>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Shape 1250"/>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251" name="Shape 1251"/>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252" name="Shape 1252"/>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253" name="Shape 1253"/>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Shape 1269"/>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270" name="Shape 1270"/>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271" name="Shape 1271"/>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272" name="Shape 1272"/>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8"/>
        <p:cNvGrpSpPr/>
        <p:nvPr/>
      </p:nvGrpSpPr>
      <p:grpSpPr>
        <a:xfrm>
          <a:off x="0" y="0"/>
          <a:ext cx="0" cy="0"/>
          <a:chOff x="0" y="0"/>
          <a:chExt cx="0" cy="0"/>
        </a:xfrm>
      </p:grpSpPr>
      <p:sp>
        <p:nvSpPr>
          <p:cNvPr id="1289" name="Shape 1289"/>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290" name="Shape 1290"/>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291" name="Shape 1291"/>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292" name="Shape 1292"/>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Shape 1307"/>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308" name="Shape 1308"/>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309" name="Shape 1309"/>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310" name="Shape 1310"/>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Shape 1328"/>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329" name="Shape 1329"/>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330" name="Shape 1330"/>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331" name="Shape 1331"/>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Shape 1348"/>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349" name="Shape 1349"/>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350" name="Shape 1350"/>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351" name="Shape 1351"/>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Shape 1368"/>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369" name="Shape 1369"/>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370" name="Shape 1370"/>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371" name="Shape 1371"/>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Shape 138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383" name="Shape 138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384" name="Shape 138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385" name="Shape 138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Shape 140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403" name="Shape 140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404" name="Shape 140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405" name="Shape 140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Shape 142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423" name="Shape 142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424" name="Shape 142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425" name="Shape 142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Shape 1443"/>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444" name="Shape 1444"/>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445" name="Shape 1445"/>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446" name="Shape 1446"/>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1"/>
        <p:cNvGrpSpPr/>
        <p:nvPr/>
      </p:nvGrpSpPr>
      <p:grpSpPr>
        <a:xfrm>
          <a:off x="0" y="0"/>
          <a:ext cx="0" cy="0"/>
          <a:chOff x="0" y="0"/>
          <a:chExt cx="0" cy="0"/>
        </a:xfrm>
      </p:grpSpPr>
      <p:sp>
        <p:nvSpPr>
          <p:cNvPr id="1462" name="Shape 1462"/>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463" name="Shape 1463"/>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464" name="Shape 1464"/>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465" name="Shape 1465"/>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Shape 1481"/>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482" name="Shape 1482"/>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483" name="Shape 1483"/>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484" name="Shape 1484"/>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Shape 1503"/>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504" name="Shape 1504"/>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505" name="Shape 1505"/>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506" name="Shape 1506"/>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Shape 1520"/>
          <p:cNvSpPr txBox="1"/>
          <p:nvPr/>
        </p:nvSpPr>
        <p:spPr>
          <a:xfrm>
            <a:off x="5273675" y="6605586"/>
            <a:ext cx="4033837" cy="347662"/>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521" name="Shape 1521"/>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522" name="Shape 1522"/>
          <p:cNvSpPr txBox="1">
            <a:spLocks noGrp="1"/>
          </p:cNvSpPr>
          <p:nvPr>
            <p:ph type="body" idx="1"/>
          </p:nvPr>
        </p:nvSpPr>
        <p:spPr>
          <a:xfrm>
            <a:off x="930275" y="3303587"/>
            <a:ext cx="7448550" cy="3128962"/>
          </a:xfrm>
          <a:prstGeom prst="rect">
            <a:avLst/>
          </a:prstGeom>
          <a:noFill/>
          <a:ln>
            <a:noFill/>
          </a:ln>
        </p:spPr>
        <p:txBody>
          <a:bodyPr lIns="92925" tIns="46450" rIns="92925" bIns="46450" anchor="t" anchorCtr="0">
            <a:noAutofit/>
          </a:bodyPr>
          <a:lstStyle/>
          <a:p>
            <a:pPr>
              <a:spcBef>
                <a:spcPts val="0"/>
              </a:spcBef>
              <a:buNone/>
            </a:pPr>
            <a:endParaRPr/>
          </a:p>
        </p:txBody>
      </p:sp>
      <p:sp>
        <p:nvSpPr>
          <p:cNvPr id="1523" name="Shape 1523"/>
          <p:cNvSpPr txBox="1">
            <a:spLocks noGrp="1"/>
          </p:cNvSpPr>
          <p:nvPr>
            <p:ph type="sldNum" idx="12"/>
          </p:nvPr>
        </p:nvSpPr>
        <p:spPr>
          <a:xfrm>
            <a:off x="5273675" y="6605586"/>
            <a:ext cx="4033837" cy="347662"/>
          </a:xfrm>
          <a:prstGeom prst="rect">
            <a:avLst/>
          </a:prstGeom>
          <a:noFill/>
          <a:ln>
            <a:noFill/>
          </a:ln>
        </p:spPr>
        <p:txBody>
          <a:bodyPr lIns="92925" tIns="46450" rIns="92925" bIns="46450" anchor="b" anchorCtr="0">
            <a:noAutofit/>
          </a:bodyPr>
          <a:lstStyle/>
          <a:p>
            <a:pPr>
              <a:spcBef>
                <a:spcPts val="0"/>
              </a:spcBef>
              <a:buNone/>
            </a:pPr>
            <a:r>
              <a:rPr lang="en-US"/>
              <a:t> </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Rot="1" noChangeAspect="1" noChangeArrowheads="1" noTextEdit="1"/>
          </p:cNvSpPr>
          <p:nvPr>
            <p:ph type="sldImg"/>
          </p:nvPr>
        </p:nvSpPr>
        <p:spPr>
          <a:xfrm>
            <a:off x="2339975" y="522288"/>
            <a:ext cx="4630738" cy="2606675"/>
          </a:xfrm>
          <a:ln/>
        </p:spPr>
      </p:sp>
      <p:sp>
        <p:nvSpPr>
          <p:cNvPr id="10332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Rot="1" noChangeAspect="1" noChangeArrowheads="1" noTextEdit="1"/>
          </p:cNvSpPr>
          <p:nvPr>
            <p:ph type="sldImg"/>
          </p:nvPr>
        </p:nvSpPr>
        <p:spPr>
          <a:xfrm>
            <a:off x="2339975" y="522288"/>
            <a:ext cx="4630738" cy="2606675"/>
          </a:xfrm>
          <a:ln/>
        </p:spPr>
      </p:sp>
      <p:sp>
        <p:nvSpPr>
          <p:cNvPr id="10352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Shape 1539"/>
          <p:cNvSpPr txBox="1"/>
          <p:nvPr/>
        </p:nvSpPr>
        <p:spPr>
          <a:xfrm>
            <a:off x="5273675" y="6605586"/>
            <a:ext cx="4033799" cy="347700"/>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540" name="Shape 1540"/>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541" name="Shape 1541"/>
          <p:cNvSpPr txBox="1">
            <a:spLocks noGrp="1"/>
          </p:cNvSpPr>
          <p:nvPr>
            <p:ph type="body" idx="1"/>
          </p:nvPr>
        </p:nvSpPr>
        <p:spPr>
          <a:xfrm>
            <a:off x="930275" y="3303587"/>
            <a:ext cx="7448699" cy="3128999"/>
          </a:xfrm>
          <a:prstGeom prst="rect">
            <a:avLst/>
          </a:prstGeom>
          <a:noFill/>
          <a:ln>
            <a:noFill/>
          </a:ln>
        </p:spPr>
        <p:txBody>
          <a:bodyPr lIns="92925" tIns="46450" rIns="92925" bIns="46450" anchor="t" anchorCtr="0">
            <a:noAutofit/>
          </a:bodyPr>
          <a:lstStyle/>
          <a:p>
            <a:pPr lvl="0" rtl="0">
              <a:spcBef>
                <a:spcPts val="0"/>
              </a:spcBef>
              <a:buNone/>
            </a:pPr>
            <a:endParaRPr/>
          </a:p>
        </p:txBody>
      </p:sp>
      <p:sp>
        <p:nvSpPr>
          <p:cNvPr id="1542" name="Shape 1542"/>
          <p:cNvSpPr txBox="1">
            <a:spLocks noGrp="1"/>
          </p:cNvSpPr>
          <p:nvPr>
            <p:ph type="sldNum" idx="12"/>
          </p:nvPr>
        </p:nvSpPr>
        <p:spPr>
          <a:xfrm>
            <a:off x="5273675" y="6605586"/>
            <a:ext cx="4033799" cy="347700"/>
          </a:xfrm>
          <a:prstGeom prst="rect">
            <a:avLst/>
          </a:prstGeom>
          <a:noFill/>
          <a:ln>
            <a:noFill/>
          </a:ln>
        </p:spPr>
        <p:txBody>
          <a:bodyPr lIns="92925" tIns="46450" rIns="92925" bIns="46450" anchor="b" anchorCtr="0">
            <a:noAutofit/>
          </a:bodyPr>
          <a:lstStyle/>
          <a:p>
            <a:pPr lvl="0" rtl="0">
              <a:spcBef>
                <a:spcPts val="0"/>
              </a:spcBef>
              <a:buNone/>
            </a:pPr>
            <a:r>
              <a:rPr lang="en-US"/>
              <a:t> </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Shape 1558"/>
          <p:cNvSpPr txBox="1"/>
          <p:nvPr/>
        </p:nvSpPr>
        <p:spPr>
          <a:xfrm>
            <a:off x="5273675" y="6605586"/>
            <a:ext cx="4033799" cy="347700"/>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559" name="Shape 1559"/>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560" name="Shape 1560"/>
          <p:cNvSpPr txBox="1">
            <a:spLocks noGrp="1"/>
          </p:cNvSpPr>
          <p:nvPr>
            <p:ph type="body" idx="1"/>
          </p:nvPr>
        </p:nvSpPr>
        <p:spPr>
          <a:xfrm>
            <a:off x="930275" y="3303587"/>
            <a:ext cx="7448699" cy="3128999"/>
          </a:xfrm>
          <a:prstGeom prst="rect">
            <a:avLst/>
          </a:prstGeom>
          <a:noFill/>
          <a:ln>
            <a:noFill/>
          </a:ln>
        </p:spPr>
        <p:txBody>
          <a:bodyPr lIns="92925" tIns="46450" rIns="92925" bIns="46450" anchor="t" anchorCtr="0">
            <a:noAutofit/>
          </a:bodyPr>
          <a:lstStyle/>
          <a:p>
            <a:pPr lvl="0" rtl="0">
              <a:spcBef>
                <a:spcPts val="0"/>
              </a:spcBef>
              <a:buNone/>
            </a:pPr>
            <a:endParaRPr/>
          </a:p>
        </p:txBody>
      </p:sp>
      <p:sp>
        <p:nvSpPr>
          <p:cNvPr id="1561" name="Shape 1561"/>
          <p:cNvSpPr txBox="1">
            <a:spLocks noGrp="1"/>
          </p:cNvSpPr>
          <p:nvPr>
            <p:ph type="sldNum" idx="12"/>
          </p:nvPr>
        </p:nvSpPr>
        <p:spPr>
          <a:xfrm>
            <a:off x="5273675" y="6605586"/>
            <a:ext cx="4033799" cy="347700"/>
          </a:xfrm>
          <a:prstGeom prst="rect">
            <a:avLst/>
          </a:prstGeom>
          <a:noFill/>
          <a:ln>
            <a:noFill/>
          </a:ln>
        </p:spPr>
        <p:txBody>
          <a:bodyPr lIns="92925" tIns="46450" rIns="92925" bIns="46450" anchor="b" anchorCtr="0">
            <a:noAutofit/>
          </a:bodyPr>
          <a:lstStyle/>
          <a:p>
            <a:pPr lvl="0" rtl="0">
              <a:spcBef>
                <a:spcPts val="0"/>
              </a:spcBef>
              <a:buNone/>
            </a:pPr>
            <a:r>
              <a:rPr lang="en-US"/>
              <a:t> </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Shape 1577"/>
          <p:cNvSpPr txBox="1"/>
          <p:nvPr/>
        </p:nvSpPr>
        <p:spPr>
          <a:xfrm>
            <a:off x="5273675" y="6605586"/>
            <a:ext cx="4033799" cy="347700"/>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578" name="Shape 1578"/>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579" name="Shape 1579"/>
          <p:cNvSpPr txBox="1">
            <a:spLocks noGrp="1"/>
          </p:cNvSpPr>
          <p:nvPr>
            <p:ph type="body" idx="1"/>
          </p:nvPr>
        </p:nvSpPr>
        <p:spPr>
          <a:xfrm>
            <a:off x="930275" y="3303587"/>
            <a:ext cx="7448699" cy="3128999"/>
          </a:xfrm>
          <a:prstGeom prst="rect">
            <a:avLst/>
          </a:prstGeom>
          <a:noFill/>
          <a:ln>
            <a:noFill/>
          </a:ln>
        </p:spPr>
        <p:txBody>
          <a:bodyPr lIns="92925" tIns="46450" rIns="92925" bIns="46450" anchor="t" anchorCtr="0">
            <a:noAutofit/>
          </a:bodyPr>
          <a:lstStyle/>
          <a:p>
            <a:pPr lvl="0" rtl="0">
              <a:spcBef>
                <a:spcPts val="0"/>
              </a:spcBef>
              <a:buNone/>
            </a:pPr>
            <a:endParaRPr/>
          </a:p>
        </p:txBody>
      </p:sp>
      <p:sp>
        <p:nvSpPr>
          <p:cNvPr id="1580" name="Shape 1580"/>
          <p:cNvSpPr txBox="1">
            <a:spLocks noGrp="1"/>
          </p:cNvSpPr>
          <p:nvPr>
            <p:ph type="sldNum" idx="12"/>
          </p:nvPr>
        </p:nvSpPr>
        <p:spPr>
          <a:xfrm>
            <a:off x="5273675" y="6605586"/>
            <a:ext cx="4033799" cy="347700"/>
          </a:xfrm>
          <a:prstGeom prst="rect">
            <a:avLst/>
          </a:prstGeom>
          <a:noFill/>
          <a:ln>
            <a:noFill/>
          </a:ln>
        </p:spPr>
        <p:txBody>
          <a:bodyPr lIns="92925" tIns="46450" rIns="92925" bIns="46450" anchor="b" anchorCtr="0">
            <a:noAutofit/>
          </a:bodyPr>
          <a:lstStyle/>
          <a:p>
            <a:pPr lvl="0" rtl="0">
              <a:spcBef>
                <a:spcPts val="0"/>
              </a:spcBef>
              <a:buNone/>
            </a:pPr>
            <a:r>
              <a:rPr lang="en-US"/>
              <a:t> </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5"/>
        <p:cNvGrpSpPr/>
        <p:nvPr/>
      </p:nvGrpSpPr>
      <p:grpSpPr>
        <a:xfrm>
          <a:off x="0" y="0"/>
          <a:ext cx="0" cy="0"/>
          <a:chOff x="0" y="0"/>
          <a:chExt cx="0" cy="0"/>
        </a:xfrm>
      </p:grpSpPr>
      <p:sp>
        <p:nvSpPr>
          <p:cNvPr id="1596" name="Shape 1596"/>
          <p:cNvSpPr txBox="1"/>
          <p:nvPr/>
        </p:nvSpPr>
        <p:spPr>
          <a:xfrm>
            <a:off x="5273675" y="6605586"/>
            <a:ext cx="4033799" cy="347700"/>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597" name="Shape 1597"/>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598" name="Shape 1598"/>
          <p:cNvSpPr txBox="1">
            <a:spLocks noGrp="1"/>
          </p:cNvSpPr>
          <p:nvPr>
            <p:ph type="body" idx="1"/>
          </p:nvPr>
        </p:nvSpPr>
        <p:spPr>
          <a:xfrm>
            <a:off x="930275" y="3303587"/>
            <a:ext cx="7448699" cy="3128999"/>
          </a:xfrm>
          <a:prstGeom prst="rect">
            <a:avLst/>
          </a:prstGeom>
          <a:noFill/>
          <a:ln>
            <a:noFill/>
          </a:ln>
        </p:spPr>
        <p:txBody>
          <a:bodyPr lIns="92925" tIns="46450" rIns="92925" bIns="46450" anchor="t" anchorCtr="0">
            <a:noAutofit/>
          </a:bodyPr>
          <a:lstStyle/>
          <a:p>
            <a:pPr lvl="0" rtl="0">
              <a:spcBef>
                <a:spcPts val="0"/>
              </a:spcBef>
              <a:buNone/>
            </a:pPr>
            <a:endParaRPr/>
          </a:p>
        </p:txBody>
      </p:sp>
      <p:sp>
        <p:nvSpPr>
          <p:cNvPr id="1599" name="Shape 1599"/>
          <p:cNvSpPr txBox="1">
            <a:spLocks noGrp="1"/>
          </p:cNvSpPr>
          <p:nvPr>
            <p:ph type="sldNum" idx="12"/>
          </p:nvPr>
        </p:nvSpPr>
        <p:spPr>
          <a:xfrm>
            <a:off x="5273675" y="6605586"/>
            <a:ext cx="4033799" cy="347700"/>
          </a:xfrm>
          <a:prstGeom prst="rect">
            <a:avLst/>
          </a:prstGeom>
          <a:noFill/>
          <a:ln>
            <a:noFill/>
          </a:ln>
        </p:spPr>
        <p:txBody>
          <a:bodyPr lIns="92925" tIns="46450" rIns="92925" bIns="46450" anchor="b" anchorCtr="0">
            <a:noAutofit/>
          </a:bodyPr>
          <a:lstStyle/>
          <a:p>
            <a:pPr lvl="0" rtl="0">
              <a:spcBef>
                <a:spcPts val="0"/>
              </a:spcBef>
              <a:buNone/>
            </a:pPr>
            <a:r>
              <a:rPr lang="en-US"/>
              <a:t> </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4"/>
        <p:cNvGrpSpPr/>
        <p:nvPr/>
      </p:nvGrpSpPr>
      <p:grpSpPr>
        <a:xfrm>
          <a:off x="0" y="0"/>
          <a:ext cx="0" cy="0"/>
          <a:chOff x="0" y="0"/>
          <a:chExt cx="0" cy="0"/>
        </a:xfrm>
      </p:grpSpPr>
      <p:sp>
        <p:nvSpPr>
          <p:cNvPr id="1615" name="Shape 1615"/>
          <p:cNvSpPr txBox="1"/>
          <p:nvPr/>
        </p:nvSpPr>
        <p:spPr>
          <a:xfrm>
            <a:off x="5273675" y="6605586"/>
            <a:ext cx="4033799" cy="347700"/>
          </a:xfrm>
          <a:prstGeom prst="rect">
            <a:avLst/>
          </a:prstGeom>
          <a:noFill/>
          <a:ln>
            <a:noFill/>
          </a:ln>
        </p:spPr>
        <p:txBody>
          <a:bodyPr lIns="92925" tIns="46450" rIns="92925" bIns="46450" anchor="b" anchorCtr="0">
            <a:noAutofit/>
          </a:bodyPr>
          <a:lstStyle/>
          <a:p>
            <a:pPr marL="0" marR="0" lvl="0" indent="0" algn="r" rtl="0">
              <a:spcBef>
                <a:spcPts val="0"/>
              </a:spcBef>
              <a:buSzPct val="25000"/>
              <a:buFont typeface="Arial"/>
              <a:buNone/>
            </a:pPr>
            <a:r>
              <a:rPr lang="en-US" sz="1200" b="0" i="0" u="none" strike="noStrike" cap="none" baseline="0"/>
              <a:t>*</a:t>
            </a:r>
          </a:p>
        </p:txBody>
      </p:sp>
      <p:sp>
        <p:nvSpPr>
          <p:cNvPr id="1616" name="Shape 1616"/>
          <p:cNvSpPr>
            <a:spLocks noGrp="1" noRot="1" noChangeAspect="1"/>
          </p:cNvSpPr>
          <p:nvPr>
            <p:ph type="sldImg" idx="2"/>
          </p:nvPr>
        </p:nvSpPr>
        <p:spPr>
          <a:xfrm>
            <a:off x="2339975" y="522288"/>
            <a:ext cx="4630738" cy="2606675"/>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617" name="Shape 1617"/>
          <p:cNvSpPr txBox="1">
            <a:spLocks noGrp="1"/>
          </p:cNvSpPr>
          <p:nvPr>
            <p:ph type="body" idx="1"/>
          </p:nvPr>
        </p:nvSpPr>
        <p:spPr>
          <a:xfrm>
            <a:off x="930275" y="3303587"/>
            <a:ext cx="7448699" cy="3128999"/>
          </a:xfrm>
          <a:prstGeom prst="rect">
            <a:avLst/>
          </a:prstGeom>
          <a:noFill/>
          <a:ln>
            <a:noFill/>
          </a:ln>
        </p:spPr>
        <p:txBody>
          <a:bodyPr lIns="92925" tIns="46450" rIns="92925" bIns="46450" anchor="t" anchorCtr="0">
            <a:noAutofit/>
          </a:bodyPr>
          <a:lstStyle/>
          <a:p>
            <a:pPr lvl="0" rtl="0">
              <a:spcBef>
                <a:spcPts val="0"/>
              </a:spcBef>
              <a:buNone/>
            </a:pPr>
            <a:endParaRPr/>
          </a:p>
        </p:txBody>
      </p:sp>
      <p:sp>
        <p:nvSpPr>
          <p:cNvPr id="1618" name="Shape 1618"/>
          <p:cNvSpPr txBox="1">
            <a:spLocks noGrp="1"/>
          </p:cNvSpPr>
          <p:nvPr>
            <p:ph type="sldNum" idx="12"/>
          </p:nvPr>
        </p:nvSpPr>
        <p:spPr>
          <a:xfrm>
            <a:off x="5273675" y="6605586"/>
            <a:ext cx="4033799" cy="347700"/>
          </a:xfrm>
          <a:prstGeom prst="rect">
            <a:avLst/>
          </a:prstGeom>
          <a:noFill/>
          <a:ln>
            <a:noFill/>
          </a:ln>
        </p:spPr>
        <p:txBody>
          <a:bodyPr lIns="92925" tIns="46450" rIns="92925" bIns="46450" anchor="b" anchorCtr="0">
            <a:noAutofit/>
          </a:bodyPr>
          <a:lstStyle/>
          <a:p>
            <a:pPr lvl="0" rtl="0">
              <a:spcBef>
                <a:spcPts val="0"/>
              </a:spcBef>
              <a:buNone/>
            </a:pPr>
            <a:r>
              <a:rPr lang="en-US"/>
              <a:t>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Shape 10"/>
        <p:cNvGrpSpPr/>
        <p:nvPr/>
      </p:nvGrpSpPr>
      <p:grpSpPr>
        <a:xfrm>
          <a:off x="0" y="0"/>
          <a:ext cx="0" cy="0"/>
          <a:chOff x="0" y="0"/>
          <a:chExt cx="0" cy="0"/>
        </a:xfrm>
      </p:grpSpPr>
      <p:sp>
        <p:nvSpPr>
          <p:cNvPr id="11" name="Shape 11"/>
          <p:cNvSpPr txBox="1">
            <a:spLocks noGrp="1"/>
          </p:cNvSpPr>
          <p:nvPr>
            <p:ph type="title"/>
          </p:nvPr>
        </p:nvSpPr>
        <p:spPr>
          <a:xfrm rot="5400000">
            <a:off x="7282379" y="1829157"/>
            <a:ext cx="5851525" cy="2742486"/>
          </a:xfrm>
          <a:prstGeom prst="rect">
            <a:avLst/>
          </a:prstGeom>
          <a:noFill/>
          <a:ln>
            <a:noFill/>
          </a:ln>
        </p:spPr>
        <p:txBody>
          <a:bodyPr lIns="110350" tIns="110350" rIns="110350" bIns="110350" anchor="t" anchorCtr="0"/>
          <a:lstStyle>
            <a:lvl1pPr algn="l" rtl="0">
              <a:spcBef>
                <a:spcPts val="0"/>
              </a:spcBef>
              <a:spcAft>
                <a:spcPts val="0"/>
              </a:spcAft>
              <a:defRPr sz="5300">
                <a:solidFill>
                  <a:schemeClr val="dk2"/>
                </a:solidFill>
                <a:latin typeface="Tahoma"/>
                <a:ea typeface="Tahoma"/>
                <a:cs typeface="Tahoma"/>
                <a:sym typeface="Tahoma"/>
              </a:defRPr>
            </a:lvl1pPr>
            <a:lvl2pPr algn="l" rtl="0">
              <a:spcBef>
                <a:spcPts val="0"/>
              </a:spcBef>
              <a:spcAft>
                <a:spcPts val="0"/>
              </a:spcAft>
              <a:defRPr sz="5300">
                <a:solidFill>
                  <a:schemeClr val="dk2"/>
                </a:solidFill>
                <a:latin typeface="Tahoma"/>
                <a:ea typeface="Tahoma"/>
                <a:cs typeface="Tahoma"/>
                <a:sym typeface="Tahoma"/>
              </a:defRPr>
            </a:lvl2pPr>
            <a:lvl3pPr algn="l" rtl="0">
              <a:spcBef>
                <a:spcPts val="0"/>
              </a:spcBef>
              <a:spcAft>
                <a:spcPts val="0"/>
              </a:spcAft>
              <a:defRPr sz="5300">
                <a:solidFill>
                  <a:schemeClr val="dk2"/>
                </a:solidFill>
                <a:latin typeface="Tahoma"/>
                <a:ea typeface="Tahoma"/>
                <a:cs typeface="Tahoma"/>
                <a:sym typeface="Tahoma"/>
              </a:defRPr>
            </a:lvl3pPr>
            <a:lvl4pPr algn="l" rtl="0">
              <a:spcBef>
                <a:spcPts val="0"/>
              </a:spcBef>
              <a:spcAft>
                <a:spcPts val="0"/>
              </a:spcAft>
              <a:defRPr sz="5300">
                <a:solidFill>
                  <a:schemeClr val="dk2"/>
                </a:solidFill>
                <a:latin typeface="Tahoma"/>
                <a:ea typeface="Tahoma"/>
                <a:cs typeface="Tahoma"/>
                <a:sym typeface="Tahoma"/>
              </a:defRPr>
            </a:lvl4pPr>
            <a:lvl5pPr algn="l" rtl="0">
              <a:spcBef>
                <a:spcPts val="0"/>
              </a:spcBef>
              <a:spcAft>
                <a:spcPts val="0"/>
              </a:spcAft>
              <a:defRPr sz="5300">
                <a:solidFill>
                  <a:schemeClr val="dk2"/>
                </a:solidFill>
                <a:latin typeface="Tahoma"/>
                <a:ea typeface="Tahoma"/>
                <a:cs typeface="Tahoma"/>
                <a:sym typeface="Tahoma"/>
              </a:defRPr>
            </a:lvl5pPr>
            <a:lvl6pPr marL="551840" algn="l" rtl="0">
              <a:spcBef>
                <a:spcPts val="0"/>
              </a:spcBef>
              <a:spcAft>
                <a:spcPts val="0"/>
              </a:spcAft>
              <a:defRPr sz="5300">
                <a:solidFill>
                  <a:schemeClr val="dk2"/>
                </a:solidFill>
                <a:latin typeface="Tahoma"/>
                <a:ea typeface="Tahoma"/>
                <a:cs typeface="Tahoma"/>
                <a:sym typeface="Tahoma"/>
              </a:defRPr>
            </a:lvl6pPr>
            <a:lvl7pPr marL="1103681" algn="l" rtl="0">
              <a:spcBef>
                <a:spcPts val="0"/>
              </a:spcBef>
              <a:spcAft>
                <a:spcPts val="0"/>
              </a:spcAft>
              <a:defRPr sz="5300">
                <a:solidFill>
                  <a:schemeClr val="dk2"/>
                </a:solidFill>
                <a:latin typeface="Tahoma"/>
                <a:ea typeface="Tahoma"/>
                <a:cs typeface="Tahoma"/>
                <a:sym typeface="Tahoma"/>
              </a:defRPr>
            </a:lvl7pPr>
            <a:lvl8pPr marL="1655521" algn="l" rtl="0">
              <a:spcBef>
                <a:spcPts val="0"/>
              </a:spcBef>
              <a:spcAft>
                <a:spcPts val="0"/>
              </a:spcAft>
              <a:defRPr sz="5300">
                <a:solidFill>
                  <a:schemeClr val="dk2"/>
                </a:solidFill>
                <a:latin typeface="Tahoma"/>
                <a:ea typeface="Tahoma"/>
                <a:cs typeface="Tahoma"/>
                <a:sym typeface="Tahoma"/>
              </a:defRPr>
            </a:lvl8pPr>
            <a:lvl9pPr marL="2207362" algn="l" rtl="0">
              <a:spcBef>
                <a:spcPts val="0"/>
              </a:spcBef>
              <a:spcAft>
                <a:spcPts val="0"/>
              </a:spcAft>
              <a:defRPr sz="5300">
                <a:solidFill>
                  <a:schemeClr val="dk2"/>
                </a:solidFill>
                <a:latin typeface="Tahoma"/>
                <a:ea typeface="Tahoma"/>
                <a:cs typeface="Tahoma"/>
                <a:sym typeface="Tahoma"/>
              </a:defRPr>
            </a:lvl9pPr>
          </a:lstStyle>
          <a:p>
            <a:endParaRPr/>
          </a:p>
        </p:txBody>
      </p:sp>
      <p:sp>
        <p:nvSpPr>
          <p:cNvPr id="12" name="Shape 12"/>
          <p:cNvSpPr txBox="1">
            <a:spLocks noGrp="1"/>
          </p:cNvSpPr>
          <p:nvPr>
            <p:ph type="body" idx="1"/>
          </p:nvPr>
        </p:nvSpPr>
        <p:spPr>
          <a:xfrm rot="5400000">
            <a:off x="1695835" y="-811754"/>
            <a:ext cx="5851525" cy="8024308"/>
          </a:xfrm>
          <a:prstGeom prst="rect">
            <a:avLst/>
          </a:prstGeom>
          <a:noFill/>
          <a:ln>
            <a:noFill/>
          </a:ln>
        </p:spPr>
        <p:txBody>
          <a:bodyPr lIns="110350" tIns="110350" rIns="110350" bIns="110350" anchor="t" anchorCtr="0"/>
          <a:lstStyle>
            <a:lvl1pPr marL="413880" indent="-325739" algn="l" rtl="0">
              <a:spcBef>
                <a:spcPts val="772"/>
              </a:spcBef>
              <a:spcAft>
                <a:spcPts val="0"/>
              </a:spcAft>
              <a:buClr>
                <a:schemeClr val="folHlink"/>
              </a:buClr>
              <a:buFont typeface="Arial"/>
              <a:buChar char="●"/>
              <a:defRPr sz="3900">
                <a:solidFill>
                  <a:schemeClr val="dk1"/>
                </a:solidFill>
                <a:latin typeface="Tahoma"/>
                <a:ea typeface="Tahoma"/>
                <a:cs typeface="Tahoma"/>
                <a:sym typeface="Tahoma"/>
              </a:defRPr>
            </a:lvl1pPr>
            <a:lvl2pPr marL="896741" indent="-275920" algn="l" rtl="0">
              <a:spcBef>
                <a:spcPts val="676"/>
              </a:spcBef>
              <a:spcAft>
                <a:spcPts val="0"/>
              </a:spcAft>
              <a:buClr>
                <a:schemeClr val="hlink"/>
              </a:buClr>
              <a:buFont typeface="Arial"/>
              <a:buChar char="●"/>
              <a:defRPr sz="3400">
                <a:solidFill>
                  <a:schemeClr val="dk1"/>
                </a:solidFill>
                <a:latin typeface="Tahoma"/>
                <a:ea typeface="Tahoma"/>
                <a:cs typeface="Tahoma"/>
                <a:sym typeface="Tahoma"/>
              </a:defRPr>
            </a:lvl2pPr>
            <a:lvl3pPr marL="1379601" indent="-222269" algn="l" rtl="0">
              <a:spcBef>
                <a:spcPts val="579"/>
              </a:spcBef>
              <a:spcAft>
                <a:spcPts val="0"/>
              </a:spcAft>
              <a:buClr>
                <a:schemeClr val="folHlink"/>
              </a:buClr>
              <a:buFont typeface="Arial"/>
              <a:buChar char="●"/>
              <a:defRPr sz="2900">
                <a:solidFill>
                  <a:schemeClr val="dk1"/>
                </a:solidFill>
                <a:latin typeface="Tahoma"/>
                <a:ea typeface="Tahoma"/>
                <a:cs typeface="Tahoma"/>
                <a:sym typeface="Tahoma"/>
              </a:defRPr>
            </a:lvl3pPr>
            <a:lvl4pPr marL="1931441" indent="-226101" algn="l" rtl="0">
              <a:spcBef>
                <a:spcPts val="483"/>
              </a:spcBef>
              <a:spcAft>
                <a:spcPts val="0"/>
              </a:spcAft>
              <a:buClr>
                <a:schemeClr val="accent2"/>
              </a:buClr>
              <a:buFont typeface="Arial"/>
              <a:buChar char="●"/>
              <a:defRPr sz="2400">
                <a:solidFill>
                  <a:schemeClr val="dk1"/>
                </a:solidFill>
                <a:latin typeface="Tahoma"/>
                <a:ea typeface="Tahoma"/>
                <a:cs typeface="Tahoma"/>
                <a:sym typeface="Tahoma"/>
              </a:defRPr>
            </a:lvl4pPr>
            <a:lvl5pPr marL="2483282"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5pPr>
            <a:lvl6pPr marL="3035122"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6pPr>
            <a:lvl7pPr marL="358696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7pPr>
            <a:lvl8pPr marL="413880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8pPr>
            <a:lvl9pPr marL="469064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609442" y="274638"/>
            <a:ext cx="10969943" cy="1143000"/>
          </a:xfrm>
          <a:prstGeom prst="rect">
            <a:avLst/>
          </a:prstGeom>
          <a:noFill/>
          <a:ln>
            <a:noFill/>
          </a:ln>
        </p:spPr>
        <p:txBody>
          <a:bodyPr lIns="110350" tIns="110350" rIns="110350" bIns="110350" anchor="t" anchorCtr="0"/>
          <a:lstStyle>
            <a:lvl1pPr algn="l" rtl="0">
              <a:spcBef>
                <a:spcPts val="0"/>
              </a:spcBef>
              <a:spcAft>
                <a:spcPts val="0"/>
              </a:spcAft>
              <a:defRPr sz="5300">
                <a:solidFill>
                  <a:schemeClr val="dk2"/>
                </a:solidFill>
                <a:latin typeface="Tahoma"/>
                <a:ea typeface="Tahoma"/>
                <a:cs typeface="Tahoma"/>
                <a:sym typeface="Tahoma"/>
              </a:defRPr>
            </a:lvl1pPr>
            <a:lvl2pPr algn="l" rtl="0">
              <a:spcBef>
                <a:spcPts val="0"/>
              </a:spcBef>
              <a:spcAft>
                <a:spcPts val="0"/>
              </a:spcAft>
              <a:defRPr sz="5300">
                <a:solidFill>
                  <a:schemeClr val="dk2"/>
                </a:solidFill>
                <a:latin typeface="Tahoma"/>
                <a:ea typeface="Tahoma"/>
                <a:cs typeface="Tahoma"/>
                <a:sym typeface="Tahoma"/>
              </a:defRPr>
            </a:lvl2pPr>
            <a:lvl3pPr algn="l" rtl="0">
              <a:spcBef>
                <a:spcPts val="0"/>
              </a:spcBef>
              <a:spcAft>
                <a:spcPts val="0"/>
              </a:spcAft>
              <a:defRPr sz="5300">
                <a:solidFill>
                  <a:schemeClr val="dk2"/>
                </a:solidFill>
                <a:latin typeface="Tahoma"/>
                <a:ea typeface="Tahoma"/>
                <a:cs typeface="Tahoma"/>
                <a:sym typeface="Tahoma"/>
              </a:defRPr>
            </a:lvl3pPr>
            <a:lvl4pPr algn="l" rtl="0">
              <a:spcBef>
                <a:spcPts val="0"/>
              </a:spcBef>
              <a:spcAft>
                <a:spcPts val="0"/>
              </a:spcAft>
              <a:defRPr sz="5300">
                <a:solidFill>
                  <a:schemeClr val="dk2"/>
                </a:solidFill>
                <a:latin typeface="Tahoma"/>
                <a:ea typeface="Tahoma"/>
                <a:cs typeface="Tahoma"/>
                <a:sym typeface="Tahoma"/>
              </a:defRPr>
            </a:lvl4pPr>
            <a:lvl5pPr algn="l" rtl="0">
              <a:spcBef>
                <a:spcPts val="0"/>
              </a:spcBef>
              <a:spcAft>
                <a:spcPts val="0"/>
              </a:spcAft>
              <a:defRPr sz="5300">
                <a:solidFill>
                  <a:schemeClr val="dk2"/>
                </a:solidFill>
                <a:latin typeface="Tahoma"/>
                <a:ea typeface="Tahoma"/>
                <a:cs typeface="Tahoma"/>
                <a:sym typeface="Tahoma"/>
              </a:defRPr>
            </a:lvl5pPr>
            <a:lvl6pPr marL="551840" algn="l" rtl="0">
              <a:spcBef>
                <a:spcPts val="0"/>
              </a:spcBef>
              <a:spcAft>
                <a:spcPts val="0"/>
              </a:spcAft>
              <a:defRPr sz="5300">
                <a:solidFill>
                  <a:schemeClr val="dk2"/>
                </a:solidFill>
                <a:latin typeface="Tahoma"/>
                <a:ea typeface="Tahoma"/>
                <a:cs typeface="Tahoma"/>
                <a:sym typeface="Tahoma"/>
              </a:defRPr>
            </a:lvl6pPr>
            <a:lvl7pPr marL="1103681" algn="l" rtl="0">
              <a:spcBef>
                <a:spcPts val="0"/>
              </a:spcBef>
              <a:spcAft>
                <a:spcPts val="0"/>
              </a:spcAft>
              <a:defRPr sz="5300">
                <a:solidFill>
                  <a:schemeClr val="dk2"/>
                </a:solidFill>
                <a:latin typeface="Tahoma"/>
                <a:ea typeface="Tahoma"/>
                <a:cs typeface="Tahoma"/>
                <a:sym typeface="Tahoma"/>
              </a:defRPr>
            </a:lvl7pPr>
            <a:lvl8pPr marL="1655521" algn="l" rtl="0">
              <a:spcBef>
                <a:spcPts val="0"/>
              </a:spcBef>
              <a:spcAft>
                <a:spcPts val="0"/>
              </a:spcAft>
              <a:defRPr sz="5300">
                <a:solidFill>
                  <a:schemeClr val="dk2"/>
                </a:solidFill>
                <a:latin typeface="Tahoma"/>
                <a:ea typeface="Tahoma"/>
                <a:cs typeface="Tahoma"/>
                <a:sym typeface="Tahoma"/>
              </a:defRPr>
            </a:lvl8pPr>
            <a:lvl9pPr marL="2207362" algn="l" rtl="0">
              <a:spcBef>
                <a:spcPts val="0"/>
              </a:spcBef>
              <a:spcAft>
                <a:spcPts val="0"/>
              </a:spcAft>
              <a:defRPr sz="5300">
                <a:solidFill>
                  <a:schemeClr val="dk2"/>
                </a:solidFill>
                <a:latin typeface="Tahoma"/>
                <a:ea typeface="Tahoma"/>
                <a:cs typeface="Tahoma"/>
                <a:sym typeface="Tahoma"/>
              </a:defRPr>
            </a:lvl9pPr>
          </a:lstStyle>
          <a:p>
            <a:endParaRPr/>
          </a:p>
        </p:txBody>
      </p:sp>
      <p:sp>
        <p:nvSpPr>
          <p:cNvPr id="15" name="Shape 15"/>
          <p:cNvSpPr txBox="1">
            <a:spLocks noGrp="1"/>
          </p:cNvSpPr>
          <p:nvPr>
            <p:ph type="body" idx="1"/>
          </p:nvPr>
        </p:nvSpPr>
        <p:spPr>
          <a:xfrm rot="5400000">
            <a:off x="3831432" y="-1621789"/>
            <a:ext cx="4525963" cy="10969943"/>
          </a:xfrm>
          <a:prstGeom prst="rect">
            <a:avLst/>
          </a:prstGeom>
          <a:noFill/>
          <a:ln>
            <a:noFill/>
          </a:ln>
        </p:spPr>
        <p:txBody>
          <a:bodyPr lIns="110350" tIns="110350" rIns="110350" bIns="110350" anchor="t" anchorCtr="0"/>
          <a:lstStyle>
            <a:lvl1pPr marL="413880" indent="-325739" algn="l" rtl="0">
              <a:spcBef>
                <a:spcPts val="772"/>
              </a:spcBef>
              <a:spcAft>
                <a:spcPts val="0"/>
              </a:spcAft>
              <a:buClr>
                <a:schemeClr val="folHlink"/>
              </a:buClr>
              <a:buFont typeface="Arial"/>
              <a:buChar char="●"/>
              <a:defRPr sz="3900">
                <a:solidFill>
                  <a:schemeClr val="dk1"/>
                </a:solidFill>
                <a:latin typeface="Tahoma"/>
                <a:ea typeface="Tahoma"/>
                <a:cs typeface="Tahoma"/>
                <a:sym typeface="Tahoma"/>
              </a:defRPr>
            </a:lvl1pPr>
            <a:lvl2pPr marL="896741" indent="-275920" algn="l" rtl="0">
              <a:spcBef>
                <a:spcPts val="676"/>
              </a:spcBef>
              <a:spcAft>
                <a:spcPts val="0"/>
              </a:spcAft>
              <a:buClr>
                <a:schemeClr val="hlink"/>
              </a:buClr>
              <a:buFont typeface="Arial"/>
              <a:buChar char="●"/>
              <a:defRPr sz="3400">
                <a:solidFill>
                  <a:schemeClr val="dk1"/>
                </a:solidFill>
                <a:latin typeface="Tahoma"/>
                <a:ea typeface="Tahoma"/>
                <a:cs typeface="Tahoma"/>
                <a:sym typeface="Tahoma"/>
              </a:defRPr>
            </a:lvl2pPr>
            <a:lvl3pPr marL="1379601" indent="-222269" algn="l" rtl="0">
              <a:spcBef>
                <a:spcPts val="579"/>
              </a:spcBef>
              <a:spcAft>
                <a:spcPts val="0"/>
              </a:spcAft>
              <a:buClr>
                <a:schemeClr val="folHlink"/>
              </a:buClr>
              <a:buFont typeface="Arial"/>
              <a:buChar char="●"/>
              <a:defRPr sz="2900">
                <a:solidFill>
                  <a:schemeClr val="dk1"/>
                </a:solidFill>
                <a:latin typeface="Tahoma"/>
                <a:ea typeface="Tahoma"/>
                <a:cs typeface="Tahoma"/>
                <a:sym typeface="Tahoma"/>
              </a:defRPr>
            </a:lvl3pPr>
            <a:lvl4pPr marL="1931441" indent="-226101" algn="l" rtl="0">
              <a:spcBef>
                <a:spcPts val="483"/>
              </a:spcBef>
              <a:spcAft>
                <a:spcPts val="0"/>
              </a:spcAft>
              <a:buClr>
                <a:schemeClr val="accent2"/>
              </a:buClr>
              <a:buFont typeface="Arial"/>
              <a:buChar char="●"/>
              <a:defRPr sz="2400">
                <a:solidFill>
                  <a:schemeClr val="dk1"/>
                </a:solidFill>
                <a:latin typeface="Tahoma"/>
                <a:ea typeface="Tahoma"/>
                <a:cs typeface="Tahoma"/>
                <a:sym typeface="Tahoma"/>
              </a:defRPr>
            </a:lvl4pPr>
            <a:lvl5pPr marL="2483282"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5pPr>
            <a:lvl6pPr marL="3035122"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6pPr>
            <a:lvl7pPr marL="358696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7pPr>
            <a:lvl8pPr marL="413880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8pPr>
            <a:lvl9pPr marL="469064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2389096" y="4800600"/>
            <a:ext cx="7313294" cy="566737"/>
          </a:xfrm>
          <a:prstGeom prst="rect">
            <a:avLst/>
          </a:prstGeom>
          <a:noFill/>
          <a:ln>
            <a:noFill/>
          </a:ln>
        </p:spPr>
        <p:txBody>
          <a:bodyPr lIns="110350" tIns="110350" rIns="110350" bIns="110350" anchor="b" anchorCtr="0"/>
          <a:lstStyle>
            <a:lvl1pPr algn="l" rtl="0">
              <a:spcBef>
                <a:spcPts val="0"/>
              </a:spcBef>
              <a:defRPr sz="2400" b="1"/>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8" name="Shape 18"/>
          <p:cNvSpPr>
            <a:spLocks noGrp="1"/>
          </p:cNvSpPr>
          <p:nvPr>
            <p:ph type="pic" idx="2"/>
          </p:nvPr>
        </p:nvSpPr>
        <p:spPr>
          <a:xfrm>
            <a:off x="2389096" y="612776"/>
            <a:ext cx="7313294" cy="4114800"/>
          </a:xfrm>
          <a:prstGeom prst="rect">
            <a:avLst/>
          </a:prstGeom>
          <a:noFill/>
          <a:ln>
            <a:noFill/>
          </a:ln>
        </p:spPr>
        <p:txBody>
          <a:bodyPr lIns="110350" tIns="110350" rIns="110350" bIns="110350" anchor="t" anchorCtr="0"/>
          <a:lstStyle>
            <a:lvl1pPr marL="0" marR="0" indent="0" algn="l" rtl="0">
              <a:spcBef>
                <a:spcPts val="0"/>
              </a:spcBef>
              <a:buClr>
                <a:schemeClr val="dk1"/>
              </a:buClr>
              <a:buFont typeface="Arial"/>
              <a:buNone/>
              <a:defRPr sz="3900" b="0" i="0" u="none" strike="noStrike" cap="none" baseline="0">
                <a:solidFill>
                  <a:schemeClr val="dk1"/>
                </a:solidFill>
                <a:latin typeface="Arial"/>
                <a:ea typeface="Arial"/>
                <a:cs typeface="Arial"/>
                <a:sym typeface="Arial"/>
              </a:defRPr>
            </a:lvl1pPr>
            <a:lvl2pPr marL="551840" marR="0" indent="0" algn="l" rtl="0">
              <a:spcBef>
                <a:spcPts val="0"/>
              </a:spcBef>
              <a:buFont typeface="Arial"/>
              <a:buNone/>
              <a:defRPr sz="3400" b="0" i="0" u="none" strike="noStrike" cap="none" baseline="0"/>
            </a:lvl2pPr>
            <a:lvl3pPr marL="1103681" marR="0" indent="0" algn="l" rtl="0">
              <a:spcBef>
                <a:spcPts val="0"/>
              </a:spcBef>
              <a:buFont typeface="Arial"/>
              <a:buNone/>
              <a:defRPr sz="2900" b="0" i="0" u="none" strike="noStrike" cap="none" baseline="0"/>
            </a:lvl3pPr>
            <a:lvl4pPr marL="1655521" marR="0" indent="0" algn="l" rtl="0">
              <a:spcBef>
                <a:spcPts val="0"/>
              </a:spcBef>
              <a:buFont typeface="Arial"/>
              <a:buNone/>
              <a:defRPr sz="2400" b="0" i="0" u="none" strike="noStrike" cap="none" baseline="0"/>
            </a:lvl4pPr>
            <a:lvl5pPr marL="2207362" marR="0" indent="0" algn="l" rtl="0">
              <a:spcBef>
                <a:spcPts val="0"/>
              </a:spcBef>
              <a:buFont typeface="Arial"/>
              <a:buNone/>
              <a:defRPr sz="2400" b="0" i="0" u="none" strike="noStrike" cap="none" baseline="0"/>
            </a:lvl5pPr>
            <a:lvl6pPr marL="2759202" marR="0" indent="0" algn="l" rtl="0">
              <a:spcBef>
                <a:spcPts val="0"/>
              </a:spcBef>
              <a:buFont typeface="Arial"/>
              <a:buNone/>
              <a:defRPr sz="2400" b="0" i="0" u="none" strike="noStrike" cap="none" baseline="0"/>
            </a:lvl6pPr>
            <a:lvl7pPr marL="3311042" marR="0" indent="0" algn="l" rtl="0">
              <a:spcBef>
                <a:spcPts val="0"/>
              </a:spcBef>
              <a:buFont typeface="Arial"/>
              <a:buNone/>
              <a:defRPr sz="2400" b="0" i="0" u="none" strike="noStrike" cap="none" baseline="0"/>
            </a:lvl7pPr>
            <a:lvl8pPr marL="3862883" marR="0" indent="0" algn="l" rtl="0">
              <a:spcBef>
                <a:spcPts val="0"/>
              </a:spcBef>
              <a:buFont typeface="Arial"/>
              <a:buNone/>
              <a:defRPr sz="2400" b="0" i="0" u="none" strike="noStrike" cap="none" baseline="0"/>
            </a:lvl8pPr>
            <a:lvl9pPr marL="4414723" marR="0" indent="0" algn="l" rtl="0">
              <a:spcBef>
                <a:spcPts val="0"/>
              </a:spcBef>
              <a:buFont typeface="Arial"/>
              <a:buNone/>
              <a:defRPr sz="2400" b="0" i="0" u="none" strike="noStrike" cap="none" baseline="0"/>
            </a:lvl9pPr>
          </a:lstStyle>
          <a:p>
            <a:endParaRPr/>
          </a:p>
        </p:txBody>
      </p:sp>
      <p:sp>
        <p:nvSpPr>
          <p:cNvPr id="19" name="Shape 19"/>
          <p:cNvSpPr txBox="1">
            <a:spLocks noGrp="1"/>
          </p:cNvSpPr>
          <p:nvPr>
            <p:ph type="body" idx="1"/>
          </p:nvPr>
        </p:nvSpPr>
        <p:spPr>
          <a:xfrm>
            <a:off x="2389096" y="5367338"/>
            <a:ext cx="7313294" cy="804861"/>
          </a:xfrm>
          <a:prstGeom prst="rect">
            <a:avLst/>
          </a:prstGeom>
          <a:noFill/>
          <a:ln>
            <a:noFill/>
          </a:ln>
        </p:spPr>
        <p:txBody>
          <a:bodyPr lIns="110350" tIns="110350" rIns="110350" bIns="110350" anchor="t" anchorCtr="0"/>
          <a:lstStyle>
            <a:lvl1pPr marL="0" indent="0" rtl="0">
              <a:spcBef>
                <a:spcPts val="0"/>
              </a:spcBef>
              <a:buFont typeface="Tahoma"/>
              <a:buNone/>
              <a:defRPr sz="1700"/>
            </a:lvl1pPr>
            <a:lvl2pPr marL="551840" indent="0" rtl="0">
              <a:spcBef>
                <a:spcPts val="0"/>
              </a:spcBef>
              <a:buFont typeface="Tahoma"/>
              <a:buNone/>
              <a:defRPr sz="1400"/>
            </a:lvl2pPr>
            <a:lvl3pPr marL="1103681" indent="0" rtl="0">
              <a:spcBef>
                <a:spcPts val="0"/>
              </a:spcBef>
              <a:buFont typeface="Tahoma"/>
              <a:buNone/>
              <a:defRPr sz="1200"/>
            </a:lvl3pPr>
            <a:lvl4pPr marL="1655521" indent="0" rtl="0">
              <a:spcBef>
                <a:spcPts val="0"/>
              </a:spcBef>
              <a:buFont typeface="Tahoma"/>
              <a:buNone/>
              <a:defRPr sz="1100"/>
            </a:lvl4pPr>
            <a:lvl5pPr marL="2207362" indent="0" rtl="0">
              <a:spcBef>
                <a:spcPts val="0"/>
              </a:spcBef>
              <a:buFont typeface="Tahoma"/>
              <a:buNone/>
              <a:defRPr sz="1100"/>
            </a:lvl5pPr>
            <a:lvl6pPr marL="2759202" indent="0" rtl="0">
              <a:spcBef>
                <a:spcPts val="0"/>
              </a:spcBef>
              <a:buFont typeface="Tahoma"/>
              <a:buNone/>
              <a:defRPr sz="1100"/>
            </a:lvl6pPr>
            <a:lvl7pPr marL="3311042" indent="0" rtl="0">
              <a:spcBef>
                <a:spcPts val="0"/>
              </a:spcBef>
              <a:buFont typeface="Tahoma"/>
              <a:buNone/>
              <a:defRPr sz="1100"/>
            </a:lvl7pPr>
            <a:lvl8pPr marL="3862883" indent="0" rtl="0">
              <a:spcBef>
                <a:spcPts val="0"/>
              </a:spcBef>
              <a:buFont typeface="Tahoma"/>
              <a:buNone/>
              <a:defRPr sz="1100"/>
            </a:lvl8pPr>
            <a:lvl9pPr marL="4414723" indent="0" rtl="0">
              <a:spcBef>
                <a:spcPts val="0"/>
              </a:spcBef>
              <a:buFont typeface="Tahoma"/>
              <a:buNone/>
              <a:defRPr sz="1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609443" y="273051"/>
            <a:ext cx="4010039" cy="1162049"/>
          </a:xfrm>
          <a:prstGeom prst="rect">
            <a:avLst/>
          </a:prstGeom>
          <a:noFill/>
          <a:ln>
            <a:noFill/>
          </a:ln>
        </p:spPr>
        <p:txBody>
          <a:bodyPr lIns="110350" tIns="110350" rIns="110350" bIns="110350" anchor="b" anchorCtr="0"/>
          <a:lstStyle>
            <a:lvl1pPr algn="l" rtl="0">
              <a:spcBef>
                <a:spcPts val="0"/>
              </a:spcBef>
              <a:defRPr sz="2400" b="1"/>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22" name="Shape 22"/>
          <p:cNvSpPr txBox="1">
            <a:spLocks noGrp="1"/>
          </p:cNvSpPr>
          <p:nvPr>
            <p:ph type="body" idx="1"/>
          </p:nvPr>
        </p:nvSpPr>
        <p:spPr>
          <a:xfrm>
            <a:off x="4765492" y="273050"/>
            <a:ext cx="6813892" cy="5853112"/>
          </a:xfrm>
          <a:prstGeom prst="rect">
            <a:avLst/>
          </a:prstGeom>
          <a:noFill/>
          <a:ln>
            <a:noFill/>
          </a:ln>
        </p:spPr>
        <p:txBody>
          <a:bodyPr lIns="110350" tIns="110350" rIns="110350" bIns="110350" anchor="t" anchorCtr="0"/>
          <a:lstStyle>
            <a:lvl1pPr rtl="0">
              <a:spcBef>
                <a:spcPts val="0"/>
              </a:spcBef>
              <a:defRPr sz="3900"/>
            </a:lvl1pPr>
            <a:lvl2pPr rtl="0">
              <a:spcBef>
                <a:spcPts val="0"/>
              </a:spcBef>
              <a:defRPr sz="3400"/>
            </a:lvl2pPr>
            <a:lvl3pPr rtl="0">
              <a:spcBef>
                <a:spcPts val="0"/>
              </a:spcBef>
              <a:defRPr sz="2900"/>
            </a:lvl3pPr>
            <a:lvl4pPr rtl="0">
              <a:spcBef>
                <a:spcPts val="0"/>
              </a:spcBef>
              <a:defRPr sz="2400"/>
            </a:lvl4pPr>
            <a:lvl5pPr rtl="0">
              <a:spcBef>
                <a:spcPts val="0"/>
              </a:spcBef>
              <a:defRPr sz="2400"/>
            </a:lvl5pPr>
            <a:lvl6pPr rtl="0">
              <a:spcBef>
                <a:spcPts val="0"/>
              </a:spcBef>
              <a:defRPr sz="2400"/>
            </a:lvl6pPr>
            <a:lvl7pPr rtl="0">
              <a:spcBef>
                <a:spcPts val="0"/>
              </a:spcBef>
              <a:defRPr sz="2400"/>
            </a:lvl7pPr>
            <a:lvl8pPr rtl="0">
              <a:spcBef>
                <a:spcPts val="0"/>
              </a:spcBef>
              <a:defRPr sz="2400"/>
            </a:lvl8pPr>
            <a:lvl9pPr rtl="0">
              <a:spcBef>
                <a:spcPts val="0"/>
              </a:spcBef>
              <a:defRPr sz="2400"/>
            </a:lvl9pPr>
          </a:lstStyle>
          <a:p>
            <a:endParaRPr/>
          </a:p>
        </p:txBody>
      </p:sp>
      <p:sp>
        <p:nvSpPr>
          <p:cNvPr id="23" name="Shape 23"/>
          <p:cNvSpPr txBox="1">
            <a:spLocks noGrp="1"/>
          </p:cNvSpPr>
          <p:nvPr>
            <p:ph type="body" idx="2"/>
          </p:nvPr>
        </p:nvSpPr>
        <p:spPr>
          <a:xfrm>
            <a:off x="609443" y="1435101"/>
            <a:ext cx="4010039" cy="4691063"/>
          </a:xfrm>
          <a:prstGeom prst="rect">
            <a:avLst/>
          </a:prstGeom>
          <a:noFill/>
          <a:ln>
            <a:noFill/>
          </a:ln>
        </p:spPr>
        <p:txBody>
          <a:bodyPr lIns="110350" tIns="110350" rIns="110350" bIns="110350" anchor="t" anchorCtr="0"/>
          <a:lstStyle>
            <a:lvl1pPr marL="0" indent="0" rtl="0">
              <a:spcBef>
                <a:spcPts val="0"/>
              </a:spcBef>
              <a:buFont typeface="Tahoma"/>
              <a:buNone/>
              <a:defRPr sz="1700"/>
            </a:lvl1pPr>
            <a:lvl2pPr marL="551840" indent="0" rtl="0">
              <a:spcBef>
                <a:spcPts val="0"/>
              </a:spcBef>
              <a:buFont typeface="Tahoma"/>
              <a:buNone/>
              <a:defRPr sz="1400"/>
            </a:lvl2pPr>
            <a:lvl3pPr marL="1103681" indent="0" rtl="0">
              <a:spcBef>
                <a:spcPts val="0"/>
              </a:spcBef>
              <a:buFont typeface="Tahoma"/>
              <a:buNone/>
              <a:defRPr sz="1200"/>
            </a:lvl3pPr>
            <a:lvl4pPr marL="1655521" indent="0" rtl="0">
              <a:spcBef>
                <a:spcPts val="0"/>
              </a:spcBef>
              <a:buFont typeface="Tahoma"/>
              <a:buNone/>
              <a:defRPr sz="1100"/>
            </a:lvl4pPr>
            <a:lvl5pPr marL="2207362" indent="0" rtl="0">
              <a:spcBef>
                <a:spcPts val="0"/>
              </a:spcBef>
              <a:buFont typeface="Tahoma"/>
              <a:buNone/>
              <a:defRPr sz="1100"/>
            </a:lvl5pPr>
            <a:lvl6pPr marL="2759202" indent="0" rtl="0">
              <a:spcBef>
                <a:spcPts val="0"/>
              </a:spcBef>
              <a:buFont typeface="Tahoma"/>
              <a:buNone/>
              <a:defRPr sz="1100"/>
            </a:lvl6pPr>
            <a:lvl7pPr marL="3311042" indent="0" rtl="0">
              <a:spcBef>
                <a:spcPts val="0"/>
              </a:spcBef>
              <a:buFont typeface="Tahoma"/>
              <a:buNone/>
              <a:defRPr sz="1100"/>
            </a:lvl7pPr>
            <a:lvl8pPr marL="3862883" indent="0" rtl="0">
              <a:spcBef>
                <a:spcPts val="0"/>
              </a:spcBef>
              <a:buFont typeface="Tahoma"/>
              <a:buNone/>
              <a:defRPr sz="1100"/>
            </a:lvl8pPr>
            <a:lvl9pPr marL="4414723" indent="0" rtl="0">
              <a:spcBef>
                <a:spcPts val="0"/>
              </a:spcBef>
              <a:buFont typeface="Tahoma"/>
              <a:buNone/>
              <a:defRPr sz="1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609442" y="274638"/>
            <a:ext cx="10969943" cy="1143000"/>
          </a:xfrm>
          <a:prstGeom prst="rect">
            <a:avLst/>
          </a:prstGeom>
          <a:noFill/>
          <a:ln>
            <a:noFill/>
          </a:ln>
        </p:spPr>
        <p:txBody>
          <a:bodyPr lIns="110350" tIns="110350" rIns="110350" bIns="110350" anchor="t" anchorCtr="0"/>
          <a:lstStyle>
            <a:lvl1pPr algn="l" rtl="0">
              <a:spcBef>
                <a:spcPts val="0"/>
              </a:spcBef>
              <a:spcAft>
                <a:spcPts val="0"/>
              </a:spcAft>
              <a:defRPr sz="5300">
                <a:solidFill>
                  <a:schemeClr val="dk2"/>
                </a:solidFill>
                <a:latin typeface="Tahoma"/>
                <a:ea typeface="Tahoma"/>
                <a:cs typeface="Tahoma"/>
                <a:sym typeface="Tahoma"/>
              </a:defRPr>
            </a:lvl1pPr>
            <a:lvl2pPr algn="l" rtl="0">
              <a:spcBef>
                <a:spcPts val="0"/>
              </a:spcBef>
              <a:spcAft>
                <a:spcPts val="0"/>
              </a:spcAft>
              <a:defRPr sz="5300">
                <a:solidFill>
                  <a:schemeClr val="dk2"/>
                </a:solidFill>
                <a:latin typeface="Tahoma"/>
                <a:ea typeface="Tahoma"/>
                <a:cs typeface="Tahoma"/>
                <a:sym typeface="Tahoma"/>
              </a:defRPr>
            </a:lvl2pPr>
            <a:lvl3pPr algn="l" rtl="0">
              <a:spcBef>
                <a:spcPts val="0"/>
              </a:spcBef>
              <a:spcAft>
                <a:spcPts val="0"/>
              </a:spcAft>
              <a:defRPr sz="5300">
                <a:solidFill>
                  <a:schemeClr val="dk2"/>
                </a:solidFill>
                <a:latin typeface="Tahoma"/>
                <a:ea typeface="Tahoma"/>
                <a:cs typeface="Tahoma"/>
                <a:sym typeface="Tahoma"/>
              </a:defRPr>
            </a:lvl3pPr>
            <a:lvl4pPr algn="l" rtl="0">
              <a:spcBef>
                <a:spcPts val="0"/>
              </a:spcBef>
              <a:spcAft>
                <a:spcPts val="0"/>
              </a:spcAft>
              <a:defRPr sz="5300">
                <a:solidFill>
                  <a:schemeClr val="dk2"/>
                </a:solidFill>
                <a:latin typeface="Tahoma"/>
                <a:ea typeface="Tahoma"/>
                <a:cs typeface="Tahoma"/>
                <a:sym typeface="Tahoma"/>
              </a:defRPr>
            </a:lvl4pPr>
            <a:lvl5pPr algn="l" rtl="0">
              <a:spcBef>
                <a:spcPts val="0"/>
              </a:spcBef>
              <a:spcAft>
                <a:spcPts val="0"/>
              </a:spcAft>
              <a:defRPr sz="5300">
                <a:solidFill>
                  <a:schemeClr val="dk2"/>
                </a:solidFill>
                <a:latin typeface="Tahoma"/>
                <a:ea typeface="Tahoma"/>
                <a:cs typeface="Tahoma"/>
                <a:sym typeface="Tahoma"/>
              </a:defRPr>
            </a:lvl5pPr>
            <a:lvl6pPr marL="551840" algn="l" rtl="0">
              <a:spcBef>
                <a:spcPts val="0"/>
              </a:spcBef>
              <a:spcAft>
                <a:spcPts val="0"/>
              </a:spcAft>
              <a:defRPr sz="5300">
                <a:solidFill>
                  <a:schemeClr val="dk2"/>
                </a:solidFill>
                <a:latin typeface="Tahoma"/>
                <a:ea typeface="Tahoma"/>
                <a:cs typeface="Tahoma"/>
                <a:sym typeface="Tahoma"/>
              </a:defRPr>
            </a:lvl6pPr>
            <a:lvl7pPr marL="1103681" algn="l" rtl="0">
              <a:spcBef>
                <a:spcPts val="0"/>
              </a:spcBef>
              <a:spcAft>
                <a:spcPts val="0"/>
              </a:spcAft>
              <a:defRPr sz="5300">
                <a:solidFill>
                  <a:schemeClr val="dk2"/>
                </a:solidFill>
                <a:latin typeface="Tahoma"/>
                <a:ea typeface="Tahoma"/>
                <a:cs typeface="Tahoma"/>
                <a:sym typeface="Tahoma"/>
              </a:defRPr>
            </a:lvl7pPr>
            <a:lvl8pPr marL="1655521" algn="l" rtl="0">
              <a:spcBef>
                <a:spcPts val="0"/>
              </a:spcBef>
              <a:spcAft>
                <a:spcPts val="0"/>
              </a:spcAft>
              <a:defRPr sz="5300">
                <a:solidFill>
                  <a:schemeClr val="dk2"/>
                </a:solidFill>
                <a:latin typeface="Tahoma"/>
                <a:ea typeface="Tahoma"/>
                <a:cs typeface="Tahoma"/>
                <a:sym typeface="Tahoma"/>
              </a:defRPr>
            </a:lvl8pPr>
            <a:lvl9pPr marL="2207362" algn="l" rtl="0">
              <a:spcBef>
                <a:spcPts val="0"/>
              </a:spcBef>
              <a:spcAft>
                <a:spcPts val="0"/>
              </a:spcAft>
              <a:defRPr sz="5300">
                <a:solidFill>
                  <a:schemeClr val="dk2"/>
                </a:solidFill>
                <a:latin typeface="Tahoma"/>
                <a:ea typeface="Tahoma"/>
                <a:cs typeface="Tahoma"/>
                <a:sym typeface="Tahoma"/>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Shape 27"/>
        <p:cNvGrpSpPr/>
        <p:nvPr/>
      </p:nvGrpSpPr>
      <p:grpSpPr>
        <a:xfrm>
          <a:off x="0" y="0"/>
          <a:ext cx="0" cy="0"/>
          <a:chOff x="0" y="0"/>
          <a:chExt cx="0" cy="0"/>
        </a:xfrm>
      </p:grpSpPr>
      <p:sp>
        <p:nvSpPr>
          <p:cNvPr id="28" name="Shape 28"/>
          <p:cNvSpPr txBox="1">
            <a:spLocks noGrp="1"/>
          </p:cNvSpPr>
          <p:nvPr>
            <p:ph type="title"/>
          </p:nvPr>
        </p:nvSpPr>
        <p:spPr>
          <a:xfrm>
            <a:off x="609442" y="274638"/>
            <a:ext cx="10969943" cy="1143000"/>
          </a:xfrm>
          <a:prstGeom prst="rect">
            <a:avLst/>
          </a:prstGeom>
          <a:noFill/>
          <a:ln>
            <a:noFill/>
          </a:ln>
        </p:spPr>
        <p:txBody>
          <a:bodyPr lIns="110350" tIns="110350" rIns="110350" bIns="110350" anchor="t" anchorCtr="0"/>
          <a:lstStyle>
            <a:lvl1pPr rtl="0">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29" name="Shape 29"/>
          <p:cNvSpPr txBox="1">
            <a:spLocks noGrp="1"/>
          </p:cNvSpPr>
          <p:nvPr>
            <p:ph type="body" idx="1"/>
          </p:nvPr>
        </p:nvSpPr>
        <p:spPr>
          <a:xfrm>
            <a:off x="609443" y="1535112"/>
            <a:ext cx="5385513" cy="639762"/>
          </a:xfrm>
          <a:prstGeom prst="rect">
            <a:avLst/>
          </a:prstGeom>
          <a:noFill/>
          <a:ln>
            <a:noFill/>
          </a:ln>
        </p:spPr>
        <p:txBody>
          <a:bodyPr lIns="110350" tIns="110350" rIns="110350" bIns="110350" anchor="b" anchorCtr="0"/>
          <a:lstStyle>
            <a:lvl1pPr marL="0" indent="0" rtl="0">
              <a:spcBef>
                <a:spcPts val="0"/>
              </a:spcBef>
              <a:buFont typeface="Tahoma"/>
              <a:buNone/>
              <a:defRPr sz="2900" b="1"/>
            </a:lvl1pPr>
            <a:lvl2pPr marL="551840" indent="0" rtl="0">
              <a:spcBef>
                <a:spcPts val="0"/>
              </a:spcBef>
              <a:buFont typeface="Tahoma"/>
              <a:buNone/>
              <a:defRPr sz="2400" b="1"/>
            </a:lvl2pPr>
            <a:lvl3pPr marL="1103681" indent="0" rtl="0">
              <a:spcBef>
                <a:spcPts val="0"/>
              </a:spcBef>
              <a:buFont typeface="Tahoma"/>
              <a:buNone/>
              <a:defRPr sz="2200" b="1"/>
            </a:lvl3pPr>
            <a:lvl4pPr marL="1655521" indent="0" rtl="0">
              <a:spcBef>
                <a:spcPts val="0"/>
              </a:spcBef>
              <a:buFont typeface="Tahoma"/>
              <a:buNone/>
              <a:defRPr sz="1900" b="1"/>
            </a:lvl4pPr>
            <a:lvl5pPr marL="2207362" indent="0" rtl="0">
              <a:spcBef>
                <a:spcPts val="0"/>
              </a:spcBef>
              <a:buFont typeface="Tahoma"/>
              <a:buNone/>
              <a:defRPr sz="1900" b="1"/>
            </a:lvl5pPr>
            <a:lvl6pPr marL="2759202" indent="0" rtl="0">
              <a:spcBef>
                <a:spcPts val="0"/>
              </a:spcBef>
              <a:buFont typeface="Tahoma"/>
              <a:buNone/>
              <a:defRPr sz="1900" b="1"/>
            </a:lvl6pPr>
            <a:lvl7pPr marL="3311042" indent="0" rtl="0">
              <a:spcBef>
                <a:spcPts val="0"/>
              </a:spcBef>
              <a:buFont typeface="Tahoma"/>
              <a:buNone/>
              <a:defRPr sz="1900" b="1"/>
            </a:lvl7pPr>
            <a:lvl8pPr marL="3862883" indent="0" rtl="0">
              <a:spcBef>
                <a:spcPts val="0"/>
              </a:spcBef>
              <a:buFont typeface="Tahoma"/>
              <a:buNone/>
              <a:defRPr sz="1900" b="1"/>
            </a:lvl8pPr>
            <a:lvl9pPr marL="4414723" indent="0" rtl="0">
              <a:spcBef>
                <a:spcPts val="0"/>
              </a:spcBef>
              <a:buFont typeface="Tahoma"/>
              <a:buNone/>
              <a:defRPr sz="1900" b="1"/>
            </a:lvl9pPr>
          </a:lstStyle>
          <a:p>
            <a:endParaRPr/>
          </a:p>
        </p:txBody>
      </p:sp>
      <p:sp>
        <p:nvSpPr>
          <p:cNvPr id="30" name="Shape 30"/>
          <p:cNvSpPr txBox="1">
            <a:spLocks noGrp="1"/>
          </p:cNvSpPr>
          <p:nvPr>
            <p:ph type="body" idx="2"/>
          </p:nvPr>
        </p:nvSpPr>
        <p:spPr>
          <a:xfrm>
            <a:off x="609443" y="2174876"/>
            <a:ext cx="5385513" cy="3951287"/>
          </a:xfrm>
          <a:prstGeom prst="rect">
            <a:avLst/>
          </a:prstGeom>
          <a:noFill/>
          <a:ln>
            <a:noFill/>
          </a:ln>
        </p:spPr>
        <p:txBody>
          <a:bodyPr lIns="110350" tIns="110350" rIns="110350" bIns="110350" anchor="t" anchorCtr="0"/>
          <a:lstStyle>
            <a:lvl1pPr rtl="0">
              <a:spcBef>
                <a:spcPts val="0"/>
              </a:spcBef>
              <a:defRPr sz="2900"/>
            </a:lvl1pPr>
            <a:lvl2pPr rtl="0">
              <a:spcBef>
                <a:spcPts val="0"/>
              </a:spcBef>
              <a:defRPr sz="2400"/>
            </a:lvl2pPr>
            <a:lvl3pPr rtl="0">
              <a:spcBef>
                <a:spcPts val="0"/>
              </a:spcBef>
              <a:defRPr sz="2200"/>
            </a:lvl3pPr>
            <a:lvl4pPr rtl="0">
              <a:spcBef>
                <a:spcPts val="0"/>
              </a:spcBef>
              <a:defRPr sz="1900"/>
            </a:lvl4pPr>
            <a:lvl5pPr rtl="0">
              <a:spcBef>
                <a:spcPts val="0"/>
              </a:spcBef>
              <a:defRPr sz="1900"/>
            </a:lvl5pPr>
            <a:lvl6pPr rtl="0">
              <a:spcBef>
                <a:spcPts val="0"/>
              </a:spcBef>
              <a:defRPr sz="1900"/>
            </a:lvl6pPr>
            <a:lvl7pPr rtl="0">
              <a:spcBef>
                <a:spcPts val="0"/>
              </a:spcBef>
              <a:defRPr sz="1900"/>
            </a:lvl7pPr>
            <a:lvl8pPr rtl="0">
              <a:spcBef>
                <a:spcPts val="0"/>
              </a:spcBef>
              <a:defRPr sz="1900"/>
            </a:lvl8pPr>
            <a:lvl9pPr rtl="0">
              <a:spcBef>
                <a:spcPts val="0"/>
              </a:spcBef>
              <a:defRPr sz="1900"/>
            </a:lvl9pPr>
          </a:lstStyle>
          <a:p>
            <a:endParaRPr/>
          </a:p>
        </p:txBody>
      </p:sp>
      <p:sp>
        <p:nvSpPr>
          <p:cNvPr id="31" name="Shape 31"/>
          <p:cNvSpPr txBox="1">
            <a:spLocks noGrp="1"/>
          </p:cNvSpPr>
          <p:nvPr>
            <p:ph type="body" idx="3"/>
          </p:nvPr>
        </p:nvSpPr>
        <p:spPr>
          <a:xfrm>
            <a:off x="6191755" y="1535112"/>
            <a:ext cx="5387629" cy="639762"/>
          </a:xfrm>
          <a:prstGeom prst="rect">
            <a:avLst/>
          </a:prstGeom>
          <a:noFill/>
          <a:ln>
            <a:noFill/>
          </a:ln>
        </p:spPr>
        <p:txBody>
          <a:bodyPr lIns="110350" tIns="110350" rIns="110350" bIns="110350" anchor="b" anchorCtr="0"/>
          <a:lstStyle>
            <a:lvl1pPr marL="0" indent="0" rtl="0">
              <a:spcBef>
                <a:spcPts val="0"/>
              </a:spcBef>
              <a:buFont typeface="Tahoma"/>
              <a:buNone/>
              <a:defRPr sz="2900" b="1"/>
            </a:lvl1pPr>
            <a:lvl2pPr marL="551840" indent="0" rtl="0">
              <a:spcBef>
                <a:spcPts val="0"/>
              </a:spcBef>
              <a:buFont typeface="Tahoma"/>
              <a:buNone/>
              <a:defRPr sz="2400" b="1"/>
            </a:lvl2pPr>
            <a:lvl3pPr marL="1103681" indent="0" rtl="0">
              <a:spcBef>
                <a:spcPts val="0"/>
              </a:spcBef>
              <a:buFont typeface="Tahoma"/>
              <a:buNone/>
              <a:defRPr sz="2200" b="1"/>
            </a:lvl3pPr>
            <a:lvl4pPr marL="1655521" indent="0" rtl="0">
              <a:spcBef>
                <a:spcPts val="0"/>
              </a:spcBef>
              <a:buFont typeface="Tahoma"/>
              <a:buNone/>
              <a:defRPr sz="1900" b="1"/>
            </a:lvl4pPr>
            <a:lvl5pPr marL="2207362" indent="0" rtl="0">
              <a:spcBef>
                <a:spcPts val="0"/>
              </a:spcBef>
              <a:buFont typeface="Tahoma"/>
              <a:buNone/>
              <a:defRPr sz="1900" b="1"/>
            </a:lvl5pPr>
            <a:lvl6pPr marL="2759202" indent="0" rtl="0">
              <a:spcBef>
                <a:spcPts val="0"/>
              </a:spcBef>
              <a:buFont typeface="Tahoma"/>
              <a:buNone/>
              <a:defRPr sz="1900" b="1"/>
            </a:lvl6pPr>
            <a:lvl7pPr marL="3311042" indent="0" rtl="0">
              <a:spcBef>
                <a:spcPts val="0"/>
              </a:spcBef>
              <a:buFont typeface="Tahoma"/>
              <a:buNone/>
              <a:defRPr sz="1900" b="1"/>
            </a:lvl7pPr>
            <a:lvl8pPr marL="3862883" indent="0" rtl="0">
              <a:spcBef>
                <a:spcPts val="0"/>
              </a:spcBef>
              <a:buFont typeface="Tahoma"/>
              <a:buNone/>
              <a:defRPr sz="1900" b="1"/>
            </a:lvl8pPr>
            <a:lvl9pPr marL="4414723" indent="0" rtl="0">
              <a:spcBef>
                <a:spcPts val="0"/>
              </a:spcBef>
              <a:buFont typeface="Tahoma"/>
              <a:buNone/>
              <a:defRPr sz="1900" b="1"/>
            </a:lvl9pPr>
          </a:lstStyle>
          <a:p>
            <a:endParaRPr/>
          </a:p>
        </p:txBody>
      </p:sp>
      <p:sp>
        <p:nvSpPr>
          <p:cNvPr id="32" name="Shape 32"/>
          <p:cNvSpPr txBox="1">
            <a:spLocks noGrp="1"/>
          </p:cNvSpPr>
          <p:nvPr>
            <p:ph type="body" idx="4"/>
          </p:nvPr>
        </p:nvSpPr>
        <p:spPr>
          <a:xfrm>
            <a:off x="6191755" y="2174876"/>
            <a:ext cx="5387629" cy="3951287"/>
          </a:xfrm>
          <a:prstGeom prst="rect">
            <a:avLst/>
          </a:prstGeom>
          <a:noFill/>
          <a:ln>
            <a:noFill/>
          </a:ln>
        </p:spPr>
        <p:txBody>
          <a:bodyPr lIns="110350" tIns="110350" rIns="110350" bIns="110350" anchor="t" anchorCtr="0"/>
          <a:lstStyle>
            <a:lvl1pPr rtl="0">
              <a:spcBef>
                <a:spcPts val="0"/>
              </a:spcBef>
              <a:defRPr sz="2900"/>
            </a:lvl1pPr>
            <a:lvl2pPr rtl="0">
              <a:spcBef>
                <a:spcPts val="0"/>
              </a:spcBef>
              <a:defRPr sz="2400"/>
            </a:lvl2pPr>
            <a:lvl3pPr rtl="0">
              <a:spcBef>
                <a:spcPts val="0"/>
              </a:spcBef>
              <a:defRPr sz="2200"/>
            </a:lvl3pPr>
            <a:lvl4pPr rtl="0">
              <a:spcBef>
                <a:spcPts val="0"/>
              </a:spcBef>
              <a:defRPr sz="1900"/>
            </a:lvl4pPr>
            <a:lvl5pPr rtl="0">
              <a:spcBef>
                <a:spcPts val="0"/>
              </a:spcBef>
              <a:defRPr sz="1900"/>
            </a:lvl5pPr>
            <a:lvl6pPr rtl="0">
              <a:spcBef>
                <a:spcPts val="0"/>
              </a:spcBef>
              <a:defRPr sz="1900"/>
            </a:lvl6pPr>
            <a:lvl7pPr rtl="0">
              <a:spcBef>
                <a:spcPts val="0"/>
              </a:spcBef>
              <a:defRPr sz="1900"/>
            </a:lvl7pPr>
            <a:lvl8pPr rtl="0">
              <a:spcBef>
                <a:spcPts val="0"/>
              </a:spcBef>
              <a:defRPr sz="1900"/>
            </a:lvl8pPr>
            <a:lvl9pPr rtl="0">
              <a:spcBef>
                <a:spcPts val="0"/>
              </a:spcBef>
              <a:defRPr sz="19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Shape 33"/>
        <p:cNvGrpSpPr/>
        <p:nvPr/>
      </p:nvGrpSpPr>
      <p:grpSpPr>
        <a:xfrm>
          <a:off x="0" y="0"/>
          <a:ext cx="0" cy="0"/>
          <a:chOff x="0" y="0"/>
          <a:chExt cx="0" cy="0"/>
        </a:xfrm>
      </p:grpSpPr>
      <p:sp>
        <p:nvSpPr>
          <p:cNvPr id="34" name="Shape 34"/>
          <p:cNvSpPr txBox="1">
            <a:spLocks noGrp="1"/>
          </p:cNvSpPr>
          <p:nvPr>
            <p:ph type="title"/>
          </p:nvPr>
        </p:nvSpPr>
        <p:spPr>
          <a:xfrm>
            <a:off x="609442" y="274638"/>
            <a:ext cx="10969943" cy="1143000"/>
          </a:xfrm>
          <a:prstGeom prst="rect">
            <a:avLst/>
          </a:prstGeom>
          <a:noFill/>
          <a:ln>
            <a:noFill/>
          </a:ln>
        </p:spPr>
        <p:txBody>
          <a:bodyPr lIns="110350" tIns="110350" rIns="110350" bIns="110350" anchor="t" anchorCtr="0"/>
          <a:lstStyle>
            <a:lvl1pPr algn="l" rtl="0">
              <a:spcBef>
                <a:spcPts val="0"/>
              </a:spcBef>
              <a:spcAft>
                <a:spcPts val="0"/>
              </a:spcAft>
              <a:defRPr sz="5300">
                <a:solidFill>
                  <a:schemeClr val="dk2"/>
                </a:solidFill>
                <a:latin typeface="Tahoma"/>
                <a:ea typeface="Tahoma"/>
                <a:cs typeface="Tahoma"/>
                <a:sym typeface="Tahoma"/>
              </a:defRPr>
            </a:lvl1pPr>
            <a:lvl2pPr algn="l" rtl="0">
              <a:spcBef>
                <a:spcPts val="0"/>
              </a:spcBef>
              <a:spcAft>
                <a:spcPts val="0"/>
              </a:spcAft>
              <a:defRPr sz="5300">
                <a:solidFill>
                  <a:schemeClr val="dk2"/>
                </a:solidFill>
                <a:latin typeface="Tahoma"/>
                <a:ea typeface="Tahoma"/>
                <a:cs typeface="Tahoma"/>
                <a:sym typeface="Tahoma"/>
              </a:defRPr>
            </a:lvl2pPr>
            <a:lvl3pPr algn="l" rtl="0">
              <a:spcBef>
                <a:spcPts val="0"/>
              </a:spcBef>
              <a:spcAft>
                <a:spcPts val="0"/>
              </a:spcAft>
              <a:defRPr sz="5300">
                <a:solidFill>
                  <a:schemeClr val="dk2"/>
                </a:solidFill>
                <a:latin typeface="Tahoma"/>
                <a:ea typeface="Tahoma"/>
                <a:cs typeface="Tahoma"/>
                <a:sym typeface="Tahoma"/>
              </a:defRPr>
            </a:lvl3pPr>
            <a:lvl4pPr algn="l" rtl="0">
              <a:spcBef>
                <a:spcPts val="0"/>
              </a:spcBef>
              <a:spcAft>
                <a:spcPts val="0"/>
              </a:spcAft>
              <a:defRPr sz="5300">
                <a:solidFill>
                  <a:schemeClr val="dk2"/>
                </a:solidFill>
                <a:latin typeface="Tahoma"/>
                <a:ea typeface="Tahoma"/>
                <a:cs typeface="Tahoma"/>
                <a:sym typeface="Tahoma"/>
              </a:defRPr>
            </a:lvl4pPr>
            <a:lvl5pPr algn="l" rtl="0">
              <a:spcBef>
                <a:spcPts val="0"/>
              </a:spcBef>
              <a:spcAft>
                <a:spcPts val="0"/>
              </a:spcAft>
              <a:defRPr sz="5300">
                <a:solidFill>
                  <a:schemeClr val="dk2"/>
                </a:solidFill>
                <a:latin typeface="Tahoma"/>
                <a:ea typeface="Tahoma"/>
                <a:cs typeface="Tahoma"/>
                <a:sym typeface="Tahoma"/>
              </a:defRPr>
            </a:lvl5pPr>
            <a:lvl6pPr marL="551840" algn="l" rtl="0">
              <a:spcBef>
                <a:spcPts val="0"/>
              </a:spcBef>
              <a:spcAft>
                <a:spcPts val="0"/>
              </a:spcAft>
              <a:defRPr sz="5300">
                <a:solidFill>
                  <a:schemeClr val="dk2"/>
                </a:solidFill>
                <a:latin typeface="Tahoma"/>
                <a:ea typeface="Tahoma"/>
                <a:cs typeface="Tahoma"/>
                <a:sym typeface="Tahoma"/>
              </a:defRPr>
            </a:lvl6pPr>
            <a:lvl7pPr marL="1103681" algn="l" rtl="0">
              <a:spcBef>
                <a:spcPts val="0"/>
              </a:spcBef>
              <a:spcAft>
                <a:spcPts val="0"/>
              </a:spcAft>
              <a:defRPr sz="5300">
                <a:solidFill>
                  <a:schemeClr val="dk2"/>
                </a:solidFill>
                <a:latin typeface="Tahoma"/>
                <a:ea typeface="Tahoma"/>
                <a:cs typeface="Tahoma"/>
                <a:sym typeface="Tahoma"/>
              </a:defRPr>
            </a:lvl7pPr>
            <a:lvl8pPr marL="1655521" algn="l" rtl="0">
              <a:spcBef>
                <a:spcPts val="0"/>
              </a:spcBef>
              <a:spcAft>
                <a:spcPts val="0"/>
              </a:spcAft>
              <a:defRPr sz="5300">
                <a:solidFill>
                  <a:schemeClr val="dk2"/>
                </a:solidFill>
                <a:latin typeface="Tahoma"/>
                <a:ea typeface="Tahoma"/>
                <a:cs typeface="Tahoma"/>
                <a:sym typeface="Tahoma"/>
              </a:defRPr>
            </a:lvl8pPr>
            <a:lvl9pPr marL="2207362" algn="l" rtl="0">
              <a:spcBef>
                <a:spcPts val="0"/>
              </a:spcBef>
              <a:spcAft>
                <a:spcPts val="0"/>
              </a:spcAft>
              <a:defRPr sz="5300">
                <a:solidFill>
                  <a:schemeClr val="dk2"/>
                </a:solidFill>
                <a:latin typeface="Tahoma"/>
                <a:ea typeface="Tahoma"/>
                <a:cs typeface="Tahoma"/>
                <a:sym typeface="Tahoma"/>
              </a:defRPr>
            </a:lvl9pPr>
          </a:lstStyle>
          <a:p>
            <a:endParaRPr/>
          </a:p>
        </p:txBody>
      </p:sp>
      <p:sp>
        <p:nvSpPr>
          <p:cNvPr id="35" name="Shape 35"/>
          <p:cNvSpPr txBox="1">
            <a:spLocks noGrp="1"/>
          </p:cNvSpPr>
          <p:nvPr>
            <p:ph type="body" idx="1"/>
          </p:nvPr>
        </p:nvSpPr>
        <p:spPr>
          <a:xfrm>
            <a:off x="609442" y="1600201"/>
            <a:ext cx="5383396" cy="4525963"/>
          </a:xfrm>
          <a:prstGeom prst="rect">
            <a:avLst/>
          </a:prstGeom>
          <a:noFill/>
          <a:ln>
            <a:noFill/>
          </a:ln>
        </p:spPr>
        <p:txBody>
          <a:bodyPr lIns="110350" tIns="110350" rIns="110350" bIns="110350" anchor="t" anchorCtr="0"/>
          <a:lstStyle>
            <a:lvl1pPr rtl="0">
              <a:spcBef>
                <a:spcPts val="0"/>
              </a:spcBef>
              <a:defRPr sz="3400"/>
            </a:lvl1pPr>
            <a:lvl2pPr rtl="0">
              <a:spcBef>
                <a:spcPts val="0"/>
              </a:spcBef>
              <a:defRPr sz="2900"/>
            </a:lvl2pPr>
            <a:lvl3pPr rtl="0">
              <a:spcBef>
                <a:spcPts val="0"/>
              </a:spcBef>
              <a:defRPr sz="2400"/>
            </a:lvl3pPr>
            <a:lvl4pPr rtl="0">
              <a:spcBef>
                <a:spcPts val="0"/>
              </a:spcBef>
              <a:defRPr sz="2200"/>
            </a:lvl4pPr>
            <a:lvl5pPr rtl="0">
              <a:spcBef>
                <a:spcPts val="0"/>
              </a:spcBef>
              <a:defRPr sz="2200"/>
            </a:lvl5pPr>
            <a:lvl6pPr rtl="0">
              <a:spcBef>
                <a:spcPts val="0"/>
              </a:spcBef>
              <a:defRPr sz="2200"/>
            </a:lvl6pPr>
            <a:lvl7pPr rtl="0">
              <a:spcBef>
                <a:spcPts val="0"/>
              </a:spcBef>
              <a:defRPr sz="2200"/>
            </a:lvl7pPr>
            <a:lvl8pPr rtl="0">
              <a:spcBef>
                <a:spcPts val="0"/>
              </a:spcBef>
              <a:defRPr sz="2200"/>
            </a:lvl8pPr>
            <a:lvl9pPr rtl="0">
              <a:spcBef>
                <a:spcPts val="0"/>
              </a:spcBef>
              <a:defRPr sz="2200"/>
            </a:lvl9pPr>
          </a:lstStyle>
          <a:p>
            <a:endParaRPr/>
          </a:p>
        </p:txBody>
      </p:sp>
      <p:sp>
        <p:nvSpPr>
          <p:cNvPr id="36" name="Shape 36"/>
          <p:cNvSpPr txBox="1">
            <a:spLocks noGrp="1"/>
          </p:cNvSpPr>
          <p:nvPr>
            <p:ph type="body" idx="2"/>
          </p:nvPr>
        </p:nvSpPr>
        <p:spPr>
          <a:xfrm>
            <a:off x="6195987" y="1600201"/>
            <a:ext cx="5383396" cy="4525963"/>
          </a:xfrm>
          <a:prstGeom prst="rect">
            <a:avLst/>
          </a:prstGeom>
          <a:noFill/>
          <a:ln>
            <a:noFill/>
          </a:ln>
        </p:spPr>
        <p:txBody>
          <a:bodyPr lIns="110350" tIns="110350" rIns="110350" bIns="110350" anchor="t" anchorCtr="0"/>
          <a:lstStyle>
            <a:lvl1pPr rtl="0">
              <a:spcBef>
                <a:spcPts val="0"/>
              </a:spcBef>
              <a:defRPr sz="3400"/>
            </a:lvl1pPr>
            <a:lvl2pPr rtl="0">
              <a:spcBef>
                <a:spcPts val="0"/>
              </a:spcBef>
              <a:defRPr sz="2900"/>
            </a:lvl2pPr>
            <a:lvl3pPr rtl="0">
              <a:spcBef>
                <a:spcPts val="0"/>
              </a:spcBef>
              <a:defRPr sz="2400"/>
            </a:lvl3pPr>
            <a:lvl4pPr rtl="0">
              <a:spcBef>
                <a:spcPts val="0"/>
              </a:spcBef>
              <a:defRPr sz="2200"/>
            </a:lvl4pPr>
            <a:lvl5pPr rtl="0">
              <a:spcBef>
                <a:spcPts val="0"/>
              </a:spcBef>
              <a:defRPr sz="2200"/>
            </a:lvl5pPr>
            <a:lvl6pPr rtl="0">
              <a:spcBef>
                <a:spcPts val="0"/>
              </a:spcBef>
              <a:defRPr sz="2200"/>
            </a:lvl6pPr>
            <a:lvl7pPr rtl="0">
              <a:spcBef>
                <a:spcPts val="0"/>
              </a:spcBef>
              <a:defRPr sz="2200"/>
            </a:lvl7pPr>
            <a:lvl8pPr rtl="0">
              <a:spcBef>
                <a:spcPts val="0"/>
              </a:spcBef>
              <a:defRPr sz="2200"/>
            </a:lvl8pPr>
            <a:lvl9pPr rtl="0">
              <a:spcBef>
                <a:spcPts val="0"/>
              </a:spcBef>
              <a:defRPr sz="22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Title">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962833" y="4406900"/>
            <a:ext cx="10360501" cy="1362075"/>
          </a:xfrm>
          <a:prstGeom prst="rect">
            <a:avLst/>
          </a:prstGeom>
          <a:noFill/>
          <a:ln>
            <a:noFill/>
          </a:ln>
        </p:spPr>
        <p:txBody>
          <a:bodyPr lIns="110350" tIns="110350" rIns="110350" bIns="110350" anchor="t" anchorCtr="0"/>
          <a:lstStyle>
            <a:lvl1pPr algn="l" rtl="0">
              <a:spcBef>
                <a:spcPts val="0"/>
              </a:spcBef>
              <a:defRPr sz="4800" b="1" cap="small"/>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39" name="Shape 39"/>
          <p:cNvSpPr txBox="1">
            <a:spLocks noGrp="1"/>
          </p:cNvSpPr>
          <p:nvPr>
            <p:ph type="body" idx="1"/>
          </p:nvPr>
        </p:nvSpPr>
        <p:spPr>
          <a:xfrm>
            <a:off x="962833" y="2906714"/>
            <a:ext cx="10360501" cy="1500187"/>
          </a:xfrm>
          <a:prstGeom prst="rect">
            <a:avLst/>
          </a:prstGeom>
          <a:noFill/>
          <a:ln>
            <a:noFill/>
          </a:ln>
        </p:spPr>
        <p:txBody>
          <a:bodyPr lIns="110350" tIns="110350" rIns="110350" bIns="110350" anchor="b" anchorCtr="0"/>
          <a:lstStyle>
            <a:lvl1pPr marL="0" indent="0" rtl="0">
              <a:spcBef>
                <a:spcPts val="0"/>
              </a:spcBef>
              <a:buFont typeface="Tahoma"/>
              <a:buNone/>
              <a:defRPr sz="2400"/>
            </a:lvl1pPr>
            <a:lvl2pPr marL="551840" indent="0" rtl="0">
              <a:spcBef>
                <a:spcPts val="0"/>
              </a:spcBef>
              <a:buFont typeface="Tahoma"/>
              <a:buNone/>
              <a:defRPr sz="2200"/>
            </a:lvl2pPr>
            <a:lvl3pPr marL="1103681" indent="0" rtl="0">
              <a:spcBef>
                <a:spcPts val="0"/>
              </a:spcBef>
              <a:buFont typeface="Tahoma"/>
              <a:buNone/>
              <a:defRPr sz="1900"/>
            </a:lvl3pPr>
            <a:lvl4pPr marL="1655521" indent="0" rtl="0">
              <a:spcBef>
                <a:spcPts val="0"/>
              </a:spcBef>
              <a:buFont typeface="Tahoma"/>
              <a:buNone/>
              <a:defRPr sz="1700"/>
            </a:lvl4pPr>
            <a:lvl5pPr marL="2207362" indent="0" rtl="0">
              <a:spcBef>
                <a:spcPts val="0"/>
              </a:spcBef>
              <a:buFont typeface="Tahoma"/>
              <a:buNone/>
              <a:defRPr sz="1700"/>
            </a:lvl5pPr>
            <a:lvl6pPr marL="2759202" indent="0" rtl="0">
              <a:spcBef>
                <a:spcPts val="0"/>
              </a:spcBef>
              <a:buFont typeface="Tahoma"/>
              <a:buNone/>
              <a:defRPr sz="1700"/>
            </a:lvl6pPr>
            <a:lvl7pPr marL="3311042" indent="0" rtl="0">
              <a:spcBef>
                <a:spcPts val="0"/>
              </a:spcBef>
              <a:buFont typeface="Tahoma"/>
              <a:buNone/>
              <a:defRPr sz="1700"/>
            </a:lvl7pPr>
            <a:lvl8pPr marL="3862883" indent="0" rtl="0">
              <a:spcBef>
                <a:spcPts val="0"/>
              </a:spcBef>
              <a:buFont typeface="Tahoma"/>
              <a:buNone/>
              <a:defRPr sz="1700"/>
            </a:lvl8pPr>
            <a:lvl9pPr marL="4414723" indent="0" rtl="0">
              <a:spcBef>
                <a:spcPts val="0"/>
              </a:spcBef>
              <a:buFont typeface="Tahoma"/>
              <a:buNone/>
              <a:defRPr sz="17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OBJECT">
    <p:spTree>
      <p:nvGrpSpPr>
        <p:cNvPr id="1" name="Shape 40"/>
        <p:cNvGrpSpPr/>
        <p:nvPr/>
      </p:nvGrpSpPr>
      <p:grpSpPr>
        <a:xfrm>
          <a:off x="0" y="0"/>
          <a:ext cx="0" cy="0"/>
          <a:chOff x="0" y="0"/>
          <a:chExt cx="0" cy="0"/>
        </a:xfrm>
      </p:grpSpPr>
      <p:sp>
        <p:nvSpPr>
          <p:cNvPr id="41" name="Shape 41"/>
          <p:cNvSpPr txBox="1">
            <a:spLocks noGrp="1"/>
          </p:cNvSpPr>
          <p:nvPr>
            <p:ph type="title"/>
          </p:nvPr>
        </p:nvSpPr>
        <p:spPr>
          <a:xfrm>
            <a:off x="609442" y="274638"/>
            <a:ext cx="10969943" cy="1143000"/>
          </a:xfrm>
          <a:prstGeom prst="rect">
            <a:avLst/>
          </a:prstGeom>
          <a:noFill/>
          <a:ln>
            <a:noFill/>
          </a:ln>
        </p:spPr>
        <p:txBody>
          <a:bodyPr lIns="110350" tIns="110350" rIns="110350" bIns="110350" anchor="t" anchorCtr="0"/>
          <a:lstStyle>
            <a:lvl1pPr algn="l" rtl="0">
              <a:spcBef>
                <a:spcPts val="0"/>
              </a:spcBef>
              <a:spcAft>
                <a:spcPts val="0"/>
              </a:spcAft>
              <a:defRPr sz="5300">
                <a:solidFill>
                  <a:schemeClr val="dk2"/>
                </a:solidFill>
                <a:latin typeface="Tahoma"/>
                <a:ea typeface="Tahoma"/>
                <a:cs typeface="Tahoma"/>
                <a:sym typeface="Tahoma"/>
              </a:defRPr>
            </a:lvl1pPr>
            <a:lvl2pPr algn="l" rtl="0">
              <a:spcBef>
                <a:spcPts val="0"/>
              </a:spcBef>
              <a:spcAft>
                <a:spcPts val="0"/>
              </a:spcAft>
              <a:defRPr sz="5300">
                <a:solidFill>
                  <a:schemeClr val="dk2"/>
                </a:solidFill>
                <a:latin typeface="Tahoma"/>
                <a:ea typeface="Tahoma"/>
                <a:cs typeface="Tahoma"/>
                <a:sym typeface="Tahoma"/>
              </a:defRPr>
            </a:lvl2pPr>
            <a:lvl3pPr algn="l" rtl="0">
              <a:spcBef>
                <a:spcPts val="0"/>
              </a:spcBef>
              <a:spcAft>
                <a:spcPts val="0"/>
              </a:spcAft>
              <a:defRPr sz="5300">
                <a:solidFill>
                  <a:schemeClr val="dk2"/>
                </a:solidFill>
                <a:latin typeface="Tahoma"/>
                <a:ea typeface="Tahoma"/>
                <a:cs typeface="Tahoma"/>
                <a:sym typeface="Tahoma"/>
              </a:defRPr>
            </a:lvl3pPr>
            <a:lvl4pPr algn="l" rtl="0">
              <a:spcBef>
                <a:spcPts val="0"/>
              </a:spcBef>
              <a:spcAft>
                <a:spcPts val="0"/>
              </a:spcAft>
              <a:defRPr sz="5300">
                <a:solidFill>
                  <a:schemeClr val="dk2"/>
                </a:solidFill>
                <a:latin typeface="Tahoma"/>
                <a:ea typeface="Tahoma"/>
                <a:cs typeface="Tahoma"/>
                <a:sym typeface="Tahoma"/>
              </a:defRPr>
            </a:lvl4pPr>
            <a:lvl5pPr algn="l" rtl="0">
              <a:spcBef>
                <a:spcPts val="0"/>
              </a:spcBef>
              <a:spcAft>
                <a:spcPts val="0"/>
              </a:spcAft>
              <a:defRPr sz="5300">
                <a:solidFill>
                  <a:schemeClr val="dk2"/>
                </a:solidFill>
                <a:latin typeface="Tahoma"/>
                <a:ea typeface="Tahoma"/>
                <a:cs typeface="Tahoma"/>
                <a:sym typeface="Tahoma"/>
              </a:defRPr>
            </a:lvl5pPr>
            <a:lvl6pPr marL="551840" algn="l" rtl="0">
              <a:spcBef>
                <a:spcPts val="0"/>
              </a:spcBef>
              <a:spcAft>
                <a:spcPts val="0"/>
              </a:spcAft>
              <a:defRPr sz="5300">
                <a:solidFill>
                  <a:schemeClr val="dk2"/>
                </a:solidFill>
                <a:latin typeface="Tahoma"/>
                <a:ea typeface="Tahoma"/>
                <a:cs typeface="Tahoma"/>
                <a:sym typeface="Tahoma"/>
              </a:defRPr>
            </a:lvl6pPr>
            <a:lvl7pPr marL="1103681" algn="l" rtl="0">
              <a:spcBef>
                <a:spcPts val="0"/>
              </a:spcBef>
              <a:spcAft>
                <a:spcPts val="0"/>
              </a:spcAft>
              <a:defRPr sz="5300">
                <a:solidFill>
                  <a:schemeClr val="dk2"/>
                </a:solidFill>
                <a:latin typeface="Tahoma"/>
                <a:ea typeface="Tahoma"/>
                <a:cs typeface="Tahoma"/>
                <a:sym typeface="Tahoma"/>
              </a:defRPr>
            </a:lvl7pPr>
            <a:lvl8pPr marL="1655521" algn="l" rtl="0">
              <a:spcBef>
                <a:spcPts val="0"/>
              </a:spcBef>
              <a:spcAft>
                <a:spcPts val="0"/>
              </a:spcAft>
              <a:defRPr sz="5300">
                <a:solidFill>
                  <a:schemeClr val="dk2"/>
                </a:solidFill>
                <a:latin typeface="Tahoma"/>
                <a:ea typeface="Tahoma"/>
                <a:cs typeface="Tahoma"/>
                <a:sym typeface="Tahoma"/>
              </a:defRPr>
            </a:lvl8pPr>
            <a:lvl9pPr marL="2207362" algn="l" rtl="0">
              <a:spcBef>
                <a:spcPts val="0"/>
              </a:spcBef>
              <a:spcAft>
                <a:spcPts val="0"/>
              </a:spcAft>
              <a:defRPr sz="5300">
                <a:solidFill>
                  <a:schemeClr val="dk2"/>
                </a:solidFill>
                <a:latin typeface="Tahoma"/>
                <a:ea typeface="Tahoma"/>
                <a:cs typeface="Tahoma"/>
                <a:sym typeface="Tahoma"/>
              </a:defRPr>
            </a:lvl9pPr>
          </a:lstStyle>
          <a:p>
            <a:endParaRPr/>
          </a:p>
        </p:txBody>
      </p:sp>
      <p:sp>
        <p:nvSpPr>
          <p:cNvPr id="42" name="Shape 42"/>
          <p:cNvSpPr txBox="1">
            <a:spLocks noGrp="1"/>
          </p:cNvSpPr>
          <p:nvPr>
            <p:ph type="body" idx="1"/>
          </p:nvPr>
        </p:nvSpPr>
        <p:spPr>
          <a:xfrm>
            <a:off x="609442" y="1600201"/>
            <a:ext cx="10969943" cy="4525963"/>
          </a:xfrm>
          <a:prstGeom prst="rect">
            <a:avLst/>
          </a:prstGeom>
          <a:noFill/>
          <a:ln>
            <a:noFill/>
          </a:ln>
        </p:spPr>
        <p:txBody>
          <a:bodyPr lIns="110350" tIns="110350" rIns="110350" bIns="110350" anchor="t" anchorCtr="0"/>
          <a:lstStyle>
            <a:lvl1pPr marL="413880" indent="-325739" algn="l" rtl="0">
              <a:spcBef>
                <a:spcPts val="772"/>
              </a:spcBef>
              <a:spcAft>
                <a:spcPts val="0"/>
              </a:spcAft>
              <a:buClr>
                <a:schemeClr val="folHlink"/>
              </a:buClr>
              <a:buFont typeface="Arial"/>
              <a:buChar char="●"/>
              <a:defRPr sz="3900">
                <a:solidFill>
                  <a:schemeClr val="dk1"/>
                </a:solidFill>
                <a:latin typeface="Tahoma"/>
                <a:ea typeface="Tahoma"/>
                <a:cs typeface="Tahoma"/>
                <a:sym typeface="Tahoma"/>
              </a:defRPr>
            </a:lvl1pPr>
            <a:lvl2pPr marL="896741" indent="-275920" algn="l" rtl="0">
              <a:spcBef>
                <a:spcPts val="676"/>
              </a:spcBef>
              <a:spcAft>
                <a:spcPts val="0"/>
              </a:spcAft>
              <a:buClr>
                <a:schemeClr val="hlink"/>
              </a:buClr>
              <a:buFont typeface="Arial"/>
              <a:buChar char="●"/>
              <a:defRPr sz="3400">
                <a:solidFill>
                  <a:schemeClr val="dk1"/>
                </a:solidFill>
                <a:latin typeface="Tahoma"/>
                <a:ea typeface="Tahoma"/>
                <a:cs typeface="Tahoma"/>
                <a:sym typeface="Tahoma"/>
              </a:defRPr>
            </a:lvl2pPr>
            <a:lvl3pPr marL="1379601" indent="-222269" algn="l" rtl="0">
              <a:spcBef>
                <a:spcPts val="579"/>
              </a:spcBef>
              <a:spcAft>
                <a:spcPts val="0"/>
              </a:spcAft>
              <a:buClr>
                <a:schemeClr val="folHlink"/>
              </a:buClr>
              <a:buFont typeface="Arial"/>
              <a:buChar char="●"/>
              <a:defRPr sz="2900">
                <a:solidFill>
                  <a:schemeClr val="dk1"/>
                </a:solidFill>
                <a:latin typeface="Tahoma"/>
                <a:ea typeface="Tahoma"/>
                <a:cs typeface="Tahoma"/>
                <a:sym typeface="Tahoma"/>
              </a:defRPr>
            </a:lvl3pPr>
            <a:lvl4pPr marL="1931441" indent="-226101" algn="l" rtl="0">
              <a:spcBef>
                <a:spcPts val="483"/>
              </a:spcBef>
              <a:spcAft>
                <a:spcPts val="0"/>
              </a:spcAft>
              <a:buClr>
                <a:schemeClr val="accent2"/>
              </a:buClr>
              <a:buFont typeface="Arial"/>
              <a:buChar char="●"/>
              <a:defRPr sz="2400">
                <a:solidFill>
                  <a:schemeClr val="dk1"/>
                </a:solidFill>
                <a:latin typeface="Tahoma"/>
                <a:ea typeface="Tahoma"/>
                <a:cs typeface="Tahoma"/>
                <a:sym typeface="Tahoma"/>
              </a:defRPr>
            </a:lvl4pPr>
            <a:lvl5pPr marL="2483282"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5pPr>
            <a:lvl6pPr marL="3035122"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6pPr>
            <a:lvl7pPr marL="358696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7pPr>
            <a:lvl8pPr marL="413880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8pPr>
            <a:lvl9pPr marL="4690643" indent="-229934" algn="l" rtl="0">
              <a:spcBef>
                <a:spcPts val="483"/>
              </a:spcBef>
              <a:spcAft>
                <a:spcPts val="0"/>
              </a:spcAft>
              <a:buClr>
                <a:schemeClr val="accent1"/>
              </a:buClr>
              <a:buFont typeface="Arial"/>
              <a:buChar char="●"/>
              <a:defRPr sz="2400">
                <a:solidFill>
                  <a:schemeClr val="dk1"/>
                </a:solidFill>
                <a:latin typeface="Tahoma"/>
                <a:ea typeface="Tahoma"/>
                <a:cs typeface="Tahoma"/>
                <a:sym typeface="Tahoma"/>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ColTx">
  <p:cSld name="Title and Two Columns">
    <p:bg>
      <p:bgPr>
        <a:solidFill>
          <a:schemeClr val="lt1"/>
        </a:solidFill>
        <a:effectLst/>
      </p:bgPr>
    </p:bg>
    <p:spTree>
      <p:nvGrpSpPr>
        <p:cNvPr id="1" name="Shape 45"/>
        <p:cNvGrpSpPr/>
        <p:nvPr/>
      </p:nvGrpSpPr>
      <p:grpSpPr>
        <a:xfrm>
          <a:off x="0" y="0"/>
          <a:ext cx="0" cy="0"/>
          <a:chOff x="0" y="0"/>
          <a:chExt cx="0" cy="0"/>
        </a:xfrm>
      </p:grpSpPr>
      <p:sp>
        <p:nvSpPr>
          <p:cNvPr id="46" name="Shape 46"/>
          <p:cNvSpPr txBox="1">
            <a:spLocks noGrp="1"/>
          </p:cNvSpPr>
          <p:nvPr>
            <p:ph type="sldNum" idx="12"/>
          </p:nvPr>
        </p:nvSpPr>
        <p:spPr>
          <a:xfrm>
            <a:off x="2" y="6400800"/>
            <a:ext cx="2539337" cy="457200"/>
          </a:xfrm>
          <a:prstGeom prst="rect">
            <a:avLst/>
          </a:prstGeom>
          <a:noFill/>
          <a:ln>
            <a:noFill/>
          </a:ln>
        </p:spPr>
        <p:txBody>
          <a:bodyPr lIns="110350" tIns="110350" rIns="110350" bIns="110350" anchor="b" anchorCtr="0">
            <a:noAutofit/>
          </a:bodyPr>
          <a:lstStyle/>
          <a:p>
            <a:pPr indent="-107302">
              <a:buClr>
                <a:srgbClr val="000000"/>
              </a:buClr>
              <a:buFont typeface="Arial"/>
              <a:buChar char="●"/>
            </a:pPr>
            <a:endParaRPr lang="en-IN" sz="1400">
              <a:solidFill>
                <a:schemeClr val="dk1"/>
              </a:solidFill>
            </a:endParaRPr>
          </a:p>
          <a:p>
            <a:pPr lvl="1">
              <a:buClr>
                <a:srgbClr val="000000"/>
              </a:buClr>
              <a:buFont typeface="Courier New"/>
              <a:buChar char="o"/>
            </a:pPr>
            <a:endParaRPr lang="en-IN"/>
          </a:p>
          <a:p>
            <a:pPr lvl="2">
              <a:buClr>
                <a:srgbClr val="000000"/>
              </a:buClr>
              <a:buFont typeface="Wingdings"/>
              <a:buChar char="§"/>
            </a:pPr>
            <a:endParaRPr lang="en-IN"/>
          </a:p>
          <a:p>
            <a:pPr lvl="3">
              <a:buClr>
                <a:srgbClr val="000000"/>
              </a:buClr>
              <a:buFont typeface="Arial"/>
              <a:buChar char="●"/>
            </a:pPr>
            <a:endParaRPr lang="en-IN"/>
          </a:p>
          <a:p>
            <a:pPr lvl="4">
              <a:buClr>
                <a:srgbClr val="000000"/>
              </a:buClr>
              <a:buFont typeface="Courier New"/>
              <a:buChar char="o"/>
            </a:pPr>
            <a:endParaRPr lang="en-IN"/>
          </a:p>
          <a:p>
            <a:pPr lvl="5">
              <a:buClr>
                <a:srgbClr val="000000"/>
              </a:buClr>
              <a:buFont typeface="Wingdings"/>
              <a:buChar char="§"/>
            </a:pPr>
            <a:endParaRPr lang="en-IN"/>
          </a:p>
          <a:p>
            <a:pPr lvl="6">
              <a:buClr>
                <a:srgbClr val="000000"/>
              </a:buClr>
              <a:buFont typeface="Arial"/>
              <a:buChar char="●"/>
            </a:pPr>
            <a:endParaRPr lang="en-IN"/>
          </a:p>
          <a:p>
            <a:pPr lvl="7">
              <a:buClr>
                <a:srgbClr val="000000"/>
              </a:buClr>
              <a:buFont typeface="Courier New"/>
              <a:buChar char="o"/>
            </a:pPr>
            <a:endParaRPr lang="en-IN"/>
          </a:p>
          <a:p>
            <a:pPr lvl="8">
              <a:buClr>
                <a:srgbClr val="000000"/>
              </a:buClr>
              <a:buFont typeface="Wingdings"/>
              <a:buChar char="§"/>
            </a:pPr>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bg>
      <p:bgPr>
        <a:solidFill>
          <a:schemeClr val="lt1"/>
        </a:solidFill>
        <a:effectLst/>
      </p:bgPr>
    </p:bg>
    <p:spTree>
      <p:nvGrpSpPr>
        <p:cNvPr id="1" name="Shape 47"/>
        <p:cNvGrpSpPr/>
        <p:nvPr/>
      </p:nvGrpSpPr>
      <p:grpSpPr>
        <a:xfrm>
          <a:off x="0" y="0"/>
          <a:ext cx="0" cy="0"/>
          <a:chOff x="0" y="0"/>
          <a:chExt cx="0" cy="0"/>
        </a:xfrm>
      </p:grpSpPr>
      <p:sp>
        <p:nvSpPr>
          <p:cNvPr id="48" name="Shape 48"/>
          <p:cNvSpPr txBox="1">
            <a:spLocks noGrp="1"/>
          </p:cNvSpPr>
          <p:nvPr>
            <p:ph type="sldNum" idx="12"/>
          </p:nvPr>
        </p:nvSpPr>
        <p:spPr>
          <a:xfrm>
            <a:off x="2" y="6400800"/>
            <a:ext cx="2539337" cy="457200"/>
          </a:xfrm>
          <a:prstGeom prst="rect">
            <a:avLst/>
          </a:prstGeom>
          <a:noFill/>
          <a:ln>
            <a:noFill/>
          </a:ln>
        </p:spPr>
        <p:txBody>
          <a:bodyPr lIns="110350" tIns="110350" rIns="110350" bIns="110350" anchor="b" anchorCtr="0">
            <a:noAutofit/>
          </a:bodyPr>
          <a:lstStyle/>
          <a:p>
            <a:pPr indent="-107302">
              <a:buClr>
                <a:srgbClr val="000000"/>
              </a:buClr>
              <a:buFont typeface="Arial"/>
              <a:buChar char="●"/>
            </a:pPr>
            <a:endParaRPr lang="en-IN" sz="1400">
              <a:solidFill>
                <a:schemeClr val="dk1"/>
              </a:solidFill>
            </a:endParaRPr>
          </a:p>
          <a:p>
            <a:pPr lvl="1">
              <a:buClr>
                <a:srgbClr val="000000"/>
              </a:buClr>
              <a:buFont typeface="Courier New"/>
              <a:buChar char="o"/>
            </a:pPr>
            <a:endParaRPr lang="en-IN"/>
          </a:p>
          <a:p>
            <a:pPr lvl="2">
              <a:buClr>
                <a:srgbClr val="000000"/>
              </a:buClr>
              <a:buFont typeface="Wingdings"/>
              <a:buChar char="§"/>
            </a:pPr>
            <a:endParaRPr lang="en-IN"/>
          </a:p>
          <a:p>
            <a:pPr lvl="3">
              <a:buClr>
                <a:srgbClr val="000000"/>
              </a:buClr>
              <a:buFont typeface="Arial"/>
              <a:buChar char="●"/>
            </a:pPr>
            <a:endParaRPr lang="en-IN"/>
          </a:p>
          <a:p>
            <a:pPr lvl="4">
              <a:buClr>
                <a:srgbClr val="000000"/>
              </a:buClr>
              <a:buFont typeface="Courier New"/>
              <a:buChar char="o"/>
            </a:pPr>
            <a:endParaRPr lang="en-IN"/>
          </a:p>
          <a:p>
            <a:pPr lvl="5">
              <a:buClr>
                <a:srgbClr val="000000"/>
              </a:buClr>
              <a:buFont typeface="Wingdings"/>
              <a:buChar char="§"/>
            </a:pPr>
            <a:endParaRPr lang="en-IN"/>
          </a:p>
          <a:p>
            <a:pPr lvl="6">
              <a:buClr>
                <a:srgbClr val="000000"/>
              </a:buClr>
              <a:buFont typeface="Arial"/>
              <a:buChar char="●"/>
            </a:pPr>
            <a:endParaRPr lang="en-IN"/>
          </a:p>
          <a:p>
            <a:pPr lvl="7">
              <a:buClr>
                <a:srgbClr val="000000"/>
              </a:buClr>
              <a:buFont typeface="Courier New"/>
              <a:buChar char="o"/>
            </a:pPr>
            <a:endParaRPr lang="en-IN"/>
          </a:p>
          <a:p>
            <a:pPr lvl="8">
              <a:buClr>
                <a:srgbClr val="000000"/>
              </a:buClr>
              <a:buFont typeface="Wingdings"/>
              <a:buChar char="§"/>
            </a:pPr>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Shape 9"/>
          <p:cNvSpPr txBox="1">
            <a:spLocks noGrp="1"/>
          </p:cNvSpPr>
          <p:nvPr>
            <p:ph type="sldNum" idx="12"/>
          </p:nvPr>
        </p:nvSpPr>
        <p:spPr>
          <a:xfrm>
            <a:off x="2" y="6400800"/>
            <a:ext cx="2539337" cy="457200"/>
          </a:xfrm>
          <a:prstGeom prst="rect">
            <a:avLst/>
          </a:prstGeom>
          <a:noFill/>
          <a:ln>
            <a:noFill/>
          </a:ln>
        </p:spPr>
        <p:txBody>
          <a:bodyPr lIns="110350" tIns="110350" rIns="110350" bIns="110350" anchor="b" anchorCtr="0">
            <a:noAutofit/>
          </a:bodyPr>
          <a:lstStyle/>
          <a:p>
            <a:pPr indent="-107302">
              <a:buClr>
                <a:srgbClr val="000000"/>
              </a:buClr>
              <a:buFont typeface="Arial"/>
              <a:buChar char="●"/>
            </a:pPr>
            <a:endParaRPr lang="en-IN" sz="1400">
              <a:solidFill>
                <a:schemeClr val="dk1"/>
              </a:solidFill>
            </a:endParaRPr>
          </a:p>
          <a:p>
            <a:pPr lvl="1">
              <a:buClr>
                <a:srgbClr val="000000"/>
              </a:buClr>
              <a:buFont typeface="Courier New"/>
              <a:buChar char="o"/>
            </a:pPr>
            <a:endParaRPr lang="en-IN"/>
          </a:p>
          <a:p>
            <a:pPr lvl="2">
              <a:buClr>
                <a:srgbClr val="000000"/>
              </a:buClr>
              <a:buFont typeface="Wingdings"/>
              <a:buChar char="§"/>
            </a:pPr>
            <a:endParaRPr lang="en-IN"/>
          </a:p>
          <a:p>
            <a:pPr lvl="3">
              <a:buClr>
                <a:srgbClr val="000000"/>
              </a:buClr>
              <a:buFont typeface="Arial"/>
              <a:buChar char="●"/>
            </a:pPr>
            <a:endParaRPr lang="en-IN"/>
          </a:p>
          <a:p>
            <a:pPr lvl="4">
              <a:buClr>
                <a:srgbClr val="000000"/>
              </a:buClr>
              <a:buFont typeface="Courier New"/>
              <a:buChar char="o"/>
            </a:pPr>
            <a:endParaRPr lang="en-IN"/>
          </a:p>
          <a:p>
            <a:pPr lvl="5">
              <a:buClr>
                <a:srgbClr val="000000"/>
              </a:buClr>
              <a:buFont typeface="Wingdings"/>
              <a:buChar char="§"/>
            </a:pPr>
            <a:endParaRPr lang="en-IN"/>
          </a:p>
          <a:p>
            <a:pPr lvl="6">
              <a:buClr>
                <a:srgbClr val="000000"/>
              </a:buClr>
              <a:buFont typeface="Arial"/>
              <a:buChar char="●"/>
            </a:pPr>
            <a:endParaRPr lang="en-IN"/>
          </a:p>
          <a:p>
            <a:pPr lvl="7">
              <a:buClr>
                <a:srgbClr val="000000"/>
              </a:buClr>
              <a:buFont typeface="Courier New"/>
              <a:buChar char="o"/>
            </a:pPr>
            <a:endParaRPr lang="en-IN"/>
          </a:p>
          <a:p>
            <a:pPr lvl="8">
              <a:buClr>
                <a:srgbClr val="000000"/>
              </a:buClr>
              <a:buFont typeface="Wingdings"/>
              <a:buChar char="§"/>
            </a:pPr>
            <a:endParaRPr lang="en-IN"/>
          </a:p>
        </p:txBody>
      </p:sp>
      <p:sp>
        <p:nvSpPr>
          <p:cNvPr id="2" name="Title Placeholder 1"/>
          <p:cNvSpPr>
            <a:spLocks noGrp="1"/>
          </p:cNvSpPr>
          <p:nvPr>
            <p:ph type="title"/>
          </p:nvPr>
        </p:nvSpPr>
        <p:spPr>
          <a:xfrm>
            <a:off x="609442" y="274639"/>
            <a:ext cx="10969943" cy="1143000"/>
          </a:xfrm>
          <a:prstGeom prst="rect">
            <a:avLst/>
          </a:prstGeom>
        </p:spPr>
        <p:txBody>
          <a:bodyPr vert="horz" lIns="110368" tIns="55184" rIns="110368" bIns="55184" rtlCol="0" anchor="ctr">
            <a:normAutofit/>
          </a:bodyPr>
          <a:lstStyle/>
          <a:p>
            <a:r>
              <a:rPr lang="en-US"/>
              <a:t>Click to edit Master title style</a:t>
            </a:r>
            <a:endParaRPr lang="en-I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
        <p:cNvGrpSpPr/>
        <p:nvPr/>
      </p:nvGrpSpPr>
      <p:grpSpPr>
        <a:xfrm>
          <a:off x="0" y="0"/>
          <a:ext cx="0" cy="0"/>
          <a:chOff x="0" y="0"/>
          <a:chExt cx="0" cy="0"/>
        </a:xfrm>
      </p:grpSpPr>
      <p:sp>
        <p:nvSpPr>
          <p:cNvPr id="44" name="Shape 44"/>
          <p:cNvSpPr txBox="1">
            <a:spLocks noGrp="1"/>
          </p:cNvSpPr>
          <p:nvPr>
            <p:ph type="sldNum" idx="12"/>
          </p:nvPr>
        </p:nvSpPr>
        <p:spPr>
          <a:xfrm>
            <a:off x="2" y="6400800"/>
            <a:ext cx="2539337" cy="457200"/>
          </a:xfrm>
          <a:prstGeom prst="rect">
            <a:avLst/>
          </a:prstGeom>
          <a:noFill/>
          <a:ln>
            <a:noFill/>
          </a:ln>
        </p:spPr>
        <p:txBody>
          <a:bodyPr lIns="110350" tIns="110350" rIns="110350" bIns="110350" anchor="b" anchorCtr="0">
            <a:noAutofit/>
          </a:bodyPr>
          <a:lstStyle/>
          <a:p>
            <a:pPr indent="-107302">
              <a:buClr>
                <a:srgbClr val="000000"/>
              </a:buClr>
              <a:buFont typeface="Arial"/>
              <a:buChar char="●"/>
            </a:pPr>
            <a:endParaRPr lang="en-IN" sz="1400">
              <a:solidFill>
                <a:schemeClr val="dk1"/>
              </a:solidFill>
            </a:endParaRPr>
          </a:p>
          <a:p>
            <a:pPr lvl="1">
              <a:buClr>
                <a:srgbClr val="000000"/>
              </a:buClr>
              <a:buFont typeface="Courier New"/>
              <a:buChar char="o"/>
            </a:pPr>
            <a:endParaRPr lang="en-IN"/>
          </a:p>
          <a:p>
            <a:pPr lvl="2">
              <a:buClr>
                <a:srgbClr val="000000"/>
              </a:buClr>
              <a:buFont typeface="Wingdings"/>
              <a:buChar char="§"/>
            </a:pPr>
            <a:endParaRPr lang="en-IN"/>
          </a:p>
          <a:p>
            <a:pPr lvl="3">
              <a:buClr>
                <a:srgbClr val="000000"/>
              </a:buClr>
              <a:buFont typeface="Arial"/>
              <a:buChar char="●"/>
            </a:pPr>
            <a:endParaRPr lang="en-IN"/>
          </a:p>
          <a:p>
            <a:pPr lvl="4">
              <a:buClr>
                <a:srgbClr val="000000"/>
              </a:buClr>
              <a:buFont typeface="Courier New"/>
              <a:buChar char="o"/>
            </a:pPr>
            <a:endParaRPr lang="en-IN"/>
          </a:p>
          <a:p>
            <a:pPr lvl="5">
              <a:buClr>
                <a:srgbClr val="000000"/>
              </a:buClr>
              <a:buFont typeface="Wingdings"/>
              <a:buChar char="§"/>
            </a:pPr>
            <a:endParaRPr lang="en-IN"/>
          </a:p>
          <a:p>
            <a:pPr lvl="6">
              <a:buClr>
                <a:srgbClr val="000000"/>
              </a:buClr>
              <a:buFont typeface="Arial"/>
              <a:buChar char="●"/>
            </a:pPr>
            <a:endParaRPr lang="en-IN"/>
          </a:p>
          <a:p>
            <a:pPr lvl="7">
              <a:buClr>
                <a:srgbClr val="000000"/>
              </a:buClr>
              <a:buFont typeface="Courier New"/>
              <a:buChar char="o"/>
            </a:pPr>
            <a:endParaRPr lang="en-IN"/>
          </a:p>
          <a:p>
            <a:pPr lvl="8">
              <a:buClr>
                <a:srgbClr val="000000"/>
              </a:buClr>
              <a:buFont typeface="Wingdings"/>
              <a:buChar char="§"/>
            </a:pPr>
            <a:endParaRPr lang="en-IN"/>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7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20.emf"/><Relationship Id="rId4" Type="http://schemas.openxmlformats.org/officeDocument/2006/relationships/customXml" Target="../ink/ink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5.xml"/><Relationship Id="rId5" Type="http://schemas.openxmlformats.org/officeDocument/2006/relationships/image" Target="../media/image40.emf"/><Relationship Id="rId4" Type="http://schemas.openxmlformats.org/officeDocument/2006/relationships/customXml" Target="../ink/ink3.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47.xml"/><Relationship Id="rId1" Type="http://schemas.openxmlformats.org/officeDocument/2006/relationships/slideLayout" Target="../slideLayouts/slideLayout10.xml"/><Relationship Id="rId4" Type="http://schemas.openxmlformats.org/officeDocument/2006/relationships/image" Target="../media/image50.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0.xml"/><Relationship Id="rId1" Type="http://schemas.openxmlformats.org/officeDocument/2006/relationships/slideLayout" Target="../slideLayouts/slideLayout5.xml"/><Relationship Id="rId5" Type="http://schemas.openxmlformats.org/officeDocument/2006/relationships/image" Target="../media/image53.png"/><Relationship Id="rId4" Type="http://schemas.openxmlformats.org/officeDocument/2006/relationships/image" Target="../media/image52.png"/></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8.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71.xml"/><Relationship Id="rId1" Type="http://schemas.openxmlformats.org/officeDocument/2006/relationships/slideLayout" Target="../slideLayouts/slideLayout5.xml"/><Relationship Id="rId4" Type="http://schemas.openxmlformats.org/officeDocument/2006/relationships/image" Target="../media/image77.emf"/></Relationships>
</file>

<file path=ppt/slides/_rels/slide7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73.xml"/><Relationship Id="rId1" Type="http://schemas.openxmlformats.org/officeDocument/2006/relationships/slideLayout" Target="../slideLayouts/slideLayout5.xml"/><Relationship Id="rId4" Type="http://schemas.openxmlformats.org/officeDocument/2006/relationships/image" Target="../media/image80.emf"/></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Shape 50"/>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51" name="Shape 51"/>
          <p:cNvSpPr txBox="1"/>
          <p:nvPr/>
        </p:nvSpPr>
        <p:spPr>
          <a:xfrm>
            <a:off x="1218883" y="2514601"/>
            <a:ext cx="9852632" cy="2406649"/>
          </a:xfrm>
          <a:prstGeom prst="rect">
            <a:avLst/>
          </a:prstGeom>
          <a:noFill/>
          <a:ln>
            <a:noFill/>
          </a:ln>
        </p:spPr>
        <p:txBody>
          <a:bodyPr lIns="110350" tIns="55160" rIns="110350" bIns="55160" anchor="t" anchorCtr="0">
            <a:noAutofit/>
          </a:bodyPr>
          <a:lstStyle/>
          <a:p>
            <a:endParaRPr sz="2200">
              <a:solidFill>
                <a:schemeClr val="dk1"/>
              </a:solidFill>
              <a:latin typeface="Tahoma"/>
              <a:ea typeface="Tahoma"/>
              <a:cs typeface="Tahoma"/>
              <a:sym typeface="Tahoma"/>
            </a:endParaRPr>
          </a:p>
          <a:p>
            <a:pPr algn="ctr">
              <a:buClr>
                <a:schemeClr val="dk1"/>
              </a:buClr>
              <a:buSzPct val="25000"/>
            </a:pPr>
            <a:r>
              <a:rPr lang="en-US" sz="5300" b="1">
                <a:solidFill>
                  <a:schemeClr val="dk1"/>
                </a:solidFill>
              </a:rPr>
              <a:t>Traditional </a:t>
            </a:r>
            <a:br>
              <a:rPr lang="en-US" sz="5300" b="1">
                <a:solidFill>
                  <a:schemeClr val="dk1"/>
                </a:solidFill>
              </a:rPr>
            </a:br>
            <a:r>
              <a:rPr lang="en-US" sz="5300" b="1">
                <a:solidFill>
                  <a:schemeClr val="dk1"/>
                </a:solidFill>
              </a:rPr>
              <a:t>Symmetric-Key Ciphers</a:t>
            </a:r>
          </a:p>
        </p:txBody>
      </p:sp>
      <p:sp>
        <p:nvSpPr>
          <p:cNvPr id="52" name="Shape 52"/>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0027800" y="5482800"/>
              <a:ext cx="360" cy="360"/>
            </p14:xfrm>
          </p:contentPart>
        </mc:Choice>
        <mc:Fallback xmlns="">
          <p:pic>
            <p:nvPicPr>
              <p:cNvPr id="2" name="Ink 1"/>
              <p:cNvPicPr/>
              <p:nvPr/>
            </p:nvPicPr>
            <p:blipFill>
              <a:blip r:embed="rId4"/>
              <a:stretch>
                <a:fillRect/>
              </a:stretch>
            </p:blipFill>
            <p:spPr>
              <a:xfrm>
                <a:off x="10018440" y="5473440"/>
                <a:ext cx="19080" cy="19080"/>
              </a:xfrm>
              <a:prstGeom prst="rect">
                <a:avLst/>
              </a:prstGeom>
            </p:spPr>
          </p:pic>
        </mc:Fallback>
      </mc:AlternateContent>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Shape 59"/>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60" name="Shape 60"/>
          <p:cNvSpPr txBox="1"/>
          <p:nvPr/>
        </p:nvSpPr>
        <p:spPr>
          <a:xfrm>
            <a:off x="406294" y="1219200"/>
            <a:ext cx="11579384" cy="5219699"/>
          </a:xfrm>
          <a:prstGeom prst="rect">
            <a:avLst/>
          </a:prstGeom>
          <a:solidFill>
            <a:schemeClr val="lt1"/>
          </a:solidFill>
          <a:ln>
            <a:noFill/>
          </a:ln>
        </p:spPr>
        <p:txBody>
          <a:bodyPr lIns="110350" tIns="55160" rIns="110350" bIns="55160" anchor="t" anchorCtr="0">
            <a:noAutofit/>
          </a:bodyPr>
          <a:lstStyle/>
          <a:p>
            <a:pPr>
              <a:lnSpc>
                <a:spcPct val="150000"/>
              </a:lnSpc>
              <a:spcBef>
                <a:spcPts val="724"/>
              </a:spcBef>
              <a:spcAft>
                <a:spcPts val="1086"/>
              </a:spcAft>
              <a:buClr>
                <a:schemeClr val="dk1"/>
              </a:buClr>
              <a:buSzPct val="25000"/>
            </a:pPr>
            <a:r>
              <a:rPr lang="en-US" sz="2900" dirty="0">
                <a:solidFill>
                  <a:schemeClr val="dk1"/>
                </a:solidFill>
                <a:latin typeface="Tahoma"/>
                <a:ea typeface="Tahoma"/>
                <a:cs typeface="Tahoma"/>
                <a:sym typeface="Tahoma"/>
              </a:rPr>
              <a:t>❏  To define the terms and the concepts of symmetric key ciphers</a:t>
            </a:r>
          </a:p>
          <a:p>
            <a:pPr>
              <a:lnSpc>
                <a:spcPct val="150000"/>
              </a:lnSpc>
              <a:spcBef>
                <a:spcPts val="724"/>
              </a:spcBef>
              <a:spcAft>
                <a:spcPts val="1086"/>
              </a:spcAft>
              <a:buClr>
                <a:schemeClr val="dk1"/>
              </a:buClr>
              <a:buSzPct val="25000"/>
            </a:pPr>
            <a:r>
              <a:rPr lang="en-US" sz="2900" dirty="0">
                <a:solidFill>
                  <a:schemeClr val="dk1"/>
                </a:solidFill>
                <a:latin typeface="Tahoma"/>
                <a:ea typeface="Tahoma"/>
                <a:cs typeface="Tahoma"/>
                <a:sym typeface="Tahoma"/>
              </a:rPr>
              <a:t>❏ To emphasize the two categories of traditional ciphers: substitution and transposition ciphers</a:t>
            </a:r>
          </a:p>
          <a:p>
            <a:pPr>
              <a:lnSpc>
                <a:spcPct val="150000"/>
              </a:lnSpc>
              <a:spcBef>
                <a:spcPts val="724"/>
              </a:spcBef>
              <a:spcAft>
                <a:spcPts val="1086"/>
              </a:spcAft>
              <a:buClr>
                <a:schemeClr val="dk1"/>
              </a:buClr>
              <a:buSzPct val="25000"/>
            </a:pPr>
            <a:r>
              <a:rPr lang="en-US" sz="2900" dirty="0">
                <a:solidFill>
                  <a:schemeClr val="dk1"/>
                </a:solidFill>
                <a:latin typeface="Tahoma"/>
                <a:ea typeface="Tahoma"/>
                <a:cs typeface="Tahoma"/>
                <a:sym typeface="Tahoma"/>
              </a:rPr>
              <a:t>❏  To describe the categories of cryptanalysis used to break the symmetric ciphers</a:t>
            </a:r>
          </a:p>
          <a:p>
            <a:pPr>
              <a:lnSpc>
                <a:spcPct val="150000"/>
              </a:lnSpc>
              <a:spcBef>
                <a:spcPts val="724"/>
              </a:spcBef>
              <a:spcAft>
                <a:spcPts val="1086"/>
              </a:spcAft>
              <a:buClr>
                <a:schemeClr val="dk1"/>
              </a:buClr>
              <a:buSzPct val="25000"/>
            </a:pPr>
            <a:r>
              <a:rPr lang="en-US" sz="2900" dirty="0">
                <a:solidFill>
                  <a:schemeClr val="dk1"/>
                </a:solidFill>
                <a:latin typeface="Tahoma"/>
                <a:ea typeface="Tahoma"/>
                <a:cs typeface="Tahoma"/>
                <a:sym typeface="Tahoma"/>
              </a:rPr>
              <a:t>❏  To introduce the concepts of the stream ciphers and block ciphers</a:t>
            </a:r>
          </a:p>
          <a:p>
            <a:pPr>
              <a:spcAft>
                <a:spcPts val="1086"/>
              </a:spcAft>
              <a:buClr>
                <a:schemeClr val="dk1"/>
              </a:buClr>
            </a:pPr>
            <a:endParaRPr sz="2900" dirty="0">
              <a:solidFill>
                <a:schemeClr val="dk1"/>
              </a:solidFill>
              <a:latin typeface="Tahoma"/>
              <a:ea typeface="Tahoma"/>
              <a:cs typeface="Tahoma"/>
              <a:sym typeface="Tahoma"/>
            </a:endParaRPr>
          </a:p>
        </p:txBody>
      </p:sp>
      <p:sp>
        <p:nvSpPr>
          <p:cNvPr id="61" name="Shape 61"/>
          <p:cNvSpPr txBox="1"/>
          <p:nvPr/>
        </p:nvSpPr>
        <p:spPr>
          <a:xfrm>
            <a:off x="406294" y="272919"/>
            <a:ext cx="3453500" cy="671513"/>
          </a:xfrm>
          <a:prstGeom prst="rect">
            <a:avLst/>
          </a:prstGeom>
          <a:noFill/>
          <a:ln>
            <a:noFill/>
          </a:ln>
        </p:spPr>
        <p:txBody>
          <a:bodyPr lIns="110350" tIns="55160" rIns="110350" bIns="55160" anchor="t" anchorCtr="0">
            <a:noAutofit/>
          </a:bodyPr>
          <a:lstStyle/>
          <a:p>
            <a:pPr>
              <a:buClr>
                <a:schemeClr val="dk1"/>
              </a:buClr>
              <a:buSzPct val="25000"/>
            </a:pPr>
            <a:r>
              <a:rPr lang="en-US" sz="3900" b="1" dirty="0">
                <a:solidFill>
                  <a:schemeClr val="hlink"/>
                </a:solidFill>
                <a:latin typeface="Tahoma"/>
                <a:ea typeface="Tahoma"/>
                <a:cs typeface="Tahoma"/>
                <a:sym typeface="Tahoma"/>
              </a:rPr>
              <a:t>Objectives</a:t>
            </a:r>
          </a:p>
        </p:txBody>
      </p:sp>
      <p:sp>
        <p:nvSpPr>
          <p:cNvPr id="62" name="Shape 62"/>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Shape 69"/>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70" name="Shape 70"/>
          <p:cNvSpPr txBox="1"/>
          <p:nvPr/>
        </p:nvSpPr>
        <p:spPr>
          <a:xfrm>
            <a:off x="1" y="1"/>
            <a:ext cx="12188825" cy="1219199"/>
          </a:xfrm>
          <a:prstGeom prst="rect">
            <a:avLst/>
          </a:prstGeom>
          <a:solidFill>
            <a:srgbClr val="33CCFF"/>
          </a:solidFill>
          <a:ln w="9525" cap="rnd" cmpd="sng">
            <a:solidFill>
              <a:schemeClr val="dk1"/>
            </a:solidFill>
            <a:prstDash val="solid"/>
            <a:miter/>
            <a:headEnd type="none" w="med" len="med"/>
            <a:tailEnd type="none" w="med" len="med"/>
          </a:ln>
        </p:spPr>
        <p:txBody>
          <a:bodyPr lIns="110350" tIns="55160" rIns="110350" bIns="55160" anchor="ctr" anchorCtr="0">
            <a:noAutofit/>
          </a:bodyPr>
          <a:lstStyle/>
          <a:p>
            <a:endParaRPr/>
          </a:p>
        </p:txBody>
      </p:sp>
      <p:sp>
        <p:nvSpPr>
          <p:cNvPr id="72" name="Shape 72"/>
          <p:cNvSpPr txBox="1"/>
          <p:nvPr/>
        </p:nvSpPr>
        <p:spPr>
          <a:xfrm>
            <a:off x="10969943" y="6400801"/>
            <a:ext cx="245468" cy="366711"/>
          </a:xfrm>
          <a:prstGeom prst="rect">
            <a:avLst/>
          </a:prstGeom>
          <a:noFill/>
          <a:ln>
            <a:noFill/>
          </a:ln>
        </p:spPr>
        <p:txBody>
          <a:bodyPr lIns="110350" tIns="55160" rIns="110350" bIns="55160" anchor="t" anchorCtr="0">
            <a:noAutofit/>
          </a:bodyPr>
          <a:lstStyle/>
          <a:p>
            <a:endParaRPr/>
          </a:p>
        </p:txBody>
      </p:sp>
      <p:sp>
        <p:nvSpPr>
          <p:cNvPr id="73" name="Shape 73"/>
          <p:cNvSpPr txBox="1"/>
          <p:nvPr/>
        </p:nvSpPr>
        <p:spPr>
          <a:xfrm>
            <a:off x="101574" y="1219199"/>
            <a:ext cx="11782530" cy="2655094"/>
          </a:xfrm>
          <a:prstGeom prst="rect">
            <a:avLst/>
          </a:prstGeom>
          <a:noFill/>
          <a:ln>
            <a:noFill/>
          </a:ln>
        </p:spPr>
        <p:txBody>
          <a:bodyPr lIns="110350" tIns="55160" rIns="110350" bIns="55160" anchor="ctr" anchorCtr="0">
            <a:noAutofit/>
          </a:bodyPr>
          <a:lstStyle/>
          <a:p>
            <a:pPr algn="just">
              <a:buClr>
                <a:schemeClr val="dk1"/>
              </a:buClr>
              <a:buSzPct val="25000"/>
            </a:pPr>
            <a:r>
              <a:rPr lang="en-US" sz="2200" dirty="0">
                <a:solidFill>
                  <a:schemeClr val="dk1"/>
                </a:solidFill>
                <a:latin typeface="Tahoma"/>
                <a:ea typeface="Tahoma"/>
                <a:cs typeface="Tahoma"/>
                <a:sym typeface="Tahoma"/>
              </a:rPr>
              <a:t>Figure shows the general idea behind a symmetric-key cipher. The original message from Alice to Bob is called plaintext; the message that is sent through the channel is called the  </a:t>
            </a:r>
            <a:r>
              <a:rPr lang="en-US" sz="2200" dirty="0" err="1">
                <a:solidFill>
                  <a:schemeClr val="dk1"/>
                </a:solidFill>
                <a:latin typeface="Tahoma"/>
                <a:ea typeface="Tahoma"/>
                <a:cs typeface="Tahoma"/>
                <a:sym typeface="Tahoma"/>
              </a:rPr>
              <a:t>ciphertext</a:t>
            </a:r>
            <a:r>
              <a:rPr lang="en-US" sz="2200" dirty="0">
                <a:solidFill>
                  <a:schemeClr val="dk1"/>
                </a:solidFill>
                <a:latin typeface="Tahoma"/>
                <a:ea typeface="Tahoma"/>
                <a:cs typeface="Tahoma"/>
                <a:sym typeface="Tahoma"/>
              </a:rPr>
              <a:t>. To create the </a:t>
            </a:r>
            <a:r>
              <a:rPr lang="en-US" sz="2200" dirty="0" err="1">
                <a:solidFill>
                  <a:schemeClr val="dk1"/>
                </a:solidFill>
                <a:latin typeface="Tahoma"/>
                <a:ea typeface="Tahoma"/>
                <a:cs typeface="Tahoma"/>
                <a:sym typeface="Tahoma"/>
              </a:rPr>
              <a:t>ciphertext</a:t>
            </a:r>
            <a:r>
              <a:rPr lang="en-US" sz="2200" dirty="0">
                <a:solidFill>
                  <a:schemeClr val="dk1"/>
                </a:solidFill>
                <a:latin typeface="Tahoma"/>
                <a:ea typeface="Tahoma"/>
                <a:cs typeface="Tahoma"/>
                <a:sym typeface="Tahoma"/>
              </a:rPr>
              <a:t> from the plaintext, Alice uses an encryption algorithm and a shared secret key. To create the plaintext from </a:t>
            </a:r>
            <a:r>
              <a:rPr lang="en-US" sz="2200" dirty="0" err="1">
                <a:solidFill>
                  <a:schemeClr val="dk1"/>
                </a:solidFill>
                <a:latin typeface="Tahoma"/>
                <a:ea typeface="Tahoma"/>
                <a:cs typeface="Tahoma"/>
                <a:sym typeface="Tahoma"/>
              </a:rPr>
              <a:t>ciphertext</a:t>
            </a:r>
            <a:r>
              <a:rPr lang="en-US" sz="2200" dirty="0">
                <a:solidFill>
                  <a:schemeClr val="dk1"/>
                </a:solidFill>
                <a:latin typeface="Tahoma"/>
                <a:ea typeface="Tahoma"/>
                <a:cs typeface="Tahoma"/>
                <a:sym typeface="Tahoma"/>
              </a:rPr>
              <a:t>, Bob uses a decryption algorithm and the same secret key.</a:t>
            </a:r>
          </a:p>
          <a:p>
            <a:endParaRPr sz="2200" dirty="0">
              <a:solidFill>
                <a:schemeClr val="dk1"/>
              </a:solidFill>
              <a:latin typeface="Tahoma"/>
              <a:ea typeface="Tahoma"/>
              <a:cs typeface="Tahoma"/>
              <a:sym typeface="Tahoma"/>
            </a:endParaRPr>
          </a:p>
        </p:txBody>
      </p:sp>
      <p:sp>
        <p:nvSpPr>
          <p:cNvPr id="74" name="Shape 74"/>
          <p:cNvSpPr txBox="1"/>
          <p:nvPr/>
        </p:nvSpPr>
        <p:spPr>
          <a:xfrm>
            <a:off x="203148" y="5137151"/>
            <a:ext cx="8938470" cy="1525799"/>
          </a:xfrm>
          <a:prstGeom prst="rect">
            <a:avLst/>
          </a:prstGeom>
          <a:noFill/>
          <a:ln>
            <a:noFill/>
          </a:ln>
        </p:spPr>
        <p:txBody>
          <a:bodyPr lIns="110350" tIns="55160" rIns="110350" bIns="55160" anchor="t" anchorCtr="0">
            <a:noAutofit/>
          </a:bodyPr>
          <a:lstStyle/>
          <a:p>
            <a:pPr>
              <a:buClr>
                <a:schemeClr val="dk1"/>
              </a:buClr>
              <a:buSzPct val="25000"/>
            </a:pPr>
            <a:r>
              <a:rPr lang="en-US" sz="2900" b="1" dirty="0" err="1">
                <a:solidFill>
                  <a:srgbClr val="0033CC"/>
                </a:solidFill>
                <a:latin typeface="Tahoma"/>
                <a:ea typeface="Tahoma"/>
                <a:cs typeface="Tahoma"/>
                <a:sym typeface="Tahoma"/>
              </a:rPr>
              <a:t>Kerckhoff’s</a:t>
            </a:r>
            <a:r>
              <a:rPr lang="en-US" sz="2900" b="1" dirty="0">
                <a:solidFill>
                  <a:srgbClr val="0033CC"/>
                </a:solidFill>
                <a:latin typeface="Tahoma"/>
                <a:ea typeface="Tahoma"/>
                <a:cs typeface="Tahoma"/>
                <a:sym typeface="Tahoma"/>
              </a:rPr>
              <a:t> Principle</a:t>
            </a:r>
            <a:br>
              <a:rPr lang="en-US" sz="2900" b="1" dirty="0">
                <a:solidFill>
                  <a:srgbClr val="0033CC"/>
                </a:solidFill>
                <a:latin typeface="Tahoma"/>
                <a:ea typeface="Tahoma"/>
                <a:cs typeface="Tahoma"/>
                <a:sym typeface="Tahoma"/>
              </a:rPr>
            </a:br>
            <a:r>
              <a:rPr lang="en-US" sz="2900" b="1" dirty="0">
                <a:solidFill>
                  <a:srgbClr val="0033CC"/>
                </a:solidFill>
                <a:latin typeface="Tahoma"/>
                <a:ea typeface="Tahoma"/>
                <a:cs typeface="Tahoma"/>
                <a:sym typeface="Tahoma"/>
              </a:rPr>
              <a:t>Categories of Traditional Ciphers</a:t>
            </a:r>
            <a:br>
              <a:rPr lang="en-US" sz="2900" b="1" dirty="0">
                <a:solidFill>
                  <a:srgbClr val="0033CC"/>
                </a:solidFill>
                <a:latin typeface="Tahoma"/>
                <a:ea typeface="Tahoma"/>
                <a:cs typeface="Tahoma"/>
                <a:sym typeface="Tahoma"/>
              </a:rPr>
            </a:br>
            <a:r>
              <a:rPr lang="en-US" sz="2900" b="1" dirty="0">
                <a:solidFill>
                  <a:srgbClr val="0033CC"/>
                </a:solidFill>
                <a:latin typeface="Tahoma"/>
                <a:ea typeface="Tahoma"/>
                <a:cs typeface="Tahoma"/>
                <a:sym typeface="Tahoma"/>
              </a:rPr>
              <a:t>Cryptanalysis</a:t>
            </a:r>
          </a:p>
          <a:p>
            <a:pPr>
              <a:buClr>
                <a:schemeClr val="dk1"/>
              </a:buClr>
            </a:pPr>
            <a:endParaRPr sz="2200" dirty="0">
              <a:solidFill>
                <a:schemeClr val="dk1"/>
              </a:solidFill>
              <a:latin typeface="Tahoma"/>
              <a:ea typeface="Tahoma"/>
              <a:cs typeface="Tahoma"/>
              <a:sym typeface="Tahoma"/>
            </a:endParaRPr>
          </a:p>
        </p:txBody>
      </p:sp>
      <p:sp>
        <p:nvSpPr>
          <p:cNvPr id="75" name="Shape 75"/>
          <p:cNvSpPr txBox="1"/>
          <p:nvPr/>
        </p:nvSpPr>
        <p:spPr>
          <a:xfrm>
            <a:off x="220076" y="4662487"/>
            <a:ext cx="6481660" cy="519112"/>
          </a:xfrm>
          <a:prstGeom prst="rect">
            <a:avLst/>
          </a:prstGeom>
          <a:noFill/>
          <a:ln>
            <a:noFill/>
          </a:ln>
        </p:spPr>
        <p:txBody>
          <a:bodyPr lIns="110350" tIns="55160" rIns="110350" bIns="55160" anchor="t" anchorCtr="0">
            <a:noAutofit/>
          </a:bodyPr>
          <a:lstStyle/>
          <a:p>
            <a:pPr algn="ctr">
              <a:buClr>
                <a:schemeClr val="dk1"/>
              </a:buClr>
              <a:buSzPct val="25000"/>
            </a:pPr>
            <a:r>
              <a:rPr lang="en-US" sz="2200" b="1" i="1" u="sng">
                <a:solidFill>
                  <a:schemeClr val="hlink"/>
                </a:solidFill>
                <a:latin typeface="Tahoma"/>
                <a:ea typeface="Tahoma"/>
                <a:cs typeface="Tahoma"/>
                <a:sym typeface="Tahoma"/>
              </a:rPr>
              <a:t>Topics discussed in this section:</a:t>
            </a:r>
          </a:p>
        </p:txBody>
      </p:sp>
      <p:sp>
        <p:nvSpPr>
          <p:cNvPr id="76" name="Shape 7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Shape 83"/>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84" name="Shape 84"/>
          <p:cNvSpPr txBox="1"/>
          <p:nvPr/>
        </p:nvSpPr>
        <p:spPr>
          <a:xfrm>
            <a:off x="2731885" y="1676400"/>
            <a:ext cx="8578166"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General idea of symmetric-key cipher</a:t>
            </a:r>
          </a:p>
        </p:txBody>
      </p:sp>
      <p:pic>
        <p:nvPicPr>
          <p:cNvPr id="85" name="Shape 85"/>
          <p:cNvPicPr preferRelativeResize="0"/>
          <p:nvPr/>
        </p:nvPicPr>
        <p:blipFill>
          <a:blip r:embed="rId3">
            <a:alphaModFix/>
          </a:blip>
          <a:stretch>
            <a:fillRect/>
          </a:stretch>
        </p:blipFill>
        <p:spPr>
          <a:xfrm>
            <a:off x="304722" y="2286000"/>
            <a:ext cx="11710583" cy="3095624"/>
          </a:xfrm>
          <a:prstGeom prst="rect">
            <a:avLst/>
          </a:prstGeom>
          <a:noFill/>
          <a:ln>
            <a:noFill/>
          </a:ln>
        </p:spPr>
      </p:pic>
      <p:sp>
        <p:nvSpPr>
          <p:cNvPr id="86" name="Shape 86"/>
          <p:cNvSpPr txBox="1"/>
          <p:nvPr/>
        </p:nvSpPr>
        <p:spPr>
          <a:xfrm>
            <a:off x="1" y="0"/>
            <a:ext cx="12188825" cy="685799"/>
          </a:xfrm>
          <a:prstGeom prst="rect">
            <a:avLst/>
          </a:prstGeom>
          <a:solidFill>
            <a:srgbClr val="33CCFF"/>
          </a:solidFill>
          <a:ln w="9525" cap="rnd" cmpd="sng">
            <a:solidFill>
              <a:schemeClr val="dk1"/>
            </a:solidFill>
            <a:prstDash val="solid"/>
            <a:miter/>
            <a:headEnd type="none" w="med" len="med"/>
            <a:tailEnd type="none" w="med" len="med"/>
          </a:ln>
        </p:spPr>
        <p:txBody>
          <a:bodyPr lIns="110350" tIns="55160" rIns="110350" bIns="55160" anchor="ctr" anchorCtr="0">
            <a:noAutofit/>
          </a:bodyPr>
          <a:lstStyle/>
          <a:p>
            <a:endParaRPr/>
          </a:p>
        </p:txBody>
      </p:sp>
      <p:sp>
        <p:nvSpPr>
          <p:cNvPr id="88" name="Shape 8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Shape 95"/>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96" name="Shape 96"/>
          <p:cNvSpPr txBox="1"/>
          <p:nvPr/>
        </p:nvSpPr>
        <p:spPr>
          <a:xfrm>
            <a:off x="1" y="0"/>
            <a:ext cx="12188825" cy="685799"/>
          </a:xfrm>
          <a:prstGeom prst="rect">
            <a:avLst/>
          </a:prstGeom>
          <a:solidFill>
            <a:srgbClr val="33CCFF"/>
          </a:solidFill>
          <a:ln w="9525" cap="rnd" cmpd="sng">
            <a:solidFill>
              <a:schemeClr val="dk1"/>
            </a:solidFill>
            <a:prstDash val="solid"/>
            <a:miter/>
            <a:headEnd type="none" w="med" len="med"/>
            <a:tailEnd type="none" w="med" len="med"/>
          </a:ln>
        </p:spPr>
        <p:txBody>
          <a:bodyPr lIns="110350" tIns="55160" rIns="110350" bIns="55160" anchor="ctr" anchorCtr="0">
            <a:noAutofit/>
          </a:bodyPr>
          <a:lstStyle/>
          <a:p>
            <a:endParaRPr/>
          </a:p>
        </p:txBody>
      </p:sp>
      <p:sp>
        <p:nvSpPr>
          <p:cNvPr id="98" name="Shape 98"/>
          <p:cNvSpPr txBox="1"/>
          <p:nvPr/>
        </p:nvSpPr>
        <p:spPr>
          <a:xfrm>
            <a:off x="203148" y="1219200"/>
            <a:ext cx="11782530" cy="519112"/>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i="1" dirty="0">
                <a:solidFill>
                  <a:schemeClr val="dk1"/>
                </a:solidFill>
                <a:latin typeface="Tahoma"/>
                <a:ea typeface="Tahoma"/>
                <a:cs typeface="Tahoma"/>
                <a:sym typeface="Tahoma"/>
              </a:rPr>
              <a:t>If P is the plaintext, C is the </a:t>
            </a:r>
            <a:r>
              <a:rPr lang="en-US" sz="2200" b="1" i="1" dirty="0" err="1">
                <a:solidFill>
                  <a:schemeClr val="dk1"/>
                </a:solidFill>
                <a:latin typeface="Tahoma"/>
                <a:ea typeface="Tahoma"/>
                <a:cs typeface="Tahoma"/>
                <a:sym typeface="Tahoma"/>
              </a:rPr>
              <a:t>ciphertext</a:t>
            </a:r>
            <a:r>
              <a:rPr lang="en-US" sz="2200" b="1" i="1" dirty="0">
                <a:solidFill>
                  <a:schemeClr val="dk1"/>
                </a:solidFill>
                <a:latin typeface="Tahoma"/>
                <a:ea typeface="Tahoma"/>
                <a:cs typeface="Tahoma"/>
                <a:sym typeface="Tahoma"/>
              </a:rPr>
              <a:t>, and K is the key, </a:t>
            </a:r>
          </a:p>
        </p:txBody>
      </p:sp>
      <p:pic>
        <p:nvPicPr>
          <p:cNvPr id="99" name="Shape 99"/>
          <p:cNvPicPr preferRelativeResize="0"/>
          <p:nvPr/>
        </p:nvPicPr>
        <p:blipFill>
          <a:blip r:embed="rId3">
            <a:alphaModFix/>
          </a:blip>
          <a:stretch>
            <a:fillRect/>
          </a:stretch>
        </p:blipFill>
        <p:spPr>
          <a:xfrm>
            <a:off x="336463" y="1981200"/>
            <a:ext cx="11344493" cy="1431924"/>
          </a:xfrm>
          <a:prstGeom prst="rect">
            <a:avLst/>
          </a:prstGeom>
          <a:noFill/>
          <a:ln>
            <a:noFill/>
          </a:ln>
        </p:spPr>
      </p:pic>
      <p:sp>
        <p:nvSpPr>
          <p:cNvPr id="100" name="Shape 100"/>
          <p:cNvSpPr txBox="1"/>
          <p:nvPr/>
        </p:nvSpPr>
        <p:spPr>
          <a:xfrm>
            <a:off x="406295" y="3657600"/>
            <a:ext cx="11782530" cy="519112"/>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i="1">
                <a:solidFill>
                  <a:schemeClr val="dk1"/>
                </a:solidFill>
                <a:latin typeface="Tahoma"/>
                <a:ea typeface="Tahoma"/>
                <a:cs typeface="Tahoma"/>
                <a:sym typeface="Tahoma"/>
              </a:rPr>
              <a:t>We assume that Bob creates </a:t>
            </a:r>
            <a:r>
              <a:rPr lang="en-US" sz="2200" b="1">
                <a:solidFill>
                  <a:schemeClr val="dk1"/>
                </a:solidFill>
                <a:latin typeface="Tahoma"/>
                <a:ea typeface="Tahoma"/>
                <a:cs typeface="Tahoma"/>
                <a:sym typeface="Tahoma"/>
              </a:rPr>
              <a:t>P</a:t>
            </a:r>
            <a:r>
              <a:rPr lang="en-US" sz="2200" b="1" baseline="-25000">
                <a:solidFill>
                  <a:schemeClr val="dk1"/>
                </a:solidFill>
                <a:latin typeface="Tahoma"/>
                <a:ea typeface="Tahoma"/>
                <a:cs typeface="Tahoma"/>
                <a:sym typeface="Tahoma"/>
              </a:rPr>
              <a:t>1</a:t>
            </a:r>
            <a:r>
              <a:rPr lang="en-US" sz="2200" b="1">
                <a:solidFill>
                  <a:schemeClr val="dk1"/>
                </a:solidFill>
                <a:latin typeface="Tahoma"/>
                <a:ea typeface="Tahoma"/>
                <a:cs typeface="Tahoma"/>
                <a:sym typeface="Tahoma"/>
              </a:rPr>
              <a:t>;</a:t>
            </a:r>
            <a:r>
              <a:rPr lang="en-US" sz="2200" b="1" i="1">
                <a:solidFill>
                  <a:schemeClr val="dk1"/>
                </a:solidFill>
                <a:latin typeface="Tahoma"/>
                <a:ea typeface="Tahoma"/>
                <a:cs typeface="Tahoma"/>
                <a:sym typeface="Tahoma"/>
              </a:rPr>
              <a:t> we prove that </a:t>
            </a:r>
            <a:r>
              <a:rPr lang="en-US" sz="2200" b="1">
                <a:solidFill>
                  <a:schemeClr val="dk1"/>
                </a:solidFill>
                <a:latin typeface="Tahoma"/>
                <a:ea typeface="Tahoma"/>
                <a:cs typeface="Tahoma"/>
                <a:sym typeface="Tahoma"/>
              </a:rPr>
              <a:t>P</a:t>
            </a:r>
            <a:r>
              <a:rPr lang="en-US" sz="2200" b="1" baseline="-25000">
                <a:solidFill>
                  <a:schemeClr val="dk1"/>
                </a:solidFill>
                <a:latin typeface="Tahoma"/>
                <a:ea typeface="Tahoma"/>
                <a:cs typeface="Tahoma"/>
                <a:sym typeface="Tahoma"/>
              </a:rPr>
              <a:t>1</a:t>
            </a:r>
            <a:r>
              <a:rPr lang="en-US" sz="2200" b="1">
                <a:solidFill>
                  <a:schemeClr val="dk1"/>
                </a:solidFill>
                <a:latin typeface="Tahoma"/>
                <a:ea typeface="Tahoma"/>
                <a:cs typeface="Tahoma"/>
                <a:sym typeface="Tahoma"/>
              </a:rPr>
              <a:t> = P</a:t>
            </a:r>
            <a:r>
              <a:rPr lang="en-US" sz="2200" b="1" i="1">
                <a:solidFill>
                  <a:schemeClr val="dk1"/>
                </a:solidFill>
                <a:latin typeface="Tahoma"/>
                <a:ea typeface="Tahoma"/>
                <a:cs typeface="Tahoma"/>
                <a:sym typeface="Tahoma"/>
              </a:rPr>
              <a:t>:</a:t>
            </a:r>
          </a:p>
        </p:txBody>
      </p:sp>
      <p:pic>
        <p:nvPicPr>
          <p:cNvPr id="101" name="Shape 101"/>
          <p:cNvPicPr preferRelativeResize="0"/>
          <p:nvPr/>
        </p:nvPicPr>
        <p:blipFill>
          <a:blip r:embed="rId4">
            <a:alphaModFix/>
          </a:blip>
          <a:stretch>
            <a:fillRect/>
          </a:stretch>
        </p:blipFill>
        <p:spPr>
          <a:xfrm>
            <a:off x="3796313" y="4267200"/>
            <a:ext cx="3618557" cy="762000"/>
          </a:xfrm>
          <a:prstGeom prst="rect">
            <a:avLst/>
          </a:prstGeom>
          <a:noFill/>
          <a:ln>
            <a:noFill/>
          </a:ln>
        </p:spPr>
      </p:pic>
      <p:pic>
        <p:nvPicPr>
          <p:cNvPr id="102" name="Shape 102"/>
          <p:cNvPicPr preferRelativeResize="0"/>
          <p:nvPr/>
        </p:nvPicPr>
        <p:blipFill>
          <a:blip r:embed="rId5">
            <a:alphaModFix/>
          </a:blip>
          <a:stretch>
            <a:fillRect/>
          </a:stretch>
        </p:blipFill>
        <p:spPr>
          <a:xfrm>
            <a:off x="2099187" y="5156200"/>
            <a:ext cx="7347153" cy="787400"/>
          </a:xfrm>
          <a:prstGeom prst="rect">
            <a:avLst/>
          </a:prstGeom>
          <a:noFill/>
          <a:ln>
            <a:noFill/>
          </a:ln>
        </p:spPr>
      </p:pic>
      <p:sp>
        <p:nvSpPr>
          <p:cNvPr id="103" name="Shape 103"/>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Shape 110"/>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11" name="Shape 111"/>
          <p:cNvSpPr txBox="1"/>
          <p:nvPr/>
        </p:nvSpPr>
        <p:spPr>
          <a:xfrm>
            <a:off x="1" y="0"/>
            <a:ext cx="12188825" cy="685799"/>
          </a:xfrm>
          <a:prstGeom prst="rect">
            <a:avLst/>
          </a:prstGeom>
          <a:solidFill>
            <a:srgbClr val="33CCFF"/>
          </a:solidFill>
          <a:ln w="9525" cap="rnd" cmpd="sng">
            <a:solidFill>
              <a:schemeClr val="dk1"/>
            </a:solidFill>
            <a:prstDash val="solid"/>
            <a:miter/>
            <a:headEnd type="none" w="med" len="med"/>
            <a:tailEnd type="none" w="med" len="med"/>
          </a:ln>
        </p:spPr>
        <p:txBody>
          <a:bodyPr lIns="110350" tIns="55160" rIns="110350" bIns="55160" anchor="ctr" anchorCtr="0">
            <a:noAutofit/>
          </a:bodyPr>
          <a:lstStyle/>
          <a:p>
            <a:endParaRPr/>
          </a:p>
        </p:txBody>
      </p:sp>
      <p:sp>
        <p:nvSpPr>
          <p:cNvPr id="112" name="Shape 112"/>
          <p:cNvSpPr txBox="1"/>
          <p:nvPr/>
        </p:nvSpPr>
        <p:spPr>
          <a:xfrm>
            <a:off x="1623062" y="1371600"/>
            <a:ext cx="8013727" cy="457200"/>
          </a:xfrm>
          <a:prstGeom prst="rect">
            <a:avLst/>
          </a:prstGeom>
          <a:noFill/>
          <a:ln>
            <a:noFill/>
          </a:ln>
        </p:spPr>
        <p:txBody>
          <a:bodyPr lIns="110350" tIns="55160" rIns="110350" bIns="55160" anchor="t" anchorCtr="0">
            <a:noAutofit/>
          </a:bodyPr>
          <a:lstStyle/>
          <a:p>
            <a:pPr>
              <a:buClr>
                <a:schemeClr val="dk1"/>
              </a:buClr>
              <a:buSzPct val="25000"/>
            </a:pPr>
            <a:r>
              <a:rPr lang="en-US" sz="2900" b="1">
                <a:solidFill>
                  <a:schemeClr val="folHlink"/>
                </a:solidFill>
                <a:latin typeface="Tahoma"/>
                <a:ea typeface="Tahoma"/>
                <a:cs typeface="Tahoma"/>
                <a:sym typeface="Tahoma"/>
              </a:rPr>
              <a:t>Figure 3.2  </a:t>
            </a:r>
            <a:r>
              <a:rPr lang="en-US" sz="2400">
                <a:solidFill>
                  <a:schemeClr val="dk1"/>
                </a:solidFill>
                <a:latin typeface="Tahoma"/>
                <a:ea typeface="Tahoma"/>
                <a:cs typeface="Tahoma"/>
                <a:sym typeface="Tahoma"/>
              </a:rPr>
              <a:t>Locking and unlocking with the same key</a:t>
            </a:r>
          </a:p>
        </p:txBody>
      </p:sp>
      <p:pic>
        <p:nvPicPr>
          <p:cNvPr id="113" name="Shape 113"/>
          <p:cNvPicPr preferRelativeResize="0"/>
          <p:nvPr/>
        </p:nvPicPr>
        <p:blipFill>
          <a:blip r:embed="rId3">
            <a:alphaModFix/>
          </a:blip>
          <a:stretch>
            <a:fillRect/>
          </a:stretch>
        </p:blipFill>
        <p:spPr>
          <a:xfrm>
            <a:off x="1438960" y="2643187"/>
            <a:ext cx="9308791" cy="2843211"/>
          </a:xfrm>
          <a:prstGeom prst="rect">
            <a:avLst/>
          </a:prstGeom>
          <a:noFill/>
          <a:ln>
            <a:noFill/>
          </a:ln>
        </p:spPr>
      </p:pic>
      <p:sp>
        <p:nvSpPr>
          <p:cNvPr id="115" name="Shape 115"/>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23" name="Shape 123"/>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24" name="Shape 124"/>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25" name="Shape 125"/>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26" name="Shape 126"/>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27" name="Shape 127"/>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28" name="Shape 128"/>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29" name="Shape 129"/>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30" name="Shape 130"/>
          <p:cNvSpPr txBox="1"/>
          <p:nvPr/>
        </p:nvSpPr>
        <p:spPr>
          <a:xfrm>
            <a:off x="1523604" y="0"/>
            <a:ext cx="9446339" cy="668337"/>
          </a:xfrm>
          <a:prstGeom prst="rect">
            <a:avLst/>
          </a:prstGeom>
          <a:noFill/>
          <a:ln>
            <a:noFill/>
          </a:ln>
        </p:spPr>
        <p:txBody>
          <a:bodyPr lIns="110350" tIns="55160" rIns="110350" bIns="55160" anchor="t" anchorCtr="0">
            <a:noAutofit/>
          </a:bodyPr>
          <a:lstStyle/>
          <a:p>
            <a:pPr>
              <a:buClr>
                <a:schemeClr val="dk1"/>
              </a:buClr>
              <a:buSzPct val="25000"/>
            </a:pPr>
            <a:r>
              <a:rPr lang="en-US" sz="3900" dirty="0" err="1">
                <a:solidFill>
                  <a:schemeClr val="hlink"/>
                </a:solidFill>
                <a:latin typeface="Tahoma"/>
                <a:ea typeface="Tahoma"/>
                <a:cs typeface="Tahoma"/>
                <a:sym typeface="Tahoma"/>
              </a:rPr>
              <a:t>Kerckhoff’s</a:t>
            </a:r>
            <a:r>
              <a:rPr lang="en-US" sz="3900" dirty="0">
                <a:solidFill>
                  <a:schemeClr val="hlink"/>
                </a:solidFill>
                <a:latin typeface="Tahoma"/>
                <a:ea typeface="Tahoma"/>
                <a:cs typeface="Tahoma"/>
                <a:sym typeface="Tahoma"/>
              </a:rPr>
              <a:t> Principle</a:t>
            </a:r>
          </a:p>
        </p:txBody>
      </p:sp>
      <p:sp>
        <p:nvSpPr>
          <p:cNvPr id="131" name="Shape 131"/>
          <p:cNvSpPr txBox="1"/>
          <p:nvPr/>
        </p:nvSpPr>
        <p:spPr>
          <a:xfrm>
            <a:off x="203148" y="1143001"/>
            <a:ext cx="11782530" cy="2590800"/>
          </a:xfrm>
          <a:prstGeom prst="rect">
            <a:avLst/>
          </a:prstGeom>
          <a:noFill/>
          <a:ln>
            <a:noFill/>
          </a:ln>
        </p:spPr>
        <p:txBody>
          <a:bodyPr lIns="110350" tIns="55160" rIns="110350" bIns="55160" anchor="ctr" anchorCtr="0">
            <a:noAutofit/>
          </a:bodyPr>
          <a:lstStyle/>
          <a:p>
            <a:pPr algn="just">
              <a:lnSpc>
                <a:spcPct val="150000"/>
              </a:lnSpc>
              <a:spcBef>
                <a:spcPts val="724"/>
              </a:spcBef>
              <a:spcAft>
                <a:spcPts val="724"/>
              </a:spcAft>
              <a:buClr>
                <a:schemeClr val="dk1"/>
              </a:buClr>
              <a:buSzPct val="25000"/>
            </a:pPr>
            <a:r>
              <a:rPr lang="en-US" sz="2200" dirty="0">
                <a:solidFill>
                  <a:schemeClr val="dk1"/>
                </a:solidFill>
                <a:latin typeface="Tahoma"/>
                <a:ea typeface="Tahoma"/>
                <a:cs typeface="Tahoma"/>
                <a:sym typeface="Tahoma"/>
              </a:rPr>
              <a:t>Based on </a:t>
            </a:r>
            <a:r>
              <a:rPr lang="en-US" sz="2200" dirty="0" err="1">
                <a:solidFill>
                  <a:schemeClr val="hlink"/>
                </a:solidFill>
                <a:latin typeface="Tahoma"/>
                <a:ea typeface="Tahoma"/>
                <a:cs typeface="Tahoma"/>
                <a:sym typeface="Tahoma"/>
              </a:rPr>
              <a:t>Kerckhoff’s</a:t>
            </a:r>
            <a:r>
              <a:rPr lang="en-US" sz="2200" dirty="0">
                <a:solidFill>
                  <a:schemeClr val="hlink"/>
                </a:solidFill>
                <a:latin typeface="Tahoma"/>
                <a:ea typeface="Tahoma"/>
                <a:cs typeface="Tahoma"/>
                <a:sym typeface="Tahoma"/>
              </a:rPr>
              <a:t> principle</a:t>
            </a:r>
            <a:r>
              <a:rPr lang="en-US" sz="2200" dirty="0">
                <a:solidFill>
                  <a:schemeClr val="dk1"/>
                </a:solidFill>
                <a:latin typeface="Tahoma"/>
                <a:ea typeface="Tahoma"/>
                <a:cs typeface="Tahoma"/>
                <a:sym typeface="Tahoma"/>
              </a:rPr>
              <a:t>, one should always assume that the adversary, Eve, knows the encryption/decryption algorithm. The resistance of the cipher to attack must be based only on the secrecy of the key. </a:t>
            </a:r>
          </a:p>
        </p:txBody>
      </p:sp>
      <p:sp>
        <p:nvSpPr>
          <p:cNvPr id="132" name="Shape 132"/>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Shape 139"/>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40" name="Shape 140"/>
          <p:cNvSpPr txBox="1"/>
          <p:nvPr/>
        </p:nvSpPr>
        <p:spPr>
          <a:xfrm>
            <a:off x="1" y="0"/>
            <a:ext cx="12188825" cy="838199"/>
          </a:xfrm>
          <a:prstGeom prst="rect">
            <a:avLst/>
          </a:prstGeom>
          <a:solidFill>
            <a:srgbClr val="33CCFF"/>
          </a:solidFill>
          <a:ln w="9525" cap="rnd" cmpd="sng">
            <a:solidFill>
              <a:schemeClr val="dk1"/>
            </a:solidFill>
            <a:prstDash val="solid"/>
            <a:miter/>
            <a:headEnd type="none" w="med" len="med"/>
            <a:tailEnd type="none" w="med" len="med"/>
          </a:ln>
        </p:spPr>
        <p:txBody>
          <a:bodyPr lIns="110350" tIns="55160" rIns="110350" bIns="55160" anchor="ctr" anchorCtr="0">
            <a:noAutofit/>
          </a:bodyPr>
          <a:lstStyle/>
          <a:p>
            <a:endParaRPr/>
          </a:p>
        </p:txBody>
      </p:sp>
      <p:sp>
        <p:nvSpPr>
          <p:cNvPr id="141" name="Shape 141"/>
          <p:cNvSpPr txBox="1"/>
          <p:nvPr/>
        </p:nvSpPr>
        <p:spPr>
          <a:xfrm>
            <a:off x="304721" y="76200"/>
            <a:ext cx="10868368" cy="579300"/>
          </a:xfrm>
          <a:prstGeom prst="rect">
            <a:avLst/>
          </a:prstGeom>
          <a:noFill/>
          <a:ln>
            <a:noFill/>
          </a:ln>
        </p:spPr>
        <p:txBody>
          <a:bodyPr lIns="110350" tIns="55160" rIns="110350" bIns="55160" anchor="t" anchorCtr="0">
            <a:noAutofit/>
          </a:bodyPr>
          <a:lstStyle/>
          <a:p>
            <a:pPr>
              <a:buClr>
                <a:schemeClr val="dk1"/>
              </a:buClr>
              <a:buSzPct val="25000"/>
            </a:pPr>
            <a:r>
              <a:rPr lang="en-US" sz="3900" b="1" dirty="0">
                <a:solidFill>
                  <a:schemeClr val="dk1"/>
                </a:solidFill>
                <a:latin typeface="Times New Roman"/>
                <a:ea typeface="Times New Roman"/>
                <a:cs typeface="Times New Roman"/>
                <a:sym typeface="Times New Roman"/>
              </a:rPr>
              <a:t>SUBSTITUTION CIPHERS</a:t>
            </a:r>
          </a:p>
        </p:txBody>
      </p:sp>
      <p:sp>
        <p:nvSpPr>
          <p:cNvPr id="142" name="Shape 142"/>
          <p:cNvSpPr txBox="1"/>
          <p:nvPr/>
        </p:nvSpPr>
        <p:spPr>
          <a:xfrm>
            <a:off x="10969943" y="6400801"/>
            <a:ext cx="245468" cy="366711"/>
          </a:xfrm>
          <a:prstGeom prst="rect">
            <a:avLst/>
          </a:prstGeom>
          <a:noFill/>
          <a:ln>
            <a:noFill/>
          </a:ln>
        </p:spPr>
        <p:txBody>
          <a:bodyPr lIns="110350" tIns="55160" rIns="110350" bIns="55160" anchor="t" anchorCtr="0">
            <a:noAutofit/>
          </a:bodyPr>
          <a:lstStyle/>
          <a:p>
            <a:endParaRPr/>
          </a:p>
        </p:txBody>
      </p:sp>
      <p:sp>
        <p:nvSpPr>
          <p:cNvPr id="143" name="Shape 143"/>
          <p:cNvSpPr txBox="1"/>
          <p:nvPr/>
        </p:nvSpPr>
        <p:spPr>
          <a:xfrm>
            <a:off x="101575" y="1066801"/>
            <a:ext cx="11477809" cy="1373187"/>
          </a:xfrm>
          <a:prstGeom prst="rect">
            <a:avLst/>
          </a:prstGeom>
          <a:noFill/>
          <a:ln>
            <a:noFill/>
          </a:ln>
        </p:spPr>
        <p:txBody>
          <a:bodyPr lIns="110350" tIns="55160" rIns="110350" bIns="55160" anchor="ctr" anchorCtr="0">
            <a:noAutofit/>
          </a:bodyPr>
          <a:lstStyle/>
          <a:p>
            <a:pPr algn="just">
              <a:buClr>
                <a:schemeClr val="dk1"/>
              </a:buClr>
              <a:buSzPct val="25000"/>
            </a:pPr>
            <a:r>
              <a:rPr lang="en-US" sz="2200" dirty="0">
                <a:solidFill>
                  <a:schemeClr val="dk1"/>
                </a:solidFill>
                <a:latin typeface="Tahoma"/>
                <a:ea typeface="Tahoma"/>
                <a:cs typeface="Tahoma"/>
                <a:sym typeface="Tahoma"/>
              </a:rPr>
              <a:t>A substitution cipher replaces one symbol with another. Substitution ciphers can be categorized as either mono alphabetic ciphers or polyalphabetic ciphers.</a:t>
            </a:r>
          </a:p>
        </p:txBody>
      </p:sp>
      <p:sp>
        <p:nvSpPr>
          <p:cNvPr id="144" name="Shape 144"/>
          <p:cNvSpPr txBox="1"/>
          <p:nvPr/>
        </p:nvSpPr>
        <p:spPr>
          <a:xfrm>
            <a:off x="203148" y="5410200"/>
            <a:ext cx="7618014" cy="822324"/>
          </a:xfrm>
          <a:prstGeom prst="rect">
            <a:avLst/>
          </a:prstGeom>
          <a:noFill/>
          <a:ln>
            <a:noFill/>
          </a:ln>
        </p:spPr>
        <p:txBody>
          <a:bodyPr lIns="110350" tIns="55160" rIns="110350" bIns="55160" anchor="t" anchorCtr="0">
            <a:noAutofit/>
          </a:bodyPr>
          <a:lstStyle/>
          <a:p>
            <a:pPr>
              <a:buClr>
                <a:schemeClr val="dk1"/>
              </a:buClr>
              <a:buSzPct val="25000"/>
            </a:pPr>
            <a:r>
              <a:rPr lang="en-US" sz="2900" b="1" dirty="0" err="1">
                <a:solidFill>
                  <a:srgbClr val="0033CC"/>
                </a:solidFill>
                <a:latin typeface="Tahoma"/>
                <a:ea typeface="Tahoma"/>
                <a:cs typeface="Tahoma"/>
                <a:sym typeface="Tahoma"/>
              </a:rPr>
              <a:t>Monoalphabetic</a:t>
            </a:r>
            <a:r>
              <a:rPr lang="en-US" sz="2900" b="1" dirty="0">
                <a:solidFill>
                  <a:srgbClr val="0033CC"/>
                </a:solidFill>
                <a:latin typeface="Tahoma"/>
                <a:ea typeface="Tahoma"/>
                <a:cs typeface="Tahoma"/>
                <a:sym typeface="Tahoma"/>
              </a:rPr>
              <a:t> </a:t>
            </a:r>
            <a:r>
              <a:rPr lang="en-US" sz="2900" b="1" dirty="0" err="1">
                <a:solidFill>
                  <a:srgbClr val="0033CC"/>
                </a:solidFill>
                <a:latin typeface="Tahoma"/>
                <a:ea typeface="Tahoma"/>
                <a:cs typeface="Tahoma"/>
                <a:sym typeface="Tahoma"/>
              </a:rPr>
              <a:t>Ciphres</a:t>
            </a:r>
            <a:br>
              <a:rPr lang="en-US" sz="2900" b="1" dirty="0">
                <a:solidFill>
                  <a:srgbClr val="0033CC"/>
                </a:solidFill>
                <a:latin typeface="Tahoma"/>
                <a:ea typeface="Tahoma"/>
                <a:cs typeface="Tahoma"/>
                <a:sym typeface="Tahoma"/>
              </a:rPr>
            </a:br>
            <a:r>
              <a:rPr lang="en-US" sz="2900" b="1" dirty="0">
                <a:solidFill>
                  <a:srgbClr val="0033CC"/>
                </a:solidFill>
                <a:latin typeface="Tahoma"/>
                <a:ea typeface="Tahoma"/>
                <a:cs typeface="Tahoma"/>
                <a:sym typeface="Tahoma"/>
              </a:rPr>
              <a:t>Polyalphabetic Ciphers</a:t>
            </a:r>
          </a:p>
        </p:txBody>
      </p:sp>
      <p:sp>
        <p:nvSpPr>
          <p:cNvPr id="145" name="Shape 145"/>
          <p:cNvSpPr txBox="1"/>
          <p:nvPr/>
        </p:nvSpPr>
        <p:spPr>
          <a:xfrm>
            <a:off x="203148" y="4876800"/>
            <a:ext cx="6481660" cy="519112"/>
          </a:xfrm>
          <a:prstGeom prst="rect">
            <a:avLst/>
          </a:prstGeom>
          <a:noFill/>
          <a:ln>
            <a:noFill/>
          </a:ln>
        </p:spPr>
        <p:txBody>
          <a:bodyPr lIns="110350" tIns="55160" rIns="110350" bIns="55160" anchor="t" anchorCtr="0">
            <a:noAutofit/>
          </a:bodyPr>
          <a:lstStyle/>
          <a:p>
            <a:pPr algn="ctr">
              <a:buClr>
                <a:schemeClr val="dk1"/>
              </a:buClr>
              <a:buSzPct val="25000"/>
            </a:pPr>
            <a:r>
              <a:rPr lang="en-US" sz="2200" b="1" i="1" u="sng">
                <a:solidFill>
                  <a:schemeClr val="hlink"/>
                </a:solidFill>
                <a:latin typeface="Tahoma"/>
                <a:ea typeface="Tahoma"/>
                <a:cs typeface="Tahoma"/>
                <a:sym typeface="Tahoma"/>
              </a:rPr>
              <a:t>Topics discussed in this section:</a:t>
            </a:r>
          </a:p>
        </p:txBody>
      </p:sp>
      <p:cxnSp>
        <p:nvCxnSpPr>
          <p:cNvPr id="146" name="Shape 146"/>
          <p:cNvCxnSpPr/>
          <p:nvPr/>
        </p:nvCxnSpPr>
        <p:spPr>
          <a:xfrm>
            <a:off x="609442" y="34290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147" name="Shape 147"/>
          <p:cNvCxnSpPr/>
          <p:nvPr/>
        </p:nvCxnSpPr>
        <p:spPr>
          <a:xfrm>
            <a:off x="611557" y="4648200"/>
            <a:ext cx="10868368" cy="0"/>
          </a:xfrm>
          <a:prstGeom prst="straightConnector1">
            <a:avLst/>
          </a:prstGeom>
          <a:noFill/>
          <a:ln w="76200" cap="rnd" cmpd="sng">
            <a:solidFill>
              <a:srgbClr val="009900"/>
            </a:solidFill>
            <a:prstDash val="solid"/>
            <a:miter/>
            <a:headEnd type="none" w="med" len="med"/>
            <a:tailEnd type="none" w="med" len="med"/>
          </a:ln>
        </p:spPr>
      </p:cxnSp>
      <p:sp>
        <p:nvSpPr>
          <p:cNvPr id="148" name="Shape 148"/>
          <p:cNvSpPr txBox="1"/>
          <p:nvPr/>
        </p:nvSpPr>
        <p:spPr>
          <a:xfrm>
            <a:off x="660229" y="3521076"/>
            <a:ext cx="10766794" cy="1066799"/>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900" b="1">
                <a:solidFill>
                  <a:schemeClr val="dk1"/>
                </a:solidFill>
              </a:rPr>
              <a:t>A substitution cipher replaces one symbol with another.</a:t>
            </a:r>
          </a:p>
        </p:txBody>
      </p:sp>
      <p:sp>
        <p:nvSpPr>
          <p:cNvPr id="149" name="Shape 149"/>
          <p:cNvSpPr txBox="1"/>
          <p:nvPr/>
        </p:nvSpPr>
        <p:spPr>
          <a:xfrm>
            <a:off x="787195" y="2819400"/>
            <a:ext cx="1165978" cy="519112"/>
          </a:xfrm>
          <a:prstGeom prst="rect">
            <a:avLst/>
          </a:prstGeom>
          <a:noFill/>
          <a:ln>
            <a:noFill/>
          </a:ln>
        </p:spPr>
        <p:txBody>
          <a:bodyPr lIns="110350" tIns="55160" rIns="110350" bIns="55160" anchor="t" anchorCtr="0">
            <a:noAutofit/>
          </a:bodyPr>
          <a:lstStyle/>
          <a:p>
            <a:pPr>
              <a:buSzPct val="25000"/>
            </a:pPr>
            <a:r>
              <a:rPr lang="en-US" sz="2200">
                <a:solidFill>
                  <a:schemeClr val="hlink"/>
                </a:solidFill>
                <a:latin typeface="Tahoma"/>
                <a:ea typeface="Tahoma"/>
                <a:cs typeface="Tahoma"/>
                <a:sym typeface="Tahoma"/>
              </a:rPr>
              <a:t>Note</a:t>
            </a:r>
          </a:p>
        </p:txBody>
      </p:sp>
      <p:sp>
        <p:nvSpPr>
          <p:cNvPr id="150" name="Shape 15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Shape 15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58" name="Shape 15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59" name="Shape 15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60" name="Shape 16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61" name="Shape 16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62" name="Shape 16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63" name="Shape 16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64" name="Shape 16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65" name="Shape 165"/>
          <p:cNvSpPr txBox="1"/>
          <p:nvPr/>
        </p:nvSpPr>
        <p:spPr>
          <a:xfrm>
            <a:off x="1523604" y="0"/>
            <a:ext cx="8227457" cy="579436"/>
          </a:xfrm>
          <a:prstGeom prst="rect">
            <a:avLst/>
          </a:prstGeom>
          <a:noFill/>
          <a:ln>
            <a:noFill/>
          </a:ln>
        </p:spPr>
        <p:txBody>
          <a:bodyPr lIns="110350" tIns="55160" rIns="110350" bIns="55160" anchor="t" anchorCtr="0">
            <a:noAutofit/>
          </a:bodyPr>
          <a:lstStyle/>
          <a:p>
            <a:pPr>
              <a:buClr>
                <a:schemeClr val="dk1"/>
              </a:buClr>
              <a:buSzPct val="25000"/>
            </a:pPr>
            <a:r>
              <a:rPr lang="en-US" sz="3900" dirty="0" err="1">
                <a:solidFill>
                  <a:schemeClr val="hlink"/>
                </a:solidFill>
                <a:latin typeface="Tahoma"/>
                <a:ea typeface="Tahoma"/>
                <a:cs typeface="Tahoma"/>
                <a:sym typeface="Tahoma"/>
              </a:rPr>
              <a:t>Monoalphabetic</a:t>
            </a:r>
            <a:r>
              <a:rPr lang="en-US" sz="3900" dirty="0">
                <a:solidFill>
                  <a:schemeClr val="hlink"/>
                </a:solidFill>
                <a:latin typeface="Tahoma"/>
                <a:ea typeface="Tahoma"/>
                <a:cs typeface="Tahoma"/>
                <a:sym typeface="Tahoma"/>
              </a:rPr>
              <a:t> Ciphers</a:t>
            </a:r>
          </a:p>
        </p:txBody>
      </p:sp>
      <p:cxnSp>
        <p:nvCxnSpPr>
          <p:cNvPr id="166" name="Shape 166"/>
          <p:cNvCxnSpPr/>
          <p:nvPr/>
        </p:nvCxnSpPr>
        <p:spPr>
          <a:xfrm>
            <a:off x="609442" y="25908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167" name="Shape 167"/>
          <p:cNvCxnSpPr/>
          <p:nvPr/>
        </p:nvCxnSpPr>
        <p:spPr>
          <a:xfrm>
            <a:off x="611557" y="4800600"/>
            <a:ext cx="10868368" cy="0"/>
          </a:xfrm>
          <a:prstGeom prst="straightConnector1">
            <a:avLst/>
          </a:prstGeom>
          <a:noFill/>
          <a:ln w="76200" cap="rnd" cmpd="sng">
            <a:solidFill>
              <a:srgbClr val="009900"/>
            </a:solidFill>
            <a:prstDash val="solid"/>
            <a:miter/>
            <a:headEnd type="none" w="med" len="med"/>
            <a:tailEnd type="none" w="med" len="med"/>
          </a:ln>
        </p:spPr>
      </p:cxnSp>
      <p:sp>
        <p:nvSpPr>
          <p:cNvPr id="168" name="Shape 168"/>
          <p:cNvSpPr txBox="1"/>
          <p:nvPr/>
        </p:nvSpPr>
        <p:spPr>
          <a:xfrm>
            <a:off x="660229" y="2682875"/>
            <a:ext cx="10766794" cy="2041524"/>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900" dirty="0">
                <a:solidFill>
                  <a:schemeClr val="dk1"/>
                </a:solidFill>
              </a:rPr>
              <a:t>In </a:t>
            </a:r>
            <a:r>
              <a:rPr lang="en-US" sz="3900" dirty="0" err="1">
                <a:solidFill>
                  <a:schemeClr val="dk1"/>
                </a:solidFill>
              </a:rPr>
              <a:t>monoalphabetic</a:t>
            </a:r>
            <a:r>
              <a:rPr lang="en-US" sz="3900" dirty="0">
                <a:solidFill>
                  <a:schemeClr val="dk1"/>
                </a:solidFill>
              </a:rPr>
              <a:t> substitution, the relationship between a symbol in the plaintext to a symbol in the </a:t>
            </a:r>
            <a:r>
              <a:rPr lang="en-US" sz="3900" dirty="0" err="1">
                <a:solidFill>
                  <a:schemeClr val="dk1"/>
                </a:solidFill>
              </a:rPr>
              <a:t>ciphertext</a:t>
            </a:r>
            <a:r>
              <a:rPr lang="en-US" sz="3900" dirty="0">
                <a:solidFill>
                  <a:schemeClr val="dk1"/>
                </a:solidFill>
              </a:rPr>
              <a:t> is always one-to-one.</a:t>
            </a:r>
          </a:p>
        </p:txBody>
      </p:sp>
      <p:sp>
        <p:nvSpPr>
          <p:cNvPr id="169" name="Shape 169"/>
          <p:cNvSpPr txBox="1"/>
          <p:nvPr/>
        </p:nvSpPr>
        <p:spPr>
          <a:xfrm>
            <a:off x="787195" y="1981200"/>
            <a:ext cx="1165978" cy="519112"/>
          </a:xfrm>
          <a:prstGeom prst="rect">
            <a:avLst/>
          </a:prstGeom>
          <a:noFill/>
          <a:ln>
            <a:noFill/>
          </a:ln>
        </p:spPr>
        <p:txBody>
          <a:bodyPr lIns="110350" tIns="55160" rIns="110350" bIns="55160" anchor="t" anchorCtr="0">
            <a:noAutofit/>
          </a:bodyPr>
          <a:lstStyle/>
          <a:p>
            <a:pPr>
              <a:buSzPct val="25000"/>
            </a:pPr>
            <a:r>
              <a:rPr lang="en-US" sz="2200">
                <a:solidFill>
                  <a:schemeClr val="hlink"/>
                </a:solidFill>
                <a:latin typeface="Tahoma"/>
                <a:ea typeface="Tahoma"/>
                <a:cs typeface="Tahoma"/>
                <a:sym typeface="Tahoma"/>
              </a:rPr>
              <a:t>Note</a:t>
            </a:r>
          </a:p>
        </p:txBody>
      </p:sp>
      <p:sp>
        <p:nvSpPr>
          <p:cNvPr id="170" name="Shape 17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Shape 17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78" name="Shape 17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79" name="Shape 17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80" name="Shape 18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81" name="Shape 18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82" name="Shape 18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83" name="Shape 18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84" name="Shape 18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86" name="Shape 186"/>
          <p:cNvSpPr txBox="1"/>
          <p:nvPr/>
        </p:nvSpPr>
        <p:spPr>
          <a:xfrm>
            <a:off x="203148" y="182880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The following shows a plaintext and its corresponding </a:t>
            </a:r>
            <a:r>
              <a:rPr lang="en-US" sz="2900" dirty="0" err="1">
                <a:solidFill>
                  <a:schemeClr val="dk1"/>
                </a:solidFill>
                <a:latin typeface="Tahoma"/>
                <a:ea typeface="Tahoma"/>
                <a:cs typeface="Tahoma"/>
                <a:sym typeface="Tahoma"/>
              </a:rPr>
              <a:t>ciphertext</a:t>
            </a:r>
            <a:r>
              <a:rPr lang="en-US" sz="2900" dirty="0">
                <a:solidFill>
                  <a:schemeClr val="dk1"/>
                </a:solidFill>
                <a:latin typeface="Tahoma"/>
                <a:ea typeface="Tahoma"/>
                <a:cs typeface="Tahoma"/>
                <a:sym typeface="Tahoma"/>
              </a:rPr>
              <a:t>. The cipher is probably </a:t>
            </a:r>
            <a:r>
              <a:rPr lang="en-US" sz="2900" dirty="0" err="1">
                <a:solidFill>
                  <a:schemeClr val="dk1"/>
                </a:solidFill>
                <a:latin typeface="Tahoma"/>
                <a:ea typeface="Tahoma"/>
                <a:cs typeface="Tahoma"/>
                <a:sym typeface="Tahoma"/>
              </a:rPr>
              <a:t>monoalphabetic</a:t>
            </a:r>
            <a:r>
              <a:rPr lang="en-US" sz="2900" dirty="0">
                <a:solidFill>
                  <a:schemeClr val="dk1"/>
                </a:solidFill>
                <a:latin typeface="Tahoma"/>
                <a:ea typeface="Tahoma"/>
                <a:cs typeface="Tahoma"/>
                <a:sym typeface="Tahoma"/>
              </a:rPr>
              <a:t> because both l’s (</a:t>
            </a:r>
            <a:r>
              <a:rPr lang="en-US" sz="2900" dirty="0" err="1">
                <a:solidFill>
                  <a:schemeClr val="dk1"/>
                </a:solidFill>
                <a:latin typeface="Tahoma"/>
                <a:ea typeface="Tahoma"/>
                <a:cs typeface="Tahoma"/>
                <a:sym typeface="Tahoma"/>
              </a:rPr>
              <a:t>els</a:t>
            </a:r>
            <a:r>
              <a:rPr lang="en-US" sz="2900" dirty="0">
                <a:solidFill>
                  <a:schemeClr val="dk1"/>
                </a:solidFill>
                <a:latin typeface="Tahoma"/>
                <a:ea typeface="Tahoma"/>
                <a:cs typeface="Tahoma"/>
                <a:sym typeface="Tahoma"/>
              </a:rPr>
              <a:t>) are encrypted as O’s.</a:t>
            </a:r>
          </a:p>
        </p:txBody>
      </p:sp>
      <p:sp>
        <p:nvSpPr>
          <p:cNvPr id="187" name="Shape 187"/>
          <p:cNvSpPr txBox="1"/>
          <p:nvPr/>
        </p:nvSpPr>
        <p:spPr>
          <a:xfrm>
            <a:off x="304721" y="1219200"/>
            <a:ext cx="2389092"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3.1</a:t>
            </a:r>
          </a:p>
        </p:txBody>
      </p:sp>
      <p:pic>
        <p:nvPicPr>
          <p:cNvPr id="188" name="Shape 188"/>
          <p:cNvPicPr preferRelativeResize="0"/>
          <p:nvPr/>
        </p:nvPicPr>
        <p:blipFill>
          <a:blip r:embed="rId3">
            <a:alphaModFix/>
          </a:blip>
          <a:stretch>
            <a:fillRect/>
          </a:stretch>
        </p:blipFill>
        <p:spPr>
          <a:xfrm>
            <a:off x="1733099" y="3124200"/>
            <a:ext cx="8627402" cy="782636"/>
          </a:xfrm>
          <a:prstGeom prst="rect">
            <a:avLst/>
          </a:prstGeom>
          <a:noFill/>
          <a:ln>
            <a:noFill/>
          </a:ln>
        </p:spPr>
      </p:pic>
      <p:sp>
        <p:nvSpPr>
          <p:cNvPr id="189" name="Shape 189"/>
          <p:cNvSpPr txBox="1"/>
          <p:nvPr/>
        </p:nvSpPr>
        <p:spPr>
          <a:xfrm>
            <a:off x="203148" y="4495800"/>
            <a:ext cx="11782530" cy="1369499"/>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The following shows a plaintext and its corresponding </a:t>
            </a:r>
            <a:r>
              <a:rPr lang="en-US" sz="2900" dirty="0" err="1">
                <a:solidFill>
                  <a:schemeClr val="dk1"/>
                </a:solidFill>
                <a:latin typeface="Tahoma"/>
                <a:ea typeface="Tahoma"/>
                <a:cs typeface="Tahoma"/>
                <a:sym typeface="Tahoma"/>
              </a:rPr>
              <a:t>ciphertext</a:t>
            </a:r>
            <a:r>
              <a:rPr lang="en-US" sz="2900" dirty="0">
                <a:solidFill>
                  <a:schemeClr val="dk1"/>
                </a:solidFill>
                <a:latin typeface="Tahoma"/>
                <a:ea typeface="Tahoma"/>
                <a:cs typeface="Tahoma"/>
                <a:sym typeface="Tahoma"/>
              </a:rPr>
              <a:t>. The cipher is not </a:t>
            </a:r>
            <a:r>
              <a:rPr lang="en-US" sz="2900" dirty="0" err="1">
                <a:solidFill>
                  <a:schemeClr val="dk1"/>
                </a:solidFill>
                <a:latin typeface="Tahoma"/>
                <a:ea typeface="Tahoma"/>
                <a:cs typeface="Tahoma"/>
                <a:sym typeface="Tahoma"/>
              </a:rPr>
              <a:t>monoalphabetic</a:t>
            </a:r>
            <a:r>
              <a:rPr lang="en-US" sz="2900" dirty="0">
                <a:solidFill>
                  <a:schemeClr val="dk1"/>
                </a:solidFill>
                <a:latin typeface="Tahoma"/>
                <a:ea typeface="Tahoma"/>
                <a:cs typeface="Tahoma"/>
                <a:sym typeface="Tahoma"/>
              </a:rPr>
              <a:t> because each l (el) is encrypted by a different character. </a:t>
            </a:r>
          </a:p>
        </p:txBody>
      </p:sp>
      <p:sp>
        <p:nvSpPr>
          <p:cNvPr id="190" name="Shape 190"/>
          <p:cNvSpPr txBox="1"/>
          <p:nvPr/>
        </p:nvSpPr>
        <p:spPr>
          <a:xfrm>
            <a:off x="197915" y="4014775"/>
            <a:ext cx="2388978" cy="481025"/>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3.2</a:t>
            </a:r>
          </a:p>
        </p:txBody>
      </p:sp>
      <p:sp>
        <p:nvSpPr>
          <p:cNvPr id="192" name="Shape 192"/>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
        <p:nvSpPr>
          <p:cNvPr id="2" name="TextBox 1"/>
          <p:cNvSpPr txBox="1"/>
          <p:nvPr/>
        </p:nvSpPr>
        <p:spPr>
          <a:xfrm>
            <a:off x="1637872" y="5824125"/>
            <a:ext cx="9332070" cy="557722"/>
          </a:xfrm>
          <a:prstGeom prst="rect">
            <a:avLst/>
          </a:prstGeom>
          <a:solidFill>
            <a:schemeClr val="tx2">
              <a:lumMod val="10000"/>
              <a:lumOff val="90000"/>
            </a:schemeClr>
          </a:solidFill>
        </p:spPr>
        <p:txBody>
          <a:bodyPr wrap="square" lIns="110368" tIns="55184" rIns="110368" bIns="55184" rtlCol="0">
            <a:spAutoFit/>
          </a:bodyPr>
          <a:lstStyle/>
          <a:p>
            <a:r>
              <a:rPr lang="en-US" sz="2900" dirty="0">
                <a:latin typeface="Times New Roman" pitchFamily="18" charset="0"/>
                <a:cs typeface="Times New Roman" pitchFamily="18" charset="0"/>
              </a:rPr>
              <a:t>Plain Text; hello                          Cipher text: ABNZF </a:t>
            </a: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Shape 199"/>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200" name="Shape 200"/>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201" name="Shape 201"/>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202" name="Shape 202"/>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203" name="Shape 203"/>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204" name="Shape 204"/>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205" name="Shape 205"/>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206" name="Shape 206"/>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208" name="Shape 208"/>
          <p:cNvSpPr txBox="1"/>
          <p:nvPr/>
        </p:nvSpPr>
        <p:spPr>
          <a:xfrm>
            <a:off x="203148" y="1325562"/>
            <a:ext cx="11782530" cy="1552575"/>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The simplest mono alphabetic cipher is the additive cipher. This cipher is sometimes called a </a:t>
            </a:r>
            <a:r>
              <a:rPr lang="en-US" sz="2900" dirty="0">
                <a:solidFill>
                  <a:schemeClr val="hlink"/>
                </a:solidFill>
                <a:latin typeface="Tahoma"/>
                <a:ea typeface="Tahoma"/>
                <a:cs typeface="Tahoma"/>
                <a:sym typeface="Tahoma"/>
              </a:rPr>
              <a:t>shift cipher</a:t>
            </a:r>
            <a:r>
              <a:rPr lang="en-US" sz="2900" dirty="0">
                <a:solidFill>
                  <a:schemeClr val="dk1"/>
                </a:solidFill>
                <a:latin typeface="Tahoma"/>
                <a:ea typeface="Tahoma"/>
                <a:cs typeface="Tahoma"/>
                <a:sym typeface="Tahoma"/>
              </a:rPr>
              <a:t> and sometimes a </a:t>
            </a:r>
            <a:r>
              <a:rPr lang="en-US" sz="2900" dirty="0">
                <a:solidFill>
                  <a:schemeClr val="hlink"/>
                </a:solidFill>
                <a:latin typeface="Tahoma"/>
                <a:ea typeface="Tahoma"/>
                <a:cs typeface="Tahoma"/>
                <a:sym typeface="Tahoma"/>
              </a:rPr>
              <a:t>Caesar cipher</a:t>
            </a:r>
            <a:r>
              <a:rPr lang="en-US" sz="2900" dirty="0">
                <a:solidFill>
                  <a:schemeClr val="dk1"/>
                </a:solidFill>
                <a:latin typeface="Tahoma"/>
                <a:ea typeface="Tahoma"/>
                <a:cs typeface="Tahoma"/>
                <a:sym typeface="Tahoma"/>
              </a:rPr>
              <a:t>, but the term additive cipher better reveals its mathematical nature. </a:t>
            </a:r>
          </a:p>
        </p:txBody>
      </p:sp>
      <p:sp>
        <p:nvSpPr>
          <p:cNvPr id="209" name="Shape 209"/>
          <p:cNvSpPr txBox="1"/>
          <p:nvPr/>
        </p:nvSpPr>
        <p:spPr>
          <a:xfrm>
            <a:off x="2929886" y="61112"/>
            <a:ext cx="8538576"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Additive Cipher</a:t>
            </a:r>
          </a:p>
        </p:txBody>
      </p:sp>
      <p:pic>
        <p:nvPicPr>
          <p:cNvPr id="210" name="Shape 210"/>
          <p:cNvPicPr preferRelativeResize="0"/>
          <p:nvPr/>
        </p:nvPicPr>
        <p:blipFill>
          <a:blip r:embed="rId3">
            <a:alphaModFix/>
          </a:blip>
          <a:stretch>
            <a:fillRect/>
          </a:stretch>
        </p:blipFill>
        <p:spPr>
          <a:xfrm>
            <a:off x="812590" y="4038601"/>
            <a:ext cx="9846285" cy="914399"/>
          </a:xfrm>
          <a:prstGeom prst="rect">
            <a:avLst/>
          </a:prstGeom>
          <a:noFill/>
          <a:ln>
            <a:noFill/>
          </a:ln>
        </p:spPr>
      </p:pic>
      <p:sp>
        <p:nvSpPr>
          <p:cNvPr id="211" name="Shape 211"/>
          <p:cNvSpPr txBox="1"/>
          <p:nvPr/>
        </p:nvSpPr>
        <p:spPr>
          <a:xfrm>
            <a:off x="2816548" y="3352800"/>
            <a:ext cx="6426642"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Plaintext and </a:t>
            </a:r>
            <a:r>
              <a:rPr lang="en-US" sz="2400" dirty="0" err="1">
                <a:solidFill>
                  <a:schemeClr val="dk1"/>
                </a:solidFill>
                <a:latin typeface="Tahoma"/>
                <a:ea typeface="Tahoma"/>
                <a:cs typeface="Tahoma"/>
                <a:sym typeface="Tahoma"/>
              </a:rPr>
              <a:t>ciphertext</a:t>
            </a:r>
            <a:r>
              <a:rPr lang="en-US" sz="2400" dirty="0">
                <a:solidFill>
                  <a:schemeClr val="dk1"/>
                </a:solidFill>
                <a:latin typeface="Tahoma"/>
                <a:ea typeface="Tahoma"/>
                <a:cs typeface="Tahoma"/>
                <a:sym typeface="Tahoma"/>
              </a:rPr>
              <a:t> in Z</a:t>
            </a:r>
            <a:r>
              <a:rPr lang="en-US" sz="2400" baseline="-25000" dirty="0">
                <a:solidFill>
                  <a:schemeClr val="dk1"/>
                </a:solidFill>
                <a:latin typeface="Tahoma"/>
                <a:ea typeface="Tahoma"/>
                <a:cs typeface="Tahoma"/>
                <a:sym typeface="Tahoma"/>
              </a:rPr>
              <a:t>26</a:t>
            </a:r>
          </a:p>
        </p:txBody>
      </p:sp>
      <p:sp>
        <p:nvSpPr>
          <p:cNvPr id="212" name="Shape 212"/>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Shape 219"/>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220" name="Shape 220"/>
          <p:cNvSpPr txBox="1"/>
          <p:nvPr/>
        </p:nvSpPr>
        <p:spPr>
          <a:xfrm>
            <a:off x="1794468" y="533400"/>
            <a:ext cx="6371139"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Additive cipher</a:t>
            </a:r>
          </a:p>
        </p:txBody>
      </p:sp>
      <p:pic>
        <p:nvPicPr>
          <p:cNvPr id="221" name="Shape 221"/>
          <p:cNvPicPr preferRelativeResize="0"/>
          <p:nvPr/>
        </p:nvPicPr>
        <p:blipFill>
          <a:blip r:embed="rId3">
            <a:alphaModFix/>
          </a:blip>
          <a:stretch>
            <a:fillRect/>
          </a:stretch>
        </p:blipFill>
        <p:spPr>
          <a:xfrm>
            <a:off x="914162" y="1447801"/>
            <a:ext cx="9856864" cy="2224086"/>
          </a:xfrm>
          <a:prstGeom prst="rect">
            <a:avLst/>
          </a:prstGeom>
          <a:noFill/>
          <a:ln>
            <a:noFill/>
          </a:ln>
        </p:spPr>
      </p:pic>
      <p:sp>
        <p:nvSpPr>
          <p:cNvPr id="222" name="Shape 222"/>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223" name="Shape 223"/>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224" name="Shape 224"/>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225" name="Shape 225"/>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226" name="Shape 226"/>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227" name="Shape 227"/>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228" name="Shape 228"/>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cxnSp>
        <p:nvCxnSpPr>
          <p:cNvPr id="229" name="Shape 229"/>
          <p:cNvCxnSpPr/>
          <p:nvPr/>
        </p:nvCxnSpPr>
        <p:spPr>
          <a:xfrm>
            <a:off x="609442" y="45720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230" name="Shape 230"/>
          <p:cNvCxnSpPr/>
          <p:nvPr/>
        </p:nvCxnSpPr>
        <p:spPr>
          <a:xfrm>
            <a:off x="611557" y="6248400"/>
            <a:ext cx="10868368" cy="0"/>
          </a:xfrm>
          <a:prstGeom prst="straightConnector1">
            <a:avLst/>
          </a:prstGeom>
          <a:noFill/>
          <a:ln w="76200" cap="rnd" cmpd="sng">
            <a:solidFill>
              <a:srgbClr val="009900"/>
            </a:solidFill>
            <a:prstDash val="solid"/>
            <a:miter/>
            <a:headEnd type="none" w="med" len="med"/>
            <a:tailEnd type="none" w="med" len="med"/>
          </a:ln>
        </p:spPr>
      </p:cxnSp>
      <p:sp>
        <p:nvSpPr>
          <p:cNvPr id="231" name="Shape 231"/>
          <p:cNvSpPr txBox="1"/>
          <p:nvPr/>
        </p:nvSpPr>
        <p:spPr>
          <a:xfrm>
            <a:off x="660229" y="4664075"/>
            <a:ext cx="10766794" cy="1554162"/>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900" b="1" dirty="0">
                <a:solidFill>
                  <a:schemeClr val="dk1"/>
                </a:solidFill>
              </a:rPr>
              <a:t>When the cipher is additive, the plaintext, </a:t>
            </a:r>
            <a:r>
              <a:rPr lang="en-US" sz="3900" b="1" dirty="0" err="1">
                <a:solidFill>
                  <a:schemeClr val="dk1"/>
                </a:solidFill>
              </a:rPr>
              <a:t>ciphertext</a:t>
            </a:r>
            <a:r>
              <a:rPr lang="en-US" sz="3900" b="1" dirty="0">
                <a:solidFill>
                  <a:schemeClr val="dk1"/>
                </a:solidFill>
              </a:rPr>
              <a:t>, and key are integers in Z</a:t>
            </a:r>
            <a:r>
              <a:rPr lang="en-US" sz="3900" b="1" baseline="-25000" dirty="0">
                <a:solidFill>
                  <a:schemeClr val="dk1"/>
                </a:solidFill>
              </a:rPr>
              <a:t>26</a:t>
            </a:r>
            <a:r>
              <a:rPr lang="en-US" sz="3900" b="1" dirty="0">
                <a:solidFill>
                  <a:schemeClr val="dk1"/>
                </a:solidFill>
              </a:rPr>
              <a:t>.</a:t>
            </a:r>
          </a:p>
        </p:txBody>
      </p:sp>
      <p:sp>
        <p:nvSpPr>
          <p:cNvPr id="232" name="Shape 232"/>
          <p:cNvSpPr txBox="1"/>
          <p:nvPr/>
        </p:nvSpPr>
        <p:spPr>
          <a:xfrm>
            <a:off x="787195" y="3962400"/>
            <a:ext cx="1165978" cy="519112"/>
          </a:xfrm>
          <a:prstGeom prst="rect">
            <a:avLst/>
          </a:prstGeom>
          <a:noFill/>
          <a:ln>
            <a:noFill/>
          </a:ln>
        </p:spPr>
        <p:txBody>
          <a:bodyPr lIns="110350" tIns="55160" rIns="110350" bIns="55160" anchor="t" anchorCtr="0">
            <a:noAutofit/>
          </a:bodyPr>
          <a:lstStyle/>
          <a:p>
            <a:pPr>
              <a:buSzPct val="25000"/>
            </a:pPr>
            <a:r>
              <a:rPr lang="en-US" sz="2200">
                <a:solidFill>
                  <a:schemeClr val="hlink"/>
                </a:solidFill>
                <a:latin typeface="Tahoma"/>
                <a:ea typeface="Tahoma"/>
                <a:cs typeface="Tahoma"/>
                <a:sym typeface="Tahoma"/>
              </a:rPr>
              <a:t>Note</a:t>
            </a:r>
          </a:p>
        </p:txBody>
      </p:sp>
      <p:sp>
        <p:nvSpPr>
          <p:cNvPr id="233" name="Shape 233"/>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Shape 240"/>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241" name="Shape 241"/>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242" name="Shape 242"/>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243" name="Shape 243"/>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244" name="Shape 244"/>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245" name="Shape 245"/>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246" name="Shape 246"/>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247" name="Shape 247"/>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249" name="Shape 249"/>
          <p:cNvSpPr txBox="1"/>
          <p:nvPr/>
        </p:nvSpPr>
        <p:spPr>
          <a:xfrm>
            <a:off x="203148" y="11430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Use the additive cipher with key = 15 to encrypt the message “hello”.</a:t>
            </a:r>
          </a:p>
        </p:txBody>
      </p:sp>
      <p:sp>
        <p:nvSpPr>
          <p:cNvPr id="250" name="Shape 250"/>
          <p:cNvSpPr txBox="1"/>
          <p:nvPr/>
        </p:nvSpPr>
        <p:spPr>
          <a:xfrm>
            <a:off x="1523603" y="533400"/>
            <a:ext cx="2389092"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3.3</a:t>
            </a:r>
          </a:p>
        </p:txBody>
      </p:sp>
      <p:sp>
        <p:nvSpPr>
          <p:cNvPr id="251" name="Shape 251"/>
          <p:cNvSpPr txBox="1"/>
          <p:nvPr/>
        </p:nvSpPr>
        <p:spPr>
          <a:xfrm>
            <a:off x="203148" y="2606675"/>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We apply the encryption algorithm to the plaintext, character by character:</a:t>
            </a:r>
          </a:p>
        </p:txBody>
      </p:sp>
      <p:sp>
        <p:nvSpPr>
          <p:cNvPr id="252" name="Shape 252"/>
          <p:cNvSpPr txBox="1"/>
          <p:nvPr/>
        </p:nvSpPr>
        <p:spPr>
          <a:xfrm>
            <a:off x="203148" y="2147886"/>
            <a:ext cx="10969943" cy="519112"/>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a:solidFill>
                  <a:schemeClr val="hlink"/>
                </a:solidFill>
                <a:latin typeface="Tahoma"/>
                <a:ea typeface="Tahoma"/>
                <a:cs typeface="Tahoma"/>
                <a:sym typeface="Tahoma"/>
              </a:rPr>
              <a:t>Solution</a:t>
            </a:r>
          </a:p>
        </p:txBody>
      </p:sp>
      <p:sp>
        <p:nvSpPr>
          <p:cNvPr id="253" name="Shape 253"/>
          <p:cNvSpPr/>
          <p:nvPr/>
        </p:nvSpPr>
        <p:spPr>
          <a:xfrm>
            <a:off x="617906" y="3457575"/>
            <a:ext cx="10758330" cy="1647824"/>
          </a:xfrm>
          <a:prstGeom prst="rect">
            <a:avLst/>
          </a:prstGeom>
          <a:noFill/>
          <a:ln>
            <a:noFill/>
          </a:ln>
        </p:spPr>
        <p:txBody>
          <a:bodyPr lIns="110350" tIns="110350" rIns="110350" bIns="110350" anchor="ctr" anchorCtr="0">
            <a:noAutofit/>
          </a:bodyPr>
          <a:lstStyle/>
          <a:p>
            <a:endParaRPr/>
          </a:p>
        </p:txBody>
      </p:sp>
      <p:sp>
        <p:nvSpPr>
          <p:cNvPr id="254" name="Shape 254"/>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pic>
        <p:nvPicPr>
          <p:cNvPr id="17"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22" y="3457576"/>
            <a:ext cx="11753321"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Shape 261"/>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262" name="Shape 262"/>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263" name="Shape 263"/>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264" name="Shape 264"/>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265" name="Shape 265"/>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266" name="Shape 266"/>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267" name="Shape 267"/>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268" name="Shape 268"/>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270" name="Shape 270"/>
          <p:cNvSpPr txBox="1"/>
          <p:nvPr/>
        </p:nvSpPr>
        <p:spPr>
          <a:xfrm>
            <a:off x="142650" y="1591473"/>
            <a:ext cx="11782530" cy="822300"/>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Use the additive cipher with key = 15 to decrypt the message “WTAAD”.</a:t>
            </a:r>
          </a:p>
        </p:txBody>
      </p:sp>
      <p:sp>
        <p:nvSpPr>
          <p:cNvPr id="271" name="Shape 271"/>
          <p:cNvSpPr txBox="1"/>
          <p:nvPr/>
        </p:nvSpPr>
        <p:spPr>
          <a:xfrm>
            <a:off x="75130" y="1079930"/>
            <a:ext cx="2388978"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3.4</a:t>
            </a:r>
          </a:p>
        </p:txBody>
      </p:sp>
      <p:sp>
        <p:nvSpPr>
          <p:cNvPr id="272" name="Shape 272"/>
          <p:cNvSpPr txBox="1"/>
          <p:nvPr/>
        </p:nvSpPr>
        <p:spPr>
          <a:xfrm>
            <a:off x="219393" y="2932772"/>
            <a:ext cx="11782530" cy="822300"/>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We apply the decryption algorithm to the plaintext character by character:</a:t>
            </a:r>
          </a:p>
        </p:txBody>
      </p:sp>
      <p:sp>
        <p:nvSpPr>
          <p:cNvPr id="273" name="Shape 273"/>
          <p:cNvSpPr txBox="1"/>
          <p:nvPr/>
        </p:nvSpPr>
        <p:spPr>
          <a:xfrm>
            <a:off x="219393" y="2413774"/>
            <a:ext cx="10969943" cy="518999"/>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dirty="0">
                <a:solidFill>
                  <a:schemeClr val="hlink"/>
                </a:solidFill>
                <a:latin typeface="Tahoma"/>
                <a:ea typeface="Tahoma"/>
                <a:cs typeface="Tahoma"/>
                <a:sym typeface="Tahoma"/>
              </a:rPr>
              <a:t>Solution</a:t>
            </a:r>
          </a:p>
        </p:txBody>
      </p:sp>
      <p:sp>
        <p:nvSpPr>
          <p:cNvPr id="274" name="Shape 274"/>
          <p:cNvSpPr/>
          <p:nvPr/>
        </p:nvSpPr>
        <p:spPr>
          <a:xfrm>
            <a:off x="698318" y="3581401"/>
            <a:ext cx="10881064" cy="1601786"/>
          </a:xfrm>
          <a:prstGeom prst="rect">
            <a:avLst/>
          </a:prstGeom>
          <a:noFill/>
          <a:ln>
            <a:noFill/>
          </a:ln>
        </p:spPr>
        <p:txBody>
          <a:bodyPr lIns="110350" tIns="110350" rIns="110350" bIns="110350" anchor="ctr" anchorCtr="0">
            <a:noAutofit/>
          </a:bodyPr>
          <a:lstStyle/>
          <a:p>
            <a:endParaRPr/>
          </a:p>
        </p:txBody>
      </p:sp>
      <p:sp>
        <p:nvSpPr>
          <p:cNvPr id="275" name="Shape 275"/>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pic>
        <p:nvPicPr>
          <p:cNvPr id="17"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319" y="3581401"/>
            <a:ext cx="10881066" cy="160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283" name="Shape 283"/>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284" name="Shape 284"/>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285" name="Shape 285"/>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286" name="Shape 286"/>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287" name="Shape 287"/>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288" name="Shape 288"/>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289" name="Shape 289"/>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291" name="Shape 291"/>
          <p:cNvSpPr txBox="1"/>
          <p:nvPr/>
        </p:nvSpPr>
        <p:spPr>
          <a:xfrm>
            <a:off x="203148" y="1600201"/>
            <a:ext cx="11782530" cy="1822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Historically, additive ciphers are called </a:t>
            </a:r>
            <a:r>
              <a:rPr lang="en-US" sz="2900" dirty="0">
                <a:solidFill>
                  <a:schemeClr val="hlink"/>
                </a:solidFill>
                <a:latin typeface="Tahoma"/>
                <a:ea typeface="Tahoma"/>
                <a:cs typeface="Tahoma"/>
                <a:sym typeface="Tahoma"/>
              </a:rPr>
              <a:t>shift ciphers</a:t>
            </a:r>
            <a:r>
              <a:rPr lang="en-US" sz="2900" dirty="0">
                <a:solidFill>
                  <a:schemeClr val="dk1"/>
                </a:solidFill>
                <a:latin typeface="Tahoma"/>
                <a:ea typeface="Tahoma"/>
                <a:cs typeface="Tahoma"/>
                <a:sym typeface="Tahoma"/>
              </a:rPr>
              <a:t>. Julius Caesar used an additive cipher to communicate with his officers. For this reason, additive ciphers are sometimes referred to as the Caesar cipher. Caesar used a key of 3 for his communications. </a:t>
            </a:r>
          </a:p>
        </p:txBody>
      </p:sp>
      <p:sp>
        <p:nvSpPr>
          <p:cNvPr id="292" name="Shape 292"/>
          <p:cNvSpPr txBox="1"/>
          <p:nvPr/>
        </p:nvSpPr>
        <p:spPr>
          <a:xfrm>
            <a:off x="2844061" y="152400"/>
            <a:ext cx="10120163"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Shift Cipher and Caesar Cipher</a:t>
            </a:r>
          </a:p>
        </p:txBody>
      </p:sp>
      <p:cxnSp>
        <p:nvCxnSpPr>
          <p:cNvPr id="293" name="Shape 293"/>
          <p:cNvCxnSpPr/>
          <p:nvPr/>
        </p:nvCxnSpPr>
        <p:spPr>
          <a:xfrm>
            <a:off x="611557" y="4800600"/>
            <a:ext cx="10868368" cy="0"/>
          </a:xfrm>
          <a:prstGeom prst="straightConnector1">
            <a:avLst/>
          </a:prstGeom>
          <a:noFill/>
          <a:ln w="76200" cap="rnd" cmpd="sng">
            <a:solidFill>
              <a:srgbClr val="009900"/>
            </a:solidFill>
            <a:prstDash val="solid"/>
            <a:miter/>
            <a:headEnd type="none" w="med" len="med"/>
            <a:tailEnd type="none" w="med" len="med"/>
          </a:ln>
        </p:spPr>
      </p:cxnSp>
      <p:sp>
        <p:nvSpPr>
          <p:cNvPr id="294" name="Shape 294"/>
          <p:cNvSpPr txBox="1"/>
          <p:nvPr/>
        </p:nvSpPr>
        <p:spPr>
          <a:xfrm>
            <a:off x="662328" y="4412451"/>
            <a:ext cx="10766794" cy="1066799"/>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900" b="1">
                <a:solidFill>
                  <a:schemeClr val="dk1"/>
                </a:solidFill>
              </a:rPr>
              <a:t>Additive ciphers are sometimes referred to as shift ciphers or Caesar cipher.</a:t>
            </a:r>
          </a:p>
        </p:txBody>
      </p:sp>
      <p:sp>
        <p:nvSpPr>
          <p:cNvPr id="295" name="Shape 295"/>
          <p:cNvSpPr txBox="1"/>
          <p:nvPr/>
        </p:nvSpPr>
        <p:spPr>
          <a:xfrm>
            <a:off x="787197" y="3886201"/>
            <a:ext cx="1166095" cy="518999"/>
          </a:xfrm>
          <a:prstGeom prst="rect">
            <a:avLst/>
          </a:prstGeom>
          <a:noFill/>
          <a:ln>
            <a:noFill/>
          </a:ln>
        </p:spPr>
        <p:txBody>
          <a:bodyPr lIns="110350" tIns="55160" rIns="110350" bIns="55160" anchor="t" anchorCtr="0">
            <a:noAutofit/>
          </a:bodyPr>
          <a:lstStyle/>
          <a:p>
            <a:pPr>
              <a:buSzPct val="25000"/>
            </a:pPr>
            <a:r>
              <a:rPr lang="en-US" sz="2200">
                <a:solidFill>
                  <a:schemeClr val="hlink"/>
                </a:solidFill>
                <a:latin typeface="Tahoma"/>
                <a:ea typeface="Tahoma"/>
                <a:cs typeface="Tahoma"/>
                <a:sym typeface="Tahoma"/>
              </a:rPr>
              <a:t>Note</a:t>
            </a:r>
          </a:p>
        </p:txBody>
      </p:sp>
      <p:sp>
        <p:nvSpPr>
          <p:cNvPr id="296" name="Shape 29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Shape 303"/>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304" name="Shape 304"/>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305" name="Shape 305"/>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306" name="Shape 306"/>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307" name="Shape 307"/>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308" name="Shape 308"/>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309" name="Shape 309"/>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310" name="Shape 310"/>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312" name="Shape 312"/>
          <p:cNvSpPr txBox="1"/>
          <p:nvPr/>
        </p:nvSpPr>
        <p:spPr>
          <a:xfrm>
            <a:off x="274268" y="1371600"/>
            <a:ext cx="11782530" cy="822300"/>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Eve has intercepted the </a:t>
            </a:r>
            <a:r>
              <a:rPr lang="en-US" sz="2900" dirty="0" err="1">
                <a:solidFill>
                  <a:schemeClr val="dk1"/>
                </a:solidFill>
                <a:latin typeface="Tahoma"/>
                <a:ea typeface="Tahoma"/>
                <a:cs typeface="Tahoma"/>
                <a:sym typeface="Tahoma"/>
              </a:rPr>
              <a:t>ciphertext</a:t>
            </a:r>
            <a:r>
              <a:rPr lang="en-US" sz="2900" dirty="0">
                <a:solidFill>
                  <a:schemeClr val="dk1"/>
                </a:solidFill>
                <a:latin typeface="Tahoma"/>
                <a:ea typeface="Tahoma"/>
                <a:cs typeface="Tahoma"/>
                <a:sym typeface="Tahoma"/>
              </a:rPr>
              <a:t> “UVACLYFZLJBYL”. Show how she can use a brute-force attack to break the cipher.</a:t>
            </a:r>
          </a:p>
        </p:txBody>
      </p:sp>
      <p:sp>
        <p:nvSpPr>
          <p:cNvPr id="313" name="Shape 313"/>
          <p:cNvSpPr txBox="1"/>
          <p:nvPr/>
        </p:nvSpPr>
        <p:spPr>
          <a:xfrm>
            <a:off x="1344848" y="595311"/>
            <a:ext cx="2388978"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3.5</a:t>
            </a:r>
          </a:p>
        </p:txBody>
      </p:sp>
      <p:sp>
        <p:nvSpPr>
          <p:cNvPr id="314" name="Shape 314"/>
          <p:cNvSpPr txBox="1"/>
          <p:nvPr/>
        </p:nvSpPr>
        <p:spPr>
          <a:xfrm>
            <a:off x="406296" y="2606700"/>
            <a:ext cx="11782530" cy="822300"/>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Eve tries keys from 1 to 7. With a key of 7, the plaintext is “not very secure”, which makes sense.</a:t>
            </a:r>
          </a:p>
        </p:txBody>
      </p:sp>
      <p:sp>
        <p:nvSpPr>
          <p:cNvPr id="315" name="Shape 315"/>
          <p:cNvSpPr txBox="1"/>
          <p:nvPr/>
        </p:nvSpPr>
        <p:spPr>
          <a:xfrm>
            <a:off x="340695" y="2193900"/>
            <a:ext cx="10969943" cy="518999"/>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dirty="0">
                <a:solidFill>
                  <a:schemeClr val="hlink"/>
                </a:solidFill>
                <a:latin typeface="Tahoma"/>
                <a:ea typeface="Tahoma"/>
                <a:cs typeface="Tahoma"/>
                <a:sym typeface="Tahoma"/>
              </a:rPr>
              <a:t>Solution</a:t>
            </a:r>
          </a:p>
        </p:txBody>
      </p:sp>
      <p:sp>
        <p:nvSpPr>
          <p:cNvPr id="316" name="Shape 316"/>
          <p:cNvSpPr/>
          <p:nvPr/>
        </p:nvSpPr>
        <p:spPr>
          <a:xfrm>
            <a:off x="884538" y="3429000"/>
            <a:ext cx="9882259" cy="3155950"/>
          </a:xfrm>
          <a:prstGeom prst="rect">
            <a:avLst/>
          </a:prstGeom>
          <a:noFill/>
          <a:ln>
            <a:noFill/>
          </a:ln>
        </p:spPr>
        <p:txBody>
          <a:bodyPr lIns="110350" tIns="110350" rIns="110350" bIns="110350" anchor="ctr" anchorCtr="0">
            <a:noAutofit/>
          </a:bodyPr>
          <a:lstStyle/>
          <a:p>
            <a:endParaRPr/>
          </a:p>
        </p:txBody>
      </p:sp>
      <p:sp>
        <p:nvSpPr>
          <p:cNvPr id="317" name="Shape 31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pic>
        <p:nvPicPr>
          <p:cNvPr id="17"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685" y="3483784"/>
            <a:ext cx="9882259" cy="315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Shape 324"/>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325" name="Shape 325"/>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326" name="Shape 326"/>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327" name="Shape 327"/>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328" name="Shape 328"/>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329" name="Shape 329"/>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330" name="Shape 330"/>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331" name="Shape 331"/>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pic>
        <p:nvPicPr>
          <p:cNvPr id="333" name="Shape 333"/>
          <p:cNvPicPr preferRelativeResize="0"/>
          <p:nvPr/>
        </p:nvPicPr>
        <p:blipFill>
          <a:blip r:embed="rId3">
            <a:alphaModFix/>
          </a:blip>
          <a:stretch>
            <a:fillRect/>
          </a:stretch>
        </p:blipFill>
        <p:spPr>
          <a:xfrm>
            <a:off x="565002" y="1066801"/>
            <a:ext cx="11319100" cy="3062287"/>
          </a:xfrm>
          <a:prstGeom prst="rect">
            <a:avLst/>
          </a:prstGeom>
          <a:noFill/>
          <a:ln>
            <a:noFill/>
          </a:ln>
        </p:spPr>
      </p:pic>
      <p:sp>
        <p:nvSpPr>
          <p:cNvPr id="334" name="Shape 334"/>
          <p:cNvSpPr txBox="1"/>
          <p:nvPr/>
        </p:nvSpPr>
        <p:spPr>
          <a:xfrm>
            <a:off x="2105514" y="533400"/>
            <a:ext cx="8864491"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Table </a:t>
            </a:r>
            <a:r>
              <a:rPr lang="en-US" sz="2400" dirty="0">
                <a:solidFill>
                  <a:schemeClr val="dk1"/>
                </a:solidFill>
                <a:latin typeface="Tahoma"/>
                <a:ea typeface="Tahoma"/>
                <a:cs typeface="Tahoma"/>
                <a:sym typeface="Tahoma"/>
              </a:rPr>
              <a:t>Frequency of characters in English</a:t>
            </a:r>
          </a:p>
        </p:txBody>
      </p:sp>
      <p:sp>
        <p:nvSpPr>
          <p:cNvPr id="335" name="Shape 335"/>
          <p:cNvSpPr txBox="1"/>
          <p:nvPr/>
        </p:nvSpPr>
        <p:spPr>
          <a:xfrm>
            <a:off x="2539339" y="4267200"/>
            <a:ext cx="7177862"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Table </a:t>
            </a:r>
            <a:r>
              <a:rPr lang="en-US" sz="2400" dirty="0">
                <a:solidFill>
                  <a:schemeClr val="dk1"/>
                </a:solidFill>
                <a:latin typeface="Tahoma"/>
                <a:ea typeface="Tahoma"/>
                <a:cs typeface="Tahoma"/>
                <a:sym typeface="Tahoma"/>
              </a:rPr>
              <a:t>Frequency of diagrams and trigrams</a:t>
            </a:r>
          </a:p>
        </p:txBody>
      </p:sp>
      <p:pic>
        <p:nvPicPr>
          <p:cNvPr id="336" name="Shape 336"/>
          <p:cNvPicPr preferRelativeResize="0"/>
          <p:nvPr/>
        </p:nvPicPr>
        <p:blipFill>
          <a:blip r:embed="rId4">
            <a:alphaModFix/>
          </a:blip>
          <a:stretch>
            <a:fillRect/>
          </a:stretch>
        </p:blipFill>
        <p:spPr>
          <a:xfrm>
            <a:off x="361855" y="5008563"/>
            <a:ext cx="11319100" cy="1468437"/>
          </a:xfrm>
          <a:prstGeom prst="rect">
            <a:avLst/>
          </a:prstGeom>
          <a:noFill/>
          <a:ln>
            <a:noFill/>
          </a:ln>
        </p:spPr>
      </p:pic>
      <p:sp>
        <p:nvSpPr>
          <p:cNvPr id="337" name="Shape 33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Shape 344"/>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345" name="Shape 345"/>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346" name="Shape 346"/>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347" name="Shape 347"/>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348" name="Shape 348"/>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349" name="Shape 349"/>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350" name="Shape 350"/>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351" name="Shape 351"/>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353" name="Shape 353"/>
          <p:cNvSpPr txBox="1"/>
          <p:nvPr/>
        </p:nvSpPr>
        <p:spPr>
          <a:xfrm>
            <a:off x="203148" y="12954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Eve has intercepted the following </a:t>
            </a:r>
            <a:r>
              <a:rPr lang="en-US" sz="2900" dirty="0" err="1">
                <a:solidFill>
                  <a:schemeClr val="dk1"/>
                </a:solidFill>
                <a:latin typeface="Tahoma"/>
                <a:ea typeface="Tahoma"/>
                <a:cs typeface="Tahoma"/>
                <a:sym typeface="Tahoma"/>
              </a:rPr>
              <a:t>ciphertext</a:t>
            </a:r>
            <a:r>
              <a:rPr lang="en-US" sz="2900" dirty="0">
                <a:solidFill>
                  <a:schemeClr val="dk1"/>
                </a:solidFill>
                <a:latin typeface="Tahoma"/>
                <a:ea typeface="Tahoma"/>
                <a:cs typeface="Tahoma"/>
                <a:sym typeface="Tahoma"/>
              </a:rPr>
              <a:t>. Using a statistical attack, find the plaintext.</a:t>
            </a:r>
          </a:p>
        </p:txBody>
      </p:sp>
      <p:sp>
        <p:nvSpPr>
          <p:cNvPr id="354" name="Shape 354"/>
          <p:cNvSpPr txBox="1"/>
          <p:nvPr/>
        </p:nvSpPr>
        <p:spPr>
          <a:xfrm>
            <a:off x="1726750" y="573875"/>
            <a:ext cx="2388978"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3.6</a:t>
            </a:r>
          </a:p>
        </p:txBody>
      </p:sp>
      <p:sp>
        <p:nvSpPr>
          <p:cNvPr id="355" name="Shape 355"/>
          <p:cNvSpPr txBox="1"/>
          <p:nvPr/>
        </p:nvSpPr>
        <p:spPr>
          <a:xfrm>
            <a:off x="203148" y="373380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When Eve tabulates the frequency of letters in this </a:t>
            </a:r>
            <a:r>
              <a:rPr lang="en-US" sz="2900" dirty="0" err="1">
                <a:solidFill>
                  <a:schemeClr val="dk1"/>
                </a:solidFill>
                <a:latin typeface="Tahoma"/>
                <a:ea typeface="Tahoma"/>
                <a:cs typeface="Tahoma"/>
                <a:sym typeface="Tahoma"/>
              </a:rPr>
              <a:t>ciphertext</a:t>
            </a:r>
            <a:r>
              <a:rPr lang="en-US" sz="2900" dirty="0">
                <a:solidFill>
                  <a:schemeClr val="dk1"/>
                </a:solidFill>
                <a:latin typeface="Tahoma"/>
                <a:ea typeface="Tahoma"/>
                <a:cs typeface="Tahoma"/>
                <a:sym typeface="Tahoma"/>
              </a:rPr>
              <a:t>, she gets: I =14, V =13, S =12, and so on. The most common character is I with 14 occurrences. This means key = 4.</a:t>
            </a:r>
            <a:r>
              <a:rPr lang="en-US" sz="2900" dirty="0">
                <a:solidFill>
                  <a:schemeClr val="folHlink"/>
                </a:solidFill>
                <a:latin typeface="Tahoma"/>
                <a:ea typeface="Tahoma"/>
                <a:cs typeface="Tahoma"/>
                <a:sym typeface="Tahoma"/>
              </a:rPr>
              <a:t> </a:t>
            </a:r>
          </a:p>
        </p:txBody>
      </p:sp>
      <p:sp>
        <p:nvSpPr>
          <p:cNvPr id="356" name="Shape 356"/>
          <p:cNvSpPr txBox="1"/>
          <p:nvPr/>
        </p:nvSpPr>
        <p:spPr>
          <a:xfrm>
            <a:off x="203148" y="3124200"/>
            <a:ext cx="10969943" cy="519112"/>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a:solidFill>
                  <a:schemeClr val="hlink"/>
                </a:solidFill>
                <a:latin typeface="Tahoma"/>
                <a:ea typeface="Tahoma"/>
                <a:cs typeface="Tahoma"/>
                <a:sym typeface="Tahoma"/>
              </a:rPr>
              <a:t>Solution</a:t>
            </a:r>
          </a:p>
        </p:txBody>
      </p:sp>
      <p:pic>
        <p:nvPicPr>
          <p:cNvPr id="357" name="Shape 357"/>
          <p:cNvPicPr preferRelativeResize="0"/>
          <p:nvPr/>
        </p:nvPicPr>
        <p:blipFill>
          <a:blip r:embed="rId3">
            <a:alphaModFix/>
          </a:blip>
          <a:stretch>
            <a:fillRect/>
          </a:stretch>
        </p:blipFill>
        <p:spPr>
          <a:xfrm>
            <a:off x="507868" y="2259012"/>
            <a:ext cx="10893762" cy="788987"/>
          </a:xfrm>
          <a:prstGeom prst="rect">
            <a:avLst/>
          </a:prstGeom>
          <a:noFill/>
          <a:ln>
            <a:noFill/>
          </a:ln>
        </p:spPr>
      </p:pic>
      <p:pic>
        <p:nvPicPr>
          <p:cNvPr id="358" name="Shape 358"/>
          <p:cNvPicPr preferRelativeResize="0"/>
          <p:nvPr/>
        </p:nvPicPr>
        <p:blipFill>
          <a:blip r:embed="rId4">
            <a:alphaModFix/>
          </a:blip>
          <a:stretch>
            <a:fillRect/>
          </a:stretch>
        </p:blipFill>
        <p:spPr>
          <a:xfrm>
            <a:off x="349158" y="5314950"/>
            <a:ext cx="11636518" cy="628650"/>
          </a:xfrm>
          <a:prstGeom prst="rect">
            <a:avLst/>
          </a:prstGeom>
          <a:noFill/>
          <a:ln>
            <a:noFill/>
          </a:ln>
        </p:spPr>
      </p:pic>
      <p:sp>
        <p:nvSpPr>
          <p:cNvPr id="359" name="Shape 359"/>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Shape 366"/>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367" name="Shape 367"/>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368" name="Shape 368"/>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369" name="Shape 369"/>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370" name="Shape 370"/>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371" name="Shape 371"/>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372" name="Shape 372"/>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373" name="Shape 373"/>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375" name="Shape 375"/>
          <p:cNvSpPr txBox="1"/>
          <p:nvPr/>
        </p:nvSpPr>
        <p:spPr>
          <a:xfrm>
            <a:off x="1523603" y="533400"/>
            <a:ext cx="9260388" cy="457200"/>
          </a:xfrm>
          <a:prstGeom prst="rect">
            <a:avLst/>
          </a:prstGeom>
          <a:noFill/>
          <a:ln>
            <a:noFill/>
          </a:ln>
        </p:spPr>
        <p:txBody>
          <a:bodyPr lIns="110350" tIns="55160" rIns="110350" bIns="55160" anchor="t" anchorCtr="0">
            <a:noAutofit/>
          </a:bodyPr>
          <a:lstStyle/>
          <a:p>
            <a:pPr>
              <a:buClr>
                <a:schemeClr val="dk1"/>
              </a:buClr>
              <a:buSzPct val="25000"/>
            </a:pPr>
            <a:r>
              <a:rPr lang="en-US" sz="2900" b="1">
                <a:solidFill>
                  <a:schemeClr val="folHlink"/>
                </a:solidFill>
                <a:latin typeface="Tahoma"/>
                <a:ea typeface="Tahoma"/>
                <a:cs typeface="Tahoma"/>
                <a:sym typeface="Tahoma"/>
              </a:rPr>
              <a:t>Multiplicative Ciphers</a:t>
            </a:r>
          </a:p>
        </p:txBody>
      </p:sp>
      <p:cxnSp>
        <p:nvCxnSpPr>
          <p:cNvPr id="376" name="Shape 376"/>
          <p:cNvCxnSpPr/>
          <p:nvPr/>
        </p:nvCxnSpPr>
        <p:spPr>
          <a:xfrm>
            <a:off x="609442" y="50292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377" name="Shape 377"/>
          <p:cNvCxnSpPr/>
          <p:nvPr/>
        </p:nvCxnSpPr>
        <p:spPr>
          <a:xfrm>
            <a:off x="611557" y="6705600"/>
            <a:ext cx="10868368" cy="0"/>
          </a:xfrm>
          <a:prstGeom prst="straightConnector1">
            <a:avLst/>
          </a:prstGeom>
          <a:noFill/>
          <a:ln w="76200" cap="rnd" cmpd="sng">
            <a:solidFill>
              <a:srgbClr val="009900"/>
            </a:solidFill>
            <a:prstDash val="solid"/>
            <a:miter/>
            <a:headEnd type="none" w="med" len="med"/>
            <a:tailEnd type="none" w="med" len="med"/>
          </a:ln>
        </p:spPr>
      </p:cxnSp>
      <p:sp>
        <p:nvSpPr>
          <p:cNvPr id="378" name="Shape 378"/>
          <p:cNvSpPr txBox="1"/>
          <p:nvPr/>
        </p:nvSpPr>
        <p:spPr>
          <a:xfrm>
            <a:off x="660229" y="5075237"/>
            <a:ext cx="10766794" cy="1554162"/>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500" b="1" dirty="0">
                <a:solidFill>
                  <a:schemeClr val="dk1"/>
                </a:solidFill>
              </a:rPr>
              <a:t>In a multiplicative cipher, the plaintext and ciphertext are integers in Z</a:t>
            </a:r>
            <a:r>
              <a:rPr lang="en-US" sz="3500" b="1" baseline="-25000" dirty="0">
                <a:solidFill>
                  <a:schemeClr val="dk1"/>
                </a:solidFill>
              </a:rPr>
              <a:t>26</a:t>
            </a:r>
            <a:r>
              <a:rPr lang="en-US" sz="3500" b="1" dirty="0">
                <a:solidFill>
                  <a:schemeClr val="dk1"/>
                </a:solidFill>
              </a:rPr>
              <a:t>; the key is an integer in Z26*</a:t>
            </a:r>
          </a:p>
        </p:txBody>
      </p:sp>
      <p:sp>
        <p:nvSpPr>
          <p:cNvPr id="379" name="Shape 379"/>
          <p:cNvSpPr txBox="1"/>
          <p:nvPr/>
        </p:nvSpPr>
        <p:spPr>
          <a:xfrm>
            <a:off x="787195" y="4373562"/>
            <a:ext cx="1165978" cy="519112"/>
          </a:xfrm>
          <a:prstGeom prst="rect">
            <a:avLst/>
          </a:prstGeom>
          <a:noFill/>
          <a:ln>
            <a:noFill/>
          </a:ln>
        </p:spPr>
        <p:txBody>
          <a:bodyPr lIns="110350" tIns="55160" rIns="110350" bIns="55160" anchor="t" anchorCtr="0">
            <a:noAutofit/>
          </a:bodyPr>
          <a:lstStyle/>
          <a:p>
            <a:pPr>
              <a:buSzPct val="25000"/>
            </a:pPr>
            <a:r>
              <a:rPr lang="en-US" sz="2200">
                <a:solidFill>
                  <a:schemeClr val="hlink"/>
                </a:solidFill>
                <a:latin typeface="Tahoma"/>
                <a:ea typeface="Tahoma"/>
                <a:cs typeface="Tahoma"/>
                <a:sym typeface="Tahoma"/>
              </a:rPr>
              <a:t>Note</a:t>
            </a:r>
          </a:p>
        </p:txBody>
      </p:sp>
      <p:pic>
        <p:nvPicPr>
          <p:cNvPr id="380" name="Shape 380"/>
          <p:cNvPicPr preferRelativeResize="0"/>
          <p:nvPr/>
        </p:nvPicPr>
        <p:blipFill>
          <a:blip r:embed="rId3">
            <a:alphaModFix/>
          </a:blip>
          <a:stretch>
            <a:fillRect/>
          </a:stretch>
        </p:blipFill>
        <p:spPr>
          <a:xfrm>
            <a:off x="694087" y="1295400"/>
            <a:ext cx="10479002" cy="2193925"/>
          </a:xfrm>
          <a:prstGeom prst="rect">
            <a:avLst/>
          </a:prstGeom>
          <a:noFill/>
          <a:ln>
            <a:noFill/>
          </a:ln>
        </p:spPr>
      </p:pic>
      <p:sp>
        <p:nvSpPr>
          <p:cNvPr id="381" name="Shape 381"/>
          <p:cNvSpPr txBox="1"/>
          <p:nvPr/>
        </p:nvSpPr>
        <p:spPr>
          <a:xfrm>
            <a:off x="3326534" y="3505200"/>
            <a:ext cx="7281702" cy="457200"/>
          </a:xfrm>
          <a:prstGeom prst="rect">
            <a:avLst/>
          </a:prstGeom>
          <a:noFill/>
          <a:ln>
            <a:noFill/>
          </a:ln>
        </p:spPr>
        <p:txBody>
          <a:bodyPr lIns="110350" tIns="55160" rIns="110350" bIns="55160" anchor="t" anchorCtr="0">
            <a:noAutofit/>
          </a:bodyPr>
          <a:lstStyle/>
          <a:p>
            <a:pPr>
              <a:buClr>
                <a:schemeClr val="dk1"/>
              </a:buClr>
              <a:buSzPct val="25000"/>
            </a:pPr>
            <a:r>
              <a:rPr lang="en-US" sz="2900" b="1">
                <a:solidFill>
                  <a:schemeClr val="folHlink"/>
                </a:solidFill>
                <a:latin typeface="Tahoma"/>
                <a:ea typeface="Tahoma"/>
                <a:cs typeface="Tahoma"/>
                <a:sym typeface="Tahoma"/>
              </a:rPr>
              <a:t>Figure 3.10  </a:t>
            </a:r>
            <a:r>
              <a:rPr lang="en-US" sz="2400">
                <a:solidFill>
                  <a:schemeClr val="dk1"/>
                </a:solidFill>
                <a:latin typeface="Tahoma"/>
                <a:ea typeface="Tahoma"/>
                <a:cs typeface="Tahoma"/>
                <a:sym typeface="Tahoma"/>
              </a:rPr>
              <a:t>Multiplicative cipher</a:t>
            </a:r>
          </a:p>
        </p:txBody>
      </p:sp>
      <p:sp>
        <p:nvSpPr>
          <p:cNvPr id="382" name="Shape 382"/>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9572400" y="6554520"/>
              <a:ext cx="360" cy="360"/>
            </p14:xfrm>
          </p:contentPart>
        </mc:Choice>
        <mc:Fallback xmlns="">
          <p:pic>
            <p:nvPicPr>
              <p:cNvPr id="2" name="Ink 1"/>
              <p:cNvPicPr/>
              <p:nvPr/>
            </p:nvPicPr>
            <p:blipFill>
              <a:blip r:embed="rId5"/>
              <a:stretch>
                <a:fillRect/>
              </a:stretch>
            </p:blipFill>
            <p:spPr>
              <a:xfrm>
                <a:off x="9563040" y="6545160"/>
                <a:ext cx="19080" cy="19080"/>
              </a:xfrm>
              <a:prstGeom prst="rect">
                <a:avLst/>
              </a:prstGeom>
            </p:spPr>
          </p:pic>
        </mc:Fallback>
      </mc:AlternateContent>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8"/>
        <p:cNvGrpSpPr/>
        <p:nvPr/>
      </p:nvGrpSpPr>
      <p:grpSpPr>
        <a:xfrm>
          <a:off x="0" y="0"/>
          <a:ext cx="0" cy="0"/>
          <a:chOff x="0" y="0"/>
          <a:chExt cx="0" cy="0"/>
        </a:xfrm>
      </p:grpSpPr>
      <p:sp>
        <p:nvSpPr>
          <p:cNvPr id="389" name="Shape 389"/>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390" name="Shape 390"/>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391" name="Shape 391"/>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392" name="Shape 392"/>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393" name="Shape 393"/>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394" name="Shape 394"/>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395" name="Shape 395"/>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396" name="Shape 396"/>
          <p:cNvSpPr txBox="1"/>
          <p:nvPr/>
        </p:nvSpPr>
        <p:spPr>
          <a:xfrm>
            <a:off x="304721" y="1066800"/>
            <a:ext cx="11579384" cy="1373100"/>
          </a:xfrm>
          <a:prstGeom prst="rect">
            <a:avLst/>
          </a:prstGeom>
          <a:solidFill>
            <a:schemeClr val="lt1"/>
          </a:solidFill>
          <a:ln>
            <a:noFill/>
          </a:ln>
        </p:spPr>
        <p:txBody>
          <a:bodyPr lIns="110350" tIns="55160" rIns="110350" bIns="55160" anchor="t" anchorCtr="0">
            <a:noAutofit/>
          </a:bodyPr>
          <a:lstStyle/>
          <a:p>
            <a:pPr algn="just">
              <a:buClr>
                <a:schemeClr val="dk1"/>
              </a:buClr>
              <a:buSzPct val="25000"/>
            </a:pPr>
            <a:r>
              <a:rPr lang="en-US" sz="3400" b="1" i="1" dirty="0">
                <a:solidFill>
                  <a:schemeClr val="dk1"/>
                </a:solidFill>
                <a:latin typeface="Times New Roman"/>
                <a:ea typeface="Times New Roman"/>
                <a:cs typeface="Times New Roman"/>
                <a:sym typeface="Times New Roman"/>
              </a:rPr>
              <a:t>The modulo operation creates a set, which in modular arithmetic is referred to as </a:t>
            </a:r>
            <a:r>
              <a:rPr lang="en-US" sz="3400" b="1" i="1" dirty="0">
                <a:solidFill>
                  <a:schemeClr val="hlink"/>
                </a:solidFill>
                <a:latin typeface="Times New Roman"/>
                <a:ea typeface="Times New Roman"/>
                <a:cs typeface="Times New Roman"/>
                <a:sym typeface="Times New Roman"/>
              </a:rPr>
              <a:t>the set of least residues modulo n</a:t>
            </a:r>
            <a:r>
              <a:rPr lang="en-US" sz="3400" b="1" i="1" dirty="0">
                <a:solidFill>
                  <a:schemeClr val="dk1"/>
                </a:solidFill>
                <a:latin typeface="Times New Roman"/>
                <a:ea typeface="Times New Roman"/>
                <a:cs typeface="Times New Roman"/>
                <a:sym typeface="Times New Roman"/>
              </a:rPr>
              <a:t>, </a:t>
            </a:r>
            <a:r>
              <a:rPr lang="en-US" sz="3400" b="1" i="1" dirty="0">
                <a:solidFill>
                  <a:schemeClr val="hlink"/>
                </a:solidFill>
                <a:latin typeface="Times New Roman"/>
                <a:ea typeface="Times New Roman"/>
                <a:cs typeface="Times New Roman"/>
                <a:sym typeface="Times New Roman"/>
              </a:rPr>
              <a:t>or Z</a:t>
            </a:r>
            <a:r>
              <a:rPr lang="en-US" sz="3400" b="1" i="1" baseline="-25000" dirty="0">
                <a:solidFill>
                  <a:schemeClr val="hlink"/>
                </a:solidFill>
                <a:latin typeface="Times New Roman"/>
                <a:ea typeface="Times New Roman"/>
                <a:cs typeface="Times New Roman"/>
                <a:sym typeface="Times New Roman"/>
              </a:rPr>
              <a:t>n</a:t>
            </a:r>
            <a:r>
              <a:rPr lang="en-US" sz="3900" b="1" i="1" dirty="0">
                <a:solidFill>
                  <a:schemeClr val="dk1"/>
                </a:solidFill>
                <a:latin typeface="Times New Roman"/>
                <a:ea typeface="Times New Roman"/>
                <a:cs typeface="Times New Roman"/>
                <a:sym typeface="Times New Roman"/>
              </a:rPr>
              <a:t>.</a:t>
            </a:r>
            <a:r>
              <a:rPr lang="en-US" sz="3400" b="1" i="1" dirty="0">
                <a:solidFill>
                  <a:schemeClr val="dk1"/>
                </a:solidFill>
                <a:latin typeface="Times New Roman"/>
                <a:ea typeface="Times New Roman"/>
                <a:cs typeface="Times New Roman"/>
                <a:sym typeface="Times New Roman"/>
              </a:rPr>
              <a:t> </a:t>
            </a:r>
          </a:p>
        </p:txBody>
      </p:sp>
      <p:sp>
        <p:nvSpPr>
          <p:cNvPr id="397" name="Shape 397"/>
          <p:cNvSpPr txBox="1"/>
          <p:nvPr/>
        </p:nvSpPr>
        <p:spPr>
          <a:xfrm>
            <a:off x="1523603" y="0"/>
            <a:ext cx="8240254" cy="579300"/>
          </a:xfrm>
          <a:prstGeom prst="rect">
            <a:avLst/>
          </a:prstGeom>
          <a:noFill/>
          <a:ln>
            <a:noFill/>
          </a:ln>
        </p:spPr>
        <p:txBody>
          <a:bodyPr lIns="110350" tIns="55160" rIns="110350" bIns="55160" anchor="t" anchorCtr="0">
            <a:noAutofit/>
          </a:bodyPr>
          <a:lstStyle/>
          <a:p>
            <a:pPr>
              <a:buClr>
                <a:schemeClr val="dk1"/>
              </a:buClr>
              <a:buSzPct val="25000"/>
            </a:pPr>
            <a:r>
              <a:rPr lang="en-US" sz="3900" b="1" i="1" dirty="0">
                <a:solidFill>
                  <a:schemeClr val="hlink"/>
                </a:solidFill>
                <a:latin typeface="Times New Roman"/>
                <a:ea typeface="Times New Roman"/>
                <a:cs typeface="Times New Roman"/>
                <a:sym typeface="Times New Roman"/>
              </a:rPr>
              <a:t>Set of Residues</a:t>
            </a:r>
          </a:p>
        </p:txBody>
      </p:sp>
      <p:pic>
        <p:nvPicPr>
          <p:cNvPr id="398" name="Shape 398"/>
          <p:cNvPicPr preferRelativeResize="0"/>
          <p:nvPr/>
        </p:nvPicPr>
        <p:blipFill>
          <a:blip r:embed="rId3">
            <a:alphaModFix/>
          </a:blip>
          <a:stretch>
            <a:fillRect/>
          </a:stretch>
        </p:blipFill>
        <p:spPr>
          <a:xfrm>
            <a:off x="1214652" y="4521201"/>
            <a:ext cx="9552145" cy="1117599"/>
          </a:xfrm>
          <a:prstGeom prst="rect">
            <a:avLst/>
          </a:prstGeom>
          <a:noFill/>
          <a:ln>
            <a:noFill/>
          </a:ln>
        </p:spPr>
      </p:pic>
      <p:sp>
        <p:nvSpPr>
          <p:cNvPr id="399" name="Shape 399"/>
          <p:cNvSpPr txBox="1"/>
          <p:nvPr/>
        </p:nvSpPr>
        <p:spPr>
          <a:xfrm>
            <a:off x="3912672" y="3505200"/>
            <a:ext cx="6629072"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imes New Roman"/>
                <a:ea typeface="Times New Roman"/>
                <a:cs typeface="Times New Roman"/>
                <a:sym typeface="Times New Roman"/>
              </a:rPr>
              <a:t>Figure </a:t>
            </a:r>
            <a:r>
              <a:rPr lang="en-US" sz="2400" b="1" i="1" dirty="0">
                <a:solidFill>
                  <a:schemeClr val="dk1"/>
                </a:solidFill>
                <a:latin typeface="Times New Roman"/>
                <a:ea typeface="Times New Roman"/>
                <a:cs typeface="Times New Roman"/>
                <a:sym typeface="Times New Roman"/>
              </a:rPr>
              <a:t>Some Z</a:t>
            </a:r>
            <a:r>
              <a:rPr lang="en-US" sz="2900" b="1" i="1" baseline="-25000" dirty="0">
                <a:solidFill>
                  <a:schemeClr val="dk1"/>
                </a:solidFill>
                <a:latin typeface="Times New Roman"/>
                <a:ea typeface="Times New Roman"/>
                <a:cs typeface="Times New Roman"/>
                <a:sym typeface="Times New Roman"/>
              </a:rPr>
              <a:t>n</a:t>
            </a:r>
            <a:r>
              <a:rPr lang="en-US" sz="2400" b="1" i="1" dirty="0">
                <a:solidFill>
                  <a:schemeClr val="dk1"/>
                </a:solidFill>
                <a:latin typeface="Times New Roman"/>
                <a:ea typeface="Times New Roman"/>
                <a:cs typeface="Times New Roman"/>
                <a:sym typeface="Times New Roman"/>
              </a:rPr>
              <a:t> sets</a:t>
            </a:r>
          </a:p>
        </p:txBody>
      </p:sp>
      <p:sp>
        <p:nvSpPr>
          <p:cNvPr id="400" name="Shape 40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5"/>
        <p:cNvGrpSpPr/>
        <p:nvPr/>
      </p:nvGrpSpPr>
      <p:grpSpPr>
        <a:xfrm>
          <a:off x="0" y="0"/>
          <a:ext cx="0" cy="0"/>
          <a:chOff x="0" y="0"/>
          <a:chExt cx="0" cy="0"/>
        </a:xfrm>
      </p:grpSpPr>
      <p:sp>
        <p:nvSpPr>
          <p:cNvPr id="406" name="Shape 406"/>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407" name="Shape 407"/>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408" name="Shape 408"/>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409" name="Shape 409"/>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410" name="Shape 410"/>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411" name="Shape 411"/>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412" name="Shape 412"/>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413" name="Shape 413"/>
          <p:cNvSpPr txBox="1"/>
          <p:nvPr/>
        </p:nvSpPr>
        <p:spPr>
          <a:xfrm>
            <a:off x="304721" y="1066800"/>
            <a:ext cx="11579384" cy="946200"/>
          </a:xfrm>
          <a:prstGeom prst="rect">
            <a:avLst/>
          </a:prstGeom>
          <a:solidFill>
            <a:schemeClr val="lt1"/>
          </a:solidFill>
          <a:ln>
            <a:noFill/>
          </a:ln>
        </p:spPr>
        <p:txBody>
          <a:bodyPr lIns="110350" tIns="55160" rIns="110350" bIns="55160" anchor="t" anchorCtr="0">
            <a:noAutofit/>
          </a:bodyPr>
          <a:lstStyle/>
          <a:p>
            <a:pPr algn="just">
              <a:buClr>
                <a:schemeClr val="dk1"/>
              </a:buClr>
              <a:buSzPct val="25000"/>
            </a:pPr>
            <a:r>
              <a:rPr lang="en-US" sz="3400" b="1" i="1">
                <a:solidFill>
                  <a:schemeClr val="dk1"/>
                </a:solidFill>
                <a:latin typeface="Times New Roman"/>
                <a:ea typeface="Times New Roman"/>
                <a:cs typeface="Times New Roman"/>
                <a:sym typeface="Times New Roman"/>
              </a:rPr>
              <a:t>To show that two integers are congruent, we use the congruence operator </a:t>
            </a:r>
            <a:r>
              <a:rPr lang="en-US" sz="3400" b="1">
                <a:solidFill>
                  <a:schemeClr val="dk1"/>
                </a:solidFill>
                <a:latin typeface="Times New Roman"/>
                <a:ea typeface="Times New Roman"/>
                <a:cs typeface="Times New Roman"/>
                <a:sym typeface="Times New Roman"/>
              </a:rPr>
              <a:t>( </a:t>
            </a:r>
            <a:r>
              <a:rPr lang="en-US" sz="3400" b="1" i="1">
                <a:solidFill>
                  <a:schemeClr val="hlink"/>
                </a:solidFill>
                <a:latin typeface="Times New Roman"/>
                <a:ea typeface="Times New Roman"/>
                <a:cs typeface="Times New Roman"/>
                <a:sym typeface="Times New Roman"/>
              </a:rPr>
              <a:t>≡</a:t>
            </a:r>
            <a:r>
              <a:rPr lang="en-US" sz="3400" b="1" i="1">
                <a:solidFill>
                  <a:schemeClr val="dk1"/>
                </a:solidFill>
                <a:latin typeface="Times New Roman"/>
                <a:ea typeface="Times New Roman"/>
                <a:cs typeface="Times New Roman"/>
                <a:sym typeface="Times New Roman"/>
              </a:rPr>
              <a:t> </a:t>
            </a:r>
            <a:r>
              <a:rPr lang="en-US" sz="3400" b="1">
                <a:solidFill>
                  <a:schemeClr val="dk1"/>
                </a:solidFill>
                <a:latin typeface="Times New Roman"/>
                <a:ea typeface="Times New Roman"/>
                <a:cs typeface="Times New Roman"/>
                <a:sym typeface="Times New Roman"/>
              </a:rPr>
              <a:t>)</a:t>
            </a:r>
            <a:r>
              <a:rPr lang="en-US" sz="3400" b="1" i="1">
                <a:solidFill>
                  <a:schemeClr val="dk1"/>
                </a:solidFill>
                <a:latin typeface="Times New Roman"/>
                <a:ea typeface="Times New Roman"/>
                <a:cs typeface="Times New Roman"/>
                <a:sym typeface="Times New Roman"/>
              </a:rPr>
              <a:t>. For example, we write:</a:t>
            </a:r>
          </a:p>
        </p:txBody>
      </p:sp>
      <p:sp>
        <p:nvSpPr>
          <p:cNvPr id="414" name="Shape 414"/>
          <p:cNvSpPr txBox="1"/>
          <p:nvPr/>
        </p:nvSpPr>
        <p:spPr>
          <a:xfrm>
            <a:off x="1523604" y="0"/>
            <a:ext cx="4340068" cy="579300"/>
          </a:xfrm>
          <a:prstGeom prst="rect">
            <a:avLst/>
          </a:prstGeom>
          <a:noFill/>
          <a:ln>
            <a:noFill/>
          </a:ln>
        </p:spPr>
        <p:txBody>
          <a:bodyPr lIns="110350" tIns="55160" rIns="110350" bIns="55160" anchor="t" anchorCtr="0">
            <a:noAutofit/>
          </a:bodyPr>
          <a:lstStyle/>
          <a:p>
            <a:pPr>
              <a:buClr>
                <a:schemeClr val="dk1"/>
              </a:buClr>
              <a:buSzPct val="25000"/>
            </a:pPr>
            <a:r>
              <a:rPr lang="en-US" sz="3900" b="1" i="1" dirty="0">
                <a:solidFill>
                  <a:schemeClr val="hlink"/>
                </a:solidFill>
                <a:latin typeface="Times New Roman"/>
                <a:ea typeface="Times New Roman"/>
                <a:cs typeface="Times New Roman"/>
                <a:sym typeface="Times New Roman"/>
              </a:rPr>
              <a:t>Congruence</a:t>
            </a:r>
          </a:p>
        </p:txBody>
      </p:sp>
      <p:pic>
        <p:nvPicPr>
          <p:cNvPr id="415" name="Shape 415"/>
          <p:cNvPicPr preferRelativeResize="0"/>
          <p:nvPr/>
        </p:nvPicPr>
        <p:blipFill>
          <a:blip r:embed="rId3">
            <a:alphaModFix/>
          </a:blip>
          <a:stretch>
            <a:fillRect/>
          </a:stretch>
        </p:blipFill>
        <p:spPr>
          <a:xfrm>
            <a:off x="1132123" y="2400301"/>
            <a:ext cx="9736247" cy="1181100"/>
          </a:xfrm>
          <a:prstGeom prst="rect">
            <a:avLst/>
          </a:prstGeom>
          <a:noFill/>
          <a:ln>
            <a:noFill/>
          </a:ln>
        </p:spPr>
      </p:pic>
      <p:sp>
        <p:nvSpPr>
          <p:cNvPr id="416" name="Shape 41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
        <p:nvSpPr>
          <p:cNvPr id="417" name="Shape 417"/>
          <p:cNvSpPr txBox="1"/>
          <p:nvPr/>
        </p:nvSpPr>
        <p:spPr>
          <a:xfrm>
            <a:off x="761802" y="4015551"/>
            <a:ext cx="10404488" cy="2524499"/>
          </a:xfrm>
          <a:prstGeom prst="rect">
            <a:avLst/>
          </a:prstGeom>
          <a:noFill/>
          <a:ln>
            <a:noFill/>
          </a:ln>
        </p:spPr>
        <p:txBody>
          <a:bodyPr lIns="110350" tIns="110350" rIns="110350" bIns="110350" anchor="t" anchorCtr="0">
            <a:noAutofit/>
          </a:bodyPr>
          <a:lstStyle/>
          <a:p>
            <a:r>
              <a:rPr lang="en-US" sz="2400"/>
              <a:t>In cryptography, we use the concept of congruence instead of equality. Mapping Z to Z</a:t>
            </a:r>
            <a:r>
              <a:rPr lang="en-US" sz="2400" baseline="-25000"/>
              <a:t>n </a:t>
            </a:r>
            <a:r>
              <a:rPr lang="en-US" sz="2400"/>
              <a:t> is not one to one. Infinite numbers of Z can map to one member of Z</a:t>
            </a:r>
            <a:r>
              <a:rPr lang="en-US" sz="2400" baseline="-25000"/>
              <a:t>n </a:t>
            </a:r>
            <a:r>
              <a:rPr lang="en-US" sz="2400"/>
              <a:t> .</a:t>
            </a:r>
          </a:p>
          <a:p>
            <a:endParaRPr sz="2400"/>
          </a:p>
          <a:p>
            <a:r>
              <a:rPr lang="en-US" sz="2400"/>
              <a:t>For Ex. - the result of 2 mod 10 = 2, 12 mod 10 = 2, 22 mod 10 =2 , and so on.</a:t>
            </a:r>
          </a:p>
          <a:p>
            <a:r>
              <a:rPr lang="en-US" sz="2400"/>
              <a:t>In Modular arithmetic 2, 12, 22 are called congruent mod 10</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2"/>
        <p:cNvGrpSpPr/>
        <p:nvPr/>
      </p:nvGrpSpPr>
      <p:grpSpPr>
        <a:xfrm>
          <a:off x="0" y="0"/>
          <a:ext cx="0" cy="0"/>
          <a:chOff x="0" y="0"/>
          <a:chExt cx="0" cy="0"/>
        </a:xfrm>
      </p:grpSpPr>
      <p:sp>
        <p:nvSpPr>
          <p:cNvPr id="423" name="Shape 423"/>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424" name="Shape 424"/>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425" name="Shape 425"/>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426" name="Shape 426"/>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427" name="Shape 427"/>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428" name="Shape 428"/>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429" name="Shape 429"/>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pic>
        <p:nvPicPr>
          <p:cNvPr id="431" name="Shape 431"/>
          <p:cNvPicPr preferRelativeResize="0"/>
          <p:nvPr/>
        </p:nvPicPr>
        <p:blipFill>
          <a:blip r:embed="rId3">
            <a:alphaModFix/>
          </a:blip>
          <a:stretch>
            <a:fillRect/>
          </a:stretch>
        </p:blipFill>
        <p:spPr>
          <a:xfrm>
            <a:off x="1091915" y="2265362"/>
            <a:ext cx="9979598" cy="4059237"/>
          </a:xfrm>
          <a:prstGeom prst="rect">
            <a:avLst/>
          </a:prstGeom>
          <a:noFill/>
          <a:ln>
            <a:noFill/>
          </a:ln>
        </p:spPr>
      </p:pic>
      <p:sp>
        <p:nvSpPr>
          <p:cNvPr id="432" name="Shape 432"/>
          <p:cNvSpPr txBox="1"/>
          <p:nvPr/>
        </p:nvSpPr>
        <p:spPr>
          <a:xfrm>
            <a:off x="1436826" y="1271575"/>
            <a:ext cx="9979401"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imes New Roman"/>
                <a:ea typeface="Times New Roman"/>
                <a:cs typeface="Times New Roman"/>
                <a:sym typeface="Times New Roman"/>
              </a:rPr>
              <a:t>Figure </a:t>
            </a:r>
            <a:r>
              <a:rPr lang="en-US" sz="2400" b="1" i="1" dirty="0">
                <a:solidFill>
                  <a:schemeClr val="dk1"/>
                </a:solidFill>
                <a:latin typeface="Times New Roman"/>
                <a:ea typeface="Times New Roman"/>
                <a:cs typeface="Times New Roman"/>
                <a:sym typeface="Times New Roman"/>
              </a:rPr>
              <a:t>Concept of congruence</a:t>
            </a:r>
          </a:p>
        </p:txBody>
      </p:sp>
      <p:sp>
        <p:nvSpPr>
          <p:cNvPr id="433" name="Shape 433"/>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8"/>
        <p:cNvGrpSpPr/>
        <p:nvPr/>
      </p:nvGrpSpPr>
      <p:grpSpPr>
        <a:xfrm>
          <a:off x="0" y="0"/>
          <a:ext cx="0" cy="0"/>
          <a:chOff x="0" y="0"/>
          <a:chExt cx="0" cy="0"/>
        </a:xfrm>
      </p:grpSpPr>
      <p:sp>
        <p:nvSpPr>
          <p:cNvPr id="439" name="Shape 439"/>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440" name="Shape 440"/>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441" name="Shape 441"/>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442" name="Shape 442"/>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443" name="Shape 443"/>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444" name="Shape 444"/>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445" name="Shape 445"/>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446" name="Shape 446"/>
          <p:cNvSpPr txBox="1"/>
          <p:nvPr/>
        </p:nvSpPr>
        <p:spPr>
          <a:xfrm>
            <a:off x="1523604" y="0"/>
            <a:ext cx="3605861" cy="579300"/>
          </a:xfrm>
          <a:prstGeom prst="rect">
            <a:avLst/>
          </a:prstGeom>
          <a:noFill/>
          <a:ln>
            <a:noFill/>
          </a:ln>
        </p:spPr>
        <p:txBody>
          <a:bodyPr lIns="110350" tIns="55160" rIns="110350" bIns="55160" anchor="t" anchorCtr="0">
            <a:noAutofit/>
          </a:bodyPr>
          <a:lstStyle/>
          <a:p>
            <a:pPr>
              <a:buClr>
                <a:schemeClr val="dk1"/>
              </a:buClr>
              <a:buSzPct val="25000"/>
            </a:pPr>
            <a:r>
              <a:rPr lang="en-US" sz="3900" b="1" i="1" dirty="0">
                <a:solidFill>
                  <a:schemeClr val="hlink"/>
                </a:solidFill>
                <a:latin typeface="Times New Roman"/>
                <a:ea typeface="Times New Roman"/>
                <a:cs typeface="Times New Roman"/>
                <a:sym typeface="Times New Roman"/>
              </a:rPr>
              <a:t>Inverses</a:t>
            </a:r>
          </a:p>
        </p:txBody>
      </p:sp>
      <p:sp>
        <p:nvSpPr>
          <p:cNvPr id="447" name="Shape 447"/>
          <p:cNvSpPr txBox="1"/>
          <p:nvPr/>
        </p:nvSpPr>
        <p:spPr>
          <a:xfrm>
            <a:off x="406295" y="990600"/>
            <a:ext cx="10969943" cy="1917599"/>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imes New Roman"/>
                <a:ea typeface="Times New Roman"/>
                <a:cs typeface="Times New Roman"/>
                <a:sym typeface="Times New Roman"/>
              </a:rPr>
              <a:t>When we are working in modular arithmetic, we often need to find the inverse of a number relative to an operation. We are normally looking for an additive inverse (relative to an addition operation) or a multiplicative inverse (relative to a multiplication operation).</a:t>
            </a:r>
          </a:p>
        </p:txBody>
      </p:sp>
      <p:sp>
        <p:nvSpPr>
          <p:cNvPr id="448" name="Shape 44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3"/>
        <p:cNvGrpSpPr/>
        <p:nvPr/>
      </p:nvGrpSpPr>
      <p:grpSpPr>
        <a:xfrm>
          <a:off x="0" y="0"/>
          <a:ext cx="0" cy="0"/>
          <a:chOff x="0" y="0"/>
          <a:chExt cx="0" cy="0"/>
        </a:xfrm>
      </p:grpSpPr>
      <p:sp>
        <p:nvSpPr>
          <p:cNvPr id="454" name="Shape 454"/>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455" name="Shape 455"/>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456" name="Shape 456"/>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457" name="Shape 457"/>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458" name="Shape 458"/>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459" name="Shape 459"/>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460" name="Shape 460"/>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462" name="Shape 462"/>
          <p:cNvSpPr txBox="1"/>
          <p:nvPr/>
        </p:nvSpPr>
        <p:spPr>
          <a:xfrm>
            <a:off x="406295" y="1295400"/>
            <a:ext cx="10969943" cy="8223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In Z</a:t>
            </a:r>
            <a:r>
              <a:rPr lang="en-US" sz="2900" b="1" baseline="-25000">
                <a:solidFill>
                  <a:schemeClr val="dk1"/>
                </a:solidFill>
                <a:latin typeface="Times New Roman"/>
                <a:ea typeface="Times New Roman"/>
                <a:cs typeface="Times New Roman"/>
                <a:sym typeface="Times New Roman"/>
              </a:rPr>
              <a:t>n</a:t>
            </a:r>
            <a:r>
              <a:rPr lang="en-US" sz="2900" b="1">
                <a:solidFill>
                  <a:schemeClr val="dk1"/>
                </a:solidFill>
                <a:latin typeface="Times New Roman"/>
                <a:ea typeface="Times New Roman"/>
                <a:cs typeface="Times New Roman"/>
                <a:sym typeface="Times New Roman"/>
              </a:rPr>
              <a:t>, two numbers </a:t>
            </a:r>
            <a:r>
              <a:rPr lang="en-US" sz="2900" b="1" i="1">
                <a:solidFill>
                  <a:schemeClr val="dk1"/>
                </a:solidFill>
                <a:latin typeface="Times New Roman"/>
                <a:ea typeface="Times New Roman"/>
                <a:cs typeface="Times New Roman"/>
                <a:sym typeface="Times New Roman"/>
              </a:rPr>
              <a:t>a</a:t>
            </a:r>
            <a:r>
              <a:rPr lang="en-US" sz="2900" b="1">
                <a:solidFill>
                  <a:schemeClr val="dk1"/>
                </a:solidFill>
                <a:latin typeface="Times New Roman"/>
                <a:ea typeface="Times New Roman"/>
                <a:cs typeface="Times New Roman"/>
                <a:sym typeface="Times New Roman"/>
              </a:rPr>
              <a:t> and </a:t>
            </a:r>
            <a:r>
              <a:rPr lang="en-US" sz="2900" b="1" i="1">
                <a:solidFill>
                  <a:schemeClr val="dk1"/>
                </a:solidFill>
                <a:latin typeface="Times New Roman"/>
                <a:ea typeface="Times New Roman"/>
                <a:cs typeface="Times New Roman"/>
                <a:sym typeface="Times New Roman"/>
              </a:rPr>
              <a:t>b</a:t>
            </a:r>
            <a:r>
              <a:rPr lang="en-US" sz="2900" b="1">
                <a:solidFill>
                  <a:schemeClr val="dk1"/>
                </a:solidFill>
                <a:latin typeface="Times New Roman"/>
                <a:ea typeface="Times New Roman"/>
                <a:cs typeface="Times New Roman"/>
                <a:sym typeface="Times New Roman"/>
              </a:rPr>
              <a:t> are additive inverses of each other if</a:t>
            </a:r>
          </a:p>
        </p:txBody>
      </p:sp>
      <p:sp>
        <p:nvSpPr>
          <p:cNvPr id="463" name="Shape 463"/>
          <p:cNvSpPr txBox="1"/>
          <p:nvPr/>
        </p:nvSpPr>
        <p:spPr>
          <a:xfrm>
            <a:off x="1625178" y="533400"/>
            <a:ext cx="3123585" cy="457200"/>
          </a:xfrm>
          <a:prstGeom prst="rect">
            <a:avLst/>
          </a:prstGeom>
          <a:noFill/>
          <a:ln>
            <a:noFill/>
          </a:ln>
        </p:spPr>
        <p:txBody>
          <a:bodyPr lIns="110350" tIns="55160" rIns="110350" bIns="55160" anchor="t" anchorCtr="0">
            <a:noAutofit/>
          </a:bodyPr>
          <a:lstStyle/>
          <a:p>
            <a:pPr>
              <a:buClr>
                <a:schemeClr val="dk1"/>
              </a:buClr>
              <a:buSzPct val="25000"/>
            </a:pPr>
            <a:r>
              <a:rPr lang="en-US" sz="2900" b="1">
                <a:solidFill>
                  <a:schemeClr val="folHlink"/>
                </a:solidFill>
                <a:latin typeface="Times New Roman"/>
                <a:ea typeface="Times New Roman"/>
                <a:cs typeface="Times New Roman"/>
                <a:sym typeface="Times New Roman"/>
              </a:rPr>
              <a:t>Additive Inverse</a:t>
            </a:r>
          </a:p>
        </p:txBody>
      </p:sp>
      <p:pic>
        <p:nvPicPr>
          <p:cNvPr id="464" name="Shape 464"/>
          <p:cNvPicPr preferRelativeResize="0"/>
          <p:nvPr/>
        </p:nvPicPr>
        <p:blipFill>
          <a:blip r:embed="rId3">
            <a:alphaModFix/>
          </a:blip>
          <a:stretch>
            <a:fillRect/>
          </a:stretch>
        </p:blipFill>
        <p:spPr>
          <a:xfrm>
            <a:off x="3341345" y="2224087"/>
            <a:ext cx="5506131" cy="747711"/>
          </a:xfrm>
          <a:prstGeom prst="rect">
            <a:avLst/>
          </a:prstGeom>
          <a:noFill/>
          <a:ln>
            <a:noFill/>
          </a:ln>
        </p:spPr>
      </p:pic>
      <p:cxnSp>
        <p:nvCxnSpPr>
          <p:cNvPr id="465" name="Shape 465"/>
          <p:cNvCxnSpPr/>
          <p:nvPr/>
        </p:nvCxnSpPr>
        <p:spPr>
          <a:xfrm>
            <a:off x="812589" y="39624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466" name="Shape 466"/>
          <p:cNvCxnSpPr/>
          <p:nvPr/>
        </p:nvCxnSpPr>
        <p:spPr>
          <a:xfrm>
            <a:off x="812589" y="6172200"/>
            <a:ext cx="10868368" cy="0"/>
          </a:xfrm>
          <a:prstGeom prst="straightConnector1">
            <a:avLst/>
          </a:prstGeom>
          <a:noFill/>
          <a:ln w="76200" cap="rnd" cmpd="sng">
            <a:solidFill>
              <a:srgbClr val="009900"/>
            </a:solidFill>
            <a:prstDash val="solid"/>
            <a:miter/>
            <a:headEnd type="none" w="med" len="med"/>
            <a:tailEnd type="none" w="med" len="med"/>
          </a:ln>
        </p:spPr>
      </p:cxnSp>
      <p:sp>
        <p:nvSpPr>
          <p:cNvPr id="467" name="Shape 467"/>
          <p:cNvSpPr txBox="1"/>
          <p:nvPr/>
        </p:nvSpPr>
        <p:spPr>
          <a:xfrm>
            <a:off x="863376" y="4054476"/>
            <a:ext cx="10766794" cy="2041499"/>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900" b="1" i="1">
                <a:solidFill>
                  <a:schemeClr val="dk1"/>
                </a:solidFill>
              </a:rPr>
              <a:t>In modular arithmetic, each integer has an additive inverse. The sum of an integer and its additive inverse is congruent to 0 modulo n.</a:t>
            </a:r>
          </a:p>
        </p:txBody>
      </p:sp>
      <p:sp>
        <p:nvSpPr>
          <p:cNvPr id="468" name="Shape 468"/>
          <p:cNvSpPr txBox="1"/>
          <p:nvPr/>
        </p:nvSpPr>
        <p:spPr>
          <a:xfrm>
            <a:off x="1051710" y="3352801"/>
            <a:ext cx="1166095" cy="518999"/>
          </a:xfrm>
          <a:prstGeom prst="rect">
            <a:avLst/>
          </a:prstGeom>
          <a:noFill/>
          <a:ln>
            <a:noFill/>
          </a:ln>
        </p:spPr>
        <p:txBody>
          <a:bodyPr lIns="110350" tIns="55160" rIns="110350" bIns="55160" anchor="t" anchorCtr="0">
            <a:noAutofit/>
          </a:bodyPr>
          <a:lstStyle/>
          <a:p>
            <a:pPr>
              <a:buSzPct val="25000"/>
            </a:pPr>
            <a:r>
              <a:rPr lang="en-US" sz="3400" b="1" i="1">
                <a:solidFill>
                  <a:schemeClr val="hlink"/>
                </a:solidFill>
                <a:latin typeface="Times New Roman"/>
                <a:ea typeface="Times New Roman"/>
                <a:cs typeface="Times New Roman"/>
                <a:sym typeface="Times New Roman"/>
              </a:rPr>
              <a:t>Note</a:t>
            </a:r>
          </a:p>
        </p:txBody>
      </p:sp>
      <p:sp>
        <p:nvSpPr>
          <p:cNvPr id="469" name="Shape 469"/>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4"/>
        <p:cNvGrpSpPr/>
        <p:nvPr/>
      </p:nvGrpSpPr>
      <p:grpSpPr>
        <a:xfrm>
          <a:off x="0" y="0"/>
          <a:ext cx="0" cy="0"/>
          <a:chOff x="0" y="0"/>
          <a:chExt cx="0" cy="0"/>
        </a:xfrm>
      </p:grpSpPr>
      <p:sp>
        <p:nvSpPr>
          <p:cNvPr id="475" name="Shape 475"/>
          <p:cNvSpPr txBox="1"/>
          <p:nvPr/>
        </p:nvSpPr>
        <p:spPr>
          <a:xfrm>
            <a:off x="1523605" y="533400"/>
            <a:ext cx="2592123"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imes New Roman"/>
                <a:ea typeface="Times New Roman"/>
                <a:cs typeface="Times New Roman"/>
                <a:sym typeface="Times New Roman"/>
              </a:rPr>
              <a:t>Example </a:t>
            </a:r>
          </a:p>
        </p:txBody>
      </p:sp>
      <p:sp>
        <p:nvSpPr>
          <p:cNvPr id="476" name="Shape 476"/>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477" name="Shape 477"/>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478" name="Shape 478"/>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479" name="Shape 479"/>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480" name="Shape 480"/>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481" name="Shape 481"/>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482" name="Shape 482"/>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484" name="Shape 484"/>
          <p:cNvSpPr txBox="1"/>
          <p:nvPr/>
        </p:nvSpPr>
        <p:spPr>
          <a:xfrm>
            <a:off x="406295" y="1431925"/>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Find all additive inverse pairs in Z</a:t>
            </a:r>
            <a:r>
              <a:rPr lang="en-US" sz="2900" b="1" baseline="-25000">
                <a:solidFill>
                  <a:schemeClr val="dk1"/>
                </a:solidFill>
                <a:latin typeface="Times New Roman"/>
                <a:ea typeface="Times New Roman"/>
                <a:cs typeface="Times New Roman"/>
                <a:sym typeface="Times New Roman"/>
              </a:rPr>
              <a:t>10.</a:t>
            </a:r>
          </a:p>
        </p:txBody>
      </p:sp>
      <p:sp>
        <p:nvSpPr>
          <p:cNvPr id="485" name="Shape 485"/>
          <p:cNvSpPr txBox="1"/>
          <p:nvPr/>
        </p:nvSpPr>
        <p:spPr>
          <a:xfrm>
            <a:off x="406295" y="31242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hlink"/>
                </a:solidFill>
                <a:latin typeface="Times New Roman"/>
                <a:ea typeface="Times New Roman"/>
                <a:cs typeface="Times New Roman"/>
                <a:sym typeface="Times New Roman"/>
              </a:rPr>
              <a:t>Solution</a:t>
            </a:r>
          </a:p>
        </p:txBody>
      </p:sp>
      <p:sp>
        <p:nvSpPr>
          <p:cNvPr id="486" name="Shape 486"/>
          <p:cNvSpPr txBox="1"/>
          <p:nvPr/>
        </p:nvSpPr>
        <p:spPr>
          <a:xfrm>
            <a:off x="406295" y="3581401"/>
            <a:ext cx="10969943" cy="8223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The six pairs of additive inverses are (0, 0), (1, 9), (2, 8), (3, 7), (4, 6), and (5, 5). </a:t>
            </a:r>
          </a:p>
        </p:txBody>
      </p:sp>
      <p:sp>
        <p:nvSpPr>
          <p:cNvPr id="487" name="Shape 48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2"/>
        <p:cNvGrpSpPr/>
        <p:nvPr/>
      </p:nvGrpSpPr>
      <p:grpSpPr>
        <a:xfrm>
          <a:off x="0" y="0"/>
          <a:ext cx="0" cy="0"/>
          <a:chOff x="0" y="0"/>
          <a:chExt cx="0" cy="0"/>
        </a:xfrm>
      </p:grpSpPr>
      <p:sp>
        <p:nvSpPr>
          <p:cNvPr id="493" name="Shape 493"/>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494" name="Shape 494"/>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495" name="Shape 495"/>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496" name="Shape 496"/>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497" name="Shape 497"/>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498" name="Shape 498"/>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499" name="Shape 499"/>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501" name="Shape 501"/>
          <p:cNvSpPr txBox="1"/>
          <p:nvPr/>
        </p:nvSpPr>
        <p:spPr>
          <a:xfrm>
            <a:off x="406295" y="1066801"/>
            <a:ext cx="10969943" cy="8223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In Z</a:t>
            </a:r>
            <a:r>
              <a:rPr lang="en-US" sz="2900" b="1" baseline="-25000">
                <a:solidFill>
                  <a:schemeClr val="dk1"/>
                </a:solidFill>
                <a:latin typeface="Times New Roman"/>
                <a:ea typeface="Times New Roman"/>
                <a:cs typeface="Times New Roman"/>
                <a:sym typeface="Times New Roman"/>
              </a:rPr>
              <a:t>n</a:t>
            </a:r>
            <a:r>
              <a:rPr lang="en-US" sz="2900" b="1">
                <a:solidFill>
                  <a:schemeClr val="dk1"/>
                </a:solidFill>
                <a:latin typeface="Times New Roman"/>
                <a:ea typeface="Times New Roman"/>
                <a:cs typeface="Times New Roman"/>
                <a:sym typeface="Times New Roman"/>
              </a:rPr>
              <a:t>, two numbers </a:t>
            </a:r>
            <a:r>
              <a:rPr lang="en-US" sz="2900" b="1" i="1">
                <a:solidFill>
                  <a:schemeClr val="dk1"/>
                </a:solidFill>
                <a:latin typeface="Times New Roman"/>
                <a:ea typeface="Times New Roman"/>
                <a:cs typeface="Times New Roman"/>
                <a:sym typeface="Times New Roman"/>
              </a:rPr>
              <a:t>a</a:t>
            </a:r>
            <a:r>
              <a:rPr lang="en-US" sz="2900" b="1">
                <a:solidFill>
                  <a:schemeClr val="dk1"/>
                </a:solidFill>
                <a:latin typeface="Times New Roman"/>
                <a:ea typeface="Times New Roman"/>
                <a:cs typeface="Times New Roman"/>
                <a:sym typeface="Times New Roman"/>
              </a:rPr>
              <a:t> and </a:t>
            </a:r>
            <a:r>
              <a:rPr lang="en-US" sz="2900" b="1" i="1">
                <a:solidFill>
                  <a:schemeClr val="dk1"/>
                </a:solidFill>
                <a:latin typeface="Times New Roman"/>
                <a:ea typeface="Times New Roman"/>
                <a:cs typeface="Times New Roman"/>
                <a:sym typeface="Times New Roman"/>
              </a:rPr>
              <a:t>b</a:t>
            </a:r>
            <a:r>
              <a:rPr lang="en-US" sz="2900" b="1">
                <a:solidFill>
                  <a:schemeClr val="dk1"/>
                </a:solidFill>
                <a:latin typeface="Times New Roman"/>
                <a:ea typeface="Times New Roman"/>
                <a:cs typeface="Times New Roman"/>
                <a:sym typeface="Times New Roman"/>
              </a:rPr>
              <a:t> are the multiplicative inverse of each other if</a:t>
            </a:r>
          </a:p>
        </p:txBody>
      </p:sp>
      <p:sp>
        <p:nvSpPr>
          <p:cNvPr id="502" name="Shape 502"/>
          <p:cNvSpPr txBox="1"/>
          <p:nvPr/>
        </p:nvSpPr>
        <p:spPr>
          <a:xfrm>
            <a:off x="1625178" y="533400"/>
            <a:ext cx="4067339" cy="457200"/>
          </a:xfrm>
          <a:prstGeom prst="rect">
            <a:avLst/>
          </a:prstGeom>
          <a:noFill/>
          <a:ln>
            <a:noFill/>
          </a:ln>
        </p:spPr>
        <p:txBody>
          <a:bodyPr lIns="110350" tIns="55160" rIns="110350" bIns="55160" anchor="t" anchorCtr="0">
            <a:noAutofit/>
          </a:bodyPr>
          <a:lstStyle/>
          <a:p>
            <a:pPr>
              <a:buClr>
                <a:schemeClr val="dk1"/>
              </a:buClr>
              <a:buSzPct val="25000"/>
            </a:pPr>
            <a:r>
              <a:rPr lang="en-US" sz="2900" b="1">
                <a:solidFill>
                  <a:schemeClr val="folHlink"/>
                </a:solidFill>
                <a:latin typeface="Times New Roman"/>
                <a:ea typeface="Times New Roman"/>
                <a:cs typeface="Times New Roman"/>
                <a:sym typeface="Times New Roman"/>
              </a:rPr>
              <a:t>Multiplicative Inverse</a:t>
            </a:r>
          </a:p>
        </p:txBody>
      </p:sp>
      <p:pic>
        <p:nvPicPr>
          <p:cNvPr id="503" name="Shape 503"/>
          <p:cNvPicPr preferRelativeResize="0"/>
          <p:nvPr/>
        </p:nvPicPr>
        <p:blipFill>
          <a:blip r:embed="rId3">
            <a:alphaModFix/>
          </a:blip>
          <a:stretch>
            <a:fillRect/>
          </a:stretch>
        </p:blipFill>
        <p:spPr>
          <a:xfrm>
            <a:off x="3341346" y="1752601"/>
            <a:ext cx="4409983" cy="590549"/>
          </a:xfrm>
          <a:prstGeom prst="rect">
            <a:avLst/>
          </a:prstGeom>
          <a:noFill/>
          <a:ln>
            <a:noFill/>
          </a:ln>
        </p:spPr>
      </p:pic>
      <p:cxnSp>
        <p:nvCxnSpPr>
          <p:cNvPr id="504" name="Shape 504"/>
          <p:cNvCxnSpPr/>
          <p:nvPr/>
        </p:nvCxnSpPr>
        <p:spPr>
          <a:xfrm>
            <a:off x="812589" y="33528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505" name="Shape 505"/>
          <p:cNvCxnSpPr/>
          <p:nvPr/>
        </p:nvCxnSpPr>
        <p:spPr>
          <a:xfrm>
            <a:off x="812589" y="6019800"/>
            <a:ext cx="10868368" cy="0"/>
          </a:xfrm>
          <a:prstGeom prst="straightConnector1">
            <a:avLst/>
          </a:prstGeom>
          <a:noFill/>
          <a:ln w="76200" cap="rnd" cmpd="sng">
            <a:solidFill>
              <a:srgbClr val="009900"/>
            </a:solidFill>
            <a:prstDash val="solid"/>
            <a:miter/>
            <a:headEnd type="none" w="med" len="med"/>
            <a:tailEnd type="none" w="med" len="med"/>
          </a:ln>
        </p:spPr>
      </p:cxnSp>
      <p:sp>
        <p:nvSpPr>
          <p:cNvPr id="506" name="Shape 506"/>
          <p:cNvSpPr txBox="1"/>
          <p:nvPr/>
        </p:nvSpPr>
        <p:spPr>
          <a:xfrm>
            <a:off x="863376" y="3414713"/>
            <a:ext cx="10766794" cy="2528999"/>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900" b="1" i="1">
                <a:solidFill>
                  <a:schemeClr val="dk1"/>
                </a:solidFill>
              </a:rPr>
              <a:t>In modular arithmetic, an integer may or may not have a multiplicative inverse.</a:t>
            </a:r>
          </a:p>
          <a:p>
            <a:pPr algn="ctr">
              <a:buClr>
                <a:schemeClr val="dk1"/>
              </a:buClr>
              <a:buSzPct val="25000"/>
            </a:pPr>
            <a:r>
              <a:rPr lang="en-US" sz="3900" b="1" i="1">
                <a:solidFill>
                  <a:schemeClr val="dk1"/>
                </a:solidFill>
              </a:rPr>
              <a:t>When it does, the product of the integer and its multiplicative inverse is congruent to 1 modulo n.</a:t>
            </a:r>
          </a:p>
        </p:txBody>
      </p:sp>
      <p:sp>
        <p:nvSpPr>
          <p:cNvPr id="507" name="Shape 507"/>
          <p:cNvSpPr txBox="1"/>
          <p:nvPr/>
        </p:nvSpPr>
        <p:spPr>
          <a:xfrm>
            <a:off x="1051710" y="2743201"/>
            <a:ext cx="1166095" cy="518999"/>
          </a:xfrm>
          <a:prstGeom prst="rect">
            <a:avLst/>
          </a:prstGeom>
          <a:noFill/>
          <a:ln>
            <a:noFill/>
          </a:ln>
        </p:spPr>
        <p:txBody>
          <a:bodyPr lIns="110350" tIns="55160" rIns="110350" bIns="55160" anchor="t" anchorCtr="0">
            <a:noAutofit/>
          </a:bodyPr>
          <a:lstStyle/>
          <a:p>
            <a:pPr>
              <a:buSzPct val="25000"/>
            </a:pPr>
            <a:r>
              <a:rPr lang="en-US" sz="3400" b="1" i="1">
                <a:solidFill>
                  <a:schemeClr val="hlink"/>
                </a:solidFill>
                <a:latin typeface="Times New Roman"/>
                <a:ea typeface="Times New Roman"/>
                <a:cs typeface="Times New Roman"/>
                <a:sym typeface="Times New Roman"/>
              </a:rPr>
              <a:t>Note</a:t>
            </a:r>
          </a:p>
        </p:txBody>
      </p:sp>
      <p:sp>
        <p:nvSpPr>
          <p:cNvPr id="508" name="Shape 50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3"/>
        <p:cNvGrpSpPr/>
        <p:nvPr/>
      </p:nvGrpSpPr>
      <p:grpSpPr>
        <a:xfrm>
          <a:off x="0" y="0"/>
          <a:ext cx="0" cy="0"/>
          <a:chOff x="0" y="0"/>
          <a:chExt cx="0" cy="0"/>
        </a:xfrm>
      </p:grpSpPr>
      <p:sp>
        <p:nvSpPr>
          <p:cNvPr id="514" name="Shape 514"/>
          <p:cNvSpPr txBox="1"/>
          <p:nvPr/>
        </p:nvSpPr>
        <p:spPr>
          <a:xfrm>
            <a:off x="507869" y="1143000"/>
            <a:ext cx="2592123"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imes New Roman"/>
                <a:ea typeface="Times New Roman"/>
                <a:cs typeface="Times New Roman"/>
                <a:sym typeface="Times New Roman"/>
              </a:rPr>
              <a:t>Example 2.22</a:t>
            </a:r>
          </a:p>
        </p:txBody>
      </p:sp>
      <p:sp>
        <p:nvSpPr>
          <p:cNvPr id="515" name="Shape 515"/>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516" name="Shape 516"/>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517" name="Shape 517"/>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518" name="Shape 518"/>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519" name="Shape 519"/>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520" name="Shape 520"/>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521" name="Shape 521"/>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523" name="Shape 523"/>
          <p:cNvSpPr txBox="1"/>
          <p:nvPr/>
        </p:nvSpPr>
        <p:spPr>
          <a:xfrm>
            <a:off x="406295" y="16002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Find the multiplicative inverse of 8 in Z</a:t>
            </a:r>
            <a:r>
              <a:rPr lang="en-US" sz="2900" b="1" baseline="-25000">
                <a:solidFill>
                  <a:schemeClr val="dk1"/>
                </a:solidFill>
                <a:latin typeface="Times New Roman"/>
                <a:ea typeface="Times New Roman"/>
                <a:cs typeface="Times New Roman"/>
                <a:sym typeface="Times New Roman"/>
              </a:rPr>
              <a:t>10</a:t>
            </a:r>
            <a:r>
              <a:rPr lang="en-US" sz="2900" b="1">
                <a:solidFill>
                  <a:schemeClr val="dk1"/>
                </a:solidFill>
                <a:latin typeface="Times New Roman"/>
                <a:ea typeface="Times New Roman"/>
                <a:cs typeface="Times New Roman"/>
                <a:sym typeface="Times New Roman"/>
              </a:rPr>
              <a:t>.</a:t>
            </a:r>
          </a:p>
        </p:txBody>
      </p:sp>
      <p:sp>
        <p:nvSpPr>
          <p:cNvPr id="524" name="Shape 524"/>
          <p:cNvSpPr txBox="1"/>
          <p:nvPr/>
        </p:nvSpPr>
        <p:spPr>
          <a:xfrm>
            <a:off x="406295" y="20574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hlink"/>
                </a:solidFill>
                <a:latin typeface="Times New Roman"/>
                <a:ea typeface="Times New Roman"/>
                <a:cs typeface="Times New Roman"/>
                <a:sym typeface="Times New Roman"/>
              </a:rPr>
              <a:t>Solution</a:t>
            </a:r>
          </a:p>
        </p:txBody>
      </p:sp>
      <p:sp>
        <p:nvSpPr>
          <p:cNvPr id="525" name="Shape 525"/>
          <p:cNvSpPr txBox="1"/>
          <p:nvPr/>
        </p:nvSpPr>
        <p:spPr>
          <a:xfrm>
            <a:off x="406295" y="2409826"/>
            <a:ext cx="10969943" cy="118739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There is no multiplicative inverse because gcd (10, 8) = 2 ≠ 1. In other words, we cannot find any number between 0 and 9 such that when multiplied by 8, the result is congruent to 1.</a:t>
            </a:r>
          </a:p>
        </p:txBody>
      </p:sp>
      <p:sp>
        <p:nvSpPr>
          <p:cNvPr id="526" name="Shape 526"/>
          <p:cNvSpPr txBox="1"/>
          <p:nvPr/>
        </p:nvSpPr>
        <p:spPr>
          <a:xfrm>
            <a:off x="507869" y="3733800"/>
            <a:ext cx="2592123"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imes New Roman"/>
                <a:ea typeface="Times New Roman"/>
                <a:cs typeface="Times New Roman"/>
                <a:sym typeface="Times New Roman"/>
              </a:rPr>
              <a:t>Example 2.23</a:t>
            </a:r>
          </a:p>
        </p:txBody>
      </p:sp>
      <p:sp>
        <p:nvSpPr>
          <p:cNvPr id="527" name="Shape 527"/>
          <p:cNvSpPr txBox="1"/>
          <p:nvPr/>
        </p:nvSpPr>
        <p:spPr>
          <a:xfrm>
            <a:off x="406295" y="42672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Find all multiplicative inverses in Z</a:t>
            </a:r>
            <a:r>
              <a:rPr lang="en-US" sz="2900" b="1" baseline="-25000">
                <a:solidFill>
                  <a:schemeClr val="dk1"/>
                </a:solidFill>
                <a:latin typeface="Times New Roman"/>
                <a:ea typeface="Times New Roman"/>
                <a:cs typeface="Times New Roman"/>
                <a:sym typeface="Times New Roman"/>
              </a:rPr>
              <a:t>10</a:t>
            </a:r>
            <a:r>
              <a:rPr lang="en-US" sz="2900" b="1">
                <a:solidFill>
                  <a:schemeClr val="dk1"/>
                </a:solidFill>
                <a:latin typeface="Times New Roman"/>
                <a:ea typeface="Times New Roman"/>
                <a:cs typeface="Times New Roman"/>
                <a:sym typeface="Times New Roman"/>
              </a:rPr>
              <a:t>.</a:t>
            </a:r>
          </a:p>
        </p:txBody>
      </p:sp>
      <p:sp>
        <p:nvSpPr>
          <p:cNvPr id="528" name="Shape 528"/>
          <p:cNvSpPr txBox="1"/>
          <p:nvPr/>
        </p:nvSpPr>
        <p:spPr>
          <a:xfrm>
            <a:off x="406295" y="49530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hlink"/>
                </a:solidFill>
                <a:latin typeface="Times New Roman"/>
                <a:ea typeface="Times New Roman"/>
                <a:cs typeface="Times New Roman"/>
                <a:sym typeface="Times New Roman"/>
              </a:rPr>
              <a:t>Solution</a:t>
            </a:r>
          </a:p>
        </p:txBody>
      </p:sp>
      <p:sp>
        <p:nvSpPr>
          <p:cNvPr id="529" name="Shape 529"/>
          <p:cNvSpPr txBox="1"/>
          <p:nvPr/>
        </p:nvSpPr>
        <p:spPr>
          <a:xfrm>
            <a:off x="406295" y="5257801"/>
            <a:ext cx="10969943" cy="118739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There are only three pairs: (1, 1), (3, 7) and (9, 9). The numbers 0, 2, 4, 5, 6, and 8 do not have a multiplicative inverse. </a:t>
            </a:r>
          </a:p>
        </p:txBody>
      </p:sp>
      <p:sp>
        <p:nvSpPr>
          <p:cNvPr id="530" name="Shape 53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5"/>
        <p:cNvGrpSpPr/>
        <p:nvPr/>
      </p:nvGrpSpPr>
      <p:grpSpPr>
        <a:xfrm>
          <a:off x="0" y="0"/>
          <a:ext cx="0" cy="0"/>
          <a:chOff x="0" y="0"/>
          <a:chExt cx="0" cy="0"/>
        </a:xfrm>
      </p:grpSpPr>
      <p:sp>
        <p:nvSpPr>
          <p:cNvPr id="536" name="Shape 536"/>
          <p:cNvSpPr txBox="1"/>
          <p:nvPr/>
        </p:nvSpPr>
        <p:spPr>
          <a:xfrm>
            <a:off x="1523605" y="533400"/>
            <a:ext cx="2592123"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imes New Roman"/>
                <a:ea typeface="Times New Roman"/>
                <a:cs typeface="Times New Roman"/>
                <a:sym typeface="Times New Roman"/>
              </a:rPr>
              <a:t>Example 2.24</a:t>
            </a:r>
          </a:p>
        </p:txBody>
      </p:sp>
      <p:sp>
        <p:nvSpPr>
          <p:cNvPr id="537" name="Shape 537"/>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538" name="Shape 538"/>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539" name="Shape 539"/>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540" name="Shape 540"/>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541" name="Shape 541"/>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542" name="Shape 542"/>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543" name="Shape 543"/>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545" name="Shape 545"/>
          <p:cNvSpPr txBox="1"/>
          <p:nvPr/>
        </p:nvSpPr>
        <p:spPr>
          <a:xfrm>
            <a:off x="406295" y="11430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Find all multiplicative inverse pairs in Z</a:t>
            </a:r>
            <a:r>
              <a:rPr lang="en-US" sz="2900" b="1" baseline="-25000">
                <a:solidFill>
                  <a:schemeClr val="dk1"/>
                </a:solidFill>
                <a:latin typeface="Times New Roman"/>
                <a:ea typeface="Times New Roman"/>
                <a:cs typeface="Times New Roman"/>
                <a:sym typeface="Times New Roman"/>
              </a:rPr>
              <a:t>11</a:t>
            </a:r>
            <a:r>
              <a:rPr lang="en-US" sz="2900" b="1">
                <a:solidFill>
                  <a:schemeClr val="dk1"/>
                </a:solidFill>
                <a:latin typeface="Times New Roman"/>
                <a:ea typeface="Times New Roman"/>
                <a:cs typeface="Times New Roman"/>
                <a:sym typeface="Times New Roman"/>
              </a:rPr>
              <a:t>.</a:t>
            </a:r>
          </a:p>
        </p:txBody>
      </p:sp>
      <p:sp>
        <p:nvSpPr>
          <p:cNvPr id="546" name="Shape 546"/>
          <p:cNvSpPr txBox="1"/>
          <p:nvPr/>
        </p:nvSpPr>
        <p:spPr>
          <a:xfrm>
            <a:off x="406295" y="16764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hlink"/>
                </a:solidFill>
                <a:latin typeface="Times New Roman"/>
                <a:ea typeface="Times New Roman"/>
                <a:cs typeface="Times New Roman"/>
                <a:sym typeface="Times New Roman"/>
              </a:rPr>
              <a:t>Solution</a:t>
            </a:r>
          </a:p>
        </p:txBody>
      </p:sp>
      <p:sp>
        <p:nvSpPr>
          <p:cNvPr id="547" name="Shape 547"/>
          <p:cNvSpPr txBox="1"/>
          <p:nvPr/>
        </p:nvSpPr>
        <p:spPr>
          <a:xfrm>
            <a:off x="406295" y="2101850"/>
            <a:ext cx="10969943" cy="8223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We have seven pairs: (1, 1), (2, 6), (3, 4), (5, 9), (7, 8), (9, 9), and (10, 10). </a:t>
            </a:r>
          </a:p>
        </p:txBody>
      </p:sp>
      <p:sp>
        <p:nvSpPr>
          <p:cNvPr id="548" name="Shape 54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3"/>
        <p:cNvGrpSpPr/>
        <p:nvPr/>
      </p:nvGrpSpPr>
      <p:grpSpPr>
        <a:xfrm>
          <a:off x="0" y="0"/>
          <a:ext cx="0" cy="0"/>
          <a:chOff x="0" y="0"/>
          <a:chExt cx="0" cy="0"/>
        </a:xfrm>
      </p:grpSpPr>
      <p:sp>
        <p:nvSpPr>
          <p:cNvPr id="554" name="Shape 554"/>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555" name="Shape 555"/>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556" name="Shape 556"/>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557" name="Shape 557"/>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558" name="Shape 558"/>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559" name="Shape 559"/>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560" name="Shape 560"/>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cxnSp>
        <p:nvCxnSpPr>
          <p:cNvPr id="562" name="Shape 562"/>
          <p:cNvCxnSpPr/>
          <p:nvPr/>
        </p:nvCxnSpPr>
        <p:spPr>
          <a:xfrm>
            <a:off x="812589" y="23622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563" name="Shape 563"/>
          <p:cNvCxnSpPr/>
          <p:nvPr/>
        </p:nvCxnSpPr>
        <p:spPr>
          <a:xfrm>
            <a:off x="812589" y="5562600"/>
            <a:ext cx="10868368" cy="0"/>
          </a:xfrm>
          <a:prstGeom prst="straightConnector1">
            <a:avLst/>
          </a:prstGeom>
          <a:noFill/>
          <a:ln w="76200" cap="rnd" cmpd="sng">
            <a:solidFill>
              <a:srgbClr val="009900"/>
            </a:solidFill>
            <a:prstDash val="solid"/>
            <a:miter/>
            <a:headEnd type="none" w="med" len="med"/>
            <a:tailEnd type="none" w="med" len="med"/>
          </a:ln>
        </p:spPr>
      </p:cxnSp>
      <p:sp>
        <p:nvSpPr>
          <p:cNvPr id="564" name="Shape 564"/>
          <p:cNvSpPr txBox="1"/>
          <p:nvPr/>
        </p:nvSpPr>
        <p:spPr>
          <a:xfrm>
            <a:off x="863376" y="2424112"/>
            <a:ext cx="10766794" cy="3016199"/>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300" b="1" i="1" dirty="0">
                <a:solidFill>
                  <a:schemeClr val="dk1"/>
                </a:solidFill>
              </a:rPr>
              <a:t>The extended Euclidean algorithm finds the multiplicative inverses of b in Z</a:t>
            </a:r>
            <a:r>
              <a:rPr lang="en-US" sz="3300" b="1" i="1" baseline="-25000" dirty="0">
                <a:solidFill>
                  <a:schemeClr val="dk1"/>
                </a:solidFill>
              </a:rPr>
              <a:t>n</a:t>
            </a:r>
            <a:r>
              <a:rPr lang="en-US" sz="3300" b="1" i="1" dirty="0">
                <a:solidFill>
                  <a:schemeClr val="dk1"/>
                </a:solidFill>
              </a:rPr>
              <a:t> when n and b are given and </a:t>
            </a:r>
            <a:r>
              <a:rPr lang="en-US" sz="3300" b="1" i="1" dirty="0" err="1">
                <a:solidFill>
                  <a:schemeClr val="dk1"/>
                </a:solidFill>
              </a:rPr>
              <a:t>gcd</a:t>
            </a:r>
            <a:r>
              <a:rPr lang="en-US" sz="3300" b="1" i="1" dirty="0">
                <a:solidFill>
                  <a:schemeClr val="dk1"/>
                </a:solidFill>
              </a:rPr>
              <a:t> (n, b) = 1.</a:t>
            </a:r>
          </a:p>
          <a:p>
            <a:pPr algn="ctr">
              <a:buClr>
                <a:schemeClr val="dk1"/>
              </a:buClr>
              <a:buSzPct val="25000"/>
            </a:pPr>
            <a:r>
              <a:rPr lang="en-US" sz="3300" b="1" i="1" dirty="0">
                <a:solidFill>
                  <a:schemeClr val="dk1"/>
                </a:solidFill>
              </a:rPr>
              <a:t>The multiplicative inverse of b is the value of t after being mapped to Z</a:t>
            </a:r>
            <a:r>
              <a:rPr lang="en-US" sz="3300" b="1" i="1" baseline="-25000" dirty="0">
                <a:solidFill>
                  <a:schemeClr val="dk1"/>
                </a:solidFill>
              </a:rPr>
              <a:t>n</a:t>
            </a:r>
            <a:r>
              <a:rPr lang="en-US" sz="3300" b="1" i="1" dirty="0">
                <a:solidFill>
                  <a:schemeClr val="dk1"/>
                </a:solidFill>
              </a:rPr>
              <a:t>.</a:t>
            </a:r>
          </a:p>
        </p:txBody>
      </p:sp>
      <p:sp>
        <p:nvSpPr>
          <p:cNvPr id="565" name="Shape 565"/>
          <p:cNvSpPr txBox="1"/>
          <p:nvPr/>
        </p:nvSpPr>
        <p:spPr>
          <a:xfrm>
            <a:off x="1051710" y="1752600"/>
            <a:ext cx="1166095" cy="518999"/>
          </a:xfrm>
          <a:prstGeom prst="rect">
            <a:avLst/>
          </a:prstGeom>
          <a:noFill/>
          <a:ln>
            <a:noFill/>
          </a:ln>
        </p:spPr>
        <p:txBody>
          <a:bodyPr lIns="110350" tIns="55160" rIns="110350" bIns="55160" anchor="t" anchorCtr="0">
            <a:noAutofit/>
          </a:bodyPr>
          <a:lstStyle/>
          <a:p>
            <a:pPr>
              <a:buSzPct val="25000"/>
            </a:pPr>
            <a:r>
              <a:rPr lang="en-US" sz="3400" b="1" i="1">
                <a:solidFill>
                  <a:schemeClr val="hlink"/>
                </a:solidFill>
                <a:latin typeface="Times New Roman"/>
                <a:ea typeface="Times New Roman"/>
                <a:cs typeface="Times New Roman"/>
                <a:sym typeface="Times New Roman"/>
              </a:rPr>
              <a:t>Note</a:t>
            </a:r>
          </a:p>
        </p:txBody>
      </p:sp>
      <p:sp>
        <p:nvSpPr>
          <p:cNvPr id="566" name="Shape 56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Shape 554"/>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555" name="Shape 555"/>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556" name="Shape 556"/>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557" name="Shape 557"/>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558" name="Shape 558"/>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559" name="Shape 559"/>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560" name="Shape 560"/>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cxnSp>
        <p:nvCxnSpPr>
          <p:cNvPr id="562" name="Shape 562"/>
          <p:cNvCxnSpPr/>
          <p:nvPr/>
        </p:nvCxnSpPr>
        <p:spPr>
          <a:xfrm>
            <a:off x="812589" y="23622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563" name="Shape 563"/>
          <p:cNvCxnSpPr/>
          <p:nvPr/>
        </p:nvCxnSpPr>
        <p:spPr>
          <a:xfrm>
            <a:off x="812589" y="5562600"/>
            <a:ext cx="10868368" cy="0"/>
          </a:xfrm>
          <a:prstGeom prst="straightConnector1">
            <a:avLst/>
          </a:prstGeom>
          <a:noFill/>
          <a:ln w="76200" cap="rnd" cmpd="sng">
            <a:solidFill>
              <a:srgbClr val="009900"/>
            </a:solidFill>
            <a:prstDash val="solid"/>
            <a:miter/>
            <a:headEnd type="none" w="med" len="med"/>
            <a:tailEnd type="none" w="med" len="med"/>
          </a:ln>
        </p:spPr>
      </p:cxnSp>
      <p:sp>
        <p:nvSpPr>
          <p:cNvPr id="564" name="Shape 564"/>
          <p:cNvSpPr txBox="1"/>
          <p:nvPr/>
        </p:nvSpPr>
        <p:spPr>
          <a:xfrm>
            <a:off x="863376" y="2424112"/>
            <a:ext cx="10766794" cy="3016199"/>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300" b="1" i="1" dirty="0">
                <a:solidFill>
                  <a:schemeClr val="dk1"/>
                </a:solidFill>
              </a:rPr>
              <a:t>The extended Euclidean algorithm finds the multiplicative inverses of b in Z</a:t>
            </a:r>
            <a:r>
              <a:rPr lang="en-US" sz="3300" b="1" i="1" baseline="-25000" dirty="0">
                <a:solidFill>
                  <a:schemeClr val="dk1"/>
                </a:solidFill>
              </a:rPr>
              <a:t>n</a:t>
            </a:r>
            <a:r>
              <a:rPr lang="en-US" sz="3300" b="1" i="1" dirty="0">
                <a:solidFill>
                  <a:schemeClr val="dk1"/>
                </a:solidFill>
              </a:rPr>
              <a:t> when n and b are given and </a:t>
            </a:r>
            <a:r>
              <a:rPr lang="en-US" sz="3300" b="1" i="1" dirty="0" err="1">
                <a:solidFill>
                  <a:schemeClr val="dk1"/>
                </a:solidFill>
              </a:rPr>
              <a:t>gcd</a:t>
            </a:r>
            <a:r>
              <a:rPr lang="en-US" sz="3300" b="1" i="1" dirty="0">
                <a:solidFill>
                  <a:schemeClr val="dk1"/>
                </a:solidFill>
              </a:rPr>
              <a:t> (n, b) = 1.</a:t>
            </a:r>
          </a:p>
          <a:p>
            <a:pPr algn="ctr">
              <a:buClr>
                <a:schemeClr val="dk1"/>
              </a:buClr>
              <a:buSzPct val="25000"/>
            </a:pPr>
            <a:r>
              <a:rPr lang="en-US" sz="3300" b="1" i="1" dirty="0">
                <a:solidFill>
                  <a:schemeClr val="dk1"/>
                </a:solidFill>
              </a:rPr>
              <a:t>The multiplicative inverse of b is the value of t after being mapped to Z</a:t>
            </a:r>
            <a:r>
              <a:rPr lang="en-US" sz="3300" b="1" i="1" baseline="-25000" dirty="0">
                <a:solidFill>
                  <a:schemeClr val="dk1"/>
                </a:solidFill>
              </a:rPr>
              <a:t>n</a:t>
            </a:r>
            <a:r>
              <a:rPr lang="en-US" sz="3300" b="1" i="1" dirty="0">
                <a:solidFill>
                  <a:schemeClr val="dk1"/>
                </a:solidFill>
              </a:rPr>
              <a:t>.</a:t>
            </a:r>
          </a:p>
        </p:txBody>
      </p:sp>
      <p:sp>
        <p:nvSpPr>
          <p:cNvPr id="565" name="Shape 565"/>
          <p:cNvSpPr txBox="1"/>
          <p:nvPr/>
        </p:nvSpPr>
        <p:spPr>
          <a:xfrm>
            <a:off x="1051710" y="1752600"/>
            <a:ext cx="1166095" cy="518999"/>
          </a:xfrm>
          <a:prstGeom prst="rect">
            <a:avLst/>
          </a:prstGeom>
          <a:noFill/>
          <a:ln>
            <a:noFill/>
          </a:ln>
        </p:spPr>
        <p:txBody>
          <a:bodyPr lIns="110350" tIns="55160" rIns="110350" bIns="55160" anchor="t" anchorCtr="0">
            <a:noAutofit/>
          </a:bodyPr>
          <a:lstStyle/>
          <a:p>
            <a:pPr>
              <a:buSzPct val="25000"/>
            </a:pPr>
            <a:r>
              <a:rPr lang="en-US" sz="3400" b="1" i="1">
                <a:solidFill>
                  <a:schemeClr val="hlink"/>
                </a:solidFill>
                <a:latin typeface="Times New Roman"/>
                <a:ea typeface="Times New Roman"/>
                <a:cs typeface="Times New Roman"/>
                <a:sym typeface="Times New Roman"/>
              </a:rPr>
              <a:t>Note</a:t>
            </a:r>
          </a:p>
        </p:txBody>
      </p:sp>
      <p:sp>
        <p:nvSpPr>
          <p:cNvPr id="566" name="Shape 56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extLst>
      <p:ext uri="{BB962C8B-B14F-4D97-AF65-F5344CB8AC3E}">
        <p14:creationId xmlns:p14="http://schemas.microsoft.com/office/powerpoint/2010/main" val="764633816"/>
      </p:ext>
    </p:extLst>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1"/>
        <p:cNvGrpSpPr/>
        <p:nvPr/>
      </p:nvGrpSpPr>
      <p:grpSpPr>
        <a:xfrm>
          <a:off x="0" y="0"/>
          <a:ext cx="0" cy="0"/>
          <a:chOff x="0" y="0"/>
          <a:chExt cx="0" cy="0"/>
        </a:xfrm>
      </p:grpSpPr>
      <p:sp>
        <p:nvSpPr>
          <p:cNvPr id="572" name="Shape 572"/>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573" name="Shape 573"/>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574" name="Shape 574"/>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575" name="Shape 575"/>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576" name="Shape 576"/>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577" name="Shape 577"/>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578" name="Shape 578"/>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pic>
        <p:nvPicPr>
          <p:cNvPr id="580" name="Shape 580"/>
          <p:cNvPicPr preferRelativeResize="0"/>
          <p:nvPr/>
        </p:nvPicPr>
        <p:blipFill>
          <a:blip r:embed="rId3">
            <a:alphaModFix/>
          </a:blip>
          <a:stretch>
            <a:fillRect/>
          </a:stretch>
        </p:blipFill>
        <p:spPr>
          <a:xfrm>
            <a:off x="636952" y="1922461"/>
            <a:ext cx="10028269" cy="3792536"/>
          </a:xfrm>
          <a:prstGeom prst="rect">
            <a:avLst/>
          </a:prstGeom>
          <a:noFill/>
          <a:ln>
            <a:noFill/>
          </a:ln>
        </p:spPr>
      </p:pic>
      <p:sp>
        <p:nvSpPr>
          <p:cNvPr id="581" name="Shape 581"/>
          <p:cNvSpPr txBox="1"/>
          <p:nvPr/>
        </p:nvSpPr>
        <p:spPr>
          <a:xfrm>
            <a:off x="1320456" y="533400"/>
            <a:ext cx="10667221" cy="7620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imes New Roman"/>
                <a:ea typeface="Times New Roman"/>
                <a:cs typeface="Times New Roman"/>
                <a:sym typeface="Times New Roman"/>
              </a:rPr>
              <a:t>Figure </a:t>
            </a:r>
            <a:r>
              <a:rPr lang="en-US" sz="2400" b="1" i="1" dirty="0">
                <a:solidFill>
                  <a:schemeClr val="dk1"/>
                </a:solidFill>
                <a:latin typeface="Times New Roman"/>
                <a:ea typeface="Times New Roman"/>
                <a:cs typeface="Times New Roman"/>
                <a:sym typeface="Times New Roman"/>
              </a:rPr>
              <a:t>Using extended Euclidean algorithm to </a:t>
            </a:r>
            <a:br>
              <a:rPr lang="en-US" sz="2400" b="1" i="1" dirty="0">
                <a:solidFill>
                  <a:schemeClr val="dk1"/>
                </a:solidFill>
                <a:latin typeface="Times New Roman"/>
                <a:ea typeface="Times New Roman"/>
                <a:cs typeface="Times New Roman"/>
                <a:sym typeface="Times New Roman"/>
              </a:rPr>
            </a:br>
            <a:r>
              <a:rPr lang="en-US" sz="2400" b="1" i="1" dirty="0">
                <a:solidFill>
                  <a:schemeClr val="dk1"/>
                </a:solidFill>
                <a:latin typeface="Times New Roman"/>
                <a:ea typeface="Times New Roman"/>
                <a:cs typeface="Times New Roman"/>
                <a:sym typeface="Times New Roman"/>
              </a:rPr>
              <a:t>                          find multiplicative inverse</a:t>
            </a:r>
          </a:p>
        </p:txBody>
      </p:sp>
      <p:sp>
        <p:nvSpPr>
          <p:cNvPr id="582" name="Shape 582"/>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7"/>
        <p:cNvGrpSpPr/>
        <p:nvPr/>
      </p:nvGrpSpPr>
      <p:grpSpPr>
        <a:xfrm>
          <a:off x="0" y="0"/>
          <a:ext cx="0" cy="0"/>
          <a:chOff x="0" y="0"/>
          <a:chExt cx="0" cy="0"/>
        </a:xfrm>
      </p:grpSpPr>
      <p:sp>
        <p:nvSpPr>
          <p:cNvPr id="588" name="Shape 588"/>
          <p:cNvSpPr txBox="1"/>
          <p:nvPr/>
        </p:nvSpPr>
        <p:spPr>
          <a:xfrm>
            <a:off x="1523605" y="533400"/>
            <a:ext cx="2592123"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imes New Roman"/>
                <a:ea typeface="Times New Roman"/>
                <a:cs typeface="Times New Roman"/>
                <a:sym typeface="Times New Roman"/>
              </a:rPr>
              <a:t>Example </a:t>
            </a:r>
          </a:p>
        </p:txBody>
      </p:sp>
      <p:sp>
        <p:nvSpPr>
          <p:cNvPr id="589" name="Shape 589"/>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590" name="Shape 590"/>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591" name="Shape 591"/>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592" name="Shape 592"/>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593" name="Shape 593"/>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594" name="Shape 594"/>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595" name="Shape 595"/>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597" name="Shape 597"/>
          <p:cNvSpPr txBox="1"/>
          <p:nvPr/>
        </p:nvSpPr>
        <p:spPr>
          <a:xfrm>
            <a:off x="406295" y="10668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imes New Roman"/>
                <a:ea typeface="Times New Roman"/>
                <a:cs typeface="Times New Roman"/>
                <a:sym typeface="Times New Roman"/>
              </a:rPr>
              <a:t>Find the multiplicative inverse of 11 in Z</a:t>
            </a:r>
            <a:r>
              <a:rPr lang="en-US" sz="2900" b="1" baseline="-25000" dirty="0">
                <a:solidFill>
                  <a:schemeClr val="dk1"/>
                </a:solidFill>
                <a:latin typeface="Times New Roman"/>
                <a:ea typeface="Times New Roman"/>
                <a:cs typeface="Times New Roman"/>
                <a:sym typeface="Times New Roman"/>
              </a:rPr>
              <a:t>26</a:t>
            </a:r>
            <a:r>
              <a:rPr lang="en-US" sz="2900" b="1" dirty="0">
                <a:solidFill>
                  <a:schemeClr val="dk1"/>
                </a:solidFill>
                <a:latin typeface="Times New Roman"/>
                <a:ea typeface="Times New Roman"/>
                <a:cs typeface="Times New Roman"/>
                <a:sym typeface="Times New Roman"/>
              </a:rPr>
              <a:t>.</a:t>
            </a:r>
          </a:p>
        </p:txBody>
      </p:sp>
      <p:sp>
        <p:nvSpPr>
          <p:cNvPr id="598" name="Shape 598"/>
          <p:cNvSpPr txBox="1"/>
          <p:nvPr/>
        </p:nvSpPr>
        <p:spPr>
          <a:xfrm>
            <a:off x="406295" y="16002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hlink"/>
                </a:solidFill>
                <a:latin typeface="Times New Roman"/>
                <a:ea typeface="Times New Roman"/>
                <a:cs typeface="Times New Roman"/>
                <a:sym typeface="Times New Roman"/>
              </a:rPr>
              <a:t>Solution</a:t>
            </a:r>
          </a:p>
        </p:txBody>
      </p:sp>
      <p:sp>
        <p:nvSpPr>
          <p:cNvPr id="599" name="Shape 599"/>
          <p:cNvSpPr/>
          <p:nvPr/>
        </p:nvSpPr>
        <p:spPr>
          <a:xfrm>
            <a:off x="1015736" y="2057400"/>
            <a:ext cx="9954207" cy="3476700"/>
          </a:xfrm>
          <a:prstGeom prst="rect">
            <a:avLst/>
          </a:prstGeom>
          <a:noFill/>
          <a:ln>
            <a:noFill/>
          </a:ln>
        </p:spPr>
        <p:txBody>
          <a:bodyPr lIns="110350" tIns="110350" rIns="110350" bIns="110350" anchor="ctr" anchorCtr="0">
            <a:noAutofit/>
          </a:bodyPr>
          <a:lstStyle/>
          <a:p>
            <a:endParaRPr/>
          </a:p>
        </p:txBody>
      </p:sp>
      <p:sp>
        <p:nvSpPr>
          <p:cNvPr id="600" name="Shape 600"/>
          <p:cNvSpPr txBox="1"/>
          <p:nvPr/>
        </p:nvSpPr>
        <p:spPr>
          <a:xfrm>
            <a:off x="609442" y="57150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The gcd (26, 11) is 1; the inverse of 11 is </a:t>
            </a:r>
            <a:r>
              <a:rPr lang="en-US" sz="2900" b="1">
                <a:solidFill>
                  <a:schemeClr val="dk1"/>
                </a:solidFill>
              </a:rPr>
              <a:t>−</a:t>
            </a:r>
            <a:r>
              <a:rPr lang="en-US" sz="2900" b="1">
                <a:solidFill>
                  <a:schemeClr val="dk1"/>
                </a:solidFill>
                <a:latin typeface="Times New Roman"/>
                <a:ea typeface="Times New Roman"/>
                <a:cs typeface="Times New Roman"/>
                <a:sym typeface="Times New Roman"/>
              </a:rPr>
              <a:t>7 or 19.</a:t>
            </a:r>
          </a:p>
        </p:txBody>
      </p:sp>
      <p:sp>
        <p:nvSpPr>
          <p:cNvPr id="601" name="Shape 601"/>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pic>
        <p:nvPicPr>
          <p:cNvPr id="602" name="Shape 602"/>
          <p:cNvPicPr preferRelativeResize="0"/>
          <p:nvPr/>
        </p:nvPicPr>
        <p:blipFill>
          <a:blip r:embed="rId3">
            <a:alphaModFix/>
          </a:blip>
          <a:stretch>
            <a:fillRect/>
          </a:stretch>
        </p:blipFill>
        <p:spPr>
          <a:xfrm>
            <a:off x="914163" y="2238376"/>
            <a:ext cx="9954207" cy="3476625"/>
          </a:xfrm>
          <a:prstGeom prst="rect">
            <a:avLst/>
          </a:prstGeom>
          <a:noFill/>
          <a:ln>
            <a:noFill/>
          </a:ln>
        </p:spPr>
      </p:pic>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7"/>
        <p:cNvGrpSpPr/>
        <p:nvPr/>
      </p:nvGrpSpPr>
      <p:grpSpPr>
        <a:xfrm>
          <a:off x="0" y="0"/>
          <a:ext cx="0" cy="0"/>
          <a:chOff x="0" y="0"/>
          <a:chExt cx="0" cy="0"/>
        </a:xfrm>
      </p:grpSpPr>
      <p:sp>
        <p:nvSpPr>
          <p:cNvPr id="608" name="Shape 608"/>
          <p:cNvSpPr txBox="1"/>
          <p:nvPr/>
        </p:nvSpPr>
        <p:spPr>
          <a:xfrm>
            <a:off x="1523605" y="533400"/>
            <a:ext cx="2592123"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imes New Roman"/>
                <a:ea typeface="Times New Roman"/>
                <a:cs typeface="Times New Roman"/>
                <a:sym typeface="Times New Roman"/>
              </a:rPr>
              <a:t>Example </a:t>
            </a:r>
          </a:p>
        </p:txBody>
      </p:sp>
      <p:sp>
        <p:nvSpPr>
          <p:cNvPr id="609" name="Shape 609"/>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610" name="Shape 610"/>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611" name="Shape 611"/>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612" name="Shape 612"/>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613" name="Shape 613"/>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614" name="Shape 614"/>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615" name="Shape 615"/>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617" name="Shape 617"/>
          <p:cNvSpPr txBox="1"/>
          <p:nvPr/>
        </p:nvSpPr>
        <p:spPr>
          <a:xfrm>
            <a:off x="406295" y="10668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imes New Roman"/>
                <a:ea typeface="Times New Roman"/>
                <a:cs typeface="Times New Roman"/>
                <a:sym typeface="Times New Roman"/>
              </a:rPr>
              <a:t>Find the multiplicative inverse of 23 in Z</a:t>
            </a:r>
            <a:r>
              <a:rPr lang="en-US" sz="2900" b="1" baseline="-25000" dirty="0">
                <a:solidFill>
                  <a:schemeClr val="dk1"/>
                </a:solidFill>
                <a:latin typeface="Times New Roman"/>
                <a:ea typeface="Times New Roman"/>
                <a:cs typeface="Times New Roman"/>
                <a:sym typeface="Times New Roman"/>
              </a:rPr>
              <a:t>100</a:t>
            </a:r>
            <a:r>
              <a:rPr lang="en-US" sz="2900" b="1" dirty="0">
                <a:solidFill>
                  <a:schemeClr val="dk1"/>
                </a:solidFill>
                <a:latin typeface="Times New Roman"/>
                <a:ea typeface="Times New Roman"/>
                <a:cs typeface="Times New Roman"/>
                <a:sym typeface="Times New Roman"/>
              </a:rPr>
              <a:t>.</a:t>
            </a:r>
          </a:p>
        </p:txBody>
      </p:sp>
      <p:sp>
        <p:nvSpPr>
          <p:cNvPr id="618" name="Shape 618"/>
          <p:cNvSpPr txBox="1"/>
          <p:nvPr/>
        </p:nvSpPr>
        <p:spPr>
          <a:xfrm>
            <a:off x="406295" y="16002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hlink"/>
                </a:solidFill>
                <a:latin typeface="Times New Roman"/>
                <a:ea typeface="Times New Roman"/>
                <a:cs typeface="Times New Roman"/>
                <a:sym typeface="Times New Roman"/>
              </a:rPr>
              <a:t>Solution</a:t>
            </a:r>
          </a:p>
        </p:txBody>
      </p:sp>
      <p:sp>
        <p:nvSpPr>
          <p:cNvPr id="619" name="Shape 619"/>
          <p:cNvSpPr txBox="1"/>
          <p:nvPr/>
        </p:nvSpPr>
        <p:spPr>
          <a:xfrm>
            <a:off x="609442" y="57150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The gcd (100, 23) is 1; the inverse of 23 is </a:t>
            </a:r>
            <a:r>
              <a:rPr lang="en-US" sz="2900" b="1">
                <a:solidFill>
                  <a:schemeClr val="dk1"/>
                </a:solidFill>
              </a:rPr>
              <a:t>−</a:t>
            </a:r>
            <a:r>
              <a:rPr lang="en-US" sz="2900" b="1">
                <a:solidFill>
                  <a:schemeClr val="dk1"/>
                </a:solidFill>
                <a:latin typeface="Times New Roman"/>
                <a:ea typeface="Times New Roman"/>
                <a:cs typeface="Times New Roman"/>
                <a:sym typeface="Times New Roman"/>
              </a:rPr>
              <a:t>13 or 87.</a:t>
            </a:r>
          </a:p>
        </p:txBody>
      </p:sp>
      <p:sp>
        <p:nvSpPr>
          <p:cNvPr id="620" name="Shape 620"/>
          <p:cNvSpPr/>
          <p:nvPr/>
        </p:nvSpPr>
        <p:spPr>
          <a:xfrm>
            <a:off x="129081" y="2138362"/>
            <a:ext cx="11856512" cy="3424199"/>
          </a:xfrm>
          <a:prstGeom prst="rect">
            <a:avLst/>
          </a:prstGeom>
          <a:noFill/>
          <a:ln>
            <a:noFill/>
          </a:ln>
        </p:spPr>
        <p:txBody>
          <a:bodyPr lIns="110350" tIns="110350" rIns="110350" bIns="110350" anchor="ctr" anchorCtr="0">
            <a:noAutofit/>
          </a:bodyPr>
          <a:lstStyle/>
          <a:p>
            <a:endParaRPr/>
          </a:p>
        </p:txBody>
      </p:sp>
      <p:sp>
        <p:nvSpPr>
          <p:cNvPr id="621" name="Shape 621"/>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pic>
        <p:nvPicPr>
          <p:cNvPr id="622" name="Shape 622"/>
          <p:cNvPicPr preferRelativeResize="0"/>
          <p:nvPr/>
        </p:nvPicPr>
        <p:blipFill>
          <a:blip r:embed="rId3">
            <a:alphaModFix/>
          </a:blip>
          <a:stretch>
            <a:fillRect/>
          </a:stretch>
        </p:blipFill>
        <p:spPr>
          <a:xfrm>
            <a:off x="128017" y="2295526"/>
            <a:ext cx="11858711" cy="3419475"/>
          </a:xfrm>
          <a:prstGeom prst="rect">
            <a:avLst/>
          </a:prstGeom>
          <a:noFill/>
          <a:ln>
            <a:noFill/>
          </a:ln>
        </p:spPr>
      </p:pic>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7"/>
        <p:cNvGrpSpPr/>
        <p:nvPr/>
      </p:nvGrpSpPr>
      <p:grpSpPr>
        <a:xfrm>
          <a:off x="0" y="0"/>
          <a:ext cx="0" cy="0"/>
          <a:chOff x="0" y="0"/>
          <a:chExt cx="0" cy="0"/>
        </a:xfrm>
      </p:grpSpPr>
      <p:sp>
        <p:nvSpPr>
          <p:cNvPr id="628" name="Shape 628"/>
          <p:cNvSpPr txBox="1"/>
          <p:nvPr/>
        </p:nvSpPr>
        <p:spPr>
          <a:xfrm>
            <a:off x="1523605" y="533400"/>
            <a:ext cx="2592123"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imes New Roman"/>
                <a:ea typeface="Times New Roman"/>
                <a:cs typeface="Times New Roman"/>
                <a:sym typeface="Times New Roman"/>
              </a:rPr>
              <a:t>Example </a:t>
            </a:r>
          </a:p>
        </p:txBody>
      </p:sp>
      <p:sp>
        <p:nvSpPr>
          <p:cNvPr id="629" name="Shape 629"/>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630" name="Shape 630"/>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631" name="Shape 631"/>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632" name="Shape 632"/>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633" name="Shape 633"/>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634" name="Shape 634"/>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635" name="Shape 635"/>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637" name="Shape 637"/>
          <p:cNvSpPr txBox="1"/>
          <p:nvPr/>
        </p:nvSpPr>
        <p:spPr>
          <a:xfrm>
            <a:off x="406295" y="10668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Find the inverse of 12 in Z</a:t>
            </a:r>
            <a:r>
              <a:rPr lang="en-US" sz="2900" b="1" baseline="-25000">
                <a:solidFill>
                  <a:schemeClr val="dk1"/>
                </a:solidFill>
                <a:latin typeface="Times New Roman"/>
                <a:ea typeface="Times New Roman"/>
                <a:cs typeface="Times New Roman"/>
                <a:sym typeface="Times New Roman"/>
              </a:rPr>
              <a:t>26</a:t>
            </a:r>
            <a:r>
              <a:rPr lang="en-US" sz="2900" b="1">
                <a:solidFill>
                  <a:schemeClr val="dk1"/>
                </a:solidFill>
                <a:latin typeface="Times New Roman"/>
                <a:ea typeface="Times New Roman"/>
                <a:cs typeface="Times New Roman"/>
                <a:sym typeface="Times New Roman"/>
              </a:rPr>
              <a:t>.</a:t>
            </a:r>
          </a:p>
        </p:txBody>
      </p:sp>
      <p:sp>
        <p:nvSpPr>
          <p:cNvPr id="638" name="Shape 638"/>
          <p:cNvSpPr txBox="1"/>
          <p:nvPr/>
        </p:nvSpPr>
        <p:spPr>
          <a:xfrm>
            <a:off x="406295" y="16002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hlink"/>
                </a:solidFill>
                <a:latin typeface="Times New Roman"/>
                <a:ea typeface="Times New Roman"/>
                <a:cs typeface="Times New Roman"/>
                <a:sym typeface="Times New Roman"/>
              </a:rPr>
              <a:t>Solution</a:t>
            </a:r>
          </a:p>
        </p:txBody>
      </p:sp>
      <p:sp>
        <p:nvSpPr>
          <p:cNvPr id="639" name="Shape 639"/>
          <p:cNvSpPr txBox="1"/>
          <p:nvPr/>
        </p:nvSpPr>
        <p:spPr>
          <a:xfrm>
            <a:off x="609442" y="5029200"/>
            <a:ext cx="10969943"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imes New Roman"/>
                <a:ea typeface="Times New Roman"/>
                <a:cs typeface="Times New Roman"/>
                <a:sym typeface="Times New Roman"/>
              </a:rPr>
              <a:t>The gcd (26, 12) is 2; the inverse does not exist.</a:t>
            </a:r>
          </a:p>
        </p:txBody>
      </p:sp>
      <p:pic>
        <p:nvPicPr>
          <p:cNvPr id="640" name="Shape 640"/>
          <p:cNvPicPr preferRelativeResize="0"/>
          <p:nvPr/>
        </p:nvPicPr>
        <p:blipFill>
          <a:blip r:embed="rId3">
            <a:alphaModFix/>
          </a:blip>
          <a:stretch>
            <a:fillRect/>
          </a:stretch>
        </p:blipFill>
        <p:spPr>
          <a:xfrm>
            <a:off x="162941" y="2360612"/>
            <a:ext cx="11721161" cy="2317749"/>
          </a:xfrm>
          <a:prstGeom prst="rect">
            <a:avLst/>
          </a:prstGeom>
          <a:noFill/>
          <a:ln>
            <a:noFill/>
          </a:ln>
        </p:spPr>
      </p:pic>
      <p:sp>
        <p:nvSpPr>
          <p:cNvPr id="641" name="Shape 641"/>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6"/>
        <p:cNvGrpSpPr/>
        <p:nvPr/>
      </p:nvGrpSpPr>
      <p:grpSpPr>
        <a:xfrm>
          <a:off x="0" y="0"/>
          <a:ext cx="0" cy="0"/>
          <a:chOff x="0" y="0"/>
          <a:chExt cx="0" cy="0"/>
        </a:xfrm>
      </p:grpSpPr>
      <p:sp>
        <p:nvSpPr>
          <p:cNvPr id="647" name="Shape 647"/>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648" name="Shape 648"/>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649" name="Shape 649"/>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650" name="Shape 650"/>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651" name="Shape 651"/>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652" name="Shape 652"/>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653" name="Shape 653"/>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654" name="Shape 654"/>
          <p:cNvSpPr txBox="1"/>
          <p:nvPr/>
        </p:nvSpPr>
        <p:spPr>
          <a:xfrm>
            <a:off x="1523603" y="0"/>
            <a:ext cx="10665222" cy="579300"/>
          </a:xfrm>
          <a:prstGeom prst="rect">
            <a:avLst/>
          </a:prstGeom>
          <a:noFill/>
          <a:ln>
            <a:noFill/>
          </a:ln>
        </p:spPr>
        <p:txBody>
          <a:bodyPr lIns="110350" tIns="55160" rIns="110350" bIns="55160" anchor="t" anchorCtr="0">
            <a:noAutofit/>
          </a:bodyPr>
          <a:lstStyle/>
          <a:p>
            <a:pPr>
              <a:buClr>
                <a:schemeClr val="dk1"/>
              </a:buClr>
              <a:buSzPct val="25000"/>
            </a:pPr>
            <a:r>
              <a:rPr lang="en-US" sz="3900" b="1" i="1" dirty="0">
                <a:solidFill>
                  <a:schemeClr val="hlink"/>
                </a:solidFill>
                <a:latin typeface="Times New Roman"/>
                <a:ea typeface="Times New Roman"/>
                <a:cs typeface="Times New Roman"/>
                <a:sym typeface="Times New Roman"/>
              </a:rPr>
              <a:t>Addition and Multiplication Tables</a:t>
            </a:r>
            <a:r>
              <a:rPr lang="en-US" sz="3900" b="1" i="1" dirty="0">
                <a:solidFill>
                  <a:schemeClr val="dk1"/>
                </a:solidFill>
                <a:latin typeface="Times New Roman"/>
                <a:ea typeface="Times New Roman"/>
                <a:cs typeface="Times New Roman"/>
                <a:sym typeface="Times New Roman"/>
              </a:rPr>
              <a:t> </a:t>
            </a:r>
          </a:p>
        </p:txBody>
      </p:sp>
      <p:pic>
        <p:nvPicPr>
          <p:cNvPr id="655" name="Shape 655"/>
          <p:cNvPicPr preferRelativeResize="0"/>
          <p:nvPr/>
        </p:nvPicPr>
        <p:blipFill>
          <a:blip r:embed="rId3">
            <a:alphaModFix/>
          </a:blip>
          <a:stretch>
            <a:fillRect/>
          </a:stretch>
        </p:blipFill>
        <p:spPr>
          <a:xfrm>
            <a:off x="1314109" y="2000251"/>
            <a:ext cx="8640097" cy="3257550"/>
          </a:xfrm>
          <a:prstGeom prst="rect">
            <a:avLst/>
          </a:prstGeom>
          <a:noFill/>
          <a:ln>
            <a:noFill/>
          </a:ln>
        </p:spPr>
      </p:pic>
      <p:sp>
        <p:nvSpPr>
          <p:cNvPr id="656" name="Shape 656"/>
          <p:cNvSpPr txBox="1"/>
          <p:nvPr/>
        </p:nvSpPr>
        <p:spPr>
          <a:xfrm>
            <a:off x="1521466" y="533400"/>
            <a:ext cx="10121362"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imes New Roman"/>
                <a:ea typeface="Times New Roman"/>
                <a:cs typeface="Times New Roman"/>
                <a:sym typeface="Times New Roman"/>
              </a:rPr>
              <a:t>Figure  </a:t>
            </a:r>
            <a:r>
              <a:rPr lang="en-US" sz="2400" b="1" i="1" dirty="0">
                <a:solidFill>
                  <a:schemeClr val="dk1"/>
                </a:solidFill>
                <a:latin typeface="Times New Roman"/>
                <a:ea typeface="Times New Roman"/>
                <a:cs typeface="Times New Roman"/>
                <a:sym typeface="Times New Roman"/>
              </a:rPr>
              <a:t>Addition and multiplication table for Z</a:t>
            </a:r>
            <a:r>
              <a:rPr lang="en-US" sz="2400" b="1" i="1" baseline="-25000" dirty="0">
                <a:solidFill>
                  <a:schemeClr val="dk1"/>
                </a:solidFill>
                <a:latin typeface="Times New Roman"/>
                <a:ea typeface="Times New Roman"/>
                <a:cs typeface="Times New Roman"/>
                <a:sym typeface="Times New Roman"/>
              </a:rPr>
              <a:t>10</a:t>
            </a:r>
          </a:p>
        </p:txBody>
      </p:sp>
      <p:sp>
        <p:nvSpPr>
          <p:cNvPr id="657" name="Shape 65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2"/>
        <p:cNvGrpSpPr/>
        <p:nvPr/>
      </p:nvGrpSpPr>
      <p:grpSpPr>
        <a:xfrm>
          <a:off x="0" y="0"/>
          <a:ext cx="0" cy="0"/>
          <a:chOff x="0" y="0"/>
          <a:chExt cx="0" cy="0"/>
        </a:xfrm>
      </p:grpSpPr>
      <p:sp>
        <p:nvSpPr>
          <p:cNvPr id="663" name="Shape 663"/>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664" name="Shape 664"/>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665" name="Shape 665"/>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666" name="Shape 666"/>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667" name="Shape 667"/>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668" name="Shape 668"/>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669" name="Shape 669"/>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670" name="Shape 670"/>
          <p:cNvSpPr txBox="1"/>
          <p:nvPr/>
        </p:nvSpPr>
        <p:spPr>
          <a:xfrm>
            <a:off x="1523604" y="0"/>
            <a:ext cx="4955909" cy="579300"/>
          </a:xfrm>
          <a:prstGeom prst="rect">
            <a:avLst/>
          </a:prstGeom>
          <a:noFill/>
          <a:ln>
            <a:noFill/>
          </a:ln>
        </p:spPr>
        <p:txBody>
          <a:bodyPr lIns="110350" tIns="55160" rIns="110350" bIns="55160" anchor="t" anchorCtr="0">
            <a:noAutofit/>
          </a:bodyPr>
          <a:lstStyle/>
          <a:p>
            <a:pPr>
              <a:buClr>
                <a:schemeClr val="dk1"/>
              </a:buClr>
              <a:buSzPct val="25000"/>
            </a:pPr>
            <a:r>
              <a:rPr lang="en-US" sz="3900" b="1" i="1" dirty="0">
                <a:solidFill>
                  <a:schemeClr val="hlink"/>
                </a:solidFill>
                <a:latin typeface="Times New Roman"/>
                <a:ea typeface="Times New Roman"/>
                <a:cs typeface="Times New Roman"/>
                <a:sym typeface="Times New Roman"/>
              </a:rPr>
              <a:t>Different Sets</a:t>
            </a:r>
            <a:r>
              <a:rPr lang="en-US" sz="3900" b="1" i="1" dirty="0">
                <a:solidFill>
                  <a:schemeClr val="dk1"/>
                </a:solidFill>
                <a:latin typeface="Times New Roman"/>
                <a:ea typeface="Times New Roman"/>
                <a:cs typeface="Times New Roman"/>
                <a:sym typeface="Times New Roman"/>
              </a:rPr>
              <a:t> </a:t>
            </a:r>
          </a:p>
        </p:txBody>
      </p:sp>
      <p:sp>
        <p:nvSpPr>
          <p:cNvPr id="671" name="Shape 671"/>
          <p:cNvSpPr txBox="1"/>
          <p:nvPr/>
        </p:nvSpPr>
        <p:spPr>
          <a:xfrm>
            <a:off x="1521487" y="533400"/>
            <a:ext cx="5322212"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imes New Roman"/>
                <a:ea typeface="Times New Roman"/>
                <a:cs typeface="Times New Roman"/>
                <a:sym typeface="Times New Roman"/>
              </a:rPr>
              <a:t>Figure </a:t>
            </a:r>
            <a:r>
              <a:rPr lang="en-US" sz="2400" b="1" i="1" dirty="0">
                <a:solidFill>
                  <a:schemeClr val="dk1"/>
                </a:solidFill>
                <a:latin typeface="Times New Roman"/>
                <a:ea typeface="Times New Roman"/>
                <a:cs typeface="Times New Roman"/>
                <a:sym typeface="Times New Roman"/>
              </a:rPr>
              <a:t>Some Z</a:t>
            </a:r>
            <a:r>
              <a:rPr lang="en-US" sz="2400" b="1" i="1" baseline="-25000" dirty="0">
                <a:solidFill>
                  <a:schemeClr val="dk1"/>
                </a:solidFill>
                <a:latin typeface="Times New Roman"/>
                <a:ea typeface="Times New Roman"/>
                <a:cs typeface="Times New Roman"/>
                <a:sym typeface="Times New Roman"/>
              </a:rPr>
              <a:t>n</a:t>
            </a:r>
            <a:r>
              <a:rPr lang="en-US" sz="2400" b="1" i="1" dirty="0">
                <a:solidFill>
                  <a:schemeClr val="dk1"/>
                </a:solidFill>
                <a:latin typeface="Times New Roman"/>
                <a:ea typeface="Times New Roman"/>
                <a:cs typeface="Times New Roman"/>
                <a:sym typeface="Times New Roman"/>
              </a:rPr>
              <a:t> and Z</a:t>
            </a:r>
            <a:r>
              <a:rPr lang="en-US" sz="2400" b="1" i="1" baseline="-25000" dirty="0">
                <a:solidFill>
                  <a:schemeClr val="dk1"/>
                </a:solidFill>
                <a:latin typeface="Times New Roman"/>
                <a:ea typeface="Times New Roman"/>
                <a:cs typeface="Times New Roman"/>
                <a:sym typeface="Times New Roman"/>
              </a:rPr>
              <a:t>n*</a:t>
            </a:r>
            <a:r>
              <a:rPr lang="en-US" sz="2400" b="1" i="1" dirty="0">
                <a:solidFill>
                  <a:schemeClr val="dk1"/>
                </a:solidFill>
                <a:latin typeface="Times New Roman"/>
                <a:ea typeface="Times New Roman"/>
                <a:cs typeface="Times New Roman"/>
                <a:sym typeface="Times New Roman"/>
              </a:rPr>
              <a:t> sets</a:t>
            </a:r>
          </a:p>
        </p:txBody>
      </p:sp>
      <p:pic>
        <p:nvPicPr>
          <p:cNvPr id="672" name="Shape 672"/>
          <p:cNvPicPr preferRelativeResize="0"/>
          <p:nvPr/>
        </p:nvPicPr>
        <p:blipFill>
          <a:blip r:embed="rId3">
            <a:alphaModFix/>
          </a:blip>
          <a:stretch>
            <a:fillRect/>
          </a:stretch>
        </p:blipFill>
        <p:spPr>
          <a:xfrm>
            <a:off x="1422030" y="1295401"/>
            <a:ext cx="8737440" cy="2079625"/>
          </a:xfrm>
          <a:prstGeom prst="rect">
            <a:avLst/>
          </a:prstGeom>
          <a:noFill/>
          <a:ln>
            <a:noFill/>
          </a:ln>
        </p:spPr>
      </p:pic>
      <p:cxnSp>
        <p:nvCxnSpPr>
          <p:cNvPr id="673" name="Shape 673"/>
          <p:cNvCxnSpPr/>
          <p:nvPr/>
        </p:nvCxnSpPr>
        <p:spPr>
          <a:xfrm>
            <a:off x="812589" y="4724400"/>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674" name="Shape 674"/>
          <p:cNvCxnSpPr/>
          <p:nvPr/>
        </p:nvCxnSpPr>
        <p:spPr>
          <a:xfrm>
            <a:off x="812589" y="6400800"/>
            <a:ext cx="10868368" cy="0"/>
          </a:xfrm>
          <a:prstGeom prst="straightConnector1">
            <a:avLst/>
          </a:prstGeom>
          <a:noFill/>
          <a:ln w="76200" cap="rnd" cmpd="sng">
            <a:solidFill>
              <a:srgbClr val="009900"/>
            </a:solidFill>
            <a:prstDash val="solid"/>
            <a:miter/>
            <a:headEnd type="none" w="med" len="med"/>
            <a:tailEnd type="none" w="med" len="med"/>
          </a:ln>
        </p:spPr>
      </p:cxnSp>
      <p:sp>
        <p:nvSpPr>
          <p:cNvPr id="675" name="Shape 675"/>
          <p:cNvSpPr txBox="1"/>
          <p:nvPr/>
        </p:nvSpPr>
        <p:spPr>
          <a:xfrm>
            <a:off x="863376" y="4786313"/>
            <a:ext cx="10766794" cy="1554300"/>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3500" b="1" i="1" dirty="0">
                <a:solidFill>
                  <a:schemeClr val="dk1"/>
                </a:solidFill>
              </a:rPr>
              <a:t>We need to use Zn when additive inverses are needed; we need to use Zn* when multiplicative inverses are needed.</a:t>
            </a:r>
          </a:p>
        </p:txBody>
      </p:sp>
      <p:sp>
        <p:nvSpPr>
          <p:cNvPr id="676" name="Shape 676"/>
          <p:cNvSpPr txBox="1"/>
          <p:nvPr/>
        </p:nvSpPr>
        <p:spPr>
          <a:xfrm>
            <a:off x="1051710" y="4114801"/>
            <a:ext cx="1166095" cy="518999"/>
          </a:xfrm>
          <a:prstGeom prst="rect">
            <a:avLst/>
          </a:prstGeom>
          <a:noFill/>
          <a:ln>
            <a:noFill/>
          </a:ln>
        </p:spPr>
        <p:txBody>
          <a:bodyPr lIns="110350" tIns="55160" rIns="110350" bIns="55160" anchor="t" anchorCtr="0">
            <a:noAutofit/>
          </a:bodyPr>
          <a:lstStyle/>
          <a:p>
            <a:pPr>
              <a:buSzPct val="25000"/>
            </a:pPr>
            <a:r>
              <a:rPr lang="en-US" sz="3400" b="1" i="1">
                <a:solidFill>
                  <a:schemeClr val="hlink"/>
                </a:solidFill>
                <a:latin typeface="Times New Roman"/>
                <a:ea typeface="Times New Roman"/>
                <a:cs typeface="Times New Roman"/>
                <a:sym typeface="Times New Roman"/>
              </a:rPr>
              <a:t>Note</a:t>
            </a:r>
          </a:p>
        </p:txBody>
      </p:sp>
      <p:sp>
        <p:nvSpPr>
          <p:cNvPr id="677" name="Shape 67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2"/>
        <p:cNvGrpSpPr/>
        <p:nvPr/>
      </p:nvGrpSpPr>
      <p:grpSpPr>
        <a:xfrm>
          <a:off x="0" y="0"/>
          <a:ext cx="0" cy="0"/>
          <a:chOff x="0" y="0"/>
          <a:chExt cx="0" cy="0"/>
        </a:xfrm>
      </p:grpSpPr>
      <p:sp>
        <p:nvSpPr>
          <p:cNvPr id="683" name="Shape 683"/>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684" name="Shape 684"/>
          <p:cNvSpPr txBox="1"/>
          <p:nvPr/>
        </p:nvSpPr>
        <p:spPr>
          <a:xfrm>
            <a:off x="998808" y="107950"/>
            <a:ext cx="437885" cy="474599"/>
          </a:xfrm>
          <a:prstGeom prst="rect">
            <a:avLst/>
          </a:prstGeom>
          <a:gradFill>
            <a:gsLst>
              <a:gs pos="0">
                <a:schemeClr val="lt1"/>
              </a:gs>
              <a:gs pos="100000">
                <a:schemeClr val="accent2"/>
              </a:gs>
            </a:gsLst>
            <a:lin ang="10800024" scaled="0"/>
          </a:gradFill>
          <a:ln>
            <a:noFill/>
          </a:ln>
        </p:spPr>
        <p:txBody>
          <a:bodyPr lIns="110350" tIns="55160" rIns="110350" bIns="55160" anchor="ctr" anchorCtr="0">
            <a:noAutofit/>
          </a:bodyPr>
          <a:lstStyle/>
          <a:p>
            <a:endParaRPr/>
          </a:p>
        </p:txBody>
      </p:sp>
      <p:sp>
        <p:nvSpPr>
          <p:cNvPr id="685" name="Shape 685"/>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686" name="Shape 686"/>
          <p:cNvSpPr txBox="1"/>
          <p:nvPr/>
        </p:nvSpPr>
        <p:spPr>
          <a:xfrm>
            <a:off x="1146935" y="530226"/>
            <a:ext cx="491072" cy="474599"/>
          </a:xfrm>
          <a:prstGeom prst="rect">
            <a:avLst/>
          </a:prstGeom>
          <a:gradFill>
            <a:gsLst>
              <a:gs pos="0">
                <a:schemeClr val="lt1"/>
              </a:gs>
              <a:gs pos="100000">
                <a:schemeClr val="folHlink"/>
              </a:gs>
            </a:gsLst>
            <a:lin ang="10800024" scaled="0"/>
          </a:gradFill>
          <a:ln>
            <a:noFill/>
          </a:ln>
        </p:spPr>
        <p:txBody>
          <a:bodyPr lIns="110350" tIns="55160" rIns="110350" bIns="55160" anchor="ctr" anchorCtr="0">
            <a:noAutofit/>
          </a:bodyPr>
          <a:lstStyle/>
          <a:p>
            <a:endParaRPr/>
          </a:p>
        </p:txBody>
      </p:sp>
      <p:sp>
        <p:nvSpPr>
          <p:cNvPr id="687" name="Shape 687"/>
          <p:cNvSpPr txBox="1"/>
          <p:nvPr/>
        </p:nvSpPr>
        <p:spPr>
          <a:xfrm>
            <a:off x="101575" y="457201"/>
            <a:ext cx="747005" cy="422399"/>
          </a:xfrm>
          <a:prstGeom prst="rect">
            <a:avLst/>
          </a:prstGeom>
          <a:gradFill>
            <a:gsLst>
              <a:gs pos="0">
                <a:schemeClr val="hlink"/>
              </a:gs>
              <a:gs pos="100000">
                <a:schemeClr val="lt1"/>
              </a:gs>
            </a:gsLst>
            <a:lin ang="8100018" scaled="0"/>
          </a:gradFill>
          <a:ln>
            <a:noFill/>
          </a:ln>
        </p:spPr>
        <p:txBody>
          <a:bodyPr lIns="110350" tIns="55160" rIns="110350" bIns="55160" anchor="ctr" anchorCtr="0">
            <a:noAutofit/>
          </a:bodyPr>
          <a:lstStyle/>
          <a:p>
            <a:endParaRPr/>
          </a:p>
        </p:txBody>
      </p:sp>
      <p:sp>
        <p:nvSpPr>
          <p:cNvPr id="688" name="Shape 688"/>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689" name="Shape 689"/>
          <p:cNvSpPr txBox="1"/>
          <p:nvPr/>
        </p:nvSpPr>
        <p:spPr>
          <a:xfrm>
            <a:off x="590395" y="533401"/>
            <a:ext cx="10965544" cy="31799"/>
          </a:xfrm>
          <a:prstGeom prst="rect">
            <a:avLst/>
          </a:prstGeom>
          <a:gradFill>
            <a:gsLst>
              <a:gs pos="0">
                <a:schemeClr val="lt1"/>
              </a:gs>
              <a:gs pos="100000">
                <a:schemeClr val="lt2"/>
              </a:gs>
            </a:gsLst>
            <a:lin ang="10800024" scaled="0"/>
          </a:gradFill>
          <a:ln>
            <a:noFill/>
          </a:ln>
        </p:spPr>
        <p:txBody>
          <a:bodyPr lIns="110350" tIns="55160" rIns="110350" bIns="55160" anchor="ctr" anchorCtr="0">
            <a:noAutofit/>
          </a:bodyPr>
          <a:lstStyle/>
          <a:p>
            <a:endParaRPr/>
          </a:p>
        </p:txBody>
      </p:sp>
      <p:sp>
        <p:nvSpPr>
          <p:cNvPr id="690" name="Shape 690"/>
          <p:cNvSpPr txBox="1"/>
          <p:nvPr/>
        </p:nvSpPr>
        <p:spPr>
          <a:xfrm>
            <a:off x="1523603" y="0"/>
            <a:ext cx="5214242" cy="579300"/>
          </a:xfrm>
          <a:prstGeom prst="rect">
            <a:avLst/>
          </a:prstGeom>
          <a:noFill/>
          <a:ln>
            <a:noFill/>
          </a:ln>
        </p:spPr>
        <p:txBody>
          <a:bodyPr lIns="110350" tIns="55160" rIns="110350" bIns="55160" anchor="t" anchorCtr="0">
            <a:noAutofit/>
          </a:bodyPr>
          <a:lstStyle/>
          <a:p>
            <a:pPr>
              <a:buClr>
                <a:schemeClr val="dk1"/>
              </a:buClr>
              <a:buSzPct val="25000"/>
            </a:pPr>
            <a:r>
              <a:rPr lang="en-US" sz="3900" b="1" i="1" dirty="0">
                <a:solidFill>
                  <a:schemeClr val="hlink"/>
                </a:solidFill>
                <a:latin typeface="Times New Roman"/>
                <a:ea typeface="Times New Roman"/>
                <a:cs typeface="Times New Roman"/>
                <a:sym typeface="Times New Roman"/>
              </a:rPr>
              <a:t>Two More Sets</a:t>
            </a:r>
            <a:r>
              <a:rPr lang="en-US" sz="3900" b="1" i="1" dirty="0">
                <a:solidFill>
                  <a:schemeClr val="dk1"/>
                </a:solidFill>
                <a:latin typeface="Times New Roman"/>
                <a:ea typeface="Times New Roman"/>
                <a:cs typeface="Times New Roman"/>
                <a:sym typeface="Times New Roman"/>
              </a:rPr>
              <a:t> </a:t>
            </a:r>
          </a:p>
        </p:txBody>
      </p:sp>
      <p:sp>
        <p:nvSpPr>
          <p:cNvPr id="691" name="Shape 691"/>
          <p:cNvSpPr txBox="1"/>
          <p:nvPr/>
        </p:nvSpPr>
        <p:spPr>
          <a:xfrm>
            <a:off x="406295" y="1219200"/>
            <a:ext cx="10969943" cy="946200"/>
          </a:xfrm>
          <a:prstGeom prst="rect">
            <a:avLst/>
          </a:prstGeom>
          <a:noFill/>
          <a:ln>
            <a:noFill/>
          </a:ln>
        </p:spPr>
        <p:txBody>
          <a:bodyPr lIns="110350" tIns="55160" rIns="110350" bIns="55160" anchor="ctr" anchorCtr="0">
            <a:noAutofit/>
          </a:bodyPr>
          <a:lstStyle/>
          <a:p>
            <a:pPr algn="just">
              <a:buClr>
                <a:schemeClr val="dk1"/>
              </a:buClr>
              <a:buSzPct val="25000"/>
            </a:pPr>
            <a:r>
              <a:rPr lang="en-US" sz="3400" b="1" i="1">
                <a:solidFill>
                  <a:schemeClr val="dk1"/>
                </a:solidFill>
                <a:latin typeface="Times New Roman"/>
                <a:ea typeface="Times New Roman"/>
                <a:cs typeface="Times New Roman"/>
                <a:sym typeface="Times New Roman"/>
              </a:rPr>
              <a:t>Cryptography often uses two more sets: Z</a:t>
            </a:r>
            <a:r>
              <a:rPr lang="en-US" sz="3400" b="1" i="1" baseline="-25000">
                <a:solidFill>
                  <a:schemeClr val="dk1"/>
                </a:solidFill>
                <a:latin typeface="Times New Roman"/>
                <a:ea typeface="Times New Roman"/>
                <a:cs typeface="Times New Roman"/>
                <a:sym typeface="Times New Roman"/>
              </a:rPr>
              <a:t>p</a:t>
            </a:r>
            <a:r>
              <a:rPr lang="en-US" sz="3400" b="1" i="1">
                <a:solidFill>
                  <a:schemeClr val="dk1"/>
                </a:solidFill>
                <a:latin typeface="Times New Roman"/>
                <a:ea typeface="Times New Roman"/>
                <a:cs typeface="Times New Roman"/>
                <a:sym typeface="Times New Roman"/>
              </a:rPr>
              <a:t> and Z</a:t>
            </a:r>
            <a:r>
              <a:rPr lang="en-US" sz="3400" b="1" i="1" baseline="-25000">
                <a:solidFill>
                  <a:schemeClr val="dk1"/>
                </a:solidFill>
                <a:latin typeface="Times New Roman"/>
                <a:ea typeface="Times New Roman"/>
                <a:cs typeface="Times New Roman"/>
                <a:sym typeface="Times New Roman"/>
              </a:rPr>
              <a:t>p</a:t>
            </a:r>
            <a:r>
              <a:rPr lang="en-US" sz="3400" b="1" i="1">
                <a:solidFill>
                  <a:schemeClr val="dk1"/>
                </a:solidFill>
                <a:latin typeface="Times New Roman"/>
                <a:ea typeface="Times New Roman"/>
                <a:cs typeface="Times New Roman"/>
                <a:sym typeface="Times New Roman"/>
              </a:rPr>
              <a:t>*. The modulus in these two sets is a prime number. </a:t>
            </a:r>
          </a:p>
        </p:txBody>
      </p:sp>
      <p:pic>
        <p:nvPicPr>
          <p:cNvPr id="692" name="Shape 692"/>
          <p:cNvPicPr preferRelativeResize="0"/>
          <p:nvPr/>
        </p:nvPicPr>
        <p:blipFill>
          <a:blip r:embed="rId3">
            <a:alphaModFix/>
          </a:blip>
          <a:stretch>
            <a:fillRect/>
          </a:stretch>
        </p:blipFill>
        <p:spPr>
          <a:xfrm>
            <a:off x="1534185" y="2763836"/>
            <a:ext cx="9029463" cy="969961"/>
          </a:xfrm>
          <a:prstGeom prst="rect">
            <a:avLst/>
          </a:prstGeom>
          <a:noFill/>
          <a:ln>
            <a:noFill/>
          </a:ln>
        </p:spPr>
      </p:pic>
      <p:sp>
        <p:nvSpPr>
          <p:cNvPr id="693" name="Shape 693"/>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Shape 699"/>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700" name="Shape 700"/>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701" name="Shape 701"/>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702" name="Shape 702"/>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703" name="Shape 703"/>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704" name="Shape 704"/>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705" name="Shape 705"/>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706" name="Shape 706"/>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708" name="Shape 708"/>
          <p:cNvSpPr txBox="1"/>
          <p:nvPr/>
        </p:nvSpPr>
        <p:spPr>
          <a:xfrm>
            <a:off x="203148" y="1600200"/>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What is the key domain for any multiplicative cipher?</a:t>
            </a:r>
          </a:p>
        </p:txBody>
      </p:sp>
      <p:sp>
        <p:nvSpPr>
          <p:cNvPr id="709" name="Shape 709"/>
          <p:cNvSpPr txBox="1"/>
          <p:nvPr/>
        </p:nvSpPr>
        <p:spPr>
          <a:xfrm>
            <a:off x="304721" y="990600"/>
            <a:ext cx="2970290"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3.7</a:t>
            </a:r>
          </a:p>
        </p:txBody>
      </p:sp>
      <p:sp>
        <p:nvSpPr>
          <p:cNvPr id="710" name="Shape 710"/>
          <p:cNvSpPr txBox="1"/>
          <p:nvPr/>
        </p:nvSpPr>
        <p:spPr>
          <a:xfrm>
            <a:off x="203148" y="24384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The key needs to be in Z</a:t>
            </a:r>
            <a:r>
              <a:rPr lang="en-US" sz="2900" b="1" baseline="-25000">
                <a:solidFill>
                  <a:schemeClr val="dk1"/>
                </a:solidFill>
                <a:latin typeface="Tahoma"/>
                <a:ea typeface="Tahoma"/>
                <a:cs typeface="Tahoma"/>
                <a:sym typeface="Tahoma"/>
              </a:rPr>
              <a:t>26</a:t>
            </a:r>
            <a:r>
              <a:rPr lang="en-US" sz="2900" b="1">
                <a:solidFill>
                  <a:schemeClr val="dk1"/>
                </a:solidFill>
                <a:latin typeface="Tahoma"/>
                <a:ea typeface="Tahoma"/>
                <a:cs typeface="Tahoma"/>
                <a:sym typeface="Tahoma"/>
              </a:rPr>
              <a:t>*. This set has only 12 members: 1, 3, 5, 7, 9, 11, 15, 17, 19, 21, 23, 25.</a:t>
            </a:r>
          </a:p>
        </p:txBody>
      </p:sp>
      <p:sp>
        <p:nvSpPr>
          <p:cNvPr id="711" name="Shape 711"/>
          <p:cNvSpPr txBox="1"/>
          <p:nvPr/>
        </p:nvSpPr>
        <p:spPr>
          <a:xfrm>
            <a:off x="203148" y="1905000"/>
            <a:ext cx="10969943" cy="519112"/>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a:solidFill>
                  <a:schemeClr val="hlink"/>
                </a:solidFill>
                <a:latin typeface="Tahoma"/>
                <a:ea typeface="Tahoma"/>
                <a:cs typeface="Tahoma"/>
                <a:sym typeface="Tahoma"/>
              </a:rPr>
              <a:t>Solution</a:t>
            </a:r>
          </a:p>
        </p:txBody>
      </p:sp>
      <p:sp>
        <p:nvSpPr>
          <p:cNvPr id="712" name="Shape 712"/>
          <p:cNvSpPr txBox="1"/>
          <p:nvPr/>
        </p:nvSpPr>
        <p:spPr>
          <a:xfrm>
            <a:off x="203148" y="4273933"/>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800" b="1" dirty="0">
                <a:solidFill>
                  <a:schemeClr val="dk1"/>
                </a:solidFill>
                <a:latin typeface="Tahoma"/>
                <a:ea typeface="Tahoma"/>
                <a:cs typeface="Tahoma"/>
                <a:sym typeface="Tahoma"/>
              </a:rPr>
              <a:t>We use a multiplicative cipher to encrypt the message “hello” with a key of 7. The </a:t>
            </a:r>
            <a:r>
              <a:rPr lang="en-US" sz="2800" b="1" dirty="0" err="1">
                <a:solidFill>
                  <a:schemeClr val="dk1"/>
                </a:solidFill>
                <a:latin typeface="Tahoma"/>
                <a:ea typeface="Tahoma"/>
                <a:cs typeface="Tahoma"/>
                <a:sym typeface="Tahoma"/>
              </a:rPr>
              <a:t>ciphertext</a:t>
            </a:r>
            <a:r>
              <a:rPr lang="en-US" sz="2800" b="1" dirty="0">
                <a:solidFill>
                  <a:schemeClr val="dk1"/>
                </a:solidFill>
                <a:latin typeface="Tahoma"/>
                <a:ea typeface="Tahoma"/>
                <a:cs typeface="Tahoma"/>
                <a:sym typeface="Tahoma"/>
              </a:rPr>
              <a:t> is “XCZZU”.</a:t>
            </a:r>
          </a:p>
        </p:txBody>
      </p:sp>
      <p:sp>
        <p:nvSpPr>
          <p:cNvPr id="713" name="Shape 713"/>
          <p:cNvSpPr txBox="1"/>
          <p:nvPr/>
        </p:nvSpPr>
        <p:spPr>
          <a:xfrm>
            <a:off x="304721" y="3581400"/>
            <a:ext cx="297029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3.8</a:t>
            </a:r>
          </a:p>
        </p:txBody>
      </p:sp>
      <p:sp>
        <p:nvSpPr>
          <p:cNvPr id="714" name="Shape 714"/>
          <p:cNvSpPr/>
          <p:nvPr/>
        </p:nvSpPr>
        <p:spPr>
          <a:xfrm>
            <a:off x="177755" y="4810126"/>
            <a:ext cx="11807923" cy="1666875"/>
          </a:xfrm>
          <a:prstGeom prst="rect">
            <a:avLst/>
          </a:prstGeom>
          <a:noFill/>
          <a:ln>
            <a:noFill/>
          </a:ln>
        </p:spPr>
        <p:txBody>
          <a:bodyPr lIns="110350" tIns="110350" rIns="110350" bIns="110350" anchor="ctr" anchorCtr="0">
            <a:noAutofit/>
          </a:bodyPr>
          <a:lstStyle/>
          <a:p>
            <a:endParaRPr/>
          </a:p>
        </p:txBody>
      </p:sp>
      <p:sp>
        <p:nvSpPr>
          <p:cNvPr id="715" name="Shape 715"/>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Shape 722"/>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723" name="Shape 723"/>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724" name="Shape 724"/>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725" name="Shape 725"/>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726" name="Shape 726"/>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727" name="Shape 727"/>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728" name="Shape 728"/>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729" name="Shape 729"/>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731" name="Shape 731"/>
          <p:cNvSpPr txBox="1"/>
          <p:nvPr/>
        </p:nvSpPr>
        <p:spPr>
          <a:xfrm>
            <a:off x="1788969" y="683800"/>
            <a:ext cx="6747441" cy="457200"/>
          </a:xfrm>
          <a:prstGeom prst="rect">
            <a:avLst/>
          </a:prstGeom>
          <a:noFill/>
          <a:ln>
            <a:noFill/>
          </a:ln>
        </p:spPr>
        <p:txBody>
          <a:bodyPr lIns="110350" tIns="55160" rIns="110350" bIns="55160" anchor="t" anchorCtr="0">
            <a:noAutofit/>
          </a:bodyPr>
          <a:lstStyle/>
          <a:p>
            <a:pPr>
              <a:buClr>
                <a:schemeClr val="dk1"/>
              </a:buClr>
              <a:buSzPct val="25000"/>
            </a:pPr>
            <a:r>
              <a:rPr lang="en-US" sz="2900" b="1">
                <a:solidFill>
                  <a:schemeClr val="folHlink"/>
                </a:solidFill>
                <a:latin typeface="Tahoma"/>
                <a:ea typeface="Tahoma"/>
                <a:cs typeface="Tahoma"/>
                <a:sym typeface="Tahoma"/>
              </a:rPr>
              <a:t>Affine Ciphers</a:t>
            </a:r>
          </a:p>
        </p:txBody>
      </p:sp>
      <p:pic>
        <p:nvPicPr>
          <p:cNvPr id="732" name="Shape 732"/>
          <p:cNvPicPr preferRelativeResize="0"/>
          <p:nvPr/>
        </p:nvPicPr>
        <p:blipFill>
          <a:blip r:embed="rId3">
            <a:alphaModFix/>
          </a:blip>
          <a:stretch>
            <a:fillRect/>
          </a:stretch>
        </p:blipFill>
        <p:spPr>
          <a:xfrm>
            <a:off x="609442" y="5391150"/>
            <a:ext cx="10771028" cy="1085850"/>
          </a:xfrm>
          <a:prstGeom prst="rect">
            <a:avLst/>
          </a:prstGeom>
          <a:noFill/>
          <a:ln>
            <a:noFill/>
          </a:ln>
        </p:spPr>
      </p:pic>
      <p:sp>
        <p:nvSpPr>
          <p:cNvPr id="733" name="Shape 733"/>
          <p:cNvSpPr txBox="1"/>
          <p:nvPr/>
        </p:nvSpPr>
        <p:spPr>
          <a:xfrm>
            <a:off x="3656648" y="1828800"/>
            <a:ext cx="6154397"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Affine cipher</a:t>
            </a:r>
          </a:p>
        </p:txBody>
      </p:sp>
      <p:pic>
        <p:nvPicPr>
          <p:cNvPr id="734" name="Shape 734"/>
          <p:cNvPicPr preferRelativeResize="0"/>
          <p:nvPr/>
        </p:nvPicPr>
        <p:blipFill>
          <a:blip r:embed="rId4">
            <a:alphaModFix/>
          </a:blip>
          <a:stretch>
            <a:fillRect/>
          </a:stretch>
        </p:blipFill>
        <p:spPr>
          <a:xfrm>
            <a:off x="672925" y="2438401"/>
            <a:ext cx="10906458" cy="2765425"/>
          </a:xfrm>
          <a:prstGeom prst="rect">
            <a:avLst/>
          </a:prstGeom>
          <a:noFill/>
          <a:ln>
            <a:noFill/>
          </a:ln>
        </p:spPr>
      </p:pic>
      <p:sp>
        <p:nvSpPr>
          <p:cNvPr id="735" name="Shape 735"/>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Shape 742"/>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743" name="Shape 743"/>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744" name="Shape 744"/>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745" name="Shape 745"/>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746" name="Shape 746"/>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747" name="Shape 747"/>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748" name="Shape 748"/>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749" name="Shape 749"/>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751" name="Shape 751"/>
          <p:cNvSpPr txBox="1"/>
          <p:nvPr/>
        </p:nvSpPr>
        <p:spPr>
          <a:xfrm>
            <a:off x="203148" y="167640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400" b="1">
                <a:solidFill>
                  <a:schemeClr val="dk1"/>
                </a:solidFill>
                <a:latin typeface="Tahoma"/>
                <a:ea typeface="Tahoma"/>
                <a:cs typeface="Tahoma"/>
                <a:sym typeface="Tahoma"/>
              </a:rPr>
              <a:t>The affine cipher uses a pair of keys in which the first key is from Z</a:t>
            </a:r>
            <a:r>
              <a:rPr lang="en-US" sz="2400" b="1" baseline="-25000">
                <a:solidFill>
                  <a:schemeClr val="dk1"/>
                </a:solidFill>
                <a:latin typeface="Tahoma"/>
                <a:ea typeface="Tahoma"/>
                <a:cs typeface="Tahoma"/>
                <a:sym typeface="Tahoma"/>
              </a:rPr>
              <a:t>26</a:t>
            </a:r>
            <a:r>
              <a:rPr lang="en-US" sz="2400" b="1">
                <a:solidFill>
                  <a:schemeClr val="dk1"/>
                </a:solidFill>
                <a:latin typeface="Tahoma"/>
                <a:ea typeface="Tahoma"/>
                <a:cs typeface="Tahoma"/>
                <a:sym typeface="Tahoma"/>
              </a:rPr>
              <a:t>* and the second is from Z</a:t>
            </a:r>
            <a:r>
              <a:rPr lang="en-US" sz="2400" b="1" baseline="-25000">
                <a:solidFill>
                  <a:schemeClr val="dk1"/>
                </a:solidFill>
                <a:latin typeface="Tahoma"/>
                <a:ea typeface="Tahoma"/>
                <a:cs typeface="Tahoma"/>
                <a:sym typeface="Tahoma"/>
              </a:rPr>
              <a:t>26</a:t>
            </a:r>
            <a:r>
              <a:rPr lang="en-US" sz="2400" b="1">
                <a:solidFill>
                  <a:schemeClr val="dk1"/>
                </a:solidFill>
                <a:latin typeface="Tahoma"/>
                <a:ea typeface="Tahoma"/>
                <a:cs typeface="Tahoma"/>
                <a:sym typeface="Tahoma"/>
              </a:rPr>
              <a:t>. The size of the key domain is </a:t>
            </a:r>
            <a:br>
              <a:rPr lang="en-US" sz="2400" b="1">
                <a:solidFill>
                  <a:schemeClr val="dk1"/>
                </a:solidFill>
                <a:latin typeface="Tahoma"/>
                <a:ea typeface="Tahoma"/>
                <a:cs typeface="Tahoma"/>
                <a:sym typeface="Tahoma"/>
              </a:rPr>
            </a:br>
            <a:r>
              <a:rPr lang="en-US" sz="2400" b="1">
                <a:solidFill>
                  <a:schemeClr val="dk1"/>
                </a:solidFill>
                <a:latin typeface="Tahoma"/>
                <a:ea typeface="Tahoma"/>
                <a:cs typeface="Tahoma"/>
                <a:sym typeface="Tahoma"/>
              </a:rPr>
              <a:t>26 × 12 = 312.</a:t>
            </a:r>
          </a:p>
        </p:txBody>
      </p:sp>
      <p:sp>
        <p:nvSpPr>
          <p:cNvPr id="752" name="Shape 752"/>
          <p:cNvSpPr txBox="1"/>
          <p:nvPr/>
        </p:nvSpPr>
        <p:spPr>
          <a:xfrm>
            <a:off x="454940" y="1143000"/>
            <a:ext cx="3745024"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a:t>
            </a:r>
          </a:p>
        </p:txBody>
      </p:sp>
      <p:sp>
        <p:nvSpPr>
          <p:cNvPr id="753" name="Shape 753"/>
          <p:cNvSpPr txBox="1"/>
          <p:nvPr/>
        </p:nvSpPr>
        <p:spPr>
          <a:xfrm>
            <a:off x="203148" y="35052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Use an affine cipher to encrypt the message “hello” with the key pair (7, 2).</a:t>
            </a:r>
          </a:p>
        </p:txBody>
      </p:sp>
      <p:sp>
        <p:nvSpPr>
          <p:cNvPr id="754" name="Shape 754"/>
          <p:cNvSpPr txBox="1"/>
          <p:nvPr/>
        </p:nvSpPr>
        <p:spPr>
          <a:xfrm>
            <a:off x="454940" y="3017825"/>
            <a:ext cx="3745024"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a:t>
            </a:r>
          </a:p>
        </p:txBody>
      </p:sp>
      <p:pic>
        <p:nvPicPr>
          <p:cNvPr id="755" name="Shape 755"/>
          <p:cNvPicPr preferRelativeResize="0"/>
          <p:nvPr/>
        </p:nvPicPr>
        <p:blipFill>
          <a:blip r:embed="rId3">
            <a:alphaModFix/>
          </a:blip>
          <a:stretch>
            <a:fillRect/>
          </a:stretch>
        </p:blipFill>
        <p:spPr>
          <a:xfrm>
            <a:off x="304721" y="4518025"/>
            <a:ext cx="11636518" cy="1533524"/>
          </a:xfrm>
          <a:prstGeom prst="rect">
            <a:avLst/>
          </a:prstGeom>
          <a:noFill/>
          <a:ln>
            <a:noFill/>
          </a:ln>
        </p:spPr>
      </p:pic>
      <p:sp>
        <p:nvSpPr>
          <p:cNvPr id="756" name="Shape 75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Shape 763"/>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764" name="Shape 764"/>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765" name="Shape 765"/>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766" name="Shape 766"/>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767" name="Shape 767"/>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768" name="Shape 768"/>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769" name="Shape 769"/>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770" name="Shape 770"/>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772" name="Shape 772"/>
          <p:cNvSpPr txBox="1"/>
          <p:nvPr/>
        </p:nvSpPr>
        <p:spPr>
          <a:xfrm>
            <a:off x="203148" y="1768475"/>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Use the affine cipher to decrypt the message “ZEBBW” with the key pair (7, 2) in modulus 26.</a:t>
            </a:r>
          </a:p>
        </p:txBody>
      </p:sp>
      <p:sp>
        <p:nvSpPr>
          <p:cNvPr id="773" name="Shape 773"/>
          <p:cNvSpPr txBox="1"/>
          <p:nvPr/>
        </p:nvSpPr>
        <p:spPr>
          <a:xfrm>
            <a:off x="304722" y="12192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3.11</a:t>
            </a:r>
          </a:p>
        </p:txBody>
      </p:sp>
      <p:sp>
        <p:nvSpPr>
          <p:cNvPr id="774" name="Shape 774"/>
          <p:cNvSpPr txBox="1"/>
          <p:nvPr/>
        </p:nvSpPr>
        <p:spPr>
          <a:xfrm>
            <a:off x="340695" y="2684461"/>
            <a:ext cx="1690774" cy="457200"/>
          </a:xfrm>
          <a:prstGeom prst="rect">
            <a:avLst/>
          </a:prstGeom>
          <a:noFill/>
          <a:ln>
            <a:noFill/>
          </a:ln>
        </p:spPr>
        <p:txBody>
          <a:bodyPr lIns="110350" tIns="55160" rIns="110350" bIns="55160" anchor="t" anchorCtr="0">
            <a:noAutofit/>
          </a:bodyPr>
          <a:lstStyle/>
          <a:p>
            <a:pPr>
              <a:buClr>
                <a:schemeClr val="dk1"/>
              </a:buClr>
              <a:buSzPct val="25000"/>
            </a:pPr>
            <a:r>
              <a:rPr lang="en-US" sz="2900" b="1">
                <a:solidFill>
                  <a:schemeClr val="hlink"/>
                </a:solidFill>
                <a:latin typeface="Tahoma"/>
                <a:ea typeface="Tahoma"/>
                <a:cs typeface="Tahoma"/>
                <a:sym typeface="Tahoma"/>
              </a:rPr>
              <a:t>Solution</a:t>
            </a:r>
          </a:p>
        </p:txBody>
      </p:sp>
      <p:pic>
        <p:nvPicPr>
          <p:cNvPr id="775" name="Shape 775"/>
          <p:cNvPicPr preferRelativeResize="0"/>
          <p:nvPr/>
        </p:nvPicPr>
        <p:blipFill>
          <a:blip r:embed="rId3">
            <a:alphaModFix/>
          </a:blip>
          <a:stretch>
            <a:fillRect/>
          </a:stretch>
        </p:blipFill>
        <p:spPr>
          <a:xfrm>
            <a:off x="406294" y="3217861"/>
            <a:ext cx="11649214" cy="1536700"/>
          </a:xfrm>
          <a:prstGeom prst="rect">
            <a:avLst/>
          </a:prstGeom>
          <a:noFill/>
          <a:ln>
            <a:noFill/>
          </a:ln>
        </p:spPr>
      </p:pic>
      <p:sp>
        <p:nvSpPr>
          <p:cNvPr id="776" name="Shape 776"/>
          <p:cNvSpPr txBox="1"/>
          <p:nvPr/>
        </p:nvSpPr>
        <p:spPr>
          <a:xfrm>
            <a:off x="406295" y="544195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The additive cipher is a special case of an affine cipher in which </a:t>
            </a:r>
            <a:br>
              <a:rPr lang="en-US" sz="2900" b="1">
                <a:solidFill>
                  <a:schemeClr val="dk1"/>
                </a:solidFill>
                <a:latin typeface="Tahoma"/>
                <a:ea typeface="Tahoma"/>
                <a:cs typeface="Tahoma"/>
                <a:sym typeface="Tahoma"/>
              </a:rPr>
            </a:br>
            <a:r>
              <a:rPr lang="en-US" sz="2900">
                <a:solidFill>
                  <a:schemeClr val="dk1"/>
                </a:solidFill>
                <a:latin typeface="Tahoma"/>
                <a:ea typeface="Tahoma"/>
                <a:cs typeface="Tahoma"/>
                <a:sym typeface="Tahoma"/>
              </a:rPr>
              <a:t>k</a:t>
            </a:r>
            <a:r>
              <a:rPr lang="en-US" sz="2900" b="1" baseline="-25000">
                <a:solidFill>
                  <a:schemeClr val="dk1"/>
                </a:solidFill>
                <a:latin typeface="Tahoma"/>
                <a:ea typeface="Tahoma"/>
                <a:cs typeface="Tahoma"/>
                <a:sym typeface="Tahoma"/>
              </a:rPr>
              <a:t>1</a:t>
            </a:r>
            <a:r>
              <a:rPr lang="en-US" sz="2900" b="1">
                <a:solidFill>
                  <a:schemeClr val="dk1"/>
                </a:solidFill>
                <a:latin typeface="Tahoma"/>
                <a:ea typeface="Tahoma"/>
                <a:cs typeface="Tahoma"/>
                <a:sym typeface="Tahoma"/>
              </a:rPr>
              <a:t> = 1. The multiplicative cipher is a special case of affine cipher in which </a:t>
            </a:r>
            <a:r>
              <a:rPr lang="en-US" sz="2900">
                <a:solidFill>
                  <a:schemeClr val="dk1"/>
                </a:solidFill>
                <a:latin typeface="Tahoma"/>
                <a:ea typeface="Tahoma"/>
                <a:cs typeface="Tahoma"/>
                <a:sym typeface="Tahoma"/>
              </a:rPr>
              <a:t>k</a:t>
            </a:r>
            <a:r>
              <a:rPr lang="en-US" sz="2900" b="1" baseline="-25000">
                <a:solidFill>
                  <a:schemeClr val="dk1"/>
                </a:solidFill>
                <a:latin typeface="Tahoma"/>
                <a:ea typeface="Tahoma"/>
                <a:cs typeface="Tahoma"/>
                <a:sym typeface="Tahoma"/>
              </a:rPr>
              <a:t>2</a:t>
            </a:r>
            <a:r>
              <a:rPr lang="en-US" sz="2900" b="1">
                <a:solidFill>
                  <a:schemeClr val="dk1"/>
                </a:solidFill>
                <a:latin typeface="Tahoma"/>
                <a:ea typeface="Tahoma"/>
                <a:cs typeface="Tahoma"/>
                <a:sym typeface="Tahoma"/>
              </a:rPr>
              <a:t> = 0.</a:t>
            </a:r>
          </a:p>
        </p:txBody>
      </p:sp>
      <p:sp>
        <p:nvSpPr>
          <p:cNvPr id="777" name="Shape 777"/>
          <p:cNvSpPr txBox="1"/>
          <p:nvPr/>
        </p:nvSpPr>
        <p:spPr>
          <a:xfrm>
            <a:off x="507869" y="49530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3.12</a:t>
            </a:r>
          </a:p>
        </p:txBody>
      </p:sp>
      <p:sp>
        <p:nvSpPr>
          <p:cNvPr id="778" name="Shape 77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3489120" y="6175440"/>
              <a:ext cx="1180800" cy="661320"/>
            </p14:xfrm>
          </p:contentPart>
        </mc:Choice>
        <mc:Fallback xmlns="">
          <p:pic>
            <p:nvPicPr>
              <p:cNvPr id="2" name="Ink 1"/>
              <p:cNvPicPr/>
              <p:nvPr/>
            </p:nvPicPr>
            <p:blipFill>
              <a:blip r:embed="rId5"/>
              <a:stretch>
                <a:fillRect/>
              </a:stretch>
            </p:blipFill>
            <p:spPr>
              <a:xfrm>
                <a:off x="3479040" y="6165720"/>
                <a:ext cx="1201320" cy="680760"/>
              </a:xfrm>
              <a:prstGeom prst="rect">
                <a:avLst/>
              </a:prstGeom>
            </p:spPr>
          </p:pic>
        </mc:Fallback>
      </mc:AlternateContent>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Shape 785"/>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786" name="Shape 786"/>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787" name="Shape 787"/>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788" name="Shape 788"/>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789" name="Shape 789"/>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790" name="Shape 790"/>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791" name="Shape 791"/>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792" name="Shape 792"/>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794" name="Shape 794"/>
          <p:cNvSpPr txBox="1"/>
          <p:nvPr/>
        </p:nvSpPr>
        <p:spPr>
          <a:xfrm>
            <a:off x="203148" y="117475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Because additive, multiplicative, and affine ciphers have small key domains, they are very vulnerable to brute-force attack. </a:t>
            </a:r>
          </a:p>
        </p:txBody>
      </p:sp>
      <p:sp>
        <p:nvSpPr>
          <p:cNvPr id="795" name="Shape 795"/>
          <p:cNvSpPr txBox="1"/>
          <p:nvPr/>
        </p:nvSpPr>
        <p:spPr>
          <a:xfrm>
            <a:off x="1523604" y="533400"/>
            <a:ext cx="9141619"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err="1">
                <a:solidFill>
                  <a:schemeClr val="folHlink"/>
                </a:solidFill>
                <a:latin typeface="Tahoma"/>
                <a:ea typeface="Tahoma"/>
                <a:cs typeface="Tahoma"/>
                <a:sym typeface="Tahoma"/>
              </a:rPr>
              <a:t>Monoalphabetic</a:t>
            </a:r>
            <a:r>
              <a:rPr lang="en-US" sz="2900" b="1" dirty="0">
                <a:solidFill>
                  <a:schemeClr val="folHlink"/>
                </a:solidFill>
                <a:latin typeface="Tahoma"/>
                <a:ea typeface="Tahoma"/>
                <a:cs typeface="Tahoma"/>
                <a:sym typeface="Tahoma"/>
              </a:rPr>
              <a:t> Substitution Cipher</a:t>
            </a:r>
          </a:p>
        </p:txBody>
      </p:sp>
      <p:sp>
        <p:nvSpPr>
          <p:cNvPr id="796" name="Shape 796"/>
          <p:cNvSpPr txBox="1"/>
          <p:nvPr/>
        </p:nvSpPr>
        <p:spPr>
          <a:xfrm>
            <a:off x="203148" y="220980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A better solution is to create a mapping between each plaintext character and the corresponding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character. Alice and Bob can agree on a table showing the mapping for each character. </a:t>
            </a:r>
          </a:p>
        </p:txBody>
      </p:sp>
      <p:pic>
        <p:nvPicPr>
          <p:cNvPr id="797" name="Shape 797"/>
          <p:cNvPicPr preferRelativeResize="0"/>
          <p:nvPr/>
        </p:nvPicPr>
        <p:blipFill>
          <a:blip r:embed="rId3">
            <a:alphaModFix/>
          </a:blip>
          <a:stretch>
            <a:fillRect/>
          </a:stretch>
        </p:blipFill>
        <p:spPr>
          <a:xfrm>
            <a:off x="353391" y="4551363"/>
            <a:ext cx="11124418" cy="630237"/>
          </a:xfrm>
          <a:prstGeom prst="rect">
            <a:avLst/>
          </a:prstGeom>
          <a:noFill/>
          <a:ln>
            <a:noFill/>
          </a:ln>
        </p:spPr>
      </p:pic>
      <p:sp>
        <p:nvSpPr>
          <p:cNvPr id="798" name="Shape 798"/>
          <p:cNvSpPr txBox="1"/>
          <p:nvPr/>
        </p:nvSpPr>
        <p:spPr>
          <a:xfrm>
            <a:off x="711016" y="3733800"/>
            <a:ext cx="10127727" cy="457200"/>
          </a:xfrm>
          <a:prstGeom prst="rect">
            <a:avLst/>
          </a:prstGeom>
          <a:noFill/>
          <a:ln>
            <a:noFill/>
          </a:ln>
        </p:spPr>
        <p:txBody>
          <a:bodyPr lIns="110350" tIns="55160" rIns="110350" bIns="55160" anchor="t" anchorCtr="0">
            <a:noAutofit/>
          </a:bodyPr>
          <a:lstStyle/>
          <a:p>
            <a:pPr>
              <a:buClr>
                <a:schemeClr val="dk1"/>
              </a:buClr>
              <a:buSzPct val="25000"/>
            </a:pPr>
            <a:r>
              <a:rPr lang="en-US" sz="2900" b="1">
                <a:solidFill>
                  <a:schemeClr val="folHlink"/>
                </a:solidFill>
                <a:latin typeface="Tahoma"/>
                <a:ea typeface="Tahoma"/>
                <a:cs typeface="Tahoma"/>
                <a:sym typeface="Tahoma"/>
              </a:rPr>
              <a:t>Figure 3.12  </a:t>
            </a:r>
            <a:r>
              <a:rPr lang="en-US" sz="2400">
                <a:solidFill>
                  <a:schemeClr val="dk1"/>
                </a:solidFill>
                <a:latin typeface="Tahoma"/>
                <a:ea typeface="Tahoma"/>
                <a:cs typeface="Tahoma"/>
                <a:sym typeface="Tahoma"/>
              </a:rPr>
              <a:t>An example key for monoalphabetic substitution cipher</a:t>
            </a:r>
          </a:p>
        </p:txBody>
      </p:sp>
      <p:sp>
        <p:nvSpPr>
          <p:cNvPr id="799" name="Shape 799"/>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Shape 806"/>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807" name="Shape 807"/>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808" name="Shape 808"/>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809" name="Shape 809"/>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810" name="Shape 810"/>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811" name="Shape 811"/>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812" name="Shape 812"/>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813" name="Shape 813"/>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815" name="Shape 815"/>
          <p:cNvSpPr txBox="1"/>
          <p:nvPr/>
        </p:nvSpPr>
        <p:spPr>
          <a:xfrm>
            <a:off x="203148" y="1676400"/>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We can use the key in Figure to encrypt the message</a:t>
            </a:r>
          </a:p>
        </p:txBody>
      </p:sp>
      <p:sp>
        <p:nvSpPr>
          <p:cNvPr id="816" name="Shape 816"/>
          <p:cNvSpPr txBox="1"/>
          <p:nvPr/>
        </p:nvSpPr>
        <p:spPr>
          <a:xfrm>
            <a:off x="406296" y="10668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3.13</a:t>
            </a:r>
          </a:p>
        </p:txBody>
      </p:sp>
      <p:sp>
        <p:nvSpPr>
          <p:cNvPr id="817" name="Shape 817"/>
          <p:cNvSpPr txBox="1"/>
          <p:nvPr/>
        </p:nvSpPr>
        <p:spPr>
          <a:xfrm>
            <a:off x="270521" y="3193026"/>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The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is</a:t>
            </a:r>
          </a:p>
        </p:txBody>
      </p:sp>
      <p:pic>
        <p:nvPicPr>
          <p:cNvPr id="818" name="Shape 818"/>
          <p:cNvPicPr preferRelativeResize="0"/>
          <p:nvPr/>
        </p:nvPicPr>
        <p:blipFill>
          <a:blip r:embed="rId3">
            <a:alphaModFix/>
          </a:blip>
          <a:stretch>
            <a:fillRect/>
          </a:stretch>
        </p:blipFill>
        <p:spPr>
          <a:xfrm>
            <a:off x="1059765" y="2452687"/>
            <a:ext cx="9577537" cy="485774"/>
          </a:xfrm>
          <a:prstGeom prst="rect">
            <a:avLst/>
          </a:prstGeom>
          <a:noFill/>
          <a:ln>
            <a:noFill/>
          </a:ln>
        </p:spPr>
      </p:pic>
      <p:pic>
        <p:nvPicPr>
          <p:cNvPr id="819" name="Shape 819"/>
          <p:cNvPicPr preferRelativeResize="0"/>
          <p:nvPr/>
        </p:nvPicPr>
        <p:blipFill>
          <a:blip r:embed="rId4">
            <a:alphaModFix/>
          </a:blip>
          <a:stretch>
            <a:fillRect/>
          </a:stretch>
        </p:blipFill>
        <p:spPr>
          <a:xfrm>
            <a:off x="397829" y="4038601"/>
            <a:ext cx="11283128" cy="388937"/>
          </a:xfrm>
          <a:prstGeom prst="rect">
            <a:avLst/>
          </a:prstGeom>
          <a:noFill/>
          <a:ln>
            <a:noFill/>
          </a:ln>
        </p:spPr>
      </p:pic>
      <p:sp>
        <p:nvSpPr>
          <p:cNvPr id="820" name="Shape 82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Shape 82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828" name="Shape 82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829" name="Shape 82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830" name="Shape 83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831" name="Shape 83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832" name="Shape 83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833" name="Shape 83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834" name="Shape 83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835" name="Shape 835"/>
          <p:cNvSpPr txBox="1"/>
          <p:nvPr/>
        </p:nvSpPr>
        <p:spPr>
          <a:xfrm>
            <a:off x="1523605" y="0"/>
            <a:ext cx="10032503" cy="668337"/>
          </a:xfrm>
          <a:prstGeom prst="rect">
            <a:avLst/>
          </a:prstGeom>
          <a:noFill/>
          <a:ln>
            <a:noFill/>
          </a:ln>
        </p:spPr>
        <p:txBody>
          <a:bodyPr lIns="110350" tIns="55160" rIns="110350" bIns="55160" anchor="t" anchorCtr="0">
            <a:noAutofit/>
          </a:bodyPr>
          <a:lstStyle/>
          <a:p>
            <a:pPr>
              <a:buClr>
                <a:schemeClr val="dk1"/>
              </a:buClr>
              <a:buSzPct val="25000"/>
            </a:pPr>
            <a:r>
              <a:rPr lang="en-US" sz="3900" dirty="0">
                <a:solidFill>
                  <a:schemeClr val="hlink"/>
                </a:solidFill>
                <a:latin typeface="Tahoma"/>
                <a:ea typeface="Tahoma"/>
                <a:cs typeface="Tahoma"/>
                <a:sym typeface="Tahoma"/>
              </a:rPr>
              <a:t>Polyalphabetic Ciphers</a:t>
            </a:r>
          </a:p>
        </p:txBody>
      </p:sp>
      <p:sp>
        <p:nvSpPr>
          <p:cNvPr id="836" name="Shape 836"/>
          <p:cNvSpPr txBox="1"/>
          <p:nvPr/>
        </p:nvSpPr>
        <p:spPr>
          <a:xfrm>
            <a:off x="203148" y="990601"/>
            <a:ext cx="11782530" cy="1800225"/>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dirty="0">
                <a:solidFill>
                  <a:schemeClr val="dk1"/>
                </a:solidFill>
                <a:latin typeface="Tahoma"/>
                <a:ea typeface="Tahoma"/>
                <a:cs typeface="Tahoma"/>
                <a:sym typeface="Tahoma"/>
              </a:rPr>
              <a:t>In polyalphabetic substitution, each occurrence of a character may have a different substitute. The relationship between a character in the plaintext to a character in the </a:t>
            </a:r>
            <a:r>
              <a:rPr lang="en-US" sz="2200" b="1" dirty="0" err="1">
                <a:solidFill>
                  <a:schemeClr val="dk1"/>
                </a:solidFill>
                <a:latin typeface="Tahoma"/>
                <a:ea typeface="Tahoma"/>
                <a:cs typeface="Tahoma"/>
                <a:sym typeface="Tahoma"/>
              </a:rPr>
              <a:t>ciphertext</a:t>
            </a:r>
            <a:r>
              <a:rPr lang="en-US" sz="2200" b="1" dirty="0">
                <a:solidFill>
                  <a:schemeClr val="dk1"/>
                </a:solidFill>
                <a:latin typeface="Tahoma"/>
                <a:ea typeface="Tahoma"/>
                <a:cs typeface="Tahoma"/>
                <a:sym typeface="Tahoma"/>
              </a:rPr>
              <a:t> is one-to-many. </a:t>
            </a:r>
          </a:p>
        </p:txBody>
      </p:sp>
      <p:sp>
        <p:nvSpPr>
          <p:cNvPr id="837" name="Shape 837"/>
          <p:cNvSpPr txBox="1"/>
          <p:nvPr/>
        </p:nvSpPr>
        <p:spPr>
          <a:xfrm>
            <a:off x="4583507" y="3733800"/>
            <a:ext cx="3745524"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err="1">
                <a:solidFill>
                  <a:schemeClr val="folHlink"/>
                </a:solidFill>
                <a:latin typeface="Tahoma"/>
                <a:ea typeface="Tahoma"/>
                <a:cs typeface="Tahoma"/>
                <a:sym typeface="Tahoma"/>
              </a:rPr>
              <a:t>Autokey</a:t>
            </a:r>
            <a:r>
              <a:rPr lang="en-US" sz="2900" b="1" dirty="0">
                <a:solidFill>
                  <a:schemeClr val="folHlink"/>
                </a:solidFill>
                <a:latin typeface="Tahoma"/>
                <a:ea typeface="Tahoma"/>
                <a:cs typeface="Tahoma"/>
                <a:sym typeface="Tahoma"/>
              </a:rPr>
              <a:t> Cipher</a:t>
            </a:r>
          </a:p>
        </p:txBody>
      </p:sp>
      <p:pic>
        <p:nvPicPr>
          <p:cNvPr id="838" name="Shape 838"/>
          <p:cNvPicPr preferRelativeResize="0"/>
          <p:nvPr/>
        </p:nvPicPr>
        <p:blipFill>
          <a:blip r:embed="rId3">
            <a:alphaModFix/>
          </a:blip>
          <a:stretch>
            <a:fillRect/>
          </a:stretch>
        </p:blipFill>
        <p:spPr>
          <a:xfrm>
            <a:off x="258165" y="2600325"/>
            <a:ext cx="11672493" cy="1047750"/>
          </a:xfrm>
          <a:prstGeom prst="rect">
            <a:avLst/>
          </a:prstGeom>
          <a:noFill/>
          <a:ln>
            <a:noFill/>
          </a:ln>
        </p:spPr>
      </p:pic>
      <p:sp>
        <p:nvSpPr>
          <p:cNvPr id="839" name="Shape 839"/>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Shape 846"/>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847" name="Shape 847"/>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848" name="Shape 848"/>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849" name="Shape 849"/>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850" name="Shape 850"/>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851" name="Shape 851"/>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852" name="Shape 852"/>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853" name="Shape 853"/>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855" name="Shape 855"/>
          <p:cNvSpPr txBox="1"/>
          <p:nvPr/>
        </p:nvSpPr>
        <p:spPr>
          <a:xfrm>
            <a:off x="203148" y="1447749"/>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Assume that Alice and Bob agreed to use an </a:t>
            </a:r>
            <a:r>
              <a:rPr lang="en-US" sz="2900" dirty="0" err="1">
                <a:solidFill>
                  <a:schemeClr val="dk1"/>
                </a:solidFill>
                <a:latin typeface="Tahoma"/>
                <a:ea typeface="Tahoma"/>
                <a:cs typeface="Tahoma"/>
                <a:sym typeface="Tahoma"/>
              </a:rPr>
              <a:t>autokey</a:t>
            </a:r>
            <a:r>
              <a:rPr lang="en-US" sz="2900" dirty="0">
                <a:solidFill>
                  <a:schemeClr val="dk1"/>
                </a:solidFill>
                <a:latin typeface="Tahoma"/>
                <a:ea typeface="Tahoma"/>
                <a:cs typeface="Tahoma"/>
                <a:sym typeface="Tahoma"/>
              </a:rPr>
              <a:t> cipher with initial key value k1 = 12. Now Alice wants to send Bob the message “Attack is today”. Enciphering is done character by character.</a:t>
            </a:r>
          </a:p>
        </p:txBody>
      </p:sp>
      <p:sp>
        <p:nvSpPr>
          <p:cNvPr id="856" name="Shape 856"/>
          <p:cNvSpPr txBox="1"/>
          <p:nvPr/>
        </p:nvSpPr>
        <p:spPr>
          <a:xfrm>
            <a:off x="1523605" y="5334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3.14</a:t>
            </a:r>
          </a:p>
        </p:txBody>
      </p:sp>
      <p:sp>
        <p:nvSpPr>
          <p:cNvPr id="857" name="Shape 857"/>
          <p:cNvSpPr/>
          <p:nvPr/>
        </p:nvSpPr>
        <p:spPr>
          <a:xfrm>
            <a:off x="507868" y="2647950"/>
            <a:ext cx="10868368" cy="1466850"/>
          </a:xfrm>
          <a:prstGeom prst="rect">
            <a:avLst/>
          </a:prstGeom>
          <a:noFill/>
          <a:ln>
            <a:noFill/>
          </a:ln>
        </p:spPr>
        <p:txBody>
          <a:bodyPr lIns="110350" tIns="110350" rIns="110350" bIns="110350" anchor="ctr" anchorCtr="0">
            <a:noAutofit/>
          </a:bodyPr>
          <a:lstStyle/>
          <a:p>
            <a:endParaRPr/>
          </a:p>
        </p:txBody>
      </p:sp>
      <p:sp>
        <p:nvSpPr>
          <p:cNvPr id="858" name="Shape 85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Shape 865"/>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866" name="Shape 866"/>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867" name="Shape 867"/>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868" name="Shape 868"/>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869" name="Shape 869"/>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870" name="Shape 870"/>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871" name="Shape 871"/>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872" name="Shape 872"/>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874" name="Shape 874"/>
          <p:cNvSpPr txBox="1"/>
          <p:nvPr/>
        </p:nvSpPr>
        <p:spPr>
          <a:xfrm>
            <a:off x="1523604" y="533401"/>
            <a:ext cx="7313295" cy="471486"/>
          </a:xfrm>
          <a:prstGeom prst="rect">
            <a:avLst/>
          </a:prstGeom>
          <a:noFill/>
          <a:ln>
            <a:noFill/>
          </a:ln>
        </p:spPr>
        <p:txBody>
          <a:bodyPr lIns="110350" tIns="55160" rIns="110350" bIns="55160" anchor="t" anchorCtr="0">
            <a:noAutofit/>
          </a:bodyPr>
          <a:lstStyle/>
          <a:p>
            <a:pPr>
              <a:buClr>
                <a:schemeClr val="dk1"/>
              </a:buClr>
              <a:buSzPct val="25000"/>
            </a:pPr>
            <a:r>
              <a:rPr lang="en-US" sz="2900" b="1" dirty="0" err="1">
                <a:solidFill>
                  <a:schemeClr val="folHlink"/>
                </a:solidFill>
                <a:latin typeface="Tahoma"/>
                <a:ea typeface="Tahoma"/>
                <a:cs typeface="Tahoma"/>
                <a:sym typeface="Tahoma"/>
              </a:rPr>
              <a:t>Playfair</a:t>
            </a:r>
            <a:r>
              <a:rPr lang="en-US" sz="2900" b="1" dirty="0">
                <a:solidFill>
                  <a:schemeClr val="folHlink"/>
                </a:solidFill>
                <a:latin typeface="Tahoma"/>
                <a:ea typeface="Tahoma"/>
                <a:cs typeface="Tahoma"/>
                <a:sym typeface="Tahoma"/>
              </a:rPr>
              <a:t> Cipher</a:t>
            </a:r>
          </a:p>
        </p:txBody>
      </p:sp>
      <p:pic>
        <p:nvPicPr>
          <p:cNvPr id="875" name="Shape 875"/>
          <p:cNvPicPr preferRelativeResize="0"/>
          <p:nvPr/>
        </p:nvPicPr>
        <p:blipFill>
          <a:blip r:embed="rId3">
            <a:alphaModFix/>
          </a:blip>
          <a:stretch>
            <a:fillRect/>
          </a:stretch>
        </p:blipFill>
        <p:spPr>
          <a:xfrm>
            <a:off x="1828326" y="1757361"/>
            <a:ext cx="6405479" cy="2357436"/>
          </a:xfrm>
          <a:prstGeom prst="rect">
            <a:avLst/>
          </a:prstGeom>
          <a:noFill/>
          <a:ln>
            <a:noFill/>
          </a:ln>
        </p:spPr>
      </p:pic>
      <p:sp>
        <p:nvSpPr>
          <p:cNvPr id="876" name="Shape 876"/>
          <p:cNvSpPr txBox="1"/>
          <p:nvPr/>
        </p:nvSpPr>
        <p:spPr>
          <a:xfrm>
            <a:off x="1422030" y="1066800"/>
            <a:ext cx="10563647"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An example of a secret key in the </a:t>
            </a:r>
            <a:r>
              <a:rPr lang="en-US" sz="2400" dirty="0" err="1">
                <a:solidFill>
                  <a:schemeClr val="dk1"/>
                </a:solidFill>
                <a:latin typeface="Tahoma"/>
                <a:ea typeface="Tahoma"/>
                <a:cs typeface="Tahoma"/>
                <a:sym typeface="Tahoma"/>
              </a:rPr>
              <a:t>Playfair</a:t>
            </a:r>
            <a:r>
              <a:rPr lang="en-US" sz="2400" dirty="0">
                <a:solidFill>
                  <a:schemeClr val="dk1"/>
                </a:solidFill>
                <a:latin typeface="Tahoma"/>
                <a:ea typeface="Tahoma"/>
                <a:cs typeface="Tahoma"/>
                <a:sym typeface="Tahoma"/>
              </a:rPr>
              <a:t> cipher</a:t>
            </a:r>
          </a:p>
        </p:txBody>
      </p:sp>
      <p:sp>
        <p:nvSpPr>
          <p:cNvPr id="877" name="Shape 877"/>
          <p:cNvSpPr txBox="1"/>
          <p:nvPr/>
        </p:nvSpPr>
        <p:spPr>
          <a:xfrm>
            <a:off x="203148" y="4521672"/>
            <a:ext cx="11782530" cy="809958"/>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Let us encrypt the plaintext “hello” using the key in given Figure </a:t>
            </a:r>
          </a:p>
        </p:txBody>
      </p:sp>
      <p:pic>
        <p:nvPicPr>
          <p:cNvPr id="878" name="Shape 878"/>
          <p:cNvPicPr preferRelativeResize="0"/>
          <p:nvPr/>
        </p:nvPicPr>
        <p:blipFill>
          <a:blip r:embed="rId4">
            <a:alphaModFix/>
          </a:blip>
          <a:stretch>
            <a:fillRect/>
          </a:stretch>
        </p:blipFill>
        <p:spPr>
          <a:xfrm>
            <a:off x="609441" y="5334001"/>
            <a:ext cx="10747750" cy="958849"/>
          </a:xfrm>
          <a:prstGeom prst="rect">
            <a:avLst/>
          </a:prstGeom>
          <a:noFill/>
          <a:ln>
            <a:noFill/>
          </a:ln>
        </p:spPr>
      </p:pic>
      <p:sp>
        <p:nvSpPr>
          <p:cNvPr id="879" name="Shape 879"/>
          <p:cNvSpPr txBox="1"/>
          <p:nvPr/>
        </p:nvSpPr>
        <p:spPr>
          <a:xfrm>
            <a:off x="304722" y="40386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3.15</a:t>
            </a:r>
          </a:p>
        </p:txBody>
      </p:sp>
      <p:sp>
        <p:nvSpPr>
          <p:cNvPr id="880" name="Shape 88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9" name="Shape 909"/>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910" name="Shape 910"/>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911" name="Shape 911"/>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912" name="Shape 912"/>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913" name="Shape 913"/>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914" name="Shape 914"/>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915" name="Shape 915"/>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917" name="Shape 917"/>
          <p:cNvSpPr txBox="1"/>
          <p:nvPr/>
        </p:nvSpPr>
        <p:spPr>
          <a:xfrm>
            <a:off x="765686" y="2971800"/>
            <a:ext cx="11782530" cy="5181600"/>
          </a:xfrm>
          <a:prstGeom prst="rect">
            <a:avLst/>
          </a:prstGeom>
          <a:noFill/>
          <a:ln>
            <a:noFill/>
          </a:ln>
        </p:spPr>
        <p:txBody>
          <a:bodyPr lIns="110350" tIns="55160" rIns="110350" bIns="55160" anchor="ctr" anchorCtr="0">
            <a:noAutofit/>
          </a:bodyPr>
          <a:lstStyle/>
          <a:p>
            <a:pPr marL="551840" indent="-551840" algn="just">
              <a:buClr>
                <a:schemeClr val="dk1"/>
              </a:buClr>
              <a:buSzPct val="25000"/>
              <a:buAutoNum type="arabicPeriod"/>
            </a:pPr>
            <a:endParaRPr lang="en-US" sz="2900" dirty="0">
              <a:solidFill>
                <a:schemeClr val="dk1"/>
              </a:solidFill>
              <a:latin typeface="Tahoma"/>
              <a:ea typeface="Tahoma"/>
              <a:cs typeface="Tahoma"/>
              <a:sym typeface="Tahoma"/>
            </a:endParaRPr>
          </a:p>
        </p:txBody>
      </p:sp>
      <p:sp>
        <p:nvSpPr>
          <p:cNvPr id="919" name="Shape 919"/>
          <p:cNvSpPr/>
          <p:nvPr/>
        </p:nvSpPr>
        <p:spPr>
          <a:xfrm>
            <a:off x="114271" y="2743200"/>
            <a:ext cx="11769833" cy="2170112"/>
          </a:xfrm>
          <a:prstGeom prst="rect">
            <a:avLst/>
          </a:prstGeom>
          <a:noFill/>
          <a:ln>
            <a:noFill/>
          </a:ln>
        </p:spPr>
        <p:txBody>
          <a:bodyPr lIns="110350" tIns="110350" rIns="110350" bIns="110350" anchor="ctr" anchorCtr="0">
            <a:noAutofit/>
          </a:bodyPr>
          <a:lstStyle/>
          <a:p>
            <a:endParaRPr/>
          </a:p>
        </p:txBody>
      </p:sp>
      <p:sp>
        <p:nvSpPr>
          <p:cNvPr id="2" name="Title 1"/>
          <p:cNvSpPr>
            <a:spLocks noGrp="1"/>
          </p:cNvSpPr>
          <p:nvPr>
            <p:ph type="title"/>
          </p:nvPr>
        </p:nvSpPr>
        <p:spPr>
          <a:xfrm>
            <a:off x="1033675" y="0"/>
            <a:ext cx="10969943" cy="1143000"/>
          </a:xfrm>
        </p:spPr>
        <p:txBody>
          <a:bodyPr>
            <a:normAutofit fontScale="90000"/>
          </a:bodyPr>
          <a:lstStyle/>
          <a:p>
            <a:pPr lvl="0"/>
            <a:r>
              <a:rPr lang="en-US" b="1" dirty="0" err="1">
                <a:solidFill>
                  <a:schemeClr val="tx2"/>
                </a:solidFill>
              </a:rPr>
              <a:t>Playfair</a:t>
            </a:r>
            <a:r>
              <a:rPr lang="en-US" b="1" dirty="0">
                <a:solidFill>
                  <a:schemeClr val="tx2"/>
                </a:solidFill>
              </a:rPr>
              <a:t> Cipher Rules</a:t>
            </a:r>
            <a:br>
              <a:rPr lang="en-US" b="1" dirty="0">
                <a:solidFill>
                  <a:schemeClr val="tx2"/>
                </a:solidFill>
              </a:rPr>
            </a:br>
            <a:endParaRPr lang="en-IN" dirty="0">
              <a:solidFill>
                <a:schemeClr val="tx2"/>
              </a:solidFill>
            </a:endParaRPr>
          </a:p>
        </p:txBody>
      </p:sp>
      <p:sp>
        <p:nvSpPr>
          <p:cNvPr id="3" name="Text Placeholder 2"/>
          <p:cNvSpPr>
            <a:spLocks noGrp="1"/>
          </p:cNvSpPr>
          <p:nvPr>
            <p:ph type="body" idx="1"/>
          </p:nvPr>
        </p:nvSpPr>
        <p:spPr>
          <a:xfrm>
            <a:off x="444747" y="1052512"/>
            <a:ext cx="11439356" cy="5576889"/>
          </a:xfrm>
        </p:spPr>
        <p:txBody>
          <a:bodyPr/>
          <a:lstStyle/>
          <a:p>
            <a:pPr lvl="0"/>
            <a:r>
              <a:rPr lang="en-IN" sz="1900" dirty="0"/>
              <a:t>Any sequence of 25 letters can be used as a key, so long as all letters are in it and there are no repeats. There is no 'j', it is combined with '</a:t>
            </a:r>
            <a:r>
              <a:rPr lang="en-IN" sz="1900" dirty="0" err="1"/>
              <a:t>i</a:t>
            </a:r>
            <a:r>
              <a:rPr lang="en-IN" sz="1900" dirty="0"/>
              <a:t>'.</a:t>
            </a:r>
          </a:p>
          <a:p>
            <a:pPr lvl="0"/>
            <a:r>
              <a:rPr lang="en-IN" sz="1900" dirty="0"/>
              <a:t>Identify any double letters in the plaintext and replace the second occurrence with an 'x' e.g. 'hammer' -&gt; 'ha mx me r'.</a:t>
            </a:r>
          </a:p>
          <a:p>
            <a:pPr lvl="0"/>
            <a:r>
              <a:rPr lang="en-IN" sz="1900" dirty="0"/>
              <a:t>If the plaintext has an odd number of characters, append an 'x' to the end to make it even.</a:t>
            </a:r>
          </a:p>
          <a:p>
            <a:pPr lvl="0"/>
            <a:r>
              <a:rPr lang="en-IN" sz="1900" dirty="0"/>
              <a:t>Break the plaintext into pairs of letters, e.g. '</a:t>
            </a:r>
            <a:r>
              <a:rPr lang="en-IN" sz="1900" dirty="0" err="1"/>
              <a:t>hamxer</a:t>
            </a:r>
            <a:r>
              <a:rPr lang="en-IN" sz="1900" dirty="0"/>
              <a:t>' -&gt; 'ha mx </a:t>
            </a:r>
            <a:r>
              <a:rPr lang="en-IN" sz="1900" dirty="0" err="1"/>
              <a:t>er</a:t>
            </a:r>
            <a:r>
              <a:rPr lang="en-IN" sz="1900" dirty="0"/>
              <a:t>'</a:t>
            </a:r>
          </a:p>
          <a:p>
            <a:pPr lvl="0"/>
            <a:r>
              <a:rPr lang="en-IN" sz="1900" dirty="0"/>
              <a:t>Locate the letters in the key square, (the examples given are using the key square above)</a:t>
            </a:r>
          </a:p>
          <a:p>
            <a:pPr lvl="1"/>
            <a:r>
              <a:rPr lang="en-IN" sz="1900" dirty="0"/>
              <a:t>If the letters appear on the same row of your table, replace them with the letters to their immediate right respectively (wrapping around to the left side of the row if a letter in the original pair was on the right side of the row).</a:t>
            </a:r>
          </a:p>
          <a:p>
            <a:pPr lvl="1"/>
            <a:r>
              <a:rPr lang="en-IN" sz="1900" dirty="0"/>
              <a:t>If the letters appear on the same column of your table, replace them with the letters immediately below respectively (wrapping around to the top side of the column if a letter in the original pair was on the bottom side of the column).</a:t>
            </a:r>
          </a:p>
          <a:p>
            <a:pPr lvl="1"/>
            <a:r>
              <a:rPr lang="en-IN" sz="1900" dirty="0"/>
              <a:t>If the letters are not on the same row or column, replace them with the letters in their own row but in the same column as the other letter. </a:t>
            </a:r>
          </a:p>
          <a:p>
            <a:pPr marL="551840" lvl="4" indent="-551840" algn="just">
              <a:buClr>
                <a:schemeClr val="dk1"/>
              </a:buClr>
              <a:buSzPct val="25000"/>
              <a:buAutoNum type="arabicPeriod"/>
            </a:pPr>
            <a:endParaRPr lang="en-IN" sz="1900" dirty="0"/>
          </a:p>
          <a:p>
            <a:pPr marL="551840" indent="-551840" algn="just">
              <a:buClr>
                <a:schemeClr val="dk1"/>
              </a:buClr>
              <a:buSzPct val="25000"/>
              <a:buAutoNum type="arabicPeriod"/>
            </a:pPr>
            <a:endParaRPr lang="en-US" sz="1900" dirty="0"/>
          </a:p>
          <a:p>
            <a:endParaRPr lang="en-IN" sz="1900" dirty="0"/>
          </a:p>
        </p:txBody>
      </p:sp>
      <p:sp>
        <p:nvSpPr>
          <p:cNvPr id="920" name="Shape 920"/>
          <p:cNvSpPr txBox="1">
            <a:spLocks noGrp="1"/>
          </p:cNvSpPr>
          <p:nvPr>
            <p:ph type="sldNum" idx="4294967295"/>
          </p:nvPr>
        </p:nvSpPr>
        <p:spPr>
          <a:xfrm>
            <a:off x="1" y="6400800"/>
            <a:ext cx="2539339" cy="457200"/>
          </a:xfrm>
          <a:prstGeom prst="rect">
            <a:avLst/>
          </a:prstGeom>
          <a:noFill/>
          <a:ln>
            <a:noFill/>
          </a:ln>
        </p:spPr>
        <p:txBody>
          <a:bodyPr lIns="110350" tIns="55160" rIns="110350" bIns="55160" anchor="b" anchorCtr="0">
            <a:noAutofit/>
          </a:bodyPr>
          <a:lstStyle/>
          <a:p>
            <a:pPr>
              <a:buSzPct val="25000"/>
            </a:pPr>
            <a:r>
              <a:rPr lang="en-US"/>
              <a:t> </a:t>
            </a:r>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3114360" y="2830680"/>
              <a:ext cx="7549200" cy="3398400"/>
            </p14:xfrm>
          </p:contentPart>
        </mc:Choice>
        <mc:Fallback xmlns="">
          <p:pic>
            <p:nvPicPr>
              <p:cNvPr id="4" name="Ink 3"/>
              <p:cNvPicPr/>
              <p:nvPr/>
            </p:nvPicPr>
            <p:blipFill>
              <a:blip r:embed="rId4"/>
              <a:stretch>
                <a:fillRect/>
              </a:stretch>
            </p:blipFill>
            <p:spPr>
              <a:xfrm>
                <a:off x="3108960" y="2821320"/>
                <a:ext cx="7563240" cy="3414960"/>
              </a:xfrm>
              <a:prstGeom prst="rect">
                <a:avLst/>
              </a:prstGeom>
            </p:spPr>
          </p:pic>
        </mc:Fallback>
      </mc:AlternateContent>
    </p:spTree>
    <p:extLst>
      <p:ext uri="{BB962C8B-B14F-4D97-AF65-F5344CB8AC3E}">
        <p14:creationId xmlns:p14="http://schemas.microsoft.com/office/powerpoint/2010/main" val="1592995319"/>
      </p:ext>
    </p:extLst>
  </p:cSld>
  <p:clrMapOvr>
    <a:masterClrMapping/>
  </p:clrMapOvr>
  <p:transition spd="slow">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Cryptanalysis of </a:t>
            </a:r>
            <a:r>
              <a:rPr lang="en-IN" dirty="0" err="1"/>
              <a:t>Playfair</a:t>
            </a:r>
            <a:r>
              <a:rPr lang="en-IN" dirty="0"/>
              <a:t> Cipher</a:t>
            </a:r>
          </a:p>
        </p:txBody>
      </p:sp>
      <p:sp>
        <p:nvSpPr>
          <p:cNvPr id="3" name="Text Placeholder 2"/>
          <p:cNvSpPr>
            <a:spLocks noGrp="1"/>
          </p:cNvSpPr>
          <p:nvPr>
            <p:ph type="body" idx="1"/>
          </p:nvPr>
        </p:nvSpPr>
        <p:spPr/>
        <p:txBody>
          <a:bodyPr/>
          <a:lstStyle/>
          <a:p>
            <a:r>
              <a:rPr lang="en-IN" dirty="0"/>
              <a:t>Brute force is difficult</a:t>
            </a:r>
          </a:p>
          <a:p>
            <a:r>
              <a:rPr lang="en-IN" dirty="0"/>
              <a:t>Size of key domain 25!</a:t>
            </a:r>
          </a:p>
          <a:p>
            <a:r>
              <a:rPr lang="en-IN" dirty="0"/>
              <a:t>Hides single letter frequency of characters</a:t>
            </a:r>
          </a:p>
          <a:p>
            <a:r>
              <a:rPr lang="en-IN" dirty="0"/>
              <a:t>Cryptanalyst can have ciphertext only attack based on diagram frequency test to find the key </a:t>
            </a:r>
          </a:p>
        </p:txBody>
      </p:sp>
    </p:spTree>
    <p:extLst>
      <p:ext uri="{BB962C8B-B14F-4D97-AF65-F5344CB8AC3E}">
        <p14:creationId xmlns:p14="http://schemas.microsoft.com/office/powerpoint/2010/main" val="2143957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Shape 88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888" name="Shape 88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889" name="Shape 88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890" name="Shape 89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891" name="Shape 89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892" name="Shape 89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893" name="Shape 89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894" name="Shape 89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896" name="Shape 896"/>
          <p:cNvSpPr txBox="1"/>
          <p:nvPr/>
        </p:nvSpPr>
        <p:spPr>
          <a:xfrm>
            <a:off x="4192023" y="609600"/>
            <a:ext cx="3629140"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Vigenere Cipher</a:t>
            </a:r>
          </a:p>
        </p:txBody>
      </p:sp>
      <p:pic>
        <p:nvPicPr>
          <p:cNvPr id="897" name="Shape 897"/>
          <p:cNvPicPr preferRelativeResize="0"/>
          <p:nvPr/>
        </p:nvPicPr>
        <p:blipFill>
          <a:blip r:embed="rId3">
            <a:alphaModFix/>
          </a:blip>
          <a:stretch>
            <a:fillRect/>
          </a:stretch>
        </p:blipFill>
        <p:spPr>
          <a:xfrm>
            <a:off x="366087" y="1476376"/>
            <a:ext cx="11416442" cy="809624"/>
          </a:xfrm>
          <a:prstGeom prst="rect">
            <a:avLst/>
          </a:prstGeom>
          <a:noFill/>
          <a:ln>
            <a:noFill/>
          </a:ln>
        </p:spPr>
      </p:pic>
      <p:sp>
        <p:nvSpPr>
          <p:cNvPr id="898" name="Shape 898"/>
          <p:cNvSpPr txBox="1"/>
          <p:nvPr/>
        </p:nvSpPr>
        <p:spPr>
          <a:xfrm>
            <a:off x="203148" y="29718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We can encrypt the message “She is listening” using the 6-character keyword “PASCAL”. </a:t>
            </a:r>
          </a:p>
        </p:txBody>
      </p:sp>
      <p:sp>
        <p:nvSpPr>
          <p:cNvPr id="899" name="Shape 899"/>
          <p:cNvSpPr txBox="1"/>
          <p:nvPr/>
        </p:nvSpPr>
        <p:spPr>
          <a:xfrm>
            <a:off x="304722" y="24384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3.16</a:t>
            </a:r>
          </a:p>
        </p:txBody>
      </p:sp>
      <p:sp>
        <p:nvSpPr>
          <p:cNvPr id="900" name="Shape 900"/>
          <p:cNvSpPr/>
          <p:nvPr/>
        </p:nvSpPr>
        <p:spPr>
          <a:xfrm>
            <a:off x="114271" y="3886200"/>
            <a:ext cx="11769833" cy="2170112"/>
          </a:xfrm>
          <a:prstGeom prst="rect">
            <a:avLst/>
          </a:prstGeom>
          <a:noFill/>
          <a:ln>
            <a:noFill/>
          </a:ln>
        </p:spPr>
        <p:txBody>
          <a:bodyPr lIns="110350" tIns="110350" rIns="110350" bIns="110350" anchor="ctr" anchorCtr="0">
            <a:noAutofit/>
          </a:bodyPr>
          <a:lstStyle/>
          <a:p>
            <a:endParaRPr/>
          </a:p>
        </p:txBody>
      </p:sp>
      <p:sp>
        <p:nvSpPr>
          <p:cNvPr id="901" name="Shape 901"/>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Shape 908"/>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909" name="Shape 909"/>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910" name="Shape 910"/>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911" name="Shape 911"/>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912" name="Shape 912"/>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913" name="Shape 913"/>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914" name="Shape 914"/>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915" name="Shape 915"/>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917" name="Shape 917"/>
          <p:cNvSpPr txBox="1"/>
          <p:nvPr/>
        </p:nvSpPr>
        <p:spPr>
          <a:xfrm>
            <a:off x="203148" y="1371600"/>
            <a:ext cx="11782530" cy="1552575"/>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Let us see how we can encrypt the message “She is listening” using the 6-character keyword “PASCAL”. The initial key stream is (15, 0, 18, 2, 0, 11). The key stream is the repetition of this initial key stream (as many times as needed).</a:t>
            </a:r>
          </a:p>
        </p:txBody>
      </p:sp>
      <p:sp>
        <p:nvSpPr>
          <p:cNvPr id="918" name="Shape 918"/>
          <p:cNvSpPr txBox="1"/>
          <p:nvPr/>
        </p:nvSpPr>
        <p:spPr>
          <a:xfrm>
            <a:off x="1523605" y="5334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3.16</a:t>
            </a:r>
          </a:p>
        </p:txBody>
      </p:sp>
      <p:sp>
        <p:nvSpPr>
          <p:cNvPr id="919" name="Shape 919"/>
          <p:cNvSpPr/>
          <p:nvPr/>
        </p:nvSpPr>
        <p:spPr>
          <a:xfrm>
            <a:off x="114271" y="2743200"/>
            <a:ext cx="11769833" cy="2170112"/>
          </a:xfrm>
          <a:prstGeom prst="rect">
            <a:avLst/>
          </a:prstGeom>
          <a:noFill/>
          <a:ln>
            <a:noFill/>
          </a:ln>
        </p:spPr>
        <p:txBody>
          <a:bodyPr lIns="110350" tIns="110350" rIns="110350" bIns="110350" anchor="ctr" anchorCtr="0">
            <a:noAutofit/>
          </a:bodyPr>
          <a:lstStyle/>
          <a:p>
            <a:endParaRPr/>
          </a:p>
        </p:txBody>
      </p:sp>
      <p:sp>
        <p:nvSpPr>
          <p:cNvPr id="920" name="Shape 92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298" y="3657600"/>
            <a:ext cx="10927809"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Shape 92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928" name="Shape 92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929" name="Shape 92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930" name="Shape 93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931" name="Shape 93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932" name="Shape 93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933" name="Shape 93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934" name="Shape 93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936" name="Shape 936"/>
          <p:cNvSpPr txBox="1"/>
          <p:nvPr/>
        </p:nvSpPr>
        <p:spPr>
          <a:xfrm>
            <a:off x="203148" y="11430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Vigenere cipher can be seen as combinations of m additive ciphers.</a:t>
            </a:r>
          </a:p>
        </p:txBody>
      </p:sp>
      <p:sp>
        <p:nvSpPr>
          <p:cNvPr id="937" name="Shape 937"/>
          <p:cNvSpPr txBox="1"/>
          <p:nvPr/>
        </p:nvSpPr>
        <p:spPr>
          <a:xfrm>
            <a:off x="1523605" y="5334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3.17</a:t>
            </a:r>
          </a:p>
        </p:txBody>
      </p:sp>
      <p:pic>
        <p:nvPicPr>
          <p:cNvPr id="938" name="Shape 938"/>
          <p:cNvPicPr preferRelativeResize="0"/>
          <p:nvPr/>
        </p:nvPicPr>
        <p:blipFill>
          <a:blip r:embed="rId3">
            <a:alphaModFix/>
          </a:blip>
          <a:stretch>
            <a:fillRect/>
          </a:stretch>
        </p:blipFill>
        <p:spPr>
          <a:xfrm>
            <a:off x="1612481" y="2965451"/>
            <a:ext cx="8138579" cy="3435349"/>
          </a:xfrm>
          <a:prstGeom prst="rect">
            <a:avLst/>
          </a:prstGeom>
          <a:noFill/>
          <a:ln>
            <a:noFill/>
          </a:ln>
        </p:spPr>
      </p:pic>
      <p:sp>
        <p:nvSpPr>
          <p:cNvPr id="939" name="Shape 939"/>
          <p:cNvSpPr txBox="1"/>
          <p:nvPr/>
        </p:nvSpPr>
        <p:spPr>
          <a:xfrm>
            <a:off x="812590" y="2209800"/>
            <a:ext cx="10400705"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A Vigenere cipher as a combination of m additive ciphers</a:t>
            </a:r>
          </a:p>
        </p:txBody>
      </p:sp>
      <p:sp>
        <p:nvSpPr>
          <p:cNvPr id="940" name="Shape 94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Shape 94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948" name="Shape 94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949" name="Shape 94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950" name="Shape 95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951" name="Shape 95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952" name="Shape 95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953" name="Shape 95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954" name="Shape 95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956" name="Shape 956"/>
          <p:cNvSpPr txBox="1"/>
          <p:nvPr/>
        </p:nvSpPr>
        <p:spPr>
          <a:xfrm>
            <a:off x="203148" y="11430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Using Example, we can say that the additive cipher is a special case of Vigenere cipher in which </a:t>
            </a:r>
            <a:r>
              <a:rPr lang="en-US" sz="2900" dirty="0">
                <a:solidFill>
                  <a:schemeClr val="dk1"/>
                </a:solidFill>
                <a:latin typeface="Tahoma"/>
                <a:ea typeface="Tahoma"/>
                <a:cs typeface="Tahoma"/>
                <a:sym typeface="Tahoma"/>
              </a:rPr>
              <a:t>m</a:t>
            </a:r>
            <a:r>
              <a:rPr lang="en-US" sz="2900" b="1" dirty="0">
                <a:solidFill>
                  <a:schemeClr val="dk1"/>
                </a:solidFill>
                <a:latin typeface="Tahoma"/>
                <a:ea typeface="Tahoma"/>
                <a:cs typeface="Tahoma"/>
                <a:sym typeface="Tahoma"/>
              </a:rPr>
              <a:t> = 1.</a:t>
            </a:r>
          </a:p>
        </p:txBody>
      </p:sp>
      <p:sp>
        <p:nvSpPr>
          <p:cNvPr id="957" name="Shape 957"/>
          <p:cNvSpPr txBox="1"/>
          <p:nvPr/>
        </p:nvSpPr>
        <p:spPr>
          <a:xfrm>
            <a:off x="1523605" y="5334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3.18</a:t>
            </a:r>
          </a:p>
        </p:txBody>
      </p:sp>
      <p:pic>
        <p:nvPicPr>
          <p:cNvPr id="958" name="Shape 958"/>
          <p:cNvPicPr preferRelativeResize="0"/>
          <p:nvPr/>
        </p:nvPicPr>
        <p:blipFill>
          <a:blip r:embed="rId3">
            <a:alphaModFix/>
          </a:blip>
          <a:stretch>
            <a:fillRect/>
          </a:stretch>
        </p:blipFill>
        <p:spPr>
          <a:xfrm>
            <a:off x="4164515" y="2135186"/>
            <a:ext cx="6384318" cy="4570412"/>
          </a:xfrm>
          <a:prstGeom prst="rect">
            <a:avLst/>
          </a:prstGeom>
          <a:noFill/>
          <a:ln>
            <a:noFill/>
          </a:ln>
        </p:spPr>
      </p:pic>
      <p:sp>
        <p:nvSpPr>
          <p:cNvPr id="959" name="Shape 959"/>
          <p:cNvSpPr txBox="1"/>
          <p:nvPr/>
        </p:nvSpPr>
        <p:spPr>
          <a:xfrm>
            <a:off x="812588" y="4114800"/>
            <a:ext cx="3047206" cy="7620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Table 3.3  </a:t>
            </a:r>
          </a:p>
          <a:p>
            <a:pPr>
              <a:buClr>
                <a:schemeClr val="dk1"/>
              </a:buClr>
              <a:buSzPct val="25000"/>
            </a:pPr>
            <a:r>
              <a:rPr lang="en-US" sz="2400" dirty="0">
                <a:solidFill>
                  <a:schemeClr val="dk1"/>
                </a:solidFill>
                <a:latin typeface="Tahoma"/>
                <a:ea typeface="Tahoma"/>
                <a:cs typeface="Tahoma"/>
                <a:sym typeface="Tahoma"/>
              </a:rPr>
              <a:t>A Vigenere Tableau</a:t>
            </a:r>
          </a:p>
        </p:txBody>
      </p:sp>
      <p:sp>
        <p:nvSpPr>
          <p:cNvPr id="960" name="Shape 96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2" y="76200"/>
            <a:ext cx="10969943" cy="1143000"/>
          </a:xfrm>
        </p:spPr>
        <p:txBody>
          <a:bodyPr>
            <a:normAutofit fontScale="90000"/>
          </a:bodyPr>
          <a:lstStyle/>
          <a:p>
            <a:pPr lvl="0"/>
            <a:r>
              <a:rPr lang="en-US" sz="4800" b="1" dirty="0">
                <a:solidFill>
                  <a:schemeClr val="folHlink"/>
                </a:solidFill>
              </a:rPr>
              <a:t>Vigenere Cipher (Cryptanalysis)</a:t>
            </a:r>
            <a:br>
              <a:rPr lang="en-US" b="1" dirty="0">
                <a:solidFill>
                  <a:schemeClr val="folHlink"/>
                </a:solidFill>
              </a:rPr>
            </a:br>
            <a:endParaRPr lang="en-IN" dirty="0"/>
          </a:p>
        </p:txBody>
      </p:sp>
      <p:sp>
        <p:nvSpPr>
          <p:cNvPr id="3" name="Text Placeholder 2"/>
          <p:cNvSpPr>
            <a:spLocks noGrp="1"/>
          </p:cNvSpPr>
          <p:nvPr>
            <p:ph type="body" idx="1"/>
          </p:nvPr>
        </p:nvSpPr>
        <p:spPr>
          <a:xfrm>
            <a:off x="609442" y="914400"/>
            <a:ext cx="10969943" cy="4525963"/>
          </a:xfrm>
        </p:spPr>
        <p:txBody>
          <a:bodyPr/>
          <a:lstStyle/>
          <a:p>
            <a:r>
              <a:rPr lang="en-IN" sz="3400" dirty="0"/>
              <a:t>Does not preserve frequency of characters</a:t>
            </a:r>
          </a:p>
          <a:p>
            <a:r>
              <a:rPr lang="en-IN" sz="3400" dirty="0"/>
              <a:t> cryptanalysis will be based on finding length of the key and finding key itself</a:t>
            </a:r>
          </a:p>
          <a:p>
            <a:r>
              <a:rPr lang="en-IN" sz="3400" dirty="0"/>
              <a:t>The </a:t>
            </a:r>
            <a:r>
              <a:rPr lang="en-IN" sz="3400" dirty="0" err="1"/>
              <a:t>Kasiski</a:t>
            </a:r>
            <a:r>
              <a:rPr lang="en-IN" sz="3400" dirty="0"/>
              <a:t> test for repetition of three-character segments yields the results</a:t>
            </a:r>
          </a:p>
          <a:p>
            <a:pPr lvl="1"/>
            <a:r>
              <a:rPr lang="en-IN" sz="2900" dirty="0"/>
              <a:t>If two of these segments are found at distance d, the analyst assumes d/m where m is the key length</a:t>
            </a:r>
          </a:p>
          <a:p>
            <a:pPr lvl="1"/>
            <a:r>
              <a:rPr lang="en-IN" sz="2900" dirty="0"/>
              <a:t>If more of repeated segments are found with distances d1,d2,..dn then </a:t>
            </a:r>
            <a:r>
              <a:rPr lang="en-IN" sz="2900" dirty="0" err="1"/>
              <a:t>gcd</a:t>
            </a:r>
            <a:r>
              <a:rPr lang="en-IN" sz="2900" dirty="0"/>
              <a:t>(d1,d2,..dn)/m</a:t>
            </a:r>
          </a:p>
          <a:p>
            <a:pPr lvl="1"/>
            <a:r>
              <a:rPr lang="en-IN" sz="2900" dirty="0"/>
              <a:t>Segment of three letters avoids cases where characters in key are not distinct</a:t>
            </a:r>
          </a:p>
          <a:p>
            <a:pPr lvl="1"/>
            <a:endParaRPr lang="en-IN" dirty="0"/>
          </a:p>
          <a:p>
            <a:endParaRPr lang="en-IN" dirty="0"/>
          </a:p>
          <a:p>
            <a:endParaRPr lang="en-IN" dirty="0"/>
          </a:p>
        </p:txBody>
      </p:sp>
    </p:spTree>
    <p:extLst>
      <p:ext uri="{BB962C8B-B14F-4D97-AF65-F5344CB8AC3E}">
        <p14:creationId xmlns:p14="http://schemas.microsoft.com/office/powerpoint/2010/main" val="20545939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Shape 96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968" name="Shape 96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969" name="Shape 96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970" name="Shape 97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971" name="Shape 97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972" name="Shape 97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973" name="Shape 97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974" name="Shape 97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976" name="Shape 976"/>
          <p:cNvSpPr txBox="1"/>
          <p:nvPr/>
        </p:nvSpPr>
        <p:spPr>
          <a:xfrm>
            <a:off x="1523604" y="533400"/>
            <a:ext cx="7821163"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Vigenere Cipher (Cryptanalysis)</a:t>
            </a:r>
          </a:p>
        </p:txBody>
      </p:sp>
      <p:sp>
        <p:nvSpPr>
          <p:cNvPr id="977" name="Shape 977"/>
          <p:cNvSpPr txBox="1"/>
          <p:nvPr/>
        </p:nvSpPr>
        <p:spPr>
          <a:xfrm>
            <a:off x="151602" y="1782170"/>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Let us assume we have intercepted the following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a:t>
            </a:r>
          </a:p>
        </p:txBody>
      </p:sp>
      <p:sp>
        <p:nvSpPr>
          <p:cNvPr id="978" name="Shape 978"/>
          <p:cNvSpPr txBox="1"/>
          <p:nvPr/>
        </p:nvSpPr>
        <p:spPr>
          <a:xfrm>
            <a:off x="101575" y="12192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3.19</a:t>
            </a:r>
          </a:p>
        </p:txBody>
      </p:sp>
      <p:pic>
        <p:nvPicPr>
          <p:cNvPr id="979" name="Shape 979"/>
          <p:cNvPicPr preferRelativeResize="0"/>
          <p:nvPr/>
        </p:nvPicPr>
        <p:blipFill>
          <a:blip r:embed="rId3">
            <a:alphaModFix/>
          </a:blip>
          <a:stretch>
            <a:fillRect/>
          </a:stretch>
        </p:blipFill>
        <p:spPr>
          <a:xfrm>
            <a:off x="101574" y="2514601"/>
            <a:ext cx="11526480" cy="1209675"/>
          </a:xfrm>
          <a:prstGeom prst="rect">
            <a:avLst/>
          </a:prstGeom>
          <a:noFill/>
          <a:ln>
            <a:noFill/>
          </a:ln>
        </p:spPr>
      </p:pic>
      <p:sp>
        <p:nvSpPr>
          <p:cNvPr id="980" name="Shape 980"/>
          <p:cNvSpPr txBox="1"/>
          <p:nvPr/>
        </p:nvSpPr>
        <p:spPr>
          <a:xfrm>
            <a:off x="291077" y="3749676"/>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dirty="0">
                <a:solidFill>
                  <a:schemeClr val="dk1"/>
                </a:solidFill>
                <a:latin typeface="Tahoma"/>
                <a:ea typeface="Tahoma"/>
                <a:cs typeface="Tahoma"/>
                <a:sym typeface="Tahoma"/>
              </a:rPr>
              <a:t>The </a:t>
            </a:r>
            <a:r>
              <a:rPr lang="en-US" sz="2900" dirty="0" err="1">
                <a:solidFill>
                  <a:schemeClr val="dk1"/>
                </a:solidFill>
                <a:latin typeface="Tahoma"/>
                <a:ea typeface="Tahoma"/>
                <a:cs typeface="Tahoma"/>
                <a:sym typeface="Tahoma"/>
              </a:rPr>
              <a:t>Kasiski</a:t>
            </a:r>
            <a:r>
              <a:rPr lang="en-US" sz="2900" dirty="0">
                <a:solidFill>
                  <a:schemeClr val="dk1"/>
                </a:solidFill>
                <a:latin typeface="Tahoma"/>
                <a:ea typeface="Tahoma"/>
                <a:cs typeface="Tahoma"/>
                <a:sym typeface="Tahoma"/>
              </a:rPr>
              <a:t> test for repetition of three-character segments yields the results shown in Table </a:t>
            </a:r>
          </a:p>
        </p:txBody>
      </p:sp>
      <p:sp>
        <p:nvSpPr>
          <p:cNvPr id="981" name="Shape 981"/>
          <p:cNvSpPr/>
          <p:nvPr/>
        </p:nvSpPr>
        <p:spPr>
          <a:xfrm>
            <a:off x="304720" y="4572001"/>
            <a:ext cx="11319100" cy="2019299"/>
          </a:xfrm>
          <a:prstGeom prst="rect">
            <a:avLst/>
          </a:prstGeom>
          <a:noFill/>
          <a:ln>
            <a:noFill/>
          </a:ln>
        </p:spPr>
        <p:txBody>
          <a:bodyPr lIns="110350" tIns="110350" rIns="110350" bIns="110350" anchor="ctr" anchorCtr="0">
            <a:noAutofit/>
          </a:bodyPr>
          <a:lstStyle/>
          <a:p>
            <a:endParaRPr/>
          </a:p>
        </p:txBody>
      </p:sp>
      <p:sp>
        <p:nvSpPr>
          <p:cNvPr id="982" name="Shape 982"/>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199" y="4572001"/>
            <a:ext cx="11567933"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Shape 1010"/>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011" name="Shape 1011"/>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012" name="Shape 1012"/>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013" name="Shape 1013"/>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014" name="Shape 1014"/>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015" name="Shape 1015"/>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016" name="Shape 1016"/>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017" name="Shape 1017"/>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019" name="Shape 1019"/>
          <p:cNvSpPr txBox="1"/>
          <p:nvPr/>
        </p:nvSpPr>
        <p:spPr>
          <a:xfrm>
            <a:off x="203148" y="10668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The greatest common divisor of differences is 4, which means that the key length is multiple of 4. First try </a:t>
            </a:r>
            <a:r>
              <a:rPr lang="en-US" sz="2900">
                <a:solidFill>
                  <a:schemeClr val="dk1"/>
                </a:solidFill>
                <a:latin typeface="Tahoma"/>
                <a:ea typeface="Tahoma"/>
                <a:cs typeface="Tahoma"/>
                <a:sym typeface="Tahoma"/>
              </a:rPr>
              <a:t>m</a:t>
            </a:r>
            <a:r>
              <a:rPr lang="en-US" sz="2900" b="1">
                <a:solidFill>
                  <a:schemeClr val="dk1"/>
                </a:solidFill>
                <a:latin typeface="Tahoma"/>
                <a:ea typeface="Tahoma"/>
                <a:cs typeface="Tahoma"/>
                <a:sym typeface="Tahoma"/>
              </a:rPr>
              <a:t> = 4. </a:t>
            </a:r>
          </a:p>
        </p:txBody>
      </p:sp>
      <p:sp>
        <p:nvSpPr>
          <p:cNvPr id="1020" name="Shape 1020"/>
          <p:cNvSpPr txBox="1"/>
          <p:nvPr/>
        </p:nvSpPr>
        <p:spPr>
          <a:xfrm>
            <a:off x="1422031" y="3810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3.19</a:t>
            </a:r>
          </a:p>
        </p:txBody>
      </p:sp>
      <p:pic>
        <p:nvPicPr>
          <p:cNvPr id="1021" name="Shape 1021"/>
          <p:cNvPicPr preferRelativeResize="0"/>
          <p:nvPr/>
        </p:nvPicPr>
        <p:blipFill>
          <a:blip r:embed="rId3">
            <a:alphaModFix/>
          </a:blip>
          <a:stretch>
            <a:fillRect/>
          </a:stretch>
        </p:blipFill>
        <p:spPr>
          <a:xfrm>
            <a:off x="1123658" y="2057400"/>
            <a:ext cx="9846285" cy="2519362"/>
          </a:xfrm>
          <a:prstGeom prst="rect">
            <a:avLst/>
          </a:prstGeom>
          <a:noFill/>
          <a:ln>
            <a:noFill/>
          </a:ln>
        </p:spPr>
      </p:pic>
      <p:sp>
        <p:nvSpPr>
          <p:cNvPr id="1023" name="Shape 1023"/>
          <p:cNvSpPr txBox="1"/>
          <p:nvPr/>
        </p:nvSpPr>
        <p:spPr>
          <a:xfrm>
            <a:off x="181985" y="4666397"/>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In this case, the plaintext makes sense.</a:t>
            </a:r>
          </a:p>
        </p:txBody>
      </p:sp>
      <p:sp>
        <p:nvSpPr>
          <p:cNvPr id="1024" name="Shape 1024"/>
          <p:cNvSpPr/>
          <p:nvPr/>
        </p:nvSpPr>
        <p:spPr>
          <a:xfrm>
            <a:off x="361855" y="5410201"/>
            <a:ext cx="11319100" cy="1209675"/>
          </a:xfrm>
          <a:prstGeom prst="rect">
            <a:avLst/>
          </a:prstGeom>
          <a:noFill/>
          <a:ln>
            <a:noFill/>
          </a:ln>
        </p:spPr>
        <p:txBody>
          <a:bodyPr lIns="110350" tIns="110350" rIns="110350" bIns="110350" anchor="ctr" anchorCtr="0">
            <a:noAutofit/>
          </a:bodyPr>
          <a:lstStyle/>
          <a:p>
            <a:endParaRPr/>
          </a:p>
        </p:txBody>
      </p:sp>
      <p:sp>
        <p:nvSpPr>
          <p:cNvPr id="1025" name="Shape 1025"/>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016" y="5356285"/>
            <a:ext cx="11318090" cy="12635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Shape 1118"/>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119" name="Shape 1119"/>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120" name="Shape 1120"/>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121" name="Shape 1121"/>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122" name="Shape 1122"/>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123" name="Shape 1123"/>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124" name="Shape 1124"/>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125" name="Shape 1125"/>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2" name="Title 1"/>
          <p:cNvSpPr>
            <a:spLocks noGrp="1"/>
          </p:cNvSpPr>
          <p:nvPr>
            <p:ph type="title"/>
          </p:nvPr>
        </p:nvSpPr>
        <p:spPr>
          <a:xfrm>
            <a:off x="1828323" y="307976"/>
            <a:ext cx="9727782" cy="1143000"/>
          </a:xfrm>
        </p:spPr>
        <p:txBody>
          <a:bodyPr>
            <a:normAutofit/>
          </a:bodyPr>
          <a:lstStyle/>
          <a:p>
            <a:pPr lvl="0"/>
            <a:r>
              <a:rPr lang="en-US" b="1" dirty="0">
                <a:solidFill>
                  <a:schemeClr val="folHlink"/>
                </a:solidFill>
              </a:rPr>
              <a:t>One-Time Pad</a:t>
            </a:r>
            <a:endParaRPr lang="en-IN" dirty="0"/>
          </a:p>
        </p:txBody>
      </p:sp>
      <p:sp>
        <p:nvSpPr>
          <p:cNvPr id="3" name="Text Placeholder 2"/>
          <p:cNvSpPr>
            <a:spLocks noGrp="1"/>
          </p:cNvSpPr>
          <p:nvPr>
            <p:ph type="body" idx="1"/>
          </p:nvPr>
        </p:nvSpPr>
        <p:spPr>
          <a:xfrm>
            <a:off x="516805" y="1390460"/>
            <a:ext cx="10969943" cy="5256000"/>
          </a:xfrm>
        </p:spPr>
        <p:txBody>
          <a:bodyPr/>
          <a:lstStyle/>
          <a:p>
            <a:r>
              <a:rPr lang="en-IN" dirty="0"/>
              <a:t>Maintains perfect secrecy. </a:t>
            </a:r>
          </a:p>
          <a:p>
            <a:r>
              <a:rPr lang="en-IN" dirty="0"/>
              <a:t>Each plaintext symbol is encrypted with a key randomly chosen from a key domain</a:t>
            </a:r>
          </a:p>
          <a:p>
            <a:r>
              <a:rPr lang="en-IN" dirty="0"/>
              <a:t>This idea is used in a cipher called one-time pad, invented by </a:t>
            </a:r>
            <a:r>
              <a:rPr lang="en-IN" dirty="0" err="1"/>
              <a:t>Vernam</a:t>
            </a:r>
            <a:r>
              <a:rPr lang="en-IN" dirty="0"/>
              <a:t>. </a:t>
            </a:r>
          </a:p>
          <a:p>
            <a:r>
              <a:rPr lang="en-IN" dirty="0"/>
              <a:t>Impossible to implement commercially as needs random keys be exchanged </a:t>
            </a:r>
            <a:r>
              <a:rPr lang="en-IN" dirty="0" err="1"/>
              <a:t>everytime</a:t>
            </a:r>
            <a:endParaRPr lang="en-IN" dirty="0"/>
          </a:p>
          <a:p>
            <a:pPr marL="88141" indent="0">
              <a:buNone/>
            </a:pPr>
            <a:endParaRPr lang="en-IN" dirty="0"/>
          </a:p>
          <a:p>
            <a:endParaRPr lang="en-IN" dirty="0"/>
          </a:p>
        </p:txBody>
      </p:sp>
      <p:sp>
        <p:nvSpPr>
          <p:cNvPr id="1129" name="Shape 1129"/>
          <p:cNvSpPr txBox="1">
            <a:spLocks noGrp="1"/>
          </p:cNvSpPr>
          <p:nvPr>
            <p:ph type="sldNum" idx="4294967295"/>
          </p:nvPr>
        </p:nvSpPr>
        <p:spPr>
          <a:xfrm>
            <a:off x="1" y="6400800"/>
            <a:ext cx="2539339"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Vernam</a:t>
            </a:r>
            <a:r>
              <a:rPr lang="en-IN" dirty="0"/>
              <a:t> Cipher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3812" y="1447800"/>
            <a:ext cx="8991600" cy="4794594"/>
          </a:xfrm>
          <a:prstGeom prst="rect">
            <a:avLst/>
          </a:prstGeom>
        </p:spPr>
      </p:pic>
      <p:sp>
        <p:nvSpPr>
          <p:cNvPr id="5" name="TextBox 4"/>
          <p:cNvSpPr txBox="1"/>
          <p:nvPr/>
        </p:nvSpPr>
        <p:spPr>
          <a:xfrm>
            <a:off x="4652121" y="1651828"/>
            <a:ext cx="2274982" cy="353943"/>
          </a:xfrm>
          <a:prstGeom prst="rect">
            <a:avLst/>
          </a:prstGeom>
          <a:noFill/>
        </p:spPr>
        <p:txBody>
          <a:bodyPr wrap="none" rtlCol="0">
            <a:spAutoFit/>
          </a:bodyPr>
          <a:lstStyle/>
          <a:p>
            <a:r>
              <a:rPr lang="en-IN" dirty="0"/>
              <a:t>Randomly generated </a:t>
            </a:r>
          </a:p>
        </p:txBody>
      </p:sp>
      <p:cxnSp>
        <p:nvCxnSpPr>
          <p:cNvPr id="7" name="Straight Arrow Connector 6"/>
          <p:cNvCxnSpPr/>
          <p:nvPr/>
        </p:nvCxnSpPr>
        <p:spPr>
          <a:xfrm flipH="1">
            <a:off x="4189412" y="2005771"/>
            <a:ext cx="462709" cy="43262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780212" y="2005771"/>
            <a:ext cx="609600" cy="43262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0915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Shape 1136"/>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137" name="Shape 1137"/>
          <p:cNvSpPr txBox="1"/>
          <p:nvPr/>
        </p:nvSpPr>
        <p:spPr>
          <a:xfrm>
            <a:off x="1" y="0"/>
            <a:ext cx="12188825" cy="838199"/>
          </a:xfrm>
          <a:prstGeom prst="rect">
            <a:avLst/>
          </a:prstGeom>
          <a:solidFill>
            <a:srgbClr val="33CCFF"/>
          </a:solidFill>
          <a:ln w="9525" cap="rnd" cmpd="sng">
            <a:solidFill>
              <a:schemeClr val="dk1"/>
            </a:solidFill>
            <a:prstDash val="solid"/>
            <a:miter/>
            <a:headEnd type="none" w="med" len="med"/>
            <a:tailEnd type="none" w="med" len="med"/>
          </a:ln>
        </p:spPr>
        <p:txBody>
          <a:bodyPr lIns="110350" tIns="55160" rIns="110350" bIns="55160" anchor="ctr" anchorCtr="0">
            <a:noAutofit/>
          </a:bodyPr>
          <a:lstStyle/>
          <a:p>
            <a:endParaRPr/>
          </a:p>
        </p:txBody>
      </p:sp>
      <p:sp>
        <p:nvSpPr>
          <p:cNvPr id="1138" name="Shape 1138"/>
          <p:cNvSpPr txBox="1"/>
          <p:nvPr/>
        </p:nvSpPr>
        <p:spPr>
          <a:xfrm>
            <a:off x="304721" y="76200"/>
            <a:ext cx="8403094" cy="579436"/>
          </a:xfrm>
          <a:prstGeom prst="rect">
            <a:avLst/>
          </a:prstGeom>
          <a:noFill/>
          <a:ln>
            <a:noFill/>
          </a:ln>
        </p:spPr>
        <p:txBody>
          <a:bodyPr lIns="110350" tIns="55160" rIns="110350" bIns="55160" anchor="t" anchorCtr="0">
            <a:noAutofit/>
          </a:bodyPr>
          <a:lstStyle/>
          <a:p>
            <a:pPr>
              <a:buClr>
                <a:schemeClr val="dk1"/>
              </a:buClr>
              <a:buSzPct val="25000"/>
            </a:pPr>
            <a:r>
              <a:rPr lang="en-US" sz="3900" b="1" dirty="0">
                <a:solidFill>
                  <a:schemeClr val="dk1"/>
                </a:solidFill>
                <a:latin typeface="Times New Roman"/>
                <a:ea typeface="Times New Roman"/>
                <a:cs typeface="Times New Roman"/>
                <a:sym typeface="Times New Roman"/>
              </a:rPr>
              <a:t>TRANSPOSITION CIPHERS</a:t>
            </a:r>
          </a:p>
        </p:txBody>
      </p:sp>
      <p:sp>
        <p:nvSpPr>
          <p:cNvPr id="1139" name="Shape 1139"/>
          <p:cNvSpPr txBox="1"/>
          <p:nvPr/>
        </p:nvSpPr>
        <p:spPr>
          <a:xfrm>
            <a:off x="10969943" y="6400801"/>
            <a:ext cx="245468" cy="366711"/>
          </a:xfrm>
          <a:prstGeom prst="rect">
            <a:avLst/>
          </a:prstGeom>
          <a:noFill/>
          <a:ln>
            <a:noFill/>
          </a:ln>
        </p:spPr>
        <p:txBody>
          <a:bodyPr lIns="110350" tIns="55160" rIns="110350" bIns="55160" anchor="t" anchorCtr="0">
            <a:noAutofit/>
          </a:bodyPr>
          <a:lstStyle/>
          <a:p>
            <a:endParaRPr/>
          </a:p>
        </p:txBody>
      </p:sp>
      <p:sp>
        <p:nvSpPr>
          <p:cNvPr id="1140" name="Shape 1140"/>
          <p:cNvSpPr txBox="1"/>
          <p:nvPr/>
        </p:nvSpPr>
        <p:spPr>
          <a:xfrm>
            <a:off x="101575" y="914400"/>
            <a:ext cx="11477809" cy="946150"/>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i="1">
                <a:solidFill>
                  <a:schemeClr val="dk1"/>
                </a:solidFill>
                <a:latin typeface="Tahoma"/>
                <a:ea typeface="Tahoma"/>
                <a:cs typeface="Tahoma"/>
                <a:sym typeface="Tahoma"/>
              </a:rPr>
              <a:t>A transposition cipher does not substitute one symbol for another, instead it changes the location of the symbols. </a:t>
            </a:r>
          </a:p>
        </p:txBody>
      </p:sp>
      <p:sp>
        <p:nvSpPr>
          <p:cNvPr id="1141" name="Shape 1141"/>
          <p:cNvSpPr txBox="1"/>
          <p:nvPr/>
        </p:nvSpPr>
        <p:spPr>
          <a:xfrm>
            <a:off x="304721" y="5076826"/>
            <a:ext cx="8532176" cy="1187449"/>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rgbClr val="0033CC"/>
                </a:solidFill>
                <a:latin typeface="Tahoma"/>
                <a:ea typeface="Tahoma"/>
                <a:cs typeface="Tahoma"/>
                <a:sym typeface="Tahoma"/>
              </a:rPr>
              <a:t>Keyless Transposition Ciphers</a:t>
            </a:r>
            <a:br>
              <a:rPr lang="en-US" sz="2900" b="1" dirty="0">
                <a:solidFill>
                  <a:srgbClr val="0033CC"/>
                </a:solidFill>
                <a:latin typeface="Tahoma"/>
                <a:ea typeface="Tahoma"/>
                <a:cs typeface="Tahoma"/>
                <a:sym typeface="Tahoma"/>
              </a:rPr>
            </a:br>
            <a:r>
              <a:rPr lang="en-US" sz="2900" b="1" dirty="0">
                <a:solidFill>
                  <a:srgbClr val="0033CC"/>
                </a:solidFill>
                <a:latin typeface="Tahoma"/>
                <a:ea typeface="Tahoma"/>
                <a:cs typeface="Tahoma"/>
                <a:sym typeface="Tahoma"/>
              </a:rPr>
              <a:t>Keyed Transposition Ciphers</a:t>
            </a:r>
            <a:br>
              <a:rPr lang="en-US" sz="2900" b="1" dirty="0">
                <a:solidFill>
                  <a:srgbClr val="0033CC"/>
                </a:solidFill>
                <a:latin typeface="Tahoma"/>
                <a:ea typeface="Tahoma"/>
                <a:cs typeface="Tahoma"/>
                <a:sym typeface="Tahoma"/>
              </a:rPr>
            </a:br>
            <a:r>
              <a:rPr lang="en-US" sz="2900" b="1" dirty="0">
                <a:solidFill>
                  <a:srgbClr val="0033CC"/>
                </a:solidFill>
                <a:latin typeface="Tahoma"/>
                <a:ea typeface="Tahoma"/>
                <a:cs typeface="Tahoma"/>
                <a:sym typeface="Tahoma"/>
              </a:rPr>
              <a:t>Combining Two Approaches</a:t>
            </a:r>
          </a:p>
        </p:txBody>
      </p:sp>
      <p:sp>
        <p:nvSpPr>
          <p:cNvPr id="1142" name="Shape 1142"/>
          <p:cNvSpPr txBox="1"/>
          <p:nvPr/>
        </p:nvSpPr>
        <p:spPr>
          <a:xfrm>
            <a:off x="220076" y="4572000"/>
            <a:ext cx="6481660" cy="519112"/>
          </a:xfrm>
          <a:prstGeom prst="rect">
            <a:avLst/>
          </a:prstGeom>
          <a:noFill/>
          <a:ln>
            <a:noFill/>
          </a:ln>
        </p:spPr>
        <p:txBody>
          <a:bodyPr lIns="110350" tIns="55160" rIns="110350" bIns="55160" anchor="t" anchorCtr="0">
            <a:noAutofit/>
          </a:bodyPr>
          <a:lstStyle/>
          <a:p>
            <a:pPr algn="ctr">
              <a:buClr>
                <a:schemeClr val="dk1"/>
              </a:buClr>
              <a:buSzPct val="25000"/>
            </a:pPr>
            <a:r>
              <a:rPr lang="en-US" sz="2200" b="1" i="1" u="sng">
                <a:solidFill>
                  <a:schemeClr val="hlink"/>
                </a:solidFill>
                <a:latin typeface="Tahoma"/>
                <a:ea typeface="Tahoma"/>
                <a:cs typeface="Tahoma"/>
                <a:sym typeface="Tahoma"/>
              </a:rPr>
              <a:t>Topics discussed in this section:</a:t>
            </a:r>
          </a:p>
        </p:txBody>
      </p:sp>
      <p:cxnSp>
        <p:nvCxnSpPr>
          <p:cNvPr id="1143" name="Shape 1143"/>
          <p:cNvCxnSpPr/>
          <p:nvPr/>
        </p:nvCxnSpPr>
        <p:spPr>
          <a:xfrm>
            <a:off x="609442" y="3462337"/>
            <a:ext cx="10868368" cy="0"/>
          </a:xfrm>
          <a:prstGeom prst="straightConnector1">
            <a:avLst/>
          </a:prstGeom>
          <a:noFill/>
          <a:ln w="76200" cap="rnd" cmpd="sng">
            <a:solidFill>
              <a:srgbClr val="009900"/>
            </a:solidFill>
            <a:prstDash val="solid"/>
            <a:miter/>
            <a:headEnd type="none" w="med" len="med"/>
            <a:tailEnd type="none" w="med" len="med"/>
          </a:ln>
        </p:spPr>
      </p:cxnSp>
      <p:cxnSp>
        <p:nvCxnSpPr>
          <p:cNvPr id="1144" name="Shape 1144"/>
          <p:cNvCxnSpPr/>
          <p:nvPr/>
        </p:nvCxnSpPr>
        <p:spPr>
          <a:xfrm>
            <a:off x="611557" y="4148137"/>
            <a:ext cx="10868368" cy="0"/>
          </a:xfrm>
          <a:prstGeom prst="straightConnector1">
            <a:avLst/>
          </a:prstGeom>
          <a:noFill/>
          <a:ln w="76200" cap="rnd" cmpd="sng">
            <a:solidFill>
              <a:srgbClr val="009900"/>
            </a:solidFill>
            <a:prstDash val="solid"/>
            <a:miter/>
            <a:headEnd type="none" w="med" len="med"/>
            <a:tailEnd type="none" w="med" len="med"/>
          </a:ln>
        </p:spPr>
      </p:cxnSp>
      <p:sp>
        <p:nvSpPr>
          <p:cNvPr id="1145" name="Shape 1145"/>
          <p:cNvSpPr txBox="1"/>
          <p:nvPr/>
        </p:nvSpPr>
        <p:spPr>
          <a:xfrm>
            <a:off x="660229" y="3538537"/>
            <a:ext cx="10766794" cy="519112"/>
          </a:xfrm>
          <a:prstGeom prst="rect">
            <a:avLst/>
          </a:prstGeom>
          <a:solidFill>
            <a:srgbClr val="99FF33"/>
          </a:solidFill>
          <a:ln>
            <a:noFill/>
          </a:ln>
        </p:spPr>
        <p:txBody>
          <a:bodyPr lIns="110350" tIns="55160" rIns="110350" bIns="55160" anchor="t" anchorCtr="0">
            <a:noAutofit/>
          </a:bodyPr>
          <a:lstStyle/>
          <a:p>
            <a:pPr algn="ctr">
              <a:buClr>
                <a:schemeClr val="dk1"/>
              </a:buClr>
              <a:buSzPct val="25000"/>
            </a:pPr>
            <a:r>
              <a:rPr lang="en-US" sz="2200" b="1">
                <a:solidFill>
                  <a:schemeClr val="dk1"/>
                </a:solidFill>
              </a:rPr>
              <a:t>A transposition cipher reorders symbols.</a:t>
            </a:r>
          </a:p>
        </p:txBody>
      </p:sp>
      <p:sp>
        <p:nvSpPr>
          <p:cNvPr id="1146" name="Shape 1146"/>
          <p:cNvSpPr txBox="1"/>
          <p:nvPr/>
        </p:nvSpPr>
        <p:spPr>
          <a:xfrm>
            <a:off x="787195" y="2819400"/>
            <a:ext cx="1165978" cy="519112"/>
          </a:xfrm>
          <a:prstGeom prst="rect">
            <a:avLst/>
          </a:prstGeom>
          <a:noFill/>
          <a:ln>
            <a:noFill/>
          </a:ln>
        </p:spPr>
        <p:txBody>
          <a:bodyPr lIns="110350" tIns="55160" rIns="110350" bIns="55160" anchor="t" anchorCtr="0">
            <a:noAutofit/>
          </a:bodyPr>
          <a:lstStyle/>
          <a:p>
            <a:pPr>
              <a:buSzPct val="25000"/>
            </a:pPr>
            <a:r>
              <a:rPr lang="en-US" sz="2200">
                <a:solidFill>
                  <a:schemeClr val="hlink"/>
                </a:solidFill>
                <a:latin typeface="Tahoma"/>
                <a:ea typeface="Tahoma"/>
                <a:cs typeface="Tahoma"/>
                <a:sym typeface="Tahoma"/>
              </a:rPr>
              <a:t>Note</a:t>
            </a:r>
          </a:p>
        </p:txBody>
      </p:sp>
      <p:sp>
        <p:nvSpPr>
          <p:cNvPr id="1147" name="Shape 114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Shape 1154"/>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155" name="Shape 1155"/>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156" name="Shape 1156"/>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157" name="Shape 1157"/>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158" name="Shape 1158"/>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159" name="Shape 1159"/>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160" name="Shape 1160"/>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161" name="Shape 1161"/>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162" name="Shape 1162"/>
          <p:cNvSpPr txBox="1"/>
          <p:nvPr/>
        </p:nvSpPr>
        <p:spPr>
          <a:xfrm>
            <a:off x="1523605" y="0"/>
            <a:ext cx="8783993" cy="579436"/>
          </a:xfrm>
          <a:prstGeom prst="rect">
            <a:avLst/>
          </a:prstGeom>
          <a:noFill/>
          <a:ln>
            <a:noFill/>
          </a:ln>
        </p:spPr>
        <p:txBody>
          <a:bodyPr lIns="110350" tIns="55160" rIns="110350" bIns="55160" anchor="t" anchorCtr="0">
            <a:noAutofit/>
          </a:bodyPr>
          <a:lstStyle/>
          <a:p>
            <a:pPr>
              <a:buClr>
                <a:schemeClr val="dk1"/>
              </a:buClr>
              <a:buSzPct val="25000"/>
            </a:pPr>
            <a:r>
              <a:rPr lang="en-US" sz="3900" dirty="0">
                <a:solidFill>
                  <a:schemeClr val="hlink"/>
                </a:solidFill>
                <a:latin typeface="Tahoma"/>
                <a:ea typeface="Tahoma"/>
                <a:cs typeface="Tahoma"/>
                <a:sym typeface="Tahoma"/>
              </a:rPr>
              <a:t>Keyless Transposition Ciphers</a:t>
            </a:r>
          </a:p>
        </p:txBody>
      </p:sp>
      <p:sp>
        <p:nvSpPr>
          <p:cNvPr id="1163" name="Shape 1163"/>
          <p:cNvSpPr txBox="1"/>
          <p:nvPr/>
        </p:nvSpPr>
        <p:spPr>
          <a:xfrm>
            <a:off x="203148" y="1143000"/>
            <a:ext cx="11782530" cy="946150"/>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a:solidFill>
                  <a:schemeClr val="dk1"/>
                </a:solidFill>
                <a:latin typeface="Tahoma"/>
                <a:ea typeface="Tahoma"/>
                <a:cs typeface="Tahoma"/>
                <a:sym typeface="Tahoma"/>
              </a:rPr>
              <a:t>Simple transposition ciphers, which were used in the past, are keyless. </a:t>
            </a:r>
          </a:p>
        </p:txBody>
      </p:sp>
      <p:sp>
        <p:nvSpPr>
          <p:cNvPr id="1164" name="Shape 1164"/>
          <p:cNvSpPr txBox="1"/>
          <p:nvPr/>
        </p:nvSpPr>
        <p:spPr>
          <a:xfrm>
            <a:off x="304721" y="2895601"/>
            <a:ext cx="11782530" cy="1552575"/>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A good example of a keyless cipher using the first method is the </a:t>
            </a:r>
            <a:r>
              <a:rPr lang="en-US" sz="2900" b="1" dirty="0">
                <a:solidFill>
                  <a:schemeClr val="hlink"/>
                </a:solidFill>
                <a:latin typeface="Tahoma"/>
                <a:ea typeface="Tahoma"/>
                <a:cs typeface="Tahoma"/>
                <a:sym typeface="Tahoma"/>
              </a:rPr>
              <a:t>rail fence cipher</a:t>
            </a:r>
            <a:r>
              <a:rPr lang="en-US" sz="2900" b="1" dirty="0">
                <a:solidFill>
                  <a:schemeClr val="dk1"/>
                </a:solidFill>
                <a:latin typeface="Tahoma"/>
                <a:ea typeface="Tahoma"/>
                <a:cs typeface="Tahoma"/>
                <a:sym typeface="Tahoma"/>
              </a:rPr>
              <a:t>. The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is created reading the pattern row by row. For example, to send the message “Meet me at the park” to Bob, Alice writes</a:t>
            </a:r>
          </a:p>
        </p:txBody>
      </p:sp>
      <p:sp>
        <p:nvSpPr>
          <p:cNvPr id="1165" name="Shape 1165"/>
          <p:cNvSpPr txBox="1"/>
          <p:nvPr/>
        </p:nvSpPr>
        <p:spPr>
          <a:xfrm>
            <a:off x="406296" y="22860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3.22</a:t>
            </a:r>
          </a:p>
        </p:txBody>
      </p:sp>
      <p:sp>
        <p:nvSpPr>
          <p:cNvPr id="1166" name="Shape 1166"/>
          <p:cNvSpPr txBox="1"/>
          <p:nvPr/>
        </p:nvSpPr>
        <p:spPr>
          <a:xfrm>
            <a:off x="304721" y="5791200"/>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She then creates the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a:t>
            </a:r>
            <a:r>
              <a:rPr lang="en-US" sz="2900" b="1" dirty="0">
                <a:solidFill>
                  <a:schemeClr val="hlink"/>
                </a:solidFill>
                <a:latin typeface="Tahoma"/>
                <a:ea typeface="Tahoma"/>
                <a:cs typeface="Tahoma"/>
                <a:sym typeface="Tahoma"/>
              </a:rPr>
              <a:t>MEMATEAKETETHPR</a:t>
            </a:r>
            <a:r>
              <a:rPr lang="en-US" sz="2900" b="1" dirty="0">
                <a:solidFill>
                  <a:schemeClr val="dk1"/>
                </a:solidFill>
                <a:latin typeface="Tahoma"/>
                <a:ea typeface="Tahoma"/>
                <a:cs typeface="Tahoma"/>
                <a:sym typeface="Tahoma"/>
              </a:rPr>
              <a:t>”.</a:t>
            </a:r>
          </a:p>
        </p:txBody>
      </p:sp>
      <p:pic>
        <p:nvPicPr>
          <p:cNvPr id="1167" name="Shape 1167"/>
          <p:cNvPicPr preferRelativeResize="0"/>
          <p:nvPr/>
        </p:nvPicPr>
        <p:blipFill>
          <a:blip r:embed="rId3">
            <a:alphaModFix/>
          </a:blip>
          <a:stretch>
            <a:fillRect/>
          </a:stretch>
        </p:blipFill>
        <p:spPr>
          <a:xfrm>
            <a:off x="924742" y="4786312"/>
            <a:ext cx="10553066" cy="773112"/>
          </a:xfrm>
          <a:prstGeom prst="rect">
            <a:avLst/>
          </a:prstGeom>
          <a:noFill/>
          <a:ln>
            <a:noFill/>
          </a:ln>
        </p:spPr>
      </p:pic>
      <p:sp>
        <p:nvSpPr>
          <p:cNvPr id="1168" name="Shape 116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Shape 1175"/>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176" name="Shape 1176"/>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177" name="Shape 1177"/>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178" name="Shape 1178"/>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179" name="Shape 1179"/>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180" name="Shape 1180"/>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181" name="Shape 1181"/>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182" name="Shape 1182"/>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184" name="Shape 1184"/>
          <p:cNvSpPr txBox="1"/>
          <p:nvPr/>
        </p:nvSpPr>
        <p:spPr>
          <a:xfrm>
            <a:off x="203148" y="117475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Alice and Bob can agree on the number of columns and use the second method. Alice writes the same plaintext, row by row, in a table of four columns.</a:t>
            </a:r>
          </a:p>
        </p:txBody>
      </p:sp>
      <p:sp>
        <p:nvSpPr>
          <p:cNvPr id="1185" name="Shape 1185"/>
          <p:cNvSpPr txBox="1"/>
          <p:nvPr/>
        </p:nvSpPr>
        <p:spPr>
          <a:xfrm>
            <a:off x="1523605" y="5334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3.23</a:t>
            </a:r>
          </a:p>
        </p:txBody>
      </p:sp>
      <p:sp>
        <p:nvSpPr>
          <p:cNvPr id="1186" name="Shape 1186"/>
          <p:cNvSpPr txBox="1"/>
          <p:nvPr/>
        </p:nvSpPr>
        <p:spPr>
          <a:xfrm>
            <a:off x="203148" y="5959475"/>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She then creates the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a:t>
            </a:r>
            <a:r>
              <a:rPr lang="en-US" sz="2900" b="1" dirty="0">
                <a:solidFill>
                  <a:schemeClr val="hlink"/>
                </a:solidFill>
                <a:latin typeface="Tahoma"/>
                <a:ea typeface="Tahoma"/>
                <a:cs typeface="Tahoma"/>
                <a:sym typeface="Tahoma"/>
              </a:rPr>
              <a:t>“MMTAEEHREAEKTTP”</a:t>
            </a:r>
            <a:r>
              <a:rPr lang="en-US" sz="2900" b="1" dirty="0">
                <a:solidFill>
                  <a:schemeClr val="dk1"/>
                </a:solidFill>
                <a:latin typeface="Tahoma"/>
                <a:ea typeface="Tahoma"/>
                <a:cs typeface="Tahoma"/>
                <a:sym typeface="Tahoma"/>
              </a:rPr>
              <a:t>.</a:t>
            </a:r>
          </a:p>
        </p:txBody>
      </p:sp>
      <p:pic>
        <p:nvPicPr>
          <p:cNvPr id="1187" name="Shape 1187"/>
          <p:cNvPicPr preferRelativeResize="0"/>
          <p:nvPr/>
        </p:nvPicPr>
        <p:blipFill>
          <a:blip r:embed="rId3">
            <a:alphaModFix/>
          </a:blip>
          <a:stretch>
            <a:fillRect/>
          </a:stretch>
        </p:blipFill>
        <p:spPr>
          <a:xfrm>
            <a:off x="4003692" y="2667000"/>
            <a:ext cx="3715897" cy="2371724"/>
          </a:xfrm>
          <a:prstGeom prst="rect">
            <a:avLst/>
          </a:prstGeom>
          <a:noFill/>
          <a:ln>
            <a:noFill/>
          </a:ln>
        </p:spPr>
      </p:pic>
      <p:sp>
        <p:nvSpPr>
          <p:cNvPr id="1188" name="Shape 118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Shape 1195"/>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196" name="Shape 1196"/>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197" name="Shape 1197"/>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198" name="Shape 1198"/>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199" name="Shape 1199"/>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200" name="Shape 1200"/>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201" name="Shape 1201"/>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202" name="Shape 1202"/>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204" name="Shape 1204"/>
          <p:cNvSpPr txBox="1"/>
          <p:nvPr/>
        </p:nvSpPr>
        <p:spPr>
          <a:xfrm>
            <a:off x="203148" y="117475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The cipher in Example is actually a transposition cipher. The following shows the permutation of each character in the plaintext into the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based on the positions.</a:t>
            </a:r>
          </a:p>
        </p:txBody>
      </p:sp>
      <p:sp>
        <p:nvSpPr>
          <p:cNvPr id="1205" name="Shape 1205"/>
          <p:cNvSpPr txBox="1"/>
          <p:nvPr/>
        </p:nvSpPr>
        <p:spPr>
          <a:xfrm>
            <a:off x="1523605" y="3810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3.24</a:t>
            </a:r>
          </a:p>
        </p:txBody>
      </p:sp>
      <p:sp>
        <p:nvSpPr>
          <p:cNvPr id="1206" name="Shape 1206"/>
          <p:cNvSpPr txBox="1"/>
          <p:nvPr/>
        </p:nvSpPr>
        <p:spPr>
          <a:xfrm>
            <a:off x="203148" y="4191000"/>
            <a:ext cx="11782530" cy="2282825"/>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The second character in the plaintext has moved to the fifth position in the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the third character has moved to the ninth position; and so on. Although the characters are permuted,</a:t>
            </a:r>
          </a:p>
          <a:p>
            <a:pPr algn="just">
              <a:buClr>
                <a:schemeClr val="dk1"/>
              </a:buClr>
              <a:buSzPct val="25000"/>
            </a:pPr>
            <a:r>
              <a:rPr lang="en-US" sz="2900" b="1" dirty="0">
                <a:solidFill>
                  <a:schemeClr val="dk1"/>
                </a:solidFill>
                <a:latin typeface="Tahoma"/>
                <a:ea typeface="Tahoma"/>
                <a:cs typeface="Tahoma"/>
                <a:sym typeface="Tahoma"/>
              </a:rPr>
              <a:t>there is a pattern in the permutation: (01, 05, 09, 13), (02, 06, 10, 13), (03, 07, 11, 15), and (08, 12). In each section, the difference between the two adjacent numbers is 4.</a:t>
            </a:r>
          </a:p>
        </p:txBody>
      </p:sp>
      <p:pic>
        <p:nvPicPr>
          <p:cNvPr id="1207" name="Shape 1207"/>
          <p:cNvPicPr preferRelativeResize="0"/>
          <p:nvPr/>
        </p:nvPicPr>
        <p:blipFill>
          <a:blip r:embed="rId3">
            <a:alphaModFix/>
          </a:blip>
          <a:stretch>
            <a:fillRect/>
          </a:stretch>
        </p:blipFill>
        <p:spPr>
          <a:xfrm>
            <a:off x="535378" y="2662239"/>
            <a:ext cx="10942431" cy="995361"/>
          </a:xfrm>
          <a:prstGeom prst="rect">
            <a:avLst/>
          </a:prstGeom>
          <a:noFill/>
          <a:ln>
            <a:noFill/>
          </a:ln>
        </p:spPr>
      </p:pic>
      <p:sp>
        <p:nvSpPr>
          <p:cNvPr id="1208" name="Shape 120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Shape 1215"/>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217" name="Shape 1217"/>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218" name="Shape 1218"/>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219" name="Shape 1219"/>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220" name="Shape 1220"/>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221" name="Shape 1221"/>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222" name="Shape 1222"/>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223" name="Shape 1223"/>
          <p:cNvSpPr txBox="1"/>
          <p:nvPr/>
        </p:nvSpPr>
        <p:spPr>
          <a:xfrm>
            <a:off x="1523605" y="0"/>
            <a:ext cx="8481389" cy="579436"/>
          </a:xfrm>
          <a:prstGeom prst="rect">
            <a:avLst/>
          </a:prstGeom>
          <a:noFill/>
          <a:ln>
            <a:noFill/>
          </a:ln>
        </p:spPr>
        <p:txBody>
          <a:bodyPr lIns="110350" tIns="55160" rIns="110350" bIns="55160" anchor="t" anchorCtr="0">
            <a:noAutofit/>
          </a:bodyPr>
          <a:lstStyle/>
          <a:p>
            <a:pPr>
              <a:buClr>
                <a:schemeClr val="dk1"/>
              </a:buClr>
              <a:buSzPct val="25000"/>
            </a:pPr>
            <a:endParaRPr lang="en-US" sz="3900" dirty="0">
              <a:solidFill>
                <a:schemeClr val="hlink"/>
              </a:solidFill>
              <a:latin typeface="Tahoma"/>
              <a:ea typeface="Tahoma"/>
              <a:cs typeface="Tahoma"/>
              <a:sym typeface="Tahoma"/>
            </a:endParaRPr>
          </a:p>
        </p:txBody>
      </p:sp>
      <p:sp>
        <p:nvSpPr>
          <p:cNvPr id="2" name="Title 1"/>
          <p:cNvSpPr>
            <a:spLocks noGrp="1"/>
          </p:cNvSpPr>
          <p:nvPr>
            <p:ph type="title"/>
          </p:nvPr>
        </p:nvSpPr>
        <p:spPr>
          <a:xfrm>
            <a:off x="1525269" y="381000"/>
            <a:ext cx="10969943" cy="1143000"/>
          </a:xfrm>
        </p:spPr>
        <p:txBody>
          <a:bodyPr>
            <a:normAutofit/>
          </a:bodyPr>
          <a:lstStyle/>
          <a:p>
            <a:pPr lvl="0"/>
            <a:r>
              <a:rPr lang="en-US" dirty="0">
                <a:solidFill>
                  <a:schemeClr val="hlink"/>
                </a:solidFill>
              </a:rPr>
              <a:t>Keyed Transposition Ciphers</a:t>
            </a:r>
            <a:endParaRPr lang="en-IN" dirty="0"/>
          </a:p>
        </p:txBody>
      </p:sp>
      <p:sp>
        <p:nvSpPr>
          <p:cNvPr id="3" name="Text Placeholder 2"/>
          <p:cNvSpPr>
            <a:spLocks noGrp="1"/>
          </p:cNvSpPr>
          <p:nvPr>
            <p:ph type="body" idx="1"/>
          </p:nvPr>
        </p:nvSpPr>
        <p:spPr>
          <a:xfrm>
            <a:off x="586164" y="1341437"/>
            <a:ext cx="10969943" cy="4525963"/>
          </a:xfrm>
        </p:spPr>
        <p:txBody>
          <a:bodyPr/>
          <a:lstStyle/>
          <a:p>
            <a:pPr lvl="0"/>
            <a:r>
              <a:rPr lang="en-US" sz="3400" dirty="0"/>
              <a:t>The keyless ciphers permute the characters by using writing plaintext in one way and reading it in another way </a:t>
            </a:r>
          </a:p>
          <a:p>
            <a:pPr lvl="0"/>
            <a:r>
              <a:rPr lang="en-US" sz="3400" dirty="0"/>
              <a:t>The permutation is done on the whole plaintext to create the whole </a:t>
            </a:r>
            <a:r>
              <a:rPr lang="en-US" sz="3400" dirty="0" err="1"/>
              <a:t>ciphertext</a:t>
            </a:r>
            <a:r>
              <a:rPr lang="en-US" sz="3400" dirty="0"/>
              <a:t>.</a:t>
            </a:r>
          </a:p>
          <a:p>
            <a:pPr lvl="0"/>
            <a:r>
              <a:rPr lang="en-US" sz="3400" dirty="0"/>
              <a:t> Another method is to divide the plaintext into groups of predetermined size, called blocks, and then use a key to permute the characters in each block separately.</a:t>
            </a:r>
          </a:p>
          <a:p>
            <a:endParaRPr lang="en-IN" sz="3400" dirty="0"/>
          </a:p>
        </p:txBody>
      </p:sp>
      <p:sp>
        <p:nvSpPr>
          <p:cNvPr id="1225" name="Shape 1225"/>
          <p:cNvSpPr txBox="1">
            <a:spLocks noGrp="1"/>
          </p:cNvSpPr>
          <p:nvPr>
            <p:ph type="sldNum" idx="4294967295"/>
          </p:nvPr>
        </p:nvSpPr>
        <p:spPr>
          <a:xfrm>
            <a:off x="1" y="6400800"/>
            <a:ext cx="2539339"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Shape 1232"/>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233" name="Shape 1233"/>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234" name="Shape 1234"/>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235" name="Shape 1235"/>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236" name="Shape 1236"/>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237" name="Shape 1237"/>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238" name="Shape 1238"/>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239" name="Shape 1239"/>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241" name="Shape 1241"/>
          <p:cNvSpPr txBox="1"/>
          <p:nvPr/>
        </p:nvSpPr>
        <p:spPr>
          <a:xfrm>
            <a:off x="203148" y="1189037"/>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Alice needs to send the message “Enemy attacks tonight” to Bob..</a:t>
            </a:r>
          </a:p>
        </p:txBody>
      </p:sp>
      <p:sp>
        <p:nvSpPr>
          <p:cNvPr id="1242" name="Shape 1242"/>
          <p:cNvSpPr txBox="1"/>
          <p:nvPr/>
        </p:nvSpPr>
        <p:spPr>
          <a:xfrm>
            <a:off x="1572276" y="4572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3.25</a:t>
            </a:r>
          </a:p>
        </p:txBody>
      </p:sp>
      <p:sp>
        <p:nvSpPr>
          <p:cNvPr id="1243" name="Shape 1243"/>
          <p:cNvSpPr txBox="1"/>
          <p:nvPr/>
        </p:nvSpPr>
        <p:spPr>
          <a:xfrm>
            <a:off x="203148" y="22860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The key used for encryption and decryption is a permutation key, which shows how the character are permuted. </a:t>
            </a:r>
          </a:p>
        </p:txBody>
      </p:sp>
      <p:pic>
        <p:nvPicPr>
          <p:cNvPr id="1244" name="Shape 1244"/>
          <p:cNvPicPr preferRelativeResize="0"/>
          <p:nvPr/>
        </p:nvPicPr>
        <p:blipFill>
          <a:blip r:embed="rId3">
            <a:alphaModFix/>
          </a:blip>
          <a:stretch>
            <a:fillRect/>
          </a:stretch>
        </p:blipFill>
        <p:spPr>
          <a:xfrm>
            <a:off x="711015" y="1951038"/>
            <a:ext cx="10868368" cy="258762"/>
          </a:xfrm>
          <a:prstGeom prst="rect">
            <a:avLst/>
          </a:prstGeom>
          <a:noFill/>
          <a:ln>
            <a:noFill/>
          </a:ln>
        </p:spPr>
      </p:pic>
      <p:pic>
        <p:nvPicPr>
          <p:cNvPr id="1245" name="Shape 1245"/>
          <p:cNvPicPr preferRelativeResize="0"/>
          <p:nvPr/>
        </p:nvPicPr>
        <p:blipFill>
          <a:blip r:embed="rId4">
            <a:alphaModFix/>
          </a:blip>
          <a:stretch>
            <a:fillRect/>
          </a:stretch>
        </p:blipFill>
        <p:spPr>
          <a:xfrm>
            <a:off x="1422031" y="3343275"/>
            <a:ext cx="8491971" cy="1228724"/>
          </a:xfrm>
          <a:prstGeom prst="rect">
            <a:avLst/>
          </a:prstGeom>
          <a:noFill/>
          <a:ln>
            <a:noFill/>
          </a:ln>
        </p:spPr>
      </p:pic>
      <p:sp>
        <p:nvSpPr>
          <p:cNvPr id="1246" name="Shape 1246"/>
          <p:cNvSpPr txBox="1"/>
          <p:nvPr/>
        </p:nvSpPr>
        <p:spPr>
          <a:xfrm>
            <a:off x="203148" y="4695825"/>
            <a:ext cx="11782530"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The permutation yields</a:t>
            </a:r>
          </a:p>
        </p:txBody>
      </p:sp>
      <p:pic>
        <p:nvPicPr>
          <p:cNvPr id="1247" name="Shape 1247"/>
          <p:cNvPicPr preferRelativeResize="0"/>
          <p:nvPr/>
        </p:nvPicPr>
        <p:blipFill>
          <a:blip r:embed="rId5">
            <a:alphaModFix/>
          </a:blip>
          <a:stretch>
            <a:fillRect/>
          </a:stretch>
        </p:blipFill>
        <p:spPr>
          <a:xfrm>
            <a:off x="406296" y="5410201"/>
            <a:ext cx="10942431" cy="257175"/>
          </a:xfrm>
          <a:prstGeom prst="rect">
            <a:avLst/>
          </a:prstGeom>
          <a:noFill/>
          <a:ln>
            <a:noFill/>
          </a:ln>
        </p:spPr>
      </p:pic>
      <p:sp>
        <p:nvSpPr>
          <p:cNvPr id="1248" name="Shape 124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54"/>
        <p:cNvGrpSpPr/>
        <p:nvPr/>
      </p:nvGrpSpPr>
      <p:grpSpPr>
        <a:xfrm>
          <a:off x="0" y="0"/>
          <a:ext cx="0" cy="0"/>
          <a:chOff x="0" y="0"/>
          <a:chExt cx="0" cy="0"/>
        </a:xfrm>
      </p:grpSpPr>
      <p:sp>
        <p:nvSpPr>
          <p:cNvPr id="1255" name="Shape 1255"/>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256" name="Shape 1256"/>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257" name="Shape 1257"/>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258" name="Shape 1258"/>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259" name="Shape 1259"/>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260" name="Shape 1260"/>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261" name="Shape 1261"/>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262" name="Shape 1262"/>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263" name="Shape 1263"/>
          <p:cNvSpPr txBox="1"/>
          <p:nvPr/>
        </p:nvSpPr>
        <p:spPr>
          <a:xfrm>
            <a:off x="1523603" y="0"/>
            <a:ext cx="8252850" cy="579436"/>
          </a:xfrm>
          <a:prstGeom prst="rect">
            <a:avLst/>
          </a:prstGeom>
          <a:noFill/>
          <a:ln>
            <a:noFill/>
          </a:ln>
        </p:spPr>
        <p:txBody>
          <a:bodyPr lIns="110350" tIns="55160" rIns="110350" bIns="55160" anchor="t" anchorCtr="0">
            <a:noAutofit/>
          </a:bodyPr>
          <a:lstStyle/>
          <a:p>
            <a:pPr>
              <a:buClr>
                <a:schemeClr val="dk1"/>
              </a:buClr>
              <a:buSzPct val="25000"/>
            </a:pPr>
            <a:r>
              <a:rPr lang="en-US" sz="3900" dirty="0">
                <a:solidFill>
                  <a:schemeClr val="hlink"/>
                </a:solidFill>
                <a:latin typeface="Tahoma"/>
                <a:ea typeface="Tahoma"/>
                <a:cs typeface="Tahoma"/>
                <a:sym typeface="Tahoma"/>
              </a:rPr>
              <a:t>Combining Two Approaches</a:t>
            </a:r>
          </a:p>
        </p:txBody>
      </p:sp>
      <p:sp>
        <p:nvSpPr>
          <p:cNvPr id="1264" name="Shape 1264"/>
          <p:cNvSpPr txBox="1"/>
          <p:nvPr/>
        </p:nvSpPr>
        <p:spPr>
          <a:xfrm>
            <a:off x="556538" y="10668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3.26</a:t>
            </a:r>
          </a:p>
        </p:txBody>
      </p:sp>
      <p:pic>
        <p:nvPicPr>
          <p:cNvPr id="1265" name="Shape 1265"/>
          <p:cNvPicPr preferRelativeResize="0"/>
          <p:nvPr/>
        </p:nvPicPr>
        <p:blipFill>
          <a:blip r:embed="rId3">
            <a:alphaModFix/>
          </a:blip>
          <a:stretch>
            <a:fillRect/>
          </a:stretch>
        </p:blipFill>
        <p:spPr>
          <a:xfrm>
            <a:off x="1726751" y="1828801"/>
            <a:ext cx="9247423" cy="4656137"/>
          </a:xfrm>
          <a:prstGeom prst="rect">
            <a:avLst/>
          </a:prstGeom>
          <a:noFill/>
          <a:ln>
            <a:noFill/>
          </a:ln>
        </p:spPr>
      </p:pic>
      <p:sp>
        <p:nvSpPr>
          <p:cNvPr id="1266" name="Shape 1266"/>
          <p:cNvSpPr txBox="1"/>
          <p:nvPr/>
        </p:nvSpPr>
        <p:spPr>
          <a:xfrm>
            <a:off x="4598319" y="1295400"/>
            <a:ext cx="2308681"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p>
        </p:txBody>
      </p:sp>
      <p:sp>
        <p:nvSpPr>
          <p:cNvPr id="1267" name="Shape 126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73"/>
        <p:cNvGrpSpPr/>
        <p:nvPr/>
      </p:nvGrpSpPr>
      <p:grpSpPr>
        <a:xfrm>
          <a:off x="0" y="0"/>
          <a:ext cx="0" cy="0"/>
          <a:chOff x="0" y="0"/>
          <a:chExt cx="0" cy="0"/>
        </a:xfrm>
      </p:grpSpPr>
      <p:sp>
        <p:nvSpPr>
          <p:cNvPr id="1274" name="Shape 1274"/>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275" name="Shape 1275"/>
          <p:cNvSpPr txBox="1"/>
          <p:nvPr/>
        </p:nvSpPr>
        <p:spPr>
          <a:xfrm>
            <a:off x="770267" y="3344862"/>
            <a:ext cx="9844168"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Encryption/decryption keys in </a:t>
            </a:r>
            <a:r>
              <a:rPr lang="en-US" sz="2400" dirty="0" err="1">
                <a:solidFill>
                  <a:schemeClr val="dk1"/>
                </a:solidFill>
                <a:latin typeface="Tahoma"/>
                <a:ea typeface="Tahoma"/>
                <a:cs typeface="Tahoma"/>
                <a:sym typeface="Tahoma"/>
              </a:rPr>
              <a:t>transpositional</a:t>
            </a:r>
            <a:r>
              <a:rPr lang="en-US" sz="2400" dirty="0">
                <a:solidFill>
                  <a:schemeClr val="dk1"/>
                </a:solidFill>
                <a:latin typeface="Tahoma"/>
                <a:ea typeface="Tahoma"/>
                <a:cs typeface="Tahoma"/>
                <a:sym typeface="Tahoma"/>
              </a:rPr>
              <a:t> ciphers</a:t>
            </a:r>
          </a:p>
        </p:txBody>
      </p:sp>
      <p:pic>
        <p:nvPicPr>
          <p:cNvPr id="1276" name="Shape 1276"/>
          <p:cNvPicPr preferRelativeResize="0"/>
          <p:nvPr/>
        </p:nvPicPr>
        <p:blipFill>
          <a:blip r:embed="rId3">
            <a:alphaModFix/>
          </a:blip>
          <a:stretch>
            <a:fillRect/>
          </a:stretch>
        </p:blipFill>
        <p:spPr>
          <a:xfrm>
            <a:off x="914162" y="4030662"/>
            <a:ext cx="9723550" cy="1303336"/>
          </a:xfrm>
          <a:prstGeom prst="rect">
            <a:avLst/>
          </a:prstGeom>
          <a:noFill/>
          <a:ln>
            <a:noFill/>
          </a:ln>
        </p:spPr>
      </p:pic>
      <p:sp>
        <p:nvSpPr>
          <p:cNvPr id="1277" name="Shape 1277"/>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278" name="Shape 1278"/>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279" name="Shape 1279"/>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280" name="Shape 1280"/>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281" name="Shape 1281"/>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282" name="Shape 1282"/>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283" name="Shape 1283"/>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285" name="Shape 1285"/>
          <p:cNvSpPr txBox="1"/>
          <p:nvPr/>
        </p:nvSpPr>
        <p:spPr>
          <a:xfrm>
            <a:off x="1523603" y="533400"/>
            <a:ext cx="1422030"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Keys</a:t>
            </a:r>
          </a:p>
        </p:txBody>
      </p:sp>
      <p:sp>
        <p:nvSpPr>
          <p:cNvPr id="1286" name="Shape 1286"/>
          <p:cNvSpPr txBox="1"/>
          <p:nvPr/>
        </p:nvSpPr>
        <p:spPr>
          <a:xfrm>
            <a:off x="203148" y="114300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In Example, a single key was used in two directions for the column exchange: downward for encryption, upward for decryption. It is customary to create two keys.</a:t>
            </a:r>
          </a:p>
        </p:txBody>
      </p:sp>
      <p:sp>
        <p:nvSpPr>
          <p:cNvPr id="1287" name="Shape 128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Shape 1294"/>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295" name="Shape 1295"/>
          <p:cNvSpPr txBox="1"/>
          <p:nvPr/>
        </p:nvSpPr>
        <p:spPr>
          <a:xfrm>
            <a:off x="1841021" y="1219200"/>
            <a:ext cx="7808466"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Key inversion in a transposition cipher</a:t>
            </a:r>
          </a:p>
        </p:txBody>
      </p:sp>
      <p:pic>
        <p:nvPicPr>
          <p:cNvPr id="1296" name="Shape 1296"/>
          <p:cNvPicPr preferRelativeResize="0"/>
          <p:nvPr/>
        </p:nvPicPr>
        <p:blipFill>
          <a:blip r:embed="rId3">
            <a:alphaModFix/>
          </a:blip>
          <a:stretch>
            <a:fillRect/>
          </a:stretch>
        </p:blipFill>
        <p:spPr>
          <a:xfrm>
            <a:off x="215845" y="2209800"/>
            <a:ext cx="11769834" cy="2767012"/>
          </a:xfrm>
          <a:prstGeom prst="rect">
            <a:avLst/>
          </a:prstGeom>
          <a:noFill/>
          <a:ln>
            <a:noFill/>
          </a:ln>
        </p:spPr>
      </p:pic>
      <p:sp>
        <p:nvSpPr>
          <p:cNvPr id="1297" name="Shape 1297"/>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298" name="Shape 1298"/>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299" name="Shape 1299"/>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300" name="Shape 1300"/>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301" name="Shape 1301"/>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302" name="Shape 1302"/>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303" name="Shape 1303"/>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305" name="Shape 1305"/>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2" name="Shape 1312"/>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313" name="Shape 1313"/>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314" name="Shape 1314"/>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315" name="Shape 1315"/>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316" name="Shape 1316"/>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317" name="Shape 1317"/>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318" name="Shape 1318"/>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319" name="Shape 1319"/>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321" name="Shape 1321"/>
          <p:cNvSpPr txBox="1"/>
          <p:nvPr/>
        </p:nvSpPr>
        <p:spPr>
          <a:xfrm>
            <a:off x="1523603" y="533400"/>
            <a:ext cx="3351927"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Using Matrices</a:t>
            </a:r>
          </a:p>
        </p:txBody>
      </p:sp>
      <p:sp>
        <p:nvSpPr>
          <p:cNvPr id="1322" name="Shape 1322"/>
          <p:cNvSpPr txBox="1"/>
          <p:nvPr/>
        </p:nvSpPr>
        <p:spPr>
          <a:xfrm>
            <a:off x="203148" y="11430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We can use matrices to show the encryption/decryption process for a transposition cipher. </a:t>
            </a:r>
          </a:p>
        </p:txBody>
      </p:sp>
      <p:sp>
        <p:nvSpPr>
          <p:cNvPr id="1323" name="Shape 1323"/>
          <p:cNvSpPr txBox="1"/>
          <p:nvPr/>
        </p:nvSpPr>
        <p:spPr>
          <a:xfrm>
            <a:off x="507868" y="2895600"/>
            <a:ext cx="11346610"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Representation of the key as a matrix in the transposition cipher</a:t>
            </a:r>
          </a:p>
        </p:txBody>
      </p:sp>
      <p:pic>
        <p:nvPicPr>
          <p:cNvPr id="1324" name="Shape 1324"/>
          <p:cNvPicPr preferRelativeResize="0"/>
          <p:nvPr/>
        </p:nvPicPr>
        <p:blipFill>
          <a:blip r:embed="rId3">
            <a:alphaModFix/>
          </a:blip>
          <a:stretch>
            <a:fillRect/>
          </a:stretch>
        </p:blipFill>
        <p:spPr>
          <a:xfrm>
            <a:off x="1064406" y="3514726"/>
            <a:ext cx="10210256" cy="2962274"/>
          </a:xfrm>
          <a:prstGeom prst="rect">
            <a:avLst/>
          </a:prstGeom>
          <a:noFill/>
          <a:ln>
            <a:noFill/>
          </a:ln>
        </p:spPr>
      </p:pic>
      <p:sp>
        <p:nvSpPr>
          <p:cNvPr id="1325" name="Shape 1325"/>
          <p:cNvSpPr txBox="1"/>
          <p:nvPr/>
        </p:nvSpPr>
        <p:spPr>
          <a:xfrm>
            <a:off x="507869" y="21336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3.27</a:t>
            </a:r>
          </a:p>
        </p:txBody>
      </p:sp>
      <p:sp>
        <p:nvSpPr>
          <p:cNvPr id="1326" name="Shape 132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32"/>
        <p:cNvGrpSpPr/>
        <p:nvPr/>
      </p:nvGrpSpPr>
      <p:grpSpPr>
        <a:xfrm>
          <a:off x="0" y="0"/>
          <a:ext cx="0" cy="0"/>
          <a:chOff x="0" y="0"/>
          <a:chExt cx="0" cy="0"/>
        </a:xfrm>
      </p:grpSpPr>
      <p:sp>
        <p:nvSpPr>
          <p:cNvPr id="1333" name="Shape 1333"/>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334" name="Shape 1334"/>
          <p:cNvSpPr txBox="1"/>
          <p:nvPr/>
        </p:nvSpPr>
        <p:spPr>
          <a:xfrm>
            <a:off x="507868" y="2895600"/>
            <a:ext cx="11477809"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Representation of the key as a matrix in the transposition cipher</a:t>
            </a:r>
          </a:p>
        </p:txBody>
      </p:sp>
      <p:pic>
        <p:nvPicPr>
          <p:cNvPr id="1335" name="Shape 1335"/>
          <p:cNvPicPr preferRelativeResize="0"/>
          <p:nvPr/>
        </p:nvPicPr>
        <p:blipFill>
          <a:blip r:embed="rId3">
            <a:alphaModFix/>
          </a:blip>
          <a:stretch>
            <a:fillRect/>
          </a:stretch>
        </p:blipFill>
        <p:spPr>
          <a:xfrm>
            <a:off x="1064406" y="3514726"/>
            <a:ext cx="10210256" cy="2962274"/>
          </a:xfrm>
          <a:prstGeom prst="rect">
            <a:avLst/>
          </a:prstGeom>
          <a:noFill/>
          <a:ln>
            <a:noFill/>
          </a:ln>
        </p:spPr>
      </p:pic>
      <p:sp>
        <p:nvSpPr>
          <p:cNvPr id="1336" name="Shape 1336"/>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337" name="Shape 1337"/>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338" name="Shape 1338"/>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339" name="Shape 1339"/>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340" name="Shape 1340"/>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341" name="Shape 1341"/>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342" name="Shape 1342"/>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344" name="Shape 1344"/>
          <p:cNvSpPr txBox="1"/>
          <p:nvPr/>
        </p:nvSpPr>
        <p:spPr>
          <a:xfrm>
            <a:off x="203148" y="114300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Figure shows the encryption process. Multiplying the 4 × 5 plaintext matrix by the 5 × 5 encryption key gives the 4 × 5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matrix. </a:t>
            </a:r>
          </a:p>
        </p:txBody>
      </p:sp>
      <p:sp>
        <p:nvSpPr>
          <p:cNvPr id="1345" name="Shape 1345"/>
          <p:cNvSpPr txBox="1"/>
          <p:nvPr/>
        </p:nvSpPr>
        <p:spPr>
          <a:xfrm>
            <a:off x="1523605" y="5334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3.27</a:t>
            </a:r>
          </a:p>
        </p:txBody>
      </p:sp>
      <p:sp>
        <p:nvSpPr>
          <p:cNvPr id="1346" name="Shape 134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Cryptanalysis of transposition ciphers</a:t>
            </a:r>
          </a:p>
        </p:txBody>
      </p:sp>
      <p:sp>
        <p:nvSpPr>
          <p:cNvPr id="3" name="Text Placeholder 2"/>
          <p:cNvSpPr>
            <a:spLocks noGrp="1"/>
          </p:cNvSpPr>
          <p:nvPr>
            <p:ph type="body" idx="1"/>
          </p:nvPr>
        </p:nvSpPr>
        <p:spPr/>
        <p:txBody>
          <a:bodyPr/>
          <a:lstStyle/>
          <a:p>
            <a:r>
              <a:rPr lang="en-US" dirty="0"/>
              <a:t>Vulnerable to various kinds of </a:t>
            </a:r>
            <a:r>
              <a:rPr lang="en-US" dirty="0" err="1"/>
              <a:t>ciphertext</a:t>
            </a:r>
            <a:r>
              <a:rPr lang="en-US" dirty="0"/>
              <a:t> only attacks</a:t>
            </a:r>
          </a:p>
          <a:p>
            <a:endParaRPr lang="en-US" dirty="0"/>
          </a:p>
        </p:txBody>
      </p:sp>
    </p:spTree>
    <p:extLst>
      <p:ext uri="{BB962C8B-B14F-4D97-AF65-F5344CB8AC3E}">
        <p14:creationId xmlns:p14="http://schemas.microsoft.com/office/powerpoint/2010/main" val="41231026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52"/>
        <p:cNvGrpSpPr/>
        <p:nvPr/>
      </p:nvGrpSpPr>
      <p:grpSpPr>
        <a:xfrm>
          <a:off x="0" y="0"/>
          <a:ext cx="0" cy="0"/>
          <a:chOff x="0" y="0"/>
          <a:chExt cx="0" cy="0"/>
        </a:xfrm>
      </p:grpSpPr>
      <p:sp>
        <p:nvSpPr>
          <p:cNvPr id="1353" name="Shape 1353"/>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354" name="Shape 1354"/>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355" name="Shape 1355"/>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356" name="Shape 1356"/>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357" name="Shape 1357"/>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358" name="Shape 1358"/>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359" name="Shape 1359"/>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360" name="Shape 1360"/>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362" name="Shape 1362"/>
          <p:cNvSpPr txBox="1"/>
          <p:nvPr/>
        </p:nvSpPr>
        <p:spPr>
          <a:xfrm>
            <a:off x="1523604" y="76200"/>
            <a:ext cx="6500707"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Double Transposition Ciphers</a:t>
            </a:r>
          </a:p>
        </p:txBody>
      </p:sp>
      <p:sp>
        <p:nvSpPr>
          <p:cNvPr id="1363" name="Shape 1363"/>
          <p:cNvSpPr txBox="1"/>
          <p:nvPr/>
        </p:nvSpPr>
        <p:spPr>
          <a:xfrm>
            <a:off x="203148" y="4832350"/>
            <a:ext cx="11782530" cy="457200"/>
          </a:xfrm>
          <a:prstGeom prst="rect">
            <a:avLst/>
          </a:prstGeom>
          <a:noFill/>
          <a:ln>
            <a:noFill/>
          </a:ln>
        </p:spPr>
        <p:txBody>
          <a:bodyPr lIns="110350" tIns="55160" rIns="110350" bIns="55160" anchor="ctr" anchorCtr="0">
            <a:noAutofit/>
          </a:bodyPr>
          <a:lstStyle/>
          <a:p>
            <a:endParaRPr/>
          </a:p>
        </p:txBody>
      </p:sp>
      <p:sp>
        <p:nvSpPr>
          <p:cNvPr id="1364" name="Shape 1364"/>
          <p:cNvSpPr txBox="1"/>
          <p:nvPr/>
        </p:nvSpPr>
        <p:spPr>
          <a:xfrm>
            <a:off x="2152089" y="990600"/>
            <a:ext cx="7294248"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900" i="1" dirty="0">
                <a:solidFill>
                  <a:schemeClr val="dk1"/>
                </a:solidFill>
                <a:latin typeface="Tahoma"/>
                <a:ea typeface="Tahoma"/>
                <a:cs typeface="Tahoma"/>
                <a:sym typeface="Tahoma"/>
              </a:rPr>
              <a:t>Double transposition cipher</a:t>
            </a:r>
            <a:r>
              <a:rPr lang="en-US" sz="2900" b="1" dirty="0">
                <a:solidFill>
                  <a:schemeClr val="folHlink"/>
                </a:solidFill>
                <a:latin typeface="Tahoma"/>
                <a:ea typeface="Tahoma"/>
                <a:cs typeface="Tahoma"/>
                <a:sym typeface="Tahoma"/>
              </a:rPr>
              <a:t> </a:t>
            </a:r>
          </a:p>
        </p:txBody>
      </p:sp>
      <p:pic>
        <p:nvPicPr>
          <p:cNvPr id="1365" name="Shape 1365"/>
          <p:cNvPicPr preferRelativeResize="0"/>
          <p:nvPr/>
        </p:nvPicPr>
        <p:blipFill>
          <a:blip r:embed="rId3">
            <a:alphaModFix/>
          </a:blip>
          <a:stretch>
            <a:fillRect/>
          </a:stretch>
        </p:blipFill>
        <p:spPr>
          <a:xfrm>
            <a:off x="763917" y="1571626"/>
            <a:ext cx="10917038" cy="4905375"/>
          </a:xfrm>
          <a:prstGeom prst="rect">
            <a:avLst/>
          </a:prstGeom>
          <a:noFill/>
          <a:ln>
            <a:noFill/>
          </a:ln>
        </p:spPr>
      </p:pic>
      <p:sp>
        <p:nvSpPr>
          <p:cNvPr id="1366" name="Shape 136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Shape 1373"/>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374" name="Shape 1374"/>
          <p:cNvSpPr txBox="1"/>
          <p:nvPr/>
        </p:nvSpPr>
        <p:spPr>
          <a:xfrm>
            <a:off x="1" y="0"/>
            <a:ext cx="12188825" cy="838199"/>
          </a:xfrm>
          <a:prstGeom prst="rect">
            <a:avLst/>
          </a:prstGeom>
          <a:solidFill>
            <a:srgbClr val="33CCFF"/>
          </a:solidFill>
          <a:ln w="9525" cap="rnd" cmpd="sng">
            <a:solidFill>
              <a:schemeClr val="dk1"/>
            </a:solidFill>
            <a:prstDash val="solid"/>
            <a:miter/>
            <a:headEnd type="none" w="med" len="med"/>
            <a:tailEnd type="none" w="med" len="med"/>
          </a:ln>
        </p:spPr>
        <p:txBody>
          <a:bodyPr lIns="110350" tIns="55160" rIns="110350" bIns="55160" anchor="ctr" anchorCtr="0">
            <a:noAutofit/>
          </a:bodyPr>
          <a:lstStyle/>
          <a:p>
            <a:endParaRPr/>
          </a:p>
        </p:txBody>
      </p:sp>
      <p:sp>
        <p:nvSpPr>
          <p:cNvPr id="1375" name="Shape 1375"/>
          <p:cNvSpPr txBox="1"/>
          <p:nvPr/>
        </p:nvSpPr>
        <p:spPr>
          <a:xfrm>
            <a:off x="304721" y="76200"/>
            <a:ext cx="9638904" cy="579436"/>
          </a:xfrm>
          <a:prstGeom prst="rect">
            <a:avLst/>
          </a:prstGeom>
          <a:noFill/>
          <a:ln>
            <a:noFill/>
          </a:ln>
        </p:spPr>
        <p:txBody>
          <a:bodyPr lIns="110350" tIns="55160" rIns="110350" bIns="55160" anchor="t" anchorCtr="0">
            <a:noAutofit/>
          </a:bodyPr>
          <a:lstStyle/>
          <a:p>
            <a:pPr>
              <a:buClr>
                <a:schemeClr val="dk1"/>
              </a:buClr>
              <a:buSzPct val="25000"/>
            </a:pPr>
            <a:r>
              <a:rPr lang="en-US" sz="3900" b="1" dirty="0">
                <a:solidFill>
                  <a:schemeClr val="dk1"/>
                </a:solidFill>
                <a:latin typeface="Times New Roman"/>
                <a:ea typeface="Times New Roman"/>
                <a:cs typeface="Times New Roman"/>
                <a:sym typeface="Times New Roman"/>
              </a:rPr>
              <a:t>STREAM AND BLOCK CIPHERS</a:t>
            </a:r>
          </a:p>
        </p:txBody>
      </p:sp>
      <p:sp>
        <p:nvSpPr>
          <p:cNvPr id="1376" name="Shape 1376"/>
          <p:cNvSpPr txBox="1"/>
          <p:nvPr/>
        </p:nvSpPr>
        <p:spPr>
          <a:xfrm>
            <a:off x="10969943" y="6400801"/>
            <a:ext cx="245468" cy="366711"/>
          </a:xfrm>
          <a:prstGeom prst="rect">
            <a:avLst/>
          </a:prstGeom>
          <a:noFill/>
          <a:ln>
            <a:noFill/>
          </a:ln>
        </p:spPr>
        <p:txBody>
          <a:bodyPr lIns="110350" tIns="55160" rIns="110350" bIns="55160" anchor="t" anchorCtr="0">
            <a:noAutofit/>
          </a:bodyPr>
          <a:lstStyle/>
          <a:p>
            <a:endParaRPr/>
          </a:p>
        </p:txBody>
      </p:sp>
      <p:sp>
        <p:nvSpPr>
          <p:cNvPr id="1377" name="Shape 1377"/>
          <p:cNvSpPr txBox="1"/>
          <p:nvPr/>
        </p:nvSpPr>
        <p:spPr>
          <a:xfrm>
            <a:off x="101575" y="990601"/>
            <a:ext cx="11477809" cy="2227262"/>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i="1">
                <a:solidFill>
                  <a:schemeClr val="dk1"/>
                </a:solidFill>
                <a:latin typeface="Tahoma"/>
                <a:ea typeface="Tahoma"/>
                <a:cs typeface="Tahoma"/>
                <a:sym typeface="Tahoma"/>
              </a:rPr>
              <a:t>The literature divides the symmetric ciphers into two broad categories: stream ciphers and block ciphers. Although the definitions are normally applied to modern ciphers, this categorization also applies to traditional ciphers.</a:t>
            </a:r>
          </a:p>
        </p:txBody>
      </p:sp>
      <p:sp>
        <p:nvSpPr>
          <p:cNvPr id="1378" name="Shape 1378"/>
          <p:cNvSpPr txBox="1"/>
          <p:nvPr/>
        </p:nvSpPr>
        <p:spPr>
          <a:xfrm>
            <a:off x="203148" y="4819651"/>
            <a:ext cx="7618014" cy="1187449"/>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rgbClr val="0033CC"/>
                </a:solidFill>
                <a:latin typeface="Tahoma"/>
                <a:ea typeface="Tahoma"/>
                <a:cs typeface="Tahoma"/>
                <a:sym typeface="Tahoma"/>
              </a:rPr>
              <a:t>Stream Ciphers</a:t>
            </a:r>
            <a:br>
              <a:rPr lang="en-US" sz="2900" b="1" dirty="0">
                <a:solidFill>
                  <a:srgbClr val="0033CC"/>
                </a:solidFill>
                <a:latin typeface="Tahoma"/>
                <a:ea typeface="Tahoma"/>
                <a:cs typeface="Tahoma"/>
                <a:sym typeface="Tahoma"/>
              </a:rPr>
            </a:br>
            <a:r>
              <a:rPr lang="en-US" sz="2900" b="1" dirty="0">
                <a:solidFill>
                  <a:srgbClr val="0033CC"/>
                </a:solidFill>
                <a:latin typeface="Tahoma"/>
                <a:ea typeface="Tahoma"/>
                <a:cs typeface="Tahoma"/>
                <a:sym typeface="Tahoma"/>
              </a:rPr>
              <a:t>Block Ciphers</a:t>
            </a:r>
          </a:p>
          <a:p>
            <a:pPr>
              <a:buClr>
                <a:schemeClr val="dk1"/>
              </a:buClr>
              <a:buSzPct val="25000"/>
            </a:pPr>
            <a:r>
              <a:rPr lang="en-US" sz="2900" b="1" dirty="0">
                <a:solidFill>
                  <a:srgbClr val="0033CC"/>
                </a:solidFill>
                <a:latin typeface="Tahoma"/>
                <a:ea typeface="Tahoma"/>
                <a:cs typeface="Tahoma"/>
                <a:sym typeface="Tahoma"/>
              </a:rPr>
              <a:t>Combination</a:t>
            </a:r>
          </a:p>
        </p:txBody>
      </p:sp>
      <p:sp>
        <p:nvSpPr>
          <p:cNvPr id="1379" name="Shape 1379"/>
          <p:cNvSpPr txBox="1"/>
          <p:nvPr/>
        </p:nvSpPr>
        <p:spPr>
          <a:xfrm>
            <a:off x="220076" y="4343400"/>
            <a:ext cx="6481660" cy="519112"/>
          </a:xfrm>
          <a:prstGeom prst="rect">
            <a:avLst/>
          </a:prstGeom>
          <a:noFill/>
          <a:ln>
            <a:noFill/>
          </a:ln>
        </p:spPr>
        <p:txBody>
          <a:bodyPr lIns="110350" tIns="55160" rIns="110350" bIns="55160" anchor="t" anchorCtr="0">
            <a:noAutofit/>
          </a:bodyPr>
          <a:lstStyle/>
          <a:p>
            <a:pPr algn="ctr">
              <a:buClr>
                <a:schemeClr val="dk1"/>
              </a:buClr>
              <a:buSzPct val="25000"/>
            </a:pPr>
            <a:r>
              <a:rPr lang="en-US" sz="2200" b="1" i="1" u="sng">
                <a:solidFill>
                  <a:schemeClr val="hlink"/>
                </a:solidFill>
                <a:latin typeface="Tahoma"/>
                <a:ea typeface="Tahoma"/>
                <a:cs typeface="Tahoma"/>
                <a:sym typeface="Tahoma"/>
              </a:rPr>
              <a:t>Topics discussed in this section:</a:t>
            </a:r>
          </a:p>
        </p:txBody>
      </p:sp>
      <p:sp>
        <p:nvSpPr>
          <p:cNvPr id="1380" name="Shape 138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sp>
        <p:nvSpPr>
          <p:cNvPr id="1387" name="Shape 138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388" name="Shape 138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389" name="Shape 138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390" name="Shape 139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391" name="Shape 139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392" name="Shape 139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393" name="Shape 139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394" name="Shape 139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395" name="Shape 1395"/>
          <p:cNvSpPr txBox="1"/>
          <p:nvPr/>
        </p:nvSpPr>
        <p:spPr>
          <a:xfrm>
            <a:off x="1523604" y="0"/>
            <a:ext cx="5078676" cy="579436"/>
          </a:xfrm>
          <a:prstGeom prst="rect">
            <a:avLst/>
          </a:prstGeom>
          <a:noFill/>
          <a:ln>
            <a:noFill/>
          </a:ln>
        </p:spPr>
        <p:txBody>
          <a:bodyPr lIns="110350" tIns="55160" rIns="110350" bIns="55160" anchor="t" anchorCtr="0">
            <a:noAutofit/>
          </a:bodyPr>
          <a:lstStyle/>
          <a:p>
            <a:pPr>
              <a:buClr>
                <a:schemeClr val="dk1"/>
              </a:buClr>
              <a:buSzPct val="25000"/>
            </a:pPr>
            <a:r>
              <a:rPr lang="en-US" sz="3900" dirty="0">
                <a:solidFill>
                  <a:schemeClr val="hlink"/>
                </a:solidFill>
                <a:latin typeface="Tahoma"/>
                <a:ea typeface="Tahoma"/>
                <a:cs typeface="Tahoma"/>
                <a:sym typeface="Tahoma"/>
              </a:rPr>
              <a:t>Stream Ciphers</a:t>
            </a:r>
          </a:p>
        </p:txBody>
      </p:sp>
      <p:sp>
        <p:nvSpPr>
          <p:cNvPr id="1396" name="Shape 1396"/>
          <p:cNvSpPr txBox="1"/>
          <p:nvPr/>
        </p:nvSpPr>
        <p:spPr>
          <a:xfrm>
            <a:off x="203148" y="1066800"/>
            <a:ext cx="11782530" cy="946150"/>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dirty="0">
                <a:solidFill>
                  <a:schemeClr val="dk1"/>
                </a:solidFill>
                <a:latin typeface="Tahoma"/>
                <a:ea typeface="Tahoma"/>
                <a:cs typeface="Tahoma"/>
                <a:sym typeface="Tahoma"/>
              </a:rPr>
              <a:t>Call the plaintext stream P, the </a:t>
            </a:r>
            <a:r>
              <a:rPr lang="en-US" sz="2200" b="1" dirty="0" err="1">
                <a:solidFill>
                  <a:schemeClr val="dk1"/>
                </a:solidFill>
                <a:latin typeface="Tahoma"/>
                <a:ea typeface="Tahoma"/>
                <a:cs typeface="Tahoma"/>
                <a:sym typeface="Tahoma"/>
              </a:rPr>
              <a:t>ciphertext</a:t>
            </a:r>
            <a:r>
              <a:rPr lang="en-US" sz="2200" b="1" dirty="0">
                <a:solidFill>
                  <a:schemeClr val="dk1"/>
                </a:solidFill>
                <a:latin typeface="Tahoma"/>
                <a:ea typeface="Tahoma"/>
                <a:cs typeface="Tahoma"/>
                <a:sym typeface="Tahoma"/>
              </a:rPr>
              <a:t> stream C, and the key stream K.</a:t>
            </a:r>
          </a:p>
        </p:txBody>
      </p:sp>
      <p:pic>
        <p:nvPicPr>
          <p:cNvPr id="1397" name="Shape 1397"/>
          <p:cNvPicPr preferRelativeResize="0"/>
          <p:nvPr/>
        </p:nvPicPr>
        <p:blipFill>
          <a:blip r:embed="rId3">
            <a:alphaModFix/>
          </a:blip>
          <a:stretch>
            <a:fillRect/>
          </a:stretch>
        </p:blipFill>
        <p:spPr>
          <a:xfrm>
            <a:off x="1218884" y="2135186"/>
            <a:ext cx="9564841" cy="912812"/>
          </a:xfrm>
          <a:prstGeom prst="rect">
            <a:avLst/>
          </a:prstGeom>
          <a:noFill/>
          <a:ln>
            <a:noFill/>
          </a:ln>
        </p:spPr>
      </p:pic>
      <p:pic>
        <p:nvPicPr>
          <p:cNvPr id="1398" name="Shape 1398"/>
          <p:cNvPicPr preferRelativeResize="0"/>
          <p:nvPr/>
        </p:nvPicPr>
        <p:blipFill>
          <a:blip r:embed="rId4">
            <a:alphaModFix/>
          </a:blip>
          <a:stretch>
            <a:fillRect/>
          </a:stretch>
        </p:blipFill>
        <p:spPr>
          <a:xfrm>
            <a:off x="1870647" y="4294187"/>
            <a:ext cx="7981987" cy="2411412"/>
          </a:xfrm>
          <a:prstGeom prst="rect">
            <a:avLst/>
          </a:prstGeom>
          <a:noFill/>
          <a:ln>
            <a:noFill/>
          </a:ln>
        </p:spPr>
      </p:pic>
      <p:sp>
        <p:nvSpPr>
          <p:cNvPr id="1399" name="Shape 1399"/>
          <p:cNvSpPr txBox="1"/>
          <p:nvPr/>
        </p:nvSpPr>
        <p:spPr>
          <a:xfrm>
            <a:off x="3758222" y="3657600"/>
            <a:ext cx="4371895"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Stream cipher</a:t>
            </a:r>
          </a:p>
        </p:txBody>
      </p:sp>
      <p:sp>
        <p:nvSpPr>
          <p:cNvPr id="1400" name="Shape 140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sp>
        <p:nvSpPr>
          <p:cNvPr id="1407" name="Shape 140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408" name="Shape 140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409" name="Shape 140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410" name="Shape 141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411" name="Shape 141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412" name="Shape 141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413" name="Shape 141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414" name="Shape 141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416" name="Shape 1416"/>
          <p:cNvSpPr txBox="1"/>
          <p:nvPr/>
        </p:nvSpPr>
        <p:spPr>
          <a:xfrm>
            <a:off x="203148" y="1527175"/>
            <a:ext cx="11782530" cy="2511425"/>
          </a:xfrm>
          <a:prstGeom prst="rect">
            <a:avLst/>
          </a:prstGeom>
          <a:noFill/>
          <a:ln>
            <a:noFill/>
          </a:ln>
        </p:spPr>
        <p:txBody>
          <a:bodyPr lIns="110350" tIns="55160" rIns="110350" bIns="55160" anchor="ctr" anchorCtr="0">
            <a:noAutofit/>
          </a:bodyPr>
          <a:lstStyle/>
          <a:p>
            <a:pPr algn="just">
              <a:buClr>
                <a:schemeClr val="dk1"/>
              </a:buClr>
              <a:buSzPct val="25000"/>
            </a:pPr>
            <a:r>
              <a:rPr lang="en-US" sz="2600" b="1" dirty="0">
                <a:solidFill>
                  <a:schemeClr val="dk1"/>
                </a:solidFill>
                <a:latin typeface="Tahoma"/>
                <a:ea typeface="Tahoma"/>
                <a:cs typeface="Tahoma"/>
                <a:sym typeface="Tahoma"/>
              </a:rPr>
              <a:t>Additive ciphers can be categorized as stream ciphers in which the key stream is the repeated value of the key. In other words, the key stream is considered as a predetermined stream of keys or </a:t>
            </a:r>
            <a:br>
              <a:rPr lang="en-US" sz="2600" b="1" dirty="0">
                <a:solidFill>
                  <a:schemeClr val="dk1"/>
                </a:solidFill>
                <a:latin typeface="Tahoma"/>
                <a:ea typeface="Tahoma"/>
                <a:cs typeface="Tahoma"/>
                <a:sym typeface="Tahoma"/>
              </a:rPr>
            </a:br>
            <a:r>
              <a:rPr lang="en-US" sz="2600" b="1" dirty="0">
                <a:solidFill>
                  <a:schemeClr val="dk1"/>
                </a:solidFill>
                <a:latin typeface="Tahoma"/>
                <a:ea typeface="Tahoma"/>
                <a:cs typeface="Tahoma"/>
                <a:sym typeface="Tahoma"/>
              </a:rPr>
              <a:t>K = (k, k, …, k). In this cipher, however, each character in the </a:t>
            </a:r>
            <a:r>
              <a:rPr lang="en-US" sz="2600" b="1" dirty="0" err="1">
                <a:solidFill>
                  <a:schemeClr val="dk1"/>
                </a:solidFill>
                <a:latin typeface="Tahoma"/>
                <a:ea typeface="Tahoma"/>
                <a:cs typeface="Tahoma"/>
                <a:sym typeface="Tahoma"/>
              </a:rPr>
              <a:t>ciphertext</a:t>
            </a:r>
            <a:r>
              <a:rPr lang="en-US" sz="2600" b="1" dirty="0">
                <a:solidFill>
                  <a:schemeClr val="dk1"/>
                </a:solidFill>
                <a:latin typeface="Tahoma"/>
                <a:ea typeface="Tahoma"/>
                <a:cs typeface="Tahoma"/>
                <a:sym typeface="Tahoma"/>
              </a:rPr>
              <a:t> depends only on the corresponding character in the plaintext, because the key stream is generated independently.</a:t>
            </a:r>
          </a:p>
        </p:txBody>
      </p:sp>
      <p:sp>
        <p:nvSpPr>
          <p:cNvPr id="1417" name="Shape 1417"/>
          <p:cNvSpPr txBox="1"/>
          <p:nvPr/>
        </p:nvSpPr>
        <p:spPr>
          <a:xfrm>
            <a:off x="2234619" y="609600"/>
            <a:ext cx="3859794"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3.30</a:t>
            </a:r>
          </a:p>
        </p:txBody>
      </p:sp>
      <p:sp>
        <p:nvSpPr>
          <p:cNvPr id="1418" name="Shape 1418"/>
          <p:cNvSpPr txBox="1"/>
          <p:nvPr/>
        </p:nvSpPr>
        <p:spPr>
          <a:xfrm>
            <a:off x="287367" y="4848225"/>
            <a:ext cx="11782530" cy="1552575"/>
          </a:xfrm>
          <a:prstGeom prst="rect">
            <a:avLst/>
          </a:prstGeom>
          <a:noFill/>
          <a:ln>
            <a:noFill/>
          </a:ln>
        </p:spPr>
        <p:txBody>
          <a:bodyPr lIns="110350" tIns="55160" rIns="110350" bIns="55160" anchor="ctr" anchorCtr="0">
            <a:noAutofit/>
          </a:bodyPr>
          <a:lstStyle/>
          <a:p>
            <a:pPr algn="just">
              <a:buClr>
                <a:schemeClr val="dk1"/>
              </a:buClr>
              <a:buSzPct val="25000"/>
            </a:pPr>
            <a:r>
              <a:rPr lang="en-US" sz="2600" b="1" dirty="0">
                <a:solidFill>
                  <a:schemeClr val="dk1"/>
                </a:solidFill>
                <a:latin typeface="Tahoma"/>
                <a:ea typeface="Tahoma"/>
                <a:cs typeface="Tahoma"/>
                <a:sym typeface="Tahoma"/>
              </a:rPr>
              <a:t>The </a:t>
            </a:r>
            <a:r>
              <a:rPr lang="en-US" sz="2600" b="1" dirty="0" err="1">
                <a:solidFill>
                  <a:schemeClr val="dk1"/>
                </a:solidFill>
                <a:latin typeface="Tahoma"/>
                <a:ea typeface="Tahoma"/>
                <a:cs typeface="Tahoma"/>
                <a:sym typeface="Tahoma"/>
              </a:rPr>
              <a:t>monoalphabetic</a:t>
            </a:r>
            <a:r>
              <a:rPr lang="en-US" sz="2600" b="1" dirty="0">
                <a:solidFill>
                  <a:schemeClr val="dk1"/>
                </a:solidFill>
                <a:latin typeface="Tahoma"/>
                <a:ea typeface="Tahoma"/>
                <a:cs typeface="Tahoma"/>
                <a:sym typeface="Tahoma"/>
              </a:rPr>
              <a:t> substitution ciphers discussed in this chapter are also stream ciphers. However, each value of the key stream in this case is the mapping of the current plaintext character to the corresponding </a:t>
            </a:r>
            <a:r>
              <a:rPr lang="en-US" sz="2600" b="1" dirty="0" err="1">
                <a:solidFill>
                  <a:schemeClr val="dk1"/>
                </a:solidFill>
                <a:latin typeface="Tahoma"/>
                <a:ea typeface="Tahoma"/>
                <a:cs typeface="Tahoma"/>
                <a:sym typeface="Tahoma"/>
              </a:rPr>
              <a:t>ciphertext</a:t>
            </a:r>
            <a:r>
              <a:rPr lang="en-US" sz="2600" b="1" dirty="0">
                <a:solidFill>
                  <a:schemeClr val="dk1"/>
                </a:solidFill>
                <a:latin typeface="Tahoma"/>
                <a:ea typeface="Tahoma"/>
                <a:cs typeface="Tahoma"/>
                <a:sym typeface="Tahoma"/>
              </a:rPr>
              <a:t> character in the mapping table.</a:t>
            </a:r>
          </a:p>
        </p:txBody>
      </p:sp>
      <p:sp>
        <p:nvSpPr>
          <p:cNvPr id="1419" name="Shape 1419"/>
          <p:cNvSpPr txBox="1"/>
          <p:nvPr/>
        </p:nvSpPr>
        <p:spPr>
          <a:xfrm>
            <a:off x="488822" y="4146332"/>
            <a:ext cx="3845747"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3.31</a:t>
            </a:r>
          </a:p>
        </p:txBody>
      </p:sp>
      <p:sp>
        <p:nvSpPr>
          <p:cNvPr id="1420" name="Shape 142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426"/>
        <p:cNvGrpSpPr/>
        <p:nvPr/>
      </p:nvGrpSpPr>
      <p:grpSpPr>
        <a:xfrm>
          <a:off x="0" y="0"/>
          <a:ext cx="0" cy="0"/>
          <a:chOff x="0" y="0"/>
          <a:chExt cx="0" cy="0"/>
        </a:xfrm>
      </p:grpSpPr>
      <p:sp>
        <p:nvSpPr>
          <p:cNvPr id="1427" name="Shape 142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428" name="Shape 142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429" name="Shape 142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430" name="Shape 143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431" name="Shape 143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432" name="Shape 143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433" name="Shape 143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434" name="Shape 143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436" name="Shape 1436"/>
          <p:cNvSpPr txBox="1"/>
          <p:nvPr/>
        </p:nvSpPr>
        <p:spPr>
          <a:xfrm>
            <a:off x="203148" y="1447801"/>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Vigenere ciphers are also stream ciphers according to the definition. In this case, the key stream is a repetition of m values, where </a:t>
            </a:r>
            <a:r>
              <a:rPr lang="en-US" sz="2900" dirty="0">
                <a:solidFill>
                  <a:schemeClr val="dk1"/>
                </a:solidFill>
                <a:latin typeface="Tahoma"/>
                <a:ea typeface="Tahoma"/>
                <a:cs typeface="Tahoma"/>
                <a:sym typeface="Tahoma"/>
              </a:rPr>
              <a:t>m</a:t>
            </a:r>
            <a:r>
              <a:rPr lang="en-US" sz="2900" b="1" dirty="0">
                <a:solidFill>
                  <a:schemeClr val="dk1"/>
                </a:solidFill>
                <a:latin typeface="Tahoma"/>
                <a:ea typeface="Tahoma"/>
                <a:cs typeface="Tahoma"/>
                <a:sym typeface="Tahoma"/>
              </a:rPr>
              <a:t> is the size of the keyword. In other words,</a:t>
            </a:r>
          </a:p>
        </p:txBody>
      </p:sp>
      <p:sp>
        <p:nvSpPr>
          <p:cNvPr id="1437" name="Shape 1437"/>
          <p:cNvSpPr txBox="1"/>
          <p:nvPr/>
        </p:nvSpPr>
        <p:spPr>
          <a:xfrm>
            <a:off x="2080144" y="7620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3.32</a:t>
            </a:r>
          </a:p>
        </p:txBody>
      </p:sp>
      <p:sp>
        <p:nvSpPr>
          <p:cNvPr id="1438" name="Shape 1438"/>
          <p:cNvSpPr txBox="1"/>
          <p:nvPr/>
        </p:nvSpPr>
        <p:spPr>
          <a:xfrm>
            <a:off x="304721" y="4376737"/>
            <a:ext cx="11782530" cy="19177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dk1"/>
                </a:solidFill>
                <a:latin typeface="Tahoma"/>
                <a:ea typeface="Tahoma"/>
                <a:cs typeface="Tahoma"/>
                <a:sym typeface="Tahoma"/>
              </a:rPr>
              <a:t>We can establish a criterion to divide stream ciphers based on their key streams. We can say that a stream cipher is a monoalphabetic cipher if the value of </a:t>
            </a:r>
            <a:r>
              <a:rPr lang="en-US" sz="2900">
                <a:solidFill>
                  <a:schemeClr val="dk1"/>
                </a:solidFill>
                <a:latin typeface="Tahoma"/>
                <a:ea typeface="Tahoma"/>
                <a:cs typeface="Tahoma"/>
                <a:sym typeface="Tahoma"/>
              </a:rPr>
              <a:t>k</a:t>
            </a:r>
            <a:r>
              <a:rPr lang="en-US" sz="2900" b="1" baseline="-25000">
                <a:solidFill>
                  <a:schemeClr val="dk1"/>
                </a:solidFill>
                <a:latin typeface="Tahoma"/>
                <a:ea typeface="Tahoma"/>
                <a:cs typeface="Tahoma"/>
                <a:sym typeface="Tahoma"/>
              </a:rPr>
              <a:t>i</a:t>
            </a:r>
            <a:r>
              <a:rPr lang="en-US" sz="2900" b="1">
                <a:solidFill>
                  <a:schemeClr val="dk1"/>
                </a:solidFill>
                <a:latin typeface="Tahoma"/>
                <a:ea typeface="Tahoma"/>
                <a:cs typeface="Tahoma"/>
                <a:sym typeface="Tahoma"/>
              </a:rPr>
              <a:t> does not depend on the position of the plaintext character in the plaintext stream; otherwise, the cipher is polyalphabetic.</a:t>
            </a:r>
          </a:p>
        </p:txBody>
      </p:sp>
      <p:sp>
        <p:nvSpPr>
          <p:cNvPr id="1439" name="Shape 1439"/>
          <p:cNvSpPr txBox="1"/>
          <p:nvPr/>
        </p:nvSpPr>
        <p:spPr>
          <a:xfrm>
            <a:off x="304722" y="3657600"/>
            <a:ext cx="2592241"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3.33</a:t>
            </a:r>
          </a:p>
        </p:txBody>
      </p:sp>
      <p:pic>
        <p:nvPicPr>
          <p:cNvPr id="1440" name="Shape 1440"/>
          <p:cNvPicPr preferRelativeResize="0"/>
          <p:nvPr/>
        </p:nvPicPr>
        <p:blipFill>
          <a:blip r:embed="rId3">
            <a:alphaModFix/>
          </a:blip>
          <a:stretch>
            <a:fillRect/>
          </a:stretch>
        </p:blipFill>
        <p:spPr>
          <a:xfrm>
            <a:off x="2740367" y="2743200"/>
            <a:ext cx="6705968" cy="512762"/>
          </a:xfrm>
          <a:prstGeom prst="rect">
            <a:avLst/>
          </a:prstGeom>
          <a:noFill/>
          <a:ln>
            <a:noFill/>
          </a:ln>
        </p:spPr>
      </p:pic>
      <p:sp>
        <p:nvSpPr>
          <p:cNvPr id="1441" name="Shape 1441"/>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447"/>
        <p:cNvGrpSpPr/>
        <p:nvPr/>
      </p:nvGrpSpPr>
      <p:grpSpPr>
        <a:xfrm>
          <a:off x="0" y="0"/>
          <a:ext cx="0" cy="0"/>
          <a:chOff x="0" y="0"/>
          <a:chExt cx="0" cy="0"/>
        </a:xfrm>
      </p:grpSpPr>
      <p:sp>
        <p:nvSpPr>
          <p:cNvPr id="1448" name="Shape 1448"/>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449" name="Shape 1449"/>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450" name="Shape 1450"/>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451" name="Shape 1451"/>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452" name="Shape 1452"/>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453" name="Shape 1453"/>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454" name="Shape 1454"/>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455" name="Shape 1455"/>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457" name="Shape 1457"/>
          <p:cNvSpPr txBox="1"/>
          <p:nvPr/>
        </p:nvSpPr>
        <p:spPr>
          <a:xfrm>
            <a:off x="203148" y="1004886"/>
            <a:ext cx="11782530" cy="4152900"/>
          </a:xfrm>
          <a:prstGeom prst="rect">
            <a:avLst/>
          </a:prstGeom>
          <a:noFill/>
          <a:ln>
            <a:noFill/>
          </a:ln>
        </p:spPr>
        <p:txBody>
          <a:bodyPr lIns="110350" tIns="55160" rIns="110350" bIns="55160" anchor="ctr" anchorCtr="0">
            <a:noAutofit/>
          </a:bodyPr>
          <a:lstStyle/>
          <a:p>
            <a:pPr algn="just">
              <a:buClr>
                <a:schemeClr val="dk1"/>
              </a:buClr>
              <a:buSzPct val="60416"/>
              <a:buFont typeface="Arial"/>
              <a:buChar char="●"/>
            </a:pPr>
            <a:r>
              <a:rPr lang="en-US" sz="2200" b="1" dirty="0">
                <a:solidFill>
                  <a:schemeClr val="dk1"/>
                </a:solidFill>
                <a:latin typeface="Tahoma"/>
                <a:ea typeface="Tahoma"/>
                <a:cs typeface="Tahoma"/>
                <a:sym typeface="Tahoma"/>
              </a:rPr>
              <a:t> Additive ciphers are definitely </a:t>
            </a:r>
            <a:r>
              <a:rPr lang="en-US" sz="2200" b="1" dirty="0" err="1">
                <a:solidFill>
                  <a:schemeClr val="dk1"/>
                </a:solidFill>
                <a:latin typeface="Tahoma"/>
                <a:ea typeface="Tahoma"/>
                <a:cs typeface="Tahoma"/>
                <a:sym typeface="Tahoma"/>
              </a:rPr>
              <a:t>monoalphabetic</a:t>
            </a:r>
            <a:r>
              <a:rPr lang="en-US" sz="2200" b="1" dirty="0">
                <a:solidFill>
                  <a:schemeClr val="dk1"/>
                </a:solidFill>
                <a:latin typeface="Tahoma"/>
                <a:ea typeface="Tahoma"/>
                <a:cs typeface="Tahoma"/>
                <a:sym typeface="Tahoma"/>
              </a:rPr>
              <a:t> because </a:t>
            </a:r>
            <a:r>
              <a:rPr lang="en-US" sz="2200" b="1" dirty="0" err="1">
                <a:solidFill>
                  <a:schemeClr val="hlink"/>
                </a:solidFill>
                <a:latin typeface="Tahoma"/>
                <a:ea typeface="Tahoma"/>
                <a:cs typeface="Tahoma"/>
                <a:sym typeface="Tahoma"/>
              </a:rPr>
              <a:t>k</a:t>
            </a:r>
            <a:r>
              <a:rPr lang="en-US" sz="2200" b="1" baseline="-25000" dirty="0" err="1">
                <a:solidFill>
                  <a:schemeClr val="hlink"/>
                </a:solidFill>
                <a:latin typeface="Tahoma"/>
                <a:ea typeface="Tahoma"/>
                <a:cs typeface="Tahoma"/>
                <a:sym typeface="Tahoma"/>
              </a:rPr>
              <a:t>i</a:t>
            </a:r>
            <a:r>
              <a:rPr lang="en-US" sz="2200" b="1" dirty="0">
                <a:solidFill>
                  <a:schemeClr val="dk1"/>
                </a:solidFill>
                <a:latin typeface="Tahoma"/>
                <a:ea typeface="Tahoma"/>
                <a:cs typeface="Tahoma"/>
                <a:sym typeface="Tahoma"/>
              </a:rPr>
              <a:t> in the key stream is fixed; it does not depend on the position of the character in the plaintext.</a:t>
            </a:r>
          </a:p>
          <a:p>
            <a:endParaRPr sz="2200" dirty="0">
              <a:solidFill>
                <a:schemeClr val="dk1"/>
              </a:solidFill>
              <a:latin typeface="Tahoma"/>
              <a:ea typeface="Tahoma"/>
              <a:cs typeface="Tahoma"/>
              <a:sym typeface="Tahoma"/>
            </a:endParaRPr>
          </a:p>
          <a:p>
            <a:pPr algn="just">
              <a:buClr>
                <a:schemeClr val="dk1"/>
              </a:buClr>
              <a:buSzPct val="60416"/>
              <a:buFont typeface="Arial"/>
              <a:buChar char="●"/>
            </a:pPr>
            <a:r>
              <a:rPr lang="en-US" sz="2200" b="1" dirty="0">
                <a:solidFill>
                  <a:schemeClr val="dk1"/>
                </a:solidFill>
                <a:latin typeface="Tahoma"/>
                <a:ea typeface="Tahoma"/>
                <a:cs typeface="Tahoma"/>
                <a:sym typeface="Tahoma"/>
              </a:rPr>
              <a:t> </a:t>
            </a:r>
            <a:r>
              <a:rPr lang="en-US" sz="2200" b="1" dirty="0" err="1">
                <a:solidFill>
                  <a:schemeClr val="dk1"/>
                </a:solidFill>
                <a:latin typeface="Tahoma"/>
                <a:ea typeface="Tahoma"/>
                <a:cs typeface="Tahoma"/>
                <a:sym typeface="Tahoma"/>
              </a:rPr>
              <a:t>Monoalphabetic</a:t>
            </a:r>
            <a:r>
              <a:rPr lang="en-US" sz="2200" b="1" dirty="0">
                <a:solidFill>
                  <a:schemeClr val="dk1"/>
                </a:solidFill>
                <a:latin typeface="Tahoma"/>
                <a:ea typeface="Tahoma"/>
                <a:cs typeface="Tahoma"/>
                <a:sym typeface="Tahoma"/>
              </a:rPr>
              <a:t> substitution ciphers are </a:t>
            </a:r>
            <a:r>
              <a:rPr lang="en-US" sz="2200" b="1" dirty="0" err="1">
                <a:solidFill>
                  <a:schemeClr val="dk1"/>
                </a:solidFill>
                <a:latin typeface="Tahoma"/>
                <a:ea typeface="Tahoma"/>
                <a:cs typeface="Tahoma"/>
                <a:sym typeface="Tahoma"/>
              </a:rPr>
              <a:t>monoalphabetic</a:t>
            </a:r>
            <a:r>
              <a:rPr lang="en-US" sz="2200" b="1" dirty="0">
                <a:solidFill>
                  <a:schemeClr val="dk1"/>
                </a:solidFill>
                <a:latin typeface="Tahoma"/>
                <a:ea typeface="Tahoma"/>
                <a:cs typeface="Tahoma"/>
                <a:sym typeface="Tahoma"/>
              </a:rPr>
              <a:t> because </a:t>
            </a:r>
            <a:r>
              <a:rPr lang="en-US" sz="2200" dirty="0" err="1">
                <a:solidFill>
                  <a:schemeClr val="hlink"/>
                </a:solidFill>
                <a:latin typeface="Tahoma"/>
                <a:ea typeface="Tahoma"/>
                <a:cs typeface="Tahoma"/>
                <a:sym typeface="Tahoma"/>
              </a:rPr>
              <a:t>k</a:t>
            </a:r>
            <a:r>
              <a:rPr lang="en-US" sz="2200" b="1" baseline="-25000" dirty="0" err="1">
                <a:solidFill>
                  <a:schemeClr val="hlink"/>
                </a:solidFill>
                <a:latin typeface="Tahoma"/>
                <a:ea typeface="Tahoma"/>
                <a:cs typeface="Tahoma"/>
                <a:sym typeface="Tahoma"/>
              </a:rPr>
              <a:t>i</a:t>
            </a:r>
            <a:r>
              <a:rPr lang="en-US" sz="2200" b="1" dirty="0">
                <a:solidFill>
                  <a:schemeClr val="dk1"/>
                </a:solidFill>
                <a:latin typeface="Tahoma"/>
                <a:ea typeface="Tahoma"/>
                <a:cs typeface="Tahoma"/>
                <a:sym typeface="Tahoma"/>
              </a:rPr>
              <a:t> does not depend on the position of the corresponding character in the plaintext stream; it depends only on the value of the plaintext character.</a:t>
            </a:r>
          </a:p>
          <a:p>
            <a:endParaRPr sz="2200" dirty="0">
              <a:solidFill>
                <a:schemeClr val="dk1"/>
              </a:solidFill>
              <a:latin typeface="Tahoma"/>
              <a:ea typeface="Tahoma"/>
              <a:cs typeface="Tahoma"/>
              <a:sym typeface="Tahoma"/>
            </a:endParaRPr>
          </a:p>
          <a:p>
            <a:pPr algn="just">
              <a:buClr>
                <a:schemeClr val="dk1"/>
              </a:buClr>
              <a:buSzPct val="60416"/>
              <a:buFont typeface="Arial"/>
              <a:buChar char="●"/>
            </a:pPr>
            <a:r>
              <a:rPr lang="en-US" sz="2200" b="1" dirty="0">
                <a:solidFill>
                  <a:schemeClr val="dk1"/>
                </a:solidFill>
                <a:latin typeface="Tahoma"/>
                <a:ea typeface="Tahoma"/>
                <a:cs typeface="Tahoma"/>
                <a:sym typeface="Tahoma"/>
              </a:rPr>
              <a:t> Vigenere ciphers are polyalphabetic ciphers because </a:t>
            </a:r>
            <a:r>
              <a:rPr lang="en-US" sz="2200" b="1" dirty="0" err="1">
                <a:solidFill>
                  <a:schemeClr val="hlink"/>
                </a:solidFill>
                <a:latin typeface="Tahoma"/>
                <a:ea typeface="Tahoma"/>
                <a:cs typeface="Tahoma"/>
                <a:sym typeface="Tahoma"/>
              </a:rPr>
              <a:t>k</a:t>
            </a:r>
            <a:r>
              <a:rPr lang="en-US" sz="2200" b="1" baseline="-25000" dirty="0" err="1">
                <a:solidFill>
                  <a:schemeClr val="hlink"/>
                </a:solidFill>
                <a:latin typeface="Tahoma"/>
                <a:ea typeface="Tahoma"/>
                <a:cs typeface="Tahoma"/>
                <a:sym typeface="Tahoma"/>
              </a:rPr>
              <a:t>i</a:t>
            </a:r>
            <a:r>
              <a:rPr lang="en-US" sz="2200" b="1" dirty="0">
                <a:solidFill>
                  <a:schemeClr val="dk1"/>
                </a:solidFill>
                <a:latin typeface="Tahoma"/>
                <a:ea typeface="Tahoma"/>
                <a:cs typeface="Tahoma"/>
                <a:sym typeface="Tahoma"/>
              </a:rPr>
              <a:t> definitely depends on the position of the plaintext character. However, the dependency is cyclic. The key is the same for two characters </a:t>
            </a:r>
            <a:r>
              <a:rPr lang="en-US" sz="2200" dirty="0">
                <a:solidFill>
                  <a:schemeClr val="dk1"/>
                </a:solidFill>
                <a:latin typeface="Tahoma"/>
                <a:ea typeface="Tahoma"/>
                <a:cs typeface="Tahoma"/>
                <a:sym typeface="Tahoma"/>
              </a:rPr>
              <a:t>m</a:t>
            </a:r>
            <a:r>
              <a:rPr lang="en-US" sz="2200" b="1" dirty="0">
                <a:solidFill>
                  <a:schemeClr val="dk1"/>
                </a:solidFill>
                <a:latin typeface="Tahoma"/>
                <a:ea typeface="Tahoma"/>
                <a:cs typeface="Tahoma"/>
                <a:sym typeface="Tahoma"/>
              </a:rPr>
              <a:t> positions apart.</a:t>
            </a:r>
          </a:p>
        </p:txBody>
      </p:sp>
      <p:sp>
        <p:nvSpPr>
          <p:cNvPr id="1458" name="Shape 1458"/>
          <p:cNvSpPr txBox="1"/>
          <p:nvPr/>
        </p:nvSpPr>
        <p:spPr>
          <a:xfrm>
            <a:off x="1572275" y="609600"/>
            <a:ext cx="4141137"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dirty="0">
                <a:solidFill>
                  <a:schemeClr val="lt1"/>
                </a:solidFill>
                <a:latin typeface="Tahoma"/>
                <a:ea typeface="Tahoma"/>
                <a:cs typeface="Tahoma"/>
                <a:sym typeface="Tahoma"/>
              </a:rPr>
              <a:t>Example 3.33</a:t>
            </a:r>
          </a:p>
        </p:txBody>
      </p:sp>
      <p:sp>
        <p:nvSpPr>
          <p:cNvPr id="1460" name="Shape 1460"/>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222920" y="1489320"/>
              <a:ext cx="1526400" cy="3785040"/>
            </p14:xfrm>
          </p:contentPart>
        </mc:Choice>
        <mc:Fallback xmlns="">
          <p:pic>
            <p:nvPicPr>
              <p:cNvPr id="2" name="Ink 1"/>
              <p:cNvPicPr/>
              <p:nvPr/>
            </p:nvPicPr>
            <p:blipFill>
              <a:blip r:embed="rId4"/>
              <a:stretch>
                <a:fillRect/>
              </a:stretch>
            </p:blipFill>
            <p:spPr>
              <a:xfrm>
                <a:off x="1217880" y="1482120"/>
                <a:ext cx="1539720" cy="3798360"/>
              </a:xfrm>
              <a:prstGeom prst="rect">
                <a:avLst/>
              </a:prstGeom>
            </p:spPr>
          </p:pic>
        </mc:Fallback>
      </mc:AlternateContent>
    </p:spTree>
  </p:cSld>
  <p:clrMapOvr>
    <a:masterClrMapping/>
  </p:clrMapOvr>
  <p:transition spd="slow">
    <p:cu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Shape 1467"/>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468" name="Shape 1468"/>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469" name="Shape 1469"/>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470" name="Shape 1470"/>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471" name="Shape 1471"/>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472" name="Shape 1472"/>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473" name="Shape 1473"/>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474" name="Shape 1474"/>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475" name="Shape 1475"/>
          <p:cNvSpPr txBox="1"/>
          <p:nvPr/>
        </p:nvSpPr>
        <p:spPr>
          <a:xfrm>
            <a:off x="1523604" y="0"/>
            <a:ext cx="5078676" cy="579436"/>
          </a:xfrm>
          <a:prstGeom prst="rect">
            <a:avLst/>
          </a:prstGeom>
          <a:noFill/>
          <a:ln>
            <a:noFill/>
          </a:ln>
        </p:spPr>
        <p:txBody>
          <a:bodyPr lIns="110350" tIns="55160" rIns="110350" bIns="55160" anchor="t" anchorCtr="0">
            <a:noAutofit/>
          </a:bodyPr>
          <a:lstStyle/>
          <a:p>
            <a:pPr>
              <a:buClr>
                <a:schemeClr val="dk1"/>
              </a:buClr>
              <a:buSzPct val="25000"/>
            </a:pPr>
            <a:r>
              <a:rPr lang="en-US" sz="3900" dirty="0">
                <a:solidFill>
                  <a:schemeClr val="hlink"/>
                </a:solidFill>
                <a:latin typeface="Tahoma"/>
                <a:ea typeface="Tahoma"/>
                <a:cs typeface="Tahoma"/>
                <a:sym typeface="Tahoma"/>
              </a:rPr>
              <a:t>Block Ciphers</a:t>
            </a:r>
          </a:p>
        </p:txBody>
      </p:sp>
      <p:sp>
        <p:nvSpPr>
          <p:cNvPr id="1476" name="Shape 1476"/>
          <p:cNvSpPr txBox="1"/>
          <p:nvPr/>
        </p:nvSpPr>
        <p:spPr>
          <a:xfrm>
            <a:off x="203148" y="987425"/>
            <a:ext cx="11782530" cy="2654299"/>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dirty="0">
                <a:solidFill>
                  <a:schemeClr val="dk1"/>
                </a:solidFill>
                <a:latin typeface="Tahoma"/>
                <a:ea typeface="Tahoma"/>
                <a:cs typeface="Tahoma"/>
                <a:sym typeface="Tahoma"/>
              </a:rPr>
              <a:t>In a block cipher, a group of plaintext symbols of size </a:t>
            </a:r>
            <a:r>
              <a:rPr lang="en-US" sz="2200" dirty="0">
                <a:solidFill>
                  <a:schemeClr val="dk1"/>
                </a:solidFill>
                <a:latin typeface="Tahoma"/>
                <a:ea typeface="Tahoma"/>
                <a:cs typeface="Tahoma"/>
                <a:sym typeface="Tahoma"/>
              </a:rPr>
              <a:t>m</a:t>
            </a:r>
            <a:r>
              <a:rPr lang="en-US" sz="2200" b="1" dirty="0">
                <a:solidFill>
                  <a:schemeClr val="dk1"/>
                </a:solidFill>
                <a:latin typeface="Tahoma"/>
                <a:ea typeface="Tahoma"/>
                <a:cs typeface="Tahoma"/>
                <a:sym typeface="Tahoma"/>
              </a:rPr>
              <a:t> (</a:t>
            </a:r>
            <a:r>
              <a:rPr lang="en-US" sz="2200" dirty="0">
                <a:solidFill>
                  <a:schemeClr val="dk1"/>
                </a:solidFill>
                <a:latin typeface="Tahoma"/>
                <a:ea typeface="Tahoma"/>
                <a:cs typeface="Tahoma"/>
                <a:sym typeface="Tahoma"/>
              </a:rPr>
              <a:t>m</a:t>
            </a:r>
            <a:r>
              <a:rPr lang="en-US" sz="2200" b="1" dirty="0">
                <a:solidFill>
                  <a:schemeClr val="dk1"/>
                </a:solidFill>
                <a:latin typeface="Tahoma"/>
                <a:ea typeface="Tahoma"/>
                <a:cs typeface="Tahoma"/>
                <a:sym typeface="Tahoma"/>
              </a:rPr>
              <a:t> &gt; 1) are encrypted together creating a group of </a:t>
            </a:r>
            <a:r>
              <a:rPr lang="en-US" sz="2200" b="1" dirty="0" err="1">
                <a:solidFill>
                  <a:schemeClr val="dk1"/>
                </a:solidFill>
                <a:latin typeface="Tahoma"/>
                <a:ea typeface="Tahoma"/>
                <a:cs typeface="Tahoma"/>
                <a:sym typeface="Tahoma"/>
              </a:rPr>
              <a:t>ciphertext</a:t>
            </a:r>
            <a:r>
              <a:rPr lang="en-US" sz="2200" b="1" dirty="0">
                <a:solidFill>
                  <a:schemeClr val="dk1"/>
                </a:solidFill>
                <a:latin typeface="Tahoma"/>
                <a:ea typeface="Tahoma"/>
                <a:cs typeface="Tahoma"/>
                <a:sym typeface="Tahoma"/>
              </a:rPr>
              <a:t> of the same size. A single key is used to encrypt the whole block even if the key is made of multiple values. Figure 3.27 shows the concept of a block cipher.</a:t>
            </a:r>
          </a:p>
        </p:txBody>
      </p:sp>
      <p:pic>
        <p:nvPicPr>
          <p:cNvPr id="1477" name="Shape 1477"/>
          <p:cNvPicPr preferRelativeResize="0"/>
          <p:nvPr/>
        </p:nvPicPr>
        <p:blipFill>
          <a:blip r:embed="rId3">
            <a:alphaModFix/>
          </a:blip>
          <a:stretch>
            <a:fillRect/>
          </a:stretch>
        </p:blipFill>
        <p:spPr>
          <a:xfrm>
            <a:off x="628487" y="4346576"/>
            <a:ext cx="10443029" cy="2282825"/>
          </a:xfrm>
          <a:prstGeom prst="rect">
            <a:avLst/>
          </a:prstGeom>
          <a:noFill/>
          <a:ln>
            <a:noFill/>
          </a:ln>
        </p:spPr>
      </p:pic>
      <p:sp>
        <p:nvSpPr>
          <p:cNvPr id="1478" name="Shape 1478"/>
          <p:cNvSpPr txBox="1"/>
          <p:nvPr/>
        </p:nvSpPr>
        <p:spPr>
          <a:xfrm>
            <a:off x="3758222" y="3657600"/>
            <a:ext cx="4185675"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Block cipher</a:t>
            </a:r>
          </a:p>
        </p:txBody>
      </p:sp>
      <p:sp>
        <p:nvSpPr>
          <p:cNvPr id="1479" name="Shape 1479"/>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485"/>
        <p:cNvGrpSpPr/>
        <p:nvPr/>
      </p:nvGrpSpPr>
      <p:grpSpPr>
        <a:xfrm>
          <a:off x="0" y="0"/>
          <a:ext cx="0" cy="0"/>
          <a:chOff x="0" y="0"/>
          <a:chExt cx="0" cy="0"/>
        </a:xfrm>
      </p:grpSpPr>
      <p:sp>
        <p:nvSpPr>
          <p:cNvPr id="1486" name="Shape 1486"/>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487" name="Shape 1487"/>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488" name="Shape 1488"/>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489" name="Shape 1489"/>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490" name="Shape 1490"/>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491" name="Shape 1491"/>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492" name="Shape 1492"/>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493" name="Shape 1493"/>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495" name="Shape 1495"/>
          <p:cNvSpPr txBox="1"/>
          <p:nvPr/>
        </p:nvSpPr>
        <p:spPr>
          <a:xfrm>
            <a:off x="203148" y="1524000"/>
            <a:ext cx="11782530" cy="822324"/>
          </a:xfrm>
          <a:prstGeom prst="rect">
            <a:avLst/>
          </a:prstGeom>
          <a:noFill/>
          <a:ln>
            <a:noFill/>
          </a:ln>
        </p:spPr>
        <p:txBody>
          <a:bodyPr lIns="110350" tIns="55160" rIns="110350" bIns="55160" anchor="ctr" anchorCtr="0">
            <a:noAutofit/>
          </a:bodyPr>
          <a:lstStyle/>
          <a:p>
            <a:pPr algn="just">
              <a:buClr>
                <a:schemeClr val="dk1"/>
              </a:buClr>
              <a:buSzPct val="25000"/>
            </a:pPr>
            <a:r>
              <a:rPr lang="en-US" sz="2800" b="1" dirty="0" err="1">
                <a:solidFill>
                  <a:schemeClr val="dk1"/>
                </a:solidFill>
                <a:latin typeface="Tahoma"/>
                <a:ea typeface="Tahoma"/>
                <a:cs typeface="Tahoma"/>
                <a:sym typeface="Tahoma"/>
              </a:rPr>
              <a:t>Playfair</a:t>
            </a:r>
            <a:r>
              <a:rPr lang="en-US" sz="2800" b="1" dirty="0">
                <a:solidFill>
                  <a:schemeClr val="dk1"/>
                </a:solidFill>
                <a:latin typeface="Tahoma"/>
                <a:ea typeface="Tahoma"/>
                <a:cs typeface="Tahoma"/>
                <a:sym typeface="Tahoma"/>
              </a:rPr>
              <a:t> ciphers are block ciphers. The size of the block is </a:t>
            </a:r>
            <a:r>
              <a:rPr lang="en-US" sz="2800" dirty="0">
                <a:solidFill>
                  <a:schemeClr val="dk1"/>
                </a:solidFill>
                <a:latin typeface="Tahoma"/>
                <a:ea typeface="Tahoma"/>
                <a:cs typeface="Tahoma"/>
                <a:sym typeface="Tahoma"/>
              </a:rPr>
              <a:t>m</a:t>
            </a:r>
            <a:r>
              <a:rPr lang="en-US" sz="2800" b="1" dirty="0">
                <a:solidFill>
                  <a:schemeClr val="dk1"/>
                </a:solidFill>
                <a:latin typeface="Tahoma"/>
                <a:ea typeface="Tahoma"/>
                <a:cs typeface="Tahoma"/>
                <a:sym typeface="Tahoma"/>
              </a:rPr>
              <a:t> = 2. Two characters are encrypted together.</a:t>
            </a:r>
          </a:p>
        </p:txBody>
      </p:sp>
      <p:sp>
        <p:nvSpPr>
          <p:cNvPr id="1496" name="Shape 1496"/>
          <p:cNvSpPr txBox="1"/>
          <p:nvPr/>
        </p:nvSpPr>
        <p:spPr>
          <a:xfrm>
            <a:off x="1392405" y="914400"/>
            <a:ext cx="4092408" cy="457200"/>
          </a:xfrm>
          <a:prstGeom prst="rect">
            <a:avLst/>
          </a:prstGeom>
          <a:solidFill>
            <a:schemeClr val="folHlink"/>
          </a:solidFill>
          <a:ln>
            <a:noFill/>
          </a:ln>
        </p:spPr>
        <p:txBody>
          <a:bodyPr lIns="110350" tIns="55160" rIns="110350" bIns="55160" anchor="t" anchorCtr="0">
            <a:noAutofit/>
          </a:bodyPr>
          <a:lstStyle/>
          <a:p>
            <a:pPr>
              <a:buClr>
                <a:schemeClr val="dk1"/>
              </a:buClr>
              <a:buSzPct val="25000"/>
            </a:pPr>
            <a:r>
              <a:rPr lang="en-US" sz="2900" b="1">
                <a:solidFill>
                  <a:schemeClr val="lt1"/>
                </a:solidFill>
                <a:latin typeface="Tahoma"/>
                <a:ea typeface="Tahoma"/>
                <a:cs typeface="Tahoma"/>
                <a:sym typeface="Tahoma"/>
              </a:rPr>
              <a:t>Example 3.34</a:t>
            </a:r>
          </a:p>
        </p:txBody>
      </p:sp>
      <p:sp>
        <p:nvSpPr>
          <p:cNvPr id="1497" name="Shape 1497"/>
          <p:cNvSpPr txBox="1"/>
          <p:nvPr/>
        </p:nvSpPr>
        <p:spPr>
          <a:xfrm>
            <a:off x="304721" y="2895600"/>
            <a:ext cx="11782530" cy="1917700"/>
          </a:xfrm>
          <a:prstGeom prst="rect">
            <a:avLst/>
          </a:prstGeom>
          <a:noFill/>
          <a:ln>
            <a:noFill/>
          </a:ln>
        </p:spPr>
        <p:txBody>
          <a:bodyPr lIns="110350" tIns="55160" rIns="110350" bIns="55160" anchor="ctr" anchorCtr="0">
            <a:noAutofit/>
          </a:bodyPr>
          <a:lstStyle/>
          <a:p>
            <a:pPr algn="just">
              <a:buClr>
                <a:schemeClr val="dk1"/>
              </a:buClr>
              <a:buSzPct val="25000"/>
            </a:pPr>
            <a:r>
              <a:rPr lang="en-US" sz="2700" b="1" dirty="0">
                <a:solidFill>
                  <a:schemeClr val="dk1"/>
                </a:solidFill>
                <a:latin typeface="Tahoma"/>
                <a:ea typeface="Tahoma"/>
                <a:cs typeface="Tahoma"/>
                <a:sym typeface="Tahoma"/>
              </a:rPr>
              <a:t>Hill ciphers are block ciphers. A block of plaintext, of size 2 or more is encrypted together using a single key (a matrix). In these ciphers, the value of each character in the </a:t>
            </a:r>
            <a:r>
              <a:rPr lang="en-US" sz="2700" b="1" dirty="0" err="1">
                <a:solidFill>
                  <a:schemeClr val="dk1"/>
                </a:solidFill>
                <a:latin typeface="Tahoma"/>
                <a:ea typeface="Tahoma"/>
                <a:cs typeface="Tahoma"/>
                <a:sym typeface="Tahoma"/>
              </a:rPr>
              <a:t>ciphertext</a:t>
            </a:r>
            <a:r>
              <a:rPr lang="en-US" sz="2700" b="1" dirty="0">
                <a:solidFill>
                  <a:schemeClr val="dk1"/>
                </a:solidFill>
                <a:latin typeface="Tahoma"/>
                <a:ea typeface="Tahoma"/>
                <a:cs typeface="Tahoma"/>
                <a:sym typeface="Tahoma"/>
              </a:rPr>
              <a:t> depends on</a:t>
            </a:r>
          </a:p>
          <a:p>
            <a:pPr algn="just">
              <a:buClr>
                <a:schemeClr val="dk1"/>
              </a:buClr>
              <a:buSzPct val="25000"/>
            </a:pPr>
            <a:r>
              <a:rPr lang="en-US" sz="2700" b="1" dirty="0">
                <a:solidFill>
                  <a:schemeClr val="dk1"/>
                </a:solidFill>
                <a:latin typeface="Tahoma"/>
                <a:ea typeface="Tahoma"/>
                <a:cs typeface="Tahoma"/>
                <a:sym typeface="Tahoma"/>
              </a:rPr>
              <a:t>all the values of the characters in the plaintext. Although the key is made of </a:t>
            </a:r>
            <a:r>
              <a:rPr lang="en-US" sz="2700" dirty="0">
                <a:solidFill>
                  <a:schemeClr val="dk1"/>
                </a:solidFill>
                <a:latin typeface="Tahoma"/>
                <a:ea typeface="Tahoma"/>
                <a:cs typeface="Tahoma"/>
                <a:sym typeface="Tahoma"/>
              </a:rPr>
              <a:t>m</a:t>
            </a:r>
            <a:r>
              <a:rPr lang="en-US" sz="2700" b="1" dirty="0">
                <a:solidFill>
                  <a:schemeClr val="dk1"/>
                </a:solidFill>
                <a:latin typeface="Tahoma"/>
                <a:ea typeface="Tahoma"/>
                <a:cs typeface="Tahoma"/>
                <a:sym typeface="Tahoma"/>
              </a:rPr>
              <a:t> × </a:t>
            </a:r>
            <a:r>
              <a:rPr lang="en-US" sz="2700" dirty="0">
                <a:solidFill>
                  <a:schemeClr val="dk1"/>
                </a:solidFill>
                <a:latin typeface="Tahoma"/>
                <a:ea typeface="Tahoma"/>
                <a:cs typeface="Tahoma"/>
                <a:sym typeface="Tahoma"/>
              </a:rPr>
              <a:t>m</a:t>
            </a:r>
            <a:r>
              <a:rPr lang="en-US" sz="2700" b="1" dirty="0">
                <a:solidFill>
                  <a:schemeClr val="dk1"/>
                </a:solidFill>
                <a:latin typeface="Tahoma"/>
                <a:ea typeface="Tahoma"/>
                <a:cs typeface="Tahoma"/>
                <a:sym typeface="Tahoma"/>
              </a:rPr>
              <a:t> values, it is considered as a single key.</a:t>
            </a:r>
          </a:p>
        </p:txBody>
      </p:sp>
      <p:sp>
        <p:nvSpPr>
          <p:cNvPr id="1499" name="Shape 1499"/>
          <p:cNvSpPr txBox="1"/>
          <p:nvPr/>
        </p:nvSpPr>
        <p:spPr>
          <a:xfrm>
            <a:off x="203148" y="5457826"/>
            <a:ext cx="11782530" cy="1187449"/>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dirty="0">
                <a:solidFill>
                  <a:schemeClr val="dk1"/>
                </a:solidFill>
                <a:latin typeface="Tahoma"/>
                <a:ea typeface="Tahoma"/>
                <a:cs typeface="Tahoma"/>
                <a:sym typeface="Tahoma"/>
              </a:rPr>
              <a:t>From the definition of the block cipher, it is clear that every block cipher is a polyalphabetic cipher because each character in a </a:t>
            </a:r>
            <a:r>
              <a:rPr lang="en-US" sz="2900" b="1" dirty="0" err="1">
                <a:solidFill>
                  <a:schemeClr val="dk1"/>
                </a:solidFill>
                <a:latin typeface="Tahoma"/>
                <a:ea typeface="Tahoma"/>
                <a:cs typeface="Tahoma"/>
                <a:sym typeface="Tahoma"/>
              </a:rPr>
              <a:t>ciphertext</a:t>
            </a:r>
            <a:r>
              <a:rPr lang="en-US" sz="2900" b="1" dirty="0">
                <a:solidFill>
                  <a:schemeClr val="dk1"/>
                </a:solidFill>
                <a:latin typeface="Tahoma"/>
                <a:ea typeface="Tahoma"/>
                <a:cs typeface="Tahoma"/>
                <a:sym typeface="Tahoma"/>
              </a:rPr>
              <a:t> block depends on all characters in the plaintext block.</a:t>
            </a:r>
          </a:p>
        </p:txBody>
      </p:sp>
      <p:sp>
        <p:nvSpPr>
          <p:cNvPr id="1501" name="Shape 1501"/>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23000" y="1908720"/>
              <a:ext cx="1508760" cy="560520"/>
            </p14:xfrm>
          </p:contentPart>
        </mc:Choice>
        <mc:Fallback xmlns="">
          <p:pic>
            <p:nvPicPr>
              <p:cNvPr id="2" name="Ink 1"/>
              <p:cNvPicPr/>
              <p:nvPr/>
            </p:nvPicPr>
            <p:blipFill>
              <a:blip r:embed="rId4"/>
              <a:stretch>
                <a:fillRect/>
              </a:stretch>
            </p:blipFill>
            <p:spPr>
              <a:xfrm>
                <a:off x="417240" y="1901520"/>
                <a:ext cx="1522800" cy="573840"/>
              </a:xfrm>
              <a:prstGeom prst="rect">
                <a:avLst/>
              </a:prstGeom>
            </p:spPr>
          </p:pic>
        </mc:Fallback>
      </mc:AlternateContent>
    </p:spTree>
  </p:cSld>
  <p:clrMapOvr>
    <a:masterClrMapping/>
  </p:clrMapOvr>
  <p:transition spd="slow">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sp>
        <p:nvSpPr>
          <p:cNvPr id="1508" name="Shape 1508"/>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509" name="Shape 1509"/>
          <p:cNvSpPr txBox="1"/>
          <p:nvPr/>
        </p:nvSpPr>
        <p:spPr>
          <a:xfrm>
            <a:off x="488822" y="107951"/>
            <a:ext cx="584048" cy="474661"/>
          </a:xfrm>
          <a:prstGeom prst="rect">
            <a:avLst/>
          </a:prstGeom>
          <a:solidFill>
            <a:schemeClr val="accent2"/>
          </a:solidFill>
          <a:ln>
            <a:noFill/>
          </a:ln>
        </p:spPr>
        <p:txBody>
          <a:bodyPr lIns="110350" tIns="55160" rIns="110350" bIns="55160" anchor="ctr" anchorCtr="0">
            <a:noAutofit/>
          </a:bodyPr>
          <a:lstStyle/>
          <a:p>
            <a:endParaRPr/>
          </a:p>
        </p:txBody>
      </p:sp>
      <p:sp>
        <p:nvSpPr>
          <p:cNvPr id="1510" name="Shape 1510"/>
          <p:cNvSpPr txBox="1"/>
          <p:nvPr/>
        </p:nvSpPr>
        <p:spPr>
          <a:xfrm>
            <a:off x="998807" y="107951"/>
            <a:ext cx="438034" cy="474661"/>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511" name="Shape 1511"/>
          <p:cNvSpPr txBox="1"/>
          <p:nvPr/>
        </p:nvSpPr>
        <p:spPr>
          <a:xfrm>
            <a:off x="653881" y="530225"/>
            <a:ext cx="562887" cy="474661"/>
          </a:xfrm>
          <a:prstGeom prst="rect">
            <a:avLst/>
          </a:prstGeom>
          <a:solidFill>
            <a:schemeClr val="folHlink"/>
          </a:solidFill>
          <a:ln>
            <a:noFill/>
          </a:ln>
        </p:spPr>
        <p:txBody>
          <a:bodyPr lIns="110350" tIns="55160" rIns="110350" bIns="55160" anchor="ctr" anchorCtr="0">
            <a:noAutofit/>
          </a:bodyPr>
          <a:lstStyle/>
          <a:p>
            <a:endParaRPr/>
          </a:p>
        </p:txBody>
      </p:sp>
      <p:sp>
        <p:nvSpPr>
          <p:cNvPr id="1512" name="Shape 1512"/>
          <p:cNvSpPr txBox="1"/>
          <p:nvPr/>
        </p:nvSpPr>
        <p:spPr>
          <a:xfrm>
            <a:off x="1146936" y="530225"/>
            <a:ext cx="490937" cy="474661"/>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513" name="Shape 1513"/>
          <p:cNvSpPr txBox="1"/>
          <p:nvPr/>
        </p:nvSpPr>
        <p:spPr>
          <a:xfrm>
            <a:off x="101574" y="457201"/>
            <a:ext cx="746988" cy="422275"/>
          </a:xfrm>
          <a:prstGeom prst="rect">
            <a:avLst/>
          </a:prstGeom>
          <a:gradFill>
            <a:gsLst>
              <a:gs pos="0">
                <a:schemeClr val="lt1"/>
              </a:gs>
              <a:gs pos="100000">
                <a:schemeClr val="hlink"/>
              </a:gs>
            </a:gsLst>
            <a:lin ang="18899999" scaled="0"/>
          </a:gradFill>
          <a:ln>
            <a:noFill/>
          </a:ln>
        </p:spPr>
        <p:txBody>
          <a:bodyPr lIns="110350" tIns="55160" rIns="110350" bIns="55160" anchor="ctr" anchorCtr="0">
            <a:noAutofit/>
          </a:bodyPr>
          <a:lstStyle/>
          <a:p>
            <a:endParaRPr/>
          </a:p>
        </p:txBody>
      </p:sp>
      <p:sp>
        <p:nvSpPr>
          <p:cNvPr id="1514" name="Shape 1514"/>
          <p:cNvSpPr txBox="1"/>
          <p:nvPr/>
        </p:nvSpPr>
        <p:spPr>
          <a:xfrm>
            <a:off x="948020" y="0"/>
            <a:ext cx="42322" cy="1052511"/>
          </a:xfrm>
          <a:prstGeom prst="rect">
            <a:avLst/>
          </a:prstGeom>
          <a:solidFill>
            <a:schemeClr val="lt2"/>
          </a:solidFill>
          <a:ln>
            <a:noFill/>
          </a:ln>
        </p:spPr>
        <p:txBody>
          <a:bodyPr lIns="110350" tIns="55160" rIns="110350" bIns="55160" anchor="ctr" anchorCtr="0">
            <a:noAutofit/>
          </a:bodyPr>
          <a:lstStyle/>
          <a:p>
            <a:endParaRPr/>
          </a:p>
        </p:txBody>
      </p:sp>
      <p:sp>
        <p:nvSpPr>
          <p:cNvPr id="1515" name="Shape 1515"/>
          <p:cNvSpPr txBox="1"/>
          <p:nvPr/>
        </p:nvSpPr>
        <p:spPr>
          <a:xfrm>
            <a:off x="590396" y="533400"/>
            <a:ext cx="10965710" cy="31750"/>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517" name="Shape 1517"/>
          <p:cNvSpPr txBox="1"/>
          <p:nvPr/>
        </p:nvSpPr>
        <p:spPr>
          <a:xfrm>
            <a:off x="203148" y="990600"/>
            <a:ext cx="11782530" cy="2654299"/>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dirty="0">
                <a:solidFill>
                  <a:schemeClr val="dk1"/>
                </a:solidFill>
                <a:latin typeface="Tahoma"/>
                <a:ea typeface="Tahoma"/>
                <a:cs typeface="Tahoma"/>
                <a:sym typeface="Tahoma"/>
              </a:rPr>
              <a:t>In practice, blocks of plaintext are encrypted individually, but they use a stream of keys to encrypt the whole message block by block. In other words, the cipher is a block cipher when looking at the individual blocks, but it is a stream cipher when looking at the whole message considering each block as a single unit. </a:t>
            </a:r>
          </a:p>
        </p:txBody>
      </p:sp>
      <p:sp>
        <p:nvSpPr>
          <p:cNvPr id="1518" name="Shape 1518"/>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
          <p:cNvSpPr>
            <a:spLocks noGrp="1"/>
          </p:cNvSpPr>
          <p:nvPr>
            <p:ph type="sldNum" sz="quarter" idx="4294967295"/>
          </p:nvPr>
        </p:nvSpPr>
        <p:spPr>
          <a:xfrm>
            <a:off x="101574" y="6400800"/>
            <a:ext cx="2539339" cy="457200"/>
          </a:xfrm>
          <a:prstGeom prst="rect">
            <a:avLst/>
          </a:prstGeom>
        </p:spPr>
        <p:txBody>
          <a:bodyPr/>
          <a:lstStyle/>
          <a:p>
            <a:r>
              <a:rPr lang="en-US" altLang="en-US"/>
              <a:t>5.</a:t>
            </a:r>
            <a:fld id="{800B53F1-8036-464E-8D74-7BEA4A06842C}" type="slidenum">
              <a:rPr lang="en-US" altLang="en-US"/>
              <a:pPr/>
              <a:t>79</a:t>
            </a:fld>
            <a:endParaRPr lang="en-US" altLang="en-US"/>
          </a:p>
        </p:txBody>
      </p:sp>
      <p:sp>
        <p:nvSpPr>
          <p:cNvPr id="1032194" name="Rectangle 2"/>
          <p:cNvSpPr>
            <a:spLocks noChangeArrowheads="1"/>
          </p:cNvSpPr>
          <p:nvPr/>
        </p:nvSpPr>
        <p:spPr bwMode="ltGray">
          <a:xfrm>
            <a:off x="488823" y="107951"/>
            <a:ext cx="584048"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2195" name="Rectangle 3"/>
          <p:cNvSpPr>
            <a:spLocks noChangeArrowheads="1"/>
          </p:cNvSpPr>
          <p:nvPr/>
        </p:nvSpPr>
        <p:spPr bwMode="ltGray">
          <a:xfrm>
            <a:off x="998808" y="107951"/>
            <a:ext cx="438037"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2196" name="Rectangle 4"/>
          <p:cNvSpPr>
            <a:spLocks noChangeArrowheads="1"/>
          </p:cNvSpPr>
          <p:nvPr/>
        </p:nvSpPr>
        <p:spPr bwMode="ltGray">
          <a:xfrm>
            <a:off x="653882" y="530225"/>
            <a:ext cx="562887"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2197" name="Rectangle 5"/>
          <p:cNvSpPr>
            <a:spLocks noChangeArrowheads="1"/>
          </p:cNvSpPr>
          <p:nvPr/>
        </p:nvSpPr>
        <p:spPr bwMode="ltGray">
          <a:xfrm>
            <a:off x="1146935" y="530225"/>
            <a:ext cx="490939"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2198" name="Rectangle 6"/>
          <p:cNvSpPr>
            <a:spLocks noChangeArrowheads="1"/>
          </p:cNvSpPr>
          <p:nvPr/>
        </p:nvSpPr>
        <p:spPr bwMode="ltGray">
          <a:xfrm>
            <a:off x="101575" y="457201"/>
            <a:ext cx="746989"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2199" name="Rectangle 7"/>
          <p:cNvSpPr>
            <a:spLocks noChangeArrowheads="1"/>
          </p:cNvSpPr>
          <p:nvPr/>
        </p:nvSpPr>
        <p:spPr bwMode="gray">
          <a:xfrm>
            <a:off x="948020" y="0"/>
            <a:ext cx="42322"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2200" name="Rectangle 8"/>
          <p:cNvSpPr>
            <a:spLocks noChangeArrowheads="1"/>
          </p:cNvSpPr>
          <p:nvPr/>
        </p:nvSpPr>
        <p:spPr bwMode="gray">
          <a:xfrm>
            <a:off x="590398" y="533400"/>
            <a:ext cx="10965710"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2201" name="Rectangle 9"/>
          <p:cNvSpPr>
            <a:spLocks noChangeArrowheads="1"/>
          </p:cNvSpPr>
          <p:nvPr/>
        </p:nvSpPr>
        <p:spPr bwMode="auto">
          <a:xfrm>
            <a:off x="304721" y="1123950"/>
            <a:ext cx="11579384" cy="4297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0368" tIns="55184" rIns="110368" bIns="55184">
            <a:spAutoFit/>
          </a:bodyPr>
          <a:lstStyle/>
          <a:p>
            <a:pPr algn="just"/>
            <a:r>
              <a:rPr lang="en-US" altLang="en-US" sz="3400" i="1" dirty="0">
                <a:solidFill>
                  <a:schemeClr val="folHlink"/>
                </a:solidFill>
              </a:rPr>
              <a:t>Diffusion</a:t>
            </a:r>
          </a:p>
          <a:p>
            <a:pPr marL="551840" indent="-551840" algn="just">
              <a:buFont typeface="Arial" panose="020B0604020202020204" pitchFamily="34" charset="0"/>
              <a:buChar char="•"/>
            </a:pPr>
            <a:r>
              <a:rPr lang="en-US" altLang="en-US" sz="3400" i="1" dirty="0"/>
              <a:t>The idea of diffusion is to hide the relationship between the </a:t>
            </a:r>
            <a:r>
              <a:rPr lang="en-US" altLang="en-US" sz="3400" i="1" dirty="0" err="1"/>
              <a:t>ciphertext</a:t>
            </a:r>
            <a:r>
              <a:rPr lang="en-US" altLang="en-US" sz="3400" i="1" dirty="0"/>
              <a:t> and the plaintext.</a:t>
            </a:r>
          </a:p>
          <a:p>
            <a:pPr marL="551840" indent="-551840" algn="just">
              <a:buFont typeface="Arial" panose="020B0604020202020204" pitchFamily="34" charset="0"/>
              <a:buChar char="•"/>
            </a:pPr>
            <a:r>
              <a:rPr lang="en-US" altLang="en-US" sz="3400" i="1" dirty="0"/>
              <a:t>In diffusion, the statistical structure of the plaintext is dissipated into long range statistics of the </a:t>
            </a:r>
            <a:r>
              <a:rPr lang="en-US" altLang="en-US" sz="3400" i="1" dirty="0" err="1"/>
              <a:t>ciphertext</a:t>
            </a:r>
            <a:r>
              <a:rPr lang="en-US" altLang="en-US" sz="3400" i="1" dirty="0"/>
              <a:t>.</a:t>
            </a:r>
          </a:p>
          <a:p>
            <a:pPr marL="551840" indent="-551840" algn="just">
              <a:buFont typeface="Arial" panose="020B0604020202020204" pitchFamily="34" charset="0"/>
              <a:buChar char="•"/>
            </a:pPr>
            <a:r>
              <a:rPr lang="en-US" altLang="en-US" sz="3400" i="1" dirty="0"/>
              <a:t>Each plaintext digit affects the value of many </a:t>
            </a:r>
            <a:r>
              <a:rPr lang="en-US" altLang="en-US" sz="3400" i="1" dirty="0" err="1"/>
              <a:t>ciphertext</a:t>
            </a:r>
            <a:r>
              <a:rPr lang="en-US" altLang="en-US" sz="3400" i="1" dirty="0"/>
              <a:t> digits</a:t>
            </a:r>
          </a:p>
          <a:p>
            <a:pPr algn="just"/>
            <a:r>
              <a:rPr lang="en-US" altLang="en-US" sz="3400" i="1" dirty="0"/>
              <a:t> </a:t>
            </a:r>
          </a:p>
        </p:txBody>
      </p:sp>
      <p:sp>
        <p:nvSpPr>
          <p:cNvPr id="1032203" name="Rectangle 11"/>
          <p:cNvSpPr>
            <a:spLocks noChangeArrowheads="1"/>
          </p:cNvSpPr>
          <p:nvPr/>
        </p:nvSpPr>
        <p:spPr bwMode="auto">
          <a:xfrm>
            <a:off x="609442" y="5530850"/>
            <a:ext cx="10766795" cy="1157886"/>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0368" tIns="55184" rIns="110368" bIns="55184">
            <a:spAutoFit/>
          </a:bodyPr>
          <a:lstStyle/>
          <a:p>
            <a:pPr algn="ctr"/>
            <a:r>
              <a:rPr lang="en-US" altLang="en-US" sz="3400" dirty="0"/>
              <a:t>Diffusion hides the relationship between the </a:t>
            </a:r>
            <a:r>
              <a:rPr lang="en-US" altLang="en-US" sz="3400" dirty="0" err="1"/>
              <a:t>ciphertext</a:t>
            </a:r>
            <a:r>
              <a:rPr lang="en-US" altLang="en-US" sz="3400" dirty="0"/>
              <a:t> and the plaintext.</a:t>
            </a:r>
          </a:p>
        </p:txBody>
      </p:sp>
      <p:grpSp>
        <p:nvGrpSpPr>
          <p:cNvPr id="1032204" name="Group 12"/>
          <p:cNvGrpSpPr>
            <a:grpSpLocks/>
          </p:cNvGrpSpPr>
          <p:nvPr/>
        </p:nvGrpSpPr>
        <p:grpSpPr bwMode="auto">
          <a:xfrm>
            <a:off x="609442" y="4919665"/>
            <a:ext cx="1523603" cy="615951"/>
            <a:chOff x="1200" y="1248"/>
            <a:chExt cx="720" cy="388"/>
          </a:xfrm>
        </p:grpSpPr>
        <p:pic>
          <p:nvPicPr>
            <p:cNvPr id="103220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2206" name="Text Box 14"/>
            <p:cNvSpPr txBox="1">
              <a:spLocks noChangeArrowheads="1"/>
            </p:cNvSpPr>
            <p:nvPr/>
          </p:nvSpPr>
          <p:spPr bwMode="auto">
            <a:xfrm>
              <a:off x="1284" y="1248"/>
              <a:ext cx="522"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400" i="1" dirty="0">
                  <a:solidFill>
                    <a:schemeClr val="hlink"/>
                  </a:solidFill>
                </a:rPr>
                <a:t>Note</a:t>
              </a:r>
            </a:p>
          </p:txBody>
        </p:sp>
      </p:grpSp>
    </p:spTree>
    <p:extLst>
      <p:ext uri="{BB962C8B-B14F-4D97-AF65-F5344CB8AC3E}">
        <p14:creationId xmlns:p14="http://schemas.microsoft.com/office/powerpoint/2010/main" val="35747949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
          <p:cNvSpPr>
            <a:spLocks noGrp="1"/>
          </p:cNvSpPr>
          <p:nvPr>
            <p:ph type="sldNum" sz="quarter" idx="4294967295"/>
          </p:nvPr>
        </p:nvSpPr>
        <p:spPr>
          <a:xfrm>
            <a:off x="101574" y="6400800"/>
            <a:ext cx="2539339" cy="457200"/>
          </a:xfrm>
          <a:prstGeom prst="rect">
            <a:avLst/>
          </a:prstGeom>
        </p:spPr>
        <p:txBody>
          <a:bodyPr/>
          <a:lstStyle/>
          <a:p>
            <a:r>
              <a:rPr lang="en-US" altLang="en-US"/>
              <a:t>5.</a:t>
            </a:r>
            <a:fld id="{93757E0F-F329-4644-AB6A-8C6038EE1044}" type="slidenum">
              <a:rPr lang="en-US" altLang="en-US"/>
              <a:pPr/>
              <a:t>80</a:t>
            </a:fld>
            <a:endParaRPr lang="en-US" altLang="en-US"/>
          </a:p>
        </p:txBody>
      </p:sp>
      <p:sp>
        <p:nvSpPr>
          <p:cNvPr id="1034242" name="Rectangle 2"/>
          <p:cNvSpPr>
            <a:spLocks noChangeArrowheads="1"/>
          </p:cNvSpPr>
          <p:nvPr/>
        </p:nvSpPr>
        <p:spPr bwMode="ltGray">
          <a:xfrm>
            <a:off x="488823" y="107951"/>
            <a:ext cx="584048"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4243" name="Rectangle 3"/>
          <p:cNvSpPr>
            <a:spLocks noChangeArrowheads="1"/>
          </p:cNvSpPr>
          <p:nvPr/>
        </p:nvSpPr>
        <p:spPr bwMode="ltGray">
          <a:xfrm>
            <a:off x="998808" y="107951"/>
            <a:ext cx="438037"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4244" name="Rectangle 4"/>
          <p:cNvSpPr>
            <a:spLocks noChangeArrowheads="1"/>
          </p:cNvSpPr>
          <p:nvPr/>
        </p:nvSpPr>
        <p:spPr bwMode="ltGray">
          <a:xfrm>
            <a:off x="653882" y="530225"/>
            <a:ext cx="562887"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4245" name="Rectangle 5"/>
          <p:cNvSpPr>
            <a:spLocks noChangeArrowheads="1"/>
          </p:cNvSpPr>
          <p:nvPr/>
        </p:nvSpPr>
        <p:spPr bwMode="ltGray">
          <a:xfrm>
            <a:off x="1146935" y="530225"/>
            <a:ext cx="490939"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4246" name="Rectangle 6"/>
          <p:cNvSpPr>
            <a:spLocks noChangeArrowheads="1"/>
          </p:cNvSpPr>
          <p:nvPr/>
        </p:nvSpPr>
        <p:spPr bwMode="ltGray">
          <a:xfrm>
            <a:off x="101575" y="457201"/>
            <a:ext cx="746989"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4247" name="Rectangle 7"/>
          <p:cNvSpPr>
            <a:spLocks noChangeArrowheads="1"/>
          </p:cNvSpPr>
          <p:nvPr/>
        </p:nvSpPr>
        <p:spPr bwMode="gray">
          <a:xfrm>
            <a:off x="948020" y="0"/>
            <a:ext cx="42322"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4248" name="Rectangle 8"/>
          <p:cNvSpPr>
            <a:spLocks noChangeArrowheads="1"/>
          </p:cNvSpPr>
          <p:nvPr/>
        </p:nvSpPr>
        <p:spPr bwMode="gray">
          <a:xfrm>
            <a:off x="590398" y="533400"/>
            <a:ext cx="10965710"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68" tIns="55184" rIns="110368" bIns="55184" anchor="ctr"/>
          <a:lstStyle/>
          <a:p>
            <a:pPr algn="ctr" eaLnBrk="1" hangingPunct="1"/>
            <a:endParaRPr kumimoji="1" lang="en-US" altLang="en-US" b="0" baseline="0">
              <a:effectLst/>
              <a:latin typeface="Tahoma" pitchFamily="34" charset="0"/>
            </a:endParaRPr>
          </a:p>
        </p:txBody>
      </p:sp>
      <p:sp>
        <p:nvSpPr>
          <p:cNvPr id="1034249" name="Rectangle 9"/>
          <p:cNvSpPr>
            <a:spLocks noChangeArrowheads="1"/>
          </p:cNvSpPr>
          <p:nvPr/>
        </p:nvSpPr>
        <p:spPr bwMode="auto">
          <a:xfrm>
            <a:off x="304721" y="950413"/>
            <a:ext cx="11579384" cy="3773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0368" tIns="55184" rIns="110368" bIns="55184">
            <a:spAutoFit/>
          </a:bodyPr>
          <a:lstStyle/>
          <a:p>
            <a:pPr algn="just"/>
            <a:r>
              <a:rPr lang="en-US" altLang="en-US" sz="3400" i="1" dirty="0">
                <a:solidFill>
                  <a:schemeClr val="folHlink"/>
                </a:solidFill>
              </a:rPr>
              <a:t>Confusion</a:t>
            </a:r>
          </a:p>
          <a:p>
            <a:pPr marL="551840" indent="-551840" algn="just">
              <a:buFont typeface="Arial" panose="020B0604020202020204" pitchFamily="34" charset="0"/>
              <a:buChar char="•"/>
            </a:pPr>
            <a:r>
              <a:rPr lang="en-US" altLang="en-US" sz="3400" i="1" dirty="0"/>
              <a:t>The idea of confusion is to hide the relationship between the </a:t>
            </a:r>
            <a:r>
              <a:rPr lang="en-US" altLang="en-US" sz="3400" i="1" dirty="0" err="1"/>
              <a:t>ciphertext</a:t>
            </a:r>
            <a:r>
              <a:rPr lang="en-US" altLang="en-US" sz="3400" i="1" dirty="0"/>
              <a:t> and the key. </a:t>
            </a:r>
          </a:p>
          <a:p>
            <a:pPr marL="551840" indent="-551840" algn="just">
              <a:buFont typeface="Arial" panose="020B0604020202020204" pitchFamily="34" charset="0"/>
              <a:buChar char="•"/>
            </a:pPr>
            <a:endParaRPr lang="en-US" altLang="en-US" sz="3400" i="1" dirty="0"/>
          </a:p>
          <a:p>
            <a:pPr marL="551840" indent="-551840" algn="just">
              <a:buFont typeface="Arial" panose="020B0604020202020204" pitchFamily="34" charset="0"/>
              <a:buChar char="•"/>
            </a:pPr>
            <a:r>
              <a:rPr lang="en-US" altLang="en-US" sz="3400" i="1" dirty="0"/>
              <a:t>Confusion seeks to make the relationship between the statistics of </a:t>
            </a:r>
            <a:r>
              <a:rPr lang="en-US" altLang="en-US" sz="3400" i="1" dirty="0" err="1"/>
              <a:t>ciphertext</a:t>
            </a:r>
            <a:r>
              <a:rPr lang="en-US" altLang="en-US" sz="3400" i="1" dirty="0"/>
              <a:t> and the value of the encryption key as complex as possible.</a:t>
            </a:r>
          </a:p>
        </p:txBody>
      </p:sp>
      <p:sp>
        <p:nvSpPr>
          <p:cNvPr id="1034251" name="Rectangle 11"/>
          <p:cNvSpPr>
            <a:spLocks noChangeArrowheads="1"/>
          </p:cNvSpPr>
          <p:nvPr/>
        </p:nvSpPr>
        <p:spPr bwMode="auto">
          <a:xfrm>
            <a:off x="609442" y="5242914"/>
            <a:ext cx="10766795" cy="1157886"/>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0368" tIns="55184" rIns="110368" bIns="55184">
            <a:spAutoFit/>
          </a:bodyPr>
          <a:lstStyle/>
          <a:p>
            <a:pPr algn="ctr"/>
            <a:r>
              <a:rPr lang="en-US" altLang="en-US" sz="3400" dirty="0"/>
              <a:t>Confusion hides the relationship between the </a:t>
            </a:r>
            <a:r>
              <a:rPr lang="en-US" altLang="en-US" sz="3400" dirty="0" err="1"/>
              <a:t>ciphertext</a:t>
            </a:r>
            <a:r>
              <a:rPr lang="en-US" altLang="en-US" sz="3400" dirty="0"/>
              <a:t> and the key.</a:t>
            </a:r>
          </a:p>
        </p:txBody>
      </p:sp>
      <p:grpSp>
        <p:nvGrpSpPr>
          <p:cNvPr id="1034252" name="Group 12"/>
          <p:cNvGrpSpPr>
            <a:grpSpLocks/>
          </p:cNvGrpSpPr>
          <p:nvPr/>
        </p:nvGrpSpPr>
        <p:grpSpPr bwMode="auto">
          <a:xfrm>
            <a:off x="151209" y="5251449"/>
            <a:ext cx="1523603" cy="615951"/>
            <a:chOff x="1200" y="1248"/>
            <a:chExt cx="720" cy="388"/>
          </a:xfrm>
        </p:grpSpPr>
        <p:pic>
          <p:nvPicPr>
            <p:cNvPr id="103425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75"/>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4254" name="Text Box 14"/>
            <p:cNvSpPr txBox="1">
              <a:spLocks noChangeArrowheads="1"/>
            </p:cNvSpPr>
            <p:nvPr/>
          </p:nvSpPr>
          <p:spPr bwMode="auto">
            <a:xfrm>
              <a:off x="1284" y="1248"/>
              <a:ext cx="522"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400" i="1" dirty="0">
                  <a:solidFill>
                    <a:schemeClr val="hlink"/>
                  </a:solidFill>
                </a:rPr>
                <a:t>Note</a:t>
              </a:r>
            </a:p>
          </p:txBody>
        </p:sp>
      </p:grpSp>
    </p:spTree>
    <p:extLst>
      <p:ext uri="{BB962C8B-B14F-4D97-AF65-F5344CB8AC3E}">
        <p14:creationId xmlns:p14="http://schemas.microsoft.com/office/powerpoint/2010/main" val="36510460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524"/>
        <p:cNvGrpSpPr/>
        <p:nvPr/>
      </p:nvGrpSpPr>
      <p:grpSpPr>
        <a:xfrm>
          <a:off x="0" y="0"/>
          <a:ext cx="0" cy="0"/>
          <a:chOff x="0" y="0"/>
          <a:chExt cx="0" cy="0"/>
        </a:xfrm>
      </p:grpSpPr>
      <p:sp>
        <p:nvSpPr>
          <p:cNvPr id="1525" name="Shape 1525"/>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526" name="Shape 1526"/>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1527" name="Shape 1527"/>
          <p:cNvSpPr txBox="1"/>
          <p:nvPr/>
        </p:nvSpPr>
        <p:spPr>
          <a:xfrm>
            <a:off x="998808" y="107950"/>
            <a:ext cx="437885" cy="474599"/>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528" name="Shape 1528"/>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1529" name="Shape 1529"/>
          <p:cNvSpPr txBox="1"/>
          <p:nvPr/>
        </p:nvSpPr>
        <p:spPr>
          <a:xfrm>
            <a:off x="1146935" y="530226"/>
            <a:ext cx="491072" cy="474599"/>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530" name="Shape 1530"/>
          <p:cNvSpPr txBox="1"/>
          <p:nvPr/>
        </p:nvSpPr>
        <p:spPr>
          <a:xfrm>
            <a:off x="101575" y="457201"/>
            <a:ext cx="747005" cy="422399"/>
          </a:xfrm>
          <a:prstGeom prst="rect">
            <a:avLst/>
          </a:prstGeom>
          <a:gradFill>
            <a:gsLst>
              <a:gs pos="0">
                <a:schemeClr val="lt1"/>
              </a:gs>
              <a:gs pos="100000">
                <a:schemeClr val="hlink"/>
              </a:gs>
            </a:gsLst>
            <a:lin ang="18900043" scaled="0"/>
          </a:gradFill>
          <a:ln>
            <a:noFill/>
          </a:ln>
        </p:spPr>
        <p:txBody>
          <a:bodyPr lIns="110350" tIns="55160" rIns="110350" bIns="55160" anchor="ctr" anchorCtr="0">
            <a:noAutofit/>
          </a:bodyPr>
          <a:lstStyle/>
          <a:p>
            <a:endParaRPr/>
          </a:p>
        </p:txBody>
      </p:sp>
      <p:sp>
        <p:nvSpPr>
          <p:cNvPr id="1531" name="Shape 1531"/>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1532" name="Shape 1532"/>
          <p:cNvSpPr txBox="1"/>
          <p:nvPr/>
        </p:nvSpPr>
        <p:spPr>
          <a:xfrm>
            <a:off x="590395" y="533401"/>
            <a:ext cx="10965544" cy="31799"/>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533" name="Shape 1533"/>
          <p:cNvSpPr txBox="1"/>
          <p:nvPr/>
        </p:nvSpPr>
        <p:spPr>
          <a:xfrm>
            <a:off x="1523605" y="-30001"/>
            <a:ext cx="5049083" cy="579300"/>
          </a:xfrm>
          <a:prstGeom prst="rect">
            <a:avLst/>
          </a:prstGeom>
          <a:noFill/>
          <a:ln>
            <a:noFill/>
          </a:ln>
        </p:spPr>
        <p:txBody>
          <a:bodyPr lIns="110350" tIns="55160" rIns="110350" bIns="55160" anchor="t" anchorCtr="0">
            <a:noAutofit/>
          </a:bodyPr>
          <a:lstStyle/>
          <a:p>
            <a:pPr>
              <a:buClr>
                <a:schemeClr val="dk1"/>
              </a:buClr>
              <a:buSzPct val="25000"/>
            </a:pPr>
            <a:r>
              <a:rPr lang="en-US" sz="3900" dirty="0">
                <a:solidFill>
                  <a:schemeClr val="hlink"/>
                </a:solidFill>
                <a:latin typeface="Tahoma"/>
                <a:ea typeface="Tahoma"/>
                <a:cs typeface="Tahoma"/>
                <a:sym typeface="Tahoma"/>
              </a:rPr>
              <a:t>Cryptanalysis</a:t>
            </a:r>
          </a:p>
        </p:txBody>
      </p:sp>
      <p:sp>
        <p:nvSpPr>
          <p:cNvPr id="1534" name="Shape 1534"/>
          <p:cNvSpPr txBox="1"/>
          <p:nvPr/>
        </p:nvSpPr>
        <p:spPr>
          <a:xfrm>
            <a:off x="203148" y="1066800"/>
            <a:ext cx="11782530" cy="1373100"/>
          </a:xfrm>
          <a:prstGeom prst="rect">
            <a:avLst/>
          </a:prstGeom>
          <a:noFill/>
          <a:ln>
            <a:noFill/>
          </a:ln>
        </p:spPr>
        <p:txBody>
          <a:bodyPr lIns="110350" tIns="55160" rIns="110350" bIns="55160" anchor="ctr" anchorCtr="0">
            <a:noAutofit/>
          </a:bodyPr>
          <a:lstStyle/>
          <a:p>
            <a:pPr algn="just">
              <a:buClr>
                <a:schemeClr val="dk1"/>
              </a:buClr>
              <a:buSzPct val="25000"/>
            </a:pPr>
            <a:r>
              <a:rPr lang="en-US" sz="2200" b="1">
                <a:solidFill>
                  <a:schemeClr val="dk1"/>
                </a:solidFill>
                <a:latin typeface="Tahoma"/>
                <a:ea typeface="Tahoma"/>
                <a:cs typeface="Tahoma"/>
                <a:sym typeface="Tahoma"/>
              </a:rPr>
              <a:t>As cryptography is the science and art of creating secret codes, </a:t>
            </a:r>
            <a:r>
              <a:rPr lang="en-US" sz="2200" b="1">
                <a:solidFill>
                  <a:schemeClr val="hlink"/>
                </a:solidFill>
                <a:latin typeface="Tahoma"/>
                <a:ea typeface="Tahoma"/>
                <a:cs typeface="Tahoma"/>
                <a:sym typeface="Tahoma"/>
              </a:rPr>
              <a:t>cryptanalysis</a:t>
            </a:r>
            <a:r>
              <a:rPr lang="en-US" sz="2200" b="1">
                <a:solidFill>
                  <a:schemeClr val="dk1"/>
                </a:solidFill>
                <a:latin typeface="Tahoma"/>
                <a:ea typeface="Tahoma"/>
                <a:cs typeface="Tahoma"/>
                <a:sym typeface="Tahoma"/>
              </a:rPr>
              <a:t> is the science and art of breaking those codes. </a:t>
            </a:r>
          </a:p>
        </p:txBody>
      </p:sp>
      <p:sp>
        <p:nvSpPr>
          <p:cNvPr id="1535" name="Shape 1535"/>
          <p:cNvSpPr txBox="1"/>
          <p:nvPr/>
        </p:nvSpPr>
        <p:spPr>
          <a:xfrm>
            <a:off x="3175074" y="3017925"/>
            <a:ext cx="7383277"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Cryptanalysis attacks</a:t>
            </a:r>
          </a:p>
        </p:txBody>
      </p:sp>
      <p:pic>
        <p:nvPicPr>
          <p:cNvPr id="1536" name="Shape 1536"/>
          <p:cNvPicPr preferRelativeResize="0"/>
          <p:nvPr/>
        </p:nvPicPr>
        <p:blipFill>
          <a:blip r:embed="rId3">
            <a:alphaModFix/>
          </a:blip>
          <a:stretch>
            <a:fillRect/>
          </a:stretch>
        </p:blipFill>
        <p:spPr>
          <a:xfrm>
            <a:off x="609442" y="3821113"/>
            <a:ext cx="10650408" cy="2046287"/>
          </a:xfrm>
          <a:prstGeom prst="rect">
            <a:avLst/>
          </a:prstGeom>
          <a:noFill/>
          <a:ln>
            <a:noFill/>
          </a:ln>
        </p:spPr>
      </p:pic>
      <p:sp>
        <p:nvSpPr>
          <p:cNvPr id="1537" name="Shape 1537"/>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Tree>
  </p:cSld>
  <p:clrMapOvr>
    <a:masterClrMapping/>
  </p:clrMapOvr>
  <p:transition spd="slow">
    <p:cu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543"/>
        <p:cNvGrpSpPr/>
        <p:nvPr/>
      </p:nvGrpSpPr>
      <p:grpSpPr>
        <a:xfrm>
          <a:off x="0" y="0"/>
          <a:ext cx="0" cy="0"/>
          <a:chOff x="0" y="0"/>
          <a:chExt cx="0" cy="0"/>
        </a:xfrm>
      </p:grpSpPr>
      <p:sp>
        <p:nvSpPr>
          <p:cNvPr id="1544" name="Shape 1544"/>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545" name="Shape 1545"/>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1546" name="Shape 1546"/>
          <p:cNvSpPr txBox="1"/>
          <p:nvPr/>
        </p:nvSpPr>
        <p:spPr>
          <a:xfrm>
            <a:off x="998808" y="107950"/>
            <a:ext cx="437885" cy="474599"/>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547" name="Shape 1547"/>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1548" name="Shape 1548"/>
          <p:cNvSpPr txBox="1"/>
          <p:nvPr/>
        </p:nvSpPr>
        <p:spPr>
          <a:xfrm>
            <a:off x="1146935" y="530226"/>
            <a:ext cx="491072" cy="474599"/>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549" name="Shape 1549"/>
          <p:cNvSpPr txBox="1"/>
          <p:nvPr/>
        </p:nvSpPr>
        <p:spPr>
          <a:xfrm>
            <a:off x="101575" y="457201"/>
            <a:ext cx="747005" cy="422399"/>
          </a:xfrm>
          <a:prstGeom prst="rect">
            <a:avLst/>
          </a:prstGeom>
          <a:gradFill>
            <a:gsLst>
              <a:gs pos="0">
                <a:schemeClr val="lt1"/>
              </a:gs>
              <a:gs pos="100000">
                <a:schemeClr val="hlink"/>
              </a:gs>
            </a:gsLst>
            <a:lin ang="18900043" scaled="0"/>
          </a:gradFill>
          <a:ln>
            <a:noFill/>
          </a:ln>
        </p:spPr>
        <p:txBody>
          <a:bodyPr lIns="110350" tIns="55160" rIns="110350" bIns="55160" anchor="ctr" anchorCtr="0">
            <a:noAutofit/>
          </a:bodyPr>
          <a:lstStyle/>
          <a:p>
            <a:endParaRPr/>
          </a:p>
        </p:txBody>
      </p:sp>
      <p:sp>
        <p:nvSpPr>
          <p:cNvPr id="1550" name="Shape 1550"/>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1551" name="Shape 1551"/>
          <p:cNvSpPr txBox="1"/>
          <p:nvPr/>
        </p:nvSpPr>
        <p:spPr>
          <a:xfrm>
            <a:off x="590395" y="533401"/>
            <a:ext cx="10965544" cy="31799"/>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pic>
        <p:nvPicPr>
          <p:cNvPr id="1553" name="Shape 1553"/>
          <p:cNvPicPr preferRelativeResize="0"/>
          <p:nvPr/>
        </p:nvPicPr>
        <p:blipFill>
          <a:blip r:embed="rId3">
            <a:alphaModFix/>
          </a:blip>
          <a:stretch>
            <a:fillRect/>
          </a:stretch>
        </p:blipFill>
        <p:spPr>
          <a:xfrm>
            <a:off x="1218883" y="2819401"/>
            <a:ext cx="9334185" cy="2031999"/>
          </a:xfrm>
          <a:prstGeom prst="rect">
            <a:avLst/>
          </a:prstGeom>
          <a:noFill/>
          <a:ln>
            <a:noFill/>
          </a:ln>
        </p:spPr>
      </p:pic>
      <p:sp>
        <p:nvSpPr>
          <p:cNvPr id="1554" name="Shape 1554"/>
          <p:cNvSpPr txBox="1"/>
          <p:nvPr/>
        </p:nvSpPr>
        <p:spPr>
          <a:xfrm>
            <a:off x="2913890" y="2057400"/>
            <a:ext cx="5313415"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err="1">
                <a:solidFill>
                  <a:schemeClr val="dk1"/>
                </a:solidFill>
                <a:latin typeface="Tahoma"/>
                <a:ea typeface="Tahoma"/>
                <a:cs typeface="Tahoma"/>
                <a:sym typeface="Tahoma"/>
              </a:rPr>
              <a:t>Ciphertext</a:t>
            </a:r>
            <a:r>
              <a:rPr lang="en-US" sz="2400" dirty="0">
                <a:solidFill>
                  <a:schemeClr val="dk1"/>
                </a:solidFill>
                <a:latin typeface="Tahoma"/>
                <a:ea typeface="Tahoma"/>
                <a:cs typeface="Tahoma"/>
                <a:sym typeface="Tahoma"/>
              </a:rPr>
              <a:t>-only attack</a:t>
            </a:r>
          </a:p>
        </p:txBody>
      </p:sp>
      <p:sp>
        <p:nvSpPr>
          <p:cNvPr id="1555" name="Shape 1555"/>
          <p:cNvSpPr txBox="1"/>
          <p:nvPr/>
        </p:nvSpPr>
        <p:spPr>
          <a:xfrm>
            <a:off x="1422030" y="868362"/>
            <a:ext cx="5180251"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folHlink"/>
                </a:solidFill>
                <a:latin typeface="Tahoma"/>
                <a:ea typeface="Tahoma"/>
                <a:cs typeface="Tahoma"/>
                <a:sym typeface="Tahoma"/>
              </a:rPr>
              <a:t>Ciphertext-Only Attack</a:t>
            </a:r>
          </a:p>
        </p:txBody>
      </p:sp>
      <p:sp>
        <p:nvSpPr>
          <p:cNvPr id="1556" name="Shape 1556"/>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
        <p:nvSpPr>
          <p:cNvPr id="2" name="TextBox 1"/>
          <p:cNvSpPr txBox="1"/>
          <p:nvPr/>
        </p:nvSpPr>
        <p:spPr>
          <a:xfrm>
            <a:off x="990409" y="5257800"/>
            <a:ext cx="9166947" cy="1003998"/>
          </a:xfrm>
          <a:prstGeom prst="rect">
            <a:avLst/>
          </a:prstGeom>
          <a:noFill/>
        </p:spPr>
        <p:txBody>
          <a:bodyPr wrap="square" lIns="110368" tIns="55184" rIns="110368" bIns="55184" rtlCol="0">
            <a:spAutoFit/>
          </a:bodyPr>
          <a:lstStyle/>
          <a:p>
            <a:r>
              <a:rPr lang="en-US" sz="2900" dirty="0"/>
              <a:t>Eve knows encryption algorithm and can intercept Ciphertext</a:t>
            </a:r>
          </a:p>
        </p:txBody>
      </p:sp>
    </p:spTree>
  </p:cSld>
  <p:clrMapOvr>
    <a:masterClrMapping/>
  </p:clrMapOvr>
  <p:transition spd="slow">
    <p:cu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562"/>
        <p:cNvGrpSpPr/>
        <p:nvPr/>
      </p:nvGrpSpPr>
      <p:grpSpPr>
        <a:xfrm>
          <a:off x="0" y="0"/>
          <a:ext cx="0" cy="0"/>
          <a:chOff x="0" y="0"/>
          <a:chExt cx="0" cy="0"/>
        </a:xfrm>
      </p:grpSpPr>
      <p:sp>
        <p:nvSpPr>
          <p:cNvPr id="1563" name="Shape 1563"/>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564" name="Shape 1564"/>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1565" name="Shape 1565"/>
          <p:cNvSpPr txBox="1"/>
          <p:nvPr/>
        </p:nvSpPr>
        <p:spPr>
          <a:xfrm>
            <a:off x="998808" y="107950"/>
            <a:ext cx="437885" cy="474599"/>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566" name="Shape 1566"/>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1567" name="Shape 1567"/>
          <p:cNvSpPr txBox="1"/>
          <p:nvPr/>
        </p:nvSpPr>
        <p:spPr>
          <a:xfrm>
            <a:off x="1146935" y="530226"/>
            <a:ext cx="491072" cy="474599"/>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568" name="Shape 1568"/>
          <p:cNvSpPr txBox="1"/>
          <p:nvPr/>
        </p:nvSpPr>
        <p:spPr>
          <a:xfrm>
            <a:off x="101575" y="457201"/>
            <a:ext cx="747005" cy="422399"/>
          </a:xfrm>
          <a:prstGeom prst="rect">
            <a:avLst/>
          </a:prstGeom>
          <a:gradFill>
            <a:gsLst>
              <a:gs pos="0">
                <a:schemeClr val="lt1"/>
              </a:gs>
              <a:gs pos="100000">
                <a:schemeClr val="hlink"/>
              </a:gs>
            </a:gsLst>
            <a:lin ang="18900043" scaled="0"/>
          </a:gradFill>
          <a:ln>
            <a:noFill/>
          </a:ln>
        </p:spPr>
        <p:txBody>
          <a:bodyPr lIns="110350" tIns="55160" rIns="110350" bIns="55160" anchor="ctr" anchorCtr="0">
            <a:noAutofit/>
          </a:bodyPr>
          <a:lstStyle/>
          <a:p>
            <a:endParaRPr/>
          </a:p>
        </p:txBody>
      </p:sp>
      <p:sp>
        <p:nvSpPr>
          <p:cNvPr id="1569" name="Shape 1569"/>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1570" name="Shape 1570"/>
          <p:cNvSpPr txBox="1"/>
          <p:nvPr/>
        </p:nvSpPr>
        <p:spPr>
          <a:xfrm>
            <a:off x="590395" y="533401"/>
            <a:ext cx="10965544" cy="31799"/>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572" name="Shape 1572"/>
          <p:cNvSpPr txBox="1"/>
          <p:nvPr/>
        </p:nvSpPr>
        <p:spPr>
          <a:xfrm>
            <a:off x="2913891" y="2133600"/>
            <a:ext cx="5465775"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Known-plaintext attack</a:t>
            </a:r>
          </a:p>
        </p:txBody>
      </p:sp>
      <p:pic>
        <p:nvPicPr>
          <p:cNvPr id="1573" name="Shape 1573"/>
          <p:cNvPicPr preferRelativeResize="0"/>
          <p:nvPr/>
        </p:nvPicPr>
        <p:blipFill>
          <a:blip r:embed="rId3">
            <a:alphaModFix/>
          </a:blip>
          <a:stretch>
            <a:fillRect/>
          </a:stretch>
        </p:blipFill>
        <p:spPr>
          <a:xfrm>
            <a:off x="1210419" y="3048000"/>
            <a:ext cx="9454801" cy="2185986"/>
          </a:xfrm>
          <a:prstGeom prst="rect">
            <a:avLst/>
          </a:prstGeom>
          <a:noFill/>
          <a:ln>
            <a:noFill/>
          </a:ln>
        </p:spPr>
      </p:pic>
      <p:sp>
        <p:nvSpPr>
          <p:cNvPr id="1574" name="Shape 1574"/>
          <p:cNvSpPr txBox="1"/>
          <p:nvPr/>
        </p:nvSpPr>
        <p:spPr>
          <a:xfrm>
            <a:off x="1724085" y="1051712"/>
            <a:ext cx="5484971"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folHlink"/>
                </a:solidFill>
                <a:latin typeface="Tahoma"/>
                <a:ea typeface="Tahoma"/>
                <a:cs typeface="Tahoma"/>
                <a:sym typeface="Tahoma"/>
              </a:rPr>
              <a:t>Known-Plaintext Attack</a:t>
            </a:r>
          </a:p>
        </p:txBody>
      </p:sp>
      <p:sp>
        <p:nvSpPr>
          <p:cNvPr id="1575" name="Shape 1575"/>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
        <p:nvSpPr>
          <p:cNvPr id="2" name="TextBox 1"/>
          <p:cNvSpPr txBox="1"/>
          <p:nvPr/>
        </p:nvSpPr>
        <p:spPr>
          <a:xfrm>
            <a:off x="1073070" y="5715000"/>
            <a:ext cx="10201595" cy="850110"/>
          </a:xfrm>
          <a:prstGeom prst="rect">
            <a:avLst/>
          </a:prstGeom>
          <a:noFill/>
        </p:spPr>
        <p:txBody>
          <a:bodyPr wrap="square" lIns="110368" tIns="55184" rIns="110368" bIns="55184" rtlCol="0">
            <a:spAutoFit/>
          </a:bodyPr>
          <a:lstStyle/>
          <a:p>
            <a:r>
              <a:rPr lang="en-US" sz="2400" dirty="0"/>
              <a:t>Eve has access to some plaintext –</a:t>
            </a:r>
            <a:r>
              <a:rPr lang="en-US" sz="2400" dirty="0" err="1"/>
              <a:t>ciphertext</a:t>
            </a:r>
            <a:r>
              <a:rPr lang="en-US" sz="2400" dirty="0"/>
              <a:t> pairs in addition to some intercepted </a:t>
            </a:r>
            <a:r>
              <a:rPr lang="en-US" sz="2400" dirty="0" err="1"/>
              <a:t>ciphertext</a:t>
            </a:r>
            <a:r>
              <a:rPr lang="en-US" sz="2400" dirty="0"/>
              <a:t> that she wants to break</a:t>
            </a:r>
          </a:p>
        </p:txBody>
      </p:sp>
    </p:spTree>
  </p:cSld>
  <p:clrMapOvr>
    <a:masterClrMapping/>
  </p:clrMapOvr>
  <p:transition spd="slow">
    <p:cu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Shape 1582"/>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583" name="Shape 1583"/>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1584" name="Shape 1584"/>
          <p:cNvSpPr txBox="1"/>
          <p:nvPr/>
        </p:nvSpPr>
        <p:spPr>
          <a:xfrm>
            <a:off x="998808" y="107950"/>
            <a:ext cx="437885" cy="474599"/>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585" name="Shape 1585"/>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1586" name="Shape 1586"/>
          <p:cNvSpPr txBox="1"/>
          <p:nvPr/>
        </p:nvSpPr>
        <p:spPr>
          <a:xfrm>
            <a:off x="1146935" y="530226"/>
            <a:ext cx="491072" cy="474599"/>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587" name="Shape 1587"/>
          <p:cNvSpPr txBox="1"/>
          <p:nvPr/>
        </p:nvSpPr>
        <p:spPr>
          <a:xfrm>
            <a:off x="101575" y="457201"/>
            <a:ext cx="747005" cy="422399"/>
          </a:xfrm>
          <a:prstGeom prst="rect">
            <a:avLst/>
          </a:prstGeom>
          <a:gradFill>
            <a:gsLst>
              <a:gs pos="0">
                <a:schemeClr val="lt1"/>
              </a:gs>
              <a:gs pos="100000">
                <a:schemeClr val="hlink"/>
              </a:gs>
            </a:gsLst>
            <a:lin ang="18900043" scaled="0"/>
          </a:gradFill>
          <a:ln>
            <a:noFill/>
          </a:ln>
        </p:spPr>
        <p:txBody>
          <a:bodyPr lIns="110350" tIns="55160" rIns="110350" bIns="55160" anchor="ctr" anchorCtr="0">
            <a:noAutofit/>
          </a:bodyPr>
          <a:lstStyle/>
          <a:p>
            <a:endParaRPr/>
          </a:p>
        </p:txBody>
      </p:sp>
      <p:sp>
        <p:nvSpPr>
          <p:cNvPr id="1588" name="Shape 1588"/>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1589" name="Shape 1589"/>
          <p:cNvSpPr txBox="1"/>
          <p:nvPr/>
        </p:nvSpPr>
        <p:spPr>
          <a:xfrm>
            <a:off x="590395" y="533401"/>
            <a:ext cx="10965544" cy="31799"/>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591" name="Shape 1591"/>
          <p:cNvSpPr txBox="1"/>
          <p:nvPr/>
        </p:nvSpPr>
        <p:spPr>
          <a:xfrm>
            <a:off x="2913890" y="1828800"/>
            <a:ext cx="5520961"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Chosen-plaintext attack</a:t>
            </a:r>
          </a:p>
        </p:txBody>
      </p:sp>
      <p:pic>
        <p:nvPicPr>
          <p:cNvPr id="1592" name="Shape 1592"/>
          <p:cNvPicPr preferRelativeResize="0"/>
          <p:nvPr/>
        </p:nvPicPr>
        <p:blipFill>
          <a:blip r:embed="rId3">
            <a:alphaModFix/>
          </a:blip>
          <a:stretch>
            <a:fillRect/>
          </a:stretch>
        </p:blipFill>
        <p:spPr>
          <a:xfrm>
            <a:off x="933207" y="2782887"/>
            <a:ext cx="10443028" cy="2703512"/>
          </a:xfrm>
          <a:prstGeom prst="rect">
            <a:avLst/>
          </a:prstGeom>
          <a:noFill/>
          <a:ln>
            <a:noFill/>
          </a:ln>
        </p:spPr>
      </p:pic>
      <p:sp>
        <p:nvSpPr>
          <p:cNvPr id="1593" name="Shape 1593"/>
          <p:cNvSpPr txBox="1"/>
          <p:nvPr/>
        </p:nvSpPr>
        <p:spPr>
          <a:xfrm>
            <a:off x="1523604" y="1035050"/>
            <a:ext cx="5484971" cy="457200"/>
          </a:xfrm>
          <a:prstGeom prst="rect">
            <a:avLst/>
          </a:prstGeom>
          <a:noFill/>
          <a:ln>
            <a:noFill/>
          </a:ln>
        </p:spPr>
        <p:txBody>
          <a:bodyPr lIns="110350" tIns="55160" rIns="110350" bIns="55160" anchor="ctr" anchorCtr="0">
            <a:noAutofit/>
          </a:bodyPr>
          <a:lstStyle/>
          <a:p>
            <a:pPr algn="just">
              <a:buClr>
                <a:schemeClr val="dk1"/>
              </a:buClr>
              <a:buSzPct val="25000"/>
            </a:pPr>
            <a:r>
              <a:rPr lang="en-US" sz="2900" b="1">
                <a:solidFill>
                  <a:schemeClr val="folHlink"/>
                </a:solidFill>
                <a:latin typeface="Tahoma"/>
                <a:ea typeface="Tahoma"/>
                <a:cs typeface="Tahoma"/>
                <a:sym typeface="Tahoma"/>
              </a:rPr>
              <a:t>Chosen-Plaintext Attack</a:t>
            </a:r>
          </a:p>
        </p:txBody>
      </p:sp>
      <p:sp>
        <p:nvSpPr>
          <p:cNvPr id="1594" name="Shape 1594"/>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
        <p:nvSpPr>
          <p:cNvPr id="14" name="TextBox 13"/>
          <p:cNvSpPr txBox="1"/>
          <p:nvPr/>
        </p:nvSpPr>
        <p:spPr>
          <a:xfrm>
            <a:off x="1073070" y="5715000"/>
            <a:ext cx="10201595" cy="850110"/>
          </a:xfrm>
          <a:prstGeom prst="rect">
            <a:avLst/>
          </a:prstGeom>
          <a:noFill/>
        </p:spPr>
        <p:txBody>
          <a:bodyPr wrap="square" lIns="110368" tIns="55184" rIns="110368" bIns="55184" rtlCol="0">
            <a:spAutoFit/>
          </a:bodyPr>
          <a:lstStyle/>
          <a:p>
            <a:r>
              <a:rPr lang="en-US" sz="2400" dirty="0"/>
              <a:t>Eve chooses plaintext-</a:t>
            </a:r>
            <a:r>
              <a:rPr lang="en-US" sz="2400" dirty="0" err="1"/>
              <a:t>ciphertext</a:t>
            </a:r>
            <a:r>
              <a:rPr lang="en-US" sz="2400" dirty="0"/>
              <a:t> pairs; This happens when she has access to Alice’s Computer.</a:t>
            </a:r>
          </a:p>
        </p:txBody>
      </p:sp>
    </p:spTree>
  </p:cSld>
  <p:clrMapOvr>
    <a:masterClrMapping/>
  </p:clrMapOvr>
  <p:transition spd="slow">
    <p:cu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600"/>
        <p:cNvGrpSpPr/>
        <p:nvPr/>
      </p:nvGrpSpPr>
      <p:grpSpPr>
        <a:xfrm>
          <a:off x="0" y="0"/>
          <a:ext cx="0" cy="0"/>
          <a:chOff x="0" y="0"/>
          <a:chExt cx="0" cy="0"/>
        </a:xfrm>
      </p:grpSpPr>
      <p:sp>
        <p:nvSpPr>
          <p:cNvPr id="1601" name="Shape 1601"/>
          <p:cNvSpPr txBox="1"/>
          <p:nvPr/>
        </p:nvSpPr>
        <p:spPr>
          <a:xfrm>
            <a:off x="2" y="6400800"/>
            <a:ext cx="2539337" cy="457200"/>
          </a:xfrm>
          <a:prstGeom prst="rect">
            <a:avLst/>
          </a:prstGeom>
          <a:noFill/>
          <a:ln>
            <a:noFill/>
          </a:ln>
        </p:spPr>
        <p:txBody>
          <a:bodyPr lIns="110350" tIns="55160" rIns="110350" bIns="55160" anchor="b" anchorCtr="0">
            <a:noAutofit/>
          </a:bodyPr>
          <a:lstStyle/>
          <a:p>
            <a:pPr>
              <a:buClr>
                <a:schemeClr val="dk1"/>
              </a:buClr>
              <a:buSzPct val="25000"/>
            </a:pPr>
            <a:r>
              <a:rPr lang="en-US" sz="1400" b="1">
                <a:solidFill>
                  <a:schemeClr val="dk1"/>
                </a:solidFill>
              </a:rPr>
              <a:t>3.*</a:t>
            </a:r>
          </a:p>
        </p:txBody>
      </p:sp>
      <p:sp>
        <p:nvSpPr>
          <p:cNvPr id="1602" name="Shape 1602"/>
          <p:cNvSpPr txBox="1"/>
          <p:nvPr/>
        </p:nvSpPr>
        <p:spPr>
          <a:xfrm>
            <a:off x="488823" y="107950"/>
            <a:ext cx="584246" cy="474599"/>
          </a:xfrm>
          <a:prstGeom prst="rect">
            <a:avLst/>
          </a:prstGeom>
          <a:solidFill>
            <a:schemeClr val="accent2"/>
          </a:solidFill>
          <a:ln>
            <a:noFill/>
          </a:ln>
        </p:spPr>
        <p:txBody>
          <a:bodyPr lIns="110350" tIns="55160" rIns="110350" bIns="55160" anchor="ctr" anchorCtr="0">
            <a:noAutofit/>
          </a:bodyPr>
          <a:lstStyle/>
          <a:p>
            <a:endParaRPr/>
          </a:p>
        </p:txBody>
      </p:sp>
      <p:sp>
        <p:nvSpPr>
          <p:cNvPr id="1603" name="Shape 1603"/>
          <p:cNvSpPr txBox="1"/>
          <p:nvPr/>
        </p:nvSpPr>
        <p:spPr>
          <a:xfrm>
            <a:off x="998808" y="107950"/>
            <a:ext cx="437885" cy="474599"/>
          </a:xfrm>
          <a:prstGeom prst="rect">
            <a:avLst/>
          </a:prstGeom>
          <a:gradFill>
            <a:gsLst>
              <a:gs pos="0">
                <a:schemeClr val="accent2"/>
              </a:gs>
              <a:gs pos="100000">
                <a:schemeClr val="lt1"/>
              </a:gs>
            </a:gsLst>
            <a:lin ang="0" scaled="0"/>
          </a:gradFill>
          <a:ln>
            <a:noFill/>
          </a:ln>
        </p:spPr>
        <p:txBody>
          <a:bodyPr lIns="110350" tIns="55160" rIns="110350" bIns="55160" anchor="ctr" anchorCtr="0">
            <a:noAutofit/>
          </a:bodyPr>
          <a:lstStyle/>
          <a:p>
            <a:endParaRPr/>
          </a:p>
        </p:txBody>
      </p:sp>
      <p:sp>
        <p:nvSpPr>
          <p:cNvPr id="1604" name="Shape 1604"/>
          <p:cNvSpPr txBox="1"/>
          <p:nvPr/>
        </p:nvSpPr>
        <p:spPr>
          <a:xfrm>
            <a:off x="653880" y="530226"/>
            <a:ext cx="563052" cy="474599"/>
          </a:xfrm>
          <a:prstGeom prst="rect">
            <a:avLst/>
          </a:prstGeom>
          <a:solidFill>
            <a:schemeClr val="folHlink"/>
          </a:solidFill>
          <a:ln>
            <a:noFill/>
          </a:ln>
        </p:spPr>
        <p:txBody>
          <a:bodyPr lIns="110350" tIns="55160" rIns="110350" bIns="55160" anchor="ctr" anchorCtr="0">
            <a:noAutofit/>
          </a:bodyPr>
          <a:lstStyle/>
          <a:p>
            <a:endParaRPr/>
          </a:p>
        </p:txBody>
      </p:sp>
      <p:sp>
        <p:nvSpPr>
          <p:cNvPr id="1605" name="Shape 1605"/>
          <p:cNvSpPr txBox="1"/>
          <p:nvPr/>
        </p:nvSpPr>
        <p:spPr>
          <a:xfrm>
            <a:off x="1146935" y="530226"/>
            <a:ext cx="491072" cy="474599"/>
          </a:xfrm>
          <a:prstGeom prst="rect">
            <a:avLst/>
          </a:prstGeom>
          <a:gradFill>
            <a:gsLst>
              <a:gs pos="0">
                <a:schemeClr val="folHlink"/>
              </a:gs>
              <a:gs pos="100000">
                <a:schemeClr val="lt1"/>
              </a:gs>
            </a:gsLst>
            <a:lin ang="0" scaled="0"/>
          </a:gradFill>
          <a:ln>
            <a:noFill/>
          </a:ln>
        </p:spPr>
        <p:txBody>
          <a:bodyPr lIns="110350" tIns="55160" rIns="110350" bIns="55160" anchor="ctr" anchorCtr="0">
            <a:noAutofit/>
          </a:bodyPr>
          <a:lstStyle/>
          <a:p>
            <a:endParaRPr/>
          </a:p>
        </p:txBody>
      </p:sp>
      <p:sp>
        <p:nvSpPr>
          <p:cNvPr id="1606" name="Shape 1606"/>
          <p:cNvSpPr txBox="1"/>
          <p:nvPr/>
        </p:nvSpPr>
        <p:spPr>
          <a:xfrm>
            <a:off x="101575" y="457201"/>
            <a:ext cx="747005" cy="422399"/>
          </a:xfrm>
          <a:prstGeom prst="rect">
            <a:avLst/>
          </a:prstGeom>
          <a:gradFill>
            <a:gsLst>
              <a:gs pos="0">
                <a:schemeClr val="lt1"/>
              </a:gs>
              <a:gs pos="100000">
                <a:schemeClr val="hlink"/>
              </a:gs>
            </a:gsLst>
            <a:lin ang="18900043" scaled="0"/>
          </a:gradFill>
          <a:ln>
            <a:noFill/>
          </a:ln>
        </p:spPr>
        <p:txBody>
          <a:bodyPr lIns="110350" tIns="55160" rIns="110350" bIns="55160" anchor="ctr" anchorCtr="0">
            <a:noAutofit/>
          </a:bodyPr>
          <a:lstStyle/>
          <a:p>
            <a:endParaRPr/>
          </a:p>
        </p:txBody>
      </p:sp>
      <p:sp>
        <p:nvSpPr>
          <p:cNvPr id="1607" name="Shape 1607"/>
          <p:cNvSpPr txBox="1"/>
          <p:nvPr/>
        </p:nvSpPr>
        <p:spPr>
          <a:xfrm>
            <a:off x="948020" y="0"/>
            <a:ext cx="42388" cy="1052400"/>
          </a:xfrm>
          <a:prstGeom prst="rect">
            <a:avLst/>
          </a:prstGeom>
          <a:solidFill>
            <a:schemeClr val="lt2"/>
          </a:solidFill>
          <a:ln>
            <a:noFill/>
          </a:ln>
        </p:spPr>
        <p:txBody>
          <a:bodyPr lIns="110350" tIns="55160" rIns="110350" bIns="55160" anchor="ctr" anchorCtr="0">
            <a:noAutofit/>
          </a:bodyPr>
          <a:lstStyle/>
          <a:p>
            <a:endParaRPr/>
          </a:p>
        </p:txBody>
      </p:sp>
      <p:sp>
        <p:nvSpPr>
          <p:cNvPr id="1608" name="Shape 1608"/>
          <p:cNvSpPr txBox="1"/>
          <p:nvPr/>
        </p:nvSpPr>
        <p:spPr>
          <a:xfrm>
            <a:off x="590395" y="533401"/>
            <a:ext cx="10965544" cy="31799"/>
          </a:xfrm>
          <a:prstGeom prst="rect">
            <a:avLst/>
          </a:prstGeom>
          <a:gradFill>
            <a:gsLst>
              <a:gs pos="0">
                <a:schemeClr val="lt2"/>
              </a:gs>
              <a:gs pos="100000">
                <a:schemeClr val="lt1"/>
              </a:gs>
            </a:gsLst>
            <a:lin ang="0" scaled="0"/>
          </a:gradFill>
          <a:ln>
            <a:noFill/>
          </a:ln>
        </p:spPr>
        <p:txBody>
          <a:bodyPr lIns="110350" tIns="55160" rIns="110350" bIns="55160" anchor="ctr" anchorCtr="0">
            <a:noAutofit/>
          </a:bodyPr>
          <a:lstStyle/>
          <a:p>
            <a:endParaRPr/>
          </a:p>
        </p:txBody>
      </p:sp>
      <p:sp>
        <p:nvSpPr>
          <p:cNvPr id="1610" name="Shape 1610"/>
          <p:cNvSpPr txBox="1"/>
          <p:nvPr/>
        </p:nvSpPr>
        <p:spPr>
          <a:xfrm>
            <a:off x="2913890" y="1752600"/>
            <a:ext cx="5690116" cy="457200"/>
          </a:xfrm>
          <a:prstGeom prst="rect">
            <a:avLst/>
          </a:prstGeom>
          <a:noFill/>
          <a:ln>
            <a:noFill/>
          </a:ln>
        </p:spPr>
        <p:txBody>
          <a:bodyPr lIns="110350" tIns="55160" rIns="110350" bIns="55160" anchor="t" anchorCtr="0">
            <a:noAutofit/>
          </a:bodyPr>
          <a:lstStyle/>
          <a:p>
            <a:pPr>
              <a:buClr>
                <a:schemeClr val="dk1"/>
              </a:buClr>
              <a:buSzPct val="25000"/>
            </a:pPr>
            <a:r>
              <a:rPr lang="en-US" sz="2900" b="1" dirty="0">
                <a:solidFill>
                  <a:schemeClr val="folHlink"/>
                </a:solidFill>
                <a:latin typeface="Tahoma"/>
                <a:ea typeface="Tahoma"/>
                <a:cs typeface="Tahoma"/>
                <a:sym typeface="Tahoma"/>
              </a:rPr>
              <a:t>Figure </a:t>
            </a:r>
            <a:r>
              <a:rPr lang="en-US" sz="2400" dirty="0">
                <a:solidFill>
                  <a:schemeClr val="dk1"/>
                </a:solidFill>
                <a:latin typeface="Tahoma"/>
                <a:ea typeface="Tahoma"/>
                <a:cs typeface="Tahoma"/>
                <a:sym typeface="Tahoma"/>
              </a:rPr>
              <a:t>Chosen-</a:t>
            </a:r>
            <a:r>
              <a:rPr lang="en-US" sz="2400" dirty="0" err="1">
                <a:solidFill>
                  <a:schemeClr val="dk1"/>
                </a:solidFill>
                <a:latin typeface="Tahoma"/>
                <a:ea typeface="Tahoma"/>
                <a:cs typeface="Tahoma"/>
                <a:sym typeface="Tahoma"/>
              </a:rPr>
              <a:t>ciphertext</a:t>
            </a:r>
            <a:r>
              <a:rPr lang="en-US" sz="2400" dirty="0">
                <a:solidFill>
                  <a:schemeClr val="dk1"/>
                </a:solidFill>
                <a:latin typeface="Tahoma"/>
                <a:ea typeface="Tahoma"/>
                <a:cs typeface="Tahoma"/>
                <a:sym typeface="Tahoma"/>
              </a:rPr>
              <a:t> attack</a:t>
            </a:r>
          </a:p>
        </p:txBody>
      </p:sp>
      <p:pic>
        <p:nvPicPr>
          <p:cNvPr id="1611" name="Shape 1611"/>
          <p:cNvPicPr preferRelativeResize="0"/>
          <p:nvPr/>
        </p:nvPicPr>
        <p:blipFill>
          <a:blip r:embed="rId3">
            <a:alphaModFix/>
          </a:blip>
          <a:stretch>
            <a:fillRect/>
          </a:stretch>
        </p:blipFill>
        <p:spPr>
          <a:xfrm>
            <a:off x="685622" y="2895601"/>
            <a:ext cx="10589039" cy="2705099"/>
          </a:xfrm>
          <a:prstGeom prst="rect">
            <a:avLst/>
          </a:prstGeom>
          <a:noFill/>
          <a:ln>
            <a:noFill/>
          </a:ln>
        </p:spPr>
      </p:pic>
      <p:sp>
        <p:nvSpPr>
          <p:cNvPr id="1612" name="Shape 1612"/>
          <p:cNvSpPr txBox="1"/>
          <p:nvPr/>
        </p:nvSpPr>
        <p:spPr>
          <a:xfrm>
            <a:off x="1523604" y="1039800"/>
            <a:ext cx="9645486" cy="412800"/>
          </a:xfrm>
          <a:prstGeom prst="rect">
            <a:avLst/>
          </a:prstGeom>
          <a:noFill/>
          <a:ln>
            <a:noFill/>
          </a:ln>
        </p:spPr>
        <p:txBody>
          <a:bodyPr lIns="110350" tIns="55160" rIns="110350" bIns="55160" anchor="t" anchorCtr="0">
            <a:noAutofit/>
          </a:bodyPr>
          <a:lstStyle/>
          <a:p>
            <a:pPr>
              <a:buClr>
                <a:schemeClr val="dk1"/>
              </a:buClr>
              <a:buSzPct val="25000"/>
            </a:pPr>
            <a:r>
              <a:rPr lang="en-US" sz="3900" b="1">
                <a:solidFill>
                  <a:schemeClr val="folHlink"/>
                </a:solidFill>
                <a:latin typeface="Tahoma"/>
                <a:ea typeface="Tahoma"/>
                <a:cs typeface="Tahoma"/>
                <a:sym typeface="Tahoma"/>
              </a:rPr>
              <a:t>Chosen-Ciphertext Attack</a:t>
            </a:r>
          </a:p>
        </p:txBody>
      </p:sp>
      <p:sp>
        <p:nvSpPr>
          <p:cNvPr id="1613" name="Shape 1613"/>
          <p:cNvSpPr txBox="1">
            <a:spLocks noGrp="1"/>
          </p:cNvSpPr>
          <p:nvPr>
            <p:ph type="sldNum" idx="12"/>
          </p:nvPr>
        </p:nvSpPr>
        <p:spPr>
          <a:xfrm>
            <a:off x="2" y="6400800"/>
            <a:ext cx="2539337" cy="457200"/>
          </a:xfrm>
          <a:prstGeom prst="rect">
            <a:avLst/>
          </a:prstGeom>
          <a:noFill/>
          <a:ln>
            <a:noFill/>
          </a:ln>
        </p:spPr>
        <p:txBody>
          <a:bodyPr lIns="110350" tIns="55160" rIns="110350" bIns="55160" anchor="b" anchorCtr="0">
            <a:noAutofit/>
          </a:bodyPr>
          <a:lstStyle/>
          <a:p>
            <a:pPr>
              <a:buSzPct val="25000"/>
            </a:pPr>
            <a:r>
              <a:rPr lang="en-US"/>
              <a:t> </a:t>
            </a:r>
          </a:p>
        </p:txBody>
      </p:sp>
      <p:sp>
        <p:nvSpPr>
          <p:cNvPr id="14" name="TextBox 13"/>
          <p:cNvSpPr txBox="1"/>
          <p:nvPr/>
        </p:nvSpPr>
        <p:spPr>
          <a:xfrm>
            <a:off x="685624" y="5715000"/>
            <a:ext cx="11096909" cy="850110"/>
          </a:xfrm>
          <a:prstGeom prst="rect">
            <a:avLst/>
          </a:prstGeom>
          <a:noFill/>
        </p:spPr>
        <p:txBody>
          <a:bodyPr wrap="square" lIns="110368" tIns="55184" rIns="110368" bIns="55184" rtlCol="0">
            <a:spAutoFit/>
          </a:bodyPr>
          <a:lstStyle/>
          <a:p>
            <a:r>
              <a:rPr lang="en-US" sz="2400" dirty="0"/>
              <a:t>Eve chooses some </a:t>
            </a:r>
            <a:r>
              <a:rPr lang="en-US" sz="2400" dirty="0" err="1"/>
              <a:t>ciphertext</a:t>
            </a:r>
            <a:r>
              <a:rPr lang="en-US" sz="2400" dirty="0"/>
              <a:t>  and decrypts it to form a plaintext-</a:t>
            </a:r>
            <a:r>
              <a:rPr lang="en-US" sz="2400" dirty="0" err="1"/>
              <a:t>ciphertext</a:t>
            </a:r>
            <a:r>
              <a:rPr lang="en-US" sz="2400" dirty="0"/>
              <a:t> pair. This happens when she has access to Bob’s Computer.</a:t>
            </a:r>
          </a:p>
        </p:txBody>
      </p:sp>
    </p:spTree>
  </p:cSld>
  <p:clrMapOvr>
    <a:masterClrMapping/>
  </p:clrMapOvr>
  <p:transition spd="slow">
    <p:cu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end</a:t>
            </a:r>
          </a:p>
        </p:txBody>
      </p:sp>
    </p:spTree>
    <p:extLst>
      <p:ext uri="{BB962C8B-B14F-4D97-AF65-F5344CB8AC3E}">
        <p14:creationId xmlns:p14="http://schemas.microsoft.com/office/powerpoint/2010/main" val="30577266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173&quot;&gt;&lt;object type=&quot;3&quot; unique_id=&quot;10174&quot;&gt;&lt;property id=&quot;20148&quot; value=&quot;5&quot;/&gt;&lt;property id=&quot;20300&quot; value=&quot;Slide 1&quot;/&gt;&lt;property id=&quot;20307&quot; value=&quot;256&quot;/&gt;&lt;/object&gt;&lt;object type=&quot;3&quot; unique_id=&quot;10175&quot;&gt;&lt;property id=&quot;20148&quot; value=&quot;5&quot;/&gt;&lt;property id=&quot;20300&quot; value=&quot;Slide 2&quot;/&gt;&lt;property id=&quot;20307&quot; value=&quot;257&quot;/&gt;&lt;/object&gt;&lt;object type=&quot;3&quot; unique_id=&quot;10176&quot;&gt;&lt;property id=&quot;20148&quot; value=&quot;5&quot;/&gt;&lt;property id=&quot;20300&quot; value=&quot;Slide 3&quot;/&gt;&lt;property id=&quot;20307&quot; value=&quot;258&quot;/&gt;&lt;/object&gt;&lt;object type=&quot;3&quot; unique_id=&quot;10177&quot;&gt;&lt;property id=&quot;20148&quot; value=&quot;5&quot;/&gt;&lt;property id=&quot;20300&quot; value=&quot;Slide 4&quot;/&gt;&lt;property id=&quot;20307&quot; value=&quot;259&quot;/&gt;&lt;/object&gt;&lt;object type=&quot;3&quot; unique_id=&quot;10178&quot;&gt;&lt;property id=&quot;20148&quot; value=&quot;5&quot;/&gt;&lt;property id=&quot;20300&quot; value=&quot;Slide 5&quot;/&gt;&lt;property id=&quot;20307&quot; value=&quot;260&quot;/&gt;&lt;/object&gt;&lt;object type=&quot;3&quot; unique_id=&quot;10179&quot;&gt;&lt;property id=&quot;20148&quot; value=&quot;5&quot;/&gt;&lt;property id=&quot;20300&quot; value=&quot;Slide 6&quot;/&gt;&lt;property id=&quot;20307&quot; value=&quot;261&quot;/&gt;&lt;/object&gt;&lt;object type=&quot;3&quot; unique_id=&quot;10180&quot;&gt;&lt;property id=&quot;20148&quot; value=&quot;5&quot;/&gt;&lt;property id=&quot;20300&quot; value=&quot;Slide 7&quot;/&gt;&lt;property id=&quot;20307&quot; value=&quot;262&quot;/&gt;&lt;/object&gt;&lt;object type=&quot;3&quot; unique_id=&quot;10181&quot;&gt;&lt;property id=&quot;20148&quot; value=&quot;5&quot;/&gt;&lt;property id=&quot;20300&quot; value=&quot;Slide 8&quot;/&gt;&lt;property id=&quot;20307&quot; value=&quot;263&quot;/&gt;&lt;/object&gt;&lt;object type=&quot;3&quot; unique_id=&quot;10182&quot;&gt;&lt;property id=&quot;20148&quot; value=&quot;5&quot;/&gt;&lt;property id=&quot;20300&quot; value=&quot;Slide 9&quot;/&gt;&lt;property id=&quot;20307&quot; value=&quot;264&quot;/&gt;&lt;/object&gt;&lt;object type=&quot;3&quot; unique_id=&quot;10183&quot;&gt;&lt;property id=&quot;20148&quot; value=&quot;5&quot;/&gt;&lt;property id=&quot;20300&quot; value=&quot;Slide 10&quot;/&gt;&lt;property id=&quot;20307&quot; value=&quot;265&quot;/&gt;&lt;/object&gt;&lt;object type=&quot;3&quot; unique_id=&quot;10184&quot;&gt;&lt;property id=&quot;20148&quot; value=&quot;5&quot;/&gt;&lt;property id=&quot;20300&quot; value=&quot;Slide 11&quot;/&gt;&lt;property id=&quot;20307&quot; value=&quot;266&quot;/&gt;&lt;/object&gt;&lt;object type=&quot;3&quot; unique_id=&quot;10185&quot;&gt;&lt;property id=&quot;20148&quot; value=&quot;5&quot;/&gt;&lt;property id=&quot;20300&quot; value=&quot;Slide 12&quot;/&gt;&lt;property id=&quot;20307&quot; value=&quot;267&quot;/&gt;&lt;/object&gt;&lt;object type=&quot;3&quot; unique_id=&quot;10186&quot;&gt;&lt;property id=&quot;20148&quot; value=&quot;5&quot;/&gt;&lt;property id=&quot;20300&quot; value=&quot;Slide 13&quot;/&gt;&lt;property id=&quot;20307&quot; value=&quot;268&quot;/&gt;&lt;/object&gt;&lt;object type=&quot;3&quot; unique_id=&quot;10187&quot;&gt;&lt;property id=&quot;20148&quot; value=&quot;5&quot;/&gt;&lt;property id=&quot;20300&quot; value=&quot;Slide 14&quot;/&gt;&lt;property id=&quot;20307&quot; value=&quot;269&quot;/&gt;&lt;/object&gt;&lt;object type=&quot;3&quot; unique_id=&quot;10188&quot;&gt;&lt;property id=&quot;20148&quot; value=&quot;5&quot;/&gt;&lt;property id=&quot;20300&quot; value=&quot;Slide 15&quot;/&gt;&lt;property id=&quot;20307&quot; value=&quot;270&quot;/&gt;&lt;/object&gt;&lt;object type=&quot;3&quot; unique_id=&quot;10189&quot;&gt;&lt;property id=&quot;20148&quot; value=&quot;5&quot;/&gt;&lt;property id=&quot;20300&quot; value=&quot;Slide 16&quot;/&gt;&lt;property id=&quot;20307&quot; value=&quot;271&quot;/&gt;&lt;/object&gt;&lt;object type=&quot;3&quot; unique_id=&quot;10190&quot;&gt;&lt;property id=&quot;20148&quot; value=&quot;5&quot;/&gt;&lt;property id=&quot;20300&quot; value=&quot;Slide 17&quot;/&gt;&lt;property id=&quot;20307&quot; value=&quot;272&quot;/&gt;&lt;/object&gt;&lt;object type=&quot;3&quot; unique_id=&quot;10191&quot;&gt;&lt;property id=&quot;20148&quot; value=&quot;5&quot;/&gt;&lt;property id=&quot;20300&quot; value=&quot;Slide 18&quot;/&gt;&lt;property id=&quot;20307&quot; value=&quot;273&quot;/&gt;&lt;/object&gt;&lt;object type=&quot;3&quot; unique_id=&quot;10192&quot;&gt;&lt;property id=&quot;20148&quot; value=&quot;5&quot;/&gt;&lt;property id=&quot;20300&quot; value=&quot;Slide 19&quot;/&gt;&lt;property id=&quot;20307&quot; value=&quot;274&quot;/&gt;&lt;/object&gt;&lt;object type=&quot;3&quot; unique_id=&quot;10193&quot;&gt;&lt;property id=&quot;20148&quot; value=&quot;5&quot;/&gt;&lt;property id=&quot;20300&quot; value=&quot;Slide 20&quot;/&gt;&lt;property id=&quot;20307&quot; value=&quot;275&quot;/&gt;&lt;/object&gt;&lt;object type=&quot;3&quot; unique_id=&quot;10194&quot;&gt;&lt;property id=&quot;20148&quot; value=&quot;5&quot;/&gt;&lt;property id=&quot;20300&quot; value=&quot;Slide 21&quot;/&gt;&lt;property id=&quot;20307&quot; value=&quot;276&quot;/&gt;&lt;/object&gt;&lt;object type=&quot;3&quot; unique_id=&quot;10195&quot;&gt;&lt;property id=&quot;20148&quot; value=&quot;5&quot;/&gt;&lt;property id=&quot;20300&quot; value=&quot;Slide 22&quot;/&gt;&lt;property id=&quot;20307&quot; value=&quot;277&quot;/&gt;&lt;/object&gt;&lt;object type=&quot;3&quot; unique_id=&quot;10196&quot;&gt;&lt;property id=&quot;20148&quot; value=&quot;5&quot;/&gt;&lt;property id=&quot;20300&quot; value=&quot;Slide 23&quot;/&gt;&lt;property id=&quot;20307&quot; value=&quot;278&quot;/&gt;&lt;/object&gt;&lt;object type=&quot;3&quot; unique_id=&quot;10197&quot;&gt;&lt;property id=&quot;20148&quot; value=&quot;5&quot;/&gt;&lt;property id=&quot;20300&quot; value=&quot;Slide 24&quot;/&gt;&lt;property id=&quot;20307&quot; value=&quot;279&quot;/&gt;&lt;/object&gt;&lt;object type=&quot;3&quot; unique_id=&quot;10198&quot;&gt;&lt;property id=&quot;20148&quot; value=&quot;5&quot;/&gt;&lt;property id=&quot;20300&quot; value=&quot;Slide 25&quot;/&gt;&lt;property id=&quot;20307&quot; value=&quot;280&quot;/&gt;&lt;/object&gt;&lt;object type=&quot;3&quot; unique_id=&quot;10199&quot;&gt;&lt;property id=&quot;20148&quot; value=&quot;5&quot;/&gt;&lt;property id=&quot;20300&quot; value=&quot;Slide 26&quot;/&gt;&lt;property id=&quot;20307&quot; value=&quot;281&quot;/&gt;&lt;/object&gt;&lt;object type=&quot;3&quot; unique_id=&quot;10200&quot;&gt;&lt;property id=&quot;20148&quot; value=&quot;5&quot;/&gt;&lt;property id=&quot;20300&quot; value=&quot;Slide 27&quot;/&gt;&lt;property id=&quot;20307&quot; value=&quot;282&quot;/&gt;&lt;/object&gt;&lt;object type=&quot;3&quot; unique_id=&quot;10201&quot;&gt;&lt;property id=&quot;20148&quot; value=&quot;5&quot;/&gt;&lt;property id=&quot;20300&quot; value=&quot;Slide 28&quot;/&gt;&lt;property id=&quot;20307&quot; value=&quot;283&quot;/&gt;&lt;/object&gt;&lt;object type=&quot;3&quot; unique_id=&quot;10202&quot;&gt;&lt;property id=&quot;20148&quot; value=&quot;5&quot;/&gt;&lt;property id=&quot;20300&quot; value=&quot;Slide 29&quot;/&gt;&lt;property id=&quot;20307&quot; value=&quot;284&quot;/&gt;&lt;/object&gt;&lt;object type=&quot;3&quot; unique_id=&quot;10203&quot;&gt;&lt;property id=&quot;20148&quot; value=&quot;5&quot;/&gt;&lt;property id=&quot;20300&quot; value=&quot;Slide 30&quot;/&gt;&lt;property id=&quot;20307&quot; value=&quot;285&quot;/&gt;&lt;/object&gt;&lt;object type=&quot;3&quot; unique_id=&quot;10204&quot;&gt;&lt;property id=&quot;20148&quot; value=&quot;5&quot;/&gt;&lt;property id=&quot;20300&quot; value=&quot;Slide 31&quot;/&gt;&lt;property id=&quot;20307&quot; value=&quot;286&quot;/&gt;&lt;/object&gt;&lt;object type=&quot;3&quot; unique_id=&quot;10205&quot;&gt;&lt;property id=&quot;20148&quot; value=&quot;5&quot;/&gt;&lt;property id=&quot;20300&quot; value=&quot;Slide 32&quot;/&gt;&lt;property id=&quot;20307&quot; value=&quot;287&quot;/&gt;&lt;/object&gt;&lt;object type=&quot;3&quot; unique_id=&quot;10206&quot;&gt;&lt;property id=&quot;20148&quot; value=&quot;5&quot;/&gt;&lt;property id=&quot;20300&quot; value=&quot;Slide 33&quot;/&gt;&lt;property id=&quot;20307&quot; value=&quot;288&quot;/&gt;&lt;/object&gt;&lt;object type=&quot;3&quot; unique_id=&quot;10207&quot;&gt;&lt;property id=&quot;20148&quot; value=&quot;5&quot;/&gt;&lt;property id=&quot;20300&quot; value=&quot;Slide 34&quot;/&gt;&lt;property id=&quot;20307&quot; value=&quot;289&quot;/&gt;&lt;/object&gt;&lt;object type=&quot;3&quot; unique_id=&quot;10208&quot;&gt;&lt;property id=&quot;20148&quot; value=&quot;5&quot;/&gt;&lt;property id=&quot;20300&quot; value=&quot;Slide 35&quot;/&gt;&lt;property id=&quot;20307&quot; value=&quot;290&quot;/&gt;&lt;/object&gt;&lt;object type=&quot;3&quot; unique_id=&quot;10209&quot;&gt;&lt;property id=&quot;20148&quot; value=&quot;5&quot;/&gt;&lt;property id=&quot;20300&quot; value=&quot;Slide 36&quot;/&gt;&lt;property id=&quot;20307&quot; value=&quot;291&quot;/&gt;&lt;/object&gt;&lt;object type=&quot;3&quot; unique_id=&quot;10210&quot;&gt;&lt;property id=&quot;20148&quot; value=&quot;5&quot;/&gt;&lt;property id=&quot;20300&quot; value=&quot;Slide 37&quot;/&gt;&lt;property id=&quot;20307&quot; value=&quot;292&quot;/&gt;&lt;/object&gt;&lt;object type=&quot;3&quot; unique_id=&quot;10211&quot;&gt;&lt;property id=&quot;20148&quot; value=&quot;5&quot;/&gt;&lt;property id=&quot;20300&quot; value=&quot;Slide 38&quot;/&gt;&lt;property id=&quot;20307&quot; value=&quot;293&quot;/&gt;&lt;/object&gt;&lt;object type=&quot;3&quot; unique_id=&quot;10212&quot;&gt;&lt;property id=&quot;20148&quot; value=&quot;5&quot;/&gt;&lt;property id=&quot;20300&quot; value=&quot;Slide 39&quot;/&gt;&lt;property id=&quot;20307&quot; value=&quot;294&quot;/&gt;&lt;/object&gt;&lt;object type=&quot;3&quot; unique_id=&quot;10213&quot;&gt;&lt;property id=&quot;20148&quot; value=&quot;5&quot;/&gt;&lt;property id=&quot;20300&quot; value=&quot;Slide 40&quot;/&gt;&lt;property id=&quot;20307&quot; value=&quot;295&quot;/&gt;&lt;/object&gt;&lt;object type=&quot;3&quot; unique_id=&quot;10214&quot;&gt;&lt;property id=&quot;20148&quot; value=&quot;5&quot;/&gt;&lt;property id=&quot;20300&quot; value=&quot;Slide 41&quot;/&gt;&lt;property id=&quot;20307&quot; value=&quot;296&quot;/&gt;&lt;/object&gt;&lt;object type=&quot;3&quot; unique_id=&quot;10215&quot;&gt;&lt;property id=&quot;20148&quot; value=&quot;5&quot;/&gt;&lt;property id=&quot;20300&quot; value=&quot;Slide 42&quot;/&gt;&lt;property id=&quot;20307&quot; value=&quot;297&quot;/&gt;&lt;/object&gt;&lt;object type=&quot;3&quot; unique_id=&quot;10216&quot;&gt;&lt;property id=&quot;20148&quot; value=&quot;5&quot;/&gt;&lt;property id=&quot;20300&quot; value=&quot;Slide 43&quot;/&gt;&lt;property id=&quot;20307&quot; value=&quot;298&quot;/&gt;&lt;/object&gt;&lt;object type=&quot;3&quot; unique_id=&quot;10217&quot;&gt;&lt;property id=&quot;20148&quot; value=&quot;5&quot;/&gt;&lt;property id=&quot;20300&quot; value=&quot;Slide 44&quot;/&gt;&lt;property id=&quot;20307&quot; value=&quot;299&quot;/&gt;&lt;/object&gt;&lt;object type=&quot;3&quot; unique_id=&quot;10218&quot;&gt;&lt;property id=&quot;20148&quot; value=&quot;5&quot;/&gt;&lt;property id=&quot;20300&quot; value=&quot;Slide 45&quot;/&gt;&lt;property id=&quot;20307&quot; value=&quot;300&quot;/&gt;&lt;/object&gt;&lt;object type=&quot;3&quot; unique_id=&quot;10219&quot;&gt;&lt;property id=&quot;20148&quot; value=&quot;5&quot;/&gt;&lt;property id=&quot;20300&quot; value=&quot;Slide 48&quot;/&gt;&lt;property id=&quot;20307&quot; value=&quot;301&quot;/&gt;&lt;/object&gt;&lt;object type=&quot;3&quot; unique_id=&quot;10220&quot;&gt;&lt;property id=&quot;20148&quot; value=&quot;5&quot;/&gt;&lt;property id=&quot;20300&quot; value=&quot;Slide 49&quot;/&gt;&lt;property id=&quot;20307&quot; value=&quot;302&quot;/&gt;&lt;/object&gt;&lt;object type=&quot;3&quot; unique_id=&quot;10221&quot;&gt;&lt;property id=&quot;20148&quot; value=&quot;5&quot;/&gt;&lt;property id=&quot;20300&quot; value=&quot;Slide 50&quot;/&gt;&lt;property id=&quot;20307&quot; value=&quot;303&quot;/&gt;&lt;/object&gt;&lt;object type=&quot;3&quot; unique_id=&quot;10222&quot;&gt;&lt;property id=&quot;20148&quot; value=&quot;5&quot;/&gt;&lt;property id=&quot;20300&quot; value=&quot;Slide 51&quot;/&gt;&lt;property id=&quot;20307&quot; value=&quot;304&quot;/&gt;&lt;/object&gt;&lt;object type=&quot;3&quot; unique_id=&quot;10223&quot;&gt;&lt;property id=&quot;20148&quot; value=&quot;5&quot;/&gt;&lt;property id=&quot;20300&quot; value=&quot;Slide 53&quot;/&gt;&lt;property id=&quot;20307&quot; value=&quot;305&quot;/&gt;&lt;/object&gt;&lt;object type=&quot;3&quot; unique_id=&quot;10225&quot;&gt;&lt;property id=&quot;20148&quot; value=&quot;5&quot;/&gt;&lt;property id=&quot;20300&quot; value=&quot;Slide 54&quot;/&gt;&lt;property id=&quot;20307&quot; value=&quot;307&quot;/&gt;&lt;/object&gt;&lt;object type=&quot;3&quot; unique_id=&quot;10226&quot;&gt;&lt;property id=&quot;20148&quot; value=&quot;5&quot;/&gt;&lt;property id=&quot;20300&quot; value=&quot;Slide 56&quot;/&gt;&lt;property id=&quot;20307&quot; value=&quot;308&quot;/&gt;&lt;/object&gt;&lt;object type=&quot;3&quot; unique_id=&quot;10227&quot;&gt;&lt;property id=&quot;20148&quot; value=&quot;5&quot;/&gt;&lt;property id=&quot;20300&quot; value=&quot;Slide 57&quot;/&gt;&lt;property id=&quot;20307&quot; value=&quot;309&quot;/&gt;&lt;/object&gt;&lt;object type=&quot;3&quot; unique_id=&quot;10228&quot;&gt;&lt;property id=&quot;20148&quot; value=&quot;5&quot;/&gt;&lt;property id=&quot;20300&quot; value=&quot;Slide 58&quot;/&gt;&lt;property id=&quot;20307&quot; value=&quot;310&quot;/&gt;&lt;/object&gt;&lt;object type=&quot;3&quot; unique_id=&quot;10229&quot;&gt;&lt;property id=&quot;20148&quot; value=&quot;5&quot;/&gt;&lt;property id=&quot;20300&quot; value=&quot;Slide 59&quot;/&gt;&lt;property id=&quot;20307&quot; value=&quot;311&quot;/&gt;&lt;/object&gt;&lt;object type=&quot;3&quot; unique_id=&quot;10230&quot;&gt;&lt;property id=&quot;20148&quot; value=&quot;5&quot;/&gt;&lt;property id=&quot;20300&quot; value=&quot;Slide 61 - &amp;quot;One-Time Pad&amp;quot;&quot;/&gt;&lt;property id=&quot;20307&quot; value=&quot;312&quot;/&gt;&lt;/object&gt;&lt;object type=&quot;3&quot; unique_id=&quot;10231&quot;&gt;&lt;property id=&quot;20148&quot; value=&quot;5&quot;/&gt;&lt;property id=&quot;20300&quot; value=&quot;Slide 62&quot;/&gt;&lt;property id=&quot;20307&quot; value=&quot;313&quot;/&gt;&lt;/object&gt;&lt;object type=&quot;3&quot; unique_id=&quot;10232&quot;&gt;&lt;property id=&quot;20148&quot; value=&quot;5&quot;/&gt;&lt;property id=&quot;20300&quot; value=&quot;Slide 63&quot;/&gt;&lt;property id=&quot;20307&quot; value=&quot;314&quot;/&gt;&lt;/object&gt;&lt;object type=&quot;3&quot; unique_id=&quot;10233&quot;&gt;&lt;property id=&quot;20148&quot; value=&quot;5&quot;/&gt;&lt;property id=&quot;20300&quot; value=&quot;Slide 64&quot;/&gt;&lt;property id=&quot;20307&quot; value=&quot;315&quot;/&gt;&lt;/object&gt;&lt;object type=&quot;3&quot; unique_id=&quot;10234&quot;&gt;&lt;property id=&quot;20148&quot; value=&quot;5&quot;/&gt;&lt;property id=&quot;20300&quot; value=&quot;Slide 65&quot;/&gt;&lt;property id=&quot;20307&quot; value=&quot;316&quot;/&gt;&lt;/object&gt;&lt;object type=&quot;3&quot; unique_id=&quot;10235&quot;&gt;&lt;property id=&quot;20148&quot; value=&quot;5&quot;/&gt;&lt;property id=&quot;20300&quot; value=&quot;Slide 66 - &amp;quot;Keyed Transposition Ciphers&amp;quot;&quot;/&gt;&lt;property id=&quot;20307&quot; value=&quot;317&quot;/&gt;&lt;/object&gt;&lt;object type=&quot;3&quot; unique_id=&quot;10236&quot;&gt;&lt;property id=&quot;20148&quot; value=&quot;5&quot;/&gt;&lt;property id=&quot;20300&quot; value=&quot;Slide 67&quot;/&gt;&lt;property id=&quot;20307&quot; value=&quot;318&quot;/&gt;&lt;/object&gt;&lt;object type=&quot;3&quot; unique_id=&quot;10237&quot;&gt;&lt;property id=&quot;20148&quot; value=&quot;5&quot;/&gt;&lt;property id=&quot;20300&quot; value=&quot;Slide 68&quot;/&gt;&lt;property id=&quot;20307&quot; value=&quot;319&quot;/&gt;&lt;/object&gt;&lt;object type=&quot;3&quot; unique_id=&quot;10238&quot;&gt;&lt;property id=&quot;20148&quot; value=&quot;5&quot;/&gt;&lt;property id=&quot;20300&quot; value=&quot;Slide 69&quot;/&gt;&lt;property id=&quot;20307&quot; value=&quot;320&quot;/&gt;&lt;/object&gt;&lt;object type=&quot;3&quot; unique_id=&quot;10239&quot;&gt;&lt;property id=&quot;20148&quot; value=&quot;5&quot;/&gt;&lt;property id=&quot;20300&quot; value=&quot;Slide 70&quot;/&gt;&lt;property id=&quot;20307&quot; value=&quot;321&quot;/&gt;&lt;/object&gt;&lt;object type=&quot;3&quot; unique_id=&quot;10240&quot;&gt;&lt;property id=&quot;20148&quot; value=&quot;5&quot;/&gt;&lt;property id=&quot;20300&quot; value=&quot;Slide 71&quot;/&gt;&lt;property id=&quot;20307&quot; value=&quot;322&quot;/&gt;&lt;/object&gt;&lt;object type=&quot;3&quot; unique_id=&quot;10241&quot;&gt;&lt;property id=&quot;20148&quot; value=&quot;5&quot;/&gt;&lt;property id=&quot;20300&quot; value=&quot;Slide 72&quot;/&gt;&lt;property id=&quot;20307&quot; value=&quot;323&quot;/&gt;&lt;/object&gt;&lt;object type=&quot;3&quot; unique_id=&quot;10242&quot;&gt;&lt;property id=&quot;20148&quot; value=&quot;5&quot;/&gt;&lt;property id=&quot;20300&quot; value=&quot;Slide 74&quot;/&gt;&lt;property id=&quot;20307&quot; value=&quot;324&quot;/&gt;&lt;/object&gt;&lt;object type=&quot;3&quot; unique_id=&quot;10243&quot;&gt;&lt;property id=&quot;20148&quot; value=&quot;5&quot;/&gt;&lt;property id=&quot;20300&quot; value=&quot;Slide 75&quot;/&gt;&lt;property id=&quot;20307&quot; value=&quot;325&quot;/&gt;&lt;/object&gt;&lt;object type=&quot;3&quot; unique_id=&quot;10244&quot;&gt;&lt;property id=&quot;20148&quot; value=&quot;5&quot;/&gt;&lt;property id=&quot;20300&quot; value=&quot;Slide 76&quot;/&gt;&lt;property id=&quot;20307&quot; value=&quot;326&quot;/&gt;&lt;/object&gt;&lt;object type=&quot;3&quot; unique_id=&quot;10245&quot;&gt;&lt;property id=&quot;20148&quot; value=&quot;5&quot;/&gt;&lt;property id=&quot;20300&quot; value=&quot;Slide 77&quot;/&gt;&lt;property id=&quot;20307&quot; value=&quot;327&quot;/&gt;&lt;/object&gt;&lt;object type=&quot;3&quot; unique_id=&quot;10246&quot;&gt;&lt;property id=&quot;20148&quot; value=&quot;5&quot;/&gt;&lt;property id=&quot;20300&quot; value=&quot;Slide 78&quot;/&gt;&lt;property id=&quot;20307&quot; value=&quot;328&quot;/&gt;&lt;/object&gt;&lt;object type=&quot;3&quot; unique_id=&quot;10247&quot;&gt;&lt;property id=&quot;20148&quot; value=&quot;5&quot;/&gt;&lt;property id=&quot;20300&quot; value=&quot;Slide 79&quot;/&gt;&lt;property id=&quot;20307&quot; value=&quot;329&quot;/&gt;&lt;/object&gt;&lt;object type=&quot;3&quot; unique_id=&quot;10248&quot;&gt;&lt;property id=&quot;20148&quot; value=&quot;5&quot;/&gt;&lt;property id=&quot;20300&quot; value=&quot;Slide 80&quot;/&gt;&lt;property id=&quot;20307&quot; value=&quot;330&quot;/&gt;&lt;/object&gt;&lt;object type=&quot;3&quot; unique_id=&quot;10249&quot;&gt;&lt;property id=&quot;20148&quot; value=&quot;5&quot;/&gt;&lt;property id=&quot;20300&quot; value=&quot;Slide 81&quot;/&gt;&lt;property id=&quot;20307&quot; value=&quot;331&quot;/&gt;&lt;/object&gt;&lt;object type=&quot;3&quot; unique_id=&quot;10250&quot;&gt;&lt;property id=&quot;20148&quot; value=&quot;5&quot;/&gt;&lt;property id=&quot;20300&quot; value=&quot;Slide 82&quot;/&gt;&lt;property id=&quot;20307&quot; value=&quot;332&quot;/&gt;&lt;/object&gt;&lt;object type=&quot;3&quot; unique_id=&quot;10251&quot;&gt;&lt;property id=&quot;20148&quot; value=&quot;5&quot;/&gt;&lt;property id=&quot;20300&quot; value=&quot;Slide 83&quot;/&gt;&lt;property id=&quot;20307&quot; value=&quot;338&quot;/&gt;&lt;/object&gt;&lt;object type=&quot;3&quot; unique_id=&quot;10252&quot;&gt;&lt;property id=&quot;20148&quot; value=&quot;5&quot;/&gt;&lt;property id=&quot;20300&quot; value=&quot;Slide 84&quot;/&gt;&lt;property id=&quot;20307&quot; value=&quot;339&quot;/&gt;&lt;/object&gt;&lt;object type=&quot;3&quot; unique_id=&quot;10253&quot;&gt;&lt;property id=&quot;20148&quot; value=&quot;5&quot;/&gt;&lt;property id=&quot;20300&quot; value=&quot;Slide 85&quot;/&gt;&lt;property id=&quot;20307&quot; value=&quot;333&quot;/&gt;&lt;/object&gt;&lt;object type=&quot;3&quot; unique_id=&quot;10254&quot;&gt;&lt;property id=&quot;20148&quot; value=&quot;5&quot;/&gt;&lt;property id=&quot;20300&quot; value=&quot;Slide 86&quot;/&gt;&lt;property id=&quot;20307&quot; value=&quot;334&quot;/&gt;&lt;/object&gt;&lt;object type=&quot;3&quot; unique_id=&quot;10255&quot;&gt;&lt;property id=&quot;20148&quot; value=&quot;5&quot;/&gt;&lt;property id=&quot;20300&quot; value=&quot;Slide 87&quot;/&gt;&lt;property id=&quot;20307&quot; value=&quot;335&quot;/&gt;&lt;/object&gt;&lt;object type=&quot;3&quot; unique_id=&quot;10256&quot;&gt;&lt;property id=&quot;20148&quot; value=&quot;5&quot;/&gt;&lt;property id=&quot;20300&quot; value=&quot;Slide 88&quot;/&gt;&lt;property id=&quot;20307&quot; value=&quot;336&quot;/&gt;&lt;/object&gt;&lt;object type=&quot;3&quot; unique_id=&quot;10257&quot;&gt;&lt;property id=&quot;20148&quot; value=&quot;5&quot;/&gt;&lt;property id=&quot;20300&quot; value=&quot;Slide 89&quot;/&gt;&lt;property id=&quot;20307&quot; value=&quot;337&quot;/&gt;&lt;/object&gt;&lt;object type=&quot;3&quot; unique_id=&quot;17141&quot;&gt;&lt;property id=&quot;20148&quot; value=&quot;5&quot;/&gt;&lt;property id=&quot;20300&quot; value=&quot;Slide 46 - &amp;quot;Playfair Cipher Rules &amp;quot;&quot;/&gt;&lt;property id=&quot;20307&quot; value=&quot;340&quot;/&gt;&lt;/object&gt;&lt;object type=&quot;3&quot; unique_id=&quot;17142&quot;&gt;&lt;property id=&quot;20148&quot; value=&quot;5&quot;/&gt;&lt;property id=&quot;20300&quot; value=&quot;Slide 47 - &amp;quot;Cryptanalysis of Playfair Cipher&amp;quot;&quot;/&gt;&lt;property id=&quot;20307&quot; value=&quot;341&quot;/&gt;&lt;/object&gt;&lt;object type=&quot;3&quot; unique_id=&quot;17143&quot;&gt;&lt;property id=&quot;20148&quot; value=&quot;5&quot;/&gt;&lt;property id=&quot;20300&quot; value=&quot;Slide 52 - &amp;quot;Vigenere Cipher (Cryptanalysis) &amp;quot;&quot;/&gt;&lt;property id=&quot;20307&quot; value=&quot;342&quot;/&gt;&lt;/object&gt;&lt;object type=&quot;3&quot; unique_id=&quot;17144&quot;&gt;&lt;property id=&quot;20148&quot; value=&quot;5&quot;/&gt;&lt;property id=&quot;20300&quot; value=&quot;Slide 55 - &amp;quot;Hill Cipher&amp;quot;&quot;/&gt;&lt;property id=&quot;20307&quot; value=&quot;343&quot;/&gt;&lt;/object&gt;&lt;object type=&quot;3&quot; unique_id=&quot;17145&quot;&gt;&lt;property id=&quot;20148&quot; value=&quot;5&quot;/&gt;&lt;property id=&quot;20300&quot; value=&quot;Slide 60 - &amp;quot;Cryptanalysis of Hill Cipher&amp;quot;&quot;/&gt;&lt;property id=&quot;20307&quot; value=&quot;344&quot;/&gt;&lt;/object&gt;&lt;object type=&quot;3&quot; unique_id=&quot;17146&quot;&gt;&lt;property id=&quot;20148&quot; value=&quot;5&quot;/&gt;&lt;property id=&quot;20300&quot; value=&quot;Slide 73 - &amp;quot;Cryptanalysis of transposition ciphers&amp;quot;&quot;/&gt;&lt;property id=&quot;20307&quot; value=&quot;345&quot;/&gt;&lt;/object&gt;&lt;object type=&quot;3&quot; unique_id=&quot;17147&quot;&gt;&lt;property id=&quot;20148&quot; value=&quot;5&quot;/&gt;&lt;property id=&quot;20300&quot; value=&quot;Slide 90 - &amp;quot;The end&amp;quot;&quot;/&gt;&lt;property id=&quot;20307&quot; value=&quot;346&quot;/&gt;&lt;/object&gt;&lt;/object&gt;&lt;object type=&quot;8&quot; unique_id=&quot;10343&quot;&gt;&lt;/object&gt;&lt;/object&gt;&lt;/database&gt;"/>
  <p:tag name="SECTOMILLISECCONVERTED" val="1"/>
</p:tagLst>
</file>

<file path=ppt/theme/theme1.xml><?xml version="1.0" encoding="utf-8"?>
<a:theme xmlns:a="http://schemas.openxmlformats.org/drawingml/2006/main" name="Custom Theme">
  <a:themeElements>
    <a:clrScheme name="Blends 1">
      <a:dk1>
        <a:srgbClr val="000000"/>
      </a:dk1>
      <a:lt1>
        <a:srgbClr val="FFFFFF"/>
      </a:lt1>
      <a:dk2>
        <a:srgbClr val="333399"/>
      </a:dk2>
      <a:lt2>
        <a:srgbClr val="1C1C1C"/>
      </a:lt2>
      <a:accent1>
        <a:srgbClr val="00E4A8"/>
      </a:accent1>
      <a:accent2>
        <a:srgbClr val="FFCF01"/>
      </a:accent2>
      <a:accent3>
        <a:srgbClr val="FFFFFF"/>
      </a:accent3>
      <a:accent4>
        <a:srgbClr val="00E4A8"/>
      </a:accent4>
      <a:accent5>
        <a:srgbClr val="FFCF01"/>
      </a:accent5>
      <a:accent6>
        <a:srgbClr val="FFFFFF"/>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Blends 1">
      <a:dk1>
        <a:srgbClr val="000000"/>
      </a:dk1>
      <a:lt1>
        <a:srgbClr val="FFFFFF"/>
      </a:lt1>
      <a:dk2>
        <a:srgbClr val="333399"/>
      </a:dk2>
      <a:lt2>
        <a:srgbClr val="1C1C1C"/>
      </a:lt2>
      <a:accent1>
        <a:srgbClr val="00E4A8"/>
      </a:accent1>
      <a:accent2>
        <a:srgbClr val="FFCF01"/>
      </a:accent2>
      <a:accent3>
        <a:srgbClr val="FFFFFF"/>
      </a:accent3>
      <a:accent4>
        <a:srgbClr val="00E4A8"/>
      </a:accent4>
      <a:accent5>
        <a:srgbClr val="FFCF01"/>
      </a:accent5>
      <a:accent6>
        <a:srgbClr val="FFFFFF"/>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990</TotalTime>
  <Words>4257</Words>
  <Application>Microsoft Office PowerPoint</Application>
  <PresentationFormat>Custom</PresentationFormat>
  <Paragraphs>593</Paragraphs>
  <Slides>86</Slides>
  <Notes>81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86</vt:i4>
      </vt:variant>
    </vt:vector>
  </HeadingPairs>
  <TitlesOfParts>
    <vt:vector size="93" baseType="lpstr">
      <vt:lpstr>Arial</vt:lpstr>
      <vt:lpstr>Courier New</vt:lpstr>
      <vt:lpstr>Tahoma</vt:lpstr>
      <vt:lpstr>Times New Roman</vt:lpstr>
      <vt:lpstr>Wingdings</vt:lpstr>
      <vt:lpstr>Custom Theme</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Playfair Cipher Rules </vt:lpstr>
      <vt:lpstr>Cryptanalysis of Playfair Cipher</vt:lpstr>
      <vt:lpstr>PowerPoint Presentation</vt:lpstr>
      <vt:lpstr>PowerPoint Presentation</vt:lpstr>
      <vt:lpstr>PowerPoint Presentation</vt:lpstr>
      <vt:lpstr>PowerPoint Presentation</vt:lpstr>
      <vt:lpstr>Vigenere Cipher (Cryptanalysis) </vt:lpstr>
      <vt:lpstr>PowerPoint Presentation</vt:lpstr>
      <vt:lpstr>PowerPoint Presentation</vt:lpstr>
      <vt:lpstr>One-Time Pad</vt:lpstr>
      <vt:lpstr>Vernam Cipher</vt:lpstr>
      <vt:lpstr>PowerPoint Presentation</vt:lpstr>
      <vt:lpstr>PowerPoint Presentation</vt:lpstr>
      <vt:lpstr>PowerPoint Presentation</vt:lpstr>
      <vt:lpstr>PowerPoint Presentation</vt:lpstr>
      <vt:lpstr>Keyed Transposition Ciphers</vt:lpstr>
      <vt:lpstr>PowerPoint Presentation</vt:lpstr>
      <vt:lpstr>PowerPoint Presentation</vt:lpstr>
      <vt:lpstr>PowerPoint Presentation</vt:lpstr>
      <vt:lpstr>PowerPoint Presentation</vt:lpstr>
      <vt:lpstr>PowerPoint Presentation</vt:lpstr>
      <vt:lpstr>PowerPoint Presentation</vt:lpstr>
      <vt:lpstr>Cryptanalysis of transposition ciphers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DHS</dc:creator>
  <cp:lastModifiedBy>Manish Potey</cp:lastModifiedBy>
  <cp:revision>58</cp:revision>
  <dcterms:modified xsi:type="dcterms:W3CDTF">2026-01-16T06:36:09Z</dcterms:modified>
</cp:coreProperties>
</file>