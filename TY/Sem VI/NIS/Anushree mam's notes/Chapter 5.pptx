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257" r:id="rId2"/>
    <p:sldId id="312" r:id="rId3"/>
    <p:sldId id="319" r:id="rId4"/>
    <p:sldId id="320" r:id="rId5"/>
    <p:sldId id="321"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 id="340" r:id="rId25"/>
    <p:sldId id="341" r:id="rId26"/>
    <p:sldId id="342" r:id="rId27"/>
    <p:sldId id="343" r:id="rId28"/>
    <p:sldId id="344" r:id="rId29"/>
    <p:sldId id="34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p:scale>
          <a:sx n="75" d="100"/>
          <a:sy n="75" d="100"/>
        </p:scale>
        <p:origin x="-280" y="2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470771-8074-4F66-AC64-A78C5510EAB9}" type="datetimeFigureOut">
              <a:rPr lang="en-IN" smtClean="0"/>
              <a:t>21-04-2026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DA3B92-C9F6-4DB8-9A2F-860A68F1CC5D}" type="slidenum">
              <a:rPr lang="en-IN" smtClean="0"/>
              <a:t>‹#›</a:t>
            </a:fld>
            <a:endParaRPr lang="en-IN"/>
          </a:p>
        </p:txBody>
      </p:sp>
    </p:spTree>
    <p:extLst>
      <p:ext uri="{BB962C8B-B14F-4D97-AF65-F5344CB8AC3E}">
        <p14:creationId xmlns:p14="http://schemas.microsoft.com/office/powerpoint/2010/main" val="2196519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8F213FC-66C6-4930-AAD8-6C0E37E6E5CB}"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04776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8F213FC-66C6-4930-AAD8-6C0E37E6E5CB}"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857667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F213FC-66C6-4930-AAD8-6C0E37E6E5CB}"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964449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8F213FC-66C6-4930-AAD8-6C0E37E6E5CB}"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93809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8F213FC-66C6-4930-AAD8-6C0E37E6E5CB}"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44191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8F213FC-66C6-4930-AAD8-6C0E37E6E5CB}"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4050041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F213FC-66C6-4930-AAD8-6C0E37E6E5CB}"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883206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17905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F213FC-66C6-4930-AAD8-6C0E37E6E5CB}"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661522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8F213FC-66C6-4930-AAD8-6C0E37E6E5CB}"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133610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8F213FC-66C6-4930-AAD8-6C0E37E6E5CB}"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903187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F213FC-66C6-4930-AAD8-6C0E37E6E5CB}" type="datetimeFigureOut">
              <a:rPr lang="en-US" smtClean="0"/>
              <a:t>4/21/2026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5E5CB-9241-4665-889D-78B918CC363E}" type="slidenum">
              <a:rPr lang="en-US" smtClean="0"/>
              <a:t>‹#›</a:t>
            </a:fld>
            <a:endParaRPr lang="en-US"/>
          </a:p>
        </p:txBody>
      </p:sp>
    </p:spTree>
    <p:extLst>
      <p:ext uri="{BB962C8B-B14F-4D97-AF65-F5344CB8AC3E}">
        <p14:creationId xmlns:p14="http://schemas.microsoft.com/office/powerpoint/2010/main" val="12624221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hyperlink" Target="https://www.geeksforgeeks.org/ethical-hacking/cyber-security-policy/" TargetMode="External"/><Relationship Id="rId3" Type="http://schemas.openxmlformats.org/officeDocument/2006/relationships/image" Target="../media/image1.png"/><Relationship Id="rId7" Type="http://schemas.openxmlformats.org/officeDocument/2006/relationships/hyperlink" Target="https://www.geeksforgeeks.org/computer-networks/malwares-malicious-softwa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knowledgehut.com/blog/security/chain-of-custody-in-cyber-security"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hyperlink" Target="https://www.google.com/search?q=Digital+Personal+Data+Protection+(DPDP)+Act,+2023&amp;oq=Digital+Personal+Data+Protection+Act++(DPDP+Act)&amp;gs_lcrp=EgZjaHJvbWUqBwgAEAAYgAQyBwgAEAAYgAQyBwgBEAAYgAQyCAgCEAAYFhgeMggIAxAAGBYYHjIICAQQABgWGB4yCAgFEAAYFhgeMggIBhAAGBYYHjIICAcQABgWGB4yCAgIEAAYFhgeMg0ICRAAGIYDGIAEGIoF0gEJMjMwMWowajE1qAIIsAIB8QW1shsnexAuhPEFtbIbJ3sQLoQ&amp;sourceid=chrome&amp;ie=UTF-8&amp;ved=2ahUKEwjQrue5pv6TAxUNSmwGHZXrC8QQgK4QegYIAQgAEAU" TargetMode="External"/><Relationship Id="rId7"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8" Type="http://schemas.openxmlformats.org/officeDocument/2006/relationships/hyperlink" Target="https://www.blackpanda.com/casestudies" TargetMode="External"/><Relationship Id="rId3" Type="http://schemas.openxmlformats.org/officeDocument/2006/relationships/image" Target="../media/image1.png"/><Relationship Id="rId7" Type="http://schemas.openxmlformats.org/officeDocument/2006/relationships/hyperlink" Target="https://digitaldefynd.com/IQ/cybersecurity-case-studie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hyperlink" Target="https://notiondigitalforensics.com.au/cases/"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 xmlns:a16="http://schemas.microsoft.com/office/drawing/2014/main" id="{98058B23-DDE2-4F62-9A2E-46739C3C685F}"/>
              </a:ext>
            </a:extLst>
          </p:cNvPr>
          <p:cNvSpPr>
            <a:spLocks noGrp="1"/>
          </p:cNvSpPr>
          <p:nvPr>
            <p:ph type="title"/>
          </p:nvPr>
        </p:nvSpPr>
        <p:spPr>
          <a:xfrm>
            <a:off x="872066" y="274638"/>
            <a:ext cx="10710333" cy="1143000"/>
          </a:xfrm>
        </p:spPr>
        <p:txBody>
          <a:bodyPr>
            <a:normAutofit fontScale="90000"/>
          </a:bodyPr>
          <a:lstStyle/>
          <a:p>
            <a:r>
              <a:rPr lang="en-IN" b="1" dirty="0">
                <a:solidFill>
                  <a:srgbClr val="FF0000"/>
                </a:solidFill>
                <a:latin typeface="Times New Roman" pitchFamily="18" charset="0"/>
                <a:cs typeface="Times New Roman" pitchFamily="18" charset="0"/>
              </a:rPr>
              <a:t>Incident Response, Forensics &amp; Cyber </a:t>
            </a:r>
            <a:r>
              <a:rPr lang="en-IN" b="1" dirty="0" smtClean="0">
                <a:solidFill>
                  <a:srgbClr val="FF0000"/>
                </a:solidFill>
                <a:latin typeface="Times New Roman" pitchFamily="18" charset="0"/>
                <a:cs typeface="Times New Roman" pitchFamily="18" charset="0"/>
              </a:rPr>
              <a:t>Laws</a:t>
            </a:r>
            <a:endParaRPr lang="en-US" b="1" dirty="0">
              <a:solidFill>
                <a:srgbClr val="FF0000"/>
              </a:solidFill>
            </a:endParaRPr>
          </a:p>
        </p:txBody>
      </p:sp>
      <p:sp>
        <p:nvSpPr>
          <p:cNvPr id="3" name="Subtitle 2">
            <a:extLst>
              <a:ext uri="{FF2B5EF4-FFF2-40B4-BE49-F238E27FC236}">
                <a16:creationId xmlns="" xmlns:a16="http://schemas.microsoft.com/office/drawing/2014/main" id="{6D9CEDE5-3115-42FB-90A3-0727B8EEECC0}"/>
              </a:ext>
            </a:extLst>
          </p:cNvPr>
          <p:cNvSpPr>
            <a:spLocks noGrp="1"/>
          </p:cNvSpPr>
          <p:nvPr>
            <p:ph idx="1"/>
          </p:nvPr>
        </p:nvSpPr>
        <p:spPr>
          <a:xfrm>
            <a:off x="1397000" y="1825625"/>
            <a:ext cx="9956800" cy="4005196"/>
          </a:xfrm>
        </p:spPr>
        <p:txBody>
          <a:bodyPr>
            <a:normAutofit/>
          </a:bodyPr>
          <a:lstStyle/>
          <a:p>
            <a:pPr marL="0" indent="0" algn="ctr">
              <a:buNone/>
            </a:pPr>
            <a:r>
              <a:rPr lang="en-US" b="1" dirty="0" smtClean="0">
                <a:solidFill>
                  <a:schemeClr val="tx1">
                    <a:lumMod val="85000"/>
                    <a:lumOff val="15000"/>
                  </a:schemeClr>
                </a:solidFill>
                <a:latin typeface="Fira Sans" panose="020B0503050000020004" pitchFamily="34" charset="0"/>
                <a:ea typeface="Fira Sans" panose="020B0503050000020004" pitchFamily="34" charset="0"/>
              </a:rPr>
              <a:t>Chapter 5</a:t>
            </a:r>
            <a:endParaRPr lang="en-US" b="1" dirty="0">
              <a:solidFill>
                <a:schemeClr val="tx1">
                  <a:lumMod val="85000"/>
                  <a:lumOff val="15000"/>
                </a:schemeClr>
              </a:solidFill>
              <a:latin typeface="Fira Sans" panose="020B0503050000020004" pitchFamily="34" charset="0"/>
              <a:ea typeface="Fira Sans" panose="020B0503050000020004" pitchFamily="34" charset="0"/>
            </a:endParaRPr>
          </a:p>
        </p:txBody>
      </p:sp>
      <p:pic>
        <p:nvPicPr>
          <p:cNvPr id="4" name="Picture 3">
            <a:extLst>
              <a:ext uri="{FF2B5EF4-FFF2-40B4-BE49-F238E27FC236}">
                <a16:creationId xmlns="" xmlns:a16="http://schemas.microsoft.com/office/drawing/2014/main" id="{8026AED6-E793-48A3-96AF-36A0D1FE2D70}"/>
              </a:ext>
            </a:extLst>
          </p:cNvPr>
          <p:cNvPicPr>
            <a:picLocks noChangeAspect="1"/>
          </p:cNvPicPr>
          <p:nvPr/>
        </p:nvPicPr>
        <p:blipFill>
          <a:blip r:embed="rId2"/>
          <a:stretch>
            <a:fillRect/>
          </a:stretch>
        </p:blipFill>
        <p:spPr>
          <a:xfrm>
            <a:off x="606" y="2221"/>
            <a:ext cx="566959" cy="6855781"/>
          </a:xfrm>
          <a:prstGeom prst="rect">
            <a:avLst/>
          </a:prstGeom>
        </p:spPr>
      </p:pic>
      <p:pic>
        <p:nvPicPr>
          <p:cNvPr id="5" name="Picture 4">
            <a:extLst>
              <a:ext uri="{FF2B5EF4-FFF2-40B4-BE49-F238E27FC236}">
                <a16:creationId xmlns="" xmlns:a16="http://schemas.microsoft.com/office/drawing/2014/main" id="{98F5ADD7-F579-4B31-B088-24730AEA76C9}"/>
              </a:ext>
            </a:extLst>
          </p:cNvPr>
          <p:cNvPicPr>
            <a:picLocks noChangeAspect="1"/>
          </p:cNvPicPr>
          <p:nvPr/>
        </p:nvPicPr>
        <p:blipFill>
          <a:blip r:embed="rId3"/>
          <a:stretch>
            <a:fillRect/>
          </a:stretch>
        </p:blipFill>
        <p:spPr>
          <a:xfrm>
            <a:off x="567564" y="0"/>
            <a:ext cx="209677" cy="5440680"/>
          </a:xfrm>
          <a:prstGeom prst="rect">
            <a:avLst/>
          </a:prstGeom>
        </p:spPr>
      </p:pic>
      <p:pic>
        <p:nvPicPr>
          <p:cNvPr id="11" name="Picture 10" descr="A close up of a sign&#10;&#10;Description automatically generated">
            <a:extLst>
              <a:ext uri="{FF2B5EF4-FFF2-40B4-BE49-F238E27FC236}">
                <a16:creationId xmlns=""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40" y="5830823"/>
            <a:ext cx="868683" cy="647487"/>
          </a:xfrm>
          <a:prstGeom prst="rect">
            <a:avLst/>
          </a:prstGeom>
        </p:spPr>
      </p:pic>
      <p:pic>
        <p:nvPicPr>
          <p:cNvPr id="6" name="Picture 5" descr="A picture containing drawing&#10;&#10;Description automatically generated">
            <a:extLst>
              <a:ext uri="{FF2B5EF4-FFF2-40B4-BE49-F238E27FC236}">
                <a16:creationId xmlns=""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Tree>
    <p:extLst>
      <p:ext uri="{BB962C8B-B14F-4D97-AF65-F5344CB8AC3E}">
        <p14:creationId xmlns:p14="http://schemas.microsoft.com/office/powerpoint/2010/main" val="39669117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smtClean="0">
                <a:solidFill>
                  <a:srgbClr val="FF0000"/>
                </a:solidFill>
              </a:rPr>
              <a:t>Incident Response Life Cycle</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1026" name="Picture 2"/>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3708400" y="1185334"/>
            <a:ext cx="5384799" cy="4645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25443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211667"/>
            <a:ext cx="10482943" cy="5398032"/>
          </a:xfrm>
        </p:spPr>
        <p:txBody>
          <a:bodyPr>
            <a:normAutofit fontScale="77500" lnSpcReduction="20000"/>
          </a:bodyPr>
          <a:lstStyle/>
          <a:p>
            <a:r>
              <a:rPr lang="en-US" b="1" dirty="0"/>
              <a:t>1. Preparation</a:t>
            </a:r>
          </a:p>
          <a:p>
            <a:pPr lvl="1"/>
            <a:r>
              <a:rPr lang="en-US" dirty="0"/>
              <a:t>This is the planning stage before any incident occurs.</a:t>
            </a:r>
            <a:br>
              <a:rPr lang="en-US" dirty="0"/>
            </a:br>
            <a:r>
              <a:rPr lang="en-US" dirty="0"/>
              <a:t>Organizations build their defense and readiness.</a:t>
            </a:r>
          </a:p>
          <a:p>
            <a:pPr lvl="1"/>
            <a:r>
              <a:rPr lang="en-US" dirty="0"/>
              <a:t>Create incident response policies and procedures </a:t>
            </a:r>
          </a:p>
          <a:p>
            <a:pPr lvl="1"/>
            <a:r>
              <a:rPr lang="en-US" dirty="0"/>
              <a:t>Train staff and form an Incident Response Team (IRT) </a:t>
            </a:r>
          </a:p>
          <a:p>
            <a:pPr lvl="1"/>
            <a:r>
              <a:rPr lang="en-US" dirty="0"/>
              <a:t>Install security tools (firewalls, IDS/IPS, antivirus) </a:t>
            </a:r>
          </a:p>
          <a:p>
            <a:pPr lvl="1"/>
            <a:r>
              <a:rPr lang="en-US" dirty="0"/>
              <a:t>Conduct risk assessments and drills </a:t>
            </a:r>
          </a:p>
          <a:p>
            <a:pPr lvl="1"/>
            <a:r>
              <a:rPr lang="en-US" dirty="0" smtClean="0"/>
              <a:t>Goal</a:t>
            </a:r>
            <a:r>
              <a:rPr lang="en-US" dirty="0"/>
              <a:t>: Be ready to act quickly and effectively.</a:t>
            </a:r>
          </a:p>
          <a:p>
            <a:r>
              <a:rPr lang="en-US" b="1" dirty="0" smtClean="0"/>
              <a:t>2. </a:t>
            </a:r>
            <a:r>
              <a:rPr lang="en-US" b="1" dirty="0"/>
              <a:t>Detection &amp; Analysis</a:t>
            </a:r>
          </a:p>
          <a:p>
            <a:pPr lvl="1"/>
            <a:r>
              <a:rPr lang="en-US" dirty="0"/>
              <a:t>Identifying whether an incident has occurred and understanding its scope.</a:t>
            </a:r>
          </a:p>
          <a:p>
            <a:pPr lvl="1"/>
            <a:r>
              <a:rPr lang="en-US" dirty="0"/>
              <a:t>Monitor logs, alerts, and unusual activities </a:t>
            </a:r>
          </a:p>
          <a:p>
            <a:pPr lvl="1"/>
            <a:r>
              <a:rPr lang="en-US" dirty="0"/>
              <a:t>Use SIEM tools to detect threats </a:t>
            </a:r>
          </a:p>
          <a:p>
            <a:pPr lvl="1"/>
            <a:r>
              <a:rPr lang="en-US" dirty="0"/>
              <a:t>Analyze the type, source, and severity of the incident </a:t>
            </a:r>
          </a:p>
          <a:p>
            <a:pPr lvl="1"/>
            <a:r>
              <a:rPr lang="en-US" dirty="0"/>
              <a:t>Confirm if it’s a real attack or false alarm </a:t>
            </a:r>
          </a:p>
          <a:p>
            <a:pPr lvl="1"/>
            <a:r>
              <a:rPr lang="en-US" dirty="0" smtClean="0"/>
              <a:t>Goal</a:t>
            </a:r>
            <a:r>
              <a:rPr lang="en-US" dirty="0"/>
              <a:t>: Detect incidents early and accurately.</a:t>
            </a:r>
          </a:p>
          <a:p>
            <a:pPr lvl="1"/>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431800"/>
            <a:ext cx="10482943" cy="5177899"/>
          </a:xfrm>
        </p:spPr>
        <p:txBody>
          <a:bodyPr>
            <a:normAutofit fontScale="77500" lnSpcReduction="20000"/>
          </a:bodyPr>
          <a:lstStyle/>
          <a:p>
            <a:r>
              <a:rPr lang="en-US" b="1" dirty="0" smtClean="0"/>
              <a:t>3. </a:t>
            </a:r>
            <a:r>
              <a:rPr lang="en-US" b="1" dirty="0"/>
              <a:t>Containment</a:t>
            </a:r>
          </a:p>
          <a:p>
            <a:pPr lvl="1"/>
            <a:r>
              <a:rPr lang="en-US" dirty="0"/>
              <a:t>Limit the damage and prevent the spread of the attack.</a:t>
            </a:r>
          </a:p>
          <a:p>
            <a:pPr lvl="1"/>
            <a:r>
              <a:rPr lang="en-US" dirty="0"/>
              <a:t>Isolate affected systems (disconnect from network) </a:t>
            </a:r>
          </a:p>
          <a:p>
            <a:pPr lvl="1"/>
            <a:r>
              <a:rPr lang="en-US" dirty="0"/>
              <a:t>Disable compromised accounts </a:t>
            </a:r>
          </a:p>
          <a:p>
            <a:pPr lvl="1"/>
            <a:r>
              <a:rPr lang="en-US" dirty="0"/>
              <a:t>Apply temporary fixes (patches, blocks) </a:t>
            </a:r>
          </a:p>
          <a:p>
            <a:pPr lvl="1"/>
            <a:r>
              <a:rPr lang="en-US" dirty="0"/>
              <a:t>Two types:</a:t>
            </a:r>
          </a:p>
          <a:p>
            <a:pPr lvl="1"/>
            <a:r>
              <a:rPr lang="en-US" b="1" dirty="0"/>
              <a:t>Short-term containment</a:t>
            </a:r>
            <a:r>
              <a:rPr lang="en-US" dirty="0"/>
              <a:t> (immediate action) </a:t>
            </a:r>
          </a:p>
          <a:p>
            <a:pPr lvl="1"/>
            <a:r>
              <a:rPr lang="en-US" b="1" dirty="0"/>
              <a:t>Long-term containment</a:t>
            </a:r>
            <a:r>
              <a:rPr lang="en-US" dirty="0"/>
              <a:t> (temporary solutions until full fix) </a:t>
            </a:r>
          </a:p>
          <a:p>
            <a:pPr lvl="1"/>
            <a:r>
              <a:rPr lang="en-US" dirty="0" smtClean="0"/>
              <a:t>Goal</a:t>
            </a:r>
            <a:r>
              <a:rPr lang="en-US" dirty="0"/>
              <a:t>: Stop the attack from getting worse.</a:t>
            </a:r>
          </a:p>
          <a:p>
            <a:r>
              <a:rPr lang="en-US" b="1" dirty="0" smtClean="0"/>
              <a:t>4. </a:t>
            </a:r>
            <a:r>
              <a:rPr lang="en-US" b="1" dirty="0"/>
              <a:t>Eradication</a:t>
            </a:r>
          </a:p>
          <a:p>
            <a:pPr lvl="1"/>
            <a:r>
              <a:rPr lang="en-US" dirty="0"/>
              <a:t>Remove the root cause of the incident.</a:t>
            </a:r>
          </a:p>
          <a:p>
            <a:pPr lvl="1"/>
            <a:r>
              <a:rPr lang="en-US" dirty="0"/>
              <a:t>Delete malware or malicious files </a:t>
            </a:r>
          </a:p>
          <a:p>
            <a:pPr lvl="1"/>
            <a:r>
              <a:rPr lang="en-US" dirty="0"/>
              <a:t>Remove unauthorized access or backdoors </a:t>
            </a:r>
          </a:p>
          <a:p>
            <a:pPr lvl="1"/>
            <a:r>
              <a:rPr lang="en-US" dirty="0"/>
              <a:t>Fix vulnerabilities (patch software, update </a:t>
            </a:r>
            <a:r>
              <a:rPr lang="en-US" dirty="0" err="1"/>
              <a:t>configs</a:t>
            </a:r>
            <a:r>
              <a:rPr lang="en-US" dirty="0"/>
              <a:t>) </a:t>
            </a:r>
          </a:p>
          <a:p>
            <a:pPr lvl="1"/>
            <a:r>
              <a:rPr lang="en-US" dirty="0" smtClean="0"/>
              <a:t>Goal</a:t>
            </a:r>
            <a:r>
              <a:rPr lang="en-US" dirty="0"/>
              <a:t>: Completely eliminate the threat.</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508000"/>
            <a:ext cx="10482943" cy="5101699"/>
          </a:xfrm>
        </p:spPr>
        <p:txBody>
          <a:bodyPr>
            <a:normAutofit fontScale="92500" lnSpcReduction="20000"/>
          </a:bodyPr>
          <a:lstStyle/>
          <a:p>
            <a:r>
              <a:rPr lang="en-US" b="1" dirty="0"/>
              <a:t>5. Recovery</a:t>
            </a:r>
          </a:p>
          <a:p>
            <a:pPr lvl="1"/>
            <a:r>
              <a:rPr lang="en-US" dirty="0"/>
              <a:t>Restore systems to normal operation.</a:t>
            </a:r>
          </a:p>
          <a:p>
            <a:pPr lvl="1"/>
            <a:r>
              <a:rPr lang="en-US" dirty="0"/>
              <a:t>Restore data from backups </a:t>
            </a:r>
          </a:p>
          <a:p>
            <a:pPr lvl="1"/>
            <a:r>
              <a:rPr lang="en-US" dirty="0"/>
              <a:t>Monitor systems for any signs of recurrence </a:t>
            </a:r>
          </a:p>
          <a:p>
            <a:pPr lvl="1"/>
            <a:r>
              <a:rPr lang="en-US" dirty="0"/>
              <a:t>Gradually reconnect systems to the network </a:t>
            </a:r>
          </a:p>
          <a:p>
            <a:pPr lvl="1"/>
            <a:r>
              <a:rPr lang="en-US" dirty="0" smtClean="0"/>
              <a:t>Goal</a:t>
            </a:r>
            <a:r>
              <a:rPr lang="en-US" dirty="0"/>
              <a:t>: Safely resume business operations.</a:t>
            </a:r>
          </a:p>
          <a:p>
            <a:r>
              <a:rPr lang="en-US" b="1" dirty="0" smtClean="0"/>
              <a:t>6. </a:t>
            </a:r>
            <a:r>
              <a:rPr lang="en-US" b="1" dirty="0"/>
              <a:t>Lessons Learned</a:t>
            </a:r>
          </a:p>
          <a:p>
            <a:pPr lvl="1"/>
            <a:r>
              <a:rPr lang="en-US" dirty="0"/>
              <a:t>Analyze the incident and improve for the future.</a:t>
            </a:r>
          </a:p>
          <a:p>
            <a:pPr lvl="1"/>
            <a:r>
              <a:rPr lang="en-US" dirty="0"/>
              <a:t>Document what happened and how it was handled </a:t>
            </a:r>
          </a:p>
          <a:p>
            <a:pPr lvl="1"/>
            <a:r>
              <a:rPr lang="en-US" dirty="0"/>
              <a:t>Identify gaps in security or response </a:t>
            </a:r>
          </a:p>
          <a:p>
            <a:pPr lvl="1"/>
            <a:r>
              <a:rPr lang="en-US" dirty="0"/>
              <a:t>Update policies, tools, and training </a:t>
            </a:r>
          </a:p>
          <a:p>
            <a:pPr lvl="1"/>
            <a:r>
              <a:rPr lang="en-US" dirty="0" smtClean="0"/>
              <a:t>Goal</a:t>
            </a:r>
            <a:r>
              <a:rPr lang="en-US" dirty="0"/>
              <a:t>: Prevent similar incidents in future.</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rPr>
              <a:t>Computer Emergency Response Team (CERT)</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a:bodyPr>
          <a:lstStyle/>
          <a:p>
            <a:r>
              <a:rPr lang="en-US" dirty="0"/>
              <a:t>Computer Emergency Response Team (CERT) is a group of experts dedicated to handling </a:t>
            </a:r>
            <a:r>
              <a:rPr lang="en-US" dirty="0" err="1"/>
              <a:t>cybersecurity</a:t>
            </a:r>
            <a:r>
              <a:rPr lang="en-US" dirty="0"/>
              <a:t> incidents. In the context of network management, the </a:t>
            </a:r>
            <a:r>
              <a:rPr lang="en-US" b="1" dirty="0"/>
              <a:t>Computer Emergency Response Team (CERT) </a:t>
            </a:r>
            <a:r>
              <a:rPr lang="en-US" dirty="0"/>
              <a:t>plays a key role in helping organizations to protect and defend against cyber threats, vulnerabilities, and incidents.</a:t>
            </a:r>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pic>
        <p:nvPicPr>
          <p:cNvPr id="2050" name="Picture 2"/>
          <p:cNvPicPr>
            <a:picLocks noGrp="1" noChangeAspect="1" noChangeArrowheads="1"/>
          </p:cNvPicPr>
          <p:nvPr>
            <p:ph idx="1"/>
          </p:nvPr>
        </p:nvPicPr>
        <p:blipFill>
          <a:blip r:embed="rId7">
            <a:extLst>
              <a:ext uri="{28A0092B-C50C-407E-A947-70E740481C1C}">
                <a14:useLocalDpi xmlns:a14="http://schemas.microsoft.com/office/drawing/2010/main" val="0"/>
              </a:ext>
            </a:extLst>
          </a:blip>
          <a:srcRect/>
          <a:stretch>
            <a:fillRect/>
          </a:stretch>
        </p:blipFill>
        <p:spPr bwMode="auto">
          <a:xfrm>
            <a:off x="2413001" y="482600"/>
            <a:ext cx="7526866" cy="546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Roles and Responsibilities of CERT</a:t>
            </a:r>
            <a:br>
              <a:rPr lang="en-US" b="1"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905933"/>
            <a:ext cx="10482943" cy="4924890"/>
          </a:xfrm>
        </p:spPr>
        <p:txBody>
          <a:bodyPr>
            <a:normAutofit fontScale="62500" lnSpcReduction="20000"/>
          </a:bodyPr>
          <a:lstStyle/>
          <a:p>
            <a:pPr fontAlgn="base"/>
            <a:r>
              <a:rPr lang="en-US" b="1" dirty="0"/>
              <a:t>Incident Detection and Analysis</a:t>
            </a:r>
            <a:r>
              <a:rPr lang="en-US" dirty="0"/>
              <a:t>: Monitoring systems and networks for potential security breaches and promptly identifying malicious activities.</a:t>
            </a:r>
          </a:p>
          <a:p>
            <a:pPr fontAlgn="base"/>
            <a:r>
              <a:rPr lang="en-US" b="1" dirty="0"/>
              <a:t>Incident Response</a:t>
            </a:r>
            <a:r>
              <a:rPr lang="en-US" dirty="0"/>
              <a:t>: Taking swift and coordinated actions to contain and mitigate the impact of </a:t>
            </a:r>
            <a:r>
              <a:rPr lang="en-US" dirty="0" err="1"/>
              <a:t>cybersecurity</a:t>
            </a:r>
            <a:r>
              <a:rPr lang="en-US" dirty="0"/>
              <a:t> incidents, such as data breaches or malware infections.</a:t>
            </a:r>
          </a:p>
          <a:p>
            <a:pPr fontAlgn="base"/>
            <a:r>
              <a:rPr lang="en-US" b="1" dirty="0"/>
              <a:t>Threat Intelligence</a:t>
            </a:r>
            <a:r>
              <a:rPr lang="en-US" dirty="0"/>
              <a:t>: Gathering, analyzing, and disseminating information about current and emerging cyber threats to enhance proactive defense measures.</a:t>
            </a:r>
          </a:p>
          <a:p>
            <a:pPr fontAlgn="base"/>
            <a:r>
              <a:rPr lang="en-US" b="1" dirty="0"/>
              <a:t>Vulnerability Management</a:t>
            </a:r>
            <a:r>
              <a:rPr lang="en-US" dirty="0"/>
              <a:t>: Identifying and addressing vulnerabilities in software, hardware, and network infrastructure to prevent exploitation by </a:t>
            </a:r>
            <a:r>
              <a:rPr lang="en-US" u="sng" dirty="0">
                <a:hlinkClick r:id="rId7"/>
              </a:rPr>
              <a:t>malicious</a:t>
            </a:r>
            <a:r>
              <a:rPr lang="en-US" dirty="0"/>
              <a:t> actors.</a:t>
            </a:r>
          </a:p>
          <a:p>
            <a:pPr fontAlgn="base"/>
            <a:r>
              <a:rPr lang="en-US" b="1" dirty="0"/>
              <a:t>Coordination and Collaboration</a:t>
            </a:r>
            <a:r>
              <a:rPr lang="en-US" dirty="0"/>
              <a:t>: Working closely with internal teams, external partners, law enforcement agencies, and regulatory bodies to coordinate incident response efforts effectively.</a:t>
            </a:r>
          </a:p>
          <a:p>
            <a:pPr fontAlgn="base"/>
            <a:r>
              <a:rPr lang="en-US" b="1" dirty="0"/>
              <a:t>Forensic Analysis</a:t>
            </a:r>
            <a:r>
              <a:rPr lang="en-US" dirty="0"/>
              <a:t>: Conducting thorough investigations post-incident to determine the root cause, assess the extent of damage, and recommend remedial actions.</a:t>
            </a:r>
          </a:p>
          <a:p>
            <a:pPr fontAlgn="base"/>
            <a:r>
              <a:rPr lang="en-US" b="1" dirty="0"/>
              <a:t>Training and Awareness</a:t>
            </a:r>
            <a:r>
              <a:rPr lang="en-US" dirty="0"/>
              <a:t>:</a:t>
            </a:r>
            <a:r>
              <a:rPr lang="en-US" b="1" dirty="0"/>
              <a:t> Educating employees and stakeholders about </a:t>
            </a:r>
            <a:r>
              <a:rPr lang="en-US" b="1" dirty="0" err="1"/>
              <a:t>cybersecurity</a:t>
            </a:r>
            <a:r>
              <a:rPr lang="en-US" b="1" dirty="0"/>
              <a:t> best practices</a:t>
            </a:r>
            <a:r>
              <a:rPr lang="en-US" dirty="0"/>
              <a:t>, raising awareness about potential threats, and promoting a culture of security within the organization.</a:t>
            </a:r>
          </a:p>
          <a:p>
            <a:pPr fontAlgn="base"/>
            <a:r>
              <a:rPr lang="en-US" b="1" dirty="0"/>
              <a:t>Policy Development</a:t>
            </a:r>
            <a:r>
              <a:rPr lang="en-US" dirty="0"/>
              <a:t>: Developing and implementing </a:t>
            </a:r>
            <a:r>
              <a:rPr lang="en-US" u="sng" dirty="0" err="1">
                <a:hlinkClick r:id="rId8"/>
              </a:rPr>
              <a:t>cybersecurity</a:t>
            </a:r>
            <a:r>
              <a:rPr lang="en-US" u="sng" dirty="0">
                <a:hlinkClick r:id="rId8"/>
              </a:rPr>
              <a:t> policies</a:t>
            </a:r>
            <a:r>
              <a:rPr lang="en-US" dirty="0"/>
              <a:t>, procedures, and guidelines to establish a robust security framework.</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a:solidFill>
                  <a:srgbClr val="FF0000"/>
                </a:solidFill>
              </a:rPr>
              <a:t>Key Digital Forensics Techniques</a:t>
            </a: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3" name="Content Placeholder 2"/>
          <p:cNvSpPr>
            <a:spLocks noGrp="1"/>
          </p:cNvSpPr>
          <p:nvPr>
            <p:ph idx="1"/>
          </p:nvPr>
        </p:nvSpPr>
        <p:spPr>
          <a:xfrm>
            <a:off x="931332" y="1219201"/>
            <a:ext cx="10651067" cy="4906966"/>
          </a:xfrm>
        </p:spPr>
        <p:txBody>
          <a:bodyPr>
            <a:normAutofit fontScale="77500" lnSpcReduction="20000"/>
          </a:bodyPr>
          <a:lstStyle/>
          <a:p>
            <a:r>
              <a:rPr lang="en-US" b="1" dirty="0"/>
              <a:t>Disk Imaging/Acquisition:</a:t>
            </a:r>
            <a:r>
              <a:rPr lang="en-US" dirty="0"/>
              <a:t> Creating bit-by-bit copies of storage media (e.g., hard drives, USBs) to preserve original data, often using FTK Imager or dd.</a:t>
            </a:r>
          </a:p>
          <a:p>
            <a:r>
              <a:rPr lang="en-US" b="1" dirty="0"/>
              <a:t>File Carving:</a:t>
            </a:r>
            <a:r>
              <a:rPr lang="en-US" dirty="0"/>
              <a:t> Recovering deleted files or fragments from unallocated disk space without relying on file system metadata.</a:t>
            </a:r>
          </a:p>
          <a:p>
            <a:r>
              <a:rPr lang="en-US" b="1" dirty="0"/>
              <a:t>Memory Forensics:</a:t>
            </a:r>
            <a:r>
              <a:rPr lang="en-US" dirty="0"/>
              <a:t> Analyzing volatile memory (RAM) to extract information about running processes, network connections, and encryption keys.</a:t>
            </a:r>
          </a:p>
          <a:p>
            <a:r>
              <a:rPr lang="en-US" b="1" dirty="0"/>
              <a:t>Live Data Acquisition:</a:t>
            </a:r>
            <a:r>
              <a:rPr lang="en-US" dirty="0"/>
              <a:t> Capturing data from a running system before shutting it down to prevent the loss of volatile evidence.</a:t>
            </a:r>
          </a:p>
          <a:p>
            <a:r>
              <a:rPr lang="en-US" b="1" dirty="0"/>
              <a:t>Network Forensics:</a:t>
            </a:r>
            <a:r>
              <a:rPr lang="en-US" dirty="0"/>
              <a:t> Monitoring and analyzing traffic to track malicious activity, using tools like </a:t>
            </a:r>
            <a:r>
              <a:rPr lang="en-US" dirty="0" err="1"/>
              <a:t>Wireshark</a:t>
            </a:r>
            <a:r>
              <a:rPr lang="en-US" dirty="0"/>
              <a:t>.</a:t>
            </a:r>
          </a:p>
          <a:p>
            <a:r>
              <a:rPr lang="en-US" b="1" dirty="0"/>
              <a:t>Email &amp; Keyword Analysis:</a:t>
            </a:r>
            <a:r>
              <a:rPr lang="en-US" dirty="0"/>
              <a:t> Searching through emails and metadata to trace communication and recover deleted messages.</a:t>
            </a:r>
          </a:p>
          <a:p>
            <a:r>
              <a:rPr lang="en-US" b="1" dirty="0"/>
              <a:t>Reverse Steganography:</a:t>
            </a:r>
            <a:r>
              <a:rPr lang="en-US" dirty="0"/>
              <a:t> Detecting hidden data within images or other files.</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Top Digital Forensics Tools</a:t>
            </a:r>
            <a:br>
              <a:rPr lang="en-US" b="1"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fontScale="70000" lnSpcReduction="20000"/>
          </a:bodyPr>
          <a:lstStyle/>
          <a:p>
            <a:r>
              <a:rPr lang="en-US" b="1" dirty="0" smtClean="0"/>
              <a:t>Autopsy</a:t>
            </a:r>
            <a:r>
              <a:rPr lang="en-US" b="1" dirty="0"/>
              <a:t>:</a:t>
            </a:r>
            <a:r>
              <a:rPr lang="en-US" dirty="0"/>
              <a:t> An open-source, GUI-based platform for analyzing disk images and generating reports.</a:t>
            </a:r>
          </a:p>
          <a:p>
            <a:r>
              <a:rPr lang="en-US" b="1" dirty="0"/>
              <a:t>Magnet AXIOM:</a:t>
            </a:r>
            <a:r>
              <a:rPr lang="en-US" dirty="0"/>
              <a:t> An advanced platform for collecting and analyzing evidence from computers, smartphones, and cloud services.</a:t>
            </a:r>
          </a:p>
          <a:p>
            <a:r>
              <a:rPr lang="en-US" b="1" dirty="0" err="1"/>
              <a:t>EnCase</a:t>
            </a:r>
            <a:r>
              <a:rPr lang="en-US" b="1" dirty="0"/>
              <a:t>:</a:t>
            </a:r>
            <a:r>
              <a:rPr lang="en-US" dirty="0"/>
              <a:t> A widely used, comprehensive commercial tool for data collection and analysis.</a:t>
            </a:r>
          </a:p>
          <a:p>
            <a:r>
              <a:rPr lang="en-US" b="1" dirty="0"/>
              <a:t>Volatility Framework:</a:t>
            </a:r>
            <a:r>
              <a:rPr lang="en-US" dirty="0"/>
              <a:t> A popular tool for advanced, in-depth memory forensics.</a:t>
            </a:r>
          </a:p>
          <a:p>
            <a:r>
              <a:rPr lang="en-US" b="1" dirty="0"/>
              <a:t>FTK Imager:</a:t>
            </a:r>
            <a:r>
              <a:rPr lang="en-US" dirty="0"/>
              <a:t> Used for creating fast, secure forensic images of files and drives.</a:t>
            </a:r>
          </a:p>
          <a:p>
            <a:r>
              <a:rPr lang="en-US" b="1" dirty="0"/>
              <a:t>Bulk Extractor:</a:t>
            </a:r>
            <a:r>
              <a:rPr lang="en-US" dirty="0"/>
              <a:t> Scans disk images to extract useful information like URLs and email addresses.</a:t>
            </a:r>
          </a:p>
          <a:p>
            <a:r>
              <a:rPr lang="en-US" b="1" dirty="0" err="1"/>
              <a:t>Wireshark</a:t>
            </a:r>
            <a:r>
              <a:rPr lang="en-US" b="1" dirty="0"/>
              <a:t>:</a:t>
            </a:r>
            <a:r>
              <a:rPr lang="en-US" dirty="0"/>
              <a:t> A network protocol analyzer for examining live traffic.</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IN" b="1" dirty="0">
                <a:solidFill>
                  <a:srgbClr val="FF0000"/>
                </a:solidFill>
              </a:rPr>
              <a:t>Evidence Collection</a:t>
            </a:r>
            <a:br>
              <a:rPr lang="en-IN" b="1"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a:bodyPr>
          <a:lstStyle/>
          <a:p>
            <a:pPr algn="just"/>
            <a:r>
              <a:rPr lang="en-US" sz="2400" dirty="0"/>
              <a:t>Digital evidence in cyber forensics refers to electronic data collected and analyzed to investigate cybercrimes and legal cases. It helps forensic experts identify, preserve, and present digital information from computers and other electronic </a:t>
            </a:r>
            <a:r>
              <a:rPr lang="en-US" sz="2400" dirty="0" smtClean="0"/>
              <a:t>devices</a:t>
            </a:r>
            <a:r>
              <a:rPr lang="en-US" sz="2400" dirty="0"/>
              <a:t>.</a:t>
            </a:r>
            <a:endParaRPr lang="en-IN" sz="2400" dirty="0"/>
          </a:p>
        </p:txBody>
      </p:sp>
      <p:pic>
        <p:nvPicPr>
          <p:cNvPr id="409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3190875"/>
            <a:ext cx="7620000"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211667"/>
            <a:ext cx="10482943" cy="5398032"/>
          </a:xfrm>
        </p:spPr>
        <p:txBody>
          <a:bodyPr>
            <a:normAutofit fontScale="47500" lnSpcReduction="20000"/>
          </a:bodyPr>
          <a:lstStyle/>
          <a:p>
            <a:pPr fontAlgn="base"/>
            <a:r>
              <a:rPr lang="en-US" sz="4400" b="1" dirty="0"/>
              <a:t>Data Collection</a:t>
            </a:r>
          </a:p>
          <a:p>
            <a:pPr lvl="1" fontAlgn="base"/>
            <a:r>
              <a:rPr lang="en-US" sz="3300" dirty="0"/>
              <a:t>Identify sources of digital evidence.</a:t>
            </a:r>
          </a:p>
          <a:p>
            <a:pPr lvl="1" fontAlgn="base"/>
            <a:r>
              <a:rPr lang="en-US" sz="3300" dirty="0"/>
              <a:t>Collect data from devices such as computers, mobiles, servers, or storage media.</a:t>
            </a:r>
          </a:p>
          <a:p>
            <a:pPr lvl="1" fontAlgn="base"/>
            <a:r>
              <a:rPr lang="en-US" sz="3300" dirty="0"/>
              <a:t>Ensure original data is not modified during collection.</a:t>
            </a:r>
          </a:p>
          <a:p>
            <a:pPr lvl="1" fontAlgn="base"/>
            <a:r>
              <a:rPr lang="en-US" sz="3300" dirty="0"/>
              <a:t>Use forensic tools to create copies of evidence.</a:t>
            </a:r>
          </a:p>
          <a:p>
            <a:pPr fontAlgn="base"/>
            <a:r>
              <a:rPr lang="en-US" sz="4400" b="1" dirty="0"/>
              <a:t>2. Examination</a:t>
            </a:r>
          </a:p>
          <a:p>
            <a:pPr lvl="1" fontAlgn="base"/>
            <a:r>
              <a:rPr lang="en-US" sz="3300" dirty="0"/>
              <a:t>Carefully inspect the collected data.</a:t>
            </a:r>
          </a:p>
          <a:p>
            <a:pPr lvl="1" fontAlgn="base"/>
            <a:r>
              <a:rPr lang="en-US" sz="3300" dirty="0"/>
              <a:t>Filter relevant information related to the investigation.</a:t>
            </a:r>
          </a:p>
          <a:p>
            <a:pPr lvl="1" fontAlgn="base"/>
            <a:r>
              <a:rPr lang="en-US" sz="3300" dirty="0"/>
              <a:t>Detect hidden, deleted, or encrypted files.</a:t>
            </a:r>
          </a:p>
          <a:p>
            <a:pPr lvl="1" fontAlgn="base"/>
            <a:r>
              <a:rPr lang="en-US" sz="3300" dirty="0"/>
              <a:t>Organize data for further analysis.</a:t>
            </a:r>
          </a:p>
          <a:p>
            <a:pPr fontAlgn="base"/>
            <a:r>
              <a:rPr lang="en-US" sz="4400" b="1" dirty="0"/>
              <a:t>3. Analysis</a:t>
            </a:r>
          </a:p>
          <a:p>
            <a:pPr lvl="1" fontAlgn="base"/>
            <a:r>
              <a:rPr lang="en-US" sz="3300" dirty="0"/>
              <a:t>Use forensic techniques to interpret evidence.</a:t>
            </a:r>
          </a:p>
          <a:p>
            <a:pPr lvl="1" fontAlgn="base"/>
            <a:r>
              <a:rPr lang="en-US" sz="3300" dirty="0"/>
              <a:t>Identify patterns, relationships, or suspicious activities.</a:t>
            </a:r>
          </a:p>
          <a:p>
            <a:pPr lvl="1" fontAlgn="base"/>
            <a:r>
              <a:rPr lang="en-US" sz="3300" dirty="0"/>
              <a:t>Reconstruct events using collected data.</a:t>
            </a:r>
          </a:p>
          <a:p>
            <a:pPr lvl="1" fontAlgn="base"/>
            <a:r>
              <a:rPr lang="en-US" sz="3300" dirty="0"/>
              <a:t>Extract useful information that supports the investigation.</a:t>
            </a:r>
          </a:p>
          <a:p>
            <a:pPr fontAlgn="base"/>
            <a:r>
              <a:rPr lang="en-US" sz="4400" b="1" dirty="0"/>
              <a:t>4. Reporting</a:t>
            </a:r>
          </a:p>
          <a:p>
            <a:pPr lvl="1" fontAlgn="base"/>
            <a:r>
              <a:rPr lang="en-US" sz="3300" dirty="0"/>
              <a:t>Document all findings clearly and accurately.</a:t>
            </a:r>
          </a:p>
          <a:p>
            <a:pPr lvl="1" fontAlgn="base"/>
            <a:r>
              <a:rPr lang="en-US" sz="3300" dirty="0"/>
              <a:t>Present evidence in structured format.</a:t>
            </a:r>
          </a:p>
          <a:p>
            <a:pPr lvl="1" fontAlgn="base"/>
            <a:r>
              <a:rPr lang="en-US" sz="3300" dirty="0"/>
              <a:t>Include details of tools and methods used.</a:t>
            </a:r>
          </a:p>
          <a:p>
            <a:pPr lvl="1" fontAlgn="base"/>
            <a:r>
              <a:rPr lang="en-US" sz="3300" dirty="0"/>
              <a:t>Prepare report for legal authorities or organizations.</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rPr>
              <a:t>Chain of custody</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4" y="1532467"/>
            <a:ext cx="4420810" cy="3908213"/>
          </a:xfrm>
        </p:spPr>
        <p:txBody>
          <a:bodyPr>
            <a:normAutofit fontScale="62500" lnSpcReduction="20000"/>
          </a:bodyPr>
          <a:lstStyle/>
          <a:p>
            <a:pPr algn="just"/>
            <a:r>
              <a:rPr lang="en-US" dirty="0"/>
              <a:t>Chain of custody in digital forensics is the chronological, documented record of evidence handling, from seizure to court presentation. </a:t>
            </a:r>
            <a:endParaRPr lang="en-US" dirty="0" smtClean="0"/>
          </a:p>
          <a:p>
            <a:pPr algn="just"/>
            <a:r>
              <a:rPr lang="en-US" dirty="0" smtClean="0"/>
              <a:t>It </a:t>
            </a:r>
            <a:r>
              <a:rPr lang="en-US" dirty="0"/>
              <a:t>ensures digital evidence remains authentic, unaltered, and admissible by tracking who accessed, transferred, or analyzed it. </a:t>
            </a:r>
            <a:endParaRPr lang="en-US" dirty="0" smtClean="0"/>
          </a:p>
          <a:p>
            <a:pPr algn="just"/>
            <a:r>
              <a:rPr lang="en-US" dirty="0" smtClean="0"/>
              <a:t>Key </a:t>
            </a:r>
            <a:r>
              <a:rPr lang="en-US" dirty="0"/>
              <a:t>steps include identifying, securing, documenting, hashing, and storing data securely to prove its integrity.</a:t>
            </a:r>
            <a:endParaRPr lang="en-IN" dirty="0"/>
          </a:p>
        </p:txBody>
      </p:sp>
      <p:pic>
        <p:nvPicPr>
          <p:cNvPr id="5122" name="Picture 2" descr="Complete Guide to Digital Forensics Chain of Custody ..."/>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58466" y="1296393"/>
            <a:ext cx="5764309" cy="3842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Key Components of Digital Chain of Custody</a:t>
            </a:r>
            <a:r>
              <a:rPr lang="en-US" dirty="0">
                <a:solidFill>
                  <a:srgbClr val="FF0000"/>
                </a:solidFill>
              </a:rPr>
              <a:t/>
            </a:r>
            <a:br>
              <a:rPr lang="en-US"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fontScale="92500" lnSpcReduction="10000"/>
          </a:bodyPr>
          <a:lstStyle/>
          <a:p>
            <a:pPr algn="just"/>
            <a:r>
              <a:rPr lang="en-US" sz="3000" b="1" dirty="0" smtClean="0"/>
              <a:t>Documentation</a:t>
            </a:r>
            <a:r>
              <a:rPr lang="en-US" sz="3000" b="1" dirty="0"/>
              <a:t>:</a:t>
            </a:r>
            <a:r>
              <a:rPr lang="en-US" sz="3000" dirty="0"/>
              <a:t> Detailed, step-by-step logs of every person who handled the evidence, along with the date and time of transfer.</a:t>
            </a:r>
          </a:p>
          <a:p>
            <a:pPr algn="just"/>
            <a:r>
              <a:rPr lang="en-US" sz="3000" b="1" dirty="0"/>
              <a:t>Unique Identifier:</a:t>
            </a:r>
            <a:r>
              <a:rPr lang="en-US" sz="3000" dirty="0"/>
              <a:t> Assigning unique IDs to every piece of evidence (e.g., hard drives, cloud logs).</a:t>
            </a:r>
          </a:p>
          <a:p>
            <a:pPr algn="just"/>
            <a:r>
              <a:rPr lang="en-US" sz="3000" b="1" dirty="0"/>
              <a:t>Hashing:</a:t>
            </a:r>
            <a:r>
              <a:rPr lang="en-US" sz="3000" dirty="0"/>
              <a:t> Using cryptographic algorithms to create a unique file signature (like a fingerprint), ensuring that even a tiny change to the evidence is detectable</a:t>
            </a:r>
            <a:r>
              <a:rPr lang="en-US" sz="3000" dirty="0" smtClean="0"/>
              <a:t>.</a:t>
            </a:r>
          </a:p>
          <a:p>
            <a:pPr algn="just"/>
            <a:r>
              <a:rPr lang="en-US" sz="3000" b="1" dirty="0" smtClean="0"/>
              <a:t>Storage </a:t>
            </a:r>
            <a:r>
              <a:rPr lang="en-US" sz="3000" b="1" dirty="0"/>
              <a:t>and Security:</a:t>
            </a:r>
            <a:r>
              <a:rPr lang="en-US" sz="3000" dirty="0"/>
              <a:t> Physical and digital safeguarding of evidence to prevent unauthorized access or tampering.</a:t>
            </a:r>
            <a:r>
              <a:rPr lang="en-US" dirty="0"/>
              <a:t> </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Steps in the Chain of Custody Process</a:t>
            </a:r>
            <a:r>
              <a:rPr lang="en-US" dirty="0">
                <a:solidFill>
                  <a:srgbClr val="FF0000"/>
                </a:solidFill>
              </a:rPr>
              <a:t/>
            </a:r>
            <a:br>
              <a:rPr lang="en-US"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fontScale="85000" lnSpcReduction="20000"/>
          </a:bodyPr>
          <a:lstStyle/>
          <a:p>
            <a:r>
              <a:rPr lang="en-US" b="1" dirty="0" smtClean="0"/>
              <a:t>Collection</a:t>
            </a:r>
            <a:r>
              <a:rPr lang="en-US" b="1" dirty="0"/>
              <a:t>:</a:t>
            </a:r>
            <a:r>
              <a:rPr lang="en-US" dirty="0"/>
              <a:t> Evidence is collected, and a detailed record of the device, location, and person collecting it is created.</a:t>
            </a:r>
          </a:p>
          <a:p>
            <a:r>
              <a:rPr lang="en-US" b="1" dirty="0"/>
              <a:t>Preservation:</a:t>
            </a:r>
            <a:r>
              <a:rPr lang="en-US" dirty="0"/>
              <a:t> Evidence is protected from alteration (e.g., placing phones in Faraday bags, imaging hard drives).</a:t>
            </a:r>
          </a:p>
          <a:p>
            <a:r>
              <a:rPr lang="en-US" b="1" dirty="0"/>
              <a:t>Documentation:</a:t>
            </a:r>
            <a:r>
              <a:rPr lang="en-US" dirty="0"/>
              <a:t> The </a:t>
            </a:r>
            <a:r>
              <a:rPr lang="en-US" dirty="0">
                <a:hlinkClick r:id="rId7"/>
              </a:rPr>
              <a:t>Chain of Custody Form</a:t>
            </a:r>
            <a:r>
              <a:rPr lang="en-US" dirty="0"/>
              <a:t> must accompany the evidence throughout the investigation.</a:t>
            </a:r>
          </a:p>
          <a:p>
            <a:r>
              <a:rPr lang="en-US" b="1" dirty="0"/>
              <a:t>Analysis:</a:t>
            </a:r>
            <a:r>
              <a:rPr lang="en-US" dirty="0"/>
              <a:t> Analysis is conducted on a copy of the original data, not the original itself.</a:t>
            </a:r>
          </a:p>
          <a:p>
            <a:r>
              <a:rPr lang="en-US" b="1" dirty="0"/>
              <a:t>Presentation:</a:t>
            </a:r>
            <a:r>
              <a:rPr lang="en-US" dirty="0"/>
              <a:t> Evidence is presented in court, where the documentation proves that the evidence is in the same condition as when it was collected. </a:t>
            </a:r>
          </a:p>
          <a:p>
            <a:pPr marL="0" indent="0">
              <a:buNone/>
            </a:pPr>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a:bodyPr>
          <a:lstStyle/>
          <a:p>
            <a:r>
              <a:rPr lang="en-US" b="1" dirty="0"/>
              <a:t>Consequences of a Broken Chain</a:t>
            </a:r>
            <a:r>
              <a:rPr lang="en-US" dirty="0"/>
              <a:t/>
            </a:r>
            <a:br>
              <a:rPr lang="en-US" dirty="0"/>
            </a:br>
            <a:r>
              <a:rPr lang="en-US" dirty="0"/>
              <a:t>A failure to maintain this record (e.g., unauthorized access, gaps in documentation) can render evidence unreliable and inadmissible in court, allowing cases to be dismissed.</a:t>
            </a:r>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Information Technology Act, 2000 (IT Act)</a:t>
            </a:r>
            <a:br>
              <a:rPr lang="en-US" b="1"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fontScale="85000" lnSpcReduction="10000"/>
          </a:bodyPr>
          <a:lstStyle/>
          <a:p>
            <a:pPr fontAlgn="base"/>
            <a:r>
              <a:rPr lang="en-US" dirty="0"/>
              <a:t>The Information Technology Act, 2000 (IT Act) is India’s primary cyber law that provides a legal framework for electronic transactions, digital governance, and the prevention of cyber crimes.</a:t>
            </a:r>
          </a:p>
          <a:p>
            <a:pPr fontAlgn="base"/>
            <a:r>
              <a:rPr lang="en-US" dirty="0"/>
              <a:t>Establishes legal recognition for electronic records and digital signatures</a:t>
            </a:r>
          </a:p>
          <a:p>
            <a:pPr fontAlgn="base"/>
            <a:r>
              <a:rPr lang="en-US" dirty="0"/>
              <a:t>Promotes secure online transactions and e-governance</a:t>
            </a:r>
          </a:p>
          <a:p>
            <a:pPr fontAlgn="base"/>
            <a:r>
              <a:rPr lang="en-US" dirty="0"/>
              <a:t>Defines cyber offences and prescribes penalties</a:t>
            </a:r>
          </a:p>
          <a:p>
            <a:pPr fontAlgn="base"/>
            <a:r>
              <a:rPr lang="en-US" dirty="0"/>
              <a:t>Protects individuals and </a:t>
            </a:r>
            <a:r>
              <a:rPr lang="en-US" dirty="0" err="1"/>
              <a:t>organisations</a:t>
            </a:r>
            <a:r>
              <a:rPr lang="en-US" dirty="0"/>
              <a:t> from cyber threats</a:t>
            </a:r>
          </a:p>
          <a:p>
            <a:pPr fontAlgn="base"/>
            <a:r>
              <a:rPr lang="en-US" dirty="0"/>
              <a:t>Regulates intermediaries and digital platforms</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Key Features of the IT Act</a:t>
            </a:r>
            <a:br>
              <a:rPr lang="en-US" b="1"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016000"/>
            <a:ext cx="10482943" cy="4812983"/>
          </a:xfrm>
        </p:spPr>
        <p:txBody>
          <a:bodyPr>
            <a:normAutofit fontScale="62500" lnSpcReduction="20000"/>
          </a:bodyPr>
          <a:lstStyle/>
          <a:p>
            <a:pPr fontAlgn="base"/>
            <a:r>
              <a:rPr lang="en-US" b="1" dirty="0"/>
              <a:t>1. Digital Signatures</a:t>
            </a:r>
          </a:p>
          <a:p>
            <a:pPr lvl="1" fontAlgn="base"/>
            <a:r>
              <a:rPr lang="en-US" dirty="0"/>
              <a:t>Provides legal recognition to electronic signatures in digital transactions.</a:t>
            </a:r>
          </a:p>
          <a:p>
            <a:pPr lvl="1" fontAlgn="base"/>
            <a:r>
              <a:rPr lang="en-US" dirty="0"/>
              <a:t>Ensures the authenticity and integrity of online contracts and documents.</a:t>
            </a:r>
          </a:p>
          <a:p>
            <a:pPr fontAlgn="base"/>
            <a:r>
              <a:rPr lang="en-US" b="1" dirty="0"/>
              <a:t>2. Cybercrime Regulation</a:t>
            </a:r>
          </a:p>
          <a:p>
            <a:pPr lvl="1" fontAlgn="base"/>
            <a:r>
              <a:rPr lang="en-US" dirty="0"/>
              <a:t>Defines and penalizes offenses like hacking, identity theft, cyber terrorism, and cyber stalking.</a:t>
            </a:r>
          </a:p>
          <a:p>
            <a:pPr lvl="1" fontAlgn="base"/>
            <a:r>
              <a:rPr lang="en-US" dirty="0"/>
              <a:t>Provides legal protection and remedies for victims of cybercrimes.</a:t>
            </a:r>
          </a:p>
          <a:p>
            <a:pPr fontAlgn="base"/>
            <a:r>
              <a:rPr lang="en-US" b="1" dirty="0"/>
              <a:t>3. Cyber Cafes</a:t>
            </a:r>
          </a:p>
          <a:p>
            <a:pPr lvl="1" fontAlgn="base"/>
            <a:r>
              <a:rPr lang="en-US" dirty="0"/>
              <a:t>Defines cyber cafes as public places offering internet access for a fee.</a:t>
            </a:r>
          </a:p>
          <a:p>
            <a:pPr lvl="1" fontAlgn="base"/>
            <a:r>
              <a:rPr lang="en-US" dirty="0"/>
              <a:t>Requires proper user identity records and compliance with security guidelines.</a:t>
            </a:r>
          </a:p>
          <a:p>
            <a:pPr fontAlgn="base"/>
            <a:r>
              <a:rPr lang="en-US" b="1" dirty="0"/>
              <a:t>4. Overriding Provisions</a:t>
            </a:r>
          </a:p>
          <a:p>
            <a:pPr lvl="1" fontAlgn="base"/>
            <a:r>
              <a:rPr lang="en-US" dirty="0"/>
              <a:t>IT Act provisions take precedence over conflicting laws in cyber matters.</a:t>
            </a:r>
          </a:p>
          <a:p>
            <a:pPr lvl="1" fontAlgn="base"/>
            <a:r>
              <a:rPr lang="en-US" dirty="0"/>
              <a:t>Ensures harmony without affecting rights under other acts like the Copyright Act, 1957.</a:t>
            </a:r>
          </a:p>
          <a:p>
            <a:pPr fontAlgn="base"/>
            <a:r>
              <a:rPr lang="en-US" b="1" dirty="0"/>
              <a:t>5. Regulation of Digital Media</a:t>
            </a:r>
          </a:p>
          <a:p>
            <a:pPr lvl="1" fontAlgn="base"/>
            <a:r>
              <a:rPr lang="en-US" dirty="0"/>
              <a:t>Introduces rules for regulating social media and digital content platforms.</a:t>
            </a:r>
          </a:p>
          <a:p>
            <a:pPr lvl="1" fontAlgn="base"/>
            <a:r>
              <a:rPr lang="en-US" dirty="0"/>
              <a:t>Focuses on user safety, grievance </a:t>
            </a:r>
            <a:r>
              <a:rPr lang="en-US" dirty="0" err="1"/>
              <a:t>redressal</a:t>
            </a:r>
            <a:r>
              <a:rPr lang="en-US" dirty="0"/>
              <a:t>, and data privacy compliance.</a:t>
            </a:r>
          </a:p>
          <a:p>
            <a:pPr marL="0" indent="0">
              <a:buNone/>
            </a:pPr>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Important Sections and Their Penalties</a:t>
            </a:r>
            <a:r>
              <a:rPr lang="en-US" b="1" dirty="0"/>
              <a:t/>
            </a:r>
            <a:br>
              <a:rPr lang="en-US" b="1" dirty="0"/>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956733"/>
            <a:ext cx="10482943" cy="4652966"/>
          </a:xfrm>
        </p:spPr>
        <p:txBody>
          <a:bodyPr>
            <a:normAutofit/>
          </a:bodyPr>
          <a:lstStyle/>
          <a:p>
            <a:pPr fontAlgn="base"/>
            <a:r>
              <a:rPr lang="en-US" dirty="0" smtClean="0"/>
              <a:t>The </a:t>
            </a:r>
            <a:r>
              <a:rPr lang="en-US" dirty="0"/>
              <a:t>IT Act has different sections that deal with different cyber offenses. Here's an overview of some important ones:</a:t>
            </a:r>
          </a:p>
          <a:p>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157489239"/>
              </p:ext>
            </p:extLst>
          </p:nvPr>
        </p:nvGraphicFramePr>
        <p:xfrm>
          <a:off x="2023534" y="2209799"/>
          <a:ext cx="8127999" cy="3997960"/>
        </p:xfrm>
        <a:graphic>
          <a:graphicData uri="http://schemas.openxmlformats.org/drawingml/2006/table">
            <a:tbl>
              <a:tblPr firstRow="1" bandRow="1">
                <a:tableStyleId>{21E4AEA4-8DFA-4A89-87EB-49C32662AFE0}</a:tableStyleId>
              </a:tblPr>
              <a:tblGrid>
                <a:gridCol w="2709333"/>
                <a:gridCol w="2709333"/>
                <a:gridCol w="2709333"/>
              </a:tblGrid>
              <a:tr h="370840">
                <a:tc>
                  <a:txBody>
                    <a:bodyPr/>
                    <a:lstStyle/>
                    <a:p>
                      <a:pPr algn="ctr" fontAlgn="base"/>
                      <a:r>
                        <a:rPr lang="en-IN" sz="1600" dirty="0">
                          <a:effectLst/>
                        </a:rPr>
                        <a:t>Section</a:t>
                      </a:r>
                      <a:endParaRPr lang="en-IN" sz="1600" b="1" dirty="0">
                        <a:effectLst/>
                        <a:latin typeface="Nunito"/>
                      </a:endParaRPr>
                    </a:p>
                  </a:txBody>
                  <a:tcPr marL="38100" marR="38100" marT="63500" marB="63500" anchor="ctr"/>
                </a:tc>
                <a:tc>
                  <a:txBody>
                    <a:bodyPr/>
                    <a:lstStyle/>
                    <a:p>
                      <a:pPr algn="ctr" fontAlgn="base"/>
                      <a:r>
                        <a:rPr lang="en-IN" sz="1600">
                          <a:effectLst/>
                        </a:rPr>
                        <a:t>Offense</a:t>
                      </a:r>
                      <a:endParaRPr lang="en-IN" sz="1600" b="1">
                        <a:effectLst/>
                        <a:latin typeface="Nunito"/>
                      </a:endParaRPr>
                    </a:p>
                  </a:txBody>
                  <a:tcPr marL="63500" marR="63500" marT="63500" marB="63500" anchor="ctr"/>
                </a:tc>
                <a:tc>
                  <a:txBody>
                    <a:bodyPr/>
                    <a:lstStyle/>
                    <a:p>
                      <a:pPr algn="ctr" fontAlgn="base"/>
                      <a:r>
                        <a:rPr lang="en-IN" sz="1600">
                          <a:effectLst/>
                        </a:rPr>
                        <a:t>Penalty</a:t>
                      </a:r>
                      <a:endParaRPr lang="en-IN" sz="1600" b="1">
                        <a:effectLst/>
                        <a:latin typeface="Nunito"/>
                      </a:endParaRPr>
                    </a:p>
                  </a:txBody>
                  <a:tcPr marL="63500" marR="63500" marT="63500" marB="63500" anchor="ctr"/>
                </a:tc>
              </a:tr>
              <a:tr h="370840">
                <a:tc>
                  <a:txBody>
                    <a:bodyPr/>
                    <a:lstStyle/>
                    <a:p>
                      <a:pPr algn="ctr" fontAlgn="ctr"/>
                      <a:r>
                        <a:rPr lang="en-IN" sz="1400" dirty="0">
                          <a:effectLst/>
                        </a:rPr>
                        <a:t>Section 43</a:t>
                      </a:r>
                      <a:endParaRPr lang="en-IN" sz="1400" b="0" dirty="0">
                        <a:effectLst/>
                        <a:latin typeface="Nunito"/>
                      </a:endParaRPr>
                    </a:p>
                  </a:txBody>
                  <a:tcPr marL="63500" marR="63500" marT="88900" marB="88900" anchor="ctr"/>
                </a:tc>
                <a:tc>
                  <a:txBody>
                    <a:bodyPr/>
                    <a:lstStyle/>
                    <a:p>
                      <a:pPr algn="ctr" fontAlgn="ctr"/>
                      <a:r>
                        <a:rPr lang="en-US" sz="1400" dirty="0">
                          <a:effectLst/>
                        </a:rPr>
                        <a:t>Unauthorized access or damage to computer systems</a:t>
                      </a:r>
                      <a:endParaRPr lang="en-US" sz="1400" b="0" dirty="0">
                        <a:effectLst/>
                        <a:latin typeface="Nunito"/>
                      </a:endParaRPr>
                    </a:p>
                  </a:txBody>
                  <a:tcPr marL="63500" marR="63500" marT="88900" marB="88900" anchor="ctr"/>
                </a:tc>
                <a:tc>
                  <a:txBody>
                    <a:bodyPr/>
                    <a:lstStyle/>
                    <a:p>
                      <a:pPr algn="ctr" fontAlgn="ctr"/>
                      <a:r>
                        <a:rPr lang="en-US" sz="1400">
                          <a:effectLst/>
                        </a:rPr>
                        <a:t>Compensation for damages to the system owner</a:t>
                      </a:r>
                      <a:endParaRPr lang="en-US" sz="1400" b="0">
                        <a:effectLst/>
                        <a:latin typeface="Nunito"/>
                      </a:endParaRPr>
                    </a:p>
                  </a:txBody>
                  <a:tcPr marL="63500" marR="63500" marT="88900" marB="88900" anchor="ctr"/>
                </a:tc>
              </a:tr>
              <a:tr h="370840">
                <a:tc>
                  <a:txBody>
                    <a:bodyPr/>
                    <a:lstStyle/>
                    <a:p>
                      <a:pPr algn="ctr" fontAlgn="ctr"/>
                      <a:r>
                        <a:rPr lang="en-IN" sz="1400">
                          <a:effectLst/>
                        </a:rPr>
                        <a:t>Section 66</a:t>
                      </a:r>
                      <a:endParaRPr lang="en-IN" sz="1400" b="0">
                        <a:effectLst/>
                        <a:latin typeface="Nunito"/>
                      </a:endParaRPr>
                    </a:p>
                  </a:txBody>
                  <a:tcPr marL="63500" marR="63500" marT="88900" marB="88900" anchor="ctr"/>
                </a:tc>
                <a:tc>
                  <a:txBody>
                    <a:bodyPr/>
                    <a:lstStyle/>
                    <a:p>
                      <a:pPr algn="ctr" fontAlgn="ctr"/>
                      <a:r>
                        <a:rPr lang="en-IN" sz="1400" dirty="0">
                          <a:effectLst/>
                        </a:rPr>
                        <a:t>Hacking a computer system</a:t>
                      </a:r>
                      <a:endParaRPr lang="en-IN" sz="1400" b="0" dirty="0">
                        <a:effectLst/>
                        <a:latin typeface="Nunito"/>
                      </a:endParaRPr>
                    </a:p>
                  </a:txBody>
                  <a:tcPr marL="63500" marR="63500" marT="88900" marB="88900" anchor="ctr"/>
                </a:tc>
                <a:tc>
                  <a:txBody>
                    <a:bodyPr/>
                    <a:lstStyle/>
                    <a:p>
                      <a:pPr algn="ctr" fontAlgn="ctr"/>
                      <a:r>
                        <a:rPr lang="en-US" sz="1400">
                          <a:effectLst/>
                        </a:rPr>
                        <a:t>Up to 3 years in prison or ₹5 lakh fine or both</a:t>
                      </a:r>
                      <a:endParaRPr lang="en-US" sz="1400" b="0">
                        <a:effectLst/>
                        <a:latin typeface="Nunito"/>
                      </a:endParaRPr>
                    </a:p>
                  </a:txBody>
                  <a:tcPr marL="63500" marR="63500" marT="88900" marB="88900" anchor="ctr"/>
                </a:tc>
              </a:tr>
              <a:tr h="370840">
                <a:tc>
                  <a:txBody>
                    <a:bodyPr/>
                    <a:lstStyle/>
                    <a:p>
                      <a:pPr algn="ctr" fontAlgn="ctr"/>
                      <a:r>
                        <a:rPr lang="en-IN" sz="1400">
                          <a:effectLst/>
                        </a:rPr>
                        <a:t>Section 66B, C, D</a:t>
                      </a:r>
                      <a:endParaRPr lang="en-IN" sz="1400" b="0">
                        <a:effectLst/>
                        <a:latin typeface="Nunito"/>
                      </a:endParaRPr>
                    </a:p>
                  </a:txBody>
                  <a:tcPr marL="63500" marR="63500" marT="88900" marB="88900" anchor="ctr"/>
                </a:tc>
                <a:tc>
                  <a:txBody>
                    <a:bodyPr/>
                    <a:lstStyle/>
                    <a:p>
                      <a:pPr algn="ctr" fontAlgn="ctr"/>
                      <a:r>
                        <a:rPr lang="en-IN" sz="1400" dirty="0">
                          <a:effectLst/>
                        </a:rPr>
                        <a:t>Fraud and identity theft</a:t>
                      </a:r>
                      <a:endParaRPr lang="en-IN" sz="1400" b="0" dirty="0">
                        <a:effectLst/>
                        <a:latin typeface="Nunito"/>
                      </a:endParaRPr>
                    </a:p>
                  </a:txBody>
                  <a:tcPr marL="63500" marR="63500" marT="88900" marB="88900" anchor="ctr"/>
                </a:tc>
                <a:tc>
                  <a:txBody>
                    <a:bodyPr/>
                    <a:lstStyle/>
                    <a:p>
                      <a:pPr algn="ctr" fontAlgn="ctr"/>
                      <a:r>
                        <a:rPr lang="en-US" sz="1400">
                          <a:effectLst/>
                        </a:rPr>
                        <a:t>Up to 3 years in prison or ₹1 lakh fine or both</a:t>
                      </a:r>
                      <a:endParaRPr lang="en-US" sz="1400" b="0">
                        <a:effectLst/>
                        <a:latin typeface="Nunito"/>
                      </a:endParaRPr>
                    </a:p>
                  </a:txBody>
                  <a:tcPr marL="63500" marR="63500" marT="88900" marB="88900" anchor="ctr"/>
                </a:tc>
              </a:tr>
              <a:tr h="370840">
                <a:tc>
                  <a:txBody>
                    <a:bodyPr/>
                    <a:lstStyle/>
                    <a:p>
                      <a:pPr algn="ctr" fontAlgn="ctr"/>
                      <a:r>
                        <a:rPr lang="en-IN" sz="1400">
                          <a:effectLst/>
                        </a:rPr>
                        <a:t>Section 66E</a:t>
                      </a:r>
                      <a:endParaRPr lang="en-IN" sz="1400" b="0">
                        <a:effectLst/>
                        <a:latin typeface="Nunito"/>
                      </a:endParaRPr>
                    </a:p>
                  </a:txBody>
                  <a:tcPr marL="63500" marR="63500" marT="88900" marB="88900" anchor="ctr"/>
                </a:tc>
                <a:tc>
                  <a:txBody>
                    <a:bodyPr/>
                    <a:lstStyle/>
                    <a:p>
                      <a:pPr algn="ctr" fontAlgn="ctr"/>
                      <a:r>
                        <a:rPr lang="en-US" sz="1400" dirty="0">
                          <a:effectLst/>
                        </a:rPr>
                        <a:t>Violation of privacy by transmitting private images</a:t>
                      </a:r>
                      <a:endParaRPr lang="en-US" sz="1400" b="0" dirty="0">
                        <a:effectLst/>
                        <a:latin typeface="Nunito"/>
                      </a:endParaRPr>
                    </a:p>
                  </a:txBody>
                  <a:tcPr marL="63500" marR="63500" marT="88900" marB="88900" anchor="ctr"/>
                </a:tc>
                <a:tc>
                  <a:txBody>
                    <a:bodyPr/>
                    <a:lstStyle/>
                    <a:p>
                      <a:pPr algn="ctr" fontAlgn="ctr"/>
                      <a:r>
                        <a:rPr lang="en-US" sz="1400" dirty="0">
                          <a:effectLst/>
                        </a:rPr>
                        <a:t>Up to 3 years in prison or ₹2 lakh fine or both</a:t>
                      </a:r>
                      <a:endParaRPr lang="en-US" sz="1400" b="0" dirty="0">
                        <a:effectLst/>
                        <a:latin typeface="Nunito"/>
                      </a:endParaRPr>
                    </a:p>
                  </a:txBody>
                  <a:tcPr marL="63500" marR="63500" marT="88900" marB="88900" anchor="ctr"/>
                </a:tc>
              </a:tr>
              <a:tr h="370840">
                <a:tc>
                  <a:txBody>
                    <a:bodyPr/>
                    <a:lstStyle/>
                    <a:p>
                      <a:pPr algn="ctr" fontAlgn="ctr"/>
                      <a:r>
                        <a:rPr lang="en-IN" sz="1400">
                          <a:effectLst/>
                        </a:rPr>
                        <a:t>Section 66F</a:t>
                      </a:r>
                      <a:endParaRPr lang="en-IN" sz="1400" b="0">
                        <a:effectLst/>
                        <a:latin typeface="Nunito"/>
                      </a:endParaRPr>
                    </a:p>
                  </a:txBody>
                  <a:tcPr marL="63500" marR="63500" marT="88900" marB="88900" anchor="ctr"/>
                </a:tc>
                <a:tc>
                  <a:txBody>
                    <a:bodyPr/>
                    <a:lstStyle/>
                    <a:p>
                      <a:pPr algn="ctr" fontAlgn="ctr"/>
                      <a:r>
                        <a:rPr lang="en-US" sz="1400">
                          <a:effectLst/>
                        </a:rPr>
                        <a:t>Cyber terrorism threatening India’s sovereignty, integrity, or security</a:t>
                      </a:r>
                      <a:endParaRPr lang="en-US" sz="1400" b="0">
                        <a:effectLst/>
                        <a:latin typeface="Nunito"/>
                      </a:endParaRPr>
                    </a:p>
                  </a:txBody>
                  <a:tcPr marL="63500" marR="63500" marT="88900" marB="88900" anchor="ctr"/>
                </a:tc>
                <a:tc>
                  <a:txBody>
                    <a:bodyPr/>
                    <a:lstStyle/>
                    <a:p>
                      <a:pPr algn="ctr" fontAlgn="ctr"/>
                      <a:r>
                        <a:rPr lang="en-IN" sz="1400" dirty="0">
                          <a:effectLst/>
                        </a:rPr>
                        <a:t>Life imprisonment</a:t>
                      </a:r>
                      <a:endParaRPr lang="en-IN" sz="1400" b="0" dirty="0">
                        <a:effectLst/>
                        <a:latin typeface="Nunito"/>
                      </a:endParaRPr>
                    </a:p>
                  </a:txBody>
                  <a:tcPr marL="63500" marR="63500" marT="88900" marB="88900" anchor="ctr"/>
                </a:tc>
              </a:tr>
              <a:tr h="370840">
                <a:tc>
                  <a:txBody>
                    <a:bodyPr/>
                    <a:lstStyle/>
                    <a:p>
                      <a:pPr algn="ctr" fontAlgn="ctr"/>
                      <a:r>
                        <a:rPr lang="en-IN" sz="1400">
                          <a:effectLst/>
                        </a:rPr>
                        <a:t>Section 67</a:t>
                      </a:r>
                      <a:endParaRPr lang="en-IN" sz="1400" b="0">
                        <a:effectLst/>
                        <a:latin typeface="Nunito"/>
                      </a:endParaRPr>
                    </a:p>
                  </a:txBody>
                  <a:tcPr marL="63500" marR="63500" marT="88900" marB="88900" anchor="ctr"/>
                </a:tc>
                <a:tc>
                  <a:txBody>
                    <a:bodyPr/>
                    <a:lstStyle/>
                    <a:p>
                      <a:pPr algn="ctr" fontAlgn="ctr"/>
                      <a:r>
                        <a:rPr lang="en-US" sz="1400">
                          <a:effectLst/>
                        </a:rPr>
                        <a:t>Publication of obscene content online</a:t>
                      </a:r>
                      <a:endParaRPr lang="en-US" sz="1400" b="0">
                        <a:effectLst/>
                        <a:latin typeface="Nunito"/>
                      </a:endParaRPr>
                    </a:p>
                  </a:txBody>
                  <a:tcPr marL="63500" marR="63500" marT="88900" marB="88900" anchor="ctr"/>
                </a:tc>
                <a:tc>
                  <a:txBody>
                    <a:bodyPr/>
                    <a:lstStyle/>
                    <a:p>
                      <a:pPr algn="ctr" fontAlgn="ctr"/>
                      <a:r>
                        <a:rPr lang="en-US" sz="1400" dirty="0">
                          <a:effectLst/>
                        </a:rPr>
                        <a:t>Up to 5 years in prison or ₹10 lakh fine or both</a:t>
                      </a:r>
                      <a:endParaRPr lang="en-US" sz="1400" b="0" dirty="0">
                        <a:effectLst/>
                        <a:latin typeface="Nunito"/>
                      </a:endParaRPr>
                    </a:p>
                  </a:txBody>
                  <a:tcPr marL="63500" marR="63500" marT="88900" marB="88900" anchor="ctr"/>
                </a:tc>
              </a:tr>
            </a:tbl>
          </a:graphicData>
        </a:graphic>
      </p:graphicFrame>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hlinkClick r:id="rId3"/>
              </a:rPr>
              <a:t>Digital Personal Data Protection (DPDP) Act</a:t>
            </a:r>
            <a:endParaRPr lang="en-IN" b="1" dirty="0">
              <a:solidFill>
                <a:srgbClr val="FF0000"/>
              </a:solidFill>
            </a:endParaRPr>
          </a:p>
        </p:txBody>
      </p:sp>
      <p:pic>
        <p:nvPicPr>
          <p:cNvPr id="137" name="Google Shape;137;p6"/>
          <p:cNvPicPr preferRelativeResize="0"/>
          <p:nvPr/>
        </p:nvPicPr>
        <p:blipFill rotWithShape="1">
          <a:blip r:embed="rId4">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5">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6">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7">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fontScale="92500"/>
          </a:bodyPr>
          <a:lstStyle/>
          <a:p>
            <a:r>
              <a:rPr lang="en-US" dirty="0"/>
              <a:t>The </a:t>
            </a:r>
            <a:r>
              <a:rPr lang="en-US" dirty="0" smtClean="0">
                <a:hlinkClick r:id="rId3"/>
              </a:rPr>
              <a:t>Digital Personal Data Protection (DPDP) Act, </a:t>
            </a:r>
            <a:r>
              <a:rPr lang="en-US" dirty="0">
                <a:hlinkClick r:id="rId3"/>
              </a:rPr>
              <a:t>2023</a:t>
            </a:r>
            <a:r>
              <a:rPr lang="en-US" dirty="0"/>
              <a:t>, enacted in August 2023 and strengthened by the DPDP Rules, 2025, creates a framework for protecting digital personal data in India. </a:t>
            </a:r>
            <a:endParaRPr lang="en-US" dirty="0" smtClean="0"/>
          </a:p>
          <a:p>
            <a:r>
              <a:rPr lang="en-US" dirty="0" smtClean="0"/>
              <a:t>It </a:t>
            </a:r>
            <a:r>
              <a:rPr lang="en-US" dirty="0"/>
              <a:t>regulates data processing—online or offline if digitized—by ensuring lawful use, consent, and user rights, with penalties for breaches. </a:t>
            </a:r>
            <a:endParaRPr lang="en-US" dirty="0" smtClean="0"/>
          </a:p>
          <a:p>
            <a:r>
              <a:rPr lang="en-US" dirty="0" smtClean="0"/>
              <a:t>The </a:t>
            </a:r>
            <a:r>
              <a:rPr lang="en-US" dirty="0"/>
              <a:t>law applies to data processing within India and outside if offering goods/services to residents.</a:t>
            </a:r>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Key Highlights of the DPDP Act, </a:t>
            </a:r>
            <a:r>
              <a:rPr lang="en-US" b="1" dirty="0" smtClean="0">
                <a:solidFill>
                  <a:srgbClr val="FF0000"/>
                </a:solidFill>
              </a:rPr>
              <a:t>2023</a:t>
            </a:r>
            <a:r>
              <a:rPr lang="en-US" dirty="0">
                <a:solidFill>
                  <a:srgbClr val="FF0000"/>
                </a:solidFill>
              </a:rPr>
              <a:t/>
            </a:r>
            <a:br>
              <a:rPr lang="en-US"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024467"/>
            <a:ext cx="10482943" cy="4585232"/>
          </a:xfrm>
        </p:spPr>
        <p:txBody>
          <a:bodyPr>
            <a:normAutofit fontScale="55000" lnSpcReduction="20000"/>
          </a:bodyPr>
          <a:lstStyle/>
          <a:p>
            <a:pPr algn="just"/>
            <a:r>
              <a:rPr lang="en-US" b="1" dirty="0" smtClean="0"/>
              <a:t>Data </a:t>
            </a:r>
            <a:r>
              <a:rPr lang="en-US" b="1" dirty="0"/>
              <a:t>Principal Rights:</a:t>
            </a:r>
            <a:r>
              <a:rPr lang="en-US" dirty="0"/>
              <a:t> Individuals (Data Principals) have the right to access, correct, erase, and withdraw consent for their data</a:t>
            </a:r>
            <a:r>
              <a:rPr lang="en-US" dirty="0" smtClean="0"/>
              <a:t>.</a:t>
            </a:r>
          </a:p>
          <a:p>
            <a:pPr algn="just"/>
            <a:endParaRPr lang="en-US" dirty="0"/>
          </a:p>
          <a:p>
            <a:pPr algn="just"/>
            <a:r>
              <a:rPr lang="en-US" b="1" dirty="0"/>
              <a:t>Data Fiduciary Obligations:</a:t>
            </a:r>
            <a:r>
              <a:rPr lang="en-US" dirty="0"/>
              <a:t> Entities handling data (Data Fiduciaries) must provide notice, obtain clear consent, ensure data accuracy, and delete data once the purpose is met</a:t>
            </a:r>
            <a:r>
              <a:rPr lang="en-US" dirty="0" smtClean="0"/>
              <a:t>.</a:t>
            </a:r>
          </a:p>
          <a:p>
            <a:pPr algn="just"/>
            <a:endParaRPr lang="en-US" dirty="0"/>
          </a:p>
          <a:p>
            <a:pPr algn="just"/>
            <a:r>
              <a:rPr lang="en-US" b="1" dirty="0"/>
              <a:t>Child Protection:</a:t>
            </a:r>
            <a:r>
              <a:rPr lang="en-US" dirty="0"/>
              <a:t> Processing data of individuals under 18 requires parental consent, and targeting children with harmful advertising is prohibited</a:t>
            </a:r>
            <a:r>
              <a:rPr lang="en-US" dirty="0" smtClean="0"/>
              <a:t>.</a:t>
            </a:r>
          </a:p>
          <a:p>
            <a:pPr algn="just"/>
            <a:endParaRPr lang="en-US" dirty="0" smtClean="0"/>
          </a:p>
          <a:p>
            <a:pPr algn="just"/>
            <a:r>
              <a:rPr lang="en-US" b="1" dirty="0" smtClean="0"/>
              <a:t>Significant </a:t>
            </a:r>
            <a:r>
              <a:rPr lang="en-US" b="1" dirty="0"/>
              <a:t>Data Fiduciaries (SDF):</a:t>
            </a:r>
            <a:r>
              <a:rPr lang="en-US" dirty="0"/>
              <a:t> The government can designate certain entities as SDFs, requiring them to appoint a data protection officer, conduct impact assessments, and independent audits</a:t>
            </a:r>
            <a:r>
              <a:rPr lang="en-US" dirty="0" smtClean="0"/>
              <a:t>.</a:t>
            </a:r>
          </a:p>
          <a:p>
            <a:pPr algn="just"/>
            <a:endParaRPr lang="en-US" dirty="0" smtClean="0"/>
          </a:p>
          <a:p>
            <a:pPr algn="just"/>
            <a:r>
              <a:rPr lang="en-US" b="1" dirty="0" smtClean="0"/>
              <a:t>Penalties</a:t>
            </a:r>
            <a:r>
              <a:rPr lang="en-US" b="1" dirty="0"/>
              <a:t>:</a:t>
            </a:r>
            <a:r>
              <a:rPr lang="en-US" dirty="0"/>
              <a:t> Data breaches can lead to substantial penalties, with fines up to ₹250 </a:t>
            </a:r>
            <a:r>
              <a:rPr lang="en-US" dirty="0" err="1"/>
              <a:t>crore</a:t>
            </a:r>
            <a:r>
              <a:rPr lang="en-US" dirty="0"/>
              <a:t> for failure to prevent data breaches</a:t>
            </a:r>
            <a:r>
              <a:rPr lang="en-US" dirty="0" smtClean="0"/>
              <a:t>.</a:t>
            </a:r>
          </a:p>
          <a:p>
            <a:pPr algn="just"/>
            <a:endParaRPr lang="en-US" dirty="0" smtClean="0"/>
          </a:p>
          <a:p>
            <a:pPr algn="just"/>
            <a:r>
              <a:rPr lang="en-US" b="1" dirty="0" smtClean="0"/>
              <a:t>Data </a:t>
            </a:r>
            <a:r>
              <a:rPr lang="en-US" b="1" dirty="0"/>
              <a:t>Protection Board of India:</a:t>
            </a:r>
            <a:r>
              <a:rPr lang="en-US" dirty="0"/>
              <a:t> A regulatory body will be established to monitor compliance, hear grievances, and impose penalties.</a:t>
            </a:r>
          </a:p>
          <a:p>
            <a:pPr algn="just"/>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International Cyber-Security laws/frameworks – GDPR, </a:t>
            </a:r>
            <a:r>
              <a:rPr lang="en-US" b="1" dirty="0" smtClean="0">
                <a:solidFill>
                  <a:srgbClr val="FF0000"/>
                </a:solidFill>
              </a:rPr>
              <a:t>HIPAA</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fontScale="92500"/>
          </a:bodyPr>
          <a:lstStyle/>
          <a:p>
            <a:r>
              <a:rPr lang="en-US" dirty="0"/>
              <a:t>GDPR </a:t>
            </a:r>
            <a:r>
              <a:rPr lang="en-US" dirty="0" smtClean="0"/>
              <a:t>and HIPPA are </a:t>
            </a:r>
            <a:r>
              <a:rPr lang="en-US" dirty="0"/>
              <a:t>critical, distinct </a:t>
            </a:r>
            <a:r>
              <a:rPr lang="en-US" dirty="0" err="1"/>
              <a:t>cybersecurity</a:t>
            </a:r>
            <a:r>
              <a:rPr lang="en-US" dirty="0"/>
              <a:t> regulations: GDPR is a broad EU regulation protecting personal data for any entity handling EU resident data, while HIPAA is a U.S. law focusing specifically on securing patient health information (PHI) within the American healthcare industry. </a:t>
            </a:r>
            <a:endParaRPr lang="en-US" dirty="0" smtClean="0"/>
          </a:p>
          <a:p>
            <a:r>
              <a:rPr lang="en-US" dirty="0" smtClean="0"/>
              <a:t>Both </a:t>
            </a:r>
            <a:r>
              <a:rPr lang="en-US" dirty="0"/>
              <a:t>mandate strict data protection and breach reporting, often requiring specialized compliance frameworks like ISO 27001 or NIST.</a:t>
            </a:r>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IN" b="1" dirty="0" smtClean="0"/>
              <a:t/>
            </a:r>
            <a:br>
              <a:rPr lang="en-IN" b="1" dirty="0" smtClean="0"/>
            </a:br>
            <a:r>
              <a:rPr lang="en-IN" b="1" dirty="0" smtClean="0">
                <a:solidFill>
                  <a:srgbClr val="FF0000"/>
                </a:solidFill>
              </a:rPr>
              <a:t>Key </a:t>
            </a:r>
            <a:r>
              <a:rPr lang="en-IN" b="1" dirty="0">
                <a:solidFill>
                  <a:srgbClr val="FF0000"/>
                </a:solidFill>
              </a:rPr>
              <a:t>International </a:t>
            </a:r>
            <a:r>
              <a:rPr lang="en-IN" b="1" dirty="0" err="1">
                <a:solidFill>
                  <a:srgbClr val="FF0000"/>
                </a:solidFill>
              </a:rPr>
              <a:t>Cybersecurity</a:t>
            </a:r>
            <a:r>
              <a:rPr lang="en-IN" b="1" dirty="0">
                <a:solidFill>
                  <a:srgbClr val="FF0000"/>
                </a:solidFill>
              </a:rPr>
              <a:t> Regulations</a:t>
            </a:r>
            <a:r>
              <a:rPr lang="en-IN" b="1" dirty="0"/>
              <a:t/>
            </a:r>
            <a:br>
              <a:rPr lang="en-IN" b="1" dirty="0"/>
            </a:br>
            <a:r>
              <a:rPr lang="en-IN" dirty="0"/>
              <a:t/>
            </a:r>
            <a:br>
              <a:rPr lang="en-IN" dirty="0"/>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a:bodyPr>
          <a:lstStyle/>
          <a:p>
            <a:r>
              <a:rPr lang="en-US" b="1" dirty="0"/>
              <a:t>GDPR (General Data Protection Regulation):</a:t>
            </a:r>
            <a:endParaRPr lang="en-US" dirty="0"/>
          </a:p>
          <a:p>
            <a:pPr lvl="1"/>
            <a:r>
              <a:rPr lang="en-US" b="1" dirty="0"/>
              <a:t>Scope:</a:t>
            </a:r>
            <a:r>
              <a:rPr lang="en-US" dirty="0"/>
              <a:t> Protects personal data of EU/EEA residents.</a:t>
            </a:r>
          </a:p>
          <a:p>
            <a:pPr lvl="1"/>
            <a:r>
              <a:rPr lang="en-US" b="1" dirty="0"/>
              <a:t>Application:</a:t>
            </a:r>
            <a:r>
              <a:rPr lang="en-US" dirty="0"/>
              <a:t> Extraterritorial; applies to any organization worldwide that processes EU resident data.</a:t>
            </a:r>
          </a:p>
          <a:p>
            <a:pPr lvl="1"/>
            <a:r>
              <a:rPr lang="en-US" b="1" dirty="0"/>
              <a:t>Requirements:</a:t>
            </a:r>
            <a:r>
              <a:rPr lang="en-US" dirty="0"/>
              <a:t> Lawful basis for processing, privacy notices, 72-hour breach notification, and strict data subject rights.</a:t>
            </a:r>
          </a:p>
          <a:p>
            <a:pPr lvl="1"/>
            <a:r>
              <a:rPr lang="en-US" b="1" dirty="0"/>
              <a:t>Penalties:</a:t>
            </a:r>
            <a:r>
              <a:rPr lang="en-US" dirty="0"/>
              <a:t> Up to €20M or 4% of global annual turnover.</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HIPAA (Health Insurance Portability and Accountability Act):</a:t>
            </a:r>
            <a:r>
              <a:rPr lang="en-US" dirty="0">
                <a:solidFill>
                  <a:srgbClr val="FF0000"/>
                </a:solidFill>
              </a:rPr>
              <a:t/>
            </a:r>
            <a:br>
              <a:rPr lang="en-US"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a:bodyPr>
          <a:lstStyle/>
          <a:p>
            <a:pPr lvl="1"/>
            <a:r>
              <a:rPr lang="en-US" b="1" dirty="0" smtClean="0"/>
              <a:t>Scope</a:t>
            </a:r>
            <a:r>
              <a:rPr lang="en-US" b="1" dirty="0"/>
              <a:t>:</a:t>
            </a:r>
            <a:r>
              <a:rPr lang="en-US" dirty="0"/>
              <a:t> Protects Protected Health Information (PHI) in the United States.</a:t>
            </a:r>
          </a:p>
          <a:p>
            <a:pPr lvl="1"/>
            <a:r>
              <a:rPr lang="en-US" b="1" dirty="0"/>
              <a:t>Application:</a:t>
            </a:r>
            <a:r>
              <a:rPr lang="en-US" dirty="0"/>
              <a:t> Covers healthcare providers, health plans, and their business associates.</a:t>
            </a:r>
          </a:p>
          <a:p>
            <a:pPr lvl="1"/>
            <a:r>
              <a:rPr lang="en-US" b="1" dirty="0"/>
              <a:t>Requirements:</a:t>
            </a:r>
            <a:r>
              <a:rPr lang="en-US" dirty="0"/>
              <a:t> Administrative, physical, and technical safeguards, along with a breach notification rule.</a:t>
            </a:r>
          </a:p>
          <a:p>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fontScale="90000"/>
          </a:bodyPr>
          <a:lstStyle/>
          <a:p>
            <a:r>
              <a:rPr lang="en-US" b="1" dirty="0">
                <a:solidFill>
                  <a:srgbClr val="FF0000"/>
                </a:solidFill>
              </a:rPr>
              <a:t>Key Differences Between GDPR and HIPAA</a:t>
            </a:r>
            <a:br>
              <a:rPr lang="en-US" b="1" dirty="0">
                <a:solidFill>
                  <a:srgbClr val="FF0000"/>
                </a:solidFill>
              </a:rPr>
            </a:b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graphicFrame>
        <p:nvGraphicFramePr>
          <p:cNvPr id="3" name="Content Placeholder 2"/>
          <p:cNvGraphicFramePr>
            <a:graphicFrameLocks noGrp="1"/>
          </p:cNvGraphicFramePr>
          <p:nvPr>
            <p:ph idx="1"/>
            <p:extLst>
              <p:ext uri="{D42A27DB-BD31-4B8C-83A1-F6EECF244321}">
                <p14:modId xmlns:p14="http://schemas.microsoft.com/office/powerpoint/2010/main" val="2025133592"/>
              </p:ext>
            </p:extLst>
          </p:nvPr>
        </p:nvGraphicFramePr>
        <p:xfrm>
          <a:off x="1540932" y="894654"/>
          <a:ext cx="10015539" cy="5070913"/>
        </p:xfrm>
        <a:graphic>
          <a:graphicData uri="http://schemas.openxmlformats.org/drawingml/2006/table">
            <a:tbl>
              <a:tblPr firstRow="1" bandRow="1">
                <a:tableStyleId>{5C22544A-7EE6-4342-B048-85BDC9FD1C3A}</a:tableStyleId>
              </a:tblPr>
              <a:tblGrid>
                <a:gridCol w="3338513"/>
                <a:gridCol w="3338513"/>
                <a:gridCol w="3338513"/>
              </a:tblGrid>
              <a:tr h="464066">
                <a:tc>
                  <a:txBody>
                    <a:bodyPr/>
                    <a:lstStyle/>
                    <a:p>
                      <a:pPr algn="ctr" fontAlgn="t"/>
                      <a:r>
                        <a:rPr lang="en-IN" sz="1600" b="1" i="0" u="none" strike="noStrike" dirty="0">
                          <a:solidFill>
                            <a:srgbClr val="000000"/>
                          </a:solidFill>
                          <a:effectLst/>
                          <a:latin typeface="Inter"/>
                        </a:rPr>
                        <a:t>Aspect</a:t>
                      </a:r>
                      <a:endParaRPr lang="en-IN" sz="1600" b="0" i="0" u="none" strike="noStrike" dirty="0">
                        <a:solidFill>
                          <a:srgbClr val="C8161D"/>
                        </a:solidFill>
                        <a:effectLst/>
                        <a:latin typeface="Inter"/>
                      </a:endParaRPr>
                    </a:p>
                  </a:txBody>
                  <a:tcPr marL="114300" marR="114300" marT="114300" marB="114300"/>
                </a:tc>
                <a:tc>
                  <a:txBody>
                    <a:bodyPr/>
                    <a:lstStyle/>
                    <a:p>
                      <a:pPr algn="ctr" fontAlgn="t"/>
                      <a:r>
                        <a:rPr lang="en-IN" sz="1600" b="1" i="0" u="none" strike="noStrike">
                          <a:solidFill>
                            <a:srgbClr val="000000"/>
                          </a:solidFill>
                          <a:effectLst/>
                          <a:latin typeface="Inter"/>
                        </a:rPr>
                        <a:t>GDPR</a:t>
                      </a:r>
                      <a:endParaRPr lang="en-IN" sz="1600" b="0" i="0" u="none" strike="noStrike">
                        <a:solidFill>
                          <a:srgbClr val="C8161D"/>
                        </a:solidFill>
                        <a:effectLst/>
                        <a:latin typeface="Inter"/>
                      </a:endParaRPr>
                    </a:p>
                  </a:txBody>
                  <a:tcPr marL="114300" marR="114300" marT="114300" marB="114300"/>
                </a:tc>
                <a:tc>
                  <a:txBody>
                    <a:bodyPr/>
                    <a:lstStyle/>
                    <a:p>
                      <a:pPr algn="ctr" fontAlgn="t"/>
                      <a:r>
                        <a:rPr lang="en-IN" sz="1600" b="1" i="0" u="none" strike="noStrike">
                          <a:solidFill>
                            <a:srgbClr val="000000"/>
                          </a:solidFill>
                          <a:effectLst/>
                          <a:latin typeface="Inter"/>
                        </a:rPr>
                        <a:t>HIPAA</a:t>
                      </a:r>
                      <a:endParaRPr lang="en-IN" sz="1600" b="0" i="0" u="none" strike="noStrike">
                        <a:solidFill>
                          <a:srgbClr val="C8161D"/>
                        </a:solidFill>
                        <a:effectLst/>
                        <a:latin typeface="Inter"/>
                      </a:endParaRPr>
                    </a:p>
                  </a:txBody>
                  <a:tcPr marL="114300" marR="114300" marT="114300" marB="114300"/>
                </a:tc>
              </a:tr>
              <a:tr h="717193">
                <a:tc>
                  <a:txBody>
                    <a:bodyPr/>
                    <a:lstStyle/>
                    <a:p>
                      <a:pPr fontAlgn="t"/>
                      <a:r>
                        <a:rPr lang="en-IN" sz="1600" b="1" i="0" u="none" strike="noStrike" dirty="0">
                          <a:solidFill>
                            <a:srgbClr val="000000"/>
                          </a:solidFill>
                          <a:effectLst/>
                          <a:latin typeface="Inter"/>
                        </a:rPr>
                        <a:t>Type of data protected</a:t>
                      </a:r>
                      <a:endParaRPr lang="en-IN" sz="1600" b="0" i="0" u="none" strike="noStrike" dirty="0">
                        <a:solidFill>
                          <a:srgbClr val="C8161D"/>
                        </a:solidFill>
                        <a:effectLst/>
                        <a:latin typeface="Inter"/>
                      </a:endParaRPr>
                    </a:p>
                  </a:txBody>
                  <a:tcPr marL="114300" marR="114300" marT="114300" marB="114300"/>
                </a:tc>
                <a:tc>
                  <a:txBody>
                    <a:bodyPr/>
                    <a:lstStyle/>
                    <a:p>
                      <a:pPr fontAlgn="t"/>
                      <a:r>
                        <a:rPr lang="en-US" sz="1600" b="0" i="0" u="none" strike="noStrike" dirty="0">
                          <a:solidFill>
                            <a:schemeClr val="tx1"/>
                          </a:solidFill>
                          <a:effectLst/>
                          <a:latin typeface="Inter"/>
                        </a:rPr>
                        <a:t>All personal data (name, email, IP address, location, etc.)</a:t>
                      </a:r>
                    </a:p>
                  </a:txBody>
                  <a:tcPr marL="114300" marR="114300" marT="114300" marB="114300"/>
                </a:tc>
                <a:tc>
                  <a:txBody>
                    <a:bodyPr/>
                    <a:lstStyle/>
                    <a:p>
                      <a:pPr fontAlgn="t"/>
                      <a:r>
                        <a:rPr lang="en-US" sz="1600" b="0" i="0" u="none" strike="noStrike">
                          <a:solidFill>
                            <a:schemeClr val="tx1"/>
                          </a:solidFill>
                          <a:effectLst/>
                          <a:latin typeface="Inter"/>
                        </a:rPr>
                        <a:t>Protected Health Information (PHI) related to healthcare</a:t>
                      </a:r>
                    </a:p>
                  </a:txBody>
                  <a:tcPr marL="114300" marR="114300" marT="114300" marB="114300"/>
                </a:tc>
              </a:tr>
              <a:tr h="970320">
                <a:tc>
                  <a:txBody>
                    <a:bodyPr/>
                    <a:lstStyle/>
                    <a:p>
                      <a:pPr fontAlgn="t"/>
                      <a:r>
                        <a:rPr lang="en-IN" sz="1600" b="1" i="0" u="none" strike="noStrike">
                          <a:solidFill>
                            <a:srgbClr val="000000"/>
                          </a:solidFill>
                          <a:effectLst/>
                          <a:latin typeface="Inter"/>
                        </a:rPr>
                        <a:t>Jurisdiction</a:t>
                      </a:r>
                      <a:endParaRPr lang="en-IN" sz="1600" b="0" i="0" u="none" strike="noStrike">
                        <a:solidFill>
                          <a:srgbClr val="C8161D"/>
                        </a:solidFill>
                        <a:effectLst/>
                        <a:latin typeface="Inter"/>
                      </a:endParaRPr>
                    </a:p>
                  </a:txBody>
                  <a:tcPr marL="114300" marR="114300" marT="114300" marB="114300"/>
                </a:tc>
                <a:tc>
                  <a:txBody>
                    <a:bodyPr/>
                    <a:lstStyle/>
                    <a:p>
                      <a:pPr fontAlgn="t"/>
                      <a:r>
                        <a:rPr lang="en-US" sz="1600" b="0" i="0" u="none" strike="noStrike" dirty="0">
                          <a:solidFill>
                            <a:schemeClr val="tx1"/>
                          </a:solidFill>
                          <a:effectLst/>
                          <a:latin typeface="Inter"/>
                        </a:rPr>
                        <a:t>Applies to data of EU residents, even if processed outside the EU</a:t>
                      </a:r>
                    </a:p>
                  </a:txBody>
                  <a:tcPr marL="114300" marR="114300" marT="114300" marB="114300"/>
                </a:tc>
                <a:tc>
                  <a:txBody>
                    <a:bodyPr/>
                    <a:lstStyle/>
                    <a:p>
                      <a:pPr fontAlgn="t"/>
                      <a:r>
                        <a:rPr lang="en-US" sz="1600" b="0" i="0" u="none" strike="noStrike">
                          <a:solidFill>
                            <a:schemeClr val="tx1"/>
                          </a:solidFill>
                          <a:effectLst/>
                          <a:latin typeface="Inter"/>
                        </a:rPr>
                        <a:t>Applies to U.S. healthcare providers, insurers, and their vendors</a:t>
                      </a:r>
                    </a:p>
                  </a:txBody>
                  <a:tcPr marL="114300" marR="114300" marT="114300" marB="114300"/>
                </a:tc>
              </a:tr>
              <a:tr h="970320">
                <a:tc>
                  <a:txBody>
                    <a:bodyPr/>
                    <a:lstStyle/>
                    <a:p>
                      <a:pPr fontAlgn="t"/>
                      <a:r>
                        <a:rPr lang="en-IN" sz="1600" b="1" i="0" u="none" strike="noStrike">
                          <a:solidFill>
                            <a:srgbClr val="000000"/>
                          </a:solidFill>
                          <a:effectLst/>
                          <a:latin typeface="Inter"/>
                        </a:rPr>
                        <a:t>Consent mechanisms</a:t>
                      </a:r>
                      <a:endParaRPr lang="en-IN" sz="1600" b="0" i="0" u="none" strike="noStrike">
                        <a:solidFill>
                          <a:srgbClr val="C8161D"/>
                        </a:solidFill>
                        <a:effectLst/>
                        <a:latin typeface="Inter"/>
                      </a:endParaRPr>
                    </a:p>
                  </a:txBody>
                  <a:tcPr marL="114300" marR="114300" marT="114300" marB="114300"/>
                </a:tc>
                <a:tc>
                  <a:txBody>
                    <a:bodyPr/>
                    <a:lstStyle/>
                    <a:p>
                      <a:pPr fontAlgn="t"/>
                      <a:r>
                        <a:rPr lang="en-US" sz="1600" b="0" i="0" u="none" strike="noStrike" dirty="0">
                          <a:solidFill>
                            <a:schemeClr val="tx1"/>
                          </a:solidFill>
                          <a:effectLst/>
                          <a:latin typeface="Inter"/>
                        </a:rPr>
                        <a:t>Requires clear, informed, and explicit consent for data collection</a:t>
                      </a:r>
                    </a:p>
                  </a:txBody>
                  <a:tcPr marL="114300" marR="114300" marT="114300" marB="114300"/>
                </a:tc>
                <a:tc>
                  <a:txBody>
                    <a:bodyPr/>
                    <a:lstStyle/>
                    <a:p>
                      <a:pPr fontAlgn="t"/>
                      <a:r>
                        <a:rPr lang="en-US" sz="1600" b="0" i="0" u="none" strike="noStrike" dirty="0">
                          <a:solidFill>
                            <a:schemeClr val="tx1"/>
                          </a:solidFill>
                          <a:effectLst/>
                          <a:latin typeface="Inter"/>
                        </a:rPr>
                        <a:t>Consent depends on treatment, payment, or healthcare operations</a:t>
                      </a:r>
                    </a:p>
                  </a:txBody>
                  <a:tcPr marL="114300" marR="114300" marT="114300" marB="114300"/>
                </a:tc>
              </a:tr>
              <a:tr h="970320">
                <a:tc>
                  <a:txBody>
                    <a:bodyPr/>
                    <a:lstStyle/>
                    <a:p>
                      <a:pPr fontAlgn="t"/>
                      <a:r>
                        <a:rPr lang="en-IN" sz="1600" b="1" i="0" u="none" strike="noStrike">
                          <a:solidFill>
                            <a:srgbClr val="000000"/>
                          </a:solidFill>
                          <a:effectLst/>
                          <a:latin typeface="Inter"/>
                        </a:rPr>
                        <a:t>Enforcement and penalties</a:t>
                      </a:r>
                      <a:endParaRPr lang="en-IN" sz="1600" b="0" i="0" u="none" strike="noStrike">
                        <a:solidFill>
                          <a:srgbClr val="C8161D"/>
                        </a:solidFill>
                        <a:effectLst/>
                        <a:latin typeface="Inter"/>
                      </a:endParaRPr>
                    </a:p>
                  </a:txBody>
                  <a:tcPr marL="114300" marR="114300" marT="114300" marB="114300"/>
                </a:tc>
                <a:tc>
                  <a:txBody>
                    <a:bodyPr/>
                    <a:lstStyle/>
                    <a:p>
                      <a:pPr fontAlgn="t"/>
                      <a:r>
                        <a:rPr lang="en-US" sz="1600" b="0" i="0" u="none" strike="noStrike" dirty="0">
                          <a:solidFill>
                            <a:schemeClr val="tx1"/>
                          </a:solidFill>
                          <a:effectLst/>
                          <a:latin typeface="Inter"/>
                        </a:rPr>
                        <a:t>Fines can go up to €20 million ($23 million) or 4% of global revenue</a:t>
                      </a:r>
                    </a:p>
                  </a:txBody>
                  <a:tcPr marL="114300" marR="114300" marT="114300" marB="114300"/>
                </a:tc>
                <a:tc>
                  <a:txBody>
                    <a:bodyPr/>
                    <a:lstStyle/>
                    <a:p>
                      <a:pPr fontAlgn="t"/>
                      <a:r>
                        <a:rPr lang="en-US" sz="1600" b="0" i="0" u="none" strike="noStrike" dirty="0">
                          <a:solidFill>
                            <a:schemeClr val="tx1"/>
                          </a:solidFill>
                          <a:effectLst/>
                          <a:latin typeface="Inter"/>
                        </a:rPr>
                        <a:t>Tiered penalties ranging from $100 to $1.5 million per violation</a:t>
                      </a:r>
                    </a:p>
                  </a:txBody>
                  <a:tcPr marL="114300" marR="114300" marT="114300" marB="114300"/>
                </a:tc>
              </a:tr>
              <a:tr h="970320">
                <a:tc>
                  <a:txBody>
                    <a:bodyPr/>
                    <a:lstStyle/>
                    <a:p>
                      <a:pPr fontAlgn="t"/>
                      <a:r>
                        <a:rPr lang="en-IN" sz="1600" b="1" i="0" u="none" strike="noStrike" dirty="0">
                          <a:solidFill>
                            <a:srgbClr val="000000"/>
                          </a:solidFill>
                          <a:effectLst/>
                          <a:latin typeface="Inter"/>
                        </a:rPr>
                        <a:t>Data subject rights</a:t>
                      </a:r>
                      <a:endParaRPr lang="en-IN" sz="1600" b="0" i="0" u="none" strike="noStrike" dirty="0">
                        <a:solidFill>
                          <a:srgbClr val="C8161D"/>
                        </a:solidFill>
                        <a:effectLst/>
                        <a:latin typeface="Inter"/>
                      </a:endParaRPr>
                    </a:p>
                  </a:txBody>
                  <a:tcPr marL="114300" marR="114300" marT="114300" marB="114300"/>
                </a:tc>
                <a:tc>
                  <a:txBody>
                    <a:bodyPr/>
                    <a:lstStyle/>
                    <a:p>
                      <a:pPr fontAlgn="t"/>
                      <a:r>
                        <a:rPr lang="en-US" sz="1600" b="0" i="0" u="none" strike="noStrike">
                          <a:solidFill>
                            <a:schemeClr val="tx1"/>
                          </a:solidFill>
                          <a:effectLst/>
                          <a:latin typeface="Inter"/>
                        </a:rPr>
                        <a:t>Right to access, correct, delete, restrict, and transfer data</a:t>
                      </a:r>
                    </a:p>
                  </a:txBody>
                  <a:tcPr marL="114300" marR="114300" marT="114300" marB="114300"/>
                </a:tc>
                <a:tc>
                  <a:txBody>
                    <a:bodyPr/>
                    <a:lstStyle/>
                    <a:p>
                      <a:pPr fontAlgn="t"/>
                      <a:r>
                        <a:rPr lang="en-US" sz="1600" b="0" i="0" u="none" strike="noStrike" dirty="0">
                          <a:solidFill>
                            <a:schemeClr val="tx1"/>
                          </a:solidFill>
                          <a:effectLst/>
                          <a:latin typeface="Inter"/>
                        </a:rPr>
                        <a:t>Right to access and request corrections to health data (PHI) only</a:t>
                      </a:r>
                    </a:p>
                  </a:txBody>
                  <a:tcPr marL="114300" marR="114300" marT="114300" marB="114300"/>
                </a:tc>
              </a:tr>
            </a:tbl>
          </a:graphicData>
        </a:graphic>
      </p:graphicFrame>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rPr>
              <a:t>Intellectual Property Rights</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fontScale="92500" lnSpcReduction="10000"/>
          </a:bodyPr>
          <a:lstStyle/>
          <a:p>
            <a:pPr algn="just"/>
            <a:r>
              <a:rPr lang="en-US" dirty="0" smtClean="0"/>
              <a:t>Intellectual </a:t>
            </a:r>
            <a:r>
              <a:rPr lang="en-US" dirty="0"/>
              <a:t>Property Rights (IPR) are legal protections for creations of the mind, crucial for fostering innovation, branding, and protecting unique regional products. </a:t>
            </a:r>
            <a:endParaRPr lang="en-US" dirty="0" smtClean="0"/>
          </a:p>
          <a:p>
            <a:pPr algn="just"/>
            <a:r>
              <a:rPr lang="en-US" dirty="0" smtClean="0"/>
              <a:t>Key </a:t>
            </a:r>
            <a:r>
              <a:rPr lang="en-US" dirty="0"/>
              <a:t>types include patents (inventions), copyrights (creative works), trademarks (brand identifiers), trade secrets (confidential info), and geographical indications (origin-based quality). </a:t>
            </a:r>
            <a:endParaRPr lang="en-US" dirty="0" smtClean="0"/>
          </a:p>
          <a:p>
            <a:pPr algn="just"/>
            <a:r>
              <a:rPr lang="en-US" dirty="0" smtClean="0"/>
              <a:t>Piracy </a:t>
            </a:r>
            <a:r>
              <a:rPr lang="en-US" dirty="0"/>
              <a:t>is the unauthorized reproduction/use of copyrighted content.</a:t>
            </a:r>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US" b="1" dirty="0">
                <a:solidFill>
                  <a:srgbClr val="FF0000"/>
                </a:solidFill>
              </a:rPr>
              <a:t>Core Intellectual Property Rights (IPR)</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fontScale="70000" lnSpcReduction="20000"/>
          </a:bodyPr>
          <a:lstStyle/>
          <a:p>
            <a:r>
              <a:rPr lang="en-US" b="1" dirty="0"/>
              <a:t>Patents (Inventions): </a:t>
            </a:r>
            <a:r>
              <a:rPr lang="en-US" dirty="0"/>
              <a:t>Exclusive rights granted for new inventions (products or processes) that are novel, non-obvious, and useful, usually for 20 years.</a:t>
            </a:r>
          </a:p>
          <a:p>
            <a:r>
              <a:rPr lang="en-US" b="1" dirty="0"/>
              <a:t>Copyrights (Original Works): </a:t>
            </a:r>
            <a:r>
              <a:rPr lang="en-US" dirty="0"/>
              <a:t>Protects expressions of ideas, including literary, dramatic, musical, and artistic works, software, and films. In India, it covers the author's lifetime plus 60 years.</a:t>
            </a:r>
          </a:p>
          <a:p>
            <a:r>
              <a:rPr lang="en-US" b="1" dirty="0"/>
              <a:t>Trademarks (Brand Identity): </a:t>
            </a:r>
            <a:r>
              <a:rPr lang="en-US" dirty="0"/>
              <a:t>Signs, logos, names, or symbols used to distinguish goods or services of one enterprise from others, renewable indefinitely.</a:t>
            </a:r>
          </a:p>
          <a:p>
            <a:r>
              <a:rPr lang="en-US" b="1" dirty="0"/>
              <a:t>Trade Secrets (Confidential Information): </a:t>
            </a:r>
            <a:r>
              <a:rPr lang="en-US" dirty="0"/>
              <a:t>Formulae, practices, or methods that provide a competitive edge and are kept confidential.</a:t>
            </a:r>
          </a:p>
          <a:p>
            <a:r>
              <a:rPr lang="en-US" b="1" dirty="0"/>
              <a:t>Geographical Indications (GI) (Region-Specific): </a:t>
            </a:r>
            <a:r>
              <a:rPr lang="en-US" dirty="0"/>
              <a:t>Identifies goods (agricultural, natural, or manufactured) having a unique quality or reputation linked to a specific region (e.g., Darjeeling tea</a:t>
            </a:r>
            <a:r>
              <a:rPr lang="en-US" dirty="0" smtClean="0"/>
              <a:t>)</a:t>
            </a:r>
            <a:r>
              <a:rPr lang="en-IN" dirty="0"/>
              <a:t>.</a:t>
            </a:r>
            <a:endParaRPr lang="en-US"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r>
              <a:rPr lang="en-IN" b="1" dirty="0" smtClean="0">
                <a:solidFill>
                  <a:srgbClr val="FF0000"/>
                </a:solidFill>
              </a:rPr>
              <a:t>Case Studies</a:t>
            </a:r>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a:bodyPr>
          <a:lstStyle/>
          <a:p>
            <a:r>
              <a:rPr lang="en-IN" dirty="0">
                <a:hlinkClick r:id="rId7"/>
              </a:rPr>
              <a:t>https://</a:t>
            </a:r>
            <a:r>
              <a:rPr lang="en-IN" dirty="0" smtClean="0">
                <a:hlinkClick r:id="rId7"/>
              </a:rPr>
              <a:t>digitaldefynd.com/IQ/cybersecurity-case-studies/</a:t>
            </a:r>
            <a:endParaRPr lang="en-IN" dirty="0" smtClean="0"/>
          </a:p>
          <a:p>
            <a:r>
              <a:rPr lang="en-IN" dirty="0">
                <a:hlinkClick r:id="rId8"/>
              </a:rPr>
              <a:t>https://</a:t>
            </a:r>
            <a:r>
              <a:rPr lang="en-IN" dirty="0" smtClean="0">
                <a:hlinkClick r:id="rId8"/>
              </a:rPr>
              <a:t>www.blackpanda.com/casestudies</a:t>
            </a:r>
            <a:endParaRPr lang="en-IN" dirty="0" smtClean="0"/>
          </a:p>
          <a:p>
            <a:r>
              <a:rPr lang="en-IN" dirty="0">
                <a:hlinkClick r:id="rId9"/>
              </a:rPr>
              <a:t>https://notiondigitalforensics.com.au/cases</a:t>
            </a:r>
            <a:r>
              <a:rPr lang="en-IN" dirty="0" smtClean="0">
                <a:hlinkClick r:id="rId9"/>
              </a:rPr>
              <a:t>/</a:t>
            </a:r>
            <a:endParaRPr lang="en-IN" dirty="0" smtClean="0"/>
          </a:p>
          <a:p>
            <a:pPr marL="0" indent="0">
              <a:buNone/>
            </a:pPr>
            <a:endParaRPr lang="en-IN" dirty="0"/>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4" name="Title 3"/>
          <p:cNvSpPr>
            <a:spLocks noGrp="1"/>
          </p:cNvSpPr>
          <p:nvPr>
            <p:ph type="title"/>
          </p:nvPr>
        </p:nvSpPr>
        <p:spPr>
          <a:xfrm>
            <a:off x="968828" y="274638"/>
            <a:ext cx="10613571" cy="1143000"/>
          </a:xfrm>
        </p:spPr>
        <p:txBody>
          <a:bodyPr>
            <a:normAutofit/>
          </a:bodyPr>
          <a:lstStyle/>
          <a:p>
            <a:endParaRPr lang="en-IN" b="1" dirty="0">
              <a:solidFill>
                <a:srgbClr val="FF0000"/>
              </a:solidFill>
            </a:endParaRPr>
          </a:p>
        </p:txBody>
      </p:sp>
      <p:pic>
        <p:nvPicPr>
          <p:cNvPr id="137" name="Google Shape;137;p6"/>
          <p:cNvPicPr preferRelativeResize="0"/>
          <p:nvPr/>
        </p:nvPicPr>
        <p:blipFill rotWithShape="1">
          <a:blip r:embed="rId3">
            <a:alphaModFix/>
          </a:blip>
          <a:srcRect/>
          <a:stretch/>
        </p:blipFill>
        <p:spPr>
          <a:xfrm>
            <a:off x="606" y="2221"/>
            <a:ext cx="566959" cy="6855781"/>
          </a:xfrm>
          <a:prstGeom prst="rect">
            <a:avLst/>
          </a:prstGeom>
          <a:noFill/>
          <a:ln>
            <a:noFill/>
          </a:ln>
        </p:spPr>
      </p:pic>
      <p:pic>
        <p:nvPicPr>
          <p:cNvPr id="138" name="Google Shape;138;p6"/>
          <p:cNvPicPr preferRelativeResize="0"/>
          <p:nvPr/>
        </p:nvPicPr>
        <p:blipFill rotWithShape="1">
          <a:blip r:embed="rId4">
            <a:alphaModFix/>
          </a:blip>
          <a:srcRect/>
          <a:stretch/>
        </p:blipFill>
        <p:spPr>
          <a:xfrm>
            <a:off x="567564" y="0"/>
            <a:ext cx="209677" cy="5440680"/>
          </a:xfrm>
          <a:prstGeom prst="rect">
            <a:avLst/>
          </a:prstGeom>
          <a:noFill/>
          <a:ln>
            <a:noFill/>
          </a:ln>
        </p:spPr>
      </p:pic>
      <p:pic>
        <p:nvPicPr>
          <p:cNvPr id="139" name="Google Shape;139;p6" descr="A close up of a sign&#10;&#10;Description automatically generated"/>
          <p:cNvPicPr preferRelativeResize="0"/>
          <p:nvPr/>
        </p:nvPicPr>
        <p:blipFill rotWithShape="1">
          <a:blip r:embed="rId5">
            <a:alphaModFix/>
          </a:blip>
          <a:srcRect/>
          <a:stretch/>
        </p:blipFill>
        <p:spPr>
          <a:xfrm>
            <a:off x="10835240" y="5830823"/>
            <a:ext cx="868683" cy="647487"/>
          </a:xfrm>
          <a:prstGeom prst="rect">
            <a:avLst/>
          </a:prstGeom>
          <a:noFill/>
          <a:ln>
            <a:noFill/>
          </a:ln>
        </p:spPr>
      </p:pic>
      <p:pic>
        <p:nvPicPr>
          <p:cNvPr id="140" name="Google Shape;140;p6" descr="A picture containing drawing&#10;&#10;Description automatically generated"/>
          <p:cNvPicPr preferRelativeResize="0"/>
          <p:nvPr/>
        </p:nvPicPr>
        <p:blipFill rotWithShape="1">
          <a:blip r:embed="rId6">
            <a:alphaModFix/>
          </a:blip>
          <a:srcRect/>
          <a:stretch/>
        </p:blipFill>
        <p:spPr>
          <a:xfrm>
            <a:off x="777240" y="5828983"/>
            <a:ext cx="2655568" cy="663892"/>
          </a:xfrm>
          <a:prstGeom prst="rect">
            <a:avLst/>
          </a:prstGeom>
          <a:noFill/>
          <a:ln>
            <a:noFill/>
          </a:ln>
        </p:spPr>
      </p:pic>
      <p:sp>
        <p:nvSpPr>
          <p:cNvPr id="2" name="Content Placeholder 1"/>
          <p:cNvSpPr>
            <a:spLocks noGrp="1"/>
          </p:cNvSpPr>
          <p:nvPr>
            <p:ph idx="1"/>
          </p:nvPr>
        </p:nvSpPr>
        <p:spPr>
          <a:xfrm>
            <a:off x="1158723" y="1532467"/>
            <a:ext cx="10482943" cy="4077232"/>
          </a:xfrm>
        </p:spPr>
        <p:txBody>
          <a:bodyPr>
            <a:normAutofit/>
          </a:bodyPr>
          <a:lstStyle/>
          <a:p>
            <a:pPr marL="0" indent="0">
              <a:buNone/>
            </a:pPr>
            <a:r>
              <a:rPr lang="en-IN" sz="4400" b="1" dirty="0" smtClean="0">
                <a:solidFill>
                  <a:srgbClr val="FF0000"/>
                </a:solidFill>
              </a:rPr>
              <a:t>                            </a:t>
            </a:r>
          </a:p>
          <a:p>
            <a:pPr marL="0" indent="0">
              <a:buNone/>
            </a:pPr>
            <a:endParaRPr lang="en-IN" sz="4400" b="1" dirty="0">
              <a:solidFill>
                <a:srgbClr val="FF0000"/>
              </a:solidFill>
            </a:endParaRPr>
          </a:p>
          <a:p>
            <a:pPr marL="0" indent="0">
              <a:buNone/>
            </a:pPr>
            <a:r>
              <a:rPr lang="en-IN" sz="4400" b="1" dirty="0" smtClean="0">
                <a:solidFill>
                  <a:srgbClr val="FF0000"/>
                </a:solidFill>
              </a:rPr>
              <a:t>                               Thank You!</a:t>
            </a:r>
            <a:endParaRPr lang="en-IN" sz="4400" b="1" dirty="0">
              <a:solidFill>
                <a:srgbClr val="FF0000"/>
              </a:solidFill>
            </a:endParaRPr>
          </a:p>
        </p:txBody>
      </p:sp>
    </p:spTree>
    <p:extLst>
      <p:ext uri="{BB962C8B-B14F-4D97-AF65-F5344CB8AC3E}">
        <p14:creationId xmlns:p14="http://schemas.microsoft.com/office/powerpoint/2010/main" val="29156573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20481</TotalTime>
  <Words>1422</Words>
  <Application>Microsoft Office PowerPoint</Application>
  <PresentationFormat>Custom</PresentationFormat>
  <Paragraphs>220</Paragraphs>
  <Slides>29</Slides>
  <Notes>28</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Incident Response, Forensics &amp; Cyber Laws</vt:lpstr>
      <vt:lpstr>Incident Response Life Cycle</vt:lpstr>
      <vt:lpstr>PowerPoint Presentation</vt:lpstr>
      <vt:lpstr>PowerPoint Presentation</vt:lpstr>
      <vt:lpstr>PowerPoint Presentation</vt:lpstr>
      <vt:lpstr>Computer Emergency Response Team (CERT)</vt:lpstr>
      <vt:lpstr>PowerPoint Presentation</vt:lpstr>
      <vt:lpstr>Roles and Responsibilities of CERT </vt:lpstr>
      <vt:lpstr>Key Digital Forensics Techniques</vt:lpstr>
      <vt:lpstr>Top Digital Forensics Tools </vt:lpstr>
      <vt:lpstr>Evidence Collection </vt:lpstr>
      <vt:lpstr>PowerPoint Presentation</vt:lpstr>
      <vt:lpstr>Chain of custody</vt:lpstr>
      <vt:lpstr>Key Components of Digital Chain of Custody </vt:lpstr>
      <vt:lpstr>Steps in the Chain of Custody Process </vt:lpstr>
      <vt:lpstr>PowerPoint Presentation</vt:lpstr>
      <vt:lpstr>Information Technology Act, 2000 (IT Act) </vt:lpstr>
      <vt:lpstr>Key Features of the IT Act </vt:lpstr>
      <vt:lpstr>Important Sections and Their Penalties </vt:lpstr>
      <vt:lpstr>Digital Personal Data Protection (DPDP) Act</vt:lpstr>
      <vt:lpstr>Key Highlights of the DPDP Act, 2023 </vt:lpstr>
      <vt:lpstr>International Cyber-Security laws/frameworks – GDPR, HIPAA</vt:lpstr>
      <vt:lpstr> Key International Cybersecurity Regulations  </vt:lpstr>
      <vt:lpstr>HIPAA (Health Insurance Portability and Accountability Act): </vt:lpstr>
      <vt:lpstr>Key Differences Between GDPR and HIPAA </vt:lpstr>
      <vt:lpstr>Intellectual Property Rights</vt:lpstr>
      <vt:lpstr>Core Intellectual Property Rights (IPR)</vt:lpstr>
      <vt:lpstr>Case Studies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Dr.Anushree Deshmukh</dc:creator>
  <cp:lastModifiedBy>Dr.Anushree Deshmukh</cp:lastModifiedBy>
  <cp:revision>76</cp:revision>
  <dcterms:created xsi:type="dcterms:W3CDTF">2020-04-30T07:52:47Z</dcterms:created>
  <dcterms:modified xsi:type="dcterms:W3CDTF">2026-04-22T04:20:56Z</dcterms:modified>
</cp:coreProperties>
</file>