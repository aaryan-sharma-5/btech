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Dela Gothic One" panose="020B0604020202020204" charset="-128"/>
      <p:regular r:id="rId14"/>
    </p:embeddedFont>
    <p:embeddedFont>
      <p:font typeface="Montserrat Bold" panose="020B0604020202020204" charset="0"/>
      <p:regular r:id="rId15"/>
    </p:embeddedFont>
    <p:embeddedFont>
      <p:font typeface="Montserrat Light" panose="00000400000000000000" pitchFamily="2" charset="0"/>
      <p:regular r:id="rId16"/>
    </p:embeddedFont>
    <p:embeddedFont>
      <p:font typeface="Source Sans 3" panose="020B0604020202020204" charset="0"/>
      <p:regular r:id="rId17"/>
    </p:embeddedFont>
    <p:embeddedFont>
      <p:font typeface="Source Sans 3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6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sv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4.sv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430000" y="1028700"/>
            <a:ext cx="6858000" cy="8229600"/>
            <a:chOff x="0" y="0"/>
            <a:chExt cx="9144000" cy="109728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0972800"/>
            </a:xfrm>
            <a:custGeom>
              <a:avLst/>
              <a:gdLst/>
              <a:ahLst/>
              <a:cxnLst/>
              <a:rect l="l" t="t" r="r" b="b"/>
              <a:pathLst>
                <a:path w="9144000" h="10972800">
                  <a:moveTo>
                    <a:pt x="0" y="0"/>
                  </a:moveTo>
                  <a:lnTo>
                    <a:pt x="9144000" y="0"/>
                  </a:lnTo>
                  <a:lnTo>
                    <a:pt x="91440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500" b="-1250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8700" y="2462461"/>
            <a:ext cx="9270502" cy="265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Ethical &amp; Legal Issues in Smart City Surveillance Systems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275984"/>
            <a:ext cx="9270502" cy="53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Case Study in AI-Driven Urban Monitoring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6046242"/>
            <a:ext cx="3326474" cy="637164"/>
            <a:chOff x="0" y="0"/>
            <a:chExt cx="3864238" cy="7401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64251" cy="740156"/>
            </a:xfrm>
            <a:custGeom>
              <a:avLst/>
              <a:gdLst/>
              <a:ahLst/>
              <a:cxnLst/>
              <a:rect l="l" t="t" r="r" b="b"/>
              <a:pathLst>
                <a:path w="3864251" h="740156">
                  <a:moveTo>
                    <a:pt x="0" y="49403"/>
                  </a:moveTo>
                  <a:cubicBezTo>
                    <a:pt x="0" y="22098"/>
                    <a:pt x="24463" y="0"/>
                    <a:pt x="54689" y="0"/>
                  </a:cubicBezTo>
                  <a:lnTo>
                    <a:pt x="3809563" y="0"/>
                  </a:lnTo>
                  <a:cubicBezTo>
                    <a:pt x="3839790" y="0"/>
                    <a:pt x="3864251" y="22098"/>
                    <a:pt x="3864251" y="49403"/>
                  </a:cubicBezTo>
                  <a:lnTo>
                    <a:pt x="3864251" y="690753"/>
                  </a:lnTo>
                  <a:cubicBezTo>
                    <a:pt x="3864251" y="718058"/>
                    <a:pt x="3839790" y="740156"/>
                    <a:pt x="3809563" y="740156"/>
                  </a:cubicBezTo>
                  <a:lnTo>
                    <a:pt x="54689" y="740156"/>
                  </a:lnTo>
                  <a:cubicBezTo>
                    <a:pt x="24463" y="740156"/>
                    <a:pt x="0" y="718058"/>
                    <a:pt x="0" y="690753"/>
                  </a:cubicBezTo>
                  <a:close/>
                </a:path>
              </a:pathLst>
            </a:custGeom>
            <a:solidFill>
              <a:srgbClr val="E4E4E7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130063" y="6161624"/>
            <a:ext cx="31237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16010123012 Aaryan Sharma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33900" y="824351"/>
            <a:ext cx="9220200" cy="79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Smart Surveillance?</a:t>
            </a:r>
          </a:p>
        </p:txBody>
      </p:sp>
      <p:sp>
        <p:nvSpPr>
          <p:cNvPr id="3" name="Freeform 3" descr="preencoded.png"/>
          <p:cNvSpPr/>
          <p:nvPr/>
        </p:nvSpPr>
        <p:spPr>
          <a:xfrm>
            <a:off x="8464485" y="1928803"/>
            <a:ext cx="549478" cy="549478"/>
          </a:xfrm>
          <a:custGeom>
            <a:avLst/>
            <a:gdLst/>
            <a:ahLst/>
            <a:cxnLst/>
            <a:rect l="l" t="t" r="r" b="b"/>
            <a:pathLst>
              <a:path w="549478" h="549478">
                <a:moveTo>
                  <a:pt x="0" y="0"/>
                </a:moveTo>
                <a:lnTo>
                  <a:pt x="549479" y="0"/>
                </a:lnTo>
                <a:lnTo>
                  <a:pt x="549479" y="549478"/>
                </a:lnTo>
                <a:lnTo>
                  <a:pt x="0" y="549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034" r="-31034"/>
            </a:stretch>
          </a:blipFill>
        </p:spPr>
      </p:sp>
      <p:sp>
        <p:nvSpPr>
          <p:cNvPr id="4" name="Freeform 4" descr="preencoded.png"/>
          <p:cNvSpPr/>
          <p:nvPr/>
        </p:nvSpPr>
        <p:spPr>
          <a:xfrm>
            <a:off x="8464485" y="4159841"/>
            <a:ext cx="549478" cy="549478"/>
          </a:xfrm>
          <a:custGeom>
            <a:avLst/>
            <a:gdLst/>
            <a:ahLst/>
            <a:cxnLst/>
            <a:rect l="l" t="t" r="r" b="b"/>
            <a:pathLst>
              <a:path w="549478" h="549478">
                <a:moveTo>
                  <a:pt x="0" y="0"/>
                </a:moveTo>
                <a:lnTo>
                  <a:pt x="549479" y="0"/>
                </a:lnTo>
                <a:lnTo>
                  <a:pt x="549479" y="549478"/>
                </a:lnTo>
                <a:lnTo>
                  <a:pt x="0" y="549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447" b="-3447"/>
            </a:stretch>
          </a:blipFill>
        </p:spPr>
      </p:sp>
      <p:sp>
        <p:nvSpPr>
          <p:cNvPr id="5" name="Freeform 5" descr="preencoded.png"/>
          <p:cNvSpPr/>
          <p:nvPr/>
        </p:nvSpPr>
        <p:spPr>
          <a:xfrm>
            <a:off x="8594522" y="6548936"/>
            <a:ext cx="549478" cy="549478"/>
          </a:xfrm>
          <a:custGeom>
            <a:avLst/>
            <a:gdLst/>
            <a:ahLst/>
            <a:cxnLst/>
            <a:rect l="l" t="t" r="r" b="b"/>
            <a:pathLst>
              <a:path w="549478" h="549478">
                <a:moveTo>
                  <a:pt x="0" y="0"/>
                </a:moveTo>
                <a:lnTo>
                  <a:pt x="549478" y="0"/>
                </a:lnTo>
                <a:lnTo>
                  <a:pt x="549478" y="549478"/>
                </a:lnTo>
                <a:lnTo>
                  <a:pt x="0" y="549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172" b="-517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315127" y="3410174"/>
            <a:ext cx="8779613" cy="4226352"/>
          </a:xfrm>
          <a:custGeom>
            <a:avLst/>
            <a:gdLst/>
            <a:ahLst/>
            <a:cxnLst/>
            <a:rect l="l" t="t" r="r" b="b"/>
            <a:pathLst>
              <a:path w="8779613" h="4226352">
                <a:moveTo>
                  <a:pt x="0" y="0"/>
                </a:moveTo>
                <a:lnTo>
                  <a:pt x="8779612" y="0"/>
                </a:lnTo>
                <a:lnTo>
                  <a:pt x="8779612" y="4226352"/>
                </a:lnTo>
                <a:lnTo>
                  <a:pt x="0" y="42263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7697" r="-1880" b="-9339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464485" y="2615498"/>
            <a:ext cx="3122562" cy="39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Smart Surveillance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64485" y="3110503"/>
            <a:ext cx="8794815" cy="744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12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Integrated networks of cameras, sensors, and AI that monitor public spaces in real time, enabling automated threat detection and behavioural analysis.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64485" y="5004594"/>
            <a:ext cx="3776662" cy="39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&amp; Facial Recognition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64485" y="5499598"/>
            <a:ext cx="8794815" cy="744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12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Deep learning models identify individuals from video feeds, cross-referencing biometric databases to flag persons of interest without human intervention.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64485" y="7393689"/>
            <a:ext cx="3122562" cy="39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Urban Deployment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64485" y="7888694"/>
            <a:ext cx="8794815" cy="744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12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Cities deploy these systems for traffic management, crime prevention, and crowd control — often at city-wide scale with minimal public oversight.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9532663" y="6859292"/>
            <a:ext cx="361502" cy="361502"/>
          </a:xfrm>
          <a:custGeom>
            <a:avLst/>
            <a:gdLst/>
            <a:ahLst/>
            <a:cxnLst/>
            <a:rect l="l" t="t" r="r" b="b"/>
            <a:pathLst>
              <a:path w="361502" h="361502">
                <a:moveTo>
                  <a:pt x="0" y="0"/>
                </a:moveTo>
                <a:lnTo>
                  <a:pt x="361502" y="0"/>
                </a:lnTo>
                <a:lnTo>
                  <a:pt x="361502" y="361502"/>
                </a:lnTo>
                <a:lnTo>
                  <a:pt x="0" y="3615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211" r="-9211"/>
            </a:stretch>
          </a:blipFill>
        </p:spPr>
      </p:sp>
      <p:sp>
        <p:nvSpPr>
          <p:cNvPr id="3" name="Freeform 3" descr="preencoded.png"/>
          <p:cNvSpPr/>
          <p:nvPr/>
        </p:nvSpPr>
        <p:spPr>
          <a:xfrm>
            <a:off x="9533118" y="5755287"/>
            <a:ext cx="361502" cy="361502"/>
          </a:xfrm>
          <a:custGeom>
            <a:avLst/>
            <a:gdLst/>
            <a:ahLst/>
            <a:cxnLst/>
            <a:rect l="l" t="t" r="r" b="b"/>
            <a:pathLst>
              <a:path w="361502" h="361502">
                <a:moveTo>
                  <a:pt x="0" y="0"/>
                </a:moveTo>
                <a:lnTo>
                  <a:pt x="361502" y="0"/>
                </a:lnTo>
                <a:lnTo>
                  <a:pt x="361502" y="361502"/>
                </a:lnTo>
                <a:lnTo>
                  <a:pt x="0" y="3615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211" r="-9211"/>
            </a:stretch>
          </a:blipFill>
        </p:spPr>
      </p:sp>
      <p:sp>
        <p:nvSpPr>
          <p:cNvPr id="4" name="Freeform 4" descr="preencoded.png"/>
          <p:cNvSpPr/>
          <p:nvPr/>
        </p:nvSpPr>
        <p:spPr>
          <a:xfrm>
            <a:off x="9532663" y="7411294"/>
            <a:ext cx="361502" cy="361502"/>
          </a:xfrm>
          <a:custGeom>
            <a:avLst/>
            <a:gdLst/>
            <a:ahLst/>
            <a:cxnLst/>
            <a:rect l="l" t="t" r="r" b="b"/>
            <a:pathLst>
              <a:path w="361502" h="361502">
                <a:moveTo>
                  <a:pt x="0" y="0"/>
                </a:moveTo>
                <a:lnTo>
                  <a:pt x="361502" y="0"/>
                </a:lnTo>
                <a:lnTo>
                  <a:pt x="361502" y="361502"/>
                </a:lnTo>
                <a:lnTo>
                  <a:pt x="0" y="3615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211" r="-9211"/>
            </a:stretch>
          </a:blipFill>
        </p:spPr>
      </p:sp>
      <p:sp>
        <p:nvSpPr>
          <p:cNvPr id="5" name="Freeform 5" descr="preencoded.png"/>
          <p:cNvSpPr/>
          <p:nvPr/>
        </p:nvSpPr>
        <p:spPr>
          <a:xfrm>
            <a:off x="9532663" y="6307289"/>
            <a:ext cx="361502" cy="361502"/>
          </a:xfrm>
          <a:custGeom>
            <a:avLst/>
            <a:gdLst/>
            <a:ahLst/>
            <a:cxnLst/>
            <a:rect l="l" t="t" r="r" b="b"/>
            <a:pathLst>
              <a:path w="361502" h="361502">
                <a:moveTo>
                  <a:pt x="0" y="0"/>
                </a:moveTo>
                <a:lnTo>
                  <a:pt x="361502" y="0"/>
                </a:lnTo>
                <a:lnTo>
                  <a:pt x="361502" y="361503"/>
                </a:lnTo>
                <a:lnTo>
                  <a:pt x="0" y="361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211" r="-921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2488052"/>
            <a:ext cx="6823691" cy="5473658"/>
          </a:xfrm>
          <a:custGeom>
            <a:avLst/>
            <a:gdLst/>
            <a:ahLst/>
            <a:cxnLst/>
            <a:rect l="l" t="t" r="r" b="b"/>
            <a:pathLst>
              <a:path w="6823691" h="5473658">
                <a:moveTo>
                  <a:pt x="0" y="0"/>
                </a:moveTo>
                <a:lnTo>
                  <a:pt x="6823691" y="0"/>
                </a:lnTo>
                <a:lnTo>
                  <a:pt x="6823691" y="5473657"/>
                </a:lnTo>
                <a:lnTo>
                  <a:pt x="0" y="5473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887" r="-1948" b="-6154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716386" y="886804"/>
            <a:ext cx="5856613" cy="656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32663" y="2165427"/>
            <a:ext cx="3752761" cy="38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52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Scenario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32663" y="2676948"/>
            <a:ext cx="6727008" cy="227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274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municipal government contracts a private firm to deploy an AI-powered surveillance network across a major city, capable of real-time facial recognition, behavioural prediction, and data sharing with law enforcement — without explicit public consent or independent oversight.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32663" y="5133975"/>
            <a:ext cx="4102469" cy="38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52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System Features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25607" y="6830869"/>
            <a:ext cx="6659166" cy="371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274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Real-time facial recognition across public spaces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26062" y="5726864"/>
            <a:ext cx="6659166" cy="371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274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Predictive behaviour analysis using machine learning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25607" y="7382862"/>
            <a:ext cx="6659166" cy="752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274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Centralised biometric database accessible by multiple agencies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25607" y="6278857"/>
            <a:ext cx="6659166" cy="371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274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No opt-out mechanism for citizens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5515" y="1009650"/>
            <a:ext cx="6464351" cy="827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506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Ethical Issues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941390"/>
            <a:ext cx="8017373" cy="3475139"/>
            <a:chOff x="0" y="0"/>
            <a:chExt cx="10689831" cy="46335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89844" cy="4633468"/>
            </a:xfrm>
            <a:custGeom>
              <a:avLst/>
              <a:gdLst/>
              <a:ahLst/>
              <a:cxnLst/>
              <a:rect l="l" t="t" r="r" b="b"/>
              <a:pathLst>
                <a:path w="10689844" h="4633468">
                  <a:moveTo>
                    <a:pt x="0" y="56896"/>
                  </a:moveTo>
                  <a:cubicBezTo>
                    <a:pt x="0" y="25527"/>
                    <a:pt x="25527" y="0"/>
                    <a:pt x="56896" y="0"/>
                  </a:cubicBezTo>
                  <a:lnTo>
                    <a:pt x="10632948" y="0"/>
                  </a:lnTo>
                  <a:cubicBezTo>
                    <a:pt x="10664317" y="0"/>
                    <a:pt x="10689844" y="25527"/>
                    <a:pt x="10689844" y="56896"/>
                  </a:cubicBezTo>
                  <a:lnTo>
                    <a:pt x="10689844" y="4576572"/>
                  </a:lnTo>
                  <a:cubicBezTo>
                    <a:pt x="10689844" y="4607941"/>
                    <a:pt x="10664317" y="4633468"/>
                    <a:pt x="10632948" y="4633468"/>
                  </a:cubicBezTo>
                  <a:lnTo>
                    <a:pt x="56896" y="4633468"/>
                  </a:lnTo>
                  <a:cubicBezTo>
                    <a:pt x="25527" y="4633468"/>
                    <a:pt x="0" y="4607941"/>
                    <a:pt x="0" y="457657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313107" y="2225797"/>
            <a:ext cx="853230" cy="853230"/>
            <a:chOff x="0" y="0"/>
            <a:chExt cx="1137641" cy="11376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37666" cy="1137666"/>
            </a:xfrm>
            <a:custGeom>
              <a:avLst/>
              <a:gdLst/>
              <a:ahLst/>
              <a:cxnLst/>
              <a:rect l="l" t="t" r="r" b="b"/>
              <a:pathLst>
                <a:path w="1137666" h="1137666">
                  <a:moveTo>
                    <a:pt x="0" y="568833"/>
                  </a:moveTo>
                  <a:cubicBezTo>
                    <a:pt x="0" y="254635"/>
                    <a:pt x="254635" y="0"/>
                    <a:pt x="568833" y="0"/>
                  </a:cubicBezTo>
                  <a:cubicBezTo>
                    <a:pt x="883031" y="0"/>
                    <a:pt x="1137666" y="254635"/>
                    <a:pt x="1137666" y="568833"/>
                  </a:cubicBezTo>
                  <a:cubicBezTo>
                    <a:pt x="1137666" y="883031"/>
                    <a:pt x="883031" y="1137666"/>
                    <a:pt x="568833" y="1137666"/>
                  </a:cubicBezTo>
                  <a:cubicBezTo>
                    <a:pt x="254635" y="1137666"/>
                    <a:pt x="0" y="883031"/>
                    <a:pt x="0" y="568833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11" name="Freeform 11" descr="preencoded.png"/>
          <p:cNvSpPr/>
          <p:nvPr/>
        </p:nvSpPr>
        <p:spPr>
          <a:xfrm>
            <a:off x="1547660" y="2460350"/>
            <a:ext cx="383972" cy="383972"/>
          </a:xfrm>
          <a:custGeom>
            <a:avLst/>
            <a:gdLst/>
            <a:ahLst/>
            <a:cxnLst/>
            <a:rect l="l" t="t" r="r" b="b"/>
            <a:pathLst>
              <a:path w="383972" h="383972">
                <a:moveTo>
                  <a:pt x="0" y="0"/>
                </a:moveTo>
                <a:lnTo>
                  <a:pt x="383972" y="0"/>
                </a:lnTo>
                <a:lnTo>
                  <a:pt x="383972" y="383972"/>
                </a:lnTo>
                <a:lnTo>
                  <a:pt x="0" y="383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097" b="-609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13107" y="3331593"/>
            <a:ext cx="3232099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Privacy Invasion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3107" y="3854868"/>
            <a:ext cx="7448550" cy="1277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18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Continuous monitoring erodes the reasonable expectation of privacy in public spaces, capturing data on law-abiding citizens without cause.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08154" y="1941390"/>
            <a:ext cx="8017516" cy="3475139"/>
            <a:chOff x="0" y="0"/>
            <a:chExt cx="10690022" cy="46335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89971" cy="4633468"/>
            </a:xfrm>
            <a:custGeom>
              <a:avLst/>
              <a:gdLst/>
              <a:ahLst/>
              <a:cxnLst/>
              <a:rect l="l" t="t" r="r" b="b"/>
              <a:pathLst>
                <a:path w="10689971" h="4633468">
                  <a:moveTo>
                    <a:pt x="0" y="56896"/>
                  </a:moveTo>
                  <a:cubicBezTo>
                    <a:pt x="0" y="25527"/>
                    <a:pt x="25527" y="0"/>
                    <a:pt x="56896" y="0"/>
                  </a:cubicBezTo>
                  <a:lnTo>
                    <a:pt x="10633075" y="0"/>
                  </a:lnTo>
                  <a:cubicBezTo>
                    <a:pt x="10664444" y="0"/>
                    <a:pt x="10689971" y="25527"/>
                    <a:pt x="10689971" y="56896"/>
                  </a:cubicBezTo>
                  <a:lnTo>
                    <a:pt x="10689971" y="4576572"/>
                  </a:lnTo>
                  <a:cubicBezTo>
                    <a:pt x="10689971" y="4607941"/>
                    <a:pt x="10664444" y="4633468"/>
                    <a:pt x="10633075" y="4633468"/>
                  </a:cubicBezTo>
                  <a:lnTo>
                    <a:pt x="56896" y="4633468"/>
                  </a:lnTo>
                  <a:cubicBezTo>
                    <a:pt x="25527" y="4633468"/>
                    <a:pt x="0" y="4607941"/>
                    <a:pt x="0" y="457657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592561" y="2225797"/>
            <a:ext cx="853230" cy="853230"/>
            <a:chOff x="0" y="0"/>
            <a:chExt cx="1137641" cy="113764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7666" cy="1137666"/>
            </a:xfrm>
            <a:custGeom>
              <a:avLst/>
              <a:gdLst/>
              <a:ahLst/>
              <a:cxnLst/>
              <a:rect l="l" t="t" r="r" b="b"/>
              <a:pathLst>
                <a:path w="1137666" h="1137666">
                  <a:moveTo>
                    <a:pt x="0" y="568833"/>
                  </a:moveTo>
                  <a:cubicBezTo>
                    <a:pt x="0" y="254635"/>
                    <a:pt x="254635" y="0"/>
                    <a:pt x="568833" y="0"/>
                  </a:cubicBezTo>
                  <a:cubicBezTo>
                    <a:pt x="883031" y="0"/>
                    <a:pt x="1137666" y="254635"/>
                    <a:pt x="1137666" y="568833"/>
                  </a:cubicBezTo>
                  <a:cubicBezTo>
                    <a:pt x="1137666" y="883031"/>
                    <a:pt x="883031" y="1137666"/>
                    <a:pt x="568833" y="1137666"/>
                  </a:cubicBezTo>
                  <a:cubicBezTo>
                    <a:pt x="254635" y="1137666"/>
                    <a:pt x="0" y="883031"/>
                    <a:pt x="0" y="568833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18" name="Freeform 18" descr="preencoded.png"/>
          <p:cNvSpPr/>
          <p:nvPr/>
        </p:nvSpPr>
        <p:spPr>
          <a:xfrm>
            <a:off x="9827114" y="2460350"/>
            <a:ext cx="383972" cy="383972"/>
          </a:xfrm>
          <a:custGeom>
            <a:avLst/>
            <a:gdLst/>
            <a:ahLst/>
            <a:cxnLst/>
            <a:rect l="l" t="t" r="r" b="b"/>
            <a:pathLst>
              <a:path w="383972" h="383972">
                <a:moveTo>
                  <a:pt x="0" y="0"/>
                </a:moveTo>
                <a:lnTo>
                  <a:pt x="383972" y="0"/>
                </a:lnTo>
                <a:lnTo>
                  <a:pt x="383972" y="383972"/>
                </a:lnTo>
                <a:lnTo>
                  <a:pt x="0" y="383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592561" y="3331593"/>
            <a:ext cx="3232099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Mass Surveillance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92561" y="3854868"/>
            <a:ext cx="7448702" cy="86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18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City-wide deployment creates a panopticon effect, potentially chilling free assembly, speech, and political dissent.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28700" y="5678610"/>
            <a:ext cx="8017373" cy="3475139"/>
            <a:chOff x="0" y="0"/>
            <a:chExt cx="10689831" cy="46335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689844" cy="4633468"/>
            </a:xfrm>
            <a:custGeom>
              <a:avLst/>
              <a:gdLst/>
              <a:ahLst/>
              <a:cxnLst/>
              <a:rect l="l" t="t" r="r" b="b"/>
              <a:pathLst>
                <a:path w="10689844" h="4633468">
                  <a:moveTo>
                    <a:pt x="0" y="56896"/>
                  </a:moveTo>
                  <a:cubicBezTo>
                    <a:pt x="0" y="25527"/>
                    <a:pt x="25527" y="0"/>
                    <a:pt x="56896" y="0"/>
                  </a:cubicBezTo>
                  <a:lnTo>
                    <a:pt x="10632948" y="0"/>
                  </a:lnTo>
                  <a:cubicBezTo>
                    <a:pt x="10664317" y="0"/>
                    <a:pt x="10689844" y="25527"/>
                    <a:pt x="10689844" y="56896"/>
                  </a:cubicBezTo>
                  <a:lnTo>
                    <a:pt x="10689844" y="4576572"/>
                  </a:lnTo>
                  <a:cubicBezTo>
                    <a:pt x="10689844" y="4607941"/>
                    <a:pt x="10664317" y="4633468"/>
                    <a:pt x="10632948" y="4633468"/>
                  </a:cubicBezTo>
                  <a:lnTo>
                    <a:pt x="56896" y="4633468"/>
                  </a:lnTo>
                  <a:cubicBezTo>
                    <a:pt x="25527" y="4633468"/>
                    <a:pt x="0" y="4607941"/>
                    <a:pt x="0" y="457657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313107" y="5963017"/>
            <a:ext cx="853230" cy="853230"/>
            <a:chOff x="0" y="0"/>
            <a:chExt cx="1137641" cy="113764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37666" cy="1137666"/>
            </a:xfrm>
            <a:custGeom>
              <a:avLst/>
              <a:gdLst/>
              <a:ahLst/>
              <a:cxnLst/>
              <a:rect l="l" t="t" r="r" b="b"/>
              <a:pathLst>
                <a:path w="1137666" h="1137666">
                  <a:moveTo>
                    <a:pt x="0" y="568833"/>
                  </a:moveTo>
                  <a:cubicBezTo>
                    <a:pt x="0" y="254635"/>
                    <a:pt x="254635" y="0"/>
                    <a:pt x="568833" y="0"/>
                  </a:cubicBezTo>
                  <a:cubicBezTo>
                    <a:pt x="883031" y="0"/>
                    <a:pt x="1137666" y="254635"/>
                    <a:pt x="1137666" y="568833"/>
                  </a:cubicBezTo>
                  <a:cubicBezTo>
                    <a:pt x="1137666" y="883031"/>
                    <a:pt x="883031" y="1137666"/>
                    <a:pt x="568833" y="1137666"/>
                  </a:cubicBezTo>
                  <a:cubicBezTo>
                    <a:pt x="254635" y="1137666"/>
                    <a:pt x="0" y="883031"/>
                    <a:pt x="0" y="568833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25" name="Freeform 25" descr="preencoded.png"/>
          <p:cNvSpPr/>
          <p:nvPr/>
        </p:nvSpPr>
        <p:spPr>
          <a:xfrm>
            <a:off x="1547660" y="6197579"/>
            <a:ext cx="383972" cy="383972"/>
          </a:xfrm>
          <a:custGeom>
            <a:avLst/>
            <a:gdLst/>
            <a:ahLst/>
            <a:cxnLst/>
            <a:rect l="l" t="t" r="r" b="b"/>
            <a:pathLst>
              <a:path w="383972" h="383972">
                <a:moveTo>
                  <a:pt x="0" y="0"/>
                </a:moveTo>
                <a:lnTo>
                  <a:pt x="383972" y="0"/>
                </a:lnTo>
                <a:lnTo>
                  <a:pt x="383972" y="383972"/>
                </a:lnTo>
                <a:lnTo>
                  <a:pt x="0" y="383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876" r="-4879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313107" y="7068812"/>
            <a:ext cx="3232099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Algorithmic Bias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3107" y="7592097"/>
            <a:ext cx="7448550" cy="1277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18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Facial recognition systems demonstrate significantly higher error rates for women and ethnic minorities, leading to discriminatory outcomes.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308154" y="5678610"/>
            <a:ext cx="8017516" cy="3475139"/>
            <a:chOff x="0" y="0"/>
            <a:chExt cx="10690022" cy="46335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689971" cy="4633468"/>
            </a:xfrm>
            <a:custGeom>
              <a:avLst/>
              <a:gdLst/>
              <a:ahLst/>
              <a:cxnLst/>
              <a:rect l="l" t="t" r="r" b="b"/>
              <a:pathLst>
                <a:path w="10689971" h="4633468">
                  <a:moveTo>
                    <a:pt x="0" y="56896"/>
                  </a:moveTo>
                  <a:cubicBezTo>
                    <a:pt x="0" y="25527"/>
                    <a:pt x="25527" y="0"/>
                    <a:pt x="56896" y="0"/>
                  </a:cubicBezTo>
                  <a:lnTo>
                    <a:pt x="10633075" y="0"/>
                  </a:lnTo>
                  <a:cubicBezTo>
                    <a:pt x="10664444" y="0"/>
                    <a:pt x="10689971" y="25527"/>
                    <a:pt x="10689971" y="56896"/>
                  </a:cubicBezTo>
                  <a:lnTo>
                    <a:pt x="10689971" y="4576572"/>
                  </a:lnTo>
                  <a:cubicBezTo>
                    <a:pt x="10689971" y="4607941"/>
                    <a:pt x="10664444" y="4633468"/>
                    <a:pt x="10633075" y="4633468"/>
                  </a:cubicBezTo>
                  <a:lnTo>
                    <a:pt x="56896" y="4633468"/>
                  </a:lnTo>
                  <a:cubicBezTo>
                    <a:pt x="25527" y="4633468"/>
                    <a:pt x="0" y="4607941"/>
                    <a:pt x="0" y="457657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9592561" y="5963017"/>
            <a:ext cx="853230" cy="853230"/>
            <a:chOff x="0" y="0"/>
            <a:chExt cx="1137641" cy="113764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37666" cy="1137666"/>
            </a:xfrm>
            <a:custGeom>
              <a:avLst/>
              <a:gdLst/>
              <a:ahLst/>
              <a:cxnLst/>
              <a:rect l="l" t="t" r="r" b="b"/>
              <a:pathLst>
                <a:path w="1137666" h="1137666">
                  <a:moveTo>
                    <a:pt x="0" y="568833"/>
                  </a:moveTo>
                  <a:cubicBezTo>
                    <a:pt x="0" y="254635"/>
                    <a:pt x="254635" y="0"/>
                    <a:pt x="568833" y="0"/>
                  </a:cubicBezTo>
                  <a:cubicBezTo>
                    <a:pt x="883031" y="0"/>
                    <a:pt x="1137666" y="254635"/>
                    <a:pt x="1137666" y="568833"/>
                  </a:cubicBezTo>
                  <a:cubicBezTo>
                    <a:pt x="1137666" y="883031"/>
                    <a:pt x="883031" y="1137666"/>
                    <a:pt x="568833" y="1137666"/>
                  </a:cubicBezTo>
                  <a:cubicBezTo>
                    <a:pt x="254635" y="1137666"/>
                    <a:pt x="0" y="883031"/>
                    <a:pt x="0" y="568833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32" name="Freeform 32" descr="preencoded.png"/>
          <p:cNvSpPr/>
          <p:nvPr/>
        </p:nvSpPr>
        <p:spPr>
          <a:xfrm>
            <a:off x="9827114" y="6197579"/>
            <a:ext cx="383972" cy="383972"/>
          </a:xfrm>
          <a:custGeom>
            <a:avLst/>
            <a:gdLst/>
            <a:ahLst/>
            <a:cxnLst/>
            <a:rect l="l" t="t" r="r" b="b"/>
            <a:pathLst>
              <a:path w="383972" h="383972">
                <a:moveTo>
                  <a:pt x="0" y="0"/>
                </a:moveTo>
                <a:lnTo>
                  <a:pt x="383972" y="0"/>
                </a:lnTo>
                <a:lnTo>
                  <a:pt x="383972" y="383972"/>
                </a:lnTo>
                <a:lnTo>
                  <a:pt x="0" y="383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876" r="-4879"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9592561" y="7068812"/>
            <a:ext cx="3232099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Function Creep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92561" y="7592097"/>
            <a:ext cx="7448702" cy="1277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18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collected for one purpose (e.g., traffic management) is frequently repurposed for unrelated uses without renewed consent.</a:t>
            </a:r>
          </a:p>
        </p:txBody>
      </p:sp>
      <p:sp>
        <p:nvSpPr>
          <p:cNvPr id="35" name="Freeform 35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784667" y="1130422"/>
            <a:ext cx="3637412" cy="68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Legal Issues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2368571"/>
            <a:ext cx="7411345" cy="5549859"/>
            <a:chOff x="0" y="0"/>
            <a:chExt cx="9881794" cy="7399811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9881743" cy="7399774"/>
            </a:xfrm>
            <a:custGeom>
              <a:avLst/>
              <a:gdLst/>
              <a:ahLst/>
              <a:cxnLst/>
              <a:rect l="l" t="t" r="r" b="b"/>
              <a:pathLst>
                <a:path w="9881743" h="7399774">
                  <a:moveTo>
                    <a:pt x="0" y="0"/>
                  </a:moveTo>
                  <a:lnTo>
                    <a:pt x="9881743" y="0"/>
                  </a:lnTo>
                  <a:lnTo>
                    <a:pt x="9881743" y="7399774"/>
                  </a:lnTo>
                  <a:lnTo>
                    <a:pt x="0" y="7399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770" b="-1677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144000" y="2521616"/>
            <a:ext cx="4692452" cy="474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308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Legal Frameworks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159899" y="3243838"/>
            <a:ext cx="8279098" cy="1379910"/>
            <a:chOff x="0" y="0"/>
            <a:chExt cx="9919894" cy="1653388"/>
          </a:xfrm>
        </p:grpSpPr>
        <p:sp>
          <p:nvSpPr>
            <p:cNvPr id="11" name="Freeform 11"/>
            <p:cNvSpPr/>
            <p:nvPr/>
          </p:nvSpPr>
          <p:spPr>
            <a:xfrm>
              <a:off x="19050" y="19050"/>
              <a:ext cx="9881743" cy="1615313"/>
            </a:xfrm>
            <a:custGeom>
              <a:avLst/>
              <a:gdLst/>
              <a:ahLst/>
              <a:cxnLst/>
              <a:rect l="l" t="t" r="r" b="b"/>
              <a:pathLst>
                <a:path w="9881743" h="1615313">
                  <a:moveTo>
                    <a:pt x="0" y="182880"/>
                  </a:moveTo>
                  <a:cubicBezTo>
                    <a:pt x="0" y="81915"/>
                    <a:pt x="83439" y="0"/>
                    <a:pt x="186436" y="0"/>
                  </a:cubicBezTo>
                  <a:lnTo>
                    <a:pt x="9695307" y="0"/>
                  </a:lnTo>
                  <a:cubicBezTo>
                    <a:pt x="9798303" y="0"/>
                    <a:pt x="9881743" y="81915"/>
                    <a:pt x="9881743" y="182880"/>
                  </a:cubicBezTo>
                  <a:lnTo>
                    <a:pt x="9881743" y="1432433"/>
                  </a:lnTo>
                  <a:cubicBezTo>
                    <a:pt x="9881743" y="1533398"/>
                    <a:pt x="9798303" y="1615313"/>
                    <a:pt x="9695307" y="1615313"/>
                  </a:cubicBezTo>
                  <a:lnTo>
                    <a:pt x="186436" y="1615313"/>
                  </a:lnTo>
                  <a:cubicBezTo>
                    <a:pt x="83439" y="1615313"/>
                    <a:pt x="0" y="1533398"/>
                    <a:pt x="0" y="14324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9919843" cy="1653413"/>
            </a:xfrm>
            <a:custGeom>
              <a:avLst/>
              <a:gdLst/>
              <a:ahLst/>
              <a:cxnLst/>
              <a:rect l="l" t="t" r="r" b="b"/>
              <a:pathLst>
                <a:path w="9919843" h="1653413">
                  <a:moveTo>
                    <a:pt x="0" y="201930"/>
                  </a:moveTo>
                  <a:cubicBezTo>
                    <a:pt x="0" y="90043"/>
                    <a:pt x="92329" y="0"/>
                    <a:pt x="205486" y="0"/>
                  </a:cubicBezTo>
                  <a:lnTo>
                    <a:pt x="9714357" y="0"/>
                  </a:lnTo>
                  <a:lnTo>
                    <a:pt x="9714357" y="19050"/>
                  </a:lnTo>
                  <a:lnTo>
                    <a:pt x="9714357" y="0"/>
                  </a:lnTo>
                  <a:cubicBezTo>
                    <a:pt x="9827513" y="0"/>
                    <a:pt x="9919843" y="90043"/>
                    <a:pt x="9919843" y="201930"/>
                  </a:cubicBezTo>
                  <a:lnTo>
                    <a:pt x="9900793" y="201930"/>
                  </a:lnTo>
                  <a:lnTo>
                    <a:pt x="9919843" y="201930"/>
                  </a:lnTo>
                  <a:lnTo>
                    <a:pt x="9919843" y="1451483"/>
                  </a:lnTo>
                  <a:lnTo>
                    <a:pt x="9900793" y="1451483"/>
                  </a:lnTo>
                  <a:lnTo>
                    <a:pt x="9919843" y="1451483"/>
                  </a:lnTo>
                  <a:cubicBezTo>
                    <a:pt x="9919843" y="1563370"/>
                    <a:pt x="9827513" y="1653413"/>
                    <a:pt x="9714357" y="1653413"/>
                  </a:cubicBezTo>
                  <a:lnTo>
                    <a:pt x="9714357" y="1634363"/>
                  </a:lnTo>
                  <a:lnTo>
                    <a:pt x="9714357" y="1653413"/>
                  </a:lnTo>
                  <a:lnTo>
                    <a:pt x="205486" y="1653413"/>
                  </a:lnTo>
                  <a:lnTo>
                    <a:pt x="205486" y="1634363"/>
                  </a:lnTo>
                  <a:lnTo>
                    <a:pt x="205486" y="1653413"/>
                  </a:lnTo>
                  <a:cubicBezTo>
                    <a:pt x="92329" y="1653413"/>
                    <a:pt x="0" y="1563370"/>
                    <a:pt x="0" y="145148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451483"/>
                  </a:lnTo>
                  <a:lnTo>
                    <a:pt x="19050" y="1451483"/>
                  </a:lnTo>
                  <a:lnTo>
                    <a:pt x="38100" y="1451483"/>
                  </a:lnTo>
                  <a:cubicBezTo>
                    <a:pt x="38100" y="1541653"/>
                    <a:pt x="112649" y="1615313"/>
                    <a:pt x="205486" y="1615313"/>
                  </a:cubicBezTo>
                  <a:lnTo>
                    <a:pt x="9714357" y="1615313"/>
                  </a:lnTo>
                  <a:cubicBezTo>
                    <a:pt x="9807194" y="1615313"/>
                    <a:pt x="9881743" y="1541653"/>
                    <a:pt x="9881743" y="1451483"/>
                  </a:cubicBezTo>
                  <a:lnTo>
                    <a:pt x="9881743" y="201930"/>
                  </a:lnTo>
                  <a:cubicBezTo>
                    <a:pt x="9881743" y="111760"/>
                    <a:pt x="9807194" y="38100"/>
                    <a:pt x="9714357" y="38100"/>
                  </a:cubicBezTo>
                  <a:lnTo>
                    <a:pt x="205486" y="38100"/>
                  </a:lnTo>
                  <a:lnTo>
                    <a:pt x="205486" y="19050"/>
                  </a:lnTo>
                  <a:lnTo>
                    <a:pt x="205486" y="38100"/>
                  </a:lnTo>
                  <a:cubicBezTo>
                    <a:pt x="112649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144000" y="3259737"/>
            <a:ext cx="127192" cy="1348112"/>
            <a:chOff x="0" y="0"/>
            <a:chExt cx="152400" cy="161528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2400" cy="1615313"/>
            </a:xfrm>
            <a:custGeom>
              <a:avLst/>
              <a:gdLst/>
              <a:ahLst/>
              <a:cxnLst/>
              <a:rect l="l" t="t" r="r" b="b"/>
              <a:pathLst>
                <a:path w="152400" h="1615313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3251" y="0"/>
                  </a:lnTo>
                  <a:cubicBezTo>
                    <a:pt x="130429" y="0"/>
                    <a:pt x="152400" y="21971"/>
                    <a:pt x="152400" y="49149"/>
                  </a:cubicBezTo>
                  <a:lnTo>
                    <a:pt x="152400" y="1566164"/>
                  </a:lnTo>
                  <a:cubicBezTo>
                    <a:pt x="152400" y="1593342"/>
                    <a:pt x="130429" y="1615313"/>
                    <a:pt x="103251" y="1615313"/>
                  </a:cubicBezTo>
                  <a:lnTo>
                    <a:pt x="49149" y="1615313"/>
                  </a:lnTo>
                  <a:cubicBezTo>
                    <a:pt x="21971" y="1615313"/>
                    <a:pt x="0" y="1593342"/>
                    <a:pt x="0" y="1566164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576592" y="3276515"/>
            <a:ext cx="7729187" cy="1276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8"/>
              </a:lnSpc>
            </a:pPr>
            <a:r>
              <a:rPr lang="en-US" sz="2508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GDPR (EU)</a:t>
            </a:r>
            <a:r>
              <a:rPr lang="en-US" sz="2508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Requires explicit consent for biometric processing; mandates purpose limitation and data minimisation.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159899" y="4809894"/>
            <a:ext cx="8279098" cy="1379910"/>
            <a:chOff x="0" y="0"/>
            <a:chExt cx="9919894" cy="1653388"/>
          </a:xfrm>
        </p:grpSpPr>
        <p:sp>
          <p:nvSpPr>
            <p:cNvPr id="17" name="Freeform 17"/>
            <p:cNvSpPr/>
            <p:nvPr/>
          </p:nvSpPr>
          <p:spPr>
            <a:xfrm>
              <a:off x="19050" y="19050"/>
              <a:ext cx="9881743" cy="1615313"/>
            </a:xfrm>
            <a:custGeom>
              <a:avLst/>
              <a:gdLst/>
              <a:ahLst/>
              <a:cxnLst/>
              <a:rect l="l" t="t" r="r" b="b"/>
              <a:pathLst>
                <a:path w="9881743" h="1615313">
                  <a:moveTo>
                    <a:pt x="0" y="182880"/>
                  </a:moveTo>
                  <a:cubicBezTo>
                    <a:pt x="0" y="81915"/>
                    <a:pt x="83439" y="0"/>
                    <a:pt x="186436" y="0"/>
                  </a:cubicBezTo>
                  <a:lnTo>
                    <a:pt x="9695307" y="0"/>
                  </a:lnTo>
                  <a:cubicBezTo>
                    <a:pt x="9798303" y="0"/>
                    <a:pt x="9881743" y="81915"/>
                    <a:pt x="9881743" y="182880"/>
                  </a:cubicBezTo>
                  <a:lnTo>
                    <a:pt x="9881743" y="1432433"/>
                  </a:lnTo>
                  <a:cubicBezTo>
                    <a:pt x="9881743" y="1533398"/>
                    <a:pt x="9798303" y="1615313"/>
                    <a:pt x="9695307" y="1615313"/>
                  </a:cubicBezTo>
                  <a:lnTo>
                    <a:pt x="186436" y="1615313"/>
                  </a:lnTo>
                  <a:cubicBezTo>
                    <a:pt x="83439" y="1615313"/>
                    <a:pt x="0" y="1533398"/>
                    <a:pt x="0" y="14324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9919843" cy="1653413"/>
            </a:xfrm>
            <a:custGeom>
              <a:avLst/>
              <a:gdLst/>
              <a:ahLst/>
              <a:cxnLst/>
              <a:rect l="l" t="t" r="r" b="b"/>
              <a:pathLst>
                <a:path w="9919843" h="1653413">
                  <a:moveTo>
                    <a:pt x="0" y="201930"/>
                  </a:moveTo>
                  <a:cubicBezTo>
                    <a:pt x="0" y="90043"/>
                    <a:pt x="92329" y="0"/>
                    <a:pt x="205486" y="0"/>
                  </a:cubicBezTo>
                  <a:lnTo>
                    <a:pt x="9714357" y="0"/>
                  </a:lnTo>
                  <a:lnTo>
                    <a:pt x="9714357" y="19050"/>
                  </a:lnTo>
                  <a:lnTo>
                    <a:pt x="9714357" y="0"/>
                  </a:lnTo>
                  <a:cubicBezTo>
                    <a:pt x="9827513" y="0"/>
                    <a:pt x="9919843" y="90043"/>
                    <a:pt x="9919843" y="201930"/>
                  </a:cubicBezTo>
                  <a:lnTo>
                    <a:pt x="9900793" y="201930"/>
                  </a:lnTo>
                  <a:lnTo>
                    <a:pt x="9919843" y="201930"/>
                  </a:lnTo>
                  <a:lnTo>
                    <a:pt x="9919843" y="1451483"/>
                  </a:lnTo>
                  <a:lnTo>
                    <a:pt x="9900793" y="1451483"/>
                  </a:lnTo>
                  <a:lnTo>
                    <a:pt x="9919843" y="1451483"/>
                  </a:lnTo>
                  <a:cubicBezTo>
                    <a:pt x="9919843" y="1563370"/>
                    <a:pt x="9827513" y="1653413"/>
                    <a:pt x="9714357" y="1653413"/>
                  </a:cubicBezTo>
                  <a:lnTo>
                    <a:pt x="9714357" y="1634363"/>
                  </a:lnTo>
                  <a:lnTo>
                    <a:pt x="9714357" y="1653413"/>
                  </a:lnTo>
                  <a:lnTo>
                    <a:pt x="205486" y="1653413"/>
                  </a:lnTo>
                  <a:lnTo>
                    <a:pt x="205486" y="1634363"/>
                  </a:lnTo>
                  <a:lnTo>
                    <a:pt x="205486" y="1653413"/>
                  </a:lnTo>
                  <a:cubicBezTo>
                    <a:pt x="92329" y="1653413"/>
                    <a:pt x="0" y="1563370"/>
                    <a:pt x="0" y="145148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451483"/>
                  </a:lnTo>
                  <a:lnTo>
                    <a:pt x="19050" y="1451483"/>
                  </a:lnTo>
                  <a:lnTo>
                    <a:pt x="38100" y="1451483"/>
                  </a:lnTo>
                  <a:cubicBezTo>
                    <a:pt x="38100" y="1541653"/>
                    <a:pt x="112649" y="1615313"/>
                    <a:pt x="205486" y="1615313"/>
                  </a:cubicBezTo>
                  <a:lnTo>
                    <a:pt x="9714357" y="1615313"/>
                  </a:lnTo>
                  <a:cubicBezTo>
                    <a:pt x="9807194" y="1615313"/>
                    <a:pt x="9881743" y="1541653"/>
                    <a:pt x="9881743" y="1451483"/>
                  </a:cubicBezTo>
                  <a:lnTo>
                    <a:pt x="9881743" y="201930"/>
                  </a:lnTo>
                  <a:cubicBezTo>
                    <a:pt x="9881743" y="111760"/>
                    <a:pt x="9807194" y="38100"/>
                    <a:pt x="9714357" y="38100"/>
                  </a:cubicBezTo>
                  <a:lnTo>
                    <a:pt x="205486" y="38100"/>
                  </a:lnTo>
                  <a:lnTo>
                    <a:pt x="205486" y="19050"/>
                  </a:lnTo>
                  <a:lnTo>
                    <a:pt x="205486" y="38100"/>
                  </a:lnTo>
                  <a:cubicBezTo>
                    <a:pt x="112649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144000" y="4825793"/>
            <a:ext cx="127192" cy="1348112"/>
            <a:chOff x="0" y="0"/>
            <a:chExt cx="152400" cy="161528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2400" cy="1615313"/>
            </a:xfrm>
            <a:custGeom>
              <a:avLst/>
              <a:gdLst/>
              <a:ahLst/>
              <a:cxnLst/>
              <a:rect l="l" t="t" r="r" b="b"/>
              <a:pathLst>
                <a:path w="152400" h="1615313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3251" y="0"/>
                  </a:lnTo>
                  <a:cubicBezTo>
                    <a:pt x="130429" y="0"/>
                    <a:pt x="152400" y="21971"/>
                    <a:pt x="152400" y="49149"/>
                  </a:cubicBezTo>
                  <a:lnTo>
                    <a:pt x="152400" y="1566164"/>
                  </a:lnTo>
                  <a:cubicBezTo>
                    <a:pt x="152400" y="1593342"/>
                    <a:pt x="130429" y="1615313"/>
                    <a:pt x="103251" y="1615313"/>
                  </a:cubicBezTo>
                  <a:lnTo>
                    <a:pt x="49149" y="1615313"/>
                  </a:lnTo>
                  <a:cubicBezTo>
                    <a:pt x="21971" y="1615313"/>
                    <a:pt x="0" y="1593342"/>
                    <a:pt x="0" y="1566164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9576592" y="4857206"/>
            <a:ext cx="7541117" cy="1270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510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Human Rights Act</a:t>
            </a:r>
            <a:r>
              <a:rPr lang="en-US" sz="251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Article 8 protects the right to private life; indiscriminate surveillance may constitute a violation.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59899" y="6375949"/>
            <a:ext cx="8279098" cy="1379910"/>
            <a:chOff x="0" y="0"/>
            <a:chExt cx="9919894" cy="1653388"/>
          </a:xfrm>
        </p:grpSpPr>
        <p:sp>
          <p:nvSpPr>
            <p:cNvPr id="23" name="Freeform 23"/>
            <p:cNvSpPr/>
            <p:nvPr/>
          </p:nvSpPr>
          <p:spPr>
            <a:xfrm>
              <a:off x="19050" y="19050"/>
              <a:ext cx="9881743" cy="1615313"/>
            </a:xfrm>
            <a:custGeom>
              <a:avLst/>
              <a:gdLst/>
              <a:ahLst/>
              <a:cxnLst/>
              <a:rect l="l" t="t" r="r" b="b"/>
              <a:pathLst>
                <a:path w="9881743" h="1615313">
                  <a:moveTo>
                    <a:pt x="0" y="182880"/>
                  </a:moveTo>
                  <a:cubicBezTo>
                    <a:pt x="0" y="81915"/>
                    <a:pt x="83439" y="0"/>
                    <a:pt x="186436" y="0"/>
                  </a:cubicBezTo>
                  <a:lnTo>
                    <a:pt x="9695307" y="0"/>
                  </a:lnTo>
                  <a:cubicBezTo>
                    <a:pt x="9798303" y="0"/>
                    <a:pt x="9881743" y="81915"/>
                    <a:pt x="9881743" y="182880"/>
                  </a:cubicBezTo>
                  <a:lnTo>
                    <a:pt x="9881743" y="1432433"/>
                  </a:lnTo>
                  <a:cubicBezTo>
                    <a:pt x="9881743" y="1533398"/>
                    <a:pt x="9798303" y="1615313"/>
                    <a:pt x="9695307" y="1615313"/>
                  </a:cubicBezTo>
                  <a:lnTo>
                    <a:pt x="186436" y="1615313"/>
                  </a:lnTo>
                  <a:cubicBezTo>
                    <a:pt x="83439" y="1615313"/>
                    <a:pt x="0" y="1533398"/>
                    <a:pt x="0" y="14324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9919843" cy="1653413"/>
            </a:xfrm>
            <a:custGeom>
              <a:avLst/>
              <a:gdLst/>
              <a:ahLst/>
              <a:cxnLst/>
              <a:rect l="l" t="t" r="r" b="b"/>
              <a:pathLst>
                <a:path w="9919843" h="1653413">
                  <a:moveTo>
                    <a:pt x="0" y="201930"/>
                  </a:moveTo>
                  <a:cubicBezTo>
                    <a:pt x="0" y="90043"/>
                    <a:pt x="92329" y="0"/>
                    <a:pt x="205486" y="0"/>
                  </a:cubicBezTo>
                  <a:lnTo>
                    <a:pt x="9714357" y="0"/>
                  </a:lnTo>
                  <a:lnTo>
                    <a:pt x="9714357" y="19050"/>
                  </a:lnTo>
                  <a:lnTo>
                    <a:pt x="9714357" y="0"/>
                  </a:lnTo>
                  <a:cubicBezTo>
                    <a:pt x="9827513" y="0"/>
                    <a:pt x="9919843" y="90043"/>
                    <a:pt x="9919843" y="201930"/>
                  </a:cubicBezTo>
                  <a:lnTo>
                    <a:pt x="9900793" y="201930"/>
                  </a:lnTo>
                  <a:lnTo>
                    <a:pt x="9919843" y="201930"/>
                  </a:lnTo>
                  <a:lnTo>
                    <a:pt x="9919843" y="1451483"/>
                  </a:lnTo>
                  <a:lnTo>
                    <a:pt x="9900793" y="1451483"/>
                  </a:lnTo>
                  <a:lnTo>
                    <a:pt x="9919843" y="1451483"/>
                  </a:lnTo>
                  <a:cubicBezTo>
                    <a:pt x="9919843" y="1563370"/>
                    <a:pt x="9827513" y="1653413"/>
                    <a:pt x="9714357" y="1653413"/>
                  </a:cubicBezTo>
                  <a:lnTo>
                    <a:pt x="9714357" y="1634363"/>
                  </a:lnTo>
                  <a:lnTo>
                    <a:pt x="9714357" y="1653413"/>
                  </a:lnTo>
                  <a:lnTo>
                    <a:pt x="205486" y="1653413"/>
                  </a:lnTo>
                  <a:lnTo>
                    <a:pt x="205486" y="1634363"/>
                  </a:lnTo>
                  <a:lnTo>
                    <a:pt x="205486" y="1653413"/>
                  </a:lnTo>
                  <a:cubicBezTo>
                    <a:pt x="92329" y="1653413"/>
                    <a:pt x="0" y="1563370"/>
                    <a:pt x="0" y="145148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451483"/>
                  </a:lnTo>
                  <a:lnTo>
                    <a:pt x="19050" y="1451483"/>
                  </a:lnTo>
                  <a:lnTo>
                    <a:pt x="38100" y="1451483"/>
                  </a:lnTo>
                  <a:cubicBezTo>
                    <a:pt x="38100" y="1541653"/>
                    <a:pt x="112649" y="1615313"/>
                    <a:pt x="205486" y="1615313"/>
                  </a:cubicBezTo>
                  <a:lnTo>
                    <a:pt x="9714357" y="1615313"/>
                  </a:lnTo>
                  <a:cubicBezTo>
                    <a:pt x="9807194" y="1615313"/>
                    <a:pt x="9881743" y="1541653"/>
                    <a:pt x="9881743" y="1451483"/>
                  </a:cubicBezTo>
                  <a:lnTo>
                    <a:pt x="9881743" y="201930"/>
                  </a:lnTo>
                  <a:cubicBezTo>
                    <a:pt x="9881743" y="111760"/>
                    <a:pt x="9807194" y="38100"/>
                    <a:pt x="9714357" y="38100"/>
                  </a:cubicBezTo>
                  <a:lnTo>
                    <a:pt x="205486" y="38100"/>
                  </a:lnTo>
                  <a:lnTo>
                    <a:pt x="205486" y="19050"/>
                  </a:lnTo>
                  <a:lnTo>
                    <a:pt x="205486" y="38100"/>
                  </a:lnTo>
                  <a:cubicBezTo>
                    <a:pt x="112649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9144000" y="6391848"/>
            <a:ext cx="127192" cy="1348112"/>
            <a:chOff x="0" y="0"/>
            <a:chExt cx="152400" cy="161528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2400" cy="1615313"/>
            </a:xfrm>
            <a:custGeom>
              <a:avLst/>
              <a:gdLst/>
              <a:ahLst/>
              <a:cxnLst/>
              <a:rect l="l" t="t" r="r" b="b"/>
              <a:pathLst>
                <a:path w="152400" h="1615313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3251" y="0"/>
                  </a:lnTo>
                  <a:cubicBezTo>
                    <a:pt x="130429" y="0"/>
                    <a:pt x="152400" y="21971"/>
                    <a:pt x="152400" y="49149"/>
                  </a:cubicBezTo>
                  <a:lnTo>
                    <a:pt x="152400" y="1566164"/>
                  </a:lnTo>
                  <a:cubicBezTo>
                    <a:pt x="152400" y="1593342"/>
                    <a:pt x="130429" y="1615313"/>
                    <a:pt x="103251" y="1615313"/>
                  </a:cubicBezTo>
                  <a:lnTo>
                    <a:pt x="49149" y="1615313"/>
                  </a:lnTo>
                  <a:cubicBezTo>
                    <a:pt x="21971" y="1615313"/>
                    <a:pt x="0" y="1593342"/>
                    <a:pt x="0" y="1566164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576592" y="6411431"/>
            <a:ext cx="7541117" cy="1270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510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AI Act (EU, 2024)</a:t>
            </a:r>
            <a:r>
              <a:rPr lang="en-US" sz="251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Classifies real-time biometric surveillance in public spaces as high-risk, requiring strict safeguards.</a:t>
            </a:r>
          </a:p>
        </p:txBody>
      </p:sp>
      <p:sp>
        <p:nvSpPr>
          <p:cNvPr id="28" name="Freeform 28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383286" y="1000125"/>
            <a:ext cx="9521428" cy="905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Core Ethical Dilemma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545" y="2778328"/>
            <a:ext cx="8132264" cy="4442374"/>
            <a:chOff x="0" y="0"/>
            <a:chExt cx="10843019" cy="592316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43006" cy="5923153"/>
            </a:xfrm>
            <a:custGeom>
              <a:avLst/>
              <a:gdLst/>
              <a:ahLst/>
              <a:cxnLst/>
              <a:rect l="l" t="t" r="r" b="b"/>
              <a:pathLst>
                <a:path w="10843006" h="5923153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0781284" y="0"/>
                  </a:lnTo>
                  <a:cubicBezTo>
                    <a:pt x="10815320" y="0"/>
                    <a:pt x="10843006" y="27686"/>
                    <a:pt x="10843006" y="61722"/>
                  </a:cubicBezTo>
                  <a:lnTo>
                    <a:pt x="10843006" y="5861431"/>
                  </a:lnTo>
                  <a:cubicBezTo>
                    <a:pt x="10843006" y="5895467"/>
                    <a:pt x="10815320" y="5923153"/>
                    <a:pt x="10781284" y="5923153"/>
                  </a:cubicBezTo>
                  <a:lnTo>
                    <a:pt x="61722" y="5923153"/>
                  </a:lnTo>
                  <a:cubicBezTo>
                    <a:pt x="27686" y="5923153"/>
                    <a:pt x="0" y="5895467"/>
                    <a:pt x="0" y="5861431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166070" y="3077318"/>
            <a:ext cx="4213523" cy="439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🔒</a:t>
            </a:r>
            <a:r>
              <a:rPr lang="en-US" sz="28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Security Argument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6070" y="3766985"/>
            <a:ext cx="7515225" cy="1402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</a:pPr>
            <a:r>
              <a:rPr lang="en-US" sz="247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Proponents argue that pervasive surveillance reduces crime, accelerates emergency response, and protects critical infrastructure — serving the collective good.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6070" y="5432669"/>
            <a:ext cx="7515225" cy="1402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3261" lvl="1" indent="-186630" algn="l">
              <a:lnSpc>
                <a:spcPts val="3777"/>
              </a:lnSpc>
              <a:buFont typeface="Arial"/>
              <a:buChar char="•"/>
            </a:pPr>
            <a:r>
              <a:rPr lang="en-US" sz="247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Crime reduction in monitored zones</a:t>
            </a:r>
          </a:p>
          <a:p>
            <a:pPr marL="373261" lvl="1" indent="-186630" algn="l">
              <a:lnSpc>
                <a:spcPts val="3777"/>
              </a:lnSpc>
              <a:buFont typeface="Arial"/>
              <a:buChar char="•"/>
            </a:pPr>
            <a:r>
              <a:rPr lang="en-US" sz="247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Faster law enforcement response</a:t>
            </a:r>
          </a:p>
          <a:p>
            <a:pPr marL="373261" lvl="1" indent="-186630" algn="l">
              <a:lnSpc>
                <a:spcPts val="3777"/>
              </a:lnSpc>
              <a:buFont typeface="Arial"/>
              <a:buChar char="•"/>
            </a:pPr>
            <a:r>
              <a:rPr lang="en-US" sz="247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Terrorism prevention capability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9915" y="3077318"/>
            <a:ext cx="4052788" cy="439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🛡️ Privacy Argument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29915" y="3766985"/>
            <a:ext cx="7687866" cy="1402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</a:pPr>
            <a:r>
              <a:rPr lang="en-US" sz="24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Critics contend that blanket surveillance is disproportionate, undermines civil liberties, and creates infrastructure vulnerable to abuse by authoritarian actors.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29915" y="5432669"/>
            <a:ext cx="7687866" cy="1402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3261" lvl="1" indent="-186630" algn="l">
              <a:lnSpc>
                <a:spcPts val="3777"/>
              </a:lnSpc>
              <a:buFont typeface="Arial"/>
              <a:buChar char="•"/>
            </a:pPr>
            <a:r>
              <a:rPr lang="en-US" sz="24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Chilling effect on free expression</a:t>
            </a:r>
          </a:p>
          <a:p>
            <a:pPr marL="373261" lvl="1" indent="-186630" algn="l">
              <a:lnSpc>
                <a:spcPts val="3777"/>
              </a:lnSpc>
              <a:buFont typeface="Arial"/>
              <a:buChar char="•"/>
            </a:pPr>
            <a:r>
              <a:rPr lang="en-US" sz="24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Risk of mission creep and abuse</a:t>
            </a:r>
          </a:p>
          <a:p>
            <a:pPr marL="373261" lvl="1" indent="-186630" algn="l">
              <a:lnSpc>
                <a:spcPts val="3777"/>
              </a:lnSpc>
              <a:buFont typeface="Arial"/>
              <a:buChar char="•"/>
            </a:pPr>
            <a:r>
              <a:rPr lang="en-US" sz="24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Disproportionate impact on minorities</a:t>
            </a:r>
          </a:p>
        </p:txBody>
      </p:sp>
      <p:sp>
        <p:nvSpPr>
          <p:cNvPr id="15" name="Freeform 15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9744" y="1652140"/>
            <a:ext cx="8064256" cy="837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Stakeholder Analysis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79744" y="3174359"/>
            <a:ext cx="1646787" cy="1646787"/>
            <a:chOff x="0" y="0"/>
            <a:chExt cx="2195716" cy="2195716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2195703" cy="2195703"/>
            </a:xfrm>
            <a:custGeom>
              <a:avLst/>
              <a:gdLst/>
              <a:ahLst/>
              <a:cxnLst/>
              <a:rect l="l" t="t" r="r" b="b"/>
              <a:pathLst>
                <a:path w="2195703" h="2195703">
                  <a:moveTo>
                    <a:pt x="0" y="0"/>
                  </a:moveTo>
                  <a:lnTo>
                    <a:pt x="2195703" y="0"/>
                  </a:lnTo>
                  <a:lnTo>
                    <a:pt x="2195703" y="2195703"/>
                  </a:lnTo>
                  <a:lnTo>
                    <a:pt x="0" y="2195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079744" y="5187706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Citizens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9744" y="5753843"/>
            <a:ext cx="3742877" cy="285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Primary subjects of surveillance. Bear the privacy risks with limited agency or recourse. Vulnerable groups face disproportionate harm.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208241" y="3174359"/>
            <a:ext cx="1646787" cy="1646787"/>
            <a:chOff x="0" y="0"/>
            <a:chExt cx="2195716" cy="2195716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2195703" cy="2195703"/>
            </a:xfrm>
            <a:custGeom>
              <a:avLst/>
              <a:gdLst/>
              <a:ahLst/>
              <a:cxnLst/>
              <a:rect l="l" t="t" r="r" b="b"/>
              <a:pathLst>
                <a:path w="2195703" h="2195703">
                  <a:moveTo>
                    <a:pt x="0" y="0"/>
                  </a:moveTo>
                  <a:lnTo>
                    <a:pt x="2195703" y="0"/>
                  </a:lnTo>
                  <a:lnTo>
                    <a:pt x="2195703" y="2195703"/>
                  </a:lnTo>
                  <a:lnTo>
                    <a:pt x="0" y="2195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5208241" y="5187706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Government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08241" y="5753843"/>
            <a:ext cx="3742877" cy="2389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Commissioners and regulators. Balance public safety mandates with legal obligations and political accountability.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36729" y="3174359"/>
            <a:ext cx="1646787" cy="1646787"/>
            <a:chOff x="0" y="0"/>
            <a:chExt cx="2195716" cy="2195716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2195703" cy="2195703"/>
            </a:xfrm>
            <a:custGeom>
              <a:avLst/>
              <a:gdLst/>
              <a:ahLst/>
              <a:cxnLst/>
              <a:rect l="l" t="t" r="r" b="b"/>
              <a:pathLst>
                <a:path w="2195703" h="2195703">
                  <a:moveTo>
                    <a:pt x="0" y="0"/>
                  </a:moveTo>
                  <a:lnTo>
                    <a:pt x="2195703" y="0"/>
                  </a:lnTo>
                  <a:lnTo>
                    <a:pt x="2195703" y="2195703"/>
                  </a:lnTo>
                  <a:lnTo>
                    <a:pt x="0" y="2195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9336729" y="5187706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Developers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36729" y="5753843"/>
            <a:ext cx="3742877" cy="2389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Engineers who design and deploy systems. Bear professional responsibility under codes such as ACM for ethical design choices.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465226" y="3174359"/>
            <a:ext cx="1646930" cy="1646930"/>
            <a:chOff x="0" y="0"/>
            <a:chExt cx="2195906" cy="2195906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2195957" cy="2195957"/>
            </a:xfrm>
            <a:custGeom>
              <a:avLst/>
              <a:gdLst/>
              <a:ahLst/>
              <a:cxnLst/>
              <a:rect l="l" t="t" r="r" b="b"/>
              <a:pathLst>
                <a:path w="2195957" h="2195957">
                  <a:moveTo>
                    <a:pt x="0" y="0"/>
                  </a:moveTo>
                  <a:lnTo>
                    <a:pt x="2195957" y="0"/>
                  </a:lnTo>
                  <a:lnTo>
                    <a:pt x="2195957" y="2195957"/>
                  </a:lnTo>
                  <a:lnTo>
                    <a:pt x="0" y="2195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2" b="2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3465226" y="5187848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Law Enforcement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65226" y="5753995"/>
            <a:ext cx="3743030" cy="2389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Primary beneficiaries of surveillance data. Must operate within legal boundaries while managing public trust.</a:t>
            </a:r>
          </a:p>
        </p:txBody>
      </p:sp>
      <p:sp>
        <p:nvSpPr>
          <p:cNvPr id="23" name="Freeform 23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172223" y="859631"/>
            <a:ext cx="7943555" cy="649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Options &amp; Impact Assessment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059710" y="1747660"/>
            <a:ext cx="12168428" cy="6791681"/>
            <a:chOff x="0" y="0"/>
            <a:chExt cx="17475200" cy="97536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7475200" cy="9753600"/>
            </a:xfrm>
            <a:custGeom>
              <a:avLst/>
              <a:gdLst/>
              <a:ahLst/>
              <a:cxnLst/>
              <a:rect l="l" t="t" r="r" b="b"/>
              <a:pathLst>
                <a:path w="17475200" h="9753600">
                  <a:moveTo>
                    <a:pt x="0" y="0"/>
                  </a:moveTo>
                  <a:lnTo>
                    <a:pt x="17475200" y="0"/>
                  </a:lnTo>
                  <a:lnTo>
                    <a:pt x="174752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188664" y="8520290"/>
            <a:ext cx="1391052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68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Option 2 — a regulated, consent-based system with independent oversight — offers the most ethically defensible balance between security utility and civil rights protection.</a:t>
            </a:r>
          </a:p>
        </p:txBody>
      </p:sp>
      <p:sp>
        <p:nvSpPr>
          <p:cNvPr id="10" name="Freeform 10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78541" y="1009650"/>
            <a:ext cx="10527659" cy="7546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Decision &amp; ACM Code of Ethics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8541" y="3237014"/>
            <a:ext cx="5272240" cy="80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Chosen Path: Regulated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8541" y="4246359"/>
            <a:ext cx="5272240" cy="1646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18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ethically justified decision is to deploy surveillance only under strict regulatory constraints, independent oversight, and meaningful public consent mechanisms.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258023" y="2258768"/>
            <a:ext cx="7745311" cy="4596851"/>
            <a:chOff x="0" y="0"/>
            <a:chExt cx="10327081" cy="6129134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0327132" cy="6129147"/>
            </a:xfrm>
            <a:custGeom>
              <a:avLst/>
              <a:gdLst/>
              <a:ahLst/>
              <a:cxnLst/>
              <a:rect l="l" t="t" r="r" b="b"/>
              <a:pathLst>
                <a:path w="10327132" h="6129147">
                  <a:moveTo>
                    <a:pt x="0" y="0"/>
                  </a:moveTo>
                  <a:lnTo>
                    <a:pt x="10327132" y="0"/>
                  </a:lnTo>
                  <a:lnTo>
                    <a:pt x="10327132" y="6129147"/>
                  </a:lnTo>
                  <a:lnTo>
                    <a:pt x="0" y="6129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0" b="-49"/>
              </a:stretch>
            </a:blipFill>
          </p:spPr>
        </p:sp>
      </p:grpSp>
      <p:sp>
        <p:nvSpPr>
          <p:cNvPr id="11" name="Freeform 11" descr="preencoded.png"/>
          <p:cNvSpPr/>
          <p:nvPr/>
        </p:nvSpPr>
        <p:spPr>
          <a:xfrm>
            <a:off x="14236313" y="3382308"/>
            <a:ext cx="659349" cy="659349"/>
          </a:xfrm>
          <a:custGeom>
            <a:avLst/>
            <a:gdLst/>
            <a:ahLst/>
            <a:cxnLst/>
            <a:rect l="l" t="t" r="r" b="b"/>
            <a:pathLst>
              <a:path w="659349" h="659349">
                <a:moveTo>
                  <a:pt x="0" y="0"/>
                </a:moveTo>
                <a:lnTo>
                  <a:pt x="659349" y="0"/>
                </a:lnTo>
                <a:lnTo>
                  <a:pt x="659349" y="659350"/>
                </a:lnTo>
                <a:lnTo>
                  <a:pt x="0" y="659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9285" b="-19285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648877" y="5450110"/>
            <a:ext cx="1925307" cy="1030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062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 Regulated System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1822478" y="3383547"/>
            <a:ext cx="659349" cy="659349"/>
          </a:xfrm>
          <a:custGeom>
            <a:avLst/>
            <a:gdLst/>
            <a:ahLst/>
            <a:cxnLst/>
            <a:rect l="l" t="t" r="r" b="b"/>
            <a:pathLst>
              <a:path w="659349" h="659349">
                <a:moveTo>
                  <a:pt x="0" y="0"/>
                </a:moveTo>
                <a:lnTo>
                  <a:pt x="659349" y="0"/>
                </a:lnTo>
                <a:lnTo>
                  <a:pt x="659349" y="659349"/>
                </a:lnTo>
                <a:lnTo>
                  <a:pt x="0" y="659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714" r="-10714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222469" y="5618655"/>
            <a:ext cx="1925298" cy="69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062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Apply ACM Principles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9396070" y="3383547"/>
            <a:ext cx="659349" cy="659349"/>
          </a:xfrm>
          <a:custGeom>
            <a:avLst/>
            <a:gdLst/>
            <a:ahLst/>
            <a:cxnLst/>
            <a:rect l="l" t="t" r="r" b="b"/>
            <a:pathLst>
              <a:path w="659349" h="659349">
                <a:moveTo>
                  <a:pt x="0" y="0"/>
                </a:moveTo>
                <a:lnTo>
                  <a:pt x="659349" y="0"/>
                </a:lnTo>
                <a:lnTo>
                  <a:pt x="659349" y="659349"/>
                </a:lnTo>
                <a:lnTo>
                  <a:pt x="0" y="659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4285" r="-14285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756494" y="5618655"/>
            <a:ext cx="1925298" cy="69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062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Identify Stakeholders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8541" y="7378008"/>
            <a:ext cx="559146" cy="39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187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01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78541" y="7862592"/>
            <a:ext cx="5274764" cy="38100"/>
            <a:chOff x="0" y="0"/>
            <a:chExt cx="7033019" cy="50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033006" cy="50800"/>
            </a:xfrm>
            <a:custGeom>
              <a:avLst/>
              <a:gdLst/>
              <a:ahLst/>
              <a:cxnLst/>
              <a:rect l="l" t="t" r="r" b="b"/>
              <a:pathLst>
                <a:path w="7033006" h="50800">
                  <a:moveTo>
                    <a:pt x="0" y="0"/>
                  </a:moveTo>
                  <a:lnTo>
                    <a:pt x="7033006" y="0"/>
                  </a:lnTo>
                  <a:lnTo>
                    <a:pt x="703300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978541" y="8030918"/>
            <a:ext cx="5274764" cy="847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187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Privacy</a:t>
            </a:r>
            <a:r>
              <a:rPr lang="en-US" sz="218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ACM 1.6: Respect privacy; limit data collection to what is necessary.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06613" y="7378008"/>
            <a:ext cx="559146" cy="39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187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02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506613" y="7862592"/>
            <a:ext cx="5274764" cy="38100"/>
            <a:chOff x="0" y="0"/>
            <a:chExt cx="7033019" cy="50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033006" cy="50800"/>
            </a:xfrm>
            <a:custGeom>
              <a:avLst/>
              <a:gdLst/>
              <a:ahLst/>
              <a:cxnLst/>
              <a:rect l="l" t="t" r="r" b="b"/>
              <a:pathLst>
                <a:path w="7033006" h="50800">
                  <a:moveTo>
                    <a:pt x="0" y="0"/>
                  </a:moveTo>
                  <a:lnTo>
                    <a:pt x="7033006" y="0"/>
                  </a:lnTo>
                  <a:lnTo>
                    <a:pt x="703300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6506613" y="8030918"/>
            <a:ext cx="5274764" cy="847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187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Fairness</a:t>
            </a:r>
            <a:r>
              <a:rPr lang="en-US" sz="218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ACM 1.4: Be fair and take action not to discriminate; audit algorithms for bias.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34685" y="7378008"/>
            <a:ext cx="559146" cy="39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187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03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034685" y="7862592"/>
            <a:ext cx="5274764" cy="38100"/>
            <a:chOff x="0" y="0"/>
            <a:chExt cx="7033019" cy="50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33006" cy="50800"/>
            </a:xfrm>
            <a:custGeom>
              <a:avLst/>
              <a:gdLst/>
              <a:ahLst/>
              <a:cxnLst/>
              <a:rect l="l" t="t" r="r" b="b"/>
              <a:pathLst>
                <a:path w="7033006" h="50800">
                  <a:moveTo>
                    <a:pt x="0" y="0"/>
                  </a:moveTo>
                  <a:lnTo>
                    <a:pt x="7033006" y="0"/>
                  </a:lnTo>
                  <a:lnTo>
                    <a:pt x="703300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2034685" y="8030918"/>
            <a:ext cx="5274764" cy="124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187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Accountability</a:t>
            </a:r>
            <a:r>
              <a:rPr lang="en-US" sz="218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ACM 1.3: Be honest and trustworthy; ensure transparent, auditable systems.</a:t>
            </a:r>
          </a:p>
        </p:txBody>
      </p:sp>
      <p:sp>
        <p:nvSpPr>
          <p:cNvPr id="29" name="Freeform 29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0120" y="1779984"/>
            <a:ext cx="10046494" cy="1714500"/>
            <a:chOff x="0" y="0"/>
            <a:chExt cx="13395325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95325" cy="2286000"/>
            </a:xfrm>
            <a:custGeom>
              <a:avLst/>
              <a:gdLst/>
              <a:ahLst/>
              <a:cxnLst/>
              <a:rect l="l" t="t" r="r" b="b"/>
              <a:pathLst>
                <a:path w="13395325" h="2286000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13355828" y="0"/>
                  </a:lnTo>
                  <a:cubicBezTo>
                    <a:pt x="13377672" y="0"/>
                    <a:pt x="13395325" y="17653"/>
                    <a:pt x="13395325" y="39497"/>
                  </a:cubicBezTo>
                  <a:lnTo>
                    <a:pt x="13395325" y="2246503"/>
                  </a:lnTo>
                  <a:cubicBezTo>
                    <a:pt x="13395325" y="2268347"/>
                    <a:pt x="13377672" y="2286000"/>
                    <a:pt x="13355828" y="2286000"/>
                  </a:cubicBezTo>
                  <a:lnTo>
                    <a:pt x="39497" y="2286000"/>
                  </a:lnTo>
                  <a:cubicBezTo>
                    <a:pt x="17653" y="2286000"/>
                    <a:pt x="0" y="2268347"/>
                    <a:pt x="0" y="224650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737764" y="1977628"/>
            <a:ext cx="592931" cy="592931"/>
            <a:chOff x="0" y="0"/>
            <a:chExt cx="790575" cy="7905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90575" cy="790575"/>
            </a:xfrm>
            <a:custGeom>
              <a:avLst/>
              <a:gdLst/>
              <a:ahLst/>
              <a:cxnLst/>
              <a:rect l="l" t="t" r="r" b="b"/>
              <a:pathLst>
                <a:path w="790575" h="790575">
                  <a:moveTo>
                    <a:pt x="0" y="395224"/>
                  </a:moveTo>
                  <a:cubicBezTo>
                    <a:pt x="0" y="177038"/>
                    <a:pt x="177038" y="0"/>
                    <a:pt x="395224" y="0"/>
                  </a:cubicBezTo>
                  <a:cubicBezTo>
                    <a:pt x="613410" y="0"/>
                    <a:pt x="790575" y="177038"/>
                    <a:pt x="790575" y="395224"/>
                  </a:cubicBezTo>
                  <a:cubicBezTo>
                    <a:pt x="790575" y="613410"/>
                    <a:pt x="613537" y="790575"/>
                    <a:pt x="395224" y="790575"/>
                  </a:cubicBezTo>
                  <a:cubicBezTo>
                    <a:pt x="176911" y="790575"/>
                    <a:pt x="0" y="613537"/>
                    <a:pt x="0" y="395351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6" name="Freeform 6" descr="preencoded.png"/>
          <p:cNvSpPr/>
          <p:nvPr/>
        </p:nvSpPr>
        <p:spPr>
          <a:xfrm>
            <a:off x="7900879" y="2140601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0"/>
                </a:moveTo>
                <a:lnTo>
                  <a:pt x="266700" y="0"/>
                </a:lnTo>
                <a:lnTo>
                  <a:pt x="2667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85" r="-1785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540120" y="3620995"/>
            <a:ext cx="10046494" cy="1714500"/>
            <a:chOff x="0" y="0"/>
            <a:chExt cx="13395325" cy="228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395325" cy="2286000"/>
            </a:xfrm>
            <a:custGeom>
              <a:avLst/>
              <a:gdLst/>
              <a:ahLst/>
              <a:cxnLst/>
              <a:rect l="l" t="t" r="r" b="b"/>
              <a:pathLst>
                <a:path w="13395325" h="2286000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13355828" y="0"/>
                  </a:lnTo>
                  <a:cubicBezTo>
                    <a:pt x="13377672" y="0"/>
                    <a:pt x="13395325" y="17653"/>
                    <a:pt x="13395325" y="39497"/>
                  </a:cubicBezTo>
                  <a:lnTo>
                    <a:pt x="13395325" y="2246503"/>
                  </a:lnTo>
                  <a:cubicBezTo>
                    <a:pt x="13395325" y="2268347"/>
                    <a:pt x="13377672" y="2286000"/>
                    <a:pt x="13355828" y="2286000"/>
                  </a:cubicBezTo>
                  <a:lnTo>
                    <a:pt x="39497" y="2286000"/>
                  </a:lnTo>
                  <a:cubicBezTo>
                    <a:pt x="17653" y="2286000"/>
                    <a:pt x="0" y="2268347"/>
                    <a:pt x="0" y="224650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737764" y="3818639"/>
            <a:ext cx="592931" cy="592931"/>
            <a:chOff x="0" y="0"/>
            <a:chExt cx="790575" cy="7905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90575" cy="790575"/>
            </a:xfrm>
            <a:custGeom>
              <a:avLst/>
              <a:gdLst/>
              <a:ahLst/>
              <a:cxnLst/>
              <a:rect l="l" t="t" r="r" b="b"/>
              <a:pathLst>
                <a:path w="790575" h="790575">
                  <a:moveTo>
                    <a:pt x="0" y="395224"/>
                  </a:moveTo>
                  <a:cubicBezTo>
                    <a:pt x="0" y="177038"/>
                    <a:pt x="177038" y="0"/>
                    <a:pt x="395224" y="0"/>
                  </a:cubicBezTo>
                  <a:cubicBezTo>
                    <a:pt x="613410" y="0"/>
                    <a:pt x="790575" y="177038"/>
                    <a:pt x="790575" y="395224"/>
                  </a:cubicBezTo>
                  <a:cubicBezTo>
                    <a:pt x="790575" y="613410"/>
                    <a:pt x="613537" y="790575"/>
                    <a:pt x="395224" y="790575"/>
                  </a:cubicBezTo>
                  <a:cubicBezTo>
                    <a:pt x="176911" y="790575"/>
                    <a:pt x="0" y="613537"/>
                    <a:pt x="0" y="395351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11" name="Freeform 11" descr="preencoded.png"/>
          <p:cNvSpPr/>
          <p:nvPr/>
        </p:nvSpPr>
        <p:spPr>
          <a:xfrm>
            <a:off x="7900879" y="3981602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0"/>
                </a:moveTo>
                <a:lnTo>
                  <a:pt x="266700" y="0"/>
                </a:lnTo>
                <a:lnTo>
                  <a:pt x="2667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9642" r="-19642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7540120" y="5461997"/>
            <a:ext cx="10046494" cy="1714500"/>
            <a:chOff x="0" y="0"/>
            <a:chExt cx="13395325" cy="228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395325" cy="2286000"/>
            </a:xfrm>
            <a:custGeom>
              <a:avLst/>
              <a:gdLst/>
              <a:ahLst/>
              <a:cxnLst/>
              <a:rect l="l" t="t" r="r" b="b"/>
              <a:pathLst>
                <a:path w="13395325" h="2286000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13355828" y="0"/>
                  </a:lnTo>
                  <a:cubicBezTo>
                    <a:pt x="13377672" y="0"/>
                    <a:pt x="13395325" y="17653"/>
                    <a:pt x="13395325" y="39497"/>
                  </a:cubicBezTo>
                  <a:lnTo>
                    <a:pt x="13395325" y="2246503"/>
                  </a:lnTo>
                  <a:cubicBezTo>
                    <a:pt x="13395325" y="2268347"/>
                    <a:pt x="13377672" y="2286000"/>
                    <a:pt x="13355828" y="2286000"/>
                  </a:cubicBezTo>
                  <a:lnTo>
                    <a:pt x="39497" y="2286000"/>
                  </a:lnTo>
                  <a:cubicBezTo>
                    <a:pt x="17653" y="2286000"/>
                    <a:pt x="0" y="2268347"/>
                    <a:pt x="0" y="224650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737764" y="5659641"/>
            <a:ext cx="592931" cy="592931"/>
            <a:chOff x="0" y="0"/>
            <a:chExt cx="790575" cy="7905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90575" cy="790575"/>
            </a:xfrm>
            <a:custGeom>
              <a:avLst/>
              <a:gdLst/>
              <a:ahLst/>
              <a:cxnLst/>
              <a:rect l="l" t="t" r="r" b="b"/>
              <a:pathLst>
                <a:path w="790575" h="790575">
                  <a:moveTo>
                    <a:pt x="0" y="395224"/>
                  </a:moveTo>
                  <a:cubicBezTo>
                    <a:pt x="0" y="177038"/>
                    <a:pt x="177038" y="0"/>
                    <a:pt x="395224" y="0"/>
                  </a:cubicBezTo>
                  <a:cubicBezTo>
                    <a:pt x="613410" y="0"/>
                    <a:pt x="790575" y="177038"/>
                    <a:pt x="790575" y="395224"/>
                  </a:cubicBezTo>
                  <a:cubicBezTo>
                    <a:pt x="790575" y="613410"/>
                    <a:pt x="613537" y="790575"/>
                    <a:pt x="395224" y="790575"/>
                  </a:cubicBezTo>
                  <a:cubicBezTo>
                    <a:pt x="176911" y="790575"/>
                    <a:pt x="0" y="613537"/>
                    <a:pt x="0" y="395351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16" name="Freeform 16" descr="preencoded.png"/>
          <p:cNvSpPr/>
          <p:nvPr/>
        </p:nvSpPr>
        <p:spPr>
          <a:xfrm>
            <a:off x="7900879" y="582260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0"/>
                </a:moveTo>
                <a:lnTo>
                  <a:pt x="266700" y="0"/>
                </a:lnTo>
                <a:lnTo>
                  <a:pt x="2667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3571" b="-3571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7540120" y="7302998"/>
            <a:ext cx="10046494" cy="1714500"/>
            <a:chOff x="0" y="0"/>
            <a:chExt cx="13395325" cy="2286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395325" cy="2286000"/>
            </a:xfrm>
            <a:custGeom>
              <a:avLst/>
              <a:gdLst/>
              <a:ahLst/>
              <a:cxnLst/>
              <a:rect l="l" t="t" r="r" b="b"/>
              <a:pathLst>
                <a:path w="13395325" h="2286000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13355828" y="0"/>
                  </a:lnTo>
                  <a:cubicBezTo>
                    <a:pt x="13377672" y="0"/>
                    <a:pt x="13395325" y="17653"/>
                    <a:pt x="13395325" y="39497"/>
                  </a:cubicBezTo>
                  <a:lnTo>
                    <a:pt x="13395325" y="2246503"/>
                  </a:lnTo>
                  <a:cubicBezTo>
                    <a:pt x="13395325" y="2268347"/>
                    <a:pt x="13377672" y="2286000"/>
                    <a:pt x="13355828" y="2286000"/>
                  </a:cubicBezTo>
                  <a:lnTo>
                    <a:pt x="39497" y="2286000"/>
                  </a:lnTo>
                  <a:cubicBezTo>
                    <a:pt x="17653" y="2286000"/>
                    <a:pt x="0" y="2268347"/>
                    <a:pt x="0" y="224650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7737764" y="7500642"/>
            <a:ext cx="592931" cy="592931"/>
            <a:chOff x="0" y="0"/>
            <a:chExt cx="790575" cy="7905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90575" cy="790575"/>
            </a:xfrm>
            <a:custGeom>
              <a:avLst/>
              <a:gdLst/>
              <a:ahLst/>
              <a:cxnLst/>
              <a:rect l="l" t="t" r="r" b="b"/>
              <a:pathLst>
                <a:path w="790575" h="790575">
                  <a:moveTo>
                    <a:pt x="0" y="395224"/>
                  </a:moveTo>
                  <a:cubicBezTo>
                    <a:pt x="0" y="177038"/>
                    <a:pt x="177038" y="0"/>
                    <a:pt x="395224" y="0"/>
                  </a:cubicBezTo>
                  <a:cubicBezTo>
                    <a:pt x="613410" y="0"/>
                    <a:pt x="790575" y="177038"/>
                    <a:pt x="790575" y="395224"/>
                  </a:cubicBezTo>
                  <a:cubicBezTo>
                    <a:pt x="790575" y="613410"/>
                    <a:pt x="613537" y="790575"/>
                    <a:pt x="395224" y="790575"/>
                  </a:cubicBezTo>
                  <a:cubicBezTo>
                    <a:pt x="176911" y="790575"/>
                    <a:pt x="0" y="613537"/>
                    <a:pt x="0" y="395351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21" name="Freeform 21" descr="preencoded.png"/>
          <p:cNvSpPr/>
          <p:nvPr/>
        </p:nvSpPr>
        <p:spPr>
          <a:xfrm>
            <a:off x="7900879" y="766360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0"/>
                </a:moveTo>
                <a:lnTo>
                  <a:pt x="266700" y="0"/>
                </a:lnTo>
                <a:lnTo>
                  <a:pt x="2667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0714" b="-10714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696292" y="2140601"/>
            <a:ext cx="6622257" cy="6131232"/>
          </a:xfrm>
          <a:custGeom>
            <a:avLst/>
            <a:gdLst/>
            <a:ahLst/>
            <a:cxnLst/>
            <a:rect l="l" t="t" r="r" b="b"/>
            <a:pathLst>
              <a:path w="6622257" h="6131232">
                <a:moveTo>
                  <a:pt x="0" y="0"/>
                </a:moveTo>
                <a:lnTo>
                  <a:pt x="6622256" y="0"/>
                </a:lnTo>
                <a:lnTo>
                  <a:pt x="6622256" y="6131232"/>
                </a:lnTo>
                <a:lnTo>
                  <a:pt x="0" y="61312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24070" b="-8059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7540120" y="1009650"/>
            <a:ext cx="5149748" cy="58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 &amp; Conclusion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37764" y="2687545"/>
            <a:ext cx="2246109" cy="29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Minimisation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37764" y="3053658"/>
            <a:ext cx="9651206" cy="243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Collect only what is strictly necessary; delete data after its defined purpose is fulfilled.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37764" y="4528547"/>
            <a:ext cx="2246109" cy="29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Informed Consent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37764" y="4894659"/>
            <a:ext cx="9651206" cy="243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Citizens must be informed of surveillance and given meaningful opt-out mechanisms where feasible.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37764" y="6369548"/>
            <a:ext cx="2246109" cy="29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Bias Audits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37764" y="6735670"/>
            <a:ext cx="9651206" cy="243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Mandate regular third-party audits of algorithmic systems to detect and correct discriminatory outcomes.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37764" y="8210550"/>
            <a:ext cx="2246109" cy="29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Takeaway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737764" y="8576672"/>
            <a:ext cx="9651206" cy="243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Technology is not neutral. Engineers bear ethical responsibility for the systems they design and deploy.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32406" y="3891500"/>
            <a:ext cx="12423188" cy="241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01"/>
              </a:lnSpc>
              <a:spcBef>
                <a:spcPct val="0"/>
              </a:spcBef>
            </a:pPr>
            <a:r>
              <a:rPr lang="en-US" sz="15600">
                <a:solidFill>
                  <a:srgbClr val="0A0A0A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721</Words>
  <Application>Microsoft Office PowerPoint</Application>
  <PresentationFormat>Custom</PresentationFormat>
  <Paragraphs>106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Dela Gothic One</vt:lpstr>
      <vt:lpstr>Source Sans 3</vt:lpstr>
      <vt:lpstr>Calibri</vt:lpstr>
      <vt:lpstr>Source Sans 3 Bold</vt:lpstr>
      <vt:lpstr>Montserrat Bold</vt:lpstr>
      <vt:lpstr>Montserrat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Ethical-and-Legal-Issues-in-Smart-City-Surveillance-Systems (1).pptx</dc:title>
  <cp:lastModifiedBy>692_Aditya_Baheti</cp:lastModifiedBy>
  <cp:revision>2</cp:revision>
  <dcterms:created xsi:type="dcterms:W3CDTF">2006-08-16T00:00:00Z</dcterms:created>
  <dcterms:modified xsi:type="dcterms:W3CDTF">2026-04-23T09:51:23Z</dcterms:modified>
  <dc:identifier>DAHHqbaajVA</dc:identifier>
</cp:coreProperties>
</file>