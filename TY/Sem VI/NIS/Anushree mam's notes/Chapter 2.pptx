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304" r:id="rId23"/>
    <p:sldId id="277" r:id="rId24"/>
    <p:sldId id="278" r:id="rId25"/>
    <p:sldId id="279" r:id="rId26"/>
    <p:sldId id="305" r:id="rId27"/>
    <p:sldId id="282" r:id="rId28"/>
    <p:sldId id="280" r:id="rId29"/>
    <p:sldId id="281"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6" r:id="rId52"/>
    <p:sldId id="307" r:id="rId53"/>
    <p:sldId id="308" r:id="rId54"/>
    <p:sldId id="309" r:id="rId55"/>
    <p:sldId id="310" r:id="rId56"/>
    <p:sldId id="311" r:id="rId57"/>
    <p:sldId id="312" r:id="rId58"/>
    <p:sldId id="313" r:id="rId59"/>
    <p:sldId id="314" r:id="rId60"/>
    <p:sldId id="315" r:id="rId61"/>
    <p:sldId id="316"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74779B7-9A71-4EDE-9B9B-297FE15AC76F}"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762506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4779B7-9A71-4EDE-9B9B-297FE15AC76F}"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553403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4779B7-9A71-4EDE-9B9B-297FE15AC76F}"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350331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74779B7-9A71-4EDE-9B9B-297FE15AC76F}"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09415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74779B7-9A71-4EDE-9B9B-297FE15AC76F}"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94665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74779B7-9A71-4EDE-9B9B-297FE15AC76F}"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360308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4779B7-9A71-4EDE-9B9B-297FE15AC76F}" type="datetimeFigureOut">
              <a:rPr lang="en-IN" smtClean="0"/>
              <a:t>06-02-2026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2501018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4779B7-9A71-4EDE-9B9B-297FE15AC76F}"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2339316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4779B7-9A71-4EDE-9B9B-297FE15AC76F}"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271506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4779B7-9A71-4EDE-9B9B-297FE15AC76F}"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100965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4779B7-9A71-4EDE-9B9B-297FE15AC76F}"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038D43-EDC8-4859-9107-54E916229A51}" type="slidenum">
              <a:rPr lang="en-IN" smtClean="0"/>
              <a:t>‹#›</a:t>
            </a:fld>
            <a:endParaRPr lang="en-IN"/>
          </a:p>
        </p:txBody>
      </p:sp>
    </p:spTree>
    <p:extLst>
      <p:ext uri="{BB962C8B-B14F-4D97-AF65-F5344CB8AC3E}">
        <p14:creationId xmlns:p14="http://schemas.microsoft.com/office/powerpoint/2010/main" val="3424003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4779B7-9A71-4EDE-9B9B-297FE15AC76F}" type="datetimeFigureOut">
              <a:rPr lang="en-IN" smtClean="0"/>
              <a:t>06-02-2026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38D43-EDC8-4859-9107-54E916229A51}" type="slidenum">
              <a:rPr lang="en-IN" smtClean="0"/>
              <a:t>‹#›</a:t>
            </a:fld>
            <a:endParaRPr lang="en-IN"/>
          </a:p>
        </p:txBody>
      </p:sp>
    </p:spTree>
    <p:extLst>
      <p:ext uri="{BB962C8B-B14F-4D97-AF65-F5344CB8AC3E}">
        <p14:creationId xmlns:p14="http://schemas.microsoft.com/office/powerpoint/2010/main" val="3902513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computer-networks/types-of-viru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computer-networks/difference-between-virus-worm-and-trojan-hors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computer-networks/trojan-horse-in-information-securi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computer-networks/difference-between-malware-and-ransomwar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computer-networks/difference-between-spyware-and-ransomwar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computer-networks/what-is-a-rootki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varonis.com/blog/malware-analysis-tools" TargetMode="External"/><Relationship Id="rId2" Type="http://schemas.openxmlformats.org/officeDocument/2006/relationships/hyperlink" Target="https://support.microsoft.com/en-us/windows/protect-my-pc-from-viruses-b2025ed1-02d5-1e87-ba5f-71999008e026"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m/search?q=Input+Validation+Errors+%28Incomplete+Mediation%29&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D" TargetMode="External"/><Relationship Id="rId7" Type="http://schemas.openxmlformats.org/officeDocument/2006/relationships/hyperlink" Target="https://www.google.com/search?q=Security+Misconfigurations&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L" TargetMode="External"/><Relationship Id="rId2" Type="http://schemas.openxmlformats.org/officeDocument/2006/relationships/hyperlink" Target="https://www.google.com/search?q=Buffer+Overflows&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B" TargetMode="External"/><Relationship Id="rId1" Type="http://schemas.openxmlformats.org/officeDocument/2006/relationships/slideLayout" Target="../slideLayouts/slideLayout2.xml"/><Relationship Id="rId6" Type="http://schemas.openxmlformats.org/officeDocument/2006/relationships/hyperlink" Target="https://www.google.com/search?q=Integer+Overflow%2FUnderflow&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J" TargetMode="External"/><Relationship Id="rId5" Type="http://schemas.openxmlformats.org/officeDocument/2006/relationships/hyperlink" Target="https://www.google.com/search?q=Memory+Leaks%2FUninitialized+Variables&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H" TargetMode="External"/><Relationship Id="rId4" Type="http://schemas.openxmlformats.org/officeDocument/2006/relationships/hyperlink" Target="https://www.google.com/search?q=Race+Conditions+%28TOCTOU+-+Time-of-check+to+time-of-use%29&amp;oq=Unintentional+%28Non-malicious%29+Programming+flaws&amp;gs_lcrp=EgZjaHJvbWUyBggAEEUYOTIGCAEQRRg70gEJMTY3M2owajE1qAIIsAIB8QWB9Nxh191syQ&amp;sourceid=chrome&amp;ie=UTF-8&amp;mstk=AUtExfBbzw1ZkJJDUZq-mUkQqD9pGTaqk5g_GIrbenN4EoYaOMIq0fa2uvxu2tfCWstO6SNZbYbSCnzubA8HZw5iNCmHbyK7bvcvGE7S8PC6udcD_SLHG1PQ73pj6kh_YhtsI6JOH2yabV7uxNKL-dlxWKhFVeV-zXShlW95kZo9eg3rJS-pl6wrfH12K2_hOKy2-qKE&amp;csui=3&amp;ved=2ahUKEwi_2_3YgsSSAxUv-DgGHfjVLvAQgK4QegQIAxA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ite.com/buy?item=1&amp;price=1" TargetMode="External"/><Relationship Id="rId2" Type="http://schemas.openxmlformats.org/officeDocument/2006/relationships/hyperlink" Target="http://site.com/buy?item=1&amp;price=10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google.com/search?q=Input+Validation&amp;sca_esv=6db730eca1f1f010&amp;biw=1280&amp;bih=585&amp;sxsrf=ANbL-n5GQQUuVxu7FIDSAp_tsjc8PfvkhA%3A1770617162541&amp;ei=SnmJaYvdIM6dg8UPx7fKgAg&amp;ved=2ahUKEwjPzrH_3suSAxX54TgGHc1yAl4QgK4QegQIAxAC&amp;uact=5&amp;oq=Parameter+Length+in+security&amp;gs_lp=Egxnd3Mtd2l6LXNlcnAiHFBhcmFtZXRlciBMZW5ndGggaW4gc2VjdXJpdHkyBRAhGKABMgUQIRigATIFECEYoAEyBRAhGKABSO0-ULcHWJ47cAF4AZABAJgBiwOgAZAdqgEFMi00Lji4AQPIAQD4AQGYAg2gAs4dwgIKEAAYRxjWBBiwA8ICCxAAGIAEGIoFGJECwgIGEAAYFhgewgIIEAAYFhgeGArCAggQABiABBiiBMICBRAAGO8FwgILEAAYgAQYigUYhgPCAgUQIRifBZgDAIgGAZAGCJIHBzEuMC40LjigB79BsgcFMi00Lji4B8kdwgcFMC43LjbIByWACAE&amp;sclient=gws-wiz-serp&amp;mstk=AUtExfCIFvw5DGAz5MRbrVbBZAJkfErAtAzZ2t7-PWspMi6wo7jEXa9fUFVJrXS-uA6-37-hL7RNVtgQv9IMV6hH9OyY1ZBJf-5NnOpvPgePjK9bKCUJpXVj80Dw0A_G-R43aaJ13K11ru6ABTXAqU8xZHoJ9jNIc8gbGsoAawasNTsLVvDB-i8k4Axy9ivNiCKcYs8K&amp;csui=3"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youtu.be/XH_KVNGsKp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System &amp; Software Security</a:t>
            </a:r>
            <a:endParaRPr lang="en-IN" dirty="0"/>
          </a:p>
        </p:txBody>
      </p:sp>
      <p:sp>
        <p:nvSpPr>
          <p:cNvPr id="3" name="Subtitle 2"/>
          <p:cNvSpPr>
            <a:spLocks noGrp="1"/>
          </p:cNvSpPr>
          <p:nvPr>
            <p:ph type="subTitle" idx="1"/>
          </p:nvPr>
        </p:nvSpPr>
        <p:spPr/>
        <p:txBody>
          <a:bodyPr/>
          <a:lstStyle/>
          <a:p>
            <a:r>
              <a:rPr lang="en-IN" dirty="0" smtClean="0"/>
              <a:t>Chapter II</a:t>
            </a:r>
            <a:endParaRPr lang="en-IN" dirty="0"/>
          </a:p>
        </p:txBody>
      </p:sp>
    </p:spTree>
    <p:extLst>
      <p:ext uri="{BB962C8B-B14F-4D97-AF65-F5344CB8AC3E}">
        <p14:creationId xmlns:p14="http://schemas.microsoft.com/office/powerpoint/2010/main" val="19048853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Malware</a:t>
            </a:r>
            <a:endParaRPr lang="en-IN" dirty="0"/>
          </a:p>
        </p:txBody>
      </p:sp>
      <p:sp>
        <p:nvSpPr>
          <p:cNvPr id="3" name="Content Placeholder 2"/>
          <p:cNvSpPr>
            <a:spLocks noGrp="1"/>
          </p:cNvSpPr>
          <p:nvPr>
            <p:ph idx="1"/>
          </p:nvPr>
        </p:nvSpPr>
        <p:spPr/>
        <p:txBody>
          <a:bodyPr/>
          <a:lstStyle/>
          <a:p>
            <a:pPr algn="just"/>
            <a:r>
              <a:rPr lang="en-US" dirty="0"/>
              <a:t>Malware is software that infects systems without user consent to steal sensitive data (bank details, passwords, personal emails), disrupt operations, or alter core system behavior. </a:t>
            </a:r>
            <a:endParaRPr lang="en-US" dirty="0" smtClean="0"/>
          </a:p>
          <a:p>
            <a:pPr algn="just"/>
            <a:r>
              <a:rPr lang="en-US" dirty="0" smtClean="0"/>
              <a:t>It </a:t>
            </a:r>
            <a:r>
              <a:rPr lang="en-US" dirty="0"/>
              <a:t>can </a:t>
            </a:r>
            <a:r>
              <a:rPr lang="en-US" dirty="0" err="1"/>
              <a:t>exfiltrate</a:t>
            </a:r>
            <a:r>
              <a:rPr lang="en-US" dirty="0"/>
              <a:t> confidential information, corrupt or delete files, and impair system availability or integrity.</a:t>
            </a:r>
            <a:endParaRPr lang="en-IN" dirty="0"/>
          </a:p>
        </p:txBody>
      </p:sp>
    </p:spTree>
    <p:extLst>
      <p:ext uri="{BB962C8B-B14F-4D97-AF65-F5344CB8AC3E}">
        <p14:creationId xmlns:p14="http://schemas.microsoft.com/office/powerpoint/2010/main" val="33761837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 </a:t>
            </a:r>
            <a:r>
              <a:rPr lang="en-US" sz="2400" dirty="0" smtClean="0"/>
              <a:t>Mitigate </a:t>
            </a:r>
            <a:r>
              <a:rPr lang="en-US" sz="2400" dirty="0"/>
              <a:t>risks with up-to-date antivirus and caution when opening links or attachments. </a:t>
            </a:r>
            <a:endParaRPr lang="en-US" sz="2400" dirty="0" smtClean="0"/>
          </a:p>
          <a:p>
            <a:r>
              <a:rPr lang="en-US" sz="2400" dirty="0" smtClean="0"/>
              <a:t>Malware </a:t>
            </a:r>
            <a:r>
              <a:rPr lang="en-US" sz="2400" dirty="0"/>
              <a:t>commonly spreads through the following vectors</a:t>
            </a:r>
            <a:r>
              <a:rPr lang="en-US" sz="2400" dirty="0" smtClean="0"/>
              <a:t>:</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212976"/>
            <a:ext cx="6624736" cy="3343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77217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5575" y="1662906"/>
            <a:ext cx="6292850" cy="4400550"/>
          </a:xfrm>
        </p:spPr>
      </p:pic>
    </p:spTree>
    <p:extLst>
      <p:ext uri="{BB962C8B-B14F-4D97-AF65-F5344CB8AC3E}">
        <p14:creationId xmlns:p14="http://schemas.microsoft.com/office/powerpoint/2010/main" val="16178238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algn="just"/>
            <a:r>
              <a:rPr lang="en-US" b="1" dirty="0"/>
              <a:t>Viruses -</a:t>
            </a:r>
            <a:r>
              <a:rPr lang="en-US" dirty="0"/>
              <a:t> A Virus is a malicious executable code attached to another executable file. </a:t>
            </a:r>
            <a:endParaRPr lang="en-US" dirty="0" smtClean="0"/>
          </a:p>
          <a:p>
            <a:pPr algn="just"/>
            <a:r>
              <a:rPr lang="en-US" dirty="0" smtClean="0"/>
              <a:t>The </a:t>
            </a:r>
            <a:r>
              <a:rPr lang="en-US" dirty="0"/>
              <a:t>virus spreads when an infected file is passed from system to system. </a:t>
            </a:r>
            <a:endParaRPr lang="en-US" dirty="0" smtClean="0"/>
          </a:p>
          <a:p>
            <a:pPr algn="just"/>
            <a:r>
              <a:rPr lang="en-US" u="sng" dirty="0" smtClean="0">
                <a:hlinkClick r:id="rId2"/>
              </a:rPr>
              <a:t>Viruses</a:t>
            </a:r>
            <a:r>
              <a:rPr lang="en-US" dirty="0"/>
              <a:t> can be harmless or they can modify or delete data. Opening a file can trigger a virus. </a:t>
            </a:r>
            <a:endParaRPr lang="en-US" dirty="0" smtClean="0"/>
          </a:p>
          <a:p>
            <a:pPr algn="just"/>
            <a:r>
              <a:rPr lang="en-US" dirty="0" smtClean="0"/>
              <a:t>Once </a:t>
            </a:r>
            <a:r>
              <a:rPr lang="en-US" dirty="0"/>
              <a:t>a program virus is active, it will infect other programs on the computer.</a:t>
            </a:r>
          </a:p>
          <a:p>
            <a:endParaRPr lang="en-IN" dirty="0"/>
          </a:p>
        </p:txBody>
      </p:sp>
    </p:spTree>
    <p:extLst>
      <p:ext uri="{BB962C8B-B14F-4D97-AF65-F5344CB8AC3E}">
        <p14:creationId xmlns:p14="http://schemas.microsoft.com/office/powerpoint/2010/main" val="39411604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algn="just"/>
            <a:r>
              <a:rPr lang="en-US" b="1" dirty="0"/>
              <a:t>Worms -</a:t>
            </a:r>
            <a:r>
              <a:rPr lang="en-US" dirty="0"/>
              <a:t> Worms replicate themselves on the system, attaching themselves to different files and looking for pathways between computers, such as computer network that shares common file storage areas. </a:t>
            </a:r>
            <a:endParaRPr lang="en-US" dirty="0" smtClean="0"/>
          </a:p>
          <a:p>
            <a:pPr algn="just"/>
            <a:r>
              <a:rPr lang="en-US" dirty="0" smtClean="0"/>
              <a:t>Worms </a:t>
            </a:r>
            <a:r>
              <a:rPr lang="en-US" dirty="0"/>
              <a:t>usually slow down networks. </a:t>
            </a:r>
            <a:endParaRPr lang="en-US" dirty="0" smtClean="0"/>
          </a:p>
          <a:p>
            <a:pPr algn="just"/>
            <a:r>
              <a:rPr lang="en-US" dirty="0" smtClean="0"/>
              <a:t>A </a:t>
            </a:r>
            <a:r>
              <a:rPr lang="en-US" dirty="0"/>
              <a:t>virus needs a host program to run but worms can run by themselves</a:t>
            </a:r>
            <a:r>
              <a:rPr lang="en-US" dirty="0" smtClean="0"/>
              <a:t>.</a:t>
            </a:r>
          </a:p>
          <a:p>
            <a:pPr algn="just"/>
            <a:r>
              <a:rPr lang="en-US" dirty="0" smtClean="0"/>
              <a:t> </a:t>
            </a:r>
            <a:r>
              <a:rPr lang="en-US" dirty="0"/>
              <a:t>After a </a:t>
            </a:r>
            <a:r>
              <a:rPr lang="en-US" u="sng" dirty="0">
                <a:hlinkClick r:id="rId2"/>
              </a:rPr>
              <a:t>worm </a:t>
            </a:r>
            <a:r>
              <a:rPr lang="en-US" dirty="0"/>
              <a:t>affects a host, it is able to spread very quickly over the network.</a:t>
            </a:r>
          </a:p>
          <a:p>
            <a:endParaRPr lang="en-IN" dirty="0"/>
          </a:p>
        </p:txBody>
      </p:sp>
    </p:spTree>
    <p:extLst>
      <p:ext uri="{BB962C8B-B14F-4D97-AF65-F5344CB8AC3E}">
        <p14:creationId xmlns:p14="http://schemas.microsoft.com/office/powerpoint/2010/main" val="2930803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b="1" dirty="0"/>
              <a:t>Trojan horse -</a:t>
            </a:r>
            <a:r>
              <a:rPr lang="en-US" dirty="0"/>
              <a:t> A </a:t>
            </a:r>
            <a:r>
              <a:rPr lang="en-US" u="sng" dirty="0">
                <a:hlinkClick r:id="rId2"/>
              </a:rPr>
              <a:t>Trojan horse</a:t>
            </a:r>
            <a:r>
              <a:rPr lang="en-US" dirty="0"/>
              <a:t> is malware that carries out malicious operations under the appearance of a desired operation such as playing an online game. </a:t>
            </a:r>
            <a:endParaRPr lang="en-US" dirty="0" smtClean="0"/>
          </a:p>
          <a:p>
            <a:pPr algn="just"/>
            <a:r>
              <a:rPr lang="en-US" dirty="0" smtClean="0"/>
              <a:t>A </a:t>
            </a:r>
            <a:r>
              <a:rPr lang="en-US" dirty="0"/>
              <a:t>Trojan horse varies from a virus because the Trojan binds itself to non-executable files, such as image files, and audio files.</a:t>
            </a:r>
          </a:p>
          <a:p>
            <a:endParaRPr lang="en-IN" dirty="0"/>
          </a:p>
        </p:txBody>
      </p:sp>
    </p:spTree>
    <p:extLst>
      <p:ext uri="{BB962C8B-B14F-4D97-AF65-F5344CB8AC3E}">
        <p14:creationId xmlns:p14="http://schemas.microsoft.com/office/powerpoint/2010/main" val="31625545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US" b="1" dirty="0" err="1"/>
              <a:t>Ransomware</a:t>
            </a:r>
            <a:r>
              <a:rPr lang="en-US" dirty="0"/>
              <a:t> - </a:t>
            </a:r>
            <a:r>
              <a:rPr lang="en-US" dirty="0" err="1"/>
              <a:t>Ransomware</a:t>
            </a:r>
            <a:r>
              <a:rPr lang="en-US" dirty="0"/>
              <a:t> grasps a computer system or the data it contains until the victim makes a payment. </a:t>
            </a:r>
            <a:endParaRPr lang="en-US" dirty="0" smtClean="0"/>
          </a:p>
          <a:p>
            <a:pPr algn="just"/>
            <a:r>
              <a:rPr lang="en-US" b="1" dirty="0" err="1">
                <a:hlinkClick r:id="rId2"/>
              </a:rPr>
              <a:t>Ransomware</a:t>
            </a:r>
            <a:r>
              <a:rPr lang="en-US" u="sng" dirty="0">
                <a:hlinkClick r:id="rId2"/>
              </a:rPr>
              <a:t> </a:t>
            </a:r>
            <a:r>
              <a:rPr lang="en-US" dirty="0"/>
              <a:t>encrypts data in the computer with a key that is unknown to the user. </a:t>
            </a:r>
            <a:endParaRPr lang="en-US" dirty="0" smtClean="0"/>
          </a:p>
          <a:p>
            <a:pPr algn="just"/>
            <a:r>
              <a:rPr lang="en-US" dirty="0" smtClean="0"/>
              <a:t>The </a:t>
            </a:r>
            <a:r>
              <a:rPr lang="en-US" dirty="0"/>
              <a:t>user has to pay a ransom (price) to the criminals to retrieve data. Once the amount is paid the victim can resume using his/her system.</a:t>
            </a:r>
          </a:p>
          <a:p>
            <a:endParaRPr lang="en-IN" dirty="0"/>
          </a:p>
        </p:txBody>
      </p:sp>
    </p:spTree>
    <p:extLst>
      <p:ext uri="{BB962C8B-B14F-4D97-AF65-F5344CB8AC3E}">
        <p14:creationId xmlns:p14="http://schemas.microsoft.com/office/powerpoint/2010/main" val="11049955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a:bodyPr>
          <a:lstStyle/>
          <a:p>
            <a:pPr algn="just"/>
            <a:r>
              <a:rPr lang="en-US" b="1" dirty="0"/>
              <a:t>Adware</a:t>
            </a:r>
            <a:r>
              <a:rPr lang="en-US" dirty="0"/>
              <a:t> - It displays unwanted ads and pop-ups on the computer. </a:t>
            </a:r>
            <a:endParaRPr lang="en-US" dirty="0" smtClean="0"/>
          </a:p>
          <a:p>
            <a:pPr algn="just"/>
            <a:r>
              <a:rPr lang="en-US" dirty="0" smtClean="0"/>
              <a:t>It </a:t>
            </a:r>
            <a:r>
              <a:rPr lang="en-US" dirty="0"/>
              <a:t>comes along with software downloads and packages. </a:t>
            </a:r>
            <a:endParaRPr lang="en-US" dirty="0" smtClean="0"/>
          </a:p>
          <a:p>
            <a:pPr algn="just"/>
            <a:r>
              <a:rPr lang="en-US" dirty="0" smtClean="0"/>
              <a:t>It </a:t>
            </a:r>
            <a:r>
              <a:rPr lang="en-US" dirty="0"/>
              <a:t>generates revenue for the software distributer by displaying ads</a:t>
            </a:r>
            <a:r>
              <a:rPr lang="en-US" dirty="0" smtClean="0"/>
              <a:t>.</a:t>
            </a:r>
          </a:p>
          <a:p>
            <a:pPr algn="just"/>
            <a:r>
              <a:rPr lang="en-US" b="1" dirty="0"/>
              <a:t>Spyware</a:t>
            </a:r>
            <a:r>
              <a:rPr lang="en-US" dirty="0"/>
              <a:t> - Its purpose is to steal private information from a computer system for a third party. </a:t>
            </a:r>
            <a:endParaRPr lang="en-US" dirty="0" smtClean="0"/>
          </a:p>
          <a:p>
            <a:pPr algn="just"/>
            <a:r>
              <a:rPr lang="en-US" u="sng" dirty="0" smtClean="0">
                <a:hlinkClick r:id="rId2"/>
              </a:rPr>
              <a:t>Spyware</a:t>
            </a:r>
            <a:r>
              <a:rPr lang="en-US" dirty="0"/>
              <a:t> collects information and sends it to the hacker.</a:t>
            </a:r>
          </a:p>
          <a:p>
            <a:pPr algn="just"/>
            <a:endParaRPr lang="en-US" dirty="0"/>
          </a:p>
          <a:p>
            <a:endParaRPr lang="en-IN" dirty="0"/>
          </a:p>
        </p:txBody>
      </p:sp>
    </p:spTree>
    <p:extLst>
      <p:ext uri="{BB962C8B-B14F-4D97-AF65-F5344CB8AC3E}">
        <p14:creationId xmlns:p14="http://schemas.microsoft.com/office/powerpoint/2010/main" val="3391596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algn="just"/>
            <a:r>
              <a:rPr lang="en-US" b="1" dirty="0"/>
              <a:t>Logic Bombs -</a:t>
            </a:r>
            <a:r>
              <a:rPr lang="en-US" dirty="0"/>
              <a:t> A logic bomb is a malicious program that uses a trigger to activate the malicious code. </a:t>
            </a:r>
            <a:endParaRPr lang="en-US" dirty="0" smtClean="0"/>
          </a:p>
          <a:p>
            <a:pPr algn="just"/>
            <a:r>
              <a:rPr lang="en-US" dirty="0" smtClean="0"/>
              <a:t>The </a:t>
            </a:r>
            <a:r>
              <a:rPr lang="en-US" dirty="0"/>
              <a:t>logic bomb remains non-functioning until that trigger event happens. </a:t>
            </a:r>
            <a:endParaRPr lang="en-US" dirty="0" smtClean="0"/>
          </a:p>
          <a:p>
            <a:pPr algn="just"/>
            <a:r>
              <a:rPr lang="en-US" dirty="0" smtClean="0"/>
              <a:t>Once </a:t>
            </a:r>
            <a:r>
              <a:rPr lang="en-US" dirty="0"/>
              <a:t>triggered, a logic bomb implements a malicious code that causes harm to a computer. </a:t>
            </a:r>
            <a:endParaRPr lang="en-US" dirty="0" smtClean="0"/>
          </a:p>
          <a:p>
            <a:pPr algn="just"/>
            <a:r>
              <a:rPr lang="en-US" dirty="0" err="1" smtClean="0"/>
              <a:t>Cybersecurity</a:t>
            </a:r>
            <a:r>
              <a:rPr lang="en-US" dirty="0" smtClean="0"/>
              <a:t> </a:t>
            </a:r>
            <a:r>
              <a:rPr lang="en-US" dirty="0"/>
              <a:t>specialists recently discovered logic bombs that attack and destroy the hardware components in a workstation or server including the cooling fans, hard drives, and power supplies. </a:t>
            </a:r>
            <a:endParaRPr lang="en-US" dirty="0" smtClean="0"/>
          </a:p>
          <a:p>
            <a:pPr algn="just"/>
            <a:r>
              <a:rPr lang="en-US" dirty="0" smtClean="0"/>
              <a:t>The </a:t>
            </a:r>
            <a:r>
              <a:rPr lang="en-US" dirty="0"/>
              <a:t>logic bomb overdrives these devices until they overheat or fail.</a:t>
            </a:r>
          </a:p>
          <a:p>
            <a:endParaRPr lang="en-IN" dirty="0"/>
          </a:p>
        </p:txBody>
      </p:sp>
    </p:spTree>
    <p:extLst>
      <p:ext uri="{BB962C8B-B14F-4D97-AF65-F5344CB8AC3E}">
        <p14:creationId xmlns:p14="http://schemas.microsoft.com/office/powerpoint/2010/main" val="17382864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435280" cy="5721499"/>
          </a:xfrm>
        </p:spPr>
        <p:txBody>
          <a:bodyPr>
            <a:normAutofit fontScale="92500" lnSpcReduction="10000"/>
          </a:bodyPr>
          <a:lstStyle/>
          <a:p>
            <a:pPr algn="just" fontAlgn="base"/>
            <a:r>
              <a:rPr lang="en-US" b="1" dirty="0"/>
              <a:t>Rootkits -</a:t>
            </a:r>
            <a:r>
              <a:rPr lang="en-US" dirty="0"/>
              <a:t> A </a:t>
            </a:r>
            <a:r>
              <a:rPr lang="en-US" u="sng" dirty="0">
                <a:hlinkClick r:id="rId2"/>
              </a:rPr>
              <a:t>rootkit </a:t>
            </a:r>
            <a:r>
              <a:rPr lang="en-US" dirty="0"/>
              <a:t>modifies the OS to make a backdoor. </a:t>
            </a:r>
            <a:endParaRPr lang="en-US" dirty="0" smtClean="0"/>
          </a:p>
          <a:p>
            <a:pPr algn="just" fontAlgn="base"/>
            <a:r>
              <a:rPr lang="en-US" dirty="0" smtClean="0"/>
              <a:t>Attackers </a:t>
            </a:r>
            <a:r>
              <a:rPr lang="en-US" dirty="0"/>
              <a:t>then use the backdoor to access the computer distantly. </a:t>
            </a:r>
            <a:endParaRPr lang="en-US" dirty="0" smtClean="0"/>
          </a:p>
          <a:p>
            <a:pPr algn="just" fontAlgn="base"/>
            <a:r>
              <a:rPr lang="en-US" dirty="0" smtClean="0"/>
              <a:t>Most </a:t>
            </a:r>
            <a:r>
              <a:rPr lang="en-US" dirty="0"/>
              <a:t>rootkits take advantage of </a:t>
            </a:r>
            <a:r>
              <a:rPr lang="en-US" dirty="0" smtClean="0"/>
              <a:t>software vulnerabilities </a:t>
            </a:r>
            <a:r>
              <a:rPr lang="en-US" dirty="0"/>
              <a:t>to modify system files.</a:t>
            </a:r>
          </a:p>
          <a:p>
            <a:pPr algn="just" fontAlgn="base"/>
            <a:r>
              <a:rPr lang="en-US" b="1" dirty="0"/>
              <a:t>Backdoors</a:t>
            </a:r>
            <a:r>
              <a:rPr lang="en-US" dirty="0"/>
              <a:t> - A backdoor bypasses the usual authentication used to access a system. </a:t>
            </a:r>
            <a:endParaRPr lang="en-US" dirty="0" smtClean="0"/>
          </a:p>
          <a:p>
            <a:pPr algn="just" fontAlgn="base"/>
            <a:r>
              <a:rPr lang="en-US" dirty="0" smtClean="0"/>
              <a:t>The </a:t>
            </a:r>
            <a:r>
              <a:rPr lang="en-US" dirty="0"/>
              <a:t>purpose of the backdoor is to grant cyber criminals future access to the system even if the organization fixes the original vulnerability used to attack the system.</a:t>
            </a:r>
          </a:p>
          <a:p>
            <a:endParaRPr lang="en-IN" dirty="0"/>
          </a:p>
        </p:txBody>
      </p:sp>
    </p:spTree>
    <p:extLst>
      <p:ext uri="{BB962C8B-B14F-4D97-AF65-F5344CB8AC3E}">
        <p14:creationId xmlns:p14="http://schemas.microsoft.com/office/powerpoint/2010/main" val="35218060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b="1" dirty="0" err="1"/>
              <a:t>Keyloggers</a:t>
            </a:r>
            <a:r>
              <a:rPr lang="en-US" b="1" dirty="0"/>
              <a:t> -</a:t>
            </a:r>
            <a:r>
              <a:rPr lang="en-US" dirty="0"/>
              <a:t> </a:t>
            </a:r>
            <a:r>
              <a:rPr lang="en-US" dirty="0" err="1"/>
              <a:t>Keylogger</a:t>
            </a:r>
            <a:r>
              <a:rPr lang="en-US" dirty="0"/>
              <a:t> records everything the user types on his/her computer system to obtain passwords and other sensitive information and send them to the source of the </a:t>
            </a:r>
            <a:r>
              <a:rPr lang="en-US" dirty="0" err="1"/>
              <a:t>keylogging</a:t>
            </a:r>
            <a:r>
              <a:rPr lang="en-US" dirty="0"/>
              <a:t> program.</a:t>
            </a:r>
          </a:p>
          <a:p>
            <a:endParaRPr lang="en-IN" dirty="0"/>
          </a:p>
        </p:txBody>
      </p:sp>
    </p:spTree>
    <p:extLst>
      <p:ext uri="{BB962C8B-B14F-4D97-AF65-F5344CB8AC3E}">
        <p14:creationId xmlns:p14="http://schemas.microsoft.com/office/powerpoint/2010/main" val="3603756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Anti-Malware Strategies</a:t>
            </a:r>
          </a:p>
        </p:txBody>
      </p:sp>
      <p:sp>
        <p:nvSpPr>
          <p:cNvPr id="3" name="Content Placeholder 2"/>
          <p:cNvSpPr>
            <a:spLocks noGrp="1"/>
          </p:cNvSpPr>
          <p:nvPr>
            <p:ph idx="1"/>
          </p:nvPr>
        </p:nvSpPr>
        <p:spPr/>
        <p:txBody>
          <a:bodyPr>
            <a:normAutofit fontScale="77500" lnSpcReduction="20000"/>
          </a:bodyPr>
          <a:lstStyle/>
          <a:p>
            <a:r>
              <a:rPr lang="en-US" b="1" dirty="0"/>
              <a:t>Proactive Prevention:</a:t>
            </a:r>
            <a:r>
              <a:rPr lang="en-US" dirty="0"/>
              <a:t> Regularly updating software and operating systems to patch vulnerabilities.</a:t>
            </a:r>
          </a:p>
          <a:p>
            <a:r>
              <a:rPr lang="en-US" b="1" dirty="0"/>
              <a:t>Defense-in-Depth:</a:t>
            </a:r>
            <a:r>
              <a:rPr lang="en-US" dirty="0"/>
              <a:t> Implementing multiple layers of security, such as firewalls, intrusion detection systems (IDS), and web filtering.</a:t>
            </a:r>
          </a:p>
          <a:p>
            <a:r>
              <a:rPr lang="en-US" b="1" dirty="0"/>
              <a:t>Zero Trust Architecture:</a:t>
            </a:r>
            <a:r>
              <a:rPr lang="en-US" dirty="0"/>
              <a:t> Adopting a strict, least-privilege access policy to restrict malware movement.</a:t>
            </a:r>
          </a:p>
          <a:p>
            <a:r>
              <a:rPr lang="en-US" b="1" dirty="0"/>
              <a:t>User Training:</a:t>
            </a:r>
            <a:r>
              <a:rPr lang="en-US" dirty="0"/>
              <a:t> Educating users to avoid suspicious links and email attachments.</a:t>
            </a:r>
          </a:p>
          <a:p>
            <a:r>
              <a:rPr lang="en-US" b="1" dirty="0"/>
              <a:t>Data Backups:</a:t>
            </a:r>
            <a:r>
              <a:rPr lang="en-US" dirty="0"/>
              <a:t> Maintaining regular, offline backups to restore data in case of </a:t>
            </a:r>
            <a:r>
              <a:rPr lang="en-US" dirty="0" err="1"/>
              <a:t>ransomware</a:t>
            </a:r>
            <a:r>
              <a:rPr lang="en-US" dirty="0"/>
              <a:t>.</a:t>
            </a:r>
          </a:p>
          <a:p>
            <a:r>
              <a:rPr lang="en-US" b="1" dirty="0"/>
              <a:t>Network Segmentation:</a:t>
            </a:r>
            <a:r>
              <a:rPr lang="en-US" dirty="0"/>
              <a:t> Dividing networks into smaller, isolated zones to contain potential breaches. </a:t>
            </a:r>
          </a:p>
          <a:p>
            <a:endParaRPr lang="en-IN" dirty="0"/>
          </a:p>
        </p:txBody>
      </p:sp>
    </p:spTree>
    <p:extLst>
      <p:ext uri="{BB962C8B-B14F-4D97-AF65-F5344CB8AC3E}">
        <p14:creationId xmlns:p14="http://schemas.microsoft.com/office/powerpoint/2010/main" val="11848425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b="1" dirty="0" smtClean="0"/>
              <a:t>Anti-Malware </a:t>
            </a:r>
            <a:r>
              <a:rPr lang="en-IN" b="1" dirty="0"/>
              <a:t>Tools</a:t>
            </a:r>
            <a:br>
              <a:rPr lang="en-IN" b="1" dirty="0"/>
            </a:br>
            <a:r>
              <a:rPr lang="en-IN" b="1" dirty="0"/>
              <a:t/>
            </a:r>
            <a:br>
              <a:rPr lang="en-IN" b="1" dirty="0"/>
            </a:br>
            <a:endParaRPr lang="en-IN" b="1" dirty="0"/>
          </a:p>
        </p:txBody>
      </p:sp>
      <p:sp>
        <p:nvSpPr>
          <p:cNvPr id="3" name="Content Placeholder 2"/>
          <p:cNvSpPr>
            <a:spLocks noGrp="1"/>
          </p:cNvSpPr>
          <p:nvPr>
            <p:ph idx="1"/>
          </p:nvPr>
        </p:nvSpPr>
        <p:spPr/>
        <p:txBody>
          <a:bodyPr>
            <a:normAutofit fontScale="70000" lnSpcReduction="20000"/>
          </a:bodyPr>
          <a:lstStyle/>
          <a:p>
            <a:r>
              <a:rPr lang="en-US" b="1" dirty="0"/>
              <a:t>Antivirus/Anti-Malware Software:</a:t>
            </a:r>
            <a:r>
              <a:rPr lang="en-US" dirty="0"/>
              <a:t> Tools like </a:t>
            </a:r>
            <a:r>
              <a:rPr lang="en-US" dirty="0" err="1"/>
              <a:t>Malwarebytes</a:t>
            </a:r>
            <a:r>
              <a:rPr lang="en-US" dirty="0"/>
              <a:t>, </a:t>
            </a:r>
            <a:r>
              <a:rPr lang="en-US" dirty="0">
                <a:hlinkClick r:id="rId2"/>
              </a:rPr>
              <a:t>Microsoft Defender</a:t>
            </a:r>
            <a:r>
              <a:rPr lang="en-US" dirty="0"/>
              <a:t>, and others provide signature-based detection and real-time scanning.</a:t>
            </a:r>
          </a:p>
          <a:p>
            <a:r>
              <a:rPr lang="en-US" b="1" dirty="0"/>
              <a:t>Endpoint Detection and Response (EDR):</a:t>
            </a:r>
            <a:r>
              <a:rPr lang="en-US" dirty="0"/>
              <a:t> Advanced tools for monitoring, detecting, and responding to threats at the endpoint level.</a:t>
            </a:r>
          </a:p>
          <a:p>
            <a:r>
              <a:rPr lang="en-US" b="1" dirty="0"/>
              <a:t>Network Security Tools:</a:t>
            </a:r>
            <a:r>
              <a:rPr lang="en-US" dirty="0"/>
              <a:t> Firewalls and network traffic analyzers, such as </a:t>
            </a:r>
            <a:r>
              <a:rPr lang="en-US" dirty="0" err="1"/>
              <a:t>Wireshark</a:t>
            </a:r>
            <a:r>
              <a:rPr lang="en-US" dirty="0"/>
              <a:t> and </a:t>
            </a:r>
            <a:r>
              <a:rPr lang="en-US" dirty="0">
                <a:hlinkClick r:id="rId3"/>
              </a:rPr>
              <a:t>Fiddler</a:t>
            </a:r>
            <a:r>
              <a:rPr lang="en-US" dirty="0"/>
              <a:t>, help detect unusual traffic.</a:t>
            </a:r>
          </a:p>
          <a:p>
            <a:r>
              <a:rPr lang="en-US" b="1" dirty="0"/>
              <a:t>Email &amp; Web Filtering:</a:t>
            </a:r>
            <a:r>
              <a:rPr lang="en-US" dirty="0"/>
              <a:t> Solutions that block malicious websites and phishing emails.</a:t>
            </a:r>
          </a:p>
          <a:p>
            <a:r>
              <a:rPr lang="en-US" b="1" dirty="0"/>
              <a:t>Deception Technology:</a:t>
            </a:r>
            <a:r>
              <a:rPr lang="en-US" dirty="0"/>
              <a:t> Using honeypots and decoys to lure and analyze attackers.</a:t>
            </a:r>
          </a:p>
          <a:p>
            <a:r>
              <a:rPr lang="en-US" b="1" dirty="0"/>
              <a:t>Memory Protection Tools:</a:t>
            </a:r>
            <a:r>
              <a:rPr lang="en-US" dirty="0"/>
              <a:t> Defend against </a:t>
            </a:r>
            <a:r>
              <a:rPr lang="en-US" dirty="0" err="1"/>
              <a:t>fileless</a:t>
            </a:r>
            <a:r>
              <a:rPr lang="en-US" dirty="0"/>
              <a:t> malware that operates in memory. </a:t>
            </a:r>
          </a:p>
          <a:p>
            <a:endParaRPr lang="en-IN" dirty="0"/>
          </a:p>
        </p:txBody>
      </p:sp>
    </p:spTree>
    <p:extLst>
      <p:ext uri="{BB962C8B-B14F-4D97-AF65-F5344CB8AC3E}">
        <p14:creationId xmlns:p14="http://schemas.microsoft.com/office/powerpoint/2010/main" val="41423839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1" dirty="0"/>
              <a:t>Unintentional (Non-malicious) Programming flaws</a:t>
            </a:r>
          </a:p>
        </p:txBody>
      </p:sp>
      <p:sp>
        <p:nvSpPr>
          <p:cNvPr id="3" name="Content Placeholder 2"/>
          <p:cNvSpPr>
            <a:spLocks noGrp="1"/>
          </p:cNvSpPr>
          <p:nvPr>
            <p:ph idx="1"/>
          </p:nvPr>
        </p:nvSpPr>
        <p:spPr/>
        <p:txBody>
          <a:bodyPr>
            <a:normAutofit lnSpcReduction="10000"/>
          </a:bodyPr>
          <a:lstStyle/>
          <a:p>
            <a:pPr algn="just"/>
            <a:r>
              <a:rPr lang="en-US" dirty="0"/>
              <a:t>Unintentional or non-malicious programming flaws are accidental software bugs, logic errors, or oversights during design and coding that create security vulnerabilities</a:t>
            </a:r>
            <a:r>
              <a:rPr lang="en-US" dirty="0"/>
              <a:t>. </a:t>
            </a:r>
            <a:endParaRPr lang="en-US" dirty="0" smtClean="0"/>
          </a:p>
          <a:p>
            <a:pPr algn="just"/>
            <a:r>
              <a:rPr lang="en-US" dirty="0" smtClean="0"/>
              <a:t>These </a:t>
            </a:r>
            <a:r>
              <a:rPr lang="en-US" dirty="0"/>
              <a:t>common mistakes, such as buffer overflows, improper input validation, and race conditions, do not stem from malicious intent but can lead to severe system instability, data breaches, or arbitrary code execution. </a:t>
            </a:r>
            <a:endParaRPr lang="en-IN" dirty="0"/>
          </a:p>
        </p:txBody>
      </p:sp>
    </p:spTree>
    <p:extLst>
      <p:ext uri="{BB962C8B-B14F-4D97-AF65-F5344CB8AC3E}">
        <p14:creationId xmlns:p14="http://schemas.microsoft.com/office/powerpoint/2010/main" val="3831881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US" b="1" dirty="0"/>
              <a:t>Key Types of Non-Malicious Programming Flaws</a:t>
            </a:r>
            <a:endParaRPr lang="en-IN" dirty="0"/>
          </a:p>
        </p:txBody>
      </p:sp>
      <p:sp>
        <p:nvSpPr>
          <p:cNvPr id="3" name="Content Placeholder 2"/>
          <p:cNvSpPr>
            <a:spLocks noGrp="1"/>
          </p:cNvSpPr>
          <p:nvPr>
            <p:ph idx="1"/>
          </p:nvPr>
        </p:nvSpPr>
        <p:spPr>
          <a:xfrm>
            <a:off x="457200" y="1340768"/>
            <a:ext cx="8229600" cy="5040560"/>
          </a:xfrm>
        </p:spPr>
        <p:txBody>
          <a:bodyPr>
            <a:normAutofit fontScale="62500" lnSpcReduction="20000"/>
          </a:bodyPr>
          <a:lstStyle/>
          <a:p>
            <a:pPr algn="just"/>
            <a:r>
              <a:rPr lang="en-US" b="1" dirty="0">
                <a:hlinkClick r:id="rId2"/>
              </a:rPr>
              <a:t>Buffer Overflows</a:t>
            </a:r>
            <a:r>
              <a:rPr lang="en-US" b="1" dirty="0"/>
              <a:t>:</a:t>
            </a:r>
            <a:r>
              <a:rPr lang="en-US" dirty="0"/>
              <a:t> Occur when a program writes more data to a storage area (buffer) than it can hold, overwriting adjacent memory. This can lead to system crashes or arbitrary code execution.</a:t>
            </a:r>
          </a:p>
          <a:p>
            <a:pPr algn="just"/>
            <a:r>
              <a:rPr lang="en-US" b="1" dirty="0">
                <a:hlinkClick r:id="rId3"/>
              </a:rPr>
              <a:t>Input Validation Errors (Incomplete Mediation)</a:t>
            </a:r>
            <a:r>
              <a:rPr lang="en-US" b="1" dirty="0"/>
              <a:t>:</a:t>
            </a:r>
            <a:r>
              <a:rPr lang="en-US" dirty="0"/>
              <a:t> Failures to properly sanitize user input, allowing attackers to manipulate input fields to execute unauthorized actions, such as SQL injection or Cross-Site Scripting (XSS).</a:t>
            </a:r>
          </a:p>
          <a:p>
            <a:pPr algn="just"/>
            <a:r>
              <a:rPr lang="en-US" b="1" dirty="0">
                <a:hlinkClick r:id="rId4"/>
              </a:rPr>
              <a:t>Race Conditions (TOCTOU - Time-of-check to time-of-use)</a:t>
            </a:r>
            <a:r>
              <a:rPr lang="en-US" b="1" dirty="0"/>
              <a:t>:</a:t>
            </a:r>
            <a:r>
              <a:rPr lang="en-US" dirty="0"/>
              <a:t> A flaw where a program checks a resource's status (like file permissions) but that status changes before the program acts on it, allowing for unauthorized access.</a:t>
            </a:r>
          </a:p>
          <a:p>
            <a:pPr algn="just"/>
            <a:r>
              <a:rPr lang="en-US" b="1" dirty="0">
                <a:hlinkClick r:id="rId5"/>
              </a:rPr>
              <a:t>Memory Leaks/Uninitialized Variables</a:t>
            </a:r>
            <a:r>
              <a:rPr lang="en-US" b="1" dirty="0"/>
              <a:t>:</a:t>
            </a:r>
            <a:r>
              <a:rPr lang="en-US" dirty="0"/>
              <a:t> Errors in memory management where applications fail to release unused memory or use variables before assigning them, potentially leading to system instability.</a:t>
            </a:r>
          </a:p>
          <a:p>
            <a:pPr algn="just"/>
            <a:r>
              <a:rPr lang="en-US" b="1" dirty="0">
                <a:hlinkClick r:id="rId6"/>
              </a:rPr>
              <a:t>Integer Overflow/Underflow</a:t>
            </a:r>
            <a:r>
              <a:rPr lang="en-US" b="1" dirty="0"/>
              <a:t>:</a:t>
            </a:r>
            <a:r>
              <a:rPr lang="en-US" dirty="0"/>
              <a:t> Calculations exceeding the maximum or minimum value allowed for an integer type, causing unexpected behavior in loops or memory allocation.</a:t>
            </a:r>
          </a:p>
          <a:p>
            <a:pPr algn="just"/>
            <a:r>
              <a:rPr lang="en-US" b="1" dirty="0">
                <a:hlinkClick r:id="rId7"/>
              </a:rPr>
              <a:t>Security Misconfigurations</a:t>
            </a:r>
            <a:r>
              <a:rPr lang="en-US" b="1" dirty="0"/>
              <a:t>:</a:t>
            </a:r>
            <a:r>
              <a:rPr lang="en-US" dirty="0"/>
              <a:t> Leaving default passwords, unnecessary services enabled, or, improper, overly permissive access rights. </a:t>
            </a:r>
          </a:p>
          <a:p>
            <a:pPr marL="0" indent="0" algn="just">
              <a:buNone/>
            </a:pPr>
            <a:endParaRPr lang="en-IN" dirty="0"/>
          </a:p>
        </p:txBody>
      </p:sp>
    </p:spTree>
    <p:extLst>
      <p:ext uri="{BB962C8B-B14F-4D97-AF65-F5344CB8AC3E}">
        <p14:creationId xmlns:p14="http://schemas.microsoft.com/office/powerpoint/2010/main" val="33849941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US" b="1" dirty="0" smtClean="0"/>
              <a:t>Buffer Overflow</a:t>
            </a:r>
            <a:endParaRPr lang="en-IN" dirty="0"/>
          </a:p>
        </p:txBody>
      </p:sp>
      <p:sp>
        <p:nvSpPr>
          <p:cNvPr id="3" name="Content Placeholder 2"/>
          <p:cNvSpPr>
            <a:spLocks noGrp="1"/>
          </p:cNvSpPr>
          <p:nvPr>
            <p:ph idx="1"/>
          </p:nvPr>
        </p:nvSpPr>
        <p:spPr>
          <a:xfrm>
            <a:off x="457200" y="980728"/>
            <a:ext cx="8229600" cy="5400600"/>
          </a:xfrm>
        </p:spPr>
        <p:txBody>
          <a:bodyPr>
            <a:noAutofit/>
          </a:bodyPr>
          <a:lstStyle/>
          <a:p>
            <a:r>
              <a:rPr lang="en-US" sz="2400" dirty="0"/>
              <a:t>Buffers are used to store specific amounts of information. </a:t>
            </a:r>
            <a:endParaRPr lang="en-US" sz="2400" dirty="0" smtClean="0"/>
          </a:p>
          <a:p>
            <a:r>
              <a:rPr lang="en-US" sz="2400" dirty="0" smtClean="0"/>
              <a:t>Unless </a:t>
            </a:r>
            <a:r>
              <a:rPr lang="en-US" sz="2400" dirty="0"/>
              <a:t>the program utilizing the buffer has built-in instructions to discard data when too much is sent, the data in memory adjacent to the buffer will be overwritten</a:t>
            </a:r>
            <a:r>
              <a:rPr lang="en-US" sz="2400" dirty="0" smtClean="0"/>
              <a:t>.</a:t>
            </a:r>
          </a:p>
          <a:p>
            <a:r>
              <a:rPr lang="en-US" sz="2400" dirty="0"/>
              <a:t>Attackers can take advantage of buffer overflows to corrupt software. </a:t>
            </a:r>
            <a:endParaRPr lang="en-US" sz="2400" dirty="0" smtClean="0"/>
          </a:p>
          <a:p>
            <a:r>
              <a:rPr lang="en-US" sz="2400" dirty="0" smtClean="0"/>
              <a:t>Buffer </a:t>
            </a:r>
            <a:r>
              <a:rPr lang="en-US" sz="2400" dirty="0"/>
              <a:t>overflow attacks, despite being well-understood, remain a serious security issue that plagues cyber-security teams</a:t>
            </a:r>
            <a:r>
              <a:rPr lang="en-US" sz="2400" dirty="0" smtClean="0"/>
              <a:t>.</a:t>
            </a:r>
          </a:p>
          <a:p>
            <a:r>
              <a:rPr lang="en-US" sz="2400" dirty="0"/>
              <a:t>Buffer overflows are classified based on the buffer's location in the process memory. </a:t>
            </a:r>
            <a:endParaRPr lang="en-US" sz="2400" dirty="0" smtClean="0"/>
          </a:p>
          <a:p>
            <a:r>
              <a:rPr lang="en-US" sz="2400" dirty="0" smtClean="0"/>
              <a:t>Stack-based </a:t>
            </a:r>
            <a:r>
              <a:rPr lang="en-US" sz="2400" dirty="0"/>
              <a:t>or heap-based overflows are the most common. </a:t>
            </a:r>
            <a:endParaRPr lang="en-US" sz="2400" dirty="0" smtClean="0"/>
          </a:p>
          <a:p>
            <a:r>
              <a:rPr lang="en-US" sz="2400" dirty="0" smtClean="0"/>
              <a:t>Both </a:t>
            </a:r>
            <a:r>
              <a:rPr lang="en-US" sz="2400" dirty="0"/>
              <a:t>are stored in the random access memory of a device.</a:t>
            </a:r>
            <a:endParaRPr lang="en-IN" sz="2400" dirty="0"/>
          </a:p>
        </p:txBody>
      </p:sp>
    </p:spTree>
    <p:extLst>
      <p:ext uri="{BB962C8B-B14F-4D97-AF65-F5344CB8AC3E}">
        <p14:creationId xmlns:p14="http://schemas.microsoft.com/office/powerpoint/2010/main" val="32568884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Stack-based Buffer Overflow</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a:t>A stack</a:t>
            </a:r>
            <a:r>
              <a:rPr lang="en-US" dirty="0" smtClean="0"/>
              <a:t>, </a:t>
            </a:r>
            <a:r>
              <a:rPr lang="en-US" dirty="0"/>
              <a:t>has a fixed size. </a:t>
            </a:r>
            <a:endParaRPr lang="en-US" dirty="0" smtClean="0"/>
          </a:p>
          <a:p>
            <a:pPr algn="just"/>
            <a:r>
              <a:rPr lang="en-US" dirty="0" smtClean="0"/>
              <a:t>The </a:t>
            </a:r>
            <a:r>
              <a:rPr lang="en-US" dirty="0"/>
              <a:t>code developer must set aside a certain amount of space for the stack. </a:t>
            </a:r>
            <a:endParaRPr lang="en-US" dirty="0" smtClean="0"/>
          </a:p>
          <a:p>
            <a:pPr algn="just"/>
            <a:r>
              <a:rPr lang="en-US" dirty="0" smtClean="0"/>
              <a:t>The </a:t>
            </a:r>
            <a:r>
              <a:rPr lang="en-US" dirty="0"/>
              <a:t>stack will overflow if the user's input is longer than the amount of space designated within the stack and the software does not verify that the input will fit. </a:t>
            </a:r>
            <a:endParaRPr lang="en-US" dirty="0" smtClean="0"/>
          </a:p>
          <a:p>
            <a:pPr algn="just"/>
            <a:r>
              <a:rPr lang="en-US" dirty="0" smtClean="0"/>
              <a:t>This </a:t>
            </a:r>
            <a:r>
              <a:rPr lang="en-US" dirty="0"/>
              <a:t>isn't a significant issue in and of itself, but when combined with malicious input, it becomes a major security flaw.</a:t>
            </a:r>
            <a:endParaRPr lang="en-IN" dirty="0"/>
          </a:p>
        </p:txBody>
      </p:sp>
    </p:spTree>
    <p:extLst>
      <p:ext uri="{BB962C8B-B14F-4D97-AF65-F5344CB8AC3E}">
        <p14:creationId xmlns:p14="http://schemas.microsoft.com/office/powerpoint/2010/main" val="17591221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endParaRPr lang="en-IN" dirty="0"/>
          </a:p>
        </p:txBody>
      </p:sp>
      <p:sp>
        <p:nvSpPr>
          <p:cNvPr id="3" name="Content Placeholder 2"/>
          <p:cNvSpPr>
            <a:spLocks noGrp="1"/>
          </p:cNvSpPr>
          <p:nvPr>
            <p:ph idx="1"/>
          </p:nvPr>
        </p:nvSpPr>
        <p:spPr/>
        <p:txBody>
          <a:bodyPr/>
          <a:lstStyle/>
          <a:p>
            <a:pPr algn="just"/>
            <a:r>
              <a:rPr lang="en-US" b="1" dirty="0"/>
              <a:t>Heap overflow attack</a:t>
            </a:r>
            <a:r>
              <a:rPr lang="en-US" dirty="0"/>
              <a:t> - This type of attack targets data in the open memory pool known as the heap*.</a:t>
            </a:r>
          </a:p>
          <a:p>
            <a:pPr algn="just"/>
            <a:r>
              <a:rPr lang="en-US" b="1" dirty="0"/>
              <a:t>Integer overflow attack</a:t>
            </a:r>
            <a:r>
              <a:rPr lang="en-US" dirty="0"/>
              <a:t> - In an integer overflow, an arithmetic operation results in an integer (whole number) that is too large for the integer type meant to store it; this can result in a buffer overflow.</a:t>
            </a:r>
          </a:p>
          <a:p>
            <a:endParaRPr lang="en-IN" dirty="0"/>
          </a:p>
        </p:txBody>
      </p:sp>
    </p:spTree>
    <p:extLst>
      <p:ext uri="{BB962C8B-B14F-4D97-AF65-F5344CB8AC3E}">
        <p14:creationId xmlns:p14="http://schemas.microsoft.com/office/powerpoint/2010/main" val="29661854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Incomplete mediation</a:t>
            </a:r>
            <a:endParaRPr lang="en-IN" sz="4800" dirty="0"/>
          </a:p>
        </p:txBody>
      </p:sp>
      <p:sp>
        <p:nvSpPr>
          <p:cNvPr id="3" name="Content Placeholder 2"/>
          <p:cNvSpPr>
            <a:spLocks noGrp="1"/>
          </p:cNvSpPr>
          <p:nvPr>
            <p:ph idx="1"/>
          </p:nvPr>
        </p:nvSpPr>
        <p:spPr/>
        <p:txBody>
          <a:bodyPr>
            <a:normAutofit fontScale="85000" lnSpcReduction="10000"/>
          </a:bodyPr>
          <a:lstStyle/>
          <a:p>
            <a:pPr algn="just"/>
            <a:r>
              <a:rPr lang="en-US" b="1" dirty="0"/>
              <a:t>Definition</a:t>
            </a:r>
            <a:r>
              <a:rPr lang="en-US" dirty="0"/>
              <a:t>: Incomplete mediation refers to the failure of a system to enforce security policies consistently across all entry points. It involves verifying that a subject is authorized to perform an operation on an object, but failing to do so completely can lead to security vulnerabilities</a:t>
            </a:r>
            <a:r>
              <a:rPr lang="en-US" dirty="0" smtClean="0"/>
              <a:t>.</a:t>
            </a:r>
            <a:endParaRPr lang="en-US" dirty="0"/>
          </a:p>
          <a:p>
            <a:pPr algn="just"/>
            <a:r>
              <a:rPr lang="en-US" b="1" dirty="0"/>
              <a:t>Impact</a:t>
            </a:r>
            <a:r>
              <a:rPr lang="en-US" dirty="0"/>
              <a:t>: This can lead to vulnerabilities where attackers exploit the system by bypassing security checks, resulting in unauthorized access or data corruption. For instance, if data is changed between the access check and its use, it can lead to serious security implications.</a:t>
            </a:r>
          </a:p>
          <a:p>
            <a:pPr algn="just"/>
            <a:endParaRPr lang="en-IN" dirty="0"/>
          </a:p>
        </p:txBody>
      </p:sp>
    </p:spTree>
    <p:extLst>
      <p:ext uri="{BB962C8B-B14F-4D97-AF65-F5344CB8AC3E}">
        <p14:creationId xmlns:p14="http://schemas.microsoft.com/office/powerpoint/2010/main" val="3280338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b="1" dirty="0"/>
              <a:t>Input Validation</a:t>
            </a:r>
            <a:r>
              <a:rPr lang="en-US" dirty="0"/>
              <a:t>: If a web application does not validate user input on all pages, an attacker might submit malicious data that the system accepts. This is a common example where incomplete mediation can lead to errors and potential exploitation</a:t>
            </a:r>
            <a:r>
              <a:rPr lang="en-US" dirty="0" smtClean="0"/>
              <a:t>.</a:t>
            </a:r>
            <a:endParaRPr lang="en-US" dirty="0"/>
          </a:p>
          <a:p>
            <a:pPr algn="just"/>
            <a:r>
              <a:rPr lang="en-US" b="1" dirty="0"/>
              <a:t>Session Management</a:t>
            </a:r>
            <a:r>
              <a:rPr lang="en-US" dirty="0"/>
              <a:t>: If a user’s session is not properly validated after login, an attacker could hijack the session and gain unauthorized access. This highlights the importance of consistent mediation to prevent unauthorized actions.</a:t>
            </a:r>
          </a:p>
          <a:p>
            <a:endParaRPr lang="en-IN" dirty="0"/>
          </a:p>
        </p:txBody>
      </p:sp>
    </p:spTree>
    <p:extLst>
      <p:ext uri="{BB962C8B-B14F-4D97-AF65-F5344CB8AC3E}">
        <p14:creationId xmlns:p14="http://schemas.microsoft.com/office/powerpoint/2010/main" val="23110092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hlinkClick r:id="rId2"/>
              </a:rPr>
              <a:t>http://</a:t>
            </a:r>
            <a:r>
              <a:rPr lang="en-IN" dirty="0" smtClean="0">
                <a:hlinkClick r:id="rId2"/>
              </a:rPr>
              <a:t>site.com/buy?item=1&amp;price=100</a:t>
            </a:r>
            <a:endParaRPr lang="en-IN" dirty="0"/>
          </a:p>
          <a:p>
            <a:endParaRPr lang="en-IN" dirty="0" smtClean="0"/>
          </a:p>
          <a:p>
            <a:r>
              <a:rPr lang="en-IN" dirty="0" smtClean="0">
                <a:hlinkClick r:id="rId3"/>
              </a:rPr>
              <a:t>http</a:t>
            </a:r>
            <a:r>
              <a:rPr lang="en-IN" dirty="0">
                <a:hlinkClick r:id="rId3"/>
              </a:rPr>
              <a:t>://</a:t>
            </a:r>
            <a:r>
              <a:rPr lang="en-IN" dirty="0" smtClean="0">
                <a:hlinkClick r:id="rId3"/>
              </a:rPr>
              <a:t>site.com/buy?item=1&amp;price=1</a:t>
            </a:r>
            <a:endParaRPr lang="en-IN" dirty="0" smtClean="0"/>
          </a:p>
          <a:p>
            <a:endParaRPr lang="en-IN" dirty="0"/>
          </a:p>
        </p:txBody>
      </p:sp>
    </p:spTree>
    <p:extLst>
      <p:ext uri="{BB962C8B-B14F-4D97-AF65-F5344CB8AC3E}">
        <p14:creationId xmlns:p14="http://schemas.microsoft.com/office/powerpoint/2010/main" val="3722483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Prevention Strategies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b="1" dirty="0"/>
              <a:t>Consistent Input Validation</a:t>
            </a:r>
            <a:r>
              <a:rPr lang="en-US" dirty="0"/>
              <a:t>: Ensure that all user inputs are validated at every entry point. This involves validating all input to prevent unauthorized data manipulation.</a:t>
            </a:r>
          </a:p>
          <a:p>
            <a:pPr algn="just"/>
            <a:r>
              <a:rPr lang="en-US" b="1" dirty="0"/>
              <a:t>Access Controls</a:t>
            </a:r>
            <a:r>
              <a:rPr lang="en-US" dirty="0"/>
              <a:t>: Implement strict access controls to verify user permissions before allowing actions. This includes complete mediation using a reference monitor to ensure that every requested access is governed by an access policy</a:t>
            </a:r>
            <a:r>
              <a:rPr lang="en-US" dirty="0" smtClean="0"/>
              <a:t>.</a:t>
            </a:r>
            <a:endParaRPr lang="en-US" dirty="0"/>
          </a:p>
          <a:p>
            <a:pPr algn="just"/>
            <a:r>
              <a:rPr lang="en-US" b="1" dirty="0"/>
              <a:t>Regular Security Audits</a:t>
            </a:r>
            <a:r>
              <a:rPr lang="en-US" dirty="0"/>
              <a:t>: Conduct regular audits and testing to identify and fix potential vulnerabilities. Testing program components, such as module and integration testing, can help ensure that all parts of the system function correctly and securely.</a:t>
            </a:r>
          </a:p>
          <a:p>
            <a:endParaRPr lang="en-IN" dirty="0"/>
          </a:p>
        </p:txBody>
      </p:sp>
    </p:spTree>
    <p:extLst>
      <p:ext uri="{BB962C8B-B14F-4D97-AF65-F5344CB8AC3E}">
        <p14:creationId xmlns:p14="http://schemas.microsoft.com/office/powerpoint/2010/main" val="36635772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Time of-Check to Time-of-Use</a:t>
            </a:r>
          </a:p>
        </p:txBody>
      </p:sp>
      <p:sp>
        <p:nvSpPr>
          <p:cNvPr id="3" name="Content Placeholder 2"/>
          <p:cNvSpPr>
            <a:spLocks noGrp="1"/>
          </p:cNvSpPr>
          <p:nvPr>
            <p:ph idx="1"/>
          </p:nvPr>
        </p:nvSpPr>
        <p:spPr/>
        <p:txBody>
          <a:bodyPr/>
          <a:lstStyle/>
          <a:p>
            <a:pPr algn="just"/>
            <a:r>
              <a:rPr lang="en-US" dirty="0"/>
              <a:t> </a:t>
            </a:r>
            <a:r>
              <a:rPr lang="en-US" dirty="0"/>
              <a:t> Time of-Check to Time-of-Use is</a:t>
            </a:r>
            <a:r>
              <a:rPr lang="en-US" dirty="0"/>
              <a:t> </a:t>
            </a:r>
            <a:r>
              <a:rPr lang="en-US" dirty="0"/>
              <a:t>a race condition security vulnerability occurring when a system verifies a condition (e.g., file permissions, file existence) but the resource changes before the system uses it. </a:t>
            </a:r>
            <a:endParaRPr lang="en-US" dirty="0" smtClean="0"/>
          </a:p>
          <a:p>
            <a:pPr algn="just"/>
            <a:r>
              <a:rPr lang="en-US" dirty="0" smtClean="0"/>
              <a:t>An </a:t>
            </a:r>
            <a:r>
              <a:rPr lang="en-US" dirty="0"/>
              <a:t>attacker manipulates the resource during this gap, leading to unauthorized access, privilege escalation, or data corruption</a:t>
            </a:r>
            <a:r>
              <a:rPr lang="en-US" dirty="0"/>
              <a:t>. </a:t>
            </a:r>
            <a:endParaRPr lang="en-IN" dirty="0"/>
          </a:p>
        </p:txBody>
      </p:sp>
    </p:spTree>
    <p:extLst>
      <p:ext uri="{BB962C8B-B14F-4D97-AF65-F5344CB8AC3E}">
        <p14:creationId xmlns:p14="http://schemas.microsoft.com/office/powerpoint/2010/main" val="35421486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Key Aspects of </a:t>
            </a:r>
            <a:r>
              <a:rPr lang="en-US" b="1" dirty="0" smtClean="0"/>
              <a:t>TOCTOU</a:t>
            </a:r>
            <a:r>
              <a:rPr lang="en-US" dirty="0"/>
              <a:t/>
            </a:r>
            <a:br>
              <a:rPr lang="en-US" dirty="0"/>
            </a:br>
            <a:endParaRPr lang="en-IN" dirty="0"/>
          </a:p>
        </p:txBody>
      </p:sp>
      <p:sp>
        <p:nvSpPr>
          <p:cNvPr id="3" name="Content Placeholder 2"/>
          <p:cNvSpPr>
            <a:spLocks noGrp="1"/>
          </p:cNvSpPr>
          <p:nvPr>
            <p:ph idx="1"/>
          </p:nvPr>
        </p:nvSpPr>
        <p:spPr>
          <a:xfrm>
            <a:off x="457200" y="1124744"/>
            <a:ext cx="8229600" cy="5001419"/>
          </a:xfrm>
        </p:spPr>
        <p:txBody>
          <a:bodyPr>
            <a:normAutofit fontScale="77500" lnSpcReduction="20000"/>
          </a:bodyPr>
          <a:lstStyle/>
          <a:p>
            <a:pPr algn="just"/>
            <a:r>
              <a:rPr lang="en-US" b="1" dirty="0" smtClean="0"/>
              <a:t>The </a:t>
            </a:r>
            <a:r>
              <a:rPr lang="en-US" b="1" dirty="0"/>
              <a:t>Vulnerability Window:</a:t>
            </a:r>
            <a:r>
              <a:rPr lang="en-US" dirty="0"/>
              <a:t> A small, critical time interval exists between the check and the actual use, allowing for malicious intervention.</a:t>
            </a:r>
          </a:p>
          <a:p>
            <a:pPr algn="just"/>
            <a:r>
              <a:rPr lang="en-US" b="1" dirty="0"/>
              <a:t>Examples:</a:t>
            </a:r>
            <a:r>
              <a:rPr lang="en-US" dirty="0"/>
              <a:t> A program checks if a file exists (safe), but before it writes to the file, an attacker replaces it with a symbolic link to a system file, causing the program to overwrite critical data.</a:t>
            </a:r>
          </a:p>
          <a:p>
            <a:pPr algn="just"/>
            <a:r>
              <a:rPr lang="en-US" b="1" dirty="0"/>
              <a:t>Common Occurrences:</a:t>
            </a:r>
            <a:r>
              <a:rPr lang="en-US" dirty="0"/>
              <a:t> Often found in file system operations (Unix), local sockets, or database transactions</a:t>
            </a:r>
            <a:r>
              <a:rPr lang="en-US" dirty="0" smtClean="0"/>
              <a:t>.</a:t>
            </a:r>
          </a:p>
          <a:p>
            <a:pPr algn="just"/>
            <a:r>
              <a:rPr lang="en-US" b="1" dirty="0" smtClean="0"/>
              <a:t>Mitigation</a:t>
            </a:r>
            <a:r>
              <a:rPr lang="en-US" b="1" dirty="0"/>
              <a:t>:</a:t>
            </a:r>
            <a:r>
              <a:rPr lang="en-US" dirty="0"/>
              <a:t> The most effective defense is to make the operation atomic (combining check and use) or by using file descriptors instead of file names, which ensures the resource cannot be replaced between check and use. </a:t>
            </a:r>
          </a:p>
          <a:p>
            <a:endParaRPr lang="en-IN" dirty="0"/>
          </a:p>
        </p:txBody>
      </p:sp>
    </p:spTree>
    <p:extLst>
      <p:ext uri="{BB962C8B-B14F-4D97-AF65-F5344CB8AC3E}">
        <p14:creationId xmlns:p14="http://schemas.microsoft.com/office/powerpoint/2010/main" val="26448577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Classic File System Example:</a:t>
            </a:r>
            <a:r>
              <a:rPr lang="en-US" dirty="0"/>
              <a:t/>
            </a:r>
            <a:br>
              <a:rPr lang="en-US" dirty="0"/>
            </a:br>
            <a:endParaRPr lang="en-IN" dirty="0"/>
          </a:p>
        </p:txBody>
      </p:sp>
      <p:sp>
        <p:nvSpPr>
          <p:cNvPr id="3" name="Content Placeholder 2"/>
          <p:cNvSpPr>
            <a:spLocks noGrp="1"/>
          </p:cNvSpPr>
          <p:nvPr>
            <p:ph idx="1"/>
          </p:nvPr>
        </p:nvSpPr>
        <p:spPr/>
        <p:txBody>
          <a:bodyPr>
            <a:normAutofit lnSpcReduction="10000"/>
          </a:bodyPr>
          <a:lstStyle/>
          <a:p>
            <a:r>
              <a:rPr lang="en-US" b="1" dirty="0" smtClean="0"/>
              <a:t>Check</a:t>
            </a:r>
            <a:r>
              <a:rPr lang="en-US" b="1" dirty="0"/>
              <a:t>:</a:t>
            </a:r>
            <a:r>
              <a:rPr lang="en-US" dirty="0"/>
              <a:t> A privileged (</a:t>
            </a:r>
            <a:r>
              <a:rPr lang="en-US" dirty="0" err="1"/>
              <a:t>setuid</a:t>
            </a:r>
            <a:r>
              <a:rPr lang="en-US" dirty="0"/>
              <a:t>) program checks if /home/user/log is owned by the user (safe to write).</a:t>
            </a:r>
          </a:p>
          <a:p>
            <a:r>
              <a:rPr lang="en-US" b="1" dirty="0"/>
              <a:t>Race:</a:t>
            </a:r>
            <a:r>
              <a:rPr lang="en-US" dirty="0"/>
              <a:t> The attacker quickly deletes /home/user/log and creates a symbolic link: </a:t>
            </a:r>
            <a:r>
              <a:rPr lang="en-US" dirty="0" err="1"/>
              <a:t>ln</a:t>
            </a:r>
            <a:r>
              <a:rPr lang="en-US" dirty="0"/>
              <a:t> -s /</a:t>
            </a:r>
            <a:r>
              <a:rPr lang="en-US" dirty="0" err="1"/>
              <a:t>etc</a:t>
            </a:r>
            <a:r>
              <a:rPr lang="en-US" dirty="0"/>
              <a:t>/</a:t>
            </a:r>
            <a:r>
              <a:rPr lang="en-US" dirty="0" err="1"/>
              <a:t>passwd</a:t>
            </a:r>
            <a:r>
              <a:rPr lang="en-US" dirty="0"/>
              <a:t> /home/user/log.</a:t>
            </a:r>
          </a:p>
          <a:p>
            <a:r>
              <a:rPr lang="en-US" b="1" dirty="0"/>
              <a:t>Use:</a:t>
            </a:r>
            <a:r>
              <a:rPr lang="en-US" dirty="0"/>
              <a:t> The program opens /home/user/log, but now it is writing to /</a:t>
            </a:r>
            <a:r>
              <a:rPr lang="en-US" dirty="0" err="1"/>
              <a:t>etc</a:t>
            </a:r>
            <a:r>
              <a:rPr lang="en-US" dirty="0"/>
              <a:t>/</a:t>
            </a:r>
            <a:r>
              <a:rPr lang="en-US" dirty="0" err="1"/>
              <a:t>passwd</a:t>
            </a:r>
            <a:r>
              <a:rPr lang="en-US" dirty="0"/>
              <a:t>. </a:t>
            </a:r>
          </a:p>
          <a:p>
            <a:endParaRPr lang="en-IN" dirty="0"/>
          </a:p>
        </p:txBody>
      </p:sp>
    </p:spTree>
    <p:extLst>
      <p:ext uri="{BB962C8B-B14F-4D97-AF65-F5344CB8AC3E}">
        <p14:creationId xmlns:p14="http://schemas.microsoft.com/office/powerpoint/2010/main" val="31363511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Undocumented access points</a:t>
            </a:r>
            <a:endParaRPr lang="en-IN" b="1" dirty="0"/>
          </a:p>
        </p:txBody>
      </p:sp>
      <p:sp>
        <p:nvSpPr>
          <p:cNvPr id="3" name="Content Placeholder 2"/>
          <p:cNvSpPr>
            <a:spLocks noGrp="1"/>
          </p:cNvSpPr>
          <p:nvPr>
            <p:ph idx="1"/>
          </p:nvPr>
        </p:nvSpPr>
        <p:spPr/>
        <p:txBody>
          <a:bodyPr>
            <a:normAutofit fontScale="92500"/>
          </a:bodyPr>
          <a:lstStyle/>
          <a:p>
            <a:pPr algn="just"/>
            <a:r>
              <a:rPr lang="en-US" dirty="0"/>
              <a:t>Undocumented access points, often referred to as "rogue access points" or "hidden </a:t>
            </a:r>
            <a:r>
              <a:rPr lang="en-US" dirty="0" smtClean="0"/>
              <a:t>interfaces, </a:t>
            </a:r>
            <a:r>
              <a:rPr lang="en-US" dirty="0"/>
              <a:t>are network devices or software functionalities that operate without authorization or public knowledge, posing significant security risks</a:t>
            </a:r>
            <a:r>
              <a:rPr lang="en-US" dirty="0"/>
              <a:t>. </a:t>
            </a:r>
            <a:endParaRPr lang="en-US" dirty="0" smtClean="0"/>
          </a:p>
          <a:p>
            <a:pPr algn="just"/>
            <a:r>
              <a:rPr lang="en-US" dirty="0" smtClean="0"/>
              <a:t>These </a:t>
            </a:r>
            <a:r>
              <a:rPr lang="en-US" dirty="0"/>
              <a:t>access points can serve as entry points for attackers to bypass existing security controls, facilitate lateral movement, or establish persistence within a network. </a:t>
            </a:r>
            <a:endParaRPr lang="en-IN" dirty="0"/>
          </a:p>
        </p:txBody>
      </p:sp>
    </p:spTree>
    <p:extLst>
      <p:ext uri="{BB962C8B-B14F-4D97-AF65-F5344CB8AC3E}">
        <p14:creationId xmlns:p14="http://schemas.microsoft.com/office/powerpoint/2010/main" val="13453680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Key </a:t>
            </a:r>
            <a:r>
              <a:rPr lang="en-US" b="1" dirty="0"/>
              <a:t>Aspects of Undocumented Access Points and Interfaces:</a:t>
            </a:r>
            <a:r>
              <a:rPr lang="en-US" dirty="0"/>
              <a:t/>
            </a:r>
            <a:br>
              <a:rPr lang="en-US" dirty="0"/>
            </a:br>
            <a:endParaRPr lang="en-IN" dirty="0"/>
          </a:p>
        </p:txBody>
      </p:sp>
      <p:sp>
        <p:nvSpPr>
          <p:cNvPr id="3" name="Content Placeholder 2"/>
          <p:cNvSpPr>
            <a:spLocks noGrp="1"/>
          </p:cNvSpPr>
          <p:nvPr>
            <p:ph idx="1"/>
          </p:nvPr>
        </p:nvSpPr>
        <p:spPr/>
        <p:txBody>
          <a:bodyPr>
            <a:normAutofit fontScale="85000" lnSpcReduction="10000"/>
          </a:bodyPr>
          <a:lstStyle/>
          <a:p>
            <a:pPr algn="just"/>
            <a:r>
              <a:rPr lang="en-US" b="1" dirty="0" smtClean="0"/>
              <a:t>Rogue </a:t>
            </a:r>
            <a:r>
              <a:rPr lang="en-US" b="1" dirty="0"/>
              <a:t>Access Points:</a:t>
            </a:r>
            <a:r>
              <a:rPr lang="en-US" dirty="0"/>
              <a:t> These are unauthorized, often unmanaged, Wi-Fi access points connected to a secure network. They can create an "open door" for attackers to access sensitive information, bypassing traditional perimeter defenses.</a:t>
            </a:r>
          </a:p>
          <a:p>
            <a:pPr algn="just"/>
            <a:r>
              <a:rPr lang="en-US" b="1" dirty="0"/>
              <a:t>Hidden Features and Backdoors:</a:t>
            </a:r>
            <a:r>
              <a:rPr lang="en-US" dirty="0"/>
              <a:t> Manufacturers may include hidden functionality, sometimes called "chicken bits," for testing or maintenance purposes. These interfaces, if not properly secured, can be exploited to read/write to memory, execute arbitrary code, or provide undocumented access to systems.</a:t>
            </a:r>
          </a:p>
          <a:p>
            <a:pPr algn="just"/>
            <a:endParaRPr lang="en-IN" dirty="0"/>
          </a:p>
        </p:txBody>
      </p:sp>
    </p:spTree>
    <p:extLst>
      <p:ext uri="{BB962C8B-B14F-4D97-AF65-F5344CB8AC3E}">
        <p14:creationId xmlns:p14="http://schemas.microsoft.com/office/powerpoint/2010/main" val="39704040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err="1"/>
              <a:t>Unterminated</a:t>
            </a:r>
            <a:r>
              <a:rPr lang="en-IN" b="1" dirty="0"/>
              <a:t> Null Terminated String</a:t>
            </a:r>
          </a:p>
        </p:txBody>
      </p:sp>
      <p:sp>
        <p:nvSpPr>
          <p:cNvPr id="3" name="Content Placeholder 2"/>
          <p:cNvSpPr>
            <a:spLocks noGrp="1"/>
          </p:cNvSpPr>
          <p:nvPr>
            <p:ph idx="1"/>
          </p:nvPr>
        </p:nvSpPr>
        <p:spPr/>
        <p:txBody>
          <a:bodyPr/>
          <a:lstStyle/>
          <a:p>
            <a:pPr algn="just"/>
            <a:r>
              <a:rPr lang="en-US" dirty="0"/>
              <a:t>An </a:t>
            </a:r>
            <a:r>
              <a:rPr lang="en-US" dirty="0" err="1"/>
              <a:t>unterminated</a:t>
            </a:r>
            <a:r>
              <a:rPr lang="en-US" dirty="0"/>
              <a:t> null occurs when a character array intended to be a null-terminated string lacks the </a:t>
            </a:r>
            <a:r>
              <a:rPr lang="en-US" dirty="0"/>
              <a:t>\0</a:t>
            </a:r>
            <a:r>
              <a:rPr lang="en-US" dirty="0"/>
              <a:t> character at its logical end. </a:t>
            </a:r>
            <a:endParaRPr lang="en-US" dirty="0" smtClean="0"/>
          </a:p>
          <a:p>
            <a:pPr algn="just"/>
            <a:r>
              <a:rPr lang="en-US" dirty="0" smtClean="0"/>
              <a:t>This </a:t>
            </a:r>
            <a:r>
              <a:rPr lang="en-US" dirty="0"/>
              <a:t>is a common programming error with potentially serious consequences. </a:t>
            </a:r>
            <a:endParaRPr lang="en-IN" dirty="0"/>
          </a:p>
        </p:txBody>
      </p:sp>
    </p:spTree>
    <p:extLst>
      <p:ext uri="{BB962C8B-B14F-4D97-AF65-F5344CB8AC3E}">
        <p14:creationId xmlns:p14="http://schemas.microsoft.com/office/powerpoint/2010/main" val="7170854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Consequences</a:t>
            </a:r>
            <a:r>
              <a:rPr lang="en-US" dirty="0" smtClean="0"/>
              <a:t>:</a:t>
            </a:r>
            <a:endParaRPr lang="en-IN" dirty="0"/>
          </a:p>
        </p:txBody>
      </p:sp>
      <p:sp>
        <p:nvSpPr>
          <p:cNvPr id="3" name="Content Placeholder 2"/>
          <p:cNvSpPr>
            <a:spLocks noGrp="1"/>
          </p:cNvSpPr>
          <p:nvPr>
            <p:ph idx="1"/>
          </p:nvPr>
        </p:nvSpPr>
        <p:spPr/>
        <p:txBody>
          <a:bodyPr>
            <a:normAutofit lnSpcReduction="10000"/>
          </a:bodyPr>
          <a:lstStyle/>
          <a:p>
            <a:pPr lvl="1"/>
            <a:r>
              <a:rPr lang="en-US" b="1" dirty="0" smtClean="0"/>
              <a:t>Buffer </a:t>
            </a:r>
            <a:r>
              <a:rPr lang="en-US" b="1" dirty="0"/>
              <a:t>Overflows</a:t>
            </a:r>
            <a:r>
              <a:rPr lang="en-US" dirty="0"/>
              <a:t>: The function might write data past the end of the allocated buffer, overwriting other data in memory.</a:t>
            </a:r>
          </a:p>
          <a:p>
            <a:pPr lvl="1"/>
            <a:r>
              <a:rPr lang="en-US" b="1" dirty="0"/>
              <a:t>Security Vulnerabilities</a:t>
            </a:r>
            <a:r>
              <a:rPr lang="en-US" dirty="0"/>
              <a:t>: String termination errors are a common source of security problems.</a:t>
            </a:r>
          </a:p>
          <a:p>
            <a:pPr lvl="1"/>
            <a:r>
              <a:rPr lang="en-US" b="1" dirty="0"/>
              <a:t>Crashes</a:t>
            </a:r>
            <a:r>
              <a:rPr lang="en-US" dirty="0"/>
              <a:t>: The program may terminate unexpectedly with an error like a segmentation fault or access violation.</a:t>
            </a:r>
          </a:p>
          <a:p>
            <a:pPr lvl="1"/>
            <a:r>
              <a:rPr lang="en-US" b="1" dirty="0"/>
              <a:t>Logic Errors</a:t>
            </a:r>
            <a:r>
              <a:rPr lang="en-US" dirty="0"/>
              <a:t>: The program may output unexpected or "garbage" data from adjacent memory. </a:t>
            </a:r>
          </a:p>
          <a:p>
            <a:endParaRPr lang="en-IN" dirty="0"/>
          </a:p>
        </p:txBody>
      </p:sp>
    </p:spTree>
    <p:extLst>
      <p:ext uri="{BB962C8B-B14F-4D97-AF65-F5344CB8AC3E}">
        <p14:creationId xmlns:p14="http://schemas.microsoft.com/office/powerpoint/2010/main" val="9494885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Parameter length</a:t>
            </a:r>
            <a:endParaRPr lang="en-IN" b="1" dirty="0"/>
          </a:p>
        </p:txBody>
      </p:sp>
      <p:sp>
        <p:nvSpPr>
          <p:cNvPr id="3" name="Content Placeholder 2"/>
          <p:cNvSpPr>
            <a:spLocks noGrp="1"/>
          </p:cNvSpPr>
          <p:nvPr>
            <p:ph idx="1"/>
          </p:nvPr>
        </p:nvSpPr>
        <p:spPr/>
        <p:txBody>
          <a:bodyPr/>
          <a:lstStyle/>
          <a:p>
            <a:pPr algn="just"/>
            <a:r>
              <a:rPr lang="en-US" dirty="0"/>
              <a:t>Parameter length </a:t>
            </a:r>
            <a:r>
              <a:rPr lang="en-US" dirty="0" smtClean="0"/>
              <a:t>refers </a:t>
            </a:r>
            <a:r>
              <a:rPr lang="en-US" dirty="0"/>
              <a:t>to enforcing strict minimum and maximum byte limits on input data (URL parameters, form fields) to prevent attacks like buffer overflows and SQL injection</a:t>
            </a:r>
            <a:r>
              <a:rPr lang="en-US" dirty="0"/>
              <a:t>. </a:t>
            </a:r>
            <a:endParaRPr lang="en-US" dirty="0" smtClean="0"/>
          </a:p>
          <a:p>
            <a:pPr algn="just"/>
            <a:r>
              <a:rPr lang="en-US" dirty="0" smtClean="0"/>
              <a:t>It </a:t>
            </a:r>
            <a:r>
              <a:rPr lang="en-US" dirty="0"/>
              <a:t>validates that incoming data adheres to defined constraints, with violations indicating potential malicious activity. </a:t>
            </a:r>
            <a:endParaRPr lang="en-IN" dirty="0"/>
          </a:p>
        </p:txBody>
      </p:sp>
    </p:spTree>
    <p:extLst>
      <p:ext uri="{BB962C8B-B14F-4D97-AF65-F5344CB8AC3E}">
        <p14:creationId xmlns:p14="http://schemas.microsoft.com/office/powerpoint/2010/main" val="2961714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Key aspects include:</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b="1" dirty="0"/>
              <a:t>Buffer Overflow Protection:</a:t>
            </a:r>
            <a:r>
              <a:rPr lang="en-US" dirty="0"/>
              <a:t> Excessively long parameters can exploit weak application handling, causing system crashes or unauthorized code execution.</a:t>
            </a:r>
          </a:p>
          <a:p>
            <a:pPr algn="just"/>
            <a:r>
              <a:rPr lang="en-US" b="1" dirty="0">
                <a:hlinkClick r:id="rId2"/>
              </a:rPr>
              <a:t>Input Validation</a:t>
            </a:r>
            <a:r>
              <a:rPr lang="en-US" b="1" dirty="0"/>
              <a:t>:</a:t>
            </a:r>
            <a:r>
              <a:rPr lang="en-US" dirty="0"/>
              <a:t> Security policies (e.g., in Web Application Firewalls) check that input lengths match expected, defined limits.</a:t>
            </a:r>
          </a:p>
          <a:p>
            <a:pPr algn="just"/>
            <a:r>
              <a:rPr lang="en-US" b="1" dirty="0"/>
              <a:t>Security Parameter Index (SPI):</a:t>
            </a:r>
            <a:r>
              <a:rPr lang="en-US" dirty="0"/>
              <a:t> In networking (IPsec), this is a 32-bit identifier used to link packets to a specific security association.</a:t>
            </a:r>
          </a:p>
          <a:p>
            <a:pPr algn="just"/>
            <a:r>
              <a:rPr lang="en-US" b="1" dirty="0"/>
              <a:t>Setting Limits:</a:t>
            </a:r>
            <a:r>
              <a:rPr lang="en-US" dirty="0"/>
              <a:t> Best practices involve setting appropriate maximum lengths to prevent attackers from using long inputs to bypass security mechanisms or hide malicious payloads.</a:t>
            </a:r>
          </a:p>
          <a:p>
            <a:pPr algn="just"/>
            <a:r>
              <a:rPr lang="en-US" b="1" dirty="0"/>
              <a:t>Password Policies:</a:t>
            </a:r>
            <a:r>
              <a:rPr lang="en-US" dirty="0"/>
              <a:t> Parameters also define minimum character lengths and complexity for user credentials. </a:t>
            </a:r>
          </a:p>
          <a:p>
            <a:endParaRPr lang="en-IN" dirty="0"/>
          </a:p>
        </p:txBody>
      </p:sp>
    </p:spTree>
    <p:extLst>
      <p:ext uri="{BB962C8B-B14F-4D97-AF65-F5344CB8AC3E}">
        <p14:creationId xmlns:p14="http://schemas.microsoft.com/office/powerpoint/2010/main" val="38826320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Unsafe Utility Programs </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Programs </a:t>
            </a:r>
            <a:r>
              <a:rPr lang="en-US" dirty="0"/>
              <a:t>branded as "utilities" can sometimes be unsafe due to malicious intent, excessive bundling of adware, or destructive actions. </a:t>
            </a:r>
          </a:p>
          <a:p>
            <a:r>
              <a:rPr lang="en-US" b="1" dirty="0"/>
              <a:t>Trojan Horse Utilities:</a:t>
            </a:r>
            <a:r>
              <a:rPr lang="en-US" dirty="0"/>
              <a:t> Malicious programs disguised as useful tools (e.g., fake antivirus or system cleaners) that compromise data or steal information.</a:t>
            </a:r>
          </a:p>
          <a:p>
            <a:r>
              <a:rPr lang="en-US" b="1" dirty="0"/>
              <a:t>Rogue Registry Cleaners/Optimizers:</a:t>
            </a:r>
            <a:r>
              <a:rPr lang="en-US" dirty="0"/>
              <a:t> Software that claims to fix hundreds of "errors" to scare users into buying the full version, sometimes causing system instability.</a:t>
            </a:r>
          </a:p>
          <a:p>
            <a:r>
              <a:rPr lang="en-US" b="1" dirty="0"/>
              <a:t>Bundled Adware/Spyware:</a:t>
            </a:r>
            <a:r>
              <a:rPr lang="en-US" dirty="0"/>
              <a:t> Free utilities that install additional, unwanted software. </a:t>
            </a:r>
          </a:p>
          <a:p>
            <a:endParaRPr lang="en-IN" dirty="0"/>
          </a:p>
        </p:txBody>
      </p:sp>
    </p:spTree>
    <p:extLst>
      <p:ext uri="{BB962C8B-B14F-4D97-AF65-F5344CB8AC3E}">
        <p14:creationId xmlns:p14="http://schemas.microsoft.com/office/powerpoint/2010/main" val="27901010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Race Condition</a:t>
            </a:r>
            <a:endParaRPr lang="en-IN" dirty="0"/>
          </a:p>
        </p:txBody>
      </p:sp>
      <p:sp>
        <p:nvSpPr>
          <p:cNvPr id="3" name="Content Placeholder 2"/>
          <p:cNvSpPr>
            <a:spLocks noGrp="1"/>
          </p:cNvSpPr>
          <p:nvPr>
            <p:ph idx="1"/>
          </p:nvPr>
        </p:nvSpPr>
        <p:spPr/>
        <p:txBody>
          <a:bodyPr/>
          <a:lstStyle/>
          <a:p>
            <a:r>
              <a:rPr lang="en-IN" dirty="0">
                <a:hlinkClick r:id="rId2"/>
              </a:rPr>
              <a:t>https://</a:t>
            </a:r>
            <a:r>
              <a:rPr lang="en-IN" dirty="0" smtClean="0">
                <a:hlinkClick r:id="rId2"/>
              </a:rPr>
              <a:t>youtu.be/XH_KVNGsKpA</a:t>
            </a:r>
            <a:endParaRPr lang="en-IN" dirty="0" smtClean="0"/>
          </a:p>
          <a:p>
            <a:endParaRPr lang="en-IN" dirty="0"/>
          </a:p>
        </p:txBody>
      </p:sp>
    </p:spTree>
    <p:extLst>
      <p:ext uri="{BB962C8B-B14F-4D97-AF65-F5344CB8AC3E}">
        <p14:creationId xmlns:p14="http://schemas.microsoft.com/office/powerpoint/2010/main" val="28368621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Countermeasures for Users</a:t>
            </a:r>
            <a:br>
              <a:rPr lang="en-US" dirty="0"/>
            </a:br>
            <a:endParaRPr lang="en-IN" dirty="0"/>
          </a:p>
        </p:txBody>
      </p:sp>
      <p:sp>
        <p:nvSpPr>
          <p:cNvPr id="3" name="Content Placeholder 2"/>
          <p:cNvSpPr>
            <a:spLocks noGrp="1"/>
          </p:cNvSpPr>
          <p:nvPr>
            <p:ph idx="1"/>
          </p:nvPr>
        </p:nvSpPr>
        <p:spPr/>
        <p:txBody>
          <a:bodyPr/>
          <a:lstStyle/>
          <a:p>
            <a:endParaRPr lang="en-US" dirty="0"/>
          </a:p>
          <a:p>
            <a:pPr marL="0" indent="0">
              <a:buNone/>
            </a:pPr>
            <a:r>
              <a:rPr lang="en-US" dirty="0"/>
              <a:t>• Use software acquired from reliable sources</a:t>
            </a:r>
          </a:p>
          <a:p>
            <a:pPr marL="0" indent="0">
              <a:buNone/>
            </a:pPr>
            <a:r>
              <a:rPr lang="en-US" dirty="0"/>
              <a:t>• Test software in an isolated environment</a:t>
            </a:r>
          </a:p>
          <a:p>
            <a:pPr marL="0" indent="0">
              <a:buNone/>
            </a:pPr>
            <a:r>
              <a:rPr lang="en-US" dirty="0"/>
              <a:t>• Only open attachments when you know them to be safe</a:t>
            </a:r>
          </a:p>
          <a:p>
            <a:pPr marL="0" indent="0">
              <a:buNone/>
            </a:pPr>
            <a:r>
              <a:rPr lang="en-US" dirty="0"/>
              <a:t>• Treat every website as potentially </a:t>
            </a:r>
            <a:r>
              <a:rPr lang="en-US" dirty="0" smtClean="0"/>
              <a:t>harmful</a:t>
            </a:r>
          </a:p>
          <a:p>
            <a:pPr marL="0" indent="0">
              <a:buNone/>
            </a:pPr>
            <a:r>
              <a:rPr lang="en-US" dirty="0"/>
              <a:t>• </a:t>
            </a:r>
            <a:r>
              <a:rPr lang="en-IN" dirty="0" smtClean="0"/>
              <a:t>Create </a:t>
            </a:r>
            <a:r>
              <a:rPr lang="en-IN" dirty="0"/>
              <a:t>and maintain backups</a:t>
            </a:r>
          </a:p>
        </p:txBody>
      </p:sp>
    </p:spTree>
    <p:extLst>
      <p:ext uri="{BB962C8B-B14F-4D97-AF65-F5344CB8AC3E}">
        <p14:creationId xmlns:p14="http://schemas.microsoft.com/office/powerpoint/2010/main" val="290681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Countermeasures for Developers</a:t>
            </a:r>
            <a:br>
              <a:rPr lang="en-US" dirty="0"/>
            </a:br>
            <a:endParaRPr lang="en-IN" dirty="0"/>
          </a:p>
        </p:txBody>
      </p:sp>
      <p:sp>
        <p:nvSpPr>
          <p:cNvPr id="3" name="Content Placeholder 2"/>
          <p:cNvSpPr>
            <a:spLocks noGrp="1"/>
          </p:cNvSpPr>
          <p:nvPr>
            <p:ph idx="1"/>
          </p:nvPr>
        </p:nvSpPr>
        <p:spPr>
          <a:xfrm>
            <a:off x="457200" y="1052736"/>
            <a:ext cx="8229600" cy="5073427"/>
          </a:xfrm>
        </p:spPr>
        <p:txBody>
          <a:bodyPr>
            <a:normAutofit fontScale="77500" lnSpcReduction="20000"/>
          </a:bodyPr>
          <a:lstStyle/>
          <a:p>
            <a:endParaRPr lang="en-US" dirty="0"/>
          </a:p>
          <a:p>
            <a:pPr marL="0" indent="0">
              <a:buNone/>
            </a:pPr>
            <a:r>
              <a:rPr lang="en-US" dirty="0"/>
              <a:t>• </a:t>
            </a:r>
            <a:r>
              <a:rPr lang="en-US" sz="3400" dirty="0"/>
              <a:t>Software Engineering Techniques</a:t>
            </a:r>
          </a:p>
          <a:p>
            <a:pPr marL="0" indent="0">
              <a:buNone/>
            </a:pPr>
            <a:r>
              <a:rPr lang="en-US" sz="3400" dirty="0"/>
              <a:t>• Information hiding - Information hiding: describing what a module does, </a:t>
            </a:r>
            <a:r>
              <a:rPr lang="en-US" sz="3400" dirty="0" smtClean="0"/>
              <a:t>not how</a:t>
            </a:r>
            <a:endParaRPr lang="en-US" sz="3400" dirty="0"/>
          </a:p>
          <a:p>
            <a:pPr marL="0" indent="0">
              <a:buNone/>
            </a:pPr>
            <a:r>
              <a:rPr lang="en-US" sz="3400" dirty="0"/>
              <a:t>• Modularity – Coupling and cohesion</a:t>
            </a:r>
          </a:p>
          <a:p>
            <a:pPr marL="0" indent="0">
              <a:buNone/>
            </a:pPr>
            <a:r>
              <a:rPr lang="en-US" sz="3400" dirty="0"/>
              <a:t>• Mutual Suspicion</a:t>
            </a:r>
          </a:p>
          <a:p>
            <a:pPr marL="0" indent="0">
              <a:buNone/>
            </a:pPr>
            <a:r>
              <a:rPr lang="en-US" sz="3400" dirty="0"/>
              <a:t>• Confinement - possible damage does not spread to other parts of a system</a:t>
            </a:r>
          </a:p>
          <a:p>
            <a:pPr marL="0" indent="0">
              <a:buNone/>
            </a:pPr>
            <a:r>
              <a:rPr lang="en-US" sz="3400" dirty="0"/>
              <a:t>• Simplicity - Complexity is often the enemy of security</a:t>
            </a:r>
          </a:p>
          <a:p>
            <a:pPr marL="0" indent="0">
              <a:buNone/>
            </a:pPr>
            <a:r>
              <a:rPr lang="en-US" sz="3400" dirty="0"/>
              <a:t>• Genetic Diversity - Diversity reduces the number of targets susceptible to </a:t>
            </a:r>
            <a:r>
              <a:rPr lang="en-US" sz="3400" dirty="0" smtClean="0"/>
              <a:t>one attack </a:t>
            </a:r>
            <a:r>
              <a:rPr lang="en-US" sz="3400" dirty="0"/>
              <a:t>type</a:t>
            </a:r>
          </a:p>
          <a:p>
            <a:pPr marL="0" indent="0">
              <a:buNone/>
            </a:pPr>
            <a:r>
              <a:rPr lang="en-US" sz="3400" dirty="0"/>
              <a:t>• Testing</a:t>
            </a:r>
            <a:endParaRPr lang="en-IN" sz="3400" dirty="0"/>
          </a:p>
        </p:txBody>
      </p:sp>
    </p:spTree>
    <p:extLst>
      <p:ext uri="{BB962C8B-B14F-4D97-AF65-F5344CB8AC3E}">
        <p14:creationId xmlns:p14="http://schemas.microsoft.com/office/powerpoint/2010/main" val="38915573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Testing</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smtClean="0"/>
              <a:t>• </a:t>
            </a:r>
            <a:r>
              <a:rPr lang="en-US" dirty="0"/>
              <a:t>Unit testing </a:t>
            </a:r>
            <a:endParaRPr lang="en-US" dirty="0" smtClean="0"/>
          </a:p>
          <a:p>
            <a:pPr marL="0" indent="0">
              <a:buNone/>
            </a:pPr>
            <a:r>
              <a:rPr lang="en-US" dirty="0" smtClean="0"/>
              <a:t>• </a:t>
            </a:r>
            <a:r>
              <a:rPr lang="en-US" dirty="0"/>
              <a:t>Integration testing </a:t>
            </a:r>
            <a:endParaRPr lang="en-US" dirty="0" smtClean="0"/>
          </a:p>
          <a:p>
            <a:pPr marL="0" indent="0">
              <a:buNone/>
            </a:pPr>
            <a:r>
              <a:rPr lang="en-US" dirty="0" smtClean="0"/>
              <a:t>• </a:t>
            </a:r>
            <a:r>
              <a:rPr lang="en-US" dirty="0"/>
              <a:t>Function testing </a:t>
            </a:r>
            <a:endParaRPr lang="en-US" dirty="0" smtClean="0"/>
          </a:p>
          <a:p>
            <a:pPr marL="0" indent="0">
              <a:buNone/>
            </a:pPr>
            <a:r>
              <a:rPr lang="en-US" dirty="0" smtClean="0"/>
              <a:t>• </a:t>
            </a:r>
            <a:r>
              <a:rPr lang="en-US" dirty="0"/>
              <a:t>Performance testing </a:t>
            </a:r>
            <a:endParaRPr lang="en-US" dirty="0" smtClean="0"/>
          </a:p>
          <a:p>
            <a:pPr marL="0" indent="0">
              <a:buNone/>
            </a:pPr>
            <a:r>
              <a:rPr lang="en-US" dirty="0" smtClean="0"/>
              <a:t>• </a:t>
            </a:r>
            <a:r>
              <a:rPr lang="en-US" dirty="0"/>
              <a:t>Acceptance testing </a:t>
            </a:r>
            <a:endParaRPr lang="en-US" dirty="0" smtClean="0"/>
          </a:p>
          <a:p>
            <a:pPr marL="0" indent="0">
              <a:buNone/>
            </a:pPr>
            <a:r>
              <a:rPr lang="en-US" dirty="0" smtClean="0"/>
              <a:t>• </a:t>
            </a:r>
            <a:r>
              <a:rPr lang="en-US" dirty="0"/>
              <a:t>Installation testing </a:t>
            </a:r>
            <a:endParaRPr lang="en-US" dirty="0" smtClean="0"/>
          </a:p>
          <a:p>
            <a:pPr marL="0" indent="0">
              <a:buNone/>
            </a:pPr>
            <a:r>
              <a:rPr lang="en-US" dirty="0" smtClean="0"/>
              <a:t>• </a:t>
            </a:r>
            <a:r>
              <a:rPr lang="en-US" dirty="0"/>
              <a:t>Regression testing </a:t>
            </a:r>
            <a:endParaRPr lang="en-US" dirty="0" smtClean="0"/>
          </a:p>
          <a:p>
            <a:pPr marL="0" indent="0">
              <a:buNone/>
            </a:pPr>
            <a:r>
              <a:rPr lang="en-US" dirty="0" smtClean="0"/>
              <a:t>• </a:t>
            </a:r>
            <a:r>
              <a:rPr lang="en-US" dirty="0"/>
              <a:t>Penetration testing</a:t>
            </a:r>
            <a:endParaRPr lang="en-IN" dirty="0"/>
          </a:p>
        </p:txBody>
      </p:sp>
    </p:spTree>
    <p:extLst>
      <p:ext uri="{BB962C8B-B14F-4D97-AF65-F5344CB8AC3E}">
        <p14:creationId xmlns:p14="http://schemas.microsoft.com/office/powerpoint/2010/main" val="42149508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Countermeasure </a:t>
            </a:r>
            <a:r>
              <a:rPr lang="en-US" dirty="0"/>
              <a:t>Specifically for Security –</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Design </a:t>
            </a:r>
            <a:r>
              <a:rPr lang="en-US" dirty="0"/>
              <a:t>Principles for Security</a:t>
            </a:r>
          </a:p>
          <a:p>
            <a:pPr marL="0" indent="0">
              <a:buNone/>
            </a:pPr>
            <a:r>
              <a:rPr lang="en-US" dirty="0"/>
              <a:t>• Least privilege</a:t>
            </a:r>
          </a:p>
          <a:p>
            <a:pPr marL="0" indent="0">
              <a:buNone/>
            </a:pPr>
            <a:r>
              <a:rPr lang="en-US" dirty="0"/>
              <a:t>• Economy of mechanism</a:t>
            </a:r>
          </a:p>
          <a:p>
            <a:pPr marL="0" indent="0">
              <a:buNone/>
            </a:pPr>
            <a:r>
              <a:rPr lang="en-US" dirty="0"/>
              <a:t>• Open design</a:t>
            </a:r>
          </a:p>
          <a:p>
            <a:pPr marL="0" indent="0">
              <a:buNone/>
            </a:pPr>
            <a:r>
              <a:rPr lang="en-US" dirty="0"/>
              <a:t>• Complete mediation</a:t>
            </a:r>
          </a:p>
          <a:p>
            <a:pPr marL="0" indent="0">
              <a:buNone/>
            </a:pPr>
            <a:r>
              <a:rPr lang="en-US" dirty="0"/>
              <a:t>• Permission based</a:t>
            </a:r>
          </a:p>
          <a:p>
            <a:pPr marL="0" indent="0">
              <a:buNone/>
            </a:pPr>
            <a:r>
              <a:rPr lang="en-US" dirty="0"/>
              <a:t>• Separation of privilege</a:t>
            </a:r>
          </a:p>
          <a:p>
            <a:pPr marL="0" indent="0">
              <a:buNone/>
            </a:pPr>
            <a:r>
              <a:rPr lang="en-US" dirty="0"/>
              <a:t>• Least common mechanism</a:t>
            </a:r>
          </a:p>
          <a:p>
            <a:pPr marL="0" indent="0">
              <a:buNone/>
            </a:pPr>
            <a:r>
              <a:rPr lang="en-US" dirty="0"/>
              <a:t>• Ease of use</a:t>
            </a:r>
            <a:endParaRPr lang="en-IN" dirty="0"/>
          </a:p>
        </p:txBody>
      </p:sp>
    </p:spTree>
    <p:extLst>
      <p:ext uri="{BB962C8B-B14F-4D97-AF65-F5344CB8AC3E}">
        <p14:creationId xmlns:p14="http://schemas.microsoft.com/office/powerpoint/2010/main" val="17678627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Countermeasure </a:t>
            </a:r>
            <a:r>
              <a:rPr lang="en-US" dirty="0"/>
              <a:t>Specifically for Security –</a:t>
            </a:r>
            <a:br>
              <a:rPr lang="en-US" dirty="0"/>
            </a:b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Design </a:t>
            </a:r>
            <a:r>
              <a:rPr lang="en-US" dirty="0"/>
              <a:t>Principles for Security</a:t>
            </a:r>
          </a:p>
          <a:p>
            <a:pPr marL="0" indent="0" algn="just">
              <a:buNone/>
            </a:pPr>
            <a:r>
              <a:rPr lang="en-US" dirty="0"/>
              <a:t>• Penetration Testing for Security</a:t>
            </a:r>
          </a:p>
          <a:p>
            <a:pPr marL="0" indent="0" algn="just">
              <a:buNone/>
            </a:pPr>
            <a:r>
              <a:rPr lang="en-US" dirty="0"/>
              <a:t>• Proofs of Program Correctness</a:t>
            </a:r>
          </a:p>
          <a:p>
            <a:pPr marL="0" indent="0" algn="just">
              <a:buNone/>
            </a:pPr>
            <a:r>
              <a:rPr lang="en-US" dirty="0"/>
              <a:t>• Validation</a:t>
            </a:r>
          </a:p>
          <a:p>
            <a:pPr marL="0" indent="0" algn="just">
              <a:buNone/>
            </a:pPr>
            <a:r>
              <a:rPr lang="en-US" dirty="0"/>
              <a:t>• Defensive Programming - Program designers and implementers need not </a:t>
            </a:r>
            <a:r>
              <a:rPr lang="en-US" dirty="0" smtClean="0"/>
              <a:t>only write </a:t>
            </a:r>
            <a:r>
              <a:rPr lang="en-US" dirty="0"/>
              <a:t>correct code but must also anticipate what could go wrong.</a:t>
            </a:r>
          </a:p>
          <a:p>
            <a:pPr marL="0" indent="0" algn="just">
              <a:buNone/>
            </a:pPr>
            <a:r>
              <a:rPr lang="en-US" dirty="0"/>
              <a:t>• Trustworthy Computing Initiative - all developers undergo security training, </a:t>
            </a:r>
            <a:r>
              <a:rPr lang="en-US" dirty="0" smtClean="0"/>
              <a:t>and secure </a:t>
            </a:r>
            <a:r>
              <a:rPr lang="en-US" dirty="0"/>
              <a:t>software development practices were instituted throughout </a:t>
            </a:r>
            <a:r>
              <a:rPr lang="en-US" dirty="0" smtClean="0"/>
              <a:t>the company</a:t>
            </a:r>
            <a:endParaRPr lang="en-IN" dirty="0"/>
          </a:p>
        </p:txBody>
      </p:sp>
    </p:spTree>
    <p:extLst>
      <p:ext uri="{BB962C8B-B14F-4D97-AF65-F5344CB8AC3E}">
        <p14:creationId xmlns:p14="http://schemas.microsoft.com/office/powerpoint/2010/main" val="21763735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Countermeasures that Don’t Work</a:t>
            </a:r>
            <a:br>
              <a:rPr lang="en-US" dirty="0"/>
            </a:br>
            <a:endParaRPr lang="en-IN" dirty="0"/>
          </a:p>
        </p:txBody>
      </p:sp>
      <p:sp>
        <p:nvSpPr>
          <p:cNvPr id="3" name="Content Placeholder 2"/>
          <p:cNvSpPr>
            <a:spLocks noGrp="1"/>
          </p:cNvSpPr>
          <p:nvPr>
            <p:ph idx="1"/>
          </p:nvPr>
        </p:nvSpPr>
        <p:spPr/>
        <p:txBody>
          <a:bodyPr>
            <a:normAutofit fontScale="92500" lnSpcReduction="10000"/>
          </a:bodyPr>
          <a:lstStyle/>
          <a:p>
            <a:endParaRPr lang="en-US" dirty="0"/>
          </a:p>
          <a:p>
            <a:pPr marL="0" indent="0">
              <a:buNone/>
            </a:pPr>
            <a:r>
              <a:rPr lang="en-US" dirty="0"/>
              <a:t>• </a:t>
            </a:r>
            <a:r>
              <a:rPr lang="en-US" b="1" dirty="0"/>
              <a:t>Penetrate-and-Patch</a:t>
            </a:r>
            <a:r>
              <a:rPr lang="en-US" dirty="0"/>
              <a:t> - Penetrate-and-patch fails because it is hurried, </a:t>
            </a:r>
            <a:r>
              <a:rPr lang="en-US" dirty="0" smtClean="0"/>
              <a:t>misses the </a:t>
            </a:r>
            <a:r>
              <a:rPr lang="en-US" dirty="0"/>
              <a:t>context of the fault, and focuses on one failure, not the complete system.</a:t>
            </a:r>
          </a:p>
          <a:p>
            <a:pPr marL="0" indent="0">
              <a:buNone/>
            </a:pPr>
            <a:endParaRPr lang="en-US" dirty="0"/>
          </a:p>
          <a:p>
            <a:pPr marL="0" indent="0">
              <a:buNone/>
            </a:pPr>
            <a:r>
              <a:rPr lang="en-US" dirty="0"/>
              <a:t>• </a:t>
            </a:r>
            <a:r>
              <a:rPr lang="en-US" b="1" dirty="0"/>
              <a:t>Security by Obscurity </a:t>
            </a:r>
            <a:r>
              <a:rPr lang="en-US" dirty="0"/>
              <a:t>- Security by obscurity is the belief that a system can </a:t>
            </a:r>
            <a:r>
              <a:rPr lang="en-US" dirty="0" smtClean="0"/>
              <a:t>be secure </a:t>
            </a:r>
            <a:r>
              <a:rPr lang="en-US" dirty="0"/>
              <a:t>as long as nobody outside its implementation group is told </a:t>
            </a:r>
            <a:r>
              <a:rPr lang="en-US" dirty="0" smtClean="0"/>
              <a:t>anything about </a:t>
            </a:r>
            <a:r>
              <a:rPr lang="en-US" dirty="0"/>
              <a:t>its internal mechanisms.</a:t>
            </a:r>
            <a:endParaRPr lang="en-IN" dirty="0"/>
          </a:p>
        </p:txBody>
      </p:sp>
    </p:spTree>
    <p:extLst>
      <p:ext uri="{BB962C8B-B14F-4D97-AF65-F5344CB8AC3E}">
        <p14:creationId xmlns:p14="http://schemas.microsoft.com/office/powerpoint/2010/main" val="11044852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Secure Software Development Lifecycle (SSDLC)</a:t>
            </a:r>
            <a:endParaRPr lang="en-IN"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1844824"/>
            <a:ext cx="5256584"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7851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3608" y="1772816"/>
            <a:ext cx="7200800" cy="3684215"/>
          </a:xfrm>
        </p:spPr>
      </p:pic>
    </p:spTree>
    <p:extLst>
      <p:ext uri="{BB962C8B-B14F-4D97-AF65-F5344CB8AC3E}">
        <p14:creationId xmlns:p14="http://schemas.microsoft.com/office/powerpoint/2010/main" val="30468124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algn="just" fontAlgn="base"/>
            <a:r>
              <a:rPr lang="en-US" b="1" dirty="0"/>
              <a:t>Security by Design:</a:t>
            </a:r>
            <a:r>
              <a:rPr lang="en-US" dirty="0"/>
              <a:t> This principle highlights the need to think about security right from the start of creating software. It means including security requirements in the initial planning and design stages of development.</a:t>
            </a:r>
          </a:p>
          <a:p>
            <a:pPr algn="just" fontAlgn="base"/>
            <a:r>
              <a:rPr lang="en-US" b="1" dirty="0"/>
              <a:t>Continuous Monitoring:</a:t>
            </a:r>
            <a:r>
              <a:rPr lang="en-US" dirty="0"/>
              <a:t> Continuous monitoring is an ongoing process of regularly checking and ensuring the security of the software at every step of its development. It's not a one-time thing but a continuous effort to find and fix security issues throughout the entire development process.</a:t>
            </a:r>
          </a:p>
          <a:p>
            <a:pPr algn="just" fontAlgn="base"/>
            <a:r>
              <a:rPr lang="en-US" b="1" dirty="0"/>
              <a:t>Risk Assessment:</a:t>
            </a:r>
            <a:r>
              <a:rPr lang="en-US" dirty="0"/>
              <a:t> This principle involves evaluating and understanding potential security risks early in the development process. It includes identifying vulnerabilities and deciding which risks need the most attention and quick action to reduce potential threats.</a:t>
            </a:r>
          </a:p>
          <a:p>
            <a:endParaRPr lang="en-IN" dirty="0"/>
          </a:p>
        </p:txBody>
      </p:sp>
    </p:spTree>
    <p:extLst>
      <p:ext uri="{BB962C8B-B14F-4D97-AF65-F5344CB8AC3E}">
        <p14:creationId xmlns:p14="http://schemas.microsoft.com/office/powerpoint/2010/main" val="5526589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algn="just" fontAlgn="base"/>
            <a:r>
              <a:rPr lang="en-US" b="1" dirty="0"/>
              <a:t>Education and Training:</a:t>
            </a:r>
            <a:r>
              <a:rPr lang="en-US" dirty="0"/>
              <a:t> Education and training are essential to make sure everyone involved in creating the software, especially developers, knows about security issues. It emphasizes providing the necessary training so that individuals have the skills to handle security concerns effectively.</a:t>
            </a:r>
          </a:p>
          <a:p>
            <a:pPr algn="just" fontAlgn="base"/>
            <a:r>
              <a:rPr lang="en-US" b="1" dirty="0"/>
              <a:t>Collaboration:</a:t>
            </a:r>
            <a:r>
              <a:rPr lang="en-US" dirty="0"/>
              <a:t> Collaboration is a crucial principle that stresses the importance of teamwork. It involves encouraging collaboration between different teams, like developers, operations, and security teams. This ensures that everyone is working together, sharing knowledge, and coordinating efforts to achieve common security goals during the software development process.</a:t>
            </a:r>
          </a:p>
          <a:p>
            <a:endParaRPr lang="en-IN" dirty="0"/>
          </a:p>
        </p:txBody>
      </p:sp>
    </p:spTree>
    <p:extLst>
      <p:ext uri="{BB962C8B-B14F-4D97-AF65-F5344CB8AC3E}">
        <p14:creationId xmlns:p14="http://schemas.microsoft.com/office/powerpoint/2010/main" val="14729146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Phases of SSDLC</a:t>
            </a:r>
            <a:endParaRPr lang="en-IN"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772816"/>
            <a:ext cx="8352928"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314870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algn="just" fontAlgn="base"/>
            <a:r>
              <a:rPr lang="en-US" b="1" dirty="0"/>
              <a:t>Planning:</a:t>
            </a:r>
            <a:r>
              <a:rPr lang="en-US" dirty="0"/>
              <a:t> In the planning stage, the main focus is on figuring out the security requirements for the software. This includes identifying possible risks and creating a plan for how to make the software secure from the beginning.</a:t>
            </a:r>
          </a:p>
          <a:p>
            <a:pPr algn="just" fontAlgn="base"/>
            <a:r>
              <a:rPr lang="en-US" b="1" dirty="0"/>
              <a:t>Design:</a:t>
            </a:r>
            <a:r>
              <a:rPr lang="en-US" dirty="0"/>
              <a:t> During the design phase, the plan for security is put into action. This involves making decisions about how to build security features into the software. The goal is to ensure that the design can handle potential security problems.</a:t>
            </a:r>
          </a:p>
          <a:p>
            <a:pPr algn="just" fontAlgn="base"/>
            <a:r>
              <a:rPr lang="en-US" b="1" dirty="0"/>
              <a:t>Implementation:</a:t>
            </a:r>
            <a:r>
              <a:rPr lang="en-US" dirty="0"/>
              <a:t> In the implementation phase, developers start building the software using secure coding practices. This means writing code in a way that reduces the chances of security problems. Code reviews are done to catch and fix any security issues.</a:t>
            </a:r>
          </a:p>
          <a:p>
            <a:endParaRPr lang="en-IN" dirty="0"/>
          </a:p>
        </p:txBody>
      </p:sp>
    </p:spTree>
    <p:extLst>
      <p:ext uri="{BB962C8B-B14F-4D97-AF65-F5344CB8AC3E}">
        <p14:creationId xmlns:p14="http://schemas.microsoft.com/office/powerpoint/2010/main" val="413305858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algn="just" fontAlgn="base"/>
            <a:r>
              <a:rPr lang="en-US" b="1" dirty="0"/>
              <a:t>Testing:</a:t>
            </a:r>
            <a:r>
              <a:rPr lang="en-US" dirty="0"/>
              <a:t> Testing is all about checking how secure the software is. Different tests are done, like trying to break into the software to find vulnerabilities, scanning the code for potential problems, and making sure the software can handle different security threats.</a:t>
            </a:r>
          </a:p>
          <a:p>
            <a:pPr algn="just" fontAlgn="base"/>
            <a:r>
              <a:rPr lang="en-US" b="1" dirty="0"/>
              <a:t>Deployment:</a:t>
            </a:r>
            <a:r>
              <a:rPr lang="en-US" dirty="0"/>
              <a:t> Deployment is when the software is released. Here, the focus is on making sure the release process is secure, taking precautions to avoid any security issues during this stage.</a:t>
            </a:r>
          </a:p>
          <a:p>
            <a:pPr algn="just" fontAlgn="base"/>
            <a:r>
              <a:rPr lang="en-US" b="1" dirty="0"/>
              <a:t>Maintenance: </a:t>
            </a:r>
            <a:r>
              <a:rPr lang="en-US" dirty="0"/>
              <a:t>Maintenance is an ongoing process where the software is continuously looked after. This involves keeping an eye on security and regularly updating the software to deal with new threats, making sure it stays secure over time.</a:t>
            </a:r>
          </a:p>
          <a:p>
            <a:endParaRPr lang="en-IN" dirty="0"/>
          </a:p>
        </p:txBody>
      </p:sp>
    </p:spTree>
    <p:extLst>
      <p:ext uri="{BB962C8B-B14F-4D97-AF65-F5344CB8AC3E}">
        <p14:creationId xmlns:p14="http://schemas.microsoft.com/office/powerpoint/2010/main" val="15014846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SDLC Process </a:t>
            </a:r>
            <a:r>
              <a:rPr lang="en-IN" b="1" dirty="0" err="1"/>
              <a:t>vs</a:t>
            </a:r>
            <a:r>
              <a:rPr lang="en-IN" b="1" dirty="0"/>
              <a:t> SSDLC Process:</a:t>
            </a:r>
            <a:br>
              <a:rPr lang="en-IN" b="1" dirty="0"/>
            </a:b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544" y="1772816"/>
            <a:ext cx="7992888" cy="3953197"/>
          </a:xfrm>
        </p:spPr>
      </p:pic>
    </p:spTree>
    <p:extLst>
      <p:ext uri="{BB962C8B-B14F-4D97-AF65-F5344CB8AC3E}">
        <p14:creationId xmlns:p14="http://schemas.microsoft.com/office/powerpoint/2010/main" val="2336949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21600013"/>
              </p:ext>
            </p:extLst>
          </p:nvPr>
        </p:nvGraphicFramePr>
        <p:xfrm>
          <a:off x="395536" y="116632"/>
          <a:ext cx="8229600" cy="634746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pPr algn="ctr" fontAlgn="base"/>
                      <a:r>
                        <a:rPr lang="en-IN" sz="1400" b="1" dirty="0">
                          <a:effectLst/>
                          <a:latin typeface="Nunito"/>
                        </a:rPr>
                        <a:t>Aspect</a:t>
                      </a:r>
                    </a:p>
                  </a:txBody>
                  <a:tcPr marL="38100" marR="38100" marT="63500" marB="63500" anchor="ctr"/>
                </a:tc>
                <a:tc>
                  <a:txBody>
                    <a:bodyPr/>
                    <a:lstStyle/>
                    <a:p>
                      <a:pPr algn="ctr" fontAlgn="base"/>
                      <a:r>
                        <a:rPr lang="en-US" sz="1400" b="1">
                          <a:effectLst/>
                          <a:latin typeface="Nunito"/>
                        </a:rPr>
                        <a:t>Software Development Life Cycle (SDLC)</a:t>
                      </a:r>
                    </a:p>
                  </a:txBody>
                  <a:tcPr marL="63500" marR="63500" marT="63500" marB="63500" anchor="ctr"/>
                </a:tc>
                <a:tc>
                  <a:txBody>
                    <a:bodyPr/>
                    <a:lstStyle/>
                    <a:p>
                      <a:pPr algn="ctr" fontAlgn="base"/>
                      <a:r>
                        <a:rPr lang="en-US" sz="1400" b="1">
                          <a:effectLst/>
                          <a:latin typeface="Nunito"/>
                        </a:rPr>
                        <a:t>Secure Software Development Life Cycle (SSDLC)</a:t>
                      </a:r>
                    </a:p>
                  </a:txBody>
                  <a:tcPr marL="63500" marR="63500" marT="63500" marB="63500" anchor="ctr"/>
                </a:tc>
              </a:tr>
              <a:tr h="370840">
                <a:tc>
                  <a:txBody>
                    <a:bodyPr/>
                    <a:lstStyle/>
                    <a:p>
                      <a:pPr algn="ctr" fontAlgn="base"/>
                      <a:r>
                        <a:rPr lang="en-IN" b="1">
                          <a:effectLst/>
                          <a:latin typeface="Nunito"/>
                        </a:rPr>
                        <a:t>Focus</a:t>
                      </a:r>
                    </a:p>
                  </a:txBody>
                  <a:tcPr marL="38100" marR="38100" marT="40678" marB="40678" anchor="ctr"/>
                </a:tc>
                <a:tc>
                  <a:txBody>
                    <a:bodyPr/>
                    <a:lstStyle/>
                    <a:p>
                      <a:pPr algn="ctr" fontAlgn="ctr"/>
                      <a:r>
                        <a:rPr lang="en-US" sz="1250" b="0">
                          <a:effectLst/>
                          <a:latin typeface="Nunito"/>
                        </a:rPr>
                        <a:t>Primarily on delivering functional software.</a:t>
                      </a:r>
                    </a:p>
                  </a:txBody>
                  <a:tcPr marL="63500" marR="63500" marT="88900" marB="88900" anchor="ctr"/>
                </a:tc>
                <a:tc>
                  <a:txBody>
                    <a:bodyPr/>
                    <a:lstStyle/>
                    <a:p>
                      <a:pPr algn="ctr" fontAlgn="ctr"/>
                      <a:r>
                        <a:rPr lang="en-US" sz="1250" b="0">
                          <a:effectLst/>
                          <a:latin typeface="Nunito"/>
                        </a:rPr>
                        <a:t>Emphasizes security considerations throughout the process.</a:t>
                      </a:r>
                    </a:p>
                  </a:txBody>
                  <a:tcPr marL="63500" marR="63500" marT="88900" marB="88900" anchor="ctr"/>
                </a:tc>
              </a:tr>
              <a:tr h="370840">
                <a:tc>
                  <a:txBody>
                    <a:bodyPr/>
                    <a:lstStyle/>
                    <a:p>
                      <a:pPr algn="ctr" fontAlgn="base"/>
                      <a:r>
                        <a:rPr lang="en-IN" b="1">
                          <a:effectLst/>
                          <a:latin typeface="Nunito"/>
                        </a:rPr>
                        <a:t>Objective</a:t>
                      </a:r>
                    </a:p>
                  </a:txBody>
                  <a:tcPr marL="38100" marR="38100" marT="40678" marB="40678" anchor="ctr"/>
                </a:tc>
                <a:tc>
                  <a:txBody>
                    <a:bodyPr/>
                    <a:lstStyle/>
                    <a:p>
                      <a:pPr algn="ctr" fontAlgn="ctr"/>
                      <a:r>
                        <a:rPr lang="en-US" sz="1250" b="0">
                          <a:effectLst/>
                          <a:latin typeface="Nunito"/>
                        </a:rPr>
                        <a:t>Meeting business requirements and functionality.</a:t>
                      </a:r>
                    </a:p>
                  </a:txBody>
                  <a:tcPr marL="63500" marR="63500" marT="88900" marB="88900" anchor="ctr"/>
                </a:tc>
                <a:tc>
                  <a:txBody>
                    <a:bodyPr/>
                    <a:lstStyle/>
                    <a:p>
                      <a:pPr algn="ctr" fontAlgn="ctr"/>
                      <a:r>
                        <a:rPr lang="en-US" sz="1250" b="0">
                          <a:effectLst/>
                          <a:latin typeface="Nunito"/>
                        </a:rPr>
                        <a:t>Integrating security measures to protect against vulnerabilities.</a:t>
                      </a:r>
                    </a:p>
                  </a:txBody>
                  <a:tcPr marL="63500" marR="63500" marT="88900" marB="88900" anchor="ctr"/>
                </a:tc>
              </a:tr>
              <a:tr h="370840">
                <a:tc>
                  <a:txBody>
                    <a:bodyPr/>
                    <a:lstStyle/>
                    <a:p>
                      <a:pPr algn="ctr" fontAlgn="base"/>
                      <a:r>
                        <a:rPr lang="en-IN" b="1">
                          <a:effectLst/>
                          <a:latin typeface="Nunito"/>
                        </a:rPr>
                        <a:t>Phases</a:t>
                      </a:r>
                    </a:p>
                  </a:txBody>
                  <a:tcPr marL="38100" marR="38100" marT="40678" marB="40678" anchor="ctr"/>
                </a:tc>
                <a:tc>
                  <a:txBody>
                    <a:bodyPr/>
                    <a:lstStyle/>
                    <a:p>
                      <a:pPr algn="ctr" fontAlgn="ctr"/>
                      <a:r>
                        <a:rPr lang="en-US" sz="1250" b="0">
                          <a:effectLst/>
                          <a:latin typeface="Nunito"/>
                        </a:rPr>
                        <a:t>Typically includes phases like planning, analysis, design, implementation, testing, deployment, and maintenance.</a:t>
                      </a:r>
                    </a:p>
                  </a:txBody>
                  <a:tcPr marL="63500" marR="63500" marT="88900" marB="88900" anchor="ctr"/>
                </a:tc>
                <a:tc>
                  <a:txBody>
                    <a:bodyPr/>
                    <a:lstStyle/>
                    <a:p>
                      <a:pPr algn="ctr" fontAlgn="ctr"/>
                      <a:r>
                        <a:rPr lang="en-US" sz="1250" b="0">
                          <a:effectLst/>
                          <a:latin typeface="Nunito"/>
                        </a:rPr>
                        <a:t>Incorporates security-related phases, such as threat modeling, secure coding, and continuous monitoring.</a:t>
                      </a:r>
                    </a:p>
                  </a:txBody>
                  <a:tcPr marL="63500" marR="63500" marT="88900" marB="88900" anchor="ctr"/>
                </a:tc>
              </a:tr>
              <a:tr h="370840">
                <a:tc>
                  <a:txBody>
                    <a:bodyPr/>
                    <a:lstStyle/>
                    <a:p>
                      <a:pPr algn="ctr" fontAlgn="base"/>
                      <a:r>
                        <a:rPr lang="en-IN" b="1">
                          <a:effectLst/>
                          <a:latin typeface="Nunito"/>
                        </a:rPr>
                        <a:t>Security Considerations</a:t>
                      </a:r>
                    </a:p>
                  </a:txBody>
                  <a:tcPr marL="38100" marR="38100" marT="40678" marB="40678" anchor="ctr"/>
                </a:tc>
                <a:tc>
                  <a:txBody>
                    <a:bodyPr/>
                    <a:lstStyle/>
                    <a:p>
                      <a:pPr algn="ctr" fontAlgn="ctr"/>
                      <a:r>
                        <a:rPr lang="en-US" sz="1250" b="0">
                          <a:effectLst/>
                          <a:latin typeface="Nunito"/>
                        </a:rPr>
                        <a:t>Security is addressed mainly during the testing phase.</a:t>
                      </a:r>
                    </a:p>
                  </a:txBody>
                  <a:tcPr marL="63500" marR="63500" marT="88900" marB="88900" anchor="ctr"/>
                </a:tc>
                <a:tc>
                  <a:txBody>
                    <a:bodyPr/>
                    <a:lstStyle/>
                    <a:p>
                      <a:pPr algn="ctr" fontAlgn="ctr"/>
                      <a:r>
                        <a:rPr lang="en-US" sz="1250" b="0">
                          <a:effectLst/>
                          <a:latin typeface="Nunito"/>
                        </a:rPr>
                        <a:t>Security is considered at every stage, from design to deployment.</a:t>
                      </a:r>
                    </a:p>
                  </a:txBody>
                  <a:tcPr marL="63500" marR="63500" marT="88900" marB="88900" anchor="ctr"/>
                </a:tc>
              </a:tr>
              <a:tr h="370840">
                <a:tc>
                  <a:txBody>
                    <a:bodyPr/>
                    <a:lstStyle/>
                    <a:p>
                      <a:pPr algn="ctr" fontAlgn="base"/>
                      <a:r>
                        <a:rPr lang="en-IN" b="1">
                          <a:effectLst/>
                          <a:latin typeface="Nunito"/>
                        </a:rPr>
                        <a:t>Testing</a:t>
                      </a:r>
                    </a:p>
                  </a:txBody>
                  <a:tcPr marL="38100" marR="38100" marT="40678" marB="40678" anchor="ctr"/>
                </a:tc>
                <a:tc>
                  <a:txBody>
                    <a:bodyPr/>
                    <a:lstStyle/>
                    <a:p>
                      <a:pPr algn="ctr" fontAlgn="ctr"/>
                      <a:r>
                        <a:rPr lang="en-US" sz="1250" b="0">
                          <a:effectLst/>
                          <a:latin typeface="Nunito"/>
                        </a:rPr>
                        <a:t>Security testing is often a separate phase.</a:t>
                      </a:r>
                    </a:p>
                  </a:txBody>
                  <a:tcPr marL="63500" marR="63500" marT="88900" marB="88900" anchor="ctr"/>
                </a:tc>
                <a:tc>
                  <a:txBody>
                    <a:bodyPr/>
                    <a:lstStyle/>
                    <a:p>
                      <a:pPr algn="ctr" fontAlgn="ctr"/>
                      <a:r>
                        <a:rPr lang="en-US" sz="1250" b="0">
                          <a:effectLst/>
                          <a:latin typeface="Nunito"/>
                        </a:rPr>
                        <a:t>Security testing is integrated into each phase of development.</a:t>
                      </a:r>
                    </a:p>
                  </a:txBody>
                  <a:tcPr marL="63500" marR="63500" marT="88900" marB="88900" anchor="ctr"/>
                </a:tc>
              </a:tr>
              <a:tr h="370840">
                <a:tc>
                  <a:txBody>
                    <a:bodyPr/>
                    <a:lstStyle/>
                    <a:p>
                      <a:pPr algn="ctr" fontAlgn="base"/>
                      <a:r>
                        <a:rPr lang="en-IN" b="1">
                          <a:effectLst/>
                          <a:latin typeface="Nunito"/>
                        </a:rPr>
                        <a:t>Documentation</a:t>
                      </a:r>
                    </a:p>
                  </a:txBody>
                  <a:tcPr marL="38100" marR="38100" marT="40678" marB="40678" anchor="ctr"/>
                </a:tc>
                <a:tc>
                  <a:txBody>
                    <a:bodyPr/>
                    <a:lstStyle/>
                    <a:p>
                      <a:pPr algn="ctr" fontAlgn="ctr"/>
                      <a:r>
                        <a:rPr lang="en-US" sz="1250" b="0">
                          <a:effectLst/>
                          <a:latin typeface="Nunito"/>
                        </a:rPr>
                        <a:t>Documentation focuses on functionality and features.</a:t>
                      </a:r>
                    </a:p>
                  </a:txBody>
                  <a:tcPr marL="63500" marR="63500" marT="88900" marB="88900" anchor="ctr"/>
                </a:tc>
                <a:tc>
                  <a:txBody>
                    <a:bodyPr/>
                    <a:lstStyle/>
                    <a:p>
                      <a:pPr algn="ctr" fontAlgn="ctr"/>
                      <a:r>
                        <a:rPr lang="en-US" sz="1250" b="0">
                          <a:effectLst/>
                          <a:latin typeface="Nunito"/>
                        </a:rPr>
                        <a:t>Comprehensive documentation on security measures, threat models, and risk assessments.</a:t>
                      </a:r>
                    </a:p>
                  </a:txBody>
                  <a:tcPr marL="63500" marR="63500" marT="88900" marB="88900" anchor="ctr"/>
                </a:tc>
              </a:tr>
              <a:tr h="370840">
                <a:tc>
                  <a:txBody>
                    <a:bodyPr/>
                    <a:lstStyle/>
                    <a:p>
                      <a:pPr algn="ctr" fontAlgn="base"/>
                      <a:r>
                        <a:rPr lang="en-IN" b="1">
                          <a:effectLst/>
                          <a:latin typeface="Nunito"/>
                        </a:rPr>
                        <a:t>Development Speed</a:t>
                      </a:r>
                    </a:p>
                  </a:txBody>
                  <a:tcPr marL="38100" marR="38100" marT="40678" marB="40678" anchor="ctr"/>
                </a:tc>
                <a:tc>
                  <a:txBody>
                    <a:bodyPr/>
                    <a:lstStyle/>
                    <a:p>
                      <a:pPr algn="ctr" fontAlgn="ctr"/>
                      <a:r>
                        <a:rPr lang="en-US" sz="1250" b="0">
                          <a:effectLst/>
                          <a:latin typeface="Nunito"/>
                        </a:rPr>
                        <a:t>Emphasizes timely delivery of software features.</a:t>
                      </a:r>
                    </a:p>
                  </a:txBody>
                  <a:tcPr marL="63500" marR="63500" marT="88900" marB="88900" anchor="ctr"/>
                </a:tc>
                <a:tc>
                  <a:txBody>
                    <a:bodyPr/>
                    <a:lstStyle/>
                    <a:p>
                      <a:pPr algn="ctr" fontAlgn="ctr"/>
                      <a:r>
                        <a:rPr lang="en-US" sz="1250" b="0">
                          <a:effectLst/>
                          <a:latin typeface="Nunito"/>
                        </a:rPr>
                        <a:t>May involve slightly longer development cycles due to added security considerations.</a:t>
                      </a:r>
                    </a:p>
                  </a:txBody>
                  <a:tcPr marL="63500" marR="63500" marT="88900" marB="88900" anchor="ctr"/>
                </a:tc>
              </a:tr>
              <a:tr h="370840">
                <a:tc>
                  <a:txBody>
                    <a:bodyPr/>
                    <a:lstStyle/>
                    <a:p>
                      <a:pPr algn="ctr" fontAlgn="base"/>
                      <a:r>
                        <a:rPr lang="en-IN" b="1">
                          <a:effectLst/>
                          <a:latin typeface="Nunito"/>
                        </a:rPr>
                        <a:t>Adaptability</a:t>
                      </a:r>
                    </a:p>
                  </a:txBody>
                  <a:tcPr marL="38100" marR="38100" marT="40678" marB="40678" anchor="ctr"/>
                </a:tc>
                <a:tc>
                  <a:txBody>
                    <a:bodyPr/>
                    <a:lstStyle/>
                    <a:p>
                      <a:pPr algn="ctr" fontAlgn="ctr"/>
                      <a:r>
                        <a:rPr lang="en-US" sz="1250" b="0">
                          <a:effectLst/>
                          <a:latin typeface="Nunito"/>
                        </a:rPr>
                        <a:t>Generally more adaptable to changes in business requirements.</a:t>
                      </a:r>
                    </a:p>
                  </a:txBody>
                  <a:tcPr marL="63500" marR="63500" marT="88900" marB="88900" anchor="ctr"/>
                </a:tc>
                <a:tc>
                  <a:txBody>
                    <a:bodyPr/>
                    <a:lstStyle/>
                    <a:p>
                      <a:pPr algn="ctr" fontAlgn="ctr"/>
                      <a:r>
                        <a:rPr lang="en-US" sz="1250" b="0" dirty="0">
                          <a:effectLst/>
                          <a:latin typeface="Nunito"/>
                        </a:rPr>
                        <a:t>May require more effort to incorporate changes due to the stringent security focus.</a:t>
                      </a:r>
                    </a:p>
                  </a:txBody>
                  <a:tcPr marL="63500" marR="63500" marT="88900" marB="88900" anchor="ctr"/>
                </a:tc>
              </a:tr>
              <a:tr h="370840">
                <a:tc>
                  <a:txBody>
                    <a:bodyPr/>
                    <a:lstStyle/>
                    <a:p>
                      <a:endParaRPr lang="en-IN"/>
                    </a:p>
                  </a:txBody>
                  <a:tcPr/>
                </a:tc>
                <a:tc>
                  <a:txBody>
                    <a:bodyPr/>
                    <a:lstStyle/>
                    <a:p>
                      <a:endParaRPr lang="en-IN"/>
                    </a:p>
                  </a:txBody>
                  <a:tcPr/>
                </a:tc>
                <a:tc>
                  <a:txBody>
                    <a:bodyPr/>
                    <a:lstStyle/>
                    <a:p>
                      <a:endParaRPr lang="en-IN" dirty="0"/>
                    </a:p>
                  </a:txBody>
                  <a:tcPr/>
                </a:tc>
              </a:tr>
            </a:tbl>
          </a:graphicData>
        </a:graphic>
      </p:graphicFrame>
    </p:spTree>
    <p:extLst>
      <p:ext uri="{BB962C8B-B14F-4D97-AF65-F5344CB8AC3E}">
        <p14:creationId xmlns:p14="http://schemas.microsoft.com/office/powerpoint/2010/main" val="39823579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Privacy By </a:t>
            </a:r>
            <a:r>
              <a:rPr lang="en-IN" b="1" dirty="0" smtClean="0"/>
              <a:t>Design</a:t>
            </a:r>
            <a:r>
              <a:rPr lang="en-IN" b="1" dirty="0"/>
              <a:t/>
            </a:r>
            <a:br>
              <a:rPr lang="en-IN" b="1" dirty="0"/>
            </a:br>
            <a:endParaRPr lang="en-IN" dirty="0"/>
          </a:p>
        </p:txBody>
      </p:sp>
      <p:sp>
        <p:nvSpPr>
          <p:cNvPr id="3" name="Content Placeholder 2"/>
          <p:cNvSpPr>
            <a:spLocks noGrp="1"/>
          </p:cNvSpPr>
          <p:nvPr>
            <p:ph idx="1"/>
          </p:nvPr>
        </p:nvSpPr>
        <p:spPr/>
        <p:txBody>
          <a:bodyPr/>
          <a:lstStyle/>
          <a:p>
            <a:pPr algn="just"/>
            <a:r>
              <a:rPr lang="en-US" dirty="0"/>
              <a:t>Privacy by Design (</a:t>
            </a:r>
            <a:r>
              <a:rPr lang="en-US" dirty="0" err="1"/>
              <a:t>PbD</a:t>
            </a:r>
            <a:r>
              <a:rPr lang="en-US" dirty="0"/>
              <a:t>) is an approach for the design and development of a digital solution that requires privacy to be embedded right from the design stage and then throughout the development lifecycle so that privacy becomes an integral part of core functionality as opposed to an afterthought.</a:t>
            </a:r>
            <a:endParaRPr lang="en-IN" dirty="0"/>
          </a:p>
        </p:txBody>
      </p:sp>
    </p:spTree>
    <p:extLst>
      <p:ext uri="{BB962C8B-B14F-4D97-AF65-F5344CB8AC3E}">
        <p14:creationId xmlns:p14="http://schemas.microsoft.com/office/powerpoint/2010/main" val="18499185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5"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1268760"/>
            <a:ext cx="5976664"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45286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7 Principles of Privacy by Design</a:t>
            </a:r>
            <a:endParaRPr lang="en-IN" dirty="0"/>
          </a:p>
        </p:txBody>
      </p:sp>
      <p:sp>
        <p:nvSpPr>
          <p:cNvPr id="3" name="Content Placeholder 2"/>
          <p:cNvSpPr>
            <a:spLocks noGrp="1"/>
          </p:cNvSpPr>
          <p:nvPr>
            <p:ph idx="1"/>
          </p:nvPr>
        </p:nvSpPr>
        <p:spPr/>
        <p:txBody>
          <a:bodyPr>
            <a:normAutofit lnSpcReduction="10000"/>
          </a:bodyPr>
          <a:lstStyle/>
          <a:p>
            <a:r>
              <a:rPr lang="en-US" dirty="0"/>
              <a:t>Proactive not Reactive; Preventative not Remedial</a:t>
            </a:r>
          </a:p>
          <a:p>
            <a:r>
              <a:rPr lang="en-US" dirty="0"/>
              <a:t>Privacy as the Default Setting</a:t>
            </a:r>
          </a:p>
          <a:p>
            <a:r>
              <a:rPr lang="en-US" dirty="0"/>
              <a:t>Privacy Embedded into Design</a:t>
            </a:r>
          </a:p>
          <a:p>
            <a:r>
              <a:rPr lang="en-US" dirty="0"/>
              <a:t>Full Functionality – Positive-Sum not Zero-Sum</a:t>
            </a:r>
          </a:p>
          <a:p>
            <a:r>
              <a:rPr lang="en-US" dirty="0"/>
              <a:t>End-to-End Security – Full Lifecycle Protection</a:t>
            </a:r>
          </a:p>
          <a:p>
            <a:r>
              <a:rPr lang="en-US" dirty="0"/>
              <a:t>Visibility and Transparency – Keep it Open</a:t>
            </a:r>
          </a:p>
          <a:p>
            <a:r>
              <a:rPr lang="en-US" dirty="0"/>
              <a:t>Respect for User Privacy – Keep it User-Centric</a:t>
            </a:r>
          </a:p>
          <a:p>
            <a:endParaRPr lang="en-IN" dirty="0"/>
          </a:p>
        </p:txBody>
      </p:sp>
    </p:spTree>
    <p:extLst>
      <p:ext uri="{BB962C8B-B14F-4D97-AF65-F5344CB8AC3E}">
        <p14:creationId xmlns:p14="http://schemas.microsoft.com/office/powerpoint/2010/main" val="357963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1: Proactive not reactive; Preventative not remedial</a:t>
            </a:r>
            <a:br>
              <a:rPr lang="en-US" b="1" dirty="0"/>
            </a:br>
            <a:endParaRPr lang="en-IN" b="1" dirty="0"/>
          </a:p>
        </p:txBody>
      </p:sp>
      <p:sp>
        <p:nvSpPr>
          <p:cNvPr id="3" name="Content Placeholder 2"/>
          <p:cNvSpPr>
            <a:spLocks noGrp="1"/>
          </p:cNvSpPr>
          <p:nvPr>
            <p:ph idx="1"/>
          </p:nvPr>
        </p:nvSpPr>
        <p:spPr/>
        <p:txBody>
          <a:bodyPr/>
          <a:lstStyle/>
          <a:p>
            <a:pPr algn="just"/>
            <a:r>
              <a:rPr lang="en-US" dirty="0" smtClean="0"/>
              <a:t>A </a:t>
            </a:r>
            <a:r>
              <a:rPr lang="en-US" dirty="0"/>
              <a:t>privacy-first attitude supports a preventative approach to privacy</a:t>
            </a:r>
            <a:r>
              <a:rPr lang="en-US" dirty="0" smtClean="0"/>
              <a:t>.</a:t>
            </a:r>
          </a:p>
          <a:p>
            <a:pPr algn="just"/>
            <a:r>
              <a:rPr lang="en-US" dirty="0" smtClean="0"/>
              <a:t> </a:t>
            </a:r>
            <a:r>
              <a:rPr lang="en-US" dirty="0"/>
              <a:t>Instead of reacting to privacy risks or invasions when they happen, companies will actively build processes and procedures to prevent them from occurring in the first place.</a:t>
            </a:r>
          </a:p>
          <a:p>
            <a:endParaRPr lang="en-IN" dirty="0"/>
          </a:p>
        </p:txBody>
      </p:sp>
    </p:spTree>
    <p:extLst>
      <p:ext uri="{BB962C8B-B14F-4D97-AF65-F5344CB8AC3E}">
        <p14:creationId xmlns:p14="http://schemas.microsoft.com/office/powerpoint/2010/main" val="1629725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2: Privacy as the default setting</a:t>
            </a:r>
            <a:br>
              <a:rPr lang="en-US" b="1" dirty="0"/>
            </a:br>
            <a:endParaRPr lang="en-IN" b="1" dirty="0"/>
          </a:p>
        </p:txBody>
      </p:sp>
      <p:sp>
        <p:nvSpPr>
          <p:cNvPr id="3" name="Content Placeholder 2"/>
          <p:cNvSpPr>
            <a:spLocks noGrp="1"/>
          </p:cNvSpPr>
          <p:nvPr>
            <p:ph idx="1"/>
          </p:nvPr>
        </p:nvSpPr>
        <p:spPr/>
        <p:txBody>
          <a:bodyPr/>
          <a:lstStyle/>
          <a:p>
            <a:pPr algn="just"/>
            <a:r>
              <a:rPr lang="en-US" dirty="0"/>
              <a:t>Users shouldn’t have to worry about their privacy settings when browsing a website, opening an app, or logging into software. </a:t>
            </a:r>
            <a:endParaRPr lang="en-US" dirty="0" smtClean="0"/>
          </a:p>
          <a:p>
            <a:pPr algn="just"/>
            <a:r>
              <a:rPr lang="en-US" dirty="0" smtClean="0"/>
              <a:t>Privacy </a:t>
            </a:r>
            <a:r>
              <a:rPr lang="en-US" dirty="0"/>
              <a:t>as Default ensures they don’t have to. </a:t>
            </a:r>
            <a:endParaRPr lang="en-US" dirty="0" smtClean="0"/>
          </a:p>
          <a:p>
            <a:pPr algn="just"/>
            <a:r>
              <a:rPr lang="en-US" dirty="0" smtClean="0"/>
              <a:t>It </a:t>
            </a:r>
            <a:r>
              <a:rPr lang="en-US" dirty="0"/>
              <a:t>automatically sets users’ privacy to the highest level of protection, whether or not a user interacts with those settings. </a:t>
            </a:r>
            <a:endParaRPr lang="en-IN" dirty="0"/>
          </a:p>
        </p:txBody>
      </p:sp>
    </p:spTree>
    <p:extLst>
      <p:ext uri="{BB962C8B-B14F-4D97-AF65-F5344CB8AC3E}">
        <p14:creationId xmlns:p14="http://schemas.microsoft.com/office/powerpoint/2010/main" val="21140657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Autofit/>
          </a:bodyPr>
          <a:lstStyle/>
          <a:p>
            <a:r>
              <a:rPr lang="en-US" sz="2000" dirty="0"/>
              <a:t>Such default settings include</a:t>
            </a:r>
            <a:r>
              <a:rPr lang="en-US" sz="2000" dirty="0" smtClean="0"/>
              <a:t>:</a:t>
            </a:r>
          </a:p>
          <a:p>
            <a:r>
              <a:rPr lang="en-US" sz="2000" b="1" dirty="0"/>
              <a:t>Collection limitation:</a:t>
            </a:r>
            <a:r>
              <a:rPr lang="en-US" sz="2000" dirty="0"/>
              <a:t> You only collect the amount and types of data you’re legally allowed to.</a:t>
            </a:r>
            <a:br>
              <a:rPr lang="en-US" sz="2000" dirty="0"/>
            </a:br>
            <a:endParaRPr lang="en-US" sz="2000" dirty="0"/>
          </a:p>
          <a:p>
            <a:r>
              <a:rPr lang="en-US" sz="2000" b="1" dirty="0"/>
              <a:t>Data minimization:</a:t>
            </a:r>
            <a:r>
              <a:rPr lang="en-US" sz="2000" dirty="0"/>
              <a:t> You collect only the absolute minimum amount of data necessary. You won’t collect data just for the sake of collection or because you can.</a:t>
            </a:r>
            <a:br>
              <a:rPr lang="en-US" sz="2000" dirty="0"/>
            </a:br>
            <a:endParaRPr lang="en-US" sz="2000" dirty="0"/>
          </a:p>
          <a:p>
            <a:r>
              <a:rPr lang="en-US" sz="2000" b="1" dirty="0"/>
              <a:t>Use, retention &amp; disclosure limitation:</a:t>
            </a:r>
            <a:r>
              <a:rPr lang="en-US" sz="2000" dirty="0"/>
              <a:t> You won’t use the collected data for any other purpose than to which the user has agreed. You won’t keep data after it’s no longer needed for the purposes you stated to users, and you won’t disclose the data unless necessary to achieve the purpose for which it was collected.</a:t>
            </a:r>
            <a:br>
              <a:rPr lang="en-US" sz="2000" dirty="0"/>
            </a:br>
            <a:endParaRPr lang="en-US" sz="2000" dirty="0"/>
          </a:p>
          <a:p>
            <a:r>
              <a:rPr lang="en-US" sz="2000" b="1" dirty="0"/>
              <a:t>Security:</a:t>
            </a:r>
            <a:r>
              <a:rPr lang="en-US" sz="2000" dirty="0"/>
              <a:t> You implement appropriate technical and organizational measures, such as encryption, to ensure the confidentiality, integrity, and availability of the personal data.</a:t>
            </a:r>
          </a:p>
          <a:p>
            <a:endParaRPr lang="en-IN" sz="2000" dirty="0"/>
          </a:p>
        </p:txBody>
      </p:sp>
    </p:spTree>
    <p:extLst>
      <p:ext uri="{BB962C8B-B14F-4D97-AF65-F5344CB8AC3E}">
        <p14:creationId xmlns:p14="http://schemas.microsoft.com/office/powerpoint/2010/main" val="28600791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3: Privacy embedded into design</a:t>
            </a:r>
            <a:r>
              <a:rPr lang="en-US" dirty="0"/>
              <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t>Protecting users’ data and privacy should now be a part of the conversation when building a website, a mobile app, or a software application. </a:t>
            </a:r>
            <a:endParaRPr lang="en-US" dirty="0" smtClean="0"/>
          </a:p>
          <a:p>
            <a:pPr algn="just"/>
            <a:r>
              <a:rPr lang="en-US" dirty="0" smtClean="0"/>
              <a:t>For </a:t>
            </a:r>
            <a:r>
              <a:rPr lang="en-US" dirty="0"/>
              <a:t>embedded privacy to work, it can’t just be a feature tacked on at the end. It also can’t be obvious or awkwardly included so as to detract from the functionality of the program you’re designing. </a:t>
            </a:r>
            <a:endParaRPr lang="en-US" dirty="0" smtClean="0"/>
          </a:p>
          <a:p>
            <a:pPr algn="just"/>
            <a:r>
              <a:rPr lang="en-US" dirty="0" smtClean="0"/>
              <a:t>Every </a:t>
            </a:r>
            <a:r>
              <a:rPr lang="en-US" dirty="0"/>
              <a:t>decision and new process must be filtered through a privacy-first mindset to promote both functionality and privacy protection.</a:t>
            </a:r>
            <a:endParaRPr lang="en-IN" dirty="0"/>
          </a:p>
        </p:txBody>
      </p:sp>
    </p:spTree>
    <p:extLst>
      <p:ext uri="{BB962C8B-B14F-4D97-AF65-F5344CB8AC3E}">
        <p14:creationId xmlns:p14="http://schemas.microsoft.com/office/powerpoint/2010/main" val="1878720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4: Full functionality – Positive-sum, not zero-sum</a:t>
            </a:r>
            <a:r>
              <a:rPr lang="en-US" dirty="0"/>
              <a:t> </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t>A fatalistic attitude won’t work with Privacy by Design. </a:t>
            </a:r>
            <a:endParaRPr lang="en-US" dirty="0" smtClean="0"/>
          </a:p>
          <a:p>
            <a:pPr algn="just"/>
            <a:r>
              <a:rPr lang="en-US" dirty="0" smtClean="0"/>
              <a:t>Those </a:t>
            </a:r>
            <a:r>
              <a:rPr lang="en-US" dirty="0"/>
              <a:t>who argue trade-offs must be made with the user experience or with security protocols have a zero-sum attitude. </a:t>
            </a:r>
            <a:endParaRPr lang="en-US" dirty="0" smtClean="0"/>
          </a:p>
          <a:p>
            <a:pPr algn="just"/>
            <a:r>
              <a:rPr lang="en-US" dirty="0" smtClean="0"/>
              <a:t>Those </a:t>
            </a:r>
            <a:r>
              <a:rPr lang="en-US" dirty="0"/>
              <a:t>who work to integrate privacy into every design element seamlessly take a positive-sum approach. </a:t>
            </a:r>
            <a:endParaRPr lang="en-US" dirty="0" smtClean="0"/>
          </a:p>
          <a:p>
            <a:pPr algn="just"/>
            <a:r>
              <a:rPr lang="en-US" dirty="0" smtClean="0"/>
              <a:t>These </a:t>
            </a:r>
            <a:r>
              <a:rPr lang="en-US" dirty="0"/>
              <a:t>innovators will see their brands grow in a world where privacy is increasingly a market mover, not just an issue of legal compliance.</a:t>
            </a:r>
          </a:p>
          <a:p>
            <a:endParaRPr lang="en-US" dirty="0"/>
          </a:p>
          <a:p>
            <a:endParaRPr lang="en-IN" dirty="0"/>
          </a:p>
        </p:txBody>
      </p:sp>
    </p:spTree>
    <p:extLst>
      <p:ext uri="{BB962C8B-B14F-4D97-AF65-F5344CB8AC3E}">
        <p14:creationId xmlns:p14="http://schemas.microsoft.com/office/powerpoint/2010/main" val="10897238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5: End-to-end security – Lifecycle protection</a:t>
            </a:r>
            <a:r>
              <a:rPr lang="en-US" dirty="0"/>
              <a:t/>
            </a:r>
            <a:br>
              <a:rPr lang="en-US" dirty="0"/>
            </a:b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t>From the point at which users provide personal data, to when it can be destroyed after serving its purpose — and everything in between — Privacy by Design ensures the security of this data through the processing lifecycle. </a:t>
            </a:r>
            <a:endParaRPr lang="en-US" dirty="0" smtClean="0"/>
          </a:p>
          <a:p>
            <a:pPr algn="just"/>
            <a:r>
              <a:rPr lang="en-US" dirty="0" smtClean="0"/>
              <a:t>This </a:t>
            </a:r>
            <a:r>
              <a:rPr lang="en-US" dirty="0"/>
              <a:t>full lifecycle protection is where the interdisciplinary nature of Privacy by Design shines. </a:t>
            </a:r>
            <a:endParaRPr lang="en-US" dirty="0" smtClean="0"/>
          </a:p>
          <a:p>
            <a:pPr algn="just"/>
            <a:r>
              <a:rPr lang="en-US" dirty="0" smtClean="0"/>
              <a:t>It </a:t>
            </a:r>
            <a:r>
              <a:rPr lang="en-US" dirty="0"/>
              <a:t>leans heavily on security best practices to provide end-to-end data protection. </a:t>
            </a:r>
            <a:endParaRPr lang="en-US" dirty="0" smtClean="0"/>
          </a:p>
          <a:p>
            <a:pPr algn="just"/>
            <a:r>
              <a:rPr lang="en-US" dirty="0" smtClean="0"/>
              <a:t>Security </a:t>
            </a:r>
            <a:r>
              <a:rPr lang="en-US" dirty="0"/>
              <a:t>also ensures data remains confidential, true to its original form, and accessible during its time with the company.</a:t>
            </a:r>
          </a:p>
          <a:p>
            <a:endParaRPr lang="en-US" dirty="0"/>
          </a:p>
          <a:p>
            <a:endParaRPr lang="en-IN" dirty="0"/>
          </a:p>
        </p:txBody>
      </p:sp>
    </p:spTree>
    <p:extLst>
      <p:ext uri="{BB962C8B-B14F-4D97-AF65-F5344CB8AC3E}">
        <p14:creationId xmlns:p14="http://schemas.microsoft.com/office/powerpoint/2010/main" val="42719617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6: Visibility and transparency – Keep it open </a:t>
            </a:r>
            <a:br>
              <a:rPr lang="en-US" b="1" dirty="0"/>
            </a:br>
            <a:endParaRPr lang="en-IN" b="1" dirty="0"/>
          </a:p>
        </p:txBody>
      </p:sp>
      <p:sp>
        <p:nvSpPr>
          <p:cNvPr id="3" name="Content Placeholder 2"/>
          <p:cNvSpPr>
            <a:spLocks noGrp="1"/>
          </p:cNvSpPr>
          <p:nvPr>
            <p:ph idx="1"/>
          </p:nvPr>
        </p:nvSpPr>
        <p:spPr/>
        <p:txBody>
          <a:bodyPr>
            <a:normAutofit fontScale="85000" lnSpcReduction="10000"/>
          </a:bodyPr>
          <a:lstStyle/>
          <a:p>
            <a:pPr algn="just"/>
            <a:r>
              <a:rPr lang="en-US" dirty="0"/>
              <a:t>Openness with users about your privacy policies and procedures builds accountability and trust. </a:t>
            </a:r>
            <a:endParaRPr lang="en-US" dirty="0" smtClean="0"/>
          </a:p>
          <a:p>
            <a:pPr algn="just"/>
            <a:r>
              <a:rPr lang="en-US" dirty="0" smtClean="0"/>
              <a:t>Privacy </a:t>
            </a:r>
            <a:r>
              <a:rPr lang="en-US" dirty="0"/>
              <a:t>by Design means documenting and communicating actions clearly, consistently, and transparently. </a:t>
            </a:r>
            <a:endParaRPr lang="en-US" dirty="0" smtClean="0"/>
          </a:p>
          <a:p>
            <a:pPr algn="just"/>
            <a:r>
              <a:rPr lang="en-US" dirty="0" smtClean="0"/>
              <a:t>It </a:t>
            </a:r>
            <a:r>
              <a:rPr lang="en-US" dirty="0"/>
              <a:t>presents a shared attitude of privacy as a duty, and one your team takes seriously. </a:t>
            </a:r>
            <a:endParaRPr lang="en-US" dirty="0" smtClean="0"/>
          </a:p>
          <a:p>
            <a:pPr algn="just"/>
            <a:r>
              <a:rPr lang="en-US" dirty="0" smtClean="0"/>
              <a:t>That </a:t>
            </a:r>
            <a:r>
              <a:rPr lang="en-US" dirty="0"/>
              <a:t>promise should be supported by an accessible and effective complaint submission and resolution process, as well as independent verification of your policies and promises to users.</a:t>
            </a:r>
            <a:endParaRPr lang="en-IN" dirty="0"/>
          </a:p>
        </p:txBody>
      </p:sp>
    </p:spTree>
    <p:extLst>
      <p:ext uri="{BB962C8B-B14F-4D97-AF65-F5344CB8AC3E}">
        <p14:creationId xmlns:p14="http://schemas.microsoft.com/office/powerpoint/2010/main" val="17221951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Principle </a:t>
            </a:r>
            <a:r>
              <a:rPr lang="en-US" b="1" dirty="0"/>
              <a:t>7: Respect for user privacy – Keep it user-centric</a:t>
            </a:r>
            <a:br>
              <a:rPr lang="en-US" b="1" dirty="0"/>
            </a:br>
            <a:endParaRPr lang="en-IN" b="1" dirty="0"/>
          </a:p>
        </p:txBody>
      </p:sp>
      <p:sp>
        <p:nvSpPr>
          <p:cNvPr id="3" name="Content Placeholder 2"/>
          <p:cNvSpPr>
            <a:spLocks noGrp="1"/>
          </p:cNvSpPr>
          <p:nvPr>
            <p:ph idx="1"/>
          </p:nvPr>
        </p:nvSpPr>
        <p:spPr/>
        <p:txBody>
          <a:bodyPr>
            <a:normAutofit fontScale="92500" lnSpcReduction="10000"/>
          </a:bodyPr>
          <a:lstStyle/>
          <a:p>
            <a:pPr algn="just"/>
            <a:r>
              <a:rPr lang="en-US" dirty="0"/>
              <a:t>Respect for user privacy involves always having the users’ privacy interests in mind and providing the necessary safeguards and features to protect such interests. </a:t>
            </a:r>
            <a:endParaRPr lang="en-US" dirty="0" smtClean="0"/>
          </a:p>
          <a:p>
            <a:pPr algn="just"/>
            <a:r>
              <a:rPr lang="en-US" dirty="0" smtClean="0"/>
              <a:t>This </a:t>
            </a:r>
            <a:r>
              <a:rPr lang="en-US" dirty="0"/>
              <a:t>respect inspires every design decision and understands that the best user experience puts privacy first. </a:t>
            </a:r>
            <a:endParaRPr lang="en-US" dirty="0" smtClean="0"/>
          </a:p>
          <a:p>
            <a:pPr algn="just"/>
            <a:r>
              <a:rPr lang="en-US" dirty="0" smtClean="0"/>
              <a:t>This </a:t>
            </a:r>
            <a:r>
              <a:rPr lang="en-US" dirty="0"/>
              <a:t>includes putting the power in the hands of the user to manage their own data and actively seeking their engagement in the process.</a:t>
            </a:r>
            <a:endParaRPr lang="en-IN" dirty="0"/>
          </a:p>
        </p:txBody>
      </p:sp>
    </p:spTree>
    <p:extLst>
      <p:ext uri="{BB962C8B-B14F-4D97-AF65-F5344CB8AC3E}">
        <p14:creationId xmlns:p14="http://schemas.microsoft.com/office/powerpoint/2010/main" val="4169652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lgn="ctr">
              <a:buNone/>
            </a:pPr>
            <a:endParaRPr lang="en-IN" sz="4800" b="1" i="1" dirty="0" smtClean="0">
              <a:solidFill>
                <a:srgbClr val="0070C0"/>
              </a:solidFill>
            </a:endParaRPr>
          </a:p>
          <a:p>
            <a:pPr marL="0" indent="0" algn="ctr">
              <a:buNone/>
            </a:pPr>
            <a:endParaRPr lang="en-IN" sz="4800" b="1" i="1" dirty="0">
              <a:solidFill>
                <a:srgbClr val="0070C0"/>
              </a:solidFill>
            </a:endParaRPr>
          </a:p>
          <a:p>
            <a:pPr marL="0" indent="0" algn="ctr">
              <a:buNone/>
            </a:pPr>
            <a:r>
              <a:rPr lang="en-IN" sz="4800" b="1" i="1" dirty="0" smtClean="0">
                <a:solidFill>
                  <a:srgbClr val="0070C0"/>
                </a:solidFill>
              </a:rPr>
              <a:t>Thank you!</a:t>
            </a:r>
            <a:endParaRPr lang="en-IN" sz="4800" b="1" i="1" dirty="0">
              <a:solidFill>
                <a:srgbClr val="0070C0"/>
              </a:solidFill>
            </a:endParaRPr>
          </a:p>
        </p:txBody>
      </p:sp>
    </p:spTree>
    <p:extLst>
      <p:ext uri="{BB962C8B-B14F-4D97-AF65-F5344CB8AC3E}">
        <p14:creationId xmlns:p14="http://schemas.microsoft.com/office/powerpoint/2010/main" val="2702444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18706</TotalTime>
  <Words>1681</Words>
  <Application>Microsoft Office PowerPoint</Application>
  <PresentationFormat>On-screen Show (4:3)</PresentationFormat>
  <Paragraphs>268</Paragraphs>
  <Slides>61</Slides>
  <Notes>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System &amp; Software Security</vt:lpstr>
      <vt:lpstr>Malware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Anti-Malware Strategies</vt:lpstr>
      <vt:lpstr> Anti-Malware Tools  </vt:lpstr>
      <vt:lpstr>Unintentional (Non-malicious) Programming flaws</vt:lpstr>
      <vt:lpstr>Key Types of Non-Malicious Programming Flaws</vt:lpstr>
      <vt:lpstr>Buffer Overflow</vt:lpstr>
      <vt:lpstr>Stack-based Buffer Overflow </vt:lpstr>
      <vt:lpstr> </vt:lpstr>
      <vt:lpstr>Incomplete mediation</vt:lpstr>
      <vt:lpstr>Examples:</vt:lpstr>
      <vt:lpstr>PowerPoint Presentation</vt:lpstr>
      <vt:lpstr>Prevention Strategies</vt:lpstr>
      <vt:lpstr>Time of-Check to Time-of-Use</vt:lpstr>
      <vt:lpstr>Key Aspects of TOCTOU </vt:lpstr>
      <vt:lpstr>Classic File System Example: </vt:lpstr>
      <vt:lpstr>Undocumented access points</vt:lpstr>
      <vt:lpstr> Key Aspects of Undocumented Access Points and Interfaces: </vt:lpstr>
      <vt:lpstr>Unterminated Null Terminated String</vt:lpstr>
      <vt:lpstr>Consequences:</vt:lpstr>
      <vt:lpstr>Parameter length</vt:lpstr>
      <vt:lpstr>Key aspects include:</vt:lpstr>
      <vt:lpstr>Unsafe Utility Programs  </vt:lpstr>
      <vt:lpstr>Race Condition</vt:lpstr>
      <vt:lpstr>Countermeasures for Users </vt:lpstr>
      <vt:lpstr>Countermeasures for Developers </vt:lpstr>
      <vt:lpstr>Code Testing</vt:lpstr>
      <vt:lpstr> Countermeasure Specifically for Security – </vt:lpstr>
      <vt:lpstr> Countermeasure Specifically for Security – </vt:lpstr>
      <vt:lpstr>Countermeasures that Don’t Work </vt:lpstr>
      <vt:lpstr>Secure Software Development Lifecycle (SSDLC)</vt:lpstr>
      <vt:lpstr>PowerPoint Presentation</vt:lpstr>
      <vt:lpstr>PowerPoint Presentation</vt:lpstr>
      <vt:lpstr>PowerPoint Presentation</vt:lpstr>
      <vt:lpstr>Phases of SSDLC</vt:lpstr>
      <vt:lpstr>PowerPoint Presentation</vt:lpstr>
      <vt:lpstr>PowerPoint Presentation</vt:lpstr>
      <vt:lpstr>SDLC Process vs SSDLC Process: </vt:lpstr>
      <vt:lpstr>PowerPoint Presentation</vt:lpstr>
      <vt:lpstr>Privacy By Design </vt:lpstr>
      <vt:lpstr>PowerPoint Presentation</vt:lpstr>
      <vt:lpstr>7 Principles of Privacy by Design</vt:lpstr>
      <vt:lpstr> Principle 1: Proactive not reactive; Preventative not remedial </vt:lpstr>
      <vt:lpstr> Principle 2: Privacy as the default setting </vt:lpstr>
      <vt:lpstr>PowerPoint Presentation</vt:lpstr>
      <vt:lpstr> Principle 3: Privacy embedded into design </vt:lpstr>
      <vt:lpstr> Principle 4: Full functionality – Positive-sum, not zero-sum  </vt:lpstr>
      <vt:lpstr> Principle 5: End-to-end security – Lifecycle protection </vt:lpstr>
      <vt:lpstr> Principle 6: Visibility and transparency – Keep it open  </vt:lpstr>
      <vt:lpstr> Principle 7: Respect for user privacy – Keep it user-centric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&amp; Software Security</dc:title>
  <dc:creator>Dr.Anushree Deshmukh</dc:creator>
  <cp:lastModifiedBy>Dr.Anushree Deshmukh</cp:lastModifiedBy>
  <cp:revision>27</cp:revision>
  <dcterms:created xsi:type="dcterms:W3CDTF">2026-02-03T11:56:25Z</dcterms:created>
  <dcterms:modified xsi:type="dcterms:W3CDTF">2026-02-18T05:11:02Z</dcterms:modified>
</cp:coreProperties>
</file>