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61" r:id="rId2"/>
    <p:sldId id="262" r:id="rId3"/>
    <p:sldId id="263" r:id="rId4"/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embeddedFontLst>
    <p:embeddedFont>
      <p:font typeface="Fira Sans" panose="020B0503050000020004" pitchFamily="34" charset="0"/>
      <p:regular r:id="rId11"/>
      <p:bold r:id="rId12"/>
      <p:italic r:id="rId13"/>
      <p:boldItalic r:id="rId14"/>
    </p:embeddedFont>
    <p:embeddedFont>
      <p:font typeface="Marcellus" panose="020B0604020202020204" charset="0"/>
      <p:regular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Roboto Slab" pitchFamily="2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gbWDH9BgynZPotlxacZXWgy2wV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59485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25fdc80c2f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" name="Google Shape;24;g25fdc80c2f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2" name="Google Shape;13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14912aa8f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214912aa8f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5ff18e6c2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5ff18e6c2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5ff18e6c2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5ff18e6c2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6F93FA11-668E-5D27-6486-F2A3F91F37D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A7B1C99D-C4D1-45FD-111D-769C26834B4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2994A560-18DD-F7FA-6DD2-C824990422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6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8" name="Google Shape;28;p6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29" name="Google Shape;29;p6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200"/>
              <a:buFont typeface="Marcellu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45C52928-2C50-1A5B-EE93-8F4D4C23D2A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26B1B699-1655-BFF4-3EEC-1A8B6C6CF2B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C1EA1705-04BF-7289-C7D1-4935077A8E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200"/>
              <a:buFont typeface="Marcellu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A5A530D4-7988-DD93-1F79-72D4E4A7AE5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40917687-04A8-9A80-5C70-899E54DC239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7567F952-39E5-337F-9349-50B557408F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3BE4EE66-95F2-11F6-05EA-E5792929E64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CD790172-54B1-1878-459A-282E99A7FB4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04871C75-B572-7CC7-1B53-358A4FEE24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5D40BE01-A796-ADDE-1067-A85126FB981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C5F09E59-F1FA-4758-8DEB-A7EB3912E75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6FC11D24-EC12-A80C-ADB8-D5E74CECE3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8" name="Google Shape;88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213AF292-09D4-0240-9F52-B3CE283D196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20A4B550-7FFA-C52B-9952-E28A393DD04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2BC36ECE-C3D1-09DD-489B-CE38B06573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EABDB97A-1573-9AE9-7909-28C3E654614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184D9332-35CA-F8DE-8CC6-B575CA7CBF5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0179A92C-6424-95BD-C452-01B2896127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1E9D295B-756D-94F6-FA62-BAFD6BC1D42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80AB6F56-86EA-513F-E160-6DD1EE9C47B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0A8BF585-0ABE-47EC-65FA-540F276B8A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8" name="Google Shape;118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92DB2441-62E7-3832-5EE5-42D43B0B914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D868530D-AFB3-4C01-7548-464E74FEE2D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A663D57F-09FB-1768-75C6-36B36B9856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;p5">
            <a:extLst>
              <a:ext uri="{FF2B5EF4-FFF2-40B4-BE49-F238E27FC236}">
                <a16:creationId xmlns:a16="http://schemas.microsoft.com/office/drawing/2014/main" id="{44909106-E9FD-B340-07F3-E7E43E0C87E5}"/>
              </a:ext>
            </a:extLst>
          </p:cNvPr>
          <p:cNvSpPr/>
          <p:nvPr userDrawn="1"/>
        </p:nvSpPr>
        <p:spPr>
          <a:xfrm>
            <a:off x="0" y="6080760"/>
            <a:ext cx="838200" cy="79049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3;p5">
            <a:extLst>
              <a:ext uri="{FF2B5EF4-FFF2-40B4-BE49-F238E27FC236}">
                <a16:creationId xmlns:a16="http://schemas.microsoft.com/office/drawing/2014/main" id="{EAAF044C-1D0D-0CFE-1234-30E94B876495}"/>
              </a:ext>
            </a:extLst>
          </p:cNvPr>
          <p:cNvSpPr/>
          <p:nvPr userDrawn="1"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4;p5">
            <a:extLst>
              <a:ext uri="{FF2B5EF4-FFF2-40B4-BE49-F238E27FC236}">
                <a16:creationId xmlns:a16="http://schemas.microsoft.com/office/drawing/2014/main" id="{5526ECCB-9585-9619-412C-AF7D491C3AAD}"/>
              </a:ext>
            </a:extLst>
          </p:cNvPr>
          <p:cNvSpPr/>
          <p:nvPr userDrawn="1"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5" name="Google Shape;21;p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3B2F81F-E84E-30FC-261A-95AAEEBA8CF0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11124596" y="226123"/>
            <a:ext cx="728472" cy="539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62" y="141576"/>
            <a:ext cx="2316256" cy="708705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 txBox="1">
            <a:spLocks noGrp="1"/>
          </p:cNvSpPr>
          <p:nvPr>
            <p:ph type="ctrTitle"/>
          </p:nvPr>
        </p:nvSpPr>
        <p:spPr>
          <a:xfrm>
            <a:off x="1837944" y="722376"/>
            <a:ext cx="9027856" cy="1007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Predictive Healthcare: An IoT-Based ANFIS Framework for Diabetes Diagnosis</a:t>
            </a:r>
            <a:endParaRPr lang="en-US" sz="3200" dirty="0"/>
          </a:p>
        </p:txBody>
      </p:sp>
      <p:sp>
        <p:nvSpPr>
          <p:cNvPr id="21" name="Google Shape;21;p1"/>
          <p:cNvSpPr txBox="1">
            <a:spLocks noGrp="1"/>
          </p:cNvSpPr>
          <p:nvPr>
            <p:ph type="subTitle" idx="1"/>
          </p:nvPr>
        </p:nvSpPr>
        <p:spPr>
          <a:xfrm>
            <a:off x="35518" y="1729871"/>
            <a:ext cx="12109155" cy="503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sz="1400" b="1">
                <a:solidFill>
                  <a:schemeClr val="tx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Presenter</a:t>
            </a:r>
            <a:r>
              <a:rPr lang="en-US" sz="1400" b="1" dirty="0">
                <a:solidFill>
                  <a:schemeClr val="tx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r>
              <a:rPr lang="en-US" sz="1400" dirty="0">
                <a:solidFill>
                  <a:schemeClr val="tx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Aaryan Sharma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T.Y. </a:t>
            </a:r>
            <a:r>
              <a:rPr lang="en-US" sz="1400" dirty="0" err="1">
                <a:solidFill>
                  <a:schemeClr val="tx1"/>
                </a:solidFill>
              </a:rPr>
              <a:t>B.Tech</a:t>
            </a:r>
            <a:r>
              <a:rPr lang="en-US" sz="1400" dirty="0">
                <a:solidFill>
                  <a:schemeClr val="tx1"/>
                </a:solidFill>
              </a:rPr>
              <a:t> (Semester 6), K. J. Somaiya College of Engineering</a:t>
            </a:r>
          </a:p>
        </p:txBody>
      </p:sp>
      <p:pic>
        <p:nvPicPr>
          <p:cNvPr id="4" name="Google Shape;32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518" y="2274354"/>
            <a:ext cx="6052457" cy="3512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21;p1"/>
          <p:cNvPicPr preferRelativeResize="0"/>
          <p:nvPr/>
        </p:nvPicPr>
        <p:blipFill rotWithShape="1">
          <a:blip r:embed="rId4">
            <a:alphaModFix/>
          </a:blip>
          <a:srcRect r="59220"/>
          <a:stretch/>
        </p:blipFill>
        <p:spPr>
          <a:xfrm rot="-5400000">
            <a:off x="7424061" y="1000149"/>
            <a:ext cx="3512457" cy="602342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8;p6">
            <a:extLst>
              <a:ext uri="{FF2B5EF4-FFF2-40B4-BE49-F238E27FC236}">
                <a16:creationId xmlns:a16="http://schemas.microsoft.com/office/drawing/2014/main" id="{C7F5AABD-9423-BE7A-5E7B-96193C87688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287295" y="6227245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13/02/2026	</a:t>
            </a:r>
          </a:p>
        </p:txBody>
      </p:sp>
      <p:sp>
        <p:nvSpPr>
          <p:cNvPr id="9" name="Google Shape;30;p6">
            <a:extLst>
              <a:ext uri="{FF2B5EF4-FFF2-40B4-BE49-F238E27FC236}">
                <a16:creationId xmlns:a16="http://schemas.microsoft.com/office/drawing/2014/main" id="{C46F5E81-7F9A-2292-04D4-6CA8EEE231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253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0;p6">
            <a:extLst>
              <a:ext uri="{FF2B5EF4-FFF2-40B4-BE49-F238E27FC236}">
                <a16:creationId xmlns:a16="http://schemas.microsoft.com/office/drawing/2014/main" id="{43F358E2-BE0A-24B2-4518-941E0E4D61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49EEE6-33AF-3A01-36F4-58EF889E09D6}"/>
              </a:ext>
            </a:extLst>
          </p:cNvPr>
          <p:cNvSpPr txBox="1"/>
          <p:nvPr/>
        </p:nvSpPr>
        <p:spPr>
          <a:xfrm>
            <a:off x="1109544" y="1108885"/>
            <a:ext cx="6094476" cy="767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550"/>
              </a:lnSpc>
            </a:pPr>
            <a:r>
              <a:rPr lang="en-US" sz="4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&amp; Motivation</a:t>
            </a:r>
            <a:endParaRPr lang="en-US" sz="4400" dirty="0"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E0F803E4-4C37-142A-3A46-2D7F90D669FB}"/>
              </a:ext>
            </a:extLst>
          </p:cNvPr>
          <p:cNvSpPr/>
          <p:nvPr/>
        </p:nvSpPr>
        <p:spPr>
          <a:xfrm>
            <a:off x="138783" y="2250646"/>
            <a:ext cx="3800689" cy="2819519"/>
          </a:xfrm>
          <a:prstGeom prst="roundRect">
            <a:avLst>
              <a:gd name="adj" fmla="val 5189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61816616-C19D-797A-6E5D-B25A0904DB6F}"/>
              </a:ext>
            </a:extLst>
          </p:cNvPr>
          <p:cNvSpPr/>
          <p:nvPr/>
        </p:nvSpPr>
        <p:spPr>
          <a:xfrm>
            <a:off x="457563" y="25079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Complexity</a:t>
            </a:r>
            <a:endParaRPr lang="en-US" sz="22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FFBCE88D-1560-1BA5-CDEF-C694D09642F7}"/>
              </a:ext>
            </a:extLst>
          </p:cNvPr>
          <p:cNvSpPr/>
          <p:nvPr/>
        </p:nvSpPr>
        <p:spPr>
          <a:xfrm>
            <a:off x="476743" y="2998361"/>
            <a:ext cx="310465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ML models struggle with non-linear, complex, and fuzzy clinical data requiring sophisticated handling mechanisms.</a:t>
            </a:r>
            <a:endParaRPr lang="en-US" sz="175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56C9A1DC-CC1B-6F6D-5D25-DCC6ADCD3CDF}"/>
              </a:ext>
            </a:extLst>
          </p:cNvPr>
          <p:cNvSpPr/>
          <p:nvPr/>
        </p:nvSpPr>
        <p:spPr>
          <a:xfrm>
            <a:off x="4156782" y="2250646"/>
            <a:ext cx="3863877" cy="2819519"/>
          </a:xfrm>
          <a:prstGeom prst="roundRect">
            <a:avLst>
              <a:gd name="adj" fmla="val 5189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F8C2AB8D-43F6-A14C-889B-12692CD79F14}"/>
              </a:ext>
            </a:extLst>
          </p:cNvPr>
          <p:cNvSpPr/>
          <p:nvPr/>
        </p:nvSpPr>
        <p:spPr>
          <a:xfrm>
            <a:off x="4553585" y="25079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Early Diagnosis</a:t>
            </a:r>
            <a:endParaRPr lang="en-US" sz="22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902DFEA9-D22C-EFA9-15DA-CCB37D88D43F}"/>
              </a:ext>
            </a:extLst>
          </p:cNvPr>
          <p:cNvSpPr/>
          <p:nvPr/>
        </p:nvSpPr>
        <p:spPr>
          <a:xfrm>
            <a:off x="4609748" y="2998361"/>
            <a:ext cx="323225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Timely detection of diabetes remains critical for preventing complications and improving patient outcomes through intervention.</a:t>
            </a:r>
            <a:endParaRPr lang="en-US" sz="1750" dirty="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1A787003-ACBA-AB70-8271-9F7A93E5A35E}"/>
              </a:ext>
            </a:extLst>
          </p:cNvPr>
          <p:cNvSpPr/>
          <p:nvPr/>
        </p:nvSpPr>
        <p:spPr>
          <a:xfrm>
            <a:off x="8200078" y="2262920"/>
            <a:ext cx="3939064" cy="2819519"/>
          </a:xfrm>
          <a:prstGeom prst="roundRect">
            <a:avLst>
              <a:gd name="adj" fmla="val 5189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4A379835-242E-C2D3-59E6-EFEFAC20DFBA}"/>
              </a:ext>
            </a:extLst>
          </p:cNvPr>
          <p:cNvSpPr/>
          <p:nvPr/>
        </p:nvSpPr>
        <p:spPr>
          <a:xfrm>
            <a:off x="8555266" y="25088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Interpretability</a:t>
            </a:r>
            <a:endParaRPr lang="en-US" sz="22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C61CC0CC-F88A-7F1F-7AA6-A1F8C1C6CB44}"/>
              </a:ext>
            </a:extLst>
          </p:cNvPr>
          <p:cNvSpPr/>
          <p:nvPr/>
        </p:nvSpPr>
        <p:spPr>
          <a:xfrm>
            <a:off x="8548812" y="2998360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Black box models create lack of trust in medical AI decisions, necessitating transparent reasoning without sacrificing predictive accuracy.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000513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0;p6">
            <a:extLst>
              <a:ext uri="{FF2B5EF4-FFF2-40B4-BE49-F238E27FC236}">
                <a16:creationId xmlns:a16="http://schemas.microsoft.com/office/drawing/2014/main" id="{C9C195AD-2DBF-1F84-5DE6-6EEE55666A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F5E33401-7818-34FF-C70B-06C2E3971613}"/>
              </a:ext>
            </a:extLst>
          </p:cNvPr>
          <p:cNvSpPr/>
          <p:nvPr/>
        </p:nvSpPr>
        <p:spPr>
          <a:xfrm>
            <a:off x="336590" y="10774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Objectives</a:t>
            </a:r>
            <a:endParaRPr lang="en-US" sz="4450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76DB2CDC-296F-7900-4F73-FDDCF8B4855F}"/>
              </a:ext>
            </a:extLst>
          </p:cNvPr>
          <p:cNvSpPr/>
          <p:nvPr/>
        </p:nvSpPr>
        <p:spPr>
          <a:xfrm>
            <a:off x="243007" y="2239874"/>
            <a:ext cx="3742730" cy="3302913"/>
          </a:xfrm>
          <a:prstGeom prst="roundRect">
            <a:avLst>
              <a:gd name="adj" fmla="val 1030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3FBA0741-2F71-5C34-62A8-EF7D8F0EC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952" y="2466570"/>
            <a:ext cx="680442" cy="680442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D5309CD3-22E0-7424-7646-79B0A4E3C011}"/>
              </a:ext>
            </a:extLst>
          </p:cNvPr>
          <p:cNvSpPr/>
          <p:nvPr/>
        </p:nvSpPr>
        <p:spPr>
          <a:xfrm>
            <a:off x="603291" y="26296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IoT Integration</a:t>
            </a:r>
            <a:endParaRPr lang="en-US" sz="22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F9A08CD-0205-99D6-9280-78CF8ED378C6}"/>
              </a:ext>
            </a:extLst>
          </p:cNvPr>
          <p:cNvSpPr/>
          <p:nvPr/>
        </p:nvSpPr>
        <p:spPr>
          <a:xfrm>
            <a:off x="603291" y="3307318"/>
            <a:ext cx="319478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Establish real-time patient health metric collection through IoT-enabled devices for continuous monitoring.</a:t>
            </a:r>
            <a:endParaRPr lang="en-US" sz="175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62D4504B-D2FE-FFA7-EEC2-9A411811BE10}"/>
              </a:ext>
            </a:extLst>
          </p:cNvPr>
          <p:cNvSpPr/>
          <p:nvPr/>
        </p:nvSpPr>
        <p:spPr>
          <a:xfrm>
            <a:off x="4239519" y="2239874"/>
            <a:ext cx="4196358" cy="3302913"/>
          </a:xfrm>
          <a:prstGeom prst="roundRect">
            <a:avLst>
              <a:gd name="adj" fmla="val 1030"/>
            </a:avLst>
          </a:prstGeom>
          <a:solidFill>
            <a:srgbClr val="E9ECF2"/>
          </a:solidFill>
          <a:ln/>
        </p:spPr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C0A43B09-579D-768C-3CD9-666B89134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6607" y="2466570"/>
            <a:ext cx="680442" cy="680442"/>
          </a:xfrm>
          <a:prstGeom prst="rect">
            <a:avLst/>
          </a:prstGeom>
        </p:spPr>
      </p:pic>
      <p:sp>
        <p:nvSpPr>
          <p:cNvPr id="14" name="Text 5">
            <a:extLst>
              <a:ext uri="{FF2B5EF4-FFF2-40B4-BE49-F238E27FC236}">
                <a16:creationId xmlns:a16="http://schemas.microsoft.com/office/drawing/2014/main" id="{1FAFE584-485B-3E4B-694E-165A2363133D}"/>
              </a:ext>
            </a:extLst>
          </p:cNvPr>
          <p:cNvSpPr/>
          <p:nvPr/>
        </p:nvSpPr>
        <p:spPr>
          <a:xfrm>
            <a:off x="4337328" y="2697789"/>
            <a:ext cx="30934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ANFIS Implementation</a:t>
            </a:r>
            <a:endParaRPr lang="en-US" sz="22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85D89E44-804C-426B-519A-501DC4D66E2F}"/>
              </a:ext>
            </a:extLst>
          </p:cNvPr>
          <p:cNvSpPr/>
          <p:nvPr/>
        </p:nvSpPr>
        <p:spPr>
          <a:xfrm>
            <a:off x="4544319" y="3307318"/>
            <a:ext cx="328294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Adaptive Neuro-Fuzzy Inference System to effectively handle data uncertainty and ambiguity.</a:t>
            </a:r>
            <a:endParaRPr lang="en-US" sz="175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43B6BF1C-482F-1C3D-329F-87976655BCBA}"/>
              </a:ext>
            </a:extLst>
          </p:cNvPr>
          <p:cNvSpPr/>
          <p:nvPr/>
        </p:nvSpPr>
        <p:spPr>
          <a:xfrm>
            <a:off x="8573334" y="2239874"/>
            <a:ext cx="3523060" cy="3302913"/>
          </a:xfrm>
          <a:prstGeom prst="roundRect">
            <a:avLst>
              <a:gd name="adj" fmla="val 1030"/>
            </a:avLst>
          </a:prstGeom>
          <a:solidFill>
            <a:srgbClr val="E9ECF2"/>
          </a:solidFill>
          <a:ln/>
        </p:spPr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85C7737B-6CCB-A9E3-2FC2-4A72F4C314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49442" y="2534733"/>
            <a:ext cx="680442" cy="680442"/>
          </a:xfrm>
          <a:prstGeom prst="rect">
            <a:avLst/>
          </a:prstGeom>
        </p:spPr>
      </p:pic>
      <p:sp>
        <p:nvSpPr>
          <p:cNvPr id="18" name="Text 8">
            <a:extLst>
              <a:ext uri="{FF2B5EF4-FFF2-40B4-BE49-F238E27FC236}">
                <a16:creationId xmlns:a16="http://schemas.microsoft.com/office/drawing/2014/main" id="{177709ED-D72C-5393-BBB1-14E31754210E}"/>
              </a:ext>
            </a:extLst>
          </p:cNvPr>
          <p:cNvSpPr/>
          <p:nvPr/>
        </p:nvSpPr>
        <p:spPr>
          <a:xfrm>
            <a:off x="8802941" y="26977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Clinical Support</a:t>
            </a:r>
            <a:endParaRPr lang="en-US" sz="22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1E8FC822-6CA4-B349-9179-C53C88BD72DD}"/>
              </a:ext>
            </a:extLst>
          </p:cNvPr>
          <p:cNvSpPr/>
          <p:nvPr/>
        </p:nvSpPr>
        <p:spPr>
          <a:xfrm>
            <a:off x="8729306" y="3479625"/>
            <a:ext cx="30847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 highly accurate, explainable predictive model for clinical decision support systems.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725899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;p6">
            <a:extLst>
              <a:ext uri="{FF2B5EF4-FFF2-40B4-BE49-F238E27FC236}">
                <a16:creationId xmlns:a16="http://schemas.microsoft.com/office/drawing/2014/main" id="{6F29DB1A-856D-6D0E-50F6-EDEF0F9991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4360CEC9-7BFA-780E-2C77-10CE1B5E9456}"/>
              </a:ext>
            </a:extLst>
          </p:cNvPr>
          <p:cNvSpPr/>
          <p:nvPr/>
        </p:nvSpPr>
        <p:spPr>
          <a:xfrm>
            <a:off x="336590" y="15640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Related Work</a:t>
            </a:r>
            <a:endParaRPr lang="en-US" sz="44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93AB4AC-5ABB-4694-B2EF-D24921A61101}"/>
              </a:ext>
            </a:extLst>
          </p:cNvPr>
          <p:cNvSpPr/>
          <p:nvPr/>
        </p:nvSpPr>
        <p:spPr>
          <a:xfrm>
            <a:off x="336590" y="283983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Existing Methods</a:t>
            </a:r>
            <a:endParaRPr lang="en-US" sz="26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9DD128D-9C21-EA5B-D4AE-DE09F17CAD7C}"/>
              </a:ext>
            </a:extLst>
          </p:cNvPr>
          <p:cNvSpPr/>
          <p:nvPr/>
        </p:nvSpPr>
        <p:spPr>
          <a:xfrm>
            <a:off x="336591" y="3491936"/>
            <a:ext cx="546070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 ML algorithms including Support Vector Machines (SVM), Naïve Bayes classifier, and K-Nearest Neighbors (KNN) are commonly deployed for binary disease classification tasks in healthcare.</a:t>
            </a:r>
            <a:endParaRPr lang="en-US" sz="175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B9908F6E-3E91-09F7-0930-EED837AA4F24}"/>
              </a:ext>
            </a:extLst>
          </p:cNvPr>
          <p:cNvSpPr/>
          <p:nvPr/>
        </p:nvSpPr>
        <p:spPr>
          <a:xfrm>
            <a:off x="6394705" y="283983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Research Gap</a:t>
            </a:r>
            <a:endParaRPr lang="en-US" sz="26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446E455-E5F0-3A89-FB69-A7846FA6D791}"/>
              </a:ext>
            </a:extLst>
          </p:cNvPr>
          <p:cNvSpPr/>
          <p:nvPr/>
        </p:nvSpPr>
        <p:spPr>
          <a:xfrm>
            <a:off x="6394706" y="3491936"/>
            <a:ext cx="546070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models exhibit rigidity, fail to handle ambiguous missing values effectively, and cannot provide human-readable logic or interpretable rules for their predictive outputs.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0;p6">
            <a:extLst>
              <a:ext uri="{FF2B5EF4-FFF2-40B4-BE49-F238E27FC236}">
                <a16:creationId xmlns:a16="http://schemas.microsoft.com/office/drawing/2014/main" id="{E5727897-C6D2-031E-659F-3FC07A370E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A652FA7E-CC13-F1C2-DA9C-A305514E92B0}"/>
              </a:ext>
            </a:extLst>
          </p:cNvPr>
          <p:cNvSpPr/>
          <p:nvPr/>
        </p:nvSpPr>
        <p:spPr>
          <a:xfrm>
            <a:off x="254294" y="110037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Methodology</a:t>
            </a:r>
            <a:endParaRPr lang="en-US" sz="4450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C1000947-A7D2-16AE-C647-BBD93A6C359F}"/>
              </a:ext>
            </a:extLst>
          </p:cNvPr>
          <p:cNvSpPr/>
          <p:nvPr/>
        </p:nvSpPr>
        <p:spPr>
          <a:xfrm>
            <a:off x="254294" y="189988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Proposed Approach</a:t>
            </a:r>
            <a:endParaRPr lang="en-US" sz="2650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0F27E986-B7CC-A9A5-25CF-7885711D1B3A}"/>
              </a:ext>
            </a:extLst>
          </p:cNvPr>
          <p:cNvSpPr/>
          <p:nvPr/>
        </p:nvSpPr>
        <p:spPr>
          <a:xfrm>
            <a:off x="254294" y="2380724"/>
            <a:ext cx="81947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Hybrid model combining Neural Networks (learning capability) with Fuzzy Logic (reasoning capability) for enhanced clinical decision-making.</a:t>
            </a:r>
            <a:endParaRPr lang="en-US" sz="1750" dirty="0"/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C9A48A53-9CE1-8B7F-B3CE-71FB39B57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95" y="3429000"/>
            <a:ext cx="3458980" cy="721824"/>
          </a:xfrm>
          <a:prstGeom prst="rect">
            <a:avLst/>
          </a:prstGeom>
        </p:spPr>
      </p:pic>
      <p:sp>
        <p:nvSpPr>
          <p:cNvPr id="21" name="Text 3">
            <a:extLst>
              <a:ext uri="{FF2B5EF4-FFF2-40B4-BE49-F238E27FC236}">
                <a16:creationId xmlns:a16="http://schemas.microsoft.com/office/drawing/2014/main" id="{E6F6EA19-6D87-8714-3D06-22DBCE6571F0}"/>
              </a:ext>
            </a:extLst>
          </p:cNvPr>
          <p:cNvSpPr/>
          <p:nvPr/>
        </p:nvSpPr>
        <p:spPr>
          <a:xfrm>
            <a:off x="338470" y="42961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IoT Data Collection</a:t>
            </a:r>
            <a:endParaRPr lang="en-US" sz="220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AA170A7C-A80D-97B4-A431-88FDB966C4FA}"/>
              </a:ext>
            </a:extLst>
          </p:cNvPr>
          <p:cNvSpPr/>
          <p:nvPr/>
        </p:nvSpPr>
        <p:spPr>
          <a:xfrm>
            <a:off x="338470" y="478654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Preprocessing via Min-Max Normalization</a:t>
            </a:r>
            <a:endParaRPr lang="en-US" sz="1750" dirty="0"/>
          </a:p>
        </p:txBody>
      </p:sp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47C6C7C0-41CC-193E-D311-F7C65806F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2990" y="3430991"/>
            <a:ext cx="3458980" cy="721824"/>
          </a:xfrm>
          <a:prstGeom prst="rect">
            <a:avLst/>
          </a:prstGeom>
        </p:spPr>
      </p:pic>
      <p:sp>
        <p:nvSpPr>
          <p:cNvPr id="24" name="Text 5">
            <a:extLst>
              <a:ext uri="{FF2B5EF4-FFF2-40B4-BE49-F238E27FC236}">
                <a16:creationId xmlns:a16="http://schemas.microsoft.com/office/drawing/2014/main" id="{AF799A71-38AC-42BA-2BB5-4760ED87E63F}"/>
              </a:ext>
            </a:extLst>
          </p:cNvPr>
          <p:cNvSpPr/>
          <p:nvPr/>
        </p:nvSpPr>
        <p:spPr>
          <a:xfrm>
            <a:off x="4686037" y="42961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Feature Selection</a:t>
            </a:r>
            <a:endParaRPr lang="en-US" sz="22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CC2DF0D5-F59A-C5AA-F01D-E144D411D9E9}"/>
              </a:ext>
            </a:extLst>
          </p:cNvPr>
          <p:cNvSpPr/>
          <p:nvPr/>
        </p:nvSpPr>
        <p:spPr>
          <a:xfrm>
            <a:off x="4686037" y="4786548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Correlation-based CFS technique</a:t>
            </a:r>
            <a:endParaRPr lang="en-US" sz="1750" dirty="0"/>
          </a:p>
        </p:txBody>
      </p:sp>
      <p:pic>
        <p:nvPicPr>
          <p:cNvPr id="26" name="Image 2" descr="preencoded.png">
            <a:extLst>
              <a:ext uri="{FF2B5EF4-FFF2-40B4-BE49-F238E27FC236}">
                <a16:creationId xmlns:a16="http://schemas.microsoft.com/office/drawing/2014/main" id="{0838B87D-0FFB-AB47-B512-B72E65ADFD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2497" y="3429000"/>
            <a:ext cx="3458980" cy="721824"/>
          </a:xfrm>
          <a:prstGeom prst="rect">
            <a:avLst/>
          </a:prstGeom>
        </p:spPr>
      </p:pic>
      <p:sp>
        <p:nvSpPr>
          <p:cNvPr id="27" name="Text 7">
            <a:extLst>
              <a:ext uri="{FF2B5EF4-FFF2-40B4-BE49-F238E27FC236}">
                <a16:creationId xmlns:a16="http://schemas.microsoft.com/office/drawing/2014/main" id="{D056D9ED-D126-9A21-5C12-6E192F9BE9F0}"/>
              </a:ext>
            </a:extLst>
          </p:cNvPr>
          <p:cNvSpPr/>
          <p:nvPr/>
        </p:nvSpPr>
        <p:spPr>
          <a:xfrm>
            <a:off x="8733019" y="42961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ANFIS Classification</a:t>
            </a:r>
            <a:endParaRPr lang="en-US" sz="22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2640EBF0-F7F6-E46E-DA85-8722B72CDBB8}"/>
              </a:ext>
            </a:extLst>
          </p:cNvPr>
          <p:cNvSpPr/>
          <p:nvPr/>
        </p:nvSpPr>
        <p:spPr>
          <a:xfrm>
            <a:off x="8733020" y="4786548"/>
            <a:ext cx="345898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5-Layer architecture: Fuzzification, Rule Firing, Normalization, Defuzzification, Summation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;p6">
            <a:extLst>
              <a:ext uri="{FF2B5EF4-FFF2-40B4-BE49-F238E27FC236}">
                <a16:creationId xmlns:a16="http://schemas.microsoft.com/office/drawing/2014/main" id="{D877A026-2027-7322-0A65-C4FD4766AA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24F42DCE-B0BA-63A6-7EFD-05FDF78470BA}"/>
              </a:ext>
            </a:extLst>
          </p:cNvPr>
          <p:cNvSpPr/>
          <p:nvPr/>
        </p:nvSpPr>
        <p:spPr>
          <a:xfrm>
            <a:off x="190286" y="11409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Dataset &amp; Setup</a:t>
            </a:r>
            <a:endParaRPr lang="en-US" sz="445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F8B5CDF6-AF1F-E979-C3F4-7B178DF60127}"/>
              </a:ext>
            </a:extLst>
          </p:cNvPr>
          <p:cNvSpPr/>
          <p:nvPr/>
        </p:nvSpPr>
        <p:spPr>
          <a:xfrm>
            <a:off x="190286" y="2303336"/>
            <a:ext cx="3851362" cy="2535912"/>
          </a:xfrm>
          <a:prstGeom prst="roundRect">
            <a:avLst>
              <a:gd name="adj" fmla="val 1342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5A918B9-0BAB-C17C-C98F-5972E591183E}"/>
              </a:ext>
            </a:extLst>
          </p:cNvPr>
          <p:cNvSpPr/>
          <p:nvPr/>
        </p:nvSpPr>
        <p:spPr>
          <a:xfrm>
            <a:off x="447580" y="25606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Dataset Source</a:t>
            </a:r>
            <a:endParaRPr lang="en-US" sz="22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6A8D969-2BC3-6796-3805-CDA85B702DFF}"/>
              </a:ext>
            </a:extLst>
          </p:cNvPr>
          <p:cNvSpPr/>
          <p:nvPr/>
        </p:nvSpPr>
        <p:spPr>
          <a:xfrm>
            <a:off x="447580" y="3051048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UCI Machine Learning Repository containing Diabetes attributes with comprehensive patient health metrics.</a:t>
            </a:r>
            <a:endParaRPr lang="en-US" sz="175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6E9BCC56-0A7B-26F3-CED4-640909F36CCF}"/>
              </a:ext>
            </a:extLst>
          </p:cNvPr>
          <p:cNvSpPr/>
          <p:nvPr/>
        </p:nvSpPr>
        <p:spPr>
          <a:xfrm>
            <a:off x="4255115" y="2303336"/>
            <a:ext cx="3681770" cy="2535912"/>
          </a:xfrm>
          <a:prstGeom prst="roundRect">
            <a:avLst>
              <a:gd name="adj" fmla="val 1342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8FD0184F-C28D-3900-55EA-BD649D326E3D}"/>
              </a:ext>
            </a:extLst>
          </p:cNvPr>
          <p:cNvSpPr/>
          <p:nvPr/>
        </p:nvSpPr>
        <p:spPr>
          <a:xfrm>
            <a:off x="4512409" y="25606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Selected Parameters</a:t>
            </a:r>
            <a:endParaRPr lang="en-US" sz="2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B1E33302-B0C5-C10F-BE44-A66309BEF5E3}"/>
              </a:ext>
            </a:extLst>
          </p:cNvPr>
          <p:cNvSpPr/>
          <p:nvPr/>
        </p:nvSpPr>
        <p:spPr>
          <a:xfrm>
            <a:off x="4512409" y="3051048"/>
            <a:ext cx="3681770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Glucose Level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Blood Pressure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</a:t>
            </a:r>
            <a:endParaRPr lang="en-US" sz="175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756DAF0C-B789-2FBE-1412-14B5EA0C578F}"/>
              </a:ext>
            </a:extLst>
          </p:cNvPr>
          <p:cNvSpPr/>
          <p:nvPr/>
        </p:nvSpPr>
        <p:spPr>
          <a:xfrm>
            <a:off x="8195661" y="2303336"/>
            <a:ext cx="3806053" cy="2535912"/>
          </a:xfrm>
          <a:prstGeom prst="roundRect">
            <a:avLst>
              <a:gd name="adj" fmla="val 1342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8A4557F8-48B6-52A4-4773-10ECF0E4AE23}"/>
              </a:ext>
            </a:extLst>
          </p:cNvPr>
          <p:cNvSpPr/>
          <p:nvPr/>
        </p:nvSpPr>
        <p:spPr>
          <a:xfrm>
            <a:off x="8452955" y="2560630"/>
            <a:ext cx="32448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Implementation Metrics</a:t>
            </a:r>
            <a:endParaRPr lang="en-US" sz="22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B0718274-2FCC-BD5F-070F-85E6DF411EB6}"/>
              </a:ext>
            </a:extLst>
          </p:cNvPr>
          <p:cNvSpPr/>
          <p:nvPr/>
        </p:nvSpPr>
        <p:spPr>
          <a:xfrm>
            <a:off x="8452955" y="3051048"/>
            <a:ext cx="3244810" cy="153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Min-Max Normalization for input scaling (0-1 range)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Classification Accuracy as primary evaluation metric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0;p6">
            <a:extLst>
              <a:ext uri="{FF2B5EF4-FFF2-40B4-BE49-F238E27FC236}">
                <a16:creationId xmlns:a16="http://schemas.microsoft.com/office/drawing/2014/main" id="{A399D55A-C0BE-8D7A-D806-C91591A25A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2F480AAC-1A35-D5C5-2A35-7CFDDC9CB6B1}"/>
              </a:ext>
            </a:extLst>
          </p:cNvPr>
          <p:cNvSpPr/>
          <p:nvPr/>
        </p:nvSpPr>
        <p:spPr>
          <a:xfrm>
            <a:off x="226862" y="119610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Results</a:t>
            </a:r>
            <a:endParaRPr lang="en-US" sz="44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EDB927F-03EA-13EC-391A-6CCFA61FDD0D}"/>
              </a:ext>
            </a:extLst>
          </p:cNvPr>
          <p:cNvSpPr/>
          <p:nvPr/>
        </p:nvSpPr>
        <p:spPr>
          <a:xfrm>
            <a:off x="226862" y="2188249"/>
            <a:ext cx="113220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ANFIS framework demonstrated superior performance by efficiently handling data uncertainty compared to traditional ML approaches.</a:t>
            </a:r>
            <a:endParaRPr lang="en-US" sz="17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D6908BA9-9EB3-C060-B6A3-10C63D4F28D4}"/>
              </a:ext>
            </a:extLst>
          </p:cNvPr>
          <p:cNvSpPr/>
          <p:nvPr/>
        </p:nvSpPr>
        <p:spPr>
          <a:xfrm>
            <a:off x="333303" y="3452813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87.0%</a:t>
            </a:r>
            <a:endParaRPr lang="en-US" sz="585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1BA745EF-D565-A7D0-B60D-DE72E08EF618}"/>
              </a:ext>
            </a:extLst>
          </p:cNvPr>
          <p:cNvSpPr/>
          <p:nvPr/>
        </p:nvSpPr>
        <p:spPr>
          <a:xfrm>
            <a:off x="439626" y="44846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SVM</a:t>
            </a:r>
            <a:endParaRPr lang="en-US" sz="22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E330242C-E009-4EC5-1C34-4C7DD060307D}"/>
              </a:ext>
            </a:extLst>
          </p:cNvPr>
          <p:cNvSpPr/>
          <p:nvPr/>
        </p:nvSpPr>
        <p:spPr>
          <a:xfrm>
            <a:off x="3274862" y="3452813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90.0%</a:t>
            </a:r>
            <a:endParaRPr lang="en-US" sz="585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B52B58BE-68E0-D68E-83CA-466E37C8372D}"/>
              </a:ext>
            </a:extLst>
          </p:cNvPr>
          <p:cNvSpPr/>
          <p:nvPr/>
        </p:nvSpPr>
        <p:spPr>
          <a:xfrm>
            <a:off x="3381303" y="44846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Naïve Bayes</a:t>
            </a:r>
            <a:endParaRPr lang="en-US" sz="2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E002D2F-B900-CE7B-F62F-A02BD86C87CA}"/>
              </a:ext>
            </a:extLst>
          </p:cNvPr>
          <p:cNvSpPr/>
          <p:nvPr/>
        </p:nvSpPr>
        <p:spPr>
          <a:xfrm>
            <a:off x="6096000" y="3461957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94.0%</a:t>
            </a:r>
            <a:endParaRPr lang="en-US" sz="585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960F7752-E8A7-2066-FCA5-1B43E39B8FE8}"/>
              </a:ext>
            </a:extLst>
          </p:cNvPr>
          <p:cNvSpPr/>
          <p:nvPr/>
        </p:nvSpPr>
        <p:spPr>
          <a:xfrm>
            <a:off x="6202442" y="44937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KNN</a:t>
            </a:r>
            <a:endParaRPr lang="en-US" sz="22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C1347420-B266-7A6F-AA46-82062A773F14}"/>
              </a:ext>
            </a:extLst>
          </p:cNvPr>
          <p:cNvSpPr/>
          <p:nvPr/>
        </p:nvSpPr>
        <p:spPr>
          <a:xfrm>
            <a:off x="9037676" y="3461957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95.5%</a:t>
            </a:r>
            <a:endParaRPr lang="en-US" sz="585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12D690DC-90DA-F140-F241-7940622677F6}"/>
              </a:ext>
            </a:extLst>
          </p:cNvPr>
          <p:cNvSpPr/>
          <p:nvPr/>
        </p:nvSpPr>
        <p:spPr>
          <a:xfrm>
            <a:off x="9144118" y="44937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Proposed ANFIS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0;p6">
            <a:extLst>
              <a:ext uri="{FF2B5EF4-FFF2-40B4-BE49-F238E27FC236}">
                <a16:creationId xmlns:a16="http://schemas.microsoft.com/office/drawing/2014/main" id="{0DEA5B80-1F4D-0E6B-25A5-3D680CFABC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C70CDF67-5589-CBB7-78E9-393FDE9725A6}"/>
              </a:ext>
            </a:extLst>
          </p:cNvPr>
          <p:cNvSpPr/>
          <p:nvPr/>
        </p:nvSpPr>
        <p:spPr>
          <a:xfrm>
            <a:off x="345734" y="1449657"/>
            <a:ext cx="70096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 &amp; Future Work</a:t>
            </a:r>
            <a:endParaRPr lang="en-US" sz="44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C578E7F-23E0-7C91-E92E-6262AD8EE2BC}"/>
              </a:ext>
            </a:extLst>
          </p:cNvPr>
          <p:cNvSpPr/>
          <p:nvPr/>
        </p:nvSpPr>
        <p:spPr>
          <a:xfrm>
            <a:off x="345734" y="272541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Main Findings</a:t>
            </a:r>
            <a:endParaRPr lang="en-US" sz="26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3032FFE-5EBF-D180-BBCD-44352651316F}"/>
              </a:ext>
            </a:extLst>
          </p:cNvPr>
          <p:cNvSpPr/>
          <p:nvPr/>
        </p:nvSpPr>
        <p:spPr>
          <a:xfrm>
            <a:off x="345735" y="3377517"/>
            <a:ext cx="5524714" cy="153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Neural Networks combined with Fuzzy Logic provide robust framework for clinical applications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ANFIS achieves state-of-the-art accuracy (95.5%) while maintaining explainable decision-making capability</a:t>
            </a:r>
            <a:endParaRPr lang="en-US" sz="175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0AAD4042-F767-9C3C-2BE6-4822E7C02B50}"/>
              </a:ext>
            </a:extLst>
          </p:cNvPr>
          <p:cNvSpPr/>
          <p:nvPr/>
        </p:nvSpPr>
        <p:spPr>
          <a:xfrm>
            <a:off x="6321553" y="272541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Scope</a:t>
            </a:r>
            <a:endParaRPr lang="en-US" sz="26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59A407D-35DD-C2CF-268E-D39A1AB860BB}"/>
              </a:ext>
            </a:extLst>
          </p:cNvPr>
          <p:cNvSpPr/>
          <p:nvPr/>
        </p:nvSpPr>
        <p:spPr>
          <a:xfrm>
            <a:off x="6321553" y="3377517"/>
            <a:ext cx="5254751" cy="153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Extend framework to other chronic illnesses beyond diabetes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 into federated learning systems for enhanced data privacy and security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omaiya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390</Words>
  <Application>Microsoft Office PowerPoint</Application>
  <PresentationFormat>Widescreen</PresentationFormat>
  <Paragraphs>66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Marcellus</vt:lpstr>
      <vt:lpstr>Fira Sans</vt:lpstr>
      <vt:lpstr>Roboto Slab</vt:lpstr>
      <vt:lpstr>Roboto</vt:lpstr>
      <vt:lpstr>Office Theme</vt:lpstr>
      <vt:lpstr>Predictive Healthcare: An IoT-Based ANFIS Framework for Diabetes Diagnosis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Pushpendra Kumar Dhansoia</dc:creator>
  <cp:lastModifiedBy>Aaryan Sharma</cp:lastModifiedBy>
  <cp:revision>10</cp:revision>
  <dcterms:created xsi:type="dcterms:W3CDTF">2022-02-21T05:08:08Z</dcterms:created>
  <dcterms:modified xsi:type="dcterms:W3CDTF">2026-03-05T04:20:54Z</dcterms:modified>
</cp:coreProperties>
</file>