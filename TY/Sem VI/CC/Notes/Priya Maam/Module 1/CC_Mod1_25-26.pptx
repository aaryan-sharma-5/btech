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Lst>
  <p:sldSz cy="6858000" cx="9144000"/>
  <p:notesSz cx="9144000" cy="6858000"/>
  <p:embeddedFontLst>
    <p:embeddedFont>
      <p:font typeface="Marcellus SC"/>
      <p:regular r:id="rId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90" roundtripDataSignature="AMtx7mgIoh9wb3nBB2WIAStB5A8nM0Ah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slide" Target="slides/slide81.xml"/><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88" Type="http://schemas.openxmlformats.org/officeDocument/2006/relationships/slide" Target="slides/slide83.xml"/><Relationship Id="rId43" Type="http://schemas.openxmlformats.org/officeDocument/2006/relationships/slide" Target="slides/slide38.xml"/><Relationship Id="rId87" Type="http://schemas.openxmlformats.org/officeDocument/2006/relationships/slide" Target="slides/slide82.xml"/><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MarcellusSC-regular.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0" Type="http://customschemas.google.com/relationships/presentationmetadata" Target="meta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txBox="1"/>
          <p:nvPr>
            <p:ph idx="3" type="hdr"/>
          </p:nvPr>
        </p:nvSpPr>
        <p:spPr>
          <a:xfrm>
            <a:off x="0" y="0"/>
            <a:ext cx="3372840" cy="50256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 name="Google Shape;6;n"/>
          <p:cNvSpPr txBox="1"/>
          <p:nvPr>
            <p:ph idx="10" type="dt"/>
          </p:nvPr>
        </p:nvSpPr>
        <p:spPr>
          <a:xfrm>
            <a:off x="4399200" y="0"/>
            <a:ext cx="3372840" cy="502560"/>
          </a:xfrm>
          <a:prstGeom prst="rect">
            <a:avLst/>
          </a:prstGeom>
          <a:noFill/>
          <a:ln>
            <a:noFill/>
          </a:ln>
        </p:spPr>
        <p:txBody>
          <a:bodyPr anchorCtr="0" anchor="t" bIns="0" lIns="0" spcFirstLastPara="1" rIns="0" wrap="square" tIns="0">
            <a:noAutofit/>
          </a:bodyPr>
          <a:lstStyle>
            <a:lvl1pPr lv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9555480"/>
            <a:ext cx="3372840" cy="50256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399200" y="9555480"/>
            <a:ext cx="3372840" cy="5025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google.com/discover/types-of-cloud-computing"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google.com/discover/types-of-cloud-computing"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google.com/discover/types-of-cloud-computing"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1:notes"/>
          <p:cNvSpPr txBox="1"/>
          <p:nvPr>
            <p:ph idx="1" type="body"/>
          </p:nvPr>
        </p:nvSpPr>
        <p:spPr>
          <a:xfrm>
            <a:off x="914400" y="3257640"/>
            <a:ext cx="7314480" cy="30855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81" name="Google Shape;81;p1:notes"/>
          <p:cNvSpPr txBox="1"/>
          <p:nvPr>
            <p:ph idx="12" type="sldNum"/>
          </p:nvPr>
        </p:nvSpPr>
        <p:spPr>
          <a:xfrm>
            <a:off x="5180040" y="6513480"/>
            <a:ext cx="3961800" cy="3423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2:notes"/>
          <p:cNvSpPr txBox="1"/>
          <p:nvPr>
            <p:ph idx="1" type="body"/>
          </p:nvPr>
        </p:nvSpPr>
        <p:spPr>
          <a:xfrm>
            <a:off x="914400" y="3257640"/>
            <a:ext cx="7314480" cy="30855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93" name="Google Shape;93;p2:notes"/>
          <p:cNvSpPr txBox="1"/>
          <p:nvPr>
            <p:ph idx="12" type="sldNum"/>
          </p:nvPr>
        </p:nvSpPr>
        <p:spPr>
          <a:xfrm>
            <a:off x="5180040" y="6513480"/>
            <a:ext cx="3961800" cy="3423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15:notes"/>
          <p:cNvSpPr txBox="1"/>
          <p:nvPr>
            <p:ph idx="1" type="body"/>
          </p:nvPr>
        </p:nvSpPr>
        <p:spPr>
          <a:xfrm>
            <a:off x="914400" y="3257640"/>
            <a:ext cx="7314480" cy="30855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06" name="Google Shape;106;p15:notes"/>
          <p:cNvSpPr txBox="1"/>
          <p:nvPr>
            <p:ph idx="12" type="sldNum"/>
          </p:nvPr>
        </p:nvSpPr>
        <p:spPr>
          <a:xfrm>
            <a:off x="5180040" y="6513480"/>
            <a:ext cx="3961800" cy="3423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6:notes"/>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18" name="Google Shape;118;p1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b1edb5da07_2_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g3b1edb5da07_2_0: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b="0" i="0" lang="en-US" sz="1800" u="none" cap="none" strike="noStrike">
                <a:solidFill>
                  <a:srgbClr val="000000"/>
                </a:solidFill>
                <a:latin typeface="Arial"/>
                <a:ea typeface="Arial"/>
                <a:cs typeface="Arial"/>
                <a:sym typeface="Arial"/>
              </a:rPr>
              <a:t>1950 – one mainframe, multiple users/terminals could do their processing</a:t>
            </a:r>
            <a:endParaRPr b="0" i="0" sz="1800" u="none" cap="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b="0" i="0" lang="en-US" sz="1800" u="none" cap="none" strike="noStrike">
                <a:solidFill>
                  <a:srgbClr val="000000"/>
                </a:solidFill>
                <a:latin typeface="Arial"/>
                <a:ea typeface="Arial"/>
                <a:cs typeface="Arial"/>
                <a:sym typeface="Arial"/>
              </a:rPr>
              <a:t>1960 ARPANET (Advanced Research Projects Agency Network)- multiple users could access hosted applications</a:t>
            </a:r>
            <a:endParaRPr/>
          </a:p>
          <a:p>
            <a:pPr indent="0" lvl="0" marL="0" rtl="0" algn="l">
              <a:lnSpc>
                <a:spcPct val="100000"/>
              </a:lnSpc>
              <a:spcBef>
                <a:spcPts val="0"/>
              </a:spcBef>
              <a:spcAft>
                <a:spcPts val="0"/>
              </a:spcAft>
              <a:buSzPts val="1800"/>
              <a:buNone/>
            </a:pPr>
            <a:r>
              <a:rPr b="0" i="0" lang="en-US" sz="1800" u="none" cap="none" strike="noStrike">
                <a:solidFill>
                  <a:srgbClr val="000000"/>
                </a:solidFill>
                <a:latin typeface="Arial"/>
                <a:ea typeface="Arial"/>
                <a:cs typeface="Arial"/>
                <a:sym typeface="Arial"/>
              </a:rPr>
              <a:t>1970- virtual machines on single system, multiple OS</a:t>
            </a:r>
            <a:endParaRPr/>
          </a:p>
          <a:p>
            <a:pPr indent="0" lvl="0" marL="0" rtl="0" algn="l">
              <a:lnSpc>
                <a:spcPct val="100000"/>
              </a:lnSpc>
              <a:spcBef>
                <a:spcPts val="0"/>
              </a:spcBef>
              <a:spcAft>
                <a:spcPts val="0"/>
              </a:spcAft>
              <a:buSzPts val="1800"/>
              <a:buNone/>
            </a:pPr>
            <a:r>
              <a:rPr b="0" i="0" lang="en-US" sz="1800" u="none" cap="none" strike="noStrike">
                <a:solidFill>
                  <a:srgbClr val="000000"/>
                </a:solidFill>
                <a:latin typeface="Arial"/>
                <a:ea typeface="Arial"/>
                <a:cs typeface="Arial"/>
                <a:sym typeface="Arial"/>
              </a:rPr>
              <a:t>1990- Virtual Private Network- </a:t>
            </a:r>
            <a:r>
              <a:rPr lang="en-US"/>
              <a:t>VPN is a </a:t>
            </a:r>
            <a:r>
              <a:rPr b="1" lang="en-US"/>
              <a:t>networking and security technology</a:t>
            </a:r>
            <a:r>
              <a:rPr lang="en-US"/>
              <a:t> that is commonly used to </a:t>
            </a:r>
            <a:r>
              <a:rPr b="1" lang="en-US"/>
              <a:t>secure access to cloud and on-premise resources</a:t>
            </a:r>
            <a:r>
              <a:rPr lang="en-US"/>
              <a:t>, but VPN itself is not cloud computing.</a:t>
            </a:r>
            <a:endParaRPr/>
          </a:p>
          <a:p>
            <a:pPr indent="0" lvl="0" marL="0" rtl="0" algn="l">
              <a:lnSpc>
                <a:spcPct val="100000"/>
              </a:lnSpc>
              <a:spcBef>
                <a:spcPts val="0"/>
              </a:spcBef>
              <a:spcAft>
                <a:spcPts val="0"/>
              </a:spcAft>
              <a:buSzPts val="1800"/>
              <a:buNone/>
            </a:pPr>
            <a:r>
              <a:rPr b="0" i="0" lang="en-US" sz="1800" u="none" cap="none" strike="noStrike">
                <a:solidFill>
                  <a:srgbClr val="000000"/>
                </a:solidFill>
                <a:latin typeface="Arial"/>
                <a:ea typeface="Arial"/>
                <a:cs typeface="Arial"/>
                <a:sym typeface="Arial"/>
              </a:rPr>
              <a:t>In 1997, one of the first definitions of cloud computing came from Professor Ramnath Chellapa of Emory University and the University of South California. He referred to cloud computing as the “computing paradigm where the boundaries of computing will be determined by economic rationale rather than technical limits alone.”</a:t>
            </a:r>
            <a:endParaRPr b="0" sz="1800" u="none" strike="noStrike">
              <a:solidFill>
                <a:srgbClr val="000000"/>
              </a:solidFill>
              <a:latin typeface="Arial"/>
              <a:ea typeface="Arial"/>
              <a:cs typeface="Arial"/>
              <a:sym typeface="Arial"/>
            </a:endParaRPr>
          </a:p>
        </p:txBody>
      </p:sp>
      <p:sp>
        <p:nvSpPr>
          <p:cNvPr id="124" name="Google Shape;124;g3b1edb5da07_2_0: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34f1ccc17_0_1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g3b34f1ccc17_0_18: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36" name="Google Shape;136;g3b34f1ccc17_0_18: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b34f1ccc17_0_3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g3b34f1ccc17_0_31: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1. Ubiquitous – anytime anywhere from home, office</a:t>
            </a:r>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2. On-demand- whenever you ask for it you get it, no extra steps/installations required</a:t>
            </a:r>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3. Networks- c</a:t>
            </a:r>
            <a:r>
              <a:rPr b="1" lang="en-US"/>
              <a:t>onnectivity infrastructure</a:t>
            </a:r>
            <a:endParaRPr/>
          </a:p>
          <a:p>
            <a:pPr indent="-228600" lvl="0" marL="457200" marR="0" rtl="0" algn="l">
              <a:lnSpc>
                <a:spcPct val="100000"/>
              </a:lnSpc>
              <a:spcBef>
                <a:spcPts val="0"/>
              </a:spcBef>
              <a:spcAft>
                <a:spcPts val="0"/>
              </a:spcAft>
              <a:buSzPts val="1400"/>
              <a:buNone/>
            </a:pPr>
            <a:r>
              <a:rPr b="1" lang="en-US"/>
              <a:t>In cloud context:</a:t>
            </a:r>
            <a:endParaRPr/>
          </a:p>
          <a:p>
            <a:pPr indent="-228600" lvl="0" marL="457200" marR="0" rtl="0" algn="l">
              <a:lnSpc>
                <a:spcPct val="100000"/>
              </a:lnSpc>
              <a:spcBef>
                <a:spcPts val="0"/>
              </a:spcBef>
              <a:spcAft>
                <a:spcPts val="0"/>
              </a:spcAft>
              <a:buSzPts val="1400"/>
              <a:buNone/>
            </a:pPr>
            <a:r>
              <a:rPr lang="en-US"/>
              <a:t>Internet</a:t>
            </a:r>
            <a:endParaRPr/>
          </a:p>
          <a:p>
            <a:pPr indent="-228600" lvl="0" marL="457200" marR="0" rtl="0" algn="l">
              <a:lnSpc>
                <a:spcPct val="100000"/>
              </a:lnSpc>
              <a:spcBef>
                <a:spcPts val="0"/>
              </a:spcBef>
              <a:spcAft>
                <a:spcPts val="0"/>
              </a:spcAft>
              <a:buSzPts val="1400"/>
              <a:buNone/>
            </a:pPr>
            <a:r>
              <a:rPr lang="en-US"/>
              <a:t>Routers</a:t>
            </a:r>
            <a:endParaRPr/>
          </a:p>
          <a:p>
            <a:pPr indent="-228600" lvl="0" marL="457200" marR="0" rtl="0" algn="l">
              <a:lnSpc>
                <a:spcPct val="100000"/>
              </a:lnSpc>
              <a:spcBef>
                <a:spcPts val="0"/>
              </a:spcBef>
              <a:spcAft>
                <a:spcPts val="0"/>
              </a:spcAft>
              <a:buSzPts val="1400"/>
              <a:buNone/>
            </a:pPr>
            <a:r>
              <a:rPr lang="en-US"/>
              <a:t>Switches</a:t>
            </a:r>
            <a:endParaRPr/>
          </a:p>
          <a:p>
            <a:pPr indent="-228600" lvl="0" marL="457200" marR="0" rtl="0" algn="l">
              <a:lnSpc>
                <a:spcPct val="100000"/>
              </a:lnSpc>
              <a:spcBef>
                <a:spcPts val="0"/>
              </a:spcBef>
              <a:spcAft>
                <a:spcPts val="0"/>
              </a:spcAft>
              <a:buSzPts val="1400"/>
              <a:buNone/>
            </a:pPr>
            <a:r>
              <a:rPr lang="en-US"/>
              <a:t>Firewalls</a:t>
            </a:r>
            <a:endParaRPr/>
          </a:p>
          <a:p>
            <a:pPr indent="-228600" lvl="0" marL="457200" marR="0" rtl="0" algn="l">
              <a:lnSpc>
                <a:spcPct val="100000"/>
              </a:lnSpc>
              <a:spcBef>
                <a:spcPts val="0"/>
              </a:spcBef>
              <a:spcAft>
                <a:spcPts val="0"/>
              </a:spcAft>
              <a:buSzPts val="1400"/>
              <a:buNone/>
            </a:pPr>
            <a:r>
              <a:rPr lang="en-US"/>
              <a:t>Load balancers</a:t>
            </a:r>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Your device → Internet → Google data center</a:t>
            </a:r>
            <a:endParaRPr b="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4. Servers-</a:t>
            </a:r>
            <a:r>
              <a:rPr lang="en-US"/>
              <a:t>Powerful computers that run continuously – located in cloud data centers</a:t>
            </a:r>
            <a:endParaRPr/>
          </a:p>
          <a:p>
            <a:pPr indent="-228600" lvl="0" marL="457200" marR="0" rtl="0" algn="l">
              <a:lnSpc>
                <a:spcPct val="100000"/>
              </a:lnSpc>
              <a:spcBef>
                <a:spcPts val="0"/>
              </a:spcBef>
              <a:spcAft>
                <a:spcPts val="0"/>
              </a:spcAft>
              <a:buSzPts val="1400"/>
              <a:buNone/>
            </a:pPr>
            <a:r>
              <a:rPr b="0" lang="en-US" sz="1800" u="none" strike="noStrike">
                <a:solidFill>
                  <a:srgbClr val="000000"/>
                </a:solidFill>
                <a:latin typeface="Arial"/>
                <a:ea typeface="Arial"/>
                <a:cs typeface="Arial"/>
                <a:sym typeface="Arial"/>
              </a:rPr>
              <a:t>5. Storage- </a:t>
            </a:r>
            <a:r>
              <a:rPr b="1" lang="en-US"/>
              <a:t>n cloud context:</a:t>
            </a:r>
            <a:endParaRPr/>
          </a:p>
          <a:p>
            <a:pPr indent="-228600" lvl="0" marL="457200" marR="0" rtl="0" algn="l">
              <a:lnSpc>
                <a:spcPct val="100000"/>
              </a:lnSpc>
              <a:spcBef>
                <a:spcPts val="0"/>
              </a:spcBef>
              <a:spcAft>
                <a:spcPts val="0"/>
              </a:spcAft>
              <a:buSzPts val="1400"/>
              <a:buNone/>
            </a:pPr>
            <a:r>
              <a:rPr lang="en-US"/>
              <a:t>Files</a:t>
            </a:r>
            <a:endParaRPr/>
          </a:p>
          <a:p>
            <a:pPr indent="-228600" lvl="0" marL="457200" marR="0" rtl="0" algn="l">
              <a:lnSpc>
                <a:spcPct val="100000"/>
              </a:lnSpc>
              <a:spcBef>
                <a:spcPts val="0"/>
              </a:spcBef>
              <a:spcAft>
                <a:spcPts val="0"/>
              </a:spcAft>
              <a:buSzPts val="1400"/>
              <a:buNone/>
            </a:pPr>
            <a:r>
              <a:rPr lang="en-US"/>
              <a:t>Emails</a:t>
            </a:r>
            <a:endParaRPr/>
          </a:p>
          <a:p>
            <a:pPr indent="-228600" lvl="0" marL="457200" marR="0" rtl="0" algn="l">
              <a:lnSpc>
                <a:spcPct val="100000"/>
              </a:lnSpc>
              <a:spcBef>
                <a:spcPts val="0"/>
              </a:spcBef>
              <a:spcAft>
                <a:spcPts val="0"/>
              </a:spcAft>
              <a:buSzPts val="1400"/>
              <a:buNone/>
            </a:pPr>
            <a:r>
              <a:rPr lang="en-US"/>
              <a:t>Photos</a:t>
            </a:r>
            <a:endParaRPr/>
          </a:p>
          <a:p>
            <a:pPr indent="-228600" lvl="0" marL="457200" marR="0" rtl="0" algn="l">
              <a:lnSpc>
                <a:spcPct val="100000"/>
              </a:lnSpc>
              <a:spcBef>
                <a:spcPts val="0"/>
              </a:spcBef>
              <a:spcAft>
                <a:spcPts val="0"/>
              </a:spcAft>
              <a:buSzPts val="1400"/>
              <a:buNone/>
            </a:pPr>
            <a:r>
              <a:rPr lang="en-US"/>
              <a:t>Databases</a:t>
            </a:r>
            <a:endParaRPr/>
          </a:p>
          <a:p>
            <a:pPr indent="-228600" lvl="0" marL="457200" marR="0" rtl="0" algn="l">
              <a:lnSpc>
                <a:spcPct val="100000"/>
              </a:lnSpc>
              <a:spcBef>
                <a:spcPts val="0"/>
              </a:spcBef>
              <a:spcAft>
                <a:spcPts val="0"/>
              </a:spcAft>
              <a:buSzPts val="1400"/>
              <a:buNone/>
            </a:pPr>
            <a:r>
              <a:rPr lang="en-US"/>
              <a:t>Backups</a:t>
            </a:r>
            <a:endParaRPr/>
          </a:p>
          <a:p>
            <a:pPr indent="-228600" lvl="0" marL="457200" marR="0" rtl="0" algn="l">
              <a:lnSpc>
                <a:spcPct val="100000"/>
              </a:lnSpc>
              <a:spcBef>
                <a:spcPts val="0"/>
              </a:spcBef>
              <a:spcAft>
                <a:spcPts val="0"/>
              </a:spcAft>
              <a:buSzPts val="1400"/>
              <a:buNone/>
            </a:pPr>
            <a:r>
              <a:rPr lang="en-US"/>
              <a:t>Stored:</a:t>
            </a:r>
            <a:endParaRPr/>
          </a:p>
          <a:p>
            <a:pPr indent="-228600" lvl="0" marL="457200" marR="0" rtl="0" algn="l">
              <a:lnSpc>
                <a:spcPct val="100000"/>
              </a:lnSpc>
              <a:spcBef>
                <a:spcPts val="0"/>
              </a:spcBef>
              <a:spcAft>
                <a:spcPts val="0"/>
              </a:spcAft>
              <a:buSzPts val="1400"/>
              <a:buNone/>
            </a:pPr>
            <a:r>
              <a:rPr lang="en-US"/>
              <a:t>Remotely</a:t>
            </a:r>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6. Applications- Gmail, Zoom, Canva – installing app on your machine doesn’t make it non-clud, you simply install client on your machine and real work happens at servers</a:t>
            </a:r>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7. Services- ready to use It functionalities like storage, softwares</a:t>
            </a:r>
            <a:endParaRPr b="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8. Provisioned and released- given when required, taken back when not required</a:t>
            </a:r>
            <a:endParaRPr b="0" sz="1800" u="none" strike="noStrike">
              <a:solidFill>
                <a:srgbClr val="000000"/>
              </a:solidFill>
              <a:latin typeface="Arial"/>
              <a:ea typeface="Arial"/>
              <a:cs typeface="Arial"/>
              <a:sym typeface="Arial"/>
            </a:endParaRPr>
          </a:p>
        </p:txBody>
      </p:sp>
      <p:sp>
        <p:nvSpPr>
          <p:cNvPr id="150" name="Google Shape;150;g3b34f1ccc17_0_31: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34f1ccc17_0_5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g3b34f1ccc17_0_59: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64" name="Google Shape;164;g3b34f1ccc17_0_59: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34f1ccc17_0_7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g3b34f1ccc17_0_73: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77" name="Google Shape;177;g3b34f1ccc17_0_73: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b34f1ccc17_0_8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g3b34f1ccc17_0_86: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90" name="Google Shape;190;g3b34f1ccc17_0_86: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34f1ccc17_0_11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g3b34f1ccc17_0_113: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204" name="Google Shape;204;g3b34f1ccc17_0_113: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17" name="Google Shape;217;p17: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34f1ccc17_0_9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g3b34f1ccc17_0_99: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End user usage patterns or pricing tier influence burstable elasticity</a:t>
            </a:r>
            <a:endParaRPr b="0" sz="1800" u="none" strike="noStrike">
              <a:solidFill>
                <a:srgbClr val="000000"/>
              </a:solidFill>
              <a:latin typeface="Arial"/>
              <a:ea typeface="Arial"/>
              <a:cs typeface="Arial"/>
              <a:sym typeface="Arial"/>
            </a:endParaRPr>
          </a:p>
        </p:txBody>
      </p:sp>
      <p:sp>
        <p:nvSpPr>
          <p:cNvPr id="227" name="Google Shape;227;g3b34f1ccc17_0_99: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34f1ccc17_0_12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g3b34f1ccc17_0_127: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241" name="Google Shape;241;g3b34f1ccc17_0_127: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b34f1ccc17_0_14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g3b34f1ccc17_0_143: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800"/>
              <a:buAutoNum type="arabicPeriod"/>
            </a:pPr>
            <a:r>
              <a:rPr b="0" lang="en-US" sz="1800" u="none" strike="noStrike">
                <a:solidFill>
                  <a:srgbClr val="000000"/>
                </a:solidFill>
                <a:latin typeface="Arial"/>
                <a:ea typeface="Arial"/>
                <a:cs typeface="Arial"/>
                <a:sym typeface="Arial"/>
              </a:rPr>
              <a:t>SLA -  </a:t>
            </a:r>
            <a:r>
              <a:rPr lang="en-US"/>
              <a:t>A </a:t>
            </a:r>
            <a:r>
              <a:rPr b="1" lang="en-US"/>
              <a:t>formal agreement</a:t>
            </a:r>
            <a:r>
              <a:rPr lang="en-US"/>
              <a:t> between a </a:t>
            </a:r>
            <a:r>
              <a:rPr b="1" lang="en-US"/>
              <a:t>cloud provider</a:t>
            </a:r>
            <a:r>
              <a:rPr lang="en-US"/>
              <a:t> and a </a:t>
            </a:r>
            <a:r>
              <a:rPr b="1" lang="en-US"/>
              <a:t>customer</a:t>
            </a:r>
            <a:r>
              <a:rPr lang="en-US"/>
              <a:t> that defines </a:t>
            </a:r>
            <a:r>
              <a:rPr b="1" lang="en-US"/>
              <a:t>how good the service must be</a:t>
            </a:r>
            <a:r>
              <a:rPr b="0" lang="en-US"/>
              <a:t> –EXAMPLE - </a:t>
            </a:r>
            <a:r>
              <a:rPr lang="en-US"/>
              <a:t>How often the service is </a:t>
            </a:r>
            <a:r>
              <a:rPr b="1" lang="en-US"/>
              <a:t>up and running,, DOWNTIME ALLOWED TIME</a:t>
            </a:r>
            <a:endParaRPr/>
          </a:p>
          <a:p>
            <a:pPr indent="-342900" lvl="0" marL="342900" rtl="0" algn="l">
              <a:lnSpc>
                <a:spcPct val="100000"/>
              </a:lnSpc>
              <a:spcBef>
                <a:spcPts val="0"/>
              </a:spcBef>
              <a:spcAft>
                <a:spcPts val="0"/>
              </a:spcAft>
              <a:buSzPts val="1800"/>
              <a:buAutoNum type="arabicPeriod"/>
            </a:pPr>
            <a:r>
              <a:rPr b="1" lang="en-US" sz="1800" u="none" strike="noStrike">
                <a:solidFill>
                  <a:srgbClr val="000000"/>
                </a:solidFill>
                <a:latin typeface="Arial"/>
                <a:ea typeface="Arial"/>
                <a:cs typeface="Arial"/>
                <a:sym typeface="Arial"/>
              </a:rPr>
              <a:t>Billing Units- </a:t>
            </a:r>
            <a:r>
              <a:rPr b="1" lang="en-US"/>
              <a:t>Billing Units</a:t>
            </a:r>
            <a:endParaRPr/>
          </a:p>
          <a:p>
            <a:pPr indent="-228600" lvl="0" marL="457200" marR="0" rtl="0" algn="l">
              <a:lnSpc>
                <a:spcPct val="100000"/>
              </a:lnSpc>
              <a:spcBef>
                <a:spcPts val="0"/>
              </a:spcBef>
              <a:spcAft>
                <a:spcPts val="0"/>
              </a:spcAft>
              <a:buSzPts val="1400"/>
              <a:buNone/>
            </a:pPr>
            <a:r>
              <a:rPr b="1" lang="en-US"/>
              <a:t>What is measured?</a:t>
            </a:r>
            <a:endParaRPr/>
          </a:p>
          <a:p>
            <a:pPr indent="-228600" lvl="0" marL="457200" marR="0" rtl="0" algn="l">
              <a:lnSpc>
                <a:spcPct val="100000"/>
              </a:lnSpc>
              <a:spcBef>
                <a:spcPts val="0"/>
              </a:spcBef>
              <a:spcAft>
                <a:spcPts val="0"/>
              </a:spcAft>
              <a:buSzPts val="1400"/>
              <a:buNone/>
            </a:pPr>
            <a:r>
              <a:rPr lang="en-US"/>
              <a:t>Units like hours, GB, requests, users</a:t>
            </a:r>
            <a:endParaRPr/>
          </a:p>
          <a:p>
            <a:pPr indent="-228600" lvl="0" marL="457200" marR="0" rtl="0" algn="l">
              <a:lnSpc>
                <a:spcPct val="100000"/>
              </a:lnSpc>
              <a:spcBef>
                <a:spcPts val="0"/>
              </a:spcBef>
              <a:spcAft>
                <a:spcPts val="0"/>
              </a:spcAft>
              <a:buSzPts val="1400"/>
              <a:buNone/>
            </a:pPr>
            <a:r>
              <a:rPr b="1" lang="en-US"/>
              <a:t>Why measured?</a:t>
            </a:r>
            <a:endParaRPr/>
          </a:p>
          <a:p>
            <a:pPr indent="-228600" lvl="0" marL="457200" marR="0" rtl="0" algn="l">
              <a:lnSpc>
                <a:spcPct val="100000"/>
              </a:lnSpc>
              <a:spcBef>
                <a:spcPts val="0"/>
              </a:spcBef>
              <a:spcAft>
                <a:spcPts val="0"/>
              </a:spcAft>
              <a:buSzPts val="1400"/>
              <a:buNone/>
            </a:pPr>
            <a:r>
              <a:rPr lang="en-US"/>
              <a:t>Converts usage into cost</a:t>
            </a:r>
            <a:endParaRPr/>
          </a:p>
          <a:p>
            <a:pPr indent="-228600" lvl="0" marL="457200" marR="0" rtl="0" algn="l">
              <a:lnSpc>
                <a:spcPct val="100000"/>
              </a:lnSpc>
              <a:spcBef>
                <a:spcPts val="0"/>
              </a:spcBef>
              <a:spcAft>
                <a:spcPts val="0"/>
              </a:spcAft>
              <a:buSzPts val="1400"/>
              <a:buNone/>
            </a:pPr>
            <a:r>
              <a:rPr b="1" lang="en-US"/>
              <a:t>Example:</a:t>
            </a:r>
            <a:br>
              <a:rPr lang="en-US"/>
            </a:br>
            <a:r>
              <a:rPr lang="en-US"/>
              <a:t>₹ per VM-hour, ₹ per GB stored</a:t>
            </a:r>
            <a:endParaRPr/>
          </a:p>
          <a:p>
            <a:pPr indent="-228600" lvl="0" marL="457200" marR="0" rtl="0" algn="l">
              <a:lnSpc>
                <a:spcPct val="100000"/>
              </a:lnSpc>
              <a:spcBef>
                <a:spcPts val="0"/>
              </a:spcBef>
              <a:spcAft>
                <a:spcPts val="0"/>
              </a:spcAft>
              <a:buSzPts val="1400"/>
              <a:buNone/>
            </a:pPr>
            <a:r>
              <a:rPr b="0" lang="en-US" sz="1800" u="none" strike="noStrike">
                <a:solidFill>
                  <a:srgbClr val="000000"/>
                </a:solidFill>
                <a:latin typeface="Arial"/>
                <a:ea typeface="Arial"/>
                <a:cs typeface="Arial"/>
                <a:sym typeface="Arial"/>
              </a:rPr>
              <a:t>3. Application performance- </a:t>
            </a:r>
            <a:r>
              <a:rPr b="1" lang="en-US"/>
              <a:t>What is measured?</a:t>
            </a:r>
            <a:endParaRPr/>
          </a:p>
          <a:p>
            <a:pPr indent="-228600" lvl="0" marL="457200" marR="0" rtl="0" algn="l">
              <a:lnSpc>
                <a:spcPct val="100000"/>
              </a:lnSpc>
              <a:spcBef>
                <a:spcPts val="0"/>
              </a:spcBef>
              <a:spcAft>
                <a:spcPts val="0"/>
              </a:spcAft>
              <a:buSzPts val="1400"/>
              <a:buNone/>
            </a:pPr>
            <a:r>
              <a:rPr lang="en-US"/>
              <a:t>Response time</a:t>
            </a:r>
            <a:endParaRPr/>
          </a:p>
          <a:p>
            <a:pPr indent="-228600" lvl="0" marL="457200" marR="0" rtl="0" algn="l">
              <a:lnSpc>
                <a:spcPct val="100000"/>
              </a:lnSpc>
              <a:spcBef>
                <a:spcPts val="0"/>
              </a:spcBef>
              <a:spcAft>
                <a:spcPts val="0"/>
              </a:spcAft>
              <a:buSzPts val="1400"/>
              <a:buNone/>
            </a:pPr>
            <a:r>
              <a:rPr lang="en-US"/>
              <a:t>Throughput</a:t>
            </a:r>
            <a:endParaRPr/>
          </a:p>
          <a:p>
            <a:pPr indent="-228600" lvl="0" marL="457200" marR="0" rtl="0" algn="l">
              <a:lnSpc>
                <a:spcPct val="100000"/>
              </a:lnSpc>
              <a:spcBef>
                <a:spcPts val="0"/>
              </a:spcBef>
              <a:spcAft>
                <a:spcPts val="0"/>
              </a:spcAft>
              <a:buSzPts val="1400"/>
              <a:buNone/>
            </a:pPr>
            <a:r>
              <a:rPr lang="en-US"/>
              <a:t>Error rate</a:t>
            </a:r>
            <a:endParaRPr/>
          </a:p>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b="0" lang="en-US" sz="1800" u="none" strike="noStrike">
                <a:solidFill>
                  <a:srgbClr val="000000"/>
                </a:solidFill>
                <a:latin typeface="Arial"/>
                <a:ea typeface="Arial"/>
                <a:cs typeface="Arial"/>
                <a:sym typeface="Arial"/>
              </a:rPr>
              <a:t>4. Security &amp; Compliance metrics- </a:t>
            </a:r>
            <a:r>
              <a:rPr lang="en-US"/>
              <a:t>Audit logs, ISO / GDPR compliance reports</a:t>
            </a:r>
            <a:endParaRPr b="0" sz="1800" u="none" strike="noStrike">
              <a:solidFill>
                <a:srgbClr val="000000"/>
              </a:solidFill>
              <a:latin typeface="Arial"/>
              <a:ea typeface="Arial"/>
              <a:cs typeface="Arial"/>
              <a:sym typeface="Arial"/>
            </a:endParaRPr>
          </a:p>
        </p:txBody>
      </p:sp>
      <p:sp>
        <p:nvSpPr>
          <p:cNvPr id="255" name="Google Shape;255;g3b34f1ccc17_0_143: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b3e7766c9d_0_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g3b3e7766c9d_0_0: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269" name="Google Shape;269;g3b3e7766c9d_0_0: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3e7766c9d_0_1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g3b3e7766c9d_0_14:notes"/>
          <p:cNvSpPr txBox="1"/>
          <p:nvPr>
            <p:ph idx="1" type="body"/>
          </p:nvPr>
        </p:nvSpPr>
        <p:spPr>
          <a:xfrm>
            <a:off x="914400" y="3257640"/>
            <a:ext cx="7314600" cy="308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282" name="Google Shape;282;g3b3e7766c9d_0_14:notes"/>
          <p:cNvSpPr txBox="1"/>
          <p:nvPr>
            <p:ph idx="12" type="sldNum"/>
          </p:nvPr>
        </p:nvSpPr>
        <p:spPr>
          <a:xfrm>
            <a:off x="5180040" y="6513480"/>
            <a:ext cx="3961800" cy="342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8:notes"/>
          <p:cNvSpPr/>
          <p:nvPr>
            <p:ph idx="2" type="sldImg"/>
          </p:nvPr>
        </p:nvSpPr>
        <p:spPr>
          <a:xfrm>
            <a:off x="1371600" y="763588"/>
            <a:ext cx="50292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1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96" name="Google Shape;296;p1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9:notes"/>
          <p:cNvSpPr/>
          <p:nvPr>
            <p:ph idx="2" type="sldImg"/>
          </p:nvPr>
        </p:nvSpPr>
        <p:spPr>
          <a:xfrm>
            <a:off x="1371600" y="763588"/>
            <a:ext cx="50292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9: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17" name="Google Shape;317;p19: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b34f1ccc17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g3b34f1ccc17_0_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37" name="Google Shape;337;g3b34f1ccc17_0_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0:notes"/>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47" name="Google Shape;347;p20: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1:notes"/>
          <p:cNvSpPr/>
          <p:nvPr>
            <p:ph idx="2" type="sldImg"/>
          </p:nvPr>
        </p:nvSpPr>
        <p:spPr>
          <a:xfrm>
            <a:off x="1371600" y="763588"/>
            <a:ext cx="50292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21: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53" name="Google Shape;353;p21: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b3e7766c9d_0_31:notes"/>
          <p:cNvSpPr/>
          <p:nvPr>
            <p:ph idx="2" type="sldImg"/>
          </p:nvPr>
        </p:nvSpPr>
        <p:spPr>
          <a:xfrm>
            <a:off x="1371600" y="763588"/>
            <a:ext cx="50292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g3b3e7766c9d_0_31: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SzPts val="1400"/>
              <a:buAutoNum type="arabicPeriod"/>
            </a:pPr>
            <a:r>
              <a:rPr lang="en-US"/>
              <a:t>Cost</a:t>
            </a:r>
            <a:endParaRPr/>
          </a:p>
          <a:p>
            <a:pPr indent="-342900" lvl="0" marL="342900" rtl="0" algn="l">
              <a:lnSpc>
                <a:spcPct val="100000"/>
              </a:lnSpc>
              <a:spcBef>
                <a:spcPts val="0"/>
              </a:spcBef>
              <a:spcAft>
                <a:spcPts val="0"/>
              </a:spcAft>
              <a:buSzPts val="1400"/>
              <a:buAutoNum type="arabicPeriod"/>
            </a:pPr>
            <a:r>
              <a:rPr lang="en-US"/>
              <a:t>Processing power</a:t>
            </a:r>
            <a:endParaRPr/>
          </a:p>
          <a:p>
            <a:pPr indent="-342900" lvl="0" marL="342900" rtl="0" algn="l">
              <a:lnSpc>
                <a:spcPct val="100000"/>
              </a:lnSpc>
              <a:spcBef>
                <a:spcPts val="0"/>
              </a:spcBef>
              <a:spcAft>
                <a:spcPts val="0"/>
              </a:spcAft>
              <a:buSzPts val="1400"/>
              <a:buAutoNum type="arabicPeriod"/>
            </a:pPr>
            <a:r>
              <a:rPr lang="en-US"/>
              <a:t>Storage</a:t>
            </a:r>
            <a:endParaRPr/>
          </a:p>
          <a:p>
            <a:pPr indent="-342900" lvl="0" marL="342900" rtl="0" algn="l">
              <a:lnSpc>
                <a:spcPct val="100000"/>
              </a:lnSpc>
              <a:spcBef>
                <a:spcPts val="0"/>
              </a:spcBef>
              <a:spcAft>
                <a:spcPts val="0"/>
              </a:spcAft>
              <a:buSzPts val="1400"/>
              <a:buAutoNum type="arabicPeriod"/>
            </a:pPr>
            <a:r>
              <a:rPr lang="en-US"/>
              <a:t>No update worry</a:t>
            </a:r>
            <a:endParaRPr/>
          </a:p>
          <a:p>
            <a:pPr indent="-342900" lvl="0" marL="342900" rtl="0" algn="l">
              <a:lnSpc>
                <a:spcPct val="100000"/>
              </a:lnSpc>
              <a:spcBef>
                <a:spcPts val="0"/>
              </a:spcBef>
              <a:spcAft>
                <a:spcPts val="0"/>
              </a:spcAft>
              <a:buSzPts val="1400"/>
              <a:buAutoNum type="arabicPeriod"/>
            </a:pPr>
            <a:r>
              <a:rPr lang="en-US"/>
              <a:t>Compatibility of documents</a:t>
            </a:r>
            <a:endParaRPr/>
          </a:p>
          <a:p>
            <a:pPr indent="-342900" lvl="0" marL="342900" rtl="0" algn="l">
              <a:lnSpc>
                <a:spcPct val="100000"/>
              </a:lnSpc>
              <a:spcBef>
                <a:spcPts val="0"/>
              </a:spcBef>
              <a:spcAft>
                <a:spcPts val="0"/>
              </a:spcAft>
              <a:buSzPts val="1400"/>
              <a:buAutoNum type="arabicPeriod"/>
            </a:pPr>
            <a:r>
              <a:rPr lang="en-US"/>
              <a:t>Collaboration</a:t>
            </a:r>
            <a:endParaRPr/>
          </a:p>
          <a:p>
            <a:pPr indent="-342900" lvl="0" marL="342900" rtl="0" algn="l">
              <a:lnSpc>
                <a:spcPct val="100000"/>
              </a:lnSpc>
              <a:spcBef>
                <a:spcPts val="0"/>
              </a:spcBef>
              <a:spcAft>
                <a:spcPts val="0"/>
              </a:spcAft>
              <a:buSzPts val="1400"/>
              <a:buAutoNum type="arabicPeriod"/>
            </a:pPr>
            <a:r>
              <a:rPr lang="en-US"/>
              <a:t>independence</a:t>
            </a:r>
            <a:endParaRPr/>
          </a:p>
        </p:txBody>
      </p:sp>
      <p:sp>
        <p:nvSpPr>
          <p:cNvPr id="373" name="Google Shape;373;g3b3e7766c9d_0_31: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b3e7766c9d_0_44: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g3b3e7766c9d_0_4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254000" lvl="0" marL="342900" rtl="0" algn="l">
              <a:lnSpc>
                <a:spcPct val="100000"/>
              </a:lnSpc>
              <a:spcBef>
                <a:spcPts val="0"/>
              </a:spcBef>
              <a:spcAft>
                <a:spcPts val="0"/>
              </a:spcAft>
              <a:buSzPts val="1400"/>
              <a:buNone/>
            </a:pPr>
            <a:r>
              <a:t/>
            </a:r>
            <a:endParaRPr/>
          </a:p>
        </p:txBody>
      </p:sp>
      <p:sp>
        <p:nvSpPr>
          <p:cNvPr id="383" name="Google Shape;383;g3b3e7766c9d_0_4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b3e7766c9d_0_5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g3b3e7766c9d_0_5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94" name="Google Shape;394;g3b3e7766c9d_0_5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b3e7766c9d_0_75: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g3b3e7766c9d_0_7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05" name="Google Shape;405;g3b3e7766c9d_0_7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b3e7766c9d_0_85: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5" name="Google Shape;415;g3b3e7766c9d_0_8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16" name="Google Shape;416;g3b3e7766c9d_0_8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b3e7766c9d_0_95:notes"/>
          <p:cNvSpPr/>
          <p:nvPr>
            <p:ph idx="2" type="sldImg"/>
          </p:nvPr>
        </p:nvSpPr>
        <p:spPr>
          <a:xfrm>
            <a:off x="1371600" y="763588"/>
            <a:ext cx="50292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g3b3e7766c9d_0_9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27" name="Google Shape;427;g3b3e7766c9d_0_9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b3e7766c9d_0_107:notes"/>
          <p:cNvSpPr/>
          <p:nvPr>
            <p:ph idx="2" type="sldImg"/>
          </p:nvPr>
        </p:nvSpPr>
        <p:spPr>
          <a:xfrm>
            <a:off x="1371600" y="763588"/>
            <a:ext cx="50292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7" name="Google Shape;437;g3b3e7766c9d_0_10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38" name="Google Shape;438;g3b3e7766c9d_0_10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b3e7766c9d_0_117: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g3b3e7766c9d_0_11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Applications tightly coupled to a cloud provider’s services may not be portable across different cloud platforms.</a:t>
            </a:r>
            <a:endParaRPr/>
          </a:p>
          <a:p>
            <a:pPr indent="0" lvl="0" marL="0" rtl="0" algn="l">
              <a:lnSpc>
                <a:spcPct val="100000"/>
              </a:lnSpc>
              <a:spcBef>
                <a:spcPts val="0"/>
              </a:spcBef>
              <a:spcAft>
                <a:spcPts val="0"/>
              </a:spcAft>
              <a:buSzPts val="1400"/>
              <a:buNone/>
            </a:pPr>
            <a:r>
              <a:rPr lang="en-US"/>
              <a:t>MPI- Message Passing Interface</a:t>
            </a:r>
            <a:endParaRPr/>
          </a:p>
        </p:txBody>
      </p:sp>
      <p:sp>
        <p:nvSpPr>
          <p:cNvPr id="449" name="Google Shape;449;g3b3e7766c9d_0_11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b3e7766c9d_0_223:notes"/>
          <p:cNvSpPr/>
          <p:nvPr>
            <p:ph idx="2" type="sldImg"/>
          </p:nvPr>
        </p:nvSpPr>
        <p:spPr>
          <a:xfrm>
            <a:off x="1371600" y="763588"/>
            <a:ext cx="50292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g3b3e7766c9d_0_223: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60" name="Google Shape;460;g3b3e7766c9d_0_223: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b3e7766c9d_0_144: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g3b3e7766c9d_0_14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71" name="Google Shape;471;g3b3e7766c9d_0_14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b3e7766c9d_0_325: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304800" lvl="0" marL="457200" rtl="0" algn="l">
              <a:lnSpc>
                <a:spcPct val="100000"/>
              </a:lnSpc>
              <a:spcBef>
                <a:spcPts val="0"/>
              </a:spcBef>
              <a:spcAft>
                <a:spcPts val="0"/>
              </a:spcAft>
              <a:buSzPts val="1200"/>
              <a:buAutoNum type="arabicPeriod"/>
            </a:pPr>
            <a:r>
              <a:rPr lang="en-US" sz="1200"/>
              <a:t>email newsletter campaign software- Sending thousands/millions of emails, Tracking opens, clicks, unsubscribes, Integrating with customer databases, websites, CRM tools</a:t>
            </a:r>
            <a:endParaRPr sz="1200"/>
          </a:p>
          <a:p>
            <a:pPr indent="0" lvl="0" marL="0" rtl="0" algn="l">
              <a:lnSpc>
                <a:spcPct val="115000"/>
              </a:lnSpc>
              <a:spcBef>
                <a:spcPts val="1400"/>
              </a:spcBef>
              <a:spcAft>
                <a:spcPts val="0"/>
              </a:spcAft>
              <a:buClr>
                <a:schemeClr val="dk1"/>
              </a:buClr>
              <a:buSzPts val="1100"/>
              <a:buFont typeface="Arial"/>
              <a:buNone/>
            </a:pPr>
            <a:r>
              <a:rPr b="1" lang="en-US" sz="1200">
                <a:solidFill>
                  <a:schemeClr val="dk1"/>
                </a:solidFill>
              </a:rPr>
              <a:t>Why cloud fits best</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 </a:t>
            </a:r>
            <a:r>
              <a:rPr b="1" lang="en-US" sz="1200">
                <a:solidFill>
                  <a:schemeClr val="dk1"/>
                </a:solidFill>
              </a:rPr>
              <a:t>Global reach</a:t>
            </a:r>
            <a:r>
              <a:rPr lang="en-US" sz="1200">
                <a:solidFill>
                  <a:schemeClr val="dk1"/>
                </a:solidFill>
              </a:rPr>
              <a:t> – emails can be sent worldwide from cloud data centers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 </a:t>
            </a:r>
            <a:r>
              <a:rPr b="1" lang="en-US" sz="1200">
                <a:solidFill>
                  <a:schemeClr val="dk1"/>
                </a:solidFill>
              </a:rPr>
              <a:t>Scalability</a:t>
            </a:r>
            <a:r>
              <a:rPr lang="en-US" sz="1200">
                <a:solidFill>
                  <a:schemeClr val="dk1"/>
                </a:solidFill>
              </a:rPr>
              <a:t> – campaign size may vary (100 emails today, 1 million tomorrow)</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 </a:t>
            </a:r>
            <a:r>
              <a:rPr b="1" lang="en-US" sz="1200">
                <a:solidFill>
                  <a:schemeClr val="dk1"/>
                </a:solidFill>
              </a:rPr>
              <a:t>High availability</a:t>
            </a:r>
            <a:r>
              <a:rPr lang="en-US" sz="1200">
                <a:solidFill>
                  <a:schemeClr val="dk1"/>
                </a:solidFill>
              </a:rPr>
              <a:t> – downtime directly affects business reputation</a:t>
            </a:r>
            <a:endParaRPr sz="1200">
              <a:solidFill>
                <a:schemeClr val="dk1"/>
              </a:solidFill>
            </a:endParaRPr>
          </a:p>
          <a:p>
            <a:pPr indent="-317500" lvl="0" marL="457200" rtl="0" algn="l">
              <a:lnSpc>
                <a:spcPct val="100000"/>
              </a:lnSpc>
              <a:spcBef>
                <a:spcPts val="0"/>
              </a:spcBef>
              <a:spcAft>
                <a:spcPts val="0"/>
              </a:spcAft>
              <a:buSzPts val="1400"/>
              <a:buAutoNum type="arabicPeriod"/>
            </a:pPr>
            <a:r>
              <a:rPr lang="en-US" sz="1200"/>
              <a:t>Mobile sales management software-</a:t>
            </a:r>
            <a:r>
              <a:rPr lang="en-US"/>
              <a:t> </a:t>
            </a:r>
            <a:r>
              <a:rPr lang="en-US" sz="1100">
                <a:solidFill>
                  <a:schemeClr val="dk1"/>
                </a:solidFill>
              </a:rPr>
              <a:t>Employees or users access the application using: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Mobile phones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Tablets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Web browsers from </a:t>
            </a:r>
            <a:r>
              <a:rPr b="1" lang="en-US" sz="1100">
                <a:solidFill>
                  <a:schemeClr val="dk1"/>
                </a:solidFill>
              </a:rPr>
              <a:t>any location</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Example: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Salesperson updates leads from client location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Manager checks sales dashboard while travelling</a:t>
            </a:r>
            <a:endParaRPr sz="1100">
              <a:solidFill>
                <a:schemeClr val="dk1"/>
              </a:solidFill>
            </a:endParaRPr>
          </a:p>
          <a:p>
            <a:pPr indent="0" lvl="0" marL="457200" rtl="0" algn="l">
              <a:lnSpc>
                <a:spcPct val="115000"/>
              </a:lnSpc>
              <a:spcBef>
                <a:spcPts val="1200"/>
              </a:spcBef>
              <a:spcAft>
                <a:spcPts val="0"/>
              </a:spcAft>
              <a:buSzPts val="1400"/>
              <a:buNone/>
            </a:pPr>
            <a:r>
              <a:t/>
            </a:r>
            <a:endParaRPr sz="1100">
              <a:solidFill>
                <a:schemeClr val="dk1"/>
              </a:solidFill>
            </a:endParaRPr>
          </a:p>
          <a:p>
            <a:pPr indent="-304800" lvl="0" marL="457200" rtl="0" algn="l">
              <a:lnSpc>
                <a:spcPct val="115000"/>
              </a:lnSpc>
              <a:spcBef>
                <a:spcPts val="1800"/>
              </a:spcBef>
              <a:spcAft>
                <a:spcPts val="0"/>
              </a:spcAft>
              <a:buClr>
                <a:schemeClr val="dk1"/>
              </a:buClr>
              <a:buSzPts val="1200"/>
              <a:buAutoNum type="arabicPeriod"/>
            </a:pPr>
            <a:r>
              <a:rPr lang="en-US" sz="1200">
                <a:solidFill>
                  <a:schemeClr val="dk1"/>
                </a:solidFill>
              </a:rPr>
              <a:t>Software needed only for a short term- Example: Event registration system, election portals, exam result portals</a:t>
            </a:r>
            <a:endParaRPr sz="1200">
              <a:solidFill>
                <a:schemeClr val="dk1"/>
              </a:solidFill>
            </a:endParaRPr>
          </a:p>
          <a:p>
            <a:pPr indent="0" lvl="0" marL="457200" rtl="0" algn="l">
              <a:lnSpc>
                <a:spcPct val="115000"/>
              </a:lnSpc>
              <a:spcBef>
                <a:spcPts val="1200"/>
              </a:spcBef>
              <a:spcAft>
                <a:spcPts val="0"/>
              </a:spcAft>
              <a:buSzPts val="1400"/>
              <a:buNone/>
            </a:pPr>
            <a:r>
              <a:rPr b="1" lang="en-US" sz="1100">
                <a:solidFill>
                  <a:schemeClr val="dk1"/>
                </a:solidFill>
              </a:rPr>
              <a:t>Pay-as-you-go</a:t>
            </a:r>
            <a:r>
              <a:rPr lang="en-US" sz="1100">
                <a:solidFill>
                  <a:schemeClr val="dk1"/>
                </a:solidFill>
              </a:rPr>
              <a:t> – no long-term hardware investment</a:t>
            </a:r>
            <a:endParaRPr sz="1100">
              <a:solidFill>
                <a:schemeClr val="dk1"/>
              </a:solidFill>
            </a:endParaRPr>
          </a:p>
          <a:p>
            <a:pPr indent="0" lvl="0" marL="457200" rtl="0" algn="l">
              <a:lnSpc>
                <a:spcPct val="115000"/>
              </a:lnSpc>
              <a:spcBef>
                <a:spcPts val="1200"/>
              </a:spcBef>
              <a:spcAft>
                <a:spcPts val="1200"/>
              </a:spcAft>
              <a:buSzPts val="1400"/>
              <a:buNone/>
            </a:pPr>
            <a:r>
              <a:rPr b="1" lang="en-US" sz="1100">
                <a:solidFill>
                  <a:schemeClr val="dk1"/>
                </a:solidFill>
              </a:rPr>
              <a:t>Quick deployment</a:t>
            </a:r>
            <a:r>
              <a:rPr lang="en-US" sz="1100">
                <a:solidFill>
                  <a:schemeClr val="dk1"/>
                </a:solidFill>
              </a:rPr>
              <a:t> – can be set up in hours</a:t>
            </a:r>
            <a:br>
              <a:rPr lang="en-US" sz="1100">
                <a:solidFill>
                  <a:schemeClr val="dk1"/>
                </a:solidFill>
              </a:rPr>
            </a:br>
            <a:r>
              <a:rPr b="1" lang="en-US" sz="1100">
                <a:solidFill>
                  <a:schemeClr val="dk1"/>
                </a:solidFill>
              </a:rPr>
              <a:t>Easy teardown</a:t>
            </a:r>
            <a:r>
              <a:rPr lang="en-US" sz="1100">
                <a:solidFill>
                  <a:schemeClr val="dk1"/>
                </a:solidFill>
              </a:rPr>
              <a:t> – resources released after use</a:t>
            </a:r>
            <a:br>
              <a:rPr lang="en-US" sz="1100">
                <a:solidFill>
                  <a:schemeClr val="dk1"/>
                </a:solidFill>
              </a:rPr>
            </a:br>
            <a:r>
              <a:rPr b="1" lang="en-US" sz="1100">
                <a:solidFill>
                  <a:schemeClr val="dk1"/>
                </a:solidFill>
              </a:rPr>
              <a:t>No maintenance overhead</a:t>
            </a:r>
            <a:r>
              <a:rPr lang="en-US" sz="1100">
                <a:solidFill>
                  <a:schemeClr val="dk1"/>
                </a:solidFill>
              </a:rPr>
              <a:t> after project ends</a:t>
            </a:r>
            <a:br>
              <a:rPr lang="en-US" sz="1100">
                <a:solidFill>
                  <a:schemeClr val="dk1"/>
                </a:solidFill>
              </a:rPr>
            </a:br>
            <a:endParaRPr sz="1200">
              <a:solidFill>
                <a:schemeClr val="dk1"/>
              </a:solidFill>
            </a:endParaRPr>
          </a:p>
        </p:txBody>
      </p:sp>
      <p:sp>
        <p:nvSpPr>
          <p:cNvPr id="481" name="Google Shape;481;g3b3e7766c9d_0_32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b3e7766c9d_0_808: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g3b3e7766c9d_0_80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90" name="Google Shape;490;g3b3e7766c9d_0_80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b3e7766c9d_0_128: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g3b3e7766c9d_0_12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u="sng">
                <a:solidFill>
                  <a:schemeClr val="hlink"/>
                </a:solidFill>
                <a:hlinkClick r:id="rId2"/>
              </a:rPr>
              <a:t>https://cloud.google.com/discover/types-of-cloud-computing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a:t>
            </a:r>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uying ingredients &amp; cooking at home → IaaS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you do</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Buy raw ingredients</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Cook yourself</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Decide recipe, timing, tools</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Clean everything</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Cloud analogy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You get </a:t>
            </a:r>
            <a:r>
              <a:rPr b="1" lang="en-US" sz="1100">
                <a:solidFill>
                  <a:schemeClr val="dk1"/>
                </a:solidFill>
              </a:rPr>
              <a:t>virtual machines</a:t>
            </a:r>
            <a:br>
              <a:rPr b="1" lang="en-US" sz="1100">
                <a:solidFill>
                  <a:schemeClr val="dk1"/>
                </a:solidFill>
              </a:rPr>
            </a:b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You install OS, runtime, software</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You manage everything above hardware</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 </a:t>
            </a:r>
            <a:r>
              <a:rPr b="1" lang="en-US" sz="1100">
                <a:solidFill>
                  <a:schemeClr val="dk1"/>
                </a:solidFill>
              </a:rPr>
              <a:t>Maximum control → IaaS</a:t>
            </a:r>
            <a:endParaRPr b="1" sz="1100">
              <a:solidFill>
                <a:schemeClr val="dk1"/>
              </a:solidFill>
            </a:endParaRPr>
          </a:p>
          <a:p>
            <a:pPr indent="0" lvl="0" marL="0" rtl="0" algn="l">
              <a:lnSpc>
                <a:spcPct val="100000"/>
              </a:lnSpc>
              <a:spcBef>
                <a:spcPts val="1200"/>
              </a:spcBef>
              <a:spcAft>
                <a:spcPts val="0"/>
              </a:spcAft>
              <a:buSzPts val="1400"/>
              <a:buNone/>
            </a:pPr>
            <a:r>
              <a:t/>
            </a:r>
            <a:endParaRPr/>
          </a:p>
        </p:txBody>
      </p:sp>
      <p:sp>
        <p:nvSpPr>
          <p:cNvPr id="502" name="Google Shape;502;g3b3e7766c9d_0_12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3e7766c9d_0_417: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sz="1200"/>
              <a:t>App Engine makes it easier to develop scalable and high-performance Web apps</a:t>
            </a:r>
            <a:endParaRPr sz="1200"/>
          </a:p>
        </p:txBody>
      </p:sp>
      <p:sp>
        <p:nvSpPr>
          <p:cNvPr id="516" name="Google Shape;516;g3b3e7766c9d_0_41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b3e7766c9d_0_43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g3b3e7766c9d_0_4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0" name="Google Shape;530;g3b3e7766c9d_0_43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b3e7766c9d_0_817: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g3b3e7766c9d_0_81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43" name="Google Shape;543;g3b3e7766c9d_0_81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b3e7766c9d_0_579: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g3b3e7766c9d_0_579: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u="sng">
                <a:solidFill>
                  <a:schemeClr val="hlink"/>
                </a:solidFill>
                <a:hlinkClick r:id="rId2"/>
              </a:rPr>
              <a:t>https://cloud.google.com/discover/types-of-cloud-computing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2</a:t>
            </a:r>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Ordering takeaway / delivery → PaaS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you don’t do</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Don’t cook</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Don’t worry about ingredients</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you still manage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Where to eat</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Utensils</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Cleaning after eating</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Cloud analogy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Platform (OS, runtime) is managed</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You focus on </a:t>
            </a:r>
            <a:r>
              <a:rPr b="1" lang="en-US" sz="1100">
                <a:solidFill>
                  <a:schemeClr val="dk1"/>
                </a:solidFill>
              </a:rPr>
              <a:t>your application</a:t>
            </a:r>
            <a:br>
              <a:rPr b="1" lang="en-US" sz="1100">
                <a:solidFill>
                  <a:schemeClr val="dk1"/>
                </a:solidFill>
              </a:rPr>
            </a:b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Limited control, but flexibility remains</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 </a:t>
            </a:r>
            <a:r>
              <a:rPr b="1" lang="en-US" sz="1100">
                <a:solidFill>
                  <a:schemeClr val="dk1"/>
                </a:solidFill>
              </a:rPr>
              <a:t>Balanced abstraction → PaaS</a:t>
            </a:r>
            <a:endParaRPr b="1" sz="1100">
              <a:solidFill>
                <a:schemeClr val="dk1"/>
              </a:solidFill>
            </a:endParaRPr>
          </a:p>
          <a:p>
            <a:pPr indent="0" lvl="0" marL="0" rtl="0" algn="l">
              <a:lnSpc>
                <a:spcPct val="100000"/>
              </a:lnSpc>
              <a:spcBef>
                <a:spcPts val="1200"/>
              </a:spcBef>
              <a:spcAft>
                <a:spcPts val="0"/>
              </a:spcAft>
              <a:buSzPts val="1400"/>
              <a:buNone/>
            </a:pPr>
            <a:r>
              <a:t/>
            </a:r>
            <a:endParaRPr/>
          </a:p>
        </p:txBody>
      </p:sp>
      <p:sp>
        <p:nvSpPr>
          <p:cNvPr id="553" name="Google Shape;553;g3b3e7766c9d_0_579: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b3e7766c9d_0_452: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298450" lvl="0" marL="457200" rtl="0" algn="l">
              <a:lnSpc>
                <a:spcPct val="100000"/>
              </a:lnSpc>
              <a:spcBef>
                <a:spcPts val="0"/>
              </a:spcBef>
              <a:spcAft>
                <a:spcPts val="0"/>
              </a:spcAft>
              <a:buClr>
                <a:schemeClr val="dk1"/>
              </a:buClr>
              <a:buSzPts val="1100"/>
              <a:buAutoNum type="arabicPeriod"/>
            </a:pPr>
            <a:r>
              <a:rPr lang="en-US" sz="1100">
                <a:solidFill>
                  <a:schemeClr val="dk1"/>
                </a:solidFill>
              </a:rPr>
              <a:t>If the PaaS platform dictates </a:t>
            </a:r>
            <a:r>
              <a:rPr i="1" lang="en-US" sz="1100">
                <a:solidFill>
                  <a:schemeClr val="dk1"/>
                </a:solidFill>
              </a:rPr>
              <a:t>how</a:t>
            </a:r>
            <a:r>
              <a:rPr lang="en-US" sz="1100">
                <a:solidFill>
                  <a:schemeClr val="dk1"/>
                </a:solidFill>
              </a:rPr>
              <a:t> you must code, it may negatively affect the development process.- LEAD TO VENDOR LOCKIN</a:t>
            </a: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lang="en-US" sz="1100">
                <a:solidFill>
                  <a:schemeClr val="dk1"/>
                </a:solidFill>
              </a:rPr>
              <a:t>High-frequency trading systems, Scientific simulations, Gaming engines with tight latency requirements- When performance depends on hardware or OS customization, PaaS is too restrictive.</a:t>
            </a:r>
            <a:endParaRPr sz="1100">
              <a:solidFill>
                <a:schemeClr val="dk1"/>
              </a:solidFill>
            </a:endParaRPr>
          </a:p>
          <a:p>
            <a:pPr indent="0" lvl="0" marL="0" rtl="0" algn="l">
              <a:lnSpc>
                <a:spcPct val="100000"/>
              </a:lnSpc>
              <a:spcBef>
                <a:spcPts val="0"/>
              </a:spcBef>
              <a:spcAft>
                <a:spcPts val="0"/>
              </a:spcAft>
              <a:buSzPts val="1400"/>
              <a:buNone/>
            </a:pPr>
            <a:r>
              <a:t/>
            </a:r>
            <a:endParaRPr sz="1100">
              <a:solidFill>
                <a:schemeClr val="dk1"/>
              </a:solidFill>
            </a:endParaRPr>
          </a:p>
        </p:txBody>
      </p:sp>
      <p:sp>
        <p:nvSpPr>
          <p:cNvPr id="567" name="Google Shape;567;g3b3e7766c9d_0_45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b3e7766c9d_0_463: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81" name="Google Shape;581;g3b3e7766c9d_0_46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b3e7766c9d_0_471: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94" name="Google Shape;594;g3b3e7766c9d_0_47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b3e7766c9d_0_490: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06" name="Google Shape;606;g3b3e7766c9d_0_49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b3e7766c9d_0_593: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0" name="Google Shape;620;g3b3e7766c9d_0_593: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u="sng">
                <a:solidFill>
                  <a:schemeClr val="hlink"/>
                </a:solidFill>
                <a:hlinkClick r:id="rId2"/>
              </a:rPr>
              <a:t>https://cloud.google.com/discover/types-of-cloud-computing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1</a:t>
            </a:r>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Going to restaurant &amp; eating → SaaS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you do</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Just show up</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Eat</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you don’t worry about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Ingredients</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Cooking</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Cleaning</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Infrastructure</a:t>
            </a:r>
            <a:br>
              <a:rPr lang="en-US"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Cloud analogy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Software fully managed</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You only </a:t>
            </a:r>
            <a:r>
              <a:rPr b="1" lang="en-US" sz="1100">
                <a:solidFill>
                  <a:schemeClr val="dk1"/>
                </a:solidFill>
              </a:rPr>
              <a:t>use the service</a:t>
            </a:r>
            <a:endParaRPr b="1" sz="1100">
              <a:solidFill>
                <a:schemeClr val="dk1"/>
              </a:solidFill>
            </a:endParaRPr>
          </a:p>
          <a:p>
            <a:pPr indent="0" lvl="0" marL="0" rtl="0" algn="l">
              <a:lnSpc>
                <a:spcPct val="100000"/>
              </a:lnSpc>
              <a:spcBef>
                <a:spcPts val="120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621" name="Google Shape;621;g3b3e7766c9d_0_593: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b3e7766c9d_0_832: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 name="Google Shape;635;g3b3e7766c9d_0_832: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36" name="Google Shape;636;g3b3e7766c9d_0_832: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b3e7766c9d_0_20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9" name="Google Shape;649;g3b3e7766c9d_0_20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50" name="Google Shape;650;g3b3e7766c9d_0_20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b3e7766c9d_0_607: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3" name="Google Shape;663;g3b3e7766c9d_0_60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64" name="Google Shape;664;g3b3e7766c9d_0_60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b293c47ade_0_16: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5" name="Google Shape;675;g3b293c47ade_0_16: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76" name="Google Shape;676;g3b293c47ade_0_16: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b3e7766c9d_0_672: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87" name="Google Shape;687;g3b3e7766c9d_0_67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b3e7766c9d_0_680: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700" name="Google Shape;700;g3b3e7766c9d_0_68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b3e7766c9d_0_614: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317500" lvl="0" marL="457200" rtl="0" algn="l">
              <a:lnSpc>
                <a:spcPct val="100000"/>
              </a:lnSpc>
              <a:spcBef>
                <a:spcPts val="0"/>
              </a:spcBef>
              <a:spcAft>
                <a:spcPts val="0"/>
              </a:spcAft>
              <a:buSzPts val="1400"/>
              <a:buAutoNum type="arabicPeriod"/>
            </a:pPr>
            <a:r>
              <a:rPr lang="en-US"/>
              <a:t>Paas</a:t>
            </a:r>
            <a:endParaRPr/>
          </a:p>
          <a:p>
            <a:pPr indent="-317500" lvl="0" marL="457200" rtl="0" algn="l">
              <a:lnSpc>
                <a:spcPct val="100000"/>
              </a:lnSpc>
              <a:spcBef>
                <a:spcPts val="0"/>
              </a:spcBef>
              <a:spcAft>
                <a:spcPts val="0"/>
              </a:spcAft>
              <a:buSzPts val="1400"/>
              <a:buAutoNum type="arabicPeriod"/>
            </a:pPr>
            <a:r>
              <a:rPr lang="en-US"/>
              <a:t>Iaas</a:t>
            </a:r>
            <a:endParaRPr/>
          </a:p>
        </p:txBody>
      </p:sp>
      <p:sp>
        <p:nvSpPr>
          <p:cNvPr id="713" name="Google Shape;713;g3b3e7766c9d_0_61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b293c47ade_0_45: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457200" rtl="0" algn="l">
              <a:lnSpc>
                <a:spcPct val="100000"/>
              </a:lnSpc>
              <a:spcBef>
                <a:spcPts val="0"/>
              </a:spcBef>
              <a:spcAft>
                <a:spcPts val="0"/>
              </a:spcAft>
              <a:buSzPts val="1400"/>
              <a:buNone/>
            </a:pPr>
            <a:r>
              <a:rPr lang="en-US"/>
              <a:t>3. c</a:t>
            </a:r>
            <a:endParaRPr/>
          </a:p>
          <a:p>
            <a:pPr indent="0" lvl="0" marL="45720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4. c</a:t>
            </a:r>
            <a:endParaRPr/>
          </a:p>
        </p:txBody>
      </p:sp>
      <p:sp>
        <p:nvSpPr>
          <p:cNvPr id="728" name="Google Shape;728;g3b293c47ade_0_45: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b293c47ade_0_59: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457200" rtl="0" algn="l">
              <a:lnSpc>
                <a:spcPct val="100000"/>
              </a:lnSpc>
              <a:spcBef>
                <a:spcPts val="0"/>
              </a:spcBef>
              <a:spcAft>
                <a:spcPts val="0"/>
              </a:spcAft>
              <a:buSzPts val="1400"/>
              <a:buNone/>
            </a:pPr>
            <a:r>
              <a:rPr lang="en-US"/>
              <a:t>5. c</a:t>
            </a:r>
            <a:endParaRPr/>
          </a:p>
        </p:txBody>
      </p:sp>
      <p:sp>
        <p:nvSpPr>
          <p:cNvPr id="743" name="Google Shape;743;g3b293c47ade_0_59: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b293c47ade_0_73: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SzPts val="1400"/>
              <a:buNone/>
            </a:pPr>
            <a:r>
              <a:rPr b="1" lang="en-US" sz="1100"/>
              <a:t>Scenario</a:t>
            </a:r>
            <a:endParaRPr b="1" sz="1100"/>
          </a:p>
          <a:p>
            <a:pPr indent="0" lvl="0" marL="0" rtl="0" algn="ctr">
              <a:lnSpc>
                <a:spcPct val="115000"/>
              </a:lnSpc>
              <a:spcBef>
                <a:spcPts val="0"/>
              </a:spcBef>
              <a:spcAft>
                <a:spcPts val="0"/>
              </a:spcAft>
              <a:buSzPts val="1400"/>
              <a:buNone/>
            </a:pPr>
            <a:r>
              <a:rPr b="1" lang="en-US" sz="1100"/>
              <a:t>Model</a:t>
            </a:r>
            <a:endParaRPr b="1" sz="1100"/>
          </a:p>
          <a:p>
            <a:pPr indent="0" lvl="0" marL="0" rtl="0" algn="l">
              <a:lnSpc>
                <a:spcPct val="100000"/>
              </a:lnSpc>
              <a:spcBef>
                <a:spcPts val="0"/>
              </a:spcBef>
              <a:spcAft>
                <a:spcPts val="0"/>
              </a:spcAft>
              <a:buSzPts val="1400"/>
              <a:buNone/>
            </a:pPr>
            <a:r>
              <a:rPr lang="en-US" sz="1400"/>
              <a:t>Gmail</a:t>
            </a:r>
            <a:endParaRPr sz="1400"/>
          </a:p>
          <a:p>
            <a:pPr indent="0" lvl="0" marL="0" rtl="0" algn="l">
              <a:lnSpc>
                <a:spcPct val="100000"/>
              </a:lnSpc>
              <a:spcBef>
                <a:spcPts val="0"/>
              </a:spcBef>
              <a:spcAft>
                <a:spcPts val="0"/>
              </a:spcAft>
              <a:buSzPts val="1400"/>
              <a:buNone/>
            </a:pPr>
            <a:r>
              <a:rPr lang="en-US" sz="1400"/>
              <a:t>SaaS</a:t>
            </a:r>
            <a:endParaRPr sz="1400"/>
          </a:p>
          <a:p>
            <a:pPr indent="0" lvl="0" marL="0" rtl="0" algn="l">
              <a:lnSpc>
                <a:spcPct val="100000"/>
              </a:lnSpc>
              <a:spcBef>
                <a:spcPts val="0"/>
              </a:spcBef>
              <a:spcAft>
                <a:spcPts val="0"/>
              </a:spcAft>
              <a:buSzPts val="1400"/>
              <a:buNone/>
            </a:pPr>
            <a:r>
              <a:rPr lang="en-US" sz="1400"/>
              <a:t>Google Colab</a:t>
            </a:r>
            <a:endParaRPr sz="1400"/>
          </a:p>
          <a:p>
            <a:pPr indent="0" lvl="0" marL="0" rtl="0" algn="l">
              <a:lnSpc>
                <a:spcPct val="100000"/>
              </a:lnSpc>
              <a:spcBef>
                <a:spcPts val="0"/>
              </a:spcBef>
              <a:spcAft>
                <a:spcPts val="0"/>
              </a:spcAft>
              <a:buSzPts val="1400"/>
              <a:buNone/>
            </a:pPr>
            <a:r>
              <a:rPr lang="en-US" sz="1400"/>
              <a:t>PaaS</a:t>
            </a:r>
            <a:endParaRPr sz="1400"/>
          </a:p>
          <a:p>
            <a:pPr indent="0" lvl="0" marL="0" rtl="0" algn="l">
              <a:lnSpc>
                <a:spcPct val="100000"/>
              </a:lnSpc>
              <a:spcBef>
                <a:spcPts val="0"/>
              </a:spcBef>
              <a:spcAft>
                <a:spcPts val="0"/>
              </a:spcAft>
              <a:buSzPts val="1400"/>
              <a:buNone/>
            </a:pPr>
            <a:r>
              <a:rPr lang="en-US" sz="1400"/>
              <a:t>Online Java compiler</a:t>
            </a:r>
            <a:endParaRPr sz="1400"/>
          </a:p>
          <a:p>
            <a:pPr indent="0" lvl="0" marL="0" rtl="0" algn="l">
              <a:lnSpc>
                <a:spcPct val="100000"/>
              </a:lnSpc>
              <a:spcBef>
                <a:spcPts val="0"/>
              </a:spcBef>
              <a:spcAft>
                <a:spcPts val="0"/>
              </a:spcAft>
              <a:buSzPts val="1400"/>
              <a:buNone/>
            </a:pPr>
            <a:r>
              <a:rPr lang="en-US" sz="1400"/>
              <a:t>PaaS</a:t>
            </a:r>
            <a:endParaRPr sz="1400"/>
          </a:p>
          <a:p>
            <a:pPr indent="0" lvl="0" marL="0" rtl="0" algn="l">
              <a:lnSpc>
                <a:spcPct val="100000"/>
              </a:lnSpc>
              <a:spcBef>
                <a:spcPts val="0"/>
              </a:spcBef>
              <a:spcAft>
                <a:spcPts val="0"/>
              </a:spcAft>
              <a:buSzPts val="1400"/>
              <a:buNone/>
            </a:pPr>
            <a:r>
              <a:rPr lang="en-US" sz="1400"/>
              <a:t>AWS EC2</a:t>
            </a:r>
            <a:endParaRPr sz="1400"/>
          </a:p>
          <a:p>
            <a:pPr indent="0" lvl="0" marL="0" rtl="0" algn="l">
              <a:lnSpc>
                <a:spcPct val="100000"/>
              </a:lnSpc>
              <a:spcBef>
                <a:spcPts val="0"/>
              </a:spcBef>
              <a:spcAft>
                <a:spcPts val="0"/>
              </a:spcAft>
              <a:buSzPts val="1400"/>
              <a:buNone/>
            </a:pPr>
            <a:r>
              <a:rPr lang="en-US" sz="1400"/>
              <a:t>IaaS</a:t>
            </a:r>
            <a:endParaRPr sz="1400"/>
          </a:p>
          <a:p>
            <a:pPr indent="0" lvl="0" marL="0" rtl="0" algn="l">
              <a:lnSpc>
                <a:spcPct val="100000"/>
              </a:lnSpc>
              <a:spcBef>
                <a:spcPts val="0"/>
              </a:spcBef>
              <a:spcAft>
                <a:spcPts val="0"/>
              </a:spcAft>
              <a:buSzPts val="1400"/>
              <a:buNone/>
            </a:pPr>
            <a:r>
              <a:rPr lang="en-US" sz="1400"/>
              <a:t>Running OS on VM</a:t>
            </a:r>
            <a:endParaRPr sz="1400"/>
          </a:p>
          <a:p>
            <a:pPr indent="0" lvl="0" marL="0" rtl="0" algn="l">
              <a:lnSpc>
                <a:spcPct val="100000"/>
              </a:lnSpc>
              <a:spcBef>
                <a:spcPts val="0"/>
              </a:spcBef>
              <a:spcAft>
                <a:spcPts val="0"/>
              </a:spcAft>
              <a:buSzPts val="1400"/>
              <a:buNone/>
            </a:pPr>
            <a:r>
              <a:rPr lang="en-US" sz="1400"/>
              <a:t>IaaS</a:t>
            </a:r>
            <a:endParaRPr sz="1400"/>
          </a:p>
          <a:p>
            <a:pPr indent="0" lvl="0" marL="457200" rtl="0" algn="l">
              <a:lnSpc>
                <a:spcPct val="100000"/>
              </a:lnSpc>
              <a:spcBef>
                <a:spcPts val="0"/>
              </a:spcBef>
              <a:spcAft>
                <a:spcPts val="0"/>
              </a:spcAft>
              <a:buSzPts val="1400"/>
              <a:buNone/>
            </a:pPr>
            <a:r>
              <a:t/>
            </a:r>
            <a:endParaRPr/>
          </a:p>
        </p:txBody>
      </p:sp>
      <p:sp>
        <p:nvSpPr>
          <p:cNvPr id="757" name="Google Shape;757;g3b293c47ade_0_73: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b293c47ade_0_31: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771" name="Google Shape;771;g3b293c47ade_0_3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b3e7766c9d_0_659: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785" name="Google Shape;785;g3b3e7766c9d_0_65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b3e7766c9d_0_781: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00" name="Google Shape;800;g3b3e7766c9d_0_78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b3e7766c9d_0_794: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14" name="Google Shape;814;g3b3e7766c9d_0_79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b3e7766c9d_0_939: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28" name="Google Shape;828;g3b3e7766c9d_0_93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b3e7766c9d_0_952: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42" name="Google Shape;842;g3b3e7766c9d_0_95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b3e7766c9d_0_844: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56" name="Google Shape;856;g3b3e7766c9d_0_84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b3e7766c9d_0_859: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71" name="Google Shape;871;g3b3e7766c9d_0_85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b3e7766c9d_0_910: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85" name="Google Shape;885;g3b3e7766c9d_0_91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b3e7766c9d_0_926: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99" name="Google Shape;899;g3b3e7766c9d_0_92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b3e7766c9d_0_884: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13" name="Google Shape;913;g3b3e7766c9d_0_88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b3e7766c9d_0_965: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7" name="Google Shape;927;g3b3e7766c9d_0_96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28" name="Google Shape;928;g3b3e7766c9d_0_96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b3e7766c9d_0_897: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38" name="Google Shape;938;g3b3e7766c9d_0_89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b3e7766c9d_0_977: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52" name="Google Shape;952;g3b3e7766c9d_0_97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b3e7766c9d_0_992: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66" name="Google Shape;966;g3b3e7766c9d_0_99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b3e7766c9d_0_1008: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81" name="Google Shape;981;g3b3e7766c9d_0_100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b3e7766c9d_0_1022: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95" name="Google Shape;995;g3b3e7766c9d_0_102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b3e7766c9d_0_1035: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09" name="Google Shape;1009;g3b3e7766c9d_0_103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b3e7766c9d_0_1048: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23" name="Google Shape;1023;g3b3e7766c9d_0_104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3b3e7766c9d_0_1061: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37" name="Google Shape;1037;g3b3e7766c9d_0_106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b3e7766c9d_0_1087: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1" name="Google Shape;1051;g3b3e7766c9d_0_108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52" name="Google Shape;1052;g3b3e7766c9d_0_108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b3e7766c9d_0_1074: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62" name="Google Shape;1062;g3b3e7766c9d_0_107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22: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ScenarioModel1Public Cloud2Private Cloud3Hybrid Cloud4Community Cloud5Hybrid Cloud</a:t>
            </a:r>
            <a:endParaRPr/>
          </a:p>
        </p:txBody>
      </p:sp>
      <p:sp>
        <p:nvSpPr>
          <p:cNvPr id="1076" name="Google Shape;1076;p2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b2b8d098be_0_26: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ScenarioModel1Public Cloud2Private Cloud3Hybrid Cloud4Community Cloud5Hybrid Cloud</a:t>
            </a:r>
            <a:endParaRPr/>
          </a:p>
        </p:txBody>
      </p:sp>
      <p:sp>
        <p:nvSpPr>
          <p:cNvPr id="1090" name="Google Shape;1090;g3b2b8d098be_0_26: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3b2b8d098be_0_13: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ScenarioModel1Public Cloud2Private Cloud3Hybrid Cloud4Community Cloud5Hybrid Cloud</a:t>
            </a:r>
            <a:endParaRPr/>
          </a:p>
        </p:txBody>
      </p:sp>
      <p:sp>
        <p:nvSpPr>
          <p:cNvPr id="1104" name="Google Shape;1104;g3b2b8d098be_0_13: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3b2b8d098be_0_0: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ScenarioModel1Public Cloud2Private Cloud3Hybrid Cloud4Community Cloud5Hybrid Cloud</a:t>
            </a:r>
            <a:endParaRPr/>
          </a:p>
        </p:txBody>
      </p:sp>
      <p:sp>
        <p:nvSpPr>
          <p:cNvPr id="1118" name="Google Shape;1118;g3b2b8d098be_0_0: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3b2b8d098be_0_43: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ScenarioModel1Public Cloud2Private Cloud3Hybrid Cloud4Community Cloud5Hybrid Cloud</a:t>
            </a:r>
            <a:endParaRPr/>
          </a:p>
        </p:txBody>
      </p:sp>
      <p:sp>
        <p:nvSpPr>
          <p:cNvPr id="1132" name="Google Shape;1132;g3b2b8d098be_0_43: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p23: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146" name="Google Shape;1146;p2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24:notes"/>
          <p:cNvSpPr txBox="1"/>
          <p:nvPr>
            <p:ph idx="1" type="body"/>
          </p:nvPr>
        </p:nvSpPr>
        <p:spPr>
          <a:xfrm>
            <a:off x="914400" y="3257550"/>
            <a:ext cx="7315200" cy="3086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160" name="Google Shape;1160;p2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bg>
      <p:bgPr>
        <a:solidFill>
          <a:schemeClr val="lt1"/>
        </a:solidFill>
      </p:bgPr>
    </p:bg>
    <p:spTree>
      <p:nvGrpSpPr>
        <p:cNvPr id="10" name="Shape 10"/>
        <p:cNvGrpSpPr/>
        <p:nvPr/>
      </p:nvGrpSpPr>
      <p:grpSpPr>
        <a:xfrm>
          <a:off x="0" y="0"/>
          <a:ext cx="0" cy="0"/>
          <a:chOff x="0" y="0"/>
          <a:chExt cx="0" cy="0"/>
        </a:xfrm>
      </p:grpSpPr>
      <p:sp>
        <p:nvSpPr>
          <p:cNvPr id="11" name="Google Shape;11;p4"/>
          <p:cNvSpPr txBox="1"/>
          <p:nvPr>
            <p:ph type="title"/>
          </p:nvPr>
        </p:nvSpPr>
        <p:spPr>
          <a:xfrm>
            <a:off x="457200" y="274680"/>
            <a:ext cx="8228880" cy="114228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4"/>
          <p:cNvSpPr txBox="1"/>
          <p:nvPr>
            <p:ph idx="1" type="body"/>
          </p:nvPr>
        </p:nvSpPr>
        <p:spPr>
          <a:xfrm>
            <a:off x="457200" y="1600200"/>
            <a:ext cx="8228880" cy="4525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4"/>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4"/>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 name="Google Shape;15;p4"/>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blank">
  <p:cSld name="BLANK">
    <p:bg>
      <p:bgPr>
        <a:solidFill>
          <a:schemeClr val="lt1"/>
        </a:solidFill>
      </p:bgPr>
    </p:bg>
    <p:spTree>
      <p:nvGrpSpPr>
        <p:cNvPr id="16" name="Shape 16"/>
        <p:cNvGrpSpPr/>
        <p:nvPr/>
      </p:nvGrpSpPr>
      <p:grpSpPr>
        <a:xfrm>
          <a:off x="0" y="0"/>
          <a:ext cx="0" cy="0"/>
          <a:chOff x="0" y="0"/>
          <a:chExt cx="0" cy="0"/>
        </a:xfrm>
      </p:grpSpPr>
      <p:sp>
        <p:nvSpPr>
          <p:cNvPr id="17" name="Google Shape;17;p5"/>
          <p:cNvSpPr txBox="1"/>
          <p:nvPr>
            <p:ph type="title"/>
          </p:nvPr>
        </p:nvSpPr>
        <p:spPr>
          <a:xfrm>
            <a:off x="457200" y="272880"/>
            <a:ext cx="3007440" cy="116136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 name="Google Shape;18;p5"/>
          <p:cNvSpPr txBox="1"/>
          <p:nvPr>
            <p:ph idx="1" type="body"/>
          </p:nvPr>
        </p:nvSpPr>
        <p:spPr>
          <a:xfrm>
            <a:off x="3575160" y="272880"/>
            <a:ext cx="5110920" cy="585252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p5"/>
          <p:cNvSpPr txBox="1"/>
          <p:nvPr>
            <p:ph idx="2" type="body"/>
          </p:nvPr>
        </p:nvSpPr>
        <p:spPr>
          <a:xfrm>
            <a:off x="457200" y="1434960"/>
            <a:ext cx="3007440" cy="469044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 name="Google Shape;20;p5"/>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 name="Google Shape;21;p5"/>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 name="Google Shape;22;p5"/>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bg>
      <p:bgPr>
        <a:solidFill>
          <a:schemeClr val="lt1"/>
        </a:solid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1792440" y="4800600"/>
            <a:ext cx="5485680" cy="56592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 name="Google Shape;25;p6"/>
          <p:cNvSpPr txBox="1"/>
          <p:nvPr>
            <p:ph idx="1" type="body"/>
          </p:nvPr>
        </p:nvSpPr>
        <p:spPr>
          <a:xfrm>
            <a:off x="1792440" y="612720"/>
            <a:ext cx="5485680" cy="4114080"/>
          </a:xfrm>
          <a:prstGeom prst="rect">
            <a:avLst/>
          </a:prstGeom>
          <a:noFill/>
          <a:ln>
            <a:noFill/>
          </a:ln>
        </p:spPr>
        <p:txBody>
          <a:bodyPr anchorCtr="0" anchor="t" bIns="45000" lIns="90000" spcFirstLastPara="1" rIns="90000" wrap="square" tIns="450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6"/>
          <p:cNvSpPr txBox="1"/>
          <p:nvPr>
            <p:ph idx="2" type="body"/>
          </p:nvPr>
        </p:nvSpPr>
        <p:spPr>
          <a:xfrm>
            <a:off x="1792440" y="5367240"/>
            <a:ext cx="5485680" cy="80424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 name="Google Shape;27;p6"/>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 name="Google Shape;28;p6"/>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bg>
      <p:bgPr>
        <a:solidFill>
          <a:schemeClr val="lt1"/>
        </a:solidFill>
      </p:bgPr>
    </p:bg>
    <p:spTree>
      <p:nvGrpSpPr>
        <p:cNvPr id="30" name="Shape 30"/>
        <p:cNvGrpSpPr/>
        <p:nvPr/>
      </p:nvGrpSpPr>
      <p:grpSpPr>
        <a:xfrm>
          <a:off x="0" y="0"/>
          <a:ext cx="0" cy="0"/>
          <a:chOff x="0" y="0"/>
          <a:chExt cx="0" cy="0"/>
        </a:xfrm>
      </p:grpSpPr>
      <p:sp>
        <p:nvSpPr>
          <p:cNvPr id="31" name="Google Shape;31;p7"/>
          <p:cNvSpPr txBox="1"/>
          <p:nvPr>
            <p:ph type="title"/>
          </p:nvPr>
        </p:nvSpPr>
        <p:spPr>
          <a:xfrm>
            <a:off x="457200" y="274680"/>
            <a:ext cx="8228880" cy="114228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2" name="Google Shape;32;p7"/>
          <p:cNvSpPr txBox="1"/>
          <p:nvPr>
            <p:ph idx="1" type="body"/>
          </p:nvPr>
        </p:nvSpPr>
        <p:spPr>
          <a:xfrm rot="5400000">
            <a:off x="2309760" y="-251640"/>
            <a:ext cx="4525200" cy="822888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7"/>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4" name="Google Shape;34;p7"/>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bg>
      <p:bgPr>
        <a:solidFill>
          <a:schemeClr val="lt1"/>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rot="5400000">
            <a:off x="4732920" y="2171520"/>
            <a:ext cx="5850720" cy="205668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8" name="Google Shape;38;p8"/>
          <p:cNvSpPr txBox="1"/>
          <p:nvPr>
            <p:ph idx="1" type="body"/>
          </p:nvPr>
        </p:nvSpPr>
        <p:spPr>
          <a:xfrm rot="5400000">
            <a:off x="542160" y="189720"/>
            <a:ext cx="5850720" cy="6019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8"/>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0" name="Google Shape;40;p8"/>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42" name="Shape 42"/>
        <p:cNvGrpSpPr/>
        <p:nvPr/>
      </p:nvGrpSpPr>
      <p:grpSpPr>
        <a:xfrm>
          <a:off x="0" y="0"/>
          <a:ext cx="0" cy="0"/>
          <a:chOff x="0" y="0"/>
          <a:chExt cx="0" cy="0"/>
        </a:xfrm>
      </p:grpSpPr>
      <p:sp>
        <p:nvSpPr>
          <p:cNvPr id="43" name="Google Shape;43;p9"/>
          <p:cNvSpPr txBox="1"/>
          <p:nvPr>
            <p:ph type="title"/>
          </p:nvPr>
        </p:nvSpPr>
        <p:spPr>
          <a:xfrm>
            <a:off x="685800" y="2130480"/>
            <a:ext cx="7771680" cy="146916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4" name="Google Shape;44;p9"/>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9"/>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6" name="Google Shape;46;p9"/>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bg>
      <p:bgPr>
        <a:solidFill>
          <a:schemeClr val="lt1"/>
        </a:solidFill>
      </p:bgPr>
    </p:bg>
    <p:spTree>
      <p:nvGrpSpPr>
        <p:cNvPr id="47" name="Shape 47"/>
        <p:cNvGrpSpPr/>
        <p:nvPr/>
      </p:nvGrpSpPr>
      <p:grpSpPr>
        <a:xfrm>
          <a:off x="0" y="0"/>
          <a:ext cx="0" cy="0"/>
          <a:chOff x="0" y="0"/>
          <a:chExt cx="0" cy="0"/>
        </a:xfrm>
      </p:grpSpPr>
      <p:sp>
        <p:nvSpPr>
          <p:cNvPr id="48" name="Google Shape;48;p10"/>
          <p:cNvSpPr txBox="1"/>
          <p:nvPr>
            <p:ph type="title"/>
          </p:nvPr>
        </p:nvSpPr>
        <p:spPr>
          <a:xfrm>
            <a:off x="722160" y="4406760"/>
            <a:ext cx="7771680" cy="136152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 name="Google Shape;49;p10"/>
          <p:cNvSpPr txBox="1"/>
          <p:nvPr>
            <p:ph idx="1" type="body"/>
          </p:nvPr>
        </p:nvSpPr>
        <p:spPr>
          <a:xfrm>
            <a:off x="722160" y="2906640"/>
            <a:ext cx="7771680" cy="1499400"/>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 name="Google Shape;50;p10"/>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1" name="Google Shape;51;p10"/>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0"/>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bg>
      <p:bgPr>
        <a:solidFill>
          <a:schemeClr val="lt1"/>
        </a:solidFill>
      </p:bgPr>
    </p:bg>
    <p:spTree>
      <p:nvGrpSpPr>
        <p:cNvPr id="53" name="Shape 53"/>
        <p:cNvGrpSpPr/>
        <p:nvPr/>
      </p:nvGrpSpPr>
      <p:grpSpPr>
        <a:xfrm>
          <a:off x="0" y="0"/>
          <a:ext cx="0" cy="0"/>
          <a:chOff x="0" y="0"/>
          <a:chExt cx="0" cy="0"/>
        </a:xfrm>
      </p:grpSpPr>
      <p:sp>
        <p:nvSpPr>
          <p:cNvPr id="54" name="Google Shape;54;p11"/>
          <p:cNvSpPr txBox="1"/>
          <p:nvPr>
            <p:ph type="title"/>
          </p:nvPr>
        </p:nvSpPr>
        <p:spPr>
          <a:xfrm>
            <a:off x="457200" y="274680"/>
            <a:ext cx="8228880" cy="114228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5" name="Google Shape;55;p11"/>
          <p:cNvSpPr txBox="1"/>
          <p:nvPr>
            <p:ph idx="1" type="body"/>
          </p:nvPr>
        </p:nvSpPr>
        <p:spPr>
          <a:xfrm>
            <a:off x="457200" y="1600200"/>
            <a:ext cx="4037760" cy="4525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6" name="Google Shape;56;p11"/>
          <p:cNvSpPr txBox="1"/>
          <p:nvPr>
            <p:ph idx="2" type="body"/>
          </p:nvPr>
        </p:nvSpPr>
        <p:spPr>
          <a:xfrm>
            <a:off x="4648320" y="1600200"/>
            <a:ext cx="4037760" cy="4525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1"/>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p11"/>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11"/>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type="twoTxTwoObj">
  <p:cSld name="TWO_OBJECTS_WITH_TEXT">
    <p:bg>
      <p:bgPr>
        <a:solidFill>
          <a:schemeClr val="lt1"/>
        </a:solidFill>
      </p:bgPr>
    </p:bg>
    <p:spTree>
      <p:nvGrpSpPr>
        <p:cNvPr id="60" name="Shape 60"/>
        <p:cNvGrpSpPr/>
        <p:nvPr/>
      </p:nvGrpSpPr>
      <p:grpSpPr>
        <a:xfrm>
          <a:off x="0" y="0"/>
          <a:ext cx="0" cy="0"/>
          <a:chOff x="0" y="0"/>
          <a:chExt cx="0" cy="0"/>
        </a:xfrm>
      </p:grpSpPr>
      <p:sp>
        <p:nvSpPr>
          <p:cNvPr id="61" name="Google Shape;61;p12"/>
          <p:cNvSpPr txBox="1"/>
          <p:nvPr>
            <p:ph type="title"/>
          </p:nvPr>
        </p:nvSpPr>
        <p:spPr>
          <a:xfrm>
            <a:off x="457200" y="274680"/>
            <a:ext cx="8228880" cy="114228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2" name="Google Shape;62;p12"/>
          <p:cNvSpPr txBox="1"/>
          <p:nvPr>
            <p:ph idx="1" type="body"/>
          </p:nvPr>
        </p:nvSpPr>
        <p:spPr>
          <a:xfrm>
            <a:off x="457200" y="1535040"/>
            <a:ext cx="4039560" cy="639000"/>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3" name="Google Shape;63;p12"/>
          <p:cNvSpPr txBox="1"/>
          <p:nvPr>
            <p:ph idx="2" type="body"/>
          </p:nvPr>
        </p:nvSpPr>
        <p:spPr>
          <a:xfrm>
            <a:off x="457200" y="2174760"/>
            <a:ext cx="4039560" cy="395064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4" name="Google Shape;64;p12"/>
          <p:cNvSpPr txBox="1"/>
          <p:nvPr>
            <p:ph idx="3" type="body"/>
          </p:nvPr>
        </p:nvSpPr>
        <p:spPr>
          <a:xfrm>
            <a:off x="4645080" y="1535040"/>
            <a:ext cx="4041000" cy="639000"/>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p12"/>
          <p:cNvSpPr txBox="1"/>
          <p:nvPr>
            <p:ph idx="4" type="body"/>
          </p:nvPr>
        </p:nvSpPr>
        <p:spPr>
          <a:xfrm>
            <a:off x="4645080" y="2174760"/>
            <a:ext cx="4041000" cy="395064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7" name="Google Shape;67;p12"/>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 name="Google Shape;68;p12"/>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457200" y="274680"/>
            <a:ext cx="8228880" cy="114228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1" name="Google Shape;71;p13"/>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2" name="Google Shape;72;p13"/>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 2 2">
    <p:bg>
      <p:bgPr>
        <a:solidFill>
          <a:schemeClr val="lt1"/>
        </a:solidFill>
      </p:bgPr>
    </p:bg>
    <p:spTree>
      <p:nvGrpSpPr>
        <p:cNvPr id="74" name="Shape 74"/>
        <p:cNvGrpSpPr/>
        <p:nvPr/>
      </p:nvGrpSpPr>
      <p:grpSpPr>
        <a:xfrm>
          <a:off x="0" y="0"/>
          <a:ext cx="0" cy="0"/>
          <a:chOff x="0" y="0"/>
          <a:chExt cx="0" cy="0"/>
        </a:xfrm>
      </p:grpSpPr>
      <p:sp>
        <p:nvSpPr>
          <p:cNvPr id="75" name="Google Shape;75;p14"/>
          <p:cNvSpPr txBox="1"/>
          <p:nvPr>
            <p:ph idx="10" type="dt"/>
          </p:nvPr>
        </p:nvSpPr>
        <p:spPr>
          <a:xfrm>
            <a:off x="457200" y="6356520"/>
            <a:ext cx="2133000" cy="36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6" name="Google Shape;76;p14"/>
          <p:cNvSpPr txBox="1"/>
          <p:nvPr>
            <p:ph idx="11" type="ftr"/>
          </p:nvPr>
        </p:nvSpPr>
        <p:spPr>
          <a:xfrm>
            <a:off x="3124080" y="6356520"/>
            <a:ext cx="2894760" cy="36432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7" name="Google Shape;77;p14"/>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7.jpg"/><Relationship Id="rId6"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29.png"/><Relationship Id="rId8"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12.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www.masterborn.com/blog/cloud-vendor-lock-in-4-real-life-scenarios-and-lessons-learne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12.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27.png"/><Relationship Id="rId8"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7.png"/><Relationship Id="rId4" Type="http://schemas.openxmlformats.org/officeDocument/2006/relationships/image" Target="../media/image25.png"/><Relationship Id="rId10" Type="http://schemas.openxmlformats.org/officeDocument/2006/relationships/image" Target="../media/image6.png"/><Relationship Id="rId9" Type="http://schemas.openxmlformats.org/officeDocument/2006/relationships/image" Target="../media/image3.png"/><Relationship Id="rId5" Type="http://schemas.openxmlformats.org/officeDocument/2006/relationships/image" Target="../media/image22.png"/><Relationship Id="rId6" Type="http://schemas.openxmlformats.org/officeDocument/2006/relationships/image" Target="../media/image19.png"/><Relationship Id="rId7" Type="http://schemas.openxmlformats.org/officeDocument/2006/relationships/image" Target="../media/image12.png"/><Relationship Id="rId8" Type="http://schemas.openxmlformats.org/officeDocument/2006/relationships/image" Target="../media/image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0.png"/><Relationship Id="rId4" Type="http://schemas.openxmlformats.org/officeDocument/2006/relationships/image" Target="../media/image12.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3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3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36.png"/><Relationship Id="rId4" Type="http://schemas.openxmlformats.org/officeDocument/2006/relationships/image" Target="../media/image12.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3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37.png"/><Relationship Id="rId4" Type="http://schemas.openxmlformats.org/officeDocument/2006/relationships/image" Target="../media/image12.png"/><Relationship Id="rId5" Type="http://schemas.openxmlformats.org/officeDocument/2006/relationships/image" Target="../media/image7.jpg"/><Relationship Id="rId6" Type="http://schemas.openxmlformats.org/officeDocument/2006/relationships/image" Target="../media/image3.png"/><Relationship Id="rId7" Type="http://schemas.openxmlformats.org/officeDocument/2006/relationships/image" Target="../media/image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2.pn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
          <p:cNvSpPr txBox="1"/>
          <p:nvPr>
            <p:ph type="title"/>
          </p:nvPr>
        </p:nvSpPr>
        <p:spPr>
          <a:xfrm>
            <a:off x="938955" y="2158604"/>
            <a:ext cx="7625100" cy="505872"/>
          </a:xfrm>
          <a:prstGeom prst="rect">
            <a:avLst/>
          </a:prstGeom>
          <a:noFill/>
          <a:ln cap="flat" cmpd="sng" w="9525">
            <a:solidFill>
              <a:srgbClr val="000000"/>
            </a:solidFill>
            <a:prstDash val="solid"/>
            <a:round/>
            <a:headEnd len="sm" w="sm" type="none"/>
            <a:tailEnd len="sm" w="sm" type="none"/>
          </a:ln>
        </p:spPr>
        <p:txBody>
          <a:bodyPr anchorCtr="0" anchor="ctr" bIns="0" lIns="0" spcFirstLastPara="1" rIns="0" wrap="square" tIns="13300">
            <a:spAutoFit/>
          </a:bodyPr>
          <a:lstStyle/>
          <a:p>
            <a:pPr indent="0" lvl="0" marL="12600" rtl="0" algn="ctr">
              <a:lnSpc>
                <a:spcPct val="100000"/>
              </a:lnSpc>
              <a:spcBef>
                <a:spcPts val="0"/>
              </a:spcBef>
              <a:spcAft>
                <a:spcPts val="0"/>
              </a:spcAft>
              <a:buClr>
                <a:srgbClr val="FF0000"/>
              </a:buClr>
              <a:buSzPts val="4000"/>
              <a:buFont typeface="Marcellus SC"/>
              <a:buNone/>
            </a:pPr>
            <a:r>
              <a:rPr b="0" lang="en-US" sz="3200" u="none" strike="noStrike">
                <a:solidFill>
                  <a:srgbClr val="FF0000"/>
                </a:solidFill>
                <a:latin typeface="Marcellus SC"/>
                <a:ea typeface="Marcellus SC"/>
                <a:cs typeface="Marcellus SC"/>
                <a:sym typeface="Marcellus SC"/>
              </a:rPr>
              <a:t>Module 1: Introduction</a:t>
            </a:r>
            <a:endParaRPr b="0" sz="3200" u="none" strike="noStrike">
              <a:solidFill>
                <a:srgbClr val="000000"/>
              </a:solidFill>
            </a:endParaRPr>
          </a:p>
        </p:txBody>
      </p:sp>
      <p:pic>
        <p:nvPicPr>
          <p:cNvPr id="84" name="Google Shape;84;p1"/>
          <p:cNvPicPr preferRelativeResize="0"/>
          <p:nvPr/>
        </p:nvPicPr>
        <p:blipFill rotWithShape="1">
          <a:blip r:embed="rId3">
            <a:alphaModFix/>
          </a:blip>
          <a:srcRect b="0" l="0" r="0" t="0"/>
          <a:stretch/>
        </p:blipFill>
        <p:spPr>
          <a:xfrm>
            <a:off x="-76320" y="1440"/>
            <a:ext cx="567720" cy="6855840"/>
          </a:xfrm>
          <a:prstGeom prst="rect">
            <a:avLst/>
          </a:prstGeom>
          <a:noFill/>
          <a:ln>
            <a:noFill/>
          </a:ln>
        </p:spPr>
      </p:pic>
      <p:pic>
        <p:nvPicPr>
          <p:cNvPr id="85" name="Google Shape;85;p1"/>
          <p:cNvPicPr preferRelativeResize="0"/>
          <p:nvPr/>
        </p:nvPicPr>
        <p:blipFill rotWithShape="1">
          <a:blip r:embed="rId4">
            <a:alphaModFix/>
          </a:blip>
          <a:srcRect b="0" l="0" r="0" t="0"/>
          <a:stretch/>
        </p:blipFill>
        <p:spPr>
          <a:xfrm>
            <a:off x="457200" y="0"/>
            <a:ext cx="208800" cy="5439600"/>
          </a:xfrm>
          <a:prstGeom prst="rect">
            <a:avLst/>
          </a:prstGeom>
          <a:noFill/>
          <a:ln>
            <a:noFill/>
          </a:ln>
        </p:spPr>
      </p:pic>
      <p:pic>
        <p:nvPicPr>
          <p:cNvPr descr="A picture containing drawing&#10;&#10;Description automatically generated" id="86" name="Google Shape;86;p1"/>
          <p:cNvPicPr preferRelativeResize="0"/>
          <p:nvPr/>
        </p:nvPicPr>
        <p:blipFill rotWithShape="1">
          <a:blip r:embed="rId5">
            <a:alphaModFix/>
          </a:blip>
          <a:srcRect b="0" l="0" r="0" t="0"/>
          <a:stretch/>
        </p:blipFill>
        <p:spPr>
          <a:xfrm>
            <a:off x="812520" y="5929560"/>
            <a:ext cx="3245760" cy="810360"/>
          </a:xfrm>
          <a:prstGeom prst="rect">
            <a:avLst/>
          </a:prstGeom>
          <a:noFill/>
          <a:ln>
            <a:noFill/>
          </a:ln>
        </p:spPr>
      </p:pic>
      <p:pic>
        <p:nvPicPr>
          <p:cNvPr descr="A close up of a sign&#10;&#10;Description automatically generated" id="87" name="Google Shape;87;p1"/>
          <p:cNvPicPr preferRelativeResize="0"/>
          <p:nvPr/>
        </p:nvPicPr>
        <p:blipFill rotWithShape="1">
          <a:blip r:embed="rId6">
            <a:alphaModFix/>
          </a:blip>
          <a:srcRect b="0" l="0" r="0" t="0"/>
          <a:stretch/>
        </p:blipFill>
        <p:spPr>
          <a:xfrm>
            <a:off x="7898760" y="5932800"/>
            <a:ext cx="967680" cy="721440"/>
          </a:xfrm>
          <a:prstGeom prst="rect">
            <a:avLst/>
          </a:prstGeom>
          <a:noFill/>
          <a:ln>
            <a:noFill/>
          </a:ln>
        </p:spPr>
      </p:pic>
      <p:pic>
        <p:nvPicPr>
          <p:cNvPr id="88" name="Google Shape;88;p1"/>
          <p:cNvPicPr preferRelativeResize="0"/>
          <p:nvPr/>
        </p:nvPicPr>
        <p:blipFill rotWithShape="1">
          <a:blip r:embed="rId7">
            <a:alphaModFix/>
          </a:blip>
          <a:srcRect b="0" l="0" r="0" t="0"/>
          <a:stretch/>
        </p:blipFill>
        <p:spPr>
          <a:xfrm>
            <a:off x="2903225" y="3165500"/>
            <a:ext cx="3984312" cy="2324640"/>
          </a:xfrm>
          <a:prstGeom prst="rect">
            <a:avLst/>
          </a:prstGeom>
          <a:noFill/>
          <a:ln cap="flat" cmpd="sng" w="9525">
            <a:solidFill>
              <a:schemeClr val="dk1"/>
            </a:solidFill>
            <a:prstDash val="solid"/>
            <a:round/>
            <a:headEnd len="sm" w="sm" type="none"/>
            <a:tailEnd len="sm" w="sm" type="none"/>
          </a:ln>
        </p:spPr>
      </p:pic>
      <p:sp>
        <p:nvSpPr>
          <p:cNvPr id="89" name="Google Shape;89;p1"/>
          <p:cNvSpPr txBox="1"/>
          <p:nvPr/>
        </p:nvSpPr>
        <p:spPr>
          <a:xfrm>
            <a:off x="971600" y="673010"/>
            <a:ext cx="7625100" cy="1244536"/>
          </a:xfrm>
          <a:prstGeom prst="rect">
            <a:avLst/>
          </a:prstGeom>
          <a:noFill/>
          <a:ln cap="flat" cmpd="sng" w="9525">
            <a:solidFill>
              <a:srgbClr val="000000"/>
            </a:solidFill>
            <a:prstDash val="solid"/>
            <a:round/>
            <a:headEnd len="sm" w="sm" type="none"/>
            <a:tailEnd len="sm" w="sm" type="none"/>
          </a:ln>
        </p:spPr>
        <p:txBody>
          <a:bodyPr anchorCtr="0" anchor="ctr" bIns="0" lIns="0" spcFirstLastPara="1" rIns="0" wrap="square" tIns="13300">
            <a:spAutoFit/>
          </a:bodyPr>
          <a:lstStyle/>
          <a:p>
            <a:pPr indent="0" lvl="0" marL="12600" marR="0" rtl="0" algn="ctr">
              <a:lnSpc>
                <a:spcPct val="100000"/>
              </a:lnSpc>
              <a:spcBef>
                <a:spcPts val="0"/>
              </a:spcBef>
              <a:spcAft>
                <a:spcPts val="0"/>
              </a:spcAft>
              <a:buClr>
                <a:srgbClr val="FF0000"/>
              </a:buClr>
              <a:buSzPts val="4000"/>
              <a:buFont typeface="Marcellus SC"/>
              <a:buNone/>
            </a:pPr>
            <a:r>
              <a:rPr b="0" i="0" lang="en-US" sz="4000" u="none" cap="none" strike="noStrike">
                <a:solidFill>
                  <a:srgbClr val="FF0000"/>
                </a:solidFill>
                <a:latin typeface="Marcellus SC"/>
                <a:ea typeface="Marcellus SC"/>
                <a:cs typeface="Marcellus SC"/>
                <a:sym typeface="Marcellus SC"/>
              </a:rPr>
              <a:t>Cloud Computing &amp; Virtualization</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96" name="Google Shape;96;p2"/>
          <p:cNvSpPr/>
          <p:nvPr/>
        </p:nvSpPr>
        <p:spPr>
          <a:xfrm>
            <a:off x="8505000" y="6426720"/>
            <a:ext cx="102240" cy="208080"/>
          </a:xfrm>
          <a:prstGeom prst="rect">
            <a:avLst/>
          </a:prstGeom>
          <a:noFill/>
          <a:ln>
            <a:noFill/>
          </a:ln>
        </p:spPr>
        <p:txBody>
          <a:bodyPr anchorCtr="0" anchor="t" bIns="0" lIns="0" spcFirstLastPara="1" rIns="0" wrap="square" tIns="12600">
            <a:spAutoFit/>
          </a:bodyPr>
          <a:lstStyle/>
          <a:p>
            <a:pPr indent="0" lvl="0" marL="1260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97" name="Google Shape;97;p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98" name="Google Shape;98;p2"/>
          <p:cNvPicPr preferRelativeResize="0"/>
          <p:nvPr/>
        </p:nvPicPr>
        <p:blipFill rotWithShape="1">
          <a:blip r:embed="rId4">
            <a:alphaModFix/>
          </a:blip>
          <a:srcRect b="0" l="0" r="0" t="0"/>
          <a:stretch/>
        </p:blipFill>
        <p:spPr>
          <a:xfrm>
            <a:off x="-33480" y="6332400"/>
            <a:ext cx="6998400" cy="175320"/>
          </a:xfrm>
          <a:prstGeom prst="rect">
            <a:avLst/>
          </a:prstGeom>
          <a:noFill/>
          <a:ln>
            <a:noFill/>
          </a:ln>
        </p:spPr>
      </p:pic>
      <p:pic>
        <p:nvPicPr>
          <p:cNvPr descr="A picture containing drawing&#10;&#10;Description automatically generated" id="99" name="Google Shape;99;p2"/>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00" name="Google Shape;100;p2"/>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01" name="Google Shape;101;p2"/>
          <p:cNvSpPr/>
          <p:nvPr/>
        </p:nvSpPr>
        <p:spPr>
          <a:xfrm>
            <a:off x="478800" y="533520"/>
            <a:ext cx="8152560" cy="553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Outline</a:t>
            </a:r>
            <a:endParaRPr b="0" i="0" sz="3000" u="none" cap="none" strike="noStrike">
              <a:solidFill>
                <a:srgbClr val="000000"/>
              </a:solidFill>
              <a:latin typeface="Arial"/>
              <a:ea typeface="Arial"/>
              <a:cs typeface="Arial"/>
              <a:sym typeface="Arial"/>
            </a:endParaRPr>
          </a:p>
        </p:txBody>
      </p:sp>
      <p:sp>
        <p:nvSpPr>
          <p:cNvPr id="102" name="Google Shape;102;p2"/>
          <p:cNvSpPr/>
          <p:nvPr/>
        </p:nvSpPr>
        <p:spPr>
          <a:xfrm>
            <a:off x="533520" y="1333080"/>
            <a:ext cx="8152560" cy="4154943"/>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361930" lvl="0" marL="457200" marR="0" rtl="0" algn="l">
              <a:lnSpc>
                <a:spcPct val="150000"/>
              </a:lnSpc>
              <a:spcBef>
                <a:spcPts val="0"/>
              </a:spcBef>
              <a:spcAft>
                <a:spcPts val="0"/>
              </a:spcAft>
              <a:buClr>
                <a:srgbClr val="000000"/>
              </a:buClr>
              <a:buSzPts val="2100"/>
              <a:buFont typeface="Arial"/>
              <a:buAutoNum type="arabicPeriod"/>
            </a:pPr>
            <a:r>
              <a:rPr b="0" i="0" lang="en-US" sz="2100" u="none" cap="none" strike="noStrike">
                <a:solidFill>
                  <a:schemeClr val="dk1"/>
                </a:solidFill>
                <a:latin typeface="Arial"/>
                <a:ea typeface="Arial"/>
                <a:cs typeface="Arial"/>
                <a:sym typeface="Arial"/>
              </a:rPr>
              <a:t>Historical Developments</a:t>
            </a:r>
            <a:endParaRPr b="0" i="0" sz="2100" u="none" cap="none" strike="noStrike">
              <a:solidFill>
                <a:srgbClr val="000000"/>
              </a:solidFill>
              <a:latin typeface="Arial"/>
              <a:ea typeface="Arial"/>
              <a:cs typeface="Arial"/>
              <a:sym typeface="Arial"/>
            </a:endParaRPr>
          </a:p>
          <a:p>
            <a:pPr indent="-361930" lvl="0" marL="457200" marR="0" rtl="0" algn="l">
              <a:lnSpc>
                <a:spcPct val="150000"/>
              </a:lnSpc>
              <a:spcBef>
                <a:spcPts val="0"/>
              </a:spcBef>
              <a:spcAft>
                <a:spcPts val="0"/>
              </a:spcAft>
              <a:buClr>
                <a:srgbClr val="000000"/>
              </a:buClr>
              <a:buSzPts val="2100"/>
              <a:buFont typeface="Arial"/>
              <a:buAutoNum type="arabicPeriod"/>
            </a:pPr>
            <a:r>
              <a:rPr b="0" i="0" lang="en-US" sz="2100" u="none" cap="none" strike="noStrike">
                <a:solidFill>
                  <a:schemeClr val="dk1"/>
                </a:solidFill>
                <a:latin typeface="Arial"/>
                <a:ea typeface="Arial"/>
                <a:cs typeface="Arial"/>
                <a:sym typeface="Arial"/>
              </a:rPr>
              <a:t>NIST definition</a:t>
            </a:r>
            <a:endParaRPr b="0" i="0" sz="1300" u="none" cap="none" strike="noStrike">
              <a:solidFill>
                <a:srgbClr val="000000"/>
              </a:solidFill>
              <a:latin typeface="Arial"/>
              <a:ea typeface="Arial"/>
              <a:cs typeface="Arial"/>
              <a:sym typeface="Arial"/>
            </a:endParaRPr>
          </a:p>
          <a:p>
            <a:pPr indent="-361930" lvl="0" marL="457200" marR="0" rtl="0" algn="l">
              <a:lnSpc>
                <a:spcPct val="150000"/>
              </a:lnSpc>
              <a:spcBef>
                <a:spcPts val="0"/>
              </a:spcBef>
              <a:spcAft>
                <a:spcPts val="0"/>
              </a:spcAft>
              <a:buClr>
                <a:srgbClr val="000000"/>
              </a:buClr>
              <a:buSzPts val="2100"/>
              <a:buFont typeface="Arial"/>
              <a:buAutoNum type="arabicPeriod"/>
            </a:pPr>
            <a:r>
              <a:rPr b="0" i="0" lang="en-US" sz="2100" u="none" cap="none" strike="noStrike">
                <a:solidFill>
                  <a:schemeClr val="dk1"/>
                </a:solidFill>
                <a:latin typeface="Arial"/>
                <a:ea typeface="Arial"/>
                <a:cs typeface="Arial"/>
                <a:sym typeface="Arial"/>
              </a:rPr>
              <a:t>Essential Characteristics</a:t>
            </a:r>
            <a:endParaRPr b="0" i="0" sz="1300" u="none" cap="none" strike="noStrike">
              <a:solidFill>
                <a:srgbClr val="000000"/>
              </a:solidFill>
              <a:latin typeface="Arial"/>
              <a:ea typeface="Arial"/>
              <a:cs typeface="Arial"/>
              <a:sym typeface="Arial"/>
            </a:endParaRPr>
          </a:p>
          <a:p>
            <a:pPr indent="-361930" lvl="0" marL="457200" marR="0" rtl="0" algn="l">
              <a:lnSpc>
                <a:spcPct val="150000"/>
              </a:lnSpc>
              <a:spcBef>
                <a:spcPts val="0"/>
              </a:spcBef>
              <a:spcAft>
                <a:spcPts val="0"/>
              </a:spcAft>
              <a:buClr>
                <a:srgbClr val="000000"/>
              </a:buClr>
              <a:buSzPts val="2100"/>
              <a:buFont typeface="Arial"/>
              <a:buAutoNum type="arabicPeriod"/>
            </a:pPr>
            <a:r>
              <a:rPr b="0" i="0" lang="en-US" sz="2100" u="none" cap="none" strike="noStrike">
                <a:solidFill>
                  <a:schemeClr val="dk1"/>
                </a:solidFill>
                <a:latin typeface="Arial"/>
                <a:ea typeface="Arial"/>
                <a:cs typeface="Arial"/>
                <a:sym typeface="Arial"/>
              </a:rPr>
              <a:t>Advantages and Disadvantages</a:t>
            </a:r>
            <a:endParaRPr b="0" i="0" sz="1300" u="none" cap="none" strike="noStrike">
              <a:solidFill>
                <a:srgbClr val="000000"/>
              </a:solidFill>
              <a:latin typeface="Arial"/>
              <a:ea typeface="Arial"/>
              <a:cs typeface="Arial"/>
              <a:sym typeface="Arial"/>
            </a:endParaRPr>
          </a:p>
          <a:p>
            <a:pPr indent="-361929" lvl="0" marL="457200" marR="0" rtl="0" algn="l">
              <a:lnSpc>
                <a:spcPct val="150000"/>
              </a:lnSpc>
              <a:spcBef>
                <a:spcPts val="0"/>
              </a:spcBef>
              <a:spcAft>
                <a:spcPts val="0"/>
              </a:spcAft>
              <a:buClr>
                <a:srgbClr val="000000"/>
              </a:buClr>
              <a:buSzPts val="2100"/>
              <a:buFont typeface="Arial"/>
              <a:buAutoNum type="arabicPeriod"/>
            </a:pPr>
            <a:r>
              <a:rPr b="0" i="0" lang="en-US" sz="2100" u="none" cap="none" strike="noStrike">
                <a:solidFill>
                  <a:schemeClr val="dk1"/>
                </a:solidFill>
                <a:latin typeface="Arial"/>
                <a:ea typeface="Arial"/>
                <a:cs typeface="Arial"/>
                <a:sym typeface="Arial"/>
              </a:rPr>
              <a:t>Cloud Servies (SaaS, IaaS, PaaS)</a:t>
            </a:r>
            <a:endParaRPr b="0" i="0" sz="2100" u="none" cap="none" strike="noStrike">
              <a:solidFill>
                <a:schemeClr val="dk1"/>
              </a:solidFill>
              <a:latin typeface="Arial"/>
              <a:ea typeface="Arial"/>
              <a:cs typeface="Arial"/>
              <a:sym typeface="Arial"/>
            </a:endParaRPr>
          </a:p>
          <a:p>
            <a:pPr indent="-361930" lvl="0" marL="457200" marR="0" rtl="0" algn="l">
              <a:lnSpc>
                <a:spcPct val="150000"/>
              </a:lnSpc>
              <a:spcBef>
                <a:spcPts val="0"/>
              </a:spcBef>
              <a:spcAft>
                <a:spcPts val="0"/>
              </a:spcAft>
              <a:buClr>
                <a:schemeClr val="dk1"/>
              </a:buClr>
              <a:buSzPts val="2100"/>
              <a:buAutoNum type="arabicPeriod"/>
            </a:pPr>
            <a:r>
              <a:rPr lang="en-US" sz="2100">
                <a:solidFill>
                  <a:schemeClr val="dk1"/>
                </a:solidFill>
              </a:rPr>
              <a:t>Cloud Deployment Models (public, </a:t>
            </a:r>
            <a:r>
              <a:rPr lang="en-US" sz="2100">
                <a:solidFill>
                  <a:schemeClr val="dk1"/>
                </a:solidFill>
              </a:rPr>
              <a:t>private</a:t>
            </a:r>
            <a:r>
              <a:rPr lang="en-US" sz="2100">
                <a:solidFill>
                  <a:schemeClr val="dk1"/>
                </a:solidFill>
              </a:rPr>
              <a:t>, hybrid, community)</a:t>
            </a:r>
            <a:endParaRPr sz="2100">
              <a:solidFill>
                <a:schemeClr val="dk1"/>
              </a:solidFill>
            </a:endParaRPr>
          </a:p>
          <a:p>
            <a:pPr indent="-361930" lvl="0" marL="457200" marR="0" rtl="0" algn="l">
              <a:lnSpc>
                <a:spcPct val="150000"/>
              </a:lnSpc>
              <a:spcBef>
                <a:spcPts val="0"/>
              </a:spcBef>
              <a:spcAft>
                <a:spcPts val="0"/>
              </a:spcAft>
              <a:buClr>
                <a:srgbClr val="000000"/>
              </a:buClr>
              <a:buSzPts val="2100"/>
              <a:buFont typeface="Arial"/>
              <a:buAutoNum type="arabicPeriod"/>
            </a:pPr>
            <a:r>
              <a:rPr b="0" i="0" lang="en-US" sz="2100" u="none" cap="none" strike="noStrike">
                <a:solidFill>
                  <a:schemeClr val="dk1"/>
                </a:solidFill>
                <a:latin typeface="Arial"/>
                <a:ea typeface="Arial"/>
                <a:cs typeface="Arial"/>
                <a:sym typeface="Arial"/>
              </a:rPr>
              <a:t>Computing Platforms and Technologies - Microsoft Azure, Hadoop, Force.com and Salesforce.com, Manjrasoft Aneka</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idx="12" type="sldNum"/>
          </p:nvPr>
        </p:nvSpPr>
        <p:spPr>
          <a:xfrm>
            <a:off x="6553080" y="6356520"/>
            <a:ext cx="2133000" cy="36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09" name="Google Shape;109;p15"/>
          <p:cNvSpPr/>
          <p:nvPr/>
        </p:nvSpPr>
        <p:spPr>
          <a:xfrm>
            <a:off x="8505000" y="6426720"/>
            <a:ext cx="102240" cy="208080"/>
          </a:xfrm>
          <a:prstGeom prst="rect">
            <a:avLst/>
          </a:prstGeom>
          <a:noFill/>
          <a:ln>
            <a:noFill/>
          </a:ln>
        </p:spPr>
        <p:txBody>
          <a:bodyPr anchorCtr="0" anchor="t" bIns="0" lIns="0" spcFirstLastPara="1" rIns="0" wrap="square" tIns="12600">
            <a:spAutoFit/>
          </a:bodyPr>
          <a:lstStyle/>
          <a:p>
            <a:pPr indent="0" lvl="0" marL="1260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10" name="Google Shape;110;p15"/>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11" name="Google Shape;111;p15"/>
          <p:cNvPicPr preferRelativeResize="0"/>
          <p:nvPr/>
        </p:nvPicPr>
        <p:blipFill rotWithShape="1">
          <a:blip r:embed="rId4">
            <a:alphaModFix/>
          </a:blip>
          <a:srcRect b="0" l="0" r="0" t="0"/>
          <a:stretch/>
        </p:blipFill>
        <p:spPr>
          <a:xfrm>
            <a:off x="-33480" y="6332400"/>
            <a:ext cx="6998400" cy="175320"/>
          </a:xfrm>
          <a:prstGeom prst="rect">
            <a:avLst/>
          </a:prstGeom>
          <a:noFill/>
          <a:ln>
            <a:noFill/>
          </a:ln>
        </p:spPr>
      </p:pic>
      <p:pic>
        <p:nvPicPr>
          <p:cNvPr descr="A picture containing drawing&#10;&#10;Description automatically generated" id="112" name="Google Shape;112;p15"/>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13" name="Google Shape;113;p15"/>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14" name="Google Shape;114;p15"/>
          <p:cNvSpPr/>
          <p:nvPr/>
        </p:nvSpPr>
        <p:spPr>
          <a:xfrm>
            <a:off x="478800" y="533520"/>
            <a:ext cx="8152560" cy="553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Daily Life Examples</a:t>
            </a:r>
            <a:endParaRPr b="0" i="0" sz="3000" u="none" cap="none" strike="noStrike">
              <a:solidFill>
                <a:srgbClr val="000000"/>
              </a:solidFill>
              <a:latin typeface="Arial"/>
              <a:ea typeface="Arial"/>
              <a:cs typeface="Arial"/>
              <a:sym typeface="Arial"/>
            </a:endParaRPr>
          </a:p>
        </p:txBody>
      </p:sp>
      <p:sp>
        <p:nvSpPr>
          <p:cNvPr id="115" name="Google Shape;115;p15"/>
          <p:cNvSpPr/>
          <p:nvPr/>
        </p:nvSpPr>
        <p:spPr>
          <a:xfrm>
            <a:off x="533520" y="1333080"/>
            <a:ext cx="8152560" cy="600124"/>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228579" lvl="0" marL="457200" marR="0" rtl="0" algn="l">
              <a:lnSpc>
                <a:spcPct val="15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9" name="Shape 119"/>
        <p:cNvGrpSpPr/>
        <p:nvPr/>
      </p:nvGrpSpPr>
      <p:grpSpPr>
        <a:xfrm>
          <a:off x="0" y="0"/>
          <a:ext cx="0" cy="0"/>
          <a:chOff x="0" y="0"/>
          <a:chExt cx="0" cy="0"/>
        </a:xfrm>
      </p:grpSpPr>
      <p:pic>
        <p:nvPicPr>
          <p:cNvPr id="120" name="Google Shape;120;p16"/>
          <p:cNvPicPr preferRelativeResize="0"/>
          <p:nvPr/>
        </p:nvPicPr>
        <p:blipFill rotWithShape="1">
          <a:blip r:embed="rId3">
            <a:alphaModFix/>
          </a:blip>
          <a:srcRect b="0" l="0" r="0" t="0"/>
          <a:stretch/>
        </p:blipFill>
        <p:spPr>
          <a:xfrm>
            <a:off x="251520" y="692696"/>
            <a:ext cx="8588538" cy="534119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b1edb5da07_2_0"/>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27" name="Google Shape;127;g3b1edb5da07_2_0"/>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28" name="Google Shape;128;g3b1edb5da07_2_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29" name="Google Shape;129;g3b1edb5da07_2_0"/>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130" name="Google Shape;130;g3b1edb5da07_2_0"/>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31" name="Google Shape;131;g3b1edb5da07_2_0"/>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pic>
        <p:nvPicPr>
          <p:cNvPr id="132" name="Google Shape;132;g3b1edb5da07_2_0"/>
          <p:cNvPicPr preferRelativeResize="0"/>
          <p:nvPr/>
        </p:nvPicPr>
        <p:blipFill rotWithShape="1">
          <a:blip r:embed="rId7">
            <a:alphaModFix/>
          </a:blip>
          <a:srcRect b="0" l="0" r="0" t="0"/>
          <a:stretch/>
        </p:blipFill>
        <p:spPr>
          <a:xfrm>
            <a:off x="410688" y="86450"/>
            <a:ext cx="8322625" cy="5651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b34f1ccc17_0_18"/>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39" name="Google Shape;139;g3b34f1ccc17_0_18"/>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40" name="Google Shape;140;g3b34f1ccc17_0_18"/>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41" name="Google Shape;141;g3b34f1ccc17_0_18"/>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142" name="Google Shape;142;g3b34f1ccc17_0_18"/>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43" name="Google Shape;143;g3b34f1ccc17_0_18"/>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44" name="Google Shape;144;g3b34f1ccc17_0_18"/>
          <p:cNvSpPr/>
          <p:nvPr/>
        </p:nvSpPr>
        <p:spPr>
          <a:xfrm>
            <a:off x="478800" y="533520"/>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2. US National Institute of Standards and Technology (NIST) definition</a:t>
            </a:r>
            <a:endParaRPr b="0" i="0" sz="3000" u="none" cap="none" strike="noStrike">
              <a:solidFill>
                <a:srgbClr val="000000"/>
              </a:solidFill>
              <a:latin typeface="Arial"/>
              <a:ea typeface="Arial"/>
              <a:cs typeface="Arial"/>
              <a:sym typeface="Arial"/>
            </a:endParaRPr>
          </a:p>
        </p:txBody>
      </p:sp>
      <p:sp>
        <p:nvSpPr>
          <p:cNvPr id="145" name="Google Shape;145;g3b34f1ccc17_0_18"/>
          <p:cNvSpPr/>
          <p:nvPr/>
        </p:nvSpPr>
        <p:spPr>
          <a:xfrm>
            <a:off x="478800" y="2070675"/>
            <a:ext cx="5636700" cy="3098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900"/>
              <a:buFont typeface="Arial"/>
              <a:buNone/>
            </a:pPr>
            <a:r>
              <a:rPr b="0" i="0" lang="en-US" sz="1900" u="none" cap="none" strike="noStrike">
                <a:solidFill>
                  <a:schemeClr val="dk1"/>
                </a:solidFill>
                <a:latin typeface="Arial"/>
                <a:ea typeface="Arial"/>
                <a:cs typeface="Arial"/>
                <a:sym typeface="Arial"/>
              </a:rPr>
              <a:t>Cloud computing is a model for enabling </a:t>
            </a:r>
            <a:r>
              <a:rPr b="1" i="0" lang="en-US" sz="1900" u="none" cap="none" strike="noStrike">
                <a:solidFill>
                  <a:srgbClr val="FF0000"/>
                </a:solidFill>
                <a:latin typeface="Arial"/>
                <a:ea typeface="Arial"/>
                <a:cs typeface="Arial"/>
                <a:sym typeface="Arial"/>
              </a:rPr>
              <a:t>ubiquitous</a:t>
            </a:r>
            <a:r>
              <a:rPr b="0" i="0" lang="en-US" sz="1900" u="none" cap="none" strike="noStrike">
                <a:solidFill>
                  <a:schemeClr val="dk1"/>
                </a:solidFill>
                <a:latin typeface="Arial"/>
                <a:ea typeface="Arial"/>
                <a:cs typeface="Arial"/>
                <a:sym typeface="Arial"/>
              </a:rPr>
              <a:t>, convenient, </a:t>
            </a:r>
            <a:r>
              <a:rPr b="1" i="0" lang="en-US" sz="1900" u="none" cap="none" strike="noStrike">
                <a:solidFill>
                  <a:srgbClr val="FF0000"/>
                </a:solidFill>
                <a:latin typeface="Arial"/>
                <a:ea typeface="Arial"/>
                <a:cs typeface="Arial"/>
                <a:sym typeface="Arial"/>
              </a:rPr>
              <a:t>on-demand network access</a:t>
            </a:r>
            <a:r>
              <a:rPr b="0" i="0" lang="en-US" sz="1900" u="none" cap="none" strike="noStrike">
                <a:solidFill>
                  <a:schemeClr val="dk1"/>
                </a:solidFill>
                <a:latin typeface="Arial"/>
                <a:ea typeface="Arial"/>
                <a:cs typeface="Arial"/>
                <a:sym typeface="Arial"/>
              </a:rPr>
              <a:t> to a shared pool of configurable computing resources (e.g. </a:t>
            </a:r>
            <a:r>
              <a:rPr b="1" i="0" lang="en-US" sz="1900" u="none" cap="none" strike="noStrike">
                <a:solidFill>
                  <a:srgbClr val="FF0000"/>
                </a:solidFill>
                <a:latin typeface="Arial"/>
                <a:ea typeface="Arial"/>
                <a:cs typeface="Arial"/>
                <a:sym typeface="Arial"/>
              </a:rPr>
              <a:t>networks, servers, storage, applications, and services</a:t>
            </a:r>
            <a:r>
              <a:rPr b="0" i="0" lang="en-US" sz="1900" u="none" cap="none" strike="noStrike">
                <a:solidFill>
                  <a:schemeClr val="dk1"/>
                </a:solidFill>
                <a:latin typeface="Arial"/>
                <a:ea typeface="Arial"/>
                <a:cs typeface="Arial"/>
                <a:sym typeface="Arial"/>
              </a:rPr>
              <a:t>) that can be rapidly </a:t>
            </a:r>
            <a:r>
              <a:rPr b="1" i="0" lang="en-US" sz="1900" u="none" cap="none" strike="noStrike">
                <a:solidFill>
                  <a:srgbClr val="FF0000"/>
                </a:solidFill>
                <a:latin typeface="Arial"/>
                <a:ea typeface="Arial"/>
                <a:cs typeface="Arial"/>
                <a:sym typeface="Arial"/>
              </a:rPr>
              <a:t>provisioned and released</a:t>
            </a:r>
            <a:r>
              <a:rPr b="0" i="0" lang="en-US" sz="1900" u="none" cap="none" strike="noStrike">
                <a:solidFill>
                  <a:schemeClr val="dk1"/>
                </a:solidFill>
                <a:latin typeface="Arial"/>
                <a:ea typeface="Arial"/>
                <a:cs typeface="Arial"/>
                <a:sym typeface="Arial"/>
              </a:rPr>
              <a:t> with minimal management effort or service provider interaction.</a:t>
            </a:r>
            <a:endParaRPr b="0" i="0" sz="1900" u="none" cap="none" strike="noStrike">
              <a:solidFill>
                <a:srgbClr val="000000"/>
              </a:solidFill>
              <a:latin typeface="Arial"/>
              <a:ea typeface="Arial"/>
              <a:cs typeface="Arial"/>
              <a:sym typeface="Arial"/>
            </a:endParaRPr>
          </a:p>
        </p:txBody>
      </p:sp>
      <p:pic>
        <p:nvPicPr>
          <p:cNvPr id="146" name="Google Shape;146;g3b34f1ccc17_0_18"/>
          <p:cNvPicPr preferRelativeResize="0"/>
          <p:nvPr/>
        </p:nvPicPr>
        <p:blipFill rotWithShape="1">
          <a:blip r:embed="rId7">
            <a:alphaModFix/>
          </a:blip>
          <a:srcRect b="0" l="0" r="0" t="0"/>
          <a:stretch/>
        </p:blipFill>
        <p:spPr>
          <a:xfrm>
            <a:off x="6281313" y="2689020"/>
            <a:ext cx="2676525" cy="171450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b34f1ccc17_0_31"/>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53" name="Google Shape;153;g3b34f1ccc17_0_31"/>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54" name="Google Shape;154;g3b34f1ccc17_0_3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55" name="Google Shape;155;g3b34f1ccc17_0_31"/>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156" name="Google Shape;156;g3b34f1ccc17_0_31"/>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57" name="Google Shape;157;g3b34f1ccc17_0_31"/>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58" name="Google Shape;158;g3b34f1ccc17_0_31"/>
          <p:cNvSpPr/>
          <p:nvPr/>
        </p:nvSpPr>
        <p:spPr>
          <a:xfrm>
            <a:off x="478800" y="533520"/>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000"/>
              <a:buFont typeface="Arial"/>
              <a:buNone/>
            </a:pPr>
            <a:r>
              <a:rPr b="1" i="0" lang="en-US" sz="3000" u="none" cap="none" strike="noStrike">
                <a:solidFill>
                  <a:srgbClr val="FF0000"/>
                </a:solidFill>
                <a:latin typeface="Arial"/>
                <a:ea typeface="Arial"/>
                <a:cs typeface="Arial"/>
                <a:sym typeface="Arial"/>
              </a:rPr>
              <a:t>2. US National Institute of Standards and Technology (NIST) definition</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159" name="Google Shape;159;g3b34f1ccc17_0_31"/>
          <p:cNvSpPr/>
          <p:nvPr/>
        </p:nvSpPr>
        <p:spPr>
          <a:xfrm>
            <a:off x="478800" y="2070675"/>
            <a:ext cx="5636700" cy="38304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9250" lvl="0" marL="457200" marR="0" rtl="0" algn="l">
              <a:lnSpc>
                <a:spcPct val="150000"/>
              </a:lnSpc>
              <a:spcBef>
                <a:spcPts val="0"/>
              </a:spcBef>
              <a:spcAft>
                <a:spcPts val="0"/>
              </a:spcAft>
              <a:buClr>
                <a:srgbClr val="FF0000"/>
              </a:buClr>
              <a:buSzPts val="1900"/>
              <a:buFont typeface="Arial"/>
              <a:buChar char="●"/>
            </a:pPr>
            <a:r>
              <a:rPr b="1" i="0" lang="en-US" sz="1900" u="none" cap="none" strike="noStrike">
                <a:solidFill>
                  <a:srgbClr val="FF0000"/>
                </a:solidFill>
                <a:latin typeface="Arial"/>
                <a:ea typeface="Arial"/>
                <a:cs typeface="Arial"/>
                <a:sym typeface="Arial"/>
              </a:rPr>
              <a:t>ubiquitous</a:t>
            </a:r>
            <a:endParaRPr b="0" i="0" sz="1900" u="none" cap="none" strike="noStrike">
              <a:solidFill>
                <a:schemeClr val="dk1"/>
              </a:solidFill>
              <a:latin typeface="Arial"/>
              <a:ea typeface="Arial"/>
              <a:cs typeface="Arial"/>
              <a:sym typeface="Arial"/>
            </a:endParaRPr>
          </a:p>
          <a:p>
            <a:pPr indent="-349250" lvl="0" marL="457200" marR="0" rtl="0" algn="l">
              <a:lnSpc>
                <a:spcPct val="150000"/>
              </a:lnSpc>
              <a:spcBef>
                <a:spcPts val="0"/>
              </a:spcBef>
              <a:spcAft>
                <a:spcPts val="0"/>
              </a:spcAft>
              <a:buClr>
                <a:srgbClr val="000000"/>
              </a:buClr>
              <a:buSzPts val="1900"/>
              <a:buFont typeface="Arial"/>
              <a:buChar char="●"/>
            </a:pPr>
            <a:r>
              <a:rPr b="1" i="0" lang="en-US" sz="1900" u="none" cap="none" strike="noStrike">
                <a:solidFill>
                  <a:srgbClr val="FF0000"/>
                </a:solidFill>
                <a:latin typeface="Arial"/>
                <a:ea typeface="Arial"/>
                <a:cs typeface="Arial"/>
                <a:sym typeface="Arial"/>
              </a:rPr>
              <a:t>on-demand network access</a:t>
            </a:r>
            <a:r>
              <a:rPr b="0" i="0" lang="en-US" sz="1900" u="none" cap="none" strike="noStrike">
                <a:solidFill>
                  <a:schemeClr val="dk1"/>
                </a:solidFill>
                <a:latin typeface="Arial"/>
                <a:ea typeface="Arial"/>
                <a:cs typeface="Arial"/>
                <a:sym typeface="Arial"/>
              </a:rPr>
              <a:t> </a:t>
            </a:r>
            <a:endParaRPr b="0" i="0" sz="1900" u="none" cap="none" strike="noStrike">
              <a:solidFill>
                <a:schemeClr val="dk1"/>
              </a:solidFill>
              <a:latin typeface="Arial"/>
              <a:ea typeface="Arial"/>
              <a:cs typeface="Arial"/>
              <a:sym typeface="Arial"/>
            </a:endParaRPr>
          </a:p>
          <a:p>
            <a:pPr indent="-349250" lvl="0" marL="457200" marR="0" rtl="0" algn="l">
              <a:lnSpc>
                <a:spcPct val="150000"/>
              </a:lnSpc>
              <a:spcBef>
                <a:spcPts val="0"/>
              </a:spcBef>
              <a:spcAft>
                <a:spcPts val="0"/>
              </a:spcAft>
              <a:buClr>
                <a:srgbClr val="FF0000"/>
              </a:buClr>
              <a:buSzPts val="1900"/>
              <a:buFont typeface="Arial"/>
              <a:buChar char="●"/>
            </a:pPr>
            <a:r>
              <a:rPr b="1" i="0" lang="en-US" sz="1900" u="none" cap="none" strike="noStrike">
                <a:solidFill>
                  <a:srgbClr val="FF0000"/>
                </a:solidFill>
                <a:latin typeface="Arial"/>
                <a:ea typeface="Arial"/>
                <a:cs typeface="Arial"/>
                <a:sym typeface="Arial"/>
              </a:rPr>
              <a:t>networks</a:t>
            </a:r>
            <a:endParaRPr b="1" i="0" sz="1900" u="none" cap="none" strike="noStrike">
              <a:solidFill>
                <a:srgbClr val="FF0000"/>
              </a:solidFill>
              <a:latin typeface="Arial"/>
              <a:ea typeface="Arial"/>
              <a:cs typeface="Arial"/>
              <a:sym typeface="Arial"/>
            </a:endParaRPr>
          </a:p>
          <a:p>
            <a:pPr indent="-349250" lvl="0" marL="457200" marR="0" rtl="0" algn="l">
              <a:lnSpc>
                <a:spcPct val="150000"/>
              </a:lnSpc>
              <a:spcBef>
                <a:spcPts val="0"/>
              </a:spcBef>
              <a:spcAft>
                <a:spcPts val="0"/>
              </a:spcAft>
              <a:buClr>
                <a:srgbClr val="FF0000"/>
              </a:buClr>
              <a:buSzPts val="1900"/>
              <a:buFont typeface="Arial"/>
              <a:buChar char="●"/>
            </a:pPr>
            <a:r>
              <a:rPr b="1" i="0" lang="en-US" sz="1900" u="none" cap="none" strike="noStrike">
                <a:solidFill>
                  <a:srgbClr val="FF0000"/>
                </a:solidFill>
                <a:latin typeface="Arial"/>
                <a:ea typeface="Arial"/>
                <a:cs typeface="Arial"/>
                <a:sym typeface="Arial"/>
              </a:rPr>
              <a:t>servers</a:t>
            </a:r>
            <a:endParaRPr b="1" i="0" sz="1900" u="none" cap="none" strike="noStrike">
              <a:solidFill>
                <a:srgbClr val="FF0000"/>
              </a:solidFill>
              <a:latin typeface="Arial"/>
              <a:ea typeface="Arial"/>
              <a:cs typeface="Arial"/>
              <a:sym typeface="Arial"/>
            </a:endParaRPr>
          </a:p>
          <a:p>
            <a:pPr indent="-349250" lvl="0" marL="457200" marR="0" rtl="0" algn="l">
              <a:lnSpc>
                <a:spcPct val="150000"/>
              </a:lnSpc>
              <a:spcBef>
                <a:spcPts val="0"/>
              </a:spcBef>
              <a:spcAft>
                <a:spcPts val="0"/>
              </a:spcAft>
              <a:buClr>
                <a:srgbClr val="FF0000"/>
              </a:buClr>
              <a:buSzPts val="1900"/>
              <a:buFont typeface="Arial"/>
              <a:buChar char="●"/>
            </a:pPr>
            <a:r>
              <a:rPr b="1" i="0" lang="en-US" sz="1900" u="none" cap="none" strike="noStrike">
                <a:solidFill>
                  <a:srgbClr val="FF0000"/>
                </a:solidFill>
                <a:latin typeface="Arial"/>
                <a:ea typeface="Arial"/>
                <a:cs typeface="Arial"/>
                <a:sym typeface="Arial"/>
              </a:rPr>
              <a:t>storage</a:t>
            </a:r>
            <a:endParaRPr b="1" i="0" sz="1900" u="none" cap="none" strike="noStrike">
              <a:solidFill>
                <a:srgbClr val="FF0000"/>
              </a:solidFill>
              <a:latin typeface="Arial"/>
              <a:ea typeface="Arial"/>
              <a:cs typeface="Arial"/>
              <a:sym typeface="Arial"/>
            </a:endParaRPr>
          </a:p>
          <a:p>
            <a:pPr indent="-349250" lvl="0" marL="457200" marR="0" rtl="0" algn="l">
              <a:lnSpc>
                <a:spcPct val="150000"/>
              </a:lnSpc>
              <a:spcBef>
                <a:spcPts val="0"/>
              </a:spcBef>
              <a:spcAft>
                <a:spcPts val="0"/>
              </a:spcAft>
              <a:buClr>
                <a:srgbClr val="FF0000"/>
              </a:buClr>
              <a:buSzPts val="1900"/>
              <a:buFont typeface="Arial"/>
              <a:buChar char="●"/>
            </a:pPr>
            <a:r>
              <a:rPr b="1" i="0" lang="en-US" sz="1900" u="none" cap="none" strike="noStrike">
                <a:solidFill>
                  <a:srgbClr val="FF0000"/>
                </a:solidFill>
                <a:latin typeface="Arial"/>
                <a:ea typeface="Arial"/>
                <a:cs typeface="Arial"/>
                <a:sym typeface="Arial"/>
              </a:rPr>
              <a:t>applications</a:t>
            </a:r>
            <a:endParaRPr b="1" i="0" sz="1900" u="none" cap="none" strike="noStrike">
              <a:solidFill>
                <a:srgbClr val="FF0000"/>
              </a:solidFill>
              <a:latin typeface="Arial"/>
              <a:ea typeface="Arial"/>
              <a:cs typeface="Arial"/>
              <a:sym typeface="Arial"/>
            </a:endParaRPr>
          </a:p>
          <a:p>
            <a:pPr indent="-349250" lvl="0" marL="457200" marR="0" rtl="0" algn="l">
              <a:lnSpc>
                <a:spcPct val="150000"/>
              </a:lnSpc>
              <a:spcBef>
                <a:spcPts val="0"/>
              </a:spcBef>
              <a:spcAft>
                <a:spcPts val="0"/>
              </a:spcAft>
              <a:buClr>
                <a:srgbClr val="FF0000"/>
              </a:buClr>
              <a:buSzPts val="1900"/>
              <a:buFont typeface="Arial"/>
              <a:buChar char="●"/>
            </a:pPr>
            <a:r>
              <a:rPr b="1" i="0" lang="en-US" sz="1900" u="none" cap="none" strike="noStrike">
                <a:solidFill>
                  <a:srgbClr val="FF0000"/>
                </a:solidFill>
                <a:latin typeface="Arial"/>
                <a:ea typeface="Arial"/>
                <a:cs typeface="Arial"/>
                <a:sym typeface="Arial"/>
              </a:rPr>
              <a:t>services</a:t>
            </a:r>
            <a:endParaRPr b="0" i="0" sz="1900" u="none" cap="none" strike="noStrike">
              <a:solidFill>
                <a:schemeClr val="dk1"/>
              </a:solidFill>
              <a:latin typeface="Arial"/>
              <a:ea typeface="Arial"/>
              <a:cs typeface="Arial"/>
              <a:sym typeface="Arial"/>
            </a:endParaRPr>
          </a:p>
          <a:p>
            <a:pPr indent="-349250" lvl="0" marL="457200" marR="0" rtl="0" algn="l">
              <a:lnSpc>
                <a:spcPct val="150000"/>
              </a:lnSpc>
              <a:spcBef>
                <a:spcPts val="0"/>
              </a:spcBef>
              <a:spcAft>
                <a:spcPts val="0"/>
              </a:spcAft>
              <a:buClr>
                <a:srgbClr val="000000"/>
              </a:buClr>
              <a:buSzPts val="1900"/>
              <a:buFont typeface="Arial"/>
              <a:buChar char="●"/>
            </a:pPr>
            <a:r>
              <a:rPr b="1" i="0" lang="en-US" sz="1900" u="none" cap="none" strike="noStrike">
                <a:solidFill>
                  <a:srgbClr val="FF0000"/>
                </a:solidFill>
                <a:latin typeface="Arial"/>
                <a:ea typeface="Arial"/>
                <a:cs typeface="Arial"/>
                <a:sym typeface="Arial"/>
              </a:rPr>
              <a:t>provisioned and released</a:t>
            </a:r>
            <a:r>
              <a:rPr b="0" i="0" lang="en-US" sz="1900" u="none" cap="none" strike="noStrike">
                <a:solidFill>
                  <a:schemeClr val="dk1"/>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p:txBody>
      </p:sp>
      <p:pic>
        <p:nvPicPr>
          <p:cNvPr id="160" name="Google Shape;160;g3b34f1ccc17_0_31"/>
          <p:cNvPicPr preferRelativeResize="0"/>
          <p:nvPr/>
        </p:nvPicPr>
        <p:blipFill rotWithShape="1">
          <a:blip r:embed="rId7">
            <a:alphaModFix/>
          </a:blip>
          <a:srcRect b="0" l="0" r="0" t="0"/>
          <a:stretch/>
        </p:blipFill>
        <p:spPr>
          <a:xfrm>
            <a:off x="6281313" y="2689020"/>
            <a:ext cx="2676525" cy="171450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b34f1ccc17_0_59"/>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67" name="Google Shape;167;g3b34f1ccc17_0_59"/>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68" name="Google Shape;168;g3b34f1ccc17_0_5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69" name="Google Shape;169;g3b34f1ccc17_0_59"/>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170" name="Google Shape;170;g3b34f1ccc17_0_59"/>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71" name="Google Shape;171;g3b34f1ccc17_0_59"/>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72" name="Google Shape;172;g3b34f1ccc17_0_59"/>
          <p:cNvSpPr/>
          <p:nvPr/>
        </p:nvSpPr>
        <p:spPr>
          <a:xfrm>
            <a:off x="478800" y="533520"/>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173" name="Google Shape;173;g3b34f1ccc17_0_59"/>
          <p:cNvPicPr preferRelativeResize="0"/>
          <p:nvPr/>
        </p:nvPicPr>
        <p:blipFill rotWithShape="1">
          <a:blip r:embed="rId7">
            <a:alphaModFix/>
          </a:blip>
          <a:srcRect b="0" l="0" r="0" t="0"/>
          <a:stretch/>
        </p:blipFill>
        <p:spPr>
          <a:xfrm>
            <a:off x="1359400" y="1934070"/>
            <a:ext cx="6667500" cy="33528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b34f1ccc17_0_7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80" name="Google Shape;180;g3b34f1ccc17_0_73"/>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81" name="Google Shape;181;g3b34f1ccc17_0_7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82" name="Google Shape;182;g3b34f1ccc17_0_73"/>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183" name="Google Shape;183;g3b34f1ccc17_0_73"/>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84" name="Google Shape;184;g3b34f1ccc17_0_73"/>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85" name="Google Shape;185;g3b34f1ccc17_0_73"/>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186" name="Google Shape;186;g3b34f1ccc17_0_73"/>
          <p:cNvSpPr/>
          <p:nvPr/>
        </p:nvSpPr>
        <p:spPr>
          <a:xfrm>
            <a:off x="358350" y="1125900"/>
            <a:ext cx="84273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3.1 On Demand Self Service</a:t>
            </a:r>
            <a:endParaRPr b="1" i="0" sz="1700" u="none" cap="none" strike="noStrike">
              <a:solidFill>
                <a:srgbClr val="FF0000"/>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Pay-per-use pricing</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Rent out computer resources based on consumer demand</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Anything that includes providing hosted services via the internet</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Eliminates the need for hardware acquisition, upkeep, and upgrades</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Flexibility to meet fluctuating demands</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Cut costs</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1" i="0" lang="en-US" sz="1700" u="none" cap="none" strike="noStrike">
                <a:solidFill>
                  <a:schemeClr val="dk1"/>
                </a:solidFill>
                <a:latin typeface="Arial"/>
                <a:ea typeface="Arial"/>
                <a:cs typeface="Arial"/>
                <a:sym typeface="Arial"/>
              </a:rPr>
              <a:t>Example</a:t>
            </a:r>
            <a:r>
              <a:rPr b="0" i="0" lang="en-US" sz="1700" u="none" cap="none" strike="noStrike">
                <a:solidFill>
                  <a:schemeClr val="dk1"/>
                </a:solidFill>
                <a:latin typeface="Arial"/>
                <a:ea typeface="Arial"/>
                <a:cs typeface="Arial"/>
                <a:sym typeface="Arial"/>
              </a:rPr>
              <a:t>- On </a:t>
            </a:r>
            <a:r>
              <a:rPr b="1" i="0" lang="en-US" sz="1700" u="none" cap="none" strike="noStrike">
                <a:solidFill>
                  <a:schemeClr val="dk1"/>
                </a:solidFill>
                <a:latin typeface="Arial"/>
                <a:ea typeface="Arial"/>
                <a:cs typeface="Arial"/>
                <a:sym typeface="Arial"/>
              </a:rPr>
              <a:t>Netflix</a:t>
            </a:r>
            <a:r>
              <a:rPr b="0" i="0" lang="en-US" sz="1700" u="none" cap="none" strike="noStrike">
                <a:solidFill>
                  <a:schemeClr val="dk1"/>
                </a:solidFill>
                <a:latin typeface="Arial"/>
                <a:ea typeface="Arial"/>
                <a:cs typeface="Arial"/>
                <a:sym typeface="Arial"/>
              </a:rPr>
              <a:t>, when users start watching, cloud servers scale instantly during peak hours, more servers are allocated automatically</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1" i="0" lang="en-US" sz="1700" u="none" cap="none" strike="noStrike">
                <a:solidFill>
                  <a:schemeClr val="dk1"/>
                </a:solidFill>
                <a:latin typeface="Arial"/>
                <a:ea typeface="Arial"/>
                <a:cs typeface="Arial"/>
                <a:sym typeface="Arial"/>
              </a:rPr>
              <a:t>Salesforce</a:t>
            </a:r>
            <a:r>
              <a:rPr b="0" i="0" lang="en-US" sz="1700" u="none" cap="none" strike="noStrike">
                <a:solidFill>
                  <a:schemeClr val="dk1"/>
                </a:solidFill>
                <a:latin typeface="Arial"/>
                <a:ea typeface="Arial"/>
                <a:cs typeface="Arial"/>
                <a:sym typeface="Arial"/>
              </a:rPr>
              <a:t>- Company subscribes to CRM instantly, No installation or server setup, Users added or removed anytime</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1" i="0" lang="en-US" sz="1700" u="none" cap="none" strike="noStrike">
                <a:solidFill>
                  <a:schemeClr val="dk1"/>
                </a:solidFill>
                <a:latin typeface="Arial"/>
                <a:ea typeface="Arial"/>
                <a:cs typeface="Arial"/>
                <a:sym typeface="Arial"/>
              </a:rPr>
              <a:t>Google drive</a:t>
            </a:r>
            <a:endParaRPr b="1" i="0" sz="17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b34f1ccc17_0_86"/>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193" name="Google Shape;193;g3b34f1ccc17_0_86"/>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194" name="Google Shape;194;g3b34f1ccc17_0_86"/>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195" name="Google Shape;195;g3b34f1ccc17_0_86"/>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196" name="Google Shape;196;g3b34f1ccc17_0_86"/>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197" name="Google Shape;197;g3b34f1ccc17_0_86"/>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198" name="Google Shape;198;g3b34f1ccc17_0_86"/>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199" name="Google Shape;199;g3b34f1ccc17_0_86"/>
          <p:cNvSpPr/>
          <p:nvPr/>
        </p:nvSpPr>
        <p:spPr>
          <a:xfrm>
            <a:off x="358350" y="1125900"/>
            <a:ext cx="8327700" cy="4697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3.2 Broad Network Access</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Cloud services can be accessed via the internet using a variety of devices (laptops, desktops, tablets, and smartphones) from any location in the globe.</a:t>
            </a:r>
            <a:endParaRPr b="1" i="0" sz="1800" u="none" cap="none" strike="noStrike">
              <a:solidFill>
                <a:schemeClr val="dk1"/>
              </a:solidFill>
              <a:latin typeface="Arial"/>
              <a:ea typeface="Arial"/>
              <a:cs typeface="Arial"/>
              <a:sym typeface="Arial"/>
            </a:endParaRPr>
          </a:p>
        </p:txBody>
      </p:sp>
      <p:pic>
        <p:nvPicPr>
          <p:cNvPr id="200" name="Google Shape;200;g3b34f1ccc17_0_86"/>
          <p:cNvPicPr preferRelativeResize="0"/>
          <p:nvPr/>
        </p:nvPicPr>
        <p:blipFill rotWithShape="1">
          <a:blip r:embed="rId7">
            <a:alphaModFix/>
          </a:blip>
          <a:srcRect b="0" l="0" r="0" t="0"/>
          <a:stretch/>
        </p:blipFill>
        <p:spPr>
          <a:xfrm>
            <a:off x="1864700" y="1879045"/>
            <a:ext cx="5614351" cy="2368367"/>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b34f1ccc17_0_11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207" name="Google Shape;207;g3b34f1ccc17_0_113"/>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208" name="Google Shape;208;g3b34f1ccc17_0_11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09" name="Google Shape;209;g3b34f1ccc17_0_113"/>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10" name="Google Shape;210;g3b34f1ccc17_0_113"/>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11" name="Google Shape;211;g3b34f1ccc17_0_113"/>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212" name="Google Shape;212;g3b34f1ccc17_0_113"/>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213" name="Google Shape;213;g3b34f1ccc17_0_113"/>
          <p:cNvSpPr/>
          <p:nvPr/>
        </p:nvSpPr>
        <p:spPr>
          <a:xfrm>
            <a:off x="358350" y="1052736"/>
            <a:ext cx="8327700" cy="4770289"/>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3.3 Resource Pooling</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500" u="none" cap="none" strike="noStrike">
                <a:solidFill>
                  <a:schemeClr val="dk1"/>
                </a:solidFill>
                <a:latin typeface="Arial"/>
                <a:ea typeface="Arial"/>
                <a:cs typeface="Arial"/>
                <a:sym typeface="Arial"/>
              </a:rPr>
              <a:t>Resource pool is a group of resources that can be assigned to users. Resources of any kind, including computation, network, and storage, can be pooled.</a:t>
            </a:r>
            <a:endParaRPr b="0" i="0" sz="15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500" u="none" cap="none" strike="noStrike">
                <a:solidFill>
                  <a:schemeClr val="dk1"/>
                </a:solidFill>
                <a:latin typeface="Arial"/>
                <a:ea typeface="Arial"/>
                <a:cs typeface="Arial"/>
                <a:sym typeface="Arial"/>
              </a:rPr>
              <a:t>Resources are dynamically provided according to need rather than being permanently allocated to users.</a:t>
            </a:r>
            <a:endParaRPr b="0" i="0" sz="1500" u="none" cap="none" strike="noStrike">
              <a:solidFill>
                <a:schemeClr val="dk1"/>
              </a:solidFill>
              <a:latin typeface="Arial"/>
              <a:ea typeface="Arial"/>
              <a:cs typeface="Arial"/>
              <a:sym typeface="Arial"/>
            </a:endParaRPr>
          </a:p>
        </p:txBody>
      </p:sp>
      <p:pic>
        <p:nvPicPr>
          <p:cNvPr id="214" name="Google Shape;214;g3b34f1ccc17_0_113"/>
          <p:cNvPicPr preferRelativeResize="0"/>
          <p:nvPr/>
        </p:nvPicPr>
        <p:blipFill rotWithShape="1">
          <a:blip r:embed="rId7">
            <a:alphaModFix/>
          </a:blip>
          <a:srcRect b="0" l="0" r="0" t="0"/>
          <a:stretch/>
        </p:blipFill>
        <p:spPr>
          <a:xfrm>
            <a:off x="2005874" y="1515427"/>
            <a:ext cx="5344050" cy="268952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7"/>
          <p:cNvSpPr txBox="1"/>
          <p:nvPr>
            <p:ph type="title"/>
          </p:nvPr>
        </p:nvSpPr>
        <p:spPr>
          <a:xfrm>
            <a:off x="742800" y="2143502"/>
            <a:ext cx="7624200" cy="2571000"/>
          </a:xfrm>
          <a:prstGeom prst="rect">
            <a:avLst/>
          </a:prstGeom>
          <a:noFill/>
          <a:ln cap="flat" cmpd="sng" w="9525">
            <a:solidFill>
              <a:schemeClr val="dk1"/>
            </a:solidFill>
            <a:prstDash val="solid"/>
            <a:round/>
            <a:headEnd len="sm" w="sm" type="none"/>
            <a:tailEnd len="sm" w="sm" type="none"/>
          </a:ln>
        </p:spPr>
        <p:txBody>
          <a:bodyPr anchorCtr="0" anchor="b" bIns="45700" lIns="91425" spcFirstLastPara="1" rIns="91425" wrap="square" tIns="45700">
            <a:noAutofit/>
          </a:bodyPr>
          <a:lstStyle/>
          <a:p>
            <a:pPr indent="0" lvl="0" marL="0" marR="0" rtl="0" algn="l">
              <a:lnSpc>
                <a:spcPct val="150000"/>
              </a:lnSpc>
              <a:spcBef>
                <a:spcPts val="0"/>
              </a:spcBef>
              <a:spcAft>
                <a:spcPts val="0"/>
              </a:spcAft>
              <a:buSzPts val="1400"/>
              <a:buNone/>
            </a:pPr>
            <a:r>
              <a:rPr b="1" i="1" lang="en-US" sz="2400">
                <a:solidFill>
                  <a:srgbClr val="FF0000"/>
                </a:solidFill>
              </a:rPr>
              <a:t>In cloud computing, end users interact with applications rather than individual instances; instances are backend virtual machines that can serve multiple users and are allocated multiple computing resources.</a:t>
            </a:r>
            <a:endParaRPr b="1" i="1" sz="2400">
              <a:solidFill>
                <a:srgbClr val="FF0000"/>
              </a:solidFill>
            </a:endParaRPr>
          </a:p>
        </p:txBody>
      </p:sp>
      <p:pic>
        <p:nvPicPr>
          <p:cNvPr id="220" name="Google Shape;220;p1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21" name="Google Shape;221;p17"/>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22" name="Google Shape;222;p17"/>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23" name="Google Shape;223;p17"/>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b34f1ccc17_0_99"/>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230" name="Google Shape;230;g3b34f1ccc17_0_99"/>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231" name="Google Shape;231;g3b34f1ccc17_0_9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32" name="Google Shape;232;g3b34f1ccc17_0_99"/>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33" name="Google Shape;233;g3b34f1ccc17_0_99"/>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34" name="Google Shape;234;g3b34f1ccc17_0_99"/>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235" name="Google Shape;235;g3b34f1ccc17_0_99"/>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236" name="Google Shape;236;g3b34f1ccc17_0_99"/>
          <p:cNvSpPr/>
          <p:nvPr/>
        </p:nvSpPr>
        <p:spPr>
          <a:xfrm>
            <a:off x="358350" y="1182625"/>
            <a:ext cx="8327700" cy="46404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3.4 Rapid Elasticity</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p:txBody>
      </p:sp>
      <p:pic>
        <p:nvPicPr>
          <p:cNvPr id="237" name="Google Shape;237;g3b34f1ccc17_0_99"/>
          <p:cNvPicPr preferRelativeResize="0"/>
          <p:nvPr/>
        </p:nvPicPr>
        <p:blipFill rotWithShape="1">
          <a:blip r:embed="rId7">
            <a:alphaModFix/>
          </a:blip>
          <a:srcRect b="0" l="0" r="0" t="0"/>
          <a:stretch/>
        </p:blipFill>
        <p:spPr>
          <a:xfrm>
            <a:off x="801567" y="1813448"/>
            <a:ext cx="7441266" cy="3756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b34f1ccc17_0_127"/>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244" name="Google Shape;244;g3b34f1ccc17_0_127"/>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245" name="Google Shape;245;g3b34f1ccc17_0_12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46" name="Google Shape;246;g3b34f1ccc17_0_127"/>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47" name="Google Shape;247;g3b34f1ccc17_0_127"/>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48" name="Google Shape;248;g3b34f1ccc17_0_127"/>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249" name="Google Shape;249;g3b34f1ccc17_0_127"/>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250" name="Google Shape;250;g3b34f1ccc17_0_127"/>
          <p:cNvSpPr/>
          <p:nvPr/>
        </p:nvSpPr>
        <p:spPr>
          <a:xfrm>
            <a:off x="358350" y="1182625"/>
            <a:ext cx="8327700" cy="46404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3.4 Rapid Elasticity</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p:txBody>
      </p:sp>
      <p:pic>
        <p:nvPicPr>
          <p:cNvPr id="251" name="Google Shape;251;g3b34f1ccc17_0_127"/>
          <p:cNvPicPr preferRelativeResize="0"/>
          <p:nvPr/>
        </p:nvPicPr>
        <p:blipFill rotWithShape="1">
          <a:blip r:embed="rId7">
            <a:alphaModFix/>
          </a:blip>
          <a:srcRect b="0" l="0" r="0" t="0"/>
          <a:stretch/>
        </p:blipFill>
        <p:spPr>
          <a:xfrm>
            <a:off x="330225" y="1599088"/>
            <a:ext cx="8483550" cy="404281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b34f1ccc17_0_14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258" name="Google Shape;258;g3b34f1ccc17_0_143"/>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259" name="Google Shape;259;g3b34f1ccc17_0_14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60" name="Google Shape;260;g3b34f1ccc17_0_143"/>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61" name="Google Shape;261;g3b34f1ccc17_0_143"/>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62" name="Google Shape;262;g3b34f1ccc17_0_143"/>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263" name="Google Shape;263;g3b34f1ccc17_0_143"/>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Essential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264" name="Google Shape;264;g3b34f1ccc17_0_143"/>
          <p:cNvSpPr/>
          <p:nvPr/>
        </p:nvSpPr>
        <p:spPr>
          <a:xfrm>
            <a:off x="391050" y="999163"/>
            <a:ext cx="8327700" cy="46404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3.5 Measured Service</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1" i="0" sz="17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1" i="0" sz="15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1" i="0" sz="15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1" i="0" sz="15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1" i="0" sz="15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1" i="0" sz="15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p:txBody>
      </p:sp>
      <p:pic>
        <p:nvPicPr>
          <p:cNvPr id="265" name="Google Shape;265;g3b34f1ccc17_0_143"/>
          <p:cNvPicPr preferRelativeResize="0"/>
          <p:nvPr/>
        </p:nvPicPr>
        <p:blipFill rotWithShape="1">
          <a:blip r:embed="rId7">
            <a:alphaModFix/>
          </a:blip>
          <a:srcRect b="0" l="0" r="0" t="0"/>
          <a:stretch/>
        </p:blipFill>
        <p:spPr>
          <a:xfrm>
            <a:off x="883620" y="1556792"/>
            <a:ext cx="7835131" cy="402032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b3e7766c9d_0_0"/>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272" name="Google Shape;272;g3b3e7766c9d_0_0"/>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273" name="Google Shape;273;g3b3e7766c9d_0_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74" name="Google Shape;274;g3b3e7766c9d_0_0"/>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75" name="Google Shape;275;g3b3e7766c9d_0_0"/>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76" name="Google Shape;276;g3b3e7766c9d_0_0"/>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277" name="Google Shape;277;g3b3e7766c9d_0_0"/>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4. Cost Model</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278" name="Google Shape;278;g3b3e7766c9d_0_0"/>
          <p:cNvPicPr preferRelativeResize="0"/>
          <p:nvPr/>
        </p:nvPicPr>
        <p:blipFill rotWithShape="1">
          <a:blip r:embed="rId7">
            <a:alphaModFix/>
          </a:blip>
          <a:srcRect b="0" l="0" r="0" t="0"/>
          <a:stretch/>
        </p:blipFill>
        <p:spPr>
          <a:xfrm>
            <a:off x="2145800" y="1309682"/>
            <a:ext cx="4600575" cy="4238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b3e7766c9d_0_1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12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000000"/>
              </a:solidFill>
              <a:latin typeface="Times New Roman"/>
              <a:ea typeface="Times New Roman"/>
              <a:cs typeface="Times New Roman"/>
              <a:sym typeface="Times New Roman"/>
            </a:endParaRPr>
          </a:p>
        </p:txBody>
      </p:sp>
      <p:sp>
        <p:nvSpPr>
          <p:cNvPr id="285" name="Google Shape;285;g3b3e7766c9d_0_14"/>
          <p:cNvSpPr/>
          <p:nvPr/>
        </p:nvSpPr>
        <p:spPr>
          <a:xfrm>
            <a:off x="8505000" y="6426720"/>
            <a:ext cx="102300" cy="208200"/>
          </a:xfrm>
          <a:prstGeom prst="rect">
            <a:avLst/>
          </a:prstGeom>
          <a:noFill/>
          <a:ln>
            <a:noFill/>
          </a:ln>
        </p:spPr>
        <p:txBody>
          <a:bodyPr anchorCtr="0" anchor="t" bIns="0" lIns="0" spcFirstLastPara="1" rIns="0" wrap="square" tIns="12600">
            <a:noAutofit/>
          </a:bodyPr>
          <a:lstStyle/>
          <a:p>
            <a:pPr indent="0" lvl="0" marL="12599"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p:txBody>
      </p:sp>
      <p:pic>
        <p:nvPicPr>
          <p:cNvPr id="286" name="Google Shape;286;g3b3e7766c9d_0_1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id="287" name="Google Shape;287;g3b3e7766c9d_0_14"/>
          <p:cNvPicPr preferRelativeResize="0"/>
          <p:nvPr/>
        </p:nvPicPr>
        <p:blipFill rotWithShape="1">
          <a:blip r:embed="rId4">
            <a:alphaModFix/>
          </a:blip>
          <a:srcRect b="0" l="0" r="0" t="0"/>
          <a:stretch/>
        </p:blipFill>
        <p:spPr>
          <a:xfrm>
            <a:off x="-33480" y="6332400"/>
            <a:ext cx="6998399" cy="175320"/>
          </a:xfrm>
          <a:prstGeom prst="rect">
            <a:avLst/>
          </a:prstGeom>
          <a:noFill/>
          <a:ln>
            <a:noFill/>
          </a:ln>
        </p:spPr>
      </p:pic>
      <p:pic>
        <p:nvPicPr>
          <p:cNvPr descr="A picture containing drawing&#10;&#10;Description automatically generated" id="288" name="Google Shape;288;g3b3e7766c9d_0_14"/>
          <p:cNvPicPr preferRelativeResize="0"/>
          <p:nvPr/>
        </p:nvPicPr>
        <p:blipFill rotWithShape="1">
          <a:blip r:embed="rId5">
            <a:alphaModFix/>
          </a:blip>
          <a:srcRect b="0" l="0" r="0" t="0"/>
          <a:stretch/>
        </p:blipFill>
        <p:spPr>
          <a:xfrm>
            <a:off x="34200" y="5823000"/>
            <a:ext cx="1698840" cy="424080"/>
          </a:xfrm>
          <a:prstGeom prst="rect">
            <a:avLst/>
          </a:prstGeom>
          <a:noFill/>
          <a:ln>
            <a:noFill/>
          </a:ln>
        </p:spPr>
      </p:pic>
      <p:pic>
        <p:nvPicPr>
          <p:cNvPr descr="A close up of a sign&#10;&#10;Description automatically generated" id="289" name="Google Shape;289;g3b3e7766c9d_0_14"/>
          <p:cNvPicPr preferRelativeResize="0"/>
          <p:nvPr/>
        </p:nvPicPr>
        <p:blipFill rotWithShape="1">
          <a:blip r:embed="rId6">
            <a:alphaModFix/>
          </a:blip>
          <a:srcRect b="0" l="0" r="0" t="0"/>
          <a:stretch/>
        </p:blipFill>
        <p:spPr>
          <a:xfrm>
            <a:off x="8307720" y="5730120"/>
            <a:ext cx="654480" cy="424080"/>
          </a:xfrm>
          <a:prstGeom prst="rect">
            <a:avLst/>
          </a:prstGeom>
          <a:noFill/>
          <a:ln>
            <a:noFill/>
          </a:ln>
        </p:spPr>
      </p:pic>
      <p:sp>
        <p:nvSpPr>
          <p:cNvPr id="290" name="Google Shape;290;g3b3e7766c9d_0_14"/>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000"/>
              <a:buFont typeface="Arial"/>
              <a:buNone/>
            </a:pPr>
            <a:r>
              <a:rPr b="1" i="0" lang="en-US" sz="3000" u="none" cap="none" strike="noStrike">
                <a:solidFill>
                  <a:srgbClr val="FF0000"/>
                </a:solidFill>
                <a:latin typeface="Arial"/>
                <a:ea typeface="Arial"/>
                <a:cs typeface="Arial"/>
                <a:sym typeface="Arial"/>
              </a:rPr>
              <a:t>4. Cost Model</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291" name="Google Shape;291;g3b3e7766c9d_0_14"/>
          <p:cNvSpPr/>
          <p:nvPr/>
        </p:nvSpPr>
        <p:spPr>
          <a:xfrm>
            <a:off x="358350" y="1125900"/>
            <a:ext cx="4201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457200" marR="0" rtl="0" algn="ctr">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TRADITIONAL</a:t>
            </a:r>
            <a:endParaRPr b="1" i="0" sz="1700" u="none" cap="none" strike="noStrike">
              <a:solidFill>
                <a:srgbClr val="FF0000"/>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Users must acquire their own computer and peripheral equipment as capital expenses. </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rgbClr val="FF0000"/>
              </a:buClr>
              <a:buSzPts val="1700"/>
              <a:buFont typeface="Arial"/>
              <a:buChar char="●"/>
            </a:pPr>
            <a:r>
              <a:rPr b="1" i="0" lang="en-US" sz="1700" u="none" cap="none" strike="noStrike">
                <a:solidFill>
                  <a:srgbClr val="FF0000"/>
                </a:solidFill>
                <a:latin typeface="Arial"/>
                <a:ea typeface="Arial"/>
                <a:cs typeface="Arial"/>
                <a:sym typeface="Arial"/>
              </a:rPr>
              <a:t>Operational expenditures-  (Power &amp; cooling)</a:t>
            </a:r>
            <a:endParaRPr b="1" i="0" sz="1700" u="none" cap="none" strike="noStrike">
              <a:solidFill>
                <a:srgbClr val="FF0000"/>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maintaining the computer systems, including </a:t>
            </a:r>
            <a:r>
              <a:rPr b="1" i="0" lang="en-US" sz="1700" u="none" cap="none" strike="noStrike">
                <a:solidFill>
                  <a:srgbClr val="FF0000"/>
                </a:solidFill>
                <a:latin typeface="Arial"/>
                <a:ea typeface="Arial"/>
                <a:cs typeface="Arial"/>
                <a:sym typeface="Arial"/>
              </a:rPr>
              <a:t>personnel and service costs</a:t>
            </a:r>
            <a:r>
              <a:rPr b="0" i="0" lang="en-US" sz="1700" u="none" cap="none" strike="noStrike">
                <a:solidFill>
                  <a:schemeClr val="dk1"/>
                </a:solidFill>
                <a:latin typeface="Arial"/>
                <a:ea typeface="Arial"/>
                <a:cs typeface="Arial"/>
                <a:sym typeface="Arial"/>
              </a:rPr>
              <a:t>. </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1" i="0" lang="en-US" sz="1700" u="none" cap="none" strike="noStrike">
                <a:solidFill>
                  <a:srgbClr val="FF0000"/>
                </a:solidFill>
                <a:latin typeface="Arial"/>
                <a:ea typeface="Arial"/>
                <a:cs typeface="Arial"/>
                <a:sym typeface="Arial"/>
              </a:rPr>
              <a:t>operational costs</a:t>
            </a:r>
            <a:r>
              <a:rPr b="0" i="0" lang="en-US" sz="1700" u="none" cap="none" strike="noStrike">
                <a:solidFill>
                  <a:schemeClr val="dk1"/>
                </a:solidFill>
                <a:latin typeface="Arial"/>
                <a:ea typeface="Arial"/>
                <a:cs typeface="Arial"/>
                <a:sym typeface="Arial"/>
              </a:rPr>
              <a:t> increase sharply with a </a:t>
            </a:r>
            <a:r>
              <a:rPr b="1" i="0" lang="en-US" sz="1700" u="none" cap="none" strike="noStrike">
                <a:solidFill>
                  <a:srgbClr val="FF0000"/>
                </a:solidFill>
                <a:latin typeface="Arial"/>
                <a:ea typeface="Arial"/>
                <a:cs typeface="Arial"/>
                <a:sym typeface="Arial"/>
              </a:rPr>
              <a:t>larger number of users</a:t>
            </a:r>
            <a:r>
              <a:rPr b="0" i="0" lang="en-US" sz="1700" u="none" cap="none" strike="noStrike">
                <a:solidFill>
                  <a:schemeClr val="dk1"/>
                </a:solidFill>
                <a:latin typeface="Arial"/>
                <a:ea typeface="Arial"/>
                <a:cs typeface="Arial"/>
                <a:sym typeface="Arial"/>
              </a:rPr>
              <a:t>. </a:t>
            </a:r>
            <a:endParaRPr b="0" i="0" sz="1700" u="none" cap="none" strike="noStrike">
              <a:solidFill>
                <a:schemeClr val="dk1"/>
              </a:solidFill>
              <a:latin typeface="Arial"/>
              <a:ea typeface="Arial"/>
              <a:cs typeface="Arial"/>
              <a:sym typeface="Arial"/>
            </a:endParaRPr>
          </a:p>
        </p:txBody>
      </p:sp>
      <p:sp>
        <p:nvSpPr>
          <p:cNvPr id="292" name="Google Shape;292;g3b3e7766c9d_0_14"/>
          <p:cNvSpPr/>
          <p:nvPr/>
        </p:nvSpPr>
        <p:spPr>
          <a:xfrm>
            <a:off x="4980425" y="1125900"/>
            <a:ext cx="39819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457200" marR="0" rtl="0" algn="ctr">
              <a:lnSpc>
                <a:spcPct val="150000"/>
              </a:lnSpc>
              <a:spcBef>
                <a:spcPts val="0"/>
              </a:spcBef>
              <a:spcAft>
                <a:spcPts val="0"/>
              </a:spcAft>
              <a:buClr>
                <a:srgbClr val="000000"/>
              </a:buClr>
              <a:buSzPts val="1700"/>
              <a:buFont typeface="Arial"/>
              <a:buNone/>
            </a:pPr>
            <a:r>
              <a:rPr b="1" i="0" lang="en-US" sz="1700" u="none" cap="none" strike="noStrike">
                <a:solidFill>
                  <a:srgbClr val="FF0000"/>
                </a:solidFill>
                <a:latin typeface="Arial"/>
                <a:ea typeface="Arial"/>
                <a:cs typeface="Arial"/>
                <a:sym typeface="Arial"/>
              </a:rPr>
              <a:t>CLOUD COMPUTING </a:t>
            </a:r>
            <a:endParaRPr b="1" i="0" sz="1700" u="none" cap="none" strike="noStrike">
              <a:solidFill>
                <a:srgbClr val="FF0000"/>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Cloud computing applies a </a:t>
            </a:r>
            <a:r>
              <a:rPr b="1" i="0" lang="en-US" sz="1700" u="none" cap="none" strike="noStrike">
                <a:solidFill>
                  <a:srgbClr val="FF0000"/>
                </a:solidFill>
                <a:latin typeface="Arial"/>
                <a:ea typeface="Arial"/>
                <a:cs typeface="Arial"/>
                <a:sym typeface="Arial"/>
              </a:rPr>
              <a:t>pay-per-use business model</a:t>
            </a:r>
            <a:r>
              <a:rPr b="0" i="0" lang="en-US" sz="1700" u="none" cap="none" strike="noStrike">
                <a:solidFill>
                  <a:schemeClr val="dk1"/>
                </a:solidFill>
                <a:latin typeface="Arial"/>
                <a:ea typeface="Arial"/>
                <a:cs typeface="Arial"/>
                <a:sym typeface="Arial"/>
              </a:rPr>
              <a:t>, in which user jobs are outsourced to data centers. </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To use the cloud, one has </a:t>
            </a:r>
            <a:r>
              <a:rPr b="1" i="0" lang="en-US" sz="1700" u="none" cap="none" strike="noStrike">
                <a:solidFill>
                  <a:srgbClr val="FF0000"/>
                </a:solidFill>
                <a:latin typeface="Arial"/>
                <a:ea typeface="Arial"/>
                <a:cs typeface="Arial"/>
                <a:sym typeface="Arial"/>
              </a:rPr>
              <a:t>no up-front</a:t>
            </a:r>
            <a:r>
              <a:rPr b="0" i="0" lang="en-US" sz="1700" u="none" cap="none" strike="noStrike">
                <a:solidFill>
                  <a:schemeClr val="dk1"/>
                </a:solidFill>
                <a:latin typeface="Arial"/>
                <a:ea typeface="Arial"/>
                <a:cs typeface="Arial"/>
                <a:sym typeface="Arial"/>
              </a:rPr>
              <a:t> cost in </a:t>
            </a:r>
            <a:r>
              <a:rPr b="1" i="0" lang="en-US" sz="1700" u="none" cap="none" strike="noStrike">
                <a:solidFill>
                  <a:srgbClr val="FF0000"/>
                </a:solidFill>
                <a:latin typeface="Arial"/>
                <a:ea typeface="Arial"/>
                <a:cs typeface="Arial"/>
                <a:sym typeface="Arial"/>
              </a:rPr>
              <a:t>hardware acquisitions</a:t>
            </a:r>
            <a:r>
              <a:rPr b="0" i="0" lang="en-US" sz="1700" u="none" cap="none" strike="noStrike">
                <a:solidFill>
                  <a:schemeClr val="dk1"/>
                </a:solidFill>
                <a:latin typeface="Arial"/>
                <a:ea typeface="Arial"/>
                <a:cs typeface="Arial"/>
                <a:sym typeface="Arial"/>
              </a:rPr>
              <a:t>. </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Only variable costs are experienced by cloud users</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8"/>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Is this Cloud or not ?</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299" name="Google Shape;299;p18"/>
          <p:cNvSpPr/>
          <p:nvPr/>
        </p:nvSpPr>
        <p:spPr>
          <a:xfrm>
            <a:off x="460375"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300" name="Google Shape;300;p18"/>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01" name="Google Shape;301;p18"/>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302" name="Google Shape;302;p18"/>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303" name="Google Shape;303;p18"/>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descr="Gmail Login to Multiple accounts: How ..." id="304" name="Google Shape;304;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05" name="Google Shape;305;p18"/>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06" name="Google Shape;306;p18"/>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07" name="Google Shape;307;p18"/>
          <p:cNvSpPr/>
          <p:nvPr/>
        </p:nvSpPr>
        <p:spPr>
          <a:xfrm>
            <a:off x="612775" y="3127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8" name="Google Shape;308;p18"/>
          <p:cNvPicPr preferRelativeResize="0"/>
          <p:nvPr/>
        </p:nvPicPr>
        <p:blipFill rotWithShape="1">
          <a:blip r:embed="rId7">
            <a:alphaModFix/>
          </a:blip>
          <a:srcRect b="0" l="0" r="0" t="0"/>
          <a:stretch/>
        </p:blipFill>
        <p:spPr>
          <a:xfrm>
            <a:off x="754605" y="1268760"/>
            <a:ext cx="2857500" cy="1600200"/>
          </a:xfrm>
          <a:prstGeom prst="rect">
            <a:avLst/>
          </a:prstGeom>
          <a:noFill/>
          <a:ln>
            <a:noFill/>
          </a:ln>
        </p:spPr>
      </p:pic>
      <p:sp>
        <p:nvSpPr>
          <p:cNvPr descr="Zoom Workplace - App on Amazon Appstore" id="309" name="Google Shape;309;p18"/>
          <p:cNvSpPr/>
          <p:nvPr/>
        </p:nvSpPr>
        <p:spPr>
          <a:xfrm>
            <a:off x="765175" y="4651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10" name="Google Shape;310;p18"/>
          <p:cNvSpPr/>
          <p:nvPr/>
        </p:nvSpPr>
        <p:spPr>
          <a:xfrm>
            <a:off x="917575" y="6175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11" name="Google Shape;311;p18"/>
          <p:cNvSpPr/>
          <p:nvPr/>
        </p:nvSpPr>
        <p:spPr>
          <a:xfrm>
            <a:off x="1069975" y="769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2" name="Google Shape;312;p18"/>
          <p:cNvPicPr preferRelativeResize="0"/>
          <p:nvPr/>
        </p:nvPicPr>
        <p:blipFill rotWithShape="1">
          <a:blip r:embed="rId8">
            <a:alphaModFix/>
          </a:blip>
          <a:srcRect b="0" l="0" r="0" t="0"/>
          <a:stretch/>
        </p:blipFill>
        <p:spPr>
          <a:xfrm>
            <a:off x="5893356" y="1325031"/>
            <a:ext cx="2143125" cy="2143125"/>
          </a:xfrm>
          <a:prstGeom prst="rect">
            <a:avLst/>
          </a:prstGeom>
          <a:noFill/>
          <a:ln>
            <a:noFill/>
          </a:ln>
        </p:spPr>
      </p:pic>
      <p:sp>
        <p:nvSpPr>
          <p:cNvPr id="313" name="Google Shape;313;p18"/>
          <p:cNvSpPr/>
          <p:nvPr/>
        </p:nvSpPr>
        <p:spPr>
          <a:xfrm>
            <a:off x="2915816" y="3468156"/>
            <a:ext cx="2353270" cy="1368152"/>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Accessing College ERP software through VPN</a:t>
            </a:r>
            <a:endParaRPr b="1" i="0" sz="20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9"/>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Match the Cloud Characteristics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320" name="Google Shape;320;p19"/>
          <p:cNvSpPr/>
          <p:nvPr/>
        </p:nvSpPr>
        <p:spPr>
          <a:xfrm>
            <a:off x="460375"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321" name="Google Shape;321;p1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22" name="Google Shape;322;p19"/>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323" name="Google Shape;323;p19"/>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324" name="Google Shape;324;p19"/>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descr="Gmail Login to Multiple accounts: How ..." id="325" name="Google Shape;325;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26" name="Google Shape;326;p19"/>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27" name="Google Shape;327;p19"/>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28" name="Google Shape;328;p19"/>
          <p:cNvSpPr/>
          <p:nvPr/>
        </p:nvSpPr>
        <p:spPr>
          <a:xfrm>
            <a:off x="612775" y="3127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29" name="Google Shape;329;p19"/>
          <p:cNvSpPr/>
          <p:nvPr/>
        </p:nvSpPr>
        <p:spPr>
          <a:xfrm>
            <a:off x="765175" y="4651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30" name="Google Shape;330;p19"/>
          <p:cNvSpPr/>
          <p:nvPr/>
        </p:nvSpPr>
        <p:spPr>
          <a:xfrm>
            <a:off x="917575" y="6175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31" name="Google Shape;331;p19"/>
          <p:cNvSpPr/>
          <p:nvPr/>
        </p:nvSpPr>
        <p:spPr>
          <a:xfrm>
            <a:off x="1069975" y="769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9"/>
          <p:cNvSpPr txBox="1"/>
          <p:nvPr/>
        </p:nvSpPr>
        <p:spPr>
          <a:xfrm>
            <a:off x="612776" y="2060848"/>
            <a:ext cx="2231032" cy="2062103"/>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On-Demand Self-Service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Broad Network Access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Resource Pooling</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Rapid Elasticity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Measured Service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3" name="Google Shape;333;p19"/>
          <p:cNvSpPr txBox="1"/>
          <p:nvPr/>
        </p:nvSpPr>
        <p:spPr>
          <a:xfrm>
            <a:off x="3131840" y="1412776"/>
            <a:ext cx="5212455" cy="424731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A cloud user is billed only for the number of GB stored and the hours of virtual machine usage.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Multiple users from different colleges store files on the same cloud platform, but each user’s data remains isolated.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During online exam registration, the system automatically adds more servers to handle increased traffic and removes them afterward.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student creates a Google Drive folder instantly without contacting IT staff.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lphaUcPeriod"/>
            </a:pPr>
            <a:r>
              <a:rPr b="0" i="0" lang="en-US" sz="1800" u="none" cap="none" strike="noStrike">
                <a:solidFill>
                  <a:srgbClr val="000000"/>
                </a:solidFill>
                <a:latin typeface="Arial"/>
                <a:ea typeface="Arial"/>
                <a:cs typeface="Arial"/>
                <a:sym typeface="Arial"/>
              </a:rPr>
              <a:t>A faculty member accesses the same cloud document from a mobile phone, laptop, and lab computer.</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g3b34f1ccc17_0_0"/>
          <p:cNvPicPr preferRelativeResize="0"/>
          <p:nvPr/>
        </p:nvPicPr>
        <p:blipFill rotWithShape="1">
          <a:blip r:embed="rId3">
            <a:alphaModFix/>
          </a:blip>
          <a:srcRect b="0" l="0" r="0" t="0"/>
          <a:stretch/>
        </p:blipFill>
        <p:spPr>
          <a:xfrm>
            <a:off x="1568100" y="860943"/>
            <a:ext cx="6483299" cy="5136120"/>
          </a:xfrm>
          <a:prstGeom prst="rect">
            <a:avLst/>
          </a:prstGeom>
          <a:noFill/>
          <a:ln>
            <a:noFill/>
          </a:ln>
        </p:spPr>
      </p:pic>
      <p:sp>
        <p:nvSpPr>
          <p:cNvPr id="340" name="Google Shape;340;g3b34f1ccc17_0_0"/>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5. Cloud Design Objectives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341" name="Google Shape;341;g3b34f1ccc17_0_0"/>
          <p:cNvPicPr preferRelativeResize="0"/>
          <p:nvPr/>
        </p:nvPicPr>
        <p:blipFill rotWithShape="1">
          <a:blip r:embed="rId4">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42" name="Google Shape;342;g3b34f1ccc17_0_0"/>
          <p:cNvPicPr preferRelativeResize="0"/>
          <p:nvPr/>
        </p:nvPicPr>
        <p:blipFill rotWithShape="1">
          <a:blip r:embed="rId5">
            <a:alphaModFix/>
          </a:blip>
          <a:srcRect b="0" l="0" r="0" t="0"/>
          <a:stretch/>
        </p:blipFill>
        <p:spPr>
          <a:xfrm>
            <a:off x="-33475" y="5908325"/>
            <a:ext cx="1698840" cy="424080"/>
          </a:xfrm>
          <a:prstGeom prst="rect">
            <a:avLst/>
          </a:prstGeom>
          <a:noFill/>
          <a:ln>
            <a:noFill/>
          </a:ln>
        </p:spPr>
      </p:pic>
      <p:pic>
        <p:nvPicPr>
          <p:cNvPr descr="A close up of a sign&#10;&#10;Description automatically generated" id="343" name="Google Shape;343;g3b34f1ccc17_0_0"/>
          <p:cNvPicPr preferRelativeResize="0"/>
          <p:nvPr/>
        </p:nvPicPr>
        <p:blipFill rotWithShape="1">
          <a:blip r:embed="rId6">
            <a:alphaModFix/>
          </a:blip>
          <a:srcRect b="0" l="0" r="0" t="0"/>
          <a:stretch/>
        </p:blipFill>
        <p:spPr>
          <a:xfrm>
            <a:off x="8362570" y="5908320"/>
            <a:ext cx="654480" cy="424080"/>
          </a:xfrm>
          <a:prstGeom prst="rect">
            <a:avLst/>
          </a:prstGeom>
          <a:noFill/>
          <a:ln>
            <a:noFill/>
          </a:ln>
        </p:spPr>
      </p:pic>
      <p:pic>
        <p:nvPicPr>
          <p:cNvPr id="344" name="Google Shape;344;g3b34f1ccc17_0_0"/>
          <p:cNvPicPr preferRelativeResize="0"/>
          <p:nvPr/>
        </p:nvPicPr>
        <p:blipFill rotWithShape="1">
          <a:blip r:embed="rId7">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0"/>
          <p:cNvSpPr txBox="1"/>
          <p:nvPr>
            <p:ph idx="2" type="body"/>
          </p:nvPr>
        </p:nvSpPr>
        <p:spPr>
          <a:xfrm>
            <a:off x="457200" y="1434960"/>
            <a:ext cx="8435280" cy="985928"/>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3600" u="sng">
                <a:solidFill>
                  <a:schemeClr val="hlink"/>
                </a:solidFill>
                <a:hlinkClick r:id="rId3"/>
              </a:rPr>
              <a:t>https://www.masterborn.com/blog/cloud-vendor-lock-in-4-real-life-scenarios-and-lessons-learned</a:t>
            </a:r>
            <a:endParaRPr sz="3600"/>
          </a:p>
          <a:p>
            <a:pPr indent="-228600" lvl="0" marL="457200" marR="0" rtl="0" algn="l">
              <a:lnSpc>
                <a:spcPct val="100000"/>
              </a:lnSpc>
              <a:spcBef>
                <a:spcPts val="0"/>
              </a:spcBef>
              <a:spcAft>
                <a:spcPts val="0"/>
              </a:spcAft>
              <a:buSzPts val="1400"/>
              <a:buNone/>
            </a:pPr>
            <a:r>
              <a:t/>
            </a:r>
            <a:endParaRPr sz="3600"/>
          </a:p>
          <a:p>
            <a:pPr indent="-228600" lvl="0" marL="457200" marR="0" rtl="0" algn="l">
              <a:lnSpc>
                <a:spcPct val="100000"/>
              </a:lnSpc>
              <a:spcBef>
                <a:spcPts val="0"/>
              </a:spcBef>
              <a:spcAft>
                <a:spcPts val="0"/>
              </a:spcAft>
              <a:buSzPts val="1400"/>
              <a:buNone/>
            </a:pPr>
            <a:r>
              <a:t/>
            </a:r>
            <a:endParaRPr sz="3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4" name="Shape 354"/>
        <p:cNvGrpSpPr/>
        <p:nvPr/>
      </p:nvGrpSpPr>
      <p:grpSpPr>
        <a:xfrm>
          <a:off x="0" y="0"/>
          <a:ext cx="0" cy="0"/>
          <a:chOff x="0" y="0"/>
          <a:chExt cx="0" cy="0"/>
        </a:xfrm>
      </p:grpSpPr>
      <p:sp>
        <p:nvSpPr>
          <p:cNvPr id="355" name="Google Shape;355;p21"/>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Role Play- Cloud Provider vs Cloud User</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356" name="Google Shape;356;p21"/>
          <p:cNvSpPr/>
          <p:nvPr/>
        </p:nvSpPr>
        <p:spPr>
          <a:xfrm>
            <a:off x="460375"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357" name="Google Shape;357;p2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58" name="Google Shape;358;p21"/>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359" name="Google Shape;359;p21"/>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360" name="Google Shape;360;p21"/>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descr="Gmail Login to Multiple accounts: How ..." id="361" name="Google Shape;361;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62" name="Google Shape;362;p21"/>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63" name="Google Shape;363;p21"/>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Gmail Login to Multiple accounts: How ..." id="364" name="Google Shape;364;p21"/>
          <p:cNvSpPr/>
          <p:nvPr/>
        </p:nvSpPr>
        <p:spPr>
          <a:xfrm>
            <a:off x="612775" y="3127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65" name="Google Shape;365;p21"/>
          <p:cNvSpPr/>
          <p:nvPr/>
        </p:nvSpPr>
        <p:spPr>
          <a:xfrm>
            <a:off x="765175" y="4651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66" name="Google Shape;366;p21"/>
          <p:cNvSpPr/>
          <p:nvPr/>
        </p:nvSpPr>
        <p:spPr>
          <a:xfrm>
            <a:off x="917575" y="6175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Zoom Workplace - App on Amazon Appstore" id="367" name="Google Shape;367;p21"/>
          <p:cNvSpPr/>
          <p:nvPr/>
        </p:nvSpPr>
        <p:spPr>
          <a:xfrm>
            <a:off x="1069975" y="769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21"/>
          <p:cNvSpPr txBox="1"/>
          <p:nvPr/>
        </p:nvSpPr>
        <p:spPr>
          <a:xfrm>
            <a:off x="765174" y="2060848"/>
            <a:ext cx="2078633" cy="2308324"/>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Groups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Arial"/>
                <a:ea typeface="Arial"/>
                <a:cs typeface="Arial"/>
                <a:sym typeface="Arial"/>
              </a:rPr>
              <a:t>Group A</a:t>
            </a:r>
            <a:r>
              <a:rPr b="0" i="0" lang="en-US" sz="1800" u="none" cap="none" strike="noStrike">
                <a:solidFill>
                  <a:srgbClr val="000000"/>
                </a:solidFill>
                <a:latin typeface="Arial"/>
                <a:ea typeface="Arial"/>
                <a:cs typeface="Arial"/>
                <a:sym typeface="Arial"/>
              </a:rPr>
              <a:t> → Cloud Provider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Arial"/>
                <a:ea typeface="Arial"/>
                <a:cs typeface="Arial"/>
                <a:sym typeface="Arial"/>
              </a:rPr>
              <a:t>Group B </a:t>
            </a:r>
            <a:r>
              <a:rPr b="0" i="0" lang="en-US" sz="1800" u="none" cap="none" strike="noStrike">
                <a:solidFill>
                  <a:srgbClr val="000000"/>
                </a:solidFill>
                <a:latin typeface="Arial"/>
                <a:ea typeface="Arial"/>
                <a:cs typeface="Arial"/>
                <a:sym typeface="Arial"/>
              </a:rPr>
              <a:t>→ College (Cloud User)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9" name="Google Shape;369;p21"/>
          <p:cNvSpPr txBox="1"/>
          <p:nvPr/>
        </p:nvSpPr>
        <p:spPr>
          <a:xfrm>
            <a:off x="3131840" y="1412776"/>
            <a:ext cx="5212455" cy="424731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Questions asked by Group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Questions asked by Group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3b3e7766c9d_0_31"/>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6. Cloud Computing 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457200" lvl="0" marL="457200" marR="0" rtl="0" algn="l">
              <a:lnSpc>
                <a:spcPct val="100000"/>
              </a:lnSpc>
              <a:spcBef>
                <a:spcPts val="0"/>
              </a:spcBef>
              <a:spcAft>
                <a:spcPts val="0"/>
              </a:spcAft>
              <a:buSzPts val="3600"/>
              <a:buAutoNum type="arabicPeriod"/>
            </a:pPr>
            <a:r>
              <a:rPr lang="en-US" sz="3600"/>
              <a:t>Pay as you go</a:t>
            </a:r>
            <a:endParaRPr sz="3600"/>
          </a:p>
          <a:p>
            <a:pPr indent="-457200" lvl="0" marL="457200" marR="0" rtl="0" algn="l">
              <a:lnSpc>
                <a:spcPct val="100000"/>
              </a:lnSpc>
              <a:spcBef>
                <a:spcPts val="0"/>
              </a:spcBef>
              <a:spcAft>
                <a:spcPts val="0"/>
              </a:spcAft>
              <a:buSzPts val="3600"/>
              <a:buAutoNum type="arabicPeriod"/>
            </a:pPr>
            <a:r>
              <a:rPr lang="en-US" sz="3600"/>
              <a:t>Cost saving</a:t>
            </a:r>
            <a:endParaRPr sz="3600"/>
          </a:p>
          <a:p>
            <a:pPr indent="-457200" lvl="0" marL="457200" marR="0" rtl="0" algn="l">
              <a:lnSpc>
                <a:spcPct val="100000"/>
              </a:lnSpc>
              <a:spcBef>
                <a:spcPts val="0"/>
              </a:spcBef>
              <a:spcAft>
                <a:spcPts val="0"/>
              </a:spcAft>
              <a:buSzPts val="3600"/>
              <a:buAutoNum type="arabicPeriod"/>
            </a:pPr>
            <a:r>
              <a:rPr lang="en-US" sz="3600"/>
              <a:t>Ease of Access (in case of Data loss)</a:t>
            </a:r>
            <a:endParaRPr sz="3600"/>
          </a:p>
          <a:p>
            <a:pPr indent="-457200" lvl="0" marL="457200" marR="0" rtl="0" algn="l">
              <a:lnSpc>
                <a:spcPct val="100000"/>
              </a:lnSpc>
              <a:spcBef>
                <a:spcPts val="0"/>
              </a:spcBef>
              <a:spcAft>
                <a:spcPts val="0"/>
              </a:spcAft>
              <a:buSzPts val="3600"/>
              <a:buAutoNum type="arabicPeriod"/>
            </a:pPr>
            <a:r>
              <a:rPr lang="en-US" sz="3600"/>
              <a:t>scalability</a:t>
            </a:r>
            <a:endParaRPr sz="3600"/>
          </a:p>
          <a:p>
            <a:pPr indent="-457200" lvl="0" marL="457200" marR="0" rtl="0" algn="l">
              <a:lnSpc>
                <a:spcPct val="100000"/>
              </a:lnSpc>
              <a:spcBef>
                <a:spcPts val="0"/>
              </a:spcBef>
              <a:spcAft>
                <a:spcPts val="0"/>
              </a:spcAft>
              <a:buSzPts val="3600"/>
              <a:buAutoNum type="arabicPeriod"/>
            </a:pPr>
            <a:r>
              <a:rPr lang="en-US" sz="3600"/>
              <a:t>Flexibility</a:t>
            </a:r>
            <a:endParaRPr sz="3600"/>
          </a:p>
          <a:p>
            <a:pPr indent="-323850" lvl="0" marL="51435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376" name="Google Shape;376;g3b3e7766c9d_0_3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77" name="Google Shape;377;g3b3e7766c9d_0_31"/>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378" name="Google Shape;378;g3b3e7766c9d_0_31"/>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379" name="Google Shape;379;g3b3e7766c9d_0_31"/>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4" name="Shape 384"/>
        <p:cNvGrpSpPr/>
        <p:nvPr/>
      </p:nvGrpSpPr>
      <p:grpSpPr>
        <a:xfrm>
          <a:off x="0" y="0"/>
          <a:ext cx="0" cy="0"/>
          <a:chOff x="0" y="0"/>
          <a:chExt cx="0" cy="0"/>
        </a:xfrm>
      </p:grpSpPr>
      <p:sp>
        <p:nvSpPr>
          <p:cNvPr id="385" name="Google Shape;385;g3b3e7766c9d_0_44"/>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5. Cloud Computing 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386" name="Google Shape;386;g3b3e7766c9d_0_44"/>
          <p:cNvSpPr/>
          <p:nvPr/>
        </p:nvSpPr>
        <p:spPr>
          <a:xfrm>
            <a:off x="358350" y="11259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Lower computer costs: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No need of a high-powered and high-priced computer to run cloud computing's web-based applications.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Since applications run in the cloud, not on the desktop PC, your desktop PC does not need the processing power or hard disk space demanded by traditional desktop software.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When you are using web-based applications, your PC can be less expensive, with a smaller hard disk, less memory, more efficient processor</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PC in this scenario does not even need a CD or DVD drive, as no software programs have to be loaded and no document files need to be saved.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387" name="Google Shape;387;g3b3e7766c9d_0_4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88" name="Google Shape;388;g3b3e7766c9d_0_44"/>
          <p:cNvPicPr preferRelativeResize="0"/>
          <p:nvPr/>
        </p:nvPicPr>
        <p:blipFill rotWithShape="1">
          <a:blip r:embed="rId4">
            <a:alphaModFix/>
          </a:blip>
          <a:srcRect b="0" l="0" r="0" t="0"/>
          <a:stretch/>
        </p:blipFill>
        <p:spPr>
          <a:xfrm>
            <a:off x="0" y="5865650"/>
            <a:ext cx="1698840" cy="424080"/>
          </a:xfrm>
          <a:prstGeom prst="rect">
            <a:avLst/>
          </a:prstGeom>
          <a:noFill/>
          <a:ln>
            <a:noFill/>
          </a:ln>
        </p:spPr>
      </p:pic>
      <p:pic>
        <p:nvPicPr>
          <p:cNvPr descr="A close up of a sign&#10;&#10;Description automatically generated" id="389" name="Google Shape;389;g3b3e7766c9d_0_44"/>
          <p:cNvPicPr preferRelativeResize="0"/>
          <p:nvPr/>
        </p:nvPicPr>
        <p:blipFill rotWithShape="1">
          <a:blip r:embed="rId5">
            <a:alphaModFix/>
          </a:blip>
          <a:srcRect b="0" l="0" r="0" t="0"/>
          <a:stretch/>
        </p:blipFill>
        <p:spPr>
          <a:xfrm>
            <a:off x="8271145" y="5865645"/>
            <a:ext cx="654480" cy="424080"/>
          </a:xfrm>
          <a:prstGeom prst="rect">
            <a:avLst/>
          </a:prstGeom>
          <a:noFill/>
          <a:ln>
            <a:noFill/>
          </a:ln>
        </p:spPr>
      </p:pic>
      <p:pic>
        <p:nvPicPr>
          <p:cNvPr id="390" name="Google Shape;390;g3b3e7766c9d_0_4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5" name="Shape 395"/>
        <p:cNvGrpSpPr/>
        <p:nvPr/>
      </p:nvGrpSpPr>
      <p:grpSpPr>
        <a:xfrm>
          <a:off x="0" y="0"/>
          <a:ext cx="0" cy="0"/>
          <a:chOff x="0" y="0"/>
          <a:chExt cx="0" cy="0"/>
        </a:xfrm>
      </p:grpSpPr>
      <p:sp>
        <p:nvSpPr>
          <p:cNvPr id="396" name="Google Shape;396;g3b3e7766c9d_0_50"/>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5. Cloud Computing 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397" name="Google Shape;397;g3b3e7766c9d_0_50"/>
          <p:cNvSpPr/>
          <p:nvPr/>
        </p:nvSpPr>
        <p:spPr>
          <a:xfrm>
            <a:off x="358350" y="1125900"/>
            <a:ext cx="8604000" cy="4820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2. Improved performance: </a:t>
            </a:r>
            <a:endParaRPr b="1"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With few large programs hogging your computer's memory, you will see better performance from your PC. </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Computers in a cloud computing system boot and run faster because they have fewer programs and processes loaded into memory.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3. Reduced software costs: </a:t>
            </a:r>
            <a:endParaRPr b="1"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Instead of purchasing expensive software applications, you can get most of what you need for free.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4. Improved document format compatibility. </a:t>
            </a:r>
            <a:endParaRPr b="1"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–You do not have to worry about the documents you create on your machine being compatible with other users' applications or OS.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–There are less format incompatibilities when everyone is sharing documents and applications in the cloud.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pic>
        <p:nvPicPr>
          <p:cNvPr id="398" name="Google Shape;398;g3b3e7766c9d_0_5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399" name="Google Shape;399;g3b3e7766c9d_0_50"/>
          <p:cNvPicPr preferRelativeResize="0"/>
          <p:nvPr/>
        </p:nvPicPr>
        <p:blipFill rotWithShape="1">
          <a:blip r:embed="rId4">
            <a:alphaModFix/>
          </a:blip>
          <a:srcRect b="0" l="0" r="0" t="0"/>
          <a:stretch/>
        </p:blipFill>
        <p:spPr>
          <a:xfrm>
            <a:off x="0" y="5865663"/>
            <a:ext cx="1698840" cy="424080"/>
          </a:xfrm>
          <a:prstGeom prst="rect">
            <a:avLst/>
          </a:prstGeom>
          <a:noFill/>
          <a:ln>
            <a:noFill/>
          </a:ln>
        </p:spPr>
      </p:pic>
      <p:pic>
        <p:nvPicPr>
          <p:cNvPr descr="A close up of a sign&#10;&#10;Description automatically generated" id="400" name="Google Shape;400;g3b3e7766c9d_0_50"/>
          <p:cNvPicPr preferRelativeResize="0"/>
          <p:nvPr/>
        </p:nvPicPr>
        <p:blipFill rotWithShape="1">
          <a:blip r:embed="rId5">
            <a:alphaModFix/>
          </a:blip>
          <a:srcRect b="0" l="0" r="0" t="0"/>
          <a:stretch/>
        </p:blipFill>
        <p:spPr>
          <a:xfrm>
            <a:off x="8307720" y="5945933"/>
            <a:ext cx="654480" cy="424080"/>
          </a:xfrm>
          <a:prstGeom prst="rect">
            <a:avLst/>
          </a:prstGeom>
          <a:noFill/>
          <a:ln>
            <a:noFill/>
          </a:ln>
        </p:spPr>
      </p:pic>
      <p:pic>
        <p:nvPicPr>
          <p:cNvPr id="401" name="Google Shape;401;g3b3e7766c9d_0_50"/>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6" name="Shape 406"/>
        <p:cNvGrpSpPr/>
        <p:nvPr/>
      </p:nvGrpSpPr>
      <p:grpSpPr>
        <a:xfrm>
          <a:off x="0" y="0"/>
          <a:ext cx="0" cy="0"/>
          <a:chOff x="0" y="0"/>
          <a:chExt cx="0" cy="0"/>
        </a:xfrm>
      </p:grpSpPr>
      <p:sp>
        <p:nvSpPr>
          <p:cNvPr id="407" name="Google Shape;407;g3b3e7766c9d_0_75"/>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5. Cloud Computing 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408" name="Google Shape;408;g3b3e7766c9d_0_75"/>
          <p:cNvSpPr/>
          <p:nvPr/>
        </p:nvSpPr>
        <p:spPr>
          <a:xfrm>
            <a:off x="358350" y="1125900"/>
            <a:ext cx="8604000" cy="4820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5. Instant software updates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 No longer faced with choosing between obsolete software and high upgrade costs.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When the application is web-based, updates happen automatically available the next time you log into the cloud.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When you access a web-based application, you get the latest version without needing to pay for or download an upgrade.</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6. Unlimited storage capacity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Cloud computing offers virtually limitless storage.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Your computer's current 1 Tera Bytes hard drive is small compared to the hundreds of Peta Bytes available in the cloud.</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409" name="Google Shape;409;g3b3e7766c9d_0_75"/>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10" name="Google Shape;410;g3b3e7766c9d_0_75"/>
          <p:cNvPicPr preferRelativeResize="0"/>
          <p:nvPr/>
        </p:nvPicPr>
        <p:blipFill rotWithShape="1">
          <a:blip r:embed="rId4">
            <a:alphaModFix/>
          </a:blip>
          <a:srcRect b="0" l="0" r="0" t="0"/>
          <a:stretch/>
        </p:blipFill>
        <p:spPr>
          <a:xfrm>
            <a:off x="0" y="5865663"/>
            <a:ext cx="1698840" cy="424080"/>
          </a:xfrm>
          <a:prstGeom prst="rect">
            <a:avLst/>
          </a:prstGeom>
          <a:noFill/>
          <a:ln>
            <a:noFill/>
          </a:ln>
        </p:spPr>
      </p:pic>
      <p:pic>
        <p:nvPicPr>
          <p:cNvPr descr="A close up of a sign&#10;&#10;Description automatically generated" id="411" name="Google Shape;411;g3b3e7766c9d_0_75"/>
          <p:cNvPicPr preferRelativeResize="0"/>
          <p:nvPr/>
        </p:nvPicPr>
        <p:blipFill rotWithShape="1">
          <a:blip r:embed="rId5">
            <a:alphaModFix/>
          </a:blip>
          <a:srcRect b="0" l="0" r="0" t="0"/>
          <a:stretch/>
        </p:blipFill>
        <p:spPr>
          <a:xfrm>
            <a:off x="8307720" y="5945933"/>
            <a:ext cx="654480" cy="424080"/>
          </a:xfrm>
          <a:prstGeom prst="rect">
            <a:avLst/>
          </a:prstGeom>
          <a:noFill/>
          <a:ln>
            <a:noFill/>
          </a:ln>
        </p:spPr>
      </p:pic>
      <p:pic>
        <p:nvPicPr>
          <p:cNvPr id="412" name="Google Shape;412;g3b3e7766c9d_0_75"/>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7" name="Shape 417"/>
        <p:cNvGrpSpPr/>
        <p:nvPr/>
      </p:nvGrpSpPr>
      <p:grpSpPr>
        <a:xfrm>
          <a:off x="0" y="0"/>
          <a:ext cx="0" cy="0"/>
          <a:chOff x="0" y="0"/>
          <a:chExt cx="0" cy="0"/>
        </a:xfrm>
      </p:grpSpPr>
      <p:sp>
        <p:nvSpPr>
          <p:cNvPr id="418" name="Google Shape;418;g3b3e7766c9d_0_85"/>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5. Cloud Computing 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419" name="Google Shape;419;g3b3e7766c9d_0_85"/>
          <p:cNvSpPr/>
          <p:nvPr/>
        </p:nvSpPr>
        <p:spPr>
          <a:xfrm>
            <a:off x="358350" y="1125900"/>
            <a:ext cx="8604000" cy="4820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7. Increased data reliability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Unlike desktop computing, in which if a hard disk crashes and destroy all your valuable data, a computer crashing in the cloud should not affect the storage of your data.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If your personal computer crashes, all your data is still out there in the cloud, still accessible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8. Universal information access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access your work whenever you have a computer and an Internet connection</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9. Easier group collaboration </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10. Device independence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You are no longer tethered to a single computer or network. </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420" name="Google Shape;420;g3b3e7766c9d_0_85"/>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21" name="Google Shape;421;g3b3e7766c9d_0_85"/>
          <p:cNvPicPr preferRelativeResize="0"/>
          <p:nvPr/>
        </p:nvPicPr>
        <p:blipFill rotWithShape="1">
          <a:blip r:embed="rId4">
            <a:alphaModFix/>
          </a:blip>
          <a:srcRect b="0" l="0" r="0" t="0"/>
          <a:stretch/>
        </p:blipFill>
        <p:spPr>
          <a:xfrm>
            <a:off x="0" y="5865663"/>
            <a:ext cx="1698840" cy="424080"/>
          </a:xfrm>
          <a:prstGeom prst="rect">
            <a:avLst/>
          </a:prstGeom>
          <a:noFill/>
          <a:ln>
            <a:noFill/>
          </a:ln>
        </p:spPr>
      </p:pic>
      <p:pic>
        <p:nvPicPr>
          <p:cNvPr descr="A close up of a sign&#10;&#10;Description automatically generated" id="422" name="Google Shape;422;g3b3e7766c9d_0_85"/>
          <p:cNvPicPr preferRelativeResize="0"/>
          <p:nvPr/>
        </p:nvPicPr>
        <p:blipFill rotWithShape="1">
          <a:blip r:embed="rId5">
            <a:alphaModFix/>
          </a:blip>
          <a:srcRect b="0" l="0" r="0" t="0"/>
          <a:stretch/>
        </p:blipFill>
        <p:spPr>
          <a:xfrm>
            <a:off x="8307720" y="5945933"/>
            <a:ext cx="654480" cy="424080"/>
          </a:xfrm>
          <a:prstGeom prst="rect">
            <a:avLst/>
          </a:prstGeom>
          <a:noFill/>
          <a:ln>
            <a:noFill/>
          </a:ln>
        </p:spPr>
      </p:pic>
      <p:pic>
        <p:nvPicPr>
          <p:cNvPr id="423" name="Google Shape;423;g3b3e7766c9d_0_85"/>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3b3e7766c9d_0_95"/>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6. Cloud Computing Disadvantages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2. Security</a:t>
            </a:r>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3. </a:t>
            </a:r>
            <a:endParaRPr b="1" i="0" sz="3000" u="none" cap="none" strike="noStrike">
              <a:solidFill>
                <a:srgbClr val="FF0000"/>
              </a:solidFill>
              <a:latin typeface="Arial"/>
              <a:ea typeface="Arial"/>
              <a:cs typeface="Arial"/>
              <a:sym typeface="Arial"/>
            </a:endParaRPr>
          </a:p>
        </p:txBody>
      </p:sp>
      <p:sp>
        <p:nvSpPr>
          <p:cNvPr id="430" name="Google Shape;430;g3b3e7766c9d_0_95"/>
          <p:cNvSpPr/>
          <p:nvPr/>
        </p:nvSpPr>
        <p:spPr>
          <a:xfrm>
            <a:off x="358350" y="11259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36550" lvl="0" marL="457200" marR="0" rtl="0" algn="l">
              <a:lnSpc>
                <a:spcPct val="150000"/>
              </a:lnSpc>
              <a:spcBef>
                <a:spcPts val="0"/>
              </a:spcBef>
              <a:spcAft>
                <a:spcPts val="0"/>
              </a:spcAft>
              <a:buClr>
                <a:schemeClr val="dk1"/>
              </a:buClr>
              <a:buSzPts val="1700"/>
              <a:buFont typeface="Arial"/>
              <a:buAutoNum type="arabicPeriod"/>
            </a:pPr>
            <a:r>
              <a:rPr b="0" i="0" lang="en-US" sz="2800" u="none" cap="none" strike="noStrike">
                <a:solidFill>
                  <a:schemeClr val="dk1"/>
                </a:solidFill>
                <a:latin typeface="Arial"/>
                <a:ea typeface="Arial"/>
                <a:cs typeface="Arial"/>
                <a:sym typeface="Arial"/>
              </a:rPr>
              <a:t>Internet speed</a:t>
            </a:r>
            <a:endParaRPr b="0" i="0" sz="2800" u="none" cap="none" strike="noStrike">
              <a:solidFill>
                <a:schemeClr val="dk1"/>
              </a:solidFill>
              <a:latin typeface="Arial"/>
              <a:ea typeface="Arial"/>
              <a:cs typeface="Arial"/>
              <a:sym typeface="Arial"/>
            </a:endParaRPr>
          </a:p>
        </p:txBody>
      </p:sp>
      <p:pic>
        <p:nvPicPr>
          <p:cNvPr id="431" name="Google Shape;431;g3b3e7766c9d_0_95"/>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32" name="Google Shape;432;g3b3e7766c9d_0_95"/>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433" name="Google Shape;433;g3b3e7766c9d_0_95"/>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434" name="Google Shape;434;g3b3e7766c9d_0_95"/>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b3e7766c9d_0_107"/>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6. Cloud Computing Disadvantages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441" name="Google Shape;441;g3b3e7766c9d_0_107"/>
          <p:cNvSpPr/>
          <p:nvPr/>
        </p:nvSpPr>
        <p:spPr>
          <a:xfrm>
            <a:off x="358350" y="11259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36550" lvl="0" marL="457200" marR="0" rtl="0" algn="l">
              <a:lnSpc>
                <a:spcPct val="150000"/>
              </a:lnSpc>
              <a:spcBef>
                <a:spcPts val="0"/>
              </a:spcBef>
              <a:spcAft>
                <a:spcPts val="0"/>
              </a:spcAft>
              <a:buClr>
                <a:schemeClr val="dk1"/>
              </a:buClr>
              <a:buSzPts val="1700"/>
              <a:buFont typeface="Arial"/>
              <a:buAutoNum type="arabicPeriod"/>
            </a:pPr>
            <a:r>
              <a:rPr b="1" i="0" lang="en-US" sz="1700" u="none" cap="none" strike="noStrike">
                <a:solidFill>
                  <a:schemeClr val="dk1"/>
                </a:solidFill>
                <a:latin typeface="Arial"/>
                <a:ea typeface="Arial"/>
                <a:cs typeface="Arial"/>
                <a:sym typeface="Arial"/>
              </a:rPr>
              <a:t>Requires a constant internet connection </a:t>
            </a:r>
            <a:endParaRPr b="1" i="0" sz="17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Cloud computing is impossible if you cannot connect to the Internet.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chemeClr val="dk1"/>
                </a:solidFill>
                <a:latin typeface="Arial"/>
                <a:ea typeface="Arial"/>
                <a:cs typeface="Arial"/>
                <a:sym typeface="Arial"/>
              </a:rPr>
              <a:t>  2.   Does not work well with low-speed connections </a:t>
            </a:r>
            <a:endParaRPr b="1"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Web-based applications require a lot of bandwidth to download, as do large documents.</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chemeClr val="dk1"/>
                </a:solidFill>
                <a:latin typeface="Arial"/>
                <a:ea typeface="Arial"/>
                <a:cs typeface="Arial"/>
                <a:sym typeface="Arial"/>
              </a:rPr>
              <a:t>  3.  Features might be limited </a:t>
            </a:r>
            <a:endParaRPr b="1"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Many web-based applications simply are not as full-featured as their desktop-based applications. </a:t>
            </a:r>
            <a:endParaRPr b="0" i="0" sz="17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Example- you can do a lot more with Microsoft PowerPoint than with Google Presentation's web-based offering </a:t>
            </a:r>
            <a:endParaRPr b="0"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chemeClr val="dk1"/>
                </a:solidFill>
                <a:latin typeface="Arial"/>
                <a:ea typeface="Arial"/>
                <a:cs typeface="Arial"/>
                <a:sym typeface="Arial"/>
              </a:rPr>
              <a:t>  4.  Stored data might not be secured</a:t>
            </a:r>
            <a:endParaRPr b="1" i="0" sz="17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rPr b="1" i="0" lang="en-US" sz="1700" u="none" cap="none" strike="noStrike">
                <a:solidFill>
                  <a:schemeClr val="dk1"/>
                </a:solidFill>
                <a:latin typeface="Arial"/>
                <a:ea typeface="Arial"/>
                <a:cs typeface="Arial"/>
                <a:sym typeface="Arial"/>
              </a:rPr>
              <a:t>  5.  Stored data can be lost!</a:t>
            </a:r>
            <a:endParaRPr b="1" i="0" sz="1700" u="none" cap="none" strike="noStrike">
              <a:solidFill>
                <a:schemeClr val="dk1"/>
              </a:solidFill>
              <a:latin typeface="Arial"/>
              <a:ea typeface="Arial"/>
              <a:cs typeface="Arial"/>
              <a:sym typeface="Arial"/>
            </a:endParaRPr>
          </a:p>
        </p:txBody>
      </p:sp>
      <p:pic>
        <p:nvPicPr>
          <p:cNvPr id="442" name="Google Shape;442;g3b3e7766c9d_0_10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43" name="Google Shape;443;g3b3e7766c9d_0_107"/>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444" name="Google Shape;444;g3b3e7766c9d_0_107"/>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445" name="Google Shape;445;g3b3e7766c9d_0_107"/>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0" name="Shape 450"/>
        <p:cNvGrpSpPr/>
        <p:nvPr/>
      </p:nvGrpSpPr>
      <p:grpSpPr>
        <a:xfrm>
          <a:off x="0" y="0"/>
          <a:ext cx="0" cy="0"/>
          <a:chOff x="0" y="0"/>
          <a:chExt cx="0" cy="0"/>
        </a:xfrm>
      </p:grpSpPr>
      <p:sp>
        <p:nvSpPr>
          <p:cNvPr id="451" name="Google Shape;451;g3b3e7766c9d_0_117"/>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6. Cloud Computing Disadvantages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452" name="Google Shape;452;g3b3e7766c9d_0_117"/>
          <p:cNvSpPr/>
          <p:nvPr/>
        </p:nvSpPr>
        <p:spPr>
          <a:xfrm>
            <a:off x="478650"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6. HPC Systems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Running compute-intensive HPC applications that use MPI/OpenMPI can be difficult sometimes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Scheduling is important with this type of application as you want all the VM to be co-located to minimize communication latency!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7. General Concerns </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Each cloud systems uses different protocols and different APIs </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may not be possible to run applications between cloud based systems</a:t>
            </a:r>
            <a:endParaRPr b="0"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Amazon has created its own DB system (not SQL 92), and workflow system (many popular workflow systems out there) so your normal applications will have to be adapted to execute on these platforms.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453" name="Google Shape;453;g3b3e7766c9d_0_11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54" name="Google Shape;454;g3b3e7766c9d_0_117"/>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455" name="Google Shape;455;g3b3e7766c9d_0_117"/>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456" name="Google Shape;456;g3b3e7766c9d_0_117"/>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3b3e7766c9d_0_223"/>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7. Service Models</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463" name="Google Shape;463;g3b3e7766c9d_0_22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64" name="Google Shape;464;g3b3e7766c9d_0_223"/>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465" name="Google Shape;465;g3b3e7766c9d_0_223"/>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466" name="Google Shape;466;g3b3e7766c9d_0_223"/>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467" name="Google Shape;467;g3b3e7766c9d_0_223"/>
          <p:cNvSpPr/>
          <p:nvPr/>
        </p:nvSpPr>
        <p:spPr>
          <a:xfrm>
            <a:off x="478650" y="1078700"/>
            <a:ext cx="8152500" cy="4697100"/>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2100"/>
              <a:buFont typeface="Arial"/>
              <a:buNone/>
            </a:pPr>
            <a:r>
              <a:rPr b="1" i="1" lang="en-US" sz="2100" u="none" cap="none" strike="noStrike">
                <a:solidFill>
                  <a:srgbClr val="FF0000"/>
                </a:solidFill>
                <a:latin typeface="Arial"/>
                <a:ea typeface="Arial"/>
                <a:cs typeface="Arial"/>
                <a:sym typeface="Arial"/>
              </a:rPr>
              <a:t>What are Cloud Service Models?</a:t>
            </a:r>
            <a:endParaRPr b="1" i="1" sz="2100" u="none" cap="none" strike="noStrike">
              <a:solidFill>
                <a:srgbClr val="FF0000"/>
              </a:solidFill>
              <a:latin typeface="Arial"/>
              <a:ea typeface="Arial"/>
              <a:cs typeface="Arial"/>
              <a:sym typeface="Arial"/>
            </a:endParaRPr>
          </a:p>
          <a:p>
            <a:pPr indent="-349250" lvl="0" marL="457200" marR="0" rtl="0" algn="l">
              <a:lnSpc>
                <a:spcPct val="150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Cloud service models define the </a:t>
            </a:r>
            <a:r>
              <a:rPr b="1" i="0" lang="en-US" sz="1900" u="none" cap="none" strike="noStrike">
                <a:solidFill>
                  <a:srgbClr val="FF0000"/>
                </a:solidFill>
                <a:latin typeface="Arial"/>
                <a:ea typeface="Arial"/>
                <a:cs typeface="Arial"/>
                <a:sym typeface="Arial"/>
              </a:rPr>
              <a:t>control, management, and abstraction level </a:t>
            </a:r>
            <a:r>
              <a:rPr b="0" i="0" lang="en-US" sz="1900" u="none" cap="none" strike="noStrike">
                <a:solidFill>
                  <a:schemeClr val="dk1"/>
                </a:solidFill>
                <a:latin typeface="Arial"/>
                <a:ea typeface="Arial"/>
                <a:cs typeface="Arial"/>
                <a:sym typeface="Arial"/>
              </a:rPr>
              <a:t>you have when utilizing cloud services. </a:t>
            </a:r>
            <a:endParaRPr b="0" i="0" sz="1900" u="none" cap="none" strike="noStrike">
              <a:solidFill>
                <a:schemeClr val="dk1"/>
              </a:solidFill>
              <a:latin typeface="Arial"/>
              <a:ea typeface="Arial"/>
              <a:cs typeface="Arial"/>
              <a:sym typeface="Arial"/>
            </a:endParaRPr>
          </a:p>
          <a:p>
            <a:pPr indent="-349250" lvl="0" marL="457200" marR="0" rtl="0" algn="l">
              <a:lnSpc>
                <a:spcPct val="150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They determine the type of services available, </a:t>
            </a:r>
            <a:r>
              <a:rPr b="1" i="0" lang="en-US" sz="1900" u="none" cap="none" strike="noStrike">
                <a:solidFill>
                  <a:srgbClr val="FF0000"/>
                </a:solidFill>
                <a:latin typeface="Arial"/>
                <a:ea typeface="Arial"/>
                <a:cs typeface="Arial"/>
                <a:sym typeface="Arial"/>
              </a:rPr>
              <a:t>how much infrastructure you manage</a:t>
            </a:r>
            <a:r>
              <a:rPr b="0" i="0" lang="en-US" sz="1900" u="none" cap="none" strike="noStrike">
                <a:solidFill>
                  <a:schemeClr val="dk1"/>
                </a:solidFill>
                <a:latin typeface="Arial"/>
                <a:ea typeface="Arial"/>
                <a:cs typeface="Arial"/>
                <a:sym typeface="Arial"/>
              </a:rPr>
              <a:t>, and what level of </a:t>
            </a:r>
            <a:r>
              <a:rPr b="1" i="0" lang="en-US" sz="1900" u="none" cap="none" strike="noStrike">
                <a:solidFill>
                  <a:srgbClr val="FF0000"/>
                </a:solidFill>
                <a:latin typeface="Arial"/>
                <a:ea typeface="Arial"/>
                <a:cs typeface="Arial"/>
                <a:sym typeface="Arial"/>
              </a:rPr>
              <a:t>responsibility the cloud provider assumes.</a:t>
            </a:r>
            <a:endParaRPr b="1" i="0" sz="1900" u="none" cap="none" strike="noStrike">
              <a:solidFill>
                <a:srgbClr val="FF0000"/>
              </a:solidFill>
              <a:latin typeface="Arial"/>
              <a:ea typeface="Arial"/>
              <a:cs typeface="Arial"/>
              <a:sym typeface="Arial"/>
            </a:endParaRPr>
          </a:p>
          <a:p>
            <a:pPr indent="-349250" lvl="0" marL="457200" marR="0" rtl="0" algn="l">
              <a:lnSpc>
                <a:spcPct val="150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The primary goal of these models is to enable </a:t>
            </a:r>
            <a:r>
              <a:rPr b="1" i="0" lang="en-US" sz="1900" u="none" cap="none" strike="noStrike">
                <a:solidFill>
                  <a:srgbClr val="FF0000"/>
                </a:solidFill>
                <a:latin typeface="Arial"/>
                <a:ea typeface="Arial"/>
                <a:cs typeface="Arial"/>
                <a:sym typeface="Arial"/>
              </a:rPr>
              <a:t>scalability, flexibility, and cost-effectiveness</a:t>
            </a:r>
            <a:r>
              <a:rPr b="0" i="0" lang="en-US" sz="1900" u="none" cap="none" strike="noStrike">
                <a:solidFill>
                  <a:schemeClr val="dk1"/>
                </a:solidFill>
                <a:latin typeface="Arial"/>
                <a:ea typeface="Arial"/>
                <a:cs typeface="Arial"/>
                <a:sym typeface="Arial"/>
              </a:rPr>
              <a:t>, which allows you to focus on what matters most: development and innovation.</a:t>
            </a:r>
            <a:endParaRPr b="0" i="0" sz="19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900"/>
              <a:buFont typeface="Arial"/>
              <a:buNone/>
            </a:pPr>
            <a:r>
              <a:t/>
            </a:r>
            <a:endParaRPr b="1" i="0" sz="19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3b3e7766c9d_0_144"/>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6.1 Service Models- SAAS</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474" name="Google Shape;474;g3b3e7766c9d_0_14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75" name="Google Shape;475;g3b3e7766c9d_0_14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476" name="Google Shape;476;g3b3e7766c9d_0_14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477" name="Google Shape;477;g3b3e7766c9d_0_14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478" name="Google Shape;478;g3b3e7766c9d_0_144"/>
          <p:cNvSpPr/>
          <p:nvPr/>
        </p:nvSpPr>
        <p:spPr>
          <a:xfrm>
            <a:off x="478650" y="1078700"/>
            <a:ext cx="8152500" cy="4697100"/>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361950" lvl="0" marL="457200" marR="0" rtl="0" algn="l">
              <a:lnSpc>
                <a:spcPct val="150000"/>
              </a:lnSpc>
              <a:spcBef>
                <a:spcPts val="0"/>
              </a:spcBef>
              <a:spcAft>
                <a:spcPts val="0"/>
              </a:spcAft>
              <a:buClr>
                <a:schemeClr val="dk1"/>
              </a:buClr>
              <a:buSzPts val="2100"/>
              <a:buFont typeface="Arial"/>
              <a:buChar char="●"/>
            </a:pPr>
            <a:r>
              <a:rPr b="0" i="0" lang="en-US" sz="2100" u="none" cap="none" strike="noStrike">
                <a:solidFill>
                  <a:schemeClr val="dk1"/>
                </a:solidFill>
                <a:latin typeface="Arial"/>
                <a:ea typeface="Arial"/>
                <a:cs typeface="Arial"/>
                <a:sym typeface="Arial"/>
              </a:rPr>
              <a:t>SaaS is defined as software that is deployed over the internet. </a:t>
            </a:r>
            <a:endParaRPr b="0" i="0" sz="2100" u="none" cap="none" strike="noStrike">
              <a:solidFill>
                <a:schemeClr val="dk1"/>
              </a:solidFill>
              <a:latin typeface="Arial"/>
              <a:ea typeface="Arial"/>
              <a:cs typeface="Arial"/>
              <a:sym typeface="Arial"/>
            </a:endParaRPr>
          </a:p>
          <a:p>
            <a:pPr indent="-361950" lvl="0" marL="457200" marR="0" rtl="0" algn="l">
              <a:lnSpc>
                <a:spcPct val="150000"/>
              </a:lnSpc>
              <a:spcBef>
                <a:spcPts val="0"/>
              </a:spcBef>
              <a:spcAft>
                <a:spcPts val="0"/>
              </a:spcAft>
              <a:buClr>
                <a:schemeClr val="dk1"/>
              </a:buClr>
              <a:buSzPts val="2100"/>
              <a:buFont typeface="Arial"/>
              <a:buChar char="●"/>
            </a:pPr>
            <a:r>
              <a:rPr b="0" i="0" lang="en-US" sz="2100" u="none" cap="none" strike="noStrike">
                <a:solidFill>
                  <a:schemeClr val="dk1"/>
                </a:solidFill>
                <a:latin typeface="Arial"/>
                <a:ea typeface="Arial"/>
                <a:cs typeface="Arial"/>
                <a:sym typeface="Arial"/>
              </a:rPr>
              <a:t>With SaaS, a </a:t>
            </a:r>
            <a:r>
              <a:rPr b="1" i="0" lang="en-US" sz="2100" u="none" cap="none" strike="noStrike">
                <a:solidFill>
                  <a:srgbClr val="FF0000"/>
                </a:solidFill>
                <a:latin typeface="Arial"/>
                <a:ea typeface="Arial"/>
                <a:cs typeface="Arial"/>
                <a:sym typeface="Arial"/>
              </a:rPr>
              <a:t>provider licenses an application</a:t>
            </a:r>
            <a:r>
              <a:rPr b="0" i="0" lang="en-US" sz="2100" u="none" cap="none" strike="noStrike">
                <a:solidFill>
                  <a:schemeClr val="dk1"/>
                </a:solidFill>
                <a:latin typeface="Arial"/>
                <a:ea typeface="Arial"/>
                <a:cs typeface="Arial"/>
                <a:sym typeface="Arial"/>
              </a:rPr>
              <a:t> to customers </a:t>
            </a:r>
            <a:endParaRPr b="0" i="0" sz="21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100"/>
              <a:buFont typeface="Arial"/>
              <a:buNone/>
            </a:pPr>
            <a:r>
              <a:rPr b="0" i="0" lang="en-US" sz="2100" u="none" cap="none" strike="noStrike">
                <a:solidFill>
                  <a:schemeClr val="dk1"/>
                </a:solidFill>
                <a:latin typeface="Arial"/>
                <a:ea typeface="Arial"/>
                <a:cs typeface="Arial"/>
                <a:sym typeface="Arial"/>
              </a:rPr>
              <a:t>a service on demand.</a:t>
            </a:r>
            <a:endParaRPr b="0" i="0" sz="2100" u="none" cap="none" strike="noStrike">
              <a:solidFill>
                <a:schemeClr val="dk1"/>
              </a:solidFill>
              <a:latin typeface="Arial"/>
              <a:ea typeface="Arial"/>
              <a:cs typeface="Arial"/>
              <a:sym typeface="Arial"/>
            </a:endParaRPr>
          </a:p>
          <a:p>
            <a:pPr indent="-361950" lvl="0" marL="457200" marR="0" rtl="0" algn="l">
              <a:lnSpc>
                <a:spcPct val="150000"/>
              </a:lnSpc>
              <a:spcBef>
                <a:spcPts val="0"/>
              </a:spcBef>
              <a:spcAft>
                <a:spcPts val="0"/>
              </a:spcAft>
              <a:buClr>
                <a:schemeClr val="dk1"/>
              </a:buClr>
              <a:buSzPts val="2100"/>
              <a:buFont typeface="Arial"/>
              <a:buChar char="●"/>
            </a:pPr>
            <a:r>
              <a:rPr b="0" i="0" lang="en-US" sz="2100" u="none" cap="none" strike="noStrike">
                <a:solidFill>
                  <a:schemeClr val="dk1"/>
                </a:solidFill>
                <a:latin typeface="Arial"/>
                <a:ea typeface="Arial"/>
                <a:cs typeface="Arial"/>
                <a:sym typeface="Arial"/>
              </a:rPr>
              <a:t>Either through a </a:t>
            </a:r>
            <a:r>
              <a:rPr b="1" i="0" lang="en-US" sz="2100" u="none" cap="none" strike="noStrike">
                <a:solidFill>
                  <a:srgbClr val="FF0000"/>
                </a:solidFill>
                <a:latin typeface="Arial"/>
                <a:ea typeface="Arial"/>
                <a:cs typeface="Arial"/>
                <a:sym typeface="Arial"/>
              </a:rPr>
              <a:t>subscription</a:t>
            </a:r>
            <a:r>
              <a:rPr b="0" i="0" lang="en-US" sz="2100" u="none" cap="none" strike="noStrike">
                <a:solidFill>
                  <a:schemeClr val="dk1"/>
                </a:solidFill>
                <a:latin typeface="Arial"/>
                <a:ea typeface="Arial"/>
                <a:cs typeface="Arial"/>
                <a:sym typeface="Arial"/>
              </a:rPr>
              <a:t>, in a “</a:t>
            </a:r>
            <a:r>
              <a:rPr b="1" i="0" lang="en-US" sz="2100" u="none" cap="none" strike="noStrike">
                <a:solidFill>
                  <a:srgbClr val="FF0000"/>
                </a:solidFill>
                <a:latin typeface="Arial"/>
                <a:ea typeface="Arial"/>
                <a:cs typeface="Arial"/>
                <a:sym typeface="Arial"/>
              </a:rPr>
              <a:t>pay-as-you-go</a:t>
            </a:r>
            <a:r>
              <a:rPr b="0" i="0" lang="en-US" sz="2100" u="none" cap="none" strike="noStrike">
                <a:solidFill>
                  <a:schemeClr val="dk1"/>
                </a:solidFill>
                <a:latin typeface="Arial"/>
                <a:ea typeface="Arial"/>
                <a:cs typeface="Arial"/>
                <a:sym typeface="Arial"/>
              </a:rPr>
              <a:t>” model, or</a:t>
            </a:r>
            <a:endParaRPr b="0" i="0" sz="21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100"/>
              <a:buFont typeface="Arial"/>
              <a:buNone/>
            </a:pPr>
            <a:r>
              <a:rPr b="0" i="0" lang="en-US" sz="2100" u="none" cap="none" strike="noStrike">
                <a:solidFill>
                  <a:schemeClr val="dk1"/>
                </a:solidFill>
                <a:latin typeface="Arial"/>
                <a:ea typeface="Arial"/>
                <a:cs typeface="Arial"/>
                <a:sym typeface="Arial"/>
              </a:rPr>
              <a:t> (increasingly) at </a:t>
            </a:r>
            <a:r>
              <a:rPr b="1" i="0" lang="en-US" sz="2100" u="none" cap="none" strike="noStrike">
                <a:solidFill>
                  <a:srgbClr val="FF0000"/>
                </a:solidFill>
                <a:latin typeface="Arial"/>
                <a:ea typeface="Arial"/>
                <a:cs typeface="Arial"/>
                <a:sym typeface="Arial"/>
              </a:rPr>
              <a:t>no charge</a:t>
            </a:r>
            <a:r>
              <a:rPr b="0" i="0" lang="en-US" sz="2100" u="none" cap="none" strike="noStrike">
                <a:solidFill>
                  <a:schemeClr val="dk1"/>
                </a:solidFill>
                <a:latin typeface="Arial"/>
                <a:ea typeface="Arial"/>
                <a:cs typeface="Arial"/>
                <a:sym typeface="Arial"/>
              </a:rPr>
              <a:t> when there is opportunity to generate </a:t>
            </a:r>
            <a:r>
              <a:rPr b="1" i="0" lang="en-US" sz="2100" u="none" cap="none" strike="noStrike">
                <a:solidFill>
                  <a:srgbClr val="FF0000"/>
                </a:solidFill>
                <a:latin typeface="Arial"/>
                <a:ea typeface="Arial"/>
                <a:cs typeface="Arial"/>
                <a:sym typeface="Arial"/>
              </a:rPr>
              <a:t>revenue</a:t>
            </a:r>
            <a:r>
              <a:rPr b="0" i="0" lang="en-US" sz="2100" u="none" cap="none" strike="noStrike">
                <a:solidFill>
                  <a:schemeClr val="dk1"/>
                </a:solidFill>
                <a:latin typeface="Arial"/>
                <a:ea typeface="Arial"/>
                <a:cs typeface="Arial"/>
                <a:sym typeface="Arial"/>
              </a:rPr>
              <a:t> from streams other than the user, such as from </a:t>
            </a:r>
            <a:r>
              <a:rPr b="1" i="0" lang="en-US" sz="2100" u="none" cap="none" strike="noStrike">
                <a:solidFill>
                  <a:srgbClr val="FF0000"/>
                </a:solidFill>
                <a:latin typeface="Arial"/>
                <a:ea typeface="Arial"/>
                <a:cs typeface="Arial"/>
                <a:sym typeface="Arial"/>
              </a:rPr>
              <a:t>advertisement </a:t>
            </a:r>
            <a:r>
              <a:rPr b="0" i="0" lang="en-US" sz="2100" u="none" cap="none" strike="noStrike">
                <a:solidFill>
                  <a:schemeClr val="dk1"/>
                </a:solidFill>
                <a:latin typeface="Arial"/>
                <a:ea typeface="Arial"/>
                <a:cs typeface="Arial"/>
                <a:sym typeface="Arial"/>
              </a:rPr>
              <a:t>or user list sales. </a:t>
            </a:r>
            <a:endParaRPr b="0" i="0" sz="2100" u="none" cap="none" strike="noStrike">
              <a:solidFill>
                <a:schemeClr val="dk1"/>
              </a:solidFill>
              <a:latin typeface="Arial"/>
              <a:ea typeface="Arial"/>
              <a:cs typeface="Arial"/>
              <a:sym typeface="Arial"/>
            </a:endParaRPr>
          </a:p>
          <a:p>
            <a:pPr indent="-361950" lvl="0" marL="457200" marR="0" rtl="0" algn="l">
              <a:lnSpc>
                <a:spcPct val="150000"/>
              </a:lnSpc>
              <a:spcBef>
                <a:spcPts val="0"/>
              </a:spcBef>
              <a:spcAft>
                <a:spcPts val="0"/>
              </a:spcAft>
              <a:buClr>
                <a:schemeClr val="dk1"/>
              </a:buClr>
              <a:buSzPts val="2100"/>
              <a:buFont typeface="Arial"/>
              <a:buChar char="●"/>
            </a:pPr>
            <a:r>
              <a:rPr b="0" i="0" lang="en-US" sz="2100" u="none" cap="none" strike="noStrike">
                <a:solidFill>
                  <a:schemeClr val="dk1"/>
                </a:solidFill>
                <a:latin typeface="Arial"/>
                <a:ea typeface="Arial"/>
                <a:cs typeface="Arial"/>
                <a:sym typeface="Arial"/>
              </a:rPr>
              <a:t>Examples: Sales Force Customer Relationship Management (CRM) software </a:t>
            </a:r>
            <a:endParaRPr b="0" i="0" sz="21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100"/>
              <a:buFont typeface="Arial"/>
              <a:buNone/>
            </a:pPr>
            <a:r>
              <a:t/>
            </a:r>
            <a:endParaRPr b="0" i="0" sz="21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900"/>
              <a:buFont typeface="Arial"/>
              <a:buNone/>
            </a:pPr>
            <a:r>
              <a:t/>
            </a:r>
            <a:endParaRPr b="1" i="0" sz="190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g3b3e7766c9d_0_325"/>
          <p:cNvSpPr txBox="1"/>
          <p:nvPr>
            <p:ph type="title"/>
          </p:nvPr>
        </p:nvSpPr>
        <p:spPr>
          <a:xfrm>
            <a:off x="457200" y="589077"/>
            <a:ext cx="8229000" cy="7800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Applications where SaaS is used </a:t>
            </a:r>
            <a:endParaRPr b="1" sz="3000">
              <a:solidFill>
                <a:srgbClr val="FF0000"/>
              </a:solidFill>
            </a:endParaRPr>
          </a:p>
        </p:txBody>
      </p:sp>
      <p:sp>
        <p:nvSpPr>
          <p:cNvPr id="484" name="Google Shape;484;g3b3e7766c9d_0_325"/>
          <p:cNvSpPr txBox="1"/>
          <p:nvPr>
            <p:ph idx="1" type="body"/>
          </p:nvPr>
        </p:nvSpPr>
        <p:spPr>
          <a:xfrm>
            <a:off x="457200" y="1600200"/>
            <a:ext cx="8229000" cy="45252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Applications where there is significant interplay between organization and outside world. Example:  </a:t>
            </a:r>
            <a:r>
              <a:rPr b="1" lang="en-US" sz="2100">
                <a:solidFill>
                  <a:srgbClr val="FF0000"/>
                </a:solidFill>
              </a:rPr>
              <a:t>email newsletter campaign software </a:t>
            </a:r>
            <a:endParaRPr b="1" sz="2100">
              <a:solidFill>
                <a:srgbClr val="FF0000"/>
              </a:solidFill>
            </a:endParaRPr>
          </a:p>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Applications that have need for web or mobile access. E.g. </a:t>
            </a:r>
            <a:r>
              <a:rPr b="1" lang="en-US" sz="2100">
                <a:solidFill>
                  <a:srgbClr val="FF0000"/>
                </a:solidFill>
              </a:rPr>
              <a:t>mobile sales management software</a:t>
            </a:r>
            <a:r>
              <a:rPr lang="en-US" sz="2100">
                <a:solidFill>
                  <a:schemeClr val="dk1"/>
                </a:solidFill>
              </a:rPr>
              <a:t>.</a:t>
            </a:r>
            <a:endParaRPr sz="2100">
              <a:solidFill>
                <a:schemeClr val="dk1"/>
              </a:solidFill>
            </a:endParaRPr>
          </a:p>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Software that is only to be </a:t>
            </a:r>
            <a:r>
              <a:rPr b="1" lang="en-US" sz="2100">
                <a:solidFill>
                  <a:srgbClr val="FF0000"/>
                </a:solidFill>
              </a:rPr>
              <a:t>used for a short term need</a:t>
            </a:r>
            <a:r>
              <a:rPr lang="en-US" sz="2100">
                <a:solidFill>
                  <a:schemeClr val="dk1"/>
                </a:solidFill>
              </a:rPr>
              <a:t>. </a:t>
            </a:r>
            <a:endParaRPr sz="2100">
              <a:solidFill>
                <a:schemeClr val="dk1"/>
              </a:solidFill>
            </a:endParaRPr>
          </a:p>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Software where </a:t>
            </a:r>
            <a:r>
              <a:rPr b="1" lang="en-US" sz="2100">
                <a:solidFill>
                  <a:srgbClr val="FF0000"/>
                </a:solidFill>
              </a:rPr>
              <a:t>demand spikes significantly.</a:t>
            </a:r>
            <a:r>
              <a:rPr lang="en-US" sz="2100">
                <a:solidFill>
                  <a:schemeClr val="dk1"/>
                </a:solidFill>
              </a:rPr>
              <a:t>  E.g. Tax/Billing softwares. </a:t>
            </a:r>
            <a:endParaRPr sz="2100">
              <a:solidFill>
                <a:schemeClr val="dk1"/>
              </a:solidFill>
            </a:endParaRPr>
          </a:p>
        </p:txBody>
      </p:sp>
      <p:sp>
        <p:nvSpPr>
          <p:cNvPr id="485" name="Google Shape;485;g3b3e7766c9d_0_325"/>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486" name="Google Shape;486;g3b3e7766c9d_0_325"/>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b3e7766c9d_0_808"/>
          <p:cNvSpPr txBox="1"/>
          <p:nvPr>
            <p:ph type="title"/>
          </p:nvPr>
        </p:nvSpPr>
        <p:spPr>
          <a:xfrm>
            <a:off x="457200" y="274680"/>
            <a:ext cx="8229000" cy="1142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493" name="Google Shape;493;g3b3e7766c9d_0_808"/>
          <p:cNvSpPr txBox="1"/>
          <p:nvPr>
            <p:ph idx="1" type="body"/>
          </p:nvPr>
        </p:nvSpPr>
        <p:spPr>
          <a:xfrm>
            <a:off x="457200" y="1600200"/>
            <a:ext cx="8229000" cy="4525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pic>
        <p:nvPicPr>
          <p:cNvPr id="494" name="Google Shape;494;g3b3e7766c9d_0_808"/>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495" name="Google Shape;495;g3b3e7766c9d_0_808"/>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496" name="Google Shape;496;g3b3e7766c9d_0_808"/>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497" name="Google Shape;497;g3b3e7766c9d_0_808"/>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pic>
        <p:nvPicPr>
          <p:cNvPr id="498" name="Google Shape;498;g3b3e7766c9d_0_808"/>
          <p:cNvPicPr preferRelativeResize="0"/>
          <p:nvPr/>
        </p:nvPicPr>
        <p:blipFill rotWithShape="1">
          <a:blip r:embed="rId7">
            <a:alphaModFix/>
          </a:blip>
          <a:srcRect b="0" l="0" r="0" t="0"/>
          <a:stretch/>
        </p:blipFill>
        <p:spPr>
          <a:xfrm>
            <a:off x="3159826" y="591663"/>
            <a:ext cx="3353230" cy="56746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g3b3e7766c9d_0_128"/>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Service Models- Analogy</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505" name="Google Shape;505;g3b3e7766c9d_0_128"/>
          <p:cNvSpPr/>
          <p:nvPr/>
        </p:nvSpPr>
        <p:spPr>
          <a:xfrm>
            <a:off x="478650"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IAAS (Infrastructure As A Service)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PAAS (Platform As A Service)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SAAS (Software As A Service)</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506" name="Google Shape;506;g3b3e7766c9d_0_128"/>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07" name="Google Shape;507;g3b3e7766c9d_0_128"/>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08" name="Google Shape;508;g3b3e7766c9d_0_128"/>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509" name="Google Shape;509;g3b3e7766c9d_0_128"/>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510" name="Google Shape;510;g3b3e7766c9d_0_128"/>
          <p:cNvSpPr txBox="1"/>
          <p:nvPr/>
        </p:nvSpPr>
        <p:spPr>
          <a:xfrm>
            <a:off x="3722550" y="2353050"/>
            <a:ext cx="1698900" cy="385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Eat Pasta ?</a:t>
            </a:r>
            <a:endParaRPr b="1" i="0" sz="1800" u="none" cap="none" strike="noStrike">
              <a:solidFill>
                <a:srgbClr val="000000"/>
              </a:solidFill>
              <a:latin typeface="Arial"/>
              <a:ea typeface="Arial"/>
              <a:cs typeface="Arial"/>
              <a:sym typeface="Arial"/>
            </a:endParaRPr>
          </a:p>
        </p:txBody>
      </p:sp>
      <p:sp>
        <p:nvSpPr>
          <p:cNvPr id="511" name="Google Shape;511;g3b3e7766c9d_0_128"/>
          <p:cNvSpPr txBox="1"/>
          <p:nvPr/>
        </p:nvSpPr>
        <p:spPr>
          <a:xfrm>
            <a:off x="712300" y="2847175"/>
            <a:ext cx="2055300" cy="19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A. Buying pre-packed ingredients like fresh pasta and sauce made by someone else that you use to cook at home.</a:t>
            </a:r>
            <a:endParaRPr b="1" i="0" sz="1600" u="none" cap="none" strike="noStrike">
              <a:solidFill>
                <a:srgbClr val="000000"/>
              </a:solidFill>
              <a:latin typeface="Arial"/>
              <a:ea typeface="Arial"/>
              <a:cs typeface="Arial"/>
              <a:sym typeface="Arial"/>
            </a:endParaRPr>
          </a:p>
        </p:txBody>
      </p:sp>
      <p:sp>
        <p:nvSpPr>
          <p:cNvPr id="512" name="Google Shape;512;g3b3e7766c9d_0_128"/>
          <p:cNvSpPr txBox="1"/>
          <p:nvPr/>
        </p:nvSpPr>
        <p:spPr>
          <a:xfrm>
            <a:off x="4954350" y="2847175"/>
            <a:ext cx="3676800" cy="19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B. Order takeout or delivery where your meal is prepared for you and you don’t have to worry about the ingredients or how you’ll cook it, but you have to worry about where you’ll eat, the utensils, and cleaning up after your meal. </a:t>
            </a:r>
            <a:endParaRPr b="1" i="0" sz="1600" u="none" cap="none" strike="noStrike">
              <a:solidFill>
                <a:srgbClr val="000000"/>
              </a:solidFill>
              <a:latin typeface="Arial"/>
              <a:ea typeface="Arial"/>
              <a:cs typeface="Arial"/>
              <a:sym typeface="Arial"/>
            </a:endParaRPr>
          </a:p>
        </p:txBody>
      </p:sp>
      <p:sp>
        <p:nvSpPr>
          <p:cNvPr id="513" name="Google Shape;513;g3b3e7766c9d_0_128"/>
          <p:cNvSpPr txBox="1"/>
          <p:nvPr/>
        </p:nvSpPr>
        <p:spPr>
          <a:xfrm>
            <a:off x="2299350" y="4686900"/>
            <a:ext cx="3122100" cy="15114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 Call ahead to the restaurant and order the exact meal you want. They prepare everything ahead of time for you so that all you have to do is show up and eat.</a:t>
            </a:r>
            <a:endParaRPr b="1"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3e7766c9d_0_417"/>
          <p:cNvSpPr txBox="1"/>
          <p:nvPr>
            <p:ph type="title"/>
          </p:nvPr>
        </p:nvSpPr>
        <p:spPr>
          <a:xfrm>
            <a:off x="457200" y="579126"/>
            <a:ext cx="8229000" cy="8379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6.2 Platform as a Service (PaaS) </a:t>
            </a:r>
            <a:endParaRPr b="1" sz="3000">
              <a:solidFill>
                <a:srgbClr val="FF0000"/>
              </a:solidFill>
            </a:endParaRPr>
          </a:p>
        </p:txBody>
      </p:sp>
      <p:sp>
        <p:nvSpPr>
          <p:cNvPr id="519" name="Google Shape;519;g3b3e7766c9d_0_417"/>
          <p:cNvSpPr txBox="1"/>
          <p:nvPr>
            <p:ph idx="1" type="body"/>
          </p:nvPr>
        </p:nvSpPr>
        <p:spPr>
          <a:xfrm>
            <a:off x="457200" y="1600200"/>
            <a:ext cx="8229000" cy="35691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PaaS can be defined as a computing platform that allows </a:t>
            </a:r>
            <a:r>
              <a:rPr b="1" lang="en-US" sz="2100">
                <a:solidFill>
                  <a:srgbClr val="FF0000"/>
                </a:solidFill>
              </a:rPr>
              <a:t>creation of web applications quickly</a:t>
            </a:r>
            <a:r>
              <a:rPr lang="en-US" sz="2100">
                <a:solidFill>
                  <a:schemeClr val="dk1"/>
                </a:solidFill>
              </a:rPr>
              <a:t> and easily and </a:t>
            </a:r>
            <a:r>
              <a:rPr b="1" lang="en-US" sz="2100">
                <a:solidFill>
                  <a:srgbClr val="FF0000"/>
                </a:solidFill>
              </a:rPr>
              <a:t>without the complexity of buying and maintaining the software</a:t>
            </a:r>
            <a:r>
              <a:rPr lang="en-US" sz="2100">
                <a:solidFill>
                  <a:schemeClr val="dk1"/>
                </a:solidFill>
              </a:rPr>
              <a:t> and </a:t>
            </a:r>
            <a:r>
              <a:rPr b="1" lang="en-US" sz="2100">
                <a:solidFill>
                  <a:srgbClr val="FF0000"/>
                </a:solidFill>
              </a:rPr>
              <a:t>infrastructure </a:t>
            </a:r>
            <a:r>
              <a:rPr lang="en-US" sz="2100">
                <a:solidFill>
                  <a:schemeClr val="dk1"/>
                </a:solidFill>
              </a:rPr>
              <a:t>underneath it. </a:t>
            </a:r>
            <a:endParaRPr sz="2100">
              <a:solidFill>
                <a:schemeClr val="dk1"/>
              </a:solidFill>
            </a:endParaRPr>
          </a:p>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Rather than being software delivered over the web, it is a </a:t>
            </a:r>
            <a:r>
              <a:rPr b="1" lang="en-US" sz="2100">
                <a:solidFill>
                  <a:srgbClr val="FF0000"/>
                </a:solidFill>
              </a:rPr>
              <a:t>platform for the creation of software</a:t>
            </a:r>
            <a:r>
              <a:rPr lang="en-US" sz="2100">
                <a:solidFill>
                  <a:schemeClr val="dk1"/>
                </a:solidFill>
              </a:rPr>
              <a:t>, delivered over the web.</a:t>
            </a:r>
            <a:endParaRPr sz="2100">
              <a:solidFill>
                <a:schemeClr val="dk1"/>
              </a:solidFill>
            </a:endParaRPr>
          </a:p>
          <a:p>
            <a:pPr indent="-361950" lvl="0" marL="457200" marR="0" rtl="0" algn="l">
              <a:lnSpc>
                <a:spcPct val="150000"/>
              </a:lnSpc>
              <a:spcBef>
                <a:spcPts val="0"/>
              </a:spcBef>
              <a:spcAft>
                <a:spcPts val="0"/>
              </a:spcAft>
              <a:buClr>
                <a:schemeClr val="dk1"/>
              </a:buClr>
              <a:buSzPts val="2100"/>
              <a:buChar char="●"/>
            </a:pPr>
            <a:r>
              <a:rPr lang="en-US" sz="2100">
                <a:solidFill>
                  <a:schemeClr val="dk1"/>
                </a:solidFill>
              </a:rPr>
              <a:t>PaaS Examples: Microsoft Azure, Google App Engine</a:t>
            </a:r>
            <a:endParaRPr sz="2100">
              <a:solidFill>
                <a:schemeClr val="dk1"/>
              </a:solidFill>
            </a:endParaRPr>
          </a:p>
          <a:p>
            <a:pPr indent="0" lvl="0" marL="0" marR="0" rtl="0" algn="l">
              <a:lnSpc>
                <a:spcPct val="150000"/>
              </a:lnSpc>
              <a:spcBef>
                <a:spcPts val="0"/>
              </a:spcBef>
              <a:spcAft>
                <a:spcPts val="0"/>
              </a:spcAft>
              <a:buSzPts val="1400"/>
              <a:buNone/>
            </a:pPr>
            <a:r>
              <a:t/>
            </a:r>
            <a:endParaRPr sz="2100">
              <a:solidFill>
                <a:schemeClr val="dk1"/>
              </a:solidFill>
            </a:endParaRPr>
          </a:p>
        </p:txBody>
      </p:sp>
      <p:sp>
        <p:nvSpPr>
          <p:cNvPr id="520" name="Google Shape;520;g3b3e7766c9d_0_417"/>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521" name="Google Shape;521;g3b3e7766c9d_0_417"/>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522" name="Google Shape;522;g3b3e7766c9d_0_417"/>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pic>
        <p:nvPicPr>
          <p:cNvPr id="523" name="Google Shape;523;g3b3e7766c9d_0_41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24" name="Google Shape;524;g3b3e7766c9d_0_417"/>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25" name="Google Shape;525;g3b3e7766c9d_0_417"/>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526" name="Google Shape;526;g3b3e7766c9d_0_417"/>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3b3e7766c9d_0_434"/>
          <p:cNvSpPr txBox="1"/>
          <p:nvPr>
            <p:ph type="title"/>
          </p:nvPr>
        </p:nvSpPr>
        <p:spPr>
          <a:xfrm>
            <a:off x="457200" y="542551"/>
            <a:ext cx="8229000" cy="874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Scenarios where PaaS is used </a:t>
            </a:r>
            <a:endParaRPr b="1" sz="3000">
              <a:solidFill>
                <a:srgbClr val="FF0000"/>
              </a:solidFill>
            </a:endParaRPr>
          </a:p>
        </p:txBody>
      </p:sp>
      <p:sp>
        <p:nvSpPr>
          <p:cNvPr id="533" name="Google Shape;533;g3b3e7766c9d_0_434"/>
          <p:cNvSpPr txBox="1"/>
          <p:nvPr>
            <p:ph idx="1" type="body"/>
          </p:nvPr>
        </p:nvSpPr>
        <p:spPr>
          <a:xfrm>
            <a:off x="457200" y="1340768"/>
            <a:ext cx="8229600" cy="50406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68300" lvl="0" marL="457200" marR="0" rtl="0" algn="l">
              <a:lnSpc>
                <a:spcPct val="150000"/>
              </a:lnSpc>
              <a:spcBef>
                <a:spcPts val="0"/>
              </a:spcBef>
              <a:spcAft>
                <a:spcPts val="0"/>
              </a:spcAft>
              <a:buClr>
                <a:schemeClr val="dk1"/>
              </a:buClr>
              <a:buSzPts val="2200"/>
              <a:buChar char="●"/>
            </a:pPr>
            <a:r>
              <a:rPr lang="en-US" sz="2200">
                <a:solidFill>
                  <a:schemeClr val="dk1"/>
                </a:solidFill>
              </a:rPr>
              <a:t>PaaS is especially useful in any situation where </a:t>
            </a:r>
            <a:r>
              <a:rPr b="1" lang="en-US" sz="2200">
                <a:solidFill>
                  <a:srgbClr val="FF0000"/>
                </a:solidFill>
              </a:rPr>
              <a:t>multiple developers</a:t>
            </a:r>
            <a:r>
              <a:rPr lang="en-US" sz="2200">
                <a:solidFill>
                  <a:schemeClr val="dk1"/>
                </a:solidFill>
              </a:rPr>
              <a:t> will be working on a development project </a:t>
            </a:r>
            <a:endParaRPr sz="2200">
              <a:solidFill>
                <a:schemeClr val="dk1"/>
              </a:solidFill>
            </a:endParaRPr>
          </a:p>
          <a:p>
            <a:pPr indent="-368300" lvl="0" marL="457200" marR="0" rtl="0" algn="l">
              <a:lnSpc>
                <a:spcPct val="150000"/>
              </a:lnSpc>
              <a:spcBef>
                <a:spcPts val="0"/>
              </a:spcBef>
              <a:spcAft>
                <a:spcPts val="0"/>
              </a:spcAft>
              <a:buClr>
                <a:schemeClr val="dk1"/>
              </a:buClr>
              <a:buSzPts val="2200"/>
              <a:buChar char="●"/>
            </a:pPr>
            <a:r>
              <a:rPr lang="en-US" sz="2200">
                <a:solidFill>
                  <a:schemeClr val="dk1"/>
                </a:solidFill>
              </a:rPr>
              <a:t>Or where other external parties need to interact with the development process.</a:t>
            </a:r>
            <a:endParaRPr sz="2200">
              <a:solidFill>
                <a:schemeClr val="dk1"/>
              </a:solidFill>
            </a:endParaRPr>
          </a:p>
          <a:p>
            <a:pPr indent="-368300" lvl="0" marL="457200" marR="0" rtl="0" algn="l">
              <a:lnSpc>
                <a:spcPct val="150000"/>
              </a:lnSpc>
              <a:spcBef>
                <a:spcPts val="0"/>
              </a:spcBef>
              <a:spcAft>
                <a:spcPts val="0"/>
              </a:spcAft>
              <a:buClr>
                <a:schemeClr val="dk1"/>
              </a:buClr>
              <a:buSzPts val="2200"/>
              <a:buChar char="●"/>
            </a:pPr>
            <a:r>
              <a:rPr lang="en-US" sz="2200">
                <a:solidFill>
                  <a:schemeClr val="dk1"/>
                </a:solidFill>
              </a:rPr>
              <a:t>PaaS is useful where developers wish to </a:t>
            </a:r>
            <a:r>
              <a:rPr b="1" lang="en-US" sz="2200">
                <a:solidFill>
                  <a:srgbClr val="FF0000"/>
                </a:solidFill>
              </a:rPr>
              <a:t>automate testing and deployment services</a:t>
            </a:r>
            <a:r>
              <a:rPr lang="en-US" sz="2200">
                <a:solidFill>
                  <a:schemeClr val="dk1"/>
                </a:solidFill>
              </a:rPr>
              <a:t>. </a:t>
            </a:r>
            <a:endParaRPr sz="2200">
              <a:solidFill>
                <a:schemeClr val="dk1"/>
              </a:solidFill>
            </a:endParaRPr>
          </a:p>
          <a:p>
            <a:pPr indent="-368300" lvl="0" marL="457200" marR="0" rtl="0" algn="l">
              <a:lnSpc>
                <a:spcPct val="150000"/>
              </a:lnSpc>
              <a:spcBef>
                <a:spcPts val="0"/>
              </a:spcBef>
              <a:spcAft>
                <a:spcPts val="0"/>
              </a:spcAft>
              <a:buClr>
                <a:schemeClr val="dk1"/>
              </a:buClr>
              <a:buSzPts val="2200"/>
              <a:buChar char="●"/>
            </a:pPr>
            <a:r>
              <a:rPr lang="en-US" sz="2200">
                <a:solidFill>
                  <a:schemeClr val="dk1"/>
                </a:solidFill>
              </a:rPr>
              <a:t>The popularity of agile software development-  iterative and incremental development has increased the uptake of PaaS </a:t>
            </a:r>
            <a:endParaRPr sz="2200">
              <a:solidFill>
                <a:schemeClr val="dk1"/>
              </a:solidFill>
            </a:endParaRPr>
          </a:p>
          <a:p>
            <a:pPr indent="0" lvl="0" marL="0" marR="0" rtl="0" algn="l">
              <a:lnSpc>
                <a:spcPct val="150000"/>
              </a:lnSpc>
              <a:spcBef>
                <a:spcPts val="0"/>
              </a:spcBef>
              <a:spcAft>
                <a:spcPts val="0"/>
              </a:spcAft>
              <a:buSzPts val="1400"/>
              <a:buNone/>
            </a:pPr>
            <a:r>
              <a:t/>
            </a:r>
            <a:endParaRPr sz="2200">
              <a:solidFill>
                <a:schemeClr val="dk1"/>
              </a:solidFill>
            </a:endParaRPr>
          </a:p>
          <a:p>
            <a:pPr indent="0" lvl="0" marL="0" marR="0" rtl="0" algn="l">
              <a:lnSpc>
                <a:spcPct val="150000"/>
              </a:lnSpc>
              <a:spcBef>
                <a:spcPts val="0"/>
              </a:spcBef>
              <a:spcAft>
                <a:spcPts val="0"/>
              </a:spcAft>
              <a:buSzPts val="1400"/>
              <a:buNone/>
            </a:pPr>
            <a:r>
              <a:t/>
            </a:r>
            <a:endParaRPr sz="2200">
              <a:solidFill>
                <a:schemeClr val="dk1"/>
              </a:solidFill>
            </a:endParaRPr>
          </a:p>
        </p:txBody>
      </p:sp>
      <p:sp>
        <p:nvSpPr>
          <p:cNvPr id="534" name="Google Shape;534;g3b3e7766c9d_0_43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535" name="Google Shape;535;g3b3e7766c9d_0_43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pic>
        <p:nvPicPr>
          <p:cNvPr id="536" name="Google Shape;536;g3b3e7766c9d_0_43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37" name="Google Shape;537;g3b3e7766c9d_0_43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38" name="Google Shape;538;g3b3e7766c9d_0_43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539" name="Google Shape;539;g3b3e7766c9d_0_43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pic>
        <p:nvPicPr>
          <p:cNvPr id="545" name="Google Shape;545;g3b3e7766c9d_0_817"/>
          <p:cNvPicPr preferRelativeResize="0"/>
          <p:nvPr/>
        </p:nvPicPr>
        <p:blipFill rotWithShape="1">
          <a:blip r:embed="rId3">
            <a:alphaModFix/>
          </a:blip>
          <a:srcRect b="0" l="0" r="0" t="0"/>
          <a:stretch/>
        </p:blipFill>
        <p:spPr>
          <a:xfrm>
            <a:off x="2935095" y="274675"/>
            <a:ext cx="3239617" cy="5705450"/>
          </a:xfrm>
          <a:prstGeom prst="rect">
            <a:avLst/>
          </a:prstGeom>
          <a:noFill/>
          <a:ln cap="flat" cmpd="sng" w="9525">
            <a:solidFill>
              <a:schemeClr val="dk1"/>
            </a:solidFill>
            <a:prstDash val="solid"/>
            <a:round/>
            <a:headEnd len="sm" w="sm" type="none"/>
            <a:tailEnd len="sm" w="sm" type="none"/>
          </a:ln>
        </p:spPr>
      </p:pic>
      <p:pic>
        <p:nvPicPr>
          <p:cNvPr id="546" name="Google Shape;546;g3b3e7766c9d_0_817"/>
          <p:cNvPicPr preferRelativeResize="0"/>
          <p:nvPr/>
        </p:nvPicPr>
        <p:blipFill rotWithShape="1">
          <a:blip r:embed="rId4">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47" name="Google Shape;547;g3b3e7766c9d_0_817"/>
          <p:cNvPicPr preferRelativeResize="0"/>
          <p:nvPr/>
        </p:nvPicPr>
        <p:blipFill rotWithShape="1">
          <a:blip r:embed="rId5">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48" name="Google Shape;548;g3b3e7766c9d_0_817"/>
          <p:cNvPicPr preferRelativeResize="0"/>
          <p:nvPr/>
        </p:nvPicPr>
        <p:blipFill rotWithShape="1">
          <a:blip r:embed="rId6">
            <a:alphaModFix/>
          </a:blip>
          <a:srcRect b="0" l="0" r="0" t="0"/>
          <a:stretch/>
        </p:blipFill>
        <p:spPr>
          <a:xfrm>
            <a:off x="8344295" y="5945933"/>
            <a:ext cx="654480" cy="424080"/>
          </a:xfrm>
          <a:prstGeom prst="rect">
            <a:avLst/>
          </a:prstGeom>
          <a:noFill/>
          <a:ln>
            <a:noFill/>
          </a:ln>
        </p:spPr>
      </p:pic>
      <p:pic>
        <p:nvPicPr>
          <p:cNvPr id="549" name="Google Shape;549;g3b3e7766c9d_0_817"/>
          <p:cNvPicPr preferRelativeResize="0"/>
          <p:nvPr/>
        </p:nvPicPr>
        <p:blipFill rotWithShape="1">
          <a:blip r:embed="rId7">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g3b3e7766c9d_0_579"/>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Service Models- Analogy</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556" name="Google Shape;556;g3b3e7766c9d_0_579"/>
          <p:cNvSpPr/>
          <p:nvPr/>
        </p:nvSpPr>
        <p:spPr>
          <a:xfrm>
            <a:off x="478650"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IAAS (Infrastructure As A Service)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PAAS (Platform As A Service)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SAAS (Software As A Service)</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557" name="Google Shape;557;g3b3e7766c9d_0_57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58" name="Google Shape;558;g3b3e7766c9d_0_579"/>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59" name="Google Shape;559;g3b3e7766c9d_0_579"/>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560" name="Google Shape;560;g3b3e7766c9d_0_579"/>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561" name="Google Shape;561;g3b3e7766c9d_0_579"/>
          <p:cNvSpPr txBox="1"/>
          <p:nvPr/>
        </p:nvSpPr>
        <p:spPr>
          <a:xfrm>
            <a:off x="3722550" y="2353050"/>
            <a:ext cx="1698900" cy="385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Eat Pasta ?</a:t>
            </a:r>
            <a:endParaRPr b="1" i="0" sz="1800" u="none" cap="none" strike="noStrike">
              <a:solidFill>
                <a:srgbClr val="000000"/>
              </a:solidFill>
              <a:latin typeface="Arial"/>
              <a:ea typeface="Arial"/>
              <a:cs typeface="Arial"/>
              <a:sym typeface="Arial"/>
            </a:endParaRPr>
          </a:p>
        </p:txBody>
      </p:sp>
      <p:sp>
        <p:nvSpPr>
          <p:cNvPr id="562" name="Google Shape;562;g3b3e7766c9d_0_579"/>
          <p:cNvSpPr txBox="1"/>
          <p:nvPr/>
        </p:nvSpPr>
        <p:spPr>
          <a:xfrm>
            <a:off x="712300" y="2847175"/>
            <a:ext cx="2055300" cy="19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1. Buying pre-packed ingredients like fresh pasta and sauce made by someone else that you use to cook at home.</a:t>
            </a:r>
            <a:endParaRPr b="1" i="0" sz="1600" u="none" cap="none" strike="noStrike">
              <a:solidFill>
                <a:srgbClr val="000000"/>
              </a:solidFill>
              <a:latin typeface="Arial"/>
              <a:ea typeface="Arial"/>
              <a:cs typeface="Arial"/>
              <a:sym typeface="Arial"/>
            </a:endParaRPr>
          </a:p>
        </p:txBody>
      </p:sp>
      <p:sp>
        <p:nvSpPr>
          <p:cNvPr id="563" name="Google Shape;563;g3b3e7766c9d_0_579"/>
          <p:cNvSpPr txBox="1"/>
          <p:nvPr/>
        </p:nvSpPr>
        <p:spPr>
          <a:xfrm>
            <a:off x="4954350" y="2847175"/>
            <a:ext cx="3676800" cy="19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2. Order takeout or delivery where your meal is prepared for you and you don’t have to worry about the ingredients or how you’ll cook it, but you have to worry about where you’ll eat, the utensils, and cleaning up after your meal. </a:t>
            </a:r>
            <a:endParaRPr b="1" i="0" sz="1600" u="none" cap="none" strike="noStrike">
              <a:solidFill>
                <a:srgbClr val="000000"/>
              </a:solidFill>
              <a:latin typeface="Arial"/>
              <a:ea typeface="Arial"/>
              <a:cs typeface="Arial"/>
              <a:sym typeface="Arial"/>
            </a:endParaRPr>
          </a:p>
        </p:txBody>
      </p:sp>
      <p:sp>
        <p:nvSpPr>
          <p:cNvPr id="564" name="Google Shape;564;g3b3e7766c9d_0_579"/>
          <p:cNvSpPr txBox="1"/>
          <p:nvPr/>
        </p:nvSpPr>
        <p:spPr>
          <a:xfrm>
            <a:off x="2299350" y="4686900"/>
            <a:ext cx="3122100" cy="15114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3. Call ahead to the restaurant and order the exact meal you want. They prepare everything ahead of time for you so that all you have to do is show up and eat.</a:t>
            </a:r>
            <a:endParaRPr b="1"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g3b3e7766c9d_0_452"/>
          <p:cNvSpPr txBox="1"/>
          <p:nvPr>
            <p:ph type="title"/>
          </p:nvPr>
        </p:nvSpPr>
        <p:spPr>
          <a:xfrm>
            <a:off x="457200" y="597400"/>
            <a:ext cx="8229000" cy="8196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Scenarios where PaaS is not ideal </a:t>
            </a:r>
            <a:endParaRPr b="1" sz="3000">
              <a:solidFill>
                <a:srgbClr val="FF0000"/>
              </a:solidFill>
            </a:endParaRPr>
          </a:p>
        </p:txBody>
      </p:sp>
      <p:sp>
        <p:nvSpPr>
          <p:cNvPr id="570" name="Google Shape;570;g3b3e7766c9d_0_452"/>
          <p:cNvSpPr txBox="1"/>
          <p:nvPr>
            <p:ph idx="1" type="body"/>
          </p:nvPr>
        </p:nvSpPr>
        <p:spPr>
          <a:xfrm>
            <a:off x="457200" y="1600200"/>
            <a:ext cx="8229000" cy="31302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Where </a:t>
            </a:r>
            <a:r>
              <a:rPr b="1" lang="en-US" sz="2000">
                <a:solidFill>
                  <a:srgbClr val="FF0000"/>
                </a:solidFill>
              </a:rPr>
              <a:t>proprietary languages</a:t>
            </a:r>
            <a:r>
              <a:rPr lang="en-US" sz="2000">
                <a:solidFill>
                  <a:schemeClr val="dk1"/>
                </a:solidFill>
              </a:rPr>
              <a:t> or approaches would impact on the development process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Where a proprietary language would hinder later moves to another provider – concerns are raised about </a:t>
            </a:r>
            <a:r>
              <a:rPr b="1" lang="en-US" sz="2000">
                <a:solidFill>
                  <a:srgbClr val="FF0000"/>
                </a:solidFill>
              </a:rPr>
              <a:t>vendor lock in </a:t>
            </a:r>
            <a:endParaRPr b="1" sz="2000">
              <a:solidFill>
                <a:srgbClr val="FF0000"/>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Where application performance requires </a:t>
            </a:r>
            <a:r>
              <a:rPr b="1" lang="en-US" sz="2000">
                <a:solidFill>
                  <a:srgbClr val="FF0000"/>
                </a:solidFill>
              </a:rPr>
              <a:t>customization of the underlying hardware</a:t>
            </a:r>
            <a:r>
              <a:rPr lang="en-US" sz="2000">
                <a:solidFill>
                  <a:schemeClr val="dk1"/>
                </a:solidFill>
              </a:rPr>
              <a:t> and software </a:t>
            </a:r>
            <a:endParaRPr sz="2000">
              <a:solidFill>
                <a:schemeClr val="dk1"/>
              </a:solidFill>
            </a:endParaRPr>
          </a:p>
        </p:txBody>
      </p:sp>
      <p:sp>
        <p:nvSpPr>
          <p:cNvPr id="571" name="Google Shape;571;g3b3e7766c9d_0_452"/>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572" name="Google Shape;572;g3b3e7766c9d_0_452"/>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573" name="Google Shape;573;g3b3e7766c9d_0_452"/>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574" name="Google Shape;574;g3b3e7766c9d_0_452"/>
          <p:cNvSpPr/>
          <p:nvPr/>
        </p:nvSpPr>
        <p:spPr>
          <a:xfrm>
            <a:off x="8566041" y="4149080"/>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575" name="Google Shape;575;g3b3e7766c9d_0_45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76" name="Google Shape;576;g3b3e7766c9d_0_45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77" name="Google Shape;577;g3b3e7766c9d_0_45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578" name="Google Shape;578;g3b3e7766c9d_0_45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b3e7766c9d_0_463"/>
          <p:cNvSpPr txBox="1"/>
          <p:nvPr>
            <p:ph type="title"/>
          </p:nvPr>
        </p:nvSpPr>
        <p:spPr>
          <a:xfrm>
            <a:off x="457200" y="274675"/>
            <a:ext cx="8229000" cy="1094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t/>
            </a:r>
            <a:endParaRPr b="1" sz="3000">
              <a:solidFill>
                <a:srgbClr val="FF0000"/>
              </a:solidFill>
            </a:endParaRPr>
          </a:p>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6.3 Infrastructure as a Service (IaaS) </a:t>
            </a:r>
            <a:endParaRPr b="1" sz="3000">
              <a:solidFill>
                <a:srgbClr val="FF0000"/>
              </a:solidFill>
            </a:endParaRPr>
          </a:p>
        </p:txBody>
      </p:sp>
      <p:sp>
        <p:nvSpPr>
          <p:cNvPr id="584" name="Google Shape;584;g3b3e7766c9d_0_463"/>
          <p:cNvSpPr txBox="1"/>
          <p:nvPr>
            <p:ph idx="1" type="body"/>
          </p:nvPr>
        </p:nvSpPr>
        <p:spPr>
          <a:xfrm>
            <a:off x="457200" y="1600200"/>
            <a:ext cx="8229000" cy="31119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Infrastructure as a Service (IaaS) is a way of delivering </a:t>
            </a:r>
            <a:r>
              <a:rPr b="1" lang="en-US" sz="2000">
                <a:solidFill>
                  <a:srgbClr val="FF0000"/>
                </a:solidFill>
              </a:rPr>
              <a:t>Cloud Computing infrastructure </a:t>
            </a:r>
            <a:r>
              <a:rPr lang="en-US" sz="2000">
                <a:solidFill>
                  <a:schemeClr val="dk1"/>
                </a:solidFill>
              </a:rPr>
              <a:t>– </a:t>
            </a:r>
            <a:r>
              <a:rPr b="1" lang="en-US" sz="2000">
                <a:solidFill>
                  <a:srgbClr val="FF0000"/>
                </a:solidFill>
              </a:rPr>
              <a:t>servers, storage, network and operating systems</a:t>
            </a:r>
            <a:r>
              <a:rPr lang="en-US" sz="2000">
                <a:solidFill>
                  <a:schemeClr val="dk1"/>
                </a:solidFill>
              </a:rPr>
              <a:t> – as an on-demand service.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Rather than purchasing servers, software, datacenter space or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network equipment, clients instead buy those resources as a fully outsourced service on demand. </a:t>
            </a:r>
            <a:endParaRPr sz="2000">
              <a:solidFill>
                <a:schemeClr val="dk1"/>
              </a:solidFill>
            </a:endParaRPr>
          </a:p>
          <a:p>
            <a:pPr indent="0" lvl="0" marL="0" marR="0" rtl="0" algn="l">
              <a:lnSpc>
                <a:spcPct val="150000"/>
              </a:lnSpc>
              <a:spcBef>
                <a:spcPts val="0"/>
              </a:spcBef>
              <a:spcAft>
                <a:spcPts val="0"/>
              </a:spcAft>
              <a:buSzPts val="1400"/>
              <a:buNone/>
            </a:pPr>
            <a:r>
              <a:t/>
            </a:r>
            <a:endParaRPr sz="2000">
              <a:solidFill>
                <a:schemeClr val="dk1"/>
              </a:solidFill>
            </a:endParaRPr>
          </a:p>
        </p:txBody>
      </p:sp>
      <p:sp>
        <p:nvSpPr>
          <p:cNvPr id="585" name="Google Shape;585;g3b3e7766c9d_0_463"/>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586" name="Google Shape;586;g3b3e7766c9d_0_463"/>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587" name="Google Shape;587;g3b3e7766c9d_0_46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pic>
        <p:nvPicPr>
          <p:cNvPr id="588" name="Google Shape;588;g3b3e7766c9d_0_46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589" name="Google Shape;589;g3b3e7766c9d_0_463"/>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590" name="Google Shape;590;g3b3e7766c9d_0_463"/>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591" name="Google Shape;591;g3b3e7766c9d_0_463"/>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g3b3e7766c9d_0_471"/>
          <p:cNvSpPr txBox="1"/>
          <p:nvPr>
            <p:ph type="title"/>
          </p:nvPr>
        </p:nvSpPr>
        <p:spPr>
          <a:xfrm>
            <a:off x="457200" y="597400"/>
            <a:ext cx="8229000" cy="8196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Scenarios where IaaS makes sense </a:t>
            </a:r>
            <a:endParaRPr b="1" sz="3000">
              <a:solidFill>
                <a:srgbClr val="FF0000"/>
              </a:solidFill>
            </a:endParaRPr>
          </a:p>
        </p:txBody>
      </p:sp>
      <p:sp>
        <p:nvSpPr>
          <p:cNvPr id="597" name="Google Shape;597;g3b3e7766c9d_0_471"/>
          <p:cNvSpPr txBox="1"/>
          <p:nvPr>
            <p:ph idx="1" type="body"/>
          </p:nvPr>
        </p:nvSpPr>
        <p:spPr>
          <a:xfrm>
            <a:off x="457200" y="1650388"/>
            <a:ext cx="8229000" cy="39819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Where</a:t>
            </a:r>
            <a:r>
              <a:rPr b="1" lang="en-US" sz="2000">
                <a:solidFill>
                  <a:srgbClr val="FF0000"/>
                </a:solidFill>
              </a:rPr>
              <a:t> demand is very volatile</a:t>
            </a:r>
            <a:r>
              <a:rPr lang="en-US" sz="2000">
                <a:solidFill>
                  <a:schemeClr val="dk1"/>
                </a:solidFill>
              </a:rPr>
              <a:t> – any time there are significant spikes and troughs in terms of demand on the infrastructure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For </a:t>
            </a:r>
            <a:r>
              <a:rPr b="1" lang="en-US" sz="2000">
                <a:solidFill>
                  <a:srgbClr val="FF0000"/>
                </a:solidFill>
              </a:rPr>
              <a:t>new organizations without the capital </a:t>
            </a:r>
            <a:r>
              <a:rPr lang="en-US" sz="2000">
                <a:solidFill>
                  <a:schemeClr val="dk1"/>
                </a:solidFill>
              </a:rPr>
              <a:t>to invest in hardware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Where the organization is growing rapidly and scaling hardware would be problematic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Where there is pressure on the organization to </a:t>
            </a:r>
            <a:r>
              <a:rPr b="1" lang="en-US" sz="2000">
                <a:solidFill>
                  <a:srgbClr val="FF0000"/>
                </a:solidFill>
              </a:rPr>
              <a:t>limit capital expenditure</a:t>
            </a:r>
            <a:r>
              <a:rPr lang="en-US" sz="2000">
                <a:solidFill>
                  <a:schemeClr val="dk1"/>
                </a:solidFill>
              </a:rPr>
              <a:t> and to move to operating expenditure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For specific line of business,</a:t>
            </a:r>
            <a:r>
              <a:rPr b="1" lang="en-US" sz="2000">
                <a:solidFill>
                  <a:srgbClr val="FF0000"/>
                </a:solidFill>
              </a:rPr>
              <a:t> trial or temporary infrastructural needs </a:t>
            </a:r>
            <a:endParaRPr b="1" sz="2000">
              <a:solidFill>
                <a:srgbClr val="FF0000"/>
              </a:solidFill>
            </a:endParaRPr>
          </a:p>
          <a:p>
            <a:pPr indent="0" lvl="0" marL="457200" marR="0" rtl="0" algn="l">
              <a:lnSpc>
                <a:spcPct val="150000"/>
              </a:lnSpc>
              <a:spcBef>
                <a:spcPts val="0"/>
              </a:spcBef>
              <a:spcAft>
                <a:spcPts val="0"/>
              </a:spcAft>
              <a:buSzPts val="1400"/>
              <a:buNone/>
            </a:pPr>
            <a:r>
              <a:t/>
            </a:r>
            <a:endParaRPr sz="2000">
              <a:solidFill>
                <a:schemeClr val="dk1"/>
              </a:solidFill>
            </a:endParaRPr>
          </a:p>
        </p:txBody>
      </p:sp>
      <p:sp>
        <p:nvSpPr>
          <p:cNvPr id="598" name="Google Shape;598;g3b3e7766c9d_0_471"/>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599" name="Google Shape;599;g3b3e7766c9d_0_471"/>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pic>
        <p:nvPicPr>
          <p:cNvPr id="600" name="Google Shape;600;g3b3e7766c9d_0_47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01" name="Google Shape;601;g3b3e7766c9d_0_471"/>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02" name="Google Shape;602;g3b3e7766c9d_0_471"/>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603" name="Google Shape;603;g3b3e7766c9d_0_471"/>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g3b3e7766c9d_0_490"/>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Scenarios where IaaS may not be the best option </a:t>
            </a:r>
            <a:endParaRPr b="1" sz="3000">
              <a:solidFill>
                <a:srgbClr val="FF0000"/>
              </a:solidFill>
            </a:endParaRPr>
          </a:p>
        </p:txBody>
      </p:sp>
      <p:sp>
        <p:nvSpPr>
          <p:cNvPr id="609" name="Google Shape;609;g3b3e7766c9d_0_490"/>
          <p:cNvSpPr txBox="1"/>
          <p:nvPr>
            <p:ph idx="1" type="body"/>
          </p:nvPr>
        </p:nvSpPr>
        <p:spPr>
          <a:xfrm>
            <a:off x="457200" y="1845300"/>
            <a:ext cx="8229000" cy="28668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68300" lvl="0" marL="457200" marR="0" rtl="0" algn="l">
              <a:lnSpc>
                <a:spcPct val="150000"/>
              </a:lnSpc>
              <a:spcBef>
                <a:spcPts val="0"/>
              </a:spcBef>
              <a:spcAft>
                <a:spcPts val="0"/>
              </a:spcAft>
              <a:buClr>
                <a:schemeClr val="dk1"/>
              </a:buClr>
              <a:buSzPts val="2200"/>
              <a:buChar char="●"/>
            </a:pPr>
            <a:r>
              <a:rPr lang="en-US" sz="2200">
                <a:solidFill>
                  <a:schemeClr val="dk1"/>
                </a:solidFill>
              </a:rPr>
              <a:t>Where </a:t>
            </a:r>
            <a:r>
              <a:rPr b="1" lang="en-US" sz="2200">
                <a:solidFill>
                  <a:srgbClr val="FF0000"/>
                </a:solidFill>
              </a:rPr>
              <a:t>regulatory compliance</a:t>
            </a:r>
            <a:r>
              <a:rPr lang="en-US" sz="2200">
                <a:solidFill>
                  <a:schemeClr val="dk1"/>
                </a:solidFill>
              </a:rPr>
              <a:t> makes the offshoring or outsourcing of data storage and processing difficult.</a:t>
            </a:r>
            <a:endParaRPr sz="2200">
              <a:solidFill>
                <a:schemeClr val="dk1"/>
              </a:solidFill>
            </a:endParaRPr>
          </a:p>
          <a:p>
            <a:pPr indent="-368300" lvl="0" marL="457200" marR="0" rtl="0" algn="l">
              <a:lnSpc>
                <a:spcPct val="150000"/>
              </a:lnSpc>
              <a:spcBef>
                <a:spcPts val="0"/>
              </a:spcBef>
              <a:spcAft>
                <a:spcPts val="0"/>
              </a:spcAft>
              <a:buClr>
                <a:schemeClr val="dk1"/>
              </a:buClr>
              <a:buSzPts val="2200"/>
              <a:buChar char="●"/>
            </a:pPr>
            <a:r>
              <a:rPr lang="en-US" sz="2200">
                <a:solidFill>
                  <a:schemeClr val="dk1"/>
                </a:solidFill>
              </a:rPr>
              <a:t>Where the highest levels of performance are required, and on-premise or dedicated hosted infrastructure has the capacity to meet the organization’s needs </a:t>
            </a:r>
            <a:endParaRPr sz="2200">
              <a:solidFill>
                <a:schemeClr val="dk1"/>
              </a:solidFill>
            </a:endParaRPr>
          </a:p>
          <a:p>
            <a:pPr indent="0" lvl="0" marL="0" marR="0" rtl="0" algn="l">
              <a:lnSpc>
                <a:spcPct val="150000"/>
              </a:lnSpc>
              <a:spcBef>
                <a:spcPts val="0"/>
              </a:spcBef>
              <a:spcAft>
                <a:spcPts val="0"/>
              </a:spcAft>
              <a:buSzPts val="1400"/>
              <a:buNone/>
            </a:pPr>
            <a:r>
              <a:t/>
            </a:r>
            <a:endParaRPr sz="2200">
              <a:solidFill>
                <a:schemeClr val="dk1"/>
              </a:solidFill>
            </a:endParaRPr>
          </a:p>
        </p:txBody>
      </p:sp>
      <p:sp>
        <p:nvSpPr>
          <p:cNvPr id="610" name="Google Shape;610;g3b3e7766c9d_0_490"/>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611" name="Google Shape;611;g3b3e7766c9d_0_490"/>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612" name="Google Shape;612;g3b3e7766c9d_0_490"/>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613" name="Google Shape;613;g3b3e7766c9d_0_490"/>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614" name="Google Shape;614;g3b3e7766c9d_0_49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15" name="Google Shape;615;g3b3e7766c9d_0_490"/>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16" name="Google Shape;616;g3b3e7766c9d_0_490"/>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617" name="Google Shape;617;g3b3e7766c9d_0_490"/>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g3b3e7766c9d_0_593"/>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Service Models- Analogy</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sp>
        <p:nvSpPr>
          <p:cNvPr id="624" name="Google Shape;624;g3b3e7766c9d_0_593"/>
          <p:cNvSpPr/>
          <p:nvPr/>
        </p:nvSpPr>
        <p:spPr>
          <a:xfrm>
            <a:off x="478650" y="1078700"/>
            <a:ext cx="8152500" cy="46971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IAAS (Infrastructure As A Service)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PAAS (Platform As A Service)</a:t>
            </a:r>
            <a:endParaRPr b="1" i="0" sz="1800" u="none" cap="none" strike="noStrike">
              <a:solidFill>
                <a:schemeClr val="dk1"/>
              </a:solidFill>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Arial"/>
                <a:ea typeface="Arial"/>
                <a:cs typeface="Arial"/>
                <a:sym typeface="Arial"/>
              </a:rPr>
              <a:t>SAAS (Software As A Service)</a:t>
            </a:r>
            <a:endParaRPr b="1"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625" name="Google Shape;625;g3b3e7766c9d_0_59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26" name="Google Shape;626;g3b3e7766c9d_0_593"/>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27" name="Google Shape;627;g3b3e7766c9d_0_593"/>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628" name="Google Shape;628;g3b3e7766c9d_0_593"/>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629" name="Google Shape;629;g3b3e7766c9d_0_593"/>
          <p:cNvSpPr txBox="1"/>
          <p:nvPr/>
        </p:nvSpPr>
        <p:spPr>
          <a:xfrm>
            <a:off x="3722550" y="2353050"/>
            <a:ext cx="1698900" cy="385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Eat Pasta ?</a:t>
            </a:r>
            <a:endParaRPr b="1" i="0" sz="1800" u="none" cap="none" strike="noStrike">
              <a:solidFill>
                <a:srgbClr val="000000"/>
              </a:solidFill>
              <a:latin typeface="Arial"/>
              <a:ea typeface="Arial"/>
              <a:cs typeface="Arial"/>
              <a:sym typeface="Arial"/>
            </a:endParaRPr>
          </a:p>
        </p:txBody>
      </p:sp>
      <p:sp>
        <p:nvSpPr>
          <p:cNvPr id="630" name="Google Shape;630;g3b3e7766c9d_0_593"/>
          <p:cNvSpPr txBox="1"/>
          <p:nvPr/>
        </p:nvSpPr>
        <p:spPr>
          <a:xfrm>
            <a:off x="712300" y="2847175"/>
            <a:ext cx="2055300" cy="19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1. Buying pre-packed ingredients like fresh pasta and sauce made by someone else that you use to cook at home.</a:t>
            </a:r>
            <a:endParaRPr b="1" i="0" sz="1600" u="none" cap="none" strike="noStrike">
              <a:solidFill>
                <a:srgbClr val="000000"/>
              </a:solidFill>
              <a:latin typeface="Arial"/>
              <a:ea typeface="Arial"/>
              <a:cs typeface="Arial"/>
              <a:sym typeface="Arial"/>
            </a:endParaRPr>
          </a:p>
        </p:txBody>
      </p:sp>
      <p:sp>
        <p:nvSpPr>
          <p:cNvPr id="631" name="Google Shape;631;g3b3e7766c9d_0_593"/>
          <p:cNvSpPr txBox="1"/>
          <p:nvPr/>
        </p:nvSpPr>
        <p:spPr>
          <a:xfrm>
            <a:off x="4954350" y="2847175"/>
            <a:ext cx="3676800" cy="19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2. Order takeout or delivery where your meal is prepared for you and you don’t have to worry about the ingredients or how you’ll cook it, but you have to worry about where you’ll eat, the utensils, and cleaning up after your meal. </a:t>
            </a:r>
            <a:endParaRPr b="1" i="0" sz="1600" u="none" cap="none" strike="noStrike">
              <a:solidFill>
                <a:srgbClr val="000000"/>
              </a:solidFill>
              <a:latin typeface="Arial"/>
              <a:ea typeface="Arial"/>
              <a:cs typeface="Arial"/>
              <a:sym typeface="Arial"/>
            </a:endParaRPr>
          </a:p>
        </p:txBody>
      </p:sp>
      <p:sp>
        <p:nvSpPr>
          <p:cNvPr id="632" name="Google Shape;632;g3b3e7766c9d_0_593"/>
          <p:cNvSpPr txBox="1"/>
          <p:nvPr/>
        </p:nvSpPr>
        <p:spPr>
          <a:xfrm>
            <a:off x="2299350" y="4686900"/>
            <a:ext cx="3122100" cy="15114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3. Call ahead to the restaurant and order the exact meal you want. They prepare everything ahead of time for you so that all you have to do is show up and eat.</a:t>
            </a:r>
            <a:endParaRPr b="1"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g3b3e7766c9d_0_832"/>
          <p:cNvSpPr txBox="1"/>
          <p:nvPr>
            <p:ph type="title"/>
          </p:nvPr>
        </p:nvSpPr>
        <p:spPr>
          <a:xfrm>
            <a:off x="457200" y="274680"/>
            <a:ext cx="8229000" cy="1142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639" name="Google Shape;639;g3b3e7766c9d_0_832"/>
          <p:cNvSpPr txBox="1"/>
          <p:nvPr>
            <p:ph idx="1" type="body"/>
          </p:nvPr>
        </p:nvSpPr>
        <p:spPr>
          <a:xfrm>
            <a:off x="457200" y="1600200"/>
            <a:ext cx="8229000" cy="4525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pic>
        <p:nvPicPr>
          <p:cNvPr id="640" name="Google Shape;640;g3b3e7766c9d_0_83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41" name="Google Shape;641;g3b3e7766c9d_0_83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42" name="Google Shape;642;g3b3e7766c9d_0_83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643" name="Google Shape;643;g3b3e7766c9d_0_83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grpSp>
        <p:nvGrpSpPr>
          <p:cNvPr id="644" name="Google Shape;644;g3b3e7766c9d_0_832"/>
          <p:cNvGrpSpPr/>
          <p:nvPr/>
        </p:nvGrpSpPr>
        <p:grpSpPr>
          <a:xfrm>
            <a:off x="2777854" y="90439"/>
            <a:ext cx="3554084" cy="5945570"/>
            <a:chOff x="3115048" y="772236"/>
            <a:chExt cx="2913900" cy="4874617"/>
          </a:xfrm>
        </p:grpSpPr>
        <p:pic>
          <p:nvPicPr>
            <p:cNvPr id="645" name="Google Shape;645;g3b3e7766c9d_0_832"/>
            <p:cNvPicPr preferRelativeResize="0"/>
            <p:nvPr/>
          </p:nvPicPr>
          <p:blipFill rotWithShape="1">
            <a:blip r:embed="rId7">
              <a:alphaModFix/>
            </a:blip>
            <a:srcRect b="0" l="0" r="0" t="0"/>
            <a:stretch/>
          </p:blipFill>
          <p:spPr>
            <a:xfrm>
              <a:off x="3115048" y="772236"/>
              <a:ext cx="1657865" cy="4874617"/>
            </a:xfrm>
            <a:prstGeom prst="rect">
              <a:avLst/>
            </a:prstGeom>
            <a:noFill/>
            <a:ln cap="flat" cmpd="sng" w="10050">
              <a:solidFill>
                <a:schemeClr val="dk1"/>
              </a:solidFill>
              <a:prstDash val="solid"/>
              <a:round/>
              <a:headEnd len="sm" w="sm" type="none"/>
              <a:tailEnd len="sm" w="sm" type="none"/>
            </a:ln>
          </p:spPr>
        </p:pic>
        <p:pic>
          <p:nvPicPr>
            <p:cNvPr id="646" name="Google Shape;646;g3b3e7766c9d_0_832"/>
            <p:cNvPicPr preferRelativeResize="0"/>
            <p:nvPr/>
          </p:nvPicPr>
          <p:blipFill rotWithShape="1">
            <a:blip r:embed="rId8">
              <a:alphaModFix/>
            </a:blip>
            <a:srcRect b="0" l="0" r="0" t="0"/>
            <a:stretch/>
          </p:blipFill>
          <p:spPr>
            <a:xfrm>
              <a:off x="4709255" y="933063"/>
              <a:ext cx="1319693" cy="4552942"/>
            </a:xfrm>
            <a:prstGeom prst="rect">
              <a:avLst/>
            </a:prstGeom>
            <a:noFill/>
            <a:ln cap="flat" cmpd="sng" w="10050">
              <a:solidFill>
                <a:schemeClr val="dk1"/>
              </a:solidFill>
              <a:prstDash val="solid"/>
              <a:round/>
              <a:headEnd len="sm" w="sm" type="none"/>
              <a:tailEnd len="sm" w="sm" type="none"/>
            </a:ln>
          </p:spPr>
        </p:pic>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pic>
        <p:nvPicPr>
          <p:cNvPr id="652" name="Google Shape;652;g3b3e7766c9d_0_200"/>
          <p:cNvPicPr preferRelativeResize="0"/>
          <p:nvPr/>
        </p:nvPicPr>
        <p:blipFill rotWithShape="1">
          <a:blip r:embed="rId3">
            <a:alphaModFix/>
          </a:blip>
          <a:srcRect b="0" l="0" r="0" t="0"/>
          <a:stretch/>
        </p:blipFill>
        <p:spPr>
          <a:xfrm>
            <a:off x="182873" y="991686"/>
            <a:ext cx="1657865" cy="4874617"/>
          </a:xfrm>
          <a:prstGeom prst="rect">
            <a:avLst/>
          </a:prstGeom>
          <a:noFill/>
          <a:ln>
            <a:noFill/>
          </a:ln>
        </p:spPr>
      </p:pic>
      <p:pic>
        <p:nvPicPr>
          <p:cNvPr id="653" name="Google Shape;653;g3b3e7766c9d_0_200"/>
          <p:cNvPicPr preferRelativeResize="0"/>
          <p:nvPr/>
        </p:nvPicPr>
        <p:blipFill rotWithShape="1">
          <a:blip r:embed="rId4">
            <a:alphaModFix/>
          </a:blip>
          <a:srcRect b="0" l="0" r="0" t="0"/>
          <a:stretch/>
        </p:blipFill>
        <p:spPr>
          <a:xfrm>
            <a:off x="1777080" y="1152513"/>
            <a:ext cx="1319693" cy="4552942"/>
          </a:xfrm>
          <a:prstGeom prst="rect">
            <a:avLst/>
          </a:prstGeom>
          <a:noFill/>
          <a:ln>
            <a:noFill/>
          </a:ln>
        </p:spPr>
      </p:pic>
      <p:pic>
        <p:nvPicPr>
          <p:cNvPr id="654" name="Google Shape;654;g3b3e7766c9d_0_200"/>
          <p:cNvPicPr preferRelativeResize="0"/>
          <p:nvPr/>
        </p:nvPicPr>
        <p:blipFill rotWithShape="1">
          <a:blip r:embed="rId5">
            <a:alphaModFix/>
          </a:blip>
          <a:srcRect b="0" l="0" r="0" t="0"/>
          <a:stretch/>
        </p:blipFill>
        <p:spPr>
          <a:xfrm>
            <a:off x="3573850" y="1152525"/>
            <a:ext cx="2585205" cy="4552925"/>
          </a:xfrm>
          <a:prstGeom prst="rect">
            <a:avLst/>
          </a:prstGeom>
          <a:noFill/>
          <a:ln>
            <a:noFill/>
          </a:ln>
        </p:spPr>
      </p:pic>
      <p:pic>
        <p:nvPicPr>
          <p:cNvPr id="655" name="Google Shape;655;g3b3e7766c9d_0_200"/>
          <p:cNvPicPr preferRelativeResize="0"/>
          <p:nvPr/>
        </p:nvPicPr>
        <p:blipFill rotWithShape="1">
          <a:blip r:embed="rId6">
            <a:alphaModFix/>
          </a:blip>
          <a:srcRect b="0" l="0" r="0" t="0"/>
          <a:stretch/>
        </p:blipFill>
        <p:spPr>
          <a:xfrm>
            <a:off x="6348083" y="1152550"/>
            <a:ext cx="2690367" cy="4552925"/>
          </a:xfrm>
          <a:prstGeom prst="rect">
            <a:avLst/>
          </a:prstGeom>
          <a:noFill/>
          <a:ln>
            <a:noFill/>
          </a:ln>
        </p:spPr>
      </p:pic>
      <p:sp>
        <p:nvSpPr>
          <p:cNvPr id="656" name="Google Shape;656;g3b3e7766c9d_0_200"/>
          <p:cNvSpPr/>
          <p:nvPr/>
        </p:nvSpPr>
        <p:spPr>
          <a:xfrm>
            <a:off x="478650" y="355395"/>
            <a:ext cx="8152500" cy="55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F0000"/>
                </a:solidFill>
                <a:latin typeface="Arial"/>
                <a:ea typeface="Arial"/>
                <a:cs typeface="Arial"/>
                <a:sym typeface="Arial"/>
              </a:rPr>
              <a:t>Service Models Differences</a:t>
            </a:r>
            <a:endParaRPr b="0" i="0" sz="3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1" i="0" sz="3000" u="none" cap="none" strike="noStrike">
              <a:solidFill>
                <a:srgbClr val="FF0000"/>
              </a:solidFill>
              <a:latin typeface="Arial"/>
              <a:ea typeface="Arial"/>
              <a:cs typeface="Arial"/>
              <a:sym typeface="Arial"/>
            </a:endParaRPr>
          </a:p>
        </p:txBody>
      </p:sp>
      <p:pic>
        <p:nvPicPr>
          <p:cNvPr id="657" name="Google Shape;657;g3b3e7766c9d_0_200"/>
          <p:cNvPicPr preferRelativeResize="0"/>
          <p:nvPr/>
        </p:nvPicPr>
        <p:blipFill rotWithShape="1">
          <a:blip r:embed="rId7">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58" name="Google Shape;658;g3b3e7766c9d_0_200"/>
          <p:cNvPicPr preferRelativeResize="0"/>
          <p:nvPr/>
        </p:nvPicPr>
        <p:blipFill rotWithShape="1">
          <a:blip r:embed="rId8">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59" name="Google Shape;659;g3b3e7766c9d_0_200"/>
          <p:cNvPicPr preferRelativeResize="0"/>
          <p:nvPr/>
        </p:nvPicPr>
        <p:blipFill rotWithShape="1">
          <a:blip r:embed="rId9">
            <a:alphaModFix/>
          </a:blip>
          <a:srcRect b="0" l="0" r="0" t="0"/>
          <a:stretch/>
        </p:blipFill>
        <p:spPr>
          <a:xfrm>
            <a:off x="8344295" y="5945933"/>
            <a:ext cx="654480" cy="424080"/>
          </a:xfrm>
          <a:prstGeom prst="rect">
            <a:avLst/>
          </a:prstGeom>
          <a:noFill/>
          <a:ln>
            <a:noFill/>
          </a:ln>
        </p:spPr>
      </p:pic>
      <p:pic>
        <p:nvPicPr>
          <p:cNvPr id="660" name="Google Shape;660;g3b3e7766c9d_0_200"/>
          <p:cNvPicPr preferRelativeResize="0"/>
          <p:nvPr/>
        </p:nvPicPr>
        <p:blipFill rotWithShape="1">
          <a:blip r:embed="rId10">
            <a:alphaModFix/>
          </a:blip>
          <a:srcRect b="0" l="0" r="0" t="0"/>
          <a:stretch/>
        </p:blipFill>
        <p:spPr>
          <a:xfrm>
            <a:off x="-33480" y="6332400"/>
            <a:ext cx="6998399" cy="1753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b3e7766c9d_0_607"/>
          <p:cNvSpPr txBox="1"/>
          <p:nvPr>
            <p:ph type="title"/>
          </p:nvPr>
        </p:nvSpPr>
        <p:spPr>
          <a:xfrm>
            <a:off x="457200" y="274680"/>
            <a:ext cx="8229000" cy="1142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667" name="Google Shape;667;g3b3e7766c9d_0_607"/>
          <p:cNvSpPr txBox="1"/>
          <p:nvPr>
            <p:ph idx="1" type="body"/>
          </p:nvPr>
        </p:nvSpPr>
        <p:spPr>
          <a:xfrm>
            <a:off x="457200" y="1600200"/>
            <a:ext cx="8229000" cy="4525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pic>
        <p:nvPicPr>
          <p:cNvPr id="668" name="Google Shape;668;g3b3e7766c9d_0_607"/>
          <p:cNvPicPr preferRelativeResize="0"/>
          <p:nvPr/>
        </p:nvPicPr>
        <p:blipFill rotWithShape="1">
          <a:blip r:embed="rId3">
            <a:alphaModFix/>
          </a:blip>
          <a:srcRect b="0" l="0" r="0" t="0"/>
          <a:stretch/>
        </p:blipFill>
        <p:spPr>
          <a:xfrm>
            <a:off x="560225" y="731874"/>
            <a:ext cx="8125972" cy="4923975"/>
          </a:xfrm>
          <a:prstGeom prst="rect">
            <a:avLst/>
          </a:prstGeom>
          <a:noFill/>
          <a:ln>
            <a:noFill/>
          </a:ln>
        </p:spPr>
      </p:pic>
      <p:pic>
        <p:nvPicPr>
          <p:cNvPr id="669" name="Google Shape;669;g3b3e7766c9d_0_607"/>
          <p:cNvPicPr preferRelativeResize="0"/>
          <p:nvPr/>
        </p:nvPicPr>
        <p:blipFill rotWithShape="1">
          <a:blip r:embed="rId4">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70" name="Google Shape;670;g3b3e7766c9d_0_607"/>
          <p:cNvPicPr preferRelativeResize="0"/>
          <p:nvPr/>
        </p:nvPicPr>
        <p:blipFill rotWithShape="1">
          <a:blip r:embed="rId5">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71" name="Google Shape;671;g3b3e7766c9d_0_607"/>
          <p:cNvPicPr preferRelativeResize="0"/>
          <p:nvPr/>
        </p:nvPicPr>
        <p:blipFill rotWithShape="1">
          <a:blip r:embed="rId6">
            <a:alphaModFix/>
          </a:blip>
          <a:srcRect b="0" l="0" r="0" t="0"/>
          <a:stretch/>
        </p:blipFill>
        <p:spPr>
          <a:xfrm>
            <a:off x="8344295" y="5945933"/>
            <a:ext cx="654480" cy="424080"/>
          </a:xfrm>
          <a:prstGeom prst="rect">
            <a:avLst/>
          </a:prstGeom>
          <a:noFill/>
          <a:ln>
            <a:noFill/>
          </a:ln>
        </p:spPr>
      </p:pic>
      <p:pic>
        <p:nvPicPr>
          <p:cNvPr id="672" name="Google Shape;672;g3b3e7766c9d_0_607"/>
          <p:cNvPicPr preferRelativeResize="0"/>
          <p:nvPr/>
        </p:nvPicPr>
        <p:blipFill rotWithShape="1">
          <a:blip r:embed="rId7">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b293c47ade_0_16"/>
          <p:cNvSpPr txBox="1"/>
          <p:nvPr>
            <p:ph type="title"/>
          </p:nvPr>
        </p:nvSpPr>
        <p:spPr>
          <a:xfrm>
            <a:off x="457200" y="274680"/>
            <a:ext cx="8229000" cy="1142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679" name="Google Shape;679;g3b293c47ade_0_16"/>
          <p:cNvSpPr txBox="1"/>
          <p:nvPr>
            <p:ph idx="1" type="body"/>
          </p:nvPr>
        </p:nvSpPr>
        <p:spPr>
          <a:xfrm>
            <a:off x="457200" y="1600200"/>
            <a:ext cx="8229000" cy="4525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pic>
        <p:nvPicPr>
          <p:cNvPr id="680" name="Google Shape;680;g3b293c47ade_0_16"/>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81" name="Google Shape;681;g3b293c47ade_0_16"/>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82" name="Google Shape;682;g3b293c47ade_0_16"/>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683" name="Google Shape;683;g3b293c47ade_0_16"/>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684" name="Google Shape;684;g3b293c47ade_0_16"/>
          <p:cNvSpPr txBox="1"/>
          <p:nvPr>
            <p:ph type="title"/>
          </p:nvPr>
        </p:nvSpPr>
        <p:spPr>
          <a:xfrm>
            <a:off x="759900" y="2099450"/>
            <a:ext cx="7624200" cy="2193900"/>
          </a:xfrm>
          <a:prstGeom prst="rect">
            <a:avLst/>
          </a:prstGeom>
          <a:noFill/>
          <a:ln cap="flat" cmpd="sng" w="9525">
            <a:solidFill>
              <a:schemeClr val="dk1"/>
            </a:solidFill>
            <a:prstDash val="solid"/>
            <a:round/>
            <a:headEnd len="sm" w="sm" type="none"/>
            <a:tailEnd len="sm" w="sm" type="none"/>
          </a:ln>
        </p:spPr>
        <p:txBody>
          <a:bodyPr anchorCtr="0" anchor="b" bIns="45700" lIns="91425" spcFirstLastPara="1" rIns="91425" wrap="square" tIns="45700">
            <a:noAutofit/>
          </a:bodyPr>
          <a:lstStyle/>
          <a:p>
            <a:pPr indent="0" lvl="0" marL="0" marR="0" rtl="0" algn="l">
              <a:lnSpc>
                <a:spcPct val="150000"/>
              </a:lnSpc>
              <a:spcBef>
                <a:spcPts val="0"/>
              </a:spcBef>
              <a:spcAft>
                <a:spcPts val="0"/>
              </a:spcAft>
              <a:buSzPts val="1400"/>
              <a:buNone/>
            </a:pPr>
            <a:r>
              <a:rPr b="1" i="1" lang="en-US" sz="2400">
                <a:solidFill>
                  <a:srgbClr val="FF0000"/>
                </a:solidFill>
              </a:rPr>
              <a:t>Applications like Spotify, social media platforms, Swiggy, and Uber are examples of SaaS for end users, while their backend systems are built using PaaS and IaaS.</a:t>
            </a:r>
            <a:endParaRPr b="1" i="1" sz="2400">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g3b3e7766c9d_0_672"/>
          <p:cNvSpPr txBox="1"/>
          <p:nvPr>
            <p:ph type="title"/>
          </p:nvPr>
        </p:nvSpPr>
        <p:spPr>
          <a:xfrm>
            <a:off x="457200" y="274675"/>
            <a:ext cx="8229000" cy="6336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400"/>
              <a:buFont typeface="Arial"/>
              <a:buNone/>
            </a:pPr>
            <a:r>
              <a:rPr b="1" lang="en-US" sz="3000">
                <a:solidFill>
                  <a:srgbClr val="FF0000"/>
                </a:solidFill>
              </a:rPr>
              <a:t>                   Service Models (XaaS) </a:t>
            </a:r>
            <a:endParaRPr b="1" sz="3000">
              <a:solidFill>
                <a:srgbClr val="FF0000"/>
              </a:solidFill>
            </a:endParaRPr>
          </a:p>
        </p:txBody>
      </p:sp>
      <p:sp>
        <p:nvSpPr>
          <p:cNvPr id="690" name="Google Shape;690;g3b3e7766c9d_0_672"/>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691" name="Google Shape;691;g3b3e7766c9d_0_672"/>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692" name="Google Shape;692;g3b3e7766c9d_0_672"/>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693" name="Google Shape;693;g3b3e7766c9d_0_672"/>
          <p:cNvSpPr txBox="1"/>
          <p:nvPr/>
        </p:nvSpPr>
        <p:spPr>
          <a:xfrm>
            <a:off x="457200" y="1368902"/>
            <a:ext cx="8229600" cy="49293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Most common examples of XaaS are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40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Software as a Service (SaaS)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Platform as a Service (PaaS)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Infrastructure as a Service (IaaS)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45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45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O</a:t>
            </a:r>
            <a:r>
              <a:rPr b="1" i="0" lang="en-US" sz="1800" u="none" cap="none" strike="noStrike">
                <a:solidFill>
                  <a:schemeClr val="dk1"/>
                </a:solidFill>
                <a:latin typeface="Arial"/>
                <a:ea typeface="Arial"/>
                <a:cs typeface="Arial"/>
                <a:sym typeface="Arial"/>
              </a:rPr>
              <a:t>ther examples of XaaS include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40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Business Process as a Service (BPaaS)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Storage as a service (another SaaS)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Security as a service (SECaaS)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Database as a service (DaaS)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Monitoring/management as a service (MaaS)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Communications, content and computing as a service (CaaS)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Identity as a service (IDaaS)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Backup as a service (BaaS)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Desktop as a service (DaaS)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pic>
        <p:nvPicPr>
          <p:cNvPr id="694" name="Google Shape;694;g3b3e7766c9d_0_67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695" name="Google Shape;695;g3b3e7766c9d_0_67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696" name="Google Shape;696;g3b3e7766c9d_0_67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697" name="Google Shape;697;g3b3e7766c9d_0_67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g3b3e7766c9d_0_680"/>
          <p:cNvSpPr txBox="1"/>
          <p:nvPr>
            <p:ph type="title"/>
          </p:nvPr>
        </p:nvSpPr>
        <p:spPr>
          <a:xfrm>
            <a:off x="456925" y="786730"/>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Service Models (XaaS) </a:t>
            </a:r>
            <a:endParaRPr b="1" sz="3000">
              <a:solidFill>
                <a:srgbClr val="FF0000"/>
              </a:solidFill>
            </a:endParaRPr>
          </a:p>
        </p:txBody>
      </p:sp>
      <p:sp>
        <p:nvSpPr>
          <p:cNvPr id="703" name="Google Shape;703;g3b3e7766c9d_0_680"/>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04" name="Google Shape;704;g3b3e7766c9d_0_680"/>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05" name="Google Shape;705;g3b3e7766c9d_0_680"/>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06" name="Google Shape;706;g3b3e7766c9d_0_680"/>
          <p:cNvSpPr txBox="1"/>
          <p:nvPr>
            <p:ph idx="1" type="body"/>
          </p:nvPr>
        </p:nvSpPr>
        <p:spPr>
          <a:xfrm>
            <a:off x="457200" y="2275200"/>
            <a:ext cx="8418600" cy="18321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X as a Service (XaaS) is a generalization for cloud-related services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XaaS stands for "anything as a service" or "everything as a service“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XaaS refers to an increasing number of services that are delivered over the Internet rather than provided locally or on-site </a:t>
            </a:r>
            <a:endParaRPr sz="2000">
              <a:solidFill>
                <a:schemeClr val="dk1"/>
              </a:solidFill>
            </a:endParaRPr>
          </a:p>
          <a:p>
            <a:pPr indent="0" lvl="0" marL="457200" marR="0" rtl="0" algn="l">
              <a:lnSpc>
                <a:spcPct val="150000"/>
              </a:lnSpc>
              <a:spcBef>
                <a:spcPts val="0"/>
              </a:spcBef>
              <a:spcAft>
                <a:spcPts val="0"/>
              </a:spcAft>
              <a:buSzPts val="1400"/>
              <a:buNone/>
            </a:pPr>
            <a:r>
              <a:t/>
            </a:r>
            <a:endParaRPr sz="2000">
              <a:solidFill>
                <a:schemeClr val="dk1"/>
              </a:solidFill>
            </a:endParaRPr>
          </a:p>
        </p:txBody>
      </p:sp>
      <p:pic>
        <p:nvPicPr>
          <p:cNvPr id="707" name="Google Shape;707;g3b3e7766c9d_0_68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08" name="Google Shape;708;g3b3e7766c9d_0_680"/>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09" name="Google Shape;709;g3b3e7766c9d_0_680"/>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10" name="Google Shape;710;g3b3e7766c9d_0_680"/>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g3b3e7766c9d_0_614"/>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KNOWLEDGE CHECK</a:t>
            </a:r>
            <a:endParaRPr b="1" sz="3000">
              <a:solidFill>
                <a:srgbClr val="FF0000"/>
              </a:solidFill>
            </a:endParaRPr>
          </a:p>
        </p:txBody>
      </p:sp>
      <p:sp>
        <p:nvSpPr>
          <p:cNvPr id="716" name="Google Shape;716;g3b3e7766c9d_0_614"/>
          <p:cNvSpPr txBox="1"/>
          <p:nvPr>
            <p:ph idx="1" type="body"/>
          </p:nvPr>
        </p:nvSpPr>
        <p:spPr>
          <a:xfrm>
            <a:off x="457200" y="1475225"/>
            <a:ext cx="41148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SzPts val="1400"/>
              <a:buNone/>
            </a:pPr>
            <a:r>
              <a:rPr lang="en-US" sz="2000">
                <a:solidFill>
                  <a:schemeClr val="dk1"/>
                </a:solidFill>
              </a:rPr>
              <a:t>Q1. A student writes Java code on an online compiler and clicks Run. Which cloud service model is being used?</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a) SaaS</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b) PaaS </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c) IaaS</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d) FaaS</a:t>
            </a:r>
            <a:endParaRPr sz="2000">
              <a:solidFill>
                <a:schemeClr val="dk1"/>
              </a:solidFill>
            </a:endParaRPr>
          </a:p>
          <a:p>
            <a:pPr indent="0" lvl="0" marL="457200" marR="0" rtl="0" algn="l">
              <a:lnSpc>
                <a:spcPct val="150000"/>
              </a:lnSpc>
              <a:spcBef>
                <a:spcPts val="0"/>
              </a:spcBef>
              <a:spcAft>
                <a:spcPts val="0"/>
              </a:spcAft>
              <a:buSzPts val="1400"/>
              <a:buNone/>
            </a:pPr>
            <a:r>
              <a:t/>
            </a:r>
            <a:endParaRPr sz="2000">
              <a:solidFill>
                <a:schemeClr val="dk1"/>
              </a:solidFill>
            </a:endParaRPr>
          </a:p>
          <a:p>
            <a:pPr indent="0" lvl="0" marL="0" marR="0" rtl="0" algn="l">
              <a:lnSpc>
                <a:spcPct val="150000"/>
              </a:lnSpc>
              <a:spcBef>
                <a:spcPts val="0"/>
              </a:spcBef>
              <a:spcAft>
                <a:spcPts val="0"/>
              </a:spcAft>
              <a:buSzPts val="1647"/>
              <a:buNone/>
            </a:pPr>
            <a:r>
              <a:t/>
            </a:r>
            <a:endParaRPr sz="2000">
              <a:solidFill>
                <a:schemeClr val="dk1"/>
              </a:solidFill>
            </a:endParaRPr>
          </a:p>
        </p:txBody>
      </p:sp>
      <p:sp>
        <p:nvSpPr>
          <p:cNvPr id="717" name="Google Shape;717;g3b3e7766c9d_0_614"/>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18" name="Google Shape;718;g3b3e7766c9d_0_61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19" name="Google Shape;719;g3b3e7766c9d_0_61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20" name="Google Shape;720;g3b3e7766c9d_0_614"/>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721" name="Google Shape;721;g3b3e7766c9d_0_61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22" name="Google Shape;722;g3b3e7766c9d_0_61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23" name="Google Shape;723;g3b3e7766c9d_0_61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24" name="Google Shape;724;g3b3e7766c9d_0_61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725" name="Google Shape;725;g3b3e7766c9d_0_614"/>
          <p:cNvSpPr txBox="1"/>
          <p:nvPr>
            <p:ph idx="1" type="body"/>
          </p:nvPr>
        </p:nvSpPr>
        <p:spPr>
          <a:xfrm>
            <a:off x="4738350" y="1475225"/>
            <a:ext cx="41148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SzPts val="1400"/>
              <a:buNone/>
            </a:pPr>
            <a:r>
              <a:rPr lang="en-US" sz="2000">
                <a:solidFill>
                  <a:schemeClr val="dk1"/>
                </a:solidFill>
              </a:rPr>
              <a:t>Q2. A system administrator launches a virtual machine and installs an OS and database manually. This is an example of:</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a) SaaS</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b) PaaS</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c) IaaS </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d) DaaS</a:t>
            </a:r>
            <a:endParaRPr sz="2000">
              <a:solidFill>
                <a:schemeClr val="dk1"/>
              </a:solidFill>
            </a:endParaRPr>
          </a:p>
          <a:p>
            <a:pPr indent="0" lvl="0" marL="0" marR="0" rtl="0" algn="l">
              <a:lnSpc>
                <a:spcPct val="150000"/>
              </a:lnSpc>
              <a:spcBef>
                <a:spcPts val="0"/>
              </a:spcBef>
              <a:spcAft>
                <a:spcPts val="0"/>
              </a:spcAft>
              <a:buSzPts val="1400"/>
              <a:buNone/>
            </a:pPr>
            <a:r>
              <a:t/>
            </a:r>
            <a:endParaRPr sz="2000">
              <a:solidFill>
                <a:schemeClr val="dk1"/>
              </a:solidFill>
            </a:endParaRPr>
          </a:p>
          <a:p>
            <a:pPr indent="0" lvl="0" marL="0" marR="0" rtl="0" algn="l">
              <a:lnSpc>
                <a:spcPct val="150000"/>
              </a:lnSpc>
              <a:spcBef>
                <a:spcPts val="0"/>
              </a:spcBef>
              <a:spcAft>
                <a:spcPts val="0"/>
              </a:spcAft>
              <a:buSzPts val="1647"/>
              <a:buNone/>
            </a:pPr>
            <a:r>
              <a:t/>
            </a:r>
            <a:endParaRPr sz="2000">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g3b293c47ade_0_45"/>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KNOWLEDGE CHECK</a:t>
            </a:r>
            <a:endParaRPr b="1" sz="3000">
              <a:solidFill>
                <a:srgbClr val="FF0000"/>
              </a:solidFill>
            </a:endParaRPr>
          </a:p>
        </p:txBody>
      </p:sp>
      <p:sp>
        <p:nvSpPr>
          <p:cNvPr id="731" name="Google Shape;731;g3b293c47ade_0_45"/>
          <p:cNvSpPr txBox="1"/>
          <p:nvPr>
            <p:ph idx="1" type="body"/>
          </p:nvPr>
        </p:nvSpPr>
        <p:spPr>
          <a:xfrm>
            <a:off x="457200" y="1475225"/>
            <a:ext cx="41148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SzPts val="1400"/>
              <a:buNone/>
            </a:pPr>
            <a:r>
              <a:rPr lang="en-US" sz="2000">
                <a:solidFill>
                  <a:schemeClr val="dk1"/>
                </a:solidFill>
              </a:rPr>
              <a:t>Q3. Spotify is classified as SaaS because:</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a) It uses cloud servers</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b) It uses databases</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c) End users consume the software directly</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d) It uses APIs</a:t>
            </a:r>
            <a:endParaRPr sz="2000">
              <a:solidFill>
                <a:schemeClr val="dk1"/>
              </a:solidFill>
            </a:endParaRPr>
          </a:p>
          <a:p>
            <a:pPr indent="0" lvl="0" marL="457200" marR="0" rtl="0" algn="l">
              <a:lnSpc>
                <a:spcPct val="150000"/>
              </a:lnSpc>
              <a:spcBef>
                <a:spcPts val="0"/>
              </a:spcBef>
              <a:spcAft>
                <a:spcPts val="0"/>
              </a:spcAft>
              <a:buSzPts val="1400"/>
              <a:buNone/>
            </a:pPr>
            <a:r>
              <a:t/>
            </a:r>
            <a:endParaRPr sz="2000">
              <a:solidFill>
                <a:schemeClr val="dk1"/>
              </a:solidFill>
            </a:endParaRPr>
          </a:p>
          <a:p>
            <a:pPr indent="0" lvl="0" marL="0" marR="0" rtl="0" algn="l">
              <a:lnSpc>
                <a:spcPct val="150000"/>
              </a:lnSpc>
              <a:spcBef>
                <a:spcPts val="0"/>
              </a:spcBef>
              <a:spcAft>
                <a:spcPts val="0"/>
              </a:spcAft>
              <a:buSzPts val="1647"/>
              <a:buNone/>
            </a:pPr>
            <a:r>
              <a:t/>
            </a:r>
            <a:endParaRPr sz="2000">
              <a:solidFill>
                <a:schemeClr val="dk1"/>
              </a:solidFill>
            </a:endParaRPr>
          </a:p>
        </p:txBody>
      </p:sp>
      <p:sp>
        <p:nvSpPr>
          <p:cNvPr id="732" name="Google Shape;732;g3b293c47ade_0_45"/>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33" name="Google Shape;733;g3b293c47ade_0_45"/>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34" name="Google Shape;734;g3b293c47ade_0_45"/>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35" name="Google Shape;735;g3b293c47ade_0_45"/>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736" name="Google Shape;736;g3b293c47ade_0_45"/>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37" name="Google Shape;737;g3b293c47ade_0_45"/>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38" name="Google Shape;738;g3b293c47ade_0_45"/>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39" name="Google Shape;739;g3b293c47ade_0_45"/>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
        <p:nvSpPr>
          <p:cNvPr id="740" name="Google Shape;740;g3b293c47ade_0_45"/>
          <p:cNvSpPr txBox="1"/>
          <p:nvPr>
            <p:ph idx="1" type="body"/>
          </p:nvPr>
        </p:nvSpPr>
        <p:spPr>
          <a:xfrm>
            <a:off x="4738350" y="1475225"/>
            <a:ext cx="41148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SzPts val="1400"/>
              <a:buNone/>
            </a:pPr>
            <a:r>
              <a:rPr lang="en-US" sz="2000">
                <a:solidFill>
                  <a:schemeClr val="dk1"/>
                </a:solidFill>
              </a:rPr>
              <a:t>Q4. In PaaS, which of the following is NOT managed by the user?</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a) Application code</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b) Configuration settings</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c) Runtime and OS </a:t>
            </a:r>
            <a:endParaRPr sz="2000">
              <a:solidFill>
                <a:schemeClr val="dk1"/>
              </a:solidFill>
            </a:endParaRPr>
          </a:p>
          <a:p>
            <a:pPr indent="0" lvl="0" marL="0" marR="0" rtl="0" algn="l">
              <a:lnSpc>
                <a:spcPct val="150000"/>
              </a:lnSpc>
              <a:spcBef>
                <a:spcPts val="0"/>
              </a:spcBef>
              <a:spcAft>
                <a:spcPts val="0"/>
              </a:spcAft>
              <a:buSzPts val="1400"/>
              <a:buNone/>
            </a:pPr>
            <a:r>
              <a:rPr lang="en-US" sz="2000">
                <a:solidFill>
                  <a:schemeClr val="dk1"/>
                </a:solidFill>
              </a:rPr>
              <a:t>d) Business logic</a:t>
            </a:r>
            <a:endParaRPr sz="2000">
              <a:solidFill>
                <a:schemeClr val="dk1"/>
              </a:solidFill>
            </a:endParaRPr>
          </a:p>
          <a:p>
            <a:pPr indent="0" lvl="0" marL="0" marR="0" rtl="0" algn="l">
              <a:lnSpc>
                <a:spcPct val="150000"/>
              </a:lnSpc>
              <a:spcBef>
                <a:spcPts val="0"/>
              </a:spcBef>
              <a:spcAft>
                <a:spcPts val="0"/>
              </a:spcAft>
              <a:buSzPts val="1400"/>
              <a:buNone/>
            </a:pPr>
            <a:r>
              <a:t/>
            </a:r>
            <a:endParaRPr sz="2000">
              <a:solidFill>
                <a:schemeClr val="dk1"/>
              </a:solidFill>
            </a:endParaRPr>
          </a:p>
          <a:p>
            <a:pPr indent="0" lvl="0" marL="0" marR="0" rtl="0" algn="l">
              <a:lnSpc>
                <a:spcPct val="150000"/>
              </a:lnSpc>
              <a:spcBef>
                <a:spcPts val="0"/>
              </a:spcBef>
              <a:spcAft>
                <a:spcPts val="0"/>
              </a:spcAft>
              <a:buSzPts val="1647"/>
              <a:buNone/>
            </a:pPr>
            <a:r>
              <a:t/>
            </a:r>
            <a:endParaRPr sz="2000">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3b293c47ade_0_59"/>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KNOWLEDGE CHECK</a:t>
            </a:r>
            <a:endParaRPr b="1" sz="3000">
              <a:solidFill>
                <a:srgbClr val="FF0000"/>
              </a:solidFill>
            </a:endParaRPr>
          </a:p>
        </p:txBody>
      </p:sp>
      <p:sp>
        <p:nvSpPr>
          <p:cNvPr id="746" name="Google Shape;746;g3b293c47ade_0_59"/>
          <p:cNvSpPr txBox="1"/>
          <p:nvPr>
            <p:ph idx="1" type="body"/>
          </p:nvPr>
        </p:nvSpPr>
        <p:spPr>
          <a:xfrm>
            <a:off x="457200" y="1475225"/>
            <a:ext cx="77427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SzPts val="1400"/>
              <a:buNone/>
            </a:pPr>
            <a:r>
              <a:rPr lang="en-US" sz="2300">
                <a:solidFill>
                  <a:schemeClr val="dk1"/>
                </a:solidFill>
              </a:rPr>
              <a:t>Q5. Which scenario is NOT suitable for PaaS?</a:t>
            </a:r>
            <a:endParaRPr sz="2300">
              <a:solidFill>
                <a:schemeClr val="dk1"/>
              </a:solidFill>
            </a:endParaRPr>
          </a:p>
          <a:p>
            <a:pPr indent="0" lvl="0" marL="0" marR="0" rtl="0" algn="l">
              <a:lnSpc>
                <a:spcPct val="150000"/>
              </a:lnSpc>
              <a:spcBef>
                <a:spcPts val="0"/>
              </a:spcBef>
              <a:spcAft>
                <a:spcPts val="0"/>
              </a:spcAft>
              <a:buSzPts val="1400"/>
              <a:buNone/>
            </a:pPr>
            <a:r>
              <a:rPr lang="en-US" sz="2300">
                <a:solidFill>
                  <a:schemeClr val="dk1"/>
                </a:solidFill>
              </a:rPr>
              <a:t>a) Rapid application development</a:t>
            </a:r>
            <a:endParaRPr sz="2300">
              <a:solidFill>
                <a:schemeClr val="dk1"/>
              </a:solidFill>
            </a:endParaRPr>
          </a:p>
          <a:p>
            <a:pPr indent="0" lvl="0" marL="0" marR="0" rtl="0" algn="l">
              <a:lnSpc>
                <a:spcPct val="150000"/>
              </a:lnSpc>
              <a:spcBef>
                <a:spcPts val="0"/>
              </a:spcBef>
              <a:spcAft>
                <a:spcPts val="0"/>
              </a:spcAft>
              <a:buSzPts val="1400"/>
              <a:buNone/>
            </a:pPr>
            <a:r>
              <a:rPr lang="en-US" sz="2300">
                <a:solidFill>
                  <a:schemeClr val="dk1"/>
                </a:solidFill>
              </a:rPr>
              <a:t>b) Auto-scaling web apps</a:t>
            </a:r>
            <a:endParaRPr sz="2300">
              <a:solidFill>
                <a:schemeClr val="dk1"/>
              </a:solidFill>
            </a:endParaRPr>
          </a:p>
          <a:p>
            <a:pPr indent="0" lvl="0" marL="0" marR="0" rtl="0" algn="l">
              <a:lnSpc>
                <a:spcPct val="150000"/>
              </a:lnSpc>
              <a:spcBef>
                <a:spcPts val="0"/>
              </a:spcBef>
              <a:spcAft>
                <a:spcPts val="0"/>
              </a:spcAft>
              <a:buSzPts val="1400"/>
              <a:buNone/>
            </a:pPr>
            <a:r>
              <a:rPr lang="en-US" sz="2300">
                <a:solidFill>
                  <a:schemeClr val="dk1"/>
                </a:solidFill>
              </a:rPr>
              <a:t>c) Hardware-level performance tuning </a:t>
            </a:r>
            <a:endParaRPr sz="2300">
              <a:solidFill>
                <a:schemeClr val="dk1"/>
              </a:solidFill>
            </a:endParaRPr>
          </a:p>
          <a:p>
            <a:pPr indent="0" lvl="0" marL="0" marR="0" rtl="0" algn="l">
              <a:lnSpc>
                <a:spcPct val="150000"/>
              </a:lnSpc>
              <a:spcBef>
                <a:spcPts val="0"/>
              </a:spcBef>
              <a:spcAft>
                <a:spcPts val="0"/>
              </a:spcAft>
              <a:buSzPts val="1400"/>
              <a:buNone/>
            </a:pPr>
            <a:r>
              <a:rPr lang="en-US" sz="2300">
                <a:solidFill>
                  <a:schemeClr val="dk1"/>
                </a:solidFill>
              </a:rPr>
              <a:t>d) API-based applications</a:t>
            </a:r>
            <a:endParaRPr sz="2300">
              <a:solidFill>
                <a:schemeClr val="dk1"/>
              </a:solidFill>
            </a:endParaRPr>
          </a:p>
          <a:p>
            <a:pPr indent="0" lvl="0" marL="457200" marR="0" rtl="0" algn="l">
              <a:lnSpc>
                <a:spcPct val="150000"/>
              </a:lnSpc>
              <a:spcBef>
                <a:spcPts val="0"/>
              </a:spcBef>
              <a:spcAft>
                <a:spcPts val="0"/>
              </a:spcAft>
              <a:buSzPts val="1400"/>
              <a:buNone/>
            </a:pPr>
            <a:r>
              <a:t/>
            </a:r>
            <a:endParaRPr sz="2300">
              <a:solidFill>
                <a:schemeClr val="dk1"/>
              </a:solidFill>
            </a:endParaRPr>
          </a:p>
          <a:p>
            <a:pPr indent="0" lvl="0" marL="0" marR="0" rtl="0" algn="l">
              <a:lnSpc>
                <a:spcPct val="150000"/>
              </a:lnSpc>
              <a:spcBef>
                <a:spcPts val="0"/>
              </a:spcBef>
              <a:spcAft>
                <a:spcPts val="0"/>
              </a:spcAft>
              <a:buSzPts val="1647"/>
              <a:buNone/>
            </a:pPr>
            <a:r>
              <a:t/>
            </a:r>
            <a:endParaRPr sz="2300">
              <a:solidFill>
                <a:schemeClr val="dk1"/>
              </a:solidFill>
            </a:endParaRPr>
          </a:p>
        </p:txBody>
      </p:sp>
      <p:sp>
        <p:nvSpPr>
          <p:cNvPr id="747" name="Google Shape;747;g3b293c47ade_0_59"/>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48" name="Google Shape;748;g3b293c47ade_0_59"/>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49" name="Google Shape;749;g3b293c47ade_0_59"/>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50" name="Google Shape;750;g3b293c47ade_0_59"/>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751" name="Google Shape;751;g3b293c47ade_0_5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52" name="Google Shape;752;g3b293c47ade_0_59"/>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53" name="Google Shape;753;g3b293c47ade_0_59"/>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54" name="Google Shape;754;g3b293c47ade_0_59"/>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b293c47ade_0_73"/>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KNOWLEDGE CHECK</a:t>
            </a:r>
            <a:endParaRPr b="1" sz="3000">
              <a:solidFill>
                <a:srgbClr val="FF0000"/>
              </a:solidFill>
            </a:endParaRPr>
          </a:p>
        </p:txBody>
      </p:sp>
      <p:sp>
        <p:nvSpPr>
          <p:cNvPr id="760" name="Google Shape;760;g3b293c47ade_0_73"/>
          <p:cNvSpPr txBox="1"/>
          <p:nvPr>
            <p:ph idx="1" type="body"/>
          </p:nvPr>
        </p:nvSpPr>
        <p:spPr>
          <a:xfrm>
            <a:off x="457200" y="1475225"/>
            <a:ext cx="77427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40000"/>
              </a:lnSpc>
              <a:spcBef>
                <a:spcPts val="0"/>
              </a:spcBef>
              <a:spcAft>
                <a:spcPts val="0"/>
              </a:spcAft>
              <a:buSzPts val="852"/>
              <a:buNone/>
            </a:pPr>
            <a:r>
              <a:rPr b="1" lang="en-US" sz="2282">
                <a:solidFill>
                  <a:schemeClr val="dk1"/>
                </a:solidFill>
              </a:rPr>
              <a:t>Task:</a:t>
            </a:r>
            <a:endParaRPr b="1" sz="2482">
              <a:solidFill>
                <a:schemeClr val="dk1"/>
              </a:solidFill>
            </a:endParaRPr>
          </a:p>
          <a:p>
            <a:pPr indent="0" lvl="0" marL="0" marR="0" rtl="0" algn="l">
              <a:lnSpc>
                <a:spcPct val="140000"/>
              </a:lnSpc>
              <a:spcBef>
                <a:spcPts val="0"/>
              </a:spcBef>
              <a:spcAft>
                <a:spcPts val="0"/>
              </a:spcAft>
              <a:buSzPts val="852"/>
              <a:buNone/>
            </a:pPr>
            <a:r>
              <a:rPr b="1" lang="en-US" sz="2282">
                <a:solidFill>
                  <a:schemeClr val="dk1"/>
                </a:solidFill>
              </a:rPr>
              <a:t>Classify the following as SaaS, PaaS, or IaaS:</a:t>
            </a:r>
            <a:endParaRPr b="1" sz="2282">
              <a:solidFill>
                <a:schemeClr val="dk1"/>
              </a:solidFill>
            </a:endParaRPr>
          </a:p>
          <a:p>
            <a:pPr indent="0" lvl="0" marL="0" marR="0" rtl="0" algn="l">
              <a:lnSpc>
                <a:spcPct val="140000"/>
              </a:lnSpc>
              <a:spcBef>
                <a:spcPts val="0"/>
              </a:spcBef>
              <a:spcAft>
                <a:spcPts val="0"/>
              </a:spcAft>
              <a:buSzPts val="852"/>
              <a:buNone/>
            </a:pPr>
            <a:r>
              <a:t/>
            </a:r>
            <a:endParaRPr b="1" sz="2282">
              <a:solidFill>
                <a:schemeClr val="dk1"/>
              </a:solidFill>
            </a:endParaRPr>
          </a:p>
          <a:p>
            <a:pPr indent="-373538" lvl="0" marL="457200" marR="0" rtl="0" algn="l">
              <a:lnSpc>
                <a:spcPct val="140000"/>
              </a:lnSpc>
              <a:spcBef>
                <a:spcPts val="0"/>
              </a:spcBef>
              <a:spcAft>
                <a:spcPts val="0"/>
              </a:spcAft>
              <a:buClr>
                <a:schemeClr val="dk1"/>
              </a:buClr>
              <a:buSzPts val="2283"/>
              <a:buAutoNum type="arabicPeriod"/>
            </a:pPr>
            <a:r>
              <a:rPr lang="en-US" sz="2282">
                <a:solidFill>
                  <a:schemeClr val="dk1"/>
                </a:solidFill>
              </a:rPr>
              <a:t>Gmail	</a:t>
            </a:r>
            <a:endParaRPr sz="2282">
              <a:solidFill>
                <a:schemeClr val="dk1"/>
              </a:solidFill>
            </a:endParaRPr>
          </a:p>
          <a:p>
            <a:pPr indent="-373538" lvl="0" marL="457200" marR="0" rtl="0" algn="l">
              <a:lnSpc>
                <a:spcPct val="140000"/>
              </a:lnSpc>
              <a:spcBef>
                <a:spcPts val="0"/>
              </a:spcBef>
              <a:spcAft>
                <a:spcPts val="0"/>
              </a:spcAft>
              <a:buClr>
                <a:schemeClr val="dk1"/>
              </a:buClr>
              <a:buSzPts val="2283"/>
              <a:buAutoNum type="arabicPeriod"/>
            </a:pPr>
            <a:r>
              <a:rPr lang="en-US" sz="2282">
                <a:solidFill>
                  <a:schemeClr val="dk1"/>
                </a:solidFill>
              </a:rPr>
              <a:t>Google Colab	</a:t>
            </a:r>
            <a:endParaRPr sz="2282">
              <a:solidFill>
                <a:schemeClr val="dk1"/>
              </a:solidFill>
            </a:endParaRPr>
          </a:p>
          <a:p>
            <a:pPr indent="-373538" lvl="0" marL="457200" marR="0" rtl="0" algn="l">
              <a:lnSpc>
                <a:spcPct val="140000"/>
              </a:lnSpc>
              <a:spcBef>
                <a:spcPts val="0"/>
              </a:spcBef>
              <a:spcAft>
                <a:spcPts val="0"/>
              </a:spcAft>
              <a:buClr>
                <a:schemeClr val="dk1"/>
              </a:buClr>
              <a:buSzPts val="2283"/>
              <a:buAutoNum type="arabicPeriod"/>
            </a:pPr>
            <a:r>
              <a:rPr lang="en-US" sz="2282">
                <a:solidFill>
                  <a:schemeClr val="dk1"/>
                </a:solidFill>
              </a:rPr>
              <a:t>Online Java compiler	</a:t>
            </a:r>
            <a:endParaRPr sz="2282">
              <a:solidFill>
                <a:schemeClr val="dk1"/>
              </a:solidFill>
            </a:endParaRPr>
          </a:p>
          <a:p>
            <a:pPr indent="-373538" lvl="0" marL="457200" marR="0" rtl="0" algn="l">
              <a:lnSpc>
                <a:spcPct val="140000"/>
              </a:lnSpc>
              <a:spcBef>
                <a:spcPts val="0"/>
              </a:spcBef>
              <a:spcAft>
                <a:spcPts val="0"/>
              </a:spcAft>
              <a:buClr>
                <a:schemeClr val="dk1"/>
              </a:buClr>
              <a:buSzPts val="2283"/>
              <a:buAutoNum type="arabicPeriod"/>
            </a:pPr>
            <a:r>
              <a:rPr lang="en-US" sz="2282">
                <a:solidFill>
                  <a:schemeClr val="dk1"/>
                </a:solidFill>
              </a:rPr>
              <a:t>AWS EC2</a:t>
            </a:r>
            <a:endParaRPr sz="2282">
              <a:solidFill>
                <a:schemeClr val="dk1"/>
              </a:solidFill>
            </a:endParaRPr>
          </a:p>
          <a:p>
            <a:pPr indent="-373538" lvl="0" marL="457200" marR="0" rtl="0" algn="l">
              <a:lnSpc>
                <a:spcPct val="140000"/>
              </a:lnSpc>
              <a:spcBef>
                <a:spcPts val="0"/>
              </a:spcBef>
              <a:spcAft>
                <a:spcPts val="0"/>
              </a:spcAft>
              <a:buClr>
                <a:schemeClr val="dk1"/>
              </a:buClr>
              <a:buSzPts val="2283"/>
              <a:buAutoNum type="arabicPeriod"/>
            </a:pPr>
            <a:r>
              <a:rPr lang="en-US" sz="2282">
                <a:solidFill>
                  <a:schemeClr val="dk1"/>
                </a:solidFill>
              </a:rPr>
              <a:t>Running OS on VM	</a:t>
            </a:r>
            <a:endParaRPr sz="2282">
              <a:solidFill>
                <a:schemeClr val="dk1"/>
              </a:solidFill>
            </a:endParaRPr>
          </a:p>
          <a:p>
            <a:pPr indent="0" lvl="0" marL="457200" marR="0" rtl="0" algn="l">
              <a:lnSpc>
                <a:spcPct val="140000"/>
              </a:lnSpc>
              <a:spcBef>
                <a:spcPts val="0"/>
              </a:spcBef>
              <a:spcAft>
                <a:spcPts val="0"/>
              </a:spcAft>
              <a:buSzPts val="852"/>
              <a:buNone/>
            </a:pPr>
            <a:r>
              <a:t/>
            </a:r>
            <a:endParaRPr sz="2082">
              <a:solidFill>
                <a:schemeClr val="dk1"/>
              </a:solidFill>
            </a:endParaRPr>
          </a:p>
          <a:p>
            <a:pPr indent="0" lvl="0" marL="0" marR="0" rtl="0" algn="l">
              <a:lnSpc>
                <a:spcPct val="140000"/>
              </a:lnSpc>
              <a:spcBef>
                <a:spcPts val="0"/>
              </a:spcBef>
              <a:spcAft>
                <a:spcPts val="0"/>
              </a:spcAft>
              <a:buSzPts val="1276"/>
              <a:buNone/>
            </a:pPr>
            <a:r>
              <a:t/>
            </a:r>
            <a:endParaRPr sz="2082">
              <a:solidFill>
                <a:schemeClr val="dk1"/>
              </a:solidFill>
            </a:endParaRPr>
          </a:p>
        </p:txBody>
      </p:sp>
      <p:sp>
        <p:nvSpPr>
          <p:cNvPr id="761" name="Google Shape;761;g3b293c47ade_0_73"/>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62" name="Google Shape;762;g3b293c47ade_0_73"/>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63" name="Google Shape;763;g3b293c47ade_0_7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64" name="Google Shape;764;g3b293c47ade_0_73"/>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765" name="Google Shape;765;g3b293c47ade_0_7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66" name="Google Shape;766;g3b293c47ade_0_73"/>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67" name="Google Shape;767;g3b293c47ade_0_73"/>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68" name="Google Shape;768;g3b293c47ade_0_73"/>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g3b293c47ade_0_31"/>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 Cloud Deployment Models</a:t>
            </a:r>
            <a:endParaRPr b="1" sz="3000">
              <a:solidFill>
                <a:srgbClr val="FF0000"/>
              </a:solidFill>
            </a:endParaRPr>
          </a:p>
        </p:txBody>
      </p:sp>
      <p:sp>
        <p:nvSpPr>
          <p:cNvPr id="774" name="Google Shape;774;g3b293c47ade_0_31"/>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85000" lnSpcReduction="20000"/>
          </a:bodyPr>
          <a:lstStyle/>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Cloud deployment models (</a:t>
            </a:r>
            <a:r>
              <a:rPr b="1" lang="en-US" sz="2000">
                <a:solidFill>
                  <a:srgbClr val="FF0000"/>
                </a:solidFill>
              </a:rPr>
              <a:t>Public, Private, Hybrid) define where and who owns/manages the cloud infrastructure</a:t>
            </a:r>
            <a:endParaRPr b="1" sz="2000">
              <a:solidFill>
                <a:srgbClr val="FF0000"/>
              </a:solidFill>
            </a:endParaRPr>
          </a:p>
          <a:p>
            <a:pPr indent="-336550" lvl="0" marL="457200" marR="0" rtl="0" algn="l">
              <a:lnSpc>
                <a:spcPct val="150000"/>
              </a:lnSpc>
              <a:spcBef>
                <a:spcPts val="0"/>
              </a:spcBef>
              <a:spcAft>
                <a:spcPts val="0"/>
              </a:spcAft>
              <a:buClr>
                <a:schemeClr val="dk1"/>
              </a:buClr>
              <a:buSzPct val="100000"/>
              <a:buChar char="●"/>
            </a:pPr>
            <a:r>
              <a:rPr b="1" lang="en-US" sz="2000">
                <a:solidFill>
                  <a:srgbClr val="FF0000"/>
                </a:solidFill>
              </a:rPr>
              <a:t>while IaaS, PaaS, and SaaS </a:t>
            </a:r>
            <a:r>
              <a:rPr lang="en-US" sz="2000">
                <a:solidFill>
                  <a:schemeClr val="dk1"/>
                </a:solidFill>
              </a:rPr>
              <a:t>(Service Models) define what services you get and </a:t>
            </a:r>
            <a:r>
              <a:rPr b="1" lang="en-US" sz="2000">
                <a:solidFill>
                  <a:srgbClr val="FF0000"/>
                </a:solidFill>
              </a:rPr>
              <a:t>how much control you have over them</a:t>
            </a:r>
            <a:endParaRPr b="1" sz="2000">
              <a:solidFill>
                <a:srgbClr val="FF0000"/>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The cloud deployment model identifies the specific type of cloud environment based on ownership, scale, and access, as well as the cloud's nature and purpose. </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The </a:t>
            </a:r>
            <a:r>
              <a:rPr b="1" lang="en-US" sz="2000">
                <a:solidFill>
                  <a:srgbClr val="FF0000"/>
                </a:solidFill>
              </a:rPr>
              <a:t>location of the servers </a:t>
            </a:r>
            <a:r>
              <a:rPr lang="en-US" sz="2000">
                <a:solidFill>
                  <a:schemeClr val="dk1"/>
                </a:solidFill>
              </a:rPr>
              <a:t>you're utilizing and </a:t>
            </a:r>
            <a:r>
              <a:rPr b="1" lang="en-US" sz="2000">
                <a:solidFill>
                  <a:srgbClr val="FF0000"/>
                </a:solidFill>
              </a:rPr>
              <a:t>who controls them</a:t>
            </a:r>
            <a:r>
              <a:rPr lang="en-US" sz="2000">
                <a:solidFill>
                  <a:schemeClr val="dk1"/>
                </a:solidFill>
              </a:rPr>
              <a:t> are defined by a cloud deployment model. </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It specifies how your cloud infrastructure will look, what you can change, and whether you will be given services or will have to create everything yourself</a:t>
            </a:r>
            <a:endParaRPr sz="2000">
              <a:solidFill>
                <a:schemeClr val="dk1"/>
              </a:solidFill>
            </a:endParaRPr>
          </a:p>
          <a:p>
            <a:pPr indent="0" lvl="0" marL="0" marR="0" rtl="0" algn="l">
              <a:lnSpc>
                <a:spcPct val="150000"/>
              </a:lnSpc>
              <a:spcBef>
                <a:spcPts val="0"/>
              </a:spcBef>
              <a:spcAft>
                <a:spcPts val="0"/>
              </a:spcAft>
              <a:buSzPct val="82353"/>
              <a:buNone/>
            </a:pPr>
            <a:r>
              <a:t/>
            </a:r>
            <a:endParaRPr sz="2000">
              <a:solidFill>
                <a:schemeClr val="dk1"/>
              </a:solidFill>
            </a:endParaRPr>
          </a:p>
        </p:txBody>
      </p:sp>
      <p:sp>
        <p:nvSpPr>
          <p:cNvPr id="775" name="Google Shape;775;g3b293c47ade_0_31"/>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76" name="Google Shape;776;g3b293c47ade_0_31"/>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77" name="Google Shape;777;g3b293c47ade_0_31"/>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78" name="Google Shape;778;g3b293c47ade_0_31"/>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779" name="Google Shape;779;g3b293c47ade_0_3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80" name="Google Shape;780;g3b293c47ade_0_31"/>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81" name="Google Shape;781;g3b293c47ade_0_31"/>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82" name="Google Shape;782;g3b293c47ade_0_31"/>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g3b3e7766c9d_0_659"/>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7.1 Cloud Deployment Model- Public Model</a:t>
            </a:r>
            <a:endParaRPr b="1" sz="3000">
              <a:solidFill>
                <a:srgbClr val="FF0000"/>
              </a:solidFill>
            </a:endParaRPr>
          </a:p>
        </p:txBody>
      </p:sp>
      <p:sp>
        <p:nvSpPr>
          <p:cNvPr id="788" name="Google Shape;788;g3b3e7766c9d_0_659"/>
          <p:cNvSpPr txBox="1"/>
          <p:nvPr>
            <p:ph idx="1" type="body"/>
          </p:nvPr>
        </p:nvSpPr>
        <p:spPr>
          <a:xfrm>
            <a:off x="457200" y="1475225"/>
            <a:ext cx="43953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85000" lnSpcReduction="10000"/>
          </a:bodyPr>
          <a:lstStyle/>
          <a:p>
            <a:pPr indent="-336550" lvl="0" marL="457200" marR="0" rtl="0" algn="l">
              <a:lnSpc>
                <a:spcPct val="150000"/>
              </a:lnSpc>
              <a:spcBef>
                <a:spcPts val="0"/>
              </a:spcBef>
              <a:spcAft>
                <a:spcPts val="0"/>
              </a:spcAft>
              <a:buClr>
                <a:schemeClr val="dk1"/>
              </a:buClr>
              <a:buSzPct val="100000"/>
              <a:buChar char="●"/>
            </a:pPr>
            <a:r>
              <a:rPr b="1" lang="en-US" sz="2000">
                <a:solidFill>
                  <a:srgbClr val="FF0000"/>
                </a:solidFill>
              </a:rPr>
              <a:t>Cloud services provider owns the infrastructure </a:t>
            </a:r>
            <a:r>
              <a:rPr lang="en-US" sz="2000">
                <a:solidFill>
                  <a:schemeClr val="dk1"/>
                </a:solidFill>
              </a:rPr>
              <a:t>and openly provides access to it for the public to consume.</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The service provider owns the hardware and supporting networking infrastructure, which is under its full control.</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 The service provider is responsible for the </a:t>
            </a:r>
            <a:r>
              <a:rPr b="1" lang="en-US" sz="2000">
                <a:solidFill>
                  <a:srgbClr val="FF0000"/>
                </a:solidFill>
              </a:rPr>
              <a:t>physical security, maintenance, and management of the data center where the infrastructure resides</a:t>
            </a:r>
            <a:r>
              <a:rPr lang="en-US" sz="2000">
                <a:solidFill>
                  <a:schemeClr val="dk1"/>
                </a:solidFill>
              </a:rPr>
              <a:t>. </a:t>
            </a:r>
            <a:endParaRPr sz="2000">
              <a:solidFill>
                <a:schemeClr val="dk1"/>
              </a:solidFill>
            </a:endParaRPr>
          </a:p>
        </p:txBody>
      </p:sp>
      <p:sp>
        <p:nvSpPr>
          <p:cNvPr id="789" name="Google Shape;789;g3b3e7766c9d_0_659"/>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790" name="Google Shape;790;g3b3e7766c9d_0_659"/>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791" name="Google Shape;791;g3b3e7766c9d_0_659"/>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792" name="Google Shape;792;g3b3e7766c9d_0_659"/>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793" name="Google Shape;793;g3b3e7766c9d_0_65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794" name="Google Shape;794;g3b3e7766c9d_0_659"/>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795" name="Google Shape;795;g3b3e7766c9d_0_659"/>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796" name="Google Shape;796;g3b3e7766c9d_0_659"/>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pic>
        <p:nvPicPr>
          <p:cNvPr id="797" name="Google Shape;797;g3b3e7766c9d_0_659"/>
          <p:cNvPicPr preferRelativeResize="0"/>
          <p:nvPr/>
        </p:nvPicPr>
        <p:blipFill rotWithShape="1">
          <a:blip r:embed="rId7">
            <a:alphaModFix/>
          </a:blip>
          <a:srcRect b="0" l="0" r="0" t="0"/>
          <a:stretch/>
        </p:blipFill>
        <p:spPr>
          <a:xfrm>
            <a:off x="5036750" y="2055230"/>
            <a:ext cx="3962034" cy="3226227"/>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g3b3e7766c9d_0_781"/>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7.1 Cloud Deployment Model- Public Model</a:t>
            </a:r>
            <a:endParaRPr b="1" sz="3000">
              <a:solidFill>
                <a:srgbClr val="FF0000"/>
              </a:solidFill>
            </a:endParaRPr>
          </a:p>
        </p:txBody>
      </p:sp>
      <p:sp>
        <p:nvSpPr>
          <p:cNvPr id="803" name="Google Shape;803;g3b3e7766c9d_0_781"/>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lnSpcReduction="10000"/>
          </a:bodyPr>
          <a:lstStyle/>
          <a:p>
            <a:pPr indent="-355600" lvl="0" marL="457200" rtl="0" algn="l">
              <a:lnSpc>
                <a:spcPct val="150000"/>
              </a:lnSpc>
              <a:spcBef>
                <a:spcPts val="0"/>
              </a:spcBef>
              <a:spcAft>
                <a:spcPts val="0"/>
              </a:spcAft>
              <a:buClr>
                <a:schemeClr val="dk1"/>
              </a:buClr>
              <a:buSzPts val="2000"/>
              <a:buChar char="●"/>
            </a:pPr>
            <a:r>
              <a:rPr lang="en-US" sz="2000">
                <a:solidFill>
                  <a:schemeClr val="dk1"/>
                </a:solidFill>
              </a:rPr>
              <a:t>The underlying infrastructure is outside of the customer’s control and away from the customer’s physical location.</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The cloud service provider will </a:t>
            </a:r>
            <a:r>
              <a:rPr b="1" lang="en-US" sz="2000">
                <a:solidFill>
                  <a:srgbClr val="FF0000"/>
                </a:solidFill>
              </a:rPr>
              <a:t>share infrastructure between multiple customers </a:t>
            </a:r>
            <a:r>
              <a:rPr lang="en-US" sz="2000">
                <a:solidFill>
                  <a:schemeClr val="dk1"/>
                </a:solidFill>
              </a:rPr>
              <a:t>whilst </a:t>
            </a:r>
            <a:r>
              <a:rPr b="1" lang="en-US" sz="2000">
                <a:solidFill>
                  <a:srgbClr val="FF0000"/>
                </a:solidFill>
              </a:rPr>
              <a:t>keeping data separate and isolated</a:t>
            </a:r>
            <a:endParaRPr b="1" sz="2000">
              <a:solidFill>
                <a:srgbClr val="FF0000"/>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Cloud providers go to great lengths to ensure that physical data centers are extremely secure and highly regulated environments, </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Infrastructure is managed primarily using a web browser, but can also be manipulated using an API, on the command line, or using infrastructure-as-code tools such as Terraform.</a:t>
            </a:r>
            <a:endParaRPr sz="2000">
              <a:solidFill>
                <a:schemeClr val="dk1"/>
              </a:solidFill>
            </a:endParaRPr>
          </a:p>
        </p:txBody>
      </p:sp>
      <p:sp>
        <p:nvSpPr>
          <p:cNvPr id="804" name="Google Shape;804;g3b3e7766c9d_0_781"/>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05" name="Google Shape;805;g3b3e7766c9d_0_781"/>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06" name="Google Shape;806;g3b3e7766c9d_0_781"/>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07" name="Google Shape;807;g3b3e7766c9d_0_781"/>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08" name="Google Shape;808;g3b3e7766c9d_0_78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09" name="Google Shape;809;g3b3e7766c9d_0_781"/>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10" name="Google Shape;810;g3b3e7766c9d_0_781"/>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11" name="Google Shape;811;g3b3e7766c9d_0_781"/>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g3b3e7766c9d_0_794"/>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7.1 Cloud Deployment Model- Public Model</a:t>
            </a:r>
            <a:endParaRPr b="1" sz="3000">
              <a:solidFill>
                <a:srgbClr val="FF0000"/>
              </a:solidFill>
            </a:endParaRPr>
          </a:p>
        </p:txBody>
      </p:sp>
      <p:sp>
        <p:nvSpPr>
          <p:cNvPr id="817" name="Google Shape;817;g3b3e7766c9d_0_794"/>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92500"/>
          </a:bodyPr>
          <a:lstStyle/>
          <a:p>
            <a:pPr indent="-355600" lvl="0" marL="457200" marR="0" rtl="0" algn="l">
              <a:lnSpc>
                <a:spcPct val="150000"/>
              </a:lnSpc>
              <a:spcBef>
                <a:spcPts val="0"/>
              </a:spcBef>
              <a:spcAft>
                <a:spcPts val="0"/>
              </a:spcAft>
              <a:buClr>
                <a:schemeClr val="dk1"/>
              </a:buClr>
              <a:buSzPct val="108108"/>
              <a:buChar char="●"/>
            </a:pPr>
            <a:r>
              <a:rPr lang="en-US" sz="2000">
                <a:solidFill>
                  <a:schemeClr val="dk1"/>
                </a:solidFill>
              </a:rPr>
              <a:t>It may be owned, managed, and operated by a </a:t>
            </a:r>
            <a:r>
              <a:rPr b="1" lang="en-US" sz="2000">
                <a:solidFill>
                  <a:srgbClr val="FF0000"/>
                </a:solidFill>
              </a:rPr>
              <a:t>business, academic, or government organization, or some combination</a:t>
            </a:r>
            <a:r>
              <a:rPr lang="en-US" sz="2000">
                <a:solidFill>
                  <a:schemeClr val="dk1"/>
                </a:solidFill>
              </a:rPr>
              <a:t> of them. </a:t>
            </a:r>
            <a:endParaRPr sz="2000">
              <a:solidFill>
                <a:schemeClr val="dk1"/>
              </a:solidFill>
            </a:endParaRPr>
          </a:p>
          <a:p>
            <a:pPr indent="-355600" lvl="0" marL="457200" marR="0" rtl="0" algn="l">
              <a:lnSpc>
                <a:spcPct val="150000"/>
              </a:lnSpc>
              <a:spcBef>
                <a:spcPts val="0"/>
              </a:spcBef>
              <a:spcAft>
                <a:spcPts val="0"/>
              </a:spcAft>
              <a:buClr>
                <a:schemeClr val="dk1"/>
              </a:buClr>
              <a:buSzPct val="108108"/>
              <a:buChar char="●"/>
            </a:pPr>
            <a:r>
              <a:rPr lang="en-US" sz="2000">
                <a:solidFill>
                  <a:schemeClr val="dk1"/>
                </a:solidFill>
              </a:rPr>
              <a:t>It </a:t>
            </a:r>
            <a:r>
              <a:rPr b="1" lang="en-US" sz="2000">
                <a:solidFill>
                  <a:srgbClr val="FF0000"/>
                </a:solidFill>
              </a:rPr>
              <a:t>exists on the premises of the cloud provider</a:t>
            </a:r>
            <a:r>
              <a:rPr lang="en-US" sz="2000">
                <a:solidFill>
                  <a:schemeClr val="dk1"/>
                </a:solidFill>
              </a:rPr>
              <a:t>. </a:t>
            </a:r>
            <a:endParaRPr sz="2000">
              <a:solidFill>
                <a:schemeClr val="dk1"/>
              </a:solidFill>
            </a:endParaRPr>
          </a:p>
          <a:p>
            <a:pPr indent="-355600" lvl="0" marL="457200" marR="0" rtl="0" algn="l">
              <a:lnSpc>
                <a:spcPct val="150000"/>
              </a:lnSpc>
              <a:spcBef>
                <a:spcPts val="0"/>
              </a:spcBef>
              <a:spcAft>
                <a:spcPts val="0"/>
              </a:spcAft>
              <a:buClr>
                <a:schemeClr val="dk1"/>
              </a:buClr>
              <a:buSzPct val="108108"/>
              <a:buChar char="●"/>
            </a:pPr>
            <a:r>
              <a:rPr lang="en-US" sz="2000">
                <a:solidFill>
                  <a:schemeClr val="dk1"/>
                </a:solidFill>
              </a:rPr>
              <a:t>In Public setting, the </a:t>
            </a:r>
            <a:r>
              <a:rPr b="1" lang="en-US" sz="2000">
                <a:solidFill>
                  <a:srgbClr val="FF0000"/>
                </a:solidFill>
              </a:rPr>
              <a:t>provider's computing and storage resources are potentially large</a:t>
            </a:r>
            <a:r>
              <a:rPr lang="en-US" sz="2000">
                <a:solidFill>
                  <a:schemeClr val="dk1"/>
                </a:solidFill>
              </a:rPr>
              <a:t>; </a:t>
            </a:r>
            <a:endParaRPr sz="2000">
              <a:solidFill>
                <a:schemeClr val="dk1"/>
              </a:solidFill>
            </a:endParaRPr>
          </a:p>
          <a:p>
            <a:pPr indent="-355600" lvl="0" marL="457200" marR="0" rtl="0" algn="l">
              <a:lnSpc>
                <a:spcPct val="150000"/>
              </a:lnSpc>
              <a:spcBef>
                <a:spcPts val="0"/>
              </a:spcBef>
              <a:spcAft>
                <a:spcPts val="0"/>
              </a:spcAft>
              <a:buClr>
                <a:schemeClr val="dk1"/>
              </a:buClr>
              <a:buSzPct val="108108"/>
              <a:buChar char="●"/>
            </a:pPr>
            <a:r>
              <a:rPr lang="en-US" sz="2000">
                <a:solidFill>
                  <a:schemeClr val="dk1"/>
                </a:solidFill>
              </a:rPr>
              <a:t>the communication links can be assumed to be implemented over the public Internet</a:t>
            </a:r>
            <a:endParaRPr sz="2000">
              <a:solidFill>
                <a:schemeClr val="dk1"/>
              </a:solidFill>
            </a:endParaRPr>
          </a:p>
          <a:p>
            <a:pPr indent="-355600" lvl="0" marL="457200" rtl="0" algn="l">
              <a:lnSpc>
                <a:spcPct val="150000"/>
              </a:lnSpc>
              <a:spcBef>
                <a:spcPts val="0"/>
              </a:spcBef>
              <a:spcAft>
                <a:spcPts val="0"/>
              </a:spcAft>
              <a:buClr>
                <a:schemeClr val="dk1"/>
              </a:buClr>
              <a:buSzPct val="108108"/>
              <a:buChar char="●"/>
            </a:pPr>
            <a:r>
              <a:rPr lang="en-US" sz="2000">
                <a:solidFill>
                  <a:schemeClr val="dk1"/>
                </a:solidFill>
              </a:rPr>
              <a:t>Commonly used public clouds include Microsoft Azure, Amazon AWS, Google Cloud, Oracle Cloud, and Alibaba Cloud.</a:t>
            </a:r>
            <a:endParaRPr sz="2000">
              <a:solidFill>
                <a:schemeClr val="dk1"/>
              </a:solidFill>
            </a:endParaRPr>
          </a:p>
        </p:txBody>
      </p:sp>
      <p:sp>
        <p:nvSpPr>
          <p:cNvPr id="818" name="Google Shape;818;g3b3e7766c9d_0_794"/>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19" name="Google Shape;819;g3b3e7766c9d_0_79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20" name="Google Shape;820;g3b3e7766c9d_0_79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21" name="Google Shape;821;g3b3e7766c9d_0_794"/>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22" name="Google Shape;822;g3b3e7766c9d_0_79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23" name="Google Shape;823;g3b3e7766c9d_0_79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24" name="Google Shape;824;g3b3e7766c9d_0_79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25" name="Google Shape;825;g3b3e7766c9d_0_79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g3b3e7766c9d_0_939"/>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7.1 Cloud Deployment Model- Public Model</a:t>
            </a:r>
            <a:endParaRPr b="1" sz="3000">
              <a:solidFill>
                <a:srgbClr val="FF0000"/>
              </a:solidFill>
            </a:endParaRPr>
          </a:p>
        </p:txBody>
      </p:sp>
      <p:sp>
        <p:nvSpPr>
          <p:cNvPr id="831" name="Google Shape;831;g3b3e7766c9d_0_939"/>
          <p:cNvSpPr txBox="1"/>
          <p:nvPr>
            <p:ph idx="1" type="body"/>
          </p:nvPr>
        </p:nvSpPr>
        <p:spPr>
          <a:xfrm>
            <a:off x="335275" y="1233750"/>
            <a:ext cx="8350800" cy="47121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852"/>
              <a:buNone/>
            </a:pPr>
            <a:r>
              <a:rPr b="1" i="1" lang="en-US" sz="1600">
                <a:solidFill>
                  <a:srgbClr val="FF0000"/>
                </a:solidFill>
              </a:rPr>
              <a:t>Advantages of the public cloud model</a:t>
            </a:r>
            <a:endParaRPr b="1" i="1" sz="1600">
              <a:solidFill>
                <a:srgbClr val="FF0000"/>
              </a:solidFill>
            </a:endParaRPr>
          </a:p>
          <a:p>
            <a:pPr indent="-330200" lvl="0" marL="457200" rtl="0" algn="l">
              <a:lnSpc>
                <a:spcPct val="150000"/>
              </a:lnSpc>
              <a:spcBef>
                <a:spcPts val="0"/>
              </a:spcBef>
              <a:spcAft>
                <a:spcPts val="0"/>
              </a:spcAft>
              <a:buClr>
                <a:schemeClr val="dk1"/>
              </a:buClr>
              <a:buSzPts val="1600"/>
              <a:buChar char="●"/>
            </a:pPr>
            <a:r>
              <a:rPr b="1" lang="en-US" sz="1600">
                <a:solidFill>
                  <a:srgbClr val="FF0000"/>
                </a:solidFill>
              </a:rPr>
              <a:t>Scalability</a:t>
            </a:r>
            <a:r>
              <a:rPr lang="en-US" sz="1600">
                <a:solidFill>
                  <a:schemeClr val="dk1"/>
                </a:solidFill>
              </a:rPr>
              <a:t>: Resources can be scaled up or down instantly to match workload demands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b="1" lang="en-US" sz="1600">
                <a:solidFill>
                  <a:srgbClr val="FF0000"/>
                </a:solidFill>
              </a:rPr>
              <a:t>Cost efficiency</a:t>
            </a:r>
            <a:r>
              <a:rPr lang="en-US" sz="1600">
                <a:solidFill>
                  <a:schemeClr val="dk1"/>
                </a:solidFill>
              </a:rPr>
              <a:t>: Pay-as-you-go pricing reduces upfront capital expenses and aligns costs with actual usage</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b="1" lang="en-US" sz="1600">
                <a:solidFill>
                  <a:srgbClr val="FF0000"/>
                </a:solidFill>
              </a:rPr>
              <a:t>Reduced management overhead</a:t>
            </a:r>
            <a:r>
              <a:rPr lang="en-US" sz="1600">
                <a:solidFill>
                  <a:schemeClr val="dk1"/>
                </a:solidFill>
              </a:rPr>
              <a:t>: The provider handles maintenance, updates, and infrastructure reliability</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b="1" lang="en-US" sz="1600">
                <a:solidFill>
                  <a:srgbClr val="FF0000"/>
                </a:solidFill>
              </a:rPr>
              <a:t>Rapid deployment</a:t>
            </a:r>
            <a:r>
              <a:rPr lang="en-US" sz="1600">
                <a:solidFill>
                  <a:schemeClr val="dk1"/>
                </a:solidFill>
              </a:rPr>
              <a:t>: New environments and applications can be provisioned in minutes.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b="1" lang="en-US" sz="1600">
                <a:solidFill>
                  <a:srgbClr val="FF0000"/>
                </a:solidFill>
              </a:rPr>
              <a:t>Global availability</a:t>
            </a:r>
            <a:r>
              <a:rPr lang="en-US" sz="1600">
                <a:solidFill>
                  <a:schemeClr val="dk1"/>
                </a:solidFill>
              </a:rPr>
              <a:t>: Data centers across regions improve performance and support international operations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b="1" lang="en-US" sz="1600">
                <a:solidFill>
                  <a:srgbClr val="FF0000"/>
                </a:solidFill>
              </a:rPr>
              <a:t>Flexibility</a:t>
            </a:r>
            <a:r>
              <a:rPr lang="en-US" sz="1600">
                <a:solidFill>
                  <a:schemeClr val="dk1"/>
                </a:solidFill>
              </a:rPr>
              <a:t>: Ideal for variable workloads, testing environments, and disaster recovery solutions</a:t>
            </a:r>
            <a:endParaRPr sz="1600">
              <a:solidFill>
                <a:schemeClr val="dk1"/>
              </a:solidFill>
            </a:endParaRPr>
          </a:p>
        </p:txBody>
      </p:sp>
      <p:sp>
        <p:nvSpPr>
          <p:cNvPr id="832" name="Google Shape;832;g3b3e7766c9d_0_939"/>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33" name="Google Shape;833;g3b3e7766c9d_0_939"/>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34" name="Google Shape;834;g3b3e7766c9d_0_939"/>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35" name="Google Shape;835;g3b3e7766c9d_0_939"/>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36" name="Google Shape;836;g3b3e7766c9d_0_93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37" name="Google Shape;837;g3b3e7766c9d_0_939"/>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38" name="Google Shape;838;g3b3e7766c9d_0_939"/>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39" name="Google Shape;839;g3b3e7766c9d_0_939"/>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g3b3e7766c9d_0_952"/>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7.1 Cloud Deployment Model- Public Model</a:t>
            </a:r>
            <a:endParaRPr b="1" sz="3000">
              <a:solidFill>
                <a:srgbClr val="FF0000"/>
              </a:solidFill>
            </a:endParaRPr>
          </a:p>
        </p:txBody>
      </p:sp>
      <p:sp>
        <p:nvSpPr>
          <p:cNvPr id="845" name="Google Shape;845;g3b3e7766c9d_0_952"/>
          <p:cNvSpPr txBox="1"/>
          <p:nvPr>
            <p:ph idx="1" type="body"/>
          </p:nvPr>
        </p:nvSpPr>
        <p:spPr>
          <a:xfrm>
            <a:off x="379500" y="1726350"/>
            <a:ext cx="8350800" cy="34053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852"/>
              <a:buNone/>
            </a:pPr>
            <a:r>
              <a:rPr b="1" i="1" lang="en-US" sz="1900">
                <a:solidFill>
                  <a:srgbClr val="FF0000"/>
                </a:solidFill>
              </a:rPr>
              <a:t>Disadvantages of the public cloud model</a:t>
            </a:r>
            <a:endParaRPr b="1" i="1" sz="1900">
              <a:solidFill>
                <a:srgbClr val="FF0000"/>
              </a:solidFill>
            </a:endParaRPr>
          </a:p>
          <a:p>
            <a:pPr indent="-349250" lvl="0" marL="457200" rtl="0" algn="l">
              <a:lnSpc>
                <a:spcPct val="150000"/>
              </a:lnSpc>
              <a:spcBef>
                <a:spcPts val="0"/>
              </a:spcBef>
              <a:spcAft>
                <a:spcPts val="0"/>
              </a:spcAft>
              <a:buClr>
                <a:schemeClr val="dk1"/>
              </a:buClr>
              <a:buSzPts val="1900"/>
              <a:buChar char="●"/>
            </a:pPr>
            <a:r>
              <a:rPr b="1" lang="en-US" sz="1900">
                <a:solidFill>
                  <a:srgbClr val="FF0000"/>
                </a:solidFill>
              </a:rPr>
              <a:t>Security concerns</a:t>
            </a:r>
            <a:r>
              <a:rPr lang="en-US" sz="1900">
                <a:solidFill>
                  <a:schemeClr val="dk1"/>
                </a:solidFill>
              </a:rPr>
              <a:t>: Shared infrastructure increases exposure to risks, requiring strict compliance and data protection measures</a:t>
            </a:r>
            <a:endParaRPr sz="1900">
              <a:solidFill>
                <a:schemeClr val="dk1"/>
              </a:solidFill>
            </a:endParaRPr>
          </a:p>
          <a:p>
            <a:pPr indent="-349250" lvl="0" marL="457200" rtl="0" algn="l">
              <a:lnSpc>
                <a:spcPct val="150000"/>
              </a:lnSpc>
              <a:spcBef>
                <a:spcPts val="0"/>
              </a:spcBef>
              <a:spcAft>
                <a:spcPts val="0"/>
              </a:spcAft>
              <a:buClr>
                <a:schemeClr val="dk1"/>
              </a:buClr>
              <a:buSzPts val="1900"/>
              <a:buChar char="●"/>
            </a:pPr>
            <a:r>
              <a:rPr b="1" lang="en-US" sz="1900">
                <a:solidFill>
                  <a:srgbClr val="FF0000"/>
                </a:solidFill>
              </a:rPr>
              <a:t>Limited control</a:t>
            </a:r>
            <a:r>
              <a:rPr lang="en-US" sz="1900">
                <a:solidFill>
                  <a:schemeClr val="dk1"/>
                </a:solidFill>
              </a:rPr>
              <a:t>: Organizations have less visibility and customization compared to private or on-premises environments</a:t>
            </a:r>
            <a:endParaRPr sz="1900">
              <a:solidFill>
                <a:schemeClr val="dk1"/>
              </a:solidFill>
            </a:endParaRPr>
          </a:p>
          <a:p>
            <a:pPr indent="-349250" lvl="0" marL="457200" rtl="0" algn="l">
              <a:lnSpc>
                <a:spcPct val="150000"/>
              </a:lnSpc>
              <a:spcBef>
                <a:spcPts val="0"/>
              </a:spcBef>
              <a:spcAft>
                <a:spcPts val="0"/>
              </a:spcAft>
              <a:buClr>
                <a:schemeClr val="dk1"/>
              </a:buClr>
              <a:buSzPts val="1900"/>
              <a:buChar char="●"/>
            </a:pPr>
            <a:r>
              <a:rPr b="1" lang="en-US" sz="1900">
                <a:solidFill>
                  <a:srgbClr val="FF0000"/>
                </a:solidFill>
              </a:rPr>
              <a:t>Unpredictable costs</a:t>
            </a:r>
            <a:r>
              <a:rPr lang="en-US" sz="1900">
                <a:solidFill>
                  <a:schemeClr val="dk1"/>
                </a:solidFill>
              </a:rPr>
              <a:t>: Usage-based billing can lead to unexpectedly high expenses if workloads are not carefully monitored</a:t>
            </a:r>
            <a:endParaRPr sz="1900">
              <a:solidFill>
                <a:schemeClr val="dk1"/>
              </a:solidFill>
            </a:endParaRPr>
          </a:p>
        </p:txBody>
      </p:sp>
      <p:sp>
        <p:nvSpPr>
          <p:cNvPr id="846" name="Google Shape;846;g3b3e7766c9d_0_952"/>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47" name="Google Shape;847;g3b3e7766c9d_0_952"/>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48" name="Google Shape;848;g3b3e7766c9d_0_952"/>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49" name="Google Shape;849;g3b3e7766c9d_0_952"/>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50" name="Google Shape;850;g3b3e7766c9d_0_95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51" name="Google Shape;851;g3b3e7766c9d_0_95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52" name="Google Shape;852;g3b3e7766c9d_0_95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53" name="Google Shape;853;g3b3e7766c9d_0_95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b3e7766c9d_0_844"/>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7.2 Cloud Deployment Model- Private Model</a:t>
            </a:r>
            <a:endParaRPr b="1" sz="3000">
              <a:solidFill>
                <a:srgbClr val="FF0000"/>
              </a:solidFill>
            </a:endParaRPr>
          </a:p>
        </p:txBody>
      </p:sp>
      <p:sp>
        <p:nvSpPr>
          <p:cNvPr id="859" name="Google Shape;859;g3b3e7766c9d_0_844"/>
          <p:cNvSpPr txBox="1"/>
          <p:nvPr>
            <p:ph idx="1" type="body"/>
          </p:nvPr>
        </p:nvSpPr>
        <p:spPr>
          <a:xfrm>
            <a:off x="457200" y="1475225"/>
            <a:ext cx="5142600" cy="43905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85000" lnSpcReduction="10000"/>
          </a:bodyPr>
          <a:lstStyle/>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The cloud infrastructure is </a:t>
            </a:r>
            <a:r>
              <a:rPr b="1" lang="en-US" sz="2000">
                <a:solidFill>
                  <a:srgbClr val="FF0000"/>
                </a:solidFill>
              </a:rPr>
              <a:t>provisioned for exclusive use by a single organization </a:t>
            </a:r>
            <a:r>
              <a:rPr lang="en-US" sz="2000">
                <a:solidFill>
                  <a:schemeClr val="dk1"/>
                </a:solidFill>
              </a:rPr>
              <a:t>comprising multiple consumers (e.g., business units). </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It may be </a:t>
            </a:r>
            <a:r>
              <a:rPr b="1" lang="en-US" sz="2000">
                <a:solidFill>
                  <a:srgbClr val="FF0000"/>
                </a:solidFill>
              </a:rPr>
              <a:t>owned, managed, and operated by the organization</a:t>
            </a:r>
            <a:r>
              <a:rPr lang="en-US" sz="2000">
                <a:solidFill>
                  <a:schemeClr val="dk1"/>
                </a:solidFill>
              </a:rPr>
              <a:t>, a third party, or some combination of them, and it may </a:t>
            </a:r>
            <a:r>
              <a:rPr b="1" lang="en-US" sz="2000">
                <a:solidFill>
                  <a:srgbClr val="FF0000"/>
                </a:solidFill>
              </a:rPr>
              <a:t>exist on or off premises</a:t>
            </a:r>
            <a:r>
              <a:rPr lang="en-US" sz="2000">
                <a:solidFill>
                  <a:schemeClr val="dk1"/>
                </a:solidFill>
              </a:rPr>
              <a:t>. </a:t>
            </a:r>
            <a:endParaRPr sz="2000">
              <a:solidFill>
                <a:schemeClr val="dk1"/>
              </a:solidFill>
            </a:endParaRPr>
          </a:p>
          <a:p>
            <a:pPr indent="-336550" lvl="0" marL="457200" marR="0" rtl="0" algn="l">
              <a:lnSpc>
                <a:spcPct val="150000"/>
              </a:lnSpc>
              <a:spcBef>
                <a:spcPts val="0"/>
              </a:spcBef>
              <a:spcAft>
                <a:spcPts val="0"/>
              </a:spcAft>
              <a:buClr>
                <a:schemeClr val="dk1"/>
              </a:buClr>
              <a:buSzPct val="100000"/>
              <a:buChar char="●"/>
            </a:pPr>
            <a:r>
              <a:rPr lang="en-US" sz="2000">
                <a:solidFill>
                  <a:schemeClr val="dk1"/>
                </a:solidFill>
              </a:rPr>
              <a:t>Examples of Private Cloud: OpenStack, Azure Stack, Eucalyptus, Ubuntu Enterprise Cloud - UEC,, VMware Cloud Infrastructure Suite, Microsoft ECI data center. </a:t>
            </a:r>
            <a:endParaRPr sz="2000">
              <a:solidFill>
                <a:schemeClr val="dk1"/>
              </a:solidFill>
            </a:endParaRPr>
          </a:p>
        </p:txBody>
      </p:sp>
      <p:sp>
        <p:nvSpPr>
          <p:cNvPr id="860" name="Google Shape;860;g3b3e7766c9d_0_844"/>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61" name="Google Shape;861;g3b3e7766c9d_0_84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62" name="Google Shape;862;g3b3e7766c9d_0_84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63" name="Google Shape;863;g3b3e7766c9d_0_844"/>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64" name="Google Shape;864;g3b3e7766c9d_0_84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65" name="Google Shape;865;g3b3e7766c9d_0_84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66" name="Google Shape;866;g3b3e7766c9d_0_84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67" name="Google Shape;867;g3b3e7766c9d_0_84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pic>
        <p:nvPicPr>
          <p:cNvPr id="868" name="Google Shape;868;g3b3e7766c9d_0_844"/>
          <p:cNvPicPr preferRelativeResize="0"/>
          <p:nvPr/>
        </p:nvPicPr>
        <p:blipFill rotWithShape="1">
          <a:blip r:embed="rId7">
            <a:alphaModFix/>
          </a:blip>
          <a:srcRect b="0" l="0" r="0" t="0"/>
          <a:stretch/>
        </p:blipFill>
        <p:spPr>
          <a:xfrm>
            <a:off x="6018775" y="2193248"/>
            <a:ext cx="2667425" cy="213607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b3e7766c9d_0_859"/>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7.2 Cloud Deployment Model- Private Model</a:t>
            </a:r>
            <a:endParaRPr b="1" sz="3000">
              <a:solidFill>
                <a:srgbClr val="FF0000"/>
              </a:solidFill>
            </a:endParaRPr>
          </a:p>
        </p:txBody>
      </p:sp>
      <p:sp>
        <p:nvSpPr>
          <p:cNvPr id="874" name="Google Shape;874;g3b3e7766c9d_0_859"/>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46075" lvl="0" marL="457200" marR="0" rtl="0" algn="l">
              <a:lnSpc>
                <a:spcPct val="150000"/>
              </a:lnSpc>
              <a:spcBef>
                <a:spcPts val="0"/>
              </a:spcBef>
              <a:spcAft>
                <a:spcPts val="0"/>
              </a:spcAft>
              <a:buClr>
                <a:schemeClr val="dk1"/>
              </a:buClr>
              <a:buSzPts val="1800"/>
              <a:buChar char="●"/>
            </a:pPr>
            <a:r>
              <a:rPr b="1" lang="en-US">
                <a:solidFill>
                  <a:srgbClr val="FF0000"/>
                </a:solidFill>
              </a:rPr>
              <a:t>Environment and computing resources </a:t>
            </a:r>
            <a:r>
              <a:rPr lang="en-US">
                <a:solidFill>
                  <a:schemeClr val="dk1"/>
                </a:solidFill>
              </a:rPr>
              <a:t>are exclusively </a:t>
            </a:r>
            <a:r>
              <a:rPr b="1" lang="en-US">
                <a:solidFill>
                  <a:srgbClr val="FF0000"/>
                </a:solidFill>
              </a:rPr>
              <a:t>dedicated to a single customer</a:t>
            </a:r>
            <a:r>
              <a:rPr lang="en-US">
                <a:solidFill>
                  <a:schemeClr val="dk1"/>
                </a:solidFill>
              </a:rPr>
              <a:t>. </a:t>
            </a:r>
            <a:endParaRPr>
              <a:solidFill>
                <a:schemeClr val="dk1"/>
              </a:solidFill>
            </a:endParaRPr>
          </a:p>
          <a:p>
            <a:pPr indent="-346075" lvl="0" marL="457200" marR="0" rtl="0" algn="l">
              <a:lnSpc>
                <a:spcPct val="150000"/>
              </a:lnSpc>
              <a:spcBef>
                <a:spcPts val="0"/>
              </a:spcBef>
              <a:spcAft>
                <a:spcPts val="0"/>
              </a:spcAft>
              <a:buClr>
                <a:schemeClr val="dk1"/>
              </a:buClr>
              <a:buSzPts val="1800"/>
              <a:buChar char="●"/>
            </a:pPr>
            <a:r>
              <a:rPr lang="en-US">
                <a:solidFill>
                  <a:schemeClr val="dk1"/>
                </a:solidFill>
              </a:rPr>
              <a:t>As a single-tenant infrastructure, it is comparable to owning a data center in a company, but it allows </a:t>
            </a:r>
            <a:r>
              <a:rPr b="1" lang="en-US">
                <a:solidFill>
                  <a:srgbClr val="FF0000"/>
                </a:solidFill>
              </a:rPr>
              <a:t>scaling services on demand </a:t>
            </a:r>
            <a:r>
              <a:rPr lang="en-US">
                <a:solidFill>
                  <a:schemeClr val="dk1"/>
                </a:solidFill>
              </a:rPr>
              <a:t>thanks to virtualization.</a:t>
            </a:r>
            <a:endParaRPr>
              <a:solidFill>
                <a:schemeClr val="dk1"/>
              </a:solidFill>
            </a:endParaRPr>
          </a:p>
          <a:p>
            <a:pPr indent="-346075" lvl="0" marL="457200" marR="0" rtl="0" algn="l">
              <a:lnSpc>
                <a:spcPct val="150000"/>
              </a:lnSpc>
              <a:spcBef>
                <a:spcPts val="0"/>
              </a:spcBef>
              <a:spcAft>
                <a:spcPts val="0"/>
              </a:spcAft>
              <a:buClr>
                <a:schemeClr val="dk1"/>
              </a:buClr>
              <a:buSzPts val="1800"/>
              <a:buChar char="●"/>
            </a:pPr>
            <a:r>
              <a:rPr lang="en-US">
                <a:solidFill>
                  <a:schemeClr val="dk1"/>
                </a:solidFill>
              </a:rPr>
              <a:t>Private cloud solutions </a:t>
            </a:r>
            <a:r>
              <a:rPr b="1" lang="en-US">
                <a:solidFill>
                  <a:srgbClr val="FF0000"/>
                </a:solidFill>
              </a:rPr>
              <a:t>offer greater security and control to companies</a:t>
            </a:r>
            <a:r>
              <a:rPr lang="en-US">
                <a:solidFill>
                  <a:schemeClr val="dk1"/>
                </a:solidFill>
              </a:rPr>
              <a:t>, as </a:t>
            </a:r>
            <a:r>
              <a:rPr b="1" lang="en-US">
                <a:solidFill>
                  <a:srgbClr val="FF0000"/>
                </a:solidFill>
              </a:rPr>
              <a:t>they do not have to share their resources with other customers. </a:t>
            </a:r>
            <a:endParaRPr b="1">
              <a:solidFill>
                <a:srgbClr val="FF0000"/>
              </a:solidFill>
            </a:endParaRPr>
          </a:p>
          <a:p>
            <a:pPr indent="-346075" lvl="0" marL="457200" marR="0" rtl="0" algn="l">
              <a:lnSpc>
                <a:spcPct val="150000"/>
              </a:lnSpc>
              <a:spcBef>
                <a:spcPts val="0"/>
              </a:spcBef>
              <a:spcAft>
                <a:spcPts val="0"/>
              </a:spcAft>
              <a:buClr>
                <a:schemeClr val="dk1"/>
              </a:buClr>
              <a:buSzPts val="1800"/>
              <a:buChar char="●"/>
            </a:pPr>
            <a:r>
              <a:rPr lang="en-US">
                <a:solidFill>
                  <a:schemeClr val="dk1"/>
                </a:solidFill>
              </a:rPr>
              <a:t>Cloud performance is not affected by the activities of noisy neighbors.</a:t>
            </a:r>
            <a:endParaRPr>
              <a:solidFill>
                <a:schemeClr val="dk1"/>
              </a:solidFill>
            </a:endParaRPr>
          </a:p>
          <a:p>
            <a:pPr indent="-346075" lvl="0" marL="457200" marR="0" rtl="0" algn="l">
              <a:lnSpc>
                <a:spcPct val="150000"/>
              </a:lnSpc>
              <a:spcBef>
                <a:spcPts val="0"/>
              </a:spcBef>
              <a:spcAft>
                <a:spcPts val="0"/>
              </a:spcAft>
              <a:buClr>
                <a:schemeClr val="dk1"/>
              </a:buClr>
              <a:buSzPts val="1800"/>
              <a:buChar char="●"/>
            </a:pPr>
            <a:r>
              <a:rPr lang="en-US">
                <a:solidFill>
                  <a:schemeClr val="dk1"/>
                </a:solidFill>
              </a:rPr>
              <a:t>Besides, by relying on a specialized private cloud provider, companies can completely forget about the management of physical servers.</a:t>
            </a:r>
            <a:endParaRPr>
              <a:solidFill>
                <a:schemeClr val="dk1"/>
              </a:solidFill>
            </a:endParaRPr>
          </a:p>
        </p:txBody>
      </p:sp>
      <p:sp>
        <p:nvSpPr>
          <p:cNvPr id="875" name="Google Shape;875;g3b3e7766c9d_0_859"/>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76" name="Google Shape;876;g3b3e7766c9d_0_859"/>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77" name="Google Shape;877;g3b3e7766c9d_0_859"/>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78" name="Google Shape;878;g3b3e7766c9d_0_859"/>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79" name="Google Shape;879;g3b3e7766c9d_0_859"/>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80" name="Google Shape;880;g3b3e7766c9d_0_859"/>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81" name="Google Shape;881;g3b3e7766c9d_0_859"/>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82" name="Google Shape;882;g3b3e7766c9d_0_859"/>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b3e7766c9d_0_910"/>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7.2 Cloud Deployment Model- Private Model</a:t>
            </a:r>
            <a:endParaRPr b="1" sz="3000">
              <a:solidFill>
                <a:srgbClr val="FF0000"/>
              </a:solidFill>
            </a:endParaRPr>
          </a:p>
        </p:txBody>
      </p:sp>
      <p:sp>
        <p:nvSpPr>
          <p:cNvPr id="888" name="Google Shape;888;g3b3e7766c9d_0_910"/>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85000" lnSpcReduction="10000"/>
          </a:bodyPr>
          <a:lstStyle/>
          <a:p>
            <a:pPr indent="0" lvl="0" marL="0" marR="0" rtl="0" algn="l">
              <a:lnSpc>
                <a:spcPct val="150000"/>
              </a:lnSpc>
              <a:spcBef>
                <a:spcPts val="0"/>
              </a:spcBef>
              <a:spcAft>
                <a:spcPts val="0"/>
              </a:spcAft>
              <a:buSzPct val="75675"/>
              <a:buNone/>
            </a:pPr>
            <a:r>
              <a:rPr b="1" i="1" lang="en-US" sz="2000">
                <a:solidFill>
                  <a:srgbClr val="FF0000"/>
                </a:solidFill>
              </a:rPr>
              <a:t>Advantages of the private cloud model:</a:t>
            </a:r>
            <a:endParaRPr b="1" i="1" sz="2000">
              <a:solidFill>
                <a:srgbClr val="FF0000"/>
              </a:solidFill>
            </a:endParaRPr>
          </a:p>
          <a:p>
            <a:pPr indent="-346075" lvl="0" marL="457200" marR="0" rtl="0" algn="l">
              <a:lnSpc>
                <a:spcPct val="150000"/>
              </a:lnSpc>
              <a:spcBef>
                <a:spcPts val="0"/>
              </a:spcBef>
              <a:spcAft>
                <a:spcPts val="0"/>
              </a:spcAft>
              <a:buClr>
                <a:schemeClr val="dk1"/>
              </a:buClr>
              <a:buSzPct val="100000"/>
              <a:buChar char="●"/>
            </a:pPr>
            <a:r>
              <a:rPr b="1" lang="en-US" sz="2000">
                <a:solidFill>
                  <a:srgbClr val="FF0000"/>
                </a:solidFill>
              </a:rPr>
              <a:t>Enhanced security</a:t>
            </a:r>
            <a:r>
              <a:rPr lang="en-US" sz="2000">
                <a:solidFill>
                  <a:schemeClr val="dk1"/>
                </a:solidFill>
              </a:rPr>
              <a:t>: Dedicated infrastructure reduces risks associated with multi-tenancy and supports strict compliance</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b="1" lang="en-US" sz="2000">
                <a:solidFill>
                  <a:srgbClr val="FF0000"/>
                </a:solidFill>
              </a:rPr>
              <a:t>Full control</a:t>
            </a:r>
            <a:r>
              <a:rPr lang="en-US" sz="2000">
                <a:solidFill>
                  <a:schemeClr val="dk1"/>
                </a:solidFill>
              </a:rPr>
              <a:t>: Organizations manage configuration, resources, and policies to match specific business needs</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Predictable performance: Resources are not shared with other tenants, ensuring consistent availability and reliability</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b="1" lang="en-US" sz="2000">
                <a:solidFill>
                  <a:srgbClr val="FF0000"/>
                </a:solidFill>
              </a:rPr>
              <a:t>Customization</a:t>
            </a:r>
            <a:r>
              <a:rPr lang="en-US" sz="2000">
                <a:solidFill>
                  <a:schemeClr val="dk1"/>
                </a:solidFill>
              </a:rPr>
              <a:t>: Infrastructure and services can be tailored to unique workloads or legacy applications</a:t>
            </a:r>
            <a:endParaRPr sz="2000">
              <a:solidFill>
                <a:schemeClr val="dk1"/>
              </a:solidFill>
            </a:endParaRPr>
          </a:p>
          <a:p>
            <a:pPr indent="-346075" lvl="0" marL="457200" marR="0" rtl="0" algn="l">
              <a:lnSpc>
                <a:spcPct val="150000"/>
              </a:lnSpc>
              <a:spcBef>
                <a:spcPts val="0"/>
              </a:spcBef>
              <a:spcAft>
                <a:spcPts val="0"/>
              </a:spcAft>
              <a:buClr>
                <a:schemeClr val="dk1"/>
              </a:buClr>
              <a:buSzPct val="100000"/>
              <a:buChar char="●"/>
            </a:pPr>
            <a:r>
              <a:rPr lang="en-US" sz="2000">
                <a:solidFill>
                  <a:schemeClr val="dk1"/>
                </a:solidFill>
              </a:rPr>
              <a:t>Regulatory compliance: Easier to meet industry standards for data residency, privacy, and auditing</a:t>
            </a:r>
            <a:endParaRPr sz="2000">
              <a:solidFill>
                <a:schemeClr val="dk1"/>
              </a:solidFill>
            </a:endParaRPr>
          </a:p>
        </p:txBody>
      </p:sp>
      <p:sp>
        <p:nvSpPr>
          <p:cNvPr id="889" name="Google Shape;889;g3b3e7766c9d_0_910"/>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890" name="Google Shape;890;g3b3e7766c9d_0_910"/>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891" name="Google Shape;891;g3b3e7766c9d_0_910"/>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92" name="Google Shape;892;g3b3e7766c9d_0_910"/>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893" name="Google Shape;893;g3b3e7766c9d_0_91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894" name="Google Shape;894;g3b3e7766c9d_0_910"/>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895" name="Google Shape;895;g3b3e7766c9d_0_910"/>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896" name="Google Shape;896;g3b3e7766c9d_0_910"/>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g3b3e7766c9d_0_926"/>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7.2 Cloud Deployment Model- Private Model</a:t>
            </a:r>
            <a:endParaRPr b="1" sz="3000">
              <a:solidFill>
                <a:srgbClr val="FF0000"/>
              </a:solidFill>
            </a:endParaRPr>
          </a:p>
        </p:txBody>
      </p:sp>
      <p:sp>
        <p:nvSpPr>
          <p:cNvPr id="902" name="Google Shape;902;g3b3e7766c9d_0_926"/>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SzPts val="1400"/>
              <a:buNone/>
            </a:pPr>
            <a:r>
              <a:rPr b="1" i="1" lang="en-US" sz="2000">
                <a:solidFill>
                  <a:srgbClr val="FF0000"/>
                </a:solidFill>
              </a:rPr>
              <a:t>Disadvantages of the private cloud model:</a:t>
            </a:r>
            <a:endParaRPr b="1" i="1" sz="2000">
              <a:solidFill>
                <a:srgbClr val="FF0000"/>
              </a:solidFill>
            </a:endParaRPr>
          </a:p>
          <a:p>
            <a:pPr indent="-355600" lvl="0" marL="457200" marR="0" rtl="0" algn="l">
              <a:lnSpc>
                <a:spcPct val="150000"/>
              </a:lnSpc>
              <a:spcBef>
                <a:spcPts val="0"/>
              </a:spcBef>
              <a:spcAft>
                <a:spcPts val="0"/>
              </a:spcAft>
              <a:buClr>
                <a:schemeClr val="dk1"/>
              </a:buClr>
              <a:buSzPts val="2000"/>
              <a:buChar char="●"/>
            </a:pPr>
            <a:r>
              <a:rPr b="1" lang="en-US" sz="2000">
                <a:solidFill>
                  <a:srgbClr val="FF0000"/>
                </a:solidFill>
              </a:rPr>
              <a:t>High upfront cost</a:t>
            </a:r>
            <a:r>
              <a:rPr lang="en-US" sz="2000">
                <a:solidFill>
                  <a:schemeClr val="dk1"/>
                </a:solidFill>
              </a:rPr>
              <a:t>: Significant investment is required for hardware, software, and data center infrastructure</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b="1" lang="en-US" sz="2000">
                <a:solidFill>
                  <a:srgbClr val="FF0000"/>
                </a:solidFill>
              </a:rPr>
              <a:t>Complex management</a:t>
            </a:r>
            <a:r>
              <a:rPr lang="en-US" sz="2000">
                <a:solidFill>
                  <a:schemeClr val="dk1"/>
                </a:solidFill>
              </a:rPr>
              <a:t>: Organizations must handle maintenance, upgrades, and security internally, increasing operational burden</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rgbClr val="FF0000"/>
                </a:solidFill>
              </a:rPr>
              <a:t>Limited scalability</a:t>
            </a:r>
            <a:r>
              <a:rPr lang="en-US" sz="2000">
                <a:solidFill>
                  <a:schemeClr val="dk1"/>
                </a:solidFill>
              </a:rPr>
              <a:t>: Expanding capacity is slower and more expensive compared to the elasticity of public cloud services</a:t>
            </a:r>
            <a:endParaRPr sz="2000">
              <a:solidFill>
                <a:schemeClr val="dk1"/>
              </a:solidFill>
            </a:endParaRPr>
          </a:p>
        </p:txBody>
      </p:sp>
      <p:sp>
        <p:nvSpPr>
          <p:cNvPr id="903" name="Google Shape;903;g3b3e7766c9d_0_926"/>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04" name="Google Shape;904;g3b3e7766c9d_0_926"/>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905" name="Google Shape;905;g3b3e7766c9d_0_926"/>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06" name="Google Shape;906;g3b3e7766c9d_0_926"/>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907" name="Google Shape;907;g3b3e7766c9d_0_926"/>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08" name="Google Shape;908;g3b3e7766c9d_0_926"/>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09" name="Google Shape;909;g3b3e7766c9d_0_926"/>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910" name="Google Shape;910;g3b3e7766c9d_0_926"/>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g3b3e7766c9d_0_884"/>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7.3 Cloud Deployment Model- Community Model</a:t>
            </a:r>
            <a:endParaRPr b="1" sz="3000">
              <a:solidFill>
                <a:srgbClr val="FF0000"/>
              </a:solidFill>
            </a:endParaRPr>
          </a:p>
        </p:txBody>
      </p:sp>
      <p:sp>
        <p:nvSpPr>
          <p:cNvPr id="916" name="Google Shape;916;g3b3e7766c9d_0_884"/>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58775" lvl="0" marL="457200" marR="0" rtl="0" algn="l">
              <a:lnSpc>
                <a:spcPct val="115000"/>
              </a:lnSpc>
              <a:spcBef>
                <a:spcPts val="0"/>
              </a:spcBef>
              <a:spcAft>
                <a:spcPts val="0"/>
              </a:spcAft>
              <a:buClr>
                <a:schemeClr val="dk1"/>
              </a:buClr>
              <a:buSzPts val="1800"/>
              <a:buChar char="●"/>
            </a:pPr>
            <a:r>
              <a:rPr lang="en-US">
                <a:solidFill>
                  <a:schemeClr val="dk1"/>
                </a:solidFill>
              </a:rPr>
              <a:t>Cloud infrastructure is provisioned for exclusive use by a </a:t>
            </a:r>
            <a:r>
              <a:rPr b="1" lang="en-US">
                <a:solidFill>
                  <a:srgbClr val="FF0000"/>
                </a:solidFill>
              </a:rPr>
              <a:t>specific community of consumers from organizations</a:t>
            </a:r>
            <a:r>
              <a:rPr lang="en-US">
                <a:solidFill>
                  <a:schemeClr val="dk1"/>
                </a:solidFill>
              </a:rPr>
              <a:t> that have shared concerns e.g.</a:t>
            </a:r>
            <a:endParaRPr>
              <a:solidFill>
                <a:schemeClr val="dk1"/>
              </a:solidFill>
            </a:endParaRPr>
          </a:p>
          <a:p>
            <a:pPr indent="-358775" lvl="3" marL="1828800" marR="0" rtl="0" algn="l">
              <a:lnSpc>
                <a:spcPct val="115000"/>
              </a:lnSpc>
              <a:spcBef>
                <a:spcPts val="0"/>
              </a:spcBef>
              <a:spcAft>
                <a:spcPts val="0"/>
              </a:spcAft>
              <a:buClr>
                <a:schemeClr val="dk1"/>
              </a:buClr>
              <a:buSzPts val="1800"/>
              <a:buChar char="●"/>
            </a:pPr>
            <a:r>
              <a:rPr lang="en-US">
                <a:solidFill>
                  <a:schemeClr val="dk1"/>
                </a:solidFill>
              </a:rPr>
              <a:t>mission</a:t>
            </a:r>
            <a:endParaRPr>
              <a:solidFill>
                <a:schemeClr val="dk1"/>
              </a:solidFill>
            </a:endParaRPr>
          </a:p>
          <a:p>
            <a:pPr indent="-358775" lvl="3" marL="1828800" marR="0" rtl="0" algn="l">
              <a:lnSpc>
                <a:spcPct val="115000"/>
              </a:lnSpc>
              <a:spcBef>
                <a:spcPts val="0"/>
              </a:spcBef>
              <a:spcAft>
                <a:spcPts val="0"/>
              </a:spcAft>
              <a:buClr>
                <a:schemeClr val="dk1"/>
              </a:buClr>
              <a:buSzPts val="1800"/>
              <a:buChar char="●"/>
            </a:pPr>
            <a:r>
              <a:rPr lang="en-US">
                <a:solidFill>
                  <a:schemeClr val="dk1"/>
                </a:solidFill>
              </a:rPr>
              <a:t>security requirements</a:t>
            </a:r>
            <a:endParaRPr>
              <a:solidFill>
                <a:schemeClr val="dk1"/>
              </a:solidFill>
            </a:endParaRPr>
          </a:p>
          <a:p>
            <a:pPr indent="-358775" lvl="3" marL="1828800" marR="0" rtl="0" algn="l">
              <a:lnSpc>
                <a:spcPct val="115000"/>
              </a:lnSpc>
              <a:spcBef>
                <a:spcPts val="0"/>
              </a:spcBef>
              <a:spcAft>
                <a:spcPts val="0"/>
              </a:spcAft>
              <a:buClr>
                <a:schemeClr val="dk1"/>
              </a:buClr>
              <a:buSzPts val="1800"/>
              <a:buChar char="●"/>
            </a:pPr>
            <a:r>
              <a:rPr lang="en-US">
                <a:solidFill>
                  <a:schemeClr val="dk1"/>
                </a:solidFill>
              </a:rPr>
              <a:t>policy</a:t>
            </a:r>
            <a:endParaRPr>
              <a:solidFill>
                <a:schemeClr val="dk1"/>
              </a:solidFill>
            </a:endParaRPr>
          </a:p>
          <a:p>
            <a:pPr indent="-358775" lvl="3" marL="1828800" marR="0" rtl="0" algn="l">
              <a:lnSpc>
                <a:spcPct val="115000"/>
              </a:lnSpc>
              <a:spcBef>
                <a:spcPts val="0"/>
              </a:spcBef>
              <a:spcAft>
                <a:spcPts val="0"/>
              </a:spcAft>
              <a:buClr>
                <a:schemeClr val="dk1"/>
              </a:buClr>
              <a:buSzPts val="1800"/>
              <a:buChar char="●"/>
            </a:pPr>
            <a:r>
              <a:rPr lang="en-US">
                <a:solidFill>
                  <a:schemeClr val="dk1"/>
                </a:solidFill>
              </a:rPr>
              <a:t>compliance considerations</a:t>
            </a:r>
            <a:endParaRPr>
              <a:solidFill>
                <a:schemeClr val="dk1"/>
              </a:solidFill>
            </a:endParaRPr>
          </a:p>
          <a:p>
            <a:pPr indent="-358775" lvl="0" marL="457200" marR="0" rtl="0" algn="l">
              <a:lnSpc>
                <a:spcPct val="115000"/>
              </a:lnSpc>
              <a:spcBef>
                <a:spcPts val="0"/>
              </a:spcBef>
              <a:spcAft>
                <a:spcPts val="0"/>
              </a:spcAft>
              <a:buClr>
                <a:schemeClr val="dk1"/>
              </a:buClr>
              <a:buSzPts val="1800"/>
              <a:buChar char="●"/>
            </a:pPr>
            <a:r>
              <a:rPr lang="en-US">
                <a:solidFill>
                  <a:schemeClr val="dk1"/>
                </a:solidFill>
              </a:rPr>
              <a:t>It may be</a:t>
            </a:r>
            <a:r>
              <a:rPr b="1" lang="en-US">
                <a:solidFill>
                  <a:srgbClr val="FF0000"/>
                </a:solidFill>
              </a:rPr>
              <a:t> owned, managed, and operated by one or more of the organizations</a:t>
            </a:r>
            <a:r>
              <a:rPr lang="en-US">
                <a:solidFill>
                  <a:schemeClr val="dk1"/>
                </a:solidFill>
              </a:rPr>
              <a:t> in the community,  a third party, or some combination of them</a:t>
            </a:r>
            <a:endParaRPr>
              <a:solidFill>
                <a:schemeClr val="dk1"/>
              </a:solidFill>
            </a:endParaRPr>
          </a:p>
          <a:p>
            <a:pPr indent="-358775" lvl="0" marL="457200" marR="0" rtl="0" algn="l">
              <a:lnSpc>
                <a:spcPct val="115000"/>
              </a:lnSpc>
              <a:spcBef>
                <a:spcPts val="0"/>
              </a:spcBef>
              <a:spcAft>
                <a:spcPts val="0"/>
              </a:spcAft>
              <a:buClr>
                <a:schemeClr val="dk1"/>
              </a:buClr>
              <a:buSzPts val="1800"/>
              <a:buChar char="●"/>
            </a:pPr>
            <a:r>
              <a:rPr lang="en-US">
                <a:solidFill>
                  <a:schemeClr val="dk1"/>
                </a:solidFill>
              </a:rPr>
              <a:t>It may exist </a:t>
            </a:r>
            <a:r>
              <a:rPr b="1" lang="en-US">
                <a:solidFill>
                  <a:srgbClr val="FF0000"/>
                </a:solidFill>
              </a:rPr>
              <a:t>on or off premises</a:t>
            </a:r>
            <a:r>
              <a:rPr lang="en-US">
                <a:solidFill>
                  <a:schemeClr val="dk1"/>
                </a:solidFill>
              </a:rPr>
              <a:t>. </a:t>
            </a:r>
            <a:endParaRPr>
              <a:solidFill>
                <a:schemeClr val="dk1"/>
              </a:solidFill>
            </a:endParaRPr>
          </a:p>
        </p:txBody>
      </p:sp>
      <p:sp>
        <p:nvSpPr>
          <p:cNvPr id="917" name="Google Shape;917;g3b3e7766c9d_0_884"/>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18" name="Google Shape;918;g3b3e7766c9d_0_88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919" name="Google Shape;919;g3b3e7766c9d_0_88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20" name="Google Shape;920;g3b3e7766c9d_0_884"/>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921" name="Google Shape;921;g3b3e7766c9d_0_88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22" name="Google Shape;922;g3b3e7766c9d_0_88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23" name="Google Shape;923;g3b3e7766c9d_0_88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924" name="Google Shape;924;g3b3e7766c9d_0_88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pic>
        <p:nvPicPr>
          <p:cNvPr id="930" name="Google Shape;930;g3b3e7766c9d_0_965"/>
          <p:cNvPicPr preferRelativeResize="0"/>
          <p:nvPr/>
        </p:nvPicPr>
        <p:blipFill rotWithShape="1">
          <a:blip r:embed="rId3">
            <a:alphaModFix/>
          </a:blip>
          <a:srcRect b="0" l="0" r="0" t="0"/>
          <a:stretch/>
        </p:blipFill>
        <p:spPr>
          <a:xfrm>
            <a:off x="1054625" y="1910150"/>
            <a:ext cx="7611600" cy="3805800"/>
          </a:xfrm>
          <a:prstGeom prst="rect">
            <a:avLst/>
          </a:prstGeom>
          <a:noFill/>
          <a:ln cap="flat" cmpd="sng" w="9525">
            <a:solidFill>
              <a:schemeClr val="dk1"/>
            </a:solidFill>
            <a:prstDash val="solid"/>
            <a:round/>
            <a:headEnd len="sm" w="sm" type="none"/>
            <a:tailEnd len="sm" w="sm" type="none"/>
          </a:ln>
        </p:spPr>
      </p:pic>
      <p:sp>
        <p:nvSpPr>
          <p:cNvPr id="931" name="Google Shape;931;g3b3e7766c9d_0_965"/>
          <p:cNvSpPr txBox="1"/>
          <p:nvPr>
            <p:ph type="title"/>
          </p:nvPr>
        </p:nvSpPr>
        <p:spPr>
          <a:xfrm>
            <a:off x="546950" y="3837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7.3 Cloud Deployment Model- Community Model</a:t>
            </a:r>
            <a:endParaRPr b="1" sz="3000">
              <a:solidFill>
                <a:srgbClr val="FF0000"/>
              </a:solidFill>
            </a:endParaRPr>
          </a:p>
        </p:txBody>
      </p:sp>
      <p:pic>
        <p:nvPicPr>
          <p:cNvPr id="932" name="Google Shape;932;g3b3e7766c9d_0_965"/>
          <p:cNvPicPr preferRelativeResize="0"/>
          <p:nvPr/>
        </p:nvPicPr>
        <p:blipFill rotWithShape="1">
          <a:blip r:embed="rId4">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33" name="Google Shape;933;g3b3e7766c9d_0_965"/>
          <p:cNvPicPr preferRelativeResize="0"/>
          <p:nvPr/>
        </p:nvPicPr>
        <p:blipFill rotWithShape="1">
          <a:blip r:embed="rId5">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34" name="Google Shape;934;g3b3e7766c9d_0_965"/>
          <p:cNvPicPr preferRelativeResize="0"/>
          <p:nvPr/>
        </p:nvPicPr>
        <p:blipFill rotWithShape="1">
          <a:blip r:embed="rId6">
            <a:alphaModFix/>
          </a:blip>
          <a:srcRect b="0" l="0" r="0" t="0"/>
          <a:stretch/>
        </p:blipFill>
        <p:spPr>
          <a:xfrm>
            <a:off x="8344295" y="5945933"/>
            <a:ext cx="654480" cy="424080"/>
          </a:xfrm>
          <a:prstGeom prst="rect">
            <a:avLst/>
          </a:prstGeom>
          <a:noFill/>
          <a:ln>
            <a:noFill/>
          </a:ln>
        </p:spPr>
      </p:pic>
      <p:pic>
        <p:nvPicPr>
          <p:cNvPr id="935" name="Google Shape;935;g3b3e7766c9d_0_965"/>
          <p:cNvPicPr preferRelativeResize="0"/>
          <p:nvPr/>
        </p:nvPicPr>
        <p:blipFill rotWithShape="1">
          <a:blip r:embed="rId7">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g3b3e7766c9d_0_897"/>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7.3 Cloud Deployment Model- Community Model</a:t>
            </a:r>
            <a:endParaRPr b="1" sz="3000">
              <a:solidFill>
                <a:srgbClr val="FF0000"/>
              </a:solidFill>
            </a:endParaRPr>
          </a:p>
        </p:txBody>
      </p:sp>
      <p:sp>
        <p:nvSpPr>
          <p:cNvPr id="941" name="Google Shape;941;g3b3e7766c9d_0_897"/>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SzPts val="1400"/>
              <a:buNone/>
            </a:pPr>
            <a:r>
              <a:rPr b="1" i="1" lang="en-US" sz="1700">
                <a:solidFill>
                  <a:srgbClr val="FF0000"/>
                </a:solidFill>
              </a:rPr>
              <a:t>Advantages of the community cloud model</a:t>
            </a:r>
            <a:endParaRPr b="1" i="1" sz="1700">
              <a:solidFill>
                <a:srgbClr val="FF0000"/>
              </a:solidFill>
            </a:endParaRPr>
          </a:p>
          <a:p>
            <a:pPr indent="-336550" lvl="0" marL="457200" marR="0" rtl="0" algn="l">
              <a:lnSpc>
                <a:spcPct val="150000"/>
              </a:lnSpc>
              <a:spcBef>
                <a:spcPts val="0"/>
              </a:spcBef>
              <a:spcAft>
                <a:spcPts val="0"/>
              </a:spcAft>
              <a:buClr>
                <a:schemeClr val="dk1"/>
              </a:buClr>
              <a:buSzPts val="1700"/>
              <a:buChar char="●"/>
            </a:pPr>
            <a:r>
              <a:rPr b="1" lang="en-US" sz="1700">
                <a:solidFill>
                  <a:srgbClr val="FF0000"/>
                </a:solidFill>
              </a:rPr>
              <a:t>Shared costs</a:t>
            </a:r>
            <a:r>
              <a:rPr lang="en-US" sz="1700">
                <a:solidFill>
                  <a:schemeClr val="dk1"/>
                </a:solidFill>
              </a:rPr>
              <a:t>: The community cloud model allows multiple organizations with similar requirements to </a:t>
            </a:r>
            <a:r>
              <a:rPr b="1" lang="en-US" sz="1700">
                <a:solidFill>
                  <a:srgbClr val="FF0000"/>
                </a:solidFill>
              </a:rPr>
              <a:t>share infrastructure, reducing individual expenses </a:t>
            </a:r>
            <a:r>
              <a:rPr lang="en-US" sz="1700">
                <a:solidFill>
                  <a:schemeClr val="dk1"/>
                </a:solidFill>
              </a:rPr>
              <a:t>while maintaining higher security and compliance than the public cloud</a:t>
            </a:r>
            <a:endParaRPr sz="1700">
              <a:solidFill>
                <a:schemeClr val="dk1"/>
              </a:solidFill>
            </a:endParaRPr>
          </a:p>
          <a:p>
            <a:pPr indent="0" lvl="0" marL="0" marR="0" rtl="0" algn="l">
              <a:lnSpc>
                <a:spcPct val="150000"/>
              </a:lnSpc>
              <a:spcBef>
                <a:spcPts val="0"/>
              </a:spcBef>
              <a:spcAft>
                <a:spcPts val="0"/>
              </a:spcAft>
              <a:buSzPts val="1400"/>
              <a:buNone/>
            </a:pPr>
            <a:r>
              <a:rPr b="1" i="1" lang="en-US" sz="1700">
                <a:solidFill>
                  <a:srgbClr val="FF0000"/>
                </a:solidFill>
              </a:rPr>
              <a:t>Disadvantages of the community cloud model</a:t>
            </a:r>
            <a:endParaRPr b="1" i="1" sz="1700">
              <a:solidFill>
                <a:srgbClr val="FF0000"/>
              </a:solidFill>
            </a:endParaRPr>
          </a:p>
          <a:p>
            <a:pPr indent="-336550" lvl="0" marL="457200" marR="0" rtl="0" algn="l">
              <a:lnSpc>
                <a:spcPct val="150000"/>
              </a:lnSpc>
              <a:spcBef>
                <a:spcPts val="0"/>
              </a:spcBef>
              <a:spcAft>
                <a:spcPts val="0"/>
              </a:spcAft>
              <a:buClr>
                <a:schemeClr val="dk1"/>
              </a:buClr>
              <a:buSzPts val="1700"/>
              <a:buChar char="●"/>
            </a:pPr>
            <a:r>
              <a:rPr b="1" lang="en-US" sz="1700">
                <a:solidFill>
                  <a:srgbClr val="FF0000"/>
                </a:solidFill>
              </a:rPr>
              <a:t>Limited scalability</a:t>
            </a:r>
            <a:r>
              <a:rPr lang="en-US" sz="1700">
                <a:solidFill>
                  <a:schemeClr val="dk1"/>
                </a:solidFill>
              </a:rPr>
              <a:t>: Resources are shared among a specific group, which can restrict expansion compared to public cloud options</a:t>
            </a:r>
            <a:endParaRPr sz="1700">
              <a:solidFill>
                <a:schemeClr val="dk1"/>
              </a:solidFill>
            </a:endParaRPr>
          </a:p>
          <a:p>
            <a:pPr indent="-336550" lvl="0" marL="457200" marR="0" rtl="0" algn="l">
              <a:lnSpc>
                <a:spcPct val="150000"/>
              </a:lnSpc>
              <a:spcBef>
                <a:spcPts val="0"/>
              </a:spcBef>
              <a:spcAft>
                <a:spcPts val="0"/>
              </a:spcAft>
              <a:buClr>
                <a:schemeClr val="dk1"/>
              </a:buClr>
              <a:buSzPts val="1700"/>
              <a:buChar char="●"/>
            </a:pPr>
            <a:r>
              <a:rPr b="1" lang="en-US" sz="1700">
                <a:solidFill>
                  <a:srgbClr val="FF0000"/>
                </a:solidFill>
              </a:rPr>
              <a:t>Shared responsibility</a:t>
            </a:r>
            <a:r>
              <a:rPr lang="en-US" sz="1700">
                <a:solidFill>
                  <a:schemeClr val="dk1"/>
                </a:solidFill>
              </a:rPr>
              <a:t>: Governance and security management require coordination among all members, which can lead to complexity or disputes</a:t>
            </a:r>
            <a:endParaRPr sz="1700">
              <a:solidFill>
                <a:schemeClr val="dk1"/>
              </a:solidFill>
            </a:endParaRPr>
          </a:p>
          <a:p>
            <a:pPr indent="-336550" lvl="0" marL="457200" marR="0" rtl="0" algn="l">
              <a:lnSpc>
                <a:spcPct val="150000"/>
              </a:lnSpc>
              <a:spcBef>
                <a:spcPts val="0"/>
              </a:spcBef>
              <a:spcAft>
                <a:spcPts val="0"/>
              </a:spcAft>
              <a:buClr>
                <a:schemeClr val="dk1"/>
              </a:buClr>
              <a:buSzPts val="1700"/>
              <a:buChar char="●"/>
            </a:pPr>
            <a:r>
              <a:rPr lang="en-US" sz="1700">
                <a:solidFill>
                  <a:schemeClr val="dk1"/>
                </a:solidFill>
              </a:rPr>
              <a:t>Not applicable to most SMEs (Small to Medium enterprises)</a:t>
            </a:r>
            <a:endParaRPr sz="1700">
              <a:solidFill>
                <a:schemeClr val="dk1"/>
              </a:solidFill>
            </a:endParaRPr>
          </a:p>
        </p:txBody>
      </p:sp>
      <p:sp>
        <p:nvSpPr>
          <p:cNvPr id="942" name="Google Shape;942;g3b3e7766c9d_0_897"/>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43" name="Google Shape;943;g3b3e7766c9d_0_897"/>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944" name="Google Shape;944;g3b3e7766c9d_0_897"/>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45" name="Google Shape;945;g3b3e7766c9d_0_897"/>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946" name="Google Shape;946;g3b3e7766c9d_0_89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47" name="Google Shape;947;g3b3e7766c9d_0_897"/>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48" name="Google Shape;948;g3b3e7766c9d_0_897"/>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949" name="Google Shape;949;g3b3e7766c9d_0_897"/>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g3b3e7766c9d_0_977"/>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7.4 Cloud Deployment Model- Hybrid</a:t>
            </a:r>
            <a:endParaRPr b="1" sz="3000">
              <a:solidFill>
                <a:srgbClr val="FF0000"/>
              </a:solidFill>
            </a:endParaRPr>
          </a:p>
        </p:txBody>
      </p:sp>
      <p:sp>
        <p:nvSpPr>
          <p:cNvPr id="955" name="Google Shape;955;g3b3e7766c9d_0_977"/>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The hybrid model combines </a:t>
            </a:r>
            <a:r>
              <a:rPr b="1" lang="en-US" sz="2000">
                <a:solidFill>
                  <a:srgbClr val="FF0000"/>
                </a:solidFill>
              </a:rPr>
              <a:t>both public and private cloud </a:t>
            </a:r>
            <a:r>
              <a:rPr lang="en-US" sz="2000">
                <a:solidFill>
                  <a:schemeClr val="dk1"/>
                </a:solidFill>
              </a:rPr>
              <a:t>deployment models, giving a single cloud infrastructure that is aimed at increasing flexibility and deployment options for the business.</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For example, </a:t>
            </a:r>
            <a:r>
              <a:rPr b="1" lang="en-US" sz="2000">
                <a:solidFill>
                  <a:srgbClr val="FF0000"/>
                </a:solidFill>
              </a:rPr>
              <a:t>applications with strict governance and data security requirements </a:t>
            </a:r>
            <a:r>
              <a:rPr lang="en-US" sz="2000">
                <a:solidFill>
                  <a:schemeClr val="dk1"/>
                </a:solidFill>
              </a:rPr>
              <a:t>may be hosted in the </a:t>
            </a:r>
            <a:r>
              <a:rPr b="1" lang="en-US" sz="2000">
                <a:solidFill>
                  <a:srgbClr val="FF0000"/>
                </a:solidFill>
              </a:rPr>
              <a:t>business’s private cloud, </a:t>
            </a:r>
            <a:r>
              <a:rPr lang="en-US" sz="2000">
                <a:solidFill>
                  <a:schemeClr val="dk1"/>
                </a:solidFill>
              </a:rPr>
              <a:t>whereas applications without these concerns, which need to be </a:t>
            </a:r>
            <a:r>
              <a:rPr b="1" lang="en-US" sz="2000">
                <a:solidFill>
                  <a:srgbClr val="FF0000"/>
                </a:solidFill>
              </a:rPr>
              <a:t>scaled on demand, could be hosted in the public cloud.</a:t>
            </a:r>
            <a:endParaRPr b="1" sz="2000">
              <a:solidFill>
                <a:srgbClr val="FF0000"/>
              </a:solidFill>
            </a:endParaRPr>
          </a:p>
          <a:p>
            <a:pPr indent="0" lvl="0" marL="0" marR="0" rtl="0" algn="l">
              <a:lnSpc>
                <a:spcPct val="150000"/>
              </a:lnSpc>
              <a:spcBef>
                <a:spcPts val="0"/>
              </a:spcBef>
              <a:spcAft>
                <a:spcPts val="0"/>
              </a:spcAft>
              <a:buSzPts val="1400"/>
              <a:buNone/>
            </a:pPr>
            <a:r>
              <a:t/>
            </a:r>
            <a:endParaRPr sz="2000">
              <a:solidFill>
                <a:schemeClr val="dk1"/>
              </a:solidFill>
            </a:endParaRPr>
          </a:p>
        </p:txBody>
      </p:sp>
      <p:sp>
        <p:nvSpPr>
          <p:cNvPr id="956" name="Google Shape;956;g3b3e7766c9d_0_977"/>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57" name="Google Shape;957;g3b3e7766c9d_0_977"/>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958" name="Google Shape;958;g3b3e7766c9d_0_977"/>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59" name="Google Shape;959;g3b3e7766c9d_0_977"/>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960" name="Google Shape;960;g3b3e7766c9d_0_977"/>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61" name="Google Shape;961;g3b3e7766c9d_0_977"/>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62" name="Google Shape;962;g3b3e7766c9d_0_977"/>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963" name="Google Shape;963;g3b3e7766c9d_0_977"/>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3b3e7766c9d_0_992"/>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7.4 Cloud Deployment Model- Hybrid</a:t>
            </a:r>
            <a:endParaRPr b="1" sz="3000">
              <a:solidFill>
                <a:srgbClr val="FF0000"/>
              </a:solidFill>
            </a:endParaRPr>
          </a:p>
        </p:txBody>
      </p:sp>
      <p:sp>
        <p:nvSpPr>
          <p:cNvPr id="969" name="Google Shape;969;g3b3e7766c9d_0_992"/>
          <p:cNvSpPr txBox="1"/>
          <p:nvPr>
            <p:ph idx="1" type="body"/>
          </p:nvPr>
        </p:nvSpPr>
        <p:spPr>
          <a:xfrm>
            <a:off x="457200" y="1475225"/>
            <a:ext cx="40296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Most businesses strive to alleviate the burden on the existing infrastructure by migrating to the public cloud where possible and effectively utilizing the </a:t>
            </a:r>
            <a:r>
              <a:rPr b="1" lang="en-US" sz="2000">
                <a:solidFill>
                  <a:srgbClr val="FF0000"/>
                </a:solidFill>
              </a:rPr>
              <a:t>hybrid deployment model during the migration period.</a:t>
            </a:r>
            <a:endParaRPr b="1" sz="2000">
              <a:solidFill>
                <a:srgbClr val="FF0000"/>
              </a:solidFill>
            </a:endParaRPr>
          </a:p>
          <a:p>
            <a:pPr indent="0" lvl="0" marL="457200" marR="0" rtl="0" algn="l">
              <a:lnSpc>
                <a:spcPct val="150000"/>
              </a:lnSpc>
              <a:spcBef>
                <a:spcPts val="0"/>
              </a:spcBef>
              <a:spcAft>
                <a:spcPts val="0"/>
              </a:spcAft>
              <a:buSzPts val="1400"/>
              <a:buNone/>
            </a:pPr>
            <a:r>
              <a:t/>
            </a:r>
            <a:endParaRPr sz="2000">
              <a:solidFill>
                <a:schemeClr val="dk1"/>
              </a:solidFill>
            </a:endParaRPr>
          </a:p>
        </p:txBody>
      </p:sp>
      <p:sp>
        <p:nvSpPr>
          <p:cNvPr id="970" name="Google Shape;970;g3b3e7766c9d_0_992"/>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71" name="Google Shape;971;g3b3e7766c9d_0_992"/>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972" name="Google Shape;972;g3b3e7766c9d_0_992"/>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73" name="Google Shape;973;g3b3e7766c9d_0_992"/>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974" name="Google Shape;974;g3b3e7766c9d_0_99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75" name="Google Shape;975;g3b3e7766c9d_0_99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76" name="Google Shape;976;g3b3e7766c9d_0_99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977" name="Google Shape;977;g3b3e7766c9d_0_99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pic>
        <p:nvPicPr>
          <p:cNvPr id="978" name="Google Shape;978;g3b3e7766c9d_0_992"/>
          <p:cNvPicPr preferRelativeResize="0"/>
          <p:nvPr/>
        </p:nvPicPr>
        <p:blipFill rotWithShape="1">
          <a:blip r:embed="rId7">
            <a:alphaModFix/>
          </a:blip>
          <a:srcRect b="0" l="0" r="0" t="0"/>
          <a:stretch/>
        </p:blipFill>
        <p:spPr>
          <a:xfrm>
            <a:off x="4703650" y="2055230"/>
            <a:ext cx="4149488" cy="3226227"/>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b3e7766c9d_0_1008"/>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7.4 Cloud Deployment Model- Hybrid</a:t>
            </a:r>
            <a:endParaRPr b="1" sz="3000">
              <a:solidFill>
                <a:srgbClr val="FF0000"/>
              </a:solidFill>
            </a:endParaRPr>
          </a:p>
        </p:txBody>
      </p:sp>
      <p:sp>
        <p:nvSpPr>
          <p:cNvPr id="984" name="Google Shape;984;g3b3e7766c9d_0_1008"/>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92500"/>
          </a:bodyPr>
          <a:lstStyle/>
          <a:p>
            <a:pPr indent="0" lvl="0" marL="0" marR="0" rtl="0" algn="l">
              <a:lnSpc>
                <a:spcPct val="150000"/>
              </a:lnSpc>
              <a:spcBef>
                <a:spcPts val="0"/>
              </a:spcBef>
              <a:spcAft>
                <a:spcPts val="0"/>
              </a:spcAft>
              <a:buSzPct val="75675"/>
              <a:buNone/>
            </a:pPr>
            <a:r>
              <a:rPr b="1" i="1" lang="en-US" sz="2000">
                <a:solidFill>
                  <a:srgbClr val="FF0000"/>
                </a:solidFill>
              </a:rPr>
              <a:t>Advantages of the hybrid cloud</a:t>
            </a:r>
            <a:endParaRPr b="1" i="1" sz="2000">
              <a:solidFill>
                <a:srgbClr val="FF0000"/>
              </a:solidFill>
            </a:endParaRPr>
          </a:p>
          <a:p>
            <a:pPr indent="-355600" lvl="0" marL="457200" marR="0" rtl="0" algn="l">
              <a:lnSpc>
                <a:spcPct val="150000"/>
              </a:lnSpc>
              <a:spcBef>
                <a:spcPts val="0"/>
              </a:spcBef>
              <a:spcAft>
                <a:spcPts val="0"/>
              </a:spcAft>
              <a:buClr>
                <a:schemeClr val="dk1"/>
              </a:buClr>
              <a:buSzPct val="108108"/>
              <a:buChar char="●"/>
            </a:pPr>
            <a:r>
              <a:rPr b="1" lang="en-US" sz="2000">
                <a:solidFill>
                  <a:srgbClr val="FF0000"/>
                </a:solidFill>
              </a:rPr>
              <a:t>Flexibility</a:t>
            </a:r>
            <a:r>
              <a:rPr lang="en-US" sz="2000">
                <a:solidFill>
                  <a:schemeClr val="dk1"/>
                </a:solidFill>
              </a:rPr>
              <a:t>: Workloads can move between private and public environments depending on performance, security, or cost needs</a:t>
            </a:r>
            <a:endParaRPr sz="2000">
              <a:solidFill>
                <a:schemeClr val="dk1"/>
              </a:solidFill>
            </a:endParaRPr>
          </a:p>
          <a:p>
            <a:pPr indent="-355600" lvl="0" marL="457200" marR="0" rtl="0" algn="l">
              <a:lnSpc>
                <a:spcPct val="150000"/>
              </a:lnSpc>
              <a:spcBef>
                <a:spcPts val="0"/>
              </a:spcBef>
              <a:spcAft>
                <a:spcPts val="0"/>
              </a:spcAft>
              <a:buClr>
                <a:schemeClr val="dk1"/>
              </a:buClr>
              <a:buSzPct val="108108"/>
              <a:buChar char="●"/>
            </a:pPr>
            <a:r>
              <a:rPr b="1" lang="en-US" sz="2000">
                <a:solidFill>
                  <a:srgbClr val="FF0000"/>
                </a:solidFill>
              </a:rPr>
              <a:t>Cost optimization</a:t>
            </a:r>
            <a:r>
              <a:rPr lang="en-US" sz="2000">
                <a:solidFill>
                  <a:schemeClr val="dk1"/>
                </a:solidFill>
              </a:rPr>
              <a:t>: Sensitive data can remain on private infrastructure while variable workloads use the public cloud’s pay-as-you-go model</a:t>
            </a:r>
            <a:endParaRPr sz="2000">
              <a:solidFill>
                <a:schemeClr val="dk1"/>
              </a:solidFill>
            </a:endParaRPr>
          </a:p>
          <a:p>
            <a:pPr indent="-355600" lvl="0" marL="457200" marR="0" rtl="0" algn="l">
              <a:lnSpc>
                <a:spcPct val="150000"/>
              </a:lnSpc>
              <a:spcBef>
                <a:spcPts val="0"/>
              </a:spcBef>
              <a:spcAft>
                <a:spcPts val="0"/>
              </a:spcAft>
              <a:buClr>
                <a:schemeClr val="dk1"/>
              </a:buClr>
              <a:buSzPct val="108108"/>
              <a:buChar char="●"/>
            </a:pPr>
            <a:r>
              <a:rPr b="1" lang="en-US" sz="2000">
                <a:solidFill>
                  <a:srgbClr val="FF0000"/>
                </a:solidFill>
              </a:rPr>
              <a:t>Scalability</a:t>
            </a:r>
            <a:r>
              <a:rPr lang="en-US" sz="2000">
                <a:solidFill>
                  <a:schemeClr val="dk1"/>
                </a:solidFill>
              </a:rPr>
              <a:t>: Public cloud resources provide on-demand capacity during peak usage, reducing pressure on private infrastructure</a:t>
            </a:r>
            <a:endParaRPr sz="2000">
              <a:solidFill>
                <a:schemeClr val="dk1"/>
              </a:solidFill>
            </a:endParaRPr>
          </a:p>
          <a:p>
            <a:pPr indent="-355600" lvl="0" marL="457200" marR="0" rtl="0" algn="l">
              <a:lnSpc>
                <a:spcPct val="150000"/>
              </a:lnSpc>
              <a:spcBef>
                <a:spcPts val="0"/>
              </a:spcBef>
              <a:spcAft>
                <a:spcPts val="0"/>
              </a:spcAft>
              <a:buClr>
                <a:schemeClr val="dk1"/>
              </a:buClr>
              <a:buSzPct val="108108"/>
              <a:buChar char="●"/>
            </a:pPr>
            <a:r>
              <a:rPr lang="en-US" sz="2000">
                <a:solidFill>
                  <a:schemeClr val="dk1"/>
                </a:solidFill>
              </a:rPr>
              <a:t>Business continuity: Data and applications can be distributed across environments, improving disaster recovery and resilience</a:t>
            </a:r>
            <a:endParaRPr sz="2000">
              <a:solidFill>
                <a:schemeClr val="dk1"/>
              </a:solidFill>
            </a:endParaRPr>
          </a:p>
        </p:txBody>
      </p:sp>
      <p:sp>
        <p:nvSpPr>
          <p:cNvPr id="985" name="Google Shape;985;g3b3e7766c9d_0_1008"/>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986" name="Google Shape;986;g3b3e7766c9d_0_1008"/>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987" name="Google Shape;987;g3b3e7766c9d_0_1008"/>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988" name="Google Shape;988;g3b3e7766c9d_0_1008"/>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989" name="Google Shape;989;g3b3e7766c9d_0_1008"/>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990" name="Google Shape;990;g3b3e7766c9d_0_1008"/>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991" name="Google Shape;991;g3b3e7766c9d_0_1008"/>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992" name="Google Shape;992;g3b3e7766c9d_0_1008"/>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b3e7766c9d_0_1022"/>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7.4 Cloud Deployment Model- Hybrid</a:t>
            </a:r>
            <a:endParaRPr b="1" sz="3000">
              <a:solidFill>
                <a:srgbClr val="FF0000"/>
              </a:solidFill>
            </a:endParaRPr>
          </a:p>
        </p:txBody>
      </p:sp>
      <p:sp>
        <p:nvSpPr>
          <p:cNvPr id="998" name="Google Shape;998;g3b3e7766c9d_0_1022"/>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SzPts val="1400"/>
              <a:buNone/>
            </a:pPr>
            <a:r>
              <a:rPr b="1" i="1" lang="en-US" sz="2000">
                <a:solidFill>
                  <a:srgbClr val="FF0000"/>
                </a:solidFill>
              </a:rPr>
              <a:t>Disadvantages of the hybrid cloud</a:t>
            </a:r>
            <a:endParaRPr b="1" i="1" sz="2000">
              <a:solidFill>
                <a:srgbClr val="FF0000"/>
              </a:solidFill>
            </a:endParaRPr>
          </a:p>
          <a:p>
            <a:pPr indent="-355600" lvl="0" marL="457200" marR="0" rtl="0" algn="l">
              <a:lnSpc>
                <a:spcPct val="150000"/>
              </a:lnSpc>
              <a:spcBef>
                <a:spcPts val="0"/>
              </a:spcBef>
              <a:spcAft>
                <a:spcPts val="0"/>
              </a:spcAft>
              <a:buClr>
                <a:schemeClr val="dk1"/>
              </a:buClr>
              <a:buSzPts val="2000"/>
              <a:buChar char="●"/>
            </a:pPr>
            <a:r>
              <a:rPr b="1" lang="en-US" sz="2000">
                <a:solidFill>
                  <a:srgbClr val="FF0000"/>
                </a:solidFill>
              </a:rPr>
              <a:t>Integration complexity</a:t>
            </a:r>
            <a:r>
              <a:rPr lang="en-US" sz="2000">
                <a:solidFill>
                  <a:schemeClr val="dk1"/>
                </a:solidFill>
              </a:rPr>
              <a:t>: Managing interoperability between public and private environments requires advanced networking, security, and monitoring</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b="1" lang="en-US" sz="2000">
                <a:solidFill>
                  <a:srgbClr val="FF0000"/>
                </a:solidFill>
              </a:rPr>
              <a:t>Higher costs</a:t>
            </a:r>
            <a:r>
              <a:rPr lang="en-US" sz="2000">
                <a:solidFill>
                  <a:schemeClr val="dk1"/>
                </a:solidFill>
              </a:rPr>
              <a:t>: Maintaining private infrastructure alongside public cloud services can increase overall expenses compared to a single model</a:t>
            </a:r>
            <a:endParaRPr sz="2000">
              <a:solidFill>
                <a:schemeClr val="dk1"/>
              </a:solidFill>
            </a:endParaRPr>
          </a:p>
        </p:txBody>
      </p:sp>
      <p:sp>
        <p:nvSpPr>
          <p:cNvPr id="999" name="Google Shape;999;g3b3e7766c9d_0_1022"/>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000" name="Google Shape;1000;g3b3e7766c9d_0_1022"/>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01" name="Google Shape;1001;g3b3e7766c9d_0_1022"/>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02" name="Google Shape;1002;g3b3e7766c9d_0_1022"/>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03" name="Google Shape;1003;g3b3e7766c9d_0_102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04" name="Google Shape;1004;g3b3e7766c9d_0_102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05" name="Google Shape;1005;g3b3e7766c9d_0_102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006" name="Google Shape;1006;g3b3e7766c9d_0_102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3b3e7766c9d_0_1035"/>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7.5 Cloud Deployment Model- Multicloud</a:t>
            </a:r>
            <a:endParaRPr b="1" sz="3000">
              <a:solidFill>
                <a:srgbClr val="FF0000"/>
              </a:solidFill>
            </a:endParaRPr>
          </a:p>
        </p:txBody>
      </p:sp>
      <p:sp>
        <p:nvSpPr>
          <p:cNvPr id="1012" name="Google Shape;1012;g3b3e7766c9d_0_1035"/>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lnSpcReduction="10000"/>
          </a:bodyPr>
          <a:lstStyle/>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The multicloud deployment model usually refers to </a:t>
            </a:r>
            <a:r>
              <a:rPr b="1" lang="en-US" sz="2000">
                <a:solidFill>
                  <a:srgbClr val="FF0000"/>
                </a:solidFill>
              </a:rPr>
              <a:t>using multiple public cloud providers to increase flexibility and fault tolerance</a:t>
            </a:r>
            <a:endParaRPr b="1" sz="2000">
              <a:solidFill>
                <a:srgbClr val="FF0000"/>
              </a:solidFill>
            </a:endParaRPr>
          </a:p>
          <a:p>
            <a:pPr indent="-355600" lvl="0" marL="457200" marR="0" rtl="0" algn="l">
              <a:lnSpc>
                <a:spcPct val="150000"/>
              </a:lnSpc>
              <a:spcBef>
                <a:spcPts val="0"/>
              </a:spcBef>
              <a:spcAft>
                <a:spcPts val="0"/>
              </a:spcAft>
              <a:buClr>
                <a:schemeClr val="dk1"/>
              </a:buClr>
              <a:buSzPts val="2000"/>
              <a:buChar char="●"/>
            </a:pPr>
            <a:r>
              <a:rPr lang="en-US" sz="2000">
                <a:solidFill>
                  <a:schemeClr val="dk1"/>
                </a:solidFill>
              </a:rPr>
              <a:t>After evaluation by the business, some services may be preferred on a certain cloud over another. For example, the GKE (Google Kubernetes Engine) hosted on the Google Cloud may be preferable over similar offerings on Azure, such as AKS (Azure Kubernetes Service) or Amazon EKS (Elastic Kubernetes Service). Workloads can be distributed selectively.</a:t>
            </a:r>
            <a:endParaRPr sz="2000">
              <a:solidFill>
                <a:schemeClr val="dk1"/>
              </a:solidFill>
            </a:endParaRPr>
          </a:p>
        </p:txBody>
      </p:sp>
      <p:sp>
        <p:nvSpPr>
          <p:cNvPr id="1013" name="Google Shape;1013;g3b3e7766c9d_0_1035"/>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014" name="Google Shape;1014;g3b3e7766c9d_0_1035"/>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15" name="Google Shape;1015;g3b3e7766c9d_0_1035"/>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16" name="Google Shape;1016;g3b3e7766c9d_0_1035"/>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17" name="Google Shape;1017;g3b3e7766c9d_0_1035"/>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18" name="Google Shape;1018;g3b3e7766c9d_0_1035"/>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19" name="Google Shape;1019;g3b3e7766c9d_0_1035"/>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020" name="Google Shape;1020;g3b3e7766c9d_0_1035"/>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g3b3e7766c9d_0_1048"/>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7.5 Cloud Deployment Model- Multicloud</a:t>
            </a:r>
            <a:endParaRPr b="1" sz="3000">
              <a:solidFill>
                <a:srgbClr val="FF0000"/>
              </a:solidFill>
            </a:endParaRPr>
          </a:p>
        </p:txBody>
      </p:sp>
      <p:sp>
        <p:nvSpPr>
          <p:cNvPr id="1026" name="Google Shape;1026;g3b3e7766c9d_0_1048"/>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92500"/>
          </a:bodyPr>
          <a:lstStyle/>
          <a:p>
            <a:pPr indent="-355600" lvl="0" marL="457200" marR="0" rtl="0" algn="l">
              <a:lnSpc>
                <a:spcPct val="150000"/>
              </a:lnSpc>
              <a:spcBef>
                <a:spcPts val="0"/>
              </a:spcBef>
              <a:spcAft>
                <a:spcPts val="0"/>
              </a:spcAft>
              <a:buClr>
                <a:schemeClr val="dk1"/>
              </a:buClr>
              <a:buSzPct val="108108"/>
              <a:buChar char="●"/>
            </a:pPr>
            <a:r>
              <a:rPr lang="en-US" sz="2000">
                <a:solidFill>
                  <a:schemeClr val="dk1"/>
                </a:solidFill>
              </a:rPr>
              <a:t>Multicloud is also commonly used by businesses with critical workloads, such as </a:t>
            </a:r>
            <a:r>
              <a:rPr b="1" lang="en-US" sz="2000">
                <a:solidFill>
                  <a:srgbClr val="FF0000"/>
                </a:solidFill>
              </a:rPr>
              <a:t>government agencies or financial corporations.</a:t>
            </a:r>
            <a:endParaRPr b="1" sz="2000">
              <a:solidFill>
                <a:srgbClr val="FF0000"/>
              </a:solidFill>
            </a:endParaRPr>
          </a:p>
          <a:p>
            <a:pPr indent="-355600" lvl="0" marL="457200" marR="0" rtl="0" algn="l">
              <a:lnSpc>
                <a:spcPct val="150000"/>
              </a:lnSpc>
              <a:spcBef>
                <a:spcPts val="0"/>
              </a:spcBef>
              <a:spcAft>
                <a:spcPts val="0"/>
              </a:spcAft>
              <a:buClr>
                <a:schemeClr val="dk1"/>
              </a:buClr>
              <a:buSzPct val="108108"/>
              <a:buChar char="●"/>
            </a:pPr>
            <a:r>
              <a:rPr lang="en-US" sz="2000">
                <a:solidFill>
                  <a:schemeClr val="dk1"/>
                </a:solidFill>
              </a:rPr>
              <a:t>Adopting multiple clouds gives development teams a choice from a much wider pool of options and can actually aid the developer workflow.</a:t>
            </a:r>
            <a:endParaRPr sz="2000">
              <a:solidFill>
                <a:schemeClr val="dk1"/>
              </a:solidFill>
            </a:endParaRPr>
          </a:p>
          <a:p>
            <a:pPr indent="-355600" lvl="0" marL="457200" marR="0" rtl="0" algn="l">
              <a:lnSpc>
                <a:spcPct val="150000"/>
              </a:lnSpc>
              <a:spcBef>
                <a:spcPts val="0"/>
              </a:spcBef>
              <a:spcAft>
                <a:spcPts val="0"/>
              </a:spcAft>
              <a:buClr>
                <a:schemeClr val="dk1"/>
              </a:buClr>
              <a:buSzPct val="108108"/>
              <a:buChar char="●"/>
            </a:pPr>
            <a:r>
              <a:rPr lang="en-US" sz="2000">
                <a:solidFill>
                  <a:schemeClr val="dk1"/>
                </a:solidFill>
              </a:rPr>
              <a:t> Some </a:t>
            </a:r>
            <a:r>
              <a:rPr b="1" lang="en-US" sz="2000">
                <a:solidFill>
                  <a:srgbClr val="FF0000"/>
                </a:solidFill>
              </a:rPr>
              <a:t>comparable services may be cheaper than others </a:t>
            </a:r>
            <a:r>
              <a:rPr lang="en-US" sz="2000">
                <a:solidFill>
                  <a:schemeClr val="dk1"/>
                </a:solidFill>
              </a:rPr>
              <a:t>and so may also be preferable in certain scenarios. For example, AWS could be used for production, and Google Cloud could be used for testing.</a:t>
            </a:r>
            <a:endParaRPr sz="2000">
              <a:solidFill>
                <a:schemeClr val="dk1"/>
              </a:solidFill>
            </a:endParaRPr>
          </a:p>
        </p:txBody>
      </p:sp>
      <p:sp>
        <p:nvSpPr>
          <p:cNvPr id="1027" name="Google Shape;1027;g3b3e7766c9d_0_1048"/>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028" name="Google Shape;1028;g3b3e7766c9d_0_1048"/>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29" name="Google Shape;1029;g3b3e7766c9d_0_1048"/>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30" name="Google Shape;1030;g3b3e7766c9d_0_1048"/>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31" name="Google Shape;1031;g3b3e7766c9d_0_1048"/>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32" name="Google Shape;1032;g3b3e7766c9d_0_1048"/>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33" name="Google Shape;1033;g3b3e7766c9d_0_1048"/>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034" name="Google Shape;1034;g3b3e7766c9d_0_1048"/>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g3b3e7766c9d_0_1061"/>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7.5 Cloud Deployment Model- Multicloud</a:t>
            </a:r>
            <a:endParaRPr b="1" sz="3000">
              <a:solidFill>
                <a:srgbClr val="FF0000"/>
              </a:solidFill>
            </a:endParaRPr>
          </a:p>
        </p:txBody>
      </p:sp>
      <p:sp>
        <p:nvSpPr>
          <p:cNvPr id="1040" name="Google Shape;1040;g3b3e7766c9d_0_1061"/>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lnSpcReduction="10000"/>
          </a:bodyPr>
          <a:lstStyle/>
          <a:p>
            <a:pPr indent="0" lvl="0" marL="0" marR="0" rtl="0" algn="l">
              <a:lnSpc>
                <a:spcPct val="150000"/>
              </a:lnSpc>
              <a:spcBef>
                <a:spcPts val="0"/>
              </a:spcBef>
              <a:spcAft>
                <a:spcPts val="0"/>
              </a:spcAft>
              <a:buSzPts val="1400"/>
              <a:buNone/>
            </a:pPr>
            <a:r>
              <a:rPr b="1" i="1" lang="en-US" sz="2000">
                <a:solidFill>
                  <a:srgbClr val="FF0000"/>
                </a:solidFill>
              </a:rPr>
              <a:t>Advantages of the multicloud model:</a:t>
            </a:r>
            <a:endParaRPr b="1" i="1" sz="2000">
              <a:solidFill>
                <a:srgbClr val="FF0000"/>
              </a:solidFill>
            </a:endParaRPr>
          </a:p>
          <a:p>
            <a:pPr indent="-355600" lvl="0" marL="457200" marR="0" rtl="0" algn="l">
              <a:lnSpc>
                <a:spcPct val="150000"/>
              </a:lnSpc>
              <a:spcBef>
                <a:spcPts val="0"/>
              </a:spcBef>
              <a:spcAft>
                <a:spcPts val="0"/>
              </a:spcAft>
              <a:buClr>
                <a:schemeClr val="dk1"/>
              </a:buClr>
              <a:buSzPts val="2000"/>
              <a:buChar char="●"/>
            </a:pPr>
            <a:r>
              <a:rPr b="1" lang="en-US" sz="2000">
                <a:solidFill>
                  <a:srgbClr val="FF0000"/>
                </a:solidFill>
              </a:rPr>
              <a:t>Vendor independence</a:t>
            </a:r>
            <a:r>
              <a:rPr lang="en-US" sz="2000">
                <a:solidFill>
                  <a:schemeClr val="dk1"/>
                </a:solidFill>
              </a:rPr>
              <a:t>: Reduces reliance on a single provider, avoiding lock-in and improving negotiation leverage</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b="1" lang="en-US" sz="2000">
                <a:solidFill>
                  <a:srgbClr val="FF0000"/>
                </a:solidFill>
              </a:rPr>
              <a:t>Resilience and availability</a:t>
            </a:r>
            <a:r>
              <a:rPr lang="en-US" sz="2000">
                <a:solidFill>
                  <a:schemeClr val="dk1"/>
                </a:solidFill>
              </a:rPr>
              <a:t>: Workloads can be distributed across providers, minimizing downtime from regional or platform-specific failures</a:t>
            </a:r>
            <a:endParaRPr sz="2000">
              <a:solidFill>
                <a:schemeClr val="dk1"/>
              </a:solidFill>
            </a:endParaRPr>
          </a:p>
          <a:p>
            <a:pPr indent="-355600" lvl="0" marL="457200" marR="0" rtl="0" algn="l">
              <a:lnSpc>
                <a:spcPct val="150000"/>
              </a:lnSpc>
              <a:spcBef>
                <a:spcPts val="0"/>
              </a:spcBef>
              <a:spcAft>
                <a:spcPts val="0"/>
              </a:spcAft>
              <a:buClr>
                <a:schemeClr val="dk1"/>
              </a:buClr>
              <a:buSzPts val="2000"/>
              <a:buChar char="●"/>
            </a:pPr>
            <a:r>
              <a:rPr b="1" lang="en-US" sz="2000">
                <a:solidFill>
                  <a:srgbClr val="FF0000"/>
                </a:solidFill>
              </a:rPr>
              <a:t>Optimized performance</a:t>
            </a:r>
            <a:r>
              <a:rPr lang="en-US" sz="2000">
                <a:solidFill>
                  <a:schemeClr val="dk1"/>
                </a:solidFill>
              </a:rPr>
              <a:t>: Organizations can choose the best services from different providers to match specific workload requirements</a:t>
            </a:r>
            <a:endParaRPr sz="2000">
              <a:solidFill>
                <a:schemeClr val="dk1"/>
              </a:solidFill>
            </a:endParaRPr>
          </a:p>
        </p:txBody>
      </p:sp>
      <p:sp>
        <p:nvSpPr>
          <p:cNvPr id="1041" name="Google Shape;1041;g3b3e7766c9d_0_1061"/>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042" name="Google Shape;1042;g3b3e7766c9d_0_1061"/>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43" name="Google Shape;1043;g3b3e7766c9d_0_1061"/>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44" name="Google Shape;1044;g3b3e7766c9d_0_1061"/>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45" name="Google Shape;1045;g3b3e7766c9d_0_1061"/>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46" name="Google Shape;1046;g3b3e7766c9d_0_1061"/>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47" name="Google Shape;1047;g3b3e7766c9d_0_1061"/>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048" name="Google Shape;1048;g3b3e7766c9d_0_1061"/>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pic>
        <p:nvPicPr>
          <p:cNvPr id="1054" name="Google Shape;1054;g3b3e7766c9d_0_1087"/>
          <p:cNvPicPr preferRelativeResize="0"/>
          <p:nvPr/>
        </p:nvPicPr>
        <p:blipFill rotWithShape="1">
          <a:blip r:embed="rId3">
            <a:alphaModFix/>
          </a:blip>
          <a:srcRect b="0" l="0" r="0" t="0"/>
          <a:stretch/>
        </p:blipFill>
        <p:spPr>
          <a:xfrm>
            <a:off x="520413" y="1524000"/>
            <a:ext cx="8068976" cy="4029450"/>
          </a:xfrm>
          <a:prstGeom prst="rect">
            <a:avLst/>
          </a:prstGeom>
          <a:noFill/>
          <a:ln cap="flat" cmpd="sng" w="9525">
            <a:solidFill>
              <a:schemeClr val="dk1"/>
            </a:solidFill>
            <a:prstDash val="solid"/>
            <a:round/>
            <a:headEnd len="sm" w="sm" type="none"/>
            <a:tailEnd len="sm" w="sm" type="none"/>
          </a:ln>
        </p:spPr>
      </p:pic>
      <p:sp>
        <p:nvSpPr>
          <p:cNvPr id="1055" name="Google Shape;1055;g3b3e7766c9d_0_1087"/>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7.5 Cloud Deployment Model- Multicloud</a:t>
            </a:r>
            <a:endParaRPr b="1" sz="3000">
              <a:solidFill>
                <a:srgbClr val="FF0000"/>
              </a:solidFill>
            </a:endParaRPr>
          </a:p>
        </p:txBody>
      </p:sp>
      <p:pic>
        <p:nvPicPr>
          <p:cNvPr id="1056" name="Google Shape;1056;g3b3e7766c9d_0_1087"/>
          <p:cNvPicPr preferRelativeResize="0"/>
          <p:nvPr/>
        </p:nvPicPr>
        <p:blipFill rotWithShape="1">
          <a:blip r:embed="rId4">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57" name="Google Shape;1057;g3b3e7766c9d_0_1087"/>
          <p:cNvPicPr preferRelativeResize="0"/>
          <p:nvPr/>
        </p:nvPicPr>
        <p:blipFill rotWithShape="1">
          <a:blip r:embed="rId5">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58" name="Google Shape;1058;g3b3e7766c9d_0_1087"/>
          <p:cNvPicPr preferRelativeResize="0"/>
          <p:nvPr/>
        </p:nvPicPr>
        <p:blipFill rotWithShape="1">
          <a:blip r:embed="rId6">
            <a:alphaModFix/>
          </a:blip>
          <a:srcRect b="0" l="0" r="0" t="0"/>
          <a:stretch/>
        </p:blipFill>
        <p:spPr>
          <a:xfrm>
            <a:off x="8344295" y="5945933"/>
            <a:ext cx="654480" cy="424080"/>
          </a:xfrm>
          <a:prstGeom prst="rect">
            <a:avLst/>
          </a:prstGeom>
          <a:noFill/>
          <a:ln>
            <a:noFill/>
          </a:ln>
        </p:spPr>
      </p:pic>
      <p:pic>
        <p:nvPicPr>
          <p:cNvPr id="1059" name="Google Shape;1059;g3b3e7766c9d_0_1087"/>
          <p:cNvPicPr preferRelativeResize="0"/>
          <p:nvPr/>
        </p:nvPicPr>
        <p:blipFill rotWithShape="1">
          <a:blip r:embed="rId7">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g3b3e7766c9d_0_1074"/>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7.5 Cloud Deployment Model- Multicloud</a:t>
            </a:r>
            <a:endParaRPr b="1" sz="3000">
              <a:solidFill>
                <a:srgbClr val="FF0000"/>
              </a:solidFill>
            </a:endParaRPr>
          </a:p>
        </p:txBody>
      </p:sp>
      <p:sp>
        <p:nvSpPr>
          <p:cNvPr id="1065" name="Google Shape;1065;g3b3e7766c9d_0_1074"/>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SzPts val="1400"/>
              <a:buNone/>
            </a:pPr>
            <a:r>
              <a:rPr b="1" i="1" lang="en-US" sz="2100">
                <a:solidFill>
                  <a:srgbClr val="FF0000"/>
                </a:solidFill>
              </a:rPr>
              <a:t>Disadvantages of the multicloud model:</a:t>
            </a:r>
            <a:endParaRPr b="1" i="1" sz="2100">
              <a:solidFill>
                <a:srgbClr val="FF0000"/>
              </a:solidFill>
            </a:endParaRPr>
          </a:p>
          <a:p>
            <a:pPr indent="-361950" lvl="0" marL="457200" marR="0" rtl="0" algn="l">
              <a:lnSpc>
                <a:spcPct val="150000"/>
              </a:lnSpc>
              <a:spcBef>
                <a:spcPts val="0"/>
              </a:spcBef>
              <a:spcAft>
                <a:spcPts val="0"/>
              </a:spcAft>
              <a:buClr>
                <a:schemeClr val="dk1"/>
              </a:buClr>
              <a:buSzPts val="2100"/>
              <a:buChar char="●"/>
            </a:pPr>
            <a:r>
              <a:rPr b="1" lang="en-US" sz="2100">
                <a:solidFill>
                  <a:srgbClr val="FF0000"/>
                </a:solidFill>
              </a:rPr>
              <a:t>Management complexity</a:t>
            </a:r>
            <a:r>
              <a:rPr lang="en-US" sz="2100">
                <a:solidFill>
                  <a:schemeClr val="dk1"/>
                </a:solidFill>
              </a:rPr>
              <a:t>: Coordinating multiple providers requires advanced monitoring, governance, and integration tools</a:t>
            </a:r>
            <a:endParaRPr sz="2100">
              <a:solidFill>
                <a:schemeClr val="dk1"/>
              </a:solidFill>
            </a:endParaRPr>
          </a:p>
          <a:p>
            <a:pPr indent="-361950" lvl="0" marL="457200" marR="0" rtl="0" algn="l">
              <a:lnSpc>
                <a:spcPct val="150000"/>
              </a:lnSpc>
              <a:spcBef>
                <a:spcPts val="0"/>
              </a:spcBef>
              <a:spcAft>
                <a:spcPts val="0"/>
              </a:spcAft>
              <a:buClr>
                <a:schemeClr val="dk1"/>
              </a:buClr>
              <a:buSzPts val="2100"/>
              <a:buChar char="●"/>
            </a:pPr>
            <a:r>
              <a:rPr b="1" lang="en-US" sz="2100">
                <a:solidFill>
                  <a:srgbClr val="FF0000"/>
                </a:solidFill>
              </a:rPr>
              <a:t>Increased costs</a:t>
            </a:r>
            <a:r>
              <a:rPr lang="en-US" sz="2100">
                <a:solidFill>
                  <a:schemeClr val="dk1"/>
                </a:solidFill>
              </a:rPr>
              <a:t>: Duplicated services, data transfer fees, and specialized management can drive higher overall expenses</a:t>
            </a:r>
            <a:endParaRPr sz="2100">
              <a:solidFill>
                <a:schemeClr val="dk1"/>
              </a:solidFill>
            </a:endParaRPr>
          </a:p>
        </p:txBody>
      </p:sp>
      <p:sp>
        <p:nvSpPr>
          <p:cNvPr id="1066" name="Google Shape;1066;g3b3e7766c9d_0_1074"/>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067" name="Google Shape;1067;g3b3e7766c9d_0_107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68" name="Google Shape;1068;g3b3e7766c9d_0_107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69" name="Google Shape;1069;g3b3e7766c9d_0_1074"/>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70" name="Google Shape;1070;g3b3e7766c9d_0_107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71" name="Google Shape;1071;g3b3e7766c9d_0_107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72" name="Google Shape;1072;g3b3e7766c9d_0_107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073" name="Google Shape;1073;g3b3e7766c9d_0_107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22"/>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Task</a:t>
            </a:r>
            <a:endParaRPr b="1" sz="3000">
              <a:solidFill>
                <a:srgbClr val="FF0000"/>
              </a:solidFill>
            </a:endParaRPr>
          </a:p>
        </p:txBody>
      </p:sp>
      <p:sp>
        <p:nvSpPr>
          <p:cNvPr id="1079" name="Google Shape;1079;p22"/>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sz="2500"/>
              <a:t>Identify the </a:t>
            </a:r>
            <a:r>
              <a:rPr b="1" lang="en-US" sz="2500"/>
              <a:t>cloud deployment model</a:t>
            </a:r>
            <a:r>
              <a:rPr lang="en-US" sz="2500"/>
              <a:t> used in each case. Justify your answer in </a:t>
            </a:r>
            <a:r>
              <a:rPr b="1" lang="en-US" sz="2500"/>
              <a:t>one line</a:t>
            </a:r>
            <a:r>
              <a:rPr lang="en-US" sz="2500"/>
              <a:t>.</a:t>
            </a:r>
            <a:endParaRPr sz="2500"/>
          </a:p>
          <a:p>
            <a:pPr indent="0" lvl="0" marL="0" marR="0" rtl="0" algn="l">
              <a:lnSpc>
                <a:spcPct val="100000"/>
              </a:lnSpc>
              <a:spcBef>
                <a:spcPts val="0"/>
              </a:spcBef>
              <a:spcAft>
                <a:spcPts val="0"/>
              </a:spcAft>
              <a:buClr>
                <a:srgbClr val="000000"/>
              </a:buClr>
              <a:buSzPts val="1400"/>
              <a:buFont typeface="Arial"/>
              <a:buNone/>
            </a:pPr>
            <a:r>
              <a:t/>
            </a:r>
            <a:endParaRPr b="1" sz="2500"/>
          </a:p>
          <a:p>
            <a:pPr indent="0" lvl="0" marL="228600" marR="0" rtl="0" algn="l">
              <a:lnSpc>
                <a:spcPct val="100000"/>
              </a:lnSpc>
              <a:spcBef>
                <a:spcPts val="0"/>
              </a:spcBef>
              <a:spcAft>
                <a:spcPts val="0"/>
              </a:spcAft>
              <a:buClr>
                <a:srgbClr val="000000"/>
              </a:buClr>
              <a:buSzPts val="1400"/>
              <a:buFont typeface="Arial"/>
              <a:buNone/>
            </a:pPr>
            <a:r>
              <a:t/>
            </a:r>
            <a:endParaRPr b="1" sz="2500"/>
          </a:p>
          <a:p>
            <a:pPr indent="-228600" lvl="0" marL="457200" marR="0" rtl="0" algn="l">
              <a:lnSpc>
                <a:spcPct val="100000"/>
              </a:lnSpc>
              <a:spcBef>
                <a:spcPts val="0"/>
              </a:spcBef>
              <a:spcAft>
                <a:spcPts val="0"/>
              </a:spcAft>
              <a:buClr>
                <a:srgbClr val="000000"/>
              </a:buClr>
              <a:buSzPts val="1400"/>
              <a:buFont typeface="Arial"/>
              <a:buNone/>
            </a:pPr>
            <a:r>
              <a:rPr b="1" lang="en-US" sz="2500"/>
              <a:t>Scenarios</a:t>
            </a:r>
            <a:endParaRPr sz="2500"/>
          </a:p>
          <a:p>
            <a:pPr indent="-228600" lvl="0" marL="457200" marR="0" rtl="0" algn="l">
              <a:lnSpc>
                <a:spcPct val="100000"/>
              </a:lnSpc>
              <a:spcBef>
                <a:spcPts val="0"/>
              </a:spcBef>
              <a:spcAft>
                <a:spcPts val="0"/>
              </a:spcAft>
              <a:buClr>
                <a:srgbClr val="000000"/>
              </a:buClr>
              <a:buSzPts val="1400"/>
              <a:buFont typeface="Arial"/>
              <a:buNone/>
            </a:pPr>
            <a:r>
              <a:rPr lang="en-US" sz="2500"/>
              <a:t>1. A college uses </a:t>
            </a:r>
            <a:r>
              <a:rPr b="1" lang="en-US" sz="2500"/>
              <a:t>Google Workspace (Gmail, Drive)</a:t>
            </a:r>
            <a:r>
              <a:rPr lang="en-US" sz="2500"/>
              <a:t> for official email and collaboration.</a:t>
            </a:r>
            <a:endParaRPr sz="2500"/>
          </a:p>
          <a:p>
            <a:pPr indent="0" lvl="0" marL="0" marR="0" rtl="0" algn="l">
              <a:lnSpc>
                <a:spcPct val="150000"/>
              </a:lnSpc>
              <a:spcBef>
                <a:spcPts val="0"/>
              </a:spcBef>
              <a:spcAft>
                <a:spcPts val="0"/>
              </a:spcAft>
              <a:buSzPts val="1400"/>
              <a:buNone/>
            </a:pPr>
            <a:r>
              <a:t/>
            </a:r>
            <a:endParaRPr sz="2000">
              <a:solidFill>
                <a:schemeClr val="dk1"/>
              </a:solidFill>
            </a:endParaRPr>
          </a:p>
        </p:txBody>
      </p:sp>
      <p:sp>
        <p:nvSpPr>
          <p:cNvPr id="1080" name="Google Shape;1080;p22"/>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081" name="Google Shape;1081;p22"/>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82" name="Google Shape;1082;p22"/>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83" name="Google Shape;1083;p22"/>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84" name="Google Shape;1084;p22"/>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85" name="Google Shape;1085;p22"/>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086" name="Google Shape;1086;p22"/>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087" name="Google Shape;1087;p22"/>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b2b8d098be_0_26"/>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Task</a:t>
            </a:r>
            <a:endParaRPr b="1" sz="3000">
              <a:solidFill>
                <a:srgbClr val="FF0000"/>
              </a:solidFill>
            </a:endParaRPr>
          </a:p>
        </p:txBody>
      </p:sp>
      <p:sp>
        <p:nvSpPr>
          <p:cNvPr id="1093" name="Google Shape;1093;g3b2b8d098be_0_26"/>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sz="2500"/>
              <a:t>Identify the </a:t>
            </a:r>
            <a:r>
              <a:rPr b="1" lang="en-US" sz="2500"/>
              <a:t>cloud deployment model</a:t>
            </a:r>
            <a:r>
              <a:rPr lang="en-US" sz="2500"/>
              <a:t> used in each case. Justify your answer in </a:t>
            </a:r>
            <a:r>
              <a:rPr b="1" lang="en-US" sz="2500"/>
              <a:t>one line</a:t>
            </a:r>
            <a:r>
              <a:rPr lang="en-US" sz="2500"/>
              <a:t>.</a:t>
            </a:r>
            <a:endParaRPr sz="2500"/>
          </a:p>
          <a:p>
            <a:pPr indent="-228600" lvl="0" marL="457200" marR="0" rtl="0" algn="l">
              <a:lnSpc>
                <a:spcPct val="100000"/>
              </a:lnSpc>
              <a:spcBef>
                <a:spcPts val="0"/>
              </a:spcBef>
              <a:spcAft>
                <a:spcPts val="0"/>
              </a:spcAft>
              <a:buClr>
                <a:srgbClr val="000000"/>
              </a:buClr>
              <a:buSzPts val="1400"/>
              <a:buFont typeface="Arial"/>
              <a:buNone/>
            </a:pPr>
            <a:r>
              <a:rPr b="1" lang="en-US" sz="2500"/>
              <a:t>Scenarios</a:t>
            </a:r>
            <a:endParaRPr b="1" sz="2500"/>
          </a:p>
          <a:p>
            <a:pPr indent="-228600" lvl="0" marL="457200" marR="0" rtl="0" algn="l">
              <a:lnSpc>
                <a:spcPct val="100000"/>
              </a:lnSpc>
              <a:spcBef>
                <a:spcPts val="0"/>
              </a:spcBef>
              <a:spcAft>
                <a:spcPts val="0"/>
              </a:spcAft>
              <a:buClr>
                <a:srgbClr val="000000"/>
              </a:buClr>
              <a:buSzPts val="1400"/>
              <a:buFont typeface="Arial"/>
              <a:buNone/>
            </a:pPr>
            <a:r>
              <a:t/>
            </a:r>
            <a:endParaRPr b="1" sz="2500"/>
          </a:p>
          <a:p>
            <a:pPr indent="-228600" lvl="0" marL="457200" marR="0" rtl="0" algn="l">
              <a:lnSpc>
                <a:spcPct val="100000"/>
              </a:lnSpc>
              <a:spcBef>
                <a:spcPts val="0"/>
              </a:spcBef>
              <a:spcAft>
                <a:spcPts val="0"/>
              </a:spcAft>
              <a:buClr>
                <a:srgbClr val="000000"/>
              </a:buClr>
              <a:buSzPts val="1400"/>
              <a:buFont typeface="Arial"/>
              <a:buNone/>
            </a:pPr>
            <a:r>
              <a:rPr lang="en-US" sz="2500"/>
              <a:t>2. A </a:t>
            </a:r>
            <a:r>
              <a:rPr b="1" lang="en-US" sz="2500"/>
              <a:t>bank hosts its core banking system</a:t>
            </a:r>
            <a:r>
              <a:rPr lang="en-US" sz="2500"/>
              <a:t> on servers inside its own data center.</a:t>
            </a:r>
            <a:endParaRPr sz="2500"/>
          </a:p>
          <a:p>
            <a:pPr indent="0" lvl="0" marL="0" marR="0" rtl="0" algn="l">
              <a:lnSpc>
                <a:spcPct val="150000"/>
              </a:lnSpc>
              <a:spcBef>
                <a:spcPts val="0"/>
              </a:spcBef>
              <a:spcAft>
                <a:spcPts val="0"/>
              </a:spcAft>
              <a:buSzPts val="1400"/>
              <a:buNone/>
            </a:pPr>
            <a:r>
              <a:t/>
            </a:r>
            <a:endParaRPr sz="2500">
              <a:solidFill>
                <a:schemeClr val="dk1"/>
              </a:solidFill>
            </a:endParaRPr>
          </a:p>
        </p:txBody>
      </p:sp>
      <p:sp>
        <p:nvSpPr>
          <p:cNvPr id="1094" name="Google Shape;1094;g3b2b8d098be_0_26"/>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095" name="Google Shape;1095;g3b2b8d098be_0_26"/>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096" name="Google Shape;1096;g3b2b8d098be_0_26"/>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097" name="Google Shape;1097;g3b2b8d098be_0_26"/>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098" name="Google Shape;1098;g3b2b8d098be_0_26"/>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099" name="Google Shape;1099;g3b2b8d098be_0_26"/>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100" name="Google Shape;1100;g3b2b8d098be_0_26"/>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101" name="Google Shape;1101;g3b2b8d098be_0_26"/>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g3b2b8d098be_0_13"/>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Task</a:t>
            </a:r>
            <a:endParaRPr b="1" sz="3000">
              <a:solidFill>
                <a:srgbClr val="FF0000"/>
              </a:solidFill>
            </a:endParaRPr>
          </a:p>
        </p:txBody>
      </p:sp>
      <p:sp>
        <p:nvSpPr>
          <p:cNvPr id="1107" name="Google Shape;1107;g3b2b8d098be_0_13"/>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sz="2500"/>
              <a:t>Identify the </a:t>
            </a:r>
            <a:r>
              <a:rPr b="1" lang="en-US" sz="2500"/>
              <a:t>cloud deployment model</a:t>
            </a:r>
            <a:r>
              <a:rPr lang="en-US" sz="2500"/>
              <a:t> used in each case. Justify your answer in </a:t>
            </a:r>
            <a:r>
              <a:rPr b="1" lang="en-US" sz="2500"/>
              <a:t>one line</a:t>
            </a:r>
            <a:r>
              <a:rPr lang="en-US" sz="2500"/>
              <a:t>.</a:t>
            </a:r>
            <a:endParaRPr sz="2500"/>
          </a:p>
          <a:p>
            <a:pPr indent="-228600" lvl="0" marL="457200" marR="0" rtl="0" algn="l">
              <a:lnSpc>
                <a:spcPct val="100000"/>
              </a:lnSpc>
              <a:spcBef>
                <a:spcPts val="0"/>
              </a:spcBef>
              <a:spcAft>
                <a:spcPts val="0"/>
              </a:spcAft>
              <a:buClr>
                <a:srgbClr val="000000"/>
              </a:buClr>
              <a:buSzPts val="1400"/>
              <a:buFont typeface="Arial"/>
              <a:buNone/>
            </a:pPr>
            <a:r>
              <a:rPr b="1" lang="en-US" sz="2500"/>
              <a:t>Scenarios</a:t>
            </a:r>
            <a:endParaRPr sz="2500"/>
          </a:p>
          <a:p>
            <a:pPr indent="0" lvl="0" marL="228600" marR="0" rtl="0" algn="l">
              <a:lnSpc>
                <a:spcPct val="100000"/>
              </a:lnSpc>
              <a:spcBef>
                <a:spcPts val="0"/>
              </a:spcBef>
              <a:spcAft>
                <a:spcPts val="0"/>
              </a:spcAft>
              <a:buClr>
                <a:srgbClr val="000000"/>
              </a:buClr>
              <a:buSzPts val="1400"/>
              <a:buFont typeface="Arial"/>
              <a:buNone/>
            </a:pPr>
            <a:r>
              <a:t/>
            </a:r>
            <a:endParaRPr sz="2500"/>
          </a:p>
          <a:p>
            <a:pPr indent="-228600" lvl="0" marL="457200" marR="0" rtl="0" algn="l">
              <a:lnSpc>
                <a:spcPct val="100000"/>
              </a:lnSpc>
              <a:spcBef>
                <a:spcPts val="0"/>
              </a:spcBef>
              <a:spcAft>
                <a:spcPts val="0"/>
              </a:spcAft>
              <a:buClr>
                <a:srgbClr val="000000"/>
              </a:buClr>
              <a:buSzPts val="1400"/>
              <a:buFont typeface="Arial"/>
              <a:buNone/>
            </a:pPr>
            <a:r>
              <a:rPr lang="en-US" sz="2500"/>
              <a:t>3. A hospital stores </a:t>
            </a:r>
            <a:r>
              <a:rPr b="1" lang="en-US" sz="2500"/>
              <a:t>patient records on local servers</a:t>
            </a:r>
            <a:r>
              <a:rPr lang="en-US" sz="2500"/>
              <a:t> but uses </a:t>
            </a:r>
            <a:r>
              <a:rPr b="1" lang="en-US" sz="2500"/>
              <a:t>AWS for appointment booking</a:t>
            </a:r>
            <a:r>
              <a:rPr lang="en-US" sz="2500"/>
              <a:t>.</a:t>
            </a:r>
            <a:endParaRPr sz="2500"/>
          </a:p>
          <a:p>
            <a:pPr indent="-228600" lvl="0" marL="457200" marR="0" rtl="0" algn="l">
              <a:lnSpc>
                <a:spcPct val="100000"/>
              </a:lnSpc>
              <a:spcBef>
                <a:spcPts val="0"/>
              </a:spcBef>
              <a:spcAft>
                <a:spcPts val="0"/>
              </a:spcAft>
              <a:buClr>
                <a:srgbClr val="000000"/>
              </a:buClr>
              <a:buSzPts val="1400"/>
              <a:buFont typeface="Arial"/>
              <a:buNone/>
            </a:pPr>
            <a:r>
              <a:t/>
            </a:r>
            <a:endParaRPr sz="2500"/>
          </a:p>
          <a:p>
            <a:pPr indent="0" lvl="0" marL="0" marR="0" rtl="0" algn="l">
              <a:lnSpc>
                <a:spcPct val="150000"/>
              </a:lnSpc>
              <a:spcBef>
                <a:spcPts val="0"/>
              </a:spcBef>
              <a:spcAft>
                <a:spcPts val="0"/>
              </a:spcAft>
              <a:buSzPts val="1400"/>
              <a:buNone/>
            </a:pPr>
            <a:r>
              <a:t/>
            </a:r>
            <a:endParaRPr sz="2500">
              <a:solidFill>
                <a:schemeClr val="dk1"/>
              </a:solidFill>
            </a:endParaRPr>
          </a:p>
        </p:txBody>
      </p:sp>
      <p:sp>
        <p:nvSpPr>
          <p:cNvPr id="1108" name="Google Shape;1108;g3b2b8d098be_0_13"/>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109" name="Google Shape;1109;g3b2b8d098be_0_13"/>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110" name="Google Shape;1110;g3b2b8d098be_0_1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111" name="Google Shape;1111;g3b2b8d098be_0_13"/>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112" name="Google Shape;1112;g3b2b8d098be_0_1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113" name="Google Shape;1113;g3b2b8d098be_0_13"/>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114" name="Google Shape;1114;g3b2b8d098be_0_13"/>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115" name="Google Shape;1115;g3b2b8d098be_0_13"/>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g3b2b8d098be_0_0"/>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Task</a:t>
            </a:r>
            <a:endParaRPr b="1" sz="3000">
              <a:solidFill>
                <a:srgbClr val="FF0000"/>
              </a:solidFill>
            </a:endParaRPr>
          </a:p>
        </p:txBody>
      </p:sp>
      <p:sp>
        <p:nvSpPr>
          <p:cNvPr id="1121" name="Google Shape;1121;g3b2b8d098be_0_0"/>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sz="2500"/>
              <a:t>Identify the </a:t>
            </a:r>
            <a:r>
              <a:rPr b="1" lang="en-US" sz="2500"/>
              <a:t>cloud deployment model</a:t>
            </a:r>
            <a:r>
              <a:rPr lang="en-US" sz="2500"/>
              <a:t> used in each case. Justify your answer in </a:t>
            </a:r>
            <a:r>
              <a:rPr b="1" lang="en-US" sz="2500"/>
              <a:t>one line</a:t>
            </a:r>
            <a:r>
              <a:rPr lang="en-US" sz="2500"/>
              <a:t>.</a:t>
            </a:r>
            <a:endParaRPr sz="2500"/>
          </a:p>
          <a:p>
            <a:pPr indent="-228600" lvl="0" marL="457200" marR="0" rtl="0" algn="l">
              <a:lnSpc>
                <a:spcPct val="100000"/>
              </a:lnSpc>
              <a:spcBef>
                <a:spcPts val="0"/>
              </a:spcBef>
              <a:spcAft>
                <a:spcPts val="0"/>
              </a:spcAft>
              <a:buClr>
                <a:srgbClr val="000000"/>
              </a:buClr>
              <a:buSzPts val="1400"/>
              <a:buFont typeface="Arial"/>
              <a:buNone/>
            </a:pPr>
            <a:r>
              <a:rPr b="1" lang="en-US" sz="2500"/>
              <a:t>Scenarios</a:t>
            </a:r>
            <a:endParaRPr sz="2500"/>
          </a:p>
          <a:p>
            <a:pPr indent="-228600" lvl="0" marL="457200" marR="0" rtl="0" algn="l">
              <a:lnSpc>
                <a:spcPct val="100000"/>
              </a:lnSpc>
              <a:spcBef>
                <a:spcPts val="0"/>
              </a:spcBef>
              <a:spcAft>
                <a:spcPts val="0"/>
              </a:spcAft>
              <a:buClr>
                <a:srgbClr val="000000"/>
              </a:buClr>
              <a:buSzPts val="1400"/>
              <a:buFont typeface="Arial"/>
              <a:buNone/>
            </a:pPr>
            <a:r>
              <a:t/>
            </a:r>
            <a:endParaRPr sz="2500"/>
          </a:p>
          <a:p>
            <a:pPr indent="-228600" lvl="0" marL="457200" marR="0" rtl="0" algn="l">
              <a:lnSpc>
                <a:spcPct val="100000"/>
              </a:lnSpc>
              <a:spcBef>
                <a:spcPts val="0"/>
              </a:spcBef>
              <a:spcAft>
                <a:spcPts val="0"/>
              </a:spcAft>
              <a:buClr>
                <a:srgbClr val="000000"/>
              </a:buClr>
              <a:buSzPts val="1400"/>
              <a:buFont typeface="Arial"/>
              <a:buNone/>
            </a:pPr>
            <a:r>
              <a:rPr lang="en-US" sz="2500"/>
              <a:t>4. Multiple </a:t>
            </a:r>
            <a:r>
              <a:rPr b="1" lang="en-US" sz="2500"/>
              <a:t>government universities</a:t>
            </a:r>
            <a:r>
              <a:rPr lang="en-US" sz="2500"/>
              <a:t> jointly use a shared research cloud funded by the Ministry of Education.</a:t>
            </a:r>
            <a:endParaRPr sz="2500"/>
          </a:p>
          <a:p>
            <a:pPr indent="0" lvl="0" marL="228600" marR="0" rtl="0" algn="l">
              <a:lnSpc>
                <a:spcPct val="100000"/>
              </a:lnSpc>
              <a:spcBef>
                <a:spcPts val="0"/>
              </a:spcBef>
              <a:spcAft>
                <a:spcPts val="0"/>
              </a:spcAft>
              <a:buClr>
                <a:srgbClr val="000000"/>
              </a:buClr>
              <a:buSzPts val="1400"/>
              <a:buFont typeface="Arial"/>
              <a:buNone/>
            </a:pPr>
            <a:r>
              <a:t/>
            </a:r>
            <a:endParaRPr sz="2500"/>
          </a:p>
          <a:p>
            <a:pPr indent="0" lvl="0" marL="0" marR="0" rtl="0" algn="l">
              <a:lnSpc>
                <a:spcPct val="150000"/>
              </a:lnSpc>
              <a:spcBef>
                <a:spcPts val="0"/>
              </a:spcBef>
              <a:spcAft>
                <a:spcPts val="0"/>
              </a:spcAft>
              <a:buSzPts val="1400"/>
              <a:buNone/>
            </a:pPr>
            <a:r>
              <a:t/>
            </a:r>
            <a:endParaRPr sz="2500">
              <a:solidFill>
                <a:schemeClr val="dk1"/>
              </a:solidFill>
            </a:endParaRPr>
          </a:p>
        </p:txBody>
      </p:sp>
      <p:sp>
        <p:nvSpPr>
          <p:cNvPr id="1122" name="Google Shape;1122;g3b2b8d098be_0_0"/>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123" name="Google Shape;1123;g3b2b8d098be_0_0"/>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124" name="Google Shape;1124;g3b2b8d098be_0_0"/>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125" name="Google Shape;1125;g3b2b8d098be_0_0"/>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126" name="Google Shape;1126;g3b2b8d098be_0_0"/>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127" name="Google Shape;1127;g3b2b8d098be_0_0"/>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128" name="Google Shape;1128;g3b2b8d098be_0_0"/>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129" name="Google Shape;1129;g3b2b8d098be_0_0"/>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g3b2b8d098be_0_43"/>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Task</a:t>
            </a:r>
            <a:endParaRPr b="1" sz="3000">
              <a:solidFill>
                <a:srgbClr val="FF0000"/>
              </a:solidFill>
            </a:endParaRPr>
          </a:p>
        </p:txBody>
      </p:sp>
      <p:sp>
        <p:nvSpPr>
          <p:cNvPr id="1135" name="Google Shape;1135;g3b2b8d098be_0_43"/>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sz="2500"/>
              <a:t>Identify the </a:t>
            </a:r>
            <a:r>
              <a:rPr b="1" lang="en-US" sz="2500"/>
              <a:t>cloud deployment model</a:t>
            </a:r>
            <a:r>
              <a:rPr lang="en-US" sz="2500"/>
              <a:t> used in each case. Justify your answer in </a:t>
            </a:r>
            <a:r>
              <a:rPr b="1" lang="en-US" sz="2500"/>
              <a:t>one line</a:t>
            </a:r>
            <a:r>
              <a:rPr lang="en-US" sz="2500"/>
              <a:t>.</a:t>
            </a:r>
            <a:endParaRPr sz="2500"/>
          </a:p>
          <a:p>
            <a:pPr indent="-228600" lvl="0" marL="457200" marR="0" rtl="0" algn="l">
              <a:lnSpc>
                <a:spcPct val="100000"/>
              </a:lnSpc>
              <a:spcBef>
                <a:spcPts val="0"/>
              </a:spcBef>
              <a:spcAft>
                <a:spcPts val="0"/>
              </a:spcAft>
              <a:buClr>
                <a:srgbClr val="000000"/>
              </a:buClr>
              <a:buSzPts val="1400"/>
              <a:buFont typeface="Arial"/>
              <a:buNone/>
            </a:pPr>
            <a:r>
              <a:rPr b="1" lang="en-US" sz="2500"/>
              <a:t>Scenarios</a:t>
            </a:r>
            <a:endParaRPr sz="2500"/>
          </a:p>
          <a:p>
            <a:pPr indent="-228600" lvl="0" marL="457200" marR="0" rtl="0" algn="l">
              <a:lnSpc>
                <a:spcPct val="100000"/>
              </a:lnSpc>
              <a:spcBef>
                <a:spcPts val="0"/>
              </a:spcBef>
              <a:spcAft>
                <a:spcPts val="0"/>
              </a:spcAft>
              <a:buClr>
                <a:srgbClr val="000000"/>
              </a:buClr>
              <a:buSzPts val="1400"/>
              <a:buFont typeface="Arial"/>
              <a:buNone/>
            </a:pPr>
            <a:r>
              <a:t/>
            </a:r>
            <a:endParaRPr sz="2500"/>
          </a:p>
          <a:p>
            <a:pPr indent="0" lvl="0" marL="228600" marR="0" rtl="0" algn="l">
              <a:lnSpc>
                <a:spcPct val="100000"/>
              </a:lnSpc>
              <a:spcBef>
                <a:spcPts val="0"/>
              </a:spcBef>
              <a:spcAft>
                <a:spcPts val="0"/>
              </a:spcAft>
              <a:buClr>
                <a:srgbClr val="000000"/>
              </a:buClr>
              <a:buSzPts val="1400"/>
              <a:buFont typeface="Arial"/>
              <a:buNone/>
            </a:pPr>
            <a:r>
              <a:t/>
            </a:r>
            <a:endParaRPr sz="2500"/>
          </a:p>
          <a:p>
            <a:pPr indent="-228600" lvl="0" marL="457200" marR="0" rtl="0" algn="l">
              <a:lnSpc>
                <a:spcPct val="100000"/>
              </a:lnSpc>
              <a:spcBef>
                <a:spcPts val="0"/>
              </a:spcBef>
              <a:spcAft>
                <a:spcPts val="0"/>
              </a:spcAft>
              <a:buClr>
                <a:srgbClr val="000000"/>
              </a:buClr>
              <a:buSzPts val="1400"/>
              <a:buFont typeface="Arial"/>
              <a:buNone/>
            </a:pPr>
            <a:r>
              <a:rPr lang="en-US" sz="2500"/>
              <a:t>5. A startup hosts its website on </a:t>
            </a:r>
            <a:r>
              <a:rPr b="1" lang="en-US" sz="2500"/>
              <a:t>AWS EC2</a:t>
            </a:r>
            <a:r>
              <a:rPr lang="en-US" sz="2500"/>
              <a:t> and internal HR software on its </a:t>
            </a:r>
            <a:r>
              <a:rPr b="1" lang="en-US" sz="2500"/>
              <a:t>own servers</a:t>
            </a:r>
            <a:r>
              <a:rPr lang="en-US" sz="2500"/>
              <a:t>.</a:t>
            </a:r>
            <a:endParaRPr sz="2500"/>
          </a:p>
          <a:p>
            <a:pPr indent="0" lvl="0" marL="0" marR="0" rtl="0" algn="l">
              <a:lnSpc>
                <a:spcPct val="150000"/>
              </a:lnSpc>
              <a:spcBef>
                <a:spcPts val="0"/>
              </a:spcBef>
              <a:spcAft>
                <a:spcPts val="0"/>
              </a:spcAft>
              <a:buSzPts val="1400"/>
              <a:buNone/>
            </a:pPr>
            <a:r>
              <a:t/>
            </a:r>
            <a:endParaRPr sz="2500">
              <a:solidFill>
                <a:schemeClr val="dk1"/>
              </a:solidFill>
            </a:endParaRPr>
          </a:p>
        </p:txBody>
      </p:sp>
      <p:sp>
        <p:nvSpPr>
          <p:cNvPr id="1136" name="Google Shape;1136;g3b2b8d098be_0_43"/>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137" name="Google Shape;1137;g3b2b8d098be_0_43"/>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138" name="Google Shape;1138;g3b2b8d098be_0_4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139" name="Google Shape;1139;g3b2b8d098be_0_43"/>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140" name="Google Shape;1140;g3b2b8d098be_0_4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141" name="Google Shape;1141;g3b2b8d098be_0_43"/>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142" name="Google Shape;1142;g3b2b8d098be_0_43"/>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143" name="Google Shape;1143;g3b2b8d098be_0_43"/>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23"/>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MCQs</a:t>
            </a:r>
            <a:endParaRPr b="1" sz="3000">
              <a:solidFill>
                <a:srgbClr val="FF0000"/>
              </a:solidFill>
            </a:endParaRPr>
          </a:p>
        </p:txBody>
      </p:sp>
      <p:sp>
        <p:nvSpPr>
          <p:cNvPr id="1149" name="Google Shape;1149;p23"/>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Clr>
                <a:srgbClr val="000000"/>
              </a:buClr>
              <a:buSzPts val="1400"/>
              <a:buFont typeface="Arial"/>
              <a:buNone/>
            </a:pPr>
            <a:r>
              <a:rPr lang="en-US" sz="2000"/>
              <a:t>1. </a:t>
            </a:r>
            <a:r>
              <a:rPr b="1" lang="en-US" sz="2000"/>
              <a:t>Which deployment model uses shared infrastructure owned by a third-party provider?</a:t>
            </a:r>
            <a:endParaRPr/>
          </a:p>
          <a:p>
            <a:pPr indent="0" lvl="0" marL="228600" rtl="0" algn="l">
              <a:lnSpc>
                <a:spcPct val="100000"/>
              </a:lnSpc>
              <a:spcBef>
                <a:spcPts val="0"/>
              </a:spcBef>
              <a:spcAft>
                <a:spcPts val="0"/>
              </a:spcAft>
              <a:buSzPts val="1400"/>
              <a:buNone/>
            </a:pPr>
            <a:r>
              <a:rPr lang="en-US" sz="2000"/>
              <a:t>a) Private Cloud</a:t>
            </a:r>
            <a:endParaRPr/>
          </a:p>
          <a:p>
            <a:pPr indent="0" lvl="0" marL="228600" rtl="0" algn="l">
              <a:lnSpc>
                <a:spcPct val="100000"/>
              </a:lnSpc>
              <a:spcBef>
                <a:spcPts val="0"/>
              </a:spcBef>
              <a:spcAft>
                <a:spcPts val="0"/>
              </a:spcAft>
              <a:buSzPts val="1400"/>
              <a:buNone/>
            </a:pPr>
            <a:r>
              <a:rPr lang="en-US" sz="2000"/>
              <a:t>b) Hybrid Cloud</a:t>
            </a:r>
            <a:br>
              <a:rPr lang="en-US" sz="2000"/>
            </a:br>
            <a:r>
              <a:rPr lang="en-US" sz="2000"/>
              <a:t>c) Public Cloud </a:t>
            </a:r>
            <a:br>
              <a:rPr lang="en-US" sz="2000"/>
            </a:br>
            <a:r>
              <a:rPr lang="en-US" sz="2000"/>
              <a:t>d) Community Cloud</a:t>
            </a:r>
            <a:endParaRPr/>
          </a:p>
          <a:p>
            <a:pPr indent="0" lvl="0" marL="228600" rtl="0" algn="l">
              <a:lnSpc>
                <a:spcPct val="100000"/>
              </a:lnSpc>
              <a:spcBef>
                <a:spcPts val="0"/>
              </a:spcBef>
              <a:spcAft>
                <a:spcPts val="0"/>
              </a:spcAft>
              <a:buSzPts val="1400"/>
              <a:buNone/>
            </a:pPr>
            <a:r>
              <a:t/>
            </a:r>
            <a:endParaRPr sz="2000"/>
          </a:p>
          <a:p>
            <a:pPr indent="-228600" lvl="0" marL="457200" marR="0" rtl="0" algn="l">
              <a:lnSpc>
                <a:spcPct val="100000"/>
              </a:lnSpc>
              <a:spcBef>
                <a:spcPts val="0"/>
              </a:spcBef>
              <a:spcAft>
                <a:spcPts val="0"/>
              </a:spcAft>
              <a:buClr>
                <a:srgbClr val="000000"/>
              </a:buClr>
              <a:buSzPts val="1400"/>
              <a:buFont typeface="Arial"/>
              <a:buNone/>
            </a:pPr>
            <a:r>
              <a:rPr lang="en-US" sz="2000"/>
              <a:t>2.</a:t>
            </a:r>
            <a:r>
              <a:rPr b="1" lang="en-US" sz="2000"/>
              <a:t> A cloud infrastructure exclusively used by one organization is called:</a:t>
            </a:r>
            <a:endParaRPr/>
          </a:p>
          <a:p>
            <a:pPr indent="-228600" lvl="0" marL="457200" marR="0" rtl="0" algn="l">
              <a:lnSpc>
                <a:spcPct val="100000"/>
              </a:lnSpc>
              <a:spcBef>
                <a:spcPts val="0"/>
              </a:spcBef>
              <a:spcAft>
                <a:spcPts val="0"/>
              </a:spcAft>
              <a:buClr>
                <a:srgbClr val="000000"/>
              </a:buClr>
              <a:buSzPts val="1400"/>
              <a:buFont typeface="Arial"/>
              <a:buNone/>
            </a:pPr>
            <a:r>
              <a:rPr lang="en-US" sz="2000"/>
              <a:t>a) Public Cloud</a:t>
            </a:r>
            <a:br>
              <a:rPr lang="en-US" sz="2000"/>
            </a:br>
            <a:r>
              <a:rPr lang="en-US" sz="2000"/>
              <a:t>b) Community Cloud</a:t>
            </a:r>
            <a:br>
              <a:rPr lang="en-US" sz="2000"/>
            </a:br>
            <a:r>
              <a:rPr lang="en-US" sz="2000"/>
              <a:t>c) Private Cloud </a:t>
            </a:r>
            <a:br>
              <a:rPr lang="en-US" sz="2000"/>
            </a:br>
            <a:r>
              <a:rPr lang="en-US" sz="2000"/>
              <a:t>d) Hybrid Cloud</a:t>
            </a:r>
            <a:endParaRPr/>
          </a:p>
          <a:p>
            <a:pPr indent="0" lvl="0" marL="228600" rtl="0" algn="l">
              <a:lnSpc>
                <a:spcPct val="100000"/>
              </a:lnSpc>
              <a:spcBef>
                <a:spcPts val="0"/>
              </a:spcBef>
              <a:spcAft>
                <a:spcPts val="0"/>
              </a:spcAft>
              <a:buSzPts val="1400"/>
              <a:buNone/>
            </a:pPr>
            <a:r>
              <a:t/>
            </a:r>
            <a:endParaRPr sz="2000"/>
          </a:p>
          <a:p>
            <a:pPr indent="-228600" lvl="0" marL="457200" marR="0" rtl="0" algn="l">
              <a:lnSpc>
                <a:spcPct val="100000"/>
              </a:lnSpc>
              <a:spcBef>
                <a:spcPts val="0"/>
              </a:spcBef>
              <a:spcAft>
                <a:spcPts val="0"/>
              </a:spcAft>
              <a:buClr>
                <a:srgbClr val="000000"/>
              </a:buClr>
              <a:buSzPts val="1400"/>
              <a:buFont typeface="Arial"/>
              <a:buNone/>
            </a:pPr>
            <a:r>
              <a:t/>
            </a:r>
            <a:endParaRPr sz="2000"/>
          </a:p>
          <a:p>
            <a:pPr indent="0" lvl="0" marL="0" marR="0" rtl="0" algn="l">
              <a:lnSpc>
                <a:spcPct val="150000"/>
              </a:lnSpc>
              <a:spcBef>
                <a:spcPts val="0"/>
              </a:spcBef>
              <a:spcAft>
                <a:spcPts val="0"/>
              </a:spcAft>
              <a:buSzPts val="1400"/>
              <a:buNone/>
            </a:pPr>
            <a:r>
              <a:t/>
            </a:r>
            <a:endParaRPr sz="2000">
              <a:solidFill>
                <a:schemeClr val="dk1"/>
              </a:solidFill>
            </a:endParaRPr>
          </a:p>
        </p:txBody>
      </p:sp>
      <p:sp>
        <p:nvSpPr>
          <p:cNvPr id="1150" name="Google Shape;1150;p23"/>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151" name="Google Shape;1151;p23"/>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152" name="Google Shape;1152;p23"/>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153" name="Google Shape;1153;p23"/>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154" name="Google Shape;1154;p23"/>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155" name="Google Shape;1155;p23"/>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156" name="Google Shape;1156;p23"/>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157" name="Google Shape;1157;p23"/>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24"/>
          <p:cNvSpPr txBox="1"/>
          <p:nvPr>
            <p:ph type="title"/>
          </p:nvPr>
        </p:nvSpPr>
        <p:spPr>
          <a:xfrm>
            <a:off x="457200" y="457805"/>
            <a:ext cx="8229000" cy="11424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400"/>
              <a:buFont typeface="Arial"/>
              <a:buNone/>
            </a:pPr>
            <a:r>
              <a:rPr b="1" lang="en-US" sz="3000">
                <a:solidFill>
                  <a:srgbClr val="FF0000"/>
                </a:solidFill>
              </a:rPr>
              <a:t>MCQs</a:t>
            </a:r>
            <a:endParaRPr b="1" sz="3000">
              <a:solidFill>
                <a:srgbClr val="FF0000"/>
              </a:solidFill>
            </a:endParaRPr>
          </a:p>
        </p:txBody>
      </p:sp>
      <p:sp>
        <p:nvSpPr>
          <p:cNvPr id="1163" name="Google Shape;1163;p24"/>
          <p:cNvSpPr txBox="1"/>
          <p:nvPr>
            <p:ph idx="1" type="body"/>
          </p:nvPr>
        </p:nvSpPr>
        <p:spPr>
          <a:xfrm>
            <a:off x="457200" y="1475225"/>
            <a:ext cx="8229000" cy="41760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Clr>
                <a:srgbClr val="000000"/>
              </a:buClr>
              <a:buSzPts val="1400"/>
              <a:buFont typeface="Arial"/>
              <a:buNone/>
            </a:pPr>
            <a:r>
              <a:rPr b="1" lang="en-US" sz="2000"/>
              <a:t>Q3. Which model combines on-premise infrastructure with public cloud services?</a:t>
            </a:r>
            <a:endParaRPr/>
          </a:p>
          <a:p>
            <a:pPr indent="-228600" lvl="0" marL="457200" marR="0" rtl="0" algn="l">
              <a:lnSpc>
                <a:spcPct val="100000"/>
              </a:lnSpc>
              <a:spcBef>
                <a:spcPts val="0"/>
              </a:spcBef>
              <a:spcAft>
                <a:spcPts val="0"/>
              </a:spcAft>
              <a:buClr>
                <a:srgbClr val="000000"/>
              </a:buClr>
              <a:buSzPts val="1400"/>
              <a:buFont typeface="Arial"/>
              <a:buNone/>
            </a:pPr>
            <a:r>
              <a:rPr lang="en-US" sz="2000"/>
              <a:t>  a) Community Cloud</a:t>
            </a:r>
            <a:br>
              <a:rPr lang="en-US" sz="2000"/>
            </a:br>
            <a:r>
              <a:rPr lang="en-US" sz="2000"/>
              <a:t>b) Hybrid Cloud</a:t>
            </a:r>
            <a:br>
              <a:rPr lang="en-US" sz="2000"/>
            </a:br>
            <a:r>
              <a:rPr lang="en-US" sz="2000"/>
              <a:t>c) Private Cloud</a:t>
            </a:r>
            <a:br>
              <a:rPr lang="en-US" sz="2000"/>
            </a:br>
            <a:r>
              <a:rPr lang="en-US" sz="2000"/>
              <a:t>d) Public Cloud</a:t>
            </a:r>
            <a:endParaRPr/>
          </a:p>
          <a:p>
            <a:pPr indent="0" lvl="0" marL="228600" rtl="0" algn="l">
              <a:lnSpc>
                <a:spcPct val="100000"/>
              </a:lnSpc>
              <a:spcBef>
                <a:spcPts val="0"/>
              </a:spcBef>
              <a:spcAft>
                <a:spcPts val="0"/>
              </a:spcAft>
              <a:buSzPts val="1400"/>
              <a:buNone/>
            </a:pPr>
            <a:r>
              <a:t/>
            </a:r>
            <a:endParaRPr sz="2000"/>
          </a:p>
          <a:p>
            <a:pPr indent="-228600" lvl="0" marL="457200" marR="0" rtl="0" algn="l">
              <a:lnSpc>
                <a:spcPct val="100000"/>
              </a:lnSpc>
              <a:spcBef>
                <a:spcPts val="0"/>
              </a:spcBef>
              <a:spcAft>
                <a:spcPts val="0"/>
              </a:spcAft>
              <a:buClr>
                <a:srgbClr val="000000"/>
              </a:buClr>
              <a:buSzPts val="1400"/>
              <a:buFont typeface="Arial"/>
              <a:buNone/>
            </a:pPr>
            <a:r>
              <a:rPr b="1" lang="en-US" sz="2000"/>
              <a:t>Q4. Multiple organizations with common concerns (e.g., security, compliance) share cloud infrastructure. This is:</a:t>
            </a:r>
            <a:endParaRPr/>
          </a:p>
          <a:p>
            <a:pPr indent="-228600" lvl="0" marL="457200" marR="0" rtl="0" algn="l">
              <a:lnSpc>
                <a:spcPct val="100000"/>
              </a:lnSpc>
              <a:spcBef>
                <a:spcPts val="0"/>
              </a:spcBef>
              <a:spcAft>
                <a:spcPts val="0"/>
              </a:spcAft>
              <a:buClr>
                <a:srgbClr val="000000"/>
              </a:buClr>
              <a:buSzPts val="1400"/>
              <a:buFont typeface="Arial"/>
              <a:buNone/>
            </a:pPr>
            <a:r>
              <a:rPr lang="en-US" sz="2000"/>
              <a:t>   a) Public Cloud</a:t>
            </a:r>
            <a:br>
              <a:rPr lang="en-US" sz="2000"/>
            </a:br>
            <a:r>
              <a:rPr lang="en-US" sz="2000"/>
              <a:t>b) Private Cloud</a:t>
            </a:r>
            <a:br>
              <a:rPr lang="en-US" sz="2000"/>
            </a:br>
            <a:r>
              <a:rPr lang="en-US" sz="2000"/>
              <a:t>c) Hybrid Cloud</a:t>
            </a:r>
            <a:br>
              <a:rPr lang="en-US" sz="2000"/>
            </a:br>
            <a:r>
              <a:rPr lang="en-US" sz="2000"/>
              <a:t>d) Community Cloud </a:t>
            </a:r>
            <a:endParaRPr/>
          </a:p>
          <a:p>
            <a:pPr indent="0" lvl="0" marL="228600" rtl="0" algn="l">
              <a:lnSpc>
                <a:spcPct val="100000"/>
              </a:lnSpc>
              <a:spcBef>
                <a:spcPts val="0"/>
              </a:spcBef>
              <a:spcAft>
                <a:spcPts val="0"/>
              </a:spcAft>
              <a:buSzPts val="1400"/>
              <a:buNone/>
            </a:pPr>
            <a:r>
              <a:t/>
            </a:r>
            <a:endParaRPr sz="2000"/>
          </a:p>
          <a:p>
            <a:pPr indent="-228600" lvl="0" marL="457200" marR="0" rtl="0" algn="l">
              <a:lnSpc>
                <a:spcPct val="100000"/>
              </a:lnSpc>
              <a:spcBef>
                <a:spcPts val="0"/>
              </a:spcBef>
              <a:spcAft>
                <a:spcPts val="0"/>
              </a:spcAft>
              <a:buClr>
                <a:srgbClr val="000000"/>
              </a:buClr>
              <a:buSzPts val="1400"/>
              <a:buFont typeface="Arial"/>
              <a:buNone/>
            </a:pPr>
            <a:r>
              <a:t/>
            </a:r>
            <a:endParaRPr sz="2000"/>
          </a:p>
          <a:p>
            <a:pPr indent="0" lvl="0" marL="0" marR="0" rtl="0" algn="l">
              <a:lnSpc>
                <a:spcPct val="150000"/>
              </a:lnSpc>
              <a:spcBef>
                <a:spcPts val="0"/>
              </a:spcBef>
              <a:spcAft>
                <a:spcPts val="0"/>
              </a:spcAft>
              <a:buSzPts val="1400"/>
              <a:buNone/>
            </a:pPr>
            <a:r>
              <a:t/>
            </a:r>
            <a:endParaRPr sz="2000">
              <a:solidFill>
                <a:schemeClr val="dk1"/>
              </a:solidFill>
            </a:endParaRPr>
          </a:p>
        </p:txBody>
      </p:sp>
      <p:sp>
        <p:nvSpPr>
          <p:cNvPr id="1164" name="Google Shape;1164;p24"/>
          <p:cNvSpPr txBox="1"/>
          <p:nvPr>
            <p:ph idx="10" type="dt"/>
          </p:nvPr>
        </p:nvSpPr>
        <p:spPr>
          <a:xfrm>
            <a:off x="457200" y="6356520"/>
            <a:ext cx="2133000" cy="36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14-01-2025</a:t>
            </a:r>
            <a:endParaRPr/>
          </a:p>
        </p:txBody>
      </p:sp>
      <p:sp>
        <p:nvSpPr>
          <p:cNvPr id="1165" name="Google Shape;1165;p24"/>
          <p:cNvSpPr txBox="1"/>
          <p:nvPr>
            <p:ph idx="11" type="ftr"/>
          </p:nvPr>
        </p:nvSpPr>
        <p:spPr>
          <a:xfrm>
            <a:off x="3124080" y="6356520"/>
            <a:ext cx="2894700" cy="36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Shweta Dhawan Chachra</a:t>
            </a:r>
            <a:endParaRPr/>
          </a:p>
        </p:txBody>
      </p:sp>
      <p:sp>
        <p:nvSpPr>
          <p:cNvPr id="1166" name="Google Shape;1166;p24"/>
          <p:cNvSpPr txBox="1"/>
          <p:nvPr>
            <p:ph idx="12" type="sldNum"/>
          </p:nvPr>
        </p:nvSpPr>
        <p:spPr>
          <a:xfrm>
            <a:off x="6553080" y="6356520"/>
            <a:ext cx="2133000" cy="36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167" name="Google Shape;1167;p24"/>
          <p:cNvSpPr/>
          <p:nvPr/>
        </p:nvSpPr>
        <p:spPr>
          <a:xfrm>
            <a:off x="8413641" y="1706905"/>
            <a:ext cx="4395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pic>
        <p:nvPicPr>
          <p:cNvPr id="1168" name="Google Shape;1168;p24"/>
          <p:cNvPicPr preferRelativeResize="0"/>
          <p:nvPr/>
        </p:nvPicPr>
        <p:blipFill rotWithShape="1">
          <a:blip r:embed="rId3">
            <a:alphaModFix/>
          </a:blip>
          <a:srcRect b="0" l="0" r="0" t="0"/>
          <a:stretch/>
        </p:blipFill>
        <p:spPr>
          <a:xfrm>
            <a:off x="-33480" y="6492960"/>
            <a:ext cx="9176760" cy="385200"/>
          </a:xfrm>
          <a:prstGeom prst="rect">
            <a:avLst/>
          </a:prstGeom>
          <a:noFill/>
          <a:ln>
            <a:noFill/>
          </a:ln>
        </p:spPr>
      </p:pic>
      <p:pic>
        <p:nvPicPr>
          <p:cNvPr descr="A picture containing drawing&#10;&#10;Description automatically generated" id="1169" name="Google Shape;1169;p24"/>
          <p:cNvPicPr preferRelativeResize="0"/>
          <p:nvPr/>
        </p:nvPicPr>
        <p:blipFill rotWithShape="1">
          <a:blip r:embed="rId4">
            <a:alphaModFix/>
          </a:blip>
          <a:srcRect b="0" l="0" r="0" t="0"/>
          <a:stretch/>
        </p:blipFill>
        <p:spPr>
          <a:xfrm>
            <a:off x="-33475" y="5865663"/>
            <a:ext cx="1698840" cy="424080"/>
          </a:xfrm>
          <a:prstGeom prst="rect">
            <a:avLst/>
          </a:prstGeom>
          <a:noFill/>
          <a:ln>
            <a:noFill/>
          </a:ln>
        </p:spPr>
      </p:pic>
      <p:pic>
        <p:nvPicPr>
          <p:cNvPr descr="A close up of a sign&#10;&#10;Description automatically generated" id="1170" name="Google Shape;1170;p24"/>
          <p:cNvPicPr preferRelativeResize="0"/>
          <p:nvPr/>
        </p:nvPicPr>
        <p:blipFill rotWithShape="1">
          <a:blip r:embed="rId5">
            <a:alphaModFix/>
          </a:blip>
          <a:srcRect b="0" l="0" r="0" t="0"/>
          <a:stretch/>
        </p:blipFill>
        <p:spPr>
          <a:xfrm>
            <a:off x="8344295" y="5945933"/>
            <a:ext cx="654480" cy="424080"/>
          </a:xfrm>
          <a:prstGeom prst="rect">
            <a:avLst/>
          </a:prstGeom>
          <a:noFill/>
          <a:ln>
            <a:noFill/>
          </a:ln>
        </p:spPr>
      </p:pic>
      <p:pic>
        <p:nvPicPr>
          <p:cNvPr id="1171" name="Google Shape;1171;p24"/>
          <p:cNvPicPr preferRelativeResize="0"/>
          <p:nvPr/>
        </p:nvPicPr>
        <p:blipFill rotWithShape="1">
          <a:blip r:embed="rId6">
            <a:alphaModFix/>
          </a:blip>
          <a:srcRect b="0" l="0" r="0" t="0"/>
          <a:stretch/>
        </p:blipFill>
        <p:spPr>
          <a:xfrm>
            <a:off x="-33480" y="6332400"/>
            <a:ext cx="6998399" cy="1753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