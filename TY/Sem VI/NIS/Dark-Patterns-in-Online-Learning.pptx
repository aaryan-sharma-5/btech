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Dela Gothic One" panose="020B0604020202020204" charset="-128"/>
      <p:regular r:id="rId14"/>
    </p:embeddedFont>
    <p:embeddedFont>
      <p:font typeface="Montserrat Bold" panose="020B0604020202020204" charset="0"/>
      <p:regular r:id="rId15"/>
    </p:embeddedFont>
    <p:embeddedFont>
      <p:font typeface="Montserrat Light" panose="00000400000000000000" pitchFamily="2" charset="0"/>
      <p:regular r:id="rId16"/>
    </p:embeddedFont>
    <p:embeddedFont>
      <p:font typeface="Source Sans 3" panose="020B0604020202020204" charset="0"/>
      <p:regular r:id="rId17"/>
    </p:embeddedFont>
    <p:embeddedFont>
      <p:font typeface="Source Sans 3 Bold" panose="020B0604020202020204" charset="0"/>
      <p:regular r:id="rId18"/>
    </p:embeddedFont>
    <p:embeddedFont>
      <p:font typeface="Source Sans 3 Italics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6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5.sv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430000" y="1028700"/>
            <a:ext cx="6858000" cy="8229600"/>
            <a:chOff x="0" y="0"/>
            <a:chExt cx="9144000" cy="109728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0972800"/>
            </a:xfrm>
            <a:custGeom>
              <a:avLst/>
              <a:gdLst/>
              <a:ahLst/>
              <a:cxnLst/>
              <a:rect l="l" t="t" r="r" b="b"/>
              <a:pathLst>
                <a:path w="9144000" h="10972800">
                  <a:moveTo>
                    <a:pt x="0" y="0"/>
                  </a:moveTo>
                  <a:lnTo>
                    <a:pt x="9144000" y="0"/>
                  </a:lnTo>
                  <a:lnTo>
                    <a:pt x="91440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499" b="-1250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28700" y="2922472"/>
            <a:ext cx="9270502" cy="1781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Dark Patterns in Online Learning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090753"/>
            <a:ext cx="9270502" cy="100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Ethical and Legal Issues in UI/UX Design — what happens when the interface works against the user.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6448961"/>
            <a:ext cx="3401001" cy="555177"/>
            <a:chOff x="0" y="0"/>
            <a:chExt cx="3631140" cy="59274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631152" cy="592734"/>
            </a:xfrm>
            <a:custGeom>
              <a:avLst/>
              <a:gdLst/>
              <a:ahLst/>
              <a:cxnLst/>
              <a:rect l="l" t="t" r="r" b="b"/>
              <a:pathLst>
                <a:path w="3631152" h="592734">
                  <a:moveTo>
                    <a:pt x="0" y="39563"/>
                  </a:moveTo>
                  <a:cubicBezTo>
                    <a:pt x="0" y="17697"/>
                    <a:pt x="34040" y="0"/>
                    <a:pt x="76102" y="0"/>
                  </a:cubicBezTo>
                  <a:lnTo>
                    <a:pt x="3555058" y="0"/>
                  </a:lnTo>
                  <a:cubicBezTo>
                    <a:pt x="3597119" y="0"/>
                    <a:pt x="3631152" y="17697"/>
                    <a:pt x="3631152" y="39563"/>
                  </a:cubicBezTo>
                  <a:lnTo>
                    <a:pt x="3631152" y="553171"/>
                  </a:lnTo>
                  <a:cubicBezTo>
                    <a:pt x="3631152" y="575038"/>
                    <a:pt x="3597119" y="592734"/>
                    <a:pt x="3555058" y="592734"/>
                  </a:cubicBezTo>
                  <a:lnTo>
                    <a:pt x="76102" y="592734"/>
                  </a:lnTo>
                  <a:cubicBezTo>
                    <a:pt x="34040" y="592734"/>
                    <a:pt x="0" y="575038"/>
                    <a:pt x="0" y="553171"/>
                  </a:cubicBezTo>
                  <a:close/>
                </a:path>
              </a:pathLst>
            </a:custGeom>
            <a:solidFill>
              <a:srgbClr val="E4E4E7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213695" y="6484232"/>
            <a:ext cx="3216007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16010123012 Aaryan Sharma</a:t>
            </a:r>
          </a:p>
        </p:txBody>
      </p:sp>
      <p:sp>
        <p:nvSpPr>
          <p:cNvPr id="13" name="Freeform 13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9744" y="4535391"/>
            <a:ext cx="9270502" cy="2165747"/>
            <a:chOff x="0" y="0"/>
            <a:chExt cx="12360669" cy="28876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60656" cy="2887726"/>
            </a:xfrm>
            <a:custGeom>
              <a:avLst/>
              <a:gdLst/>
              <a:ahLst/>
              <a:cxnLst/>
              <a:rect l="l" t="t" r="r" b="b"/>
              <a:pathLst>
                <a:path w="12360656" h="2887726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12298934" y="0"/>
                  </a:lnTo>
                  <a:cubicBezTo>
                    <a:pt x="12332970" y="0"/>
                    <a:pt x="12360656" y="27686"/>
                    <a:pt x="12360656" y="61722"/>
                  </a:cubicBezTo>
                  <a:lnTo>
                    <a:pt x="12360656" y="2826004"/>
                  </a:lnTo>
                  <a:cubicBezTo>
                    <a:pt x="12360656" y="2860040"/>
                    <a:pt x="12332970" y="2887726"/>
                    <a:pt x="12298934" y="2887726"/>
                  </a:cubicBezTo>
                  <a:lnTo>
                    <a:pt x="61722" y="2887726"/>
                  </a:lnTo>
                  <a:cubicBezTo>
                    <a:pt x="27686" y="2887726"/>
                    <a:pt x="0" y="2860040"/>
                    <a:pt x="0" y="282600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79744" y="7009652"/>
            <a:ext cx="9270502" cy="2165747"/>
            <a:chOff x="0" y="0"/>
            <a:chExt cx="12360669" cy="288766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360656" cy="2887726"/>
            </a:xfrm>
            <a:custGeom>
              <a:avLst/>
              <a:gdLst/>
              <a:ahLst/>
              <a:cxnLst/>
              <a:rect l="l" t="t" r="r" b="b"/>
              <a:pathLst>
                <a:path w="12360656" h="2887726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12298934" y="0"/>
                  </a:lnTo>
                  <a:cubicBezTo>
                    <a:pt x="12332970" y="0"/>
                    <a:pt x="12360656" y="27686"/>
                    <a:pt x="12360656" y="61722"/>
                  </a:cubicBezTo>
                  <a:lnTo>
                    <a:pt x="12360656" y="2826004"/>
                  </a:lnTo>
                  <a:cubicBezTo>
                    <a:pt x="12360656" y="2860040"/>
                    <a:pt x="12332970" y="2887726"/>
                    <a:pt x="12298934" y="2887726"/>
                  </a:cubicBezTo>
                  <a:lnTo>
                    <a:pt x="61722" y="2887726"/>
                  </a:lnTo>
                  <a:cubicBezTo>
                    <a:pt x="27686" y="2887726"/>
                    <a:pt x="0" y="2860040"/>
                    <a:pt x="0" y="282600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350246" y="2331385"/>
            <a:ext cx="7701843" cy="5463343"/>
          </a:xfrm>
          <a:custGeom>
            <a:avLst/>
            <a:gdLst/>
            <a:ahLst/>
            <a:cxnLst/>
            <a:rect l="l" t="t" r="r" b="b"/>
            <a:pathLst>
              <a:path w="7701843" h="5463343">
                <a:moveTo>
                  <a:pt x="0" y="0"/>
                </a:moveTo>
                <a:lnTo>
                  <a:pt x="7701843" y="0"/>
                </a:lnTo>
                <a:lnTo>
                  <a:pt x="7701843" y="5463343"/>
                </a:lnTo>
                <a:lnTo>
                  <a:pt x="0" y="5463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2000" b="-6789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28700" y="1101633"/>
            <a:ext cx="9270502" cy="1781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Exactly Are Dark Patterns?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9744" y="2988173"/>
            <a:ext cx="9270502" cy="1349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Dark patterns are design choices deliberately crafted to trick or manipulate users into doing things they didn't intend — like signing up for a subscription they can't easily cancel.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88269" y="4824855"/>
            <a:ext cx="4938865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Companies Use Them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88269" y="5391002"/>
            <a:ext cx="8653462" cy="100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They boost revenue, lock in users, and reduce cancellations — at the cost of trust.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88269" y="7299127"/>
            <a:ext cx="4379862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 You'll Find Them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88269" y="7865264"/>
            <a:ext cx="8653462" cy="100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Online learning platforms, streaming services, e-commerce sites, and subscription apps.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143500"/>
            <a:ext cx="6426570" cy="2516054"/>
            <a:chOff x="0" y="0"/>
            <a:chExt cx="8568760" cy="33547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68836" cy="3354739"/>
            </a:xfrm>
            <a:custGeom>
              <a:avLst/>
              <a:gdLst/>
              <a:ahLst/>
              <a:cxnLst/>
              <a:rect l="l" t="t" r="r" b="b"/>
              <a:pathLst>
                <a:path w="8568836" h="3354739">
                  <a:moveTo>
                    <a:pt x="0" y="73763"/>
                  </a:moveTo>
                  <a:cubicBezTo>
                    <a:pt x="0" y="33095"/>
                    <a:pt x="31231" y="0"/>
                    <a:pt x="69609" y="0"/>
                  </a:cubicBezTo>
                  <a:lnTo>
                    <a:pt x="8499244" y="0"/>
                  </a:lnTo>
                  <a:cubicBezTo>
                    <a:pt x="8537622" y="0"/>
                    <a:pt x="8568836" y="33095"/>
                    <a:pt x="8568836" y="73763"/>
                  </a:cubicBezTo>
                  <a:lnTo>
                    <a:pt x="8568836" y="3280976"/>
                  </a:lnTo>
                  <a:cubicBezTo>
                    <a:pt x="8568836" y="3321645"/>
                    <a:pt x="8537622" y="3354739"/>
                    <a:pt x="8499244" y="3354739"/>
                  </a:cubicBezTo>
                  <a:lnTo>
                    <a:pt x="69609" y="3354739"/>
                  </a:lnTo>
                  <a:cubicBezTo>
                    <a:pt x="31231" y="3354739"/>
                    <a:pt x="0" y="3321645"/>
                    <a:pt x="0" y="3280976"/>
                  </a:cubicBezTo>
                  <a:close/>
                </a:path>
              </a:pathLst>
            </a:custGeom>
            <a:solidFill>
              <a:srgbClr val="FCF2B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76665" y="5545188"/>
            <a:ext cx="434805" cy="284407"/>
            <a:chOff x="0" y="0"/>
            <a:chExt cx="579740" cy="379209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579709" cy="379222"/>
            </a:xfrm>
            <a:custGeom>
              <a:avLst/>
              <a:gdLst/>
              <a:ahLst/>
              <a:cxnLst/>
              <a:rect l="l" t="t" r="r" b="b"/>
              <a:pathLst>
                <a:path w="579709" h="379222">
                  <a:moveTo>
                    <a:pt x="0" y="0"/>
                  </a:moveTo>
                  <a:lnTo>
                    <a:pt x="579709" y="0"/>
                  </a:lnTo>
                  <a:lnTo>
                    <a:pt x="579709" y="379222"/>
                  </a:lnTo>
                  <a:lnTo>
                    <a:pt x="0" y="379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1978" r="-5" b="-11974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9328107" y="1798638"/>
            <a:ext cx="6332284" cy="7216984"/>
          </a:xfrm>
          <a:custGeom>
            <a:avLst/>
            <a:gdLst/>
            <a:ahLst/>
            <a:cxnLst/>
            <a:rect l="l" t="t" r="r" b="b"/>
            <a:pathLst>
              <a:path w="6332284" h="7216984">
                <a:moveTo>
                  <a:pt x="0" y="0"/>
                </a:moveTo>
                <a:lnTo>
                  <a:pt x="6332284" y="0"/>
                </a:lnTo>
                <a:lnTo>
                  <a:pt x="6332284" y="7216984"/>
                </a:lnTo>
                <a:lnTo>
                  <a:pt x="0" y="72169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480" b="-5546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28700" y="1009650"/>
            <a:ext cx="15332764" cy="788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5062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Subscription Manipulation in Action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300815"/>
            <a:ext cx="6426570" cy="2455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6"/>
              </a:lnSpc>
            </a:pPr>
            <a:r>
              <a:rPr lang="en-US" sz="2687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Imagine signing up for a free trial on a learning platform. You forget about it — and suddenly you're charged. When you try to cancel, the option is buried, confusing, or requires a phone call.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59436" y="5409905"/>
            <a:ext cx="4947891" cy="1464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6"/>
              </a:lnSpc>
            </a:pPr>
            <a:r>
              <a:rPr lang="en-US" sz="2687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This isn't an accident. It's a deliberate design strategy to make leaving harder than staying.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79744" y="1813770"/>
            <a:ext cx="15434815" cy="172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Common Dark Patterns You've Probably Seen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79744" y="4212584"/>
            <a:ext cx="2968971" cy="1834906"/>
            <a:chOff x="0" y="0"/>
            <a:chExt cx="3958628" cy="2446541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3958590" cy="2446528"/>
            </a:xfrm>
            <a:custGeom>
              <a:avLst/>
              <a:gdLst/>
              <a:ahLst/>
              <a:cxnLst/>
              <a:rect l="l" t="t" r="r" b="b"/>
              <a:pathLst>
                <a:path w="3958590" h="2446528">
                  <a:moveTo>
                    <a:pt x="0" y="0"/>
                  </a:moveTo>
                  <a:lnTo>
                    <a:pt x="3958590" y="0"/>
                  </a:lnTo>
                  <a:lnTo>
                    <a:pt x="3958590" y="2446528"/>
                  </a:lnTo>
                  <a:lnTo>
                    <a:pt x="0" y="2446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5" b="-45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079744" y="6414049"/>
            <a:ext cx="4046487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Hidden Cancel Option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9744" y="6980187"/>
            <a:ext cx="5119097" cy="1464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Cancellation is buried deep in settings — or requires contacting support directly.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584452" y="4212584"/>
            <a:ext cx="2968971" cy="1834906"/>
            <a:chOff x="0" y="0"/>
            <a:chExt cx="3958628" cy="2446541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3958590" cy="2446528"/>
            </a:xfrm>
            <a:custGeom>
              <a:avLst/>
              <a:gdLst/>
              <a:ahLst/>
              <a:cxnLst/>
              <a:rect l="l" t="t" r="r" b="b"/>
              <a:pathLst>
                <a:path w="3958590" h="2446528">
                  <a:moveTo>
                    <a:pt x="0" y="0"/>
                  </a:moveTo>
                  <a:lnTo>
                    <a:pt x="3958590" y="0"/>
                  </a:lnTo>
                  <a:lnTo>
                    <a:pt x="3958590" y="2446528"/>
                  </a:lnTo>
                  <a:lnTo>
                    <a:pt x="0" y="2446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5" b="-45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6584452" y="6414049"/>
            <a:ext cx="4845548" cy="4141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Auto-Renewal by Default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84452" y="6980187"/>
            <a:ext cx="5119097" cy="1464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Subscriptions renew automatically. Users must actively opt out — often without clear notice.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089159" y="4212584"/>
            <a:ext cx="2968971" cy="1834906"/>
            <a:chOff x="0" y="0"/>
            <a:chExt cx="3958628" cy="2446541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3958590" cy="2446528"/>
            </a:xfrm>
            <a:custGeom>
              <a:avLst/>
              <a:gdLst/>
              <a:ahLst/>
              <a:cxnLst/>
              <a:rect l="l" t="t" r="r" b="b"/>
              <a:pathLst>
                <a:path w="3958590" h="2446528">
                  <a:moveTo>
                    <a:pt x="0" y="0"/>
                  </a:moveTo>
                  <a:lnTo>
                    <a:pt x="3958590" y="0"/>
                  </a:lnTo>
                  <a:lnTo>
                    <a:pt x="3958590" y="2446528"/>
                  </a:lnTo>
                  <a:lnTo>
                    <a:pt x="0" y="2446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5" b="-45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2089159" y="6414048"/>
            <a:ext cx="4598641" cy="4141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Fake Urgency Messages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89159" y="6980187"/>
            <a:ext cx="5119097" cy="100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"Only 2 spots left!" or "Offer expires in 10 minutes" — even when it doesn't.</a:t>
            </a:r>
          </a:p>
        </p:txBody>
      </p:sp>
      <p:sp>
        <p:nvSpPr>
          <p:cNvPr id="19" name="Freeform 19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17066" y="1806473"/>
            <a:ext cx="9342234" cy="2236146"/>
            <a:chOff x="0" y="0"/>
            <a:chExt cx="12456312" cy="2981528"/>
          </a:xfrm>
        </p:grpSpPr>
        <p:sp>
          <p:nvSpPr>
            <p:cNvPr id="3" name="Freeform 3"/>
            <p:cNvSpPr/>
            <p:nvPr/>
          </p:nvSpPr>
          <p:spPr>
            <a:xfrm>
              <a:off x="25400" y="25400"/>
              <a:ext cx="12405487" cy="2930779"/>
            </a:xfrm>
            <a:custGeom>
              <a:avLst/>
              <a:gdLst/>
              <a:ahLst/>
              <a:cxnLst/>
              <a:rect l="l" t="t" r="r" b="b"/>
              <a:pathLst>
                <a:path w="12405487" h="2930779">
                  <a:moveTo>
                    <a:pt x="0" y="243840"/>
                  </a:moveTo>
                  <a:cubicBezTo>
                    <a:pt x="0" y="109220"/>
                    <a:pt x="110617" y="0"/>
                    <a:pt x="247015" y="0"/>
                  </a:cubicBezTo>
                  <a:lnTo>
                    <a:pt x="12158472" y="0"/>
                  </a:lnTo>
                  <a:cubicBezTo>
                    <a:pt x="12294870" y="0"/>
                    <a:pt x="12405487" y="109220"/>
                    <a:pt x="12405487" y="243840"/>
                  </a:cubicBezTo>
                  <a:lnTo>
                    <a:pt x="12405487" y="2686939"/>
                  </a:lnTo>
                  <a:cubicBezTo>
                    <a:pt x="12405487" y="2821559"/>
                    <a:pt x="12294870" y="2930779"/>
                    <a:pt x="12158472" y="2930779"/>
                  </a:cubicBezTo>
                  <a:lnTo>
                    <a:pt x="247015" y="2930779"/>
                  </a:lnTo>
                  <a:cubicBezTo>
                    <a:pt x="110617" y="2930779"/>
                    <a:pt x="0" y="2821559"/>
                    <a:pt x="0" y="26869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2456287" cy="2981579"/>
            </a:xfrm>
            <a:custGeom>
              <a:avLst/>
              <a:gdLst/>
              <a:ahLst/>
              <a:cxnLst/>
              <a:rect l="l" t="t" r="r" b="b"/>
              <a:pathLst>
                <a:path w="12456287" h="2981579">
                  <a:moveTo>
                    <a:pt x="0" y="269240"/>
                  </a:moveTo>
                  <a:cubicBezTo>
                    <a:pt x="0" y="120269"/>
                    <a:pt x="122301" y="0"/>
                    <a:pt x="272415" y="0"/>
                  </a:cubicBezTo>
                  <a:lnTo>
                    <a:pt x="12183872" y="0"/>
                  </a:lnTo>
                  <a:lnTo>
                    <a:pt x="12183872" y="25400"/>
                  </a:lnTo>
                  <a:lnTo>
                    <a:pt x="12183872" y="0"/>
                  </a:lnTo>
                  <a:cubicBezTo>
                    <a:pt x="12333986" y="0"/>
                    <a:pt x="12456287" y="120269"/>
                    <a:pt x="12456287" y="269240"/>
                  </a:cubicBezTo>
                  <a:lnTo>
                    <a:pt x="12430887" y="269240"/>
                  </a:lnTo>
                  <a:lnTo>
                    <a:pt x="12456287" y="269240"/>
                  </a:lnTo>
                  <a:lnTo>
                    <a:pt x="12456287" y="2712339"/>
                  </a:lnTo>
                  <a:lnTo>
                    <a:pt x="12430887" y="2712339"/>
                  </a:lnTo>
                  <a:lnTo>
                    <a:pt x="12456287" y="2712339"/>
                  </a:lnTo>
                  <a:cubicBezTo>
                    <a:pt x="12456287" y="2861310"/>
                    <a:pt x="12333986" y="2981579"/>
                    <a:pt x="12183872" y="2981579"/>
                  </a:cubicBezTo>
                  <a:lnTo>
                    <a:pt x="12183872" y="2956179"/>
                  </a:lnTo>
                  <a:lnTo>
                    <a:pt x="12183872" y="2981579"/>
                  </a:lnTo>
                  <a:lnTo>
                    <a:pt x="272415" y="2981579"/>
                  </a:lnTo>
                  <a:lnTo>
                    <a:pt x="272415" y="2956179"/>
                  </a:lnTo>
                  <a:lnTo>
                    <a:pt x="272415" y="2981579"/>
                  </a:lnTo>
                  <a:cubicBezTo>
                    <a:pt x="122301" y="2981579"/>
                    <a:pt x="0" y="2861310"/>
                    <a:pt x="0" y="2712339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712339"/>
                  </a:lnTo>
                  <a:lnTo>
                    <a:pt x="25400" y="2712339"/>
                  </a:lnTo>
                  <a:lnTo>
                    <a:pt x="50800" y="2712339"/>
                  </a:lnTo>
                  <a:cubicBezTo>
                    <a:pt x="50800" y="2832608"/>
                    <a:pt x="149733" y="2930779"/>
                    <a:pt x="272415" y="2930779"/>
                  </a:cubicBezTo>
                  <a:lnTo>
                    <a:pt x="12183872" y="2930779"/>
                  </a:lnTo>
                  <a:cubicBezTo>
                    <a:pt x="12306553" y="2930779"/>
                    <a:pt x="12405487" y="2832608"/>
                    <a:pt x="12405487" y="2712339"/>
                  </a:cubicBezTo>
                  <a:lnTo>
                    <a:pt x="12405487" y="269240"/>
                  </a:lnTo>
                  <a:cubicBezTo>
                    <a:pt x="12405487" y="148971"/>
                    <a:pt x="12306553" y="50800"/>
                    <a:pt x="12183872" y="50800"/>
                  </a:cubicBezTo>
                  <a:lnTo>
                    <a:pt x="272415" y="50800"/>
                  </a:lnTo>
                  <a:lnTo>
                    <a:pt x="272415" y="25400"/>
                  </a:lnTo>
                  <a:lnTo>
                    <a:pt x="272415" y="50800"/>
                  </a:lnTo>
                  <a:cubicBezTo>
                    <a:pt x="149733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898016" y="1825523"/>
            <a:ext cx="152400" cy="2198046"/>
            <a:chOff x="0" y="0"/>
            <a:chExt cx="203200" cy="29307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200" cy="2930652"/>
            </a:xfrm>
            <a:custGeom>
              <a:avLst/>
              <a:gdLst/>
              <a:ahLst/>
              <a:cxnLst/>
              <a:rect l="l" t="t" r="r" b="b"/>
              <a:pathLst>
                <a:path w="203200" h="2930652">
                  <a:moveTo>
                    <a:pt x="0" y="60706"/>
                  </a:moveTo>
                  <a:cubicBezTo>
                    <a:pt x="0" y="27178"/>
                    <a:pt x="27178" y="0"/>
                    <a:pt x="60706" y="0"/>
                  </a:cubicBezTo>
                  <a:lnTo>
                    <a:pt x="142367" y="0"/>
                  </a:lnTo>
                  <a:cubicBezTo>
                    <a:pt x="176022" y="0"/>
                    <a:pt x="203200" y="27178"/>
                    <a:pt x="203200" y="60706"/>
                  </a:cubicBezTo>
                  <a:lnTo>
                    <a:pt x="203200" y="2869946"/>
                  </a:lnTo>
                  <a:cubicBezTo>
                    <a:pt x="203200" y="2903474"/>
                    <a:pt x="176022" y="2930652"/>
                    <a:pt x="142494" y="2930652"/>
                  </a:cubicBezTo>
                  <a:lnTo>
                    <a:pt x="60706" y="2930652"/>
                  </a:lnTo>
                  <a:cubicBezTo>
                    <a:pt x="27178" y="2930652"/>
                    <a:pt x="0" y="2903474"/>
                    <a:pt x="0" y="2869946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7917066" y="4303366"/>
            <a:ext cx="9342234" cy="2236146"/>
            <a:chOff x="0" y="0"/>
            <a:chExt cx="12456312" cy="2981528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12405487" cy="2930779"/>
            </a:xfrm>
            <a:custGeom>
              <a:avLst/>
              <a:gdLst/>
              <a:ahLst/>
              <a:cxnLst/>
              <a:rect l="l" t="t" r="r" b="b"/>
              <a:pathLst>
                <a:path w="12405487" h="2930779">
                  <a:moveTo>
                    <a:pt x="0" y="243840"/>
                  </a:moveTo>
                  <a:cubicBezTo>
                    <a:pt x="0" y="109220"/>
                    <a:pt x="110617" y="0"/>
                    <a:pt x="247015" y="0"/>
                  </a:cubicBezTo>
                  <a:lnTo>
                    <a:pt x="12158472" y="0"/>
                  </a:lnTo>
                  <a:cubicBezTo>
                    <a:pt x="12294870" y="0"/>
                    <a:pt x="12405487" y="109220"/>
                    <a:pt x="12405487" y="243840"/>
                  </a:cubicBezTo>
                  <a:lnTo>
                    <a:pt x="12405487" y="2686939"/>
                  </a:lnTo>
                  <a:cubicBezTo>
                    <a:pt x="12405487" y="2821559"/>
                    <a:pt x="12294870" y="2930779"/>
                    <a:pt x="12158472" y="2930779"/>
                  </a:cubicBezTo>
                  <a:lnTo>
                    <a:pt x="247015" y="2930779"/>
                  </a:lnTo>
                  <a:cubicBezTo>
                    <a:pt x="110617" y="2930779"/>
                    <a:pt x="0" y="2821559"/>
                    <a:pt x="0" y="26869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2456287" cy="2981579"/>
            </a:xfrm>
            <a:custGeom>
              <a:avLst/>
              <a:gdLst/>
              <a:ahLst/>
              <a:cxnLst/>
              <a:rect l="l" t="t" r="r" b="b"/>
              <a:pathLst>
                <a:path w="12456287" h="2981579">
                  <a:moveTo>
                    <a:pt x="0" y="269240"/>
                  </a:moveTo>
                  <a:cubicBezTo>
                    <a:pt x="0" y="120269"/>
                    <a:pt x="122301" y="0"/>
                    <a:pt x="272415" y="0"/>
                  </a:cubicBezTo>
                  <a:lnTo>
                    <a:pt x="12183872" y="0"/>
                  </a:lnTo>
                  <a:lnTo>
                    <a:pt x="12183872" y="25400"/>
                  </a:lnTo>
                  <a:lnTo>
                    <a:pt x="12183872" y="0"/>
                  </a:lnTo>
                  <a:cubicBezTo>
                    <a:pt x="12333986" y="0"/>
                    <a:pt x="12456287" y="120269"/>
                    <a:pt x="12456287" y="269240"/>
                  </a:cubicBezTo>
                  <a:lnTo>
                    <a:pt x="12430887" y="269240"/>
                  </a:lnTo>
                  <a:lnTo>
                    <a:pt x="12456287" y="269240"/>
                  </a:lnTo>
                  <a:lnTo>
                    <a:pt x="12456287" y="2712339"/>
                  </a:lnTo>
                  <a:lnTo>
                    <a:pt x="12430887" y="2712339"/>
                  </a:lnTo>
                  <a:lnTo>
                    <a:pt x="12456287" y="2712339"/>
                  </a:lnTo>
                  <a:cubicBezTo>
                    <a:pt x="12456287" y="2861310"/>
                    <a:pt x="12333986" y="2981579"/>
                    <a:pt x="12183872" y="2981579"/>
                  </a:cubicBezTo>
                  <a:lnTo>
                    <a:pt x="12183872" y="2956179"/>
                  </a:lnTo>
                  <a:lnTo>
                    <a:pt x="12183872" y="2981579"/>
                  </a:lnTo>
                  <a:lnTo>
                    <a:pt x="272415" y="2981579"/>
                  </a:lnTo>
                  <a:lnTo>
                    <a:pt x="272415" y="2956179"/>
                  </a:lnTo>
                  <a:lnTo>
                    <a:pt x="272415" y="2981579"/>
                  </a:lnTo>
                  <a:cubicBezTo>
                    <a:pt x="122301" y="2981579"/>
                    <a:pt x="0" y="2861310"/>
                    <a:pt x="0" y="2712339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712339"/>
                  </a:lnTo>
                  <a:lnTo>
                    <a:pt x="25400" y="2712339"/>
                  </a:lnTo>
                  <a:lnTo>
                    <a:pt x="50800" y="2712339"/>
                  </a:lnTo>
                  <a:cubicBezTo>
                    <a:pt x="50800" y="2832608"/>
                    <a:pt x="149733" y="2930779"/>
                    <a:pt x="272415" y="2930779"/>
                  </a:cubicBezTo>
                  <a:lnTo>
                    <a:pt x="12183872" y="2930779"/>
                  </a:lnTo>
                  <a:cubicBezTo>
                    <a:pt x="12306553" y="2930779"/>
                    <a:pt x="12405487" y="2832608"/>
                    <a:pt x="12405487" y="2712339"/>
                  </a:cubicBezTo>
                  <a:lnTo>
                    <a:pt x="12405487" y="269240"/>
                  </a:lnTo>
                  <a:cubicBezTo>
                    <a:pt x="12405487" y="148971"/>
                    <a:pt x="12306553" y="50800"/>
                    <a:pt x="12183872" y="50800"/>
                  </a:cubicBezTo>
                  <a:lnTo>
                    <a:pt x="272415" y="50800"/>
                  </a:lnTo>
                  <a:lnTo>
                    <a:pt x="272415" y="25400"/>
                  </a:lnTo>
                  <a:lnTo>
                    <a:pt x="272415" y="50800"/>
                  </a:lnTo>
                  <a:cubicBezTo>
                    <a:pt x="149733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898016" y="4322416"/>
            <a:ext cx="152400" cy="2198046"/>
            <a:chOff x="0" y="0"/>
            <a:chExt cx="203200" cy="29307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3200" cy="2930652"/>
            </a:xfrm>
            <a:custGeom>
              <a:avLst/>
              <a:gdLst/>
              <a:ahLst/>
              <a:cxnLst/>
              <a:rect l="l" t="t" r="r" b="b"/>
              <a:pathLst>
                <a:path w="203200" h="2930652">
                  <a:moveTo>
                    <a:pt x="0" y="60706"/>
                  </a:moveTo>
                  <a:cubicBezTo>
                    <a:pt x="0" y="27178"/>
                    <a:pt x="27178" y="0"/>
                    <a:pt x="60706" y="0"/>
                  </a:cubicBezTo>
                  <a:lnTo>
                    <a:pt x="142367" y="0"/>
                  </a:lnTo>
                  <a:cubicBezTo>
                    <a:pt x="176022" y="0"/>
                    <a:pt x="203200" y="27178"/>
                    <a:pt x="203200" y="60706"/>
                  </a:cubicBezTo>
                  <a:lnTo>
                    <a:pt x="203200" y="2869946"/>
                  </a:lnTo>
                  <a:cubicBezTo>
                    <a:pt x="203200" y="2903474"/>
                    <a:pt x="176022" y="2930652"/>
                    <a:pt x="142494" y="2930652"/>
                  </a:cubicBezTo>
                  <a:lnTo>
                    <a:pt x="60706" y="2930652"/>
                  </a:lnTo>
                  <a:cubicBezTo>
                    <a:pt x="27178" y="2930652"/>
                    <a:pt x="0" y="2903474"/>
                    <a:pt x="0" y="2869946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7917066" y="6800250"/>
            <a:ext cx="9342234" cy="2236146"/>
            <a:chOff x="0" y="0"/>
            <a:chExt cx="12456312" cy="2981528"/>
          </a:xfrm>
        </p:grpSpPr>
        <p:sp>
          <p:nvSpPr>
            <p:cNvPr id="13" name="Freeform 13"/>
            <p:cNvSpPr/>
            <p:nvPr/>
          </p:nvSpPr>
          <p:spPr>
            <a:xfrm>
              <a:off x="25400" y="25400"/>
              <a:ext cx="12405487" cy="2930779"/>
            </a:xfrm>
            <a:custGeom>
              <a:avLst/>
              <a:gdLst/>
              <a:ahLst/>
              <a:cxnLst/>
              <a:rect l="l" t="t" r="r" b="b"/>
              <a:pathLst>
                <a:path w="12405487" h="2930779">
                  <a:moveTo>
                    <a:pt x="0" y="243840"/>
                  </a:moveTo>
                  <a:cubicBezTo>
                    <a:pt x="0" y="109220"/>
                    <a:pt x="110617" y="0"/>
                    <a:pt x="247015" y="0"/>
                  </a:cubicBezTo>
                  <a:lnTo>
                    <a:pt x="12158472" y="0"/>
                  </a:lnTo>
                  <a:cubicBezTo>
                    <a:pt x="12294870" y="0"/>
                    <a:pt x="12405487" y="109220"/>
                    <a:pt x="12405487" y="243840"/>
                  </a:cubicBezTo>
                  <a:lnTo>
                    <a:pt x="12405487" y="2686939"/>
                  </a:lnTo>
                  <a:cubicBezTo>
                    <a:pt x="12405487" y="2821559"/>
                    <a:pt x="12294870" y="2930779"/>
                    <a:pt x="12158472" y="2930779"/>
                  </a:cubicBezTo>
                  <a:lnTo>
                    <a:pt x="247015" y="2930779"/>
                  </a:lnTo>
                  <a:cubicBezTo>
                    <a:pt x="110617" y="2930779"/>
                    <a:pt x="0" y="2821559"/>
                    <a:pt x="0" y="26869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12456287" cy="2981579"/>
            </a:xfrm>
            <a:custGeom>
              <a:avLst/>
              <a:gdLst/>
              <a:ahLst/>
              <a:cxnLst/>
              <a:rect l="l" t="t" r="r" b="b"/>
              <a:pathLst>
                <a:path w="12456287" h="2981579">
                  <a:moveTo>
                    <a:pt x="0" y="269240"/>
                  </a:moveTo>
                  <a:cubicBezTo>
                    <a:pt x="0" y="120269"/>
                    <a:pt x="122301" y="0"/>
                    <a:pt x="272415" y="0"/>
                  </a:cubicBezTo>
                  <a:lnTo>
                    <a:pt x="12183872" y="0"/>
                  </a:lnTo>
                  <a:lnTo>
                    <a:pt x="12183872" y="25400"/>
                  </a:lnTo>
                  <a:lnTo>
                    <a:pt x="12183872" y="0"/>
                  </a:lnTo>
                  <a:cubicBezTo>
                    <a:pt x="12333986" y="0"/>
                    <a:pt x="12456287" y="120269"/>
                    <a:pt x="12456287" y="269240"/>
                  </a:cubicBezTo>
                  <a:lnTo>
                    <a:pt x="12430887" y="269240"/>
                  </a:lnTo>
                  <a:lnTo>
                    <a:pt x="12456287" y="269240"/>
                  </a:lnTo>
                  <a:lnTo>
                    <a:pt x="12456287" y="2712339"/>
                  </a:lnTo>
                  <a:lnTo>
                    <a:pt x="12430887" y="2712339"/>
                  </a:lnTo>
                  <a:lnTo>
                    <a:pt x="12456287" y="2712339"/>
                  </a:lnTo>
                  <a:cubicBezTo>
                    <a:pt x="12456287" y="2861310"/>
                    <a:pt x="12333986" y="2981579"/>
                    <a:pt x="12183872" y="2981579"/>
                  </a:cubicBezTo>
                  <a:lnTo>
                    <a:pt x="12183872" y="2956179"/>
                  </a:lnTo>
                  <a:lnTo>
                    <a:pt x="12183872" y="2981579"/>
                  </a:lnTo>
                  <a:lnTo>
                    <a:pt x="272415" y="2981579"/>
                  </a:lnTo>
                  <a:lnTo>
                    <a:pt x="272415" y="2956179"/>
                  </a:lnTo>
                  <a:lnTo>
                    <a:pt x="272415" y="2981579"/>
                  </a:lnTo>
                  <a:cubicBezTo>
                    <a:pt x="122301" y="2981579"/>
                    <a:pt x="0" y="2861310"/>
                    <a:pt x="0" y="2712339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712339"/>
                  </a:lnTo>
                  <a:lnTo>
                    <a:pt x="25400" y="2712339"/>
                  </a:lnTo>
                  <a:lnTo>
                    <a:pt x="50800" y="2712339"/>
                  </a:lnTo>
                  <a:cubicBezTo>
                    <a:pt x="50800" y="2832608"/>
                    <a:pt x="149733" y="2930779"/>
                    <a:pt x="272415" y="2930779"/>
                  </a:cubicBezTo>
                  <a:lnTo>
                    <a:pt x="12183872" y="2930779"/>
                  </a:lnTo>
                  <a:cubicBezTo>
                    <a:pt x="12306553" y="2930779"/>
                    <a:pt x="12405487" y="2832608"/>
                    <a:pt x="12405487" y="2712339"/>
                  </a:cubicBezTo>
                  <a:lnTo>
                    <a:pt x="12405487" y="269240"/>
                  </a:lnTo>
                  <a:cubicBezTo>
                    <a:pt x="12405487" y="148971"/>
                    <a:pt x="12306553" y="50800"/>
                    <a:pt x="12183872" y="50800"/>
                  </a:cubicBezTo>
                  <a:lnTo>
                    <a:pt x="272415" y="50800"/>
                  </a:lnTo>
                  <a:lnTo>
                    <a:pt x="272415" y="25400"/>
                  </a:lnTo>
                  <a:lnTo>
                    <a:pt x="272415" y="50800"/>
                  </a:lnTo>
                  <a:cubicBezTo>
                    <a:pt x="149733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7898016" y="6819300"/>
            <a:ext cx="152400" cy="2198046"/>
            <a:chOff x="0" y="0"/>
            <a:chExt cx="203200" cy="29307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3200" cy="2930652"/>
            </a:xfrm>
            <a:custGeom>
              <a:avLst/>
              <a:gdLst/>
              <a:ahLst/>
              <a:cxnLst/>
              <a:rect l="l" t="t" r="r" b="b"/>
              <a:pathLst>
                <a:path w="203200" h="2930652">
                  <a:moveTo>
                    <a:pt x="0" y="60706"/>
                  </a:moveTo>
                  <a:cubicBezTo>
                    <a:pt x="0" y="27178"/>
                    <a:pt x="27178" y="0"/>
                    <a:pt x="60706" y="0"/>
                  </a:cubicBezTo>
                  <a:lnTo>
                    <a:pt x="142367" y="0"/>
                  </a:lnTo>
                  <a:cubicBezTo>
                    <a:pt x="176022" y="0"/>
                    <a:pt x="203200" y="27178"/>
                    <a:pt x="203200" y="60706"/>
                  </a:cubicBezTo>
                  <a:lnTo>
                    <a:pt x="203200" y="2869946"/>
                  </a:lnTo>
                  <a:cubicBezTo>
                    <a:pt x="203200" y="2903474"/>
                    <a:pt x="176022" y="2930652"/>
                    <a:pt x="142494" y="2930652"/>
                  </a:cubicBezTo>
                  <a:lnTo>
                    <a:pt x="60706" y="2930652"/>
                  </a:lnTo>
                  <a:cubicBezTo>
                    <a:pt x="27178" y="2930652"/>
                    <a:pt x="0" y="2903474"/>
                    <a:pt x="0" y="2869946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-182336" y="2424042"/>
            <a:ext cx="8099401" cy="4952618"/>
          </a:xfrm>
          <a:custGeom>
            <a:avLst/>
            <a:gdLst/>
            <a:ahLst/>
            <a:cxnLst/>
            <a:rect l="l" t="t" r="r" b="b"/>
            <a:pathLst>
              <a:path w="8099401" h="4952618">
                <a:moveTo>
                  <a:pt x="0" y="0"/>
                </a:moveTo>
                <a:lnTo>
                  <a:pt x="8099402" y="0"/>
                </a:lnTo>
                <a:lnTo>
                  <a:pt x="8099402" y="4952618"/>
                </a:lnTo>
                <a:lnTo>
                  <a:pt x="0" y="4952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0085" b="-10938"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7917066" y="734168"/>
            <a:ext cx="7667920" cy="89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Ethical Problems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92125" y="2157708"/>
            <a:ext cx="3451327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Manipulation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92125" y="2711196"/>
            <a:ext cx="8506416" cy="970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Users are nudged into decisions that benefit the company, not themselves — often without realizing it.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92125" y="4654591"/>
            <a:ext cx="3846909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Lack of Transparency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92125" y="5208089"/>
            <a:ext cx="8506416" cy="970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Key information — pricing, terms, cancellation policies — is hidden or presented confusingly.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92125" y="7151484"/>
            <a:ext cx="3451327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Loss of Trust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92125" y="7704973"/>
            <a:ext cx="8506416" cy="970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When users feel tricked, they leave negative reviews, share bad experiences, and never return.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28700" y="1270997"/>
            <a:ext cx="8654429" cy="172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When Dark Patterns Break the Law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205331"/>
            <a:ext cx="7687866" cy="1402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</a:pPr>
            <a:r>
              <a:rPr lang="en-US" sz="24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Regulators are cracking down. Several high-profile companies have faced fines for using deceptive UI patterns.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817262"/>
            <a:ext cx="7687866" cy="2831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3261" lvl="1" indent="-186630" algn="l">
              <a:lnSpc>
                <a:spcPts val="3777"/>
              </a:lnSpc>
              <a:buFont typeface="Arial"/>
              <a:buChar char="•"/>
            </a:pPr>
            <a:r>
              <a:rPr lang="en-US" sz="2475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Consumer law violations</a:t>
            </a:r>
            <a:r>
              <a:rPr lang="en-US" sz="24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misleading users breaches consumer protection regulations in many countries</a:t>
            </a:r>
          </a:p>
          <a:p>
            <a:pPr marL="373261" lvl="1" indent="-186630" algn="l">
              <a:lnSpc>
                <a:spcPts val="3777"/>
              </a:lnSpc>
              <a:buFont typeface="Arial"/>
              <a:buChar char="•"/>
            </a:pPr>
            <a:r>
              <a:rPr lang="en-US" sz="2475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Billing without consent</a:t>
            </a:r>
            <a:r>
              <a:rPr lang="en-US" sz="24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charging users who didn't clearly agree is legally actionable</a:t>
            </a:r>
          </a:p>
          <a:p>
            <a:pPr marL="373261" lvl="1" indent="-186630" algn="l">
              <a:lnSpc>
                <a:spcPts val="3777"/>
              </a:lnSpc>
              <a:buFont typeface="Arial"/>
              <a:buChar char="•"/>
            </a:pPr>
            <a:r>
              <a:rPr lang="en-US" sz="2475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False advertising</a:t>
            </a:r>
            <a:r>
              <a:rPr lang="en-US" sz="24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fake urgency and inflated scarcity claims can constitute fraud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529915" y="1299572"/>
            <a:ext cx="7687866" cy="7687866"/>
            <a:chOff x="0" y="0"/>
            <a:chExt cx="10250488" cy="10250488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0250551" cy="10250551"/>
            </a:xfrm>
            <a:custGeom>
              <a:avLst/>
              <a:gdLst/>
              <a:ahLst/>
              <a:cxnLst/>
              <a:rect l="l" t="t" r="r" b="b"/>
              <a:pathLst>
                <a:path w="10250551" h="10250551">
                  <a:moveTo>
                    <a:pt x="0" y="0"/>
                  </a:moveTo>
                  <a:lnTo>
                    <a:pt x="10250551" y="0"/>
                  </a:lnTo>
                  <a:lnTo>
                    <a:pt x="10250551" y="10250551"/>
                  </a:lnTo>
                  <a:lnTo>
                    <a:pt x="0" y="10250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9529915" y="1299572"/>
            <a:ext cx="7687866" cy="7687866"/>
            <a:chOff x="0" y="0"/>
            <a:chExt cx="10250488" cy="10250488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10250551" cy="10250551"/>
            </a:xfrm>
            <a:custGeom>
              <a:avLst/>
              <a:gdLst/>
              <a:ahLst/>
              <a:cxnLst/>
              <a:rect l="l" t="t" r="r" b="b"/>
              <a:pathLst>
                <a:path w="10250551" h="10250551">
                  <a:moveTo>
                    <a:pt x="0" y="0"/>
                  </a:moveTo>
                  <a:lnTo>
                    <a:pt x="10250551" y="0"/>
                  </a:lnTo>
                  <a:lnTo>
                    <a:pt x="10250551" y="10250551"/>
                  </a:lnTo>
                  <a:lnTo>
                    <a:pt x="0" y="10250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2933" y="888206"/>
            <a:ext cx="9304134" cy="1754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Core Dilemma: Profit vs. Fairness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2810618"/>
            <a:ext cx="9304134" cy="4243683"/>
            <a:chOff x="0" y="0"/>
            <a:chExt cx="12405512" cy="56582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405614" cy="5658358"/>
            </a:xfrm>
            <a:custGeom>
              <a:avLst/>
              <a:gdLst/>
              <a:ahLst/>
              <a:cxnLst/>
              <a:rect l="l" t="t" r="r" b="b"/>
              <a:pathLst>
                <a:path w="12405614" h="5658358">
                  <a:moveTo>
                    <a:pt x="0" y="60833"/>
                  </a:moveTo>
                  <a:cubicBezTo>
                    <a:pt x="0" y="27178"/>
                    <a:pt x="27178" y="0"/>
                    <a:pt x="60833" y="0"/>
                  </a:cubicBezTo>
                  <a:lnTo>
                    <a:pt x="12344781" y="0"/>
                  </a:lnTo>
                  <a:cubicBezTo>
                    <a:pt x="12378310" y="0"/>
                    <a:pt x="12405614" y="27178"/>
                    <a:pt x="12405614" y="60833"/>
                  </a:cubicBezTo>
                  <a:lnTo>
                    <a:pt x="12405614" y="5597525"/>
                  </a:lnTo>
                  <a:cubicBezTo>
                    <a:pt x="12405614" y="5631053"/>
                    <a:pt x="12378437" y="5658358"/>
                    <a:pt x="12344781" y="5658358"/>
                  </a:cubicBezTo>
                  <a:lnTo>
                    <a:pt x="60833" y="5658358"/>
                  </a:lnTo>
                  <a:cubicBezTo>
                    <a:pt x="27305" y="5658358"/>
                    <a:pt x="0" y="5631180"/>
                    <a:pt x="0" y="5597525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028700" y="2810618"/>
            <a:ext cx="9304134" cy="2121846"/>
            <a:chOff x="0" y="0"/>
            <a:chExt cx="12405512" cy="28291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405488" cy="2829052"/>
            </a:xfrm>
            <a:custGeom>
              <a:avLst/>
              <a:gdLst/>
              <a:ahLst/>
              <a:cxnLst/>
              <a:rect l="l" t="t" r="r" b="b"/>
              <a:pathLst>
                <a:path w="12405488" h="2829052">
                  <a:moveTo>
                    <a:pt x="0" y="60706"/>
                  </a:moveTo>
                  <a:cubicBezTo>
                    <a:pt x="0" y="27178"/>
                    <a:pt x="27178" y="0"/>
                    <a:pt x="60706" y="0"/>
                  </a:cubicBezTo>
                  <a:lnTo>
                    <a:pt x="12344781" y="0"/>
                  </a:lnTo>
                  <a:cubicBezTo>
                    <a:pt x="12378310" y="0"/>
                    <a:pt x="12405488" y="27178"/>
                    <a:pt x="12405488" y="60706"/>
                  </a:cubicBezTo>
                  <a:lnTo>
                    <a:pt x="12405488" y="2768346"/>
                  </a:lnTo>
                  <a:cubicBezTo>
                    <a:pt x="12405488" y="2801874"/>
                    <a:pt x="12378310" y="2829052"/>
                    <a:pt x="12344781" y="2829052"/>
                  </a:cubicBezTo>
                  <a:lnTo>
                    <a:pt x="60706" y="2829052"/>
                  </a:lnTo>
                  <a:cubicBezTo>
                    <a:pt x="27178" y="2829052"/>
                    <a:pt x="0" y="2801874"/>
                    <a:pt x="0" y="2768346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028700" y="4932464"/>
            <a:ext cx="9304134" cy="2121846"/>
            <a:chOff x="0" y="0"/>
            <a:chExt cx="12405512" cy="28291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405487" cy="2829179"/>
            </a:xfrm>
            <a:custGeom>
              <a:avLst/>
              <a:gdLst/>
              <a:ahLst/>
              <a:cxnLst/>
              <a:rect l="l" t="t" r="r" b="b"/>
              <a:pathLst>
                <a:path w="12405487" h="2829179">
                  <a:moveTo>
                    <a:pt x="0" y="0"/>
                  </a:moveTo>
                  <a:lnTo>
                    <a:pt x="12405487" y="0"/>
                  </a:lnTo>
                  <a:lnTo>
                    <a:pt x="12405487" y="2829179"/>
                  </a:lnTo>
                  <a:lnTo>
                    <a:pt x="0" y="2829179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028700" y="4932464"/>
            <a:ext cx="9304134" cy="38100"/>
            <a:chOff x="0" y="0"/>
            <a:chExt cx="12405512" cy="50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405487" cy="50800"/>
            </a:xfrm>
            <a:custGeom>
              <a:avLst/>
              <a:gdLst/>
              <a:ahLst/>
              <a:cxnLst/>
              <a:rect l="l" t="t" r="r" b="b"/>
              <a:pathLst>
                <a:path w="12405487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380087" y="0"/>
                  </a:lnTo>
                  <a:cubicBezTo>
                    <a:pt x="12394057" y="0"/>
                    <a:pt x="12405487" y="11430"/>
                    <a:pt x="12405487" y="25400"/>
                  </a:cubicBezTo>
                  <a:cubicBezTo>
                    <a:pt x="12405487" y="39370"/>
                    <a:pt x="12394057" y="50800"/>
                    <a:pt x="12380087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28700" y="7390505"/>
            <a:ext cx="9304134" cy="1699470"/>
            <a:chOff x="0" y="0"/>
            <a:chExt cx="12405512" cy="226595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405488" cy="2265934"/>
            </a:xfrm>
            <a:custGeom>
              <a:avLst/>
              <a:gdLst/>
              <a:ahLst/>
              <a:cxnLst/>
              <a:rect l="l" t="t" r="r" b="b"/>
              <a:pathLst>
                <a:path w="12405488" h="2265934">
                  <a:moveTo>
                    <a:pt x="0" y="60706"/>
                  </a:moveTo>
                  <a:cubicBezTo>
                    <a:pt x="0" y="27178"/>
                    <a:pt x="27178" y="0"/>
                    <a:pt x="60706" y="0"/>
                  </a:cubicBezTo>
                  <a:lnTo>
                    <a:pt x="12344781" y="0"/>
                  </a:lnTo>
                  <a:cubicBezTo>
                    <a:pt x="12378310" y="0"/>
                    <a:pt x="12405488" y="27178"/>
                    <a:pt x="12405488" y="60706"/>
                  </a:cubicBezTo>
                  <a:lnTo>
                    <a:pt x="12405488" y="2205228"/>
                  </a:lnTo>
                  <a:cubicBezTo>
                    <a:pt x="12405488" y="2238756"/>
                    <a:pt x="12378310" y="2265934"/>
                    <a:pt x="12344781" y="2265934"/>
                  </a:cubicBezTo>
                  <a:lnTo>
                    <a:pt x="60706" y="2265934"/>
                  </a:lnTo>
                  <a:cubicBezTo>
                    <a:pt x="27178" y="2265934"/>
                    <a:pt x="0" y="2238756"/>
                    <a:pt x="0" y="2205228"/>
                  </a:cubicBezTo>
                  <a:close/>
                </a:path>
              </a:pathLst>
            </a:custGeom>
            <a:solidFill>
              <a:srgbClr val="D6D7DC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332309" y="7818692"/>
            <a:ext cx="379514" cy="303609"/>
            <a:chOff x="0" y="0"/>
            <a:chExt cx="506019" cy="404812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505968" cy="404876"/>
            </a:xfrm>
            <a:custGeom>
              <a:avLst/>
              <a:gdLst/>
              <a:ahLst/>
              <a:cxnLst/>
              <a:rect l="l" t="t" r="r" b="b"/>
              <a:pathLst>
                <a:path w="505968" h="404876">
                  <a:moveTo>
                    <a:pt x="0" y="0"/>
                  </a:moveTo>
                  <a:lnTo>
                    <a:pt x="505968" y="0"/>
                  </a:lnTo>
                  <a:lnTo>
                    <a:pt x="505968" y="404876"/>
                  </a:lnTo>
                  <a:lnTo>
                    <a:pt x="0" y="404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9" b="15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1530326" y="1450359"/>
            <a:ext cx="6056288" cy="7571429"/>
          </a:xfrm>
          <a:custGeom>
            <a:avLst/>
            <a:gdLst/>
            <a:ahLst/>
            <a:cxnLst/>
            <a:rect l="l" t="t" r="r" b="b"/>
            <a:pathLst>
              <a:path w="6056288" h="7571429">
                <a:moveTo>
                  <a:pt x="0" y="0"/>
                </a:moveTo>
                <a:lnTo>
                  <a:pt x="6056288" y="0"/>
                </a:lnTo>
                <a:lnTo>
                  <a:pt x="6056288" y="7571429"/>
                </a:lnTo>
                <a:lnTo>
                  <a:pt x="0" y="75714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6569" b="-5214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332309" y="3104702"/>
            <a:ext cx="3867150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📈</a:t>
            </a:r>
            <a:r>
              <a:rPr lang="en-US" sz="2687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The Business Case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32309" y="3658200"/>
            <a:ext cx="8696916" cy="970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Dark patterns increase retention, reduce churn, and drive short-term revenue. Executives see the numbers go up.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32309" y="5226548"/>
            <a:ext cx="3696891" cy="410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⚖️</a:t>
            </a:r>
            <a:r>
              <a:rPr lang="en-US" sz="2687" b="1" dirty="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The Ethical Case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32309" y="5780037"/>
            <a:ext cx="8696916" cy="970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Users deserve honest, transparent design. Manipulation erodes trust and can damage a brand long-term.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015433" y="7698581"/>
            <a:ext cx="8013802" cy="970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37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real question: can a company be profitable </a:t>
            </a:r>
            <a:r>
              <a:rPr lang="en-US" sz="2375" i="1">
                <a:solidFill>
                  <a:srgbClr val="000000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and</a:t>
            </a:r>
            <a:r>
              <a:rPr lang="en-US" sz="237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ethical? The answer is yes — but it requires intentional design choices.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79744" y="1354036"/>
            <a:ext cx="12633722" cy="905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Who's Affected? The Stakeholders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1079744" y="2876255"/>
            <a:ext cx="771230" cy="771230"/>
          </a:xfrm>
          <a:custGeom>
            <a:avLst/>
            <a:gdLst/>
            <a:ahLst/>
            <a:cxnLst/>
            <a:rect l="l" t="t" r="r" b="b"/>
            <a:pathLst>
              <a:path w="771230" h="771230">
                <a:moveTo>
                  <a:pt x="0" y="0"/>
                </a:moveTo>
                <a:lnTo>
                  <a:pt x="771230" y="0"/>
                </a:lnTo>
                <a:lnTo>
                  <a:pt x="771230" y="771229"/>
                </a:lnTo>
                <a:lnTo>
                  <a:pt x="0" y="7712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8024" b="-802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79744" y="4014045"/>
            <a:ext cx="3506095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9744" y="4580182"/>
            <a:ext cx="7871374" cy="100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Students and learners who may be tricked into paying for things they don't want or can't easily cancel.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9336729" y="2876255"/>
            <a:ext cx="771230" cy="771230"/>
          </a:xfrm>
          <a:custGeom>
            <a:avLst/>
            <a:gdLst/>
            <a:ahLst/>
            <a:cxnLst/>
            <a:rect l="l" t="t" r="r" b="b"/>
            <a:pathLst>
              <a:path w="771230" h="771230">
                <a:moveTo>
                  <a:pt x="0" y="0"/>
                </a:moveTo>
                <a:lnTo>
                  <a:pt x="771230" y="0"/>
                </a:lnTo>
                <a:lnTo>
                  <a:pt x="771230" y="771229"/>
                </a:lnTo>
                <a:lnTo>
                  <a:pt x="0" y="7712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235" b="-1233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336729" y="4014045"/>
            <a:ext cx="3506095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Company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36729" y="4580182"/>
            <a:ext cx="7871517" cy="100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Platforms that benefit from dark patterns short-term but risk reputation and legal consequences.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079744" y="6198841"/>
            <a:ext cx="771230" cy="771230"/>
          </a:xfrm>
          <a:custGeom>
            <a:avLst/>
            <a:gdLst/>
            <a:ahLst/>
            <a:cxnLst/>
            <a:rect l="l" t="t" r="r" b="b"/>
            <a:pathLst>
              <a:path w="771230" h="771230">
                <a:moveTo>
                  <a:pt x="0" y="0"/>
                </a:moveTo>
                <a:lnTo>
                  <a:pt x="771230" y="0"/>
                </a:lnTo>
                <a:lnTo>
                  <a:pt x="771230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5431" r="-15431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79744" y="7336631"/>
            <a:ext cx="4371080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Developers &amp; Designers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9744" y="7902778"/>
            <a:ext cx="7871374" cy="100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people who build these interfaces — they have the power to choose ethical design.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9336729" y="6198841"/>
            <a:ext cx="771230" cy="771230"/>
          </a:xfrm>
          <a:custGeom>
            <a:avLst/>
            <a:gdLst/>
            <a:ahLst/>
            <a:cxnLst/>
            <a:rect l="l" t="t" r="r" b="b"/>
            <a:pathLst>
              <a:path w="771230" h="771230">
                <a:moveTo>
                  <a:pt x="0" y="0"/>
                </a:moveTo>
                <a:lnTo>
                  <a:pt x="771230" y="0"/>
                </a:lnTo>
                <a:lnTo>
                  <a:pt x="771230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235" b="-1233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336729" y="7336631"/>
            <a:ext cx="3506095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Regulators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36729" y="7902778"/>
            <a:ext cx="7871517" cy="100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Government bodies and consumer protection agencies enforcing fair practice laws.</a:t>
            </a:r>
          </a:p>
        </p:txBody>
      </p:sp>
      <p:sp>
        <p:nvSpPr>
          <p:cNvPr id="19" name="Freeform 19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5606057" y="1000125"/>
            <a:ext cx="7614299" cy="837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Two Paths Forward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545" y="3040561"/>
            <a:ext cx="8132264" cy="3917899"/>
            <a:chOff x="0" y="0"/>
            <a:chExt cx="10843019" cy="522386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843006" cy="5223891"/>
            </a:xfrm>
            <a:custGeom>
              <a:avLst/>
              <a:gdLst/>
              <a:ahLst/>
              <a:cxnLst/>
              <a:rect l="l" t="t" r="r" b="b"/>
              <a:pathLst>
                <a:path w="10843006" h="5223891">
                  <a:moveTo>
                    <a:pt x="0" y="61722"/>
                  </a:moveTo>
                  <a:cubicBezTo>
                    <a:pt x="0" y="27559"/>
                    <a:pt x="27559" y="0"/>
                    <a:pt x="61722" y="0"/>
                  </a:cubicBezTo>
                  <a:lnTo>
                    <a:pt x="10781284" y="0"/>
                  </a:lnTo>
                  <a:cubicBezTo>
                    <a:pt x="10815320" y="0"/>
                    <a:pt x="10843006" y="27559"/>
                    <a:pt x="10843006" y="61722"/>
                  </a:cubicBezTo>
                  <a:lnTo>
                    <a:pt x="10843006" y="5162169"/>
                  </a:lnTo>
                  <a:cubicBezTo>
                    <a:pt x="10843006" y="5196205"/>
                    <a:pt x="10815447" y="5223891"/>
                    <a:pt x="10781284" y="5223891"/>
                  </a:cubicBezTo>
                  <a:lnTo>
                    <a:pt x="61722" y="5223891"/>
                  </a:lnTo>
                  <a:cubicBezTo>
                    <a:pt x="27686" y="5223891"/>
                    <a:pt x="0" y="5196332"/>
                    <a:pt x="0" y="5162169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166070" y="3330026"/>
            <a:ext cx="3590429" cy="49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14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❌</a:t>
            </a:r>
            <a:r>
              <a:rPr lang="en-US" sz="314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Dark Patterns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6070" y="4019702"/>
            <a:ext cx="7515225" cy="2637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8504" lvl="1" indent="-209252" algn="l">
              <a:lnSpc>
                <a:spcPts val="4235"/>
              </a:lnSpc>
              <a:buFont typeface="Arial"/>
              <a:buChar char="•"/>
            </a:pPr>
            <a:r>
              <a:rPr lang="en-US" sz="2774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Hidden cancellation flows</a:t>
            </a:r>
          </a:p>
          <a:p>
            <a:pPr marL="418504" lvl="1" indent="-209252" algn="l">
              <a:lnSpc>
                <a:spcPts val="4235"/>
              </a:lnSpc>
              <a:buFont typeface="Arial"/>
              <a:buChar char="•"/>
            </a:pPr>
            <a:r>
              <a:rPr lang="en-US" sz="2774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Pre-checked auto-renewal</a:t>
            </a:r>
          </a:p>
          <a:p>
            <a:pPr marL="418504" lvl="1" indent="-209252" algn="l">
              <a:lnSpc>
                <a:spcPts val="4235"/>
              </a:lnSpc>
              <a:buFont typeface="Arial"/>
              <a:buChar char="•"/>
            </a:pPr>
            <a:r>
              <a:rPr lang="en-US" sz="2774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Fake countdown timers</a:t>
            </a:r>
          </a:p>
          <a:p>
            <a:pPr marL="418504" lvl="1" indent="-209252" algn="l">
              <a:lnSpc>
                <a:spcPts val="4235"/>
              </a:lnSpc>
              <a:buFont typeface="Arial"/>
              <a:buChar char="•"/>
            </a:pPr>
            <a:r>
              <a:rPr lang="en-US" sz="2774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Confusing pricing tiers</a:t>
            </a:r>
          </a:p>
          <a:p>
            <a:pPr marL="418504" lvl="1" indent="-209252" algn="l">
              <a:lnSpc>
                <a:spcPts val="4235"/>
              </a:lnSpc>
              <a:buFont typeface="Arial"/>
              <a:buChar char="•"/>
            </a:pPr>
            <a:r>
              <a:rPr lang="en-US" sz="2774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Requires phone call to cancel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29915" y="3330026"/>
            <a:ext cx="3690442" cy="49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14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✅ Ethical Design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29915" y="4019702"/>
            <a:ext cx="7687866" cy="2637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8504" lvl="1" indent="-209252" algn="l">
              <a:lnSpc>
                <a:spcPts val="4235"/>
              </a:lnSpc>
              <a:buFont typeface="Arial"/>
              <a:buChar char="•"/>
            </a:pPr>
            <a:r>
              <a:rPr lang="en-US" sz="2774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One-click cancellation</a:t>
            </a:r>
          </a:p>
          <a:p>
            <a:pPr marL="418504" lvl="1" indent="-209252" algn="l">
              <a:lnSpc>
                <a:spcPts val="4235"/>
              </a:lnSpc>
              <a:buFont typeface="Arial"/>
              <a:buChar char="•"/>
            </a:pPr>
            <a:r>
              <a:rPr lang="en-US" sz="2774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Opt-in (not opt-out) renewals</a:t>
            </a:r>
          </a:p>
          <a:p>
            <a:pPr marL="418504" lvl="1" indent="-209252" algn="l">
              <a:lnSpc>
                <a:spcPts val="4235"/>
              </a:lnSpc>
              <a:buFont typeface="Arial"/>
              <a:buChar char="•"/>
            </a:pPr>
            <a:r>
              <a:rPr lang="en-US" sz="2774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Transparent, honest messaging</a:t>
            </a:r>
          </a:p>
          <a:p>
            <a:pPr marL="418504" lvl="1" indent="-209252" algn="l">
              <a:lnSpc>
                <a:spcPts val="4235"/>
              </a:lnSpc>
              <a:buFont typeface="Arial"/>
              <a:buChar char="•"/>
            </a:pPr>
            <a:r>
              <a:rPr lang="en-US" sz="2774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Clear, upfront pricing</a:t>
            </a:r>
          </a:p>
          <a:p>
            <a:pPr marL="418504" lvl="1" indent="-209252" algn="l">
              <a:lnSpc>
                <a:spcPts val="4235"/>
              </a:lnSpc>
              <a:buFont typeface="Arial"/>
              <a:buChar char="•"/>
            </a:pPr>
            <a:r>
              <a:rPr lang="en-US" sz="2774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Self-service account management</a:t>
            </a:r>
          </a:p>
        </p:txBody>
      </p:sp>
      <p:sp>
        <p:nvSpPr>
          <p:cNvPr id="13" name="Freeform 13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8541" y="1002802"/>
            <a:ext cx="9472908" cy="1607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Solution: Design With Integrity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78541" y="3199809"/>
            <a:ext cx="4609805" cy="38100"/>
            <a:chOff x="0" y="0"/>
            <a:chExt cx="6146406" cy="50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46419" cy="50800"/>
            </a:xfrm>
            <a:custGeom>
              <a:avLst/>
              <a:gdLst/>
              <a:ahLst/>
              <a:cxnLst/>
              <a:rect l="l" t="t" r="r" b="b"/>
              <a:pathLst>
                <a:path w="6146419" h="50800">
                  <a:moveTo>
                    <a:pt x="0" y="0"/>
                  </a:moveTo>
                  <a:lnTo>
                    <a:pt x="6146419" y="0"/>
                  </a:lnTo>
                  <a:lnTo>
                    <a:pt x="614641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841654" y="3199809"/>
            <a:ext cx="4609805" cy="38100"/>
            <a:chOff x="0" y="0"/>
            <a:chExt cx="6146406" cy="50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146419" cy="50800"/>
            </a:xfrm>
            <a:custGeom>
              <a:avLst/>
              <a:gdLst/>
              <a:ahLst/>
              <a:cxnLst/>
              <a:rect l="l" t="t" r="r" b="b"/>
              <a:pathLst>
                <a:path w="6146419" h="50800">
                  <a:moveTo>
                    <a:pt x="0" y="0"/>
                  </a:moveTo>
                  <a:lnTo>
                    <a:pt x="6146419" y="0"/>
                  </a:lnTo>
                  <a:lnTo>
                    <a:pt x="614641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978541" y="5515427"/>
            <a:ext cx="9472908" cy="38100"/>
            <a:chOff x="0" y="0"/>
            <a:chExt cx="12630544" cy="50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630531" cy="50800"/>
            </a:xfrm>
            <a:custGeom>
              <a:avLst/>
              <a:gdLst/>
              <a:ahLst/>
              <a:cxnLst/>
              <a:rect l="l" t="t" r="r" b="b"/>
              <a:pathLst>
                <a:path w="12630531" h="50800">
                  <a:moveTo>
                    <a:pt x="0" y="0"/>
                  </a:moveTo>
                  <a:lnTo>
                    <a:pt x="12630531" y="0"/>
                  </a:lnTo>
                  <a:lnTo>
                    <a:pt x="1263053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78541" y="7574609"/>
            <a:ext cx="38100" cy="1369514"/>
            <a:chOff x="0" y="0"/>
            <a:chExt cx="50800" cy="182601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800" cy="1826006"/>
            </a:xfrm>
            <a:custGeom>
              <a:avLst/>
              <a:gdLst/>
              <a:ahLst/>
              <a:cxnLst/>
              <a:rect l="l" t="t" r="r" b="b"/>
              <a:pathLst>
                <a:path w="50800" h="1826006">
                  <a:moveTo>
                    <a:pt x="0" y="0"/>
                  </a:moveTo>
                  <a:lnTo>
                    <a:pt x="50800" y="0"/>
                  </a:lnTo>
                  <a:lnTo>
                    <a:pt x="50800" y="1826006"/>
                  </a:lnTo>
                  <a:lnTo>
                    <a:pt x="0" y="1826006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0708634" y="1715833"/>
            <a:ext cx="7174314" cy="6725271"/>
          </a:xfrm>
          <a:custGeom>
            <a:avLst/>
            <a:gdLst/>
            <a:ahLst/>
            <a:cxnLst/>
            <a:rect l="l" t="t" r="r" b="b"/>
            <a:pathLst>
              <a:path w="7174314" h="6725271">
                <a:moveTo>
                  <a:pt x="0" y="0"/>
                </a:moveTo>
                <a:lnTo>
                  <a:pt x="7174313" y="0"/>
                </a:lnTo>
                <a:lnTo>
                  <a:pt x="7174313" y="6725271"/>
                </a:lnTo>
                <a:lnTo>
                  <a:pt x="0" y="67252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9307" b="-7805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978541" y="2715216"/>
            <a:ext cx="559146" cy="397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187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8541" y="3406226"/>
            <a:ext cx="3177330" cy="406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Easy Cancellation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8541" y="3917156"/>
            <a:ext cx="4609805" cy="847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187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Let users cancel as easily as they signed up — no phone calls, no confusion.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841654" y="2715216"/>
            <a:ext cx="559146" cy="397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187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841654" y="3406226"/>
            <a:ext cx="3177330" cy="406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Clear Pricing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41654" y="3917156"/>
            <a:ext cx="4609805" cy="124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187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Show the full cost upfront, including renewal terms and any auto-renewal settings.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8541" y="5030843"/>
            <a:ext cx="559146" cy="397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187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8541" y="5721844"/>
            <a:ext cx="3177330" cy="406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Honest UI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8541" y="6232774"/>
            <a:ext cx="9472908" cy="847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187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Remove fake urgency, hidden options, and manipulative language from every screen.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97946" y="7811991"/>
            <a:ext cx="9053512" cy="847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187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Good design respects the user. When ethics and UX align, everyone wins — the user, the company, and the designer.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32406" y="3891500"/>
            <a:ext cx="12764794" cy="2418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501"/>
              </a:lnSpc>
              <a:spcBef>
                <a:spcPct val="0"/>
              </a:spcBef>
            </a:pPr>
            <a:r>
              <a:rPr lang="en-US" sz="15600" dirty="0">
                <a:solidFill>
                  <a:srgbClr val="0A0A0A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</Words>
  <Application>Microsoft Office PowerPoint</Application>
  <PresentationFormat>Custom</PresentationFormat>
  <Paragraphs>101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Source Sans 3 Italics</vt:lpstr>
      <vt:lpstr>Source Sans 3 Bold</vt:lpstr>
      <vt:lpstr>Calibri</vt:lpstr>
      <vt:lpstr>Montserrat Light</vt:lpstr>
      <vt:lpstr>Arial</vt:lpstr>
      <vt:lpstr>Montserrat Bold</vt:lpstr>
      <vt:lpstr>Dela Gothic One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Dark-Patterns-in-Online-Learning.pptx</dc:title>
  <cp:lastModifiedBy>692_Aditya_Baheti</cp:lastModifiedBy>
  <cp:revision>2</cp:revision>
  <dcterms:created xsi:type="dcterms:W3CDTF">2006-08-16T00:00:00Z</dcterms:created>
  <dcterms:modified xsi:type="dcterms:W3CDTF">2026-04-23T10:08:13Z</dcterms:modified>
  <dc:identifier>DAHHqZs9tNs</dc:identifier>
</cp:coreProperties>
</file>