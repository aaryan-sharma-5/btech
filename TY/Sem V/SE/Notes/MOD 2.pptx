
<file path=[Content_Types].xml><?xml version="1.0" encoding="utf-8"?>
<Types xmlns="http://schemas.openxmlformats.org/package/2006/content-types">
  <Default ContentType="image/x-wmf" Extension="wmf"/>
  <Default ContentType="application/vnd.openxmlformats-officedocument.vmlDrawing" Extension="vml"/>
  <Default ContentType="image/gif" Extension="gif"/>
  <Default ContentType="application/vnd.openxmlformats-officedocument.oleObject" Extension="bin"/>
  <Default ContentType="application/xml" Extension="xml"/>
  <Default ContentType="image/png" Extension="png"/>
  <Default ContentType="image/jpeg" Extension="jpeg"/>
  <Default ContentType="application/vnd.openxmlformats-package.relationships+xml" Extension="rels"/>
  <Default ContentType="image/x-emf" Extension="emf"/>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Layout+xml" PartName="/ppt/slideLayouts/slideLayout3.xml"/>
  <Override ContentType="application/vnd.openxmlformats-officedocument.presentationml.slideLayout+xml" PartName="/ppt/slideLayouts/slideLayout18.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22.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17.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xml" PartName="/ppt/slides/slide12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48.xml"/>
  <Override ContentType="application/vnd.openxmlformats-officedocument.presentationml.slide+xml" PartName="/ppt/slides/slide10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38.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68.xml"/>
  <Override ContentType="application/vnd.openxmlformats-officedocument.presentationml.slide+xml" PartName="/ppt/slides/slide156.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54.xml"/>
  <Override ContentType="application/vnd.openxmlformats-officedocument.presentationml.slide+xml" PartName="/ppt/slides/slide111.xml"/>
  <Override ContentType="application/vnd.openxmlformats-officedocument.presentationml.slide+xml" PartName="/ppt/slides/slide10.xml"/>
  <Override ContentType="application/vnd.openxmlformats-officedocument.presentationml.slide+xml" PartName="/ppt/slides/slide14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108.xml"/>
  <Override ContentType="application/vnd.openxmlformats-officedocument.presentationml.slide+xml" PartName="/ppt/slides/slide12.xml"/>
  <Override ContentType="application/vnd.openxmlformats-officedocument.presentationml.slide+xml" PartName="/ppt/slides/slide152.xml"/>
  <Override ContentType="application/vnd.openxmlformats-officedocument.presentationml.slide+xml" PartName="/ppt/slides/slide98.xml"/>
  <Override ContentType="application/vnd.openxmlformats-officedocument.presentationml.slide+xml" PartName="/ppt/slides/slide125.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129.xml"/>
  <Override ContentType="application/vnd.openxmlformats-officedocument.presentationml.slide+xml" PartName="/ppt/slides/slide131.xml"/>
  <Override ContentType="application/vnd.openxmlformats-officedocument.presentationml.slide+xml" PartName="/ppt/slides/slide63.xml"/>
  <Override ContentType="application/vnd.openxmlformats-officedocument.presentationml.slide+xml" PartName="/ppt/slides/slide101.xml"/>
  <Override ContentType="application/vnd.openxmlformats-officedocument.presentationml.slide+xml" PartName="/ppt/slides/slide93.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13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114.xml"/>
  <Override ContentType="application/vnd.openxmlformats-officedocument.presentationml.slide+xml" PartName="/ppt/slides/slide127.xml"/>
  <Override ContentType="application/vnd.openxmlformats-officedocument.presentationml.slide+xml" PartName="/ppt/slides/slide31.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39.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55.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157.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30.xml"/>
  <Override ContentType="application/vnd.openxmlformats-officedocument.presentationml.slide+xml" PartName="/ppt/slides/slide147.xml"/>
  <Override ContentType="application/vnd.openxmlformats-officedocument.presentationml.slide+xml" PartName="/ppt/slides/slide16.xml"/>
  <Override ContentType="application/vnd.openxmlformats-officedocument.presentationml.slide+xml" PartName="/ppt/slides/slide104.xml"/>
  <Override ContentType="application/vnd.openxmlformats-officedocument.presentationml.slide+xml" PartName="/ppt/slides/slide97.xml"/>
  <Override ContentType="application/vnd.openxmlformats-officedocument.presentationml.slide+xml" PartName="/ppt/slides/slide24.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49.xml"/>
  <Override ContentType="application/vnd.openxmlformats-officedocument.presentationml.slide+xml" PartName="/ppt/slides/slide124.xml"/>
  <Override ContentType="application/vnd.openxmlformats-officedocument.presentationml.slide+xml" PartName="/ppt/slides/slide83.xml"/>
  <Override ContentType="application/vnd.openxmlformats-officedocument.presentationml.slide+xml" PartName="/ppt/slides/slide106.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151.xml"/>
  <Override ContentType="application/vnd.openxmlformats-officedocument.presentationml.slide+xml" PartName="/ppt/slides/slide126.xml"/>
  <Override ContentType="application/vnd.openxmlformats-officedocument.presentationml.slide+xml" PartName="/ppt/slides/slide30.xml"/>
  <Override ContentType="application/vnd.openxmlformats-officedocument.presentationml.slide+xml" PartName="/ppt/slides/slide134.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90.xml"/>
  <Override ContentType="application/vnd.openxmlformats-officedocument.presentationml.slide+xml" PartName="/ppt/slides/slide81.xml"/>
  <Override ContentType="application/vnd.openxmlformats-officedocument.presentationml.slide+xml" PartName="/ppt/slides/slide143.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128.xml"/>
  <Override ContentType="application/vnd.openxmlformats-officedocument.presentationml.slide+xml" PartName="/ppt/slides/slide158.xml"/>
  <Override ContentType="application/vnd.openxmlformats-officedocument.presentationml.slide+xml" PartName="/ppt/slides/slide92.xml"/>
  <Override ContentType="application/vnd.openxmlformats-officedocument.presentationml.slide+xml" PartName="/ppt/slides/slide115.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1.xml"/>
  <Override ContentType="application/vnd.openxmlformats-officedocument.theme+xml" PartName="/ppt/theme/theme1.xml"/>
  <Override ContentType="application/vnd.openxmlformats-officedocument.theme+xml" PartName="/ppt/theme/theme3.xml"/>
  <Override ContentType="application/vnd.openxmlformats-officedocument.theme+xml" PartName="/ppt/theme/theme2.xml"/>
  <Override ContentType="application/vnd.openxmlformats-officedocument.presentationml.viewProps+xml" PartName="/ppt/viewProps1.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 id="2147483660"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Lst>
  <p:sldSz cy="6858000" cx="9144000"/>
  <p:notesSz cx="6858000" cy="9144000"/>
  <p:defaultTextStyle>
    <a:defPPr lvl="0">
      <a:defRPr lang="en-US"/>
    </a:defPPr>
    <a:lvl1pPr defTabSz="914400" eaLnBrk="1" hangingPunct="1" latinLnBrk="0" lvl="0" marL="0" rtl="0" algn="l">
      <a:defRPr kern="1200" sz="1800">
        <a:solidFill>
          <a:schemeClr val="tx1"/>
        </a:solidFill>
        <a:latin typeface="+mn-lt"/>
        <a:ea typeface="+mn-ea"/>
        <a:cs typeface="+mn-cs"/>
      </a:defRPr>
    </a:lvl1pPr>
    <a:lvl2pPr defTabSz="914400" eaLnBrk="1" hangingPunct="1" latinLnBrk="0" lvl="1" marL="457200" rtl="0" algn="l">
      <a:defRPr kern="1200" sz="1800">
        <a:solidFill>
          <a:schemeClr val="tx1"/>
        </a:solidFill>
        <a:latin typeface="+mn-lt"/>
        <a:ea typeface="+mn-ea"/>
        <a:cs typeface="+mn-cs"/>
      </a:defRPr>
    </a:lvl2pPr>
    <a:lvl3pPr defTabSz="914400" eaLnBrk="1" hangingPunct="1" latinLnBrk="0" lvl="2" marL="914400" rtl="0" algn="l">
      <a:defRPr kern="1200" sz="1800">
        <a:solidFill>
          <a:schemeClr val="tx1"/>
        </a:solidFill>
        <a:latin typeface="+mn-lt"/>
        <a:ea typeface="+mn-ea"/>
        <a:cs typeface="+mn-cs"/>
      </a:defRPr>
    </a:lvl3pPr>
    <a:lvl4pPr defTabSz="914400" eaLnBrk="1" hangingPunct="1" latinLnBrk="0" lvl="3" marL="1371600" rtl="0" algn="l">
      <a:defRPr kern="1200" sz="1800">
        <a:solidFill>
          <a:schemeClr val="tx1"/>
        </a:solidFill>
        <a:latin typeface="+mn-lt"/>
        <a:ea typeface="+mn-ea"/>
        <a:cs typeface="+mn-cs"/>
      </a:defRPr>
    </a:lvl4pPr>
    <a:lvl5pPr defTabSz="914400" eaLnBrk="1" hangingPunct="1" latinLnBrk="0" lvl="4" marL="1828800" rtl="0" algn="l">
      <a:defRPr kern="1200" sz="1800">
        <a:solidFill>
          <a:schemeClr val="tx1"/>
        </a:solidFill>
        <a:latin typeface="+mn-lt"/>
        <a:ea typeface="+mn-ea"/>
        <a:cs typeface="+mn-cs"/>
      </a:defRPr>
    </a:lvl5pPr>
    <a:lvl6pPr defTabSz="914400" eaLnBrk="1" hangingPunct="1" latinLnBrk="0" lvl="5" marL="2286000" rtl="0" algn="l">
      <a:defRPr kern="1200" sz="1800">
        <a:solidFill>
          <a:schemeClr val="tx1"/>
        </a:solidFill>
        <a:latin typeface="+mn-lt"/>
        <a:ea typeface="+mn-ea"/>
        <a:cs typeface="+mn-cs"/>
      </a:defRPr>
    </a:lvl6pPr>
    <a:lvl7pPr defTabSz="914400" eaLnBrk="1" hangingPunct="1" latinLnBrk="0" lvl="6" marL="2743200" rtl="0" algn="l">
      <a:defRPr kern="1200" sz="1800">
        <a:solidFill>
          <a:schemeClr val="tx1"/>
        </a:solidFill>
        <a:latin typeface="+mn-lt"/>
        <a:ea typeface="+mn-ea"/>
        <a:cs typeface="+mn-cs"/>
      </a:defRPr>
    </a:lvl7pPr>
    <a:lvl8pPr defTabSz="914400" eaLnBrk="1" hangingPunct="1" latinLnBrk="0" lvl="7" marL="3200400" rtl="0" algn="l">
      <a:defRPr kern="1200" sz="1800">
        <a:solidFill>
          <a:schemeClr val="tx1"/>
        </a:solidFill>
        <a:latin typeface="+mn-lt"/>
        <a:ea typeface="+mn-ea"/>
        <a:cs typeface="+mn-cs"/>
      </a:defRPr>
    </a:lvl8pPr>
    <a:lvl9pPr defTabSz="914400" eaLnBrk="1" hangingPunct="1" latinLnBrk="0" lvl="8" marL="3657600" rtl="0" algn="l">
      <a:defRPr kern="1200" sz="1800">
        <a:solidFill>
          <a:schemeClr val="tx1"/>
        </a:solidFill>
        <a:latin typeface="+mn-lt"/>
        <a:ea typeface="+mn-ea"/>
        <a:cs typeface="+mn-cs"/>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1.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1.xml><?xml version="1.0" encoding="utf-8"?>
<a:tblStyleLst xmlns:a="http://schemas.openxmlformats.org/drawingml/2006/main" xmlns:r="http://schemas.openxmlformats.org/officeDocument/2006/relationships" def="{90651C3A-4460-11DB-9652-00E08161165F}">
  <a:tblStyle styleId="{5C22544A-7EE6-4342-B048-85BDC9FD1C3A}" styleName="Medium Style 2 - Accent 1">
    <a:wholeTbl>
      <a:tcTxStyle>
        <a:fontRef idx="minor">
          <a:prstClr val="black"/>
        </a:fontRef>
        <a:schemeClr val="dk1"/>
      </a:tcTxStyle>
      <a:tcStyle>
        <a:tcBdr>
          <a:left>
            <a:ln cmpd="sng" w="12700">
              <a:solidFill>
                <a:schemeClr val="lt1"/>
              </a:solidFill>
            </a:ln>
          </a:left>
          <a:right>
            <a:ln cmpd="sng" w="12700">
              <a:solidFill>
                <a:schemeClr val="lt1"/>
              </a:solidFill>
            </a:ln>
          </a:right>
          <a:top>
            <a:ln cmpd="sng" w="12700">
              <a:solidFill>
                <a:schemeClr val="lt1"/>
              </a:solidFill>
            </a:ln>
          </a:top>
          <a:bottom>
            <a:ln cmpd="sng" w="12700">
              <a:solidFill>
                <a:schemeClr val="lt1"/>
              </a:solidFill>
            </a:ln>
          </a:bottom>
          <a:insideH>
            <a:ln cmpd="sng" w="12700">
              <a:solidFill>
                <a:schemeClr val="lt1"/>
              </a:solidFill>
            </a:ln>
          </a:insideH>
          <a:insideV>
            <a:ln cmpd="sng" w="12700">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cmpd="sng" w="38100">
              <a:solidFill>
                <a:schemeClr val="lt1"/>
              </a:solidFill>
            </a:ln>
          </a:top>
        </a:tcBdr>
        <a:fill>
          <a:solidFill>
            <a:schemeClr val="accent1"/>
          </a:solidFill>
        </a:fill>
      </a:tcStyle>
    </a:lastRow>
    <a:firstRow>
      <a:tcTxStyle b="on">
        <a:fontRef idx="minor">
          <a:prstClr val="black"/>
        </a:fontRef>
        <a:schemeClr val="lt1"/>
      </a:tcTxStyle>
      <a:tcStyle>
        <a:tcBdr>
          <a:bottom>
            <a:ln cmpd="sng" w="38100">
              <a:solidFill>
                <a:schemeClr val="lt1"/>
              </a:solidFill>
            </a:ln>
          </a:bottom>
        </a:tcBdr>
        <a:fill>
          <a:solidFill>
            <a:schemeClr val="accent1"/>
          </a:solidFill>
        </a:fill>
      </a:tcStyle>
    </a:firstRow>
  </a:tblStyle>
</a:tblStyleLst>
</file>

<file path=ppt/viewProps1.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slide" Target="slides/slide37.xml"/><Relationship Id="rId43" Type="http://schemas.openxmlformats.org/officeDocument/2006/relationships/slide" Target="slides/slide36.xml"/><Relationship Id="rId46" Type="http://schemas.openxmlformats.org/officeDocument/2006/relationships/slide" Target="slides/slide39.xml"/><Relationship Id="rId45" Type="http://schemas.openxmlformats.org/officeDocument/2006/relationships/slide" Target="slides/slide38.xml"/><Relationship Id="rId107" Type="http://schemas.openxmlformats.org/officeDocument/2006/relationships/slide" Target="slides/slide100.xml"/><Relationship Id="rId106" Type="http://schemas.openxmlformats.org/officeDocument/2006/relationships/slide" Target="slides/slide99.xml"/><Relationship Id="rId105" Type="http://schemas.openxmlformats.org/officeDocument/2006/relationships/slide" Target="slides/slide98.xml"/><Relationship Id="rId104" Type="http://schemas.openxmlformats.org/officeDocument/2006/relationships/slide" Target="slides/slide97.xml"/><Relationship Id="rId109" Type="http://schemas.openxmlformats.org/officeDocument/2006/relationships/slide" Target="slides/slide102.xml"/><Relationship Id="rId108" Type="http://schemas.openxmlformats.org/officeDocument/2006/relationships/slide" Target="slides/slide101.xml"/><Relationship Id="rId48" Type="http://schemas.openxmlformats.org/officeDocument/2006/relationships/slide" Target="slides/slide41.xml"/><Relationship Id="rId47" Type="http://schemas.openxmlformats.org/officeDocument/2006/relationships/slide" Target="slides/slide40.xml"/><Relationship Id="rId49" Type="http://schemas.openxmlformats.org/officeDocument/2006/relationships/slide" Target="slides/slide42.xml"/><Relationship Id="rId103" Type="http://schemas.openxmlformats.org/officeDocument/2006/relationships/slide" Target="slides/slide96.xml"/><Relationship Id="rId102" Type="http://schemas.openxmlformats.org/officeDocument/2006/relationships/slide" Target="slides/slide95.xml"/><Relationship Id="rId101" Type="http://schemas.openxmlformats.org/officeDocument/2006/relationships/slide" Target="slides/slide94.xml"/><Relationship Id="rId100" Type="http://schemas.openxmlformats.org/officeDocument/2006/relationships/slide" Target="slides/slide93.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29" Type="http://schemas.openxmlformats.org/officeDocument/2006/relationships/slide" Target="slides/slide122.xml"/><Relationship Id="rId128" Type="http://schemas.openxmlformats.org/officeDocument/2006/relationships/slide" Target="slides/slide121.xml"/><Relationship Id="rId127" Type="http://schemas.openxmlformats.org/officeDocument/2006/relationships/slide" Target="slides/slide120.xml"/><Relationship Id="rId126" Type="http://schemas.openxmlformats.org/officeDocument/2006/relationships/slide" Target="slides/slide119.xml"/><Relationship Id="rId26" Type="http://schemas.openxmlformats.org/officeDocument/2006/relationships/slide" Target="slides/slide19.xml"/><Relationship Id="rId121" Type="http://schemas.openxmlformats.org/officeDocument/2006/relationships/slide" Target="slides/slide114.xml"/><Relationship Id="rId25" Type="http://schemas.openxmlformats.org/officeDocument/2006/relationships/slide" Target="slides/slide18.xml"/><Relationship Id="rId120" Type="http://schemas.openxmlformats.org/officeDocument/2006/relationships/slide" Target="slides/slide113.xml"/><Relationship Id="rId28" Type="http://schemas.openxmlformats.org/officeDocument/2006/relationships/slide" Target="slides/slide21.xml"/><Relationship Id="rId27" Type="http://schemas.openxmlformats.org/officeDocument/2006/relationships/slide" Target="slides/slide20.xml"/><Relationship Id="rId125" Type="http://schemas.openxmlformats.org/officeDocument/2006/relationships/slide" Target="slides/slide118.xml"/><Relationship Id="rId29" Type="http://schemas.openxmlformats.org/officeDocument/2006/relationships/slide" Target="slides/slide22.xml"/><Relationship Id="rId124" Type="http://schemas.openxmlformats.org/officeDocument/2006/relationships/slide" Target="slides/slide117.xml"/><Relationship Id="rId123" Type="http://schemas.openxmlformats.org/officeDocument/2006/relationships/slide" Target="slides/slide116.xml"/><Relationship Id="rId122" Type="http://schemas.openxmlformats.org/officeDocument/2006/relationships/slide" Target="slides/slide115.xml"/><Relationship Id="rId95" Type="http://schemas.openxmlformats.org/officeDocument/2006/relationships/slide" Target="slides/slide88.xml"/><Relationship Id="rId94" Type="http://schemas.openxmlformats.org/officeDocument/2006/relationships/slide" Target="slides/slide87.xml"/><Relationship Id="rId97" Type="http://schemas.openxmlformats.org/officeDocument/2006/relationships/slide" Target="slides/slide90.xml"/><Relationship Id="rId96" Type="http://schemas.openxmlformats.org/officeDocument/2006/relationships/slide" Target="slides/slide89.xml"/><Relationship Id="rId11" Type="http://schemas.openxmlformats.org/officeDocument/2006/relationships/slide" Target="slides/slide4.xml"/><Relationship Id="rId99" Type="http://schemas.openxmlformats.org/officeDocument/2006/relationships/slide" Target="slides/slide92.xml"/><Relationship Id="rId10" Type="http://schemas.openxmlformats.org/officeDocument/2006/relationships/slide" Target="slides/slide3.xml"/><Relationship Id="rId98" Type="http://schemas.openxmlformats.org/officeDocument/2006/relationships/slide" Target="slides/slide91.xml"/><Relationship Id="rId13" Type="http://schemas.openxmlformats.org/officeDocument/2006/relationships/slide" Target="slides/slide6.xml"/><Relationship Id="rId12" Type="http://schemas.openxmlformats.org/officeDocument/2006/relationships/slide" Target="slides/slide5.xml"/><Relationship Id="rId91" Type="http://schemas.openxmlformats.org/officeDocument/2006/relationships/slide" Target="slides/slide84.xml"/><Relationship Id="rId90" Type="http://schemas.openxmlformats.org/officeDocument/2006/relationships/slide" Target="slides/slide83.xml"/><Relationship Id="rId93" Type="http://schemas.openxmlformats.org/officeDocument/2006/relationships/slide" Target="slides/slide86.xml"/><Relationship Id="rId92" Type="http://schemas.openxmlformats.org/officeDocument/2006/relationships/slide" Target="slides/slide85.xml"/><Relationship Id="rId118" Type="http://schemas.openxmlformats.org/officeDocument/2006/relationships/slide" Target="slides/slide111.xml"/><Relationship Id="rId117" Type="http://schemas.openxmlformats.org/officeDocument/2006/relationships/slide" Target="slides/slide110.xml"/><Relationship Id="rId116" Type="http://schemas.openxmlformats.org/officeDocument/2006/relationships/slide" Target="slides/slide109.xml"/><Relationship Id="rId115" Type="http://schemas.openxmlformats.org/officeDocument/2006/relationships/slide" Target="slides/slide108.xml"/><Relationship Id="rId119" Type="http://schemas.openxmlformats.org/officeDocument/2006/relationships/slide" Target="slides/slide112.xml"/><Relationship Id="rId15" Type="http://schemas.openxmlformats.org/officeDocument/2006/relationships/slide" Target="slides/slide8.xml"/><Relationship Id="rId110" Type="http://schemas.openxmlformats.org/officeDocument/2006/relationships/slide" Target="slides/slide103.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14" Type="http://schemas.openxmlformats.org/officeDocument/2006/relationships/slide" Target="slides/slide107.xml"/><Relationship Id="rId18" Type="http://schemas.openxmlformats.org/officeDocument/2006/relationships/slide" Target="slides/slide11.xml"/><Relationship Id="rId113" Type="http://schemas.openxmlformats.org/officeDocument/2006/relationships/slide" Target="slides/slide106.xml"/><Relationship Id="rId112" Type="http://schemas.openxmlformats.org/officeDocument/2006/relationships/slide" Target="slides/slide105.xml"/><Relationship Id="rId111" Type="http://schemas.openxmlformats.org/officeDocument/2006/relationships/slide" Target="slides/slide104.xml"/><Relationship Id="rId84" Type="http://schemas.openxmlformats.org/officeDocument/2006/relationships/slide" Target="slides/slide77.xml"/><Relationship Id="rId83" Type="http://schemas.openxmlformats.org/officeDocument/2006/relationships/slide" Target="slides/slide76.xml"/><Relationship Id="rId86" Type="http://schemas.openxmlformats.org/officeDocument/2006/relationships/slide" Target="slides/slide79.xml"/><Relationship Id="rId85" Type="http://schemas.openxmlformats.org/officeDocument/2006/relationships/slide" Target="slides/slide78.xml"/><Relationship Id="rId88" Type="http://schemas.openxmlformats.org/officeDocument/2006/relationships/slide" Target="slides/slide81.xml"/><Relationship Id="rId150" Type="http://schemas.openxmlformats.org/officeDocument/2006/relationships/slide" Target="slides/slide143.xml"/><Relationship Id="rId87" Type="http://schemas.openxmlformats.org/officeDocument/2006/relationships/slide" Target="slides/slide80.xml"/><Relationship Id="rId89" Type="http://schemas.openxmlformats.org/officeDocument/2006/relationships/slide" Target="slides/slide82.xml"/><Relationship Id="rId80" Type="http://schemas.openxmlformats.org/officeDocument/2006/relationships/slide" Target="slides/slide73.xml"/><Relationship Id="rId82" Type="http://schemas.openxmlformats.org/officeDocument/2006/relationships/slide" Target="slides/slide75.xml"/><Relationship Id="rId81" Type="http://schemas.openxmlformats.org/officeDocument/2006/relationships/slide" Target="slides/slide74.xml"/><Relationship Id="rId1" Type="http://schemas.openxmlformats.org/officeDocument/2006/relationships/theme" Target="theme/theme1.xml"/><Relationship Id="rId2" Type="http://schemas.openxmlformats.org/officeDocument/2006/relationships/viewProps" Target="viewProps1.xml"/><Relationship Id="rId3" Type="http://schemas.openxmlformats.org/officeDocument/2006/relationships/presProps" Target="presProps1.xml"/><Relationship Id="rId149" Type="http://schemas.openxmlformats.org/officeDocument/2006/relationships/slide" Target="slides/slide142.xml"/><Relationship Id="rId4" Type="http://schemas.openxmlformats.org/officeDocument/2006/relationships/tableStyles" Target="tableStyles1.xml"/><Relationship Id="rId148" Type="http://schemas.openxmlformats.org/officeDocument/2006/relationships/slide" Target="slides/slide141.xml"/><Relationship Id="rId9" Type="http://schemas.openxmlformats.org/officeDocument/2006/relationships/slide" Target="slides/slide2.xml"/><Relationship Id="rId143" Type="http://schemas.openxmlformats.org/officeDocument/2006/relationships/slide" Target="slides/slide136.xml"/><Relationship Id="rId142" Type="http://schemas.openxmlformats.org/officeDocument/2006/relationships/slide" Target="slides/slide135.xml"/><Relationship Id="rId141" Type="http://schemas.openxmlformats.org/officeDocument/2006/relationships/slide" Target="slides/slide134.xml"/><Relationship Id="rId140" Type="http://schemas.openxmlformats.org/officeDocument/2006/relationships/slide" Target="slides/slide133.xml"/><Relationship Id="rId5" Type="http://schemas.openxmlformats.org/officeDocument/2006/relationships/slideMaster" Target="slideMasters/slideMaster1.xml"/><Relationship Id="rId147" Type="http://schemas.openxmlformats.org/officeDocument/2006/relationships/slide" Target="slides/slide140.xml"/><Relationship Id="rId6" Type="http://schemas.openxmlformats.org/officeDocument/2006/relationships/slideMaster" Target="slideMasters/slideMaster2.xml"/><Relationship Id="rId146" Type="http://schemas.openxmlformats.org/officeDocument/2006/relationships/slide" Target="slides/slide139.xml"/><Relationship Id="rId7" Type="http://schemas.openxmlformats.org/officeDocument/2006/relationships/notesMaster" Target="notesMasters/notesMaster1.xml"/><Relationship Id="rId145" Type="http://schemas.openxmlformats.org/officeDocument/2006/relationships/slide" Target="slides/slide138.xml"/><Relationship Id="rId8" Type="http://schemas.openxmlformats.org/officeDocument/2006/relationships/slide" Target="slides/slide1.xml"/><Relationship Id="rId144" Type="http://schemas.openxmlformats.org/officeDocument/2006/relationships/slide" Target="slides/slide137.xml"/><Relationship Id="rId73" Type="http://schemas.openxmlformats.org/officeDocument/2006/relationships/slide" Target="slides/slide66.xml"/><Relationship Id="rId72" Type="http://schemas.openxmlformats.org/officeDocument/2006/relationships/slide" Target="slides/slide65.xml"/><Relationship Id="rId75" Type="http://schemas.openxmlformats.org/officeDocument/2006/relationships/slide" Target="slides/slide68.xml"/><Relationship Id="rId74" Type="http://schemas.openxmlformats.org/officeDocument/2006/relationships/slide" Target="slides/slide67.xml"/><Relationship Id="rId77" Type="http://schemas.openxmlformats.org/officeDocument/2006/relationships/slide" Target="slides/slide70.xml"/><Relationship Id="rId76" Type="http://schemas.openxmlformats.org/officeDocument/2006/relationships/slide" Target="slides/slide69.xml"/><Relationship Id="rId79" Type="http://schemas.openxmlformats.org/officeDocument/2006/relationships/slide" Target="slides/slide72.xml"/><Relationship Id="rId78" Type="http://schemas.openxmlformats.org/officeDocument/2006/relationships/slide" Target="slides/slide71.xml"/><Relationship Id="rId71" Type="http://schemas.openxmlformats.org/officeDocument/2006/relationships/slide" Target="slides/slide64.xml"/><Relationship Id="rId70" Type="http://schemas.openxmlformats.org/officeDocument/2006/relationships/slide" Target="slides/slide63.xml"/><Relationship Id="rId139" Type="http://schemas.openxmlformats.org/officeDocument/2006/relationships/slide" Target="slides/slide132.xml"/><Relationship Id="rId138" Type="http://schemas.openxmlformats.org/officeDocument/2006/relationships/slide" Target="slides/slide131.xml"/><Relationship Id="rId137" Type="http://schemas.openxmlformats.org/officeDocument/2006/relationships/slide" Target="slides/slide130.xml"/><Relationship Id="rId132" Type="http://schemas.openxmlformats.org/officeDocument/2006/relationships/slide" Target="slides/slide125.xml"/><Relationship Id="rId131" Type="http://schemas.openxmlformats.org/officeDocument/2006/relationships/slide" Target="slides/slide124.xml"/><Relationship Id="rId130" Type="http://schemas.openxmlformats.org/officeDocument/2006/relationships/slide" Target="slides/slide123.xml"/><Relationship Id="rId136" Type="http://schemas.openxmlformats.org/officeDocument/2006/relationships/slide" Target="slides/slide129.xml"/><Relationship Id="rId135" Type="http://schemas.openxmlformats.org/officeDocument/2006/relationships/slide" Target="slides/slide128.xml"/><Relationship Id="rId134" Type="http://schemas.openxmlformats.org/officeDocument/2006/relationships/slide" Target="slides/slide127.xml"/><Relationship Id="rId133" Type="http://schemas.openxmlformats.org/officeDocument/2006/relationships/slide" Target="slides/slide126.xml"/><Relationship Id="rId62" Type="http://schemas.openxmlformats.org/officeDocument/2006/relationships/slide" Target="slides/slide55.xml"/><Relationship Id="rId61" Type="http://schemas.openxmlformats.org/officeDocument/2006/relationships/slide" Target="slides/slide54.xml"/><Relationship Id="rId64" Type="http://schemas.openxmlformats.org/officeDocument/2006/relationships/slide" Target="slides/slide57.xml"/><Relationship Id="rId63" Type="http://schemas.openxmlformats.org/officeDocument/2006/relationships/slide" Target="slides/slide56.xml"/><Relationship Id="rId66" Type="http://schemas.openxmlformats.org/officeDocument/2006/relationships/slide" Target="slides/slide59.xml"/><Relationship Id="rId65" Type="http://schemas.openxmlformats.org/officeDocument/2006/relationships/slide" Target="slides/slide58.xml"/><Relationship Id="rId68" Type="http://schemas.openxmlformats.org/officeDocument/2006/relationships/slide" Target="slides/slide61.xml"/><Relationship Id="rId67" Type="http://schemas.openxmlformats.org/officeDocument/2006/relationships/slide" Target="slides/slide60.xml"/><Relationship Id="rId60" Type="http://schemas.openxmlformats.org/officeDocument/2006/relationships/slide" Target="slides/slide53.xml"/><Relationship Id="rId165" Type="http://schemas.openxmlformats.org/officeDocument/2006/relationships/slide" Target="slides/slide158.xml"/><Relationship Id="rId69" Type="http://schemas.openxmlformats.org/officeDocument/2006/relationships/slide" Target="slides/slide62.xml"/><Relationship Id="rId164" Type="http://schemas.openxmlformats.org/officeDocument/2006/relationships/slide" Target="slides/slide157.xml"/><Relationship Id="rId163" Type="http://schemas.openxmlformats.org/officeDocument/2006/relationships/slide" Target="slides/slide156.xml"/><Relationship Id="rId162" Type="http://schemas.openxmlformats.org/officeDocument/2006/relationships/slide" Target="slides/slide155.xml"/><Relationship Id="rId51" Type="http://schemas.openxmlformats.org/officeDocument/2006/relationships/slide" Target="slides/slide44.xml"/><Relationship Id="rId50" Type="http://schemas.openxmlformats.org/officeDocument/2006/relationships/slide" Target="slides/slide43.xml"/><Relationship Id="rId53" Type="http://schemas.openxmlformats.org/officeDocument/2006/relationships/slide" Target="slides/slide46.xml"/><Relationship Id="rId52" Type="http://schemas.openxmlformats.org/officeDocument/2006/relationships/slide" Target="slides/slide45.xml"/><Relationship Id="rId55" Type="http://schemas.openxmlformats.org/officeDocument/2006/relationships/slide" Target="slides/slide48.xml"/><Relationship Id="rId161" Type="http://schemas.openxmlformats.org/officeDocument/2006/relationships/slide" Target="slides/slide154.xml"/><Relationship Id="rId54" Type="http://schemas.openxmlformats.org/officeDocument/2006/relationships/slide" Target="slides/slide47.xml"/><Relationship Id="rId160" Type="http://schemas.openxmlformats.org/officeDocument/2006/relationships/slide" Target="slides/slide153.xml"/><Relationship Id="rId57" Type="http://schemas.openxmlformats.org/officeDocument/2006/relationships/slide" Target="slides/slide50.xml"/><Relationship Id="rId56" Type="http://schemas.openxmlformats.org/officeDocument/2006/relationships/slide" Target="slides/slide49.xml"/><Relationship Id="rId159" Type="http://schemas.openxmlformats.org/officeDocument/2006/relationships/slide" Target="slides/slide152.xml"/><Relationship Id="rId59" Type="http://schemas.openxmlformats.org/officeDocument/2006/relationships/slide" Target="slides/slide52.xml"/><Relationship Id="rId154" Type="http://schemas.openxmlformats.org/officeDocument/2006/relationships/slide" Target="slides/slide147.xml"/><Relationship Id="rId58" Type="http://schemas.openxmlformats.org/officeDocument/2006/relationships/slide" Target="slides/slide51.xml"/><Relationship Id="rId153" Type="http://schemas.openxmlformats.org/officeDocument/2006/relationships/slide" Target="slides/slide146.xml"/><Relationship Id="rId152" Type="http://schemas.openxmlformats.org/officeDocument/2006/relationships/slide" Target="slides/slide145.xml"/><Relationship Id="rId151" Type="http://schemas.openxmlformats.org/officeDocument/2006/relationships/slide" Target="slides/slide144.xml"/><Relationship Id="rId158" Type="http://schemas.openxmlformats.org/officeDocument/2006/relationships/slide" Target="slides/slide151.xml"/><Relationship Id="rId157" Type="http://schemas.openxmlformats.org/officeDocument/2006/relationships/slide" Target="slides/slide150.xml"/><Relationship Id="rId156" Type="http://schemas.openxmlformats.org/officeDocument/2006/relationships/slide" Target="slides/slide149.xml"/><Relationship Id="rId155" Type="http://schemas.openxmlformats.org/officeDocument/2006/relationships/slide" Target="slides/slide148.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4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4073E02-B219-44B8-8675-3DDF62D93AFA}" type="datetimeFigureOut">
              <a:rPr lang="en-US" smtClean="0"/>
              <a:t>8/14/2017</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A0FC6C4-E783-4EAB-976E-D98196FE2963}" type="slidenum">
              <a:rPr lang="en-US" smtClean="0"/>
              <a:t>‹#›</a:t>
            </a:fld>
            <a:endParaRPr lang="en-US"/>
          </a:p>
        </p:txBody>
      </p:sp>
    </p:spTree>
    <p:extLst>
      <p:ext uri="{BB962C8B-B14F-4D97-AF65-F5344CB8AC3E}">
        <p14:creationId xmlns:p14="http://schemas.microsoft.com/office/powerpoint/2010/main" val="3487796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865"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6866"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889"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7890"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913"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8914"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937"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9938"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961"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0962"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985" name="Rectangle 1"/>
          <p:cNvSpPr>
            <a:spLocks noGrp="1" noRot="1" noChangeAspect="1" noChangeArrowheads="1" noTextEdit="1"/>
          </p:cNvSpPr>
          <p:nvPr>
            <p:ph type="sldImg"/>
          </p:nvPr>
        </p:nvSpPr>
        <p:spPr bwMode="auto">
          <a:xfrm>
            <a:off x="0" y="303213"/>
            <a:ext cx="1588" cy="1587"/>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986" name="Rectangle 2"/>
          <p:cNvSpPr txBox="1">
            <a:spLocks noGrp="1" noChangeArrowheads="1"/>
          </p:cNvSpPr>
          <p:nvPr>
            <p:ph type="body" idx="1"/>
          </p:nvPr>
        </p:nvSpPr>
        <p:spPr bwMode="auto">
          <a:xfrm>
            <a:off x="503238" y="4316413"/>
            <a:ext cx="5856287" cy="406082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A0FC6C4-E783-4EAB-976E-D98196FE2963}" type="slidenum">
              <a:rPr lang="en-US" smtClean="0"/>
              <a:t>143</a:t>
            </a:fld>
            <a:endParaRPr lang="en-US"/>
          </a:p>
        </p:txBody>
      </p:sp>
    </p:spTree>
    <p:extLst>
      <p:ext uri="{BB962C8B-B14F-4D97-AF65-F5344CB8AC3E}">
        <p14:creationId xmlns:p14="http://schemas.microsoft.com/office/powerpoint/2010/main" val="37183813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AA6F7DC-F191-49C1-804A-9E22A35A4E1D}" type="datetimeFigureOut">
              <a:rPr lang="en-US" smtClean="0"/>
              <a:pPr/>
              <a:t>8/14/2017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1279739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AA6F7DC-F191-49C1-804A-9E22A35A4E1D}" type="datetimeFigureOut">
              <a:rPr lang="en-US" smtClean="0"/>
              <a:pPr/>
              <a:t>8/14/2017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1291019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AA6F7DC-F191-49C1-804A-9E22A35A4E1D}" type="datetimeFigureOut">
              <a:rPr lang="en-US" smtClean="0"/>
              <a:pPr/>
              <a:t>8/14/2017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3083956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AA6F7DC-F191-49C1-804A-9E22A35A4E1D}" type="datetimeFigureOut">
              <a:rPr lang="en-US" smtClean="0"/>
              <a:pPr/>
              <a:t>8/14/2017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629505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AA6F7DC-F191-49C1-804A-9E22A35A4E1D}" type="datetimeFigureOut">
              <a:rPr lang="en-US" smtClean="0"/>
              <a:pPr/>
              <a:t>8/14/2017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17478425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AA6F7DC-F191-49C1-804A-9E22A35A4E1D}" type="datetimeFigureOut">
              <a:rPr lang="en-US" smtClean="0"/>
              <a:pPr/>
              <a:t>8/14/2017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61739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AA6F7DC-F191-49C1-804A-9E22A35A4E1D}" type="datetimeFigureOut">
              <a:rPr lang="en-US" smtClean="0"/>
              <a:pPr/>
              <a:t>8/14/2017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3888865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AA6F7DC-F191-49C1-804A-9E22A35A4E1D}" type="datetimeFigureOut">
              <a:rPr lang="en-US" smtClean="0"/>
              <a:pPr/>
              <a:t>8/14/2017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39045135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AA6F7DC-F191-49C1-804A-9E22A35A4E1D}" type="datetimeFigureOut">
              <a:rPr lang="en-US" smtClean="0"/>
              <a:pPr/>
              <a:t>8/14/2017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6897230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AA6F7DC-F191-49C1-804A-9E22A35A4E1D}" type="datetimeFigureOut">
              <a:rPr lang="en-US" smtClean="0"/>
              <a:pPr/>
              <a:t>8/14/2017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17763544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AA6F7DC-F191-49C1-804A-9E22A35A4E1D}" type="datetimeFigureOut">
              <a:rPr lang="en-US" smtClean="0"/>
              <a:pPr/>
              <a:t>8/14/2017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DC7BEB8-32C7-495A-B230-46118B12B711}" type="slidenum">
              <a:rPr lang="en-US" smtClean="0"/>
              <a:pPr/>
              <a:t>‹#›</a:t>
            </a:fld>
            <a:endParaRPr lang="en-US"/>
          </a:p>
        </p:txBody>
      </p:sp>
    </p:spTree>
    <p:extLst>
      <p:ext uri="{BB962C8B-B14F-4D97-AF65-F5344CB8AC3E}">
        <p14:creationId xmlns:p14="http://schemas.microsoft.com/office/powerpoint/2010/main" val="32148379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9217638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3915552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9414607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5606110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8091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49589929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2180954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25047131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64775635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9795602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0855268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AA6F7DC-F191-49C1-804A-9E22A35A4E1D}" type="datetimeFigureOut">
              <a:rPr lang="en-US" smtClean="0"/>
              <a:pPr/>
              <a:t>8/14/2017</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C7BEB8-32C7-495A-B230-46118B12B711}" type="slidenum">
              <a:rPr lang="en-US" smtClean="0"/>
              <a:pPr/>
              <a:t>‹#›</a:t>
            </a:fld>
            <a:endParaRPr lang="en-US"/>
          </a:p>
        </p:txBody>
      </p:sp>
    </p:spTree>
    <p:extLst>
      <p:ext uri="{BB962C8B-B14F-4D97-AF65-F5344CB8AC3E}">
        <p14:creationId xmlns:p14="http://schemas.microsoft.com/office/powerpoint/2010/main" val="13771290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solidFill>
                  <a:prstClr val="black">
                    <a:tint val="75000"/>
                  </a:prstClr>
                </a:solidFill>
              </a:rPr>
              <a:pPr/>
              <a:t>8/14/2017</a:t>
            </a:fld>
            <a:endParaRPr lang="en-US">
              <a:solidFill>
                <a:prstClr val="black">
                  <a:tint val="75000"/>
                </a:prstClr>
              </a:solidFill>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54161598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compare%20OO%20Methodologies.docx"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32.gif"/><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3.xml"/><Relationship Id="rId1" Type="http://schemas.openxmlformats.org/officeDocument/2006/relationships/vmlDrawing" Target="../drawings/vmlDrawing1.vml"/><Relationship Id="rId4" Type="http://schemas.openxmlformats.org/officeDocument/2006/relationships/image" Target="../media/image45.wmf"/></Relationships>
</file>

<file path=ppt/slides/_rels/slide12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9.xml"/></Relationships>
</file>

<file path=ppt/slides/_rels/slide12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54.jpe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56.wmf"/><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6.wmf"/><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8.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4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8.xml"/></Relationships>
</file>

<file path=ppt/slides/_rels/slide157.xml.rels><?xml version="1.0" encoding="UTF-8" standalone="yes"?>
<Relationships xmlns="http://schemas.openxmlformats.org/package/2006/relationships"><Relationship Id="rId2" Type="http://schemas.openxmlformats.org/officeDocument/2006/relationships/image" Target="../media/image66.emf"/><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image" Target="../media/image67.emf"/><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Chapter 2</a:t>
            </a:r>
            <a:endParaRPr lang="en-US" dirty="0"/>
          </a:p>
        </p:txBody>
      </p:sp>
      <p:sp>
        <p:nvSpPr>
          <p:cNvPr id="3" name="Subtitle 2"/>
          <p:cNvSpPr>
            <a:spLocks noGrp="1"/>
          </p:cNvSpPr>
          <p:nvPr>
            <p:ph type="subTitle" idx="1"/>
          </p:nvPr>
        </p:nvSpPr>
        <p:spPr/>
        <p:txBody>
          <a:bodyPr/>
          <a:lstStyle/>
          <a:p>
            <a:endParaRPr lang="en-US"/>
          </a:p>
        </p:txBody>
      </p:sp>
    </p:spTree>
    <p:extLst>
      <p:ext uri="{BB962C8B-B14F-4D97-AF65-F5344CB8AC3E}">
        <p14:creationId xmlns:p14="http://schemas.microsoft.com/office/powerpoint/2010/main" val="1110297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4294967295"/>
            <p:extLst>
              <p:ext uri="{D42A27DB-BD31-4B8C-83A1-F6EECF244321}">
                <p14:modId xmlns:p14="http://schemas.microsoft.com/office/powerpoint/2010/main" val="3807981302"/>
              </p:ext>
            </p:extLst>
          </p:nvPr>
        </p:nvGraphicFramePr>
        <p:xfrm>
          <a:off x="0" y="0"/>
          <a:ext cx="9144000" cy="8833104"/>
        </p:xfrm>
        <a:graphic>
          <a:graphicData uri="http://schemas.openxmlformats.org/drawingml/2006/table">
            <a:tbl>
              <a:tblPr>
                <a:tableStyleId>{5C22544A-7EE6-4342-B048-85BDC9FD1C3A}</a:tableStyleId>
              </a:tblPr>
              <a:tblGrid>
                <a:gridCol w="1487554"/>
                <a:gridCol w="7656446"/>
              </a:tblGrid>
              <a:tr h="914400">
                <a:tc>
                  <a:txBody>
                    <a:bodyPr/>
                    <a:lstStyle/>
                    <a:p>
                      <a:pPr algn="ctr">
                        <a:lnSpc>
                          <a:spcPct val="115000"/>
                        </a:lnSpc>
                        <a:spcAft>
                          <a:spcPts val="0"/>
                        </a:spcAft>
                      </a:pPr>
                      <a:r>
                        <a:rPr lang="en-US" sz="2800" dirty="0">
                          <a:effectLst/>
                        </a:rPr>
                        <a:t>2.1</a:t>
                      </a:r>
                    </a:p>
                    <a:p>
                      <a:pPr algn="ctr">
                        <a:lnSpc>
                          <a:spcPct val="115000"/>
                        </a:lnSpc>
                      </a:pPr>
                      <a:r>
                        <a:rPr lang="en-US" sz="2800" dirty="0">
                          <a:effectLst/>
                        </a:rPr>
                        <a:t> </a:t>
                      </a:r>
                      <a:endParaRPr lang="en-US" sz="2800" dirty="0">
                        <a:effectLst/>
                        <a:latin typeface="Calibri"/>
                      </a:endParaRPr>
                    </a:p>
                  </a:txBody>
                  <a:tcPr marL="68580" marR="68580" marT="0" marB="0"/>
                </a:tc>
                <a:tc>
                  <a:txBody>
                    <a:bodyPr/>
                    <a:lstStyle/>
                    <a:p>
                      <a:pPr marL="0" marR="0" algn="just">
                        <a:lnSpc>
                          <a:spcPct val="115000"/>
                        </a:lnSpc>
                        <a:spcBef>
                          <a:spcPts val="0"/>
                        </a:spcBef>
                        <a:spcAft>
                          <a:spcPts val="0"/>
                        </a:spcAft>
                      </a:pPr>
                      <a:r>
                        <a:rPr lang="en-US" sz="2800" dirty="0">
                          <a:effectLst/>
                        </a:rPr>
                        <a:t>Introduction to OO Methodologies :Booch,Rambaug and </a:t>
                      </a:r>
                      <a:r>
                        <a:rPr lang="en-US" sz="2800" dirty="0" smtClean="0">
                          <a:effectLst/>
                        </a:rPr>
                        <a:t>Jacobson</a:t>
                      </a:r>
                      <a:endParaRPr lang="en-US" sz="2800" b="1" dirty="0">
                        <a:effectLst/>
                        <a:latin typeface="Calibri"/>
                        <a:ea typeface="Calibri"/>
                        <a:cs typeface="Times New Roman"/>
                      </a:endParaRPr>
                    </a:p>
                  </a:txBody>
                  <a:tcPr marL="68580" marR="68580" marT="0" marB="0"/>
                </a:tc>
              </a:tr>
              <a:tr h="1243498">
                <a:tc>
                  <a:txBody>
                    <a:bodyPr/>
                    <a:lstStyle/>
                    <a:p>
                      <a:pPr algn="ctr">
                        <a:lnSpc>
                          <a:spcPct val="115000"/>
                        </a:lnSpc>
                      </a:pPr>
                      <a:r>
                        <a:rPr lang="en-US" sz="2800" dirty="0" smtClean="0">
                          <a:effectLst/>
                        </a:rPr>
                        <a:t>2.2</a:t>
                      </a:r>
                      <a:endParaRPr lang="en-US" sz="2800" dirty="0">
                        <a:effectLst/>
                        <a:latin typeface="Calibri"/>
                      </a:endParaRPr>
                    </a:p>
                  </a:txBody>
                  <a:tcPr marL="68580" marR="68580" marT="0" marB="0"/>
                </a:tc>
                <a:tc>
                  <a:txBody>
                    <a:bodyPr/>
                    <a:lstStyle/>
                    <a:p>
                      <a:pPr marL="0" marR="0" indent="0" algn="just" defTabSz="914400" rtl="0" eaLnBrk="1" fontAlgn="auto" latinLnBrk="0" hangingPunct="1">
                        <a:lnSpc>
                          <a:spcPct val="115000"/>
                        </a:lnSpc>
                        <a:spcBef>
                          <a:spcPts val="0"/>
                        </a:spcBef>
                        <a:spcAft>
                          <a:spcPts val="0"/>
                        </a:spcAft>
                        <a:buClrTx/>
                        <a:buSzTx/>
                        <a:buFontTx/>
                        <a:buNone/>
                        <a:tabLst/>
                        <a:defRPr/>
                      </a:pPr>
                      <a:r>
                        <a:rPr lang="en-US" sz="2800" dirty="0">
                          <a:effectLst/>
                        </a:rPr>
                        <a:t>Requirements Engineering Tasks, Requirement Elicitation Techniques, Software Requirements: Functional, Non-Functional, Domain </a:t>
                      </a:r>
                      <a:r>
                        <a:rPr lang="en-US" sz="2800" b="1" dirty="0" smtClean="0">
                          <a:effectLst/>
                        </a:rPr>
                        <a:t>Bernd </a:t>
                      </a:r>
                      <a:r>
                        <a:rPr lang="en-US" sz="2800" b="1" dirty="0" err="1" smtClean="0">
                          <a:effectLst/>
                        </a:rPr>
                        <a:t>Bruegge</a:t>
                      </a:r>
                      <a:r>
                        <a:rPr lang="en-US" sz="2800" b="1" dirty="0" smtClean="0">
                          <a:effectLst/>
                        </a:rPr>
                        <a:t> </a:t>
                      </a:r>
                      <a:r>
                        <a:rPr lang="en-US" sz="2800" b="1" dirty="0" err="1" smtClean="0">
                          <a:effectLst/>
                        </a:rPr>
                        <a:t>Chpater</a:t>
                      </a:r>
                      <a:r>
                        <a:rPr lang="en-US" sz="2800" b="1" dirty="0" smtClean="0">
                          <a:effectLst/>
                        </a:rPr>
                        <a:t> 4</a:t>
                      </a:r>
                      <a:endParaRPr lang="en-US" sz="2800" dirty="0">
                        <a:effectLst/>
                        <a:latin typeface="Calibri"/>
                        <a:ea typeface="Calibri"/>
                        <a:cs typeface="Times New Roman"/>
                      </a:endParaRPr>
                    </a:p>
                  </a:txBody>
                  <a:tcPr marL="68580" marR="68580" marT="0" marB="0"/>
                </a:tc>
              </a:tr>
              <a:tr h="1884007">
                <a:tc>
                  <a:txBody>
                    <a:bodyPr/>
                    <a:lstStyle/>
                    <a:p>
                      <a:pPr marL="0" marR="0" algn="ctr">
                        <a:lnSpc>
                          <a:spcPct val="115000"/>
                        </a:lnSpc>
                        <a:spcBef>
                          <a:spcPts val="0"/>
                        </a:spcBef>
                        <a:spcAft>
                          <a:spcPts val="0"/>
                        </a:spcAft>
                      </a:pPr>
                      <a:r>
                        <a:rPr lang="en-US" sz="2800" dirty="0">
                          <a:effectLst/>
                        </a:rPr>
                        <a:t>2.3</a:t>
                      </a:r>
                      <a:endParaRPr lang="en-US" sz="2800" dirty="0">
                        <a:effectLst/>
                        <a:latin typeface="Calibri"/>
                        <a:ea typeface="Calibri"/>
                        <a:cs typeface="Times New Roman"/>
                      </a:endParaRPr>
                    </a:p>
                  </a:txBody>
                  <a:tcPr marL="68580" marR="68580" marT="0" marB="0"/>
                </a:tc>
                <a:tc>
                  <a:txBody>
                    <a:bodyPr/>
                    <a:lstStyle/>
                    <a:p>
                      <a:pPr marL="0" marR="0" algn="just">
                        <a:lnSpc>
                          <a:spcPct val="115000"/>
                        </a:lnSpc>
                        <a:spcBef>
                          <a:spcPts val="0"/>
                        </a:spcBef>
                        <a:spcAft>
                          <a:spcPts val="0"/>
                        </a:spcAft>
                      </a:pPr>
                      <a:r>
                        <a:rPr lang="en-US" sz="2800" dirty="0">
                          <a:effectLst/>
                        </a:rPr>
                        <a:t>Requirements  Characteristics, Requirement qualities, Requirement Specification, Requirement Traceability, System Analysis Model Generation, Requirement Prioritization, Documentation : Use Case </a:t>
                      </a:r>
                      <a:r>
                        <a:rPr lang="en-US" sz="2800" dirty="0" err="1">
                          <a:effectLst/>
                        </a:rPr>
                        <a:t>Diagram,Acitvity</a:t>
                      </a:r>
                      <a:r>
                        <a:rPr lang="en-US" sz="2800" dirty="0">
                          <a:effectLst/>
                        </a:rPr>
                        <a:t> </a:t>
                      </a:r>
                      <a:r>
                        <a:rPr lang="en-US" sz="2800" dirty="0" err="1" smtClean="0">
                          <a:effectLst/>
                        </a:rPr>
                        <a:t>Diagram</a:t>
                      </a:r>
                      <a:r>
                        <a:rPr lang="en-US" sz="2800" b="1" dirty="0" err="1" smtClean="0">
                          <a:effectLst/>
                        </a:rPr>
                        <a:t>Bernd</a:t>
                      </a:r>
                      <a:r>
                        <a:rPr lang="en-US" sz="2800" b="1" dirty="0" smtClean="0">
                          <a:effectLst/>
                        </a:rPr>
                        <a:t> </a:t>
                      </a:r>
                      <a:r>
                        <a:rPr lang="en-US" sz="2800" b="1" dirty="0" err="1" smtClean="0">
                          <a:effectLst/>
                        </a:rPr>
                        <a:t>Bruegge</a:t>
                      </a:r>
                      <a:r>
                        <a:rPr lang="en-US" sz="2800" b="1" dirty="0" smtClean="0">
                          <a:effectLst/>
                        </a:rPr>
                        <a:t> </a:t>
                      </a:r>
                      <a:r>
                        <a:rPr lang="en-US" sz="2800" b="1" dirty="0" err="1" smtClean="0">
                          <a:effectLst/>
                        </a:rPr>
                        <a:t>Chpater</a:t>
                      </a:r>
                      <a:r>
                        <a:rPr lang="en-US" sz="2800" b="1" dirty="0" smtClean="0">
                          <a:effectLst/>
                        </a:rPr>
                        <a:t> 4 &amp; </a:t>
                      </a:r>
                      <a:r>
                        <a:rPr lang="en-US" sz="2800" b="1" dirty="0" err="1" smtClean="0">
                          <a:effectLst/>
                        </a:rPr>
                        <a:t>Chpater</a:t>
                      </a:r>
                      <a:r>
                        <a:rPr lang="en-US" sz="2800" b="1" dirty="0" smtClean="0">
                          <a:effectLst/>
                        </a:rPr>
                        <a:t> 2</a:t>
                      </a:r>
                      <a:endParaRPr lang="en-US" sz="2800" dirty="0">
                        <a:effectLst/>
                        <a:latin typeface="Calibri"/>
                        <a:ea typeface="Calibri"/>
                        <a:cs typeface="Times New Roman"/>
                      </a:endParaRPr>
                    </a:p>
                  </a:txBody>
                  <a:tcPr marL="68580" marR="68580" marT="0" marB="0"/>
                </a:tc>
              </a:tr>
              <a:tr h="1199007">
                <a:tc>
                  <a:txBody>
                    <a:bodyPr/>
                    <a:lstStyle/>
                    <a:p>
                      <a:pPr marL="0" marR="0" algn="ctr">
                        <a:lnSpc>
                          <a:spcPct val="115000"/>
                        </a:lnSpc>
                        <a:spcBef>
                          <a:spcPts val="0"/>
                        </a:spcBef>
                        <a:spcAft>
                          <a:spcPts val="0"/>
                        </a:spcAft>
                      </a:pPr>
                      <a:r>
                        <a:rPr lang="en-US" sz="2800" dirty="0">
                          <a:effectLst/>
                        </a:rPr>
                        <a:t>2.4</a:t>
                      </a:r>
                      <a:endParaRPr lang="en-US" sz="2800" dirty="0">
                        <a:effectLst/>
                        <a:latin typeface="Calibri"/>
                        <a:ea typeface="Calibri"/>
                        <a:cs typeface="Times New Roman"/>
                      </a:endParaRPr>
                    </a:p>
                  </a:txBody>
                  <a:tcPr marL="68580" marR="68580" marT="0" marB="0"/>
                </a:tc>
                <a:tc>
                  <a:txBody>
                    <a:bodyPr/>
                    <a:lstStyle/>
                    <a:p>
                      <a:pPr marL="0" marR="0" algn="just">
                        <a:lnSpc>
                          <a:spcPct val="115000"/>
                        </a:lnSpc>
                        <a:spcBef>
                          <a:spcPts val="0"/>
                        </a:spcBef>
                        <a:spcAft>
                          <a:spcPts val="0"/>
                        </a:spcAft>
                      </a:pPr>
                      <a:r>
                        <a:rPr lang="en-US" sz="2800" dirty="0">
                          <a:effectLst/>
                        </a:rPr>
                        <a:t>Categorizing classes: entity, boundary and control ,Modeling associations and collections-Class Diagram,</a:t>
                      </a:r>
                      <a:endParaRPr lang="en-US" sz="2800" dirty="0">
                        <a:effectLst/>
                        <a:latin typeface="Calibri"/>
                        <a:ea typeface="Calibri"/>
                        <a:cs typeface="Times New Roman"/>
                      </a:endParaRPr>
                    </a:p>
                  </a:txBody>
                  <a:tcPr marL="68580" marR="68580" marT="0" marB="0"/>
                </a:tc>
              </a:tr>
              <a:tr h="1243498">
                <a:tc>
                  <a:txBody>
                    <a:bodyPr/>
                    <a:lstStyle/>
                    <a:p>
                      <a:pPr marL="0" marR="0" algn="ctr">
                        <a:lnSpc>
                          <a:spcPct val="115000"/>
                        </a:lnSpc>
                        <a:spcBef>
                          <a:spcPts val="0"/>
                        </a:spcBef>
                        <a:spcAft>
                          <a:spcPts val="0"/>
                        </a:spcAft>
                      </a:pPr>
                      <a:r>
                        <a:rPr lang="en-US" sz="2800" dirty="0">
                          <a:effectLst/>
                        </a:rPr>
                        <a:t>2.5</a:t>
                      </a:r>
                      <a:endParaRPr lang="en-US" sz="2800" dirty="0">
                        <a:effectLst/>
                        <a:latin typeface="Calibri"/>
                        <a:ea typeface="Calibri"/>
                        <a:cs typeface="Times New Roman"/>
                      </a:endParaRPr>
                    </a:p>
                  </a:txBody>
                  <a:tcPr marL="68580" marR="68580" marT="0" marB="0"/>
                </a:tc>
                <a:tc>
                  <a:txBody>
                    <a:bodyPr/>
                    <a:lstStyle/>
                    <a:p>
                      <a:pPr marL="0" marR="0" algn="just">
                        <a:lnSpc>
                          <a:spcPct val="115000"/>
                        </a:lnSpc>
                        <a:spcBef>
                          <a:spcPts val="0"/>
                        </a:spcBef>
                        <a:spcAft>
                          <a:spcPts val="1000"/>
                        </a:spcAft>
                      </a:pPr>
                      <a:r>
                        <a:rPr lang="en-US" sz="2800" dirty="0">
                          <a:effectLst/>
                        </a:rPr>
                        <a:t>Dynamic Analysis - Identifying Interaction – Sequence and Collaboration diagrams, State chart diagram</a:t>
                      </a:r>
                      <a:endParaRPr lang="en-US" sz="2800" dirty="0">
                        <a:effectLst/>
                        <a:latin typeface="Calibri"/>
                        <a:ea typeface="Calibri"/>
                        <a:cs typeface="Times New Roman"/>
                      </a:endParaRPr>
                    </a:p>
                  </a:txBody>
                  <a:tcPr marL="68580" marR="68580" marT="0" marB="0"/>
                </a:tc>
              </a:tr>
            </a:tbl>
          </a:graphicData>
        </a:graphic>
      </p:graphicFrame>
    </p:spTree>
    <p:extLst>
      <p:ext uri="{BB962C8B-B14F-4D97-AF65-F5344CB8AC3E}">
        <p14:creationId xmlns:p14="http://schemas.microsoft.com/office/powerpoint/2010/main" val="19922598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 Oriented Process </a:t>
            </a:r>
            <a:endParaRPr lang="en-US" dirty="0"/>
          </a:p>
        </p:txBody>
      </p:sp>
      <p:sp>
        <p:nvSpPr>
          <p:cNvPr id="3" name="Content Placeholder 2"/>
          <p:cNvSpPr>
            <a:spLocks noGrp="1"/>
          </p:cNvSpPr>
          <p:nvPr>
            <p:ph idx="1"/>
          </p:nvPr>
        </p:nvSpPr>
        <p:spPr>
          <a:xfrm>
            <a:off x="457200" y="1600200"/>
            <a:ext cx="8229600" cy="5105400"/>
          </a:xfrm>
        </p:spPr>
        <p:txBody>
          <a:bodyPr>
            <a:normAutofit/>
          </a:bodyPr>
          <a:lstStyle/>
          <a:p>
            <a:pPr algn="just"/>
            <a:r>
              <a:rPr lang="en-US" sz="2400" dirty="0" smtClean="0"/>
              <a:t>The Object Oriented Methodology of Building Systems takes the </a:t>
            </a:r>
            <a:r>
              <a:rPr lang="en-US" sz="2400" b="1" dirty="0" smtClean="0"/>
              <a:t>objects as the basis</a:t>
            </a:r>
            <a:r>
              <a:rPr lang="en-US" sz="2400" dirty="0" smtClean="0"/>
              <a:t>. </a:t>
            </a:r>
          </a:p>
          <a:p>
            <a:pPr algn="just"/>
            <a:endParaRPr lang="en-US" sz="2400" dirty="0"/>
          </a:p>
          <a:p>
            <a:pPr algn="just"/>
            <a:r>
              <a:rPr lang="en-US" sz="2400" dirty="0"/>
              <a:t>F</a:t>
            </a:r>
            <a:r>
              <a:rPr lang="en-US" sz="2400" dirty="0" smtClean="0"/>
              <a:t>irst the system to be developed is </a:t>
            </a:r>
            <a:r>
              <a:rPr lang="en-US" sz="2400" b="1" dirty="0" smtClean="0"/>
              <a:t>observed and analyzed and the requirements are defined</a:t>
            </a:r>
            <a:r>
              <a:rPr lang="en-US" sz="2400" dirty="0" smtClean="0"/>
              <a:t> as in any other method of system development. </a:t>
            </a:r>
          </a:p>
          <a:p>
            <a:pPr algn="just"/>
            <a:endParaRPr lang="en-US" sz="2400" dirty="0"/>
          </a:p>
          <a:p>
            <a:pPr algn="just"/>
            <a:r>
              <a:rPr lang="en-US" sz="2400" dirty="0" smtClean="0"/>
              <a:t>Objects are identified.</a:t>
            </a:r>
          </a:p>
          <a:p>
            <a:pPr algn="just"/>
            <a:endParaRPr lang="en-US" sz="2400" dirty="0"/>
          </a:p>
          <a:p>
            <a:pPr algn="just"/>
            <a:r>
              <a:rPr lang="en-US" sz="2400" dirty="0" smtClean="0"/>
              <a:t>Example: Banking System: customer is an object.</a:t>
            </a:r>
            <a:endParaRPr lang="en-US" sz="2400" dirty="0"/>
          </a:p>
        </p:txBody>
      </p:sp>
    </p:spTree>
    <p:extLst>
      <p:ext uri="{BB962C8B-B14F-4D97-AF65-F5344CB8AC3E}">
        <p14:creationId xmlns:p14="http://schemas.microsoft.com/office/powerpoint/2010/main" val="3196347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 Oriented Process </a:t>
            </a:r>
            <a:endParaRPr lang="en-US" dirty="0"/>
          </a:p>
        </p:txBody>
      </p:sp>
      <p:sp>
        <p:nvSpPr>
          <p:cNvPr id="3" name="Content Placeholder 2"/>
          <p:cNvSpPr>
            <a:spLocks noGrp="1"/>
          </p:cNvSpPr>
          <p:nvPr>
            <p:ph idx="1"/>
          </p:nvPr>
        </p:nvSpPr>
        <p:spPr/>
        <p:txBody>
          <a:bodyPr>
            <a:normAutofit fontScale="92500" lnSpcReduction="10000"/>
          </a:bodyPr>
          <a:lstStyle/>
          <a:p>
            <a:pPr algn="just"/>
            <a:r>
              <a:rPr lang="en-US" dirty="0" smtClean="0"/>
              <a:t>Object Modeling is based on identifying the objects in a system and their interrelationships.</a:t>
            </a:r>
          </a:p>
          <a:p>
            <a:pPr algn="just"/>
            <a:endParaRPr lang="en-US" dirty="0"/>
          </a:p>
          <a:p>
            <a:pPr algn="just"/>
            <a:r>
              <a:rPr lang="en-US" dirty="0" smtClean="0"/>
              <a:t>The basic steps of system designing using Object Modeling may be listed as: </a:t>
            </a:r>
          </a:p>
          <a:p>
            <a:pPr algn="just">
              <a:buFont typeface="Wingdings" pitchFamily="2" charset="2"/>
              <a:buChar char="ü"/>
            </a:pPr>
            <a:r>
              <a:rPr lang="en-US" dirty="0" smtClean="0"/>
              <a:t>System Analysis </a:t>
            </a:r>
          </a:p>
          <a:p>
            <a:pPr algn="just">
              <a:buFont typeface="Wingdings" pitchFamily="2" charset="2"/>
              <a:buChar char="ü"/>
            </a:pPr>
            <a:r>
              <a:rPr lang="en-US" dirty="0" smtClean="0"/>
              <a:t>System Design</a:t>
            </a:r>
          </a:p>
          <a:p>
            <a:pPr algn="just">
              <a:buFont typeface="Wingdings" pitchFamily="2" charset="2"/>
              <a:buChar char="ü"/>
            </a:pPr>
            <a:r>
              <a:rPr lang="en-US" dirty="0" smtClean="0"/>
              <a:t> Object Design </a:t>
            </a:r>
          </a:p>
          <a:p>
            <a:pPr algn="just">
              <a:buFont typeface="Wingdings" pitchFamily="2" charset="2"/>
              <a:buChar char="ü"/>
            </a:pPr>
            <a:r>
              <a:rPr lang="en-US" dirty="0" smtClean="0"/>
              <a:t>Implementation</a:t>
            </a:r>
            <a:endParaRPr lang="en-US" dirty="0"/>
          </a:p>
        </p:txBody>
      </p:sp>
    </p:spTree>
    <p:extLst>
      <p:ext uri="{BB962C8B-B14F-4D97-AF65-F5344CB8AC3E}">
        <p14:creationId xmlns:p14="http://schemas.microsoft.com/office/powerpoint/2010/main" val="32830259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Advantages Of Object Oriented Methodology</a:t>
            </a:r>
            <a:endParaRPr lang="en-US" dirty="0"/>
          </a:p>
        </p:txBody>
      </p:sp>
      <p:sp>
        <p:nvSpPr>
          <p:cNvPr id="3" name="Content Placeholder 2"/>
          <p:cNvSpPr>
            <a:spLocks noGrp="1"/>
          </p:cNvSpPr>
          <p:nvPr>
            <p:ph idx="1"/>
          </p:nvPr>
        </p:nvSpPr>
        <p:spPr/>
        <p:txBody>
          <a:bodyPr/>
          <a:lstStyle/>
          <a:p>
            <a:pPr algn="just"/>
            <a:r>
              <a:rPr lang="en-US" dirty="0" smtClean="0"/>
              <a:t>Object Oriented Methodology </a:t>
            </a:r>
            <a:r>
              <a:rPr lang="en-US" b="1" dirty="0" smtClean="0"/>
              <a:t>closely represents the problem domain</a:t>
            </a:r>
            <a:r>
              <a:rPr lang="en-US" dirty="0" smtClean="0"/>
              <a:t>. Because of this, it is easier to produce and understand designs.</a:t>
            </a:r>
          </a:p>
          <a:p>
            <a:pPr algn="just"/>
            <a:endParaRPr lang="en-US" dirty="0"/>
          </a:p>
          <a:p>
            <a:pPr algn="just"/>
            <a:r>
              <a:rPr lang="en-US" dirty="0" smtClean="0"/>
              <a:t>The objects in the system are </a:t>
            </a:r>
            <a:r>
              <a:rPr lang="en-US" b="1" dirty="0" smtClean="0"/>
              <a:t>immune to requirement changes</a:t>
            </a:r>
            <a:r>
              <a:rPr lang="en-US" dirty="0" smtClean="0"/>
              <a:t>. Therefore, allows changes more easily</a:t>
            </a:r>
            <a:endParaRPr lang="en-US" dirty="0"/>
          </a:p>
        </p:txBody>
      </p:sp>
    </p:spTree>
    <p:extLst>
      <p:ext uri="{BB962C8B-B14F-4D97-AF65-F5344CB8AC3E}">
        <p14:creationId xmlns:p14="http://schemas.microsoft.com/office/powerpoint/2010/main" val="13043304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Advantages Of Object Oriented Methodology</a:t>
            </a:r>
            <a:endParaRPr lang="en-US" dirty="0"/>
          </a:p>
        </p:txBody>
      </p:sp>
      <p:sp>
        <p:nvSpPr>
          <p:cNvPr id="3" name="Content Placeholder 2"/>
          <p:cNvSpPr>
            <a:spLocks noGrp="1"/>
          </p:cNvSpPr>
          <p:nvPr>
            <p:ph idx="1"/>
          </p:nvPr>
        </p:nvSpPr>
        <p:spPr/>
        <p:txBody>
          <a:bodyPr>
            <a:normAutofit lnSpcReduction="10000"/>
          </a:bodyPr>
          <a:lstStyle/>
          <a:p>
            <a:pPr algn="just"/>
            <a:r>
              <a:rPr lang="en-US" dirty="0" smtClean="0"/>
              <a:t>Object Oriented Methodology designs encourage </a:t>
            </a:r>
            <a:r>
              <a:rPr lang="en-US" b="1" dirty="0" smtClean="0"/>
              <a:t>more re-use</a:t>
            </a:r>
            <a:r>
              <a:rPr lang="en-US" dirty="0" smtClean="0"/>
              <a:t>. New applications can use the existing modules, thereby reduces the development cost and cycle time. </a:t>
            </a:r>
          </a:p>
          <a:p>
            <a:pPr algn="just"/>
            <a:endParaRPr lang="en-US" dirty="0"/>
          </a:p>
          <a:p>
            <a:pPr algn="just"/>
            <a:r>
              <a:rPr lang="en-US" dirty="0" smtClean="0"/>
              <a:t>The systems designed using this approach are </a:t>
            </a:r>
            <a:r>
              <a:rPr lang="en-US" b="1" dirty="0" smtClean="0"/>
              <a:t>closer to the real world</a:t>
            </a:r>
            <a:r>
              <a:rPr lang="en-US" dirty="0" smtClean="0"/>
              <a:t> as the real world functioning of the system is directly mapped into the system designed using this approach </a:t>
            </a:r>
            <a:endParaRPr lang="en-US" dirty="0"/>
          </a:p>
        </p:txBody>
      </p:sp>
    </p:spTree>
    <p:extLst>
      <p:ext uri="{BB962C8B-B14F-4D97-AF65-F5344CB8AC3E}">
        <p14:creationId xmlns:p14="http://schemas.microsoft.com/office/powerpoint/2010/main" val="2694298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and Object</a:t>
            </a:r>
            <a:endParaRPr lang="en-US" dirty="0"/>
          </a:p>
        </p:txBody>
      </p:sp>
      <p:sp>
        <p:nvSpPr>
          <p:cNvPr id="3" name="Content Placeholder 2"/>
          <p:cNvSpPr>
            <a:spLocks noGrp="1"/>
          </p:cNvSpPr>
          <p:nvPr>
            <p:ph idx="1"/>
          </p:nvPr>
        </p:nvSpPr>
        <p:spPr>
          <a:xfrm>
            <a:off x="457200" y="1600200"/>
            <a:ext cx="8229600" cy="4953000"/>
          </a:xfrm>
        </p:spPr>
        <p:txBody>
          <a:bodyPr>
            <a:normAutofit fontScale="92500" lnSpcReduction="10000"/>
          </a:bodyPr>
          <a:lstStyle/>
          <a:p>
            <a:pPr algn="just"/>
            <a:r>
              <a:rPr lang="en-US" dirty="0"/>
              <a:t>The concepts of </a:t>
            </a:r>
            <a:r>
              <a:rPr lang="en-US" b="1" dirty="0"/>
              <a:t>objects and classes </a:t>
            </a:r>
            <a:r>
              <a:rPr lang="en-US" dirty="0"/>
              <a:t>are </a:t>
            </a:r>
            <a:r>
              <a:rPr lang="en-US" b="1" dirty="0"/>
              <a:t>intrinsically linked </a:t>
            </a:r>
            <a:r>
              <a:rPr lang="en-US" dirty="0"/>
              <a:t>with each other and form the foundation of object–oriented paradigm</a:t>
            </a:r>
            <a:r>
              <a:rPr lang="en-US" dirty="0" smtClean="0"/>
              <a:t>.</a:t>
            </a:r>
          </a:p>
          <a:p>
            <a:pPr algn="just"/>
            <a:endParaRPr lang="en-US" dirty="0"/>
          </a:p>
          <a:p>
            <a:pPr algn="just"/>
            <a:r>
              <a:rPr lang="en-US" dirty="0"/>
              <a:t>An object is a </a:t>
            </a:r>
            <a:r>
              <a:rPr lang="en-US" b="1" dirty="0"/>
              <a:t>real-world element in an object–oriented environment </a:t>
            </a:r>
            <a:r>
              <a:rPr lang="en-US" dirty="0"/>
              <a:t>that may have a physical or a conceptual existence.</a:t>
            </a:r>
            <a:endParaRPr lang="en-US" dirty="0" smtClean="0"/>
          </a:p>
          <a:p>
            <a:pPr algn="just"/>
            <a:endParaRPr lang="en-US" dirty="0"/>
          </a:p>
          <a:p>
            <a:pPr algn="just"/>
            <a:r>
              <a:rPr lang="en-US" dirty="0" smtClean="0"/>
              <a:t>Object is an entity that has identity , state and behavior.</a:t>
            </a:r>
            <a:endParaRPr lang="en-US" dirty="0"/>
          </a:p>
        </p:txBody>
      </p:sp>
    </p:spTree>
    <p:extLst>
      <p:ext uri="{BB962C8B-B14F-4D97-AF65-F5344CB8AC3E}">
        <p14:creationId xmlns:p14="http://schemas.microsoft.com/office/powerpoint/2010/main" val="2445695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and Object</a:t>
            </a:r>
          </a:p>
        </p:txBody>
      </p:sp>
      <p:sp>
        <p:nvSpPr>
          <p:cNvPr id="3" name="Content Placeholder 2"/>
          <p:cNvSpPr>
            <a:spLocks noGrp="1"/>
          </p:cNvSpPr>
          <p:nvPr>
            <p:ph idx="1"/>
          </p:nvPr>
        </p:nvSpPr>
        <p:spPr>
          <a:xfrm>
            <a:off x="152400" y="1600200"/>
            <a:ext cx="8915400" cy="5029200"/>
          </a:xfrm>
        </p:spPr>
        <p:txBody>
          <a:bodyPr>
            <a:normAutofit/>
          </a:bodyPr>
          <a:lstStyle/>
          <a:p>
            <a:pPr algn="just"/>
            <a:r>
              <a:rPr lang="en-US" sz="2800" dirty="0" smtClean="0"/>
              <a:t>Objects can be modeled according to the needs of the application. An object may have a physical existence, like a customer, a car, etc.; or an intangible conceptual existence, like a project, a process, etc.</a:t>
            </a:r>
          </a:p>
          <a:p>
            <a:pPr algn="just"/>
            <a:endParaRPr lang="en-US" sz="2800" dirty="0" smtClean="0"/>
          </a:p>
          <a:p>
            <a:pPr algn="just"/>
            <a:r>
              <a:rPr lang="en-US" sz="2800" dirty="0" smtClean="0"/>
              <a:t>A class represents a collection of objects having same characteristic properties that exhibit common behavior.</a:t>
            </a:r>
          </a:p>
          <a:p>
            <a:pPr algn="just"/>
            <a:endParaRPr lang="en-US" sz="2800" dirty="0"/>
          </a:p>
          <a:p>
            <a:pPr algn="just"/>
            <a:r>
              <a:rPr lang="en-US" sz="2800" dirty="0"/>
              <a:t>Creation of an object as a member of a class is called instantiation. Thus, object is an instance of a class.</a:t>
            </a:r>
          </a:p>
        </p:txBody>
      </p:sp>
    </p:spTree>
    <p:extLst>
      <p:ext uri="{BB962C8B-B14F-4D97-AF65-F5344CB8AC3E}">
        <p14:creationId xmlns:p14="http://schemas.microsoft.com/office/powerpoint/2010/main" val="579162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RAMBAUGH OMT </a:t>
            </a:r>
            <a:endParaRPr lang="en-US" dirty="0"/>
          </a:p>
        </p:txBody>
      </p:sp>
      <p:sp>
        <p:nvSpPr>
          <p:cNvPr id="3" name="Content Placeholder 2"/>
          <p:cNvSpPr>
            <a:spLocks noGrp="1"/>
          </p:cNvSpPr>
          <p:nvPr>
            <p:ph idx="1"/>
          </p:nvPr>
        </p:nvSpPr>
        <p:spPr>
          <a:xfrm>
            <a:off x="76200" y="1600200"/>
            <a:ext cx="8991600" cy="5105400"/>
          </a:xfrm>
        </p:spPr>
        <p:txBody>
          <a:bodyPr>
            <a:normAutofit lnSpcReduction="10000"/>
          </a:bodyPr>
          <a:lstStyle/>
          <a:p>
            <a:pPr algn="just"/>
            <a:r>
              <a:rPr lang="en-US" sz="2800" dirty="0" smtClean="0"/>
              <a:t>The </a:t>
            </a:r>
            <a:r>
              <a:rPr lang="en-US" sz="2800" b="1" dirty="0"/>
              <a:t>object-modeling technique </a:t>
            </a:r>
            <a:r>
              <a:rPr lang="en-US" sz="2800" dirty="0"/>
              <a:t>(</a:t>
            </a:r>
            <a:r>
              <a:rPr lang="en-US" sz="2800" b="1" dirty="0"/>
              <a:t>OMT</a:t>
            </a:r>
            <a:r>
              <a:rPr lang="en-US" sz="2800" dirty="0"/>
              <a:t>) is an object modeling language for software modeling and designing. </a:t>
            </a:r>
            <a:endParaRPr lang="en-US" sz="2800" dirty="0" smtClean="0"/>
          </a:p>
          <a:p>
            <a:pPr algn="just"/>
            <a:endParaRPr lang="en-US" sz="2800" dirty="0"/>
          </a:p>
          <a:p>
            <a:pPr algn="just"/>
            <a:r>
              <a:rPr lang="en-US" sz="2800" dirty="0"/>
              <a:t>The object modeling </a:t>
            </a:r>
            <a:r>
              <a:rPr lang="en-US" sz="2800" dirty="0" smtClean="0"/>
              <a:t>technique(OMT) presented </a:t>
            </a:r>
            <a:r>
              <a:rPr lang="en-US" sz="2800" dirty="0"/>
              <a:t>by Jim </a:t>
            </a:r>
            <a:r>
              <a:rPr lang="en-US" sz="2800" dirty="0" err="1"/>
              <a:t>Rumbaugh</a:t>
            </a:r>
            <a:r>
              <a:rPr lang="en-US" sz="2800" dirty="0"/>
              <a:t> and his </a:t>
            </a:r>
            <a:r>
              <a:rPr lang="en-US" sz="2800" dirty="0" smtClean="0"/>
              <a:t>coworkers describes </a:t>
            </a:r>
            <a:r>
              <a:rPr lang="en-US" sz="2800" dirty="0"/>
              <a:t>a method for </a:t>
            </a:r>
            <a:r>
              <a:rPr lang="en-US" sz="2800" dirty="0" smtClean="0"/>
              <a:t>analysis, design</a:t>
            </a:r>
            <a:r>
              <a:rPr lang="en-US" sz="2800" dirty="0"/>
              <a:t>, and </a:t>
            </a:r>
            <a:r>
              <a:rPr lang="en-US" sz="2800" b="1" dirty="0"/>
              <a:t>implementation of a </a:t>
            </a:r>
            <a:r>
              <a:rPr lang="en-US" sz="2800" b="1" dirty="0" smtClean="0"/>
              <a:t>system using </a:t>
            </a:r>
            <a:r>
              <a:rPr lang="en-US" sz="2800" b="1" dirty="0"/>
              <a:t>an object –oriented technique</a:t>
            </a:r>
            <a:r>
              <a:rPr lang="en-US" sz="2800" b="1" dirty="0" smtClean="0"/>
              <a:t>.</a:t>
            </a:r>
          </a:p>
          <a:p>
            <a:pPr algn="just"/>
            <a:endParaRPr lang="en-US" sz="2800" b="1" dirty="0"/>
          </a:p>
          <a:p>
            <a:r>
              <a:rPr lang="en-US" sz="2800" dirty="0"/>
              <a:t>OMT is a </a:t>
            </a:r>
            <a:r>
              <a:rPr lang="en-US" sz="2800" b="1" dirty="0"/>
              <a:t>fast and </a:t>
            </a:r>
            <a:r>
              <a:rPr lang="en-US" sz="2800" b="1" dirty="0" smtClean="0"/>
              <a:t>intuitive(easy or simple) </a:t>
            </a:r>
            <a:r>
              <a:rPr lang="en-US" sz="2800" b="1" dirty="0"/>
              <a:t>approach </a:t>
            </a:r>
            <a:r>
              <a:rPr lang="en-US" sz="2800" dirty="0" smtClean="0"/>
              <a:t>for identifying </a:t>
            </a:r>
            <a:r>
              <a:rPr lang="en-US" sz="2800" dirty="0"/>
              <a:t>and modeling all the </a:t>
            </a:r>
            <a:r>
              <a:rPr lang="en-US" sz="2800" dirty="0" smtClean="0"/>
              <a:t>objects making </a:t>
            </a:r>
            <a:r>
              <a:rPr lang="en-US" sz="2800" dirty="0"/>
              <a:t>up a system.</a:t>
            </a:r>
            <a:endParaRPr lang="en-US" sz="2800" b="1" dirty="0"/>
          </a:p>
        </p:txBody>
      </p:sp>
    </p:spTree>
    <p:extLst>
      <p:ext uri="{BB962C8B-B14F-4D97-AF65-F5344CB8AC3E}">
        <p14:creationId xmlns:p14="http://schemas.microsoft.com/office/powerpoint/2010/main" val="1956419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RAMBAUGH OMT </a:t>
            </a:r>
            <a:endParaRPr lang="en-US" dirty="0"/>
          </a:p>
        </p:txBody>
      </p:sp>
      <p:sp>
        <p:nvSpPr>
          <p:cNvPr id="3" name="Content Placeholder 2"/>
          <p:cNvSpPr>
            <a:spLocks noGrp="1"/>
          </p:cNvSpPr>
          <p:nvPr>
            <p:ph idx="1"/>
          </p:nvPr>
        </p:nvSpPr>
        <p:spPr/>
        <p:txBody>
          <a:bodyPr/>
          <a:lstStyle/>
          <a:p>
            <a:pPr algn="just"/>
            <a:r>
              <a:rPr lang="en-US" dirty="0"/>
              <a:t>The purposes of modeling according to </a:t>
            </a:r>
            <a:r>
              <a:rPr lang="en-US" dirty="0" err="1" smtClean="0"/>
              <a:t>Rambaugh</a:t>
            </a:r>
            <a:r>
              <a:rPr lang="en-US" dirty="0" smtClean="0"/>
              <a:t> are</a:t>
            </a:r>
            <a:r>
              <a:rPr lang="en-US" dirty="0"/>
              <a:t>: </a:t>
            </a:r>
          </a:p>
          <a:p>
            <a:pPr algn="just">
              <a:buFont typeface="Wingdings" pitchFamily="2" charset="2"/>
              <a:buChar char="ü"/>
            </a:pPr>
            <a:r>
              <a:rPr lang="en-US" dirty="0" smtClean="0"/>
              <a:t>testing </a:t>
            </a:r>
            <a:r>
              <a:rPr lang="en-US" dirty="0"/>
              <a:t>physical entities before building them (simulation), </a:t>
            </a:r>
          </a:p>
          <a:p>
            <a:pPr algn="just">
              <a:buFont typeface="Wingdings" pitchFamily="2" charset="2"/>
              <a:buChar char="ü"/>
            </a:pPr>
            <a:r>
              <a:rPr lang="en-US" dirty="0" smtClean="0"/>
              <a:t>communication </a:t>
            </a:r>
            <a:r>
              <a:rPr lang="en-US" dirty="0"/>
              <a:t>with customers, </a:t>
            </a:r>
          </a:p>
          <a:p>
            <a:pPr algn="just">
              <a:buFont typeface="Wingdings" pitchFamily="2" charset="2"/>
              <a:buChar char="ü"/>
            </a:pPr>
            <a:r>
              <a:rPr lang="en-US" dirty="0" smtClean="0"/>
              <a:t>visualization </a:t>
            </a:r>
            <a:r>
              <a:rPr lang="en-US" dirty="0"/>
              <a:t>(alternative presentation of information), and </a:t>
            </a:r>
          </a:p>
          <a:p>
            <a:pPr algn="just">
              <a:buFont typeface="Wingdings" pitchFamily="2" charset="2"/>
              <a:buChar char="ü"/>
            </a:pPr>
            <a:r>
              <a:rPr lang="en-US" dirty="0" smtClean="0"/>
              <a:t>reduction </a:t>
            </a:r>
            <a:r>
              <a:rPr lang="en-US" dirty="0"/>
              <a:t>of complexity. </a:t>
            </a:r>
          </a:p>
          <a:p>
            <a:endParaRPr lang="en-US" dirty="0"/>
          </a:p>
        </p:txBody>
      </p:sp>
    </p:spTree>
    <p:extLst>
      <p:ext uri="{BB962C8B-B14F-4D97-AF65-F5344CB8AC3E}">
        <p14:creationId xmlns:p14="http://schemas.microsoft.com/office/powerpoint/2010/main" val="40640140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62"/>
          </a:xfrm>
        </p:spPr>
        <p:txBody>
          <a:bodyPr/>
          <a:lstStyle/>
          <a:p>
            <a:r>
              <a:rPr lang="en-US" b="1" dirty="0"/>
              <a:t>THE RAMBAUGH OMT </a:t>
            </a:r>
            <a:endParaRPr lang="en-US" dirty="0"/>
          </a:p>
        </p:txBody>
      </p:sp>
      <p:sp>
        <p:nvSpPr>
          <p:cNvPr id="3" name="Content Placeholder 2"/>
          <p:cNvSpPr>
            <a:spLocks noGrp="1"/>
          </p:cNvSpPr>
          <p:nvPr>
            <p:ph idx="1"/>
          </p:nvPr>
        </p:nvSpPr>
        <p:spPr>
          <a:xfrm>
            <a:off x="152400" y="1143000"/>
            <a:ext cx="8839200" cy="5562600"/>
          </a:xfrm>
        </p:spPr>
        <p:txBody>
          <a:bodyPr>
            <a:noAutofit/>
          </a:bodyPr>
          <a:lstStyle/>
          <a:p>
            <a:pPr algn="just"/>
            <a:r>
              <a:rPr lang="en-US" sz="2800" dirty="0"/>
              <a:t>The </a:t>
            </a:r>
            <a:r>
              <a:rPr lang="en-US" sz="2800" dirty="0" err="1"/>
              <a:t>Rambaugh</a:t>
            </a:r>
            <a:r>
              <a:rPr lang="en-US" sz="2800" dirty="0"/>
              <a:t> OMT has proposed three main types of models: </a:t>
            </a:r>
            <a:endParaRPr lang="en-US" sz="2800" dirty="0" smtClean="0"/>
          </a:p>
          <a:p>
            <a:pPr algn="just"/>
            <a:r>
              <a:rPr lang="en-US" sz="2800" b="1" i="1" dirty="0" smtClean="0"/>
              <a:t>Object </a:t>
            </a:r>
            <a:r>
              <a:rPr lang="en-US" sz="2800" b="1" i="1" dirty="0"/>
              <a:t>model </a:t>
            </a:r>
            <a:r>
              <a:rPr lang="en-US" sz="2800" dirty="0"/>
              <a:t>: Main concepts are </a:t>
            </a:r>
            <a:r>
              <a:rPr lang="en-US" sz="2800" b="1" dirty="0"/>
              <a:t>classes and associations, with attributes and operations</a:t>
            </a:r>
            <a:r>
              <a:rPr lang="en-US" sz="2800" dirty="0"/>
              <a:t>. </a:t>
            </a:r>
            <a:r>
              <a:rPr lang="en-US" sz="2800" b="1" dirty="0"/>
              <a:t>Aggregation and generalization</a:t>
            </a:r>
            <a:r>
              <a:rPr lang="en-US" sz="2800" dirty="0"/>
              <a:t> are predefined relationships. </a:t>
            </a:r>
            <a:endParaRPr lang="en-US" sz="2800" dirty="0" smtClean="0"/>
          </a:p>
          <a:p>
            <a:pPr algn="just"/>
            <a:endParaRPr lang="en-US" sz="2800" dirty="0"/>
          </a:p>
          <a:p>
            <a:pPr algn="just"/>
            <a:r>
              <a:rPr lang="en-US" sz="2800" b="1" i="1" dirty="0"/>
              <a:t>Dynamic model </a:t>
            </a:r>
            <a:r>
              <a:rPr lang="en-US" sz="2800" dirty="0"/>
              <a:t>: The dynamic model represents a </a:t>
            </a:r>
            <a:r>
              <a:rPr lang="en-US" sz="2800" b="1" dirty="0"/>
              <a:t>state/transition view </a:t>
            </a:r>
            <a:r>
              <a:rPr lang="en-US" sz="2800" dirty="0"/>
              <a:t>on the model. Main concepts are states, transitions between </a:t>
            </a:r>
            <a:r>
              <a:rPr lang="en-US" sz="2800" dirty="0" smtClean="0"/>
              <a:t>states,</a:t>
            </a:r>
            <a:r>
              <a:rPr lang="en-US" sz="2800" dirty="0"/>
              <a:t> </a:t>
            </a:r>
            <a:r>
              <a:rPr lang="en-US" sz="2800" dirty="0" smtClean="0"/>
              <a:t>and </a:t>
            </a:r>
            <a:r>
              <a:rPr lang="en-US" sz="2800" dirty="0"/>
              <a:t>events to trigger transitions. Actions can be modeled as occurring within states. </a:t>
            </a:r>
          </a:p>
        </p:txBody>
      </p:sp>
    </p:spTree>
    <p:extLst>
      <p:ext uri="{BB962C8B-B14F-4D97-AF65-F5344CB8AC3E}">
        <p14:creationId xmlns:p14="http://schemas.microsoft.com/office/powerpoint/2010/main" val="2412147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2162"/>
          </a:xfrm>
        </p:spPr>
        <p:txBody>
          <a:bodyPr/>
          <a:lstStyle/>
          <a:p>
            <a:r>
              <a:rPr lang="en-US" b="1" dirty="0"/>
              <a:t>THE RAMBAUGH OMT </a:t>
            </a:r>
            <a:endParaRPr lang="en-US" dirty="0"/>
          </a:p>
        </p:txBody>
      </p:sp>
      <p:sp>
        <p:nvSpPr>
          <p:cNvPr id="3" name="Content Placeholder 2"/>
          <p:cNvSpPr>
            <a:spLocks noGrp="1"/>
          </p:cNvSpPr>
          <p:nvPr>
            <p:ph idx="1"/>
          </p:nvPr>
        </p:nvSpPr>
        <p:spPr>
          <a:xfrm>
            <a:off x="76200" y="1447800"/>
            <a:ext cx="8991600" cy="5257800"/>
          </a:xfrm>
        </p:spPr>
        <p:txBody>
          <a:bodyPr/>
          <a:lstStyle/>
          <a:p>
            <a:r>
              <a:rPr lang="en-US" b="1" i="1" dirty="0"/>
              <a:t>Functional model </a:t>
            </a:r>
            <a:r>
              <a:rPr lang="en-US" dirty="0"/>
              <a:t>: The functional model handles the </a:t>
            </a:r>
            <a:r>
              <a:rPr lang="en-US" b="1" dirty="0"/>
              <a:t>process of the model</a:t>
            </a:r>
            <a:r>
              <a:rPr lang="en-US" dirty="0"/>
              <a:t>, corresponding roughly to </a:t>
            </a:r>
            <a:r>
              <a:rPr lang="en-US" b="1" dirty="0"/>
              <a:t>data flow diagrams</a:t>
            </a:r>
            <a:r>
              <a:rPr lang="en-US" dirty="0"/>
              <a:t>. Main concepts are process, data store, data flow, and actors. </a:t>
            </a:r>
            <a:endParaRPr lang="en-US" dirty="0" smtClean="0"/>
          </a:p>
          <a:p>
            <a:endParaRPr lang="en-US" dirty="0"/>
          </a:p>
          <a:p>
            <a:pPr algn="just"/>
            <a:r>
              <a:rPr lang="en-US" i="1" dirty="0"/>
              <a:t>OMT is a predecessor of the Unified Modeling Language (UML). </a:t>
            </a:r>
            <a:endParaRPr lang="en-US" dirty="0" smtClean="0"/>
          </a:p>
          <a:p>
            <a:endParaRPr lang="en-US" dirty="0" smtClean="0"/>
          </a:p>
          <a:p>
            <a:endParaRPr lang="en-US" dirty="0"/>
          </a:p>
          <a:p>
            <a:endParaRPr lang="en-US" dirty="0"/>
          </a:p>
        </p:txBody>
      </p:sp>
    </p:spTree>
    <p:extLst>
      <p:ext uri="{BB962C8B-B14F-4D97-AF65-F5344CB8AC3E}">
        <p14:creationId xmlns:p14="http://schemas.microsoft.com/office/powerpoint/2010/main" val="3555355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THE BOOCH METHODOLOGY</a:t>
            </a:r>
            <a:endParaRPr lang="en-US" b="1" dirty="0"/>
          </a:p>
        </p:txBody>
      </p:sp>
      <p:sp>
        <p:nvSpPr>
          <p:cNvPr id="3" name="Content Placeholder 2"/>
          <p:cNvSpPr>
            <a:spLocks noGrp="1"/>
          </p:cNvSpPr>
          <p:nvPr>
            <p:ph idx="1"/>
          </p:nvPr>
        </p:nvSpPr>
        <p:spPr/>
        <p:txBody>
          <a:bodyPr/>
          <a:lstStyle/>
          <a:p>
            <a:pPr algn="just"/>
            <a:r>
              <a:rPr lang="en-US" dirty="0"/>
              <a:t>The </a:t>
            </a:r>
            <a:r>
              <a:rPr lang="en-US" dirty="0" err="1"/>
              <a:t>booch</a:t>
            </a:r>
            <a:r>
              <a:rPr lang="en-US" dirty="0"/>
              <a:t> methodology is a widely </a:t>
            </a:r>
            <a:r>
              <a:rPr lang="en-US" dirty="0" smtClean="0"/>
              <a:t>used </a:t>
            </a:r>
            <a:r>
              <a:rPr lang="en-US" b="1" dirty="0" smtClean="0"/>
              <a:t>object-oriented </a:t>
            </a:r>
            <a:r>
              <a:rPr lang="en-US" b="1" dirty="0"/>
              <a:t>method</a:t>
            </a:r>
            <a:r>
              <a:rPr lang="en-US" dirty="0"/>
              <a:t> that helps </a:t>
            </a:r>
            <a:r>
              <a:rPr lang="en-US" dirty="0" smtClean="0"/>
              <a:t>you </a:t>
            </a:r>
            <a:r>
              <a:rPr lang="en-US" b="1" dirty="0" smtClean="0"/>
              <a:t>design </a:t>
            </a:r>
            <a:r>
              <a:rPr lang="en-US" b="1" dirty="0"/>
              <a:t>your system using the </a:t>
            </a:r>
            <a:r>
              <a:rPr lang="en-US" b="1" dirty="0" smtClean="0"/>
              <a:t>object paradigm</a:t>
            </a:r>
            <a:r>
              <a:rPr lang="en-US" dirty="0" smtClean="0"/>
              <a:t>.</a:t>
            </a:r>
          </a:p>
          <a:p>
            <a:pPr algn="just"/>
            <a:endParaRPr lang="en-US" dirty="0"/>
          </a:p>
          <a:p>
            <a:pPr algn="just"/>
            <a:r>
              <a:rPr lang="en-US" dirty="0"/>
              <a:t>It covers </a:t>
            </a:r>
            <a:r>
              <a:rPr lang="en-US" b="1" dirty="0"/>
              <a:t>analysis and design phases </a:t>
            </a:r>
            <a:r>
              <a:rPr lang="en-US" dirty="0"/>
              <a:t>of </a:t>
            </a:r>
            <a:r>
              <a:rPr lang="en-US" dirty="0" smtClean="0"/>
              <a:t>an object-oriented </a:t>
            </a:r>
            <a:r>
              <a:rPr lang="en-US" dirty="0"/>
              <a:t>system</a:t>
            </a:r>
            <a:r>
              <a:rPr lang="en-US" dirty="0" smtClean="0"/>
              <a:t>.</a:t>
            </a:r>
          </a:p>
          <a:p>
            <a:pPr algn="just"/>
            <a:endParaRPr lang="en-US" dirty="0"/>
          </a:p>
          <a:p>
            <a:pPr algn="just"/>
            <a:endParaRPr lang="en-US" dirty="0"/>
          </a:p>
        </p:txBody>
      </p:sp>
    </p:spTree>
    <p:extLst>
      <p:ext uri="{BB962C8B-B14F-4D97-AF65-F5344CB8AC3E}">
        <p14:creationId xmlns:p14="http://schemas.microsoft.com/office/powerpoint/2010/main" val="6372922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BOOCH METHODOLOGY</a:t>
            </a:r>
            <a:endParaRPr lang="en-US" dirty="0"/>
          </a:p>
        </p:txBody>
      </p:sp>
      <p:sp>
        <p:nvSpPr>
          <p:cNvPr id="3" name="Content Placeholder 2"/>
          <p:cNvSpPr>
            <a:spLocks noGrp="1"/>
          </p:cNvSpPr>
          <p:nvPr>
            <p:ph idx="1"/>
          </p:nvPr>
        </p:nvSpPr>
        <p:spPr>
          <a:xfrm>
            <a:off x="228600" y="1295400"/>
            <a:ext cx="8610600" cy="5257800"/>
          </a:xfrm>
        </p:spPr>
        <p:txBody>
          <a:bodyPr>
            <a:normAutofit fontScale="32500" lnSpcReduction="20000"/>
          </a:bodyPr>
          <a:lstStyle/>
          <a:p>
            <a:pPr algn="just"/>
            <a:r>
              <a:rPr lang="en-US" sz="7400" dirty="0" smtClean="0"/>
              <a:t>The </a:t>
            </a:r>
            <a:r>
              <a:rPr lang="en-US" sz="7400" dirty="0"/>
              <a:t>analysis phase is split into </a:t>
            </a:r>
            <a:r>
              <a:rPr lang="en-US" sz="7400" dirty="0" smtClean="0"/>
              <a:t>steps:</a:t>
            </a:r>
          </a:p>
          <a:p>
            <a:pPr algn="just">
              <a:buFont typeface="Wingdings" pitchFamily="2" charset="2"/>
              <a:buChar char="ü"/>
            </a:pPr>
            <a:r>
              <a:rPr lang="en-US" sz="7400" b="1" dirty="0" smtClean="0"/>
              <a:t>Customer's </a:t>
            </a:r>
            <a:r>
              <a:rPr lang="en-US" sz="7400" b="1" dirty="0"/>
              <a:t>Requirements </a:t>
            </a:r>
            <a:endParaRPr lang="en-US" sz="7400" b="1" dirty="0" smtClean="0"/>
          </a:p>
          <a:p>
            <a:pPr algn="just">
              <a:buFont typeface="Wingdings" pitchFamily="2" charset="2"/>
              <a:buChar char="ü"/>
            </a:pPr>
            <a:endParaRPr lang="en-US" sz="7400" b="1" dirty="0" smtClean="0"/>
          </a:p>
          <a:p>
            <a:pPr algn="just">
              <a:buFont typeface="Wingdings" pitchFamily="2" charset="2"/>
              <a:buChar char="ü"/>
            </a:pPr>
            <a:r>
              <a:rPr lang="en-US" sz="7400" b="1" dirty="0" smtClean="0"/>
              <a:t>Domain </a:t>
            </a:r>
            <a:r>
              <a:rPr lang="en-US" sz="7400" b="1" dirty="0"/>
              <a:t>analysis: </a:t>
            </a:r>
            <a:r>
              <a:rPr lang="en-US" sz="7400" dirty="0"/>
              <a:t>The domain analysis is done by </a:t>
            </a:r>
            <a:r>
              <a:rPr lang="en-US" sz="7400" b="1" dirty="0"/>
              <a:t>defining object classes</a:t>
            </a:r>
            <a:r>
              <a:rPr lang="en-US" sz="7400" dirty="0"/>
              <a:t>; their attributes, inheritance, and methods. State diagrams for the objects are then established. </a:t>
            </a:r>
            <a:endParaRPr lang="en-US" sz="7400" dirty="0" smtClean="0"/>
          </a:p>
          <a:p>
            <a:pPr algn="just">
              <a:buFont typeface="Wingdings" pitchFamily="2" charset="2"/>
              <a:buChar char="ü"/>
            </a:pPr>
            <a:endParaRPr lang="en-US" sz="7400" dirty="0"/>
          </a:p>
          <a:p>
            <a:pPr algn="just">
              <a:buFont typeface="Wingdings" pitchFamily="2" charset="2"/>
              <a:buChar char="ü"/>
            </a:pPr>
            <a:r>
              <a:rPr lang="en-US" sz="7400" dirty="0"/>
              <a:t>The analysis phase is completed with a </a:t>
            </a:r>
            <a:r>
              <a:rPr lang="en-US" sz="7400" b="1" dirty="0"/>
              <a:t>validation step</a:t>
            </a:r>
            <a:r>
              <a:rPr lang="en-US" sz="7400" dirty="0"/>
              <a:t>. </a:t>
            </a:r>
          </a:p>
          <a:p>
            <a:pPr algn="just">
              <a:buFont typeface="Wingdings" pitchFamily="2" charset="2"/>
              <a:buChar char="ü"/>
            </a:pPr>
            <a:endParaRPr lang="en-US" sz="7400" dirty="0" smtClean="0"/>
          </a:p>
          <a:p>
            <a:pPr algn="just"/>
            <a:endParaRPr lang="en-US" sz="7400" dirty="0"/>
          </a:p>
          <a:p>
            <a:pPr algn="just">
              <a:buFont typeface="Wingdings" pitchFamily="2" charset="2"/>
              <a:buChar char="ü"/>
            </a:pPr>
            <a:r>
              <a:rPr lang="en-US" sz="7400" dirty="0"/>
              <a:t>The analysis phase iterates between the customer's requirements step, the domain analysis step, and the validation step until consistency is reached. </a:t>
            </a:r>
          </a:p>
          <a:p>
            <a:pPr algn="just">
              <a:buFont typeface="Wingdings" pitchFamily="2" charset="2"/>
              <a:buChar char="ü"/>
            </a:pPr>
            <a:endParaRPr lang="en-US" sz="5100" dirty="0"/>
          </a:p>
          <a:p>
            <a:pPr marL="0" indent="0" algn="just">
              <a:buNone/>
            </a:pPr>
            <a:endParaRPr lang="en-US" sz="5100" dirty="0" smtClean="0"/>
          </a:p>
          <a:p>
            <a:pPr marL="0" indent="0">
              <a:buNone/>
            </a:pPr>
            <a:r>
              <a:rPr lang="en-US" sz="5100" dirty="0" smtClean="0"/>
              <a:t> </a:t>
            </a:r>
            <a:endParaRPr lang="en-US" sz="5100" dirty="0"/>
          </a:p>
          <a:p>
            <a:endParaRPr lang="en-US" dirty="0"/>
          </a:p>
        </p:txBody>
      </p:sp>
    </p:spTree>
    <p:extLst>
      <p:ext uri="{BB962C8B-B14F-4D97-AF65-F5344CB8AC3E}">
        <p14:creationId xmlns:p14="http://schemas.microsoft.com/office/powerpoint/2010/main" val="24307772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62"/>
          </a:xfrm>
        </p:spPr>
        <p:txBody>
          <a:bodyPr/>
          <a:lstStyle/>
          <a:p>
            <a:r>
              <a:rPr lang="en-US" b="1" dirty="0"/>
              <a:t>THE BOOCH METHODOLOGY</a:t>
            </a:r>
            <a:endParaRPr lang="en-US" dirty="0"/>
          </a:p>
        </p:txBody>
      </p:sp>
      <p:sp>
        <p:nvSpPr>
          <p:cNvPr id="3" name="Content Placeholder 2"/>
          <p:cNvSpPr>
            <a:spLocks noGrp="1"/>
          </p:cNvSpPr>
          <p:nvPr>
            <p:ph idx="1"/>
          </p:nvPr>
        </p:nvSpPr>
        <p:spPr>
          <a:xfrm>
            <a:off x="152400" y="1371600"/>
            <a:ext cx="8763000" cy="5257800"/>
          </a:xfrm>
        </p:spPr>
        <p:txBody>
          <a:bodyPr>
            <a:normAutofit fontScale="92500" lnSpcReduction="20000"/>
          </a:bodyPr>
          <a:lstStyle/>
          <a:p>
            <a:pPr algn="just"/>
            <a:r>
              <a:rPr lang="en-US" sz="3000" dirty="0" smtClean="0"/>
              <a:t>The </a:t>
            </a:r>
            <a:r>
              <a:rPr lang="en-US" sz="3000" dirty="0"/>
              <a:t>design phase is </a:t>
            </a:r>
            <a:r>
              <a:rPr lang="en-US" sz="3000" b="1" dirty="0"/>
              <a:t>iterative</a:t>
            </a:r>
            <a:r>
              <a:rPr lang="en-US" sz="3000" dirty="0"/>
              <a:t>. </a:t>
            </a:r>
            <a:endParaRPr lang="en-US" sz="3000" dirty="0" smtClean="0"/>
          </a:p>
          <a:p>
            <a:pPr algn="just"/>
            <a:endParaRPr lang="en-US" sz="3000" dirty="0"/>
          </a:p>
          <a:p>
            <a:pPr algn="just"/>
            <a:r>
              <a:rPr lang="en-US" sz="3000" dirty="0"/>
              <a:t>A </a:t>
            </a:r>
            <a:r>
              <a:rPr lang="en-US" sz="3000" b="1" dirty="0"/>
              <a:t>logic design is mapped to a physical design</a:t>
            </a:r>
            <a:r>
              <a:rPr lang="en-US" sz="3000" dirty="0"/>
              <a:t> like processes, performance, data types, data structures, visibility are defined. </a:t>
            </a:r>
            <a:endParaRPr lang="en-US" sz="3000" dirty="0" smtClean="0"/>
          </a:p>
          <a:p>
            <a:pPr algn="just"/>
            <a:endParaRPr lang="en-US" sz="3000" dirty="0"/>
          </a:p>
          <a:p>
            <a:pPr algn="just"/>
            <a:r>
              <a:rPr lang="en-US" sz="3000" dirty="0"/>
              <a:t>A prototype is created and </a:t>
            </a:r>
            <a:r>
              <a:rPr lang="en-US" sz="3000" b="1" dirty="0"/>
              <a:t>tested</a:t>
            </a:r>
            <a:r>
              <a:rPr lang="en-US" sz="3000" dirty="0"/>
              <a:t>. The process iterates between the logical design, physical design, prototypes, and testing. </a:t>
            </a:r>
            <a:endParaRPr lang="en-US" sz="3000" dirty="0" smtClean="0"/>
          </a:p>
          <a:p>
            <a:pPr algn="just"/>
            <a:endParaRPr lang="en-US" sz="3000" dirty="0"/>
          </a:p>
          <a:p>
            <a:pPr algn="just"/>
            <a:r>
              <a:rPr lang="en-US" sz="3000" dirty="0"/>
              <a:t>The </a:t>
            </a:r>
            <a:r>
              <a:rPr lang="en-US" sz="3000" dirty="0" err="1"/>
              <a:t>Booch</a:t>
            </a:r>
            <a:r>
              <a:rPr lang="en-US" sz="3000" dirty="0"/>
              <a:t> software engineering methodology is </a:t>
            </a:r>
            <a:r>
              <a:rPr lang="en-US" sz="3000" b="1" dirty="0"/>
              <a:t>sequential in the sense that the analysis phase is completed and then the design phase </a:t>
            </a:r>
            <a:r>
              <a:rPr lang="en-US" sz="3000" dirty="0"/>
              <a:t>is completed. </a:t>
            </a:r>
          </a:p>
          <a:p>
            <a:endParaRPr lang="en-US" dirty="0"/>
          </a:p>
          <a:p>
            <a:endParaRPr lang="en-US" dirty="0"/>
          </a:p>
        </p:txBody>
      </p:sp>
    </p:spTree>
    <p:extLst>
      <p:ext uri="{BB962C8B-B14F-4D97-AF65-F5344CB8AC3E}">
        <p14:creationId xmlns:p14="http://schemas.microsoft.com/office/powerpoint/2010/main" val="3875246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BOOCH METHODOLOGY</a:t>
            </a:r>
            <a:endParaRPr lang="en-US" dirty="0"/>
          </a:p>
        </p:txBody>
      </p:sp>
      <p:sp>
        <p:nvSpPr>
          <p:cNvPr id="3" name="Content Placeholder 2"/>
          <p:cNvSpPr>
            <a:spLocks noGrp="1"/>
          </p:cNvSpPr>
          <p:nvPr>
            <p:ph idx="1"/>
          </p:nvPr>
        </p:nvSpPr>
        <p:spPr>
          <a:xfrm>
            <a:off x="457200" y="1600200"/>
            <a:ext cx="8229600" cy="5105400"/>
          </a:xfrm>
        </p:spPr>
        <p:txBody>
          <a:bodyPr>
            <a:normAutofit/>
          </a:bodyPr>
          <a:lstStyle/>
          <a:p>
            <a:pPr algn="just"/>
            <a:r>
              <a:rPr lang="en-US" dirty="0"/>
              <a:t>The </a:t>
            </a:r>
            <a:r>
              <a:rPr lang="en-US" dirty="0" err="1"/>
              <a:t>booch</a:t>
            </a:r>
            <a:r>
              <a:rPr lang="en-US" dirty="0"/>
              <a:t> method prescribes a </a:t>
            </a:r>
            <a:r>
              <a:rPr lang="en-US" dirty="0" smtClean="0"/>
              <a:t>macro development </a:t>
            </a:r>
            <a:r>
              <a:rPr lang="en-US" dirty="0"/>
              <a:t>and a micro </a:t>
            </a:r>
            <a:r>
              <a:rPr lang="en-US" dirty="0" smtClean="0"/>
              <a:t>development process.</a:t>
            </a:r>
          </a:p>
          <a:p>
            <a:pPr algn="just"/>
            <a:endParaRPr lang="en-US" dirty="0"/>
          </a:p>
          <a:p>
            <a:pPr algn="just"/>
            <a:r>
              <a:rPr lang="en-US" b="1" dirty="0" smtClean="0"/>
              <a:t>Macro process is high level process </a:t>
            </a:r>
            <a:r>
              <a:rPr lang="en-US" dirty="0" smtClean="0"/>
              <a:t>describing activities of development team as whole. </a:t>
            </a:r>
          </a:p>
          <a:p>
            <a:pPr algn="just"/>
            <a:endParaRPr lang="en-US" dirty="0" smtClean="0"/>
          </a:p>
          <a:p>
            <a:pPr algn="just"/>
            <a:r>
              <a:rPr lang="en-US" b="1" dirty="0" smtClean="0"/>
              <a:t>Micro </a:t>
            </a:r>
            <a:r>
              <a:rPr lang="en-US" b="1" dirty="0"/>
              <a:t>process is </a:t>
            </a:r>
            <a:r>
              <a:rPr lang="en-US" b="1" dirty="0" smtClean="0"/>
              <a:t>low </a:t>
            </a:r>
            <a:r>
              <a:rPr lang="en-US" b="1" dirty="0"/>
              <a:t>level process </a:t>
            </a:r>
            <a:r>
              <a:rPr lang="en-US" dirty="0"/>
              <a:t>describing </a:t>
            </a:r>
            <a:r>
              <a:rPr lang="en-US" dirty="0" smtClean="0"/>
              <a:t>technical activities </a:t>
            </a:r>
            <a:r>
              <a:rPr lang="en-US" dirty="0"/>
              <a:t>of development </a:t>
            </a:r>
            <a:r>
              <a:rPr lang="en-US" dirty="0" smtClean="0"/>
              <a:t>team.</a:t>
            </a:r>
            <a:endParaRPr lang="en-US" dirty="0"/>
          </a:p>
        </p:txBody>
      </p:sp>
    </p:spTree>
    <p:extLst>
      <p:ext uri="{BB962C8B-B14F-4D97-AF65-F5344CB8AC3E}">
        <p14:creationId xmlns:p14="http://schemas.microsoft.com/office/powerpoint/2010/main" val="28428801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THE BOOCH METHODOLOGY</a:t>
            </a:r>
            <a:endParaRPr lang="en-US" dirty="0"/>
          </a:p>
        </p:txBody>
      </p:sp>
      <p:sp>
        <p:nvSpPr>
          <p:cNvPr id="3" name="Content Placeholder 2"/>
          <p:cNvSpPr>
            <a:spLocks noGrp="1"/>
          </p:cNvSpPr>
          <p:nvPr>
            <p:ph idx="1"/>
          </p:nvPr>
        </p:nvSpPr>
        <p:spPr/>
        <p:txBody>
          <a:bodyPr/>
          <a:lstStyle/>
          <a:p>
            <a:endParaRPr lang="en-US" dirty="0"/>
          </a:p>
          <a:p>
            <a:pPr algn="just"/>
            <a:r>
              <a:rPr lang="en-US" dirty="0"/>
              <a:t>The </a:t>
            </a:r>
            <a:r>
              <a:rPr lang="en-US" dirty="0" err="1"/>
              <a:t>Booch</a:t>
            </a:r>
            <a:r>
              <a:rPr lang="en-US" dirty="0"/>
              <a:t> methodology concentrates on the analysis and design phase and does not consider the implementation or the testing phase in much detail. </a:t>
            </a:r>
          </a:p>
          <a:p>
            <a:endParaRPr lang="en-US" dirty="0"/>
          </a:p>
        </p:txBody>
      </p:sp>
    </p:spTree>
    <p:extLst>
      <p:ext uri="{BB962C8B-B14F-4D97-AF65-F5344CB8AC3E}">
        <p14:creationId xmlns:p14="http://schemas.microsoft.com/office/powerpoint/2010/main" val="38772502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62"/>
          </a:xfrm>
        </p:spPr>
        <p:txBody>
          <a:bodyPr/>
          <a:lstStyle/>
          <a:p>
            <a:r>
              <a:rPr lang="en-US" b="1" dirty="0"/>
              <a:t>JACOBSON OOSE </a:t>
            </a:r>
            <a:endParaRPr lang="en-US" dirty="0"/>
          </a:p>
        </p:txBody>
      </p:sp>
      <p:sp>
        <p:nvSpPr>
          <p:cNvPr id="3" name="Content Placeholder 2"/>
          <p:cNvSpPr>
            <a:spLocks noGrp="1"/>
          </p:cNvSpPr>
          <p:nvPr>
            <p:ph idx="1"/>
          </p:nvPr>
        </p:nvSpPr>
        <p:spPr>
          <a:xfrm>
            <a:off x="76200" y="1447800"/>
            <a:ext cx="8991600" cy="5257800"/>
          </a:xfrm>
        </p:spPr>
        <p:txBody>
          <a:bodyPr>
            <a:normAutofit lnSpcReduction="10000"/>
          </a:bodyPr>
          <a:lstStyle/>
          <a:p>
            <a:pPr algn="just"/>
            <a:r>
              <a:rPr lang="en-US" dirty="0" smtClean="0"/>
              <a:t>Object-Oriented </a:t>
            </a:r>
            <a:r>
              <a:rPr lang="en-US" dirty="0"/>
              <a:t>Software Engineering (OOSE) is a software design technique that is used in software design in object-oriented programming. </a:t>
            </a:r>
          </a:p>
          <a:p>
            <a:endParaRPr lang="en-US" dirty="0"/>
          </a:p>
          <a:p>
            <a:pPr algn="just"/>
            <a:r>
              <a:rPr lang="en-US" dirty="0"/>
              <a:t>OOSE is the first object-oriented design methodology that employs use cases in software design. </a:t>
            </a:r>
          </a:p>
          <a:p>
            <a:endParaRPr lang="en-US" dirty="0"/>
          </a:p>
          <a:p>
            <a:r>
              <a:rPr lang="en-US" dirty="0"/>
              <a:t>It includes requirements, an analysis, a design, an implementation and a testing model. </a:t>
            </a:r>
          </a:p>
          <a:p>
            <a:endParaRPr lang="en-US" dirty="0"/>
          </a:p>
        </p:txBody>
      </p:sp>
    </p:spTree>
    <p:extLst>
      <p:ext uri="{BB962C8B-B14F-4D97-AF65-F5344CB8AC3E}">
        <p14:creationId xmlns:p14="http://schemas.microsoft.com/office/powerpoint/2010/main" val="13376033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Comparison </a:t>
            </a:r>
            <a:endParaRPr lang="en-US" dirty="0"/>
          </a:p>
        </p:txBody>
      </p:sp>
      <p:sp>
        <p:nvSpPr>
          <p:cNvPr id="3" name="Content Placeholder 2"/>
          <p:cNvSpPr>
            <a:spLocks noGrp="1"/>
          </p:cNvSpPr>
          <p:nvPr>
            <p:ph idx="1"/>
          </p:nvPr>
        </p:nvSpPr>
        <p:spPr/>
        <p:txBody>
          <a:bodyPr/>
          <a:lstStyle/>
          <a:p>
            <a:r>
              <a:rPr lang="en-US" dirty="0" smtClean="0">
                <a:hlinkClick r:id="rId2" action="ppaction://hlinkfile"/>
              </a:rPr>
              <a:t>compare OO Methodologies.docx</a:t>
            </a:r>
            <a:endParaRPr lang="en-US" dirty="0"/>
          </a:p>
        </p:txBody>
      </p:sp>
    </p:spTree>
    <p:extLst>
      <p:ext uri="{BB962C8B-B14F-4D97-AF65-F5344CB8AC3E}">
        <p14:creationId xmlns:p14="http://schemas.microsoft.com/office/powerpoint/2010/main" val="310714924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Requirement Elicitation (Gathering)</a:t>
            </a:r>
            <a:endParaRPr lang="en-US" dirty="0"/>
          </a:p>
        </p:txBody>
      </p:sp>
      <p:sp>
        <p:nvSpPr>
          <p:cNvPr id="3" name="Content Placeholder 2"/>
          <p:cNvSpPr>
            <a:spLocks noGrp="1"/>
          </p:cNvSpPr>
          <p:nvPr>
            <p:ph idx="1"/>
          </p:nvPr>
        </p:nvSpPr>
        <p:spPr>
          <a:xfrm>
            <a:off x="457200" y="1600200"/>
            <a:ext cx="8229600" cy="5105400"/>
          </a:xfrm>
        </p:spPr>
        <p:txBody>
          <a:bodyPr>
            <a:normAutofit/>
          </a:bodyPr>
          <a:lstStyle/>
          <a:p>
            <a:pPr algn="just"/>
            <a:r>
              <a:rPr lang="en-US" sz="2400" b="1" dirty="0" smtClean="0"/>
              <a:t>A requirement </a:t>
            </a:r>
            <a:r>
              <a:rPr lang="en-US" sz="2400" dirty="0"/>
              <a:t>is a </a:t>
            </a:r>
            <a:r>
              <a:rPr lang="en-US" sz="2400" b="1" dirty="0"/>
              <a:t>feature</a:t>
            </a:r>
            <a:r>
              <a:rPr lang="en-US" sz="2400" dirty="0"/>
              <a:t> that the system must have or a </a:t>
            </a:r>
            <a:r>
              <a:rPr lang="en-US" sz="2400" b="1" dirty="0"/>
              <a:t>constraint</a:t>
            </a:r>
            <a:r>
              <a:rPr lang="en-US" sz="2400" dirty="0"/>
              <a:t> that it must satisfy to </a:t>
            </a:r>
            <a:r>
              <a:rPr lang="en-US" sz="2400" dirty="0" smtClean="0"/>
              <a:t>be </a:t>
            </a:r>
            <a:r>
              <a:rPr lang="en-US" sz="2400" b="1" dirty="0" smtClean="0"/>
              <a:t>accepted </a:t>
            </a:r>
            <a:r>
              <a:rPr lang="en-US" sz="2400" b="1" dirty="0"/>
              <a:t>by the </a:t>
            </a:r>
            <a:r>
              <a:rPr lang="en-US" sz="2400" b="1" dirty="0" smtClean="0"/>
              <a:t>client.</a:t>
            </a:r>
          </a:p>
          <a:p>
            <a:pPr algn="just"/>
            <a:endParaRPr lang="en-US" sz="2400" b="1" dirty="0"/>
          </a:p>
          <a:p>
            <a:pPr algn="just"/>
            <a:r>
              <a:rPr lang="en-US" sz="2400" b="1" dirty="0"/>
              <a:t>Requirements engineering </a:t>
            </a:r>
            <a:r>
              <a:rPr lang="en-US" sz="2400" dirty="0"/>
              <a:t>aims at </a:t>
            </a:r>
            <a:r>
              <a:rPr lang="en-US" sz="2400" b="1" dirty="0"/>
              <a:t>defining </a:t>
            </a:r>
            <a:r>
              <a:rPr lang="en-US" sz="2400" dirty="0"/>
              <a:t>the </a:t>
            </a:r>
            <a:r>
              <a:rPr lang="en-US" sz="2400" b="1" dirty="0"/>
              <a:t>requirements</a:t>
            </a:r>
            <a:r>
              <a:rPr lang="en-US" sz="2400" dirty="0"/>
              <a:t> of </a:t>
            </a:r>
            <a:r>
              <a:rPr lang="en-US" sz="2400" dirty="0" smtClean="0"/>
              <a:t>the system </a:t>
            </a:r>
            <a:r>
              <a:rPr lang="en-US" sz="2400" b="1" dirty="0"/>
              <a:t>under construction</a:t>
            </a:r>
            <a:r>
              <a:rPr lang="en-US" sz="2400" dirty="0" smtClean="0"/>
              <a:t>.</a:t>
            </a:r>
          </a:p>
          <a:p>
            <a:pPr algn="just"/>
            <a:endParaRPr lang="en-US" sz="2400" b="1" dirty="0" smtClean="0"/>
          </a:p>
          <a:p>
            <a:pPr algn="just"/>
            <a:r>
              <a:rPr lang="en-US" sz="2400" b="1" dirty="0"/>
              <a:t>Requirements engineering includes two main </a:t>
            </a:r>
            <a:r>
              <a:rPr lang="en-US" sz="2400" b="1" dirty="0" smtClean="0"/>
              <a:t>activities:</a:t>
            </a:r>
          </a:p>
          <a:p>
            <a:pPr algn="just"/>
            <a:endParaRPr lang="en-US" sz="2400" b="1" dirty="0" smtClean="0"/>
          </a:p>
          <a:p>
            <a:pPr algn="just">
              <a:buFont typeface="Wingdings" pitchFamily="2" charset="2"/>
              <a:buChar char="ü"/>
            </a:pPr>
            <a:r>
              <a:rPr lang="en-US" sz="2400" dirty="0"/>
              <a:t>requirements </a:t>
            </a:r>
            <a:r>
              <a:rPr lang="en-US" sz="2400" dirty="0" smtClean="0"/>
              <a:t>elicitation: specification of system that client understands.</a:t>
            </a:r>
          </a:p>
          <a:p>
            <a:pPr algn="just">
              <a:buFont typeface="Wingdings" pitchFamily="2" charset="2"/>
              <a:buChar char="ü"/>
            </a:pPr>
            <a:endParaRPr lang="en-US" sz="2400" dirty="0" smtClean="0"/>
          </a:p>
          <a:p>
            <a:pPr algn="just">
              <a:buFont typeface="Wingdings" pitchFamily="2" charset="2"/>
              <a:buChar char="ü"/>
            </a:pPr>
            <a:r>
              <a:rPr lang="en-US" sz="2400" dirty="0" smtClean="0"/>
              <a:t>Analysis: analysis model that developers can interpret.</a:t>
            </a:r>
            <a:endParaRPr lang="en-US" sz="2400" b="1" dirty="0"/>
          </a:p>
          <a:p>
            <a:pPr algn="just"/>
            <a:endParaRPr lang="en-US" b="1" dirty="0"/>
          </a:p>
        </p:txBody>
      </p:sp>
    </p:spTree>
    <p:extLst>
      <p:ext uri="{BB962C8B-B14F-4D97-AF65-F5344CB8AC3E}">
        <p14:creationId xmlns:p14="http://schemas.microsoft.com/office/powerpoint/2010/main" val="227236852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 </a:t>
            </a:r>
            <a:r>
              <a:rPr lang="en-US" dirty="0" smtClean="0"/>
              <a:t>Elicitation</a:t>
            </a:r>
            <a:endParaRPr lang="en-US" dirty="0"/>
          </a:p>
        </p:txBody>
      </p:sp>
      <p:sp>
        <p:nvSpPr>
          <p:cNvPr id="3" name="Content Placeholder 2"/>
          <p:cNvSpPr>
            <a:spLocks noGrp="1"/>
          </p:cNvSpPr>
          <p:nvPr>
            <p:ph idx="1"/>
          </p:nvPr>
        </p:nvSpPr>
        <p:spPr>
          <a:xfrm>
            <a:off x="457200" y="1600200"/>
            <a:ext cx="8229600" cy="5105400"/>
          </a:xfrm>
        </p:spPr>
        <p:txBody>
          <a:bodyPr>
            <a:noAutofit/>
          </a:bodyPr>
          <a:lstStyle/>
          <a:p>
            <a:pPr algn="just"/>
            <a:r>
              <a:rPr lang="en-US" sz="2800" b="1" dirty="0"/>
              <a:t>Requirements elicitation </a:t>
            </a:r>
            <a:r>
              <a:rPr lang="en-US" sz="2800" dirty="0"/>
              <a:t>is about </a:t>
            </a:r>
            <a:r>
              <a:rPr lang="en-US" sz="2800" b="1" dirty="0"/>
              <a:t>communication</a:t>
            </a:r>
            <a:r>
              <a:rPr lang="en-US" sz="2800" dirty="0"/>
              <a:t> among </a:t>
            </a:r>
            <a:r>
              <a:rPr lang="en-US" sz="2800" b="1" dirty="0" smtClean="0"/>
              <a:t>developers </a:t>
            </a:r>
            <a:r>
              <a:rPr lang="en-US" sz="2800" dirty="0" smtClean="0"/>
              <a:t>and </a:t>
            </a:r>
            <a:r>
              <a:rPr lang="en-US" sz="2800" b="1" dirty="0"/>
              <a:t>users</a:t>
            </a:r>
            <a:r>
              <a:rPr lang="en-US" sz="2800" dirty="0"/>
              <a:t> </a:t>
            </a:r>
            <a:r>
              <a:rPr lang="en-US" sz="2800" dirty="0" smtClean="0"/>
              <a:t>to define </a:t>
            </a:r>
            <a:r>
              <a:rPr lang="en-US" sz="2800" dirty="0"/>
              <a:t>a new system</a:t>
            </a:r>
            <a:r>
              <a:rPr lang="en-US" sz="2800" dirty="0" smtClean="0"/>
              <a:t>.</a:t>
            </a:r>
          </a:p>
          <a:p>
            <a:pPr algn="just"/>
            <a:endParaRPr lang="en-US" sz="2800" dirty="0"/>
          </a:p>
          <a:p>
            <a:pPr algn="just"/>
            <a:r>
              <a:rPr lang="en-US" sz="2800" b="1" dirty="0"/>
              <a:t>Failure to communicate </a:t>
            </a:r>
            <a:r>
              <a:rPr lang="en-US" sz="2800" dirty="0"/>
              <a:t>and understand each </a:t>
            </a:r>
            <a:r>
              <a:rPr lang="en-US" sz="2800" dirty="0" smtClean="0"/>
              <a:t>others - </a:t>
            </a:r>
            <a:r>
              <a:rPr lang="en-US" sz="2800" b="1" dirty="0" smtClean="0"/>
              <a:t>system fails</a:t>
            </a:r>
          </a:p>
          <a:p>
            <a:pPr algn="just"/>
            <a:endParaRPr lang="en-US" sz="2800" dirty="0"/>
          </a:p>
          <a:p>
            <a:pPr algn="just"/>
            <a:r>
              <a:rPr lang="en-US" sz="2800" b="1" dirty="0"/>
              <a:t>Errors</a:t>
            </a:r>
            <a:r>
              <a:rPr lang="en-US" sz="2800" dirty="0"/>
              <a:t> </a:t>
            </a:r>
            <a:r>
              <a:rPr lang="en-US" sz="2800" dirty="0" smtClean="0"/>
              <a:t>introduced during </a:t>
            </a:r>
            <a:r>
              <a:rPr lang="en-US" sz="2800" b="1" dirty="0"/>
              <a:t>requirements elicitation </a:t>
            </a:r>
            <a:r>
              <a:rPr lang="en-US" sz="2800" dirty="0"/>
              <a:t>are </a:t>
            </a:r>
            <a:r>
              <a:rPr lang="en-US" sz="2800" b="1" dirty="0"/>
              <a:t>expensive to correct</a:t>
            </a:r>
            <a:r>
              <a:rPr lang="en-US" sz="2800" dirty="0"/>
              <a:t>, as they are usually discovered late in </a:t>
            </a:r>
            <a:r>
              <a:rPr lang="en-US" sz="2800" dirty="0" smtClean="0"/>
              <a:t>the process</a:t>
            </a:r>
            <a:r>
              <a:rPr lang="en-US" sz="2800" dirty="0"/>
              <a:t>, often as late as delivery.</a:t>
            </a:r>
          </a:p>
        </p:txBody>
      </p:sp>
    </p:spTree>
    <p:extLst>
      <p:ext uri="{BB962C8B-B14F-4D97-AF65-F5344CB8AC3E}">
        <p14:creationId xmlns:p14="http://schemas.microsoft.com/office/powerpoint/2010/main" val="284357238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lstStyle/>
          <a:p>
            <a:r>
              <a:rPr lang="en-US" dirty="0"/>
              <a:t>Requirement Elicitation</a:t>
            </a:r>
          </a:p>
        </p:txBody>
      </p:sp>
      <p:sp>
        <p:nvSpPr>
          <p:cNvPr id="3" name="Content Placeholder 2"/>
          <p:cNvSpPr>
            <a:spLocks noGrp="1"/>
          </p:cNvSpPr>
          <p:nvPr>
            <p:ph idx="1"/>
          </p:nvPr>
        </p:nvSpPr>
        <p:spPr>
          <a:xfrm>
            <a:off x="152400" y="1447800"/>
            <a:ext cx="8839200" cy="5181600"/>
          </a:xfrm>
        </p:spPr>
        <p:txBody>
          <a:bodyPr/>
          <a:lstStyle/>
          <a:p>
            <a:pPr algn="just"/>
            <a:r>
              <a:rPr lang="en-US" dirty="0"/>
              <a:t>Requirements elicitation methods </a:t>
            </a:r>
            <a:r>
              <a:rPr lang="en-US" b="1" dirty="0"/>
              <a:t>aim </a:t>
            </a:r>
            <a:r>
              <a:rPr lang="en-US" b="1" dirty="0" smtClean="0"/>
              <a:t>at improving </a:t>
            </a:r>
            <a:r>
              <a:rPr lang="en-US" b="1" dirty="0"/>
              <a:t>communication</a:t>
            </a:r>
            <a:r>
              <a:rPr lang="en-US" dirty="0"/>
              <a:t> among developers, clients, and users</a:t>
            </a:r>
            <a:r>
              <a:rPr lang="en-US" dirty="0" smtClean="0"/>
              <a:t>.</a:t>
            </a:r>
          </a:p>
          <a:p>
            <a:pPr algn="just"/>
            <a:endParaRPr lang="en-US" dirty="0"/>
          </a:p>
          <a:p>
            <a:pPr algn="just"/>
            <a:r>
              <a:rPr lang="en-US" b="1" dirty="0" smtClean="0"/>
              <a:t>Requirement Specification:</a:t>
            </a:r>
            <a:r>
              <a:rPr lang="en-US" dirty="0" smtClean="0"/>
              <a:t> </a:t>
            </a:r>
            <a:r>
              <a:rPr lang="en-US" dirty="0"/>
              <a:t>The client, </a:t>
            </a:r>
            <a:r>
              <a:rPr lang="en-US" dirty="0" smtClean="0"/>
              <a:t>the developers</a:t>
            </a:r>
            <a:r>
              <a:rPr lang="en-US" dirty="0"/>
              <a:t>, and the users </a:t>
            </a:r>
            <a:r>
              <a:rPr lang="en-US" b="1" dirty="0"/>
              <a:t>identify a problem area </a:t>
            </a:r>
            <a:r>
              <a:rPr lang="en-US" dirty="0"/>
              <a:t>and </a:t>
            </a:r>
            <a:r>
              <a:rPr lang="en-US" b="1" dirty="0"/>
              <a:t>define a system </a:t>
            </a:r>
            <a:r>
              <a:rPr lang="en-US" dirty="0"/>
              <a:t>that </a:t>
            </a:r>
            <a:r>
              <a:rPr lang="en-US" b="1" dirty="0"/>
              <a:t>addresses </a:t>
            </a:r>
            <a:r>
              <a:rPr lang="en-US" b="1" dirty="0" smtClean="0"/>
              <a:t>the problem</a:t>
            </a:r>
            <a:r>
              <a:rPr lang="en-US" dirty="0"/>
              <a:t>.</a:t>
            </a:r>
          </a:p>
        </p:txBody>
      </p:sp>
    </p:spTree>
    <p:extLst>
      <p:ext uri="{BB962C8B-B14F-4D97-AF65-F5344CB8AC3E}">
        <p14:creationId xmlns:p14="http://schemas.microsoft.com/office/powerpoint/2010/main" val="29925181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9989813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Requirements Elicitation Activities</a:t>
            </a:r>
            <a:endParaRPr lang="en-US" dirty="0"/>
          </a:p>
        </p:txBody>
      </p:sp>
      <p:sp>
        <p:nvSpPr>
          <p:cNvPr id="3" name="Content Placeholder 2"/>
          <p:cNvSpPr>
            <a:spLocks noGrp="1"/>
          </p:cNvSpPr>
          <p:nvPr>
            <p:ph idx="1"/>
          </p:nvPr>
        </p:nvSpPr>
        <p:spPr>
          <a:xfrm>
            <a:off x="152400" y="1600200"/>
            <a:ext cx="8915400" cy="5105400"/>
          </a:xfrm>
        </p:spPr>
        <p:txBody>
          <a:bodyPr>
            <a:normAutofit fontScale="92500"/>
          </a:bodyPr>
          <a:lstStyle/>
          <a:p>
            <a:pPr marL="0" indent="0" algn="just">
              <a:buNone/>
            </a:pPr>
            <a:r>
              <a:rPr lang="en-US" b="1" i="1" dirty="0" smtClean="0"/>
              <a:t>1. Identifying actors</a:t>
            </a:r>
            <a:r>
              <a:rPr lang="en-US" dirty="0"/>
              <a:t>:</a:t>
            </a:r>
            <a:r>
              <a:rPr lang="en-US" dirty="0" smtClean="0"/>
              <a:t> developers </a:t>
            </a:r>
            <a:r>
              <a:rPr lang="en-US" b="1" dirty="0"/>
              <a:t>identify the different types of </a:t>
            </a:r>
            <a:r>
              <a:rPr lang="en-US" b="1" dirty="0" smtClean="0"/>
              <a:t>users</a:t>
            </a:r>
            <a:r>
              <a:rPr lang="en-US" dirty="0" smtClean="0"/>
              <a:t> the </a:t>
            </a:r>
            <a:r>
              <a:rPr lang="en-US" dirty="0"/>
              <a:t>future system will support</a:t>
            </a:r>
            <a:r>
              <a:rPr lang="en-US" dirty="0" smtClean="0"/>
              <a:t>.</a:t>
            </a:r>
          </a:p>
          <a:p>
            <a:pPr marL="0" indent="0" algn="just">
              <a:buNone/>
            </a:pPr>
            <a:endParaRPr lang="en-US" dirty="0" smtClean="0"/>
          </a:p>
          <a:p>
            <a:pPr marL="0" indent="0" algn="just">
              <a:buNone/>
            </a:pPr>
            <a:r>
              <a:rPr lang="en-US" b="1" i="1" dirty="0" smtClean="0"/>
              <a:t>2. Identifying scenarios</a:t>
            </a:r>
            <a:r>
              <a:rPr lang="en-US" b="1" dirty="0" smtClean="0"/>
              <a:t>: </a:t>
            </a:r>
          </a:p>
          <a:p>
            <a:pPr algn="just">
              <a:buFont typeface="Wingdings" pitchFamily="2" charset="2"/>
              <a:buChar char="ü"/>
            </a:pPr>
            <a:r>
              <a:rPr lang="en-US" dirty="0" smtClean="0"/>
              <a:t>developers </a:t>
            </a:r>
            <a:r>
              <a:rPr lang="en-US" b="1" dirty="0"/>
              <a:t>observe users </a:t>
            </a:r>
            <a:r>
              <a:rPr lang="en-US" dirty="0"/>
              <a:t>and develop a </a:t>
            </a:r>
            <a:r>
              <a:rPr lang="en-US" dirty="0" smtClean="0"/>
              <a:t>set of </a:t>
            </a:r>
            <a:r>
              <a:rPr lang="en-US" dirty="0"/>
              <a:t>detailed </a:t>
            </a:r>
            <a:r>
              <a:rPr lang="en-US" dirty="0" smtClean="0"/>
              <a:t>scenarios (</a:t>
            </a:r>
            <a:r>
              <a:rPr lang="en-US" b="1" dirty="0" smtClean="0"/>
              <a:t>concrete examples of future systems</a:t>
            </a:r>
            <a:r>
              <a:rPr lang="en-US" dirty="0" smtClean="0"/>
              <a:t>) </a:t>
            </a:r>
            <a:r>
              <a:rPr lang="en-US" dirty="0"/>
              <a:t>for typical functionality provided by the future system. </a:t>
            </a:r>
            <a:endParaRPr lang="en-US" dirty="0" smtClean="0"/>
          </a:p>
          <a:p>
            <a:pPr algn="just">
              <a:buFont typeface="Wingdings" pitchFamily="2" charset="2"/>
              <a:buChar char="ü"/>
            </a:pPr>
            <a:r>
              <a:rPr lang="en-US" dirty="0" smtClean="0"/>
              <a:t>Scenarios used for understanding application domain in detail.</a:t>
            </a:r>
            <a:endParaRPr lang="en-US" dirty="0"/>
          </a:p>
        </p:txBody>
      </p:sp>
    </p:spTree>
    <p:extLst>
      <p:ext uri="{BB962C8B-B14F-4D97-AF65-F5344CB8AC3E}">
        <p14:creationId xmlns:p14="http://schemas.microsoft.com/office/powerpoint/2010/main" val="259760710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Requirements Elicitation </a:t>
            </a:r>
            <a:r>
              <a:rPr lang="en-US" dirty="0" smtClean="0"/>
              <a:t>Activities</a:t>
            </a:r>
            <a:endParaRPr lang="en-US" dirty="0"/>
          </a:p>
        </p:txBody>
      </p:sp>
      <p:sp>
        <p:nvSpPr>
          <p:cNvPr id="3" name="Content Placeholder 2"/>
          <p:cNvSpPr>
            <a:spLocks noGrp="1"/>
          </p:cNvSpPr>
          <p:nvPr>
            <p:ph idx="1"/>
          </p:nvPr>
        </p:nvSpPr>
        <p:spPr>
          <a:xfrm>
            <a:off x="457200" y="1600200"/>
            <a:ext cx="8229600" cy="5029200"/>
          </a:xfrm>
        </p:spPr>
        <p:txBody>
          <a:bodyPr>
            <a:normAutofit/>
          </a:bodyPr>
          <a:lstStyle/>
          <a:p>
            <a:pPr marL="0" indent="0" algn="just">
              <a:buNone/>
            </a:pPr>
            <a:r>
              <a:rPr lang="en-US" b="1" i="1" dirty="0" smtClean="0"/>
              <a:t>3. Identifying </a:t>
            </a:r>
            <a:r>
              <a:rPr lang="en-US" b="1" i="1" dirty="0"/>
              <a:t>use </a:t>
            </a:r>
            <a:r>
              <a:rPr lang="en-US" b="1" i="1" dirty="0" smtClean="0"/>
              <a:t>cases</a:t>
            </a:r>
            <a:r>
              <a:rPr lang="en-US" b="1" dirty="0"/>
              <a:t>:</a:t>
            </a:r>
            <a:r>
              <a:rPr lang="en-US" b="1" dirty="0" smtClean="0"/>
              <a:t> </a:t>
            </a:r>
          </a:p>
          <a:p>
            <a:pPr algn="just">
              <a:buFont typeface="Wingdings" pitchFamily="2" charset="2"/>
              <a:buChar char="ü"/>
            </a:pPr>
            <a:r>
              <a:rPr lang="en-US" dirty="0" smtClean="0"/>
              <a:t>Once </a:t>
            </a:r>
            <a:r>
              <a:rPr lang="en-US" dirty="0"/>
              <a:t>developers and users agree on a set of </a:t>
            </a:r>
            <a:r>
              <a:rPr lang="en-US" dirty="0" smtClean="0"/>
              <a:t>scenarios.</a:t>
            </a:r>
          </a:p>
          <a:p>
            <a:pPr algn="just">
              <a:buFont typeface="Wingdings" pitchFamily="2" charset="2"/>
              <a:buChar char="ü"/>
            </a:pPr>
            <a:endParaRPr lang="en-US" dirty="0" smtClean="0"/>
          </a:p>
          <a:p>
            <a:pPr algn="just">
              <a:buFont typeface="Wingdings" pitchFamily="2" charset="2"/>
              <a:buChar char="ü"/>
            </a:pPr>
            <a:r>
              <a:rPr lang="en-US" dirty="0" smtClean="0"/>
              <a:t>Set of use cases are derived from scenarios that represent future systems.</a:t>
            </a:r>
          </a:p>
          <a:p>
            <a:pPr algn="just">
              <a:buFont typeface="Wingdings" pitchFamily="2" charset="2"/>
              <a:buChar char="ü"/>
            </a:pPr>
            <a:endParaRPr lang="en-US" dirty="0" smtClean="0"/>
          </a:p>
          <a:p>
            <a:pPr algn="just">
              <a:buFont typeface="Wingdings" pitchFamily="2" charset="2"/>
              <a:buChar char="ü"/>
            </a:pPr>
            <a:r>
              <a:rPr lang="en-US" dirty="0" smtClean="0"/>
              <a:t>Use </a:t>
            </a:r>
            <a:r>
              <a:rPr lang="en-US" dirty="0"/>
              <a:t>cases are abstractions describing all possible </a:t>
            </a:r>
            <a:r>
              <a:rPr lang="en-US" dirty="0" smtClean="0"/>
              <a:t>cases of the system</a:t>
            </a:r>
          </a:p>
          <a:p>
            <a:pPr marL="0" indent="0" algn="just">
              <a:buNone/>
            </a:pPr>
            <a:endParaRPr lang="en-US" dirty="0" smtClean="0"/>
          </a:p>
        </p:txBody>
      </p:sp>
    </p:spTree>
    <p:extLst>
      <p:ext uri="{BB962C8B-B14F-4D97-AF65-F5344CB8AC3E}">
        <p14:creationId xmlns:p14="http://schemas.microsoft.com/office/powerpoint/2010/main" val="5323206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Requirements Elicitation </a:t>
            </a:r>
            <a:r>
              <a:rPr lang="en-US" dirty="0" smtClean="0"/>
              <a:t>Activities</a:t>
            </a:r>
            <a:endParaRPr lang="en-US" dirty="0"/>
          </a:p>
        </p:txBody>
      </p:sp>
      <p:sp>
        <p:nvSpPr>
          <p:cNvPr id="3" name="Content Placeholder 2"/>
          <p:cNvSpPr>
            <a:spLocks noGrp="1"/>
          </p:cNvSpPr>
          <p:nvPr>
            <p:ph idx="1"/>
          </p:nvPr>
        </p:nvSpPr>
        <p:spPr/>
        <p:txBody>
          <a:bodyPr/>
          <a:lstStyle/>
          <a:p>
            <a:pPr marL="0" indent="0" algn="just">
              <a:buNone/>
            </a:pPr>
            <a:r>
              <a:rPr lang="en-US" b="1" i="1" dirty="0" smtClean="0"/>
              <a:t>4. Refining </a:t>
            </a:r>
            <a:r>
              <a:rPr lang="en-US" b="1" i="1" dirty="0"/>
              <a:t>use </a:t>
            </a:r>
            <a:r>
              <a:rPr lang="en-US" b="1" i="1" dirty="0" smtClean="0"/>
              <a:t>cases</a:t>
            </a:r>
            <a:r>
              <a:rPr lang="en-US" b="1" dirty="0"/>
              <a:t>:</a:t>
            </a:r>
            <a:r>
              <a:rPr lang="en-US" dirty="0" smtClean="0"/>
              <a:t> </a:t>
            </a:r>
          </a:p>
          <a:p>
            <a:pPr algn="just">
              <a:buFont typeface="Wingdings" pitchFamily="2" charset="2"/>
              <a:buChar char="ü"/>
            </a:pPr>
            <a:r>
              <a:rPr lang="en-US" b="1" dirty="0" smtClean="0"/>
              <a:t>requirements specification </a:t>
            </a:r>
            <a:r>
              <a:rPr lang="en-US" b="1" dirty="0"/>
              <a:t>is complete </a:t>
            </a:r>
            <a:r>
              <a:rPr lang="en-US" dirty="0"/>
              <a:t>by detailing each use </a:t>
            </a:r>
            <a:r>
              <a:rPr lang="en-US" dirty="0" smtClean="0"/>
              <a:t>case.</a:t>
            </a:r>
          </a:p>
          <a:p>
            <a:pPr marL="0" indent="0" algn="just">
              <a:buNone/>
            </a:pPr>
            <a:r>
              <a:rPr lang="en-US" dirty="0" smtClean="0"/>
              <a:t> </a:t>
            </a:r>
            <a:endParaRPr lang="en-US" dirty="0"/>
          </a:p>
          <a:p>
            <a:pPr algn="just">
              <a:buFont typeface="Wingdings" pitchFamily="2" charset="2"/>
              <a:buChar char="ü"/>
            </a:pPr>
            <a:r>
              <a:rPr lang="en-US" dirty="0" smtClean="0"/>
              <a:t>describing </a:t>
            </a:r>
            <a:r>
              <a:rPr lang="en-US" dirty="0"/>
              <a:t>the </a:t>
            </a:r>
            <a:r>
              <a:rPr lang="en-US" b="1" dirty="0"/>
              <a:t>behavior of </a:t>
            </a:r>
            <a:r>
              <a:rPr lang="en-US" b="1" dirty="0" smtClean="0"/>
              <a:t>the system </a:t>
            </a:r>
            <a:r>
              <a:rPr lang="en-US" dirty="0"/>
              <a:t>in the presence of </a:t>
            </a:r>
            <a:r>
              <a:rPr lang="en-US" b="1" dirty="0"/>
              <a:t>errors</a:t>
            </a:r>
            <a:r>
              <a:rPr lang="en-US" dirty="0"/>
              <a:t> and exceptional conditions.</a:t>
            </a:r>
          </a:p>
        </p:txBody>
      </p:sp>
    </p:spTree>
    <p:extLst>
      <p:ext uri="{BB962C8B-B14F-4D97-AF65-F5344CB8AC3E}">
        <p14:creationId xmlns:p14="http://schemas.microsoft.com/office/powerpoint/2010/main" val="261748339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 Elicitation Activities</a:t>
            </a:r>
          </a:p>
        </p:txBody>
      </p:sp>
      <p:sp>
        <p:nvSpPr>
          <p:cNvPr id="3" name="Content Placeholder 2"/>
          <p:cNvSpPr>
            <a:spLocks noGrp="1"/>
          </p:cNvSpPr>
          <p:nvPr>
            <p:ph idx="1"/>
          </p:nvPr>
        </p:nvSpPr>
        <p:spPr/>
        <p:txBody>
          <a:bodyPr/>
          <a:lstStyle/>
          <a:p>
            <a:pPr marL="0" indent="0" algn="just">
              <a:buNone/>
            </a:pPr>
            <a:r>
              <a:rPr lang="en-US" b="1" i="1" dirty="0" smtClean="0"/>
              <a:t>5. Identifying </a:t>
            </a:r>
            <a:r>
              <a:rPr lang="en-US" b="1" i="1" dirty="0"/>
              <a:t>relationships among use </a:t>
            </a:r>
            <a:r>
              <a:rPr lang="en-US" b="1" i="1" dirty="0" smtClean="0"/>
              <a:t>cases</a:t>
            </a:r>
            <a:r>
              <a:rPr lang="en-US" dirty="0" smtClean="0"/>
              <a:t>:</a:t>
            </a:r>
          </a:p>
          <a:p>
            <a:pPr algn="just">
              <a:buFont typeface="Wingdings" pitchFamily="2" charset="2"/>
              <a:buChar char="ü"/>
            </a:pPr>
            <a:r>
              <a:rPr lang="en-US" dirty="0" smtClean="0"/>
              <a:t> identify dependencies </a:t>
            </a:r>
            <a:r>
              <a:rPr lang="en-US" dirty="0"/>
              <a:t>among use cases</a:t>
            </a:r>
            <a:r>
              <a:rPr lang="en-US" dirty="0" smtClean="0"/>
              <a:t>.</a:t>
            </a:r>
          </a:p>
          <a:p>
            <a:pPr marL="0" indent="0" algn="just">
              <a:buNone/>
            </a:pPr>
            <a:endParaRPr lang="en-US" dirty="0" smtClean="0"/>
          </a:p>
          <a:p>
            <a:pPr algn="just">
              <a:buFont typeface="Wingdings" pitchFamily="2" charset="2"/>
              <a:buChar char="ü"/>
            </a:pPr>
            <a:r>
              <a:rPr lang="en-US" dirty="0"/>
              <a:t>Consolidate(combine) the use case model by factoring out common functionality. </a:t>
            </a:r>
            <a:endParaRPr lang="en-US" dirty="0" smtClean="0"/>
          </a:p>
        </p:txBody>
      </p:sp>
    </p:spTree>
    <p:extLst>
      <p:ext uri="{BB962C8B-B14F-4D97-AF65-F5344CB8AC3E}">
        <p14:creationId xmlns:p14="http://schemas.microsoft.com/office/powerpoint/2010/main" val="376505253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Requirements Elicitation Activities</a:t>
            </a:r>
          </a:p>
        </p:txBody>
      </p:sp>
      <p:sp>
        <p:nvSpPr>
          <p:cNvPr id="3" name="Content Placeholder 2"/>
          <p:cNvSpPr>
            <a:spLocks noGrp="1"/>
          </p:cNvSpPr>
          <p:nvPr>
            <p:ph idx="1"/>
          </p:nvPr>
        </p:nvSpPr>
        <p:spPr>
          <a:xfrm>
            <a:off x="457200" y="1600200"/>
            <a:ext cx="8229600" cy="5105400"/>
          </a:xfrm>
        </p:spPr>
        <p:txBody>
          <a:bodyPr/>
          <a:lstStyle/>
          <a:p>
            <a:pPr algn="just"/>
            <a:r>
              <a:rPr lang="en-US" b="1" i="1" dirty="0"/>
              <a:t>Identifying nonfunctional </a:t>
            </a:r>
            <a:r>
              <a:rPr lang="en-US" b="1" i="1" dirty="0" smtClean="0"/>
              <a:t>requirements</a:t>
            </a:r>
            <a:r>
              <a:rPr lang="en-US" dirty="0" smtClean="0"/>
              <a:t>:</a:t>
            </a:r>
          </a:p>
          <a:p>
            <a:pPr algn="just">
              <a:buFont typeface="Wingdings" pitchFamily="2" charset="2"/>
              <a:buChar char="ü"/>
            </a:pPr>
            <a:r>
              <a:rPr lang="en-US" dirty="0" smtClean="0"/>
              <a:t>developers</a:t>
            </a:r>
            <a:r>
              <a:rPr lang="en-US" dirty="0"/>
              <a:t>, users, </a:t>
            </a:r>
            <a:r>
              <a:rPr lang="en-US" dirty="0" smtClean="0"/>
              <a:t>and clients </a:t>
            </a:r>
            <a:r>
              <a:rPr lang="en-US" dirty="0"/>
              <a:t>agree on aspects that are visible to the user, but not directly related </a:t>
            </a:r>
            <a:r>
              <a:rPr lang="en-US" dirty="0" smtClean="0"/>
              <a:t>to functionality</a:t>
            </a:r>
            <a:r>
              <a:rPr lang="en-US" dirty="0"/>
              <a:t>. </a:t>
            </a:r>
            <a:endParaRPr lang="en-US" dirty="0" smtClean="0"/>
          </a:p>
          <a:p>
            <a:pPr marL="0" indent="0" algn="just">
              <a:buNone/>
            </a:pPr>
            <a:endParaRPr lang="en-US" dirty="0" smtClean="0"/>
          </a:p>
          <a:p>
            <a:pPr algn="just">
              <a:buFont typeface="Wingdings" pitchFamily="2" charset="2"/>
              <a:buChar char="ü"/>
            </a:pPr>
            <a:r>
              <a:rPr lang="en-US" dirty="0" smtClean="0"/>
              <a:t>These </a:t>
            </a:r>
            <a:r>
              <a:rPr lang="en-US" dirty="0"/>
              <a:t>include constraints on the </a:t>
            </a:r>
            <a:r>
              <a:rPr lang="en-US" dirty="0" smtClean="0"/>
              <a:t>performance of </a:t>
            </a:r>
            <a:r>
              <a:rPr lang="en-US" dirty="0"/>
              <a:t>the system, </a:t>
            </a:r>
            <a:r>
              <a:rPr lang="en-US" dirty="0" smtClean="0"/>
              <a:t>its documentation</a:t>
            </a:r>
            <a:r>
              <a:rPr lang="en-US" dirty="0"/>
              <a:t>, the resources it consumes, its security, and its quality.</a:t>
            </a:r>
          </a:p>
        </p:txBody>
      </p:sp>
    </p:spTree>
    <p:extLst>
      <p:ext uri="{BB962C8B-B14F-4D97-AF65-F5344CB8AC3E}">
        <p14:creationId xmlns:p14="http://schemas.microsoft.com/office/powerpoint/2010/main" val="349300683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Requirement Elicitation Techniques</a:t>
            </a:r>
          </a:p>
        </p:txBody>
      </p:sp>
      <p:sp>
        <p:nvSpPr>
          <p:cNvPr id="3" name="Content Placeholder 2"/>
          <p:cNvSpPr>
            <a:spLocks noGrp="1"/>
          </p:cNvSpPr>
          <p:nvPr>
            <p:ph idx="1"/>
          </p:nvPr>
        </p:nvSpPr>
        <p:spPr>
          <a:xfrm>
            <a:off x="457200" y="1600200"/>
            <a:ext cx="8229600" cy="5105400"/>
          </a:xfrm>
        </p:spPr>
        <p:txBody>
          <a:bodyPr>
            <a:normAutofit fontScale="92500" lnSpcReduction="20000"/>
          </a:bodyPr>
          <a:lstStyle/>
          <a:p>
            <a:pPr lvl="1" algn="just">
              <a:lnSpc>
                <a:spcPct val="150000"/>
              </a:lnSpc>
              <a:spcBef>
                <a:spcPts val="750"/>
              </a:spcBef>
              <a:buClr>
                <a:srgbClr val="3D5500"/>
              </a:buClr>
              <a:buFont typeface="Arial" pitchFamily="34" charset="0"/>
              <a:buChar char="•"/>
              <a:defRPr/>
            </a:pPr>
            <a:r>
              <a:rPr lang="en-US" b="1" dirty="0">
                <a:solidFill>
                  <a:schemeClr val="bg2">
                    <a:lumMod val="10000"/>
                  </a:schemeClr>
                </a:solidFill>
              </a:rPr>
              <a:t>Questionnaires:</a:t>
            </a:r>
            <a:r>
              <a:rPr lang="en-US" b="1" i="1" dirty="0">
                <a:solidFill>
                  <a:schemeClr val="bg2">
                    <a:lumMod val="10000"/>
                  </a:schemeClr>
                </a:solidFill>
              </a:rPr>
              <a:t> </a:t>
            </a:r>
            <a:r>
              <a:rPr lang="en-US" dirty="0">
                <a:solidFill>
                  <a:schemeClr val="bg2">
                    <a:lumMod val="10000"/>
                  </a:schemeClr>
                </a:solidFill>
              </a:rPr>
              <a:t>Asking the end user a list of pre-selected questions</a:t>
            </a:r>
          </a:p>
          <a:p>
            <a:pPr lvl="1" algn="just">
              <a:lnSpc>
                <a:spcPct val="150000"/>
              </a:lnSpc>
              <a:spcBef>
                <a:spcPts val="750"/>
              </a:spcBef>
              <a:buClr>
                <a:srgbClr val="3D5500"/>
              </a:buClr>
              <a:buFont typeface="Arial" pitchFamily="34" charset="0"/>
              <a:buChar char="•"/>
              <a:defRPr/>
            </a:pPr>
            <a:r>
              <a:rPr lang="en-US" b="1" dirty="0">
                <a:solidFill>
                  <a:schemeClr val="bg2">
                    <a:lumMod val="10000"/>
                  </a:schemeClr>
                </a:solidFill>
              </a:rPr>
              <a:t>Task Analysis:</a:t>
            </a:r>
            <a:r>
              <a:rPr lang="en-US" b="1" i="1" dirty="0">
                <a:solidFill>
                  <a:schemeClr val="bg2">
                    <a:lumMod val="10000"/>
                  </a:schemeClr>
                </a:solidFill>
              </a:rPr>
              <a:t> </a:t>
            </a:r>
            <a:r>
              <a:rPr lang="en-US" dirty="0">
                <a:solidFill>
                  <a:schemeClr val="bg2">
                    <a:lumMod val="10000"/>
                  </a:schemeClr>
                </a:solidFill>
              </a:rPr>
              <a:t>Observing end users in their operational environment</a:t>
            </a:r>
          </a:p>
          <a:p>
            <a:pPr lvl="1" algn="just">
              <a:lnSpc>
                <a:spcPct val="150000"/>
              </a:lnSpc>
              <a:spcBef>
                <a:spcPts val="750"/>
              </a:spcBef>
              <a:buClr>
                <a:srgbClr val="3D5500"/>
              </a:buClr>
              <a:buFont typeface="Arial" pitchFamily="34" charset="0"/>
              <a:buChar char="•"/>
              <a:defRPr/>
            </a:pPr>
            <a:r>
              <a:rPr lang="en-US" b="1" dirty="0">
                <a:solidFill>
                  <a:schemeClr val="bg2">
                    <a:lumMod val="10000"/>
                  </a:schemeClr>
                </a:solidFill>
              </a:rPr>
              <a:t>Scenarios:</a:t>
            </a:r>
            <a:r>
              <a:rPr lang="en-US" dirty="0">
                <a:solidFill>
                  <a:schemeClr val="bg2">
                    <a:lumMod val="10000"/>
                  </a:schemeClr>
                </a:solidFill>
              </a:rPr>
              <a:t> Describe the use of the system as a series of interactions between a concrete end user and the system </a:t>
            </a:r>
          </a:p>
          <a:p>
            <a:pPr lvl="1" algn="just">
              <a:lnSpc>
                <a:spcPct val="150000"/>
              </a:lnSpc>
              <a:spcBef>
                <a:spcPts val="750"/>
              </a:spcBef>
              <a:buClr>
                <a:srgbClr val="3D5500"/>
              </a:buClr>
              <a:buFont typeface="Arial" pitchFamily="34" charset="0"/>
              <a:buChar char="•"/>
              <a:defRPr/>
            </a:pPr>
            <a:r>
              <a:rPr lang="en-US" b="1" dirty="0">
                <a:solidFill>
                  <a:schemeClr val="bg2">
                    <a:lumMod val="10000"/>
                  </a:schemeClr>
                </a:solidFill>
              </a:rPr>
              <a:t>Use cases:</a:t>
            </a:r>
            <a:r>
              <a:rPr lang="en-US" dirty="0">
                <a:solidFill>
                  <a:schemeClr val="bg2">
                    <a:lumMod val="10000"/>
                  </a:schemeClr>
                </a:solidFill>
              </a:rPr>
              <a:t>  Abstractions that describe a class of scenarios.</a:t>
            </a:r>
          </a:p>
        </p:txBody>
      </p:sp>
    </p:spTree>
    <p:extLst>
      <p:ext uri="{BB962C8B-B14F-4D97-AF65-F5344CB8AC3E}">
        <p14:creationId xmlns:p14="http://schemas.microsoft.com/office/powerpoint/2010/main" val="170734163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 Requirements</a:t>
            </a:r>
            <a:endParaRPr lang="en-US" dirty="0"/>
          </a:p>
        </p:txBody>
      </p:sp>
      <p:sp>
        <p:nvSpPr>
          <p:cNvPr id="3" name="Content Placeholder 2"/>
          <p:cNvSpPr>
            <a:spLocks noGrp="1"/>
          </p:cNvSpPr>
          <p:nvPr>
            <p:ph idx="1"/>
          </p:nvPr>
        </p:nvSpPr>
        <p:spPr>
          <a:xfrm>
            <a:off x="457200" y="1600200"/>
            <a:ext cx="8229600" cy="5029200"/>
          </a:xfrm>
        </p:spPr>
        <p:txBody>
          <a:bodyPr>
            <a:normAutofit/>
          </a:bodyPr>
          <a:lstStyle/>
          <a:p>
            <a:pPr algn="just"/>
            <a:r>
              <a:rPr lang="en-US" b="1" dirty="0"/>
              <a:t>Functional requirements </a:t>
            </a:r>
            <a:r>
              <a:rPr lang="en-US" dirty="0"/>
              <a:t>describe the </a:t>
            </a:r>
            <a:r>
              <a:rPr lang="en-US" b="1" dirty="0"/>
              <a:t>interactions between the system and its </a:t>
            </a:r>
            <a:r>
              <a:rPr lang="en-US" b="1" dirty="0" smtClean="0"/>
              <a:t>environment</a:t>
            </a:r>
            <a:r>
              <a:rPr lang="en-US" dirty="0" smtClean="0"/>
              <a:t> independent </a:t>
            </a:r>
            <a:r>
              <a:rPr lang="en-US" dirty="0"/>
              <a:t>of its implementation</a:t>
            </a:r>
            <a:r>
              <a:rPr lang="en-US" dirty="0" smtClean="0"/>
              <a:t>.</a:t>
            </a:r>
          </a:p>
          <a:p>
            <a:pPr algn="just"/>
            <a:endParaRPr lang="en-US" dirty="0"/>
          </a:p>
          <a:p>
            <a:pPr algn="just"/>
            <a:r>
              <a:rPr lang="en-US" dirty="0" smtClean="0"/>
              <a:t>Does not focus on implementation details.</a:t>
            </a:r>
          </a:p>
          <a:p>
            <a:pPr algn="just"/>
            <a:endParaRPr lang="en-US" dirty="0"/>
          </a:p>
          <a:p>
            <a:pPr algn="just"/>
            <a:r>
              <a:rPr lang="en-US" dirty="0" smtClean="0"/>
              <a:t>Example: </a:t>
            </a:r>
            <a:r>
              <a:rPr lang="en-US" b="1" dirty="0" err="1"/>
              <a:t>SatWatch</a:t>
            </a:r>
            <a:r>
              <a:rPr lang="en-US" dirty="0"/>
              <a:t>, a watch that resets itself without user intervention</a:t>
            </a:r>
          </a:p>
        </p:txBody>
      </p:sp>
    </p:spTree>
    <p:extLst>
      <p:ext uri="{BB962C8B-B14F-4D97-AF65-F5344CB8AC3E}">
        <p14:creationId xmlns:p14="http://schemas.microsoft.com/office/powerpoint/2010/main" val="115055133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Non-Functional Requirements</a:t>
            </a:r>
            <a:endParaRPr lang="en-US" dirty="0"/>
          </a:p>
        </p:txBody>
      </p:sp>
      <p:sp>
        <p:nvSpPr>
          <p:cNvPr id="3" name="Content Placeholder 2"/>
          <p:cNvSpPr>
            <a:spLocks noGrp="1"/>
          </p:cNvSpPr>
          <p:nvPr>
            <p:ph idx="1"/>
          </p:nvPr>
        </p:nvSpPr>
        <p:spPr/>
        <p:txBody>
          <a:bodyPr/>
          <a:lstStyle/>
          <a:p>
            <a:pPr algn="just"/>
            <a:r>
              <a:rPr lang="en-US" b="1" dirty="0"/>
              <a:t>Nonfunctional requirements </a:t>
            </a:r>
            <a:r>
              <a:rPr lang="en-US" dirty="0"/>
              <a:t>describe aspects of the system that are </a:t>
            </a:r>
            <a:r>
              <a:rPr lang="en-US" b="1" dirty="0"/>
              <a:t>not</a:t>
            </a:r>
            <a:r>
              <a:rPr lang="en-US" dirty="0"/>
              <a:t> directly </a:t>
            </a:r>
            <a:r>
              <a:rPr lang="en-US" b="1" dirty="0"/>
              <a:t>related</a:t>
            </a:r>
            <a:r>
              <a:rPr lang="en-US" dirty="0"/>
              <a:t> to </a:t>
            </a:r>
            <a:r>
              <a:rPr lang="en-US" dirty="0" smtClean="0"/>
              <a:t>the </a:t>
            </a:r>
            <a:r>
              <a:rPr lang="en-US" b="1" dirty="0" smtClean="0"/>
              <a:t>functional </a:t>
            </a:r>
            <a:r>
              <a:rPr lang="en-US" b="1" dirty="0"/>
              <a:t>behavior </a:t>
            </a:r>
            <a:r>
              <a:rPr lang="en-US" dirty="0"/>
              <a:t>of the system</a:t>
            </a:r>
            <a:r>
              <a:rPr lang="en-US" dirty="0" smtClean="0"/>
              <a:t>.</a:t>
            </a:r>
          </a:p>
          <a:p>
            <a:pPr algn="just"/>
            <a:endParaRPr lang="en-US" dirty="0"/>
          </a:p>
          <a:p>
            <a:pPr algn="just"/>
            <a:r>
              <a:rPr lang="en-US" dirty="0" smtClean="0"/>
              <a:t>Usability to performance - </a:t>
            </a:r>
            <a:r>
              <a:rPr lang="en-US" b="1" dirty="0" smtClean="0"/>
              <a:t>non functional requirements</a:t>
            </a:r>
            <a:endParaRPr lang="en-US" b="1" dirty="0"/>
          </a:p>
        </p:txBody>
      </p:sp>
    </p:spTree>
    <p:extLst>
      <p:ext uri="{BB962C8B-B14F-4D97-AF65-F5344CB8AC3E}">
        <p14:creationId xmlns:p14="http://schemas.microsoft.com/office/powerpoint/2010/main" val="186394920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Non-Functional </a:t>
            </a:r>
            <a:r>
              <a:rPr lang="en-US" dirty="0" smtClean="0"/>
              <a:t>Requirements (Types)</a:t>
            </a:r>
            <a:endParaRPr lang="en-US" dirty="0"/>
          </a:p>
        </p:txBody>
      </p:sp>
      <p:sp>
        <p:nvSpPr>
          <p:cNvPr id="3" name="Content Placeholder 2"/>
          <p:cNvSpPr>
            <a:spLocks noGrp="1"/>
          </p:cNvSpPr>
          <p:nvPr>
            <p:ph idx="1"/>
          </p:nvPr>
        </p:nvSpPr>
        <p:spPr/>
        <p:txBody>
          <a:bodyPr>
            <a:normAutofit/>
          </a:bodyPr>
          <a:lstStyle/>
          <a:p>
            <a:pPr marL="0" indent="0">
              <a:buNone/>
            </a:pPr>
            <a:r>
              <a:rPr lang="en-US" b="1" dirty="0" smtClean="0"/>
              <a:t>1. Usability </a:t>
            </a:r>
            <a:r>
              <a:rPr lang="en-US" dirty="0"/>
              <a:t>is the ease with which a user can </a:t>
            </a:r>
            <a:r>
              <a:rPr lang="en-US" dirty="0" smtClean="0"/>
              <a:t>learn to operate or use system.</a:t>
            </a:r>
          </a:p>
          <a:p>
            <a:endParaRPr lang="en-US" dirty="0" smtClean="0"/>
          </a:p>
          <a:p>
            <a:r>
              <a:rPr lang="en-US" dirty="0" smtClean="0"/>
              <a:t>Usability requirements: online help or user level documentation , manual etc</a:t>
            </a:r>
            <a:r>
              <a:rPr lang="en-US" dirty="0"/>
              <a:t>.</a:t>
            </a:r>
            <a:r>
              <a:rPr lang="en-US" dirty="0" smtClean="0"/>
              <a:t> </a:t>
            </a:r>
          </a:p>
          <a:p>
            <a:endParaRPr lang="en-US" dirty="0" smtClean="0"/>
          </a:p>
          <a:p>
            <a:r>
              <a:rPr lang="en-US" dirty="0" smtClean="0"/>
              <a:t>Clients can set usability issues for developer for example – color scheme for GUI</a:t>
            </a:r>
          </a:p>
        </p:txBody>
      </p:sp>
    </p:spTree>
    <p:extLst>
      <p:ext uri="{BB962C8B-B14F-4D97-AF65-F5344CB8AC3E}">
        <p14:creationId xmlns:p14="http://schemas.microsoft.com/office/powerpoint/2010/main" val="2967987260"/>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Non-Functional Requirements</a:t>
            </a:r>
          </a:p>
        </p:txBody>
      </p:sp>
      <p:sp>
        <p:nvSpPr>
          <p:cNvPr id="3" name="Content Placeholder 2"/>
          <p:cNvSpPr>
            <a:spLocks noGrp="1"/>
          </p:cNvSpPr>
          <p:nvPr>
            <p:ph idx="1"/>
          </p:nvPr>
        </p:nvSpPr>
        <p:spPr>
          <a:xfrm>
            <a:off x="457200" y="1600200"/>
            <a:ext cx="8229600" cy="5105400"/>
          </a:xfrm>
        </p:spPr>
        <p:txBody>
          <a:bodyPr/>
          <a:lstStyle/>
          <a:p>
            <a:pPr marL="0" indent="0" algn="just">
              <a:buNone/>
            </a:pPr>
            <a:r>
              <a:rPr lang="en-US" b="1" dirty="0" smtClean="0"/>
              <a:t>2. Reliability </a:t>
            </a:r>
            <a:r>
              <a:rPr lang="en-US" dirty="0"/>
              <a:t>is the ability of a system or component to </a:t>
            </a:r>
            <a:r>
              <a:rPr lang="en-US" b="1" dirty="0"/>
              <a:t>perform its required </a:t>
            </a:r>
            <a:r>
              <a:rPr lang="en-US" b="1" dirty="0" smtClean="0"/>
              <a:t>functions </a:t>
            </a:r>
            <a:r>
              <a:rPr lang="en-US" dirty="0" smtClean="0"/>
              <a:t>under </a:t>
            </a:r>
            <a:r>
              <a:rPr lang="en-US" dirty="0"/>
              <a:t>stated conditions for a specified period of time</a:t>
            </a:r>
            <a:r>
              <a:rPr lang="en-US" dirty="0" smtClean="0"/>
              <a:t>.</a:t>
            </a:r>
          </a:p>
          <a:p>
            <a:pPr marL="0" indent="0" algn="just">
              <a:buNone/>
            </a:pPr>
            <a:endParaRPr lang="en-US" dirty="0" smtClean="0"/>
          </a:p>
          <a:p>
            <a:pPr algn="just"/>
            <a:r>
              <a:rPr lang="en-US" dirty="0" smtClean="0"/>
              <a:t>Reliability is replaced with </a:t>
            </a:r>
            <a:r>
              <a:rPr lang="en-US" b="1" dirty="0" smtClean="0"/>
              <a:t>dependability</a:t>
            </a:r>
            <a:r>
              <a:rPr lang="en-US" dirty="0" smtClean="0"/>
              <a:t> which includes other features like </a:t>
            </a:r>
            <a:r>
              <a:rPr lang="en-US" b="1" dirty="0" smtClean="0"/>
              <a:t>robustness and safety </a:t>
            </a:r>
          </a:p>
          <a:p>
            <a:pPr marL="0" indent="0" algn="just">
              <a:buNone/>
            </a:pPr>
            <a:endParaRPr lang="en-US" dirty="0"/>
          </a:p>
          <a:p>
            <a:pPr marL="0" indent="0" algn="just">
              <a:buNone/>
            </a:pPr>
            <a:endParaRPr lang="en-US" dirty="0"/>
          </a:p>
        </p:txBody>
      </p:sp>
    </p:spTree>
    <p:extLst>
      <p:ext uri="{BB962C8B-B14F-4D97-AF65-F5344CB8AC3E}">
        <p14:creationId xmlns:p14="http://schemas.microsoft.com/office/powerpoint/2010/main" val="152345062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Non-Functional Requirements (Types)</a:t>
            </a:r>
          </a:p>
        </p:txBody>
      </p:sp>
      <p:sp>
        <p:nvSpPr>
          <p:cNvPr id="3" name="Content Placeholder 2"/>
          <p:cNvSpPr>
            <a:spLocks noGrp="1"/>
          </p:cNvSpPr>
          <p:nvPr>
            <p:ph idx="1"/>
          </p:nvPr>
        </p:nvSpPr>
        <p:spPr/>
        <p:txBody>
          <a:bodyPr/>
          <a:lstStyle/>
          <a:p>
            <a:pPr marL="0" indent="0">
              <a:buNone/>
            </a:pPr>
            <a:r>
              <a:rPr lang="en-US" b="1" dirty="0" smtClean="0"/>
              <a:t>3. Performance </a:t>
            </a:r>
            <a:r>
              <a:rPr lang="en-US" dirty="0"/>
              <a:t>requirements are concerned with quantifiable attributes of the </a:t>
            </a:r>
            <a:r>
              <a:rPr lang="en-US" dirty="0" smtClean="0"/>
              <a:t>system such as:</a:t>
            </a:r>
          </a:p>
          <a:p>
            <a:pPr marL="0" indent="0">
              <a:buNone/>
            </a:pPr>
            <a:r>
              <a:rPr lang="en-US" b="1" dirty="0"/>
              <a:t>R</a:t>
            </a:r>
            <a:r>
              <a:rPr lang="en-US" b="1" dirty="0" smtClean="0"/>
              <a:t>esponse </a:t>
            </a:r>
            <a:r>
              <a:rPr lang="en-US" b="1" dirty="0"/>
              <a:t>T</a:t>
            </a:r>
            <a:r>
              <a:rPr lang="en-US" b="1" dirty="0" smtClean="0"/>
              <a:t>ime</a:t>
            </a:r>
          </a:p>
          <a:p>
            <a:pPr marL="0" indent="0">
              <a:buNone/>
            </a:pPr>
            <a:r>
              <a:rPr lang="en-US" b="1" dirty="0" smtClean="0"/>
              <a:t>Throughput</a:t>
            </a:r>
          </a:p>
          <a:p>
            <a:pPr marL="0" indent="0">
              <a:buNone/>
            </a:pPr>
            <a:r>
              <a:rPr lang="en-US" b="1" dirty="0" smtClean="0"/>
              <a:t>Availability</a:t>
            </a:r>
          </a:p>
          <a:p>
            <a:pPr marL="0" indent="0">
              <a:buNone/>
            </a:pPr>
            <a:r>
              <a:rPr lang="en-US" b="1" dirty="0"/>
              <a:t>A</a:t>
            </a:r>
            <a:r>
              <a:rPr lang="en-US" b="1" smtClean="0"/>
              <a:t>ccuracy</a:t>
            </a:r>
            <a:endParaRPr lang="en-US" dirty="0"/>
          </a:p>
        </p:txBody>
      </p:sp>
    </p:spTree>
    <p:extLst>
      <p:ext uri="{BB962C8B-B14F-4D97-AF65-F5344CB8AC3E}">
        <p14:creationId xmlns:p14="http://schemas.microsoft.com/office/powerpoint/2010/main" val="1547732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62"/>
          </a:xfrm>
        </p:spPr>
        <p:txBody>
          <a:bodyPr>
            <a:normAutofit fontScale="90000"/>
          </a:bodyPr>
          <a:lstStyle/>
          <a:p>
            <a:r>
              <a:rPr lang="en-US" dirty="0" smtClean="0"/>
              <a:t>Non-Functional Requirements (Types)</a:t>
            </a:r>
            <a:endParaRPr lang="en-US" dirty="0"/>
          </a:p>
        </p:txBody>
      </p:sp>
      <p:sp>
        <p:nvSpPr>
          <p:cNvPr id="3" name="Content Placeholder 2"/>
          <p:cNvSpPr>
            <a:spLocks noGrp="1"/>
          </p:cNvSpPr>
          <p:nvPr>
            <p:ph idx="1"/>
          </p:nvPr>
        </p:nvSpPr>
        <p:spPr>
          <a:xfrm>
            <a:off x="228600" y="1371600"/>
            <a:ext cx="8686800" cy="5334000"/>
          </a:xfrm>
        </p:spPr>
        <p:txBody>
          <a:bodyPr>
            <a:normAutofit/>
          </a:bodyPr>
          <a:lstStyle/>
          <a:p>
            <a:pPr algn="just">
              <a:buNone/>
            </a:pPr>
            <a:r>
              <a:rPr lang="en-US" sz="2400" b="1" dirty="0" smtClean="0"/>
              <a:t>4. </a:t>
            </a:r>
            <a:r>
              <a:rPr lang="en-US" sz="2600" b="1" dirty="0" smtClean="0"/>
              <a:t>Supportability </a:t>
            </a:r>
            <a:r>
              <a:rPr lang="en-US" sz="2600" dirty="0" smtClean="0"/>
              <a:t>requirements are concerned with the ease of changes to the system after deployment.</a:t>
            </a:r>
          </a:p>
          <a:p>
            <a:pPr algn="just">
              <a:buNone/>
            </a:pPr>
            <a:endParaRPr lang="en-US" sz="2600" dirty="0" smtClean="0"/>
          </a:p>
          <a:p>
            <a:pPr algn="just">
              <a:buFont typeface="Wingdings" pitchFamily="2" charset="2"/>
              <a:buChar char="ü"/>
            </a:pPr>
            <a:r>
              <a:rPr lang="en-US" sz="2600" b="1" dirty="0" smtClean="0"/>
              <a:t>Adaptability</a:t>
            </a:r>
            <a:r>
              <a:rPr lang="en-US" sz="2600" dirty="0" smtClean="0"/>
              <a:t>: the ability to change the system to deal with </a:t>
            </a:r>
            <a:r>
              <a:rPr lang="en-US" sz="2600" b="1" dirty="0" smtClean="0"/>
              <a:t>additional application domain concepts</a:t>
            </a:r>
            <a:r>
              <a:rPr lang="en-US" sz="2600" dirty="0" smtClean="0"/>
              <a:t>.</a:t>
            </a:r>
          </a:p>
          <a:p>
            <a:pPr algn="just">
              <a:buFont typeface="Wingdings" pitchFamily="2" charset="2"/>
              <a:buChar char="ü"/>
            </a:pPr>
            <a:endParaRPr lang="en-US" sz="2600" dirty="0" smtClean="0"/>
          </a:p>
          <a:p>
            <a:pPr algn="just">
              <a:buFont typeface="Wingdings" pitchFamily="2" charset="2"/>
              <a:buChar char="ü"/>
            </a:pPr>
            <a:r>
              <a:rPr lang="en-US" sz="2600" b="1" dirty="0" smtClean="0"/>
              <a:t>Maintainability</a:t>
            </a:r>
            <a:r>
              <a:rPr lang="en-US" sz="2600" dirty="0" smtClean="0"/>
              <a:t>: the ability to </a:t>
            </a:r>
            <a:r>
              <a:rPr lang="en-US" sz="2600" b="1" dirty="0" smtClean="0"/>
              <a:t>change the system </a:t>
            </a:r>
            <a:r>
              <a:rPr lang="en-US" sz="2600" dirty="0" smtClean="0"/>
              <a:t>to deal with new technology or to </a:t>
            </a:r>
            <a:r>
              <a:rPr lang="en-US" sz="2600" b="1" dirty="0" smtClean="0"/>
              <a:t>fix defects</a:t>
            </a:r>
            <a:r>
              <a:rPr lang="en-US" sz="2600" dirty="0" smtClean="0"/>
              <a:t>.</a:t>
            </a:r>
          </a:p>
          <a:p>
            <a:pPr algn="just">
              <a:buFont typeface="Wingdings" pitchFamily="2" charset="2"/>
              <a:buChar char="ü"/>
            </a:pPr>
            <a:endParaRPr lang="en-US" sz="2600" dirty="0" smtClean="0"/>
          </a:p>
          <a:p>
            <a:pPr algn="just">
              <a:buFont typeface="Wingdings" pitchFamily="2" charset="2"/>
              <a:buChar char="ü"/>
            </a:pPr>
            <a:r>
              <a:rPr lang="en-US" sz="2600" b="1" dirty="0" smtClean="0"/>
              <a:t>Internationalization:</a:t>
            </a:r>
            <a:r>
              <a:rPr lang="en-US" sz="2600" dirty="0" smtClean="0"/>
              <a:t> the ability to </a:t>
            </a:r>
            <a:r>
              <a:rPr lang="en-US" sz="2600" b="1" dirty="0" smtClean="0"/>
              <a:t>change the system </a:t>
            </a:r>
            <a:r>
              <a:rPr lang="en-US" sz="2600" dirty="0" smtClean="0"/>
              <a:t>to deal with </a:t>
            </a:r>
            <a:r>
              <a:rPr lang="en-US" sz="2600" b="1" dirty="0" smtClean="0"/>
              <a:t>additional international conventions</a:t>
            </a:r>
            <a:r>
              <a:rPr lang="en-US" sz="2600" dirty="0" smtClean="0"/>
              <a:t>, such as languages, units, and number formats</a:t>
            </a:r>
            <a:endParaRPr lang="en-US" sz="2600" b="1" dirty="0" smtClean="0"/>
          </a:p>
          <a:p>
            <a:pPr algn="just">
              <a:buNone/>
            </a:pPr>
            <a:endParaRPr lang="en-US" dirty="0"/>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Additional Non-functional Requirements</a:t>
            </a:r>
            <a:endParaRPr lang="en-US" dirty="0"/>
          </a:p>
        </p:txBody>
      </p:sp>
      <p:sp>
        <p:nvSpPr>
          <p:cNvPr id="3" name="Content Placeholder 2"/>
          <p:cNvSpPr>
            <a:spLocks noGrp="1"/>
          </p:cNvSpPr>
          <p:nvPr>
            <p:ph idx="1"/>
          </p:nvPr>
        </p:nvSpPr>
        <p:spPr>
          <a:xfrm>
            <a:off x="457200" y="1600200"/>
            <a:ext cx="8229600" cy="5029200"/>
          </a:xfrm>
        </p:spPr>
        <p:txBody>
          <a:bodyPr>
            <a:normAutofit lnSpcReduction="10000"/>
          </a:bodyPr>
          <a:lstStyle/>
          <a:p>
            <a:r>
              <a:rPr lang="en-US" b="1" dirty="0" smtClean="0"/>
              <a:t>Implementation requirements</a:t>
            </a:r>
          </a:p>
          <a:p>
            <a:pPr algn="just">
              <a:buFont typeface="Wingdings" pitchFamily="2" charset="2"/>
              <a:buChar char="ü"/>
            </a:pPr>
            <a:r>
              <a:rPr lang="en-US" dirty="0" smtClean="0"/>
              <a:t>constraints on the </a:t>
            </a:r>
            <a:r>
              <a:rPr lang="en-US" b="1" dirty="0" smtClean="0"/>
              <a:t>implementation</a:t>
            </a:r>
            <a:r>
              <a:rPr lang="en-US" dirty="0" smtClean="0"/>
              <a:t> of the system.</a:t>
            </a:r>
          </a:p>
          <a:p>
            <a:pPr algn="just">
              <a:buFont typeface="Wingdings" pitchFamily="2" charset="2"/>
              <a:buChar char="ü"/>
            </a:pPr>
            <a:r>
              <a:rPr lang="en-US" dirty="0" smtClean="0"/>
              <a:t>specific tools, programming languages, or hardware platforms.</a:t>
            </a:r>
          </a:p>
          <a:p>
            <a:pPr algn="just">
              <a:buFont typeface="Wingdings" pitchFamily="2" charset="2"/>
              <a:buChar char="ü"/>
            </a:pPr>
            <a:endParaRPr lang="en-US" dirty="0" smtClean="0"/>
          </a:p>
          <a:p>
            <a:pPr algn="just"/>
            <a:r>
              <a:rPr lang="en-US" b="1" dirty="0" smtClean="0"/>
              <a:t>Interface requirements </a:t>
            </a:r>
          </a:p>
          <a:p>
            <a:pPr algn="just">
              <a:buFont typeface="Wingdings" pitchFamily="2" charset="2"/>
              <a:buChar char="ü"/>
            </a:pPr>
            <a:r>
              <a:rPr lang="en-US" dirty="0" smtClean="0"/>
              <a:t>are constraints </a:t>
            </a:r>
            <a:r>
              <a:rPr lang="en-US" b="1" dirty="0" smtClean="0"/>
              <a:t>imposed by external systems</a:t>
            </a:r>
          </a:p>
          <a:p>
            <a:pPr algn="just">
              <a:buFont typeface="Wingdings" pitchFamily="2" charset="2"/>
              <a:buChar char="ü"/>
            </a:pPr>
            <a:r>
              <a:rPr lang="en-US" dirty="0" smtClean="0"/>
              <a:t>interchange formats</a:t>
            </a:r>
            <a:endParaRPr lang="en-US" b="1" dirty="0" smtClean="0"/>
          </a:p>
          <a:p>
            <a:pPr algn="just">
              <a:buNone/>
            </a:pPr>
            <a:endParaRPr lang="en-US" dirty="0"/>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Additional Non-functional Requirements</a:t>
            </a:r>
            <a:endParaRPr lang="en-US" dirty="0"/>
          </a:p>
        </p:txBody>
      </p:sp>
      <p:sp>
        <p:nvSpPr>
          <p:cNvPr id="3" name="Content Placeholder 2"/>
          <p:cNvSpPr>
            <a:spLocks noGrp="1"/>
          </p:cNvSpPr>
          <p:nvPr>
            <p:ph idx="1"/>
          </p:nvPr>
        </p:nvSpPr>
        <p:spPr/>
        <p:txBody>
          <a:bodyPr/>
          <a:lstStyle/>
          <a:p>
            <a:r>
              <a:rPr lang="en-US" b="1" dirty="0" smtClean="0"/>
              <a:t>Operations requirements</a:t>
            </a:r>
          </a:p>
          <a:p>
            <a:pPr>
              <a:buFont typeface="Wingdings" pitchFamily="2" charset="2"/>
              <a:buChar char="ü"/>
            </a:pPr>
            <a:r>
              <a:rPr lang="en-US" dirty="0" smtClean="0"/>
              <a:t>are constraints on the </a:t>
            </a:r>
            <a:r>
              <a:rPr lang="en-US" b="1" dirty="0" smtClean="0"/>
              <a:t>administration</a:t>
            </a:r>
            <a:r>
              <a:rPr lang="en-US" dirty="0" smtClean="0"/>
              <a:t> and </a:t>
            </a:r>
            <a:r>
              <a:rPr lang="en-US" b="1" dirty="0" smtClean="0"/>
              <a:t>management</a:t>
            </a:r>
            <a:r>
              <a:rPr lang="en-US" dirty="0" smtClean="0"/>
              <a:t> of the system.</a:t>
            </a:r>
          </a:p>
          <a:p>
            <a:pPr>
              <a:buFont typeface="Wingdings" pitchFamily="2" charset="2"/>
              <a:buChar char="ü"/>
            </a:pPr>
            <a:endParaRPr lang="en-US" dirty="0" smtClean="0"/>
          </a:p>
          <a:p>
            <a:r>
              <a:rPr lang="en-US" b="1" dirty="0" smtClean="0"/>
              <a:t>Packaging requirements</a:t>
            </a:r>
          </a:p>
          <a:p>
            <a:pPr>
              <a:buFont typeface="Wingdings" pitchFamily="2" charset="2"/>
              <a:buChar char="ü"/>
            </a:pPr>
            <a:r>
              <a:rPr lang="en-US" dirty="0" smtClean="0"/>
              <a:t> are constraints on the </a:t>
            </a:r>
            <a:r>
              <a:rPr lang="en-US" b="1" dirty="0" smtClean="0"/>
              <a:t>actual delivery </a:t>
            </a:r>
            <a:r>
              <a:rPr lang="en-US" dirty="0" smtClean="0"/>
              <a:t>of the system </a:t>
            </a:r>
          </a:p>
          <a:p>
            <a:pPr>
              <a:buFont typeface="Wingdings" pitchFamily="2" charset="2"/>
              <a:buChar char="ü"/>
            </a:pPr>
            <a:r>
              <a:rPr lang="en-US" dirty="0" smtClean="0"/>
              <a:t>Installation media for software setting</a:t>
            </a:r>
          </a:p>
          <a:p>
            <a:pPr>
              <a:buNone/>
            </a:pPr>
            <a:endParaRPr lang="en-US" b="1"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Additional Non-functional Requirements</a:t>
            </a:r>
            <a:endParaRPr lang="en-US" dirty="0"/>
          </a:p>
        </p:txBody>
      </p:sp>
      <p:sp>
        <p:nvSpPr>
          <p:cNvPr id="3" name="Content Placeholder 2"/>
          <p:cNvSpPr>
            <a:spLocks noGrp="1"/>
          </p:cNvSpPr>
          <p:nvPr>
            <p:ph idx="1"/>
          </p:nvPr>
        </p:nvSpPr>
        <p:spPr/>
        <p:txBody>
          <a:bodyPr/>
          <a:lstStyle/>
          <a:p>
            <a:r>
              <a:rPr lang="en-US" b="1" dirty="0" smtClean="0"/>
              <a:t>Legal requirements </a:t>
            </a:r>
          </a:p>
          <a:p>
            <a:pPr>
              <a:buFont typeface="Wingdings" pitchFamily="2" charset="2"/>
              <a:buChar char="ü"/>
            </a:pPr>
            <a:r>
              <a:rPr lang="en-US" dirty="0" smtClean="0"/>
              <a:t>are concerned with licensing, regulation, and certification issues.</a:t>
            </a:r>
          </a:p>
          <a:p>
            <a:pPr>
              <a:buNone/>
            </a:pPr>
            <a:endParaRPr lang="en-US" dirty="0" smtClean="0"/>
          </a:p>
          <a:p>
            <a:r>
              <a:rPr lang="en-US" b="1" dirty="0" smtClean="0"/>
              <a:t>Quality requirements</a:t>
            </a:r>
            <a:endParaRPr lang="en-US" b="1" dirty="0"/>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Requirements Characteristics</a:t>
            </a:r>
            <a:endParaRPr lang="en-US" dirty="0"/>
          </a:p>
        </p:txBody>
      </p:sp>
      <p:sp>
        <p:nvSpPr>
          <p:cNvPr id="3" name="Content Placeholder 2"/>
          <p:cNvSpPr>
            <a:spLocks noGrp="1"/>
          </p:cNvSpPr>
          <p:nvPr>
            <p:ph idx="1"/>
          </p:nvPr>
        </p:nvSpPr>
        <p:spPr/>
        <p:txBody>
          <a:bodyPr/>
          <a:lstStyle/>
          <a:p>
            <a:r>
              <a:rPr lang="en-US" dirty="0" smtClean="0"/>
              <a:t>Requirements are continuously validated with the client and the user.</a:t>
            </a:r>
          </a:p>
          <a:p>
            <a:endParaRPr lang="en-US" dirty="0" smtClean="0"/>
          </a:p>
          <a:p>
            <a:r>
              <a:rPr lang="en-US" dirty="0" smtClean="0"/>
              <a:t>Requirement validation involves checking that the specification is complete, consistent, unambiguous, and correct.</a:t>
            </a:r>
            <a:endParaRPr lang="en-US" dirty="0"/>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Requirements Characteristics</a:t>
            </a:r>
            <a:endParaRPr lang="en-US" dirty="0"/>
          </a:p>
        </p:txBody>
      </p:sp>
      <p:sp>
        <p:nvSpPr>
          <p:cNvPr id="3" name="Content Placeholder 2"/>
          <p:cNvSpPr>
            <a:spLocks noGrp="1"/>
          </p:cNvSpPr>
          <p:nvPr>
            <p:ph idx="1"/>
          </p:nvPr>
        </p:nvSpPr>
        <p:spPr>
          <a:xfrm>
            <a:off x="457200" y="1600200"/>
            <a:ext cx="8229600" cy="5029200"/>
          </a:xfrm>
        </p:spPr>
        <p:txBody>
          <a:bodyPr>
            <a:normAutofit fontScale="92500" lnSpcReduction="20000"/>
          </a:bodyPr>
          <a:lstStyle/>
          <a:p>
            <a:pPr marL="514350" indent="-514350" algn="just">
              <a:buFont typeface="+mj-lt"/>
              <a:buAutoNum type="arabicPeriod"/>
            </a:pPr>
            <a:r>
              <a:rPr lang="en-US" b="1" dirty="0" smtClean="0"/>
              <a:t>Completeness:</a:t>
            </a:r>
            <a:r>
              <a:rPr lang="en-US" dirty="0" smtClean="0"/>
              <a:t> It is complete if all possible </a:t>
            </a:r>
            <a:r>
              <a:rPr lang="en-US" b="1" dirty="0" smtClean="0"/>
              <a:t>scenarios through the system are described</a:t>
            </a:r>
            <a:r>
              <a:rPr lang="en-US" dirty="0" smtClean="0"/>
              <a:t>, including </a:t>
            </a:r>
            <a:r>
              <a:rPr lang="en-US" b="1" dirty="0" smtClean="0"/>
              <a:t>exceptional behavior</a:t>
            </a:r>
            <a:r>
              <a:rPr lang="en-US" dirty="0" smtClean="0"/>
              <a:t>.</a:t>
            </a:r>
          </a:p>
          <a:p>
            <a:pPr marL="514350" indent="-514350" algn="just">
              <a:buFont typeface="+mj-lt"/>
              <a:buAutoNum type="arabicPeriod"/>
            </a:pPr>
            <a:endParaRPr lang="en-US" dirty="0" smtClean="0"/>
          </a:p>
          <a:p>
            <a:pPr marL="514350" indent="-514350" algn="just"/>
            <a:r>
              <a:rPr lang="en-US" dirty="0" smtClean="0"/>
              <a:t>Complete—All </a:t>
            </a:r>
            <a:r>
              <a:rPr lang="en-US" b="1" dirty="0" smtClean="0"/>
              <a:t>features of interest </a:t>
            </a:r>
            <a:r>
              <a:rPr lang="en-US" dirty="0" smtClean="0"/>
              <a:t>are </a:t>
            </a:r>
            <a:r>
              <a:rPr lang="en-US" b="1" dirty="0" smtClean="0"/>
              <a:t>described</a:t>
            </a:r>
            <a:r>
              <a:rPr lang="en-US" dirty="0" smtClean="0"/>
              <a:t> by requirements. </a:t>
            </a:r>
          </a:p>
          <a:p>
            <a:pPr marL="514350" indent="-514350" algn="just"/>
            <a:endParaRPr lang="en-US" dirty="0" smtClean="0"/>
          </a:p>
          <a:p>
            <a:pPr marL="514350" indent="-514350" algn="just"/>
            <a:r>
              <a:rPr lang="en-US" b="1" dirty="0" smtClean="0"/>
              <a:t>Example of incompleteness</a:t>
            </a:r>
            <a:r>
              <a:rPr lang="en-US" dirty="0" smtClean="0"/>
              <a:t>: </a:t>
            </a:r>
            <a:r>
              <a:rPr lang="en-US" dirty="0" err="1" smtClean="0"/>
              <a:t>Satwatch’s</a:t>
            </a:r>
            <a:r>
              <a:rPr lang="en-US" dirty="0" smtClean="0"/>
              <a:t> limitation of state boundary.</a:t>
            </a:r>
          </a:p>
          <a:p>
            <a:pPr marL="514350" indent="-514350" algn="just">
              <a:buNone/>
            </a:pPr>
            <a:endParaRPr lang="en-US" dirty="0" smtClean="0"/>
          </a:p>
          <a:p>
            <a:pPr marL="514350" indent="-514350" algn="just"/>
            <a:r>
              <a:rPr lang="en-US" b="1" dirty="0" smtClean="0"/>
              <a:t>Solution</a:t>
            </a:r>
            <a:r>
              <a:rPr lang="en-US" dirty="0" smtClean="0"/>
              <a:t>: addition of the boundary feature.</a:t>
            </a:r>
          </a:p>
          <a:p>
            <a:pPr marL="514350" indent="-514350" algn="just">
              <a:buNone/>
            </a:pPr>
            <a:endParaRPr lang="en-US" dirty="0"/>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Requirements Characteristics</a:t>
            </a:r>
            <a:endParaRPr lang="en-US" dirty="0"/>
          </a:p>
        </p:txBody>
      </p:sp>
      <p:sp>
        <p:nvSpPr>
          <p:cNvPr id="3" name="Content Placeholder 2"/>
          <p:cNvSpPr>
            <a:spLocks noGrp="1"/>
          </p:cNvSpPr>
          <p:nvPr>
            <p:ph idx="1"/>
          </p:nvPr>
        </p:nvSpPr>
        <p:spPr/>
        <p:txBody>
          <a:bodyPr>
            <a:normAutofit fontScale="85000" lnSpcReduction="10000"/>
          </a:bodyPr>
          <a:lstStyle/>
          <a:p>
            <a:pPr algn="just">
              <a:buNone/>
            </a:pPr>
            <a:r>
              <a:rPr lang="en-US" b="1" dirty="0" smtClean="0"/>
              <a:t>2. Consistent</a:t>
            </a:r>
            <a:r>
              <a:rPr lang="en-US" dirty="0" smtClean="0"/>
              <a:t>: The requirements specification is consistent if it </a:t>
            </a:r>
            <a:r>
              <a:rPr lang="en-US" b="1" dirty="0" smtClean="0"/>
              <a:t>does not contradict itself</a:t>
            </a:r>
            <a:r>
              <a:rPr lang="en-US" dirty="0" smtClean="0"/>
              <a:t>.</a:t>
            </a:r>
          </a:p>
          <a:p>
            <a:pPr algn="just">
              <a:buNone/>
            </a:pPr>
            <a:endParaRPr lang="en-US" dirty="0" smtClean="0"/>
          </a:p>
          <a:p>
            <a:pPr algn="just"/>
            <a:r>
              <a:rPr lang="en-US" b="1" dirty="0" smtClean="0"/>
              <a:t>Consistent</a:t>
            </a:r>
            <a:r>
              <a:rPr lang="en-US" dirty="0" smtClean="0"/>
              <a:t>—No two requirements of the specification contradict each other. </a:t>
            </a:r>
          </a:p>
          <a:p>
            <a:pPr algn="just"/>
            <a:endParaRPr lang="en-US" dirty="0" smtClean="0"/>
          </a:p>
          <a:p>
            <a:pPr algn="just"/>
            <a:r>
              <a:rPr lang="en-US" b="1" dirty="0" smtClean="0"/>
              <a:t>Example of inconsistency</a:t>
            </a:r>
            <a:r>
              <a:rPr lang="en-US" dirty="0" smtClean="0"/>
              <a:t>: Software fault and upgrading mechanisms for new versions.</a:t>
            </a:r>
          </a:p>
          <a:p>
            <a:pPr algn="just"/>
            <a:endParaRPr lang="en-US" dirty="0" smtClean="0"/>
          </a:p>
          <a:p>
            <a:pPr algn="just"/>
            <a:r>
              <a:rPr lang="en-US" b="1" dirty="0" smtClean="0"/>
              <a:t>Solution</a:t>
            </a:r>
            <a:r>
              <a:rPr lang="en-US" dirty="0" smtClean="0"/>
              <a:t>: Revise one of the conflicting requirements</a:t>
            </a:r>
            <a:endParaRPr lang="en-US" dirty="0"/>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Requirements Characteristics</a:t>
            </a:r>
            <a:endParaRPr lang="en-US" dirty="0"/>
          </a:p>
        </p:txBody>
      </p:sp>
      <p:sp>
        <p:nvSpPr>
          <p:cNvPr id="3" name="Content Placeholder 2"/>
          <p:cNvSpPr>
            <a:spLocks noGrp="1"/>
          </p:cNvSpPr>
          <p:nvPr>
            <p:ph idx="1"/>
          </p:nvPr>
        </p:nvSpPr>
        <p:spPr>
          <a:xfrm>
            <a:off x="152400" y="1600200"/>
            <a:ext cx="8839200" cy="5029200"/>
          </a:xfrm>
        </p:spPr>
        <p:txBody>
          <a:bodyPr>
            <a:normAutofit fontScale="92500"/>
          </a:bodyPr>
          <a:lstStyle/>
          <a:p>
            <a:pPr algn="just">
              <a:buNone/>
            </a:pPr>
            <a:r>
              <a:rPr lang="en-US" sz="2800" b="1" dirty="0" smtClean="0"/>
              <a:t>3. Unambiguous </a:t>
            </a:r>
            <a:r>
              <a:rPr lang="en-US" sz="2800" dirty="0" smtClean="0"/>
              <a:t>— The requirements specification is unambiguous if </a:t>
            </a:r>
            <a:r>
              <a:rPr lang="en-US" sz="2800" b="1" dirty="0" smtClean="0"/>
              <a:t>exactly one system is defined</a:t>
            </a:r>
            <a:r>
              <a:rPr lang="en-US" sz="2800" dirty="0" smtClean="0"/>
              <a:t>.</a:t>
            </a:r>
          </a:p>
          <a:p>
            <a:pPr algn="just">
              <a:buNone/>
            </a:pPr>
            <a:endParaRPr lang="en-US" sz="2800" b="1" dirty="0" smtClean="0"/>
          </a:p>
          <a:p>
            <a:pPr algn="just"/>
            <a:r>
              <a:rPr lang="en-US" sz="2800" dirty="0" smtClean="0"/>
              <a:t>A requirement </a:t>
            </a:r>
            <a:r>
              <a:rPr lang="en-US" sz="2800" b="1" dirty="0" smtClean="0"/>
              <a:t>cannot be interpreted in two mutually exclusive</a:t>
            </a:r>
            <a:r>
              <a:rPr lang="en-US" sz="2800" dirty="0" smtClean="0"/>
              <a:t> (either) ways.</a:t>
            </a:r>
          </a:p>
          <a:p>
            <a:pPr algn="just"/>
            <a:endParaRPr lang="en-US" sz="2800" dirty="0" smtClean="0"/>
          </a:p>
          <a:p>
            <a:pPr algn="just"/>
            <a:r>
              <a:rPr lang="en-US" sz="2800" b="1" dirty="0" smtClean="0"/>
              <a:t>Example of ambiguity</a:t>
            </a:r>
            <a:r>
              <a:rPr lang="en-US" sz="2800" dirty="0" smtClean="0"/>
              <a:t>: time zones and political boundaries. </a:t>
            </a:r>
          </a:p>
          <a:p>
            <a:pPr algn="just">
              <a:buNone/>
            </a:pPr>
            <a:r>
              <a:rPr lang="en-US" sz="2800" dirty="0" smtClean="0"/>
              <a:t>     Does </a:t>
            </a:r>
            <a:r>
              <a:rPr lang="en-US" sz="2800" dirty="0" err="1" smtClean="0"/>
              <a:t>SatWatch</a:t>
            </a:r>
            <a:r>
              <a:rPr lang="en-US" sz="2800" dirty="0" smtClean="0"/>
              <a:t> deal with daylight saving time or not? </a:t>
            </a:r>
          </a:p>
          <a:p>
            <a:pPr algn="just"/>
            <a:endParaRPr lang="en-US" sz="2800" dirty="0" smtClean="0"/>
          </a:p>
          <a:p>
            <a:pPr algn="just"/>
            <a:r>
              <a:rPr lang="en-US" sz="2800" b="1" dirty="0" smtClean="0"/>
              <a:t>Solution</a:t>
            </a:r>
            <a:r>
              <a:rPr lang="en-US" sz="2800" dirty="0" smtClean="0"/>
              <a:t>: add a requirement that </a:t>
            </a:r>
            <a:r>
              <a:rPr lang="en-US" sz="2800" dirty="0" err="1" smtClean="0"/>
              <a:t>SatWatch</a:t>
            </a:r>
            <a:r>
              <a:rPr lang="en-US" sz="2800" dirty="0" smtClean="0"/>
              <a:t> should deal with daylight saving time.</a:t>
            </a:r>
          </a:p>
          <a:p>
            <a:pPr algn="just"/>
            <a:endParaRPr lang="en-US" sz="2600" dirty="0"/>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868362"/>
          </a:xfrm>
        </p:spPr>
        <p:txBody>
          <a:bodyPr/>
          <a:lstStyle/>
          <a:p>
            <a:r>
              <a:rPr lang="en-US" dirty="0" smtClean="0"/>
              <a:t>Requirements Characteristics</a:t>
            </a:r>
            <a:endParaRPr lang="en-US" dirty="0"/>
          </a:p>
        </p:txBody>
      </p:sp>
      <p:sp>
        <p:nvSpPr>
          <p:cNvPr id="3" name="Content Placeholder 2"/>
          <p:cNvSpPr>
            <a:spLocks noGrp="1"/>
          </p:cNvSpPr>
          <p:nvPr>
            <p:ph idx="1"/>
          </p:nvPr>
        </p:nvSpPr>
        <p:spPr>
          <a:xfrm>
            <a:off x="228600" y="1295400"/>
            <a:ext cx="8686800" cy="5334000"/>
          </a:xfrm>
        </p:spPr>
        <p:txBody>
          <a:bodyPr>
            <a:normAutofit/>
          </a:bodyPr>
          <a:lstStyle/>
          <a:p>
            <a:pPr>
              <a:buNone/>
            </a:pPr>
            <a:r>
              <a:rPr lang="en-US" b="1" dirty="0" smtClean="0"/>
              <a:t>4. Correct: </a:t>
            </a:r>
            <a:r>
              <a:rPr lang="en-US" dirty="0" smtClean="0"/>
              <a:t>represents accurately the system that the client needs and that the developers intend to build.</a:t>
            </a:r>
          </a:p>
          <a:p>
            <a:pPr>
              <a:buNone/>
            </a:pPr>
            <a:endParaRPr lang="en-US" dirty="0" smtClean="0"/>
          </a:p>
          <a:p>
            <a:pPr algn="just"/>
            <a:r>
              <a:rPr lang="en-US" dirty="0" smtClean="0"/>
              <a:t>Correct—The requirements </a:t>
            </a:r>
            <a:r>
              <a:rPr lang="en-US" b="1" dirty="0" smtClean="0"/>
              <a:t>describe the features of the system and environment of interest </a:t>
            </a:r>
            <a:r>
              <a:rPr lang="en-US" dirty="0" smtClean="0"/>
              <a:t>to the client and the developer, but do </a:t>
            </a:r>
            <a:r>
              <a:rPr lang="en-US" b="1" dirty="0" smtClean="0"/>
              <a:t>not describe other unintended features</a:t>
            </a:r>
            <a:r>
              <a:rPr lang="en-US" dirty="0" smtClean="0"/>
              <a:t>. </a:t>
            </a: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 Specification</a:t>
            </a:r>
            <a:endParaRPr lang="en-US" dirty="0"/>
          </a:p>
        </p:txBody>
      </p:sp>
      <p:sp>
        <p:nvSpPr>
          <p:cNvPr id="3" name="Content Placeholder 2"/>
          <p:cNvSpPr>
            <a:spLocks noGrp="1"/>
          </p:cNvSpPr>
          <p:nvPr>
            <p:ph idx="1"/>
          </p:nvPr>
        </p:nvSpPr>
        <p:spPr>
          <a:xfrm>
            <a:off x="152400" y="1600200"/>
            <a:ext cx="8839200" cy="5029200"/>
          </a:xfrm>
        </p:spPr>
        <p:txBody>
          <a:bodyPr>
            <a:normAutofit lnSpcReduction="10000"/>
          </a:bodyPr>
          <a:lstStyle/>
          <a:p>
            <a:r>
              <a:rPr lang="en-US" dirty="0" smtClean="0"/>
              <a:t>Three more </a:t>
            </a:r>
            <a:r>
              <a:rPr lang="en-US" b="1" dirty="0" smtClean="0"/>
              <a:t>desirable properties </a:t>
            </a:r>
            <a:r>
              <a:rPr lang="en-US" dirty="0" smtClean="0"/>
              <a:t>(qualities) of a requirements specification are that it be </a:t>
            </a:r>
            <a:r>
              <a:rPr lang="en-US" b="1" dirty="0" smtClean="0"/>
              <a:t>realistic, verifiable, and traceable. </a:t>
            </a:r>
          </a:p>
          <a:p>
            <a:endParaRPr lang="en-US" b="1" dirty="0" smtClean="0"/>
          </a:p>
          <a:p>
            <a:pPr algn="just"/>
            <a:r>
              <a:rPr lang="en-US" b="1" dirty="0" smtClean="0"/>
              <a:t>Realistic:</a:t>
            </a:r>
            <a:r>
              <a:rPr lang="en-US" dirty="0" smtClean="0"/>
              <a:t> if the system can be </a:t>
            </a:r>
            <a:r>
              <a:rPr lang="en-US" b="1" dirty="0" smtClean="0"/>
              <a:t>implemented within constraints</a:t>
            </a:r>
            <a:r>
              <a:rPr lang="en-US" dirty="0" smtClean="0"/>
              <a:t>. </a:t>
            </a:r>
          </a:p>
          <a:p>
            <a:pPr algn="just"/>
            <a:endParaRPr lang="en-US" dirty="0" smtClean="0"/>
          </a:p>
          <a:p>
            <a:pPr algn="just"/>
            <a:r>
              <a:rPr lang="en-US" b="1" dirty="0" smtClean="0"/>
              <a:t>Verifiable</a:t>
            </a:r>
            <a:r>
              <a:rPr lang="en-US" dirty="0" smtClean="0"/>
              <a:t>: if once the system is built, </a:t>
            </a:r>
            <a:r>
              <a:rPr lang="en-US" b="1" dirty="0" smtClean="0"/>
              <a:t>repeatable tests </a:t>
            </a:r>
            <a:r>
              <a:rPr lang="en-US" dirty="0" smtClean="0"/>
              <a:t>designed to demonstrate that the system </a:t>
            </a:r>
            <a:r>
              <a:rPr lang="en-US" b="1" dirty="0" smtClean="0"/>
              <a:t>fulfills the requirements </a:t>
            </a:r>
            <a:r>
              <a:rPr lang="en-US" dirty="0" smtClean="0"/>
              <a:t>specification.</a:t>
            </a:r>
            <a:endParaRPr lang="en-US" dirty="0"/>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Requirement Specification</a:t>
            </a:r>
            <a:endParaRPr lang="en-US" dirty="0"/>
          </a:p>
        </p:txBody>
      </p:sp>
      <p:sp>
        <p:nvSpPr>
          <p:cNvPr id="3" name="Content Placeholder 2"/>
          <p:cNvSpPr>
            <a:spLocks noGrp="1"/>
          </p:cNvSpPr>
          <p:nvPr>
            <p:ph idx="1"/>
          </p:nvPr>
        </p:nvSpPr>
        <p:spPr/>
        <p:txBody>
          <a:bodyPr>
            <a:normAutofit/>
          </a:bodyPr>
          <a:lstStyle/>
          <a:p>
            <a:pPr algn="just"/>
            <a:r>
              <a:rPr lang="en-US" b="1" dirty="0" smtClean="0"/>
              <a:t>Traceability</a:t>
            </a:r>
            <a:r>
              <a:rPr lang="en-US" dirty="0" smtClean="0"/>
              <a:t>: if each requirement can be traced throughout the </a:t>
            </a:r>
            <a:r>
              <a:rPr lang="en-US" b="1" dirty="0" smtClean="0"/>
              <a:t>software development to its system functions</a:t>
            </a:r>
            <a:r>
              <a:rPr lang="en-US" dirty="0" smtClean="0"/>
              <a:t>, and vice-versa.</a:t>
            </a:r>
          </a:p>
          <a:p>
            <a:pPr algn="just"/>
            <a:endParaRPr lang="en-US" dirty="0" smtClean="0"/>
          </a:p>
          <a:p>
            <a:pPr algn="just"/>
            <a:r>
              <a:rPr lang="en-US" dirty="0" smtClean="0"/>
              <a:t>Traceability includes also the </a:t>
            </a:r>
            <a:r>
              <a:rPr lang="en-US" b="1" dirty="0" smtClean="0"/>
              <a:t>ability to track </a:t>
            </a:r>
            <a:r>
              <a:rPr lang="en-US" dirty="0" smtClean="0"/>
              <a:t>the dependencies among requirements, system functions, and the intermediate designs.</a:t>
            </a:r>
            <a:endParaRPr lang="en-US" dirty="0"/>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Use Case Diagrams</a:t>
            </a:r>
            <a:endParaRPr lang="en-US" dirty="0"/>
          </a:p>
        </p:txBody>
      </p:sp>
      <p:sp>
        <p:nvSpPr>
          <p:cNvPr id="3" name="Content Placeholder 2"/>
          <p:cNvSpPr>
            <a:spLocks noGrp="1"/>
          </p:cNvSpPr>
          <p:nvPr>
            <p:ph idx="1"/>
          </p:nvPr>
        </p:nvSpPr>
        <p:spPr>
          <a:xfrm>
            <a:off x="457200" y="1600200"/>
            <a:ext cx="8229600" cy="5105400"/>
          </a:xfrm>
        </p:spPr>
        <p:txBody>
          <a:bodyPr>
            <a:normAutofit lnSpcReduction="10000"/>
          </a:bodyPr>
          <a:lstStyle/>
          <a:p>
            <a:r>
              <a:rPr lang="en-US" b="1" dirty="0"/>
              <a:t>Identifying </a:t>
            </a:r>
            <a:r>
              <a:rPr lang="en-US" b="1" dirty="0" smtClean="0"/>
              <a:t>Actors</a:t>
            </a:r>
          </a:p>
          <a:p>
            <a:pPr>
              <a:buFont typeface="Wingdings" pitchFamily="2" charset="2"/>
              <a:buChar char="ü"/>
            </a:pPr>
            <a:r>
              <a:rPr lang="en-US" dirty="0"/>
              <a:t>Actors </a:t>
            </a:r>
            <a:r>
              <a:rPr lang="en-US" b="1" dirty="0"/>
              <a:t>represent external entities </a:t>
            </a:r>
            <a:r>
              <a:rPr lang="en-US" dirty="0"/>
              <a:t>that interact with the system</a:t>
            </a:r>
            <a:r>
              <a:rPr lang="en-US" dirty="0" smtClean="0"/>
              <a:t>.</a:t>
            </a:r>
          </a:p>
          <a:p>
            <a:pPr>
              <a:buFont typeface="Wingdings" pitchFamily="2" charset="2"/>
              <a:buChar char="ü"/>
            </a:pPr>
            <a:r>
              <a:rPr lang="en-US" dirty="0"/>
              <a:t>An actor can be </a:t>
            </a:r>
            <a:r>
              <a:rPr lang="en-US" b="1" dirty="0"/>
              <a:t>human or an external system</a:t>
            </a:r>
            <a:r>
              <a:rPr lang="en-US" dirty="0"/>
              <a:t>.</a:t>
            </a:r>
          </a:p>
          <a:p>
            <a:pPr marL="0" indent="0">
              <a:buNone/>
            </a:pPr>
            <a:endParaRPr lang="en-US" dirty="0" smtClean="0"/>
          </a:p>
          <a:p>
            <a:pPr marL="0" indent="0">
              <a:buNone/>
            </a:pPr>
            <a:endParaRPr lang="en-US" dirty="0"/>
          </a:p>
          <a:p>
            <a:pPr marL="0" indent="0">
              <a:buNone/>
            </a:pPr>
            <a:endParaRPr lang="en-US" dirty="0" smtClean="0"/>
          </a:p>
          <a:p>
            <a:pPr marL="0" indent="0">
              <a:buNone/>
            </a:pPr>
            <a:r>
              <a:rPr lang="en-US" dirty="0"/>
              <a:t> </a:t>
            </a:r>
            <a:endParaRPr lang="en-US" dirty="0" smtClean="0"/>
          </a:p>
          <a:p>
            <a:pPr marL="0" indent="0">
              <a:buNone/>
            </a:pPr>
            <a:r>
              <a:rPr lang="en-US" dirty="0" smtClean="0"/>
              <a:t>			        </a:t>
            </a:r>
            <a:r>
              <a:rPr lang="en-US" b="1" dirty="0" smtClean="0"/>
              <a:t>Actor</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1401" y="4038600"/>
            <a:ext cx="1752600" cy="1752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27257607"/>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9762"/>
          </a:xfrm>
        </p:spPr>
        <p:txBody>
          <a:bodyPr>
            <a:normAutofit fontScale="90000"/>
          </a:bodyPr>
          <a:lstStyle/>
          <a:p>
            <a:r>
              <a:rPr lang="en-US" dirty="0"/>
              <a:t>Use Case Diagrams</a:t>
            </a:r>
          </a:p>
        </p:txBody>
      </p:sp>
      <p:sp>
        <p:nvSpPr>
          <p:cNvPr id="3" name="Content Placeholder 2"/>
          <p:cNvSpPr>
            <a:spLocks noGrp="1"/>
          </p:cNvSpPr>
          <p:nvPr>
            <p:ph idx="1"/>
          </p:nvPr>
        </p:nvSpPr>
        <p:spPr>
          <a:xfrm>
            <a:off x="457200" y="1066800"/>
            <a:ext cx="8229600" cy="5486400"/>
          </a:xfrm>
        </p:spPr>
        <p:txBody>
          <a:bodyPr>
            <a:noAutofit/>
          </a:bodyPr>
          <a:lstStyle/>
          <a:p>
            <a:r>
              <a:rPr lang="en-US" sz="2200" b="1" dirty="0"/>
              <a:t>Give meaningful business relevant names for </a:t>
            </a:r>
            <a:r>
              <a:rPr lang="en-US" sz="2200" b="1" dirty="0" smtClean="0"/>
              <a:t>actors</a:t>
            </a:r>
            <a:r>
              <a:rPr lang="en-US" sz="2200" dirty="0" smtClean="0"/>
              <a:t>.</a:t>
            </a:r>
          </a:p>
          <a:p>
            <a:endParaRPr lang="en-US" sz="2200" dirty="0" smtClean="0"/>
          </a:p>
          <a:p>
            <a:r>
              <a:rPr lang="en-US" sz="2200" b="1" dirty="0" smtClean="0"/>
              <a:t>Primary </a:t>
            </a:r>
            <a:r>
              <a:rPr lang="en-US" sz="2200" b="1" dirty="0"/>
              <a:t>actors should be to the left side of the diagram</a:t>
            </a:r>
            <a:r>
              <a:rPr lang="en-US" sz="2200" dirty="0"/>
              <a:t> </a:t>
            </a:r>
            <a:r>
              <a:rPr lang="en-US" sz="2200" dirty="0" smtClean="0"/>
              <a:t>–highlight </a:t>
            </a:r>
            <a:r>
              <a:rPr lang="en-US" sz="2200" dirty="0"/>
              <a:t>the important roles in the system</a:t>
            </a:r>
            <a:r>
              <a:rPr lang="en-US" sz="2200" dirty="0" smtClean="0"/>
              <a:t>.</a:t>
            </a:r>
          </a:p>
          <a:p>
            <a:endParaRPr lang="en-US" sz="2200" dirty="0"/>
          </a:p>
          <a:p>
            <a:r>
              <a:rPr lang="en-US" sz="2200" b="1" dirty="0"/>
              <a:t>Actors model roles (not positions)</a:t>
            </a:r>
            <a:r>
              <a:rPr lang="en-US" sz="2200" dirty="0"/>
              <a:t> – In a hotel both the front office executive and shift manager can make reservations. </a:t>
            </a:r>
            <a:r>
              <a:rPr lang="en-US" sz="2200" dirty="0" smtClean="0"/>
              <a:t>“</a:t>
            </a:r>
            <a:r>
              <a:rPr lang="en-US" sz="2200" dirty="0"/>
              <a:t>Reservation Agent” </a:t>
            </a:r>
            <a:r>
              <a:rPr lang="en-US" sz="2200" dirty="0" smtClean="0"/>
              <a:t>actor </a:t>
            </a:r>
            <a:r>
              <a:rPr lang="en-US" sz="2200" dirty="0"/>
              <a:t>name to highlight the role</a:t>
            </a:r>
            <a:r>
              <a:rPr lang="en-US" sz="2200" dirty="0" smtClean="0"/>
              <a:t>.</a:t>
            </a:r>
          </a:p>
          <a:p>
            <a:endParaRPr lang="en-US" sz="2200" dirty="0"/>
          </a:p>
          <a:p>
            <a:r>
              <a:rPr lang="en-US" sz="2200" b="1" dirty="0"/>
              <a:t>External systems are actors</a:t>
            </a:r>
            <a:r>
              <a:rPr lang="en-US" sz="2200" dirty="0"/>
              <a:t> – If your use case is send email and if interacts with the email management software then the software is an actor to that particular use case</a:t>
            </a:r>
            <a:r>
              <a:rPr lang="en-US" sz="2200" dirty="0" smtClean="0"/>
              <a:t>.</a:t>
            </a:r>
          </a:p>
          <a:p>
            <a:r>
              <a:rPr lang="en-US" sz="2200" b="1" smtClean="0"/>
              <a:t>Actors </a:t>
            </a:r>
            <a:r>
              <a:rPr lang="en-US" sz="2200" b="1" dirty="0"/>
              <a:t>don’t interact with other </a:t>
            </a:r>
            <a:r>
              <a:rPr lang="en-US" sz="2200" b="1" dirty="0" smtClean="0"/>
              <a:t>actors</a:t>
            </a:r>
          </a:p>
          <a:p>
            <a:r>
              <a:rPr lang="en-US" sz="2200" b="1" smtClean="0"/>
              <a:t>Place </a:t>
            </a:r>
            <a:r>
              <a:rPr lang="en-US" sz="2200" b="1" dirty="0"/>
              <a:t>inheriting actors below the parent </a:t>
            </a:r>
            <a:r>
              <a:rPr lang="en-US" sz="2200" b="1" dirty="0" smtClean="0"/>
              <a:t>actor</a:t>
            </a:r>
            <a:endParaRPr lang="en-US" sz="2200" dirty="0"/>
          </a:p>
        </p:txBody>
      </p:sp>
    </p:spTree>
    <p:extLst>
      <p:ext uri="{BB962C8B-B14F-4D97-AF65-F5344CB8AC3E}">
        <p14:creationId xmlns:p14="http://schemas.microsoft.com/office/powerpoint/2010/main" val="1082142957"/>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228600"/>
            <a:ext cx="8153400" cy="6324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64299676"/>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2162"/>
          </a:xfrm>
        </p:spPr>
        <p:txBody>
          <a:bodyPr>
            <a:normAutofit/>
          </a:bodyPr>
          <a:lstStyle/>
          <a:p>
            <a:r>
              <a:rPr lang="en-US" dirty="0"/>
              <a:t>Use Case Diagram</a:t>
            </a:r>
          </a:p>
        </p:txBody>
      </p:sp>
      <p:sp>
        <p:nvSpPr>
          <p:cNvPr id="3" name="Content Placeholder 2"/>
          <p:cNvSpPr>
            <a:spLocks noGrp="1"/>
          </p:cNvSpPr>
          <p:nvPr>
            <p:ph idx="1"/>
          </p:nvPr>
        </p:nvSpPr>
        <p:spPr>
          <a:xfrm>
            <a:off x="152400" y="1219200"/>
            <a:ext cx="8915400" cy="5562600"/>
          </a:xfrm>
        </p:spPr>
        <p:txBody>
          <a:bodyPr/>
          <a:lstStyle/>
          <a:p>
            <a:pPr algn="just"/>
            <a:r>
              <a:rPr lang="en-US" dirty="0"/>
              <a:t>Once the </a:t>
            </a:r>
            <a:r>
              <a:rPr lang="en-US" b="1" dirty="0"/>
              <a:t>actors are identified</a:t>
            </a:r>
            <a:r>
              <a:rPr lang="en-US" dirty="0"/>
              <a:t>, the next step in the requirements elicitation activity is </a:t>
            </a:r>
            <a:r>
              <a:rPr lang="en-US" dirty="0" smtClean="0"/>
              <a:t>to </a:t>
            </a:r>
            <a:r>
              <a:rPr lang="en-US" b="1" dirty="0" smtClean="0"/>
              <a:t>determine </a:t>
            </a:r>
            <a:r>
              <a:rPr lang="en-US" b="1" dirty="0"/>
              <a:t>the functionality that will be accessible to each </a:t>
            </a:r>
            <a:r>
              <a:rPr lang="en-US" b="1" dirty="0" smtClean="0"/>
              <a:t>actor</a:t>
            </a:r>
            <a:r>
              <a:rPr lang="en-US" dirty="0" smtClean="0"/>
              <a:t>.</a:t>
            </a:r>
          </a:p>
          <a:p>
            <a:pPr algn="just"/>
            <a:endParaRPr lang="en-US" b="1" dirty="0"/>
          </a:p>
          <a:p>
            <a:pPr algn="just"/>
            <a:r>
              <a:rPr lang="en-US" b="1" dirty="0" smtClean="0"/>
              <a:t>Use cases are external (user) view of a system</a:t>
            </a:r>
          </a:p>
          <a:p>
            <a:pPr algn="just"/>
            <a:endParaRPr lang="en-US" b="1" dirty="0"/>
          </a:p>
          <a:p>
            <a:pPr algn="just"/>
            <a:r>
              <a:rPr lang="en-US" b="1" dirty="0" smtClean="0"/>
              <a:t>Intended for modeling dialogue between user and system</a:t>
            </a:r>
            <a:endParaRPr lang="en-US" b="1" dirty="0"/>
          </a:p>
        </p:txBody>
      </p:sp>
    </p:spTree>
    <p:extLst>
      <p:ext uri="{BB962C8B-B14F-4D97-AF65-F5344CB8AC3E}">
        <p14:creationId xmlns:p14="http://schemas.microsoft.com/office/powerpoint/2010/main" val="3720157473"/>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 Case Diagram</a:t>
            </a:r>
          </a:p>
        </p:txBody>
      </p:sp>
      <p:sp>
        <p:nvSpPr>
          <p:cNvPr id="3" name="Content Placeholder 2"/>
          <p:cNvSpPr>
            <a:spLocks noGrp="1"/>
          </p:cNvSpPr>
          <p:nvPr>
            <p:ph idx="1"/>
          </p:nvPr>
        </p:nvSpPr>
        <p:spPr>
          <a:xfrm>
            <a:off x="152400" y="1295400"/>
            <a:ext cx="8839200" cy="5486400"/>
          </a:xfrm>
        </p:spPr>
        <p:txBody>
          <a:bodyPr>
            <a:normAutofit fontScale="92500" lnSpcReduction="10000"/>
          </a:bodyPr>
          <a:lstStyle/>
          <a:p>
            <a:r>
              <a:rPr lang="en-US" b="1" dirty="0"/>
              <a:t>Identifying </a:t>
            </a:r>
            <a:r>
              <a:rPr lang="en-US" b="1" dirty="0" smtClean="0"/>
              <a:t>Scenarios</a:t>
            </a:r>
          </a:p>
          <a:p>
            <a:pPr algn="just"/>
            <a:r>
              <a:rPr lang="en-US" dirty="0"/>
              <a:t>A scenario is </a:t>
            </a:r>
            <a:r>
              <a:rPr lang="en-US" dirty="0" smtClean="0"/>
              <a:t>a </a:t>
            </a:r>
            <a:r>
              <a:rPr lang="en-US" b="1" dirty="0"/>
              <a:t>narrative description </a:t>
            </a:r>
            <a:r>
              <a:rPr lang="en-US" dirty="0"/>
              <a:t>of what people do and experience as they try to make </a:t>
            </a:r>
            <a:r>
              <a:rPr lang="en-US" dirty="0" smtClean="0"/>
              <a:t>use of </a:t>
            </a:r>
            <a:r>
              <a:rPr lang="en-US" dirty="0"/>
              <a:t>computer systems and </a:t>
            </a:r>
            <a:r>
              <a:rPr lang="en-US" dirty="0" smtClean="0"/>
              <a:t>applications.</a:t>
            </a:r>
          </a:p>
          <a:p>
            <a:pPr algn="just"/>
            <a:endParaRPr lang="en-US" dirty="0" smtClean="0"/>
          </a:p>
          <a:p>
            <a:pPr algn="just"/>
            <a:r>
              <a:rPr lang="en-US" dirty="0" smtClean="0"/>
              <a:t>Scenario is </a:t>
            </a:r>
            <a:r>
              <a:rPr lang="en-US" b="1" dirty="0" smtClean="0"/>
              <a:t>description</a:t>
            </a:r>
            <a:r>
              <a:rPr lang="en-US" dirty="0" smtClean="0"/>
              <a:t> of the system from </a:t>
            </a:r>
            <a:r>
              <a:rPr lang="en-US" b="1" dirty="0" smtClean="0"/>
              <a:t>single actor’s</a:t>
            </a:r>
            <a:r>
              <a:rPr lang="en-US" dirty="0" smtClean="0"/>
              <a:t> or user’s </a:t>
            </a:r>
            <a:r>
              <a:rPr lang="en-US" b="1" dirty="0" smtClean="0"/>
              <a:t>point of view.</a:t>
            </a:r>
          </a:p>
          <a:p>
            <a:pPr algn="just"/>
            <a:endParaRPr lang="en-US" b="1" dirty="0"/>
          </a:p>
          <a:p>
            <a:pPr algn="just"/>
            <a:r>
              <a:rPr lang="en-US" dirty="0" smtClean="0"/>
              <a:t>Scenarios may be </a:t>
            </a:r>
            <a:r>
              <a:rPr lang="en-US" b="1" dirty="0" smtClean="0"/>
              <a:t>defined for current , future , evaluation or training phases</a:t>
            </a:r>
            <a:r>
              <a:rPr lang="en-US" dirty="0" smtClean="0"/>
              <a:t> of the software development process.</a:t>
            </a:r>
            <a:endParaRPr lang="en-US" dirty="0"/>
          </a:p>
        </p:txBody>
      </p:sp>
    </p:spTree>
    <p:extLst>
      <p:ext uri="{BB962C8B-B14F-4D97-AF65-F5344CB8AC3E}">
        <p14:creationId xmlns:p14="http://schemas.microsoft.com/office/powerpoint/2010/main" val="20531516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2162"/>
          </a:xfrm>
        </p:spPr>
        <p:txBody>
          <a:bodyPr/>
          <a:lstStyle/>
          <a:p>
            <a:r>
              <a:rPr lang="en-US" dirty="0"/>
              <a:t>Use Case Diagram</a:t>
            </a:r>
          </a:p>
        </p:txBody>
      </p:sp>
      <p:sp>
        <p:nvSpPr>
          <p:cNvPr id="3" name="Content Placeholder 2"/>
          <p:cNvSpPr>
            <a:spLocks noGrp="1"/>
          </p:cNvSpPr>
          <p:nvPr>
            <p:ph idx="1"/>
          </p:nvPr>
        </p:nvSpPr>
        <p:spPr>
          <a:xfrm>
            <a:off x="457200" y="1219200"/>
            <a:ext cx="8229600" cy="5334000"/>
          </a:xfrm>
        </p:spPr>
        <p:txBody>
          <a:bodyPr>
            <a:normAutofit fontScale="92500" lnSpcReduction="10000"/>
          </a:bodyPr>
          <a:lstStyle/>
          <a:p>
            <a:r>
              <a:rPr lang="en-US" b="1" dirty="0"/>
              <a:t>Identifying Use </a:t>
            </a:r>
            <a:r>
              <a:rPr lang="en-US" b="1" dirty="0" smtClean="0"/>
              <a:t>Cases</a:t>
            </a:r>
          </a:p>
          <a:p>
            <a:pPr algn="just">
              <a:buFont typeface="Wingdings" pitchFamily="2" charset="2"/>
              <a:buChar char="ü"/>
            </a:pPr>
            <a:r>
              <a:rPr lang="en-US" dirty="0" smtClean="0"/>
              <a:t>Use cases represent what the actors want your system to do for them.</a:t>
            </a:r>
          </a:p>
          <a:p>
            <a:pPr algn="just">
              <a:buFont typeface="Wingdings" pitchFamily="2" charset="2"/>
              <a:buChar char="ü"/>
            </a:pPr>
            <a:endParaRPr lang="en-US" dirty="0" smtClean="0"/>
          </a:p>
          <a:p>
            <a:pPr algn="just">
              <a:buFont typeface="Wingdings" pitchFamily="2" charset="2"/>
              <a:buChar char="ü"/>
            </a:pPr>
            <a:r>
              <a:rPr lang="en-US" dirty="0" smtClean="0"/>
              <a:t>A </a:t>
            </a:r>
            <a:r>
              <a:rPr lang="en-US" dirty="0"/>
              <a:t>use case represents a complete flow of events </a:t>
            </a:r>
            <a:r>
              <a:rPr lang="en-US" dirty="0" smtClean="0"/>
              <a:t>through the system.</a:t>
            </a:r>
          </a:p>
          <a:p>
            <a:pPr algn="just">
              <a:buFont typeface="Wingdings" pitchFamily="2" charset="2"/>
              <a:buChar char="ü"/>
            </a:pPr>
            <a:endParaRPr lang="en-US" dirty="0" smtClean="0"/>
          </a:p>
          <a:p>
            <a:pPr algn="just">
              <a:buFont typeface="Wingdings" pitchFamily="2" charset="2"/>
              <a:buChar char="ü"/>
            </a:pPr>
            <a:r>
              <a:rPr lang="en-IN" dirty="0"/>
              <a:t>A Use Case captures some actor-visible </a:t>
            </a:r>
            <a:r>
              <a:rPr lang="en-IN" dirty="0" smtClean="0"/>
              <a:t>function</a:t>
            </a:r>
          </a:p>
          <a:p>
            <a:pPr marL="0" indent="0" algn="just">
              <a:buNone/>
            </a:pPr>
            <a:r>
              <a:rPr lang="en-IN" dirty="0" smtClean="0"/>
              <a:t> </a:t>
            </a:r>
            <a:r>
              <a:rPr lang="en-IN" dirty="0"/>
              <a:t>- Achieves some discrete (business-level) goal for that actor </a:t>
            </a:r>
            <a:endParaRPr lang="en-IN" dirty="0" smtClean="0"/>
          </a:p>
          <a:p>
            <a:pPr marL="0" indent="0" algn="just">
              <a:buNone/>
            </a:pPr>
            <a:r>
              <a:rPr lang="en-IN" dirty="0" smtClean="0"/>
              <a:t>- </a:t>
            </a:r>
            <a:r>
              <a:rPr lang="en-IN" dirty="0"/>
              <a:t>May be read, write, or read-modify-write in nature </a:t>
            </a:r>
            <a:endParaRPr lang="en-US" dirty="0" smtClean="0"/>
          </a:p>
          <a:p>
            <a:pPr>
              <a:buFont typeface="Wingdings" pitchFamily="2" charset="2"/>
              <a:buChar char="ü"/>
            </a:pPr>
            <a:endParaRPr lang="en-US" dirty="0"/>
          </a:p>
          <a:p>
            <a:pPr marL="0" indent="0">
              <a:buNone/>
            </a:pPr>
            <a:endParaRPr lang="en-US" dirty="0"/>
          </a:p>
        </p:txBody>
      </p:sp>
    </p:spTree>
    <p:extLst>
      <p:ext uri="{BB962C8B-B14F-4D97-AF65-F5344CB8AC3E}">
        <p14:creationId xmlns:p14="http://schemas.microsoft.com/office/powerpoint/2010/main" val="784285129"/>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9762"/>
          </a:xfrm>
        </p:spPr>
        <p:txBody>
          <a:bodyPr>
            <a:normAutofit fontScale="90000"/>
          </a:bodyPr>
          <a:lstStyle/>
          <a:p>
            <a:r>
              <a:rPr lang="en-US" dirty="0"/>
              <a:t>Use Case Diagram</a:t>
            </a:r>
          </a:p>
        </p:txBody>
      </p:sp>
      <p:sp>
        <p:nvSpPr>
          <p:cNvPr id="3" name="Content Placeholder 2"/>
          <p:cNvSpPr>
            <a:spLocks noGrp="1"/>
          </p:cNvSpPr>
          <p:nvPr>
            <p:ph idx="1"/>
          </p:nvPr>
        </p:nvSpPr>
        <p:spPr>
          <a:xfrm>
            <a:off x="0" y="914400"/>
            <a:ext cx="9137737" cy="5943600"/>
          </a:xfrm>
        </p:spPr>
        <p:txBody>
          <a:bodyPr>
            <a:noAutofit/>
          </a:bodyPr>
          <a:lstStyle/>
          <a:p>
            <a:pPr algn="just"/>
            <a:r>
              <a:rPr lang="en-US" sz="2200" b="1" dirty="0"/>
              <a:t>Names begin with a verb</a:t>
            </a:r>
            <a:r>
              <a:rPr lang="en-US" sz="2200" dirty="0"/>
              <a:t> – An use case models an action so the name should begin with a verb</a:t>
            </a:r>
            <a:r>
              <a:rPr lang="en-US" sz="2200" dirty="0" smtClean="0"/>
              <a:t>.</a:t>
            </a:r>
          </a:p>
          <a:p>
            <a:pPr algn="just"/>
            <a:endParaRPr lang="en-US" sz="2200" dirty="0"/>
          </a:p>
          <a:p>
            <a:pPr algn="just"/>
            <a:r>
              <a:rPr lang="en-US" sz="2200" b="1" dirty="0"/>
              <a:t>Make the name descriptive</a:t>
            </a:r>
            <a:r>
              <a:rPr lang="en-US" sz="2200" dirty="0"/>
              <a:t> – This is to give more information for others who are looking at the diagram. For example “Print Invoice”  is better than “Print</a:t>
            </a:r>
            <a:r>
              <a:rPr lang="en-US" sz="2200" dirty="0" smtClean="0"/>
              <a:t>”.</a:t>
            </a:r>
          </a:p>
          <a:p>
            <a:pPr algn="just"/>
            <a:endParaRPr lang="en-US" sz="2200" dirty="0"/>
          </a:p>
          <a:p>
            <a:pPr algn="just"/>
            <a:r>
              <a:rPr lang="en-US" sz="2200" b="1" dirty="0"/>
              <a:t>Highlight the logical order</a:t>
            </a:r>
            <a:r>
              <a:rPr lang="en-US" sz="2200" dirty="0"/>
              <a:t> – For example if you’re analyzing a bank customer typical use cases include open account, deposit and withdraw. Showing them in the logical order makes more sense</a:t>
            </a:r>
            <a:r>
              <a:rPr lang="en-US" sz="2200" dirty="0" smtClean="0"/>
              <a:t>.</a:t>
            </a:r>
          </a:p>
          <a:p>
            <a:pPr algn="just"/>
            <a:endParaRPr lang="en-US" sz="2200" dirty="0"/>
          </a:p>
          <a:p>
            <a:pPr algn="just"/>
            <a:r>
              <a:rPr lang="en-US" sz="2200" b="1" dirty="0"/>
              <a:t>Place included use cases to the right of the invoking use case</a:t>
            </a:r>
            <a:r>
              <a:rPr lang="en-US" sz="2200" dirty="0"/>
              <a:t> – This is done to improve readability and add clarity</a:t>
            </a:r>
            <a:r>
              <a:rPr lang="en-US" sz="2200" dirty="0" smtClean="0"/>
              <a:t>.</a:t>
            </a:r>
          </a:p>
          <a:p>
            <a:pPr algn="just"/>
            <a:endParaRPr lang="en-US" sz="2200" dirty="0"/>
          </a:p>
          <a:p>
            <a:pPr algn="just"/>
            <a:r>
              <a:rPr lang="en-US" sz="2200" b="1" dirty="0"/>
              <a:t>Place inheriting use case below parent use case</a:t>
            </a:r>
            <a:r>
              <a:rPr lang="en-US" sz="2200" dirty="0"/>
              <a:t> – Again this is done to improve the readability of the diagram.</a:t>
            </a:r>
          </a:p>
          <a:p>
            <a:pPr marL="0" indent="0">
              <a:buNone/>
            </a:pPr>
            <a:r>
              <a:rPr lang="en-US" sz="2200" dirty="0"/>
              <a:t/>
            </a:r>
            <a:br>
              <a:rPr lang="en-US" sz="2200" dirty="0"/>
            </a:br>
            <a:endParaRPr lang="en-US" sz="2200" dirty="0"/>
          </a:p>
        </p:txBody>
      </p:sp>
    </p:spTree>
    <p:extLst>
      <p:ext uri="{BB962C8B-B14F-4D97-AF65-F5344CB8AC3E}">
        <p14:creationId xmlns:p14="http://schemas.microsoft.com/office/powerpoint/2010/main" val="1186833205"/>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guidelines to follow when drawing use cases in use case diagram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457200"/>
            <a:ext cx="8077200" cy="60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093787"/>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Elements of use case diagram: Actor</a:t>
            </a:r>
          </a:p>
        </p:txBody>
      </p:sp>
      <p:sp>
        <p:nvSpPr>
          <p:cNvPr id="5" name="Content Placeholder 4"/>
          <p:cNvSpPr>
            <a:spLocks noGrp="1"/>
          </p:cNvSpPr>
          <p:nvPr>
            <p:ph idx="1"/>
          </p:nvPr>
        </p:nvSpPr>
        <p:spPr>
          <a:xfrm>
            <a:off x="457200" y="1600200"/>
            <a:ext cx="8229600" cy="5181600"/>
          </a:xfrm>
        </p:spPr>
        <p:txBody>
          <a:bodyPr/>
          <a:lstStyle/>
          <a:p>
            <a:pPr marL="0" indent="0">
              <a:buNone/>
            </a:pPr>
            <a:r>
              <a:rPr lang="en-US" dirty="0" smtClean="0"/>
              <a:t>Actor</a:t>
            </a:r>
            <a:endParaRPr lang="en-US" dirty="0"/>
          </a:p>
          <a:p>
            <a:endParaRPr lang="en-US" dirty="0" smtClean="0"/>
          </a:p>
          <a:p>
            <a:endParaRPr lang="en-US" dirty="0"/>
          </a:p>
          <a:p>
            <a:pPr marL="0" indent="0">
              <a:buNone/>
            </a:pPr>
            <a:r>
              <a:rPr lang="en-US" dirty="0" smtClean="0"/>
              <a:t>                                      </a:t>
            </a:r>
            <a:endParaRPr lang="en-US" dirty="0"/>
          </a:p>
        </p:txBody>
      </p:sp>
      <p:pic>
        <p:nvPicPr>
          <p:cNvPr id="7"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14700" y="2971800"/>
            <a:ext cx="1752600" cy="1752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8587206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Elements of use case diagram: Use Case</a:t>
            </a:r>
          </a:p>
        </p:txBody>
      </p:sp>
      <p:sp>
        <p:nvSpPr>
          <p:cNvPr id="3" name="Content Placeholder 2"/>
          <p:cNvSpPr>
            <a:spLocks noGrp="1"/>
          </p:cNvSpPr>
          <p:nvPr>
            <p:ph idx="1"/>
          </p:nvPr>
        </p:nvSpPr>
        <p:spPr/>
        <p:txBody>
          <a:bodyPr/>
          <a:lstStyle/>
          <a:p>
            <a:r>
              <a:rPr lang="en-US" dirty="0"/>
              <a:t>System function (process – automated or manual</a:t>
            </a:r>
            <a:r>
              <a:rPr lang="en-US" dirty="0" smtClean="0"/>
              <a:t>).</a:t>
            </a:r>
          </a:p>
          <a:p>
            <a:pPr marL="0" indent="0">
              <a:buNone/>
            </a:pPr>
            <a:endParaRPr lang="en-US" dirty="0" smtClean="0"/>
          </a:p>
          <a:p>
            <a:pPr marL="0" indent="0">
              <a:buNone/>
            </a:pPr>
            <a:endParaRPr lang="en-US" dirty="0"/>
          </a:p>
          <a:p>
            <a:pPr marL="0" indent="0">
              <a:buNone/>
            </a:pPr>
            <a:endParaRPr lang="en-US" dirty="0" smtClean="0"/>
          </a:p>
          <a:p>
            <a:pPr marL="0" indent="0">
              <a:buNone/>
            </a:pPr>
            <a:r>
              <a:rPr lang="en-US" dirty="0"/>
              <a:t> </a:t>
            </a:r>
            <a:r>
              <a:rPr lang="en-US" dirty="0" smtClean="0"/>
              <a:t> </a:t>
            </a:r>
          </a:p>
          <a:p>
            <a:pPr marL="0" indent="0">
              <a:buNone/>
            </a:pPr>
            <a:r>
              <a:rPr lang="en-US" dirty="0"/>
              <a:t> </a:t>
            </a:r>
            <a:r>
              <a:rPr lang="en-US" dirty="0" smtClean="0"/>
              <a:t>                                   Use Case</a:t>
            </a:r>
            <a:endParaRPr lang="en-US" dirty="0"/>
          </a:p>
        </p:txBody>
      </p:sp>
      <p:sp>
        <p:nvSpPr>
          <p:cNvPr id="4" name="Oval 3"/>
          <p:cNvSpPr/>
          <p:nvPr/>
        </p:nvSpPr>
        <p:spPr>
          <a:xfrm>
            <a:off x="3048000" y="3581400"/>
            <a:ext cx="3200400" cy="1143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Do Something  (Operation)</a:t>
            </a:r>
            <a:endParaRPr lang="en-US" dirty="0"/>
          </a:p>
        </p:txBody>
      </p:sp>
    </p:spTree>
    <p:extLst>
      <p:ext uri="{BB962C8B-B14F-4D97-AF65-F5344CB8AC3E}">
        <p14:creationId xmlns:p14="http://schemas.microsoft.com/office/powerpoint/2010/main" val="1830976863"/>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use case diagram</a:t>
            </a:r>
          </a:p>
        </p:txBody>
      </p:sp>
      <p:pic>
        <p:nvPicPr>
          <p:cNvPr id="3074"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09600" y="1828800"/>
            <a:ext cx="8305800" cy="449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237994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There can be 5 relationship types in a use case diagram.</a:t>
            </a:r>
          </a:p>
        </p:txBody>
      </p:sp>
      <p:sp>
        <p:nvSpPr>
          <p:cNvPr id="3" name="Content Placeholder 2"/>
          <p:cNvSpPr>
            <a:spLocks noGrp="1"/>
          </p:cNvSpPr>
          <p:nvPr>
            <p:ph idx="1"/>
          </p:nvPr>
        </p:nvSpPr>
        <p:spPr/>
        <p:txBody>
          <a:bodyPr/>
          <a:lstStyle/>
          <a:p>
            <a:r>
              <a:rPr lang="en-US" dirty="0"/>
              <a:t>Association between actor and use case</a:t>
            </a:r>
          </a:p>
          <a:p>
            <a:r>
              <a:rPr lang="en-US" dirty="0"/>
              <a:t>Generalization of an actor</a:t>
            </a:r>
          </a:p>
          <a:p>
            <a:r>
              <a:rPr lang="en-US" dirty="0"/>
              <a:t>Extend between two use cases</a:t>
            </a:r>
          </a:p>
          <a:p>
            <a:r>
              <a:rPr lang="en-US" dirty="0"/>
              <a:t>Include between two use cases</a:t>
            </a:r>
          </a:p>
          <a:p>
            <a:r>
              <a:rPr lang="en-US" dirty="0"/>
              <a:t>Generalization of a use case</a:t>
            </a:r>
          </a:p>
          <a:p>
            <a:pPr marL="0" indent="0">
              <a:buNone/>
            </a:pPr>
            <a:endParaRPr lang="en-US" dirty="0"/>
          </a:p>
        </p:txBody>
      </p:sp>
    </p:spTree>
    <p:extLst>
      <p:ext uri="{BB962C8B-B14F-4D97-AF65-F5344CB8AC3E}">
        <p14:creationId xmlns:p14="http://schemas.microsoft.com/office/powerpoint/2010/main" val="16775633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
            </a:r>
            <a:br>
              <a:rPr lang="en-US" dirty="0" smtClean="0"/>
            </a:br>
            <a:r>
              <a:rPr lang="en-US" dirty="0" smtClean="0"/>
              <a:t>Association </a:t>
            </a:r>
            <a:r>
              <a:rPr lang="en-US" dirty="0"/>
              <a:t>Between Actor and Use Case</a:t>
            </a:r>
            <a:br>
              <a:rPr lang="en-US" dirty="0"/>
            </a:br>
            <a:endParaRPr lang="en-US" dirty="0"/>
          </a:p>
        </p:txBody>
      </p:sp>
      <p:sp>
        <p:nvSpPr>
          <p:cNvPr id="3" name="Content Placeholder 2"/>
          <p:cNvSpPr>
            <a:spLocks noGrp="1"/>
          </p:cNvSpPr>
          <p:nvPr>
            <p:ph idx="1"/>
          </p:nvPr>
        </p:nvSpPr>
        <p:spPr>
          <a:xfrm>
            <a:off x="457200" y="1600200"/>
            <a:ext cx="8229600" cy="5029200"/>
          </a:xfrm>
        </p:spPr>
        <p:txBody>
          <a:bodyPr>
            <a:normAutofit/>
          </a:bodyPr>
          <a:lstStyle/>
          <a:p>
            <a:r>
              <a:rPr lang="en-US" dirty="0"/>
              <a:t>This one is straightforward and present in every use case </a:t>
            </a:r>
            <a:r>
              <a:rPr lang="en-US" dirty="0" smtClean="0"/>
              <a:t>diagram.</a:t>
            </a:r>
          </a:p>
          <a:p>
            <a:pPr marL="0" indent="0">
              <a:buNone/>
            </a:pPr>
            <a:endParaRPr lang="en-US" dirty="0"/>
          </a:p>
          <a:p>
            <a:pPr>
              <a:buFont typeface="Wingdings" pitchFamily="2" charset="2"/>
              <a:buChar char="ü"/>
            </a:pPr>
            <a:r>
              <a:rPr lang="en-US" dirty="0"/>
              <a:t>An actor must be </a:t>
            </a:r>
            <a:r>
              <a:rPr lang="en-US" b="1" dirty="0"/>
              <a:t>associated with at least one use case.</a:t>
            </a:r>
          </a:p>
          <a:p>
            <a:pPr>
              <a:buFont typeface="Wingdings" pitchFamily="2" charset="2"/>
              <a:buChar char="ü"/>
            </a:pPr>
            <a:r>
              <a:rPr lang="en-US" dirty="0"/>
              <a:t>An actor can be </a:t>
            </a:r>
            <a:r>
              <a:rPr lang="en-US" b="1" dirty="0"/>
              <a:t>associated with multiple use cases.</a:t>
            </a:r>
          </a:p>
          <a:p>
            <a:pPr>
              <a:buFont typeface="Wingdings" pitchFamily="2" charset="2"/>
              <a:buChar char="ü"/>
            </a:pPr>
            <a:r>
              <a:rPr lang="en-US" b="1" dirty="0"/>
              <a:t>Multiple</a:t>
            </a:r>
            <a:r>
              <a:rPr lang="en-US" dirty="0"/>
              <a:t> actors can be </a:t>
            </a:r>
            <a:r>
              <a:rPr lang="en-US" b="1" dirty="0"/>
              <a:t>associated with a single use case.</a:t>
            </a:r>
          </a:p>
        </p:txBody>
      </p:sp>
    </p:spTree>
    <p:extLst>
      <p:ext uri="{BB962C8B-B14F-4D97-AF65-F5344CB8AC3E}">
        <p14:creationId xmlns:p14="http://schemas.microsoft.com/office/powerpoint/2010/main" val="281832567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
            </a:r>
            <a:br>
              <a:rPr lang="en-US" dirty="0" smtClean="0"/>
            </a:br>
            <a:r>
              <a:rPr lang="en-US" dirty="0" smtClean="0"/>
              <a:t>Association </a:t>
            </a:r>
            <a:r>
              <a:rPr lang="en-US" dirty="0"/>
              <a:t>Between Actor and Use Case</a:t>
            </a:r>
            <a:br>
              <a:rPr lang="en-US" dirty="0"/>
            </a:br>
            <a:endParaRPr lang="en-US" dirty="0"/>
          </a:p>
        </p:txBody>
      </p:sp>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066800" y="2286000"/>
            <a:ext cx="7239000" cy="312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543850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9762"/>
          </a:xfrm>
        </p:spPr>
        <p:txBody>
          <a:bodyPr>
            <a:normAutofit fontScale="90000"/>
          </a:bodyPr>
          <a:lstStyle/>
          <a:p>
            <a:r>
              <a:rPr lang="en-US" dirty="0" smtClean="0"/>
              <a:t/>
            </a:r>
            <a:br>
              <a:rPr lang="en-US" dirty="0" smtClean="0"/>
            </a:br>
            <a:r>
              <a:rPr lang="en-US" dirty="0" smtClean="0"/>
              <a:t>Generalization </a:t>
            </a:r>
            <a:r>
              <a:rPr lang="en-US" dirty="0"/>
              <a:t>of an Actor</a:t>
            </a:r>
            <a:br>
              <a:rPr lang="en-US" dirty="0"/>
            </a:br>
            <a:endParaRPr lang="en-US" dirty="0"/>
          </a:p>
        </p:txBody>
      </p:sp>
      <p:sp>
        <p:nvSpPr>
          <p:cNvPr id="3" name="Content Placeholder 2"/>
          <p:cNvSpPr>
            <a:spLocks noGrp="1"/>
          </p:cNvSpPr>
          <p:nvPr>
            <p:ph idx="1"/>
          </p:nvPr>
        </p:nvSpPr>
        <p:spPr>
          <a:xfrm>
            <a:off x="457200" y="1143000"/>
            <a:ext cx="8229600" cy="4983163"/>
          </a:xfrm>
        </p:spPr>
        <p:txBody>
          <a:bodyPr/>
          <a:lstStyle/>
          <a:p>
            <a:pPr algn="just"/>
            <a:r>
              <a:rPr lang="en-US" dirty="0"/>
              <a:t>Generalization of an actor means that one actor can inherit the role of an other actor. </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438400"/>
            <a:ext cx="5486400" cy="4143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254828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1066800"/>
          </a:xfrm>
        </p:spPr>
        <p:txBody>
          <a:bodyPr>
            <a:normAutofit fontScale="90000"/>
          </a:bodyPr>
          <a:lstStyle/>
          <a:p>
            <a:r>
              <a:rPr lang="en-US" dirty="0" smtClean="0"/>
              <a:t/>
            </a:r>
            <a:br>
              <a:rPr lang="en-US" dirty="0" smtClean="0"/>
            </a:br>
            <a:r>
              <a:rPr lang="en-US" dirty="0" smtClean="0"/>
              <a:t>Extend </a:t>
            </a:r>
            <a:r>
              <a:rPr lang="en-US" dirty="0"/>
              <a:t>Relationship Between Two Use Cases</a:t>
            </a:r>
            <a:br>
              <a:rPr lang="en-US" dirty="0"/>
            </a:br>
            <a:endParaRPr lang="en-US" dirty="0"/>
          </a:p>
        </p:txBody>
      </p:sp>
      <p:sp>
        <p:nvSpPr>
          <p:cNvPr id="3" name="Content Placeholder 2"/>
          <p:cNvSpPr>
            <a:spLocks noGrp="1"/>
          </p:cNvSpPr>
          <p:nvPr>
            <p:ph idx="1"/>
          </p:nvPr>
        </p:nvSpPr>
        <p:spPr>
          <a:xfrm>
            <a:off x="152400" y="1371600"/>
            <a:ext cx="8839200" cy="5334000"/>
          </a:xfrm>
        </p:spPr>
        <p:txBody>
          <a:bodyPr>
            <a:normAutofit lnSpcReduction="10000"/>
          </a:bodyPr>
          <a:lstStyle/>
          <a:p>
            <a:pPr algn="just"/>
            <a:r>
              <a:rPr lang="en-US" sz="3000" dirty="0" smtClean="0"/>
              <a:t>It </a:t>
            </a:r>
            <a:r>
              <a:rPr lang="en-US" sz="3000" dirty="0"/>
              <a:t>extends the base use case and adds more functionality to the system. </a:t>
            </a:r>
            <a:endParaRPr lang="en-US" sz="3000" dirty="0" smtClean="0"/>
          </a:p>
          <a:p>
            <a:pPr algn="just">
              <a:buFont typeface="Wingdings" pitchFamily="2" charset="2"/>
              <a:buChar char="ü"/>
            </a:pPr>
            <a:r>
              <a:rPr lang="en-US" sz="3000" b="1" dirty="0"/>
              <a:t>The extending use case is dependent on the extended (base) use case</a:t>
            </a:r>
            <a:r>
              <a:rPr lang="en-US" sz="3000" dirty="0" smtClean="0"/>
              <a:t>.</a:t>
            </a:r>
          </a:p>
          <a:p>
            <a:pPr algn="just">
              <a:buFont typeface="Wingdings" pitchFamily="2" charset="2"/>
              <a:buChar char="ü"/>
            </a:pPr>
            <a:r>
              <a:rPr lang="en-US" sz="3000" b="1" dirty="0"/>
              <a:t>The extending use case is usually </a:t>
            </a:r>
            <a:r>
              <a:rPr lang="en-US" sz="3000" b="1" dirty="0" smtClean="0"/>
              <a:t>optional </a:t>
            </a:r>
            <a:r>
              <a:rPr lang="en-US" sz="3000" b="1" dirty="0"/>
              <a:t>and can be triggered conditionally</a:t>
            </a:r>
            <a:r>
              <a:rPr lang="en-US" sz="3000" b="1" dirty="0" smtClean="0"/>
              <a:t>.</a:t>
            </a:r>
          </a:p>
          <a:p>
            <a:pPr algn="just">
              <a:buFont typeface="Wingdings" pitchFamily="2" charset="2"/>
              <a:buChar char="ü"/>
            </a:pPr>
            <a:r>
              <a:rPr lang="en-US" sz="3000" b="1" dirty="0"/>
              <a:t>The extended (base) use case must be meaningful on its own</a:t>
            </a:r>
            <a:r>
              <a:rPr lang="en-US" sz="3000" dirty="0" smtClean="0"/>
              <a:t>.</a:t>
            </a:r>
          </a:p>
          <a:p>
            <a:pPr algn="just">
              <a:buFont typeface="Wingdings" pitchFamily="2" charset="2"/>
              <a:buChar char="ü"/>
            </a:pPr>
            <a:r>
              <a:rPr lang="en-US" sz="3000" dirty="0"/>
              <a:t>Arrow points to the base use case when using &lt;&lt;extend</a:t>
            </a:r>
            <a:r>
              <a:rPr lang="en-US" sz="3000" dirty="0" smtClean="0"/>
              <a:t>&gt;&gt;</a:t>
            </a:r>
          </a:p>
          <a:p>
            <a:pPr algn="just">
              <a:buFont typeface="Wingdings" pitchFamily="2" charset="2"/>
              <a:buChar char="ü"/>
            </a:pPr>
            <a:r>
              <a:rPr lang="en-US" sz="2800" dirty="0"/>
              <a:t>E</a:t>
            </a:r>
            <a:r>
              <a:rPr lang="en-US" sz="2800" dirty="0" smtClean="0"/>
              <a:t>xtending </a:t>
            </a:r>
            <a:r>
              <a:rPr lang="en-US" sz="2800" dirty="0"/>
              <a:t>use case is optional</a:t>
            </a:r>
            <a:endParaRPr lang="en-US" sz="3000" dirty="0"/>
          </a:p>
          <a:p>
            <a:pPr marL="0" indent="0">
              <a:buNone/>
            </a:pPr>
            <a:endParaRPr lang="en-US" sz="3000" b="1" dirty="0"/>
          </a:p>
        </p:txBody>
      </p:sp>
    </p:spTree>
    <p:extLst>
      <p:ext uri="{BB962C8B-B14F-4D97-AF65-F5344CB8AC3E}">
        <p14:creationId xmlns:p14="http://schemas.microsoft.com/office/powerpoint/2010/main" val="34724600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use case diagram relationships with exten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304800"/>
            <a:ext cx="8458200" cy="6324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66661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normAutofit fontScale="90000"/>
          </a:bodyPr>
          <a:lstStyle/>
          <a:p>
            <a:r>
              <a:rPr lang="en-US" dirty="0" smtClean="0"/>
              <a:t/>
            </a:r>
            <a:br>
              <a:rPr lang="en-US" dirty="0" smtClean="0"/>
            </a:br>
            <a:r>
              <a:rPr lang="en-US" dirty="0" smtClean="0"/>
              <a:t>Include </a:t>
            </a:r>
            <a:r>
              <a:rPr lang="en-US" dirty="0"/>
              <a:t>Relationship Between Two Use Cases</a:t>
            </a:r>
            <a:br>
              <a:rPr lang="en-US" dirty="0"/>
            </a:br>
            <a:endParaRPr lang="en-US" dirty="0"/>
          </a:p>
        </p:txBody>
      </p:sp>
      <p:sp>
        <p:nvSpPr>
          <p:cNvPr id="3" name="Content Placeholder 2"/>
          <p:cNvSpPr>
            <a:spLocks noGrp="1"/>
          </p:cNvSpPr>
          <p:nvPr>
            <p:ph idx="1"/>
          </p:nvPr>
        </p:nvSpPr>
        <p:spPr>
          <a:xfrm>
            <a:off x="76200" y="1371600"/>
            <a:ext cx="8991600" cy="5410200"/>
          </a:xfrm>
        </p:spPr>
        <p:txBody>
          <a:bodyPr>
            <a:normAutofit fontScale="92500"/>
          </a:bodyPr>
          <a:lstStyle/>
          <a:p>
            <a:pPr algn="just"/>
            <a:r>
              <a:rPr lang="en-US" dirty="0"/>
              <a:t>Include relationship show that the behavior of the included use case is part of the including (base) use case. </a:t>
            </a:r>
            <a:endParaRPr lang="en-US" dirty="0" smtClean="0"/>
          </a:p>
          <a:p>
            <a:pPr algn="just"/>
            <a:endParaRPr lang="en-US" dirty="0" smtClean="0"/>
          </a:p>
          <a:p>
            <a:pPr algn="just"/>
            <a:r>
              <a:rPr lang="en-US" dirty="0"/>
              <a:t>The base use case is incomplete without the included use case</a:t>
            </a:r>
            <a:r>
              <a:rPr lang="en-US" dirty="0" smtClean="0"/>
              <a:t>.</a:t>
            </a:r>
          </a:p>
          <a:p>
            <a:pPr algn="just"/>
            <a:endParaRPr lang="en-US" dirty="0"/>
          </a:p>
          <a:p>
            <a:pPr algn="just"/>
            <a:r>
              <a:rPr lang="en-US" dirty="0"/>
              <a:t>The included use case is mandatory and not optional</a:t>
            </a:r>
            <a:r>
              <a:rPr lang="en-US" dirty="0" smtClean="0"/>
              <a:t>.</a:t>
            </a:r>
          </a:p>
          <a:p>
            <a:pPr algn="just"/>
            <a:endParaRPr lang="en-US" dirty="0"/>
          </a:p>
          <a:p>
            <a:pPr algn="just"/>
            <a:r>
              <a:rPr lang="en-IN" dirty="0"/>
              <a:t>Like a “use case subroutine” </a:t>
            </a:r>
            <a:endParaRPr lang="en-US" dirty="0"/>
          </a:p>
          <a:p>
            <a:pPr algn="just"/>
            <a:endParaRPr lang="en-US" dirty="0"/>
          </a:p>
        </p:txBody>
      </p:sp>
    </p:spTree>
    <p:extLst>
      <p:ext uri="{BB962C8B-B14F-4D97-AF65-F5344CB8AC3E}">
        <p14:creationId xmlns:p14="http://schemas.microsoft.com/office/powerpoint/2010/main" val="897321260"/>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How to use include in use case diagram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152400"/>
            <a:ext cx="8839200" cy="6629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921656"/>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p:spPr>
        <p:txBody>
          <a:bodyPr>
            <a:normAutofit fontScale="90000"/>
          </a:bodyPr>
          <a:lstStyle/>
          <a:p>
            <a:r>
              <a:rPr lang="en-US" dirty="0" smtClean="0"/>
              <a:t/>
            </a:r>
            <a:br>
              <a:rPr lang="en-US" dirty="0" smtClean="0"/>
            </a:br>
            <a:r>
              <a:rPr lang="en-US" dirty="0" smtClean="0"/>
              <a:t>Generalization </a:t>
            </a:r>
            <a:r>
              <a:rPr lang="en-US" dirty="0"/>
              <a:t>of a Use Case</a:t>
            </a:r>
            <a:br>
              <a:rPr lang="en-US" dirty="0"/>
            </a:br>
            <a:endParaRPr lang="en-US" dirty="0"/>
          </a:p>
        </p:txBody>
      </p:sp>
      <p:sp>
        <p:nvSpPr>
          <p:cNvPr id="3" name="Content Placeholder 2"/>
          <p:cNvSpPr>
            <a:spLocks noGrp="1"/>
          </p:cNvSpPr>
          <p:nvPr>
            <p:ph idx="1"/>
          </p:nvPr>
        </p:nvSpPr>
        <p:spPr>
          <a:xfrm>
            <a:off x="152400" y="1295400"/>
            <a:ext cx="8839200" cy="5410200"/>
          </a:xfrm>
        </p:spPr>
        <p:txBody>
          <a:bodyPr/>
          <a:lstStyle/>
          <a:p>
            <a:pPr algn="just"/>
            <a:r>
              <a:rPr lang="en-US" dirty="0"/>
              <a:t>This is similar to the generalization of an actor. </a:t>
            </a:r>
            <a:endParaRPr lang="en-US" dirty="0" smtClean="0"/>
          </a:p>
          <a:p>
            <a:pPr algn="just"/>
            <a:r>
              <a:rPr lang="en-US" dirty="0"/>
              <a:t>This is used when there are common behavior between two use cases and also specialized behavior specific to each use case.</a:t>
            </a:r>
            <a:endParaRPr lang="en-US" dirty="0" smtClean="0"/>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3657600"/>
            <a:ext cx="5767387" cy="298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8127399"/>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PROBLEM DEFINTION-VENDING MACHINE</a:t>
            </a:r>
          </a:p>
        </p:txBody>
      </p:sp>
      <p:sp>
        <p:nvSpPr>
          <p:cNvPr id="3" name="Content Placeholder 2"/>
          <p:cNvSpPr>
            <a:spLocks noGrp="1"/>
          </p:cNvSpPr>
          <p:nvPr>
            <p:ph idx="1"/>
          </p:nvPr>
        </p:nvSpPr>
        <p:spPr/>
        <p:txBody>
          <a:bodyPr>
            <a:normAutofit fontScale="85000" lnSpcReduction="20000"/>
          </a:bodyPr>
          <a:lstStyle/>
          <a:p>
            <a:pPr algn="just"/>
            <a:r>
              <a:rPr lang="en-US" dirty="0"/>
              <a:t>A vending machine accepts coins for a  variety of products. The user selects the drink from products available through the selection panel. If the drink is available the price of the product is displayed. The user the deposits the coins depending on the price of the product. Coin collector collects the coins. After stipulated time, the controller will compare the deposited coins with the price, If the amount deposited is less than the price then error message will be displayed and all deposited coins will be dispensed by coin dispenser else the drink will be dispensed by the product dispenser. Draw </a:t>
            </a:r>
            <a:r>
              <a:rPr lang="en-US" dirty="0" smtClean="0"/>
              <a:t>use </a:t>
            </a:r>
            <a:r>
              <a:rPr lang="en-US" dirty="0"/>
              <a:t>case diagram.</a:t>
            </a:r>
          </a:p>
        </p:txBody>
      </p:sp>
    </p:spTree>
    <p:extLst>
      <p:ext uri="{BB962C8B-B14F-4D97-AF65-F5344CB8AC3E}">
        <p14:creationId xmlns:p14="http://schemas.microsoft.com/office/powerpoint/2010/main" val="403006939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Use Case Diagram for Vending Machine</a:t>
            </a:r>
          </a:p>
        </p:txBody>
      </p:sp>
      <p:sp>
        <p:nvSpPr>
          <p:cNvPr id="3" name="Content Placeholder 2"/>
          <p:cNvSpPr>
            <a:spLocks noGrp="1"/>
          </p:cNvSpPr>
          <p:nvPr>
            <p:ph idx="1"/>
          </p:nvPr>
        </p:nvSpPr>
        <p:spPr/>
        <p:txBody>
          <a:bodyPr/>
          <a:lstStyle/>
          <a:p>
            <a:r>
              <a:rPr lang="en-US" dirty="0"/>
              <a:t>Actor- User</a:t>
            </a:r>
          </a:p>
          <a:p>
            <a:r>
              <a:rPr lang="en-US" dirty="0"/>
              <a:t>Processes involved in the system</a:t>
            </a:r>
          </a:p>
          <a:p>
            <a:pPr lvl="1"/>
            <a:r>
              <a:rPr lang="en-US" dirty="0"/>
              <a:t>Select product</a:t>
            </a:r>
          </a:p>
          <a:p>
            <a:pPr lvl="1"/>
            <a:r>
              <a:rPr lang="en-US" dirty="0"/>
              <a:t>Deposit coins</a:t>
            </a:r>
          </a:p>
          <a:p>
            <a:pPr lvl="1"/>
            <a:r>
              <a:rPr lang="en-US" dirty="0"/>
              <a:t>Verify the deposited amount</a:t>
            </a:r>
          </a:p>
          <a:p>
            <a:pPr lvl="1"/>
            <a:r>
              <a:rPr lang="en-US" dirty="0"/>
              <a:t>Dispense product</a:t>
            </a:r>
          </a:p>
          <a:p>
            <a:pPr lvl="1"/>
            <a:r>
              <a:rPr lang="en-US" dirty="0"/>
              <a:t>Dispense coins</a:t>
            </a:r>
          </a:p>
          <a:p>
            <a:endParaRPr lang="en-US" dirty="0"/>
          </a:p>
        </p:txBody>
      </p:sp>
    </p:spTree>
    <p:extLst>
      <p:ext uri="{BB962C8B-B14F-4D97-AF65-F5344CB8AC3E}">
        <p14:creationId xmlns:p14="http://schemas.microsoft.com/office/powerpoint/2010/main" val="2998403591"/>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76200"/>
            <a:ext cx="9486900" cy="678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839711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Example</a:t>
            </a:r>
            <a:endParaRPr lang="en-US" dirty="0"/>
          </a:p>
        </p:txBody>
      </p:sp>
      <p:sp>
        <p:nvSpPr>
          <p:cNvPr id="3" name="Content Placeholder 2"/>
          <p:cNvSpPr>
            <a:spLocks noGrp="1"/>
          </p:cNvSpPr>
          <p:nvPr>
            <p:ph idx="1"/>
          </p:nvPr>
        </p:nvSpPr>
        <p:spPr/>
        <p:txBody>
          <a:bodyPr>
            <a:normAutofit/>
          </a:bodyPr>
          <a:lstStyle/>
          <a:p>
            <a:pPr algn="just"/>
            <a:r>
              <a:rPr lang="en-US" dirty="0"/>
              <a:t>Customer (actor) uses bank ATM to Check Balances of his/her bank accounts, Deposit Funds, Withdraw Cash and/or Transfer Funds (use cases). ATM Technician </a:t>
            </a:r>
            <a:r>
              <a:rPr lang="en-US" dirty="0" smtClean="0"/>
              <a:t>provides Maintenance </a:t>
            </a:r>
            <a:r>
              <a:rPr lang="en-US" dirty="0"/>
              <a:t>and Repairs. All these use cases also involve Bank actor whether it is related to customer transactions or to the ATM servicing.</a:t>
            </a:r>
          </a:p>
        </p:txBody>
      </p:sp>
    </p:spTree>
    <p:extLst>
      <p:ext uri="{BB962C8B-B14F-4D97-AF65-F5344CB8AC3E}">
        <p14:creationId xmlns:p14="http://schemas.microsoft.com/office/powerpoint/2010/main" val="579626625"/>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685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8738980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 Case Example</a:t>
            </a:r>
          </a:p>
        </p:txBody>
      </p:sp>
      <p:sp>
        <p:nvSpPr>
          <p:cNvPr id="3" name="Content Placeholder 2"/>
          <p:cNvSpPr>
            <a:spLocks noGrp="1"/>
          </p:cNvSpPr>
          <p:nvPr>
            <p:ph idx="1"/>
          </p:nvPr>
        </p:nvSpPr>
        <p:spPr/>
        <p:txBody>
          <a:bodyPr>
            <a:normAutofit fontScale="85000" lnSpcReduction="20000"/>
          </a:bodyPr>
          <a:lstStyle/>
          <a:p>
            <a:pPr algn="just"/>
            <a:r>
              <a:rPr lang="en-US" dirty="0"/>
              <a:t>On most bank ATMs, the customer is authenticated by inserting a plastic ATM card and entering a personal identification number (PIN). Customer Authentication use case is required for every ATM transaction so we show it as include relationship. Including this use case as well as transaction generalizations make the ATM Transaction an abstract use case. Customer may need some help from the ATM. ATM Transaction use case is extended via extension point called menu by the ATM Help use case whenever ATM Transaction is at the location specified by the menu and the bank customer requests help, e.g. by selecting Help menu item.</a:t>
            </a:r>
          </a:p>
        </p:txBody>
      </p:sp>
    </p:spTree>
    <p:extLst>
      <p:ext uri="{BB962C8B-B14F-4D97-AF65-F5344CB8AC3E}">
        <p14:creationId xmlns:p14="http://schemas.microsoft.com/office/powerpoint/2010/main" val="1323395921"/>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52400"/>
            <a:ext cx="9144000" cy="701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39137583"/>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 Case Example</a:t>
            </a:r>
          </a:p>
        </p:txBody>
      </p:sp>
      <p:sp>
        <p:nvSpPr>
          <p:cNvPr id="3" name="Content Placeholder 2"/>
          <p:cNvSpPr>
            <a:spLocks noGrp="1"/>
          </p:cNvSpPr>
          <p:nvPr>
            <p:ph idx="1"/>
          </p:nvPr>
        </p:nvSpPr>
        <p:spPr/>
        <p:txBody>
          <a:bodyPr/>
          <a:lstStyle/>
          <a:p>
            <a:pPr algn="just"/>
            <a:r>
              <a:rPr lang="en-US" dirty="0"/>
              <a:t>ATM Technician maintains or repairs Bank ATM. Maintenance use case includes Replenishing ATM with cash, ink or printer paper, Upgrades of hardware, firmware or software, and remote or on-site Diagnostics. Diagnostics is also included in (shared with) Repair use case.</a:t>
            </a:r>
          </a:p>
        </p:txBody>
      </p:sp>
    </p:spTree>
    <p:extLst>
      <p:ext uri="{BB962C8B-B14F-4D97-AF65-F5344CB8AC3E}">
        <p14:creationId xmlns:p14="http://schemas.microsoft.com/office/powerpoint/2010/main" val="377012966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3999" cy="685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91296966"/>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794359"/>
            <a:ext cx="7696200" cy="46426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04615221"/>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Image result for travel agency system use case 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381000"/>
            <a:ext cx="5133975" cy="5743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374030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USE CASE</a:t>
            </a:r>
            <a:endParaRPr lang="en-IN" dirty="0"/>
          </a:p>
        </p:txBody>
      </p:sp>
      <p:sp>
        <p:nvSpPr>
          <p:cNvPr id="3" name="Content Placeholder 2"/>
          <p:cNvSpPr>
            <a:spLocks noGrp="1"/>
          </p:cNvSpPr>
          <p:nvPr>
            <p:ph idx="1"/>
          </p:nvPr>
        </p:nvSpPr>
        <p:spPr/>
        <p:txBody>
          <a:bodyPr>
            <a:normAutofit/>
          </a:bodyPr>
          <a:lstStyle/>
          <a:p>
            <a:r>
              <a:rPr lang="en-IN" sz="4400" b="1" dirty="0" smtClean="0"/>
              <a:t>Online Airline Reservation System</a:t>
            </a:r>
            <a:endParaRPr lang="en-IN" sz="4400" b="1" dirty="0"/>
          </a:p>
        </p:txBody>
      </p:sp>
    </p:spTree>
    <p:extLst>
      <p:ext uri="{BB962C8B-B14F-4D97-AF65-F5344CB8AC3E}">
        <p14:creationId xmlns:p14="http://schemas.microsoft.com/office/powerpoint/2010/main" val="377912163"/>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UML use case diagram for airline reservation syste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52400"/>
            <a:ext cx="8634958" cy="64431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7642465"/>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Activity Diagram</a:t>
            </a:r>
            <a:endParaRPr lang="en-US" dirty="0"/>
          </a:p>
        </p:txBody>
      </p:sp>
      <p:sp>
        <p:nvSpPr>
          <p:cNvPr id="3" name="Content Placeholder 2"/>
          <p:cNvSpPr>
            <a:spLocks noGrp="1"/>
          </p:cNvSpPr>
          <p:nvPr>
            <p:ph idx="1"/>
          </p:nvPr>
        </p:nvSpPr>
        <p:spPr>
          <a:xfrm>
            <a:off x="457200" y="1600200"/>
            <a:ext cx="8229600" cy="5105400"/>
          </a:xfrm>
        </p:spPr>
        <p:txBody>
          <a:bodyPr>
            <a:normAutofit fontScale="92500" lnSpcReduction="20000"/>
          </a:bodyPr>
          <a:lstStyle/>
          <a:p>
            <a:pPr algn="just"/>
            <a:r>
              <a:rPr lang="en-US" dirty="0"/>
              <a:t>An activity diagram describes the </a:t>
            </a:r>
            <a:r>
              <a:rPr lang="en-US" b="1" dirty="0"/>
              <a:t>behavior of a system in terms of activities</a:t>
            </a:r>
            <a:r>
              <a:rPr lang="en-US" b="1" dirty="0" smtClean="0"/>
              <a:t>.</a:t>
            </a:r>
          </a:p>
          <a:p>
            <a:pPr algn="just"/>
            <a:endParaRPr lang="en-US" b="1" dirty="0" smtClean="0"/>
          </a:p>
          <a:p>
            <a:pPr algn="just"/>
            <a:r>
              <a:rPr lang="en-US" b="1" dirty="0" smtClean="0"/>
              <a:t>Activity </a:t>
            </a:r>
            <a:r>
              <a:rPr lang="en-US" b="1" dirty="0"/>
              <a:t>diagram</a:t>
            </a:r>
            <a:r>
              <a:rPr lang="en-US" dirty="0"/>
              <a:t> is basically a </a:t>
            </a:r>
            <a:r>
              <a:rPr lang="en-US" b="1" dirty="0"/>
              <a:t>flow chart</a:t>
            </a:r>
            <a:r>
              <a:rPr lang="en-US" dirty="0"/>
              <a:t> to represent the flow form </a:t>
            </a:r>
            <a:r>
              <a:rPr lang="en-US" b="1" dirty="0"/>
              <a:t>one activity to another activity.</a:t>
            </a:r>
            <a:r>
              <a:rPr lang="en-US" dirty="0"/>
              <a:t> </a:t>
            </a:r>
            <a:endParaRPr lang="en-US" dirty="0" smtClean="0"/>
          </a:p>
          <a:p>
            <a:pPr algn="just"/>
            <a:endParaRPr lang="en-US" dirty="0" smtClean="0"/>
          </a:p>
          <a:p>
            <a:pPr algn="just"/>
            <a:r>
              <a:rPr lang="en-US" dirty="0" smtClean="0"/>
              <a:t>Activity diagram: </a:t>
            </a:r>
            <a:r>
              <a:rPr lang="en-US" b="1" dirty="0" smtClean="0"/>
              <a:t>operation of a system</a:t>
            </a:r>
            <a:r>
              <a:rPr lang="en-US" dirty="0" smtClean="0"/>
              <a:t>.</a:t>
            </a:r>
          </a:p>
          <a:p>
            <a:pPr algn="just"/>
            <a:endParaRPr lang="en-US" dirty="0" smtClean="0"/>
          </a:p>
          <a:p>
            <a:pPr algn="just"/>
            <a:r>
              <a:rPr lang="en-US" dirty="0" smtClean="0"/>
              <a:t>This </a:t>
            </a:r>
            <a:r>
              <a:rPr lang="en-US" dirty="0"/>
              <a:t>flow can be </a:t>
            </a:r>
            <a:r>
              <a:rPr lang="en-US" b="1" dirty="0"/>
              <a:t>sequential, branched or concurrent.</a:t>
            </a:r>
          </a:p>
        </p:txBody>
      </p:sp>
    </p:spTree>
    <p:extLst>
      <p:ext uri="{BB962C8B-B14F-4D97-AF65-F5344CB8AC3E}">
        <p14:creationId xmlns:p14="http://schemas.microsoft.com/office/powerpoint/2010/main" val="1072654943"/>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2162"/>
          </a:xfrm>
        </p:spPr>
        <p:txBody>
          <a:bodyPr/>
          <a:lstStyle/>
          <a:p>
            <a:r>
              <a:rPr lang="en-US" dirty="0"/>
              <a:t>Activity </a:t>
            </a:r>
            <a:r>
              <a:rPr lang="en-US" dirty="0" smtClean="0"/>
              <a:t>Diagram (</a:t>
            </a:r>
            <a:r>
              <a:rPr lang="en-US" dirty="0"/>
              <a:t>basic </a:t>
            </a:r>
            <a:r>
              <a:rPr lang="en-US" dirty="0" smtClean="0"/>
              <a:t>notations)</a:t>
            </a:r>
            <a:endParaRPr lang="en-US" dirty="0"/>
          </a:p>
        </p:txBody>
      </p:sp>
      <p:sp>
        <p:nvSpPr>
          <p:cNvPr id="3" name="Content Placeholder 2"/>
          <p:cNvSpPr>
            <a:spLocks noGrp="1"/>
          </p:cNvSpPr>
          <p:nvPr>
            <p:ph idx="1"/>
          </p:nvPr>
        </p:nvSpPr>
        <p:spPr>
          <a:xfrm>
            <a:off x="152400" y="1295400"/>
            <a:ext cx="8915400" cy="5410200"/>
          </a:xfrm>
        </p:spPr>
        <p:txBody>
          <a:bodyPr/>
          <a:lstStyle/>
          <a:p>
            <a:r>
              <a:rPr lang="en-US" b="1" dirty="0"/>
              <a:t>Initial node</a:t>
            </a:r>
            <a:r>
              <a:rPr lang="en-US" dirty="0"/>
              <a:t>. </a:t>
            </a:r>
            <a:endParaRPr lang="en-US" dirty="0" smtClean="0"/>
          </a:p>
          <a:p>
            <a:pPr algn="just">
              <a:buFont typeface="Wingdings" pitchFamily="2" charset="2"/>
              <a:buChar char="ü"/>
            </a:pPr>
            <a:r>
              <a:rPr lang="en-US" dirty="0" smtClean="0"/>
              <a:t>The </a:t>
            </a:r>
            <a:r>
              <a:rPr lang="en-US" dirty="0"/>
              <a:t>filled in circle is the starting point of the </a:t>
            </a:r>
            <a:r>
              <a:rPr lang="en-US" dirty="0" smtClean="0"/>
              <a:t>diagram.</a:t>
            </a:r>
          </a:p>
          <a:p>
            <a:pPr algn="just">
              <a:buFont typeface="Wingdings" pitchFamily="2" charset="2"/>
              <a:buChar char="ü"/>
            </a:pPr>
            <a:r>
              <a:rPr lang="en-US" dirty="0"/>
              <a:t>It is shown as filled circle.</a:t>
            </a:r>
            <a:endParaRPr lang="en-US" dirty="0" smtClean="0"/>
          </a:p>
          <a:p>
            <a:pPr marL="0" indent="0">
              <a:buNone/>
            </a:pP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3962400"/>
            <a:ext cx="4267200" cy="2362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75187980"/>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a:xfrm>
            <a:off x="495300" y="1851818"/>
            <a:ext cx="8229600" cy="4929982"/>
          </a:xfrm>
        </p:spPr>
        <p:txBody>
          <a:bodyPr/>
          <a:lstStyle/>
          <a:p>
            <a:r>
              <a:rPr lang="en-US" b="1" dirty="0"/>
              <a:t>Activity final node</a:t>
            </a:r>
            <a:r>
              <a:rPr lang="en-US" dirty="0"/>
              <a:t>. </a:t>
            </a:r>
            <a:endParaRPr lang="en-US" dirty="0" smtClean="0"/>
          </a:p>
          <a:p>
            <a:pPr>
              <a:buFont typeface="Wingdings" pitchFamily="2" charset="2"/>
              <a:buChar char="ü"/>
            </a:pPr>
            <a:r>
              <a:rPr lang="en-US" dirty="0" smtClean="0"/>
              <a:t>The </a:t>
            </a:r>
            <a:r>
              <a:rPr lang="en-US" dirty="0"/>
              <a:t>filled circle with a border is the ending </a:t>
            </a:r>
            <a:r>
              <a:rPr lang="en-US" dirty="0" smtClean="0"/>
              <a:t>point.</a:t>
            </a:r>
          </a:p>
          <a:p>
            <a:pPr>
              <a:buFont typeface="Wingdings" pitchFamily="2" charset="2"/>
              <a:buChar char="ü"/>
            </a:pPr>
            <a:r>
              <a:rPr lang="en-US" dirty="0"/>
              <a:t>The final activity is optional.</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4114800"/>
            <a:ext cx="3124200" cy="2057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31499144"/>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a:xfrm>
            <a:off x="457200" y="1600200"/>
            <a:ext cx="8229600" cy="5105400"/>
          </a:xfrm>
        </p:spPr>
        <p:txBody>
          <a:bodyPr/>
          <a:lstStyle/>
          <a:p>
            <a:pPr algn="just"/>
            <a:r>
              <a:rPr lang="en-US" b="1" dirty="0"/>
              <a:t>Activity</a:t>
            </a:r>
            <a:r>
              <a:rPr lang="en-US" dirty="0"/>
              <a:t>. The rounded rectangles represent activities that occur. </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93810" y="3505200"/>
            <a:ext cx="3381375" cy="99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66642935"/>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p:txBody>
          <a:bodyPr/>
          <a:lstStyle/>
          <a:p>
            <a:pPr algn="just"/>
            <a:r>
              <a:rPr lang="en-US" b="1" dirty="0" smtClean="0"/>
              <a:t>Flow/edge </a:t>
            </a:r>
            <a:r>
              <a:rPr lang="en-US" b="1" dirty="0"/>
              <a:t>(Control Flow)</a:t>
            </a:r>
          </a:p>
          <a:p>
            <a:pPr algn="just">
              <a:buFont typeface="Wingdings" pitchFamily="2" charset="2"/>
              <a:buChar char="ü"/>
            </a:pPr>
            <a:r>
              <a:rPr lang="en-US" dirty="0" smtClean="0"/>
              <a:t>The </a:t>
            </a:r>
            <a:r>
              <a:rPr lang="en-US" dirty="0"/>
              <a:t>arrows on the diagram</a:t>
            </a:r>
            <a:r>
              <a:rPr lang="en-US" dirty="0" smtClean="0"/>
              <a:t>. </a:t>
            </a:r>
            <a:r>
              <a:rPr lang="en-US" dirty="0"/>
              <a:t>Within the control flow an incoming arrow starts a single step of an activity; after the step is completed the flow continues along the outgoing arrow.</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4876800"/>
            <a:ext cx="441960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225996"/>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lstStyle/>
          <a:p>
            <a:r>
              <a:rPr lang="en-US" dirty="0"/>
              <a:t>Activity Diagram (basic notations)</a:t>
            </a:r>
          </a:p>
        </p:txBody>
      </p:sp>
      <p:sp>
        <p:nvSpPr>
          <p:cNvPr id="3" name="Content Placeholder 2"/>
          <p:cNvSpPr>
            <a:spLocks noGrp="1"/>
          </p:cNvSpPr>
          <p:nvPr>
            <p:ph idx="1"/>
          </p:nvPr>
        </p:nvSpPr>
        <p:spPr>
          <a:xfrm>
            <a:off x="76200" y="1295400"/>
            <a:ext cx="8991600" cy="5334000"/>
          </a:xfrm>
        </p:spPr>
        <p:txBody>
          <a:bodyPr/>
          <a:lstStyle/>
          <a:p>
            <a:r>
              <a:rPr lang="en-US" b="1" dirty="0"/>
              <a:t>Decision</a:t>
            </a:r>
            <a:r>
              <a:rPr lang="en-US" dirty="0"/>
              <a:t>. </a:t>
            </a:r>
            <a:endParaRPr lang="en-US" dirty="0" smtClean="0"/>
          </a:p>
          <a:p>
            <a:pPr algn="just">
              <a:buFont typeface="Wingdings" pitchFamily="2" charset="2"/>
              <a:buChar char="ü"/>
            </a:pPr>
            <a:r>
              <a:rPr lang="en-US" b="1" dirty="0"/>
              <a:t>Decisions </a:t>
            </a:r>
            <a:r>
              <a:rPr lang="en-US" dirty="0"/>
              <a:t>are branches in the control flow</a:t>
            </a:r>
            <a:r>
              <a:rPr lang="en-US" dirty="0" smtClean="0"/>
              <a:t>.</a:t>
            </a:r>
          </a:p>
          <a:p>
            <a:pPr marL="0" indent="0" algn="just">
              <a:buNone/>
            </a:pPr>
            <a:endParaRPr lang="en-US" dirty="0" smtClean="0"/>
          </a:p>
          <a:p>
            <a:pPr algn="just">
              <a:buFont typeface="Wingdings" pitchFamily="2" charset="2"/>
              <a:buChar char="ü"/>
            </a:pPr>
            <a:r>
              <a:rPr lang="en-US" dirty="0" smtClean="0"/>
              <a:t>They </a:t>
            </a:r>
            <a:r>
              <a:rPr lang="en-US" dirty="0"/>
              <a:t>denote alternatives based on a </a:t>
            </a:r>
            <a:r>
              <a:rPr lang="en-US" dirty="0" smtClean="0"/>
              <a:t>condition of </a:t>
            </a:r>
            <a:r>
              <a:rPr lang="en-US" dirty="0"/>
              <a:t>the state of an object or a set of objects</a:t>
            </a:r>
            <a:r>
              <a:rPr lang="en-US" dirty="0" smtClean="0"/>
              <a:t>.</a:t>
            </a:r>
          </a:p>
          <a:p>
            <a:pPr marL="0" indent="0" algn="just">
              <a:buNone/>
            </a:pPr>
            <a:endParaRPr lang="en-US" dirty="0" smtClean="0"/>
          </a:p>
          <a:p>
            <a:pPr algn="just">
              <a:buFont typeface="Wingdings" pitchFamily="2" charset="2"/>
              <a:buChar char="ü"/>
            </a:pPr>
            <a:r>
              <a:rPr lang="en-US" dirty="0"/>
              <a:t>Decisions are depicted by a diamond with one </a:t>
            </a:r>
            <a:r>
              <a:rPr lang="en-US" dirty="0" smtClean="0"/>
              <a:t>or more </a:t>
            </a:r>
            <a:r>
              <a:rPr lang="en-US" dirty="0"/>
              <a:t>incoming open arrows and two or more outgoing arrows.</a:t>
            </a:r>
          </a:p>
        </p:txBody>
      </p:sp>
    </p:spTree>
    <p:extLst>
      <p:ext uri="{BB962C8B-B14F-4D97-AF65-F5344CB8AC3E}">
        <p14:creationId xmlns:p14="http://schemas.microsoft.com/office/powerpoint/2010/main" val="2358920651"/>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a:xfrm>
            <a:off x="457200" y="1600200"/>
            <a:ext cx="8229600" cy="5105400"/>
          </a:xfrm>
        </p:spPr>
        <p:txBody>
          <a:bodyPr>
            <a:normAutofit lnSpcReduction="10000"/>
          </a:bodyPr>
          <a:lstStyle/>
          <a:p>
            <a:pPr algn="just"/>
            <a:r>
              <a:rPr lang="en-US" dirty="0"/>
              <a:t>The outgoing edges are </a:t>
            </a:r>
            <a:r>
              <a:rPr lang="en-US" dirty="0" smtClean="0"/>
              <a:t>labeled with </a:t>
            </a:r>
            <a:r>
              <a:rPr lang="en-US" dirty="0"/>
              <a:t>the conditions that select a branch in the control flow</a:t>
            </a:r>
            <a:r>
              <a:rPr lang="en-US" dirty="0" smtClean="0"/>
              <a:t>.</a:t>
            </a:r>
          </a:p>
          <a:p>
            <a:pPr algn="just"/>
            <a:endParaRPr lang="en-US" dirty="0" smtClean="0"/>
          </a:p>
          <a:p>
            <a:r>
              <a:rPr lang="en-US" dirty="0"/>
              <a:t>Decisions are depicted by a diamond with one </a:t>
            </a:r>
            <a:r>
              <a:rPr lang="en-US" dirty="0" smtClean="0"/>
              <a:t>or more </a:t>
            </a:r>
            <a:r>
              <a:rPr lang="en-US" dirty="0"/>
              <a:t>incoming open arrows and two or more outgoing arrows</a:t>
            </a:r>
            <a:r>
              <a:rPr lang="en-US" dirty="0" smtClean="0"/>
              <a:t>.</a:t>
            </a:r>
          </a:p>
          <a:p>
            <a:pPr marL="0" indent="0">
              <a:buNone/>
            </a:pPr>
            <a:endParaRPr lang="en-US" dirty="0" smtClean="0"/>
          </a:p>
          <a:p>
            <a:pPr algn="just"/>
            <a:r>
              <a:rPr lang="en-US" dirty="0" smtClean="0"/>
              <a:t>The </a:t>
            </a:r>
            <a:r>
              <a:rPr lang="en-US" dirty="0"/>
              <a:t>set of all outgoing edges from </a:t>
            </a:r>
            <a:r>
              <a:rPr lang="en-US" dirty="0" smtClean="0"/>
              <a:t>a decision </a:t>
            </a:r>
            <a:r>
              <a:rPr lang="en-US" dirty="0"/>
              <a:t>represents the set of all possible outcomes.</a:t>
            </a:r>
          </a:p>
        </p:txBody>
      </p:sp>
    </p:spTree>
    <p:extLst>
      <p:ext uri="{BB962C8B-B14F-4D97-AF65-F5344CB8AC3E}">
        <p14:creationId xmlns:p14="http://schemas.microsoft.com/office/powerpoint/2010/main" val="432725144"/>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lstStyle/>
          <a:p>
            <a:r>
              <a:rPr lang="en-US" dirty="0"/>
              <a:t>Activity Diagram (basic notations)</a:t>
            </a:r>
          </a:p>
        </p:txBody>
      </p:sp>
      <p:pic>
        <p:nvPicPr>
          <p:cNvPr id="3074"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2286000"/>
            <a:ext cx="6248399"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29195528"/>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828800"/>
            <a:ext cx="9144000" cy="3581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68906155"/>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a:xfrm>
            <a:off x="152400" y="1600200"/>
            <a:ext cx="8915400" cy="5105400"/>
          </a:xfrm>
        </p:spPr>
        <p:txBody>
          <a:bodyPr>
            <a:normAutofit fontScale="92500" lnSpcReduction="20000"/>
          </a:bodyPr>
          <a:lstStyle/>
          <a:p>
            <a:pPr algn="just"/>
            <a:r>
              <a:rPr lang="en-US" dirty="0"/>
              <a:t>Some </a:t>
            </a:r>
            <a:r>
              <a:rPr lang="en-US" b="1" dirty="0"/>
              <a:t>activities</a:t>
            </a:r>
            <a:r>
              <a:rPr lang="en-US" dirty="0"/>
              <a:t> occur simultaneously or in </a:t>
            </a:r>
            <a:r>
              <a:rPr lang="en-US" b="1" dirty="0"/>
              <a:t>parallel</a:t>
            </a:r>
            <a:r>
              <a:rPr lang="en-US" dirty="0"/>
              <a:t>. Such activities are called </a:t>
            </a:r>
            <a:r>
              <a:rPr lang="en-US" b="1" dirty="0"/>
              <a:t>concurrent activities</a:t>
            </a:r>
            <a:r>
              <a:rPr lang="en-US" b="1" dirty="0" smtClean="0"/>
              <a:t>.</a:t>
            </a:r>
          </a:p>
          <a:p>
            <a:pPr algn="just"/>
            <a:endParaRPr lang="en-US" dirty="0"/>
          </a:p>
          <a:p>
            <a:pPr algn="just"/>
            <a:r>
              <a:rPr lang="en-US" b="1" dirty="0"/>
              <a:t>Fork nodes </a:t>
            </a:r>
            <a:r>
              <a:rPr lang="en-US" dirty="0"/>
              <a:t>and </a:t>
            </a:r>
            <a:r>
              <a:rPr lang="en-US" b="1" dirty="0"/>
              <a:t>join nodes </a:t>
            </a:r>
            <a:r>
              <a:rPr lang="en-US" dirty="0"/>
              <a:t>represent concurrency</a:t>
            </a:r>
            <a:r>
              <a:rPr lang="en-US" dirty="0" smtClean="0"/>
              <a:t>.</a:t>
            </a:r>
          </a:p>
          <a:p>
            <a:pPr algn="just"/>
            <a:endParaRPr lang="en-US" dirty="0" smtClean="0"/>
          </a:p>
          <a:p>
            <a:pPr algn="just"/>
            <a:r>
              <a:rPr lang="en-US" b="1" dirty="0"/>
              <a:t>Fork nodes</a:t>
            </a:r>
            <a:r>
              <a:rPr lang="en-US" dirty="0"/>
              <a:t> denote the </a:t>
            </a:r>
            <a:r>
              <a:rPr lang="en-US" b="1" dirty="0"/>
              <a:t>splitting of </a:t>
            </a:r>
            <a:r>
              <a:rPr lang="en-US" b="1" dirty="0" smtClean="0"/>
              <a:t>the flow </a:t>
            </a:r>
            <a:r>
              <a:rPr lang="en-US" dirty="0"/>
              <a:t>of control into multiple </a:t>
            </a:r>
            <a:r>
              <a:rPr lang="en-US" dirty="0" smtClean="0"/>
              <a:t>threads.</a:t>
            </a:r>
          </a:p>
          <a:p>
            <a:pPr algn="just"/>
            <a:endParaRPr lang="en-US" dirty="0"/>
          </a:p>
          <a:p>
            <a:r>
              <a:rPr lang="en-US" dirty="0"/>
              <a:t>J</a:t>
            </a:r>
            <a:r>
              <a:rPr lang="en-US" dirty="0" smtClean="0"/>
              <a:t>oin </a:t>
            </a:r>
            <a:r>
              <a:rPr lang="en-US" dirty="0"/>
              <a:t>nodes denotes the </a:t>
            </a:r>
            <a:r>
              <a:rPr lang="en-US" b="1" dirty="0"/>
              <a:t>synchronization of </a:t>
            </a:r>
            <a:r>
              <a:rPr lang="en-US" b="1" dirty="0" smtClean="0"/>
              <a:t>multiple threads</a:t>
            </a:r>
            <a:r>
              <a:rPr lang="en-US" dirty="0" smtClean="0"/>
              <a:t> </a:t>
            </a:r>
            <a:r>
              <a:rPr lang="en-US" dirty="0"/>
              <a:t>and their </a:t>
            </a:r>
            <a:r>
              <a:rPr lang="en-US" b="1" dirty="0"/>
              <a:t>merging of the flow </a:t>
            </a:r>
            <a:r>
              <a:rPr lang="en-US" dirty="0"/>
              <a:t>of control into a </a:t>
            </a:r>
            <a:r>
              <a:rPr lang="en-US" b="1" dirty="0"/>
              <a:t>single thread</a:t>
            </a:r>
            <a:r>
              <a:rPr lang="en-US" dirty="0"/>
              <a:t>.</a:t>
            </a:r>
          </a:p>
        </p:txBody>
      </p:sp>
    </p:spTree>
    <p:extLst>
      <p:ext uri="{BB962C8B-B14F-4D97-AF65-F5344CB8AC3E}">
        <p14:creationId xmlns:p14="http://schemas.microsoft.com/office/powerpoint/2010/main" val="3712787165"/>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133600"/>
            <a:ext cx="6629400" cy="24383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79286411"/>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5754666"/>
            <a:ext cx="8201850" cy="53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2" name="Picture 2" descr="Image result for fork and join nodes examples in activity diagram"/>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2590800" y="1524000"/>
            <a:ext cx="3810000" cy="4230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598387"/>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Image result for fork and join nodes examples in activity 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7159" y="1371600"/>
            <a:ext cx="8388574" cy="4038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904453"/>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p:txBody>
          <a:bodyPr>
            <a:normAutofit fontScale="92500" lnSpcReduction="10000"/>
          </a:bodyPr>
          <a:lstStyle/>
          <a:p>
            <a:r>
              <a:rPr lang="en-US" b="1" dirty="0" smtClean="0"/>
              <a:t>Swim Lanes</a:t>
            </a:r>
          </a:p>
          <a:p>
            <a:pPr algn="just">
              <a:buFont typeface="Wingdings" pitchFamily="2" charset="2"/>
              <a:buChar char="ü"/>
            </a:pPr>
            <a:r>
              <a:rPr lang="en-US" dirty="0"/>
              <a:t>The contents of an activity diagram may be organized into </a:t>
            </a:r>
            <a:r>
              <a:rPr lang="en-US" i="1" dirty="0"/>
              <a:t>partitions</a:t>
            </a:r>
            <a:r>
              <a:rPr lang="en-US" dirty="0"/>
              <a:t> (</a:t>
            </a:r>
            <a:r>
              <a:rPr lang="en-US" dirty="0" err="1"/>
              <a:t>swimlanes</a:t>
            </a:r>
            <a:r>
              <a:rPr lang="en-US" dirty="0"/>
              <a:t>) using solid vertical lines</a:t>
            </a:r>
            <a:r>
              <a:rPr lang="en-US" dirty="0" smtClean="0"/>
              <a:t>.</a:t>
            </a:r>
          </a:p>
          <a:p>
            <a:pPr algn="just">
              <a:buFont typeface="Wingdings" pitchFamily="2" charset="2"/>
              <a:buChar char="ü"/>
            </a:pPr>
            <a:endParaRPr lang="en-US" dirty="0"/>
          </a:p>
          <a:p>
            <a:pPr algn="just">
              <a:buFont typeface="Wingdings" pitchFamily="2" charset="2"/>
              <a:buChar char="ü"/>
            </a:pPr>
            <a:r>
              <a:rPr lang="en-US" dirty="0"/>
              <a:t>A swim lane (or </a:t>
            </a:r>
            <a:r>
              <a:rPr lang="en-US" b="1" dirty="0" err="1"/>
              <a:t>swimlane</a:t>
            </a:r>
            <a:r>
              <a:rPr lang="en-US" b="1" dirty="0"/>
              <a:t> diagram</a:t>
            </a:r>
            <a:r>
              <a:rPr lang="en-US" dirty="0"/>
              <a:t>) is a visual element used in process flow </a:t>
            </a:r>
            <a:r>
              <a:rPr lang="en-US" b="1" dirty="0"/>
              <a:t>diagrams</a:t>
            </a:r>
            <a:r>
              <a:rPr lang="en-US" dirty="0"/>
              <a:t>, or flowcharts, that visually distinguishes job sharing and responsibilities for sub-processes of a business process.</a:t>
            </a:r>
          </a:p>
        </p:txBody>
      </p:sp>
    </p:spTree>
    <p:extLst>
      <p:ext uri="{BB962C8B-B14F-4D97-AF65-F5344CB8AC3E}">
        <p14:creationId xmlns:p14="http://schemas.microsoft.com/office/powerpoint/2010/main" val="1037338330"/>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Activity Diagram (basic notations)</a:t>
            </a:r>
          </a:p>
        </p:txBody>
      </p:sp>
      <p:sp>
        <p:nvSpPr>
          <p:cNvPr id="3" name="Content Placeholder 2"/>
          <p:cNvSpPr>
            <a:spLocks noGrp="1"/>
          </p:cNvSpPr>
          <p:nvPr>
            <p:ph idx="1"/>
          </p:nvPr>
        </p:nvSpPr>
        <p:spPr/>
        <p:txBody>
          <a:bodyPr/>
          <a:lstStyle/>
          <a:p>
            <a:r>
              <a:rPr lang="en-US" dirty="0"/>
              <a:t>Order </a:t>
            </a:r>
            <a:r>
              <a:rPr lang="en-US" dirty="0" err="1"/>
              <a:t>Swimlanes</a:t>
            </a:r>
            <a:r>
              <a:rPr lang="en-US" dirty="0"/>
              <a:t> in a Logical Manner</a:t>
            </a:r>
            <a:r>
              <a:rPr lang="en-US" dirty="0" smtClean="0"/>
              <a:t>.</a:t>
            </a:r>
          </a:p>
          <a:p>
            <a:r>
              <a:rPr lang="en-US" dirty="0" smtClean="0"/>
              <a:t>Apply </a:t>
            </a:r>
            <a:r>
              <a:rPr lang="en-US" dirty="0"/>
              <a:t>Swim Lanes To Linear Processes. </a:t>
            </a:r>
            <a:endParaRPr lang="en-US" dirty="0" smtClean="0"/>
          </a:p>
          <a:p>
            <a:r>
              <a:rPr lang="en-US" dirty="0"/>
              <a:t>Have Less Than Five </a:t>
            </a:r>
            <a:r>
              <a:rPr lang="en-US" dirty="0" err="1"/>
              <a:t>Swimlanes</a:t>
            </a:r>
            <a:r>
              <a:rPr lang="en-US" dirty="0" smtClean="0"/>
              <a:t>.</a:t>
            </a:r>
          </a:p>
          <a:p>
            <a:r>
              <a:rPr lang="en-US" dirty="0" smtClean="0"/>
              <a:t>Consider Swim areas</a:t>
            </a:r>
            <a:r>
              <a:rPr lang="en-US" dirty="0"/>
              <a:t> For Complex </a:t>
            </a:r>
            <a:r>
              <a:rPr lang="en-US" dirty="0" smtClean="0"/>
              <a:t>Diagrams.</a:t>
            </a:r>
            <a:endParaRPr lang="en-US" dirty="0"/>
          </a:p>
        </p:txBody>
      </p:sp>
    </p:spTree>
    <p:extLst>
      <p:ext uri="{BB962C8B-B14F-4D97-AF65-F5344CB8AC3E}">
        <p14:creationId xmlns:p14="http://schemas.microsoft.com/office/powerpoint/2010/main" val="3683221579"/>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 y="-207264"/>
            <a:ext cx="9296400" cy="70652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45345952"/>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a:t>
            </a:r>
            <a:endParaRPr lang="en-US" dirty="0"/>
          </a:p>
        </p:txBody>
      </p:sp>
      <p:sp>
        <p:nvSpPr>
          <p:cNvPr id="3" name="Content Placeholder 2"/>
          <p:cNvSpPr>
            <a:spLocks noGrp="1"/>
          </p:cNvSpPr>
          <p:nvPr>
            <p:ph idx="1"/>
          </p:nvPr>
        </p:nvSpPr>
        <p:spPr/>
        <p:txBody>
          <a:bodyPr/>
          <a:lstStyle/>
          <a:p>
            <a:pPr algn="just"/>
            <a:r>
              <a:rPr lang="en-US" sz="3600" b="1" dirty="0" smtClean="0"/>
              <a:t>Activity Diagram for Ticket </a:t>
            </a:r>
            <a:r>
              <a:rPr lang="en-US" sz="3600" b="1" dirty="0"/>
              <a:t>Vending </a:t>
            </a:r>
            <a:r>
              <a:rPr lang="en-US" sz="3600" b="1" dirty="0" smtClean="0"/>
              <a:t>Machine</a:t>
            </a:r>
          </a:p>
          <a:p>
            <a:pPr algn="just"/>
            <a:endParaRPr lang="en-US" sz="3600" b="1" dirty="0"/>
          </a:p>
          <a:p>
            <a:pPr algn="just"/>
            <a:r>
              <a:rPr lang="en-US" sz="3600" b="1" dirty="0" smtClean="0"/>
              <a:t>Problem Definition: </a:t>
            </a:r>
            <a:r>
              <a:rPr lang="en-US" sz="3600" dirty="0" smtClean="0"/>
              <a:t>Draw Activity Diagram for Login Procedure of a system.</a:t>
            </a:r>
            <a:endParaRPr lang="en-US" sz="3600" dirty="0"/>
          </a:p>
          <a:p>
            <a:pPr algn="just"/>
            <a:endParaRPr lang="en-US" dirty="0"/>
          </a:p>
        </p:txBody>
      </p:sp>
    </p:spTree>
    <p:extLst>
      <p:ext uri="{BB962C8B-B14F-4D97-AF65-F5344CB8AC3E}">
        <p14:creationId xmlns:p14="http://schemas.microsoft.com/office/powerpoint/2010/main" val="2710696902"/>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92162"/>
          </a:xfrm>
        </p:spPr>
        <p:txBody>
          <a:bodyPr/>
          <a:lstStyle/>
          <a:p>
            <a:r>
              <a:rPr lang="en-US" dirty="0" smtClean="0"/>
              <a:t>Problem Definition</a:t>
            </a:r>
            <a:endParaRPr lang="en-US" dirty="0"/>
          </a:p>
        </p:txBody>
      </p:sp>
      <p:sp>
        <p:nvSpPr>
          <p:cNvPr id="3" name="Content Placeholder 2"/>
          <p:cNvSpPr>
            <a:spLocks noGrp="1"/>
          </p:cNvSpPr>
          <p:nvPr>
            <p:ph idx="1"/>
          </p:nvPr>
        </p:nvSpPr>
        <p:spPr>
          <a:xfrm>
            <a:off x="457200" y="1143000"/>
            <a:ext cx="8229600" cy="5562600"/>
          </a:xfrm>
        </p:spPr>
        <p:txBody>
          <a:bodyPr>
            <a:noAutofit/>
          </a:bodyPr>
          <a:lstStyle/>
          <a:p>
            <a:pPr algn="just"/>
            <a:r>
              <a:rPr lang="en-US" sz="2400" dirty="0"/>
              <a:t>Activity is started by Commuter actor who needs to buy a ticket. Ticket vending machine will request trip information from Commuter. This information will include number and type of tickets, e.g. whether it is a monthly pass, one way or round ticket, route number, destination or zone number, </a:t>
            </a:r>
            <a:r>
              <a:rPr lang="en-US" sz="2400" dirty="0" smtClean="0"/>
              <a:t>etc. Based </a:t>
            </a:r>
            <a:r>
              <a:rPr lang="en-US" sz="2400" dirty="0"/>
              <a:t>on the provided trip info ticket vending machine will calculate payment due and request payment options. Those options include payment by cash, or by credit or debit card. If payment by card was selected by Commuter, another actor, Bank will participate in the activity by authorizing the payment</a:t>
            </a:r>
            <a:r>
              <a:rPr lang="en-US" sz="2400" dirty="0" smtClean="0"/>
              <a:t>. </a:t>
            </a:r>
            <a:r>
              <a:rPr lang="en-US" sz="2400" dirty="0"/>
              <a:t>After payment is complete, ticket is dispensed to the Commuter. Cash payment might result in some change due, so the change is dispensed to the Commuter in this case. Ticket vending machine will show some "Thank You" screen at the end of the activity.</a:t>
            </a:r>
          </a:p>
        </p:txBody>
      </p:sp>
    </p:spTree>
    <p:extLst>
      <p:ext uri="{BB962C8B-B14F-4D97-AF65-F5344CB8AC3E}">
        <p14:creationId xmlns:p14="http://schemas.microsoft.com/office/powerpoint/2010/main" val="1802139334"/>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An example of business flow activity to process purchase ord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838200"/>
            <a:ext cx="85725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p:cNvSpPr>
            <a:spLocks noGrp="1"/>
          </p:cNvSpPr>
          <p:nvPr>
            <p:ph idx="4294967295"/>
          </p:nvPr>
        </p:nvSpPr>
        <p:spPr>
          <a:xfrm>
            <a:off x="0" y="1600200"/>
            <a:ext cx="8229600" cy="4525963"/>
          </a:xfrm>
        </p:spPr>
        <p:txBody>
          <a:bodyPr>
            <a:normAutofit lnSpcReduction="10000"/>
          </a:bodyPr>
          <a:lstStyle/>
          <a:p>
            <a:endParaRPr lang="en-IN" i="1" dirty="0" smtClean="0"/>
          </a:p>
          <a:p>
            <a:endParaRPr lang="en-IN" i="1" dirty="0"/>
          </a:p>
          <a:p>
            <a:endParaRPr lang="en-IN" i="1" dirty="0" smtClean="0"/>
          </a:p>
          <a:p>
            <a:endParaRPr lang="en-IN" i="1" dirty="0"/>
          </a:p>
          <a:p>
            <a:endParaRPr lang="en-IN" i="1" dirty="0" smtClean="0"/>
          </a:p>
          <a:p>
            <a:endParaRPr lang="en-IN" i="1" dirty="0"/>
          </a:p>
          <a:p>
            <a:r>
              <a:rPr lang="en-IN" i="1" dirty="0" smtClean="0"/>
              <a:t>An </a:t>
            </a:r>
            <a:r>
              <a:rPr lang="en-IN" i="1" dirty="0"/>
              <a:t>example of business flow activity to process purchase order.</a:t>
            </a:r>
            <a:endParaRPr lang="en-IN" dirty="0"/>
          </a:p>
        </p:txBody>
      </p:sp>
    </p:spTree>
    <p:extLst>
      <p:ext uri="{BB962C8B-B14F-4D97-AF65-F5344CB8AC3E}">
        <p14:creationId xmlns:p14="http://schemas.microsoft.com/office/powerpoint/2010/main" val="703251688"/>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Example of Purchase Ticket use case behavior described with UML activity 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0"/>
            <a:ext cx="7543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3573572"/>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Diagram</a:t>
            </a:r>
            <a:endParaRPr lang="en-US" dirty="0"/>
          </a:p>
        </p:txBody>
      </p:sp>
      <p:sp>
        <p:nvSpPr>
          <p:cNvPr id="3" name="Content Placeholder 2"/>
          <p:cNvSpPr>
            <a:spLocks noGrp="1"/>
          </p:cNvSpPr>
          <p:nvPr>
            <p:ph idx="1"/>
          </p:nvPr>
        </p:nvSpPr>
        <p:spPr/>
        <p:txBody>
          <a:bodyPr>
            <a:noAutofit/>
          </a:bodyPr>
          <a:lstStyle/>
          <a:p>
            <a:pPr algn="just"/>
            <a:r>
              <a:rPr lang="en-US" sz="2800" dirty="0"/>
              <a:t>A Class Diagram is a diagram </a:t>
            </a:r>
            <a:r>
              <a:rPr lang="en-US" sz="2800" b="1" dirty="0" smtClean="0"/>
              <a:t>describing the </a:t>
            </a:r>
            <a:r>
              <a:rPr lang="en-US" sz="2800" b="1" dirty="0"/>
              <a:t>structure of a </a:t>
            </a:r>
            <a:r>
              <a:rPr lang="en-US" sz="2800" b="1" dirty="0" smtClean="0"/>
              <a:t>system.</a:t>
            </a:r>
          </a:p>
          <a:p>
            <a:pPr marL="0" indent="0" algn="just">
              <a:buNone/>
            </a:pPr>
            <a:endParaRPr lang="en-US" sz="2800" b="1" dirty="0"/>
          </a:p>
          <a:p>
            <a:pPr algn="just"/>
            <a:r>
              <a:rPr lang="en-US" sz="2800" dirty="0" smtClean="0"/>
              <a:t>shows </a:t>
            </a:r>
            <a:r>
              <a:rPr lang="en-US" sz="2800" dirty="0"/>
              <a:t>the system's</a:t>
            </a:r>
          </a:p>
          <a:p>
            <a:pPr algn="just">
              <a:buFont typeface="Wingdings" pitchFamily="2" charset="2"/>
              <a:buChar char="ü"/>
            </a:pPr>
            <a:r>
              <a:rPr lang="en-US" sz="2800" dirty="0" smtClean="0"/>
              <a:t>classes</a:t>
            </a:r>
            <a:endParaRPr lang="en-US" sz="2800" dirty="0"/>
          </a:p>
          <a:p>
            <a:pPr algn="just">
              <a:buFont typeface="Wingdings" pitchFamily="2" charset="2"/>
              <a:buChar char="ü"/>
            </a:pPr>
            <a:r>
              <a:rPr lang="en-US" sz="2800" dirty="0" smtClean="0"/>
              <a:t>Attributes</a:t>
            </a:r>
            <a:endParaRPr lang="en-US" sz="2800" dirty="0"/>
          </a:p>
          <a:p>
            <a:pPr algn="just">
              <a:buFont typeface="Wingdings" pitchFamily="2" charset="2"/>
              <a:buChar char="ü"/>
            </a:pPr>
            <a:r>
              <a:rPr lang="en-US" sz="2800" dirty="0" smtClean="0"/>
              <a:t>operations </a:t>
            </a:r>
            <a:r>
              <a:rPr lang="en-US" sz="2800" dirty="0"/>
              <a:t>(or methods),</a:t>
            </a:r>
          </a:p>
          <a:p>
            <a:pPr algn="just">
              <a:buFont typeface="Wingdings" pitchFamily="2" charset="2"/>
              <a:buChar char="ü"/>
            </a:pPr>
            <a:r>
              <a:rPr lang="en-US" sz="2800" dirty="0" smtClean="0"/>
              <a:t>Relationships </a:t>
            </a:r>
            <a:r>
              <a:rPr lang="en-US" sz="2800" dirty="0"/>
              <a:t>among the classes.</a:t>
            </a:r>
          </a:p>
        </p:txBody>
      </p:sp>
    </p:spTree>
    <p:extLst>
      <p:ext uri="{BB962C8B-B14F-4D97-AF65-F5344CB8AC3E}">
        <p14:creationId xmlns:p14="http://schemas.microsoft.com/office/powerpoint/2010/main" val="287726797"/>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944562"/>
          </a:xfrm>
        </p:spPr>
        <p:txBody>
          <a:bodyPr>
            <a:normAutofit fontScale="90000"/>
          </a:bodyPr>
          <a:lstStyle/>
          <a:p>
            <a:r>
              <a:rPr lang="en-US" dirty="0"/>
              <a:t>Essential Elements of a</a:t>
            </a:r>
            <a:br>
              <a:rPr lang="en-US" dirty="0"/>
            </a:br>
            <a:r>
              <a:rPr lang="en-US" dirty="0" smtClean="0"/>
              <a:t>Class </a:t>
            </a:r>
            <a:r>
              <a:rPr lang="en-US" dirty="0"/>
              <a:t>Diagram</a:t>
            </a:r>
          </a:p>
        </p:txBody>
      </p:sp>
      <p:sp>
        <p:nvSpPr>
          <p:cNvPr id="3" name="Content Placeholder 2"/>
          <p:cNvSpPr>
            <a:spLocks noGrp="1"/>
          </p:cNvSpPr>
          <p:nvPr>
            <p:ph idx="1"/>
          </p:nvPr>
        </p:nvSpPr>
        <p:spPr>
          <a:xfrm>
            <a:off x="304800" y="1447800"/>
            <a:ext cx="8382000" cy="4953000"/>
          </a:xfrm>
        </p:spPr>
        <p:txBody>
          <a:bodyPr>
            <a:noAutofit/>
          </a:bodyPr>
          <a:lstStyle/>
          <a:p>
            <a:r>
              <a:rPr lang="en-US" sz="2800" dirty="0" smtClean="0"/>
              <a:t>Class: A </a:t>
            </a:r>
            <a:r>
              <a:rPr lang="en-US" sz="2800" dirty="0"/>
              <a:t>class represents the blueprint of its objects</a:t>
            </a:r>
            <a:r>
              <a:rPr lang="en-US" sz="2800" dirty="0" smtClean="0"/>
              <a:t>.</a:t>
            </a:r>
          </a:p>
          <a:p>
            <a:r>
              <a:rPr lang="en-US" sz="2800" dirty="0" smtClean="0"/>
              <a:t>Attributes</a:t>
            </a:r>
          </a:p>
          <a:p>
            <a:r>
              <a:rPr lang="en-US" sz="2800" dirty="0" smtClean="0"/>
              <a:t>Operations</a:t>
            </a:r>
          </a:p>
          <a:p>
            <a:r>
              <a:rPr lang="en-US" sz="2800" dirty="0" smtClean="0"/>
              <a:t>Relationships</a:t>
            </a:r>
          </a:p>
          <a:p>
            <a:pPr>
              <a:buFont typeface="Wingdings" pitchFamily="2" charset="2"/>
              <a:buChar char="ü"/>
            </a:pPr>
            <a:r>
              <a:rPr lang="en-US" sz="2800" dirty="0" smtClean="0"/>
              <a:t>Associations</a:t>
            </a:r>
            <a:endParaRPr lang="en-US" sz="2800" dirty="0"/>
          </a:p>
          <a:p>
            <a:pPr>
              <a:buFont typeface="Wingdings" pitchFamily="2" charset="2"/>
              <a:buChar char="ü"/>
            </a:pPr>
            <a:r>
              <a:rPr lang="en-US" sz="2800" dirty="0" smtClean="0"/>
              <a:t>Generalization</a:t>
            </a:r>
            <a:endParaRPr lang="en-US" sz="2800" dirty="0"/>
          </a:p>
          <a:p>
            <a:pPr>
              <a:buFont typeface="Wingdings" pitchFamily="2" charset="2"/>
              <a:buChar char="ü"/>
            </a:pPr>
            <a:r>
              <a:rPr lang="en-US" sz="2800" dirty="0" smtClean="0"/>
              <a:t>Realization</a:t>
            </a:r>
            <a:endParaRPr lang="en-US" sz="2800" dirty="0"/>
          </a:p>
          <a:p>
            <a:pPr>
              <a:buFont typeface="Wingdings" pitchFamily="2" charset="2"/>
              <a:buChar char="ü"/>
            </a:pPr>
            <a:r>
              <a:rPr lang="en-US" sz="2800" dirty="0" smtClean="0"/>
              <a:t>Dependency</a:t>
            </a:r>
          </a:p>
        </p:txBody>
      </p:sp>
    </p:spTree>
    <p:extLst>
      <p:ext uri="{BB962C8B-B14F-4D97-AF65-F5344CB8AC3E}">
        <p14:creationId xmlns:p14="http://schemas.microsoft.com/office/powerpoint/2010/main" val="143402959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p:cNvSpPr>
            <a:spLocks noGrp="1" noChangeArrowheads="1"/>
          </p:cNvSpPr>
          <p:nvPr>
            <p:ph type="title"/>
          </p:nvPr>
        </p:nvSpPr>
        <p:spPr/>
        <p:txBody>
          <a:bodyPr/>
          <a:lstStyle/>
          <a:p>
            <a:pPr eaLnBrk="1" hangingPunct="1"/>
            <a:r>
              <a:rPr lang="en-US" smtClean="0"/>
              <a:t>Class</a:t>
            </a:r>
          </a:p>
        </p:txBody>
      </p:sp>
      <p:sp>
        <p:nvSpPr>
          <p:cNvPr id="6149" name="Rectangle 3"/>
          <p:cNvSpPr>
            <a:spLocks noGrp="1" noChangeArrowheads="1"/>
          </p:cNvSpPr>
          <p:nvPr>
            <p:ph type="body" idx="1"/>
          </p:nvPr>
        </p:nvSpPr>
        <p:spPr>
          <a:xfrm>
            <a:off x="698500" y="1616075"/>
            <a:ext cx="7772400" cy="4165600"/>
          </a:xfrm>
        </p:spPr>
        <p:txBody>
          <a:bodyPr>
            <a:normAutofit lnSpcReduction="10000"/>
          </a:bodyPr>
          <a:lstStyle/>
          <a:p>
            <a:pPr eaLnBrk="1" hangingPunct="1"/>
            <a:r>
              <a:rPr lang="en-US" sz="2800" smtClean="0"/>
              <a:t>Describes a set of objects having similar:</a:t>
            </a:r>
          </a:p>
          <a:p>
            <a:pPr lvl="1" eaLnBrk="1" hangingPunct="1"/>
            <a:r>
              <a:rPr lang="en-US" sz="2400" smtClean="0"/>
              <a:t>Attributes (status)</a:t>
            </a:r>
          </a:p>
          <a:p>
            <a:pPr lvl="1" eaLnBrk="1" hangingPunct="1"/>
            <a:r>
              <a:rPr lang="en-US" sz="2400" smtClean="0"/>
              <a:t>Operations (behavior)</a:t>
            </a:r>
          </a:p>
          <a:p>
            <a:pPr lvl="1" eaLnBrk="1" hangingPunct="1"/>
            <a:r>
              <a:rPr lang="en-US" sz="2400" smtClean="0"/>
              <a:t>Relationships with other classes</a:t>
            </a:r>
          </a:p>
          <a:p>
            <a:pPr eaLnBrk="1" hangingPunct="1"/>
            <a:r>
              <a:rPr lang="en-US" sz="2800" smtClean="0"/>
              <a:t>Attributes and operations may</a:t>
            </a:r>
          </a:p>
          <a:p>
            <a:pPr lvl="1" eaLnBrk="1" hangingPunct="1"/>
            <a:r>
              <a:rPr lang="en-US" sz="2400" smtClean="0"/>
              <a:t>have their visibility marked:</a:t>
            </a:r>
          </a:p>
          <a:p>
            <a:pPr lvl="1" eaLnBrk="1" hangingPunct="1"/>
            <a:r>
              <a:rPr lang="en-US" sz="2400" smtClean="0"/>
              <a:t>"+" for </a:t>
            </a:r>
            <a:r>
              <a:rPr lang="en-US" sz="2400" i="1" smtClean="0"/>
              <a:t>public</a:t>
            </a:r>
          </a:p>
          <a:p>
            <a:pPr lvl="1" eaLnBrk="1" hangingPunct="1"/>
            <a:r>
              <a:rPr lang="en-US" sz="2400" smtClean="0"/>
              <a:t>"#" for </a:t>
            </a:r>
            <a:r>
              <a:rPr lang="en-US" sz="2400" i="1" smtClean="0"/>
              <a:t>protected</a:t>
            </a:r>
          </a:p>
          <a:p>
            <a:pPr lvl="1" eaLnBrk="1" hangingPunct="1"/>
            <a:r>
              <a:rPr lang="en-US" sz="2400" smtClean="0"/>
              <a:t>"−" for </a:t>
            </a:r>
            <a:r>
              <a:rPr lang="en-US" sz="2400" i="1" smtClean="0"/>
              <a:t>private</a:t>
            </a:r>
          </a:p>
          <a:p>
            <a:pPr lvl="1" eaLnBrk="1" hangingPunct="1"/>
            <a:r>
              <a:rPr lang="en-US" sz="2400" smtClean="0"/>
              <a:t>"~" for </a:t>
            </a:r>
            <a:r>
              <a:rPr lang="en-US" sz="2400" i="1" smtClean="0"/>
              <a:t>package</a:t>
            </a:r>
            <a:endParaRPr lang="en-US" sz="2400" smtClean="0"/>
          </a:p>
        </p:txBody>
      </p:sp>
      <p:grpSp>
        <p:nvGrpSpPr>
          <p:cNvPr id="6150" name="Group 12"/>
          <p:cNvGrpSpPr>
            <a:grpSpLocks/>
          </p:cNvGrpSpPr>
          <p:nvPr/>
        </p:nvGrpSpPr>
        <p:grpSpPr bwMode="auto">
          <a:xfrm>
            <a:off x="6813550" y="4157663"/>
            <a:ext cx="1752600" cy="1752600"/>
            <a:chOff x="816" y="2640"/>
            <a:chExt cx="1104" cy="1104"/>
          </a:xfrm>
        </p:grpSpPr>
        <p:sp>
          <p:nvSpPr>
            <p:cNvPr id="6155" name="Rectangle 4"/>
            <p:cNvSpPr>
              <a:spLocks noChangeArrowheads="1"/>
            </p:cNvSpPr>
            <p:nvPr/>
          </p:nvSpPr>
          <p:spPr bwMode="auto">
            <a:xfrm>
              <a:off x="816" y="2640"/>
              <a:ext cx="1104" cy="1104"/>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Line 5"/>
            <p:cNvSpPr>
              <a:spLocks noChangeShapeType="1"/>
            </p:cNvSpPr>
            <p:nvPr/>
          </p:nvSpPr>
          <p:spPr bwMode="auto">
            <a:xfrm>
              <a:off x="816" y="2976"/>
              <a:ext cx="110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7" name="Line 6"/>
            <p:cNvSpPr>
              <a:spLocks noChangeShapeType="1"/>
            </p:cNvSpPr>
            <p:nvPr/>
          </p:nvSpPr>
          <p:spPr bwMode="auto">
            <a:xfrm>
              <a:off x="816" y="3360"/>
              <a:ext cx="110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6158" name="Text Box 7"/>
            <p:cNvSpPr txBox="1">
              <a:spLocks noChangeArrowheads="1"/>
            </p:cNvSpPr>
            <p:nvPr/>
          </p:nvSpPr>
          <p:spPr bwMode="auto">
            <a:xfrm>
              <a:off x="864" y="2688"/>
              <a:ext cx="1008"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algn="ctr" eaLnBrk="1" hangingPunct="1">
                <a:spcBef>
                  <a:spcPct val="50000"/>
                </a:spcBef>
              </a:pPr>
              <a:r>
                <a:rPr lang="en-US" sz="2000"/>
                <a:t>Window</a:t>
              </a:r>
            </a:p>
          </p:txBody>
        </p:sp>
        <p:sp>
          <p:nvSpPr>
            <p:cNvPr id="6159" name="Text Box 10"/>
            <p:cNvSpPr txBox="1">
              <a:spLocks noChangeArrowheads="1"/>
            </p:cNvSpPr>
            <p:nvPr/>
          </p:nvSpPr>
          <p:spPr bwMode="auto">
            <a:xfrm>
              <a:off x="864" y="2976"/>
              <a:ext cx="100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spcBef>
                  <a:spcPct val="50000"/>
                </a:spcBef>
              </a:pPr>
              <a:r>
                <a:rPr lang="en-US" sz="1600"/>
                <a:t>size: Size</a:t>
              </a:r>
              <a:br>
                <a:rPr lang="en-US" sz="1600"/>
              </a:br>
              <a:r>
                <a:rPr lang="en-US" sz="1600"/>
                <a:t>visibility: boolean</a:t>
              </a:r>
            </a:p>
          </p:txBody>
        </p:sp>
        <p:sp>
          <p:nvSpPr>
            <p:cNvPr id="6160" name="Text Box 11"/>
            <p:cNvSpPr txBox="1">
              <a:spLocks noChangeArrowheads="1"/>
            </p:cNvSpPr>
            <p:nvPr/>
          </p:nvSpPr>
          <p:spPr bwMode="auto">
            <a:xfrm>
              <a:off x="864" y="3408"/>
              <a:ext cx="100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spcBef>
                  <a:spcPct val="50000"/>
                </a:spcBef>
              </a:pPr>
              <a:r>
                <a:rPr lang="en-US" sz="1600"/>
                <a:t>display()</a:t>
              </a:r>
              <a:br>
                <a:rPr lang="en-US" sz="1600"/>
              </a:br>
              <a:r>
                <a:rPr lang="en-US" sz="1600"/>
                <a:t>hide()</a:t>
              </a:r>
            </a:p>
          </p:txBody>
        </p:sp>
      </p:grpSp>
      <p:sp>
        <p:nvSpPr>
          <p:cNvPr id="6151" name="Text Box 19"/>
          <p:cNvSpPr txBox="1">
            <a:spLocks noChangeArrowheads="1"/>
          </p:cNvSpPr>
          <p:nvPr/>
        </p:nvSpPr>
        <p:spPr bwMode="auto">
          <a:xfrm>
            <a:off x="3581400" y="5532438"/>
            <a:ext cx="1600200"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spcBef>
                <a:spcPct val="50000"/>
              </a:spcBef>
            </a:pPr>
            <a:endParaRPr lang="en-US" sz="1600"/>
          </a:p>
        </p:txBody>
      </p:sp>
      <p:sp>
        <p:nvSpPr>
          <p:cNvPr id="6152" name="AutoShape 26"/>
          <p:cNvSpPr>
            <a:spLocks noChangeArrowheads="1"/>
          </p:cNvSpPr>
          <p:nvPr/>
        </p:nvSpPr>
        <p:spPr bwMode="auto">
          <a:xfrm>
            <a:off x="5213350" y="4005263"/>
            <a:ext cx="1143000" cy="533400"/>
          </a:xfrm>
          <a:prstGeom prst="wedgeRectCallout">
            <a:avLst>
              <a:gd name="adj1" fmla="val 85000"/>
              <a:gd name="adj2" fmla="val 29764"/>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sz="1600"/>
              <a:t>Class Name</a:t>
            </a:r>
          </a:p>
        </p:txBody>
      </p:sp>
      <p:sp>
        <p:nvSpPr>
          <p:cNvPr id="6153" name="AutoShape 27"/>
          <p:cNvSpPr>
            <a:spLocks noChangeArrowheads="1"/>
          </p:cNvSpPr>
          <p:nvPr/>
        </p:nvSpPr>
        <p:spPr bwMode="auto">
          <a:xfrm>
            <a:off x="5213350" y="4843463"/>
            <a:ext cx="1143000" cy="381000"/>
          </a:xfrm>
          <a:prstGeom prst="wedgeRectCallout">
            <a:avLst>
              <a:gd name="adj1" fmla="val 87083"/>
              <a:gd name="adj2" fmla="val -8333"/>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sz="1600"/>
              <a:t>Attributes</a:t>
            </a:r>
          </a:p>
        </p:txBody>
      </p:sp>
      <p:sp>
        <p:nvSpPr>
          <p:cNvPr id="6154" name="AutoShape 28"/>
          <p:cNvSpPr>
            <a:spLocks noChangeArrowheads="1"/>
          </p:cNvSpPr>
          <p:nvPr/>
        </p:nvSpPr>
        <p:spPr bwMode="auto">
          <a:xfrm>
            <a:off x="5213350" y="5529263"/>
            <a:ext cx="1143000" cy="381000"/>
          </a:xfrm>
          <a:prstGeom prst="wedgeRectCallout">
            <a:avLst>
              <a:gd name="adj1" fmla="val 81667"/>
              <a:gd name="adj2" fmla="val -35833"/>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sz="1600"/>
              <a:t>Operations</a:t>
            </a:r>
          </a:p>
        </p:txBody>
      </p:sp>
    </p:spTree>
    <p:extLst>
      <p:ext uri="{BB962C8B-B14F-4D97-AF65-F5344CB8AC3E}">
        <p14:creationId xmlns:p14="http://schemas.microsoft.com/office/powerpoint/2010/main" val="472472895"/>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2" name="Rectangle 2"/>
          <p:cNvSpPr>
            <a:spLocks noGrp="1" noChangeArrowheads="1"/>
          </p:cNvSpPr>
          <p:nvPr>
            <p:ph type="title"/>
          </p:nvPr>
        </p:nvSpPr>
        <p:spPr/>
        <p:txBody>
          <a:bodyPr/>
          <a:lstStyle/>
          <a:p>
            <a:pPr eaLnBrk="1" hangingPunct="1"/>
            <a:r>
              <a:rPr lang="en-US" smtClean="0"/>
              <a:t>Associations</a:t>
            </a:r>
          </a:p>
        </p:txBody>
      </p:sp>
      <p:sp>
        <p:nvSpPr>
          <p:cNvPr id="7173" name="Rectangle 3"/>
          <p:cNvSpPr>
            <a:spLocks noGrp="1" noChangeArrowheads="1"/>
          </p:cNvSpPr>
          <p:nvPr>
            <p:ph type="body" idx="1"/>
          </p:nvPr>
        </p:nvSpPr>
        <p:spPr>
          <a:xfrm>
            <a:off x="685800" y="1628775"/>
            <a:ext cx="7772400" cy="2971800"/>
          </a:xfrm>
        </p:spPr>
        <p:txBody>
          <a:bodyPr/>
          <a:lstStyle/>
          <a:p>
            <a:pPr eaLnBrk="1" hangingPunct="1"/>
            <a:r>
              <a:rPr lang="en-US" sz="2800" smtClean="0"/>
              <a:t>An association between two classes indicates that objects at one end of an association “recognize” objects at the other end and may send messages to them.</a:t>
            </a:r>
          </a:p>
          <a:p>
            <a:pPr eaLnBrk="1" hangingPunct="1">
              <a:lnSpc>
                <a:spcPct val="90000"/>
              </a:lnSpc>
            </a:pPr>
            <a:endParaRPr lang="en-US" sz="2800" smtClean="0"/>
          </a:p>
          <a:p>
            <a:pPr eaLnBrk="1" hangingPunct="1">
              <a:lnSpc>
                <a:spcPct val="90000"/>
              </a:lnSpc>
            </a:pPr>
            <a:r>
              <a:rPr lang="en-US" sz="2800" smtClean="0"/>
              <a:t>Example: “An Employee works for a Company”</a:t>
            </a:r>
          </a:p>
        </p:txBody>
      </p:sp>
      <p:grpSp>
        <p:nvGrpSpPr>
          <p:cNvPr id="7174" name="Group 29"/>
          <p:cNvGrpSpPr>
            <a:grpSpLocks/>
          </p:cNvGrpSpPr>
          <p:nvPr/>
        </p:nvGrpSpPr>
        <p:grpSpPr bwMode="auto">
          <a:xfrm>
            <a:off x="2543175" y="5005388"/>
            <a:ext cx="3124200" cy="457200"/>
            <a:chOff x="672" y="3744"/>
            <a:chExt cx="1968" cy="288"/>
          </a:xfrm>
        </p:grpSpPr>
        <p:sp>
          <p:nvSpPr>
            <p:cNvPr id="7175" name="Rectangle 8"/>
            <p:cNvSpPr>
              <a:spLocks noChangeArrowheads="1"/>
            </p:cNvSpPr>
            <p:nvPr/>
          </p:nvSpPr>
          <p:spPr bwMode="auto">
            <a:xfrm>
              <a:off x="672" y="3744"/>
              <a:ext cx="768" cy="2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dirty="0"/>
                <a:t>Employee</a:t>
              </a:r>
            </a:p>
          </p:txBody>
        </p:sp>
        <p:sp>
          <p:nvSpPr>
            <p:cNvPr id="7176" name="Rectangle 20"/>
            <p:cNvSpPr>
              <a:spLocks noChangeArrowheads="1"/>
            </p:cNvSpPr>
            <p:nvPr/>
          </p:nvSpPr>
          <p:spPr bwMode="auto">
            <a:xfrm>
              <a:off x="1872" y="3744"/>
              <a:ext cx="768" cy="2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a:t>Company</a:t>
              </a:r>
            </a:p>
          </p:txBody>
        </p:sp>
        <p:sp>
          <p:nvSpPr>
            <p:cNvPr id="7177" name="Line 24"/>
            <p:cNvSpPr>
              <a:spLocks noChangeShapeType="1"/>
            </p:cNvSpPr>
            <p:nvPr/>
          </p:nvSpPr>
          <p:spPr bwMode="auto">
            <a:xfrm>
              <a:off x="1440" y="3888"/>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575762805"/>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
            </a:r>
            <a:br>
              <a:rPr lang="en-US" dirty="0" smtClean="0"/>
            </a:br>
            <a:r>
              <a:rPr lang="en-US" dirty="0" smtClean="0"/>
              <a:t>Directed </a:t>
            </a:r>
            <a:r>
              <a:rPr lang="en-US" dirty="0"/>
              <a:t>Association</a:t>
            </a:r>
            <a:br>
              <a:rPr lang="en-US" dirty="0"/>
            </a:br>
            <a:endParaRPr lang="en-US" dirty="0"/>
          </a:p>
        </p:txBody>
      </p:sp>
      <p:sp>
        <p:nvSpPr>
          <p:cNvPr id="3" name="Content Placeholder 2"/>
          <p:cNvSpPr>
            <a:spLocks noGrp="1"/>
          </p:cNvSpPr>
          <p:nvPr>
            <p:ph idx="1"/>
          </p:nvPr>
        </p:nvSpPr>
        <p:spPr/>
        <p:txBody>
          <a:bodyPr/>
          <a:lstStyle/>
          <a:p>
            <a:pPr algn="just"/>
            <a:r>
              <a:rPr lang="en-US" dirty="0"/>
              <a:t>R</a:t>
            </a:r>
            <a:r>
              <a:rPr lang="en-US" dirty="0" smtClean="0"/>
              <a:t>efers </a:t>
            </a:r>
            <a:r>
              <a:rPr lang="en-US" dirty="0"/>
              <a:t>to a </a:t>
            </a:r>
            <a:r>
              <a:rPr lang="en-US" b="1" dirty="0"/>
              <a:t>directional relationship </a:t>
            </a:r>
            <a:r>
              <a:rPr lang="en-US" dirty="0"/>
              <a:t>represented by a line with an arrowhead. The arrowhead depicts a container-contained directional flow.</a:t>
            </a:r>
          </a:p>
        </p:txBody>
      </p:sp>
      <p:pic>
        <p:nvPicPr>
          <p:cNvPr id="1026" name="Picture 2" descr="Directed Association Relationship in UML Class diagram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92226" y="4038600"/>
            <a:ext cx="1622773"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820436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
            </a:r>
            <a:br>
              <a:rPr lang="en-US" dirty="0" smtClean="0"/>
            </a:br>
            <a:r>
              <a:rPr lang="en-US" dirty="0" smtClean="0"/>
              <a:t>Reflexive </a:t>
            </a:r>
            <a:r>
              <a:rPr lang="en-US" dirty="0"/>
              <a:t>Association</a:t>
            </a:r>
            <a:br>
              <a:rPr lang="en-US" dirty="0"/>
            </a:br>
            <a:endParaRPr lang="en-US" dirty="0"/>
          </a:p>
        </p:txBody>
      </p:sp>
      <p:sp>
        <p:nvSpPr>
          <p:cNvPr id="3" name="Content Placeholder 2"/>
          <p:cNvSpPr>
            <a:spLocks noGrp="1"/>
          </p:cNvSpPr>
          <p:nvPr>
            <p:ph idx="1"/>
          </p:nvPr>
        </p:nvSpPr>
        <p:spPr>
          <a:xfrm>
            <a:off x="457200" y="1600200"/>
            <a:ext cx="8229600" cy="4953000"/>
          </a:xfrm>
        </p:spPr>
        <p:txBody>
          <a:bodyPr/>
          <a:lstStyle/>
          <a:p>
            <a:r>
              <a:rPr lang="en-US" dirty="0"/>
              <a:t>A reflexive association is a relationship from one class back to </a:t>
            </a:r>
            <a:r>
              <a:rPr lang="en-US" dirty="0" smtClean="0"/>
              <a:t>itself.</a:t>
            </a:r>
            <a:endParaRPr lang="en-US"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2971800"/>
            <a:ext cx="7848599" cy="350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0200521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609600" y="2070100"/>
            <a:ext cx="8077200" cy="3263900"/>
            <a:chOff x="609600" y="2070100"/>
            <a:chExt cx="8077200" cy="3263900"/>
          </a:xfrm>
        </p:grpSpPr>
        <p:sp>
          <p:nvSpPr>
            <p:cNvPr id="3" name="Rectangle 5"/>
            <p:cNvSpPr>
              <a:spLocks noChangeArrowheads="1"/>
            </p:cNvSpPr>
            <p:nvPr/>
          </p:nvSpPr>
          <p:spPr bwMode="auto">
            <a:xfrm>
              <a:off x="609600" y="3213100"/>
              <a:ext cx="1676400" cy="4572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dirty="0" err="1"/>
                <a:t>StaffMember</a:t>
              </a:r>
              <a:endParaRPr lang="en-US" sz="2000" dirty="0"/>
            </a:p>
          </p:txBody>
        </p:sp>
        <p:sp>
          <p:nvSpPr>
            <p:cNvPr id="4" name="Rectangle 8"/>
            <p:cNvSpPr>
              <a:spLocks noChangeArrowheads="1"/>
            </p:cNvSpPr>
            <p:nvPr/>
          </p:nvSpPr>
          <p:spPr bwMode="auto">
            <a:xfrm>
              <a:off x="6248400" y="3200400"/>
              <a:ext cx="1371600" cy="4572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a:t>Student</a:t>
              </a:r>
            </a:p>
          </p:txBody>
        </p:sp>
        <p:sp>
          <p:nvSpPr>
            <p:cNvPr id="5" name="Text Box 13"/>
            <p:cNvSpPr txBox="1">
              <a:spLocks noChangeArrowheads="1"/>
            </p:cNvSpPr>
            <p:nvPr/>
          </p:nvSpPr>
          <p:spPr bwMode="auto">
            <a:xfrm>
              <a:off x="2362200" y="3441700"/>
              <a:ext cx="5270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dirty="0"/>
                <a:t>1..*</a:t>
              </a:r>
            </a:p>
          </p:txBody>
        </p:sp>
        <p:sp>
          <p:nvSpPr>
            <p:cNvPr id="6" name="Text Box 14"/>
            <p:cNvSpPr txBox="1">
              <a:spLocks noChangeArrowheads="1"/>
            </p:cNvSpPr>
            <p:nvPr/>
          </p:nvSpPr>
          <p:spPr bwMode="auto">
            <a:xfrm>
              <a:off x="5943600" y="3429000"/>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a:t>*</a:t>
              </a:r>
            </a:p>
          </p:txBody>
        </p:sp>
        <p:sp>
          <p:nvSpPr>
            <p:cNvPr id="7" name="Text Box 16"/>
            <p:cNvSpPr txBox="1">
              <a:spLocks noChangeArrowheads="1"/>
            </p:cNvSpPr>
            <p:nvPr/>
          </p:nvSpPr>
          <p:spPr bwMode="auto">
            <a:xfrm>
              <a:off x="2286000" y="3074988"/>
              <a:ext cx="10604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dirty="0"/>
                <a:t>instructor</a:t>
              </a:r>
            </a:p>
          </p:txBody>
        </p:sp>
        <p:sp>
          <p:nvSpPr>
            <p:cNvPr id="8" name="AutoShape 17"/>
            <p:cNvSpPr>
              <a:spLocks noChangeArrowheads="1"/>
            </p:cNvSpPr>
            <p:nvPr/>
          </p:nvSpPr>
          <p:spPr bwMode="auto">
            <a:xfrm>
              <a:off x="4572000" y="2505249"/>
              <a:ext cx="1371600" cy="609600"/>
            </a:xfrm>
            <a:prstGeom prst="wedgeRectCallout">
              <a:avLst>
                <a:gd name="adj1" fmla="val -36458"/>
                <a:gd name="adj2" fmla="val 98176"/>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b="1" dirty="0"/>
                <a:t>Association name</a:t>
              </a:r>
            </a:p>
          </p:txBody>
        </p:sp>
        <p:sp>
          <p:nvSpPr>
            <p:cNvPr id="9" name="AutoShape 18"/>
            <p:cNvSpPr>
              <a:spLocks noChangeArrowheads="1"/>
            </p:cNvSpPr>
            <p:nvPr/>
          </p:nvSpPr>
          <p:spPr bwMode="auto">
            <a:xfrm>
              <a:off x="2971800" y="2070100"/>
              <a:ext cx="1143000" cy="609600"/>
            </a:xfrm>
            <a:prstGeom prst="wedgeRectCallout">
              <a:avLst>
                <a:gd name="adj1" fmla="val -63750"/>
                <a:gd name="adj2" fmla="val 120833"/>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b="1" dirty="0"/>
                <a:t>Role name</a:t>
              </a:r>
            </a:p>
          </p:txBody>
        </p:sp>
        <p:sp>
          <p:nvSpPr>
            <p:cNvPr id="10" name="AutoShape 19"/>
            <p:cNvSpPr>
              <a:spLocks noChangeArrowheads="1"/>
            </p:cNvSpPr>
            <p:nvPr/>
          </p:nvSpPr>
          <p:spPr bwMode="auto">
            <a:xfrm>
              <a:off x="1371600" y="4203700"/>
              <a:ext cx="1371600" cy="609600"/>
            </a:xfrm>
            <a:prstGeom prst="wedgeRectCallout">
              <a:avLst>
                <a:gd name="adj1" fmla="val 39583"/>
                <a:gd name="adj2" fmla="val -119792"/>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b="1"/>
                <a:t>Multiplicity</a:t>
              </a:r>
            </a:p>
          </p:txBody>
        </p:sp>
        <p:sp>
          <p:nvSpPr>
            <p:cNvPr id="11" name="AutoShape 25"/>
            <p:cNvSpPr>
              <a:spLocks noChangeArrowheads="1"/>
            </p:cNvSpPr>
            <p:nvPr/>
          </p:nvSpPr>
          <p:spPr bwMode="auto">
            <a:xfrm>
              <a:off x="4038600" y="3962400"/>
              <a:ext cx="1905000" cy="914400"/>
            </a:xfrm>
            <a:prstGeom prst="wedgeRectCallout">
              <a:avLst>
                <a:gd name="adj1" fmla="val 97000"/>
                <a:gd name="adj2" fmla="val 31079"/>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b="1"/>
                <a:t>Navigable</a:t>
              </a:r>
              <a:br>
                <a:rPr lang="en-US" b="1"/>
              </a:br>
              <a:r>
                <a:rPr lang="en-US" b="1"/>
                <a:t> (uni-directional) association</a:t>
              </a:r>
            </a:p>
          </p:txBody>
        </p:sp>
        <p:sp>
          <p:nvSpPr>
            <p:cNvPr id="12" name="Rectangle 27"/>
            <p:cNvSpPr>
              <a:spLocks noChangeArrowheads="1"/>
            </p:cNvSpPr>
            <p:nvPr/>
          </p:nvSpPr>
          <p:spPr bwMode="auto">
            <a:xfrm>
              <a:off x="6248400" y="4876800"/>
              <a:ext cx="1371600" cy="4572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dirty="0"/>
                <a:t>Courses</a:t>
              </a:r>
            </a:p>
          </p:txBody>
        </p:sp>
        <p:cxnSp>
          <p:nvCxnSpPr>
            <p:cNvPr id="13" name="AutoShape 29"/>
            <p:cNvCxnSpPr>
              <a:cxnSpLocks noChangeShapeType="1"/>
              <a:stCxn id="4" idx="2"/>
              <a:endCxn id="12" idx="0"/>
            </p:cNvCxnSpPr>
            <p:nvPr/>
          </p:nvCxnSpPr>
          <p:spPr bwMode="auto">
            <a:xfrm>
              <a:off x="6934200" y="3657600"/>
              <a:ext cx="0" cy="12192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AutoShape 36"/>
            <p:cNvSpPr>
              <a:spLocks noChangeArrowheads="1"/>
            </p:cNvSpPr>
            <p:nvPr/>
          </p:nvSpPr>
          <p:spPr bwMode="auto">
            <a:xfrm>
              <a:off x="7543800" y="3810000"/>
              <a:ext cx="1143000" cy="381000"/>
            </a:xfrm>
            <a:prstGeom prst="wedgeRectCallout">
              <a:avLst>
                <a:gd name="adj1" fmla="val -99167"/>
                <a:gd name="adj2" fmla="val -841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b="1"/>
                <a:t>Role</a:t>
              </a:r>
            </a:p>
          </p:txBody>
        </p:sp>
      </p:grpSp>
      <p:sp>
        <p:nvSpPr>
          <p:cNvPr id="15" name="Line 10"/>
          <p:cNvSpPr>
            <a:spLocks noChangeShapeType="1"/>
          </p:cNvSpPr>
          <p:nvPr/>
        </p:nvSpPr>
        <p:spPr bwMode="auto">
          <a:xfrm>
            <a:off x="2286000" y="3429000"/>
            <a:ext cx="39624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6" name="Text Box 15"/>
          <p:cNvSpPr txBox="1">
            <a:spLocks noChangeArrowheads="1"/>
          </p:cNvSpPr>
          <p:nvPr/>
        </p:nvSpPr>
        <p:spPr bwMode="auto">
          <a:xfrm>
            <a:off x="4114800" y="3429000"/>
            <a:ext cx="9588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dirty="0"/>
              <a:t>instructs</a:t>
            </a:r>
          </a:p>
        </p:txBody>
      </p:sp>
      <p:sp>
        <p:nvSpPr>
          <p:cNvPr id="17" name="Text Box 37"/>
          <p:cNvSpPr txBox="1">
            <a:spLocks noChangeArrowheads="1"/>
          </p:cNvSpPr>
          <p:nvPr/>
        </p:nvSpPr>
        <p:spPr bwMode="auto">
          <a:xfrm>
            <a:off x="7010400" y="4495800"/>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dirty="0"/>
              <a:t>*</a:t>
            </a:r>
          </a:p>
        </p:txBody>
      </p:sp>
    </p:spTree>
    <p:extLst>
      <p:ext uri="{BB962C8B-B14F-4D97-AF65-F5344CB8AC3E}">
        <p14:creationId xmlns:p14="http://schemas.microsoft.com/office/powerpoint/2010/main" val="599027085"/>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Association Class</a:t>
            </a:r>
            <a:endParaRPr lang="en-US" dirty="0"/>
          </a:p>
        </p:txBody>
      </p:sp>
      <p:sp>
        <p:nvSpPr>
          <p:cNvPr id="3" name="Content Placeholder 2"/>
          <p:cNvSpPr>
            <a:spLocks noGrp="1"/>
          </p:cNvSpPr>
          <p:nvPr>
            <p:ph idx="1"/>
          </p:nvPr>
        </p:nvSpPr>
        <p:spPr>
          <a:xfrm>
            <a:off x="152400" y="1371600"/>
            <a:ext cx="8839200" cy="5410200"/>
          </a:xfrm>
        </p:spPr>
        <p:txBody>
          <a:bodyPr>
            <a:normAutofit lnSpcReduction="10000"/>
          </a:bodyPr>
          <a:lstStyle/>
          <a:p>
            <a:pPr algn="just"/>
            <a:r>
              <a:rPr lang="en-US" dirty="0"/>
              <a:t>In modeling an association, there are times when you need to </a:t>
            </a:r>
            <a:r>
              <a:rPr lang="en-US" b="1" dirty="0"/>
              <a:t>include another class because it includes valuable information </a:t>
            </a:r>
            <a:r>
              <a:rPr lang="en-US" dirty="0"/>
              <a:t>about the relationship</a:t>
            </a:r>
            <a:r>
              <a:rPr lang="en-US" dirty="0" smtClean="0"/>
              <a:t>.</a:t>
            </a:r>
          </a:p>
          <a:p>
            <a:pPr algn="just"/>
            <a:r>
              <a:rPr lang="en-US" dirty="0" smtClean="0"/>
              <a:t>use </a:t>
            </a:r>
            <a:r>
              <a:rPr lang="en-US" dirty="0"/>
              <a:t>an </a:t>
            </a:r>
            <a:r>
              <a:rPr lang="en-US" b="1" i="1" dirty="0"/>
              <a:t>association class</a:t>
            </a:r>
            <a:r>
              <a:rPr lang="en-US" b="1" dirty="0"/>
              <a:t> that you tie to the primary association. </a:t>
            </a:r>
            <a:endParaRPr lang="en-US" b="1" dirty="0" smtClean="0"/>
          </a:p>
          <a:p>
            <a:pPr algn="just"/>
            <a:r>
              <a:rPr lang="en-US" dirty="0" smtClean="0"/>
              <a:t>An </a:t>
            </a:r>
            <a:r>
              <a:rPr lang="en-US" dirty="0"/>
              <a:t>association class is represented like a normal class. </a:t>
            </a:r>
            <a:endParaRPr lang="en-US" dirty="0" smtClean="0"/>
          </a:p>
          <a:p>
            <a:pPr algn="just"/>
            <a:r>
              <a:rPr lang="en-US" dirty="0" smtClean="0"/>
              <a:t>The </a:t>
            </a:r>
            <a:r>
              <a:rPr lang="en-US" dirty="0"/>
              <a:t>difference is that the </a:t>
            </a:r>
            <a:r>
              <a:rPr lang="en-US" b="1" dirty="0"/>
              <a:t>association line </a:t>
            </a:r>
            <a:r>
              <a:rPr lang="en-US" dirty="0"/>
              <a:t>between the primary classes intersects a </a:t>
            </a:r>
            <a:r>
              <a:rPr lang="en-US" b="1" dirty="0"/>
              <a:t>dotted line connected </a:t>
            </a:r>
            <a:r>
              <a:rPr lang="en-US" dirty="0"/>
              <a:t>to the association class. </a:t>
            </a:r>
          </a:p>
        </p:txBody>
      </p:sp>
    </p:spTree>
    <p:extLst>
      <p:ext uri="{BB962C8B-B14F-4D97-AF65-F5344CB8AC3E}">
        <p14:creationId xmlns:p14="http://schemas.microsoft.com/office/powerpoint/2010/main" val="559221494"/>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Image result for EXAMPLE OF ASSOCIATION CLASS IN CLASS 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 y="1219200"/>
            <a:ext cx="8305800" cy="419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3723576"/>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Multiplicity</a:t>
            </a:r>
            <a:endParaRPr lang="en-US" dirty="0"/>
          </a:p>
        </p:txBody>
      </p:sp>
      <p:sp>
        <p:nvSpPr>
          <p:cNvPr id="3" name="Content Placeholder 2"/>
          <p:cNvSpPr>
            <a:spLocks noGrp="1"/>
          </p:cNvSpPr>
          <p:nvPr>
            <p:ph idx="1"/>
          </p:nvPr>
        </p:nvSpPr>
        <p:spPr/>
        <p:txBody>
          <a:bodyPr/>
          <a:lstStyle/>
          <a:p>
            <a:pPr marL="342900" lvl="1" indent="-342900" algn="just">
              <a:buFont typeface="Arial" pitchFamily="34" charset="0"/>
              <a:buChar char="•"/>
            </a:pPr>
            <a:r>
              <a:rPr lang="en-US" dirty="0" smtClean="0"/>
              <a:t>the number of objects that participate in the association.</a:t>
            </a:r>
          </a:p>
          <a:p>
            <a:pPr marL="342900" lvl="1" indent="-342900">
              <a:buFont typeface="Arial" pitchFamily="34" charset="0"/>
              <a:buChar char="•"/>
            </a:pPr>
            <a:r>
              <a:rPr lang="en-US" b="1" dirty="0" smtClean="0"/>
              <a:t>Multiplicity </a:t>
            </a:r>
            <a:r>
              <a:rPr lang="en-US" b="1" dirty="0"/>
              <a:t>Indicators</a:t>
            </a:r>
          </a:p>
          <a:p>
            <a:endParaRPr lang="en-US"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5940" y="3352800"/>
            <a:ext cx="5670550" cy="2762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85167753"/>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Basic Aggregation</a:t>
            </a:r>
            <a:endParaRPr lang="en-US" dirty="0"/>
          </a:p>
        </p:txBody>
      </p:sp>
      <p:sp>
        <p:nvSpPr>
          <p:cNvPr id="3" name="Content Placeholder 2"/>
          <p:cNvSpPr>
            <a:spLocks noGrp="1"/>
          </p:cNvSpPr>
          <p:nvPr>
            <p:ph idx="1"/>
          </p:nvPr>
        </p:nvSpPr>
        <p:spPr/>
        <p:txBody>
          <a:bodyPr/>
          <a:lstStyle/>
          <a:p>
            <a:pPr algn="just"/>
            <a:r>
              <a:rPr lang="en-US" dirty="0"/>
              <a:t>Aggregation is a special type of association used to model a </a:t>
            </a:r>
            <a:r>
              <a:rPr lang="en-US" b="1" dirty="0"/>
              <a:t>"whole to its parts"</a:t>
            </a:r>
            <a:r>
              <a:rPr lang="en-US" dirty="0"/>
              <a:t> relationship. </a:t>
            </a:r>
            <a:endParaRPr lang="en-US" dirty="0" smtClean="0"/>
          </a:p>
          <a:p>
            <a:pPr algn="just"/>
            <a:r>
              <a:rPr lang="en-US" dirty="0" smtClean="0"/>
              <a:t>Example: </a:t>
            </a:r>
            <a:r>
              <a:rPr lang="en-US" dirty="0"/>
              <a:t>Car as a whole entity and Car Wheel as part of the overall Car.</a:t>
            </a: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453981"/>
            <a:ext cx="4800600" cy="1565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7710668"/>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2000" y="2438400"/>
            <a:ext cx="7391400" cy="1600200"/>
            <a:chOff x="914400" y="4221163"/>
            <a:chExt cx="7391400" cy="1600200"/>
          </a:xfrm>
        </p:grpSpPr>
        <p:sp>
          <p:nvSpPr>
            <p:cNvPr id="3" name="AutoShape 11"/>
            <p:cNvSpPr>
              <a:spLocks noChangeArrowheads="1"/>
            </p:cNvSpPr>
            <p:nvPr/>
          </p:nvSpPr>
          <p:spPr bwMode="auto">
            <a:xfrm>
              <a:off x="1828800" y="5211763"/>
              <a:ext cx="914400" cy="609600"/>
            </a:xfrm>
            <a:prstGeom prst="wedgeRectCallout">
              <a:avLst>
                <a:gd name="adj1" fmla="val -37500"/>
                <a:gd name="adj2" fmla="val -11041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sz="2000" dirty="0"/>
                <a:t>Whole</a:t>
              </a:r>
            </a:p>
          </p:txBody>
        </p:sp>
        <p:sp>
          <p:nvSpPr>
            <p:cNvPr id="4" name="AutoShape 12"/>
            <p:cNvSpPr>
              <a:spLocks noChangeArrowheads="1"/>
            </p:cNvSpPr>
            <p:nvPr/>
          </p:nvSpPr>
          <p:spPr bwMode="auto">
            <a:xfrm>
              <a:off x="4343400" y="5211763"/>
              <a:ext cx="914400" cy="609600"/>
            </a:xfrm>
            <a:prstGeom prst="wedgeRectCallout">
              <a:avLst>
                <a:gd name="adj1" fmla="val -8852"/>
                <a:gd name="adj2" fmla="val -106509"/>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r>
                <a:rPr lang="en-US" sz="2000"/>
                <a:t>Part</a:t>
              </a:r>
            </a:p>
          </p:txBody>
        </p:sp>
        <p:grpSp>
          <p:nvGrpSpPr>
            <p:cNvPr id="5" name="Group 28"/>
            <p:cNvGrpSpPr>
              <a:grpSpLocks/>
            </p:cNvGrpSpPr>
            <p:nvPr/>
          </p:nvGrpSpPr>
          <p:grpSpPr bwMode="auto">
            <a:xfrm>
              <a:off x="914400" y="4221163"/>
              <a:ext cx="7391400" cy="533400"/>
              <a:chOff x="576" y="2928"/>
              <a:chExt cx="4656" cy="336"/>
            </a:xfrm>
          </p:grpSpPr>
          <p:grpSp>
            <p:nvGrpSpPr>
              <p:cNvPr id="6" name="Group 19"/>
              <p:cNvGrpSpPr>
                <a:grpSpLocks/>
              </p:cNvGrpSpPr>
              <p:nvPr/>
            </p:nvGrpSpPr>
            <p:grpSpPr bwMode="auto">
              <a:xfrm>
                <a:off x="576" y="2976"/>
                <a:ext cx="912" cy="288"/>
                <a:chOff x="720" y="2976"/>
                <a:chExt cx="768" cy="288"/>
              </a:xfrm>
            </p:grpSpPr>
            <p:sp>
              <p:nvSpPr>
                <p:cNvPr id="18" name="Rectangle 5"/>
                <p:cNvSpPr>
                  <a:spLocks noChangeArrowheads="1"/>
                </p:cNvSpPr>
                <p:nvPr/>
              </p:nvSpPr>
              <p:spPr bwMode="auto">
                <a:xfrm>
                  <a:off x="720" y="2976"/>
                  <a:ext cx="768" cy="2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Text Box 6"/>
                <p:cNvSpPr txBox="1">
                  <a:spLocks noChangeArrowheads="1"/>
                </p:cNvSpPr>
                <p:nvPr/>
              </p:nvSpPr>
              <p:spPr bwMode="auto">
                <a:xfrm>
                  <a:off x="768" y="3024"/>
                  <a:ext cx="702"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algn="ctr" eaLnBrk="1" hangingPunct="1">
                    <a:spcBef>
                      <a:spcPct val="50000"/>
                    </a:spcBef>
                  </a:pPr>
                  <a:r>
                    <a:rPr lang="en-US" b="1" dirty="0"/>
                    <a:t>Car</a:t>
                  </a:r>
                </a:p>
              </p:txBody>
            </p:sp>
          </p:grpSp>
          <p:sp>
            <p:nvSpPr>
              <p:cNvPr id="7" name="Rectangle 7"/>
              <p:cNvSpPr>
                <a:spLocks noChangeArrowheads="1"/>
              </p:cNvSpPr>
              <p:nvPr/>
            </p:nvSpPr>
            <p:spPr bwMode="auto">
              <a:xfrm>
                <a:off x="2592" y="2976"/>
                <a:ext cx="768" cy="2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2000" b="1"/>
                  <a:t>Door</a:t>
                </a:r>
              </a:p>
            </p:txBody>
          </p:sp>
          <p:sp>
            <p:nvSpPr>
              <p:cNvPr id="8" name="Line 9"/>
              <p:cNvSpPr>
                <a:spLocks noChangeShapeType="1"/>
              </p:cNvSpPr>
              <p:nvPr/>
            </p:nvSpPr>
            <p:spPr bwMode="auto">
              <a:xfrm flipV="1">
                <a:off x="1632" y="3120"/>
                <a:ext cx="96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AutoShape 10"/>
              <p:cNvSpPr>
                <a:spLocks noChangeArrowheads="1"/>
              </p:cNvSpPr>
              <p:nvPr/>
            </p:nvSpPr>
            <p:spPr bwMode="auto">
              <a:xfrm>
                <a:off x="1488" y="3048"/>
                <a:ext cx="144" cy="144"/>
              </a:xfrm>
              <a:prstGeom prst="diamond">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10" name="Group 18"/>
              <p:cNvGrpSpPr>
                <a:grpSpLocks/>
              </p:cNvGrpSpPr>
              <p:nvPr/>
            </p:nvGrpSpPr>
            <p:grpSpPr bwMode="auto">
              <a:xfrm flipH="1">
                <a:off x="3360" y="3048"/>
                <a:ext cx="1104" cy="144"/>
                <a:chOff x="1920" y="3432"/>
                <a:chExt cx="1104" cy="144"/>
              </a:xfrm>
            </p:grpSpPr>
            <p:sp>
              <p:nvSpPr>
                <p:cNvPr id="16" name="Line 16"/>
                <p:cNvSpPr>
                  <a:spLocks noChangeShapeType="1"/>
                </p:cNvSpPr>
                <p:nvPr/>
              </p:nvSpPr>
              <p:spPr bwMode="auto">
                <a:xfrm flipH="1" flipV="1">
                  <a:off x="2064" y="3504"/>
                  <a:ext cx="96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7" name="AutoShape 17"/>
                <p:cNvSpPr>
                  <a:spLocks noChangeArrowheads="1"/>
                </p:cNvSpPr>
                <p:nvPr/>
              </p:nvSpPr>
              <p:spPr bwMode="auto">
                <a:xfrm flipH="1">
                  <a:off x="1920" y="3432"/>
                  <a:ext cx="144" cy="144"/>
                </a:xfrm>
                <a:prstGeom prst="diamond">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11" name="Group 20"/>
              <p:cNvGrpSpPr>
                <a:grpSpLocks/>
              </p:cNvGrpSpPr>
              <p:nvPr/>
            </p:nvGrpSpPr>
            <p:grpSpPr bwMode="auto">
              <a:xfrm>
                <a:off x="4464" y="2976"/>
                <a:ext cx="768" cy="288"/>
                <a:chOff x="720" y="2976"/>
                <a:chExt cx="768" cy="288"/>
              </a:xfrm>
            </p:grpSpPr>
            <p:sp>
              <p:nvSpPr>
                <p:cNvPr id="14" name="Rectangle 21"/>
                <p:cNvSpPr>
                  <a:spLocks noChangeArrowheads="1"/>
                </p:cNvSpPr>
                <p:nvPr/>
              </p:nvSpPr>
              <p:spPr bwMode="auto">
                <a:xfrm>
                  <a:off x="720" y="2976"/>
                  <a:ext cx="768" cy="288"/>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5" name="Text Box 22"/>
                <p:cNvSpPr txBox="1">
                  <a:spLocks noChangeArrowheads="1"/>
                </p:cNvSpPr>
                <p:nvPr/>
              </p:nvSpPr>
              <p:spPr bwMode="auto">
                <a:xfrm>
                  <a:off x="768" y="3024"/>
                  <a:ext cx="702"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algn="ctr" eaLnBrk="1" hangingPunct="1">
                    <a:spcBef>
                      <a:spcPct val="50000"/>
                    </a:spcBef>
                  </a:pPr>
                  <a:r>
                    <a:rPr lang="en-US" b="1"/>
                    <a:t>House</a:t>
                  </a:r>
                </a:p>
              </p:txBody>
            </p:sp>
          </p:grpSp>
          <p:sp>
            <p:nvSpPr>
              <p:cNvPr id="12" name="Text Box 23"/>
              <p:cNvSpPr txBox="1">
                <a:spLocks noChangeArrowheads="1"/>
              </p:cNvSpPr>
              <p:nvPr/>
            </p:nvSpPr>
            <p:spPr bwMode="auto">
              <a:xfrm>
                <a:off x="3360" y="2928"/>
                <a:ext cx="332"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a:t>1..*</a:t>
                </a:r>
              </a:p>
            </p:txBody>
          </p:sp>
          <p:sp>
            <p:nvSpPr>
              <p:cNvPr id="13" name="Text Box 24"/>
              <p:cNvSpPr txBox="1">
                <a:spLocks noChangeArrowheads="1"/>
              </p:cNvSpPr>
              <p:nvPr/>
            </p:nvSpPr>
            <p:spPr bwMode="auto">
              <a:xfrm>
                <a:off x="2304" y="2928"/>
                <a:ext cx="332"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a:solidFill>
                      <a:schemeClr val="tx1"/>
                    </a:solidFill>
                    <a:latin typeface="Times New Roman" pitchFamily="18" charset="0"/>
                    <a:cs typeface="Times New Roman" pitchFamily="18" charset="0"/>
                  </a:defRPr>
                </a:lvl1pPr>
                <a:lvl2pPr marL="742950" indent="-285750" eaLnBrk="0" hangingPunct="0">
                  <a:defRPr>
                    <a:solidFill>
                      <a:schemeClr val="tx1"/>
                    </a:solidFill>
                    <a:latin typeface="Times New Roman" pitchFamily="18" charset="0"/>
                    <a:cs typeface="Times New Roman" pitchFamily="18" charset="0"/>
                  </a:defRPr>
                </a:lvl2pPr>
                <a:lvl3pPr marL="1143000" indent="-228600" eaLnBrk="0" hangingPunct="0">
                  <a:defRPr>
                    <a:solidFill>
                      <a:schemeClr val="tx1"/>
                    </a:solidFill>
                    <a:latin typeface="Times New Roman" pitchFamily="18" charset="0"/>
                    <a:cs typeface="Times New Roman" pitchFamily="18" charset="0"/>
                  </a:defRPr>
                </a:lvl3pPr>
                <a:lvl4pPr marL="1600200" indent="-228600" eaLnBrk="0" hangingPunct="0">
                  <a:defRPr>
                    <a:solidFill>
                      <a:schemeClr val="tx1"/>
                    </a:solidFill>
                    <a:latin typeface="Times New Roman" pitchFamily="18" charset="0"/>
                    <a:cs typeface="Times New Roman" pitchFamily="18" charset="0"/>
                  </a:defRPr>
                </a:lvl4pPr>
                <a:lvl5pPr marL="2057400" indent="-228600" eaLnBrk="0" hangingPunct="0">
                  <a:defRPr>
                    <a:solidFill>
                      <a:schemeClr val="tx1"/>
                    </a:solidFill>
                    <a:latin typeface="Times New Roman" pitchFamily="18" charset="0"/>
                    <a:cs typeface="Times New Roman" pitchFamily="18" charset="0"/>
                  </a:defRPr>
                </a:lvl5pPr>
                <a:lvl6pPr marL="2514600" indent="-228600" eaLnBrk="0" fontAlgn="base" hangingPunct="0">
                  <a:spcBef>
                    <a:spcPct val="0"/>
                  </a:spcBef>
                  <a:spcAft>
                    <a:spcPct val="0"/>
                  </a:spcAft>
                  <a:defRPr>
                    <a:solidFill>
                      <a:schemeClr val="tx1"/>
                    </a:solidFill>
                    <a:latin typeface="Times New Roman" pitchFamily="18" charset="0"/>
                    <a:cs typeface="Times New Roman" pitchFamily="18" charset="0"/>
                  </a:defRPr>
                </a:lvl6pPr>
                <a:lvl7pPr marL="2971800" indent="-228600" eaLnBrk="0" fontAlgn="base" hangingPunct="0">
                  <a:spcBef>
                    <a:spcPct val="0"/>
                  </a:spcBef>
                  <a:spcAft>
                    <a:spcPct val="0"/>
                  </a:spcAft>
                  <a:defRPr>
                    <a:solidFill>
                      <a:schemeClr val="tx1"/>
                    </a:solidFill>
                    <a:latin typeface="Times New Roman" pitchFamily="18" charset="0"/>
                    <a:cs typeface="Times New Roman" pitchFamily="18" charset="0"/>
                  </a:defRPr>
                </a:lvl7pPr>
                <a:lvl8pPr marL="3429000" indent="-228600" eaLnBrk="0" fontAlgn="base" hangingPunct="0">
                  <a:spcBef>
                    <a:spcPct val="0"/>
                  </a:spcBef>
                  <a:spcAft>
                    <a:spcPct val="0"/>
                  </a:spcAft>
                  <a:defRPr>
                    <a:solidFill>
                      <a:schemeClr val="tx1"/>
                    </a:solidFill>
                    <a:latin typeface="Times New Roman" pitchFamily="18" charset="0"/>
                    <a:cs typeface="Times New Roman" pitchFamily="18" charset="0"/>
                  </a:defRPr>
                </a:lvl8pPr>
                <a:lvl9pPr marL="3886200" indent="-228600" eaLnBrk="0" fontAlgn="base" hangingPunct="0">
                  <a:spcBef>
                    <a:spcPct val="0"/>
                  </a:spcBef>
                  <a:spcAft>
                    <a:spcPct val="0"/>
                  </a:spcAft>
                  <a:defRPr>
                    <a:solidFill>
                      <a:schemeClr val="tx1"/>
                    </a:solidFill>
                    <a:latin typeface="Times New Roman" pitchFamily="18" charset="0"/>
                    <a:cs typeface="Times New Roman" pitchFamily="18" charset="0"/>
                  </a:defRPr>
                </a:lvl9pPr>
              </a:lstStyle>
              <a:p>
                <a:pPr eaLnBrk="1" hangingPunct="1"/>
                <a:r>
                  <a:rPr lang="en-US"/>
                  <a:t>2..*</a:t>
                </a:r>
              </a:p>
            </p:txBody>
          </p:sp>
        </p:grpSp>
      </p:grpSp>
    </p:spTree>
    <p:extLst>
      <p:ext uri="{BB962C8B-B14F-4D97-AF65-F5344CB8AC3E}">
        <p14:creationId xmlns:p14="http://schemas.microsoft.com/office/powerpoint/2010/main" val="340272170"/>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2"/>
          <p:cNvSpPr>
            <a:spLocks noGrp="1" noChangeArrowheads="1"/>
          </p:cNvSpPr>
          <p:nvPr>
            <p:ph type="title"/>
          </p:nvPr>
        </p:nvSpPr>
        <p:spPr/>
        <p:txBody>
          <a:bodyPr/>
          <a:lstStyle/>
          <a:p>
            <a:pPr eaLnBrk="1" hangingPunct="1"/>
            <a:r>
              <a:rPr lang="en-US" dirty="0" smtClean="0"/>
              <a:t>Composition Aggregation</a:t>
            </a:r>
          </a:p>
        </p:txBody>
      </p:sp>
      <p:sp>
        <p:nvSpPr>
          <p:cNvPr id="13317" name="Rectangle 3"/>
          <p:cNvSpPr>
            <a:spLocks noGrp="1" noChangeArrowheads="1"/>
          </p:cNvSpPr>
          <p:nvPr>
            <p:ph type="body" idx="1"/>
          </p:nvPr>
        </p:nvSpPr>
        <p:spPr>
          <a:xfrm>
            <a:off x="685800" y="1219200"/>
            <a:ext cx="7772400" cy="2438400"/>
          </a:xfrm>
        </p:spPr>
        <p:txBody>
          <a:bodyPr/>
          <a:lstStyle/>
          <a:p>
            <a:pPr eaLnBrk="1" hangingPunct="1"/>
            <a:r>
              <a:rPr lang="en-US" sz="2800" dirty="0" smtClean="0"/>
              <a:t>A strong form of aggregation</a:t>
            </a:r>
          </a:p>
          <a:p>
            <a:pPr lvl="1" eaLnBrk="1" hangingPunct="1"/>
            <a:r>
              <a:rPr lang="en-US" sz="2400" dirty="0" smtClean="0"/>
              <a:t>The whole is the sole owner of its part.</a:t>
            </a:r>
          </a:p>
          <a:p>
            <a:pPr lvl="2" eaLnBrk="1" hangingPunct="1"/>
            <a:r>
              <a:rPr lang="en-US" sz="2000" dirty="0" smtClean="0"/>
              <a:t>The part object may belong to only one whole</a:t>
            </a:r>
          </a:p>
          <a:p>
            <a:pPr lvl="1" eaLnBrk="1" hangingPunct="1"/>
            <a:r>
              <a:rPr lang="en-US" sz="2400" dirty="0" smtClean="0"/>
              <a:t>Multiplicity on the whole side must be zero or one.</a:t>
            </a:r>
          </a:p>
          <a:p>
            <a:pPr lvl="1" eaLnBrk="1" hangingPunct="1"/>
            <a:r>
              <a:rPr lang="en-US" sz="2400" dirty="0" smtClean="0"/>
              <a:t>The life time of the part is dependent upon the whole. </a:t>
            </a:r>
          </a:p>
        </p:txBody>
      </p:sp>
      <p:pic>
        <p:nvPicPr>
          <p:cNvPr id="1026" name="Picture 2"/>
          <p:cNvPicPr>
            <a:picLocks noChangeAspect="1" noChangeArrowheads="1"/>
          </p:cNvPicPr>
          <p:nvPr/>
        </p:nvPicPr>
        <p:blipFill>
          <a:blip r:embed="rId2"/>
          <a:srcRect/>
          <a:stretch>
            <a:fillRect/>
          </a:stretch>
        </p:blipFill>
        <p:spPr bwMode="auto">
          <a:xfrm>
            <a:off x="1524000" y="3962400"/>
            <a:ext cx="6477000" cy="22479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Generalization</a:t>
            </a:r>
            <a:endParaRPr lang="en-US" dirty="0"/>
          </a:p>
        </p:txBody>
      </p:sp>
      <p:sp>
        <p:nvSpPr>
          <p:cNvPr id="3" name="Content Placeholder 2"/>
          <p:cNvSpPr>
            <a:spLocks noGrp="1"/>
          </p:cNvSpPr>
          <p:nvPr>
            <p:ph idx="1"/>
          </p:nvPr>
        </p:nvSpPr>
        <p:spPr/>
        <p:txBody>
          <a:bodyPr/>
          <a:lstStyle/>
          <a:p>
            <a:pPr algn="just"/>
            <a:r>
              <a:rPr lang="en-US" dirty="0" smtClean="0"/>
              <a:t>The Generalization association ("</a:t>
            </a:r>
            <a:r>
              <a:rPr lang="en-US" b="1" dirty="0" smtClean="0"/>
              <a:t>is a</a:t>
            </a:r>
            <a:r>
              <a:rPr lang="en-US" dirty="0" smtClean="0"/>
              <a:t>") is the </a:t>
            </a:r>
            <a:r>
              <a:rPr lang="en-US" b="1" dirty="0" smtClean="0"/>
              <a:t>relationship</a:t>
            </a:r>
            <a:r>
              <a:rPr lang="en-US" dirty="0" smtClean="0"/>
              <a:t> between the </a:t>
            </a:r>
            <a:r>
              <a:rPr lang="en-US" b="1" dirty="0" smtClean="0"/>
              <a:t>base class </a:t>
            </a:r>
            <a:r>
              <a:rPr lang="en-US" dirty="0" smtClean="0"/>
              <a:t>that is named as “</a:t>
            </a:r>
            <a:r>
              <a:rPr lang="en-US" dirty="0" err="1" smtClean="0"/>
              <a:t>superclass</a:t>
            </a:r>
            <a:r>
              <a:rPr lang="en-US" dirty="0" smtClean="0"/>
              <a:t>” or “</a:t>
            </a:r>
            <a:r>
              <a:rPr lang="en-US" b="1" dirty="0" smtClean="0"/>
              <a:t>parent</a:t>
            </a:r>
            <a:r>
              <a:rPr lang="en-US" dirty="0" smtClean="0"/>
              <a:t>” and the specific class that is named as “</a:t>
            </a:r>
            <a:r>
              <a:rPr lang="en-US" b="1" dirty="0" smtClean="0"/>
              <a:t>subclass</a:t>
            </a:r>
            <a:r>
              <a:rPr lang="en-US" dirty="0" smtClean="0"/>
              <a:t>” or “</a:t>
            </a:r>
            <a:r>
              <a:rPr lang="en-US" b="1" dirty="0" smtClean="0"/>
              <a:t>child</a:t>
            </a:r>
            <a:r>
              <a:rPr lang="en-US" dirty="0" smtClean="0"/>
              <a:t>”.</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srcRect/>
          <a:stretch>
            <a:fillRect/>
          </a:stretch>
        </p:blipFill>
        <p:spPr bwMode="auto">
          <a:xfrm>
            <a:off x="2514600" y="990600"/>
            <a:ext cx="4438650" cy="1933575"/>
          </a:xfrm>
          <a:prstGeom prst="rect">
            <a:avLst/>
          </a:prstGeom>
          <a:noFill/>
          <a:ln w="9525">
            <a:noFill/>
            <a:miter lim="800000"/>
            <a:headEnd/>
            <a:tailEnd/>
          </a:ln>
          <a:effectLst/>
        </p:spPr>
      </p:pic>
      <p:pic>
        <p:nvPicPr>
          <p:cNvPr id="2051" name="Picture 3"/>
          <p:cNvPicPr>
            <a:picLocks noGrp="1" noChangeAspect="1" noChangeArrowheads="1"/>
          </p:cNvPicPr>
          <p:nvPr>
            <p:ph idx="4294967295"/>
          </p:nvPr>
        </p:nvPicPr>
        <p:blipFill>
          <a:blip r:embed="rId3"/>
          <a:stretch>
            <a:fillRect/>
          </a:stretch>
        </p:blipFill>
        <p:spPr bwMode="auto">
          <a:xfrm>
            <a:off x="2819400" y="3657600"/>
            <a:ext cx="4391025" cy="1962150"/>
          </a:xfrm>
          <a:prstGeom prst="rect">
            <a:avLst/>
          </a:prstGeom>
          <a:noFill/>
          <a:ln w="9525">
            <a:noFill/>
            <a:miter lim="800000"/>
            <a:headEnd/>
            <a:tailEnd/>
          </a:ln>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0" y="274638"/>
            <a:ext cx="8229600" cy="1143000"/>
          </a:xfrm>
        </p:spPr>
        <p:txBody>
          <a:bodyPr/>
          <a:lstStyle/>
          <a:p>
            <a:r>
              <a:rPr lang="en-US" dirty="0" smtClean="0"/>
              <a:t>Realization</a:t>
            </a:r>
            <a:endParaRPr lang="en-US" dirty="0"/>
          </a:p>
        </p:txBody>
      </p:sp>
      <p:sp>
        <p:nvSpPr>
          <p:cNvPr id="3" name="Content Placeholder 2"/>
          <p:cNvSpPr>
            <a:spLocks noGrp="1"/>
          </p:cNvSpPr>
          <p:nvPr>
            <p:ph idx="4294967295"/>
          </p:nvPr>
        </p:nvSpPr>
        <p:spPr>
          <a:xfrm>
            <a:off x="381000" y="1524000"/>
            <a:ext cx="8229600" cy="5181600"/>
          </a:xfrm>
        </p:spPr>
        <p:txBody>
          <a:bodyPr/>
          <a:lstStyle/>
          <a:p>
            <a:pPr algn="just"/>
            <a:r>
              <a:rPr lang="en-US" sz="2400" dirty="0" smtClean="0"/>
              <a:t>A realization relationship indicates that </a:t>
            </a:r>
            <a:r>
              <a:rPr lang="en-US" sz="2400" b="1" dirty="0" smtClean="0"/>
              <a:t>one class implements a behavior specified by another class </a:t>
            </a:r>
            <a:r>
              <a:rPr lang="en-US" sz="2400" dirty="0" smtClean="0"/>
              <a:t>(an interface or protocol).</a:t>
            </a:r>
          </a:p>
          <a:p>
            <a:pPr algn="just"/>
            <a:endParaRPr lang="en-US" sz="2400" dirty="0" smtClean="0"/>
          </a:p>
          <a:p>
            <a:pPr algn="just"/>
            <a:r>
              <a:rPr lang="en-US" sz="2400" dirty="0" smtClean="0"/>
              <a:t>a broken line with an unfilled solid arrowhead is drawn from the class that defines the functionality to the class that implements the function.</a:t>
            </a:r>
          </a:p>
          <a:p>
            <a:pPr algn="just"/>
            <a:endParaRPr lang="en-US" sz="2400" dirty="0" smtClean="0"/>
          </a:p>
          <a:p>
            <a:pPr algn="just"/>
            <a:endParaRPr lang="en-US" sz="2400" dirty="0"/>
          </a:p>
        </p:txBody>
      </p:sp>
      <p:pic>
        <p:nvPicPr>
          <p:cNvPr id="3078" name="Picture 6"/>
          <p:cNvPicPr>
            <a:picLocks noChangeAspect="1" noChangeArrowheads="1"/>
          </p:cNvPicPr>
          <p:nvPr/>
        </p:nvPicPr>
        <p:blipFill>
          <a:blip r:embed="rId2"/>
          <a:srcRect/>
          <a:stretch>
            <a:fillRect/>
          </a:stretch>
        </p:blipFill>
        <p:spPr bwMode="auto">
          <a:xfrm>
            <a:off x="3429000" y="4343400"/>
            <a:ext cx="2133600" cy="2286000"/>
          </a:xfrm>
          <a:prstGeom prst="rect">
            <a:avLst/>
          </a:prstGeom>
          <a:noFill/>
          <a:ln w="9525">
            <a:noFill/>
            <a:miter lim="800000"/>
            <a:headEnd/>
            <a:tailEnd/>
          </a:ln>
          <a:effectLst/>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Dependency</a:t>
            </a:r>
            <a:endParaRPr lang="en-US" dirty="0"/>
          </a:p>
        </p:txBody>
      </p:sp>
      <p:sp>
        <p:nvSpPr>
          <p:cNvPr id="3" name="Content Placeholder 2"/>
          <p:cNvSpPr>
            <a:spLocks noGrp="1"/>
          </p:cNvSpPr>
          <p:nvPr>
            <p:ph idx="1"/>
          </p:nvPr>
        </p:nvSpPr>
        <p:spPr/>
        <p:txBody>
          <a:bodyPr/>
          <a:lstStyle/>
          <a:p>
            <a:pPr algn="just"/>
            <a:r>
              <a:rPr lang="en-US" dirty="0" smtClean="0"/>
              <a:t>It </a:t>
            </a:r>
            <a:r>
              <a:rPr lang="en-US" dirty="0"/>
              <a:t>means that the class at the source end of the relationship has some sort of dependency on the class at the target (arrowhead) end of the relationship. </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6800" y="4384501"/>
            <a:ext cx="6248400" cy="17876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101282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Dependency</a:t>
            </a:r>
          </a:p>
        </p:txBody>
      </p:sp>
      <p:sp>
        <p:nvSpPr>
          <p:cNvPr id="3" name="Content Placeholder 2"/>
          <p:cNvSpPr>
            <a:spLocks noGrp="1"/>
          </p:cNvSpPr>
          <p:nvPr>
            <p:ph idx="1"/>
          </p:nvPr>
        </p:nvSpPr>
        <p:spPr>
          <a:xfrm>
            <a:off x="457200" y="1600200"/>
            <a:ext cx="8229600" cy="5181600"/>
          </a:xfrm>
        </p:spPr>
        <p:txBody>
          <a:bodyPr>
            <a:normAutofit fontScale="92500" lnSpcReduction="10000"/>
          </a:bodyPr>
          <a:lstStyle/>
          <a:p>
            <a:pPr algn="just"/>
            <a:r>
              <a:rPr lang="en-US" dirty="0"/>
              <a:t>In UML, a dependency relationship is a relationship in which one element, the client, uses or depends on another element, the supplier</a:t>
            </a:r>
            <a:r>
              <a:rPr lang="en-US" dirty="0" smtClean="0"/>
              <a:t>.</a:t>
            </a:r>
          </a:p>
          <a:p>
            <a:pPr algn="just"/>
            <a:endParaRPr lang="en-US" dirty="0" smtClean="0"/>
          </a:p>
          <a:p>
            <a:pPr algn="just"/>
            <a:r>
              <a:rPr lang="en-US" dirty="0"/>
              <a:t>a </a:t>
            </a:r>
            <a:r>
              <a:rPr lang="en-US" b="1" dirty="0"/>
              <a:t>Cart class depends on a Product class </a:t>
            </a:r>
            <a:r>
              <a:rPr lang="en-US" dirty="0"/>
              <a:t>because the Cart class uses the Product class as a parameter for an add operation</a:t>
            </a:r>
            <a:r>
              <a:rPr lang="en-US" dirty="0" smtClean="0"/>
              <a:t>.</a:t>
            </a:r>
          </a:p>
          <a:p>
            <a:pPr algn="just"/>
            <a:endParaRPr lang="en-US" dirty="0" smtClean="0"/>
          </a:p>
          <a:p>
            <a:pPr algn="just"/>
            <a:r>
              <a:rPr lang="en-US" dirty="0"/>
              <a:t>Cart class is, therefore, the client, and the Product class is the supplier.</a:t>
            </a:r>
          </a:p>
        </p:txBody>
      </p:sp>
    </p:spTree>
    <p:extLst>
      <p:ext uri="{BB962C8B-B14F-4D97-AF65-F5344CB8AC3E}">
        <p14:creationId xmlns:p14="http://schemas.microsoft.com/office/powerpoint/2010/main" val="40855032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3429000"/>
            <a:ext cx="762000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Content Placeholder 2"/>
          <p:cNvSpPr>
            <a:spLocks noGrp="1"/>
          </p:cNvSpPr>
          <p:nvPr>
            <p:ph idx="4294967295"/>
          </p:nvPr>
        </p:nvSpPr>
        <p:spPr>
          <a:xfrm>
            <a:off x="457200" y="1600200"/>
            <a:ext cx="8229600" cy="4525963"/>
          </a:xfrm>
        </p:spPr>
        <p:txBody>
          <a:bodyPr/>
          <a:lstStyle/>
          <a:p>
            <a:pPr algn="just"/>
            <a:r>
              <a:rPr lang="en-IN" dirty="0" smtClean="0"/>
              <a:t>Dependency shows that an element is dependent on another element as it fulfils its responsibilities within the system</a:t>
            </a:r>
            <a:endParaRPr lang="en-IN" dirty="0"/>
          </a:p>
        </p:txBody>
      </p:sp>
    </p:spTree>
    <p:extLst>
      <p:ext uri="{BB962C8B-B14F-4D97-AF65-F5344CB8AC3E}">
        <p14:creationId xmlns:p14="http://schemas.microsoft.com/office/powerpoint/2010/main" val="348025092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descr="Image result for dependency in class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9253" y="228600"/>
            <a:ext cx="8525491" cy="640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2210758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57200"/>
            <a:ext cx="9144000" cy="6324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9485582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3999" cy="685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75687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228601"/>
            <a:ext cx="8915400" cy="6477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1724210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Sequence Diagram</a:t>
            </a:r>
            <a:endParaRPr lang="en-US" dirty="0"/>
          </a:p>
        </p:txBody>
      </p:sp>
      <p:sp>
        <p:nvSpPr>
          <p:cNvPr id="3" name="Content Placeholder 2"/>
          <p:cNvSpPr>
            <a:spLocks noGrp="1"/>
          </p:cNvSpPr>
          <p:nvPr>
            <p:ph idx="1"/>
          </p:nvPr>
        </p:nvSpPr>
        <p:spPr/>
        <p:txBody>
          <a:bodyPr/>
          <a:lstStyle/>
          <a:p>
            <a:pPr algn="just"/>
            <a:r>
              <a:rPr lang="en-US" dirty="0"/>
              <a:t>The Sequence Diagram </a:t>
            </a:r>
            <a:r>
              <a:rPr lang="en-US" b="1" dirty="0"/>
              <a:t>models the collaboration of objects based on a time sequence</a:t>
            </a:r>
            <a:r>
              <a:rPr lang="en-US" b="1" dirty="0" smtClean="0"/>
              <a:t>.</a:t>
            </a:r>
          </a:p>
          <a:p>
            <a:pPr algn="just"/>
            <a:endParaRPr lang="en-US" dirty="0"/>
          </a:p>
          <a:p>
            <a:pPr algn="just"/>
            <a:r>
              <a:rPr lang="en-US" b="1" dirty="0"/>
              <a:t>Sequence diagrams </a:t>
            </a:r>
            <a:r>
              <a:rPr lang="en-US" dirty="0"/>
              <a:t>represent the objects participating in the interaction horizontally </a:t>
            </a:r>
            <a:r>
              <a:rPr lang="en-US" dirty="0" smtClean="0"/>
              <a:t>and time </a:t>
            </a:r>
            <a:r>
              <a:rPr lang="en-US" dirty="0"/>
              <a:t>vertically.</a:t>
            </a:r>
          </a:p>
        </p:txBody>
      </p:sp>
    </p:spTree>
    <p:extLst>
      <p:ext uri="{BB962C8B-B14F-4D97-AF65-F5344CB8AC3E}">
        <p14:creationId xmlns:p14="http://schemas.microsoft.com/office/powerpoint/2010/main" val="184495508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228600"/>
            <a:ext cx="8229600" cy="685800"/>
          </a:xfrm>
        </p:spPr>
        <p:txBody>
          <a:bodyPr>
            <a:normAutofit fontScale="90000"/>
          </a:bodyPr>
          <a:lstStyle/>
          <a:p>
            <a:r>
              <a:rPr lang="en-US" dirty="0" smtClean="0"/>
              <a:t/>
            </a:r>
            <a:br>
              <a:rPr lang="en-US" dirty="0" smtClean="0"/>
            </a:br>
            <a:r>
              <a:rPr lang="en-US" dirty="0" smtClean="0"/>
              <a:t>Sequence Diagrams</a:t>
            </a:r>
            <a:br>
              <a:rPr lang="en-US" dirty="0" smtClean="0"/>
            </a:br>
            <a:endParaRPr lang="en-US" dirty="0"/>
          </a:p>
        </p:txBody>
      </p:sp>
      <p:sp>
        <p:nvSpPr>
          <p:cNvPr id="3" name="Content Placeholder 2"/>
          <p:cNvSpPr>
            <a:spLocks noGrp="1"/>
          </p:cNvSpPr>
          <p:nvPr>
            <p:ph idx="1"/>
          </p:nvPr>
        </p:nvSpPr>
        <p:spPr>
          <a:xfrm>
            <a:off x="76200" y="609600"/>
            <a:ext cx="9067800" cy="6248400"/>
          </a:xfrm>
        </p:spPr>
        <p:txBody>
          <a:bodyPr>
            <a:normAutofit/>
          </a:bodyPr>
          <a:lstStyle/>
          <a:p>
            <a:pPr>
              <a:lnSpc>
                <a:spcPct val="200000"/>
              </a:lnSpc>
            </a:pPr>
            <a:r>
              <a:rPr lang="en-US" dirty="0" smtClean="0"/>
              <a:t>Depicts </a:t>
            </a:r>
            <a:r>
              <a:rPr lang="en-US" dirty="0"/>
              <a:t>sequence of actions that occur in a </a:t>
            </a:r>
            <a:r>
              <a:rPr lang="en-US" dirty="0" smtClean="0"/>
              <a:t>system</a:t>
            </a:r>
          </a:p>
          <a:p>
            <a:pPr>
              <a:lnSpc>
                <a:spcPct val="200000"/>
              </a:lnSpc>
            </a:pPr>
            <a:r>
              <a:rPr lang="en-US" dirty="0" smtClean="0"/>
              <a:t>Useful tool to </a:t>
            </a:r>
            <a:r>
              <a:rPr lang="en-US" b="1" dirty="0" smtClean="0"/>
              <a:t>represent dynamic behavior </a:t>
            </a:r>
            <a:r>
              <a:rPr lang="en-US" dirty="0" smtClean="0"/>
              <a:t>of a system</a:t>
            </a:r>
          </a:p>
          <a:p>
            <a:pPr>
              <a:lnSpc>
                <a:spcPct val="200000"/>
              </a:lnSpc>
            </a:pPr>
            <a:r>
              <a:rPr lang="en-US" dirty="0" smtClean="0"/>
              <a:t>2 dimensional :</a:t>
            </a:r>
            <a:endParaRPr lang="en-US" dirty="0"/>
          </a:p>
          <a:p>
            <a:pPr lvl="1">
              <a:lnSpc>
                <a:spcPct val="200000"/>
              </a:lnSpc>
            </a:pPr>
            <a:r>
              <a:rPr lang="en-US" dirty="0"/>
              <a:t>Horizontal </a:t>
            </a:r>
            <a:r>
              <a:rPr lang="en-US" dirty="0" smtClean="0"/>
              <a:t>axis</a:t>
            </a:r>
            <a:endParaRPr lang="en-US" b="1" dirty="0"/>
          </a:p>
          <a:p>
            <a:pPr lvl="1">
              <a:lnSpc>
                <a:spcPct val="200000"/>
              </a:lnSpc>
            </a:pPr>
            <a:r>
              <a:rPr lang="en-US" dirty="0" smtClean="0"/>
              <a:t>Vertical axis</a:t>
            </a:r>
            <a:endParaRPr lang="en-US" dirty="0"/>
          </a:p>
        </p:txBody>
      </p:sp>
    </p:spTree>
    <p:extLst>
      <p:ext uri="{BB962C8B-B14F-4D97-AF65-F5344CB8AC3E}">
        <p14:creationId xmlns:p14="http://schemas.microsoft.com/office/powerpoint/2010/main" val="775158388"/>
      </p:ext>
    </p:extLst>
  </p:cSld>
  <p:clrMapOvr>
    <a:masterClrMapping/>
  </p:clrMapOvr>
  <p:timing>
    <p:tnLst>
      <p:par>
        <p:cTn id="1" dur="indefinite" restart="never" nodeType="tmRoot"/>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Sequence Diagram</a:t>
            </a:r>
          </a:p>
        </p:txBody>
      </p:sp>
      <p:sp>
        <p:nvSpPr>
          <p:cNvPr id="3" name="Content Placeholder 2"/>
          <p:cNvSpPr>
            <a:spLocks noGrp="1"/>
          </p:cNvSpPr>
          <p:nvPr>
            <p:ph idx="1"/>
          </p:nvPr>
        </p:nvSpPr>
        <p:spPr>
          <a:xfrm>
            <a:off x="304800" y="1447800"/>
            <a:ext cx="8686800" cy="4267200"/>
          </a:xfrm>
        </p:spPr>
        <p:txBody>
          <a:bodyPr/>
          <a:lstStyle/>
          <a:p>
            <a:pPr algn="just"/>
            <a:r>
              <a:rPr lang="en-US" dirty="0" smtClean="0"/>
              <a:t>The </a:t>
            </a:r>
            <a:r>
              <a:rPr lang="en-US" dirty="0"/>
              <a:t>focus is </a:t>
            </a:r>
            <a:r>
              <a:rPr lang="en-US" b="1" dirty="0"/>
              <a:t>less on messages </a:t>
            </a:r>
            <a:r>
              <a:rPr lang="en-US" dirty="0"/>
              <a:t>themselves and more on the </a:t>
            </a:r>
            <a:r>
              <a:rPr lang="en-US" b="1" dirty="0"/>
              <a:t>order in which </a:t>
            </a:r>
            <a:r>
              <a:rPr lang="en-US" b="1" dirty="0" smtClean="0"/>
              <a:t>messages.</a:t>
            </a:r>
          </a:p>
          <a:p>
            <a:pPr algn="just"/>
            <a:endParaRPr lang="en-US" b="1" dirty="0"/>
          </a:p>
          <a:p>
            <a:pPr algn="just"/>
            <a:r>
              <a:rPr lang="en-US" dirty="0"/>
              <a:t>Sequence diagrams are good at showing </a:t>
            </a:r>
            <a:r>
              <a:rPr lang="en-US" b="1" dirty="0"/>
              <a:t>which objects communicate </a:t>
            </a:r>
            <a:r>
              <a:rPr lang="en-US" dirty="0"/>
              <a:t>with which other objects; and what messages </a:t>
            </a:r>
            <a:r>
              <a:rPr lang="en-US" b="1" dirty="0"/>
              <a:t>trigger those communications.</a:t>
            </a:r>
          </a:p>
        </p:txBody>
      </p:sp>
    </p:spTree>
    <p:extLst>
      <p:ext uri="{BB962C8B-B14F-4D97-AF65-F5344CB8AC3E}">
        <p14:creationId xmlns:p14="http://schemas.microsoft.com/office/powerpoint/2010/main" val="307290481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Participants in a Sequence Diagram </a:t>
            </a:r>
          </a:p>
        </p:txBody>
      </p:sp>
      <p:sp>
        <p:nvSpPr>
          <p:cNvPr id="3" name="Content Placeholder 2"/>
          <p:cNvSpPr>
            <a:spLocks noGrp="1"/>
          </p:cNvSpPr>
          <p:nvPr>
            <p:ph idx="1"/>
          </p:nvPr>
        </p:nvSpPr>
        <p:spPr>
          <a:xfrm>
            <a:off x="457200" y="1600200"/>
            <a:ext cx="8229600" cy="5029200"/>
          </a:xfrm>
        </p:spPr>
        <p:txBody>
          <a:bodyPr>
            <a:noAutofit/>
          </a:bodyPr>
          <a:lstStyle/>
          <a:p>
            <a:pPr algn="just"/>
            <a:r>
              <a:rPr lang="en-US" dirty="0"/>
              <a:t>A sequence diagram is made up of a collection of </a:t>
            </a:r>
            <a:r>
              <a:rPr lang="en-US" dirty="0" smtClean="0"/>
              <a:t>participants.</a:t>
            </a:r>
          </a:p>
          <a:p>
            <a:pPr algn="just"/>
            <a:endParaRPr lang="en-US" dirty="0" smtClean="0"/>
          </a:p>
          <a:p>
            <a:pPr algn="just"/>
            <a:r>
              <a:rPr lang="en-US" dirty="0" smtClean="0"/>
              <a:t>Participants </a:t>
            </a:r>
            <a:r>
              <a:rPr lang="en-US" dirty="0"/>
              <a:t>– the system parts that interact each other during the </a:t>
            </a:r>
            <a:r>
              <a:rPr lang="en-US" dirty="0" smtClean="0"/>
              <a:t>sequence.</a:t>
            </a:r>
          </a:p>
          <a:p>
            <a:pPr marL="0" indent="0" algn="just">
              <a:buNone/>
            </a:pPr>
            <a:r>
              <a:rPr lang="en-US" dirty="0" smtClean="0"/>
              <a:t> </a:t>
            </a:r>
          </a:p>
          <a:p>
            <a:pPr marL="0" indent="0" algn="just">
              <a:buNone/>
            </a:pPr>
            <a:r>
              <a:rPr lang="en-US" dirty="0" smtClean="0"/>
              <a:t>• </a:t>
            </a:r>
            <a:r>
              <a:rPr lang="en-US" dirty="0"/>
              <a:t>Classes or Objects – each class (object) in the interaction is represented by its named icon along the top of the diagram </a:t>
            </a:r>
          </a:p>
        </p:txBody>
      </p:sp>
    </p:spTree>
    <p:extLst>
      <p:ext uri="{BB962C8B-B14F-4D97-AF65-F5344CB8AC3E}">
        <p14:creationId xmlns:p14="http://schemas.microsoft.com/office/powerpoint/2010/main" val="2749896305"/>
      </p:ext>
    </p:extLst>
  </p:cSld>
  <p:clrMapOvr>
    <a:masterClrMapping/>
  </p:clrMapOvr>
  <p:timing>
    <p:tnLst>
      <p:par>
        <p:cTn id="1" dur="indefinite" restart="never" nodeType="tmRoot"/>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Elements of Sequence Diagra</a:t>
            </a:r>
            <a:r>
              <a:rPr lang="en-US" dirty="0"/>
              <a:t>m</a:t>
            </a:r>
          </a:p>
        </p:txBody>
      </p:sp>
      <p:sp>
        <p:nvSpPr>
          <p:cNvPr id="3" name="Content Placeholder 2"/>
          <p:cNvSpPr>
            <a:spLocks noGrp="1"/>
          </p:cNvSpPr>
          <p:nvPr>
            <p:ph idx="1"/>
          </p:nvPr>
        </p:nvSpPr>
        <p:spPr/>
        <p:txBody>
          <a:bodyPr>
            <a:normAutofit fontScale="77500" lnSpcReduction="20000"/>
          </a:bodyPr>
          <a:lstStyle/>
          <a:p>
            <a:pPr>
              <a:lnSpc>
                <a:spcPct val="200000"/>
              </a:lnSpc>
            </a:pPr>
            <a:r>
              <a:rPr lang="en-US" dirty="0" smtClean="0"/>
              <a:t>ACTOR</a:t>
            </a:r>
          </a:p>
          <a:p>
            <a:pPr>
              <a:lnSpc>
                <a:spcPct val="200000"/>
              </a:lnSpc>
            </a:pPr>
            <a:r>
              <a:rPr lang="en-US" dirty="0" smtClean="0"/>
              <a:t>OBJECTS</a:t>
            </a:r>
            <a:endParaRPr lang="en-US" dirty="0"/>
          </a:p>
          <a:p>
            <a:pPr>
              <a:lnSpc>
                <a:spcPct val="200000"/>
              </a:lnSpc>
            </a:pPr>
            <a:r>
              <a:rPr lang="en-US" dirty="0"/>
              <a:t>LIFELINES</a:t>
            </a:r>
          </a:p>
          <a:p>
            <a:pPr>
              <a:lnSpc>
                <a:spcPct val="200000"/>
              </a:lnSpc>
            </a:pPr>
            <a:r>
              <a:rPr lang="en-US" dirty="0" smtClean="0"/>
              <a:t>MESSAGES</a:t>
            </a:r>
          </a:p>
          <a:p>
            <a:pPr>
              <a:lnSpc>
                <a:spcPct val="200000"/>
              </a:lnSpc>
            </a:pPr>
            <a:r>
              <a:rPr lang="en-US" dirty="0" smtClean="0"/>
              <a:t>ACTIVATION-represents </a:t>
            </a:r>
            <a:r>
              <a:rPr lang="en-US" dirty="0"/>
              <a:t>time an object needs to complete task</a:t>
            </a:r>
          </a:p>
          <a:p>
            <a:pPr>
              <a:lnSpc>
                <a:spcPct val="200000"/>
              </a:lnSpc>
            </a:pPr>
            <a:endParaRPr lang="en-US" dirty="0" smtClean="0"/>
          </a:p>
          <a:p>
            <a:pPr>
              <a:lnSpc>
                <a:spcPct val="200000"/>
              </a:lnSpc>
            </a:pPr>
            <a:endParaRPr lang="en-US" dirty="0"/>
          </a:p>
          <a:p>
            <a:pPr>
              <a:lnSpc>
                <a:spcPct val="200000"/>
              </a:lnSpc>
            </a:pPr>
            <a:endParaRPr lang="en-US" dirty="0"/>
          </a:p>
          <a:p>
            <a:endParaRPr lang="en-US" dirty="0"/>
          </a:p>
        </p:txBody>
      </p:sp>
      <p:graphicFrame>
        <p:nvGraphicFramePr>
          <p:cNvPr id="4" name="Object 3"/>
          <p:cNvGraphicFramePr>
            <a:graphicFrameLocks noChangeAspect="1"/>
          </p:cNvGraphicFramePr>
          <p:nvPr>
            <p:extLst>
              <p:ext uri="{D42A27DB-BD31-4B8C-83A1-F6EECF244321}">
                <p14:modId xmlns:p14="http://schemas.microsoft.com/office/powerpoint/2010/main" val="4156684453"/>
              </p:ext>
            </p:extLst>
          </p:nvPr>
        </p:nvGraphicFramePr>
        <p:xfrm>
          <a:off x="2514600" y="1371600"/>
          <a:ext cx="6842125" cy="3773951"/>
        </p:xfrm>
        <a:graphic>
          <a:graphicData uri="http://schemas.openxmlformats.org/presentationml/2006/ole">
            <mc:AlternateContent xmlns:mc="http://schemas.openxmlformats.org/markup-compatibility/2006">
              <mc:Choice xmlns:v="urn:schemas-microsoft-com:vml" Requires="v">
                <p:oleObj spid="_x0000_s2231" r:id="rId3" imgW="3950208" imgH="2746248" progId="Visio.Drawing.6">
                  <p:embed/>
                </p:oleObj>
              </mc:Choice>
              <mc:Fallback>
                <p:oleObj r:id="rId3" imgW="3950208" imgH="2746248" progId="Visio.Drawing.6">
                  <p:embed/>
                  <p:pic>
                    <p:nvPicPr>
                      <p:cNvPr id="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4600" y="1371600"/>
                        <a:ext cx="6842125" cy="3773951"/>
                      </a:xfrm>
                      <a:prstGeom prst="rect">
                        <a:avLst/>
                      </a:prstGeom>
                      <a:noFill/>
                      <a:ln>
                        <a:noFill/>
                      </a:ln>
                    </p:spPr>
                  </p:pic>
                </p:oleObj>
              </mc:Fallback>
            </mc:AlternateContent>
          </a:graphicData>
        </a:graphic>
      </p:graphicFrame>
    </p:spTree>
    <p:extLst>
      <p:ext uri="{BB962C8B-B14F-4D97-AF65-F5344CB8AC3E}">
        <p14:creationId xmlns:p14="http://schemas.microsoft.com/office/powerpoint/2010/main" val="657823826"/>
      </p:ext>
    </p:extLst>
  </p:cSld>
  <p:clrMapOvr>
    <a:masterClrMapping/>
  </p:clrMapOvr>
  <p:timing>
    <p:tnLst>
      <p:par>
        <p:cTn id="1" dur="indefinite" restart="never" nodeType="tmRoot"/>
      </p:par>
    </p:tn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p:txBody>
          <a:bodyPr/>
          <a:lstStyle/>
          <a:p>
            <a:r>
              <a:rPr lang="en-US" b="1" dirty="0"/>
              <a:t>Class Roles or </a:t>
            </a:r>
            <a:r>
              <a:rPr lang="en-US" b="1" dirty="0" smtClean="0"/>
              <a:t>Participants or Objects</a:t>
            </a:r>
            <a:r>
              <a:rPr lang="en-US" dirty="0" smtClean="0"/>
              <a:t>: </a:t>
            </a:r>
            <a:r>
              <a:rPr lang="en-US" dirty="0"/>
              <a:t>Class roles describe the way an object will behave in context.</a:t>
            </a:r>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3200" y="3886200"/>
            <a:ext cx="3657600" cy="99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88977333"/>
      </p:ext>
    </p:extLst>
  </p:cSld>
  <p:clrMapOvr>
    <a:masterClrMapping/>
  </p:clrMapOvr>
  <p:timing>
    <p:tnLst>
      <p:par>
        <p:cTn id="1" dur="indefinite" restart="never" nodeType="tmRoot"/>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p:txBody>
          <a:bodyPr>
            <a:normAutofit lnSpcReduction="10000"/>
          </a:bodyPr>
          <a:lstStyle/>
          <a:p>
            <a:pPr algn="just"/>
            <a:r>
              <a:rPr lang="en-US" b="1" dirty="0"/>
              <a:t>Activation or Execution Occurrence</a:t>
            </a:r>
            <a:r>
              <a:rPr lang="en-US" dirty="0"/>
              <a:t/>
            </a:r>
            <a:br>
              <a:rPr lang="en-US" dirty="0"/>
            </a:br>
            <a:r>
              <a:rPr lang="en-US" dirty="0"/>
              <a:t>Activation boxes represent the time an object needs to complete a task. </a:t>
            </a:r>
            <a:endParaRPr lang="en-US" dirty="0" smtClean="0"/>
          </a:p>
          <a:p>
            <a:pPr algn="just"/>
            <a:endParaRPr lang="en-US" dirty="0" smtClean="0"/>
          </a:p>
          <a:p>
            <a:pPr algn="just"/>
            <a:r>
              <a:rPr lang="en-US" dirty="0" smtClean="0"/>
              <a:t>When </a:t>
            </a:r>
            <a:r>
              <a:rPr lang="en-US" dirty="0"/>
              <a:t>an object is busy executing a process or waiting for a reply message, use a thin gray rectangle placed vertically on its lifeline.</a:t>
            </a:r>
          </a:p>
        </p:txBody>
      </p:sp>
      <p:sp>
        <p:nvSpPr>
          <p:cNvPr id="4" name="Text Placeholder 3"/>
          <p:cNvSpPr>
            <a:spLocks noGrp="1"/>
          </p:cNvSpPr>
          <p:nvPr>
            <p:ph type="body" sz="half" idx="2"/>
          </p:nvPr>
        </p:nvSpPr>
        <p:spPr/>
        <p:txBody>
          <a:bodyPr/>
          <a:lstStyle/>
          <a:p>
            <a:endParaRPr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905000"/>
            <a:ext cx="289560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60699198"/>
      </p:ext>
    </p:extLst>
  </p:cSld>
  <p:clrMapOvr>
    <a:masterClrMapping/>
  </p:clrMapOvr>
  <p:timing>
    <p:tnLst>
      <p:par>
        <p:cTn id="1" dur="indefinite" restart="never" nodeType="tmRoot"/>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Elements of Sequence Diagram</a:t>
            </a:r>
            <a:endParaRPr lang="en-US" dirty="0"/>
          </a:p>
        </p:txBody>
      </p:sp>
      <p:sp>
        <p:nvSpPr>
          <p:cNvPr id="3" name="Content Placeholder 2"/>
          <p:cNvSpPr>
            <a:spLocks noGrp="1"/>
          </p:cNvSpPr>
          <p:nvPr>
            <p:ph idx="1"/>
          </p:nvPr>
        </p:nvSpPr>
        <p:spPr/>
        <p:txBody>
          <a:bodyPr/>
          <a:lstStyle/>
          <a:p>
            <a:r>
              <a:rPr lang="en-US" b="1" dirty="0" smtClean="0"/>
              <a:t>Synchronous Message</a:t>
            </a:r>
          </a:p>
          <a:p>
            <a:pPr algn="just"/>
            <a:r>
              <a:rPr lang="en-US" dirty="0" smtClean="0"/>
              <a:t>A </a:t>
            </a:r>
            <a:r>
              <a:rPr lang="en-US" dirty="0"/>
              <a:t>synchronous message requires a response before the interaction can continue. </a:t>
            </a:r>
            <a:endParaRPr lang="en-US" dirty="0" smtClean="0"/>
          </a:p>
          <a:p>
            <a:pPr algn="just"/>
            <a:r>
              <a:rPr lang="en-US" dirty="0" smtClean="0"/>
              <a:t>It's </a:t>
            </a:r>
            <a:r>
              <a:rPr lang="en-US" dirty="0"/>
              <a:t>usually drawn using a line with a solid arrowhead pointing from one object to another.</a:t>
            </a:r>
          </a:p>
          <a:p>
            <a:pPr algn="just"/>
            <a:endParaRPr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5029200"/>
            <a:ext cx="42672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3828859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p:txBody>
          <a:bodyPr/>
          <a:lstStyle/>
          <a:p>
            <a:r>
              <a:rPr lang="en-US" b="1" dirty="0"/>
              <a:t>Asynchronous Message</a:t>
            </a:r>
            <a:r>
              <a:rPr lang="en-US" dirty="0"/>
              <a:t/>
            </a:r>
            <a:br>
              <a:rPr lang="en-US" dirty="0"/>
            </a:br>
            <a:r>
              <a:rPr lang="en-US" dirty="0"/>
              <a:t>Asynchronous messages don't need a reply for interaction to continue. </a:t>
            </a:r>
            <a:endParaRPr lang="en-US" dirty="0" smtClean="0"/>
          </a:p>
          <a:p>
            <a:r>
              <a:rPr lang="en-US" dirty="0"/>
              <a:t>T</a:t>
            </a:r>
            <a:r>
              <a:rPr lang="en-US" dirty="0" smtClean="0"/>
              <a:t>hey </a:t>
            </a:r>
            <a:r>
              <a:rPr lang="en-US" dirty="0"/>
              <a:t>are drawn with an arrow connecting two lifelines; however, the arrowhead is usually open and there's no return message depicted.</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876800"/>
            <a:ext cx="4848225" cy="1600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1186956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a:xfrm>
            <a:off x="457200" y="1524000"/>
            <a:ext cx="8229600" cy="5029200"/>
          </a:xfrm>
        </p:spPr>
        <p:txBody>
          <a:bodyPr/>
          <a:lstStyle/>
          <a:p>
            <a:r>
              <a:rPr lang="en-US" b="1" dirty="0"/>
              <a:t>Reply or Return </a:t>
            </a:r>
            <a:r>
              <a:rPr lang="en-US" b="1" dirty="0" smtClean="0"/>
              <a:t>Message</a:t>
            </a:r>
          </a:p>
          <a:p>
            <a:pPr algn="just"/>
            <a:r>
              <a:rPr lang="en-US" dirty="0" smtClean="0"/>
              <a:t>A </a:t>
            </a:r>
            <a:r>
              <a:rPr lang="en-US" dirty="0"/>
              <a:t>reply message is drawn with a dotted line and an open arrowhead pointing back to the original lifeline.</a:t>
            </a: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000" y="4495800"/>
            <a:ext cx="4876799"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6672310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p:txBody>
          <a:bodyPr/>
          <a:lstStyle/>
          <a:p>
            <a:r>
              <a:rPr lang="en-US" b="1" dirty="0" smtClean="0"/>
              <a:t>Self Message</a:t>
            </a:r>
          </a:p>
          <a:p>
            <a:r>
              <a:rPr lang="en-US" dirty="0" smtClean="0"/>
              <a:t>A </a:t>
            </a:r>
            <a:r>
              <a:rPr lang="en-US" dirty="0"/>
              <a:t>message an object sends to itself, usually shown as a U shaped arrow pointing back to itself.</a:t>
            </a: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5600" y="4114800"/>
            <a:ext cx="3733800" cy="1981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3558920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Elements of Sequence Diagram</a:t>
            </a:r>
          </a:p>
        </p:txBody>
      </p:sp>
      <p:sp>
        <p:nvSpPr>
          <p:cNvPr id="3" name="Content Placeholder 2"/>
          <p:cNvSpPr>
            <a:spLocks noGrp="1"/>
          </p:cNvSpPr>
          <p:nvPr>
            <p:ph idx="1"/>
          </p:nvPr>
        </p:nvSpPr>
        <p:spPr>
          <a:xfrm>
            <a:off x="457200" y="1371600"/>
            <a:ext cx="8229600" cy="5410200"/>
          </a:xfrm>
        </p:spPr>
        <p:txBody>
          <a:bodyPr>
            <a:normAutofit/>
          </a:bodyPr>
          <a:lstStyle/>
          <a:p>
            <a:pPr algn="just"/>
            <a:r>
              <a:rPr lang="en-US" sz="2400" dirty="0"/>
              <a:t>Lost: A lost message occurs whet the sender of </a:t>
            </a:r>
            <a:r>
              <a:rPr lang="en-US" sz="2400" dirty="0" smtClean="0"/>
              <a:t>the message </a:t>
            </a:r>
            <a:r>
              <a:rPr lang="en-US" sz="2400" dirty="0"/>
              <a:t>is known but there is no reception of the message</a:t>
            </a:r>
            <a:r>
              <a:rPr lang="en-US" sz="2400" dirty="0" smtClean="0"/>
              <a:t>.</a:t>
            </a:r>
          </a:p>
          <a:p>
            <a:pPr algn="just"/>
            <a:endParaRPr lang="en-US" sz="2400" dirty="0"/>
          </a:p>
          <a:p>
            <a:pPr algn="just"/>
            <a:endParaRPr lang="en-US" sz="2400" dirty="0" smtClean="0"/>
          </a:p>
          <a:p>
            <a:pPr algn="just"/>
            <a:endParaRPr lang="en-US" sz="2400" dirty="0" smtClean="0"/>
          </a:p>
          <a:p>
            <a:pPr algn="just"/>
            <a:r>
              <a:rPr lang="en-US" sz="2400" dirty="0"/>
              <a:t>Found: A found message indicates that although </a:t>
            </a:r>
            <a:r>
              <a:rPr lang="en-US" sz="2400" dirty="0" smtClean="0"/>
              <a:t>the receiver </a:t>
            </a:r>
            <a:r>
              <a:rPr lang="en-US" sz="2400" dirty="0"/>
              <a:t>of the message is known in the current </a:t>
            </a:r>
            <a:r>
              <a:rPr lang="en-US" sz="2400" dirty="0" smtClean="0"/>
              <a:t>interaction fragment</a:t>
            </a:r>
            <a:r>
              <a:rPr lang="en-US" sz="2400" dirty="0"/>
              <a:t>, the sender of the message is unknown.</a:t>
            </a: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67000" y="2362200"/>
            <a:ext cx="3581400" cy="557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400" y="5334000"/>
            <a:ext cx="3733800" cy="68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200369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descr="http://www.brianlegros.com/blog/wp-content/uploads/2007/08/domains-example-1-sequenc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693" y="0"/>
            <a:ext cx="925705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100106"/>
      </p:ext>
    </p:extLst>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1"/>
          <p:cNvSpPr>
            <a:spLocks noGrp="1" noChangeArrowheads="1"/>
          </p:cNvSpPr>
          <p:nvPr>
            <p:ph type="title" idx="4294967295"/>
          </p:nvPr>
        </p:nvSpPr>
        <p:spPr>
          <a:xfrm>
            <a:off x="387350" y="0"/>
            <a:ext cx="8229600" cy="1171575"/>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3200" dirty="0"/>
              <a:t>Sequence diagrams: an example</a:t>
            </a:r>
          </a:p>
        </p:txBody>
      </p:sp>
      <p:pic>
        <p:nvPicPr>
          <p:cNvPr id="1638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625" y="1219201"/>
            <a:ext cx="10313648" cy="5638799"/>
          </a:xfrm>
          <a:prstGeom prst="rect">
            <a:avLst/>
          </a:prstGeom>
          <a:noFill/>
          <a:extLst>
            <a:ext uri="{909E8E84-426E-40DD-AFC4-6F175D3DCCD1}">
              <a14:hiddenFill xmlns:a14="http://schemas.microsoft.com/office/drawing/2010/main">
                <a:blipFill dpi="0" rotWithShape="0">
                  <a:blip/>
                  <a:srcRect/>
                  <a:stretch>
                    <a:fillRect/>
                  </a:stretch>
                </a:blipFill>
              </a14:hiddenFill>
            </a:ext>
          </a:extLst>
        </p:spPr>
      </p:pic>
      <p:grpSp>
        <p:nvGrpSpPr>
          <p:cNvPr id="16387" name="Group 3"/>
          <p:cNvGrpSpPr>
            <a:grpSpLocks/>
          </p:cNvGrpSpPr>
          <p:nvPr/>
        </p:nvGrpSpPr>
        <p:grpSpPr bwMode="auto">
          <a:xfrm>
            <a:off x="323850" y="4149725"/>
            <a:ext cx="863601" cy="381000"/>
            <a:chOff x="204" y="2614"/>
            <a:chExt cx="544" cy="240"/>
          </a:xfrm>
        </p:grpSpPr>
        <p:sp>
          <p:nvSpPr>
            <p:cNvPr id="16388" name="AutoShape 4"/>
            <p:cNvSpPr>
              <a:spLocks noChangeArrowheads="1"/>
            </p:cNvSpPr>
            <p:nvPr/>
          </p:nvSpPr>
          <p:spPr bwMode="auto">
            <a:xfrm>
              <a:off x="204" y="2614"/>
              <a:ext cx="544" cy="239"/>
            </a:xfrm>
            <a:prstGeom prst="roundRect">
              <a:avLst>
                <a:gd name="adj" fmla="val 417"/>
              </a:avLst>
            </a:prstGeom>
            <a:solidFill>
              <a:srgbClr val="CCFFCC"/>
            </a:solidFill>
            <a:ln w="12600">
              <a:solidFill>
                <a:srgbClr val="000000"/>
              </a:solidFill>
              <a:round/>
              <a:headEnd/>
              <a:tailEnd/>
            </a:ln>
          </p:spPr>
          <p:txBody>
            <a:bodyPr wrap="none" anchor="ctr"/>
            <a:lstStyle/>
            <a:p>
              <a:endParaRPr lang="en-US"/>
            </a:p>
          </p:txBody>
        </p:sp>
        <p:sp>
          <p:nvSpPr>
            <p:cNvPr id="16389" name="Text Box 5"/>
            <p:cNvSpPr txBox="1">
              <a:spLocks noChangeArrowheads="1"/>
            </p:cNvSpPr>
            <p:nvPr/>
          </p:nvSpPr>
          <p:spPr bwMode="auto">
            <a:xfrm>
              <a:off x="204" y="2614"/>
              <a:ext cx="544" cy="2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2000" dirty="0" smtClean="0"/>
                <a:t>Actor</a:t>
              </a:r>
              <a:endParaRPr lang="en-GB" sz="2000" dirty="0"/>
            </a:p>
          </p:txBody>
        </p:sp>
      </p:grpSp>
      <p:grpSp>
        <p:nvGrpSpPr>
          <p:cNvPr id="16390" name="Group 6"/>
          <p:cNvGrpSpPr>
            <a:grpSpLocks/>
          </p:cNvGrpSpPr>
          <p:nvPr/>
        </p:nvGrpSpPr>
        <p:grpSpPr bwMode="auto">
          <a:xfrm>
            <a:off x="4140202" y="5084759"/>
            <a:ext cx="1223963" cy="654049"/>
            <a:chOff x="2608" y="3203"/>
            <a:chExt cx="771" cy="412"/>
          </a:xfrm>
        </p:grpSpPr>
        <p:sp>
          <p:nvSpPr>
            <p:cNvPr id="16391" name="AutoShape 7"/>
            <p:cNvSpPr>
              <a:spLocks noChangeArrowheads="1"/>
            </p:cNvSpPr>
            <p:nvPr/>
          </p:nvSpPr>
          <p:spPr bwMode="auto">
            <a:xfrm>
              <a:off x="2608" y="3203"/>
              <a:ext cx="771" cy="412"/>
            </a:xfrm>
            <a:prstGeom prst="roundRect">
              <a:avLst>
                <a:gd name="adj" fmla="val 241"/>
              </a:avLst>
            </a:prstGeom>
            <a:solidFill>
              <a:srgbClr val="CCFFCC"/>
            </a:solidFill>
            <a:ln w="12600">
              <a:solidFill>
                <a:srgbClr val="000000"/>
              </a:solidFill>
              <a:round/>
              <a:headEnd/>
              <a:tailEnd/>
            </a:ln>
          </p:spPr>
          <p:txBody>
            <a:bodyPr wrap="none" anchor="ctr"/>
            <a:lstStyle/>
            <a:p>
              <a:endParaRPr lang="en-US"/>
            </a:p>
          </p:txBody>
        </p:sp>
        <p:sp>
          <p:nvSpPr>
            <p:cNvPr id="16392" name="Text Box 8"/>
            <p:cNvSpPr txBox="1">
              <a:spLocks noChangeArrowheads="1"/>
            </p:cNvSpPr>
            <p:nvPr/>
          </p:nvSpPr>
          <p:spPr bwMode="auto">
            <a:xfrm>
              <a:off x="2608" y="3203"/>
              <a:ext cx="771" cy="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1800" dirty="0"/>
                <a:t>Instances of classes</a:t>
              </a:r>
            </a:p>
          </p:txBody>
        </p:sp>
      </p:grpSp>
      <p:sp>
        <p:nvSpPr>
          <p:cNvPr id="16393" name="Line 9"/>
          <p:cNvSpPr>
            <a:spLocks noChangeShapeType="1"/>
          </p:cNvSpPr>
          <p:nvPr/>
        </p:nvSpPr>
        <p:spPr bwMode="auto">
          <a:xfrm flipH="1" flipV="1">
            <a:off x="3849688" y="2851150"/>
            <a:ext cx="652462" cy="2235200"/>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4" name="Line 10"/>
          <p:cNvSpPr>
            <a:spLocks noChangeShapeType="1"/>
          </p:cNvSpPr>
          <p:nvPr/>
        </p:nvSpPr>
        <p:spPr bwMode="auto">
          <a:xfrm flipV="1">
            <a:off x="4787900" y="2851150"/>
            <a:ext cx="504825" cy="2235200"/>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5" name="Line 11"/>
          <p:cNvSpPr>
            <a:spLocks noChangeShapeType="1"/>
          </p:cNvSpPr>
          <p:nvPr/>
        </p:nvSpPr>
        <p:spPr bwMode="auto">
          <a:xfrm flipV="1">
            <a:off x="4932363" y="2779713"/>
            <a:ext cx="2160587" cy="2306637"/>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6396" name="Line 12"/>
          <p:cNvSpPr>
            <a:spLocks noChangeShapeType="1"/>
          </p:cNvSpPr>
          <p:nvPr/>
        </p:nvSpPr>
        <p:spPr bwMode="auto">
          <a:xfrm flipV="1">
            <a:off x="539750" y="2701924"/>
            <a:ext cx="0" cy="1447801"/>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3856959626"/>
      </p:ext>
    </p:extLst>
  </p:cSld>
  <p:clrMapOvr>
    <a:masterClrMapping/>
  </p:clrMapOvr>
  <p:transition spd="med"/>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1"/>
          <p:cNvSpPr>
            <a:spLocks noGrp="1" noChangeArrowheads="1"/>
          </p:cNvSpPr>
          <p:nvPr>
            <p:ph type="title" idx="4294967295"/>
          </p:nvPr>
        </p:nvSpPr>
        <p:spPr>
          <a:xfrm>
            <a:off x="457200" y="457200"/>
            <a:ext cx="8229600" cy="884238"/>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a:t>Sequence Diagram: Lifelines</a:t>
            </a:r>
          </a:p>
        </p:txBody>
      </p:sp>
      <p:sp>
        <p:nvSpPr>
          <p:cNvPr id="17410" name="Oval 2"/>
          <p:cNvSpPr>
            <a:spLocks noChangeArrowheads="1"/>
          </p:cNvSpPr>
          <p:nvPr/>
        </p:nvSpPr>
        <p:spPr bwMode="auto">
          <a:xfrm>
            <a:off x="700088" y="1219200"/>
            <a:ext cx="190500" cy="192088"/>
          </a:xfrm>
          <a:prstGeom prst="ellipse">
            <a:avLst/>
          </a:pr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411" name="Line 3"/>
          <p:cNvSpPr>
            <a:spLocks noChangeShapeType="1"/>
          </p:cNvSpPr>
          <p:nvPr/>
        </p:nvSpPr>
        <p:spPr bwMode="auto">
          <a:xfrm>
            <a:off x="814388" y="1460500"/>
            <a:ext cx="1587" cy="168275"/>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12" name="Line 4"/>
          <p:cNvSpPr>
            <a:spLocks noChangeShapeType="1"/>
          </p:cNvSpPr>
          <p:nvPr/>
        </p:nvSpPr>
        <p:spPr bwMode="auto">
          <a:xfrm>
            <a:off x="679450" y="1504950"/>
            <a:ext cx="280988" cy="1588"/>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13" name="Freeform 5"/>
          <p:cNvSpPr>
            <a:spLocks noChangeArrowheads="1"/>
          </p:cNvSpPr>
          <p:nvPr/>
        </p:nvSpPr>
        <p:spPr bwMode="auto">
          <a:xfrm>
            <a:off x="623888" y="1628775"/>
            <a:ext cx="382587" cy="192088"/>
          </a:xfrm>
          <a:custGeom>
            <a:avLst/>
            <a:gdLst>
              <a:gd name="T0" fmla="*/ 0 w 1064"/>
              <a:gd name="T1" fmla="*/ 534 h 535"/>
              <a:gd name="T2" fmla="*/ 531 w 1064"/>
              <a:gd name="T3" fmla="*/ 0 h 535"/>
              <a:gd name="T4" fmla="*/ 1063 w 1064"/>
              <a:gd name="T5" fmla="*/ 534 h 535"/>
            </a:gdLst>
            <a:ahLst/>
            <a:cxnLst>
              <a:cxn ang="0">
                <a:pos x="T0" y="T1"/>
              </a:cxn>
              <a:cxn ang="0">
                <a:pos x="T2" y="T3"/>
              </a:cxn>
              <a:cxn ang="0">
                <a:pos x="T4" y="T5"/>
              </a:cxn>
            </a:cxnLst>
            <a:rect l="0" t="0" r="r" b="b"/>
            <a:pathLst>
              <a:path w="1064" h="535">
                <a:moveTo>
                  <a:pt x="0" y="534"/>
                </a:moveTo>
                <a:lnTo>
                  <a:pt x="531" y="0"/>
                </a:lnTo>
                <a:lnTo>
                  <a:pt x="1063" y="534"/>
                </a:lnTo>
              </a:path>
            </a:pathLst>
          </a:cu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7414" name="AutoShape 6"/>
          <p:cNvSpPr>
            <a:spLocks noChangeArrowheads="1"/>
          </p:cNvSpPr>
          <p:nvPr/>
        </p:nvSpPr>
        <p:spPr bwMode="auto">
          <a:xfrm>
            <a:off x="485775" y="1912938"/>
            <a:ext cx="666750" cy="320675"/>
          </a:xfrm>
          <a:prstGeom prst="roundRect">
            <a:avLst>
              <a:gd name="adj" fmla="val 49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0" tIns="0" rIns="0" bIns="0">
            <a:spAutoFit/>
          </a:bodyPr>
          <a:lstStyle/>
          <a:p>
            <a:pPr eaLnBrk="1" hangingPunct="1">
              <a:lnSpc>
                <a:spcPct val="93000"/>
              </a:lnSpc>
              <a:buClr>
                <a:srgbClr val="000000"/>
              </a:buClr>
              <a:buSzPct val="100000"/>
              <a:buFont typeface="Arial"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100" u="sng">
                <a:solidFill>
                  <a:srgbClr val="000000"/>
                </a:solidFill>
              </a:rPr>
              <a:t>:actor</a:t>
            </a:r>
          </a:p>
        </p:txBody>
      </p:sp>
      <p:grpSp>
        <p:nvGrpSpPr>
          <p:cNvPr id="17415" name="Group 7"/>
          <p:cNvGrpSpPr>
            <a:grpSpLocks/>
          </p:cNvGrpSpPr>
          <p:nvPr/>
        </p:nvGrpSpPr>
        <p:grpSpPr bwMode="auto">
          <a:xfrm>
            <a:off x="1871663" y="1628775"/>
            <a:ext cx="1922462" cy="663575"/>
            <a:chOff x="1179" y="1026"/>
            <a:chExt cx="1211" cy="418"/>
          </a:xfrm>
        </p:grpSpPr>
        <p:sp>
          <p:nvSpPr>
            <p:cNvPr id="17416" name="AutoShape 8"/>
            <p:cNvSpPr>
              <a:spLocks noChangeArrowheads="1"/>
            </p:cNvSpPr>
            <p:nvPr/>
          </p:nvSpPr>
          <p:spPr bwMode="auto">
            <a:xfrm>
              <a:off x="1179" y="1026"/>
              <a:ext cx="1212"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7417" name="Text Box 9"/>
            <p:cNvSpPr txBox="1">
              <a:spLocks noChangeArrowheads="1"/>
            </p:cNvSpPr>
            <p:nvPr/>
          </p:nvSpPr>
          <p:spPr bwMode="auto">
            <a:xfrm>
              <a:off x="1179" y="1026"/>
              <a:ext cx="1212"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:object1</a:t>
              </a:r>
            </a:p>
          </p:txBody>
        </p:sp>
      </p:grpSp>
      <p:grpSp>
        <p:nvGrpSpPr>
          <p:cNvPr id="17418" name="Group 10"/>
          <p:cNvGrpSpPr>
            <a:grpSpLocks/>
          </p:cNvGrpSpPr>
          <p:nvPr/>
        </p:nvGrpSpPr>
        <p:grpSpPr bwMode="auto">
          <a:xfrm>
            <a:off x="4211638" y="1628775"/>
            <a:ext cx="1955800" cy="663575"/>
            <a:chOff x="2653" y="1026"/>
            <a:chExt cx="1232" cy="418"/>
          </a:xfrm>
        </p:grpSpPr>
        <p:sp>
          <p:nvSpPr>
            <p:cNvPr id="17419" name="AutoShape 11"/>
            <p:cNvSpPr>
              <a:spLocks noChangeArrowheads="1"/>
            </p:cNvSpPr>
            <p:nvPr/>
          </p:nvSpPr>
          <p:spPr bwMode="auto">
            <a:xfrm>
              <a:off x="2653" y="1026"/>
              <a:ext cx="1233"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7420" name="Text Box 12"/>
            <p:cNvSpPr txBox="1">
              <a:spLocks noChangeArrowheads="1"/>
            </p:cNvSpPr>
            <p:nvPr/>
          </p:nvSpPr>
          <p:spPr bwMode="auto">
            <a:xfrm>
              <a:off x="2653" y="1026"/>
              <a:ext cx="1233"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:object2</a:t>
              </a:r>
            </a:p>
          </p:txBody>
        </p:sp>
      </p:grpSp>
      <p:sp>
        <p:nvSpPr>
          <p:cNvPr id="17421" name="Line 13"/>
          <p:cNvSpPr>
            <a:spLocks noChangeShapeType="1"/>
          </p:cNvSpPr>
          <p:nvPr/>
        </p:nvSpPr>
        <p:spPr bwMode="auto">
          <a:xfrm flipH="1">
            <a:off x="2841625" y="2293938"/>
            <a:ext cx="7938" cy="372745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7422" name="Line 14"/>
          <p:cNvSpPr>
            <a:spLocks noChangeShapeType="1"/>
          </p:cNvSpPr>
          <p:nvPr/>
        </p:nvSpPr>
        <p:spPr bwMode="auto">
          <a:xfrm>
            <a:off x="5133975" y="2293938"/>
            <a:ext cx="14288" cy="3798887"/>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7423" name="Line 15"/>
          <p:cNvSpPr>
            <a:spLocks noChangeShapeType="1"/>
          </p:cNvSpPr>
          <p:nvPr/>
        </p:nvSpPr>
        <p:spPr bwMode="auto">
          <a:xfrm flipH="1">
            <a:off x="7450138" y="2276475"/>
            <a:ext cx="39687" cy="3889375"/>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7424" name="Group 16"/>
          <p:cNvGrpSpPr>
            <a:grpSpLocks/>
          </p:cNvGrpSpPr>
          <p:nvPr/>
        </p:nvGrpSpPr>
        <p:grpSpPr bwMode="auto">
          <a:xfrm>
            <a:off x="3000375" y="4884738"/>
            <a:ext cx="5256213" cy="1217612"/>
            <a:chOff x="1890" y="3077"/>
            <a:chExt cx="3311" cy="767"/>
          </a:xfrm>
        </p:grpSpPr>
        <p:sp>
          <p:nvSpPr>
            <p:cNvPr id="17425" name="AutoShape 17"/>
            <p:cNvSpPr>
              <a:spLocks noChangeArrowheads="1"/>
            </p:cNvSpPr>
            <p:nvPr/>
          </p:nvSpPr>
          <p:spPr bwMode="auto">
            <a:xfrm>
              <a:off x="1890" y="3077"/>
              <a:ext cx="3312" cy="768"/>
            </a:xfrm>
            <a:prstGeom prst="roundRect">
              <a:avLst>
                <a:gd name="adj" fmla="val 130"/>
              </a:avLst>
            </a:prstGeom>
            <a:solidFill>
              <a:srgbClr val="CCFFCC"/>
            </a:solidFill>
            <a:ln w="9360">
              <a:solidFill>
                <a:srgbClr val="CCCCE6"/>
              </a:solidFill>
              <a:round/>
              <a:headEnd/>
              <a:tailEnd/>
            </a:ln>
          </p:spPr>
          <p:txBody>
            <a:bodyPr wrap="none" anchor="ctr"/>
            <a:lstStyle/>
            <a:p>
              <a:endParaRPr lang="en-US"/>
            </a:p>
          </p:txBody>
        </p:sp>
        <p:sp>
          <p:nvSpPr>
            <p:cNvPr id="17426" name="Text Box 18"/>
            <p:cNvSpPr txBox="1">
              <a:spLocks noChangeArrowheads="1"/>
            </p:cNvSpPr>
            <p:nvPr/>
          </p:nvSpPr>
          <p:spPr bwMode="auto">
            <a:xfrm>
              <a:off x="1890" y="3077"/>
              <a:ext cx="3312" cy="7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marL="341313" indent="-341313">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1pPr>
              <a:lvl2pPr>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2pPr>
              <a:lvl3pPr>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3pPr>
              <a:lvl4pPr>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4pPr>
              <a:lvl5pPr>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5pPr>
              <a:lvl6pPr eaLnBrk="0" fontAlgn="base" hangingPunct="0">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6pPr>
              <a:lvl7pPr eaLnBrk="0" fontAlgn="base" hangingPunct="0">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7pPr>
              <a:lvl8pPr eaLnBrk="0" fontAlgn="base" hangingPunct="0">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8pPr>
              <a:lvl9pPr eaLnBrk="0" fontAlgn="base" hangingPunct="0">
                <a:spcBef>
                  <a:spcPct val="0"/>
                </a:spcBef>
                <a:spcAft>
                  <a:spcPct val="0"/>
                </a:spcAft>
                <a:tabLst>
                  <a:tab pos="911225" algn="l"/>
                  <a:tab pos="1825625" algn="l"/>
                  <a:tab pos="2740025" algn="l"/>
                  <a:tab pos="3654425" algn="l"/>
                  <a:tab pos="4568825" algn="l"/>
                  <a:tab pos="5483225" algn="l"/>
                  <a:tab pos="6397625" algn="l"/>
                  <a:tab pos="7312025" algn="l"/>
                  <a:tab pos="8226425" algn="l"/>
                  <a:tab pos="9140825" algn="l"/>
                  <a:tab pos="10055225" algn="l"/>
                </a:tabLst>
                <a:defRPr sz="2400">
                  <a:solidFill>
                    <a:schemeClr val="tx1"/>
                  </a:solidFill>
                  <a:latin typeface="Times New Roman" pitchFamily="18" charset="0"/>
                </a:defRPr>
              </a:lvl9pPr>
            </a:lstStyle>
            <a:p>
              <a:pPr eaLnBrk="1" hangingPunct="1">
                <a:lnSpc>
                  <a:spcPct val="93000"/>
                </a:lnSpc>
                <a:spcBef>
                  <a:spcPts val="700"/>
                </a:spcBef>
                <a:buClr>
                  <a:srgbClr val="00007D"/>
                </a:buClr>
                <a:buSzPct val="75000"/>
                <a:buFont typeface="Wingdings" pitchFamily="2" charset="2"/>
                <a:buNone/>
              </a:pPr>
              <a:r>
                <a:rPr lang="en-GB" sz="2800"/>
                <a:t>Each object has a</a:t>
              </a:r>
              <a:r>
                <a:rPr lang="en-GB" sz="2800">
                  <a:solidFill>
                    <a:srgbClr val="666699"/>
                  </a:solidFill>
                </a:rPr>
                <a:t> lifeline</a:t>
              </a:r>
              <a:r>
                <a:rPr lang="en-GB" sz="2800"/>
                <a:t>. </a:t>
              </a:r>
            </a:p>
            <a:p>
              <a:pPr eaLnBrk="1" hangingPunct="1">
                <a:spcBef>
                  <a:spcPts val="700"/>
                </a:spcBef>
                <a:buClr>
                  <a:srgbClr val="00007D"/>
                </a:buClr>
                <a:buSzPct val="75000"/>
                <a:buFont typeface="Wingdings" pitchFamily="2" charset="2"/>
                <a:buNone/>
              </a:pPr>
              <a:r>
                <a:rPr lang="en-GB" sz="2800"/>
                <a:t>Time flows from top to down. </a:t>
              </a:r>
            </a:p>
          </p:txBody>
        </p:sp>
      </p:grpSp>
      <p:sp>
        <p:nvSpPr>
          <p:cNvPr id="17427" name="Line 19"/>
          <p:cNvSpPr>
            <a:spLocks noChangeShapeType="1"/>
          </p:cNvSpPr>
          <p:nvPr/>
        </p:nvSpPr>
        <p:spPr bwMode="auto">
          <a:xfrm>
            <a:off x="866775" y="2446338"/>
            <a:ext cx="33338" cy="3646487"/>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7428" name="Line 20"/>
          <p:cNvSpPr>
            <a:spLocks noChangeShapeType="1"/>
          </p:cNvSpPr>
          <p:nvPr/>
        </p:nvSpPr>
        <p:spPr bwMode="auto">
          <a:xfrm>
            <a:off x="1763713" y="2636838"/>
            <a:ext cx="1587" cy="3276600"/>
          </a:xfrm>
          <a:prstGeom prst="line">
            <a:avLst/>
          </a:prstGeom>
          <a:noFill/>
          <a:ln w="127080">
            <a:solidFill>
              <a:srgbClr val="666699"/>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7429" name="AutoShape 21"/>
          <p:cNvSpPr>
            <a:spLocks noChangeArrowheads="1"/>
          </p:cNvSpPr>
          <p:nvPr/>
        </p:nvSpPr>
        <p:spPr bwMode="auto">
          <a:xfrm rot="5400000">
            <a:off x="1543845" y="3793331"/>
            <a:ext cx="1287462" cy="701675"/>
          </a:xfrm>
          <a:prstGeom prst="roundRect">
            <a:avLst>
              <a:gd name="adj" fmla="val 222"/>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000" tIns="46800" rIns="90000" bIns="46800">
            <a:spAutoFit/>
          </a:bodyPr>
          <a:lstStyle/>
          <a:p>
            <a:pPr eaLnBrk="1" hangingPunct="1">
              <a:lnSpc>
                <a:spcPct val="93000"/>
              </a:lnSpc>
              <a:buClr>
                <a:srgbClr val="666699"/>
              </a:buClr>
              <a:buSzPct val="100000"/>
              <a:buFont typeface="Tahoma"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a:solidFill>
                  <a:srgbClr val="666699"/>
                </a:solidFill>
                <a:latin typeface="Tahoma" pitchFamily="34" charset="0"/>
              </a:rPr>
              <a:t>Time</a:t>
            </a:r>
          </a:p>
        </p:txBody>
      </p:sp>
      <p:grpSp>
        <p:nvGrpSpPr>
          <p:cNvPr id="17430" name="Group 22"/>
          <p:cNvGrpSpPr>
            <a:grpSpLocks/>
          </p:cNvGrpSpPr>
          <p:nvPr/>
        </p:nvGrpSpPr>
        <p:grpSpPr bwMode="auto">
          <a:xfrm>
            <a:off x="6596063" y="1611313"/>
            <a:ext cx="1798637" cy="663575"/>
            <a:chOff x="4155" y="1015"/>
            <a:chExt cx="1133" cy="418"/>
          </a:xfrm>
        </p:grpSpPr>
        <p:sp>
          <p:nvSpPr>
            <p:cNvPr id="17431" name="AutoShape 23"/>
            <p:cNvSpPr>
              <a:spLocks noChangeArrowheads="1"/>
            </p:cNvSpPr>
            <p:nvPr/>
          </p:nvSpPr>
          <p:spPr bwMode="auto">
            <a:xfrm>
              <a:off x="4155" y="1015"/>
              <a:ext cx="1134"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7432" name="Text Box 24"/>
            <p:cNvSpPr txBox="1">
              <a:spLocks noChangeArrowheads="1"/>
            </p:cNvSpPr>
            <p:nvPr/>
          </p:nvSpPr>
          <p:spPr bwMode="auto">
            <a:xfrm>
              <a:off x="4155" y="1015"/>
              <a:ext cx="1134"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:object3</a:t>
              </a:r>
            </a:p>
          </p:txBody>
        </p:sp>
      </p:grpSp>
      <p:sp>
        <p:nvSpPr>
          <p:cNvPr id="17433" name="Line 25"/>
          <p:cNvSpPr>
            <a:spLocks noChangeShapeType="1"/>
          </p:cNvSpPr>
          <p:nvPr/>
        </p:nvSpPr>
        <p:spPr bwMode="auto">
          <a:xfrm flipH="1" flipV="1">
            <a:off x="2914650" y="3787775"/>
            <a:ext cx="1154113" cy="1084263"/>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410149562"/>
      </p:ext>
    </p:extLst>
  </p:cSld>
  <p:clrMapOvr>
    <a:masterClrMapping/>
  </p:clrMapOvr>
  <p:transition spd="med"/>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Line 1"/>
          <p:cNvSpPr>
            <a:spLocks noChangeShapeType="1"/>
          </p:cNvSpPr>
          <p:nvPr/>
        </p:nvSpPr>
        <p:spPr bwMode="auto">
          <a:xfrm>
            <a:off x="801688" y="1460500"/>
            <a:ext cx="1587" cy="168275"/>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34" name="Line 2"/>
          <p:cNvSpPr>
            <a:spLocks noChangeShapeType="1"/>
          </p:cNvSpPr>
          <p:nvPr/>
        </p:nvSpPr>
        <p:spPr bwMode="auto">
          <a:xfrm>
            <a:off x="666750" y="1504950"/>
            <a:ext cx="280988" cy="1588"/>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35" name="AutoShape 3"/>
          <p:cNvSpPr>
            <a:spLocks noChangeArrowheads="1"/>
          </p:cNvSpPr>
          <p:nvPr/>
        </p:nvSpPr>
        <p:spPr bwMode="auto">
          <a:xfrm>
            <a:off x="449263" y="1841500"/>
            <a:ext cx="666750" cy="320675"/>
          </a:xfrm>
          <a:prstGeom prst="roundRect">
            <a:avLst>
              <a:gd name="adj" fmla="val 49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0" tIns="0" rIns="0" bIns="0">
            <a:spAutoFit/>
          </a:bodyPr>
          <a:lstStyle/>
          <a:p>
            <a:pPr eaLnBrk="1" hangingPunct="1">
              <a:lnSpc>
                <a:spcPct val="93000"/>
              </a:lnSpc>
              <a:buClr>
                <a:srgbClr val="000000"/>
              </a:buClr>
              <a:buSzPct val="100000"/>
              <a:buFont typeface="Arial"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100" u="sng">
                <a:solidFill>
                  <a:srgbClr val="000000"/>
                </a:solidFill>
              </a:rPr>
              <a:t>:actor</a:t>
            </a:r>
          </a:p>
        </p:txBody>
      </p:sp>
      <p:grpSp>
        <p:nvGrpSpPr>
          <p:cNvPr id="18436" name="Group 4"/>
          <p:cNvGrpSpPr>
            <a:grpSpLocks/>
          </p:cNvGrpSpPr>
          <p:nvPr/>
        </p:nvGrpSpPr>
        <p:grpSpPr bwMode="auto">
          <a:xfrm>
            <a:off x="1835150" y="1557338"/>
            <a:ext cx="1922463" cy="663575"/>
            <a:chOff x="1156" y="981"/>
            <a:chExt cx="1211" cy="418"/>
          </a:xfrm>
        </p:grpSpPr>
        <p:sp>
          <p:nvSpPr>
            <p:cNvPr id="18437" name="AutoShape 5"/>
            <p:cNvSpPr>
              <a:spLocks noChangeArrowheads="1"/>
            </p:cNvSpPr>
            <p:nvPr/>
          </p:nvSpPr>
          <p:spPr bwMode="auto">
            <a:xfrm>
              <a:off x="1156" y="981"/>
              <a:ext cx="1212"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8438" name="Text Box 6"/>
            <p:cNvSpPr txBox="1">
              <a:spLocks noChangeArrowheads="1"/>
            </p:cNvSpPr>
            <p:nvPr/>
          </p:nvSpPr>
          <p:spPr bwMode="auto">
            <a:xfrm>
              <a:off x="1156" y="981"/>
              <a:ext cx="1212"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:object1</a:t>
              </a:r>
            </a:p>
          </p:txBody>
        </p:sp>
      </p:grpSp>
      <p:grpSp>
        <p:nvGrpSpPr>
          <p:cNvPr id="18439" name="Group 7"/>
          <p:cNvGrpSpPr>
            <a:grpSpLocks/>
          </p:cNvGrpSpPr>
          <p:nvPr/>
        </p:nvGrpSpPr>
        <p:grpSpPr bwMode="auto">
          <a:xfrm>
            <a:off x="4175125" y="1557338"/>
            <a:ext cx="1955800" cy="663575"/>
            <a:chOff x="2630" y="981"/>
            <a:chExt cx="1232" cy="418"/>
          </a:xfrm>
        </p:grpSpPr>
        <p:sp>
          <p:nvSpPr>
            <p:cNvPr id="18440" name="AutoShape 8"/>
            <p:cNvSpPr>
              <a:spLocks noChangeArrowheads="1"/>
            </p:cNvSpPr>
            <p:nvPr/>
          </p:nvSpPr>
          <p:spPr bwMode="auto">
            <a:xfrm>
              <a:off x="2630" y="981"/>
              <a:ext cx="1233"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8441" name="Text Box 9"/>
            <p:cNvSpPr txBox="1">
              <a:spLocks noChangeArrowheads="1"/>
            </p:cNvSpPr>
            <p:nvPr/>
          </p:nvSpPr>
          <p:spPr bwMode="auto">
            <a:xfrm>
              <a:off x="2630" y="981"/>
              <a:ext cx="1233"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:object2</a:t>
              </a:r>
            </a:p>
          </p:txBody>
        </p:sp>
      </p:grpSp>
      <p:sp>
        <p:nvSpPr>
          <p:cNvPr id="18442" name="Line 10"/>
          <p:cNvSpPr>
            <a:spLocks noChangeShapeType="1"/>
          </p:cNvSpPr>
          <p:nvPr/>
        </p:nvSpPr>
        <p:spPr bwMode="auto">
          <a:xfrm>
            <a:off x="2811463" y="2222500"/>
            <a:ext cx="1587"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8443" name="Line 11"/>
          <p:cNvSpPr>
            <a:spLocks noChangeShapeType="1"/>
          </p:cNvSpPr>
          <p:nvPr/>
        </p:nvSpPr>
        <p:spPr bwMode="auto">
          <a:xfrm>
            <a:off x="5097463" y="2222500"/>
            <a:ext cx="1587"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8444" name="Line 12"/>
          <p:cNvSpPr>
            <a:spLocks noChangeShapeType="1"/>
          </p:cNvSpPr>
          <p:nvPr/>
        </p:nvSpPr>
        <p:spPr bwMode="auto">
          <a:xfrm>
            <a:off x="7451725" y="2205038"/>
            <a:ext cx="1588"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8445" name="Rectangle 13"/>
          <p:cNvSpPr>
            <a:spLocks noGrp="1" noChangeArrowheads="1"/>
          </p:cNvSpPr>
          <p:nvPr>
            <p:ph type="body" idx="4294967295"/>
          </p:nvPr>
        </p:nvSpPr>
        <p:spPr>
          <a:xfrm>
            <a:off x="2627313" y="4797425"/>
            <a:ext cx="5848350" cy="1079500"/>
          </a:xfrm>
          <a:solidFill>
            <a:srgbClr val="CCFFCC"/>
          </a:solidFill>
          <a:ln w="9360">
            <a:solidFill>
              <a:srgbClr val="CCCCE6"/>
            </a:solidFill>
            <a:miter lim="800000"/>
            <a:headEnd/>
            <a:tailEnd/>
          </a:ln>
        </p:spPr>
        <p:txBody>
          <a:bodyPr/>
          <a:lstStyle/>
          <a:p>
            <a:pPr>
              <a:lnSpc>
                <a:spcPct val="93000"/>
              </a:lnSpc>
              <a:buFont typeface="Wingdings" pitchFamily="2" charset="2"/>
              <a:buNone/>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t>Rectangles refer to events that are related to each other.</a:t>
            </a:r>
          </a:p>
        </p:txBody>
      </p:sp>
      <p:sp>
        <p:nvSpPr>
          <p:cNvPr id="18446" name="Line 14"/>
          <p:cNvSpPr>
            <a:spLocks noChangeShapeType="1"/>
          </p:cNvSpPr>
          <p:nvPr/>
        </p:nvSpPr>
        <p:spPr bwMode="auto">
          <a:xfrm flipH="1">
            <a:off x="825500" y="2374900"/>
            <a:ext cx="6350" cy="3862388"/>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8447" name="Line 15"/>
          <p:cNvSpPr>
            <a:spLocks noChangeShapeType="1"/>
          </p:cNvSpPr>
          <p:nvPr/>
        </p:nvSpPr>
        <p:spPr bwMode="auto">
          <a:xfrm>
            <a:off x="1744663" y="2908300"/>
            <a:ext cx="1587" cy="3276600"/>
          </a:xfrm>
          <a:prstGeom prst="line">
            <a:avLst/>
          </a:prstGeom>
          <a:noFill/>
          <a:ln w="127080">
            <a:solidFill>
              <a:srgbClr val="666699"/>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48" name="AutoShape 16"/>
          <p:cNvSpPr>
            <a:spLocks noChangeArrowheads="1"/>
          </p:cNvSpPr>
          <p:nvPr/>
        </p:nvSpPr>
        <p:spPr bwMode="auto">
          <a:xfrm rot="5400000">
            <a:off x="1529556" y="3886994"/>
            <a:ext cx="1287463" cy="701675"/>
          </a:xfrm>
          <a:prstGeom prst="roundRect">
            <a:avLst>
              <a:gd name="adj" fmla="val 222"/>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000" tIns="46800" rIns="90000" bIns="46800">
            <a:spAutoFit/>
          </a:bodyPr>
          <a:lstStyle/>
          <a:p>
            <a:pPr eaLnBrk="1" hangingPunct="1">
              <a:lnSpc>
                <a:spcPct val="93000"/>
              </a:lnSpc>
              <a:buClr>
                <a:srgbClr val="666699"/>
              </a:buClr>
              <a:buSzPct val="100000"/>
              <a:buFont typeface="Tahoma"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a:solidFill>
                  <a:srgbClr val="666699"/>
                </a:solidFill>
                <a:latin typeface="Tahoma" pitchFamily="34" charset="0"/>
              </a:rPr>
              <a:t>Time</a:t>
            </a:r>
          </a:p>
        </p:txBody>
      </p:sp>
      <p:sp>
        <p:nvSpPr>
          <p:cNvPr id="18449" name="AutoShape 17"/>
          <p:cNvSpPr>
            <a:spLocks noChangeArrowheads="1"/>
          </p:cNvSpPr>
          <p:nvPr/>
        </p:nvSpPr>
        <p:spPr bwMode="auto">
          <a:xfrm>
            <a:off x="5021263" y="2679700"/>
            <a:ext cx="152400" cy="16764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8450" name="AutoShape 18"/>
          <p:cNvSpPr>
            <a:spLocks noChangeArrowheads="1"/>
          </p:cNvSpPr>
          <p:nvPr/>
        </p:nvSpPr>
        <p:spPr bwMode="auto">
          <a:xfrm>
            <a:off x="2735263" y="2679700"/>
            <a:ext cx="152400" cy="17526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8451" name="AutoShape 19"/>
          <p:cNvSpPr>
            <a:spLocks noChangeArrowheads="1"/>
          </p:cNvSpPr>
          <p:nvPr/>
        </p:nvSpPr>
        <p:spPr bwMode="auto">
          <a:xfrm>
            <a:off x="7380288" y="2852738"/>
            <a:ext cx="152400" cy="13716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8452" name="AutoShape 20"/>
          <p:cNvSpPr>
            <a:spLocks noChangeArrowheads="1"/>
          </p:cNvSpPr>
          <p:nvPr/>
        </p:nvSpPr>
        <p:spPr bwMode="auto">
          <a:xfrm>
            <a:off x="754063" y="2755900"/>
            <a:ext cx="152400" cy="19812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grpSp>
        <p:nvGrpSpPr>
          <p:cNvPr id="18453" name="Group 21"/>
          <p:cNvGrpSpPr>
            <a:grpSpLocks/>
          </p:cNvGrpSpPr>
          <p:nvPr/>
        </p:nvGrpSpPr>
        <p:grpSpPr bwMode="auto">
          <a:xfrm>
            <a:off x="6492875" y="1577975"/>
            <a:ext cx="1870075" cy="663575"/>
            <a:chOff x="4090" y="994"/>
            <a:chExt cx="1178" cy="418"/>
          </a:xfrm>
        </p:grpSpPr>
        <p:sp>
          <p:nvSpPr>
            <p:cNvPr id="18454" name="AutoShape 22"/>
            <p:cNvSpPr>
              <a:spLocks noChangeArrowheads="1"/>
            </p:cNvSpPr>
            <p:nvPr/>
          </p:nvSpPr>
          <p:spPr bwMode="auto">
            <a:xfrm>
              <a:off x="4090" y="994"/>
              <a:ext cx="1179"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8455" name="Text Box 23"/>
            <p:cNvSpPr txBox="1">
              <a:spLocks noChangeArrowheads="1"/>
            </p:cNvSpPr>
            <p:nvPr/>
          </p:nvSpPr>
          <p:spPr bwMode="auto">
            <a:xfrm>
              <a:off x="4090" y="994"/>
              <a:ext cx="1179"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:object3</a:t>
              </a:r>
            </a:p>
          </p:txBody>
        </p:sp>
      </p:grpSp>
      <p:sp>
        <p:nvSpPr>
          <p:cNvPr id="18456" name="Freeform 24"/>
          <p:cNvSpPr>
            <a:spLocks noChangeArrowheads="1"/>
          </p:cNvSpPr>
          <p:nvPr/>
        </p:nvSpPr>
        <p:spPr bwMode="auto">
          <a:xfrm>
            <a:off x="611188" y="1628775"/>
            <a:ext cx="382587" cy="192088"/>
          </a:xfrm>
          <a:custGeom>
            <a:avLst/>
            <a:gdLst>
              <a:gd name="T0" fmla="*/ 0 w 1064"/>
              <a:gd name="T1" fmla="*/ 534 h 535"/>
              <a:gd name="T2" fmla="*/ 531 w 1064"/>
              <a:gd name="T3" fmla="*/ 0 h 535"/>
              <a:gd name="T4" fmla="*/ 1063 w 1064"/>
              <a:gd name="T5" fmla="*/ 534 h 535"/>
            </a:gdLst>
            <a:ahLst/>
            <a:cxnLst>
              <a:cxn ang="0">
                <a:pos x="T0" y="T1"/>
              </a:cxn>
              <a:cxn ang="0">
                <a:pos x="T2" y="T3"/>
              </a:cxn>
              <a:cxn ang="0">
                <a:pos x="T4" y="T5"/>
              </a:cxn>
            </a:cxnLst>
            <a:rect l="0" t="0" r="r" b="b"/>
            <a:pathLst>
              <a:path w="1064" h="535">
                <a:moveTo>
                  <a:pt x="0" y="534"/>
                </a:moveTo>
                <a:lnTo>
                  <a:pt x="531" y="0"/>
                </a:lnTo>
                <a:lnTo>
                  <a:pt x="1063" y="534"/>
                </a:lnTo>
              </a:path>
            </a:pathLst>
          </a:cu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8457" name="Oval 25"/>
          <p:cNvSpPr>
            <a:spLocks noChangeArrowheads="1"/>
          </p:cNvSpPr>
          <p:nvPr/>
        </p:nvSpPr>
        <p:spPr bwMode="auto">
          <a:xfrm>
            <a:off x="708025" y="1196975"/>
            <a:ext cx="190500" cy="192088"/>
          </a:xfrm>
          <a:prstGeom prst="ellipse">
            <a:avLst/>
          </a:pr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458" name="Rectangle 26"/>
          <p:cNvSpPr>
            <a:spLocks noGrp="1" noChangeArrowheads="1"/>
          </p:cNvSpPr>
          <p:nvPr>
            <p:ph type="title" idx="4294967295"/>
          </p:nvPr>
        </p:nvSpPr>
        <p:spPr>
          <a:xfrm>
            <a:off x="457200" y="457200"/>
            <a:ext cx="8229600" cy="811213"/>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a:t>Sequence diagrams: rectangles</a:t>
            </a:r>
          </a:p>
        </p:txBody>
      </p:sp>
      <p:sp>
        <p:nvSpPr>
          <p:cNvPr id="18459" name="Line 27"/>
          <p:cNvSpPr>
            <a:spLocks noChangeShapeType="1"/>
          </p:cNvSpPr>
          <p:nvPr/>
        </p:nvSpPr>
        <p:spPr bwMode="auto">
          <a:xfrm flipH="1" flipV="1">
            <a:off x="2914650" y="3714750"/>
            <a:ext cx="1154113" cy="1084263"/>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60" name="Line 28"/>
          <p:cNvSpPr>
            <a:spLocks noChangeShapeType="1"/>
          </p:cNvSpPr>
          <p:nvPr/>
        </p:nvSpPr>
        <p:spPr bwMode="auto">
          <a:xfrm flipV="1">
            <a:off x="4786313" y="4003675"/>
            <a:ext cx="217487" cy="795338"/>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8461" name="Line 29"/>
          <p:cNvSpPr>
            <a:spLocks noChangeShapeType="1"/>
          </p:cNvSpPr>
          <p:nvPr/>
        </p:nvSpPr>
        <p:spPr bwMode="auto">
          <a:xfrm flipV="1">
            <a:off x="6586538" y="3714750"/>
            <a:ext cx="722312" cy="1084263"/>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3348973512"/>
      </p:ext>
    </p:extLst>
  </p:cSld>
  <p:clrMapOvr>
    <a:masterClrMapping/>
  </p:clrMapOvr>
  <p:transition spd="med"/>
  <p:timing>
    <p:tnLst>
      <p:par>
        <p:cTn id="1" dur="indefinite" restart="never" nodeType="tmRoot"/>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1"/>
          <p:cNvSpPr>
            <a:spLocks noGrp="1" noChangeArrowheads="1"/>
          </p:cNvSpPr>
          <p:nvPr>
            <p:ph type="title" idx="4294967295"/>
          </p:nvPr>
        </p:nvSpPr>
        <p:spPr>
          <a:xfrm>
            <a:off x="457200" y="457200"/>
            <a:ext cx="8229600" cy="1027113"/>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a:t>Sequence diagrams: messages</a:t>
            </a:r>
          </a:p>
        </p:txBody>
      </p:sp>
      <p:grpSp>
        <p:nvGrpSpPr>
          <p:cNvPr id="19458" name="Group 2"/>
          <p:cNvGrpSpPr>
            <a:grpSpLocks/>
          </p:cNvGrpSpPr>
          <p:nvPr/>
        </p:nvGrpSpPr>
        <p:grpSpPr bwMode="auto">
          <a:xfrm>
            <a:off x="6870700" y="1700213"/>
            <a:ext cx="2068513" cy="663575"/>
            <a:chOff x="4328" y="1071"/>
            <a:chExt cx="1303" cy="418"/>
          </a:xfrm>
        </p:grpSpPr>
        <p:sp>
          <p:nvSpPr>
            <p:cNvPr id="19459" name="AutoShape 3"/>
            <p:cNvSpPr>
              <a:spLocks noChangeArrowheads="1"/>
            </p:cNvSpPr>
            <p:nvPr/>
          </p:nvSpPr>
          <p:spPr bwMode="auto">
            <a:xfrm>
              <a:off x="4328" y="1071"/>
              <a:ext cx="1304"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9460" name="Text Box 4"/>
            <p:cNvSpPr txBox="1">
              <a:spLocks noChangeArrowheads="1"/>
            </p:cNvSpPr>
            <p:nvPr/>
          </p:nvSpPr>
          <p:spPr bwMode="auto">
            <a:xfrm>
              <a:off x="4328" y="1071"/>
              <a:ext cx="1304"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:object3</a:t>
              </a:r>
            </a:p>
          </p:txBody>
        </p:sp>
      </p:grpSp>
      <p:sp>
        <p:nvSpPr>
          <p:cNvPr id="19461" name="Oval 5"/>
          <p:cNvSpPr>
            <a:spLocks noChangeArrowheads="1"/>
          </p:cNvSpPr>
          <p:nvPr/>
        </p:nvSpPr>
        <p:spPr bwMode="auto">
          <a:xfrm>
            <a:off x="628650" y="1362075"/>
            <a:ext cx="190500" cy="192088"/>
          </a:xfrm>
          <a:prstGeom prst="ellipse">
            <a:avLst/>
          </a:pr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462" name="Line 6"/>
          <p:cNvSpPr>
            <a:spLocks noChangeShapeType="1"/>
          </p:cNvSpPr>
          <p:nvPr/>
        </p:nvSpPr>
        <p:spPr bwMode="auto">
          <a:xfrm>
            <a:off x="706438" y="1531938"/>
            <a:ext cx="1587" cy="168275"/>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463" name="Line 7"/>
          <p:cNvSpPr>
            <a:spLocks noChangeShapeType="1"/>
          </p:cNvSpPr>
          <p:nvPr/>
        </p:nvSpPr>
        <p:spPr bwMode="auto">
          <a:xfrm>
            <a:off x="571500" y="1576388"/>
            <a:ext cx="280988" cy="1587"/>
          </a:xfrm>
          <a:prstGeom prst="line">
            <a:avLst/>
          </a:prstGeom>
          <a:noFill/>
          <a:ln w="9525">
            <a:solidFill>
              <a:srgbClr val="990033"/>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464" name="Freeform 8"/>
          <p:cNvSpPr>
            <a:spLocks noChangeArrowheads="1"/>
          </p:cNvSpPr>
          <p:nvPr/>
        </p:nvSpPr>
        <p:spPr bwMode="auto">
          <a:xfrm>
            <a:off x="515938" y="1700213"/>
            <a:ext cx="382587" cy="192087"/>
          </a:xfrm>
          <a:custGeom>
            <a:avLst/>
            <a:gdLst>
              <a:gd name="T0" fmla="*/ 0 w 1064"/>
              <a:gd name="T1" fmla="*/ 533 h 534"/>
              <a:gd name="T2" fmla="*/ 531 w 1064"/>
              <a:gd name="T3" fmla="*/ 0 h 534"/>
              <a:gd name="T4" fmla="*/ 1063 w 1064"/>
              <a:gd name="T5" fmla="*/ 533 h 534"/>
            </a:gdLst>
            <a:ahLst/>
            <a:cxnLst>
              <a:cxn ang="0">
                <a:pos x="T0" y="T1"/>
              </a:cxn>
              <a:cxn ang="0">
                <a:pos x="T2" y="T3"/>
              </a:cxn>
              <a:cxn ang="0">
                <a:pos x="T4" y="T5"/>
              </a:cxn>
            </a:cxnLst>
            <a:rect l="0" t="0" r="r" b="b"/>
            <a:pathLst>
              <a:path w="1064" h="534">
                <a:moveTo>
                  <a:pt x="0" y="533"/>
                </a:moveTo>
                <a:lnTo>
                  <a:pt x="531" y="0"/>
                </a:lnTo>
                <a:lnTo>
                  <a:pt x="1063" y="533"/>
                </a:lnTo>
              </a:path>
            </a:pathLst>
          </a:custGeom>
          <a:noFill/>
          <a:ln w="9525">
            <a:solidFill>
              <a:srgbClr val="990033"/>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9465" name="AutoShape 9"/>
          <p:cNvSpPr>
            <a:spLocks noChangeArrowheads="1"/>
          </p:cNvSpPr>
          <p:nvPr/>
        </p:nvSpPr>
        <p:spPr bwMode="auto">
          <a:xfrm>
            <a:off x="377825" y="1984375"/>
            <a:ext cx="666750" cy="320675"/>
          </a:xfrm>
          <a:prstGeom prst="roundRect">
            <a:avLst>
              <a:gd name="adj" fmla="val 491"/>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0" tIns="0" rIns="0" bIns="0">
            <a:spAutoFit/>
          </a:bodyPr>
          <a:lstStyle/>
          <a:p>
            <a:pPr eaLnBrk="1" hangingPunct="1">
              <a:lnSpc>
                <a:spcPct val="93000"/>
              </a:lnSpc>
              <a:buClr>
                <a:srgbClr val="000000"/>
              </a:buClr>
              <a:buSzPct val="100000"/>
              <a:buFont typeface="Arial"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100" u="sng">
                <a:solidFill>
                  <a:srgbClr val="000000"/>
                </a:solidFill>
              </a:rPr>
              <a:t>:actor</a:t>
            </a:r>
          </a:p>
        </p:txBody>
      </p:sp>
      <p:grpSp>
        <p:nvGrpSpPr>
          <p:cNvPr id="19466" name="Group 10"/>
          <p:cNvGrpSpPr>
            <a:grpSpLocks/>
          </p:cNvGrpSpPr>
          <p:nvPr/>
        </p:nvGrpSpPr>
        <p:grpSpPr bwMode="auto">
          <a:xfrm>
            <a:off x="1763713" y="1700213"/>
            <a:ext cx="1922462" cy="663575"/>
            <a:chOff x="1111" y="1071"/>
            <a:chExt cx="1211" cy="418"/>
          </a:xfrm>
        </p:grpSpPr>
        <p:sp>
          <p:nvSpPr>
            <p:cNvPr id="19467" name="AutoShape 11"/>
            <p:cNvSpPr>
              <a:spLocks noChangeArrowheads="1"/>
            </p:cNvSpPr>
            <p:nvPr/>
          </p:nvSpPr>
          <p:spPr bwMode="auto">
            <a:xfrm>
              <a:off x="1111" y="1071"/>
              <a:ext cx="1212"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9468" name="Text Box 12"/>
            <p:cNvSpPr txBox="1">
              <a:spLocks noChangeArrowheads="1"/>
            </p:cNvSpPr>
            <p:nvPr/>
          </p:nvSpPr>
          <p:spPr bwMode="auto">
            <a:xfrm>
              <a:off x="1111" y="1071"/>
              <a:ext cx="1212"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:object1</a:t>
              </a:r>
            </a:p>
          </p:txBody>
        </p:sp>
      </p:grpSp>
      <p:grpSp>
        <p:nvGrpSpPr>
          <p:cNvPr id="19469" name="Group 13"/>
          <p:cNvGrpSpPr>
            <a:grpSpLocks/>
          </p:cNvGrpSpPr>
          <p:nvPr/>
        </p:nvGrpSpPr>
        <p:grpSpPr bwMode="auto">
          <a:xfrm>
            <a:off x="4103688" y="1700213"/>
            <a:ext cx="1955800" cy="663575"/>
            <a:chOff x="2585" y="1071"/>
            <a:chExt cx="1232" cy="418"/>
          </a:xfrm>
        </p:grpSpPr>
        <p:sp>
          <p:nvSpPr>
            <p:cNvPr id="19470" name="AutoShape 14"/>
            <p:cNvSpPr>
              <a:spLocks noChangeArrowheads="1"/>
            </p:cNvSpPr>
            <p:nvPr/>
          </p:nvSpPr>
          <p:spPr bwMode="auto">
            <a:xfrm>
              <a:off x="2585" y="1071"/>
              <a:ext cx="1233" cy="419"/>
            </a:xfrm>
            <a:prstGeom prst="roundRect">
              <a:avLst>
                <a:gd name="adj" fmla="val 236"/>
              </a:avLst>
            </a:prstGeom>
            <a:solidFill>
              <a:srgbClr val="FFFFCC"/>
            </a:solidFill>
            <a:ln w="9525">
              <a:solidFill>
                <a:srgbClr val="CCCCE6"/>
              </a:solidFill>
              <a:round/>
              <a:headEnd/>
              <a:tailEnd/>
            </a:ln>
          </p:spPr>
          <p:txBody>
            <a:bodyPr wrap="none" anchor="ctr"/>
            <a:lstStyle/>
            <a:p>
              <a:endParaRPr lang="en-US"/>
            </a:p>
          </p:txBody>
        </p:sp>
        <p:sp>
          <p:nvSpPr>
            <p:cNvPr id="19471" name="Text Box 15"/>
            <p:cNvSpPr txBox="1">
              <a:spLocks noChangeArrowheads="1"/>
            </p:cNvSpPr>
            <p:nvPr/>
          </p:nvSpPr>
          <p:spPr bwMode="auto">
            <a:xfrm>
              <a:off x="2585" y="1071"/>
              <a:ext cx="1233" cy="4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buClr>
                  <a:srgbClr val="000000"/>
                </a:buClr>
                <a:buSzPct val="100000"/>
                <a:buFont typeface="Tahoma" pitchFamily="34" charset="0"/>
                <a:buNone/>
              </a:pPr>
              <a:r>
                <a:rPr lang="en-GB" sz="3200" u="sng">
                  <a:latin typeface="Tahoma" pitchFamily="34" charset="0"/>
                </a:rPr>
                <a:t>:object2</a:t>
              </a:r>
            </a:p>
          </p:txBody>
        </p:sp>
      </p:grpSp>
      <p:sp>
        <p:nvSpPr>
          <p:cNvPr id="19472" name="Line 16"/>
          <p:cNvSpPr>
            <a:spLocks noChangeShapeType="1"/>
          </p:cNvSpPr>
          <p:nvPr/>
        </p:nvSpPr>
        <p:spPr bwMode="auto">
          <a:xfrm>
            <a:off x="2740025" y="2365375"/>
            <a:ext cx="1588"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9473" name="Line 17"/>
          <p:cNvSpPr>
            <a:spLocks noChangeShapeType="1"/>
          </p:cNvSpPr>
          <p:nvPr/>
        </p:nvSpPr>
        <p:spPr bwMode="auto">
          <a:xfrm>
            <a:off x="5026025" y="2365375"/>
            <a:ext cx="1588"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9474" name="Line 18"/>
          <p:cNvSpPr>
            <a:spLocks noChangeShapeType="1"/>
          </p:cNvSpPr>
          <p:nvPr/>
        </p:nvSpPr>
        <p:spPr bwMode="auto">
          <a:xfrm>
            <a:off x="7769225" y="2365375"/>
            <a:ext cx="1588"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9475" name="Rectangle 19"/>
          <p:cNvSpPr>
            <a:spLocks noGrp="1" noChangeArrowheads="1"/>
          </p:cNvSpPr>
          <p:nvPr>
            <p:ph type="body" idx="4294967295"/>
          </p:nvPr>
        </p:nvSpPr>
        <p:spPr>
          <a:xfrm>
            <a:off x="2411413" y="4941888"/>
            <a:ext cx="6248400" cy="1525587"/>
          </a:xfrm>
          <a:solidFill>
            <a:srgbClr val="CCFFCC"/>
          </a:solidFill>
          <a:ln w="9360">
            <a:solidFill>
              <a:srgbClr val="CCCCE6"/>
            </a:solidFill>
            <a:miter lim="800000"/>
            <a:headEnd/>
            <a:tailEnd/>
          </a:ln>
        </p:spPr>
        <p:txBody>
          <a:bodyPr/>
          <a:lstStyle/>
          <a:p>
            <a:pPr>
              <a:lnSpc>
                <a:spcPct val="93000"/>
              </a:lnSpc>
              <a:buFont typeface="Wingdings" pitchFamily="2" charset="2"/>
              <a:buNone/>
              <a:tabLst>
                <a:tab pos="911225" algn="l"/>
                <a:tab pos="1825625" algn="l"/>
                <a:tab pos="2740025" algn="l"/>
                <a:tab pos="3654425" algn="l"/>
                <a:tab pos="4568825" algn="l"/>
                <a:tab pos="5483225" algn="l"/>
                <a:tab pos="6397625" algn="l"/>
                <a:tab pos="7312025" algn="l"/>
                <a:tab pos="8226425" algn="l"/>
                <a:tab pos="9140825" algn="l"/>
                <a:tab pos="10055225" algn="l"/>
              </a:tabLst>
            </a:pPr>
            <a:r>
              <a:rPr lang="en-GB"/>
              <a:t>Arrows indicate messages that are sent from one object to another. </a:t>
            </a:r>
          </a:p>
        </p:txBody>
      </p:sp>
      <p:sp>
        <p:nvSpPr>
          <p:cNvPr id="19476" name="Line 20"/>
          <p:cNvSpPr>
            <a:spLocks noChangeShapeType="1"/>
          </p:cNvSpPr>
          <p:nvPr/>
        </p:nvSpPr>
        <p:spPr bwMode="auto">
          <a:xfrm>
            <a:off x="758825" y="2517775"/>
            <a:ext cx="1588" cy="4038600"/>
          </a:xfrm>
          <a:prstGeom prst="line">
            <a:avLst/>
          </a:prstGeom>
          <a:noFill/>
          <a:ln w="50760">
            <a:solidFill>
              <a:srgbClr val="CCCCE6"/>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9477" name="Line 21"/>
          <p:cNvSpPr>
            <a:spLocks noChangeShapeType="1"/>
          </p:cNvSpPr>
          <p:nvPr/>
        </p:nvSpPr>
        <p:spPr bwMode="auto">
          <a:xfrm>
            <a:off x="1673225" y="3051175"/>
            <a:ext cx="1588" cy="3276600"/>
          </a:xfrm>
          <a:prstGeom prst="line">
            <a:avLst/>
          </a:prstGeom>
          <a:noFill/>
          <a:ln w="127080">
            <a:solidFill>
              <a:srgbClr val="666699"/>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478" name="AutoShape 22"/>
          <p:cNvSpPr>
            <a:spLocks noChangeArrowheads="1"/>
          </p:cNvSpPr>
          <p:nvPr/>
        </p:nvSpPr>
        <p:spPr bwMode="auto">
          <a:xfrm rot="5400000">
            <a:off x="1458119" y="4029869"/>
            <a:ext cx="1287463" cy="701675"/>
          </a:xfrm>
          <a:prstGeom prst="roundRect">
            <a:avLst>
              <a:gd name="adj" fmla="val 222"/>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lIns="90000" tIns="46800" rIns="90000" bIns="46800">
            <a:spAutoFit/>
          </a:bodyPr>
          <a:lstStyle/>
          <a:p>
            <a:pPr eaLnBrk="1" hangingPunct="1">
              <a:lnSpc>
                <a:spcPct val="93000"/>
              </a:lnSpc>
              <a:buClr>
                <a:srgbClr val="666699"/>
              </a:buClr>
              <a:buSzPct val="100000"/>
              <a:buFont typeface="Tahoma" pitchFamily="34" charset="0"/>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4000">
                <a:solidFill>
                  <a:srgbClr val="666699"/>
                </a:solidFill>
                <a:latin typeface="Tahoma" pitchFamily="34" charset="0"/>
              </a:rPr>
              <a:t>Time</a:t>
            </a:r>
          </a:p>
        </p:txBody>
      </p:sp>
      <p:sp>
        <p:nvSpPr>
          <p:cNvPr id="19479" name="AutoShape 23"/>
          <p:cNvSpPr>
            <a:spLocks noChangeArrowheads="1"/>
          </p:cNvSpPr>
          <p:nvPr/>
        </p:nvSpPr>
        <p:spPr bwMode="auto">
          <a:xfrm>
            <a:off x="4949825" y="2822575"/>
            <a:ext cx="152400" cy="16764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9480" name="AutoShape 24"/>
          <p:cNvSpPr>
            <a:spLocks noChangeArrowheads="1"/>
          </p:cNvSpPr>
          <p:nvPr/>
        </p:nvSpPr>
        <p:spPr bwMode="auto">
          <a:xfrm>
            <a:off x="2663825" y="2822575"/>
            <a:ext cx="152400" cy="17526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9481" name="AutoShape 25"/>
          <p:cNvSpPr>
            <a:spLocks noChangeArrowheads="1"/>
          </p:cNvSpPr>
          <p:nvPr/>
        </p:nvSpPr>
        <p:spPr bwMode="auto">
          <a:xfrm>
            <a:off x="7693025" y="2974975"/>
            <a:ext cx="152400" cy="13716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9482" name="AutoShape 26"/>
          <p:cNvSpPr>
            <a:spLocks noChangeArrowheads="1"/>
          </p:cNvSpPr>
          <p:nvPr/>
        </p:nvSpPr>
        <p:spPr bwMode="auto">
          <a:xfrm>
            <a:off x="682625" y="2898775"/>
            <a:ext cx="152400" cy="1981200"/>
          </a:xfrm>
          <a:prstGeom prst="roundRect">
            <a:avLst>
              <a:gd name="adj" fmla="val 1042"/>
            </a:avLst>
          </a:prstGeom>
          <a:solidFill>
            <a:srgbClr val="FFFFFF"/>
          </a:solidFill>
          <a:ln w="25560">
            <a:solidFill>
              <a:srgbClr val="CCCCE6"/>
            </a:solidFill>
            <a:round/>
            <a:headEnd/>
            <a:tailEnd/>
          </a:ln>
        </p:spPr>
        <p:txBody>
          <a:bodyPr wrap="none" anchor="ctr"/>
          <a:lstStyle/>
          <a:p>
            <a:endParaRPr lang="en-US"/>
          </a:p>
        </p:txBody>
      </p:sp>
      <p:sp>
        <p:nvSpPr>
          <p:cNvPr id="19483" name="Line 27"/>
          <p:cNvSpPr>
            <a:spLocks noChangeShapeType="1"/>
          </p:cNvSpPr>
          <p:nvPr/>
        </p:nvSpPr>
        <p:spPr bwMode="auto">
          <a:xfrm>
            <a:off x="835025" y="3127375"/>
            <a:ext cx="1828800" cy="1588"/>
          </a:xfrm>
          <a:prstGeom prst="line">
            <a:avLst/>
          </a:prstGeom>
          <a:noFill/>
          <a:ln w="50760">
            <a:solidFill>
              <a:srgbClr val="CCCCE6"/>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484" name="Line 28"/>
          <p:cNvSpPr>
            <a:spLocks noChangeShapeType="1"/>
          </p:cNvSpPr>
          <p:nvPr/>
        </p:nvSpPr>
        <p:spPr bwMode="auto">
          <a:xfrm>
            <a:off x="2816225" y="3508375"/>
            <a:ext cx="2133600" cy="1588"/>
          </a:xfrm>
          <a:prstGeom prst="line">
            <a:avLst/>
          </a:prstGeom>
          <a:noFill/>
          <a:ln w="50760">
            <a:solidFill>
              <a:srgbClr val="CCCCE6"/>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485" name="Line 29"/>
          <p:cNvSpPr>
            <a:spLocks noChangeShapeType="1"/>
          </p:cNvSpPr>
          <p:nvPr/>
        </p:nvSpPr>
        <p:spPr bwMode="auto">
          <a:xfrm>
            <a:off x="5102225" y="3736975"/>
            <a:ext cx="2590800" cy="1588"/>
          </a:xfrm>
          <a:prstGeom prst="line">
            <a:avLst/>
          </a:prstGeom>
          <a:noFill/>
          <a:ln w="50760">
            <a:solidFill>
              <a:srgbClr val="CCCCE6"/>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486" name="Line 30"/>
          <p:cNvSpPr>
            <a:spLocks noChangeShapeType="1"/>
          </p:cNvSpPr>
          <p:nvPr/>
        </p:nvSpPr>
        <p:spPr bwMode="auto">
          <a:xfrm>
            <a:off x="2816225" y="4194175"/>
            <a:ext cx="4876800" cy="1588"/>
          </a:xfrm>
          <a:prstGeom prst="line">
            <a:avLst/>
          </a:prstGeom>
          <a:noFill/>
          <a:ln w="50760">
            <a:solidFill>
              <a:srgbClr val="CCCCE6"/>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9487" name="Line 31"/>
          <p:cNvSpPr>
            <a:spLocks noChangeShapeType="1"/>
          </p:cNvSpPr>
          <p:nvPr/>
        </p:nvSpPr>
        <p:spPr bwMode="auto">
          <a:xfrm flipV="1">
            <a:off x="3708400" y="4219575"/>
            <a:ext cx="576263" cy="723900"/>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627913718"/>
      </p:ext>
    </p:extLst>
  </p:cSld>
  <p:clrMapOvr>
    <a:masterClrMapping/>
  </p:clrMapOvr>
  <p:transition spd="med"/>
  <p:timing>
    <p:tnLst>
      <p:par>
        <p:cTn id="1" dur="indefinite" restart="never" nodeType="tmRoot"/>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Rectangle 1"/>
          <p:cNvSpPr>
            <a:spLocks noGrp="1" noChangeArrowheads="1"/>
          </p:cNvSpPr>
          <p:nvPr>
            <p:ph type="title" idx="4294967295"/>
          </p:nvPr>
        </p:nvSpPr>
        <p:spPr>
          <a:xfrm>
            <a:off x="457200" y="457200"/>
            <a:ext cx="8229600" cy="1100138"/>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a:t>Sequence diagrams - different types of messages</a:t>
            </a:r>
          </a:p>
        </p:txBody>
      </p:sp>
      <p:pic>
        <p:nvPicPr>
          <p:cNvPr id="20482"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0113" y="1484313"/>
            <a:ext cx="7416800" cy="4994275"/>
          </a:xfrm>
          <a:prstGeom prst="rect">
            <a:avLst/>
          </a:prstGeom>
          <a:noFill/>
          <a:extLst>
            <a:ext uri="{909E8E84-426E-40DD-AFC4-6F175D3DCCD1}">
              <a14:hiddenFill xmlns:a14="http://schemas.microsoft.com/office/drawing/2010/main">
                <a:blipFill dpi="0" rotWithShape="0">
                  <a:blip/>
                  <a:srcRect/>
                  <a:stretch>
                    <a:fillRect/>
                  </a:stretch>
                </a:blipFill>
              </a14:hiddenFill>
            </a:ext>
          </a:extLst>
        </p:spPr>
      </p:pic>
      <p:grpSp>
        <p:nvGrpSpPr>
          <p:cNvPr id="20483" name="Group 3"/>
          <p:cNvGrpSpPr>
            <a:grpSpLocks/>
          </p:cNvGrpSpPr>
          <p:nvPr/>
        </p:nvGrpSpPr>
        <p:grpSpPr bwMode="auto">
          <a:xfrm>
            <a:off x="468313" y="3213100"/>
            <a:ext cx="1222375" cy="377825"/>
            <a:chOff x="295" y="2024"/>
            <a:chExt cx="770" cy="238"/>
          </a:xfrm>
        </p:grpSpPr>
        <p:sp>
          <p:nvSpPr>
            <p:cNvPr id="20484" name="AutoShape 4"/>
            <p:cNvSpPr>
              <a:spLocks noChangeArrowheads="1"/>
            </p:cNvSpPr>
            <p:nvPr/>
          </p:nvSpPr>
          <p:spPr bwMode="auto">
            <a:xfrm>
              <a:off x="295" y="2024"/>
              <a:ext cx="771" cy="239"/>
            </a:xfrm>
            <a:prstGeom prst="roundRect">
              <a:avLst>
                <a:gd name="adj" fmla="val 417"/>
              </a:avLst>
            </a:prstGeom>
            <a:solidFill>
              <a:srgbClr val="CCFFCC"/>
            </a:solidFill>
            <a:ln w="12600">
              <a:solidFill>
                <a:srgbClr val="000000"/>
              </a:solidFill>
              <a:round/>
              <a:headEnd/>
              <a:tailEnd/>
            </a:ln>
          </p:spPr>
          <p:txBody>
            <a:bodyPr wrap="none" anchor="ctr"/>
            <a:lstStyle/>
            <a:p>
              <a:endParaRPr lang="en-US"/>
            </a:p>
          </p:txBody>
        </p:sp>
        <p:sp>
          <p:nvSpPr>
            <p:cNvPr id="20485" name="Text Box 5"/>
            <p:cNvSpPr txBox="1">
              <a:spLocks noChangeArrowheads="1"/>
            </p:cNvSpPr>
            <p:nvPr/>
          </p:nvSpPr>
          <p:spPr bwMode="auto">
            <a:xfrm>
              <a:off x="295" y="2024"/>
              <a:ext cx="771"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2000" dirty="0"/>
                <a:t>Message</a:t>
              </a:r>
            </a:p>
          </p:txBody>
        </p:sp>
      </p:grpSp>
      <p:grpSp>
        <p:nvGrpSpPr>
          <p:cNvPr id="20486" name="Group 6"/>
          <p:cNvGrpSpPr>
            <a:grpSpLocks/>
          </p:cNvGrpSpPr>
          <p:nvPr/>
        </p:nvGrpSpPr>
        <p:grpSpPr bwMode="auto">
          <a:xfrm>
            <a:off x="3995737" y="4941888"/>
            <a:ext cx="2016124" cy="952500"/>
            <a:chOff x="2517" y="3113"/>
            <a:chExt cx="1270" cy="600"/>
          </a:xfrm>
        </p:grpSpPr>
        <p:sp>
          <p:nvSpPr>
            <p:cNvPr id="20487" name="AutoShape 7"/>
            <p:cNvSpPr>
              <a:spLocks noChangeArrowheads="1"/>
            </p:cNvSpPr>
            <p:nvPr/>
          </p:nvSpPr>
          <p:spPr bwMode="auto">
            <a:xfrm>
              <a:off x="2517" y="3113"/>
              <a:ext cx="1270" cy="585"/>
            </a:xfrm>
            <a:prstGeom prst="roundRect">
              <a:avLst>
                <a:gd name="adj" fmla="val 167"/>
              </a:avLst>
            </a:prstGeom>
            <a:solidFill>
              <a:srgbClr val="CCFFCC"/>
            </a:solidFill>
            <a:ln w="12600">
              <a:solidFill>
                <a:srgbClr val="000000"/>
              </a:solidFill>
              <a:round/>
              <a:headEnd/>
              <a:tailEnd/>
            </a:ln>
          </p:spPr>
          <p:txBody>
            <a:bodyPr wrap="none" anchor="ctr"/>
            <a:lstStyle/>
            <a:p>
              <a:endParaRPr lang="en-US"/>
            </a:p>
          </p:txBody>
        </p:sp>
        <p:sp>
          <p:nvSpPr>
            <p:cNvPr id="20488" name="Text Box 8"/>
            <p:cNvSpPr txBox="1">
              <a:spLocks noChangeArrowheads="1"/>
            </p:cNvSpPr>
            <p:nvPr/>
          </p:nvSpPr>
          <p:spPr bwMode="auto">
            <a:xfrm>
              <a:off x="2517" y="3113"/>
              <a:ext cx="1270" cy="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2000" dirty="0"/>
                <a:t>Feedback arrow shows that a value is returned.</a:t>
              </a:r>
            </a:p>
          </p:txBody>
        </p:sp>
      </p:grpSp>
      <p:grpSp>
        <p:nvGrpSpPr>
          <p:cNvPr id="20489" name="Group 9"/>
          <p:cNvGrpSpPr>
            <a:grpSpLocks/>
          </p:cNvGrpSpPr>
          <p:nvPr/>
        </p:nvGrpSpPr>
        <p:grpSpPr bwMode="auto">
          <a:xfrm>
            <a:off x="7019927" y="3789360"/>
            <a:ext cx="2016126" cy="666749"/>
            <a:chOff x="4422" y="2387"/>
            <a:chExt cx="1270" cy="420"/>
          </a:xfrm>
        </p:grpSpPr>
        <p:sp>
          <p:nvSpPr>
            <p:cNvPr id="20490" name="AutoShape 10"/>
            <p:cNvSpPr>
              <a:spLocks noChangeArrowheads="1"/>
            </p:cNvSpPr>
            <p:nvPr/>
          </p:nvSpPr>
          <p:spPr bwMode="auto">
            <a:xfrm>
              <a:off x="4422" y="2387"/>
              <a:ext cx="1270" cy="412"/>
            </a:xfrm>
            <a:prstGeom prst="roundRect">
              <a:avLst>
                <a:gd name="adj" fmla="val 241"/>
              </a:avLst>
            </a:prstGeom>
            <a:solidFill>
              <a:srgbClr val="CCFFCC"/>
            </a:solidFill>
            <a:ln w="12600">
              <a:solidFill>
                <a:srgbClr val="000000"/>
              </a:solidFill>
              <a:round/>
              <a:headEnd/>
              <a:tailEnd/>
            </a:ln>
          </p:spPr>
          <p:txBody>
            <a:bodyPr wrap="none" anchor="ctr"/>
            <a:lstStyle/>
            <a:p>
              <a:endParaRPr lang="en-US"/>
            </a:p>
          </p:txBody>
        </p:sp>
        <p:sp>
          <p:nvSpPr>
            <p:cNvPr id="20491" name="Text Box 11"/>
            <p:cNvSpPr txBox="1">
              <a:spLocks noChangeArrowheads="1"/>
            </p:cNvSpPr>
            <p:nvPr/>
          </p:nvSpPr>
          <p:spPr bwMode="auto">
            <a:xfrm>
              <a:off x="4422" y="2387"/>
              <a:ext cx="1270" cy="4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2000" dirty="0"/>
                <a:t>An object sends a message to itself.</a:t>
              </a:r>
            </a:p>
          </p:txBody>
        </p:sp>
      </p:grpSp>
      <p:sp>
        <p:nvSpPr>
          <p:cNvPr id="20492" name="Line 12"/>
          <p:cNvSpPr>
            <a:spLocks noChangeShapeType="1"/>
          </p:cNvSpPr>
          <p:nvPr/>
        </p:nvSpPr>
        <p:spPr bwMode="auto">
          <a:xfrm flipV="1">
            <a:off x="1258888" y="2995613"/>
            <a:ext cx="1081087" cy="219075"/>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0493" name="Line 13"/>
          <p:cNvSpPr>
            <a:spLocks noChangeShapeType="1"/>
          </p:cNvSpPr>
          <p:nvPr/>
        </p:nvSpPr>
        <p:spPr bwMode="auto">
          <a:xfrm flipH="1" flipV="1">
            <a:off x="4498975" y="4148138"/>
            <a:ext cx="650875" cy="795337"/>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0494" name="Line 14"/>
          <p:cNvSpPr>
            <a:spLocks noChangeShapeType="1"/>
          </p:cNvSpPr>
          <p:nvPr/>
        </p:nvSpPr>
        <p:spPr bwMode="auto">
          <a:xfrm flipH="1" flipV="1">
            <a:off x="6083300" y="3427413"/>
            <a:ext cx="1803400" cy="363537"/>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2427631636"/>
      </p:ext>
    </p:extLst>
  </p:cSld>
  <p:clrMapOvr>
    <a:masterClrMapping/>
  </p:clrMapOvr>
  <p:transition spd="med"/>
  <p:timing>
    <p:tnLst>
      <p:par>
        <p:cTn id="1" dur="indefinite" restart="never" nodeType="tmRoot"/>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1"/>
          <p:cNvSpPr>
            <a:spLocks noGrp="1" noChangeArrowheads="1"/>
          </p:cNvSpPr>
          <p:nvPr>
            <p:ph type="title" idx="4294967295"/>
          </p:nvPr>
        </p:nvSpPr>
        <p:spPr>
          <a:xfrm>
            <a:off x="457200" y="457200"/>
            <a:ext cx="8229600" cy="1100138"/>
          </a:xfrm>
          <a:ln/>
        </p:spPr>
        <p:txBody>
          <a:bodyPr/>
          <a:lstStyle/>
          <a:p>
            <a:pPr>
              <a:lnSpc>
                <a:spcPct val="93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lang="en-GB" sz="2800"/>
              <a:t>Sequence diagrams: endpoints</a:t>
            </a:r>
          </a:p>
        </p:txBody>
      </p:sp>
      <p:pic>
        <p:nvPicPr>
          <p:cNvPr id="21506"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650" y="1412875"/>
            <a:ext cx="7632700" cy="5138738"/>
          </a:xfrm>
          <a:prstGeom prst="rect">
            <a:avLst/>
          </a:prstGeom>
          <a:noFill/>
          <a:extLst>
            <a:ext uri="{909E8E84-426E-40DD-AFC4-6F175D3DCCD1}">
              <a14:hiddenFill xmlns:a14="http://schemas.microsoft.com/office/drawing/2010/main">
                <a:blipFill dpi="0" rotWithShape="0">
                  <a:blip/>
                  <a:srcRect/>
                  <a:stretch>
                    <a:fillRect/>
                  </a:stretch>
                </a:blipFill>
              </a14:hiddenFill>
            </a:ext>
          </a:extLst>
        </p:spPr>
      </p:pic>
      <p:grpSp>
        <p:nvGrpSpPr>
          <p:cNvPr id="21507" name="Group 3"/>
          <p:cNvGrpSpPr>
            <a:grpSpLocks/>
          </p:cNvGrpSpPr>
          <p:nvPr/>
        </p:nvGrpSpPr>
        <p:grpSpPr bwMode="auto">
          <a:xfrm>
            <a:off x="755650" y="4221163"/>
            <a:ext cx="2016126" cy="1239837"/>
            <a:chOff x="476" y="2659"/>
            <a:chExt cx="1270" cy="781"/>
          </a:xfrm>
        </p:grpSpPr>
        <p:sp>
          <p:nvSpPr>
            <p:cNvPr id="21508" name="AutoShape 4"/>
            <p:cNvSpPr>
              <a:spLocks noChangeArrowheads="1"/>
            </p:cNvSpPr>
            <p:nvPr/>
          </p:nvSpPr>
          <p:spPr bwMode="auto">
            <a:xfrm>
              <a:off x="476" y="2659"/>
              <a:ext cx="1270" cy="758"/>
            </a:xfrm>
            <a:prstGeom prst="roundRect">
              <a:avLst>
                <a:gd name="adj" fmla="val 130"/>
              </a:avLst>
            </a:prstGeom>
            <a:solidFill>
              <a:srgbClr val="CCFFCC"/>
            </a:solidFill>
            <a:ln w="12600">
              <a:solidFill>
                <a:srgbClr val="000000"/>
              </a:solidFill>
              <a:round/>
              <a:headEnd/>
              <a:tailEnd/>
            </a:ln>
          </p:spPr>
          <p:txBody>
            <a:bodyPr wrap="none" anchor="ctr"/>
            <a:lstStyle/>
            <a:p>
              <a:endParaRPr lang="en-US"/>
            </a:p>
          </p:txBody>
        </p:sp>
        <p:sp>
          <p:nvSpPr>
            <p:cNvPr id="21509" name="Text Box 5"/>
            <p:cNvSpPr txBox="1">
              <a:spLocks noChangeArrowheads="1"/>
            </p:cNvSpPr>
            <p:nvPr/>
          </p:nvSpPr>
          <p:spPr bwMode="auto">
            <a:xfrm>
              <a:off x="476" y="2659"/>
              <a:ext cx="1270" cy="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1pPr>
              <a:lvl2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2pPr>
              <a:lvl3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3pPr>
              <a:lvl4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4pPr>
              <a:lvl5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5pPr>
              <a:lvl6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6pPr>
              <a:lvl7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7pPr>
              <a:lvl8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8pPr>
              <a:lvl9pPr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Times New Roman" pitchFamily="18" charset="0"/>
                </a:defRPr>
              </a:lvl9pPr>
            </a:lstStyle>
            <a:p>
              <a:pPr eaLnBrk="1" hangingPunct="1">
                <a:lnSpc>
                  <a:spcPct val="93000"/>
                </a:lnSpc>
                <a:spcBef>
                  <a:spcPts val="1125"/>
                </a:spcBef>
                <a:buClr>
                  <a:srgbClr val="000000"/>
                </a:buClr>
                <a:buSzPct val="100000"/>
                <a:buFont typeface="Arial" pitchFamily="34" charset="0"/>
                <a:buNone/>
              </a:pPr>
              <a:r>
                <a:rPr lang="en-GB" sz="2000" dirty="0"/>
                <a:t>X at the end of the lifeline shows that the object ceases to exist.</a:t>
              </a:r>
            </a:p>
          </p:txBody>
        </p:sp>
      </p:grpSp>
      <p:sp>
        <p:nvSpPr>
          <p:cNvPr id="21510" name="Line 6"/>
          <p:cNvSpPr>
            <a:spLocks noChangeShapeType="1"/>
          </p:cNvSpPr>
          <p:nvPr/>
        </p:nvSpPr>
        <p:spPr bwMode="auto">
          <a:xfrm>
            <a:off x="2771775" y="4797425"/>
            <a:ext cx="647700" cy="719138"/>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21511" name="Line 7"/>
          <p:cNvSpPr>
            <a:spLocks noChangeShapeType="1"/>
          </p:cNvSpPr>
          <p:nvPr/>
        </p:nvSpPr>
        <p:spPr bwMode="auto">
          <a:xfrm>
            <a:off x="2771775" y="4652963"/>
            <a:ext cx="2447925" cy="936625"/>
          </a:xfrm>
          <a:prstGeom prst="line">
            <a:avLst/>
          </a:prstGeom>
          <a:noFill/>
          <a:ln w="28440">
            <a:solidFill>
              <a:srgbClr val="000000"/>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extLst>
      <p:ext uri="{BB962C8B-B14F-4D97-AF65-F5344CB8AC3E}">
        <p14:creationId xmlns:p14="http://schemas.microsoft.com/office/powerpoint/2010/main" val="1905836059"/>
      </p:ext>
    </p:extLst>
  </p:cSld>
  <p:clrMapOvr>
    <a:masterClrMapping/>
  </p:clrMapOvr>
  <p:transition spd="med"/>
  <p:timing>
    <p:tnLst>
      <p:par>
        <p:cTn id="1" dur="indefinite" restart="never" nodeType="tmRoot"/>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Sequence Diagram</a:t>
            </a:r>
            <a:endParaRPr lang="en-US"/>
          </a:p>
        </p:txBody>
      </p:sp>
      <p:sp>
        <p:nvSpPr>
          <p:cNvPr id="3" name="Content Placeholder 2"/>
          <p:cNvSpPr>
            <a:spLocks noGrp="1"/>
          </p:cNvSpPr>
          <p:nvPr>
            <p:ph idx="1"/>
          </p:nvPr>
        </p:nvSpPr>
        <p:spPr/>
        <p:txBody>
          <a:bodyPr/>
          <a:lstStyle/>
          <a:p>
            <a:r>
              <a:rPr lang="en-US" dirty="0" smtClean="0"/>
              <a:t>Draw sequence diagram for login procedure of a system. Include all possible scenarios and also draw activity diagram. (10M)</a:t>
            </a:r>
            <a:endParaRPr lang="en-US" dirty="0"/>
          </a:p>
        </p:txBody>
      </p:sp>
    </p:spTree>
    <p:extLst>
      <p:ext uri="{BB962C8B-B14F-4D97-AF65-F5344CB8AC3E}">
        <p14:creationId xmlns:p14="http://schemas.microsoft.com/office/powerpoint/2010/main" val="172992640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76238"/>
            <a:ext cx="9067800" cy="6329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541665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Collaboration Diagram</a:t>
            </a:r>
            <a:endParaRPr lang="en-US" dirty="0"/>
          </a:p>
        </p:txBody>
      </p:sp>
      <p:sp>
        <p:nvSpPr>
          <p:cNvPr id="3" name="Content Placeholder 2"/>
          <p:cNvSpPr>
            <a:spLocks noGrp="1"/>
          </p:cNvSpPr>
          <p:nvPr>
            <p:ph idx="1"/>
          </p:nvPr>
        </p:nvSpPr>
        <p:spPr>
          <a:xfrm>
            <a:off x="152400" y="1600200"/>
            <a:ext cx="8839200" cy="5105400"/>
          </a:xfrm>
        </p:spPr>
        <p:txBody>
          <a:bodyPr>
            <a:normAutofit/>
          </a:bodyPr>
          <a:lstStyle/>
          <a:p>
            <a:pPr algn="just"/>
            <a:r>
              <a:rPr lang="en-US" sz="2800" b="1" u="sng" dirty="0"/>
              <a:t>Collaboration diagram</a:t>
            </a:r>
            <a:r>
              <a:rPr lang="en-US" sz="2800" dirty="0"/>
              <a:t>-emphasis is on structural organization of the  objects that send/receive </a:t>
            </a:r>
            <a:r>
              <a:rPr lang="en-US" sz="2800" dirty="0" smtClean="0"/>
              <a:t>messages.</a:t>
            </a:r>
            <a:endParaRPr lang="en-US" sz="2800" dirty="0"/>
          </a:p>
        </p:txBody>
      </p:sp>
      <p:sp>
        <p:nvSpPr>
          <p:cNvPr id="4" name="Title 1"/>
          <p:cNvSpPr txBox="1">
            <a:spLocks/>
          </p:cNvSpPr>
          <p:nvPr/>
        </p:nvSpPr>
        <p:spPr>
          <a:xfrm>
            <a:off x="304800" y="3124200"/>
            <a:ext cx="8458200" cy="685800"/>
          </a:xfrm>
          <a:prstGeom prst="rect">
            <a:avLst/>
          </a:prstGeom>
        </p:spPr>
        <p:txBody>
          <a:bodyPr vert="horz" lIns="91440" tIns="45720" rIns="91440" bIns="45720" rtlCol="0" anchor="ctr">
            <a:normAutofit fontScale="92500"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71500" indent="-571500">
              <a:buFont typeface="Wingdings" pitchFamily="2" charset="2"/>
              <a:buChar char="Ø"/>
            </a:pPr>
            <a:r>
              <a:rPr lang="en-US" u="sng" dirty="0" smtClean="0"/>
              <a:t>Elements of a collaboration diagram</a:t>
            </a:r>
            <a:endParaRPr lang="en-US" u="sng" dirty="0"/>
          </a:p>
        </p:txBody>
      </p:sp>
      <p:sp>
        <p:nvSpPr>
          <p:cNvPr id="7" name="Content Placeholder 2"/>
          <p:cNvSpPr txBox="1">
            <a:spLocks/>
          </p:cNvSpPr>
          <p:nvPr/>
        </p:nvSpPr>
        <p:spPr>
          <a:xfrm>
            <a:off x="0" y="2971801"/>
            <a:ext cx="9067800" cy="3886199"/>
          </a:xfrm>
          <a:prstGeom prst="rect">
            <a:avLst/>
          </a:prstGeom>
        </p:spPr>
        <p:txBody>
          <a:bodyPr vert="horz" lIns="91440" tIns="45720" rIns="91440" bIns="45720" rtlCol="0">
            <a:normAutofit fontScale="92500" lnSpcReduction="1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200000"/>
              </a:lnSpc>
            </a:pPr>
            <a:endParaRPr lang="en-US" dirty="0" smtClean="0"/>
          </a:p>
          <a:p>
            <a:pPr>
              <a:lnSpc>
                <a:spcPct val="200000"/>
              </a:lnSpc>
            </a:pPr>
            <a:r>
              <a:rPr lang="en-US" dirty="0" smtClean="0"/>
              <a:t>Object  </a:t>
            </a:r>
          </a:p>
          <a:p>
            <a:pPr>
              <a:lnSpc>
                <a:spcPct val="200000"/>
              </a:lnSpc>
            </a:pPr>
            <a:r>
              <a:rPr lang="en-US" dirty="0" smtClean="0"/>
              <a:t>Relation/Association</a:t>
            </a:r>
          </a:p>
          <a:p>
            <a:pPr>
              <a:lnSpc>
                <a:spcPct val="200000"/>
              </a:lnSpc>
            </a:pPr>
            <a:r>
              <a:rPr lang="en-US" dirty="0" smtClean="0"/>
              <a:t>Messages</a:t>
            </a:r>
          </a:p>
          <a:p>
            <a:pPr marL="0" indent="0">
              <a:buNone/>
            </a:pPr>
            <a:endParaRPr lang="en-US" dirty="0"/>
          </a:p>
        </p:txBody>
      </p:sp>
      <p:sp>
        <p:nvSpPr>
          <p:cNvPr id="8" name="Rectangle 7"/>
          <p:cNvSpPr/>
          <p:nvPr/>
        </p:nvSpPr>
        <p:spPr>
          <a:xfrm>
            <a:off x="3067050" y="4016585"/>
            <a:ext cx="2686050" cy="6858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019800" y="4016585"/>
            <a:ext cx="2590800" cy="6858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p:cNvSpPr txBox="1"/>
          <p:nvPr/>
        </p:nvSpPr>
        <p:spPr>
          <a:xfrm>
            <a:off x="3067050" y="4174819"/>
            <a:ext cx="2933700" cy="369332"/>
          </a:xfrm>
          <a:prstGeom prst="rect">
            <a:avLst/>
          </a:prstGeom>
          <a:noFill/>
        </p:spPr>
        <p:txBody>
          <a:bodyPr wrap="square" rtlCol="0">
            <a:spAutoFit/>
          </a:bodyPr>
          <a:lstStyle/>
          <a:p>
            <a:r>
              <a:rPr lang="en-US" u="sng" dirty="0" smtClean="0"/>
              <a:t>Object Name: Class Name</a:t>
            </a:r>
            <a:endParaRPr lang="en-US" u="sng" dirty="0"/>
          </a:p>
        </p:txBody>
      </p:sp>
      <p:sp>
        <p:nvSpPr>
          <p:cNvPr id="11" name="TextBox 10"/>
          <p:cNvSpPr txBox="1"/>
          <p:nvPr/>
        </p:nvSpPr>
        <p:spPr>
          <a:xfrm>
            <a:off x="6019800" y="4184735"/>
            <a:ext cx="2590800" cy="369332"/>
          </a:xfrm>
          <a:prstGeom prst="rect">
            <a:avLst/>
          </a:prstGeom>
          <a:noFill/>
        </p:spPr>
        <p:txBody>
          <a:bodyPr wrap="square" rtlCol="0">
            <a:spAutoFit/>
          </a:bodyPr>
          <a:lstStyle/>
          <a:p>
            <a:r>
              <a:rPr lang="en-US" u="sng" dirty="0" smtClean="0"/>
              <a:t>Object Name: Class Name</a:t>
            </a:r>
            <a:endParaRPr lang="en-US" u="sng" dirty="0"/>
          </a:p>
        </p:txBody>
      </p:sp>
      <p:cxnSp>
        <p:nvCxnSpPr>
          <p:cNvPr id="12" name="Straight Arrow Connector 11"/>
          <p:cNvCxnSpPr/>
          <p:nvPr/>
        </p:nvCxnSpPr>
        <p:spPr>
          <a:xfrm>
            <a:off x="3068355" y="6248400"/>
            <a:ext cx="2286000" cy="0"/>
          </a:xfrm>
          <a:prstGeom prst="straightConnector1">
            <a:avLst/>
          </a:prstGeom>
          <a:ln w="31750">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3573180" y="5756673"/>
            <a:ext cx="1276350" cy="369332"/>
          </a:xfrm>
          <a:prstGeom prst="rect">
            <a:avLst/>
          </a:prstGeom>
          <a:noFill/>
        </p:spPr>
        <p:txBody>
          <a:bodyPr wrap="square" rtlCol="0">
            <a:spAutoFit/>
          </a:bodyPr>
          <a:lstStyle/>
          <a:p>
            <a:r>
              <a:rPr lang="en-US" u="sng" dirty="0" smtClean="0"/>
              <a:t>Function()</a:t>
            </a:r>
            <a:endParaRPr lang="en-US" u="sng" dirty="0"/>
          </a:p>
        </p:txBody>
      </p:sp>
    </p:spTree>
    <p:extLst>
      <p:ext uri="{BB962C8B-B14F-4D97-AF65-F5344CB8AC3E}">
        <p14:creationId xmlns:p14="http://schemas.microsoft.com/office/powerpoint/2010/main" val="145043892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228600"/>
            <a:ext cx="9906000" cy="487362"/>
          </a:xfrm>
        </p:spPr>
        <p:txBody>
          <a:bodyPr>
            <a:noAutofit/>
          </a:bodyPr>
          <a:lstStyle/>
          <a:p>
            <a:r>
              <a:rPr lang="en-US" sz="4000" dirty="0" smtClean="0"/>
              <a:t>STEPS TO DRAW COLLABORATION DIAGRAM</a:t>
            </a:r>
            <a:endParaRPr lang="en-US" sz="4000" dirty="0"/>
          </a:p>
        </p:txBody>
      </p:sp>
      <p:sp>
        <p:nvSpPr>
          <p:cNvPr id="3" name="Content Placeholder 2"/>
          <p:cNvSpPr>
            <a:spLocks noGrp="1"/>
          </p:cNvSpPr>
          <p:nvPr>
            <p:ph idx="1"/>
          </p:nvPr>
        </p:nvSpPr>
        <p:spPr>
          <a:xfrm>
            <a:off x="0" y="838200"/>
            <a:ext cx="9144000" cy="6019800"/>
          </a:xfrm>
        </p:spPr>
        <p:txBody>
          <a:bodyPr>
            <a:normAutofit/>
          </a:bodyPr>
          <a:lstStyle/>
          <a:p>
            <a:pPr algn="just">
              <a:lnSpc>
                <a:spcPct val="200000"/>
              </a:lnSpc>
            </a:pPr>
            <a:r>
              <a:rPr lang="en-US" sz="3600" dirty="0" smtClean="0"/>
              <a:t>Place objects as vertices in a graph</a:t>
            </a:r>
          </a:p>
          <a:p>
            <a:pPr algn="just">
              <a:lnSpc>
                <a:spcPct val="200000"/>
              </a:lnSpc>
            </a:pPr>
            <a:r>
              <a:rPr lang="en-US" sz="3600" dirty="0" smtClean="0"/>
              <a:t>Add links to connect these object as arcs of graph</a:t>
            </a:r>
          </a:p>
          <a:p>
            <a:pPr algn="just">
              <a:lnSpc>
                <a:spcPct val="200000"/>
              </a:lnSpc>
            </a:pPr>
            <a:r>
              <a:rPr lang="en-US" sz="3600" dirty="0" smtClean="0"/>
              <a:t>Write messages on links with sequence numbers for send and receive</a:t>
            </a:r>
          </a:p>
          <a:p>
            <a:pPr algn="just">
              <a:lnSpc>
                <a:spcPct val="200000"/>
              </a:lnSpc>
            </a:pPr>
            <a:endParaRPr lang="en-US" sz="3600" dirty="0" smtClean="0"/>
          </a:p>
        </p:txBody>
      </p:sp>
    </p:spTree>
    <p:extLst>
      <p:ext uri="{BB962C8B-B14F-4D97-AF65-F5344CB8AC3E}">
        <p14:creationId xmlns:p14="http://schemas.microsoft.com/office/powerpoint/2010/main" val="2577358085"/>
      </p:ext>
    </p:extLst>
  </p:cSld>
  <p:clrMapOvr>
    <a:masterClrMapping/>
  </p:clrMapOvr>
  <p:timing>
    <p:tnLst>
      <p:par>
        <p:cTn id="1" dur="indefinite" restart="never" nodeType="tmRoot"/>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Ex. Collaboration Diagram</a:t>
            </a:r>
          </a:p>
        </p:txBody>
      </p:sp>
      <p:sp>
        <p:nvSpPr>
          <p:cNvPr id="5124" name="Rectangle 4"/>
          <p:cNvSpPr>
            <a:spLocks noChangeArrowheads="1"/>
          </p:cNvSpPr>
          <p:nvPr/>
        </p:nvSpPr>
        <p:spPr bwMode="auto">
          <a:xfrm>
            <a:off x="0" y="3429000"/>
            <a:ext cx="9144000" cy="0"/>
          </a:xfrm>
          <a:prstGeom prst="rect">
            <a:avLst/>
          </a:prstGeom>
          <a:solidFill>
            <a:srgbClr val="EEEEE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en-US"/>
          </a:p>
        </p:txBody>
      </p:sp>
      <p:sp>
        <p:nvSpPr>
          <p:cNvPr id="5126" name="Rectangle 6"/>
          <p:cNvSpPr>
            <a:spLocks noChangeArrowheads="1"/>
          </p:cNvSpPr>
          <p:nvPr/>
        </p:nvSpPr>
        <p:spPr bwMode="auto">
          <a:xfrm>
            <a:off x="0" y="3429000"/>
            <a:ext cx="9144000" cy="0"/>
          </a:xfrm>
          <a:prstGeom prst="rect">
            <a:avLst/>
          </a:prstGeom>
          <a:solidFill>
            <a:srgbClr val="EEEEE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en-US"/>
          </a:p>
        </p:txBody>
      </p:sp>
      <p:pic>
        <p:nvPicPr>
          <p:cNvPr id="5127" name="Picture 7" descr="C:\My Documents\IS8060\collaboration diagrams\image313.gi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4500" y="1524000"/>
            <a:ext cx="5715000" cy="48466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513492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3" name="Rectangle 5"/>
          <p:cNvSpPr>
            <a:spLocks noChangeArrowheads="1"/>
          </p:cNvSpPr>
          <p:nvPr/>
        </p:nvSpPr>
        <p:spPr bwMode="auto">
          <a:xfrm>
            <a:off x="571500" y="3048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b"/>
          <a:lstStyle/>
          <a:p>
            <a:pPr algn="ctr"/>
            <a:r>
              <a:rPr lang="en-US" sz="4400" b="1">
                <a:solidFill>
                  <a:schemeClr val="tx2"/>
                </a:solidFill>
              </a:rPr>
              <a:t>Collaboration Diagram Syntax</a:t>
            </a:r>
          </a:p>
        </p:txBody>
      </p:sp>
      <p:sp>
        <p:nvSpPr>
          <p:cNvPr id="43014" name="Rectangle 6"/>
          <p:cNvSpPr>
            <a:spLocks noChangeArrowheads="1"/>
          </p:cNvSpPr>
          <p:nvPr/>
        </p:nvSpPr>
        <p:spPr bwMode="auto">
          <a:xfrm>
            <a:off x="762000" y="1524000"/>
            <a:ext cx="7620000" cy="4800600"/>
          </a:xfrm>
          <a:prstGeom prst="rect">
            <a:avLst/>
          </a:prstGeom>
          <a:solidFill>
            <a:srgbClr val="FFFF99"/>
          </a:solidFill>
          <a:ln w="12700">
            <a:solidFill>
              <a:schemeClr val="tx1"/>
            </a:solidFill>
            <a:miter lim="800000"/>
            <a:headEnd type="none" w="sm" len="sm"/>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sz="3600">
              <a:latin typeface="Tahoma" pitchFamily="34" charset="0"/>
            </a:endParaRPr>
          </a:p>
        </p:txBody>
      </p:sp>
      <p:sp>
        <p:nvSpPr>
          <p:cNvPr id="43015" name="Line 7"/>
          <p:cNvSpPr>
            <a:spLocks noChangeShapeType="1"/>
          </p:cNvSpPr>
          <p:nvPr/>
        </p:nvSpPr>
        <p:spPr bwMode="auto">
          <a:xfrm>
            <a:off x="3581400" y="1524000"/>
            <a:ext cx="0" cy="4800600"/>
          </a:xfrm>
          <a:prstGeom prst="line">
            <a:avLst/>
          </a:prstGeom>
          <a:noFill/>
          <a:ln w="12700">
            <a:solidFill>
              <a:schemeClr val="tx1"/>
            </a:solidFill>
            <a:round/>
            <a:headEnd type="none" w="sm" len="sm"/>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16" name="Line 8"/>
          <p:cNvSpPr>
            <a:spLocks noChangeShapeType="1"/>
          </p:cNvSpPr>
          <p:nvPr/>
        </p:nvSpPr>
        <p:spPr bwMode="auto">
          <a:xfrm>
            <a:off x="762000" y="3048000"/>
            <a:ext cx="7620000" cy="0"/>
          </a:xfrm>
          <a:prstGeom prst="line">
            <a:avLst/>
          </a:prstGeom>
          <a:noFill/>
          <a:ln w="12700">
            <a:solidFill>
              <a:schemeClr val="tx1"/>
            </a:solidFill>
            <a:round/>
            <a:headEnd type="none" w="sm" len="sm"/>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17" name="Text Box 9"/>
          <p:cNvSpPr txBox="1">
            <a:spLocks noChangeArrowheads="1"/>
          </p:cNvSpPr>
          <p:nvPr/>
        </p:nvSpPr>
        <p:spPr bwMode="auto">
          <a:xfrm>
            <a:off x="990600" y="1676400"/>
            <a:ext cx="1989138" cy="4486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en-US" sz="1800">
              <a:latin typeface="Tahoma" pitchFamily="34" charset="0"/>
            </a:endParaRPr>
          </a:p>
          <a:p>
            <a:endParaRPr lang="en-US" sz="1800">
              <a:latin typeface="Tahoma" pitchFamily="34" charset="0"/>
            </a:endParaRPr>
          </a:p>
          <a:p>
            <a:r>
              <a:rPr lang="en-US" sz="1800">
                <a:latin typeface="Tahoma" pitchFamily="34" charset="0"/>
              </a:rPr>
              <a:t>AN ACTOR</a:t>
            </a:r>
          </a:p>
          <a:p>
            <a:endParaRPr lang="en-US" sz="1800">
              <a:latin typeface="Tahoma" pitchFamily="34" charset="0"/>
            </a:endParaRPr>
          </a:p>
          <a:p>
            <a:endParaRPr lang="en-US" sz="1800">
              <a:latin typeface="Tahoma" pitchFamily="34" charset="0"/>
            </a:endParaRPr>
          </a:p>
          <a:p>
            <a:endParaRPr lang="en-US" sz="1800">
              <a:latin typeface="Tahoma" pitchFamily="34" charset="0"/>
            </a:endParaRPr>
          </a:p>
          <a:p>
            <a:r>
              <a:rPr lang="en-US" sz="1800">
                <a:latin typeface="Tahoma" pitchFamily="34" charset="0"/>
              </a:rPr>
              <a:t>AN OBJECT</a:t>
            </a:r>
          </a:p>
          <a:p>
            <a:endParaRPr lang="en-US" sz="1800">
              <a:latin typeface="Tahoma" pitchFamily="34" charset="0"/>
            </a:endParaRPr>
          </a:p>
          <a:p>
            <a:endParaRPr lang="en-US" sz="1800">
              <a:latin typeface="Tahoma" pitchFamily="34" charset="0"/>
            </a:endParaRPr>
          </a:p>
          <a:p>
            <a:endParaRPr lang="en-US" sz="1800">
              <a:latin typeface="Tahoma" pitchFamily="34" charset="0"/>
            </a:endParaRPr>
          </a:p>
          <a:p>
            <a:endParaRPr lang="en-US" sz="1800">
              <a:latin typeface="Tahoma" pitchFamily="34" charset="0"/>
            </a:endParaRPr>
          </a:p>
          <a:p>
            <a:r>
              <a:rPr lang="en-US" sz="1800">
                <a:latin typeface="Tahoma" pitchFamily="34" charset="0"/>
              </a:rPr>
              <a:t>AN ASSOCIATION</a:t>
            </a:r>
          </a:p>
          <a:p>
            <a:endParaRPr lang="en-US" sz="1800">
              <a:latin typeface="Tahoma" pitchFamily="34" charset="0"/>
            </a:endParaRPr>
          </a:p>
          <a:p>
            <a:endParaRPr lang="en-US" sz="1800">
              <a:latin typeface="Tahoma" pitchFamily="34" charset="0"/>
            </a:endParaRPr>
          </a:p>
          <a:p>
            <a:endParaRPr lang="en-US" sz="1800">
              <a:latin typeface="Tahoma" pitchFamily="34" charset="0"/>
            </a:endParaRPr>
          </a:p>
          <a:p>
            <a:r>
              <a:rPr lang="en-US" sz="1800">
                <a:latin typeface="Tahoma" pitchFamily="34" charset="0"/>
              </a:rPr>
              <a:t>A MESSAGE</a:t>
            </a:r>
          </a:p>
        </p:txBody>
      </p:sp>
      <p:sp>
        <p:nvSpPr>
          <p:cNvPr id="43018" name="Line 10"/>
          <p:cNvSpPr>
            <a:spLocks noChangeShapeType="1"/>
          </p:cNvSpPr>
          <p:nvPr/>
        </p:nvSpPr>
        <p:spPr bwMode="auto">
          <a:xfrm>
            <a:off x="762000" y="4267200"/>
            <a:ext cx="7620000" cy="0"/>
          </a:xfrm>
          <a:prstGeom prst="line">
            <a:avLst/>
          </a:prstGeom>
          <a:noFill/>
          <a:ln w="12700">
            <a:solidFill>
              <a:schemeClr val="tx1"/>
            </a:solidFill>
            <a:round/>
            <a:headEnd type="none" w="sm" len="sm"/>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19" name="Line 11"/>
          <p:cNvSpPr>
            <a:spLocks noChangeShapeType="1"/>
          </p:cNvSpPr>
          <p:nvPr/>
        </p:nvSpPr>
        <p:spPr bwMode="auto">
          <a:xfrm>
            <a:off x="762000" y="5410200"/>
            <a:ext cx="7620000" cy="0"/>
          </a:xfrm>
          <a:prstGeom prst="line">
            <a:avLst/>
          </a:prstGeom>
          <a:noFill/>
          <a:ln w="12700">
            <a:solidFill>
              <a:schemeClr val="tx1"/>
            </a:solidFill>
            <a:round/>
            <a:headEnd type="none" w="sm" len="sm"/>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nvGrpSpPr>
          <p:cNvPr id="43020" name="Group 12"/>
          <p:cNvGrpSpPr>
            <a:grpSpLocks/>
          </p:cNvGrpSpPr>
          <p:nvPr/>
        </p:nvGrpSpPr>
        <p:grpSpPr bwMode="auto">
          <a:xfrm>
            <a:off x="5410200" y="1905000"/>
            <a:ext cx="609600" cy="914400"/>
            <a:chOff x="3312" y="1104"/>
            <a:chExt cx="384" cy="576"/>
          </a:xfrm>
        </p:grpSpPr>
        <p:sp>
          <p:nvSpPr>
            <p:cNvPr id="43021" name="Oval 13"/>
            <p:cNvSpPr>
              <a:spLocks noChangeArrowheads="1"/>
            </p:cNvSpPr>
            <p:nvPr/>
          </p:nvSpPr>
          <p:spPr bwMode="auto">
            <a:xfrm>
              <a:off x="3360" y="1104"/>
              <a:ext cx="288" cy="240"/>
            </a:xfrm>
            <a:prstGeom prst="ellipse">
              <a:avLst/>
            </a:prstGeom>
            <a:solidFill>
              <a:schemeClr val="accent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22" name="Line 14"/>
            <p:cNvSpPr>
              <a:spLocks noChangeShapeType="1"/>
            </p:cNvSpPr>
            <p:nvPr/>
          </p:nvSpPr>
          <p:spPr bwMode="auto">
            <a:xfrm>
              <a:off x="3504" y="1344"/>
              <a:ext cx="0" cy="19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23" name="Line 15"/>
            <p:cNvSpPr>
              <a:spLocks noChangeShapeType="1"/>
            </p:cNvSpPr>
            <p:nvPr/>
          </p:nvSpPr>
          <p:spPr bwMode="auto">
            <a:xfrm>
              <a:off x="3312" y="1392"/>
              <a:ext cx="192" cy="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24" name="Line 16"/>
            <p:cNvSpPr>
              <a:spLocks noChangeShapeType="1"/>
            </p:cNvSpPr>
            <p:nvPr/>
          </p:nvSpPr>
          <p:spPr bwMode="auto">
            <a:xfrm flipV="1">
              <a:off x="3504" y="1392"/>
              <a:ext cx="192" cy="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25" name="Line 17"/>
            <p:cNvSpPr>
              <a:spLocks noChangeShapeType="1"/>
            </p:cNvSpPr>
            <p:nvPr/>
          </p:nvSpPr>
          <p:spPr bwMode="auto">
            <a:xfrm flipH="1">
              <a:off x="3312" y="1536"/>
              <a:ext cx="192" cy="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26" name="Line 18"/>
            <p:cNvSpPr>
              <a:spLocks noChangeShapeType="1"/>
            </p:cNvSpPr>
            <p:nvPr/>
          </p:nvSpPr>
          <p:spPr bwMode="auto">
            <a:xfrm flipH="1" flipV="1">
              <a:off x="3504" y="1536"/>
              <a:ext cx="192" cy="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sp>
        <p:nvSpPr>
          <p:cNvPr id="43027" name="Rectangle 19"/>
          <p:cNvSpPr>
            <a:spLocks noChangeArrowheads="1"/>
          </p:cNvSpPr>
          <p:nvPr/>
        </p:nvSpPr>
        <p:spPr bwMode="auto">
          <a:xfrm>
            <a:off x="4800600" y="3276600"/>
            <a:ext cx="2286000" cy="685800"/>
          </a:xfrm>
          <a:prstGeom prst="rect">
            <a:avLst/>
          </a:prstGeom>
          <a:solidFill>
            <a:schemeClr val="accent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sz="1600">
                <a:latin typeface="Tahoma" pitchFamily="34" charset="0"/>
              </a:rPr>
              <a:t>anObject:aClass</a:t>
            </a:r>
          </a:p>
        </p:txBody>
      </p:sp>
      <p:grpSp>
        <p:nvGrpSpPr>
          <p:cNvPr id="43028" name="Group 20"/>
          <p:cNvGrpSpPr>
            <a:grpSpLocks/>
          </p:cNvGrpSpPr>
          <p:nvPr/>
        </p:nvGrpSpPr>
        <p:grpSpPr bwMode="auto">
          <a:xfrm>
            <a:off x="4648200" y="5835650"/>
            <a:ext cx="2362200" cy="336550"/>
            <a:chOff x="2928" y="3216"/>
            <a:chExt cx="1488" cy="212"/>
          </a:xfrm>
        </p:grpSpPr>
        <p:sp>
          <p:nvSpPr>
            <p:cNvPr id="43029" name="Line 21"/>
            <p:cNvSpPr>
              <a:spLocks noChangeShapeType="1"/>
            </p:cNvSpPr>
            <p:nvPr/>
          </p:nvSpPr>
          <p:spPr bwMode="auto">
            <a:xfrm>
              <a:off x="3120" y="3408"/>
              <a:ext cx="1296"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3030" name="Text Box 22"/>
            <p:cNvSpPr txBox="1">
              <a:spLocks noChangeArrowheads="1"/>
            </p:cNvSpPr>
            <p:nvPr/>
          </p:nvSpPr>
          <p:spPr bwMode="auto">
            <a:xfrm>
              <a:off x="2928" y="3216"/>
              <a:ext cx="1206" cy="2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sz="1600">
                  <a:latin typeface="Tahoma" pitchFamily="34" charset="0"/>
                </a:rPr>
                <a:t>           aMessage()</a:t>
              </a:r>
            </a:p>
          </p:txBody>
        </p:sp>
      </p:grpSp>
      <p:sp>
        <p:nvSpPr>
          <p:cNvPr id="43031" name="Line 23"/>
          <p:cNvSpPr>
            <a:spLocks noChangeShapeType="1"/>
          </p:cNvSpPr>
          <p:nvPr/>
        </p:nvSpPr>
        <p:spPr bwMode="auto">
          <a:xfrm>
            <a:off x="5105400" y="5029200"/>
            <a:ext cx="16764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extLst>
      <p:ext uri="{BB962C8B-B14F-4D97-AF65-F5344CB8AC3E}">
        <p14:creationId xmlns:p14="http://schemas.microsoft.com/office/powerpoint/2010/main" val="424842608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205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81000" y="914400"/>
            <a:ext cx="9851268" cy="563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18040721"/>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457200" y="1600200"/>
            <a:ext cx="8686800" cy="5105400"/>
          </a:xfrm>
        </p:spPr>
        <p:txBody>
          <a:bodyPr/>
          <a:lstStyle/>
          <a:p>
            <a:endParaRPr lang="en-US" dirty="0"/>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1"/>
            <a:ext cx="9158410" cy="662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90858598"/>
      </p:ext>
    </p:extLst>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 y="447516"/>
            <a:ext cx="9296400" cy="5953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9789179"/>
      </p:ext>
    </p:extLst>
  </p:cSld>
  <p:clrMapOvr>
    <a:masterClrMapping/>
  </p:clrMapOvr>
  <p:timing>
    <p:tnLst>
      <p:par>
        <p:cTn id="1" dur="indefinite" restart="never" nodeType="tmRoot"/>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State Chart Diagram</a:t>
            </a:r>
            <a:endParaRPr lang="en-US" dirty="0"/>
          </a:p>
        </p:txBody>
      </p:sp>
      <p:sp>
        <p:nvSpPr>
          <p:cNvPr id="3" name="Content Placeholder 2"/>
          <p:cNvSpPr>
            <a:spLocks noGrp="1"/>
          </p:cNvSpPr>
          <p:nvPr>
            <p:ph idx="1"/>
          </p:nvPr>
        </p:nvSpPr>
        <p:spPr>
          <a:xfrm>
            <a:off x="457200" y="1371600"/>
            <a:ext cx="8229600" cy="5334000"/>
          </a:xfrm>
        </p:spPr>
        <p:txBody>
          <a:bodyPr>
            <a:normAutofit lnSpcReduction="10000"/>
          </a:bodyPr>
          <a:lstStyle/>
          <a:p>
            <a:pPr algn="just"/>
            <a:r>
              <a:rPr lang="en-US" dirty="0"/>
              <a:t>A </a:t>
            </a:r>
            <a:r>
              <a:rPr lang="en-US" b="1" dirty="0"/>
              <a:t>state</a:t>
            </a:r>
            <a:r>
              <a:rPr lang="en-US" dirty="0"/>
              <a:t> in UML is a condition or </a:t>
            </a:r>
            <a:r>
              <a:rPr lang="en-US" b="1" dirty="0"/>
              <a:t>situation</a:t>
            </a:r>
            <a:r>
              <a:rPr lang="en-US" dirty="0"/>
              <a:t> an object (in a system) might find itself in during its life time.</a:t>
            </a:r>
          </a:p>
          <a:p>
            <a:pPr algn="just"/>
            <a:endParaRPr lang="en-US" dirty="0" smtClean="0"/>
          </a:p>
          <a:p>
            <a:pPr algn="just"/>
            <a:r>
              <a:rPr lang="en-US" dirty="0" smtClean="0"/>
              <a:t>A </a:t>
            </a:r>
            <a:r>
              <a:rPr lang="en-US" dirty="0"/>
              <a:t>state chart diagram is normally used to </a:t>
            </a:r>
            <a:r>
              <a:rPr lang="en-US" b="1" dirty="0"/>
              <a:t>model how the state of an object changes </a:t>
            </a:r>
            <a:r>
              <a:rPr lang="en-US" dirty="0"/>
              <a:t>in its lifetime</a:t>
            </a:r>
            <a:r>
              <a:rPr lang="en-US" dirty="0" smtClean="0"/>
              <a:t>.</a:t>
            </a:r>
          </a:p>
          <a:p>
            <a:pPr algn="just"/>
            <a:endParaRPr lang="en-US" dirty="0" smtClean="0"/>
          </a:p>
          <a:p>
            <a:pPr algn="just"/>
            <a:r>
              <a:rPr lang="en-US" dirty="0"/>
              <a:t>We </a:t>
            </a:r>
            <a:r>
              <a:rPr lang="en-US" b="1" dirty="0"/>
              <a:t>capture</a:t>
            </a:r>
            <a:r>
              <a:rPr lang="en-US" dirty="0"/>
              <a:t> the behavior of the subject object through modeling these various states and transitions between them.</a:t>
            </a:r>
          </a:p>
          <a:p>
            <a:pPr algn="just"/>
            <a:endParaRPr lang="en-US" dirty="0" smtClean="0"/>
          </a:p>
          <a:p>
            <a:pPr algn="just"/>
            <a:endParaRPr lang="en-US" dirty="0"/>
          </a:p>
        </p:txBody>
      </p:sp>
    </p:spTree>
    <p:extLst>
      <p:ext uri="{BB962C8B-B14F-4D97-AF65-F5344CB8AC3E}">
        <p14:creationId xmlns:p14="http://schemas.microsoft.com/office/powerpoint/2010/main" val="18011057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State Chart Diagram</a:t>
            </a:r>
          </a:p>
        </p:txBody>
      </p:sp>
      <p:sp>
        <p:nvSpPr>
          <p:cNvPr id="3" name="Content Placeholder 2"/>
          <p:cNvSpPr>
            <a:spLocks noGrp="1"/>
          </p:cNvSpPr>
          <p:nvPr>
            <p:ph idx="1"/>
          </p:nvPr>
        </p:nvSpPr>
        <p:spPr/>
        <p:txBody>
          <a:bodyPr/>
          <a:lstStyle/>
          <a:p>
            <a:pPr algn="just"/>
            <a:r>
              <a:rPr lang="en-US" dirty="0"/>
              <a:t>Thus, a state machine diagram does not necessarily model all possible states, but rather the </a:t>
            </a:r>
            <a:r>
              <a:rPr lang="en-US" b="1" dirty="0"/>
              <a:t>critical</a:t>
            </a:r>
            <a:r>
              <a:rPr lang="en-US" dirty="0"/>
              <a:t> ones only. When we say “critical” states, we mean those that act as </a:t>
            </a:r>
            <a:r>
              <a:rPr lang="en-US" b="1" dirty="0"/>
              <a:t>stimuli</a:t>
            </a:r>
            <a:r>
              <a:rPr lang="en-US" dirty="0"/>
              <a:t> and </a:t>
            </a:r>
            <a:r>
              <a:rPr lang="en-US" b="1" dirty="0"/>
              <a:t>prompt</a:t>
            </a:r>
            <a:r>
              <a:rPr lang="en-US" dirty="0"/>
              <a:t> for </a:t>
            </a:r>
            <a:r>
              <a:rPr lang="en-US" b="1" dirty="0"/>
              <a:t>response</a:t>
            </a:r>
            <a:r>
              <a:rPr lang="en-US" dirty="0"/>
              <a:t> in the external world.</a:t>
            </a:r>
          </a:p>
          <a:p>
            <a:endParaRPr lang="en-US" dirty="0"/>
          </a:p>
        </p:txBody>
      </p:sp>
    </p:spTree>
    <p:extLst>
      <p:ext uri="{BB962C8B-B14F-4D97-AF65-F5344CB8AC3E}">
        <p14:creationId xmlns:p14="http://schemas.microsoft.com/office/powerpoint/2010/main" val="13290631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State Chart Diagram</a:t>
            </a:r>
          </a:p>
        </p:txBody>
      </p:sp>
      <p:sp>
        <p:nvSpPr>
          <p:cNvPr id="3" name="Content Placeholder 2"/>
          <p:cNvSpPr>
            <a:spLocks noGrp="1"/>
          </p:cNvSpPr>
          <p:nvPr>
            <p:ph idx="1"/>
          </p:nvPr>
        </p:nvSpPr>
        <p:spPr>
          <a:xfrm>
            <a:off x="152400" y="1295400"/>
            <a:ext cx="8839200" cy="5562600"/>
          </a:xfrm>
        </p:spPr>
        <p:txBody>
          <a:bodyPr>
            <a:normAutofit lnSpcReduction="10000"/>
          </a:bodyPr>
          <a:lstStyle/>
          <a:p>
            <a:pPr marL="0" indent="0" algn="just">
              <a:buNone/>
            </a:pPr>
            <a:r>
              <a:rPr lang="en-US" dirty="0"/>
              <a:t>Initial state. This is represented as a filled circle. </a:t>
            </a:r>
            <a:endParaRPr lang="en-US" dirty="0" smtClean="0"/>
          </a:p>
          <a:p>
            <a:pPr marL="0" indent="0" algn="just">
              <a:buNone/>
            </a:pPr>
            <a:r>
              <a:rPr lang="en-US" dirty="0" smtClean="0"/>
              <a:t>• </a:t>
            </a:r>
            <a:r>
              <a:rPr lang="en-US" dirty="0"/>
              <a:t>Final state. This is represented by a filled circle inside a larger circle. </a:t>
            </a:r>
            <a:endParaRPr lang="en-US" dirty="0" smtClean="0"/>
          </a:p>
          <a:p>
            <a:pPr marL="0" indent="0" algn="just">
              <a:buNone/>
            </a:pPr>
            <a:endParaRPr lang="en-US" dirty="0" smtClean="0"/>
          </a:p>
          <a:p>
            <a:pPr marL="0" indent="0" algn="just">
              <a:buNone/>
            </a:pPr>
            <a:r>
              <a:rPr lang="en-US" dirty="0" smtClean="0"/>
              <a:t>• </a:t>
            </a:r>
            <a:r>
              <a:rPr lang="en-US" dirty="0"/>
              <a:t>State. These are represented by rectangles with rounded corners. </a:t>
            </a:r>
            <a:endParaRPr lang="en-US" dirty="0" smtClean="0"/>
          </a:p>
          <a:p>
            <a:pPr marL="0" indent="0" algn="just">
              <a:buNone/>
            </a:pPr>
            <a:endParaRPr lang="en-US" dirty="0" smtClean="0"/>
          </a:p>
          <a:p>
            <a:pPr marL="0" indent="0" algn="just">
              <a:buNone/>
            </a:pPr>
            <a:r>
              <a:rPr lang="en-US" dirty="0" smtClean="0"/>
              <a:t>• </a:t>
            </a:r>
            <a:r>
              <a:rPr lang="en-US" dirty="0"/>
              <a:t>Transition. A transition is shown as an arrow between two states. Normally, the name of the event which causes the transition is places along side the arrow. </a:t>
            </a:r>
            <a:endParaRPr lang="en-US" dirty="0" smtClean="0"/>
          </a:p>
          <a:p>
            <a:pPr marL="0" indent="0" algn="just">
              <a:buNone/>
            </a:pPr>
            <a:endParaRPr lang="en-US" dirty="0" smtClean="0"/>
          </a:p>
        </p:txBody>
      </p:sp>
    </p:spTree>
    <p:extLst>
      <p:ext uri="{BB962C8B-B14F-4D97-AF65-F5344CB8AC3E}">
        <p14:creationId xmlns:p14="http://schemas.microsoft.com/office/powerpoint/2010/main" val="365218749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State Chart Diagram</a:t>
            </a:r>
          </a:p>
        </p:txBody>
      </p:sp>
      <p:sp>
        <p:nvSpPr>
          <p:cNvPr id="3" name="Content Placeholder 2"/>
          <p:cNvSpPr>
            <a:spLocks noGrp="1"/>
          </p:cNvSpPr>
          <p:nvPr>
            <p:ph idx="1"/>
          </p:nvPr>
        </p:nvSpPr>
        <p:spPr/>
        <p:txBody>
          <a:bodyPr/>
          <a:lstStyle/>
          <a:p>
            <a:r>
              <a:rPr lang="en-US" dirty="0"/>
              <a:t>A guard condition is a condition that has to be met in order to enable the transition to which it belongs</a:t>
            </a:r>
            <a:r>
              <a:rPr lang="en-US" dirty="0" smtClean="0"/>
              <a:t>:</a:t>
            </a:r>
          </a:p>
          <a:p>
            <a:endParaRPr lang="en-US" dirty="0" smtClean="0"/>
          </a:p>
          <a:p>
            <a:endParaRPr lang="en-US" dirty="0"/>
          </a:p>
          <a:p>
            <a:pPr algn="just"/>
            <a:r>
              <a:rPr lang="en-US" dirty="0"/>
              <a:t>Guard conditions can be used to document that a certain event, depending on the condition, can lead to different transitions.</a:t>
            </a:r>
          </a:p>
          <a:p>
            <a:endParaRPr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4200" y="3390900"/>
            <a:ext cx="3124200" cy="685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795302435"/>
      </p:ext>
    </p:extLst>
  </p:cSld>
  <p:clrMapOvr>
    <a:masterClrMapping/>
  </p:clrMapOvr>
  <p:timing>
    <p:tnLst>
      <p:par>
        <p:cTn id="1" dur="indefinite" restart="never" nodeType="tmRoot"/>
      </p:par>
    </p:tn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8229600" cy="1143000"/>
          </a:xfrm>
        </p:spPr>
        <p:txBody>
          <a:bodyPr/>
          <a:lstStyle/>
          <a:p>
            <a:r>
              <a:rPr lang="en-US" dirty="0" smtClean="0"/>
              <a:t>Elements of state diagram</a:t>
            </a:r>
            <a:endParaRPr lang="en-US" dirty="0"/>
          </a:p>
        </p:txBody>
      </p:sp>
      <p:sp>
        <p:nvSpPr>
          <p:cNvPr id="3" name="Content Placeholder 2"/>
          <p:cNvSpPr>
            <a:spLocks noGrp="1"/>
          </p:cNvSpPr>
          <p:nvPr>
            <p:ph idx="1"/>
          </p:nvPr>
        </p:nvSpPr>
        <p:spPr>
          <a:xfrm>
            <a:off x="152400" y="990600"/>
            <a:ext cx="8991600" cy="5867400"/>
          </a:xfrm>
        </p:spPr>
        <p:txBody>
          <a:bodyPr>
            <a:normAutofit/>
          </a:bodyPr>
          <a:lstStyle/>
          <a:p>
            <a:r>
              <a:rPr lang="en-US" dirty="0" smtClean="0"/>
              <a:t>Initial State</a:t>
            </a:r>
          </a:p>
          <a:p>
            <a:endParaRPr lang="en-US" dirty="0"/>
          </a:p>
          <a:p>
            <a:r>
              <a:rPr lang="en-US" dirty="0" smtClean="0"/>
              <a:t>State</a:t>
            </a:r>
          </a:p>
          <a:p>
            <a:endParaRPr lang="en-US" dirty="0" smtClean="0"/>
          </a:p>
          <a:p>
            <a:pPr marL="0" indent="0">
              <a:buNone/>
            </a:pPr>
            <a:endParaRPr lang="en-US" dirty="0" smtClean="0"/>
          </a:p>
          <a:p>
            <a:r>
              <a:rPr lang="en-US" dirty="0" smtClean="0"/>
              <a:t>Transition </a:t>
            </a:r>
          </a:p>
          <a:p>
            <a:pPr marL="0" indent="0">
              <a:buNone/>
            </a:pPr>
            <a:endParaRPr lang="en-US" dirty="0"/>
          </a:p>
          <a:p>
            <a:endParaRPr lang="en-US" dirty="0"/>
          </a:p>
          <a:p>
            <a:r>
              <a:rPr lang="en-US" dirty="0" smtClean="0"/>
              <a:t>Final States </a:t>
            </a:r>
          </a:p>
          <a:p>
            <a:endParaRPr lang="en-US" dirty="0"/>
          </a:p>
        </p:txBody>
      </p:sp>
      <p:sp>
        <p:nvSpPr>
          <p:cNvPr id="4" name="Oval 3"/>
          <p:cNvSpPr/>
          <p:nvPr/>
        </p:nvSpPr>
        <p:spPr>
          <a:xfrm>
            <a:off x="4953000" y="1028700"/>
            <a:ext cx="381000" cy="3810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p:cNvGrpSpPr/>
          <p:nvPr/>
        </p:nvGrpSpPr>
        <p:grpSpPr>
          <a:xfrm>
            <a:off x="3390900" y="3505200"/>
            <a:ext cx="3886200" cy="457200"/>
            <a:chOff x="3390900" y="3505200"/>
            <a:chExt cx="3886200" cy="457200"/>
          </a:xfrm>
        </p:grpSpPr>
        <p:cxnSp>
          <p:nvCxnSpPr>
            <p:cNvPr id="13" name="Straight Arrow Connector 12"/>
            <p:cNvCxnSpPr/>
            <p:nvPr/>
          </p:nvCxnSpPr>
          <p:spPr>
            <a:xfrm>
              <a:off x="3390900" y="3962400"/>
              <a:ext cx="3886200" cy="0"/>
            </a:xfrm>
            <a:prstGeom prst="straightConnector1">
              <a:avLst/>
            </a:prstGeom>
            <a:ln w="38100">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505200" y="3505200"/>
              <a:ext cx="3276600" cy="369332"/>
            </a:xfrm>
            <a:prstGeom prst="rect">
              <a:avLst/>
            </a:prstGeom>
            <a:noFill/>
          </p:spPr>
          <p:txBody>
            <a:bodyPr wrap="square" rtlCol="0">
              <a:spAutoFit/>
            </a:bodyPr>
            <a:lstStyle/>
            <a:p>
              <a:r>
                <a:rPr lang="en-US" dirty="0" smtClean="0"/>
                <a:t>Event[Guard Condition]/Action]</a:t>
              </a:r>
              <a:endParaRPr lang="en-US" dirty="0"/>
            </a:p>
          </p:txBody>
        </p:sp>
      </p:grpSp>
      <p:grpSp>
        <p:nvGrpSpPr>
          <p:cNvPr id="14" name="Group 13"/>
          <p:cNvGrpSpPr/>
          <p:nvPr/>
        </p:nvGrpSpPr>
        <p:grpSpPr>
          <a:xfrm>
            <a:off x="4928755" y="5791200"/>
            <a:ext cx="685800" cy="685800"/>
            <a:chOff x="4928755" y="5791200"/>
            <a:chExt cx="685800" cy="685800"/>
          </a:xfrm>
        </p:grpSpPr>
        <p:sp>
          <p:nvSpPr>
            <p:cNvPr id="18" name="Oval 17"/>
            <p:cNvSpPr/>
            <p:nvPr/>
          </p:nvSpPr>
          <p:spPr>
            <a:xfrm>
              <a:off x="4928755" y="5791200"/>
              <a:ext cx="685800" cy="6858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p:cNvSpPr/>
            <p:nvPr/>
          </p:nvSpPr>
          <p:spPr>
            <a:xfrm>
              <a:off x="5081155" y="5981700"/>
              <a:ext cx="342900" cy="34290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48200" y="2209800"/>
            <a:ext cx="1752600" cy="83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983607758"/>
      </p:ext>
    </p:extLst>
  </p:cSld>
  <p:clrMapOvr>
    <a:masterClrMapping/>
  </p:clrMapOvr>
  <p:timing>
    <p:tnLst>
      <p:par>
        <p:cTn id="1" dur="indefinite" restart="never" nodeType="tmRoot"/>
      </p:par>
    </p:tn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smtClean="0"/>
              <a:t>ATM Withdraw</a:t>
            </a:r>
            <a:endParaRPr lang="en-US"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 y="1752600"/>
            <a:ext cx="86868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6967312"/>
      </p:ext>
    </p:extLst>
  </p:cSld>
  <p:clrMapOvr>
    <a:masterClrMapping/>
  </p:clrMapOvr>
  <p:timing>
    <p:tnLst>
      <p:par>
        <p:cTn id="1" dur="indefinite" restart="never" nodeType="tmRoot"/>
      </p:par>
    </p:tn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533401"/>
            <a:ext cx="8305800" cy="5943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50694898"/>
      </p:ext>
    </p:extLst>
  </p:cSld>
  <p:clrMapOvr>
    <a:masterClrMapping/>
  </p:clrMapOvr>
  <p:timing>
    <p:tnLst>
      <p:par>
        <p:cTn id="1" dur="indefinite" restart="never" nodeType="tmRoot"/>
      </p:par>
    </p:tn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8600" y="13854"/>
            <a:ext cx="8610600" cy="68441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8100592"/>
      </p:ext>
    </p:extLst>
  </p:cSld>
  <p:clrMapOvr>
    <a:masterClrMapping/>
  </p:clrMapOvr>
  <p:timing>
    <p:tnLst>
      <p:par>
        <p:cTn id="1" dur="indefinite" restart="never" nodeType="tmRoot"/>
      </p:par>
    </p:tn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3074"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81000" y="6927"/>
            <a:ext cx="8229600" cy="69694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74826495"/>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