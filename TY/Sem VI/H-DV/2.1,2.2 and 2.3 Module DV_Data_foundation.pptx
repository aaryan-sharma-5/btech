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324" r:id="rId31"/>
    <p:sldId id="325"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6" r:id="rId59"/>
    <p:sldId id="317" r:id="rId60"/>
    <p:sldId id="318" r:id="rId61"/>
    <p:sldId id="319" r:id="rId62"/>
    <p:sldId id="320" r:id="rId63"/>
    <p:sldId id="321" r:id="rId64"/>
    <p:sldId id="322" r:id="rId65"/>
    <p:sldId id="323" r:id="rId66"/>
    <p:sldId id="326" r:id="rId6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i+KUFAw3/h+d4qDIb4CbsPHwnr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344"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367282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7409a7b93a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7409a7b93a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7409a7b93a_0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7409a7b93a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7409a7b93a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7409a7b93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7409a7b93a_0_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7409a7b93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7409a7b93a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7409a7b93a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7409a7b93a_0_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7409a7b93a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7409a7b93a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7409a7b93a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7409a7b93a_0_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7409a7b93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17409a7b93a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g17409a7b93a_0_5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7409a7b93a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17409a7b93a_0_5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7409a7b93a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g17409a7b93a_0_5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7409a7b93a_0_6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g17409a7b93a_0_6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7409a7b93a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g17409a7b93a_0_6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17409a7b93a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17409a7b93a_0_6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7409a7b93a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17409a7b93a_0_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7409a7b93a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g17409a7b93a_0_2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7409a7b93a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g17409a7b93a_0_2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7409a7b93a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17409a7b93a_0_2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7409a7b93a_0_3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9" name="Google Shape;189;g17409a7b93a_0_3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7409a7b93a_0_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g17409a7b93a_0_2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7409a7b93a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17409a7b93a_0_3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7409a7b93a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17409a7b93a_0_2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7409a7b93a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17409a7b93a_0_3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7409a7b93a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g17409a7b93a_0_3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7409a7b93a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17409a7b93a_0_4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7409a7b93a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17409a7b93a_0_4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7409a7b93a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17409a7b93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7409a7b93a_0_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7409a7b93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7409a7b93a_0_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7409a7b93a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7ee8f89294_1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7ee8f89294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17ee8f89294_1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17ee8f89294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7ee8f89294_1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7ee8f89294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7409a7b93a_0_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7409a7b93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17ee8f89294_1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17ee8f89294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17409a7b93a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17409a7b93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7ee8f89294_1_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7ee8f89294_1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20" name="Google Shape;20;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26" name="Google Shape;26;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32" name="Google Shape;32;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39" name="Google Shape;3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48" name="Google Shape;48;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53" name="Google Shape;53;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57" name="Google Shape;5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64" name="Google Shape;64;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7"/>
          <p:cNvSpPr>
            <a:spLocks noGrp="1"/>
          </p:cNvSpPr>
          <p:nvPr>
            <p:ph type="pic" idx="2"/>
          </p:nvPr>
        </p:nvSpPr>
        <p:spPr>
          <a:xfrm>
            <a:off x="1792288" y="612775"/>
            <a:ext cx="5486400" cy="4114800"/>
          </a:xfrm>
          <a:prstGeom prst="rect">
            <a:avLst/>
          </a:prstGeom>
          <a:noFill/>
          <a:ln>
            <a:noFill/>
          </a:ln>
        </p:spPr>
      </p:sp>
      <p:sp>
        <p:nvSpPr>
          <p:cNvPr id="68" name="Google Shape;68;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71" name="Google Shape;7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77" name="Google Shape;77;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Module 2: 216H03L602 Jan-May 2026</a:t>
            </a:r>
            <a:endParaRPr/>
          </a:p>
        </p:txBody>
      </p:sp>
      <p:sp>
        <p:nvSpPr>
          <p:cNvPr id="83" name="Google Shape;83;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5133098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smtClean="0"/>
              <a:t>Module 2: 216H03L602 Jan-May 2026</a:t>
            </a:r>
            <a:endParaRPr/>
          </a:p>
        </p:txBody>
      </p:sp>
      <p:sp>
        <p:nvSpPr>
          <p:cNvPr id="14" name="Google Shape;14;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hyperlink" Target="https://help.tableau.com/current/pro/desktop/en-us/maps_howto_choropleth.htm" TargetMode="External"/><Relationship Id="rId2" Type="http://schemas.openxmlformats.org/officeDocument/2006/relationships/hyperlink" Target="https://help.tableau.com/current/pro/desktop/en-us/maps_howto_symbol.htm"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13063" y="447098"/>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Induction to Data Foundation in Data Visualization</a:t>
            </a:r>
            <a:endParaRPr/>
          </a:p>
        </p:txBody>
      </p:sp>
      <p:sp>
        <p:nvSpPr>
          <p:cNvPr id="89" name="Google Shape;89;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a:t>Module 2</a:t>
            </a:r>
            <a:endParaRPr/>
          </a:p>
          <a:p>
            <a:pPr marL="0" lvl="0" indent="0" algn="ctr" rtl="0">
              <a:spcBef>
                <a:spcPts val="640"/>
              </a:spcBef>
              <a:spcAft>
                <a:spcPts val="0"/>
              </a:spcAft>
              <a:buClr>
                <a:srgbClr val="888888"/>
              </a:buClr>
              <a:buSzPts val="3200"/>
              <a:buNone/>
            </a:pPr>
            <a:r>
              <a:rPr lang="en-US" b="1"/>
              <a:t>216H03L602 </a:t>
            </a:r>
            <a:r>
              <a:rPr lang="en-US"/>
              <a:t>	</a:t>
            </a:r>
            <a:endParaRPr/>
          </a:p>
          <a:p>
            <a:pPr marL="0" lvl="0" indent="0" algn="ctr" rtl="0">
              <a:spcBef>
                <a:spcPts val="640"/>
              </a:spcBef>
              <a:spcAft>
                <a:spcPts val="0"/>
              </a:spcAft>
              <a:buClr>
                <a:srgbClr val="888888"/>
              </a:buClr>
              <a:buSzPts val="3200"/>
              <a:buNone/>
            </a:pPr>
            <a:r>
              <a:rPr lang="en-US"/>
              <a:t>Jan- May 2026</a:t>
            </a:r>
            <a:endParaRPr/>
          </a:p>
        </p:txBody>
      </p:sp>
      <p:sp>
        <p:nvSpPr>
          <p:cNvPr id="90" name="Google Shape;90;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91" name="Google Shape;91;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Importance of Data Visualization</a:t>
            </a:r>
            <a:endParaRPr/>
          </a:p>
        </p:txBody>
      </p:sp>
      <p:sp>
        <p:nvSpPr>
          <p:cNvPr id="97" name="Google Shape;9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Visuals are processed faster than text</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Reveals patterns, trends, and outliers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Supports data-driven decision making</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Enhances communication of insights</a:t>
            </a:r>
            <a:endParaRPr/>
          </a:p>
        </p:txBody>
      </p:sp>
      <p:sp>
        <p:nvSpPr>
          <p:cNvPr id="98" name="Google Shape;98;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99" name="Google Shape;99;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Foundation</a:t>
            </a:r>
            <a:endParaRPr/>
          </a:p>
        </p:txBody>
      </p:sp>
      <p:sp>
        <p:nvSpPr>
          <p:cNvPr id="105" name="Google Shape;105;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groundwork for effective visualization</a:t>
            </a:r>
            <a:endParaRPr/>
          </a:p>
          <a:p>
            <a:pPr marL="342900" lvl="0" indent="-342900" algn="l" rtl="0">
              <a:spcBef>
                <a:spcPts val="640"/>
              </a:spcBef>
              <a:spcAft>
                <a:spcPts val="0"/>
              </a:spcAft>
              <a:buClr>
                <a:schemeClr val="dk1"/>
              </a:buClr>
              <a:buSzPts val="3200"/>
              <a:buChar char="•"/>
            </a:pPr>
            <a:r>
              <a:rPr lang="en-US"/>
              <a:t>Ensures data is accurate, clean, and structured</a:t>
            </a:r>
            <a:endParaRPr/>
          </a:p>
          <a:p>
            <a:pPr marL="342900" lvl="0" indent="-342900" algn="l" rtl="0">
              <a:spcBef>
                <a:spcPts val="640"/>
              </a:spcBef>
              <a:spcAft>
                <a:spcPts val="0"/>
              </a:spcAft>
              <a:buClr>
                <a:schemeClr val="dk1"/>
              </a:buClr>
              <a:buSzPts val="3200"/>
              <a:buChar char="•"/>
            </a:pPr>
            <a:r>
              <a:rPr lang="en-US"/>
              <a:t>Involves collection, storage, and preparation</a:t>
            </a:r>
            <a:endParaRPr/>
          </a:p>
        </p:txBody>
      </p:sp>
      <p:sp>
        <p:nvSpPr>
          <p:cNvPr id="106" name="Google Shape;106;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07" name="Google Shape;107;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Types of Data</a:t>
            </a:r>
            <a:endParaRPr/>
          </a:p>
        </p:txBody>
      </p:sp>
      <p:sp>
        <p:nvSpPr>
          <p:cNvPr id="113" name="Google Shape;11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Structured: Tables, databases (e.g., SQL)</a:t>
            </a:r>
            <a:endParaRPr/>
          </a:p>
          <a:p>
            <a:pPr marL="342900" lvl="0" indent="-342900" algn="l" rtl="0">
              <a:spcBef>
                <a:spcPts val="640"/>
              </a:spcBef>
              <a:spcAft>
                <a:spcPts val="0"/>
              </a:spcAft>
              <a:buClr>
                <a:schemeClr val="dk1"/>
              </a:buClr>
              <a:buSzPts val="3200"/>
              <a:buChar char="•"/>
            </a:pPr>
            <a:r>
              <a:rPr lang="en-US"/>
              <a:t>Unstructured: Text, images, videos</a:t>
            </a:r>
            <a:endParaRPr/>
          </a:p>
          <a:p>
            <a:pPr marL="342900" lvl="0" indent="-342900" algn="l" rtl="0">
              <a:spcBef>
                <a:spcPts val="640"/>
              </a:spcBef>
              <a:spcAft>
                <a:spcPts val="0"/>
              </a:spcAft>
              <a:buClr>
                <a:schemeClr val="dk1"/>
              </a:buClr>
              <a:buSzPts val="3200"/>
              <a:buChar char="•"/>
            </a:pPr>
            <a:r>
              <a:rPr lang="en-US"/>
              <a:t>Semi-structured: JSON, XML</a:t>
            </a:r>
            <a:endParaRPr/>
          </a:p>
          <a:p>
            <a:pPr marL="0" lvl="0" indent="0" algn="l" rtl="0">
              <a:spcBef>
                <a:spcPts val="640"/>
              </a:spcBef>
              <a:spcAft>
                <a:spcPts val="0"/>
              </a:spcAft>
              <a:buClr>
                <a:schemeClr val="dk1"/>
              </a:buClr>
              <a:buSzPts val="3200"/>
              <a:buNone/>
            </a:pPr>
            <a:endParaRPr b="1"/>
          </a:p>
          <a:p>
            <a:pPr marL="0" lvl="0" indent="0" algn="l" rtl="0">
              <a:spcBef>
                <a:spcPts val="640"/>
              </a:spcBef>
              <a:spcAft>
                <a:spcPts val="0"/>
              </a:spcAft>
              <a:buClr>
                <a:schemeClr val="dk1"/>
              </a:buClr>
              <a:buSzPts val="3200"/>
              <a:buNone/>
            </a:pPr>
            <a:r>
              <a:rPr lang="en-US" b="1"/>
              <a:t>Each type requires different handling</a:t>
            </a:r>
            <a:endParaRPr/>
          </a:p>
        </p:txBody>
      </p:sp>
      <p:sp>
        <p:nvSpPr>
          <p:cNvPr id="114" name="Google Shape;11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15" name="Google Shape;11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Quality Dimensions</a:t>
            </a:r>
            <a:endParaRPr/>
          </a:p>
        </p:txBody>
      </p:sp>
      <p:sp>
        <p:nvSpPr>
          <p:cNvPr id="121" name="Google Shape;121;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b="1"/>
              <a:t>Accuracy: </a:t>
            </a:r>
            <a:endParaRPr b="1"/>
          </a:p>
          <a:p>
            <a:pPr marL="742950" lvl="1" indent="-285750" algn="l" rtl="0">
              <a:spcBef>
                <a:spcPts val="518"/>
              </a:spcBef>
              <a:spcAft>
                <a:spcPts val="0"/>
              </a:spcAft>
              <a:buClr>
                <a:schemeClr val="dk1"/>
              </a:buClr>
              <a:buSzPct val="100000"/>
              <a:buChar char="–"/>
            </a:pPr>
            <a:r>
              <a:rPr lang="en-US"/>
              <a:t>Correct and reliable data</a:t>
            </a:r>
            <a:endParaRPr/>
          </a:p>
          <a:p>
            <a:pPr marL="342900" lvl="0" indent="-342900" algn="l" rtl="0">
              <a:spcBef>
                <a:spcPts val="592"/>
              </a:spcBef>
              <a:spcAft>
                <a:spcPts val="0"/>
              </a:spcAft>
              <a:buClr>
                <a:schemeClr val="dk1"/>
              </a:buClr>
              <a:buSzPct val="100000"/>
              <a:buChar char="•"/>
            </a:pPr>
            <a:r>
              <a:rPr lang="en-US" b="1"/>
              <a:t>Completeness</a:t>
            </a:r>
            <a:r>
              <a:rPr lang="en-US"/>
              <a:t>: </a:t>
            </a:r>
            <a:endParaRPr/>
          </a:p>
          <a:p>
            <a:pPr marL="742950" lvl="1" indent="-285750" algn="l" rtl="0">
              <a:spcBef>
                <a:spcPts val="518"/>
              </a:spcBef>
              <a:spcAft>
                <a:spcPts val="0"/>
              </a:spcAft>
              <a:buClr>
                <a:schemeClr val="dk1"/>
              </a:buClr>
              <a:buSzPct val="100000"/>
              <a:buChar char="–"/>
            </a:pPr>
            <a:r>
              <a:rPr lang="en-US"/>
              <a:t>No missing values</a:t>
            </a:r>
            <a:endParaRPr/>
          </a:p>
          <a:p>
            <a:pPr marL="342900" lvl="0" indent="-342900" algn="l" rtl="0">
              <a:spcBef>
                <a:spcPts val="592"/>
              </a:spcBef>
              <a:spcAft>
                <a:spcPts val="0"/>
              </a:spcAft>
              <a:buClr>
                <a:schemeClr val="dk1"/>
              </a:buClr>
              <a:buSzPct val="100000"/>
              <a:buChar char="•"/>
            </a:pPr>
            <a:r>
              <a:rPr lang="en-US" b="1"/>
              <a:t>Consistency:</a:t>
            </a:r>
            <a:r>
              <a:rPr lang="en-US"/>
              <a:t> </a:t>
            </a:r>
            <a:endParaRPr/>
          </a:p>
          <a:p>
            <a:pPr marL="742950" lvl="1" indent="-285750" algn="l" rtl="0">
              <a:spcBef>
                <a:spcPts val="518"/>
              </a:spcBef>
              <a:spcAft>
                <a:spcPts val="0"/>
              </a:spcAft>
              <a:buClr>
                <a:schemeClr val="dk1"/>
              </a:buClr>
              <a:buSzPct val="100000"/>
              <a:buChar char="–"/>
            </a:pPr>
            <a:r>
              <a:rPr lang="en-US"/>
              <a:t>Uniform format and values</a:t>
            </a:r>
            <a:endParaRPr/>
          </a:p>
          <a:p>
            <a:pPr marL="342900" lvl="0" indent="-342900" algn="l" rtl="0">
              <a:spcBef>
                <a:spcPts val="592"/>
              </a:spcBef>
              <a:spcAft>
                <a:spcPts val="0"/>
              </a:spcAft>
              <a:buClr>
                <a:schemeClr val="dk1"/>
              </a:buClr>
              <a:buSzPct val="100000"/>
              <a:buChar char="•"/>
            </a:pPr>
            <a:r>
              <a:rPr lang="en-US" b="1"/>
              <a:t>Timeliness:</a:t>
            </a:r>
            <a:r>
              <a:rPr lang="en-US"/>
              <a:t> </a:t>
            </a:r>
            <a:endParaRPr/>
          </a:p>
          <a:p>
            <a:pPr marL="742950" lvl="1" indent="-285750" algn="l" rtl="0">
              <a:spcBef>
                <a:spcPts val="518"/>
              </a:spcBef>
              <a:spcAft>
                <a:spcPts val="0"/>
              </a:spcAft>
              <a:buClr>
                <a:schemeClr val="dk1"/>
              </a:buClr>
              <a:buSzPct val="100000"/>
              <a:buChar char="–"/>
            </a:pPr>
            <a:r>
              <a:rPr lang="en-US"/>
              <a:t>Up-to-date information</a:t>
            </a:r>
            <a:endParaRPr/>
          </a:p>
          <a:p>
            <a:pPr marL="342900" lvl="0" indent="-342900" algn="l" rtl="0">
              <a:spcBef>
                <a:spcPts val="592"/>
              </a:spcBef>
              <a:spcAft>
                <a:spcPts val="0"/>
              </a:spcAft>
              <a:buClr>
                <a:schemeClr val="dk1"/>
              </a:buClr>
              <a:buSzPct val="100000"/>
              <a:buChar char="•"/>
            </a:pPr>
            <a:r>
              <a:rPr lang="en-US" b="1"/>
              <a:t>Reliability:</a:t>
            </a:r>
            <a:r>
              <a:rPr lang="en-US"/>
              <a:t> </a:t>
            </a:r>
            <a:endParaRPr/>
          </a:p>
          <a:p>
            <a:pPr marL="742950" lvl="1" indent="-285750" algn="l" rtl="0">
              <a:spcBef>
                <a:spcPts val="518"/>
              </a:spcBef>
              <a:spcAft>
                <a:spcPts val="0"/>
              </a:spcAft>
              <a:buClr>
                <a:schemeClr val="dk1"/>
              </a:buClr>
              <a:buSzPct val="100000"/>
              <a:buChar char="–"/>
            </a:pPr>
            <a:r>
              <a:rPr lang="en-US"/>
              <a:t>Trusted data sources</a:t>
            </a:r>
            <a:endParaRPr/>
          </a:p>
        </p:txBody>
      </p:sp>
      <p:sp>
        <p:nvSpPr>
          <p:cNvPr id="122" name="Google Shape;122;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23" name="Google Shape;123;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Data Preparation Steps</a:t>
            </a:r>
            <a:endParaRPr/>
          </a:p>
        </p:txBody>
      </p:sp>
      <p:sp>
        <p:nvSpPr>
          <p:cNvPr id="129" name="Google Shape;129;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Clr>
                <a:schemeClr val="dk1"/>
              </a:buClr>
              <a:buSzPts val="3200"/>
              <a:buFont typeface="Calibri"/>
              <a:buAutoNum type="arabicPeriod"/>
            </a:pPr>
            <a:r>
              <a:rPr lang="en-US"/>
              <a:t>Data collection from various sources</a:t>
            </a:r>
            <a:endParaRPr/>
          </a:p>
          <a:p>
            <a:pPr marL="514350" lvl="0" indent="-514350" algn="l" rtl="0">
              <a:spcBef>
                <a:spcPts val="640"/>
              </a:spcBef>
              <a:spcAft>
                <a:spcPts val="0"/>
              </a:spcAft>
              <a:buClr>
                <a:schemeClr val="dk1"/>
              </a:buClr>
              <a:buSzPts val="3200"/>
              <a:buFont typeface="Calibri"/>
              <a:buAutoNum type="arabicPeriod"/>
            </a:pPr>
            <a:r>
              <a:rPr lang="en-US"/>
              <a:t>Cleaning: Remove duplicates, handle missing values</a:t>
            </a:r>
            <a:endParaRPr/>
          </a:p>
          <a:p>
            <a:pPr marL="514350" lvl="0" indent="-514350" algn="l" rtl="0">
              <a:spcBef>
                <a:spcPts val="640"/>
              </a:spcBef>
              <a:spcAft>
                <a:spcPts val="0"/>
              </a:spcAft>
              <a:buClr>
                <a:schemeClr val="dk1"/>
              </a:buClr>
              <a:buSzPts val="3200"/>
              <a:buFont typeface="Calibri"/>
              <a:buAutoNum type="arabicPeriod"/>
            </a:pPr>
            <a:r>
              <a:rPr lang="en-US"/>
              <a:t>Transformation: Normalize, aggregate, encode</a:t>
            </a:r>
            <a:endParaRPr/>
          </a:p>
          <a:p>
            <a:pPr marL="514350" lvl="0" indent="-514350" algn="l" rtl="0">
              <a:spcBef>
                <a:spcPts val="640"/>
              </a:spcBef>
              <a:spcAft>
                <a:spcPts val="0"/>
              </a:spcAft>
              <a:buClr>
                <a:schemeClr val="dk1"/>
              </a:buClr>
              <a:buSzPts val="3200"/>
              <a:buFont typeface="Calibri"/>
              <a:buAutoNum type="arabicPeriod"/>
            </a:pPr>
            <a:r>
              <a:rPr lang="en-US"/>
              <a:t>Integration: Combine datasets for analysis</a:t>
            </a:r>
            <a:endParaRPr/>
          </a:p>
        </p:txBody>
      </p:sp>
      <p:sp>
        <p:nvSpPr>
          <p:cNvPr id="130" name="Google Shape;130;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31" name="Google Shape;131;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Importance of Metadata</a:t>
            </a:r>
            <a:endParaRPr/>
          </a:p>
        </p:txBody>
      </p:sp>
      <p:sp>
        <p:nvSpPr>
          <p:cNvPr id="137" name="Google Shape;137;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Metadata = 'data about data'</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Describes source, format, and meaning</a:t>
            </a:r>
            <a:endParaRPr/>
          </a:p>
          <a:p>
            <a:pPr marL="742950" lvl="1" indent="-285750" algn="l" rtl="0">
              <a:spcBef>
                <a:spcPts val="560"/>
              </a:spcBef>
              <a:spcAft>
                <a:spcPts val="0"/>
              </a:spcAft>
              <a:buClr>
                <a:schemeClr val="dk1"/>
              </a:buClr>
              <a:buSzPts val="2800"/>
              <a:buChar char="–"/>
            </a:pPr>
            <a:r>
              <a:rPr lang="en-US"/>
              <a:t>The source of information matters</a:t>
            </a:r>
            <a:endParaRPr/>
          </a:p>
          <a:p>
            <a:pPr marL="742950" lvl="1" indent="-285750" algn="l" rtl="0">
              <a:spcBef>
                <a:spcPts val="560"/>
              </a:spcBef>
              <a:spcAft>
                <a:spcPts val="0"/>
              </a:spcAft>
              <a:buClr>
                <a:schemeClr val="dk1"/>
              </a:buClr>
              <a:buSzPts val="2800"/>
              <a:buChar char="–"/>
            </a:pPr>
            <a:r>
              <a:rPr lang="en-US"/>
              <a:t>The reason or situation in which data collected </a:t>
            </a:r>
            <a:endParaRPr/>
          </a:p>
          <a:p>
            <a:pPr marL="342900" lvl="0" indent="-342900" algn="l" rtl="0">
              <a:spcBef>
                <a:spcPts val="640"/>
              </a:spcBef>
              <a:spcAft>
                <a:spcPts val="0"/>
              </a:spcAft>
              <a:buClr>
                <a:schemeClr val="dk1"/>
              </a:buClr>
              <a:buSzPts val="3200"/>
              <a:buChar char="•"/>
            </a:pPr>
            <a:r>
              <a:rPr lang="en-US"/>
              <a:t>Helps in interpreting and managing data</a:t>
            </a:r>
            <a:endParaRPr/>
          </a:p>
          <a:p>
            <a:pPr marL="342900" lvl="0" indent="-342900" algn="l" rtl="0">
              <a:spcBef>
                <a:spcPts val="640"/>
              </a:spcBef>
              <a:spcAft>
                <a:spcPts val="0"/>
              </a:spcAft>
              <a:buClr>
                <a:schemeClr val="dk1"/>
              </a:buClr>
              <a:buSzPts val="3200"/>
              <a:buChar char="•"/>
            </a:pPr>
            <a:r>
              <a:rPr lang="en-US"/>
              <a:t>Essential for data governance</a:t>
            </a:r>
            <a:endParaRPr/>
          </a:p>
        </p:txBody>
      </p:sp>
      <p:sp>
        <p:nvSpPr>
          <p:cNvPr id="138" name="Google Shape;13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39" name="Google Shape;13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8"/>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Choosing the Right Data</a:t>
            </a:r>
            <a:endParaRPr/>
          </a:p>
        </p:txBody>
      </p:sp>
      <p:sp>
        <p:nvSpPr>
          <p:cNvPr id="145" name="Google Shape;145;p8"/>
          <p:cNvSpPr txBox="1">
            <a:spLocks noGrp="1"/>
          </p:cNvSpPr>
          <p:nvPr>
            <p:ph type="body" idx="1"/>
          </p:nvPr>
        </p:nvSpPr>
        <p:spPr>
          <a:xfrm>
            <a:off x="457200" y="1059873"/>
            <a:ext cx="8229600" cy="5296477"/>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b="1"/>
              <a:t>Primary V/S Secondary </a:t>
            </a:r>
            <a:endParaRPr/>
          </a:p>
          <a:p>
            <a:pPr marL="342900" lvl="0" indent="-342900" algn="l" rtl="0">
              <a:spcBef>
                <a:spcPts val="592"/>
              </a:spcBef>
              <a:spcAft>
                <a:spcPts val="0"/>
              </a:spcAft>
              <a:buClr>
                <a:schemeClr val="dk1"/>
              </a:buClr>
              <a:buSzPct val="100000"/>
              <a:buChar char="•"/>
            </a:pPr>
            <a:r>
              <a:rPr lang="en-US"/>
              <a:t>Align data with business goals: </a:t>
            </a:r>
            <a:endParaRPr/>
          </a:p>
          <a:p>
            <a:pPr marL="742950" lvl="1" indent="-285750" algn="l" rtl="0">
              <a:spcBef>
                <a:spcPts val="518"/>
              </a:spcBef>
              <a:spcAft>
                <a:spcPts val="0"/>
              </a:spcAft>
              <a:buClr>
                <a:schemeClr val="dk1"/>
              </a:buClr>
              <a:buSzPct val="100000"/>
              <a:buChar char="–"/>
            </a:pPr>
            <a:r>
              <a:rPr lang="en-US"/>
              <a:t>(Objectives of Presentation or reason for collecting) </a:t>
            </a:r>
            <a:endParaRPr/>
          </a:p>
          <a:p>
            <a:pPr marL="342900" lvl="0" indent="-342900" algn="l" rtl="0">
              <a:spcBef>
                <a:spcPts val="592"/>
              </a:spcBef>
              <a:spcAft>
                <a:spcPts val="0"/>
              </a:spcAft>
              <a:buClr>
                <a:schemeClr val="dk1"/>
              </a:buClr>
              <a:buSzPct val="100000"/>
              <a:buChar char="•"/>
            </a:pPr>
            <a:r>
              <a:rPr lang="en-US"/>
              <a:t>Ensure relevance to the audience:</a:t>
            </a:r>
            <a:endParaRPr/>
          </a:p>
          <a:p>
            <a:pPr marL="742950" lvl="1" indent="-285750" algn="l" rtl="0">
              <a:spcBef>
                <a:spcPts val="518"/>
              </a:spcBef>
              <a:spcAft>
                <a:spcPts val="0"/>
              </a:spcAft>
              <a:buClr>
                <a:schemeClr val="dk1"/>
              </a:buClr>
              <a:buSzPct val="100000"/>
              <a:buChar char="–"/>
            </a:pPr>
            <a:r>
              <a:rPr lang="en-US"/>
              <a:t>Create visuals those will have long lasting impact on the audience</a:t>
            </a:r>
            <a:endParaRPr/>
          </a:p>
          <a:p>
            <a:pPr marL="742950" lvl="1" indent="-285750" algn="l" rtl="0">
              <a:spcBef>
                <a:spcPts val="518"/>
              </a:spcBef>
              <a:spcAft>
                <a:spcPts val="0"/>
              </a:spcAft>
              <a:buClr>
                <a:schemeClr val="dk1"/>
              </a:buClr>
              <a:buSzPct val="100000"/>
              <a:buChar char="–"/>
            </a:pPr>
            <a:r>
              <a:rPr lang="en-US"/>
              <a:t>Choose the appropriate methods, tools,  presentation options</a:t>
            </a:r>
            <a:endParaRPr/>
          </a:p>
          <a:p>
            <a:pPr marL="342900" lvl="0" indent="-342900" algn="l" rtl="0">
              <a:spcBef>
                <a:spcPts val="592"/>
              </a:spcBef>
              <a:spcAft>
                <a:spcPts val="0"/>
              </a:spcAft>
              <a:buClr>
                <a:schemeClr val="dk1"/>
              </a:buClr>
              <a:buSzPct val="100000"/>
              <a:buChar char="•"/>
            </a:pPr>
            <a:r>
              <a:rPr lang="en-US"/>
              <a:t>Balance detail vs. summary (granularity)</a:t>
            </a:r>
            <a:endParaRPr/>
          </a:p>
          <a:p>
            <a:pPr marL="742950" lvl="1" indent="-285750" algn="l" rtl="0">
              <a:spcBef>
                <a:spcPts val="518"/>
              </a:spcBef>
              <a:spcAft>
                <a:spcPts val="0"/>
              </a:spcAft>
              <a:buClr>
                <a:schemeClr val="dk1"/>
              </a:buClr>
              <a:buSzPct val="100000"/>
              <a:buChar char="–"/>
            </a:pPr>
            <a:r>
              <a:rPr lang="en-US"/>
              <a:t>Too much information will reduce impact while too little may not convince the audience </a:t>
            </a:r>
            <a:endParaRPr/>
          </a:p>
          <a:p>
            <a:pPr marL="342900" lvl="0" indent="-342900" algn="l" rtl="0">
              <a:spcBef>
                <a:spcPts val="592"/>
              </a:spcBef>
              <a:spcAft>
                <a:spcPts val="0"/>
              </a:spcAft>
              <a:buClr>
                <a:schemeClr val="dk1"/>
              </a:buClr>
              <a:buSzPct val="100000"/>
              <a:buChar char="•"/>
            </a:pPr>
            <a:r>
              <a:rPr lang="en-US"/>
              <a:t>Consider ethical and privacy aspects</a:t>
            </a:r>
            <a:endParaRPr/>
          </a:p>
        </p:txBody>
      </p:sp>
      <p:sp>
        <p:nvSpPr>
          <p:cNvPr id="146" name="Google Shape;14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47" name="Google Shape;14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Visualization Principles</a:t>
            </a:r>
            <a:endParaRPr/>
          </a:p>
        </p:txBody>
      </p:sp>
      <p:sp>
        <p:nvSpPr>
          <p:cNvPr id="153" name="Google Shape;153;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Choose appropriate chart types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Keep visuals simple and clear</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Highlight key insights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Avoid misleading representations</a:t>
            </a:r>
            <a:endParaRPr/>
          </a:p>
        </p:txBody>
      </p:sp>
      <p:sp>
        <p:nvSpPr>
          <p:cNvPr id="154" name="Google Shape;154;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55" name="Google Shape;155;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Addressing the Design of Visualisations</a:t>
            </a:r>
            <a:endParaRPr/>
          </a:p>
        </p:txBody>
      </p:sp>
      <p:sp>
        <p:nvSpPr>
          <p:cNvPr id="161" name="Google Shape;161;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Strong data foundation = reliable insights</a:t>
            </a:r>
            <a:endParaRPr/>
          </a:p>
          <a:p>
            <a:pPr marL="342900" lvl="0" indent="-342900" algn="l" rtl="0">
              <a:spcBef>
                <a:spcPts val="640"/>
              </a:spcBef>
              <a:spcAft>
                <a:spcPts val="0"/>
              </a:spcAft>
              <a:buClr>
                <a:schemeClr val="dk1"/>
              </a:buClr>
              <a:buSzPts val="3200"/>
              <a:buChar char="•"/>
            </a:pPr>
            <a:r>
              <a:rPr lang="en-US"/>
              <a:t>Visualization is storytelling with data</a:t>
            </a:r>
            <a:endParaRPr/>
          </a:p>
          <a:p>
            <a:pPr marL="342900" lvl="0" indent="-342900" algn="l" rtl="0">
              <a:spcBef>
                <a:spcPts val="640"/>
              </a:spcBef>
              <a:spcAft>
                <a:spcPts val="0"/>
              </a:spcAft>
              <a:buClr>
                <a:schemeClr val="dk1"/>
              </a:buClr>
              <a:buSzPts val="3200"/>
              <a:buChar char="•"/>
            </a:pPr>
            <a:r>
              <a:rPr lang="en-US"/>
              <a:t>Practice with real-world datasets</a:t>
            </a:r>
            <a:endParaRPr/>
          </a:p>
          <a:p>
            <a:pPr marL="342900" lvl="0" indent="-342900" algn="l" rtl="0">
              <a:spcBef>
                <a:spcPts val="640"/>
              </a:spcBef>
              <a:spcAft>
                <a:spcPts val="0"/>
              </a:spcAft>
              <a:buClr>
                <a:schemeClr val="dk1"/>
              </a:buClr>
              <a:buSzPts val="3200"/>
              <a:buChar char="•"/>
            </a:pPr>
            <a:r>
              <a:rPr lang="en-US"/>
              <a:t>Explore → Clean → Visualize → Interpret</a:t>
            </a:r>
            <a:endParaRPr/>
          </a:p>
        </p:txBody>
      </p:sp>
      <p:sp>
        <p:nvSpPr>
          <p:cNvPr id="162" name="Google Shape;162;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63" name="Google Shape;163;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1"/>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Importance of Visualization Design</a:t>
            </a:r>
            <a:endParaRPr/>
          </a:p>
        </p:txBody>
      </p:sp>
      <p:sp>
        <p:nvSpPr>
          <p:cNvPr id="169" name="Google Shape;169;p11"/>
          <p:cNvSpPr txBox="1">
            <a:spLocks noGrp="1"/>
          </p:cNvSpPr>
          <p:nvPr>
            <p:ph type="body" idx="1"/>
          </p:nvPr>
        </p:nvSpPr>
        <p:spPr>
          <a:xfrm>
            <a:off x="322118" y="1236519"/>
            <a:ext cx="8364682"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Enhances data comprehension and insight discovery</a:t>
            </a:r>
            <a:endParaRPr/>
          </a:p>
          <a:p>
            <a:pPr marL="742950" lvl="1" indent="-285750" algn="l" rtl="0">
              <a:spcBef>
                <a:spcPts val="560"/>
              </a:spcBef>
              <a:spcAft>
                <a:spcPts val="0"/>
              </a:spcAft>
              <a:buClr>
                <a:schemeClr val="dk1"/>
              </a:buClr>
              <a:buSzPts val="2800"/>
              <a:buChar char="–"/>
            </a:pPr>
            <a:r>
              <a:rPr lang="en-US"/>
              <a:t>Recognition is easier than remembrance </a:t>
            </a:r>
            <a:endParaRPr/>
          </a:p>
          <a:p>
            <a:pPr marL="742950" lvl="1" indent="-285750" algn="l" rtl="0">
              <a:spcBef>
                <a:spcPts val="560"/>
              </a:spcBef>
              <a:spcAft>
                <a:spcPts val="0"/>
              </a:spcAft>
              <a:buClr>
                <a:schemeClr val="dk1"/>
              </a:buClr>
              <a:buSzPts val="2800"/>
              <a:buChar char="–"/>
            </a:pPr>
            <a:r>
              <a:rPr lang="en-US"/>
              <a:t>Easy to interpret patterns with graphs and figures</a:t>
            </a:r>
            <a:endParaRPr/>
          </a:p>
          <a:p>
            <a:pPr marL="342900" lvl="0" indent="-342900" algn="l" rtl="0">
              <a:spcBef>
                <a:spcPts val="640"/>
              </a:spcBef>
              <a:spcAft>
                <a:spcPts val="0"/>
              </a:spcAft>
              <a:buClr>
                <a:schemeClr val="dk1"/>
              </a:buClr>
              <a:buSzPts val="3200"/>
              <a:buChar char="•"/>
            </a:pPr>
            <a:r>
              <a:rPr lang="en-US"/>
              <a:t>Improves communication and storytelling</a:t>
            </a:r>
            <a:endParaRPr/>
          </a:p>
          <a:p>
            <a:pPr marL="914400" lvl="1" indent="-514350" algn="l" rtl="0">
              <a:spcBef>
                <a:spcPts val="560"/>
              </a:spcBef>
              <a:spcAft>
                <a:spcPts val="0"/>
              </a:spcAft>
              <a:buClr>
                <a:schemeClr val="dk1"/>
              </a:buClr>
              <a:buSzPts val="2800"/>
              <a:buChar char="–"/>
            </a:pPr>
            <a:r>
              <a:rPr lang="en-US"/>
              <a:t>Less time to communicate more</a:t>
            </a:r>
            <a:endParaRPr/>
          </a:p>
          <a:p>
            <a:pPr marL="342900" lvl="0" indent="-342900" algn="l" rtl="0">
              <a:spcBef>
                <a:spcPts val="640"/>
              </a:spcBef>
              <a:spcAft>
                <a:spcPts val="0"/>
              </a:spcAft>
              <a:buClr>
                <a:schemeClr val="dk1"/>
              </a:buClr>
              <a:buSzPts val="3200"/>
              <a:buChar char="•"/>
            </a:pPr>
            <a:r>
              <a:rPr lang="en-US"/>
              <a:t>Reduces misinterpretation and cognitive load</a:t>
            </a:r>
            <a:endParaRPr/>
          </a:p>
          <a:p>
            <a:pPr marL="742950" lvl="1" indent="-285750" algn="l" rtl="0">
              <a:spcBef>
                <a:spcPts val="560"/>
              </a:spcBef>
              <a:spcAft>
                <a:spcPts val="0"/>
              </a:spcAft>
              <a:buClr>
                <a:schemeClr val="dk1"/>
              </a:buClr>
              <a:buSzPts val="2800"/>
              <a:buChar char="–"/>
            </a:pPr>
            <a:r>
              <a:rPr lang="en-US"/>
              <a:t>The audience is bound to the visualization </a:t>
            </a:r>
            <a:endParaRPr/>
          </a:p>
        </p:txBody>
      </p:sp>
      <p:sp>
        <p:nvSpPr>
          <p:cNvPr id="170" name="Google Shape;170;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71" name="Google Shape;171;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2"/>
          <p:cNvSpPr txBox="1">
            <a:spLocks noGrp="1"/>
          </p:cNvSpPr>
          <p:nvPr>
            <p:ph type="title"/>
          </p:nvPr>
        </p:nvSpPr>
        <p:spPr>
          <a:xfrm>
            <a:off x="457200" y="447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Steps in Visualization Design</a:t>
            </a:r>
            <a:endParaRPr/>
          </a:p>
        </p:txBody>
      </p:sp>
      <p:sp>
        <p:nvSpPr>
          <p:cNvPr id="177" name="Google Shape;17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Understanding the Audience</a:t>
            </a:r>
            <a:endParaRPr/>
          </a:p>
          <a:p>
            <a:pPr marL="342900" lvl="0" indent="-342900" algn="l" rtl="0">
              <a:spcBef>
                <a:spcPts val="640"/>
              </a:spcBef>
              <a:spcAft>
                <a:spcPts val="0"/>
              </a:spcAft>
              <a:buClr>
                <a:schemeClr val="dk1"/>
              </a:buClr>
              <a:buSzPts val="3200"/>
              <a:buChar char="•"/>
            </a:pPr>
            <a:r>
              <a:rPr lang="en-US" b="1"/>
              <a:t>Choose the right Chart Type</a:t>
            </a:r>
            <a:endParaRPr/>
          </a:p>
          <a:p>
            <a:pPr marL="342900" lvl="0" indent="-342900" algn="l" rtl="0">
              <a:spcBef>
                <a:spcPts val="640"/>
              </a:spcBef>
              <a:spcAft>
                <a:spcPts val="0"/>
              </a:spcAft>
              <a:buClr>
                <a:schemeClr val="dk1"/>
              </a:buClr>
              <a:buSzPts val="3200"/>
              <a:buChar char="•"/>
            </a:pPr>
            <a:r>
              <a:rPr lang="en-US" b="1"/>
              <a:t>Colour Theory</a:t>
            </a:r>
            <a:endParaRPr/>
          </a:p>
          <a:p>
            <a:pPr marL="342900" lvl="0" indent="-342900" algn="l" rtl="0">
              <a:spcBef>
                <a:spcPts val="640"/>
              </a:spcBef>
              <a:spcAft>
                <a:spcPts val="0"/>
              </a:spcAft>
              <a:buClr>
                <a:schemeClr val="dk1"/>
              </a:buClr>
              <a:buSzPts val="3200"/>
              <a:buChar char="•"/>
            </a:pPr>
            <a:r>
              <a:rPr lang="en-US" b="1"/>
              <a:t>Typography, Text and Labels</a:t>
            </a:r>
            <a:endParaRPr/>
          </a:p>
          <a:p>
            <a:pPr marL="342900" lvl="0" indent="-342900" algn="l" rtl="0">
              <a:spcBef>
                <a:spcPts val="640"/>
              </a:spcBef>
              <a:spcAft>
                <a:spcPts val="0"/>
              </a:spcAft>
              <a:buClr>
                <a:schemeClr val="dk1"/>
              </a:buClr>
              <a:buSzPts val="3200"/>
              <a:buChar char="•"/>
            </a:pPr>
            <a:r>
              <a:rPr lang="en-US" b="1"/>
              <a:t>Layouts and Composition </a:t>
            </a:r>
            <a:endParaRPr/>
          </a:p>
        </p:txBody>
      </p:sp>
      <p:sp>
        <p:nvSpPr>
          <p:cNvPr id="178" name="Google Shape;1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79" name="Google Shape;1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3"/>
          <p:cNvSpPr txBox="1">
            <a:spLocks noGrp="1"/>
          </p:cNvSpPr>
          <p:nvPr>
            <p:ph type="title"/>
          </p:nvPr>
        </p:nvSpPr>
        <p:spPr>
          <a:xfrm>
            <a:off x="457200" y="447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Steps in Visualization Design</a:t>
            </a:r>
            <a:endParaRPr/>
          </a:p>
        </p:txBody>
      </p:sp>
      <p:sp>
        <p:nvSpPr>
          <p:cNvPr id="185" name="Google Shape;185;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b="1"/>
              <a:t>Understanding the Audience</a:t>
            </a:r>
            <a:endParaRPr/>
          </a:p>
          <a:p>
            <a:pPr marL="342900" lvl="1" indent="-342900" algn="l" rtl="0">
              <a:spcBef>
                <a:spcPts val="592"/>
              </a:spcBef>
              <a:spcAft>
                <a:spcPts val="0"/>
              </a:spcAft>
              <a:buClr>
                <a:schemeClr val="dk1"/>
              </a:buClr>
              <a:buSzPct val="100000"/>
              <a:buFont typeface="Arial"/>
              <a:buChar char="•"/>
            </a:pPr>
            <a:r>
              <a:rPr lang="en-US" sz="3200"/>
              <a:t>Tailor visuals to audience's knowledge level</a:t>
            </a:r>
            <a:endParaRPr/>
          </a:p>
          <a:p>
            <a:pPr marL="742950" lvl="1" indent="-285750" algn="l" rtl="0">
              <a:spcBef>
                <a:spcPts val="518"/>
              </a:spcBef>
              <a:spcAft>
                <a:spcPts val="0"/>
              </a:spcAft>
              <a:buClr>
                <a:schemeClr val="dk1"/>
              </a:buClr>
              <a:buSzPct val="100000"/>
              <a:buChar char="–"/>
            </a:pPr>
            <a:r>
              <a:rPr lang="en-US"/>
              <a:t>Educational, Ethnical background</a:t>
            </a:r>
            <a:endParaRPr/>
          </a:p>
          <a:p>
            <a:pPr marL="342900" lvl="0" indent="-342900" algn="l" rtl="0">
              <a:spcBef>
                <a:spcPts val="592"/>
              </a:spcBef>
              <a:spcAft>
                <a:spcPts val="0"/>
              </a:spcAft>
              <a:buClr>
                <a:schemeClr val="dk1"/>
              </a:buClr>
              <a:buSzPct val="100000"/>
              <a:buChar char="•"/>
            </a:pPr>
            <a:r>
              <a:rPr lang="en-US"/>
              <a:t>Consider stakeholders' goals and interests</a:t>
            </a:r>
            <a:endParaRPr/>
          </a:p>
          <a:p>
            <a:pPr marL="742950" lvl="1" indent="-285750" algn="l" rtl="0">
              <a:spcBef>
                <a:spcPts val="518"/>
              </a:spcBef>
              <a:spcAft>
                <a:spcPts val="0"/>
              </a:spcAft>
              <a:buClr>
                <a:schemeClr val="dk1"/>
              </a:buClr>
              <a:buSzPct val="100000"/>
              <a:buChar char="–"/>
            </a:pPr>
            <a:r>
              <a:rPr lang="en-US"/>
              <a:t>Reason for presentation</a:t>
            </a:r>
            <a:endParaRPr/>
          </a:p>
          <a:p>
            <a:pPr marL="742950" lvl="1" indent="-285750" algn="l" rtl="0">
              <a:spcBef>
                <a:spcPts val="518"/>
              </a:spcBef>
              <a:spcAft>
                <a:spcPts val="0"/>
              </a:spcAft>
              <a:buClr>
                <a:schemeClr val="dk1"/>
              </a:buClr>
              <a:buSzPct val="100000"/>
              <a:buChar char="–"/>
            </a:pPr>
            <a:r>
              <a:rPr lang="en-US"/>
              <a:t>Available time for interaction</a:t>
            </a:r>
            <a:endParaRPr/>
          </a:p>
          <a:p>
            <a:pPr marL="342900" lvl="0" indent="-342900" algn="l" rtl="0">
              <a:spcBef>
                <a:spcPts val="592"/>
              </a:spcBef>
              <a:spcAft>
                <a:spcPts val="0"/>
              </a:spcAft>
              <a:buClr>
                <a:schemeClr val="dk1"/>
              </a:buClr>
              <a:buSzPct val="100000"/>
              <a:buChar char="•"/>
            </a:pPr>
            <a:r>
              <a:rPr lang="en-US"/>
              <a:t>Use appropriate complexity and terminology</a:t>
            </a:r>
            <a:endParaRPr b="1"/>
          </a:p>
          <a:p>
            <a:pPr marL="742950" lvl="1" indent="-285750" algn="l" rtl="0">
              <a:spcBef>
                <a:spcPts val="518"/>
              </a:spcBef>
              <a:spcAft>
                <a:spcPts val="0"/>
              </a:spcAft>
              <a:buClr>
                <a:schemeClr val="dk1"/>
              </a:buClr>
              <a:buSzPct val="100000"/>
              <a:buChar char="–"/>
            </a:pPr>
            <a:r>
              <a:rPr lang="en-US"/>
              <a:t>Tool for presentation</a:t>
            </a:r>
            <a:endParaRPr/>
          </a:p>
          <a:p>
            <a:pPr marL="742950" lvl="1" indent="-285750" algn="l" rtl="0">
              <a:spcBef>
                <a:spcPts val="518"/>
              </a:spcBef>
              <a:spcAft>
                <a:spcPts val="0"/>
              </a:spcAft>
              <a:buClr>
                <a:schemeClr val="dk1"/>
              </a:buClr>
              <a:buSzPct val="100000"/>
              <a:buChar char="–"/>
            </a:pPr>
            <a:r>
              <a:rPr lang="en-US"/>
              <a:t>Age, Gender, Nationality   </a:t>
            </a:r>
            <a:endParaRPr/>
          </a:p>
        </p:txBody>
      </p:sp>
      <p:sp>
        <p:nvSpPr>
          <p:cNvPr id="186" name="Google Shape;18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87" name="Google Shape;18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Choosing the Right Chart Type</a:t>
            </a:r>
            <a:endParaRPr/>
          </a:p>
        </p:txBody>
      </p:sp>
      <p:sp>
        <p:nvSpPr>
          <p:cNvPr id="193" name="Google Shape;193;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Bar/Column: Compare categories</a:t>
            </a:r>
            <a:endParaRPr/>
          </a:p>
          <a:p>
            <a:pPr marL="342900" lvl="0" indent="-342900" algn="l" rtl="0">
              <a:spcBef>
                <a:spcPts val="640"/>
              </a:spcBef>
              <a:spcAft>
                <a:spcPts val="0"/>
              </a:spcAft>
              <a:buClr>
                <a:schemeClr val="dk1"/>
              </a:buClr>
              <a:buSzPts val="3200"/>
              <a:buChar char="•"/>
            </a:pPr>
            <a:r>
              <a:rPr lang="en-US"/>
              <a:t>Line: Show trends over time</a:t>
            </a:r>
            <a:endParaRPr/>
          </a:p>
          <a:p>
            <a:pPr marL="342900" lvl="0" indent="-342900" algn="l" rtl="0">
              <a:spcBef>
                <a:spcPts val="640"/>
              </a:spcBef>
              <a:spcAft>
                <a:spcPts val="0"/>
              </a:spcAft>
              <a:buClr>
                <a:schemeClr val="dk1"/>
              </a:buClr>
              <a:buSzPts val="3200"/>
              <a:buChar char="•"/>
            </a:pPr>
            <a:r>
              <a:rPr lang="en-US"/>
              <a:t>Pie: Show proportions (use sparingly)</a:t>
            </a:r>
            <a:endParaRPr/>
          </a:p>
          <a:p>
            <a:pPr marL="342900" lvl="0" indent="-342900" algn="l" rtl="0">
              <a:spcBef>
                <a:spcPts val="640"/>
              </a:spcBef>
              <a:spcAft>
                <a:spcPts val="0"/>
              </a:spcAft>
              <a:buClr>
                <a:schemeClr val="dk1"/>
              </a:buClr>
              <a:buSzPts val="3200"/>
              <a:buChar char="•"/>
            </a:pPr>
            <a:r>
              <a:rPr lang="en-US"/>
              <a:t>Scatter: Show relationships between variables</a:t>
            </a:r>
            <a:endParaRPr/>
          </a:p>
          <a:p>
            <a:pPr marL="342900" lvl="0" indent="-139700" algn="l" rtl="0">
              <a:spcBef>
                <a:spcPts val="640"/>
              </a:spcBef>
              <a:spcAft>
                <a:spcPts val="0"/>
              </a:spcAft>
              <a:buClr>
                <a:schemeClr val="dk1"/>
              </a:buClr>
              <a:buSzPts val="3200"/>
              <a:buNone/>
            </a:pPr>
            <a:endParaRPr/>
          </a:p>
        </p:txBody>
      </p:sp>
      <p:sp>
        <p:nvSpPr>
          <p:cNvPr id="194" name="Google Shape;194;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195" name="Google Shape;19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5"/>
          <p:cNvSpPr txBox="1">
            <a:spLocks noGrp="1"/>
          </p:cNvSpPr>
          <p:nvPr>
            <p:ph type="title"/>
          </p:nvPr>
        </p:nvSpPr>
        <p:spPr>
          <a:xfrm>
            <a:off x="457200" y="447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Color Theory in Visualization</a:t>
            </a:r>
            <a:endParaRPr/>
          </a:p>
        </p:txBody>
      </p:sp>
      <p:sp>
        <p:nvSpPr>
          <p:cNvPr id="201" name="Google Shape;201;p15"/>
          <p:cNvSpPr txBox="1">
            <a:spLocks noGrp="1"/>
          </p:cNvSpPr>
          <p:nvPr>
            <p:ph type="body" idx="1"/>
          </p:nvPr>
        </p:nvSpPr>
        <p:spPr>
          <a:xfrm>
            <a:off x="446809" y="1059873"/>
            <a:ext cx="8229600" cy="542405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Use colour to highlight, not decorate</a:t>
            </a:r>
            <a:endParaRPr/>
          </a:p>
          <a:p>
            <a:pPr marL="742950" lvl="1" indent="-285750" algn="l" rtl="0">
              <a:spcBef>
                <a:spcPts val="560"/>
              </a:spcBef>
              <a:spcAft>
                <a:spcPts val="0"/>
              </a:spcAft>
              <a:buClr>
                <a:schemeClr val="dk1"/>
              </a:buClr>
              <a:buSzPts val="2800"/>
              <a:buChar char="–"/>
            </a:pPr>
            <a:r>
              <a:rPr lang="en-US"/>
              <a:t>Colours attract attention but may be distracting</a:t>
            </a:r>
            <a:endParaRPr/>
          </a:p>
          <a:p>
            <a:pPr marL="342900" lvl="0" indent="-342900" algn="l" rtl="0">
              <a:spcBef>
                <a:spcPts val="640"/>
              </a:spcBef>
              <a:spcAft>
                <a:spcPts val="0"/>
              </a:spcAft>
              <a:buClr>
                <a:schemeClr val="dk1"/>
              </a:buClr>
              <a:buSzPts val="3200"/>
              <a:buChar char="•"/>
            </a:pPr>
            <a:r>
              <a:rPr lang="en-US"/>
              <a:t>Limit color palette for clarity</a:t>
            </a:r>
            <a:endParaRPr/>
          </a:p>
          <a:p>
            <a:pPr marL="742950" lvl="1" indent="-285750" algn="l" rtl="0">
              <a:spcBef>
                <a:spcPts val="560"/>
              </a:spcBef>
              <a:spcAft>
                <a:spcPts val="0"/>
              </a:spcAft>
              <a:buClr>
                <a:schemeClr val="dk1"/>
              </a:buClr>
              <a:buSzPts val="2800"/>
              <a:buChar char="–"/>
            </a:pPr>
            <a:r>
              <a:rPr lang="en-US"/>
              <a:t>Too many colours and colours which are close to each other may lead to confusion</a:t>
            </a:r>
            <a:endParaRPr/>
          </a:p>
          <a:p>
            <a:pPr marL="342900" lvl="0" indent="-342900" algn="l" rtl="0">
              <a:spcBef>
                <a:spcPts val="640"/>
              </a:spcBef>
              <a:spcAft>
                <a:spcPts val="0"/>
              </a:spcAft>
              <a:buClr>
                <a:schemeClr val="dk1"/>
              </a:buClr>
              <a:buSzPts val="3200"/>
              <a:buChar char="•"/>
            </a:pPr>
            <a:r>
              <a:rPr lang="en-US"/>
              <a:t>Use colorblind-friendly schemes</a:t>
            </a:r>
            <a:endParaRPr/>
          </a:p>
          <a:p>
            <a:pPr marL="742950" lvl="1" indent="-285750" algn="l" rtl="0">
              <a:spcBef>
                <a:spcPts val="560"/>
              </a:spcBef>
              <a:spcAft>
                <a:spcPts val="0"/>
              </a:spcAft>
              <a:buClr>
                <a:schemeClr val="dk1"/>
              </a:buClr>
              <a:buSzPts val="2800"/>
              <a:buChar char="–"/>
            </a:pPr>
            <a:r>
              <a:rPr lang="en-US"/>
              <a:t>Avoid using red-green yellow-brown combination</a:t>
            </a:r>
            <a:endParaRPr/>
          </a:p>
          <a:p>
            <a:pPr marL="342900" lvl="0" indent="-342900" algn="l" rtl="0">
              <a:spcBef>
                <a:spcPts val="640"/>
              </a:spcBef>
              <a:spcAft>
                <a:spcPts val="0"/>
              </a:spcAft>
              <a:buClr>
                <a:schemeClr val="dk1"/>
              </a:buClr>
              <a:buSzPts val="3200"/>
              <a:buChar char="•"/>
            </a:pPr>
            <a:r>
              <a:rPr lang="en-US"/>
              <a:t>Maintain contrast for readability</a:t>
            </a:r>
            <a:endParaRPr/>
          </a:p>
        </p:txBody>
      </p:sp>
      <p:sp>
        <p:nvSpPr>
          <p:cNvPr id="202" name="Google Shape;20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03" name="Google Shape;20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6"/>
          <p:cNvSpPr txBox="1">
            <a:spLocks noGrp="1"/>
          </p:cNvSpPr>
          <p:nvPr>
            <p:ph type="title"/>
          </p:nvPr>
        </p:nvSpPr>
        <p:spPr>
          <a:xfrm>
            <a:off x="457200" y="-26698"/>
            <a:ext cx="8229600" cy="81640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Typography and Labels</a:t>
            </a:r>
            <a:endParaRPr/>
          </a:p>
        </p:txBody>
      </p:sp>
      <p:sp>
        <p:nvSpPr>
          <p:cNvPr id="209" name="Google Shape;209;p16"/>
          <p:cNvSpPr txBox="1">
            <a:spLocks noGrp="1"/>
          </p:cNvSpPr>
          <p:nvPr>
            <p:ph type="body" idx="1"/>
          </p:nvPr>
        </p:nvSpPr>
        <p:spPr>
          <a:xfrm>
            <a:off x="457200" y="1184564"/>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Use clear, legible fonts</a:t>
            </a:r>
            <a:endParaRPr/>
          </a:p>
          <a:p>
            <a:pPr marL="342900" lvl="0" indent="-342900" algn="l" rtl="0">
              <a:spcBef>
                <a:spcPts val="640"/>
              </a:spcBef>
              <a:spcAft>
                <a:spcPts val="0"/>
              </a:spcAft>
              <a:buClr>
                <a:schemeClr val="dk1"/>
              </a:buClr>
              <a:buSzPts val="3200"/>
              <a:buChar char="•"/>
            </a:pPr>
            <a:r>
              <a:rPr lang="en-US"/>
              <a:t>Avoid excessive font styles or sizes</a:t>
            </a:r>
            <a:endParaRPr/>
          </a:p>
          <a:p>
            <a:pPr marL="342900" lvl="0" indent="-342900" algn="l" rtl="0">
              <a:spcBef>
                <a:spcPts val="640"/>
              </a:spcBef>
              <a:spcAft>
                <a:spcPts val="0"/>
              </a:spcAft>
              <a:buClr>
                <a:schemeClr val="dk1"/>
              </a:buClr>
              <a:buSzPts val="3200"/>
              <a:buChar char="•"/>
            </a:pPr>
            <a:r>
              <a:rPr lang="en-US"/>
              <a:t>Label axes and data points clearly</a:t>
            </a:r>
            <a:endParaRPr/>
          </a:p>
          <a:p>
            <a:pPr marL="342900" lvl="0" indent="-342900" algn="l" rtl="0">
              <a:spcBef>
                <a:spcPts val="640"/>
              </a:spcBef>
              <a:spcAft>
                <a:spcPts val="0"/>
              </a:spcAft>
              <a:buClr>
                <a:schemeClr val="dk1"/>
              </a:buClr>
              <a:buSzPts val="3200"/>
              <a:buChar char="•"/>
            </a:pPr>
            <a:r>
              <a:rPr lang="en-US"/>
              <a:t>Use annotations to explain insights</a:t>
            </a:r>
            <a:endParaRPr/>
          </a:p>
          <a:p>
            <a:pPr marL="342900" lvl="0" indent="-342900" algn="l" rtl="0">
              <a:spcBef>
                <a:spcPts val="640"/>
              </a:spcBef>
              <a:spcAft>
                <a:spcPts val="0"/>
              </a:spcAft>
              <a:buClr>
                <a:schemeClr val="dk1"/>
              </a:buClr>
              <a:buSzPts val="3200"/>
              <a:buChar char="•"/>
            </a:pPr>
            <a:r>
              <a:rPr lang="en-US"/>
              <a:t>Use simple language and cues instead of complicated words</a:t>
            </a:r>
            <a:endParaRPr/>
          </a:p>
        </p:txBody>
      </p:sp>
      <p:sp>
        <p:nvSpPr>
          <p:cNvPr id="210" name="Google Shape;210;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11" name="Google Shape;211;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7"/>
          <p:cNvSpPr txBox="1">
            <a:spLocks noGrp="1"/>
          </p:cNvSpPr>
          <p:nvPr>
            <p:ph type="title"/>
          </p:nvPr>
        </p:nvSpPr>
        <p:spPr>
          <a:xfrm>
            <a:off x="457200" y="4474"/>
            <a:ext cx="8229600" cy="8683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Layout and Composition</a:t>
            </a:r>
            <a:endParaRPr/>
          </a:p>
        </p:txBody>
      </p:sp>
      <p:sp>
        <p:nvSpPr>
          <p:cNvPr id="217" name="Google Shape;217;p17"/>
          <p:cNvSpPr txBox="1">
            <a:spLocks noGrp="1"/>
          </p:cNvSpPr>
          <p:nvPr>
            <p:ph type="body" idx="1"/>
          </p:nvPr>
        </p:nvSpPr>
        <p:spPr>
          <a:xfrm>
            <a:off x="457200" y="1028700"/>
            <a:ext cx="8229600" cy="5216236"/>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Gestalt Principles of Design</a:t>
            </a:r>
            <a:endParaRPr/>
          </a:p>
          <a:p>
            <a:pPr marL="742950" lvl="1" indent="-285750" algn="l" rtl="0">
              <a:spcBef>
                <a:spcPts val="518"/>
              </a:spcBef>
              <a:spcAft>
                <a:spcPts val="0"/>
              </a:spcAft>
              <a:buClr>
                <a:schemeClr val="dk1"/>
              </a:buClr>
              <a:buSzPct val="100000"/>
              <a:buChar char="–"/>
            </a:pPr>
            <a:r>
              <a:rPr lang="en-US" b="1"/>
              <a:t>Similarity</a:t>
            </a:r>
            <a:r>
              <a:rPr lang="en-US"/>
              <a:t> (grouping like items)</a:t>
            </a:r>
            <a:endParaRPr/>
          </a:p>
          <a:p>
            <a:pPr marL="742950" lvl="1" indent="-285750" algn="l" rtl="0">
              <a:spcBef>
                <a:spcPts val="518"/>
              </a:spcBef>
              <a:spcAft>
                <a:spcPts val="0"/>
              </a:spcAft>
              <a:buClr>
                <a:schemeClr val="dk1"/>
              </a:buClr>
              <a:buSzPct val="100000"/>
              <a:buChar char="–"/>
            </a:pPr>
            <a:r>
              <a:rPr lang="en-US" b="1"/>
              <a:t>Proximity</a:t>
            </a:r>
            <a:r>
              <a:rPr lang="en-US"/>
              <a:t> (grouping nearby items)</a:t>
            </a:r>
            <a:endParaRPr/>
          </a:p>
          <a:p>
            <a:pPr marL="742950" lvl="1" indent="-285750" algn="l" rtl="0">
              <a:spcBef>
                <a:spcPts val="518"/>
              </a:spcBef>
              <a:spcAft>
                <a:spcPts val="0"/>
              </a:spcAft>
              <a:buClr>
                <a:schemeClr val="dk1"/>
              </a:buClr>
              <a:buSzPct val="100000"/>
              <a:buChar char="–"/>
            </a:pPr>
            <a:r>
              <a:rPr lang="en-US" b="1"/>
              <a:t>Closure</a:t>
            </a:r>
            <a:r>
              <a:rPr lang="en-US"/>
              <a:t> (seeing incomplete shapes as complete)</a:t>
            </a:r>
            <a:endParaRPr/>
          </a:p>
          <a:p>
            <a:pPr marL="742950" lvl="1" indent="-285750" algn="l" rtl="0">
              <a:spcBef>
                <a:spcPts val="518"/>
              </a:spcBef>
              <a:spcAft>
                <a:spcPts val="0"/>
              </a:spcAft>
              <a:buClr>
                <a:schemeClr val="dk1"/>
              </a:buClr>
              <a:buSzPct val="100000"/>
              <a:buChar char="–"/>
            </a:pPr>
            <a:r>
              <a:rPr lang="en-US" b="1"/>
              <a:t>Continuity</a:t>
            </a:r>
            <a:r>
              <a:rPr lang="en-US"/>
              <a:t> (perceiving smooth paths)</a:t>
            </a:r>
            <a:endParaRPr/>
          </a:p>
          <a:p>
            <a:pPr marL="742950" lvl="1" indent="-285750" algn="l" rtl="0">
              <a:spcBef>
                <a:spcPts val="518"/>
              </a:spcBef>
              <a:spcAft>
                <a:spcPts val="0"/>
              </a:spcAft>
              <a:buClr>
                <a:schemeClr val="dk1"/>
              </a:buClr>
              <a:buSzPct val="100000"/>
              <a:buChar char="–"/>
            </a:pPr>
            <a:r>
              <a:rPr lang="en-US" b="1"/>
              <a:t>Figure/Ground</a:t>
            </a:r>
            <a:r>
              <a:rPr lang="en-US"/>
              <a:t> (separating objects from background)</a:t>
            </a:r>
            <a:endParaRPr/>
          </a:p>
          <a:p>
            <a:pPr marL="742950" lvl="1" indent="-285750" algn="l" rtl="0">
              <a:spcBef>
                <a:spcPts val="518"/>
              </a:spcBef>
              <a:spcAft>
                <a:spcPts val="0"/>
              </a:spcAft>
              <a:buClr>
                <a:schemeClr val="dk1"/>
              </a:buClr>
              <a:buSzPct val="100000"/>
              <a:buChar char="–"/>
            </a:pPr>
            <a:r>
              <a:rPr lang="en-US" b="1"/>
              <a:t>Symmetry</a:t>
            </a:r>
            <a:r>
              <a:rPr lang="en-US"/>
              <a:t> </a:t>
            </a:r>
            <a:endParaRPr/>
          </a:p>
          <a:p>
            <a:pPr marL="342900" lvl="0" indent="-342900" algn="l" rtl="0">
              <a:spcBef>
                <a:spcPts val="592"/>
              </a:spcBef>
              <a:spcAft>
                <a:spcPts val="0"/>
              </a:spcAft>
              <a:buClr>
                <a:schemeClr val="dk1"/>
              </a:buClr>
              <a:buSzPct val="100000"/>
              <a:buChar char="•"/>
            </a:pPr>
            <a:r>
              <a:rPr lang="en-US"/>
              <a:t>Align elements for visual balance</a:t>
            </a:r>
            <a:endParaRPr/>
          </a:p>
          <a:p>
            <a:pPr marL="342900" lvl="0" indent="-342900" algn="l" rtl="0">
              <a:spcBef>
                <a:spcPts val="592"/>
              </a:spcBef>
              <a:spcAft>
                <a:spcPts val="0"/>
              </a:spcAft>
              <a:buClr>
                <a:schemeClr val="dk1"/>
              </a:buClr>
              <a:buSzPct val="100000"/>
              <a:buChar char="•"/>
            </a:pPr>
            <a:r>
              <a:rPr lang="en-US"/>
              <a:t>Use whitespace to reduce clutter</a:t>
            </a:r>
            <a:endParaRPr/>
          </a:p>
          <a:p>
            <a:pPr marL="342900" lvl="0" indent="-342900" algn="l" rtl="0">
              <a:spcBef>
                <a:spcPts val="592"/>
              </a:spcBef>
              <a:spcAft>
                <a:spcPts val="0"/>
              </a:spcAft>
              <a:buClr>
                <a:schemeClr val="dk1"/>
              </a:buClr>
              <a:buSzPct val="100000"/>
              <a:buChar char="•"/>
            </a:pPr>
            <a:r>
              <a:rPr lang="en-US"/>
              <a:t>Group related elements together</a:t>
            </a:r>
            <a:endParaRPr/>
          </a:p>
          <a:p>
            <a:pPr marL="342900" lvl="0" indent="-342900" algn="l" rtl="0">
              <a:spcBef>
                <a:spcPts val="592"/>
              </a:spcBef>
              <a:spcAft>
                <a:spcPts val="0"/>
              </a:spcAft>
              <a:buClr>
                <a:schemeClr val="dk1"/>
              </a:buClr>
              <a:buSzPct val="100000"/>
              <a:buChar char="•"/>
            </a:pPr>
            <a:r>
              <a:rPr lang="en-US"/>
              <a:t>Maintain consistent margins and spacing</a:t>
            </a:r>
            <a:endParaRPr/>
          </a:p>
        </p:txBody>
      </p:sp>
      <p:sp>
        <p:nvSpPr>
          <p:cNvPr id="218" name="Google Shape;21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19" name="Google Shape;21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Accessibility in Visualization Design</a:t>
            </a:r>
            <a:endParaRPr/>
          </a:p>
        </p:txBody>
      </p:sp>
      <p:sp>
        <p:nvSpPr>
          <p:cNvPr id="225" name="Google Shape;22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Ensure readability for all users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Use alt text for charts in digital formats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Avoid relying solely on color to convey meaning</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Test with accessibility tools</a:t>
            </a:r>
            <a:endParaRPr/>
          </a:p>
        </p:txBody>
      </p:sp>
      <p:sp>
        <p:nvSpPr>
          <p:cNvPr id="226" name="Google Shape;226;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27" name="Google Shape;227;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9"/>
          <p:cNvSpPr txBox="1">
            <a:spLocks noGrp="1"/>
          </p:cNvSpPr>
          <p:nvPr>
            <p:ph type="title"/>
          </p:nvPr>
        </p:nvSpPr>
        <p:spPr>
          <a:xfrm>
            <a:off x="83127" y="97992"/>
            <a:ext cx="8863445"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Common Pitfalls to Avoid in Visual Design</a:t>
            </a:r>
            <a:endParaRPr/>
          </a:p>
        </p:txBody>
      </p:sp>
      <p:sp>
        <p:nvSpPr>
          <p:cNvPr id="233" name="Google Shape;23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Overloading with data or visuals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Using misleading scales or axes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Ignoring context or audience needs</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Neglecting interactivity or responsiveness</a:t>
            </a:r>
            <a:endParaRPr/>
          </a:p>
        </p:txBody>
      </p:sp>
      <p:sp>
        <p:nvSpPr>
          <p:cNvPr id="234" name="Google Shape;23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35" name="Google Shape;23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a:spLocks noGrp="1"/>
          </p:cNvSpPr>
          <p:nvPr>
            <p:ph type="title"/>
          </p:nvPr>
        </p:nvSpPr>
        <p:spPr>
          <a:xfrm>
            <a:off x="-62346" y="4472"/>
            <a:ext cx="9123219"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Human Perception and </a:t>
            </a:r>
            <a:br>
              <a:rPr lang="en-US"/>
            </a:br>
            <a:r>
              <a:rPr lang="en-US"/>
              <a:t>Information Processing </a:t>
            </a:r>
            <a:endParaRPr/>
          </a:p>
        </p:txBody>
      </p:sp>
      <p:sp>
        <p:nvSpPr>
          <p:cNvPr id="241" name="Google Shape;241;p20"/>
          <p:cNvSpPr txBox="1">
            <a:spLocks noGrp="1"/>
          </p:cNvSpPr>
          <p:nvPr>
            <p:ph type="body" idx="1"/>
          </p:nvPr>
        </p:nvSpPr>
        <p:spPr>
          <a:xfrm>
            <a:off x="457200" y="149629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Perception</a:t>
            </a:r>
            <a:endParaRPr/>
          </a:p>
          <a:p>
            <a:pPr marL="342900" lvl="0" indent="-342900" algn="l" rtl="0">
              <a:spcBef>
                <a:spcPts val="640"/>
              </a:spcBef>
              <a:spcAft>
                <a:spcPts val="0"/>
              </a:spcAft>
              <a:buClr>
                <a:schemeClr val="dk1"/>
              </a:buClr>
              <a:buSzPts val="3200"/>
              <a:buChar char="•"/>
            </a:pPr>
            <a:r>
              <a:rPr lang="en-US"/>
              <a:t>Sensory System</a:t>
            </a:r>
            <a:endParaRPr/>
          </a:p>
          <a:p>
            <a:pPr marL="342900" lvl="0" indent="-342900" algn="l" rtl="0">
              <a:spcBef>
                <a:spcPts val="640"/>
              </a:spcBef>
              <a:spcAft>
                <a:spcPts val="0"/>
              </a:spcAft>
              <a:buClr>
                <a:schemeClr val="dk1"/>
              </a:buClr>
              <a:buSzPts val="3200"/>
              <a:buChar char="•"/>
            </a:pPr>
            <a:r>
              <a:rPr lang="en-US"/>
              <a:t>Stages of Perception</a:t>
            </a:r>
            <a:endParaRPr/>
          </a:p>
          <a:p>
            <a:pPr marL="342900" lvl="0" indent="-342900" algn="l" rtl="0">
              <a:spcBef>
                <a:spcPts val="640"/>
              </a:spcBef>
              <a:spcAft>
                <a:spcPts val="0"/>
              </a:spcAft>
              <a:buClr>
                <a:schemeClr val="dk1"/>
              </a:buClr>
              <a:buSzPts val="3200"/>
              <a:buChar char="•"/>
            </a:pPr>
            <a:r>
              <a:rPr lang="en-US"/>
              <a:t>Attention span</a:t>
            </a:r>
            <a:endParaRPr/>
          </a:p>
          <a:p>
            <a:pPr marL="342900" lvl="0" indent="-342900" algn="l" rtl="0">
              <a:spcBef>
                <a:spcPts val="640"/>
              </a:spcBef>
              <a:spcAft>
                <a:spcPts val="0"/>
              </a:spcAft>
              <a:buClr>
                <a:schemeClr val="dk1"/>
              </a:buClr>
              <a:buSzPts val="3200"/>
              <a:buChar char="•"/>
            </a:pPr>
            <a:r>
              <a:rPr lang="en-US"/>
              <a:t>Cognitive processing</a:t>
            </a:r>
            <a:endParaRPr/>
          </a:p>
          <a:p>
            <a:pPr marL="342900" lvl="0" indent="-342900" algn="l" rtl="0">
              <a:spcBef>
                <a:spcPts val="640"/>
              </a:spcBef>
              <a:spcAft>
                <a:spcPts val="0"/>
              </a:spcAft>
              <a:buClr>
                <a:schemeClr val="dk1"/>
              </a:buClr>
              <a:buSzPts val="3200"/>
              <a:buChar char="•"/>
            </a:pPr>
            <a:r>
              <a:rPr lang="en-US"/>
              <a:t>Working Memory Limits</a:t>
            </a:r>
            <a:endParaRPr/>
          </a:p>
          <a:p>
            <a:pPr marL="342900" lvl="0" indent="-342900" algn="l" rtl="0">
              <a:spcBef>
                <a:spcPts val="640"/>
              </a:spcBef>
              <a:spcAft>
                <a:spcPts val="0"/>
              </a:spcAft>
              <a:buClr>
                <a:schemeClr val="dk1"/>
              </a:buClr>
              <a:buSzPts val="3200"/>
              <a:buChar char="•"/>
            </a:pPr>
            <a:r>
              <a:rPr lang="en-US"/>
              <a:t> Visual perception principles</a:t>
            </a:r>
            <a:endParaRPr/>
          </a:p>
          <a:p>
            <a:pPr marL="342900" lvl="0" indent="-342900" algn="l" rtl="0">
              <a:spcBef>
                <a:spcPts val="640"/>
              </a:spcBef>
              <a:spcAft>
                <a:spcPts val="0"/>
              </a:spcAft>
              <a:buClr>
                <a:schemeClr val="dk1"/>
              </a:buClr>
              <a:buSzPts val="3200"/>
              <a:buChar char="•"/>
            </a:pPr>
            <a:r>
              <a:rPr lang="en-US"/>
              <a:t>Information overload</a:t>
            </a:r>
            <a:endParaRPr/>
          </a:p>
          <a:p>
            <a:pPr marL="342900" lvl="0" indent="-139700" algn="l" rtl="0">
              <a:spcBef>
                <a:spcPts val="640"/>
              </a:spcBef>
              <a:spcAft>
                <a:spcPts val="0"/>
              </a:spcAft>
              <a:buClr>
                <a:schemeClr val="dk1"/>
              </a:buClr>
              <a:buSzPts val="3200"/>
              <a:buNone/>
            </a:pPr>
            <a:endParaRPr/>
          </a:p>
        </p:txBody>
      </p:sp>
      <p:sp>
        <p:nvSpPr>
          <p:cNvPr id="242" name="Google Shape;24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43" name="Google Shape;24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1"/>
          <p:cNvSpPr txBox="1">
            <a:spLocks noGrp="1"/>
          </p:cNvSpPr>
          <p:nvPr>
            <p:ph type="title"/>
          </p:nvPr>
        </p:nvSpPr>
        <p:spPr>
          <a:xfrm>
            <a:off x="422564" y="2525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Importance of Studying Perception</a:t>
            </a:r>
            <a:endParaRPr/>
          </a:p>
        </p:txBody>
      </p:sp>
      <p:sp>
        <p:nvSpPr>
          <p:cNvPr id="249" name="Google Shape;249;p21"/>
          <p:cNvSpPr txBox="1">
            <a:spLocks noGrp="1"/>
          </p:cNvSpPr>
          <p:nvPr>
            <p:ph type="body" idx="1"/>
          </p:nvPr>
        </p:nvSpPr>
        <p:spPr>
          <a:xfrm>
            <a:off x="457200" y="1220211"/>
            <a:ext cx="8229600" cy="513613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Explains how humans interpret sensory input</a:t>
            </a:r>
            <a:endParaRPr/>
          </a:p>
          <a:p>
            <a:pPr marL="742950" lvl="1" indent="-285750" algn="l" rtl="0">
              <a:spcBef>
                <a:spcPts val="560"/>
              </a:spcBef>
              <a:spcAft>
                <a:spcPts val="0"/>
              </a:spcAft>
              <a:buClr>
                <a:schemeClr val="dk1"/>
              </a:buClr>
              <a:buSzPts val="2800"/>
              <a:buChar char="–"/>
            </a:pPr>
            <a:r>
              <a:rPr lang="en-US"/>
              <a:t>We see with brain and not eyes</a:t>
            </a:r>
            <a:endParaRPr/>
          </a:p>
          <a:p>
            <a:pPr marL="342900" lvl="0" indent="-342900" algn="l" rtl="0">
              <a:spcBef>
                <a:spcPts val="640"/>
              </a:spcBef>
              <a:spcAft>
                <a:spcPts val="0"/>
              </a:spcAft>
              <a:buClr>
                <a:schemeClr val="dk1"/>
              </a:buClr>
              <a:buSzPts val="3200"/>
              <a:buChar char="•"/>
            </a:pPr>
            <a:r>
              <a:rPr lang="en-US"/>
              <a:t>Helps design effective communication and visuals</a:t>
            </a:r>
            <a:endParaRPr/>
          </a:p>
          <a:p>
            <a:pPr marL="342900" lvl="0" indent="-342900" algn="l" rtl="0">
              <a:spcBef>
                <a:spcPts val="640"/>
              </a:spcBef>
              <a:spcAft>
                <a:spcPts val="0"/>
              </a:spcAft>
              <a:buClr>
                <a:schemeClr val="dk1"/>
              </a:buClr>
              <a:buSzPts val="3200"/>
              <a:buChar char="•"/>
            </a:pPr>
            <a:r>
              <a:rPr lang="en-US"/>
              <a:t>Supports better decision-making and learning</a:t>
            </a:r>
            <a:endParaRPr/>
          </a:p>
          <a:p>
            <a:pPr marL="742950" lvl="1" indent="-285750" algn="l" rtl="0">
              <a:spcBef>
                <a:spcPts val="560"/>
              </a:spcBef>
              <a:spcAft>
                <a:spcPts val="0"/>
              </a:spcAft>
              <a:buClr>
                <a:schemeClr val="dk1"/>
              </a:buClr>
              <a:buSzPts val="2800"/>
              <a:buChar char="–"/>
            </a:pPr>
            <a:r>
              <a:rPr lang="en-US"/>
              <a:t>Presented in appropriate manner helps people to understand, grasp and decide</a:t>
            </a:r>
            <a:endParaRPr/>
          </a:p>
          <a:p>
            <a:pPr marL="742950" lvl="1" indent="-285750" algn="l" rtl="0">
              <a:spcBef>
                <a:spcPts val="560"/>
              </a:spcBef>
              <a:spcAft>
                <a:spcPts val="0"/>
              </a:spcAft>
              <a:buClr>
                <a:schemeClr val="dk1"/>
              </a:buClr>
              <a:buSzPts val="2800"/>
              <a:buChar char="–"/>
            </a:pPr>
            <a:r>
              <a:rPr lang="en-US"/>
              <a:t>Comparison in columns instead of paragraphs</a:t>
            </a:r>
            <a:endParaRPr/>
          </a:p>
          <a:p>
            <a:pPr marL="742950" lvl="1" indent="-285750" algn="l" rtl="0">
              <a:spcBef>
                <a:spcPts val="560"/>
              </a:spcBef>
              <a:spcAft>
                <a:spcPts val="0"/>
              </a:spcAft>
              <a:buClr>
                <a:schemeClr val="dk1"/>
              </a:buClr>
              <a:buSzPts val="2800"/>
              <a:buChar char="–"/>
            </a:pPr>
            <a:r>
              <a:rPr lang="en-US"/>
              <a:t> bullets and numbers instead of longer text</a:t>
            </a:r>
            <a:endParaRPr/>
          </a:p>
        </p:txBody>
      </p:sp>
      <p:sp>
        <p:nvSpPr>
          <p:cNvPr id="250" name="Google Shape;250;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51" name="Google Shape;251;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title"/>
          </p:nvPr>
        </p:nvSpPr>
        <p:spPr>
          <a:xfrm>
            <a:off x="422564" y="118775"/>
            <a:ext cx="8229600" cy="89953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Sensory Systems Overview</a:t>
            </a:r>
            <a:endParaRPr/>
          </a:p>
        </p:txBody>
      </p:sp>
      <p:sp>
        <p:nvSpPr>
          <p:cNvPr id="257" name="Google Shape;25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Vision: Primary channel for information intake</a:t>
            </a:r>
            <a:endParaRPr/>
          </a:p>
          <a:p>
            <a:pPr marL="342900" lvl="0" indent="-342900" algn="l" rtl="0">
              <a:spcBef>
                <a:spcPts val="640"/>
              </a:spcBef>
              <a:spcAft>
                <a:spcPts val="0"/>
              </a:spcAft>
              <a:buClr>
                <a:schemeClr val="dk1"/>
              </a:buClr>
              <a:buSzPts val="3200"/>
              <a:buChar char="•"/>
            </a:pPr>
            <a:r>
              <a:rPr lang="en-US"/>
              <a:t>Hearing: Understanding speech and sound cues</a:t>
            </a:r>
            <a:endParaRPr/>
          </a:p>
          <a:p>
            <a:pPr marL="342900" lvl="0" indent="-342900" algn="l" rtl="0">
              <a:spcBef>
                <a:spcPts val="640"/>
              </a:spcBef>
              <a:spcAft>
                <a:spcPts val="0"/>
              </a:spcAft>
              <a:buClr>
                <a:schemeClr val="dk1"/>
              </a:buClr>
              <a:buSzPts val="3200"/>
              <a:buChar char="•"/>
            </a:pPr>
            <a:r>
              <a:rPr lang="en-US"/>
              <a:t>Touch, Smell, Taste: Complementary senses</a:t>
            </a:r>
            <a:endParaRPr/>
          </a:p>
          <a:p>
            <a:pPr marL="342900" lvl="0" indent="-342900" algn="l" rtl="0">
              <a:spcBef>
                <a:spcPts val="640"/>
              </a:spcBef>
              <a:spcAft>
                <a:spcPts val="0"/>
              </a:spcAft>
              <a:buClr>
                <a:schemeClr val="dk1"/>
              </a:buClr>
              <a:buSzPts val="3200"/>
              <a:buChar char="•"/>
            </a:pPr>
            <a:r>
              <a:rPr lang="en-US"/>
              <a:t>Integration of multiple senses for perception</a:t>
            </a:r>
            <a:endParaRPr/>
          </a:p>
        </p:txBody>
      </p:sp>
      <p:sp>
        <p:nvSpPr>
          <p:cNvPr id="258" name="Google Shape;258;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59" name="Google Shape;259;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3"/>
          <p:cNvSpPr txBox="1">
            <a:spLocks noGrp="1"/>
          </p:cNvSpPr>
          <p:nvPr>
            <p:ph type="title"/>
          </p:nvPr>
        </p:nvSpPr>
        <p:spPr>
          <a:xfrm>
            <a:off x="457200" y="2525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Stages of Perception</a:t>
            </a:r>
            <a:endParaRPr/>
          </a:p>
        </p:txBody>
      </p:sp>
      <p:sp>
        <p:nvSpPr>
          <p:cNvPr id="265" name="Google Shape;265;p23"/>
          <p:cNvSpPr txBox="1">
            <a:spLocks noGrp="1"/>
          </p:cNvSpPr>
          <p:nvPr>
            <p:ph type="body" idx="1"/>
          </p:nvPr>
        </p:nvSpPr>
        <p:spPr>
          <a:xfrm>
            <a:off x="457200" y="1189038"/>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Sensation: Receiving stimuli</a:t>
            </a:r>
            <a:endParaRPr/>
          </a:p>
          <a:p>
            <a:pPr marL="342900" lvl="0" indent="-342900" algn="l" rtl="0">
              <a:spcBef>
                <a:spcPts val="640"/>
              </a:spcBef>
              <a:spcAft>
                <a:spcPts val="0"/>
              </a:spcAft>
              <a:buClr>
                <a:schemeClr val="dk1"/>
              </a:buClr>
              <a:buSzPts val="3200"/>
              <a:buChar char="•"/>
            </a:pPr>
            <a:r>
              <a:rPr lang="en-US"/>
              <a:t>Attention: Selecting relevant information</a:t>
            </a:r>
            <a:endParaRPr/>
          </a:p>
          <a:p>
            <a:pPr marL="342900" lvl="0" indent="-342900" algn="l" rtl="0">
              <a:spcBef>
                <a:spcPts val="640"/>
              </a:spcBef>
              <a:spcAft>
                <a:spcPts val="0"/>
              </a:spcAft>
              <a:buClr>
                <a:schemeClr val="dk1"/>
              </a:buClr>
              <a:buSzPts val="3200"/>
              <a:buChar char="•"/>
            </a:pPr>
            <a:r>
              <a:rPr lang="en-US"/>
              <a:t>Interpretation: Assigning meaning</a:t>
            </a:r>
            <a:endParaRPr/>
          </a:p>
          <a:p>
            <a:pPr marL="342900" lvl="0" indent="-342900" algn="l" rtl="0">
              <a:spcBef>
                <a:spcPts val="640"/>
              </a:spcBef>
              <a:spcAft>
                <a:spcPts val="0"/>
              </a:spcAft>
              <a:buClr>
                <a:schemeClr val="dk1"/>
              </a:buClr>
              <a:buSzPts val="3200"/>
              <a:buChar char="•"/>
            </a:pPr>
            <a:r>
              <a:rPr lang="en-US"/>
              <a:t>Response: Acting on perceived information</a:t>
            </a:r>
            <a:endParaRPr/>
          </a:p>
        </p:txBody>
      </p:sp>
      <p:sp>
        <p:nvSpPr>
          <p:cNvPr id="266" name="Google Shape;26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67" name="Google Shape;2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4"/>
          <p:cNvSpPr txBox="1">
            <a:spLocks noGrp="1"/>
          </p:cNvSpPr>
          <p:nvPr>
            <p:ph type="title"/>
          </p:nvPr>
        </p:nvSpPr>
        <p:spPr>
          <a:xfrm>
            <a:off x="457200" y="149947"/>
            <a:ext cx="8229600" cy="85797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Attention Mechanisms</a:t>
            </a:r>
            <a:endParaRPr/>
          </a:p>
        </p:txBody>
      </p:sp>
      <p:sp>
        <p:nvSpPr>
          <p:cNvPr id="273" name="Google Shape;273;p24"/>
          <p:cNvSpPr txBox="1">
            <a:spLocks noGrp="1"/>
          </p:cNvSpPr>
          <p:nvPr>
            <p:ph type="body" idx="1"/>
          </p:nvPr>
        </p:nvSpPr>
        <p:spPr>
          <a:xfrm>
            <a:off x="457200" y="1022783"/>
            <a:ext cx="8229600" cy="5333567"/>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Selective attention: Focusing on key stimuli</a:t>
            </a:r>
            <a:endParaRPr/>
          </a:p>
          <a:p>
            <a:pPr marL="742950" lvl="1" indent="-285750" algn="l" rtl="0">
              <a:spcBef>
                <a:spcPts val="560"/>
              </a:spcBef>
              <a:spcAft>
                <a:spcPts val="0"/>
              </a:spcAft>
              <a:buClr>
                <a:schemeClr val="dk1"/>
              </a:buClr>
              <a:buSzPts val="2800"/>
              <a:buChar char="–"/>
            </a:pPr>
            <a:r>
              <a:rPr lang="en-US"/>
              <a:t>Instead of advertisement on the screen we focus on the cricket match</a:t>
            </a:r>
            <a:endParaRPr/>
          </a:p>
          <a:p>
            <a:pPr marL="342900" lvl="0" indent="-342900" algn="l" rtl="0">
              <a:spcBef>
                <a:spcPts val="640"/>
              </a:spcBef>
              <a:spcAft>
                <a:spcPts val="0"/>
              </a:spcAft>
              <a:buClr>
                <a:schemeClr val="dk1"/>
              </a:buClr>
              <a:buSzPts val="3200"/>
              <a:buChar char="•"/>
            </a:pPr>
            <a:r>
              <a:rPr lang="en-US"/>
              <a:t>Divided attention: Handling multiple inputs</a:t>
            </a:r>
            <a:endParaRPr/>
          </a:p>
          <a:p>
            <a:pPr marL="742950" lvl="1" indent="-285750" algn="l" rtl="0">
              <a:spcBef>
                <a:spcPts val="560"/>
              </a:spcBef>
              <a:spcAft>
                <a:spcPts val="0"/>
              </a:spcAft>
              <a:buClr>
                <a:schemeClr val="dk1"/>
              </a:buClr>
              <a:buSzPts val="2800"/>
              <a:buChar char="–"/>
            </a:pPr>
            <a:r>
              <a:rPr lang="en-US"/>
              <a:t>In games, driving we can focus on multiple inputs </a:t>
            </a:r>
            <a:endParaRPr/>
          </a:p>
          <a:p>
            <a:pPr marL="342900" lvl="0" indent="-342900" algn="l" rtl="0">
              <a:spcBef>
                <a:spcPts val="640"/>
              </a:spcBef>
              <a:spcAft>
                <a:spcPts val="0"/>
              </a:spcAft>
              <a:buClr>
                <a:schemeClr val="dk1"/>
              </a:buClr>
              <a:buSzPts val="3200"/>
              <a:buChar char="•"/>
            </a:pPr>
            <a:r>
              <a:rPr lang="en-US"/>
              <a:t>Sustained attention: Maintaining focus over time</a:t>
            </a:r>
            <a:endParaRPr/>
          </a:p>
          <a:p>
            <a:pPr marL="742950" lvl="1" indent="-285750" algn="l" rtl="0">
              <a:spcBef>
                <a:spcPts val="560"/>
              </a:spcBef>
              <a:spcAft>
                <a:spcPts val="0"/>
              </a:spcAft>
              <a:buClr>
                <a:schemeClr val="dk1"/>
              </a:buClr>
              <a:buSzPts val="2800"/>
              <a:buChar char="–"/>
            </a:pPr>
            <a:r>
              <a:rPr lang="en-US"/>
              <a:t>Created in better manner can create interest and increase attention span</a:t>
            </a:r>
            <a:endParaRPr/>
          </a:p>
          <a:p>
            <a:pPr marL="342900" lvl="0" indent="-342900" algn="l" rtl="0">
              <a:spcBef>
                <a:spcPts val="640"/>
              </a:spcBef>
              <a:spcAft>
                <a:spcPts val="0"/>
              </a:spcAft>
              <a:buClr>
                <a:schemeClr val="dk1"/>
              </a:buClr>
              <a:buSzPts val="3200"/>
              <a:buChar char="•"/>
            </a:pPr>
            <a:r>
              <a:rPr lang="en-US"/>
              <a:t>Influencing factors: novelty, relevance, emotion</a:t>
            </a:r>
            <a:endParaRPr/>
          </a:p>
        </p:txBody>
      </p:sp>
      <p:sp>
        <p:nvSpPr>
          <p:cNvPr id="274" name="Google Shape;274;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75" name="Google Shape;275;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5"/>
          <p:cNvSpPr txBox="1">
            <a:spLocks noGrp="1"/>
          </p:cNvSpPr>
          <p:nvPr>
            <p:ph type="title"/>
          </p:nvPr>
        </p:nvSpPr>
        <p:spPr>
          <a:xfrm>
            <a:off x="457200" y="14865"/>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Cognitive Processing</a:t>
            </a:r>
            <a:endParaRPr/>
          </a:p>
        </p:txBody>
      </p:sp>
      <p:sp>
        <p:nvSpPr>
          <p:cNvPr id="281" name="Google Shape;281;p25"/>
          <p:cNvSpPr txBox="1">
            <a:spLocks noGrp="1"/>
          </p:cNvSpPr>
          <p:nvPr>
            <p:ph type="body" idx="1"/>
          </p:nvPr>
        </p:nvSpPr>
        <p:spPr>
          <a:xfrm>
            <a:off x="457200" y="1199429"/>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Encoding: Transforming input into memory</a:t>
            </a:r>
            <a:endParaRPr/>
          </a:p>
          <a:p>
            <a:pPr marL="342900" lvl="0" indent="-342900" algn="l" rtl="0">
              <a:spcBef>
                <a:spcPts val="640"/>
              </a:spcBef>
              <a:spcAft>
                <a:spcPts val="0"/>
              </a:spcAft>
              <a:buClr>
                <a:schemeClr val="dk1"/>
              </a:buClr>
              <a:buSzPts val="3200"/>
              <a:buChar char="•"/>
            </a:pPr>
            <a:r>
              <a:rPr lang="en-US"/>
              <a:t>Storage: Retaining information</a:t>
            </a:r>
            <a:endParaRPr/>
          </a:p>
          <a:p>
            <a:pPr marL="342900" lvl="0" indent="-342900" algn="l" rtl="0">
              <a:spcBef>
                <a:spcPts val="640"/>
              </a:spcBef>
              <a:spcAft>
                <a:spcPts val="0"/>
              </a:spcAft>
              <a:buClr>
                <a:schemeClr val="dk1"/>
              </a:buClr>
              <a:buSzPts val="3200"/>
              <a:buChar char="•"/>
            </a:pPr>
            <a:r>
              <a:rPr lang="en-US"/>
              <a:t>Retrieval: Accessing stored knowledge</a:t>
            </a:r>
            <a:endParaRPr/>
          </a:p>
          <a:p>
            <a:pPr marL="342900" lvl="0" indent="-342900" algn="l" rtl="0">
              <a:spcBef>
                <a:spcPts val="640"/>
              </a:spcBef>
              <a:spcAft>
                <a:spcPts val="0"/>
              </a:spcAft>
              <a:buClr>
                <a:schemeClr val="dk1"/>
              </a:buClr>
              <a:buSzPts val="3200"/>
              <a:buChar char="•"/>
            </a:pPr>
            <a:r>
              <a:rPr lang="en-US"/>
              <a:t>Influenced by prior experience and context</a:t>
            </a:r>
            <a:endParaRPr/>
          </a:p>
        </p:txBody>
      </p:sp>
      <p:sp>
        <p:nvSpPr>
          <p:cNvPr id="282" name="Google Shape;28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83" name="Google Shape;28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6"/>
          <p:cNvSpPr txBox="1">
            <a:spLocks noGrp="1"/>
          </p:cNvSpPr>
          <p:nvPr>
            <p:ph type="title"/>
          </p:nvPr>
        </p:nvSpPr>
        <p:spPr>
          <a:xfrm>
            <a:off x="457200" y="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Working Memory and Limits</a:t>
            </a:r>
            <a:endParaRPr/>
          </a:p>
        </p:txBody>
      </p:sp>
      <p:sp>
        <p:nvSpPr>
          <p:cNvPr id="289" name="Google Shape;289;p26"/>
          <p:cNvSpPr txBox="1">
            <a:spLocks noGrp="1"/>
          </p:cNvSpPr>
          <p:nvPr>
            <p:ph type="body" idx="1"/>
          </p:nvPr>
        </p:nvSpPr>
        <p:spPr>
          <a:xfrm>
            <a:off x="457200" y="11430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Capacity: 7 ± 2 items</a:t>
            </a:r>
            <a:endParaRPr/>
          </a:p>
          <a:p>
            <a:pPr marL="742950" lvl="1" indent="-285750" algn="l" rtl="0">
              <a:spcBef>
                <a:spcPts val="560"/>
              </a:spcBef>
              <a:spcAft>
                <a:spcPts val="0"/>
              </a:spcAft>
              <a:buClr>
                <a:schemeClr val="dk1"/>
              </a:buClr>
              <a:buSzPts val="2800"/>
              <a:buChar char="–"/>
            </a:pPr>
            <a:r>
              <a:rPr lang="en-US"/>
              <a:t>Provide limited number of option at a time</a:t>
            </a:r>
            <a:endParaRPr/>
          </a:p>
          <a:p>
            <a:pPr marL="342900" lvl="0" indent="-342900" algn="l" rtl="0">
              <a:spcBef>
                <a:spcPts val="640"/>
              </a:spcBef>
              <a:spcAft>
                <a:spcPts val="0"/>
              </a:spcAft>
              <a:buClr>
                <a:schemeClr val="dk1"/>
              </a:buClr>
              <a:buSzPts val="3200"/>
              <a:buChar char="•"/>
            </a:pPr>
            <a:r>
              <a:rPr lang="en-US"/>
              <a:t>Short duration without rehearsal</a:t>
            </a:r>
            <a:endParaRPr/>
          </a:p>
          <a:p>
            <a:pPr marL="742950" lvl="1" indent="-285750" algn="l" rtl="0">
              <a:spcBef>
                <a:spcPts val="560"/>
              </a:spcBef>
              <a:spcAft>
                <a:spcPts val="0"/>
              </a:spcAft>
              <a:buClr>
                <a:schemeClr val="dk1"/>
              </a:buClr>
              <a:buSzPts val="2800"/>
              <a:buChar char="–"/>
            </a:pPr>
            <a:r>
              <a:rPr lang="en-US"/>
              <a:t>Unless bombarded people tend to forget</a:t>
            </a:r>
            <a:endParaRPr/>
          </a:p>
          <a:p>
            <a:pPr marL="342900" lvl="0" indent="-342900" algn="l" rtl="0">
              <a:spcBef>
                <a:spcPts val="640"/>
              </a:spcBef>
              <a:spcAft>
                <a:spcPts val="0"/>
              </a:spcAft>
              <a:buClr>
                <a:schemeClr val="dk1"/>
              </a:buClr>
              <a:buSzPts val="3200"/>
              <a:buChar char="•"/>
            </a:pPr>
            <a:r>
              <a:rPr lang="en-US"/>
              <a:t>Critical for reasoning and comprehension</a:t>
            </a:r>
            <a:endParaRPr/>
          </a:p>
          <a:p>
            <a:pPr marL="742950" lvl="1" indent="-107950" algn="l" rtl="0">
              <a:spcBef>
                <a:spcPts val="560"/>
              </a:spcBef>
              <a:spcAft>
                <a:spcPts val="0"/>
              </a:spcAft>
              <a:buClr>
                <a:schemeClr val="dk1"/>
              </a:buClr>
              <a:buSzPts val="2800"/>
              <a:buNone/>
            </a:pPr>
            <a:endParaRPr/>
          </a:p>
          <a:p>
            <a:pPr marL="342900" lvl="0" indent="-342900" algn="l" rtl="0">
              <a:spcBef>
                <a:spcPts val="640"/>
              </a:spcBef>
              <a:spcAft>
                <a:spcPts val="0"/>
              </a:spcAft>
              <a:buClr>
                <a:schemeClr val="dk1"/>
              </a:buClr>
              <a:buSzPts val="3200"/>
              <a:buChar char="•"/>
            </a:pPr>
            <a:r>
              <a:rPr lang="en-US"/>
              <a:t>Design implication: avoid overload</a:t>
            </a:r>
            <a:endParaRPr/>
          </a:p>
          <a:p>
            <a:pPr marL="742950" lvl="1" indent="-285750" algn="l" rtl="0">
              <a:spcBef>
                <a:spcPts val="560"/>
              </a:spcBef>
              <a:spcAft>
                <a:spcPts val="0"/>
              </a:spcAft>
              <a:buClr>
                <a:schemeClr val="dk1"/>
              </a:buClr>
              <a:buSzPts val="2800"/>
              <a:buChar char="–"/>
            </a:pPr>
            <a:r>
              <a:rPr lang="en-US"/>
              <a:t>Too much information will distract and dilute the communication message </a:t>
            </a:r>
            <a:endParaRPr/>
          </a:p>
        </p:txBody>
      </p:sp>
      <p:sp>
        <p:nvSpPr>
          <p:cNvPr id="290" name="Google Shape;29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91" name="Google Shape;29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Information Overload</a:t>
            </a:r>
            <a:endParaRPr/>
          </a:p>
        </p:txBody>
      </p:sp>
      <p:sp>
        <p:nvSpPr>
          <p:cNvPr id="297" name="Google Shape;297;p2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Too much data reduces comprehension</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Causes stress and poor decision-making</a:t>
            </a:r>
            <a:endParaRPr/>
          </a:p>
          <a:p>
            <a:pPr marL="342900" lvl="0" indent="-342900" algn="l" rtl="0">
              <a:spcBef>
                <a:spcPts val="640"/>
              </a:spcBef>
              <a:spcAft>
                <a:spcPts val="0"/>
              </a:spcAft>
              <a:buClr>
                <a:schemeClr val="dk1"/>
              </a:buClr>
              <a:buSzPts val="3200"/>
              <a:buChar char="•"/>
            </a:pPr>
            <a:r>
              <a:rPr lang="en-US" sz="3200">
                <a:solidFill>
                  <a:schemeClr val="dk1"/>
                </a:solidFill>
                <a:latin typeface="Calibri"/>
                <a:ea typeface="Calibri"/>
                <a:cs typeface="Calibri"/>
                <a:sym typeface="Calibri"/>
              </a:rPr>
              <a:t>Strategies: simplify, prioritize, chunk information</a:t>
            </a:r>
            <a:endParaRPr/>
          </a:p>
        </p:txBody>
      </p:sp>
      <p:sp>
        <p:nvSpPr>
          <p:cNvPr id="298" name="Google Shape;29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99" name="Google Shape;29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415637" y="0"/>
            <a:ext cx="8229600" cy="841664"/>
          </a:xfrm>
          <a:prstGeom prst="rect">
            <a:avLst/>
          </a:prstGeom>
          <a:noFill/>
          <a:ln>
            <a:noFill/>
          </a:ln>
        </p:spPr>
        <p:txBody>
          <a:bodyPr spcFirstLastPara="1" wrap="square" lIns="91425" tIns="45700" rIns="91425" bIns="45700" anchor="ctr" anchorCtr="0">
            <a:normAutofit/>
          </a:bodyPr>
          <a:lstStyle/>
          <a:p>
            <a:r>
              <a:rPr lang="en-IN" b="1" dirty="0" smtClean="0"/>
              <a:t>2.3 Geospatial </a:t>
            </a:r>
            <a:r>
              <a:rPr lang="en-IN" b="1" dirty="0"/>
              <a:t>Displays 	</a:t>
            </a:r>
          </a:p>
        </p:txBody>
      </p:sp>
      <p:sp>
        <p:nvSpPr>
          <p:cNvPr id="297" name="Google Shape;297;p27"/>
          <p:cNvSpPr txBox="1">
            <a:spLocks noGrp="1"/>
          </p:cNvSpPr>
          <p:nvPr>
            <p:ph type="body" idx="1"/>
          </p:nvPr>
        </p:nvSpPr>
        <p:spPr>
          <a:xfrm>
            <a:off x="363681" y="1101437"/>
            <a:ext cx="8229600" cy="4525963"/>
          </a:xfrm>
          <a:prstGeom prst="rect">
            <a:avLst/>
          </a:prstGeom>
          <a:noFill/>
          <a:ln>
            <a:noFill/>
          </a:ln>
        </p:spPr>
        <p:txBody>
          <a:bodyPr spcFirstLastPara="1" wrap="square" lIns="91425" tIns="45700" rIns="91425" bIns="45700" anchor="t" anchorCtr="0">
            <a:normAutofit/>
          </a:bodyPr>
          <a:lstStyle/>
          <a:p>
            <a:pPr lvl="0" indent="-349250">
              <a:spcBef>
                <a:spcPts val="0"/>
              </a:spcBef>
              <a:buSzPts val="1900"/>
              <a:buChar char="●"/>
            </a:pPr>
            <a:r>
              <a:rPr lang="en-GB" dirty="0" smtClean="0"/>
              <a:t>Connecting </a:t>
            </a:r>
            <a:r>
              <a:rPr lang="en-GB" dirty="0"/>
              <a:t>to Geographic Data</a:t>
            </a:r>
          </a:p>
          <a:p>
            <a:pPr lvl="0" indent="-349250">
              <a:spcBef>
                <a:spcPts val="0"/>
              </a:spcBef>
              <a:buSzPts val="1900"/>
              <a:buChar char="●"/>
            </a:pPr>
            <a:r>
              <a:rPr lang="en-GB" dirty="0"/>
              <a:t>Assigning Geographic Roles</a:t>
            </a:r>
          </a:p>
          <a:p>
            <a:pPr lvl="0" indent="-349250">
              <a:spcBef>
                <a:spcPts val="0"/>
              </a:spcBef>
              <a:buSzPts val="1900"/>
              <a:buChar char="●"/>
            </a:pPr>
            <a:r>
              <a:rPr lang="en-GB" dirty="0"/>
              <a:t>Creating Geographic </a:t>
            </a:r>
            <a:endParaRPr lang="en-GB" dirty="0" smtClean="0"/>
          </a:p>
          <a:p>
            <a:pPr lvl="0" indent="-349250">
              <a:spcBef>
                <a:spcPts val="0"/>
              </a:spcBef>
              <a:buSzPts val="1900"/>
              <a:buChar char="●"/>
            </a:pPr>
            <a:r>
              <a:rPr lang="en-GB" dirty="0" smtClean="0"/>
              <a:t>Hierarchies</a:t>
            </a:r>
            <a:endParaRPr lang="en-GB" dirty="0"/>
          </a:p>
          <a:p>
            <a:pPr lvl="0" indent="-349250">
              <a:spcBef>
                <a:spcPts val="0"/>
              </a:spcBef>
              <a:buSzPts val="1900"/>
              <a:buChar char="●"/>
            </a:pPr>
            <a:r>
              <a:rPr lang="en-GB" dirty="0"/>
              <a:t>Proportional Symbol Maps</a:t>
            </a:r>
          </a:p>
          <a:p>
            <a:pPr lvl="0" indent="-349250">
              <a:spcBef>
                <a:spcPts val="0"/>
              </a:spcBef>
              <a:buSzPts val="1900"/>
              <a:buChar char="●"/>
            </a:pPr>
            <a:r>
              <a:rPr lang="en-GB" dirty="0"/>
              <a:t>Choropleth </a:t>
            </a:r>
            <a:r>
              <a:rPr lang="en-GB" dirty="0" smtClean="0"/>
              <a:t>Maps</a:t>
            </a:r>
          </a:p>
        </p:txBody>
      </p:sp>
      <p:sp>
        <p:nvSpPr>
          <p:cNvPr id="298" name="Google Shape;29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99" name="Google Shape;29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453624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7"/>
          <p:cNvSpPr txBox="1">
            <a:spLocks noGrp="1"/>
          </p:cNvSpPr>
          <p:nvPr>
            <p:ph type="title"/>
          </p:nvPr>
        </p:nvSpPr>
        <p:spPr>
          <a:xfrm>
            <a:off x="415637" y="0"/>
            <a:ext cx="8229600" cy="841664"/>
          </a:xfrm>
          <a:prstGeom prst="rect">
            <a:avLst/>
          </a:prstGeom>
          <a:noFill/>
          <a:ln>
            <a:noFill/>
          </a:ln>
        </p:spPr>
        <p:txBody>
          <a:bodyPr spcFirstLastPara="1" wrap="square" lIns="91425" tIns="45700" rIns="91425" bIns="45700" anchor="ctr" anchorCtr="0">
            <a:normAutofit/>
          </a:bodyPr>
          <a:lstStyle/>
          <a:p>
            <a:r>
              <a:rPr lang="en-IN" b="1" dirty="0" smtClean="0"/>
              <a:t>Geospatial </a:t>
            </a:r>
            <a:r>
              <a:rPr lang="en-IN" b="1" dirty="0"/>
              <a:t>Analysis	</a:t>
            </a:r>
          </a:p>
        </p:txBody>
      </p:sp>
      <p:sp>
        <p:nvSpPr>
          <p:cNvPr id="297" name="Google Shape;297;p27"/>
          <p:cNvSpPr txBox="1">
            <a:spLocks noGrp="1"/>
          </p:cNvSpPr>
          <p:nvPr>
            <p:ph type="body" idx="1"/>
          </p:nvPr>
        </p:nvSpPr>
        <p:spPr>
          <a:xfrm>
            <a:off x="363681" y="1101437"/>
            <a:ext cx="8229600" cy="5216236"/>
          </a:xfrm>
          <a:prstGeom prst="rect">
            <a:avLst/>
          </a:prstGeom>
          <a:noFill/>
          <a:ln>
            <a:noFill/>
          </a:ln>
        </p:spPr>
        <p:txBody>
          <a:bodyPr spcFirstLastPara="1" wrap="square" lIns="91425" tIns="45700" rIns="91425" bIns="45700" anchor="t" anchorCtr="0">
            <a:normAutofit fontScale="92500" lnSpcReduction="20000"/>
          </a:bodyPr>
          <a:lstStyle/>
          <a:p>
            <a:pPr lvl="0" indent="-349250">
              <a:spcBef>
                <a:spcPts val="0"/>
              </a:spcBef>
              <a:buSzPts val="1900"/>
              <a:buChar char="●"/>
            </a:pPr>
            <a:r>
              <a:rPr lang="en-US" dirty="0"/>
              <a:t>Geospatial analysis is the gathering, display, and manipulation of imagery, GPS, satellite photography and historical data, described explicitly in terms of geographic coordinates or implicitly, in terms of a street address, postal code, or forest stand identifier as they are applied to geographic models</a:t>
            </a:r>
          </a:p>
          <a:p>
            <a:pPr lvl="0" indent="-349250">
              <a:spcBef>
                <a:spcPts val="0"/>
              </a:spcBef>
              <a:buSzPts val="1900"/>
              <a:buChar char="●"/>
            </a:pPr>
            <a:r>
              <a:rPr lang="en-US" dirty="0"/>
              <a:t>Applications: </a:t>
            </a:r>
          </a:p>
          <a:p>
            <a:pPr lvl="1" indent="-349250">
              <a:spcBef>
                <a:spcPts val="0"/>
              </a:spcBef>
              <a:buSzPts val="1900"/>
              <a:buChar char="●"/>
            </a:pPr>
            <a:r>
              <a:rPr lang="en-US" dirty="0"/>
              <a:t>crisis management</a:t>
            </a:r>
          </a:p>
          <a:p>
            <a:pPr lvl="1" indent="-349250">
              <a:spcBef>
                <a:spcPts val="0"/>
              </a:spcBef>
              <a:buSzPts val="1900"/>
              <a:buChar char="●"/>
            </a:pPr>
            <a:r>
              <a:rPr lang="en-US" dirty="0"/>
              <a:t>climate change modeling</a:t>
            </a:r>
          </a:p>
          <a:p>
            <a:pPr lvl="1" indent="-349250">
              <a:spcBef>
                <a:spcPts val="0"/>
              </a:spcBef>
              <a:buSzPts val="1900"/>
              <a:buChar char="●"/>
            </a:pPr>
            <a:r>
              <a:rPr lang="en-US" dirty="0"/>
              <a:t>weather monitoring</a:t>
            </a:r>
          </a:p>
          <a:p>
            <a:pPr lvl="1" indent="-349250">
              <a:spcBef>
                <a:spcPts val="0"/>
              </a:spcBef>
              <a:buSzPts val="1900"/>
              <a:buChar char="●"/>
            </a:pPr>
            <a:r>
              <a:rPr lang="en-US" dirty="0"/>
              <a:t>sales analysis</a:t>
            </a:r>
          </a:p>
          <a:p>
            <a:pPr lvl="1" indent="-349250">
              <a:spcBef>
                <a:spcPts val="0"/>
              </a:spcBef>
              <a:buSzPts val="1900"/>
              <a:buChar char="●"/>
            </a:pPr>
            <a:r>
              <a:rPr lang="en-US" dirty="0"/>
              <a:t>human population forecasting </a:t>
            </a:r>
          </a:p>
          <a:p>
            <a:pPr lvl="1" indent="-349250">
              <a:spcBef>
                <a:spcPts val="0"/>
              </a:spcBef>
              <a:buSzPts val="1900"/>
              <a:buChar char="●"/>
            </a:pPr>
            <a:r>
              <a:rPr lang="en-US" dirty="0"/>
              <a:t>animal population management.</a:t>
            </a:r>
          </a:p>
        </p:txBody>
      </p:sp>
      <p:sp>
        <p:nvSpPr>
          <p:cNvPr id="298" name="Google Shape;29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mtClean="0"/>
              <a:t>Module 2: 216H03L602 Jan-May 2026</a:t>
            </a:r>
            <a:endParaRPr/>
          </a:p>
        </p:txBody>
      </p:sp>
      <p:sp>
        <p:nvSpPr>
          <p:cNvPr id="299" name="Google Shape;29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796679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1200"/>
              </a:spcAft>
              <a:buClr>
                <a:schemeClr val="dk1"/>
              </a:buClr>
              <a:buSzPts val="1100"/>
              <a:buFont typeface="Arial"/>
              <a:buNone/>
            </a:pPr>
            <a:r>
              <a:rPr lang="en-GB" sz="3600" b="1" dirty="0">
                <a:solidFill>
                  <a:schemeClr val="dk2"/>
                </a:solidFill>
              </a:rPr>
              <a:t>Geospatial displays </a:t>
            </a:r>
            <a:endParaRPr sz="4000" dirty="0"/>
          </a:p>
        </p:txBody>
      </p:sp>
      <p:sp>
        <p:nvSpPr>
          <p:cNvPr id="79" name="Google Shape;79;p17"/>
          <p:cNvSpPr txBox="1">
            <a:spLocks noGrp="1"/>
          </p:cNvSpPr>
          <p:nvPr>
            <p:ph type="body" idx="1"/>
          </p:nvPr>
        </p:nvSpPr>
        <p:spPr>
          <a:xfrm>
            <a:off x="1037275" y="900399"/>
            <a:ext cx="7633800" cy="5240627"/>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sz="3300" b="1" dirty="0"/>
              <a:t>The Heat Map : </a:t>
            </a:r>
            <a:endParaRPr sz="3300" b="1" dirty="0"/>
          </a:p>
          <a:p>
            <a:pPr marL="457200" lvl="0" indent="-340201" algn="l" rtl="0">
              <a:spcBef>
                <a:spcPts val="1200"/>
              </a:spcBef>
              <a:spcAft>
                <a:spcPts val="0"/>
              </a:spcAft>
              <a:buSzPct val="100000"/>
              <a:buChar char="●"/>
            </a:pPr>
            <a:r>
              <a:rPr lang="en-GB" sz="3300" dirty="0"/>
              <a:t>Visualise data through variations in colouring.</a:t>
            </a:r>
            <a:endParaRPr sz="3300" dirty="0"/>
          </a:p>
          <a:p>
            <a:pPr marL="457200" lvl="0" indent="-340201" algn="l" rtl="0">
              <a:spcBef>
                <a:spcPts val="0"/>
              </a:spcBef>
              <a:spcAft>
                <a:spcPts val="0"/>
              </a:spcAft>
              <a:buSzPct val="100000"/>
              <a:buChar char="●"/>
            </a:pPr>
            <a:r>
              <a:rPr lang="en-GB" sz="3300" dirty="0"/>
              <a:t>Useful for cross-examining multivariate data, through placing variables in the rows and columns and colouring the cells within the table.</a:t>
            </a:r>
            <a:endParaRPr sz="3300" dirty="0"/>
          </a:p>
          <a:p>
            <a:pPr marL="457200" lvl="0" indent="-340201" algn="l" rtl="0">
              <a:spcBef>
                <a:spcPts val="0"/>
              </a:spcBef>
              <a:spcAft>
                <a:spcPts val="0"/>
              </a:spcAft>
              <a:buSzPct val="100000"/>
              <a:buChar char="●"/>
            </a:pPr>
            <a:r>
              <a:rPr lang="en-GB" sz="3300" dirty="0"/>
              <a:t>Good for showing variance across multiple variables, revealing any patterns, displaying whether any variables are similar to each other, and for detecting if any correlations exist in-between them</a:t>
            </a:r>
            <a:endParaRPr sz="3300" dirty="0"/>
          </a:p>
          <a:p>
            <a:pPr marL="0" lvl="0" indent="0" algn="l" rtl="0">
              <a:spcBef>
                <a:spcPts val="1200"/>
              </a:spcBef>
              <a:spcAft>
                <a:spcPts val="0"/>
              </a:spcAft>
              <a:buNone/>
            </a:pP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30</a:t>
            </a:fld>
            <a:endParaRPr lang="en-GB"/>
          </a:p>
        </p:txBody>
      </p:sp>
    </p:spTree>
    <p:extLst>
      <p:ext uri="{BB962C8B-B14F-4D97-AF65-F5344CB8AC3E}">
        <p14:creationId xmlns:p14="http://schemas.microsoft.com/office/powerpoint/2010/main" val="3369130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3200" b="1" dirty="0">
                <a:solidFill>
                  <a:schemeClr val="dk2"/>
                </a:solidFill>
              </a:rPr>
              <a:t>Benefits of Heat Maps </a:t>
            </a:r>
            <a:endParaRPr sz="3600" dirty="0"/>
          </a:p>
        </p:txBody>
      </p:sp>
      <p:sp>
        <p:nvSpPr>
          <p:cNvPr id="85" name="Google Shape;85;p18"/>
          <p:cNvSpPr txBox="1">
            <a:spLocks noGrp="1"/>
          </p:cNvSpPr>
          <p:nvPr>
            <p:ph type="body" idx="1"/>
          </p:nvPr>
        </p:nvSpPr>
        <p:spPr>
          <a:xfrm>
            <a:off x="768927" y="900400"/>
            <a:ext cx="8115300" cy="4658736"/>
          </a:xfrm>
          <a:prstGeom prst="rect">
            <a:avLst/>
          </a:prstGeom>
        </p:spPr>
        <p:txBody>
          <a:bodyPr spcFirstLastPara="1" wrap="square" lIns="91425" tIns="91425" rIns="91425" bIns="91425" anchor="t" anchorCtr="0">
            <a:normAutofit/>
          </a:bodyPr>
          <a:lstStyle/>
          <a:p>
            <a:pPr marL="457200" lvl="0" indent="-378068" algn="l" rtl="0">
              <a:spcBef>
                <a:spcPts val="0"/>
              </a:spcBef>
              <a:spcAft>
                <a:spcPts val="0"/>
              </a:spcAft>
              <a:buSzPct val="100000"/>
              <a:buChar char="●"/>
            </a:pPr>
            <a:r>
              <a:rPr lang="en-GB" sz="2800" dirty="0"/>
              <a:t>Analytics tools like Google Analytics or </a:t>
            </a:r>
            <a:r>
              <a:rPr lang="en-GB" sz="2800" dirty="0" err="1"/>
              <a:t>SiteCatalyst</a:t>
            </a:r>
            <a:r>
              <a:rPr lang="en-GB" sz="2800" dirty="0"/>
              <a:t> are great at providing metrics to show which pages users visit, but they can lack detail when it comes to understanding how users engage with those pages. </a:t>
            </a:r>
            <a:r>
              <a:rPr lang="en-GB" sz="2800" dirty="0" err="1"/>
              <a:t>Heatmaps</a:t>
            </a:r>
            <a:r>
              <a:rPr lang="en-GB" sz="2800" dirty="0"/>
              <a:t> can give a more comprehensive overview of how users are really behaving.</a:t>
            </a:r>
            <a:endParaRPr sz="2800" dirty="0"/>
          </a:p>
          <a:p>
            <a:pPr marL="457200" lvl="0" indent="-378068" algn="l" rtl="0">
              <a:spcBef>
                <a:spcPts val="800"/>
              </a:spcBef>
              <a:spcAft>
                <a:spcPts val="0"/>
              </a:spcAft>
              <a:buSzPct val="100000"/>
              <a:buChar char="●"/>
            </a:pPr>
            <a:r>
              <a:rPr lang="en-GB" sz="2800" dirty="0"/>
              <a:t>A lot more visual than standard analytics reports, which can make them easier to </a:t>
            </a:r>
            <a:r>
              <a:rPr lang="en-GB" sz="2800" dirty="0" err="1"/>
              <a:t>analyze</a:t>
            </a:r>
            <a:r>
              <a:rPr lang="en-GB" sz="2800" dirty="0"/>
              <a:t> at a glance.</a:t>
            </a:r>
            <a:endParaRPr sz="2800" dirty="0"/>
          </a:p>
          <a:p>
            <a:pPr marL="457200" lvl="0" indent="-378068" algn="l" rtl="0">
              <a:spcBef>
                <a:spcPts val="800"/>
              </a:spcBef>
              <a:spcAft>
                <a:spcPts val="0"/>
              </a:spcAft>
              <a:buSzPct val="100000"/>
              <a:buChar char="●"/>
            </a:pPr>
            <a:r>
              <a:rPr lang="en-GB" sz="2800" dirty="0"/>
              <a:t>More accessible, particularly to people who are not accustomed to </a:t>
            </a:r>
            <a:r>
              <a:rPr lang="en-GB" sz="2800" dirty="0" err="1"/>
              <a:t>analyzing</a:t>
            </a:r>
            <a:r>
              <a:rPr lang="en-GB" sz="2800" dirty="0"/>
              <a:t> large amounts of data.</a:t>
            </a:r>
            <a:endParaRPr sz="2800" dirty="0"/>
          </a:p>
          <a:p>
            <a:pPr marL="0" lvl="0" indent="0" algn="l" rtl="0">
              <a:spcBef>
                <a:spcPts val="0"/>
              </a:spcBef>
              <a:spcAft>
                <a:spcPts val="0"/>
              </a:spcAft>
              <a:buNone/>
            </a:pP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31</a:t>
            </a:fld>
            <a:endParaRPr lang="en-GB"/>
          </a:p>
        </p:txBody>
      </p:sp>
    </p:spTree>
    <p:extLst>
      <p:ext uri="{BB962C8B-B14F-4D97-AF65-F5344CB8AC3E}">
        <p14:creationId xmlns:p14="http://schemas.microsoft.com/office/powerpoint/2010/main" val="2345092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3600" b="1" dirty="0">
                <a:solidFill>
                  <a:schemeClr val="dk2"/>
                </a:solidFill>
              </a:rPr>
              <a:t>Geospatial displays </a:t>
            </a:r>
            <a:endParaRPr sz="4000" dirty="0"/>
          </a:p>
        </p:txBody>
      </p:sp>
      <p:sp>
        <p:nvSpPr>
          <p:cNvPr id="91" name="Google Shape;91;p19"/>
          <p:cNvSpPr txBox="1">
            <a:spLocks noGrp="1"/>
          </p:cNvSpPr>
          <p:nvPr>
            <p:ph type="body" idx="1"/>
          </p:nvPr>
        </p:nvSpPr>
        <p:spPr>
          <a:xfrm>
            <a:off x="322091" y="627492"/>
            <a:ext cx="85206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800" b="1" dirty="0"/>
              <a:t>The Heat Map :</a:t>
            </a:r>
            <a:endParaRPr sz="2800" b="1" dirty="0"/>
          </a:p>
          <a:p>
            <a:pPr marL="457200" lvl="0" indent="-342900" algn="l" rtl="0">
              <a:spcBef>
                <a:spcPts val="1200"/>
              </a:spcBef>
              <a:spcAft>
                <a:spcPts val="0"/>
              </a:spcAft>
              <a:buSzPts val="1800"/>
              <a:buChar char="●"/>
            </a:pPr>
            <a:r>
              <a:rPr lang="en-GB" dirty="0">
                <a:solidFill>
                  <a:srgbClr val="333333"/>
                </a:solidFill>
              </a:rPr>
              <a:t>A heat map graph is a great way to compare categorical data using </a:t>
            </a:r>
            <a:r>
              <a:rPr lang="en-GB" dirty="0" err="1">
                <a:solidFill>
                  <a:srgbClr val="333333"/>
                </a:solidFill>
              </a:rPr>
              <a:t>color</a:t>
            </a:r>
            <a:r>
              <a:rPr lang="en-GB" dirty="0">
                <a:solidFill>
                  <a:srgbClr val="333333"/>
                </a:solidFill>
              </a:rPr>
              <a:t> </a:t>
            </a:r>
            <a:endParaRPr dirty="0">
              <a:solidFill>
                <a:srgbClr val="333333"/>
              </a:solidFill>
            </a:endParaRPr>
          </a:p>
          <a:p>
            <a:pPr marL="457200" lvl="0" indent="-342900" algn="l" rtl="0">
              <a:spcBef>
                <a:spcPts val="0"/>
              </a:spcBef>
              <a:spcAft>
                <a:spcPts val="0"/>
              </a:spcAft>
              <a:buSzPts val="1800"/>
              <a:buChar char="●"/>
            </a:pPr>
            <a:r>
              <a:rPr lang="en-GB" dirty="0">
                <a:solidFill>
                  <a:srgbClr val="333333"/>
                </a:solidFill>
              </a:rPr>
              <a:t>Similar to the tree map, a heat map represents the values by a variable in a hierarchy.</a:t>
            </a:r>
            <a:endParaRPr dirty="0">
              <a:solidFill>
                <a:srgbClr val="333333"/>
              </a:solidFill>
            </a:endParaRPr>
          </a:p>
          <a:p>
            <a:pPr marL="457200" lvl="0" indent="-342900" algn="l" rtl="0">
              <a:spcBef>
                <a:spcPts val="0"/>
              </a:spcBef>
              <a:spcAft>
                <a:spcPts val="0"/>
              </a:spcAft>
              <a:buClr>
                <a:srgbClr val="333333"/>
              </a:buClr>
              <a:buSzPts val="1800"/>
              <a:buChar char="●"/>
            </a:pPr>
            <a:r>
              <a:rPr lang="en-GB" dirty="0">
                <a:solidFill>
                  <a:srgbClr val="333333"/>
                </a:solidFill>
              </a:rPr>
              <a:t>Typically used to represent weather reports</a:t>
            </a:r>
            <a:endParaRPr dirty="0">
              <a:solidFill>
                <a:srgbClr val="333333"/>
              </a:solidFill>
            </a:endParaRPr>
          </a:p>
          <a:p>
            <a:pPr marL="457200" lvl="0" indent="0" algn="l" rtl="0">
              <a:spcBef>
                <a:spcPts val="0"/>
              </a:spcBef>
              <a:spcAft>
                <a:spcPts val="0"/>
              </a:spcAft>
              <a:buNone/>
            </a:pPr>
            <a:endParaRPr sz="1900" dirty="0"/>
          </a:p>
        </p:txBody>
      </p:sp>
      <p:pic>
        <p:nvPicPr>
          <p:cNvPr id="92" name="Google Shape;92;p19"/>
          <p:cNvPicPr preferRelativeResize="0"/>
          <p:nvPr/>
        </p:nvPicPr>
        <p:blipFill>
          <a:blip r:embed="rId3">
            <a:alphaModFix/>
          </a:blip>
          <a:stretch>
            <a:fillRect/>
          </a:stretch>
        </p:blipFill>
        <p:spPr>
          <a:xfrm>
            <a:off x="1316759" y="3800359"/>
            <a:ext cx="6093875" cy="2764667"/>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32</a:t>
            </a:fld>
            <a:endParaRPr lang="en-GB"/>
          </a:p>
        </p:txBody>
      </p:sp>
    </p:spTree>
    <p:extLst>
      <p:ext uri="{BB962C8B-B14F-4D97-AF65-F5344CB8AC3E}">
        <p14:creationId xmlns:p14="http://schemas.microsoft.com/office/powerpoint/2010/main" val="123818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Geospatial displays </a:t>
            </a:r>
            <a:endParaRPr sz="3311"/>
          </a:p>
        </p:txBody>
      </p:sp>
      <p:sp>
        <p:nvSpPr>
          <p:cNvPr id="98" name="Google Shape;98;p20"/>
          <p:cNvSpPr txBox="1">
            <a:spLocks noGrp="1"/>
          </p:cNvSpPr>
          <p:nvPr>
            <p:ph type="body" idx="1"/>
          </p:nvPr>
        </p:nvSpPr>
        <p:spPr>
          <a:xfrm>
            <a:off x="623400" y="1307667"/>
            <a:ext cx="85206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900"/>
              <a:t>The Heat Map :</a:t>
            </a:r>
            <a:endParaRPr sz="1900"/>
          </a:p>
          <a:p>
            <a:pPr marL="457200" lvl="0" indent="0" algn="l" rtl="0">
              <a:spcBef>
                <a:spcPts val="1200"/>
              </a:spcBef>
              <a:spcAft>
                <a:spcPts val="0"/>
              </a:spcAft>
              <a:buNone/>
            </a:pPr>
            <a:r>
              <a:rPr lang="en-GB">
                <a:solidFill>
                  <a:srgbClr val="333333"/>
                </a:solidFill>
              </a:rPr>
              <a:t>NOT restricted only for weather </a:t>
            </a:r>
            <a:endParaRPr sz="1900"/>
          </a:p>
        </p:txBody>
      </p:sp>
      <p:pic>
        <p:nvPicPr>
          <p:cNvPr id="99" name="Google Shape;99;p20"/>
          <p:cNvPicPr preferRelativeResize="0"/>
          <p:nvPr/>
        </p:nvPicPr>
        <p:blipFill>
          <a:blip r:embed="rId3">
            <a:alphaModFix/>
          </a:blip>
          <a:stretch>
            <a:fillRect/>
          </a:stretch>
        </p:blipFill>
        <p:spPr>
          <a:xfrm>
            <a:off x="670299" y="964001"/>
            <a:ext cx="7326851" cy="5608633"/>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33</a:t>
            </a:fld>
            <a:endParaRPr lang="en-GB"/>
          </a:p>
        </p:txBody>
      </p:sp>
    </p:spTree>
    <p:extLst>
      <p:ext uri="{BB962C8B-B14F-4D97-AF65-F5344CB8AC3E}">
        <p14:creationId xmlns:p14="http://schemas.microsoft.com/office/powerpoint/2010/main" val="275097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fade">
                                      <p:cBhvr>
                                        <p:cTn id="7" dur="10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4000" b="1" dirty="0">
                <a:solidFill>
                  <a:schemeClr val="dk2"/>
                </a:solidFill>
              </a:rPr>
              <a:t>Geospatial displays </a:t>
            </a:r>
            <a:endParaRPr dirty="0"/>
          </a:p>
        </p:txBody>
      </p:sp>
      <p:sp>
        <p:nvSpPr>
          <p:cNvPr id="105" name="Google Shape;105;p21"/>
          <p:cNvSpPr txBox="1">
            <a:spLocks noGrp="1"/>
          </p:cNvSpPr>
          <p:nvPr>
            <p:ph type="body" idx="1"/>
          </p:nvPr>
        </p:nvSpPr>
        <p:spPr>
          <a:xfrm>
            <a:off x="623400" y="1307667"/>
            <a:ext cx="8520600" cy="45552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GB" sz="2600" dirty="0"/>
              <a:t>The Heat Map :</a:t>
            </a:r>
            <a:endParaRPr sz="2600" dirty="0"/>
          </a:p>
          <a:p>
            <a:pPr marL="0" lvl="0" indent="0" algn="l" rtl="0">
              <a:spcBef>
                <a:spcPts val="1200"/>
              </a:spcBef>
              <a:spcAft>
                <a:spcPts val="0"/>
              </a:spcAft>
              <a:buClr>
                <a:schemeClr val="dk1"/>
              </a:buClr>
              <a:buSzPct val="61111"/>
              <a:buFont typeface="Arial"/>
              <a:buNone/>
            </a:pPr>
            <a:r>
              <a:rPr lang="en-GB" dirty="0">
                <a:solidFill>
                  <a:srgbClr val="333333"/>
                </a:solidFill>
              </a:rPr>
              <a:t>For navigating heat map as a visualization tool include:</a:t>
            </a:r>
            <a:endParaRPr dirty="0">
              <a:solidFill>
                <a:srgbClr val="333333"/>
              </a:solidFill>
            </a:endParaRPr>
          </a:p>
          <a:p>
            <a:pPr marL="457200" lvl="0" indent="-334327" algn="l" rtl="0">
              <a:spcBef>
                <a:spcPts val="0"/>
              </a:spcBef>
              <a:spcAft>
                <a:spcPts val="0"/>
              </a:spcAft>
              <a:buClr>
                <a:srgbClr val="333333"/>
              </a:buClr>
              <a:buSzPct val="100000"/>
              <a:buChar char="●"/>
            </a:pPr>
            <a:r>
              <a:rPr lang="en-GB" dirty="0">
                <a:solidFill>
                  <a:srgbClr val="333333"/>
                </a:solidFill>
              </a:rPr>
              <a:t>Can be used effectively when a large amount of data is available </a:t>
            </a:r>
            <a:endParaRPr dirty="0">
              <a:solidFill>
                <a:srgbClr val="333333"/>
              </a:solidFill>
            </a:endParaRPr>
          </a:p>
          <a:p>
            <a:pPr marL="457200" lvl="0" indent="-334327" algn="l" rtl="0">
              <a:spcBef>
                <a:spcPts val="0"/>
              </a:spcBef>
              <a:spcAft>
                <a:spcPts val="0"/>
              </a:spcAft>
              <a:buClr>
                <a:srgbClr val="333333"/>
              </a:buClr>
              <a:buSzPct val="100000"/>
              <a:buChar char="●"/>
            </a:pPr>
            <a:r>
              <a:rPr lang="en-GB" dirty="0">
                <a:solidFill>
                  <a:srgbClr val="333333"/>
                </a:solidFill>
              </a:rPr>
              <a:t>It is important to have enough information to ensure that any anomalies do not affect the overall </a:t>
            </a:r>
            <a:r>
              <a:rPr lang="en-GB" dirty="0" err="1">
                <a:solidFill>
                  <a:srgbClr val="333333"/>
                </a:solidFill>
              </a:rPr>
              <a:t>heatmap</a:t>
            </a:r>
            <a:r>
              <a:rPr lang="en-GB" dirty="0">
                <a:solidFill>
                  <a:srgbClr val="333333"/>
                </a:solidFill>
              </a:rPr>
              <a:t> picture</a:t>
            </a:r>
            <a:endParaRPr dirty="0">
              <a:solidFill>
                <a:srgbClr val="333333"/>
              </a:solidFill>
            </a:endParaRPr>
          </a:p>
          <a:p>
            <a:pPr marL="457200" lvl="0" indent="-334327" algn="l" rtl="0">
              <a:spcBef>
                <a:spcPts val="0"/>
              </a:spcBef>
              <a:spcAft>
                <a:spcPts val="0"/>
              </a:spcAft>
              <a:buClr>
                <a:srgbClr val="333333"/>
              </a:buClr>
              <a:buSzPct val="100000"/>
              <a:buChar char="●"/>
            </a:pPr>
            <a:r>
              <a:rPr lang="en-GB" dirty="0">
                <a:solidFill>
                  <a:srgbClr val="333333"/>
                </a:solidFill>
              </a:rPr>
              <a:t>Adding a size variation for squares to show the concentration of intersecting factors while adding a third element.</a:t>
            </a:r>
            <a:endParaRPr dirty="0">
              <a:solidFill>
                <a:srgbClr val="333333"/>
              </a:solidFill>
            </a:endParaRPr>
          </a:p>
          <a:p>
            <a:pPr marL="457200" lvl="0" indent="-334327" algn="l" rtl="0">
              <a:spcBef>
                <a:spcPts val="0"/>
              </a:spcBef>
              <a:spcAft>
                <a:spcPts val="0"/>
              </a:spcAft>
              <a:buClr>
                <a:srgbClr val="333333"/>
              </a:buClr>
              <a:buSzPct val="100000"/>
              <a:buChar char="●"/>
            </a:pPr>
            <a:r>
              <a:rPr lang="en-GB" dirty="0">
                <a:solidFill>
                  <a:srgbClr val="333333"/>
                </a:solidFill>
              </a:rPr>
              <a:t>Using a shape other than a square to convey meaning in a more impactful way.</a:t>
            </a:r>
            <a:endParaRPr dirty="0">
              <a:solidFill>
                <a:srgbClr val="333333"/>
              </a:solidFill>
            </a:endParaRPr>
          </a:p>
          <a:p>
            <a:pPr marL="457200" lvl="0" indent="-334327" algn="l" rtl="0">
              <a:spcBef>
                <a:spcPts val="0"/>
              </a:spcBef>
              <a:spcAft>
                <a:spcPts val="0"/>
              </a:spcAft>
              <a:buClr>
                <a:srgbClr val="333333"/>
              </a:buClr>
              <a:buSzPct val="100000"/>
              <a:buChar char="●"/>
            </a:pPr>
            <a:r>
              <a:rPr lang="en-GB" dirty="0">
                <a:solidFill>
                  <a:srgbClr val="333333"/>
                </a:solidFill>
              </a:rPr>
              <a:t>As with other forms of quantitative data, </a:t>
            </a:r>
            <a:r>
              <a:rPr lang="en-GB" dirty="0" err="1">
                <a:solidFill>
                  <a:srgbClr val="333333"/>
                </a:solidFill>
              </a:rPr>
              <a:t>heatmaps</a:t>
            </a:r>
            <a:r>
              <a:rPr lang="en-GB" dirty="0">
                <a:solidFill>
                  <a:srgbClr val="333333"/>
                </a:solidFill>
              </a:rPr>
              <a:t> can tell you </a:t>
            </a:r>
            <a:r>
              <a:rPr lang="en-GB" u="sng" dirty="0">
                <a:solidFill>
                  <a:srgbClr val="333333"/>
                </a:solidFill>
              </a:rPr>
              <a:t>what has happened </a:t>
            </a:r>
            <a:r>
              <a:rPr lang="en-GB" dirty="0">
                <a:solidFill>
                  <a:srgbClr val="333333"/>
                </a:solidFill>
              </a:rPr>
              <a:t>on a page, but </a:t>
            </a:r>
            <a:r>
              <a:rPr lang="en-GB" u="sng" dirty="0">
                <a:solidFill>
                  <a:srgbClr val="333333"/>
                </a:solidFill>
              </a:rPr>
              <a:t>cannot tell you why that happened</a:t>
            </a:r>
            <a:r>
              <a:rPr lang="en-GB" dirty="0">
                <a:solidFill>
                  <a:srgbClr val="333333"/>
                </a:solidFill>
              </a:rPr>
              <a:t>.</a:t>
            </a:r>
            <a:endParaRPr dirty="0">
              <a:solidFill>
                <a:srgbClr val="333333"/>
              </a:solidFill>
            </a:endParaRPr>
          </a:p>
          <a:p>
            <a:pPr marL="457200" lvl="0" indent="0" algn="l" rtl="0">
              <a:spcBef>
                <a:spcPts val="0"/>
              </a:spcBef>
              <a:spcAft>
                <a:spcPts val="0"/>
              </a:spcAft>
              <a:buNone/>
            </a:pPr>
            <a:endParaRPr dirty="0">
              <a:solidFill>
                <a:srgbClr val="333333"/>
              </a:solidFill>
            </a:endParaRP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34</a:t>
            </a:fld>
            <a:endParaRPr lang="en-GB"/>
          </a:p>
        </p:txBody>
      </p:sp>
    </p:spTree>
    <p:extLst>
      <p:ext uri="{BB962C8B-B14F-4D97-AF65-F5344CB8AC3E}">
        <p14:creationId xmlns:p14="http://schemas.microsoft.com/office/powerpoint/2010/main" val="2554119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Geospatial displays </a:t>
            </a:r>
            <a:endParaRPr sz="3311"/>
          </a:p>
        </p:txBody>
      </p:sp>
      <p:sp>
        <p:nvSpPr>
          <p:cNvPr id="111" name="Google Shape;111;p22"/>
          <p:cNvSpPr txBox="1">
            <a:spLocks noGrp="1"/>
          </p:cNvSpPr>
          <p:nvPr>
            <p:ph type="body" idx="1"/>
          </p:nvPr>
        </p:nvSpPr>
        <p:spPr>
          <a:xfrm>
            <a:off x="436200" y="861000"/>
            <a:ext cx="85206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900"/>
              <a:t>The Heat Map : examples </a:t>
            </a:r>
            <a:endParaRPr sz="1900"/>
          </a:p>
          <a:p>
            <a:pPr marL="0" lvl="0" indent="0" algn="l" rtl="0">
              <a:spcBef>
                <a:spcPts val="1200"/>
              </a:spcBef>
              <a:spcAft>
                <a:spcPts val="0"/>
              </a:spcAft>
              <a:buNone/>
            </a:pPr>
            <a:endParaRPr sz="1900"/>
          </a:p>
        </p:txBody>
      </p:sp>
      <p:pic>
        <p:nvPicPr>
          <p:cNvPr id="112" name="Google Shape;112;p22"/>
          <p:cNvPicPr preferRelativeResize="0"/>
          <p:nvPr/>
        </p:nvPicPr>
        <p:blipFill rotWithShape="1">
          <a:blip r:embed="rId3">
            <a:alphaModFix/>
          </a:blip>
          <a:srcRect b="42426"/>
          <a:stretch/>
        </p:blipFill>
        <p:spPr>
          <a:xfrm>
            <a:off x="65375" y="1687801"/>
            <a:ext cx="9144000" cy="3948401"/>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35</a:t>
            </a:fld>
            <a:endParaRPr lang="en-GB"/>
          </a:p>
        </p:txBody>
      </p:sp>
    </p:spTree>
    <p:extLst>
      <p:ext uri="{BB962C8B-B14F-4D97-AF65-F5344CB8AC3E}">
        <p14:creationId xmlns:p14="http://schemas.microsoft.com/office/powerpoint/2010/main" val="3551146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Geospatial displays </a:t>
            </a:r>
            <a:endParaRPr sz="3311"/>
          </a:p>
        </p:txBody>
      </p:sp>
      <p:sp>
        <p:nvSpPr>
          <p:cNvPr id="118" name="Google Shape;118;p23"/>
          <p:cNvSpPr txBox="1">
            <a:spLocks noGrp="1"/>
          </p:cNvSpPr>
          <p:nvPr>
            <p:ph type="body" idx="1"/>
          </p:nvPr>
        </p:nvSpPr>
        <p:spPr>
          <a:xfrm>
            <a:off x="859900" y="861000"/>
            <a:ext cx="72297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900"/>
              <a:t>The Heat Map : examples </a:t>
            </a:r>
            <a:endParaRPr sz="1900"/>
          </a:p>
          <a:p>
            <a:pPr marL="0" lvl="0" indent="0" algn="l" rtl="0">
              <a:spcBef>
                <a:spcPts val="1200"/>
              </a:spcBef>
              <a:spcAft>
                <a:spcPts val="0"/>
              </a:spcAft>
              <a:buNone/>
            </a:pPr>
            <a:endParaRPr sz="1900"/>
          </a:p>
        </p:txBody>
      </p:sp>
      <p:pic>
        <p:nvPicPr>
          <p:cNvPr id="119" name="Google Shape;119;p23"/>
          <p:cNvPicPr preferRelativeResize="0"/>
          <p:nvPr/>
        </p:nvPicPr>
        <p:blipFill>
          <a:blip r:embed="rId3">
            <a:alphaModFix/>
          </a:blip>
          <a:stretch>
            <a:fillRect/>
          </a:stretch>
        </p:blipFill>
        <p:spPr>
          <a:xfrm>
            <a:off x="665242" y="763600"/>
            <a:ext cx="6679757" cy="60944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36</a:t>
            </a:fld>
            <a:endParaRPr lang="en-GB"/>
          </a:p>
        </p:txBody>
      </p:sp>
    </p:spTree>
    <p:extLst>
      <p:ext uri="{BB962C8B-B14F-4D97-AF65-F5344CB8AC3E}">
        <p14:creationId xmlns:p14="http://schemas.microsoft.com/office/powerpoint/2010/main" val="2703631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Geospatial displays </a:t>
            </a:r>
            <a:endParaRPr sz="3311"/>
          </a:p>
        </p:txBody>
      </p:sp>
      <p:sp>
        <p:nvSpPr>
          <p:cNvPr id="125" name="Google Shape;125;p24"/>
          <p:cNvSpPr txBox="1">
            <a:spLocks noGrp="1"/>
          </p:cNvSpPr>
          <p:nvPr>
            <p:ph type="body" idx="1"/>
          </p:nvPr>
        </p:nvSpPr>
        <p:spPr>
          <a:xfrm>
            <a:off x="1037275" y="900400"/>
            <a:ext cx="8520600" cy="4555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900"/>
              <a:t>The Heat Map : examples </a:t>
            </a:r>
            <a:endParaRPr sz="1900"/>
          </a:p>
          <a:p>
            <a:pPr marL="0" lvl="0" indent="0" algn="l" rtl="0">
              <a:spcBef>
                <a:spcPts val="1200"/>
              </a:spcBef>
              <a:spcAft>
                <a:spcPts val="0"/>
              </a:spcAft>
              <a:buNone/>
            </a:pPr>
            <a:endParaRPr sz="1900"/>
          </a:p>
        </p:txBody>
      </p:sp>
      <p:pic>
        <p:nvPicPr>
          <p:cNvPr id="126" name="Google Shape;126;p24"/>
          <p:cNvPicPr preferRelativeResize="0"/>
          <p:nvPr/>
        </p:nvPicPr>
        <p:blipFill rotWithShape="1">
          <a:blip r:embed="rId3">
            <a:alphaModFix/>
          </a:blip>
          <a:srcRect l="5170" t="4019" r="6137" b="4220"/>
          <a:stretch/>
        </p:blipFill>
        <p:spPr>
          <a:xfrm>
            <a:off x="906526" y="763600"/>
            <a:ext cx="6079599" cy="6057467"/>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37</a:t>
            </a:fld>
            <a:endParaRPr lang="en-GB"/>
          </a:p>
        </p:txBody>
      </p:sp>
    </p:spTree>
    <p:extLst>
      <p:ext uri="{BB962C8B-B14F-4D97-AF65-F5344CB8AC3E}">
        <p14:creationId xmlns:p14="http://schemas.microsoft.com/office/powerpoint/2010/main" val="2634178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What is heat map analysis?</a:t>
            </a:r>
            <a:endParaRPr/>
          </a:p>
        </p:txBody>
      </p:sp>
      <p:sp>
        <p:nvSpPr>
          <p:cNvPr id="132" name="Google Shape;132;p25"/>
          <p:cNvSpPr txBox="1">
            <a:spLocks noGrp="1"/>
          </p:cNvSpPr>
          <p:nvPr>
            <p:ph type="body" idx="1"/>
          </p:nvPr>
        </p:nvSpPr>
        <p:spPr>
          <a:xfrm>
            <a:off x="457200" y="1200175"/>
            <a:ext cx="8229600" cy="5119200"/>
          </a:xfrm>
          <a:prstGeom prst="rect">
            <a:avLst/>
          </a:prstGeom>
          <a:noFill/>
          <a:ln>
            <a:noFill/>
          </a:ln>
        </p:spPr>
        <p:txBody>
          <a:bodyPr spcFirstLastPara="1" wrap="square" lIns="91425" tIns="45700" rIns="91425" bIns="45700" anchor="t" anchorCtr="0">
            <a:normAutofit fontScale="92500" lnSpcReduction="10000"/>
          </a:bodyPr>
          <a:lstStyle/>
          <a:p>
            <a:pPr marL="457200" lvl="0" indent="-342900" algn="l" rtl="0">
              <a:spcBef>
                <a:spcPts val="0"/>
              </a:spcBef>
              <a:spcAft>
                <a:spcPts val="0"/>
              </a:spcAft>
              <a:buSzPts val="1800"/>
              <a:buChar char="●"/>
            </a:pPr>
            <a:r>
              <a:rPr lang="en-GB"/>
              <a:t>The process of reviewing and analyzing heat map data to gather insights about user interaction on the page. </a:t>
            </a:r>
            <a:endParaRPr/>
          </a:p>
          <a:p>
            <a:pPr marL="457200" lvl="0" indent="-342900" algn="l" rtl="0">
              <a:spcBef>
                <a:spcPts val="1000"/>
              </a:spcBef>
              <a:spcAft>
                <a:spcPts val="0"/>
              </a:spcAft>
              <a:buSzPts val="1800"/>
              <a:buChar char="●"/>
            </a:pPr>
            <a:r>
              <a:rPr lang="en-GB"/>
              <a:t>Can lead to improved site designs with lower bounce rates, fewer drop-offs, more pageviews, and better conversion rates. </a:t>
            </a:r>
            <a:endParaRPr/>
          </a:p>
          <a:p>
            <a:pPr marL="457200" lvl="0" indent="-342900" algn="l" rtl="0">
              <a:spcBef>
                <a:spcPts val="1000"/>
              </a:spcBef>
              <a:spcAft>
                <a:spcPts val="1200"/>
              </a:spcAft>
              <a:buSzPts val="1800"/>
              <a:buChar char="●"/>
            </a:pPr>
            <a:r>
              <a:rPr lang="en-GB"/>
              <a:t>Results can be even more effective by running usability tests (like A/B testing:a method of comparing two versions of a web page or app against each other to determine which one performs better.).</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1924881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a:t>Heat map analysis</a:t>
            </a:r>
            <a:endParaRPr/>
          </a:p>
        </p:txBody>
      </p:sp>
      <p:sp>
        <p:nvSpPr>
          <p:cNvPr id="138" name="Google Shape;138;p26"/>
          <p:cNvSpPr txBox="1">
            <a:spLocks noGrp="1"/>
          </p:cNvSpPr>
          <p:nvPr>
            <p:ph type="body" idx="1"/>
          </p:nvPr>
        </p:nvSpPr>
        <p:spPr>
          <a:xfrm>
            <a:off x="388200" y="1363735"/>
            <a:ext cx="8229600" cy="4719200"/>
          </a:xfrm>
          <a:prstGeom prst="rect">
            <a:avLst/>
          </a:prstGeom>
          <a:noFill/>
          <a:ln>
            <a:noFill/>
          </a:ln>
        </p:spPr>
        <p:txBody>
          <a:bodyPr spcFirstLastPara="1" wrap="square" lIns="91425" tIns="45700" rIns="91425" bIns="45700" anchor="t" anchorCtr="0">
            <a:noAutofit/>
          </a:bodyPr>
          <a:lstStyle/>
          <a:p>
            <a:pPr marL="342900" lvl="0" indent="0" algn="l" rtl="0">
              <a:spcBef>
                <a:spcPts val="0"/>
              </a:spcBef>
              <a:spcAft>
                <a:spcPts val="0"/>
              </a:spcAft>
              <a:buNone/>
            </a:pPr>
            <a:r>
              <a:rPr lang="en-GB" sz="2800" dirty="0"/>
              <a:t>Carried out by asking: </a:t>
            </a:r>
            <a:endParaRPr sz="2800" dirty="0"/>
          </a:p>
          <a:p>
            <a:pPr marL="0" lvl="0" indent="0" algn="l" rtl="0">
              <a:spcBef>
                <a:spcPts val="560"/>
              </a:spcBef>
              <a:spcAft>
                <a:spcPts val="0"/>
              </a:spcAft>
              <a:buNone/>
            </a:pPr>
            <a:r>
              <a:rPr lang="en-GB" b="1" dirty="0"/>
              <a:t>      Are visitors seeing important content?</a:t>
            </a:r>
            <a:endParaRPr b="1" dirty="0"/>
          </a:p>
          <a:p>
            <a:pPr marL="1081088" lvl="1" indent="-457200" algn="l" rtl="0">
              <a:spcBef>
                <a:spcPts val="560"/>
              </a:spcBef>
              <a:spcAft>
                <a:spcPts val="0"/>
              </a:spcAft>
              <a:buSzPts val="2100"/>
              <a:buChar char="○"/>
            </a:pPr>
            <a:r>
              <a:rPr lang="en-GB" sz="2400" dirty="0"/>
              <a:t>To understand if people are actually seeing important content elements or sections on your page, take a look at a</a:t>
            </a:r>
            <a:r>
              <a:rPr lang="en-GB" sz="2400" b="1" dirty="0"/>
              <a:t> scroll map</a:t>
            </a:r>
            <a:r>
              <a:rPr lang="en-GB" sz="2400" dirty="0"/>
              <a:t>—i.e., the heat map that shows you how far down the page people scroll.</a:t>
            </a:r>
            <a:endParaRPr sz="2400" dirty="0"/>
          </a:p>
          <a:p>
            <a:pPr marL="1081088" lvl="1" indent="-457200" algn="l" rtl="0">
              <a:spcBef>
                <a:spcPts val="0"/>
              </a:spcBef>
              <a:spcAft>
                <a:spcPts val="0"/>
              </a:spcAft>
              <a:buSzPts val="2100"/>
              <a:buChar char="○"/>
            </a:pPr>
            <a:r>
              <a:rPr lang="en-GB" sz="2400" dirty="0"/>
              <a:t>Start by reviewing the position of the average fold, which is the portion of the page people see on their screen without scrolling as soon as they land on your site</a:t>
            </a:r>
            <a:r>
              <a:rPr lang="en-GB" sz="2400" dirty="0" smtClean="0"/>
              <a:t>:</a:t>
            </a:r>
            <a:endParaRPr sz="2400"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extLst>
      <p:ext uri="{BB962C8B-B14F-4D97-AF65-F5344CB8AC3E}">
        <p14:creationId xmlns:p14="http://schemas.microsoft.com/office/powerpoint/2010/main" val="41501835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7"/>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a:t>Heat map analysis</a:t>
            </a:r>
            <a:endParaRPr/>
          </a:p>
        </p:txBody>
      </p:sp>
      <p:sp>
        <p:nvSpPr>
          <p:cNvPr id="144" name="Google Shape;144;p27"/>
          <p:cNvSpPr txBox="1">
            <a:spLocks noGrp="1"/>
          </p:cNvSpPr>
          <p:nvPr>
            <p:ph type="body" idx="1"/>
          </p:nvPr>
        </p:nvSpPr>
        <p:spPr>
          <a:xfrm>
            <a:off x="388200" y="1363732"/>
            <a:ext cx="8229600" cy="302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Carried out by asking: </a:t>
            </a:r>
            <a:endParaRPr sz="4400" dirty="0"/>
          </a:p>
          <a:p>
            <a:pPr marL="0" lvl="0" indent="0" algn="l" rtl="0">
              <a:spcBef>
                <a:spcPts val="560"/>
              </a:spcBef>
              <a:spcAft>
                <a:spcPts val="0"/>
              </a:spcAft>
              <a:buNone/>
            </a:pPr>
            <a:r>
              <a:rPr lang="en-GB" b="1" dirty="0" smtClean="0"/>
              <a:t>Are </a:t>
            </a:r>
            <a:r>
              <a:rPr lang="en-GB" b="1" dirty="0"/>
              <a:t>people clicking on key page elements (links, buttons, and CTAs)?</a:t>
            </a:r>
            <a:endParaRPr b="1" dirty="0"/>
          </a:p>
          <a:p>
            <a:pPr marL="0" lvl="0" indent="0" algn="l" rtl="0">
              <a:spcBef>
                <a:spcPts val="560"/>
              </a:spcBef>
              <a:spcAft>
                <a:spcPts val="0"/>
              </a:spcAft>
              <a:buClr>
                <a:schemeClr val="dk1"/>
              </a:buClr>
              <a:buSzPts val="1100"/>
              <a:buFont typeface="Arial"/>
              <a:buNone/>
            </a:pPr>
            <a:r>
              <a:rPr lang="en-GB" dirty="0"/>
              <a:t> a </a:t>
            </a:r>
            <a:r>
              <a:rPr lang="en-GB" b="1" dirty="0"/>
              <a:t>click map</a:t>
            </a:r>
            <a:r>
              <a:rPr lang="en-GB" dirty="0"/>
              <a:t> quickly confirms if users are clicking on them or not:</a:t>
            </a:r>
            <a:endParaRPr dirty="0"/>
          </a:p>
          <a:p>
            <a:pPr marL="0" lvl="0" indent="0" algn="l" rtl="0">
              <a:spcBef>
                <a:spcPts val="560"/>
              </a:spcBef>
              <a:spcAft>
                <a:spcPts val="0"/>
              </a:spcAft>
              <a:buClr>
                <a:schemeClr val="dk1"/>
              </a:buClr>
              <a:buSzPts val="1100"/>
              <a:buFont typeface="Arial"/>
              <a:buNone/>
            </a:pPr>
            <a:endParaRPr b="1" dirty="0"/>
          </a:p>
          <a:p>
            <a:pPr marL="0" lvl="0" indent="0" algn="l" rtl="0">
              <a:spcBef>
                <a:spcPts val="560"/>
              </a:spcBef>
              <a:spcAft>
                <a:spcPts val="0"/>
              </a:spcAft>
              <a:buNone/>
            </a:pPr>
            <a:endParaRPr b="1" dirty="0"/>
          </a:p>
          <a:p>
            <a:pPr marL="0" lvl="0" indent="0" algn="l" rtl="0">
              <a:spcBef>
                <a:spcPts val="560"/>
              </a:spcBef>
              <a:spcAft>
                <a:spcPts val="1200"/>
              </a:spcAft>
              <a:buNone/>
            </a:pPr>
            <a:endParaRPr b="1"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extLst>
      <p:ext uri="{BB962C8B-B14F-4D97-AF65-F5344CB8AC3E}">
        <p14:creationId xmlns:p14="http://schemas.microsoft.com/office/powerpoint/2010/main" val="215711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a:t>Heat map analysis</a:t>
            </a:r>
            <a:endParaRPr/>
          </a:p>
        </p:txBody>
      </p:sp>
      <p:sp>
        <p:nvSpPr>
          <p:cNvPr id="150" name="Google Shape;150;p28"/>
          <p:cNvSpPr txBox="1">
            <a:spLocks noGrp="1"/>
          </p:cNvSpPr>
          <p:nvPr>
            <p:ph type="body" idx="1"/>
          </p:nvPr>
        </p:nvSpPr>
        <p:spPr>
          <a:xfrm>
            <a:off x="388200" y="1363732"/>
            <a:ext cx="8229600" cy="302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2800" dirty="0"/>
              <a:t>Carried out by asking: </a:t>
            </a:r>
            <a:endParaRPr sz="4000" b="1" dirty="0"/>
          </a:p>
          <a:p>
            <a:pPr marL="0" lvl="0" indent="0" algn="l" rtl="0">
              <a:spcBef>
                <a:spcPts val="560"/>
              </a:spcBef>
              <a:spcAft>
                <a:spcPts val="0"/>
              </a:spcAft>
              <a:buNone/>
            </a:pPr>
            <a:r>
              <a:rPr lang="en-GB" b="1" dirty="0" smtClean="0"/>
              <a:t>Are </a:t>
            </a:r>
            <a:r>
              <a:rPr lang="en-GB" b="1" dirty="0"/>
              <a:t>people confused by non-clickable elements?</a:t>
            </a:r>
            <a:endParaRPr b="1" dirty="0"/>
          </a:p>
          <a:p>
            <a:pPr marL="457200" lvl="0" indent="0" algn="l" rtl="0">
              <a:spcBef>
                <a:spcPts val="560"/>
              </a:spcBef>
              <a:spcAft>
                <a:spcPts val="0"/>
              </a:spcAft>
              <a:buNone/>
            </a:pPr>
            <a:r>
              <a:rPr lang="en-GB" dirty="0"/>
              <a:t>Non-clickable elements that look like they </a:t>
            </a:r>
            <a:r>
              <a:rPr lang="en-GB" i="1" dirty="0"/>
              <a:t>might</a:t>
            </a:r>
            <a:r>
              <a:rPr lang="en-GB" dirty="0"/>
              <a:t> be clickable can cause confusion and frustration for users who waste their clicks while expecting to be taken elsewhere</a:t>
            </a:r>
            <a:r>
              <a:rPr lang="en-GB" b="1" dirty="0"/>
              <a:t>  using mouse tracking heat maps</a:t>
            </a:r>
            <a:endParaRPr b="1" dirty="0"/>
          </a:p>
          <a:p>
            <a:pPr marL="0" lvl="0" indent="0" algn="l" rtl="0">
              <a:spcBef>
                <a:spcPts val="560"/>
              </a:spcBef>
              <a:spcAft>
                <a:spcPts val="1200"/>
              </a:spcAft>
              <a:buNone/>
            </a:pPr>
            <a:endParaRPr b="1"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extLst>
      <p:ext uri="{BB962C8B-B14F-4D97-AF65-F5344CB8AC3E}">
        <p14:creationId xmlns:p14="http://schemas.microsoft.com/office/powerpoint/2010/main" val="559796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a:t>Heat map analysis</a:t>
            </a:r>
            <a:endParaRPr/>
          </a:p>
        </p:txBody>
      </p:sp>
      <p:sp>
        <p:nvSpPr>
          <p:cNvPr id="156" name="Google Shape;156;p29"/>
          <p:cNvSpPr txBox="1">
            <a:spLocks noGrp="1"/>
          </p:cNvSpPr>
          <p:nvPr>
            <p:ph type="body" idx="1"/>
          </p:nvPr>
        </p:nvSpPr>
        <p:spPr>
          <a:xfrm>
            <a:off x="388200" y="1363732"/>
            <a:ext cx="8229600" cy="302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2800" dirty="0"/>
              <a:t>Carried out by asking: </a:t>
            </a:r>
            <a:r>
              <a:rPr lang="en-GB" sz="4000" b="1" dirty="0"/>
              <a:t> </a:t>
            </a:r>
            <a:endParaRPr sz="4000" b="1" dirty="0"/>
          </a:p>
          <a:p>
            <a:pPr marL="0" lvl="0" indent="0" algn="l" rtl="0">
              <a:spcBef>
                <a:spcPts val="560"/>
              </a:spcBef>
              <a:spcAft>
                <a:spcPts val="0"/>
              </a:spcAft>
              <a:buNone/>
            </a:pPr>
            <a:r>
              <a:rPr lang="en-GB" b="1" dirty="0" smtClean="0"/>
              <a:t>Are </a:t>
            </a:r>
            <a:r>
              <a:rPr lang="en-GB" b="1" dirty="0"/>
              <a:t>people getting distracted?</a:t>
            </a:r>
            <a:endParaRPr b="1" dirty="0"/>
          </a:p>
          <a:p>
            <a:pPr marL="457200" lvl="0" indent="0" algn="l" rtl="0">
              <a:spcBef>
                <a:spcPts val="560"/>
              </a:spcBef>
              <a:spcAft>
                <a:spcPts val="0"/>
              </a:spcAft>
              <a:buNone/>
            </a:pPr>
            <a:r>
              <a:rPr lang="en-GB" dirty="0"/>
              <a:t>Identifying where exactly visitors are watching on the web page using </a:t>
            </a:r>
            <a:r>
              <a:rPr lang="en-GB" b="1" dirty="0"/>
              <a:t>eye-tracking heat maps</a:t>
            </a:r>
            <a:endParaRPr b="1" dirty="0"/>
          </a:p>
          <a:p>
            <a:pPr marL="0" lvl="0" indent="0" algn="l" rtl="0">
              <a:spcBef>
                <a:spcPts val="560"/>
              </a:spcBef>
              <a:spcAft>
                <a:spcPts val="1200"/>
              </a:spcAft>
              <a:buNone/>
            </a:pPr>
            <a:endParaRPr b="1"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2023995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0"/>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a:t>Heat map analysis</a:t>
            </a:r>
            <a:endParaRPr/>
          </a:p>
        </p:txBody>
      </p:sp>
      <p:sp>
        <p:nvSpPr>
          <p:cNvPr id="162" name="Google Shape;162;p30"/>
          <p:cNvSpPr txBox="1">
            <a:spLocks noGrp="1"/>
          </p:cNvSpPr>
          <p:nvPr>
            <p:ph type="body" idx="1"/>
          </p:nvPr>
        </p:nvSpPr>
        <p:spPr>
          <a:xfrm>
            <a:off x="388200" y="1363732"/>
            <a:ext cx="8229600" cy="302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Carried out by asking: </a:t>
            </a:r>
            <a:endParaRPr sz="4400" b="1" dirty="0"/>
          </a:p>
          <a:p>
            <a:pPr marL="0" lvl="0" indent="0" algn="l" rtl="0">
              <a:spcBef>
                <a:spcPts val="1200"/>
              </a:spcBef>
              <a:spcAft>
                <a:spcPts val="1200"/>
              </a:spcAft>
              <a:buNone/>
            </a:pPr>
            <a:r>
              <a:rPr lang="en-GB" b="1" dirty="0" smtClean="0"/>
              <a:t>Are </a:t>
            </a:r>
            <a:r>
              <a:rPr lang="en-GB" b="1" dirty="0"/>
              <a:t>people experiencing issues across devices?</a:t>
            </a:r>
            <a:endParaRPr b="1"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14038796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title"/>
          </p:nvPr>
        </p:nvSpPr>
        <p:spPr>
          <a:xfrm>
            <a:off x="407950" y="4"/>
            <a:ext cx="8229600" cy="11432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GB" b="1"/>
              <a:t>Types of website heatmap data visualization</a:t>
            </a:r>
            <a:endParaRPr/>
          </a:p>
        </p:txBody>
      </p:sp>
      <p:sp>
        <p:nvSpPr>
          <p:cNvPr id="168" name="Google Shape;168;p31"/>
          <p:cNvSpPr txBox="1">
            <a:spLocks noGrp="1"/>
          </p:cNvSpPr>
          <p:nvPr>
            <p:ph type="body" idx="1"/>
          </p:nvPr>
        </p:nvSpPr>
        <p:spPr>
          <a:xfrm>
            <a:off x="457200" y="1074667"/>
            <a:ext cx="8229600" cy="5074000"/>
          </a:xfrm>
          <a:prstGeom prst="rect">
            <a:avLst/>
          </a:prstGeom>
          <a:noFill/>
          <a:ln>
            <a:noFill/>
          </a:ln>
        </p:spPr>
        <p:txBody>
          <a:bodyPr spcFirstLastPara="1" wrap="square" lIns="91425" tIns="45700" rIns="91425" bIns="45700" anchor="t" anchorCtr="0">
            <a:normAutofit fontScale="85000" lnSpcReduction="20000"/>
          </a:bodyPr>
          <a:lstStyle/>
          <a:p>
            <a:pPr marL="457200" lvl="0" indent="-342900" algn="l" rtl="0">
              <a:spcBef>
                <a:spcPts val="0"/>
              </a:spcBef>
              <a:spcAft>
                <a:spcPts val="0"/>
              </a:spcAft>
              <a:buSzPts val="1800"/>
              <a:buChar char="●"/>
            </a:pPr>
            <a:r>
              <a:rPr lang="en-GB"/>
              <a:t>Due to their dynamic and robust nature, website heatmaps enable the graphical representation of data in many forms based on the nature of the data sets. </a:t>
            </a:r>
            <a:endParaRPr/>
          </a:p>
          <a:p>
            <a:pPr marL="457200" lvl="0" indent="-342900" algn="l" rtl="0">
              <a:lnSpc>
                <a:spcPct val="105000"/>
              </a:lnSpc>
              <a:spcBef>
                <a:spcPts val="800"/>
              </a:spcBef>
              <a:spcAft>
                <a:spcPts val="0"/>
              </a:spcAft>
              <a:buSzPts val="1800"/>
              <a:buChar char="●"/>
            </a:pPr>
            <a:r>
              <a:rPr lang="en-GB"/>
              <a:t>Businesses use website heatmaps with an online presence to visualize the visitors’ clicks, scrolls, mouse and eye movement, and so on, on their website, in real-time.</a:t>
            </a:r>
            <a:endParaRPr/>
          </a:p>
          <a:p>
            <a:pPr marL="457200" lvl="0" indent="-342900" algn="l" rtl="0">
              <a:lnSpc>
                <a:spcPct val="105000"/>
              </a:lnSpc>
              <a:spcBef>
                <a:spcPts val="800"/>
              </a:spcBef>
              <a:spcAft>
                <a:spcPts val="0"/>
              </a:spcAft>
              <a:buSzPts val="1800"/>
              <a:buChar char="●"/>
            </a:pPr>
            <a:r>
              <a:rPr lang="en-GB"/>
              <a:t>Visitor interaction on web pages is visualized in </a:t>
            </a:r>
            <a:endParaRPr/>
          </a:p>
          <a:p>
            <a:pPr marL="914400" lvl="1" indent="-342900" algn="l" rtl="0">
              <a:spcBef>
                <a:spcPts val="1200"/>
              </a:spcBef>
              <a:spcAft>
                <a:spcPts val="0"/>
              </a:spcAft>
              <a:buSzPts val="1800"/>
              <a:buChar char="○"/>
            </a:pPr>
            <a:r>
              <a:rPr lang="en-GB"/>
              <a:t>Heatmaps</a:t>
            </a:r>
            <a:endParaRPr/>
          </a:p>
          <a:p>
            <a:pPr marL="914400" lvl="1" indent="-342900" algn="l" rtl="0">
              <a:spcBef>
                <a:spcPts val="0"/>
              </a:spcBef>
              <a:spcAft>
                <a:spcPts val="0"/>
              </a:spcAft>
              <a:buSzPts val="1800"/>
              <a:buChar char="○"/>
            </a:pPr>
            <a:r>
              <a:rPr lang="en-GB"/>
              <a:t>Scrollmaps</a:t>
            </a:r>
            <a:endParaRPr/>
          </a:p>
          <a:p>
            <a:pPr marL="914400" lvl="1" indent="-342900" algn="l" rtl="0">
              <a:spcBef>
                <a:spcPts val="0"/>
              </a:spcBef>
              <a:spcAft>
                <a:spcPts val="0"/>
              </a:spcAft>
              <a:buSzPts val="1800"/>
              <a:buChar char="○"/>
            </a:pPr>
            <a:r>
              <a:rPr lang="en-GB"/>
              <a:t>click maps</a:t>
            </a:r>
            <a:endParaRPr/>
          </a:p>
          <a:p>
            <a:pPr marL="914400" lvl="1" indent="-342900" algn="l" rtl="0">
              <a:spcBef>
                <a:spcPts val="0"/>
              </a:spcBef>
              <a:spcAft>
                <a:spcPts val="0"/>
              </a:spcAft>
              <a:buSzPts val="1800"/>
              <a:buChar char="○"/>
            </a:pPr>
            <a:r>
              <a:rPr lang="en-GB"/>
              <a:t>mouse-tracking heatmaps</a:t>
            </a:r>
            <a:endParaRPr/>
          </a:p>
          <a:p>
            <a:pPr marL="914400" lvl="1" indent="-342900" algn="l" rtl="0">
              <a:spcBef>
                <a:spcPts val="0"/>
              </a:spcBef>
              <a:spcAft>
                <a:spcPts val="0"/>
              </a:spcAft>
              <a:buSzPts val="1800"/>
              <a:buChar char="○"/>
            </a:pPr>
            <a:r>
              <a:rPr lang="en-GB"/>
              <a:t>eye-tracking heatmaps. </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extLst>
      <p:ext uri="{BB962C8B-B14F-4D97-AF65-F5344CB8AC3E}">
        <p14:creationId xmlns:p14="http://schemas.microsoft.com/office/powerpoint/2010/main" val="3768456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2"/>
          <p:cNvSpPr txBox="1">
            <a:spLocks noGrp="1"/>
          </p:cNvSpPr>
          <p:nvPr>
            <p:ph type="title"/>
          </p:nvPr>
        </p:nvSpPr>
        <p:spPr>
          <a:xfrm>
            <a:off x="2496875" y="235204"/>
            <a:ext cx="4546800" cy="114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Heatmap</a:t>
            </a:r>
            <a:endParaRPr/>
          </a:p>
        </p:txBody>
      </p:sp>
      <p:sp>
        <p:nvSpPr>
          <p:cNvPr id="174" name="Google Shape;174;p32"/>
          <p:cNvSpPr txBox="1">
            <a:spLocks noGrp="1"/>
          </p:cNvSpPr>
          <p:nvPr>
            <p:ph type="body" idx="1"/>
          </p:nvPr>
        </p:nvSpPr>
        <p:spPr>
          <a:xfrm>
            <a:off x="688857" y="1537854"/>
            <a:ext cx="7800000" cy="322160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GB" sz="2800" dirty="0" err="1"/>
              <a:t>Heatmap</a:t>
            </a:r>
            <a:r>
              <a:rPr lang="en-GB" sz="2800" dirty="0"/>
              <a:t> is a graphical way to visualize visitor </a:t>
            </a:r>
            <a:r>
              <a:rPr lang="en-GB" sz="2800" dirty="0" err="1"/>
              <a:t>behavior</a:t>
            </a:r>
            <a:r>
              <a:rPr lang="en-GB" sz="2800" dirty="0"/>
              <a:t> data in the form of hot and cold spots employing a warm-to-cool </a:t>
            </a:r>
            <a:r>
              <a:rPr lang="en-GB" sz="2800" dirty="0" err="1"/>
              <a:t>color</a:t>
            </a:r>
            <a:r>
              <a:rPr lang="en-GB" sz="2800" dirty="0"/>
              <a:t> scheme. </a:t>
            </a:r>
            <a:endParaRPr sz="4000" dirty="0"/>
          </a:p>
          <a:p>
            <a:pPr marL="342900" lvl="0" indent="-342900" algn="just" rtl="0">
              <a:spcBef>
                <a:spcPts val="400"/>
              </a:spcBef>
              <a:spcAft>
                <a:spcPts val="1200"/>
              </a:spcAft>
              <a:buClr>
                <a:schemeClr val="dk1"/>
              </a:buClr>
              <a:buSzPts val="2000"/>
              <a:buChar char="●"/>
            </a:pPr>
            <a:r>
              <a:rPr lang="en-GB" sz="2800" dirty="0"/>
              <a:t>The warm </a:t>
            </a:r>
            <a:r>
              <a:rPr lang="en-GB" sz="2800" dirty="0" err="1"/>
              <a:t>colors</a:t>
            </a:r>
            <a:r>
              <a:rPr lang="en-GB" sz="2800" dirty="0"/>
              <a:t> indicate sections with the most visitor interaction, red being the area of highest interaction, and the cool </a:t>
            </a:r>
            <a:r>
              <a:rPr lang="en-GB" sz="2800" dirty="0" err="1"/>
              <a:t>colors</a:t>
            </a:r>
            <a:r>
              <a:rPr lang="en-GB" sz="2800" dirty="0"/>
              <a:t> point to the sections with the lowest interaction.</a:t>
            </a:r>
            <a:endParaRPr sz="2800"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extLst>
      <p:ext uri="{BB962C8B-B14F-4D97-AF65-F5344CB8AC3E}">
        <p14:creationId xmlns:p14="http://schemas.microsoft.com/office/powerpoint/2010/main" val="856206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2122400" y="4"/>
            <a:ext cx="4546800" cy="1143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Heatmap</a:t>
            </a:r>
            <a:endParaRPr/>
          </a:p>
        </p:txBody>
      </p:sp>
      <p:pic>
        <p:nvPicPr>
          <p:cNvPr id="180" name="Google Shape;180;p33"/>
          <p:cNvPicPr preferRelativeResize="0"/>
          <p:nvPr/>
        </p:nvPicPr>
        <p:blipFill rotWithShape="1">
          <a:blip r:embed="rId3">
            <a:alphaModFix/>
          </a:blip>
          <a:srcRect/>
          <a:stretch/>
        </p:blipFill>
        <p:spPr>
          <a:xfrm>
            <a:off x="492683" y="908734"/>
            <a:ext cx="8303299" cy="5949268"/>
          </a:xfrm>
          <a:prstGeom prst="rect">
            <a:avLst/>
          </a:prstGeom>
          <a:noFill/>
          <a:ln>
            <a:noFill/>
          </a:ln>
        </p:spPr>
      </p:pic>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24540450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Scroll map</a:t>
            </a:r>
            <a:endParaRPr/>
          </a:p>
        </p:txBody>
      </p:sp>
      <p:sp>
        <p:nvSpPr>
          <p:cNvPr id="186" name="Google Shape;186;p34"/>
          <p:cNvSpPr txBox="1">
            <a:spLocks noGrp="1"/>
          </p:cNvSpPr>
          <p:nvPr>
            <p:ph type="body" idx="1"/>
          </p:nvPr>
        </p:nvSpPr>
        <p:spPr>
          <a:xfrm>
            <a:off x="484800" y="1350567"/>
            <a:ext cx="8174400" cy="4968800"/>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spcBef>
                <a:spcPts val="0"/>
              </a:spcBef>
              <a:spcAft>
                <a:spcPts val="0"/>
              </a:spcAft>
              <a:buSzPts val="1800"/>
              <a:buChar char="●"/>
            </a:pPr>
            <a:r>
              <a:rPr lang="en-GB" dirty="0"/>
              <a:t>Scroll maps visually present the state of your webpages in the form of a </a:t>
            </a:r>
            <a:r>
              <a:rPr lang="en-GB" dirty="0" err="1"/>
              <a:t>heatmap</a:t>
            </a:r>
            <a:r>
              <a:rPr lang="en-GB" dirty="0"/>
              <a:t> where all the scroll data (scroll depth, scrolling pattern, etc.) are plotted. </a:t>
            </a:r>
            <a:endParaRPr dirty="0"/>
          </a:p>
          <a:p>
            <a:pPr marL="457200" lvl="0" indent="-342900" algn="l" rtl="0">
              <a:spcBef>
                <a:spcPts val="1000"/>
              </a:spcBef>
              <a:spcAft>
                <a:spcPts val="1200"/>
              </a:spcAft>
              <a:buSzPts val="1800"/>
              <a:buChar char="●"/>
            </a:pPr>
            <a:r>
              <a:rPr lang="en-GB" dirty="0"/>
              <a:t>A scroll map indicates the number of visitors scrolled to each section of a webpage, the section after which the percentage of people scrolling drastically falls, the maximum depth till which people scrolled, and more. This data is visualized using </a:t>
            </a:r>
            <a:r>
              <a:rPr lang="en-GB" dirty="0" err="1"/>
              <a:t>colors</a:t>
            </a:r>
            <a:r>
              <a:rPr lang="en-GB" dirty="0"/>
              <a:t> in a single scroll map, with each </a:t>
            </a:r>
            <a:r>
              <a:rPr lang="en-GB" dirty="0" err="1"/>
              <a:t>color</a:t>
            </a:r>
            <a:r>
              <a:rPr lang="en-GB" dirty="0"/>
              <a:t> signifying varying intensity of interaction. </a:t>
            </a:r>
            <a:endParaRPr dirty="0"/>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extLst>
      <p:ext uri="{BB962C8B-B14F-4D97-AF65-F5344CB8AC3E}">
        <p14:creationId xmlns:p14="http://schemas.microsoft.com/office/powerpoint/2010/main" val="36474015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5"/>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Scroll map</a:t>
            </a:r>
            <a:endParaRPr/>
          </a:p>
        </p:txBody>
      </p:sp>
      <p:pic>
        <p:nvPicPr>
          <p:cNvPr id="192" name="Google Shape;192;p35"/>
          <p:cNvPicPr preferRelativeResize="0"/>
          <p:nvPr/>
        </p:nvPicPr>
        <p:blipFill rotWithShape="1">
          <a:blip r:embed="rId3">
            <a:alphaModFix/>
          </a:blip>
          <a:srcRect/>
          <a:stretch/>
        </p:blipFill>
        <p:spPr>
          <a:xfrm>
            <a:off x="1194647" y="1400134"/>
            <a:ext cx="6754725" cy="5114933"/>
          </a:xfrm>
          <a:prstGeom prst="rect">
            <a:avLst/>
          </a:prstGeom>
          <a:noFill/>
          <a:ln>
            <a:noFill/>
          </a:ln>
        </p:spPr>
      </p:pic>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extLst>
      <p:ext uri="{BB962C8B-B14F-4D97-AF65-F5344CB8AC3E}">
        <p14:creationId xmlns:p14="http://schemas.microsoft.com/office/powerpoint/2010/main" val="17032511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6"/>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Click map</a:t>
            </a:r>
            <a:endParaRPr/>
          </a:p>
        </p:txBody>
      </p:sp>
      <p:sp>
        <p:nvSpPr>
          <p:cNvPr id="198" name="Google Shape;198;p36"/>
          <p:cNvSpPr txBox="1">
            <a:spLocks noGrp="1"/>
          </p:cNvSpPr>
          <p:nvPr>
            <p:ph type="body" idx="1"/>
          </p:nvPr>
        </p:nvSpPr>
        <p:spPr>
          <a:xfrm>
            <a:off x="457200" y="1232333"/>
            <a:ext cx="8125200" cy="4526000"/>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just" rtl="0">
              <a:spcBef>
                <a:spcPts val="0"/>
              </a:spcBef>
              <a:spcAft>
                <a:spcPts val="0"/>
              </a:spcAft>
              <a:buSzPts val="1800"/>
              <a:buChar char="●"/>
            </a:pPr>
            <a:r>
              <a:rPr lang="en-GB"/>
              <a:t>Website heatmaps also offer click maps that track and visualize click data on the web pages to help to understand visitor behavior at a granular level. </a:t>
            </a:r>
            <a:endParaRPr/>
          </a:p>
          <a:p>
            <a:pPr marL="457200" lvl="0" indent="-342900" algn="just" rtl="0">
              <a:spcBef>
                <a:spcPts val="1000"/>
              </a:spcBef>
              <a:spcAft>
                <a:spcPts val="0"/>
              </a:spcAft>
              <a:buSzPts val="1800"/>
              <a:buChar char="●"/>
            </a:pPr>
            <a:r>
              <a:rPr lang="en-GB"/>
              <a:t>Click maps visually presents clicks on each element of a page like clicks on links, missing/broken links, images, Call to action (CTA), pop-ups, and so on. </a:t>
            </a:r>
            <a:endParaRPr/>
          </a:p>
          <a:p>
            <a:pPr marL="457200" lvl="0" indent="-342900" algn="just" rtl="0">
              <a:spcBef>
                <a:spcPts val="1000"/>
              </a:spcBef>
              <a:spcAft>
                <a:spcPts val="1200"/>
              </a:spcAft>
              <a:buSzPts val="1800"/>
              <a:buChar char="●"/>
            </a:pPr>
            <a:r>
              <a:rPr lang="en-GB"/>
              <a:t>With each and every click registered on the webpage, click maps present multiple variables and data points in one single heatmap.</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28558511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457200" y="12"/>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Click map</a:t>
            </a:r>
            <a:endParaRPr/>
          </a:p>
        </p:txBody>
      </p:sp>
      <p:pic>
        <p:nvPicPr>
          <p:cNvPr id="204" name="Google Shape;204;p37"/>
          <p:cNvPicPr preferRelativeResize="0"/>
          <p:nvPr/>
        </p:nvPicPr>
        <p:blipFill rotWithShape="1">
          <a:blip r:embed="rId3">
            <a:alphaModFix/>
          </a:blip>
          <a:srcRect/>
          <a:stretch/>
        </p:blipFill>
        <p:spPr>
          <a:xfrm>
            <a:off x="755751" y="714501"/>
            <a:ext cx="7632499" cy="6287468"/>
          </a:xfrm>
          <a:prstGeom prst="rect">
            <a:avLst/>
          </a:prstGeom>
          <a:noFill/>
          <a:ln>
            <a:noFill/>
          </a:ln>
        </p:spPr>
      </p:pic>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extLst>
      <p:ext uri="{BB962C8B-B14F-4D97-AF65-F5344CB8AC3E}">
        <p14:creationId xmlns:p14="http://schemas.microsoft.com/office/powerpoint/2010/main" val="29033239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Mouse tracking heatmap</a:t>
            </a:r>
            <a:endParaRPr/>
          </a:p>
        </p:txBody>
      </p:sp>
      <p:sp>
        <p:nvSpPr>
          <p:cNvPr id="210" name="Google Shape;210;p38"/>
          <p:cNvSpPr txBox="1">
            <a:spLocks noGrp="1"/>
          </p:cNvSpPr>
          <p:nvPr>
            <p:ph type="body" idx="1"/>
          </p:nvPr>
        </p:nvSpPr>
        <p:spPr>
          <a:xfrm>
            <a:off x="457200" y="1600200"/>
            <a:ext cx="8105400" cy="4526000"/>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spcBef>
                <a:spcPts val="0"/>
              </a:spcBef>
              <a:spcAft>
                <a:spcPts val="0"/>
              </a:spcAft>
              <a:buSzPts val="1800"/>
              <a:buChar char="●"/>
            </a:pPr>
            <a:r>
              <a:rPr lang="en-GB"/>
              <a:t>A color-coded heatmap is generated that visualizes mouse movement data of each visitor as well as data where the individual reports are combined to trace patterns in the mouse movement of the visitors.</a:t>
            </a:r>
            <a:endParaRPr/>
          </a:p>
          <a:p>
            <a:pPr marL="457200" lvl="0" indent="0" algn="l" rtl="0">
              <a:spcBef>
                <a:spcPts val="400"/>
              </a:spcBef>
              <a:spcAft>
                <a:spcPts val="0"/>
              </a:spcAft>
              <a:buNone/>
            </a:pPr>
            <a:endParaRPr/>
          </a:p>
          <a:p>
            <a:pPr marL="457200" lvl="0" indent="-342900" algn="l" rtl="0">
              <a:spcBef>
                <a:spcPts val="400"/>
              </a:spcBef>
              <a:spcAft>
                <a:spcPts val="0"/>
              </a:spcAft>
              <a:buSzPts val="1800"/>
              <a:buChar char="●"/>
            </a:pPr>
            <a:r>
              <a:rPr lang="en-GB"/>
              <a:t>At the most general level, mouse tracking heatmaps visualize where visitors’ cursor hovers the most, which section/s of a webpage the cursor keeps coming back to, and more such mouse movement data.</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9278129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Mouse tracking heatmap</a:t>
            </a:r>
            <a:endParaRPr/>
          </a:p>
        </p:txBody>
      </p:sp>
      <p:pic>
        <p:nvPicPr>
          <p:cNvPr id="216" name="Google Shape;216;p39"/>
          <p:cNvPicPr preferRelativeResize="0"/>
          <p:nvPr/>
        </p:nvPicPr>
        <p:blipFill rotWithShape="1">
          <a:blip r:embed="rId3">
            <a:alphaModFix/>
          </a:blip>
          <a:srcRect/>
          <a:stretch/>
        </p:blipFill>
        <p:spPr>
          <a:xfrm>
            <a:off x="1211976" y="1136401"/>
            <a:ext cx="6473725" cy="5495935"/>
          </a:xfrm>
          <a:prstGeom prst="rect">
            <a:avLst/>
          </a:prstGeom>
          <a:noFill/>
          <a:ln>
            <a:noFill/>
          </a:ln>
        </p:spPr>
      </p:pic>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33771090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Eye-tracking heatmap</a:t>
            </a:r>
            <a:endParaRPr/>
          </a:p>
        </p:txBody>
      </p:sp>
      <p:sp>
        <p:nvSpPr>
          <p:cNvPr id="222" name="Google Shape;222;p40"/>
          <p:cNvSpPr txBox="1">
            <a:spLocks noGrp="1"/>
          </p:cNvSpPr>
          <p:nvPr>
            <p:ph type="body" idx="1"/>
          </p:nvPr>
        </p:nvSpPr>
        <p:spPr>
          <a:xfrm>
            <a:off x="457200" y="1324333"/>
            <a:ext cx="8115300" cy="4526000"/>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spcBef>
                <a:spcPts val="0"/>
              </a:spcBef>
              <a:spcAft>
                <a:spcPts val="0"/>
              </a:spcAft>
              <a:buSzPts val="1800"/>
              <a:buChar char="●"/>
            </a:pPr>
            <a:r>
              <a:rPr lang="en-GB"/>
              <a:t>Like mouse tracking heatmap, eye-tracking heatmap also visualizes viewing patterns, but instead of cursor data, data on visitors’ gaze is visualized. Eye-tracking heatmap tracks visitors’ eye movement and visualizes gaze data. </a:t>
            </a:r>
            <a:endParaRPr/>
          </a:p>
          <a:p>
            <a:pPr marL="457200" lvl="0" indent="-342900" algn="l" rtl="0">
              <a:spcBef>
                <a:spcPts val="1000"/>
              </a:spcBef>
              <a:spcAft>
                <a:spcPts val="1200"/>
              </a:spcAft>
              <a:buSzPts val="1800"/>
              <a:buChar char="●"/>
            </a:pPr>
            <a:r>
              <a:rPr lang="en-GB"/>
              <a:t>These data include fixation length based on the number of times an image is looked at, which elements attract the visitor’s gaze the most, which irrelevant elements are distracting the visitors’ eye away from the main CTA, and so on.</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36557518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1"/>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GB" b="1"/>
              <a:t>Eye-tracking heatmap</a:t>
            </a:r>
            <a:endParaRPr/>
          </a:p>
        </p:txBody>
      </p:sp>
      <p:pic>
        <p:nvPicPr>
          <p:cNvPr id="228" name="Google Shape;228;p41" descr="eye tracking heatmap"/>
          <p:cNvPicPr preferRelativeResize="0"/>
          <p:nvPr/>
        </p:nvPicPr>
        <p:blipFill rotWithShape="1">
          <a:blip r:embed="rId3">
            <a:alphaModFix/>
          </a:blip>
          <a:srcRect/>
          <a:stretch/>
        </p:blipFill>
        <p:spPr>
          <a:xfrm>
            <a:off x="1044446" y="1063552"/>
            <a:ext cx="6539276" cy="6550201"/>
          </a:xfrm>
          <a:prstGeom prst="rect">
            <a:avLst/>
          </a:prstGeom>
          <a:noFill/>
          <a:ln>
            <a:noFill/>
          </a:ln>
        </p:spPr>
      </p:pic>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13101018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2"/>
          <p:cNvSpPr txBox="1">
            <a:spLocks noGrp="1"/>
          </p:cNvSpPr>
          <p:nvPr>
            <p:ph type="title"/>
          </p:nvPr>
        </p:nvSpPr>
        <p:spPr>
          <a:xfrm>
            <a:off x="457200" y="205979"/>
            <a:ext cx="8229600" cy="8576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GB" b="1"/>
              <a:t>The benefits of using heat maps on website</a:t>
            </a:r>
            <a:endParaRPr/>
          </a:p>
        </p:txBody>
      </p:sp>
      <p:sp>
        <p:nvSpPr>
          <p:cNvPr id="234" name="Google Shape;234;p42"/>
          <p:cNvSpPr txBox="1">
            <a:spLocks noGrp="1"/>
          </p:cNvSpPr>
          <p:nvPr>
            <p:ph type="body" idx="1"/>
          </p:nvPr>
        </p:nvSpPr>
        <p:spPr>
          <a:xfrm>
            <a:off x="457200" y="1200175"/>
            <a:ext cx="8229600" cy="5132400"/>
          </a:xfrm>
          <a:prstGeom prst="rect">
            <a:avLst/>
          </a:prstGeom>
          <a:noFill/>
          <a:ln>
            <a:noFill/>
          </a:ln>
        </p:spPr>
        <p:txBody>
          <a:bodyPr spcFirstLastPara="1" wrap="square" lIns="91425" tIns="45700" rIns="91425" bIns="45700" anchor="t" anchorCtr="0">
            <a:normAutofit fontScale="77500" lnSpcReduction="20000"/>
          </a:bodyPr>
          <a:lstStyle/>
          <a:p>
            <a:pPr marL="457200" lvl="0" indent="-342900" algn="l" rtl="0">
              <a:spcBef>
                <a:spcPts val="0"/>
              </a:spcBef>
              <a:spcAft>
                <a:spcPts val="0"/>
              </a:spcAft>
              <a:buSzPts val="1800"/>
              <a:buChar char="●"/>
            </a:pPr>
            <a:r>
              <a:rPr lang="en-GB"/>
              <a:t>Heatmaps help to understand how people interact with website pages, to </a:t>
            </a:r>
            <a:r>
              <a:rPr lang="en-GB" b="1"/>
              <a:t>find answers to business-critical questions such as ‘why are users not converting?’ or ‘how to get more visitors to take action?’</a:t>
            </a:r>
            <a:r>
              <a:rPr lang="en-GB"/>
              <a:t> </a:t>
            </a:r>
            <a:endParaRPr/>
          </a:p>
          <a:p>
            <a:pPr marL="457200" lvl="0" indent="-342900" algn="l" rtl="0">
              <a:spcBef>
                <a:spcPts val="1000"/>
              </a:spcBef>
              <a:spcAft>
                <a:spcPts val="0"/>
              </a:spcAft>
              <a:buSzPts val="1800"/>
              <a:buChar char="●"/>
            </a:pPr>
            <a:r>
              <a:rPr lang="en-GB"/>
              <a:t>Heat maps can be used to determine if the visitors are:  </a:t>
            </a:r>
            <a:endParaRPr/>
          </a:p>
          <a:p>
            <a:pPr marL="914400" lvl="1" indent="-342900" algn="l" rtl="0">
              <a:spcBef>
                <a:spcPts val="0"/>
              </a:spcBef>
              <a:spcAft>
                <a:spcPts val="0"/>
              </a:spcAft>
              <a:buSzPts val="1800"/>
              <a:buChar char="○"/>
            </a:pPr>
            <a:r>
              <a:rPr lang="en-GB"/>
              <a:t>Reaching important content or failing to see it</a:t>
            </a:r>
            <a:endParaRPr/>
          </a:p>
          <a:p>
            <a:pPr marL="914400" lvl="1" indent="-342900" algn="l" rtl="0">
              <a:spcBef>
                <a:spcPts val="0"/>
              </a:spcBef>
              <a:spcAft>
                <a:spcPts val="0"/>
              </a:spcAft>
              <a:buSzPts val="1800"/>
              <a:buChar char="○"/>
            </a:pPr>
            <a:r>
              <a:rPr lang="en-GB"/>
              <a:t>Finding and using a page’s main links, buttons, opt-ins, and CTAs</a:t>
            </a:r>
            <a:endParaRPr/>
          </a:p>
          <a:p>
            <a:pPr marL="914400" lvl="1" indent="-342900" algn="l" rtl="0">
              <a:spcBef>
                <a:spcPts val="0"/>
              </a:spcBef>
              <a:spcAft>
                <a:spcPts val="0"/>
              </a:spcAft>
              <a:buSzPts val="1800"/>
              <a:buChar char="○"/>
            </a:pPr>
            <a:r>
              <a:rPr lang="en-GB"/>
              <a:t>Getting distracted by non-clickable elements</a:t>
            </a:r>
            <a:endParaRPr/>
          </a:p>
          <a:p>
            <a:pPr marL="914400" lvl="1" indent="-342900" algn="l" rtl="0">
              <a:spcBef>
                <a:spcPts val="0"/>
              </a:spcBef>
              <a:spcAft>
                <a:spcPts val="0"/>
              </a:spcAft>
              <a:buSzPts val="1800"/>
              <a:buChar char="○"/>
            </a:pPr>
            <a:r>
              <a:rPr lang="en-GB"/>
              <a:t>Experiencing issues across devices</a:t>
            </a:r>
            <a:endParaRPr/>
          </a:p>
          <a:p>
            <a:pPr marL="457200" lvl="0" indent="-342900" algn="l" rtl="0">
              <a:spcBef>
                <a:spcPts val="0"/>
              </a:spcBef>
              <a:spcAft>
                <a:spcPts val="0"/>
              </a:spcAft>
              <a:buSzPts val="1800"/>
              <a:buChar char="●"/>
            </a:pPr>
            <a:r>
              <a:rPr lang="en-GB"/>
              <a:t>help </a:t>
            </a:r>
            <a:endParaRPr/>
          </a:p>
          <a:p>
            <a:pPr marL="914400" lvl="1" indent="-342900" algn="l" rtl="0">
              <a:spcBef>
                <a:spcPts val="0"/>
              </a:spcBef>
              <a:spcAft>
                <a:spcPts val="0"/>
              </a:spcAft>
              <a:buSzPts val="1800"/>
              <a:buChar char="○"/>
            </a:pPr>
            <a:r>
              <a:rPr lang="en-GB"/>
              <a:t>to be informed</a:t>
            </a:r>
            <a:endParaRPr/>
          </a:p>
          <a:p>
            <a:pPr marL="914400" lvl="1" indent="-342900" algn="l" rtl="0">
              <a:spcBef>
                <a:spcPts val="0"/>
              </a:spcBef>
              <a:spcAft>
                <a:spcPts val="0"/>
              </a:spcAft>
              <a:buSzPts val="1800"/>
              <a:buChar char="○"/>
            </a:pPr>
            <a:r>
              <a:rPr lang="en-GB"/>
              <a:t>to take data-based decisions for A/B testing</a:t>
            </a:r>
            <a:endParaRPr/>
          </a:p>
          <a:p>
            <a:pPr marL="914400" lvl="1" indent="-342900" algn="l" rtl="0">
              <a:spcBef>
                <a:spcPts val="0"/>
              </a:spcBef>
              <a:spcAft>
                <a:spcPts val="0"/>
              </a:spcAft>
              <a:buSzPts val="1800"/>
              <a:buChar char="○"/>
            </a:pPr>
            <a:r>
              <a:rPr lang="en-GB"/>
              <a:t>in updating, or (re)designing website. </a:t>
            </a:r>
            <a:endParaRPr/>
          </a:p>
          <a:p>
            <a:pPr marL="914400" lvl="1" indent="-342900" algn="l" rtl="0">
              <a:spcBef>
                <a:spcPts val="0"/>
              </a:spcBef>
              <a:spcAft>
                <a:spcPts val="0"/>
              </a:spcAft>
              <a:buSzPts val="1800"/>
              <a:buChar char="○"/>
            </a:pPr>
            <a:r>
              <a:rPr lang="en-GB"/>
              <a:t>to show team members and stakeholders what’s happening and get their buy-in more easily when changes are needed</a:t>
            </a:r>
            <a:endParaRPr/>
          </a:p>
        </p:txBody>
      </p:sp>
      <p:sp>
        <p:nvSpPr>
          <p:cNvPr id="2" name="Footer Placeholder 1"/>
          <p:cNvSpPr>
            <a:spLocks noGrp="1"/>
          </p:cNvSpPr>
          <p:nvPr>
            <p:ph type="ftr" idx="11"/>
          </p:nvPr>
        </p:nvSpPr>
        <p:spPr/>
        <p:txBody>
          <a:bodyPr/>
          <a:lstStyle/>
          <a:p>
            <a:r>
              <a:rPr lang="en-US" smtClean="0"/>
              <a:t>Module 2: 216H03L602 Jan-May 2026</a:t>
            </a:r>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24380745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43"/>
          <p:cNvSpPr txBox="1">
            <a:spLocks noGrp="1"/>
          </p:cNvSpPr>
          <p:nvPr>
            <p:ph type="title"/>
          </p:nvPr>
        </p:nvSpPr>
        <p:spPr>
          <a:xfrm>
            <a:off x="311700" y="0"/>
            <a:ext cx="8520600" cy="7636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1200"/>
              </a:spcAft>
              <a:buClr>
                <a:schemeClr val="dk1"/>
              </a:buClr>
              <a:buSzPts val="1100"/>
              <a:buFont typeface="Arial"/>
              <a:buNone/>
            </a:pPr>
            <a:r>
              <a:rPr lang="en-GB" sz="3600" b="1" dirty="0">
                <a:solidFill>
                  <a:schemeClr val="dk2"/>
                </a:solidFill>
              </a:rPr>
              <a:t>Geospatial displays </a:t>
            </a:r>
            <a:endParaRPr sz="4000" dirty="0"/>
          </a:p>
        </p:txBody>
      </p:sp>
      <p:sp>
        <p:nvSpPr>
          <p:cNvPr id="240" name="Google Shape;240;p43"/>
          <p:cNvSpPr txBox="1">
            <a:spLocks noGrp="1"/>
          </p:cNvSpPr>
          <p:nvPr>
            <p:ph type="body" idx="1"/>
          </p:nvPr>
        </p:nvSpPr>
        <p:spPr>
          <a:xfrm>
            <a:off x="311700" y="866600"/>
            <a:ext cx="8520600" cy="5160127"/>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4000" dirty="0"/>
              <a:t>Maps</a:t>
            </a:r>
            <a:endParaRPr sz="4000" dirty="0"/>
          </a:p>
          <a:p>
            <a:pPr marL="457200" lvl="0" indent="-349250" algn="l" rtl="0">
              <a:spcBef>
                <a:spcPts val="1200"/>
              </a:spcBef>
              <a:spcAft>
                <a:spcPts val="0"/>
              </a:spcAft>
              <a:buSzPts val="1900"/>
              <a:buChar char="●"/>
            </a:pPr>
            <a:r>
              <a:rPr lang="en-GB" sz="1900" dirty="0"/>
              <a:t>Used to </a:t>
            </a:r>
            <a:r>
              <a:rPr lang="en-GB" sz="1900" dirty="0" err="1"/>
              <a:t>analyze</a:t>
            </a:r>
            <a:r>
              <a:rPr lang="en-GB" sz="1900" dirty="0"/>
              <a:t> or present data geographically,</a:t>
            </a:r>
            <a:endParaRPr sz="1900" dirty="0"/>
          </a:p>
          <a:p>
            <a:pPr marL="457200" lvl="0" indent="-349250" algn="l" rtl="0">
              <a:spcBef>
                <a:spcPts val="0"/>
              </a:spcBef>
              <a:spcAft>
                <a:spcPts val="0"/>
              </a:spcAft>
              <a:buSzPts val="1900"/>
              <a:buChar char="●"/>
            </a:pPr>
            <a:r>
              <a:rPr lang="en-GB" sz="1900" dirty="0"/>
              <a:t>Used to display geographic data or as a way to communicate answers to spatial questions such as country, state or any other geographical locations</a:t>
            </a:r>
            <a:endParaRPr sz="1900" dirty="0"/>
          </a:p>
          <a:p>
            <a:pPr marL="457200" lvl="0" indent="-349250" algn="l" rtl="0">
              <a:spcBef>
                <a:spcPts val="0"/>
              </a:spcBef>
              <a:spcAft>
                <a:spcPts val="0"/>
              </a:spcAft>
              <a:buSzPts val="1900"/>
              <a:buChar char="●"/>
            </a:pPr>
            <a:r>
              <a:rPr lang="en-GB" sz="1900" dirty="0"/>
              <a:t>Before beginning to build a map, be sure to take a careful look at data, analysis, and story</a:t>
            </a:r>
            <a:endParaRPr sz="1900" dirty="0"/>
          </a:p>
          <a:p>
            <a:pPr marL="457200" lvl="0" indent="-349250" algn="l" rtl="0">
              <a:spcBef>
                <a:spcPts val="0"/>
              </a:spcBef>
              <a:spcAft>
                <a:spcPts val="0"/>
              </a:spcAft>
              <a:buSzPts val="1900"/>
              <a:buChar char="●"/>
            </a:pPr>
            <a:r>
              <a:rPr lang="en-GB" sz="1900" dirty="0"/>
              <a:t>Ensure “appropriate data representation” and “attractive data representation”</a:t>
            </a:r>
            <a:endParaRPr sz="1900" dirty="0"/>
          </a:p>
          <a:p>
            <a:pPr marL="457200" lvl="0" indent="-349250" algn="l" rtl="0">
              <a:spcBef>
                <a:spcPts val="0"/>
              </a:spcBef>
              <a:spcAft>
                <a:spcPts val="0"/>
              </a:spcAft>
              <a:buSzPts val="1900"/>
              <a:buChar char="●"/>
            </a:pPr>
            <a:r>
              <a:rPr lang="en-GB" sz="1900" u="sng" dirty="0"/>
              <a:t>Maps can be particularly tricky </a:t>
            </a:r>
            <a:r>
              <a:rPr lang="en-GB" sz="1900" dirty="0"/>
              <a:t>in their tendency to mislead or inadvertently cause people to misinterpret the data, or to dictate a not-quite-true story.</a:t>
            </a:r>
            <a:endParaRPr sz="1900" dirty="0"/>
          </a:p>
          <a:p>
            <a:pPr marL="457200" lvl="0" indent="0" algn="l" rtl="0">
              <a:spcBef>
                <a:spcPts val="1200"/>
              </a:spcBef>
              <a:spcAft>
                <a:spcPts val="1200"/>
              </a:spcAft>
              <a:buNone/>
            </a:pP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56</a:t>
            </a:fld>
            <a:endParaRPr lang="en-GB"/>
          </a:p>
        </p:txBody>
      </p:sp>
    </p:spTree>
    <p:extLst>
      <p:ext uri="{BB962C8B-B14F-4D97-AF65-F5344CB8AC3E}">
        <p14:creationId xmlns:p14="http://schemas.microsoft.com/office/powerpoint/2010/main" val="1399944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44"/>
          <p:cNvSpPr txBox="1">
            <a:spLocks noGrp="1"/>
          </p:cNvSpPr>
          <p:nvPr>
            <p:ph type="title"/>
          </p:nvPr>
        </p:nvSpPr>
        <p:spPr>
          <a:xfrm>
            <a:off x="238963" y="104994"/>
            <a:ext cx="8520600" cy="7636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1200"/>
              </a:spcAft>
              <a:buClr>
                <a:schemeClr val="dk1"/>
              </a:buClr>
              <a:buSzPts val="1100"/>
              <a:buFont typeface="Arial"/>
              <a:buNone/>
            </a:pPr>
            <a:r>
              <a:rPr lang="en-GB" sz="4000" b="1" dirty="0">
                <a:solidFill>
                  <a:schemeClr val="dk2"/>
                </a:solidFill>
              </a:rPr>
              <a:t>Geospatial displays </a:t>
            </a:r>
            <a:endParaRPr dirty="0"/>
          </a:p>
        </p:txBody>
      </p:sp>
      <p:sp>
        <p:nvSpPr>
          <p:cNvPr id="246" name="Google Shape;246;p44"/>
          <p:cNvSpPr txBox="1">
            <a:spLocks noGrp="1"/>
          </p:cNvSpPr>
          <p:nvPr>
            <p:ph type="body" idx="1"/>
          </p:nvPr>
        </p:nvSpPr>
        <p:spPr>
          <a:xfrm>
            <a:off x="249355" y="1006696"/>
            <a:ext cx="8520600" cy="5123939"/>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GB" sz="3400" dirty="0"/>
              <a:t>Connecting to Geographic Data</a:t>
            </a:r>
            <a:endParaRPr sz="3400" dirty="0"/>
          </a:p>
          <a:p>
            <a:pPr marL="457200" lvl="0" indent="-325755" algn="l" rtl="0">
              <a:spcBef>
                <a:spcPts val="1200"/>
              </a:spcBef>
              <a:spcAft>
                <a:spcPts val="0"/>
              </a:spcAft>
              <a:buSzPct val="100000"/>
              <a:buChar char="●"/>
            </a:pPr>
            <a:r>
              <a:rPr lang="en-GB" dirty="0"/>
              <a:t>Geographic data is information mapped around a sphere. </a:t>
            </a:r>
            <a:endParaRPr dirty="0"/>
          </a:p>
          <a:p>
            <a:pPr marL="457200" lvl="0" indent="-325755" algn="l" rtl="0">
              <a:spcBef>
                <a:spcPts val="0"/>
              </a:spcBef>
              <a:spcAft>
                <a:spcPts val="0"/>
              </a:spcAft>
              <a:buSzPct val="100000"/>
              <a:buChar char="●"/>
            </a:pPr>
            <a:r>
              <a:rPr lang="en-GB" dirty="0"/>
              <a:t>Geographic data highlights the latitude and longitude relationships to a specific object or location</a:t>
            </a:r>
            <a:endParaRPr dirty="0"/>
          </a:p>
          <a:p>
            <a:pPr marL="457200" lvl="0" indent="-325755" algn="l" rtl="0">
              <a:spcBef>
                <a:spcPts val="0"/>
              </a:spcBef>
              <a:spcAft>
                <a:spcPts val="0"/>
              </a:spcAft>
              <a:buSzPct val="100000"/>
              <a:buChar char="●"/>
            </a:pPr>
            <a:r>
              <a:rPr lang="en-GB" dirty="0"/>
              <a:t>Spatial data is any type of data that directly or indirectly references a specific geographical area or location. </a:t>
            </a:r>
            <a:endParaRPr dirty="0"/>
          </a:p>
          <a:p>
            <a:pPr marL="457200" lvl="0" indent="-325755" algn="l" rtl="0">
              <a:spcBef>
                <a:spcPts val="0"/>
              </a:spcBef>
              <a:spcAft>
                <a:spcPts val="0"/>
              </a:spcAft>
              <a:buSzPct val="100000"/>
              <a:buChar char="●"/>
            </a:pPr>
            <a:r>
              <a:rPr lang="en-GB" dirty="0"/>
              <a:t>Sometimes called geospatial data or geographic information, spatial data can also numerically represent a physical object in a geographic coordinate system. However, spatial data is much more than a spatial component of a map.</a:t>
            </a:r>
            <a:endParaRPr dirty="0"/>
          </a:p>
          <a:p>
            <a:pPr marL="457200" lvl="0" indent="-325755" algn="l" rtl="0">
              <a:spcBef>
                <a:spcPts val="0"/>
              </a:spcBef>
              <a:spcAft>
                <a:spcPts val="0"/>
              </a:spcAft>
              <a:buSzPct val="100000"/>
              <a:buChar char="●"/>
            </a:pPr>
            <a:r>
              <a:rPr lang="en-GB" dirty="0"/>
              <a:t>A geographic information system (GIS) is a computer system for capturing, storing, checking, and displaying data related to positions on Earth's surface. </a:t>
            </a:r>
            <a:endParaRPr dirty="0"/>
          </a:p>
          <a:p>
            <a:pPr marL="457200" lvl="0" indent="-325755" algn="l" rtl="0">
              <a:spcBef>
                <a:spcPts val="0"/>
              </a:spcBef>
              <a:spcAft>
                <a:spcPts val="0"/>
              </a:spcAft>
              <a:buSzPct val="100000"/>
              <a:buChar char="●"/>
            </a:pPr>
            <a:r>
              <a:rPr lang="en-GB" dirty="0"/>
              <a:t>By relating seemingly unrelated data, GIS can help individuals and organizations better understand spatial patterns and relationships</a:t>
            </a:r>
            <a:endParaRPr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57</a:t>
            </a:fld>
            <a:endParaRPr lang="en-GB"/>
          </a:p>
        </p:txBody>
      </p:sp>
    </p:spTree>
    <p:extLst>
      <p:ext uri="{BB962C8B-B14F-4D97-AF65-F5344CB8AC3E}">
        <p14:creationId xmlns:p14="http://schemas.microsoft.com/office/powerpoint/2010/main" val="629047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6"/>
          <p:cNvSpPr txBox="1">
            <a:spLocks noGrp="1"/>
          </p:cNvSpPr>
          <p:nvPr>
            <p:ph type="title"/>
          </p:nvPr>
        </p:nvSpPr>
        <p:spPr>
          <a:xfrm>
            <a:off x="415610" y="0"/>
            <a:ext cx="8520600" cy="7636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1200"/>
              </a:spcAft>
              <a:buClr>
                <a:schemeClr val="dk1"/>
              </a:buClr>
              <a:buSzPts val="1100"/>
              <a:buFont typeface="Arial"/>
              <a:buNone/>
            </a:pPr>
            <a:r>
              <a:rPr lang="en-GB" sz="3600" b="1" dirty="0">
                <a:solidFill>
                  <a:schemeClr val="dk2"/>
                </a:solidFill>
              </a:rPr>
              <a:t>Geospatial displays </a:t>
            </a:r>
            <a:endParaRPr sz="4000" dirty="0"/>
          </a:p>
        </p:txBody>
      </p:sp>
      <p:sp>
        <p:nvSpPr>
          <p:cNvPr id="258" name="Google Shape;258;p46"/>
          <p:cNvSpPr txBox="1">
            <a:spLocks noGrp="1"/>
          </p:cNvSpPr>
          <p:nvPr>
            <p:ph type="body" idx="1"/>
          </p:nvPr>
        </p:nvSpPr>
        <p:spPr>
          <a:xfrm>
            <a:off x="311700" y="1422333"/>
            <a:ext cx="8520600" cy="3315922"/>
          </a:xfrm>
          <a:prstGeom prst="rect">
            <a:avLst/>
          </a:prstGeom>
        </p:spPr>
        <p:txBody>
          <a:bodyPr spcFirstLastPara="1" wrap="square" lIns="91425" tIns="91425" rIns="91425" bIns="91425" anchor="t" anchorCtr="0">
            <a:normAutofit/>
          </a:bodyPr>
          <a:lstStyle/>
          <a:p>
            <a:pPr marL="457200" lvl="0" indent="-374650" algn="l" rtl="0">
              <a:spcBef>
                <a:spcPts val="0"/>
              </a:spcBef>
              <a:spcAft>
                <a:spcPts val="0"/>
              </a:spcAft>
              <a:buSzPts val="2300"/>
              <a:buChar char="●"/>
            </a:pPr>
            <a:r>
              <a:rPr lang="en-GB" sz="2300" b="1" dirty="0"/>
              <a:t>Assigning Geographic Roles</a:t>
            </a:r>
            <a:endParaRPr sz="2300" b="1" dirty="0"/>
          </a:p>
          <a:p>
            <a:pPr marL="914400" lvl="1" indent="-349250" algn="l" rtl="0">
              <a:spcBef>
                <a:spcPts val="0"/>
              </a:spcBef>
              <a:spcAft>
                <a:spcPts val="0"/>
              </a:spcAft>
              <a:buSzPts val="1900"/>
              <a:buChar char="○"/>
            </a:pPr>
            <a:r>
              <a:rPr lang="en-GB" sz="1900" dirty="0"/>
              <a:t>All geographic fields should have a </a:t>
            </a:r>
            <a:r>
              <a:rPr lang="en-GB" sz="1900" b="1" dirty="0"/>
              <a:t>data type of string</a:t>
            </a:r>
            <a:r>
              <a:rPr lang="en-GB" sz="1900" dirty="0"/>
              <a:t>, a</a:t>
            </a:r>
            <a:r>
              <a:rPr lang="en-GB" sz="1900" b="1" dirty="0"/>
              <a:t> data role of dimension</a:t>
            </a:r>
            <a:r>
              <a:rPr lang="en-GB" sz="1900" dirty="0"/>
              <a:t>, and be assigned the appropriate geographic roles.</a:t>
            </a:r>
            <a:endParaRPr sz="1900" dirty="0"/>
          </a:p>
          <a:p>
            <a:pPr marL="914400" lvl="1" indent="-349250" algn="l" rtl="0">
              <a:spcBef>
                <a:spcPts val="0"/>
              </a:spcBef>
              <a:spcAft>
                <a:spcPts val="0"/>
              </a:spcAft>
              <a:buSzPts val="1900"/>
              <a:buChar char="○"/>
            </a:pPr>
            <a:r>
              <a:rPr lang="en-GB" sz="1900" dirty="0"/>
              <a:t>The exception is </a:t>
            </a:r>
            <a:r>
              <a:rPr lang="en-GB" sz="1900" b="1" dirty="0"/>
              <a:t>latitude/longitude</a:t>
            </a:r>
            <a:r>
              <a:rPr lang="en-GB" sz="1900" dirty="0"/>
              <a:t>, which should have a </a:t>
            </a:r>
            <a:r>
              <a:rPr lang="en-GB" sz="1900" b="1" dirty="0"/>
              <a:t>data type of number (decimal)</a:t>
            </a:r>
            <a:r>
              <a:rPr lang="en-GB" sz="1900" dirty="0"/>
              <a:t>, a </a:t>
            </a:r>
            <a:r>
              <a:rPr lang="en-GB" sz="1900" b="1" dirty="0"/>
              <a:t>data role of measure</a:t>
            </a:r>
            <a:r>
              <a:rPr lang="en-GB" sz="1900" dirty="0"/>
              <a:t>, and be assigned the Latitude and Longitude geographic roles.</a:t>
            </a:r>
            <a:endParaRPr sz="1900" dirty="0"/>
          </a:p>
          <a:p>
            <a:pPr marL="914400" lvl="1" indent="-349250" algn="l" rtl="0">
              <a:spcBef>
                <a:spcPts val="0"/>
              </a:spcBef>
              <a:spcAft>
                <a:spcPts val="0"/>
              </a:spcAft>
              <a:buSzPts val="1900"/>
              <a:buChar char="○"/>
            </a:pPr>
            <a:r>
              <a:rPr lang="en-GB" sz="1900" dirty="0"/>
              <a:t>Geographic fields could be State and County string type data could be adjusted to State field to the Geographic Role of State and the County field to the Geographic Role of County</a:t>
            </a:r>
            <a:endParaRPr sz="1900" dirty="0"/>
          </a:p>
          <a:p>
            <a:pPr marL="914400" lvl="1" indent="-349250" algn="l" rtl="0">
              <a:spcBef>
                <a:spcPts val="0"/>
              </a:spcBef>
              <a:spcAft>
                <a:spcPts val="0"/>
              </a:spcAft>
              <a:buSzPts val="1900"/>
              <a:buChar char="○"/>
            </a:pPr>
            <a:r>
              <a:rPr lang="en-GB" sz="1900" dirty="0"/>
              <a:t>Tableau will also assign a latitude and longitude to each location</a:t>
            </a: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58</a:t>
            </a:fld>
            <a:endParaRPr lang="en-GB"/>
          </a:p>
        </p:txBody>
      </p:sp>
    </p:spTree>
    <p:extLst>
      <p:ext uri="{BB962C8B-B14F-4D97-AF65-F5344CB8AC3E}">
        <p14:creationId xmlns:p14="http://schemas.microsoft.com/office/powerpoint/2010/main" val="32537567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7"/>
          <p:cNvSpPr txBox="1">
            <a:spLocks noGrp="1"/>
          </p:cNvSpPr>
          <p:nvPr>
            <p:ph type="title"/>
          </p:nvPr>
        </p:nvSpPr>
        <p:spPr>
          <a:xfrm>
            <a:off x="311700" y="21862"/>
            <a:ext cx="8520600" cy="763600"/>
          </a:xfrm>
          <a:prstGeom prst="rect">
            <a:avLst/>
          </a:prstGeom>
        </p:spPr>
        <p:txBody>
          <a:bodyPr spcFirstLastPara="1" wrap="square" lIns="91425" tIns="91425" rIns="91425" bIns="91425" anchor="t" anchorCtr="0">
            <a:noAutofit/>
          </a:bodyPr>
          <a:lstStyle/>
          <a:p>
            <a:pPr marL="0" lvl="0" indent="0" rtl="0">
              <a:lnSpc>
                <a:spcPct val="115000"/>
              </a:lnSpc>
              <a:spcBef>
                <a:spcPts val="0"/>
              </a:spcBef>
              <a:spcAft>
                <a:spcPts val="1200"/>
              </a:spcAft>
              <a:buClr>
                <a:schemeClr val="dk1"/>
              </a:buClr>
              <a:buSzPts val="1100"/>
              <a:buFont typeface="Arial"/>
              <a:buNone/>
            </a:pPr>
            <a:r>
              <a:rPr lang="en-GB" sz="4000" b="1" dirty="0">
                <a:solidFill>
                  <a:schemeClr val="dk2"/>
                </a:solidFill>
              </a:rPr>
              <a:t>Geospatial</a:t>
            </a:r>
            <a:r>
              <a:rPr lang="en-GB" sz="3600" b="1" dirty="0">
                <a:solidFill>
                  <a:schemeClr val="dk2"/>
                </a:solidFill>
              </a:rPr>
              <a:t> displays </a:t>
            </a:r>
            <a:endParaRPr sz="4000" dirty="0"/>
          </a:p>
        </p:txBody>
      </p:sp>
      <p:sp>
        <p:nvSpPr>
          <p:cNvPr id="264" name="Google Shape;264;p47"/>
          <p:cNvSpPr txBox="1">
            <a:spLocks noGrp="1"/>
          </p:cNvSpPr>
          <p:nvPr>
            <p:ph type="body" idx="1"/>
          </p:nvPr>
        </p:nvSpPr>
        <p:spPr>
          <a:xfrm>
            <a:off x="280528" y="1058651"/>
            <a:ext cx="8520600" cy="45552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GB" sz="2400" dirty="0"/>
              <a:t>Creating Geographic Hierarchies</a:t>
            </a:r>
            <a:endParaRPr sz="2400" dirty="0"/>
          </a:p>
          <a:p>
            <a:pPr marL="914400" lvl="1" indent="-349250" algn="l" rtl="0">
              <a:spcBef>
                <a:spcPts val="0"/>
              </a:spcBef>
              <a:spcAft>
                <a:spcPts val="0"/>
              </a:spcAft>
              <a:buSzPts val="1900"/>
              <a:buChar char="○"/>
            </a:pPr>
            <a:r>
              <a:rPr lang="en-GB" sz="2400" dirty="0"/>
              <a:t>Hierarchy can be created such as </a:t>
            </a:r>
            <a:endParaRPr sz="2400" dirty="0"/>
          </a:p>
          <a:p>
            <a:pPr marL="914400" lvl="1" indent="-349250" algn="l" rtl="0">
              <a:spcBef>
                <a:spcPts val="0"/>
              </a:spcBef>
              <a:spcAft>
                <a:spcPts val="0"/>
              </a:spcAft>
              <a:buSzPts val="1900"/>
              <a:buChar char="○"/>
            </a:pPr>
            <a:r>
              <a:rPr lang="en-GB" sz="2400" dirty="0"/>
              <a:t>Country- State- District- City </a:t>
            </a:r>
            <a:endParaRPr sz="2400" dirty="0"/>
          </a:p>
          <a:p>
            <a:pPr marL="914400" lvl="1" indent="-349250" algn="l" rtl="0">
              <a:spcBef>
                <a:spcPts val="0"/>
              </a:spcBef>
              <a:spcAft>
                <a:spcPts val="0"/>
              </a:spcAft>
              <a:buSzPts val="1900"/>
              <a:buChar char="○"/>
            </a:pPr>
            <a:r>
              <a:rPr lang="en-GB" sz="2400" dirty="0"/>
              <a:t>Region- state - county </a:t>
            </a:r>
            <a:endParaRPr sz="2400" dirty="0"/>
          </a:p>
          <a:p>
            <a:pPr marL="457200" lvl="0" indent="0" algn="l" rtl="0">
              <a:spcBef>
                <a:spcPts val="1200"/>
              </a:spcBef>
              <a:spcAft>
                <a:spcPts val="0"/>
              </a:spcAft>
              <a:buNone/>
            </a:pPr>
            <a:endParaRPr sz="1900" dirty="0"/>
          </a:p>
          <a:p>
            <a:pPr marL="457200" lvl="0" indent="0" algn="l" rtl="0">
              <a:spcBef>
                <a:spcPts val="1200"/>
              </a:spcBef>
              <a:spcAft>
                <a:spcPts val="1200"/>
              </a:spcAft>
              <a:buNone/>
            </a:pPr>
            <a:r>
              <a:rPr lang="en-GB" sz="1900" dirty="0"/>
              <a:t>This will help in understanding the data in better manner </a:t>
            </a: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59</a:t>
            </a:fld>
            <a:endParaRPr lang="en-GB"/>
          </a:p>
        </p:txBody>
      </p:sp>
    </p:spTree>
    <p:extLst>
      <p:ext uri="{BB962C8B-B14F-4D97-AF65-F5344CB8AC3E}">
        <p14:creationId xmlns:p14="http://schemas.microsoft.com/office/powerpoint/2010/main" val="38792742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8"/>
          <p:cNvSpPr txBox="1">
            <a:spLocks noGrp="1"/>
          </p:cNvSpPr>
          <p:nvPr>
            <p:ph type="title"/>
          </p:nvPr>
        </p:nvSpPr>
        <p:spPr>
          <a:xfrm>
            <a:off x="252575" y="80967"/>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Geographic Hierarchy  </a:t>
            </a:r>
            <a:endParaRPr sz="3311"/>
          </a:p>
        </p:txBody>
      </p:sp>
      <p:pic>
        <p:nvPicPr>
          <p:cNvPr id="270" name="Google Shape;270;p48"/>
          <p:cNvPicPr preferRelativeResize="0"/>
          <p:nvPr/>
        </p:nvPicPr>
        <p:blipFill rotWithShape="1">
          <a:blip r:embed="rId3">
            <a:alphaModFix/>
          </a:blip>
          <a:srcRect l="22167" t="16568" r="42697" b="16380"/>
          <a:stretch/>
        </p:blipFill>
        <p:spPr>
          <a:xfrm>
            <a:off x="2207175" y="914136"/>
            <a:ext cx="3685176" cy="5860200"/>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60</a:t>
            </a:fld>
            <a:endParaRPr lang="en-GB"/>
          </a:p>
        </p:txBody>
      </p:sp>
    </p:spTree>
    <p:extLst>
      <p:ext uri="{BB962C8B-B14F-4D97-AF65-F5344CB8AC3E}">
        <p14:creationId xmlns:p14="http://schemas.microsoft.com/office/powerpoint/2010/main" val="5125748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9"/>
          <p:cNvSpPr txBox="1">
            <a:spLocks noGrp="1"/>
          </p:cNvSpPr>
          <p:nvPr>
            <p:ph type="title"/>
          </p:nvPr>
        </p:nvSpPr>
        <p:spPr>
          <a:xfrm>
            <a:off x="252575" y="80967"/>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Geographic Hierarchy  </a:t>
            </a:r>
            <a:endParaRPr sz="3311"/>
          </a:p>
        </p:txBody>
      </p:sp>
      <p:pic>
        <p:nvPicPr>
          <p:cNvPr id="276" name="Google Shape;276;p49"/>
          <p:cNvPicPr preferRelativeResize="0"/>
          <p:nvPr/>
        </p:nvPicPr>
        <p:blipFill rotWithShape="1">
          <a:blip r:embed="rId3">
            <a:alphaModFix/>
          </a:blip>
          <a:srcRect l="24681" t="40125" r="46029" b="20274"/>
          <a:stretch/>
        </p:blipFill>
        <p:spPr>
          <a:xfrm>
            <a:off x="1813026" y="1155034"/>
            <a:ext cx="4296125" cy="484026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61</a:t>
            </a:fld>
            <a:endParaRPr lang="en-GB"/>
          </a:p>
        </p:txBody>
      </p:sp>
    </p:spTree>
    <p:extLst>
      <p:ext uri="{BB962C8B-B14F-4D97-AF65-F5344CB8AC3E}">
        <p14:creationId xmlns:p14="http://schemas.microsoft.com/office/powerpoint/2010/main" val="27032210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0"/>
          <p:cNvSpPr txBox="1">
            <a:spLocks noGrp="1"/>
          </p:cNvSpPr>
          <p:nvPr>
            <p:ph type="title"/>
          </p:nvPr>
        </p:nvSpPr>
        <p:spPr>
          <a:xfrm>
            <a:off x="311700" y="146667"/>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b="1" dirty="0">
                <a:solidFill>
                  <a:schemeClr val="dk2"/>
                </a:solidFill>
              </a:rPr>
              <a:t>Geospatial displays: Proportional Symbol Maps </a:t>
            </a:r>
            <a:endParaRPr sz="3211" dirty="0"/>
          </a:p>
        </p:txBody>
      </p:sp>
      <p:sp>
        <p:nvSpPr>
          <p:cNvPr id="282" name="Google Shape;282;p50"/>
          <p:cNvSpPr txBox="1">
            <a:spLocks noGrp="1"/>
          </p:cNvSpPr>
          <p:nvPr>
            <p:ph type="body" idx="1"/>
          </p:nvPr>
        </p:nvSpPr>
        <p:spPr>
          <a:xfrm>
            <a:off x="311700" y="1729269"/>
            <a:ext cx="8520600" cy="51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185" b="1" dirty="0"/>
              <a:t>Merits:</a:t>
            </a:r>
            <a:endParaRPr sz="2185" b="1" dirty="0"/>
          </a:p>
          <a:p>
            <a:pPr marL="914400" lvl="1" indent="-340201" algn="l" rtl="0">
              <a:spcBef>
                <a:spcPts val="1200"/>
              </a:spcBef>
              <a:spcAft>
                <a:spcPts val="0"/>
              </a:spcAft>
              <a:buSzPct val="100000"/>
              <a:buChar char="○"/>
            </a:pPr>
            <a:r>
              <a:rPr lang="en-GB" sz="1900" dirty="0"/>
              <a:t>Used to show quantitative values for individual locations</a:t>
            </a:r>
            <a:endParaRPr sz="1900" dirty="0"/>
          </a:p>
          <a:p>
            <a:pPr marL="914400" lvl="1" indent="-340201" algn="l" rtl="0">
              <a:spcBef>
                <a:spcPts val="0"/>
              </a:spcBef>
              <a:spcAft>
                <a:spcPts val="0"/>
              </a:spcAft>
              <a:buSzPct val="100000"/>
              <a:buChar char="○"/>
            </a:pPr>
            <a:r>
              <a:rPr lang="en-GB" sz="1900" dirty="0"/>
              <a:t>Useful for illustrating differences between many places</a:t>
            </a:r>
            <a:endParaRPr sz="1900" dirty="0"/>
          </a:p>
          <a:p>
            <a:pPr marL="914400" lvl="1" indent="-340201" algn="l" rtl="0">
              <a:spcBef>
                <a:spcPts val="0"/>
              </a:spcBef>
              <a:spcAft>
                <a:spcPts val="0"/>
              </a:spcAft>
              <a:buSzPct val="100000"/>
              <a:buChar char="○"/>
            </a:pPr>
            <a:r>
              <a:rPr lang="en-GB" sz="1900" dirty="0"/>
              <a:t>Data associated with a specific location</a:t>
            </a:r>
            <a:endParaRPr sz="1900" dirty="0"/>
          </a:p>
          <a:p>
            <a:pPr marL="914400" lvl="1" indent="-340201" algn="l" rtl="0">
              <a:spcBef>
                <a:spcPts val="0"/>
              </a:spcBef>
              <a:spcAft>
                <a:spcPts val="0"/>
              </a:spcAft>
              <a:buSzPct val="100000"/>
              <a:buChar char="○"/>
            </a:pPr>
            <a:r>
              <a:rPr lang="en-GB" sz="1900" dirty="0"/>
              <a:t>Visually appealing</a:t>
            </a:r>
            <a:endParaRPr sz="1900" dirty="0"/>
          </a:p>
          <a:p>
            <a:pPr marL="914400" lvl="1" indent="-340201" algn="l" rtl="0">
              <a:spcBef>
                <a:spcPts val="0"/>
              </a:spcBef>
              <a:spcAft>
                <a:spcPts val="0"/>
              </a:spcAft>
              <a:buSzPct val="100000"/>
              <a:buChar char="○"/>
            </a:pPr>
            <a:r>
              <a:rPr lang="en-GB" sz="1900" dirty="0"/>
              <a:t>Can be encoded with visual cues like size and </a:t>
            </a:r>
            <a:r>
              <a:rPr lang="en-GB" sz="1900" dirty="0" err="1"/>
              <a:t>color</a:t>
            </a:r>
            <a:endParaRPr sz="1900" dirty="0"/>
          </a:p>
          <a:p>
            <a:pPr marL="914400" lvl="1" indent="-340201" algn="l" rtl="0">
              <a:spcBef>
                <a:spcPts val="0"/>
              </a:spcBef>
              <a:spcAft>
                <a:spcPts val="0"/>
              </a:spcAft>
              <a:buSzPct val="100000"/>
              <a:buChar char="○"/>
            </a:pPr>
            <a:r>
              <a:rPr lang="en-GB" sz="1900" dirty="0"/>
              <a:t>Can show one or two quantitative values per location </a:t>
            </a:r>
            <a:endParaRPr sz="1900" dirty="0"/>
          </a:p>
          <a:p>
            <a:pPr marL="914400" lvl="1" indent="-340201" algn="l" rtl="0">
              <a:spcBef>
                <a:spcPts val="0"/>
              </a:spcBef>
              <a:spcAft>
                <a:spcPts val="0"/>
              </a:spcAft>
              <a:buSzPct val="100000"/>
              <a:buChar char="○"/>
            </a:pPr>
            <a:r>
              <a:rPr lang="en-GB" sz="1900" dirty="0"/>
              <a:t>Easy to read as each symbol is proportional to it's value</a:t>
            </a:r>
            <a:endParaRPr sz="1900" dirty="0"/>
          </a:p>
          <a:p>
            <a:pPr marL="0" lvl="0" indent="0" algn="l" rtl="0">
              <a:spcBef>
                <a:spcPts val="1200"/>
              </a:spcBef>
              <a:spcAft>
                <a:spcPts val="0"/>
              </a:spcAft>
              <a:buNone/>
            </a:pPr>
            <a:r>
              <a:rPr lang="en-GB" sz="2185" b="1" dirty="0"/>
              <a:t>Limitations:</a:t>
            </a:r>
            <a:endParaRPr sz="2185" b="1" dirty="0"/>
          </a:p>
          <a:p>
            <a:pPr marL="914400" lvl="1" indent="-340201" algn="l" rtl="0">
              <a:spcBef>
                <a:spcPts val="1200"/>
              </a:spcBef>
              <a:spcAft>
                <a:spcPts val="0"/>
              </a:spcAft>
              <a:buSzPct val="100000"/>
              <a:buChar char="○"/>
            </a:pPr>
            <a:r>
              <a:rPr lang="en-GB" sz="1900" dirty="0"/>
              <a:t>Difficult to calculate actual value (if not shown)</a:t>
            </a:r>
            <a:endParaRPr sz="1900" dirty="0"/>
          </a:p>
          <a:p>
            <a:pPr marL="914400" lvl="1" indent="-340201" algn="l" rtl="0">
              <a:spcBef>
                <a:spcPts val="0"/>
              </a:spcBef>
              <a:spcAft>
                <a:spcPts val="0"/>
              </a:spcAft>
              <a:buSzPct val="100000"/>
              <a:buChar char="○"/>
            </a:pPr>
            <a:r>
              <a:rPr lang="en-GB" sz="1900" dirty="0"/>
              <a:t>Time-consuming to construct</a:t>
            </a:r>
            <a:endParaRPr sz="1900" dirty="0"/>
          </a:p>
          <a:p>
            <a:pPr marL="914400" lvl="1" indent="-340201" algn="l" rtl="0">
              <a:spcBef>
                <a:spcPts val="0"/>
              </a:spcBef>
              <a:spcAft>
                <a:spcPts val="0"/>
              </a:spcAft>
              <a:buSzPct val="100000"/>
              <a:buChar char="○"/>
            </a:pPr>
            <a:r>
              <a:rPr lang="en-GB" sz="1900" dirty="0"/>
              <a:t>Size may obscure location or mean less accurate positioning on maps</a:t>
            </a: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62</a:t>
            </a:fld>
            <a:endParaRPr lang="en-GB"/>
          </a:p>
        </p:txBody>
      </p:sp>
    </p:spTree>
    <p:extLst>
      <p:ext uri="{BB962C8B-B14F-4D97-AF65-F5344CB8AC3E}">
        <p14:creationId xmlns:p14="http://schemas.microsoft.com/office/powerpoint/2010/main" val="28762452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1"/>
          <p:cNvSpPr txBox="1">
            <a:spLocks noGrp="1"/>
          </p:cNvSpPr>
          <p:nvPr>
            <p:ph type="title"/>
          </p:nvPr>
        </p:nvSpPr>
        <p:spPr>
          <a:xfrm>
            <a:off x="252575" y="80967"/>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Proportional Symbol maps</a:t>
            </a:r>
            <a:endParaRPr sz="3311"/>
          </a:p>
        </p:txBody>
      </p:sp>
      <p:pic>
        <p:nvPicPr>
          <p:cNvPr id="288" name="Google Shape;288;p51"/>
          <p:cNvPicPr preferRelativeResize="0"/>
          <p:nvPr/>
        </p:nvPicPr>
        <p:blipFill>
          <a:blip r:embed="rId3">
            <a:alphaModFix/>
          </a:blip>
          <a:stretch>
            <a:fillRect/>
          </a:stretch>
        </p:blipFill>
        <p:spPr>
          <a:xfrm>
            <a:off x="1709251" y="844567"/>
            <a:ext cx="3249147" cy="5607035"/>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63</a:t>
            </a:fld>
            <a:endParaRPr lang="en-GB"/>
          </a:p>
        </p:txBody>
      </p:sp>
    </p:spTree>
    <p:extLst>
      <p:ext uri="{BB962C8B-B14F-4D97-AF65-F5344CB8AC3E}">
        <p14:creationId xmlns:p14="http://schemas.microsoft.com/office/powerpoint/2010/main" val="33038648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52"/>
          <p:cNvSpPr txBox="1">
            <a:spLocks noGrp="1"/>
          </p:cNvSpPr>
          <p:nvPr>
            <p:ph type="title"/>
          </p:nvPr>
        </p:nvSpPr>
        <p:spPr>
          <a:xfrm>
            <a:off x="322091" y="0"/>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3600" b="1" dirty="0">
                <a:solidFill>
                  <a:schemeClr val="dk2"/>
                </a:solidFill>
              </a:rPr>
              <a:t>Geospatial displays:  Choropleth Maps </a:t>
            </a:r>
            <a:endParaRPr sz="4000" dirty="0"/>
          </a:p>
        </p:txBody>
      </p:sp>
      <p:sp>
        <p:nvSpPr>
          <p:cNvPr id="294" name="Google Shape;294;p52"/>
          <p:cNvSpPr txBox="1">
            <a:spLocks noGrp="1"/>
          </p:cNvSpPr>
          <p:nvPr>
            <p:ph type="body" idx="1"/>
          </p:nvPr>
        </p:nvSpPr>
        <p:spPr>
          <a:xfrm>
            <a:off x="259745" y="975525"/>
            <a:ext cx="8520600" cy="45552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GB" sz="2800" dirty="0"/>
              <a:t>A great tool for showing ratio or aggregated data.</a:t>
            </a:r>
            <a:endParaRPr sz="2800" dirty="0"/>
          </a:p>
          <a:p>
            <a:pPr marL="457200" lvl="0" indent="-349250" algn="l" rtl="0">
              <a:spcBef>
                <a:spcPts val="0"/>
              </a:spcBef>
              <a:spcAft>
                <a:spcPts val="0"/>
              </a:spcAft>
              <a:buSzPts val="1900"/>
              <a:buChar char="●"/>
            </a:pPr>
            <a:r>
              <a:rPr lang="en-GB" sz="2800" dirty="0"/>
              <a:t>Use shading and </a:t>
            </a:r>
            <a:r>
              <a:rPr lang="en-GB" sz="2800" dirty="0" err="1"/>
              <a:t>coloring</a:t>
            </a:r>
            <a:r>
              <a:rPr lang="en-GB" sz="2800" dirty="0"/>
              <a:t> within geographic areas to encode value to a quantity in those areas.</a:t>
            </a:r>
            <a:endParaRPr sz="2800" dirty="0"/>
          </a:p>
          <a:p>
            <a:pPr marL="457200" lvl="0" indent="-349250" algn="l" rtl="0">
              <a:spcBef>
                <a:spcPts val="0"/>
              </a:spcBef>
              <a:spcAft>
                <a:spcPts val="0"/>
              </a:spcAft>
              <a:buSzPts val="1900"/>
              <a:buChar char="●"/>
            </a:pPr>
            <a:r>
              <a:rPr lang="en-GB" sz="2800" dirty="0"/>
              <a:t>A dataset should include both quantitative and qualitative values, along with location information recognizable by Tableau</a:t>
            </a:r>
            <a:endParaRPr sz="2800" dirty="0"/>
          </a:p>
          <a:p>
            <a:pPr marL="0" lvl="0" indent="0" algn="l" rtl="0">
              <a:spcBef>
                <a:spcPts val="0"/>
              </a:spcBef>
              <a:spcAft>
                <a:spcPts val="0"/>
              </a:spcAft>
              <a:buNone/>
            </a:pPr>
            <a:endParaRPr sz="1900" dirty="0"/>
          </a:p>
          <a:p>
            <a:pPr marL="457200" lvl="0" indent="0" algn="l" rtl="0">
              <a:spcBef>
                <a:spcPts val="1200"/>
              </a:spcBef>
              <a:spcAft>
                <a:spcPts val="1200"/>
              </a:spcAft>
              <a:buNone/>
            </a:pPr>
            <a:endParaRPr sz="1900" dirty="0"/>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64</a:t>
            </a:fld>
            <a:endParaRPr lang="en-GB"/>
          </a:p>
        </p:txBody>
      </p:sp>
    </p:spTree>
    <p:extLst>
      <p:ext uri="{BB962C8B-B14F-4D97-AF65-F5344CB8AC3E}">
        <p14:creationId xmlns:p14="http://schemas.microsoft.com/office/powerpoint/2010/main" val="25997950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53"/>
          <p:cNvSpPr txBox="1">
            <a:spLocks noGrp="1"/>
          </p:cNvSpPr>
          <p:nvPr>
            <p:ph type="title"/>
          </p:nvPr>
        </p:nvSpPr>
        <p:spPr>
          <a:xfrm>
            <a:off x="252575" y="80967"/>
            <a:ext cx="8520600" cy="7636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GB" sz="2900" b="1">
                <a:solidFill>
                  <a:schemeClr val="dk2"/>
                </a:solidFill>
              </a:rPr>
              <a:t>Choropleth maps</a:t>
            </a:r>
            <a:endParaRPr sz="3311"/>
          </a:p>
        </p:txBody>
      </p:sp>
      <p:pic>
        <p:nvPicPr>
          <p:cNvPr id="300" name="Google Shape;300;p53"/>
          <p:cNvPicPr preferRelativeResize="0"/>
          <p:nvPr/>
        </p:nvPicPr>
        <p:blipFill rotWithShape="1">
          <a:blip r:embed="rId3">
            <a:alphaModFix/>
          </a:blip>
          <a:srcRect l="45621" t="31689" r="24795" b="14653"/>
          <a:stretch/>
        </p:blipFill>
        <p:spPr>
          <a:xfrm>
            <a:off x="2069226" y="571500"/>
            <a:ext cx="4861510" cy="6286501"/>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65</a:t>
            </a:fld>
            <a:endParaRPr lang="en-GB"/>
          </a:p>
        </p:txBody>
      </p:sp>
    </p:spTree>
    <p:extLst>
      <p:ext uri="{BB962C8B-B14F-4D97-AF65-F5344CB8AC3E}">
        <p14:creationId xmlns:p14="http://schemas.microsoft.com/office/powerpoint/2010/main" val="28963577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Practice</a:t>
            </a:r>
            <a:endParaRPr lang="en-IN" dirty="0"/>
          </a:p>
        </p:txBody>
      </p:sp>
      <p:sp>
        <p:nvSpPr>
          <p:cNvPr id="3" name="Text Placeholder 2"/>
          <p:cNvSpPr>
            <a:spLocks noGrp="1"/>
          </p:cNvSpPr>
          <p:nvPr>
            <p:ph type="body" idx="1"/>
          </p:nvPr>
        </p:nvSpPr>
        <p:spPr/>
        <p:txBody>
          <a:bodyPr>
            <a:normAutofit fontScale="85000" lnSpcReduction="20000"/>
          </a:bodyPr>
          <a:lstStyle/>
          <a:p>
            <a:r>
              <a:rPr lang="en-IN" dirty="0"/>
              <a:t>Proportional symbol maps</a:t>
            </a:r>
          </a:p>
          <a:p>
            <a:pPr marL="114300" indent="0">
              <a:buNone/>
            </a:pPr>
            <a:r>
              <a:rPr lang="en-IN" dirty="0"/>
              <a:t/>
            </a:r>
            <a:br>
              <a:rPr lang="en-IN" dirty="0"/>
            </a:br>
            <a:endParaRPr lang="en-IN" dirty="0"/>
          </a:p>
          <a:p>
            <a:r>
              <a:rPr lang="en-IN" dirty="0">
                <a:hlinkClick r:id="rId2"/>
              </a:rPr>
              <a:t>https://help.tableau.com/current/pro/desktop/en-us/maps_howto_symbol.htm</a:t>
            </a:r>
            <a:endParaRPr lang="en-IN" dirty="0"/>
          </a:p>
          <a:p>
            <a:pPr marL="114300" indent="0">
              <a:buNone/>
            </a:pPr>
            <a:r>
              <a:rPr lang="en-IN" dirty="0"/>
              <a:t/>
            </a:r>
            <a:br>
              <a:rPr lang="en-IN" dirty="0"/>
            </a:br>
            <a:endParaRPr lang="en-IN" dirty="0"/>
          </a:p>
          <a:p>
            <a:r>
              <a:rPr lang="en-IN" dirty="0"/>
              <a:t>Choropleth maps</a:t>
            </a:r>
          </a:p>
          <a:p>
            <a:pPr marL="114300" indent="0">
              <a:buNone/>
            </a:pPr>
            <a:r>
              <a:rPr lang="en-IN" dirty="0"/>
              <a:t/>
            </a:r>
            <a:br>
              <a:rPr lang="en-IN" dirty="0"/>
            </a:br>
            <a:endParaRPr lang="en-IN" dirty="0"/>
          </a:p>
          <a:p>
            <a:r>
              <a:rPr lang="en-IN" dirty="0">
                <a:hlinkClick r:id="rId3"/>
              </a:rPr>
              <a:t>https://help.tableau.com/current/pro/desktop/en-us/maps_howto_choropleth.htm</a:t>
            </a:r>
            <a:endParaRPr lang="en-IN" dirty="0"/>
          </a:p>
          <a:p>
            <a:pPr marL="114300" indent="0">
              <a:buNone/>
            </a:pPr>
            <a:endParaRPr lang="en-IN"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66</a:t>
            </a:fld>
            <a:endParaRPr lang="en-GB"/>
          </a:p>
        </p:txBody>
      </p:sp>
    </p:spTree>
    <p:extLst>
      <p:ext uri="{BB962C8B-B14F-4D97-AF65-F5344CB8AC3E}">
        <p14:creationId xmlns:p14="http://schemas.microsoft.com/office/powerpoint/2010/main" val="20933221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3019</Words>
  <Application>Microsoft Office PowerPoint</Application>
  <PresentationFormat>On-screen Show (4:3)</PresentationFormat>
  <Paragraphs>466</Paragraphs>
  <Slides>66</Slides>
  <Notes>65</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Induction to Data Foundation in Data Visualization</vt:lpstr>
      <vt:lpstr>Importance of Data Visualization</vt:lpstr>
      <vt:lpstr>Data Foundation</vt:lpstr>
      <vt:lpstr>Types of Data</vt:lpstr>
      <vt:lpstr>Data Quality Dimensions</vt:lpstr>
      <vt:lpstr>Data Preparation Steps</vt:lpstr>
      <vt:lpstr>Importance of Metadata</vt:lpstr>
      <vt:lpstr>Choosing the Right Data</vt:lpstr>
      <vt:lpstr>Data Visualization Principles</vt:lpstr>
      <vt:lpstr>Addressing the Design of Visualisations</vt:lpstr>
      <vt:lpstr>Importance of Visualization Design</vt:lpstr>
      <vt:lpstr>Steps in Visualization Design</vt:lpstr>
      <vt:lpstr>Steps in Visualization Design</vt:lpstr>
      <vt:lpstr>Choosing the Right Chart Type</vt:lpstr>
      <vt:lpstr>Color Theory in Visualization</vt:lpstr>
      <vt:lpstr>Typography and Labels</vt:lpstr>
      <vt:lpstr>Layout and Composition</vt:lpstr>
      <vt:lpstr>Accessibility in Visualization Design</vt:lpstr>
      <vt:lpstr>Common Pitfalls to Avoid in Visual Design</vt:lpstr>
      <vt:lpstr>Human Perception and  Information Processing </vt:lpstr>
      <vt:lpstr>Importance of Studying Perception</vt:lpstr>
      <vt:lpstr>Sensory Systems Overview</vt:lpstr>
      <vt:lpstr>Stages of Perception</vt:lpstr>
      <vt:lpstr>Attention Mechanisms</vt:lpstr>
      <vt:lpstr>Cognitive Processing</vt:lpstr>
      <vt:lpstr>Working Memory and Limits</vt:lpstr>
      <vt:lpstr>Information Overload</vt:lpstr>
      <vt:lpstr>2.3 Geospatial Displays  </vt:lpstr>
      <vt:lpstr>Geospatial Analysis </vt:lpstr>
      <vt:lpstr>Geospatial displays </vt:lpstr>
      <vt:lpstr>Benefits of Heat Maps </vt:lpstr>
      <vt:lpstr>Geospatial displays </vt:lpstr>
      <vt:lpstr>Geospatial displays </vt:lpstr>
      <vt:lpstr>Geospatial displays </vt:lpstr>
      <vt:lpstr>Geospatial displays </vt:lpstr>
      <vt:lpstr>Geospatial displays </vt:lpstr>
      <vt:lpstr>Geospatial displays </vt:lpstr>
      <vt:lpstr>What is heat map analysis?</vt:lpstr>
      <vt:lpstr>Heat map analysis</vt:lpstr>
      <vt:lpstr>Heat map analysis</vt:lpstr>
      <vt:lpstr>Heat map analysis</vt:lpstr>
      <vt:lpstr>Heat map analysis</vt:lpstr>
      <vt:lpstr>Heat map analysis</vt:lpstr>
      <vt:lpstr>Types of website heatmap data visualization</vt:lpstr>
      <vt:lpstr>Heatmap</vt:lpstr>
      <vt:lpstr>Heatmap</vt:lpstr>
      <vt:lpstr>Scroll map</vt:lpstr>
      <vt:lpstr>Scroll map</vt:lpstr>
      <vt:lpstr>Click map</vt:lpstr>
      <vt:lpstr>Click map</vt:lpstr>
      <vt:lpstr>Mouse tracking heatmap</vt:lpstr>
      <vt:lpstr>Mouse tracking heatmap</vt:lpstr>
      <vt:lpstr>Eye-tracking heatmap</vt:lpstr>
      <vt:lpstr>Eye-tracking heatmap</vt:lpstr>
      <vt:lpstr>The benefits of using heat maps on website</vt:lpstr>
      <vt:lpstr>Geospatial displays </vt:lpstr>
      <vt:lpstr>Geospatial displays </vt:lpstr>
      <vt:lpstr>Geospatial displays </vt:lpstr>
      <vt:lpstr>Geospatial displays </vt:lpstr>
      <vt:lpstr>Geographic Hierarchy  </vt:lpstr>
      <vt:lpstr>Geographic Hierarchy  </vt:lpstr>
      <vt:lpstr>Geospatial displays: Proportional Symbol Maps </vt:lpstr>
      <vt:lpstr>Proportional Symbol maps</vt:lpstr>
      <vt:lpstr>Geospatial displays:  Choropleth Maps </vt:lpstr>
      <vt:lpstr>Choropleth maps</vt:lpstr>
      <vt:lpstr>Practice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to Data Foundation in Data Visualization</dc:title>
  <dc:creator>UBJ</dc:creator>
  <cp:lastModifiedBy>Uday Joshi</cp:lastModifiedBy>
  <cp:revision>5</cp:revision>
  <dcterms:created xsi:type="dcterms:W3CDTF">2013-01-27T09:14:16Z</dcterms:created>
  <dcterms:modified xsi:type="dcterms:W3CDTF">2026-02-03T09:37:29Z</dcterms:modified>
</cp:coreProperties>
</file>