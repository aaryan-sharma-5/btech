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91"/>
  </p:notesMasterIdLst>
  <p:sldIdLst>
    <p:sldId id="312" r:id="rId2"/>
    <p:sldId id="368" r:id="rId3"/>
    <p:sldId id="381" r:id="rId4"/>
    <p:sldId id="367" r:id="rId5"/>
    <p:sldId id="313" r:id="rId6"/>
    <p:sldId id="314" r:id="rId7"/>
    <p:sldId id="315" r:id="rId8"/>
    <p:sldId id="316" r:id="rId9"/>
    <p:sldId id="317" r:id="rId10"/>
    <p:sldId id="318" r:id="rId11"/>
    <p:sldId id="369" r:id="rId12"/>
    <p:sldId id="319" r:id="rId13"/>
    <p:sldId id="370" r:id="rId14"/>
    <p:sldId id="320" r:id="rId15"/>
    <p:sldId id="321" r:id="rId16"/>
    <p:sldId id="322" r:id="rId17"/>
    <p:sldId id="323" r:id="rId18"/>
    <p:sldId id="371" r:id="rId19"/>
    <p:sldId id="324" r:id="rId20"/>
    <p:sldId id="325" r:id="rId21"/>
    <p:sldId id="326" r:id="rId22"/>
    <p:sldId id="372" r:id="rId23"/>
    <p:sldId id="327" r:id="rId24"/>
    <p:sldId id="373" r:id="rId25"/>
    <p:sldId id="382" r:id="rId26"/>
    <p:sldId id="384" r:id="rId27"/>
    <p:sldId id="385" r:id="rId28"/>
    <p:sldId id="386" r:id="rId29"/>
    <p:sldId id="387" r:id="rId30"/>
    <p:sldId id="389" r:id="rId31"/>
    <p:sldId id="390" r:id="rId32"/>
    <p:sldId id="391" r:id="rId33"/>
    <p:sldId id="392" r:id="rId34"/>
    <p:sldId id="393" r:id="rId35"/>
    <p:sldId id="397" r:id="rId36"/>
    <p:sldId id="328" r:id="rId37"/>
    <p:sldId id="394" r:id="rId38"/>
    <p:sldId id="395" r:id="rId39"/>
    <p:sldId id="400" r:id="rId40"/>
    <p:sldId id="396" r:id="rId41"/>
    <p:sldId id="399" r:id="rId42"/>
    <p:sldId id="374" r:id="rId43"/>
    <p:sldId id="401" r:id="rId44"/>
    <p:sldId id="402" r:id="rId45"/>
    <p:sldId id="403" r:id="rId46"/>
    <p:sldId id="337" r:id="rId47"/>
    <p:sldId id="338" r:id="rId48"/>
    <p:sldId id="375" r:id="rId49"/>
    <p:sldId id="339" r:id="rId50"/>
    <p:sldId id="340" r:id="rId51"/>
    <p:sldId id="341" r:id="rId52"/>
    <p:sldId id="342" r:id="rId53"/>
    <p:sldId id="376" r:id="rId54"/>
    <p:sldId id="343" r:id="rId55"/>
    <p:sldId id="348" r:id="rId56"/>
    <p:sldId id="350" r:id="rId57"/>
    <p:sldId id="377" r:id="rId58"/>
    <p:sldId id="409" r:id="rId59"/>
    <p:sldId id="410" r:id="rId60"/>
    <p:sldId id="378" r:id="rId61"/>
    <p:sldId id="405" r:id="rId62"/>
    <p:sldId id="406" r:id="rId63"/>
    <p:sldId id="407" r:id="rId64"/>
    <p:sldId id="352" r:id="rId65"/>
    <p:sldId id="351" r:id="rId66"/>
    <p:sldId id="353" r:id="rId67"/>
    <p:sldId id="379" r:id="rId68"/>
    <p:sldId id="421" r:id="rId69"/>
    <p:sldId id="411" r:id="rId70"/>
    <p:sldId id="354" r:id="rId71"/>
    <p:sldId id="412" r:id="rId72"/>
    <p:sldId id="413" r:id="rId73"/>
    <p:sldId id="414" r:id="rId74"/>
    <p:sldId id="415" r:id="rId75"/>
    <p:sldId id="416" r:id="rId76"/>
    <p:sldId id="417" r:id="rId77"/>
    <p:sldId id="418" r:id="rId78"/>
    <p:sldId id="419" r:id="rId79"/>
    <p:sldId id="420" r:id="rId80"/>
    <p:sldId id="422" r:id="rId81"/>
    <p:sldId id="423" r:id="rId82"/>
    <p:sldId id="424" r:id="rId83"/>
    <p:sldId id="425" r:id="rId84"/>
    <p:sldId id="426" r:id="rId85"/>
    <p:sldId id="428" r:id="rId86"/>
    <p:sldId id="429" r:id="rId87"/>
    <p:sldId id="430" r:id="rId88"/>
    <p:sldId id="431" r:id="rId89"/>
    <p:sldId id="432" r:id="rId9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572" y="54"/>
      </p:cViewPr>
      <p:guideLst>
        <p:guide orient="horz" pos="4297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-1555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8.xml"/><Relationship Id="rId1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05FDEDD-8A59-4CEE-BCA7-23945755F08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86890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167A9D-498D-4E48-883D-312799E46013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3C816E-8BB6-4C6A-84AC-01B11CAA7DC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EB0674-7B73-4691-AFA6-DA902BEE58B8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A7C130-96E1-405B-B3F0-A9E1193F2BB9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8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0D234E-B3BF-4A32-BB44-712D046BCD72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9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ja-JP" altLang="en-US"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1D7EDA-3B09-483A-9A5E-A274F56E82B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CA31F8-F0E1-4DF0-A611-1910F32CDFB7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79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B94BFB-6503-46BA-8B8D-FBB35C851EA3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9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450A08-5121-47E6-B449-BBEE9563666E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0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53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68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9232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21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71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81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35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520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418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41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449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062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5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76200"/>
          <a:ext cx="2301875" cy="19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8" r:id="rId15" imgW="4297325" imgH="3562817" progId="CorelPhotoPaint.Image.8">
                  <p:embed/>
                </p:oleObj>
              </mc:Choice>
              <mc:Fallback>
                <p:oleObj name="CorelPhotoPaint.Image.8" r:id="rId15" imgW="4297325" imgH="3562817" progId="CorelPhotoPaint.Imag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6200"/>
                        <a:ext cx="2301875" cy="190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Picture 3" descr="book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4763"/>
            <a:ext cx="110331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762250" y="9525"/>
            <a:ext cx="3638550" cy="396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B2B2B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 sz="2000" i="1">
                <a:latin typeface="Book Antiqua" pitchFamily="18" charset="0"/>
                <a:ea typeface="新細明體" pitchFamily="18" charset="-120"/>
              </a:rPr>
              <a:t>Digital Image Processing, 2nd ed.</a:t>
            </a:r>
            <a:endParaRPr lang="en-US" altLang="zh-TW">
              <a:latin typeface="Verdana" pitchFamily="34" charset="0"/>
              <a:ea typeface="新細明體" pitchFamily="18" charset="-120"/>
            </a:endParaRP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6950075" y="228600"/>
            <a:ext cx="25749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 sz="900" b="1">
                <a:latin typeface="Verdana" pitchFamily="34" charset="0"/>
                <a:ea typeface="新細明體" pitchFamily="18" charset="-120"/>
              </a:rPr>
              <a:t>www.imageprocessingbook.com</a:t>
            </a:r>
            <a:endParaRPr lang="en-US" altLang="zh-TW" sz="900">
              <a:latin typeface="Verdana" pitchFamily="34" charset="0"/>
              <a:ea typeface="新細明體" pitchFamily="18" charset="-12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 flipH="1" flipV="1">
            <a:off x="-193675" y="6858000"/>
            <a:ext cx="933767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 flipH="1">
            <a:off x="1152525" y="12700"/>
            <a:ext cx="7980363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 flipH="1">
            <a:off x="1660525" y="1552575"/>
            <a:ext cx="747712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 flipH="1">
            <a:off x="1933575" y="419100"/>
            <a:ext cx="721042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-76200" y="6477000"/>
            <a:ext cx="2217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 sz="900">
                <a:latin typeface="Arial" charset="0"/>
                <a:ea typeface="新細明體" pitchFamily="18" charset="-120"/>
              </a:rPr>
              <a:t>© 2002 R. C. Gonzalez &amp; R. E. Woods</a:t>
            </a:r>
            <a:r>
              <a:rPr lang="en-US" altLang="zh-TW">
                <a:ea typeface="新細明體" pitchFamily="18" charset="-12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6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0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6.png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9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44.png"/><Relationship Id="rId3" Type="http://schemas.openxmlformats.org/officeDocument/2006/relationships/tags" Target="../tags/tag5.xml"/><Relationship Id="rId7" Type="http://schemas.openxmlformats.org/officeDocument/2006/relationships/notesSlide" Target="../notesSlides/notesSlide2.xml"/><Relationship Id="rId12" Type="http://schemas.openxmlformats.org/officeDocument/2006/relationships/image" Target="../media/image4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2.png"/><Relationship Id="rId5" Type="http://schemas.openxmlformats.org/officeDocument/2006/relationships/tags" Target="../tags/tag7.xml"/><Relationship Id="rId10" Type="http://schemas.openxmlformats.org/officeDocument/2006/relationships/image" Target="../media/image41.png"/><Relationship Id="rId4" Type="http://schemas.openxmlformats.org/officeDocument/2006/relationships/tags" Target="../tags/tag6.xml"/><Relationship Id="rId9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10.xml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8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4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3.png"/><Relationship Id="rId4" Type="http://schemas.openxmlformats.org/officeDocument/2006/relationships/tags" Target="../tags/tag11.xml"/><Relationship Id="rId9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tags" Target="../tags/tag14.xml"/><Relationship Id="rId7" Type="http://schemas.openxmlformats.org/officeDocument/2006/relationships/image" Target="../media/image49.png"/><Relationship Id="rId12" Type="http://schemas.openxmlformats.org/officeDocument/2006/relationships/image" Target="../media/image52.w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oleObject" Target="../embeddings/oleObject25.bin"/><Relationship Id="rId11" Type="http://schemas.openxmlformats.org/officeDocument/2006/relationships/oleObject" Target="../embeddings/oleObject26.bin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51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3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oleObject" Target="../embeddings/oleObject3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77.png"/><Relationship Id="rId4" Type="http://schemas.openxmlformats.org/officeDocument/2006/relationships/oleObject" Target="../embeddings/oleObject36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83.wmf"/><Relationship Id="rId3" Type="http://schemas.openxmlformats.org/officeDocument/2006/relationships/image" Target="../media/image79.png"/><Relationship Id="rId7" Type="http://schemas.openxmlformats.org/officeDocument/2006/relationships/image" Target="../media/image80.png"/><Relationship Id="rId12" Type="http://schemas.openxmlformats.org/officeDocument/2006/relationships/oleObject" Target="../embeddings/oleObject43.bin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82.wmf"/><Relationship Id="rId5" Type="http://schemas.openxmlformats.org/officeDocument/2006/relationships/image" Target="../media/image76.png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81.png"/><Relationship Id="rId14" Type="http://schemas.openxmlformats.org/officeDocument/2006/relationships/oleObject" Target="../embeddings/oleObject44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0.png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89.png"/><Relationship Id="rId4" Type="http://schemas.openxmlformats.org/officeDocument/2006/relationships/oleObject" Target="../embeddings/oleObject46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103.wmf"/><Relationship Id="rId5" Type="http://schemas.openxmlformats.org/officeDocument/2006/relationships/image" Target="../media/image100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102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6.png"/><Relationship Id="rId4" Type="http://schemas.openxmlformats.org/officeDocument/2006/relationships/oleObject" Target="../embeddings/oleObject55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hyperlink" Target="https://en.wikipedia.org/wiki/Moment_about_the_mea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1604963" y="2473325"/>
            <a:ext cx="5556250" cy="13112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 sz="400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Chapter 10</a:t>
            </a:r>
          </a:p>
          <a:p>
            <a:pPr algn="ctr"/>
            <a:r>
              <a:rPr lang="en-US" altLang="zh-TW" sz="400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Image Segmentation</a:t>
            </a:r>
            <a:endParaRPr lang="en-US" altLang="zh-TW" sz="400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2873375" y="500063"/>
            <a:ext cx="3409950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Chapter 10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Image Segmentation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zh-CN" sz="2400">
                <a:ea typeface="宋体" pitchFamily="2" charset="-122"/>
              </a:rPr>
              <a:t>Image segmentation divides an image into regions that are connected and have some similarity within the region and some difference between adjacent regions.  </a:t>
            </a:r>
            <a:endParaRPr lang="en-US" altLang="zh-TW" sz="240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itchFamily="2" charset="-122"/>
              </a:rPr>
              <a:t>The goal is usually to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find individual objects</a:t>
            </a:r>
            <a:r>
              <a:rPr lang="en-US" altLang="zh-CN" sz="2400">
                <a:ea typeface="宋体" pitchFamily="2" charset="-122"/>
              </a:rPr>
              <a:t> in an image.</a:t>
            </a:r>
            <a:endParaRPr lang="en-US" altLang="zh-TW" sz="240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itchFamily="2" charset="-122"/>
              </a:rPr>
              <a:t>For the most part there are fundamentally two kinds of approaches to segmentation: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discontinuity and similarity</a:t>
            </a:r>
            <a:r>
              <a:rPr lang="en-US" altLang="zh-CN" sz="2400">
                <a:ea typeface="宋体" pitchFamily="2" charset="-122"/>
              </a:rPr>
              <a:t>. </a:t>
            </a:r>
            <a:endParaRPr lang="en-US" altLang="zh-TW" sz="2400">
              <a:ea typeface="新細明體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>
                <a:ea typeface="宋体" pitchFamily="2" charset="-122"/>
              </a:rPr>
              <a:t>Similarity may be due to pixel intensity, color or texture.  </a:t>
            </a:r>
            <a:endParaRPr lang="en-US" altLang="zh-TW" sz="2000">
              <a:ea typeface="新細明體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>
                <a:ea typeface="宋体" pitchFamily="2" charset="-122"/>
              </a:rPr>
              <a:t>Differences are sudden changes (discontinuities) in any of these, but especially sudden changes in intensity along a boundary line, which is called an edge.</a:t>
            </a:r>
            <a:endParaRPr lang="zh-TW" altLang="en-US" sz="200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715000" y="3962400"/>
            <a:ext cx="20574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36675" y="3962400"/>
            <a:ext cx="1905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0" y="1600200"/>
            <a:ext cx="2133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00FF00"/>
              </a:solidFill>
            </a:endParaRP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3733800" y="16764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Image Segmentation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613" y="3200400"/>
            <a:ext cx="2057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FF00"/>
              </a:solidFill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1420813" y="32004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FF00"/>
                </a:solidFill>
                <a:latin typeface="Gill Sans MT" pitchFamily="34" charset="0"/>
              </a:rPr>
              <a:t>Discontinuity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3200400"/>
            <a:ext cx="2057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FF00"/>
              </a:solidFill>
            </a:endParaRP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5791200" y="32004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FF00"/>
                </a:solidFill>
                <a:latin typeface="Gill Sans MT" pitchFamily="34" charset="0"/>
              </a:rPr>
              <a:t>Similarity</a:t>
            </a:r>
          </a:p>
        </p:txBody>
      </p:sp>
      <p:cxnSp>
        <p:nvCxnSpPr>
          <p:cNvPr id="13" name="Straight Connector 12"/>
          <p:cNvCxnSpPr>
            <a:stCxn id="7" idx="2"/>
          </p:cNvCxnSpPr>
          <p:nvPr/>
        </p:nvCxnSpPr>
        <p:spPr>
          <a:xfrm rot="5400000">
            <a:off x="4495801" y="2286000"/>
            <a:ext cx="457200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438400" y="2514600"/>
            <a:ext cx="4378325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10" idx="0"/>
          </p:cNvCxnSpPr>
          <p:nvPr/>
        </p:nvCxnSpPr>
        <p:spPr>
          <a:xfrm rot="16200000" flipH="1">
            <a:off x="2101057" y="2851943"/>
            <a:ext cx="685800" cy="11113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2" idx="0"/>
          </p:cNvCxnSpPr>
          <p:nvPr/>
        </p:nvCxnSpPr>
        <p:spPr>
          <a:xfrm rot="16200000" flipH="1">
            <a:off x="6478588" y="2859087"/>
            <a:ext cx="679450" cy="3175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48"/>
          <p:cNvSpPr txBox="1">
            <a:spLocks noChangeArrowheads="1"/>
          </p:cNvSpPr>
          <p:nvPr/>
        </p:nvSpPr>
        <p:spPr bwMode="auto">
          <a:xfrm>
            <a:off x="1371600" y="3886200"/>
            <a:ext cx="2133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e.g.</a:t>
            </a:r>
          </a:p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- Point Detection</a:t>
            </a:r>
          </a:p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- Line Detection</a:t>
            </a:r>
          </a:p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- Edge Detection</a:t>
            </a:r>
          </a:p>
        </p:txBody>
      </p:sp>
      <p:sp>
        <p:nvSpPr>
          <p:cNvPr id="18" name="TextBox 49"/>
          <p:cNvSpPr txBox="1">
            <a:spLocks noChangeArrowheads="1"/>
          </p:cNvSpPr>
          <p:nvPr/>
        </p:nvSpPr>
        <p:spPr bwMode="auto">
          <a:xfrm>
            <a:off x="5715000" y="3886200"/>
            <a:ext cx="213360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e.g.</a:t>
            </a:r>
          </a:p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- Thresholding</a:t>
            </a:r>
          </a:p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- Region Growing</a:t>
            </a:r>
          </a:p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- Region splitting &amp;   </a:t>
            </a:r>
          </a:p>
          <a:p>
            <a:pPr eaLnBrk="1" hangingPunct="1"/>
            <a:r>
              <a:rPr lang="en-US" altLang="en-US" sz="1800" dirty="0">
                <a:solidFill>
                  <a:srgbClr val="FFFF00"/>
                </a:solidFill>
                <a:latin typeface="Gill Sans MT" pitchFamily="34" charset="0"/>
              </a:rPr>
              <a:t>               merging</a:t>
            </a:r>
          </a:p>
          <a:p>
            <a:pPr eaLnBrk="1" hangingPunct="1"/>
            <a:endParaRPr lang="en-US" altLang="en-US" dirty="0">
              <a:solidFill>
                <a:srgbClr val="FFFF00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941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359025" y="785813"/>
            <a:ext cx="4391025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  <a:endParaRPr lang="en-US" altLang="zh-TW">
              <a:ea typeface="新細明體" pitchFamily="18" charset="-12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4730750"/>
            <a:ext cx="4618038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Rectangle 5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266113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400">
                <a:ea typeface="宋体" pitchFamily="2" charset="-122"/>
              </a:rPr>
              <a:t>There are three kinds of discontinuities of intensity: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points</a:t>
            </a:r>
            <a:r>
              <a:rPr lang="en-US" altLang="zh-CN" sz="2400">
                <a:ea typeface="宋体" pitchFamily="2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lines</a:t>
            </a:r>
            <a:r>
              <a:rPr lang="en-US" altLang="zh-CN" sz="2400">
                <a:ea typeface="宋体" pitchFamily="2" charset="-122"/>
              </a:rPr>
              <a:t> and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edges</a:t>
            </a:r>
            <a:r>
              <a:rPr lang="en-US" altLang="zh-CN" sz="2400">
                <a:ea typeface="宋体" pitchFamily="2" charset="-122"/>
              </a:rPr>
              <a:t>.</a:t>
            </a:r>
            <a:endParaRPr lang="en-US" altLang="zh-TW" sz="2400">
              <a:ea typeface="新細明體" pitchFamily="18" charset="-120"/>
            </a:endParaRPr>
          </a:p>
          <a:p>
            <a:r>
              <a:rPr lang="en-US" altLang="zh-CN" sz="2400">
                <a:ea typeface="宋体" pitchFamily="2" charset="-122"/>
              </a:rPr>
              <a:t>The most common way to look for discontinuities is to scan a small mask over the image.  The mask determines which kind of discontinuity to look for</a:t>
            </a:r>
            <a:r>
              <a:rPr lang="en-US" altLang="zh-CN" sz="2000">
                <a:ea typeface="宋体" pitchFamily="2" charset="-122"/>
              </a:rPr>
              <a:t>.</a:t>
            </a:r>
            <a:r>
              <a:rPr lang="en-US" altLang="zh-TW" sz="2000">
                <a:ea typeface="新細明體" pitchFamily="18" charset="-120"/>
              </a:rPr>
              <a:t> </a:t>
            </a:r>
            <a:r>
              <a:rPr lang="en-US" altLang="zh-CN" sz="2000">
                <a:ea typeface="宋体" pitchFamily="2" charset="-122"/>
              </a:rPr>
              <a:t> </a:t>
            </a:r>
            <a:endParaRPr lang="zh-TW" altLang="en-US" sz="2000">
              <a:ea typeface="新細明體" pitchFamily="18" charset="-120"/>
            </a:endParaRPr>
          </a:p>
        </p:txBody>
      </p:sp>
      <p:graphicFrame>
        <p:nvGraphicFramePr>
          <p:cNvPr id="4101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476500" y="3659188"/>
          <a:ext cx="40386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197100" imgH="431800" progId="Equation.3">
                  <p:embed/>
                </p:oleObj>
              </mc:Choice>
              <mc:Fallback>
                <p:oleObj name="方程式" r:id="rId3" imgW="2197100" imgH="431800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659188"/>
                        <a:ext cx="40386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Point Detection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2166938"/>
            <a:ext cx="7685088" cy="424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538163" y="1724025"/>
          <a:ext cx="451485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120900" imgH="482600" progId="Equation.3">
                  <p:embed/>
                </p:oleObj>
              </mc:Choice>
              <mc:Fallback>
                <p:oleObj name="方程式" r:id="rId3" imgW="21209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1724025"/>
                        <a:ext cx="451485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3471863"/>
            <a:ext cx="8474075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Line Detection</a:t>
            </a:r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400">
                <a:ea typeface="宋体" pitchFamily="2" charset="-122"/>
              </a:rPr>
              <a:t>Only slightly more common than point detection is to find a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one pixel wide line</a:t>
            </a:r>
            <a:r>
              <a:rPr lang="en-US" altLang="zh-CN" sz="2400">
                <a:ea typeface="宋体" pitchFamily="2" charset="-122"/>
              </a:rPr>
              <a:t> in an image. </a:t>
            </a:r>
            <a:endParaRPr lang="en-US" altLang="zh-TW" sz="2400">
              <a:ea typeface="新細明體" pitchFamily="18" charset="-120"/>
            </a:endParaRPr>
          </a:p>
          <a:p>
            <a:r>
              <a:rPr lang="en-US" altLang="zh-CN" sz="2400">
                <a:ea typeface="宋体" pitchFamily="2" charset="-122"/>
              </a:rPr>
              <a:t>For digital images the only three point straight lines are only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horizontal, vertical, or diagonal (+ or –45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).</a:t>
            </a:r>
            <a:r>
              <a:rPr lang="en-US" altLang="zh-CN" sz="2400">
                <a:ea typeface="宋体" pitchFamily="2" charset="-122"/>
              </a:rPr>
              <a:t> </a:t>
            </a:r>
            <a:endParaRPr lang="zh-TW" altLang="en-US" sz="240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8" y="1566863"/>
            <a:ext cx="6248400" cy="501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Line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1822450"/>
            <a:ext cx="8328025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431925"/>
            <a:ext cx="6870700" cy="538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5594350"/>
            <a:ext cx="74168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Detection</a:t>
            </a:r>
          </a:p>
        </p:txBody>
      </p:sp>
      <p:graphicFrame>
        <p:nvGraphicFramePr>
          <p:cNvPr id="10244" name="Object 6"/>
          <p:cNvGraphicFramePr>
            <a:graphicFrameLocks noChangeAspect="1"/>
          </p:cNvGraphicFramePr>
          <p:nvPr/>
        </p:nvGraphicFramePr>
        <p:xfrm>
          <a:off x="1757363" y="1674813"/>
          <a:ext cx="5149850" cy="384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6438095" imgH="4800000" progId="Photoshop.Image.8">
                  <p:embed/>
                </p:oleObj>
              </mc:Choice>
              <mc:Fallback>
                <p:oleObj name="Image" r:id="rId3" imgW="6438095" imgH="4800000" progId="Photoshop.Imag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1674813"/>
                        <a:ext cx="5149850" cy="384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5640388"/>
            <a:ext cx="74168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Detection</a:t>
            </a:r>
          </a:p>
        </p:txBody>
      </p:sp>
      <p:graphicFrame>
        <p:nvGraphicFramePr>
          <p:cNvPr id="11268" name="Object 5"/>
          <p:cNvGraphicFramePr>
            <a:graphicFrameLocks noChangeAspect="1"/>
          </p:cNvGraphicFramePr>
          <p:nvPr/>
        </p:nvGraphicFramePr>
        <p:xfrm>
          <a:off x="1803400" y="1397000"/>
          <a:ext cx="5583238" cy="419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6438095" imgH="4838095" progId="Photoshop.Image.8">
                  <p:embed/>
                </p:oleObj>
              </mc:Choice>
              <mc:Fallback>
                <p:oleObj name="Image" r:id="rId3" imgW="6438095" imgH="4838095" progId="Photoshop.Imag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1397000"/>
                        <a:ext cx="5583238" cy="419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5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</a:t>
            </a:r>
          </a:p>
        </p:txBody>
      </p:sp>
      <p:sp>
        <p:nvSpPr>
          <p:cNvPr id="12291" name="Rectangle 7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23595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800">
                <a:ea typeface="新細明體" pitchFamily="18" charset="-120"/>
              </a:rPr>
              <a:t>First-order derivatives: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The gradient of an image </a:t>
            </a:r>
            <a:r>
              <a:rPr lang="en-US" altLang="zh-TW" sz="2400" i="1">
                <a:ea typeface="新細明體" pitchFamily="18" charset="-120"/>
              </a:rPr>
              <a:t>f</a:t>
            </a:r>
            <a:r>
              <a:rPr lang="en-US" altLang="zh-TW" sz="2400">
                <a:ea typeface="新細明體" pitchFamily="18" charset="-120"/>
              </a:rPr>
              <a:t>(</a:t>
            </a:r>
            <a:r>
              <a:rPr lang="en-US" altLang="zh-TW" sz="2400" i="1">
                <a:ea typeface="新細明體" pitchFamily="18" charset="-120"/>
              </a:rPr>
              <a:t>x</a:t>
            </a:r>
            <a:r>
              <a:rPr lang="en-US" altLang="zh-TW" sz="2400">
                <a:ea typeface="新細明體" pitchFamily="18" charset="-120"/>
              </a:rPr>
              <a:t>,</a:t>
            </a:r>
            <a:r>
              <a:rPr lang="en-US" altLang="zh-TW" sz="2400" i="1">
                <a:ea typeface="新細明體" pitchFamily="18" charset="-120"/>
              </a:rPr>
              <a:t>y</a:t>
            </a:r>
            <a:r>
              <a:rPr lang="en-US" altLang="zh-TW" sz="2400">
                <a:ea typeface="新細明體" pitchFamily="18" charset="-120"/>
              </a:rPr>
              <a:t>) at location (</a:t>
            </a:r>
            <a:r>
              <a:rPr lang="en-US" altLang="zh-TW" sz="2400" i="1">
                <a:ea typeface="新細明體" pitchFamily="18" charset="-120"/>
              </a:rPr>
              <a:t>x</a:t>
            </a:r>
            <a:r>
              <a:rPr lang="en-US" altLang="zh-TW" sz="2400">
                <a:ea typeface="新細明體" pitchFamily="18" charset="-120"/>
              </a:rPr>
              <a:t>,</a:t>
            </a:r>
            <a:r>
              <a:rPr lang="en-US" altLang="zh-TW" sz="2400" i="1">
                <a:ea typeface="新細明體" pitchFamily="18" charset="-120"/>
              </a:rPr>
              <a:t>y</a:t>
            </a:r>
            <a:r>
              <a:rPr lang="en-US" altLang="zh-TW" sz="2400">
                <a:ea typeface="新細明體" pitchFamily="18" charset="-120"/>
              </a:rPr>
              <a:t>) is defined as the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vector</a:t>
            </a:r>
            <a:r>
              <a:rPr lang="en-US" altLang="zh-TW" sz="2400">
                <a:ea typeface="新細明體" pitchFamily="18" charset="-120"/>
              </a:rPr>
              <a:t>:</a:t>
            </a:r>
          </a:p>
          <a:p>
            <a:pPr lvl="1"/>
            <a:endParaRPr lang="en-US" altLang="zh-TW" sz="2400">
              <a:ea typeface="新細明體" pitchFamily="18" charset="-120"/>
            </a:endParaRPr>
          </a:p>
          <a:p>
            <a:pPr lvl="1"/>
            <a:endParaRPr lang="en-US" altLang="zh-TW" sz="2400">
              <a:ea typeface="新細明體" pitchFamily="18" charset="-120"/>
            </a:endParaRPr>
          </a:p>
          <a:p>
            <a:pPr lvl="1"/>
            <a:endParaRPr lang="en-US" altLang="zh-TW" sz="2400">
              <a:ea typeface="新細明體" pitchFamily="18" charset="-120"/>
            </a:endParaRPr>
          </a:p>
          <a:p>
            <a:pPr lvl="1"/>
            <a:r>
              <a:rPr lang="en-US" altLang="zh-TW" sz="2400">
                <a:ea typeface="新細明體" pitchFamily="18" charset="-120"/>
              </a:rPr>
              <a:t>The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magnitude</a:t>
            </a:r>
            <a:r>
              <a:rPr lang="en-US" altLang="zh-TW" sz="2400">
                <a:ea typeface="新細明體" pitchFamily="18" charset="-120"/>
              </a:rPr>
              <a:t> of this vector:</a:t>
            </a:r>
          </a:p>
          <a:p>
            <a:pPr lvl="1"/>
            <a:endParaRPr lang="en-US" altLang="zh-TW" sz="2400">
              <a:ea typeface="新細明體" pitchFamily="18" charset="-120"/>
            </a:endParaRPr>
          </a:p>
          <a:p>
            <a:pPr lvl="1"/>
            <a:r>
              <a:rPr lang="en-US" altLang="zh-TW" sz="2400">
                <a:ea typeface="新細明體" pitchFamily="18" charset="-120"/>
              </a:rPr>
              <a:t>The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direction</a:t>
            </a:r>
            <a:r>
              <a:rPr lang="en-US" altLang="zh-TW" sz="2400">
                <a:ea typeface="新細明體" pitchFamily="18" charset="-120"/>
              </a:rPr>
              <a:t> of this vector:</a:t>
            </a:r>
          </a:p>
        </p:txBody>
      </p:sp>
      <p:graphicFrame>
        <p:nvGraphicFramePr>
          <p:cNvPr id="12292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886075" y="2689225"/>
          <a:ext cx="313055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079500" imgH="508000" progId="Equation.3">
                  <p:embed/>
                </p:oleObj>
              </mc:Choice>
              <mc:Fallback>
                <p:oleObj name="方程式" r:id="rId2" imgW="1079500" imgH="508000" progId="Equation.3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075" y="2689225"/>
                        <a:ext cx="313055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91100" y="4164013"/>
          <a:ext cx="36322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727200" imgH="292100" progId="Equation.3">
                  <p:embed/>
                </p:oleObj>
              </mc:Choice>
              <mc:Fallback>
                <p:oleObj name="方程式" r:id="rId4" imgW="1727200" imgH="292100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4164013"/>
                        <a:ext cx="36322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4"/>
          <p:cNvGraphicFramePr>
            <a:graphicFrameLocks noChangeAspect="1"/>
          </p:cNvGraphicFramePr>
          <p:nvPr/>
        </p:nvGraphicFramePr>
        <p:xfrm>
          <a:off x="5040313" y="4872038"/>
          <a:ext cx="2703512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270000" imgH="508000" progId="Equation.3">
                  <p:embed/>
                </p:oleObj>
              </mc:Choice>
              <mc:Fallback>
                <p:oleObj name="方程式" r:id="rId6" imgW="1270000" imgH="508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4872038"/>
                        <a:ext cx="2703512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</a:t>
            </a:r>
          </a:p>
        </p:txBody>
      </p:sp>
      <p:grpSp>
        <p:nvGrpSpPr>
          <p:cNvPr id="13315" name="Group 12"/>
          <p:cNvGrpSpPr>
            <a:grpSpLocks/>
          </p:cNvGrpSpPr>
          <p:nvPr/>
        </p:nvGrpSpPr>
        <p:grpSpPr bwMode="auto">
          <a:xfrm>
            <a:off x="417513" y="1681163"/>
            <a:ext cx="7600950" cy="4981575"/>
            <a:chOff x="263" y="1059"/>
            <a:chExt cx="4788" cy="3138"/>
          </a:xfrm>
        </p:grpSpPr>
        <p:graphicFrame>
          <p:nvGraphicFramePr>
            <p:cNvPr id="13316" name="Object 4"/>
            <p:cNvGraphicFramePr>
              <a:graphicFrameLocks noChangeAspect="1"/>
            </p:cNvGraphicFramePr>
            <p:nvPr/>
          </p:nvGraphicFramePr>
          <p:xfrm>
            <a:off x="2948" y="1059"/>
            <a:ext cx="2103" cy="3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4253968" imgH="6349206" progId="Photoshop.Image.8">
                    <p:embed/>
                  </p:oleObj>
                </mc:Choice>
                <mc:Fallback>
                  <p:oleObj name="Image" r:id="rId2" imgW="4253968" imgH="6349206" progId="Photoshop.Image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8" y="1059"/>
                          <a:ext cx="2103" cy="3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7" name="Text Box 6"/>
            <p:cNvSpPr txBox="1">
              <a:spLocks noChangeArrowheads="1"/>
            </p:cNvSpPr>
            <p:nvPr/>
          </p:nvSpPr>
          <p:spPr bwMode="auto">
            <a:xfrm>
              <a:off x="263" y="1211"/>
              <a:ext cx="26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Roberts cross-gradient operators</a:t>
              </a:r>
            </a:p>
          </p:txBody>
        </p:sp>
        <p:sp>
          <p:nvSpPr>
            <p:cNvPr id="13318" name="Text Box 7"/>
            <p:cNvSpPr txBox="1">
              <a:spLocks noChangeArrowheads="1"/>
            </p:cNvSpPr>
            <p:nvPr/>
          </p:nvSpPr>
          <p:spPr bwMode="auto">
            <a:xfrm>
              <a:off x="691" y="2329"/>
              <a:ext cx="1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Prewitt operators</a:t>
              </a:r>
            </a:p>
          </p:txBody>
        </p:sp>
        <p:sp>
          <p:nvSpPr>
            <p:cNvPr id="13319" name="Text Box 8"/>
            <p:cNvSpPr txBox="1">
              <a:spLocks noChangeArrowheads="1"/>
            </p:cNvSpPr>
            <p:nvPr/>
          </p:nvSpPr>
          <p:spPr bwMode="auto">
            <a:xfrm>
              <a:off x="799" y="3323"/>
              <a:ext cx="13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Sobel operators</a:t>
              </a:r>
            </a:p>
          </p:txBody>
        </p:sp>
        <p:sp>
          <p:nvSpPr>
            <p:cNvPr id="13320" name="AutoShape 9"/>
            <p:cNvSpPr>
              <a:spLocks noChangeArrowheads="1"/>
            </p:cNvSpPr>
            <p:nvPr/>
          </p:nvSpPr>
          <p:spPr bwMode="auto">
            <a:xfrm>
              <a:off x="2927" y="1313"/>
              <a:ext cx="293" cy="141"/>
            </a:xfrm>
            <a:prstGeom prst="rightArrow">
              <a:avLst>
                <a:gd name="adj1" fmla="val 50000"/>
                <a:gd name="adj2" fmla="val 5195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3321" name="AutoShape 10"/>
            <p:cNvSpPr>
              <a:spLocks noChangeArrowheads="1"/>
            </p:cNvSpPr>
            <p:nvPr/>
          </p:nvSpPr>
          <p:spPr bwMode="auto">
            <a:xfrm>
              <a:off x="2383" y="3413"/>
              <a:ext cx="293" cy="141"/>
            </a:xfrm>
            <a:prstGeom prst="rightArrow">
              <a:avLst>
                <a:gd name="adj1" fmla="val 50000"/>
                <a:gd name="adj2" fmla="val 5195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3322" name="AutoShape 11"/>
            <p:cNvSpPr>
              <a:spLocks noChangeArrowheads="1"/>
            </p:cNvSpPr>
            <p:nvPr/>
          </p:nvSpPr>
          <p:spPr bwMode="auto">
            <a:xfrm>
              <a:off x="2396" y="2407"/>
              <a:ext cx="293" cy="141"/>
            </a:xfrm>
            <a:prstGeom prst="rightArrow">
              <a:avLst>
                <a:gd name="adj1" fmla="val 50000"/>
                <a:gd name="adj2" fmla="val 5195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</a:t>
            </a:r>
          </a:p>
        </p:txBody>
      </p:sp>
      <p:grpSp>
        <p:nvGrpSpPr>
          <p:cNvPr id="14339" name="Group 10"/>
          <p:cNvGrpSpPr>
            <a:grpSpLocks/>
          </p:cNvGrpSpPr>
          <p:nvPr/>
        </p:nvGrpSpPr>
        <p:grpSpPr bwMode="auto">
          <a:xfrm>
            <a:off x="374650" y="1755775"/>
            <a:ext cx="7818438" cy="4748213"/>
            <a:chOff x="236" y="1106"/>
            <a:chExt cx="4925" cy="2991"/>
          </a:xfrm>
        </p:grpSpPr>
        <p:graphicFrame>
          <p:nvGraphicFramePr>
            <p:cNvPr id="14340" name="Object 9"/>
            <p:cNvGraphicFramePr>
              <a:graphicFrameLocks noChangeAspect="1"/>
            </p:cNvGraphicFramePr>
            <p:nvPr/>
          </p:nvGraphicFramePr>
          <p:xfrm>
            <a:off x="1356" y="1106"/>
            <a:ext cx="3805" cy="29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6641270" imgH="5219048" progId="Photoshop.Image.8">
                    <p:embed/>
                  </p:oleObj>
                </mc:Choice>
                <mc:Fallback>
                  <p:oleObj name="Image" r:id="rId2" imgW="6641270" imgH="5219048" progId="Photoshop.Image.8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" y="1106"/>
                          <a:ext cx="3805" cy="29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1" name="Text Box 5"/>
            <p:cNvSpPr txBox="1">
              <a:spLocks noChangeArrowheads="1"/>
            </p:cNvSpPr>
            <p:nvPr/>
          </p:nvSpPr>
          <p:spPr bwMode="auto">
            <a:xfrm>
              <a:off x="236" y="1478"/>
              <a:ext cx="2011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Prewitt masks for </a:t>
              </a:r>
            </a:p>
            <a:p>
              <a:r>
                <a:rPr lang="en-US" altLang="zh-TW">
                  <a:ea typeface="新細明體" pitchFamily="18" charset="-120"/>
                </a:rPr>
                <a:t>detecting diagonal edges</a:t>
              </a:r>
            </a:p>
          </p:txBody>
        </p:sp>
        <p:sp>
          <p:nvSpPr>
            <p:cNvPr id="14342" name="Text Box 6"/>
            <p:cNvSpPr txBox="1">
              <a:spLocks noChangeArrowheads="1"/>
            </p:cNvSpPr>
            <p:nvPr/>
          </p:nvSpPr>
          <p:spPr bwMode="auto">
            <a:xfrm>
              <a:off x="269" y="2757"/>
              <a:ext cx="2011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Sobel masks for </a:t>
              </a:r>
            </a:p>
            <a:p>
              <a:r>
                <a:rPr lang="en-US" altLang="zh-TW">
                  <a:ea typeface="新細明體" pitchFamily="18" charset="-120"/>
                </a:rPr>
                <a:t>detecting diagonal edges</a:t>
              </a:r>
            </a:p>
          </p:txBody>
        </p:sp>
        <p:sp>
          <p:nvSpPr>
            <p:cNvPr id="14343" name="AutoShape 7"/>
            <p:cNvSpPr>
              <a:spLocks noChangeArrowheads="1"/>
            </p:cNvSpPr>
            <p:nvPr/>
          </p:nvSpPr>
          <p:spPr bwMode="auto">
            <a:xfrm>
              <a:off x="2080" y="2894"/>
              <a:ext cx="293" cy="141"/>
            </a:xfrm>
            <a:prstGeom prst="rightArrow">
              <a:avLst>
                <a:gd name="adj1" fmla="val 50000"/>
                <a:gd name="adj2" fmla="val 5195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4344" name="AutoShape 8"/>
            <p:cNvSpPr>
              <a:spLocks noChangeArrowheads="1"/>
            </p:cNvSpPr>
            <p:nvPr/>
          </p:nvSpPr>
          <p:spPr bwMode="auto">
            <a:xfrm>
              <a:off x="2103" y="1642"/>
              <a:ext cx="293" cy="141"/>
            </a:xfrm>
            <a:prstGeom prst="rightArrow">
              <a:avLst>
                <a:gd name="adj1" fmla="val 50000"/>
                <a:gd name="adj2" fmla="val 5195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554163"/>
            <a:ext cx="8289925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363" name="Object 4"/>
          <p:cNvGraphicFramePr>
            <a:graphicFrameLocks noChangeAspect="1"/>
          </p:cNvGraphicFramePr>
          <p:nvPr/>
        </p:nvGraphicFramePr>
        <p:xfrm>
          <a:off x="403225" y="4395788"/>
          <a:ext cx="14970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939800" imgH="279400" progId="Equation.3">
                  <p:embed/>
                </p:oleObj>
              </mc:Choice>
              <mc:Fallback>
                <p:oleObj name="方程式" r:id="rId3" imgW="9398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4395788"/>
                        <a:ext cx="14970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2239963" y="500063"/>
            <a:ext cx="468471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Operators: Example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1617663"/>
            <a:ext cx="8170862" cy="494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2239963" y="500063"/>
            <a:ext cx="468471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Operators: Example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1720850"/>
            <a:ext cx="8450263" cy="261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2239963" y="500063"/>
            <a:ext cx="468471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Operators: Example</a:t>
            </a:r>
          </a:p>
        </p:txBody>
      </p:sp>
      <p:graphicFrame>
        <p:nvGraphicFramePr>
          <p:cNvPr id="17412" name="Object 5"/>
          <p:cNvGraphicFramePr>
            <a:graphicFrameLocks noChangeAspect="1"/>
          </p:cNvGraphicFramePr>
          <p:nvPr/>
        </p:nvGraphicFramePr>
        <p:xfrm>
          <a:off x="1039813" y="4370388"/>
          <a:ext cx="20574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057143" imgH="2044444" progId="Photoshop.Image.8">
                  <p:embed/>
                </p:oleObj>
              </mc:Choice>
              <mc:Fallback>
                <p:oleObj name="Image" r:id="rId3" imgW="2057143" imgH="2044444" progId="Photoshop.Imag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4370388"/>
                        <a:ext cx="20574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6"/>
          <p:cNvGraphicFramePr>
            <a:graphicFrameLocks noChangeAspect="1"/>
          </p:cNvGraphicFramePr>
          <p:nvPr/>
        </p:nvGraphicFramePr>
        <p:xfrm>
          <a:off x="4672013" y="4371975"/>
          <a:ext cx="20193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2019048" imgH="2044444" progId="Photoshop.Image.8">
                  <p:embed/>
                </p:oleObj>
              </mc:Choice>
              <mc:Fallback>
                <p:oleObj name="Image" r:id="rId5" imgW="2019048" imgH="2044444" progId="Photoshop.Imag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4371975"/>
                        <a:ext cx="20193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23595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800">
                <a:ea typeface="新細明體" pitchFamily="18" charset="-120"/>
              </a:rPr>
              <a:t>Second-order derivatives: (The Laplacian)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The Laplacian of an 2D function  </a:t>
            </a:r>
            <a:r>
              <a:rPr lang="en-US" altLang="zh-TW" sz="2400" i="1">
                <a:ea typeface="新細明體" pitchFamily="18" charset="-120"/>
              </a:rPr>
              <a:t>f</a:t>
            </a:r>
            <a:r>
              <a:rPr lang="en-US" altLang="zh-TW" sz="2400">
                <a:ea typeface="新細明體" pitchFamily="18" charset="-120"/>
              </a:rPr>
              <a:t>(</a:t>
            </a:r>
            <a:r>
              <a:rPr lang="en-US" altLang="zh-TW" sz="2400" i="1">
                <a:ea typeface="新細明體" pitchFamily="18" charset="-120"/>
              </a:rPr>
              <a:t>x</a:t>
            </a:r>
            <a:r>
              <a:rPr lang="en-US" altLang="zh-TW" sz="2400">
                <a:ea typeface="新細明體" pitchFamily="18" charset="-120"/>
              </a:rPr>
              <a:t>,</a:t>
            </a:r>
            <a:r>
              <a:rPr lang="en-US" altLang="zh-TW" sz="2400" i="1">
                <a:ea typeface="新細明體" pitchFamily="18" charset="-120"/>
              </a:rPr>
              <a:t>y</a:t>
            </a:r>
            <a:r>
              <a:rPr lang="en-US" altLang="zh-TW" sz="2400">
                <a:ea typeface="新細明體" pitchFamily="18" charset="-120"/>
              </a:rPr>
              <a:t>) is defined as </a:t>
            </a:r>
          </a:p>
          <a:p>
            <a:pPr lvl="1"/>
            <a:endParaRPr lang="en-US" altLang="zh-TW" sz="2400">
              <a:ea typeface="新細明體" pitchFamily="18" charset="-120"/>
            </a:endParaRPr>
          </a:p>
          <a:p>
            <a:pPr lvl="1"/>
            <a:endParaRPr lang="en-US" altLang="zh-TW" sz="2400">
              <a:ea typeface="新細明體" pitchFamily="18" charset="-120"/>
            </a:endParaRPr>
          </a:p>
          <a:p>
            <a:pPr lvl="1"/>
            <a:r>
              <a:rPr lang="en-US" altLang="zh-TW" sz="2400">
                <a:ea typeface="新細明體" pitchFamily="18" charset="-120"/>
              </a:rPr>
              <a:t>Two forms in practice:</a:t>
            </a:r>
          </a:p>
          <a:p>
            <a:pPr lvl="1"/>
            <a:endParaRPr lang="en-US" altLang="zh-TW" sz="2400">
              <a:ea typeface="新細明體" pitchFamily="18" charset="-120"/>
            </a:endParaRPr>
          </a:p>
          <a:p>
            <a:pPr lvl="1"/>
            <a:endParaRPr lang="en-US" altLang="zh-TW" sz="2400">
              <a:ea typeface="新細明體" pitchFamily="18" charset="-120"/>
            </a:endParaRPr>
          </a:p>
        </p:txBody>
      </p:sp>
      <p:graphicFrame>
        <p:nvGraphicFramePr>
          <p:cNvPr id="1843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51025" y="2547938"/>
          <a:ext cx="22034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143000" imgH="444500" progId="Equation.3">
                  <p:embed/>
                </p:oleObj>
              </mc:Choice>
              <mc:Fallback>
                <p:oleObj name="方程式" r:id="rId2" imgW="1143000" imgH="4445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2547938"/>
                        <a:ext cx="22034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3" y="3979863"/>
            <a:ext cx="8102600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</a:t>
            </a: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2804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>
                <a:ea typeface="新細明體" pitchFamily="18" charset="-120"/>
              </a:rPr>
              <a:t>Consider the function:</a:t>
            </a:r>
          </a:p>
          <a:p>
            <a:endParaRPr lang="en-US" altLang="zh-TW" sz="2400">
              <a:ea typeface="新細明體" pitchFamily="18" charset="-120"/>
            </a:endParaRPr>
          </a:p>
          <a:p>
            <a:endParaRPr lang="en-US" altLang="zh-TW" sz="2400">
              <a:ea typeface="新細明體" pitchFamily="18" charset="-120"/>
            </a:endParaRPr>
          </a:p>
          <a:p>
            <a:endParaRPr lang="en-US" altLang="zh-TW" sz="2400">
              <a:ea typeface="新細明體" pitchFamily="18" charset="-120"/>
            </a:endParaRPr>
          </a:p>
          <a:p>
            <a:r>
              <a:rPr lang="en-US" altLang="zh-TW" sz="2400">
                <a:ea typeface="新細明體" pitchFamily="18" charset="-120"/>
              </a:rPr>
              <a:t>The Laplacian of </a:t>
            </a:r>
            <a:r>
              <a:rPr lang="en-US" altLang="zh-TW" sz="2400" i="1">
                <a:ea typeface="新細明體" pitchFamily="18" charset="-120"/>
              </a:rPr>
              <a:t>h</a:t>
            </a:r>
            <a:r>
              <a:rPr lang="en-US" altLang="zh-TW" sz="2400">
                <a:ea typeface="新細明體" pitchFamily="18" charset="-120"/>
              </a:rPr>
              <a:t> is</a:t>
            </a:r>
          </a:p>
          <a:p>
            <a:endParaRPr lang="en-US" altLang="zh-TW" sz="2400">
              <a:ea typeface="新細明體" pitchFamily="18" charset="-120"/>
            </a:endParaRPr>
          </a:p>
          <a:p>
            <a:endParaRPr lang="en-US" altLang="zh-TW" sz="2400">
              <a:ea typeface="新細明體" pitchFamily="18" charset="-120"/>
            </a:endParaRPr>
          </a:p>
          <a:p>
            <a:endParaRPr lang="en-US" altLang="zh-TW" sz="2400">
              <a:ea typeface="新細明體" pitchFamily="18" charset="-120"/>
            </a:endParaRPr>
          </a:p>
          <a:p>
            <a:r>
              <a:rPr lang="en-US" altLang="zh-TW" sz="2400">
                <a:ea typeface="新細明體" pitchFamily="18" charset="-120"/>
              </a:rPr>
              <a:t>The Laplacian of a Gaussian sometimes is called the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Mexican hat function. </a:t>
            </a:r>
            <a:r>
              <a:rPr lang="en-US" altLang="zh-TW" sz="2400">
                <a:ea typeface="新細明體" pitchFamily="18" charset="-120"/>
              </a:rPr>
              <a:t>It also can be computed by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 smoothing the image with the Gaussian smoothing mask, followed by application of the Laplacian mask.</a:t>
            </a:r>
          </a:p>
          <a:p>
            <a:endParaRPr lang="en-US" altLang="zh-TW" sz="2400">
              <a:solidFill>
                <a:srgbClr val="FF0000"/>
              </a:solidFill>
              <a:ea typeface="新細明體" pitchFamily="18" charset="-120"/>
            </a:endParaRPr>
          </a:p>
        </p:txBody>
      </p:sp>
      <p:graphicFrame>
        <p:nvGraphicFramePr>
          <p:cNvPr id="19460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474788" y="2058988"/>
          <a:ext cx="59817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959100" imgH="558800" progId="Equation.3">
                  <p:embed/>
                </p:oleObj>
              </mc:Choice>
              <mc:Fallback>
                <p:oleObj name="方程式" r:id="rId2" imgW="2959100" imgH="558800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788" y="2058988"/>
                        <a:ext cx="59817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13"/>
          <p:cNvGraphicFramePr>
            <a:graphicFrameLocks noChangeAspect="1"/>
          </p:cNvGraphicFramePr>
          <p:nvPr/>
        </p:nvGraphicFramePr>
        <p:xfrm>
          <a:off x="1460500" y="3878263"/>
          <a:ext cx="36337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612900" imgH="508000" progId="Equation.3">
                  <p:embed/>
                </p:oleObj>
              </mc:Choice>
              <mc:Fallback>
                <p:oleObj name="方程式" r:id="rId4" imgW="1612900" imgH="508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878263"/>
                        <a:ext cx="36337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AutoShape 14"/>
          <p:cNvSpPr>
            <a:spLocks noChangeArrowheads="1"/>
          </p:cNvSpPr>
          <p:nvPr/>
        </p:nvSpPr>
        <p:spPr bwMode="auto">
          <a:xfrm>
            <a:off x="5665788" y="3883025"/>
            <a:ext cx="2878137" cy="989013"/>
          </a:xfrm>
          <a:prstGeom prst="wedgeRectCallout">
            <a:avLst>
              <a:gd name="adj1" fmla="val -67648"/>
              <a:gd name="adj2" fmla="val 13083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ea typeface="新細明體" pitchFamily="18" charset="-120"/>
              </a:rPr>
              <a:t>The Laplacian of a Gaussian (LoG)</a:t>
            </a:r>
          </a:p>
        </p:txBody>
      </p:sp>
      <p:sp>
        <p:nvSpPr>
          <p:cNvPr id="19463" name="AutoShape 16"/>
          <p:cNvSpPr>
            <a:spLocks noChangeArrowheads="1"/>
          </p:cNvSpPr>
          <p:nvPr/>
        </p:nvSpPr>
        <p:spPr bwMode="auto">
          <a:xfrm>
            <a:off x="4711700" y="1670050"/>
            <a:ext cx="2878138" cy="584200"/>
          </a:xfrm>
          <a:prstGeom prst="wedgeRectCallout">
            <a:avLst>
              <a:gd name="adj1" fmla="val -95282"/>
              <a:gd name="adj2" fmla="val 64403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ea typeface="新細明體" pitchFamily="18" charset="-120"/>
              </a:rPr>
              <a:t>A Gaussian function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1498600"/>
            <a:ext cx="7861300" cy="495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2386013" y="500063"/>
            <a:ext cx="43910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6"/>
          <p:cNvSpPr txBox="1">
            <a:spLocks noChangeArrowheads="1"/>
          </p:cNvSpPr>
          <p:nvPr/>
        </p:nvSpPr>
        <p:spPr bwMode="auto">
          <a:xfrm>
            <a:off x="2239963" y="500063"/>
            <a:ext cx="468471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Operators: Example</a:t>
            </a:r>
          </a:p>
        </p:txBody>
      </p:sp>
      <p:grpSp>
        <p:nvGrpSpPr>
          <p:cNvPr id="21507" name="Group 11"/>
          <p:cNvGrpSpPr>
            <a:grpSpLocks/>
          </p:cNvGrpSpPr>
          <p:nvPr/>
        </p:nvGrpSpPr>
        <p:grpSpPr bwMode="auto">
          <a:xfrm>
            <a:off x="1925638" y="1393825"/>
            <a:ext cx="5629275" cy="5464175"/>
            <a:chOff x="1213" y="878"/>
            <a:chExt cx="3546" cy="3442"/>
          </a:xfrm>
        </p:grpSpPr>
        <p:graphicFrame>
          <p:nvGraphicFramePr>
            <p:cNvPr id="21508" name="Object 5"/>
            <p:cNvGraphicFramePr>
              <a:graphicFrameLocks noChangeAspect="1"/>
            </p:cNvGraphicFramePr>
            <p:nvPr/>
          </p:nvGraphicFramePr>
          <p:xfrm>
            <a:off x="1238" y="878"/>
            <a:ext cx="3521" cy="30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5904762" imgH="5180952" progId="Photoshop.Image.8">
                    <p:embed/>
                  </p:oleObj>
                </mc:Choice>
                <mc:Fallback>
                  <p:oleObj name="Image" r:id="rId2" imgW="5904762" imgH="5180952" progId="Photoshop.Image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8" y="878"/>
                          <a:ext cx="3521" cy="30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09" name="Text Box 8"/>
            <p:cNvSpPr txBox="1">
              <a:spLocks noChangeArrowheads="1"/>
            </p:cNvSpPr>
            <p:nvPr/>
          </p:nvSpPr>
          <p:spPr bwMode="auto">
            <a:xfrm>
              <a:off x="3190" y="2686"/>
              <a:ext cx="1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Sobel gradient</a:t>
              </a:r>
            </a:p>
          </p:txBody>
        </p:sp>
        <p:sp>
          <p:nvSpPr>
            <p:cNvPr id="21510" name="Text Box 9"/>
            <p:cNvSpPr txBox="1">
              <a:spLocks noChangeArrowheads="1"/>
            </p:cNvSpPr>
            <p:nvPr/>
          </p:nvSpPr>
          <p:spPr bwMode="auto">
            <a:xfrm>
              <a:off x="3410" y="4032"/>
              <a:ext cx="1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Laplacian mask</a:t>
              </a:r>
            </a:p>
          </p:txBody>
        </p:sp>
        <p:sp>
          <p:nvSpPr>
            <p:cNvPr id="21511" name="Text Box 10"/>
            <p:cNvSpPr txBox="1">
              <a:spLocks noChangeArrowheads="1"/>
            </p:cNvSpPr>
            <p:nvPr/>
          </p:nvSpPr>
          <p:spPr bwMode="auto">
            <a:xfrm>
              <a:off x="1213" y="4032"/>
              <a:ext cx="21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Gaussian smooth function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4862513"/>
            <a:ext cx="8099425" cy="163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2239963" y="500063"/>
            <a:ext cx="468471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Detection of Discontinuities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Gradient Operators: Example</a:t>
            </a:r>
          </a:p>
        </p:txBody>
      </p:sp>
      <p:graphicFrame>
        <p:nvGraphicFramePr>
          <p:cNvPr id="22532" name="Object 5"/>
          <p:cNvGraphicFramePr>
            <a:graphicFrameLocks noChangeAspect="1"/>
          </p:cNvGraphicFramePr>
          <p:nvPr/>
        </p:nvGraphicFramePr>
        <p:xfrm>
          <a:off x="623888" y="1677988"/>
          <a:ext cx="8075612" cy="311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8076190" imgH="3111111" progId="Photoshop.Image.8">
                  <p:embed/>
                </p:oleObj>
              </mc:Choice>
              <mc:Fallback>
                <p:oleObj name="Image" r:id="rId3" imgW="8076190" imgH="3111111" progId="Photoshop.Imag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1677988"/>
                        <a:ext cx="8075612" cy="311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603375" y="500063"/>
            <a:ext cx="5961063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Linking and Boundary Detection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Local Processing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23595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400">
                <a:ea typeface="宋体" pitchFamily="2" charset="-122"/>
              </a:rPr>
              <a:t>Two properties of edge points are useful for </a:t>
            </a:r>
            <a:r>
              <a:rPr lang="en-US" altLang="zh-TW" sz="2400">
                <a:ea typeface="新細明體" pitchFamily="18" charset="-120"/>
              </a:rPr>
              <a:t>edge linking</a:t>
            </a:r>
            <a:r>
              <a:rPr lang="en-US" altLang="zh-CN" sz="2400">
                <a:ea typeface="宋体" pitchFamily="2" charset="-122"/>
              </a:rPr>
              <a:t>: </a:t>
            </a:r>
            <a:endParaRPr lang="en-US" altLang="zh-TW" sz="2400">
              <a:ea typeface="新細明體" pitchFamily="18" charset="-120"/>
            </a:endParaRPr>
          </a:p>
          <a:p>
            <a:pPr lvl="1"/>
            <a:r>
              <a:rPr lang="en-US" altLang="zh-CN" sz="2000">
                <a:ea typeface="宋体" pitchFamily="2" charset="-122"/>
              </a:rPr>
              <a:t>the strength (or </a:t>
            </a:r>
            <a:r>
              <a:rPr lang="en-US" altLang="zh-CN" sz="2000">
                <a:solidFill>
                  <a:srgbClr val="FF0000"/>
                </a:solidFill>
                <a:ea typeface="宋体" pitchFamily="2" charset="-122"/>
              </a:rPr>
              <a:t>magnitude</a:t>
            </a:r>
            <a:r>
              <a:rPr lang="en-US" altLang="zh-CN" sz="2000">
                <a:ea typeface="宋体" pitchFamily="2" charset="-122"/>
              </a:rPr>
              <a:t>) of the detected edge points</a:t>
            </a:r>
            <a:endParaRPr lang="en-US" altLang="zh-TW" sz="2000">
              <a:ea typeface="新細明體" pitchFamily="18" charset="-120"/>
            </a:endParaRPr>
          </a:p>
          <a:p>
            <a:pPr lvl="1"/>
            <a:r>
              <a:rPr lang="en-US" altLang="zh-CN" sz="2000">
                <a:ea typeface="宋体" pitchFamily="2" charset="-122"/>
              </a:rPr>
              <a:t>their </a:t>
            </a:r>
            <a:r>
              <a:rPr lang="en-US" altLang="zh-CN" sz="2000">
                <a:solidFill>
                  <a:srgbClr val="FF0000"/>
                </a:solidFill>
                <a:ea typeface="宋体" pitchFamily="2" charset="-122"/>
              </a:rPr>
              <a:t>directions</a:t>
            </a:r>
            <a:r>
              <a:rPr lang="en-US" altLang="zh-CN" sz="2000">
                <a:ea typeface="宋体" pitchFamily="2" charset="-122"/>
              </a:rPr>
              <a:t> (determined from gradient directions)</a:t>
            </a:r>
            <a:endParaRPr lang="en-US" altLang="zh-TW" sz="2000">
              <a:ea typeface="新細明體" pitchFamily="18" charset="-120"/>
            </a:endParaRPr>
          </a:p>
          <a:p>
            <a:r>
              <a:rPr lang="en-US" altLang="zh-CN" sz="2400">
                <a:ea typeface="宋体" pitchFamily="2" charset="-122"/>
              </a:rPr>
              <a:t>This is usually done in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local neighborhoods</a:t>
            </a:r>
            <a:r>
              <a:rPr lang="en-US" altLang="zh-CN" sz="2400">
                <a:ea typeface="宋体" pitchFamily="2" charset="-122"/>
              </a:rPr>
              <a:t>.</a:t>
            </a:r>
            <a:endParaRPr lang="en-US" altLang="zh-TW" sz="2400">
              <a:ea typeface="新細明體" pitchFamily="18" charset="-120"/>
            </a:endParaRPr>
          </a:p>
          <a:p>
            <a:r>
              <a:rPr lang="en-US" altLang="zh-CN" sz="2400">
                <a:ea typeface="宋体" pitchFamily="2" charset="-122"/>
              </a:rPr>
              <a:t>Adjacent edge points with 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similar </a:t>
            </a:r>
            <a:r>
              <a:rPr lang="en-US" altLang="zh-CN" sz="2400">
                <a:ea typeface="宋体" pitchFamily="2" charset="-122"/>
              </a:rPr>
              <a:t>magnitude and direction are linked</a:t>
            </a:r>
            <a:r>
              <a:rPr lang="en-US" altLang="zh-TW" sz="2400">
                <a:ea typeface="新細明體" pitchFamily="18" charset="-120"/>
              </a:rPr>
              <a:t>.</a:t>
            </a:r>
          </a:p>
          <a:p>
            <a:r>
              <a:rPr lang="en-US" altLang="zh-TW" sz="2400">
                <a:ea typeface="新細明體" pitchFamily="18" charset="-120"/>
              </a:rPr>
              <a:t>For example, an edge pixel with coordinates (</a:t>
            </a:r>
            <a:r>
              <a:rPr lang="en-US" altLang="zh-TW" sz="2400" i="1">
                <a:ea typeface="新細明體" pitchFamily="18" charset="-120"/>
              </a:rPr>
              <a:t>x</a:t>
            </a:r>
            <a:r>
              <a:rPr lang="en-US" altLang="zh-TW" sz="2400" baseline="-25000">
                <a:ea typeface="新細明體" pitchFamily="18" charset="-120"/>
              </a:rPr>
              <a:t>0</a:t>
            </a:r>
            <a:r>
              <a:rPr lang="en-US" altLang="zh-TW" sz="2400">
                <a:ea typeface="新細明體" pitchFamily="18" charset="-120"/>
              </a:rPr>
              <a:t>,</a:t>
            </a:r>
            <a:r>
              <a:rPr lang="en-US" altLang="zh-TW" sz="2400" i="1">
                <a:ea typeface="新細明體" pitchFamily="18" charset="-120"/>
              </a:rPr>
              <a:t>y</a:t>
            </a:r>
            <a:r>
              <a:rPr lang="en-US" altLang="zh-TW" sz="2400" baseline="-25000">
                <a:ea typeface="新細明體" pitchFamily="18" charset="-120"/>
              </a:rPr>
              <a:t>0</a:t>
            </a:r>
            <a:r>
              <a:rPr lang="en-US" altLang="zh-TW" sz="2400">
                <a:ea typeface="新細明體" pitchFamily="18" charset="-120"/>
              </a:rPr>
              <a:t>) in a predefined neighborhood of (</a:t>
            </a:r>
            <a:r>
              <a:rPr lang="en-US" altLang="zh-TW" sz="2400" i="1">
                <a:ea typeface="新細明體" pitchFamily="18" charset="-120"/>
              </a:rPr>
              <a:t>x,y</a:t>
            </a:r>
            <a:r>
              <a:rPr lang="en-US" altLang="zh-TW" sz="2400">
                <a:ea typeface="新細明體" pitchFamily="18" charset="-120"/>
              </a:rPr>
              <a:t>) is similar to the pixel at (</a:t>
            </a:r>
            <a:r>
              <a:rPr lang="en-US" altLang="zh-TW" sz="2400" i="1">
                <a:ea typeface="新細明體" pitchFamily="18" charset="-120"/>
              </a:rPr>
              <a:t>x</a:t>
            </a:r>
            <a:r>
              <a:rPr lang="en-US" altLang="zh-TW" sz="2400">
                <a:ea typeface="新細明體" pitchFamily="18" charset="-120"/>
              </a:rPr>
              <a:t>,</a:t>
            </a:r>
            <a:r>
              <a:rPr lang="en-US" altLang="zh-TW" sz="2400" i="1">
                <a:ea typeface="新細明體" pitchFamily="18" charset="-120"/>
              </a:rPr>
              <a:t>y</a:t>
            </a:r>
            <a:r>
              <a:rPr lang="en-US" altLang="zh-TW" sz="2400">
                <a:ea typeface="新細明體" pitchFamily="18" charset="-120"/>
              </a:rPr>
              <a:t>) if</a:t>
            </a:r>
          </a:p>
        </p:txBody>
      </p:sp>
      <p:graphicFrame>
        <p:nvGraphicFramePr>
          <p:cNvPr id="23556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406525" y="5056188"/>
          <a:ext cx="66786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3365500" imgH="254000" progId="Equation.3">
                  <p:embed/>
                </p:oleObj>
              </mc:Choice>
              <mc:Fallback>
                <p:oleObj name="方程式" r:id="rId2" imgW="3365500" imgH="254000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5056188"/>
                        <a:ext cx="667861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13"/>
          <p:cNvGraphicFramePr>
            <a:graphicFrameLocks noChangeAspect="1"/>
          </p:cNvGraphicFramePr>
          <p:nvPr/>
        </p:nvGraphicFramePr>
        <p:xfrm>
          <a:off x="1404938" y="5561013"/>
          <a:ext cx="73469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3543300" imgH="254000" progId="Equation.3">
                  <p:embed/>
                </p:oleObj>
              </mc:Choice>
              <mc:Fallback>
                <p:oleObj name="方程式" r:id="rId4" imgW="3543300" imgH="254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8" y="5561013"/>
                        <a:ext cx="73469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603375" y="500063"/>
            <a:ext cx="5961063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Linking and Boundary Detection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Local Processing: Example</a:t>
            </a:r>
            <a:endParaRPr lang="en-US" altLang="zh-TW" dirty="0">
              <a:ea typeface="新細明體" pitchFamily="18" charset="-120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1370013"/>
            <a:ext cx="7540625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417513" y="4008438"/>
            <a:ext cx="213677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In this example,</a:t>
            </a:r>
          </a:p>
          <a:p>
            <a:r>
              <a:rPr lang="en-US" altLang="zh-TW">
                <a:ea typeface="新細明體" pitchFamily="18" charset="-120"/>
              </a:rPr>
              <a:t>we can find the</a:t>
            </a:r>
          </a:p>
          <a:p>
            <a:r>
              <a:rPr lang="en-US" altLang="zh-TW">
                <a:ea typeface="新細明體" pitchFamily="18" charset="-120"/>
              </a:rPr>
              <a:t>license plate </a:t>
            </a:r>
          </a:p>
          <a:p>
            <a:r>
              <a:rPr lang="en-US" altLang="zh-TW">
                <a:ea typeface="新細明體" pitchFamily="18" charset="-120"/>
              </a:rPr>
              <a:t>candidate after</a:t>
            </a:r>
          </a:p>
          <a:p>
            <a:r>
              <a:rPr lang="en-US" altLang="zh-TW">
                <a:ea typeface="新細明體" pitchFamily="18" charset="-120"/>
              </a:rPr>
              <a:t>edge linking</a:t>
            </a:r>
          </a:p>
          <a:p>
            <a:r>
              <a:rPr lang="en-US" altLang="zh-TW">
                <a:ea typeface="新細明體" pitchFamily="18" charset="-120"/>
              </a:rPr>
              <a:t>process.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671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dirty="0">
                <a:ea typeface="ＭＳ Ｐゴシック" pitchFamily="1" charset="-128"/>
              </a:rPr>
              <a:t>Effects of Noise</a:t>
            </a:r>
          </a:p>
        </p:txBody>
      </p:sp>
      <p:sp>
        <p:nvSpPr>
          <p:cNvPr id="781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400">
                <a:ea typeface="ＭＳ Ｐゴシック" pitchFamily="1" charset="-128"/>
              </a:rPr>
              <a:t>Consider a single row or column of the image</a:t>
            </a:r>
          </a:p>
          <a:p>
            <a:pPr lvl="1"/>
            <a:r>
              <a:rPr lang="en-US" altLang="ja-JP" sz="2000">
                <a:ea typeface="ＭＳ Ｐゴシック" pitchFamily="1" charset="-128"/>
              </a:rPr>
              <a:t>Plotting intensity as a function of position gives a signal</a:t>
            </a:r>
          </a:p>
        </p:txBody>
      </p:sp>
      <p:graphicFrame>
        <p:nvGraphicFramePr>
          <p:cNvPr id="781316" name="Object 4"/>
          <p:cNvGraphicFramePr>
            <a:graphicFrameLocks noChangeAspect="1"/>
          </p:cNvGraphicFramePr>
          <p:nvPr/>
        </p:nvGraphicFramePr>
        <p:xfrm>
          <a:off x="2122488" y="2133600"/>
          <a:ext cx="5018087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5885714" imgH="2219635" progId="MSPhotoEd.3">
                  <p:embed/>
                </p:oleObj>
              </mc:Choice>
              <mc:Fallback>
                <p:oleObj name="Photo Editor Photo" r:id="rId5" imgW="5885714" imgH="221963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2133600"/>
                        <a:ext cx="5018087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81317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846388"/>
            <a:ext cx="65087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81318" name="Group 6"/>
          <p:cNvGrpSpPr>
            <a:grpSpLocks/>
          </p:cNvGrpSpPr>
          <p:nvPr/>
        </p:nvGrpSpPr>
        <p:grpSpPr bwMode="auto">
          <a:xfrm>
            <a:off x="896938" y="4360863"/>
            <a:ext cx="6265862" cy="2420937"/>
            <a:chOff x="821" y="2747"/>
            <a:chExt cx="3947" cy="1525"/>
          </a:xfrm>
        </p:grpSpPr>
        <p:graphicFrame>
          <p:nvGraphicFramePr>
            <p:cNvPr id="781319" name="Object 7"/>
            <p:cNvGraphicFramePr>
              <a:graphicFrameLocks noChangeAspect="1"/>
            </p:cNvGraphicFramePr>
            <p:nvPr/>
          </p:nvGraphicFramePr>
          <p:xfrm>
            <a:off x="1547" y="2747"/>
            <a:ext cx="3221" cy="1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8" imgW="5915851" imgH="2029108" progId="MSPhotoEd.3">
                    <p:embed/>
                  </p:oleObj>
                </mc:Choice>
                <mc:Fallback>
                  <p:oleObj name="Photo Editor Photo" r:id="rId8" imgW="5915851" imgH="2029108" progId="MSPhotoEd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" y="2747"/>
                          <a:ext cx="3221" cy="1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81320" name="Picture 8" descr="txp_fi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" y="3134"/>
              <a:ext cx="622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81321" name="Rectangle 9"/>
            <p:cNvSpPr>
              <a:spLocks noChangeArrowheads="1"/>
            </p:cNvSpPr>
            <p:nvPr/>
          </p:nvSpPr>
          <p:spPr bwMode="auto">
            <a:xfrm>
              <a:off x="1451" y="3840"/>
              <a:ext cx="3242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ja-JP" sz="2800">
                  <a:ea typeface="ＭＳ Ｐゴシック" pitchFamily="1" charset="-128"/>
                </a:rPr>
                <a:t>Where is the edge??</a:t>
              </a:r>
              <a:endParaRPr lang="en-US" altLang="ja-JP" sz="2800" i="1">
                <a:ea typeface="ＭＳ Ｐゴシック" pitchFamily="1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18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ChangeArrowheads="1"/>
          </p:cNvSpPr>
          <p:nvPr/>
        </p:nvSpPr>
        <p:spPr bwMode="auto">
          <a:xfrm>
            <a:off x="762000" y="60198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>
                <a:ea typeface="ＭＳ Ｐゴシック" pitchFamily="1" charset="-128"/>
              </a:rPr>
              <a:t>Where is the edge?  </a:t>
            </a:r>
            <a:endParaRPr lang="en-US" altLang="ja-JP" sz="2400" i="1">
              <a:ea typeface="ＭＳ Ｐゴシック" pitchFamily="1" charset="-128"/>
            </a:endParaRPr>
          </a:p>
        </p:txBody>
      </p:sp>
      <p:sp>
        <p:nvSpPr>
          <p:cNvPr id="7833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>
                <a:ea typeface="ＭＳ Ｐゴシック" pitchFamily="1" charset="-128"/>
              </a:rPr>
              <a:t>Solution:  Smooth First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83364" name="Object 4"/>
          <p:cNvGraphicFramePr>
            <a:graphicFrameLocks noChangeAspect="1"/>
          </p:cNvGraphicFramePr>
          <p:nvPr/>
        </p:nvGraphicFramePr>
        <p:xfrm>
          <a:off x="1811338" y="868363"/>
          <a:ext cx="6418262" cy="499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8" imgW="6419048" imgH="5285714" progId="MSPhotoEd.3">
                  <p:embed/>
                </p:oleObj>
              </mc:Choice>
              <mc:Fallback>
                <p:oleObj name="Photo Editor Photo" r:id="rId8" imgW="6419048" imgH="5285714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868363"/>
                        <a:ext cx="6418262" cy="499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83365" name="Picture 5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3810000"/>
            <a:ext cx="685800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3366" name="Picture 6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4875213"/>
            <a:ext cx="13414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3367" name="Picture 7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5" y="1527175"/>
            <a:ext cx="173038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3368" name="Picture 8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5" y="2670175"/>
            <a:ext cx="173038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83369" name="Group 9"/>
          <p:cNvGrpSpPr>
            <a:grpSpLocks/>
          </p:cNvGrpSpPr>
          <p:nvPr/>
        </p:nvGrpSpPr>
        <p:grpSpPr bwMode="auto">
          <a:xfrm>
            <a:off x="4495800" y="6019800"/>
            <a:ext cx="3856038" cy="460375"/>
            <a:chOff x="2256" y="3982"/>
            <a:chExt cx="2429" cy="290"/>
          </a:xfrm>
        </p:grpSpPr>
        <p:pic>
          <p:nvPicPr>
            <p:cNvPr id="783370" name="Picture 10" descr="Edittex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" y="3982"/>
              <a:ext cx="845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83371" name="Rectangle 11"/>
            <p:cNvSpPr>
              <a:spLocks noChangeArrowheads="1"/>
            </p:cNvSpPr>
            <p:nvPr/>
          </p:nvSpPr>
          <p:spPr bwMode="auto">
            <a:xfrm>
              <a:off x="2256" y="3984"/>
              <a:ext cx="1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ja-JP" sz="2100">
                  <a:ea typeface="ＭＳ Ｐゴシック" pitchFamily="1" charset="-128"/>
                </a:rPr>
                <a:t>   Look for peaks in </a:t>
              </a:r>
              <a:endParaRPr lang="en-US" altLang="ja-JP" sz="2100" i="1">
                <a:ea typeface="ＭＳ Ｐゴシック" pitchFamily="1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842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5410" name="Object 2"/>
          <p:cNvGraphicFramePr>
            <a:graphicFrameLocks noChangeAspect="1"/>
          </p:cNvGraphicFramePr>
          <p:nvPr/>
        </p:nvGraphicFramePr>
        <p:xfrm>
          <a:off x="2185988" y="1905000"/>
          <a:ext cx="5721350" cy="462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7" imgW="6001588" imgH="4847619" progId="MSPhotoEd.3">
                  <p:embed/>
                </p:oleObj>
              </mc:Choice>
              <mc:Fallback>
                <p:oleObj name="Photo Editor Photo" r:id="rId7" imgW="6001588" imgH="4847619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1905000"/>
                        <a:ext cx="5721350" cy="462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5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>
                <a:ea typeface="ＭＳ Ｐゴシック" pitchFamily="1" charset="-128"/>
              </a:rPr>
              <a:t>Derivative Theorem of Convolution</a:t>
            </a:r>
          </a:p>
        </p:txBody>
      </p:sp>
      <p:sp>
        <p:nvSpPr>
          <p:cNvPr id="78541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sz="2000">
                <a:latin typeface="Palatino Linotype"/>
                <a:ea typeface="ＭＳ Ｐゴシック" pitchFamily="1" charset="-128"/>
              </a:rPr>
              <a:t>…</a:t>
            </a:r>
            <a:r>
              <a:rPr lang="en-US" altLang="ja-JP" sz="2000">
                <a:ea typeface="ＭＳ Ｐゴシック" pitchFamily="1" charset="-128"/>
              </a:rPr>
              <a:t>saves us one operation.</a:t>
            </a:r>
            <a:endParaRPr lang="en-US" altLang="ja-JP" sz="2000" i="1">
              <a:ea typeface="ＭＳ Ｐゴシック" pitchFamily="1" charset="-128"/>
            </a:endParaRPr>
          </a:p>
        </p:txBody>
      </p:sp>
      <p:pic>
        <p:nvPicPr>
          <p:cNvPr id="785413" name="Picture 5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19200"/>
            <a:ext cx="32226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5414" name="Picture 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2536825"/>
            <a:ext cx="173038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5415" name="Picture 7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3908425"/>
            <a:ext cx="5413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5416" name="Picture 8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432425"/>
            <a:ext cx="13414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2759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>
                <a:ea typeface="ＭＳ Ｐゴシック" pitchFamily="1" charset="-128"/>
              </a:rPr>
              <a:t>Laplacian of Gaussian (LoG)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87459" name="Object 3"/>
          <p:cNvGraphicFramePr>
            <a:graphicFrameLocks noChangeAspect="1"/>
          </p:cNvGraphicFramePr>
          <p:nvPr/>
        </p:nvGraphicFramePr>
        <p:xfrm>
          <a:off x="2009775" y="1981200"/>
          <a:ext cx="5822950" cy="407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6" imgW="6125430" imgH="4971429" progId="MSPhotoEd.3">
                  <p:embed/>
                </p:oleObj>
              </mc:Choice>
              <mc:Fallback>
                <p:oleObj name="Photo Editor Photo" r:id="rId6" imgW="6125430" imgH="4971429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1981200"/>
                        <a:ext cx="5822950" cy="407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87460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8" y="2546350"/>
            <a:ext cx="173037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7461" name="Picture 5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3694113"/>
            <a:ext cx="687387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7462" name="Picture 6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083175"/>
            <a:ext cx="1482725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7463" name="Text Box 7"/>
          <p:cNvSpPr txBox="1">
            <a:spLocks noChangeArrowheads="1"/>
          </p:cNvSpPr>
          <p:nvPr/>
        </p:nvSpPr>
        <p:spPr bwMode="auto">
          <a:xfrm>
            <a:off x="3754438" y="3551238"/>
            <a:ext cx="3532187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ja-JP">
                <a:ea typeface="ＭＳ Ｐゴシック" pitchFamily="1" charset="-128"/>
              </a:rPr>
              <a:t>Laplacian of Gaussian operator</a:t>
            </a:r>
          </a:p>
        </p:txBody>
      </p:sp>
      <p:sp>
        <p:nvSpPr>
          <p:cNvPr id="787464" name="Rectangle 8"/>
          <p:cNvSpPr>
            <a:spLocks noChangeArrowheads="1"/>
          </p:cNvSpPr>
          <p:nvPr/>
        </p:nvSpPr>
        <p:spPr bwMode="auto">
          <a:xfrm>
            <a:off x="685800" y="6172200"/>
            <a:ext cx="308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000">
                <a:ea typeface="ＭＳ Ｐゴシック" pitchFamily="1" charset="-128"/>
              </a:rPr>
              <a:t>Where is the edge?  </a:t>
            </a:r>
            <a:endParaRPr lang="en-US" altLang="ja-JP" sz="2000" i="1">
              <a:ea typeface="ＭＳ Ｐゴシック" pitchFamily="1" charset="-128"/>
            </a:endParaRPr>
          </a:p>
        </p:txBody>
      </p:sp>
      <p:sp>
        <p:nvSpPr>
          <p:cNvPr id="787465" name="Rectangle 9"/>
          <p:cNvSpPr>
            <a:spLocks noChangeArrowheads="1"/>
          </p:cNvSpPr>
          <p:nvPr/>
        </p:nvSpPr>
        <p:spPr bwMode="auto">
          <a:xfrm>
            <a:off x="3892550" y="6172200"/>
            <a:ext cx="3879850" cy="457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1900">
                <a:ea typeface="ＭＳ Ｐゴシック" pitchFamily="1" charset="-128"/>
              </a:rPr>
              <a:t>Zero-crossings of bottom graph !</a:t>
            </a:r>
            <a:endParaRPr lang="en-US" altLang="ja-JP" sz="1900" i="1">
              <a:ea typeface="ＭＳ Ｐゴシック" pitchFamily="1" charset="-128"/>
            </a:endParaRPr>
          </a:p>
        </p:txBody>
      </p:sp>
      <p:graphicFrame>
        <p:nvGraphicFramePr>
          <p:cNvPr id="787466" name="Object 10"/>
          <p:cNvGraphicFramePr>
            <a:graphicFrameLocks noChangeAspect="1"/>
          </p:cNvGraphicFramePr>
          <p:nvPr/>
        </p:nvGraphicFramePr>
        <p:xfrm>
          <a:off x="2286000" y="1090613"/>
          <a:ext cx="25273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36480" imgH="482400" progId="Equation.3">
                  <p:embed/>
                </p:oleObj>
              </mc:Choice>
              <mc:Fallback>
                <p:oleObj name="Equation" r:id="rId11" imgW="15364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090613"/>
                        <a:ext cx="25273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67" name="Rectangle 11"/>
          <p:cNvSpPr>
            <a:spLocks noChangeArrowheads="1"/>
          </p:cNvSpPr>
          <p:nvPr/>
        </p:nvSpPr>
        <p:spPr bwMode="auto">
          <a:xfrm>
            <a:off x="3571875" y="1066800"/>
            <a:ext cx="863600" cy="8382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7468" name="Line 12"/>
          <p:cNvSpPr>
            <a:spLocks noChangeShapeType="1"/>
          </p:cNvSpPr>
          <p:nvPr/>
        </p:nvSpPr>
        <p:spPr bwMode="auto">
          <a:xfrm flipH="1">
            <a:off x="4435475" y="1770063"/>
            <a:ext cx="110966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7469" name="Text Box 13"/>
          <p:cNvSpPr txBox="1">
            <a:spLocks noChangeArrowheads="1"/>
          </p:cNvSpPr>
          <p:nvPr/>
        </p:nvSpPr>
        <p:spPr bwMode="auto">
          <a:xfrm>
            <a:off x="5549900" y="1474788"/>
            <a:ext cx="2454275" cy="37623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ja-JP" sz="1800">
                <a:ea typeface="ＭＳ Ｐゴシック" pitchFamily="1" charset="-128"/>
              </a:rPr>
              <a:t>Laplacian of Gaussian</a:t>
            </a:r>
          </a:p>
        </p:txBody>
      </p:sp>
    </p:spTree>
    <p:extLst>
      <p:ext uri="{BB962C8B-B14F-4D97-AF65-F5344CB8AC3E}">
        <p14:creationId xmlns:p14="http://schemas.microsoft.com/office/powerpoint/2010/main" val="376524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46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>
                <a:ea typeface="ＭＳ Ｐゴシック" pitchFamily="1" charset="-128"/>
              </a:rPr>
              <a:t>Canny Edge Operator</a:t>
            </a:r>
          </a:p>
        </p:txBody>
      </p:sp>
      <p:sp>
        <p:nvSpPr>
          <p:cNvPr id="791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ja-JP" sz="2000" dirty="0">
                <a:ea typeface="ＭＳ Ｐゴシック" pitchFamily="1" charset="-128"/>
              </a:rPr>
              <a:t>Smooth image </a:t>
            </a:r>
            <a:r>
              <a:rPr lang="en-US" altLang="ja-JP" sz="2000" i="1" dirty="0">
                <a:ea typeface="ＭＳ Ｐゴシック" pitchFamily="1" charset="-128"/>
              </a:rPr>
              <a:t>I</a:t>
            </a:r>
            <a:r>
              <a:rPr lang="en-US" altLang="ja-JP" sz="2000" dirty="0">
                <a:ea typeface="ＭＳ Ｐゴシック" pitchFamily="1" charset="-128"/>
              </a:rPr>
              <a:t> with 2D Gaussian:</a:t>
            </a:r>
          </a:p>
          <a:p>
            <a:pPr>
              <a:lnSpc>
                <a:spcPct val="110000"/>
              </a:lnSpc>
            </a:pPr>
            <a:endParaRPr lang="en-US" altLang="ja-JP" sz="1200" i="1" dirty="0">
              <a:ea typeface="ＭＳ Ｐゴシック" pitchFamily="1" charset="-128"/>
            </a:endParaRPr>
          </a:p>
          <a:p>
            <a:pPr>
              <a:lnSpc>
                <a:spcPct val="110000"/>
              </a:lnSpc>
            </a:pPr>
            <a:r>
              <a:rPr lang="en-US" altLang="ja-JP" sz="2000" dirty="0">
                <a:ea typeface="ＭＳ Ｐゴシック" pitchFamily="1" charset="-128"/>
              </a:rPr>
              <a:t>Find local edge normal directions for each pixel</a:t>
            </a:r>
          </a:p>
          <a:p>
            <a:pPr>
              <a:lnSpc>
                <a:spcPct val="180000"/>
              </a:lnSpc>
            </a:pPr>
            <a:endParaRPr lang="en-US" altLang="ja-JP" sz="2000" dirty="0">
              <a:ea typeface="ＭＳ Ｐゴシック" pitchFamily="1" charset="-128"/>
            </a:endParaRPr>
          </a:p>
          <a:p>
            <a:pPr>
              <a:lnSpc>
                <a:spcPct val="110000"/>
              </a:lnSpc>
            </a:pPr>
            <a:endParaRPr lang="en-US" altLang="ja-JP" sz="2000" dirty="0">
              <a:ea typeface="ＭＳ Ｐゴシック" pitchFamily="1" charset="-128"/>
            </a:endParaRPr>
          </a:p>
          <a:p>
            <a:pPr>
              <a:lnSpc>
                <a:spcPct val="110000"/>
              </a:lnSpc>
            </a:pPr>
            <a:endParaRPr lang="en-US" altLang="ja-JP" sz="2000" dirty="0">
              <a:ea typeface="ＭＳ Ｐゴシック" pitchFamily="1" charset="-128"/>
            </a:endParaRPr>
          </a:p>
          <a:p>
            <a:pPr>
              <a:lnSpc>
                <a:spcPct val="110000"/>
              </a:lnSpc>
            </a:pPr>
            <a:r>
              <a:rPr lang="en-US" altLang="ja-JP" sz="2000" dirty="0">
                <a:ea typeface="ＭＳ Ｐゴシック" pitchFamily="1" charset="-128"/>
              </a:rPr>
              <a:t>Compute edge magnitudes</a:t>
            </a:r>
          </a:p>
          <a:p>
            <a:pPr>
              <a:lnSpc>
                <a:spcPct val="110000"/>
              </a:lnSpc>
            </a:pPr>
            <a:endParaRPr lang="en-US" altLang="ja-JP" sz="1200" dirty="0">
              <a:ea typeface="ＭＳ Ｐゴシック" pitchFamily="1" charset="-128"/>
            </a:endParaRPr>
          </a:p>
          <a:p>
            <a:pPr>
              <a:lnSpc>
                <a:spcPct val="110000"/>
              </a:lnSpc>
            </a:pPr>
            <a:r>
              <a:rPr lang="en-US" altLang="ja-JP" sz="2000" dirty="0">
                <a:ea typeface="ＭＳ Ｐゴシック" pitchFamily="1" charset="-128"/>
              </a:rPr>
              <a:t>Locate edges by finding zero-crossings along the edge normal directions (</a:t>
            </a:r>
            <a:r>
              <a:rPr lang="en-US" altLang="ja-JP" sz="2000" b="1" dirty="0">
                <a:ea typeface="ＭＳ Ｐゴシック" pitchFamily="1" charset="-128"/>
              </a:rPr>
              <a:t>non-maximum suppression</a:t>
            </a:r>
            <a:r>
              <a:rPr lang="en-US" altLang="ja-JP" sz="2000" dirty="0">
                <a:ea typeface="ＭＳ Ｐゴシック" pitchFamily="1" charset="-128"/>
              </a:rPr>
              <a:t>)</a:t>
            </a:r>
          </a:p>
          <a:p>
            <a:pPr>
              <a:lnSpc>
                <a:spcPct val="170000"/>
              </a:lnSpc>
            </a:pPr>
            <a:endParaRPr lang="en-US" altLang="ja-JP" sz="2000" dirty="0">
              <a:ea typeface="ＭＳ Ｐゴシック" pitchFamily="1" charset="-128"/>
            </a:endParaRPr>
          </a:p>
          <a:p>
            <a:pPr>
              <a:lnSpc>
                <a:spcPct val="110000"/>
              </a:lnSpc>
            </a:pPr>
            <a:endParaRPr lang="en-US" altLang="ja-JP" sz="2000" dirty="0">
              <a:ea typeface="ＭＳ Ｐゴシック" pitchFamily="1" charset="-128"/>
            </a:endParaRPr>
          </a:p>
          <a:p>
            <a:pPr>
              <a:lnSpc>
                <a:spcPct val="110000"/>
              </a:lnSpc>
            </a:pPr>
            <a:endParaRPr lang="en-US" altLang="ja-JP" sz="2000" dirty="0">
              <a:ea typeface="ＭＳ Ｐゴシック" pitchFamily="1" charset="-128"/>
            </a:endParaRPr>
          </a:p>
        </p:txBody>
      </p:sp>
      <p:graphicFrame>
        <p:nvGraphicFramePr>
          <p:cNvPr id="791556" name="Object 4"/>
          <p:cNvGraphicFramePr>
            <a:graphicFrameLocks noChangeAspect="1"/>
          </p:cNvGraphicFramePr>
          <p:nvPr/>
        </p:nvGraphicFramePr>
        <p:xfrm>
          <a:off x="3208338" y="2695575"/>
          <a:ext cx="17208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444240" progId="Equation.3">
                  <p:embed/>
                </p:oleObj>
              </mc:Choice>
              <mc:Fallback>
                <p:oleObj name="Equation" r:id="rId3" imgW="863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2695575"/>
                        <a:ext cx="17208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57" name="Object 5"/>
          <p:cNvGraphicFramePr>
            <a:graphicFrameLocks noChangeAspect="1"/>
          </p:cNvGraphicFramePr>
          <p:nvPr/>
        </p:nvGraphicFramePr>
        <p:xfrm>
          <a:off x="4953000" y="1504950"/>
          <a:ext cx="684213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720" imgH="177480" progId="Equation.3">
                  <p:embed/>
                </p:oleObj>
              </mc:Choice>
              <mc:Fallback>
                <p:oleObj name="Equation" r:id="rId5" imgW="3427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504950"/>
                        <a:ext cx="684213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58" name="Object 6"/>
          <p:cNvGraphicFramePr>
            <a:graphicFrameLocks noChangeAspect="1"/>
          </p:cNvGraphicFramePr>
          <p:nvPr/>
        </p:nvGraphicFramePr>
        <p:xfrm>
          <a:off x="3352800" y="5403850"/>
          <a:ext cx="16700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419040" progId="Equation.3">
                  <p:embed/>
                </p:oleObj>
              </mc:Choice>
              <mc:Fallback>
                <p:oleObj name="Equation" r:id="rId7" imgW="8380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03850"/>
                        <a:ext cx="16700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59" name="Object 7"/>
          <p:cNvGraphicFramePr>
            <a:graphicFrameLocks noChangeAspect="1"/>
          </p:cNvGraphicFramePr>
          <p:nvPr/>
        </p:nvGraphicFramePr>
        <p:xfrm>
          <a:off x="4238625" y="3886200"/>
          <a:ext cx="116363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83920" imgH="253800" progId="Equation.3">
                  <p:embed/>
                </p:oleObj>
              </mc:Choice>
              <mc:Fallback>
                <p:oleObj name="Equation" r:id="rId9" imgW="5839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5" y="3886200"/>
                        <a:ext cx="116363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6932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altLang="ja-JP" sz="3600">
                <a:ea typeface="ＭＳ Ｐゴシック" pitchFamily="1" charset="-128"/>
              </a:rPr>
              <a:t>Non-maximum Suppression</a:t>
            </a:r>
          </a:p>
        </p:txBody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143500"/>
            <a:ext cx="8229600" cy="982663"/>
          </a:xfrm>
        </p:spPr>
        <p:txBody>
          <a:bodyPr/>
          <a:lstStyle/>
          <a:p>
            <a:r>
              <a:rPr lang="en-US" altLang="ja-JP" sz="2000">
                <a:ea typeface="ＭＳ Ｐゴシック" pitchFamily="1" charset="-128"/>
              </a:rPr>
              <a:t>Check if pixel is local maximum along gradient direction</a:t>
            </a:r>
          </a:p>
          <a:p>
            <a:pPr lvl="1"/>
            <a:r>
              <a:rPr lang="en-US" altLang="ja-JP" sz="1800">
                <a:ea typeface="ＭＳ Ｐゴシック" pitchFamily="1" charset="-128"/>
              </a:rPr>
              <a:t>requires checking interpolated pixels p and r</a:t>
            </a:r>
          </a:p>
        </p:txBody>
      </p:sp>
      <p:pic>
        <p:nvPicPr>
          <p:cNvPr id="7936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360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9540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3606" name="Rectangle 6"/>
          <p:cNvSpPr>
            <a:spLocks noChangeArrowheads="1"/>
          </p:cNvSpPr>
          <p:nvPr/>
        </p:nvSpPr>
        <p:spPr bwMode="auto">
          <a:xfrm>
            <a:off x="628650" y="828675"/>
            <a:ext cx="7848600" cy="76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114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>
                <a:ea typeface="ＭＳ Ｐゴシック" pitchFamily="1" charset="-128"/>
              </a:rPr>
              <a:t>The Canny Edge Detector</a:t>
            </a:r>
          </a:p>
        </p:txBody>
      </p:sp>
      <p:sp>
        <p:nvSpPr>
          <p:cNvPr id="795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ja-JP" sz="2400">
                <a:ea typeface="ＭＳ Ｐゴシック" pitchFamily="1" charset="-128"/>
              </a:rPr>
              <a:t>original image (Lena)</a:t>
            </a:r>
          </a:p>
        </p:txBody>
      </p:sp>
      <p:pic>
        <p:nvPicPr>
          <p:cNvPr id="795652" name="Picture 4" descr="len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250950"/>
            <a:ext cx="438785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91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699" name="Picture 3" descr="canny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219200"/>
            <a:ext cx="4387850" cy="438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7700" name="Rectangle 4"/>
          <p:cNvSpPr>
            <a:spLocks noChangeArrowheads="1"/>
          </p:cNvSpPr>
          <p:nvPr/>
        </p:nvSpPr>
        <p:spPr bwMode="auto">
          <a:xfrm>
            <a:off x="685800" y="575945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800">
                <a:ea typeface="ＭＳ Ｐゴシック" pitchFamily="1" charset="-128"/>
              </a:rPr>
              <a:t>magnitude of the gradient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canny edge detector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592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746" name="Picture 2" descr="canny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0" y="1376363"/>
            <a:ext cx="4375150" cy="4375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9748" name="Picture 4" descr="len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371600"/>
            <a:ext cx="438785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749" name="Text Box 5"/>
          <p:cNvSpPr txBox="1">
            <a:spLocks noChangeArrowheads="1"/>
          </p:cNvSpPr>
          <p:nvPr/>
        </p:nvSpPr>
        <p:spPr bwMode="auto">
          <a:xfrm>
            <a:off x="5232400" y="5867400"/>
            <a:ext cx="3109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ja-JP" sz="1600">
                <a:ea typeface="ＭＳ Ｐゴシック" pitchFamily="1" charset="-128"/>
              </a:rPr>
              <a:t>After non-maximum suppression</a:t>
            </a:r>
          </a:p>
        </p:txBody>
      </p:sp>
      <p:sp>
        <p:nvSpPr>
          <p:cNvPr id="799753" name="Rectangle 9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ja-JP" sz="3600">
                <a:ea typeface="ＭＳ Ｐゴシック" pitchFamily="1" charset="-128"/>
              </a:rPr>
              <a:t>The Canny Edge Detector</a:t>
            </a:r>
          </a:p>
        </p:txBody>
      </p:sp>
    </p:spTree>
    <p:extLst>
      <p:ext uri="{BB962C8B-B14F-4D97-AF65-F5344CB8AC3E}">
        <p14:creationId xmlns:p14="http://schemas.microsoft.com/office/powerpoint/2010/main" val="2030215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59833"/>
            <a:ext cx="8229600" cy="2466330"/>
          </a:xfrm>
        </p:spPr>
        <p:txBody>
          <a:bodyPr/>
          <a:lstStyle/>
          <a:p>
            <a:r>
              <a:rPr lang="en-US" sz="1800" dirty="0"/>
              <a:t>An edge detection algorithm detects edges in an image by determining where the brightness/intensity of an image changes drastically.</a:t>
            </a:r>
          </a:p>
          <a:p>
            <a:r>
              <a:rPr lang="en-US" sz="1800" dirty="0"/>
              <a:t>For the Hough Transform algorithm, it is crucial to perform edge detection first to produce an edge image which will then be used as input into the algorithm.</a:t>
            </a:r>
            <a:endParaRPr lang="en-IN" sz="1800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74750" y="500063"/>
            <a:ext cx="6821488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Linking and Boundary Detection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Global Processing via the Hough Transform</a:t>
            </a:r>
            <a:endParaRPr lang="en-US" altLang="zh-TW" dirty="0">
              <a:ea typeface="新細明體" pitchFamily="18" charset="-120"/>
            </a:endParaRPr>
          </a:p>
        </p:txBody>
      </p:sp>
      <p:pic>
        <p:nvPicPr>
          <p:cNvPr id="88066" name="Picture 2" descr="https://miro.medium.com/v2/resize:fit:960/1*dIx2EJj7ZQMNWSpoOHwefw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494" y="1652155"/>
            <a:ext cx="6096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417884" y="3198168"/>
            <a:ext cx="43082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/>
              <a:t>Canny Edge Detection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3336360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3467100"/>
            <a:ext cx="7499350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1174750" y="500063"/>
            <a:ext cx="6821488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Linking and Boundary Detection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Global Processing via the Hough Transform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145463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>
                <a:ea typeface="新細明體" pitchFamily="18" charset="-120"/>
              </a:rPr>
              <a:t>Hough transform: </a:t>
            </a:r>
            <a:r>
              <a:rPr lang="en-US" altLang="zh-CN" sz="2400">
                <a:ea typeface="宋体" pitchFamily="2" charset="-122"/>
              </a:rPr>
              <a:t>a way of finding edge points in an image that lie along a straight line.</a:t>
            </a:r>
            <a:r>
              <a:rPr lang="en-US" altLang="zh-TW" sz="2000">
                <a:ea typeface="新細明體" pitchFamily="18" charset="-120"/>
              </a:rPr>
              <a:t> </a:t>
            </a:r>
          </a:p>
          <a:p>
            <a:r>
              <a:rPr lang="en-US" altLang="zh-TW" sz="2400">
                <a:ea typeface="新細明體" pitchFamily="18" charset="-120"/>
              </a:rPr>
              <a:t>Example: </a:t>
            </a:r>
            <a:r>
              <a:rPr lang="en-US" altLang="zh-TW" sz="2400" i="1">
                <a:ea typeface="新細明體" pitchFamily="18" charset="-120"/>
              </a:rPr>
              <a:t>xy</a:t>
            </a:r>
            <a:r>
              <a:rPr lang="en-US" altLang="zh-TW" sz="2400">
                <a:ea typeface="新細明體" pitchFamily="18" charset="-120"/>
              </a:rPr>
              <a:t>-plane v.s. </a:t>
            </a:r>
            <a:r>
              <a:rPr lang="en-US" altLang="zh-TW" sz="2400" i="1">
                <a:ea typeface="新細明體" pitchFamily="18" charset="-120"/>
              </a:rPr>
              <a:t>ab</a:t>
            </a:r>
            <a:r>
              <a:rPr lang="en-US" altLang="zh-TW" sz="2400">
                <a:ea typeface="新細明體" pitchFamily="18" charset="-120"/>
              </a:rPr>
              <a:t>-plane (parameter space)</a:t>
            </a:r>
          </a:p>
        </p:txBody>
      </p:sp>
      <p:graphicFrame>
        <p:nvGraphicFramePr>
          <p:cNvPr id="25605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2035175" y="2803525"/>
          <a:ext cx="19129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723586" imgH="228501" progId="Equation.3">
                  <p:embed/>
                </p:oleObj>
              </mc:Choice>
              <mc:Fallback>
                <p:oleObj name="方程式" r:id="rId3" imgW="723586" imgH="228501" progId="Equation.3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2803525"/>
                        <a:ext cx="191293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88473" y="441297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Problem: </a:t>
            </a:r>
            <a:r>
              <a:rPr lang="en-US"/>
              <a:t>Given set of points, use Hough transform to join these points. A(1,4), B(2,3) ,C(3,1) ,D(4,1) ,E(5,0)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1173" y="1478570"/>
            <a:ext cx="9029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Solution:</a:t>
            </a:r>
            <a:endParaRPr lang="en-US" dirty="0"/>
          </a:p>
          <a:p>
            <a:r>
              <a:rPr lang="en-US" dirty="0"/>
              <a:t>Lets think about equation of line that is y=</a:t>
            </a:r>
            <a:r>
              <a:rPr lang="en-US" dirty="0" err="1"/>
              <a:t>ax+b</a:t>
            </a:r>
            <a:r>
              <a:rPr lang="en-US" dirty="0"/>
              <a:t>.</a:t>
            </a:r>
          </a:p>
          <a:p>
            <a:r>
              <a:rPr lang="en-US" dirty="0"/>
              <a:t>Now, if we rewrite the same line equation by keeping b in LHS, then we get b=-</a:t>
            </a:r>
            <a:r>
              <a:rPr lang="en-US" dirty="0" err="1"/>
              <a:t>ax+y</a:t>
            </a:r>
            <a:r>
              <a:rPr lang="en-US" dirty="0"/>
              <a:t>. So if we write the same equation for point A(1,4), then consider x=1 and y=4 so that we will get b=-a+4. The following table shows all the equations for a given point</a:t>
            </a: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023" y="3746500"/>
            <a:ext cx="5829300" cy="311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1183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542123"/>
              </p:ext>
            </p:extLst>
          </p:nvPr>
        </p:nvGraphicFramePr>
        <p:xfrm>
          <a:off x="140630" y="1610591"/>
          <a:ext cx="8546169" cy="4525962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8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30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4327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Point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equations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Now a=0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New point (</a:t>
                      </a:r>
                      <a:r>
                        <a:rPr lang="en-IN" sz="1800" dirty="0" err="1">
                          <a:effectLst/>
                        </a:rPr>
                        <a:t>a,b</a:t>
                      </a:r>
                      <a:r>
                        <a:rPr lang="en-IN" sz="1800" dirty="0">
                          <a:effectLst/>
                        </a:rPr>
                        <a:t>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Now a=1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New point (a,b)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A(1,4)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b= -a+4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b= -(0)+4 =4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(0,4)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-(1)+4 =3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(1,3)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B(2,3)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-2a+3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b= -2(0)+3=3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(0,3)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-2(1)+3=1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(1,1)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C(3,1)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-3a+1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b= -3(0)+1=1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(0,1)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-3(1)+1=-2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(1,-2)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D(4,1)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-4a+1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-4(0)+1=1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(0,1)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b= -4(1)+1=3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(1,-3)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E(5,0)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-5a+0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b= -5(0)+0=0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(0,0)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b= -5(1)+0=-5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(1,-5)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292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913" y="695829"/>
            <a:ext cx="5186796" cy="598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1465256"/>
            <a:ext cx="35225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en-US" sz="1800" dirty="0">
                <a:solidFill>
                  <a:srgbClr val="222222"/>
                </a:solidFill>
                <a:latin typeface="Lato"/>
              </a:rPr>
              <a:t>Let us plot the new point on the graph as given below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455770"/>
              </p:ext>
            </p:extLst>
          </p:nvPr>
        </p:nvGraphicFramePr>
        <p:xfrm>
          <a:off x="228600" y="2089753"/>
          <a:ext cx="2369127" cy="459459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8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27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Point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New point (</a:t>
                      </a:r>
                      <a:r>
                        <a:rPr lang="en-IN" sz="1800" dirty="0" err="1">
                          <a:effectLst/>
                        </a:rPr>
                        <a:t>a,b</a:t>
                      </a:r>
                      <a:r>
                        <a:rPr lang="en-IN" sz="1800" dirty="0">
                          <a:effectLst/>
                        </a:rPr>
                        <a:t>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New point (</a:t>
                      </a:r>
                      <a:r>
                        <a:rPr lang="en-IN" sz="1800" dirty="0" err="1">
                          <a:effectLst/>
                        </a:rPr>
                        <a:t>a,b</a:t>
                      </a:r>
                      <a:r>
                        <a:rPr lang="en-IN" sz="1800" dirty="0">
                          <a:effectLst/>
                        </a:rPr>
                        <a:t>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A(1,4)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(0,4)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(1,3)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B(2,3)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(0,3)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(1,1)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C(3,1)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(0,1)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(1,-2)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kern="1200">
                          <a:effectLst/>
                        </a:rPr>
                        <a:t>D(4,1)</a:t>
                      </a:r>
                      <a:endParaRPr lang="en-IN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effectLst/>
                        </a:rPr>
                        <a:t>(0,1)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effectLst/>
                        </a:rPr>
                        <a:t>(1,-3)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E(5,0)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(0,0)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(1,-5)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3690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729" y="1573418"/>
            <a:ext cx="86927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can see that almost all line cross each other at a point (-1,5). So here now a=-1 and b =5.</a:t>
            </a:r>
          </a:p>
          <a:p>
            <a:r>
              <a:rPr lang="en-US" dirty="0"/>
              <a:t>Now let’s put these values in the y=</a:t>
            </a:r>
            <a:r>
              <a:rPr lang="en-US" dirty="0" err="1"/>
              <a:t>ax+b</a:t>
            </a:r>
            <a:r>
              <a:rPr lang="en-US" dirty="0"/>
              <a:t> equation so we get y=-1x+5 so y=-x+5 is the line equation that will link all the edges.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149969"/>
            <a:ext cx="3633355" cy="3607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7969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1174750" y="500063"/>
            <a:ext cx="6821488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Linking and Boundary Detection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Global Processing via the Hough Transform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26627" name="Rectangle 4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323118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dirty="0"/>
              <a:t>There is one flaw with representing lines in the form of </a:t>
            </a:r>
            <a:r>
              <a:rPr lang="en-US" sz="2400" i="1" dirty="0"/>
              <a:t>y = ax + b</a:t>
            </a:r>
            <a:r>
              <a:rPr lang="en-US" sz="2400" b="1" i="1" dirty="0"/>
              <a:t> </a:t>
            </a:r>
            <a:r>
              <a:rPr lang="en-US" sz="2400" dirty="0"/>
              <a:t>and the Hough Space with the slope and intercept. </a:t>
            </a:r>
          </a:p>
          <a:p>
            <a:r>
              <a:rPr lang="en-US" sz="2400" dirty="0"/>
              <a:t>In this form, the algorithm won’t be able to detect vertical lines because the slope </a:t>
            </a:r>
            <a:r>
              <a:rPr lang="en-US" sz="2400" i="1" dirty="0"/>
              <a:t>a</a:t>
            </a:r>
            <a:r>
              <a:rPr lang="en-US" sz="2400" dirty="0"/>
              <a:t> is undefined/infinity for vertical lines (Leavers, 1992).</a:t>
            </a:r>
          </a:p>
          <a:p>
            <a:r>
              <a:rPr lang="en-US" sz="2400" dirty="0"/>
              <a:t> Programmatically, this means that a computer would need an infinite amount of memory to represent all possible values of </a:t>
            </a:r>
            <a:r>
              <a:rPr lang="en-US" sz="2400" i="1" dirty="0"/>
              <a:t>a</a:t>
            </a:r>
            <a:r>
              <a:rPr lang="en-US" sz="2400" dirty="0"/>
              <a:t>.</a:t>
            </a:r>
          </a:p>
          <a:p>
            <a:r>
              <a:rPr lang="en-US" sz="2400" dirty="0"/>
              <a:t> To avoid this issue, a straight line is instead represented by a line called the normal line that passes through the origin and perpendicular to that straight line. The form of the normal line is ρ</a:t>
            </a:r>
            <a:r>
              <a:rPr lang="en-US" sz="2400" i="1" dirty="0"/>
              <a:t> = x cos(</a:t>
            </a:r>
            <a:r>
              <a:rPr lang="en-US" sz="2400" dirty="0"/>
              <a:t>θ</a:t>
            </a:r>
            <a:r>
              <a:rPr lang="en-US" sz="2400" i="1" dirty="0"/>
              <a:t>) + y sin(</a:t>
            </a:r>
            <a:r>
              <a:rPr lang="en-US" sz="2400" dirty="0"/>
              <a:t>θ</a:t>
            </a:r>
            <a:r>
              <a:rPr lang="en-US" sz="2400" i="1" dirty="0"/>
              <a:t>) </a:t>
            </a:r>
            <a:r>
              <a:rPr lang="en-US" sz="2400" dirty="0"/>
              <a:t>where ρ</a:t>
            </a:r>
            <a:r>
              <a:rPr lang="en-US" sz="2400" i="1" dirty="0"/>
              <a:t> </a:t>
            </a:r>
            <a:r>
              <a:rPr lang="en-US" sz="2400" dirty="0"/>
              <a:t>is the length of the normal line and θ is the angle between the normal line and the x axis.</a:t>
            </a:r>
            <a:endParaRPr lang="en-US" altLang="zh-TW" sz="2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3634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1174750" y="500063"/>
            <a:ext cx="6821488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Edge Linking and Boundary Detection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Global Processing via the Hough Transform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26627" name="Rectangle 4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466725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400" dirty="0">
                <a:ea typeface="宋体" pitchFamily="2" charset="-122"/>
              </a:rPr>
              <a:t>The Hough transform consists of finding all pairs of values of </a:t>
            </a:r>
            <a:r>
              <a:rPr lang="en-US" altLang="zh-CN" sz="2400" i="1" dirty="0">
                <a:ea typeface="宋体" pitchFamily="2" charset="-122"/>
                <a:sym typeface="Symbol" pitchFamily="18" charset="2"/>
              </a:rPr>
              <a:t></a:t>
            </a:r>
            <a:r>
              <a:rPr lang="en-US" altLang="zh-CN" sz="2400" dirty="0">
                <a:ea typeface="宋体" pitchFamily="2" charset="-122"/>
              </a:rPr>
              <a:t> and </a:t>
            </a:r>
            <a:r>
              <a:rPr lang="en-US" altLang="zh-CN" sz="2400" i="1" dirty="0">
                <a:ea typeface="宋体" pitchFamily="2" charset="-122"/>
                <a:sym typeface="Symbol" pitchFamily="18" charset="2"/>
              </a:rPr>
              <a:t></a:t>
            </a:r>
            <a:r>
              <a:rPr lang="en-US" altLang="zh-CN" sz="2400" dirty="0">
                <a:ea typeface="宋体" pitchFamily="2" charset="-122"/>
              </a:rPr>
              <a:t> which satisfy the equations that pass through (</a:t>
            </a:r>
            <a:r>
              <a:rPr lang="en-US" altLang="zh-CN" sz="2400" i="1" dirty="0" err="1">
                <a:ea typeface="宋体" pitchFamily="2" charset="-122"/>
              </a:rPr>
              <a:t>x</a:t>
            </a:r>
            <a:r>
              <a:rPr lang="en-US" altLang="zh-CN" sz="2400" dirty="0" err="1">
                <a:ea typeface="宋体" pitchFamily="2" charset="-122"/>
              </a:rPr>
              <a:t>,</a:t>
            </a:r>
            <a:r>
              <a:rPr lang="en-US" altLang="zh-CN" sz="2400" i="1" dirty="0" err="1">
                <a:ea typeface="宋体" pitchFamily="2" charset="-122"/>
              </a:rPr>
              <a:t>y</a:t>
            </a:r>
            <a:r>
              <a:rPr lang="en-US" altLang="zh-CN" sz="2400" dirty="0">
                <a:ea typeface="宋体" pitchFamily="2" charset="-122"/>
              </a:rPr>
              <a:t>).</a:t>
            </a:r>
            <a:endParaRPr lang="en-US" altLang="zh-TW" sz="2400" dirty="0">
              <a:ea typeface="新細明體" pitchFamily="18" charset="-120"/>
            </a:endParaRPr>
          </a:p>
          <a:p>
            <a:r>
              <a:rPr lang="en-US" altLang="zh-CN" sz="2400" dirty="0">
                <a:ea typeface="宋体" pitchFamily="2" charset="-122"/>
              </a:rPr>
              <a:t>These are accumulated in what is basically a 2-dimensional histogram.</a:t>
            </a:r>
            <a:endParaRPr lang="en-US" altLang="zh-TW" sz="2400" dirty="0">
              <a:ea typeface="新細明體" pitchFamily="18" charset="-120"/>
            </a:endParaRPr>
          </a:p>
          <a:p>
            <a:r>
              <a:rPr lang="en-US" altLang="zh-CN" sz="2400" dirty="0">
                <a:ea typeface="宋体" pitchFamily="2" charset="-122"/>
              </a:rPr>
              <a:t>When plotted these pairs of </a:t>
            </a:r>
            <a:r>
              <a:rPr lang="en-US" altLang="zh-CN" sz="2400" i="1" dirty="0">
                <a:ea typeface="宋体" pitchFamily="2" charset="-122"/>
                <a:sym typeface="Symbol" pitchFamily="18" charset="2"/>
              </a:rPr>
              <a:t></a:t>
            </a:r>
            <a:r>
              <a:rPr lang="en-US" altLang="zh-CN" sz="2400" dirty="0">
                <a:ea typeface="宋体" pitchFamily="2" charset="-122"/>
              </a:rPr>
              <a:t> and </a:t>
            </a:r>
            <a:r>
              <a:rPr lang="en-US" altLang="zh-CN" sz="2400" i="1" dirty="0">
                <a:ea typeface="宋体" pitchFamily="2" charset="-122"/>
                <a:sym typeface="Symbol" pitchFamily="18" charset="2"/>
              </a:rPr>
              <a:t></a:t>
            </a:r>
            <a:r>
              <a:rPr lang="en-US" altLang="zh-CN" sz="2400" dirty="0">
                <a:ea typeface="宋体" pitchFamily="2" charset="-122"/>
              </a:rPr>
              <a:t> will look like a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sine</a:t>
            </a:r>
            <a:r>
              <a:rPr lang="en-US" altLang="zh-CN" sz="2400" dirty="0">
                <a:ea typeface="宋体" pitchFamily="2" charset="-122"/>
              </a:rPr>
              <a:t> wave.  The process is repeated for all appropriate (</a:t>
            </a:r>
            <a:r>
              <a:rPr lang="en-US" altLang="zh-CN" sz="2400" i="1" dirty="0" err="1">
                <a:ea typeface="宋体" pitchFamily="2" charset="-122"/>
              </a:rPr>
              <a:t>x</a:t>
            </a:r>
            <a:r>
              <a:rPr lang="en-US" altLang="zh-CN" sz="2400" dirty="0" err="1">
                <a:ea typeface="宋体" pitchFamily="2" charset="-122"/>
              </a:rPr>
              <a:t>,</a:t>
            </a:r>
            <a:r>
              <a:rPr lang="en-US" altLang="zh-CN" sz="2400" i="1" dirty="0" err="1">
                <a:ea typeface="宋体" pitchFamily="2" charset="-122"/>
              </a:rPr>
              <a:t>y</a:t>
            </a:r>
            <a:r>
              <a:rPr lang="en-US" altLang="zh-CN" sz="2400" dirty="0">
                <a:ea typeface="宋体" pitchFamily="2" charset="-122"/>
              </a:rPr>
              <a:t>) locations.</a:t>
            </a:r>
          </a:p>
          <a:p>
            <a:endParaRPr lang="en-US" altLang="zh-TW" sz="2400" dirty="0">
              <a:ea typeface="新細明體" pitchFamily="18" charset="-120"/>
            </a:endParaRPr>
          </a:p>
        </p:txBody>
      </p:sp>
      <p:graphicFrame>
        <p:nvGraphicFramePr>
          <p:cNvPr id="26628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781675" y="5254625"/>
          <a:ext cx="25479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231366" imgH="203112" progId="Equation.3">
                  <p:embed/>
                </p:oleObj>
              </mc:Choice>
              <mc:Fallback>
                <p:oleObj name="方程式" r:id="rId2" imgW="1231366" imgH="203112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675" y="5254625"/>
                        <a:ext cx="25479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94325" y="1689100"/>
          <a:ext cx="3233738" cy="337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3466667" imgH="3619048" progId="Photoshop.Image.8">
                  <p:embed/>
                </p:oleObj>
              </mc:Choice>
              <mc:Fallback>
                <p:oleObj name="Image" r:id="rId4" imgW="3466667" imgH="3619048" progId="Photoshop.Image.8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325" y="1689100"/>
                        <a:ext cx="3233738" cy="337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561108" y="6081191"/>
            <a:ext cx="8219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https://sbme-tutorials.github.io/2021/cv/notes/4_week4.html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57300" y="540327"/>
            <a:ext cx="7590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the given image use Hough Transform to form the edge.</a:t>
            </a:r>
            <a:endParaRPr lang="en-IN" dirty="0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" y="1750137"/>
            <a:ext cx="3230161" cy="2541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5" y="1750137"/>
            <a:ext cx="5324475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819525" y="1215736"/>
            <a:ext cx="1311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963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41" y="968086"/>
            <a:ext cx="7199313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38635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27" y="1669473"/>
            <a:ext cx="4648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153892" y="1733049"/>
            <a:ext cx="3173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can be seen, the line passes through 4 points, point(3,3) is kept outside as it does not lie on the 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0307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443288" y="709613"/>
            <a:ext cx="2157412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29699" name="Rectangle 5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220075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>
                <a:ea typeface="新細明體" pitchFamily="18" charset="-120"/>
              </a:rPr>
              <a:t>Assumption: the range of intensity levels covered by objects of interest is different from the background. </a:t>
            </a:r>
          </a:p>
          <a:p>
            <a:endParaRPr lang="zh-TW" altLang="en-US" sz="2400">
              <a:ea typeface="新細明體" pitchFamily="18" charset="-120"/>
            </a:endParaRPr>
          </a:p>
        </p:txBody>
      </p:sp>
      <p:grpSp>
        <p:nvGrpSpPr>
          <p:cNvPr id="29700" name="Group 11"/>
          <p:cNvGrpSpPr>
            <a:grpSpLocks/>
          </p:cNvGrpSpPr>
          <p:nvPr/>
        </p:nvGrpSpPr>
        <p:grpSpPr bwMode="auto">
          <a:xfrm>
            <a:off x="1046163" y="3332163"/>
            <a:ext cx="6937375" cy="3336925"/>
            <a:chOff x="659" y="2099"/>
            <a:chExt cx="4370" cy="2102"/>
          </a:xfrm>
        </p:grpSpPr>
        <p:pic>
          <p:nvPicPr>
            <p:cNvPr id="29702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" y="2099"/>
              <a:ext cx="4370" cy="2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03" name="Text Box 6"/>
            <p:cNvSpPr txBox="1">
              <a:spLocks noChangeArrowheads="1"/>
            </p:cNvSpPr>
            <p:nvPr/>
          </p:nvSpPr>
          <p:spPr bwMode="auto">
            <a:xfrm>
              <a:off x="1179" y="3534"/>
              <a:ext cx="1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Single threshold</a:t>
              </a:r>
            </a:p>
          </p:txBody>
        </p:sp>
        <p:sp>
          <p:nvSpPr>
            <p:cNvPr id="29704" name="Text Box 7"/>
            <p:cNvSpPr txBox="1">
              <a:spLocks noChangeArrowheads="1"/>
            </p:cNvSpPr>
            <p:nvPr/>
          </p:nvSpPr>
          <p:spPr bwMode="auto">
            <a:xfrm>
              <a:off x="2939" y="3547"/>
              <a:ext cx="15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TW">
                  <a:ea typeface="新細明體" pitchFamily="18" charset="-120"/>
                </a:rPr>
                <a:t>Multiple threshold</a:t>
              </a:r>
            </a:p>
          </p:txBody>
        </p:sp>
      </p:grpSp>
      <p:graphicFrame>
        <p:nvGraphicFramePr>
          <p:cNvPr id="29701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1312863" y="2478088"/>
          <a:ext cx="393858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044700" imgH="457200" progId="Equation.3">
                  <p:embed/>
                </p:oleObj>
              </mc:Choice>
              <mc:Fallback>
                <p:oleObj name="方程式" r:id="rId3" imgW="2044700" imgH="457200" progId="Equation.3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2478088"/>
                        <a:ext cx="3938587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655888" y="500063"/>
            <a:ext cx="385921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The Role of Illumination</a:t>
            </a:r>
            <a:endParaRPr lang="en-US" altLang="zh-TW">
              <a:ea typeface="新細明體" pitchFamily="18" charset="-120"/>
            </a:endParaRPr>
          </a:p>
        </p:txBody>
      </p:sp>
      <p:graphicFrame>
        <p:nvGraphicFramePr>
          <p:cNvPr id="30723" name="Object 5"/>
          <p:cNvGraphicFramePr>
            <a:graphicFrameLocks noChangeAspect="1"/>
          </p:cNvGraphicFramePr>
          <p:nvPr/>
        </p:nvGraphicFramePr>
        <p:xfrm>
          <a:off x="1349375" y="1816100"/>
          <a:ext cx="3132138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65079" imgH="3377778" progId="Photoshop.Image.8">
                  <p:embed/>
                </p:oleObj>
              </mc:Choice>
              <mc:Fallback>
                <p:oleObj name="Image" r:id="rId2" imgW="4165079" imgH="3377778" progId="Photoshop.Imag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1816100"/>
                        <a:ext cx="3132138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6"/>
          <p:cNvGraphicFramePr>
            <a:graphicFrameLocks noChangeAspect="1"/>
          </p:cNvGraphicFramePr>
          <p:nvPr/>
        </p:nvGraphicFramePr>
        <p:xfrm>
          <a:off x="4660900" y="1751013"/>
          <a:ext cx="3290888" cy="262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4139683" imgH="3301587" progId="Photoshop.Image.8">
                  <p:embed/>
                </p:oleObj>
              </mc:Choice>
              <mc:Fallback>
                <p:oleObj name="Image" r:id="rId4" imgW="4139683" imgH="3301587" progId="Photoshop.Imag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1751013"/>
                        <a:ext cx="3290888" cy="262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7"/>
          <p:cNvGraphicFramePr>
            <a:graphicFrameLocks noChangeAspect="1"/>
          </p:cNvGraphicFramePr>
          <p:nvPr/>
        </p:nvGraphicFramePr>
        <p:xfrm>
          <a:off x="6929438" y="4524375"/>
          <a:ext cx="1852612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1853315" imgH="2006349" progId="Photoshop.Image.8">
                  <p:embed/>
                </p:oleObj>
              </mc:Choice>
              <mc:Fallback>
                <p:oleObj name="Image" r:id="rId6" imgW="1853315" imgH="2006349" progId="Photoshop.Imag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4524375"/>
                        <a:ext cx="1852612" cy="20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655888" y="500063"/>
            <a:ext cx="385921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The Role of Illumination</a:t>
            </a:r>
            <a:endParaRPr lang="en-US" altLang="zh-TW">
              <a:ea typeface="新細明體" pitchFamily="18" charset="-120"/>
            </a:endParaRPr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7040563" y="1625600"/>
          <a:ext cx="1866900" cy="501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866667" imgH="5015873" progId="Photoshop.Image.8">
                  <p:embed/>
                </p:oleObj>
              </mc:Choice>
              <mc:Fallback>
                <p:oleObj name="Image" r:id="rId2" imgW="1866667" imgH="5015873" progId="Photoshop.Imag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563" y="1625600"/>
                        <a:ext cx="1866900" cy="501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587375" y="1516063"/>
          <a:ext cx="3055938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4165079" imgH="3377778" progId="Photoshop.Image.8">
                  <p:embed/>
                </p:oleObj>
              </mc:Choice>
              <mc:Fallback>
                <p:oleObj name="Image" r:id="rId4" imgW="4165079" imgH="3377778" progId="Photoshop.Imag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1516063"/>
                        <a:ext cx="3055938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7"/>
          <p:cNvGraphicFramePr>
            <a:graphicFrameLocks noChangeAspect="1"/>
          </p:cNvGraphicFramePr>
          <p:nvPr/>
        </p:nvGraphicFramePr>
        <p:xfrm>
          <a:off x="587375" y="4075113"/>
          <a:ext cx="6237288" cy="251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8393651" imgH="3377778" progId="Photoshop.Image.8">
                  <p:embed/>
                </p:oleObj>
              </mc:Choice>
              <mc:Fallback>
                <p:oleObj name="Image" r:id="rId6" imgW="8393651" imgH="3377778" progId="Photoshop.Imag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4075113"/>
                        <a:ext cx="6237288" cy="251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8"/>
          <p:cNvGraphicFramePr>
            <a:graphicFrameLocks noChangeAspect="1"/>
          </p:cNvGraphicFramePr>
          <p:nvPr/>
        </p:nvGraphicFramePr>
        <p:xfrm>
          <a:off x="3765550" y="1538288"/>
          <a:ext cx="3076575" cy="241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4279365" imgH="3365079" progId="Photoshop.Image.8">
                  <p:embed/>
                </p:oleObj>
              </mc:Choice>
              <mc:Fallback>
                <p:oleObj name="Image" r:id="rId8" imgW="4279365" imgH="3365079" progId="Photoshop.Imag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550" y="1538288"/>
                        <a:ext cx="3076575" cy="241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9"/>
          <p:cNvSpPr txBox="1">
            <a:spLocks noChangeArrowheads="1"/>
          </p:cNvSpPr>
          <p:nvPr/>
        </p:nvSpPr>
        <p:spPr bwMode="auto">
          <a:xfrm>
            <a:off x="3190875" y="3557588"/>
            <a:ext cx="5222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(a)</a:t>
            </a:r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3741738" y="3544888"/>
            <a:ext cx="5222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(c)</a:t>
            </a:r>
          </a:p>
        </p:txBody>
      </p:sp>
      <p:sp>
        <p:nvSpPr>
          <p:cNvPr id="31753" name="Rectangle 11"/>
          <p:cNvSpPr>
            <a:spLocks noChangeArrowheads="1"/>
          </p:cNvSpPr>
          <p:nvPr/>
        </p:nvSpPr>
        <p:spPr bwMode="auto">
          <a:xfrm>
            <a:off x="3756025" y="4130675"/>
            <a:ext cx="5222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(e)</a:t>
            </a:r>
          </a:p>
        </p:txBody>
      </p:sp>
      <p:sp>
        <p:nvSpPr>
          <p:cNvPr id="31754" name="Rectangle 12"/>
          <p:cNvSpPr>
            <a:spLocks noChangeArrowheads="1"/>
          </p:cNvSpPr>
          <p:nvPr/>
        </p:nvSpPr>
        <p:spPr bwMode="auto">
          <a:xfrm>
            <a:off x="3160713" y="4114800"/>
            <a:ext cx="53975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(d)</a:t>
            </a:r>
          </a:p>
        </p:txBody>
      </p:sp>
      <p:graphicFrame>
        <p:nvGraphicFramePr>
          <p:cNvPr id="31755" name="Object 13"/>
          <p:cNvGraphicFramePr>
            <a:graphicFrameLocks noChangeAspect="1"/>
          </p:cNvGraphicFramePr>
          <p:nvPr/>
        </p:nvGraphicFramePr>
        <p:xfrm>
          <a:off x="711200" y="6126163"/>
          <a:ext cx="28940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409088" imgH="203112" progId="Equation.3">
                  <p:embed/>
                </p:oleObj>
              </mc:Choice>
              <mc:Fallback>
                <p:oleObj name="方程式" r:id="rId10" imgW="1409088" imgH="203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6126163"/>
                        <a:ext cx="2894013" cy="415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14"/>
          <p:cNvGraphicFramePr>
            <a:graphicFrameLocks noChangeAspect="1"/>
          </p:cNvGraphicFramePr>
          <p:nvPr/>
        </p:nvGraphicFramePr>
        <p:xfrm>
          <a:off x="5824538" y="3522663"/>
          <a:ext cx="8604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2" imgW="418918" imgH="203112" progId="Equation.3">
                  <p:embed/>
                </p:oleObj>
              </mc:Choice>
              <mc:Fallback>
                <p:oleObj name="方程式" r:id="rId12" imgW="418918" imgH="20311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3522663"/>
                        <a:ext cx="860425" cy="415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5"/>
          <p:cNvGraphicFramePr>
            <a:graphicFrameLocks noChangeAspect="1"/>
          </p:cNvGraphicFramePr>
          <p:nvPr/>
        </p:nvGraphicFramePr>
        <p:xfrm>
          <a:off x="635000" y="3560763"/>
          <a:ext cx="9128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4" imgW="444307" imgH="203112" progId="Equation.3">
                  <p:embed/>
                </p:oleObj>
              </mc:Choice>
              <mc:Fallback>
                <p:oleObj name="方程式" r:id="rId14" imgW="444307" imgH="20311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3560763"/>
                        <a:ext cx="912813" cy="415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370013"/>
            <a:ext cx="7259638" cy="523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2522538" y="500063"/>
            <a:ext cx="413067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Basic Global Thresholding</a:t>
            </a:r>
            <a:endParaRPr lang="en-US" altLang="zh-TW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1389063"/>
            <a:ext cx="5648325" cy="546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2522538" y="500063"/>
            <a:ext cx="413067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Basic Global Thresholding</a:t>
            </a:r>
            <a:endParaRPr lang="en-US" altLang="zh-TW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3" y="1504950"/>
            <a:ext cx="7980362" cy="514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2336800" y="500063"/>
            <a:ext cx="45053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Basic Adaptive Thresholding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2924175" y="4106863"/>
            <a:ext cx="779463" cy="1244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6122988" y="4111625"/>
            <a:ext cx="779462" cy="1244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5"/>
          <p:cNvSpPr txBox="1">
            <a:spLocks noChangeArrowheads="1"/>
          </p:cNvSpPr>
          <p:nvPr/>
        </p:nvSpPr>
        <p:spPr bwMode="auto">
          <a:xfrm>
            <a:off x="2336800" y="500063"/>
            <a:ext cx="45053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Basic Adaptive Thresholding</a:t>
            </a:r>
            <a:endParaRPr lang="en-US" altLang="zh-TW">
              <a:ea typeface="新細明體" pitchFamily="18" charset="-120"/>
            </a:endParaRPr>
          </a:p>
        </p:txBody>
      </p:sp>
      <p:graphicFrame>
        <p:nvGraphicFramePr>
          <p:cNvPr id="35843" name="Object 6"/>
          <p:cNvGraphicFramePr>
            <a:graphicFrameLocks noChangeAspect="1"/>
          </p:cNvGraphicFramePr>
          <p:nvPr/>
        </p:nvGraphicFramePr>
        <p:xfrm>
          <a:off x="1016000" y="1820863"/>
          <a:ext cx="5084763" cy="388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6628571" imgH="5066667" progId="Photoshop.Image.8">
                  <p:embed/>
                </p:oleObj>
              </mc:Choice>
              <mc:Fallback>
                <p:oleObj name="Image" r:id="rId2" imgW="6628571" imgH="5066667" progId="Photoshop.Imag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1820863"/>
                        <a:ext cx="5084763" cy="388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7"/>
          <p:cNvGraphicFramePr>
            <a:graphicFrameLocks noChangeAspect="1"/>
          </p:cNvGraphicFramePr>
          <p:nvPr/>
        </p:nvGraphicFramePr>
        <p:xfrm>
          <a:off x="6634163" y="3854450"/>
          <a:ext cx="2238375" cy="181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066291" imgH="863188" progId="Photoshop.Image.8">
                  <p:embed/>
                </p:oleObj>
              </mc:Choice>
              <mc:Fallback>
                <p:oleObj name="Image" r:id="rId4" imgW="1066291" imgH="863188" progId="Photoshop.Imag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3854450"/>
                        <a:ext cx="2238375" cy="181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8"/>
          <p:cNvGraphicFramePr>
            <a:graphicFrameLocks noChangeAspect="1"/>
          </p:cNvGraphicFramePr>
          <p:nvPr/>
        </p:nvGraphicFramePr>
        <p:xfrm>
          <a:off x="6704013" y="1827213"/>
          <a:ext cx="2181225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1041270" imgH="850794" progId="Photoshop.Image.8">
                  <p:embed/>
                </p:oleObj>
              </mc:Choice>
              <mc:Fallback>
                <p:oleObj name="Image" r:id="rId6" imgW="1041270" imgH="850794" progId="Photoshop.Imag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4013" y="1827213"/>
                        <a:ext cx="2181225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AutoShape 9"/>
          <p:cNvSpPr>
            <a:spLocks noChangeArrowheads="1"/>
          </p:cNvSpPr>
          <p:nvPr/>
        </p:nvSpPr>
        <p:spPr bwMode="auto">
          <a:xfrm>
            <a:off x="6175375" y="2622550"/>
            <a:ext cx="434975" cy="420688"/>
          </a:xfrm>
          <a:prstGeom prst="rightArrow">
            <a:avLst>
              <a:gd name="adj1" fmla="val 50000"/>
              <a:gd name="adj2" fmla="val 25849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35847" name="AutoShape 10"/>
          <p:cNvSpPr>
            <a:spLocks noChangeArrowheads="1"/>
          </p:cNvSpPr>
          <p:nvPr/>
        </p:nvSpPr>
        <p:spPr bwMode="auto">
          <a:xfrm>
            <a:off x="6151563" y="4548188"/>
            <a:ext cx="434975" cy="420687"/>
          </a:xfrm>
          <a:prstGeom prst="rightArrow">
            <a:avLst>
              <a:gd name="adj1" fmla="val 50000"/>
              <a:gd name="adj2" fmla="val 25849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35848" name="Text Box 12"/>
          <p:cNvSpPr txBox="1">
            <a:spLocks noChangeArrowheads="1"/>
          </p:cNvSpPr>
          <p:nvPr/>
        </p:nvSpPr>
        <p:spPr bwMode="auto">
          <a:xfrm>
            <a:off x="4373563" y="5775325"/>
            <a:ext cx="3551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How to solve this problem?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4265613"/>
            <a:ext cx="8428037" cy="145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336800" y="500063"/>
            <a:ext cx="45053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Basic Adaptive Thresholding</a:t>
            </a:r>
            <a:endParaRPr lang="en-US" altLang="zh-TW">
              <a:ea typeface="新細明體" pitchFamily="18" charset="-120"/>
            </a:endParaRPr>
          </a:p>
        </p:txBody>
      </p:sp>
      <p:graphicFrame>
        <p:nvGraphicFramePr>
          <p:cNvPr id="36868" name="Object 5"/>
          <p:cNvGraphicFramePr>
            <a:graphicFrameLocks noChangeAspect="1"/>
          </p:cNvGraphicFramePr>
          <p:nvPr/>
        </p:nvGraphicFramePr>
        <p:xfrm>
          <a:off x="558800" y="1846263"/>
          <a:ext cx="8289925" cy="214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9815873" imgH="2539683" progId="Photoshop.Image.8">
                  <p:embed/>
                </p:oleObj>
              </mc:Choice>
              <mc:Fallback>
                <p:oleObj name="Image" r:id="rId3" imgW="9815873" imgH="2539683" progId="Photoshop.Imag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846263"/>
                        <a:ext cx="8289925" cy="214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3521075" y="4262438"/>
            <a:ext cx="2698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Answer: subdivision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8" y="4189413"/>
            <a:ext cx="7312025" cy="245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1271588" y="500063"/>
            <a:ext cx="6656387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Optimal Global and Adaptive Thresholding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3789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6868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>
                <a:ea typeface="新細明體" pitchFamily="18" charset="-120"/>
              </a:rPr>
              <a:t>This method treats pixel values as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probability density functions</a:t>
            </a:r>
            <a:r>
              <a:rPr lang="en-US" altLang="zh-TW" sz="2400">
                <a:ea typeface="新細明體" pitchFamily="18" charset="-120"/>
              </a:rPr>
              <a:t>.  </a:t>
            </a:r>
          </a:p>
          <a:p>
            <a:r>
              <a:rPr lang="en-US" altLang="zh-TW" sz="2400">
                <a:ea typeface="新細明體" pitchFamily="18" charset="-120"/>
              </a:rPr>
              <a:t>The goal of this method is to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minimize the probability of misclassifying pixels</a:t>
            </a:r>
            <a:r>
              <a:rPr lang="en-US" altLang="zh-TW" sz="2400">
                <a:ea typeface="新細明體" pitchFamily="18" charset="-120"/>
              </a:rPr>
              <a:t> as either object or background.  </a:t>
            </a:r>
          </a:p>
          <a:p>
            <a:r>
              <a:rPr lang="en-US" altLang="zh-TW" sz="2400">
                <a:ea typeface="新細明體" pitchFamily="18" charset="-120"/>
              </a:rPr>
              <a:t>There are two kinds of error: 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mislabeling an object pixel as background, and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mislabeling a background pixel as object.</a:t>
            </a:r>
            <a:endParaRPr lang="zh-TW" altLang="en-US" sz="240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722438"/>
            <a:ext cx="8234363" cy="485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2065338" y="500063"/>
            <a:ext cx="50895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Use of Boundary Characteristics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2097088"/>
            <a:ext cx="8558212" cy="351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939" name="Text Box 4"/>
          <p:cNvSpPr txBox="1">
            <a:spLocks noChangeArrowheads="1"/>
          </p:cNvSpPr>
          <p:nvPr/>
        </p:nvSpPr>
        <p:spPr bwMode="auto">
          <a:xfrm>
            <a:off x="1552575" y="500063"/>
            <a:ext cx="613092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Thresholding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Thresholds Based on Several Variables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927100" y="1593850"/>
            <a:ext cx="1697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Color image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257425" y="815975"/>
            <a:ext cx="4538663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Region-Based Segmentation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40963" name="Rectangle 5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800" dirty="0">
                <a:ea typeface="新細明體" pitchFamily="18" charset="-120"/>
              </a:rPr>
              <a:t>Edges and thresholds sometimes do not give good results for segmentation.</a:t>
            </a:r>
          </a:p>
          <a:p>
            <a:r>
              <a:rPr lang="en-US" altLang="zh-TW" sz="2800" dirty="0">
                <a:ea typeface="新細明體" pitchFamily="18" charset="-120"/>
              </a:rPr>
              <a:t>Region-based segmentation is based on the connectivity of similar pixels in a region.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Each region must be uniform. 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Connectivity of the pixels within the region is very important.  </a:t>
            </a:r>
          </a:p>
          <a:p>
            <a:r>
              <a:rPr lang="en-US" altLang="zh-TW" sz="2800" dirty="0">
                <a:ea typeface="新細明體" pitchFamily="18" charset="-120"/>
              </a:rPr>
              <a:t>There are two main approaches to region-based segmentation: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region growing</a:t>
            </a:r>
            <a:r>
              <a:rPr lang="en-US" altLang="zh-TW" sz="2800" dirty="0">
                <a:ea typeface="新細明體" pitchFamily="18" charset="-120"/>
              </a:rPr>
              <a:t> and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region splitting</a:t>
            </a:r>
            <a:r>
              <a:rPr lang="en-US" altLang="zh-TW" sz="2800" dirty="0">
                <a:ea typeface="新細明體" pitchFamily="18" charset="-120"/>
              </a:rPr>
              <a:t>. </a:t>
            </a:r>
            <a:endParaRPr lang="zh-TW" altLang="en-US" sz="2800" dirty="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570" y="3403600"/>
            <a:ext cx="4857750" cy="345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2893"/>
            <a:ext cx="4800600" cy="324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37464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2466" name="Picture 2" descr="https://d3i71xaburhd42.cloudfront.net/b5babd20d9409d3dfef8fc84c196fbeacc616247/1-Figure1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84" y="2041091"/>
            <a:ext cx="6667500" cy="300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0017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2227263" y="546100"/>
            <a:ext cx="453866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Region-Based Segmentation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Basic Formulation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234363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>
                <a:ea typeface="新細明體" pitchFamily="18" charset="-120"/>
              </a:rPr>
              <a:t> Let 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>
                <a:ea typeface="新細明體" pitchFamily="18" charset="-120"/>
              </a:rPr>
              <a:t> represent the entire image region.</a:t>
            </a:r>
          </a:p>
          <a:p>
            <a:r>
              <a:rPr lang="en-US" altLang="zh-TW" sz="2400">
                <a:ea typeface="新細明體" pitchFamily="18" charset="-120"/>
              </a:rPr>
              <a:t>Segmentation is a process that partitions 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>
                <a:ea typeface="新細明體" pitchFamily="18" charset="-120"/>
              </a:rPr>
              <a:t> into  subregions, 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 i="1" baseline="-25000">
                <a:ea typeface="新細明體" pitchFamily="18" charset="-120"/>
              </a:rPr>
              <a:t>1</a:t>
            </a:r>
            <a:r>
              <a:rPr lang="en-US" altLang="zh-TW" sz="2400">
                <a:ea typeface="新細明體" pitchFamily="18" charset="-120"/>
              </a:rPr>
              <a:t>,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 i="1" baseline="-25000">
                <a:ea typeface="新細明體" pitchFamily="18" charset="-120"/>
              </a:rPr>
              <a:t>2</a:t>
            </a:r>
            <a:r>
              <a:rPr lang="en-US" altLang="zh-TW" sz="2400">
                <a:ea typeface="新細明體" pitchFamily="18" charset="-120"/>
              </a:rPr>
              <a:t>,…,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 i="1" baseline="-25000">
                <a:ea typeface="新細明體" pitchFamily="18" charset="-120"/>
              </a:rPr>
              <a:t>n</a:t>
            </a:r>
            <a:r>
              <a:rPr lang="en-US" altLang="zh-TW" sz="2400">
                <a:ea typeface="新細明體" pitchFamily="18" charset="-120"/>
              </a:rPr>
              <a:t>, such that </a:t>
            </a:r>
          </a:p>
          <a:p>
            <a:endParaRPr lang="zh-TW" altLang="en-US" sz="2400">
              <a:ea typeface="新細明體" pitchFamily="18" charset="-120"/>
            </a:endParaRPr>
          </a:p>
          <a:p>
            <a:endParaRPr lang="zh-TW" altLang="en-US" sz="2400">
              <a:ea typeface="新細明體" pitchFamily="18" charset="-120"/>
            </a:endParaRPr>
          </a:p>
          <a:p>
            <a:endParaRPr lang="zh-TW" altLang="en-US" sz="2400">
              <a:ea typeface="新細明體" pitchFamily="18" charset="-120"/>
            </a:endParaRPr>
          </a:p>
          <a:p>
            <a:endParaRPr lang="zh-TW" altLang="en-US" sz="2400">
              <a:ea typeface="新細明體" pitchFamily="18" charset="-120"/>
            </a:endParaRPr>
          </a:p>
          <a:p>
            <a:endParaRPr lang="zh-TW" altLang="en-US" sz="2400">
              <a:ea typeface="新細明體" pitchFamily="18" charset="-120"/>
            </a:endParaRPr>
          </a:p>
          <a:p>
            <a:endParaRPr lang="zh-TW" altLang="en-US" sz="2400">
              <a:ea typeface="新細明體" pitchFamily="18" charset="-120"/>
            </a:endParaRPr>
          </a:p>
          <a:p>
            <a:pPr>
              <a:buFontTx/>
              <a:buNone/>
            </a:pPr>
            <a:r>
              <a:rPr lang="en-US" altLang="zh-TW" sz="2400">
                <a:ea typeface="新細明體" pitchFamily="18" charset="-120"/>
              </a:rPr>
              <a:t> where </a:t>
            </a:r>
            <a:r>
              <a:rPr lang="en-US" altLang="zh-TW" sz="2400" i="1">
                <a:ea typeface="新細明體" pitchFamily="18" charset="-120"/>
              </a:rPr>
              <a:t>P</a:t>
            </a:r>
            <a:r>
              <a:rPr lang="en-US" altLang="zh-TW" sz="2400">
                <a:ea typeface="新細明體" pitchFamily="18" charset="-120"/>
              </a:rPr>
              <a:t>(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 i="1" baseline="-25000">
                <a:ea typeface="新細明體" pitchFamily="18" charset="-120"/>
              </a:rPr>
              <a:t>k</a:t>
            </a:r>
            <a:r>
              <a:rPr lang="en-US" altLang="zh-TW" sz="2400">
                <a:ea typeface="新細明體" pitchFamily="18" charset="-120"/>
              </a:rPr>
              <a:t>): a logical predicate defined over the points in set 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 i="1" baseline="-25000">
                <a:ea typeface="新細明體" pitchFamily="18" charset="-120"/>
              </a:rPr>
              <a:t>k</a:t>
            </a:r>
          </a:p>
          <a:p>
            <a:pPr>
              <a:buFontTx/>
              <a:buNone/>
            </a:pPr>
            <a:r>
              <a:rPr lang="en-US" altLang="zh-TW" sz="2400">
                <a:ea typeface="新細明體" pitchFamily="18" charset="-120"/>
              </a:rPr>
              <a:t> 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For example</a:t>
            </a:r>
            <a:r>
              <a:rPr lang="en-US" altLang="zh-TW" sz="2400">
                <a:ea typeface="新細明體" pitchFamily="18" charset="-120"/>
              </a:rPr>
              <a:t>: </a:t>
            </a:r>
            <a:r>
              <a:rPr lang="en-US" altLang="zh-TW" sz="2400" i="1">
                <a:ea typeface="新細明體" pitchFamily="18" charset="-120"/>
              </a:rPr>
              <a:t>P</a:t>
            </a:r>
            <a:r>
              <a:rPr lang="en-US" altLang="zh-TW" sz="2400">
                <a:ea typeface="新細明體" pitchFamily="18" charset="-120"/>
              </a:rPr>
              <a:t>(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 i="1" baseline="-25000">
                <a:ea typeface="新細明體" pitchFamily="18" charset="-120"/>
              </a:rPr>
              <a:t>k</a:t>
            </a:r>
            <a:r>
              <a:rPr lang="en-US" altLang="zh-TW" sz="2400">
                <a:ea typeface="新細明體" pitchFamily="18" charset="-120"/>
              </a:rPr>
              <a:t>)=TRUE if all pixels in </a:t>
            </a:r>
            <a:r>
              <a:rPr lang="en-US" altLang="zh-TW" sz="2400" i="1">
                <a:ea typeface="新細明體" pitchFamily="18" charset="-120"/>
              </a:rPr>
              <a:t>R</a:t>
            </a:r>
            <a:r>
              <a:rPr lang="en-US" altLang="zh-TW" sz="2400" i="1" baseline="-25000">
                <a:ea typeface="新細明體" pitchFamily="18" charset="-120"/>
              </a:rPr>
              <a:t>k </a:t>
            </a:r>
            <a:r>
              <a:rPr lang="en-US" altLang="zh-TW" sz="2400">
                <a:ea typeface="新細明體" pitchFamily="18" charset="-120"/>
              </a:rPr>
              <a:t>have the same gray level.</a:t>
            </a:r>
          </a:p>
        </p:txBody>
      </p:sp>
      <p:graphicFrame>
        <p:nvGraphicFramePr>
          <p:cNvPr id="4198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46150" y="2806700"/>
          <a:ext cx="18637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812447" imgH="368140" progId="Equation.3">
                  <p:embed/>
                </p:oleObj>
              </mc:Choice>
              <mc:Fallback>
                <p:oleObj name="方程式" r:id="rId2" imgW="812447" imgH="36814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2806700"/>
                        <a:ext cx="18637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69963" y="4076700"/>
          <a:ext cx="44592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159000" imgH="241300" progId="Equation.3">
                  <p:embed/>
                </p:oleObj>
              </mc:Choice>
              <mc:Fallback>
                <p:oleObj name="方程式" r:id="rId4" imgW="2159000" imgH="241300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4076700"/>
                        <a:ext cx="445928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10"/>
          <p:cNvGraphicFramePr>
            <a:graphicFrameLocks noChangeAspect="1"/>
          </p:cNvGraphicFramePr>
          <p:nvPr/>
        </p:nvGraphicFramePr>
        <p:xfrm>
          <a:off x="955675" y="3625850"/>
          <a:ext cx="52292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2387600" imgH="228600" progId="Equation.3">
                  <p:embed/>
                </p:oleObj>
              </mc:Choice>
              <mc:Fallback>
                <p:oleObj name="方程式" r:id="rId6" imgW="23876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3625850"/>
                        <a:ext cx="522922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11"/>
          <p:cNvGraphicFramePr>
            <a:graphicFrameLocks noChangeAspect="1"/>
          </p:cNvGraphicFramePr>
          <p:nvPr/>
        </p:nvGraphicFramePr>
        <p:xfrm>
          <a:off x="976313" y="4543425"/>
          <a:ext cx="42767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2070100" imgH="228600" progId="Equation.3">
                  <p:embed/>
                </p:oleObj>
              </mc:Choice>
              <mc:Fallback>
                <p:oleObj name="方程式" r:id="rId8" imgW="20701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4543425"/>
                        <a:ext cx="42767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12"/>
          <p:cNvGraphicFramePr>
            <a:graphicFrameLocks noChangeAspect="1"/>
          </p:cNvGraphicFramePr>
          <p:nvPr/>
        </p:nvGraphicFramePr>
        <p:xfrm>
          <a:off x="944563" y="4994275"/>
          <a:ext cx="75803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3670300" imgH="241300" progId="Equation.3">
                  <p:embed/>
                </p:oleObj>
              </mc:Choice>
              <mc:Fallback>
                <p:oleObj name="方程式" r:id="rId10" imgW="36703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4994275"/>
                        <a:ext cx="75803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 Growing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charset="0"/>
              <a:buAutoNum type="arabicPeriod"/>
            </a:pPr>
            <a:r>
              <a:rPr lang="en-US" altLang="en-US" sz="2400" dirty="0"/>
              <a:t>Region growing is a procedure that groups pixels or </a:t>
            </a:r>
            <a:r>
              <a:rPr lang="en-US" altLang="en-US" sz="2400" dirty="0" err="1"/>
              <a:t>subregions</a:t>
            </a:r>
            <a:r>
              <a:rPr lang="en-US" altLang="en-US" sz="2400" dirty="0"/>
              <a:t> into larger regions. 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altLang="en-US" sz="2400" dirty="0"/>
              <a:t>The simplest of these approaches is </a:t>
            </a:r>
            <a:r>
              <a:rPr lang="en-US" altLang="en-US" sz="2400" b="1" i="1" dirty="0">
                <a:solidFill>
                  <a:srgbClr val="FF0000"/>
                </a:solidFill>
              </a:rPr>
              <a:t>pixel aggregation</a:t>
            </a:r>
            <a:r>
              <a:rPr lang="en-US" altLang="en-US" sz="2400" dirty="0"/>
              <a:t>, which starts with a set of “</a:t>
            </a:r>
            <a:r>
              <a:rPr lang="en-US" altLang="en-US" sz="2400" dirty="0">
                <a:solidFill>
                  <a:srgbClr val="FF3300"/>
                </a:solidFill>
              </a:rPr>
              <a:t>seed</a:t>
            </a:r>
            <a:r>
              <a:rPr lang="en-US" altLang="en-US" sz="2400" dirty="0"/>
              <a:t>” points and from these grows regions by appending to each seed points those </a:t>
            </a:r>
            <a:r>
              <a:rPr lang="en-US" altLang="en-US" sz="2400" b="1" dirty="0"/>
              <a:t>neighboring pixels</a:t>
            </a:r>
            <a:r>
              <a:rPr lang="en-US" altLang="en-US" sz="2400" dirty="0"/>
              <a:t> that have </a:t>
            </a:r>
            <a:r>
              <a:rPr lang="en-US" altLang="en-US" sz="2400" b="1" dirty="0"/>
              <a:t>similar properties</a:t>
            </a:r>
            <a:r>
              <a:rPr lang="en-US" altLang="en-US" sz="2400" dirty="0"/>
              <a:t> (such as gray level, texture, color, shape).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altLang="en-US" sz="2400" dirty="0"/>
              <a:t>Region growing based techniques are better than the edge-based techniques in noisy images where edges are difficult to detect. </a:t>
            </a:r>
          </a:p>
          <a:p>
            <a:pPr marL="457200" indent="-457200">
              <a:buFont typeface="Arial" charset="0"/>
              <a:buNone/>
            </a:pPr>
            <a:endParaRPr lang="en-US" alt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043303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 Growing</a:t>
            </a:r>
          </a:p>
        </p:txBody>
      </p:sp>
      <p:pic>
        <p:nvPicPr>
          <p:cNvPr id="6553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22" y="2060431"/>
            <a:ext cx="86391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38991" y="3155806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Threshold=10</a:t>
            </a:r>
            <a:r>
              <a:rPr lang="en-IN" dirty="0"/>
              <a:t> </a:t>
            </a:r>
          </a:p>
        </p:txBody>
      </p:sp>
      <p:graphicFrame>
        <p:nvGraphicFramePr>
          <p:cNvPr id="9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291827"/>
              </p:ext>
            </p:extLst>
          </p:nvPr>
        </p:nvGraphicFramePr>
        <p:xfrm>
          <a:off x="3108566" y="3386638"/>
          <a:ext cx="2677486" cy="24305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9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8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4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218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4130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142149"/>
              </p:ext>
            </p:extLst>
          </p:nvPr>
        </p:nvGraphicFramePr>
        <p:xfrm>
          <a:off x="169625" y="1528411"/>
          <a:ext cx="2677486" cy="24305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9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8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4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218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11611"/>
              </p:ext>
            </p:extLst>
          </p:nvPr>
        </p:nvGraphicFramePr>
        <p:xfrm>
          <a:off x="3013363" y="1569028"/>
          <a:ext cx="2628899" cy="24210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64337"/>
              </p:ext>
            </p:extLst>
          </p:nvPr>
        </p:nvGraphicFramePr>
        <p:xfrm>
          <a:off x="5815445" y="1544782"/>
          <a:ext cx="2628899" cy="24210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110249"/>
              </p:ext>
            </p:extLst>
          </p:nvPr>
        </p:nvGraphicFramePr>
        <p:xfrm>
          <a:off x="169718" y="4107873"/>
          <a:ext cx="2628899" cy="24210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67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281239"/>
              </p:ext>
            </p:extLst>
          </p:nvPr>
        </p:nvGraphicFramePr>
        <p:xfrm>
          <a:off x="3054927" y="4125191"/>
          <a:ext cx="2628899" cy="24210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67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600512"/>
              </p:ext>
            </p:extLst>
          </p:nvPr>
        </p:nvGraphicFramePr>
        <p:xfrm>
          <a:off x="5846618" y="4121727"/>
          <a:ext cx="2621973" cy="24210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6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869"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7425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>
            <a:spLocks noChangeArrowheads="1"/>
          </p:cNvSpPr>
          <p:nvPr/>
        </p:nvSpPr>
        <p:spPr bwMode="auto">
          <a:xfrm>
            <a:off x="2227263" y="546100"/>
            <a:ext cx="453866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Region-Based Segmentation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 Growing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44035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415338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>
                <a:ea typeface="新細明體" pitchFamily="18" charset="-120"/>
              </a:rPr>
              <a:t>Fig. 10.41 shows the histogram of Fig. 10.40 (a). It is difficult to segment the defects by thresholding methods. (Applying region growing methods are better in this case.)</a:t>
            </a:r>
          </a:p>
        </p:txBody>
      </p:sp>
      <p:graphicFrame>
        <p:nvGraphicFramePr>
          <p:cNvPr id="44036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27100" y="2944813"/>
          <a:ext cx="3352800" cy="288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52381" imgH="3568254" progId="Photoshop.Image.8">
                  <p:embed/>
                </p:oleObj>
              </mc:Choice>
              <mc:Fallback>
                <p:oleObj name="Image" r:id="rId2" imgW="4152381" imgH="3568254" progId="Photoshop.Image.8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2944813"/>
                        <a:ext cx="3352800" cy="288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67238" y="2947988"/>
          <a:ext cx="3832225" cy="287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6069841" imgH="4558730" progId="Photoshop.Image.8">
                  <p:embed/>
                </p:oleObj>
              </mc:Choice>
              <mc:Fallback>
                <p:oleObj name="Image" r:id="rId4" imgW="6069841" imgH="4558730" progId="Photoshop.Image.8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2947988"/>
                        <a:ext cx="3832225" cy="287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 Box 13"/>
          <p:cNvSpPr txBox="1">
            <a:spLocks noChangeArrowheads="1"/>
          </p:cNvSpPr>
          <p:nvPr/>
        </p:nvSpPr>
        <p:spPr bwMode="auto">
          <a:xfrm>
            <a:off x="5692775" y="5805488"/>
            <a:ext cx="1741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Figure 10.41</a:t>
            </a:r>
          </a:p>
        </p:txBody>
      </p:sp>
      <p:sp>
        <p:nvSpPr>
          <p:cNvPr id="44039" name="Text Box 14"/>
          <p:cNvSpPr txBox="1">
            <a:spLocks noChangeArrowheads="1"/>
          </p:cNvSpPr>
          <p:nvPr/>
        </p:nvSpPr>
        <p:spPr bwMode="auto">
          <a:xfrm>
            <a:off x="1590675" y="5900738"/>
            <a:ext cx="207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TW">
                <a:ea typeface="新細明體" pitchFamily="18" charset="-120"/>
              </a:rPr>
              <a:t>Figure 10.40(a)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444625"/>
            <a:ext cx="7410450" cy="510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11" name="Text Box 4"/>
          <p:cNvSpPr txBox="1">
            <a:spLocks noChangeArrowheads="1"/>
          </p:cNvSpPr>
          <p:nvPr/>
        </p:nvSpPr>
        <p:spPr bwMode="auto">
          <a:xfrm>
            <a:off x="2227263" y="546100"/>
            <a:ext cx="453866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Region-Based Segmentation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 Growing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43012" name="AutoShape 5"/>
          <p:cNvSpPr>
            <a:spLocks noChangeArrowheads="1"/>
          </p:cNvSpPr>
          <p:nvPr/>
        </p:nvSpPr>
        <p:spPr bwMode="auto">
          <a:xfrm>
            <a:off x="5006975" y="3536950"/>
            <a:ext cx="493713" cy="225425"/>
          </a:xfrm>
          <a:prstGeom prst="rightArrow">
            <a:avLst>
              <a:gd name="adj1" fmla="val 50000"/>
              <a:gd name="adj2" fmla="val 5475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3013" name="AutoShape 6"/>
          <p:cNvSpPr>
            <a:spLocks noChangeArrowheads="1"/>
          </p:cNvSpPr>
          <p:nvPr/>
        </p:nvSpPr>
        <p:spPr bwMode="auto">
          <a:xfrm>
            <a:off x="4981575" y="4351338"/>
            <a:ext cx="493713" cy="225425"/>
          </a:xfrm>
          <a:prstGeom prst="rightArrow">
            <a:avLst>
              <a:gd name="adj1" fmla="val 50000"/>
              <a:gd name="adj2" fmla="val 5475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3014" name="Line 7"/>
          <p:cNvSpPr>
            <a:spLocks noChangeShapeType="1"/>
          </p:cNvSpPr>
          <p:nvPr/>
        </p:nvSpPr>
        <p:spPr bwMode="auto">
          <a:xfrm flipH="1">
            <a:off x="4932363" y="3822700"/>
            <a:ext cx="658812" cy="37465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4"/>
          <p:cNvSpPr txBox="1">
            <a:spLocks noChangeArrowheads="1"/>
          </p:cNvSpPr>
          <p:nvPr/>
        </p:nvSpPr>
        <p:spPr bwMode="auto">
          <a:xfrm>
            <a:off x="2184400" y="546100"/>
            <a:ext cx="462597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Region-Based Segmentation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 Splitting and Merging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1325" y="1676400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800">
                <a:ea typeface="新細明體" pitchFamily="18" charset="-120"/>
              </a:rPr>
              <a:t>Region splitting is the opposite of region growing.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First there is a large region (possible the entire image).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Then a predicate (measurement) is used to determine if the region is uniform.  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If not, then the method requires that the region be split into two regions.  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Then each of these two regions is independently tested by the predicate (measurement). 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This procedure continues until all resulting regions are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uniform</a:t>
            </a:r>
            <a:r>
              <a:rPr lang="en-US" altLang="zh-TW" sz="2400">
                <a:ea typeface="新細明體" pitchFamily="18" charset="-120"/>
              </a:rPr>
              <a:t>. </a:t>
            </a:r>
            <a:endParaRPr lang="zh-TW" altLang="en-US" sz="240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3860800"/>
            <a:ext cx="8402638" cy="242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2227263" y="546100"/>
            <a:ext cx="4538662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Region-Based Segmentation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 Splitting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424863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>
                <a:ea typeface="新細明體" pitchFamily="18" charset="-120"/>
              </a:rPr>
              <a:t>The main problem with region splitting is determining where to split a region. </a:t>
            </a:r>
          </a:p>
          <a:p>
            <a:r>
              <a:rPr lang="en-US" altLang="zh-TW" sz="2400">
                <a:ea typeface="新細明體" pitchFamily="18" charset="-120"/>
              </a:rPr>
              <a:t>One method to divide a region is to use a </a:t>
            </a:r>
            <a:r>
              <a:rPr lang="en-US" altLang="zh-TW" sz="2400">
                <a:solidFill>
                  <a:srgbClr val="FF0000"/>
                </a:solidFill>
                <a:ea typeface="新細明體" pitchFamily="18" charset="-120"/>
              </a:rPr>
              <a:t>quadtree structure</a:t>
            </a:r>
            <a:r>
              <a:rPr lang="en-US" altLang="zh-TW" sz="2400">
                <a:ea typeface="新細明體" pitchFamily="18" charset="-120"/>
              </a:rPr>
              <a:t>.</a:t>
            </a:r>
          </a:p>
          <a:p>
            <a:r>
              <a:rPr lang="en-US" altLang="zh-TW" sz="2400">
                <a:ea typeface="新細明體" pitchFamily="18" charset="-120"/>
              </a:rPr>
              <a:t>Quadtree: a tree in which nodes have exactly four descendants.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3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00" y="339725"/>
            <a:ext cx="3822700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971" y="523009"/>
            <a:ext cx="26987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12" y="3429000"/>
            <a:ext cx="39624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939" y="4343400"/>
            <a:ext cx="4538461" cy="199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4690" y="1930475"/>
            <a:ext cx="1931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Threshold&lt;=3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1544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kern="1200" dirty="0">
                <a:solidFill>
                  <a:srgbClr val="FF0000"/>
                </a:solidFill>
                <a:latin typeface="Verdana" pitchFamily="34" charset="0"/>
                <a:ea typeface="新細明體" pitchFamily="18" charset="-120"/>
                <a:cs typeface="+mn-cs"/>
              </a:rPr>
              <a:t>Region merging algorithms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The region merging method is exactly opposite to the region splitting method.</a:t>
            </a:r>
          </a:p>
          <a:p>
            <a:r>
              <a:rPr lang="en-US" sz="1800" dirty="0"/>
              <a:t>In this method, the pixel level and consider each of them as a homogenous region.</a:t>
            </a:r>
          </a:p>
          <a:p>
            <a:r>
              <a:rPr lang="en-US" sz="1800" dirty="0"/>
              <a:t>At any level of merging, check if the four adjacent homogenous regions arranged in a 2 x 2 fashion together satisfy the homogeneity property.</a:t>
            </a:r>
          </a:p>
          <a:p>
            <a:r>
              <a:rPr lang="en-US" sz="1800" dirty="0"/>
              <a:t>If yes, they are merged to form a bigger region, otherwise the regions are left as they are.</a:t>
            </a:r>
          </a:p>
          <a:p>
            <a:r>
              <a:rPr lang="es-ES" sz="1800" dirty="0" err="1"/>
              <a:t>max</a:t>
            </a:r>
            <a:r>
              <a:rPr lang="es-ES" sz="1800" dirty="0"/>
              <a:t> - min ≤ 3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62466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214" y="3846635"/>
            <a:ext cx="2883477" cy="268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68" name="Picture 4" descr="enter image description he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294" y="3828112"/>
            <a:ext cx="2911982" cy="272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1408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4"/>
          <p:cNvSpPr txBox="1">
            <a:spLocks noChangeArrowheads="1"/>
          </p:cNvSpPr>
          <p:nvPr/>
        </p:nvSpPr>
        <p:spPr bwMode="auto">
          <a:xfrm>
            <a:off x="2184400" y="546100"/>
            <a:ext cx="4625975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Region-Based Segmentation</a:t>
            </a:r>
          </a:p>
          <a:p>
            <a:pPr algn="ctr"/>
            <a:r>
              <a:rPr lang="en-US" altLang="zh-TW">
                <a:solidFill>
                  <a:srgbClr val="FF0000"/>
                </a:solidFill>
                <a:latin typeface="Verdana" pitchFamily="34" charset="0"/>
                <a:ea typeface="新細明體" pitchFamily="18" charset="-120"/>
              </a:rPr>
              <a:t>Region Splitting and Merging</a:t>
            </a:r>
            <a:endParaRPr lang="en-US" altLang="zh-TW">
              <a:ea typeface="新細明體" pitchFamily="18" charset="-120"/>
            </a:endParaRPr>
          </a:p>
        </p:txBody>
      </p:sp>
      <p:sp>
        <p:nvSpPr>
          <p:cNvPr id="4710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2913" y="1690688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dirty="0"/>
              <a:t>START: consider entire image as one region </a:t>
            </a:r>
          </a:p>
          <a:p>
            <a:r>
              <a:rPr lang="en-US" sz="2400" dirty="0"/>
              <a:t>1. If region satisfies homogeneity criteria, leave it unmodified.</a:t>
            </a:r>
          </a:p>
          <a:p>
            <a:r>
              <a:rPr lang="en-US" sz="2400" dirty="0"/>
              <a:t>2. If not, split it into four quadrants and recursively apply 1 and 2 to each newly generated region. STOP when all regions in the </a:t>
            </a:r>
            <a:r>
              <a:rPr lang="en-US" sz="2400" dirty="0" err="1"/>
              <a:t>quadtree</a:t>
            </a:r>
            <a:r>
              <a:rPr lang="en-US" sz="2400" dirty="0"/>
              <a:t> satisfy the homogeneity criterion </a:t>
            </a:r>
          </a:p>
          <a:p>
            <a:r>
              <a:rPr lang="en-US" sz="2400" dirty="0"/>
              <a:t>3. If any two adjacent regions </a:t>
            </a:r>
            <a:r>
              <a:rPr lang="en-US" sz="2400" dirty="0" err="1"/>
              <a:t>Ri</a:t>
            </a:r>
            <a:r>
              <a:rPr lang="en-US" sz="2400" dirty="0"/>
              <a:t> , </a:t>
            </a:r>
            <a:r>
              <a:rPr lang="en-US" sz="2400" dirty="0" err="1"/>
              <a:t>Rj</a:t>
            </a:r>
            <a:r>
              <a:rPr lang="en-US" sz="2400" dirty="0"/>
              <a:t> can be merged into a homogeneous region, merge them. STOP when no merging is possible any more. </a:t>
            </a:r>
            <a:endParaRPr lang="en-US" altLang="zh-TW" sz="2400" dirty="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Region grow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2333625"/>
            <a:ext cx="569595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08028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Region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2343150"/>
            <a:ext cx="61595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11942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Results-Region Split and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2320925"/>
            <a:ext cx="6388100" cy="221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30729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11"/>
          <a:stretch>
            <a:fillRect/>
          </a:stretch>
        </p:blipFill>
        <p:spPr bwMode="auto">
          <a:xfrm>
            <a:off x="1752600" y="3244850"/>
            <a:ext cx="5638800" cy="255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41300" y="1903413"/>
            <a:ext cx="883286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Boundary is a good representation of an object shape.</a:t>
            </a:r>
          </a:p>
          <a:p>
            <a:r>
              <a:rPr lang="en-US" altLang="en-US" sz="2800" b="1" dirty="0">
                <a:solidFill>
                  <a:srgbClr val="990000"/>
                </a:solidFill>
              </a:rPr>
              <a:t>Chain codes:</a:t>
            </a:r>
            <a:r>
              <a:rPr lang="en-US" altLang="en-US" sz="2800" dirty="0"/>
              <a:t> represent an object boundary by a connected </a:t>
            </a:r>
          </a:p>
          <a:p>
            <a:r>
              <a:rPr lang="en-US" altLang="en-US" sz="2800" dirty="0"/>
              <a:t>sequence of straight line segments of specified length</a:t>
            </a:r>
          </a:p>
          <a:p>
            <a:r>
              <a:rPr lang="en-US" altLang="en-US" sz="2800" dirty="0"/>
              <a:t>and direction.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1981200" y="5835650"/>
            <a:ext cx="19986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/>
              <a:t>4-directional</a:t>
            </a:r>
          </a:p>
          <a:p>
            <a:pPr algn="ctr"/>
            <a:r>
              <a:rPr lang="en-US" altLang="en-US" sz="2800"/>
              <a:t>chain code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5181600" y="5911850"/>
            <a:ext cx="19986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/>
              <a:t>8-directional</a:t>
            </a:r>
          </a:p>
          <a:p>
            <a:pPr algn="ctr"/>
            <a:r>
              <a:rPr lang="en-US" altLang="en-US" sz="2800"/>
              <a:t>chain code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Boundary Descriptors-Chain Code</a:t>
            </a:r>
          </a:p>
        </p:txBody>
      </p:sp>
    </p:spTree>
    <p:extLst>
      <p:ext uri="{BB962C8B-B14F-4D97-AF65-F5344CB8AC3E}">
        <p14:creationId xmlns:p14="http://schemas.microsoft.com/office/powerpoint/2010/main" val="31955902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37"/>
          <a:stretch>
            <a:fillRect/>
          </a:stretch>
        </p:blipFill>
        <p:spPr bwMode="auto">
          <a:xfrm>
            <a:off x="2549670" y="1704108"/>
            <a:ext cx="3811773" cy="4511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03188" y="1371600"/>
            <a:ext cx="17399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Object </a:t>
            </a:r>
          </a:p>
          <a:p>
            <a:pPr algn="ctr"/>
            <a:r>
              <a:rPr lang="en-US" altLang="en-US"/>
              <a:t>boundary</a:t>
            </a:r>
          </a:p>
          <a:p>
            <a:pPr algn="ctr"/>
            <a:r>
              <a:rPr lang="en-US" altLang="en-US"/>
              <a:t>(resampling)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7162800" y="1447800"/>
            <a:ext cx="13858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Boundary</a:t>
            </a:r>
          </a:p>
          <a:p>
            <a:pPr algn="ctr"/>
            <a:r>
              <a:rPr lang="en-US" altLang="en-US"/>
              <a:t>vertices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304800" y="4800600"/>
            <a:ext cx="1738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4-directional</a:t>
            </a:r>
          </a:p>
          <a:p>
            <a:pPr algn="ctr"/>
            <a:r>
              <a:rPr lang="en-US" altLang="en-US"/>
              <a:t>chain code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7086600" y="4800600"/>
            <a:ext cx="1738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8-directional</a:t>
            </a:r>
          </a:p>
          <a:p>
            <a:pPr algn="ctr"/>
            <a:r>
              <a:rPr lang="en-US" altLang="en-US"/>
              <a:t>chain code</a:t>
            </a:r>
          </a:p>
        </p:txBody>
      </p:sp>
      <p:sp>
        <p:nvSpPr>
          <p:cNvPr id="2" name="Rectangle 1"/>
          <p:cNvSpPr/>
          <p:nvPr/>
        </p:nvSpPr>
        <p:spPr>
          <a:xfrm>
            <a:off x="1173956" y="331133"/>
            <a:ext cx="79700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avoid noise degradation and long chains a resampling of the image grid is commonly used to describe the boundary at a coarser level.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2715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1027"/>
          <p:cNvSpPr txBox="1">
            <a:spLocks noChangeArrowheads="1"/>
          </p:cNvSpPr>
          <p:nvPr/>
        </p:nvSpPr>
        <p:spPr bwMode="auto">
          <a:xfrm>
            <a:off x="152400" y="1397813"/>
            <a:ext cx="872143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990000"/>
                </a:solidFill>
              </a:rPr>
              <a:t>	Problem of a chain code:</a:t>
            </a:r>
            <a:r>
              <a:rPr lang="en-US" altLang="en-US" sz="1800" dirty="0"/>
              <a:t> a chain code sequence depends on a starting point.</a:t>
            </a:r>
          </a:p>
          <a:p>
            <a:r>
              <a:rPr lang="en-US" altLang="en-US" sz="1800" b="1" dirty="0">
                <a:solidFill>
                  <a:srgbClr val="990000"/>
                </a:solidFill>
              </a:rPr>
              <a:t>Solution:</a:t>
            </a:r>
            <a:r>
              <a:rPr lang="en-US" altLang="en-US" sz="1800" dirty="0"/>
              <a:t> treat a chain code as a circular sequence and redefine the starting point so that the resulting sequence of numbers forms an integer of minimum magnitude.</a:t>
            </a:r>
          </a:p>
          <a:p>
            <a:endParaRPr lang="en-US" altLang="en-US" sz="1800" dirty="0"/>
          </a:p>
          <a:p>
            <a:r>
              <a:rPr lang="en-US" altLang="en-US" sz="1800" b="1" dirty="0">
                <a:solidFill>
                  <a:srgbClr val="990000"/>
                </a:solidFill>
              </a:rPr>
              <a:t>The first difference of a chain code:</a:t>
            </a:r>
            <a:r>
              <a:rPr lang="en-US" altLang="en-US" sz="1800" dirty="0"/>
              <a:t> counting the number of direction change (in counterclockwise) between 2 adjacent elements of the code.</a:t>
            </a:r>
          </a:p>
        </p:txBody>
      </p:sp>
      <p:sp>
        <p:nvSpPr>
          <p:cNvPr id="50185" name="Text Box 1033"/>
          <p:cNvSpPr txBox="1">
            <a:spLocks noChangeArrowheads="1"/>
          </p:cNvSpPr>
          <p:nvPr/>
        </p:nvSpPr>
        <p:spPr bwMode="auto">
          <a:xfrm>
            <a:off x="152400" y="3429000"/>
            <a:ext cx="13493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Example:</a:t>
            </a:r>
            <a:endParaRPr lang="en-US" altLang="en-US" dirty="0">
              <a:solidFill>
                <a:schemeClr val="accent2"/>
              </a:solidFill>
              <a:sym typeface="Wingdings" pitchFamily="2" charset="2"/>
            </a:endParaRPr>
          </a:p>
          <a:p>
            <a:endParaRPr lang="en-US" altLang="en-US" dirty="0">
              <a:sym typeface="Wingdings" pitchFamily="2" charset="2"/>
            </a:endParaRPr>
          </a:p>
          <a:p>
            <a:endParaRPr lang="en-US" altLang="en-US" dirty="0">
              <a:sym typeface="Wingdings" pitchFamily="2" charset="2"/>
            </a:endParaRPr>
          </a:p>
          <a:p>
            <a:r>
              <a:rPr lang="en-US" altLang="en-US" dirty="0">
                <a:sym typeface="Wingdings" pitchFamily="2" charset="2"/>
              </a:rPr>
              <a:t>	</a:t>
            </a:r>
          </a:p>
        </p:txBody>
      </p:sp>
      <p:grpSp>
        <p:nvGrpSpPr>
          <p:cNvPr id="50190" name="Group 1038"/>
          <p:cNvGrpSpPr>
            <a:grpSpLocks/>
          </p:cNvGrpSpPr>
          <p:nvPr/>
        </p:nvGrpSpPr>
        <p:grpSpPr bwMode="auto">
          <a:xfrm>
            <a:off x="0" y="3886200"/>
            <a:ext cx="1800225" cy="1946275"/>
            <a:chOff x="3878" y="2304"/>
            <a:chExt cx="1134" cy="1226"/>
          </a:xfrm>
        </p:grpSpPr>
        <p:sp>
          <p:nvSpPr>
            <p:cNvPr id="50180" name="Line 1028"/>
            <p:cNvSpPr>
              <a:spLocks noChangeShapeType="1"/>
            </p:cNvSpPr>
            <p:nvPr/>
          </p:nvSpPr>
          <p:spPr bwMode="auto">
            <a:xfrm flipV="1">
              <a:off x="4464" y="2544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181" name="Line 1029"/>
            <p:cNvSpPr>
              <a:spLocks noChangeShapeType="1"/>
            </p:cNvSpPr>
            <p:nvPr/>
          </p:nvSpPr>
          <p:spPr bwMode="auto">
            <a:xfrm rot="16200000" flipV="1">
              <a:off x="4272" y="2736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182" name="Line 1030"/>
            <p:cNvSpPr>
              <a:spLocks noChangeShapeType="1"/>
            </p:cNvSpPr>
            <p:nvPr/>
          </p:nvSpPr>
          <p:spPr bwMode="auto">
            <a:xfrm rot="5400000" flipV="1">
              <a:off x="4656" y="2736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183" name="Line 1031"/>
            <p:cNvSpPr>
              <a:spLocks noChangeShapeType="1"/>
            </p:cNvSpPr>
            <p:nvPr/>
          </p:nvSpPr>
          <p:spPr bwMode="auto">
            <a:xfrm>
              <a:off x="4464" y="2928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184" name="Arc 1032"/>
            <p:cNvSpPr>
              <a:spLocks/>
            </p:cNvSpPr>
            <p:nvPr/>
          </p:nvSpPr>
          <p:spPr bwMode="auto">
            <a:xfrm>
              <a:off x="4464" y="2784"/>
              <a:ext cx="144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186" name="Text Box 1034"/>
            <p:cNvSpPr txBox="1">
              <a:spLocks noChangeArrowheads="1"/>
            </p:cNvSpPr>
            <p:nvPr/>
          </p:nvSpPr>
          <p:spPr bwMode="auto">
            <a:xfrm>
              <a:off x="4358" y="23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</a:t>
              </a:r>
            </a:p>
          </p:txBody>
        </p:sp>
        <p:sp>
          <p:nvSpPr>
            <p:cNvPr id="50187" name="Text Box 1035"/>
            <p:cNvSpPr txBox="1">
              <a:spLocks noChangeArrowheads="1"/>
            </p:cNvSpPr>
            <p:nvPr/>
          </p:nvSpPr>
          <p:spPr bwMode="auto">
            <a:xfrm>
              <a:off x="3878" y="276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</a:t>
              </a:r>
            </a:p>
          </p:txBody>
        </p:sp>
        <p:sp>
          <p:nvSpPr>
            <p:cNvPr id="50188" name="Text Box 1036"/>
            <p:cNvSpPr txBox="1">
              <a:spLocks noChangeArrowheads="1"/>
            </p:cNvSpPr>
            <p:nvPr/>
          </p:nvSpPr>
          <p:spPr bwMode="auto">
            <a:xfrm>
              <a:off x="4358" y="324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  <p:sp>
          <p:nvSpPr>
            <p:cNvPr id="50189" name="Text Box 1037"/>
            <p:cNvSpPr txBox="1">
              <a:spLocks noChangeArrowheads="1"/>
            </p:cNvSpPr>
            <p:nvPr/>
          </p:nvSpPr>
          <p:spPr bwMode="auto">
            <a:xfrm>
              <a:off x="4800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</a:t>
              </a:r>
            </a:p>
          </p:txBody>
        </p:sp>
      </p:grpSp>
      <p:sp>
        <p:nvSpPr>
          <p:cNvPr id="50191" name="Text Box 1039"/>
          <p:cNvSpPr txBox="1">
            <a:spLocks noChangeArrowheads="1"/>
          </p:cNvSpPr>
          <p:nvPr/>
        </p:nvSpPr>
        <p:spPr bwMode="auto">
          <a:xfrm>
            <a:off x="4572000" y="3429000"/>
            <a:ext cx="45085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Example: </a:t>
            </a:r>
          </a:p>
          <a:p>
            <a:r>
              <a:rPr lang="en-US" altLang="en-US">
                <a:solidFill>
                  <a:srgbClr val="FF0000"/>
                </a:solidFill>
              </a:rPr>
              <a:t>    - a chain code: 10103322</a:t>
            </a:r>
          </a:p>
          <a:p>
            <a:r>
              <a:rPr lang="en-US" altLang="en-US">
                <a:solidFill>
                  <a:srgbClr val="FF0000"/>
                </a:solidFill>
              </a:rPr>
              <a:t>    </a:t>
            </a:r>
            <a:r>
              <a:rPr lang="en-US" altLang="en-US">
                <a:solidFill>
                  <a:srgbClr val="990000"/>
                </a:solidFill>
              </a:rPr>
              <a:t>- The first difference =  3133030</a:t>
            </a:r>
          </a:p>
          <a:p>
            <a:r>
              <a:rPr lang="en-US" altLang="en-US">
                <a:solidFill>
                  <a:srgbClr val="FF0000"/>
                </a:solidFill>
              </a:rPr>
              <a:t>    </a:t>
            </a:r>
            <a:r>
              <a:rPr lang="en-US" altLang="en-US">
                <a:solidFill>
                  <a:schemeClr val="accent2"/>
                </a:solidFill>
              </a:rPr>
              <a:t>- Treating a chain code as a </a:t>
            </a:r>
          </a:p>
          <a:p>
            <a:r>
              <a:rPr lang="en-US" altLang="en-US">
                <a:solidFill>
                  <a:schemeClr val="accent2"/>
                </a:solidFill>
              </a:rPr>
              <a:t>       circular sequence, we get</a:t>
            </a:r>
          </a:p>
          <a:p>
            <a:r>
              <a:rPr lang="en-US" altLang="en-US">
                <a:solidFill>
                  <a:schemeClr val="accent2"/>
                </a:solidFill>
              </a:rPr>
              <a:t>       the first difference = 33133030</a:t>
            </a:r>
          </a:p>
        </p:txBody>
      </p:sp>
      <p:sp>
        <p:nvSpPr>
          <p:cNvPr id="50216" name="Text Box 1064"/>
          <p:cNvSpPr txBox="1">
            <a:spLocks noChangeArrowheads="1"/>
          </p:cNvSpPr>
          <p:nvPr/>
        </p:nvSpPr>
        <p:spPr bwMode="auto">
          <a:xfrm>
            <a:off x="1676400" y="3429000"/>
            <a:ext cx="2941638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Chain code : The first </a:t>
            </a:r>
          </a:p>
          <a:p>
            <a:r>
              <a:rPr lang="en-US" altLang="en-US" dirty="0"/>
              <a:t>                    difference</a:t>
            </a:r>
          </a:p>
          <a:p>
            <a:r>
              <a:rPr lang="en-US" altLang="en-US" dirty="0"/>
              <a:t>    0 </a:t>
            </a:r>
            <a:r>
              <a:rPr lang="en-US" altLang="en-US" dirty="0">
                <a:sym typeface="Wingdings" pitchFamily="2" charset="2"/>
              </a:rPr>
              <a:t> 1	   1</a:t>
            </a:r>
          </a:p>
          <a:p>
            <a:r>
              <a:rPr lang="en-US" altLang="en-US" dirty="0">
                <a:sym typeface="Wingdings" pitchFamily="2" charset="2"/>
              </a:rPr>
              <a:t>    0  2	   2</a:t>
            </a:r>
          </a:p>
          <a:p>
            <a:r>
              <a:rPr lang="en-US" altLang="en-US" dirty="0">
                <a:sym typeface="Wingdings" pitchFamily="2" charset="2"/>
              </a:rPr>
              <a:t>    0  3	   3</a:t>
            </a:r>
          </a:p>
          <a:p>
            <a:r>
              <a:rPr lang="en-US" altLang="en-US" dirty="0">
                <a:sym typeface="Wingdings" pitchFamily="2" charset="2"/>
              </a:rPr>
              <a:t>    2  3	   1</a:t>
            </a:r>
          </a:p>
          <a:p>
            <a:r>
              <a:rPr lang="en-US" altLang="en-US" dirty="0">
                <a:sym typeface="Wingdings" pitchFamily="2" charset="2"/>
              </a:rPr>
              <a:t>    2  0	   2</a:t>
            </a:r>
          </a:p>
          <a:p>
            <a:r>
              <a:rPr lang="en-US" altLang="en-US" dirty="0">
                <a:sym typeface="Wingdings" pitchFamily="2" charset="2"/>
              </a:rPr>
              <a:t>    2  1 	   3</a:t>
            </a:r>
            <a:endParaRPr lang="th-TH" altLang="en-US" dirty="0">
              <a:sym typeface="Wingdings" pitchFamily="2" charset="2"/>
            </a:endParaRPr>
          </a:p>
        </p:txBody>
      </p:sp>
      <p:sp>
        <p:nvSpPr>
          <p:cNvPr id="50217" name="Text Box 1065"/>
          <p:cNvSpPr txBox="1">
            <a:spLocks noChangeArrowheads="1"/>
          </p:cNvSpPr>
          <p:nvPr/>
        </p:nvSpPr>
        <p:spPr bwMode="auto">
          <a:xfrm>
            <a:off x="4632325" y="5908675"/>
            <a:ext cx="4054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009900"/>
                </a:solidFill>
              </a:rPr>
              <a:t>The first difference is rotational</a:t>
            </a:r>
          </a:p>
          <a:p>
            <a:r>
              <a:rPr lang="en-US" altLang="en-US">
                <a:solidFill>
                  <a:srgbClr val="009900"/>
                </a:solidFill>
              </a:rPr>
              <a:t>invariant.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 Difference</a:t>
            </a:r>
          </a:p>
        </p:txBody>
      </p:sp>
    </p:spTree>
    <p:extLst>
      <p:ext uri="{BB962C8B-B14F-4D97-AF65-F5344CB8AC3E}">
        <p14:creationId xmlns:p14="http://schemas.microsoft.com/office/powerpoint/2010/main" val="4465323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241156" y="1942811"/>
            <a:ext cx="611028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990000"/>
                </a:solidFill>
              </a:rPr>
              <a:t>Shape number of the boundary definition: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	the first difference of smallest magnitude</a:t>
            </a:r>
          </a:p>
          <a:p>
            <a:r>
              <a:rPr lang="en-US" altLang="en-US" b="1" dirty="0">
                <a:solidFill>
                  <a:srgbClr val="990000"/>
                </a:solidFill>
              </a:rPr>
              <a:t>The order n of the shape number: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	the number of digits in the sequence</a:t>
            </a:r>
          </a:p>
        </p:txBody>
      </p:sp>
      <p:grpSp>
        <p:nvGrpSpPr>
          <p:cNvPr id="48133" name="Group 5"/>
          <p:cNvGrpSpPr>
            <a:grpSpLocks/>
          </p:cNvGrpSpPr>
          <p:nvPr/>
        </p:nvGrpSpPr>
        <p:grpSpPr bwMode="auto">
          <a:xfrm>
            <a:off x="7050520" y="1745960"/>
            <a:ext cx="1800225" cy="1946275"/>
            <a:chOff x="3878" y="2304"/>
            <a:chExt cx="1134" cy="1226"/>
          </a:xfrm>
        </p:grpSpPr>
        <p:sp>
          <p:nvSpPr>
            <p:cNvPr id="48134" name="Line 6"/>
            <p:cNvSpPr>
              <a:spLocks noChangeShapeType="1"/>
            </p:cNvSpPr>
            <p:nvPr/>
          </p:nvSpPr>
          <p:spPr bwMode="auto">
            <a:xfrm flipV="1">
              <a:off x="4464" y="2544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135" name="Line 7"/>
            <p:cNvSpPr>
              <a:spLocks noChangeShapeType="1"/>
            </p:cNvSpPr>
            <p:nvPr/>
          </p:nvSpPr>
          <p:spPr bwMode="auto">
            <a:xfrm rot="16200000" flipV="1">
              <a:off x="4272" y="2736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136" name="Line 8"/>
            <p:cNvSpPr>
              <a:spLocks noChangeShapeType="1"/>
            </p:cNvSpPr>
            <p:nvPr/>
          </p:nvSpPr>
          <p:spPr bwMode="auto">
            <a:xfrm rot="5400000" flipV="1">
              <a:off x="4656" y="2736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137" name="Line 9"/>
            <p:cNvSpPr>
              <a:spLocks noChangeShapeType="1"/>
            </p:cNvSpPr>
            <p:nvPr/>
          </p:nvSpPr>
          <p:spPr bwMode="auto">
            <a:xfrm>
              <a:off x="4464" y="2928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138" name="Arc 10"/>
            <p:cNvSpPr>
              <a:spLocks/>
            </p:cNvSpPr>
            <p:nvPr/>
          </p:nvSpPr>
          <p:spPr bwMode="auto">
            <a:xfrm>
              <a:off x="4464" y="2784"/>
              <a:ext cx="144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139" name="Text Box 11"/>
            <p:cNvSpPr txBox="1">
              <a:spLocks noChangeArrowheads="1"/>
            </p:cNvSpPr>
            <p:nvPr/>
          </p:nvSpPr>
          <p:spPr bwMode="auto">
            <a:xfrm>
              <a:off x="4358" y="23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</a:t>
              </a:r>
            </a:p>
          </p:txBody>
        </p:sp>
        <p:sp>
          <p:nvSpPr>
            <p:cNvPr id="48140" name="Text Box 12"/>
            <p:cNvSpPr txBox="1">
              <a:spLocks noChangeArrowheads="1"/>
            </p:cNvSpPr>
            <p:nvPr/>
          </p:nvSpPr>
          <p:spPr bwMode="auto">
            <a:xfrm>
              <a:off x="3878" y="276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</a:t>
              </a:r>
            </a:p>
          </p:txBody>
        </p:sp>
        <p:sp>
          <p:nvSpPr>
            <p:cNvPr id="48141" name="Text Box 13"/>
            <p:cNvSpPr txBox="1">
              <a:spLocks noChangeArrowheads="1"/>
            </p:cNvSpPr>
            <p:nvPr/>
          </p:nvSpPr>
          <p:spPr bwMode="auto">
            <a:xfrm>
              <a:off x="4358" y="324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  <p:sp>
          <p:nvSpPr>
            <p:cNvPr id="48142" name="Text Box 14"/>
            <p:cNvSpPr txBox="1">
              <a:spLocks noChangeArrowheads="1"/>
            </p:cNvSpPr>
            <p:nvPr/>
          </p:nvSpPr>
          <p:spPr bwMode="auto">
            <a:xfrm>
              <a:off x="4800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</a:t>
              </a:r>
            </a:p>
          </p:txBody>
        </p:sp>
      </p:grpSp>
      <p:pic>
        <p:nvPicPr>
          <p:cNvPr id="48143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1" b="54457"/>
          <a:stretch>
            <a:fillRect/>
          </a:stretch>
        </p:blipFill>
        <p:spPr bwMode="auto">
          <a:xfrm>
            <a:off x="353291" y="3498850"/>
            <a:ext cx="5715000" cy="315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Shape Number</a:t>
            </a:r>
          </a:p>
        </p:txBody>
      </p:sp>
    </p:spTree>
    <p:extLst>
      <p:ext uri="{BB962C8B-B14F-4D97-AF65-F5344CB8AC3E}">
        <p14:creationId xmlns:p14="http://schemas.microsoft.com/office/powerpoint/2010/main" val="14081312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14"/>
          <a:stretch>
            <a:fillRect/>
          </a:stretch>
        </p:blipFill>
        <p:spPr bwMode="auto">
          <a:xfrm>
            <a:off x="457200" y="1143000"/>
            <a:ext cx="6477000" cy="524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0" y="0"/>
            <a:ext cx="3981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Shape Number (cont.) 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5562600" y="1371600"/>
            <a:ext cx="31797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Shape numbers of order </a:t>
            </a:r>
          </a:p>
          <a:p>
            <a:r>
              <a:rPr lang="en-US" altLang="en-US">
                <a:solidFill>
                  <a:srgbClr val="FF0000"/>
                </a:solidFill>
              </a:rPr>
              <a:t>4, 6 and 8 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6418263" y="6456363"/>
            <a:ext cx="2725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000"/>
              <a:t>(Images from Rafael C. Gonzalez and Richard E. </a:t>
            </a:r>
          </a:p>
          <a:p>
            <a:r>
              <a:rPr lang="en-US" altLang="en-US" sz="1000"/>
              <a:t>Wood, Digital Image Processing, 2</a:t>
            </a:r>
            <a:r>
              <a:rPr lang="en-US" altLang="en-US" sz="1000" baseline="30000"/>
              <a:t>nd</a:t>
            </a:r>
            <a:r>
              <a:rPr lang="en-US" altLang="en-US" sz="1000"/>
              <a:t> Edition.</a:t>
            </a:r>
          </a:p>
        </p:txBody>
      </p:sp>
    </p:spTree>
    <p:extLst>
      <p:ext uri="{BB962C8B-B14F-4D97-AF65-F5344CB8AC3E}">
        <p14:creationId xmlns:p14="http://schemas.microsoft.com/office/powerpoint/2010/main" val="31733604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382" y="1726490"/>
            <a:ext cx="86452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simple functional representation that can be used to describe and reconstruct the boundary with appropriate accuracy </a:t>
            </a:r>
          </a:p>
          <a:p>
            <a:r>
              <a:rPr lang="en-US" dirty="0"/>
              <a:t>1D functional representation of a boundary. </a:t>
            </a:r>
          </a:p>
          <a:p>
            <a:r>
              <a:rPr lang="en-US" dirty="0"/>
              <a:t>A simple way s to plot the distance from the centroid as a function of the angle.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Signature</a:t>
            </a: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287" y="3296150"/>
            <a:ext cx="5067300" cy="324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1286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Moments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Image moments are a set of statistical parameters to measure the distribution of where the pixels are and their intensities. Mathematically, the image moment </a:t>
            </a:r>
            <a:r>
              <a:rPr lang="en-US" sz="2800" dirty="0" err="1"/>
              <a:t>M</a:t>
            </a:r>
            <a:r>
              <a:rPr lang="en-US" sz="2800" baseline="-25000" dirty="0" err="1"/>
              <a:t>ij</a:t>
            </a:r>
            <a:r>
              <a:rPr lang="en-US" sz="2800" dirty="0"/>
              <a:t> of order (</a:t>
            </a:r>
            <a:r>
              <a:rPr lang="en-US" sz="2800" dirty="0" err="1"/>
              <a:t>i,j</a:t>
            </a:r>
            <a:r>
              <a:rPr lang="en-US" sz="2800" dirty="0"/>
              <a:t>) for a greyscale image with pixel intensities I(</a:t>
            </a:r>
            <a:r>
              <a:rPr lang="en-US" sz="2800" dirty="0" err="1"/>
              <a:t>x,y</a:t>
            </a:r>
            <a:r>
              <a:rPr lang="en-US" sz="2800" dirty="0"/>
              <a:t>) is calculated as</a:t>
            </a:r>
            <a:endParaRPr lang="en-IN" sz="2800" dirty="0"/>
          </a:p>
        </p:txBody>
      </p:sp>
      <p:pic>
        <p:nvPicPr>
          <p:cNvPr id="63490" name="Picture 2" descr="https://i0.wp.com/theailearner.com/wp-content/uploads/2020/10/moment-1.jpg?resize=422%2C93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275" y="4437351"/>
            <a:ext cx="401955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10490" y="5703838"/>
            <a:ext cx="80113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Here, x, y refers to the row and column index and I(</a:t>
            </a:r>
            <a:r>
              <a:rPr lang="en-US" dirty="0" err="1"/>
              <a:t>x,y</a:t>
            </a:r>
            <a:r>
              <a:rPr lang="en-US" dirty="0"/>
              <a:t>) refers to the intensity at that location (</a:t>
            </a:r>
            <a:r>
              <a:rPr lang="en-US" dirty="0" err="1"/>
              <a:t>x,y</a:t>
            </a:r>
            <a:r>
              <a:rPr lang="en-US" dirty="0"/>
              <a:t>).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5755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kern="1200" dirty="0">
                <a:latin typeface="Times New Roman" pitchFamily="18" charset="0"/>
              </a:rPr>
              <a:t>Area:</a:t>
            </a:r>
          </a:p>
          <a:p>
            <a:pPr marL="0" indent="0">
              <a:buNone/>
            </a:pPr>
            <a:r>
              <a:rPr lang="en-US" sz="2400" kern="1200" dirty="0">
                <a:latin typeface="Times New Roman" pitchFamily="18" charset="0"/>
              </a:rPr>
              <a:t>For a binary image, the zeroth order moment corresponds to the area. Using the above formulae, the zeroth order moment (M00) is given by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64514" name="Picture 2" descr="https://i0.wp.com/theailearner.com/wp-content/uploads/2020/10/moment_0-1.jpg?resize=376%2C104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056" y="3206461"/>
            <a:ext cx="3581400" cy="99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29935" y="4363411"/>
            <a:ext cx="84374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a binary image, this corresponds to counting all the non-zero pixels and that is equivalent to the area. For greyscale image, this corresponds to the sum of pixel intensity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8404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kern="1200" dirty="0">
                <a:latin typeface="Times New Roman" pitchFamily="18" charset="0"/>
              </a:rPr>
              <a:t>Centroid:</a:t>
            </a:r>
          </a:p>
          <a:p>
            <a:pPr marL="0" indent="0">
              <a:buNone/>
            </a:pPr>
            <a:r>
              <a:rPr lang="en-US" sz="2400" kern="1200" dirty="0">
                <a:latin typeface="Times New Roman" pitchFamily="18" charset="0"/>
              </a:rPr>
              <a:t>Centroid simply is the arithmetic mean position of all the points. In terms of image moments, centroid is given by the relation</a:t>
            </a:r>
          </a:p>
          <a:p>
            <a:pPr marL="0" indent="0">
              <a:buNone/>
            </a:pPr>
            <a:endParaRPr lang="en-US" sz="2400" kern="1200" dirty="0">
              <a:latin typeface="Times New Roman" pitchFamily="18" charset="0"/>
            </a:endParaRPr>
          </a:p>
          <a:p>
            <a:pPr marL="0" indent="0">
              <a:buNone/>
            </a:pPr>
            <a:endParaRPr lang="en-US" sz="2400" kern="1200" dirty="0">
              <a:latin typeface="Times New Roman" pitchFamily="18" charset="0"/>
            </a:endParaRPr>
          </a:p>
          <a:p>
            <a:pPr marL="0" indent="0">
              <a:buNone/>
            </a:pPr>
            <a:endParaRPr lang="en-US" sz="2400" kern="1200" dirty="0"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sz="2400" kern="1200" dirty="0">
                <a:latin typeface="Times New Roman" pitchFamily="18" charset="0"/>
              </a:rPr>
              <a:t>This is simple to understand. For instance, for a binary image M10 corresponds to the sum of all non-zero pixels (x-coordinate), M01 corresponds to the sum of all non-zero pixels (y-coordinate) and M00 is the total number of non-zero pixels and that is what the centroid is.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5538" name="Picture 2" descr="https://i0.wp.com/theailearner.com/wp-content/uploads/2020/10/moment_cent.jpg?resize=579%2C132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721" y="2931246"/>
            <a:ext cx="5514975" cy="125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6720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67591" y="1628507"/>
            <a:ext cx="82503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Let’s take a simple example to understand how to calculate image moments for a given image.</a:t>
            </a:r>
            <a:endParaRPr lang="en-IN" dirty="0"/>
          </a:p>
        </p:txBody>
      </p:sp>
      <p:pic>
        <p:nvPicPr>
          <p:cNvPr id="66562" name="Picture 2" descr="https://i0.wp.com/theailearner.com/wp-content/uploads/2020/10/mom_img.jpg?resize=407%2C388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416" y="2586903"/>
            <a:ext cx="3876675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564" name="Picture 4" descr="https://i0.wp.com/theailearner.com/wp-content/uploads/2020/10/mom_cal.jpg?resize=625%2C384&amp;ssl=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5" y="2459504"/>
            <a:ext cx="595312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0292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tooltip="Moment about the mean"/>
              </a:rPr>
              <a:t>Central moments</a:t>
            </a:r>
            <a:r>
              <a:rPr lang="en-US" dirty="0"/>
              <a:t> are defined as</a:t>
            </a:r>
            <a:endParaRPr lang="en-IN" dirty="0"/>
          </a:p>
        </p:txBody>
      </p:sp>
      <p:pic>
        <p:nvPicPr>
          <p:cNvPr id="6760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2137352"/>
            <a:ext cx="5919004" cy="1021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602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3282083"/>
            <a:ext cx="7579694" cy="895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405986-D5DA-65E1-7F53-9503EA58D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840" y="4300392"/>
            <a:ext cx="2285373" cy="184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905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F59B-9170-2F6D-9304-331830C4E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14177-A030-D54D-4817-F3D09A2FE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07" y="451074"/>
            <a:ext cx="5747435" cy="1592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68D358-72A3-3C0C-CD97-531164BCC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91" y="2119904"/>
            <a:ext cx="8968059" cy="478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DDCB2-7DA6-1BF0-04D3-E408062C3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5844" y="3165642"/>
            <a:ext cx="6910103" cy="838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DEBAFD-2942-1678-E814-87FD24374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6712" y="4272258"/>
            <a:ext cx="4604945" cy="16194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0E5C82-5726-240A-0B7F-8488C77AD1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321" y="3867908"/>
            <a:ext cx="4289738" cy="220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404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E8FD-F7E0-F3C1-E898-C1E35435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D9924-5D6D-7691-D86E-D3E772E8C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93" y="1638584"/>
            <a:ext cx="6444714" cy="464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006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0B65-3060-BDC3-97A5-10DCD82F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8FA3D-2690-DE1B-A2AA-F55234E1D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516412" cy="1306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D0CC50-B6AE-EC48-3C25-16DD3C22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65" y="2728399"/>
            <a:ext cx="4958553" cy="1306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B0555D-F5BE-758D-CE5A-E2A14800B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940" y="3848859"/>
            <a:ext cx="4789709" cy="1306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EB8050-D110-3F34-04E3-ABA92802A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071" y="5155144"/>
            <a:ext cx="6338453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8739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13E5-E8F3-E92D-6128-987F25A6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236D8-7D38-185B-3732-961805FD6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6411"/>
            <a:ext cx="6999890" cy="4207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69652-D078-DA99-DAE6-6EFD12F1F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69" y="5862310"/>
            <a:ext cx="8896231" cy="5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393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B14D-27AA-5B4D-3445-21343107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D51AF-0717-C39C-C2EA-4998F1916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17" y="603445"/>
            <a:ext cx="5411993" cy="814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C510E8-B27F-3D84-961B-7EB9EC746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538" y="1827190"/>
            <a:ext cx="6650228" cy="480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30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53"/>
  <p:tag name="PICTUREFILESIZE" val="205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d}{dx}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232.25"/>
  <p:tag name="PICTUREFILESIZE" val="42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h \star f$&#10;\end{document}&#10;"/>
  <p:tag name="EXTERNALNAME" val="Edittex"/>
  <p:tag name="BLEND" val="False"/>
  <p:tag name="TRANSPARENT" val="False"/>
  <p:tag name="BITMAPFORMAT" val="bmpmono"/>
  <p:tag name="DEBUGINTERACTIVE" val="True"/>
  <p:tag name="ORIGWIDTH" val="161.1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}{\partial x} (h \star f)$&#10;\end{document}&#10;"/>
  <p:tag name="EXTERNALNAME" val="Edittex"/>
  <p:tag name="BLEND" val="False"/>
  <p:tag name="TRANSPARENT" val="False"/>
  <p:tag name="BITMAPFORMAT" val="bmpmono"/>
  <p:tag name="DEBUGINTERACTIVE" val="True"/>
  <p:tag name="ORIGWIDTH" val="3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$&#10;\end{document}&#10;"/>
  <p:tag name="EXTERNALNAME" val="Edittex"/>
  <p:tag name="BLEND" val="False"/>
  <p:tag name="TRANSPARENT" val="False"/>
  <p:tag name="BITMAPFORMAT" val="bmpmono"/>
  <p:tag name="DEBUGINTERACTIVE" val="True"/>
  <p:tag name="ORIGWIDTH" val="40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h$&#10;\end{document}&#10;"/>
  <p:tag name="EXTERNALNAME" val="Edittex"/>
  <p:tag name="BLEND" val="False"/>
  <p:tag name="TRANSPARENT" val="False"/>
  <p:tag name="BITMAPFORMAT" val="bmpmono"/>
  <p:tag name="DEBUGINTERACTIVE" val="True"/>
  <p:tag name="ORIGWIDTH" val="40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}{\partial x} (h \star f)$&#10;\end{document}&#10;"/>
  <p:tag name="EXTERNALNAME" val="Edittex"/>
  <p:tag name="BLEND" val="False"/>
  <p:tag name="TRANSPARENT" val="False"/>
  <p:tag name="BITMAPFORMAT" val="bmpmono"/>
  <p:tag name="DEBUGINTERACTIVE" val="True"/>
  <p:tag name="ORIGWIDTH" val="3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}{\partial x} (h \star f) = (\frac{\partial}{\partial x} h) \star f$ &#10;\end{document}&#10;"/>
  <p:tag name="EXTERNALNAME" val="Edittex"/>
  <p:tag name="BLEND" val="False"/>
  <p:tag name="TRANSPARENT" val="False"/>
  <p:tag name="BITMAPFORMAT" val="bmpmono"/>
  <p:tag name="DEBUGINTERACTIVE" val="True"/>
  <p:tag name="ORIGWIDTH" val="756.8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$&#10;\end{document}&#10;"/>
  <p:tag name="EXTERNALNAME" val="Edittex"/>
  <p:tag name="BLEND" val="False"/>
  <p:tag name="TRANSPARENT" val="False"/>
  <p:tag name="BITMAPFORMAT" val="bmpmono"/>
  <p:tag name="DEBUGINTERACTIVE" val="True"/>
  <p:tag name="ORIGWIDTH" val="40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}{\partial x} h$&#10;\end{document}&#10;"/>
  <p:tag name="EXTERNALNAME" val="Edittex"/>
  <p:tag name="BLEND" val="False"/>
  <p:tag name="TRANSPARENT" val="False"/>
  <p:tag name="BITMAPFORMAT" val="bmpmono"/>
  <p:tag name="DEBUGINTERACTIVE" val="True"/>
  <p:tag name="ORIGWIDTH" val="126.8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(\frac{\partial}{\partial x} h) \star f$&#10;\end{document}&#10;"/>
  <p:tag name="EXTERNALNAME" val="Edittex"/>
  <p:tag name="BLEND" val="False"/>
  <p:tag name="TRANSPARENT" val="False"/>
  <p:tag name="BITMAPFORMAT" val="bmpmono"/>
  <p:tag name="DEBUGINTERACTIVE" val="True"/>
  <p:tag name="ORIGWIDTH" val="31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$&#10;\end{document}&#10;"/>
  <p:tag name="EXTERNALNAME" val="Edittex"/>
  <p:tag name="BLEND" val="False"/>
  <p:tag name="TRANSPARENT" val="False"/>
  <p:tag name="BITMAPFORMAT" val="bmpmono"/>
  <p:tag name="DEBUGINTERACTIVE" val="True"/>
  <p:tag name="ORIGWIDTH" val="40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^2}{\partial x^2} h$&#10;\end{document}&#10;"/>
  <p:tag name="EXTERNALNAME" val="Edittex"/>
  <p:tag name="BLEND" val="False"/>
  <p:tag name="TRANSPARENT" val="False"/>
  <p:tag name="BITMAPFORMAT" val="bmpmono"/>
  <p:tag name="DEBUGINTERACTIVE" val="True"/>
  <p:tag name="ORIGWIDTH" val="161.12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(\frac{\partial^2}{\partial x^2} h) \star f$&#10;\end{document}&#10;"/>
  <p:tag name="EXTERNALNAME" val="Edittex"/>
  <p:tag name="BLEND" val="False"/>
  <p:tag name="TRANSPARENT" val="False"/>
  <p:tag name="BITMAPFORMAT" val="bmpmono"/>
  <p:tag name="DEBUGINTERACTIVE" val="True"/>
  <p:tag name="ORIGWIDTH" val="348.25"/>
</p:tagLst>
</file>

<file path=ppt/theme/theme1.xml><?xml version="1.0" encoding="utf-8"?>
<a:theme xmlns:a="http://schemas.openxmlformats.org/drawingml/2006/main" name="DIP-2E-book-presentations-template">
  <a:themeElements>
    <a:clrScheme name="DIP-2E-book-presentations-template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P-2E-book-presentations-template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IP-2E-book-presentations-template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P-2E-book-presentations-template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Office\Templates\DIP-2E-book-presentations-template.pot</Template>
  <TotalTime>2704</TotalTime>
  <Words>3290</Words>
  <Application>Microsoft Office PowerPoint</Application>
  <PresentationFormat>On-screen Show (4:3)</PresentationFormat>
  <Paragraphs>759</Paragraphs>
  <Slides>89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89</vt:i4>
      </vt:variant>
    </vt:vector>
  </HeadingPairs>
  <TitlesOfParts>
    <vt:vector size="106" baseType="lpstr">
      <vt:lpstr>ＭＳ Ｐゴシック</vt:lpstr>
      <vt:lpstr>新細明體</vt:lpstr>
      <vt:lpstr>宋体</vt:lpstr>
      <vt:lpstr>Arial</vt:lpstr>
      <vt:lpstr>Book Antiqua</vt:lpstr>
      <vt:lpstr>Gill Sans MT</vt:lpstr>
      <vt:lpstr>Lato</vt:lpstr>
      <vt:lpstr>Palatino Linotype</vt:lpstr>
      <vt:lpstr>Times New Roman</vt:lpstr>
      <vt:lpstr>Verdana</vt:lpstr>
      <vt:lpstr>Wingdings</vt:lpstr>
      <vt:lpstr>DIP-2E-book-presentations-template</vt:lpstr>
      <vt:lpstr>CorelPhotoPaint.Image.8</vt:lpstr>
      <vt:lpstr>方程式</vt:lpstr>
      <vt:lpstr>Image</vt:lpstr>
      <vt:lpstr>Photo Editor Photo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Effects of Noise</vt:lpstr>
      <vt:lpstr>Solution:  Smooth First</vt:lpstr>
      <vt:lpstr>Derivative Theorem of Convolution</vt:lpstr>
      <vt:lpstr>Laplacian of Gaussian (LoG)</vt:lpstr>
      <vt:lpstr>Canny Edge Operator</vt:lpstr>
      <vt:lpstr>Non-maximum Suppression</vt:lpstr>
      <vt:lpstr>The Canny Edge Detector</vt:lpstr>
      <vt:lpstr>The canny edge detector</vt:lpstr>
      <vt:lpstr>The Canny Edge Detector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Region Growing</vt:lpstr>
      <vt:lpstr>Region Growing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Region merging algorithms </vt:lpstr>
      <vt:lpstr>PowerPoint Presentation</vt:lpstr>
      <vt:lpstr>Results – Region grow</vt:lpstr>
      <vt:lpstr>Results – Region Split</vt:lpstr>
      <vt:lpstr>Results-Region Split and Merge</vt:lpstr>
      <vt:lpstr>Boundary Descriptors-Chain Code</vt:lpstr>
      <vt:lpstr>PowerPoint Presentation</vt:lpstr>
      <vt:lpstr>First Difference</vt:lpstr>
      <vt:lpstr>Shape Number</vt:lpstr>
      <vt:lpstr>PowerPoint Presentation</vt:lpstr>
      <vt:lpstr>Signature</vt:lpstr>
      <vt:lpstr>Image Moments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Gonzalez</dc:creator>
  <cp:lastModifiedBy>Bhakti Palkar</cp:lastModifiedBy>
  <cp:revision>204</cp:revision>
  <dcterms:created xsi:type="dcterms:W3CDTF">2001-12-06T17:51:11Z</dcterms:created>
  <dcterms:modified xsi:type="dcterms:W3CDTF">2025-04-08T11:52:28Z</dcterms:modified>
</cp:coreProperties>
</file>