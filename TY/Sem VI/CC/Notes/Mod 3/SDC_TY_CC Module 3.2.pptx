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4"/>
  </p:notesMasterIdLst>
  <p:sldIdLst>
    <p:sldId id="256" r:id="rId2"/>
    <p:sldId id="257" r:id="rId3"/>
    <p:sldId id="266" r:id="rId4"/>
    <p:sldId id="267" r:id="rId5"/>
    <p:sldId id="268" r:id="rId6"/>
    <p:sldId id="334" r:id="rId7"/>
    <p:sldId id="269" r:id="rId8"/>
    <p:sldId id="306" r:id="rId9"/>
    <p:sldId id="320" r:id="rId10"/>
    <p:sldId id="321" r:id="rId11"/>
    <p:sldId id="316" r:id="rId12"/>
    <p:sldId id="317" r:id="rId13"/>
    <p:sldId id="318" r:id="rId14"/>
    <p:sldId id="319" r:id="rId15"/>
    <p:sldId id="336" r:id="rId16"/>
    <p:sldId id="431" r:id="rId17"/>
    <p:sldId id="308" r:id="rId18"/>
    <p:sldId id="315" r:id="rId19"/>
    <p:sldId id="322" r:id="rId20"/>
    <p:sldId id="309" r:id="rId21"/>
    <p:sldId id="310" r:id="rId22"/>
    <p:sldId id="311" r:id="rId23"/>
    <p:sldId id="312" r:id="rId24"/>
    <p:sldId id="313" r:id="rId25"/>
    <p:sldId id="314" r:id="rId26"/>
    <p:sldId id="438" r:id="rId27"/>
    <p:sldId id="331" r:id="rId28"/>
    <p:sldId id="333" r:id="rId29"/>
    <p:sldId id="324" r:id="rId30"/>
    <p:sldId id="323" r:id="rId31"/>
    <p:sldId id="327" r:id="rId32"/>
    <p:sldId id="337" r:id="rId33"/>
    <p:sldId id="338" r:id="rId34"/>
    <p:sldId id="325" r:id="rId35"/>
    <p:sldId id="326" r:id="rId36"/>
    <p:sldId id="328" r:id="rId37"/>
    <p:sldId id="329" r:id="rId38"/>
    <p:sldId id="330" r:id="rId39"/>
    <p:sldId id="335" r:id="rId40"/>
    <p:sldId id="279" r:id="rId41"/>
    <p:sldId id="355" r:id="rId42"/>
    <p:sldId id="299" r:id="rId43"/>
    <p:sldId id="339" r:id="rId44"/>
    <p:sldId id="340" r:id="rId45"/>
    <p:sldId id="356" r:id="rId46"/>
    <p:sldId id="341" r:id="rId47"/>
    <p:sldId id="342" r:id="rId48"/>
    <p:sldId id="343" r:id="rId49"/>
    <p:sldId id="344" r:id="rId50"/>
    <p:sldId id="345" r:id="rId51"/>
    <p:sldId id="357" r:id="rId52"/>
    <p:sldId id="346" r:id="rId53"/>
    <p:sldId id="381" r:id="rId54"/>
    <p:sldId id="382" r:id="rId55"/>
    <p:sldId id="360" r:id="rId56"/>
    <p:sldId id="347" r:id="rId57"/>
    <p:sldId id="349" r:id="rId58"/>
    <p:sldId id="350" r:id="rId59"/>
    <p:sldId id="351" r:id="rId60"/>
    <p:sldId id="359" r:id="rId61"/>
    <p:sldId id="358" r:id="rId62"/>
    <p:sldId id="361" r:id="rId63"/>
    <p:sldId id="362" r:id="rId64"/>
    <p:sldId id="363" r:id="rId65"/>
    <p:sldId id="436" r:id="rId66"/>
    <p:sldId id="352" r:id="rId67"/>
    <p:sldId id="364" r:id="rId68"/>
    <p:sldId id="366" r:id="rId69"/>
    <p:sldId id="365" r:id="rId70"/>
    <p:sldId id="367" r:id="rId71"/>
    <p:sldId id="368" r:id="rId72"/>
    <p:sldId id="369" r:id="rId73"/>
    <p:sldId id="372" r:id="rId74"/>
    <p:sldId id="377" r:id="rId75"/>
    <p:sldId id="370" r:id="rId76"/>
    <p:sldId id="379" r:id="rId77"/>
    <p:sldId id="380" r:id="rId78"/>
    <p:sldId id="371" r:id="rId79"/>
    <p:sldId id="353" r:id="rId80"/>
    <p:sldId id="373" r:id="rId81"/>
    <p:sldId id="354" r:id="rId82"/>
    <p:sldId id="375" r:id="rId83"/>
    <p:sldId id="374" r:id="rId84"/>
    <p:sldId id="439" r:id="rId85"/>
    <p:sldId id="300" r:id="rId86"/>
    <p:sldId id="304" r:id="rId87"/>
    <p:sldId id="301" r:id="rId88"/>
    <p:sldId id="384" r:id="rId89"/>
    <p:sldId id="385" r:id="rId90"/>
    <p:sldId id="302" r:id="rId91"/>
    <p:sldId id="386" r:id="rId92"/>
    <p:sldId id="387" r:id="rId93"/>
    <p:sldId id="389" r:id="rId94"/>
    <p:sldId id="390" r:id="rId95"/>
    <p:sldId id="393" r:id="rId96"/>
    <p:sldId id="391" r:id="rId97"/>
    <p:sldId id="394" r:id="rId98"/>
    <p:sldId id="395" r:id="rId99"/>
    <p:sldId id="396" r:id="rId100"/>
    <p:sldId id="397" r:id="rId101"/>
    <p:sldId id="398" r:id="rId102"/>
    <p:sldId id="399" r:id="rId103"/>
    <p:sldId id="432" r:id="rId104"/>
    <p:sldId id="434" r:id="rId105"/>
    <p:sldId id="435" r:id="rId106"/>
    <p:sldId id="433" r:id="rId107"/>
    <p:sldId id="403" r:id="rId108"/>
    <p:sldId id="404" r:id="rId109"/>
    <p:sldId id="405" r:id="rId110"/>
    <p:sldId id="407" r:id="rId111"/>
    <p:sldId id="408" r:id="rId112"/>
    <p:sldId id="409" r:id="rId113"/>
    <p:sldId id="303" r:id="rId114"/>
    <p:sldId id="411" r:id="rId115"/>
    <p:sldId id="410" r:id="rId116"/>
    <p:sldId id="412" r:id="rId117"/>
    <p:sldId id="294" r:id="rId118"/>
    <p:sldId id="280" r:id="rId119"/>
    <p:sldId id="287" r:id="rId120"/>
    <p:sldId id="281" r:id="rId121"/>
    <p:sldId id="285" r:id="rId122"/>
    <p:sldId id="284" r:id="rId123"/>
    <p:sldId id="282" r:id="rId124"/>
    <p:sldId id="283" r:id="rId125"/>
    <p:sldId id="286" r:id="rId126"/>
    <p:sldId id="288" r:id="rId127"/>
    <p:sldId id="289" r:id="rId128"/>
    <p:sldId id="427" r:id="rId129"/>
    <p:sldId id="290" r:id="rId130"/>
    <p:sldId id="423" r:id="rId131"/>
    <p:sldId id="424" r:id="rId132"/>
    <p:sldId id="425" r:id="rId133"/>
    <p:sldId id="426" r:id="rId134"/>
    <p:sldId id="291" r:id="rId135"/>
    <p:sldId id="293" r:id="rId136"/>
    <p:sldId id="437" r:id="rId137"/>
    <p:sldId id="422" r:id="rId138"/>
    <p:sldId id="274" r:id="rId139"/>
    <p:sldId id="275" r:id="rId140"/>
    <p:sldId id="414" r:id="rId141"/>
    <p:sldId id="413" r:id="rId142"/>
    <p:sldId id="276" r:id="rId143"/>
    <p:sldId id="415" r:id="rId144"/>
    <p:sldId id="416" r:id="rId145"/>
    <p:sldId id="417" r:id="rId146"/>
    <p:sldId id="428" r:id="rId147"/>
    <p:sldId id="278" r:id="rId148"/>
    <p:sldId id="418" r:id="rId149"/>
    <p:sldId id="429" r:id="rId150"/>
    <p:sldId id="419" r:id="rId151"/>
    <p:sldId id="420" r:id="rId152"/>
    <p:sldId id="430" r:id="rId1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slide" Target="slides/slide1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3176F-A8B4-4075-AB08-8B645CC78F7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92F84-A207-4ADF-8E1D-9642321EE2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47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92F84-A207-4ADF-8E1D-9642321EE25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608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B92F84-A207-4ADF-8E1D-9642321EE256}" type="slidenum">
              <a:rPr lang="en-IN" smtClean="0"/>
              <a:t>121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75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E436-37A4-49E5-9C28-2A080C445BC5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593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2E475-19C5-4D55-B73E-9A8E8076608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04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083A3-02C0-47B9-AA9F-CEEBC9D0A63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14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7CD3-42B1-4196-8588-8328AB1C97A8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43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A6151-D407-440F-8170-F6D100C0718A}" type="datetime1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728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88792-45FC-4A49-9FBF-F7FFC43BE50C}" type="datetime1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31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18F16-906C-4DA0-B05C-181625071710}" type="datetime1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64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F6C24-84BE-44F5-B431-9AE801986CBC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9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99F80-5515-44F0-BC9D-69FF2E8A5858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444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C73D5-EBF5-48A8-9E1D-83B912BDBFA8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699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324F-E564-4F19-A121-51011E7930C7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73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67D4-6BBB-477A-A474-871D6E170CC3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7A69A-3A3F-43D6-8AC0-1E5665CDD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348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products/" TargetMode="Externa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Module 3.2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Cloud Infrastructure and Platforms in Industry</a:t>
            </a:r>
          </a:p>
          <a:p>
            <a:r>
              <a:rPr lang="en-IN" dirty="0" smtClean="0"/>
              <a:t>Amazon Web Services – Compute Services, Storage Services, Communication Services, Additional Services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998D4-8EAE-4837-9D12-5503F73634F5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22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Public Clouds and Service </a:t>
            </a:r>
            <a:r>
              <a:rPr lang="en-IN" dirty="0" smtClean="0"/>
              <a:t>Offerings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68760"/>
            <a:ext cx="7776864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4AF19-13B8-4D4A-9976-A83407D00649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84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Amazon Web Services (AWS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VMs </a:t>
            </a:r>
            <a:r>
              <a:rPr lang="en-IN" dirty="0"/>
              <a:t>can be used to share computing resources both flexibly and safely. </a:t>
            </a:r>
            <a:endParaRPr lang="en-IN" dirty="0" smtClean="0"/>
          </a:p>
          <a:p>
            <a:r>
              <a:rPr lang="en-IN" dirty="0" smtClean="0"/>
              <a:t>Amazon </a:t>
            </a:r>
            <a:r>
              <a:rPr lang="en-IN" dirty="0"/>
              <a:t>has been </a:t>
            </a:r>
            <a:r>
              <a:rPr lang="en-IN" dirty="0">
                <a:solidFill>
                  <a:schemeClr val="accent1"/>
                </a:solidFill>
              </a:rPr>
              <a:t>a </a:t>
            </a:r>
            <a:r>
              <a:rPr lang="en-IN" dirty="0" smtClean="0">
                <a:solidFill>
                  <a:schemeClr val="accent1"/>
                </a:solidFill>
              </a:rPr>
              <a:t>leader in </a:t>
            </a:r>
            <a:r>
              <a:rPr lang="en-IN" dirty="0">
                <a:solidFill>
                  <a:schemeClr val="accent1"/>
                </a:solidFill>
              </a:rPr>
              <a:t>providing public cloud services (http://aws.amazon.com/). </a:t>
            </a:r>
            <a:endParaRPr lang="en-IN" dirty="0" smtClean="0">
              <a:solidFill>
                <a:schemeClr val="accent1"/>
              </a:solidFill>
            </a:endParaRPr>
          </a:p>
          <a:p>
            <a:r>
              <a:rPr lang="en-IN" dirty="0" smtClean="0"/>
              <a:t>Amazon </a:t>
            </a:r>
            <a:r>
              <a:rPr lang="en-IN" dirty="0"/>
              <a:t>applies the </a:t>
            </a:r>
            <a:r>
              <a:rPr lang="en-IN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IaaS</a:t>
            </a:r>
            <a:r>
              <a:rPr lang="en-IN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model</a:t>
            </a:r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/>
              <a:t>in </a:t>
            </a:r>
            <a:r>
              <a:rPr lang="en-IN" dirty="0" smtClean="0"/>
              <a:t>providing its </a:t>
            </a:r>
            <a:r>
              <a:rPr lang="en-IN" dirty="0"/>
              <a:t>services.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E8C35-E605-4348-B377-D0866FC0FC4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09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AWS Architecture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7" y="1233512"/>
            <a:ext cx="9037637" cy="500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251E3-2429-43A6-8089-5555BAC4D50A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8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AWS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55172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 smtClean="0"/>
              <a:t>The Figure shows </a:t>
            </a:r>
            <a:r>
              <a:rPr lang="en-IN" sz="2400" dirty="0"/>
              <a:t>the AWS architecture. </a:t>
            </a:r>
            <a:endParaRPr lang="en-IN" sz="2400" dirty="0" smtClean="0"/>
          </a:p>
          <a:p>
            <a:r>
              <a:rPr lang="en-IN" sz="2400" dirty="0" smtClean="0">
                <a:solidFill>
                  <a:schemeClr val="accent1"/>
                </a:solidFill>
              </a:rPr>
              <a:t>EC2 (Elastic Compute Cloud)</a:t>
            </a:r>
            <a:r>
              <a:rPr lang="en-IN" sz="2400" dirty="0" smtClean="0"/>
              <a:t> provides </a:t>
            </a:r>
            <a:r>
              <a:rPr lang="en-IN" sz="2400" dirty="0"/>
              <a:t>the virtualized platforms to the </a:t>
            </a:r>
            <a:r>
              <a:rPr lang="en-IN" sz="2400" dirty="0">
                <a:solidFill>
                  <a:schemeClr val="accent1"/>
                </a:solidFill>
              </a:rPr>
              <a:t>host VMs </a:t>
            </a:r>
            <a:r>
              <a:rPr lang="en-IN" sz="2400" dirty="0"/>
              <a:t>where the cloud application can run. </a:t>
            </a:r>
            <a:endParaRPr lang="en-IN" sz="2400" dirty="0" smtClean="0"/>
          </a:p>
          <a:p>
            <a:r>
              <a:rPr lang="en-IN" sz="2400" dirty="0" smtClean="0">
                <a:solidFill>
                  <a:schemeClr val="accent1"/>
                </a:solidFill>
              </a:rPr>
              <a:t>S3 </a:t>
            </a:r>
            <a:r>
              <a:rPr lang="en-IN" sz="2400" dirty="0">
                <a:solidFill>
                  <a:schemeClr val="accent1"/>
                </a:solidFill>
              </a:rPr>
              <a:t>(Simple Storage Service) </a:t>
            </a:r>
            <a:r>
              <a:rPr lang="en-IN" sz="2400" dirty="0"/>
              <a:t>provides the </a:t>
            </a:r>
            <a:r>
              <a:rPr lang="en-IN" sz="2400" dirty="0">
                <a:solidFill>
                  <a:schemeClr val="accent1"/>
                </a:solidFill>
              </a:rPr>
              <a:t>object-oriented storage service for users. </a:t>
            </a:r>
          </a:p>
          <a:p>
            <a:r>
              <a:rPr lang="en-IN" sz="2400" dirty="0">
                <a:solidFill>
                  <a:schemeClr val="accent1"/>
                </a:solidFill>
              </a:rPr>
              <a:t>EBS (Elastic Block Service) </a:t>
            </a:r>
            <a:r>
              <a:rPr lang="en-IN" sz="2400" dirty="0"/>
              <a:t>provides the </a:t>
            </a:r>
            <a:r>
              <a:rPr lang="en-IN" sz="2400" dirty="0">
                <a:solidFill>
                  <a:schemeClr val="accent1"/>
                </a:solidFill>
              </a:rPr>
              <a:t>block </a:t>
            </a:r>
            <a:r>
              <a:rPr lang="en-IN" sz="2400" dirty="0" smtClean="0">
                <a:solidFill>
                  <a:schemeClr val="accent1"/>
                </a:solidFill>
              </a:rPr>
              <a:t>storage interface </a:t>
            </a:r>
            <a:r>
              <a:rPr lang="en-IN" sz="2400" dirty="0"/>
              <a:t>which can be used to support traditional applications. </a:t>
            </a:r>
            <a:endParaRPr lang="en-IN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CDB0C-5B75-4CA1-954C-144B1D9D4C0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63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AWS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5517232"/>
          </a:xfrm>
        </p:spPr>
        <p:txBody>
          <a:bodyPr>
            <a:noAutofit/>
          </a:bodyPr>
          <a:lstStyle/>
          <a:p>
            <a:r>
              <a:rPr lang="en-IN" sz="2400" dirty="0" smtClean="0">
                <a:solidFill>
                  <a:schemeClr val="accent1"/>
                </a:solidFill>
              </a:rPr>
              <a:t>SQS </a:t>
            </a:r>
            <a:r>
              <a:rPr lang="en-IN" sz="2400" dirty="0">
                <a:solidFill>
                  <a:schemeClr val="accent1"/>
                </a:solidFill>
              </a:rPr>
              <a:t>stands for Simple </a:t>
            </a:r>
            <a:r>
              <a:rPr lang="en-IN" sz="2400" dirty="0" smtClean="0">
                <a:solidFill>
                  <a:schemeClr val="accent1"/>
                </a:solidFill>
              </a:rPr>
              <a:t>Queue Service</a:t>
            </a:r>
            <a:r>
              <a:rPr lang="en-IN" sz="2400" dirty="0"/>
              <a:t>, and its job is to ensure a reliable </a:t>
            </a:r>
            <a:r>
              <a:rPr lang="en-IN" sz="2400" dirty="0">
                <a:solidFill>
                  <a:schemeClr val="accent1"/>
                </a:solidFill>
              </a:rPr>
              <a:t>message service between two processes</a:t>
            </a:r>
            <a:r>
              <a:rPr lang="en-IN" sz="2400" dirty="0"/>
              <a:t>. The message </a:t>
            </a:r>
            <a:r>
              <a:rPr lang="en-IN" sz="2400" dirty="0" smtClean="0"/>
              <a:t>can be </a:t>
            </a:r>
            <a:r>
              <a:rPr lang="en-IN" sz="2400" dirty="0"/>
              <a:t>kept reliably even when the receiver processes are not running. </a:t>
            </a:r>
            <a:endParaRPr lang="en-IN" sz="2400" dirty="0" smtClean="0"/>
          </a:p>
          <a:p>
            <a:r>
              <a:rPr lang="en-IN" sz="2400" dirty="0" smtClean="0"/>
              <a:t>Users </a:t>
            </a:r>
            <a:r>
              <a:rPr lang="en-IN" sz="2400" dirty="0"/>
              <a:t>can </a:t>
            </a:r>
            <a:r>
              <a:rPr lang="en-IN" sz="2400" dirty="0">
                <a:solidFill>
                  <a:schemeClr val="accent1"/>
                </a:solidFill>
              </a:rPr>
              <a:t>access their </a:t>
            </a:r>
            <a:r>
              <a:rPr lang="en-IN" sz="2400" dirty="0" smtClean="0">
                <a:solidFill>
                  <a:schemeClr val="accent1"/>
                </a:solidFill>
              </a:rPr>
              <a:t>objects through </a:t>
            </a:r>
            <a:r>
              <a:rPr lang="en-IN" sz="2400" dirty="0">
                <a:solidFill>
                  <a:schemeClr val="accent1"/>
                </a:solidFill>
              </a:rPr>
              <a:t>SOAP with either browsers or other client programs which support the SOAP standard.</a:t>
            </a: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96222-2013-4B53-8E39-01D2D1645FB9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91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AWS Offerings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8" t="31255" r="9612" b="27122"/>
          <a:stretch>
            <a:fillRect/>
          </a:stretch>
        </p:blipFill>
        <p:spPr bwMode="auto">
          <a:xfrm>
            <a:off x="215900" y="1864643"/>
            <a:ext cx="8785225" cy="408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C9A9D-5407-4CCC-88FC-AEAF8DAF1594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09675-7638-4C9C-9A8D-D68E2E13A86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27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Amazon Web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8208912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7A32A-E384-4D13-A168-6ED6EC01EC2E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15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Compute services </a:t>
            </a:r>
            <a:r>
              <a:rPr lang="en-US" sz="2400" b="1" dirty="0" smtClean="0"/>
              <a:t>constitute the fundamental element of cloud computing systems. </a:t>
            </a:r>
          </a:p>
          <a:p>
            <a:r>
              <a:rPr lang="en-US" sz="2400" dirty="0" smtClean="0"/>
              <a:t>The fundamental service in this space is Amazon EC2, which delivers </a:t>
            </a:r>
            <a:r>
              <a:rPr lang="en-US" sz="2400" b="1" dirty="0" smtClean="0"/>
              <a:t>an </a:t>
            </a:r>
            <a:r>
              <a:rPr lang="en-US" sz="2400" b="1" dirty="0" err="1" smtClean="0"/>
              <a:t>IaaS</a:t>
            </a:r>
            <a:r>
              <a:rPr lang="en-US" sz="2400" b="1" dirty="0" smtClean="0"/>
              <a:t> solution that has served as a reference model for several offerings from other vendors in the same market segment.</a:t>
            </a:r>
            <a:r>
              <a:rPr lang="en-US" sz="2400" dirty="0" smtClean="0"/>
              <a:t> 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498B4-4502-4FEC-858F-188B8CB27F3E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25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Amazon EC2 allows </a:t>
            </a:r>
            <a:r>
              <a:rPr lang="en-US" sz="2400" b="1" dirty="0" smtClean="0"/>
              <a:t>deploying servers in the form of virtual machines created as instances of a specific image. </a:t>
            </a:r>
          </a:p>
          <a:p>
            <a:r>
              <a:rPr lang="en-US" sz="2400" b="1" dirty="0" smtClean="0"/>
              <a:t>Images come with a preinstalled operating system and a software stack, and instances can be configured for memory, number of processors, and storage. </a:t>
            </a:r>
          </a:p>
          <a:p>
            <a:r>
              <a:rPr lang="en-US" sz="2400" b="1" dirty="0" smtClean="0"/>
              <a:t>Users are provided with credentials to remotely access the </a:t>
            </a:r>
            <a:r>
              <a:rPr lang="en-US" sz="2400" dirty="0" smtClean="0"/>
              <a:t>instance and further configure or install software if needed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1A6C5-5F7C-426A-A21A-D97E28BDEA51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44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machine images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Amazon Machine Images (AMIs) are </a:t>
            </a:r>
            <a:r>
              <a:rPr lang="en-US" sz="2400" b="1" dirty="0" smtClean="0">
                <a:solidFill>
                  <a:srgbClr val="FF0000"/>
                </a:solidFill>
              </a:rPr>
              <a:t>templates from which it is possible to create a virtual machine</a:t>
            </a:r>
            <a:r>
              <a:rPr lang="en-US" sz="2400" dirty="0" smtClean="0">
                <a:solidFill>
                  <a:srgbClr val="FF0000"/>
                </a:solidFill>
              </a:rPr>
              <a:t>. </a:t>
            </a:r>
          </a:p>
          <a:p>
            <a:r>
              <a:rPr lang="en-US" sz="2400" b="1" dirty="0" smtClean="0"/>
              <a:t>They are stored in Amazon Simple Storage Service S3 </a:t>
            </a:r>
            <a:r>
              <a:rPr lang="en-US" sz="2400" dirty="0" smtClean="0"/>
              <a:t>and </a:t>
            </a:r>
          </a:p>
          <a:p>
            <a:r>
              <a:rPr lang="en-US" sz="2400" b="1" dirty="0" smtClean="0"/>
              <a:t>Identified by a unique identifier in the form of </a:t>
            </a:r>
            <a:r>
              <a:rPr lang="en-US" sz="2400" b="1" dirty="0" err="1" smtClean="0"/>
              <a:t>ami-xxxxxx</a:t>
            </a:r>
            <a:r>
              <a:rPr lang="en-US" sz="2400" b="1" dirty="0" smtClean="0"/>
              <a:t> and a manifest XML file.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D8B0-C6A3-49FE-BDE2-B465CD3A6D57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04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machine images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An AMI contains a physical file system layout with a </a:t>
            </a:r>
            <a:r>
              <a:rPr lang="en-US" sz="2400" b="1" dirty="0" smtClean="0"/>
              <a:t>predefined operating system installed. </a:t>
            </a:r>
          </a:p>
          <a:p>
            <a:r>
              <a:rPr lang="en-US" sz="2400" b="1" dirty="0" smtClean="0"/>
              <a:t>These are specified by the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b="1" dirty="0" smtClean="0">
                <a:solidFill>
                  <a:srgbClr val="FF0000"/>
                </a:solidFill>
              </a:rPr>
              <a:t>Amazon </a:t>
            </a:r>
            <a:r>
              <a:rPr lang="en-US" sz="2400" b="1" dirty="0" err="1" smtClean="0">
                <a:solidFill>
                  <a:srgbClr val="FF0000"/>
                </a:solidFill>
              </a:rPr>
              <a:t>Ramdisk</a:t>
            </a:r>
            <a:r>
              <a:rPr lang="en-US" sz="2400" b="1" dirty="0" smtClean="0">
                <a:solidFill>
                  <a:srgbClr val="FF0000"/>
                </a:solidFill>
              </a:rPr>
              <a:t> Image (ARI, id: </a:t>
            </a:r>
            <a:r>
              <a:rPr lang="en-US" sz="2400" b="1" dirty="0" err="1" smtClean="0">
                <a:solidFill>
                  <a:srgbClr val="FF0000"/>
                </a:solidFill>
              </a:rPr>
              <a:t>ari-yyyyyy</a:t>
            </a:r>
            <a:r>
              <a:rPr lang="en-US" sz="2400" b="1" dirty="0" smtClean="0">
                <a:solidFill>
                  <a:srgbClr val="FF0000"/>
                </a:solidFill>
              </a:rPr>
              <a:t>) and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b="1" dirty="0" smtClean="0">
                <a:solidFill>
                  <a:srgbClr val="FF0000"/>
                </a:solidFill>
              </a:rPr>
              <a:t>Amazon Kernel Image (AKI, id: </a:t>
            </a:r>
            <a:r>
              <a:rPr lang="en-US" sz="2400" b="1" dirty="0" err="1" smtClean="0">
                <a:solidFill>
                  <a:srgbClr val="FF0000"/>
                </a:solidFill>
              </a:rPr>
              <a:t>aki-zzzzzz</a:t>
            </a:r>
            <a:r>
              <a:rPr lang="en-US" sz="2400" b="1" dirty="0" smtClean="0">
                <a:solidFill>
                  <a:srgbClr val="FF0000"/>
                </a:solidFill>
              </a:rPr>
              <a:t>), </a:t>
            </a:r>
          </a:p>
          <a:p>
            <a:r>
              <a:rPr lang="en-US" sz="2400" b="1" dirty="0" smtClean="0"/>
              <a:t>which are part of the configuration of the template</a:t>
            </a:r>
            <a:r>
              <a:rPr lang="en-US" sz="2400" dirty="0" smtClean="0"/>
              <a:t>. </a:t>
            </a:r>
          </a:p>
          <a:p>
            <a:endParaRPr lang="en-US" sz="2400" dirty="0"/>
          </a:p>
          <a:p>
            <a:r>
              <a:rPr lang="en-US" sz="2400" dirty="0" smtClean="0"/>
              <a:t>AMIs are either created from scratch or “bundled” from existing EC2 instances.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F0447-976B-492D-95DC-203F7F7DD56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43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machine images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Prepare a new AMIs?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To create an instance from a preexisting AMI,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L</a:t>
            </a:r>
            <a:r>
              <a:rPr lang="en-US" sz="2400" dirty="0" smtClean="0"/>
              <a:t>og into it once it is booted and running, and install all the software needed, customize the instance.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Then </a:t>
            </a:r>
            <a:r>
              <a:rPr lang="en-US" sz="2400" dirty="0"/>
              <a:t>save this updated configuration as a </a:t>
            </a:r>
            <a:r>
              <a:rPr lang="en-US" sz="2400" dirty="0" smtClean="0"/>
              <a:t>new custom </a:t>
            </a:r>
            <a:r>
              <a:rPr lang="en-US" sz="2400" dirty="0"/>
              <a:t>AMI. 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Instances </a:t>
            </a:r>
            <a:r>
              <a:rPr lang="en-US" sz="2400" dirty="0"/>
              <a:t>launched from this new custom AMI include the customizations that you made when you created the AMI.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Once an AMI is created, it is stored in an S3 bucket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15E28-334F-4E88-BCE2-5FCF0373B96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43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/>
          <a:lstStyle/>
          <a:p>
            <a:r>
              <a:rPr lang="en-US" dirty="0" smtClean="0"/>
              <a:t>Amazon machine images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The user can decide whether to make it available to other users or keep it for personal use. </a:t>
            </a:r>
            <a:endParaRPr lang="en-US" sz="2400" b="1" dirty="0"/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94250-BE8E-44D7-BC33-169E2583FA01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4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Amazon machine images-Revenue Generation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Finally, it is also possible to </a:t>
            </a:r>
            <a:r>
              <a:rPr lang="en-US" sz="2400" b="1" dirty="0" smtClean="0"/>
              <a:t>associate a product code with a given AMI, thus allowing the owner of the AMI to get revenue every time this AMI is used to create EC2 instances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11BF5-20F3-4E91-A165-F052E4E31F11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58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1784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Buy, share, and sell AMIs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After you create an AMI, you can keep it private so that only you can use it, or </a:t>
            </a:r>
            <a:endParaRPr lang="en-US" sz="2400" dirty="0" smtClean="0"/>
          </a:p>
          <a:p>
            <a:r>
              <a:rPr lang="en-US" sz="2400" dirty="0" smtClean="0"/>
              <a:t>You </a:t>
            </a:r>
            <a:r>
              <a:rPr lang="en-US" sz="2400" dirty="0"/>
              <a:t>can share it with a specified list of AWS accounts. </a:t>
            </a:r>
            <a:endParaRPr lang="en-US" sz="2400" dirty="0" smtClean="0"/>
          </a:p>
          <a:p>
            <a:r>
              <a:rPr lang="en-US" sz="2400" dirty="0" smtClean="0"/>
              <a:t>You </a:t>
            </a:r>
            <a:r>
              <a:rPr lang="en-US" sz="2400" dirty="0"/>
              <a:t>can also make your custom AMI public so that the community can use it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You can also create an AMI and sell it to other Amazon EC2 users.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683568" y="5939988"/>
            <a:ext cx="71105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https://docs.aws.amazon.com/AWSEC2/latest/UserGuide/AMIs.html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84EF-02B1-41A2-95EE-EEACBB68581B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64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instances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Elastic Compute Cloud</a:t>
            </a:r>
          </a:p>
          <a:p>
            <a:r>
              <a:rPr lang="en-US" sz="2400" b="1" dirty="0" smtClean="0"/>
              <a:t>EC2 instances represent virtual machines. </a:t>
            </a:r>
          </a:p>
          <a:p>
            <a:r>
              <a:rPr lang="en-US" sz="2400" b="1" dirty="0" smtClean="0"/>
              <a:t>They are created using AMI as templates, </a:t>
            </a:r>
            <a:r>
              <a:rPr lang="en-US" sz="2400" dirty="0" smtClean="0"/>
              <a:t>which are specialized by selecting the number of cores, their computing power, and the installed memory. </a:t>
            </a:r>
          </a:p>
          <a:p>
            <a:r>
              <a:rPr lang="en-US" sz="2400" b="1" dirty="0" smtClean="0"/>
              <a:t>The processing power is expressed in terms of virtual cores and EC2 Compute Units (ECUs). 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45B84-D40A-4E56-8351-2EE1F5758DA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67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EC2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The </a:t>
            </a:r>
            <a:r>
              <a:rPr lang="en-US" sz="2400" b="1" dirty="0"/>
              <a:t>EC2 Compute Units </a:t>
            </a:r>
            <a:r>
              <a:rPr lang="en-US" sz="2400" b="1" dirty="0" smtClean="0"/>
              <a:t>(ECU) is a measure of the computing power of a virtual core; </a:t>
            </a:r>
            <a:r>
              <a:rPr lang="en-US" sz="2400" dirty="0" smtClean="0"/>
              <a:t>it is used to express a predictable quantity of real CPU power that is allocated to an instance. </a:t>
            </a:r>
          </a:p>
          <a:p>
            <a:r>
              <a:rPr lang="en-US" sz="2400" dirty="0" smtClean="0"/>
              <a:t>By using compute units instead of real frequency values, </a:t>
            </a:r>
            <a:r>
              <a:rPr lang="en-US" sz="2400" b="1" dirty="0" smtClean="0"/>
              <a:t>Amazon can change over time the mapping of such units to the underlying real amount of computing power allocated, </a:t>
            </a:r>
            <a:r>
              <a:rPr lang="en-US" sz="2400" dirty="0" smtClean="0"/>
              <a:t>thus keeping the performance of EC2 instances consistent with standards set by the times.</a:t>
            </a: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32274-2028-406A-9279-7DF3A4E320FE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47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EC2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We can identify six major categories: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b="1" dirty="0" smtClean="0"/>
              <a:t>Standard instances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b="1" dirty="0" smtClean="0"/>
              <a:t>Micro instances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b="1" dirty="0" smtClean="0"/>
              <a:t>High-memory instances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b="1" dirty="0" smtClean="0"/>
              <a:t>High-CPU instances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b="1" dirty="0" smtClean="0"/>
              <a:t>Cluster Compute instances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b="1" dirty="0" smtClean="0"/>
              <a:t>Cluster GPU instances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4A364-0081-4B3E-9C0A-A7A59F134C97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67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EC2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Standard instances-</a:t>
            </a:r>
          </a:p>
          <a:p>
            <a:r>
              <a:rPr lang="en-US" sz="2400" b="1" dirty="0" smtClean="0"/>
              <a:t>This class offers a set of configurations that are suitable for most applications.</a:t>
            </a:r>
          </a:p>
          <a:p>
            <a:r>
              <a:rPr lang="en-US" sz="2400" dirty="0"/>
              <a:t>EC2 provides </a:t>
            </a:r>
            <a:r>
              <a:rPr lang="en-US" sz="2400" b="1" dirty="0"/>
              <a:t>three different categories</a:t>
            </a:r>
            <a:r>
              <a:rPr lang="en-US" sz="2400" dirty="0"/>
              <a:t> of increasing computing power, storage, and </a:t>
            </a:r>
            <a:r>
              <a:rPr lang="en-US" sz="2400" dirty="0" smtClean="0"/>
              <a:t>memory.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52863-F4AB-4259-AB6B-45FF780D36F3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2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EC2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Micro instances-</a:t>
            </a:r>
          </a:p>
          <a:p>
            <a:r>
              <a:rPr lang="en-US" sz="2400" dirty="0" smtClean="0"/>
              <a:t>This class is suitable for those applications that consume a </a:t>
            </a:r>
            <a:r>
              <a:rPr lang="en-US" sz="2400" b="1" dirty="0" smtClean="0"/>
              <a:t>limited amount of computing power and memory </a:t>
            </a:r>
            <a:r>
              <a:rPr lang="en-US" sz="2400" dirty="0" smtClean="0"/>
              <a:t>and </a:t>
            </a:r>
            <a:r>
              <a:rPr lang="en-US" sz="2400" b="1" dirty="0" smtClean="0"/>
              <a:t>occasionally need </a:t>
            </a:r>
            <a:r>
              <a:rPr lang="en-US" sz="2400" dirty="0" smtClean="0"/>
              <a:t>bursts in CPU cycles to </a:t>
            </a:r>
            <a:r>
              <a:rPr lang="en-US" sz="2400" b="1" dirty="0" smtClean="0"/>
              <a:t>process surges in the workload. </a:t>
            </a:r>
          </a:p>
          <a:p>
            <a:r>
              <a:rPr lang="en-US" sz="2400" dirty="0" smtClean="0"/>
              <a:t>Micro instances can be used for </a:t>
            </a:r>
            <a:r>
              <a:rPr lang="en-US" sz="2400" b="1" dirty="0" smtClean="0"/>
              <a:t>small Web applications with limited traffic.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E388-9A3B-4557-A2D2-2F5891D865A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88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EC2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High-memory instances</a:t>
            </a:r>
          </a:p>
          <a:p>
            <a:r>
              <a:rPr lang="en-US" sz="2400" dirty="0" smtClean="0"/>
              <a:t>This class targets applications that need to </a:t>
            </a:r>
            <a:r>
              <a:rPr lang="en-US" sz="2400" b="1" dirty="0" smtClean="0"/>
              <a:t>process huge workloads and require large amounts of memory. </a:t>
            </a:r>
          </a:p>
          <a:p>
            <a:r>
              <a:rPr lang="en-US" sz="2400" dirty="0" smtClean="0"/>
              <a:t>Three-tier </a:t>
            </a:r>
            <a:r>
              <a:rPr lang="en-US" sz="2400" b="1" dirty="0" smtClean="0"/>
              <a:t>Web applications characterized by high traffic</a:t>
            </a:r>
            <a:r>
              <a:rPr lang="en-US" sz="2400" dirty="0" smtClean="0"/>
              <a:t> are the target profile. </a:t>
            </a:r>
          </a:p>
          <a:p>
            <a:r>
              <a:rPr lang="en-US" sz="2400" b="1" dirty="0" smtClean="0"/>
              <a:t>Three categories of increasing memory and CPU</a:t>
            </a:r>
            <a:r>
              <a:rPr lang="en-US" sz="2400" dirty="0" smtClean="0"/>
              <a:t> are available, </a:t>
            </a:r>
            <a:r>
              <a:rPr lang="en-US" sz="2400" b="1" dirty="0" smtClean="0"/>
              <a:t>with memory proportionally larger than computing power.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91912-60AD-4F3F-911A-AAA18839A1C5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88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EC2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High-CPU instances-</a:t>
            </a:r>
          </a:p>
          <a:p>
            <a:r>
              <a:rPr lang="en-US" sz="2400" dirty="0" smtClean="0"/>
              <a:t>This class targets </a:t>
            </a:r>
            <a:r>
              <a:rPr lang="en-US" sz="2400" b="1" dirty="0" smtClean="0"/>
              <a:t>compute-intensive applications.</a:t>
            </a:r>
            <a:r>
              <a:rPr lang="en-US" sz="2400" dirty="0" smtClean="0"/>
              <a:t> </a:t>
            </a:r>
          </a:p>
          <a:p>
            <a:r>
              <a:rPr lang="en-US" sz="2400" b="1" dirty="0" smtClean="0"/>
              <a:t>Two configurations are available</a:t>
            </a:r>
            <a:r>
              <a:rPr lang="en-US" sz="2400" dirty="0" smtClean="0"/>
              <a:t> where </a:t>
            </a:r>
            <a:r>
              <a:rPr lang="en-US" sz="2400" b="1" dirty="0" smtClean="0"/>
              <a:t>computing power proportionally increases more than memory.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2D7F-BFCA-4342-8588-29B8FDBC1F3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88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EC2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Cluster Compute instances-</a:t>
            </a:r>
          </a:p>
          <a:p>
            <a:r>
              <a:rPr lang="en-US" sz="2400" dirty="0" smtClean="0"/>
              <a:t>This class is </a:t>
            </a:r>
            <a:r>
              <a:rPr lang="en-US" sz="2400" b="1" dirty="0" smtClean="0"/>
              <a:t>used to provide virtual cluster services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Instances in this category are characterized </a:t>
            </a:r>
            <a:r>
              <a:rPr lang="en-US" sz="2400" b="1" dirty="0" smtClean="0"/>
              <a:t>by high CPU compute power and large memory and an extremely high I/O</a:t>
            </a:r>
            <a:r>
              <a:rPr lang="en-US" sz="2400" dirty="0" smtClean="0"/>
              <a:t> and network performance, which makes it </a:t>
            </a:r>
            <a:r>
              <a:rPr lang="en-US" sz="2400" b="1" dirty="0" smtClean="0"/>
              <a:t>suitable for HPC applications.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FD11-883E-4968-8133-EDCD2779B399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88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EC2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Cluster GPU instances-</a:t>
            </a:r>
          </a:p>
          <a:p>
            <a:r>
              <a:rPr lang="en-US" sz="2400" dirty="0" smtClean="0"/>
              <a:t>This class provides </a:t>
            </a:r>
            <a:r>
              <a:rPr lang="en-US" sz="2400" b="1" dirty="0" smtClean="0"/>
              <a:t>instances featuring graphic processing units (GPUs)</a:t>
            </a:r>
            <a:r>
              <a:rPr lang="en-US" sz="2400" dirty="0" smtClean="0"/>
              <a:t> and high compute power, large memory, and extremely high I/O and network performance. </a:t>
            </a:r>
          </a:p>
          <a:p>
            <a:r>
              <a:rPr lang="en-US" sz="2400" dirty="0" smtClean="0"/>
              <a:t>This class is particularly </a:t>
            </a:r>
            <a:r>
              <a:rPr lang="en-US" sz="2400" b="1" dirty="0" smtClean="0"/>
              <a:t>suited for cluster applications that perform heavy graphic computations</a:t>
            </a:r>
            <a:r>
              <a:rPr lang="en-US" sz="2400" dirty="0" smtClean="0"/>
              <a:t>, such as rendering clusters. </a:t>
            </a:r>
          </a:p>
          <a:p>
            <a:r>
              <a:rPr lang="en-US" sz="2400" b="1" dirty="0" smtClean="0"/>
              <a:t>Since GPU can be used for general-purpose computing, users of such instances can benefit from additional computing </a:t>
            </a:r>
            <a:r>
              <a:rPr lang="en-US" sz="2400" dirty="0" smtClean="0"/>
              <a:t>power, which makes this class suitable for </a:t>
            </a:r>
            <a:r>
              <a:rPr lang="en-US" sz="2400" b="1" dirty="0" smtClean="0"/>
              <a:t>HPC applications.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A394-7FBF-4D92-A40A-C15D02167619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88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352928" cy="6062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6F56-FEE9-4D82-8892-EAF3E949255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2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EC2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EC2 instances are </a:t>
            </a:r>
            <a:r>
              <a:rPr lang="en-US" sz="2400" b="1" dirty="0"/>
              <a:t>priced hourly according to the category they belong to. </a:t>
            </a:r>
            <a:endParaRPr lang="en-US" sz="2400" b="1" dirty="0" smtClean="0"/>
          </a:p>
          <a:p>
            <a:r>
              <a:rPr lang="en-US" sz="2400" dirty="0" smtClean="0"/>
              <a:t>At </a:t>
            </a:r>
            <a:r>
              <a:rPr lang="en-US" sz="2400" dirty="0"/>
              <a:t>the beginning </a:t>
            </a:r>
            <a:r>
              <a:rPr lang="en-US" sz="2400" dirty="0" smtClean="0"/>
              <a:t>of every </a:t>
            </a:r>
            <a:r>
              <a:rPr lang="en-US" sz="2400" dirty="0"/>
              <a:t>hour of usage, </a:t>
            </a:r>
            <a:r>
              <a:rPr lang="en-US" sz="2400" b="1" dirty="0"/>
              <a:t>the user will be charged the cost of the entire hour.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hourly </a:t>
            </a:r>
            <a:r>
              <a:rPr lang="en-US" sz="2400" dirty="0" smtClean="0"/>
              <a:t>expense charged </a:t>
            </a:r>
            <a:r>
              <a:rPr lang="en-US" sz="2400" dirty="0"/>
              <a:t>for one instance is constant.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20AF-8019-49A7-B168-8DA8CFCD745B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87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EC2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EC2 instances can be </a:t>
            </a:r>
            <a:r>
              <a:rPr lang="en-US" sz="2400" b="1" dirty="0"/>
              <a:t>run either by </a:t>
            </a:r>
            <a:endParaRPr lang="en-US" sz="2400" b="1" dirty="0" smtClean="0"/>
          </a:p>
          <a:p>
            <a:r>
              <a:rPr lang="en-US" sz="2400" b="1" dirty="0" smtClean="0"/>
              <a:t>using </a:t>
            </a:r>
            <a:r>
              <a:rPr lang="en-US" sz="2400" b="1" dirty="0"/>
              <a:t>the command-line tools provided by Amazon</a:t>
            </a:r>
            <a:r>
              <a:rPr lang="en-US" sz="2400" dirty="0"/>
              <a:t>, which connects the Amazon Web Service that provides remote access to the EC2 infrastructure, or </a:t>
            </a:r>
            <a:endParaRPr lang="en-US" sz="2400" dirty="0" smtClean="0"/>
          </a:p>
          <a:p>
            <a:r>
              <a:rPr lang="en-US" sz="2400" b="1" dirty="0" smtClean="0"/>
              <a:t>via </a:t>
            </a:r>
            <a:r>
              <a:rPr lang="en-US" sz="2400" b="1" dirty="0"/>
              <a:t>the AWS console, which allows the management of other services, such as S3. 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D3323-4FF5-4042-A486-8DBA5AD9816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95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EC2 instances are executed within a virtual environment, which </a:t>
            </a:r>
            <a:r>
              <a:rPr lang="en-US" sz="2400" b="1" dirty="0" smtClean="0"/>
              <a:t>provides them with the services </a:t>
            </a:r>
            <a:r>
              <a:rPr lang="en-US" sz="2400" dirty="0" smtClean="0"/>
              <a:t>they require to host applications. </a:t>
            </a:r>
          </a:p>
          <a:p>
            <a:r>
              <a:rPr lang="en-US" sz="2400" b="1" dirty="0" smtClean="0"/>
              <a:t>The EC2 environment is in charge of </a:t>
            </a:r>
          </a:p>
          <a:p>
            <a:r>
              <a:rPr lang="en-US" sz="2400" b="1" dirty="0" smtClean="0"/>
              <a:t>allocating addresses, </a:t>
            </a:r>
          </a:p>
          <a:p>
            <a:r>
              <a:rPr lang="en-US" sz="2400" b="1" dirty="0" smtClean="0"/>
              <a:t>attaching storage volumes, and </a:t>
            </a:r>
          </a:p>
          <a:p>
            <a:r>
              <a:rPr lang="en-US" sz="2400" b="1" dirty="0" smtClean="0"/>
              <a:t>configuring security</a:t>
            </a:r>
            <a:r>
              <a:rPr lang="en-US" sz="2400" dirty="0" smtClean="0"/>
              <a:t> in terms of </a:t>
            </a:r>
            <a:r>
              <a:rPr lang="en-US" sz="2400" b="1" dirty="0" smtClean="0"/>
              <a:t>access control and network connectivity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D1FDC-C1E5-43AA-AF46-C27FF3B89EE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97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By default, instances are created with </a:t>
            </a:r>
            <a:r>
              <a:rPr lang="en-US" sz="2400" b="1" dirty="0" smtClean="0"/>
              <a:t>an internal IP address, which makes them capable of communicating within the EC2 network and accessing the Internet as clients.</a:t>
            </a:r>
            <a:r>
              <a:rPr lang="en-US" sz="2400" dirty="0" smtClean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026B5-306D-4060-8696-1FFC9408DE88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05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It is possible to </a:t>
            </a:r>
            <a:r>
              <a:rPr lang="en-US" sz="2400" b="1" dirty="0"/>
              <a:t>associate an Elastic IP to each instance, which can then be remapped to a different instance over time. </a:t>
            </a:r>
          </a:p>
          <a:p>
            <a:r>
              <a:rPr lang="en-US" sz="2400" dirty="0" smtClean="0"/>
              <a:t>Elastic IPs allow instances running in EC2 to act as servers reachable from the Internet and, </a:t>
            </a:r>
          </a:p>
          <a:p>
            <a:r>
              <a:rPr lang="en-US" sz="2400" dirty="0" smtClean="0"/>
              <a:t>since they are </a:t>
            </a:r>
            <a:r>
              <a:rPr lang="en-US" sz="2400" b="1" dirty="0" smtClean="0"/>
              <a:t>not strictly bound to specific instances, to implement failover capabilities.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324A0-6597-4352-834B-1A0BC53729E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95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The auto-assigned public IP address associated with my Amazon Elastic Compute Cloud (Amazon EC2) instance changes every time I stop and start the instance. 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How can I assign a static public IP address to my Windows or Linux EC2 instance that doesn't change when I stop/start the instance?</a:t>
            </a:r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B2B-9E83-48F3-A4DE-567F2174369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91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Solution-</a:t>
            </a:r>
          </a:p>
          <a:p>
            <a:pPr marL="0" indent="0">
              <a:buNone/>
            </a:pPr>
            <a:r>
              <a:rPr lang="en-US" sz="2400" dirty="0" smtClean="0"/>
              <a:t>Short description</a:t>
            </a:r>
          </a:p>
          <a:p>
            <a:r>
              <a:rPr lang="en-US" sz="2400" dirty="0" smtClean="0"/>
              <a:t>An Elastic IP address is a static public IPv4 address associated with your AWS account in a specific Region. </a:t>
            </a:r>
          </a:p>
          <a:p>
            <a:r>
              <a:rPr lang="en-US" sz="2400" dirty="0" smtClean="0"/>
              <a:t>Unlike an auto-assigned public IP address, </a:t>
            </a:r>
            <a:r>
              <a:rPr lang="en-US" sz="2400" b="1" dirty="0" smtClean="0"/>
              <a:t>an Elastic IP address is preserved after you stop and start your instance in a virtual private cloud (VPC).</a:t>
            </a:r>
            <a:endParaRPr lang="en-IN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323528" y="6093296"/>
            <a:ext cx="7686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https://aws.amazon.com/premiumsupport/knowledge-center/ec2-associate-static-public-ip/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AE511-7340-4E17-8331-E6CF5A621050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25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22921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EC2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20688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 smtClean="0"/>
              <a:t>Together with an external IP, </a:t>
            </a:r>
          </a:p>
          <a:p>
            <a:r>
              <a:rPr lang="en-US" sz="2400" b="1" dirty="0" smtClean="0"/>
              <a:t>EC2 instances are also given a domain name </a:t>
            </a:r>
            <a:r>
              <a:rPr lang="en-US" sz="2400" dirty="0" smtClean="0"/>
              <a:t>that generally is in the form </a:t>
            </a:r>
          </a:p>
          <a:p>
            <a:r>
              <a:rPr lang="en-US" sz="2400" b="1" dirty="0" smtClean="0"/>
              <a:t>ec2-xx-xx-xx-xx.compute-x.amazonaws.com</a:t>
            </a:r>
            <a:r>
              <a:rPr lang="en-US" sz="2400" dirty="0" smtClean="0"/>
              <a:t>,</a:t>
            </a:r>
          </a:p>
          <a:p>
            <a:r>
              <a:rPr lang="en-US" sz="2400" dirty="0" smtClean="0"/>
              <a:t>where </a:t>
            </a:r>
          </a:p>
          <a:p>
            <a:r>
              <a:rPr lang="en-US" sz="2400" dirty="0" smtClean="0"/>
              <a:t>xx-xx-xx-xx =four parts of the external IP address separated by a dash, </a:t>
            </a:r>
          </a:p>
          <a:p>
            <a:r>
              <a:rPr lang="en-US" sz="2400" dirty="0" smtClean="0"/>
              <a:t>compute-x = information about the availability zone where instances are deployed. 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IN" sz="2400" dirty="0" err="1" smtClean="0"/>
              <a:t>Eg</a:t>
            </a:r>
            <a:r>
              <a:rPr lang="en-IN" sz="2400" dirty="0" smtClean="0"/>
              <a:t>- ec2-54-12-34-56.compute-1.amazonaws.com</a:t>
            </a:r>
          </a:p>
          <a:p>
            <a:pPr marL="0" indent="0">
              <a:buNone/>
            </a:pPr>
            <a:r>
              <a:rPr lang="en-US" sz="2400" dirty="0"/>
              <a:t>compute-1 for us-east-1</a:t>
            </a:r>
            <a:r>
              <a:rPr lang="en-US" sz="2400" dirty="0" smtClean="0"/>
              <a:t>,</a:t>
            </a:r>
          </a:p>
          <a:p>
            <a:pPr marL="0" indent="0">
              <a:buNone/>
            </a:pPr>
            <a:r>
              <a:rPr lang="en-US" sz="2400" dirty="0" smtClean="0"/>
              <a:t>compute-2</a:t>
            </a:r>
            <a:r>
              <a:rPr lang="en-US" sz="2400" dirty="0"/>
              <a:t> for us-west-1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B1D61-579B-4702-B1F7-607E9A5A5CC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Prof. </a:t>
            </a:r>
            <a:r>
              <a:rPr lang="en-IN" dirty="0" err="1" smtClean="0"/>
              <a:t>Shweta</a:t>
            </a:r>
            <a:r>
              <a:rPr lang="en-IN" dirty="0" smtClean="0"/>
              <a:t> </a:t>
            </a:r>
            <a:r>
              <a:rPr lang="en-IN" dirty="0" err="1" smtClean="0"/>
              <a:t>Dhawan</a:t>
            </a:r>
            <a:r>
              <a:rPr lang="en-IN" dirty="0" smtClean="0"/>
              <a:t> </a:t>
            </a:r>
            <a:r>
              <a:rPr lang="en-IN" dirty="0" err="1" smtClean="0"/>
              <a:t>Chachra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63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Currently, there are five availability zones that are priced differently: </a:t>
            </a:r>
          </a:p>
          <a:p>
            <a:r>
              <a:rPr lang="en-US" sz="2400" b="1" dirty="0" smtClean="0"/>
              <a:t>two in the United States (Virginia and Northern California), </a:t>
            </a:r>
          </a:p>
          <a:p>
            <a:r>
              <a:rPr lang="en-US" sz="2400" b="1" dirty="0" smtClean="0"/>
              <a:t>one in Europe (Ireland), and </a:t>
            </a:r>
          </a:p>
          <a:p>
            <a:r>
              <a:rPr lang="en-US" sz="2400" b="1" dirty="0" smtClean="0"/>
              <a:t>two in Asia Pacific (Singapore and Tokyo).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6C403-92A6-431E-BD8C-EB7B506D0B6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3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Instance owners can partially control where to deploy instances. </a:t>
            </a:r>
          </a:p>
          <a:p>
            <a:r>
              <a:rPr lang="en-US" sz="2400" dirty="0" smtClean="0"/>
              <a:t>Instead, they have a finer control over the security of the instances as well as their network accessibility. </a:t>
            </a:r>
          </a:p>
          <a:p>
            <a:r>
              <a:rPr lang="en-US" sz="2400" b="1" dirty="0" smtClean="0"/>
              <a:t>Instance owners can associate a key pair to one or more instances when these instances are created. </a:t>
            </a:r>
          </a:p>
          <a:p>
            <a:r>
              <a:rPr lang="en-US" sz="2400" b="1" dirty="0" smtClean="0"/>
              <a:t>A key pair allows the owner to remotely connect to the instance once this is running and gain root access to it.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602E2-994E-48FA-8C6E-A6C70C060C9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57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EC2 environment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Amazon EC2 controls the accessibility of a virtual instance with basic firewall configuration</a:t>
            </a:r>
            <a:r>
              <a:rPr lang="en-US" sz="2400" dirty="0" smtClean="0"/>
              <a:t>, allowing the specification of source address, port, and protocols (TCP, UDP, ICMP). </a:t>
            </a:r>
          </a:p>
          <a:p>
            <a:r>
              <a:rPr lang="en-US" sz="2400" b="1" dirty="0" smtClean="0"/>
              <a:t>Rules can also be attached to security groups, and instances can be made part of one or more groups before their deployment. </a:t>
            </a:r>
          </a:p>
          <a:p>
            <a:r>
              <a:rPr lang="en-US" sz="2400" b="1" dirty="0" smtClean="0"/>
              <a:t>Security groups and firewall rules constitute a flexible way of providing basic security for EC2 instances,</a:t>
            </a:r>
            <a:r>
              <a:rPr lang="en-US" sz="2400" dirty="0" smtClean="0"/>
              <a:t> which has to be complemented by appropriate security configuration within the instance itself.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B319F-AF38-42E7-BB9C-FC3F10E7CA0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19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Amazon elastic </a:t>
            </a:r>
            <a:r>
              <a:rPr lang="en-IN" dirty="0" err="1" smtClean="0"/>
              <a:t>MapReduce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Amazon Elastic </a:t>
            </a:r>
            <a:r>
              <a:rPr lang="en-IN" sz="2400" dirty="0" err="1" smtClean="0"/>
              <a:t>MapReduce</a:t>
            </a:r>
            <a:r>
              <a:rPr lang="en-IN" sz="2400" dirty="0" smtClean="0"/>
              <a:t> provides AWS users with </a:t>
            </a:r>
            <a:r>
              <a:rPr lang="en-IN" sz="2400" b="1" dirty="0" smtClean="0"/>
              <a:t>a cloud computing platform for </a:t>
            </a:r>
            <a:r>
              <a:rPr lang="en-IN" sz="2400" b="1" dirty="0" err="1" smtClean="0"/>
              <a:t>MapReduce</a:t>
            </a:r>
            <a:r>
              <a:rPr lang="en-IN" sz="2400" b="1" dirty="0" smtClean="0"/>
              <a:t> applications. </a:t>
            </a:r>
          </a:p>
          <a:p>
            <a:r>
              <a:rPr lang="en-IN" sz="2400" dirty="0" smtClean="0"/>
              <a:t>It utilizes </a:t>
            </a:r>
            <a:r>
              <a:rPr lang="en-IN" sz="2400" b="1" dirty="0" err="1" smtClean="0"/>
              <a:t>Hadoop</a:t>
            </a:r>
            <a:r>
              <a:rPr lang="en-IN" sz="2400" b="1" dirty="0" smtClean="0"/>
              <a:t> as the </a:t>
            </a:r>
            <a:r>
              <a:rPr lang="en-IN" sz="2400" b="1" dirty="0" err="1" smtClean="0"/>
              <a:t>MapReduce</a:t>
            </a:r>
            <a:r>
              <a:rPr lang="en-IN" sz="2400" b="1" dirty="0" smtClean="0"/>
              <a:t> engine, deployed on a virtual infrastructure composed of EC2 instances</a:t>
            </a:r>
            <a:r>
              <a:rPr lang="en-IN" sz="2400" dirty="0" smtClean="0"/>
              <a:t>, and uses Amazon S3 for storage needs.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CA6D5-B9D3-4DAF-9882-0AB40ED6EC7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28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 of Lecture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8FC39-FF68-48D6-8352-A1B3A55EEBD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34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services AWS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Storage services AWS provides </a:t>
            </a:r>
            <a:r>
              <a:rPr lang="en-US" sz="2400" b="1" dirty="0" smtClean="0">
                <a:solidFill>
                  <a:srgbClr val="FF0000"/>
                </a:solidFill>
              </a:rPr>
              <a:t>a collection of services for data storage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The core service in this area is represented by Amazon Simple Storage Service (S3). 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B2E20-53E0-4BCB-9165-DEDECC09DDD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66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S3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S3 is </a:t>
            </a:r>
            <a:r>
              <a:rPr lang="en-US" sz="2400" b="1" dirty="0" smtClean="0"/>
              <a:t>a distributed object store that allows users to store information in different formats. </a:t>
            </a:r>
            <a:endParaRPr lang="en-IN" sz="2400" b="1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8" t="31255" r="9612" b="27122"/>
          <a:stretch>
            <a:fillRect/>
          </a:stretch>
        </p:blipFill>
        <p:spPr bwMode="auto">
          <a:xfrm>
            <a:off x="215900" y="2564904"/>
            <a:ext cx="8785225" cy="408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EF7EC-CF99-44EB-9089-AD3B6C17DC66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41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6156176" y="2924944"/>
            <a:ext cx="2987824" cy="1224136"/>
          </a:xfrm>
          <a:prstGeom prst="ellipse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5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S3 key concepts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As the name suggests, S3 has been designed to provide a simple storage service that’s </a:t>
            </a:r>
            <a:r>
              <a:rPr lang="en-US" sz="2400" b="1" dirty="0" smtClean="0"/>
              <a:t>accessible through a Representational State Transfer (REST) interface</a:t>
            </a:r>
            <a:r>
              <a:rPr lang="en-US" sz="2400" dirty="0" smtClean="0"/>
              <a:t>, which is quite similar to a distributed file system but which presents some important differences that </a:t>
            </a:r>
            <a:r>
              <a:rPr lang="en-US" sz="2400" b="1" dirty="0" smtClean="0"/>
              <a:t>allow the infrastructure to be highly efficient: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b="1" dirty="0" smtClean="0"/>
              <a:t>The storage is organized in a two-level hierarchy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b="1" dirty="0" smtClean="0"/>
              <a:t>Stored objects cannot be manipulated like standard files.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b="1" dirty="0" smtClean="0"/>
              <a:t>Content is not immediately available to users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b="1" dirty="0" smtClean="0"/>
              <a:t>Requests will occasionally fail.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4DE3-0135-48AE-86EA-96661577C27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05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Storage Service (S3).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The storage is organized in a two-level hierarchy-</a:t>
            </a:r>
          </a:p>
          <a:p>
            <a:r>
              <a:rPr lang="en-US" sz="2400" b="1" dirty="0" smtClean="0"/>
              <a:t>Buckets &amp; Objects</a:t>
            </a:r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S3 </a:t>
            </a:r>
            <a:r>
              <a:rPr lang="en-US" sz="2400" b="1" dirty="0"/>
              <a:t>organizes its storage space into buckets that cannot be further partitioned. </a:t>
            </a:r>
            <a:endParaRPr lang="en-US" sz="2400" b="1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means that it is </a:t>
            </a:r>
            <a:r>
              <a:rPr lang="en-US" sz="2400" b="1" dirty="0"/>
              <a:t>not possible to create directories or other kinds of physical groupings for objects stored in a bucket.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EA8FA-A931-4E95-870E-7BD0FF27AA39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38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Storage Service (S3).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Stored </a:t>
            </a:r>
            <a:r>
              <a:rPr lang="en-US" sz="2400" b="1" dirty="0"/>
              <a:t>objects cannot be manipulated like standard </a:t>
            </a:r>
            <a:r>
              <a:rPr lang="en-US" sz="2400" b="1" dirty="0" smtClean="0"/>
              <a:t>files-</a:t>
            </a:r>
          </a:p>
          <a:p>
            <a:r>
              <a:rPr lang="en-US" sz="2400" dirty="0" smtClean="0"/>
              <a:t>S3 </a:t>
            </a:r>
            <a:r>
              <a:rPr lang="en-US" sz="2400" dirty="0"/>
              <a:t>has been designed to essentially provide storage for </a:t>
            </a:r>
            <a:r>
              <a:rPr lang="en-US" sz="2400" b="1" dirty="0"/>
              <a:t>objects that will not change over time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Therefore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it </a:t>
            </a:r>
            <a:r>
              <a:rPr lang="en-US" sz="2400" b="1" dirty="0">
                <a:solidFill>
                  <a:srgbClr val="FF0000"/>
                </a:solidFill>
              </a:rPr>
              <a:t>does not allow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renaming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modifying</a:t>
            </a:r>
            <a:r>
              <a:rPr lang="en-US" sz="2400" b="1" dirty="0">
                <a:solidFill>
                  <a:srgbClr val="FF0000"/>
                </a:solidFill>
              </a:rPr>
              <a:t>, or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relocating </a:t>
            </a:r>
            <a:r>
              <a:rPr lang="en-US" sz="2400" b="1" dirty="0">
                <a:solidFill>
                  <a:srgbClr val="FF0000"/>
                </a:solidFill>
              </a:rPr>
              <a:t>an object. </a:t>
            </a:r>
            <a:endParaRPr lang="en-US" sz="2400" b="1" dirty="0" smtClean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940F-5D78-4F1E-B52D-239FE630651E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72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Storage Service (S3).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Stored </a:t>
            </a:r>
            <a:r>
              <a:rPr lang="en-US" sz="2400" b="1" dirty="0"/>
              <a:t>objects cannot be manipulated like standard </a:t>
            </a:r>
            <a:r>
              <a:rPr lang="en-US" sz="2400" b="1" dirty="0" smtClean="0"/>
              <a:t>files-</a:t>
            </a:r>
          </a:p>
          <a:p>
            <a:r>
              <a:rPr lang="en-US" sz="2400" dirty="0" smtClean="0"/>
              <a:t>Once </a:t>
            </a:r>
            <a:r>
              <a:rPr lang="en-US" sz="2400" dirty="0"/>
              <a:t>an object has been added to a bucket,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its </a:t>
            </a:r>
            <a:r>
              <a:rPr lang="en-US" sz="2400" b="1" dirty="0">
                <a:solidFill>
                  <a:srgbClr val="FF0000"/>
                </a:solidFill>
              </a:rPr>
              <a:t>content and position is immutable</a:t>
            </a:r>
            <a:r>
              <a:rPr lang="en-US" sz="2400" dirty="0">
                <a:solidFill>
                  <a:srgbClr val="FF0000"/>
                </a:solidFill>
              </a:rPr>
              <a:t>, </a:t>
            </a:r>
            <a:r>
              <a:rPr lang="en-US" sz="2400" dirty="0"/>
              <a:t>and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only way to change it is </a:t>
            </a:r>
            <a:r>
              <a:rPr lang="en-US" sz="2400" b="1" dirty="0">
                <a:solidFill>
                  <a:srgbClr val="FF0000"/>
                </a:solidFill>
              </a:rPr>
              <a:t>to remove the object from the store and add it again. </a:t>
            </a:r>
            <a:endParaRPr lang="en-US" sz="2400" b="1" dirty="0" smtClean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8B532-E96E-4276-AD8A-58AAD5ED80A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76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Storage Service (S3).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Content </a:t>
            </a:r>
            <a:r>
              <a:rPr lang="en-US" sz="2400" b="1" dirty="0"/>
              <a:t>is not immediately available to users. </a:t>
            </a:r>
            <a:endParaRPr lang="en-US" sz="2400" b="1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main design goal of S3 is to provide an eventually </a:t>
            </a:r>
            <a:r>
              <a:rPr lang="en-US" sz="2400" b="1" dirty="0"/>
              <a:t>consistent data store</a:t>
            </a:r>
            <a:r>
              <a:rPr lang="en-US" sz="2400" dirty="0"/>
              <a:t>. As a result, because it is a large distributed storage facility, changes are not immediately reflected. </a:t>
            </a:r>
            <a:endParaRPr lang="en-US" sz="2400" dirty="0" smtClean="0"/>
          </a:p>
          <a:p>
            <a:r>
              <a:rPr lang="en-US" sz="2400" dirty="0" smtClean="0"/>
              <a:t>For </a:t>
            </a:r>
            <a:r>
              <a:rPr lang="en-US" sz="2400" dirty="0"/>
              <a:t>instance, S3 uses </a:t>
            </a:r>
            <a:r>
              <a:rPr lang="en-US" sz="2400" b="1" dirty="0"/>
              <a:t>replication to provide redundancy</a:t>
            </a:r>
            <a:r>
              <a:rPr lang="en-US" sz="2400" dirty="0"/>
              <a:t> and efficiently serve objects across the globe; this practice introduces </a:t>
            </a:r>
            <a:r>
              <a:rPr lang="en-US" sz="2400" b="1" dirty="0"/>
              <a:t>latencies when adding objects to the store—especially large ones—which are not available instantly across the entire globe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C2F6-0694-4D80-B841-9EB38A06FB71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2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Requests will occasionally </a:t>
            </a:r>
            <a:r>
              <a:rPr lang="en-US" sz="2400" b="1" dirty="0" smtClean="0"/>
              <a:t>fail </a:t>
            </a:r>
          </a:p>
          <a:p>
            <a:r>
              <a:rPr lang="en-US" sz="2400" dirty="0" smtClean="0"/>
              <a:t>Due </a:t>
            </a:r>
            <a:r>
              <a:rPr lang="en-US" sz="2400" dirty="0"/>
              <a:t>to the large distributed infrastructure being managed,</a:t>
            </a:r>
          </a:p>
          <a:p>
            <a:r>
              <a:rPr lang="en-US" sz="2400" b="1" dirty="0"/>
              <a:t>requests for object may occasionally fail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Under </a:t>
            </a:r>
            <a:r>
              <a:rPr lang="en-US" sz="2400" dirty="0"/>
              <a:t>certain conditions, </a:t>
            </a:r>
            <a:r>
              <a:rPr lang="en-US" sz="2400" b="1" dirty="0"/>
              <a:t>S3 can decide to drop </a:t>
            </a:r>
            <a:r>
              <a:rPr lang="en-US" sz="2400" b="1" dirty="0" smtClean="0"/>
              <a:t>a request </a:t>
            </a:r>
            <a:r>
              <a:rPr lang="en-US" sz="2400" b="1" dirty="0"/>
              <a:t>by returning an internal server error. </a:t>
            </a:r>
            <a:endParaRPr lang="en-US" sz="2400" b="1" dirty="0" smtClean="0"/>
          </a:p>
          <a:p>
            <a:r>
              <a:rPr lang="en-US" sz="2400" dirty="0" smtClean="0"/>
              <a:t>Therefore</a:t>
            </a:r>
            <a:r>
              <a:rPr lang="en-US" sz="2400" dirty="0"/>
              <a:t>, it is expected to have </a:t>
            </a:r>
            <a:r>
              <a:rPr lang="en-US" sz="2400" b="1" dirty="0"/>
              <a:t>a small </a:t>
            </a:r>
            <a:r>
              <a:rPr lang="en-US" sz="2400" b="1" dirty="0" smtClean="0"/>
              <a:t>failure rate </a:t>
            </a:r>
            <a:r>
              <a:rPr lang="en-US" sz="2400" b="1" dirty="0"/>
              <a:t>during day-to-day operations</a:t>
            </a:r>
            <a:r>
              <a:rPr lang="en-US" sz="2400" dirty="0"/>
              <a:t>, which is generally </a:t>
            </a:r>
            <a:r>
              <a:rPr lang="en-US" sz="2400" b="1" dirty="0"/>
              <a:t>not identified as a persistent failure.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2CD24-2D87-42E4-94B7-316C56F1E9E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36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Simple Storage Service (S3).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The core components of S3 are two: </a:t>
            </a:r>
          </a:p>
          <a:p>
            <a:r>
              <a:rPr lang="en-US" sz="2400" b="1" dirty="0" smtClean="0"/>
              <a:t>Buckets </a:t>
            </a:r>
            <a:endParaRPr lang="en-US" sz="2400" b="1" dirty="0"/>
          </a:p>
          <a:p>
            <a:r>
              <a:rPr lang="en-US" sz="2400" b="1" dirty="0" smtClean="0"/>
              <a:t>Objects.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56474-02A3-4A5C-AB2F-029D6F3982B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62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Simple Storage Service (S3).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Buckets represent virtual containers in which to store objects; </a:t>
            </a:r>
          </a:p>
          <a:p>
            <a:endParaRPr lang="en-US" sz="2400" dirty="0" smtClean="0"/>
          </a:p>
          <a:p>
            <a:r>
              <a:rPr lang="en-US" sz="2400" dirty="0" smtClean="0"/>
              <a:t>Objects represent the content that is actually stored. </a:t>
            </a:r>
          </a:p>
          <a:p>
            <a:endParaRPr lang="en-US" sz="2400" dirty="0" smtClean="0"/>
          </a:p>
          <a:p>
            <a:r>
              <a:rPr lang="en-US" sz="2400" dirty="0" smtClean="0"/>
              <a:t>Objects can also be enriched with metadata that can be used to tag the stored content with additional information.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9D332-C835-4F06-99E0-830C9BE01688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73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/>
          <a:lstStyle/>
          <a:p>
            <a:r>
              <a:rPr lang="en-US" dirty="0"/>
              <a:t>Buckets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dirty="0"/>
              <a:t>bucket is a container of objects.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can be thought of as a virtual drive hosted on the S3 </a:t>
            </a:r>
            <a:r>
              <a:rPr lang="en-US" sz="2400" dirty="0" smtClean="0"/>
              <a:t>distributed </a:t>
            </a:r>
            <a:r>
              <a:rPr lang="en-US" sz="2400" dirty="0"/>
              <a:t>storage, </a:t>
            </a:r>
            <a:r>
              <a:rPr lang="en-US" sz="2400" b="1" dirty="0"/>
              <a:t>which provides users with a flat store to which they can add objects.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E727-68E1-40B9-9FB4-F197FC88B5F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17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/>
          <a:lstStyle/>
          <a:p>
            <a:r>
              <a:rPr lang="en-US" dirty="0"/>
              <a:t>Buckets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Buckets </a:t>
            </a:r>
            <a:r>
              <a:rPr lang="en-US" sz="2400" dirty="0"/>
              <a:t>are </a:t>
            </a:r>
            <a:r>
              <a:rPr lang="en-US" sz="2400" dirty="0" smtClean="0"/>
              <a:t>top level </a:t>
            </a:r>
            <a:r>
              <a:rPr lang="en-US" sz="2400" dirty="0"/>
              <a:t>elements of the S3 storage architecture and </a:t>
            </a:r>
            <a:r>
              <a:rPr lang="en-US" sz="2400" b="1" dirty="0"/>
              <a:t>do not support </a:t>
            </a:r>
            <a:r>
              <a:rPr lang="en-US" sz="2400" b="1" dirty="0" smtClean="0"/>
              <a:t>nesting, i.e. </a:t>
            </a:r>
            <a:r>
              <a:rPr lang="en-US" sz="2400" dirty="0" smtClean="0"/>
              <a:t> </a:t>
            </a:r>
            <a:r>
              <a:rPr lang="en-US" sz="2400" dirty="0"/>
              <a:t>other kinds of physical divisions. 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CDA4-537F-4C15-9748-966FCF741C8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44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A </a:t>
            </a:r>
            <a:r>
              <a:rPr lang="en-US" sz="2400" dirty="0"/>
              <a:t>bucket is </a:t>
            </a:r>
            <a:r>
              <a:rPr lang="en-US" sz="2400" b="1" dirty="0"/>
              <a:t>located in a specific geographic location and eventually replicated for fault </a:t>
            </a:r>
            <a:r>
              <a:rPr lang="en-US" sz="2400" b="1" dirty="0" smtClean="0"/>
              <a:t>tolerance</a:t>
            </a:r>
            <a:r>
              <a:rPr lang="en-US" sz="2400" dirty="0" smtClean="0"/>
              <a:t> </a:t>
            </a:r>
            <a:r>
              <a:rPr lang="en-US" sz="2400" dirty="0"/>
              <a:t>and better content distribution. </a:t>
            </a:r>
          </a:p>
          <a:p>
            <a:r>
              <a:rPr lang="en-US" sz="2400" dirty="0" smtClean="0"/>
              <a:t>Users </a:t>
            </a:r>
            <a:r>
              <a:rPr lang="en-US" sz="2400" b="1" dirty="0" smtClean="0"/>
              <a:t>can select the location at which to create buckets</a:t>
            </a:r>
            <a:r>
              <a:rPr lang="en-US" sz="2400" dirty="0" smtClean="0"/>
              <a:t>, </a:t>
            </a:r>
          </a:p>
          <a:p>
            <a:r>
              <a:rPr lang="en-US" sz="2400" b="1" dirty="0" smtClean="0"/>
              <a:t>By default buckets are created in Amazon’s U.S. datacenters. </a:t>
            </a:r>
          </a:p>
          <a:p>
            <a:r>
              <a:rPr lang="en-US" sz="2400" dirty="0" smtClean="0"/>
              <a:t>Once a bucket is created, </a:t>
            </a:r>
            <a:r>
              <a:rPr lang="en-US" sz="2400" b="1" dirty="0" smtClean="0"/>
              <a:t>all the objects that belong to the bucket will be stored in the same availability zone of the bucket.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F902D-CBC6-4559-8DF4-CD70F44403F3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10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Buckets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Buckets, objects, and attached metadata are made accessible through </a:t>
            </a:r>
            <a:r>
              <a:rPr lang="en-US" sz="2400" dirty="0" smtClean="0"/>
              <a:t>a </a:t>
            </a:r>
            <a:r>
              <a:rPr lang="en-US" sz="2400" b="1" dirty="0"/>
              <a:t>Representational State Transfer (REST) interface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Therefore, they </a:t>
            </a:r>
            <a:r>
              <a:rPr lang="en-US" sz="2400" dirty="0"/>
              <a:t>are </a:t>
            </a:r>
            <a:r>
              <a:rPr lang="en-US" sz="2400" b="1" dirty="0"/>
              <a:t>represented by uniform resource identifiers (URIs) under the s3.amazonaws.com domain.</a:t>
            </a:r>
          </a:p>
          <a:p>
            <a:r>
              <a:rPr lang="en-US" sz="2400" dirty="0"/>
              <a:t>All the operations are then performed </a:t>
            </a:r>
            <a:r>
              <a:rPr lang="en-US" sz="2400" b="1" dirty="0"/>
              <a:t>by expressing the entity they are directed to in the form of </a:t>
            </a:r>
            <a:r>
              <a:rPr lang="en-US" sz="2400" b="1" dirty="0" smtClean="0"/>
              <a:t>a request </a:t>
            </a:r>
            <a:r>
              <a:rPr lang="en-US" sz="2400" b="1" dirty="0"/>
              <a:t>for a URI.</a:t>
            </a:r>
          </a:p>
          <a:p>
            <a:endParaRPr lang="en-US" sz="2400" dirty="0" smtClean="0"/>
          </a:p>
          <a:p>
            <a:r>
              <a:rPr lang="en-US" sz="2400" dirty="0" smtClean="0"/>
              <a:t>One way </a:t>
            </a:r>
            <a:r>
              <a:rPr lang="en-US" sz="2400" dirty="0"/>
              <a:t>of addressing a bucket:</a:t>
            </a:r>
          </a:p>
          <a:p>
            <a:r>
              <a:rPr lang="en-US" sz="2400" dirty="0" smtClean="0"/>
              <a:t>Canonical </a:t>
            </a:r>
            <a:r>
              <a:rPr lang="en-US" sz="2400" dirty="0"/>
              <a:t>form: </a:t>
            </a:r>
            <a:r>
              <a:rPr lang="en-US" sz="2400" b="1" dirty="0">
                <a:solidFill>
                  <a:srgbClr val="FF0000"/>
                </a:solidFill>
              </a:rPr>
              <a:t>http://s3.amazonaws.com/bukect_name/. </a:t>
            </a:r>
            <a:r>
              <a:rPr lang="en-US" sz="2400" dirty="0"/>
              <a:t>The bucket name is expressed as </a:t>
            </a:r>
            <a:r>
              <a:rPr lang="en-US" sz="2400" dirty="0" smtClean="0"/>
              <a:t>a path </a:t>
            </a:r>
            <a:r>
              <a:rPr lang="en-US" sz="2400" dirty="0"/>
              <a:t>component of the domain name s3.amazonaws.com.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84186-5CE8-4F65-95F2-DDF2A2C5BCF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32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Users </a:t>
            </a:r>
            <a:r>
              <a:rPr lang="en-US" sz="2400" b="1" dirty="0">
                <a:solidFill>
                  <a:srgbClr val="FF0000"/>
                </a:solidFill>
              </a:rPr>
              <a:t>create a bucket by sending a PUT request </a:t>
            </a:r>
            <a:r>
              <a:rPr lang="en-US" sz="2400" b="1" dirty="0"/>
              <a:t>to http://s3.amazonaws.com/ with </a:t>
            </a:r>
            <a:endParaRPr lang="en-US" sz="2400" b="1" dirty="0" smtClean="0"/>
          </a:p>
          <a:p>
            <a:r>
              <a:rPr lang="en-US" sz="2400" b="1" dirty="0" smtClean="0"/>
              <a:t>the </a:t>
            </a:r>
            <a:r>
              <a:rPr lang="en-US" sz="2400" b="1" dirty="0"/>
              <a:t>name of the bucket and, </a:t>
            </a:r>
            <a:endParaRPr lang="en-US" sz="2400" b="1" dirty="0" smtClean="0"/>
          </a:p>
          <a:p>
            <a:r>
              <a:rPr lang="en-US" sz="2400" b="1" dirty="0" smtClean="0"/>
              <a:t>if </a:t>
            </a:r>
            <a:r>
              <a:rPr lang="en-US" sz="2400" b="1" dirty="0"/>
              <a:t>they want to specify the availability zone, </a:t>
            </a:r>
            <a:endParaRPr lang="en-US" sz="2400" b="1" dirty="0" smtClean="0"/>
          </a:p>
          <a:p>
            <a:r>
              <a:rPr lang="en-US" sz="2400" b="1" dirty="0" smtClean="0"/>
              <a:t>additional </a:t>
            </a:r>
            <a:r>
              <a:rPr lang="en-US" sz="2400" b="1" dirty="0"/>
              <a:t>information about the preferred location.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C8217-13D8-48F5-97CF-38A3BDC7CA5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89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The </a:t>
            </a:r>
            <a:r>
              <a:rPr lang="en-US" sz="2400" b="1" dirty="0">
                <a:solidFill>
                  <a:srgbClr val="FF0000"/>
                </a:solidFill>
              </a:rPr>
              <a:t>content of a bucket can be listed by sending a GET </a:t>
            </a:r>
            <a:r>
              <a:rPr lang="en-US" sz="2400" b="1" dirty="0"/>
              <a:t>request specifying the name of the bucket. </a:t>
            </a:r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EF59B-7EFE-4D39-9776-2BE548BD84E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91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Buckets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Once </a:t>
            </a:r>
            <a:r>
              <a:rPr lang="en-US" sz="2400" b="1" dirty="0"/>
              <a:t>created, the bucket cannot be renamed or relocated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If it is necessary to do so, </a:t>
            </a:r>
            <a:r>
              <a:rPr lang="en-US" sz="2400" b="1" dirty="0">
                <a:solidFill>
                  <a:srgbClr val="FF0000"/>
                </a:solidFill>
              </a:rPr>
              <a:t>the bucket needs to be deleted and recreated.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/>
              <a:t>The </a:t>
            </a:r>
            <a:r>
              <a:rPr lang="en-US" sz="2400" b="1" dirty="0"/>
              <a:t>deletion of a bucket is performed by a DELETE request, </a:t>
            </a:r>
            <a:r>
              <a:rPr lang="en-US" sz="2400" b="1" dirty="0">
                <a:solidFill>
                  <a:srgbClr val="FF0000"/>
                </a:solidFill>
              </a:rPr>
              <a:t>which can be successful if and only if the bucket is empty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3DF2D-9D7C-4AB1-A7AA-4BAB603DFF6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60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Objects </a:t>
            </a:r>
            <a:r>
              <a:rPr lang="en-US" sz="2400" dirty="0"/>
              <a:t>constitute </a:t>
            </a:r>
            <a:r>
              <a:rPr lang="en-US" sz="2400" b="1" dirty="0"/>
              <a:t>the content elements stored in S3. </a:t>
            </a:r>
            <a:endParaRPr lang="en-US" sz="2400" b="1" dirty="0" smtClean="0"/>
          </a:p>
          <a:p>
            <a:r>
              <a:rPr lang="en-US" sz="2400" dirty="0" smtClean="0"/>
              <a:t>An </a:t>
            </a:r>
            <a:r>
              <a:rPr lang="en-US" sz="2400" dirty="0"/>
              <a:t>object is </a:t>
            </a:r>
            <a:r>
              <a:rPr lang="en-US" sz="2400" b="1" dirty="0"/>
              <a:t>identified by a name that needs to be unique within the bucket</a:t>
            </a:r>
            <a:r>
              <a:rPr lang="en-US" sz="2400" dirty="0"/>
              <a:t> in which the content is stored. </a:t>
            </a:r>
            <a:endParaRPr lang="en-US" sz="2400" dirty="0" smtClean="0"/>
          </a:p>
          <a:p>
            <a:r>
              <a:rPr lang="en-US" sz="2400" b="1" dirty="0"/>
              <a:t>Users either store files or push to the S3 text stream </a:t>
            </a:r>
            <a:r>
              <a:rPr lang="en-US" sz="2400" dirty="0"/>
              <a:t>representing the object’s content. </a:t>
            </a:r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57A4-223A-47CC-8623-4C065B9AAA31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12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The </a:t>
            </a:r>
            <a:r>
              <a:rPr lang="en-US" sz="2400" b="1" dirty="0"/>
              <a:t>name cannot be longer than 1,024 bytes when encoded in UTF-8, and it allows almost any character. </a:t>
            </a:r>
            <a:endParaRPr lang="en-US" sz="2400" b="1" dirty="0" smtClean="0"/>
          </a:p>
          <a:p>
            <a:r>
              <a:rPr lang="en-US" sz="2400" dirty="0" smtClean="0"/>
              <a:t>Since </a:t>
            </a:r>
            <a:r>
              <a:rPr lang="en-US" sz="2400" dirty="0"/>
              <a:t>buckets </a:t>
            </a:r>
            <a:r>
              <a:rPr lang="en-US" sz="2400" b="1" dirty="0"/>
              <a:t>do not support nesting, even characters normally used as path separators are allowed. </a:t>
            </a:r>
            <a:endParaRPr lang="en-US" sz="2400" b="1" dirty="0" smtClean="0"/>
          </a:p>
          <a:p>
            <a:r>
              <a:rPr lang="en-US" sz="2400" dirty="0" smtClean="0"/>
              <a:t>This </a:t>
            </a:r>
            <a:r>
              <a:rPr lang="en-US" sz="2400" b="1" dirty="0"/>
              <a:t>actually compensates for the lack of a structured file system, since directories can be emulated by properly naming objects.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31D66-17E6-4A14-8AFB-5926C87862C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42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Users create an object via a PUT request that specifies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/>
              <a:t>the </a:t>
            </a:r>
            <a:r>
              <a:rPr lang="en-US" sz="2400" b="1" dirty="0"/>
              <a:t>name of the object together </a:t>
            </a:r>
            <a:endParaRPr lang="en-US" sz="2400" b="1" dirty="0" smtClean="0"/>
          </a:p>
          <a:p>
            <a:r>
              <a:rPr lang="en-US" sz="2400" b="1" dirty="0" smtClean="0"/>
              <a:t>with </a:t>
            </a:r>
            <a:r>
              <a:rPr lang="en-US" sz="2400" b="1" dirty="0"/>
              <a:t>the bucket name, </a:t>
            </a:r>
            <a:endParaRPr lang="en-US" sz="2400" b="1" dirty="0" smtClean="0"/>
          </a:p>
          <a:p>
            <a:r>
              <a:rPr lang="en-US" sz="2400" b="1" dirty="0" smtClean="0"/>
              <a:t>its </a:t>
            </a:r>
            <a:r>
              <a:rPr lang="en-US" sz="2400" b="1" dirty="0"/>
              <a:t>contents, and </a:t>
            </a:r>
            <a:endParaRPr lang="en-US" sz="2400" b="1" dirty="0" smtClean="0"/>
          </a:p>
          <a:p>
            <a:r>
              <a:rPr lang="en-US" sz="2400" b="1" dirty="0" smtClean="0"/>
              <a:t>additional </a:t>
            </a:r>
            <a:r>
              <a:rPr lang="en-US" sz="2400" b="1" dirty="0"/>
              <a:t>properties.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E5B4B-ED4B-4024-A420-6D86008AB057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32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maximum size of an object is 5 GB. </a:t>
            </a:r>
            <a:endParaRPr lang="en-US" sz="2400" dirty="0" smtClean="0"/>
          </a:p>
          <a:p>
            <a:r>
              <a:rPr lang="en-US" sz="2400" dirty="0" smtClean="0"/>
              <a:t>Once </a:t>
            </a:r>
            <a:r>
              <a:rPr lang="en-US" sz="2400" dirty="0"/>
              <a:t>an object is created, </a:t>
            </a:r>
            <a:r>
              <a:rPr lang="en-US" sz="2400" b="1" dirty="0" smtClean="0">
                <a:solidFill>
                  <a:srgbClr val="FF0000"/>
                </a:solidFill>
              </a:rPr>
              <a:t>it </a:t>
            </a:r>
            <a:r>
              <a:rPr lang="en-US" sz="2400" b="1" dirty="0">
                <a:solidFill>
                  <a:srgbClr val="FF0000"/>
                </a:solidFill>
              </a:rPr>
              <a:t>cannot be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modified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renamed</a:t>
            </a:r>
            <a:r>
              <a:rPr lang="en-US" sz="2400" b="1" dirty="0">
                <a:solidFill>
                  <a:srgbClr val="FF0000"/>
                </a:solidFill>
              </a:rPr>
              <a:t>, or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moved </a:t>
            </a:r>
            <a:r>
              <a:rPr lang="en-US" sz="2400" b="1" dirty="0">
                <a:solidFill>
                  <a:srgbClr val="FF0000"/>
                </a:solidFill>
              </a:rPr>
              <a:t>into another bucket.</a:t>
            </a:r>
            <a:r>
              <a:rPr lang="en-US" sz="2400" dirty="0"/>
              <a:t> 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EB03C-4F02-40D6-BC74-B96AA01F29B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29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It </a:t>
            </a:r>
            <a:r>
              <a:rPr lang="en-US" sz="2400" dirty="0"/>
              <a:t>is possible to </a:t>
            </a:r>
            <a:r>
              <a:rPr lang="en-US" sz="2400" b="1" dirty="0"/>
              <a:t>retrieve an object via a GET request; </a:t>
            </a:r>
            <a:endParaRPr lang="en-US" sz="2400" b="1" dirty="0" smtClean="0"/>
          </a:p>
          <a:p>
            <a:r>
              <a:rPr lang="en-US" sz="2400" dirty="0" smtClean="0"/>
              <a:t>Deleting </a:t>
            </a:r>
            <a:r>
              <a:rPr lang="en-US" sz="2400" dirty="0"/>
              <a:t>an object is performed via </a:t>
            </a:r>
            <a:r>
              <a:rPr lang="en-US" sz="2400" b="1" dirty="0"/>
              <a:t>a DELETE request.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31BA-5246-44E6-9CDF-6FF5E3836F13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06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Objects can be tagged with metadata</a:t>
            </a:r>
            <a:r>
              <a:rPr lang="en-US" sz="2400" dirty="0"/>
              <a:t>, which are </a:t>
            </a:r>
            <a:r>
              <a:rPr lang="en-US" sz="2400" b="1" dirty="0"/>
              <a:t>passed as properties of the PUT request. </a:t>
            </a:r>
            <a:endParaRPr lang="en-US" sz="2400" b="1" dirty="0" smtClean="0"/>
          </a:p>
          <a:p>
            <a:r>
              <a:rPr lang="en-US" sz="2400" dirty="0" smtClean="0"/>
              <a:t>Meta Data can be retrieved </a:t>
            </a:r>
            <a:r>
              <a:rPr lang="en-US" sz="2400" dirty="0"/>
              <a:t>either </a:t>
            </a:r>
            <a:endParaRPr lang="en-US" sz="2400" dirty="0" smtClean="0"/>
          </a:p>
          <a:p>
            <a:r>
              <a:rPr lang="en-US" sz="2400" dirty="0" smtClean="0"/>
              <a:t>with </a:t>
            </a:r>
            <a:r>
              <a:rPr lang="en-US" sz="2400" dirty="0"/>
              <a:t>a GET request or </a:t>
            </a:r>
            <a:endParaRPr lang="en-US" sz="2400" dirty="0" smtClean="0"/>
          </a:p>
          <a:p>
            <a:r>
              <a:rPr lang="en-US" sz="2400" dirty="0" smtClean="0"/>
              <a:t>with </a:t>
            </a:r>
            <a:r>
              <a:rPr lang="en-US" sz="2400" dirty="0"/>
              <a:t>a HEAD request, </a:t>
            </a:r>
            <a:r>
              <a:rPr lang="en-US" sz="2400" b="1" dirty="0"/>
              <a:t>which only returns the object’s metadata without the content.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6B9D1-016A-4456-954D-A1BEB1C721D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44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 control and </a:t>
            </a:r>
            <a:r>
              <a:rPr lang="en-US" dirty="0" smtClean="0"/>
              <a:t>security of Buckets and Objects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Amazon </a:t>
            </a:r>
            <a:r>
              <a:rPr lang="en-US" sz="2400" b="1" dirty="0"/>
              <a:t>S3 allows controlling the access to buckets and objects by means of Access Control Policies (ACPs). </a:t>
            </a:r>
            <a:endParaRPr lang="en-US" sz="2400" b="1" dirty="0" smtClean="0"/>
          </a:p>
          <a:p>
            <a:r>
              <a:rPr lang="en-US" sz="2400" dirty="0" smtClean="0"/>
              <a:t>An </a:t>
            </a:r>
            <a:r>
              <a:rPr lang="en-US" sz="2400" dirty="0"/>
              <a:t>ACP is a </a:t>
            </a:r>
            <a:r>
              <a:rPr lang="en-US" sz="2400" b="1" dirty="0"/>
              <a:t>set of grant permissions that are attached to a resource</a:t>
            </a:r>
            <a:r>
              <a:rPr lang="en-US" sz="2400" dirty="0"/>
              <a:t> expressed by means of </a:t>
            </a:r>
            <a:r>
              <a:rPr lang="en-US" sz="2400" b="1" dirty="0"/>
              <a:t>an XML configuration file. </a:t>
            </a:r>
            <a:endParaRPr lang="en-US" sz="2400" b="1" dirty="0" smtClean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EA4CB-8E83-4A16-BDFF-9524840C23E2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32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 control and </a:t>
            </a:r>
            <a:r>
              <a:rPr lang="en-US" dirty="0" smtClean="0"/>
              <a:t>security of Buckets and Objects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Currently</a:t>
            </a:r>
            <a:r>
              <a:rPr lang="en-US" sz="2400" dirty="0"/>
              <a:t>, five different permissions can be used: 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READ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WRITE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READ_ACP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WRITE_ACP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FULL_CONTROL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885F-91B4-4E2F-B365-BDBDB9254CAB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06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 control and </a:t>
            </a:r>
            <a:r>
              <a:rPr lang="en-US" dirty="0" smtClean="0"/>
              <a:t>security of Buckets and Objects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Currently</a:t>
            </a:r>
            <a:r>
              <a:rPr lang="en-US" sz="2400" dirty="0"/>
              <a:t>, five different permissions can be used: 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READ </a:t>
            </a:r>
            <a:r>
              <a:rPr lang="en-US" sz="2400" dirty="0"/>
              <a:t>allows the grantee to </a:t>
            </a:r>
            <a:r>
              <a:rPr lang="en-US" sz="2400" b="1" dirty="0"/>
              <a:t>retrieve an object and its metadata </a:t>
            </a:r>
            <a:r>
              <a:rPr lang="en-US" sz="2400" dirty="0"/>
              <a:t>and to list the content of a bucket as well as getting its metadata. 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WRITE </a:t>
            </a:r>
            <a:r>
              <a:rPr lang="en-US" sz="2400" dirty="0"/>
              <a:t>allows the grantee </a:t>
            </a:r>
            <a:r>
              <a:rPr lang="en-US" sz="2400" b="1" dirty="0"/>
              <a:t>to add an object to a bucket as well </a:t>
            </a:r>
            <a:r>
              <a:rPr lang="en-US" sz="2400" b="1" dirty="0" smtClean="0"/>
              <a:t>remove </a:t>
            </a:r>
            <a:r>
              <a:rPr lang="en-US" sz="2400" b="1" dirty="0"/>
              <a:t>it.</a:t>
            </a:r>
            <a:r>
              <a:rPr lang="en-US" sz="2400" dirty="0"/>
              <a:t> 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READ_ACP </a:t>
            </a:r>
            <a:r>
              <a:rPr lang="en-US" sz="2400" dirty="0"/>
              <a:t>allows the grantee </a:t>
            </a:r>
            <a:r>
              <a:rPr lang="en-US" sz="2400" b="1" dirty="0"/>
              <a:t>to read the ACP of a resource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WRITE_ACP </a:t>
            </a:r>
            <a:r>
              <a:rPr lang="en-US" sz="2400" dirty="0"/>
              <a:t>allows the grantee to </a:t>
            </a:r>
            <a:r>
              <a:rPr lang="en-US" sz="2400" b="1" dirty="0"/>
              <a:t>modify the ACP of a resource. </a:t>
            </a:r>
            <a:endParaRPr lang="en-US" sz="2400" b="1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FULL_CONTROL </a:t>
            </a:r>
            <a:r>
              <a:rPr lang="en-US" sz="2400" dirty="0"/>
              <a:t>grants </a:t>
            </a:r>
            <a:r>
              <a:rPr lang="en-US" sz="2400" b="1" dirty="0"/>
              <a:t>all of the preceding permissions.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9885F-91B4-4E2F-B365-BDBDB9254CAB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59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elastic block store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Amazon Elastic Block Store (EBS) allows AWS users to </a:t>
            </a:r>
            <a:r>
              <a:rPr lang="en-US" sz="2400" b="1" dirty="0" smtClean="0"/>
              <a:t>provide EC2 instances with persistent storage </a:t>
            </a:r>
          </a:p>
          <a:p>
            <a:r>
              <a:rPr lang="en-US" sz="2400" b="1" dirty="0" smtClean="0"/>
              <a:t>in the form of volumes that can be mounted at instance startup. </a:t>
            </a:r>
          </a:p>
          <a:p>
            <a:endParaRPr lang="en-US" sz="2400" dirty="0" smtClean="0"/>
          </a:p>
          <a:p>
            <a:r>
              <a:rPr lang="en-US" sz="2400" dirty="0" smtClean="0"/>
              <a:t>They </a:t>
            </a:r>
            <a:r>
              <a:rPr lang="en-US" sz="2400" b="1" dirty="0" smtClean="0"/>
              <a:t>accommodate up to 1 TB of space and are accessed through a block device interface</a:t>
            </a:r>
            <a:r>
              <a:rPr lang="en-US" sz="2400" dirty="0" smtClean="0"/>
              <a:t>, thus allowing users to format them according to the needs of the instance they are connected to (raw storage, file system, or other).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368D-7761-4404-868C-880368596925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08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elastic block store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content of an </a:t>
            </a:r>
            <a:r>
              <a:rPr lang="en-US" sz="2400" b="1" dirty="0" smtClean="0"/>
              <a:t>EBS volume survives the instance life cycle and is persisted into S3. </a:t>
            </a:r>
          </a:p>
          <a:p>
            <a:r>
              <a:rPr lang="en-US" sz="2400" dirty="0" smtClean="0"/>
              <a:t>EBS volumes can be cloned, used as boot partitions, and constitute durable storage since they rely on S3 and it is possible to take incremental snapshots of their content.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370FB-A2C4-46A9-A193-82F200DF7EAB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06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S3 </a:t>
            </a:r>
            <a:r>
              <a:rPr lang="en-IN" dirty="0" err="1" smtClean="0"/>
              <a:t>vs</a:t>
            </a:r>
            <a:r>
              <a:rPr lang="en-IN" dirty="0" smtClean="0"/>
              <a:t> EBS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5E4B-1C00-4D15-836A-758583742CDE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30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Accessibility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EBS is specifically meant for EC2 (Elastic Computing Cloud) instances and is not accessible unless mounted to one.</a:t>
            </a:r>
            <a:br>
              <a:rPr lang="en-US" sz="2400" dirty="0"/>
            </a:b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data stored in EBS is </a:t>
            </a:r>
            <a:r>
              <a:rPr lang="en-US" sz="2400" b="1" dirty="0"/>
              <a:t>only accessible by the instance to which it is connected to.</a:t>
            </a:r>
            <a:endParaRPr lang="en-IN" sz="2400" b="1" dirty="0"/>
          </a:p>
          <a:p>
            <a:pPr marL="0" indent="0">
              <a:buNone/>
            </a:pPr>
            <a:r>
              <a:rPr lang="en-US" sz="2400" dirty="0" smtClean="0"/>
              <a:t>				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	VS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files within an S3 bucket are stored in an unstructured manner and </a:t>
            </a:r>
            <a:r>
              <a:rPr lang="en-US" sz="2400" b="1" dirty="0"/>
              <a:t>can be retrieved using HTTP protocols and even with </a:t>
            </a:r>
            <a:r>
              <a:rPr lang="en-US" sz="2400" b="1" dirty="0" err="1" smtClean="0"/>
              <a:t>BitTorrent</a:t>
            </a:r>
            <a:r>
              <a:rPr lang="en-US" sz="2400" b="1" dirty="0" smtClean="0"/>
              <a:t>.</a:t>
            </a:r>
          </a:p>
          <a:p>
            <a:r>
              <a:rPr lang="en-US" sz="2400" dirty="0"/>
              <a:t>Many sites use S3 to hold most of their files </a:t>
            </a:r>
            <a:r>
              <a:rPr lang="en-US" sz="2400" b="1" dirty="0"/>
              <a:t>because of its accessibility to HTTP clients</a:t>
            </a:r>
            <a:r>
              <a:rPr lang="en-US" sz="2400" dirty="0"/>
              <a:t>; web browsers for example</a:t>
            </a:r>
            <a:r>
              <a:rPr lang="en-US" sz="2400" dirty="0" smtClean="0"/>
              <a:t>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8336-0278-41CA-BA0A-C8F50BDCF97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88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Storage </a:t>
            </a:r>
            <a:r>
              <a:rPr lang="en-US" b="1" dirty="0" smtClean="0"/>
              <a:t>type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sz="2400" dirty="0" smtClean="0"/>
              <a:t>Amazon </a:t>
            </a:r>
            <a:r>
              <a:rPr lang="en-US" sz="2400" dirty="0"/>
              <a:t>Simple Storage Service is </a:t>
            </a:r>
            <a:r>
              <a:rPr lang="en-US" sz="2400" b="1" dirty="0"/>
              <a:t>object storage designed for storing large numbers of user files and backups</a:t>
            </a:r>
            <a:r>
              <a:rPr lang="en-US" sz="2400" dirty="0"/>
              <a:t> whereas </a:t>
            </a:r>
            <a:endParaRPr lang="en-US" sz="2400" dirty="0" smtClean="0"/>
          </a:p>
          <a:p>
            <a:pPr fontAlgn="base"/>
            <a:endParaRPr lang="en-US" sz="2400" dirty="0" smtClean="0"/>
          </a:p>
          <a:p>
            <a:pPr marL="0" indent="0" fontAlgn="base">
              <a:buNone/>
            </a:pPr>
            <a:r>
              <a:rPr lang="en-US" sz="2400" dirty="0" smtClean="0"/>
              <a:t>			</a:t>
            </a:r>
            <a:r>
              <a:rPr lang="en-US" sz="2400" b="1" dirty="0" smtClean="0"/>
              <a:t>VS</a:t>
            </a:r>
          </a:p>
          <a:p>
            <a:pPr marL="0" indent="0" fontAlgn="base">
              <a:buNone/>
            </a:pPr>
            <a:endParaRPr lang="en-US" sz="2400" b="1" dirty="0"/>
          </a:p>
          <a:p>
            <a:pPr fontAlgn="base"/>
            <a:r>
              <a:rPr lang="en-US" sz="2400" dirty="0" smtClean="0"/>
              <a:t>Elastic </a:t>
            </a:r>
            <a:r>
              <a:rPr lang="en-US" sz="2400" dirty="0"/>
              <a:t>block storage is </a:t>
            </a:r>
            <a:r>
              <a:rPr lang="en-US" sz="2400" b="1" dirty="0"/>
              <a:t>block storage for Amazon EC2 </a:t>
            </a:r>
            <a:r>
              <a:rPr lang="en-US" sz="2400" dirty="0"/>
              <a:t>compute </a:t>
            </a:r>
            <a:r>
              <a:rPr lang="en-US" sz="2400" dirty="0" smtClean="0"/>
              <a:t>instances</a:t>
            </a:r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It </a:t>
            </a:r>
            <a:r>
              <a:rPr lang="en-US" sz="2400" dirty="0"/>
              <a:t>is just </a:t>
            </a:r>
            <a:r>
              <a:rPr lang="en-US" sz="2400" b="1" dirty="0"/>
              <a:t>similar to hard </a:t>
            </a:r>
            <a:r>
              <a:rPr lang="en-US" sz="2400" b="1" dirty="0" smtClean="0"/>
              <a:t>disks </a:t>
            </a:r>
            <a:r>
              <a:rPr lang="en-US" sz="2400" b="1" dirty="0"/>
              <a:t>attached to your computers or laptops, but the only difference is that it is used for virtualized instances</a:t>
            </a:r>
            <a:r>
              <a:rPr lang="en-US" sz="2400" dirty="0"/>
              <a:t>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FF066-947A-405D-A595-0746E5017E9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98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Storage </a:t>
            </a:r>
            <a:r>
              <a:rPr lang="en-US" b="1" dirty="0" smtClean="0"/>
              <a:t>type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/>
              <a:t>With EBS, </a:t>
            </a:r>
            <a:r>
              <a:rPr lang="en-US" sz="2400" b="1" dirty="0"/>
              <a:t>a volume can be mounted on an EC2 instance and it would appear just like a hard disk partition. </a:t>
            </a:r>
            <a:endParaRPr lang="en-US" sz="2400" b="1" dirty="0" smtClean="0"/>
          </a:p>
          <a:p>
            <a:pPr fontAlgn="base"/>
            <a:endParaRPr lang="en-US" sz="2400" dirty="0" smtClean="0"/>
          </a:p>
          <a:p>
            <a:pPr fontAlgn="base"/>
            <a:r>
              <a:rPr lang="en-US" sz="2400" b="1" dirty="0" smtClean="0">
                <a:solidFill>
                  <a:srgbClr val="FF0000"/>
                </a:solidFill>
              </a:rPr>
              <a:t>It </a:t>
            </a:r>
            <a:r>
              <a:rPr lang="en-US" sz="2400" b="1" dirty="0">
                <a:solidFill>
                  <a:srgbClr val="FF0000"/>
                </a:solidFill>
              </a:rPr>
              <a:t>can be formatted with any file system</a:t>
            </a:r>
            <a:r>
              <a:rPr lang="en-US" sz="2400" dirty="0"/>
              <a:t> and </a:t>
            </a:r>
            <a:r>
              <a:rPr lang="en-US" sz="2400" b="1" dirty="0"/>
              <a:t>files can be written or read by the EC2 instance just like it would to a hard drive.</a:t>
            </a:r>
            <a:br>
              <a:rPr lang="en-US" sz="2400" b="1" dirty="0"/>
            </a:br>
            <a:r>
              <a:rPr lang="en-US" sz="2400" dirty="0"/>
              <a:t/>
            </a:r>
            <a:br>
              <a:rPr lang="en-US" sz="2400" dirty="0"/>
            </a:b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11E7-5F88-49BA-B511-487C582CF397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5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Size of </a:t>
            </a:r>
            <a:r>
              <a:rPr lang="en-US" b="1" dirty="0" smtClean="0"/>
              <a:t>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400" dirty="0" smtClean="0"/>
              <a:t>Simple </a:t>
            </a:r>
            <a:r>
              <a:rPr lang="en-US" sz="2400" dirty="0"/>
              <a:t>storage service (S3) can store large amounts as compared to EBS. </a:t>
            </a:r>
            <a:endParaRPr lang="en-US" sz="2400" dirty="0" smtClean="0"/>
          </a:p>
          <a:p>
            <a:pPr fontAlgn="base"/>
            <a:r>
              <a:rPr lang="en-US" sz="2400" dirty="0" smtClean="0"/>
              <a:t>With </a:t>
            </a:r>
            <a:r>
              <a:rPr lang="en-US" sz="2400" dirty="0"/>
              <a:t>S3, </a:t>
            </a:r>
            <a:r>
              <a:rPr lang="en-US" sz="2400" b="1" dirty="0"/>
              <a:t>the standard limit is </a:t>
            </a:r>
            <a:r>
              <a:rPr lang="en-US" sz="2400" b="1" dirty="0" smtClean="0"/>
              <a:t>of 100 </a:t>
            </a:r>
            <a:r>
              <a:rPr lang="en-US" sz="2400" b="1" dirty="0"/>
              <a:t>buckets and each bucket has got an unlimited data capacity</a:t>
            </a:r>
            <a:r>
              <a:rPr lang="en-US" sz="2400" dirty="0"/>
              <a:t> </a:t>
            </a:r>
            <a:r>
              <a:rPr lang="en-US" sz="2400" dirty="0" smtClean="0"/>
              <a:t>whereas </a:t>
            </a:r>
          </a:p>
          <a:p>
            <a:pPr marL="1828800" lvl="4" indent="0" fontAlgn="base">
              <a:buNone/>
            </a:pPr>
            <a:endParaRPr lang="en-US" sz="1200" dirty="0" smtClean="0"/>
          </a:p>
          <a:p>
            <a:pPr marL="1828800" lvl="4" indent="0" fontAlgn="base">
              <a:buNone/>
            </a:pPr>
            <a:r>
              <a:rPr lang="en-US" sz="2400" b="1" dirty="0" err="1" smtClean="0"/>
              <a:t>Vs</a:t>
            </a:r>
            <a:endParaRPr lang="en-US" sz="2400" b="1" dirty="0" smtClean="0"/>
          </a:p>
          <a:p>
            <a:pPr marL="1828800" lvl="4" indent="0" fontAlgn="base">
              <a:buNone/>
            </a:pPr>
            <a:endParaRPr lang="en-US" sz="2400" b="1" dirty="0" smtClean="0"/>
          </a:p>
          <a:p>
            <a:pPr fontAlgn="base"/>
            <a:r>
              <a:rPr lang="en-US" sz="2400" dirty="0" smtClean="0"/>
              <a:t>EBS </a:t>
            </a:r>
            <a:r>
              <a:rPr lang="en-US" sz="2400" dirty="0"/>
              <a:t>has a </a:t>
            </a:r>
            <a:r>
              <a:rPr lang="en-US" sz="2400" b="1" dirty="0"/>
              <a:t>standard limit of 20 volumes and each volume can hold data up to 1TB. </a:t>
            </a:r>
            <a:endParaRPr lang="en-US" sz="2400" b="1" dirty="0" smtClean="0"/>
          </a:p>
          <a:p>
            <a:pPr fontAlgn="base"/>
            <a:r>
              <a:rPr lang="en-US" sz="2400" dirty="0" smtClean="0"/>
              <a:t>In </a:t>
            </a:r>
            <a:r>
              <a:rPr lang="en-US" sz="2400" dirty="0"/>
              <a:t>EBS there occurs an upper limit on the data storage.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00AD-A52E-44BD-8AF9-C3C51C52183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8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Limitation of EBS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EBS</a:t>
            </a:r>
          </a:p>
          <a:p>
            <a:r>
              <a:rPr lang="en-US" sz="2400" b="1" dirty="0" smtClean="0"/>
              <a:t>EBS Volume </a:t>
            </a:r>
            <a:r>
              <a:rPr lang="en-US" sz="2400" b="1" dirty="0"/>
              <a:t>images cannot be shared among instances</a:t>
            </a:r>
            <a:r>
              <a:rPr lang="en-US" sz="2400" dirty="0"/>
              <a:t>, </a:t>
            </a:r>
            <a:endParaRPr lang="en-US" sz="2400" dirty="0" smtClean="0"/>
          </a:p>
          <a:p>
            <a:r>
              <a:rPr lang="en-US" sz="2400" dirty="0" smtClean="0"/>
              <a:t>But </a:t>
            </a:r>
            <a:r>
              <a:rPr lang="en-US" sz="2400" b="1" dirty="0"/>
              <a:t>it is possible to attach multiple volumes to a single </a:t>
            </a:r>
            <a:r>
              <a:rPr lang="en-US" sz="2400" b="1" dirty="0" smtClean="0"/>
              <a:t>instance</a:t>
            </a:r>
          </a:p>
          <a:p>
            <a:endParaRPr lang="en-US" sz="2400" b="1" dirty="0"/>
          </a:p>
          <a:p>
            <a:r>
              <a:rPr lang="en-US" sz="2400" b="1" dirty="0"/>
              <a:t>A limitation of EBS is its inability to be used by multiple instances at once. </a:t>
            </a:r>
            <a:r>
              <a:rPr lang="en-US" sz="2400" b="1" dirty="0">
                <a:solidFill>
                  <a:srgbClr val="FF0000"/>
                </a:solidFill>
              </a:rPr>
              <a:t>Once it is mounted by an instance, no other instance can use it.</a:t>
            </a:r>
            <a:r>
              <a:rPr lang="en-US" sz="2400" dirty="0"/>
              <a:t/>
            </a:r>
            <a:br>
              <a:rPr lang="en-US" sz="2400" dirty="0"/>
            </a:b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AAF4-4E78-400C-AB88-BEF97AD699A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19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Pros + Cons of S3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 EBS, data read or write occurs almost instantly. </a:t>
            </a:r>
          </a:p>
          <a:p>
            <a:endParaRPr lang="en-US" sz="2400" dirty="0" smtClean="0"/>
          </a:p>
          <a:p>
            <a:r>
              <a:rPr lang="en-US" sz="2400" b="1" dirty="0" smtClean="0"/>
              <a:t>S3 </a:t>
            </a:r>
            <a:r>
              <a:rPr lang="en-US" sz="2400" b="1" dirty="0"/>
              <a:t>can have multiple images of its contents so it can be used by many at the same time. </a:t>
            </a:r>
            <a:endParaRPr lang="en-US" sz="2400" b="1" dirty="0" smtClean="0"/>
          </a:p>
          <a:p>
            <a:r>
              <a:rPr lang="en-US" sz="2400" dirty="0" smtClean="0"/>
              <a:t>An </a:t>
            </a:r>
            <a:r>
              <a:rPr lang="en-US" sz="2400" dirty="0"/>
              <a:t>interesting side-effect of this capability is something called </a:t>
            </a:r>
            <a:r>
              <a:rPr lang="en-US" sz="2400" b="1" dirty="0">
                <a:solidFill>
                  <a:srgbClr val="FF0000"/>
                </a:solidFill>
              </a:rPr>
              <a:t>‘eventual consistency’.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With </a:t>
            </a:r>
            <a:r>
              <a:rPr lang="en-US" sz="2400" dirty="0"/>
              <a:t>S3, the changes are not written immediately so if you write something, it may not be the data that a read operation returns.</a:t>
            </a:r>
            <a:br>
              <a:rPr lang="en-US" sz="2400" dirty="0"/>
            </a:b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6798-A886-450C-8527-CCE40237DCD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44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Application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dirty="0"/>
              <a:t>Amazon S3: </a:t>
            </a:r>
            <a:endParaRPr lang="en-US" sz="2400" b="1" dirty="0" smtClean="0"/>
          </a:p>
          <a:p>
            <a:pPr fontAlgn="base"/>
            <a:r>
              <a:rPr lang="en-US" sz="2400" dirty="0" smtClean="0"/>
              <a:t>Amazon </a:t>
            </a:r>
            <a:r>
              <a:rPr lang="en-US" sz="2400" dirty="0"/>
              <a:t>S3 is a simple storage service offered by Amazon and it is useful for hosting website images and videos, data </a:t>
            </a:r>
            <a:r>
              <a:rPr lang="en-US" sz="2400" dirty="0" smtClean="0"/>
              <a:t>analytics</a:t>
            </a:r>
            <a:r>
              <a:rPr lang="en-US" sz="2400" dirty="0"/>
              <a:t>, </a:t>
            </a:r>
            <a:r>
              <a:rPr lang="en-US" sz="2400" dirty="0" err="1" smtClean="0"/>
              <a:t>etc</a:t>
            </a:r>
            <a:endParaRPr lang="en-US" sz="2400" dirty="0" smtClean="0"/>
          </a:p>
          <a:p>
            <a:pPr fontAlgn="base"/>
            <a:endParaRPr lang="en-US" sz="2400" dirty="0"/>
          </a:p>
          <a:p>
            <a:pPr marL="0" indent="0" fontAlgn="base">
              <a:buNone/>
            </a:pPr>
            <a:r>
              <a:rPr lang="en-US" sz="2400" b="1" dirty="0" smtClean="0"/>
              <a:t>EBS</a:t>
            </a:r>
          </a:p>
          <a:p>
            <a:pPr fontAlgn="base"/>
            <a:r>
              <a:rPr lang="en-US" sz="2400" dirty="0" smtClean="0"/>
              <a:t>Use </a:t>
            </a:r>
            <a:r>
              <a:rPr lang="en-US" sz="2400" dirty="0"/>
              <a:t>cases include business continuity, transactional and NO SQL database, software testing, etc.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F1AA4-98CF-4C51-B7AF-1E71B321EAC2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14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Application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sz="2400" b="1" dirty="0"/>
              <a:t>Amazon S3: </a:t>
            </a:r>
            <a:endParaRPr lang="en-US" sz="2400" b="1" dirty="0" smtClean="0"/>
          </a:p>
          <a:p>
            <a:pPr fontAlgn="base"/>
            <a:r>
              <a:rPr lang="en-US" sz="2400" b="1" dirty="0"/>
              <a:t>Customers of all sizes and industries can use Amazon S3 </a:t>
            </a:r>
            <a:r>
              <a:rPr lang="en-US" sz="2400" dirty="0"/>
              <a:t>to store and protect any amount of data </a:t>
            </a:r>
            <a:endParaRPr lang="en-US" sz="2400" dirty="0" smtClean="0"/>
          </a:p>
          <a:p>
            <a:pPr fontAlgn="base"/>
            <a:r>
              <a:rPr lang="en-US" sz="2400" dirty="0" smtClean="0"/>
              <a:t>S3 can be used for </a:t>
            </a:r>
            <a:r>
              <a:rPr lang="en-US" sz="2400" dirty="0"/>
              <a:t>a range of use cases, such as </a:t>
            </a:r>
            <a:endParaRPr lang="en-US" sz="2400" dirty="0" smtClean="0"/>
          </a:p>
          <a:p>
            <a:pPr fontAlgn="base"/>
            <a:r>
              <a:rPr lang="en-US" sz="2400" dirty="0" smtClean="0"/>
              <a:t>websites</a:t>
            </a:r>
            <a:r>
              <a:rPr lang="en-US" sz="2400" dirty="0"/>
              <a:t>, </a:t>
            </a:r>
            <a:endParaRPr lang="en-US" sz="2400" dirty="0" smtClean="0"/>
          </a:p>
          <a:p>
            <a:pPr fontAlgn="base"/>
            <a:r>
              <a:rPr lang="en-US" sz="2400" dirty="0" smtClean="0"/>
              <a:t>mobile </a:t>
            </a:r>
            <a:r>
              <a:rPr lang="en-US" sz="2400" dirty="0"/>
              <a:t>applications, </a:t>
            </a:r>
            <a:endParaRPr lang="en-US" sz="2400" dirty="0" smtClean="0"/>
          </a:p>
          <a:p>
            <a:pPr fontAlgn="base"/>
            <a:r>
              <a:rPr lang="en-US" sz="2400" dirty="0" smtClean="0"/>
              <a:t>backup </a:t>
            </a:r>
            <a:r>
              <a:rPr lang="en-US" sz="2400" dirty="0"/>
              <a:t>and restore, </a:t>
            </a:r>
            <a:endParaRPr lang="en-US" sz="2400" dirty="0" smtClean="0"/>
          </a:p>
          <a:p>
            <a:pPr fontAlgn="base"/>
            <a:r>
              <a:rPr lang="en-US" sz="2400" dirty="0" smtClean="0"/>
              <a:t>archive</a:t>
            </a:r>
            <a:r>
              <a:rPr lang="en-US" sz="2400" dirty="0"/>
              <a:t>, </a:t>
            </a:r>
            <a:endParaRPr lang="en-US" sz="2400" dirty="0" smtClean="0"/>
          </a:p>
          <a:p>
            <a:pPr fontAlgn="base"/>
            <a:r>
              <a:rPr lang="en-US" sz="2400" dirty="0" smtClean="0"/>
              <a:t>enterprise </a:t>
            </a:r>
            <a:r>
              <a:rPr lang="en-US" sz="2400" dirty="0"/>
              <a:t>applications, </a:t>
            </a:r>
            <a:endParaRPr lang="en-US" sz="2400" dirty="0" smtClean="0"/>
          </a:p>
          <a:p>
            <a:pPr fontAlgn="base"/>
            <a:r>
              <a:rPr lang="en-US" sz="2400" dirty="0" err="1" smtClean="0"/>
              <a:t>IoT</a:t>
            </a:r>
            <a:r>
              <a:rPr lang="en-US" sz="2400" dirty="0" smtClean="0"/>
              <a:t> </a:t>
            </a:r>
            <a:r>
              <a:rPr lang="en-US" sz="2400" dirty="0"/>
              <a:t>devices, and </a:t>
            </a:r>
            <a:endParaRPr lang="en-US" sz="2400" dirty="0" smtClean="0"/>
          </a:p>
          <a:p>
            <a:pPr fontAlgn="base"/>
            <a:r>
              <a:rPr lang="en-US" sz="2400" dirty="0" smtClean="0"/>
              <a:t>big </a:t>
            </a:r>
            <a:r>
              <a:rPr lang="en-US" sz="2400" dirty="0"/>
              <a:t>data analytics. 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B32F-86DF-4D73-B418-FF77700A440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9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Application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dirty="0"/>
              <a:t>Amazon S3: </a:t>
            </a:r>
            <a:endParaRPr lang="en-US" sz="2400" b="1" dirty="0" smtClean="0"/>
          </a:p>
          <a:p>
            <a:pPr fontAlgn="base"/>
            <a:r>
              <a:rPr lang="en-US" sz="2400" dirty="0" smtClean="0"/>
              <a:t>Amazon </a:t>
            </a:r>
            <a:r>
              <a:rPr lang="en-US" sz="2400" dirty="0"/>
              <a:t>S3 provides management features so that you can </a:t>
            </a:r>
            <a:r>
              <a:rPr lang="en-US" sz="2400" b="1" dirty="0"/>
              <a:t>optimize, organize, and configure access to your data </a:t>
            </a:r>
            <a:r>
              <a:rPr lang="en-US" sz="2400" dirty="0"/>
              <a:t>to meet </a:t>
            </a:r>
            <a:r>
              <a:rPr lang="en-US" sz="2400" b="1" dirty="0"/>
              <a:t>your specific business, organizational, and compliance requirements.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F379-DC15-4D4F-8330-7F6BBD9AC8E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79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Security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Amazon S3 can </a:t>
            </a:r>
            <a:r>
              <a:rPr lang="en-US" sz="2400" b="1" dirty="0"/>
              <a:t>prevent unauthorized accessing of data using </a:t>
            </a:r>
            <a:endParaRPr lang="en-US" sz="2400" b="1" dirty="0" smtClean="0"/>
          </a:p>
          <a:p>
            <a:r>
              <a:rPr lang="en-US" sz="2400" b="1" dirty="0" smtClean="0"/>
              <a:t>its </a:t>
            </a:r>
            <a:r>
              <a:rPr lang="en-US" sz="2400" b="1" dirty="0"/>
              <a:t>access management tools and </a:t>
            </a:r>
            <a:endParaRPr lang="en-US" sz="2400" b="1" dirty="0" smtClean="0"/>
          </a:p>
          <a:p>
            <a:r>
              <a:rPr lang="en-US" sz="2400" b="1" dirty="0" smtClean="0"/>
              <a:t>encryption </a:t>
            </a:r>
            <a:r>
              <a:rPr lang="en-US" sz="2400" b="1" dirty="0"/>
              <a:t>policies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dirty="0" smtClean="0"/>
              <a:t>			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	</a:t>
            </a:r>
            <a:r>
              <a:rPr lang="en-US" sz="2400" dirty="0" err="1" smtClean="0"/>
              <a:t>vs</a:t>
            </a:r>
            <a:endParaRPr lang="en-US" sz="2400" dirty="0"/>
          </a:p>
          <a:p>
            <a:endParaRPr lang="en-US" sz="2400" dirty="0" smtClean="0"/>
          </a:p>
          <a:p>
            <a:r>
              <a:rPr lang="en-US" sz="2400" b="1" dirty="0" smtClean="0"/>
              <a:t>No </a:t>
            </a:r>
            <a:r>
              <a:rPr lang="en-US" sz="2400" b="1" dirty="0"/>
              <a:t>such feature is present in EBS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EBS, </a:t>
            </a:r>
            <a:r>
              <a:rPr lang="en-US" sz="2400" b="1" dirty="0"/>
              <a:t>if any user gets unauthorized access to the instance then he/she can easily access the attached EBS. 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0AFE9-7722-4DB0-B5CB-D771F685547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28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ElastiCache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ElastiCache</a:t>
            </a:r>
            <a:r>
              <a:rPr lang="en-US" sz="2400" dirty="0" smtClean="0"/>
              <a:t> is based on </a:t>
            </a:r>
            <a:r>
              <a:rPr lang="en-US" sz="2400" b="1" dirty="0" smtClean="0"/>
              <a:t>a cluster of EC2 instances running the caching software</a:t>
            </a:r>
            <a:r>
              <a:rPr lang="en-US" sz="2400" dirty="0" smtClean="0"/>
              <a:t>, which is made available through Web services. </a:t>
            </a:r>
          </a:p>
          <a:p>
            <a:endParaRPr lang="en-US" sz="2400" dirty="0"/>
          </a:p>
          <a:p>
            <a:r>
              <a:rPr lang="en-US" sz="2400" dirty="0" err="1"/>
              <a:t>ElastiCache</a:t>
            </a:r>
            <a:r>
              <a:rPr lang="en-US" sz="2400" dirty="0"/>
              <a:t> is an </a:t>
            </a:r>
            <a:r>
              <a:rPr lang="en-US" sz="2400" b="1" dirty="0"/>
              <a:t>implementation of an elastic in-memory cache based on a cluster of EC2 instances. </a:t>
            </a:r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889C1-8D99-492F-8BE4-881316CB67E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4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ElastiCache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Automatic </a:t>
            </a:r>
            <a:r>
              <a:rPr lang="en-US" sz="2400" b="1" dirty="0"/>
              <a:t>patch management and </a:t>
            </a:r>
            <a:r>
              <a:rPr lang="en-US" sz="2400" b="1" dirty="0" smtClean="0"/>
              <a:t>failure detection </a:t>
            </a:r>
            <a:r>
              <a:rPr lang="en-US" sz="2400" b="1" dirty="0"/>
              <a:t>and recovery of cache nodes allow the cache cluster to keep running </a:t>
            </a:r>
            <a:endParaRPr lang="en-US" sz="2400" b="1" dirty="0" smtClean="0"/>
          </a:p>
          <a:p>
            <a:r>
              <a:rPr lang="en-US" sz="2400" b="1" dirty="0" smtClean="0"/>
              <a:t>without administrative </a:t>
            </a:r>
            <a:r>
              <a:rPr lang="en-US" sz="2400" b="1" dirty="0"/>
              <a:t>intervention from AWS users</a:t>
            </a:r>
            <a:r>
              <a:rPr lang="en-US" sz="2400" dirty="0"/>
              <a:t>, </a:t>
            </a:r>
            <a:endParaRPr lang="en-US" sz="2400" dirty="0" smtClean="0"/>
          </a:p>
          <a:p>
            <a:r>
              <a:rPr lang="en-US" sz="2400" dirty="0" smtClean="0"/>
              <a:t>AWS users </a:t>
            </a:r>
            <a:r>
              <a:rPr lang="en-US" sz="2400" b="1" dirty="0" smtClean="0"/>
              <a:t>only have to </a:t>
            </a:r>
            <a:r>
              <a:rPr lang="en-US" sz="2400" b="1" dirty="0"/>
              <a:t>elastically size the cluster when </a:t>
            </a:r>
            <a:r>
              <a:rPr lang="en-US" sz="2400" b="1" dirty="0" smtClean="0"/>
              <a:t>needed</a:t>
            </a:r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An </a:t>
            </a:r>
            <a:r>
              <a:rPr lang="en-US" sz="2400" dirty="0" err="1"/>
              <a:t>ElastiCache</a:t>
            </a:r>
            <a:r>
              <a:rPr lang="en-US" sz="2400" dirty="0"/>
              <a:t> cluster </a:t>
            </a:r>
            <a:r>
              <a:rPr lang="en-US" sz="2400" b="1" dirty="0"/>
              <a:t>can be dynamically resized according to the demand of the client applications.</a:t>
            </a:r>
            <a:r>
              <a:rPr lang="en-US" sz="2400" dirty="0"/>
              <a:t> </a:t>
            </a:r>
          </a:p>
          <a:p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79E8-5BB7-4548-AF5E-36621A8FE9A5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74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ElastiCache</a:t>
            </a:r>
            <a:r>
              <a:rPr lang="en-US" dirty="0" smtClean="0"/>
              <a:t> Pricing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ElastiCache</a:t>
            </a:r>
            <a:r>
              <a:rPr lang="en-US" sz="2400" dirty="0" smtClean="0"/>
              <a:t> nodes are priced according to the </a:t>
            </a:r>
            <a:r>
              <a:rPr lang="en-US" sz="2400" b="1" dirty="0" smtClean="0"/>
              <a:t>EC2 costing model, </a:t>
            </a:r>
          </a:p>
          <a:p>
            <a:r>
              <a:rPr lang="en-US" sz="2400" b="1" dirty="0" smtClean="0"/>
              <a:t>With a small price difference due to the use of the caching service installed on such instances.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7C230-12A8-4A61-AAE9-6972E35B0A07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59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Amazon EC2 Cache Instances Pricing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30993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It is possible to choose between different types of instances;</a:t>
            </a:r>
            <a:endParaRPr lang="en-IN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2276872"/>
            <a:ext cx="8601075" cy="359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C3865-7ED1-4725-9AB9-7A6504FC25C7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08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Amazon EC2 Instances Pricing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40768"/>
            <a:ext cx="8496944" cy="461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C737-8921-4C5C-9948-B3CDA2161A81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26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End of Lecture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B1DD6-288F-407F-B8BA-7259C9E6512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11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 storage solutions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Enterprise applications quite often rely </a:t>
            </a:r>
            <a:r>
              <a:rPr lang="en-US" sz="2400" b="1" dirty="0" smtClean="0"/>
              <a:t>on databases to store data in a structured form</a:t>
            </a:r>
            <a:r>
              <a:rPr lang="en-US" sz="2400" dirty="0" smtClean="0"/>
              <a:t>, index, and perform analytics against it. </a:t>
            </a:r>
          </a:p>
          <a:p>
            <a:r>
              <a:rPr lang="en-US" sz="2400" dirty="0" smtClean="0"/>
              <a:t>Traditionally, </a:t>
            </a:r>
            <a:r>
              <a:rPr lang="en-US" sz="2400" b="1" dirty="0" smtClean="0"/>
              <a:t>RDBMS have been the common data back-end for a wide range of applications</a:t>
            </a:r>
            <a:r>
              <a:rPr lang="en-US" sz="2400" b="1" dirty="0"/>
              <a:t>.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35DA6-FD9E-410E-BE7D-9C9BBE6C13F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07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Structured storage solutions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Amazon provides applications with structured storage services in three different forms: </a:t>
            </a:r>
          </a:p>
          <a:p>
            <a:pPr lvl="1"/>
            <a:r>
              <a:rPr lang="en-US" sz="2400" b="1" dirty="0" smtClean="0"/>
              <a:t>Preconfigured EC2 AMIs, </a:t>
            </a:r>
          </a:p>
          <a:p>
            <a:pPr lvl="1"/>
            <a:r>
              <a:rPr lang="en-US" sz="2400" b="1" dirty="0" smtClean="0"/>
              <a:t>Amazon Relational Data Storage (RDS), and </a:t>
            </a:r>
          </a:p>
          <a:p>
            <a:pPr lvl="1"/>
            <a:r>
              <a:rPr lang="en-US" sz="2400" b="1" dirty="0" smtClean="0"/>
              <a:t>Amazon </a:t>
            </a:r>
            <a:r>
              <a:rPr lang="en-US" sz="2400" b="1" dirty="0" err="1" smtClean="0"/>
              <a:t>SimpleDB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65A2-2564-49E8-9D5A-CB854A3411E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95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Preconfigured EC2 AMIs-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 smtClean="0"/>
              <a:t>Preconfigured EC2 AMIs are </a:t>
            </a:r>
            <a:r>
              <a:rPr lang="en-IN" sz="2400" b="1" dirty="0" smtClean="0"/>
              <a:t>predefined templates featuring an installation of a given database management system. </a:t>
            </a:r>
          </a:p>
          <a:p>
            <a:r>
              <a:rPr lang="en-IN" sz="2400" dirty="0" smtClean="0"/>
              <a:t>EC2 instances created from </a:t>
            </a:r>
            <a:r>
              <a:rPr lang="en-IN" sz="2400" b="1" dirty="0" smtClean="0"/>
              <a:t>these AMIs can be completed with an EBS volume for storage persistence.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199F8-5FFF-48AD-A918-9F0D4F07F3F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9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Preconfigured EC2 AMIs-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smtClean="0"/>
              <a:t>Available AMIs include installations of </a:t>
            </a:r>
          </a:p>
          <a:p>
            <a:r>
              <a:rPr lang="en-IN" sz="2400" b="1" dirty="0" smtClean="0"/>
              <a:t>IBM DB2, </a:t>
            </a:r>
          </a:p>
          <a:p>
            <a:r>
              <a:rPr lang="en-IN" sz="2400" b="1" dirty="0" smtClean="0"/>
              <a:t>Microsoft SQL Server, </a:t>
            </a:r>
          </a:p>
          <a:p>
            <a:r>
              <a:rPr lang="en-IN" sz="2400" b="1" dirty="0" smtClean="0"/>
              <a:t>MySQL, </a:t>
            </a:r>
          </a:p>
          <a:p>
            <a:r>
              <a:rPr lang="en-IN" sz="2400" b="1" dirty="0" smtClean="0"/>
              <a:t>Oracle, </a:t>
            </a:r>
          </a:p>
          <a:p>
            <a:r>
              <a:rPr lang="en-IN" sz="2400" b="1" dirty="0" err="1" smtClean="0"/>
              <a:t>PostgreSQL</a:t>
            </a:r>
            <a:r>
              <a:rPr lang="en-IN" sz="2400" b="1" dirty="0" smtClean="0"/>
              <a:t>, </a:t>
            </a:r>
          </a:p>
          <a:p>
            <a:r>
              <a:rPr lang="en-IN" sz="2400" b="1" dirty="0" smtClean="0"/>
              <a:t>Sybase, and </a:t>
            </a:r>
          </a:p>
          <a:p>
            <a:r>
              <a:rPr lang="en-IN" sz="2400" b="1" dirty="0" err="1" smtClean="0"/>
              <a:t>Vertica</a:t>
            </a:r>
            <a:r>
              <a:rPr lang="en-IN" sz="2400" b="1" dirty="0" smtClean="0"/>
              <a:t>. </a:t>
            </a:r>
          </a:p>
          <a:p>
            <a:endParaRPr lang="en-IN" sz="2400" dirty="0" smtClean="0"/>
          </a:p>
          <a:p>
            <a:r>
              <a:rPr lang="en-IN" sz="2400" dirty="0" smtClean="0"/>
              <a:t>Instances are </a:t>
            </a:r>
            <a:r>
              <a:rPr lang="en-IN" sz="2400" b="1" dirty="0" smtClean="0"/>
              <a:t>priced hourly according to the EC2 cost model.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9A509-785B-4509-A0C9-F9385E8051A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83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Preconfigured EC2 AMIs-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This solution poses most of the administrative burden on the </a:t>
            </a:r>
            <a:r>
              <a:rPr lang="en-US" sz="2400" b="1" dirty="0"/>
              <a:t>EC2 user, who has to configure, maintain, and manage the relational database, </a:t>
            </a:r>
            <a:endParaRPr lang="en-US" sz="2400" b="1" dirty="0" smtClean="0"/>
          </a:p>
          <a:p>
            <a:r>
              <a:rPr lang="en-US" sz="2400" b="1" dirty="0" smtClean="0"/>
              <a:t>but </a:t>
            </a:r>
            <a:r>
              <a:rPr lang="en-US" sz="2400" b="1" dirty="0"/>
              <a:t>offers the greatest variety of products to choose </a:t>
            </a:r>
            <a:r>
              <a:rPr lang="en-US" sz="2400" b="1" dirty="0" smtClean="0"/>
              <a:t>from.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46C5C-8A95-464E-968C-3CAAF16B5C2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15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RDS is </a:t>
            </a:r>
            <a:r>
              <a:rPr lang="en-US" sz="2400" b="1" dirty="0" smtClean="0"/>
              <a:t>relational database service that relies on the EC2 infrastructure and is managed by Amazon. </a:t>
            </a:r>
          </a:p>
          <a:p>
            <a:r>
              <a:rPr lang="en-US" sz="2400" dirty="0" smtClean="0"/>
              <a:t>Developers </a:t>
            </a:r>
            <a:r>
              <a:rPr lang="en-US" sz="2400" b="1" dirty="0" smtClean="0"/>
              <a:t>do not have to worry about configuring the storage for high availability, designing failover strategies</a:t>
            </a:r>
            <a:r>
              <a:rPr lang="en-US" sz="2400" dirty="0" smtClean="0"/>
              <a:t>, or keeping the servers up-to-date with patches.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956-8FB5-4E3F-A2C3-321AAFFD2071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45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 respect to the previous solution, </a:t>
            </a:r>
            <a:r>
              <a:rPr lang="en-US" sz="2400" b="1" dirty="0"/>
              <a:t>users are not responsible for managing, configuring, and patching the database management software</a:t>
            </a:r>
            <a:r>
              <a:rPr lang="en-US" sz="2400" dirty="0"/>
              <a:t>, but these operations are performed by the AWS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Moreover, the service </a:t>
            </a:r>
            <a:r>
              <a:rPr lang="en-US" sz="2400" b="1" dirty="0" smtClean="0"/>
              <a:t>provides users with automatic backups, snapshots, point-in-time recoveries, and facilities for implementing replications. </a:t>
            </a:r>
          </a:p>
          <a:p>
            <a:r>
              <a:rPr lang="en-US" sz="2400" dirty="0" smtClean="0"/>
              <a:t>These and the common database management services are available through the AWS console or a specific Web service.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C449-069C-4635-A8A3-9149ECE03519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29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Amazon RDS is a managed database service. It's responsible for most management tasks. </a:t>
            </a:r>
            <a:endParaRPr lang="en-US" sz="2400" b="1" dirty="0" smtClean="0"/>
          </a:p>
          <a:p>
            <a:r>
              <a:rPr lang="en-US" sz="2400" dirty="0" smtClean="0"/>
              <a:t>By </a:t>
            </a:r>
            <a:r>
              <a:rPr lang="en-US" sz="2400" dirty="0"/>
              <a:t>eliminating tedious manual tasks, Amazon RDS frees you to focus on your application and your users. </a:t>
            </a:r>
            <a:endParaRPr lang="en-US" sz="2400" dirty="0" smtClean="0"/>
          </a:p>
          <a:p>
            <a:r>
              <a:rPr lang="en-US" sz="2400" b="1" dirty="0" smtClean="0"/>
              <a:t>Amazon recommends </a:t>
            </a:r>
            <a:r>
              <a:rPr lang="en-US" sz="2400" b="1" dirty="0"/>
              <a:t>Amazon RDS over Amazon EC2 as your default choice for </a:t>
            </a:r>
            <a:r>
              <a:rPr lang="en-US" sz="2400" b="1" dirty="0" smtClean="0"/>
              <a:t>most </a:t>
            </a:r>
            <a:r>
              <a:rPr lang="en-US" sz="2400" b="1" dirty="0"/>
              <a:t>database deployments</a:t>
            </a:r>
            <a:r>
              <a:rPr lang="en-US" sz="2400" b="1" dirty="0" smtClean="0"/>
              <a:t>.</a:t>
            </a:r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86731-5B09-4277-B9FB-F0A5A564939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01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Preconfigures EC2 AMIs </a:t>
            </a:r>
            <a:r>
              <a:rPr lang="en-IN" dirty="0" err="1" smtClean="0"/>
              <a:t>vs</a:t>
            </a:r>
            <a:r>
              <a:rPr lang="en-IN" dirty="0" smtClean="0"/>
              <a:t> 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0" t="30290" r="13750" b="18260"/>
          <a:stretch/>
        </p:blipFill>
        <p:spPr bwMode="auto">
          <a:xfrm>
            <a:off x="395536" y="1556792"/>
            <a:ext cx="8208912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517232"/>
            <a:ext cx="8208912" cy="809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0B19-D369-4715-B808-AEB4CC353CF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42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Advantages of 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Amazon RDS provides the following specific advantages over database deployments that aren't fully managed:</a:t>
            </a:r>
          </a:p>
          <a:p>
            <a:r>
              <a:rPr lang="en-US" sz="2400" dirty="0"/>
              <a:t>You can use the database products you are already familiar with: </a:t>
            </a:r>
            <a:endParaRPr lang="en-US" sz="2400" dirty="0" smtClean="0"/>
          </a:p>
          <a:p>
            <a:pPr lvl="1"/>
            <a:r>
              <a:rPr lang="en-US" sz="2400" b="1" dirty="0" err="1" smtClean="0"/>
              <a:t>MariaDB</a:t>
            </a:r>
            <a:r>
              <a:rPr lang="en-US" sz="2400" b="1" dirty="0"/>
              <a:t>, </a:t>
            </a:r>
            <a:endParaRPr lang="en-US" sz="2400" b="1" dirty="0" smtClean="0"/>
          </a:p>
          <a:p>
            <a:pPr lvl="1"/>
            <a:r>
              <a:rPr lang="en-US" sz="2400" b="1" dirty="0" smtClean="0"/>
              <a:t>Microsoft </a:t>
            </a:r>
            <a:r>
              <a:rPr lang="en-US" sz="2400" b="1" dirty="0"/>
              <a:t>SQL Server, </a:t>
            </a:r>
            <a:endParaRPr lang="en-US" sz="2400" b="1" dirty="0" smtClean="0"/>
          </a:p>
          <a:p>
            <a:pPr lvl="1"/>
            <a:r>
              <a:rPr lang="en-US" sz="2400" b="1" dirty="0" smtClean="0"/>
              <a:t>MySQL</a:t>
            </a:r>
            <a:r>
              <a:rPr lang="en-US" sz="2400" b="1" dirty="0"/>
              <a:t>, </a:t>
            </a:r>
            <a:endParaRPr lang="en-US" sz="2400" b="1" dirty="0" smtClean="0"/>
          </a:p>
          <a:p>
            <a:pPr lvl="1"/>
            <a:r>
              <a:rPr lang="en-US" sz="2400" b="1" dirty="0" smtClean="0"/>
              <a:t>Oracle</a:t>
            </a:r>
            <a:r>
              <a:rPr lang="en-US" sz="2400" b="1" dirty="0"/>
              <a:t>, and </a:t>
            </a:r>
            <a:endParaRPr lang="en-US" sz="2400" b="1" dirty="0" smtClean="0"/>
          </a:p>
          <a:p>
            <a:pPr lvl="1"/>
            <a:r>
              <a:rPr lang="en-US" sz="2400" b="1" dirty="0" err="1" smtClean="0"/>
              <a:t>PostgreSQL</a:t>
            </a:r>
            <a:r>
              <a:rPr lang="en-US" sz="2400" b="1" dirty="0"/>
              <a:t>.</a:t>
            </a:r>
          </a:p>
          <a:p>
            <a:pPr lvl="1"/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8BF5-36D0-4FD7-A5E1-280FD4E4384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36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Advantages of 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Amazon </a:t>
            </a:r>
            <a:r>
              <a:rPr lang="en-US" sz="2400" b="1" dirty="0"/>
              <a:t>RDS manages backups, software patching, automatic failure detection, and recovery.</a:t>
            </a:r>
          </a:p>
          <a:p>
            <a:r>
              <a:rPr lang="en-US" sz="2400" dirty="0"/>
              <a:t>You can </a:t>
            </a:r>
            <a:r>
              <a:rPr lang="en-US" sz="2400" b="1" dirty="0">
                <a:solidFill>
                  <a:srgbClr val="FF0000"/>
                </a:solidFill>
              </a:rPr>
              <a:t>turn on automated backups, or </a:t>
            </a:r>
            <a:r>
              <a:rPr lang="en-US" sz="2400" b="1" dirty="0" smtClean="0">
                <a:solidFill>
                  <a:srgbClr val="FF0000"/>
                </a:solidFill>
              </a:rPr>
              <a:t>manually </a:t>
            </a:r>
            <a:r>
              <a:rPr lang="en-US" sz="2400" b="1" dirty="0">
                <a:solidFill>
                  <a:srgbClr val="FF0000"/>
                </a:solidFill>
              </a:rPr>
              <a:t>create your own backup snapshots.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You </a:t>
            </a:r>
            <a:r>
              <a:rPr lang="en-US" sz="2400" dirty="0"/>
              <a:t>can use these backups to restore a database.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Amazon </a:t>
            </a:r>
            <a:r>
              <a:rPr lang="en-US" sz="2400" b="1" dirty="0"/>
              <a:t>RDS restore process works reliably and efficiently.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8875-62BC-498D-9CA9-11FD47B80ED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213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Advantages of 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sz="2400" dirty="0" smtClean="0"/>
              <a:t>Users can </a:t>
            </a:r>
            <a:r>
              <a:rPr lang="en-US" sz="2400" dirty="0"/>
              <a:t>get </a:t>
            </a:r>
            <a:r>
              <a:rPr lang="en-US" sz="2400" b="1" dirty="0"/>
              <a:t>high availability with a primary instance and a synchronous secondary instance </a:t>
            </a:r>
            <a:r>
              <a:rPr lang="en-US" sz="2400" dirty="0"/>
              <a:t>that you can fail over to when problems occur. </a:t>
            </a:r>
            <a:endParaRPr lang="en-US" sz="2400" dirty="0" smtClean="0"/>
          </a:p>
          <a:p>
            <a:r>
              <a:rPr lang="en-US" sz="2400" dirty="0" smtClean="0"/>
              <a:t>Users can </a:t>
            </a:r>
            <a:r>
              <a:rPr lang="en-US" sz="2400" dirty="0"/>
              <a:t>also </a:t>
            </a:r>
            <a:r>
              <a:rPr lang="en-US" sz="2400" b="1" dirty="0"/>
              <a:t>use read replicas to increase read scaling.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E0455-1516-4630-A054-33D3C427A1B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82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Advantages of 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 </a:t>
            </a:r>
            <a:r>
              <a:rPr lang="en-US" sz="2400" dirty="0"/>
              <a:t>addition to the security in your database package, </a:t>
            </a:r>
            <a:r>
              <a:rPr lang="en-US" sz="2400" b="1" dirty="0"/>
              <a:t>you can help control who can access your RDS databases. </a:t>
            </a:r>
            <a:endParaRPr lang="en-US" sz="2400" b="1" dirty="0" smtClean="0"/>
          </a:p>
          <a:p>
            <a:r>
              <a:rPr lang="en-US" sz="2400" dirty="0" smtClean="0"/>
              <a:t>To </a:t>
            </a:r>
            <a:r>
              <a:rPr lang="en-US" sz="2400" dirty="0"/>
              <a:t>do so, you can use </a:t>
            </a:r>
            <a:r>
              <a:rPr lang="en-US" sz="2400" b="1" dirty="0"/>
              <a:t>AWS Identity and Access Management (IAM) </a:t>
            </a:r>
            <a:r>
              <a:rPr lang="en-US" sz="2400" dirty="0"/>
              <a:t>to define users and permissions. </a:t>
            </a:r>
            <a:endParaRPr lang="en-US" sz="2400" dirty="0" smtClean="0"/>
          </a:p>
          <a:p>
            <a:r>
              <a:rPr lang="en-US" sz="2400" dirty="0" smtClean="0"/>
              <a:t>You </a:t>
            </a:r>
            <a:r>
              <a:rPr lang="en-US" sz="2400" dirty="0"/>
              <a:t>can also </a:t>
            </a:r>
            <a:r>
              <a:rPr lang="en-US" sz="2400" b="1" dirty="0"/>
              <a:t>help protect your databases by putting them in a virtual private cloud (VPC).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8FD-65B3-4539-837A-FD7AC66B5D17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87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DB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basic building block of Amazon RDS </a:t>
            </a:r>
            <a:endParaRPr lang="en-US" sz="2400" b="1" dirty="0" smtClean="0"/>
          </a:p>
          <a:p>
            <a:r>
              <a:rPr lang="en-US" sz="2400" dirty="0" smtClean="0"/>
              <a:t>An </a:t>
            </a:r>
            <a:r>
              <a:rPr lang="en-US" sz="2400" b="1" dirty="0"/>
              <a:t>isolated database environment in the AWS Cloud. </a:t>
            </a:r>
            <a:endParaRPr lang="en-US" sz="2400" b="1" dirty="0" smtClean="0"/>
          </a:p>
          <a:p>
            <a:r>
              <a:rPr lang="en-US" sz="2400" dirty="0" smtClean="0"/>
              <a:t>User’s DB </a:t>
            </a:r>
            <a:r>
              <a:rPr lang="en-US" sz="2400" dirty="0"/>
              <a:t>instance can </a:t>
            </a:r>
            <a:r>
              <a:rPr lang="en-US" sz="2400" b="1" dirty="0"/>
              <a:t>contain one or more user-created databases</a:t>
            </a:r>
            <a:r>
              <a:rPr lang="en-US" sz="2400" dirty="0"/>
              <a:t>. </a:t>
            </a:r>
            <a:endParaRPr lang="en-US" sz="2400" dirty="0" smtClean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4385D-39AA-4D4A-8432-3F8BD86C674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55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DB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You </a:t>
            </a:r>
            <a:r>
              <a:rPr lang="en-US" sz="2400" dirty="0"/>
              <a:t>can access your DB instance by using the same tools and applications that you use with a standalone database instance. </a:t>
            </a:r>
            <a:endParaRPr lang="en-US" sz="2400" dirty="0" smtClean="0"/>
          </a:p>
          <a:p>
            <a:r>
              <a:rPr lang="en-US" sz="2400" dirty="0" smtClean="0"/>
              <a:t>You </a:t>
            </a:r>
            <a:r>
              <a:rPr lang="en-US" sz="2400" dirty="0"/>
              <a:t>can </a:t>
            </a:r>
            <a:r>
              <a:rPr lang="en-US" sz="2400" b="1" dirty="0"/>
              <a:t>create and modify a DB instance by </a:t>
            </a:r>
            <a:endParaRPr lang="en-US" sz="2400" b="1" dirty="0" smtClean="0"/>
          </a:p>
          <a:p>
            <a:r>
              <a:rPr lang="en-US" sz="2400" b="1" dirty="0" smtClean="0"/>
              <a:t>using </a:t>
            </a:r>
            <a:r>
              <a:rPr lang="en-US" sz="2400" b="1" dirty="0"/>
              <a:t>the AWS Command Line Interface (AWS CLI), </a:t>
            </a:r>
            <a:endParaRPr lang="en-US" sz="2400" b="1" dirty="0" smtClean="0"/>
          </a:p>
          <a:p>
            <a:r>
              <a:rPr lang="en-US" sz="2400" b="1" dirty="0" smtClean="0"/>
              <a:t>the </a:t>
            </a:r>
            <a:r>
              <a:rPr lang="en-US" sz="2400" b="1" dirty="0"/>
              <a:t>Amazon RDS API, or </a:t>
            </a:r>
            <a:endParaRPr lang="en-US" sz="2400" b="1" dirty="0" smtClean="0"/>
          </a:p>
          <a:p>
            <a:r>
              <a:rPr lang="en-US" sz="2400" b="1" dirty="0" smtClean="0"/>
              <a:t>the </a:t>
            </a:r>
            <a:r>
              <a:rPr lang="en-US" sz="2400" b="1" dirty="0"/>
              <a:t>AWS Management Console.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DF428-F80F-43A2-8323-D3F4DB064C5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99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19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DB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A</a:t>
            </a:r>
            <a:r>
              <a:rPr lang="en-US" sz="2400" dirty="0"/>
              <a:t> </a:t>
            </a:r>
            <a:r>
              <a:rPr lang="en-US" sz="2400" i="1" dirty="0"/>
              <a:t>DB engine</a:t>
            </a:r>
            <a:r>
              <a:rPr lang="en-US" sz="2400" dirty="0"/>
              <a:t> is the </a:t>
            </a:r>
            <a:r>
              <a:rPr lang="en-US" sz="2400" b="1" dirty="0"/>
              <a:t>specific relational database software that runs on your DB instance. </a:t>
            </a:r>
            <a:endParaRPr lang="en-US" sz="2400" b="1" dirty="0" smtClean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CA75-3464-4E14-B4E0-FA64AE81C85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08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DB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Amazon </a:t>
            </a:r>
            <a:r>
              <a:rPr lang="en-US" sz="2400" b="1" dirty="0"/>
              <a:t>RDS currently supports the following engines:</a:t>
            </a:r>
          </a:p>
          <a:p>
            <a:pPr lvl="1"/>
            <a:r>
              <a:rPr lang="en-US" sz="2400" b="1" dirty="0" err="1"/>
              <a:t>MariaDB</a:t>
            </a:r>
            <a:endParaRPr lang="en-US" sz="2400" b="1" dirty="0"/>
          </a:p>
          <a:p>
            <a:pPr lvl="1"/>
            <a:r>
              <a:rPr lang="en-US" sz="2400" b="1" dirty="0"/>
              <a:t>Microsoft SQL Server</a:t>
            </a:r>
          </a:p>
          <a:p>
            <a:pPr lvl="1"/>
            <a:r>
              <a:rPr lang="en-US" sz="2400" b="1" dirty="0"/>
              <a:t>MySQL</a:t>
            </a:r>
          </a:p>
          <a:p>
            <a:pPr lvl="1"/>
            <a:r>
              <a:rPr lang="en-US" sz="2400" b="1" dirty="0"/>
              <a:t>Oracle</a:t>
            </a:r>
          </a:p>
          <a:p>
            <a:pPr lvl="1"/>
            <a:r>
              <a:rPr lang="en-US" sz="2400" b="1" dirty="0" err="1"/>
              <a:t>PostgreSQL</a:t>
            </a:r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BD8B-A152-4BAF-8297-D55A4DFD99E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77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DB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Each </a:t>
            </a:r>
            <a:r>
              <a:rPr lang="en-US" sz="2400" dirty="0"/>
              <a:t>DB engine has its own supported features, and each </a:t>
            </a:r>
            <a:r>
              <a:rPr lang="en-US" sz="2400" b="1" dirty="0"/>
              <a:t>version of a DB engine can include specific features</a:t>
            </a:r>
            <a:r>
              <a:rPr lang="en-US" sz="2400" b="1" dirty="0" smtClean="0"/>
              <a:t>.</a:t>
            </a:r>
          </a:p>
          <a:p>
            <a:r>
              <a:rPr lang="en-US" sz="2400" dirty="0"/>
              <a:t>Additionally, </a:t>
            </a:r>
            <a:r>
              <a:rPr lang="en-US" sz="2400" b="1" dirty="0"/>
              <a:t>each DB engine has a set of parameters in a DB parameter group </a:t>
            </a:r>
            <a:endParaRPr lang="en-US" sz="2400" b="1" dirty="0" smtClean="0"/>
          </a:p>
          <a:p>
            <a:r>
              <a:rPr lang="en-US" sz="2400" b="1" dirty="0" smtClean="0"/>
              <a:t>that </a:t>
            </a:r>
            <a:r>
              <a:rPr lang="en-US" sz="2400" b="1" dirty="0"/>
              <a:t>control the behavior of the databases that it manages.</a:t>
            </a:r>
          </a:p>
          <a:p>
            <a:endParaRPr lang="en-US" sz="2400" b="1" dirty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57BE6-DD0B-4411-BF55-FFE2DAF125D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85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DB </a:t>
            </a:r>
            <a:r>
              <a:rPr lang="en-US" dirty="0" smtClean="0"/>
              <a:t>instance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Amazon </a:t>
            </a:r>
            <a:r>
              <a:rPr lang="en-US" sz="2400" dirty="0"/>
              <a:t>RDS supports DB instance </a:t>
            </a:r>
            <a:r>
              <a:rPr lang="en-US" sz="2400" dirty="0" smtClean="0"/>
              <a:t>types as follows:</a:t>
            </a:r>
            <a:endParaRPr lang="en-US" sz="2400" dirty="0"/>
          </a:p>
          <a:p>
            <a:r>
              <a:rPr lang="en-US" sz="2400" b="1" dirty="0" smtClean="0"/>
              <a:t>General-purpose</a:t>
            </a:r>
            <a:endParaRPr lang="en-US" sz="2400" b="1" dirty="0"/>
          </a:p>
          <a:p>
            <a:r>
              <a:rPr lang="en-US" sz="2400" b="1" dirty="0" smtClean="0"/>
              <a:t>Memory-optimized</a:t>
            </a:r>
            <a:endParaRPr lang="en-US" sz="2400" b="1" dirty="0"/>
          </a:p>
          <a:p>
            <a:r>
              <a:rPr lang="en-US" sz="2400" b="1" dirty="0" smtClean="0"/>
              <a:t>Burstable-performance</a:t>
            </a:r>
            <a:endParaRPr lang="en-US" sz="2400" b="1" dirty="0"/>
          </a:p>
          <a:p>
            <a:r>
              <a:rPr lang="en-US" sz="2400" b="1" dirty="0" smtClean="0"/>
              <a:t>Optimized </a:t>
            </a:r>
            <a:r>
              <a:rPr lang="en-US" sz="2400" b="1" dirty="0"/>
              <a:t>Reads</a:t>
            </a:r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3972-DC0E-4575-A3B5-02CBE2310BE3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8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DB instance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DB instance class </a:t>
            </a:r>
            <a:r>
              <a:rPr lang="en-US" sz="2400" b="1" dirty="0"/>
              <a:t>determines the computation and memory capacity of an Amazon RDS DB </a:t>
            </a:r>
            <a:r>
              <a:rPr lang="en-US" sz="2400" b="1" dirty="0" smtClean="0"/>
              <a:t>instance type. 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DB instance class that you need </a:t>
            </a:r>
            <a:r>
              <a:rPr lang="en-US" sz="2400" b="1" dirty="0"/>
              <a:t>depends on your processing power and memory requirements.</a:t>
            </a:r>
          </a:p>
          <a:p>
            <a:pPr marL="0" indent="0">
              <a:buNone/>
            </a:pPr>
            <a:r>
              <a:rPr lang="en-US" sz="2400" b="1" dirty="0" smtClean="0"/>
              <a:t>						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09235-31F6-42E6-8F48-08BF5840CC5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84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DB instance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A </a:t>
            </a:r>
            <a:r>
              <a:rPr lang="en-US" sz="2400" b="1" dirty="0"/>
              <a:t>DB instance class consists of both the DB instance type and the size.</a:t>
            </a:r>
            <a:r>
              <a:rPr lang="en-US" sz="2400" dirty="0"/>
              <a:t>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Eg1-</a:t>
            </a:r>
          </a:p>
          <a:p>
            <a:r>
              <a:rPr lang="en-US" sz="2400" b="1" dirty="0" smtClean="0"/>
              <a:t>db.m6g </a:t>
            </a:r>
            <a:r>
              <a:rPr lang="en-US" sz="2400" b="1" dirty="0"/>
              <a:t>is a general-purpose DB instance type powered by AWS Graviton2 processors. </a:t>
            </a:r>
            <a:endParaRPr lang="en-US" sz="2400" b="1" dirty="0" smtClean="0"/>
          </a:p>
          <a:p>
            <a:r>
              <a:rPr lang="en-US" sz="2400" b="1" dirty="0" smtClean="0"/>
              <a:t>Within </a:t>
            </a:r>
            <a:r>
              <a:rPr lang="en-US" sz="2400" b="1" dirty="0"/>
              <a:t>the db.m6g instance type, db.m6g.2xlarge is a DB instance class</a:t>
            </a:r>
            <a:r>
              <a:rPr lang="en-US" sz="2400" b="1" dirty="0" smtClean="0"/>
              <a:t>.</a:t>
            </a:r>
          </a:p>
          <a:p>
            <a:pPr marL="0" indent="0">
              <a:buNone/>
            </a:pPr>
            <a:r>
              <a:rPr lang="en-US" sz="2400" dirty="0" smtClean="0"/>
              <a:t>Eg2-</a:t>
            </a:r>
          </a:p>
          <a:p>
            <a:r>
              <a:rPr lang="en-US" sz="2400" dirty="0" smtClean="0"/>
              <a:t>db.r6g </a:t>
            </a:r>
            <a:r>
              <a:rPr lang="en-US" sz="2400" dirty="0"/>
              <a:t>is a memory-optimized DB instance class type powered by AWS Graviton2 processors. </a:t>
            </a:r>
            <a:endParaRPr lang="en-US" sz="2400" dirty="0" smtClean="0"/>
          </a:p>
          <a:p>
            <a:r>
              <a:rPr lang="en-US" sz="2400" dirty="0" smtClean="0"/>
              <a:t>Within </a:t>
            </a:r>
            <a:r>
              <a:rPr lang="en-US" sz="2400" dirty="0"/>
              <a:t>the db.r6g instance class type, db.r6g.2xlarge is a DB instance class. The size of this class is 2xlarge.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87CB4-C566-4E14-A954-4576FC31C403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48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General-</a:t>
            </a:r>
            <a:r>
              <a:rPr lang="en-US" b="1" dirty="0" err="1" smtClean="0"/>
              <a:t>purposeDB</a:t>
            </a:r>
            <a:r>
              <a:rPr lang="en-US" b="1" dirty="0" smtClean="0"/>
              <a:t> </a:t>
            </a:r>
            <a:r>
              <a:rPr lang="en-US" b="1" dirty="0"/>
              <a:t>instance </a:t>
            </a:r>
            <a:r>
              <a:rPr lang="en-US" b="1" dirty="0" smtClean="0"/>
              <a:t>types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following are the general-purpose DB instance </a:t>
            </a:r>
            <a:r>
              <a:rPr lang="en-US" sz="2400" dirty="0" smtClean="0"/>
              <a:t>classes are available:</a:t>
            </a:r>
          </a:p>
          <a:p>
            <a:r>
              <a:rPr lang="en-IN" sz="2400" b="1" dirty="0" smtClean="0"/>
              <a:t>db.m7g</a:t>
            </a:r>
          </a:p>
          <a:p>
            <a:r>
              <a:rPr lang="en-IN" sz="2400" b="1" dirty="0" smtClean="0"/>
              <a:t>db.m6g</a:t>
            </a:r>
            <a:r>
              <a:rPr lang="en-IN" sz="2400" dirty="0"/>
              <a:t> </a:t>
            </a:r>
            <a:endParaRPr lang="en-IN" sz="2400" dirty="0" smtClean="0"/>
          </a:p>
          <a:p>
            <a:r>
              <a:rPr lang="en-IN" sz="2400" b="1" dirty="0" smtClean="0"/>
              <a:t>db.m6i</a:t>
            </a:r>
            <a:r>
              <a:rPr lang="en-IN" sz="2400" dirty="0"/>
              <a:t> </a:t>
            </a:r>
            <a:endParaRPr lang="en-IN" sz="2400" dirty="0" smtClean="0"/>
          </a:p>
          <a:p>
            <a:r>
              <a:rPr lang="en-IN" sz="2400" b="1" dirty="0" smtClean="0"/>
              <a:t>db.m5</a:t>
            </a:r>
          </a:p>
          <a:p>
            <a:r>
              <a:rPr lang="en-IN" sz="2400" b="1" dirty="0" smtClean="0"/>
              <a:t>db.m4</a:t>
            </a:r>
          </a:p>
          <a:p>
            <a:r>
              <a:rPr lang="en-IN" sz="2400" b="1" dirty="0"/>
              <a:t>db.m3</a:t>
            </a:r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3972-DC0E-4575-A3B5-02CBE2310BE3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43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76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Memory Optimized DB </a:t>
            </a:r>
            <a:r>
              <a:rPr lang="en-US" b="1" dirty="0"/>
              <a:t>instance </a:t>
            </a:r>
            <a:r>
              <a:rPr lang="en-US" b="1" dirty="0" smtClean="0"/>
              <a:t>types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04664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The following are the memory-optimized DB instance types available</a:t>
            </a:r>
            <a:r>
              <a:rPr lang="en-US" sz="2400" dirty="0" smtClean="0"/>
              <a:t>:</a:t>
            </a:r>
          </a:p>
          <a:p>
            <a:r>
              <a:rPr lang="en-IN" sz="2400" b="1" dirty="0" smtClean="0"/>
              <a:t>db.x2g</a:t>
            </a:r>
          </a:p>
          <a:p>
            <a:r>
              <a:rPr lang="en-IN" sz="2400" b="1" dirty="0" smtClean="0"/>
              <a:t>db.z1d</a:t>
            </a:r>
          </a:p>
          <a:p>
            <a:r>
              <a:rPr lang="en-IN" sz="2400" b="1" dirty="0" smtClean="0"/>
              <a:t>db.x2i</a:t>
            </a:r>
          </a:p>
          <a:p>
            <a:r>
              <a:rPr lang="en-IN" sz="2400" b="1" dirty="0"/>
              <a:t>db.x1e</a:t>
            </a:r>
            <a:r>
              <a:rPr lang="en-IN" sz="2400" dirty="0"/>
              <a:t> </a:t>
            </a:r>
            <a:endParaRPr lang="en-IN" sz="2400" dirty="0" smtClean="0"/>
          </a:p>
          <a:p>
            <a:r>
              <a:rPr lang="en-IN" sz="2400" b="1" dirty="0" smtClean="0"/>
              <a:t>db.x1</a:t>
            </a:r>
          </a:p>
          <a:p>
            <a:r>
              <a:rPr lang="en-IN" sz="2400" b="1" dirty="0" smtClean="0"/>
              <a:t>db.r6g</a:t>
            </a:r>
          </a:p>
          <a:p>
            <a:r>
              <a:rPr lang="en-IN" sz="2400" b="1" dirty="0" smtClean="0"/>
              <a:t>db.r6gd</a:t>
            </a:r>
          </a:p>
          <a:p>
            <a:r>
              <a:rPr lang="en-IN" sz="2400" b="1" dirty="0" smtClean="0"/>
              <a:t>db.r6i</a:t>
            </a:r>
          </a:p>
          <a:p>
            <a:r>
              <a:rPr lang="en-IN" sz="2400" b="1" dirty="0" smtClean="0"/>
              <a:t>db.r5b</a:t>
            </a:r>
          </a:p>
          <a:p>
            <a:r>
              <a:rPr lang="en-IN" sz="2400" b="1" dirty="0"/>
              <a:t>db.r5d</a:t>
            </a:r>
            <a:r>
              <a:rPr lang="en-IN" sz="2400" dirty="0"/>
              <a:t> </a:t>
            </a:r>
            <a:endParaRPr lang="en-US" sz="2400" b="1" dirty="0" smtClean="0"/>
          </a:p>
          <a:p>
            <a:r>
              <a:rPr lang="en-IN" sz="2400" b="1" dirty="0" smtClean="0"/>
              <a:t>db.r5</a:t>
            </a:r>
          </a:p>
          <a:p>
            <a:r>
              <a:rPr lang="en-IN" sz="2400" b="1" dirty="0" smtClean="0"/>
              <a:t>db.r4</a:t>
            </a:r>
          </a:p>
          <a:p>
            <a:r>
              <a:rPr lang="en-IN" sz="2400" b="1" dirty="0"/>
              <a:t>d</a:t>
            </a:r>
            <a:r>
              <a:rPr lang="en-IN" sz="2400" b="1" dirty="0" smtClean="0"/>
              <a:t>b.r3</a:t>
            </a:r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8666-70A1-4237-9FE5-3F39FDDD3A5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08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Burstable Performance DB </a:t>
            </a:r>
            <a:r>
              <a:rPr lang="en-US" b="1" dirty="0"/>
              <a:t>instance </a:t>
            </a:r>
            <a:r>
              <a:rPr lang="en-US" b="1" dirty="0" smtClean="0"/>
              <a:t>types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following are the burstable-performance DB instance types available:</a:t>
            </a:r>
          </a:p>
          <a:p>
            <a:r>
              <a:rPr lang="en-US" sz="2400" b="1" dirty="0"/>
              <a:t>db.t4g</a:t>
            </a:r>
            <a:endParaRPr lang="en-US" sz="2400" dirty="0"/>
          </a:p>
          <a:p>
            <a:r>
              <a:rPr lang="en-IN" sz="2400" b="1" dirty="0" smtClean="0"/>
              <a:t>db.t3</a:t>
            </a:r>
          </a:p>
          <a:p>
            <a:r>
              <a:rPr lang="en-IN" sz="2400" b="1" dirty="0" smtClean="0"/>
              <a:t>db.t2</a:t>
            </a:r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C15D-44F6-49E6-9E9E-DAF49101FEBE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9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274042"/>
          </a:xfrm>
        </p:spPr>
        <p:txBody>
          <a:bodyPr>
            <a:noAutofit/>
          </a:bodyPr>
          <a:lstStyle/>
          <a:p>
            <a:r>
              <a:rPr lang="en-US" sz="2400" b="1" dirty="0"/>
              <a:t>Supported DB engines for DB instance classes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076410"/>
              </p:ext>
            </p:extLst>
          </p:nvPr>
        </p:nvGraphicFramePr>
        <p:xfrm>
          <a:off x="395536" y="620688"/>
          <a:ext cx="8424936" cy="58154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04156"/>
                <a:gridCol w="1404156"/>
                <a:gridCol w="1404156"/>
                <a:gridCol w="1404156"/>
                <a:gridCol w="1404156"/>
                <a:gridCol w="1404156"/>
              </a:tblGrid>
              <a:tr h="118906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400" dirty="0">
                          <a:effectLst/>
                        </a:rPr>
                        <a:t>Instance class</a:t>
                      </a:r>
                      <a:endParaRPr lang="en-IN" sz="1400" b="1" dirty="0">
                        <a:effectLst/>
                      </a:endParaRPr>
                    </a:p>
                  </a:txBody>
                  <a:tcPr marL="23592" marR="23592" marT="8493" marB="8493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400">
                          <a:effectLst/>
                        </a:rPr>
                        <a:t>MariaDB</a:t>
                      </a:r>
                      <a:endParaRPr lang="en-IN" sz="1400" b="1">
                        <a:effectLst/>
                      </a:endParaRPr>
                    </a:p>
                  </a:txBody>
                  <a:tcPr marL="23592" marR="23592" marT="8493" marB="8493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400">
                          <a:effectLst/>
                        </a:rPr>
                        <a:t>Microsoft SQL Server</a:t>
                      </a:r>
                      <a:endParaRPr lang="en-IN" sz="1400" b="1">
                        <a:effectLst/>
                      </a:endParaRPr>
                    </a:p>
                  </a:txBody>
                  <a:tcPr marL="23592" marR="23592" marT="8493" marB="8493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400">
                          <a:effectLst/>
                        </a:rPr>
                        <a:t>MySQL</a:t>
                      </a:r>
                      <a:endParaRPr lang="en-IN" sz="1400" b="1">
                        <a:effectLst/>
                      </a:endParaRPr>
                    </a:p>
                  </a:txBody>
                  <a:tcPr marL="23592" marR="23592" marT="8493" marB="8493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400">
                          <a:effectLst/>
                        </a:rPr>
                        <a:t>Oracle</a:t>
                      </a:r>
                      <a:endParaRPr lang="en-IN" sz="1400" b="1">
                        <a:effectLst/>
                      </a:endParaRPr>
                    </a:p>
                  </a:txBody>
                  <a:tcPr marL="23592" marR="23592" marT="8493" marB="8493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400">
                          <a:effectLst/>
                        </a:rPr>
                        <a:t>PostgreSQL</a:t>
                      </a:r>
                      <a:endParaRPr lang="en-IN" sz="1400" b="1">
                        <a:effectLst/>
                      </a:endParaRPr>
                    </a:p>
                  </a:txBody>
                  <a:tcPr marL="23592" marR="23592" marT="8493" marB="8493"/>
                </a:tc>
              </a:tr>
              <a:tr h="60397">
                <a:tc gridSpan="6">
                  <a:txBody>
                    <a:bodyPr/>
                    <a:lstStyle/>
                    <a:p>
                      <a:pPr fontAlgn="t" latinLnBrk="0"/>
                      <a:r>
                        <a:rPr lang="en-US" sz="1400">
                          <a:effectLst/>
                        </a:rPr>
                        <a:t>db.m6g – general-purpose instance classes powered by AWS Graviton2 processors</a:t>
                      </a:r>
                      <a:endParaRPr lang="en-US" sz="1400" b="0">
                        <a:effectLst/>
                      </a:endParaRPr>
                    </a:p>
                  </a:txBody>
                  <a:tcPr marL="23592" marR="23592" marT="4718" marB="4718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620952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>
                          <a:effectLst/>
                        </a:rPr>
                        <a:t>db.m6g.16xlarge</a:t>
                      </a:r>
                      <a:endParaRPr lang="en-IN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400">
                          <a:effectLst/>
                        </a:rPr>
                        <a:t>All MariaDB 10.6 versions, all MariaDB 10.5 versions, and all MariaDB 10.4 versions</a:t>
                      </a:r>
                      <a:endParaRPr lang="en-US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>
                          <a:effectLst/>
                        </a:rPr>
                        <a:t>No</a:t>
                      </a:r>
                      <a:endParaRPr lang="en-IN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dirty="0">
                          <a:effectLst/>
                        </a:rPr>
                        <a:t>MySQL 8.0.23 and higher</a:t>
                      </a:r>
                      <a:endParaRPr lang="en-IN" sz="1400" b="0" dirty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>
                          <a:effectLst/>
                        </a:rPr>
                        <a:t>No</a:t>
                      </a:r>
                      <a:endParaRPr lang="en-IN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400">
                          <a:effectLst/>
                        </a:rPr>
                        <a:t>All PostgreSQL 15 versions, all PostgreSQL 14 versions, all PostgreSQL 13 versions, PostgreSQL 12.7 and higher</a:t>
                      </a:r>
                      <a:endParaRPr lang="en-US" sz="1400" b="0">
                        <a:effectLst/>
                      </a:endParaRPr>
                    </a:p>
                  </a:txBody>
                  <a:tcPr marL="23592" marR="23592" marT="4718" marB="4718"/>
                </a:tc>
              </a:tr>
              <a:tr h="620952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>
                          <a:effectLst/>
                        </a:rPr>
                        <a:t>db.m6g.12xlarge</a:t>
                      </a:r>
                      <a:endParaRPr lang="en-IN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400">
                          <a:effectLst/>
                        </a:rPr>
                        <a:t>All MariaDB 10.6 versions, all MariaDB 10.5 versions, and all MariaDB 10.4 versions</a:t>
                      </a:r>
                      <a:endParaRPr lang="en-US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>
                          <a:effectLst/>
                        </a:rPr>
                        <a:t>No</a:t>
                      </a:r>
                      <a:endParaRPr lang="en-IN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>
                          <a:effectLst/>
                        </a:rPr>
                        <a:t>MySQL 8.0.23 and higher</a:t>
                      </a:r>
                      <a:endParaRPr lang="en-IN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>
                          <a:effectLst/>
                        </a:rPr>
                        <a:t>No</a:t>
                      </a:r>
                      <a:endParaRPr lang="en-IN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400">
                          <a:effectLst/>
                        </a:rPr>
                        <a:t>All PostgreSQL 15 versions, all PostgreSQL 14 versions, all PostgreSQL 13 versions, PostgreSQL 12.7 and higher</a:t>
                      </a:r>
                      <a:endParaRPr lang="en-US" sz="1400" b="0">
                        <a:effectLst/>
                      </a:endParaRPr>
                    </a:p>
                  </a:txBody>
                  <a:tcPr marL="23592" marR="23592" marT="4718" marB="4718"/>
                </a:tc>
              </a:tr>
              <a:tr h="620952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dirty="0">
                          <a:effectLst/>
                        </a:rPr>
                        <a:t>db.m6g.8xlarge</a:t>
                      </a:r>
                      <a:endParaRPr lang="en-IN" sz="1400" b="0" dirty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400">
                          <a:effectLst/>
                        </a:rPr>
                        <a:t>All MariaDB 10.6 versions, all MariaDB 10.5 versions, and all MariaDB 10.4 versions</a:t>
                      </a:r>
                      <a:endParaRPr lang="en-US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>
                          <a:effectLst/>
                        </a:rPr>
                        <a:t>No</a:t>
                      </a:r>
                      <a:endParaRPr lang="en-IN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>
                          <a:effectLst/>
                        </a:rPr>
                        <a:t>MySQL 8.0.23 and higher</a:t>
                      </a:r>
                      <a:endParaRPr lang="en-IN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>
                          <a:effectLst/>
                        </a:rPr>
                        <a:t>No</a:t>
                      </a:r>
                      <a:endParaRPr lang="en-IN" sz="14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400" dirty="0">
                          <a:effectLst/>
                        </a:rPr>
                        <a:t>All </a:t>
                      </a:r>
                      <a:r>
                        <a:rPr lang="en-US" sz="1400" dirty="0" err="1">
                          <a:effectLst/>
                        </a:rPr>
                        <a:t>PostgreSQL</a:t>
                      </a:r>
                      <a:r>
                        <a:rPr lang="en-US" sz="1400" dirty="0">
                          <a:effectLst/>
                        </a:rPr>
                        <a:t> 15 versions, all </a:t>
                      </a:r>
                      <a:r>
                        <a:rPr lang="en-US" sz="1400" dirty="0" err="1">
                          <a:effectLst/>
                        </a:rPr>
                        <a:t>PostgreSQL</a:t>
                      </a:r>
                      <a:r>
                        <a:rPr lang="en-US" sz="1400" dirty="0">
                          <a:effectLst/>
                        </a:rPr>
                        <a:t> 14 versions, all </a:t>
                      </a:r>
                      <a:r>
                        <a:rPr lang="en-US" sz="1400" dirty="0" err="1">
                          <a:effectLst/>
                        </a:rPr>
                        <a:t>PostgreSQL</a:t>
                      </a:r>
                      <a:r>
                        <a:rPr lang="en-US" sz="1400" dirty="0">
                          <a:effectLst/>
                        </a:rPr>
                        <a:t> 13 versions, </a:t>
                      </a:r>
                      <a:r>
                        <a:rPr lang="en-US" sz="1400" dirty="0" err="1">
                          <a:effectLst/>
                        </a:rPr>
                        <a:t>PostgreSQL</a:t>
                      </a:r>
                      <a:r>
                        <a:rPr lang="en-US" sz="1400" dirty="0">
                          <a:effectLst/>
                        </a:rPr>
                        <a:t> 12.7 and higher</a:t>
                      </a:r>
                      <a:endParaRPr lang="en-US" sz="1400" b="0" dirty="0">
                        <a:effectLst/>
                      </a:endParaRPr>
                    </a:p>
                  </a:txBody>
                  <a:tcPr marL="23592" marR="23592" marT="4718" marB="4718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222B-5084-4EE5-A3BE-E6EE47183A31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109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85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274042"/>
          </a:xfrm>
        </p:spPr>
        <p:txBody>
          <a:bodyPr>
            <a:noAutofit/>
          </a:bodyPr>
          <a:lstStyle/>
          <a:p>
            <a:r>
              <a:rPr lang="en-US" sz="2400" b="1" dirty="0"/>
              <a:t>Supported DB engines for DB instance classes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0405832"/>
              </p:ext>
            </p:extLst>
          </p:nvPr>
        </p:nvGraphicFramePr>
        <p:xfrm>
          <a:off x="323528" y="548680"/>
          <a:ext cx="8424936" cy="555056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04156"/>
                <a:gridCol w="1404156"/>
                <a:gridCol w="1404156"/>
                <a:gridCol w="1404156"/>
                <a:gridCol w="1404156"/>
                <a:gridCol w="1404156"/>
              </a:tblGrid>
              <a:tr h="118906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200" dirty="0">
                          <a:effectLst/>
                        </a:rPr>
                        <a:t>Instance class</a:t>
                      </a:r>
                      <a:endParaRPr lang="en-IN" sz="1200" b="1" dirty="0">
                        <a:effectLst/>
                      </a:endParaRPr>
                    </a:p>
                  </a:txBody>
                  <a:tcPr marL="23592" marR="23592" marT="8493" marB="8493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200">
                          <a:effectLst/>
                        </a:rPr>
                        <a:t>MariaDB</a:t>
                      </a:r>
                      <a:endParaRPr lang="en-IN" sz="1200" b="1">
                        <a:effectLst/>
                      </a:endParaRPr>
                    </a:p>
                  </a:txBody>
                  <a:tcPr marL="23592" marR="23592" marT="8493" marB="8493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200">
                          <a:effectLst/>
                        </a:rPr>
                        <a:t>Microsoft SQL Server</a:t>
                      </a:r>
                      <a:endParaRPr lang="en-IN" sz="1200" b="1">
                        <a:effectLst/>
                      </a:endParaRPr>
                    </a:p>
                  </a:txBody>
                  <a:tcPr marL="23592" marR="23592" marT="8493" marB="8493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200">
                          <a:effectLst/>
                        </a:rPr>
                        <a:t>MySQL</a:t>
                      </a:r>
                      <a:endParaRPr lang="en-IN" sz="1200" b="1">
                        <a:effectLst/>
                      </a:endParaRPr>
                    </a:p>
                  </a:txBody>
                  <a:tcPr marL="23592" marR="23592" marT="8493" marB="8493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200">
                          <a:effectLst/>
                        </a:rPr>
                        <a:t>Oracle</a:t>
                      </a:r>
                      <a:endParaRPr lang="en-IN" sz="1200" b="1">
                        <a:effectLst/>
                      </a:endParaRPr>
                    </a:p>
                  </a:txBody>
                  <a:tcPr marL="23592" marR="23592" marT="8493" marB="8493"/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200">
                          <a:effectLst/>
                        </a:rPr>
                        <a:t>PostgreSQL</a:t>
                      </a:r>
                      <a:endParaRPr lang="en-IN" sz="1200" b="1">
                        <a:effectLst/>
                      </a:endParaRPr>
                    </a:p>
                  </a:txBody>
                  <a:tcPr marL="23592" marR="23592" marT="8493" marB="8493"/>
                </a:tc>
              </a:tr>
              <a:tr h="60397">
                <a:tc gridSpan="6">
                  <a:txBody>
                    <a:bodyPr/>
                    <a:lstStyle/>
                    <a:p>
                      <a:pPr fontAlgn="t" latinLnBrk="0"/>
                      <a:r>
                        <a:rPr lang="en-US" sz="1200" dirty="0">
                          <a:effectLst/>
                        </a:rPr>
                        <a:t>db.m6g – general-purpose instance classes powered by AWS Graviton2 processors</a:t>
                      </a:r>
                      <a:endParaRPr lang="en-US" sz="1200" b="0" dirty="0">
                        <a:effectLst/>
                      </a:endParaRPr>
                    </a:p>
                  </a:txBody>
                  <a:tcPr marL="23592" marR="23592" marT="4718" marB="4718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620952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 dirty="0">
                          <a:effectLst/>
                        </a:rPr>
                        <a:t>db.m6g.4xlarge</a:t>
                      </a:r>
                      <a:endParaRPr lang="en-IN" sz="1200" b="0" dirty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200" dirty="0">
                          <a:effectLst/>
                        </a:rPr>
                        <a:t>All </a:t>
                      </a:r>
                      <a:r>
                        <a:rPr lang="en-US" sz="1200" dirty="0" err="1">
                          <a:effectLst/>
                        </a:rPr>
                        <a:t>MariaDB</a:t>
                      </a:r>
                      <a:r>
                        <a:rPr lang="en-US" sz="1200" dirty="0">
                          <a:effectLst/>
                        </a:rPr>
                        <a:t> 10.6 versions, all </a:t>
                      </a:r>
                      <a:r>
                        <a:rPr lang="en-US" sz="1200" dirty="0" err="1">
                          <a:effectLst/>
                        </a:rPr>
                        <a:t>MariaDB</a:t>
                      </a:r>
                      <a:r>
                        <a:rPr lang="en-US" sz="1200" dirty="0">
                          <a:effectLst/>
                        </a:rPr>
                        <a:t> 10.5 versions, and all </a:t>
                      </a:r>
                      <a:r>
                        <a:rPr lang="en-US" sz="1200" dirty="0" err="1">
                          <a:effectLst/>
                        </a:rPr>
                        <a:t>MariaDB</a:t>
                      </a:r>
                      <a:r>
                        <a:rPr lang="en-US" sz="1200" dirty="0">
                          <a:effectLst/>
                        </a:rPr>
                        <a:t> 10.4 versions</a:t>
                      </a:r>
                      <a:endParaRPr lang="en-US" sz="1200" b="0" dirty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MySQL 8.0.23 and higher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200">
                          <a:effectLst/>
                        </a:rPr>
                        <a:t>All PostgreSQL 15 versions, all PostgreSQL 14 versions, all PostgreSQL 13 versions, PostgreSQL 12.7 and higher</a:t>
                      </a:r>
                      <a:endParaRPr lang="en-US" sz="1200" b="0">
                        <a:effectLst/>
                      </a:endParaRPr>
                    </a:p>
                  </a:txBody>
                  <a:tcPr marL="23592" marR="23592" marT="4718" marB="4718"/>
                </a:tc>
              </a:tr>
              <a:tr h="620952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db.m6g.2xlarge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200">
                          <a:effectLst/>
                        </a:rPr>
                        <a:t>All MariaDB 10.6 versions, all MariaDB 10.5 versions, and all MariaDB 10.4 versions</a:t>
                      </a:r>
                      <a:endParaRPr lang="en-US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MySQL 8.0.23 and higher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200">
                          <a:effectLst/>
                        </a:rPr>
                        <a:t>All PostgreSQL 15 versions, all PostgreSQL 14 versions, all PostgreSQL 13 versions, PostgreSQL 12.7 and higher</a:t>
                      </a:r>
                      <a:endParaRPr lang="en-US" sz="1200" b="0">
                        <a:effectLst/>
                      </a:endParaRPr>
                    </a:p>
                  </a:txBody>
                  <a:tcPr marL="23592" marR="23592" marT="4718" marB="4718"/>
                </a:tc>
              </a:tr>
              <a:tr h="620952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db.m6g.xlarge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200">
                          <a:effectLst/>
                        </a:rPr>
                        <a:t>All MariaDB 10.6 versions, all MariaDB 10.5 versions, and all MariaDB 10.4 versions</a:t>
                      </a:r>
                      <a:endParaRPr lang="en-US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MySQL 8.0.23 and higher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200">
                          <a:effectLst/>
                        </a:rPr>
                        <a:t>All PostgreSQL 15 versions, all PostgreSQL 14 versions, all PostgreSQL 13 versions, PostgreSQL 12.7 and higher</a:t>
                      </a:r>
                      <a:endParaRPr lang="en-US" sz="1200" b="0">
                        <a:effectLst/>
                      </a:endParaRPr>
                    </a:p>
                  </a:txBody>
                  <a:tcPr marL="23592" marR="23592" marT="4718" marB="4718"/>
                </a:tc>
              </a:tr>
              <a:tr h="620952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 dirty="0">
                          <a:effectLst/>
                        </a:rPr>
                        <a:t>db.m6g.large</a:t>
                      </a:r>
                      <a:endParaRPr lang="en-IN" sz="1200" b="0" dirty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200">
                          <a:effectLst/>
                        </a:rPr>
                        <a:t>All MariaDB 10.6 versions, all MariaDB 10.5 versions, and all MariaDB 10.4 versions</a:t>
                      </a:r>
                      <a:endParaRPr lang="en-US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MySQL 8.0.23 and higher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 b="0">
                        <a:effectLst/>
                      </a:endParaRPr>
                    </a:p>
                  </a:txBody>
                  <a:tcPr marL="23592" marR="23592" marT="4718" marB="4718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US" sz="1200" dirty="0">
                          <a:effectLst/>
                        </a:rPr>
                        <a:t>All </a:t>
                      </a:r>
                      <a:r>
                        <a:rPr lang="en-US" sz="1200" dirty="0" err="1">
                          <a:effectLst/>
                        </a:rPr>
                        <a:t>PostgreSQL</a:t>
                      </a:r>
                      <a:r>
                        <a:rPr lang="en-US" sz="1200" dirty="0">
                          <a:effectLst/>
                        </a:rPr>
                        <a:t> 15 versions, all </a:t>
                      </a:r>
                      <a:r>
                        <a:rPr lang="en-US" sz="1200" dirty="0" err="1">
                          <a:effectLst/>
                        </a:rPr>
                        <a:t>PostgreSQL</a:t>
                      </a:r>
                      <a:r>
                        <a:rPr lang="en-US" sz="1200" dirty="0">
                          <a:effectLst/>
                        </a:rPr>
                        <a:t> 14 versions, all </a:t>
                      </a:r>
                      <a:r>
                        <a:rPr lang="en-US" sz="1200" dirty="0" err="1">
                          <a:effectLst/>
                        </a:rPr>
                        <a:t>PostgreSQL</a:t>
                      </a:r>
                      <a:r>
                        <a:rPr lang="en-US" sz="1200" dirty="0">
                          <a:effectLst/>
                        </a:rPr>
                        <a:t> 13 versions, </a:t>
                      </a:r>
                      <a:r>
                        <a:rPr lang="en-US" sz="1200" dirty="0" err="1">
                          <a:effectLst/>
                        </a:rPr>
                        <a:t>PostgreSQL</a:t>
                      </a:r>
                      <a:r>
                        <a:rPr lang="en-US" sz="1200" dirty="0">
                          <a:effectLst/>
                        </a:rPr>
                        <a:t> 12.7 and higher</a:t>
                      </a:r>
                      <a:endParaRPr lang="en-US" sz="1200" b="0" dirty="0">
                        <a:effectLst/>
                      </a:endParaRPr>
                    </a:p>
                  </a:txBody>
                  <a:tcPr marL="23592" marR="23592" marT="4718" marB="4718"/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2C3F0-B8C8-4B79-8868-FE0BA4B4A006}" type="datetime1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40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DynamoDB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Amazon </a:t>
            </a:r>
            <a:r>
              <a:rPr lang="en-US" sz="2400" dirty="0" err="1"/>
              <a:t>DynamoDB</a:t>
            </a:r>
            <a:r>
              <a:rPr lang="en-US" sz="2400" dirty="0"/>
              <a:t> is a </a:t>
            </a:r>
            <a:r>
              <a:rPr lang="en-US" sz="2400" b="1" dirty="0"/>
              <a:t>fully managed </a:t>
            </a:r>
            <a:r>
              <a:rPr lang="en-US" sz="2400" b="1" dirty="0" err="1"/>
              <a:t>NoSQL</a:t>
            </a:r>
            <a:r>
              <a:rPr lang="en-US" sz="2400" b="1" dirty="0"/>
              <a:t> database service that provides fast and predictable performance with seamless </a:t>
            </a:r>
            <a:r>
              <a:rPr lang="en-US" sz="2400" b="1" dirty="0" smtClean="0"/>
              <a:t>scalability.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22F28-8E70-4410-B879-5D4B9096EE6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60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DynamoDB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DynamoDB</a:t>
            </a:r>
            <a:r>
              <a:rPr lang="en-US" sz="2400" dirty="0" smtClean="0"/>
              <a:t> </a:t>
            </a:r>
            <a:r>
              <a:rPr lang="en-US" sz="2400" dirty="0"/>
              <a:t>lets you </a:t>
            </a:r>
            <a:r>
              <a:rPr lang="en-US" sz="2400" b="1" dirty="0"/>
              <a:t>offload the administrative burdens </a:t>
            </a:r>
            <a:r>
              <a:rPr lang="en-US" sz="2400" dirty="0"/>
              <a:t>of operating and scaling a distributed database so that you </a:t>
            </a:r>
            <a:r>
              <a:rPr lang="en-US" sz="2400" b="1" dirty="0"/>
              <a:t>don't have to worry about hardware provisioning, setup and configuration, replication, software patching, or cluster scaling. </a:t>
            </a:r>
            <a:endParaRPr lang="en-US" sz="2400" b="1" dirty="0" smtClean="0"/>
          </a:p>
          <a:p>
            <a:r>
              <a:rPr lang="en-US" sz="2400" dirty="0" err="1" smtClean="0"/>
              <a:t>DynamoDB</a:t>
            </a:r>
            <a:r>
              <a:rPr lang="en-US" sz="2400" dirty="0" smtClean="0"/>
              <a:t> </a:t>
            </a:r>
            <a:r>
              <a:rPr lang="en-US" sz="2400" dirty="0"/>
              <a:t>also offers </a:t>
            </a:r>
            <a:r>
              <a:rPr lang="en-US" sz="2400" b="1" dirty="0"/>
              <a:t>encryption </a:t>
            </a:r>
            <a:r>
              <a:rPr lang="en-US" sz="2400" b="1" dirty="0" smtClean="0"/>
              <a:t>, </a:t>
            </a:r>
            <a:r>
              <a:rPr lang="en-US" sz="2400" b="1" dirty="0"/>
              <a:t>which eliminates the operational burden and complexity involved in protecting sensitive data</a:t>
            </a: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0A86-8608-4AC9-BC58-64F5DF6C6048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40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SimpleDB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Amazon </a:t>
            </a:r>
            <a:r>
              <a:rPr lang="en-US" sz="2400" dirty="0" err="1" smtClean="0"/>
              <a:t>SimpleDB</a:t>
            </a:r>
            <a:r>
              <a:rPr lang="en-US" sz="2400" dirty="0" smtClean="0"/>
              <a:t> is a lightweight, highly scalable, and flexible data storage solution for applications </a:t>
            </a:r>
            <a:r>
              <a:rPr lang="en-US" sz="2400" b="1" dirty="0" smtClean="0"/>
              <a:t>that do not require a fully relational model for their data. </a:t>
            </a:r>
          </a:p>
          <a:p>
            <a:r>
              <a:rPr lang="en-US" sz="2400" dirty="0" err="1" smtClean="0"/>
              <a:t>SimpleDB</a:t>
            </a:r>
            <a:r>
              <a:rPr lang="en-US" sz="2400" dirty="0" smtClean="0"/>
              <a:t> provides support for </a:t>
            </a:r>
            <a:r>
              <a:rPr lang="en-US" sz="2400" dirty="0" err="1" smtClean="0"/>
              <a:t>semistructured</a:t>
            </a:r>
            <a:r>
              <a:rPr lang="en-US" sz="2400" dirty="0" smtClean="0"/>
              <a:t> data, the model for which is based on the concept of domains, items, and attributes. </a:t>
            </a:r>
          </a:p>
          <a:p>
            <a:r>
              <a:rPr lang="en-US" sz="2400" b="1" dirty="0" smtClean="0"/>
              <a:t>With respect to the relational model, this model provides fewer constraints on the structure of data entries, </a:t>
            </a:r>
            <a:r>
              <a:rPr lang="en-US" sz="2400" dirty="0" smtClean="0"/>
              <a:t>thus obtaining improved performance in querying large quantities of data.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B83F9-C6BC-4FCE-A33F-EC1F7DE56DDB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25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SimpleDB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Amazon </a:t>
            </a:r>
            <a:r>
              <a:rPr lang="en-US" sz="2400" dirty="0" err="1"/>
              <a:t>SimpleDB</a:t>
            </a:r>
            <a:r>
              <a:rPr lang="en-US" sz="2400" dirty="0"/>
              <a:t> is </a:t>
            </a:r>
            <a:r>
              <a:rPr lang="en-US" sz="2400" b="1" dirty="0"/>
              <a:t>a highly available </a:t>
            </a:r>
            <a:r>
              <a:rPr lang="en-US" sz="2400" b="1" dirty="0" err="1"/>
              <a:t>NoSQL</a:t>
            </a:r>
            <a:r>
              <a:rPr lang="en-US" sz="2400" b="1" dirty="0"/>
              <a:t> data store that offloads the work of database administration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Developers </a:t>
            </a:r>
            <a:r>
              <a:rPr lang="en-US" sz="2400" dirty="0"/>
              <a:t>simply store and query data items via web services requests and </a:t>
            </a:r>
            <a:r>
              <a:rPr lang="en-US" sz="2400" dirty="0" smtClean="0"/>
              <a:t>Amazon </a:t>
            </a:r>
            <a:r>
              <a:rPr lang="en-US" sz="2400" dirty="0" err="1"/>
              <a:t>SimpleDB</a:t>
            </a:r>
            <a:r>
              <a:rPr lang="en-US" sz="2400" dirty="0"/>
              <a:t> does the rest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pPr marL="0" indent="0">
              <a:buNone/>
            </a:pPr>
            <a:r>
              <a:rPr lang="en-IN" sz="2400" dirty="0"/>
              <a:t>https://aws.amazon.com/simpledb/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FBBD1-79BB-4C0C-9395-99FD1315407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6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Amazon </a:t>
            </a:r>
            <a:r>
              <a:rPr lang="en-IN" dirty="0" err="1" smtClean="0"/>
              <a:t>SimpleDB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page is still up, and AWS is obviously still running the service (and will as long as customers keep using it), but it's not linked from anywhere. Here's a list of all the AWS services (</a:t>
            </a:r>
            <a:r>
              <a:rPr lang="en-US" sz="2400" u="sng" dirty="0">
                <a:hlinkClick r:id="rId2"/>
              </a:rPr>
              <a:t>https://aws.amazon.com/products/</a:t>
            </a:r>
            <a:r>
              <a:rPr lang="en-US" sz="2400" dirty="0"/>
              <a:t>) and it's not listed. </a:t>
            </a:r>
            <a:endParaRPr lang="en-US" sz="2400" dirty="0" smtClean="0"/>
          </a:p>
          <a:p>
            <a:r>
              <a:rPr lang="en-US" sz="2400" dirty="0" smtClean="0"/>
              <a:t>If </a:t>
            </a:r>
            <a:r>
              <a:rPr lang="en-US" sz="2400" dirty="0"/>
              <a:t>you look at the developer guide, it hasn't been updated in three years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</a:t>
            </a:r>
            <a:r>
              <a:rPr lang="en-US" sz="2400" dirty="0"/>
              <a:t>may not be officially deprecated, but a service </a:t>
            </a:r>
            <a:r>
              <a:rPr lang="en-US" sz="2400" dirty="0" smtClean="0"/>
              <a:t>that </a:t>
            </a:r>
            <a:r>
              <a:rPr lang="en-US" sz="2400" dirty="0"/>
              <a:t>hasn't been touched in three years, which AWS will only tell you about if asked very </a:t>
            </a:r>
            <a:r>
              <a:rPr lang="en-US" sz="2400" dirty="0" smtClean="0"/>
              <a:t>specifically.</a:t>
            </a: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312A-0A9A-401D-8209-9951E5281311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87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End of Lecture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DC39-E96F-457C-B22F-B608C377209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67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Amazon provides </a:t>
            </a:r>
            <a:r>
              <a:rPr lang="en-US" sz="2400" b="1" dirty="0" smtClean="0"/>
              <a:t>facilities to structure and facilitate the communication among existing applications and services </a:t>
            </a:r>
            <a:r>
              <a:rPr lang="en-US" sz="2400" dirty="0" smtClean="0"/>
              <a:t>residing within the AWS infrastructure. </a:t>
            </a:r>
          </a:p>
          <a:p>
            <a:r>
              <a:rPr lang="en-US" sz="2400" dirty="0" smtClean="0"/>
              <a:t>These facilities can be organized into two major categories: </a:t>
            </a:r>
          </a:p>
          <a:p>
            <a:pPr lvl="1"/>
            <a:r>
              <a:rPr lang="en-US" sz="2400" b="1" dirty="0" smtClean="0"/>
              <a:t>Virtual networking and </a:t>
            </a:r>
          </a:p>
          <a:p>
            <a:pPr lvl="1"/>
            <a:r>
              <a:rPr lang="en-US" sz="2400" b="1" dirty="0" smtClean="0"/>
              <a:t>Messaging. 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37FA-02C1-4962-88BC-C949A677518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6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Virtual networking-</a:t>
            </a:r>
          </a:p>
          <a:p>
            <a:r>
              <a:rPr lang="en-US" sz="2400" dirty="0" smtClean="0"/>
              <a:t>Virtual networking comprises </a:t>
            </a:r>
            <a:r>
              <a:rPr lang="en-US" sz="2400" b="1" dirty="0" smtClean="0">
                <a:solidFill>
                  <a:srgbClr val="FF0000"/>
                </a:solidFill>
              </a:rPr>
              <a:t>a collection of services that allow AWS users to control the connectivity to and between compute and storage services. </a:t>
            </a: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9120-48FF-4CC7-AF2F-06F79C5D10B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08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Virtual networking-</a:t>
            </a:r>
          </a:p>
          <a:p>
            <a:r>
              <a:rPr lang="en-US" sz="2400" b="1" dirty="0" smtClean="0"/>
              <a:t>Amazon Virtual Private Cloud (VPC) and Amazon Direct Connect</a:t>
            </a:r>
            <a:r>
              <a:rPr lang="en-US" sz="2400" dirty="0" smtClean="0"/>
              <a:t> provide connectivity solutions in terms of infrastructure; </a:t>
            </a:r>
          </a:p>
          <a:p>
            <a:r>
              <a:rPr lang="en-US" sz="2400" b="1" dirty="0" smtClean="0"/>
              <a:t>Route 53</a:t>
            </a:r>
            <a:r>
              <a:rPr lang="en-US" sz="2400" dirty="0" smtClean="0"/>
              <a:t> facilitates connectivity in terms of naming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8FB8F-3391-4F5F-92EB-B1F010B01F42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57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VPC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Amazon VPC provides a great degree of flexibility in </a:t>
            </a:r>
            <a:r>
              <a:rPr lang="en-US" sz="2400" b="1" dirty="0" smtClean="0">
                <a:solidFill>
                  <a:srgbClr val="FF0000"/>
                </a:solidFill>
              </a:rPr>
              <a:t>creating virtual private networks within the Amazon infrastructure and beyond. </a:t>
            </a:r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3381-FB50-4F71-BB20-431E93EA083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08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VPC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service </a:t>
            </a:r>
            <a:r>
              <a:rPr lang="en-US" sz="2400" b="1" dirty="0" smtClean="0"/>
              <a:t>providers prepare either templates </a:t>
            </a:r>
            <a:r>
              <a:rPr lang="en-US" sz="2400" dirty="0" smtClean="0"/>
              <a:t>covering most of the usual scenarios </a:t>
            </a:r>
            <a:r>
              <a:rPr lang="en-US" sz="2400" b="1" dirty="0" smtClean="0"/>
              <a:t>or a fully customizable network service </a:t>
            </a:r>
            <a:r>
              <a:rPr lang="en-US" sz="2400" dirty="0" smtClean="0"/>
              <a:t>for advanced configurations. </a:t>
            </a:r>
          </a:p>
          <a:p>
            <a:r>
              <a:rPr lang="en-US" sz="2400" b="1" dirty="0" smtClean="0"/>
              <a:t>Prepared templates include </a:t>
            </a:r>
          </a:p>
          <a:p>
            <a:pPr lvl="1"/>
            <a:r>
              <a:rPr lang="en-US" sz="2400" b="1" dirty="0" smtClean="0"/>
              <a:t>public subnets, </a:t>
            </a:r>
          </a:p>
          <a:p>
            <a:pPr lvl="1"/>
            <a:r>
              <a:rPr lang="en-US" sz="2400" b="1" dirty="0" smtClean="0"/>
              <a:t>isolated networks, </a:t>
            </a:r>
          </a:p>
          <a:p>
            <a:pPr lvl="1"/>
            <a:r>
              <a:rPr lang="en-US" sz="2400" b="1" dirty="0" smtClean="0"/>
              <a:t>private networks accessing Internet through network address translation (NAT), and </a:t>
            </a:r>
          </a:p>
          <a:p>
            <a:pPr lvl="1"/>
            <a:r>
              <a:rPr lang="en-US" sz="2400" b="1" dirty="0" smtClean="0"/>
              <a:t>hybrid networks including AWS resources and private resources. </a:t>
            </a:r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38FC9-9CC5-4F7A-939B-260E913740DC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29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VPC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Also, it is possible to </a:t>
            </a:r>
            <a:r>
              <a:rPr lang="en-US" sz="2400" b="1" dirty="0" smtClean="0">
                <a:solidFill>
                  <a:srgbClr val="FF0000"/>
                </a:solidFill>
              </a:rPr>
              <a:t>control connectivity between different services (EC2 instances and S3 buckets) by using the Identity Access Management (IAM) service.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11099-A214-41D2-82C8-0BE098F9177B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20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Direct Connect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Amazon Direct Connect </a:t>
            </a:r>
            <a:r>
              <a:rPr lang="en-US" sz="2400" b="1" dirty="0" smtClean="0"/>
              <a:t>allows AWS users to create dedicated networks between the user private network and Amazon Direct Connect locations, called ports. </a:t>
            </a:r>
          </a:p>
          <a:p>
            <a:r>
              <a:rPr lang="en-US" sz="2400" dirty="0"/>
              <a:t>The advantage of using Direct Connect versus other solutions is the </a:t>
            </a:r>
            <a:r>
              <a:rPr lang="en-US" sz="2400" b="1" dirty="0"/>
              <a:t>consistent performance of the connection between the users’ premises and the Direct Connect locations.</a:t>
            </a:r>
          </a:p>
          <a:p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E5B7-516B-4A72-9E6D-671EB731DA98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08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Direct Connect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This service is </a:t>
            </a:r>
            <a:r>
              <a:rPr lang="en-US" sz="2400" b="1" dirty="0" smtClean="0"/>
              <a:t>compatible with other services such as EC2, S3, and Amazon VPC 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It can be used in scenarios requiring high bandwidth between the Amazon network and the outside world.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B3C8A-3EF5-4191-A398-FAC2A1332FBB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1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Route 53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Amazon Route 53 implements </a:t>
            </a:r>
            <a:r>
              <a:rPr lang="en-US" sz="2400" b="1" dirty="0" smtClean="0"/>
              <a:t>dynamic DNS services that allow AWS resources to be reached through domain names different from the amazon.com domain. 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B117-B906-4FA9-A6DF-CA61CA8041B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74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services-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Messaging services constitute the next step in connecting applications by leveraging AWS capabilities. </a:t>
            </a:r>
          </a:p>
          <a:p>
            <a:r>
              <a:rPr lang="en-US" sz="2400" dirty="0" smtClean="0"/>
              <a:t>The three different types of messaging services offered are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b="1" dirty="0" smtClean="0"/>
              <a:t>Amazon Simple Queue Service (SQS),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b="1" dirty="0" smtClean="0"/>
              <a:t>Amazon Simple Notification Service (SNS), and 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b="1" dirty="0" smtClean="0"/>
              <a:t>Amazon Simple Email Service (SES).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9C1E-C762-4145-9236-4ABB0D8F9ED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53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services-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400" b="1" dirty="0" smtClean="0"/>
              <a:t>Amazon Simple Queue Service (SQS), </a:t>
            </a:r>
          </a:p>
          <a:p>
            <a:r>
              <a:rPr lang="en-US" sz="2400" dirty="0" smtClean="0"/>
              <a:t>Amazon SQS constitutes disconnected model for </a:t>
            </a:r>
            <a:r>
              <a:rPr lang="en-US" sz="2400" b="1" dirty="0" smtClean="0"/>
              <a:t>exchanging messages between applications by means of message queues, hosted within the AWS infrastructure. </a:t>
            </a:r>
          </a:p>
          <a:p>
            <a:r>
              <a:rPr lang="en-US" sz="2400" dirty="0" smtClean="0"/>
              <a:t>Using the AWS console or directly the underlying Web service AWS, users can </a:t>
            </a:r>
            <a:r>
              <a:rPr lang="en-US" sz="2400" b="1" dirty="0" smtClean="0"/>
              <a:t>create an unlimited number of message queues and configure them to control their access.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2917-2743-4944-BF14-D9C76C85EFE3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30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services-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400" b="1" dirty="0" smtClean="0"/>
              <a:t>Amazon Simple Queue Service (SQS), </a:t>
            </a:r>
          </a:p>
          <a:p>
            <a:r>
              <a:rPr lang="en-US" sz="2400" b="1" dirty="0" smtClean="0"/>
              <a:t>Applications can send messages to any queue they have access to. </a:t>
            </a:r>
          </a:p>
          <a:p>
            <a:r>
              <a:rPr lang="en-US" sz="2400" b="1" dirty="0" smtClean="0"/>
              <a:t>These messages are securely and redundantly stored</a:t>
            </a:r>
            <a:r>
              <a:rPr lang="en-US" sz="2400" dirty="0" smtClean="0"/>
              <a:t> within the AWS infrastructure </a:t>
            </a:r>
            <a:r>
              <a:rPr lang="en-US" sz="2400" b="1" dirty="0" smtClean="0"/>
              <a:t>for a limited period of time, and they can be accessed by other (authorized) applications. </a:t>
            </a:r>
          </a:p>
          <a:p>
            <a:r>
              <a:rPr lang="en-US" sz="2400" dirty="0" smtClean="0"/>
              <a:t>While a message is being read, it is kept locked to avoid spurious processing from other applications. Such a lock will expire after a given period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D4189-00B7-488E-B7CF-5B00FC5F8A33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82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services-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Amazon Simple Notification Service (SNS), and </a:t>
            </a:r>
          </a:p>
          <a:p>
            <a:r>
              <a:rPr lang="en-US" sz="2400" dirty="0" smtClean="0"/>
              <a:t>Amazon SNS provides </a:t>
            </a:r>
            <a:r>
              <a:rPr lang="en-US" sz="2400" b="1" dirty="0" smtClean="0"/>
              <a:t>a publish-subscribe method for connecting heterogeneous applications.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95E8-4FAC-437A-AFC8-8F8308E73BAB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57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services-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Amazon Simple Notification Service (SNS), and </a:t>
            </a:r>
          </a:p>
          <a:p>
            <a:r>
              <a:rPr lang="en-US" sz="2400" b="1" dirty="0" smtClean="0"/>
              <a:t>Amazon SNS allows applications to be notified when new content of interest is available. </a:t>
            </a:r>
          </a:p>
          <a:p>
            <a:r>
              <a:rPr lang="en-US" sz="2400" dirty="0" smtClean="0"/>
              <a:t>This feature is accessible through a Web service whereby AWS </a:t>
            </a:r>
            <a:r>
              <a:rPr lang="en-US" sz="2400" b="1" dirty="0" smtClean="0"/>
              <a:t>users can create a topic, which other applications can subscribe to. </a:t>
            </a:r>
          </a:p>
          <a:p>
            <a:r>
              <a:rPr lang="en-US" sz="2400" dirty="0" smtClean="0"/>
              <a:t>At any time, </a:t>
            </a:r>
            <a:r>
              <a:rPr lang="en-US" sz="2400" b="1" dirty="0" smtClean="0"/>
              <a:t>applications can publish content on a given topic and subscribers can be automatically notified.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4FB-C814-43B5-B9CE-3A9ED82CBA4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73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services-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Amazon Simple Notification Service (SNS) </a:t>
            </a:r>
          </a:p>
          <a:p>
            <a:r>
              <a:rPr lang="en-US" sz="2400" dirty="0"/>
              <a:t>Amazon SNS is a web service that manages sending messages to the subscribing endpoint. </a:t>
            </a:r>
            <a:endParaRPr lang="en-US" sz="2400" dirty="0" smtClean="0"/>
          </a:p>
          <a:p>
            <a:r>
              <a:rPr lang="en-US" sz="2400" dirty="0" smtClean="0"/>
              <a:t>There </a:t>
            </a:r>
            <a:r>
              <a:rPr lang="en-US" sz="2400" dirty="0"/>
              <a:t>are two clients of SNS:</a:t>
            </a:r>
          </a:p>
          <a:p>
            <a:r>
              <a:rPr lang="en-US" sz="2400" dirty="0"/>
              <a:t>Subscribers</a:t>
            </a:r>
          </a:p>
          <a:p>
            <a:r>
              <a:rPr lang="en-US" sz="2400" dirty="0"/>
              <a:t>Publishers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501008"/>
            <a:ext cx="4554899" cy="243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D9A07-BF52-42F5-AC46-C4C85A9BBED5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0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5477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Amazon Simple Notification Service (SNS)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6064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Publishers</a:t>
            </a:r>
            <a:endParaRPr lang="en-US" sz="2400" dirty="0"/>
          </a:p>
          <a:p>
            <a:r>
              <a:rPr lang="en-US" sz="2400" dirty="0"/>
              <a:t>Publishers are also known as producers that produce and send the </a:t>
            </a:r>
            <a:r>
              <a:rPr lang="en-US" sz="2400" dirty="0" smtClean="0"/>
              <a:t>topic </a:t>
            </a:r>
            <a:r>
              <a:rPr lang="en-US" sz="2400" dirty="0"/>
              <a:t>to the SNS which is a logical access point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Subscribers </a:t>
            </a:r>
            <a:r>
              <a:rPr lang="en-US" sz="2400" dirty="0"/>
              <a:t>such as web servers, email addresses, Amazon SQS queues, </a:t>
            </a:r>
            <a:r>
              <a:rPr lang="en-US" sz="2400" dirty="0" smtClean="0"/>
              <a:t>receive </a:t>
            </a:r>
            <a:r>
              <a:rPr lang="en-US" sz="2400" dirty="0"/>
              <a:t>the message or notification from the SNS over one of the supported protocols (Amazon SQS, email</a:t>
            </a:r>
            <a:r>
              <a:rPr lang="en-US" sz="2400" dirty="0" smtClean="0"/>
              <a:t>, </a:t>
            </a:r>
            <a:r>
              <a:rPr lang="en-US" sz="2400" dirty="0"/>
              <a:t>HTTP, SMS</a:t>
            </a:r>
            <a:r>
              <a:rPr lang="en-US" sz="2400" dirty="0" smtClean="0"/>
              <a:t>).</a:t>
            </a:r>
          </a:p>
        </p:txBody>
      </p:sp>
      <p:pic>
        <p:nvPicPr>
          <p:cNvPr id="3074" name="Picture 2" descr="S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730" y="3212976"/>
            <a:ext cx="5543550" cy="317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D3E6-5841-417B-A1ED-6CB9AF5A718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06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Amazon Simple Notification Service (SNS)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Publishers</a:t>
            </a:r>
            <a:endParaRPr lang="en-US" sz="2400" dirty="0"/>
          </a:p>
          <a:p>
            <a:r>
              <a:rPr lang="en-US" sz="2400" dirty="0" smtClean="0"/>
              <a:t>A </a:t>
            </a:r>
            <a:r>
              <a:rPr lang="en-US" sz="2400" dirty="0"/>
              <a:t>publisher sends the message to the SNS topic that they have created. </a:t>
            </a:r>
            <a:endParaRPr lang="en-US" sz="2400" dirty="0" smtClean="0"/>
          </a:p>
          <a:p>
            <a:r>
              <a:rPr lang="en-US" sz="2400" dirty="0" smtClean="0"/>
              <a:t>There </a:t>
            </a:r>
            <a:r>
              <a:rPr lang="en-US" sz="2400" dirty="0"/>
              <a:t>is no need to specify the destination address while publishing the message as the topic itself matches the subscribers associated with the topic </a:t>
            </a:r>
            <a:r>
              <a:rPr lang="en-US" sz="2400" dirty="0" smtClean="0"/>
              <a:t>and </a:t>
            </a:r>
            <a:r>
              <a:rPr lang="en-US" sz="2400" dirty="0"/>
              <a:t>delivers the message to the subscribers.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5146-F7DD-4992-A8AB-D9866051926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14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services-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Amazon Simple Email Service (SES).</a:t>
            </a:r>
            <a:endParaRPr lang="en-IN" sz="2400" b="1" dirty="0" smtClean="0"/>
          </a:p>
          <a:p>
            <a:r>
              <a:rPr lang="en-US" sz="2400" dirty="0" smtClean="0"/>
              <a:t>Amazon SES provides </a:t>
            </a:r>
            <a:r>
              <a:rPr lang="en-US" sz="2400" b="1" dirty="0" smtClean="0"/>
              <a:t>AWS users with a scalable email service </a:t>
            </a:r>
            <a:r>
              <a:rPr lang="en-US" sz="2400" dirty="0" smtClean="0"/>
              <a:t>that leverages the AWS infrastructure.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5FDBE-2FF5-4BCB-98FE-6FA6A138CFAE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636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services-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Amazon Simple Email Service (SES).</a:t>
            </a:r>
            <a:endParaRPr lang="en-IN" sz="2400" b="1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b="1" dirty="0"/>
              <a:t>Once users are signed up for the service, they have to provide an email </a:t>
            </a:r>
            <a:r>
              <a:rPr lang="en-US" sz="2400" b="1" dirty="0" smtClean="0"/>
              <a:t>id that </a:t>
            </a:r>
            <a:r>
              <a:rPr lang="en-US" sz="2400" b="1" dirty="0"/>
              <a:t>SES will use to send emails on their behalf.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 To activate the service, </a:t>
            </a:r>
            <a:r>
              <a:rPr lang="en-US" sz="2400" b="1" dirty="0"/>
              <a:t>SES will send an email to verify the given address and provide the users with the necessary information for the activation. </a:t>
            </a:r>
            <a:endParaRPr lang="en-US" sz="2400" b="1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Upon verification, </a:t>
            </a:r>
            <a:r>
              <a:rPr lang="en-US" sz="2400" b="1" dirty="0" smtClean="0"/>
              <a:t>the user is given an SES sandbox to test the service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80254-D973-4C30-8ECD-F763382B0269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213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services-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/>
              <a:t>Amazon Simple Email Service (SES).</a:t>
            </a:r>
            <a:endParaRPr lang="en-IN" sz="2400" b="1" dirty="0" smtClean="0"/>
          </a:p>
          <a:p>
            <a:r>
              <a:rPr lang="en-US" sz="2400" dirty="0"/>
              <a:t>Amazon SES is a </a:t>
            </a:r>
            <a:r>
              <a:rPr lang="en-US" sz="2400" b="1" dirty="0"/>
              <a:t>cloud email service provider that can integrate into any application for bulk email sending</a:t>
            </a:r>
            <a:r>
              <a:rPr lang="en-US" sz="2400" dirty="0"/>
              <a:t>. Whether you send transactional or marketing emails, you pay only for what you use. </a:t>
            </a:r>
            <a:endParaRPr lang="en-US" sz="2400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pPr marL="0" indent="0" algn="r">
              <a:buNone/>
            </a:pPr>
            <a:r>
              <a:rPr lang="en-US" sz="2400" b="1" dirty="0" smtClean="0"/>
              <a:t>-AMAZON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8C0FE-FC00-4B54-B810-3549D115499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98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Communication services- Messaging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Amazon Simple Email Service (SES).</a:t>
            </a:r>
            <a:endParaRPr lang="en-IN" sz="2400" b="1" dirty="0" smtClean="0"/>
          </a:p>
          <a:p>
            <a:r>
              <a:rPr lang="en-US" sz="2400" dirty="0" smtClean="0"/>
              <a:t>SES also </a:t>
            </a:r>
            <a:r>
              <a:rPr lang="en-US" sz="2400" b="1" dirty="0" smtClean="0"/>
              <a:t>provides a wide range of statistics that help users to improve their email campaigns </a:t>
            </a:r>
            <a:r>
              <a:rPr lang="en-US" sz="2400" dirty="0" smtClean="0"/>
              <a:t>for effective communication with customers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BFA07-5085-47F3-A0AE-D7DF7CBE990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47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Additional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Besides compute, storage, and communication services, </a:t>
            </a:r>
          </a:p>
          <a:p>
            <a:r>
              <a:rPr lang="en-US" sz="2400" dirty="0" smtClean="0"/>
              <a:t>AWS provides a collection of services that allow </a:t>
            </a:r>
            <a:r>
              <a:rPr lang="en-US" sz="2400" b="1" dirty="0" smtClean="0"/>
              <a:t>users to utilize services in aggregation. </a:t>
            </a:r>
          </a:p>
          <a:p>
            <a:r>
              <a:rPr lang="en-US" sz="2400" dirty="0" smtClean="0"/>
              <a:t>The two relevant services are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b="1" dirty="0" smtClean="0"/>
              <a:t>Amazon </a:t>
            </a:r>
            <a:r>
              <a:rPr lang="en-US" sz="2400" b="1" dirty="0" err="1" smtClean="0"/>
              <a:t>CloudWatch</a:t>
            </a:r>
            <a:r>
              <a:rPr lang="en-US" sz="2400" b="1" dirty="0" smtClean="0"/>
              <a:t> and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b="1" dirty="0" smtClean="0"/>
              <a:t>Amazon Flexible Payment Service (FPS)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1429C-FA7C-4D62-A8D9-F9C1A9CEEE2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87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Additional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Amazon </a:t>
            </a:r>
            <a:r>
              <a:rPr lang="en-US" sz="2400" b="1" dirty="0" err="1" smtClean="0"/>
              <a:t>CloudWatch</a:t>
            </a:r>
            <a:r>
              <a:rPr lang="en-US" sz="2400" b="1" dirty="0" smtClean="0"/>
              <a:t> </a:t>
            </a:r>
          </a:p>
          <a:p>
            <a:r>
              <a:rPr lang="en-US" sz="2400" dirty="0" smtClean="0"/>
              <a:t>is a service that provides a comprehensive set of statistics </a:t>
            </a:r>
          </a:p>
          <a:p>
            <a:r>
              <a:rPr lang="en-US" sz="2400" dirty="0" smtClean="0"/>
              <a:t>that </a:t>
            </a:r>
            <a:r>
              <a:rPr lang="en-US" sz="2400" b="1" dirty="0" smtClean="0"/>
              <a:t>help developers understand and optimize the behavior of their application hosted on AWS.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07CC-8D02-40B8-9424-BABBD29550EB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11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/>
              <a:t>Amazon </a:t>
            </a:r>
            <a:r>
              <a:rPr lang="en-US" b="1" dirty="0" err="1"/>
              <a:t>CloudWatch</a:t>
            </a:r>
            <a:r>
              <a:rPr lang="en-US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Observe </a:t>
            </a:r>
            <a:r>
              <a:rPr lang="en-US" sz="2400" dirty="0"/>
              <a:t>and monitor resources and applications on AWS, on premises, and on other </a:t>
            </a:r>
            <a:r>
              <a:rPr lang="en-US" sz="2400" dirty="0" smtClean="0"/>
              <a:t>clouds</a:t>
            </a:r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0222-3F4E-4024-9527-D3321C75DFE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02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Additional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/>
              <a:t>Amazon </a:t>
            </a:r>
            <a:r>
              <a:rPr lang="en-US" sz="2400" b="1" dirty="0" err="1" smtClean="0"/>
              <a:t>CloudWatch</a:t>
            </a:r>
            <a:r>
              <a:rPr lang="en-US" sz="2400" b="1" dirty="0" smtClean="0"/>
              <a:t> </a:t>
            </a:r>
          </a:p>
          <a:p>
            <a:r>
              <a:rPr lang="en-US" sz="2400" dirty="0" err="1" smtClean="0"/>
              <a:t>CloudWatch</a:t>
            </a:r>
            <a:r>
              <a:rPr lang="en-US" sz="2400" dirty="0" smtClean="0"/>
              <a:t> collects </a:t>
            </a:r>
            <a:r>
              <a:rPr lang="en-US" sz="2400" b="1" dirty="0" smtClean="0"/>
              <a:t>information from several other AWS services: </a:t>
            </a:r>
          </a:p>
          <a:p>
            <a:r>
              <a:rPr lang="en-US" sz="2400" b="1" dirty="0" smtClean="0"/>
              <a:t>EC2, </a:t>
            </a:r>
          </a:p>
          <a:p>
            <a:r>
              <a:rPr lang="en-US" sz="2400" b="1" dirty="0" smtClean="0"/>
              <a:t>S3, </a:t>
            </a:r>
          </a:p>
          <a:p>
            <a:r>
              <a:rPr lang="en-US" sz="2400" b="1" dirty="0" err="1" smtClean="0"/>
              <a:t>SimpleDB</a:t>
            </a:r>
            <a:r>
              <a:rPr lang="en-US" sz="2400" b="1" dirty="0" smtClean="0"/>
              <a:t>, </a:t>
            </a:r>
          </a:p>
          <a:p>
            <a:r>
              <a:rPr lang="en-US" sz="2400" b="1" dirty="0" err="1" smtClean="0"/>
              <a:t>CloudFront</a:t>
            </a:r>
            <a:r>
              <a:rPr lang="en-US" sz="2400" b="1" dirty="0" smtClean="0"/>
              <a:t>, and others. </a:t>
            </a:r>
          </a:p>
          <a:p>
            <a:endParaRPr lang="en-US" sz="2400" dirty="0" smtClean="0"/>
          </a:p>
          <a:p>
            <a:r>
              <a:rPr lang="en-US" sz="2400" dirty="0" smtClean="0"/>
              <a:t>Using </a:t>
            </a:r>
            <a:r>
              <a:rPr lang="en-US" sz="2400" dirty="0" err="1"/>
              <a:t>CloudWatch</a:t>
            </a:r>
            <a:r>
              <a:rPr lang="en-US" sz="2400" dirty="0"/>
              <a:t>, developers can see </a:t>
            </a:r>
            <a:r>
              <a:rPr lang="en-US" sz="2400" b="1" dirty="0"/>
              <a:t>a detailed breakdown of their usage of the service </a:t>
            </a:r>
            <a:r>
              <a:rPr lang="en-US" sz="2400" b="1" dirty="0" smtClean="0"/>
              <a:t>they </a:t>
            </a:r>
            <a:r>
              <a:rPr lang="en-US" sz="2400" b="1" dirty="0"/>
              <a:t>are renting on AWS</a:t>
            </a:r>
            <a:r>
              <a:rPr lang="en-US" sz="2400" dirty="0"/>
              <a:t> and can devise more efficient and cost-saving applications. </a:t>
            </a:r>
          </a:p>
          <a:p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5CBE8-B4B5-4FC3-8367-B8F979E2F141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16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Additional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Amazon </a:t>
            </a:r>
            <a:r>
              <a:rPr lang="en-US" sz="2400" b="1" dirty="0" err="1" smtClean="0"/>
              <a:t>CloudWatch</a:t>
            </a:r>
            <a:r>
              <a:rPr lang="en-US" sz="2400" b="1" dirty="0" smtClean="0"/>
              <a:t> </a:t>
            </a:r>
          </a:p>
          <a:p>
            <a:r>
              <a:rPr lang="en-US" sz="2400" b="1" dirty="0" smtClean="0"/>
              <a:t>Earlier services of </a:t>
            </a:r>
            <a:r>
              <a:rPr lang="en-US" sz="2400" b="1" dirty="0" err="1" smtClean="0"/>
              <a:t>CloudWatch</a:t>
            </a:r>
            <a:r>
              <a:rPr lang="en-US" sz="2400" b="1" dirty="0" smtClean="0"/>
              <a:t> were offered only through subscription, but now it is made available for free to all the AWS users.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FC93E-CE6E-464B-8759-E6E064FD379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71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b="1" dirty="0"/>
              <a:t>Amazon </a:t>
            </a:r>
            <a:r>
              <a:rPr lang="en-US" b="1" dirty="0" err="1"/>
              <a:t>CloudWatch</a:t>
            </a:r>
            <a:r>
              <a:rPr lang="en-US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dirty="0" err="1"/>
              <a:t>CloudWatch</a:t>
            </a:r>
            <a:r>
              <a:rPr lang="en-US" sz="2400" dirty="0"/>
              <a:t> home page automatically displays metrics about every AWS service you use. </a:t>
            </a:r>
            <a:endParaRPr lang="en-US" sz="2400" dirty="0" smtClean="0"/>
          </a:p>
          <a:p>
            <a:r>
              <a:rPr lang="en-US" sz="2400" b="1" dirty="0" smtClean="0"/>
              <a:t>You </a:t>
            </a:r>
            <a:r>
              <a:rPr lang="en-US" sz="2400" b="1" dirty="0"/>
              <a:t>can additionally create </a:t>
            </a:r>
            <a:r>
              <a:rPr lang="en-US" sz="2400" b="1" dirty="0" smtClean="0"/>
              <a:t>customized </a:t>
            </a:r>
            <a:r>
              <a:rPr lang="en-US" sz="2400" b="1" dirty="0"/>
              <a:t>dashboards to display metrics about your </a:t>
            </a:r>
            <a:r>
              <a:rPr lang="en-US" sz="2400" b="1" dirty="0" smtClean="0"/>
              <a:t>customized </a:t>
            </a:r>
            <a:r>
              <a:rPr lang="en-US" sz="2400" b="1" dirty="0"/>
              <a:t>applications</a:t>
            </a:r>
            <a:r>
              <a:rPr lang="en-US" sz="2400" dirty="0"/>
              <a:t>, and </a:t>
            </a:r>
            <a:r>
              <a:rPr lang="en-US" sz="2400"/>
              <a:t>display </a:t>
            </a:r>
            <a:r>
              <a:rPr lang="en-US" sz="2400" smtClean="0"/>
              <a:t>customized </a:t>
            </a:r>
            <a:r>
              <a:rPr lang="en-US" sz="2400" dirty="0"/>
              <a:t>collections of metrics that you choose.</a:t>
            </a:r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16044-DD03-42A7-BC7C-EA46C9CB20A5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35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418058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b="1" dirty="0"/>
              <a:t>Amazon </a:t>
            </a:r>
            <a:r>
              <a:rPr lang="en-US" b="1" dirty="0" err="1"/>
              <a:t>CloudWatch</a:t>
            </a:r>
            <a:r>
              <a:rPr lang="en-US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73397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 smtClean="0"/>
              <a:t>You </a:t>
            </a:r>
            <a:r>
              <a:rPr lang="en-US" sz="2400" dirty="0"/>
              <a:t>can create alarms that watch metrics and send notifications or </a:t>
            </a:r>
            <a:endParaRPr lang="en-US" sz="2400" dirty="0" smtClean="0"/>
          </a:p>
          <a:p>
            <a:r>
              <a:rPr lang="en-US" sz="2400" b="1" dirty="0" smtClean="0"/>
              <a:t>automatically </a:t>
            </a:r>
            <a:r>
              <a:rPr lang="en-US" sz="2400" b="1" dirty="0"/>
              <a:t>make changes to the resources you are monitoring when a threshold is breached. </a:t>
            </a:r>
            <a:endParaRPr lang="en-US" sz="2400" b="1" dirty="0" smtClean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</a:p>
        </p:txBody>
      </p:sp>
      <p:pic>
        <p:nvPicPr>
          <p:cNvPr id="1026" name="Picture 2" descr="https://docs.aws.amazon.com/images/AmazonCloudWatch/latest/monitoring/images/CW-Over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348880"/>
            <a:ext cx="7704856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07253-FFC9-4916-91B1-EFA16AF19FE0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27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346050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b="1" dirty="0"/>
              <a:t>Amazon </a:t>
            </a:r>
            <a:r>
              <a:rPr lang="en-US" b="1" dirty="0" err="1"/>
              <a:t>CloudWatch</a:t>
            </a:r>
            <a:r>
              <a:rPr lang="en-US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658" y="18864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err="1" smtClean="0"/>
              <a:t>Eg</a:t>
            </a:r>
            <a:r>
              <a:rPr lang="en-US" sz="2400" dirty="0" smtClean="0"/>
              <a:t>-</a:t>
            </a:r>
          </a:p>
          <a:p>
            <a:r>
              <a:rPr lang="en-US" sz="2400" dirty="0" smtClean="0"/>
              <a:t>One </a:t>
            </a:r>
            <a:r>
              <a:rPr lang="en-US" sz="2400" dirty="0"/>
              <a:t>can monitor the CPU usage and disk reads and writes of your Amazon EC2 instances and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then </a:t>
            </a:r>
            <a:r>
              <a:rPr lang="en-US" sz="2400" b="1" dirty="0">
                <a:solidFill>
                  <a:srgbClr val="FF0000"/>
                </a:solidFill>
              </a:rPr>
              <a:t>use that data to determine whether you should launch additional instances to handle increased load.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</a:p>
        </p:txBody>
      </p:sp>
      <p:pic>
        <p:nvPicPr>
          <p:cNvPr id="4" name="Picture 2" descr="https://docs.aws.amazon.com/images/AmazonCloudWatch/latest/monitoring/images/CW-Over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96952"/>
            <a:ext cx="7704856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6E26-1D2B-48D6-9916-F8F290B13651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43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346050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US" b="1" dirty="0"/>
              <a:t>Amazon </a:t>
            </a:r>
            <a:r>
              <a:rPr lang="en-US" b="1" dirty="0" err="1"/>
              <a:t>CloudWatch</a:t>
            </a:r>
            <a:r>
              <a:rPr lang="en-US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658" y="18864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err="1" smtClean="0"/>
              <a:t>Eg</a:t>
            </a:r>
            <a:r>
              <a:rPr lang="en-US" sz="2400" dirty="0" smtClean="0"/>
              <a:t>-</a:t>
            </a:r>
          </a:p>
          <a:p>
            <a:r>
              <a:rPr lang="en-US" sz="2400" b="1" dirty="0" smtClean="0"/>
              <a:t>You </a:t>
            </a:r>
            <a:r>
              <a:rPr lang="en-US" sz="2400" b="1" dirty="0"/>
              <a:t>can also use this data to stop under-used instances to save money.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/>
              <a:t>						-AMAZON AWS</a:t>
            </a:r>
          </a:p>
        </p:txBody>
      </p:sp>
      <p:pic>
        <p:nvPicPr>
          <p:cNvPr id="4" name="Picture 2" descr="https://docs.aws.amazon.com/images/AmazonCloudWatch/latest/monitoring/images/CW-Over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96952"/>
            <a:ext cx="7704856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C6F0-8485-4C82-92C8-8DBB7A52AD08}" type="datetime1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47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Additional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Amazon Flexible Payment Service (FPS)-</a:t>
            </a:r>
          </a:p>
          <a:p>
            <a:r>
              <a:rPr lang="en-US" sz="2400" dirty="0" smtClean="0"/>
              <a:t>Amazon FPS infrastructure allows </a:t>
            </a:r>
            <a:r>
              <a:rPr lang="en-US" sz="2400" b="1" dirty="0" smtClean="0"/>
              <a:t>AWS users to leverage Amazon’s billing infrastructure to sell goods and services to other AWS users.</a:t>
            </a:r>
          </a:p>
          <a:p>
            <a:endParaRPr lang="en-US" sz="2400" dirty="0"/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2CCE6-9C64-4345-A5B7-3D46FB28D8CF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32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Additional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Amazon Flexible Payment Service (FPS)-</a:t>
            </a:r>
          </a:p>
          <a:p>
            <a:r>
              <a:rPr lang="en-US" sz="2400" dirty="0"/>
              <a:t>Amazon FPS is the </a:t>
            </a:r>
            <a:r>
              <a:rPr lang="en-US" sz="2400" b="1" dirty="0"/>
              <a:t>first payments service designed from the ground up specifically for developers. </a:t>
            </a:r>
            <a:endParaRPr lang="en-US" sz="2400" b="1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set of web services APIs allows the movement of money between any two entities, humans or computers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							-AMAZON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1F787-50DD-464B-AEA0-86CBA0E53E26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62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Additional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Amazon Flexible Payment Service (FPS)-</a:t>
            </a:r>
          </a:p>
          <a:p>
            <a:r>
              <a:rPr lang="en-US" sz="2400" dirty="0"/>
              <a:t>Amazon FPS is a payment service that is </a:t>
            </a:r>
            <a:r>
              <a:rPr lang="en-US" sz="2400" b="1" dirty="0"/>
              <a:t>100% focused on the needs of developers.</a:t>
            </a:r>
          </a:p>
          <a:p>
            <a:r>
              <a:rPr lang="en-US" sz="2400" dirty="0"/>
              <a:t>Traditionally, developers have been limited in how they can manage payments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				-AMAZON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A50A0-29F5-4A8A-A769-9F54C49DFDAA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364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Additional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Amazon Flexible Payment Service (FPS)-</a:t>
            </a:r>
          </a:p>
          <a:p>
            <a:r>
              <a:rPr lang="en-US" sz="2400" dirty="0" smtClean="0"/>
              <a:t>If </a:t>
            </a:r>
            <a:r>
              <a:rPr lang="en-US" sz="2400" dirty="0"/>
              <a:t>they need to </a:t>
            </a:r>
            <a:r>
              <a:rPr lang="en-US" sz="2400" b="1" dirty="0"/>
              <a:t>charge with a certain frequency, execute a transaction at a specific time, combine many smaller payments into one single transaction or want to charge a commission on a transaction between two of their customers</a:t>
            </a:r>
            <a:r>
              <a:rPr lang="en-US" sz="2400" dirty="0"/>
              <a:t>, </a:t>
            </a:r>
            <a:endParaRPr lang="en-US" sz="2400" dirty="0" smtClean="0"/>
          </a:p>
          <a:p>
            <a:r>
              <a:rPr lang="en-US" sz="2400" b="1" dirty="0" smtClean="0"/>
              <a:t>they </a:t>
            </a:r>
            <a:r>
              <a:rPr lang="en-US" sz="2400" b="1" dirty="0"/>
              <a:t>need to create their own payment infrastructure and processor relationships. This can be difficult, expensive, time-consuming, and with significant operational risks.</a:t>
            </a:r>
          </a:p>
          <a:p>
            <a:pPr marL="0" indent="0">
              <a:buNone/>
            </a:pPr>
            <a:r>
              <a:rPr lang="en-US" sz="2400" b="1" dirty="0" smtClean="0"/>
              <a:t>				-AMAZON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C3BE-46DD-4CCE-9805-83CB060FA734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71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Additional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Amazon Flexible Payment Service (FPS)-</a:t>
            </a:r>
          </a:p>
          <a:p>
            <a:r>
              <a:rPr lang="en-US" sz="2400" dirty="0" smtClean="0"/>
              <a:t>Amazon </a:t>
            </a:r>
            <a:r>
              <a:rPr lang="en-US" sz="2400" dirty="0"/>
              <a:t>FPS changes the way developers can charge their customers. </a:t>
            </a:r>
            <a:endParaRPr lang="en-US" sz="2400" dirty="0" smtClean="0"/>
          </a:p>
          <a:p>
            <a:r>
              <a:rPr lang="en-US" sz="2400" dirty="0"/>
              <a:t>Payment Instructions give developers the flexibility to build multiple charging models that exactly meet their needs.</a:t>
            </a:r>
          </a:p>
          <a:p>
            <a:endParaRPr lang="en-US" sz="2400" dirty="0"/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							-AMAZON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C6ECB-2CBB-4CB4-AD04-43F8F9E5987D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43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Additional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Amazon Flexible Payment Service (FPS)-</a:t>
            </a:r>
          </a:p>
          <a:p>
            <a:r>
              <a:rPr lang="en-US" sz="2400" b="1" dirty="0" smtClean="0"/>
              <a:t>Using </a:t>
            </a:r>
            <a:r>
              <a:rPr lang="en-US" sz="2400" b="1" dirty="0"/>
              <a:t>a capability called “Payment Instructions” developers can easily create the charging model that works best for them.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dirty="0" smtClean="0"/>
              <a:t>For </a:t>
            </a:r>
            <a:r>
              <a:rPr lang="en-US" sz="2400" dirty="0"/>
              <a:t>example, </a:t>
            </a:r>
            <a:r>
              <a:rPr lang="en-US" sz="2400" b="1" dirty="0"/>
              <a:t>they can charge customers in small increments until their accumulated balance reaches a limit, pay a percentage of a digital transaction as a royalty, earn a commission on a marketplace transaction, or allow one customer to pay for another customer and limit their usage to a specific amount.</a:t>
            </a:r>
            <a:r>
              <a:rPr lang="en-US" sz="2400" dirty="0"/>
              <a:t> </a:t>
            </a:r>
            <a:r>
              <a:rPr lang="en-US" sz="2400" b="1" dirty="0" smtClean="0"/>
              <a:t>							-AMAZON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EF3C7-D6A8-4FAE-B9B1-04424F4CF778}" type="datetime1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7A69A-3A3F-43D6-8AC0-1E5665CDDA0E}" type="slidenum">
              <a:rPr lang="en-IN" smtClean="0"/>
              <a:t>152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74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2994</TotalTime>
  <Words>7648</Words>
  <Application>Microsoft Office PowerPoint</Application>
  <PresentationFormat>On-screen Show (4:3)</PresentationFormat>
  <Paragraphs>1274</Paragraphs>
  <Slides>152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53" baseType="lpstr">
      <vt:lpstr>Office Theme</vt:lpstr>
      <vt:lpstr>Module 3.2</vt:lpstr>
      <vt:lpstr>Public Clouds and Service Offerings</vt:lpstr>
      <vt:lpstr>Amazon Web Services (AWS)</vt:lpstr>
      <vt:lpstr>AWS Architecture</vt:lpstr>
      <vt:lpstr>AWS Architecture</vt:lpstr>
      <vt:lpstr>AWS Architecture</vt:lpstr>
      <vt:lpstr>AWS Offerings</vt:lpstr>
      <vt:lpstr>Amazon Web Services</vt:lpstr>
      <vt:lpstr>Compute services</vt:lpstr>
      <vt:lpstr>Compute services</vt:lpstr>
      <vt:lpstr>Amazon machine images</vt:lpstr>
      <vt:lpstr>Amazon machine images</vt:lpstr>
      <vt:lpstr>Amazon machine images</vt:lpstr>
      <vt:lpstr>Amazon machine images</vt:lpstr>
      <vt:lpstr>Amazon machine images-Revenue Generation</vt:lpstr>
      <vt:lpstr>Buy, share, and sell AMIs</vt:lpstr>
      <vt:lpstr>EC2 instances</vt:lpstr>
      <vt:lpstr>EC2</vt:lpstr>
      <vt:lpstr>EC2</vt:lpstr>
      <vt:lpstr>EC2</vt:lpstr>
      <vt:lpstr>EC2</vt:lpstr>
      <vt:lpstr>EC2</vt:lpstr>
      <vt:lpstr>EC2</vt:lpstr>
      <vt:lpstr>EC2</vt:lpstr>
      <vt:lpstr>EC2</vt:lpstr>
      <vt:lpstr>PowerPoint Presentation</vt:lpstr>
      <vt:lpstr>EC2</vt:lpstr>
      <vt:lpstr>EC2</vt:lpstr>
      <vt:lpstr>EC2 environment</vt:lpstr>
      <vt:lpstr>EC2 environment</vt:lpstr>
      <vt:lpstr>EC2 environment</vt:lpstr>
      <vt:lpstr>PowerPoint Presentation</vt:lpstr>
      <vt:lpstr>PowerPoint Presentation</vt:lpstr>
      <vt:lpstr>EC2 environment</vt:lpstr>
      <vt:lpstr>EC2 environment</vt:lpstr>
      <vt:lpstr>EC2 environment</vt:lpstr>
      <vt:lpstr>EC2 environment</vt:lpstr>
      <vt:lpstr>Amazon elastic MapReduce</vt:lpstr>
      <vt:lpstr>END of Lecture</vt:lpstr>
      <vt:lpstr>Storage services AWS</vt:lpstr>
      <vt:lpstr>Amazon S3</vt:lpstr>
      <vt:lpstr>S3 key concepts  </vt:lpstr>
      <vt:lpstr>Storage Service (S3).  </vt:lpstr>
      <vt:lpstr>Storage Service (S3).  </vt:lpstr>
      <vt:lpstr>Storage Service (S3).  </vt:lpstr>
      <vt:lpstr>Storage Service (S3).  </vt:lpstr>
      <vt:lpstr>PowerPoint Presentation</vt:lpstr>
      <vt:lpstr>Simple Storage Service (S3).  </vt:lpstr>
      <vt:lpstr>Simple Storage Service (S3).  </vt:lpstr>
      <vt:lpstr>Buckets</vt:lpstr>
      <vt:lpstr>Buckets</vt:lpstr>
      <vt:lpstr>Buckets</vt:lpstr>
      <vt:lpstr>Buckets</vt:lpstr>
      <vt:lpstr>Buckets</vt:lpstr>
      <vt:lpstr>Buckets</vt:lpstr>
      <vt:lpstr>Buckets</vt:lpstr>
      <vt:lpstr>Objects</vt:lpstr>
      <vt:lpstr>Objects</vt:lpstr>
      <vt:lpstr>Objects</vt:lpstr>
      <vt:lpstr>Objects</vt:lpstr>
      <vt:lpstr>Objects</vt:lpstr>
      <vt:lpstr>Metadata</vt:lpstr>
      <vt:lpstr>Access control and security of Buckets and Objects </vt:lpstr>
      <vt:lpstr>Access control and security of Buckets and Objects </vt:lpstr>
      <vt:lpstr>Access control and security of Buckets and Objects </vt:lpstr>
      <vt:lpstr>Amazon elastic block store</vt:lpstr>
      <vt:lpstr>Amazon elastic block store</vt:lpstr>
      <vt:lpstr>S3 vs EBS</vt:lpstr>
      <vt:lpstr>Accessibility</vt:lpstr>
      <vt:lpstr>Storage type</vt:lpstr>
      <vt:lpstr>Storage type</vt:lpstr>
      <vt:lpstr>Size of data</vt:lpstr>
      <vt:lpstr>Limitation of EBS</vt:lpstr>
      <vt:lpstr> Pros + Cons of S3</vt:lpstr>
      <vt:lpstr>Application</vt:lpstr>
      <vt:lpstr>Application</vt:lpstr>
      <vt:lpstr>Application</vt:lpstr>
      <vt:lpstr>Security</vt:lpstr>
      <vt:lpstr>Amazon ElastiCache</vt:lpstr>
      <vt:lpstr>Amazon ElastiCache</vt:lpstr>
      <vt:lpstr>Amazon ElastiCache Pricing</vt:lpstr>
      <vt:lpstr>Amazon EC2 Cache Instances Pricing</vt:lpstr>
      <vt:lpstr>Amazon EC2 Instances Pricing</vt:lpstr>
      <vt:lpstr>End of Lecture</vt:lpstr>
      <vt:lpstr>Structured storage solutions</vt:lpstr>
      <vt:lpstr>Structured storage solutions</vt:lpstr>
      <vt:lpstr>Preconfigured EC2 AMIs-</vt:lpstr>
      <vt:lpstr>Preconfigured EC2 AMIs-</vt:lpstr>
      <vt:lpstr>Preconfigured EC2 AMIs-</vt:lpstr>
      <vt:lpstr>Amazon RDS</vt:lpstr>
      <vt:lpstr>Amazon RDS</vt:lpstr>
      <vt:lpstr>PowerPoint Presentation</vt:lpstr>
      <vt:lpstr>Preconfigures EC2 AMIs vs RDS</vt:lpstr>
      <vt:lpstr>Advantages of RDS</vt:lpstr>
      <vt:lpstr>Advantages of RDS</vt:lpstr>
      <vt:lpstr>Advantages of RDS</vt:lpstr>
      <vt:lpstr>Advantages of RDS</vt:lpstr>
      <vt:lpstr>DB instances</vt:lpstr>
      <vt:lpstr>DB instances</vt:lpstr>
      <vt:lpstr>DB engines</vt:lpstr>
      <vt:lpstr>DB engines</vt:lpstr>
      <vt:lpstr>DB engines</vt:lpstr>
      <vt:lpstr>DB instance types</vt:lpstr>
      <vt:lpstr>DB instance classes</vt:lpstr>
      <vt:lpstr>DB instance classes</vt:lpstr>
      <vt:lpstr>General-purposeDB instance types</vt:lpstr>
      <vt:lpstr>Memory Optimized DB instance types</vt:lpstr>
      <vt:lpstr>Burstable Performance DB instance types</vt:lpstr>
      <vt:lpstr>Supported DB engines for DB instance classes</vt:lpstr>
      <vt:lpstr>Supported DB engines for DB instance classes</vt:lpstr>
      <vt:lpstr>Amazon DynamoDB</vt:lpstr>
      <vt:lpstr>Amazon DynamoDB</vt:lpstr>
      <vt:lpstr>Amazon SimpleDB</vt:lpstr>
      <vt:lpstr>Amazon SimpleDB</vt:lpstr>
      <vt:lpstr>Amazon SimpleDB</vt:lpstr>
      <vt:lpstr>PowerPoint Presentation</vt:lpstr>
      <vt:lpstr>Communication services</vt:lpstr>
      <vt:lpstr>Communication services</vt:lpstr>
      <vt:lpstr>Communication services</vt:lpstr>
      <vt:lpstr>Amazon VPC</vt:lpstr>
      <vt:lpstr>Amazon VPC</vt:lpstr>
      <vt:lpstr>Amazon VPC</vt:lpstr>
      <vt:lpstr>Amazon Direct Connect</vt:lpstr>
      <vt:lpstr>Amazon Direct Connect</vt:lpstr>
      <vt:lpstr>Amazon Route 53</vt:lpstr>
      <vt:lpstr>Communication services- Messaging</vt:lpstr>
      <vt:lpstr>Communication services- Messaging</vt:lpstr>
      <vt:lpstr>Communication services- Messaging</vt:lpstr>
      <vt:lpstr>Communication services- Messaging</vt:lpstr>
      <vt:lpstr>Communication services- Messaging</vt:lpstr>
      <vt:lpstr>Communication services- Messaging</vt:lpstr>
      <vt:lpstr>Amazon Simple Notification Service (SNS)</vt:lpstr>
      <vt:lpstr>Amazon Simple Notification Service (SNS)</vt:lpstr>
      <vt:lpstr>Communication services- Messaging</vt:lpstr>
      <vt:lpstr>Communication services- Messaging</vt:lpstr>
      <vt:lpstr>Communication services- Messaging</vt:lpstr>
      <vt:lpstr>Communication services- Messaging</vt:lpstr>
      <vt:lpstr>Additional services</vt:lpstr>
      <vt:lpstr>Additional services</vt:lpstr>
      <vt:lpstr>Amazon CloudWatch </vt:lpstr>
      <vt:lpstr>Additional services</vt:lpstr>
      <vt:lpstr>Additional services</vt:lpstr>
      <vt:lpstr>Amazon CloudWatch </vt:lpstr>
      <vt:lpstr>Amazon CloudWatch </vt:lpstr>
      <vt:lpstr>Amazon CloudWatch </vt:lpstr>
      <vt:lpstr>Amazon CloudWatch </vt:lpstr>
      <vt:lpstr>Additional services</vt:lpstr>
      <vt:lpstr>Additional services</vt:lpstr>
      <vt:lpstr>Additional services</vt:lpstr>
      <vt:lpstr>Additional services</vt:lpstr>
      <vt:lpstr>Additional services</vt:lpstr>
      <vt:lpstr>Additional services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3.1</dc:title>
  <dc:creator>Admin</dc:creator>
  <cp:lastModifiedBy>Admin</cp:lastModifiedBy>
  <cp:revision>242</cp:revision>
  <dcterms:created xsi:type="dcterms:W3CDTF">2023-02-26T04:44:49Z</dcterms:created>
  <dcterms:modified xsi:type="dcterms:W3CDTF">2026-03-02T07:00:06Z</dcterms:modified>
</cp:coreProperties>
</file>