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7" roundtripDataSignature="AMtx7mhBqFh6eyMEY+UpXkNdkK2YTPoQ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13FBDB-BEBE-49AC-AAD4-758F3145BE03}">
  <a:tblStyle styleId="{FD13FBDB-BEBE-49AC-AAD4-758F3145BE0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customschemas.google.com/relationships/presentationmetadata" Target="metadata"/><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0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 name="Shape 23"/>
        <p:cNvGrpSpPr/>
        <p:nvPr/>
      </p:nvGrpSpPr>
      <p:grpSpPr>
        <a:xfrm>
          <a:off x="0" y="0"/>
          <a:ext cx="0" cy="0"/>
          <a:chOff x="0" y="0"/>
          <a:chExt cx="0" cy="0"/>
        </a:xfrm>
      </p:grpSpPr>
      <p:sp>
        <p:nvSpPr>
          <p:cNvPr id="24" name="Google Shape;24;p1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0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6" name="Google Shape;26;p10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 name="Google Shape;27;p10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 name="Google Shape;28;p10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9" name="Google Shape;29;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0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0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0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0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0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0"/>
          <p:cNvSpPr/>
          <p:nvPr>
            <p:ph idx="2" type="pic"/>
          </p:nvPr>
        </p:nvSpPr>
        <p:spPr>
          <a:xfrm>
            <a:off x="1792288" y="612775"/>
            <a:ext cx="5486400" cy="4114800"/>
          </a:xfrm>
          <a:prstGeom prst="rect">
            <a:avLst/>
          </a:prstGeom>
          <a:noFill/>
          <a:ln>
            <a:noFill/>
          </a:ln>
        </p:spPr>
      </p:sp>
      <p:sp>
        <p:nvSpPr>
          <p:cNvPr id="64" name="Google Shape;64;p1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google.com/search?q=Broken+Access+Control&amp;oq=what+is+web+application+vul&amp;gs_lcrp=EgZjaHJvbWUqBwgAEAAYgAQyBwgAEAAYgAQyBggBEEUYOTIICAIQABgWGB4yCAgDEAAYFhgeMggIBBAAGBYYHjIICAUQABgWGB4yCAgGEAAYFhgeMggIBxAAGBYYHjIICAgQABgWGB4yCAgJEAAYFhge0gEJOTIzOWowajE1qAIIsAIB8QU4EfEOohKfc_EFOBHxDqISn3M&amp;sourceid=chrome&amp;ie=UTF-8&amp;mstk=AUtExfCaELbUaBfSMUbX7lreH8TPrKgXLkFhD5uAoyQ5q6LqtK_ovOhE12hkvbMLAYIULCACLS8MnEgpVelHlgwTjO359mbLyWjDJmimqULosRMdVvomkoWDA_siLAUPAzOiK7yJGUMBn7wRTTGdz49M4H4HK2yRd9fLC2sMOdc04dKecWKf97GzFLmX4pKBuRzw-bsFZrDt_Do6klsL4aMFuwpDBkPq0NANKVgoXIFeX-q_ts5YEVQqk4dFenQJiWu4-EyH_iDUsHUAmoJRRGbpaM-OQ2jv3kX_1x6xD9dSOdCKtQ&amp;csui=3&amp;ved=2ahUKEwj1z96SzvaSAxXYna8BHU6qBA0QgK4QegQIBBAB" TargetMode="External"/><Relationship Id="rId4" Type="http://schemas.openxmlformats.org/officeDocument/2006/relationships/hyperlink" Target="https://www.google.com/search?q=Injection+Attacks&amp;oq=what+is+web+application+vul&amp;gs_lcrp=EgZjaHJvbWUqBwgAEAAYgAQyBwgAEAAYgAQyBggBEEUYOTIICAIQABgWGB4yCAgDEAAYFhgeMggIBBAAGBYYHjIICAUQABgWGB4yCAgGEAAYFhgeMggIBxAAGBYYHjIICAgQABgWGB4yCAgJEAAYFhge0gEJOTIzOWowajE1qAIIsAIB8QU4EfEOohKfc_EFOBHxDqISn3M&amp;sourceid=chrome&amp;ie=UTF-8&amp;mstk=AUtExfCaELbUaBfSMUbX7lreH8TPrKgXLkFhD5uAoyQ5q6LqtK_ovOhE12hkvbMLAYIULCACLS8MnEgpVelHlgwTjO359mbLyWjDJmimqULosRMdVvomkoWDA_siLAUPAzOiK7yJGUMBn7wRTTGdz49M4H4HK2yRd9fLC2sMOdc04dKecWKf97GzFLmX4pKBuRzw-bsFZrDt_Do6klsL4aMFuwpDBkPq0NANKVgoXIFeX-q_ts5YEVQqk4dFenQJiWu4-EyH_iDUsHUAmoJRRGbpaM-OQ2jv3kX_1x6xD9dSOdCKtQ&amp;csui=3&amp;ved=2ahUKEwj1z96SzvaSAxXYna8BHU6qBA0QgK4QegQIBBAD" TargetMode="External"/><Relationship Id="rId5" Type="http://schemas.openxmlformats.org/officeDocument/2006/relationships/hyperlink" Target="https://www.google.com/search?q=Cross-Site+Scripting+(XSS)&amp;oq=what+is+web+application+vul&amp;gs_lcrp=EgZjaHJvbWUqBwgAEAAYgAQyBwgAEAAYgAQyBggBEEUYOTIICAIQABgWGB4yCAgDEAAYFhgeMggIBBAAGBYYHjIICAUQABgWGB4yCAgGEAAYFhgeMggIBxAAGBYYHjIICAgQABgWGB4yCAgJEAAYFhge0gEJOTIzOWowajE1qAIIsAIB8QU4EfEOohKfc_EFOBHxDqISn3M&amp;sourceid=chrome&amp;ie=UTF-8&amp;mstk=AUtExfCaELbUaBfSMUbX7lreH8TPrKgXLkFhD5uAoyQ5q6LqtK_ovOhE12hkvbMLAYIULCACLS8MnEgpVelHlgwTjO359mbLyWjDJmimqULosRMdVvomkoWDA_siLAUPAzOiK7yJGUMBn7wRTTGdz49M4H4HK2yRd9fLC2sMOdc04dKecWKf97GzFLmX4pKBuRzw-bsFZrDt_Do6klsL4aMFuwpDBkPq0NANKVgoXIFeX-q_ts5YEVQqk4dFenQJiWu4-EyH_iDUsHUAmoJRRGbpaM-OQ2jv3kX_1x6xD9dSOdCKtQ&amp;csui=3&amp;ved=2ahUKEwj1z96SzvaSAxXYna8BHU6qBA0QgK4QegQIBBAF" TargetMode="External"/><Relationship Id="rId6" Type="http://schemas.openxmlformats.org/officeDocument/2006/relationships/hyperlink" Target="https://www.google.com/search?q=Security+Misconfigurations&amp;oq=what+is+web+application+vul&amp;gs_lcrp=EgZjaHJvbWUqBwgAEAAYgAQyBwgAEAAYgAQyBggBEEUYOTIICAIQABgWGB4yCAgDEAAYFhgeMggIBBAAGBYYHjIICAUQABgWGB4yCAgGEAAYFhgeMggIBxAAGBYYHjIICAgQABgWGB4yCAgJEAAYFhge0gEJOTIzOWowajE1qAIIsAIB8QU4EfEOohKfc_EFOBHxDqISn3M&amp;sourceid=chrome&amp;ie=UTF-8&amp;mstk=AUtExfCaELbUaBfSMUbX7lreH8TPrKgXLkFhD5uAoyQ5q6LqtK_ovOhE12hkvbMLAYIULCACLS8MnEgpVelHlgwTjO359mbLyWjDJmimqULosRMdVvomkoWDA_siLAUPAzOiK7yJGUMBn7wRTTGdz49M4H4HK2yRd9fLC2sMOdc04dKecWKf97GzFLmX4pKBuRzw-bsFZrDt_Do6klsL4aMFuwpDBkPq0NANKVgoXIFeX-q_ts5YEVQqk4dFenQJiWu4-EyH_iDUsHUAmoJRRGbpaM-OQ2jv3kX_1x6xD9dSOdCKtQ&amp;csui=3&amp;ved=2ahUKEwj1z96SzvaSAxXYna8BHU6qBA0QgK4QegQIBBAH" TargetMode="External"/><Relationship Id="rId7" Type="http://schemas.openxmlformats.org/officeDocument/2006/relationships/hyperlink" Target="https://www.google.com/search?q=Cross-Site+Request+Forgery+(CSRF)&amp;oq=what+is+web+application+vul&amp;gs_lcrp=EgZjaHJvbWUqBwgAEAAYgAQyBwgAEAAYgAQyBggBEEUYOTIICAIQABgWGB4yCAgDEAAYFhgeMggIBBAAGBYYHjIICAUQABgWGB4yCAgGEAAYFhgeMggIBxAAGBYYHjIICAgQABgWGB4yCAgJEAAYFhge0gEJOTIzOWowajE1qAIIsAIB8QU4EfEOohKfc_EFOBHxDqISn3M&amp;sourceid=chrome&amp;ie=UTF-8&amp;mstk=AUtExfCaELbUaBfSMUbX7lreH8TPrKgXLkFhD5uAoyQ5q6LqtK_ovOhE12hkvbMLAYIULCACLS8MnEgpVelHlgwTjO359mbLyWjDJmimqULosRMdVvomkoWDA_siLAUPAzOiK7yJGUMBn7wRTTGdz49M4H4HK2yRd9fLC2sMOdc04dKecWKf97GzFLmX4pKBuRzw-bsFZrDt_Do6klsL4aMFuwpDBkPq0NANKVgoXIFeX-q_ts5YEVQqk4dFenQJiWu4-EyH_iDUsHUAmoJRRGbpaM-OQ2jv3kX_1x6xD9dSOdCKtQ&amp;csui=3&amp;ved=2ahUKEwj1z96SzvaSAxXYna8BHU6qBA0QgK4QegQIBBAJ"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portswigger.net/web-security/cross-site-scripting#reflected-cross-site-scripting" TargetMode="External"/><Relationship Id="rId4" Type="http://schemas.openxmlformats.org/officeDocument/2006/relationships/hyperlink" Target="https://portswigger.net/web-security/cross-site-scripting#stored-cross-site-scripting" TargetMode="External"/><Relationship Id="rId5" Type="http://schemas.openxmlformats.org/officeDocument/2006/relationships/hyperlink" Target="https://portswigger.net/web-security/cross-site-scripting#dom-based-cross-site-scrip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www.geeksforgeeks.org/ethical-hacking/difference-between-vishing-and-smishing-attacks/" TargetMode="External"/><Relationship Id="rId4" Type="http://schemas.openxmlformats.org/officeDocument/2006/relationships/hyperlink" Target="https://www.geeksforgeeks.org/ethical-hacking/malware-and-its-type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www.geeksforgeeks.org/computer-networks/difference-between-spear-phishing-and-whalin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hyperlink" Target="http://example.com/object/12345%3C/spa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hyperlink" Target="http://169.254.169.254/latest/meta-data/iam/security-credentials/"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2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Web and Application Security</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Chapter III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Web application vulnerabilities</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t>A web application vulnerability is a security flaw, weakness, or misconfiguration in a web application's code, design, or implementation that can be exploited by attackers to gain unauthorized access, steal sensitive data (e.g., credit card info), or disrupt services. </a:t>
            </a:r>
            <a:endParaRPr/>
          </a:p>
          <a:p>
            <a:pPr indent="-342900" lvl="0" marL="342900" rtl="0" algn="just">
              <a:spcBef>
                <a:spcPts val="592"/>
              </a:spcBef>
              <a:spcAft>
                <a:spcPts val="0"/>
              </a:spcAft>
              <a:buClr>
                <a:schemeClr val="dk1"/>
              </a:buClr>
              <a:buSzPct val="100000"/>
              <a:buChar char="•"/>
            </a:pPr>
            <a:r>
              <a:rPr lang="en-US"/>
              <a:t>These flaws, often stemming from poor input validation, can lead to serious risks like data breaches, malware installation, and user session hijacking.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Common Examples of Web Application Vulnerabilities</a:t>
            </a:r>
            <a:endParaRPr/>
          </a:p>
        </p:txBody>
      </p:sp>
      <p:sp>
        <p:nvSpPr>
          <p:cNvPr id="97" name="Google Shape;9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b="1" lang="en-US" u="sng">
                <a:solidFill>
                  <a:schemeClr val="hlink"/>
                </a:solidFill>
                <a:hlinkClick r:id="rId3"/>
              </a:rPr>
              <a:t>Broken Access Control</a:t>
            </a:r>
            <a:r>
              <a:rPr b="1" lang="en-US"/>
              <a:t> (e.g., IDOR):</a:t>
            </a:r>
            <a:r>
              <a:rPr lang="en-US"/>
              <a:t> Attackers bypass authorization to access unauthorized data, such as changing URL IDs to view other users' profiles.</a:t>
            </a:r>
            <a:endParaRPr/>
          </a:p>
          <a:p>
            <a:pPr indent="-342900" lvl="0" marL="342900" rtl="0" algn="just">
              <a:spcBef>
                <a:spcPts val="448"/>
              </a:spcBef>
              <a:spcAft>
                <a:spcPts val="0"/>
              </a:spcAft>
              <a:buClr>
                <a:schemeClr val="dk1"/>
              </a:buClr>
              <a:buSzPct val="100000"/>
              <a:buChar char="•"/>
            </a:pPr>
            <a:r>
              <a:rPr b="1" lang="en-US" u="sng">
                <a:solidFill>
                  <a:schemeClr val="hlink"/>
                </a:solidFill>
                <a:hlinkClick r:id="rId4"/>
              </a:rPr>
              <a:t>Injection Attacks</a:t>
            </a:r>
            <a:r>
              <a:rPr b="1" lang="en-US"/>
              <a:t> (e.g., SQLi):</a:t>
            </a:r>
            <a:r>
              <a:rPr lang="en-US"/>
              <a:t> Malicious SQL code is inserted into input fields, allowing attackers to manipulate or delete backend database content.</a:t>
            </a:r>
            <a:endParaRPr/>
          </a:p>
          <a:p>
            <a:pPr indent="-342900" lvl="0" marL="342900" rtl="0" algn="just">
              <a:spcBef>
                <a:spcPts val="448"/>
              </a:spcBef>
              <a:spcAft>
                <a:spcPts val="0"/>
              </a:spcAft>
              <a:buClr>
                <a:schemeClr val="dk1"/>
              </a:buClr>
              <a:buSzPct val="100000"/>
              <a:buChar char="•"/>
            </a:pPr>
            <a:r>
              <a:rPr b="1" lang="en-US" u="sng">
                <a:solidFill>
                  <a:schemeClr val="hlink"/>
                </a:solidFill>
                <a:hlinkClick r:id="rId5"/>
              </a:rPr>
              <a:t>Cross-Site Scripting (XSS)</a:t>
            </a:r>
            <a:r>
              <a:rPr b="1" lang="en-US"/>
              <a:t>:</a:t>
            </a:r>
            <a:r>
              <a:rPr lang="en-US"/>
              <a:t> Malicious scripts are injected into web pages and executed by innocent users' browsers, often leading to session hijacking.</a:t>
            </a:r>
            <a:endParaRPr/>
          </a:p>
          <a:p>
            <a:pPr indent="-342900" lvl="0" marL="342900" rtl="0" algn="just">
              <a:spcBef>
                <a:spcPts val="448"/>
              </a:spcBef>
              <a:spcAft>
                <a:spcPts val="0"/>
              </a:spcAft>
              <a:buClr>
                <a:schemeClr val="dk1"/>
              </a:buClr>
              <a:buSzPct val="100000"/>
              <a:buChar char="•"/>
            </a:pPr>
            <a:r>
              <a:rPr b="1" lang="en-US" u="sng">
                <a:solidFill>
                  <a:schemeClr val="hlink"/>
                </a:solidFill>
                <a:hlinkClick r:id="rId6"/>
              </a:rPr>
              <a:t>Security Misconfigurations</a:t>
            </a:r>
            <a:r>
              <a:rPr b="1" lang="en-US"/>
              <a:t>:</a:t>
            </a:r>
            <a:r>
              <a:rPr lang="en-US"/>
              <a:t> Unsecured default settings, exposed administrative interfaces, or open cloud storage, which can leak sensitive information.</a:t>
            </a:r>
            <a:endParaRPr/>
          </a:p>
          <a:p>
            <a:pPr indent="-342900" lvl="0" marL="342900" rtl="0" algn="just">
              <a:spcBef>
                <a:spcPts val="448"/>
              </a:spcBef>
              <a:spcAft>
                <a:spcPts val="0"/>
              </a:spcAft>
              <a:buClr>
                <a:schemeClr val="dk1"/>
              </a:buClr>
              <a:buSzPct val="100000"/>
              <a:buChar char="•"/>
            </a:pPr>
            <a:r>
              <a:rPr b="1" lang="en-US" u="sng">
                <a:solidFill>
                  <a:schemeClr val="hlink"/>
                </a:solidFill>
                <a:hlinkClick r:id="rId7"/>
              </a:rPr>
              <a:t>Cross-Site Request Forgery (CSRF)</a:t>
            </a:r>
            <a:r>
              <a:rPr b="1" lang="en-US"/>
              <a:t>:</a:t>
            </a:r>
            <a:r>
              <a:rPr lang="en-US"/>
              <a:t> Tricks a authenticated user's browser into performing unwanted actions on a different website without their consent.</a:t>
            </a:r>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SQL Injection</a:t>
            </a:r>
            <a:endParaRPr/>
          </a:p>
        </p:txBody>
      </p:sp>
      <p:sp>
        <p:nvSpPr>
          <p:cNvPr id="103" name="Google Shape;103;p4"/>
          <p:cNvSpPr txBox="1"/>
          <p:nvPr>
            <p:ph idx="1" type="body"/>
          </p:nvPr>
        </p:nvSpPr>
        <p:spPr>
          <a:xfrm>
            <a:off x="457200" y="1196752"/>
            <a:ext cx="8229600" cy="4929411"/>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lang="en-US"/>
              <a:t>SQL Injection is a security flaw in web applications where attackers insert harmful SQL code through user input. </a:t>
            </a:r>
            <a:endParaRPr/>
          </a:p>
          <a:p>
            <a:pPr indent="-342900" lvl="0" marL="342900" rtl="0" algn="just">
              <a:spcBef>
                <a:spcPts val="496"/>
              </a:spcBef>
              <a:spcAft>
                <a:spcPts val="0"/>
              </a:spcAft>
              <a:buClr>
                <a:schemeClr val="dk1"/>
              </a:buClr>
              <a:buSzPct val="100000"/>
              <a:buChar char="•"/>
            </a:pPr>
            <a:r>
              <a:rPr lang="en-US"/>
              <a:t>This can allow them to access sensitive data, change database contents, or even take control of the system. </a:t>
            </a:r>
            <a:endParaRPr/>
          </a:p>
          <a:p>
            <a:pPr indent="-342900" lvl="0" marL="342900" rtl="0" algn="just">
              <a:spcBef>
                <a:spcPts val="496"/>
              </a:spcBef>
              <a:spcAft>
                <a:spcPts val="0"/>
              </a:spcAft>
              <a:buClr>
                <a:schemeClr val="dk1"/>
              </a:buClr>
              <a:buSzPct val="100000"/>
              <a:buChar char="•"/>
            </a:pPr>
            <a:r>
              <a:rPr lang="en-US"/>
              <a:t>It's important to know about SQL Injection to keep web applications secure.</a:t>
            </a:r>
            <a:endParaRPr/>
          </a:p>
          <a:p>
            <a:pPr indent="-342900" lvl="0" marL="342900" rtl="0" algn="just">
              <a:spcBef>
                <a:spcPts val="496"/>
              </a:spcBef>
              <a:spcAft>
                <a:spcPts val="0"/>
              </a:spcAft>
              <a:buClr>
                <a:schemeClr val="dk1"/>
              </a:buClr>
              <a:buSzPct val="100000"/>
              <a:buChar char="•"/>
            </a:pPr>
            <a:r>
              <a:rPr lang="en-US"/>
              <a:t>SQL Injection (SQLi) is a security vulnerability that occurs when an attacker can manipulate a web application's database queries by inserting malicious SQL code into user input fields. </a:t>
            </a:r>
            <a:endParaRPr/>
          </a:p>
          <a:p>
            <a:pPr indent="-342900" lvl="0" marL="342900" rtl="0" algn="just">
              <a:spcBef>
                <a:spcPts val="496"/>
              </a:spcBef>
              <a:spcAft>
                <a:spcPts val="0"/>
              </a:spcAft>
              <a:buClr>
                <a:schemeClr val="dk1"/>
              </a:buClr>
              <a:buSzPct val="100000"/>
              <a:buChar char="•"/>
            </a:pPr>
            <a:r>
              <a:rPr lang="en-US"/>
              <a:t>These injected queries can manipulate the underlying database to retrieve, modify, or delete sensitive data. In some cases, attackers can even escalate privileges, gaining full control over the database or server.</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Types of SQL Injection</a:t>
            </a:r>
            <a:br>
              <a:rPr lang="en-US"/>
            </a:br>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b="1" lang="en-US"/>
              <a:t>Classic SQL Injection:</a:t>
            </a:r>
            <a:r>
              <a:rPr lang="en-US"/>
              <a:t> The hacker directly adds bad commands into a database query to make it do things it shouldn't.</a:t>
            </a:r>
            <a:endParaRPr/>
          </a:p>
          <a:p>
            <a:pPr indent="-342900" lvl="0" marL="342900" rtl="0" algn="just">
              <a:spcBef>
                <a:spcPts val="496"/>
              </a:spcBef>
              <a:spcAft>
                <a:spcPts val="0"/>
              </a:spcAft>
              <a:buClr>
                <a:schemeClr val="dk1"/>
              </a:buClr>
              <a:buSzPct val="100000"/>
              <a:buChar char="•"/>
            </a:pPr>
            <a:r>
              <a:rPr b="1" lang="en-US"/>
              <a:t>Union-Based SQL Injection:</a:t>
            </a:r>
            <a:r>
              <a:rPr lang="en-US"/>
              <a:t> The hacker uses the </a:t>
            </a:r>
            <a:r>
              <a:rPr b="1" lang="en-US"/>
              <a:t>UNION</a:t>
            </a:r>
            <a:r>
              <a:rPr lang="en-US"/>
              <a:t> command to get information from other tables in the database.</a:t>
            </a:r>
            <a:endParaRPr/>
          </a:p>
          <a:p>
            <a:pPr indent="-342900" lvl="0" marL="342900" rtl="0" algn="just">
              <a:spcBef>
                <a:spcPts val="496"/>
              </a:spcBef>
              <a:spcAft>
                <a:spcPts val="0"/>
              </a:spcAft>
              <a:buClr>
                <a:schemeClr val="dk1"/>
              </a:buClr>
              <a:buSzPct val="100000"/>
              <a:buChar char="•"/>
            </a:pPr>
            <a:r>
              <a:rPr b="1" lang="en-US"/>
              <a:t>Error-Based SQL Injection:</a:t>
            </a:r>
            <a:r>
              <a:rPr lang="en-US"/>
              <a:t> The hacker looks at error messages from the database to learn secret information about it.</a:t>
            </a:r>
            <a:endParaRPr/>
          </a:p>
          <a:p>
            <a:pPr indent="-342900" lvl="0" marL="342900" rtl="0" algn="just">
              <a:spcBef>
                <a:spcPts val="496"/>
              </a:spcBef>
              <a:spcAft>
                <a:spcPts val="0"/>
              </a:spcAft>
              <a:buClr>
                <a:schemeClr val="dk1"/>
              </a:buClr>
              <a:buSzPct val="100000"/>
              <a:buChar char="•"/>
            </a:pPr>
            <a:r>
              <a:rPr b="1" lang="en-US"/>
              <a:t>Blind SQL Injection:</a:t>
            </a:r>
            <a:r>
              <a:rPr lang="en-US"/>
              <a:t> The hacker can't see error messages, so they guess information by watching how the website behaves (like true/false responses, time delays, etc.).</a:t>
            </a:r>
            <a:endParaRPr/>
          </a:p>
          <a:p>
            <a:pPr indent="-185420" lvl="0" marL="342900" rtl="0" algn="just">
              <a:spcBef>
                <a:spcPts val="496"/>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idx="1" type="body"/>
          </p:nvPr>
        </p:nvSpPr>
        <p:spPr>
          <a:xfrm>
            <a:off x="457200" y="260648"/>
            <a:ext cx="8229600" cy="5865515"/>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b="1" lang="en-US"/>
              <a:t>&lt;?php</a:t>
            </a:r>
            <a:r>
              <a:rPr lang="en-US"/>
              <a:t> // Vulnerable code $username = $_POST['username']; $password = $_POST['password']; $query = "SELECT * FROM USERS WHERE USERNAME = '$username' AND PASSWORD = '$password'"; $result = mysqli_query($conn, $query); </a:t>
            </a:r>
            <a:r>
              <a:rPr b="1" lang="en-US"/>
              <a:t>?&gt;</a:t>
            </a:r>
            <a:endParaRPr/>
          </a:p>
          <a:p>
            <a:pPr indent="-170180" lvl="0" marL="342900" rtl="0" algn="just">
              <a:spcBef>
                <a:spcPts val="544"/>
              </a:spcBef>
              <a:spcAft>
                <a:spcPts val="0"/>
              </a:spcAft>
              <a:buClr>
                <a:schemeClr val="dk1"/>
              </a:buClr>
              <a:buSzPct val="100000"/>
              <a:buNone/>
            </a:pPr>
            <a:r>
              <a:t/>
            </a:r>
            <a:endParaRPr b="1"/>
          </a:p>
          <a:p>
            <a:pPr indent="-342900" lvl="0" marL="342900" rtl="0" algn="just">
              <a:spcBef>
                <a:spcPts val="544"/>
              </a:spcBef>
              <a:spcAft>
                <a:spcPts val="0"/>
              </a:spcAft>
              <a:buClr>
                <a:srgbClr val="FF0000"/>
              </a:buClr>
              <a:buSzPct val="100000"/>
              <a:buChar char="•"/>
            </a:pPr>
            <a:r>
              <a:rPr lang="en-US">
                <a:solidFill>
                  <a:srgbClr val="FF0000"/>
                </a:solidFill>
              </a:rPr>
              <a:t>If a malicious user enters </a:t>
            </a:r>
            <a:r>
              <a:rPr b="1" lang="en-US">
                <a:solidFill>
                  <a:srgbClr val="FF0000"/>
                </a:solidFill>
              </a:rPr>
              <a:t>' OR '1'='1</a:t>
            </a:r>
            <a:r>
              <a:rPr lang="en-US">
                <a:solidFill>
                  <a:srgbClr val="FF0000"/>
                </a:solidFill>
              </a:rPr>
              <a:t> as the password, the query becomes:</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SELECT * FROM USERS WHERE USERNAME = 'admin' AND PASSWORD = '' OR '1'='1'; </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This condition is always true because </a:t>
            </a:r>
            <a:r>
              <a:rPr b="1" lang="en-US">
                <a:solidFill>
                  <a:srgbClr val="FF0000"/>
                </a:solidFill>
              </a:rPr>
              <a:t>'1'='1'</a:t>
            </a:r>
            <a:r>
              <a:rPr lang="en-US"/>
              <a:t> evaluates to true, allowing the attacker to log in without knowing the actual password.</a:t>
            </a:r>
            <a:br>
              <a:rPr lang="en-US"/>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Error-Based SQL Injection</a:t>
            </a:r>
            <a:endParaRPr/>
          </a:p>
        </p:txBody>
      </p:sp>
      <p:pic>
        <p:nvPicPr>
          <p:cNvPr id="120" name="Google Shape;120;p7"/>
          <p:cNvPicPr preferRelativeResize="0"/>
          <p:nvPr>
            <p:ph idx="1" type="body"/>
          </p:nvPr>
        </p:nvPicPr>
        <p:blipFill rotWithShape="1">
          <a:blip r:embed="rId3">
            <a:alphaModFix/>
          </a:blip>
          <a:srcRect b="0" l="0" r="0" t="0"/>
          <a:stretch/>
        </p:blipFill>
        <p:spPr>
          <a:xfrm>
            <a:off x="827584" y="2060848"/>
            <a:ext cx="3600400" cy="2880320"/>
          </a:xfrm>
          <a:prstGeom prst="rect">
            <a:avLst/>
          </a:prstGeom>
          <a:noFill/>
          <a:ln>
            <a:noFill/>
          </a:ln>
        </p:spPr>
      </p:pic>
      <p:pic>
        <p:nvPicPr>
          <p:cNvPr id="121" name="Google Shape;121;p7"/>
          <p:cNvPicPr preferRelativeResize="0"/>
          <p:nvPr/>
        </p:nvPicPr>
        <p:blipFill rotWithShape="1">
          <a:blip r:embed="rId4">
            <a:alphaModFix/>
          </a:blip>
          <a:srcRect b="0" l="0" r="0" t="0"/>
          <a:stretch/>
        </p:blipFill>
        <p:spPr>
          <a:xfrm>
            <a:off x="4932040" y="2060848"/>
            <a:ext cx="3672408" cy="2880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27" name="Google Shape;127;p8"/>
          <p:cNvPicPr preferRelativeResize="0"/>
          <p:nvPr>
            <p:ph idx="1" type="body"/>
          </p:nvPr>
        </p:nvPicPr>
        <p:blipFill rotWithShape="1">
          <a:blip r:embed="rId3">
            <a:alphaModFix/>
          </a:blip>
          <a:srcRect b="0" l="0" r="0" t="0"/>
          <a:stretch/>
        </p:blipFill>
        <p:spPr>
          <a:xfrm>
            <a:off x="971600" y="1628800"/>
            <a:ext cx="7093315" cy="310531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33" name="Google Shape;133;p9"/>
          <p:cNvPicPr preferRelativeResize="0"/>
          <p:nvPr>
            <p:ph idx="1" type="body"/>
          </p:nvPr>
        </p:nvPicPr>
        <p:blipFill rotWithShape="1">
          <a:blip r:embed="rId3">
            <a:alphaModFix/>
          </a:blip>
          <a:srcRect b="0" l="0" r="0" t="0"/>
          <a:stretch/>
        </p:blipFill>
        <p:spPr>
          <a:xfrm>
            <a:off x="251520" y="1772816"/>
            <a:ext cx="8640960" cy="39604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39" name="Google Shape;139;p10"/>
          <p:cNvPicPr preferRelativeResize="0"/>
          <p:nvPr>
            <p:ph idx="1" type="body"/>
          </p:nvPr>
        </p:nvPicPr>
        <p:blipFill rotWithShape="1">
          <a:blip r:embed="rId3">
            <a:alphaModFix/>
          </a:blip>
          <a:srcRect b="0" l="0" r="0" t="0"/>
          <a:stretch/>
        </p:blipFill>
        <p:spPr>
          <a:xfrm>
            <a:off x="467544" y="1628800"/>
            <a:ext cx="8208911" cy="40950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Union-Based SQL Injection</a:t>
            </a:r>
            <a:endParaRPr/>
          </a:p>
        </p:txBody>
      </p:sp>
      <p:sp>
        <p:nvSpPr>
          <p:cNvPr id="145" name="Google Shape;145;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SELECT name, price FROM products</a:t>
            </a:r>
            <a:br>
              <a:rPr lang="en-US"/>
            </a:br>
            <a:r>
              <a:rPr lang="en-US"/>
              <a:t>UNION</a:t>
            </a:r>
            <a:br>
              <a:rPr lang="en-US"/>
            </a:br>
            <a:r>
              <a:rPr lang="en-US"/>
              <a:t>SELECT columnA, columnB FROM another_table;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How to Prevent SQL Injection</a:t>
            </a:r>
            <a:br>
              <a:rPr lang="en-US"/>
            </a:br>
            <a:endParaRPr/>
          </a:p>
        </p:txBody>
      </p:sp>
      <p:sp>
        <p:nvSpPr>
          <p:cNvPr id="151" name="Google Shape;151;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b="1" lang="en-US"/>
              <a:t>Use Prepared Statements (Parameterized Queries):</a:t>
            </a:r>
            <a:r>
              <a:rPr lang="en-US"/>
              <a:t> Make sure user input is treated only as data, not as part of the database commands.</a:t>
            </a:r>
            <a:endParaRPr/>
          </a:p>
          <a:p>
            <a:pPr indent="-342900" lvl="0" marL="342900" rtl="0" algn="just">
              <a:spcBef>
                <a:spcPts val="496"/>
              </a:spcBef>
              <a:spcAft>
                <a:spcPts val="0"/>
              </a:spcAft>
              <a:buClr>
                <a:schemeClr val="dk1"/>
              </a:buClr>
              <a:buSzPct val="100000"/>
              <a:buChar char="•"/>
            </a:pPr>
            <a:r>
              <a:rPr b="1" lang="en-US"/>
              <a:t>Use Stored Procedures:</a:t>
            </a:r>
            <a:r>
              <a:rPr lang="en-US"/>
              <a:t> Keep SQL code inside the database instead of building queries with user input.</a:t>
            </a:r>
            <a:endParaRPr/>
          </a:p>
          <a:p>
            <a:pPr indent="-342900" lvl="0" marL="342900" rtl="0" algn="just">
              <a:spcBef>
                <a:spcPts val="496"/>
              </a:spcBef>
              <a:spcAft>
                <a:spcPts val="0"/>
              </a:spcAft>
              <a:buClr>
                <a:schemeClr val="dk1"/>
              </a:buClr>
              <a:buSzPct val="100000"/>
              <a:buChar char="•"/>
            </a:pPr>
            <a:r>
              <a:rPr b="1" lang="en-US"/>
              <a:t>Validate and Clean Input:</a:t>
            </a:r>
            <a:r>
              <a:rPr lang="en-US"/>
              <a:t> Always check and clean what users type before using it in queries.</a:t>
            </a:r>
            <a:endParaRPr/>
          </a:p>
          <a:p>
            <a:pPr indent="-342900" lvl="0" marL="342900" rtl="0" algn="just">
              <a:spcBef>
                <a:spcPts val="496"/>
              </a:spcBef>
              <a:spcAft>
                <a:spcPts val="0"/>
              </a:spcAft>
              <a:buClr>
                <a:schemeClr val="dk1"/>
              </a:buClr>
              <a:buSzPct val="100000"/>
              <a:buChar char="•"/>
            </a:pPr>
            <a:r>
              <a:rPr b="1" lang="en-US"/>
              <a:t>Give Minimum Permissions:</a:t>
            </a:r>
            <a:r>
              <a:rPr lang="en-US"/>
              <a:t> Give database accounts only the access they really need.</a:t>
            </a:r>
            <a:endParaRPr/>
          </a:p>
          <a:p>
            <a:pPr indent="-342900" lvl="0" marL="342900" rtl="0" algn="just">
              <a:spcBef>
                <a:spcPts val="496"/>
              </a:spcBef>
              <a:spcAft>
                <a:spcPts val="0"/>
              </a:spcAft>
              <a:buClr>
                <a:schemeClr val="dk1"/>
              </a:buClr>
              <a:buSzPct val="100000"/>
              <a:buChar char="•"/>
            </a:pPr>
            <a:r>
              <a:rPr b="1" lang="en-US"/>
              <a:t>Use ORM Libraries:</a:t>
            </a:r>
            <a:r>
              <a:rPr lang="en-US"/>
              <a:t> Tools like Hibernate or Entity Framework handle SQL safely for you.</a:t>
            </a:r>
            <a:endParaRPr/>
          </a:p>
          <a:p>
            <a:pPr indent="-342900" lvl="0" marL="342900" rtl="0" algn="just">
              <a:spcBef>
                <a:spcPts val="496"/>
              </a:spcBef>
              <a:spcAft>
                <a:spcPts val="0"/>
              </a:spcAft>
              <a:buClr>
                <a:schemeClr val="dk1"/>
              </a:buClr>
              <a:buSzPct val="100000"/>
              <a:buChar char="•"/>
            </a:pPr>
            <a:r>
              <a:rPr b="1" lang="en-US"/>
              <a:t>Turn Off Detailed Error Messages:</a:t>
            </a:r>
            <a:r>
              <a:rPr lang="en-US"/>
              <a:t> Don't show database errors to users, so hackers can't learn about the database.</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57" name="Google Shape;15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&lt;?php</a:t>
            </a:r>
            <a:r>
              <a:rPr lang="en-US"/>
              <a:t> // Safe code using prepared statements $stmt = $conn-&gt;prepare("SELECT * FROM USERS WHERE USERNAME = ? AND PASSWORD = ?"); $stmt-&gt;bind_param("ss", $username, $password); $stmt-&gt;execute(); $result = $stmt-&gt;get_result(); </a:t>
            </a:r>
            <a:r>
              <a:rPr b="1" lang="en-US"/>
              <a:t>?&gt;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Cross-site scripting (XSS)</a:t>
            </a:r>
            <a:endParaRPr/>
          </a:p>
        </p:txBody>
      </p:sp>
      <p:sp>
        <p:nvSpPr>
          <p:cNvPr id="163" name="Google Shape;16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lang="en-US"/>
              <a:t>Cross-site scripting (also known as XSS) is a web security vulnerability that allows an attacker to compromise the interactions that users have with a vulnerable application. </a:t>
            </a:r>
            <a:endParaRPr/>
          </a:p>
          <a:p>
            <a:pPr indent="-342900" lvl="0" marL="342900" rtl="0" algn="just">
              <a:spcBef>
                <a:spcPts val="496"/>
              </a:spcBef>
              <a:spcAft>
                <a:spcPts val="0"/>
              </a:spcAft>
              <a:buClr>
                <a:schemeClr val="dk1"/>
              </a:buClr>
              <a:buSzPct val="100000"/>
              <a:buChar char="•"/>
            </a:pPr>
            <a:r>
              <a:rPr lang="en-US"/>
              <a:t>It allows an attacker to avoid the same origin policy, which is designed to segregate different websites from each other. </a:t>
            </a:r>
            <a:endParaRPr/>
          </a:p>
          <a:p>
            <a:pPr indent="-342900" lvl="0" marL="342900" rtl="0" algn="just">
              <a:spcBef>
                <a:spcPts val="496"/>
              </a:spcBef>
              <a:spcAft>
                <a:spcPts val="0"/>
              </a:spcAft>
              <a:buClr>
                <a:schemeClr val="dk1"/>
              </a:buClr>
              <a:buSzPct val="100000"/>
              <a:buChar char="•"/>
            </a:pPr>
            <a:r>
              <a:rPr lang="en-US"/>
              <a:t>Cross-site scripting vulnerabilities normally allow an attacker to masquerade as a victim user, to carry out any actions that the user is able to perform, and to access any of the user's data.</a:t>
            </a:r>
            <a:endParaRPr/>
          </a:p>
          <a:p>
            <a:pPr indent="-342900" lvl="0" marL="342900" rtl="0" algn="just">
              <a:spcBef>
                <a:spcPts val="496"/>
              </a:spcBef>
              <a:spcAft>
                <a:spcPts val="0"/>
              </a:spcAft>
              <a:buClr>
                <a:schemeClr val="dk1"/>
              </a:buClr>
              <a:buSzPct val="100000"/>
              <a:buChar char="•"/>
            </a:pPr>
            <a:r>
              <a:rPr lang="en-US"/>
              <a:t> If the victim user has privileged access within the application, then the attacker might be able to gain full control over all of the application's functionality and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How does XSS work?</a:t>
            </a:r>
            <a:br>
              <a:rPr b="1" lang="en-US"/>
            </a:br>
            <a:endParaRPr/>
          </a:p>
        </p:txBody>
      </p:sp>
      <p:sp>
        <p:nvSpPr>
          <p:cNvPr id="169" name="Google Shape;169;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Cross-site scripting works by manipulating a vulnerable web site so that it returns malicious JavaScript to users. When the malicious code executes inside a victim's browser, the attacker can fully compromise their interaction with the application.</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What are the types of XSS attacks?</a:t>
            </a:r>
            <a:br>
              <a:rPr b="1" lang="en-US"/>
            </a:br>
            <a:endParaRPr/>
          </a:p>
        </p:txBody>
      </p:sp>
      <p:sp>
        <p:nvSpPr>
          <p:cNvPr id="175" name="Google Shape;175;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u="sng">
                <a:solidFill>
                  <a:schemeClr val="hlink"/>
                </a:solidFill>
                <a:hlinkClick r:id="rId3"/>
              </a:rPr>
              <a:t>Reflected XSS</a:t>
            </a:r>
            <a:r>
              <a:rPr lang="en-US"/>
              <a:t>, where the malicious script comes from the current HTTP request.</a:t>
            </a:r>
            <a:endParaRPr/>
          </a:p>
          <a:p>
            <a:pPr indent="-342900" lvl="0" marL="342900" rtl="0" algn="just">
              <a:spcBef>
                <a:spcPts val="640"/>
              </a:spcBef>
              <a:spcAft>
                <a:spcPts val="0"/>
              </a:spcAft>
              <a:buClr>
                <a:schemeClr val="dk1"/>
              </a:buClr>
              <a:buSzPts val="3200"/>
              <a:buChar char="•"/>
            </a:pPr>
            <a:r>
              <a:rPr lang="en-US" u="sng">
                <a:solidFill>
                  <a:schemeClr val="hlink"/>
                </a:solidFill>
                <a:hlinkClick r:id="rId4"/>
              </a:rPr>
              <a:t>Stored XSS</a:t>
            </a:r>
            <a:r>
              <a:rPr lang="en-US"/>
              <a:t>, where the malicious script comes from the website's database.</a:t>
            </a:r>
            <a:endParaRPr/>
          </a:p>
          <a:p>
            <a:pPr indent="-342900" lvl="0" marL="342900" rtl="0" algn="just">
              <a:spcBef>
                <a:spcPts val="640"/>
              </a:spcBef>
              <a:spcAft>
                <a:spcPts val="0"/>
              </a:spcAft>
              <a:buClr>
                <a:schemeClr val="dk1"/>
              </a:buClr>
              <a:buSzPts val="3200"/>
              <a:buChar char="•"/>
            </a:pPr>
            <a:r>
              <a:rPr lang="en-US" u="sng">
                <a:solidFill>
                  <a:schemeClr val="hlink"/>
                </a:solidFill>
                <a:hlinkClick r:id="rId5"/>
              </a:rPr>
              <a:t>DOM-based XSS</a:t>
            </a:r>
            <a:r>
              <a:rPr lang="en-US"/>
              <a:t>, where the vulnerability exists in client-side code rather than server-side code</a:t>
            </a:r>
            <a:endParaRPr/>
          </a:p>
          <a:p>
            <a:pPr indent="0" lvl="0" marL="0" rtl="0" algn="just">
              <a:spcBef>
                <a:spcPts val="640"/>
              </a:spcBef>
              <a:spcAft>
                <a:spcPts val="0"/>
              </a:spcAft>
              <a:buClr>
                <a:schemeClr val="dk1"/>
              </a:buClr>
              <a:buSzPts val="32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Reflected cross-site scripting</a:t>
            </a:r>
            <a:br>
              <a:rPr b="1" lang="en-US"/>
            </a:br>
            <a:endParaRPr/>
          </a:p>
        </p:txBody>
      </p:sp>
      <p:sp>
        <p:nvSpPr>
          <p:cNvPr id="181" name="Google Shape;18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US"/>
              <a:t>Reflected XSS is the simplest variety of cross-site scripting. It arises when an application receives data in an HTTP request and includes that data within the immediate response in an unsafe way.</a:t>
            </a:r>
            <a:endParaRPr/>
          </a:p>
          <a:p>
            <a:pPr indent="-342900" lvl="0" marL="342900" rtl="0" algn="l">
              <a:spcBef>
                <a:spcPts val="592"/>
              </a:spcBef>
              <a:spcAft>
                <a:spcPts val="0"/>
              </a:spcAft>
              <a:buClr>
                <a:schemeClr val="dk1"/>
              </a:buClr>
              <a:buSzPct val="100000"/>
              <a:buChar char="•"/>
            </a:pPr>
            <a:r>
              <a:rPr lang="en-US"/>
              <a:t>Here is a simple example of a reflected XSS vulnerability:</a:t>
            </a:r>
            <a:endParaRPr/>
          </a:p>
          <a:p>
            <a:pPr indent="-342900" lvl="0" marL="342900" rtl="0" algn="l">
              <a:spcBef>
                <a:spcPts val="592"/>
              </a:spcBef>
              <a:spcAft>
                <a:spcPts val="0"/>
              </a:spcAft>
              <a:buClr>
                <a:srgbClr val="FF0000"/>
              </a:buClr>
              <a:buSzPct val="100000"/>
              <a:buChar char="•"/>
            </a:pPr>
            <a:r>
              <a:rPr lang="en-US">
                <a:solidFill>
                  <a:srgbClr val="FF0000"/>
                </a:solidFill>
              </a:rPr>
              <a:t>https://insecure-website.com/status?message=All+is+well. &lt;p&gt;Status: All is well.&lt;/p&gt;</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7" name="Google Shape;18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application doesn't perform any other processing of the data, so an attacker can easily construct an attack like this:</a:t>
            </a:r>
            <a:endParaRPr/>
          </a:p>
          <a:p>
            <a:pPr indent="-342900" lvl="0" marL="342900" rtl="0" algn="l">
              <a:spcBef>
                <a:spcPts val="640"/>
              </a:spcBef>
              <a:spcAft>
                <a:spcPts val="0"/>
              </a:spcAft>
              <a:buClr>
                <a:srgbClr val="FF0000"/>
              </a:buClr>
              <a:buSzPts val="3200"/>
              <a:buChar char="•"/>
            </a:pPr>
            <a:r>
              <a:rPr lang="en-US">
                <a:solidFill>
                  <a:srgbClr val="FF0000"/>
                </a:solidFill>
              </a:rPr>
              <a:t>https://insecure-website.com/status?message=&lt;script&gt;/*+Bad+stuff+here...+*/&lt;/script&gt; &lt;p&gt;Status: &lt;script&gt;/* Bad stuff here... */&lt;/script&gt;&lt;/p&gt;</a:t>
            </a:r>
            <a:endParaRPr>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3" name="Google Shape;19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If the user visits the URL constructed by the attacker, then the attacker's script executes in the user's browser, in the context of that user's session with the application. </a:t>
            </a:r>
            <a:endParaRPr/>
          </a:p>
          <a:p>
            <a:pPr indent="-342900" lvl="0" marL="342900" rtl="0" algn="just">
              <a:spcBef>
                <a:spcPts val="640"/>
              </a:spcBef>
              <a:spcAft>
                <a:spcPts val="0"/>
              </a:spcAft>
              <a:buClr>
                <a:schemeClr val="dk1"/>
              </a:buClr>
              <a:buSzPts val="3200"/>
              <a:buChar char="•"/>
            </a:pPr>
            <a:r>
              <a:rPr lang="en-US"/>
              <a:t>At that point, the script can carry out any action, and retrieve any data, to which the user has access.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Stored cross-site scripting</a:t>
            </a:r>
            <a:br>
              <a:rPr b="1" lang="en-US"/>
            </a:br>
            <a:endParaRPr/>
          </a:p>
        </p:txBody>
      </p:sp>
      <p:sp>
        <p:nvSpPr>
          <p:cNvPr id="199" name="Google Shape;19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t>Stored XSS (also known as persistent or second-order XSS) arises when an application receives data from an untrusted source and includes that data within its later HTTP responses in an unsafe way.</a:t>
            </a:r>
            <a:endParaRPr/>
          </a:p>
          <a:p>
            <a:pPr indent="-342900" lvl="0" marL="342900" rtl="0" algn="l">
              <a:spcBef>
                <a:spcPts val="544"/>
              </a:spcBef>
              <a:spcAft>
                <a:spcPts val="0"/>
              </a:spcAft>
              <a:buClr>
                <a:schemeClr val="dk1"/>
              </a:buClr>
              <a:buSzPct val="100000"/>
              <a:buChar char="•"/>
            </a:pPr>
            <a:r>
              <a:rPr lang="en-US"/>
              <a:t>Here is a simple example of a stored XSS vulnerability. A message board application lets users submit messages, which are displayed to other users:</a:t>
            </a:r>
            <a:endParaRPr/>
          </a:p>
          <a:p>
            <a:pPr indent="-342900" lvl="0" marL="342900" rtl="0" algn="l">
              <a:spcBef>
                <a:spcPts val="544"/>
              </a:spcBef>
              <a:spcAft>
                <a:spcPts val="0"/>
              </a:spcAft>
              <a:buClr>
                <a:srgbClr val="FF0000"/>
              </a:buClr>
              <a:buSzPct val="100000"/>
              <a:buChar char="•"/>
            </a:pPr>
            <a:r>
              <a:rPr lang="en-US">
                <a:solidFill>
                  <a:srgbClr val="FF0000"/>
                </a:solidFill>
              </a:rPr>
              <a:t>&lt;p&gt;Hello, this is my message!&lt;/p&gt;</a:t>
            </a:r>
            <a:endParaRPr/>
          </a:p>
          <a:p>
            <a:pPr indent="-342900" lvl="0" marL="342900" rtl="0" algn="l">
              <a:spcBef>
                <a:spcPts val="544"/>
              </a:spcBef>
              <a:spcAft>
                <a:spcPts val="0"/>
              </a:spcAft>
              <a:buClr>
                <a:schemeClr val="dk1"/>
              </a:buClr>
              <a:buSzPct val="100000"/>
              <a:buChar char="•"/>
            </a:pPr>
            <a:r>
              <a:rPr lang="en-US"/>
              <a:t>The application doesn't perform any other processing of the data, so an attacker can easily send a message that attacks other users:</a:t>
            </a:r>
            <a:endParaRPr/>
          </a:p>
          <a:p>
            <a:pPr indent="-342900" lvl="0" marL="342900" rtl="0" algn="l">
              <a:spcBef>
                <a:spcPts val="544"/>
              </a:spcBef>
              <a:spcAft>
                <a:spcPts val="0"/>
              </a:spcAft>
              <a:buClr>
                <a:srgbClr val="FF0000"/>
              </a:buClr>
              <a:buSzPct val="100000"/>
              <a:buChar char="•"/>
            </a:pPr>
            <a:r>
              <a:rPr lang="en-US">
                <a:solidFill>
                  <a:srgbClr val="FF0000"/>
                </a:solidFill>
              </a:rPr>
              <a:t>&lt;p&gt;&lt;script&gt;/* Bad stuff here... */&lt;/script&gt;&lt;/p&gt;</a:t>
            </a:r>
            <a:endParaRPr>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DOM-based XSS</a:t>
            </a:r>
            <a:endParaRPr b="1"/>
          </a:p>
        </p:txBody>
      </p:sp>
      <p:sp>
        <p:nvSpPr>
          <p:cNvPr id="205" name="Google Shape;205;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DOM(Document Object Model)-based XSS (also known as DOM XSS) arises when an application contains some client-side JavaScript that processes data from an untrusted source in an unsafe way, usually by writing the data back to the DOM.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In the following example, an application uses some JavaScript to read the value from an input field and write that value to an element within the HTML:</a:t>
            </a:r>
            <a:endParaRPr/>
          </a:p>
          <a:p>
            <a:pPr indent="-342900" lvl="0" marL="342900" rtl="0" algn="l">
              <a:spcBef>
                <a:spcPts val="592"/>
              </a:spcBef>
              <a:spcAft>
                <a:spcPts val="0"/>
              </a:spcAft>
              <a:buClr>
                <a:srgbClr val="FF0000"/>
              </a:buClr>
              <a:buSzPct val="100000"/>
              <a:buChar char="•"/>
            </a:pPr>
            <a:r>
              <a:rPr lang="en-US">
                <a:solidFill>
                  <a:srgbClr val="FF0000"/>
                </a:solidFill>
              </a:rPr>
              <a:t>var search = document.getElementById('search').value; var results = document.getElementById('results'); results.innerHTML = 'You searched for: ' + search</a:t>
            </a:r>
            <a:r>
              <a:rPr lang="en-US"/>
              <a:t>;</a:t>
            </a:r>
            <a:endParaRPr/>
          </a:p>
          <a:p>
            <a:pPr indent="-342900" lvl="0" marL="342900" rtl="0" algn="l">
              <a:spcBef>
                <a:spcPts val="592"/>
              </a:spcBef>
              <a:spcAft>
                <a:spcPts val="0"/>
              </a:spcAft>
              <a:buClr>
                <a:schemeClr val="dk1"/>
              </a:buClr>
              <a:buSzPct val="100000"/>
              <a:buChar char="•"/>
            </a:pPr>
            <a:r>
              <a:rPr lang="en-US"/>
              <a:t>If the attacker can control the value of the input field, they can easily construct a malicious value that causes their own script to execute:</a:t>
            </a:r>
            <a:endParaRPr/>
          </a:p>
          <a:p>
            <a:pPr indent="-342900" lvl="0" marL="342900" rtl="0" algn="l">
              <a:spcBef>
                <a:spcPts val="592"/>
              </a:spcBef>
              <a:spcAft>
                <a:spcPts val="0"/>
              </a:spcAft>
              <a:buClr>
                <a:schemeClr val="dk1"/>
              </a:buClr>
              <a:buSzPct val="100000"/>
              <a:buChar char="•"/>
            </a:pPr>
            <a:r>
              <a:rPr lang="en-US"/>
              <a:t>You searched for: </a:t>
            </a:r>
            <a:r>
              <a:rPr lang="en-US">
                <a:solidFill>
                  <a:srgbClr val="FF0000"/>
                </a:solidFill>
              </a:rPr>
              <a:t>&lt;img src=1 onerror='/* Bad stuff here... */'&gt;</a:t>
            </a:r>
            <a:endParaRPr>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16" name="Google Shape;216;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In a typical case, the input field would be populated from part of the HTTP request, such as a URL query string parameter, allowing the attacker to deliver an attack using a malicious URL, in the same manner as reflected XSS.</a:t>
            </a:r>
            <a:endParaRPr/>
          </a:p>
          <a:p>
            <a:pPr indent="-342900" lvl="0" marL="342900" rtl="0" algn="just">
              <a:spcBef>
                <a:spcPts val="640"/>
              </a:spcBef>
              <a:spcAft>
                <a:spcPts val="0"/>
              </a:spcAft>
              <a:buClr>
                <a:schemeClr val="dk1"/>
              </a:buClr>
              <a:buSzPts val="3200"/>
              <a:buChar char="•"/>
            </a:pPr>
            <a:br>
              <a:rPr lang="en-US"/>
            </a:b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Cross-site request forgery</a:t>
            </a:r>
            <a:endParaRPr b="1"/>
          </a:p>
        </p:txBody>
      </p:sp>
      <p:sp>
        <p:nvSpPr>
          <p:cNvPr id="222" name="Google Shape;222;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Cross-site request forgery (also known as CSRF) is a web security vulnerability that allows an attacker to induce users to perform actions that they do not intend to perform. It allows an attacker to partly circumvent the same origin policy, which is designed to prevent different websites from interfering with each other.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Threat Modelling</a:t>
            </a:r>
            <a:br>
              <a:rPr b="1" lang="en-US"/>
            </a:br>
            <a:endParaRPr/>
          </a:p>
        </p:txBody>
      </p:sp>
      <p:sp>
        <p:nvSpPr>
          <p:cNvPr id="228" name="Google Shape;228;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Threat modelling is a structured method to identify, analyze, and mitigate potential threats in systems, applications, or organizations.</a:t>
            </a:r>
            <a:endParaRPr/>
          </a:p>
          <a:p>
            <a:pPr indent="-342900" lvl="0" marL="342900" rtl="0" algn="l">
              <a:spcBef>
                <a:spcPts val="544"/>
              </a:spcBef>
              <a:spcAft>
                <a:spcPts val="0"/>
              </a:spcAft>
              <a:buClr>
                <a:schemeClr val="dk1"/>
              </a:buClr>
              <a:buSzPct val="100000"/>
              <a:buChar char="•"/>
            </a:pPr>
            <a:r>
              <a:rPr lang="en-US"/>
              <a:t> It helps teams uncover vulnerabilities early and build security into the design before attackers exploit weaknesses.</a:t>
            </a:r>
            <a:endParaRPr/>
          </a:p>
          <a:p>
            <a:pPr indent="-342900" lvl="0" marL="342900" rtl="0" algn="l">
              <a:spcBef>
                <a:spcPts val="544"/>
              </a:spcBef>
              <a:spcAft>
                <a:spcPts val="0"/>
              </a:spcAft>
              <a:buClr>
                <a:schemeClr val="dk1"/>
              </a:buClr>
              <a:buSzPct val="100000"/>
              <a:buChar char="•"/>
            </a:pPr>
            <a:r>
              <a:rPr lang="en-US"/>
              <a:t>Identifies what can go wrong before deployment</a:t>
            </a:r>
            <a:endParaRPr/>
          </a:p>
          <a:p>
            <a:pPr indent="-342900" lvl="0" marL="342900" rtl="0" algn="l">
              <a:spcBef>
                <a:spcPts val="544"/>
              </a:spcBef>
              <a:spcAft>
                <a:spcPts val="0"/>
              </a:spcAft>
              <a:buClr>
                <a:schemeClr val="dk1"/>
              </a:buClr>
              <a:buSzPct val="100000"/>
              <a:buChar char="•"/>
            </a:pPr>
            <a:r>
              <a:rPr lang="en-US"/>
              <a:t>Helps understand attacker goals, techniques, and entry points</a:t>
            </a:r>
            <a:endParaRPr/>
          </a:p>
          <a:p>
            <a:pPr indent="-342900" lvl="0" marL="342900" rtl="0" algn="l">
              <a:spcBef>
                <a:spcPts val="544"/>
              </a:spcBef>
              <a:spcAft>
                <a:spcPts val="0"/>
              </a:spcAft>
              <a:buClr>
                <a:schemeClr val="dk1"/>
              </a:buClr>
              <a:buSzPct val="100000"/>
              <a:buChar char="•"/>
            </a:pPr>
            <a:r>
              <a:rPr lang="en-US"/>
              <a:t>Prioritizes risks based on impact and likelihood</a:t>
            </a:r>
            <a:endParaRPr/>
          </a:p>
          <a:p>
            <a:pPr indent="-342900" lvl="0" marL="342900" rtl="0" algn="l">
              <a:spcBef>
                <a:spcPts val="544"/>
              </a:spcBef>
              <a:spcAft>
                <a:spcPts val="0"/>
              </a:spcAft>
              <a:buClr>
                <a:schemeClr val="dk1"/>
              </a:buClr>
              <a:buSzPct val="100000"/>
              <a:buChar char="•"/>
            </a:pPr>
            <a:r>
              <a:rPr lang="en-US"/>
              <a:t>Ensures security becomes part of the development lifecycle</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26"/>
          <p:cNvPicPr preferRelativeResize="0"/>
          <p:nvPr>
            <p:ph idx="1" type="body"/>
          </p:nvPr>
        </p:nvPicPr>
        <p:blipFill rotWithShape="1">
          <a:blip r:embed="rId3">
            <a:alphaModFix/>
          </a:blip>
          <a:srcRect b="0" l="0" r="0" t="0"/>
          <a:stretch/>
        </p:blipFill>
        <p:spPr>
          <a:xfrm>
            <a:off x="1115616" y="332656"/>
            <a:ext cx="6696744" cy="3384376"/>
          </a:xfrm>
          <a:prstGeom prst="rect">
            <a:avLst/>
          </a:prstGeom>
          <a:noFill/>
          <a:ln>
            <a:noFill/>
          </a:ln>
        </p:spPr>
      </p:pic>
      <p:sp>
        <p:nvSpPr>
          <p:cNvPr id="234" name="Google Shape;234;p26"/>
          <p:cNvSpPr/>
          <p:nvPr/>
        </p:nvSpPr>
        <p:spPr>
          <a:xfrm>
            <a:off x="1115616" y="4005064"/>
            <a:ext cx="676875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It can be applied to a wide range of targets such as: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Software and applications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Systems and networks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Distributed systems and IoT devices</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Business processes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Process of Threat Modeling</a:t>
            </a:r>
            <a:br>
              <a:rPr b="1" lang="en-US"/>
            </a:br>
            <a:endParaRPr/>
          </a:p>
        </p:txBody>
      </p:sp>
      <p:pic>
        <p:nvPicPr>
          <p:cNvPr id="240" name="Google Shape;240;p27"/>
          <p:cNvPicPr preferRelativeResize="0"/>
          <p:nvPr>
            <p:ph idx="1" type="body"/>
          </p:nvPr>
        </p:nvPicPr>
        <p:blipFill rotWithShape="1">
          <a:blip r:embed="rId3">
            <a:alphaModFix/>
          </a:blip>
          <a:srcRect b="0" l="0" r="0" t="0"/>
          <a:stretch/>
        </p:blipFill>
        <p:spPr>
          <a:xfrm>
            <a:off x="2032000" y="2593181"/>
            <a:ext cx="5080000" cy="2540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idx="1" type="body"/>
          </p:nvPr>
        </p:nvSpPr>
        <p:spPr>
          <a:xfrm>
            <a:off x="457200" y="188640"/>
            <a:ext cx="8229600" cy="593752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sz="2400"/>
              <a:t>1. Define Scope &amp; Objectives</a:t>
            </a:r>
            <a:endParaRPr/>
          </a:p>
          <a:p>
            <a:pPr indent="-342900" lvl="0" marL="342900" rtl="0" algn="l">
              <a:spcBef>
                <a:spcPts val="444"/>
              </a:spcBef>
              <a:spcAft>
                <a:spcPts val="0"/>
              </a:spcAft>
              <a:buClr>
                <a:schemeClr val="dk1"/>
              </a:buClr>
              <a:buSzPct val="100000"/>
              <a:buChar char="•"/>
            </a:pPr>
            <a:r>
              <a:rPr lang="en-US" sz="2400"/>
              <a:t>Clarify what part of the system you're analyzing and why.</a:t>
            </a:r>
            <a:endParaRPr/>
          </a:p>
          <a:p>
            <a:pPr indent="-342900" lvl="0" marL="342900" rtl="0" algn="l">
              <a:spcBef>
                <a:spcPts val="444"/>
              </a:spcBef>
              <a:spcAft>
                <a:spcPts val="0"/>
              </a:spcAft>
              <a:buClr>
                <a:schemeClr val="dk1"/>
              </a:buClr>
              <a:buSzPct val="100000"/>
              <a:buChar char="•"/>
            </a:pPr>
            <a:r>
              <a:rPr lang="en-US" sz="2400"/>
              <a:t>Identifies what needs protection</a:t>
            </a:r>
            <a:endParaRPr/>
          </a:p>
          <a:p>
            <a:pPr indent="-342900" lvl="0" marL="342900" rtl="0" algn="l">
              <a:spcBef>
                <a:spcPts val="444"/>
              </a:spcBef>
              <a:spcAft>
                <a:spcPts val="0"/>
              </a:spcAft>
              <a:buClr>
                <a:schemeClr val="dk1"/>
              </a:buClr>
              <a:buSzPct val="100000"/>
              <a:buChar char="•"/>
            </a:pPr>
            <a:r>
              <a:rPr lang="en-US" sz="2400"/>
              <a:t>Defines assets, boundaries, and goals</a:t>
            </a:r>
            <a:endParaRPr/>
          </a:p>
          <a:p>
            <a:pPr indent="-342900" lvl="0" marL="342900" rtl="0" algn="l">
              <a:spcBef>
                <a:spcPts val="444"/>
              </a:spcBef>
              <a:spcAft>
                <a:spcPts val="0"/>
              </a:spcAft>
              <a:buClr>
                <a:schemeClr val="dk1"/>
              </a:buClr>
              <a:buSzPct val="100000"/>
              <a:buChar char="•"/>
            </a:pPr>
            <a:r>
              <a:rPr lang="en-US" sz="2400"/>
              <a:t>Establishes who makes security decisions</a:t>
            </a:r>
            <a:endParaRPr/>
          </a:p>
          <a:p>
            <a:pPr indent="-342900" lvl="0" marL="342900" rtl="0" algn="l">
              <a:spcBef>
                <a:spcPts val="444"/>
              </a:spcBef>
              <a:spcAft>
                <a:spcPts val="0"/>
              </a:spcAft>
              <a:buClr>
                <a:schemeClr val="dk1"/>
              </a:buClr>
              <a:buSzPct val="100000"/>
              <a:buChar char="•"/>
            </a:pPr>
            <a:r>
              <a:rPr b="1" lang="en-US" sz="2400"/>
              <a:t>2. Diagram the System</a:t>
            </a:r>
            <a:endParaRPr/>
          </a:p>
          <a:p>
            <a:pPr indent="-342900" lvl="0" marL="342900" rtl="0" algn="l">
              <a:spcBef>
                <a:spcPts val="444"/>
              </a:spcBef>
              <a:spcAft>
                <a:spcPts val="0"/>
              </a:spcAft>
              <a:buClr>
                <a:schemeClr val="dk1"/>
              </a:buClr>
              <a:buSzPct val="100000"/>
              <a:buChar char="•"/>
            </a:pPr>
            <a:r>
              <a:rPr lang="en-US" sz="2400"/>
              <a:t>Create a visual map of components and data flows.</a:t>
            </a:r>
            <a:endParaRPr/>
          </a:p>
          <a:p>
            <a:pPr indent="-342900" lvl="0" marL="342900" rtl="0" algn="l">
              <a:spcBef>
                <a:spcPts val="444"/>
              </a:spcBef>
              <a:spcAft>
                <a:spcPts val="0"/>
              </a:spcAft>
              <a:buClr>
                <a:schemeClr val="dk1"/>
              </a:buClr>
              <a:buSzPct val="100000"/>
              <a:buChar char="•"/>
            </a:pPr>
            <a:r>
              <a:rPr lang="en-US" sz="2400"/>
              <a:t>Shows how users and systems interact</a:t>
            </a:r>
            <a:endParaRPr/>
          </a:p>
          <a:p>
            <a:pPr indent="-342900" lvl="0" marL="342900" rtl="0" algn="l">
              <a:spcBef>
                <a:spcPts val="444"/>
              </a:spcBef>
              <a:spcAft>
                <a:spcPts val="0"/>
              </a:spcAft>
              <a:buClr>
                <a:schemeClr val="dk1"/>
              </a:buClr>
              <a:buSzPct val="100000"/>
              <a:buChar char="•"/>
            </a:pPr>
            <a:r>
              <a:rPr lang="en-US" sz="2400"/>
              <a:t>Highlights data movement and trust boundaries</a:t>
            </a:r>
            <a:endParaRPr/>
          </a:p>
          <a:p>
            <a:pPr indent="-342900" lvl="0" marL="342900" rtl="0" algn="l">
              <a:spcBef>
                <a:spcPts val="444"/>
              </a:spcBef>
              <a:spcAft>
                <a:spcPts val="0"/>
              </a:spcAft>
              <a:buClr>
                <a:schemeClr val="dk1"/>
              </a:buClr>
              <a:buSzPct val="100000"/>
              <a:buChar char="•"/>
            </a:pPr>
            <a:r>
              <a:rPr lang="en-US" sz="2400"/>
              <a:t>Exposes areas where attacks may occur</a:t>
            </a:r>
            <a:endParaRPr/>
          </a:p>
          <a:p>
            <a:pPr indent="-342900" lvl="0" marL="342900" rtl="0" algn="l">
              <a:spcBef>
                <a:spcPts val="444"/>
              </a:spcBef>
              <a:spcAft>
                <a:spcPts val="0"/>
              </a:spcAft>
              <a:buClr>
                <a:schemeClr val="dk1"/>
              </a:buClr>
              <a:buSzPct val="100000"/>
              <a:buChar char="•"/>
            </a:pPr>
            <a:r>
              <a:rPr b="1" lang="en-US" sz="2400"/>
              <a:t>3. Identify Threats</a:t>
            </a:r>
            <a:endParaRPr/>
          </a:p>
          <a:p>
            <a:pPr indent="-342900" lvl="0" marL="342900" rtl="0" algn="l">
              <a:spcBef>
                <a:spcPts val="444"/>
              </a:spcBef>
              <a:spcAft>
                <a:spcPts val="0"/>
              </a:spcAft>
              <a:buClr>
                <a:schemeClr val="dk1"/>
              </a:buClr>
              <a:buSzPct val="100000"/>
              <a:buChar char="•"/>
            </a:pPr>
            <a:r>
              <a:rPr lang="en-US" sz="2400"/>
              <a:t>Determine what can go wrong in the system.</a:t>
            </a:r>
            <a:endParaRPr/>
          </a:p>
          <a:p>
            <a:pPr indent="-342900" lvl="0" marL="342900" rtl="0" algn="l">
              <a:spcBef>
                <a:spcPts val="444"/>
              </a:spcBef>
              <a:spcAft>
                <a:spcPts val="0"/>
              </a:spcAft>
              <a:buClr>
                <a:schemeClr val="dk1"/>
              </a:buClr>
              <a:buSzPct val="100000"/>
              <a:buChar char="•"/>
            </a:pPr>
            <a:r>
              <a:rPr lang="en-US" sz="2400"/>
              <a:t>Reveals attacker entry points and techniques</a:t>
            </a:r>
            <a:endParaRPr/>
          </a:p>
          <a:p>
            <a:pPr indent="-342900" lvl="0" marL="342900" rtl="0" algn="l">
              <a:spcBef>
                <a:spcPts val="444"/>
              </a:spcBef>
              <a:spcAft>
                <a:spcPts val="0"/>
              </a:spcAft>
              <a:buClr>
                <a:schemeClr val="dk1"/>
              </a:buClr>
              <a:buSzPct val="100000"/>
              <a:buChar char="•"/>
            </a:pPr>
            <a:r>
              <a:rPr lang="en-US" sz="2400"/>
              <a:t>Uses STRIDE or similar frameworks</a:t>
            </a:r>
            <a:endParaRPr/>
          </a:p>
          <a:p>
            <a:pPr indent="-342900" lvl="0" marL="342900" rtl="0" algn="l">
              <a:spcBef>
                <a:spcPts val="444"/>
              </a:spcBef>
              <a:spcAft>
                <a:spcPts val="0"/>
              </a:spcAft>
              <a:buClr>
                <a:schemeClr val="dk1"/>
              </a:buClr>
              <a:buSzPct val="100000"/>
              <a:buChar char="•"/>
            </a:pPr>
            <a:r>
              <a:rPr lang="en-US" sz="2400"/>
              <a:t>Maps threats to assets and workflows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9"/>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4. Analyze &amp; Prioritize Risks</a:t>
            </a:r>
            <a:endParaRPr/>
          </a:p>
          <a:p>
            <a:pPr indent="-342900" lvl="0" marL="342900" rtl="0" algn="l">
              <a:spcBef>
                <a:spcPts val="496"/>
              </a:spcBef>
              <a:spcAft>
                <a:spcPts val="0"/>
              </a:spcAft>
              <a:buClr>
                <a:schemeClr val="dk1"/>
              </a:buClr>
              <a:buSzPct val="100000"/>
              <a:buChar char="•"/>
            </a:pPr>
            <a:r>
              <a:rPr lang="en-US"/>
              <a:t>Rank threats based on impact and likelihood.</a:t>
            </a:r>
            <a:endParaRPr/>
          </a:p>
          <a:p>
            <a:pPr indent="-342900" lvl="0" marL="342900" rtl="0" algn="l">
              <a:spcBef>
                <a:spcPts val="496"/>
              </a:spcBef>
              <a:spcAft>
                <a:spcPts val="0"/>
              </a:spcAft>
              <a:buClr>
                <a:schemeClr val="dk1"/>
              </a:buClr>
              <a:buSzPct val="100000"/>
              <a:buChar char="•"/>
            </a:pPr>
            <a:r>
              <a:rPr lang="en-US"/>
              <a:t>Focuses attention on critical risks</a:t>
            </a:r>
            <a:endParaRPr/>
          </a:p>
          <a:p>
            <a:pPr indent="-342900" lvl="0" marL="342900" rtl="0" algn="l">
              <a:spcBef>
                <a:spcPts val="496"/>
              </a:spcBef>
              <a:spcAft>
                <a:spcPts val="0"/>
              </a:spcAft>
              <a:buClr>
                <a:schemeClr val="dk1"/>
              </a:buClr>
              <a:buSzPct val="100000"/>
              <a:buChar char="•"/>
            </a:pPr>
            <a:r>
              <a:rPr lang="en-US"/>
              <a:t>Helps estimate real-world damage potential</a:t>
            </a:r>
            <a:endParaRPr/>
          </a:p>
          <a:p>
            <a:pPr indent="-342900" lvl="0" marL="342900" rtl="0" algn="l">
              <a:spcBef>
                <a:spcPts val="496"/>
              </a:spcBef>
              <a:spcAft>
                <a:spcPts val="0"/>
              </a:spcAft>
              <a:buClr>
                <a:schemeClr val="dk1"/>
              </a:buClr>
              <a:buSzPct val="100000"/>
              <a:buChar char="•"/>
            </a:pPr>
            <a:r>
              <a:rPr lang="en-US"/>
              <a:t>Supports informed decision-making</a:t>
            </a:r>
            <a:endParaRPr/>
          </a:p>
          <a:p>
            <a:pPr indent="-342900" lvl="0" marL="342900" rtl="0" algn="l">
              <a:spcBef>
                <a:spcPts val="496"/>
              </a:spcBef>
              <a:spcAft>
                <a:spcPts val="0"/>
              </a:spcAft>
              <a:buClr>
                <a:schemeClr val="dk1"/>
              </a:buClr>
              <a:buSzPct val="100000"/>
              <a:buChar char="•"/>
            </a:pPr>
            <a:r>
              <a:rPr b="1" lang="en-US"/>
              <a:t>5. Design Mitigations</a:t>
            </a:r>
            <a:endParaRPr/>
          </a:p>
          <a:p>
            <a:pPr indent="-342900" lvl="0" marL="342900" rtl="0" algn="l">
              <a:spcBef>
                <a:spcPts val="496"/>
              </a:spcBef>
              <a:spcAft>
                <a:spcPts val="0"/>
              </a:spcAft>
              <a:buClr>
                <a:schemeClr val="dk1"/>
              </a:buClr>
              <a:buSzPct val="100000"/>
              <a:buChar char="•"/>
            </a:pPr>
            <a:r>
              <a:rPr lang="en-US"/>
              <a:t>Plan security measures to reduce or eliminate threats.</a:t>
            </a:r>
            <a:endParaRPr/>
          </a:p>
          <a:p>
            <a:pPr indent="-342900" lvl="0" marL="342900" rtl="0" algn="l">
              <a:spcBef>
                <a:spcPts val="496"/>
              </a:spcBef>
              <a:spcAft>
                <a:spcPts val="0"/>
              </a:spcAft>
              <a:buClr>
                <a:schemeClr val="dk1"/>
              </a:buClr>
              <a:buSzPct val="100000"/>
              <a:buChar char="•"/>
            </a:pPr>
            <a:r>
              <a:rPr lang="en-US"/>
              <a:t>Defines clear mitigation actions</a:t>
            </a:r>
            <a:endParaRPr/>
          </a:p>
          <a:p>
            <a:pPr indent="-342900" lvl="0" marL="342900" rtl="0" algn="l">
              <a:spcBef>
                <a:spcPts val="496"/>
              </a:spcBef>
              <a:spcAft>
                <a:spcPts val="0"/>
              </a:spcAft>
              <a:buClr>
                <a:schemeClr val="dk1"/>
              </a:buClr>
              <a:buSzPct val="100000"/>
              <a:buChar char="•"/>
            </a:pPr>
            <a:r>
              <a:rPr lang="en-US"/>
              <a:t>Aligns controls to specific threats</a:t>
            </a:r>
            <a:endParaRPr/>
          </a:p>
          <a:p>
            <a:pPr indent="-342900" lvl="0" marL="342900" rtl="0" algn="l">
              <a:spcBef>
                <a:spcPts val="496"/>
              </a:spcBef>
              <a:spcAft>
                <a:spcPts val="0"/>
              </a:spcAft>
              <a:buClr>
                <a:schemeClr val="dk1"/>
              </a:buClr>
              <a:buSzPct val="100000"/>
              <a:buChar char="•"/>
            </a:pPr>
            <a:r>
              <a:rPr lang="en-US"/>
              <a:t>Strengthens overall system resilience</a:t>
            </a:r>
            <a:endParaRPr/>
          </a:p>
          <a:p>
            <a:pPr indent="-342900" lvl="0" marL="342900" rtl="0" algn="l">
              <a:spcBef>
                <a:spcPts val="496"/>
              </a:spcBef>
              <a:spcAft>
                <a:spcPts val="0"/>
              </a:spcAft>
              <a:buClr>
                <a:schemeClr val="dk1"/>
              </a:buClr>
              <a:buSzPct val="100000"/>
              <a:buChar char="•"/>
            </a:pPr>
            <a:r>
              <a:rPr b="1" lang="en-US"/>
              <a:t>6. Review &amp; Iterate</a:t>
            </a:r>
            <a:endParaRPr/>
          </a:p>
          <a:p>
            <a:pPr indent="-342900" lvl="0" marL="342900" rtl="0" algn="l">
              <a:spcBef>
                <a:spcPts val="496"/>
              </a:spcBef>
              <a:spcAft>
                <a:spcPts val="0"/>
              </a:spcAft>
              <a:buClr>
                <a:schemeClr val="dk1"/>
              </a:buClr>
              <a:buSzPct val="100000"/>
              <a:buChar char="•"/>
            </a:pPr>
            <a:r>
              <a:rPr lang="en-US"/>
              <a:t>Continuously refine the model as the system evolves.</a:t>
            </a:r>
            <a:endParaRPr/>
          </a:p>
          <a:p>
            <a:pPr indent="-342900" lvl="0" marL="342900" rtl="0" algn="l">
              <a:spcBef>
                <a:spcPts val="496"/>
              </a:spcBef>
              <a:spcAft>
                <a:spcPts val="0"/>
              </a:spcAft>
              <a:buClr>
                <a:schemeClr val="dk1"/>
              </a:buClr>
              <a:buSzPct val="100000"/>
              <a:buChar char="•"/>
            </a:pPr>
            <a:r>
              <a:rPr lang="en-US"/>
              <a:t>Validates existing controls</a:t>
            </a:r>
            <a:endParaRPr/>
          </a:p>
          <a:p>
            <a:pPr indent="-342900" lvl="0" marL="342900" rtl="0" algn="l">
              <a:spcBef>
                <a:spcPts val="496"/>
              </a:spcBef>
              <a:spcAft>
                <a:spcPts val="0"/>
              </a:spcAft>
              <a:buClr>
                <a:schemeClr val="dk1"/>
              </a:buClr>
              <a:buSzPct val="100000"/>
              <a:buChar char="•"/>
            </a:pPr>
            <a:r>
              <a:rPr lang="en-US"/>
              <a:t>Updates diagrams as architecture changes</a:t>
            </a:r>
            <a:endParaRPr/>
          </a:p>
          <a:p>
            <a:pPr indent="-342900" lvl="0" marL="342900" rtl="0" algn="l">
              <a:spcBef>
                <a:spcPts val="496"/>
              </a:spcBef>
              <a:spcAft>
                <a:spcPts val="0"/>
              </a:spcAft>
              <a:buClr>
                <a:schemeClr val="dk1"/>
              </a:buClr>
              <a:buSzPct val="100000"/>
              <a:buChar char="•"/>
            </a:pPr>
            <a:r>
              <a:rPr lang="en-US"/>
              <a:t>Ensures ongoing security alignment</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Threat Modelling Methodologies</a:t>
            </a:r>
            <a:br>
              <a:rPr b="1" lang="en-US"/>
            </a:br>
            <a:endParaRPr/>
          </a:p>
        </p:txBody>
      </p:sp>
      <p:pic>
        <p:nvPicPr>
          <p:cNvPr id="256" name="Google Shape;256;p30"/>
          <p:cNvPicPr preferRelativeResize="0"/>
          <p:nvPr>
            <p:ph idx="1" type="body"/>
          </p:nvPr>
        </p:nvPicPr>
        <p:blipFill rotWithShape="1">
          <a:blip r:embed="rId3">
            <a:alphaModFix/>
          </a:blip>
          <a:srcRect b="0" l="0" r="0" t="0"/>
          <a:stretch/>
        </p:blipFill>
        <p:spPr>
          <a:xfrm>
            <a:off x="1259632" y="1268760"/>
            <a:ext cx="6768752" cy="38644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2" name="Google Shape;262;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b="1" lang="en-US"/>
              <a:t>STRIDE</a:t>
            </a:r>
            <a:endParaRPr/>
          </a:p>
          <a:p>
            <a:pPr indent="-342900" lvl="0" marL="342900" rtl="0" algn="l">
              <a:spcBef>
                <a:spcPts val="544"/>
              </a:spcBef>
              <a:spcAft>
                <a:spcPts val="0"/>
              </a:spcAft>
              <a:buClr>
                <a:schemeClr val="dk1"/>
              </a:buClr>
              <a:buSzPct val="100000"/>
              <a:buChar char="•"/>
            </a:pPr>
            <a:r>
              <a:rPr lang="en-US"/>
              <a:t>A Microsoft model that categorizes threats into six major security areas.</a:t>
            </a:r>
            <a:endParaRPr/>
          </a:p>
          <a:p>
            <a:pPr indent="-342900" lvl="0" marL="342900" rtl="0" algn="l">
              <a:spcBef>
                <a:spcPts val="544"/>
              </a:spcBef>
              <a:spcAft>
                <a:spcPts val="0"/>
              </a:spcAft>
              <a:buClr>
                <a:schemeClr val="dk1"/>
              </a:buClr>
              <a:buSzPct val="100000"/>
              <a:buChar char="•"/>
            </a:pPr>
            <a:r>
              <a:rPr lang="en-US"/>
              <a:t>Spoofing → pretending to be someone/something else</a:t>
            </a:r>
            <a:endParaRPr/>
          </a:p>
          <a:p>
            <a:pPr indent="-342900" lvl="0" marL="342900" rtl="0" algn="l">
              <a:spcBef>
                <a:spcPts val="544"/>
              </a:spcBef>
              <a:spcAft>
                <a:spcPts val="0"/>
              </a:spcAft>
              <a:buClr>
                <a:schemeClr val="dk1"/>
              </a:buClr>
              <a:buSzPct val="100000"/>
              <a:buChar char="•"/>
            </a:pPr>
            <a:r>
              <a:rPr lang="en-US"/>
              <a:t>Tampering → altering data or system components</a:t>
            </a:r>
            <a:endParaRPr/>
          </a:p>
          <a:p>
            <a:pPr indent="-342900" lvl="0" marL="342900" rtl="0" algn="l">
              <a:spcBef>
                <a:spcPts val="544"/>
              </a:spcBef>
              <a:spcAft>
                <a:spcPts val="0"/>
              </a:spcAft>
              <a:buClr>
                <a:schemeClr val="dk1"/>
              </a:buClr>
              <a:buSzPct val="100000"/>
              <a:buChar char="•"/>
            </a:pPr>
            <a:r>
              <a:rPr lang="en-US"/>
              <a:t>Repudiation → denying actions without evidence</a:t>
            </a:r>
            <a:endParaRPr/>
          </a:p>
          <a:p>
            <a:pPr indent="-342900" lvl="0" marL="342900" rtl="0" algn="l">
              <a:spcBef>
                <a:spcPts val="544"/>
              </a:spcBef>
              <a:spcAft>
                <a:spcPts val="0"/>
              </a:spcAft>
              <a:buClr>
                <a:schemeClr val="dk1"/>
              </a:buClr>
              <a:buSzPct val="100000"/>
              <a:buChar char="•"/>
            </a:pPr>
            <a:r>
              <a:rPr lang="en-US"/>
              <a:t>Information Disclosure → unauthorized data exposure</a:t>
            </a:r>
            <a:endParaRPr/>
          </a:p>
          <a:p>
            <a:pPr indent="-342900" lvl="0" marL="342900" rtl="0" algn="l">
              <a:spcBef>
                <a:spcPts val="544"/>
              </a:spcBef>
              <a:spcAft>
                <a:spcPts val="0"/>
              </a:spcAft>
              <a:buClr>
                <a:schemeClr val="dk1"/>
              </a:buClr>
              <a:buSzPct val="100000"/>
              <a:buChar char="•"/>
            </a:pPr>
            <a:r>
              <a:rPr lang="en-US"/>
              <a:t>Denial of Service → making services unavailable</a:t>
            </a:r>
            <a:endParaRPr/>
          </a:p>
          <a:p>
            <a:pPr indent="-342900" lvl="0" marL="342900" rtl="0" algn="l">
              <a:spcBef>
                <a:spcPts val="544"/>
              </a:spcBef>
              <a:spcAft>
                <a:spcPts val="0"/>
              </a:spcAft>
              <a:buClr>
                <a:schemeClr val="dk1"/>
              </a:buClr>
              <a:buSzPct val="100000"/>
              <a:buChar char="•"/>
            </a:pPr>
            <a:r>
              <a:rPr lang="en-US"/>
              <a:t>Elevation of Privilege → gaining higher-than-allowed permissions</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8" name="Google Shape;268;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t>DREAD</a:t>
            </a:r>
            <a:endParaRPr/>
          </a:p>
          <a:p>
            <a:pPr indent="-342900" lvl="0" marL="342900" rtl="0" algn="l">
              <a:spcBef>
                <a:spcPts val="592"/>
              </a:spcBef>
              <a:spcAft>
                <a:spcPts val="0"/>
              </a:spcAft>
              <a:buClr>
                <a:schemeClr val="dk1"/>
              </a:buClr>
              <a:buSzPct val="100000"/>
              <a:buChar char="•"/>
            </a:pPr>
            <a:r>
              <a:rPr lang="en-US"/>
              <a:t>A risk-rating system used to score threats based on severity and impact.</a:t>
            </a:r>
            <a:endParaRPr/>
          </a:p>
          <a:p>
            <a:pPr indent="-342900" lvl="0" marL="342900" rtl="0" algn="l">
              <a:spcBef>
                <a:spcPts val="592"/>
              </a:spcBef>
              <a:spcAft>
                <a:spcPts val="0"/>
              </a:spcAft>
              <a:buClr>
                <a:schemeClr val="dk1"/>
              </a:buClr>
              <a:buSzPct val="100000"/>
              <a:buChar char="•"/>
            </a:pPr>
            <a:r>
              <a:rPr lang="en-US"/>
              <a:t>Damage Potential → how severe the impact is</a:t>
            </a:r>
            <a:endParaRPr/>
          </a:p>
          <a:p>
            <a:pPr indent="-342900" lvl="0" marL="342900" rtl="0" algn="l">
              <a:spcBef>
                <a:spcPts val="592"/>
              </a:spcBef>
              <a:spcAft>
                <a:spcPts val="0"/>
              </a:spcAft>
              <a:buClr>
                <a:schemeClr val="dk1"/>
              </a:buClr>
              <a:buSzPct val="100000"/>
              <a:buChar char="•"/>
            </a:pPr>
            <a:r>
              <a:rPr lang="en-US"/>
              <a:t>Reproducibility → how easily the attack can be repeated</a:t>
            </a:r>
            <a:endParaRPr/>
          </a:p>
          <a:p>
            <a:pPr indent="-342900" lvl="0" marL="342900" rtl="0" algn="l">
              <a:spcBef>
                <a:spcPts val="592"/>
              </a:spcBef>
              <a:spcAft>
                <a:spcPts val="0"/>
              </a:spcAft>
              <a:buClr>
                <a:schemeClr val="dk1"/>
              </a:buClr>
              <a:buSzPct val="100000"/>
              <a:buChar char="•"/>
            </a:pPr>
            <a:r>
              <a:rPr lang="en-US"/>
              <a:t>Exploitability → difficulty of launching the attack</a:t>
            </a:r>
            <a:endParaRPr/>
          </a:p>
          <a:p>
            <a:pPr indent="-342900" lvl="0" marL="342900" rtl="0" algn="l">
              <a:spcBef>
                <a:spcPts val="592"/>
              </a:spcBef>
              <a:spcAft>
                <a:spcPts val="0"/>
              </a:spcAft>
              <a:buClr>
                <a:schemeClr val="dk1"/>
              </a:buClr>
              <a:buSzPct val="100000"/>
              <a:buChar char="•"/>
            </a:pPr>
            <a:r>
              <a:rPr lang="en-US"/>
              <a:t>Affected Users → number of users impacted</a:t>
            </a:r>
            <a:endParaRPr/>
          </a:p>
          <a:p>
            <a:pPr indent="-342900" lvl="0" marL="342900" rtl="0" algn="l">
              <a:spcBef>
                <a:spcPts val="592"/>
              </a:spcBef>
              <a:spcAft>
                <a:spcPts val="0"/>
              </a:spcAft>
              <a:buClr>
                <a:schemeClr val="dk1"/>
              </a:buClr>
              <a:buSzPct val="100000"/>
              <a:buChar char="•"/>
            </a:pPr>
            <a:r>
              <a:rPr lang="en-US"/>
              <a:t>Discoverability → how easy it is to find the weakness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74" name="Google Shape;274;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t>PASTA (Process for Attack Simulation and Threat Analysis)</a:t>
            </a:r>
            <a:endParaRPr/>
          </a:p>
          <a:p>
            <a:pPr indent="-342900" lvl="0" marL="342900" rtl="0" algn="l">
              <a:spcBef>
                <a:spcPts val="640"/>
              </a:spcBef>
              <a:spcAft>
                <a:spcPts val="0"/>
              </a:spcAft>
              <a:buClr>
                <a:schemeClr val="dk1"/>
              </a:buClr>
              <a:buSzPts val="3200"/>
              <a:buChar char="•"/>
            </a:pPr>
            <a:r>
              <a:rPr lang="en-US"/>
              <a:t>A 7-stage methodology focused on attacker behavior and real-world attack scenarios.</a:t>
            </a:r>
            <a:endParaRPr/>
          </a:p>
          <a:p>
            <a:pPr indent="-342900" lvl="0" marL="342900" rtl="0" algn="l">
              <a:spcBef>
                <a:spcPts val="640"/>
              </a:spcBef>
              <a:spcAft>
                <a:spcPts val="0"/>
              </a:spcAft>
              <a:buClr>
                <a:schemeClr val="dk1"/>
              </a:buClr>
              <a:buSzPts val="3200"/>
              <a:buChar char="•"/>
            </a:pPr>
            <a:r>
              <a:rPr lang="en-US"/>
              <a:t>Models threats from attacker’s perspective</a:t>
            </a:r>
            <a:endParaRPr/>
          </a:p>
          <a:p>
            <a:pPr indent="-342900" lvl="0" marL="342900" rtl="0" algn="l">
              <a:spcBef>
                <a:spcPts val="640"/>
              </a:spcBef>
              <a:spcAft>
                <a:spcPts val="0"/>
              </a:spcAft>
              <a:buClr>
                <a:schemeClr val="dk1"/>
              </a:buClr>
              <a:buSzPts val="3200"/>
              <a:buChar char="•"/>
            </a:pPr>
            <a:r>
              <a:rPr lang="en-US"/>
              <a:t>Aligns system architecture to possible attack paths</a:t>
            </a:r>
            <a:endParaRPr/>
          </a:p>
          <a:p>
            <a:pPr indent="-342900" lvl="0" marL="342900" rtl="0" algn="l">
              <a:spcBef>
                <a:spcPts val="640"/>
              </a:spcBef>
              <a:spcAft>
                <a:spcPts val="0"/>
              </a:spcAft>
              <a:buClr>
                <a:schemeClr val="dk1"/>
              </a:buClr>
              <a:buSzPts val="3200"/>
              <a:buChar char="•"/>
            </a:pPr>
            <a:r>
              <a:rPr lang="en-US"/>
              <a:t>Helps design strong, risk-based security controls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0" name="Google Shape;280;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Trike</a:t>
            </a:r>
            <a:endParaRPr/>
          </a:p>
          <a:p>
            <a:pPr indent="-342900" lvl="0" marL="342900" rtl="0" algn="l">
              <a:spcBef>
                <a:spcPts val="640"/>
              </a:spcBef>
              <a:spcAft>
                <a:spcPts val="0"/>
              </a:spcAft>
              <a:buClr>
                <a:schemeClr val="dk1"/>
              </a:buClr>
              <a:buSzPts val="3200"/>
              <a:buChar char="•"/>
            </a:pPr>
            <a:r>
              <a:rPr lang="en-US"/>
              <a:t>A risk-management–oriented model that defines acceptable risk levels for assets.</a:t>
            </a:r>
            <a:endParaRPr/>
          </a:p>
          <a:p>
            <a:pPr indent="-342900" lvl="0" marL="342900" rtl="0" algn="l">
              <a:spcBef>
                <a:spcPts val="640"/>
              </a:spcBef>
              <a:spcAft>
                <a:spcPts val="0"/>
              </a:spcAft>
              <a:buClr>
                <a:schemeClr val="dk1"/>
              </a:buClr>
              <a:buSzPts val="3200"/>
              <a:buChar char="•"/>
            </a:pPr>
            <a:r>
              <a:rPr lang="en-US"/>
              <a:t>Uses stakeholder requirements</a:t>
            </a:r>
            <a:endParaRPr/>
          </a:p>
          <a:p>
            <a:pPr indent="-342900" lvl="0" marL="342900" rtl="0" algn="l">
              <a:spcBef>
                <a:spcPts val="640"/>
              </a:spcBef>
              <a:spcAft>
                <a:spcPts val="0"/>
              </a:spcAft>
              <a:buClr>
                <a:schemeClr val="dk1"/>
              </a:buClr>
              <a:buSzPts val="3200"/>
              <a:buChar char="•"/>
            </a:pPr>
            <a:r>
              <a:rPr lang="en-US"/>
              <a:t>Maps actions, roles, and asset permissions</a:t>
            </a:r>
            <a:endParaRPr/>
          </a:p>
          <a:p>
            <a:pPr indent="-342900" lvl="0" marL="342900" rtl="0" algn="l">
              <a:spcBef>
                <a:spcPts val="640"/>
              </a:spcBef>
              <a:spcAft>
                <a:spcPts val="0"/>
              </a:spcAft>
              <a:buClr>
                <a:schemeClr val="dk1"/>
              </a:buClr>
              <a:buSzPts val="3200"/>
              <a:buChar char="•"/>
            </a:pPr>
            <a:r>
              <a:rPr lang="en-US"/>
              <a:t>Prioritizes threats based on defined risk boundaries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6" name="Google Shape;286;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VAST (Visual, Agile, and Simple Threat Modeling)</a:t>
            </a:r>
            <a:endParaRPr/>
          </a:p>
          <a:p>
            <a:pPr indent="-342900" lvl="0" marL="342900" rtl="0" algn="l">
              <a:spcBef>
                <a:spcPts val="496"/>
              </a:spcBef>
              <a:spcAft>
                <a:spcPts val="0"/>
              </a:spcAft>
              <a:buClr>
                <a:schemeClr val="dk1"/>
              </a:buClr>
              <a:buSzPct val="100000"/>
              <a:buChar char="•"/>
            </a:pPr>
            <a:r>
              <a:rPr lang="en-US"/>
              <a:t>A scalable approach designed for large enterprises and agile teams.</a:t>
            </a:r>
            <a:endParaRPr/>
          </a:p>
          <a:p>
            <a:pPr indent="-342900" lvl="0" marL="342900" rtl="0" algn="l">
              <a:spcBef>
                <a:spcPts val="496"/>
              </a:spcBef>
              <a:spcAft>
                <a:spcPts val="0"/>
              </a:spcAft>
              <a:buClr>
                <a:schemeClr val="dk1"/>
              </a:buClr>
              <a:buSzPct val="100000"/>
              <a:buChar char="•"/>
            </a:pPr>
            <a:r>
              <a:rPr lang="en-US"/>
              <a:t>Uses visual models for applications and infrastructure</a:t>
            </a:r>
            <a:endParaRPr/>
          </a:p>
          <a:p>
            <a:pPr indent="-342900" lvl="0" marL="342900" rtl="0" algn="l">
              <a:spcBef>
                <a:spcPts val="496"/>
              </a:spcBef>
              <a:spcAft>
                <a:spcPts val="0"/>
              </a:spcAft>
              <a:buClr>
                <a:schemeClr val="dk1"/>
              </a:buClr>
              <a:buSzPct val="100000"/>
              <a:buChar char="•"/>
            </a:pPr>
            <a:r>
              <a:rPr lang="en-US"/>
              <a:t>Integrates easily into development workflows</a:t>
            </a:r>
            <a:endParaRPr/>
          </a:p>
          <a:p>
            <a:pPr indent="-342900" lvl="0" marL="342900" rtl="0" algn="l">
              <a:spcBef>
                <a:spcPts val="496"/>
              </a:spcBef>
              <a:spcAft>
                <a:spcPts val="0"/>
              </a:spcAft>
              <a:buClr>
                <a:schemeClr val="dk1"/>
              </a:buClr>
              <a:buSzPct val="100000"/>
              <a:buChar char="•"/>
            </a:pPr>
            <a:r>
              <a:rPr lang="en-US"/>
              <a:t>Does not require deep security knowledge</a:t>
            </a:r>
            <a:endParaRPr/>
          </a:p>
          <a:p>
            <a:pPr indent="-342900" lvl="0" marL="342900" rtl="0" algn="l">
              <a:spcBef>
                <a:spcPts val="496"/>
              </a:spcBef>
              <a:spcAft>
                <a:spcPts val="0"/>
              </a:spcAft>
              <a:buClr>
                <a:schemeClr val="dk1"/>
              </a:buClr>
              <a:buSzPct val="100000"/>
              <a:buChar char="•"/>
            </a:pPr>
            <a:r>
              <a:rPr b="1" lang="en-US"/>
              <a:t>6. Attack Tree</a:t>
            </a:r>
            <a:endParaRPr/>
          </a:p>
          <a:p>
            <a:pPr indent="-342900" lvl="0" marL="342900" rtl="0" algn="l">
              <a:spcBef>
                <a:spcPts val="496"/>
              </a:spcBef>
              <a:spcAft>
                <a:spcPts val="0"/>
              </a:spcAft>
              <a:buClr>
                <a:schemeClr val="dk1"/>
              </a:buClr>
              <a:buSzPct val="100000"/>
              <a:buChar char="•"/>
            </a:pPr>
            <a:r>
              <a:rPr lang="en-US"/>
              <a:t>A visual diagram showing all possible ways an attacker can reach a goal.</a:t>
            </a:r>
            <a:endParaRPr/>
          </a:p>
          <a:p>
            <a:pPr indent="-342900" lvl="0" marL="342900" rtl="0" algn="l">
              <a:spcBef>
                <a:spcPts val="496"/>
              </a:spcBef>
              <a:spcAft>
                <a:spcPts val="0"/>
              </a:spcAft>
              <a:buClr>
                <a:schemeClr val="dk1"/>
              </a:buClr>
              <a:buSzPct val="100000"/>
              <a:buChar char="•"/>
            </a:pPr>
            <a:r>
              <a:rPr lang="en-US"/>
              <a:t>Hierarchical structure with AND/OR logic</a:t>
            </a:r>
            <a:endParaRPr/>
          </a:p>
          <a:p>
            <a:pPr indent="-342900" lvl="0" marL="342900" rtl="0" algn="l">
              <a:spcBef>
                <a:spcPts val="496"/>
              </a:spcBef>
              <a:spcAft>
                <a:spcPts val="0"/>
              </a:spcAft>
              <a:buClr>
                <a:schemeClr val="dk1"/>
              </a:buClr>
              <a:buSzPct val="100000"/>
              <a:buChar char="•"/>
            </a:pPr>
            <a:r>
              <a:rPr lang="en-US"/>
              <a:t>Helps analyze multiple attack paths</a:t>
            </a:r>
            <a:endParaRPr/>
          </a:p>
          <a:p>
            <a:pPr indent="-342900" lvl="0" marL="342900" rtl="0" algn="l">
              <a:spcBef>
                <a:spcPts val="496"/>
              </a:spcBef>
              <a:spcAft>
                <a:spcPts val="0"/>
              </a:spcAft>
              <a:buClr>
                <a:schemeClr val="dk1"/>
              </a:buClr>
              <a:buSzPct val="100000"/>
              <a:buChar char="•"/>
            </a:pPr>
            <a:r>
              <a:rPr lang="en-US"/>
              <a:t>Supports structured reasoning about attack feasibility</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92" name="Google Shape;292;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7. CVSS (Common Vulnerability Scoring System)</a:t>
            </a:r>
            <a:endParaRPr/>
          </a:p>
          <a:p>
            <a:pPr indent="-342900" lvl="0" marL="342900" rtl="0" algn="l">
              <a:spcBef>
                <a:spcPts val="496"/>
              </a:spcBef>
              <a:spcAft>
                <a:spcPts val="0"/>
              </a:spcAft>
              <a:buClr>
                <a:schemeClr val="dk1"/>
              </a:buClr>
              <a:buSzPct val="100000"/>
              <a:buChar char="•"/>
            </a:pPr>
            <a:r>
              <a:rPr lang="en-US"/>
              <a:t>A standardized scoring method to rate vulnerability severity (0–10).</a:t>
            </a:r>
            <a:endParaRPr/>
          </a:p>
          <a:p>
            <a:pPr indent="-342900" lvl="0" marL="342900" rtl="0" algn="l">
              <a:spcBef>
                <a:spcPts val="496"/>
              </a:spcBef>
              <a:spcAft>
                <a:spcPts val="0"/>
              </a:spcAft>
              <a:buClr>
                <a:schemeClr val="dk1"/>
              </a:buClr>
              <a:buSzPct val="100000"/>
              <a:buChar char="•"/>
            </a:pPr>
            <a:r>
              <a:rPr lang="en-US"/>
              <a:t>Uses metrics like impact, exploitability, complexity</a:t>
            </a:r>
            <a:endParaRPr/>
          </a:p>
          <a:p>
            <a:pPr indent="-342900" lvl="0" marL="342900" rtl="0" algn="l">
              <a:spcBef>
                <a:spcPts val="496"/>
              </a:spcBef>
              <a:spcAft>
                <a:spcPts val="0"/>
              </a:spcAft>
              <a:buClr>
                <a:schemeClr val="dk1"/>
              </a:buClr>
              <a:buSzPct val="100000"/>
              <a:buChar char="•"/>
            </a:pPr>
            <a:r>
              <a:rPr lang="en-US"/>
              <a:t>Helps prioritize vulnerability patching</a:t>
            </a:r>
            <a:endParaRPr/>
          </a:p>
          <a:p>
            <a:pPr indent="-342900" lvl="0" marL="342900" rtl="0" algn="l">
              <a:spcBef>
                <a:spcPts val="496"/>
              </a:spcBef>
              <a:spcAft>
                <a:spcPts val="0"/>
              </a:spcAft>
              <a:buClr>
                <a:schemeClr val="dk1"/>
              </a:buClr>
              <a:buSzPct val="100000"/>
              <a:buChar char="•"/>
            </a:pPr>
            <a:r>
              <a:rPr lang="en-US"/>
              <a:t>Offers consistent, industry-wide scoring</a:t>
            </a:r>
            <a:endParaRPr/>
          </a:p>
          <a:p>
            <a:pPr indent="-342900" lvl="0" marL="342900" rtl="0" algn="l">
              <a:spcBef>
                <a:spcPts val="496"/>
              </a:spcBef>
              <a:spcAft>
                <a:spcPts val="0"/>
              </a:spcAft>
              <a:buClr>
                <a:schemeClr val="dk1"/>
              </a:buClr>
              <a:buSzPct val="100000"/>
              <a:buChar char="•"/>
            </a:pPr>
            <a:r>
              <a:rPr b="1" lang="en-US"/>
              <a:t>8. T-MAP</a:t>
            </a:r>
            <a:endParaRPr/>
          </a:p>
          <a:p>
            <a:pPr indent="-342900" lvl="0" marL="342900" rtl="0" algn="l">
              <a:spcBef>
                <a:spcPts val="496"/>
              </a:spcBef>
              <a:spcAft>
                <a:spcPts val="0"/>
              </a:spcAft>
              <a:buClr>
                <a:schemeClr val="dk1"/>
              </a:buClr>
              <a:buSzPct val="100000"/>
              <a:buChar char="•"/>
            </a:pPr>
            <a:r>
              <a:rPr lang="en-US"/>
              <a:t>A modeling method used for COTS systems using UML diagrams.</a:t>
            </a:r>
            <a:endParaRPr/>
          </a:p>
          <a:p>
            <a:pPr indent="-342900" lvl="0" marL="342900" rtl="0" algn="l">
              <a:spcBef>
                <a:spcPts val="496"/>
              </a:spcBef>
              <a:spcAft>
                <a:spcPts val="0"/>
              </a:spcAft>
              <a:buClr>
                <a:schemeClr val="dk1"/>
              </a:buClr>
              <a:buSzPct val="100000"/>
              <a:buChar char="•"/>
            </a:pPr>
            <a:r>
              <a:rPr lang="en-US"/>
              <a:t>Identifies asset vulnerabilities and attack paths</a:t>
            </a:r>
            <a:endParaRPr/>
          </a:p>
          <a:p>
            <a:pPr indent="-342900" lvl="0" marL="342900" rtl="0" algn="l">
              <a:spcBef>
                <a:spcPts val="496"/>
              </a:spcBef>
              <a:spcAft>
                <a:spcPts val="0"/>
              </a:spcAft>
              <a:buClr>
                <a:schemeClr val="dk1"/>
              </a:buClr>
              <a:buSzPct val="100000"/>
              <a:buChar char="•"/>
            </a:pPr>
            <a:r>
              <a:rPr lang="en-US"/>
              <a:t>Calculates risk based on asset–threat relationships</a:t>
            </a:r>
            <a:endParaRPr/>
          </a:p>
          <a:p>
            <a:pPr indent="-342900" lvl="0" marL="342900" rtl="0" algn="l">
              <a:spcBef>
                <a:spcPts val="496"/>
              </a:spcBef>
              <a:spcAft>
                <a:spcPts val="0"/>
              </a:spcAft>
              <a:buClr>
                <a:schemeClr val="dk1"/>
              </a:buClr>
              <a:buSzPct val="100000"/>
              <a:buChar char="•"/>
            </a:pPr>
            <a:r>
              <a:rPr lang="en-US"/>
              <a:t>Supports structured evaluation for packaged systems</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Tools for Threat Modelling</a:t>
            </a:r>
            <a:br>
              <a:rPr b="1" lang="en-US"/>
            </a:br>
            <a:endParaRPr b="1"/>
          </a:p>
        </p:txBody>
      </p:sp>
      <p:sp>
        <p:nvSpPr>
          <p:cNvPr id="298" name="Google Shape;298;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spcBef>
                <a:spcPts val="0"/>
              </a:spcBef>
              <a:spcAft>
                <a:spcPts val="0"/>
              </a:spcAft>
              <a:buClr>
                <a:schemeClr val="dk1"/>
              </a:buClr>
              <a:buSzPct val="100000"/>
              <a:buNone/>
            </a:pPr>
            <a:r>
              <a:rPr lang="en-US"/>
              <a:t>These tools help automate and streamline the threat modeling process, enabling teams to identify, assess, and mitigate security risks more efficiently throughout the software development lifecycle.</a:t>
            </a:r>
            <a:endParaRPr/>
          </a:p>
          <a:p>
            <a:pPr indent="-342900" lvl="0" marL="342900" rtl="0" algn="just">
              <a:spcBef>
                <a:spcPts val="496"/>
              </a:spcBef>
              <a:spcAft>
                <a:spcPts val="0"/>
              </a:spcAft>
              <a:buClr>
                <a:schemeClr val="dk1"/>
              </a:buClr>
              <a:buSzPct val="100000"/>
              <a:buChar char="•"/>
            </a:pPr>
            <a:r>
              <a:rPr lang="en-US"/>
              <a:t>Microsoft's Threat Modelling Tool</a:t>
            </a:r>
            <a:endParaRPr/>
          </a:p>
          <a:p>
            <a:pPr indent="-342900" lvl="0" marL="342900" rtl="0" algn="just">
              <a:spcBef>
                <a:spcPts val="496"/>
              </a:spcBef>
              <a:spcAft>
                <a:spcPts val="0"/>
              </a:spcAft>
              <a:buClr>
                <a:schemeClr val="dk1"/>
              </a:buClr>
              <a:buSzPct val="100000"/>
              <a:buChar char="•"/>
            </a:pPr>
            <a:r>
              <a:rPr lang="en-US"/>
              <a:t>MyAppSecurity</a:t>
            </a:r>
            <a:endParaRPr/>
          </a:p>
          <a:p>
            <a:pPr indent="-342900" lvl="0" marL="342900" rtl="0" algn="just">
              <a:spcBef>
                <a:spcPts val="496"/>
              </a:spcBef>
              <a:spcAft>
                <a:spcPts val="0"/>
              </a:spcAft>
              <a:buClr>
                <a:schemeClr val="dk1"/>
              </a:buClr>
              <a:buSzPct val="100000"/>
              <a:buChar char="•"/>
            </a:pPr>
            <a:r>
              <a:rPr lang="en-US"/>
              <a:t>IriuRisk</a:t>
            </a:r>
            <a:endParaRPr/>
          </a:p>
          <a:p>
            <a:pPr indent="-342900" lvl="0" marL="342900" rtl="0" algn="just">
              <a:spcBef>
                <a:spcPts val="496"/>
              </a:spcBef>
              <a:spcAft>
                <a:spcPts val="0"/>
              </a:spcAft>
              <a:buClr>
                <a:schemeClr val="dk1"/>
              </a:buClr>
              <a:buSzPct val="100000"/>
              <a:buChar char="•"/>
            </a:pPr>
            <a:r>
              <a:rPr lang="en-US"/>
              <a:t>securiCAD</a:t>
            </a:r>
            <a:endParaRPr/>
          </a:p>
          <a:p>
            <a:pPr indent="-342900" lvl="0" marL="342900" rtl="0" algn="just">
              <a:spcBef>
                <a:spcPts val="496"/>
              </a:spcBef>
              <a:spcAft>
                <a:spcPts val="0"/>
              </a:spcAft>
              <a:buClr>
                <a:schemeClr val="dk1"/>
              </a:buClr>
              <a:buSzPct val="100000"/>
              <a:buChar char="•"/>
            </a:pPr>
            <a:r>
              <a:rPr lang="en-US"/>
              <a:t>SD Elements by Security Compass</a:t>
            </a:r>
            <a:endParaRPr/>
          </a:p>
          <a:p>
            <a:pPr indent="-342900" lvl="0" marL="342900" rtl="0" algn="just">
              <a:spcBef>
                <a:spcPts val="496"/>
              </a:spcBef>
              <a:spcAft>
                <a:spcPts val="0"/>
              </a:spcAft>
              <a:buClr>
                <a:schemeClr val="dk1"/>
              </a:buClr>
              <a:buSzPct val="100000"/>
              <a:buChar char="•"/>
            </a:pPr>
            <a:r>
              <a:rPr lang="en-US"/>
              <a:t>Modeling Attack Trees</a:t>
            </a:r>
            <a:endParaRPr/>
          </a:p>
          <a:p>
            <a:pPr indent="-342900" lvl="0" marL="342900" rtl="0" algn="just">
              <a:spcBef>
                <a:spcPts val="496"/>
              </a:spcBef>
              <a:spcAft>
                <a:spcPts val="0"/>
              </a:spcAft>
              <a:buClr>
                <a:schemeClr val="dk1"/>
              </a:buClr>
              <a:buSzPct val="100000"/>
              <a:buChar char="•"/>
            </a:pPr>
            <a:r>
              <a:rPr lang="en-US"/>
              <a:t>CVSS 3.0</a:t>
            </a:r>
            <a:endParaRPr/>
          </a:p>
          <a:p>
            <a:pPr indent="-342900" lvl="0" marL="342900" rtl="0" algn="just">
              <a:spcBef>
                <a:spcPts val="496"/>
              </a:spcBef>
              <a:spcAft>
                <a:spcPts val="0"/>
              </a:spcAft>
              <a:buClr>
                <a:schemeClr val="dk1"/>
              </a:buClr>
              <a:buSzPct val="100000"/>
              <a:buChar char="•"/>
            </a:pPr>
            <a:r>
              <a:rPr lang="en-US"/>
              <a:t>Tiramisu</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Access Control</a:t>
            </a:r>
            <a:br>
              <a:rPr b="1" lang="en-US"/>
            </a:br>
            <a:endParaRPr/>
          </a:p>
        </p:txBody>
      </p:sp>
      <p:sp>
        <p:nvSpPr>
          <p:cNvPr id="304" name="Google Shape;304;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Access control is a security mechanism that defines who can access information, systems, or physical spaces. It ensures that only authorized people or processes get the right level of access, reducing security risks.</a:t>
            </a:r>
            <a:endParaRPr/>
          </a:p>
          <a:p>
            <a:pPr indent="-285750" lvl="1" marL="742950" rtl="0" algn="l">
              <a:spcBef>
                <a:spcPts val="518"/>
              </a:spcBef>
              <a:spcAft>
                <a:spcPts val="0"/>
              </a:spcAft>
              <a:buClr>
                <a:schemeClr val="dk1"/>
              </a:buClr>
              <a:buSzPct val="100000"/>
              <a:buChar char="–"/>
            </a:pPr>
            <a:r>
              <a:rPr lang="en-US"/>
              <a:t>Ensures only verified users can access resources</a:t>
            </a:r>
            <a:endParaRPr/>
          </a:p>
          <a:p>
            <a:pPr indent="-285750" lvl="1" marL="742950" rtl="0" algn="l">
              <a:spcBef>
                <a:spcPts val="518"/>
              </a:spcBef>
              <a:spcAft>
                <a:spcPts val="0"/>
              </a:spcAft>
              <a:buClr>
                <a:schemeClr val="dk1"/>
              </a:buClr>
              <a:buSzPct val="100000"/>
              <a:buChar char="–"/>
            </a:pPr>
            <a:r>
              <a:rPr lang="en-US"/>
              <a:t>Uses authentication + authorization to control permissions</a:t>
            </a:r>
            <a:endParaRPr/>
          </a:p>
          <a:p>
            <a:pPr indent="-285750" lvl="1" marL="742950" rtl="0" algn="l">
              <a:spcBef>
                <a:spcPts val="518"/>
              </a:spcBef>
              <a:spcAft>
                <a:spcPts val="0"/>
              </a:spcAft>
              <a:buClr>
                <a:schemeClr val="dk1"/>
              </a:buClr>
              <a:buSzPct val="100000"/>
              <a:buChar char="–"/>
            </a:pPr>
            <a:r>
              <a:rPr lang="en-US"/>
              <a:t>Protects both digital systems and physical spaces</a:t>
            </a:r>
            <a:endParaRPr/>
          </a:p>
          <a:p>
            <a:pPr indent="-285750" lvl="1" marL="742950" rtl="0" algn="l">
              <a:spcBef>
                <a:spcPts val="518"/>
              </a:spcBef>
              <a:spcAft>
                <a:spcPts val="0"/>
              </a:spcAft>
              <a:buClr>
                <a:schemeClr val="dk1"/>
              </a:buClr>
              <a:buSzPct val="100000"/>
              <a:buChar char="–"/>
            </a:pPr>
            <a:r>
              <a:rPr lang="en-US"/>
              <a:t>Supports security, compliance, and accountability</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Types of Access Control</a:t>
            </a:r>
            <a:br>
              <a:rPr b="1" lang="en-US"/>
            </a:br>
            <a:endParaRPr/>
          </a:p>
        </p:txBody>
      </p:sp>
      <p:pic>
        <p:nvPicPr>
          <p:cNvPr id="310" name="Google Shape;310;p39"/>
          <p:cNvPicPr preferRelativeResize="0"/>
          <p:nvPr>
            <p:ph idx="1" type="body"/>
          </p:nvPr>
        </p:nvPicPr>
        <p:blipFill rotWithShape="1">
          <a:blip r:embed="rId3">
            <a:alphaModFix/>
          </a:blip>
          <a:srcRect b="0" l="0" r="0" t="0"/>
          <a:stretch/>
        </p:blipFill>
        <p:spPr>
          <a:xfrm>
            <a:off x="1475656" y="1700808"/>
            <a:ext cx="6264696" cy="343237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16" name="Google Shape;316;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b="1" lang="en-US"/>
              <a:t>1. Discretionary Access Control (DAC)</a:t>
            </a:r>
            <a:endParaRPr/>
          </a:p>
          <a:p>
            <a:pPr indent="-342900" lvl="0" marL="342900" rtl="0" algn="l">
              <a:spcBef>
                <a:spcPts val="544"/>
              </a:spcBef>
              <a:spcAft>
                <a:spcPts val="0"/>
              </a:spcAft>
              <a:buClr>
                <a:schemeClr val="dk1"/>
              </a:buClr>
              <a:buSzPct val="100000"/>
              <a:buChar char="•"/>
            </a:pPr>
            <a:r>
              <a:rPr lang="en-US"/>
              <a:t>Access is controlled by the owner of the resource.</a:t>
            </a:r>
            <a:endParaRPr/>
          </a:p>
          <a:p>
            <a:pPr indent="-342900" lvl="0" marL="342900" rtl="0" algn="l">
              <a:spcBef>
                <a:spcPts val="544"/>
              </a:spcBef>
              <a:spcAft>
                <a:spcPts val="0"/>
              </a:spcAft>
              <a:buClr>
                <a:schemeClr val="dk1"/>
              </a:buClr>
              <a:buSzPct val="100000"/>
              <a:buChar char="•"/>
            </a:pPr>
            <a:r>
              <a:rPr lang="en-US"/>
              <a:t>Owners decide who gets access</a:t>
            </a:r>
            <a:endParaRPr/>
          </a:p>
          <a:p>
            <a:pPr indent="-342900" lvl="0" marL="342900" rtl="0" algn="l">
              <a:spcBef>
                <a:spcPts val="544"/>
              </a:spcBef>
              <a:spcAft>
                <a:spcPts val="0"/>
              </a:spcAft>
              <a:buClr>
                <a:schemeClr val="dk1"/>
              </a:buClr>
              <a:buSzPct val="100000"/>
              <a:buChar char="•"/>
            </a:pPr>
            <a:r>
              <a:rPr lang="en-US"/>
              <a:t>Flexible but less secure</a:t>
            </a:r>
            <a:endParaRPr/>
          </a:p>
          <a:p>
            <a:pPr indent="-342900" lvl="0" marL="342900" rtl="0" algn="l">
              <a:spcBef>
                <a:spcPts val="544"/>
              </a:spcBef>
              <a:spcAft>
                <a:spcPts val="0"/>
              </a:spcAft>
              <a:buClr>
                <a:schemeClr val="dk1"/>
              </a:buClr>
              <a:buSzPct val="100000"/>
              <a:buChar char="•"/>
            </a:pPr>
            <a:r>
              <a:rPr lang="en-US"/>
              <a:t>Common in personal computers and small systems</a:t>
            </a:r>
            <a:endParaRPr/>
          </a:p>
          <a:p>
            <a:pPr indent="-342900" lvl="0" marL="342900" rtl="0" algn="l">
              <a:spcBef>
                <a:spcPts val="544"/>
              </a:spcBef>
              <a:spcAft>
                <a:spcPts val="0"/>
              </a:spcAft>
              <a:buClr>
                <a:schemeClr val="dk1"/>
              </a:buClr>
              <a:buSzPct val="100000"/>
              <a:buChar char="•"/>
            </a:pPr>
            <a:r>
              <a:rPr b="1" lang="en-US"/>
              <a:t>2. Mandatory Access Control (MAC)</a:t>
            </a:r>
            <a:endParaRPr/>
          </a:p>
          <a:p>
            <a:pPr indent="-342900" lvl="0" marL="342900" rtl="0" algn="l">
              <a:spcBef>
                <a:spcPts val="544"/>
              </a:spcBef>
              <a:spcAft>
                <a:spcPts val="0"/>
              </a:spcAft>
              <a:buClr>
                <a:schemeClr val="dk1"/>
              </a:buClr>
              <a:buSzPct val="100000"/>
              <a:buChar char="•"/>
            </a:pPr>
            <a:r>
              <a:rPr lang="en-US"/>
              <a:t>A central authority enforces access based on strict security levels.</a:t>
            </a:r>
            <a:endParaRPr/>
          </a:p>
          <a:p>
            <a:pPr indent="-342900" lvl="0" marL="342900" rtl="0" algn="l">
              <a:spcBef>
                <a:spcPts val="544"/>
              </a:spcBef>
              <a:spcAft>
                <a:spcPts val="0"/>
              </a:spcAft>
              <a:buClr>
                <a:schemeClr val="dk1"/>
              </a:buClr>
              <a:buSzPct val="100000"/>
              <a:buChar char="•"/>
            </a:pPr>
            <a:r>
              <a:rPr lang="en-US"/>
              <a:t>Used in high-security environments</a:t>
            </a:r>
            <a:endParaRPr/>
          </a:p>
          <a:p>
            <a:pPr indent="-342900" lvl="0" marL="342900" rtl="0" algn="l">
              <a:spcBef>
                <a:spcPts val="544"/>
              </a:spcBef>
              <a:spcAft>
                <a:spcPts val="0"/>
              </a:spcAft>
              <a:buClr>
                <a:schemeClr val="dk1"/>
              </a:buClr>
              <a:buSzPct val="100000"/>
              <a:buChar char="•"/>
            </a:pPr>
            <a:r>
              <a:rPr lang="en-US"/>
              <a:t>Users cannot change permissions</a:t>
            </a:r>
            <a:endParaRPr/>
          </a:p>
          <a:p>
            <a:pPr indent="-342900" lvl="0" marL="342900" rtl="0" algn="l">
              <a:spcBef>
                <a:spcPts val="544"/>
              </a:spcBef>
              <a:spcAft>
                <a:spcPts val="0"/>
              </a:spcAft>
              <a:buClr>
                <a:schemeClr val="dk1"/>
              </a:buClr>
              <a:buSzPct val="100000"/>
              <a:buChar char="•"/>
            </a:pPr>
            <a:r>
              <a:rPr lang="en-US"/>
              <a:t>Example: Military or government systems, SELinux</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2" name="Google Shape;322;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b="1" lang="en-US"/>
              <a:t>3. Role-Based Access Control (RBAC)</a:t>
            </a:r>
            <a:endParaRPr/>
          </a:p>
          <a:p>
            <a:pPr indent="-342900" lvl="0" marL="342900" rtl="0" algn="l">
              <a:spcBef>
                <a:spcPts val="544"/>
              </a:spcBef>
              <a:spcAft>
                <a:spcPts val="0"/>
              </a:spcAft>
              <a:buClr>
                <a:schemeClr val="dk1"/>
              </a:buClr>
              <a:buSzPct val="100000"/>
              <a:buChar char="•"/>
            </a:pPr>
            <a:r>
              <a:rPr lang="en-US"/>
              <a:t>Users receive permissions based on their job roles.</a:t>
            </a:r>
            <a:endParaRPr/>
          </a:p>
          <a:p>
            <a:pPr indent="-342900" lvl="0" marL="342900" rtl="0" algn="l">
              <a:spcBef>
                <a:spcPts val="544"/>
              </a:spcBef>
              <a:spcAft>
                <a:spcPts val="0"/>
              </a:spcAft>
              <a:buClr>
                <a:schemeClr val="dk1"/>
              </a:buClr>
              <a:buSzPct val="100000"/>
              <a:buChar char="•"/>
            </a:pPr>
            <a:r>
              <a:rPr lang="en-US"/>
              <a:t>Simplifies large-scale permission management</a:t>
            </a:r>
            <a:endParaRPr/>
          </a:p>
          <a:p>
            <a:pPr indent="-342900" lvl="0" marL="342900" rtl="0" algn="l">
              <a:spcBef>
                <a:spcPts val="544"/>
              </a:spcBef>
              <a:spcAft>
                <a:spcPts val="0"/>
              </a:spcAft>
              <a:buClr>
                <a:schemeClr val="dk1"/>
              </a:buClr>
              <a:buSzPct val="100000"/>
              <a:buChar char="•"/>
            </a:pPr>
            <a:r>
              <a:rPr lang="en-US"/>
              <a:t>Reduces human error and misuse</a:t>
            </a:r>
            <a:endParaRPr/>
          </a:p>
          <a:p>
            <a:pPr indent="-342900" lvl="0" marL="342900" rtl="0" algn="l">
              <a:spcBef>
                <a:spcPts val="544"/>
              </a:spcBef>
              <a:spcAft>
                <a:spcPts val="0"/>
              </a:spcAft>
              <a:buClr>
                <a:schemeClr val="dk1"/>
              </a:buClr>
              <a:buSzPct val="100000"/>
              <a:buChar char="•"/>
            </a:pPr>
            <a:r>
              <a:rPr lang="en-US"/>
              <a:t>Example: HR role cannot create network accounts</a:t>
            </a:r>
            <a:endParaRPr/>
          </a:p>
          <a:p>
            <a:pPr indent="-342900" lvl="0" marL="342900" rtl="0" algn="l">
              <a:spcBef>
                <a:spcPts val="544"/>
              </a:spcBef>
              <a:spcAft>
                <a:spcPts val="0"/>
              </a:spcAft>
              <a:buClr>
                <a:schemeClr val="dk1"/>
              </a:buClr>
              <a:buSzPct val="100000"/>
              <a:buChar char="•"/>
            </a:pPr>
            <a:r>
              <a:rPr b="1" lang="en-US"/>
              <a:t>4. Attribute-Based Access Control (ABAC)</a:t>
            </a:r>
            <a:endParaRPr/>
          </a:p>
          <a:p>
            <a:pPr indent="-342900" lvl="0" marL="342900" rtl="0" algn="l">
              <a:spcBef>
                <a:spcPts val="544"/>
              </a:spcBef>
              <a:spcAft>
                <a:spcPts val="0"/>
              </a:spcAft>
              <a:buClr>
                <a:schemeClr val="dk1"/>
              </a:buClr>
              <a:buSzPct val="100000"/>
              <a:buChar char="•"/>
            </a:pPr>
            <a:r>
              <a:rPr lang="en-US"/>
              <a:t>Access decisions are based on multiple attributes (user, device, environment).</a:t>
            </a:r>
            <a:endParaRPr/>
          </a:p>
          <a:p>
            <a:pPr indent="-342900" lvl="0" marL="342900" rtl="0" algn="l">
              <a:spcBef>
                <a:spcPts val="544"/>
              </a:spcBef>
              <a:spcAft>
                <a:spcPts val="0"/>
              </a:spcAft>
              <a:buClr>
                <a:schemeClr val="dk1"/>
              </a:buClr>
              <a:buSzPct val="100000"/>
              <a:buChar char="•"/>
            </a:pPr>
            <a:r>
              <a:rPr lang="en-US"/>
              <a:t>Highly dynamic and flexible</a:t>
            </a:r>
            <a:endParaRPr/>
          </a:p>
          <a:p>
            <a:pPr indent="-342900" lvl="0" marL="342900" rtl="0" algn="l">
              <a:spcBef>
                <a:spcPts val="544"/>
              </a:spcBef>
              <a:spcAft>
                <a:spcPts val="0"/>
              </a:spcAft>
              <a:buClr>
                <a:schemeClr val="dk1"/>
              </a:buClr>
              <a:buSzPct val="100000"/>
              <a:buChar char="•"/>
            </a:pPr>
            <a:r>
              <a:rPr lang="en-US"/>
              <a:t>Evaluates policies using many attributes</a:t>
            </a:r>
            <a:endParaRPr/>
          </a:p>
          <a:p>
            <a:pPr indent="-342900" lvl="0" marL="342900" rtl="0" algn="l">
              <a:spcBef>
                <a:spcPts val="544"/>
              </a:spcBef>
              <a:spcAft>
                <a:spcPts val="0"/>
              </a:spcAft>
              <a:buClr>
                <a:schemeClr val="dk1"/>
              </a:buClr>
              <a:buSzPct val="100000"/>
              <a:buChar char="•"/>
            </a:pPr>
            <a:r>
              <a:rPr lang="en-US"/>
              <a:t>Useful in modern cloud and zero-trust systems</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8" name="Google Shape;328;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5. Rule-Based Access Control (Ru-BAC)</a:t>
            </a:r>
            <a:endParaRPr/>
          </a:p>
          <a:p>
            <a:pPr indent="-342900" lvl="0" marL="342900" rtl="0" algn="l">
              <a:spcBef>
                <a:spcPts val="496"/>
              </a:spcBef>
              <a:spcAft>
                <a:spcPts val="0"/>
              </a:spcAft>
              <a:buClr>
                <a:schemeClr val="dk1"/>
              </a:buClr>
              <a:buSzPct val="100000"/>
              <a:buChar char="•"/>
            </a:pPr>
            <a:r>
              <a:rPr lang="en-US"/>
              <a:t>Access is granted based on predefined rules or conditions.</a:t>
            </a:r>
            <a:endParaRPr/>
          </a:p>
          <a:p>
            <a:pPr indent="-342900" lvl="0" marL="342900" rtl="0" algn="l">
              <a:spcBef>
                <a:spcPts val="496"/>
              </a:spcBef>
              <a:spcAft>
                <a:spcPts val="0"/>
              </a:spcAft>
              <a:buClr>
                <a:schemeClr val="dk1"/>
              </a:buClr>
              <a:buSzPct val="100000"/>
              <a:buChar char="•"/>
            </a:pPr>
            <a:r>
              <a:rPr lang="en-US"/>
              <a:t>Often time-based or context-based</a:t>
            </a:r>
            <a:endParaRPr/>
          </a:p>
          <a:p>
            <a:pPr indent="-342900" lvl="0" marL="342900" rtl="0" algn="l">
              <a:spcBef>
                <a:spcPts val="496"/>
              </a:spcBef>
              <a:spcAft>
                <a:spcPts val="0"/>
              </a:spcAft>
              <a:buClr>
                <a:schemeClr val="dk1"/>
              </a:buClr>
              <a:buSzPct val="100000"/>
              <a:buChar char="•"/>
            </a:pPr>
            <a:r>
              <a:rPr lang="en-US"/>
              <a:t>System automatically enforces rules</a:t>
            </a:r>
            <a:endParaRPr/>
          </a:p>
          <a:p>
            <a:pPr indent="-342900" lvl="0" marL="342900" rtl="0" algn="l">
              <a:spcBef>
                <a:spcPts val="496"/>
              </a:spcBef>
              <a:spcAft>
                <a:spcPts val="0"/>
              </a:spcAft>
              <a:buClr>
                <a:schemeClr val="dk1"/>
              </a:buClr>
              <a:buSzPct val="100000"/>
              <a:buChar char="•"/>
            </a:pPr>
            <a:r>
              <a:rPr lang="en-US"/>
              <a:t>Example: Students allowed lab access only during class hours</a:t>
            </a:r>
            <a:endParaRPr/>
          </a:p>
          <a:p>
            <a:pPr indent="-342900" lvl="0" marL="342900" rtl="0" algn="l">
              <a:spcBef>
                <a:spcPts val="496"/>
              </a:spcBef>
              <a:spcAft>
                <a:spcPts val="0"/>
              </a:spcAft>
              <a:buClr>
                <a:schemeClr val="dk1"/>
              </a:buClr>
              <a:buSzPct val="100000"/>
              <a:buChar char="•"/>
            </a:pPr>
            <a:r>
              <a:rPr b="1" lang="en-US"/>
              <a:t>6. Organization-Based Access Control (Or-BAC)</a:t>
            </a:r>
            <a:endParaRPr/>
          </a:p>
          <a:p>
            <a:pPr indent="-342900" lvl="0" marL="342900" rtl="0" algn="l">
              <a:spcBef>
                <a:spcPts val="496"/>
              </a:spcBef>
              <a:spcAft>
                <a:spcPts val="0"/>
              </a:spcAft>
              <a:buClr>
                <a:schemeClr val="dk1"/>
              </a:buClr>
              <a:buSzPct val="100000"/>
              <a:buChar char="•"/>
            </a:pPr>
            <a:r>
              <a:rPr lang="en-US"/>
              <a:t>Access policies are defined independently of the technical system.</a:t>
            </a:r>
            <a:endParaRPr/>
          </a:p>
          <a:p>
            <a:pPr indent="-342900" lvl="0" marL="342900" rtl="0" algn="l">
              <a:spcBef>
                <a:spcPts val="496"/>
              </a:spcBef>
              <a:spcAft>
                <a:spcPts val="0"/>
              </a:spcAft>
              <a:buClr>
                <a:schemeClr val="dk1"/>
              </a:buClr>
              <a:buSzPct val="100000"/>
              <a:buChar char="•"/>
            </a:pPr>
            <a:r>
              <a:rPr lang="en-US"/>
              <a:t>Focuses on organizational rules</a:t>
            </a:r>
            <a:endParaRPr/>
          </a:p>
          <a:p>
            <a:pPr indent="-342900" lvl="0" marL="342900" rtl="0" algn="l">
              <a:spcBef>
                <a:spcPts val="496"/>
              </a:spcBef>
              <a:spcAft>
                <a:spcPts val="0"/>
              </a:spcAft>
              <a:buClr>
                <a:schemeClr val="dk1"/>
              </a:buClr>
              <a:buSzPct val="100000"/>
              <a:buChar char="•"/>
            </a:pPr>
            <a:r>
              <a:rPr lang="en-US"/>
              <a:t>Separates policy design from implementation</a:t>
            </a:r>
            <a:endParaRPr/>
          </a:p>
          <a:p>
            <a:pPr indent="-342900" lvl="0" marL="342900" rtl="0" algn="l">
              <a:spcBef>
                <a:spcPts val="496"/>
              </a:spcBef>
              <a:spcAft>
                <a:spcPts val="0"/>
              </a:spcAft>
              <a:buClr>
                <a:schemeClr val="dk1"/>
              </a:buClr>
              <a:buSzPct val="100000"/>
              <a:buChar char="•"/>
            </a:pPr>
            <a:r>
              <a:rPr lang="en-US"/>
              <a:t>Useful for complex enterprise environments</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Categories of Access Control</a:t>
            </a:r>
            <a:br>
              <a:rPr b="1" lang="en-US"/>
            </a:br>
            <a:endParaRPr/>
          </a:p>
        </p:txBody>
      </p:sp>
      <p:sp>
        <p:nvSpPr>
          <p:cNvPr id="334" name="Google Shape;334;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1. Physical Access Control</a:t>
            </a:r>
            <a:endParaRPr/>
          </a:p>
          <a:p>
            <a:pPr indent="-342900" lvl="0" marL="342900" rtl="0" algn="l">
              <a:spcBef>
                <a:spcPts val="496"/>
              </a:spcBef>
              <a:spcAft>
                <a:spcPts val="0"/>
              </a:spcAft>
              <a:buClr>
                <a:schemeClr val="dk1"/>
              </a:buClr>
              <a:buSzPct val="100000"/>
              <a:buChar char="•"/>
            </a:pPr>
            <a:r>
              <a:rPr lang="en-US"/>
              <a:t>Controls entry to physical spaces like buildings and rooms.</a:t>
            </a:r>
            <a:endParaRPr/>
          </a:p>
          <a:p>
            <a:pPr indent="-342900" lvl="0" marL="342900" rtl="0" algn="l">
              <a:spcBef>
                <a:spcPts val="496"/>
              </a:spcBef>
              <a:spcAft>
                <a:spcPts val="0"/>
              </a:spcAft>
              <a:buClr>
                <a:schemeClr val="dk1"/>
              </a:buClr>
              <a:buSzPct val="100000"/>
              <a:buChar char="•"/>
            </a:pPr>
            <a:r>
              <a:rPr lang="en-US"/>
              <a:t>Uses badges, keycards, locks, biometrics</a:t>
            </a:r>
            <a:endParaRPr/>
          </a:p>
          <a:p>
            <a:pPr indent="-342900" lvl="0" marL="342900" rtl="0" algn="l">
              <a:spcBef>
                <a:spcPts val="496"/>
              </a:spcBef>
              <a:spcAft>
                <a:spcPts val="0"/>
              </a:spcAft>
              <a:buClr>
                <a:schemeClr val="dk1"/>
              </a:buClr>
              <a:buSzPct val="100000"/>
              <a:buChar char="•"/>
            </a:pPr>
            <a:r>
              <a:rPr lang="en-US"/>
              <a:t>Protects hardware and physical assets</a:t>
            </a:r>
            <a:endParaRPr/>
          </a:p>
          <a:p>
            <a:pPr indent="-342900" lvl="0" marL="342900" rtl="0" algn="l">
              <a:spcBef>
                <a:spcPts val="496"/>
              </a:spcBef>
              <a:spcAft>
                <a:spcPts val="0"/>
              </a:spcAft>
              <a:buClr>
                <a:schemeClr val="dk1"/>
              </a:buClr>
              <a:buSzPct val="100000"/>
              <a:buChar char="•"/>
            </a:pPr>
            <a:r>
              <a:rPr lang="en-US"/>
              <a:t>Prevents unauthorized onsite access</a:t>
            </a:r>
            <a:endParaRPr/>
          </a:p>
          <a:p>
            <a:pPr indent="-342900" lvl="0" marL="342900" rtl="0" algn="l">
              <a:spcBef>
                <a:spcPts val="496"/>
              </a:spcBef>
              <a:spcAft>
                <a:spcPts val="0"/>
              </a:spcAft>
              <a:buClr>
                <a:schemeClr val="dk1"/>
              </a:buClr>
              <a:buSzPct val="100000"/>
              <a:buChar char="•"/>
            </a:pPr>
            <a:r>
              <a:rPr b="1" lang="en-US"/>
              <a:t>2. Logical Access Control</a:t>
            </a:r>
            <a:endParaRPr/>
          </a:p>
          <a:p>
            <a:pPr indent="-342900" lvl="0" marL="342900" rtl="0" algn="l">
              <a:spcBef>
                <a:spcPts val="496"/>
              </a:spcBef>
              <a:spcAft>
                <a:spcPts val="0"/>
              </a:spcAft>
              <a:buClr>
                <a:schemeClr val="dk1"/>
              </a:buClr>
              <a:buSzPct val="100000"/>
              <a:buChar char="•"/>
            </a:pPr>
            <a:r>
              <a:rPr lang="en-US"/>
              <a:t>Controls access to digital resources like networks, systems, and data.</a:t>
            </a:r>
            <a:endParaRPr/>
          </a:p>
          <a:p>
            <a:pPr indent="-342900" lvl="0" marL="342900" rtl="0" algn="l">
              <a:spcBef>
                <a:spcPts val="496"/>
              </a:spcBef>
              <a:spcAft>
                <a:spcPts val="0"/>
              </a:spcAft>
              <a:buClr>
                <a:schemeClr val="dk1"/>
              </a:buClr>
              <a:buSzPct val="100000"/>
              <a:buChar char="•"/>
            </a:pPr>
            <a:r>
              <a:rPr lang="en-US"/>
              <a:t>Uses passwords, MFA, firewalls, permissions</a:t>
            </a:r>
            <a:endParaRPr/>
          </a:p>
          <a:p>
            <a:pPr indent="-342900" lvl="0" marL="342900" rtl="0" algn="l">
              <a:spcBef>
                <a:spcPts val="496"/>
              </a:spcBef>
              <a:spcAft>
                <a:spcPts val="0"/>
              </a:spcAft>
              <a:buClr>
                <a:schemeClr val="dk1"/>
              </a:buClr>
              <a:buSzPct val="100000"/>
              <a:buChar char="•"/>
            </a:pPr>
            <a:r>
              <a:rPr lang="en-US"/>
              <a:t>Protects sensitive digital information</a:t>
            </a:r>
            <a:endParaRPr/>
          </a:p>
          <a:p>
            <a:pPr indent="-342900" lvl="0" marL="342900" rtl="0" algn="l">
              <a:spcBef>
                <a:spcPts val="496"/>
              </a:spcBef>
              <a:spcAft>
                <a:spcPts val="0"/>
              </a:spcAft>
              <a:buClr>
                <a:schemeClr val="dk1"/>
              </a:buClr>
              <a:buSzPct val="100000"/>
              <a:buChar char="•"/>
            </a:pPr>
            <a:r>
              <a:rPr lang="en-US"/>
              <a:t>Enforced through authentication and authorization</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Email Security</a:t>
            </a:r>
            <a:endParaRPr/>
          </a:p>
        </p:txBody>
      </p:sp>
      <p:sp>
        <p:nvSpPr>
          <p:cNvPr id="340" name="Google Shape;340;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t>Email security protects your messages and data from unauthorized access, phishing, spam, and malware. </a:t>
            </a:r>
            <a:endParaRPr/>
          </a:p>
          <a:p>
            <a:pPr indent="-342900" lvl="0" marL="342900" rtl="0" algn="just">
              <a:spcBef>
                <a:spcPts val="592"/>
              </a:spcBef>
              <a:spcAft>
                <a:spcPts val="0"/>
              </a:spcAft>
              <a:buClr>
                <a:schemeClr val="dk1"/>
              </a:buClr>
              <a:buSzPct val="100000"/>
              <a:buChar char="•"/>
            </a:pPr>
            <a:r>
              <a:rPr lang="en-US"/>
              <a:t>It keeps your emails private, accurate, and safe using tools like encryption and spam filters. </a:t>
            </a:r>
            <a:endParaRPr/>
          </a:p>
          <a:p>
            <a:pPr indent="-342900" lvl="0" marL="342900" rtl="0" algn="just">
              <a:spcBef>
                <a:spcPts val="592"/>
              </a:spcBef>
              <a:spcAft>
                <a:spcPts val="0"/>
              </a:spcAft>
              <a:buClr>
                <a:schemeClr val="dk1"/>
              </a:buClr>
              <a:buSzPct val="100000"/>
              <a:buChar char="•"/>
            </a:pPr>
            <a:r>
              <a:rPr lang="en-US"/>
              <a:t>It protects against threats like phishing, spam, and malware using tools like encryption, spam filters, and two-factor authentication (2FA).</a:t>
            </a:r>
            <a:endParaRPr/>
          </a:p>
          <a:p>
            <a:pPr indent="-342900" lvl="0" marL="342900" rtl="0" algn="just">
              <a:spcBef>
                <a:spcPts val="592"/>
              </a:spcBef>
              <a:spcAft>
                <a:spcPts val="0"/>
              </a:spcAft>
              <a:buClr>
                <a:schemeClr val="dk1"/>
              </a:buClr>
              <a:buSzPct val="100000"/>
              <a:buChar char="•"/>
            </a:pPr>
            <a:r>
              <a:rPr lang="en-US"/>
              <a:t> By combining tech solutions and smart habits, you can ensure your emails stay secure.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Key Goals</a:t>
            </a:r>
            <a:r>
              <a:rPr lang="en-US"/>
              <a:t>:</a:t>
            </a:r>
            <a:br>
              <a:rPr lang="en-US"/>
            </a:br>
            <a:endParaRPr/>
          </a:p>
        </p:txBody>
      </p:sp>
      <p:sp>
        <p:nvSpPr>
          <p:cNvPr id="346" name="Google Shape;346;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Privacy</a:t>
            </a:r>
            <a:r>
              <a:rPr lang="en-US"/>
              <a:t>: Only the intended recipient reads your email.</a:t>
            </a:r>
            <a:endParaRPr/>
          </a:p>
          <a:p>
            <a:pPr indent="-342900" lvl="0" marL="342900" rtl="0" algn="l">
              <a:spcBef>
                <a:spcPts val="640"/>
              </a:spcBef>
              <a:spcAft>
                <a:spcPts val="0"/>
              </a:spcAft>
              <a:buClr>
                <a:schemeClr val="dk1"/>
              </a:buClr>
              <a:buSzPts val="3200"/>
              <a:buChar char="•"/>
            </a:pPr>
            <a:r>
              <a:rPr b="1" lang="en-US"/>
              <a:t>Accuracy</a:t>
            </a:r>
            <a:r>
              <a:rPr lang="en-US"/>
              <a:t>: Messages aren’t tampered with.</a:t>
            </a:r>
            <a:endParaRPr/>
          </a:p>
          <a:p>
            <a:pPr indent="-342900" lvl="0" marL="342900" rtl="0" algn="l">
              <a:spcBef>
                <a:spcPts val="640"/>
              </a:spcBef>
              <a:spcAft>
                <a:spcPts val="0"/>
              </a:spcAft>
              <a:buClr>
                <a:schemeClr val="dk1"/>
              </a:buClr>
              <a:buSzPts val="3200"/>
              <a:buChar char="•"/>
            </a:pPr>
            <a:r>
              <a:rPr b="1" lang="en-US"/>
              <a:t>Safety</a:t>
            </a:r>
            <a:r>
              <a:rPr lang="en-US"/>
              <a:t>: No viruses or scams sneak through.</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Types of Email Attacks</a:t>
            </a:r>
            <a:br>
              <a:rPr b="1" lang="en-US"/>
            </a:br>
            <a:endParaRPr/>
          </a:p>
        </p:txBody>
      </p:sp>
      <p:sp>
        <p:nvSpPr>
          <p:cNvPr id="352" name="Google Shape;352;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t>Phishing</a:t>
            </a:r>
            <a:endParaRPr/>
          </a:p>
          <a:p>
            <a:pPr indent="-342900" lvl="0" marL="342900" rtl="0" algn="just">
              <a:spcBef>
                <a:spcPts val="592"/>
              </a:spcBef>
              <a:spcAft>
                <a:spcPts val="0"/>
              </a:spcAft>
              <a:buClr>
                <a:schemeClr val="dk1"/>
              </a:buClr>
              <a:buSzPct val="100000"/>
              <a:buChar char="•"/>
            </a:pPr>
            <a:r>
              <a:rPr lang="en-US"/>
              <a:t>Phishing is a type of fraud where attackers impersonate trusted people or organizations—often by email, instant message, or social media—to trick victims into revealing credentials, financial data, or installing malware.</a:t>
            </a:r>
            <a:endParaRPr/>
          </a:p>
          <a:p>
            <a:pPr indent="-342900" lvl="0" marL="342900" rtl="0" algn="just">
              <a:spcBef>
                <a:spcPts val="592"/>
              </a:spcBef>
              <a:spcAft>
                <a:spcPts val="0"/>
              </a:spcAft>
              <a:buClr>
                <a:schemeClr val="dk1"/>
              </a:buClr>
              <a:buSzPct val="100000"/>
              <a:buChar char="•"/>
            </a:pPr>
            <a:r>
              <a:rPr lang="en-US"/>
              <a:t> Typical phishing messages mimic banks, vendors, or colleagues and use urgent language, fake links, or malicious attachments to prompt immediate action.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58" name="Google Shape;358;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b="1" lang="en-US"/>
              <a:t>Vishing</a:t>
            </a:r>
            <a:endParaRPr b="1"/>
          </a:p>
          <a:p>
            <a:pPr indent="-342900" lvl="0" marL="342900" rtl="0" algn="just">
              <a:spcBef>
                <a:spcPts val="544"/>
              </a:spcBef>
              <a:spcAft>
                <a:spcPts val="0"/>
              </a:spcAft>
              <a:buClr>
                <a:schemeClr val="dk1"/>
              </a:buClr>
              <a:buSzPct val="100000"/>
              <a:buChar char="•"/>
            </a:pPr>
            <a:r>
              <a:rPr lang="en-US"/>
              <a:t>Vishing (voice phishing) uses phone calls or voicemail to trick people into revealing sensitive information. </a:t>
            </a:r>
            <a:endParaRPr/>
          </a:p>
          <a:p>
            <a:pPr indent="-342900" lvl="0" marL="342900" rtl="0" algn="just">
              <a:spcBef>
                <a:spcPts val="544"/>
              </a:spcBef>
              <a:spcAft>
                <a:spcPts val="0"/>
              </a:spcAft>
              <a:buClr>
                <a:schemeClr val="dk1"/>
              </a:buClr>
              <a:buSzPct val="100000"/>
              <a:buChar char="•"/>
            </a:pPr>
            <a:r>
              <a:rPr lang="en-US"/>
              <a:t>Attackers spoof caller ID, use VoIP or prerecorded messages, and pose as banks, IT support, or colleagues to ask for verification codes, credit-card details, or remote-access permission. </a:t>
            </a:r>
            <a:endParaRPr/>
          </a:p>
          <a:p>
            <a:pPr indent="-342900" lvl="0" marL="342900" rtl="0" algn="just">
              <a:spcBef>
                <a:spcPts val="544"/>
              </a:spcBef>
              <a:spcAft>
                <a:spcPts val="0"/>
              </a:spcAft>
              <a:buClr>
                <a:schemeClr val="dk1"/>
              </a:buClr>
              <a:buSzPct val="100000"/>
              <a:buChar char="•"/>
            </a:pPr>
            <a:r>
              <a:rPr lang="en-US"/>
              <a:t>Because callers sound “real” and phone lines feel trusted, vishing often convinces victims to act quickly; targeted variants research the victim to make the call more believable.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64" name="Google Shape;364;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t>Smishing</a:t>
            </a:r>
            <a:endParaRPr b="1"/>
          </a:p>
          <a:p>
            <a:pPr indent="-342900" lvl="0" marL="342900" rtl="0" algn="l">
              <a:spcBef>
                <a:spcPts val="640"/>
              </a:spcBef>
              <a:spcAft>
                <a:spcPts val="0"/>
              </a:spcAft>
              <a:buClr>
                <a:schemeClr val="dk1"/>
              </a:buClr>
              <a:buSzPts val="3200"/>
              <a:buChar char="•"/>
            </a:pPr>
            <a:r>
              <a:rPr lang="en-US" u="sng">
                <a:solidFill>
                  <a:schemeClr val="hlink"/>
                </a:solidFill>
                <a:hlinkClick r:id="rId3"/>
              </a:rPr>
              <a:t>Smishing </a:t>
            </a:r>
            <a:r>
              <a:rPr lang="en-US"/>
              <a:t>is phishing using text messaging on mobile phones. </a:t>
            </a:r>
            <a:endParaRPr/>
          </a:p>
          <a:p>
            <a:pPr indent="-342900" lvl="0" marL="342900" rtl="0" algn="l">
              <a:spcBef>
                <a:spcPts val="640"/>
              </a:spcBef>
              <a:spcAft>
                <a:spcPts val="0"/>
              </a:spcAft>
              <a:buClr>
                <a:schemeClr val="dk1"/>
              </a:buClr>
              <a:buSzPts val="3200"/>
              <a:buChar char="•"/>
            </a:pPr>
            <a:r>
              <a:rPr lang="en-US"/>
              <a:t>Criminals impersonate a legitimate source in an attempt to gain the trust of the victim. </a:t>
            </a:r>
            <a:endParaRPr/>
          </a:p>
          <a:p>
            <a:pPr indent="-342900" lvl="0" marL="342900" rtl="0" algn="l">
              <a:spcBef>
                <a:spcPts val="640"/>
              </a:spcBef>
              <a:spcAft>
                <a:spcPts val="0"/>
              </a:spcAft>
              <a:buClr>
                <a:schemeClr val="dk1"/>
              </a:buClr>
              <a:buSzPts val="3200"/>
              <a:buChar char="•"/>
            </a:pPr>
            <a:r>
              <a:rPr lang="en-US"/>
              <a:t>For example, a smishing attack might send the victim a website link. </a:t>
            </a:r>
            <a:endParaRPr/>
          </a:p>
          <a:p>
            <a:pPr indent="-342900" lvl="0" marL="342900" rtl="0" algn="l">
              <a:spcBef>
                <a:spcPts val="640"/>
              </a:spcBef>
              <a:spcAft>
                <a:spcPts val="0"/>
              </a:spcAft>
              <a:buClr>
                <a:schemeClr val="dk1"/>
              </a:buClr>
              <a:buSzPts val="3200"/>
              <a:buChar char="•"/>
            </a:pPr>
            <a:r>
              <a:rPr lang="en-US"/>
              <a:t>When the victim visits the website, </a:t>
            </a:r>
            <a:r>
              <a:rPr lang="en-US" u="sng">
                <a:solidFill>
                  <a:schemeClr val="hlink"/>
                </a:solidFill>
                <a:hlinkClick r:id="rId4"/>
              </a:rPr>
              <a:t>malware </a:t>
            </a:r>
            <a:r>
              <a:rPr lang="en-US"/>
              <a:t>is installed on the mobile phone.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Whaling</a:t>
            </a:r>
            <a:br>
              <a:rPr b="1" lang="en-US"/>
            </a:br>
            <a:endParaRPr/>
          </a:p>
        </p:txBody>
      </p:sp>
      <p:sp>
        <p:nvSpPr>
          <p:cNvPr id="370" name="Google Shape;370;p49"/>
          <p:cNvSpPr txBox="1"/>
          <p:nvPr>
            <p:ph idx="1" type="body"/>
          </p:nvPr>
        </p:nvSpPr>
        <p:spPr>
          <a:xfrm>
            <a:off x="457200" y="980728"/>
            <a:ext cx="8229600" cy="5145435"/>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t>The </a:t>
            </a:r>
            <a:r>
              <a:rPr lang="en-US" u="sng">
                <a:solidFill>
                  <a:schemeClr val="hlink"/>
                </a:solidFill>
                <a:hlinkClick r:id="rId3"/>
              </a:rPr>
              <a:t>Whaling </a:t>
            </a:r>
            <a:r>
              <a:rPr lang="en-US"/>
              <a:t>is a phishing attack that targets high-profile targets within an organization such as senior executives. </a:t>
            </a:r>
            <a:endParaRPr/>
          </a:p>
          <a:p>
            <a:pPr indent="-342900" lvl="0" marL="342900" rtl="0" algn="just">
              <a:spcBef>
                <a:spcPts val="544"/>
              </a:spcBef>
              <a:spcAft>
                <a:spcPts val="0"/>
              </a:spcAft>
              <a:buClr>
                <a:schemeClr val="dk1"/>
              </a:buClr>
              <a:buSzPct val="100000"/>
              <a:buChar char="•"/>
            </a:pPr>
            <a:r>
              <a:rPr lang="en-US"/>
              <a:t>Additional targets include politicians or celebrities. </a:t>
            </a:r>
            <a:endParaRPr/>
          </a:p>
          <a:p>
            <a:pPr indent="-342900" lvl="0" marL="342900" rtl="0" algn="just">
              <a:spcBef>
                <a:spcPts val="544"/>
              </a:spcBef>
              <a:spcAft>
                <a:spcPts val="0"/>
              </a:spcAft>
              <a:buClr>
                <a:schemeClr val="dk1"/>
              </a:buClr>
              <a:buSzPct val="100000"/>
              <a:buChar char="•"/>
            </a:pPr>
            <a:r>
              <a:rPr lang="en-US"/>
              <a:t>Whaling is a type of spear phishing attack that targets high-level executives or other high-value targets within an organization.</a:t>
            </a:r>
            <a:endParaRPr/>
          </a:p>
          <a:p>
            <a:pPr indent="-342900" lvl="0" marL="342900" rtl="0" algn="just">
              <a:spcBef>
                <a:spcPts val="544"/>
              </a:spcBef>
              <a:spcAft>
                <a:spcPts val="0"/>
              </a:spcAft>
              <a:buClr>
                <a:schemeClr val="dk1"/>
              </a:buClr>
              <a:buSzPct val="100000"/>
              <a:buChar char="•"/>
            </a:pPr>
            <a:r>
              <a:rPr lang="en-US"/>
              <a:t>These emails are designed to look like they come from a senior executive, such as the CEO or CFO, and often involve requests for money transfers or other sensitive information. </a:t>
            </a:r>
            <a:endParaRPr/>
          </a:p>
          <a:p>
            <a:pPr indent="-342900" lvl="0" marL="342900" rtl="0" algn="just">
              <a:spcBef>
                <a:spcPts val="544"/>
              </a:spcBef>
              <a:spcAft>
                <a:spcPts val="0"/>
              </a:spcAft>
              <a:buClr>
                <a:schemeClr val="dk1"/>
              </a:buClr>
              <a:buSzPct val="100000"/>
              <a:buChar char="•"/>
            </a:pPr>
            <a:r>
              <a:rPr lang="en-US"/>
              <a:t>One advantage of this attack is that it can be highly lucrative for the attacker, as they can potentially steal large sums of money or valuable information. </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Pharming</a:t>
            </a:r>
            <a:br>
              <a:rPr b="1" lang="en-US"/>
            </a:br>
            <a:endParaRPr/>
          </a:p>
        </p:txBody>
      </p:sp>
      <p:sp>
        <p:nvSpPr>
          <p:cNvPr id="376" name="Google Shape;376;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Pharming is the impersonation of an authorized website in an effort to deceive users into entering their credentials. </a:t>
            </a:r>
            <a:endParaRPr/>
          </a:p>
          <a:p>
            <a:pPr indent="-342900" lvl="0" marL="342900" rtl="0" algn="l">
              <a:spcBef>
                <a:spcPts val="640"/>
              </a:spcBef>
              <a:spcAft>
                <a:spcPts val="0"/>
              </a:spcAft>
              <a:buClr>
                <a:schemeClr val="dk1"/>
              </a:buClr>
              <a:buSzPts val="3200"/>
              <a:buChar char="•"/>
            </a:pPr>
            <a:r>
              <a:rPr lang="en-US"/>
              <a:t>Pharming misdirects users to a fake website that appears to be official. </a:t>
            </a:r>
            <a:endParaRPr/>
          </a:p>
          <a:p>
            <a:pPr indent="-342900" lvl="0" marL="342900" rtl="0" algn="l">
              <a:spcBef>
                <a:spcPts val="640"/>
              </a:spcBef>
              <a:spcAft>
                <a:spcPts val="0"/>
              </a:spcAft>
              <a:buClr>
                <a:schemeClr val="dk1"/>
              </a:buClr>
              <a:buSzPts val="3200"/>
              <a:buChar char="•"/>
            </a:pPr>
            <a:r>
              <a:rPr lang="en-US"/>
              <a:t>Victims then enter their personal information thinking that they are connected to a legitimate site.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Spyware</a:t>
            </a:r>
            <a:br>
              <a:rPr b="1" lang="en-US"/>
            </a:br>
            <a:endParaRPr/>
          </a:p>
        </p:txBody>
      </p:sp>
      <p:sp>
        <p:nvSpPr>
          <p:cNvPr id="382" name="Google Shape;382;p51"/>
          <p:cNvSpPr txBox="1"/>
          <p:nvPr>
            <p:ph idx="1" type="body"/>
          </p:nvPr>
        </p:nvSpPr>
        <p:spPr>
          <a:xfrm>
            <a:off x="457200" y="1052736"/>
            <a:ext cx="8229600" cy="5073427"/>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t>Spyware is software that enables a criminal to obtain information about a user’s computer activities.</a:t>
            </a:r>
            <a:endParaRPr/>
          </a:p>
          <a:p>
            <a:pPr indent="-342900" lvl="0" marL="342900" rtl="0" algn="just">
              <a:spcBef>
                <a:spcPts val="640"/>
              </a:spcBef>
              <a:spcAft>
                <a:spcPts val="0"/>
              </a:spcAft>
              <a:buClr>
                <a:schemeClr val="dk1"/>
              </a:buClr>
              <a:buSzPts val="3200"/>
              <a:buChar char="•"/>
            </a:pPr>
            <a:r>
              <a:rPr lang="en-US"/>
              <a:t> Spyware often includes activity trackers, keystroke collection, and data capture.</a:t>
            </a:r>
            <a:endParaRPr/>
          </a:p>
          <a:p>
            <a:pPr indent="-342900" lvl="0" marL="342900" rtl="0" algn="just">
              <a:spcBef>
                <a:spcPts val="640"/>
              </a:spcBef>
              <a:spcAft>
                <a:spcPts val="0"/>
              </a:spcAft>
              <a:buClr>
                <a:schemeClr val="dk1"/>
              </a:buClr>
              <a:buSzPts val="3200"/>
              <a:buChar char="•"/>
            </a:pPr>
            <a:r>
              <a:rPr lang="en-US"/>
              <a:t> In an attempt to overcome security measures, spyware often modifies security settings.</a:t>
            </a:r>
            <a:endParaRPr/>
          </a:p>
          <a:p>
            <a:pPr indent="-342900" lvl="0" marL="342900" rtl="0" algn="just">
              <a:spcBef>
                <a:spcPts val="640"/>
              </a:spcBef>
              <a:spcAft>
                <a:spcPts val="0"/>
              </a:spcAft>
              <a:buClr>
                <a:schemeClr val="dk1"/>
              </a:buClr>
              <a:buSzPts val="3200"/>
              <a:buChar char="•"/>
            </a:pPr>
            <a:r>
              <a:rPr lang="en-US"/>
              <a:t> Spyware often bundles itself with legitimate software or with Trojan horses. </a:t>
            </a:r>
            <a:endParaRPr/>
          </a:p>
          <a:p>
            <a:pPr indent="-342900" lvl="0" marL="342900" rtl="0" algn="just">
              <a:spcBef>
                <a:spcPts val="640"/>
              </a:spcBef>
              <a:spcAft>
                <a:spcPts val="0"/>
              </a:spcAft>
              <a:buClr>
                <a:schemeClr val="dk1"/>
              </a:buClr>
              <a:buSzPts val="3200"/>
              <a:buChar char="•"/>
            </a:pPr>
            <a:r>
              <a:rPr lang="en-US"/>
              <a:t>Many shareware websites are full of spyware.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Phishing</a:t>
            </a:r>
            <a:endParaRPr b="1"/>
          </a:p>
        </p:txBody>
      </p:sp>
      <p:sp>
        <p:nvSpPr>
          <p:cNvPr id="388" name="Google Shape;388;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t>Phishing is a kind of cyber attack that is used to </a:t>
            </a:r>
            <a:r>
              <a:rPr b="1" lang="en-US"/>
              <a:t>steal users' information </a:t>
            </a:r>
            <a:r>
              <a:rPr lang="en-US"/>
              <a:t>including login details and credit card numbers. </a:t>
            </a:r>
            <a:endParaRPr/>
          </a:p>
          <a:p>
            <a:pPr indent="-342900" lvl="0" marL="342900" rtl="0" algn="just">
              <a:spcBef>
                <a:spcPts val="592"/>
              </a:spcBef>
              <a:spcAft>
                <a:spcPts val="0"/>
              </a:spcAft>
              <a:buClr>
                <a:schemeClr val="dk1"/>
              </a:buClr>
              <a:buSzPct val="100000"/>
              <a:buChar char="•"/>
            </a:pPr>
            <a:r>
              <a:rPr lang="en-US"/>
              <a:t>Most of the data breaches involve scams seeking to steal people's sensitive information or login credentials, which is a type of phishing attack. </a:t>
            </a:r>
            <a:endParaRPr/>
          </a:p>
          <a:p>
            <a:pPr indent="-342900" lvl="0" marL="342900" rtl="0" algn="just">
              <a:spcBef>
                <a:spcPts val="592"/>
              </a:spcBef>
              <a:spcAft>
                <a:spcPts val="0"/>
              </a:spcAft>
              <a:buClr>
                <a:schemeClr val="dk1"/>
              </a:buClr>
              <a:buSzPct val="100000"/>
              <a:buChar char="•"/>
            </a:pPr>
            <a:r>
              <a:rPr lang="en-US"/>
              <a:t>A phishing attack can be carried out with the help of fake emails cloning legitimate websites and tricking the user into revealing sensitive information.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394" name="Google Shape;394;p53"/>
          <p:cNvPicPr preferRelativeResize="0"/>
          <p:nvPr>
            <p:ph idx="1" type="body"/>
          </p:nvPr>
        </p:nvPicPr>
        <p:blipFill rotWithShape="1">
          <a:blip r:embed="rId3">
            <a:alphaModFix/>
          </a:blip>
          <a:srcRect b="0" l="0" r="0" t="0"/>
          <a:stretch/>
        </p:blipFill>
        <p:spPr>
          <a:xfrm>
            <a:off x="457200" y="1717322"/>
            <a:ext cx="8229600" cy="429171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Types of Phishing Attacks</a:t>
            </a:r>
            <a:br>
              <a:rPr b="1" lang="en-US"/>
            </a:br>
            <a:endParaRPr/>
          </a:p>
        </p:txBody>
      </p:sp>
      <p:graphicFrame>
        <p:nvGraphicFramePr>
          <p:cNvPr id="400" name="Google Shape;400;p54"/>
          <p:cNvGraphicFramePr/>
          <p:nvPr/>
        </p:nvGraphicFramePr>
        <p:xfrm>
          <a:off x="539552" y="980728"/>
          <a:ext cx="3000000" cy="3000000"/>
        </p:xfrm>
        <a:graphic>
          <a:graphicData uri="http://schemas.openxmlformats.org/drawingml/2006/table">
            <a:tbl>
              <a:tblPr>
                <a:noFill/>
                <a:tableStyleId>{FD13FBDB-BEBE-49AC-AAD4-758F3145BE03}</a:tableStyleId>
              </a:tblPr>
              <a:tblGrid>
                <a:gridCol w="4212475"/>
                <a:gridCol w="4212475"/>
              </a:tblGrid>
              <a:tr h="274350">
                <a:tc>
                  <a:txBody>
                    <a:bodyPr/>
                    <a:lstStyle/>
                    <a:p>
                      <a:pPr indent="0" lvl="0" marL="0" marR="0" rtl="0" algn="ctr">
                        <a:spcBef>
                          <a:spcPts val="0"/>
                        </a:spcBef>
                        <a:spcAft>
                          <a:spcPts val="0"/>
                        </a:spcAft>
                        <a:buNone/>
                      </a:pPr>
                      <a:r>
                        <a:rPr b="1" lang="en-US" sz="1400" u="none" cap="none" strike="noStrike">
                          <a:solidFill>
                            <a:schemeClr val="lt1"/>
                          </a:solidFill>
                          <a:latin typeface="Times New Roman"/>
                          <a:ea typeface="Times New Roman"/>
                          <a:cs typeface="Times New Roman"/>
                          <a:sym typeface="Times New Roman"/>
                        </a:rPr>
                        <a:t>Type of Phishing</a:t>
                      </a:r>
                      <a:endParaRPr/>
                    </a:p>
                  </a:txBody>
                  <a:tcPr marT="36750" marB="36750" marR="22050" marL="220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2A2A2C"/>
                    </a:solidFill>
                  </a:tcPr>
                </a:tc>
                <a:tc>
                  <a:txBody>
                    <a:bodyPr/>
                    <a:lstStyle/>
                    <a:p>
                      <a:pPr indent="0" lvl="0" marL="0" marR="0" rtl="0" algn="ctr">
                        <a:spcBef>
                          <a:spcPts val="0"/>
                        </a:spcBef>
                        <a:spcAft>
                          <a:spcPts val="0"/>
                        </a:spcAft>
                        <a:buNone/>
                      </a:pPr>
                      <a:r>
                        <a:rPr b="1" lang="en-US" sz="1400" u="none" cap="none" strike="noStrike">
                          <a:solidFill>
                            <a:schemeClr val="lt1"/>
                          </a:solidFill>
                          <a:latin typeface="Times New Roman"/>
                          <a:ea typeface="Times New Roman"/>
                          <a:cs typeface="Times New Roman"/>
                          <a:sym typeface="Times New Roman"/>
                        </a:rPr>
                        <a:t>Description</a:t>
                      </a:r>
                      <a:endParaRPr/>
                    </a:p>
                  </a:txBody>
                  <a:tcPr marT="36750" marB="367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2A2A2C"/>
                    </a:solidFill>
                  </a:tcPr>
                </a:tc>
              </a:tr>
              <a:tr h="4482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Email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Attackers send fraudulent emails pretending to be from legitimate sources to steal sensitive information.</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7505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Whaling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Targeted phishing aimed at high-profile individuals like CEOs or CFOs to steal company-sensitive data.</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7505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Vishing (Voice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Attackers use phone calls to impersonate trusted entities, asking for sensitive information like account details.</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482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Smishing</a:t>
                      </a:r>
                      <a:endParaRPr b="1" sz="1200" u="none" cap="none" strike="noStrike">
                        <a:solidFill>
                          <a:schemeClr val="lt1"/>
                        </a:solidFill>
                        <a:latin typeface="Times New Roman"/>
                        <a:ea typeface="Times New Roman"/>
                        <a:cs typeface="Times New Roman"/>
                        <a:sym typeface="Times New Roman"/>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Phishing through SMS, often with links that lead to malicious websites or malware downloads.</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6231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Angler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Phishing via social media, where attackers impersonate customer service accounts to deceive users into visiting malicious websites.</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6231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HTTPS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Fake websites with HTTPS encryption that mislead users into thinking they are secure, collecting sensitive information like login details.</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7505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Spear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Highly targeted phishing using personalized information about the victim to make the attack appear legitimate.</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482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Pharming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An attack that redirects a victim’s traffic to a fake website by altering the DNS or browser settings.</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7505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Pop-up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Malicious pop-ups appear on legitimate websites, tricking users into clicking links or entering sensitive information.</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7505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Clone Phishing</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Attackers replicate a previously sent legitimate email, replacing links or attachments with malicious content.</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r h="448200">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Evil Twin</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c>
                  <a:txBody>
                    <a:bodyPr/>
                    <a:lstStyle/>
                    <a:p>
                      <a:pPr indent="0" lvl="0" marL="0" marR="0" rtl="0" algn="ctr">
                        <a:spcBef>
                          <a:spcPts val="0"/>
                        </a:spcBef>
                        <a:spcAft>
                          <a:spcPts val="0"/>
                        </a:spcAft>
                        <a:buNone/>
                      </a:pPr>
                      <a:r>
                        <a:rPr b="1" lang="en-US" sz="1200" u="none" cap="none" strike="noStrike">
                          <a:solidFill>
                            <a:schemeClr val="lt1"/>
                          </a:solidFill>
                          <a:latin typeface="Times New Roman"/>
                          <a:ea typeface="Times New Roman"/>
                          <a:cs typeface="Times New Roman"/>
                          <a:sym typeface="Times New Roman"/>
                        </a:rPr>
                        <a:t>A fake Wi-Fi hotspot set up to steal sensitive data from users who connect to it.</a:t>
                      </a:r>
                      <a:endParaRPr/>
                    </a:p>
                  </a:txBody>
                  <a:tcPr marT="51450" marB="51450" marR="36750" marL="367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131417"/>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Protecting Against Email Attacks</a:t>
            </a:r>
            <a:endParaRPr/>
          </a:p>
        </p:txBody>
      </p:sp>
      <p:sp>
        <p:nvSpPr>
          <p:cNvPr id="406" name="Google Shape;406;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Never provide your personal information in response to an unsolicited request.</a:t>
            </a:r>
            <a:endParaRPr/>
          </a:p>
          <a:p>
            <a:pPr indent="-342900" lvl="0" marL="342900" rtl="0" algn="l">
              <a:spcBef>
                <a:spcPts val="640"/>
              </a:spcBef>
              <a:spcAft>
                <a:spcPts val="0"/>
              </a:spcAft>
              <a:buClr>
                <a:schemeClr val="dk1"/>
              </a:buClr>
              <a:buSzPts val="3200"/>
              <a:buChar char="•"/>
            </a:pPr>
            <a:r>
              <a:rPr lang="en-US"/>
              <a:t>If you believe the contact may be legitimate, contact the financial institution yourself.</a:t>
            </a:r>
            <a:endParaRPr/>
          </a:p>
          <a:p>
            <a:pPr indent="-342900" lvl="0" marL="342900" rtl="0" algn="l">
              <a:spcBef>
                <a:spcPts val="640"/>
              </a:spcBef>
              <a:spcAft>
                <a:spcPts val="0"/>
              </a:spcAft>
              <a:buClr>
                <a:schemeClr val="dk1"/>
              </a:buClr>
              <a:buSzPts val="3200"/>
              <a:buChar char="•"/>
            </a:pPr>
            <a:r>
              <a:rPr lang="en-US"/>
              <a:t>Never provide your password over the phone or in response to an unsolicited Internet request.</a:t>
            </a:r>
            <a:endParaRPr/>
          </a:p>
          <a:p>
            <a:pPr indent="-342900" lvl="0" marL="342900" rtl="0" algn="l">
              <a:spcBef>
                <a:spcPts val="640"/>
              </a:spcBef>
              <a:spcAft>
                <a:spcPts val="0"/>
              </a:spcAft>
              <a:buClr>
                <a:schemeClr val="dk1"/>
              </a:buClr>
              <a:buSzPts val="3200"/>
              <a:buChar char="•"/>
            </a:pPr>
            <a:r>
              <a:rPr lang="en-US"/>
              <a:t>Review account statements regularly to ensure all charges are correct.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OWASP Top 10 Vulnerabilities</a:t>
            </a:r>
            <a:br>
              <a:rPr b="1" lang="en-US"/>
            </a:br>
            <a:endParaRPr/>
          </a:p>
        </p:txBody>
      </p:sp>
      <p:sp>
        <p:nvSpPr>
          <p:cNvPr id="412" name="Google Shape;412;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OWASP stands for the Open Web Application Security Project. </a:t>
            </a:r>
            <a:endParaRPr/>
          </a:p>
          <a:p>
            <a:pPr indent="-342900" lvl="0" marL="342900" rtl="0" algn="l">
              <a:spcBef>
                <a:spcPts val="640"/>
              </a:spcBef>
              <a:spcAft>
                <a:spcPts val="0"/>
              </a:spcAft>
              <a:buClr>
                <a:schemeClr val="dk1"/>
              </a:buClr>
              <a:buSzPts val="3200"/>
              <a:buChar char="•"/>
            </a:pPr>
            <a:r>
              <a:rPr lang="en-US"/>
              <a:t>It is a non-profit global online community consisting of tens of thousands of members and hundreds of chapters that produces articles, documentation, tools, and technologies in the field of web application security.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418" name="Google Shape;418;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OWASP releases the Top 10 Web Application Security Risks every 3-4 years based on real-world vulnerability data.</a:t>
            </a:r>
            <a:endParaRPr/>
          </a:p>
          <a:p>
            <a:pPr indent="-342900" lvl="0" marL="342900" rtl="0" algn="l">
              <a:spcBef>
                <a:spcPts val="544"/>
              </a:spcBef>
              <a:spcAft>
                <a:spcPts val="0"/>
              </a:spcAft>
              <a:buClr>
                <a:schemeClr val="dk1"/>
              </a:buClr>
              <a:buSzPct val="100000"/>
              <a:buChar char="•"/>
            </a:pPr>
            <a:r>
              <a:rPr lang="en-US"/>
              <a:t>The list is created using frequency, severity, and impact of security flaws found in web applications.</a:t>
            </a:r>
            <a:endParaRPr/>
          </a:p>
          <a:p>
            <a:pPr indent="-342900" lvl="0" marL="342900" rtl="0" algn="l">
              <a:spcBef>
                <a:spcPts val="544"/>
              </a:spcBef>
              <a:spcAft>
                <a:spcPts val="0"/>
              </a:spcAft>
              <a:buClr>
                <a:schemeClr val="dk1"/>
              </a:buClr>
              <a:buSzPct val="100000"/>
              <a:buChar char="•"/>
            </a:pPr>
            <a:r>
              <a:rPr lang="en-US"/>
              <a:t>It highlights the most common and most dangerous vulnerabilities that attackers frequently exploit.</a:t>
            </a:r>
            <a:endParaRPr/>
          </a:p>
          <a:p>
            <a:pPr indent="-342900" lvl="0" marL="342900" rtl="0" algn="l">
              <a:spcBef>
                <a:spcPts val="544"/>
              </a:spcBef>
              <a:spcAft>
                <a:spcPts val="0"/>
              </a:spcAft>
              <a:buClr>
                <a:schemeClr val="dk1"/>
              </a:buClr>
              <a:buSzPct val="100000"/>
              <a:buChar char="•"/>
            </a:pPr>
            <a:r>
              <a:rPr lang="en-US"/>
              <a:t>The latest update (2021) helps developers and security professionals build more secure applications.</a:t>
            </a:r>
            <a:endParaRPr/>
          </a:p>
          <a:p>
            <a:pPr indent="-342900" lvl="0" marL="342900" rtl="0" algn="l">
              <a:spcBef>
                <a:spcPts val="544"/>
              </a:spcBef>
              <a:spcAft>
                <a:spcPts val="0"/>
              </a:spcAft>
              <a:buClr>
                <a:schemeClr val="dk1"/>
              </a:buClr>
              <a:buSzPct val="100000"/>
              <a:buChar char="•"/>
            </a:pPr>
            <a:r>
              <a:rPr lang="en-US"/>
              <a:t>It is considered an essential security guide and industry standard for web application security best practices.</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descr="The OWASP Top 10 Application Security Threats" id="424" name="Google Shape;424;p58"/>
          <p:cNvPicPr preferRelativeResize="0"/>
          <p:nvPr/>
        </p:nvPicPr>
        <p:blipFill rotWithShape="1">
          <a:blip r:embed="rId3">
            <a:alphaModFix/>
          </a:blip>
          <a:srcRect b="0" l="0" r="0" t="0"/>
          <a:stretch/>
        </p:blipFill>
        <p:spPr>
          <a:xfrm>
            <a:off x="323528" y="476672"/>
            <a:ext cx="8496944" cy="568863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 Broken Access Control</a:t>
            </a:r>
            <a:br>
              <a:rPr b="1" lang="en-US"/>
            </a:br>
            <a:endParaRPr/>
          </a:p>
        </p:txBody>
      </p:sp>
      <p:sp>
        <p:nvSpPr>
          <p:cNvPr id="430" name="Google Shape;430;p59"/>
          <p:cNvSpPr txBox="1"/>
          <p:nvPr>
            <p:ph idx="1" type="body"/>
          </p:nvPr>
        </p:nvSpPr>
        <p:spPr>
          <a:xfrm>
            <a:off x="457200" y="1124744"/>
            <a:ext cx="8229600" cy="5001419"/>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t>This vulnerability occurs when access controls are poorly enforced, allowing authenticated users to reach data or functions they shouldn’t, such as other users’ accounts or confidential files. </a:t>
            </a:r>
            <a:endParaRPr sz="2400"/>
          </a:p>
          <a:p>
            <a:pPr indent="-342900" lvl="0" marL="342900" rtl="0" algn="just">
              <a:spcBef>
                <a:spcPts val="480"/>
              </a:spcBef>
              <a:spcAft>
                <a:spcPts val="0"/>
              </a:spcAft>
              <a:buClr>
                <a:schemeClr val="dk1"/>
              </a:buClr>
              <a:buSzPts val="2400"/>
              <a:buChar char="•"/>
            </a:pPr>
            <a:r>
              <a:rPr lang="en-US" sz="2400"/>
              <a:t>Attackers often exploit weak session management or unexpired session tokens to gain unauthorized access to valid accounts.</a:t>
            </a:r>
            <a:endParaRPr/>
          </a:p>
          <a:p>
            <a:pPr indent="-190500" lvl="0" marL="342900" rtl="0" algn="l">
              <a:spcBef>
                <a:spcPts val="480"/>
              </a:spcBef>
              <a:spcAft>
                <a:spcPts val="0"/>
              </a:spcAft>
              <a:buClr>
                <a:schemeClr val="dk1"/>
              </a:buClr>
              <a:buSzPts val="2400"/>
              <a:buNone/>
            </a:pPr>
            <a:r>
              <a:t/>
            </a:r>
            <a:endParaRPr sz="2400"/>
          </a:p>
        </p:txBody>
      </p:sp>
      <p:sp>
        <p:nvSpPr>
          <p:cNvPr descr="broken_access_control" id="431" name="Google Shape;431;p5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32" name="Google Shape;432;p59"/>
          <p:cNvPicPr preferRelativeResize="0"/>
          <p:nvPr/>
        </p:nvPicPr>
        <p:blipFill rotWithShape="1">
          <a:blip r:embed="rId3">
            <a:alphaModFix/>
          </a:blip>
          <a:srcRect b="0" l="0" r="0" t="0"/>
          <a:stretch/>
        </p:blipFill>
        <p:spPr>
          <a:xfrm>
            <a:off x="1619672" y="3800872"/>
            <a:ext cx="6402288" cy="305712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438" name="Google Shape;438;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b="1" lang="en-US"/>
              <a:t>Vulnerabilities under Broken Access Control</a:t>
            </a:r>
            <a:endParaRPr/>
          </a:p>
          <a:p>
            <a:pPr indent="-342900" lvl="0" marL="342900" rtl="0" algn="just">
              <a:spcBef>
                <a:spcPts val="544"/>
              </a:spcBef>
              <a:spcAft>
                <a:spcPts val="0"/>
              </a:spcAft>
              <a:buClr>
                <a:schemeClr val="dk1"/>
              </a:buClr>
              <a:buSzPct val="100000"/>
              <a:buChar char="•"/>
            </a:pPr>
            <a:r>
              <a:rPr lang="en-US"/>
              <a:t>A system where access is not granted as per user roles, i.e. anyone in the system can access any resource, no principle of least privilege is being followed.</a:t>
            </a:r>
            <a:endParaRPr/>
          </a:p>
          <a:p>
            <a:pPr indent="-342900" lvl="0" marL="342900" rtl="0" algn="just">
              <a:spcBef>
                <a:spcPts val="544"/>
              </a:spcBef>
              <a:spcAft>
                <a:spcPts val="0"/>
              </a:spcAft>
              <a:buClr>
                <a:schemeClr val="dk1"/>
              </a:buClr>
              <a:buSzPct val="100000"/>
              <a:buChar char="•"/>
            </a:pPr>
            <a:r>
              <a:rPr lang="en-US"/>
              <a:t>Use of insecure direct object references to access someone else's account without their knowledge</a:t>
            </a:r>
            <a:endParaRPr/>
          </a:p>
          <a:p>
            <a:pPr indent="-342900" lvl="0" marL="342900" rtl="0" algn="just">
              <a:spcBef>
                <a:spcPts val="544"/>
              </a:spcBef>
              <a:spcAft>
                <a:spcPts val="0"/>
              </a:spcAft>
              <a:buClr>
                <a:schemeClr val="dk1"/>
              </a:buClr>
              <a:buSzPct val="100000"/>
              <a:buChar char="•"/>
            </a:pPr>
            <a:r>
              <a:rPr lang="en-US"/>
              <a:t>Lack of access controls in PUT, POST, DELETE in APIs</a:t>
            </a:r>
            <a:endParaRPr/>
          </a:p>
          <a:p>
            <a:pPr indent="-342900" lvl="0" marL="342900" rtl="0" algn="just">
              <a:spcBef>
                <a:spcPts val="544"/>
              </a:spcBef>
              <a:spcAft>
                <a:spcPts val="0"/>
              </a:spcAft>
              <a:buClr>
                <a:schemeClr val="dk1"/>
              </a:buClr>
              <a:buSzPct val="100000"/>
              <a:buChar char="•"/>
            </a:pPr>
            <a:r>
              <a:rPr lang="en-US"/>
              <a:t>Any kind of tampering with JSON web tokens to elevate privileges like changing roles from 'user' to 'admin'.</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1"/>
          <p:cNvSpPr txBox="1"/>
          <p:nvPr>
            <p:ph idx="1" type="body"/>
          </p:nvPr>
        </p:nvSpPr>
        <p:spPr>
          <a:xfrm>
            <a:off x="457200" y="188640"/>
            <a:ext cx="8229600" cy="593752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sz="2800"/>
              <a:t>Example of Broken Access Control Vulnerability</a:t>
            </a:r>
            <a:endParaRPr/>
          </a:p>
          <a:p>
            <a:pPr indent="-342900" lvl="0" marL="342900" rtl="0" algn="l">
              <a:spcBef>
                <a:spcPts val="518"/>
              </a:spcBef>
              <a:spcAft>
                <a:spcPts val="0"/>
              </a:spcAft>
              <a:buClr>
                <a:schemeClr val="dk1"/>
              </a:buClr>
              <a:buSzPct val="100000"/>
              <a:buChar char="•"/>
            </a:pPr>
            <a:r>
              <a:rPr lang="en-US" sz="2800"/>
              <a:t>If an application used the URL of the format:</a:t>
            </a:r>
            <a:endParaRPr/>
          </a:p>
          <a:p>
            <a:pPr indent="-342900" lvl="0" marL="342900" rtl="0" algn="l">
              <a:spcBef>
                <a:spcPts val="518"/>
              </a:spcBef>
              <a:spcAft>
                <a:spcPts val="0"/>
              </a:spcAft>
              <a:buClr>
                <a:schemeClr val="dk1"/>
              </a:buClr>
              <a:buSzPct val="100000"/>
              <a:buChar char="•"/>
            </a:pPr>
            <a:r>
              <a:rPr lang="en-US" sz="2800" u="sng">
                <a:solidFill>
                  <a:schemeClr val="hlink"/>
                </a:solidFill>
                <a:hlinkClick r:id="rId3"/>
              </a:rPr>
              <a:t>http://example.com/object/12345%3C/span</a:t>
            </a:r>
            <a:r>
              <a:rPr lang="en-US" sz="2800"/>
              <a:t>&gt;</a:t>
            </a:r>
            <a:endParaRPr/>
          </a:p>
          <a:p>
            <a:pPr indent="-342900" lvl="0" marL="342900" rtl="0" algn="l">
              <a:spcBef>
                <a:spcPts val="518"/>
              </a:spcBef>
              <a:spcAft>
                <a:spcPts val="0"/>
              </a:spcAft>
              <a:buClr>
                <a:schemeClr val="dk1"/>
              </a:buClr>
              <a:buSzPct val="100000"/>
              <a:buChar char="•"/>
            </a:pPr>
            <a:r>
              <a:rPr lang="en-US" sz="2800"/>
              <a:t>The reference ID 12345 could be changed to 123456 and the user could simply access the other object with that id.</a:t>
            </a:r>
            <a:endParaRPr/>
          </a:p>
          <a:p>
            <a:pPr indent="-342900" lvl="0" marL="342900" rtl="0" algn="l">
              <a:spcBef>
                <a:spcPts val="592"/>
              </a:spcBef>
              <a:spcAft>
                <a:spcPts val="0"/>
              </a:spcAft>
              <a:buClr>
                <a:schemeClr val="dk1"/>
              </a:buClr>
              <a:buSzPct val="100000"/>
              <a:buChar char="•"/>
            </a:pPr>
            <a:r>
              <a:rPr b="1" lang="en-US"/>
              <a:t>Broken access control attacks can be prevented by</a:t>
            </a:r>
            <a:endParaRPr/>
          </a:p>
          <a:p>
            <a:pPr indent="-285750" lvl="1" marL="742950" rtl="0" algn="l">
              <a:spcBef>
                <a:spcPts val="518"/>
              </a:spcBef>
              <a:spcAft>
                <a:spcPts val="0"/>
              </a:spcAft>
              <a:buClr>
                <a:schemeClr val="dk1"/>
              </a:buClr>
              <a:buSzPct val="100000"/>
              <a:buChar char="–"/>
            </a:pPr>
            <a:r>
              <a:rPr lang="en-US"/>
              <a:t>Use role-based or attribute-based access control.</a:t>
            </a:r>
            <a:endParaRPr/>
          </a:p>
          <a:p>
            <a:pPr indent="-285750" lvl="1" marL="742950" rtl="0" algn="l">
              <a:spcBef>
                <a:spcPts val="518"/>
              </a:spcBef>
              <a:spcAft>
                <a:spcPts val="0"/>
              </a:spcAft>
              <a:buClr>
                <a:schemeClr val="dk1"/>
              </a:buClr>
              <a:buSzPct val="100000"/>
              <a:buChar char="–"/>
            </a:pPr>
            <a:r>
              <a:rPr lang="en-US"/>
              <a:t>Always enforce authorization on the server side.</a:t>
            </a:r>
            <a:endParaRPr/>
          </a:p>
          <a:p>
            <a:pPr indent="-285750" lvl="1" marL="742950" rtl="0" algn="l">
              <a:spcBef>
                <a:spcPts val="518"/>
              </a:spcBef>
              <a:spcAft>
                <a:spcPts val="0"/>
              </a:spcAft>
              <a:buClr>
                <a:schemeClr val="dk1"/>
              </a:buClr>
              <a:buSzPct val="100000"/>
              <a:buChar char="–"/>
            </a:pPr>
            <a:r>
              <a:rPr lang="en-US"/>
              <a:t>Centralize access control logic.</a:t>
            </a:r>
            <a:endParaRPr/>
          </a:p>
          <a:p>
            <a:pPr indent="-285750" lvl="1" marL="742950" rtl="0" algn="l">
              <a:spcBef>
                <a:spcPts val="518"/>
              </a:spcBef>
              <a:spcAft>
                <a:spcPts val="0"/>
              </a:spcAft>
              <a:buClr>
                <a:schemeClr val="dk1"/>
              </a:buClr>
              <a:buSzPct val="100000"/>
              <a:buChar char="–"/>
            </a:pPr>
            <a:r>
              <a:rPr lang="en-US"/>
              <a:t>Verify resource ownership before access.</a:t>
            </a:r>
            <a:endParaRPr/>
          </a:p>
          <a:p>
            <a:pPr indent="-285750" lvl="1" marL="742950" rtl="0" algn="l">
              <a:spcBef>
                <a:spcPts val="518"/>
              </a:spcBef>
              <a:spcAft>
                <a:spcPts val="0"/>
              </a:spcAft>
              <a:buClr>
                <a:schemeClr val="dk1"/>
              </a:buClr>
              <a:buSzPct val="100000"/>
              <a:buChar char="–"/>
            </a:pPr>
            <a:r>
              <a:rPr lang="en-US"/>
              <a:t>Avoid exposing internal IDs directly (prevent IDOR).</a:t>
            </a:r>
            <a:endParaRPr/>
          </a:p>
          <a:p>
            <a:pPr indent="-285750" lvl="1" marL="742950" rtl="0" algn="l">
              <a:spcBef>
                <a:spcPts val="518"/>
              </a:spcBef>
              <a:spcAft>
                <a:spcPts val="0"/>
              </a:spcAft>
              <a:buClr>
                <a:schemeClr val="dk1"/>
              </a:buClr>
              <a:buSzPct val="100000"/>
              <a:buChar char="–"/>
            </a:pPr>
            <a:r>
              <a:rPr lang="en-US"/>
              <a:t>Log and monitor access control failures.</a:t>
            </a:r>
            <a:endParaRPr/>
          </a:p>
          <a:p>
            <a:pPr indent="-285750" lvl="1" marL="742950" rtl="0" algn="l">
              <a:spcBef>
                <a:spcPts val="518"/>
              </a:spcBef>
              <a:spcAft>
                <a:spcPts val="0"/>
              </a:spcAft>
              <a:buClr>
                <a:schemeClr val="dk1"/>
              </a:buClr>
              <a:buSzPct val="100000"/>
              <a:buChar char="–"/>
            </a:pPr>
            <a:r>
              <a:rPr lang="en-US"/>
              <a:t>Apply the principle of least privilege.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2. Cryptographic Failures</a:t>
            </a:r>
            <a:br>
              <a:rPr b="1" lang="en-US"/>
            </a:br>
            <a:endParaRPr/>
          </a:p>
        </p:txBody>
      </p:sp>
      <p:sp>
        <p:nvSpPr>
          <p:cNvPr id="449" name="Google Shape;449;p62"/>
          <p:cNvSpPr txBox="1"/>
          <p:nvPr>
            <p:ph idx="1" type="body"/>
          </p:nvPr>
        </p:nvSpPr>
        <p:spPr>
          <a:xfrm>
            <a:off x="457200" y="836712"/>
            <a:ext cx="8229600" cy="5289451"/>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t>Any organization's data, whether in transit or at rest, is vulnerable to cryptographic failure if it is not properly secured. </a:t>
            </a:r>
            <a:endParaRPr sz="2800"/>
          </a:p>
          <a:p>
            <a:pPr indent="-342900" lvl="0" marL="342900" rtl="0" algn="just">
              <a:spcBef>
                <a:spcPts val="560"/>
              </a:spcBef>
              <a:spcAft>
                <a:spcPts val="0"/>
              </a:spcAft>
              <a:buClr>
                <a:schemeClr val="dk1"/>
              </a:buClr>
              <a:buSzPts val="2800"/>
              <a:buChar char="•"/>
            </a:pPr>
            <a:r>
              <a:rPr lang="en-US" sz="2800"/>
              <a:t>Sensitive information such as credentials, health records, classified data, and business secrets may be exposed.</a:t>
            </a:r>
            <a:endParaRPr/>
          </a:p>
          <a:p>
            <a:pPr indent="-342900" lvl="0" marL="342900" rtl="0" algn="just">
              <a:spcBef>
                <a:spcPts val="560"/>
              </a:spcBef>
              <a:spcAft>
                <a:spcPts val="0"/>
              </a:spcAft>
              <a:buClr>
                <a:schemeClr val="dk1"/>
              </a:buClr>
              <a:buSzPts val="2800"/>
              <a:buChar char="•"/>
            </a:pPr>
            <a:r>
              <a:rPr lang="en-US" sz="2800"/>
              <a:t> If this data is protected under privacy laws or regulations, its exposure due to weak or missing encryption is considered a cryptographic failure.</a:t>
            </a:r>
            <a:endParaRPr sz="28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idx="1" type="body"/>
          </p:nvPr>
        </p:nvSpPr>
        <p:spPr>
          <a:xfrm>
            <a:off x="323528" y="260648"/>
            <a:ext cx="4040188" cy="108012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chemeClr val="dk1"/>
              </a:buClr>
              <a:buSzPct val="100000"/>
              <a:buNone/>
            </a:pPr>
            <a:r>
              <a:t/>
            </a:r>
            <a:endParaRPr/>
          </a:p>
          <a:p>
            <a:pPr indent="0" lvl="0" marL="0" rtl="0" algn="l">
              <a:spcBef>
                <a:spcPts val="481"/>
              </a:spcBef>
              <a:spcAft>
                <a:spcPts val="0"/>
              </a:spcAft>
              <a:buClr>
                <a:schemeClr val="dk1"/>
              </a:buClr>
              <a:buSzPct val="100000"/>
              <a:buNone/>
            </a:pPr>
            <a:r>
              <a:rPr lang="en-US" sz="2600"/>
              <a:t>Vulnerabilities under Cryptographic Failures</a:t>
            </a:r>
            <a:endParaRPr/>
          </a:p>
          <a:p>
            <a:pPr indent="0" lvl="0" marL="0" rtl="0" algn="l">
              <a:spcBef>
                <a:spcPts val="444"/>
              </a:spcBef>
              <a:spcAft>
                <a:spcPts val="0"/>
              </a:spcAft>
              <a:buClr>
                <a:schemeClr val="dk1"/>
              </a:buClr>
              <a:buSzPct val="100000"/>
              <a:buNone/>
            </a:pPr>
            <a:r>
              <a:t/>
            </a:r>
            <a:endParaRPr/>
          </a:p>
        </p:txBody>
      </p:sp>
      <p:sp>
        <p:nvSpPr>
          <p:cNvPr id="455" name="Google Shape;455;p63"/>
          <p:cNvSpPr txBox="1"/>
          <p:nvPr>
            <p:ph idx="2" type="body"/>
          </p:nvPr>
        </p:nvSpPr>
        <p:spPr>
          <a:xfrm>
            <a:off x="395536" y="1412776"/>
            <a:ext cx="4040188" cy="3951288"/>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sz="2800"/>
              <a:t>Old or weak cryptographic measures being used by default in a system.</a:t>
            </a:r>
            <a:endParaRPr/>
          </a:p>
          <a:p>
            <a:pPr indent="-342900" lvl="0" marL="342900" rtl="0" algn="l">
              <a:spcBef>
                <a:spcPts val="392"/>
              </a:spcBef>
              <a:spcAft>
                <a:spcPts val="0"/>
              </a:spcAft>
              <a:buClr>
                <a:schemeClr val="dk1"/>
              </a:buClr>
              <a:buSzPct val="100000"/>
              <a:buChar char="•"/>
            </a:pPr>
            <a:r>
              <a:rPr lang="en-US" sz="2800"/>
              <a:t>Data transmission without being encrypted, use of protocols such as HTTP, SMTP, FTP.</a:t>
            </a:r>
            <a:endParaRPr/>
          </a:p>
          <a:p>
            <a:pPr indent="-342900" lvl="0" marL="342900" rtl="0" algn="l">
              <a:spcBef>
                <a:spcPts val="392"/>
              </a:spcBef>
              <a:spcAft>
                <a:spcPts val="0"/>
              </a:spcAft>
              <a:buClr>
                <a:schemeClr val="dk1"/>
              </a:buClr>
              <a:buSzPct val="100000"/>
              <a:buChar char="•"/>
            </a:pPr>
            <a:r>
              <a:rPr lang="en-US" sz="2800"/>
              <a:t>Use of unapproved hash functions such as MD5 or SHA1</a:t>
            </a:r>
            <a:endParaRPr/>
          </a:p>
          <a:p>
            <a:pPr indent="-342900" lvl="0" marL="342900" rtl="0" algn="l">
              <a:spcBef>
                <a:spcPts val="392"/>
              </a:spcBef>
              <a:spcAft>
                <a:spcPts val="0"/>
              </a:spcAft>
              <a:buClr>
                <a:schemeClr val="dk1"/>
              </a:buClr>
              <a:buSzPct val="100000"/>
              <a:buChar char="•"/>
            </a:pPr>
            <a:r>
              <a:rPr lang="en-US" sz="2800"/>
              <a:t>Server certificate and trust chain is not verified properly</a:t>
            </a:r>
            <a:endParaRPr/>
          </a:p>
          <a:p>
            <a:pPr indent="-342900" lvl="0" marL="342900" rtl="0" algn="l">
              <a:spcBef>
                <a:spcPts val="392"/>
              </a:spcBef>
              <a:spcAft>
                <a:spcPts val="0"/>
              </a:spcAft>
              <a:buClr>
                <a:schemeClr val="dk1"/>
              </a:buClr>
              <a:buSzPct val="100000"/>
              <a:buChar char="•"/>
            </a:pPr>
            <a:r>
              <a:rPr lang="en-US" sz="2800"/>
              <a:t>Use of default crypto keys, weak crypto keys, keys being re-used, improper key management in a system</a:t>
            </a:r>
            <a:endParaRPr/>
          </a:p>
          <a:p>
            <a:pPr indent="-236220" lvl="0" marL="342900" rtl="0" algn="l">
              <a:spcBef>
                <a:spcPts val="336"/>
              </a:spcBef>
              <a:spcAft>
                <a:spcPts val="0"/>
              </a:spcAft>
              <a:buClr>
                <a:schemeClr val="dk1"/>
              </a:buClr>
              <a:buSzPct val="100000"/>
              <a:buNone/>
            </a:pPr>
            <a:r>
              <a:t/>
            </a:r>
            <a:endParaRPr/>
          </a:p>
        </p:txBody>
      </p:sp>
      <p:sp>
        <p:nvSpPr>
          <p:cNvPr id="456" name="Google Shape;456;p63"/>
          <p:cNvSpPr txBox="1"/>
          <p:nvPr>
            <p:ph idx="3" type="body"/>
          </p:nvPr>
        </p:nvSpPr>
        <p:spPr>
          <a:xfrm>
            <a:off x="4572000" y="116632"/>
            <a:ext cx="4041775"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400"/>
              <a:buNone/>
            </a:pPr>
            <a:r>
              <a:t/>
            </a:r>
            <a:endParaRPr/>
          </a:p>
        </p:txBody>
      </p:sp>
      <p:pic>
        <p:nvPicPr>
          <p:cNvPr id="457" name="Google Shape;457;p63"/>
          <p:cNvPicPr preferRelativeResize="0"/>
          <p:nvPr>
            <p:ph idx="4" type="body"/>
          </p:nvPr>
        </p:nvPicPr>
        <p:blipFill rotWithShape="1">
          <a:blip r:embed="rId3">
            <a:alphaModFix/>
          </a:blip>
          <a:srcRect b="0" l="0" r="0" t="0"/>
          <a:stretch/>
        </p:blipFill>
        <p:spPr>
          <a:xfrm>
            <a:off x="4572000" y="1988840"/>
            <a:ext cx="4248472" cy="2020887"/>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463" name="Google Shape;463;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t>Example of a Cryptographic Failure</a:t>
            </a:r>
            <a:endParaRPr/>
          </a:p>
          <a:p>
            <a:pPr indent="-342900" lvl="0" marL="342900" rtl="0" algn="l">
              <a:spcBef>
                <a:spcPts val="640"/>
              </a:spcBef>
              <a:spcAft>
                <a:spcPts val="0"/>
              </a:spcAft>
              <a:buClr>
                <a:schemeClr val="dk1"/>
              </a:buClr>
              <a:buSzPts val="3200"/>
              <a:buChar char="•"/>
            </a:pPr>
            <a:r>
              <a:rPr lang="en-US"/>
              <a:t>A company stores the passwords of its users without proper encryption. </a:t>
            </a:r>
            <a:endParaRPr/>
          </a:p>
          <a:p>
            <a:pPr indent="-342900" lvl="0" marL="342900" rtl="0" algn="l">
              <a:spcBef>
                <a:spcPts val="640"/>
              </a:spcBef>
              <a:spcAft>
                <a:spcPts val="0"/>
              </a:spcAft>
              <a:buClr>
                <a:schemeClr val="dk1"/>
              </a:buClr>
              <a:buSzPts val="3200"/>
              <a:buChar char="•"/>
            </a:pPr>
            <a:r>
              <a:rPr lang="en-US"/>
              <a:t>If an attacker successfully gains access to the database, could easily gain credentials of all the users. </a:t>
            </a:r>
            <a:endParaRPr/>
          </a:p>
          <a:p>
            <a:pPr indent="-342900" lvl="0" marL="342900" rtl="0" algn="l">
              <a:spcBef>
                <a:spcPts val="640"/>
              </a:spcBef>
              <a:spcAft>
                <a:spcPts val="0"/>
              </a:spcAft>
              <a:buClr>
                <a:schemeClr val="dk1"/>
              </a:buClr>
              <a:buSzPts val="3200"/>
              <a:buChar char="•"/>
            </a:pPr>
            <a:r>
              <a:rPr lang="en-US"/>
              <a:t>Hashes that are made by simple hash functions could be easily cracked by strong GPUs.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Ways to Prevent Cryptographic Failures</a:t>
            </a:r>
            <a:br>
              <a:rPr b="1" lang="en-US"/>
            </a:br>
            <a:endParaRPr/>
          </a:p>
        </p:txBody>
      </p:sp>
      <p:sp>
        <p:nvSpPr>
          <p:cNvPr id="469" name="Google Shape;469;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Use strong, modern encryption algorithms like AES-256 to protect sensitive data.</a:t>
            </a:r>
            <a:endParaRPr/>
          </a:p>
          <a:p>
            <a:pPr indent="-342900" lvl="0" marL="342900" rtl="0" algn="l">
              <a:spcBef>
                <a:spcPts val="448"/>
              </a:spcBef>
              <a:spcAft>
                <a:spcPts val="0"/>
              </a:spcAft>
              <a:buClr>
                <a:schemeClr val="dk1"/>
              </a:buClr>
              <a:buSzPct val="100000"/>
              <a:buChar char="•"/>
            </a:pPr>
            <a:r>
              <a:rPr lang="en-US"/>
              <a:t>Rotate cryptographic keys regularly to reduce the risk of exposure.</a:t>
            </a:r>
            <a:endParaRPr/>
          </a:p>
          <a:p>
            <a:pPr indent="-342900" lvl="0" marL="342900" rtl="0" algn="l">
              <a:spcBef>
                <a:spcPts val="448"/>
              </a:spcBef>
              <a:spcAft>
                <a:spcPts val="0"/>
              </a:spcAft>
              <a:buClr>
                <a:schemeClr val="dk1"/>
              </a:buClr>
              <a:buSzPct val="100000"/>
              <a:buChar char="•"/>
            </a:pPr>
            <a:r>
              <a:rPr lang="en-US"/>
              <a:t>Generate keys using secure, random processes to avoid predictability.</a:t>
            </a:r>
            <a:endParaRPr/>
          </a:p>
          <a:p>
            <a:pPr indent="-342900" lvl="0" marL="342900" rtl="0" algn="l">
              <a:spcBef>
                <a:spcPts val="448"/>
              </a:spcBef>
              <a:spcAft>
                <a:spcPts val="0"/>
              </a:spcAft>
              <a:buClr>
                <a:schemeClr val="dk1"/>
              </a:buClr>
              <a:buSzPct val="100000"/>
              <a:buChar char="•"/>
            </a:pPr>
            <a:r>
              <a:rPr lang="en-US"/>
              <a:t>Implement multi-factor authentication (MFA) for accessing encryption systems.</a:t>
            </a:r>
            <a:endParaRPr/>
          </a:p>
          <a:p>
            <a:pPr indent="-342900" lvl="0" marL="342900" rtl="0" algn="l">
              <a:spcBef>
                <a:spcPts val="448"/>
              </a:spcBef>
              <a:spcAft>
                <a:spcPts val="0"/>
              </a:spcAft>
              <a:buClr>
                <a:schemeClr val="dk1"/>
              </a:buClr>
              <a:buSzPct val="100000"/>
              <a:buChar char="•"/>
            </a:pPr>
            <a:r>
              <a:rPr lang="en-US"/>
              <a:t>Ensure encryption of both data at rest and in transit to safeguard information throughout its lifecycle.</a:t>
            </a:r>
            <a:endParaRPr/>
          </a:p>
          <a:p>
            <a:pPr indent="-342900" lvl="0" marL="342900" rtl="0" algn="l">
              <a:spcBef>
                <a:spcPts val="448"/>
              </a:spcBef>
              <a:spcAft>
                <a:spcPts val="0"/>
              </a:spcAft>
              <a:buClr>
                <a:schemeClr val="dk1"/>
              </a:buClr>
              <a:buSzPct val="100000"/>
              <a:buChar char="•"/>
            </a:pPr>
            <a:r>
              <a:rPr lang="en-US"/>
              <a:t>Audit cryptographic systems regularly to detect weaknesses and vulnerabilities.</a:t>
            </a:r>
            <a:endParaRPr/>
          </a:p>
          <a:p>
            <a:pPr indent="-342900" lvl="0" marL="342900" rtl="0" algn="l">
              <a:spcBef>
                <a:spcPts val="448"/>
              </a:spcBef>
              <a:spcAft>
                <a:spcPts val="0"/>
              </a:spcAft>
              <a:buClr>
                <a:schemeClr val="dk1"/>
              </a:buClr>
              <a:buSzPct val="100000"/>
              <a:buChar char="•"/>
            </a:pPr>
            <a:r>
              <a:rPr lang="en-US"/>
              <a:t>Avoid hard-coding keys in code, store them in secure, external locations.</a:t>
            </a:r>
            <a:endParaRPr/>
          </a:p>
          <a:p>
            <a:pPr indent="-200660" lvl="0" marL="342900" rtl="0" algn="l">
              <a:spcBef>
                <a:spcPts val="448"/>
              </a:spcBef>
              <a:spcAft>
                <a:spcPts val="0"/>
              </a:spcAft>
              <a:buClr>
                <a:schemeClr val="dk1"/>
              </a:buClr>
              <a:buSzPct val="1000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3. Injection</a:t>
            </a:r>
            <a:br>
              <a:rPr b="1" lang="en-US"/>
            </a:br>
            <a:endParaRPr/>
          </a:p>
        </p:txBody>
      </p:sp>
      <p:sp>
        <p:nvSpPr>
          <p:cNvPr id="475" name="Google Shape;475;p66"/>
          <p:cNvSpPr txBox="1"/>
          <p:nvPr>
            <p:ph idx="1" type="body"/>
          </p:nvPr>
        </p:nvSpPr>
        <p:spPr>
          <a:xfrm>
            <a:off x="457200" y="908720"/>
            <a:ext cx="8229600" cy="521744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Injection vulnerabilities occur when an attacker uses a query or command to insert untrusted data into the interpreter via SQL, OS, NoSQL, or LDAP injection. </a:t>
            </a:r>
            <a:endParaRPr sz="2000"/>
          </a:p>
          <a:p>
            <a:pPr indent="-342900" lvl="0" marL="342900" rtl="0" algn="l">
              <a:spcBef>
                <a:spcPts val="400"/>
              </a:spcBef>
              <a:spcAft>
                <a:spcPts val="0"/>
              </a:spcAft>
              <a:buClr>
                <a:schemeClr val="dk1"/>
              </a:buClr>
              <a:buSzPts val="2000"/>
              <a:buChar char="•"/>
            </a:pPr>
            <a:r>
              <a:rPr lang="en-US" sz="2000"/>
              <a:t>The data that is injected through this attack vector makes the application do something it is not designed for. </a:t>
            </a:r>
            <a:endParaRPr sz="2000"/>
          </a:p>
          <a:p>
            <a:pPr indent="-342900" lvl="0" marL="342900" rtl="0" algn="l">
              <a:spcBef>
                <a:spcPts val="400"/>
              </a:spcBef>
              <a:spcAft>
                <a:spcPts val="0"/>
              </a:spcAft>
              <a:buClr>
                <a:schemeClr val="dk1"/>
              </a:buClr>
              <a:buSzPts val="2000"/>
              <a:buChar char="•"/>
            </a:pPr>
            <a:r>
              <a:rPr lang="en-US" sz="2000"/>
              <a:t>Not all applications are vulnerable to this attack, only the applications that accept parameters as input are vulnerable to injection attacks.</a:t>
            </a:r>
            <a:endParaRPr sz="2000"/>
          </a:p>
        </p:txBody>
      </p:sp>
      <p:pic>
        <p:nvPicPr>
          <p:cNvPr id="476" name="Google Shape;476;p66"/>
          <p:cNvPicPr preferRelativeResize="0"/>
          <p:nvPr/>
        </p:nvPicPr>
        <p:blipFill rotWithShape="1">
          <a:blip r:embed="rId3">
            <a:alphaModFix/>
          </a:blip>
          <a:srcRect b="0" l="0" r="0" t="0"/>
          <a:stretch/>
        </p:blipFill>
        <p:spPr>
          <a:xfrm>
            <a:off x="773898" y="3284984"/>
            <a:ext cx="7620000" cy="284110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Causes of Injection Vulnerabilities</a:t>
            </a:r>
            <a:br>
              <a:rPr b="1" lang="en-US"/>
            </a:br>
            <a:endParaRPr/>
          </a:p>
        </p:txBody>
      </p:sp>
      <p:sp>
        <p:nvSpPr>
          <p:cNvPr id="482" name="Google Shape;482;p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When the data input by users is not verified, sanitized or filtered.</a:t>
            </a:r>
            <a:endParaRPr/>
          </a:p>
          <a:p>
            <a:pPr indent="-342900" lvl="0" marL="342900" rtl="0" algn="l">
              <a:spcBef>
                <a:spcPts val="592"/>
              </a:spcBef>
              <a:spcAft>
                <a:spcPts val="0"/>
              </a:spcAft>
              <a:buClr>
                <a:schemeClr val="dk1"/>
              </a:buClr>
              <a:buSzPct val="100000"/>
              <a:buChar char="•"/>
            </a:pPr>
            <a:r>
              <a:rPr lang="en-US"/>
              <a:t>It directly adds user input into SQL or command strings, which mixes trusted code with untrusted data.</a:t>
            </a:r>
            <a:endParaRPr/>
          </a:p>
          <a:p>
            <a:pPr indent="-342900" lvl="0" marL="342900" rtl="0" algn="l">
              <a:spcBef>
                <a:spcPts val="592"/>
              </a:spcBef>
              <a:spcAft>
                <a:spcPts val="0"/>
              </a:spcAft>
              <a:buClr>
                <a:schemeClr val="dk1"/>
              </a:buClr>
              <a:buSzPct val="100000"/>
              <a:buChar char="•"/>
            </a:pPr>
            <a:r>
              <a:rPr lang="en-US"/>
              <a:t>It uses user input in ORM queries, letting attackers fetch data they shouldn't access.</a:t>
            </a:r>
            <a:endParaRPr/>
          </a:p>
          <a:p>
            <a:pPr indent="-342900" lvl="0" marL="342900" rtl="0" algn="l">
              <a:spcBef>
                <a:spcPts val="592"/>
              </a:spcBef>
              <a:spcAft>
                <a:spcPts val="0"/>
              </a:spcAft>
              <a:buClr>
                <a:schemeClr val="dk1"/>
              </a:buClr>
              <a:buSzPct val="100000"/>
              <a:buChar char="•"/>
            </a:pPr>
            <a:r>
              <a:rPr lang="en-US"/>
              <a:t>It builds database queries using user input without using parameters or escaping, which can lead to injections.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an Injection Vulnerability</a:t>
            </a:r>
            <a:br>
              <a:rPr b="1" lang="en-US"/>
            </a:br>
            <a:endParaRPr/>
          </a:p>
        </p:txBody>
      </p:sp>
      <p:sp>
        <p:nvSpPr>
          <p:cNvPr id="488" name="Google Shape;488;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The code for querying in the backend of the application</a:t>
            </a:r>
            <a:endParaRPr/>
          </a:p>
          <a:p>
            <a:pPr indent="-342900" lvl="0" marL="342900" rtl="0" algn="l">
              <a:spcBef>
                <a:spcPts val="544"/>
              </a:spcBef>
              <a:spcAft>
                <a:spcPts val="0"/>
              </a:spcAft>
              <a:buClr>
                <a:schemeClr val="dk1"/>
              </a:buClr>
              <a:buSzPct val="100000"/>
              <a:buChar char="•"/>
            </a:pPr>
            <a:r>
              <a:rPr lang="en-US"/>
              <a:t>SELECT * FROM users WHERE username = '$username' AND password = '$password';The attacker inputs the username and password as</a:t>
            </a:r>
            <a:endParaRPr/>
          </a:p>
          <a:p>
            <a:pPr indent="-342900" lvl="0" marL="342900" rtl="0" algn="l">
              <a:spcBef>
                <a:spcPts val="544"/>
              </a:spcBef>
              <a:spcAft>
                <a:spcPts val="0"/>
              </a:spcAft>
              <a:buClr>
                <a:schemeClr val="dk1"/>
              </a:buClr>
              <a:buSzPct val="100000"/>
              <a:buChar char="•"/>
            </a:pPr>
            <a:r>
              <a:rPr lang="en-US"/>
              <a:t>Username: admin Password: ' OR '1'='1Now, the resultant query will be</a:t>
            </a:r>
            <a:endParaRPr/>
          </a:p>
          <a:p>
            <a:pPr indent="-342900" lvl="0" marL="342900" rtl="0" algn="l">
              <a:spcBef>
                <a:spcPts val="544"/>
              </a:spcBef>
              <a:spcAft>
                <a:spcPts val="0"/>
              </a:spcAft>
              <a:buClr>
                <a:schemeClr val="dk1"/>
              </a:buClr>
              <a:buSzPct val="100000"/>
              <a:buChar char="•"/>
            </a:pPr>
            <a:r>
              <a:rPr lang="en-US"/>
              <a:t>SELECT * FROM users WHERE username = 'admin' AND password = '' OR '1'='1';Given that the condition '1'='1' is true, the query will be successfully carried out and the user gained access to system.</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Injection attacks can be prevented by</a:t>
            </a:r>
            <a:br>
              <a:rPr b="1" lang="en-US"/>
            </a:br>
            <a:endParaRPr/>
          </a:p>
        </p:txBody>
      </p:sp>
      <p:sp>
        <p:nvSpPr>
          <p:cNvPr id="494" name="Google Shape;494;p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Use parameterized queries or prepared statements.</a:t>
            </a:r>
            <a:endParaRPr/>
          </a:p>
          <a:p>
            <a:pPr indent="-342900" lvl="0" marL="342900" rtl="0" algn="l">
              <a:spcBef>
                <a:spcPts val="592"/>
              </a:spcBef>
              <a:spcAft>
                <a:spcPts val="0"/>
              </a:spcAft>
              <a:buClr>
                <a:schemeClr val="dk1"/>
              </a:buClr>
              <a:buSzPct val="100000"/>
              <a:buChar char="•"/>
            </a:pPr>
            <a:r>
              <a:rPr lang="en-US"/>
              <a:t>Validate and sanitize all user inputs.</a:t>
            </a:r>
            <a:endParaRPr/>
          </a:p>
          <a:p>
            <a:pPr indent="-342900" lvl="0" marL="342900" rtl="0" algn="l">
              <a:spcBef>
                <a:spcPts val="592"/>
              </a:spcBef>
              <a:spcAft>
                <a:spcPts val="0"/>
              </a:spcAft>
              <a:buClr>
                <a:schemeClr val="dk1"/>
              </a:buClr>
              <a:buSzPct val="100000"/>
              <a:buChar char="•"/>
            </a:pPr>
            <a:r>
              <a:rPr lang="en-US"/>
              <a:t>Avoid building SQL queries using string concatenation.</a:t>
            </a:r>
            <a:endParaRPr/>
          </a:p>
          <a:p>
            <a:pPr indent="-342900" lvl="0" marL="342900" rtl="0" algn="l">
              <a:spcBef>
                <a:spcPts val="592"/>
              </a:spcBef>
              <a:spcAft>
                <a:spcPts val="0"/>
              </a:spcAft>
              <a:buClr>
                <a:schemeClr val="dk1"/>
              </a:buClr>
              <a:buSzPct val="100000"/>
              <a:buChar char="•"/>
            </a:pPr>
            <a:r>
              <a:rPr lang="en-US"/>
              <a:t>Apply the principle of least privilege to database users.</a:t>
            </a:r>
            <a:endParaRPr/>
          </a:p>
          <a:p>
            <a:pPr indent="-342900" lvl="0" marL="342900" rtl="0" algn="l">
              <a:spcBef>
                <a:spcPts val="592"/>
              </a:spcBef>
              <a:spcAft>
                <a:spcPts val="0"/>
              </a:spcAft>
              <a:buClr>
                <a:schemeClr val="dk1"/>
              </a:buClr>
              <a:buSzPct val="100000"/>
              <a:buChar char="•"/>
            </a:pPr>
            <a:r>
              <a:rPr lang="en-US"/>
              <a:t>Keep your database and libraries up to date.</a:t>
            </a:r>
            <a:endParaRPr/>
          </a:p>
          <a:p>
            <a:pPr indent="-342900" lvl="0" marL="342900" rtl="0" algn="l">
              <a:spcBef>
                <a:spcPts val="592"/>
              </a:spcBef>
              <a:spcAft>
                <a:spcPts val="0"/>
              </a:spcAft>
              <a:buClr>
                <a:schemeClr val="dk1"/>
              </a:buClr>
              <a:buSzPct val="100000"/>
              <a:buChar char="•"/>
            </a:pPr>
            <a:r>
              <a:rPr lang="en-US"/>
              <a:t>Deploy a Web Application Firewall (WAF) as an extra layer.</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4. Insecure Design</a:t>
            </a:r>
            <a:br>
              <a:rPr b="1" lang="en-US"/>
            </a:br>
            <a:endParaRPr/>
          </a:p>
        </p:txBody>
      </p:sp>
      <p:sp>
        <p:nvSpPr>
          <p:cNvPr id="500" name="Google Shape;500;p7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t>Insecure Design vulnerabilities refer to weaknesses that lie in the designing process of a product. </a:t>
            </a:r>
            <a:endParaRPr/>
          </a:p>
          <a:p>
            <a:pPr indent="-342900" lvl="0" marL="342900" rtl="0" algn="just">
              <a:spcBef>
                <a:spcPts val="592"/>
              </a:spcBef>
              <a:spcAft>
                <a:spcPts val="0"/>
              </a:spcAft>
              <a:buClr>
                <a:schemeClr val="dk1"/>
              </a:buClr>
              <a:buSzPct val="100000"/>
              <a:buChar char="•"/>
            </a:pPr>
            <a:r>
              <a:rPr lang="en-US"/>
              <a:t>These weaknesses cannot be overcome by secure implementation. </a:t>
            </a:r>
            <a:endParaRPr/>
          </a:p>
          <a:p>
            <a:pPr indent="-342900" lvl="0" marL="342900" rtl="0" algn="just">
              <a:spcBef>
                <a:spcPts val="592"/>
              </a:spcBef>
              <a:spcAft>
                <a:spcPts val="0"/>
              </a:spcAft>
              <a:buClr>
                <a:schemeClr val="dk1"/>
              </a:buClr>
              <a:buSzPct val="100000"/>
              <a:buChar char="•"/>
            </a:pPr>
            <a:r>
              <a:rPr lang="en-US"/>
              <a:t>They include flaws like lack of assessment of security requirements during the design phase.</a:t>
            </a:r>
            <a:endParaRPr/>
          </a:p>
          <a:p>
            <a:pPr indent="-342900" lvl="0" marL="342900" rtl="0" algn="just">
              <a:spcBef>
                <a:spcPts val="592"/>
              </a:spcBef>
              <a:spcAft>
                <a:spcPts val="0"/>
              </a:spcAft>
              <a:buClr>
                <a:schemeClr val="dk1"/>
              </a:buClr>
              <a:buSzPct val="100000"/>
              <a:buChar char="•"/>
            </a:pPr>
            <a:r>
              <a:rPr lang="en-US"/>
              <a:t>Principles like Secure design, SDLC, Resource management are overlooked or not properly configured during development phase.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506" name="Google Shape;506;p71"/>
          <p:cNvPicPr preferRelativeResize="0"/>
          <p:nvPr>
            <p:ph idx="1" type="body"/>
          </p:nvPr>
        </p:nvPicPr>
        <p:blipFill rotWithShape="1">
          <a:blip r:embed="rId3">
            <a:alphaModFix/>
          </a:blip>
          <a:srcRect b="0" l="0" r="0" t="0"/>
          <a:stretch/>
        </p:blipFill>
        <p:spPr>
          <a:xfrm>
            <a:off x="4932040" y="1700808"/>
            <a:ext cx="3888432" cy="3432373"/>
          </a:xfrm>
          <a:prstGeom prst="rect">
            <a:avLst/>
          </a:prstGeom>
          <a:noFill/>
          <a:ln>
            <a:noFill/>
          </a:ln>
        </p:spPr>
      </p:pic>
      <p:sp>
        <p:nvSpPr>
          <p:cNvPr id="507" name="Google Shape;507;p71"/>
          <p:cNvSpPr/>
          <p:nvPr/>
        </p:nvSpPr>
        <p:spPr>
          <a:xfrm>
            <a:off x="251520" y="1700808"/>
            <a:ext cx="45720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 of Insecure Design Vulnerability</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 mobile banking app allows users to transfer money between accounts.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However, the app's design does not require re-authentication for high-value transactions, like transferring a large sum of money. Instead, it only asks for authentication during the initial login session.</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An attacker who gains access to a user's unlocked phone can initiate a high-value transfer without needing to re-authenticate, allowing unauthorized transactions.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How to Prevent Insecure Design Vulnerability</a:t>
            </a:r>
            <a:br>
              <a:rPr b="1" lang="en-US"/>
            </a:br>
            <a:endParaRPr/>
          </a:p>
        </p:txBody>
      </p:sp>
      <p:sp>
        <p:nvSpPr>
          <p:cNvPr id="513" name="Google Shape;513;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lang="en-US"/>
              <a:t>Use Secure development lifecycle during the designing phase of a product</a:t>
            </a:r>
            <a:endParaRPr/>
          </a:p>
          <a:p>
            <a:pPr indent="-342900" lvl="0" marL="342900" rtl="0" algn="just">
              <a:spcBef>
                <a:spcPts val="496"/>
              </a:spcBef>
              <a:spcAft>
                <a:spcPts val="0"/>
              </a:spcAft>
              <a:buClr>
                <a:schemeClr val="dk1"/>
              </a:buClr>
              <a:buSzPct val="100000"/>
              <a:buChar char="•"/>
            </a:pPr>
            <a:r>
              <a:rPr lang="en-US"/>
              <a:t>A pre-configured library of secure design patterns to use as a roadmap</a:t>
            </a:r>
            <a:endParaRPr/>
          </a:p>
          <a:p>
            <a:pPr indent="-342900" lvl="0" marL="342900" rtl="0" algn="just">
              <a:spcBef>
                <a:spcPts val="496"/>
              </a:spcBef>
              <a:spcAft>
                <a:spcPts val="0"/>
              </a:spcAft>
              <a:buClr>
                <a:schemeClr val="dk1"/>
              </a:buClr>
              <a:buSzPct val="100000"/>
              <a:buChar char="•"/>
            </a:pPr>
            <a:r>
              <a:rPr lang="en-US"/>
              <a:t>Threat modeling for designing authentication, access controls, business logics and key flows</a:t>
            </a:r>
            <a:endParaRPr/>
          </a:p>
          <a:p>
            <a:pPr indent="-342900" lvl="0" marL="342900" rtl="0" algn="just">
              <a:spcBef>
                <a:spcPts val="496"/>
              </a:spcBef>
              <a:spcAft>
                <a:spcPts val="0"/>
              </a:spcAft>
              <a:buClr>
                <a:schemeClr val="dk1"/>
              </a:buClr>
              <a:buSzPct val="100000"/>
              <a:buChar char="•"/>
            </a:pPr>
            <a:r>
              <a:rPr lang="en-US"/>
              <a:t>Conduct unit and integration tests to check if all critical flows of the design are safe as per the threat model</a:t>
            </a:r>
            <a:endParaRPr/>
          </a:p>
          <a:p>
            <a:pPr indent="-342900" lvl="0" marL="342900" rtl="0" algn="just">
              <a:spcBef>
                <a:spcPts val="496"/>
              </a:spcBef>
              <a:spcAft>
                <a:spcPts val="0"/>
              </a:spcAft>
              <a:buClr>
                <a:schemeClr val="dk1"/>
              </a:buClr>
              <a:buSzPct val="100000"/>
              <a:buChar char="•"/>
            </a:pPr>
            <a:r>
              <a:rPr lang="en-US"/>
              <a:t>A comprehensive document containing use-cases and misuse-cases for each level of the application</a:t>
            </a:r>
            <a:endParaRPr/>
          </a:p>
          <a:p>
            <a:pPr indent="-342900" lvl="0" marL="342900" rtl="0" algn="just">
              <a:spcBef>
                <a:spcPts val="496"/>
              </a:spcBef>
              <a:spcAft>
                <a:spcPts val="0"/>
              </a:spcAft>
              <a:buClr>
                <a:schemeClr val="dk1"/>
              </a:buClr>
              <a:buSzPct val="100000"/>
              <a:buChar char="•"/>
            </a:pPr>
            <a:r>
              <a:rPr lang="en-US"/>
              <a:t>Segregate the tier layers and network layers on the system according to the level of protection needed for each of them</a:t>
            </a:r>
            <a:endParaRPr/>
          </a:p>
          <a:p>
            <a:pPr indent="0" lvl="0" marL="0" rtl="0" algn="l">
              <a:spcBef>
                <a:spcPts val="496"/>
              </a:spcBef>
              <a:spcAft>
                <a:spcPts val="0"/>
              </a:spcAft>
              <a:buClr>
                <a:schemeClr val="dk1"/>
              </a:buClr>
              <a:buSzPct val="100000"/>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5. Security Misconfiguration</a:t>
            </a:r>
            <a:br>
              <a:rPr b="1" lang="en-US"/>
            </a:br>
            <a:endParaRPr/>
          </a:p>
        </p:txBody>
      </p:sp>
      <p:sp>
        <p:nvSpPr>
          <p:cNvPr id="519" name="Google Shape;519;p73"/>
          <p:cNvSpPr txBox="1"/>
          <p:nvPr>
            <p:ph idx="1" type="body"/>
          </p:nvPr>
        </p:nvSpPr>
        <p:spPr>
          <a:xfrm>
            <a:off x="457200" y="1052737"/>
            <a:ext cx="4330824" cy="4968552"/>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It is estimated that up to 95% of cloud breaches are the result of human errors and this fact leads us to the next vulnerability called security misconfiguration. </a:t>
            </a:r>
            <a:endParaRPr/>
          </a:p>
          <a:p>
            <a:pPr indent="-342900" lvl="0" marL="342900" rtl="0" algn="l">
              <a:spcBef>
                <a:spcPts val="544"/>
              </a:spcBef>
              <a:spcAft>
                <a:spcPts val="0"/>
              </a:spcAft>
              <a:buClr>
                <a:schemeClr val="dk1"/>
              </a:buClr>
              <a:buSzPct val="100000"/>
              <a:buChar char="•"/>
            </a:pPr>
            <a:r>
              <a:rPr lang="en-US"/>
              <a:t>This vulnerability refers to the improper implementation of security intended to keep application data safe.</a:t>
            </a:r>
            <a:endParaRPr/>
          </a:p>
        </p:txBody>
      </p:sp>
      <p:sp>
        <p:nvSpPr>
          <p:cNvPr descr="security_misconfiguration_attack_example" id="520" name="Google Shape;520;p7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21" name="Google Shape;521;p73"/>
          <p:cNvPicPr preferRelativeResize="0"/>
          <p:nvPr/>
        </p:nvPicPr>
        <p:blipFill rotWithShape="1">
          <a:blip r:embed="rId3">
            <a:alphaModFix/>
          </a:blip>
          <a:srcRect b="0" l="0" r="0" t="0"/>
          <a:stretch/>
        </p:blipFill>
        <p:spPr>
          <a:xfrm>
            <a:off x="4766274" y="1196753"/>
            <a:ext cx="4126205" cy="331236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Vulnerabilities covered under Security Misconfiguration</a:t>
            </a:r>
            <a:br>
              <a:rPr b="1" lang="en-US"/>
            </a:br>
            <a:endParaRPr/>
          </a:p>
        </p:txBody>
      </p:sp>
      <p:sp>
        <p:nvSpPr>
          <p:cNvPr id="527" name="Google Shape;527;p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Use of default credentials by an account</a:t>
            </a:r>
            <a:endParaRPr/>
          </a:p>
          <a:p>
            <a:pPr indent="-342900" lvl="0" marL="342900" rtl="0" algn="l">
              <a:spcBef>
                <a:spcPts val="592"/>
              </a:spcBef>
              <a:spcAft>
                <a:spcPts val="0"/>
              </a:spcAft>
              <a:buClr>
                <a:schemeClr val="dk1"/>
              </a:buClr>
              <a:buSzPct val="100000"/>
              <a:buChar char="•"/>
            </a:pPr>
            <a:r>
              <a:rPr lang="en-US"/>
              <a:t>Latest security features on disabled mode in the updated systems</a:t>
            </a:r>
            <a:endParaRPr/>
          </a:p>
          <a:p>
            <a:pPr indent="-342900" lvl="0" marL="342900" rtl="0" algn="l">
              <a:spcBef>
                <a:spcPts val="592"/>
              </a:spcBef>
              <a:spcAft>
                <a:spcPts val="0"/>
              </a:spcAft>
              <a:buClr>
                <a:schemeClr val="dk1"/>
              </a:buClr>
              <a:buSzPct val="100000"/>
              <a:buChar char="•"/>
            </a:pPr>
            <a:r>
              <a:rPr lang="en-US"/>
              <a:t>Outdated software</a:t>
            </a:r>
            <a:endParaRPr/>
          </a:p>
          <a:p>
            <a:pPr indent="-342900" lvl="0" marL="342900" rtl="0" algn="l">
              <a:spcBef>
                <a:spcPts val="592"/>
              </a:spcBef>
              <a:spcAft>
                <a:spcPts val="0"/>
              </a:spcAft>
              <a:buClr>
                <a:schemeClr val="dk1"/>
              </a:buClr>
              <a:buSzPct val="100000"/>
              <a:buChar char="•"/>
            </a:pPr>
            <a:r>
              <a:rPr lang="en-US"/>
              <a:t>Insecure security settings like libraries, databases, application frameworks</a:t>
            </a:r>
            <a:endParaRPr/>
          </a:p>
          <a:p>
            <a:pPr indent="-342900" lvl="0" marL="342900" rtl="0" algn="l">
              <a:spcBef>
                <a:spcPts val="592"/>
              </a:spcBef>
              <a:spcAft>
                <a:spcPts val="0"/>
              </a:spcAft>
              <a:buClr>
                <a:schemeClr val="dk1"/>
              </a:buClr>
              <a:buSzPct val="100000"/>
              <a:buChar char="•"/>
            </a:pPr>
            <a:r>
              <a:rPr lang="en-US"/>
              <a:t>Lack of appropriate security measures in the cloud services</a:t>
            </a:r>
            <a:endParaRPr/>
          </a:p>
          <a:p>
            <a:pPr indent="-342900" lvl="0" marL="342900" rtl="0" algn="l">
              <a:spcBef>
                <a:spcPts val="592"/>
              </a:spcBef>
              <a:spcAft>
                <a:spcPts val="0"/>
              </a:spcAft>
              <a:buClr>
                <a:schemeClr val="dk1"/>
              </a:buClr>
              <a:buSzPct val="100000"/>
              <a:buChar char="•"/>
            </a:pPr>
            <a:r>
              <a:rPr lang="en-US"/>
              <a:t>Security headers not set to secure values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Security Misconfiguration</a:t>
            </a:r>
            <a:br>
              <a:rPr b="1" lang="en-US"/>
            </a:br>
            <a:endParaRPr/>
          </a:p>
        </p:txBody>
      </p:sp>
      <p:sp>
        <p:nvSpPr>
          <p:cNvPr id="533" name="Google Shape;533;p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An attacker scans public-facing sites for common CMS platforms and attempts to log in using known default credentials. </a:t>
            </a:r>
            <a:endParaRPr/>
          </a:p>
          <a:p>
            <a:pPr indent="-342900" lvl="0" marL="342900" rtl="0" algn="l">
              <a:spcBef>
                <a:spcPts val="640"/>
              </a:spcBef>
              <a:spcAft>
                <a:spcPts val="0"/>
              </a:spcAft>
              <a:buClr>
                <a:schemeClr val="dk1"/>
              </a:buClr>
              <a:buSzPts val="3200"/>
              <a:buChar char="•"/>
            </a:pPr>
            <a:r>
              <a:rPr lang="en-US"/>
              <a:t>The attacker successfully logs in to the admin panel and gains full control of the website, including access to user data and the ability to upload malicious content.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How to Prevent Security Misconfiguration Vulnerabilities</a:t>
            </a:r>
            <a:br>
              <a:rPr b="1" lang="en-US"/>
            </a:br>
            <a:endParaRPr/>
          </a:p>
        </p:txBody>
      </p:sp>
      <p:sp>
        <p:nvSpPr>
          <p:cNvPr id="539" name="Google Shape;539;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Using Dynamic application security testing (DAST)</a:t>
            </a:r>
            <a:endParaRPr/>
          </a:p>
          <a:p>
            <a:pPr indent="-342900" lvl="0" marL="342900" rtl="0" algn="l">
              <a:spcBef>
                <a:spcPts val="640"/>
              </a:spcBef>
              <a:spcAft>
                <a:spcPts val="0"/>
              </a:spcAft>
              <a:buClr>
                <a:schemeClr val="dk1"/>
              </a:buClr>
              <a:buSzPts val="3200"/>
              <a:buChar char="•"/>
            </a:pPr>
            <a:r>
              <a:rPr lang="en-US"/>
              <a:t>Disabling the use of default passwords</a:t>
            </a:r>
            <a:endParaRPr/>
          </a:p>
          <a:p>
            <a:pPr indent="-342900" lvl="0" marL="342900" rtl="0" algn="l">
              <a:spcBef>
                <a:spcPts val="640"/>
              </a:spcBef>
              <a:spcAft>
                <a:spcPts val="0"/>
              </a:spcAft>
              <a:buClr>
                <a:schemeClr val="dk1"/>
              </a:buClr>
              <a:buSzPts val="3200"/>
              <a:buChar char="•"/>
            </a:pPr>
            <a:r>
              <a:rPr lang="en-US"/>
              <a:t>Keeping an eye on cloud resources, applications, and servers</a:t>
            </a:r>
            <a:endParaRPr/>
          </a:p>
          <a:p>
            <a:pPr indent="-342900" lvl="0" marL="342900" rtl="0" algn="l">
              <a:spcBef>
                <a:spcPts val="640"/>
              </a:spcBef>
              <a:spcAft>
                <a:spcPts val="0"/>
              </a:spcAft>
              <a:buClr>
                <a:schemeClr val="dk1"/>
              </a:buClr>
              <a:buSzPts val="3200"/>
              <a:buChar char="•"/>
            </a:pPr>
            <a:r>
              <a:rPr lang="en-US"/>
              <a:t>Automated process to verify the effectiveness of security configurations time to time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6. Vulnerable and Outdated Components</a:t>
            </a:r>
            <a:br>
              <a:rPr b="1" lang="en-US"/>
            </a:br>
            <a:endParaRPr/>
          </a:p>
        </p:txBody>
      </p:sp>
      <p:sp>
        <p:nvSpPr>
          <p:cNvPr id="545" name="Google Shape;545;p77"/>
          <p:cNvSpPr txBox="1"/>
          <p:nvPr>
            <p:ph idx="1" type="body"/>
          </p:nvPr>
        </p:nvSpPr>
        <p:spPr>
          <a:xfrm>
            <a:off x="457200" y="1600201"/>
            <a:ext cx="4186808" cy="44210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t>Nowadays there are many open-source and freely available software components (libraries, frameworks) that are available to developers and if there occurs any component which has got a known vulnerability in it then it becomes a weak link that can impact the security of the entire application. </a:t>
            </a:r>
            <a:endParaRPr sz="2000"/>
          </a:p>
          <a:p>
            <a:pPr indent="-342900" lvl="0" marL="342900" rtl="0" algn="l">
              <a:spcBef>
                <a:spcPts val="400"/>
              </a:spcBef>
              <a:spcAft>
                <a:spcPts val="0"/>
              </a:spcAft>
              <a:buClr>
                <a:schemeClr val="dk1"/>
              </a:buClr>
              <a:buSzPts val="2000"/>
              <a:buChar char="•"/>
            </a:pPr>
            <a:r>
              <a:rPr lang="en-US" sz="2000"/>
              <a:t>Attackers can take advantage of these weaknesses to gain unauthorized access, execute code, or disrupt application functionality.</a:t>
            </a:r>
            <a:endParaRPr sz="2000"/>
          </a:p>
        </p:txBody>
      </p:sp>
      <p:sp>
        <p:nvSpPr>
          <p:cNvPr descr="vulnerable_and_outdated_components_attack_example" id="546" name="Google Shape;546;p7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47" name="Google Shape;547;p77"/>
          <p:cNvPicPr preferRelativeResize="0"/>
          <p:nvPr/>
        </p:nvPicPr>
        <p:blipFill rotWithShape="1">
          <a:blip r:embed="rId3">
            <a:alphaModFix/>
          </a:blip>
          <a:srcRect b="0" l="0" r="0" t="0"/>
          <a:stretch/>
        </p:blipFill>
        <p:spPr>
          <a:xfrm>
            <a:off x="4716016" y="1531302"/>
            <a:ext cx="4170040" cy="38100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Vulnerabilities due to Vulnerable and Outdated Components</a:t>
            </a:r>
            <a:br>
              <a:rPr b="1" lang="en-US"/>
            </a:br>
            <a:endParaRPr/>
          </a:p>
        </p:txBody>
      </p:sp>
      <p:sp>
        <p:nvSpPr>
          <p:cNvPr id="553" name="Google Shape;553;p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Lack of information about all the components including client and server side, including direct and nested dependencies</a:t>
            </a:r>
            <a:endParaRPr/>
          </a:p>
          <a:p>
            <a:pPr indent="-342900" lvl="0" marL="342900" rtl="0" algn="l">
              <a:spcBef>
                <a:spcPts val="592"/>
              </a:spcBef>
              <a:spcAft>
                <a:spcPts val="0"/>
              </a:spcAft>
              <a:buClr>
                <a:schemeClr val="dk1"/>
              </a:buClr>
              <a:buSzPct val="100000"/>
              <a:buChar char="•"/>
            </a:pPr>
            <a:r>
              <a:rPr lang="en-US"/>
              <a:t>Vulnerable or outdated software, including databases, OS, servers, DBMS, APIs, runtime environments, libraries and all other components of an application.</a:t>
            </a:r>
            <a:endParaRPr/>
          </a:p>
          <a:p>
            <a:pPr indent="-342900" lvl="0" marL="342900" rtl="0" algn="l">
              <a:spcBef>
                <a:spcPts val="592"/>
              </a:spcBef>
              <a:spcAft>
                <a:spcPts val="0"/>
              </a:spcAft>
              <a:buClr>
                <a:schemeClr val="dk1"/>
              </a:buClr>
              <a:buSzPct val="100000"/>
              <a:buChar char="•"/>
            </a:pPr>
            <a:r>
              <a:rPr lang="en-US"/>
              <a:t>Irregular scan of vulnerabilities in a system</a:t>
            </a:r>
            <a:endParaRPr/>
          </a:p>
          <a:p>
            <a:pPr indent="-342900" lvl="0" marL="342900" rtl="0" algn="l">
              <a:spcBef>
                <a:spcPts val="592"/>
              </a:spcBef>
              <a:spcAft>
                <a:spcPts val="0"/>
              </a:spcAft>
              <a:buClr>
                <a:schemeClr val="dk1"/>
              </a:buClr>
              <a:buSzPct val="100000"/>
              <a:buChar char="•"/>
            </a:pPr>
            <a:r>
              <a:rPr lang="en-US"/>
              <a:t>Untested compatibility of updated, upgraded and patched libraries by software developers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Vulnerable and Outdated Components</a:t>
            </a:r>
            <a:br>
              <a:rPr b="1" lang="en-US"/>
            </a:br>
            <a:endParaRPr/>
          </a:p>
        </p:txBody>
      </p:sp>
      <p:sp>
        <p:nvSpPr>
          <p:cNvPr id="559" name="Google Shape;559;p7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A company’s web application runs on Apache Struts 2.3, a version with a known vulnerability that allows remote code execution (RCE). Despite the patch being available for months, the company fails to update the framework.</a:t>
            </a:r>
            <a:endParaRPr/>
          </a:p>
          <a:p>
            <a:pPr indent="-342900" lvl="0" marL="342900" rtl="0" algn="l">
              <a:spcBef>
                <a:spcPts val="592"/>
              </a:spcBef>
              <a:spcAft>
                <a:spcPts val="0"/>
              </a:spcAft>
              <a:buClr>
                <a:schemeClr val="dk1"/>
              </a:buClr>
              <a:buSzPct val="100000"/>
              <a:buChar char="•"/>
            </a:pPr>
            <a:r>
              <a:rPr lang="en-US"/>
              <a:t>An attacker scans for applications using this outdated version, exploits the vulnerability, and gains control of the server allowing them to execute arbitrary commands, access sensitive data, and potentially pivot deeper into the network.</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sz="4000"/>
              <a:t>Vulnerable and Outdated Components attacks can be prevented by</a:t>
            </a:r>
            <a:br>
              <a:rPr b="1" lang="en-US" sz="4000"/>
            </a:br>
            <a:endParaRPr/>
          </a:p>
        </p:txBody>
      </p:sp>
      <p:sp>
        <p:nvSpPr>
          <p:cNvPr id="565" name="Google Shape;565;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Remove unnecessary dependencies, features, components and files</a:t>
            </a:r>
            <a:endParaRPr/>
          </a:p>
          <a:p>
            <a:pPr indent="-342900" lvl="0" marL="342900" rtl="0" algn="l">
              <a:spcBef>
                <a:spcPts val="640"/>
              </a:spcBef>
              <a:spcAft>
                <a:spcPts val="0"/>
              </a:spcAft>
              <a:buClr>
                <a:schemeClr val="dk1"/>
              </a:buClr>
              <a:buSzPts val="3200"/>
              <a:buChar char="•"/>
            </a:pPr>
            <a:r>
              <a:rPr lang="en-US"/>
              <a:t>Install components of a system only from official sources through secure channels only.</a:t>
            </a:r>
            <a:endParaRPr/>
          </a:p>
          <a:p>
            <a:pPr indent="-342900" lvl="0" marL="342900" rtl="0" algn="l">
              <a:spcBef>
                <a:spcPts val="640"/>
              </a:spcBef>
              <a:spcAft>
                <a:spcPts val="0"/>
              </a:spcAft>
              <a:buClr>
                <a:schemeClr val="dk1"/>
              </a:buClr>
              <a:buSzPts val="3200"/>
              <a:buChar char="•"/>
            </a:pPr>
            <a:r>
              <a:rPr lang="en-US"/>
              <a:t>Properly maintain the libraries and components and regularly check for updates and upgrades for each.</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7. Identification and Authentication Failures</a:t>
            </a:r>
            <a:br>
              <a:rPr b="1" lang="en-US"/>
            </a:br>
            <a:endParaRPr/>
          </a:p>
        </p:txBody>
      </p:sp>
      <p:sp>
        <p:nvSpPr>
          <p:cNvPr id="571" name="Google Shape;571;p81"/>
          <p:cNvSpPr txBox="1"/>
          <p:nvPr>
            <p:ph idx="1" type="body"/>
          </p:nvPr>
        </p:nvSpPr>
        <p:spPr>
          <a:xfrm>
            <a:off x="457200" y="1600201"/>
            <a:ext cx="4114800" cy="4493096"/>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his vulnerability was previously listed as Broken Authentication, It is a vulnerability that allows an attacker to use manual or automatic methods to try to gain control over any account they want in a system. In worse conditions, they could also gain complete control over the system.</a:t>
            </a:r>
            <a:endParaRPr/>
          </a:p>
        </p:txBody>
      </p:sp>
      <p:sp>
        <p:nvSpPr>
          <p:cNvPr descr="identification_and_authentication_failures_attack_example" id="572" name="Google Shape;572;p8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73" name="Google Shape;573;p81"/>
          <p:cNvPicPr preferRelativeResize="0"/>
          <p:nvPr/>
        </p:nvPicPr>
        <p:blipFill rotWithShape="1">
          <a:blip r:embed="rId3">
            <a:alphaModFix/>
          </a:blip>
          <a:srcRect b="0" l="0" r="0" t="0"/>
          <a:stretch/>
        </p:blipFill>
        <p:spPr>
          <a:xfrm>
            <a:off x="4499992" y="1546514"/>
            <a:ext cx="4314056" cy="440276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br>
              <a:rPr b="1" lang="en-US" sz="3600"/>
            </a:br>
            <a:r>
              <a:rPr b="1" lang="en-US" sz="3600"/>
              <a:t>Causes of Identification and Authentication Failures</a:t>
            </a:r>
            <a:br>
              <a:rPr b="1" lang="en-US" sz="3600"/>
            </a:br>
            <a:endParaRPr sz="3600"/>
          </a:p>
        </p:txBody>
      </p:sp>
      <p:sp>
        <p:nvSpPr>
          <p:cNvPr id="579" name="Google Shape;579;p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Automated attacks like credential stuffing, brute-force attacks to gain unauthorized access to a system</a:t>
            </a:r>
            <a:endParaRPr/>
          </a:p>
          <a:p>
            <a:pPr indent="-342900" lvl="0" marL="342900" rtl="0" algn="l">
              <a:spcBef>
                <a:spcPts val="592"/>
              </a:spcBef>
              <a:spcAft>
                <a:spcPts val="0"/>
              </a:spcAft>
              <a:buClr>
                <a:schemeClr val="dk1"/>
              </a:buClr>
              <a:buSzPct val="100000"/>
              <a:buChar char="•"/>
            </a:pPr>
            <a:r>
              <a:rPr lang="en-US"/>
              <a:t>Default and weak credentials are allowed by any system</a:t>
            </a:r>
            <a:endParaRPr/>
          </a:p>
          <a:p>
            <a:pPr indent="-342900" lvl="0" marL="342900" rtl="0" algn="l">
              <a:spcBef>
                <a:spcPts val="592"/>
              </a:spcBef>
              <a:spcAft>
                <a:spcPts val="0"/>
              </a:spcAft>
              <a:buClr>
                <a:schemeClr val="dk1"/>
              </a:buClr>
              <a:buSzPct val="100000"/>
              <a:buChar char="•"/>
            </a:pPr>
            <a:r>
              <a:rPr lang="en-US"/>
              <a:t>Lack of Multi-factor authentication</a:t>
            </a:r>
            <a:endParaRPr/>
          </a:p>
          <a:p>
            <a:pPr indent="-342900" lvl="0" marL="342900" rtl="0" algn="l">
              <a:spcBef>
                <a:spcPts val="592"/>
              </a:spcBef>
              <a:spcAft>
                <a:spcPts val="0"/>
              </a:spcAft>
              <a:buClr>
                <a:schemeClr val="dk1"/>
              </a:buClr>
              <a:buSzPct val="100000"/>
              <a:buChar char="•"/>
            </a:pPr>
            <a:r>
              <a:rPr lang="en-US"/>
              <a:t>Insecure password recovery mechanisms</a:t>
            </a:r>
            <a:endParaRPr/>
          </a:p>
          <a:p>
            <a:pPr indent="-342900" lvl="0" marL="342900" rtl="0" algn="l">
              <a:spcBef>
                <a:spcPts val="592"/>
              </a:spcBef>
              <a:spcAft>
                <a:spcPts val="0"/>
              </a:spcAft>
              <a:buClr>
                <a:schemeClr val="dk1"/>
              </a:buClr>
              <a:buSzPct val="100000"/>
              <a:buChar char="•"/>
            </a:pPr>
            <a:r>
              <a:rPr lang="en-US"/>
              <a:t>Unencrypted storage of usernames and passwords</a:t>
            </a:r>
            <a:endParaRPr/>
          </a:p>
          <a:p>
            <a:pPr indent="-342900" lvl="0" marL="342900" rtl="0" algn="l">
              <a:spcBef>
                <a:spcPts val="592"/>
              </a:spcBef>
              <a:spcAft>
                <a:spcPts val="0"/>
              </a:spcAft>
              <a:buClr>
                <a:schemeClr val="dk1"/>
              </a:buClr>
              <a:buSzPct val="100000"/>
              <a:buChar char="•"/>
            </a:pPr>
            <a:r>
              <a:rPr lang="en-US"/>
              <a:t>Improper validation of Session IDs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Identification and Authentication Failure</a:t>
            </a:r>
            <a:br>
              <a:rPr b="1" lang="en-US"/>
            </a:br>
            <a:endParaRPr/>
          </a:p>
        </p:txBody>
      </p:sp>
      <p:sp>
        <p:nvSpPr>
          <p:cNvPr id="585" name="Google Shape;585;p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mobile app allows users to log in using only their email address, without requiring a password or any second factor of authentication. </a:t>
            </a:r>
            <a:endParaRPr/>
          </a:p>
          <a:p>
            <a:pPr indent="-342900" lvl="0" marL="342900" rtl="0" algn="l">
              <a:spcBef>
                <a:spcPts val="640"/>
              </a:spcBef>
              <a:spcAft>
                <a:spcPts val="0"/>
              </a:spcAft>
              <a:buClr>
                <a:schemeClr val="dk1"/>
              </a:buClr>
              <a:buSzPts val="3200"/>
              <a:buChar char="•"/>
            </a:pPr>
            <a:r>
              <a:rPr lang="en-US"/>
              <a:t>Once an attacker identifies a valid email address, they can impersonate that user and gain full access to their account without needing to prove their identity.</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Identification and Authentication Failures can be prevented by</a:t>
            </a:r>
            <a:endParaRPr b="1"/>
          </a:p>
        </p:txBody>
      </p:sp>
      <p:sp>
        <p:nvSpPr>
          <p:cNvPr id="591" name="Google Shape;591;p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Implementing multi-factor authentication</a:t>
            </a:r>
            <a:endParaRPr/>
          </a:p>
          <a:p>
            <a:pPr indent="-342900" lvl="0" marL="342900" rtl="0" algn="l">
              <a:spcBef>
                <a:spcPts val="640"/>
              </a:spcBef>
              <a:spcAft>
                <a:spcPts val="0"/>
              </a:spcAft>
              <a:buClr>
                <a:schemeClr val="dk1"/>
              </a:buClr>
              <a:buSzPts val="3200"/>
              <a:buChar char="•"/>
            </a:pPr>
            <a:r>
              <a:rPr lang="en-US"/>
              <a:t>Protecting user credentials</a:t>
            </a:r>
            <a:endParaRPr/>
          </a:p>
          <a:p>
            <a:pPr indent="-342900" lvl="0" marL="342900" rtl="0" algn="l">
              <a:spcBef>
                <a:spcPts val="640"/>
              </a:spcBef>
              <a:spcAft>
                <a:spcPts val="0"/>
              </a:spcAft>
              <a:buClr>
                <a:schemeClr val="dk1"/>
              </a:buClr>
              <a:buSzPts val="3200"/>
              <a:buChar char="•"/>
            </a:pPr>
            <a:r>
              <a:rPr lang="en-US"/>
              <a:t>Sending passwords over encrypted connections</a:t>
            </a:r>
            <a:endParaRPr/>
          </a:p>
          <a:p>
            <a:pPr indent="-342900" lvl="0" marL="342900" rtl="0" algn="l">
              <a:spcBef>
                <a:spcPts val="640"/>
              </a:spcBef>
              <a:spcAft>
                <a:spcPts val="0"/>
              </a:spcAft>
              <a:buClr>
                <a:schemeClr val="dk1"/>
              </a:buClr>
              <a:buSzPts val="3200"/>
              <a:buChar char="•"/>
            </a:pPr>
            <a:r>
              <a:rPr lang="en-US"/>
              <a:t>Weak passwords should not be allowed for any user</a:t>
            </a:r>
            <a:endParaRPr/>
          </a:p>
          <a:p>
            <a:pPr indent="-342900" lvl="0" marL="342900" rtl="0" algn="l">
              <a:spcBef>
                <a:spcPts val="640"/>
              </a:spcBef>
              <a:spcAft>
                <a:spcPts val="0"/>
              </a:spcAft>
              <a:buClr>
                <a:schemeClr val="dk1"/>
              </a:buClr>
              <a:buSzPts val="3200"/>
              <a:buChar char="•"/>
            </a:pPr>
            <a:r>
              <a:rPr lang="en-US"/>
              <a:t>Credential Recovery process must be secured</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8. Software and Data Integrity Failures</a:t>
            </a:r>
            <a:br>
              <a:rPr b="1" lang="en-US"/>
            </a:br>
            <a:endParaRPr/>
          </a:p>
        </p:txBody>
      </p:sp>
      <p:sp>
        <p:nvSpPr>
          <p:cNvPr id="597" name="Google Shape;597;p85"/>
          <p:cNvSpPr txBox="1"/>
          <p:nvPr>
            <p:ph idx="1" type="body"/>
          </p:nvPr>
        </p:nvSpPr>
        <p:spPr>
          <a:xfrm>
            <a:off x="457200" y="1600200"/>
            <a:ext cx="4402832" cy="4925144"/>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When the integrity of a software or data could be compromised by an attacker leads to software and data integrity failures. </a:t>
            </a:r>
            <a:endParaRPr/>
          </a:p>
          <a:p>
            <a:pPr indent="-342900" lvl="0" marL="342900" rtl="0" algn="l">
              <a:spcBef>
                <a:spcPts val="448"/>
              </a:spcBef>
              <a:spcAft>
                <a:spcPts val="0"/>
              </a:spcAft>
              <a:buClr>
                <a:schemeClr val="dk1"/>
              </a:buClr>
              <a:buSzPct val="100000"/>
              <a:buChar char="•"/>
            </a:pPr>
            <a:r>
              <a:rPr lang="en-US"/>
              <a:t>If an application relies on dependencies like libraries, modules or plugins from a untrusted source or repository it could lead to Software and Data Integrity Failures. </a:t>
            </a:r>
            <a:endParaRPr/>
          </a:p>
          <a:p>
            <a:pPr indent="-342900" lvl="0" marL="342900" rtl="0" algn="l">
              <a:spcBef>
                <a:spcPts val="448"/>
              </a:spcBef>
              <a:spcAft>
                <a:spcPts val="0"/>
              </a:spcAft>
              <a:buClr>
                <a:schemeClr val="dk1"/>
              </a:buClr>
              <a:buSzPct val="100000"/>
              <a:buChar char="•"/>
            </a:pPr>
            <a:r>
              <a:rPr lang="en-US"/>
              <a:t>Auto-update functionality where systems are updated automatically without a proper integrity verification are vulnerable to attacks.</a:t>
            </a:r>
            <a:endParaRPr/>
          </a:p>
        </p:txBody>
      </p:sp>
      <p:sp>
        <p:nvSpPr>
          <p:cNvPr descr="software_and_data_integrity_failures_working" id="598" name="Google Shape;598;p8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99" name="Google Shape;599;p85"/>
          <p:cNvPicPr preferRelativeResize="0"/>
          <p:nvPr/>
        </p:nvPicPr>
        <p:blipFill rotWithShape="1">
          <a:blip r:embed="rId3">
            <a:alphaModFix/>
          </a:blip>
          <a:srcRect b="0" l="0" r="0" t="0"/>
          <a:stretch/>
        </p:blipFill>
        <p:spPr>
          <a:xfrm>
            <a:off x="4860032" y="1524000"/>
            <a:ext cx="4258410" cy="420925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Vulnerabilities under Software and Data Integrity Failures</a:t>
            </a:r>
            <a:endParaRPr/>
          </a:p>
        </p:txBody>
      </p:sp>
      <p:sp>
        <p:nvSpPr>
          <p:cNvPr id="605" name="Google Shape;605;p8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203200" rtl="0" algn="l">
              <a:spcBef>
                <a:spcPts val="0"/>
              </a:spcBef>
              <a:spcAft>
                <a:spcPts val="0"/>
              </a:spcAft>
              <a:buClr>
                <a:schemeClr val="dk1"/>
              </a:buClr>
              <a:buSzPts val="3200"/>
              <a:buNone/>
            </a:pPr>
            <a:r>
              <a:t/>
            </a:r>
            <a:endParaRPr b="1"/>
          </a:p>
          <a:p>
            <a:pPr indent="-342900" lvl="0" marL="342900" rtl="0" algn="l">
              <a:spcBef>
                <a:spcPts val="640"/>
              </a:spcBef>
              <a:spcAft>
                <a:spcPts val="0"/>
              </a:spcAft>
              <a:buClr>
                <a:schemeClr val="dk1"/>
              </a:buClr>
              <a:buSzPts val="3200"/>
              <a:buChar char="•"/>
            </a:pPr>
            <a:r>
              <a:rPr lang="en-US"/>
              <a:t>Untrusted sources of dependencies for plugins, libraries, modules</a:t>
            </a:r>
            <a:endParaRPr/>
          </a:p>
          <a:p>
            <a:pPr indent="-342900" lvl="0" marL="342900" rtl="0" algn="l">
              <a:spcBef>
                <a:spcPts val="640"/>
              </a:spcBef>
              <a:spcAft>
                <a:spcPts val="0"/>
              </a:spcAft>
              <a:buClr>
                <a:schemeClr val="dk1"/>
              </a:buClr>
              <a:buSzPts val="3200"/>
              <a:buChar char="•"/>
            </a:pPr>
            <a:r>
              <a:rPr lang="en-US"/>
              <a:t>Insecure CI/CD pipeline leading to unauthorized access, malware upload or system compromise</a:t>
            </a:r>
            <a:endParaRPr/>
          </a:p>
          <a:p>
            <a:pPr indent="-342900" lvl="0" marL="342900" rtl="0" algn="l">
              <a:spcBef>
                <a:spcPts val="640"/>
              </a:spcBef>
              <a:spcAft>
                <a:spcPts val="0"/>
              </a:spcAft>
              <a:buClr>
                <a:schemeClr val="dk1"/>
              </a:buClr>
              <a:buSzPts val="3200"/>
              <a:buChar char="•"/>
            </a:pPr>
            <a:r>
              <a:rPr lang="en-US"/>
              <a:t>Auto-update without proper integrity verification</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Software and Data Integrity Failures </a:t>
            </a:r>
            <a:br>
              <a:rPr b="1" lang="en-US"/>
            </a:br>
            <a:endParaRPr/>
          </a:p>
        </p:txBody>
      </p:sp>
      <p:sp>
        <p:nvSpPr>
          <p:cNvPr id="611" name="Google Shape;611;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company sets up automatic updates for its desktop software but does not verify the authenticity of the update source or use digital signatures. </a:t>
            </a:r>
            <a:endParaRPr/>
          </a:p>
          <a:p>
            <a:pPr indent="-342900" lvl="0" marL="342900" rtl="0" algn="l">
              <a:spcBef>
                <a:spcPts val="640"/>
              </a:spcBef>
              <a:spcAft>
                <a:spcPts val="0"/>
              </a:spcAft>
              <a:buClr>
                <a:schemeClr val="dk1"/>
              </a:buClr>
              <a:buSzPts val="3200"/>
              <a:buChar char="•"/>
            </a:pPr>
            <a:r>
              <a:rPr lang="en-US"/>
              <a:t>An attacker compromises the update server and pushes a malicious software update. All clients that download the update unknowingly install malware.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Software and Data Integrity Failures can be prevented by</a:t>
            </a:r>
            <a:br>
              <a:rPr b="1" lang="en-US"/>
            </a:br>
            <a:endParaRPr/>
          </a:p>
        </p:txBody>
      </p:sp>
      <p:sp>
        <p:nvSpPr>
          <p:cNvPr id="617" name="Google Shape;617;p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US"/>
              <a:t>Ensuring libraries and dependencies are installed from trusted repositories</a:t>
            </a:r>
            <a:endParaRPr/>
          </a:p>
          <a:p>
            <a:pPr indent="-342900" lvl="0" marL="342900" rtl="0" algn="l">
              <a:spcBef>
                <a:spcPts val="592"/>
              </a:spcBef>
              <a:spcAft>
                <a:spcPts val="0"/>
              </a:spcAft>
              <a:buClr>
                <a:schemeClr val="dk1"/>
              </a:buClr>
              <a:buSzPct val="100000"/>
              <a:buChar char="•"/>
            </a:pPr>
            <a:r>
              <a:rPr lang="en-US"/>
              <a:t>Unencrypted serialized data should not be sent to untrusted clients without an integrity check</a:t>
            </a:r>
            <a:endParaRPr/>
          </a:p>
          <a:p>
            <a:pPr indent="-342900" lvl="0" marL="342900" rtl="0" algn="l">
              <a:spcBef>
                <a:spcPts val="592"/>
              </a:spcBef>
              <a:spcAft>
                <a:spcPts val="0"/>
              </a:spcAft>
              <a:buClr>
                <a:schemeClr val="dk1"/>
              </a:buClr>
              <a:buSzPct val="100000"/>
              <a:buChar char="•"/>
            </a:pPr>
            <a:r>
              <a:rPr lang="en-US"/>
              <a:t>Use of digital signature to verify the integrity of any software or data</a:t>
            </a:r>
            <a:endParaRPr/>
          </a:p>
          <a:p>
            <a:pPr indent="-342900" lvl="0" marL="342900" rtl="0" algn="l">
              <a:spcBef>
                <a:spcPts val="592"/>
              </a:spcBef>
              <a:spcAft>
                <a:spcPts val="0"/>
              </a:spcAft>
              <a:buClr>
                <a:schemeClr val="dk1"/>
              </a:buClr>
              <a:buSzPct val="100000"/>
              <a:buChar char="•"/>
            </a:pPr>
            <a:r>
              <a:rPr lang="en-US"/>
              <a:t>Efficient code review process for code and configuration changes to reduce the chance of injected malicious code into the software pipeline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9. Security Logging and Monitoring Failures</a:t>
            </a:r>
            <a:br>
              <a:rPr b="1" lang="en-US"/>
            </a:br>
            <a:endParaRPr/>
          </a:p>
        </p:txBody>
      </p:sp>
      <p:sp>
        <p:nvSpPr>
          <p:cNvPr id="623" name="Google Shape;623;p89"/>
          <p:cNvSpPr txBox="1"/>
          <p:nvPr>
            <p:ph idx="1" type="body"/>
          </p:nvPr>
        </p:nvSpPr>
        <p:spPr>
          <a:xfrm>
            <a:off x="457200" y="1600201"/>
            <a:ext cx="4114800" cy="4205064"/>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Security Logging and Monitoring Failures occur when applications do not properly log critical events or fail to monitor and alert on suspicious activities. </a:t>
            </a:r>
            <a:endParaRPr/>
          </a:p>
          <a:p>
            <a:pPr indent="-342900" lvl="0" marL="342900" rtl="0" algn="l">
              <a:spcBef>
                <a:spcPts val="496"/>
              </a:spcBef>
              <a:spcAft>
                <a:spcPts val="0"/>
              </a:spcAft>
              <a:buClr>
                <a:schemeClr val="dk1"/>
              </a:buClr>
              <a:buSzPct val="100000"/>
              <a:buChar char="•"/>
            </a:pPr>
            <a:r>
              <a:rPr lang="en-US"/>
              <a:t>This can delay detection of breaches, hinder incident response, and allow attackers to operate undetected within systems.</a:t>
            </a:r>
            <a:endParaRPr/>
          </a:p>
        </p:txBody>
      </p:sp>
      <p:pic>
        <p:nvPicPr>
          <p:cNvPr id="624" name="Google Shape;624;p89"/>
          <p:cNvPicPr preferRelativeResize="0"/>
          <p:nvPr/>
        </p:nvPicPr>
        <p:blipFill rotWithShape="1">
          <a:blip r:embed="rId3">
            <a:alphaModFix/>
          </a:blip>
          <a:srcRect b="0" l="0" r="0" t="0"/>
          <a:stretch/>
        </p:blipFill>
        <p:spPr>
          <a:xfrm>
            <a:off x="4427984" y="1844824"/>
            <a:ext cx="4608512" cy="302433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Example of Security Logging and Monitoring Failure</a:t>
            </a:r>
            <a:br>
              <a:rPr b="1" lang="en-US"/>
            </a:br>
            <a:endParaRPr/>
          </a:p>
        </p:txBody>
      </p:sp>
      <p:sp>
        <p:nvSpPr>
          <p:cNvPr id="630" name="Google Shape;630;p9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An e-commerce website suffers a brute-force login attack, where an attacker makes thousands of login attempts using different username and password combinations. </a:t>
            </a:r>
            <a:endParaRPr/>
          </a:p>
          <a:p>
            <a:pPr indent="-342900" lvl="0" marL="342900" rtl="0" algn="l">
              <a:spcBef>
                <a:spcPts val="640"/>
              </a:spcBef>
              <a:spcAft>
                <a:spcPts val="0"/>
              </a:spcAft>
              <a:buClr>
                <a:schemeClr val="dk1"/>
              </a:buClr>
              <a:buSzPts val="3200"/>
              <a:buChar char="•"/>
            </a:pPr>
            <a:r>
              <a:rPr lang="en-US"/>
              <a:t>However, the system lacks proper logging and monitoring, so the repeated failed login attempts go unnoticed by the security team until user accounts are compromised.</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Security Logging and Monitoring Failure can be prevented by</a:t>
            </a:r>
            <a:br>
              <a:rPr b="1" lang="en-US"/>
            </a:br>
            <a:endParaRPr/>
          </a:p>
        </p:txBody>
      </p:sp>
      <p:sp>
        <p:nvSpPr>
          <p:cNvPr id="636" name="Google Shape;636;p9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Login controls, access controls and server-side input validation must be ensured</a:t>
            </a:r>
            <a:endParaRPr/>
          </a:p>
          <a:p>
            <a:pPr indent="-342900" lvl="0" marL="342900" rtl="0" algn="l">
              <a:spcBef>
                <a:spcPts val="640"/>
              </a:spcBef>
              <a:spcAft>
                <a:spcPts val="0"/>
              </a:spcAft>
              <a:buClr>
                <a:schemeClr val="dk1"/>
              </a:buClr>
              <a:buSzPts val="3200"/>
              <a:buChar char="•"/>
            </a:pPr>
            <a:r>
              <a:rPr lang="en-US"/>
              <a:t>Logs generated by the system should follow a particular format that can be easily stored and processed by log management solutions</a:t>
            </a:r>
            <a:endParaRPr/>
          </a:p>
          <a:p>
            <a:pPr indent="-342900" lvl="0" marL="342900" rtl="0" algn="l">
              <a:spcBef>
                <a:spcPts val="640"/>
              </a:spcBef>
              <a:spcAft>
                <a:spcPts val="0"/>
              </a:spcAft>
              <a:buClr>
                <a:schemeClr val="dk1"/>
              </a:buClr>
              <a:buSzPts val="3200"/>
              <a:buChar char="•"/>
            </a:pPr>
            <a:r>
              <a:rPr lang="en-US"/>
              <a:t>Effective monitoring and flagging of suspicious activities that are responded addressed</a:t>
            </a:r>
            <a:endParaRPr/>
          </a:p>
          <a:p>
            <a:pPr indent="-342900" lvl="0" marL="342900" rtl="0" algn="l">
              <a:spcBef>
                <a:spcPts val="640"/>
              </a:spcBef>
              <a:spcAft>
                <a:spcPts val="0"/>
              </a:spcAft>
              <a:buClr>
                <a:schemeClr val="dk1"/>
              </a:buClr>
              <a:buSzPts val="3200"/>
              <a:buChar char="•"/>
            </a:pPr>
            <a:r>
              <a:rPr lang="en-US"/>
              <a:t>A proper implementation of an incident response plan in case of security incident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10. Server-Side Request Forgery</a:t>
            </a:r>
            <a:br>
              <a:rPr b="1" lang="en-US"/>
            </a:br>
            <a:endParaRPr/>
          </a:p>
        </p:txBody>
      </p:sp>
      <p:sp>
        <p:nvSpPr>
          <p:cNvPr id="642" name="Google Shape;642;p92"/>
          <p:cNvSpPr txBox="1"/>
          <p:nvPr>
            <p:ph idx="1" type="body"/>
          </p:nvPr>
        </p:nvSpPr>
        <p:spPr>
          <a:xfrm>
            <a:off x="457200" y="1600200"/>
            <a:ext cx="4186808" cy="4565104"/>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SSRF (Server-Side Request Forgery) is a newly added vulnerability to the list of OWASP-10, it refers to when a web application does not validate the user-supplied URLs before fetching them, which lets the attacker force the legit website to send a forged request to an unexpected destination, despite being protected by firewalls, access controls etc.</a:t>
            </a:r>
            <a:endParaRPr/>
          </a:p>
        </p:txBody>
      </p:sp>
      <p:sp>
        <p:nvSpPr>
          <p:cNvPr descr="firewall" id="643" name="Google Shape;643;p9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44" name="Google Shape;644;p92"/>
          <p:cNvPicPr preferRelativeResize="0"/>
          <p:nvPr/>
        </p:nvPicPr>
        <p:blipFill rotWithShape="1">
          <a:blip r:embed="rId3">
            <a:alphaModFix/>
          </a:blip>
          <a:srcRect b="0" l="0" r="0" t="0"/>
          <a:stretch/>
        </p:blipFill>
        <p:spPr>
          <a:xfrm>
            <a:off x="4860031" y="1535968"/>
            <a:ext cx="4267741" cy="284110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3"/>
          <p:cNvSpPr txBox="1"/>
          <p:nvPr>
            <p:ph type="title"/>
          </p:nvPr>
        </p:nvSpPr>
        <p:spPr>
          <a:xfrm>
            <a:off x="457200" y="274638"/>
            <a:ext cx="8229600" cy="70609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sz="4000"/>
              <a:t>Example of Server-Side Request Forgery</a:t>
            </a:r>
            <a:br>
              <a:rPr b="1" lang="en-US" sz="4000"/>
            </a:br>
            <a:endParaRPr/>
          </a:p>
        </p:txBody>
      </p:sp>
      <p:sp>
        <p:nvSpPr>
          <p:cNvPr id="650" name="Google Shape;650;p93"/>
          <p:cNvSpPr txBox="1"/>
          <p:nvPr>
            <p:ph idx="1" type="body"/>
          </p:nvPr>
        </p:nvSpPr>
        <p:spPr>
          <a:xfrm>
            <a:off x="457200" y="980728"/>
            <a:ext cx="8229600" cy="5145435"/>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A web application allows users to input a URL to fetch and display metadata (e.g., a preview of a link).</a:t>
            </a:r>
            <a:endParaRPr/>
          </a:p>
          <a:p>
            <a:pPr indent="-342900" lvl="0" marL="342900" rtl="0" algn="l">
              <a:spcBef>
                <a:spcPts val="496"/>
              </a:spcBef>
              <a:spcAft>
                <a:spcPts val="0"/>
              </a:spcAft>
              <a:buClr>
                <a:schemeClr val="dk1"/>
              </a:buClr>
              <a:buSzPct val="100000"/>
              <a:buChar char="•"/>
            </a:pPr>
            <a:r>
              <a:rPr lang="en-US"/>
              <a:t>The server takes the user-supplied URL and makes an HTTP request to retrieve content, without proper validation or restriction.</a:t>
            </a:r>
            <a:endParaRPr/>
          </a:p>
          <a:p>
            <a:pPr indent="-342900" lvl="0" marL="342900" rtl="0" algn="l">
              <a:spcBef>
                <a:spcPts val="496"/>
              </a:spcBef>
              <a:spcAft>
                <a:spcPts val="0"/>
              </a:spcAft>
              <a:buClr>
                <a:schemeClr val="dk1"/>
              </a:buClr>
              <a:buSzPct val="100000"/>
              <a:buChar char="•"/>
            </a:pPr>
            <a:r>
              <a:rPr lang="en-US"/>
              <a:t>An attacker enters the following URL:</a:t>
            </a:r>
            <a:endParaRPr/>
          </a:p>
          <a:p>
            <a:pPr indent="-342900" lvl="0" marL="342900" rtl="0" algn="l">
              <a:spcBef>
                <a:spcPts val="496"/>
              </a:spcBef>
              <a:spcAft>
                <a:spcPts val="0"/>
              </a:spcAft>
              <a:buClr>
                <a:srgbClr val="FF0000"/>
              </a:buClr>
              <a:buSzPct val="100000"/>
              <a:buChar char="•"/>
            </a:pPr>
            <a:r>
              <a:rPr lang="en-US" u="sng">
                <a:solidFill>
                  <a:srgbClr val="FF0000"/>
                </a:solidFill>
                <a:hlinkClick r:id="rId3">
                  <a:extLst>
                    <a:ext uri="{A12FA001-AC4F-418D-AE19-62706E023703}">
                      <ahyp:hlinkClr val="tx"/>
                    </a:ext>
                  </a:extLst>
                </a:hlinkClick>
              </a:rPr>
              <a:t>http://169.254.169.254/latest/meta-data/iam/security-credentials/</a:t>
            </a:r>
            <a:endParaRPr>
              <a:solidFill>
                <a:srgbClr val="FF0000"/>
              </a:solidFill>
            </a:endParaRPr>
          </a:p>
          <a:p>
            <a:pPr indent="-342900" lvl="0" marL="342900" rtl="0" algn="l">
              <a:spcBef>
                <a:spcPts val="496"/>
              </a:spcBef>
              <a:spcAft>
                <a:spcPts val="0"/>
              </a:spcAft>
              <a:buClr>
                <a:schemeClr val="dk1"/>
              </a:buClr>
              <a:buSzPct val="100000"/>
              <a:buChar char="•"/>
            </a:pPr>
            <a:r>
              <a:rPr lang="en-US"/>
              <a:t>This is the internal metadata service IP used by cloud providers like AWS. The server, running in a cloud environment, fetches the internal URL and returns sensitive cloud instance credentials to the attacker.</a:t>
            </a:r>
            <a:endParaRPr/>
          </a:p>
          <a:p>
            <a:pPr indent="-342900" lvl="0" marL="342900" rtl="0" algn="l">
              <a:spcBef>
                <a:spcPts val="496"/>
              </a:spcBef>
              <a:spcAft>
                <a:spcPts val="0"/>
              </a:spcAft>
              <a:buClr>
                <a:schemeClr val="dk1"/>
              </a:buClr>
              <a:buSzPct val="100000"/>
              <a:buChar char="•"/>
            </a:pPr>
            <a:r>
              <a:rPr lang="en-US"/>
              <a:t>The attacker tricked the server into making a request to an internal resource that would otherwise be inaccessible, leading to credential theft or internal network access</a:t>
            </a:r>
            <a:endParaRPr/>
          </a:p>
          <a:p>
            <a:pPr indent="-185420" lvl="0" marL="342900" rtl="0" algn="l">
              <a:spcBef>
                <a:spcPts val="496"/>
              </a:spcBef>
              <a:spcAft>
                <a:spcPts val="0"/>
              </a:spcAft>
              <a:buClr>
                <a:schemeClr val="dk1"/>
              </a:buClr>
              <a:buSzPct val="100000"/>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Server-Side Request Forgery can be prevented by</a:t>
            </a:r>
            <a:br>
              <a:rPr b="1" lang="en-US"/>
            </a:br>
            <a:endParaRPr/>
          </a:p>
        </p:txBody>
      </p:sp>
      <p:sp>
        <p:nvSpPr>
          <p:cNvPr id="656" name="Google Shape;656;p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Sanitization and validation of all client-side input data</a:t>
            </a:r>
            <a:endParaRPr/>
          </a:p>
          <a:p>
            <a:pPr indent="-342900" lvl="0" marL="342900" rtl="0" algn="l">
              <a:spcBef>
                <a:spcPts val="592"/>
              </a:spcBef>
              <a:spcAft>
                <a:spcPts val="0"/>
              </a:spcAft>
              <a:buClr>
                <a:schemeClr val="dk1"/>
              </a:buClr>
              <a:buSzPct val="100000"/>
              <a:buChar char="•"/>
            </a:pPr>
            <a:r>
              <a:rPr lang="en-US"/>
              <a:t>HTTP redirections should be disabled</a:t>
            </a:r>
            <a:endParaRPr/>
          </a:p>
          <a:p>
            <a:pPr indent="-342900" lvl="0" marL="342900" rtl="0" algn="l">
              <a:spcBef>
                <a:spcPts val="592"/>
              </a:spcBef>
              <a:spcAft>
                <a:spcPts val="0"/>
              </a:spcAft>
              <a:buClr>
                <a:schemeClr val="dk1"/>
              </a:buClr>
              <a:buSzPct val="100000"/>
              <a:buChar char="•"/>
            </a:pPr>
            <a:r>
              <a:rPr lang="en-US"/>
              <a:t>Avoid using server-side functionality to fetch remote URLs unless absolutely necessary.</a:t>
            </a:r>
            <a:endParaRPr/>
          </a:p>
          <a:p>
            <a:pPr indent="-342900" lvl="0" marL="342900" rtl="0" algn="l">
              <a:spcBef>
                <a:spcPts val="592"/>
              </a:spcBef>
              <a:spcAft>
                <a:spcPts val="0"/>
              </a:spcAft>
              <a:buClr>
                <a:schemeClr val="dk1"/>
              </a:buClr>
              <a:buSzPct val="100000"/>
              <a:buChar char="•"/>
            </a:pPr>
            <a:r>
              <a:rPr lang="en-US"/>
              <a:t>If URL fetching is required, limit it to internal logic with strict controls.</a:t>
            </a:r>
            <a:endParaRPr/>
          </a:p>
          <a:p>
            <a:pPr indent="-342900" lvl="0" marL="342900" rtl="0" algn="l">
              <a:spcBef>
                <a:spcPts val="592"/>
              </a:spcBef>
              <a:spcAft>
                <a:spcPts val="0"/>
              </a:spcAft>
              <a:buClr>
                <a:schemeClr val="dk1"/>
              </a:buClr>
              <a:buSzPct val="100000"/>
              <a:buChar char="•"/>
            </a:pPr>
            <a:r>
              <a:rPr lang="en-US"/>
              <a:t>Use firewalls and network policies to prevent outbound requests to internal or sensitive systems.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Secure Code Review</a:t>
            </a:r>
            <a:br>
              <a:rPr b="1" lang="en-US"/>
            </a:br>
            <a:endParaRPr/>
          </a:p>
        </p:txBody>
      </p:sp>
      <p:sp>
        <p:nvSpPr>
          <p:cNvPr id="662" name="Google Shape;662;p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A Secure Code Review is a systematic evaluation of application source code (and related build/config) to find, prioritise, and remediate security weaknesses before they reach production.</a:t>
            </a:r>
            <a:endParaRPr/>
          </a:p>
          <a:p>
            <a:pPr indent="-342900" lvl="0" marL="342900" rtl="0" algn="l">
              <a:spcBef>
                <a:spcPts val="592"/>
              </a:spcBef>
              <a:spcAft>
                <a:spcPts val="0"/>
              </a:spcAft>
              <a:buClr>
                <a:schemeClr val="dk1"/>
              </a:buClr>
              <a:buSzPct val="100000"/>
              <a:buChar char="•"/>
            </a:pPr>
            <a:r>
              <a:rPr b="1" lang="en-US"/>
              <a:t>It Purpose to:</a:t>
            </a:r>
            <a:endParaRPr/>
          </a:p>
          <a:p>
            <a:pPr indent="-342900" lvl="0" marL="342900" rtl="0" algn="l">
              <a:spcBef>
                <a:spcPts val="592"/>
              </a:spcBef>
              <a:spcAft>
                <a:spcPts val="0"/>
              </a:spcAft>
              <a:buClr>
                <a:schemeClr val="dk1"/>
              </a:buClr>
              <a:buSzPct val="100000"/>
              <a:buChar char="•"/>
            </a:pPr>
            <a:r>
              <a:rPr lang="en-US"/>
              <a:t>Find vulnerabilities early (logic flaws, injection, auth bugs, secrets).</a:t>
            </a:r>
            <a:endParaRPr/>
          </a:p>
          <a:p>
            <a:pPr indent="-342900" lvl="0" marL="342900" rtl="0" algn="l">
              <a:spcBef>
                <a:spcPts val="592"/>
              </a:spcBef>
              <a:spcAft>
                <a:spcPts val="0"/>
              </a:spcAft>
              <a:buClr>
                <a:schemeClr val="dk1"/>
              </a:buClr>
              <a:buSzPct val="100000"/>
              <a:buChar char="•"/>
            </a:pPr>
            <a:r>
              <a:rPr lang="en-US"/>
              <a:t>Reduce production risk and attack surface.</a:t>
            </a:r>
            <a:endParaRPr/>
          </a:p>
          <a:p>
            <a:pPr indent="-342900" lvl="0" marL="342900" rtl="0" algn="l">
              <a:spcBef>
                <a:spcPts val="592"/>
              </a:spcBef>
              <a:spcAft>
                <a:spcPts val="0"/>
              </a:spcAft>
              <a:buClr>
                <a:schemeClr val="dk1"/>
              </a:buClr>
              <a:buSzPct val="100000"/>
              <a:buChar char="•"/>
            </a:pPr>
            <a:r>
              <a:rPr lang="en-US"/>
              <a:t>Link findings to business impact and remediation plans.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What is Code Review?</a:t>
            </a:r>
            <a:br>
              <a:rPr b="1" lang="en-US"/>
            </a:br>
            <a:endParaRPr/>
          </a:p>
        </p:txBody>
      </p:sp>
      <p:pic>
        <p:nvPicPr>
          <p:cNvPr id="668" name="Google Shape;668;p96"/>
          <p:cNvPicPr preferRelativeResize="0"/>
          <p:nvPr>
            <p:ph idx="1" type="body"/>
          </p:nvPr>
        </p:nvPicPr>
        <p:blipFill rotWithShape="1">
          <a:blip r:embed="rId3">
            <a:alphaModFix/>
          </a:blip>
          <a:srcRect b="0" l="0" r="0" t="0"/>
          <a:stretch/>
        </p:blipFill>
        <p:spPr>
          <a:xfrm>
            <a:off x="251520" y="1124744"/>
            <a:ext cx="8680400" cy="2540000"/>
          </a:xfrm>
          <a:prstGeom prst="rect">
            <a:avLst/>
          </a:prstGeom>
          <a:noFill/>
          <a:ln>
            <a:noFill/>
          </a:ln>
        </p:spPr>
      </p:pic>
      <p:sp>
        <p:nvSpPr>
          <p:cNvPr id="669" name="Google Shape;669;p96"/>
          <p:cNvSpPr/>
          <p:nvPr/>
        </p:nvSpPr>
        <p:spPr>
          <a:xfrm>
            <a:off x="251520" y="3933056"/>
            <a:ext cx="8712968" cy="224676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Code review is a systematic examination of source code by peers to detect bugs, improve readability and maintainability, verify standards and best practices, strengthen security, and share knowledge.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Performed before merging into a feature or main branch, it provides a second opinion on solution and implementation, helps manage and mitigate risk, and supports building “self-defending” applications when woven into the SDLC with support from secure-coding SMEs and review tools.</a:t>
            </a:r>
            <a:endParaRPr sz="2000">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97"/>
          <p:cNvSpPr txBox="1"/>
          <p:nvPr>
            <p:ph type="title"/>
          </p:nvPr>
        </p:nvSpPr>
        <p:spPr>
          <a:xfrm>
            <a:off x="457200" y="274638"/>
            <a:ext cx="8229600" cy="70609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sz="4000"/>
              <a:t>Why is Secure Code Review Important?</a:t>
            </a:r>
            <a:br>
              <a:rPr b="1" lang="en-US" sz="4000"/>
            </a:br>
            <a:endParaRPr/>
          </a:p>
        </p:txBody>
      </p:sp>
      <p:sp>
        <p:nvSpPr>
          <p:cNvPr id="675" name="Google Shape;675;p97"/>
          <p:cNvSpPr txBox="1"/>
          <p:nvPr>
            <p:ph idx="1" type="body"/>
          </p:nvPr>
        </p:nvSpPr>
        <p:spPr>
          <a:xfrm>
            <a:off x="457200" y="980728"/>
            <a:ext cx="8229600" cy="5616624"/>
          </a:xfrm>
          <a:prstGeom prst="rect">
            <a:avLst/>
          </a:prstGeom>
          <a:noFill/>
          <a:ln>
            <a:noFill/>
          </a:ln>
        </p:spPr>
        <p:txBody>
          <a:bodyPr anchorCtr="0" anchor="t" bIns="45700" lIns="91425" spcFirstLastPara="1" rIns="91425" wrap="square" tIns="45700">
            <a:normAutofit fontScale="25000" lnSpcReduction="20000"/>
          </a:bodyPr>
          <a:lstStyle/>
          <a:p>
            <a:pPr indent="-342900" lvl="0" marL="342900" rtl="0" algn="just">
              <a:spcBef>
                <a:spcPts val="0"/>
              </a:spcBef>
              <a:spcAft>
                <a:spcPts val="0"/>
              </a:spcAft>
              <a:buClr>
                <a:schemeClr val="dk1"/>
              </a:buClr>
              <a:buSzPct val="100000"/>
              <a:buChar char="•"/>
            </a:pPr>
            <a:r>
              <a:rPr lang="en-US" sz="8000"/>
              <a:t>Secure code review plays a crucial role in enhancing the security posture of software applications. </a:t>
            </a:r>
            <a:endParaRPr sz="8000"/>
          </a:p>
          <a:p>
            <a:pPr indent="-342900" lvl="0" marL="342900" rtl="0" algn="just">
              <a:spcBef>
                <a:spcPts val="400"/>
              </a:spcBef>
              <a:spcAft>
                <a:spcPts val="0"/>
              </a:spcAft>
              <a:buClr>
                <a:schemeClr val="dk1"/>
              </a:buClr>
              <a:buSzPct val="100000"/>
              <a:buChar char="•"/>
            </a:pPr>
            <a:r>
              <a:rPr lang="en-US" sz="8000"/>
              <a:t>It helps identify security vulnerabilities such as injection flaws, authentication issues, and insecure configurations early in the development lifecycle. </a:t>
            </a:r>
            <a:endParaRPr sz="8000"/>
          </a:p>
          <a:p>
            <a:pPr indent="-342900" lvl="0" marL="342900" rtl="0" algn="just">
              <a:spcBef>
                <a:spcPts val="400"/>
              </a:spcBef>
              <a:spcAft>
                <a:spcPts val="0"/>
              </a:spcAft>
              <a:buClr>
                <a:schemeClr val="dk1"/>
              </a:buClr>
              <a:buSzPct val="100000"/>
              <a:buChar char="•"/>
            </a:pPr>
            <a:r>
              <a:rPr lang="en-US" sz="8000"/>
              <a:t>By detecting and addressing these issues before deployment, organizations can reduce the risk of security breaches and ensure compliance with regulatory standards.</a:t>
            </a:r>
            <a:endParaRPr/>
          </a:p>
          <a:p>
            <a:pPr indent="-342900" lvl="0" marL="342900" rtl="0" algn="just">
              <a:spcBef>
                <a:spcPts val="400"/>
              </a:spcBef>
              <a:spcAft>
                <a:spcPts val="0"/>
              </a:spcAft>
              <a:buClr>
                <a:srgbClr val="FF0000"/>
              </a:buClr>
              <a:buSzPct val="100000"/>
              <a:buChar char="•"/>
            </a:pPr>
            <a:r>
              <a:rPr lang="en-US" sz="8000">
                <a:solidFill>
                  <a:srgbClr val="FF0000"/>
                </a:solidFill>
              </a:rPr>
              <a:t>It offers several key benefits:</a:t>
            </a:r>
            <a:endParaRPr/>
          </a:p>
          <a:p>
            <a:pPr indent="-285750" lvl="1" marL="742950" rtl="0" algn="just">
              <a:spcBef>
                <a:spcPts val="380"/>
              </a:spcBef>
              <a:spcAft>
                <a:spcPts val="0"/>
              </a:spcAft>
              <a:buClr>
                <a:schemeClr val="dk1"/>
              </a:buClr>
              <a:buSzPct val="100000"/>
              <a:buChar char="–"/>
            </a:pPr>
            <a:r>
              <a:rPr b="1" lang="en-US" sz="7600"/>
              <a:t>Proactive Risk Mitigation:</a:t>
            </a:r>
            <a:r>
              <a:rPr lang="en-US" sz="7600"/>
              <a:t> Early identification of these openings mean that the organizations can avoid costly system breakages and loss of data.</a:t>
            </a:r>
            <a:endParaRPr/>
          </a:p>
          <a:p>
            <a:pPr indent="-285750" lvl="1" marL="742950" rtl="0" algn="just">
              <a:spcBef>
                <a:spcPts val="380"/>
              </a:spcBef>
              <a:spcAft>
                <a:spcPts val="0"/>
              </a:spcAft>
              <a:buClr>
                <a:schemeClr val="dk1"/>
              </a:buClr>
              <a:buSzPct val="100000"/>
              <a:buChar char="–"/>
            </a:pPr>
            <a:r>
              <a:rPr b="1" lang="en-US" sz="7600"/>
              <a:t>Improved Software Quality</a:t>
            </a:r>
            <a:r>
              <a:rPr lang="en-US" sz="7600"/>
              <a:t>: Secure code review contributes to making the code more secure, thus improving the quality of the developed software.</a:t>
            </a:r>
            <a:endParaRPr/>
          </a:p>
          <a:p>
            <a:pPr indent="-285750" lvl="1" marL="742950" rtl="0" algn="just">
              <a:spcBef>
                <a:spcPts val="380"/>
              </a:spcBef>
              <a:spcAft>
                <a:spcPts val="0"/>
              </a:spcAft>
              <a:buClr>
                <a:schemeClr val="dk1"/>
              </a:buClr>
              <a:buSzPct val="100000"/>
              <a:buChar char="–"/>
            </a:pPr>
            <a:r>
              <a:rPr b="1" lang="en-US" sz="7600"/>
              <a:t>Compliance Adherence</a:t>
            </a:r>
            <a:r>
              <a:rPr lang="en-US" sz="7600"/>
              <a:t>: Numerous trades have the tendency of having strict security policies. Secure code review assists an organization to deliver on compliance needs.</a:t>
            </a:r>
            <a:endParaRPr/>
          </a:p>
          <a:p>
            <a:pPr indent="-285750" lvl="1" marL="742950" rtl="0" algn="just">
              <a:spcBef>
                <a:spcPts val="380"/>
              </a:spcBef>
              <a:spcAft>
                <a:spcPts val="0"/>
              </a:spcAft>
              <a:buClr>
                <a:schemeClr val="dk1"/>
              </a:buClr>
              <a:buSzPct val="100000"/>
              <a:buChar char="–"/>
            </a:pPr>
            <a:r>
              <a:rPr b="1" lang="en-US" sz="7600"/>
              <a:t>Enhanced Developer Skills</a:t>
            </a:r>
            <a:r>
              <a:rPr lang="en-US" sz="7600"/>
              <a:t>: Daily code reviews enhance the organization’s security posture and the proficiency of the coding team.</a:t>
            </a:r>
            <a:endParaRPr/>
          </a:p>
          <a:p>
            <a:pPr indent="-292100" lvl="0" marL="342900" rtl="0" algn="l">
              <a:spcBef>
                <a:spcPts val="160"/>
              </a:spcBef>
              <a:spcAft>
                <a:spcPts val="0"/>
              </a:spcAft>
              <a:buClr>
                <a:schemeClr val="dk1"/>
              </a:buClr>
              <a:buSzPct val="100000"/>
              <a:buNone/>
            </a:pPr>
            <a:r>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b="1" lang="en-US"/>
            </a:br>
            <a:r>
              <a:rPr b="1" lang="en-US"/>
              <a:t>What are the Elements of Secure Code Review?</a:t>
            </a:r>
            <a:br>
              <a:rPr b="1" lang="en-US"/>
            </a:br>
            <a:endParaRPr/>
          </a:p>
        </p:txBody>
      </p:sp>
      <p:sp>
        <p:nvSpPr>
          <p:cNvPr id="681" name="Google Shape;681;p9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t>Static Analysis Tools</a:t>
            </a:r>
            <a:r>
              <a:rPr lang="en-US"/>
              <a:t>: Automated tools scan the source code to identify common vulnerabilities and coding errors.</a:t>
            </a:r>
            <a:endParaRPr/>
          </a:p>
          <a:p>
            <a:pPr indent="-342900" lvl="0" marL="342900" rtl="0" algn="l">
              <a:spcBef>
                <a:spcPts val="592"/>
              </a:spcBef>
              <a:spcAft>
                <a:spcPts val="0"/>
              </a:spcAft>
              <a:buClr>
                <a:schemeClr val="dk1"/>
              </a:buClr>
              <a:buSzPct val="100000"/>
              <a:buChar char="•"/>
            </a:pPr>
            <a:r>
              <a:rPr b="1" lang="en-US"/>
              <a:t>Manual Review</a:t>
            </a:r>
            <a:r>
              <a:rPr lang="en-US"/>
              <a:t>: Experienced developers and security experts manually inspect the code for logic flaws, design issues, and vulnerabilities that automated tools might miss.</a:t>
            </a:r>
            <a:endParaRPr/>
          </a:p>
          <a:p>
            <a:pPr indent="-342900" lvl="0" marL="342900" rtl="0" algn="l">
              <a:spcBef>
                <a:spcPts val="592"/>
              </a:spcBef>
              <a:spcAft>
                <a:spcPts val="0"/>
              </a:spcAft>
              <a:buClr>
                <a:schemeClr val="dk1"/>
              </a:buClr>
              <a:buSzPct val="100000"/>
              <a:buChar char="•"/>
            </a:pPr>
            <a:r>
              <a:rPr b="1" lang="en-US"/>
              <a:t>Security Guidelines</a:t>
            </a:r>
            <a:r>
              <a:rPr lang="en-US"/>
              <a:t>: Following established security coding guidelines (e.g., OWASP Top 10) ensures that developers adhere to secure coding practices during code review.</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687" name="Google Shape;687;p9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b="1" lang="en-US"/>
              <a:t>Peer Review</a:t>
            </a:r>
            <a:r>
              <a:rPr lang="en-US"/>
              <a:t>: Collaboration among team members allows for knowledge sharing and ensures that potential security issues are identified and addressed collectively.</a:t>
            </a:r>
            <a:endParaRPr/>
          </a:p>
          <a:p>
            <a:pPr indent="-342900" lvl="0" marL="342900" rtl="0" algn="l">
              <a:spcBef>
                <a:spcPts val="544"/>
              </a:spcBef>
              <a:spcAft>
                <a:spcPts val="0"/>
              </a:spcAft>
              <a:buClr>
                <a:schemeClr val="dk1"/>
              </a:buClr>
              <a:buSzPct val="100000"/>
              <a:buChar char="•"/>
            </a:pPr>
            <a:r>
              <a:rPr b="1" lang="en-US"/>
              <a:t>Code Analysis:</a:t>
            </a:r>
            <a:r>
              <a:rPr lang="en-US"/>
              <a:t> By applying static and dynamic analysis tools and using source or binary code, the tool is able to detect possible openings on its own.</a:t>
            </a:r>
            <a:endParaRPr/>
          </a:p>
          <a:p>
            <a:pPr indent="-342900" lvl="0" marL="342900" rtl="0" algn="l">
              <a:spcBef>
                <a:spcPts val="544"/>
              </a:spcBef>
              <a:spcAft>
                <a:spcPts val="0"/>
              </a:spcAft>
              <a:buClr>
                <a:schemeClr val="dk1"/>
              </a:buClr>
              <a:buSzPct val="100000"/>
              <a:buChar char="•"/>
            </a:pPr>
            <a:r>
              <a:rPr b="1" lang="en-US"/>
              <a:t>Manual Review</a:t>
            </a:r>
            <a:r>
              <a:rPr lang="en-US"/>
              <a:t>: People in identifying other problems that could be easily overlooked by the bot analyzing code.</a:t>
            </a:r>
            <a:endParaRPr/>
          </a:p>
          <a:p>
            <a:pPr indent="-342900" lvl="0" marL="342900" rtl="0" algn="l">
              <a:spcBef>
                <a:spcPts val="544"/>
              </a:spcBef>
              <a:spcAft>
                <a:spcPts val="0"/>
              </a:spcAft>
              <a:buClr>
                <a:schemeClr val="dk1"/>
              </a:buClr>
              <a:buSzPct val="100000"/>
              <a:buChar char="•"/>
            </a:pPr>
            <a:r>
              <a:rPr b="1" lang="en-US"/>
              <a:t>Threat Modeling</a:t>
            </a:r>
            <a:r>
              <a:rPr lang="en-US"/>
              <a:t>: Evaluating risks and threats affecting the dispersed application.</a:t>
            </a:r>
            <a:endParaRPr/>
          </a:p>
          <a:p>
            <a:pPr indent="-170180" lvl="0" marL="342900" rtl="0" algn="l">
              <a:spcBef>
                <a:spcPts val="544"/>
              </a:spcBef>
              <a:spcAft>
                <a:spcPts val="0"/>
              </a:spcAft>
              <a:buClr>
                <a:schemeClr val="dk1"/>
              </a:buClr>
              <a:buSzPct val="100000"/>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0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693" name="Google Shape;693;p10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Coding Standards and Guidelines</a:t>
            </a:r>
            <a:r>
              <a:rPr lang="en-US"/>
              <a:t>: Implementing the codification structure that has been prescribed and approved security protocols.</a:t>
            </a:r>
            <a:endParaRPr/>
          </a:p>
          <a:p>
            <a:pPr indent="-342900" lvl="0" marL="342900" rtl="0" algn="l">
              <a:spcBef>
                <a:spcPts val="640"/>
              </a:spcBef>
              <a:spcAft>
                <a:spcPts val="0"/>
              </a:spcAft>
              <a:buClr>
                <a:schemeClr val="dk1"/>
              </a:buClr>
              <a:buSzPts val="3200"/>
              <a:buChar char="•"/>
            </a:pPr>
            <a:r>
              <a:rPr b="1" lang="en-US"/>
              <a:t>Vulnerability Remediation</a:t>
            </a:r>
            <a:r>
              <a:rPr lang="en-US"/>
              <a:t>: Identifying appropriate measures to counter existing weak spots.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2026-02-26T07:18:46Z</dcterms:created>
  <dc:creator>Dr.Anushree Deshmukh</dc:creator>
</cp:coreProperties>
</file>