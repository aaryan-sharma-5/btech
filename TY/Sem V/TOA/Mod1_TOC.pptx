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0E2B67-A809-417C-94E5-FA6108DED711}">
  <a:tblStyle styleId="{DE0E2B67-A809-417C-94E5-FA6108DED7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788a3b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788a3b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788a3b1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788a3b1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788a3b1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b788a3b1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788a3b1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788a3b1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788a3b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788a3b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788a3b1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788a3b1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b788a3b1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b788a3b1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b788a3b1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b788a3b1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0d17fb1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0d17fb1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0d17fb1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0d17fb1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0ff2333a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0ff2333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b788a3b1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b788a3b1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0a46c9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0a46c9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0a46c9cf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0a46c9cf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0a46c9cf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0a46c9cf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0a46c9cf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0a46c9cf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0a46c9cf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0a46c9cf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0a46c9cf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0a46c9cf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0a46c9cf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0a46c9cf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0a46c9cf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0a46c9cf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0a46c9cf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0a46c9cf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0a46c9cf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0a46c9cf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0a46c9cf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0a46c9cf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0a46c9cf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0a46c9cf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0a46c9cf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0a46c9cf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0a46c9cf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0a46c9cf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41a4ad13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41a4ad1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41a4ad13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41a4ad1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41a4ad13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41a4ad1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741a4ad1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741a4ad1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41a4ad13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741a4ad13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41a4ad1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741a4ad1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41a4ad13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41a4ad13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741a4ad13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741a4ad13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41a4ad13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41a4ad13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32fc6d46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32fc6d46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41a4ad13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41a4ad13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3f9630b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73f9630b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3f9630b2b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3f9630b2b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73f9630b2b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73f9630b2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3f9630b2b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73f9630b2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3f9630b2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3f9630b2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3f9630b2b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3f9630b2b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3f9630b2b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3f9630b2b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41a4ad13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41a4ad13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b957546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b957546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latin typeface="Times New Roman"/>
                <a:ea typeface="Times New Roman"/>
                <a:cs typeface="Times New Roman"/>
                <a:sym typeface="Times New Roman"/>
              </a:rPr>
              <a:t>What is Finite Automata (FA)</a:t>
            </a:r>
            <a:endParaRPr b="1"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354275"/>
            <a:ext cx="8520600" cy="32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Automaton (FA)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model of computation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recognize patterns and design simple computational systems.</a:t>
            </a: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consists of:</a:t>
            </a:r>
            <a:endParaRPr b="1"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29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number of states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2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input symbols (alphabet)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2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Transitions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determine how to move from one state to another based on input.</a:t>
            </a:r>
            <a:b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2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state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829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 more </a:t>
            </a:r>
            <a:r>
              <a:rPr b="1"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accepting (final) states</a:t>
            </a:r>
            <a: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5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Types of Finite Automata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6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</a:rPr>
              <a:t>Deterministic Finite Automata (DFA)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For each state and input symbol, there is </a:t>
            </a:r>
            <a:r>
              <a:rPr b="1" lang="en" sz="2200">
                <a:solidFill>
                  <a:schemeClr val="dk1"/>
                </a:solidFill>
              </a:rPr>
              <a:t>exactly one transition</a:t>
            </a:r>
            <a:r>
              <a:rPr lang="en" sz="2200">
                <a:solidFill>
                  <a:schemeClr val="dk1"/>
                </a:solidFill>
              </a:rPr>
              <a:t>.</a:t>
            </a:r>
            <a:br>
              <a:rPr lang="en" sz="2200">
                <a:solidFill>
                  <a:schemeClr val="dk1"/>
                </a:solidFill>
              </a:rPr>
            </a:br>
            <a:r>
              <a:rPr lang="en" sz="2400">
                <a:solidFill>
                  <a:schemeClr val="dk1"/>
                </a:solidFill>
              </a:rPr>
              <a:t>No ambiguity in state transitions.</a:t>
            </a:r>
            <a:br>
              <a:rPr lang="en" sz="2400">
                <a:solidFill>
                  <a:schemeClr val="dk1"/>
                </a:solidFill>
              </a:rPr>
            </a:br>
            <a:r>
              <a:rPr b="1" lang="en" sz="2400">
                <a:solidFill>
                  <a:schemeClr val="dk1"/>
                </a:solidFill>
              </a:rPr>
              <a:t>Non-Deterministic Finite Automata (NFA)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For a state and input symbol, there </a:t>
            </a:r>
            <a:r>
              <a:rPr b="1" lang="en" sz="1900">
                <a:solidFill>
                  <a:schemeClr val="dk1"/>
                </a:solidFill>
              </a:rPr>
              <a:t>may be multiple possible transitions</a:t>
            </a:r>
            <a:r>
              <a:rPr lang="en" sz="1900">
                <a:solidFill>
                  <a:schemeClr val="dk1"/>
                </a:solidFill>
              </a:rPr>
              <a:t>.</a:t>
            </a:r>
            <a:br>
              <a:rPr lang="en" sz="19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Can include </a:t>
            </a:r>
            <a:r>
              <a:rPr b="1" lang="en" sz="2100">
                <a:solidFill>
                  <a:schemeClr val="dk1"/>
                </a:solidFill>
              </a:rPr>
              <a:t>epsilon (ε) transitions</a:t>
            </a:r>
            <a:r>
              <a:rPr lang="en" sz="2100">
                <a:solidFill>
                  <a:schemeClr val="dk1"/>
                </a:solidFill>
              </a:rPr>
              <a:t> (move without consuming input).</a:t>
            </a:r>
            <a:br>
              <a:rPr lang="en" sz="2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Formal Definition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8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Finite Automaton is defined as a </a:t>
            </a: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5-tuple:</a:t>
            </a:r>
            <a:endParaRPr b="1"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M=(Q,Σ,δ,q0​,F) where: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finite set of states</a:t>
            </a:r>
            <a:b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finite input alphabet</a:t>
            </a:r>
            <a:b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transition function (Q×Σ→Q for DFA)</a:t>
            </a:r>
            <a:b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  ∈Q = start state</a:t>
            </a:r>
            <a:b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⊆ Q = set of accepting (final) states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DFA and NFA recognize the same class of languages (Regular Languages).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Language Accepted by FA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is </a:t>
            </a:r>
            <a:r>
              <a:rPr b="1"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accepted</a:t>
            </a: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an FA if, after consuming all input symbols, it reaches an </a:t>
            </a:r>
            <a:r>
              <a:rPr b="1"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accepting state</a:t>
            </a: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all strings accepted by the FA forms the language accepted by the FA</a:t>
            </a: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Finite Automata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947"/>
              <a:buFont typeface="Arial"/>
              <a:buNone/>
            </a:pP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Lexical analyzers in compilers (token recognition)</a:t>
            </a:r>
            <a:b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matching in text editors and search tools</a:t>
            </a:r>
            <a:b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What is NFA.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NFA (Non-deterministic Finite Automaton)</a:t>
            </a:r>
            <a:r>
              <a:rPr lang="en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type of </a:t>
            </a:r>
            <a:r>
              <a:rPr b="1" lang="en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automaton</a:t>
            </a:r>
            <a:r>
              <a:rPr lang="en" sz="207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where:</a:t>
            </a:r>
            <a:endParaRPr sz="207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given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and input symbol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there may be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possible next states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may have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epsilon (ε) transitions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allowing it to change state without consuming input.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a string if </a:t>
            </a:r>
            <a:r>
              <a:rPr b="1" i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path leads to an accepting state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Formal Definition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NFA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defined as a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5-tuple: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M=(Q,Σ,δ,q0,F) where: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finite set of states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finite input alphabet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transition function (Q×(Σ∪{ϵ})→2Q)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 ∈ Q = start state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F⊆Q = set of accepting (final) states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Language of an NFA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of an NFA (L(M))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set of all strings that the NFA accepts.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Formally: L(M)={w∈Σ∗∣M accepts w}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w is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accepted by the NFA if there exists at least one sequence of transitions (including ε-transitions) from the start state to a final state, consuming all input symbols of www.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NFA Vs DFA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132250" y="1152475"/>
            <a:ext cx="8920200" cy="3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ε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-transitions: are </a:t>
            </a:r>
            <a:r>
              <a:rPr lang="en" sz="35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allowed in DFA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Allowed in NFA.</a:t>
            </a:r>
            <a:endParaRPr sz="4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Transitions:	 </a:t>
            </a:r>
            <a:r>
              <a:rPr lang="en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per input per state is allowed in DFA 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possible per input per state in NFA.</a:t>
            </a:r>
            <a:endParaRPr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Times New Roman"/>
                <a:ea typeface="Times New Roman"/>
                <a:cs typeface="Times New Roman"/>
                <a:sym typeface="Times New Roman"/>
              </a:rPr>
              <a:t>What are Dead States?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02875" y="1152475"/>
            <a:ext cx="8934900" cy="3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dead state (also called trap state or sink state) in a DFA is: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state from which no accepting (final) state can be reached for any input string. 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automaton enters a dead state, it stays there for all further inputs and never accepts the string.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What are Unreachable States?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132250" y="1152475"/>
            <a:ext cx="8905500" cy="3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unreachable state</a:t>
            </a: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DFA (or FSM) is: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state that </a:t>
            </a:r>
            <a:r>
              <a:rPr b="1"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be reached from the start state on any input string</a:t>
            </a: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other words, </a:t>
            </a:r>
            <a:r>
              <a:rPr b="1"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path from the start state to this state</a:t>
            </a:r>
            <a:r>
              <a:rPr lang="e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any sequence of inputs.</a:t>
            </a:r>
            <a:endParaRPr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Remove null transitions from FA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Suppose we want to remove null transition from v1 to v2.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1 : </a:t>
            </a:r>
            <a:r>
              <a:rPr lang="en">
                <a:solidFill>
                  <a:schemeClr val="dk1"/>
                </a:solidFill>
              </a:rPr>
              <a:t>Find out all edges starting from v2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2 : Duplicate all these edges from v1 , without changing the edge label.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Step 3 if v1 is initial state , make v2 as initial </a:t>
            </a:r>
            <a:r>
              <a:rPr lang="en">
                <a:solidFill>
                  <a:schemeClr val="dk1"/>
                </a:solidFill>
              </a:rPr>
              <a:t>state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Step4 : if v2 is final state , make v1 as final state.: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Minimization of Finite Automata.</a:t>
            </a:r>
            <a:endParaRPr sz="4020"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73475" y="1152475"/>
            <a:ext cx="9070500" cy="4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8" name="Google Shape;128;p25"/>
          <p:cNvGraphicFramePr/>
          <p:nvPr/>
        </p:nvGraphicFramePr>
        <p:xfrm>
          <a:off x="232425" y="165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{DE0E2B67-A809-417C-94E5-FA6108DED711}</a:tableStyleId>
              </a:tblPr>
              <a:tblGrid>
                <a:gridCol w="2923475"/>
                <a:gridCol w="2923475"/>
                <a:gridCol w="2923475"/>
              </a:tblGrid>
              <a:tr h="51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State/</a:t>
                      </a:r>
                      <a:r>
                        <a:rPr lang="en" sz="3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q2(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State)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q7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4020"/>
              <a:t>Minimization of Finite Automata.</a:t>
            </a:r>
            <a:endParaRPr sz="4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there is only one final state q2,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Final States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={q2}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aseline="-2500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non-final States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Q -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{ q0,q1,q3,q4,q5,q6,q7}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π0={ 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{q2},{q0,q1,q3,q4,q5,q6,q7}}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π1={ {q2},{ q0,q4,q6 } ,{q1, q7} , {q3,q5}}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π2={ {q2},{q0,q4},{q6 },{q1, q7}, {q3,q5}}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π3={ {q2},{q0,q4},{q6 },{q1, q7}, {q3,q5}}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Minimization of Finite Automata.</a:t>
            </a:r>
            <a:endParaRPr sz="4020"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73475" y="1152475"/>
            <a:ext cx="9070500" cy="4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1" name="Google Shape;141;p27"/>
          <p:cNvGraphicFramePr/>
          <p:nvPr/>
        </p:nvGraphicFramePr>
        <p:xfrm>
          <a:off x="232425" y="165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{DE0E2B67-A809-417C-94E5-FA6108DED711}</a:tableStyleId>
              </a:tblPr>
              <a:tblGrid>
                <a:gridCol w="2923475"/>
                <a:gridCol w="2923475"/>
                <a:gridCol w="2923475"/>
              </a:tblGrid>
              <a:tr h="43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State/</a:t>
                      </a:r>
                      <a:r>
                        <a:rPr lang="en" sz="2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</a:t>
                      </a:r>
                      <a:endParaRPr sz="2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q3(final State)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20"/>
              <a:t>Minimization of Finite Automata.</a:t>
            </a:r>
            <a:endParaRPr sz="4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there is only one final state q3,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Final States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={q3}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aseline="-2500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non-final States 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Q -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{ q0,q1,q2,q4,q5,q6,q7}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π0={ 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π0={ {q3},{ q0,q1,q2,q4,q5,q6,q7}}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π1={ {q3},{q0,q1,q5,q6} ,{q2, q4}, {q7}}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π2={ {q3},{q0,q6},{q1, q5}, {q2,q4},{q7}}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π3=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{q3},{q0,q6},{q1, q5}, {q2,q4},{q7}}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/>
              <a:t>Minimization of Finite Automata.</a:t>
            </a:r>
            <a:endParaRPr sz="4020"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73475" y="1152475"/>
            <a:ext cx="9070500" cy="44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4" name="Google Shape;154;p29"/>
          <p:cNvGraphicFramePr/>
          <p:nvPr/>
        </p:nvGraphicFramePr>
        <p:xfrm>
          <a:off x="232425" y="165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{DE0E2B67-A809-417C-94E5-FA6108DED711}</a:tableStyleId>
              </a:tblPr>
              <a:tblGrid>
                <a:gridCol w="2923475"/>
                <a:gridCol w="2923475"/>
                <a:gridCol w="2923475"/>
              </a:tblGrid>
              <a:tr h="511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State/</a:t>
                      </a:r>
                      <a:r>
                        <a:rPr lang="en" sz="3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Σ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→q0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q6(final state)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20"/>
              <a:t>Minimization of Finite Automata.</a:t>
            </a:r>
            <a:endParaRPr sz="4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there is only one final state q6,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Final States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={q6}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baseline="-25000"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non-final States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 Q -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  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{ q0,q1,q2,q3,q4,q5}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π0={ 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, Q</a:t>
            </a:r>
            <a:r>
              <a:rPr baseline="-25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π0={ {q6},{ 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q0,q1,q2,q3,q4,q5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π1=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{q6},{q0,q1,q2,q3,q5} ,{q4}}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π2=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{q6},{q0,q1,q3},{q2,q5}{q4}}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π3=</a:t>
            </a: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{q6},{q0},{q1},{q3},{q2,q5},{q4}}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π4={ {q6},{q0},{q1},{q3},{q2},{q5},{q4}}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100">
                <a:latin typeface="Times New Roman"/>
                <a:ea typeface="Times New Roman"/>
                <a:cs typeface="Times New Roman"/>
                <a:sym typeface="Times New Roman"/>
              </a:rPr>
              <a:t>Partition Table Method for Minimization of DFA</a:t>
            </a:r>
            <a:endParaRPr b="1"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117575" y="1152475"/>
            <a:ext cx="8905500" cy="3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table-filling algorithm</a:t>
            </a: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find </a:t>
            </a: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 states systematically</a:t>
            </a: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minimize the DFA while preserving the language.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0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 of the Method</a:t>
            </a:r>
            <a:endParaRPr b="1" sz="10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List all pairs of states</a:t>
            </a:r>
            <a:endParaRPr b="1"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n states, list all n(n−1)/2 pairs.</a:t>
            </a: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Mark distinguishable pairs initially</a:t>
            </a:r>
            <a:endParaRPr b="1"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pairs where: One state is </a:t>
            </a: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other is </a:t>
            </a: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non-final</a:t>
            </a:r>
            <a: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5483"/>
              <a:buFont typeface="Arial"/>
              <a:buNone/>
            </a:pPr>
            <a:r>
              <a:rPr b="1" lang="en" sz="3100">
                <a:latin typeface="Times New Roman"/>
                <a:ea typeface="Times New Roman"/>
                <a:cs typeface="Times New Roman"/>
                <a:sym typeface="Times New Roman"/>
              </a:rPr>
              <a:t>Partition Table Method for Minimization of DFA</a:t>
            </a:r>
            <a:endParaRPr b="1"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88175" y="1152475"/>
            <a:ext cx="8920200" cy="39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Iteratively mark</a:t>
            </a:r>
            <a:endParaRPr b="1"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unmarked pair (p, q): </a:t>
            </a:r>
            <a:endParaRPr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input symbol: Find δ(p, a) and δ(q, a).</a:t>
            </a:r>
            <a:endParaRPr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transitions go to a </a:t>
            </a: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marked pair</a:t>
            </a: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mark (p, q).</a:t>
            </a:r>
            <a:b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</a:t>
            </a: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new pairs are marked</a:t>
            </a: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Merge unmarked pairs</a:t>
            </a:r>
            <a:endParaRPr b="1"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unmarked pairs are </a:t>
            </a: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</a:t>
            </a: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can be </a:t>
            </a:r>
            <a:r>
              <a:rPr b="1"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</a:t>
            </a:r>
            <a:r>
              <a:rPr lang="en" sz="9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minimized DFA.</a:t>
            </a:r>
            <a:endParaRPr sz="9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132250" y="1152475"/>
            <a:ext cx="8905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DFA:States: {A, B, C, D}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symbols: {0, 1}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state: 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states: {C, D}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279225"/>
            <a:ext cx="85206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Table: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0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		B		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		A		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		D		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		C  	 	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079000"/>
            <a:ext cx="8520600" cy="3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List state pairs</a:t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(A,B), (A,C), (A,D), (B,C), (B,D), (C,D)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Mark distinguishable pairs</a:t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states: {C, D}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Pairs where one is final and the other is not:</a:t>
            </a:r>
            <a:b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(A,C), (A,D), (B,C), (B,D)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>
            <a:off x="0" y="1152475"/>
            <a:ext cx="9008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Iterative marking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(C, D)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B)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(C, D):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0: δ(C,0) = D   δ(D,0) = C  Pair: (C,D) itself (unmarked)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1: δ(C,1) = A δ(D,1) = B   Pair: (A,B) (unmarked)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marking required.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88175" y="1152475"/>
            <a:ext cx="8934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(A, B):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0:  δ(A,0) = B   δ(B,0) = A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Pair: (A,B) itself (unmarked)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1: δ(A,1) = C  δ(B,1) = D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Pair: (C,D) (unmarked)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marking required.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new pairs are marked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proceed to the next step.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>
            <p:ph idx="1" type="body"/>
          </p:nvPr>
        </p:nvSpPr>
        <p:spPr>
          <a:xfrm>
            <a:off x="102875" y="1152475"/>
            <a:ext cx="8964300" cy="3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Form groups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unmarked pairs: (A,B), (C,D)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Thus:	A ≡ B	C ≡ D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Minimized DFA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states:	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[AB]	[CD]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Minimized DFA Table</a:t>
            </a:r>
            <a:endParaRPr b="1"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0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[AB]		[AB]		[CD]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[CD]		[CD]		[AB]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0"/>
          <p:cNvSpPr txBox="1"/>
          <p:nvPr>
            <p:ph idx="1" type="body"/>
          </p:nvPr>
        </p:nvSpPr>
        <p:spPr>
          <a:xfrm>
            <a:off x="132250" y="1152475"/>
            <a:ext cx="8905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DFA:States: {A, B, C, D,E}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symbols: {0, 1}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state: 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states: {E}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1"/>
          <p:cNvSpPr txBox="1"/>
          <p:nvPr>
            <p:ph type="title"/>
          </p:nvPr>
        </p:nvSpPr>
        <p:spPr>
          <a:xfrm>
            <a:off x="311700" y="279225"/>
            <a:ext cx="85206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Table: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0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		B		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		D		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		D		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		D 	 	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E  	 	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2"/>
          <p:cNvSpPr txBox="1"/>
          <p:nvPr>
            <p:ph idx="1" type="body"/>
          </p:nvPr>
        </p:nvSpPr>
        <p:spPr>
          <a:xfrm>
            <a:off x="311700" y="1079000"/>
            <a:ext cx="8520600" cy="39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List state pairs</a:t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(A,B), (A,C), (A,D),(A,E), (B,C), (B,D),(B,E), (C,D),(C,E),(D,E).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Mark distinguishable pairs</a:t>
            </a:r>
            <a:endParaRPr b="1"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state: {E}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Pairs where one is final and the other is not:</a:t>
            </a:r>
            <a:b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(A,E), (B,E), (C,E), (D,E)</a:t>
            </a:r>
            <a:endParaRPr sz="24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3"/>
          <p:cNvSpPr txBox="1"/>
          <p:nvPr>
            <p:ph idx="1" type="body"/>
          </p:nvPr>
        </p:nvSpPr>
        <p:spPr>
          <a:xfrm>
            <a:off x="0" y="1152475"/>
            <a:ext cx="9008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Iterative marking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</a:t>
            </a:r>
            <a:r>
              <a:rPr lang="en" sz="24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(A,B), (A,C), (A,D),(B,C), (B,D), (C,D),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(A, B):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0: δ(A,0) = B   δ(B,0) = D  Pair: (B,D) itself (unmarked)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1: δ(A,1) = C  δ(B,1) = E   Pair: (B,E) (marked)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(A,B) marking required.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0" y="1152475"/>
            <a:ext cx="9144000" cy="40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(A, C): 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0:  δ(A,0) = B   δ(C,0) = D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Pair: (B,D) itself (unmarked)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1: δ(A,1) = C  δ(C,1) = E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Pair: (C,E) (marked)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marking required.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all unmarked pairs.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pairs are marked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proceed to the next step 3 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recursive application of step 3 ,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unmarked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pairs are</a:t>
            </a: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(B,C), (B,D),(C,D)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5"/>
          <p:cNvSpPr txBox="1"/>
          <p:nvPr>
            <p:ph idx="1" type="body"/>
          </p:nvPr>
        </p:nvSpPr>
        <p:spPr>
          <a:xfrm>
            <a:off x="102875" y="1152475"/>
            <a:ext cx="8964300" cy="39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Form groups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unmarked pairs: (B,C), (B,D),(C,D)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Thus:	B ≡ C , 	B≡D , C ≡ D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Hence B , C and D are mutually equivalent.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Minimized DFA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states:	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	[BCD][E]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Example Partition Table Method for Minimization of DFA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Minimized DFA Table</a:t>
            </a:r>
            <a:endParaRPr b="1"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0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			[BCD]		[BCD]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[BCD]		[BCD]		[E]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[E]			[E]			[E]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Equivalence of Finite Automata (FA)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1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finite automata (DFA or NFA) are said to be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equivalent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they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exactly the same language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—i.e., for every input string, both automata either accept it or reject it.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FA1 and FA2 be two finite automata.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FA1 ≡ FA2 ⟺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L(FA1) = L(FA2)</a:t>
            </a:r>
            <a:b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means both accept the same set of strings.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065"/>
              <a:buFont typeface="Arial"/>
              <a:buNone/>
            </a:pPr>
            <a:r>
              <a:rPr lang="en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</a:t>
            </a:r>
            <a:r>
              <a:rPr b="1" lang="en" sz="30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main approaches</a:t>
            </a:r>
            <a:endParaRPr sz="3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1. Cross Product Method (or Difference FA Method)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8"/>
          <p:cNvSpPr txBox="1"/>
          <p:nvPr>
            <p:ph idx="1" type="body"/>
          </p:nvPr>
        </p:nvSpPr>
        <p:spPr>
          <a:xfrm>
            <a:off x="311700" y="1152475"/>
            <a:ext cx="8520600" cy="4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Construct a machine that accepts the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symmetric difference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two languages: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 = (L1 ∖ L2) ∪ (L2 ∖ L1)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this language is empty ⇒ automata are equivalent.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 Difference (\)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L1∖L2​: This means "all elements in L1​ that are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L2"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L2​∖L1​: Similarly, "all elements in L2​ that are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L1​"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1. Cross Product Method (or Difference FA Method)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both FA to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DFA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if not already.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Construct a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DFA for the symmetric difference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if the resulting DFA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accepts any string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(i.e., is language non-empty).</a:t>
            </a:r>
            <a:b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yes → Not equivalent. If no → Equivalent.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 sz="4000">
                <a:latin typeface="Times New Roman"/>
                <a:ea typeface="Times New Roman"/>
                <a:cs typeface="Times New Roman"/>
                <a:sym typeface="Times New Roman"/>
              </a:rPr>
              <a:t>2. Minimization Method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both FA1 and FA2.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resulting minimal DFAs are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isomorphic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(same structure, same transitions) ⇒ Equivalent.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Else ⇒ Not equivalent.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Finite Automata with Output</a:t>
            </a:r>
            <a:endParaRPr/>
          </a:p>
        </p:txBody>
      </p:sp>
      <p:sp>
        <p:nvSpPr>
          <p:cNvPr id="286" name="Google Shape;286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Finite Automata with Output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computational models similar to Finite Automata (FA), but they produce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strings or symbols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along with state transitions. There are two primary types: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Moore Machine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Mealy Machine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20">
                <a:latin typeface="Times New Roman"/>
                <a:ea typeface="Times New Roman"/>
                <a:cs typeface="Times New Roman"/>
                <a:sym typeface="Times New Roman"/>
              </a:rPr>
              <a:t>1. Moore Machine</a:t>
            </a:r>
            <a:endParaRPr b="1"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292" name="Google Shape;292;p52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Moore Machine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depends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on the current state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state is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associated with a fixed output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Definition:</a:t>
            </a:r>
            <a:b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Moore machine is a 6-tuple: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(Q, Σ, Δ, δ, λ, q₀)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0745"/>
              <a:buFont typeface="Arial"/>
              <a:buNone/>
            </a:pPr>
            <a:r>
              <a:rPr b="1" lang="en" sz="3220">
                <a:latin typeface="Times New Roman"/>
                <a:ea typeface="Times New Roman"/>
                <a:cs typeface="Times New Roman"/>
                <a:sym typeface="Times New Roman"/>
              </a:rPr>
              <a:t>1. Moore Machine</a:t>
            </a:r>
            <a:endParaRPr b="1" sz="32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3"/>
          <p:cNvSpPr txBox="1"/>
          <p:nvPr>
            <p:ph idx="1" type="body"/>
          </p:nvPr>
        </p:nvSpPr>
        <p:spPr>
          <a:xfrm>
            <a:off x="117575" y="1152475"/>
            <a:ext cx="8949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(Q, Σ, Δ, δ, λ, q₀)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finite set of states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 = input alphabet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 = output alphabet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δ: Q × Σ → Q = transition function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λ: Q → Δ = output function (based on state)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q₀ = initial state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timing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Output is produced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entering a state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4"/>
          <p:cNvSpPr txBox="1"/>
          <p:nvPr>
            <p:ph idx="1" type="body"/>
          </p:nvPr>
        </p:nvSpPr>
        <p:spPr>
          <a:xfrm>
            <a:off x="102875" y="1087475"/>
            <a:ext cx="8979000" cy="4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Example:Let a Moore machine that outputs 1 if in state q1 and 0 otherwise.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State	Input 0	Input 1	Output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q0			q1			q0			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q1			q0			q1			1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2. Mealy Machine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5"/>
          <p:cNvSpPr txBox="1"/>
          <p:nvPr>
            <p:ph idx="1" type="body"/>
          </p:nvPr>
        </p:nvSpPr>
        <p:spPr>
          <a:xfrm>
            <a:off x="102875" y="1152475"/>
            <a:ext cx="8920200" cy="3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Mealy Machine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depends on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current state and input symbol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transition is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labeled with an output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Definition:</a:t>
            </a:r>
            <a:b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Mealy machine is a 6-tuple: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(Q, Σ, Δ, δ, λ, q₀)</a:t>
            </a:r>
            <a:b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2. Mealy Machine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Q, Σ, Δ, q₀ are the same as Moore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δ: Q × Σ → Q = transition function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λ: Q × Σ → Δ = output function (based on state and input)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timing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Output is produced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transition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57"/>
          <p:cNvSpPr txBox="1"/>
          <p:nvPr>
            <p:ph idx="1" type="body"/>
          </p:nvPr>
        </p:nvSpPr>
        <p:spPr>
          <a:xfrm>
            <a:off x="88175" y="1152475"/>
            <a:ext cx="89643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Input	Next State	Output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0			q1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1			q0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0			q0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1			q1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8"/>
          <p:cNvSpPr txBox="1"/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Design a mealy machine that accepts a binary number and produces 2’s complement of input bits pattern.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58"/>
          <p:cNvSpPr txBox="1"/>
          <p:nvPr>
            <p:ph idx="1" type="body"/>
          </p:nvPr>
        </p:nvSpPr>
        <p:spPr>
          <a:xfrm>
            <a:off x="0" y="1152475"/>
            <a:ext cx="91440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Input		Next State		Output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0			q0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1			q1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0			q1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1			q1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9"/>
          <p:cNvSpPr txBox="1"/>
          <p:nvPr>
            <p:ph type="title"/>
          </p:nvPr>
        </p:nvSpPr>
        <p:spPr>
          <a:xfrm>
            <a:off x="0" y="308600"/>
            <a:ext cx="9067200" cy="5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Design a mealy machine that accepts binary string divisible by 3.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59"/>
          <p:cNvSpPr txBox="1"/>
          <p:nvPr>
            <p:ph idx="1" type="body"/>
          </p:nvPr>
        </p:nvSpPr>
        <p:spPr>
          <a:xfrm>
            <a:off x="0" y="896600"/>
            <a:ext cx="9144000" cy="4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		Input		Next State		Output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0			q0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q0			1			q1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0			q2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			1			q0				1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			0			q1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			1			q2				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function λ(q,b) = 1 iff  δ(q,b) = qo , else λ(q,b) = 0.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