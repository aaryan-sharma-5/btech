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embeddedFontLst>
    <p:embeddedFont>
      <p:font typeface="Marcellus SC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g2suf1LkX9FPSgepR4O7odm+nJ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MarcellusSC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7a787bc74_1_2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b7a787bc74_1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g3b7a787bc74_1_2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b04faa2e2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b04faa2e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bb04faa2e2_0_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f7412ae5d_0_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f7412ae5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bf7412ae5d_0_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f7412ae5d_0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f7412ae5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SLA- Service Level Agreement</a:t>
            </a:r>
            <a:endParaRPr/>
          </a:p>
        </p:txBody>
      </p:sp>
      <p:sp>
        <p:nvSpPr>
          <p:cNvPr id="126" name="Google Shape;126;g3bf7412ae5d_0_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f7412ae5d_0_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f7412ae5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bf7412ae5d_0_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f7412ae5d_0_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f7412ae5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bf7412ae5d_0_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f7412ae5d_0_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f7412ae5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bf7412ae5d_0_4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f7412ae5d_0_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f7412ae5d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Service Arbitrage- </a:t>
            </a:r>
            <a:r>
              <a:rPr lang="en-IN" sz="1100">
                <a:latin typeface="Arial"/>
                <a:ea typeface="Arial"/>
                <a:cs typeface="Arial"/>
                <a:sym typeface="Arial"/>
              </a:rPr>
              <a:t>Selection is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dynamic. </a:t>
            </a:r>
            <a:r>
              <a:rPr lang="en-IN" sz="1100">
                <a:latin typeface="Arial"/>
                <a:ea typeface="Arial"/>
                <a:cs typeface="Arial"/>
                <a:sym typeface="Arial"/>
              </a:rPr>
              <a:t>Decision based on: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Price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Latency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Load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SLA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bf7412ae5d_0_5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f7412ae5d_0_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f7412ae5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Service Arbitrage- </a:t>
            </a:r>
            <a:r>
              <a:rPr lang="en-IN" sz="1100">
                <a:latin typeface="Arial"/>
                <a:ea typeface="Arial"/>
                <a:cs typeface="Arial"/>
                <a:sym typeface="Arial"/>
              </a:rPr>
              <a:t>Selection is </a:t>
            </a:r>
            <a:r>
              <a:rPr b="1" lang="en-IN" sz="1100">
                <a:latin typeface="Arial"/>
                <a:ea typeface="Arial"/>
                <a:cs typeface="Arial"/>
                <a:sym typeface="Arial"/>
              </a:rPr>
              <a:t>dynamic. </a:t>
            </a:r>
            <a:r>
              <a:rPr lang="en-IN" sz="1100">
                <a:latin typeface="Arial"/>
                <a:ea typeface="Arial"/>
                <a:cs typeface="Arial"/>
                <a:sym typeface="Arial"/>
              </a:rPr>
              <a:t>Decision based on: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Price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Latency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Load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 sz="1100">
                <a:latin typeface="Arial"/>
                <a:ea typeface="Arial"/>
                <a:cs typeface="Arial"/>
                <a:sym typeface="Arial"/>
              </a:rPr>
              <a:t>SLA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bf7412ae5d_0_7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b7a787bc74_1_69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3b7a787bc74_1_6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g3b7a787bc74_1_6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g3b7a787bc74_1_6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g3b7a787bc74_1_6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b7a787bc74_1_1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g3b7a787bc74_1_1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g3b7a787bc74_1_1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g3b7a787bc74_1_1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g3b7a787bc74_1_1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a787bc74_1_7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g3b7a787bc74_1_7"/>
          <p:cNvSpPr txBox="1"/>
          <p:nvPr>
            <p:ph idx="1" type="body"/>
          </p:nvPr>
        </p:nvSpPr>
        <p:spPr>
          <a:xfrm rot="5400000">
            <a:off x="2309400" y="-251700"/>
            <a:ext cx="4525500" cy="82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g3b7a787bc74_1_7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g3b7a787bc74_1_7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g3b7a787bc74_1_7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b7a787bc74_1_13"/>
          <p:cNvSpPr txBox="1"/>
          <p:nvPr>
            <p:ph type="title"/>
          </p:nvPr>
        </p:nvSpPr>
        <p:spPr>
          <a:xfrm rot="5400000">
            <a:off x="4732470" y="2171550"/>
            <a:ext cx="5851200" cy="20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g3b7a787bc74_1_13"/>
          <p:cNvSpPr txBox="1"/>
          <p:nvPr>
            <p:ph idx="1" type="body"/>
          </p:nvPr>
        </p:nvSpPr>
        <p:spPr>
          <a:xfrm rot="5400000">
            <a:off x="541770" y="190170"/>
            <a:ext cx="5851200" cy="60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g3b7a787bc74_1_13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g3b7a787bc74_1_13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g3b7a787bc74_1_13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a787bc74_1_19"/>
          <p:cNvSpPr txBox="1"/>
          <p:nvPr>
            <p:ph type="title"/>
          </p:nvPr>
        </p:nvSpPr>
        <p:spPr>
          <a:xfrm>
            <a:off x="685800" y="2130480"/>
            <a:ext cx="77721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g3b7a787bc74_1_19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g3b7a787bc74_1_19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g3b7a787bc74_1_19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blank">
  <p:cSld name="BLANK"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b7a787bc74_1_24"/>
          <p:cNvSpPr txBox="1"/>
          <p:nvPr>
            <p:ph type="title"/>
          </p:nvPr>
        </p:nvSpPr>
        <p:spPr>
          <a:xfrm>
            <a:off x="722160" y="4406760"/>
            <a:ext cx="77721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g3b7a787bc74_1_24"/>
          <p:cNvSpPr txBox="1"/>
          <p:nvPr>
            <p:ph idx="1" type="body"/>
          </p:nvPr>
        </p:nvSpPr>
        <p:spPr>
          <a:xfrm>
            <a:off x="722160" y="2906640"/>
            <a:ext cx="77721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g3b7a787bc74_1_24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g3b7a787bc74_1_24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g3b7a787bc74_1_24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b7a787bc74_1_30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g3b7a787bc74_1_30"/>
          <p:cNvSpPr txBox="1"/>
          <p:nvPr>
            <p:ph idx="1" type="body"/>
          </p:nvPr>
        </p:nvSpPr>
        <p:spPr>
          <a:xfrm>
            <a:off x="457200" y="1600200"/>
            <a:ext cx="40380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g3b7a787bc74_1_30"/>
          <p:cNvSpPr txBox="1"/>
          <p:nvPr>
            <p:ph idx="2" type="body"/>
          </p:nvPr>
        </p:nvSpPr>
        <p:spPr>
          <a:xfrm>
            <a:off x="4648320" y="1600200"/>
            <a:ext cx="40380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g3b7a787bc74_1_30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g3b7a787bc74_1_30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g3b7a787bc74_1_30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 type="twoTxTwoObj">
  <p:cSld name="TWO_OBJECTS_WITH_TEX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b7a787bc74_1_37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g3b7a787bc74_1_37"/>
          <p:cNvSpPr txBox="1"/>
          <p:nvPr>
            <p:ph idx="1" type="body"/>
          </p:nvPr>
        </p:nvSpPr>
        <p:spPr>
          <a:xfrm>
            <a:off x="457200" y="1535040"/>
            <a:ext cx="40398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g3b7a787bc74_1_37"/>
          <p:cNvSpPr txBox="1"/>
          <p:nvPr>
            <p:ph idx="2" type="body"/>
          </p:nvPr>
        </p:nvSpPr>
        <p:spPr>
          <a:xfrm>
            <a:off x="457200" y="2174760"/>
            <a:ext cx="403980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g3b7a787bc74_1_37"/>
          <p:cNvSpPr txBox="1"/>
          <p:nvPr>
            <p:ph idx="3" type="body"/>
          </p:nvPr>
        </p:nvSpPr>
        <p:spPr>
          <a:xfrm>
            <a:off x="4645080" y="1535040"/>
            <a:ext cx="40413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g3b7a787bc74_1_37"/>
          <p:cNvSpPr txBox="1"/>
          <p:nvPr>
            <p:ph idx="4" type="body"/>
          </p:nvPr>
        </p:nvSpPr>
        <p:spPr>
          <a:xfrm>
            <a:off x="4645080" y="2174760"/>
            <a:ext cx="404130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g3b7a787bc74_1_37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g3b7a787bc74_1_37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g3b7a787bc74_1_37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7a787bc74_1_46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g3b7a787bc74_1_46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g3b7a787bc74_1_46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g3b7a787bc74_1_46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7a787bc74_1_51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g3b7a787bc74_1_51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g3b7a787bc74_1_51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7a787bc74_1_55"/>
          <p:cNvSpPr txBox="1"/>
          <p:nvPr>
            <p:ph type="title"/>
          </p:nvPr>
        </p:nvSpPr>
        <p:spPr>
          <a:xfrm>
            <a:off x="457200" y="272880"/>
            <a:ext cx="30078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g3b7a787bc74_1_55"/>
          <p:cNvSpPr txBox="1"/>
          <p:nvPr>
            <p:ph idx="1" type="body"/>
          </p:nvPr>
        </p:nvSpPr>
        <p:spPr>
          <a:xfrm>
            <a:off x="3575160" y="272880"/>
            <a:ext cx="51114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g3b7a787bc74_1_55"/>
          <p:cNvSpPr txBox="1"/>
          <p:nvPr>
            <p:ph idx="2"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g3b7a787bc74_1_55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g3b7a787bc74_1_55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g3b7a787bc74_1_55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7a787bc74_1_62"/>
          <p:cNvSpPr txBox="1"/>
          <p:nvPr>
            <p:ph type="title"/>
          </p:nvPr>
        </p:nvSpPr>
        <p:spPr>
          <a:xfrm>
            <a:off x="1792440" y="4800600"/>
            <a:ext cx="54861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g3b7a787bc74_1_62"/>
          <p:cNvSpPr txBox="1"/>
          <p:nvPr>
            <p:ph idx="1" type="body"/>
          </p:nvPr>
        </p:nvSpPr>
        <p:spPr>
          <a:xfrm>
            <a:off x="1792440" y="612720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g3b7a787bc74_1_62"/>
          <p:cNvSpPr txBox="1"/>
          <p:nvPr>
            <p:ph idx="2" type="body"/>
          </p:nvPr>
        </p:nvSpPr>
        <p:spPr>
          <a:xfrm>
            <a:off x="1792440" y="5367240"/>
            <a:ext cx="54861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g3b7a787bc74_1_62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g3b7a787bc74_1_62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g3b7a787bc74_1_62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jpg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320" y="1440"/>
            <a:ext cx="568080" cy="685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0"/>
            <a:ext cx="209160" cy="54399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92" name="Google Shape;9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520" y="5929560"/>
            <a:ext cx="3246120" cy="810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93" name="Google Shape;9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98760" y="5932800"/>
            <a:ext cx="968040" cy="721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1061400" y="1850200"/>
            <a:ext cx="7625400" cy="106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3300">
            <a:spAutoFit/>
          </a:bodyPr>
          <a:lstStyle/>
          <a:p>
            <a:pPr indent="0" lvl="0" marL="1259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IN" sz="3400" u="none" cap="none" strike="noStrike">
                <a:solidFill>
                  <a:srgbClr val="FF0000"/>
                </a:solidFill>
                <a:latin typeface="Marcellus SC"/>
                <a:ea typeface="Marcellus SC"/>
                <a:cs typeface="Marcellus SC"/>
                <a:sym typeface="Marcellus SC"/>
              </a:rPr>
              <a:t>Module 2: </a:t>
            </a:r>
            <a:r>
              <a:rPr lang="en-IN" sz="3400">
                <a:solidFill>
                  <a:srgbClr val="FF0000"/>
                </a:solidFill>
                <a:latin typeface="Marcellus SC"/>
                <a:ea typeface="Marcellus SC"/>
                <a:cs typeface="Marcellus SC"/>
                <a:sym typeface="Marcellus SC"/>
              </a:rPr>
              <a:t>CLoud Architecture</a:t>
            </a:r>
            <a:endParaRPr b="0" i="0" sz="3400" u="none" cap="none" strike="noStrike">
              <a:solidFill>
                <a:srgbClr val="FF0000"/>
              </a:solidFill>
              <a:latin typeface="Marcellus SC"/>
              <a:ea typeface="Marcellus SC"/>
              <a:cs typeface="Marcellus SC"/>
              <a:sym typeface="Marcellus S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rgbClr val="FF0000"/>
              </a:solidFill>
              <a:latin typeface="Marcellus SC"/>
              <a:ea typeface="Marcellus SC"/>
              <a:cs typeface="Marcellus SC"/>
              <a:sym typeface="Marcellus SC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37425" y="3331029"/>
            <a:ext cx="4507975" cy="17309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7a787bc74_1_2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2" name="Google Shape;102;g3b7a787bc74_1_220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Outline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g3b7a787bc74_1_2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100" y="1239720"/>
            <a:ext cx="7415810" cy="4964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b04faa2e2_0_1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bb04faa2e2_0_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bb04faa2e2_0_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12" name="Google Shape;112;g3bb04faa2e2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024" y="1345712"/>
            <a:ext cx="7931950" cy="4293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f7412ae5d_0_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bf7412ae5d_0_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bf7412ae5d_0_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21" name="Google Shape;121;g3bf7412ae5d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375" y="2130425"/>
            <a:ext cx="8725250" cy="2257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2" name="Google Shape;122;g3bf7412ae5d_0_4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3000">
                <a:solidFill>
                  <a:srgbClr val="FF0000"/>
                </a:solidFill>
              </a:rPr>
              <a:t>Usage Scenarios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f7412ae5d_0_1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bf7412ae5d_0_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bf7412ae5d_0_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1" name="Google Shape;131;g3bf7412ae5d_0_13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3000">
                <a:solidFill>
                  <a:srgbClr val="FF0000"/>
                </a:solidFill>
              </a:rPr>
              <a:t>Usage Scenarios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g3bf7412ae5d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100" y="2327600"/>
            <a:ext cx="8734201" cy="26297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f7412ae5d_0_2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bf7412ae5d_0_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bf7412ae5d_0_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1" name="Google Shape;141;g3bf7412ae5d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2191887"/>
            <a:ext cx="6617275" cy="24742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2" name="Google Shape;142;g3bf7412ae5d_0_23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3000">
                <a:solidFill>
                  <a:srgbClr val="FF0000"/>
                </a:solidFill>
              </a:rPr>
              <a:t>Usage Scenarios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f7412ae5d_0_32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bf7412ae5d_0_3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bf7412ae5d_0_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51" name="Google Shape;151;g3bf7412ae5d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3976" y="1702675"/>
            <a:ext cx="7116050" cy="45087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2" name="Google Shape;152;g3bf7412ae5d_0_32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2800">
                <a:solidFill>
                  <a:srgbClr val="FF0000"/>
                </a:solidFill>
              </a:rPr>
              <a:t>Example Services available to Cloud Consumer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f7412ae5d_0_41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bf7412ae5d_0_4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bf7412ae5d_0_4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61" name="Google Shape;161;g3bf7412ae5d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076" y="2041627"/>
            <a:ext cx="8490250" cy="336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g3bf7412ae5d_0_41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2800">
                <a:solidFill>
                  <a:srgbClr val="FF0000"/>
                </a:solidFill>
              </a:rPr>
              <a:t>Cloud Provider Major Activities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f7412ae5d_0_5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9" name="Google Shape;169;g3bf7412ae5d_0_58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2800">
                <a:solidFill>
                  <a:srgbClr val="FF0000"/>
                </a:solidFill>
              </a:rPr>
              <a:t>Cloud Broker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bf7412ae5d_0_58"/>
          <p:cNvSpPr txBox="1"/>
          <p:nvPr/>
        </p:nvSpPr>
        <p:spPr>
          <a:xfrm>
            <a:off x="478800" y="1352000"/>
            <a:ext cx="8338500" cy="4937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IN" sz="2200">
                <a:solidFill>
                  <a:srgbClr val="FF0000"/>
                </a:solidFill>
              </a:rPr>
              <a:t>Service Intermediation</a:t>
            </a:r>
            <a:r>
              <a:rPr lang="en-IN" sz="2200"/>
              <a:t>- enhances a given service by improving some specific capability and providing value-added services to cloud consumers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IN" sz="2200">
                <a:solidFill>
                  <a:srgbClr val="FF0000"/>
                </a:solidFill>
              </a:rPr>
              <a:t>Service Aggregation</a:t>
            </a:r>
            <a:r>
              <a:rPr lang="en-IN" sz="2200"/>
              <a:t>- combines and integrates multiple services into one or more new services. provides data integration and ensures the secure data movement between the cloud consumer and multiple cloud providers.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IN" sz="2200">
                <a:solidFill>
                  <a:srgbClr val="FF0000"/>
                </a:solidFill>
              </a:rPr>
              <a:t>Service Arbitrage</a:t>
            </a:r>
            <a:r>
              <a:rPr lang="en-IN" sz="2200"/>
              <a:t>- similar to service aggregation except that the services being aggregated are not fixed</a:t>
            </a:r>
            <a:endParaRPr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f7412ae5d_0_7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7" name="Google Shape;177;g3bf7412ae5d_0_75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2800">
                <a:solidFill>
                  <a:srgbClr val="FF0000"/>
                </a:solidFill>
              </a:rPr>
              <a:t>Cloud Carrier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bf7412ae5d_0_75"/>
          <p:cNvSpPr txBox="1"/>
          <p:nvPr/>
        </p:nvSpPr>
        <p:spPr>
          <a:xfrm>
            <a:off x="478800" y="1352000"/>
            <a:ext cx="8338500" cy="3566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/>
              <a:t> </a:t>
            </a:r>
            <a:r>
              <a:rPr b="1" lang="en-IN" sz="2400">
                <a:solidFill>
                  <a:srgbClr val="FF0000"/>
                </a:solidFill>
              </a:rPr>
              <a:t>intermediary</a:t>
            </a:r>
            <a:r>
              <a:rPr lang="en-IN" sz="2400"/>
              <a:t> that provides </a:t>
            </a:r>
            <a:r>
              <a:rPr b="1" lang="en-IN" sz="2400">
                <a:solidFill>
                  <a:srgbClr val="FF0000"/>
                </a:solidFill>
              </a:rPr>
              <a:t>connectivity and transport of cloud services</a:t>
            </a:r>
            <a:r>
              <a:rPr lang="en-IN" sz="2400"/>
              <a:t> between cloud consumers and cloud providers.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/>
              <a:t>cloud consumers can obtain cloud services through network access devices, such as computers, laptops, mobile phones, mobile Internet devices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IN" sz="2400">
                <a:solidFill>
                  <a:srgbClr val="FF0000"/>
                </a:solidFill>
              </a:rPr>
              <a:t>cloud provider will set up SLAs</a:t>
            </a:r>
            <a:r>
              <a:rPr lang="en-IN" sz="2400"/>
              <a:t> with a cloud carrier to provide services consistent with the level of SLAs offered to cloud consumers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2023-02-09T09:07:05Z</dcterms:created>
  <dc:creator>Admin</dc:creator>
</cp:coreProperties>
</file>