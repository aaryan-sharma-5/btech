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jqqTEDRk0Jr5BFsV+QiaJ/bnpF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#10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#9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 rules #3 and #6 have options – you don’t know where the middle of the string is.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don’t rules #4 and #5 have similar options – suppose rule #4 had option (</a:t>
            </a:r>
            <a:r>
              <a:rPr lang="en-US" sz="600"/>
              <a:t>q</a:t>
            </a:r>
            <a:r>
              <a:rPr baseline="-25000" lang="en-US" sz="600"/>
              <a:t>2</a:t>
            </a:r>
            <a:r>
              <a:rPr lang="en-US" sz="600"/>
              <a:t>, λ). Then 0100 would be accepted.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#10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#9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 rules #3 and #6 have options – you don’t know where the middle of the string is.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don’t rules #4 and #5 have similar options – suppose rule #4 had option (</a:t>
            </a:r>
            <a:r>
              <a:rPr lang="en-US" sz="600"/>
              <a:t>q</a:t>
            </a:r>
            <a:r>
              <a:rPr baseline="-25000" lang="en-US" sz="600"/>
              <a:t>2</a:t>
            </a:r>
            <a:r>
              <a:rPr lang="en-US" sz="600"/>
              <a:t>, λ). Then 0100 would be accepted.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#10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#9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 rules #3 and #6 have options – you don’t know where the middle of the string is.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don’t rules #4 and #5 have similar options – suppose rule #4 had option (</a:t>
            </a:r>
            <a:r>
              <a:rPr lang="en-US" sz="600"/>
              <a:t>q</a:t>
            </a:r>
            <a:r>
              <a:rPr baseline="-25000" lang="en-US" sz="600"/>
              <a:t>2</a:t>
            </a:r>
            <a:r>
              <a:rPr lang="en-US" sz="600"/>
              <a:t>, λ). Then 0100 would be accepted.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#10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#9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 rules #3 and #6 have options – you don’t know where the middle of the string is.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don’t rules #4 and #5 have similar options – suppose rule #4 had option (</a:t>
            </a:r>
            <a:r>
              <a:rPr lang="en-US" sz="600"/>
              <a:t>q</a:t>
            </a:r>
            <a:r>
              <a:rPr baseline="-25000" lang="en-US" sz="600"/>
              <a:t>2</a:t>
            </a:r>
            <a:r>
              <a:rPr lang="en-US" sz="600"/>
              <a:t>, λ). Then 0100 would be accepted.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#10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#9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 rules #3 and #6 have options – you don’t know where the middle of the string is.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don’t rules #4 and #5 have similar options – suppose rule #4 had option (</a:t>
            </a:r>
            <a:r>
              <a:rPr lang="en-US" sz="600"/>
              <a:t>q</a:t>
            </a:r>
            <a:r>
              <a:rPr baseline="-25000" lang="en-US" sz="600"/>
              <a:t>2</a:t>
            </a:r>
            <a:r>
              <a:rPr lang="en-US" sz="600"/>
              <a:t>, λ). Then 0100 would be accepted.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#10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#9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 rules #3 and #6 have options – you don’t know where the middle of the string is.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don’t rules #4 and #5 have similar options – suppose rule #4 had option (</a:t>
            </a:r>
            <a:r>
              <a:rPr lang="en-US" sz="600"/>
              <a:t>q</a:t>
            </a:r>
            <a:r>
              <a:rPr baseline="-25000" lang="en-US" sz="600"/>
              <a:t>2</a:t>
            </a:r>
            <a:r>
              <a:rPr lang="en-US" sz="600"/>
              <a:t>, λ). Then 0100 would be accepted.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2" name="Google Shape;2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#10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#9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 rules #3 and #6 have options – you don’t know where the middle of the string is.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don’t rules #4 and #5 have similar options – suppose rule #4 had option (</a:t>
            </a:r>
            <a:r>
              <a:rPr lang="en-US" sz="600"/>
              <a:t>q</a:t>
            </a:r>
            <a:r>
              <a:rPr baseline="-25000" lang="en-US" sz="600"/>
              <a:t>2</a:t>
            </a:r>
            <a:r>
              <a:rPr lang="en-US" sz="600"/>
              <a:t>, λ). Then 0100 would be accepted.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2" name="Google Shape;2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#10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#9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 rules #3 and #6 have options – you don’t know where the middle of the string is.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don’t rules #4 and #5 have similar options – suppose rule #4 had option (</a:t>
            </a:r>
            <a:r>
              <a:rPr lang="en-US" sz="600"/>
              <a:t>q</a:t>
            </a:r>
            <a:r>
              <a:rPr baseline="-25000" lang="en-US" sz="600"/>
              <a:t>2</a:t>
            </a:r>
            <a:r>
              <a:rPr lang="en-US" sz="600"/>
              <a:t>, λ). Then 0100 would be accepted.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1" name="Google Shape;2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#10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#9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 rules #3 and #6 have options – you don’t know where the middle of the string is.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don’t rules #4 and #5 have similar options – suppose rule #4 had option (</a:t>
            </a:r>
            <a:r>
              <a:rPr lang="en-US" sz="600"/>
              <a:t>q</a:t>
            </a:r>
            <a:r>
              <a:rPr baseline="-25000" lang="en-US" sz="600"/>
              <a:t>2</a:t>
            </a:r>
            <a:r>
              <a:rPr lang="en-US" sz="600"/>
              <a:t>, λ). Then 0100 would be accepted.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4" name="Google Shape;31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#10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#9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 rules #3 and #6 have options – you don’t know where the middle of the string is.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don’t rules #4 and #5 have similar options – suppose rule #4 had option (</a:t>
            </a:r>
            <a:r>
              <a:rPr lang="en-US" sz="600"/>
              <a:t>q</a:t>
            </a:r>
            <a:r>
              <a:rPr baseline="-25000" lang="en-US" sz="600"/>
              <a:t>2</a:t>
            </a:r>
            <a:r>
              <a:rPr lang="en-US" sz="600"/>
              <a:t>, λ). Then 0100 would be accepted.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47" name="Google Shape;34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#10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What is rule #9 used for – emptying the stack.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 rules #3 and #6 have options – you don’t know where the middle of the string is.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Why don’t rules #4 and #5 have similar options – suppose rule #4 had option (</a:t>
            </a:r>
            <a:r>
              <a:rPr lang="en-US" sz="600"/>
              <a:t>q</a:t>
            </a:r>
            <a:r>
              <a:rPr baseline="-25000" lang="en-US" sz="600"/>
              <a:t>2</a:t>
            </a:r>
            <a:r>
              <a:rPr lang="en-US" sz="600"/>
              <a:t>, λ). Then 0100 would be accepted.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Decidability &amp; Undecidability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685800" y="533400"/>
            <a:ext cx="77724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Recall the Hierarchy:</a:t>
            </a:r>
            <a:endParaRPr/>
          </a:p>
        </p:txBody>
      </p:sp>
      <p:grpSp>
        <p:nvGrpSpPr>
          <p:cNvPr id="96" name="Google Shape;96;p2"/>
          <p:cNvGrpSpPr/>
          <p:nvPr/>
        </p:nvGrpSpPr>
        <p:grpSpPr>
          <a:xfrm>
            <a:off x="1905000" y="1676400"/>
            <a:ext cx="5715000" cy="4419600"/>
            <a:chOff x="1200" y="1056"/>
            <a:chExt cx="3600" cy="2784"/>
          </a:xfrm>
        </p:grpSpPr>
        <p:sp>
          <p:nvSpPr>
            <p:cNvPr id="97" name="Google Shape;97;p2"/>
            <p:cNvSpPr/>
            <p:nvPr/>
          </p:nvSpPr>
          <p:spPr>
            <a:xfrm>
              <a:off x="2462" y="2856"/>
              <a:ext cx="1146" cy="509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Regular Languages - </a:t>
              </a:r>
              <a:r>
                <a:rPr b="1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ε</a:t>
              </a:r>
              <a:endPara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2080" y="2496"/>
              <a:ext cx="1910" cy="996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761" y="2160"/>
              <a:ext cx="2547" cy="146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2448" y="2640"/>
              <a:ext cx="1186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Context-Free Languages - </a:t>
              </a:r>
              <a:r>
                <a:rPr b="1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ε</a:t>
              </a:r>
              <a:endPara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2400" y="2256"/>
              <a:ext cx="1247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Context-Sensitive Languages</a:t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443" y="1776"/>
              <a:ext cx="3120" cy="1971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2544" y="1872"/>
              <a:ext cx="942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Recursive Languages</a:t>
              </a: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2112" y="1056"/>
              <a:ext cx="1704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Non-Recursively Enumerable Languages</a:t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200" y="1344"/>
              <a:ext cx="3600" cy="2496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2256" y="1536"/>
              <a:ext cx="1507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Recursively Enumerable Languages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3"/>
          <p:cNvSpPr txBox="1"/>
          <p:nvPr>
            <p:ph idx="1" type="body"/>
          </p:nvPr>
        </p:nvSpPr>
        <p:spPr>
          <a:xfrm>
            <a:off x="685800" y="412750"/>
            <a:ext cx="7772400" cy="614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/>
          </a:p>
          <a:p>
            <a:pPr indent="-241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/>
          </a:p>
          <a:p>
            <a:pPr indent="-241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Observation:</a:t>
            </a:r>
            <a:r>
              <a:rPr lang="en-US" sz="1600"/>
              <a:t> Let L be an r.e. language. Then there is an infinite list M</a:t>
            </a:r>
            <a:r>
              <a:rPr baseline="-25000" lang="en-US" sz="1600"/>
              <a:t>0</a:t>
            </a:r>
            <a:r>
              <a:rPr lang="en-US" sz="1600"/>
              <a:t>, M</a:t>
            </a:r>
            <a:r>
              <a:rPr baseline="-25000" lang="en-US" sz="1600"/>
              <a:t>1</a:t>
            </a:r>
            <a:r>
              <a:rPr lang="en-US" sz="1600"/>
              <a:t>, … of TMs such that L = L(M</a:t>
            </a:r>
            <a:r>
              <a:rPr baseline="-25000" lang="en-US" sz="1600"/>
              <a:t>i</a:t>
            </a:r>
            <a:r>
              <a:rPr lang="en-US" sz="1600"/>
              <a:t>).</a:t>
            </a:r>
            <a:endParaRPr/>
          </a:p>
          <a:p>
            <a:pPr indent="-241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Question:</a:t>
            </a:r>
            <a:r>
              <a:rPr lang="en-US" sz="1600"/>
              <a:t> Let L be a </a:t>
            </a:r>
            <a:r>
              <a:rPr b="1" lang="en-US" sz="1600"/>
              <a:t>recursive</a:t>
            </a:r>
            <a:r>
              <a:rPr lang="en-US" sz="1600"/>
              <a:t> language, and M</a:t>
            </a:r>
            <a:r>
              <a:rPr baseline="-25000" lang="en-US" sz="1600"/>
              <a:t>0</a:t>
            </a:r>
            <a:r>
              <a:rPr lang="en-US" sz="1600"/>
              <a:t>, M</a:t>
            </a:r>
            <a:r>
              <a:rPr baseline="-25000" lang="en-US" sz="1600"/>
              <a:t>1</a:t>
            </a:r>
            <a:r>
              <a:rPr lang="en-US" sz="1600"/>
              <a:t>, … a list of all TMs such that L = L(M</a:t>
            </a:r>
            <a:r>
              <a:rPr baseline="-25000" lang="en-US" sz="1600"/>
              <a:t>i</a:t>
            </a:r>
            <a:r>
              <a:rPr lang="en-US" sz="1600"/>
              <a:t>), and choose any i&gt;=0. Does M</a:t>
            </a:r>
            <a:r>
              <a:rPr baseline="-25000" lang="en-US" sz="1600"/>
              <a:t>i</a:t>
            </a:r>
            <a:r>
              <a:rPr lang="en-US" sz="1600"/>
              <a:t> always halt?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Answer:</a:t>
            </a:r>
            <a:r>
              <a:rPr lang="en-US" sz="1600"/>
              <a:t> Maybe, maybe not, but </a:t>
            </a:r>
            <a:r>
              <a:rPr i="1" lang="en-US" sz="1600"/>
              <a:t>at least one in the list does</a:t>
            </a:r>
            <a:r>
              <a:rPr lang="en-US" sz="1600"/>
              <a:t>.</a:t>
            </a:r>
            <a:endParaRPr/>
          </a:p>
          <a:p>
            <a:pPr indent="-241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Question:</a:t>
            </a:r>
            <a:r>
              <a:rPr lang="en-US" sz="1600"/>
              <a:t> Let L be a </a:t>
            </a:r>
            <a:r>
              <a:rPr b="1" lang="en-US" sz="1600"/>
              <a:t>recursive enumerable </a:t>
            </a:r>
            <a:r>
              <a:rPr lang="en-US" sz="1600"/>
              <a:t>language, and M</a:t>
            </a:r>
            <a:r>
              <a:rPr baseline="-25000" lang="en-US" sz="1600"/>
              <a:t>0</a:t>
            </a:r>
            <a:r>
              <a:rPr lang="en-US" sz="1600"/>
              <a:t>, M</a:t>
            </a:r>
            <a:r>
              <a:rPr baseline="-25000" lang="en-US" sz="1600"/>
              <a:t>1</a:t>
            </a:r>
            <a:r>
              <a:rPr lang="en-US" sz="1600"/>
              <a:t>, … a list of all TMs such that L = L(M</a:t>
            </a:r>
            <a:r>
              <a:rPr baseline="-25000" lang="en-US" sz="1600"/>
              <a:t>i</a:t>
            </a:r>
            <a:r>
              <a:rPr lang="en-US" sz="1600"/>
              <a:t>), and choose any i&gt;=0. Does M</a:t>
            </a:r>
            <a:r>
              <a:rPr baseline="-25000" lang="en-US" sz="1600"/>
              <a:t>i</a:t>
            </a:r>
            <a:r>
              <a:rPr lang="en-US" sz="1600"/>
              <a:t> always halt?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Answer:</a:t>
            </a:r>
            <a:r>
              <a:rPr lang="en-US" sz="1600"/>
              <a:t> Maybe, maybe not. Depending on L, none might halt or some may halt.</a:t>
            </a:r>
            <a:endParaRPr/>
          </a:p>
          <a:p>
            <a:pPr indent="-241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85750" lvl="1" marL="7429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/>
              <a:t>If L is also recursive then L is recursively enumerable</a:t>
            </a:r>
            <a:r>
              <a:rPr i="1" lang="en-US" sz="1400"/>
              <a:t>, recursive is subset of r.e.</a:t>
            </a:r>
            <a:endParaRPr/>
          </a:p>
          <a:p>
            <a:pPr indent="-241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Question:</a:t>
            </a:r>
            <a:r>
              <a:rPr lang="en-US" sz="1600"/>
              <a:t> Let L be a r.e. language that is not recursive (L is in r.e. – r), and M</a:t>
            </a:r>
            <a:r>
              <a:rPr baseline="-25000" lang="en-US" sz="1600"/>
              <a:t>0</a:t>
            </a:r>
            <a:r>
              <a:rPr lang="en-US" sz="1600"/>
              <a:t>, M</a:t>
            </a:r>
            <a:r>
              <a:rPr baseline="-25000" lang="en-US" sz="1600"/>
              <a:t>1</a:t>
            </a:r>
            <a:r>
              <a:rPr lang="en-US" sz="1600"/>
              <a:t>, … a list of all TMs such that L = L(M</a:t>
            </a:r>
            <a:r>
              <a:rPr baseline="-25000" lang="en-US" sz="1600"/>
              <a:t>i</a:t>
            </a:r>
            <a:r>
              <a:rPr lang="en-US" sz="1600"/>
              <a:t>), and choose any i&gt;=0. Does M</a:t>
            </a:r>
            <a:r>
              <a:rPr baseline="-25000" lang="en-US" sz="1600"/>
              <a:t>i</a:t>
            </a:r>
            <a:r>
              <a:rPr lang="en-US" sz="1600"/>
              <a:t> always halt?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Answer:</a:t>
            </a:r>
            <a:r>
              <a:rPr lang="en-US" sz="1600"/>
              <a:t> No! If it did, then L would not be in r.e. – r, it would be recursive.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390525" y="1543050"/>
            <a:ext cx="7747000" cy="424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is Recursively enumerable: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TM exist: M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They accept string in L, and do not accept any string outside 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is Recursive: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at least one TM halts on L and on ∑*-L, others may or may not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is Recursively enumerable but not Recursive: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TM exist: M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but </a:t>
            </a:r>
            <a:r>
              <a:rPr b="0" i="1" lang="en-US" sz="1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none</a:t>
            </a: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halts on </a:t>
            </a:r>
            <a:r>
              <a:rPr b="0" i="1" lang="en-US" sz="1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</a:t>
            </a: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 in ∑*-L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M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goes on infinite loop on a string p in ∑*-L,  while M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q in ∑*-L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However, each correct TM  accepts each string in L, and none in ∑*-L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is not R.E</a:t>
            </a: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no TM exists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5"/>
          <p:cNvSpPr txBox="1"/>
          <p:nvPr>
            <p:ph idx="1" type="body"/>
          </p:nvPr>
        </p:nvSpPr>
        <p:spPr>
          <a:xfrm>
            <a:off x="685800" y="412750"/>
            <a:ext cx="7772400" cy="614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Let </a:t>
            </a:r>
            <a:r>
              <a:rPr b="1" i="1" lang="en-US" sz="1800"/>
              <a:t>M</a:t>
            </a:r>
            <a:r>
              <a:rPr b="1" lang="en-US" sz="1800"/>
              <a:t> be a TM.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Question: Is L(M) r.e.?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Answer: Yes! By definition it is!</a:t>
            </a:r>
            <a:endParaRPr/>
          </a:p>
          <a:p>
            <a:pPr indent="-1841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Question: Is L(M) recursive?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Answer: Don’t know, we don’t have enough information.</a:t>
            </a:r>
            <a:endParaRPr/>
          </a:p>
          <a:p>
            <a:pPr indent="-1841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Question: Is L(M) in r.e – r?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Answer: Don’t know, we don’t have enough information.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6"/>
          <p:cNvSpPr txBox="1"/>
          <p:nvPr>
            <p:ph idx="1" type="body"/>
          </p:nvPr>
        </p:nvSpPr>
        <p:spPr>
          <a:xfrm>
            <a:off x="685800" y="412750"/>
            <a:ext cx="7772400" cy="614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Let </a:t>
            </a:r>
            <a:r>
              <a:rPr b="1" i="1" lang="en-US" sz="1800"/>
              <a:t>M</a:t>
            </a:r>
            <a:r>
              <a:rPr b="1" lang="en-US" sz="1800"/>
              <a:t> be a TM that </a:t>
            </a:r>
            <a:r>
              <a:rPr b="1" lang="en-US" sz="1800" u="sng"/>
              <a:t>halts</a:t>
            </a:r>
            <a:r>
              <a:rPr b="1" lang="en-US" sz="1800"/>
              <a:t> on all inputs:</a:t>
            </a:r>
            <a:endParaRPr/>
          </a:p>
          <a:p>
            <a:pPr indent="-1841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Question: Is L(M) recursively enumerable?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Answer: Yes! By definition it is!</a:t>
            </a:r>
            <a:endParaRPr/>
          </a:p>
          <a:p>
            <a:pPr indent="-1841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Question: Is L(M) recursive?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Answer: Yes! By definition it is!</a:t>
            </a:r>
            <a:endParaRPr/>
          </a:p>
          <a:p>
            <a:pPr indent="-1841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Question: Is L(M) in r.e – r?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Answer: No! It can’t be. Since </a:t>
            </a:r>
            <a:r>
              <a:rPr i="1" lang="en-US" sz="1600"/>
              <a:t>M</a:t>
            </a:r>
            <a:r>
              <a:rPr lang="en-US" sz="1600"/>
              <a:t> always halts, L(M) is recursive.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7"/>
          <p:cNvSpPr txBox="1"/>
          <p:nvPr>
            <p:ph idx="1" type="body"/>
          </p:nvPr>
        </p:nvSpPr>
        <p:spPr>
          <a:xfrm>
            <a:off x="685800" y="412750"/>
            <a:ext cx="7772400" cy="614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Let </a:t>
            </a:r>
            <a:r>
              <a:rPr b="1" i="1" lang="en-US" sz="1800"/>
              <a:t>M</a:t>
            </a:r>
            <a:r>
              <a:rPr b="1" lang="en-US" sz="1800"/>
              <a:t> be a TM.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As noted previously, L(M) is recursively enumerable, but may or may not be recursive.</a:t>
            </a:r>
            <a:endParaRPr/>
          </a:p>
          <a:p>
            <a:pPr indent="-1841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Question: Suppose, we know L(M) is recursive. Does that mean </a:t>
            </a:r>
            <a:r>
              <a:rPr i="1" lang="en-US" sz="1600"/>
              <a:t>M</a:t>
            </a:r>
            <a:r>
              <a:rPr lang="en-US" sz="1600"/>
              <a:t> always halts?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Answer: Not necessarily. However, some TM  </a:t>
            </a:r>
            <a:r>
              <a:rPr i="1" lang="en-US" sz="1600"/>
              <a:t>M’</a:t>
            </a:r>
            <a:r>
              <a:rPr lang="en-US" sz="1600"/>
              <a:t> must exist such that L(M’) = L(M) and </a:t>
            </a:r>
            <a:r>
              <a:rPr i="1" lang="en-US" sz="1600"/>
              <a:t>M’ </a:t>
            </a:r>
            <a:r>
              <a:rPr lang="en-US" sz="1600"/>
              <a:t>always halts.</a:t>
            </a:r>
            <a:endParaRPr/>
          </a:p>
          <a:p>
            <a:pPr indent="-1841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Question: Suppose that L(M) is in r.e. – r. Does </a:t>
            </a:r>
            <a:r>
              <a:rPr i="1" lang="en-US" sz="1600"/>
              <a:t>M</a:t>
            </a:r>
            <a:r>
              <a:rPr lang="en-US" sz="1600"/>
              <a:t> always halt?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Answer: No! If it did then L(M) would be recursive and therefore not in r.e. – r.</a:t>
            </a:r>
            <a:endParaRPr/>
          </a:p>
          <a:p>
            <a:pPr indent="-1841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8"/>
          <p:cNvSpPr txBox="1"/>
          <p:nvPr>
            <p:ph idx="1" type="body"/>
          </p:nvPr>
        </p:nvSpPr>
        <p:spPr>
          <a:xfrm>
            <a:off x="685800" y="412750"/>
            <a:ext cx="7772400" cy="614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Let </a:t>
            </a:r>
            <a:r>
              <a:rPr b="1" i="1" lang="en-US" sz="1800"/>
              <a:t>M</a:t>
            </a:r>
            <a:r>
              <a:rPr b="1" lang="en-US" sz="1800"/>
              <a:t> be a TM, and suppose that </a:t>
            </a:r>
            <a:r>
              <a:rPr b="1" i="1" lang="en-US" sz="1800"/>
              <a:t>M</a:t>
            </a:r>
            <a:r>
              <a:rPr b="1" lang="en-US" sz="1800"/>
              <a:t> loops forever on some string </a:t>
            </a:r>
            <a:r>
              <a:rPr b="1" i="1" lang="en-US" sz="1800"/>
              <a:t>x</a:t>
            </a:r>
            <a:r>
              <a:rPr b="1" lang="en-US" sz="1800"/>
              <a:t>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Question: Is L(M) recursively enumerable?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Answer: Yes! By definition it is. But, obviously </a:t>
            </a:r>
            <a:r>
              <a:rPr i="1" lang="en-US" sz="1600"/>
              <a:t>x</a:t>
            </a:r>
            <a:r>
              <a:rPr lang="en-US" sz="1600"/>
              <a:t> is not in L(M).</a:t>
            </a:r>
            <a:endParaRPr/>
          </a:p>
          <a:p>
            <a:pPr indent="-1841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Question: Is L(M) recursive?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Answer: Don’t know. Although </a:t>
            </a:r>
            <a:r>
              <a:rPr i="1" lang="en-US" sz="1600"/>
              <a:t>M</a:t>
            </a:r>
            <a:r>
              <a:rPr lang="en-US" sz="1600"/>
              <a:t> doesn’t always halt, some other TM </a:t>
            </a:r>
            <a:r>
              <a:rPr i="1" lang="en-US" sz="1600"/>
              <a:t>M’ </a:t>
            </a:r>
            <a:r>
              <a:rPr lang="en-US" sz="1600" u="sng"/>
              <a:t>may</a:t>
            </a:r>
            <a:r>
              <a:rPr lang="en-US" sz="1600"/>
              <a:t> exist such that L(M’) = L(M) and </a:t>
            </a:r>
            <a:r>
              <a:rPr i="1" lang="en-US" sz="1600"/>
              <a:t>M’ </a:t>
            </a:r>
            <a:r>
              <a:rPr lang="en-US" sz="1600"/>
              <a:t>always halts.</a:t>
            </a:r>
            <a:endParaRPr/>
          </a:p>
          <a:p>
            <a:pPr indent="-1841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Question: Is L(M) in r.e. – r?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Answer: Don’t know. </a:t>
            </a:r>
            <a:endParaRPr/>
          </a:p>
          <a:p>
            <a:pPr indent="0" lvl="1" marL="457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/>
              <a:t>	May be another </a:t>
            </a:r>
            <a:r>
              <a:rPr i="1" lang="en-US" sz="1600"/>
              <a:t>M’ </a:t>
            </a:r>
            <a:r>
              <a:rPr lang="en-US" sz="1600"/>
              <a:t>will halt on </a:t>
            </a:r>
            <a:r>
              <a:rPr i="1" lang="en-US" sz="1600"/>
              <a:t>x</a:t>
            </a:r>
            <a:r>
              <a:rPr lang="en-US" sz="1600"/>
              <a:t>, and on all strings! May be no TM for this L(M) does halt on all strings! We just do not know!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9"/>
          <p:cNvSpPr txBox="1"/>
          <p:nvPr>
            <p:ph type="title"/>
          </p:nvPr>
        </p:nvSpPr>
        <p:spPr>
          <a:xfrm>
            <a:off x="685800" y="3810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Modifications of the Basic TM Model</a:t>
            </a:r>
            <a:endParaRPr/>
          </a:p>
        </p:txBody>
      </p:sp>
      <p:sp>
        <p:nvSpPr>
          <p:cNvPr id="154" name="Google Shape;154;p9"/>
          <p:cNvSpPr txBox="1"/>
          <p:nvPr>
            <p:ph idx="1" type="body"/>
          </p:nvPr>
        </p:nvSpPr>
        <p:spPr>
          <a:xfrm>
            <a:off x="685800" y="15240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Other (Extended) TM Models: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One-way infinite tapes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Multiple tapes and tape heads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Non-Deterministic TMs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Multi-Dimensional TMs (n-dimensional tape)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Multi-Heads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Multiple tracks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/>
              <a:t>	</a:t>
            </a:r>
            <a:r>
              <a:rPr i="1" lang="en-US" sz="1800"/>
              <a:t>All of these extensions are equivalent to the basic DTM model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0"/>
          <p:cNvSpPr txBox="1"/>
          <p:nvPr>
            <p:ph type="title"/>
          </p:nvPr>
        </p:nvSpPr>
        <p:spPr>
          <a:xfrm>
            <a:off x="685800" y="3810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3200"/>
              <a:t>Closure Properties for Recursive and Recursively Enumerable Languages</a:t>
            </a:r>
            <a:endParaRPr/>
          </a:p>
        </p:txBody>
      </p:sp>
      <p:sp>
        <p:nvSpPr>
          <p:cNvPr id="161" name="Google Shape;161;p10"/>
          <p:cNvSpPr txBox="1"/>
          <p:nvPr>
            <p:ph idx="1" type="body"/>
          </p:nvPr>
        </p:nvSpPr>
        <p:spPr>
          <a:xfrm>
            <a:off x="685800" y="15240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TMs model General Purpose (GP) Computers: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If a TM can do it, so can a GP computer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If a GP computer can do it, then so can a TM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/>
              <a:t>	</a:t>
            </a:r>
            <a:r>
              <a:rPr i="1" lang="en-US" sz="1800"/>
              <a:t>If you want to know if a TM can do X, then some equivalent question are: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i="1" lang="en-US" sz="1600"/>
              <a:t>Can a general purpose computer do X?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i="1" lang="en-US" sz="1600"/>
              <a:t>Can a C/C++/Java/etc. program be written to do X?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i="1"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i="1" lang="en-US" sz="1800"/>
              <a:t>	For example, is a language L recursive?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i="1" lang="en-US" sz="1600"/>
              <a:t>Can a C/C++/Java/etc. program be written that always halts and accepts L?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11"/>
          <p:cNvSpPr txBox="1"/>
          <p:nvPr>
            <p:ph idx="1" type="body"/>
          </p:nvPr>
        </p:nvSpPr>
        <p:spPr>
          <a:xfrm>
            <a:off x="685800" y="457200"/>
            <a:ext cx="77724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2286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2286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TM Block Diagrams: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If </a:t>
            </a:r>
            <a:r>
              <a:rPr i="1" lang="en-US" sz="1600"/>
              <a:t>L</a:t>
            </a:r>
            <a:r>
              <a:rPr lang="en-US" sz="1600"/>
              <a:t> is a recursive language, then a TM </a:t>
            </a:r>
            <a:r>
              <a:rPr i="1" lang="en-US" sz="1600"/>
              <a:t>M</a:t>
            </a:r>
            <a:r>
              <a:rPr lang="en-US" sz="1600"/>
              <a:t> that accepts </a:t>
            </a:r>
            <a:r>
              <a:rPr i="1" lang="en-US" sz="1600"/>
              <a:t>L</a:t>
            </a:r>
            <a:r>
              <a:rPr lang="en-US" sz="1600"/>
              <a:t> and always halts can be pictorially represented by a “chip” or “box” that has one input and two outputs.</a:t>
            </a:r>
            <a:endParaRPr/>
          </a:p>
          <a:p>
            <a:pPr indent="-1841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1841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1841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1841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1841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1841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857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If </a:t>
            </a:r>
            <a:r>
              <a:rPr i="1" lang="en-US" sz="1600"/>
              <a:t>L</a:t>
            </a:r>
            <a:r>
              <a:rPr lang="en-US" sz="1600"/>
              <a:t> is a recursively enumerable language, then a TM </a:t>
            </a:r>
            <a:r>
              <a:rPr i="1" lang="en-US" sz="1600"/>
              <a:t>M</a:t>
            </a:r>
            <a:r>
              <a:rPr lang="en-US" sz="1600"/>
              <a:t> that accepts </a:t>
            </a:r>
            <a:r>
              <a:rPr i="1" lang="en-US" sz="1600"/>
              <a:t>L</a:t>
            </a:r>
            <a:r>
              <a:rPr lang="en-US" sz="1600"/>
              <a:t> can be pictorially represented by a “box” that has one output.</a:t>
            </a:r>
            <a:endParaRPr/>
          </a:p>
          <a:p>
            <a:pPr indent="-1841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1841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1841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1841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1841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1841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85750" lvl="1" marL="74295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Conceivably, </a:t>
            </a:r>
            <a:r>
              <a:rPr i="1" lang="en-US" sz="1600"/>
              <a:t>M</a:t>
            </a:r>
            <a:r>
              <a:rPr lang="en-US" sz="1600"/>
              <a:t> could be provided with an output for “no,” but this output cannot be counted on. Consequently, we simply ignore it.</a:t>
            </a:r>
            <a:endParaRPr/>
          </a:p>
        </p:txBody>
      </p:sp>
      <p:grpSp>
        <p:nvGrpSpPr>
          <p:cNvPr id="168" name="Google Shape;168;p11"/>
          <p:cNvGrpSpPr/>
          <p:nvPr/>
        </p:nvGrpSpPr>
        <p:grpSpPr>
          <a:xfrm>
            <a:off x="2438400" y="2514600"/>
            <a:ext cx="3470275" cy="762000"/>
            <a:chOff x="1344" y="3024"/>
            <a:chExt cx="2186" cy="480"/>
          </a:xfrm>
        </p:grpSpPr>
        <p:sp>
          <p:nvSpPr>
            <p:cNvPr id="169" name="Google Shape;169;p11"/>
            <p:cNvSpPr/>
            <p:nvPr/>
          </p:nvSpPr>
          <p:spPr>
            <a:xfrm>
              <a:off x="2016" y="3024"/>
              <a:ext cx="768" cy="48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70" name="Google Shape;170;p11"/>
            <p:cNvCxnSpPr/>
            <p:nvPr/>
          </p:nvCxnSpPr>
          <p:spPr>
            <a:xfrm>
              <a:off x="1584" y="3264"/>
              <a:ext cx="43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71" name="Google Shape;171;p11"/>
            <p:cNvCxnSpPr/>
            <p:nvPr/>
          </p:nvCxnSpPr>
          <p:spPr>
            <a:xfrm>
              <a:off x="2784" y="3120"/>
              <a:ext cx="43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2" name="Google Shape;172;p11"/>
            <p:cNvCxnSpPr/>
            <p:nvPr/>
          </p:nvCxnSpPr>
          <p:spPr>
            <a:xfrm>
              <a:off x="2784" y="3408"/>
              <a:ext cx="43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3" name="Google Shape;173;p11"/>
            <p:cNvSpPr txBox="1"/>
            <p:nvPr/>
          </p:nvSpPr>
          <p:spPr>
            <a:xfrm>
              <a:off x="1344" y="3168"/>
              <a:ext cx="197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endParaRPr/>
            </a:p>
          </p:txBody>
        </p:sp>
        <p:sp>
          <p:nvSpPr>
            <p:cNvPr id="174" name="Google Shape;174;p11"/>
            <p:cNvSpPr txBox="1"/>
            <p:nvPr/>
          </p:nvSpPr>
          <p:spPr>
            <a:xfrm>
              <a:off x="3264" y="3024"/>
              <a:ext cx="26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175" name="Google Shape;175;p11"/>
            <p:cNvSpPr txBox="1"/>
            <p:nvPr/>
          </p:nvSpPr>
          <p:spPr>
            <a:xfrm>
              <a:off x="3264" y="3312"/>
              <a:ext cx="22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</a:t>
              </a:r>
              <a:endParaRPr/>
            </a:p>
          </p:txBody>
        </p:sp>
        <p:sp>
          <p:nvSpPr>
            <p:cNvPr id="176" name="Google Shape;176;p11"/>
            <p:cNvSpPr txBox="1"/>
            <p:nvPr/>
          </p:nvSpPr>
          <p:spPr>
            <a:xfrm>
              <a:off x="2256" y="3168"/>
              <a:ext cx="21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/>
            </a:p>
          </p:txBody>
        </p:sp>
      </p:grpSp>
      <p:grpSp>
        <p:nvGrpSpPr>
          <p:cNvPr id="177" name="Google Shape;177;p11"/>
          <p:cNvGrpSpPr/>
          <p:nvPr/>
        </p:nvGrpSpPr>
        <p:grpSpPr>
          <a:xfrm>
            <a:off x="2514600" y="4648200"/>
            <a:ext cx="3470275" cy="762000"/>
            <a:chOff x="1584" y="3168"/>
            <a:chExt cx="2186" cy="480"/>
          </a:xfrm>
        </p:grpSpPr>
        <p:sp>
          <p:nvSpPr>
            <p:cNvPr id="178" name="Google Shape;178;p11"/>
            <p:cNvSpPr/>
            <p:nvPr/>
          </p:nvSpPr>
          <p:spPr>
            <a:xfrm>
              <a:off x="2256" y="3168"/>
              <a:ext cx="768" cy="48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79" name="Google Shape;179;p11"/>
            <p:cNvCxnSpPr/>
            <p:nvPr/>
          </p:nvCxnSpPr>
          <p:spPr>
            <a:xfrm>
              <a:off x="1824" y="3408"/>
              <a:ext cx="43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80" name="Google Shape;180;p11"/>
            <p:cNvCxnSpPr/>
            <p:nvPr/>
          </p:nvCxnSpPr>
          <p:spPr>
            <a:xfrm>
              <a:off x="3024" y="3264"/>
              <a:ext cx="43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1" name="Google Shape;181;p11"/>
            <p:cNvSpPr txBox="1"/>
            <p:nvPr/>
          </p:nvSpPr>
          <p:spPr>
            <a:xfrm>
              <a:off x="1584" y="3312"/>
              <a:ext cx="197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endParaRPr/>
            </a:p>
          </p:txBody>
        </p:sp>
        <p:sp>
          <p:nvSpPr>
            <p:cNvPr id="182" name="Google Shape;182;p11"/>
            <p:cNvSpPr txBox="1"/>
            <p:nvPr/>
          </p:nvSpPr>
          <p:spPr>
            <a:xfrm>
              <a:off x="3504" y="3168"/>
              <a:ext cx="26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183" name="Google Shape;183;p11"/>
            <p:cNvSpPr txBox="1"/>
            <p:nvPr/>
          </p:nvSpPr>
          <p:spPr>
            <a:xfrm>
              <a:off x="2496" y="3312"/>
              <a:ext cx="21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12"/>
          <p:cNvSpPr txBox="1"/>
          <p:nvPr>
            <p:ph idx="1" type="body"/>
          </p:nvPr>
        </p:nvSpPr>
        <p:spPr>
          <a:xfrm>
            <a:off x="685800" y="412750"/>
            <a:ext cx="7772400" cy="614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Theorem 1: </a:t>
            </a:r>
            <a:r>
              <a:rPr lang="en-US" sz="1600"/>
              <a:t>The recursive languages are closed with respect to complementation, i.e., if </a:t>
            </a:r>
            <a:r>
              <a:rPr i="1" lang="en-US" sz="1600"/>
              <a:t>L</a:t>
            </a:r>
            <a:r>
              <a:rPr lang="en-US" sz="1600"/>
              <a:t> is a recursive language, then so is</a:t>
            </a:r>
            <a:endParaRPr/>
          </a:p>
          <a:p>
            <a:pPr indent="-241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Proof:</a:t>
            </a:r>
            <a:r>
              <a:rPr lang="en-US" sz="1600"/>
              <a:t> Let </a:t>
            </a:r>
            <a:r>
              <a:rPr i="1" lang="en-US" sz="1600"/>
              <a:t>M</a:t>
            </a:r>
            <a:r>
              <a:rPr lang="en-US" sz="1600"/>
              <a:t> be a TM such that L = L(M) and </a:t>
            </a:r>
            <a:r>
              <a:rPr i="1" lang="en-US" sz="1600"/>
              <a:t>M</a:t>
            </a:r>
            <a:r>
              <a:rPr lang="en-US" sz="1600"/>
              <a:t> always halts. Construct TM </a:t>
            </a:r>
            <a:r>
              <a:rPr i="1" lang="en-US" sz="1600"/>
              <a:t>M’ </a:t>
            </a:r>
            <a:r>
              <a:rPr lang="en-US" sz="1600"/>
              <a:t>as follows: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Note That: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i="1" lang="en-US" sz="1400"/>
              <a:t>M’ </a:t>
            </a:r>
            <a:r>
              <a:rPr lang="en-US" sz="1400"/>
              <a:t>accepts iff </a:t>
            </a:r>
            <a:r>
              <a:rPr i="1" lang="en-US" sz="1400"/>
              <a:t>M</a:t>
            </a:r>
            <a:r>
              <a:rPr lang="en-US" sz="1400"/>
              <a:t> does not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i="1" lang="en-US" sz="1400"/>
              <a:t>M’ </a:t>
            </a:r>
            <a:r>
              <a:rPr lang="en-US" sz="1400"/>
              <a:t>always halts since </a:t>
            </a:r>
            <a:r>
              <a:rPr i="1" lang="en-US" sz="1400"/>
              <a:t>M</a:t>
            </a:r>
            <a:r>
              <a:rPr lang="en-US" sz="1400"/>
              <a:t> always halts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/>
              <a:t>	From this it follows that the complement of </a:t>
            </a:r>
            <a:r>
              <a:rPr i="1" lang="en-US" sz="1600"/>
              <a:t>L</a:t>
            </a:r>
            <a:r>
              <a:rPr lang="en-US" sz="1600"/>
              <a:t> is recursive. 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Question:</a:t>
            </a:r>
            <a:r>
              <a:rPr lang="en-US" sz="1600"/>
              <a:t> How is the construction achieved? Do we simply complement the final states in the TM? No! A string in </a:t>
            </a:r>
            <a:r>
              <a:rPr i="1" lang="en-US" sz="1600"/>
              <a:t>L</a:t>
            </a:r>
            <a:r>
              <a:rPr lang="en-US" sz="1600"/>
              <a:t> could end up in the complement of </a:t>
            </a:r>
            <a:r>
              <a:rPr i="1" lang="en-US" sz="1600"/>
              <a:t>L</a:t>
            </a:r>
            <a:r>
              <a:rPr lang="en-US" sz="1600"/>
              <a:t>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/>
              <a:t>Suppose q</a:t>
            </a:r>
            <a:r>
              <a:rPr baseline="-25000" lang="en-US" sz="1400"/>
              <a:t>5</a:t>
            </a:r>
            <a:r>
              <a:rPr lang="en-US" sz="1400"/>
              <a:t> is an accepting state in </a:t>
            </a:r>
            <a:r>
              <a:rPr i="1" lang="en-US" sz="1400"/>
              <a:t>M</a:t>
            </a:r>
            <a:r>
              <a:rPr lang="en-US" sz="1400"/>
              <a:t>, but q</a:t>
            </a:r>
            <a:r>
              <a:rPr baseline="-25000" lang="en-US" sz="1400"/>
              <a:t>0</a:t>
            </a:r>
            <a:r>
              <a:rPr lang="en-US" sz="1400"/>
              <a:t> is not.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/>
              <a:t>If we simply complemented the final and non-final states, then q</a:t>
            </a:r>
            <a:r>
              <a:rPr baseline="-25000" lang="en-US" sz="1400"/>
              <a:t>0</a:t>
            </a:r>
            <a:r>
              <a:rPr lang="en-US" sz="1400"/>
              <a:t> would be an accepting state in </a:t>
            </a:r>
            <a:r>
              <a:rPr i="1" lang="en-US" sz="1400"/>
              <a:t>M’ </a:t>
            </a:r>
            <a:r>
              <a:rPr lang="en-US" sz="1400"/>
              <a:t>but q</a:t>
            </a:r>
            <a:r>
              <a:rPr baseline="-25000" lang="en-US" sz="1400"/>
              <a:t>5</a:t>
            </a:r>
            <a:r>
              <a:rPr lang="en-US" sz="1400"/>
              <a:t> would not.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/>
              <a:t>Since q</a:t>
            </a:r>
            <a:r>
              <a:rPr baseline="-25000" lang="en-US" sz="1400"/>
              <a:t>0</a:t>
            </a:r>
            <a:r>
              <a:rPr lang="en-US" sz="1400"/>
              <a:t> is an accepting state, by definition all strings are accepted by </a:t>
            </a:r>
            <a:r>
              <a:rPr i="1" lang="en-US" sz="1400"/>
              <a:t>M’</a:t>
            </a:r>
            <a:endParaRPr/>
          </a:p>
        </p:txBody>
      </p:sp>
      <p:pic>
        <p:nvPicPr>
          <p:cNvPr id="191" name="Google Shape;1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6225" y="620713"/>
            <a:ext cx="1022350" cy="30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12"/>
          <p:cNvGrpSpPr/>
          <p:nvPr/>
        </p:nvGrpSpPr>
        <p:grpSpPr>
          <a:xfrm>
            <a:off x="2133600" y="1905000"/>
            <a:ext cx="4613275" cy="1325563"/>
            <a:chOff x="1296" y="2448"/>
            <a:chExt cx="2906" cy="835"/>
          </a:xfrm>
        </p:grpSpPr>
        <p:sp>
          <p:nvSpPr>
            <p:cNvPr id="193" name="Google Shape;193;p12"/>
            <p:cNvSpPr/>
            <p:nvPr/>
          </p:nvSpPr>
          <p:spPr>
            <a:xfrm>
              <a:off x="1776" y="2448"/>
              <a:ext cx="1660" cy="83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4" name="Google Shape;194;p12"/>
            <p:cNvSpPr/>
            <p:nvPr/>
          </p:nvSpPr>
          <p:spPr>
            <a:xfrm>
              <a:off x="2016" y="2688"/>
              <a:ext cx="432" cy="384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95" name="Google Shape;195;p12"/>
            <p:cNvCxnSpPr/>
            <p:nvPr/>
          </p:nvCxnSpPr>
          <p:spPr>
            <a:xfrm>
              <a:off x="1488" y="2880"/>
              <a:ext cx="50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96" name="Google Shape;196;p12"/>
            <p:cNvCxnSpPr/>
            <p:nvPr/>
          </p:nvCxnSpPr>
          <p:spPr>
            <a:xfrm>
              <a:off x="2448" y="2784"/>
              <a:ext cx="43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7" name="Google Shape;197;p12"/>
            <p:cNvCxnSpPr/>
            <p:nvPr/>
          </p:nvCxnSpPr>
          <p:spPr>
            <a:xfrm>
              <a:off x="2448" y="2976"/>
              <a:ext cx="43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8" name="Google Shape;198;p12"/>
            <p:cNvSpPr txBox="1"/>
            <p:nvPr/>
          </p:nvSpPr>
          <p:spPr>
            <a:xfrm>
              <a:off x="1296" y="2784"/>
              <a:ext cx="197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endParaRPr/>
            </a:p>
          </p:txBody>
        </p:sp>
        <p:sp>
          <p:nvSpPr>
            <p:cNvPr id="199" name="Google Shape;199;p12"/>
            <p:cNvSpPr txBox="1"/>
            <p:nvPr/>
          </p:nvSpPr>
          <p:spPr>
            <a:xfrm>
              <a:off x="2496" y="2544"/>
              <a:ext cx="26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200" name="Google Shape;200;p12"/>
            <p:cNvSpPr txBox="1"/>
            <p:nvPr/>
          </p:nvSpPr>
          <p:spPr>
            <a:xfrm>
              <a:off x="2496" y="2784"/>
              <a:ext cx="229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</a:t>
              </a:r>
              <a:endParaRPr/>
            </a:p>
          </p:txBody>
        </p:sp>
        <p:sp>
          <p:nvSpPr>
            <p:cNvPr id="201" name="Google Shape;201;p12"/>
            <p:cNvSpPr txBox="1"/>
            <p:nvPr/>
          </p:nvSpPr>
          <p:spPr>
            <a:xfrm>
              <a:off x="2112" y="2784"/>
              <a:ext cx="21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endParaRPr/>
            </a:p>
          </p:txBody>
        </p:sp>
        <p:cxnSp>
          <p:nvCxnSpPr>
            <p:cNvPr id="202" name="Google Shape;202;p12"/>
            <p:cNvCxnSpPr/>
            <p:nvPr/>
          </p:nvCxnSpPr>
          <p:spPr>
            <a:xfrm>
              <a:off x="2880" y="2784"/>
              <a:ext cx="576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3" name="Google Shape;203;p12"/>
            <p:cNvCxnSpPr/>
            <p:nvPr/>
          </p:nvCxnSpPr>
          <p:spPr>
            <a:xfrm flipH="1" rot="10800000">
              <a:off x="2880" y="2736"/>
              <a:ext cx="576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4" name="Google Shape;204;p12"/>
            <p:cNvCxnSpPr/>
            <p:nvPr/>
          </p:nvCxnSpPr>
          <p:spPr>
            <a:xfrm>
              <a:off x="3456" y="2736"/>
              <a:ext cx="43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5" name="Google Shape;205;p12"/>
            <p:cNvCxnSpPr/>
            <p:nvPr/>
          </p:nvCxnSpPr>
          <p:spPr>
            <a:xfrm>
              <a:off x="3456" y="3072"/>
              <a:ext cx="43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6" name="Google Shape;206;p12"/>
            <p:cNvSpPr txBox="1"/>
            <p:nvPr/>
          </p:nvSpPr>
          <p:spPr>
            <a:xfrm>
              <a:off x="3936" y="2640"/>
              <a:ext cx="26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207" name="Google Shape;207;p12"/>
            <p:cNvSpPr txBox="1"/>
            <p:nvPr/>
          </p:nvSpPr>
          <p:spPr>
            <a:xfrm>
              <a:off x="3936" y="2976"/>
              <a:ext cx="229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</a:t>
              </a:r>
              <a:endParaRPr/>
            </a:p>
          </p:txBody>
        </p:sp>
      </p:grpSp>
      <p:sp>
        <p:nvSpPr>
          <p:cNvPr id="208" name="Google Shape;208;p12"/>
          <p:cNvSpPr txBox="1"/>
          <p:nvPr/>
        </p:nvSpPr>
        <p:spPr>
          <a:xfrm>
            <a:off x="2438400" y="1905000"/>
            <a:ext cx="4016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M’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13"/>
          <p:cNvSpPr txBox="1"/>
          <p:nvPr>
            <p:ph idx="1" type="body"/>
          </p:nvPr>
        </p:nvSpPr>
        <p:spPr>
          <a:xfrm>
            <a:off x="685800" y="412750"/>
            <a:ext cx="7772400" cy="614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Theorem 2: </a:t>
            </a:r>
            <a:r>
              <a:rPr lang="en-US" sz="1800"/>
              <a:t>The recursive languages are closed with respect to union, i.e., if </a:t>
            </a:r>
            <a:r>
              <a:rPr i="1" lang="en-US" sz="1800"/>
              <a:t>L</a:t>
            </a:r>
            <a:r>
              <a:rPr baseline="-25000" i="1" lang="en-US" sz="1800"/>
              <a:t>1</a:t>
            </a:r>
            <a:r>
              <a:rPr lang="en-US" sz="1800"/>
              <a:t> and </a:t>
            </a:r>
            <a:r>
              <a:rPr i="1" lang="en-US" sz="1800"/>
              <a:t>L</a:t>
            </a:r>
            <a:r>
              <a:rPr baseline="-25000" i="1" lang="en-US" sz="1800"/>
              <a:t>2</a:t>
            </a:r>
            <a:r>
              <a:rPr baseline="-25000" lang="en-US" sz="1800"/>
              <a:t> </a:t>
            </a:r>
            <a:r>
              <a:rPr lang="en-US" sz="1800"/>
              <a:t> are recursive languages, then so is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Proof:</a:t>
            </a:r>
            <a:r>
              <a:rPr lang="en-US" sz="1800"/>
              <a:t> Let </a:t>
            </a:r>
            <a:r>
              <a:rPr i="1" lang="en-US" sz="1800"/>
              <a:t>M</a:t>
            </a:r>
            <a:r>
              <a:rPr baseline="-25000" i="1" lang="en-US" sz="1800"/>
              <a:t>1</a:t>
            </a:r>
            <a:r>
              <a:rPr lang="en-US" sz="1800"/>
              <a:t> and </a:t>
            </a:r>
            <a:r>
              <a:rPr i="1" lang="en-US" sz="1800"/>
              <a:t>M</a:t>
            </a:r>
            <a:r>
              <a:rPr baseline="-25000" i="1" lang="en-US" sz="1800"/>
              <a:t>2</a:t>
            </a:r>
            <a:r>
              <a:rPr lang="en-US" sz="1800"/>
              <a:t> be TMs such that L</a:t>
            </a:r>
            <a:r>
              <a:rPr baseline="-25000" lang="en-US" sz="1800"/>
              <a:t>1</a:t>
            </a:r>
            <a:r>
              <a:rPr lang="en-US" sz="1800"/>
              <a:t> = L(M</a:t>
            </a:r>
            <a:r>
              <a:rPr baseline="-25000" lang="en-US" sz="1800"/>
              <a:t>1</a:t>
            </a:r>
            <a:r>
              <a:rPr lang="en-US" sz="1800"/>
              <a:t>) and L</a:t>
            </a:r>
            <a:r>
              <a:rPr baseline="-25000" lang="en-US" sz="1800"/>
              <a:t>2</a:t>
            </a:r>
            <a:r>
              <a:rPr lang="en-US" sz="1800"/>
              <a:t> = L(M</a:t>
            </a:r>
            <a:r>
              <a:rPr baseline="-25000" lang="en-US" sz="1800"/>
              <a:t>2</a:t>
            </a:r>
            <a:r>
              <a:rPr lang="en-US" sz="1800"/>
              <a:t>) and </a:t>
            </a:r>
            <a:r>
              <a:rPr i="1" lang="en-US" sz="1800"/>
              <a:t>M</a:t>
            </a:r>
            <a:r>
              <a:rPr baseline="-25000" i="1" lang="en-US" sz="1800"/>
              <a:t>1</a:t>
            </a:r>
            <a:r>
              <a:rPr lang="en-US" sz="1800"/>
              <a:t> and </a:t>
            </a:r>
            <a:r>
              <a:rPr i="1" lang="en-US" sz="1800"/>
              <a:t>M</a:t>
            </a:r>
            <a:r>
              <a:rPr baseline="-25000" i="1" lang="en-US" sz="1800"/>
              <a:t>2</a:t>
            </a:r>
            <a:r>
              <a:rPr lang="en-US" sz="1800"/>
              <a:t> always halts. Construct TM </a:t>
            </a:r>
            <a:r>
              <a:rPr i="1" lang="en-US" sz="1800"/>
              <a:t>M’ </a:t>
            </a:r>
            <a:r>
              <a:rPr lang="en-US" sz="1800"/>
              <a:t>as follows: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Note That: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L(M’) = L(M</a:t>
            </a:r>
            <a:r>
              <a:rPr baseline="-25000" lang="en-US" sz="1600"/>
              <a:t>1</a:t>
            </a:r>
            <a:r>
              <a:rPr lang="en-US" sz="1600"/>
              <a:t>)     L(M</a:t>
            </a:r>
            <a:r>
              <a:rPr baseline="-25000" lang="en-US" sz="1600"/>
              <a:t>2</a:t>
            </a:r>
            <a:r>
              <a:rPr lang="en-US" sz="1600"/>
              <a:t>)</a:t>
            </a:r>
            <a:endParaRPr/>
          </a:p>
          <a:p>
            <a:pPr indent="-228600" lvl="2" marL="1143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L(M’) is a subset of L(M</a:t>
            </a:r>
            <a:r>
              <a:rPr baseline="-25000" lang="en-US" sz="1400"/>
              <a:t>1</a:t>
            </a:r>
            <a:r>
              <a:rPr lang="en-US" sz="1400"/>
              <a:t>) </a:t>
            </a:r>
            <a:r>
              <a:rPr lang="en-US" sz="1600"/>
              <a:t>U</a:t>
            </a:r>
            <a:r>
              <a:rPr lang="en-US" sz="1400"/>
              <a:t> L(M</a:t>
            </a:r>
            <a:r>
              <a:rPr baseline="-25000" lang="en-US" sz="1400"/>
              <a:t>2</a:t>
            </a:r>
            <a:r>
              <a:rPr lang="en-US" sz="1400"/>
              <a:t>)</a:t>
            </a:r>
            <a:endParaRPr/>
          </a:p>
          <a:p>
            <a:pPr indent="-228600" lvl="2" marL="1143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L(M</a:t>
            </a:r>
            <a:r>
              <a:rPr baseline="-25000" lang="en-US" sz="1400"/>
              <a:t>1</a:t>
            </a:r>
            <a:r>
              <a:rPr lang="en-US" sz="1400"/>
              <a:t>) </a:t>
            </a:r>
            <a:r>
              <a:rPr lang="en-US" sz="1600"/>
              <a:t>U</a:t>
            </a:r>
            <a:r>
              <a:rPr lang="en-US" sz="1400"/>
              <a:t> L(M</a:t>
            </a:r>
            <a:r>
              <a:rPr baseline="-25000" lang="en-US" sz="1400"/>
              <a:t>2</a:t>
            </a:r>
            <a:r>
              <a:rPr lang="en-US" sz="1400"/>
              <a:t>) is a subset of L(M’)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i="1" lang="en-US" sz="1600"/>
              <a:t>M’ </a:t>
            </a:r>
            <a:r>
              <a:rPr lang="en-US" sz="1600"/>
              <a:t>always halts since </a:t>
            </a:r>
            <a:r>
              <a:rPr i="1" lang="en-US" sz="1600"/>
              <a:t>M</a:t>
            </a:r>
            <a:r>
              <a:rPr baseline="-25000" i="1" lang="en-US" sz="1600"/>
              <a:t>1</a:t>
            </a:r>
            <a:r>
              <a:rPr lang="en-US" sz="1600"/>
              <a:t> and </a:t>
            </a:r>
            <a:r>
              <a:rPr i="1" lang="en-US" sz="1600"/>
              <a:t>M</a:t>
            </a:r>
            <a:r>
              <a:rPr baseline="-25000" i="1" lang="en-US" sz="1600"/>
              <a:t>2</a:t>
            </a:r>
            <a:r>
              <a:rPr lang="en-US" sz="1600"/>
              <a:t> always halt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/>
              <a:t>	It follows from this that                               is recursive. </a:t>
            </a:r>
            <a:endParaRPr/>
          </a:p>
          <a:p>
            <a:pPr indent="-139700" lvl="2" marL="11430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pic>
        <p:nvPicPr>
          <p:cNvPr id="216" name="Google Shape;21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5888" y="1066800"/>
            <a:ext cx="1524000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3"/>
          <p:cNvSpPr/>
          <p:nvPr/>
        </p:nvSpPr>
        <p:spPr>
          <a:xfrm>
            <a:off x="1295400" y="2514600"/>
            <a:ext cx="5029200" cy="13255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8" name="Google Shape;218;p13"/>
          <p:cNvCxnSpPr/>
          <p:nvPr/>
        </p:nvCxnSpPr>
        <p:spPr>
          <a:xfrm>
            <a:off x="838200" y="3200400"/>
            <a:ext cx="1219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9" name="Google Shape;219;p13"/>
          <p:cNvSpPr txBox="1"/>
          <p:nvPr/>
        </p:nvSpPr>
        <p:spPr>
          <a:xfrm>
            <a:off x="533400" y="3048000"/>
            <a:ext cx="3127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220" name="Google Shape;220;p13"/>
          <p:cNvSpPr txBox="1"/>
          <p:nvPr/>
        </p:nvSpPr>
        <p:spPr>
          <a:xfrm>
            <a:off x="2819400" y="2743200"/>
            <a:ext cx="4222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/>
          </a:p>
        </p:txBody>
      </p:sp>
      <p:sp>
        <p:nvSpPr>
          <p:cNvPr id="221" name="Google Shape;221;p13"/>
          <p:cNvSpPr txBox="1"/>
          <p:nvPr/>
        </p:nvSpPr>
        <p:spPr>
          <a:xfrm>
            <a:off x="2819400" y="3276600"/>
            <a:ext cx="3635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</p:txBody>
      </p:sp>
      <p:grpSp>
        <p:nvGrpSpPr>
          <p:cNvPr id="222" name="Google Shape;222;p13"/>
          <p:cNvGrpSpPr/>
          <p:nvPr/>
        </p:nvGrpSpPr>
        <p:grpSpPr>
          <a:xfrm>
            <a:off x="2057400" y="2895600"/>
            <a:ext cx="685800" cy="609600"/>
            <a:chOff x="1056" y="1824"/>
            <a:chExt cx="432" cy="384"/>
          </a:xfrm>
        </p:grpSpPr>
        <p:sp>
          <p:nvSpPr>
            <p:cNvPr id="223" name="Google Shape;223;p13"/>
            <p:cNvSpPr/>
            <p:nvPr/>
          </p:nvSpPr>
          <p:spPr>
            <a:xfrm>
              <a:off x="1056" y="1824"/>
              <a:ext cx="432" cy="384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p13"/>
            <p:cNvSpPr txBox="1"/>
            <p:nvPr/>
          </p:nvSpPr>
          <p:spPr>
            <a:xfrm>
              <a:off x="1152" y="1920"/>
              <a:ext cx="252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b="0" baseline="-2500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</p:grpSp>
      <p:sp>
        <p:nvSpPr>
          <p:cNvPr id="225" name="Google Shape;225;p13"/>
          <p:cNvSpPr txBox="1"/>
          <p:nvPr/>
        </p:nvSpPr>
        <p:spPr>
          <a:xfrm>
            <a:off x="6477000" y="2590800"/>
            <a:ext cx="4222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/>
          </a:p>
        </p:txBody>
      </p:sp>
      <p:sp>
        <p:nvSpPr>
          <p:cNvPr id="226" name="Google Shape;226;p13"/>
          <p:cNvSpPr txBox="1"/>
          <p:nvPr/>
        </p:nvSpPr>
        <p:spPr>
          <a:xfrm>
            <a:off x="6477000" y="3048000"/>
            <a:ext cx="3635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</p:txBody>
      </p:sp>
      <p:grpSp>
        <p:nvGrpSpPr>
          <p:cNvPr id="227" name="Google Shape;227;p13"/>
          <p:cNvGrpSpPr/>
          <p:nvPr/>
        </p:nvGrpSpPr>
        <p:grpSpPr>
          <a:xfrm>
            <a:off x="4267200" y="2895600"/>
            <a:ext cx="685800" cy="609600"/>
            <a:chOff x="1056" y="1824"/>
            <a:chExt cx="432" cy="384"/>
          </a:xfrm>
        </p:grpSpPr>
        <p:sp>
          <p:nvSpPr>
            <p:cNvPr id="228" name="Google Shape;228;p13"/>
            <p:cNvSpPr/>
            <p:nvPr/>
          </p:nvSpPr>
          <p:spPr>
            <a:xfrm>
              <a:off x="1056" y="1824"/>
              <a:ext cx="432" cy="384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p13"/>
            <p:cNvSpPr txBox="1"/>
            <p:nvPr/>
          </p:nvSpPr>
          <p:spPr>
            <a:xfrm>
              <a:off x="1152" y="1920"/>
              <a:ext cx="252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b="0" baseline="-2500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</p:grpSp>
      <p:cxnSp>
        <p:nvCxnSpPr>
          <p:cNvPr id="230" name="Google Shape;230;p13"/>
          <p:cNvCxnSpPr/>
          <p:nvPr/>
        </p:nvCxnSpPr>
        <p:spPr>
          <a:xfrm>
            <a:off x="1676400" y="3200400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13"/>
          <p:cNvCxnSpPr/>
          <p:nvPr/>
        </p:nvCxnSpPr>
        <p:spPr>
          <a:xfrm>
            <a:off x="1676400" y="3657600"/>
            <a:ext cx="2133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13"/>
          <p:cNvCxnSpPr/>
          <p:nvPr/>
        </p:nvCxnSpPr>
        <p:spPr>
          <a:xfrm rot="10800000">
            <a:off x="3810000" y="33528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13"/>
          <p:cNvCxnSpPr/>
          <p:nvPr/>
        </p:nvCxnSpPr>
        <p:spPr>
          <a:xfrm>
            <a:off x="3810000" y="3352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13"/>
          <p:cNvCxnSpPr/>
          <p:nvPr/>
        </p:nvCxnSpPr>
        <p:spPr>
          <a:xfrm>
            <a:off x="2743200" y="3276600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13"/>
          <p:cNvCxnSpPr/>
          <p:nvPr/>
        </p:nvCxnSpPr>
        <p:spPr>
          <a:xfrm rot="10800000">
            <a:off x="3657600" y="312420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13"/>
          <p:cNvCxnSpPr/>
          <p:nvPr/>
        </p:nvCxnSpPr>
        <p:spPr>
          <a:xfrm>
            <a:off x="3657600" y="31242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7" name="Google Shape;237;p13"/>
          <p:cNvCxnSpPr/>
          <p:nvPr/>
        </p:nvCxnSpPr>
        <p:spPr>
          <a:xfrm>
            <a:off x="2743200" y="3048000"/>
            <a:ext cx="685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13"/>
          <p:cNvCxnSpPr/>
          <p:nvPr/>
        </p:nvCxnSpPr>
        <p:spPr>
          <a:xfrm rot="10800000">
            <a:off x="3429000" y="27432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13"/>
          <p:cNvCxnSpPr/>
          <p:nvPr/>
        </p:nvCxnSpPr>
        <p:spPr>
          <a:xfrm>
            <a:off x="3429000" y="2743200"/>
            <a:ext cx="22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13"/>
          <p:cNvCxnSpPr/>
          <p:nvPr/>
        </p:nvCxnSpPr>
        <p:spPr>
          <a:xfrm>
            <a:off x="4953000" y="3048000"/>
            <a:ext cx="685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13"/>
          <p:cNvCxnSpPr/>
          <p:nvPr/>
        </p:nvCxnSpPr>
        <p:spPr>
          <a:xfrm>
            <a:off x="6324600" y="2895600"/>
            <a:ext cx="76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" name="Google Shape;242;p13"/>
          <p:cNvCxnSpPr/>
          <p:nvPr/>
        </p:nvCxnSpPr>
        <p:spPr>
          <a:xfrm>
            <a:off x="4953000" y="3352800"/>
            <a:ext cx="2133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13"/>
          <p:cNvCxnSpPr/>
          <p:nvPr/>
        </p:nvCxnSpPr>
        <p:spPr>
          <a:xfrm>
            <a:off x="5638800" y="2743200"/>
            <a:ext cx="6858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" name="Google Shape;244;p13"/>
          <p:cNvCxnSpPr/>
          <p:nvPr/>
        </p:nvCxnSpPr>
        <p:spPr>
          <a:xfrm flipH="1" rot="10800000">
            <a:off x="5638800" y="2895600"/>
            <a:ext cx="6858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5" name="Google Shape;245;p13"/>
          <p:cNvSpPr txBox="1"/>
          <p:nvPr/>
        </p:nvSpPr>
        <p:spPr>
          <a:xfrm>
            <a:off x="3733800" y="2819400"/>
            <a:ext cx="4905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</a:t>
            </a:r>
            <a:endParaRPr/>
          </a:p>
        </p:txBody>
      </p:sp>
      <p:sp>
        <p:nvSpPr>
          <p:cNvPr id="246" name="Google Shape;246;p13"/>
          <p:cNvSpPr txBox="1"/>
          <p:nvPr/>
        </p:nvSpPr>
        <p:spPr>
          <a:xfrm>
            <a:off x="1371600" y="2590800"/>
            <a:ext cx="4016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M’</a:t>
            </a:r>
            <a:endParaRPr/>
          </a:p>
        </p:txBody>
      </p:sp>
      <p:pic>
        <p:nvPicPr>
          <p:cNvPr id="247" name="Google Shape;24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6129338"/>
            <a:ext cx="1524000" cy="35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01938" y="4710113"/>
            <a:ext cx="165100" cy="1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14"/>
          <p:cNvSpPr txBox="1"/>
          <p:nvPr>
            <p:ph idx="1" type="body"/>
          </p:nvPr>
        </p:nvSpPr>
        <p:spPr>
          <a:xfrm>
            <a:off x="685800" y="412750"/>
            <a:ext cx="7772400" cy="614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413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Theorem 3: </a:t>
            </a:r>
            <a:r>
              <a:rPr lang="en-US" sz="1600"/>
              <a:t>The </a:t>
            </a:r>
            <a:r>
              <a:rPr i="1" lang="en-US" sz="1600"/>
              <a:t>recursive enumerable languages </a:t>
            </a:r>
            <a:r>
              <a:rPr lang="en-US" sz="1600"/>
              <a:t>are closed with respect to union, i.e., if </a:t>
            </a:r>
            <a:r>
              <a:rPr i="1" lang="en-US" sz="1600"/>
              <a:t>L</a:t>
            </a:r>
            <a:r>
              <a:rPr baseline="-25000" i="1" lang="en-US" sz="1600"/>
              <a:t>1</a:t>
            </a:r>
            <a:r>
              <a:rPr lang="en-US" sz="1600"/>
              <a:t> and </a:t>
            </a:r>
            <a:r>
              <a:rPr i="1" lang="en-US" sz="1600"/>
              <a:t>L</a:t>
            </a:r>
            <a:r>
              <a:rPr baseline="-25000" i="1" lang="en-US" sz="1600"/>
              <a:t>2</a:t>
            </a:r>
            <a:r>
              <a:rPr baseline="-25000" lang="en-US" sz="1600"/>
              <a:t> </a:t>
            </a:r>
            <a:r>
              <a:rPr lang="en-US" sz="1600"/>
              <a:t> are recursively enumerable languages, then so is</a:t>
            </a:r>
            <a:endParaRPr/>
          </a:p>
          <a:p>
            <a:pPr indent="-241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Proof:</a:t>
            </a:r>
            <a:r>
              <a:rPr lang="en-US" sz="1600"/>
              <a:t> Let </a:t>
            </a:r>
            <a:r>
              <a:rPr i="1" lang="en-US" sz="1600"/>
              <a:t>M</a:t>
            </a:r>
            <a:r>
              <a:rPr baseline="-25000" i="1" lang="en-US" sz="1600"/>
              <a:t>1</a:t>
            </a:r>
            <a:r>
              <a:rPr lang="en-US" sz="1600"/>
              <a:t> and </a:t>
            </a:r>
            <a:r>
              <a:rPr i="1" lang="en-US" sz="1600"/>
              <a:t>M</a:t>
            </a:r>
            <a:r>
              <a:rPr baseline="-25000" i="1" lang="en-US" sz="1600"/>
              <a:t>2</a:t>
            </a:r>
            <a:r>
              <a:rPr lang="en-US" sz="1600"/>
              <a:t> be TMs such that L</a:t>
            </a:r>
            <a:r>
              <a:rPr baseline="-25000" lang="en-US" sz="1600"/>
              <a:t>1</a:t>
            </a:r>
            <a:r>
              <a:rPr lang="en-US" sz="1600"/>
              <a:t> = L(M</a:t>
            </a:r>
            <a:r>
              <a:rPr baseline="-25000" lang="en-US" sz="1600"/>
              <a:t>1</a:t>
            </a:r>
            <a:r>
              <a:rPr lang="en-US" sz="1600"/>
              <a:t>) and L</a:t>
            </a:r>
            <a:r>
              <a:rPr baseline="-25000" lang="en-US" sz="1600"/>
              <a:t>2</a:t>
            </a:r>
            <a:r>
              <a:rPr lang="en-US" sz="1600"/>
              <a:t> = L(M</a:t>
            </a:r>
            <a:r>
              <a:rPr baseline="-25000" lang="en-US" sz="1600"/>
              <a:t>2</a:t>
            </a:r>
            <a:r>
              <a:rPr lang="en-US" sz="1600"/>
              <a:t>). Construct </a:t>
            </a:r>
            <a:r>
              <a:rPr i="1" lang="en-US" sz="1600"/>
              <a:t>M’ </a:t>
            </a:r>
            <a:r>
              <a:rPr lang="en-US" sz="1600"/>
              <a:t>as follows:</a:t>
            </a:r>
            <a:endParaRPr/>
          </a:p>
          <a:p>
            <a:pPr indent="-241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41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241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/>
          </a:p>
          <a:p>
            <a:pPr indent="-241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Note That: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/>
              <a:t>L(M’) = L(M</a:t>
            </a:r>
            <a:r>
              <a:rPr baseline="-25000" lang="en-US" sz="1400"/>
              <a:t>1</a:t>
            </a:r>
            <a:r>
              <a:rPr lang="en-US" sz="1400"/>
              <a:t>) U L(M</a:t>
            </a:r>
            <a:r>
              <a:rPr baseline="-25000" lang="en-US" sz="1400"/>
              <a:t>2</a:t>
            </a:r>
            <a:r>
              <a:rPr lang="en-US" sz="1400"/>
              <a:t>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L(M’) is a subset of L(M</a:t>
            </a:r>
            <a:r>
              <a:rPr baseline="-25000" lang="en-US" sz="1200"/>
              <a:t>1</a:t>
            </a:r>
            <a:r>
              <a:rPr lang="en-US" sz="1200"/>
              <a:t>) U L(M</a:t>
            </a:r>
            <a:r>
              <a:rPr baseline="-25000" lang="en-US" sz="1200"/>
              <a:t>2</a:t>
            </a:r>
            <a:r>
              <a:rPr lang="en-US" sz="1200"/>
              <a:t>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L(M</a:t>
            </a:r>
            <a:r>
              <a:rPr baseline="-25000" lang="en-US" sz="1200"/>
              <a:t>1</a:t>
            </a:r>
            <a:r>
              <a:rPr lang="en-US" sz="1200"/>
              <a:t>) U L(M</a:t>
            </a:r>
            <a:r>
              <a:rPr baseline="-25000" lang="en-US" sz="1200"/>
              <a:t>2</a:t>
            </a:r>
            <a:r>
              <a:rPr lang="en-US" sz="1200"/>
              <a:t>) is a subset of L(M’)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i="1" lang="en-US" sz="1400"/>
              <a:t>M’ </a:t>
            </a:r>
            <a:r>
              <a:rPr lang="en-US" sz="1400"/>
              <a:t>halts and accepts iff </a:t>
            </a:r>
            <a:r>
              <a:rPr i="1" lang="en-US" sz="1400"/>
              <a:t>M</a:t>
            </a:r>
            <a:r>
              <a:rPr baseline="-25000" i="1" lang="en-US" sz="1400"/>
              <a:t>1</a:t>
            </a:r>
            <a:r>
              <a:rPr lang="en-US" sz="1400"/>
              <a:t> or </a:t>
            </a:r>
            <a:r>
              <a:rPr i="1" lang="en-US" sz="1400"/>
              <a:t>M</a:t>
            </a:r>
            <a:r>
              <a:rPr baseline="-25000" i="1" lang="en-US" sz="1400"/>
              <a:t>2</a:t>
            </a:r>
            <a:r>
              <a:rPr lang="en-US" sz="1400"/>
              <a:t> halts and accepts</a:t>
            </a:r>
            <a:endParaRPr/>
          </a:p>
          <a:p>
            <a:pPr indent="-241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/>
              <a:t>	It follows from this that                               is recursively enumerable. 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i="1" lang="en-US" sz="1600"/>
              <a:t>Question:</a:t>
            </a:r>
            <a:r>
              <a:rPr i="1" lang="en-US" sz="1600"/>
              <a:t> How do you run two TMs in parallel?</a:t>
            </a:r>
            <a:endParaRPr/>
          </a:p>
        </p:txBody>
      </p:sp>
      <p:pic>
        <p:nvPicPr>
          <p:cNvPr id="256" name="Google Shape;2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2825" y="914400"/>
            <a:ext cx="1524000" cy="357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5788" y="5775325"/>
            <a:ext cx="1524000" cy="3571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14"/>
          <p:cNvGrpSpPr/>
          <p:nvPr/>
        </p:nvGrpSpPr>
        <p:grpSpPr>
          <a:xfrm>
            <a:off x="1905000" y="2209800"/>
            <a:ext cx="4724400" cy="1828800"/>
            <a:chOff x="144" y="1584"/>
            <a:chExt cx="2976" cy="1152"/>
          </a:xfrm>
        </p:grpSpPr>
        <p:sp>
          <p:nvSpPr>
            <p:cNvPr id="259" name="Google Shape;259;p14"/>
            <p:cNvSpPr/>
            <p:nvPr/>
          </p:nvSpPr>
          <p:spPr>
            <a:xfrm>
              <a:off x="816" y="1584"/>
              <a:ext cx="1776" cy="1152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60" name="Google Shape;260;p14"/>
            <p:cNvCxnSpPr/>
            <p:nvPr/>
          </p:nvCxnSpPr>
          <p:spPr>
            <a:xfrm>
              <a:off x="384" y="2208"/>
              <a:ext cx="7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61" name="Google Shape;261;p14"/>
            <p:cNvSpPr txBox="1"/>
            <p:nvPr/>
          </p:nvSpPr>
          <p:spPr>
            <a:xfrm>
              <a:off x="144" y="2112"/>
              <a:ext cx="197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endParaRPr/>
            </a:p>
          </p:txBody>
        </p:sp>
        <p:sp>
          <p:nvSpPr>
            <p:cNvPr id="262" name="Google Shape;262;p14"/>
            <p:cNvSpPr txBox="1"/>
            <p:nvPr/>
          </p:nvSpPr>
          <p:spPr>
            <a:xfrm>
              <a:off x="2016" y="1632"/>
              <a:ext cx="26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grpSp>
          <p:nvGrpSpPr>
            <p:cNvPr id="263" name="Google Shape;263;p14"/>
            <p:cNvGrpSpPr/>
            <p:nvPr/>
          </p:nvGrpSpPr>
          <p:grpSpPr>
            <a:xfrm>
              <a:off x="1488" y="1728"/>
              <a:ext cx="432" cy="384"/>
              <a:chOff x="1056" y="1824"/>
              <a:chExt cx="432" cy="384"/>
            </a:xfrm>
          </p:grpSpPr>
          <p:sp>
            <p:nvSpPr>
              <p:cNvPr id="264" name="Google Shape;264;p14"/>
              <p:cNvSpPr/>
              <p:nvPr/>
            </p:nvSpPr>
            <p:spPr>
              <a:xfrm>
                <a:off x="1056" y="1824"/>
                <a:ext cx="432" cy="38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5" name="Google Shape;265;p14"/>
              <p:cNvSpPr txBox="1"/>
              <p:nvPr/>
            </p:nvSpPr>
            <p:spPr>
              <a:xfrm>
                <a:off x="1152" y="1920"/>
                <a:ext cx="252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imes New Roman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r>
                  <a:rPr b="0" baseline="-25000" i="0" lang="en-US" sz="1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/>
              </a:p>
            </p:txBody>
          </p:sp>
        </p:grpSp>
        <p:sp>
          <p:nvSpPr>
            <p:cNvPr id="266" name="Google Shape;266;p14"/>
            <p:cNvSpPr txBox="1"/>
            <p:nvPr/>
          </p:nvSpPr>
          <p:spPr>
            <a:xfrm>
              <a:off x="2688" y="1632"/>
              <a:ext cx="26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267" name="Google Shape;267;p14"/>
            <p:cNvSpPr txBox="1"/>
            <p:nvPr/>
          </p:nvSpPr>
          <p:spPr>
            <a:xfrm>
              <a:off x="2016" y="2208"/>
              <a:ext cx="26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grpSp>
          <p:nvGrpSpPr>
            <p:cNvPr id="268" name="Google Shape;268;p14"/>
            <p:cNvGrpSpPr/>
            <p:nvPr/>
          </p:nvGrpSpPr>
          <p:grpSpPr>
            <a:xfrm>
              <a:off x="1488" y="2256"/>
              <a:ext cx="432" cy="384"/>
              <a:chOff x="1056" y="1824"/>
              <a:chExt cx="432" cy="384"/>
            </a:xfrm>
          </p:grpSpPr>
          <p:sp>
            <p:nvSpPr>
              <p:cNvPr id="269" name="Google Shape;269;p14"/>
              <p:cNvSpPr/>
              <p:nvPr/>
            </p:nvSpPr>
            <p:spPr>
              <a:xfrm>
                <a:off x="1056" y="1824"/>
                <a:ext cx="432" cy="38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0" name="Google Shape;270;p14"/>
              <p:cNvSpPr txBox="1"/>
              <p:nvPr/>
            </p:nvSpPr>
            <p:spPr>
              <a:xfrm>
                <a:off x="1152" y="1920"/>
                <a:ext cx="252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imes New Roman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r>
                  <a:rPr b="0" baseline="-25000" i="0" lang="en-US" sz="1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/>
              </a:p>
            </p:txBody>
          </p:sp>
        </p:grpSp>
        <p:cxnSp>
          <p:nvCxnSpPr>
            <p:cNvPr id="271" name="Google Shape;271;p14"/>
            <p:cNvCxnSpPr/>
            <p:nvPr/>
          </p:nvCxnSpPr>
          <p:spPr>
            <a:xfrm flipH="1" rot="10800000">
              <a:off x="1920" y="1824"/>
              <a:ext cx="672" cy="5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72" name="Google Shape;272;p14"/>
            <p:cNvCxnSpPr/>
            <p:nvPr/>
          </p:nvCxnSpPr>
          <p:spPr>
            <a:xfrm>
              <a:off x="1920" y="1824"/>
              <a:ext cx="6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73" name="Google Shape;273;p14"/>
            <p:cNvSpPr txBox="1"/>
            <p:nvPr/>
          </p:nvSpPr>
          <p:spPr>
            <a:xfrm>
              <a:off x="864" y="1632"/>
              <a:ext cx="25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M’</a:t>
              </a:r>
              <a:endParaRPr/>
            </a:p>
          </p:txBody>
        </p:sp>
        <p:cxnSp>
          <p:nvCxnSpPr>
            <p:cNvPr id="274" name="Google Shape;274;p14"/>
            <p:cNvCxnSpPr/>
            <p:nvPr/>
          </p:nvCxnSpPr>
          <p:spPr>
            <a:xfrm>
              <a:off x="1152" y="1920"/>
              <a:ext cx="3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75" name="Google Shape;275;p14"/>
            <p:cNvCxnSpPr/>
            <p:nvPr/>
          </p:nvCxnSpPr>
          <p:spPr>
            <a:xfrm>
              <a:off x="1152" y="2448"/>
              <a:ext cx="3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76" name="Google Shape;276;p14"/>
            <p:cNvCxnSpPr/>
            <p:nvPr/>
          </p:nvCxnSpPr>
          <p:spPr>
            <a:xfrm>
              <a:off x="1152" y="1920"/>
              <a:ext cx="0" cy="5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14"/>
            <p:cNvCxnSpPr/>
            <p:nvPr/>
          </p:nvCxnSpPr>
          <p:spPr>
            <a:xfrm>
              <a:off x="2592" y="1824"/>
              <a:ext cx="52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15"/>
          <p:cNvSpPr txBox="1"/>
          <p:nvPr>
            <p:ph idx="1" type="body"/>
          </p:nvPr>
        </p:nvSpPr>
        <p:spPr>
          <a:xfrm>
            <a:off x="685800" y="412750"/>
            <a:ext cx="7772400" cy="614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u="sng"/>
              <a:t>Suppose,</a:t>
            </a:r>
            <a:r>
              <a:rPr lang="en-US" sz="1800"/>
              <a:t> </a:t>
            </a:r>
            <a:r>
              <a:rPr i="1" lang="en-US" sz="1800"/>
              <a:t>M</a:t>
            </a:r>
            <a:r>
              <a:rPr baseline="-25000" i="1" lang="en-US" sz="1800"/>
              <a:t>1</a:t>
            </a:r>
            <a:r>
              <a:rPr lang="en-US" sz="1800"/>
              <a:t> and </a:t>
            </a:r>
            <a:r>
              <a:rPr i="1" lang="en-US" sz="1800"/>
              <a:t>M</a:t>
            </a:r>
            <a:r>
              <a:rPr baseline="-25000" i="1" lang="en-US" sz="1800"/>
              <a:t>2</a:t>
            </a:r>
            <a:r>
              <a:rPr lang="en-US" sz="1800"/>
              <a:t> had outputs for “no” in the previous construction, and these were transferred to the “no” output for </a:t>
            </a:r>
            <a:r>
              <a:rPr i="1" lang="en-US" sz="1800"/>
              <a:t>M’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Question:</a:t>
            </a:r>
            <a:r>
              <a:rPr lang="en-US" sz="1800"/>
              <a:t> What would happen if </a:t>
            </a:r>
            <a:r>
              <a:rPr i="1" lang="en-US" sz="1800"/>
              <a:t>w</a:t>
            </a:r>
            <a:r>
              <a:rPr lang="en-US" sz="1800"/>
              <a:t> is in L(M</a:t>
            </a:r>
            <a:r>
              <a:rPr baseline="-25000" lang="en-US" sz="1800"/>
              <a:t>1</a:t>
            </a:r>
            <a:r>
              <a:rPr lang="en-US" sz="1800"/>
              <a:t>) but not in L(M</a:t>
            </a:r>
            <a:r>
              <a:rPr baseline="-25000" lang="en-US" sz="1800"/>
              <a:t>2</a:t>
            </a:r>
            <a:r>
              <a:rPr lang="en-US" sz="1800"/>
              <a:t>)?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Answer:</a:t>
            </a:r>
            <a:r>
              <a:rPr lang="en-US" sz="1800"/>
              <a:t> You could get two outputs – one “yes” and one “no.”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At least </a:t>
            </a:r>
            <a:r>
              <a:rPr i="1" lang="en-US" sz="1600"/>
              <a:t>M</a:t>
            </a:r>
            <a:r>
              <a:rPr baseline="-25000" i="1" lang="en-US" sz="1600"/>
              <a:t>1</a:t>
            </a:r>
            <a:r>
              <a:rPr lang="en-US" sz="1600"/>
              <a:t> will halt and answer accept, </a:t>
            </a:r>
            <a:r>
              <a:rPr i="1" lang="en-US" sz="1600"/>
              <a:t>M</a:t>
            </a:r>
            <a:r>
              <a:rPr baseline="-25000" i="1" lang="en-US" sz="1600"/>
              <a:t>2</a:t>
            </a:r>
            <a:r>
              <a:rPr lang="en-US" sz="1600"/>
              <a:t> may or may not halt.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As before, for the sake of convenience the “no” output will be ignored.</a:t>
            </a:r>
            <a:endParaRPr/>
          </a:p>
        </p:txBody>
      </p:sp>
      <p:grpSp>
        <p:nvGrpSpPr>
          <p:cNvPr id="285" name="Google Shape;285;p15"/>
          <p:cNvGrpSpPr/>
          <p:nvPr/>
        </p:nvGrpSpPr>
        <p:grpSpPr>
          <a:xfrm>
            <a:off x="1676400" y="1752600"/>
            <a:ext cx="4724400" cy="1828800"/>
            <a:chOff x="1200" y="1584"/>
            <a:chExt cx="2976" cy="1152"/>
          </a:xfrm>
        </p:grpSpPr>
        <p:sp>
          <p:nvSpPr>
            <p:cNvPr id="286" name="Google Shape;286;p15"/>
            <p:cNvSpPr/>
            <p:nvPr/>
          </p:nvSpPr>
          <p:spPr>
            <a:xfrm>
              <a:off x="1872" y="1584"/>
              <a:ext cx="1776" cy="1152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87" name="Google Shape;287;p15"/>
            <p:cNvCxnSpPr/>
            <p:nvPr/>
          </p:nvCxnSpPr>
          <p:spPr>
            <a:xfrm>
              <a:off x="1440" y="2208"/>
              <a:ext cx="7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88" name="Google Shape;288;p15"/>
            <p:cNvSpPr txBox="1"/>
            <p:nvPr/>
          </p:nvSpPr>
          <p:spPr>
            <a:xfrm>
              <a:off x="1200" y="2112"/>
              <a:ext cx="197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endParaRPr/>
            </a:p>
          </p:txBody>
        </p:sp>
        <p:sp>
          <p:nvSpPr>
            <p:cNvPr id="289" name="Google Shape;289;p15"/>
            <p:cNvSpPr txBox="1"/>
            <p:nvPr/>
          </p:nvSpPr>
          <p:spPr>
            <a:xfrm>
              <a:off x="3024" y="1632"/>
              <a:ext cx="26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grpSp>
          <p:nvGrpSpPr>
            <p:cNvPr id="290" name="Google Shape;290;p15"/>
            <p:cNvGrpSpPr/>
            <p:nvPr/>
          </p:nvGrpSpPr>
          <p:grpSpPr>
            <a:xfrm>
              <a:off x="2544" y="1728"/>
              <a:ext cx="432" cy="384"/>
              <a:chOff x="1056" y="1824"/>
              <a:chExt cx="432" cy="384"/>
            </a:xfrm>
          </p:grpSpPr>
          <p:sp>
            <p:nvSpPr>
              <p:cNvPr id="291" name="Google Shape;291;p15"/>
              <p:cNvSpPr/>
              <p:nvPr/>
            </p:nvSpPr>
            <p:spPr>
              <a:xfrm>
                <a:off x="1056" y="1824"/>
                <a:ext cx="432" cy="38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2" name="Google Shape;292;p15"/>
              <p:cNvSpPr txBox="1"/>
              <p:nvPr/>
            </p:nvSpPr>
            <p:spPr>
              <a:xfrm>
                <a:off x="1152" y="1920"/>
                <a:ext cx="252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imes New Roman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r>
                  <a:rPr b="0" baseline="-25000" i="0" lang="en-US" sz="1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/>
              </a:p>
            </p:txBody>
          </p:sp>
        </p:grpSp>
        <p:sp>
          <p:nvSpPr>
            <p:cNvPr id="293" name="Google Shape;293;p15"/>
            <p:cNvSpPr txBox="1"/>
            <p:nvPr/>
          </p:nvSpPr>
          <p:spPr>
            <a:xfrm>
              <a:off x="3744" y="1632"/>
              <a:ext cx="26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294" name="Google Shape;294;p15"/>
            <p:cNvSpPr txBox="1"/>
            <p:nvPr/>
          </p:nvSpPr>
          <p:spPr>
            <a:xfrm>
              <a:off x="3024" y="2256"/>
              <a:ext cx="26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grpSp>
          <p:nvGrpSpPr>
            <p:cNvPr id="295" name="Google Shape;295;p15"/>
            <p:cNvGrpSpPr/>
            <p:nvPr/>
          </p:nvGrpSpPr>
          <p:grpSpPr>
            <a:xfrm>
              <a:off x="2544" y="2256"/>
              <a:ext cx="432" cy="384"/>
              <a:chOff x="1056" y="1824"/>
              <a:chExt cx="432" cy="384"/>
            </a:xfrm>
          </p:grpSpPr>
          <p:sp>
            <p:nvSpPr>
              <p:cNvPr id="296" name="Google Shape;296;p15"/>
              <p:cNvSpPr/>
              <p:nvPr/>
            </p:nvSpPr>
            <p:spPr>
              <a:xfrm>
                <a:off x="1056" y="1824"/>
                <a:ext cx="432" cy="38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7" name="Google Shape;297;p15"/>
              <p:cNvSpPr txBox="1"/>
              <p:nvPr/>
            </p:nvSpPr>
            <p:spPr>
              <a:xfrm>
                <a:off x="1152" y="1920"/>
                <a:ext cx="252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imes New Roman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r>
                  <a:rPr b="0" baseline="-25000" i="0" lang="en-US" sz="1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/>
              </a:p>
            </p:txBody>
          </p:sp>
        </p:grpSp>
        <p:cxnSp>
          <p:nvCxnSpPr>
            <p:cNvPr id="298" name="Google Shape;298;p15"/>
            <p:cNvCxnSpPr/>
            <p:nvPr/>
          </p:nvCxnSpPr>
          <p:spPr>
            <a:xfrm flipH="1" rot="10800000">
              <a:off x="2976" y="1824"/>
              <a:ext cx="672" cy="5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9" name="Google Shape;299;p15"/>
            <p:cNvCxnSpPr/>
            <p:nvPr/>
          </p:nvCxnSpPr>
          <p:spPr>
            <a:xfrm>
              <a:off x="2976" y="1824"/>
              <a:ext cx="6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00" name="Google Shape;300;p15"/>
            <p:cNvSpPr txBox="1"/>
            <p:nvPr/>
          </p:nvSpPr>
          <p:spPr>
            <a:xfrm>
              <a:off x="1920" y="1632"/>
              <a:ext cx="25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M’</a:t>
              </a:r>
              <a:endParaRPr/>
            </a:p>
          </p:txBody>
        </p:sp>
        <p:cxnSp>
          <p:nvCxnSpPr>
            <p:cNvPr id="301" name="Google Shape;301;p15"/>
            <p:cNvCxnSpPr/>
            <p:nvPr/>
          </p:nvCxnSpPr>
          <p:spPr>
            <a:xfrm>
              <a:off x="2208" y="1920"/>
              <a:ext cx="3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2" name="Google Shape;302;p15"/>
            <p:cNvCxnSpPr/>
            <p:nvPr/>
          </p:nvCxnSpPr>
          <p:spPr>
            <a:xfrm>
              <a:off x="2208" y="2448"/>
              <a:ext cx="3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3" name="Google Shape;303;p15"/>
            <p:cNvCxnSpPr/>
            <p:nvPr/>
          </p:nvCxnSpPr>
          <p:spPr>
            <a:xfrm>
              <a:off x="2208" y="1920"/>
              <a:ext cx="0" cy="5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" name="Google Shape;304;p15"/>
            <p:cNvCxnSpPr/>
            <p:nvPr/>
          </p:nvCxnSpPr>
          <p:spPr>
            <a:xfrm>
              <a:off x="3648" y="1824"/>
              <a:ext cx="52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305" name="Google Shape;305;p15"/>
          <p:cNvCxnSpPr/>
          <p:nvPr/>
        </p:nvCxnSpPr>
        <p:spPr>
          <a:xfrm>
            <a:off x="5562600" y="32766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06" name="Google Shape;306;p15"/>
          <p:cNvCxnSpPr/>
          <p:nvPr/>
        </p:nvCxnSpPr>
        <p:spPr>
          <a:xfrm>
            <a:off x="4495800" y="2438400"/>
            <a:ext cx="10668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07" name="Google Shape;307;p15"/>
          <p:cNvCxnSpPr/>
          <p:nvPr/>
        </p:nvCxnSpPr>
        <p:spPr>
          <a:xfrm>
            <a:off x="4495800" y="3276600"/>
            <a:ext cx="1066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08" name="Google Shape;308;p15"/>
          <p:cNvSpPr txBox="1"/>
          <p:nvPr/>
        </p:nvSpPr>
        <p:spPr>
          <a:xfrm>
            <a:off x="4572000" y="3200400"/>
            <a:ext cx="36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</p:txBody>
      </p:sp>
      <p:sp>
        <p:nvSpPr>
          <p:cNvPr id="309" name="Google Shape;309;p15"/>
          <p:cNvSpPr txBox="1"/>
          <p:nvPr/>
        </p:nvSpPr>
        <p:spPr>
          <a:xfrm>
            <a:off x="5715000" y="2971800"/>
            <a:ext cx="36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</p:txBody>
      </p:sp>
      <p:sp>
        <p:nvSpPr>
          <p:cNvPr id="310" name="Google Shape;310;p15"/>
          <p:cNvSpPr txBox="1"/>
          <p:nvPr/>
        </p:nvSpPr>
        <p:spPr>
          <a:xfrm>
            <a:off x="4572000" y="2286000"/>
            <a:ext cx="36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16"/>
          <p:cNvSpPr txBox="1"/>
          <p:nvPr>
            <p:ph idx="1" type="body"/>
          </p:nvPr>
        </p:nvSpPr>
        <p:spPr>
          <a:xfrm>
            <a:off x="685800" y="412750"/>
            <a:ext cx="7772400" cy="614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Theorem 4: </a:t>
            </a:r>
            <a:r>
              <a:rPr lang="en-US" sz="1600"/>
              <a:t>If </a:t>
            </a:r>
            <a:r>
              <a:rPr i="1" lang="en-US" sz="1600"/>
              <a:t>L</a:t>
            </a:r>
            <a:r>
              <a:rPr lang="en-US" sz="1600"/>
              <a:t> and      are both recursively enumerable then </a:t>
            </a:r>
            <a:r>
              <a:rPr i="1" lang="en-US" sz="1600"/>
              <a:t>L</a:t>
            </a:r>
            <a:r>
              <a:rPr lang="en-US" sz="1600"/>
              <a:t> (and therefore     ) is recursive.</a:t>
            </a:r>
            <a:endParaRPr/>
          </a:p>
          <a:p>
            <a:pPr indent="-241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Proof:</a:t>
            </a:r>
            <a:r>
              <a:rPr lang="en-US" sz="1600"/>
              <a:t> Let </a:t>
            </a:r>
            <a:r>
              <a:rPr i="1" lang="en-US" sz="1600"/>
              <a:t>M</a:t>
            </a:r>
            <a:r>
              <a:rPr baseline="-25000" i="1" lang="en-US" sz="1600"/>
              <a:t>1</a:t>
            </a:r>
            <a:r>
              <a:rPr lang="en-US" sz="1600"/>
              <a:t> and </a:t>
            </a:r>
            <a:r>
              <a:rPr i="1" lang="en-US" sz="1600"/>
              <a:t>M</a:t>
            </a:r>
            <a:r>
              <a:rPr baseline="-25000" i="1" lang="en-US" sz="1600"/>
              <a:t>2</a:t>
            </a:r>
            <a:r>
              <a:rPr lang="en-US" sz="1600"/>
              <a:t> be TMs such that L = L(M</a:t>
            </a:r>
            <a:r>
              <a:rPr baseline="-25000" lang="en-US" sz="1600"/>
              <a:t>1</a:t>
            </a:r>
            <a:r>
              <a:rPr lang="en-US" sz="1600"/>
              <a:t>) and      = L(M</a:t>
            </a:r>
            <a:r>
              <a:rPr baseline="-25000" lang="en-US" sz="1600"/>
              <a:t>2</a:t>
            </a:r>
            <a:r>
              <a:rPr lang="en-US" sz="1600"/>
              <a:t>). Construct </a:t>
            </a:r>
            <a:r>
              <a:rPr i="1" lang="en-US" sz="1600"/>
              <a:t>M’ </a:t>
            </a:r>
            <a:r>
              <a:rPr lang="en-US" sz="1600"/>
              <a:t>as follows:</a:t>
            </a:r>
            <a:endParaRPr/>
          </a:p>
          <a:p>
            <a:pPr indent="-241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41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1"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Note That: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/>
              <a:t>L(M’) = 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L(M’) is a subset of </a:t>
            </a:r>
            <a:r>
              <a:rPr i="1" lang="en-US" sz="1200"/>
              <a:t>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i="1" lang="en-US" sz="1200"/>
              <a:t>L</a:t>
            </a:r>
            <a:r>
              <a:rPr lang="en-US" sz="1200"/>
              <a:t> is a subset of L(M’)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/>
              <a:t>M’ is TM for 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i="1" lang="en-US" sz="1400"/>
              <a:t>M’ </a:t>
            </a:r>
            <a:r>
              <a:rPr lang="en-US" sz="1400"/>
              <a:t>always halts since </a:t>
            </a:r>
            <a:r>
              <a:rPr lang="en-US" sz="1400" u="sng"/>
              <a:t>either</a:t>
            </a:r>
            <a:r>
              <a:rPr lang="en-US" sz="1400"/>
              <a:t> </a:t>
            </a:r>
            <a:r>
              <a:rPr i="1" lang="en-US" sz="1400"/>
              <a:t>M</a:t>
            </a:r>
            <a:r>
              <a:rPr baseline="-25000" i="1" lang="en-US" sz="1400"/>
              <a:t>1</a:t>
            </a:r>
            <a:r>
              <a:rPr lang="en-US" sz="1400"/>
              <a:t> </a:t>
            </a:r>
            <a:r>
              <a:rPr lang="en-US" sz="1400" u="sng"/>
              <a:t>or</a:t>
            </a:r>
            <a:r>
              <a:rPr lang="en-US" sz="1400"/>
              <a:t> </a:t>
            </a:r>
            <a:r>
              <a:rPr i="1" lang="en-US" sz="1400"/>
              <a:t>M</a:t>
            </a:r>
            <a:r>
              <a:rPr baseline="-25000" i="1" lang="en-US" sz="1400"/>
              <a:t>2</a:t>
            </a:r>
            <a:r>
              <a:rPr lang="en-US" sz="1400"/>
              <a:t> halts for any given string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/>
              <a:t>M’ shows that L is recursive</a:t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/>
              <a:t>	It follows from this that </a:t>
            </a:r>
            <a:r>
              <a:rPr i="1" lang="en-US" sz="1600"/>
              <a:t>L</a:t>
            </a:r>
            <a:r>
              <a:rPr lang="en-US" sz="1600"/>
              <a:t> (and therefore its’ complement) is recursive.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600"/>
              <a:t>	So,       is also recursive (we proved it before).  </a:t>
            </a:r>
            <a:endParaRPr/>
          </a:p>
        </p:txBody>
      </p:sp>
      <p:pic>
        <p:nvPicPr>
          <p:cNvPr id="318" name="Google Shape;3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9513" y="654050"/>
            <a:ext cx="2095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8925" y="639763"/>
            <a:ext cx="2095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1400175"/>
            <a:ext cx="209550" cy="30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16"/>
          <p:cNvGrpSpPr/>
          <p:nvPr/>
        </p:nvGrpSpPr>
        <p:grpSpPr>
          <a:xfrm>
            <a:off x="1828800" y="2362200"/>
            <a:ext cx="4724400" cy="1828800"/>
            <a:chOff x="1200" y="1392"/>
            <a:chExt cx="2976" cy="1152"/>
          </a:xfrm>
        </p:grpSpPr>
        <p:sp>
          <p:nvSpPr>
            <p:cNvPr id="322" name="Google Shape;322;p16"/>
            <p:cNvSpPr/>
            <p:nvPr/>
          </p:nvSpPr>
          <p:spPr>
            <a:xfrm>
              <a:off x="1872" y="1392"/>
              <a:ext cx="1776" cy="1152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3" name="Google Shape;323;p16"/>
            <p:cNvCxnSpPr/>
            <p:nvPr/>
          </p:nvCxnSpPr>
          <p:spPr>
            <a:xfrm>
              <a:off x="1440" y="2016"/>
              <a:ext cx="7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24" name="Google Shape;324;p16"/>
            <p:cNvSpPr txBox="1"/>
            <p:nvPr/>
          </p:nvSpPr>
          <p:spPr>
            <a:xfrm>
              <a:off x="1200" y="1920"/>
              <a:ext cx="197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endParaRPr/>
            </a:p>
          </p:txBody>
        </p:sp>
        <p:sp>
          <p:nvSpPr>
            <p:cNvPr id="325" name="Google Shape;325;p16"/>
            <p:cNvSpPr txBox="1"/>
            <p:nvPr/>
          </p:nvSpPr>
          <p:spPr>
            <a:xfrm>
              <a:off x="3072" y="1440"/>
              <a:ext cx="26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grpSp>
          <p:nvGrpSpPr>
            <p:cNvPr id="326" name="Google Shape;326;p16"/>
            <p:cNvGrpSpPr/>
            <p:nvPr/>
          </p:nvGrpSpPr>
          <p:grpSpPr>
            <a:xfrm>
              <a:off x="2544" y="1536"/>
              <a:ext cx="432" cy="384"/>
              <a:chOff x="1056" y="1824"/>
              <a:chExt cx="432" cy="384"/>
            </a:xfrm>
          </p:grpSpPr>
          <p:sp>
            <p:nvSpPr>
              <p:cNvPr id="327" name="Google Shape;327;p16"/>
              <p:cNvSpPr/>
              <p:nvPr/>
            </p:nvSpPr>
            <p:spPr>
              <a:xfrm>
                <a:off x="1056" y="1824"/>
                <a:ext cx="432" cy="38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8" name="Google Shape;328;p16"/>
              <p:cNvSpPr txBox="1"/>
              <p:nvPr/>
            </p:nvSpPr>
            <p:spPr>
              <a:xfrm>
                <a:off x="1152" y="1920"/>
                <a:ext cx="252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imes New Roman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r>
                  <a:rPr b="0" baseline="-25000" i="0" lang="en-US" sz="1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/>
              </a:p>
            </p:txBody>
          </p:sp>
        </p:grpSp>
        <p:sp>
          <p:nvSpPr>
            <p:cNvPr id="329" name="Google Shape;329;p16"/>
            <p:cNvSpPr txBox="1"/>
            <p:nvPr/>
          </p:nvSpPr>
          <p:spPr>
            <a:xfrm>
              <a:off x="3744" y="1440"/>
              <a:ext cx="26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sp>
          <p:nvSpPr>
            <p:cNvPr id="330" name="Google Shape;330;p16"/>
            <p:cNvSpPr txBox="1"/>
            <p:nvPr/>
          </p:nvSpPr>
          <p:spPr>
            <a:xfrm>
              <a:off x="3072" y="2016"/>
              <a:ext cx="26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  <a:endParaRPr/>
            </a:p>
          </p:txBody>
        </p:sp>
        <p:grpSp>
          <p:nvGrpSpPr>
            <p:cNvPr id="331" name="Google Shape;331;p16"/>
            <p:cNvGrpSpPr/>
            <p:nvPr/>
          </p:nvGrpSpPr>
          <p:grpSpPr>
            <a:xfrm>
              <a:off x="2544" y="2064"/>
              <a:ext cx="432" cy="384"/>
              <a:chOff x="1056" y="1824"/>
              <a:chExt cx="432" cy="384"/>
            </a:xfrm>
          </p:grpSpPr>
          <p:sp>
            <p:nvSpPr>
              <p:cNvPr id="332" name="Google Shape;332;p16"/>
              <p:cNvSpPr/>
              <p:nvPr/>
            </p:nvSpPr>
            <p:spPr>
              <a:xfrm>
                <a:off x="1056" y="1824"/>
                <a:ext cx="432" cy="38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3" name="Google Shape;333;p16"/>
              <p:cNvSpPr txBox="1"/>
              <p:nvPr/>
            </p:nvSpPr>
            <p:spPr>
              <a:xfrm>
                <a:off x="1152" y="1920"/>
                <a:ext cx="252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imes New Roman"/>
                  <a:buNone/>
                </a:pPr>
                <a:r>
                  <a:rPr b="0" i="0" lang="en-US" sz="1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r>
                  <a:rPr b="0" baseline="-25000" i="0" lang="en-US" sz="1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/>
              </a:p>
            </p:txBody>
          </p:sp>
        </p:grpSp>
        <p:cxnSp>
          <p:nvCxnSpPr>
            <p:cNvPr id="334" name="Google Shape;334;p16"/>
            <p:cNvCxnSpPr/>
            <p:nvPr/>
          </p:nvCxnSpPr>
          <p:spPr>
            <a:xfrm>
              <a:off x="2976" y="2160"/>
              <a:ext cx="67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35" name="Google Shape;335;p16"/>
            <p:cNvCxnSpPr/>
            <p:nvPr/>
          </p:nvCxnSpPr>
          <p:spPr>
            <a:xfrm>
              <a:off x="2976" y="1632"/>
              <a:ext cx="6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36" name="Google Shape;336;p16"/>
            <p:cNvSpPr txBox="1"/>
            <p:nvPr/>
          </p:nvSpPr>
          <p:spPr>
            <a:xfrm>
              <a:off x="1920" y="1440"/>
              <a:ext cx="25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M’</a:t>
              </a:r>
              <a:endParaRPr/>
            </a:p>
          </p:txBody>
        </p:sp>
        <p:cxnSp>
          <p:nvCxnSpPr>
            <p:cNvPr id="337" name="Google Shape;337;p16"/>
            <p:cNvCxnSpPr/>
            <p:nvPr/>
          </p:nvCxnSpPr>
          <p:spPr>
            <a:xfrm>
              <a:off x="2208" y="1728"/>
              <a:ext cx="3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38" name="Google Shape;338;p16"/>
            <p:cNvCxnSpPr/>
            <p:nvPr/>
          </p:nvCxnSpPr>
          <p:spPr>
            <a:xfrm>
              <a:off x="2208" y="2256"/>
              <a:ext cx="3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39" name="Google Shape;339;p16"/>
            <p:cNvCxnSpPr/>
            <p:nvPr/>
          </p:nvCxnSpPr>
          <p:spPr>
            <a:xfrm>
              <a:off x="2208" y="1728"/>
              <a:ext cx="0" cy="5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0" name="Google Shape;340;p16"/>
            <p:cNvCxnSpPr/>
            <p:nvPr/>
          </p:nvCxnSpPr>
          <p:spPr>
            <a:xfrm>
              <a:off x="3648" y="1632"/>
              <a:ext cx="52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41" name="Google Shape;341;p16"/>
            <p:cNvCxnSpPr/>
            <p:nvPr/>
          </p:nvCxnSpPr>
          <p:spPr>
            <a:xfrm>
              <a:off x="3648" y="2352"/>
              <a:ext cx="52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42" name="Google Shape;342;p16"/>
            <p:cNvSpPr txBox="1"/>
            <p:nvPr/>
          </p:nvSpPr>
          <p:spPr>
            <a:xfrm>
              <a:off x="3744" y="2160"/>
              <a:ext cx="22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</a:t>
              </a:r>
              <a:endParaRPr/>
            </a:p>
          </p:txBody>
        </p:sp>
      </p:grpSp>
      <p:pic>
        <p:nvPicPr>
          <p:cNvPr id="343" name="Google Shape;3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2088" y="5929313"/>
            <a:ext cx="20955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17"/>
          <p:cNvSpPr txBox="1"/>
          <p:nvPr>
            <p:ph idx="1" type="body"/>
          </p:nvPr>
        </p:nvSpPr>
        <p:spPr>
          <a:xfrm>
            <a:off x="685800" y="412750"/>
            <a:ext cx="7772400" cy="614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Corollary of Thm 4:</a:t>
            </a:r>
            <a:r>
              <a:rPr lang="en-US" sz="1800"/>
              <a:t> Let</a:t>
            </a:r>
            <a:r>
              <a:rPr i="1" lang="en-US" sz="1800"/>
              <a:t> L </a:t>
            </a:r>
            <a:r>
              <a:rPr lang="en-US" sz="1800"/>
              <a:t>be a subset of Σ*. Then one of the following must be true: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Both </a:t>
            </a:r>
            <a:r>
              <a:rPr i="1" lang="en-US" sz="1600"/>
              <a:t>L</a:t>
            </a:r>
            <a:r>
              <a:rPr lang="en-US" sz="1600"/>
              <a:t> and       are recursive.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One of </a:t>
            </a:r>
            <a:r>
              <a:rPr i="1" lang="en-US" sz="1600"/>
              <a:t>L</a:t>
            </a:r>
            <a:r>
              <a:rPr lang="en-US" sz="1600"/>
              <a:t> and       is recursively enumerable but not recursive, and the other is not recursively enumerable, or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lang="en-US" sz="1600"/>
              <a:t>Neither </a:t>
            </a:r>
            <a:r>
              <a:rPr i="1" lang="en-US" sz="1600"/>
              <a:t>L</a:t>
            </a:r>
            <a:r>
              <a:rPr lang="en-US" sz="1600"/>
              <a:t> nor      is recursively enumerable</a:t>
            </a:r>
            <a:endParaRPr/>
          </a:p>
          <a:p>
            <a:pPr indent="-1841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</a:pPr>
            <a:r>
              <a:rPr i="1" lang="en-US" sz="1600"/>
              <a:t>In other words, it is impossible to have both L and      r.e. but not recursive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pic>
        <p:nvPicPr>
          <p:cNvPr id="351" name="Google Shape;3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6188" y="2630488"/>
            <a:ext cx="2095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6838" y="2914650"/>
            <a:ext cx="2095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6050" y="3465513"/>
            <a:ext cx="2095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7850" y="4044950"/>
            <a:ext cx="20955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18"/>
          <p:cNvSpPr txBox="1"/>
          <p:nvPr>
            <p:ph type="title"/>
          </p:nvPr>
        </p:nvSpPr>
        <p:spPr>
          <a:xfrm>
            <a:off x="685800" y="3810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The Halting Problem - Background</a:t>
            </a:r>
            <a:endParaRPr/>
          </a:p>
        </p:txBody>
      </p:sp>
      <p:sp>
        <p:nvSpPr>
          <p:cNvPr id="361" name="Google Shape;361;p18"/>
          <p:cNvSpPr txBox="1"/>
          <p:nvPr>
            <p:ph idx="1" type="body"/>
          </p:nvPr>
        </p:nvSpPr>
        <p:spPr>
          <a:xfrm>
            <a:off x="685800" y="15240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Definition:</a:t>
            </a:r>
            <a:r>
              <a:rPr lang="en-US" sz="1600"/>
              <a:t> A </a:t>
            </a:r>
            <a:r>
              <a:rPr lang="en-US" sz="1600" u="sng"/>
              <a:t>decision problem</a:t>
            </a:r>
            <a:r>
              <a:rPr lang="en-US" sz="1600"/>
              <a:t> is a problem having a yes/no answer (that one presumably wants to solve with a computer). Typically, there is a list of parameters on which the problem is based.</a:t>
            </a:r>
            <a:endParaRPr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/>
              <a:t>Given a list of numbers, is that list sorted?</a:t>
            </a:r>
            <a:endParaRPr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/>
              <a:t>Given a number x, is x even?</a:t>
            </a:r>
            <a:endParaRPr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/>
              <a:t>Given a C program, does that C program contain any syntax errors?</a:t>
            </a:r>
            <a:endParaRPr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/>
              <a:t>Given a TM (or C program), does that TM contain an infinite loop?</a:t>
            </a:r>
            <a:endParaRPr/>
          </a:p>
          <a:p>
            <a:pPr indent="-2413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n-US" sz="1600"/>
              <a:t>	</a:t>
            </a:r>
            <a:r>
              <a:rPr lang="en-US" sz="1600"/>
              <a:t>From a practical perspective, many decision problems do not seem all that interesting.  However, from a theoretical perspective they are for the following two reasons:</a:t>
            </a:r>
            <a:endParaRPr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/>
              <a:t>Decision problems are more convenient/easier to work with when proving complexity results.</a:t>
            </a:r>
            <a:endParaRPr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/>
              <a:t>Non-decision </a:t>
            </a:r>
            <a:r>
              <a:rPr i="1" lang="en-US" sz="1400"/>
              <a:t>counter-parts</a:t>
            </a:r>
            <a:r>
              <a:rPr lang="en-US" sz="1400"/>
              <a:t> can always be created &amp; are typically at least as difficult to solve.</a:t>
            </a:r>
            <a:endParaRPr/>
          </a:p>
          <a:p>
            <a:pPr indent="-1968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1" sz="1400"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/>
              <a:t>Notes:</a:t>
            </a:r>
            <a:endParaRPr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US" sz="1400"/>
              <a:t>The following terms and phrases are analogous:</a:t>
            </a:r>
            <a:endParaRPr/>
          </a:p>
          <a:p>
            <a:pPr indent="-228600" lvl="2" marL="11430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/>
          </a:p>
          <a:p>
            <a:pPr indent="-228600" lvl="2" marL="11430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Algorithm				-	A halting TM program</a:t>
            </a:r>
            <a:endParaRPr/>
          </a:p>
          <a:p>
            <a:pPr indent="-228600" lvl="2" marL="11430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Decision Problem		-	A language	</a:t>
            </a:r>
            <a:r>
              <a:rPr i="1" lang="en-US" sz="1200"/>
              <a:t>(will show shortly)</a:t>
            </a:r>
            <a:endParaRPr/>
          </a:p>
          <a:p>
            <a:pPr indent="-228600" lvl="2" marL="11430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 sz="1200"/>
              <a:t>(un)Decidable			-	(non)Recursive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2021-04-29T05:58:16Z</dcterms:created>
  <dc:creator>Windows User</dc:creator>
</cp:coreProperties>
</file>