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5" d="100"/>
          <a:sy n="165" d="100"/>
        </p:scale>
        <p:origin x="-82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2813F-0767-4B91-9CEF-5FDA66B9512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F349B-2FD8-468F-BEBC-0C5D8B0BE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32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Attribute Modification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Variational Autoencoder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CelebA   ·   Course: IA-III / Artificial Intelligence (PS-2)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J. Somaiya School of Engineering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13716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94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Amandeep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Singh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794760"/>
            <a:ext cx="13716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794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Ambuj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3794760"/>
            <a:ext cx="13716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794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Aditya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Baheti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3794760"/>
            <a:ext cx="13716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DA51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794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Aditey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Kshirsagar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794760"/>
            <a:ext cx="13716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9F6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794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Aryan Sharma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&amp; Dataset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Theory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8620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7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Training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A5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Mod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A5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Results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8660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60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103120"/>
            <a:ext cx="23408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low-dimensional latent space that captures the essence of human faces.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960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🎛️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103120"/>
            <a:ext cx="23408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high-level features — eyeglasses, smiling, age — without pixel-level rules.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86868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960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103120"/>
            <a:ext cx="23408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both faithful reconstruction AND meaningful latent-space interpolation.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02182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VAE on CelebA, estimate an attribute direction δ in latent space, and edit faces via  z′ = z + α·δ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CelebA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2004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32004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Attributes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32004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804672"/>
            <a:ext cx="48463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914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128016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list_attr_celeba.csv — binary labels (−1/+1 → 0/1)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img_align_celeba/ — face-aligned JPEGs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each image to 64 × 64 pixels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pixel values to [0, 1]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 pipeline — batched &amp; shuffled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453128"/>
            <a:ext cx="1005840" cy="32004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53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Eyeglasses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73352" y="4453128"/>
            <a:ext cx="1005840" cy="32004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73352" y="4453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43784" y="4453128"/>
            <a:ext cx="1005840" cy="32004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3784" y="4453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14216" y="4453128"/>
            <a:ext cx="1005840" cy="32004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14216" y="4453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84648" y="4453128"/>
            <a:ext cx="1005840" cy="32004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4453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55080" y="4453128"/>
            <a:ext cx="1005840" cy="32004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453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25512" y="4453128"/>
            <a:ext cx="1005840" cy="32004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25512" y="4453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 — Theory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777240" cy="960120"/>
          </a:xfrm>
          <a:prstGeom prst="rect">
            <a:avLst/>
          </a:prstGeom>
          <a:solidFill>
            <a:srgbClr val="1C2128"/>
          </a:solidFill>
          <a:ln w="1524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326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1252728"/>
            <a:ext cx="704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52728" y="96012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31136" y="896112"/>
            <a:ext cx="777240" cy="960120"/>
          </a:xfrm>
          <a:prstGeom prst="rect">
            <a:avLst/>
          </a:prstGeom>
          <a:solidFill>
            <a:srgbClr val="021A2A"/>
          </a:solidFill>
          <a:ln w="1524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31136" y="9326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67712" y="1252728"/>
            <a:ext cx="704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stack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μ, log σ²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9544" y="96012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187952" y="896112"/>
            <a:ext cx="777240" cy="960120"/>
          </a:xfrm>
          <a:prstGeom prst="rect">
            <a:avLst/>
          </a:prstGeom>
          <a:solidFill>
            <a:srgbClr val="021820"/>
          </a:solidFill>
          <a:ln w="1524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87952" y="9326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24528" y="1252728"/>
            <a:ext cx="704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μ + ε·σ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~ 𝒩(0,I)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96012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44768" y="896112"/>
            <a:ext cx="777240" cy="960120"/>
          </a:xfrm>
          <a:prstGeom prst="rect">
            <a:avLst/>
          </a:prstGeom>
          <a:solidFill>
            <a:srgbClr val="021A2A"/>
          </a:solidFill>
          <a:ln w="1524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9326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1252728"/>
            <a:ext cx="704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ConvTranspose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x̂ sigmoid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3176" y="960120"/>
            <a:ext cx="777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101584" y="896112"/>
            <a:ext cx="777240" cy="960120"/>
          </a:xfrm>
          <a:prstGeom prst="rect">
            <a:avLst/>
          </a:prstGeom>
          <a:solidFill>
            <a:srgbClr val="1C2128"/>
          </a:solidFill>
          <a:ln w="1524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01584" y="9326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38160" y="1252728"/>
            <a:ext cx="704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103120"/>
            <a:ext cx="841248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3042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—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230428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image x → probability distribution q(z|x) — a Gaussian parameterized by mean μ and variance σ².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971800"/>
            <a:ext cx="841248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1729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Reparameterization Trick —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317296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backprop through sampling: z = μ + ε·σ where ε ~ 𝒩(0,I) is a fixed random draw.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404164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— 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404164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latent z back to pixel space, producing a reconstruction x̂ with sigmoid output in [0,1].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Loss Function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02336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005840" cy="256032"/>
          </a:xfrm>
          <a:prstGeom prst="rect">
            <a:avLst/>
          </a:prstGeom>
          <a:solidFill>
            <a:srgbClr val="58A6FF">
              <a:alpha val="4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258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3258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× 4 (stride-2, filters 32→256)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8928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Dense → μ, log σ²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59736"/>
            <a:ext cx="1005840" cy="256032"/>
          </a:xfrm>
          <a:prstGeom prst="rect">
            <a:avLst/>
          </a:prstGeom>
          <a:solidFill>
            <a:srgbClr val="58A6FF">
              <a:alpha val="4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9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45973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256 (configurable)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26664"/>
            <a:ext cx="1005840" cy="256032"/>
          </a:xfrm>
          <a:prstGeom prst="rect">
            <a:avLst/>
          </a:prstGeom>
          <a:solidFill>
            <a:srgbClr val="58A6FF">
              <a:alpha val="4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266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302666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Reshape → Conv2DTranspose ×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93592"/>
            <a:ext cx="1005840" cy="256032"/>
          </a:xfrm>
          <a:prstGeom prst="rect">
            <a:avLst/>
          </a:prstGeom>
          <a:solidFill>
            <a:srgbClr val="58A6FF">
              <a:alpha val="4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93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35935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64×64×3 sigmoid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02336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353312"/>
            <a:ext cx="3566160" cy="822960"/>
          </a:xfrm>
          <a:prstGeom prst="rect">
            <a:avLst/>
          </a:prstGeom>
          <a:solidFill>
            <a:srgbClr val="021820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26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L_recon = Σ BCE(x, x̂)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709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binary cross-entropy,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pixels, mean over batch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331720"/>
            <a:ext cx="3566160" cy="822960"/>
          </a:xfrm>
          <a:prstGeom prst="rect">
            <a:avLst/>
          </a:prstGeom>
          <a:solidFill>
            <a:srgbClr val="021820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395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L_KL = −½ Σ(1 + log σ² − μ² − σ²)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679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KL — diagonal Gaussian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standard normal prior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3291840"/>
            <a:ext cx="3566160" cy="658368"/>
          </a:xfrm>
          <a:prstGeom prst="rect">
            <a:avLst/>
          </a:prstGeom>
          <a:solidFill>
            <a:srgbClr val="040C1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 =  L_recon  +  L_KL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7490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 jointly via Adam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24688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932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Image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527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64 × 3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841248"/>
            <a:ext cx="24688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932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Batch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2527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841248"/>
            <a:ext cx="24688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9326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Epochs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2527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2121408"/>
            <a:ext cx="24688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212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Latent Dim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532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291840" y="2121408"/>
            <a:ext cx="24688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2212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Optimizer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532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26480" y="2121408"/>
            <a:ext cx="24688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2212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Learn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532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8412480" cy="804672"/>
          </a:xfrm>
          <a:prstGeom prst="rect">
            <a:avLst/>
          </a:prstGeom>
          <a:solidFill>
            <a:srgbClr val="021820"/>
          </a:solidFill>
          <a:ln w="19050">
            <a:solidFill>
              <a:srgbClr val="F7A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Custom Training 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3016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subclasses keras.Model and overrides train_step — no model.fit(). Full gradient tape control gives explicit loss logging per epoch across the tf.data pipeline.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 TensorFlow / Keras      Language:  Python 3.9+      Entry Point:  vae_attribute_modification.py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Modification in Latent Space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04672"/>
            <a:ext cx="59436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896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Attribute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18872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binary attribute e.g. "Eyeglasses" from the 40 CelebA labels.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10512"/>
            <a:ext cx="8412480" cy="8046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10512"/>
            <a:ext cx="59436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1051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Direction 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1945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mean(z | A=1)  −  mean(z | A=0)  computed over held-out batches.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8412480" cy="8046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16352"/>
            <a:ext cx="59436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1635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2907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α Scaling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20040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δ for stability, then move: z′ = z + α·δ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22192"/>
            <a:ext cx="594360" cy="8046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2219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Visualize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20624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z′ through decoder.  α &gt; 0 adds the attribute, α &lt; 0 removes 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z′ = z + α · δ      where  δ = mean(z|A=1) − mean(z|A=0)  is the learned attribute direction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4023360" cy="347472"/>
          </a:xfrm>
          <a:prstGeom prst="rect">
            <a:avLst/>
          </a:prstGeom>
          <a:solidFill>
            <a:srgbClr val="0218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05256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Training Curves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298448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training_loss.png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581912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loss, reconstruction term, and KL divergence plotted per epoch to confirm convergence.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4023360" cy="347472"/>
          </a:xfrm>
          <a:prstGeom prst="rect">
            <a:avLst/>
          </a:prstGeom>
          <a:solidFill>
            <a:srgbClr val="0218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905256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Reconstructions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298448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reconstructions.png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581912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grid of original vs. VAE-reconstructed faces — measures encoding fidelity.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4023360" cy="347472"/>
          </a:xfrm>
          <a:prstGeom prst="rect">
            <a:avLst/>
          </a:prstGeom>
          <a:solidFill>
            <a:srgbClr val="0218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25496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Latent Samples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218688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latent_samples.png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3502152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z ~ 𝒩(0,I) decoded to verify the latent space is smooth and continuous.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88920"/>
            <a:ext cx="4023360" cy="347472"/>
          </a:xfrm>
          <a:prstGeom prst="rect">
            <a:avLst/>
          </a:prstGeom>
          <a:solidFill>
            <a:srgbClr val="0218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825496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Attribute Grid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3218688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attr_mod_*.png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3502152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identity decoded across multiple α values — visualizes attribute strength changing.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218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7316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saved to results/  →  encoder_weights.h5   |   decoder_weights.h5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 — Vite + React Frontend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1188720" cy="292608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64792" y="804672"/>
            <a:ext cx="1188720" cy="292608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8046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3824" y="804672"/>
            <a:ext cx="1188720" cy="292608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8046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62856" y="804672"/>
            <a:ext cx="1188720" cy="292608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8046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61888" y="804672"/>
            <a:ext cx="1188720" cy="292608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8046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60920" y="804672"/>
            <a:ext cx="1188720" cy="292608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8046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shadcn-style UI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234440"/>
            <a:ext cx="40233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Documentation Page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17099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 with encoder → sampling → decoder → attribute direction cards.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40233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Results Visualizer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7099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showing loss curves, reconstruction grid, latent samples (wired to exampleRun.ts or real exports).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40233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971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Interactive Demo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3101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with forward-pass animation and an α slider for eyeglasses — educational, no model in browser.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02336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971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Theme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3101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html root, grayscale / black–white styling consistent with terminal aesthetics.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Challenges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41248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9F6F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Attribute Direction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225296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is a simple linear shift in latent space. Real attribute geometry can be nonlinear, so edits may drift at high |α| values.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9F6F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21284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on training epochs, model capacity, and attribute class balance in the dataset.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841248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9F6F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809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8895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Requirements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CelebA training is heavy — 200K images × 30 epochs. CPU training is slow; GPU strongly recommended.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03904"/>
            <a:ext cx="8412480" cy="804672"/>
          </a:xfrm>
          <a:prstGeom prst="rect">
            <a:avLst/>
          </a:prstGeom>
          <a:solidFill>
            <a:srgbClr val="161B22"/>
          </a:solidFill>
          <a:ln w="10160">
            <a:solidFill>
              <a:srgbClr val="9F6F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9684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8770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Demo is Illustrative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187952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demo uses static/example data unless explicitly wired to real results/ exports or a TF.js model.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021820"/>
          </a:solidFill>
          <a:ln w="6350">
            <a:solidFill>
              <a:srgbClr val="9F6F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0974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known trade-offs of the linear δ-shift approach — addressable with β-VAE or GAN-based editing.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4206240" cy="30175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Takeaways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trained on CelebA — reconstruction + KL loss.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Latent-space attribute control via δ and α.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training script with visual outputs.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for documentation &amp; demo.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saved for future inference-only use.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804672"/>
            <a:ext cx="3931920" cy="3017520"/>
          </a:xfrm>
          <a:prstGeom prst="rect">
            <a:avLst/>
          </a:prstGeom>
          <a:solidFill>
            <a:srgbClr val="161B22"/>
          </a:solidFill>
          <a:ln w="19050">
            <a:solidFill>
              <a:srgbClr val="9F6F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896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298448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β-VAE for disentangled attribute control.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editing with GAN hybrid (VAE-GAN).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inference via TensorFlow.js.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Multi-attribute editing in a single pass.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loss for sharper reconstructions.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05072"/>
            <a:ext cx="8412480" cy="6858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07822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2200" b="1" dirty="0" smtClean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976</Words>
  <Application>Microsoft Office PowerPoint</Application>
  <PresentationFormat>On-screen Show (16:9)</PresentationFormat>
  <Paragraphs>196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Attribute Modification using VAE</dc:title>
  <dc:subject>PptxGenJS Presentation</dc:subject>
  <dc:creator>PptxGenJS</dc:creator>
  <cp:lastModifiedBy>HP</cp:lastModifiedBy>
  <cp:revision>2</cp:revision>
  <dcterms:created xsi:type="dcterms:W3CDTF">2026-04-19T16:35:50Z</dcterms:created>
  <dcterms:modified xsi:type="dcterms:W3CDTF">2026-04-19T17:10:58Z</dcterms:modified>
</cp:coreProperties>
</file>