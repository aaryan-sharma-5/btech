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8229600" cx="14630400"/>
  <p:notesSz cx="8229600" cy="14630400"/>
  <p:embeddedFontLst>
    <p:embeddedFont>
      <p:font typeface="Funnel Sans"/>
      <p:regular r:id="rId14"/>
      <p:bold r:id="rId15"/>
      <p:italic r:id="rId16"/>
      <p:boldItalic r:id="rId17"/>
    </p:embeddedFont>
    <p:embeddedFont>
      <p:font typeface="Mona Sans"/>
      <p:regular r:id="rId18"/>
      <p:bold r:id="rId19"/>
      <p:italic r:id="rId20"/>
      <p:boldItalic r:id="rId21"/>
    </p:embeddedFont>
    <p:embeddedFont>
      <p:font typeface="Mona Sans SemiBold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aSans-italic.fntdata"/><Relationship Id="rId22" Type="http://schemas.openxmlformats.org/officeDocument/2006/relationships/font" Target="fonts/MonaSansSemiBold-regular.fntdata"/><Relationship Id="rId21" Type="http://schemas.openxmlformats.org/officeDocument/2006/relationships/font" Target="fonts/MonaSans-boldItalic.fntdata"/><Relationship Id="rId24" Type="http://schemas.openxmlformats.org/officeDocument/2006/relationships/font" Target="fonts/MonaSansSemiBold-italic.fntdata"/><Relationship Id="rId23" Type="http://schemas.openxmlformats.org/officeDocument/2006/relationships/font" Target="fonts/MonaSansSemiBold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MonaSansSemiBold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FunnelSans-bold.fntdata"/><Relationship Id="rId14" Type="http://schemas.openxmlformats.org/officeDocument/2006/relationships/font" Target="fonts/FunnelSans-regular.fntdata"/><Relationship Id="rId17" Type="http://schemas.openxmlformats.org/officeDocument/2006/relationships/font" Target="fonts/FunnelSans-boldItalic.fntdata"/><Relationship Id="rId16" Type="http://schemas.openxmlformats.org/officeDocument/2006/relationships/font" Target="fonts/FunnelSans-italic.fntdata"/><Relationship Id="rId19" Type="http://schemas.openxmlformats.org/officeDocument/2006/relationships/font" Target="fonts/MonaSans-bold.fntdata"/><Relationship Id="rId18" Type="http://schemas.openxmlformats.org/officeDocument/2006/relationships/font" Target="fonts/Mona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2"/>
          <p:cNvSpPr/>
          <p:nvPr/>
        </p:nvSpPr>
        <p:spPr>
          <a:xfrm>
            <a:off x="793790" y="1869877"/>
            <a:ext cx="3228737" cy="441484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37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2"/>
          <p:cNvSpPr/>
          <p:nvPr/>
        </p:nvSpPr>
        <p:spPr>
          <a:xfrm>
            <a:off x="937498" y="1945481"/>
            <a:ext cx="2941320" cy="290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00"/>
              <a:buFont typeface="Funnel Sans"/>
              <a:buNone/>
            </a:pPr>
            <a:r>
              <a:rPr b="0" i="0" lang="en-US" sz="1400" u="none" cap="none" strike="noStrike">
                <a:solidFill>
                  <a:srgbClr val="373B48"/>
                </a:solidFill>
                <a:latin typeface="Funnel Sans"/>
                <a:ea typeface="Funnel Sans"/>
                <a:cs typeface="Funnel Sans"/>
                <a:sym typeface="Funnel Sans"/>
              </a:rPr>
              <a:t>HONS. ML INTERNAL ASSESSMENT</a:t>
            </a:r>
            <a:endParaRPr b="0" i="0" sz="1400" u="none" cap="none" strike="noStrike"/>
          </a:p>
        </p:txBody>
      </p:sp>
      <p:sp>
        <p:nvSpPr>
          <p:cNvPr id="56" name="Google Shape;56;p12"/>
          <p:cNvSpPr/>
          <p:nvPr/>
        </p:nvSpPr>
        <p:spPr>
          <a:xfrm>
            <a:off x="793790" y="2402086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Identifying and Analyzing Traffic Congestion Patterns in Urban Environments</a:t>
            </a:r>
            <a:endParaRPr b="0" i="0" sz="4450" u="none" cap="none" strike="noStrike"/>
          </a:p>
        </p:txBody>
      </p:sp>
      <p:sp>
        <p:nvSpPr>
          <p:cNvPr id="57" name="Google Shape;57;p12"/>
          <p:cNvSpPr/>
          <p:nvPr/>
        </p:nvSpPr>
        <p:spPr>
          <a:xfrm>
            <a:off x="793790" y="4216479"/>
            <a:ext cx="13042821" cy="16907"/>
          </a:xfrm>
          <a:prstGeom prst="rect">
            <a:avLst/>
          </a:prstGeom>
          <a:solidFill>
            <a:srgbClr val="5258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2"/>
          <p:cNvSpPr/>
          <p:nvPr/>
        </p:nvSpPr>
        <p:spPr>
          <a:xfrm>
            <a:off x="793790" y="4545211"/>
            <a:ext cx="130428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Unsupervised &amp; Supervised Approaches to Smart City Traffic Analysis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by: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Aaryan Sharma: 160101230</a:t>
            </a:r>
            <a:r>
              <a:rPr lang="en-US" sz="175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12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Aryan Raut: 16010123080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Tanmay Chinchore: 16010123135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793790" y="711637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Problem Statement &amp; Objective</a:t>
            </a:r>
            <a:endParaRPr b="0" i="0" sz="4450" u="none" cap="none" strike="noStrike"/>
          </a:p>
        </p:txBody>
      </p:sp>
      <p:sp>
        <p:nvSpPr>
          <p:cNvPr id="66" name="Google Shape;66;p13"/>
          <p:cNvSpPr/>
          <p:nvPr/>
        </p:nvSpPr>
        <p:spPr>
          <a:xfrm>
            <a:off x="793790" y="2469356"/>
            <a:ext cx="3664744" cy="3136702"/>
          </a:xfrm>
          <a:prstGeom prst="roundRect">
            <a:avLst>
              <a:gd fmla="val 30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1028224" y="27037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The Problem</a:t>
            </a:r>
            <a:endParaRPr b="0" i="0" sz="2200" u="none" cap="none" strike="noStrike"/>
          </a:p>
        </p:txBody>
      </p:sp>
      <p:sp>
        <p:nvSpPr>
          <p:cNvPr id="68" name="Google Shape;68;p13"/>
          <p:cNvSpPr/>
          <p:nvPr/>
        </p:nvSpPr>
        <p:spPr>
          <a:xfrm>
            <a:off x="1028224" y="3194209"/>
            <a:ext cx="3195876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Urban traffic congestion creates unpredictable, high-stress patterns — causing severe delays and driver frustration across city networks.</a:t>
            </a:r>
            <a:endParaRPr b="0" i="0" sz="1750" u="none" cap="none" strike="noStrike"/>
          </a:p>
        </p:txBody>
      </p:sp>
      <p:sp>
        <p:nvSpPr>
          <p:cNvPr id="69" name="Google Shape;69;p13"/>
          <p:cNvSpPr/>
          <p:nvPr/>
        </p:nvSpPr>
        <p:spPr>
          <a:xfrm>
            <a:off x="4685348" y="2469356"/>
            <a:ext cx="3664863" cy="3136702"/>
          </a:xfrm>
          <a:prstGeom prst="roundRect">
            <a:avLst>
              <a:gd fmla="val 30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919782" y="270379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Our Objective</a:t>
            </a:r>
            <a:endParaRPr b="0" i="0" sz="2200" u="none" cap="none" strike="noStrike"/>
          </a:p>
        </p:txBody>
      </p:sp>
      <p:sp>
        <p:nvSpPr>
          <p:cNvPr id="71" name="Google Shape;71;p13"/>
          <p:cNvSpPr/>
          <p:nvPr/>
        </p:nvSpPr>
        <p:spPr>
          <a:xfrm>
            <a:off x="4919782" y="3194209"/>
            <a:ext cx="3195995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Apply a data-driven ML pipeline to </a:t>
            </a: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identify and analyze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traffic congestion patterns using both unsupervised and supervised learning.</a:t>
            </a:r>
            <a:endParaRPr b="0" i="0" sz="1750" u="none" cap="none" strike="noStrike"/>
          </a:p>
        </p:txBody>
      </p:sp>
      <p:sp>
        <p:nvSpPr>
          <p:cNvPr id="72" name="Google Shape;72;p13"/>
          <p:cNvSpPr/>
          <p:nvPr/>
        </p:nvSpPr>
        <p:spPr>
          <a:xfrm>
            <a:off x="793790" y="5832872"/>
            <a:ext cx="7556421" cy="1685092"/>
          </a:xfrm>
          <a:prstGeom prst="roundRect">
            <a:avLst>
              <a:gd fmla="val 5654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1028224" y="606730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Our Approach</a:t>
            </a:r>
            <a:endParaRPr b="0" i="0" sz="2200" u="none" cap="none" strike="noStrike"/>
          </a:p>
        </p:txBody>
      </p:sp>
      <p:sp>
        <p:nvSpPr>
          <p:cNvPr id="74" name="Google Shape;74;p13"/>
          <p:cNvSpPr/>
          <p:nvPr/>
        </p:nvSpPr>
        <p:spPr>
          <a:xfrm>
            <a:off x="1028224" y="6557724"/>
            <a:ext cx="7087553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Clustering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groups traffic states into meaningful patterns. </a:t>
            </a: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Regression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then predicts the Driver Stress Index to pinpoint root causes.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/>
          <p:nvPr/>
        </p:nvSpPr>
        <p:spPr>
          <a:xfrm>
            <a:off x="793790" y="1412319"/>
            <a:ext cx="796099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The Dataset &amp; Preprocessing</a:t>
            </a:r>
            <a:endParaRPr b="0" i="0" sz="445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793790" y="2688074"/>
            <a:ext cx="451723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Smart City Traffic Stress Dataset</a:t>
            </a:r>
            <a:endParaRPr b="0" i="0" sz="2200" u="none" cap="none" strike="noStrike"/>
          </a:p>
        </p:txBody>
      </p:sp>
      <p:sp>
        <p:nvSpPr>
          <p:cNvPr id="82" name="Google Shape;82;p14"/>
          <p:cNvSpPr/>
          <p:nvPr/>
        </p:nvSpPr>
        <p:spPr>
          <a:xfrm>
            <a:off x="793790" y="3269218"/>
            <a:ext cx="624470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50,000 instances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capturing real-world urban traffic scenarios across diverse conditions.</a:t>
            </a:r>
            <a:endParaRPr b="0" i="0" sz="1750" u="none" cap="none" strike="noStrike"/>
          </a:p>
        </p:txBody>
      </p:sp>
      <p:sp>
        <p:nvSpPr>
          <p:cNvPr id="83" name="Google Shape;83;p14"/>
          <p:cNvSpPr/>
          <p:nvPr/>
        </p:nvSpPr>
        <p:spPr>
          <a:xfrm>
            <a:off x="793790" y="422183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Key Variables</a:t>
            </a:r>
            <a:endParaRPr b="0" i="0" sz="2200" u="none" cap="none" strike="noStrike"/>
          </a:p>
        </p:txBody>
      </p:sp>
      <p:sp>
        <p:nvSpPr>
          <p:cNvPr id="84" name="Google Shape;84;p14"/>
          <p:cNvSpPr/>
          <p:nvPr/>
        </p:nvSpPr>
        <p:spPr>
          <a:xfrm>
            <a:off x="793790" y="4802981"/>
            <a:ext cx="6244709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Traffic Density, Average Speed, Signal Wait Time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Horn Events, Weather, Road Quality, Driver Experience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Target: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</a:t>
            </a:r>
            <a:r>
              <a:rPr b="0" i="0" lang="en-US" sz="17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stress_index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(scored 0–100)</a:t>
            </a:r>
            <a:endParaRPr b="0" i="0" sz="1750" u="none" cap="none" strike="noStrike"/>
          </a:p>
        </p:txBody>
      </p:sp>
      <p:sp>
        <p:nvSpPr>
          <p:cNvPr id="85" name="Google Shape;85;p14"/>
          <p:cNvSpPr/>
          <p:nvPr/>
        </p:nvSpPr>
        <p:spPr>
          <a:xfrm>
            <a:off x="7599521" y="2688074"/>
            <a:ext cx="321290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Data Preparation Steps</a:t>
            </a:r>
            <a:endParaRPr b="0" i="0" sz="2200" u="none" cap="none" strike="noStrike"/>
          </a:p>
        </p:txBody>
      </p:sp>
      <p:sp>
        <p:nvSpPr>
          <p:cNvPr id="86" name="Google Shape;86;p14"/>
          <p:cNvSpPr/>
          <p:nvPr/>
        </p:nvSpPr>
        <p:spPr>
          <a:xfrm>
            <a:off x="7599521" y="3297555"/>
            <a:ext cx="3008948" cy="3264575"/>
          </a:xfrm>
          <a:prstGeom prst="roundRect">
            <a:avLst>
              <a:gd fmla="val 4862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7569041" y="3297555"/>
            <a:ext cx="121920" cy="3264575"/>
          </a:xfrm>
          <a:prstGeom prst="roundRect">
            <a:avLst>
              <a:gd fmla="val 7813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7948255" y="3554849"/>
            <a:ext cx="240291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Missing Value Removal</a:t>
            </a:r>
            <a:endParaRPr b="0" i="0" sz="2200" u="none" cap="none" strike="noStrike"/>
          </a:p>
        </p:txBody>
      </p:sp>
      <p:sp>
        <p:nvSpPr>
          <p:cNvPr id="89" name="Google Shape;89;p14"/>
          <p:cNvSpPr/>
          <p:nvPr/>
        </p:nvSpPr>
        <p:spPr>
          <a:xfrm>
            <a:off x="7948255" y="4490323"/>
            <a:ext cx="2402919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Rows with null entries were dropped to ensure clean training data.</a:t>
            </a:r>
            <a:endParaRPr b="0" i="0" sz="1750" u="none" cap="none" strike="noStrike"/>
          </a:p>
        </p:txBody>
      </p:sp>
      <p:sp>
        <p:nvSpPr>
          <p:cNvPr id="90" name="Google Shape;90;p14"/>
          <p:cNvSpPr/>
          <p:nvPr/>
        </p:nvSpPr>
        <p:spPr>
          <a:xfrm>
            <a:off x="10835283" y="3297555"/>
            <a:ext cx="3008948" cy="3264575"/>
          </a:xfrm>
          <a:prstGeom prst="roundRect">
            <a:avLst>
              <a:gd fmla="val 4862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/>
          <p:nvPr/>
        </p:nvSpPr>
        <p:spPr>
          <a:xfrm>
            <a:off x="10804803" y="3297555"/>
            <a:ext cx="121920" cy="3264575"/>
          </a:xfrm>
          <a:prstGeom prst="roundRect">
            <a:avLst>
              <a:gd fmla="val 7813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11184017" y="3554849"/>
            <a:ext cx="2402919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One-Hot Encoding</a:t>
            </a:r>
            <a:endParaRPr b="0" i="0" sz="2200" u="none" cap="none" strike="noStrike"/>
          </a:p>
        </p:txBody>
      </p:sp>
      <p:sp>
        <p:nvSpPr>
          <p:cNvPr id="93" name="Google Shape;93;p14"/>
          <p:cNvSpPr/>
          <p:nvPr/>
        </p:nvSpPr>
        <p:spPr>
          <a:xfrm>
            <a:off x="11184017" y="4490323"/>
            <a:ext cx="2402919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Consola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pd.get_dummies()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converted categorical features like Weather into machine-readable binary columns.</a:t>
            </a:r>
            <a:endParaRPr b="0" i="0" sz="1750" u="none" cap="none" strike="noStrike"/>
          </a:p>
        </p:txBody>
      </p:sp>
      <p:sp>
        <p:nvSpPr>
          <p:cNvPr id="94" name="Google Shape;94;p14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793790" y="753428"/>
            <a:ext cx="6430328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000"/>
              <a:buFont typeface="Mona Sans"/>
              <a:buNone/>
            </a:pPr>
            <a:r>
              <a:rPr b="0" i="0" lang="en-US" sz="40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Exploratory Data Analysis</a:t>
            </a:r>
            <a:endParaRPr b="0" i="0" sz="4000" u="none" cap="none" strike="noStrike"/>
          </a:p>
        </p:txBody>
      </p:sp>
      <p:sp>
        <p:nvSpPr>
          <p:cNvPr id="101" name="Google Shape;101;p15"/>
          <p:cNvSpPr/>
          <p:nvPr/>
        </p:nvSpPr>
        <p:spPr>
          <a:xfrm>
            <a:off x="793790" y="1464826"/>
            <a:ext cx="4744164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00"/>
              <a:buFont typeface="Mona Sans"/>
              <a:buNone/>
            </a:pPr>
            <a:r>
              <a:rPr b="0" i="0" lang="en-US" sz="20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Establishing Variable Interdependence</a:t>
            </a:r>
            <a:endParaRPr b="0" i="0" sz="2000" u="none" cap="none" strike="noStrike"/>
          </a:p>
        </p:txBody>
      </p:sp>
      <p:pic>
        <p:nvPicPr>
          <p:cNvPr descr="preencoded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65878"/>
            <a:ext cx="6254472" cy="500348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/>
          <p:nvPr/>
        </p:nvSpPr>
        <p:spPr>
          <a:xfrm>
            <a:off x="8248769" y="2441258"/>
            <a:ext cx="4976693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00"/>
              <a:buFont typeface="Mona Sans"/>
              <a:buNone/>
            </a:pPr>
            <a:r>
              <a:rPr b="0" i="0" lang="en-US" sz="20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Key Findings from the Correlation Matrix</a:t>
            </a:r>
            <a:endParaRPr b="0" i="0" sz="2000" u="none" cap="none" strike="noStrike"/>
          </a:p>
        </p:txBody>
      </p:sp>
      <p:pic>
        <p:nvPicPr>
          <p:cNvPr descr="preencoded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326" y="2973050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/>
          <p:nvPr/>
        </p:nvSpPr>
        <p:spPr>
          <a:xfrm>
            <a:off x="8912066" y="2966799"/>
            <a:ext cx="3190042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b="0" i="0" lang="en-US" sz="20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Near-Perfect Positive Link</a:t>
            </a:r>
            <a:endParaRPr b="0" i="0" sz="20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8912066" y="3469362"/>
            <a:ext cx="4932045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Traffic density vs. signal wait time: </a:t>
            </a:r>
            <a:r>
              <a:rPr b="1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+0.98</a:t>
            </a: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volume directly cascades into intersection delays.</a:t>
            </a:r>
            <a:endParaRPr b="0" i="0" sz="1600" u="none" cap="none" strike="noStrike"/>
          </a:p>
        </p:txBody>
      </p:sp>
      <p:pic>
        <p:nvPicPr>
          <p:cNvPr descr="preencoded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326" y="4463594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8912066" y="4457343"/>
            <a:ext cx="2567702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b="0" i="0" lang="en-US" sz="20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Strong Negative Link</a:t>
            </a:r>
            <a:endParaRPr b="0" i="0" sz="2000" u="none" cap="none" strike="noStrike"/>
          </a:p>
        </p:txBody>
      </p:sp>
      <p:sp>
        <p:nvSpPr>
          <p:cNvPr id="109" name="Google Shape;109;p15"/>
          <p:cNvSpPr/>
          <p:nvPr/>
        </p:nvSpPr>
        <p:spPr>
          <a:xfrm>
            <a:off x="8912066" y="4959906"/>
            <a:ext cx="4932045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Funnel San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Traffic density vs. average speed: </a:t>
            </a:r>
            <a:r>
              <a:rPr b="1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−0.93</a:t>
            </a: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congestion predictably suppresses vehicle velocity.</a:t>
            </a:r>
            <a:endParaRPr b="0" i="0" sz="1600" u="none" cap="none" strike="noStrike"/>
          </a:p>
        </p:txBody>
      </p:sp>
      <p:pic>
        <p:nvPicPr>
          <p:cNvPr descr="preencoded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5326" y="5954137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/>
          <p:nvPr/>
        </p:nvSpPr>
        <p:spPr>
          <a:xfrm>
            <a:off x="8912066" y="5947886"/>
            <a:ext cx="2551748" cy="318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00"/>
              <a:buFont typeface="Mona Sans"/>
              <a:buNone/>
            </a:pPr>
            <a:r>
              <a:rPr b="0" i="0" lang="en-US" sz="20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Stress Drivers</a:t>
            </a:r>
            <a:endParaRPr b="0" i="0" sz="2000" u="none" cap="none" strike="noStrike"/>
          </a:p>
        </p:txBody>
      </p:sp>
      <p:sp>
        <p:nvSpPr>
          <p:cNvPr id="112" name="Google Shape;112;p15"/>
          <p:cNvSpPr/>
          <p:nvPr/>
        </p:nvSpPr>
        <p:spPr>
          <a:xfrm>
            <a:off x="8912066" y="6450449"/>
            <a:ext cx="4932045" cy="62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stress_index</a:t>
            </a: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correlates strongly with density (</a:t>
            </a:r>
            <a:r>
              <a:rPr b="1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+0.85</a:t>
            </a: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) and signal wait (</a:t>
            </a:r>
            <a:r>
              <a:rPr b="1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+0.85</a:t>
            </a:r>
            <a:r>
              <a:rPr b="0" i="0" lang="en-US" sz="16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) — time lost equals frustration.</a:t>
            </a:r>
            <a:endParaRPr b="0" i="0" sz="1600" u="none" cap="none" strike="noStrike"/>
          </a:p>
        </p:txBody>
      </p:sp>
      <p:sp>
        <p:nvSpPr>
          <p:cNvPr id="113" name="Google Shape;113;p15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793790" y="903327"/>
            <a:ext cx="11732657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200"/>
              <a:buFont typeface="Mona Sans"/>
              <a:buNone/>
            </a:pPr>
            <a:r>
              <a:rPr b="0" i="0" lang="en-US" sz="4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Identifying Patterns — Unsupervised Learning</a:t>
            </a:r>
            <a:endParaRPr b="0" i="0" sz="42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793790" y="1658541"/>
            <a:ext cx="7965996" cy="336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100"/>
              <a:buFont typeface="Mona Sans"/>
              <a:buNone/>
            </a:pPr>
            <a:r>
              <a:rPr b="0" i="0" lang="en-US" sz="21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Discovering 3 Core Congestion States via K-Means Clustering</a:t>
            </a:r>
            <a:endParaRPr b="0" i="0" sz="2100" u="none" cap="none" strike="noStrike"/>
          </a:p>
        </p:txBody>
      </p:sp>
      <p:pic>
        <p:nvPicPr>
          <p:cNvPr descr="preencoded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84609"/>
            <a:ext cx="5945505" cy="445912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/>
          <p:nvPr/>
        </p:nvSpPr>
        <p:spPr>
          <a:xfrm>
            <a:off x="7585710" y="2532459"/>
            <a:ext cx="3026926" cy="2684026"/>
          </a:xfrm>
          <a:prstGeom prst="roundRect">
            <a:avLst>
              <a:gd fmla="val 337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7808714" y="2755463"/>
            <a:ext cx="2580918" cy="688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a San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🟢</a:t>
            </a:r>
            <a:r>
              <a:rPr b="0" i="0" lang="en-US" sz="21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Cluster 1 — Free Flowing</a:t>
            </a:r>
            <a:endParaRPr b="0" i="0" sz="21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7808714" y="3648551"/>
            <a:ext cx="2580918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Low density (&lt;40) · High speeds (60–90+ km/h) · Minimal driver stress.</a:t>
            </a:r>
            <a:endParaRPr b="0" i="0" sz="165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10817304" y="2532459"/>
            <a:ext cx="3026926" cy="2684026"/>
          </a:xfrm>
          <a:prstGeom prst="roundRect">
            <a:avLst>
              <a:gd fmla="val 3372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1040308" y="2755463"/>
            <a:ext cx="2580918" cy="1025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a San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🟣</a:t>
            </a:r>
            <a:r>
              <a:rPr b="0" i="0" lang="en-US" sz="21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Cluster 0 — Moderate Constraints</a:t>
            </a:r>
            <a:endParaRPr b="0" i="0" sz="2100" u="none" cap="none" strike="noStrike"/>
          </a:p>
        </p:txBody>
      </p:sp>
      <p:sp>
        <p:nvSpPr>
          <p:cNvPr id="127" name="Google Shape;127;p16"/>
          <p:cNvSpPr/>
          <p:nvPr/>
        </p:nvSpPr>
        <p:spPr>
          <a:xfrm>
            <a:off x="11040308" y="3985141"/>
            <a:ext cx="2580918" cy="100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Medium density (40–80) · Moderate speeds (40–70 km/h) · Growing friction.</a:t>
            </a:r>
            <a:endParaRPr b="0" i="0" sz="1650" u="none" cap="none" strike="noStrike"/>
          </a:p>
        </p:txBody>
      </p:sp>
      <p:sp>
        <p:nvSpPr>
          <p:cNvPr id="128" name="Google Shape;128;p16"/>
          <p:cNvSpPr/>
          <p:nvPr/>
        </p:nvSpPr>
        <p:spPr>
          <a:xfrm>
            <a:off x="7585710" y="5421154"/>
            <a:ext cx="6258520" cy="1674733"/>
          </a:xfrm>
          <a:prstGeom prst="roundRect">
            <a:avLst>
              <a:gd fmla="val 5404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808714" y="5644158"/>
            <a:ext cx="4293632" cy="351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a San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🟡</a:t>
            </a:r>
            <a:r>
              <a:rPr b="0" i="0" lang="en-US" sz="21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Cluster 2 — Severe Congestion</a:t>
            </a:r>
            <a:endParaRPr b="0" i="0" sz="2100" u="none" cap="none" strike="noStrike"/>
          </a:p>
        </p:txBody>
      </p:sp>
      <p:sp>
        <p:nvSpPr>
          <p:cNvPr id="130" name="Google Shape;130;p16"/>
          <p:cNvSpPr/>
          <p:nvPr/>
        </p:nvSpPr>
        <p:spPr>
          <a:xfrm>
            <a:off x="7808714" y="6200656"/>
            <a:ext cx="5812512" cy="67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High density (80–120) · Very low speeds (down to 20 km/h) · Peak stress zone.</a:t>
            </a:r>
            <a:endParaRPr b="0" i="0" sz="1650" u="none" cap="none" strike="noStrike"/>
          </a:p>
        </p:txBody>
      </p:sp>
      <p:sp>
        <p:nvSpPr>
          <p:cNvPr id="131" name="Google Shape;131;p16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/>
          <p:nvPr/>
        </p:nvSpPr>
        <p:spPr>
          <a:xfrm>
            <a:off x="793790" y="1716524"/>
            <a:ext cx="1280291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Predicting Traffic Stress — Supervised Learning</a:t>
            </a:r>
            <a:endParaRPr b="0" i="0" sz="445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793790" y="2516029"/>
            <a:ext cx="7919680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Modeling the Stress Index with Random Forest Regression</a:t>
            </a:r>
            <a:endParaRPr b="0" i="0" sz="220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630436" y="3210520"/>
            <a:ext cx="6571417" cy="3302556"/>
          </a:xfrm>
          <a:prstGeom prst="roundRect">
            <a:avLst>
              <a:gd fmla="val 4945" name="adj"/>
            </a:avLst>
          </a:prstGeom>
          <a:solidFill>
            <a:srgbClr val="373B48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857250" y="3437334"/>
            <a:ext cx="293858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Why Random Forest?</a:t>
            </a:r>
            <a:endParaRPr b="0" i="0" sz="220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857250" y="4018478"/>
            <a:ext cx="6117788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Traffic behavior is inherently </a:t>
            </a:r>
            <a:r>
              <a:rPr b="1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non-linear</a:t>
            </a:r>
            <a:r>
              <a:rPr b="0" i="0" lang="en-US" sz="1750" u="none" cap="none" strike="noStrike">
                <a:solidFill>
                  <a:srgbClr val="FFFFFF"/>
                </a:solidFill>
                <a:latin typeface="Funnel Sans"/>
                <a:ea typeface="Funnel Sans"/>
                <a:cs typeface="Funnel Sans"/>
                <a:sym typeface="Funnel Sans"/>
              </a:rPr>
              <a:t> — weather and density interact in unpredictable ways. A single decision tree would overfit; an ensemble of trees generalizes robustly.</a:t>
            </a:r>
            <a:endParaRPr b="0" i="0" sz="1750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7599521" y="34373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Model Design</a:t>
            </a:r>
            <a:endParaRPr b="0" i="0" sz="220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7599521" y="4018478"/>
            <a:ext cx="6244709" cy="2415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Algorithm: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Random Forest Regressor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Target: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Continuous </a:t>
            </a:r>
            <a:r>
              <a:rPr b="0" i="0" lang="en-US" sz="17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stress_index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(0–100)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Strength: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Ensemble approach reduces variance and handles outliers gracefully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Input features: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All preprocessed traffic and environmental variables</a:t>
            </a:r>
            <a:endParaRPr b="0" i="0" sz="175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58368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840" y="1828800"/>
            <a:ext cx="6096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7377470" y="12328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Results at a Glance</a:t>
            </a:r>
            <a:endParaRPr b="0" i="0" sz="220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7377470" y="1677948"/>
            <a:ext cx="645914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"/>
              <a:buNone/>
            </a:pPr>
            <a:r>
              <a:rPr b="0" i="0" lang="en-US" sz="4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Model Evaluation — Prediction Accuracy</a:t>
            </a:r>
            <a:endParaRPr b="0" i="0" sz="4450" u="none" cap="none" strike="noStrike"/>
          </a:p>
        </p:txBody>
      </p:sp>
      <p:sp>
        <p:nvSpPr>
          <p:cNvPr id="154" name="Google Shape;154;p18"/>
          <p:cNvSpPr/>
          <p:nvPr/>
        </p:nvSpPr>
        <p:spPr>
          <a:xfrm>
            <a:off x="7377470" y="3435668"/>
            <a:ext cx="6459141" cy="1966198"/>
          </a:xfrm>
          <a:prstGeom prst="roundRect">
            <a:avLst>
              <a:gd fmla="val 7441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7346990" y="3435668"/>
            <a:ext cx="121920" cy="1966198"/>
          </a:xfrm>
          <a:prstGeom prst="roundRect">
            <a:avLst>
              <a:gd fmla="val 7813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726204" y="3692962"/>
            <a:ext cx="5853112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Predicted values cluster tightly around the </a:t>
            </a: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perfect-accuracy reference line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, confirming minimal systematic bias. The model generalizes confidently across low, moderate, and severe congestion states.</a:t>
            </a:r>
            <a:endParaRPr b="0" i="0" sz="175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7377470" y="5628680"/>
            <a:ext cx="6459141" cy="1367909"/>
          </a:xfrm>
          <a:prstGeom prst="roundRect">
            <a:avLst>
              <a:gd fmla="val 10695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7346990" y="5628680"/>
            <a:ext cx="121920" cy="1367909"/>
          </a:xfrm>
          <a:prstGeom prst="roundRect">
            <a:avLst>
              <a:gd fmla="val 7813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726204" y="588597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"/>
              <a:buNone/>
            </a:pPr>
            <a:r>
              <a:rPr b="0" i="0" lang="en-US" sz="22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R² Score</a:t>
            </a:r>
            <a:endParaRPr b="0" i="0" sz="22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7726204" y="6376392"/>
            <a:ext cx="585311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Excellent explanatory power across all traffic conditions</a:t>
            </a:r>
            <a:endParaRPr b="0" i="0" sz="17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793790" y="989528"/>
            <a:ext cx="5904786" cy="5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550"/>
              <a:buFont typeface="Mona Sans"/>
              <a:buNone/>
            </a:pPr>
            <a:r>
              <a:rPr b="0" i="0" lang="en-US" sz="35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What Drives Traffic Stress?</a:t>
            </a:r>
            <a:endParaRPr b="0" i="0" sz="355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793790" y="1614488"/>
            <a:ext cx="5106114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750"/>
              <a:buFont typeface="Mona Sans"/>
              <a:buNone/>
            </a:pPr>
            <a:r>
              <a:rPr b="0" i="0" lang="en-US" sz="17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Feature Importance Analysis — Random Forest</a:t>
            </a:r>
            <a:endParaRPr b="0" i="0" sz="1750" u="none" cap="none" strike="noStrike"/>
          </a:p>
        </p:txBody>
      </p:sp>
      <p:pic>
        <p:nvPicPr>
          <p:cNvPr descr="preencoded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4486" y="2829163"/>
            <a:ext cx="6162080" cy="369724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/>
          <p:nvPr/>
        </p:nvSpPr>
        <p:spPr>
          <a:xfrm>
            <a:off x="9027557" y="2260759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750"/>
              <a:buFont typeface="Mona Sans"/>
              <a:buNone/>
            </a:pPr>
            <a:r>
              <a:rPr b="0" i="0" lang="en-US" sz="17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Key Findings</a:t>
            </a:r>
            <a:endParaRPr b="0" i="0" sz="175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9027557" y="2707481"/>
            <a:ext cx="4816554" cy="1359694"/>
          </a:xfrm>
          <a:prstGeom prst="roundRect">
            <a:avLst>
              <a:gd fmla="val 807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9004697" y="2707481"/>
            <a:ext cx="91440" cy="1359694"/>
          </a:xfrm>
          <a:prstGeom prst="roundRect">
            <a:avLst>
              <a:gd fmla="val 8334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9300448" y="2911792"/>
            <a:ext cx="226826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a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🥇</a:t>
            </a:r>
            <a:r>
              <a:rPr b="0" i="0" lang="en-US" sz="17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Traffic Density</a:t>
            </a:r>
            <a:endParaRPr b="0" i="0" sz="1750" u="none" cap="none" strike="noStrike"/>
          </a:p>
        </p:txBody>
      </p:sp>
      <p:sp>
        <p:nvSpPr>
          <p:cNvPr id="174" name="Google Shape;174;p19"/>
          <p:cNvSpPr/>
          <p:nvPr/>
        </p:nvSpPr>
        <p:spPr>
          <a:xfrm>
            <a:off x="9300448" y="3340418"/>
            <a:ext cx="4339352" cy="522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</a:t>
            </a:r>
            <a:r>
              <a:rPr b="1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dominant factor</a:t>
            </a:r>
            <a:r>
              <a:rPr b="0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the single greatest trigger of driver stress in urban settings.</a:t>
            </a:r>
            <a:endParaRPr b="0" i="0" sz="140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9027557" y="4212312"/>
            <a:ext cx="4816554" cy="1359694"/>
          </a:xfrm>
          <a:prstGeom prst="roundRect">
            <a:avLst>
              <a:gd fmla="val 807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9004697" y="4212312"/>
            <a:ext cx="91440" cy="1359694"/>
          </a:xfrm>
          <a:prstGeom prst="roundRect">
            <a:avLst>
              <a:gd fmla="val 8334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9300448" y="4416623"/>
            <a:ext cx="3982283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a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🥈</a:t>
            </a:r>
            <a:r>
              <a:rPr b="0" i="0" lang="en-US" sz="17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Road Quality &amp; Driver Experience</a:t>
            </a:r>
            <a:endParaRPr b="0" i="0" sz="1750" u="none" cap="none" strike="noStrike"/>
          </a:p>
        </p:txBody>
      </p:sp>
      <p:sp>
        <p:nvSpPr>
          <p:cNvPr id="178" name="Google Shape;178;p19"/>
          <p:cNvSpPr/>
          <p:nvPr/>
        </p:nvSpPr>
        <p:spPr>
          <a:xfrm>
            <a:off x="9300448" y="4845248"/>
            <a:ext cx="4339352" cy="522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Ranked as distant second and third — meaningful but secondary contributors to stress levels.</a:t>
            </a:r>
            <a:endParaRPr b="0" i="0" sz="140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9027557" y="5717143"/>
            <a:ext cx="4816554" cy="1359694"/>
          </a:xfrm>
          <a:prstGeom prst="roundRect">
            <a:avLst>
              <a:gd fmla="val 8070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9004697" y="5717143"/>
            <a:ext cx="91440" cy="1359694"/>
          </a:xfrm>
          <a:prstGeom prst="roundRect">
            <a:avLst>
              <a:gd fmla="val 83349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9300448" y="5921454"/>
            <a:ext cx="3324820" cy="283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a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Mona Sans"/>
                <a:ea typeface="Mona Sans"/>
                <a:cs typeface="Mona Sans"/>
                <a:sym typeface="Mona Sans"/>
              </a:rPr>
              <a:t>🌧️</a:t>
            </a:r>
            <a:r>
              <a:rPr b="0" i="0" lang="en-US" sz="175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 Weather — Surprisingly Low</a:t>
            </a:r>
            <a:endParaRPr b="0" i="0" sz="175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9300448" y="6350079"/>
            <a:ext cx="4339352" cy="522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42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400"/>
              <a:buFont typeface="Funnel Sans"/>
              <a:buNone/>
            </a:pPr>
            <a:r>
              <a:rPr b="0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Rainy and foggy conditions had the </a:t>
            </a:r>
            <a:r>
              <a:rPr b="1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lowest direct impact</a:t>
            </a:r>
            <a:r>
              <a:rPr b="0" i="0" lang="en-US" sz="14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on the model's stress predictions.</a:t>
            </a:r>
            <a:endParaRPr b="0" i="0" sz="140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/>
          <p:nvPr/>
        </p:nvSpPr>
        <p:spPr>
          <a:xfrm>
            <a:off x="793790" y="762119"/>
            <a:ext cx="5811322" cy="460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900"/>
              <a:buFont typeface="Mona Sans"/>
              <a:buNone/>
            </a:pPr>
            <a:r>
              <a:rPr b="0" i="0" lang="en-US" sz="290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Conclusion &amp; Real-World Impact</a:t>
            </a:r>
            <a:endParaRPr b="0" i="0" sz="290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793790" y="1462326"/>
            <a:ext cx="1842968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50"/>
              <a:buFont typeface="Mona Sans"/>
              <a:buNone/>
            </a:pPr>
            <a:r>
              <a:rPr b="0" i="0" lang="en-US" sz="1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What We Achieved</a:t>
            </a:r>
            <a:endParaRPr b="0" i="0" sz="1450" u="none" cap="none" strike="noStrike"/>
          </a:p>
        </p:txBody>
      </p:sp>
      <p:sp>
        <p:nvSpPr>
          <p:cNvPr id="191" name="Google Shape;191;p20"/>
          <p:cNvSpPr/>
          <p:nvPr/>
        </p:nvSpPr>
        <p:spPr>
          <a:xfrm>
            <a:off x="793790" y="1788438"/>
            <a:ext cx="6341626" cy="194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Our dual-model pipeline fully addressed the project objective:</a:t>
            </a:r>
            <a:endParaRPr b="0" i="0" sz="115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793790" y="2069187"/>
            <a:ext cx="6341626" cy="650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Funnel Sans"/>
              <a:buNone/>
            </a:pPr>
            <a:r>
              <a:rPr b="1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K-Means Clustering</a:t>
            </a:r>
            <a:r>
              <a:rPr b="0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visually segmented traffic into 3 interpretable congestion states</a:t>
            </a:r>
            <a:endParaRPr b="0" i="0" sz="1150" u="none" cap="none" strike="noStrike"/>
          </a:p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Funnel Sans"/>
              <a:buNone/>
            </a:pPr>
            <a:r>
              <a:rPr b="1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Random Forest Regression</a:t>
            </a:r>
            <a:r>
              <a:rPr b="0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(R² ≈ 0.90) structurally ranked the root causes of driver stress</a:t>
            </a:r>
            <a:endParaRPr b="0" i="0" sz="1150" u="none" cap="none" strike="noStrike"/>
          </a:p>
          <a:p>
            <a:pPr indent="-342900" lvl="0" marL="34290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Funnel Sans"/>
              <a:buChar char="•"/>
            </a:pPr>
            <a:r>
              <a:rPr b="0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Together, they transform raw sensor data into actionable urban insight</a:t>
            </a:r>
            <a:endParaRPr b="0" i="0" sz="115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7502604" y="1462326"/>
            <a:ext cx="2093000" cy="2303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450"/>
              <a:buFont typeface="Mona Sans"/>
              <a:buNone/>
            </a:pPr>
            <a:r>
              <a:rPr b="0" i="0" lang="en-US" sz="1450" u="none" cap="none" strike="noStrike">
                <a:solidFill>
                  <a:srgbClr val="373B48"/>
                </a:solidFill>
                <a:latin typeface="Mona Sans"/>
                <a:ea typeface="Mona Sans"/>
                <a:cs typeface="Mona Sans"/>
                <a:sym typeface="Mona Sans"/>
              </a:rPr>
              <a:t>Smart City Deployment</a:t>
            </a:r>
            <a:endParaRPr b="0" i="0" sz="14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7502604" y="1800463"/>
            <a:ext cx="6341626" cy="876062"/>
          </a:xfrm>
          <a:prstGeom prst="roundRect">
            <a:avLst>
              <a:gd fmla="val 7068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0004" y="2000369"/>
            <a:ext cx="184190" cy="14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/>
          <p:nvPr/>
        </p:nvSpPr>
        <p:spPr>
          <a:xfrm>
            <a:off x="7981593" y="1932980"/>
            <a:ext cx="5715238" cy="583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These models could be integrated into smart-city infrastructure to </a:t>
            </a:r>
            <a:r>
              <a:rPr b="1" i="0" lang="en-US" sz="11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dynamically adjust traffic light timings</a:t>
            </a:r>
            <a:r>
              <a:rPr b="0" i="0" lang="en-US" sz="11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when a sector enters Cluster 2 (Severe Congestion) — proactively reducing peak-stress conditions before they escalate.</a:t>
            </a:r>
            <a:endParaRPr b="0" i="0" sz="1150" u="none" cap="none" strike="noStrike"/>
          </a:p>
        </p:txBody>
      </p:sp>
      <p:sp>
        <p:nvSpPr>
          <p:cNvPr id="197" name="Google Shape;197;p20"/>
          <p:cNvSpPr/>
          <p:nvPr/>
        </p:nvSpPr>
        <p:spPr>
          <a:xfrm>
            <a:off x="7502604" y="2784277"/>
            <a:ext cx="6341626" cy="389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Data-driven signal control, powered by ML, is a practical and scalable path toward safer, less stressful urban mobility.</a:t>
            </a:r>
            <a:endParaRPr b="0" i="0" sz="1150" u="none" cap="none" strike="noStrike"/>
          </a:p>
        </p:txBody>
      </p:sp>
      <p:pic>
        <p:nvPicPr>
          <p:cNvPr descr="preencoded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4798" y="3367326"/>
            <a:ext cx="8340804" cy="410015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7226169" y="3744561"/>
            <a:ext cx="1907449" cy="23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"/>
              <a:buNone/>
            </a:pPr>
            <a:r>
              <a:rPr b="0" i="0" lang="en-US" sz="15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Key Driver</a:t>
            </a:r>
            <a:endParaRPr b="0" i="0" sz="1500" u="none" cap="none" strike="noStrike"/>
          </a:p>
        </p:txBody>
      </p:sp>
      <p:sp>
        <p:nvSpPr>
          <p:cNvPr id="200" name="Google Shape;200;p20"/>
          <p:cNvSpPr/>
          <p:nvPr/>
        </p:nvSpPr>
        <p:spPr>
          <a:xfrm>
            <a:off x="7226169" y="4050813"/>
            <a:ext cx="3857285" cy="15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Funnel Sans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Traffic Density top, R² = 0.90</a:t>
            </a:r>
            <a:endParaRPr b="0" i="0" sz="1200" u="none" cap="none" strike="noStrike"/>
          </a:p>
        </p:txBody>
      </p:sp>
      <p:pic>
        <p:nvPicPr>
          <p:cNvPr descr="preencoded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51677" y="3840728"/>
            <a:ext cx="271282" cy="27128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/>
          <p:nvPr/>
        </p:nvSpPr>
        <p:spPr>
          <a:xfrm>
            <a:off x="7226169" y="4702525"/>
            <a:ext cx="1907449" cy="23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"/>
              <a:buNone/>
            </a:pPr>
            <a:r>
              <a:rPr b="0" i="0" lang="en-US" sz="15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Phase 2: Analyze</a:t>
            </a:r>
            <a:endParaRPr b="0" i="0" sz="150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7226169" y="5008776"/>
            <a:ext cx="3857285" cy="1573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Funnel Sans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Random Forest ranks drivers</a:t>
            </a:r>
            <a:endParaRPr b="0" i="0" sz="1200" u="none" cap="none" strike="noStrike"/>
          </a:p>
        </p:txBody>
      </p:sp>
      <p:pic>
        <p:nvPicPr>
          <p:cNvPr descr="preencoded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51677" y="4671528"/>
            <a:ext cx="271282" cy="27128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/>
          <p:nvPr/>
        </p:nvSpPr>
        <p:spPr>
          <a:xfrm>
            <a:off x="7226169" y="5660488"/>
            <a:ext cx="1907449" cy="23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"/>
              <a:buNone/>
            </a:pPr>
            <a:r>
              <a:rPr b="0" i="0" lang="en-US" sz="15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Interpret Patterns</a:t>
            </a:r>
            <a:endParaRPr b="0" i="0" sz="150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7226169" y="5966739"/>
            <a:ext cx="3857285" cy="15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Funnel Sans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Free Flow, Moderate, Severe</a:t>
            </a:r>
            <a:endParaRPr b="0" i="0" sz="1200" u="none" cap="none" strike="noStrike"/>
          </a:p>
        </p:txBody>
      </p:sp>
      <p:pic>
        <p:nvPicPr>
          <p:cNvPr descr="preencoded.png" id="207" name="Google Shape;20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51677" y="5493851"/>
            <a:ext cx="271282" cy="27128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7234647" y="6618451"/>
            <a:ext cx="1907449" cy="238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"/>
              <a:buNone/>
            </a:pPr>
            <a:r>
              <a:rPr b="0" i="0" lang="en-US" sz="1500" u="none" cap="none" strike="noStrike">
                <a:solidFill>
                  <a:srgbClr val="52586B"/>
                </a:solidFill>
                <a:latin typeface="Mona Sans"/>
                <a:ea typeface="Mona Sans"/>
                <a:cs typeface="Mona Sans"/>
                <a:sym typeface="Mona Sans"/>
              </a:rPr>
              <a:t>Phase 1: Discover</a:t>
            </a:r>
            <a:endParaRPr b="0" i="0" sz="150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>
            <a:off x="7234647" y="6924702"/>
            <a:ext cx="3857285" cy="15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200"/>
              <a:buFont typeface="Funnel Sans"/>
              <a:buNone/>
            </a:pPr>
            <a:r>
              <a:rPr b="0" i="0" lang="en-US" sz="12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K-Means finds 3 congestion clusters</a:t>
            </a:r>
            <a:endParaRPr b="0" i="0" sz="1200" u="none" cap="none" strike="noStrike"/>
          </a:p>
        </p:txBody>
      </p:sp>
      <p:pic>
        <p:nvPicPr>
          <p:cNvPr descr="preencoded.png" id="210" name="Google Shape;21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51677" y="6451814"/>
            <a:ext cx="271282" cy="2712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12724425" y="7570225"/>
            <a:ext cx="1839000" cy="563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