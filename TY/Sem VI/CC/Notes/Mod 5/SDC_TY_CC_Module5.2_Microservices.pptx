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60" r:id="rId3"/>
    <p:sldId id="258" r:id="rId4"/>
    <p:sldId id="270" r:id="rId5"/>
    <p:sldId id="259" r:id="rId6"/>
    <p:sldId id="271" r:id="rId7"/>
    <p:sldId id="261" r:id="rId8"/>
    <p:sldId id="263" r:id="rId9"/>
    <p:sldId id="262" r:id="rId10"/>
    <p:sldId id="264" r:id="rId11"/>
    <p:sldId id="272" r:id="rId12"/>
    <p:sldId id="273" r:id="rId13"/>
    <p:sldId id="274" r:id="rId14"/>
    <p:sldId id="275" r:id="rId15"/>
    <p:sldId id="276" r:id="rId16"/>
    <p:sldId id="277" r:id="rId17"/>
    <p:sldId id="265" r:id="rId18"/>
    <p:sldId id="266" r:id="rId19"/>
    <p:sldId id="267" r:id="rId20"/>
    <p:sldId id="268" r:id="rId21"/>
    <p:sldId id="269" r:id="rId22"/>
    <p:sldId id="278" r:id="rId23"/>
    <p:sldId id="288" r:id="rId24"/>
    <p:sldId id="280" r:id="rId25"/>
    <p:sldId id="279" r:id="rId26"/>
    <p:sldId id="281" r:id="rId27"/>
    <p:sldId id="284" r:id="rId28"/>
    <p:sldId id="285" r:id="rId29"/>
    <p:sldId id="282" r:id="rId30"/>
    <p:sldId id="283" r:id="rId31"/>
    <p:sldId id="286" r:id="rId32"/>
    <p:sldId id="287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01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BDFAF-ACAB-47A8-9719-672C764A93D7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C3FCE-4713-42AE-93B3-3186575434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174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8A2DD-E4C1-4436-9975-348D8B49318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C9FEE-13AF-416B-9E48-4924EF506F6B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C9D3D-87D9-4344-8352-214EAA16822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99CC-8895-486D-8B6C-12777443ED86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69B80-5E31-49BC-A857-3F564EC71320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EB2A0-4EB1-4AB4-A63B-36F058CFDEB5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712B2-EBF5-4B8D-BD94-55A35FE0431A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7E2E-2AA6-42DB-8814-AFCC778B562E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4C60-B8F6-439B-BD57-AB7BD6629EA8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BB656-B585-4EDA-8BE1-2DEE6D34903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DA37-66F5-4DB4-8BB9-A62129046CC1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DC7A9-9FD2-48BA-88B9-ADDEA05350C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Microservices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86D69-2CC6-4815-BA3D-E1796D41BBFD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25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err="1"/>
              <a:t>Microservices</a:t>
            </a:r>
            <a:r>
              <a:rPr lang="en-US" sz="2400" dirty="0"/>
              <a:t> are an architectural and organizational </a:t>
            </a:r>
            <a:r>
              <a:rPr lang="en-US" sz="2400" b="1" dirty="0">
                <a:solidFill>
                  <a:srgbClr val="FF0000"/>
                </a:solidFill>
              </a:rPr>
              <a:t>approach to software development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where </a:t>
            </a:r>
            <a:r>
              <a:rPr lang="en-US" sz="2400" b="1" dirty="0">
                <a:solidFill>
                  <a:srgbClr val="FF0000"/>
                </a:solidFill>
              </a:rPr>
              <a:t>software is composed of small independent services that communicate over well-defined APIs. 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r>
              <a:rPr lang="en-US" sz="2400" b="1" dirty="0" smtClean="0">
                <a:solidFill>
                  <a:srgbClr val="FF0000"/>
                </a:solidFill>
              </a:rPr>
              <a:t>These </a:t>
            </a:r>
            <a:r>
              <a:rPr lang="en-US" sz="2400" b="1" dirty="0">
                <a:solidFill>
                  <a:srgbClr val="FF0000"/>
                </a:solidFill>
              </a:rPr>
              <a:t>services are owned by small, self-contained teams.</a:t>
            </a:r>
          </a:p>
          <a:p>
            <a:endParaRPr lang="en-US" sz="2400" dirty="0" smtClean="0"/>
          </a:p>
          <a:p>
            <a:endParaRPr lang="en-US" sz="2400" dirty="0"/>
          </a:p>
          <a:p>
            <a:r>
              <a:rPr lang="en-US" sz="2400" dirty="0" err="1" smtClean="0"/>
              <a:t>Microservices</a:t>
            </a:r>
            <a:r>
              <a:rPr lang="en-US" sz="2400" dirty="0" smtClean="0"/>
              <a:t> </a:t>
            </a:r>
            <a:r>
              <a:rPr lang="en-US" sz="2400" dirty="0"/>
              <a:t>architectures make applications </a:t>
            </a:r>
            <a:r>
              <a:rPr lang="en-US" sz="2400" b="1" dirty="0"/>
              <a:t>easier to scale and faster to develop</a:t>
            </a:r>
            <a:r>
              <a:rPr lang="en-US" sz="2400" dirty="0"/>
              <a:t>, enabling innovation and accelerating time-to-market for new features</a:t>
            </a:r>
            <a:r>
              <a:rPr lang="en-US" sz="2400" dirty="0" smtClean="0"/>
              <a:t>.</a:t>
            </a:r>
          </a:p>
          <a:p>
            <a:pPr marL="0" indent="0" algn="r">
              <a:buNone/>
            </a:pPr>
            <a:r>
              <a:rPr lang="en-US" sz="2400" dirty="0" smtClean="0"/>
              <a:t>	-Amazon AWS</a:t>
            </a:r>
            <a:endParaRPr lang="en-US" sz="2400" dirty="0"/>
          </a:p>
          <a:p>
            <a:endParaRPr lang="en-IN" sz="2800" dirty="0"/>
          </a:p>
        </p:txBody>
      </p:sp>
      <p:sp>
        <p:nvSpPr>
          <p:cNvPr id="4" name="Down Arrow 3"/>
          <p:cNvSpPr/>
          <p:nvPr/>
        </p:nvSpPr>
        <p:spPr>
          <a:xfrm>
            <a:off x="3886200" y="3505200"/>
            <a:ext cx="4572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8600" y="6019800"/>
            <a:ext cx="39784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https://aws.amazon.com/microservices/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E8E05-623A-4B99-A9EA-C279D3E55A68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67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</a:t>
            </a:r>
            <a:r>
              <a:rPr lang="en-US" sz="2400" dirty="0" smtClean="0"/>
              <a:t>lso </a:t>
            </a:r>
            <a:r>
              <a:rPr lang="en-US" sz="2400" dirty="0"/>
              <a:t>known as the </a:t>
            </a:r>
            <a:r>
              <a:rPr lang="en-US" sz="2400" dirty="0" err="1"/>
              <a:t>microservice</a:t>
            </a:r>
            <a:r>
              <a:rPr lang="en-US" sz="2400" dirty="0"/>
              <a:t> architecture </a:t>
            </a:r>
          </a:p>
          <a:p>
            <a:r>
              <a:rPr lang="en-US" sz="2400" dirty="0" smtClean="0"/>
              <a:t>An </a:t>
            </a:r>
            <a:r>
              <a:rPr lang="en-US" sz="2400" dirty="0"/>
              <a:t>architectural style that structures an application as a </a:t>
            </a:r>
            <a:r>
              <a:rPr lang="en-US" sz="2400" b="1" dirty="0">
                <a:solidFill>
                  <a:srgbClr val="FF0000"/>
                </a:solidFill>
              </a:rPr>
              <a:t>collection of services that are:</a:t>
            </a:r>
          </a:p>
          <a:p>
            <a:pPr lvl="1"/>
            <a:r>
              <a:rPr lang="en-US" sz="2400" b="1" dirty="0" smtClean="0">
                <a:solidFill>
                  <a:srgbClr val="FF0000"/>
                </a:solidFill>
              </a:rPr>
              <a:t>Independently </a:t>
            </a:r>
            <a:r>
              <a:rPr lang="en-US" sz="2400" b="1" dirty="0">
                <a:solidFill>
                  <a:srgbClr val="FF0000"/>
                </a:solidFill>
              </a:rPr>
              <a:t>deployable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Loosely coupled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Organized around business capabilities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</a:rPr>
              <a:t>Owned by a small </a:t>
            </a:r>
            <a:r>
              <a:rPr lang="en-US" sz="2400" b="1" dirty="0" smtClean="0">
                <a:solidFill>
                  <a:srgbClr val="FF0000"/>
                </a:solidFill>
              </a:rPr>
              <a:t>team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12F31-BF56-45A6-B5D9-3ED6BB97C38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28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“Do one thing and do it well”: the </a:t>
            </a:r>
            <a:r>
              <a:rPr lang="en-US" dirty="0" smtClean="0"/>
              <a:t>motto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Projects </a:t>
            </a:r>
            <a:r>
              <a:rPr lang="en-US" sz="2400" dirty="0"/>
              <a:t>that are considered to be “</a:t>
            </a:r>
            <a:r>
              <a:rPr lang="en-US" sz="2400" dirty="0" err="1"/>
              <a:t>microservices</a:t>
            </a:r>
            <a:r>
              <a:rPr lang="en-US" sz="2400" dirty="0"/>
              <a:t>” follow Ken Thompson’s </a:t>
            </a:r>
            <a:r>
              <a:rPr lang="en-US" sz="2400" b="1" dirty="0"/>
              <a:t>Unix philosophy</a:t>
            </a:r>
            <a:r>
              <a:rPr lang="en-US" sz="2400" dirty="0"/>
              <a:t>: </a:t>
            </a:r>
            <a:endParaRPr lang="en-US" sz="2400" dirty="0" smtClean="0"/>
          </a:p>
          <a:p>
            <a:r>
              <a:rPr lang="en-US" sz="2400" b="1" dirty="0" smtClean="0"/>
              <a:t>“</a:t>
            </a:r>
            <a:r>
              <a:rPr lang="en-US" sz="2400" b="1" dirty="0"/>
              <a:t>Do one thing and do it well”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can be summarized as: focus on one task, and perfect it.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statement is not just relevant to programming, but also describes the functionality of individual </a:t>
            </a:r>
            <a:r>
              <a:rPr lang="en-US" sz="2400" dirty="0" err="1"/>
              <a:t>microservices</a:t>
            </a:r>
            <a:r>
              <a:rPr lang="en-US" sz="2400" dirty="0"/>
              <a:t>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5BA9A-43F9-49D4-92AE-0B50B950F748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Microservice</a:t>
            </a:r>
            <a:r>
              <a:rPr lang="en-US" sz="2400" dirty="0"/>
              <a:t> architecture is basically a </a:t>
            </a:r>
            <a:r>
              <a:rPr lang="en-US" sz="2400" b="1" dirty="0"/>
              <a:t>further development of service-oriented architecture</a:t>
            </a:r>
            <a:r>
              <a:rPr lang="en-US" sz="2400" dirty="0"/>
              <a:t> (SOA): small services also play a role in this architectural pattern</a:t>
            </a:r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B7677-2C6E-4C55-82C9-F24863451AAA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08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err="1"/>
              <a:t>microservice</a:t>
            </a:r>
            <a:r>
              <a:rPr lang="en-US" sz="2400" dirty="0"/>
              <a:t> architecture enables an organization to deliver large, complex applications </a:t>
            </a:r>
            <a:endParaRPr lang="en-US" sz="2400" dirty="0" smtClean="0"/>
          </a:p>
          <a:p>
            <a:r>
              <a:rPr lang="en-US" sz="2400" dirty="0" smtClean="0"/>
              <a:t>rapidly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frequently</a:t>
            </a:r>
            <a:r>
              <a:rPr lang="en-US" sz="2400" dirty="0"/>
              <a:t>, </a:t>
            </a:r>
            <a:endParaRPr lang="en-US" sz="2400" dirty="0" smtClean="0"/>
          </a:p>
          <a:p>
            <a:r>
              <a:rPr lang="en-US" sz="2400" dirty="0" smtClean="0"/>
              <a:t>reliably </a:t>
            </a:r>
            <a:r>
              <a:rPr lang="en-US" sz="2400" dirty="0"/>
              <a:t>and </a:t>
            </a:r>
            <a:endParaRPr lang="en-US" sz="2400" dirty="0" smtClean="0"/>
          </a:p>
          <a:p>
            <a:r>
              <a:rPr lang="en-US" sz="2400" dirty="0" smtClean="0"/>
              <a:t>sustainably </a:t>
            </a:r>
            <a:r>
              <a:rPr lang="en-US" sz="2400" dirty="0"/>
              <a:t>- a necessity for competing and winning in today’s world.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445DF-644A-4CB3-BBB5-BDF4BDE1A61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69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With </a:t>
            </a:r>
            <a:r>
              <a:rPr lang="en-US" sz="2400" dirty="0"/>
              <a:t>monolithic architectures, </a:t>
            </a:r>
            <a:r>
              <a:rPr lang="en-US" sz="2400" b="1" dirty="0"/>
              <a:t>all processes are tightly coupled and run as a single service. </a:t>
            </a:r>
            <a:endParaRPr lang="en-US" sz="2400" b="1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means that </a:t>
            </a:r>
            <a:r>
              <a:rPr lang="en-US" sz="2400" b="1" dirty="0"/>
              <a:t>if one process of the application experiences a spike in demand, the entire architecture must be scaled. </a:t>
            </a:r>
            <a:endParaRPr lang="en-US" sz="2400" b="1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3533775"/>
            <a:ext cx="46767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AF9A-D253-4AEF-AF4D-5A2D341B812C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71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Adding </a:t>
            </a:r>
            <a:r>
              <a:rPr lang="en-US" sz="2400" b="1" dirty="0"/>
              <a:t>or improving a monolithic application’s features becomes more complex </a:t>
            </a:r>
            <a:r>
              <a:rPr lang="en-US" sz="2400" dirty="0"/>
              <a:t>as the code base grows. This complexity limits experimentation and makes it difficult to implement new ideas. </a:t>
            </a:r>
            <a:endParaRPr lang="en-US" sz="2400" dirty="0" smtClean="0"/>
          </a:p>
          <a:p>
            <a:r>
              <a:rPr lang="en-US" sz="2400" dirty="0" smtClean="0"/>
              <a:t>Monolithic </a:t>
            </a:r>
            <a:r>
              <a:rPr lang="en-US" sz="2400" dirty="0"/>
              <a:t>architectures add risk for application availability because </a:t>
            </a:r>
            <a:r>
              <a:rPr lang="en-US" sz="2400" b="1" dirty="0"/>
              <a:t>many dependent and tightly coupled processes increase the impact of a single process failure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613" y="3914775"/>
            <a:ext cx="467677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78B0C-F481-4D9C-96E6-827438183F4A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With </a:t>
            </a:r>
            <a:r>
              <a:rPr lang="en-US" sz="2400" dirty="0"/>
              <a:t>a </a:t>
            </a:r>
            <a:r>
              <a:rPr lang="en-US" sz="2400" dirty="0" err="1"/>
              <a:t>microservices</a:t>
            </a:r>
            <a:r>
              <a:rPr lang="en-US" sz="2400" dirty="0"/>
              <a:t> architecture, </a:t>
            </a:r>
            <a:r>
              <a:rPr lang="en-US" sz="2400" b="1" dirty="0"/>
              <a:t>an application is built as independent components that run each application process as a service. </a:t>
            </a:r>
            <a:endParaRPr lang="en-US" sz="2400" b="1" dirty="0" smtClean="0"/>
          </a:p>
          <a:p>
            <a:r>
              <a:rPr lang="en-US" sz="2400" dirty="0" smtClean="0"/>
              <a:t>These </a:t>
            </a:r>
            <a:r>
              <a:rPr lang="en-US" sz="2400" dirty="0"/>
              <a:t>services </a:t>
            </a:r>
            <a:r>
              <a:rPr lang="en-US" sz="2400" b="1" dirty="0"/>
              <a:t>communicate via a well-defined interface using lightweight APIs</a:t>
            </a:r>
            <a:r>
              <a:rPr lang="en-US" sz="2400" dirty="0"/>
              <a:t>. </a:t>
            </a:r>
            <a:endParaRPr lang="en-US" sz="2400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3048000"/>
            <a:ext cx="5919787" cy="3629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3440A-4C70-4C24-B160-0428171E2703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6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Services </a:t>
            </a:r>
            <a:r>
              <a:rPr lang="en-US" sz="2400" dirty="0"/>
              <a:t>are built for business capabilities and each service performs a single function. </a:t>
            </a:r>
            <a:endParaRPr lang="en-US" sz="2400" dirty="0" smtClean="0"/>
          </a:p>
          <a:p>
            <a:r>
              <a:rPr lang="en-US" sz="2400" b="1" dirty="0" smtClean="0"/>
              <a:t>Because they are independently run, each service can be updated, deployed, and scaled to meet demand</a:t>
            </a:r>
            <a:r>
              <a:rPr lang="en-US" sz="2400" dirty="0" smtClean="0"/>
              <a:t> </a:t>
            </a:r>
            <a:r>
              <a:rPr lang="en-US" sz="2400" dirty="0"/>
              <a:t>for specific functions of an application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3048000"/>
            <a:ext cx="5919787" cy="3629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E7FE-C687-44BA-8706-E3340782C1D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9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/>
              <a:t>While the </a:t>
            </a:r>
            <a:r>
              <a:rPr lang="en-US" sz="2400" b="1" dirty="0"/>
              <a:t>monolith tries to combine everything in one application, </a:t>
            </a:r>
            <a:endParaRPr lang="en-US" sz="2400" b="1" dirty="0" smtClean="0"/>
          </a:p>
          <a:p>
            <a:r>
              <a:rPr lang="en-US" sz="2400" dirty="0" err="1" smtClean="0"/>
              <a:t>Microservices</a:t>
            </a:r>
            <a:r>
              <a:rPr lang="en-US" sz="2400" dirty="0" smtClean="0"/>
              <a:t> </a:t>
            </a:r>
            <a:r>
              <a:rPr lang="en-US" sz="2400" dirty="0"/>
              <a:t>are </a:t>
            </a:r>
            <a:r>
              <a:rPr lang="en-US" sz="2400" b="1" dirty="0"/>
              <a:t>only responsible for one task and run independently of each other.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124200"/>
            <a:ext cx="5982528" cy="3451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42AF5-B152-4A43-AA10-318D640DFF0E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2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Monolithic-</a:t>
            </a:r>
          </a:p>
          <a:p>
            <a:r>
              <a:rPr lang="en-US" sz="2400" b="1" dirty="0" smtClean="0"/>
              <a:t>Traditional </a:t>
            </a:r>
            <a:r>
              <a:rPr lang="en-US" sz="2400" b="1" dirty="0"/>
              <a:t>program development </a:t>
            </a:r>
            <a:r>
              <a:rPr lang="en-US" sz="2400" dirty="0"/>
              <a:t>works according to monolith principles: all tasks are undertaken in one large project. </a:t>
            </a:r>
            <a:endParaRPr lang="en-US" sz="2400" dirty="0" smtClean="0"/>
          </a:p>
          <a:p>
            <a:r>
              <a:rPr lang="en-US" sz="2400" b="1" dirty="0" smtClean="0"/>
              <a:t>All </a:t>
            </a:r>
            <a:r>
              <a:rPr lang="en-US" sz="2400" b="1" dirty="0"/>
              <a:t>individual services access a large database and are output through a user interface – everything is done in one application. </a:t>
            </a:r>
            <a:endParaRPr lang="en-US" sz="2400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267200"/>
            <a:ext cx="5982528" cy="23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233E-89CB-455C-8D1A-D38A1CB437AC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91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Monolithic vs. </a:t>
            </a:r>
            <a:r>
              <a:rPr lang="en-US" sz="3200" dirty="0" err="1"/>
              <a:t>Microservices</a:t>
            </a:r>
            <a:r>
              <a:rPr lang="en-US" sz="3200" dirty="0"/>
              <a:t>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The </a:t>
            </a:r>
            <a:r>
              <a:rPr lang="en-US" sz="2400" b="1" dirty="0" err="1"/>
              <a:t>microservices</a:t>
            </a:r>
            <a:r>
              <a:rPr lang="en-US" sz="2400" b="1" dirty="0"/>
              <a:t> approach</a:t>
            </a:r>
            <a:r>
              <a:rPr lang="en-US" sz="2400" dirty="0"/>
              <a:t> is based on modules: </a:t>
            </a:r>
            <a:endParaRPr lang="en-US" sz="2400" dirty="0" smtClean="0"/>
          </a:p>
          <a:p>
            <a:r>
              <a:rPr lang="en-US" sz="2400" b="1" dirty="0" smtClean="0"/>
              <a:t>Each </a:t>
            </a:r>
            <a:r>
              <a:rPr lang="en-US" sz="2400" b="1" dirty="0" err="1"/>
              <a:t>microservice</a:t>
            </a:r>
            <a:r>
              <a:rPr lang="en-US" sz="2400" b="1" dirty="0"/>
              <a:t> is responsible for completing a simple task. Each work process is vastly different, as are often the results.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267200"/>
            <a:ext cx="5982528" cy="23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3D7D-6A03-4D41-A29D-847C8635B24A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7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Monolithic vs. </a:t>
            </a:r>
            <a:r>
              <a:rPr lang="en-US" sz="3200" dirty="0" err="1" smtClean="0"/>
              <a:t>Microservices</a:t>
            </a:r>
            <a:r>
              <a:rPr lang="en-US" sz="3200" dirty="0" smtClean="0"/>
              <a:t> </a:t>
            </a:r>
            <a:r>
              <a:rPr lang="en-US" sz="3200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 smtClean="0"/>
              <a:t>Microservices</a:t>
            </a:r>
            <a:r>
              <a:rPr lang="en-US" sz="2400" dirty="0" smtClean="0"/>
              <a:t>-</a:t>
            </a:r>
          </a:p>
          <a:p>
            <a:r>
              <a:rPr lang="en-US" sz="2400" dirty="0" smtClean="0"/>
              <a:t>When </a:t>
            </a:r>
            <a:r>
              <a:rPr lang="en-US" sz="2400" dirty="0"/>
              <a:t>it comes to </a:t>
            </a:r>
            <a:r>
              <a:rPr lang="en-US" sz="2400" b="1" dirty="0" err="1"/>
              <a:t>microservice</a:t>
            </a:r>
            <a:r>
              <a:rPr lang="en-US" sz="2400" b="1" dirty="0"/>
              <a:t> architecture, each team is responsible for their own </a:t>
            </a:r>
            <a:r>
              <a:rPr lang="en-US" sz="2400" b="1" dirty="0" err="1"/>
              <a:t>microservice</a:t>
            </a:r>
            <a:r>
              <a:rPr lang="en-US" sz="2400" b="1" dirty="0"/>
              <a:t>, </a:t>
            </a:r>
            <a:endParaRPr lang="en-US" sz="2400" b="1" dirty="0" smtClean="0"/>
          </a:p>
          <a:p>
            <a:r>
              <a:rPr lang="en-US" sz="2400" b="1" dirty="0" smtClean="0"/>
              <a:t>whereas </a:t>
            </a:r>
            <a:r>
              <a:rPr lang="en-US" sz="2400" b="1" dirty="0"/>
              <a:t>the structure is very different with monoliths</a:t>
            </a:r>
            <a:r>
              <a:rPr lang="en-US" sz="2400" dirty="0"/>
              <a:t>. </a:t>
            </a:r>
            <a:endParaRPr lang="en-US" sz="24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267200"/>
            <a:ext cx="5982528" cy="23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77AA6-570E-417B-8D37-0D90694D512E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Monolithic vs. </a:t>
            </a:r>
            <a:r>
              <a:rPr lang="en-US" sz="3200" dirty="0" err="1" smtClean="0"/>
              <a:t>Microservices</a:t>
            </a:r>
            <a:r>
              <a:rPr lang="en-US" sz="3200" dirty="0" smtClean="0"/>
              <a:t> </a:t>
            </a:r>
            <a:r>
              <a:rPr lang="en-US" sz="3200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err="1" smtClean="0"/>
              <a:t>Microservices</a:t>
            </a:r>
            <a:r>
              <a:rPr lang="en-US" sz="2400" dirty="0" smtClean="0"/>
              <a:t>-</a:t>
            </a:r>
          </a:p>
          <a:p>
            <a:r>
              <a:rPr lang="en-US" sz="2400" dirty="0" smtClean="0"/>
              <a:t>Teams </a:t>
            </a:r>
            <a:r>
              <a:rPr lang="en-US" sz="2400" dirty="0"/>
              <a:t>are organized according to the technology they deal with: </a:t>
            </a:r>
            <a:endParaRPr lang="en-US" sz="2400" dirty="0" smtClean="0"/>
          </a:p>
          <a:p>
            <a:r>
              <a:rPr lang="en-US" sz="2400" b="1" dirty="0" smtClean="0"/>
              <a:t>one </a:t>
            </a:r>
            <a:r>
              <a:rPr lang="en-US" sz="2400" b="1" dirty="0"/>
              <a:t>team deals with databases, </a:t>
            </a:r>
            <a:endParaRPr lang="en-US" sz="2400" b="1" dirty="0" smtClean="0"/>
          </a:p>
          <a:p>
            <a:r>
              <a:rPr lang="en-US" sz="2400" b="1" dirty="0" smtClean="0"/>
              <a:t>another </a:t>
            </a:r>
            <a:r>
              <a:rPr lang="en-US" sz="2400" b="1" dirty="0"/>
              <a:t>one programs the individual services, and </a:t>
            </a:r>
            <a:endParaRPr lang="en-US" sz="2400" b="1" dirty="0" smtClean="0"/>
          </a:p>
          <a:p>
            <a:r>
              <a:rPr lang="en-US" sz="2400" b="1" dirty="0" smtClean="0"/>
              <a:t>a </a:t>
            </a:r>
            <a:r>
              <a:rPr lang="en-US" sz="2400" b="1" dirty="0"/>
              <a:t>third one deals with the design of a user interface. </a:t>
            </a:r>
            <a:endParaRPr lang="en-US" sz="2400" b="1" dirty="0" smtClean="0"/>
          </a:p>
          <a:p>
            <a:r>
              <a:rPr lang="en-US" sz="2400" b="1" dirty="0" smtClean="0"/>
              <a:t>Other </a:t>
            </a:r>
            <a:r>
              <a:rPr lang="en-US" sz="2400" b="1" dirty="0"/>
              <a:t>working groups are responsible for publishing updates, maintenance, and analysis. </a:t>
            </a:r>
            <a:endParaRPr lang="en-US" sz="2400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320942"/>
            <a:ext cx="5982528" cy="23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CA5A4-820C-48B7-9030-E4CC4FDD383E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Monolithic vs. </a:t>
            </a:r>
            <a:r>
              <a:rPr lang="en-US" sz="3200" dirty="0" err="1" smtClean="0"/>
              <a:t>Microservices</a:t>
            </a:r>
            <a:r>
              <a:rPr lang="en-US" sz="3200" dirty="0" smtClean="0"/>
              <a:t> </a:t>
            </a:r>
            <a:r>
              <a:rPr lang="en-US" sz="3200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However</a:t>
            </a:r>
            <a:r>
              <a:rPr lang="en-US" sz="2400" dirty="0"/>
              <a:t>, </a:t>
            </a:r>
            <a:r>
              <a:rPr lang="en-US" sz="2400" b="1" dirty="0"/>
              <a:t>all teams in a monolith are interdependent. </a:t>
            </a:r>
            <a:endParaRPr lang="en-US" sz="2400" b="1" dirty="0" smtClean="0"/>
          </a:p>
          <a:p>
            <a:r>
              <a:rPr lang="en-US" sz="2400" b="1" dirty="0" smtClean="0"/>
              <a:t>Dependencies </a:t>
            </a:r>
            <a:r>
              <a:rPr lang="en-US" sz="2400" b="1" dirty="0"/>
              <a:t>in </a:t>
            </a:r>
            <a:r>
              <a:rPr lang="en-US" sz="2400" b="1" dirty="0" err="1"/>
              <a:t>microservice</a:t>
            </a:r>
            <a:r>
              <a:rPr lang="en-US" sz="2400" b="1" dirty="0"/>
              <a:t> architecture should be avoided as much as possible.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267200"/>
            <a:ext cx="5982528" cy="2308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51B9-46C8-409B-ABBF-19231726AA8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77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Characteristics of </a:t>
            </a:r>
            <a:r>
              <a:rPr lang="en-US" sz="3200" dirty="0" err="1"/>
              <a:t>Microservices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Autonomous</a:t>
            </a:r>
            <a:endParaRPr lang="en-US" sz="2400" dirty="0"/>
          </a:p>
          <a:p>
            <a:r>
              <a:rPr lang="en-US" sz="2400" b="1" dirty="0"/>
              <a:t>Each component service </a:t>
            </a:r>
            <a:r>
              <a:rPr lang="en-US" sz="2400" dirty="0"/>
              <a:t>in a </a:t>
            </a:r>
            <a:r>
              <a:rPr lang="en-US" sz="2400" dirty="0" err="1"/>
              <a:t>microservices</a:t>
            </a:r>
            <a:r>
              <a:rPr lang="en-US" sz="2400" dirty="0"/>
              <a:t> architecture can be </a:t>
            </a:r>
            <a:r>
              <a:rPr lang="en-US" sz="2400" b="1" dirty="0"/>
              <a:t>developed, deployed, operated, and scaled without affecting</a:t>
            </a:r>
            <a:r>
              <a:rPr lang="en-US" sz="2400" dirty="0"/>
              <a:t> the functioning of other services. </a:t>
            </a:r>
            <a:endParaRPr lang="en-US" sz="2400" dirty="0" smtClean="0"/>
          </a:p>
          <a:p>
            <a:r>
              <a:rPr lang="en-US" sz="2400" b="1" dirty="0" smtClean="0"/>
              <a:t>Services </a:t>
            </a:r>
            <a:r>
              <a:rPr lang="en-US" sz="2400" b="1" dirty="0"/>
              <a:t>do not need to share any of their code or implementation with other services.</a:t>
            </a:r>
            <a:r>
              <a:rPr lang="en-US" sz="2400" dirty="0"/>
              <a:t> </a:t>
            </a:r>
            <a:endParaRPr lang="en-US" sz="2400" dirty="0" smtClean="0"/>
          </a:p>
          <a:p>
            <a:r>
              <a:rPr lang="en-US" sz="2400" dirty="0" smtClean="0"/>
              <a:t>Any </a:t>
            </a:r>
            <a:r>
              <a:rPr lang="en-US" sz="2400" b="1" dirty="0"/>
              <a:t>communication</a:t>
            </a:r>
            <a:r>
              <a:rPr lang="en-US" sz="2400" dirty="0"/>
              <a:t> between individual components happens </a:t>
            </a:r>
            <a:r>
              <a:rPr lang="en-US" sz="2400" b="1" dirty="0"/>
              <a:t>via well-defined APIs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6A7EF-ACCA-4E4D-B4BF-84ACC6684522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0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Characteristics of </a:t>
            </a:r>
            <a:r>
              <a:rPr lang="en-US" sz="3200" dirty="0" err="1"/>
              <a:t>Microservices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Specialized</a:t>
            </a:r>
            <a:endParaRPr lang="en-US" sz="2400" dirty="0"/>
          </a:p>
          <a:p>
            <a:r>
              <a:rPr lang="en-US" sz="2400" dirty="0"/>
              <a:t>Each service is designed for a set of capabilities and </a:t>
            </a:r>
            <a:r>
              <a:rPr lang="en-US" sz="2400" b="1" dirty="0"/>
              <a:t>focuses on solving a specific problem. </a:t>
            </a:r>
            <a:endParaRPr lang="en-US" sz="2400" b="1" dirty="0" smtClean="0"/>
          </a:p>
          <a:p>
            <a:r>
              <a:rPr lang="en-US" sz="2400" b="1" dirty="0" smtClean="0"/>
              <a:t>If </a:t>
            </a:r>
            <a:r>
              <a:rPr lang="en-US" sz="2400" b="1" dirty="0"/>
              <a:t>developers contribute more code to a service over time and the service becomes complex, it can be broken into smaller services.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4936C-D31D-4096-A5B5-4A0BF3F261DA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1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Agility</a:t>
            </a:r>
            <a:endParaRPr lang="en-US" b="1" dirty="0"/>
          </a:p>
          <a:p>
            <a:r>
              <a:rPr lang="en-US" dirty="0" err="1"/>
              <a:t>Microservices</a:t>
            </a:r>
            <a:r>
              <a:rPr lang="en-US" dirty="0"/>
              <a:t> foster an organization of small, independent teams that take ownership of their services. </a:t>
            </a:r>
            <a:r>
              <a:rPr lang="en-US" b="1" dirty="0">
                <a:solidFill>
                  <a:srgbClr val="00B0F0"/>
                </a:solidFill>
              </a:rPr>
              <a:t>Teams act within a small and well understood context, and are empowered to work more independently and more quickly. </a:t>
            </a:r>
            <a:r>
              <a:rPr lang="en-US" b="1" dirty="0"/>
              <a:t>This shortens development cycle times. You benefit significantly from the aggregate throughput of the organization.</a:t>
            </a:r>
            <a:br>
              <a:rPr lang="en-US" b="1" dirty="0"/>
            </a:br>
            <a:endParaRPr lang="en-US" b="1" dirty="0"/>
          </a:p>
          <a:p>
            <a:pPr marL="0" indent="0">
              <a:buNone/>
            </a:pPr>
            <a:r>
              <a:rPr lang="en-US" b="1" dirty="0"/>
              <a:t>Flexible Scaling</a:t>
            </a:r>
          </a:p>
          <a:p>
            <a:r>
              <a:rPr lang="en-US" dirty="0" err="1"/>
              <a:t>Microservices</a:t>
            </a:r>
            <a:r>
              <a:rPr lang="en-US" dirty="0"/>
              <a:t> allow each service to be </a:t>
            </a:r>
            <a:r>
              <a:rPr lang="en-US" b="1" dirty="0"/>
              <a:t>independently scaled to meet demand for the application feature it supports</a:t>
            </a:r>
            <a:r>
              <a:rPr lang="en-US" dirty="0"/>
              <a:t>. This enables teams to </a:t>
            </a:r>
            <a:r>
              <a:rPr lang="en-US" b="1" dirty="0"/>
              <a:t>right-size infrastructure needs, </a:t>
            </a:r>
            <a:r>
              <a:rPr lang="en-US" dirty="0"/>
              <a:t>accurately measure the cost of a feature, and maintain availability if a service experiences a spike in demand.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D84AB-622B-4560-827B-810DD515A3C1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0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Easy </a:t>
            </a:r>
            <a:r>
              <a:rPr lang="en-US" b="1" dirty="0"/>
              <a:t>Deployment</a:t>
            </a:r>
          </a:p>
          <a:p>
            <a:r>
              <a:rPr lang="en-US" dirty="0" err="1"/>
              <a:t>Microservices</a:t>
            </a:r>
            <a:r>
              <a:rPr lang="en-US" dirty="0"/>
              <a:t> enable </a:t>
            </a:r>
            <a:r>
              <a:rPr lang="en-US" b="1" dirty="0"/>
              <a:t>continuous integration and continuous delivery, making it easy to try out new ideas and to roll back if something doesn’t work. </a:t>
            </a:r>
            <a:endParaRPr lang="en-US" b="1" dirty="0" smtClean="0"/>
          </a:p>
          <a:p>
            <a:r>
              <a:rPr lang="en-US" b="1" dirty="0" smtClean="0"/>
              <a:t>The </a:t>
            </a:r>
            <a:r>
              <a:rPr lang="en-US" b="1" dirty="0"/>
              <a:t>low cost of failure enables experimentation, makes it easier to update code</a:t>
            </a:r>
            <a:r>
              <a:rPr lang="en-US" dirty="0"/>
              <a:t>, and accelerates time-to-market for new features.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Technological Freedom</a:t>
            </a:r>
          </a:p>
          <a:p>
            <a:r>
              <a:rPr lang="en-US" dirty="0" err="1"/>
              <a:t>Microservices</a:t>
            </a:r>
            <a:r>
              <a:rPr lang="en-US" dirty="0"/>
              <a:t> architectures don’t follow a “one size fits all” approach. </a:t>
            </a:r>
            <a:endParaRPr lang="en-US" dirty="0" smtClean="0"/>
          </a:p>
          <a:p>
            <a:r>
              <a:rPr lang="en-US" dirty="0" smtClean="0"/>
              <a:t>Teams </a:t>
            </a:r>
            <a:r>
              <a:rPr lang="en-US" dirty="0"/>
              <a:t>have the </a:t>
            </a:r>
            <a:r>
              <a:rPr lang="en-US" b="1" dirty="0"/>
              <a:t>freedom to choose the best tool to solve their specific problems</a:t>
            </a:r>
            <a:r>
              <a:rPr lang="en-US" dirty="0"/>
              <a:t>. As a consequence, </a:t>
            </a:r>
            <a:r>
              <a:rPr lang="en-US" b="1" dirty="0"/>
              <a:t>teams building </a:t>
            </a:r>
            <a:r>
              <a:rPr lang="en-US" b="1" dirty="0" err="1"/>
              <a:t>microservices</a:t>
            </a:r>
            <a:r>
              <a:rPr lang="en-US" b="1" dirty="0"/>
              <a:t> can choose the best tool for each job.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5D6E0-41CF-4209-96A5-EEC4DF257BF2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9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Microservices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Reusable </a:t>
            </a:r>
            <a:r>
              <a:rPr lang="en-US" b="1" dirty="0"/>
              <a:t>Code</a:t>
            </a:r>
          </a:p>
          <a:p>
            <a:r>
              <a:rPr lang="en-US" dirty="0"/>
              <a:t>Dividing software into small, well-defined modules enables teams to use functions for multiple purposes. </a:t>
            </a:r>
            <a:r>
              <a:rPr lang="en-US" b="1" dirty="0"/>
              <a:t>A service written for a certain function can be used as a building block for another feature</a:t>
            </a:r>
            <a:r>
              <a:rPr lang="en-US" dirty="0"/>
              <a:t>. This allows an application to bootstrap off itself, as developers can create new capabilities without writing code from scratch.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Resilience</a:t>
            </a:r>
          </a:p>
          <a:p>
            <a:r>
              <a:rPr lang="en-US" dirty="0"/>
              <a:t>Service independence increases an application’s resistance to failure. </a:t>
            </a:r>
            <a:r>
              <a:rPr lang="en-US" b="1" dirty="0"/>
              <a:t>In a monolithic architecture, if a single component fails, it can cause the entire application to fail. </a:t>
            </a:r>
            <a:r>
              <a:rPr lang="en-US" dirty="0"/>
              <a:t>With </a:t>
            </a:r>
            <a:r>
              <a:rPr lang="en-US" dirty="0" err="1"/>
              <a:t>microservices</a:t>
            </a:r>
            <a:r>
              <a:rPr lang="en-US" dirty="0"/>
              <a:t>, applications handle </a:t>
            </a:r>
            <a:r>
              <a:rPr lang="en-US" b="1" dirty="0"/>
              <a:t>total service failure by degrading functionality and not crashing the entire application.</a:t>
            </a:r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428C-3EAC-4D8F-8669-C1A3F51754C0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9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microservices</a:t>
            </a:r>
            <a:r>
              <a:rPr lang="en-US" dirty="0"/>
              <a:t>: 3 </a:t>
            </a:r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 smtClean="0"/>
              <a:t>Microservice</a:t>
            </a:r>
            <a:r>
              <a:rPr lang="en-US" sz="2400" b="1" dirty="0" smtClean="0"/>
              <a:t> </a:t>
            </a:r>
            <a:r>
              <a:rPr lang="en-US" sz="2400" b="1" dirty="0"/>
              <a:t>architecture has now found its way into large company systems. </a:t>
            </a:r>
            <a:endParaRPr lang="en-US" sz="2400" b="1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companies have subsequently been able to fix certain problems or optimize their processes. </a:t>
            </a:r>
            <a:endParaRPr lang="en-US" sz="2400" dirty="0" smtClean="0"/>
          </a:p>
          <a:p>
            <a:r>
              <a:rPr lang="en-US" sz="2400" b="1" dirty="0"/>
              <a:t>Some of them were already using modular systems when there was no term for them.</a:t>
            </a:r>
          </a:p>
          <a:p>
            <a:endParaRPr lang="en-US" sz="2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59E41-2D10-4227-BA44-0E34CDFAE759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92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with </a:t>
            </a:r>
            <a:r>
              <a:rPr lang="en-US" dirty="0" err="1"/>
              <a:t>microservices</a:t>
            </a:r>
            <a:r>
              <a:rPr lang="en-US" dirty="0"/>
              <a:t>: 3 </a:t>
            </a:r>
            <a:r>
              <a:rPr lang="en-US" dirty="0" smtClean="0"/>
              <a:t>examples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Large </a:t>
            </a:r>
            <a:r>
              <a:rPr lang="en-US" sz="2400" dirty="0"/>
              <a:t>companies with established monolithic systems changing to a </a:t>
            </a:r>
            <a:r>
              <a:rPr lang="en-US" sz="2400" dirty="0" err="1"/>
              <a:t>microservice</a:t>
            </a:r>
            <a:r>
              <a:rPr lang="en-US" sz="2400" dirty="0"/>
              <a:t> model. </a:t>
            </a:r>
          </a:p>
          <a:p>
            <a:pPr marL="0" indent="0">
              <a:buNone/>
            </a:pPr>
            <a:r>
              <a:rPr lang="en-US" sz="2400" dirty="0" smtClean="0"/>
              <a:t>Examples </a:t>
            </a:r>
            <a:r>
              <a:rPr lang="en-US" sz="2400" dirty="0"/>
              <a:t>like </a:t>
            </a:r>
            <a:endParaRPr lang="en-US" sz="2400" dirty="0" smtClean="0"/>
          </a:p>
          <a:p>
            <a:r>
              <a:rPr lang="en-US" sz="2400" b="1" dirty="0" smtClean="0"/>
              <a:t>Netflix</a:t>
            </a:r>
            <a:r>
              <a:rPr lang="en-US" sz="2400" b="1" dirty="0"/>
              <a:t>, </a:t>
            </a:r>
            <a:endParaRPr lang="en-US" sz="2400" b="1" dirty="0" smtClean="0"/>
          </a:p>
          <a:p>
            <a:r>
              <a:rPr lang="en-US" sz="2400" b="1" dirty="0" err="1" smtClean="0"/>
              <a:t>Spotify</a:t>
            </a:r>
            <a:r>
              <a:rPr lang="en-US" sz="2400" b="1" dirty="0"/>
              <a:t>, </a:t>
            </a:r>
            <a:endParaRPr lang="en-US" sz="2400" b="1" dirty="0" smtClean="0"/>
          </a:p>
          <a:p>
            <a:r>
              <a:rPr lang="en-US" sz="2400" b="1" dirty="0" smtClean="0"/>
              <a:t>eBay </a:t>
            </a:r>
          </a:p>
          <a:p>
            <a:endParaRPr lang="en-US" sz="2400" dirty="0" smtClean="0"/>
          </a:p>
          <a:p>
            <a:r>
              <a:rPr lang="en-US" sz="2400" dirty="0" smtClean="0"/>
              <a:t>Other </a:t>
            </a:r>
            <a:r>
              <a:rPr lang="en-US" sz="2400" dirty="0"/>
              <a:t>major IT companies like Google and Amazon also work like this. </a:t>
            </a:r>
            <a:endParaRPr lang="en-US" sz="2400" dirty="0" smtClean="0"/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0ADF6-F391-48E6-9B62-E1B337910DB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Netflix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Like many other companies, </a:t>
            </a:r>
            <a:r>
              <a:rPr lang="en-US" sz="2400" b="1" dirty="0"/>
              <a:t>Netflix used to be based on a monolithic system</a:t>
            </a:r>
            <a:r>
              <a:rPr lang="en-US" sz="2400" dirty="0"/>
              <a:t> </a:t>
            </a:r>
            <a:r>
              <a:rPr lang="en-US" sz="2400" b="1" dirty="0"/>
              <a:t>(back when Netflix was not an online streaming service, but only sent DVDs through the mail). </a:t>
            </a:r>
            <a:endParaRPr lang="en-US" sz="2400" b="1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2008, there was </a:t>
            </a:r>
            <a:r>
              <a:rPr lang="en-US" sz="2400" b="1" dirty="0"/>
              <a:t>an error in a database that caused the entire service to fail for four days.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CC5B7-1F60-4CDD-8A34-7BD689E9C25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7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Netflix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decision was then taken </a:t>
            </a:r>
            <a:r>
              <a:rPr lang="en-US" sz="2400" b="1" dirty="0"/>
              <a:t>to break up the old system and split them into </a:t>
            </a:r>
            <a:r>
              <a:rPr lang="en-US" sz="2400" b="1" dirty="0" err="1"/>
              <a:t>microservices</a:t>
            </a:r>
            <a:r>
              <a:rPr lang="en-US" sz="2400" b="1" dirty="0"/>
              <a:t>. 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result was that the company was able to </a:t>
            </a:r>
            <a:endParaRPr lang="en-US" sz="2400" dirty="0" smtClean="0"/>
          </a:p>
          <a:p>
            <a:pPr lvl="1"/>
            <a:r>
              <a:rPr lang="en-US" sz="2400" b="1" dirty="0" smtClean="0"/>
              <a:t>make </a:t>
            </a:r>
            <a:r>
              <a:rPr lang="en-US" sz="2400" b="1" dirty="0"/>
              <a:t>live changes much faster, and </a:t>
            </a:r>
            <a:endParaRPr lang="en-US" sz="2400" b="1" dirty="0" smtClean="0"/>
          </a:p>
          <a:p>
            <a:pPr lvl="1"/>
            <a:r>
              <a:rPr lang="en-US" sz="2400" b="1" dirty="0" smtClean="0"/>
              <a:t>repairs </a:t>
            </a:r>
            <a:r>
              <a:rPr lang="en-US" sz="2400" b="1" dirty="0"/>
              <a:t>were carried out much more quickly.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ED65-DEE9-4685-9CC5-5C2674CC7DB3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4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Netflix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Since </a:t>
            </a:r>
            <a:r>
              <a:rPr lang="en-US" sz="2400" dirty="0"/>
              <a:t>the Netflix system is enormously extensive, </a:t>
            </a:r>
            <a:r>
              <a:rPr lang="en-US" sz="2400" b="1" dirty="0"/>
              <a:t>a separate program was developed to organize the individual </a:t>
            </a:r>
            <a:r>
              <a:rPr lang="en-US" sz="2400" b="1" dirty="0" err="1"/>
              <a:t>microservices</a:t>
            </a:r>
            <a:r>
              <a:rPr lang="en-US" sz="2400" b="1" dirty="0"/>
              <a:t> among themselves: </a:t>
            </a:r>
            <a:endParaRPr lang="en-US" sz="2400" b="1" dirty="0" smtClean="0"/>
          </a:p>
          <a:p>
            <a:r>
              <a:rPr lang="en-US" sz="2400" b="1" dirty="0" smtClean="0"/>
              <a:t>Conductor</a:t>
            </a:r>
            <a:endParaRPr lang="en-US" sz="2400" b="1" dirty="0"/>
          </a:p>
          <a:p>
            <a:r>
              <a:rPr lang="en-US" sz="2400" dirty="0" smtClean="0"/>
              <a:t>Conductor </a:t>
            </a:r>
            <a:r>
              <a:rPr lang="en-US" sz="2400" b="1" dirty="0"/>
              <a:t>grants Netflix central control to pause, restart or scale their </a:t>
            </a:r>
            <a:r>
              <a:rPr lang="en-US" sz="2400" b="1" dirty="0" err="1"/>
              <a:t>microservices</a:t>
            </a:r>
            <a:r>
              <a:rPr lang="en-US" sz="2400" b="1" dirty="0"/>
              <a:t>. 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5867400"/>
            <a:ext cx="8763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https://www.ionos.com/digitalguide/websites/web-development/microservice-architecture/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C0DD-3154-46A0-8686-BCBFB56B3983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4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Spotify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The </a:t>
            </a:r>
            <a:r>
              <a:rPr lang="en-US" sz="2400" b="1" dirty="0" smtClean="0"/>
              <a:t>audio streaming </a:t>
            </a:r>
            <a:r>
              <a:rPr lang="en-US" sz="2400" b="1" dirty="0"/>
              <a:t>service </a:t>
            </a:r>
            <a:r>
              <a:rPr lang="en-US" sz="2400" b="1" dirty="0" err="1"/>
              <a:t>Spotify</a:t>
            </a:r>
            <a:r>
              <a:rPr lang="en-US" sz="2400" b="1" dirty="0"/>
              <a:t> also relies on </a:t>
            </a:r>
            <a:r>
              <a:rPr lang="en-US" sz="2400" b="1" dirty="0" err="1"/>
              <a:t>microservices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r>
              <a:rPr lang="en-US" sz="2400" dirty="0" err="1" smtClean="0"/>
              <a:t>Spotify’s</a:t>
            </a:r>
            <a:r>
              <a:rPr lang="en-US" sz="2400" dirty="0" smtClean="0"/>
              <a:t> </a:t>
            </a:r>
            <a:r>
              <a:rPr lang="en-US" sz="2400" dirty="0"/>
              <a:t>main daily development challenge is keeping ahead of the strong competition.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audio streaming services market has some of the largest IT companies in the world as its </a:t>
            </a:r>
            <a:r>
              <a:rPr lang="en-US" sz="2400" b="1" dirty="0"/>
              <a:t>main players – such as Amazon, Apple, and Google. </a:t>
            </a:r>
            <a:endParaRPr lang="en-US" sz="2400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74B1D-68DA-4FBA-AFB0-0EC987C44049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7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Spotify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b="1" dirty="0" smtClean="0"/>
              <a:t>Due </a:t>
            </a:r>
            <a:r>
              <a:rPr lang="en-US" sz="2400" b="1" dirty="0"/>
              <a:t>to the increasing number of users, </a:t>
            </a:r>
            <a:r>
              <a:rPr lang="en-US" sz="2400" b="1" dirty="0" err="1"/>
              <a:t>Spotify</a:t>
            </a:r>
            <a:r>
              <a:rPr lang="en-US" sz="2400" b="1" dirty="0"/>
              <a:t> developers are constantly having to meet higher demands </a:t>
            </a:r>
            <a:r>
              <a:rPr lang="en-US" sz="2400" dirty="0"/>
              <a:t>and comply with certain business rules (like licensing rights). </a:t>
            </a:r>
            <a:endParaRPr lang="en-US" sz="2400" dirty="0" smtClean="0"/>
          </a:p>
          <a:p>
            <a:r>
              <a:rPr lang="en-US" sz="2400" dirty="0" err="1" smtClean="0"/>
              <a:t>Microservices</a:t>
            </a:r>
            <a:r>
              <a:rPr lang="en-US" sz="2400" dirty="0" smtClean="0"/>
              <a:t> </a:t>
            </a:r>
            <a:r>
              <a:rPr lang="en-US" sz="2400" dirty="0"/>
              <a:t>are a good solution for </a:t>
            </a:r>
            <a:r>
              <a:rPr lang="en-US" sz="2400" dirty="0" err="1"/>
              <a:t>Spotify</a:t>
            </a:r>
            <a:r>
              <a:rPr lang="en-US" sz="2400" dirty="0"/>
              <a:t>, allowing them </a:t>
            </a:r>
            <a:r>
              <a:rPr lang="en-US" sz="2400" b="1" dirty="0"/>
              <a:t>to react quickly to new developments their competitors might make,</a:t>
            </a:r>
            <a:r>
              <a:rPr lang="en-US" sz="2400" dirty="0"/>
              <a:t> and </a:t>
            </a:r>
            <a:r>
              <a:rPr lang="en-US" sz="2400" b="1" dirty="0"/>
              <a:t>publish their own developments faster</a:t>
            </a:r>
            <a:r>
              <a:rPr lang="en-US" sz="2400" dirty="0"/>
              <a:t> – </a:t>
            </a:r>
            <a:r>
              <a:rPr lang="en-US" sz="2400" b="1" dirty="0"/>
              <a:t>forcing the competitors to react in turn.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3E058-298A-4920-B7D0-22A9805A73C2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9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Spotify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For example, </a:t>
            </a:r>
            <a:endParaRPr lang="en-US" sz="2400" dirty="0" smtClean="0"/>
          </a:p>
          <a:p>
            <a:r>
              <a:rPr lang="en-US" sz="2400" b="1" dirty="0" err="1" smtClean="0"/>
              <a:t>Spotify</a:t>
            </a:r>
            <a:r>
              <a:rPr lang="en-US" sz="2400" b="1" dirty="0" smtClean="0"/>
              <a:t> </a:t>
            </a:r>
            <a:r>
              <a:rPr lang="en-US" sz="2400" b="1" dirty="0"/>
              <a:t>feature that recommends suggestions to users when they type in a search term is a self-contained </a:t>
            </a:r>
            <a:r>
              <a:rPr lang="en-US" sz="2400" b="1" dirty="0" err="1"/>
              <a:t>microservice</a:t>
            </a:r>
            <a:r>
              <a:rPr lang="en-US" sz="2400" dirty="0"/>
              <a:t> that has its own dedicated team working on it. </a:t>
            </a:r>
            <a:endParaRPr lang="en-US" sz="2400" dirty="0" smtClean="0"/>
          </a:p>
          <a:p>
            <a:r>
              <a:rPr lang="en-US" sz="2400" dirty="0" smtClean="0"/>
              <a:t>Additionally</a:t>
            </a:r>
            <a:r>
              <a:rPr lang="en-US" sz="2400" dirty="0"/>
              <a:t>, </a:t>
            </a:r>
            <a:r>
              <a:rPr lang="en-US" sz="2400" dirty="0" err="1"/>
              <a:t>Spotify</a:t>
            </a:r>
            <a:r>
              <a:rPr lang="en-US" sz="2400" dirty="0"/>
              <a:t> benefits from the robust nature of </a:t>
            </a:r>
            <a:r>
              <a:rPr lang="en-US" sz="2400" dirty="0" err="1"/>
              <a:t>microservice</a:t>
            </a:r>
            <a:r>
              <a:rPr lang="en-US" sz="2400" dirty="0"/>
              <a:t> architecture: </a:t>
            </a:r>
            <a:r>
              <a:rPr lang="en-US" sz="2400" b="1" dirty="0"/>
              <a:t>if a single </a:t>
            </a:r>
            <a:r>
              <a:rPr lang="en-US" sz="2400" b="1" dirty="0" err="1"/>
              <a:t>microservice</a:t>
            </a:r>
            <a:r>
              <a:rPr lang="en-US" sz="2400" b="1" dirty="0"/>
              <a:t> fails, it does not mean that the entire product becomes unusable</a:t>
            </a:r>
            <a:r>
              <a:rPr lang="en-US" sz="2400" dirty="0"/>
              <a:t>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BC90B-289A-4F9C-9FE6-92302BBB6D8A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56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Spotify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There are more than </a:t>
            </a:r>
            <a:r>
              <a:rPr lang="en-US" sz="2400" b="1" dirty="0" smtClean="0"/>
              <a:t>800 </a:t>
            </a:r>
            <a:r>
              <a:rPr lang="en-US" sz="2400" b="1" dirty="0" err="1" smtClean="0"/>
              <a:t>microservices</a:t>
            </a:r>
            <a:r>
              <a:rPr lang="en-US" sz="2400" dirty="0" smtClean="0"/>
              <a:t> active within </a:t>
            </a:r>
            <a:r>
              <a:rPr lang="en-US" sz="2400" dirty="0" err="1" smtClean="0"/>
              <a:t>Spotify</a:t>
            </a:r>
            <a:r>
              <a:rPr lang="en-US" sz="2400" dirty="0" smtClean="0"/>
              <a:t>, and </a:t>
            </a:r>
            <a:r>
              <a:rPr lang="en-US" sz="2400" b="1" dirty="0" smtClean="0"/>
              <a:t>they use Java for a large part of those </a:t>
            </a:r>
            <a:r>
              <a:rPr lang="en-US" sz="2400" b="1" dirty="0" err="1" smtClean="0"/>
              <a:t>microservices</a:t>
            </a:r>
            <a:r>
              <a:rPr lang="en-US" sz="2400" b="1" dirty="0" smtClean="0"/>
              <a:t>. </a:t>
            </a:r>
          </a:p>
          <a:p>
            <a:r>
              <a:rPr lang="en-US" sz="2400" dirty="0" smtClean="0"/>
              <a:t>However, this has nothing to do with the fact that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cannot be written in different programming languages: instead, it has to do with work processes. </a:t>
            </a:r>
          </a:p>
          <a:p>
            <a:r>
              <a:rPr lang="en-US" sz="2400" b="1" dirty="0" smtClean="0"/>
              <a:t>Developers constantly move from one team to another, and it is easier when everyone uses the same language.</a:t>
            </a: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56AB-ABA3-431C-AFE4-39027EEE22C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9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eBay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Like </a:t>
            </a:r>
            <a:r>
              <a:rPr lang="en-US" sz="2400" dirty="0"/>
              <a:t>many other large systems,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eBay sales platform </a:t>
            </a:r>
            <a:r>
              <a:rPr lang="en-US" sz="2400" b="1" dirty="0"/>
              <a:t>began as a monolith: </a:t>
            </a:r>
            <a:endParaRPr lang="en-US" sz="2400" b="1" dirty="0" smtClean="0"/>
          </a:p>
          <a:p>
            <a:r>
              <a:rPr lang="en-US" sz="2400" b="1" dirty="0" smtClean="0"/>
              <a:t>eBay </a:t>
            </a:r>
            <a:r>
              <a:rPr lang="en-US" sz="2400" b="1" dirty="0"/>
              <a:t>had 3.4 million lines of code in just one file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company then </a:t>
            </a:r>
            <a:r>
              <a:rPr lang="en-US" sz="2400" b="1" dirty="0"/>
              <a:t>decided to break up the monolith and develop Java </a:t>
            </a:r>
            <a:r>
              <a:rPr lang="en-US" sz="2400" b="1" dirty="0" err="1"/>
              <a:t>microservices</a:t>
            </a:r>
            <a:r>
              <a:rPr lang="en-US" sz="2400" b="1" dirty="0"/>
              <a:t> instead. </a:t>
            </a:r>
            <a:endParaRPr lang="en-US" sz="2400" b="1" dirty="0" smtClean="0"/>
          </a:p>
          <a:p>
            <a:r>
              <a:rPr lang="en-US" sz="2400" dirty="0" smtClean="0"/>
              <a:t>Individual </a:t>
            </a:r>
            <a:r>
              <a:rPr lang="en-US" sz="2400" dirty="0"/>
              <a:t>eBay services </a:t>
            </a:r>
            <a:r>
              <a:rPr lang="en-US" sz="2400" b="1" dirty="0"/>
              <a:t>also use REST to communicate with one another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82FF8-C69A-4159-9A05-70FA839F69B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46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/>
              <a:t>fact that eBay and other companies have successfully </a:t>
            </a:r>
            <a:r>
              <a:rPr lang="en-US" sz="2400" b="1" dirty="0"/>
              <a:t>gone from a monolithic to </a:t>
            </a:r>
            <a:r>
              <a:rPr lang="en-US" sz="2400" b="1" dirty="0" err="1"/>
              <a:t>microservice</a:t>
            </a:r>
            <a:r>
              <a:rPr lang="en-US" sz="2400" b="1" dirty="0"/>
              <a:t> architecture is a clear sign of the benefits of a more modern approach. </a:t>
            </a:r>
            <a:endParaRPr lang="en-US" sz="2400" b="1" dirty="0" smtClean="0"/>
          </a:p>
          <a:p>
            <a:r>
              <a:rPr lang="en-US" sz="2400" dirty="0" smtClean="0"/>
              <a:t>While </a:t>
            </a:r>
            <a:r>
              <a:rPr lang="en-US" sz="2400" dirty="0"/>
              <a:t>the monolith structure is perfectly </a:t>
            </a:r>
            <a:r>
              <a:rPr lang="en-US" sz="2400" b="1" dirty="0"/>
              <a:t>sufficient in the early days of a website, with a small number of active users and a manageable range of products, it can become growth-inhibiting when demands start to increase.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DB1-A111-4EC1-9459-436970758BC1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6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1464</Words>
  <Application>Microsoft Office PowerPoint</Application>
  <PresentationFormat>On-screen Show (4:3)</PresentationFormat>
  <Paragraphs>236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Microservices</vt:lpstr>
      <vt:lpstr>PowerPoint Presentation</vt:lpstr>
      <vt:lpstr>Microservices</vt:lpstr>
      <vt:lpstr>“Do one thing and do it well”: the motto</vt:lpstr>
      <vt:lpstr>Microservices</vt:lpstr>
      <vt:lpstr>Microservices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Monolithic vs. Microservices Architecture</vt:lpstr>
      <vt:lpstr>Characteristics of Microservices</vt:lpstr>
      <vt:lpstr>Characteristics of Microservices</vt:lpstr>
      <vt:lpstr>Benefits of Microservices</vt:lpstr>
      <vt:lpstr>Benefits of Microservices</vt:lpstr>
      <vt:lpstr>Benefits of Microservices</vt:lpstr>
      <vt:lpstr>Working with microservices: 3 examples</vt:lpstr>
      <vt:lpstr>Working with microservices: 3 examples</vt:lpstr>
      <vt:lpstr>Netflix</vt:lpstr>
      <vt:lpstr>Netflix</vt:lpstr>
      <vt:lpstr>Netflix</vt:lpstr>
      <vt:lpstr>Spotify</vt:lpstr>
      <vt:lpstr>Spotify</vt:lpstr>
      <vt:lpstr>Spotify</vt:lpstr>
      <vt:lpstr>Spotify</vt:lpstr>
      <vt:lpstr>eBay</vt:lpstr>
      <vt:lpstr>Inference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25</cp:revision>
  <dcterms:created xsi:type="dcterms:W3CDTF">2006-08-16T00:00:00Z</dcterms:created>
  <dcterms:modified xsi:type="dcterms:W3CDTF">2026-04-06T04:49:37Z</dcterms:modified>
</cp:coreProperties>
</file>