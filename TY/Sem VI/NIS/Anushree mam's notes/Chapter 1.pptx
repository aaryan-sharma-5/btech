
<file path=[Content_Types].xml><?xml version="1.0" encoding="utf-8"?>
<Types xmlns="http://schemas.openxmlformats.org/package/2006/content-types">
  <Default Extension="png" ContentType="image/png"/>
  <Default Extension="wmf" ContentType="image/x-wmf"/>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3"/>
  </p:notesMasterIdLst>
  <p:sldIdLst>
    <p:sldId id="256" r:id="rId2"/>
    <p:sldId id="257" r:id="rId3"/>
    <p:sldId id="258" r:id="rId4"/>
    <p:sldId id="259" r:id="rId5"/>
    <p:sldId id="260" r:id="rId6"/>
    <p:sldId id="261" r:id="rId7"/>
    <p:sldId id="262" r:id="rId8"/>
    <p:sldId id="263" r:id="rId9"/>
    <p:sldId id="266" r:id="rId10"/>
    <p:sldId id="267" r:id="rId11"/>
    <p:sldId id="264" r:id="rId12"/>
    <p:sldId id="272" r:id="rId13"/>
    <p:sldId id="273" r:id="rId14"/>
    <p:sldId id="274" r:id="rId15"/>
    <p:sldId id="275" r:id="rId16"/>
    <p:sldId id="276" r:id="rId17"/>
    <p:sldId id="277" r:id="rId18"/>
    <p:sldId id="271" r:id="rId19"/>
    <p:sldId id="265" r:id="rId20"/>
    <p:sldId id="268" r:id="rId21"/>
    <p:sldId id="269" r:id="rId22"/>
    <p:sldId id="270" r:id="rId23"/>
    <p:sldId id="278" r:id="rId24"/>
    <p:sldId id="282" r:id="rId25"/>
    <p:sldId id="279" r:id="rId26"/>
    <p:sldId id="280" r:id="rId27"/>
    <p:sldId id="281" r:id="rId28"/>
    <p:sldId id="283" r:id="rId29"/>
    <p:sldId id="284" r:id="rId30"/>
    <p:sldId id="285" r:id="rId31"/>
    <p:sldId id="286" r:id="rId32"/>
    <p:sldId id="287" r:id="rId33"/>
    <p:sldId id="289" r:id="rId34"/>
    <p:sldId id="299" r:id="rId35"/>
    <p:sldId id="300" r:id="rId36"/>
    <p:sldId id="290" r:id="rId37"/>
    <p:sldId id="296" r:id="rId38"/>
    <p:sldId id="297" r:id="rId39"/>
    <p:sldId id="291" r:id="rId40"/>
    <p:sldId id="292" r:id="rId41"/>
    <p:sldId id="293" r:id="rId42"/>
    <p:sldId id="294" r:id="rId43"/>
    <p:sldId id="295" r:id="rId44"/>
    <p:sldId id="304" r:id="rId45"/>
    <p:sldId id="306" r:id="rId46"/>
    <p:sldId id="301" r:id="rId47"/>
    <p:sldId id="302" r:id="rId48"/>
    <p:sldId id="303" r:id="rId49"/>
    <p:sldId id="305" r:id="rId50"/>
    <p:sldId id="307" r:id="rId51"/>
    <p:sldId id="308" r:id="rId52"/>
    <p:sldId id="309" r:id="rId53"/>
    <p:sldId id="311" r:id="rId54"/>
    <p:sldId id="312" r:id="rId55"/>
    <p:sldId id="313" r:id="rId56"/>
    <p:sldId id="310" r:id="rId57"/>
    <p:sldId id="314" r:id="rId58"/>
    <p:sldId id="315" r:id="rId59"/>
    <p:sldId id="318" r:id="rId60"/>
    <p:sldId id="316" r:id="rId61"/>
    <p:sldId id="317" r:id="rId62"/>
    <p:sldId id="319" r:id="rId63"/>
    <p:sldId id="320" r:id="rId64"/>
    <p:sldId id="321" r:id="rId65"/>
    <p:sldId id="322" r:id="rId66"/>
    <p:sldId id="323" r:id="rId67"/>
    <p:sldId id="324" r:id="rId68"/>
    <p:sldId id="325" r:id="rId69"/>
    <p:sldId id="326" r:id="rId70"/>
    <p:sldId id="327" r:id="rId71"/>
    <p:sldId id="328" r:id="rId72"/>
    <p:sldId id="329" r:id="rId73"/>
    <p:sldId id="330" r:id="rId74"/>
    <p:sldId id="331" r:id="rId75"/>
    <p:sldId id="332" r:id="rId76"/>
    <p:sldId id="333" r:id="rId77"/>
    <p:sldId id="334" r:id="rId78"/>
    <p:sldId id="335" r:id="rId79"/>
    <p:sldId id="336" r:id="rId80"/>
    <p:sldId id="337" r:id="rId81"/>
    <p:sldId id="338" r:id="rId82"/>
    <p:sldId id="339" r:id="rId83"/>
    <p:sldId id="340" r:id="rId84"/>
    <p:sldId id="341" r:id="rId85"/>
    <p:sldId id="342" r:id="rId86"/>
    <p:sldId id="343" r:id="rId87"/>
    <p:sldId id="344" r:id="rId88"/>
    <p:sldId id="345" r:id="rId89"/>
    <p:sldId id="346" r:id="rId90"/>
    <p:sldId id="347" r:id="rId91"/>
    <p:sldId id="348" r:id="rId92"/>
    <p:sldId id="349" r:id="rId93"/>
    <p:sldId id="350" r:id="rId94"/>
    <p:sldId id="351" r:id="rId95"/>
    <p:sldId id="352" r:id="rId96"/>
    <p:sldId id="353" r:id="rId97"/>
    <p:sldId id="354" r:id="rId98"/>
    <p:sldId id="355" r:id="rId99"/>
    <p:sldId id="356" r:id="rId100"/>
    <p:sldId id="357" r:id="rId101"/>
    <p:sldId id="358" r:id="rId102"/>
    <p:sldId id="379" r:id="rId103"/>
    <p:sldId id="380" r:id="rId104"/>
    <p:sldId id="381" r:id="rId105"/>
    <p:sldId id="382" r:id="rId106"/>
    <p:sldId id="359" r:id="rId107"/>
    <p:sldId id="360" r:id="rId108"/>
    <p:sldId id="361" r:id="rId109"/>
    <p:sldId id="362" r:id="rId110"/>
    <p:sldId id="363" r:id="rId111"/>
    <p:sldId id="364" r:id="rId112"/>
    <p:sldId id="365" r:id="rId113"/>
    <p:sldId id="366" r:id="rId114"/>
    <p:sldId id="367" r:id="rId115"/>
    <p:sldId id="397" r:id="rId116"/>
    <p:sldId id="368" r:id="rId117"/>
    <p:sldId id="369" r:id="rId118"/>
    <p:sldId id="370" r:id="rId119"/>
    <p:sldId id="371" r:id="rId120"/>
    <p:sldId id="372" r:id="rId121"/>
    <p:sldId id="389" r:id="rId122"/>
    <p:sldId id="390" r:id="rId123"/>
    <p:sldId id="391" r:id="rId124"/>
    <p:sldId id="392" r:id="rId125"/>
    <p:sldId id="393" r:id="rId126"/>
    <p:sldId id="394" r:id="rId127"/>
    <p:sldId id="395" r:id="rId128"/>
    <p:sldId id="396" r:id="rId129"/>
    <p:sldId id="398" r:id="rId130"/>
    <p:sldId id="402" r:id="rId131"/>
    <p:sldId id="403" r:id="rId132"/>
    <p:sldId id="399" r:id="rId133"/>
    <p:sldId id="400" r:id="rId134"/>
    <p:sldId id="401" r:id="rId135"/>
    <p:sldId id="373" r:id="rId136"/>
    <p:sldId id="374" r:id="rId137"/>
    <p:sldId id="375" r:id="rId138"/>
    <p:sldId id="376" r:id="rId139"/>
    <p:sldId id="377" r:id="rId140"/>
    <p:sldId id="378" r:id="rId141"/>
    <p:sldId id="383" r:id="rId142"/>
    <p:sldId id="384" r:id="rId143"/>
    <p:sldId id="385" r:id="rId144"/>
    <p:sldId id="386" r:id="rId145"/>
    <p:sldId id="387" r:id="rId146"/>
    <p:sldId id="388" r:id="rId147"/>
    <p:sldId id="404" r:id="rId148"/>
    <p:sldId id="405" r:id="rId149"/>
    <p:sldId id="406" r:id="rId150"/>
    <p:sldId id="407" r:id="rId151"/>
    <p:sldId id="408" r:id="rId15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p:scale>
          <a:sx n="70" d="100"/>
          <a:sy n="70" d="100"/>
        </p:scale>
        <p:origin x="-1156" y="18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38" Type="http://schemas.openxmlformats.org/officeDocument/2006/relationships/slide" Target="slides/slide137.xml"/><Relationship Id="rId154" Type="http://schemas.openxmlformats.org/officeDocument/2006/relationships/presProps" Target="presProps.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144" Type="http://schemas.openxmlformats.org/officeDocument/2006/relationships/slide" Target="slides/slide143.xml"/><Relationship Id="rId149" Type="http://schemas.openxmlformats.org/officeDocument/2006/relationships/slide" Target="slides/slide14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slide" Target="slides/slide149.xml"/><Relationship Id="rId155" Type="http://schemas.openxmlformats.org/officeDocument/2006/relationships/viewProps" Target="viewProps.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32" Type="http://schemas.openxmlformats.org/officeDocument/2006/relationships/slide" Target="slides/slide131.xml"/><Relationship Id="rId140" Type="http://schemas.openxmlformats.org/officeDocument/2006/relationships/slide" Target="slides/slide139.xml"/><Relationship Id="rId145" Type="http://schemas.openxmlformats.org/officeDocument/2006/relationships/slide" Target="slides/slide144.xml"/><Relationship Id="rId153"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30" Type="http://schemas.openxmlformats.org/officeDocument/2006/relationships/slide" Target="slides/slide129.xml"/><Relationship Id="rId135" Type="http://schemas.openxmlformats.org/officeDocument/2006/relationships/slide" Target="slides/slide134.xml"/><Relationship Id="rId143" Type="http://schemas.openxmlformats.org/officeDocument/2006/relationships/slide" Target="slides/slide142.xml"/><Relationship Id="rId148" Type="http://schemas.openxmlformats.org/officeDocument/2006/relationships/slide" Target="slides/slide147.xml"/><Relationship Id="rId151" Type="http://schemas.openxmlformats.org/officeDocument/2006/relationships/slide" Target="slides/slide150.xml"/><Relationship Id="rId156"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9F695BE-55BD-4E34-9557-A6BC0BE0BDB2}" type="datetimeFigureOut">
              <a:rPr lang="en-IN" smtClean="0"/>
              <a:t>19-01-2026</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EC98816-3788-4313-B584-092C6C5D04A7}" type="slidenum">
              <a:rPr lang="en-IN" smtClean="0"/>
              <a:t>‹#›</a:t>
            </a:fld>
            <a:endParaRPr lang="en-IN"/>
          </a:p>
        </p:txBody>
      </p:sp>
    </p:spTree>
    <p:extLst>
      <p:ext uri="{BB962C8B-B14F-4D97-AF65-F5344CB8AC3E}">
        <p14:creationId xmlns:p14="http://schemas.microsoft.com/office/powerpoint/2010/main" val="4766485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www.geeksforgeeks.org/computer-science-fundamentals/what-is-an-ip-address/" TargetMode="External"/><Relationship Id="rId2" Type="http://schemas.openxmlformats.org/officeDocument/2006/relationships/slide" Target="../slides/slide13.xml"/><Relationship Id="rId1" Type="http://schemas.openxmlformats.org/officeDocument/2006/relationships/notesMaster" Target="../notesMasters/notesMaster1.xml"/><Relationship Id="rId4" Type="http://schemas.openxmlformats.org/officeDocument/2006/relationships/hyperlink" Target="https://www.geeksforgeeks.org/ethical-hacking/malware-and-its-types/" TargetMode="Externa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r>
              <a:rPr lang="en-US" sz="1200" b="1" i="0" kern="1200" dirty="0" smtClean="0">
                <a:solidFill>
                  <a:schemeClr val="tx1"/>
                </a:solidFill>
                <a:effectLst/>
                <a:latin typeface="+mn-lt"/>
                <a:ea typeface="+mn-ea"/>
                <a:cs typeface="+mn-cs"/>
              </a:rPr>
              <a:t>Username and Password Masquerade: </a:t>
            </a:r>
            <a:r>
              <a:rPr lang="en-US" sz="1200" b="0" i="0" kern="1200" dirty="0" smtClean="0">
                <a:solidFill>
                  <a:schemeClr val="tx1"/>
                </a:solidFill>
                <a:effectLst/>
                <a:latin typeface="+mn-lt"/>
                <a:ea typeface="+mn-ea"/>
                <a:cs typeface="+mn-cs"/>
              </a:rPr>
              <a:t>In this masquerade attack, a person uses either stolen or even forged credentials to authenticate themselves as a valid user while gaining access to the system or application.</a:t>
            </a:r>
          </a:p>
          <a:p>
            <a:pPr fontAlgn="base"/>
            <a:r>
              <a:rPr lang="en-US" sz="1200" b="1" i="0" kern="1200" dirty="0" smtClean="0">
                <a:solidFill>
                  <a:schemeClr val="tx1"/>
                </a:solidFill>
                <a:effectLst/>
                <a:latin typeface="+mn-lt"/>
                <a:ea typeface="+mn-ea"/>
                <a:cs typeface="+mn-cs"/>
              </a:rPr>
              <a:t>IP address masquerade: </a:t>
            </a:r>
            <a:r>
              <a:rPr lang="en-US" sz="1200" b="0" i="0" kern="1200" dirty="0" smtClean="0">
                <a:solidFill>
                  <a:schemeClr val="tx1"/>
                </a:solidFill>
                <a:effectLst/>
                <a:latin typeface="+mn-lt"/>
                <a:ea typeface="+mn-ea"/>
                <a:cs typeface="+mn-cs"/>
              </a:rPr>
              <a:t>This is an attack where the </a:t>
            </a:r>
            <a:r>
              <a:rPr lang="en-US" sz="1200" b="0" i="0" u="sng" kern="1200" dirty="0" smtClean="0">
                <a:solidFill>
                  <a:schemeClr val="tx1"/>
                </a:solidFill>
                <a:effectLst/>
                <a:latin typeface="+mn-lt"/>
                <a:ea typeface="+mn-ea"/>
                <a:cs typeface="+mn-cs"/>
                <a:hlinkClick r:id="rId3"/>
              </a:rPr>
              <a:t>IP address</a:t>
            </a:r>
            <a:r>
              <a:rPr lang="en-US" sz="1200" b="0" i="0" kern="1200" dirty="0" smtClean="0">
                <a:solidFill>
                  <a:schemeClr val="tx1"/>
                </a:solidFill>
                <a:effectLst/>
                <a:latin typeface="+mn-lt"/>
                <a:ea typeface="+mn-ea"/>
                <a:cs typeface="+mn-cs"/>
              </a:rPr>
              <a:t> of a malicious user is spoofed or forged such that the source from which the system or the application is accessed appears to be trusted.</a:t>
            </a:r>
          </a:p>
          <a:p>
            <a:pPr fontAlgn="base"/>
            <a:r>
              <a:rPr lang="en-US" sz="1200" b="1" i="0" kern="1200" dirty="0" smtClean="0">
                <a:solidFill>
                  <a:schemeClr val="tx1"/>
                </a:solidFill>
                <a:effectLst/>
                <a:latin typeface="+mn-lt"/>
                <a:ea typeface="+mn-ea"/>
                <a:cs typeface="+mn-cs"/>
              </a:rPr>
              <a:t>Website masquerade: </a:t>
            </a:r>
            <a:r>
              <a:rPr lang="en-US" sz="1200" b="0" i="0" kern="1200" dirty="0" smtClean="0">
                <a:solidFill>
                  <a:schemeClr val="tx1"/>
                </a:solidFill>
                <a:effectLst/>
                <a:latin typeface="+mn-lt"/>
                <a:ea typeface="+mn-ea"/>
                <a:cs typeface="+mn-cs"/>
              </a:rPr>
              <a:t>A hacker creates a fake website that resembles as a legitimate one in order to gain user information or even download malware.</a:t>
            </a:r>
          </a:p>
          <a:p>
            <a:pPr fontAlgn="base"/>
            <a:r>
              <a:rPr lang="en-US" sz="1200" b="1" i="0" kern="1200" dirty="0" smtClean="0">
                <a:solidFill>
                  <a:schemeClr val="tx1"/>
                </a:solidFill>
                <a:effectLst/>
                <a:latin typeface="+mn-lt"/>
                <a:ea typeface="+mn-ea"/>
                <a:cs typeface="+mn-cs"/>
              </a:rPr>
              <a:t>Email masquerade:</a:t>
            </a:r>
            <a:r>
              <a:rPr lang="en-US" sz="1200" b="0" i="0" kern="1200" dirty="0" smtClean="0">
                <a:solidFill>
                  <a:schemeClr val="tx1"/>
                </a:solidFill>
                <a:effectLst/>
                <a:latin typeface="+mn-lt"/>
                <a:ea typeface="+mn-ea"/>
                <a:cs typeface="+mn-cs"/>
              </a:rPr>
              <a:t> This is an e-mail masquerade attack through which an attacker sends an apparently trusted source email so that the recipient can </a:t>
            </a:r>
            <a:r>
              <a:rPr lang="en-US" sz="1200" b="0" i="0" kern="1200" dirty="0" err="1" smtClean="0">
                <a:solidFill>
                  <a:schemeClr val="tx1"/>
                </a:solidFill>
                <a:effectLst/>
                <a:latin typeface="+mn-lt"/>
                <a:ea typeface="+mn-ea"/>
                <a:cs typeface="+mn-cs"/>
              </a:rPr>
              <a:t>mistakely</a:t>
            </a:r>
            <a:r>
              <a:rPr lang="en-US" sz="1200" b="0" i="0" kern="1200" dirty="0" smtClean="0">
                <a:solidFill>
                  <a:schemeClr val="tx1"/>
                </a:solidFill>
                <a:effectLst/>
                <a:latin typeface="+mn-lt"/>
                <a:ea typeface="+mn-ea"/>
                <a:cs typeface="+mn-cs"/>
              </a:rPr>
              <a:t> share sensitive information or download </a:t>
            </a:r>
            <a:r>
              <a:rPr lang="en-US" sz="1200" b="0" i="0" u="sng" kern="1200" dirty="0" smtClean="0">
                <a:solidFill>
                  <a:schemeClr val="tx1"/>
                </a:solidFill>
                <a:effectLst/>
                <a:latin typeface="+mn-lt"/>
                <a:ea typeface="+mn-ea"/>
                <a:cs typeface="+mn-cs"/>
                <a:hlinkClick r:id="rId4"/>
              </a:rPr>
              <a:t>malware</a:t>
            </a:r>
            <a:r>
              <a:rPr lang="en-US" sz="1200" b="0" i="0" kern="1200" dirty="0" smtClean="0">
                <a:solidFill>
                  <a:schemeClr val="tx1"/>
                </a:solidFill>
                <a:effectLst/>
                <a:latin typeface="+mn-lt"/>
                <a:ea typeface="+mn-ea"/>
                <a:cs typeface="+mn-cs"/>
              </a:rPr>
              <a:t>.</a:t>
            </a:r>
          </a:p>
          <a:p>
            <a:endParaRPr lang="en-IN" dirty="0"/>
          </a:p>
        </p:txBody>
      </p:sp>
      <p:sp>
        <p:nvSpPr>
          <p:cNvPr id="4" name="Slide Number Placeholder 3"/>
          <p:cNvSpPr>
            <a:spLocks noGrp="1"/>
          </p:cNvSpPr>
          <p:nvPr>
            <p:ph type="sldNum" sz="quarter" idx="10"/>
          </p:nvPr>
        </p:nvSpPr>
        <p:spPr/>
        <p:txBody>
          <a:bodyPr/>
          <a:lstStyle/>
          <a:p>
            <a:fld id="{EEC98816-3788-4313-B584-092C6C5D04A7}" type="slidenum">
              <a:rPr lang="en-IN" smtClean="0"/>
              <a:t>13</a:t>
            </a:fld>
            <a:endParaRPr lang="en-IN"/>
          </a:p>
        </p:txBody>
      </p:sp>
    </p:spTree>
    <p:extLst>
      <p:ext uri="{BB962C8B-B14F-4D97-AF65-F5344CB8AC3E}">
        <p14:creationId xmlns:p14="http://schemas.microsoft.com/office/powerpoint/2010/main" val="27569768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6"/>
          <p:cNvSpPr>
            <a:spLocks noGrp="1" noChangeArrowheads="1"/>
          </p:cNvSpPr>
          <p:nvPr>
            <p:ph type="ftr" sz="quarter" idx="4"/>
          </p:nvPr>
        </p:nvSpPr>
        <p:spPr>
          <a:ln/>
        </p:spPr>
        <p:txBody>
          <a:bodyPr/>
          <a:lstStyle/>
          <a:p>
            <a:r>
              <a:rPr lang="en-US"/>
              <a:t>1.#</a:t>
            </a:r>
          </a:p>
        </p:txBody>
      </p:sp>
      <p:sp>
        <p:nvSpPr>
          <p:cNvPr id="955394" name="Rectangle 2"/>
          <p:cNvSpPr>
            <a:spLocks noGrp="1" noRot="1" noChangeAspect="1" noChangeArrowheads="1" noTextEdit="1"/>
          </p:cNvSpPr>
          <p:nvPr>
            <p:ph type="sldImg"/>
          </p:nvPr>
        </p:nvSpPr>
        <p:spPr>
          <a:ln/>
        </p:spPr>
      </p:sp>
      <p:sp>
        <p:nvSpPr>
          <p:cNvPr id="95539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6"/>
          <p:cNvSpPr>
            <a:spLocks noGrp="1" noChangeArrowheads="1"/>
          </p:cNvSpPr>
          <p:nvPr>
            <p:ph type="ftr" sz="quarter" idx="4"/>
          </p:nvPr>
        </p:nvSpPr>
        <p:spPr>
          <a:ln/>
        </p:spPr>
        <p:txBody>
          <a:bodyPr/>
          <a:lstStyle/>
          <a:p>
            <a:r>
              <a:rPr lang="en-US"/>
              <a:t>1.#</a:t>
            </a:r>
          </a:p>
        </p:txBody>
      </p:sp>
      <p:sp>
        <p:nvSpPr>
          <p:cNvPr id="957442" name="Rectangle 2"/>
          <p:cNvSpPr>
            <a:spLocks noGrp="1" noRot="1" noChangeAspect="1" noChangeArrowheads="1" noTextEdit="1"/>
          </p:cNvSpPr>
          <p:nvPr>
            <p:ph type="sldImg"/>
          </p:nvPr>
        </p:nvSpPr>
        <p:spPr>
          <a:ln/>
        </p:spPr>
      </p:sp>
      <p:sp>
        <p:nvSpPr>
          <p:cNvPr id="95744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6"/>
          <p:cNvSpPr>
            <a:spLocks noGrp="1" noChangeArrowheads="1"/>
          </p:cNvSpPr>
          <p:nvPr>
            <p:ph type="ftr" sz="quarter" idx="4"/>
          </p:nvPr>
        </p:nvSpPr>
        <p:spPr>
          <a:ln/>
        </p:spPr>
        <p:txBody>
          <a:bodyPr/>
          <a:lstStyle/>
          <a:p>
            <a:r>
              <a:rPr lang="en-US"/>
              <a:t>1.#</a:t>
            </a:r>
          </a:p>
        </p:txBody>
      </p:sp>
      <p:sp>
        <p:nvSpPr>
          <p:cNvPr id="959490" name="Rectangle 2"/>
          <p:cNvSpPr>
            <a:spLocks noGrp="1" noRot="1" noChangeAspect="1" noChangeArrowheads="1" noTextEdit="1"/>
          </p:cNvSpPr>
          <p:nvPr>
            <p:ph type="sldImg"/>
          </p:nvPr>
        </p:nvSpPr>
        <p:spPr>
          <a:ln/>
        </p:spPr>
      </p:sp>
      <p:sp>
        <p:nvSpPr>
          <p:cNvPr id="95949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6"/>
          <p:cNvSpPr>
            <a:spLocks noGrp="1" noChangeArrowheads="1"/>
          </p:cNvSpPr>
          <p:nvPr>
            <p:ph type="ftr" sz="quarter" idx="4"/>
          </p:nvPr>
        </p:nvSpPr>
        <p:spPr>
          <a:ln/>
        </p:spPr>
        <p:txBody>
          <a:bodyPr/>
          <a:lstStyle/>
          <a:p>
            <a:r>
              <a:rPr lang="en-US"/>
              <a:t>1.#</a:t>
            </a:r>
          </a:p>
        </p:txBody>
      </p:sp>
      <p:sp>
        <p:nvSpPr>
          <p:cNvPr id="918530" name="Rectangle 2"/>
          <p:cNvSpPr>
            <a:spLocks noGrp="1" noRot="1" noChangeAspect="1" noChangeArrowheads="1" noTextEdit="1"/>
          </p:cNvSpPr>
          <p:nvPr>
            <p:ph type="sldImg"/>
          </p:nvPr>
        </p:nvSpPr>
        <p:spPr>
          <a:ln/>
        </p:spPr>
      </p:sp>
      <p:sp>
        <p:nvSpPr>
          <p:cNvPr id="91853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6"/>
          <p:cNvSpPr>
            <a:spLocks noGrp="1" noChangeArrowheads="1"/>
          </p:cNvSpPr>
          <p:nvPr>
            <p:ph type="ftr" sz="quarter" idx="4"/>
          </p:nvPr>
        </p:nvSpPr>
        <p:spPr>
          <a:ln/>
        </p:spPr>
        <p:txBody>
          <a:bodyPr/>
          <a:lstStyle/>
          <a:p>
            <a:r>
              <a:rPr lang="en-US"/>
              <a:t>1.#</a:t>
            </a:r>
          </a:p>
        </p:txBody>
      </p:sp>
      <p:sp>
        <p:nvSpPr>
          <p:cNvPr id="961538" name="Rectangle 2"/>
          <p:cNvSpPr>
            <a:spLocks noGrp="1" noRot="1" noChangeAspect="1" noChangeArrowheads="1" noTextEdit="1"/>
          </p:cNvSpPr>
          <p:nvPr>
            <p:ph type="sldImg"/>
          </p:nvPr>
        </p:nvSpPr>
        <p:spPr>
          <a:ln/>
        </p:spPr>
      </p:sp>
      <p:sp>
        <p:nvSpPr>
          <p:cNvPr id="96153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6"/>
          <p:cNvSpPr>
            <a:spLocks noGrp="1" noChangeArrowheads="1"/>
          </p:cNvSpPr>
          <p:nvPr>
            <p:ph type="ftr" sz="quarter" idx="4"/>
          </p:nvPr>
        </p:nvSpPr>
        <p:spPr>
          <a:ln/>
        </p:spPr>
        <p:txBody>
          <a:bodyPr/>
          <a:lstStyle/>
          <a:p>
            <a:r>
              <a:rPr lang="en-US"/>
              <a:t>1.#</a:t>
            </a:r>
          </a:p>
        </p:txBody>
      </p:sp>
      <p:sp>
        <p:nvSpPr>
          <p:cNvPr id="963586" name="Rectangle 2"/>
          <p:cNvSpPr>
            <a:spLocks noGrp="1" noRot="1" noChangeAspect="1" noChangeArrowheads="1" noTextEdit="1"/>
          </p:cNvSpPr>
          <p:nvPr>
            <p:ph type="sldImg"/>
          </p:nvPr>
        </p:nvSpPr>
        <p:spPr>
          <a:ln/>
        </p:spPr>
      </p:sp>
      <p:sp>
        <p:nvSpPr>
          <p:cNvPr id="96358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6"/>
          <p:cNvSpPr>
            <a:spLocks noGrp="1" noChangeArrowheads="1"/>
          </p:cNvSpPr>
          <p:nvPr>
            <p:ph type="ftr" sz="quarter" idx="4"/>
          </p:nvPr>
        </p:nvSpPr>
        <p:spPr>
          <a:ln/>
        </p:spPr>
        <p:txBody>
          <a:bodyPr/>
          <a:lstStyle/>
          <a:p>
            <a:r>
              <a:rPr lang="en-US"/>
              <a:t>1.#</a:t>
            </a:r>
          </a:p>
        </p:txBody>
      </p:sp>
      <p:sp>
        <p:nvSpPr>
          <p:cNvPr id="965634" name="Rectangle 2"/>
          <p:cNvSpPr>
            <a:spLocks noGrp="1" noRot="1" noChangeAspect="1" noChangeArrowheads="1" noTextEdit="1"/>
          </p:cNvSpPr>
          <p:nvPr>
            <p:ph type="sldImg"/>
          </p:nvPr>
        </p:nvSpPr>
        <p:spPr>
          <a:ln/>
        </p:spPr>
      </p:sp>
      <p:sp>
        <p:nvSpPr>
          <p:cNvPr id="965635" name="Rectangle 3"/>
          <p:cNvSpPr>
            <a:spLocks noGrp="1" noChangeArrowheads="1"/>
          </p:cNvSpPr>
          <p:nvPr>
            <p:ph type="body" idx="1"/>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EC6132E9-58B9-4031-BA58-B10DCE0E86E7}" type="datetimeFigureOut">
              <a:rPr lang="en-IN" smtClean="0"/>
              <a:t>19-01-2026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4D7FF3C-CB17-4677-9455-1D26B71F2A6B}" type="slidenum">
              <a:rPr lang="en-IN" smtClean="0"/>
              <a:t>‹#›</a:t>
            </a:fld>
            <a:endParaRPr lang="en-IN"/>
          </a:p>
        </p:txBody>
      </p:sp>
    </p:spTree>
    <p:extLst>
      <p:ext uri="{BB962C8B-B14F-4D97-AF65-F5344CB8AC3E}">
        <p14:creationId xmlns:p14="http://schemas.microsoft.com/office/powerpoint/2010/main" val="40716505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EC6132E9-58B9-4031-BA58-B10DCE0E86E7}" type="datetimeFigureOut">
              <a:rPr lang="en-IN" smtClean="0"/>
              <a:t>19-01-2026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4D7FF3C-CB17-4677-9455-1D26B71F2A6B}" type="slidenum">
              <a:rPr lang="en-IN" smtClean="0"/>
              <a:t>‹#›</a:t>
            </a:fld>
            <a:endParaRPr lang="en-IN"/>
          </a:p>
        </p:txBody>
      </p:sp>
    </p:spTree>
    <p:extLst>
      <p:ext uri="{BB962C8B-B14F-4D97-AF65-F5344CB8AC3E}">
        <p14:creationId xmlns:p14="http://schemas.microsoft.com/office/powerpoint/2010/main" val="40743323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C6132E9-58B9-4031-BA58-B10DCE0E86E7}" type="datetimeFigureOut">
              <a:rPr lang="en-IN" smtClean="0"/>
              <a:t>19-01-2026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4D7FF3C-CB17-4677-9455-1D26B71F2A6B}" type="slidenum">
              <a:rPr lang="en-IN" smtClean="0"/>
              <a:t>‹#›</a:t>
            </a:fld>
            <a:endParaRPr lang="en-IN"/>
          </a:p>
        </p:txBody>
      </p:sp>
    </p:spTree>
    <p:extLst>
      <p:ext uri="{BB962C8B-B14F-4D97-AF65-F5344CB8AC3E}">
        <p14:creationId xmlns:p14="http://schemas.microsoft.com/office/powerpoint/2010/main" val="26378163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EC6132E9-58B9-4031-BA58-B10DCE0E86E7}" type="datetimeFigureOut">
              <a:rPr lang="en-IN" smtClean="0"/>
              <a:t>19-01-2026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4D7FF3C-CB17-4677-9455-1D26B71F2A6B}" type="slidenum">
              <a:rPr lang="en-IN" smtClean="0"/>
              <a:t>‹#›</a:t>
            </a:fld>
            <a:endParaRPr lang="en-IN"/>
          </a:p>
        </p:txBody>
      </p:sp>
    </p:spTree>
    <p:extLst>
      <p:ext uri="{BB962C8B-B14F-4D97-AF65-F5344CB8AC3E}">
        <p14:creationId xmlns:p14="http://schemas.microsoft.com/office/powerpoint/2010/main" val="37769838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EC6132E9-58B9-4031-BA58-B10DCE0E86E7}" type="datetimeFigureOut">
              <a:rPr lang="en-IN" smtClean="0"/>
              <a:t>19-01-2026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E4D7FF3C-CB17-4677-9455-1D26B71F2A6B}" type="slidenum">
              <a:rPr lang="en-IN" smtClean="0"/>
              <a:t>‹#›</a:t>
            </a:fld>
            <a:endParaRPr lang="en-IN"/>
          </a:p>
        </p:txBody>
      </p:sp>
    </p:spTree>
    <p:extLst>
      <p:ext uri="{BB962C8B-B14F-4D97-AF65-F5344CB8AC3E}">
        <p14:creationId xmlns:p14="http://schemas.microsoft.com/office/powerpoint/2010/main" val="8258123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EC6132E9-58B9-4031-BA58-B10DCE0E86E7}" type="datetimeFigureOut">
              <a:rPr lang="en-IN" smtClean="0"/>
              <a:t>19-01-2026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E4D7FF3C-CB17-4677-9455-1D26B71F2A6B}" type="slidenum">
              <a:rPr lang="en-IN" smtClean="0"/>
              <a:t>‹#›</a:t>
            </a:fld>
            <a:endParaRPr lang="en-IN"/>
          </a:p>
        </p:txBody>
      </p:sp>
    </p:spTree>
    <p:extLst>
      <p:ext uri="{BB962C8B-B14F-4D97-AF65-F5344CB8AC3E}">
        <p14:creationId xmlns:p14="http://schemas.microsoft.com/office/powerpoint/2010/main" val="41425193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C6132E9-58B9-4031-BA58-B10DCE0E86E7}" type="datetimeFigureOut">
              <a:rPr lang="en-IN" smtClean="0"/>
              <a:t>19-01-2026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E4D7FF3C-CB17-4677-9455-1D26B71F2A6B}" type="slidenum">
              <a:rPr lang="en-IN" smtClean="0"/>
              <a:t>‹#›</a:t>
            </a:fld>
            <a:endParaRPr lang="en-IN"/>
          </a:p>
        </p:txBody>
      </p:sp>
    </p:spTree>
    <p:extLst>
      <p:ext uri="{BB962C8B-B14F-4D97-AF65-F5344CB8AC3E}">
        <p14:creationId xmlns:p14="http://schemas.microsoft.com/office/powerpoint/2010/main" val="497979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C6132E9-58B9-4031-BA58-B10DCE0E86E7}" type="datetimeFigureOut">
              <a:rPr lang="en-IN" smtClean="0"/>
              <a:t>19-01-2026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4D7FF3C-CB17-4677-9455-1D26B71F2A6B}" type="slidenum">
              <a:rPr lang="en-IN" smtClean="0"/>
              <a:t>‹#›</a:t>
            </a:fld>
            <a:endParaRPr lang="en-IN"/>
          </a:p>
        </p:txBody>
      </p:sp>
    </p:spTree>
    <p:extLst>
      <p:ext uri="{BB962C8B-B14F-4D97-AF65-F5344CB8AC3E}">
        <p14:creationId xmlns:p14="http://schemas.microsoft.com/office/powerpoint/2010/main" val="1646145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C6132E9-58B9-4031-BA58-B10DCE0E86E7}" type="datetimeFigureOut">
              <a:rPr lang="en-IN" smtClean="0"/>
              <a:t>19-01-2026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4D7FF3C-CB17-4677-9455-1D26B71F2A6B}" type="slidenum">
              <a:rPr lang="en-IN" smtClean="0"/>
              <a:t>‹#›</a:t>
            </a:fld>
            <a:endParaRPr lang="en-IN"/>
          </a:p>
        </p:txBody>
      </p:sp>
    </p:spTree>
    <p:extLst>
      <p:ext uri="{BB962C8B-B14F-4D97-AF65-F5344CB8AC3E}">
        <p14:creationId xmlns:p14="http://schemas.microsoft.com/office/powerpoint/2010/main" val="11136229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EC6132E9-58B9-4031-BA58-B10DCE0E86E7}" type="datetimeFigureOut">
              <a:rPr lang="en-IN" smtClean="0"/>
              <a:t>19-01-2026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4D7FF3C-CB17-4677-9455-1D26B71F2A6B}" type="slidenum">
              <a:rPr lang="en-IN" smtClean="0"/>
              <a:t>‹#›</a:t>
            </a:fld>
            <a:endParaRPr lang="en-IN"/>
          </a:p>
        </p:txBody>
      </p:sp>
    </p:spTree>
    <p:extLst>
      <p:ext uri="{BB962C8B-B14F-4D97-AF65-F5344CB8AC3E}">
        <p14:creationId xmlns:p14="http://schemas.microsoft.com/office/powerpoint/2010/main" val="19859175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EC6132E9-58B9-4031-BA58-B10DCE0E86E7}" type="datetimeFigureOut">
              <a:rPr lang="en-IN" smtClean="0"/>
              <a:t>19-01-2026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4D7FF3C-CB17-4677-9455-1D26B71F2A6B}" type="slidenum">
              <a:rPr lang="en-IN" smtClean="0"/>
              <a:t>‹#›</a:t>
            </a:fld>
            <a:endParaRPr lang="en-IN"/>
          </a:p>
        </p:txBody>
      </p:sp>
    </p:spTree>
    <p:extLst>
      <p:ext uri="{BB962C8B-B14F-4D97-AF65-F5344CB8AC3E}">
        <p14:creationId xmlns:p14="http://schemas.microsoft.com/office/powerpoint/2010/main" val="18854337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C6132E9-58B9-4031-BA58-B10DCE0E86E7}" type="datetimeFigureOut">
              <a:rPr lang="en-IN" smtClean="0"/>
              <a:t>19-01-2026</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4D7FF3C-CB17-4677-9455-1D26B71F2A6B}" type="slidenum">
              <a:rPr lang="en-IN" smtClean="0"/>
              <a:t>‹#›</a:t>
            </a:fld>
            <a:endParaRPr lang="en-IN"/>
          </a:p>
        </p:txBody>
      </p:sp>
    </p:spTree>
    <p:extLst>
      <p:ext uri="{BB962C8B-B14F-4D97-AF65-F5344CB8AC3E}">
        <p14:creationId xmlns:p14="http://schemas.microsoft.com/office/powerpoint/2010/main" val="84054322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www.google.com/search?sca_esv=b0459091c4382016&amp;q=Integrity&amp;source=lnms&amp;fbs=AIIjpHzkVKqxs4K0fKwoDSUgo5iVwltk49sNU9rmnb7cwy9D9u2ABp4cGhxggR31ZU4sYMAvYFbmSHxHnolY_gc_8cKvZnieiPvtZ0XYsqnJ1hUPlegj4xkbw36SQYUarpuGfjcThFC0ct6_0JBAXZYOEdgc4I_dDRzonLIJauLqE84y-W8bjlhCZcvqasmZsrllBK7-7Tfd5L9UH7lu8P-ZZw7bPAinkx6LtV8EjN6YKXaTj2qwUQU&amp;sa=X&amp;ved=2ahUKEwjs0N6szPSRAxXjn68BHYdSEVIQgK4QegYIAQgAEA4&amp;biw=1280&amp;bih=585&amp;dpr=1.5" TargetMode="External"/><Relationship Id="rId2" Type="http://schemas.openxmlformats.org/officeDocument/2006/relationships/hyperlink" Target="https://www.google.com/search?sca_esv=b0459091c4382016&amp;q=Confidentiality&amp;source=lnms&amp;fbs=AIIjpHzkVKqxs4K0fKwoDSUgo5iVwltk49sNU9rmnb7cwy9D9u2ABp4cGhxggR31ZU4sYMAvYFbmSHxHnolY_gc_8cKvZnieiPvtZ0XYsqnJ1hUPlegj4xkbw36SQYUarpuGfjcThFC0ct6_0JBAXZYOEdgc4I_dDRzonLIJauLqE84y-W8bjlhCZcvqasmZsrllBK7-7Tfd5L9UH7lu8P-ZZw7bPAinkx6LtV8EjN6YKXaTj2qwUQU&amp;sa=X&amp;ved=2ahUKEwjs0N6szPSRAxXjn68BHYdSEVIQgK4QegYIAQgAEAw&amp;biw=1280&amp;bih=585&amp;dpr=1.5" TargetMode="External"/><Relationship Id="rId1" Type="http://schemas.openxmlformats.org/officeDocument/2006/relationships/slideLayout" Target="../slideLayouts/slideLayout2.xml"/><Relationship Id="rId4" Type="http://schemas.openxmlformats.org/officeDocument/2006/relationships/hyperlink" Target="https://www.google.com/search?sca_esv=b0459091c4382016&amp;q=Availability&amp;source=lnms&amp;fbs=AIIjpHzkVKqxs4K0fKwoDSUgo5iVwltk49sNU9rmnb7cwy9D9u2ABp4cGhxggR31ZU4sYMAvYFbmSHxHnolY_gc_8cKvZnieiPvtZ0XYsqnJ1hUPlegj4xkbw36SQYUarpuGfjcThFC0ct6_0JBAXZYOEdgc4I_dDRzonLIJauLqE84y-W8bjlhCZcvqasmZsrllBK7-7Tfd5L9UH7lu8P-ZZw7bPAinkx6LtV8EjN6YKXaTj2qwUQU&amp;sa=X&amp;ved=2ahUKEwjs0N6szPSRAxXjn68BHYdSEVIQgK4QegYIAQgAEBA&amp;biw=1280&amp;bih=585&amp;dpr=1.5"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hyperlink" Target="https://www.geeksforgeeks.org/computer-networks/introduction-of-firewall-in-computer-network/" TargetMode="External"/><Relationship Id="rId2" Type="http://schemas.openxmlformats.org/officeDocument/2006/relationships/hyperlink" Target="https://www.geeksforgeeks.org/computer-networks/cryptography-and-its-types/" TargetMode="Externa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hyperlink" Target="https://www.geeksforgeeks.org/digital-logic/error-detection-codes-parity-bit-method/" TargetMode="External"/><Relationship Id="rId2" Type="http://schemas.openxmlformats.org/officeDocument/2006/relationships/hyperlink" Target="https://www.geeksforgeeks.org/computer-networks/tcp-ip-model/" TargetMode="External"/><Relationship Id="rId1" Type="http://schemas.openxmlformats.org/officeDocument/2006/relationships/slideLayout" Target="../slideLayouts/slideLayout7.xml"/><Relationship Id="rId4" Type="http://schemas.openxmlformats.org/officeDocument/2006/relationships/hyperlink" Target="https://www.geeksforgeeks.org/computer-networks/what-is-electronic-signature/" TargetMode="External"/></Relationships>
</file>

<file path=ppt/slides/_rels/slide39.x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15.wmf"/></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hyperlink" Target="https://www.geeksforgeeks.org/computer-networks/autokey-cipher-symmetric-ciphers/" TargetMode="External"/><Relationship Id="rId2" Type="http://schemas.openxmlformats.org/officeDocument/2006/relationships/hyperlink" Target="https://www.geeksforgeeks.org/dsa/implementation-affine-cipher/" TargetMode="Externa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hyperlink" Target="https://www.geeksforgeeks.org/ethical-hacking/caesar-cipher-in-cryptography/" TargetMode="Externa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44.jp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hyperlink" Target="https://www.google.com/search?q=RC4&amp;sca_esv=fb6ec2c420ab31bb&amp;biw=1280&amp;bih=585&amp;aic=0&amp;sxsrf=ANbL-n7jChqdlzNP9BnJqBblUoxh4UIBUQ%3A1769159447097&amp;ei=FztzabnWBYyXwcsP3_CDsQI&amp;ved=2ahUKEwjj5pCFrqGSAxUDzzgGHUBoAkQQgK4QegYIAQgAEAY&amp;uact=5&amp;oq=what+is+block+cipher+and+stream+cipher&amp;gs_lp=Egxnd3Mtd2l6LXNlcnAiJndoYXQgaXMgYmxvY2sgY2lwaGVyIGFuZCBzdHJlYW0gY2lwaGVyMgYQABgHGB4yCxAAGIAEGIoFGJECMgYQABgIGB4yBhAAGAgYHjIGEAAYCBgeMgYQABgIGB4yCxAAGIAEGIoFGIYDMgUQABjvBUjnIFDeB1j6GXABeAGQAQCYAdICoAGnDqoBBzAuMi41LjG4AQPIAQD4AQGYAgagArUIwgIKEAAYRxjWBBiwA8ICDRAAGIAEGIoFGEMYsAPCAg4QABjkAhjWBBiwA9gBAcICFxAuGNwGGLgGGNoGGNgCGMgDGLAD2AEBwgIHEAAYgAQYDcICCBAAGAgYBxgemAMAiAYBkAYSugYGCAEQARgJkgcFMS4yLjOgB4pQsgcFMC4yLjO4B5IIwgcHMi0zLjIuMcgHQYAIAQ&amp;sclient=gws-wiz-serp" TargetMode="Externa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image" Target="../media/image54.jp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2.xml"/><Relationship Id="rId4" Type="http://schemas.openxmlformats.org/officeDocument/2006/relationships/image" Target="../media/image57.png"/></Relationships>
</file>

<file path=ppt/slides/_rels/slide108.xml.rels><?xml version="1.0" encoding="UTF-8" standalone="yes"?>
<Relationships xmlns="http://schemas.openxmlformats.org/package/2006/relationships"><Relationship Id="rId2" Type="http://schemas.openxmlformats.org/officeDocument/2006/relationships/image" Target="../media/image58.jp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image" Target="../media/image60.jpg"/><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image" Target="../media/image62.jpg"/><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image" Target="../media/image63.jpg"/><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image" Target="../media/image64.jpg"/><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image" Target="../media/image68.jpg"/><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2" Type="http://schemas.openxmlformats.org/officeDocument/2006/relationships/image" Target="../media/image72.jpg"/><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2" Type="http://schemas.openxmlformats.org/officeDocument/2006/relationships/image" Target="../media/image73.jpg"/><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2" Type="http://schemas.openxmlformats.org/officeDocument/2006/relationships/image" Target="../media/image75.jpg"/><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2" Type="http://schemas.openxmlformats.org/officeDocument/2006/relationships/hyperlink" Target="https://www.cloudflare.com/learning/ssl/what-is-asymmetric-encryption/" TargetMode="External"/><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3" Type="http://schemas.openxmlformats.org/officeDocument/2006/relationships/hyperlink" Target="https://www.cloudflare.com/learning/cdn/glossary/origin-server/" TargetMode="External"/><Relationship Id="rId2" Type="http://schemas.openxmlformats.org/officeDocument/2006/relationships/hyperlink" Target="https://www.cloudflare.com/application-services/products/ssl/" TargetMode="External"/><Relationship Id="rId1" Type="http://schemas.openxmlformats.org/officeDocument/2006/relationships/slideLayout" Target="../slideLayouts/slideLayout2.xml"/><Relationship Id="rId4" Type="http://schemas.openxmlformats.org/officeDocument/2006/relationships/hyperlink" Target="https://www.cloudflare.com/learning/ssl/what-happens-in-a-tls-handshake/" TargetMode="External"/></Relationships>
</file>

<file path=ppt/slides/_rels/slide135.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2" Type="http://schemas.openxmlformats.org/officeDocument/2006/relationships/image" Target="../media/image83.jpg"/><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dirty="0" smtClean="0"/>
              <a:t>Network and Information Security </a:t>
            </a:r>
            <a:endParaRPr lang="en-IN" dirty="0"/>
          </a:p>
        </p:txBody>
      </p:sp>
      <p:sp>
        <p:nvSpPr>
          <p:cNvPr id="3" name="Subtitle 2"/>
          <p:cNvSpPr>
            <a:spLocks noGrp="1"/>
          </p:cNvSpPr>
          <p:nvPr>
            <p:ph type="subTitle" idx="1"/>
          </p:nvPr>
        </p:nvSpPr>
        <p:spPr/>
        <p:txBody>
          <a:bodyPr/>
          <a:lstStyle/>
          <a:p>
            <a:r>
              <a:rPr lang="en-IN" dirty="0" err="1" smtClean="0"/>
              <a:t>Sem</a:t>
            </a:r>
            <a:r>
              <a:rPr lang="en-IN" dirty="0" smtClean="0"/>
              <a:t> VI</a:t>
            </a:r>
            <a:endParaRPr lang="en-IN" dirty="0"/>
          </a:p>
        </p:txBody>
      </p:sp>
    </p:spTree>
    <p:extLst>
      <p:ext uri="{BB962C8B-B14F-4D97-AF65-F5344CB8AC3E}">
        <p14:creationId xmlns:p14="http://schemas.microsoft.com/office/powerpoint/2010/main" val="31543652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755576" y="1412777"/>
            <a:ext cx="7632848" cy="42697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0339265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205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95536" y="980728"/>
            <a:ext cx="8352928" cy="52565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6506006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What is Information Security</a:t>
            </a:r>
            <a:endParaRPr lang="en-IN" dirty="0"/>
          </a:p>
        </p:txBody>
      </p:sp>
      <p:sp>
        <p:nvSpPr>
          <p:cNvPr id="3" name="Content Placeholder 2"/>
          <p:cNvSpPr>
            <a:spLocks noGrp="1"/>
          </p:cNvSpPr>
          <p:nvPr>
            <p:ph idx="1"/>
          </p:nvPr>
        </p:nvSpPr>
        <p:spPr/>
        <p:txBody>
          <a:bodyPr>
            <a:normAutofit fontScale="85000" lnSpcReduction="20000"/>
          </a:bodyPr>
          <a:lstStyle/>
          <a:p>
            <a:pPr algn="just"/>
            <a:r>
              <a:rPr lang="en-US" dirty="0"/>
              <a:t>Information security is the practice of protecting information by mitigating information risks. </a:t>
            </a:r>
            <a:endParaRPr lang="en-US" dirty="0" smtClean="0"/>
          </a:p>
          <a:p>
            <a:pPr algn="just"/>
            <a:r>
              <a:rPr lang="en-US" dirty="0" smtClean="0"/>
              <a:t>It </a:t>
            </a:r>
            <a:r>
              <a:rPr lang="en-US" dirty="0"/>
              <a:t>involves the protection of information systems and the information processed, stored, and transmitted by these systems from unauthorized access, use, disclosure, disruption, modification, or destruction. </a:t>
            </a:r>
            <a:endParaRPr lang="en-US" dirty="0" smtClean="0"/>
          </a:p>
          <a:p>
            <a:pPr algn="just"/>
            <a:r>
              <a:rPr lang="en-US" dirty="0" smtClean="0"/>
              <a:t>This </a:t>
            </a:r>
            <a:r>
              <a:rPr lang="en-US" dirty="0"/>
              <a:t>includes the protection of personal information, financial information, and sensitive or confidential information stored in both digital and physical forms. </a:t>
            </a:r>
            <a:endParaRPr lang="en-US" dirty="0" smtClean="0"/>
          </a:p>
          <a:p>
            <a:pPr algn="just"/>
            <a:r>
              <a:rPr lang="en-US" dirty="0" smtClean="0"/>
              <a:t>Effective </a:t>
            </a:r>
            <a:r>
              <a:rPr lang="en-US" dirty="0"/>
              <a:t>information security requires a comprehensive and multi-disciplinary approach, involving people, processes, and technology.</a:t>
            </a:r>
            <a:endParaRPr lang="en-IN" dirty="0"/>
          </a:p>
        </p:txBody>
      </p:sp>
    </p:spTree>
    <p:extLst>
      <p:ext uri="{BB962C8B-B14F-4D97-AF65-F5344CB8AC3E}">
        <p14:creationId xmlns:p14="http://schemas.microsoft.com/office/powerpoint/2010/main" val="404449489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What is InfoSec?</a:t>
            </a:r>
            <a:endParaRPr lang="en-IN" dirty="0"/>
          </a:p>
        </p:txBody>
      </p:sp>
      <p:sp>
        <p:nvSpPr>
          <p:cNvPr id="3" name="Content Placeholder 2"/>
          <p:cNvSpPr>
            <a:spLocks noGrp="1"/>
          </p:cNvSpPr>
          <p:nvPr>
            <p:ph idx="1"/>
          </p:nvPr>
        </p:nvSpPr>
        <p:spPr/>
        <p:txBody>
          <a:bodyPr>
            <a:normAutofit fontScale="92500"/>
          </a:bodyPr>
          <a:lstStyle/>
          <a:p>
            <a:pPr algn="just"/>
            <a:r>
              <a:rPr lang="en-US" dirty="0"/>
              <a:t>Information Security is basically the practice of preventing unauthorized access, use, disclosure, disruption, modification, inspection, recording, or destruction of information. </a:t>
            </a:r>
            <a:endParaRPr lang="en-US" dirty="0" smtClean="0"/>
          </a:p>
          <a:p>
            <a:pPr algn="just"/>
            <a:r>
              <a:rPr lang="en-US" dirty="0" smtClean="0"/>
              <a:t>Information </a:t>
            </a:r>
            <a:r>
              <a:rPr lang="en-US" dirty="0"/>
              <a:t>can be a physical or electronic one. Information can be anything like Your details or we can say your profile on social media, your data on your mobile phone, your biometrics, etc.</a:t>
            </a:r>
            <a:endParaRPr lang="en-IN" dirty="0"/>
          </a:p>
        </p:txBody>
      </p:sp>
    </p:spTree>
    <p:extLst>
      <p:ext uri="{BB962C8B-B14F-4D97-AF65-F5344CB8AC3E}">
        <p14:creationId xmlns:p14="http://schemas.microsoft.com/office/powerpoint/2010/main" val="192734707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t>
            </a:r>
            <a:r>
              <a:rPr lang="en-US" b="1" dirty="0"/>
              <a:t>3 Principles of Information Security?</a:t>
            </a:r>
            <a:br>
              <a:rPr lang="en-US" b="1" dirty="0"/>
            </a:br>
            <a:endParaRPr lang="en-IN" dirty="0"/>
          </a:p>
        </p:txBody>
      </p:sp>
      <p:sp>
        <p:nvSpPr>
          <p:cNvPr id="3" name="Content Placeholder 2"/>
          <p:cNvSpPr>
            <a:spLocks noGrp="1"/>
          </p:cNvSpPr>
          <p:nvPr>
            <p:ph idx="1"/>
          </p:nvPr>
        </p:nvSpPr>
        <p:spPr>
          <a:xfrm>
            <a:off x="457200" y="980728"/>
            <a:ext cx="8229600" cy="5145435"/>
          </a:xfrm>
        </p:spPr>
        <p:txBody>
          <a:bodyPr/>
          <a:lstStyle/>
          <a:p>
            <a:endParaRPr lang="en-IN"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5576" y="1340768"/>
            <a:ext cx="7858125" cy="4608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0597201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lnSpcReduction="10000"/>
          </a:bodyPr>
          <a:lstStyle/>
          <a:p>
            <a:pPr algn="just"/>
            <a:r>
              <a:rPr lang="en-IN" b="1" dirty="0">
                <a:hlinkClick r:id="rId2"/>
              </a:rPr>
              <a:t>Confidentiality</a:t>
            </a:r>
            <a:r>
              <a:rPr lang="en-IN" b="1" dirty="0"/>
              <a:t>:</a:t>
            </a:r>
            <a:r>
              <a:rPr lang="en-IN" dirty="0"/>
              <a:t> Keeping data secret from unauthorized eyes (e.g., encryption, access controls).</a:t>
            </a:r>
          </a:p>
          <a:p>
            <a:pPr algn="just"/>
            <a:r>
              <a:rPr lang="en-IN" b="1" dirty="0">
                <a:hlinkClick r:id="rId3"/>
              </a:rPr>
              <a:t>Integrity</a:t>
            </a:r>
            <a:r>
              <a:rPr lang="en-IN" b="1" dirty="0"/>
              <a:t>:</a:t>
            </a:r>
            <a:r>
              <a:rPr lang="en-IN" dirty="0"/>
              <a:t> Ensuring data is accurate and hasn't been altered (e.g., digital signatures, change management).</a:t>
            </a:r>
          </a:p>
          <a:p>
            <a:pPr algn="just"/>
            <a:r>
              <a:rPr lang="en-IN" b="1" dirty="0">
                <a:hlinkClick r:id="rId4"/>
              </a:rPr>
              <a:t>Availability</a:t>
            </a:r>
            <a:r>
              <a:rPr lang="en-IN" b="1" dirty="0"/>
              <a:t>:</a:t>
            </a:r>
            <a:r>
              <a:rPr lang="en-IN" dirty="0"/>
              <a:t> Making sure authorized users can access data when needed (e.g., backups, disaster recovery)</a:t>
            </a:r>
          </a:p>
          <a:p>
            <a:endParaRPr lang="en-IN" dirty="0"/>
          </a:p>
        </p:txBody>
      </p:sp>
    </p:spTree>
    <p:extLst>
      <p:ext uri="{BB962C8B-B14F-4D97-AF65-F5344CB8AC3E}">
        <p14:creationId xmlns:p14="http://schemas.microsoft.com/office/powerpoint/2010/main" val="344031211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Components &amp; Practices</a:t>
            </a:r>
            <a:br>
              <a:rPr lang="en-US" b="1" dirty="0" smtClean="0"/>
            </a:br>
            <a:endParaRPr lang="en-IN" dirty="0"/>
          </a:p>
        </p:txBody>
      </p:sp>
      <p:sp>
        <p:nvSpPr>
          <p:cNvPr id="3" name="Content Placeholder 2"/>
          <p:cNvSpPr>
            <a:spLocks noGrp="1"/>
          </p:cNvSpPr>
          <p:nvPr>
            <p:ph idx="1"/>
          </p:nvPr>
        </p:nvSpPr>
        <p:spPr/>
        <p:txBody>
          <a:bodyPr/>
          <a:lstStyle/>
          <a:p>
            <a:pPr algn="just"/>
            <a:r>
              <a:rPr lang="en-US" dirty="0" smtClean="0"/>
              <a:t>People</a:t>
            </a:r>
            <a:r>
              <a:rPr lang="en-US" dirty="0"/>
              <a:t>: Trained employees, security awareness.</a:t>
            </a:r>
          </a:p>
          <a:p>
            <a:pPr algn="just"/>
            <a:r>
              <a:rPr lang="en-US" dirty="0"/>
              <a:t>Processes: Policies, procedures, risk management, incident response.</a:t>
            </a:r>
          </a:p>
          <a:p>
            <a:pPr algn="just"/>
            <a:r>
              <a:rPr lang="en-US" dirty="0"/>
              <a:t>Technology: Firewalls, </a:t>
            </a:r>
            <a:r>
              <a:rPr lang="en-US" dirty="0" smtClean="0"/>
              <a:t>antivirus, encryption, cloud security, endpoint security.</a:t>
            </a:r>
            <a:r>
              <a:rPr lang="en-US" dirty="0"/>
              <a:t> </a:t>
            </a:r>
          </a:p>
          <a:p>
            <a:endParaRPr lang="en-IN" dirty="0"/>
          </a:p>
        </p:txBody>
      </p:sp>
    </p:spTree>
    <p:extLst>
      <p:ext uri="{BB962C8B-B14F-4D97-AF65-F5344CB8AC3E}">
        <p14:creationId xmlns:p14="http://schemas.microsoft.com/office/powerpoint/2010/main" val="157831397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Threat</a:t>
            </a:r>
            <a:br>
              <a:rPr lang="en-US" b="1" dirty="0" smtClean="0"/>
            </a:br>
            <a:endParaRPr lang="en-IN" dirty="0"/>
          </a:p>
        </p:txBody>
      </p:sp>
      <p:sp>
        <p:nvSpPr>
          <p:cNvPr id="3" name="Content Placeholder 2"/>
          <p:cNvSpPr>
            <a:spLocks noGrp="1"/>
          </p:cNvSpPr>
          <p:nvPr>
            <p:ph idx="1"/>
          </p:nvPr>
        </p:nvSpPr>
        <p:spPr/>
        <p:txBody>
          <a:bodyPr/>
          <a:lstStyle/>
          <a:p>
            <a:pPr algn="just" fontAlgn="base"/>
            <a:r>
              <a:rPr lang="en-US" sz="2800" dirty="0" smtClean="0"/>
              <a:t>A </a:t>
            </a:r>
            <a:r>
              <a:rPr lang="en-US" sz="2800" dirty="0"/>
              <a:t>threat is a possible security violation that may exploit a system’s weakness. It can originate from accidents, natural disasters, human error, or intentional actions. The main threat categories include interruption, interception, fabrication, and modification.</a:t>
            </a:r>
          </a:p>
          <a:p>
            <a:endParaRPr lang="en-IN" dirty="0"/>
          </a:p>
        </p:txBody>
      </p:sp>
    </p:spTree>
    <p:extLst>
      <p:ext uri="{BB962C8B-B14F-4D97-AF65-F5344CB8AC3E}">
        <p14:creationId xmlns:p14="http://schemas.microsoft.com/office/powerpoint/2010/main" val="26526030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48680"/>
            <a:ext cx="8229600" cy="5577483"/>
          </a:xfrm>
        </p:spPr>
        <p:txBody>
          <a:bodyPr>
            <a:normAutofit fontScale="92500" lnSpcReduction="10000"/>
          </a:bodyPr>
          <a:lstStyle/>
          <a:p>
            <a:pPr algn="just" fontAlgn="base"/>
            <a:r>
              <a:rPr lang="en-US" b="1" dirty="0"/>
              <a:t>Unstructured Threats:</a:t>
            </a:r>
            <a:r>
              <a:rPr lang="en-US" dirty="0"/>
              <a:t> Caused by inexperienced individuals using simple tools like shell scripts or password crackers.</a:t>
            </a:r>
          </a:p>
          <a:p>
            <a:pPr algn="just" fontAlgn="base"/>
            <a:r>
              <a:rPr lang="en-US" b="1" dirty="0"/>
              <a:t>Structured Threats:</a:t>
            </a:r>
            <a:r>
              <a:rPr lang="en-US" dirty="0"/>
              <a:t> Organized, targeted attempts by skilled and motivated hackers to breach a specific network or company.</a:t>
            </a:r>
          </a:p>
          <a:p>
            <a:pPr algn="just" fontAlgn="base"/>
            <a:r>
              <a:rPr lang="en-US" b="1" dirty="0"/>
              <a:t>External Threats:</a:t>
            </a:r>
            <a:r>
              <a:rPr lang="en-US" dirty="0"/>
              <a:t> Originating from outside the organization. Attackers gain unauthorized access via the internet or remote access points.</a:t>
            </a:r>
          </a:p>
          <a:p>
            <a:pPr algn="just" fontAlgn="base"/>
            <a:r>
              <a:rPr lang="en-US" b="1" dirty="0"/>
              <a:t>Internal Threats:</a:t>
            </a:r>
            <a:r>
              <a:rPr lang="en-US" dirty="0"/>
              <a:t> Caused by users who already have authorized access, whether through accounts or physical access.</a:t>
            </a:r>
          </a:p>
          <a:p>
            <a:endParaRPr lang="en-IN" dirty="0"/>
          </a:p>
        </p:txBody>
      </p:sp>
    </p:spTree>
    <p:extLst>
      <p:ext uri="{BB962C8B-B14F-4D97-AF65-F5344CB8AC3E}">
        <p14:creationId xmlns:p14="http://schemas.microsoft.com/office/powerpoint/2010/main" val="184090765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Types of Attack</a:t>
            </a:r>
            <a:br>
              <a:rPr lang="en-IN" b="1" dirty="0"/>
            </a:br>
            <a:endParaRPr lang="en-IN" dirty="0"/>
          </a:p>
        </p:txBody>
      </p:sp>
      <p:sp>
        <p:nvSpPr>
          <p:cNvPr id="3" name="Content Placeholder 2"/>
          <p:cNvSpPr>
            <a:spLocks noGrp="1"/>
          </p:cNvSpPr>
          <p:nvPr>
            <p:ph idx="1"/>
          </p:nvPr>
        </p:nvSpPr>
        <p:spPr/>
        <p:txBody>
          <a:bodyPr/>
          <a:lstStyle/>
          <a:p>
            <a:pPr algn="just" fontAlgn="base"/>
            <a:r>
              <a:rPr lang="en-US" b="1" dirty="0"/>
              <a:t>Active Attack:</a:t>
            </a:r>
            <a:r>
              <a:rPr lang="en-US" dirty="0"/>
              <a:t> The attacker alters, damages, or takes control of the system (e.g., malware injection, data theft, server crashes).</a:t>
            </a:r>
            <a:br>
              <a:rPr lang="en-US" dirty="0"/>
            </a:br>
            <a:r>
              <a:rPr lang="en-US" dirty="0"/>
              <a:t>Like someone breaking into your house and tampering with things.</a:t>
            </a:r>
          </a:p>
          <a:p>
            <a:pPr algn="just" fontAlgn="base"/>
            <a:r>
              <a:rPr lang="en-US" b="1" dirty="0"/>
              <a:t>Passive Attack:</a:t>
            </a:r>
            <a:r>
              <a:rPr lang="en-US" dirty="0"/>
              <a:t> The attacker silently monitors or steals information without making changes.</a:t>
            </a:r>
            <a:br>
              <a:rPr lang="en-US" dirty="0"/>
            </a:br>
            <a:r>
              <a:rPr lang="en-US" dirty="0"/>
              <a:t>Like someone secretly reading your messages.</a:t>
            </a:r>
          </a:p>
          <a:p>
            <a:endParaRPr lang="en-IN" dirty="0"/>
          </a:p>
        </p:txBody>
      </p:sp>
    </p:spTree>
    <p:extLst>
      <p:ext uri="{BB962C8B-B14F-4D97-AF65-F5344CB8AC3E}">
        <p14:creationId xmlns:p14="http://schemas.microsoft.com/office/powerpoint/2010/main" val="371948216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Types of active attacks</a:t>
            </a:r>
            <a:endParaRPr lang="en-IN" dirty="0"/>
          </a:p>
        </p:txBody>
      </p:sp>
      <p:sp>
        <p:nvSpPr>
          <p:cNvPr id="3" name="Content Placeholder 2"/>
          <p:cNvSpPr>
            <a:spLocks noGrp="1"/>
          </p:cNvSpPr>
          <p:nvPr>
            <p:ph idx="1"/>
          </p:nvPr>
        </p:nvSpPr>
        <p:spPr/>
        <p:txBody>
          <a:bodyPr/>
          <a:lstStyle/>
          <a:p>
            <a:pPr fontAlgn="base"/>
            <a:r>
              <a:rPr lang="en-US" dirty="0" smtClean="0"/>
              <a:t>Masquerade </a:t>
            </a:r>
            <a:r>
              <a:rPr lang="en-US" dirty="0"/>
              <a:t>Attack</a:t>
            </a:r>
          </a:p>
          <a:p>
            <a:pPr fontAlgn="base"/>
            <a:r>
              <a:rPr lang="en-US" dirty="0"/>
              <a:t>Modification of Messages</a:t>
            </a:r>
          </a:p>
          <a:p>
            <a:pPr fontAlgn="base"/>
            <a:r>
              <a:rPr lang="en-US" dirty="0" smtClean="0"/>
              <a:t>Repudiation</a:t>
            </a:r>
          </a:p>
          <a:p>
            <a:pPr fontAlgn="base"/>
            <a:r>
              <a:rPr lang="en-US" dirty="0" smtClean="0"/>
              <a:t>Replay Attack</a:t>
            </a:r>
          </a:p>
          <a:p>
            <a:pPr fontAlgn="base"/>
            <a:r>
              <a:rPr lang="en-US" dirty="0" smtClean="0"/>
              <a:t>Denial of Service(</a:t>
            </a:r>
            <a:r>
              <a:rPr lang="en-US" dirty="0" err="1" smtClean="0"/>
              <a:t>DoS</a:t>
            </a:r>
            <a:r>
              <a:rPr lang="en-US" dirty="0" smtClean="0"/>
              <a:t>) Attack</a:t>
            </a:r>
            <a:endParaRPr lang="en-US" dirty="0"/>
          </a:p>
          <a:p>
            <a:endParaRPr lang="en-IN" dirty="0"/>
          </a:p>
        </p:txBody>
      </p:sp>
    </p:spTree>
    <p:extLst>
      <p:ext uri="{BB962C8B-B14F-4D97-AF65-F5344CB8AC3E}">
        <p14:creationId xmlns:p14="http://schemas.microsoft.com/office/powerpoint/2010/main" val="1641465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Masquerade Attack</a:t>
            </a:r>
            <a:br>
              <a:rPr lang="en-US" dirty="0"/>
            </a:br>
            <a:endParaRPr lang="en-IN" dirty="0"/>
          </a:p>
        </p:txBody>
      </p:sp>
      <p:sp>
        <p:nvSpPr>
          <p:cNvPr id="3" name="Content Placeholder 2"/>
          <p:cNvSpPr>
            <a:spLocks noGrp="1"/>
          </p:cNvSpPr>
          <p:nvPr>
            <p:ph idx="1"/>
          </p:nvPr>
        </p:nvSpPr>
        <p:spPr>
          <a:xfrm>
            <a:off x="457200" y="980728"/>
            <a:ext cx="8229600" cy="5145435"/>
          </a:xfrm>
        </p:spPr>
        <p:txBody>
          <a:bodyPr>
            <a:normAutofit/>
          </a:bodyPr>
          <a:lstStyle/>
          <a:p>
            <a:pPr marL="0" indent="0" algn="just">
              <a:buNone/>
            </a:pPr>
            <a:r>
              <a:rPr lang="en-US" sz="2400" dirty="0"/>
              <a:t>Masquerade attacks are considered one type of cyber attack in which the attacker disguises himself to pose as some other person and accesses systems or data</a:t>
            </a:r>
            <a:r>
              <a:rPr lang="en-US" sz="2400" dirty="0" smtClean="0"/>
              <a:t>.</a:t>
            </a:r>
          </a:p>
          <a:p>
            <a:pPr fontAlgn="base"/>
            <a:r>
              <a:rPr lang="en-US" sz="2400" b="1" dirty="0"/>
              <a:t>Username and Password </a:t>
            </a:r>
            <a:r>
              <a:rPr lang="en-US" sz="2400" b="1" dirty="0" smtClean="0"/>
              <a:t>Masquerade</a:t>
            </a:r>
          </a:p>
          <a:p>
            <a:pPr fontAlgn="base"/>
            <a:r>
              <a:rPr lang="en-US" sz="2400" b="1" dirty="0" smtClean="0"/>
              <a:t>IP </a:t>
            </a:r>
            <a:r>
              <a:rPr lang="en-US" sz="2400" b="1" dirty="0"/>
              <a:t>address </a:t>
            </a:r>
            <a:r>
              <a:rPr lang="en-US" sz="2400" b="1" dirty="0" smtClean="0"/>
              <a:t>masquerade</a:t>
            </a:r>
          </a:p>
          <a:p>
            <a:pPr fontAlgn="base"/>
            <a:r>
              <a:rPr lang="en-US" sz="2400" b="1" dirty="0" smtClean="0"/>
              <a:t>Website masquerade</a:t>
            </a:r>
          </a:p>
          <a:p>
            <a:pPr fontAlgn="base"/>
            <a:r>
              <a:rPr lang="en-US" sz="2400" b="1" dirty="0" smtClean="0"/>
              <a:t>Email masquerade</a:t>
            </a:r>
          </a:p>
          <a:p>
            <a:pPr fontAlgn="base"/>
            <a:endParaRPr lang="en-IN" sz="2400" dirty="0"/>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23928" y="2775046"/>
            <a:ext cx="4367386" cy="3419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801078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Modification of Messages</a:t>
            </a:r>
            <a:endParaRPr lang="en-IN" dirty="0"/>
          </a:p>
        </p:txBody>
      </p:sp>
      <p:sp>
        <p:nvSpPr>
          <p:cNvPr id="3" name="Content Placeholder 2"/>
          <p:cNvSpPr>
            <a:spLocks noGrp="1"/>
          </p:cNvSpPr>
          <p:nvPr>
            <p:ph idx="1"/>
          </p:nvPr>
        </p:nvSpPr>
        <p:spPr/>
        <p:txBody>
          <a:bodyPr>
            <a:normAutofit/>
          </a:bodyPr>
          <a:lstStyle/>
          <a:p>
            <a:pPr algn="just"/>
            <a:r>
              <a:rPr lang="en-US" sz="2000" dirty="0"/>
              <a:t>This is when someone changes parts of a message without permission, or mixes up the order of messages, to cause trouble. Imagine someone secretly changing a letter you sent, making it say something different. This kind of attack breaks the trust in the information being sent. For example, a message meaning “Allow JOHN to read confidential file X” is modified as “Allow Smith to read confidential file X”. </a:t>
            </a:r>
            <a:endParaRPr lang="en-IN" sz="2000"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11960" y="3717032"/>
            <a:ext cx="4511402" cy="28434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3792805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Repudiation</a:t>
            </a:r>
            <a:br>
              <a:rPr lang="en-US" dirty="0"/>
            </a:br>
            <a:endParaRPr lang="en-IN" dirty="0"/>
          </a:p>
        </p:txBody>
      </p:sp>
      <p:sp>
        <p:nvSpPr>
          <p:cNvPr id="3" name="Content Placeholder 2"/>
          <p:cNvSpPr>
            <a:spLocks noGrp="1"/>
          </p:cNvSpPr>
          <p:nvPr>
            <p:ph idx="1"/>
          </p:nvPr>
        </p:nvSpPr>
        <p:spPr/>
        <p:txBody>
          <a:bodyPr>
            <a:normAutofit fontScale="92500" lnSpcReduction="20000"/>
          </a:bodyPr>
          <a:lstStyle/>
          <a:p>
            <a:pPr algn="just" fontAlgn="base"/>
            <a:r>
              <a:rPr lang="en-US" sz="2800" dirty="0"/>
              <a:t>Repudiation attacks are a type of cyber attack wherein some person does something damaging online, such as a financial transaction or sends a message one does not want to send, then denies having done it. Such attacks can seriously hinder the ability to trace down the origin of the attack or to identify who is responsible for a given action, making it tricky to hold responsible the right person</a:t>
            </a:r>
            <a:r>
              <a:rPr lang="en-US" sz="2800" dirty="0" smtClean="0"/>
              <a:t>.</a:t>
            </a:r>
            <a:r>
              <a:rPr lang="en-US" sz="2800" dirty="0"/>
              <a:t/>
            </a:r>
            <a:br>
              <a:rPr lang="en-US" sz="2800" dirty="0"/>
            </a:br>
            <a:r>
              <a:rPr lang="en-US" sz="2800" dirty="0" smtClean="0"/>
              <a:t>Types:</a:t>
            </a:r>
            <a:endParaRPr lang="en-IN" sz="2800" b="1" dirty="0" smtClean="0"/>
          </a:p>
          <a:p>
            <a:r>
              <a:rPr lang="en-IN" b="1" dirty="0" smtClean="0"/>
              <a:t>Message </a:t>
            </a:r>
            <a:r>
              <a:rPr lang="en-IN" b="1" dirty="0"/>
              <a:t>repudiation </a:t>
            </a:r>
            <a:r>
              <a:rPr lang="en-IN" b="1" dirty="0" smtClean="0"/>
              <a:t>attacks</a:t>
            </a:r>
          </a:p>
          <a:p>
            <a:r>
              <a:rPr lang="en-IN" b="1" dirty="0"/>
              <a:t>Transaction repudiation </a:t>
            </a:r>
            <a:r>
              <a:rPr lang="en-IN" b="1" dirty="0" smtClean="0"/>
              <a:t>attacks</a:t>
            </a:r>
          </a:p>
          <a:p>
            <a:r>
              <a:rPr lang="en-IN" b="1" dirty="0"/>
              <a:t>Data repudiation attacks</a:t>
            </a:r>
            <a:endParaRPr lang="en-IN" dirty="0"/>
          </a:p>
        </p:txBody>
      </p:sp>
    </p:spTree>
    <p:extLst>
      <p:ext uri="{BB962C8B-B14F-4D97-AF65-F5344CB8AC3E}">
        <p14:creationId xmlns:p14="http://schemas.microsoft.com/office/powerpoint/2010/main" val="351120203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smtClean="0"/>
              <a:t>Replay Attack</a:t>
            </a:r>
            <a:r>
              <a:rPr lang="en-IN" b="1" dirty="0"/>
              <a:t/>
            </a:r>
            <a:br>
              <a:rPr lang="en-IN" b="1" dirty="0"/>
            </a:br>
            <a:endParaRPr lang="en-IN" dirty="0"/>
          </a:p>
        </p:txBody>
      </p:sp>
      <p:sp>
        <p:nvSpPr>
          <p:cNvPr id="3" name="Content Placeholder 2"/>
          <p:cNvSpPr>
            <a:spLocks noGrp="1"/>
          </p:cNvSpPr>
          <p:nvPr>
            <p:ph idx="1"/>
          </p:nvPr>
        </p:nvSpPr>
        <p:spPr/>
        <p:txBody>
          <a:bodyPr>
            <a:normAutofit fontScale="92500"/>
          </a:bodyPr>
          <a:lstStyle/>
          <a:p>
            <a:pPr algn="just"/>
            <a:r>
              <a:rPr lang="en-US" dirty="0"/>
              <a:t>It is a passive capturing of a message with an objective to transmit it for the production of an authorized effect. </a:t>
            </a:r>
            <a:endParaRPr lang="en-US" dirty="0" smtClean="0"/>
          </a:p>
          <a:p>
            <a:pPr algn="just"/>
            <a:r>
              <a:rPr lang="en-US" dirty="0" smtClean="0"/>
              <a:t>Thus</a:t>
            </a:r>
            <a:r>
              <a:rPr lang="en-US" dirty="0"/>
              <a:t>, in this type of attack, the main objective of an attacker is saving a copy of the data that was originally present on that particular network and later on uses it for personal uses. </a:t>
            </a:r>
            <a:endParaRPr lang="en-US" dirty="0" smtClean="0"/>
          </a:p>
          <a:p>
            <a:pPr algn="just"/>
            <a:r>
              <a:rPr lang="en-US" dirty="0" smtClean="0"/>
              <a:t>Once </a:t>
            </a:r>
            <a:r>
              <a:rPr lang="en-US" dirty="0"/>
              <a:t>the data gets corrupted or leaked it becomes an insecure and unsafe tool for its users.</a:t>
            </a:r>
            <a:endParaRPr lang="en-IN" dirty="0"/>
          </a:p>
        </p:txBody>
      </p:sp>
    </p:spTree>
    <p:extLst>
      <p:ext uri="{BB962C8B-B14F-4D97-AF65-F5344CB8AC3E}">
        <p14:creationId xmlns:p14="http://schemas.microsoft.com/office/powerpoint/2010/main" val="204336366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Denial of Service(</a:t>
            </a:r>
            <a:r>
              <a:rPr lang="en-US" dirty="0" err="1"/>
              <a:t>DoS</a:t>
            </a:r>
            <a:r>
              <a:rPr lang="en-US" dirty="0"/>
              <a:t>) Attack</a:t>
            </a:r>
            <a:br>
              <a:rPr lang="en-US" dirty="0"/>
            </a:br>
            <a:endParaRPr lang="en-IN" dirty="0"/>
          </a:p>
        </p:txBody>
      </p:sp>
      <p:sp>
        <p:nvSpPr>
          <p:cNvPr id="3" name="Content Placeholder 2"/>
          <p:cNvSpPr>
            <a:spLocks noGrp="1"/>
          </p:cNvSpPr>
          <p:nvPr>
            <p:ph idx="1"/>
          </p:nvPr>
        </p:nvSpPr>
        <p:spPr>
          <a:xfrm>
            <a:off x="457200" y="980728"/>
            <a:ext cx="8229600" cy="5145435"/>
          </a:xfrm>
        </p:spPr>
        <p:txBody>
          <a:bodyPr>
            <a:normAutofit fontScale="77500" lnSpcReduction="20000"/>
          </a:bodyPr>
          <a:lstStyle/>
          <a:p>
            <a:pPr algn="just" fontAlgn="base"/>
            <a:r>
              <a:rPr lang="en-US" dirty="0"/>
              <a:t>Denial of Service (</a:t>
            </a:r>
            <a:r>
              <a:rPr lang="en-US" dirty="0" err="1"/>
              <a:t>DoS</a:t>
            </a:r>
            <a:r>
              <a:rPr lang="en-US" dirty="0"/>
              <a:t>) is a form of </a:t>
            </a:r>
            <a:r>
              <a:rPr lang="en-US" dirty="0" err="1"/>
              <a:t>cybersecurity</a:t>
            </a:r>
            <a:r>
              <a:rPr lang="en-US" dirty="0"/>
              <a:t> attack that involves denying the intended users of the system or network access by flooding traffic or requests. In this </a:t>
            </a:r>
            <a:r>
              <a:rPr lang="en-US" dirty="0" err="1"/>
              <a:t>DoS</a:t>
            </a:r>
            <a:r>
              <a:rPr lang="en-US" dirty="0"/>
              <a:t> attack, the attacker floods a target system or network with traffic or requests in order to consume the available resources such as bandwidth, CPU cycles, or memory and prevent legitimate users from accessing them.</a:t>
            </a:r>
          </a:p>
          <a:p>
            <a:pPr marL="0" indent="0" algn="just" fontAlgn="base">
              <a:buNone/>
            </a:pPr>
            <a:r>
              <a:rPr lang="en-US" b="1" dirty="0" smtClean="0"/>
              <a:t>     Types </a:t>
            </a:r>
            <a:r>
              <a:rPr lang="en-US" b="1" dirty="0"/>
              <a:t>of </a:t>
            </a:r>
            <a:r>
              <a:rPr lang="en-US" b="1" dirty="0" err="1"/>
              <a:t>DoS</a:t>
            </a:r>
            <a:r>
              <a:rPr lang="en-US" b="1" dirty="0"/>
              <a:t> </a:t>
            </a:r>
            <a:r>
              <a:rPr lang="en-US" b="1" dirty="0" smtClean="0"/>
              <a:t>attacks:</a:t>
            </a:r>
            <a:endParaRPr lang="en-US" dirty="0"/>
          </a:p>
          <a:p>
            <a:pPr algn="just" fontAlgn="base"/>
            <a:r>
              <a:rPr lang="en-US" b="1" dirty="0"/>
              <a:t>Flood attacks: </a:t>
            </a:r>
            <a:r>
              <a:rPr lang="en-US" dirty="0"/>
              <a:t>Here, an attacker sends such a large number of packets or requests to a system or network that it cannot handle them all and the system gets crashed.</a:t>
            </a:r>
          </a:p>
          <a:p>
            <a:pPr algn="just" fontAlgn="base"/>
            <a:r>
              <a:rPr lang="en-US" b="1" dirty="0"/>
              <a:t>Amplification attacks:</a:t>
            </a:r>
            <a:r>
              <a:rPr lang="en-US" dirty="0"/>
              <a:t> In this category, the attacker increases the power of an attack by utilizing another system or network to increase traffic then directs it all into the target to boost the strength of the attack.</a:t>
            </a:r>
          </a:p>
          <a:p>
            <a:endParaRPr lang="en-IN" dirty="0"/>
          </a:p>
        </p:txBody>
      </p:sp>
    </p:spTree>
    <p:extLst>
      <p:ext uri="{BB962C8B-B14F-4D97-AF65-F5344CB8AC3E}">
        <p14:creationId xmlns:p14="http://schemas.microsoft.com/office/powerpoint/2010/main" val="305273522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947086655"/>
              </p:ext>
            </p:extLst>
          </p:nvPr>
        </p:nvGraphicFramePr>
        <p:xfrm>
          <a:off x="457200" y="1600200"/>
          <a:ext cx="8229600" cy="4785360"/>
        </p:xfrm>
        <a:graphic>
          <a:graphicData uri="http://schemas.openxmlformats.org/drawingml/2006/table">
            <a:tbl>
              <a:tblPr firstRow="1" bandRow="1">
                <a:tableStyleId>{5C22544A-7EE6-4342-B048-85BDC9FD1C3A}</a:tableStyleId>
              </a:tblPr>
              <a:tblGrid>
                <a:gridCol w="4114800"/>
                <a:gridCol w="4114800"/>
              </a:tblGrid>
              <a:tr h="370840">
                <a:tc>
                  <a:txBody>
                    <a:bodyPr/>
                    <a:lstStyle/>
                    <a:p>
                      <a:pPr algn="ctr" fontAlgn="base"/>
                      <a:r>
                        <a:rPr lang="en-IN" sz="2400" b="1" dirty="0">
                          <a:effectLst/>
                        </a:rPr>
                        <a:t>Threat</a:t>
                      </a:r>
                    </a:p>
                  </a:txBody>
                  <a:tcPr marL="38100" marR="38100" marT="63500" marB="63500" anchor="ctr"/>
                </a:tc>
                <a:tc>
                  <a:txBody>
                    <a:bodyPr/>
                    <a:lstStyle/>
                    <a:p>
                      <a:pPr algn="ctr" fontAlgn="base"/>
                      <a:r>
                        <a:rPr lang="en-IN" sz="2400" b="1">
                          <a:effectLst/>
                        </a:rPr>
                        <a:t>Attack</a:t>
                      </a:r>
                    </a:p>
                  </a:txBody>
                  <a:tcPr marL="63500" marR="63500" marT="63500" marB="63500" anchor="ctr"/>
                </a:tc>
              </a:tr>
              <a:tr h="370840">
                <a:tc>
                  <a:txBody>
                    <a:bodyPr/>
                    <a:lstStyle/>
                    <a:p>
                      <a:pPr algn="ctr" fontAlgn="ctr"/>
                      <a:r>
                        <a:rPr lang="en-US" sz="2000" b="0" dirty="0">
                          <a:effectLst/>
                        </a:rPr>
                        <a:t>A possible danger or risk.</a:t>
                      </a:r>
                    </a:p>
                  </a:txBody>
                  <a:tcPr marL="63500" marR="63500" marT="88900" marB="88900" anchor="ctr"/>
                </a:tc>
                <a:tc>
                  <a:txBody>
                    <a:bodyPr/>
                    <a:lstStyle/>
                    <a:p>
                      <a:pPr algn="ctr" fontAlgn="ctr"/>
                      <a:r>
                        <a:rPr lang="en-IN" sz="2000" b="0" dirty="0">
                          <a:effectLst/>
                        </a:rPr>
                        <a:t>Actual harmful action.</a:t>
                      </a:r>
                    </a:p>
                  </a:txBody>
                  <a:tcPr marL="63500" marR="63500" marT="88900" marB="88900" anchor="ctr"/>
                </a:tc>
              </a:tr>
              <a:tr h="370840">
                <a:tc>
                  <a:txBody>
                    <a:bodyPr/>
                    <a:lstStyle/>
                    <a:p>
                      <a:pPr algn="ctr" fontAlgn="ctr"/>
                      <a:r>
                        <a:rPr lang="en-US" sz="2000" b="0">
                          <a:effectLst/>
                        </a:rPr>
                        <a:t>Can be intentional or unintentional.</a:t>
                      </a:r>
                    </a:p>
                  </a:txBody>
                  <a:tcPr marL="63500" marR="63500" marT="88900" marB="88900" anchor="ctr"/>
                </a:tc>
                <a:tc>
                  <a:txBody>
                    <a:bodyPr/>
                    <a:lstStyle/>
                    <a:p>
                      <a:pPr algn="ctr" fontAlgn="ctr"/>
                      <a:r>
                        <a:rPr lang="en-IN" sz="2000" b="0" dirty="0">
                          <a:effectLst/>
                        </a:rPr>
                        <a:t>Always intentional.</a:t>
                      </a:r>
                    </a:p>
                  </a:txBody>
                  <a:tcPr marL="63500" marR="63500" marT="88900" marB="88900" anchor="ctr"/>
                </a:tc>
              </a:tr>
              <a:tr h="370840">
                <a:tc>
                  <a:txBody>
                    <a:bodyPr/>
                    <a:lstStyle/>
                    <a:p>
                      <a:pPr algn="ctr" fontAlgn="ctr"/>
                      <a:r>
                        <a:rPr lang="en-US" sz="2000" b="0">
                          <a:effectLst/>
                        </a:rPr>
                        <a:t>May or may not be malicious.</a:t>
                      </a:r>
                    </a:p>
                  </a:txBody>
                  <a:tcPr marL="63500" marR="63500" marT="88900" marB="88900" anchor="ctr"/>
                </a:tc>
                <a:tc>
                  <a:txBody>
                    <a:bodyPr/>
                    <a:lstStyle/>
                    <a:p>
                      <a:pPr algn="ctr" fontAlgn="ctr"/>
                      <a:r>
                        <a:rPr lang="en-IN" sz="2000" b="0" dirty="0">
                          <a:effectLst/>
                        </a:rPr>
                        <a:t>Always malicious.</a:t>
                      </a:r>
                    </a:p>
                  </a:txBody>
                  <a:tcPr marL="63500" marR="63500" marT="88900" marB="88900" anchor="ctr"/>
                </a:tc>
              </a:tr>
              <a:tr h="370840">
                <a:tc>
                  <a:txBody>
                    <a:bodyPr/>
                    <a:lstStyle/>
                    <a:p>
                      <a:pPr algn="ctr" fontAlgn="ctr"/>
                      <a:r>
                        <a:rPr lang="en-US" sz="2000" b="0">
                          <a:effectLst/>
                        </a:rPr>
                        <a:t>May or may not cause damage.</a:t>
                      </a:r>
                    </a:p>
                  </a:txBody>
                  <a:tcPr marL="63500" marR="63500" marT="88900" marB="88900" anchor="ctr"/>
                </a:tc>
                <a:tc>
                  <a:txBody>
                    <a:bodyPr/>
                    <a:lstStyle/>
                    <a:p>
                      <a:pPr algn="ctr" fontAlgn="ctr"/>
                      <a:r>
                        <a:rPr lang="en-IN" sz="2000" b="0" dirty="0">
                          <a:effectLst/>
                        </a:rPr>
                        <a:t>Aims to cause damage.</a:t>
                      </a:r>
                    </a:p>
                  </a:txBody>
                  <a:tcPr marL="63500" marR="63500" marT="88900" marB="88900" anchor="ctr"/>
                </a:tc>
              </a:tr>
              <a:tr h="370840">
                <a:tc>
                  <a:txBody>
                    <a:bodyPr/>
                    <a:lstStyle/>
                    <a:p>
                      <a:pPr algn="ctr" fontAlgn="ctr"/>
                      <a:r>
                        <a:rPr lang="en-IN" sz="2000" b="0">
                          <a:effectLst/>
                        </a:rPr>
                        <a:t>Harder to detect.</a:t>
                      </a:r>
                    </a:p>
                  </a:txBody>
                  <a:tcPr marL="63500" marR="63500" marT="88900" marB="88900" anchor="ctr"/>
                </a:tc>
                <a:tc>
                  <a:txBody>
                    <a:bodyPr/>
                    <a:lstStyle/>
                    <a:p>
                      <a:pPr algn="ctr" fontAlgn="ctr"/>
                      <a:r>
                        <a:rPr lang="en-IN" sz="2000" b="0" dirty="0">
                          <a:effectLst/>
                        </a:rPr>
                        <a:t>Easier to detect.</a:t>
                      </a:r>
                    </a:p>
                  </a:txBody>
                  <a:tcPr marL="63500" marR="63500" marT="88900" marB="88900" anchor="ctr"/>
                </a:tc>
              </a:tr>
              <a:tr h="370840">
                <a:tc>
                  <a:txBody>
                    <a:bodyPr/>
                    <a:lstStyle/>
                    <a:p>
                      <a:pPr algn="ctr" fontAlgn="ctr"/>
                      <a:r>
                        <a:rPr lang="en-US" sz="2000" b="0">
                          <a:effectLst/>
                        </a:rPr>
                        <a:t>Can be prevented by controlling vulnerabilities.</a:t>
                      </a:r>
                    </a:p>
                  </a:txBody>
                  <a:tcPr marL="63500" marR="63500" marT="88900" marB="88900" anchor="ctr"/>
                </a:tc>
                <a:tc>
                  <a:txBody>
                    <a:bodyPr/>
                    <a:lstStyle/>
                    <a:p>
                      <a:pPr algn="ctr" fontAlgn="ctr"/>
                      <a:r>
                        <a:rPr lang="en-US" sz="2000" b="0" dirty="0">
                          <a:effectLst/>
                        </a:rPr>
                        <a:t>Cannot be stopped by vulnerability control alone.</a:t>
                      </a:r>
                    </a:p>
                  </a:txBody>
                  <a:tcPr marL="63500" marR="63500" marT="88900" marB="88900" anchor="ctr"/>
                </a:tc>
              </a:tr>
              <a:tr h="370840">
                <a:tc>
                  <a:txBody>
                    <a:bodyPr/>
                    <a:lstStyle/>
                    <a:p>
                      <a:pPr algn="ctr" fontAlgn="ctr"/>
                      <a:r>
                        <a:rPr lang="en-US" sz="2000" b="0">
                          <a:effectLst/>
                        </a:rPr>
                        <a:t>May come from internal, external, physical, or non-physical sources.</a:t>
                      </a:r>
                    </a:p>
                  </a:txBody>
                  <a:tcPr marL="63500" marR="63500" marT="88900" marB="88900" anchor="ctr"/>
                </a:tc>
                <a:tc>
                  <a:txBody>
                    <a:bodyPr/>
                    <a:lstStyle/>
                    <a:p>
                      <a:pPr algn="ctr" fontAlgn="ctr"/>
                      <a:r>
                        <a:rPr lang="en-US" sz="2000" b="0" dirty="0">
                          <a:effectLst/>
                        </a:rPr>
                        <a:t>Comes from malware, phishing, botnets, </a:t>
                      </a:r>
                      <a:r>
                        <a:rPr lang="en-US" sz="2000" b="0" dirty="0" err="1">
                          <a:effectLst/>
                        </a:rPr>
                        <a:t>ransomware</a:t>
                      </a:r>
                      <a:r>
                        <a:rPr lang="en-US" sz="2000" b="0" dirty="0">
                          <a:effectLst/>
                        </a:rPr>
                        <a:t>, </a:t>
                      </a:r>
                      <a:r>
                        <a:rPr lang="en-US" sz="2000" b="0" dirty="0" err="1">
                          <a:effectLst/>
                        </a:rPr>
                        <a:t>DoS</a:t>
                      </a:r>
                      <a:r>
                        <a:rPr lang="en-US" sz="2000" b="0" dirty="0">
                          <a:effectLst/>
                        </a:rPr>
                        <a:t>, breaches, etc.</a:t>
                      </a:r>
                    </a:p>
                  </a:txBody>
                  <a:tcPr marL="63500" marR="63500" marT="88900" marB="88900" anchor="ctr"/>
                </a:tc>
              </a:tr>
            </a:tbl>
          </a:graphicData>
        </a:graphic>
      </p:graphicFrame>
    </p:spTree>
    <p:extLst>
      <p:ext uri="{BB962C8B-B14F-4D97-AF65-F5344CB8AC3E}">
        <p14:creationId xmlns:p14="http://schemas.microsoft.com/office/powerpoint/2010/main" val="164072671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Vulnerabilities</a:t>
            </a:r>
            <a:br>
              <a:rPr lang="en-IN" b="1" dirty="0"/>
            </a:br>
            <a:endParaRPr lang="en-IN" dirty="0"/>
          </a:p>
        </p:txBody>
      </p:sp>
      <p:sp>
        <p:nvSpPr>
          <p:cNvPr id="3" name="Content Placeholder 2"/>
          <p:cNvSpPr>
            <a:spLocks noGrp="1"/>
          </p:cNvSpPr>
          <p:nvPr>
            <p:ph idx="1"/>
          </p:nvPr>
        </p:nvSpPr>
        <p:spPr>
          <a:xfrm>
            <a:off x="457200" y="1052736"/>
            <a:ext cx="8229600" cy="5073427"/>
          </a:xfrm>
        </p:spPr>
        <p:txBody>
          <a:bodyPr>
            <a:normAutofit lnSpcReduction="10000"/>
          </a:bodyPr>
          <a:lstStyle/>
          <a:p>
            <a:pPr algn="just"/>
            <a:r>
              <a:rPr lang="en-US" dirty="0"/>
              <a:t>Vulnerabilities are weaknesses in a system</a:t>
            </a:r>
            <a:r>
              <a:rPr lang="en-US" b="1" dirty="0"/>
              <a:t> </a:t>
            </a:r>
            <a:r>
              <a:rPr lang="en-US" dirty="0"/>
              <a:t>that give threats the opportunity to compromise an individual's or an </a:t>
            </a:r>
            <a:r>
              <a:rPr lang="en-US" dirty="0" err="1"/>
              <a:t>organisation's</a:t>
            </a:r>
            <a:r>
              <a:rPr lang="en-US" dirty="0"/>
              <a:t> assets. </a:t>
            </a:r>
            <a:endParaRPr lang="en-US" dirty="0" smtClean="0"/>
          </a:p>
          <a:p>
            <a:pPr algn="just"/>
            <a:r>
              <a:rPr lang="en-US" dirty="0" smtClean="0"/>
              <a:t>As </a:t>
            </a:r>
            <a:r>
              <a:rPr lang="en-US" dirty="0"/>
              <a:t>the attackers are leveling up their attacking mechanisms, the number of vulnerable assets is increasing too. </a:t>
            </a:r>
            <a:endParaRPr lang="en-US" dirty="0" smtClean="0"/>
          </a:p>
          <a:p>
            <a:pPr algn="just"/>
            <a:r>
              <a:rPr lang="en-US" dirty="0" smtClean="0"/>
              <a:t>These </a:t>
            </a:r>
            <a:r>
              <a:rPr lang="en-US" dirty="0"/>
              <a:t>could include the code, human weaknesses, unpatched software, improper authentication mechanisms, etc.</a:t>
            </a:r>
            <a:endParaRPr lang="en-IN" dirty="0"/>
          </a:p>
        </p:txBody>
      </p:sp>
    </p:spTree>
    <p:extLst>
      <p:ext uri="{BB962C8B-B14F-4D97-AF65-F5344CB8AC3E}">
        <p14:creationId xmlns:p14="http://schemas.microsoft.com/office/powerpoint/2010/main" val="350281159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smtClean="0"/>
              <a:t>Types of Vulnerabilities</a:t>
            </a:r>
            <a:br>
              <a:rPr lang="en-IN" b="1" dirty="0" smtClean="0"/>
            </a:br>
            <a:endParaRPr lang="en-IN" dirty="0"/>
          </a:p>
        </p:txBody>
      </p:sp>
      <p:sp>
        <p:nvSpPr>
          <p:cNvPr id="3" name="Content Placeholder 2"/>
          <p:cNvSpPr>
            <a:spLocks noGrp="1"/>
          </p:cNvSpPr>
          <p:nvPr>
            <p:ph idx="1"/>
          </p:nvPr>
        </p:nvSpPr>
        <p:spPr/>
        <p:txBody>
          <a:bodyPr/>
          <a:lstStyle/>
          <a:p>
            <a:r>
              <a:rPr lang="en-IN" b="1" dirty="0" smtClean="0"/>
              <a:t>Hardware Vulnerability </a:t>
            </a:r>
          </a:p>
          <a:p>
            <a:r>
              <a:rPr lang="en-IN" b="1" dirty="0" smtClean="0"/>
              <a:t>Software Vulnerability </a:t>
            </a:r>
          </a:p>
          <a:p>
            <a:r>
              <a:rPr lang="en-IN" b="1" dirty="0" smtClean="0"/>
              <a:t>Network Vulnerability </a:t>
            </a:r>
          </a:p>
          <a:p>
            <a:r>
              <a:rPr lang="en-IN" b="1" dirty="0" smtClean="0"/>
              <a:t>Procedural Vulnerability</a:t>
            </a:r>
            <a:endParaRPr lang="en-IN" b="1" dirty="0"/>
          </a:p>
          <a:p>
            <a:r>
              <a:rPr lang="en-IN" b="1" dirty="0" smtClean="0"/>
              <a:t>Human Vulnerability</a:t>
            </a:r>
            <a:br>
              <a:rPr lang="en-IN" b="1" dirty="0" smtClean="0"/>
            </a:br>
            <a:r>
              <a:rPr lang="en-IN" b="1" dirty="0" smtClean="0"/>
              <a:t/>
            </a:r>
            <a:br>
              <a:rPr lang="en-IN" b="1" dirty="0" smtClean="0"/>
            </a:br>
            <a:r>
              <a:rPr lang="en-IN" b="1" dirty="0" smtClean="0"/>
              <a:t/>
            </a:r>
            <a:br>
              <a:rPr lang="en-IN" b="1" dirty="0" smtClean="0"/>
            </a:br>
            <a:endParaRPr lang="en-IN" dirty="0"/>
          </a:p>
        </p:txBody>
      </p:sp>
    </p:spTree>
    <p:extLst>
      <p:ext uri="{BB962C8B-B14F-4D97-AF65-F5344CB8AC3E}">
        <p14:creationId xmlns:p14="http://schemas.microsoft.com/office/powerpoint/2010/main" val="274685896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Hardware Vulnerability </a:t>
            </a:r>
            <a:br>
              <a:rPr lang="en-IN" b="1" dirty="0"/>
            </a:br>
            <a:endParaRPr lang="en-IN" dirty="0"/>
          </a:p>
        </p:txBody>
      </p:sp>
      <p:sp>
        <p:nvSpPr>
          <p:cNvPr id="3" name="Content Placeholder 2"/>
          <p:cNvSpPr>
            <a:spLocks noGrp="1"/>
          </p:cNvSpPr>
          <p:nvPr>
            <p:ph idx="1"/>
          </p:nvPr>
        </p:nvSpPr>
        <p:spPr>
          <a:xfrm>
            <a:off x="457200" y="908720"/>
            <a:ext cx="8229600" cy="5949280"/>
          </a:xfrm>
        </p:spPr>
        <p:txBody>
          <a:bodyPr>
            <a:normAutofit/>
          </a:bodyPr>
          <a:lstStyle/>
          <a:p>
            <a:pPr algn="just"/>
            <a:r>
              <a:rPr lang="en-US" sz="2400" dirty="0"/>
              <a:t>Weaknesses or flaws in physical devices (like computers or routers) that hackers can exploit to gain unauthorized access or cause damage</a:t>
            </a:r>
            <a:r>
              <a:rPr lang="en-US" sz="2400" dirty="0" smtClean="0"/>
              <a:t>.</a:t>
            </a:r>
          </a:p>
          <a:p>
            <a:pPr algn="just" fontAlgn="base"/>
            <a:r>
              <a:rPr lang="en-US" sz="2400" b="1" dirty="0"/>
              <a:t>Physical Attacks:</a:t>
            </a:r>
            <a:r>
              <a:rPr lang="en-US" sz="2400" dirty="0"/>
              <a:t> Hardware devices like servers, laptops, or smartphones are susceptible to physical attacks. Attackers may gain access to critical systems by stealing or tampering with hardware.</a:t>
            </a:r>
          </a:p>
          <a:p>
            <a:pPr algn="just" fontAlgn="base"/>
            <a:r>
              <a:rPr lang="en-US" sz="2400" b="1" dirty="0"/>
              <a:t>Firmware Vulnerabilities:</a:t>
            </a:r>
            <a:r>
              <a:rPr lang="en-US" sz="2400" dirty="0"/>
              <a:t> The software that runs on hardware, known as firmware, can have vulnerabilities. Flaws in firmware can lead to persistent attacks, as they are not always detected or patched as frequently as software</a:t>
            </a:r>
          </a:p>
          <a:p>
            <a:pPr algn="just"/>
            <a:endParaRPr lang="en-US" sz="2400" dirty="0" smtClean="0"/>
          </a:p>
          <a:p>
            <a:pPr algn="just"/>
            <a:endParaRPr lang="en-IN" sz="2400"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31840" y="5157800"/>
            <a:ext cx="3161928" cy="14940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8479450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06090"/>
          </a:xfrm>
        </p:spPr>
        <p:txBody>
          <a:bodyPr>
            <a:normAutofit fontScale="90000"/>
          </a:bodyPr>
          <a:lstStyle/>
          <a:p>
            <a:r>
              <a:rPr lang="en-IN" b="1" dirty="0"/>
              <a:t>Software Vulnerability </a:t>
            </a:r>
            <a:br>
              <a:rPr lang="en-IN" b="1" dirty="0"/>
            </a:br>
            <a:endParaRPr lang="en-IN" dirty="0"/>
          </a:p>
        </p:txBody>
      </p:sp>
      <p:sp>
        <p:nvSpPr>
          <p:cNvPr id="3" name="Content Placeholder 2"/>
          <p:cNvSpPr>
            <a:spLocks noGrp="1"/>
          </p:cNvSpPr>
          <p:nvPr>
            <p:ph idx="1"/>
          </p:nvPr>
        </p:nvSpPr>
        <p:spPr>
          <a:xfrm>
            <a:off x="457200" y="692696"/>
            <a:ext cx="8229600" cy="5433467"/>
          </a:xfrm>
        </p:spPr>
        <p:txBody>
          <a:bodyPr>
            <a:normAutofit fontScale="77500" lnSpcReduction="20000"/>
          </a:bodyPr>
          <a:lstStyle/>
          <a:p>
            <a:pPr marL="0" indent="0" algn="just" fontAlgn="base">
              <a:buNone/>
            </a:pPr>
            <a:r>
              <a:rPr lang="en-US" b="1" dirty="0"/>
              <a:t>Causes of Hardware Vulnerability</a:t>
            </a:r>
          </a:p>
          <a:p>
            <a:pPr algn="just" fontAlgn="base"/>
            <a:r>
              <a:rPr lang="en-US" dirty="0"/>
              <a:t>Old version of systems or devices</a:t>
            </a:r>
          </a:p>
          <a:p>
            <a:pPr algn="just" fontAlgn="base"/>
            <a:r>
              <a:rPr lang="en-US" dirty="0"/>
              <a:t>Unprotected storage</a:t>
            </a:r>
          </a:p>
          <a:p>
            <a:pPr algn="just" fontAlgn="base"/>
            <a:r>
              <a:rPr lang="en-US" dirty="0"/>
              <a:t>Unencrypted devices, etc.</a:t>
            </a:r>
          </a:p>
          <a:p>
            <a:pPr marL="0" indent="0" algn="just" fontAlgn="base">
              <a:buNone/>
            </a:pPr>
            <a:r>
              <a:rPr lang="en-US" b="1" dirty="0"/>
              <a:t>How to Prevent Hardware Vulnerability:</a:t>
            </a:r>
          </a:p>
          <a:p>
            <a:pPr algn="just" fontAlgn="base"/>
            <a:r>
              <a:rPr lang="en-US" b="1" dirty="0"/>
              <a:t>Encrypt Sensitive Data:</a:t>
            </a:r>
            <a:r>
              <a:rPr lang="en-US" dirty="0"/>
              <a:t> Ensure that all hardware, such as laptops and smartphones, is encrypted to protect data from unauthorized access in case of theft.</a:t>
            </a:r>
          </a:p>
          <a:p>
            <a:pPr algn="just" fontAlgn="base"/>
            <a:r>
              <a:rPr lang="en-US" b="1" dirty="0"/>
              <a:t>Use Strong Authentication:</a:t>
            </a:r>
            <a:r>
              <a:rPr lang="en-US" dirty="0"/>
              <a:t> Implement biometric or multi-factor authentication on devices to enhance security.</a:t>
            </a:r>
          </a:p>
          <a:p>
            <a:pPr algn="just" fontAlgn="base"/>
            <a:r>
              <a:rPr lang="en-US" b="1" dirty="0"/>
              <a:t>Secure Devices Physically:</a:t>
            </a:r>
            <a:r>
              <a:rPr lang="en-US" dirty="0"/>
              <a:t> Lock hardware devices in secure locations to prevent physical tampering or theft.</a:t>
            </a:r>
          </a:p>
          <a:p>
            <a:pPr algn="just" fontAlgn="base"/>
            <a:r>
              <a:rPr lang="en-US" b="1" dirty="0"/>
              <a:t>Keep Hardware Up-to-Date:</a:t>
            </a:r>
            <a:r>
              <a:rPr lang="en-US" dirty="0"/>
              <a:t> Regularly update hardware firmware to patch vulnerabilities and ensure the latest security measures are in place.</a:t>
            </a:r>
          </a:p>
          <a:p>
            <a:endParaRPr lang="en-IN" dirty="0"/>
          </a:p>
        </p:txBody>
      </p:sp>
    </p:spTree>
    <p:extLst>
      <p:ext uri="{BB962C8B-B14F-4D97-AF65-F5344CB8AC3E}">
        <p14:creationId xmlns:p14="http://schemas.microsoft.com/office/powerpoint/2010/main" val="3745951612"/>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06090"/>
          </a:xfrm>
        </p:spPr>
        <p:txBody>
          <a:bodyPr>
            <a:normAutofit fontScale="90000"/>
          </a:bodyPr>
          <a:lstStyle/>
          <a:p>
            <a:r>
              <a:rPr lang="en-IN" b="1" dirty="0"/>
              <a:t>Software Vulnerability:</a:t>
            </a:r>
            <a:br>
              <a:rPr lang="en-IN" b="1" dirty="0"/>
            </a:br>
            <a:endParaRPr lang="en-IN" dirty="0"/>
          </a:p>
        </p:txBody>
      </p:sp>
      <p:sp>
        <p:nvSpPr>
          <p:cNvPr id="3" name="Content Placeholder 2"/>
          <p:cNvSpPr>
            <a:spLocks noGrp="1"/>
          </p:cNvSpPr>
          <p:nvPr>
            <p:ph idx="1"/>
          </p:nvPr>
        </p:nvSpPr>
        <p:spPr>
          <a:xfrm>
            <a:off x="457200" y="764704"/>
            <a:ext cx="8229600" cy="5361459"/>
          </a:xfrm>
        </p:spPr>
        <p:txBody>
          <a:bodyPr>
            <a:normAutofit/>
          </a:bodyPr>
          <a:lstStyle/>
          <a:p>
            <a:pPr algn="just"/>
            <a:r>
              <a:rPr lang="en-US" sz="2800" dirty="0"/>
              <a:t>Flaws or bugs in software (such as apps or operating systems) that can be used by hackers to compromise the system, often due to coding mistakes or outdated software</a:t>
            </a:r>
            <a:r>
              <a:rPr lang="en-US" sz="2800" dirty="0" smtClean="0"/>
              <a:t>.</a:t>
            </a:r>
          </a:p>
          <a:p>
            <a:pPr fontAlgn="base"/>
            <a:r>
              <a:rPr lang="en-US" sz="2800" b="1" dirty="0"/>
              <a:t>Unpatched </a:t>
            </a:r>
            <a:r>
              <a:rPr lang="en-US" sz="2800" b="1" dirty="0" smtClean="0"/>
              <a:t>Software</a:t>
            </a:r>
          </a:p>
          <a:p>
            <a:pPr fontAlgn="base"/>
            <a:r>
              <a:rPr lang="en-US" sz="2800" b="1" dirty="0" smtClean="0"/>
              <a:t>Buffer Overflow</a:t>
            </a:r>
          </a:p>
          <a:p>
            <a:pPr fontAlgn="base"/>
            <a:r>
              <a:rPr lang="en-US" sz="2800" b="1" dirty="0" smtClean="0"/>
              <a:t>Insecure Code</a:t>
            </a:r>
          </a:p>
          <a:p>
            <a:pPr fontAlgn="base"/>
            <a:r>
              <a:rPr lang="en-US" sz="2800" b="1" dirty="0" smtClean="0"/>
              <a:t>Weak Authentication</a:t>
            </a:r>
          </a:p>
          <a:p>
            <a:pPr fontAlgn="base"/>
            <a:endParaRPr lang="en-IN" sz="2800"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67944" y="2348880"/>
            <a:ext cx="4752528" cy="2880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7829409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idx="1"/>
          </p:nvPr>
        </p:nvSpPr>
        <p:spPr>
          <a:xfrm>
            <a:off x="457200" y="404813"/>
            <a:ext cx="8229600" cy="5721350"/>
          </a:xfrm>
        </p:spPr>
        <p:txBody>
          <a:bodyPr>
            <a:normAutofit fontScale="32500" lnSpcReduction="20000"/>
          </a:bodyPr>
          <a:lstStyle/>
          <a:p>
            <a:pPr marL="0" indent="0" fontAlgn="base">
              <a:buNone/>
            </a:pPr>
            <a:endParaRPr lang="en-US" sz="6000" b="1" dirty="0" smtClean="0"/>
          </a:p>
          <a:p>
            <a:pPr marL="0" indent="0" fontAlgn="base">
              <a:buNone/>
            </a:pPr>
            <a:r>
              <a:rPr lang="en-US" sz="6000" b="1" dirty="0" smtClean="0"/>
              <a:t>Causes </a:t>
            </a:r>
            <a:r>
              <a:rPr lang="en-US" sz="6000" b="1" dirty="0"/>
              <a:t>of Software Vulnerabilities</a:t>
            </a:r>
          </a:p>
          <a:p>
            <a:pPr fontAlgn="base"/>
            <a:r>
              <a:rPr lang="en-US" sz="6000" dirty="0"/>
              <a:t>Lack of input validation</a:t>
            </a:r>
          </a:p>
          <a:p>
            <a:pPr fontAlgn="base"/>
            <a:r>
              <a:rPr lang="en-US" sz="6000" dirty="0"/>
              <a:t>Unverified uploads</a:t>
            </a:r>
          </a:p>
          <a:p>
            <a:pPr fontAlgn="base"/>
            <a:r>
              <a:rPr lang="en-US" sz="6000" dirty="0"/>
              <a:t>Cross-site scripting</a:t>
            </a:r>
          </a:p>
          <a:p>
            <a:pPr fontAlgn="base"/>
            <a:r>
              <a:rPr lang="en-US" sz="6000" dirty="0"/>
              <a:t>Unencrypted data, etc.</a:t>
            </a:r>
          </a:p>
          <a:p>
            <a:pPr marL="0" indent="0" fontAlgn="base">
              <a:buNone/>
            </a:pPr>
            <a:endParaRPr lang="en-US" sz="6000" b="1" dirty="0" smtClean="0"/>
          </a:p>
          <a:p>
            <a:pPr marL="0" indent="0" fontAlgn="base">
              <a:buNone/>
            </a:pPr>
            <a:endParaRPr lang="en-US" sz="6000" b="1" dirty="0" smtClean="0"/>
          </a:p>
          <a:p>
            <a:pPr marL="0" indent="0" fontAlgn="base">
              <a:buNone/>
            </a:pPr>
            <a:r>
              <a:rPr lang="en-US" sz="6000" b="1" dirty="0" smtClean="0"/>
              <a:t>How </a:t>
            </a:r>
            <a:r>
              <a:rPr lang="en-US" sz="6000" b="1" dirty="0"/>
              <a:t>to Prevent Software Vulnerability:</a:t>
            </a:r>
          </a:p>
          <a:p>
            <a:pPr algn="just" fontAlgn="base"/>
            <a:r>
              <a:rPr lang="en-US" sz="6000" b="1" dirty="0"/>
              <a:t>Regular Patching and Updates:</a:t>
            </a:r>
            <a:r>
              <a:rPr lang="en-US" sz="6000" dirty="0"/>
              <a:t> Apply software patches and updates as soon as they are released. Many vulnerabilities arise due to outdated software.</a:t>
            </a:r>
          </a:p>
          <a:p>
            <a:pPr algn="just" fontAlgn="base"/>
            <a:r>
              <a:rPr lang="en-US" sz="6000" b="1" dirty="0"/>
              <a:t>Secure Coding Practices:</a:t>
            </a:r>
            <a:r>
              <a:rPr lang="en-US" sz="6000" dirty="0"/>
              <a:t> Developers should use secure coding practices to avoid common software vulnerabilities such as SQL injection and buffer overflows.</a:t>
            </a:r>
          </a:p>
          <a:p>
            <a:pPr algn="just" fontAlgn="base"/>
            <a:r>
              <a:rPr lang="en-US" sz="6000" b="1" dirty="0"/>
              <a:t>Use Antivirus Software:</a:t>
            </a:r>
            <a:r>
              <a:rPr lang="en-US" sz="6000" dirty="0"/>
              <a:t> Install and regularly update antivirus and anti-malware software to detect and remove malicious code.</a:t>
            </a:r>
          </a:p>
          <a:p>
            <a:pPr algn="just" fontAlgn="base"/>
            <a:r>
              <a:rPr lang="en-US" sz="6000" b="1" dirty="0"/>
              <a:t>Apply Proper Input Validation:</a:t>
            </a:r>
            <a:r>
              <a:rPr lang="en-US" sz="6000" dirty="0"/>
              <a:t> Ensure that input validation checks are in place to prevent attacks like cross-site scripting (XSS) and SQL injection.</a:t>
            </a:r>
          </a:p>
          <a:p>
            <a:pPr marL="0" indent="0">
              <a:buNone/>
            </a:pPr>
            <a:endParaRPr lang="en-IN" dirty="0"/>
          </a:p>
        </p:txBody>
      </p:sp>
    </p:spTree>
    <p:extLst>
      <p:ext uri="{BB962C8B-B14F-4D97-AF65-F5344CB8AC3E}">
        <p14:creationId xmlns:p14="http://schemas.microsoft.com/office/powerpoint/2010/main" val="2477910100"/>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06090"/>
          </a:xfrm>
        </p:spPr>
        <p:txBody>
          <a:bodyPr>
            <a:normAutofit fontScale="90000"/>
          </a:bodyPr>
          <a:lstStyle/>
          <a:p>
            <a:r>
              <a:rPr lang="en-IN" b="1" dirty="0"/>
              <a:t>Network Vulnerability </a:t>
            </a:r>
            <a:br>
              <a:rPr lang="en-IN" b="1" dirty="0"/>
            </a:br>
            <a:endParaRPr lang="en-IN" dirty="0"/>
          </a:p>
        </p:txBody>
      </p:sp>
      <p:sp>
        <p:nvSpPr>
          <p:cNvPr id="3" name="Content Placeholder 2"/>
          <p:cNvSpPr>
            <a:spLocks noGrp="1"/>
          </p:cNvSpPr>
          <p:nvPr>
            <p:ph idx="1"/>
          </p:nvPr>
        </p:nvSpPr>
        <p:spPr>
          <a:xfrm>
            <a:off x="457200" y="692696"/>
            <a:ext cx="8229600" cy="5433467"/>
          </a:xfrm>
        </p:spPr>
        <p:txBody>
          <a:bodyPr>
            <a:normAutofit fontScale="92500" lnSpcReduction="20000"/>
          </a:bodyPr>
          <a:lstStyle/>
          <a:p>
            <a:pPr algn="just"/>
            <a:r>
              <a:rPr lang="en-US" sz="2400" dirty="0"/>
              <a:t>A network vulnerability is a weakness or flaw in the design, implementation, or configuration of a computer network that attackers can exploit to gain unauthorized access, steal data, or disrupt services. These vulnerabilities can exist in hardware (routers, switches), software (servers, protocols), or network configurations</a:t>
            </a:r>
            <a:r>
              <a:rPr lang="en-US" sz="2400" dirty="0" smtClean="0"/>
              <a:t>.</a:t>
            </a:r>
          </a:p>
          <a:p>
            <a:pPr algn="just" fontAlgn="base"/>
            <a:r>
              <a:rPr lang="en-US" sz="2400" b="1" dirty="0"/>
              <a:t>Unsecured Wireless Networks:</a:t>
            </a:r>
            <a:r>
              <a:rPr lang="en-US" sz="2400" dirty="0"/>
              <a:t> Wi-Fi networks that are not properly secured with strong passwords or encryption can be easily accessed by attackers. Once inside the network, an attacker can intercept communications, gain access to devices, or launch attacks against connected systems.</a:t>
            </a:r>
          </a:p>
          <a:p>
            <a:pPr algn="just" fontAlgn="base"/>
            <a:r>
              <a:rPr lang="en-US" sz="2400" b="1" dirty="0"/>
              <a:t>Open Ports:</a:t>
            </a:r>
            <a:r>
              <a:rPr lang="en-US" sz="2400" dirty="0"/>
              <a:t> Unnecessary or open ports on a device can serve as gateways for attackers to exploit. Proper configuration of firewalls is essential to ensure only necessary ports are open and accessible.</a:t>
            </a:r>
          </a:p>
          <a:p>
            <a:pPr algn="just" fontAlgn="base"/>
            <a:r>
              <a:rPr lang="en-US" sz="2400" b="1" dirty="0"/>
              <a:t>Man-in-the-Middle (MITM) Attacks:</a:t>
            </a:r>
            <a:r>
              <a:rPr lang="en-US" sz="2400" dirty="0"/>
              <a:t> In MITM attacks, attackers intercept and alter the communication between two parties. If sensitive information such as login credentials or financial data is transmitted unencrypted, it can be captured and misused.</a:t>
            </a:r>
          </a:p>
          <a:p>
            <a:pPr algn="just"/>
            <a:endParaRPr lang="en-IN" sz="2400" dirty="0"/>
          </a:p>
        </p:txBody>
      </p:sp>
    </p:spTree>
    <p:extLst>
      <p:ext uri="{BB962C8B-B14F-4D97-AF65-F5344CB8AC3E}">
        <p14:creationId xmlns:p14="http://schemas.microsoft.com/office/powerpoint/2010/main" val="2205666669"/>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32656"/>
            <a:ext cx="8229600" cy="5793507"/>
          </a:xfrm>
        </p:spPr>
        <p:txBody>
          <a:bodyPr>
            <a:normAutofit fontScale="70000" lnSpcReduction="20000"/>
          </a:bodyPr>
          <a:lstStyle/>
          <a:p>
            <a:pPr marL="0" indent="0" fontAlgn="base">
              <a:buNone/>
            </a:pPr>
            <a:r>
              <a:rPr lang="en-US" b="1" dirty="0"/>
              <a:t>Causes of Network Vulnerability</a:t>
            </a:r>
          </a:p>
          <a:p>
            <a:pPr fontAlgn="base"/>
            <a:r>
              <a:rPr lang="en-US" dirty="0"/>
              <a:t>Unprotected communication</a:t>
            </a:r>
          </a:p>
          <a:p>
            <a:pPr fontAlgn="base"/>
            <a:r>
              <a:rPr lang="en-US" dirty="0"/>
              <a:t>Malware or malicious software (</a:t>
            </a:r>
            <a:r>
              <a:rPr lang="en-US" dirty="0" err="1"/>
              <a:t>e.g.:Viruses</a:t>
            </a:r>
            <a:r>
              <a:rPr lang="en-US" dirty="0"/>
              <a:t>, </a:t>
            </a:r>
            <a:r>
              <a:rPr lang="en-US" dirty="0" err="1"/>
              <a:t>Keyloggers</a:t>
            </a:r>
            <a:r>
              <a:rPr lang="en-US" dirty="0"/>
              <a:t>, Worms, </a:t>
            </a:r>
            <a:r>
              <a:rPr lang="en-US" dirty="0" err="1"/>
              <a:t>etc</a:t>
            </a:r>
            <a:r>
              <a:rPr lang="en-US" dirty="0"/>
              <a:t>)</a:t>
            </a:r>
          </a:p>
          <a:p>
            <a:pPr fontAlgn="base"/>
            <a:r>
              <a:rPr lang="en-US" dirty="0"/>
              <a:t>Social engineering attacks</a:t>
            </a:r>
          </a:p>
          <a:p>
            <a:pPr fontAlgn="base"/>
            <a:r>
              <a:rPr lang="en-US" dirty="0"/>
              <a:t>Misconfigured firewalls</a:t>
            </a:r>
          </a:p>
          <a:p>
            <a:pPr marL="0" indent="0" fontAlgn="base">
              <a:buNone/>
            </a:pPr>
            <a:r>
              <a:rPr lang="en-US" b="1" dirty="0"/>
              <a:t>How to Prevent Network Vulnerability:</a:t>
            </a:r>
          </a:p>
          <a:p>
            <a:pPr fontAlgn="base"/>
            <a:r>
              <a:rPr lang="en-US" b="1" dirty="0"/>
              <a:t>Use Strong Encryption:</a:t>
            </a:r>
            <a:r>
              <a:rPr lang="en-US" dirty="0"/>
              <a:t> Ensure that sensitive data is encrypted during transmission over the network using protocols like SSL/TLS.</a:t>
            </a:r>
          </a:p>
          <a:p>
            <a:pPr fontAlgn="base"/>
            <a:r>
              <a:rPr lang="en-US" b="1" dirty="0"/>
              <a:t>Secure Wi-Fi Networks:</a:t>
            </a:r>
            <a:r>
              <a:rPr lang="en-US" dirty="0"/>
              <a:t> Use strong passwords and encryption (WPA3) on wireless networks to prevent unauthorized access.</a:t>
            </a:r>
          </a:p>
          <a:p>
            <a:pPr fontAlgn="base"/>
            <a:r>
              <a:rPr lang="en-US" b="1" dirty="0"/>
              <a:t>Firewalls and IDS/IPS:</a:t>
            </a:r>
            <a:r>
              <a:rPr lang="en-US" dirty="0"/>
              <a:t> Implement firewalls to block unauthorized network traffic and use Intrusion Detection Systems (IDS) or Intrusion Prevention Systems (IPS) to monitor and protect network traffic.</a:t>
            </a:r>
          </a:p>
          <a:p>
            <a:pPr fontAlgn="base"/>
            <a:r>
              <a:rPr lang="en-US" b="1" dirty="0"/>
              <a:t>Limit Open Ports:</a:t>
            </a:r>
            <a:r>
              <a:rPr lang="en-US" dirty="0"/>
              <a:t> Close unnecessary open ports on devices to reduce attack surfaces. Regularly audit the network for exposed ports.</a:t>
            </a:r>
          </a:p>
          <a:p>
            <a:endParaRPr lang="en-IN" dirty="0"/>
          </a:p>
        </p:txBody>
      </p:sp>
    </p:spTree>
    <p:extLst>
      <p:ext uri="{BB962C8B-B14F-4D97-AF65-F5344CB8AC3E}">
        <p14:creationId xmlns:p14="http://schemas.microsoft.com/office/powerpoint/2010/main" val="1120756842"/>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06090"/>
          </a:xfrm>
        </p:spPr>
        <p:txBody>
          <a:bodyPr>
            <a:normAutofit fontScale="90000"/>
          </a:bodyPr>
          <a:lstStyle/>
          <a:p>
            <a:r>
              <a:rPr lang="en-IN" b="1" dirty="0" smtClean="0"/>
              <a:t/>
            </a:r>
            <a:br>
              <a:rPr lang="en-IN" b="1" dirty="0" smtClean="0"/>
            </a:br>
            <a:r>
              <a:rPr lang="en-IN" b="1" dirty="0" smtClean="0"/>
              <a:t>Procedural </a:t>
            </a:r>
            <a:r>
              <a:rPr lang="en-IN" b="1" dirty="0"/>
              <a:t>Vulnerability</a:t>
            </a:r>
            <a:br>
              <a:rPr lang="en-IN" b="1" dirty="0"/>
            </a:br>
            <a:endParaRPr lang="en-IN" dirty="0"/>
          </a:p>
        </p:txBody>
      </p:sp>
      <p:sp>
        <p:nvSpPr>
          <p:cNvPr id="3" name="Content Placeholder 2"/>
          <p:cNvSpPr>
            <a:spLocks noGrp="1"/>
          </p:cNvSpPr>
          <p:nvPr>
            <p:ph idx="1"/>
          </p:nvPr>
        </p:nvSpPr>
        <p:spPr>
          <a:xfrm>
            <a:off x="457200" y="1052736"/>
            <a:ext cx="8229600" cy="5073427"/>
          </a:xfrm>
        </p:spPr>
        <p:txBody>
          <a:bodyPr>
            <a:normAutofit/>
          </a:bodyPr>
          <a:lstStyle/>
          <a:p>
            <a:pPr algn="just"/>
            <a:r>
              <a:rPr lang="en-US" sz="2400" dirty="0"/>
              <a:t>Weaknesses in the processes or rules organizations follow, like using default passwords or failing to monitor activities, which can allow attackers to bypass security</a:t>
            </a:r>
            <a:r>
              <a:rPr lang="en-US" sz="2400" dirty="0" smtClean="0"/>
              <a:t>.</a:t>
            </a:r>
          </a:p>
          <a:p>
            <a:pPr algn="just"/>
            <a:endParaRPr lang="en-US" sz="2400" dirty="0" smtClean="0"/>
          </a:p>
          <a:p>
            <a:pPr algn="just"/>
            <a:endParaRPr lang="en-IN" sz="2400" dirty="0"/>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32000" y="2593181"/>
            <a:ext cx="5080000" cy="254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45135258"/>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4" name="Content Placeholder 3"/>
          <p:cNvSpPr>
            <a:spLocks noGrp="1"/>
          </p:cNvSpPr>
          <p:nvPr>
            <p:ph idx="1"/>
          </p:nvPr>
        </p:nvSpPr>
        <p:spPr/>
        <p:txBody>
          <a:bodyPr>
            <a:normAutofit fontScale="70000" lnSpcReduction="20000"/>
          </a:bodyPr>
          <a:lstStyle/>
          <a:p>
            <a:pPr algn="just" fontAlgn="base"/>
            <a:r>
              <a:rPr lang="en-US" b="1" dirty="0"/>
              <a:t>Default Configurations:</a:t>
            </a:r>
            <a:r>
              <a:rPr lang="en-US" dirty="0"/>
              <a:t> Many devices, applications, and systems come with default settings that are not optimized for security. Leaving these defaults unchanged, such as using default administrator passwords, can provide attackers with an easy way into the system.</a:t>
            </a:r>
          </a:p>
          <a:p>
            <a:pPr algn="just" fontAlgn="base"/>
            <a:r>
              <a:rPr lang="en-US" b="1" dirty="0"/>
              <a:t>Improper Access Controls:</a:t>
            </a:r>
            <a:r>
              <a:rPr lang="en-US" dirty="0"/>
              <a:t> Misconfiguring access control settings, such as leaving sensitive data accessible to unauthorized users, can expose systems to exploitation. Role-based access control (RBAC) and least privilege access are essential to minimize this risk.</a:t>
            </a:r>
          </a:p>
          <a:p>
            <a:pPr algn="just" fontAlgn="base"/>
            <a:r>
              <a:rPr lang="en-US" b="1" dirty="0"/>
              <a:t>Inadequate Logging and Monitoring:</a:t>
            </a:r>
            <a:r>
              <a:rPr lang="en-US" dirty="0"/>
              <a:t> Failure to implement adequate logging and monitoring can prevent organizations from detecting unauthorized access or malicious activities in a timely manner. A lack of monitoring can allow an attacker to maintain persistent access without detection.</a:t>
            </a:r>
          </a:p>
          <a:p>
            <a:endParaRPr lang="en-IN" dirty="0"/>
          </a:p>
        </p:txBody>
      </p:sp>
    </p:spTree>
    <p:extLst>
      <p:ext uri="{BB962C8B-B14F-4D97-AF65-F5344CB8AC3E}">
        <p14:creationId xmlns:p14="http://schemas.microsoft.com/office/powerpoint/2010/main" val="1667337366"/>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77500" lnSpcReduction="20000"/>
          </a:bodyPr>
          <a:lstStyle/>
          <a:p>
            <a:pPr marL="0" indent="0" algn="just" fontAlgn="base">
              <a:buNone/>
            </a:pPr>
            <a:r>
              <a:rPr lang="en-US" b="1" dirty="0"/>
              <a:t>How to Prevent Procedural Vulnerability:</a:t>
            </a:r>
          </a:p>
          <a:p>
            <a:pPr algn="just" fontAlgn="base"/>
            <a:r>
              <a:rPr lang="en-US" b="1" dirty="0"/>
              <a:t>Change Default Configurations:</a:t>
            </a:r>
            <a:r>
              <a:rPr lang="en-US" dirty="0"/>
              <a:t> Always change default configurations on devices, software, and network devices to ensure stronger security.</a:t>
            </a:r>
          </a:p>
          <a:p>
            <a:pPr algn="just" fontAlgn="base"/>
            <a:r>
              <a:rPr lang="en-US" b="1" dirty="0"/>
              <a:t>Role-Based Access Control (RBAC):</a:t>
            </a:r>
            <a:r>
              <a:rPr lang="en-US" dirty="0"/>
              <a:t> Implement RBAC to ensure that employees have access only to the information they need for their job.</a:t>
            </a:r>
          </a:p>
          <a:p>
            <a:pPr algn="just" fontAlgn="base"/>
            <a:r>
              <a:rPr lang="en-US" b="1" dirty="0"/>
              <a:t>Regular Monitoring and Logging:</a:t>
            </a:r>
            <a:r>
              <a:rPr lang="en-US" dirty="0"/>
              <a:t> Establish robust logging and monitoring practices to detect and respond to unusual activity promptly.</a:t>
            </a:r>
          </a:p>
          <a:p>
            <a:pPr algn="just" fontAlgn="base"/>
            <a:r>
              <a:rPr lang="en-US" b="1" dirty="0"/>
              <a:t>Use the Principle of Least Privilege (</a:t>
            </a:r>
            <a:r>
              <a:rPr lang="en-US" b="1" dirty="0" err="1"/>
              <a:t>PoLP</a:t>
            </a:r>
            <a:r>
              <a:rPr lang="en-US" b="1" dirty="0"/>
              <a:t>):</a:t>
            </a:r>
            <a:r>
              <a:rPr lang="en-US" dirty="0"/>
              <a:t> Only grant users the minimum level of access necessary for them to perform their duties.</a:t>
            </a:r>
          </a:p>
          <a:p>
            <a:endParaRPr lang="en-IN" dirty="0"/>
          </a:p>
        </p:txBody>
      </p:sp>
    </p:spTree>
    <p:extLst>
      <p:ext uri="{BB962C8B-B14F-4D97-AF65-F5344CB8AC3E}">
        <p14:creationId xmlns:p14="http://schemas.microsoft.com/office/powerpoint/2010/main" val="3032204550"/>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06090"/>
          </a:xfrm>
        </p:spPr>
        <p:txBody>
          <a:bodyPr>
            <a:normAutofit fontScale="90000"/>
          </a:bodyPr>
          <a:lstStyle/>
          <a:p>
            <a:r>
              <a:rPr lang="en-IN" b="1" dirty="0" smtClean="0"/>
              <a:t/>
            </a:r>
            <a:br>
              <a:rPr lang="en-IN" b="1" dirty="0" smtClean="0"/>
            </a:br>
            <a:r>
              <a:rPr lang="en-IN" b="1" dirty="0" smtClean="0"/>
              <a:t>Human </a:t>
            </a:r>
            <a:r>
              <a:rPr lang="en-IN" b="1" dirty="0"/>
              <a:t>Vulnerabilities</a:t>
            </a:r>
            <a:br>
              <a:rPr lang="en-IN" b="1" dirty="0"/>
            </a:br>
            <a:endParaRPr lang="en-IN" dirty="0"/>
          </a:p>
        </p:txBody>
      </p:sp>
      <p:sp>
        <p:nvSpPr>
          <p:cNvPr id="3" name="Content Placeholder 2"/>
          <p:cNvSpPr>
            <a:spLocks noGrp="1"/>
          </p:cNvSpPr>
          <p:nvPr>
            <p:ph idx="1"/>
          </p:nvPr>
        </p:nvSpPr>
        <p:spPr>
          <a:xfrm>
            <a:off x="457200" y="1052736"/>
            <a:ext cx="8229600" cy="5073427"/>
          </a:xfrm>
        </p:spPr>
        <p:txBody>
          <a:bodyPr>
            <a:normAutofit/>
          </a:bodyPr>
          <a:lstStyle/>
          <a:p>
            <a:pPr algn="just"/>
            <a:r>
              <a:rPr lang="en-US" sz="2800" dirty="0"/>
              <a:t>Security risks caused by human behavior, such as falling for phishing attacks, using weak passwords, or not being aware of security threats, making it easier for hackers to exploit the system</a:t>
            </a:r>
            <a:r>
              <a:rPr lang="en-US" sz="2800" dirty="0" smtClean="0"/>
              <a:t>.</a:t>
            </a:r>
          </a:p>
          <a:p>
            <a:pPr algn="just"/>
            <a:endParaRPr lang="en-IN" sz="2800"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7584" y="3068960"/>
            <a:ext cx="7620000" cy="3248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84893026"/>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70000" lnSpcReduction="20000"/>
          </a:bodyPr>
          <a:lstStyle/>
          <a:p>
            <a:pPr algn="just" fontAlgn="base"/>
            <a:r>
              <a:rPr lang="en-US" b="1" u="sng" dirty="0"/>
              <a:t>Social </a:t>
            </a:r>
            <a:r>
              <a:rPr lang="en-US" b="1" u="sng" dirty="0" smtClean="0"/>
              <a:t>Engineering:</a:t>
            </a:r>
            <a:r>
              <a:rPr lang="en-US" dirty="0"/>
              <a:t> Human behavior is often the weakest link in cyber security. Attackers use social engineering tactics to manipulate individuals into disclosing confidential information or performing actions that compromise security. </a:t>
            </a:r>
            <a:r>
              <a:rPr lang="en-US" u="sng" dirty="0"/>
              <a:t>Phishing</a:t>
            </a:r>
            <a:r>
              <a:rPr lang="en-US" dirty="0"/>
              <a:t>, baiting, and pretexting are common social engineering methods.</a:t>
            </a:r>
          </a:p>
          <a:p>
            <a:pPr algn="just" fontAlgn="base"/>
            <a:r>
              <a:rPr lang="en-US" b="1" dirty="0"/>
              <a:t>Negligence:</a:t>
            </a:r>
            <a:r>
              <a:rPr lang="en-US" dirty="0"/>
              <a:t> Employees or users may inadvertently introduce vulnerabilities through negligence, such as using weak passwords, sharing login credentials, or failing to lock their devices when not in use. This makes them easy targets for attackers.</a:t>
            </a:r>
          </a:p>
          <a:p>
            <a:pPr algn="just" fontAlgn="base"/>
            <a:r>
              <a:rPr lang="en-US" b="1" dirty="0"/>
              <a:t>Lack of Security Awareness:</a:t>
            </a:r>
            <a:r>
              <a:rPr lang="en-US" dirty="0"/>
              <a:t> A lack of training and awareness about cyber security best practices can leave individuals and organizations vulnerable to attacks. Users may fail to recognize phishing emails or may click on malicious links without thinking.</a:t>
            </a:r>
          </a:p>
          <a:p>
            <a:endParaRPr lang="en-IN" dirty="0"/>
          </a:p>
        </p:txBody>
      </p:sp>
    </p:spTree>
    <p:extLst>
      <p:ext uri="{BB962C8B-B14F-4D97-AF65-F5344CB8AC3E}">
        <p14:creationId xmlns:p14="http://schemas.microsoft.com/office/powerpoint/2010/main" val="1123666798"/>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70000" lnSpcReduction="20000"/>
          </a:bodyPr>
          <a:lstStyle/>
          <a:p>
            <a:pPr marL="0" indent="0" fontAlgn="base">
              <a:buNone/>
            </a:pPr>
            <a:r>
              <a:rPr lang="en-US" b="1" dirty="0"/>
              <a:t>How to Prevent Human Vulnerability:</a:t>
            </a:r>
          </a:p>
          <a:p>
            <a:pPr fontAlgn="base"/>
            <a:r>
              <a:rPr lang="en-US" b="1" dirty="0"/>
              <a:t>Security Awareness Training:</a:t>
            </a:r>
            <a:r>
              <a:rPr lang="en-US" dirty="0"/>
              <a:t> Conduct regular cyber security training for employees to help them identify phishing attacks, social engineering tactics, and other malicious activities.</a:t>
            </a:r>
          </a:p>
          <a:p>
            <a:pPr fontAlgn="base"/>
            <a:r>
              <a:rPr lang="en-US" b="1" dirty="0"/>
              <a:t>Use Strong Passwords and Multi-Factor Authentication (MFA):</a:t>
            </a:r>
            <a:r>
              <a:rPr lang="en-US" dirty="0"/>
              <a:t> Encourage the use of complex passwords and MFA to secure user accounts.</a:t>
            </a:r>
          </a:p>
          <a:p>
            <a:pPr fontAlgn="base"/>
            <a:r>
              <a:rPr lang="en-US" b="1" dirty="0"/>
              <a:t>Regular Security Audits:</a:t>
            </a:r>
            <a:r>
              <a:rPr lang="en-US" dirty="0"/>
              <a:t> Perform regular audits of employee behavior and access permissions to ensure compliance with security policies.</a:t>
            </a:r>
          </a:p>
          <a:p>
            <a:pPr fontAlgn="base"/>
            <a:r>
              <a:rPr lang="en-US" b="1" dirty="0"/>
              <a:t>Be Cautious of Suspicious Emails and Links:</a:t>
            </a:r>
            <a:r>
              <a:rPr lang="en-US" dirty="0"/>
              <a:t> Train users to avoid clicking on unknown links, opening suspicious email attachments, or entering sensitive information on untrusted websites.</a:t>
            </a:r>
          </a:p>
          <a:p>
            <a:endParaRPr lang="en-IN" dirty="0"/>
          </a:p>
        </p:txBody>
      </p:sp>
    </p:spTree>
    <p:extLst>
      <p:ext uri="{BB962C8B-B14F-4D97-AF65-F5344CB8AC3E}">
        <p14:creationId xmlns:p14="http://schemas.microsoft.com/office/powerpoint/2010/main" val="2513768317"/>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lide Number Placeholder 1"/>
          <p:cNvSpPr>
            <a:spLocks noGrp="1"/>
          </p:cNvSpPr>
          <p:nvPr>
            <p:ph type="sldNum" sz="quarter" idx="10"/>
          </p:nvPr>
        </p:nvSpPr>
        <p:spPr/>
        <p:txBody>
          <a:bodyPr/>
          <a:lstStyle/>
          <a:p>
            <a:r>
              <a:rPr lang="en-US"/>
              <a:t>1.</a:t>
            </a:r>
            <a:fld id="{2F93C10E-E74B-418B-8119-B45EF5391560}" type="slidenum">
              <a:rPr lang="en-US"/>
              <a:pPr/>
              <a:t>33</a:t>
            </a:fld>
            <a:endParaRPr lang="en-US"/>
          </a:p>
        </p:txBody>
      </p:sp>
      <p:sp>
        <p:nvSpPr>
          <p:cNvPr id="954370" name="Rectangle 2"/>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sz="2400" b="0" i="0">
              <a:latin typeface="Tahoma" pitchFamily="34" charset="0"/>
            </a:endParaRPr>
          </a:p>
        </p:txBody>
      </p:sp>
      <p:sp>
        <p:nvSpPr>
          <p:cNvPr id="954371" name="Rectangle 3"/>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sz="2400" b="0" i="0">
              <a:latin typeface="Tahoma" pitchFamily="34" charset="0"/>
            </a:endParaRPr>
          </a:p>
        </p:txBody>
      </p:sp>
      <p:sp>
        <p:nvSpPr>
          <p:cNvPr id="954372" name="Rectangle 4"/>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sz="2400" b="0" i="0">
              <a:latin typeface="Tahoma" pitchFamily="34" charset="0"/>
            </a:endParaRPr>
          </a:p>
        </p:txBody>
      </p:sp>
      <p:sp>
        <p:nvSpPr>
          <p:cNvPr id="954373" name="Rectangle 5"/>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sz="2400" b="0" i="0">
              <a:latin typeface="Tahoma" pitchFamily="34" charset="0"/>
            </a:endParaRPr>
          </a:p>
        </p:txBody>
      </p:sp>
      <p:sp>
        <p:nvSpPr>
          <p:cNvPr id="954374" name="Rectangle 6"/>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sz="2400" b="0" i="0">
              <a:latin typeface="Tahoma" pitchFamily="34" charset="0"/>
            </a:endParaRPr>
          </a:p>
        </p:txBody>
      </p:sp>
      <p:sp>
        <p:nvSpPr>
          <p:cNvPr id="954375" name="Rectangle 7"/>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sz="2400" b="0" i="0">
              <a:latin typeface="Tahoma" pitchFamily="34" charset="0"/>
            </a:endParaRPr>
          </a:p>
        </p:txBody>
      </p:sp>
      <p:sp>
        <p:nvSpPr>
          <p:cNvPr id="954376" name="Rectangle 8"/>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sz="2400" b="0" i="0">
              <a:latin typeface="Tahoma" pitchFamily="34" charset="0"/>
            </a:endParaRPr>
          </a:p>
        </p:txBody>
      </p:sp>
      <p:sp>
        <p:nvSpPr>
          <p:cNvPr id="954377" name="Text Box 9"/>
          <p:cNvSpPr txBox="1">
            <a:spLocks noChangeArrowheads="1"/>
          </p:cNvSpPr>
          <p:nvPr/>
        </p:nvSpPr>
        <p:spPr bwMode="auto">
          <a:xfrm>
            <a:off x="1143000" y="0"/>
            <a:ext cx="405923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solidFill>
                  <a:schemeClr val="hlink"/>
                </a:solidFill>
                <a:latin typeface="Times New Roman" pitchFamily="18" charset="0"/>
              </a:rPr>
              <a:t>1.3.1  Security Services</a:t>
            </a:r>
          </a:p>
        </p:txBody>
      </p:sp>
      <p:sp>
        <p:nvSpPr>
          <p:cNvPr id="954380" name="Text Box 12"/>
          <p:cNvSpPr txBox="1">
            <a:spLocks noChangeArrowheads="1"/>
          </p:cNvSpPr>
          <p:nvPr/>
        </p:nvSpPr>
        <p:spPr bwMode="auto">
          <a:xfrm>
            <a:off x="1219200" y="533400"/>
            <a:ext cx="33940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2400" i="0" dirty="0">
                <a:solidFill>
                  <a:schemeClr val="folHlink"/>
                </a:solidFill>
                <a:latin typeface="Times New Roman" pitchFamily="18" charset="0"/>
              </a:rPr>
              <a:t>Figure 1.3  </a:t>
            </a:r>
            <a:r>
              <a:rPr lang="en-US" sz="2000" dirty="0">
                <a:latin typeface="Times New Roman" pitchFamily="18" charset="0"/>
              </a:rPr>
              <a:t>Security services</a:t>
            </a:r>
          </a:p>
        </p:txBody>
      </p:sp>
      <p:pic>
        <p:nvPicPr>
          <p:cNvPr id="954381" name="Picture 1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9088" y="2430463"/>
            <a:ext cx="8520112" cy="2179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62070335"/>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p:cNvSpPr/>
          <p:nvPr/>
        </p:nvSpPr>
        <p:spPr>
          <a:xfrm>
            <a:off x="251520" y="332656"/>
            <a:ext cx="8352928" cy="6463308"/>
          </a:xfrm>
          <a:prstGeom prst="rect">
            <a:avLst/>
          </a:prstGeom>
        </p:spPr>
        <p:txBody>
          <a:bodyPr wrap="square">
            <a:spAutoFit/>
          </a:bodyPr>
          <a:lstStyle/>
          <a:p>
            <a:r>
              <a:rPr lang="en-IN" sz="1600" b="1" dirty="0" smtClean="0"/>
              <a:t>Security </a:t>
            </a:r>
            <a:r>
              <a:rPr lang="en-IN" sz="1600" b="1" dirty="0"/>
              <a:t>Services</a:t>
            </a:r>
            <a:endParaRPr lang="en-IN" sz="1600" dirty="0"/>
          </a:p>
          <a:p>
            <a:r>
              <a:rPr lang="en-IN" sz="1600" dirty="0"/>
              <a:t>Security services are mechanisms designed to </a:t>
            </a:r>
            <a:r>
              <a:rPr lang="en-IN" sz="1600" b="1" dirty="0"/>
              <a:t>protect data and communication systems</a:t>
            </a:r>
            <a:r>
              <a:rPr lang="en-IN" sz="1600" dirty="0"/>
              <a:t> from threats such as unauthorized access, modification, or misuse</a:t>
            </a:r>
            <a:r>
              <a:rPr lang="en-IN" sz="1600" dirty="0" smtClean="0"/>
              <a:t>.</a:t>
            </a:r>
          </a:p>
          <a:p>
            <a:endParaRPr lang="en-IN" sz="1600" b="1" dirty="0" smtClean="0"/>
          </a:p>
          <a:p>
            <a:r>
              <a:rPr lang="en-IN" sz="1600" b="1" dirty="0" smtClean="0"/>
              <a:t>Data </a:t>
            </a:r>
            <a:r>
              <a:rPr lang="en-IN" sz="1600" b="1" dirty="0"/>
              <a:t>Confidentiality</a:t>
            </a:r>
            <a:endParaRPr lang="en-IN" sz="1600" dirty="0"/>
          </a:p>
          <a:p>
            <a:pPr lvl="0"/>
            <a:r>
              <a:rPr lang="en-IN" sz="1600" b="1" dirty="0"/>
              <a:t>Purpose:</a:t>
            </a:r>
            <a:r>
              <a:rPr lang="en-IN" sz="1600" dirty="0"/>
              <a:t> Ensures that information is </a:t>
            </a:r>
            <a:r>
              <a:rPr lang="en-IN" sz="1600" b="1" dirty="0"/>
              <a:t>not disclosed to unauthorized users</a:t>
            </a:r>
            <a:r>
              <a:rPr lang="en-IN" sz="1600" dirty="0"/>
              <a:t>.</a:t>
            </a:r>
          </a:p>
          <a:p>
            <a:pPr lvl="0"/>
            <a:r>
              <a:rPr lang="en-IN" sz="1600" b="1" dirty="0"/>
              <a:t>How:</a:t>
            </a:r>
            <a:r>
              <a:rPr lang="en-IN" sz="1600" dirty="0"/>
              <a:t> Encryption, secure communication channels.</a:t>
            </a:r>
          </a:p>
          <a:p>
            <a:pPr lvl="0"/>
            <a:r>
              <a:rPr lang="en-IN" sz="1600" b="1" dirty="0"/>
              <a:t>Example:</a:t>
            </a:r>
            <a:r>
              <a:rPr lang="en-IN" sz="1600" dirty="0"/>
              <a:t> Only the intended receiver can read an encrypted email</a:t>
            </a:r>
            <a:r>
              <a:rPr lang="en-IN" sz="1600" dirty="0" smtClean="0"/>
              <a:t>.</a:t>
            </a:r>
          </a:p>
          <a:p>
            <a:pPr lvl="0"/>
            <a:endParaRPr lang="en-IN" sz="1600" dirty="0"/>
          </a:p>
          <a:p>
            <a:r>
              <a:rPr lang="en-IN" sz="1600" b="1" dirty="0"/>
              <a:t>Data Integrity</a:t>
            </a:r>
            <a:endParaRPr lang="en-IN" sz="1050" dirty="0"/>
          </a:p>
          <a:p>
            <a:pPr lvl="0"/>
            <a:r>
              <a:rPr lang="en-IN" sz="1600" b="1" dirty="0"/>
              <a:t>Purpose:</a:t>
            </a:r>
            <a:r>
              <a:rPr lang="en-IN" sz="1600" dirty="0"/>
              <a:t> Ensures that data is </a:t>
            </a:r>
            <a:r>
              <a:rPr lang="en-IN" sz="1600" b="1" dirty="0"/>
              <a:t>not altered</a:t>
            </a:r>
            <a:r>
              <a:rPr lang="en-IN" sz="1600" dirty="0"/>
              <a:t> during storage or transmission.</a:t>
            </a:r>
            <a:endParaRPr lang="en-IN" sz="1400" dirty="0"/>
          </a:p>
          <a:p>
            <a:pPr lvl="0"/>
            <a:r>
              <a:rPr lang="en-IN" sz="1600" b="1" dirty="0"/>
              <a:t>Sub-services:</a:t>
            </a:r>
            <a:endParaRPr lang="en-IN" sz="1400" dirty="0"/>
          </a:p>
          <a:p>
            <a:pPr lvl="1"/>
            <a:r>
              <a:rPr lang="en-IN" sz="1600" b="1" dirty="0"/>
              <a:t>Anti-change:</a:t>
            </a:r>
            <a:r>
              <a:rPr lang="en-IN" sz="1600" dirty="0"/>
              <a:t> Prevents unauthorized modification of data.</a:t>
            </a:r>
            <a:endParaRPr lang="en-IN" sz="1400" dirty="0"/>
          </a:p>
          <a:p>
            <a:pPr lvl="1"/>
            <a:r>
              <a:rPr lang="en-IN" sz="1600" b="1" dirty="0"/>
              <a:t>Anti-replay:</a:t>
            </a:r>
            <a:r>
              <a:rPr lang="en-IN" sz="1600" dirty="0"/>
              <a:t> Prevents attackers from capturing and re-sending old messages.</a:t>
            </a:r>
            <a:endParaRPr lang="en-IN" sz="1400" dirty="0"/>
          </a:p>
          <a:p>
            <a:r>
              <a:rPr lang="en-IN" sz="1600" b="1" dirty="0"/>
              <a:t>Example:</a:t>
            </a:r>
            <a:r>
              <a:rPr lang="en-IN" sz="1600" dirty="0"/>
              <a:t> Hash functions and Message Authentication Codes (MACs</a:t>
            </a:r>
            <a:r>
              <a:rPr lang="en-IN" sz="1600" dirty="0" smtClean="0"/>
              <a:t>).</a:t>
            </a:r>
          </a:p>
          <a:p>
            <a:endParaRPr lang="en-IN" sz="1600" dirty="0"/>
          </a:p>
          <a:p>
            <a:r>
              <a:rPr lang="en-IN" sz="1600" b="1" dirty="0"/>
              <a:t>Authentication</a:t>
            </a:r>
            <a:endParaRPr lang="en-IN" sz="1050" dirty="0"/>
          </a:p>
          <a:p>
            <a:pPr lvl="0"/>
            <a:r>
              <a:rPr lang="en-IN" sz="1600" b="1" dirty="0"/>
              <a:t>Purpose:</a:t>
            </a:r>
            <a:r>
              <a:rPr lang="en-IN" sz="1600" dirty="0"/>
              <a:t> Confirms the </a:t>
            </a:r>
            <a:r>
              <a:rPr lang="en-IN" sz="1600" b="1" dirty="0"/>
              <a:t>identity of entities</a:t>
            </a:r>
            <a:r>
              <a:rPr lang="en-IN" sz="1600" dirty="0"/>
              <a:t> involved in communication.</a:t>
            </a:r>
            <a:endParaRPr lang="en-IN" sz="1400" dirty="0"/>
          </a:p>
          <a:p>
            <a:pPr lvl="0"/>
            <a:r>
              <a:rPr lang="en-IN" sz="1600" b="1" dirty="0"/>
              <a:t>Sub-services:</a:t>
            </a:r>
            <a:endParaRPr lang="en-IN" sz="1400" dirty="0"/>
          </a:p>
          <a:p>
            <a:pPr lvl="1"/>
            <a:r>
              <a:rPr lang="en-IN" sz="1600" b="1" dirty="0"/>
              <a:t>Peer entity authentication:</a:t>
            </a:r>
            <a:r>
              <a:rPr lang="en-IN" sz="1600" dirty="0"/>
              <a:t> Verifies the identity of the communicating parties (e.g., user login).</a:t>
            </a:r>
            <a:endParaRPr lang="en-IN" sz="1400" dirty="0"/>
          </a:p>
          <a:p>
            <a:pPr lvl="1"/>
            <a:r>
              <a:rPr lang="en-IN" sz="1600" b="1" dirty="0"/>
              <a:t>Data origin authentication:</a:t>
            </a:r>
            <a:r>
              <a:rPr lang="en-IN" sz="1600" dirty="0"/>
              <a:t> Confirms that data comes from a legitimate source.</a:t>
            </a:r>
            <a:endParaRPr lang="en-IN" sz="1400" dirty="0"/>
          </a:p>
          <a:p>
            <a:pPr lvl="0"/>
            <a:r>
              <a:rPr lang="en-IN" sz="1600" b="1" dirty="0"/>
              <a:t>Example:</a:t>
            </a:r>
            <a:r>
              <a:rPr lang="en-IN" sz="1600" dirty="0"/>
              <a:t> Passwords, biometrics, digital certificates.</a:t>
            </a:r>
            <a:endParaRPr lang="en-IN" sz="1400" dirty="0"/>
          </a:p>
          <a:p>
            <a:endParaRPr lang="en-IN" dirty="0"/>
          </a:p>
          <a:p>
            <a:endParaRPr lang="en-IN" dirty="0"/>
          </a:p>
        </p:txBody>
      </p:sp>
    </p:spTree>
    <p:extLst>
      <p:ext uri="{BB962C8B-B14F-4D97-AF65-F5344CB8AC3E}">
        <p14:creationId xmlns:p14="http://schemas.microsoft.com/office/powerpoint/2010/main" val="279833363"/>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40363" y="836712"/>
            <a:ext cx="8136904" cy="3724096"/>
          </a:xfrm>
          <a:prstGeom prst="rect">
            <a:avLst/>
          </a:prstGeom>
        </p:spPr>
        <p:txBody>
          <a:bodyPr wrap="square">
            <a:spAutoFit/>
          </a:bodyPr>
          <a:lstStyle/>
          <a:p>
            <a:r>
              <a:rPr lang="en-IN" sz="1600" b="1" dirty="0"/>
              <a:t>Authentication</a:t>
            </a:r>
            <a:endParaRPr lang="en-IN" sz="1050" dirty="0"/>
          </a:p>
          <a:p>
            <a:pPr lvl="0"/>
            <a:r>
              <a:rPr lang="en-IN" sz="1600" b="1" dirty="0"/>
              <a:t>Purpose:</a:t>
            </a:r>
            <a:r>
              <a:rPr lang="en-IN" sz="1600" dirty="0"/>
              <a:t> Confirms the </a:t>
            </a:r>
            <a:r>
              <a:rPr lang="en-IN" sz="1600" b="1" dirty="0"/>
              <a:t>identity of entities</a:t>
            </a:r>
            <a:r>
              <a:rPr lang="en-IN" sz="1600" dirty="0"/>
              <a:t> involved in communication.</a:t>
            </a:r>
            <a:endParaRPr lang="en-IN" sz="1400" dirty="0"/>
          </a:p>
          <a:p>
            <a:pPr lvl="0"/>
            <a:r>
              <a:rPr lang="en-IN" sz="1600" b="1" dirty="0"/>
              <a:t>Sub-services:</a:t>
            </a:r>
            <a:endParaRPr lang="en-IN" sz="1400" dirty="0"/>
          </a:p>
          <a:p>
            <a:pPr lvl="1"/>
            <a:r>
              <a:rPr lang="en-IN" sz="1600" b="1" dirty="0"/>
              <a:t>Peer entity authentication:</a:t>
            </a:r>
            <a:r>
              <a:rPr lang="en-IN" sz="1600" dirty="0"/>
              <a:t> Verifies the identity of the communicating parties (e.g., user login).</a:t>
            </a:r>
            <a:endParaRPr lang="en-IN" sz="1400" dirty="0"/>
          </a:p>
          <a:p>
            <a:pPr lvl="1"/>
            <a:r>
              <a:rPr lang="en-IN" sz="1600" b="1" dirty="0"/>
              <a:t>Data origin authentication:</a:t>
            </a:r>
            <a:r>
              <a:rPr lang="en-IN" sz="1600" dirty="0"/>
              <a:t> Confirms that data comes from a legitimate source.</a:t>
            </a:r>
            <a:endParaRPr lang="en-IN" sz="1400" dirty="0"/>
          </a:p>
          <a:p>
            <a:pPr lvl="0"/>
            <a:r>
              <a:rPr lang="en-IN" sz="1600" b="1" dirty="0"/>
              <a:t>Example:</a:t>
            </a:r>
            <a:r>
              <a:rPr lang="en-IN" sz="1600" dirty="0"/>
              <a:t> Passwords, biometrics, digital certificates</a:t>
            </a:r>
            <a:r>
              <a:rPr lang="en-IN" sz="1600" dirty="0" smtClean="0"/>
              <a:t>.</a:t>
            </a:r>
          </a:p>
          <a:p>
            <a:pPr lvl="0"/>
            <a:endParaRPr lang="en-IN" sz="1600" dirty="0"/>
          </a:p>
          <a:p>
            <a:r>
              <a:rPr lang="en-IN" b="1" dirty="0"/>
              <a:t>Nonrepudiation</a:t>
            </a:r>
            <a:endParaRPr lang="en-IN" sz="1100" dirty="0"/>
          </a:p>
          <a:p>
            <a:pPr lvl="0"/>
            <a:r>
              <a:rPr lang="en-IN" b="1" dirty="0"/>
              <a:t>Purpose:</a:t>
            </a:r>
            <a:r>
              <a:rPr lang="en-IN" dirty="0"/>
              <a:t> Prevents a sender or receiver from </a:t>
            </a:r>
            <a:r>
              <a:rPr lang="en-IN" b="1" dirty="0"/>
              <a:t>denying an action</a:t>
            </a:r>
            <a:r>
              <a:rPr lang="en-IN" dirty="0"/>
              <a:t> they performed.</a:t>
            </a:r>
            <a:endParaRPr lang="en-IN" sz="1600" dirty="0"/>
          </a:p>
          <a:p>
            <a:pPr lvl="0"/>
            <a:r>
              <a:rPr lang="en-IN" b="1" dirty="0"/>
              <a:t>Sub-services:</a:t>
            </a:r>
            <a:endParaRPr lang="en-IN" sz="1600" dirty="0"/>
          </a:p>
          <a:p>
            <a:pPr lvl="1"/>
            <a:r>
              <a:rPr lang="en-IN" b="1" dirty="0"/>
              <a:t>Proof of origin:</a:t>
            </a:r>
            <a:r>
              <a:rPr lang="en-IN" dirty="0"/>
              <a:t> Sender cannot deny sending the message.</a:t>
            </a:r>
            <a:endParaRPr lang="en-IN" sz="1600" dirty="0"/>
          </a:p>
          <a:p>
            <a:pPr lvl="1"/>
            <a:r>
              <a:rPr lang="en-IN" b="1" dirty="0"/>
              <a:t>Proof of delivery:</a:t>
            </a:r>
            <a:r>
              <a:rPr lang="en-IN" dirty="0"/>
              <a:t> Receiver cannot deny receiving the message.</a:t>
            </a:r>
            <a:endParaRPr lang="en-IN" sz="1600" dirty="0"/>
          </a:p>
          <a:p>
            <a:r>
              <a:rPr lang="en-IN" b="1" dirty="0"/>
              <a:t>Example:</a:t>
            </a:r>
            <a:r>
              <a:rPr lang="en-IN" dirty="0"/>
              <a:t> Digital signatures in legal or financial transactions.</a:t>
            </a:r>
            <a:endParaRPr lang="en-IN" sz="2000" dirty="0"/>
          </a:p>
        </p:txBody>
      </p:sp>
    </p:spTree>
    <p:extLst>
      <p:ext uri="{BB962C8B-B14F-4D97-AF65-F5344CB8AC3E}">
        <p14:creationId xmlns:p14="http://schemas.microsoft.com/office/powerpoint/2010/main" val="2182841521"/>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lide Number Placeholder 1"/>
          <p:cNvSpPr>
            <a:spLocks noGrp="1"/>
          </p:cNvSpPr>
          <p:nvPr>
            <p:ph type="sldNum" sz="quarter" idx="10"/>
          </p:nvPr>
        </p:nvSpPr>
        <p:spPr/>
        <p:txBody>
          <a:bodyPr/>
          <a:lstStyle/>
          <a:p>
            <a:r>
              <a:rPr lang="en-US"/>
              <a:t>1.</a:t>
            </a:r>
            <a:fld id="{A5E7F316-8C7A-46FF-B18A-9223AFBF8C1B}" type="slidenum">
              <a:rPr lang="en-US"/>
              <a:pPr/>
              <a:t>36</a:t>
            </a:fld>
            <a:endParaRPr lang="en-US"/>
          </a:p>
        </p:txBody>
      </p:sp>
      <p:sp>
        <p:nvSpPr>
          <p:cNvPr id="956418" name="Rectangle 2"/>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sz="2400" b="0" i="0">
              <a:latin typeface="Tahoma" pitchFamily="34" charset="0"/>
            </a:endParaRPr>
          </a:p>
        </p:txBody>
      </p:sp>
      <p:sp>
        <p:nvSpPr>
          <p:cNvPr id="956419" name="Rectangle 3"/>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sz="2400" b="0" i="0">
              <a:latin typeface="Tahoma" pitchFamily="34" charset="0"/>
            </a:endParaRPr>
          </a:p>
        </p:txBody>
      </p:sp>
      <p:sp>
        <p:nvSpPr>
          <p:cNvPr id="956420" name="Rectangle 4"/>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sz="2400" b="0" i="0">
              <a:latin typeface="Tahoma" pitchFamily="34" charset="0"/>
            </a:endParaRPr>
          </a:p>
        </p:txBody>
      </p:sp>
      <p:sp>
        <p:nvSpPr>
          <p:cNvPr id="956421" name="Rectangle 5"/>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sz="2400" b="0" i="0">
              <a:latin typeface="Tahoma" pitchFamily="34" charset="0"/>
            </a:endParaRPr>
          </a:p>
        </p:txBody>
      </p:sp>
      <p:sp>
        <p:nvSpPr>
          <p:cNvPr id="956422" name="Rectangle 6"/>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sz="2400" b="0" i="0">
              <a:latin typeface="Tahoma" pitchFamily="34" charset="0"/>
            </a:endParaRPr>
          </a:p>
        </p:txBody>
      </p:sp>
      <p:sp>
        <p:nvSpPr>
          <p:cNvPr id="956423" name="Rectangle 7"/>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sz="2400" b="0" i="0">
              <a:latin typeface="Tahoma" pitchFamily="34" charset="0"/>
            </a:endParaRPr>
          </a:p>
        </p:txBody>
      </p:sp>
      <p:sp>
        <p:nvSpPr>
          <p:cNvPr id="956424" name="Rectangle 8"/>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sz="2400" b="0" i="0">
              <a:latin typeface="Tahoma" pitchFamily="34" charset="0"/>
            </a:endParaRPr>
          </a:p>
        </p:txBody>
      </p:sp>
      <p:sp>
        <p:nvSpPr>
          <p:cNvPr id="956425" name="Text Box 9"/>
          <p:cNvSpPr txBox="1">
            <a:spLocks noChangeArrowheads="1"/>
          </p:cNvSpPr>
          <p:nvPr/>
        </p:nvSpPr>
        <p:spPr bwMode="auto">
          <a:xfrm>
            <a:off x="1143000" y="0"/>
            <a:ext cx="464502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solidFill>
                  <a:schemeClr val="hlink"/>
                </a:solidFill>
                <a:latin typeface="Times New Roman" pitchFamily="18" charset="0"/>
              </a:rPr>
              <a:t>1.3.2  Security Mechanism</a:t>
            </a:r>
          </a:p>
        </p:txBody>
      </p:sp>
      <p:sp>
        <p:nvSpPr>
          <p:cNvPr id="956427" name="Text Box 11"/>
          <p:cNvSpPr txBox="1">
            <a:spLocks noChangeArrowheads="1"/>
          </p:cNvSpPr>
          <p:nvPr/>
        </p:nvSpPr>
        <p:spPr bwMode="auto">
          <a:xfrm>
            <a:off x="1219200" y="533400"/>
            <a:ext cx="38735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2400" i="0">
                <a:solidFill>
                  <a:schemeClr val="folHlink"/>
                </a:solidFill>
                <a:latin typeface="Times New Roman" pitchFamily="18" charset="0"/>
              </a:rPr>
              <a:t>Figure 1.4  </a:t>
            </a:r>
            <a:r>
              <a:rPr lang="en-US" sz="2000">
                <a:latin typeface="Times New Roman" pitchFamily="18" charset="0"/>
              </a:rPr>
              <a:t>Security mechanisms</a:t>
            </a:r>
          </a:p>
        </p:txBody>
      </p:sp>
      <p:pic>
        <p:nvPicPr>
          <p:cNvPr id="956428" name="Picture 1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19238" y="1431925"/>
            <a:ext cx="4652962" cy="4740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18822623"/>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95536" y="335846"/>
            <a:ext cx="8136904" cy="6001643"/>
          </a:xfrm>
          <a:prstGeom prst="rect">
            <a:avLst/>
          </a:prstGeom>
        </p:spPr>
        <p:txBody>
          <a:bodyPr wrap="square">
            <a:spAutoFit/>
          </a:bodyPr>
          <a:lstStyle/>
          <a:p>
            <a:pPr algn="just" fontAlgn="base"/>
            <a:r>
              <a:rPr lang="en-US" sz="2400" b="1" dirty="0" err="1"/>
              <a:t>Encipherment</a:t>
            </a:r>
            <a:r>
              <a:rPr lang="en-US" sz="2400" b="1" dirty="0"/>
              <a:t> :</a:t>
            </a:r>
            <a:r>
              <a:rPr lang="en-US" sz="2400" dirty="0"/>
              <a:t> This security mechanism deals with hiding and covering of data which helps data to become confidential. It is achieved by applying mathematical calculations or algorithms which reconstruct information into not readable form. It is achieved by two famous techniques named </a:t>
            </a:r>
            <a:r>
              <a:rPr lang="en-US" sz="2400" u="sng" dirty="0">
                <a:hlinkClick r:id="rId2"/>
              </a:rPr>
              <a:t>Cryptography </a:t>
            </a:r>
            <a:r>
              <a:rPr lang="en-US" sz="2400" dirty="0"/>
              <a:t>and </a:t>
            </a:r>
            <a:r>
              <a:rPr lang="en-US" sz="2400" dirty="0" err="1"/>
              <a:t>Encipherment</a:t>
            </a:r>
            <a:r>
              <a:rPr lang="en-US" sz="2400" dirty="0"/>
              <a:t>. Level of data encryption is dependent on the algorithm used for </a:t>
            </a:r>
            <a:r>
              <a:rPr lang="en-US" sz="2400" dirty="0" err="1"/>
              <a:t>encipherment</a:t>
            </a:r>
            <a:r>
              <a:rPr lang="en-US" sz="2400" dirty="0"/>
              <a:t>.</a:t>
            </a:r>
          </a:p>
          <a:p>
            <a:pPr algn="just" fontAlgn="base"/>
            <a:r>
              <a:rPr lang="en-US" sz="2400" b="1" dirty="0"/>
              <a:t>Access Control :</a:t>
            </a:r>
            <a:r>
              <a:rPr lang="en-US" sz="2400" dirty="0"/>
              <a:t> This mechanism is used to stop unattended access to data which you are sending. It can be achieved by various techniques such as applying passwords, using </a:t>
            </a:r>
            <a:r>
              <a:rPr lang="en-US" sz="2400" u="sng" dirty="0">
                <a:hlinkClick r:id="rId3"/>
              </a:rPr>
              <a:t>firewall, </a:t>
            </a:r>
            <a:r>
              <a:rPr lang="en-US" sz="2400" dirty="0"/>
              <a:t>or just by adding PIN to data.</a:t>
            </a:r>
          </a:p>
          <a:p>
            <a:pPr algn="just" fontAlgn="base"/>
            <a:r>
              <a:rPr lang="en-US" sz="2400" b="1" dirty="0"/>
              <a:t>Notarization :</a:t>
            </a:r>
            <a:r>
              <a:rPr lang="en-US" sz="2400" dirty="0"/>
              <a:t> This security mechanism involves use of trusted third party in communication. It acts as mediator between sender and receiver so that if any chance of conflict is reduced. This mediator keeps record of requests made by sender to receiver for later denied.</a:t>
            </a:r>
          </a:p>
        </p:txBody>
      </p:sp>
    </p:spTree>
    <p:extLst>
      <p:ext uri="{BB962C8B-B14F-4D97-AF65-F5344CB8AC3E}">
        <p14:creationId xmlns:p14="http://schemas.microsoft.com/office/powerpoint/2010/main" val="3143007793"/>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98173" y="548680"/>
            <a:ext cx="8496944" cy="5016758"/>
          </a:xfrm>
          <a:prstGeom prst="rect">
            <a:avLst/>
          </a:prstGeom>
        </p:spPr>
        <p:txBody>
          <a:bodyPr wrap="square">
            <a:spAutoFit/>
          </a:bodyPr>
          <a:lstStyle/>
          <a:p>
            <a:pPr algn="just" fontAlgn="base"/>
            <a:r>
              <a:rPr lang="en-US" sz="2000" b="1" dirty="0"/>
              <a:t>Data Integrity :</a:t>
            </a:r>
            <a:r>
              <a:rPr lang="en-US" sz="2000" dirty="0"/>
              <a:t> This security mechanism is used by appending value to data to which is created by data itself. It is similar to sending packet of information known to both sending and receiving parties and checked before and after data is received. When this packet or data which is appended is checked and is the same while sending and receiving data integrity is maintained.</a:t>
            </a:r>
          </a:p>
          <a:p>
            <a:pPr algn="just" fontAlgn="base"/>
            <a:r>
              <a:rPr lang="en-US" sz="2000" b="1" dirty="0"/>
              <a:t>Authentication Exchange :</a:t>
            </a:r>
            <a:r>
              <a:rPr lang="en-US" sz="2000" dirty="0"/>
              <a:t> This security mechanism deals with identity to be known in communication. This is achieved at the </a:t>
            </a:r>
            <a:r>
              <a:rPr lang="en-US" sz="2000" u="sng" dirty="0">
                <a:hlinkClick r:id="rId2"/>
              </a:rPr>
              <a:t>TCP/IP layer</a:t>
            </a:r>
            <a:r>
              <a:rPr lang="en-US" sz="2000" dirty="0"/>
              <a:t> where two-way handshaking mechanism is used to ensure data is sent or not</a:t>
            </a:r>
          </a:p>
          <a:p>
            <a:pPr algn="just" fontAlgn="base"/>
            <a:r>
              <a:rPr lang="en-US" sz="2000" b="1" dirty="0"/>
              <a:t>Bit Stuffing :</a:t>
            </a:r>
            <a:r>
              <a:rPr lang="en-US" sz="2000" dirty="0"/>
              <a:t> This security mechanism is used to add some extra bits into data which is being transmitted. It helps data to be checked at the receiving end and is achieved by </a:t>
            </a:r>
            <a:r>
              <a:rPr lang="en-US" sz="2000" u="sng" dirty="0">
                <a:hlinkClick r:id="rId3"/>
              </a:rPr>
              <a:t>Even parity or Odd Parity</a:t>
            </a:r>
            <a:r>
              <a:rPr lang="en-US" sz="2000" dirty="0"/>
              <a:t>.</a:t>
            </a:r>
          </a:p>
          <a:p>
            <a:pPr algn="just" fontAlgn="base"/>
            <a:r>
              <a:rPr lang="en-US" sz="2000" b="1" dirty="0"/>
              <a:t>Digital Signature :</a:t>
            </a:r>
            <a:r>
              <a:rPr lang="en-US" sz="2000" dirty="0"/>
              <a:t> This security mechanism is achieved by adding digital data that is not visible to eyes. It is form of </a:t>
            </a:r>
            <a:r>
              <a:rPr lang="en-US" sz="2000" u="sng" dirty="0">
                <a:hlinkClick r:id="rId4"/>
              </a:rPr>
              <a:t>electronic signature</a:t>
            </a:r>
            <a:r>
              <a:rPr lang="en-US" sz="2000" dirty="0"/>
              <a:t> which is added by sender which is checked by receiver electronically. This mechanism is used to preserve data which is not more confidential but sender's identity is to be notified.</a:t>
            </a:r>
          </a:p>
        </p:txBody>
      </p:sp>
    </p:spTree>
    <p:extLst>
      <p:ext uri="{BB962C8B-B14F-4D97-AF65-F5344CB8AC3E}">
        <p14:creationId xmlns:p14="http://schemas.microsoft.com/office/powerpoint/2010/main" val="948641668"/>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lide Number Placeholder 1"/>
          <p:cNvSpPr>
            <a:spLocks noGrp="1"/>
          </p:cNvSpPr>
          <p:nvPr>
            <p:ph type="sldNum" sz="quarter" idx="10"/>
          </p:nvPr>
        </p:nvSpPr>
        <p:spPr/>
        <p:txBody>
          <a:bodyPr/>
          <a:lstStyle/>
          <a:p>
            <a:r>
              <a:rPr lang="en-US"/>
              <a:t>1.</a:t>
            </a:r>
            <a:fld id="{4A744CA6-7A76-4AC8-B558-039C1DE835E2}" type="slidenum">
              <a:rPr lang="en-US"/>
              <a:pPr/>
              <a:t>39</a:t>
            </a:fld>
            <a:endParaRPr lang="en-US"/>
          </a:p>
        </p:txBody>
      </p:sp>
      <p:sp>
        <p:nvSpPr>
          <p:cNvPr id="958466" name="Rectangle 2"/>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sz="2400" b="0" i="0">
              <a:latin typeface="Tahoma" pitchFamily="34" charset="0"/>
            </a:endParaRPr>
          </a:p>
        </p:txBody>
      </p:sp>
      <p:sp>
        <p:nvSpPr>
          <p:cNvPr id="958467" name="Rectangle 3"/>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sz="2400" b="0" i="0">
              <a:latin typeface="Tahoma" pitchFamily="34" charset="0"/>
            </a:endParaRPr>
          </a:p>
        </p:txBody>
      </p:sp>
      <p:sp>
        <p:nvSpPr>
          <p:cNvPr id="958468" name="Rectangle 4"/>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sz="2400" b="0" i="0">
              <a:latin typeface="Tahoma" pitchFamily="34" charset="0"/>
            </a:endParaRPr>
          </a:p>
        </p:txBody>
      </p:sp>
      <p:sp>
        <p:nvSpPr>
          <p:cNvPr id="958469" name="Rectangle 5"/>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sz="2400" b="0" i="0">
              <a:latin typeface="Tahoma" pitchFamily="34" charset="0"/>
            </a:endParaRPr>
          </a:p>
        </p:txBody>
      </p:sp>
      <p:sp>
        <p:nvSpPr>
          <p:cNvPr id="958470" name="Rectangle 6"/>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sz="2400" b="0" i="0">
              <a:latin typeface="Tahoma" pitchFamily="34" charset="0"/>
            </a:endParaRPr>
          </a:p>
        </p:txBody>
      </p:sp>
      <p:sp>
        <p:nvSpPr>
          <p:cNvPr id="958471" name="Rectangle 7"/>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sz="2400" b="0" i="0">
              <a:latin typeface="Tahoma" pitchFamily="34" charset="0"/>
            </a:endParaRPr>
          </a:p>
        </p:txBody>
      </p:sp>
      <p:sp>
        <p:nvSpPr>
          <p:cNvPr id="958472" name="Rectangle 8"/>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sz="2400" b="0" i="0">
              <a:latin typeface="Tahoma" pitchFamily="34" charset="0"/>
            </a:endParaRPr>
          </a:p>
        </p:txBody>
      </p:sp>
      <p:sp>
        <p:nvSpPr>
          <p:cNvPr id="958473" name="Text Box 9"/>
          <p:cNvSpPr txBox="1">
            <a:spLocks noChangeArrowheads="1"/>
          </p:cNvSpPr>
          <p:nvPr/>
        </p:nvSpPr>
        <p:spPr bwMode="auto">
          <a:xfrm>
            <a:off x="1143000" y="47625"/>
            <a:ext cx="746601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2800">
                <a:solidFill>
                  <a:schemeClr val="hlink"/>
                </a:solidFill>
                <a:latin typeface="Times New Roman" pitchFamily="18" charset="0"/>
              </a:rPr>
              <a:t>1.3.3  Relation between Services and Mechanisms</a:t>
            </a:r>
          </a:p>
        </p:txBody>
      </p:sp>
      <p:sp>
        <p:nvSpPr>
          <p:cNvPr id="958475" name="Text Box 11"/>
          <p:cNvSpPr txBox="1">
            <a:spLocks noChangeArrowheads="1"/>
          </p:cNvSpPr>
          <p:nvPr/>
        </p:nvSpPr>
        <p:spPr bwMode="auto">
          <a:xfrm>
            <a:off x="1219200" y="1524000"/>
            <a:ext cx="69119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2400" i="0">
                <a:solidFill>
                  <a:schemeClr val="folHlink"/>
                </a:solidFill>
                <a:latin typeface="Times New Roman" pitchFamily="18" charset="0"/>
              </a:rPr>
              <a:t>Table 1.2  </a:t>
            </a:r>
            <a:r>
              <a:rPr lang="en-US" sz="2000">
                <a:latin typeface="Times New Roman" pitchFamily="18" charset="0"/>
              </a:rPr>
              <a:t>Relation between security services and mechanisms</a:t>
            </a:r>
          </a:p>
        </p:txBody>
      </p:sp>
      <p:pic>
        <p:nvPicPr>
          <p:cNvPr id="958476" name="Picture 1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1463" y="2162175"/>
            <a:ext cx="8720137" cy="2333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28273071"/>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 name="Slide Number Placeholder 1"/>
          <p:cNvSpPr>
            <a:spLocks noGrp="1"/>
          </p:cNvSpPr>
          <p:nvPr>
            <p:ph type="sldNum" sz="quarter" idx="10"/>
          </p:nvPr>
        </p:nvSpPr>
        <p:spPr/>
        <p:txBody>
          <a:bodyPr/>
          <a:lstStyle/>
          <a:p>
            <a:r>
              <a:rPr lang="en-US"/>
              <a:t>1.</a:t>
            </a:r>
            <a:fld id="{5F65ED41-F365-4578-9EEF-81E2738BF14E}" type="slidenum">
              <a:rPr lang="en-US"/>
              <a:pPr/>
              <a:t>40</a:t>
            </a:fld>
            <a:endParaRPr lang="en-US"/>
          </a:p>
        </p:txBody>
      </p:sp>
      <p:sp>
        <p:nvSpPr>
          <p:cNvPr id="917506" name="Rectangle 2"/>
          <p:cNvSpPr>
            <a:spLocks noChangeArrowheads="1"/>
          </p:cNvSpPr>
          <p:nvPr/>
        </p:nvSpPr>
        <p:spPr bwMode="auto">
          <a:xfrm>
            <a:off x="0" y="0"/>
            <a:ext cx="9144000" cy="1371600"/>
          </a:xfrm>
          <a:prstGeom prst="rect">
            <a:avLst/>
          </a:prstGeom>
          <a:solidFill>
            <a:srgbClr val="33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i="0">
              <a:effectLst>
                <a:outerShdw blurRad="38100" dist="38100" dir="2700000" algn="tl">
                  <a:srgbClr val="FFFFFF"/>
                </a:outerShdw>
              </a:effectLst>
              <a:latin typeface="Times New Roman" pitchFamily="18" charset="0"/>
            </a:endParaRPr>
          </a:p>
        </p:txBody>
      </p:sp>
      <p:sp>
        <p:nvSpPr>
          <p:cNvPr id="917507" name="Text Box 3"/>
          <p:cNvSpPr txBox="1">
            <a:spLocks noChangeArrowheads="1"/>
          </p:cNvSpPr>
          <p:nvPr/>
        </p:nvSpPr>
        <p:spPr bwMode="auto">
          <a:xfrm>
            <a:off x="228600" y="406400"/>
            <a:ext cx="374173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i="0">
                <a:effectLst>
                  <a:outerShdw blurRad="38100" dist="38100" dir="2700000" algn="tl">
                    <a:srgbClr val="C0C0C0"/>
                  </a:outerShdw>
                </a:effectLst>
                <a:latin typeface="Times" pitchFamily="18" charset="0"/>
              </a:rPr>
              <a:t>1-4   TECHNIQUES</a:t>
            </a:r>
          </a:p>
        </p:txBody>
      </p:sp>
      <p:sp>
        <p:nvSpPr>
          <p:cNvPr id="917508" name="Text Box 4"/>
          <p:cNvSpPr txBox="1">
            <a:spLocks noChangeArrowheads="1"/>
          </p:cNvSpPr>
          <p:nvPr/>
        </p:nvSpPr>
        <p:spPr bwMode="auto">
          <a:xfrm>
            <a:off x="8229600" y="6400800"/>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sz="1800" i="0">
              <a:latin typeface="Times New Roman" pitchFamily="18" charset="0"/>
            </a:endParaRPr>
          </a:p>
        </p:txBody>
      </p:sp>
      <p:sp>
        <p:nvSpPr>
          <p:cNvPr id="917509" name="Rectangle 5"/>
          <p:cNvSpPr>
            <a:spLocks noChangeArrowheads="1"/>
          </p:cNvSpPr>
          <p:nvPr/>
        </p:nvSpPr>
        <p:spPr bwMode="auto">
          <a:xfrm>
            <a:off x="304800" y="1828800"/>
            <a:ext cx="8229600" cy="2227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1" hangingPunct="1"/>
            <a:r>
              <a:rPr lang="en-US" sz="2800">
                <a:effectLst>
                  <a:outerShdw blurRad="38100" dist="38100" dir="2700000" algn="tl">
                    <a:srgbClr val="C0C0C0"/>
                  </a:outerShdw>
                </a:effectLst>
                <a:latin typeface="Times New Roman" pitchFamily="18" charset="0"/>
              </a:rPr>
              <a:t>Mechanisms discussed in the previous sections are only theoretical recipes to implement security. The actual implementation of security goals needs some techniques. Two techniques are prevalent today: cryptography and steganography. </a:t>
            </a:r>
          </a:p>
        </p:txBody>
      </p:sp>
      <p:sp>
        <p:nvSpPr>
          <p:cNvPr id="917510" name="Rectangle 6"/>
          <p:cNvSpPr>
            <a:spLocks noChangeArrowheads="1"/>
          </p:cNvSpPr>
          <p:nvPr/>
        </p:nvSpPr>
        <p:spPr bwMode="auto">
          <a:xfrm>
            <a:off x="304800" y="5048250"/>
            <a:ext cx="670560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buClr>
                <a:schemeClr val="tx1"/>
              </a:buClr>
              <a:buSzPct val="117000"/>
              <a:buFont typeface="Wingdings" pitchFamily="2" charset="2"/>
              <a:buNone/>
            </a:pPr>
            <a:r>
              <a:rPr lang="en-US" sz="2800" i="0">
                <a:solidFill>
                  <a:srgbClr val="0033CC"/>
                </a:solidFill>
                <a:latin typeface="Times New Roman" pitchFamily="18" charset="0"/>
              </a:rPr>
              <a:t>1.4.1  Cryptography</a:t>
            </a:r>
            <a:r>
              <a:rPr lang="fr-FR" sz="2800" i="0">
                <a:solidFill>
                  <a:srgbClr val="0033CC"/>
                </a:solidFill>
                <a:latin typeface="Times New Roman" pitchFamily="18" charset="0"/>
              </a:rPr>
              <a:t/>
            </a:r>
            <a:br>
              <a:rPr lang="fr-FR" sz="2800" i="0">
                <a:solidFill>
                  <a:srgbClr val="0033CC"/>
                </a:solidFill>
                <a:latin typeface="Times New Roman" pitchFamily="18" charset="0"/>
              </a:rPr>
            </a:br>
            <a:r>
              <a:rPr lang="fr-FR" sz="2800" i="0">
                <a:solidFill>
                  <a:srgbClr val="0033CC"/>
                </a:solidFill>
                <a:latin typeface="Times New Roman" pitchFamily="18" charset="0"/>
              </a:rPr>
              <a:t>1.4.2  Steganography</a:t>
            </a:r>
            <a:endParaRPr lang="en-US" sz="2800" i="0">
              <a:solidFill>
                <a:srgbClr val="0033CC"/>
              </a:solidFill>
              <a:latin typeface="Times New Roman" pitchFamily="18" charset="0"/>
            </a:endParaRPr>
          </a:p>
        </p:txBody>
      </p:sp>
      <p:sp>
        <p:nvSpPr>
          <p:cNvPr id="917511" name="Text Box 7"/>
          <p:cNvSpPr txBox="1">
            <a:spLocks noChangeArrowheads="1"/>
          </p:cNvSpPr>
          <p:nvPr/>
        </p:nvSpPr>
        <p:spPr bwMode="auto">
          <a:xfrm>
            <a:off x="317500" y="4572000"/>
            <a:ext cx="486251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2800" u="sng">
                <a:solidFill>
                  <a:schemeClr val="hlink"/>
                </a:solidFill>
                <a:effectLst>
                  <a:outerShdw blurRad="38100" dist="38100" dir="2700000" algn="tl">
                    <a:srgbClr val="C0C0C0"/>
                  </a:outerShdw>
                </a:effectLst>
                <a:latin typeface="Times New Roman" pitchFamily="18" charset="0"/>
              </a:rPr>
              <a:t>Topics discussed in this section:</a:t>
            </a:r>
          </a:p>
        </p:txBody>
      </p:sp>
    </p:spTree>
    <p:extLst>
      <p:ext uri="{BB962C8B-B14F-4D97-AF65-F5344CB8AC3E}">
        <p14:creationId xmlns:p14="http://schemas.microsoft.com/office/powerpoint/2010/main" val="4093772534"/>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lide Number Placeholder 1"/>
          <p:cNvSpPr>
            <a:spLocks noGrp="1"/>
          </p:cNvSpPr>
          <p:nvPr>
            <p:ph type="sldNum" sz="quarter" idx="10"/>
          </p:nvPr>
        </p:nvSpPr>
        <p:spPr/>
        <p:txBody>
          <a:bodyPr/>
          <a:lstStyle/>
          <a:p>
            <a:r>
              <a:rPr lang="en-US"/>
              <a:t>1.</a:t>
            </a:r>
            <a:fld id="{A4694B3F-7FA9-475F-B5FA-6FCD798F0364}" type="slidenum">
              <a:rPr lang="en-US"/>
              <a:pPr/>
              <a:t>41</a:t>
            </a:fld>
            <a:endParaRPr lang="en-US"/>
          </a:p>
        </p:txBody>
      </p:sp>
      <p:sp>
        <p:nvSpPr>
          <p:cNvPr id="960514" name="Rectangle 2"/>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sz="2400" b="0" i="0">
              <a:latin typeface="Tahoma" pitchFamily="34" charset="0"/>
            </a:endParaRPr>
          </a:p>
        </p:txBody>
      </p:sp>
      <p:sp>
        <p:nvSpPr>
          <p:cNvPr id="960515" name="Rectangle 3"/>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sz="2400" b="0" i="0">
              <a:latin typeface="Tahoma" pitchFamily="34" charset="0"/>
            </a:endParaRPr>
          </a:p>
        </p:txBody>
      </p:sp>
      <p:sp>
        <p:nvSpPr>
          <p:cNvPr id="960516" name="Rectangle 4"/>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sz="2400" b="0" i="0">
              <a:latin typeface="Tahoma" pitchFamily="34" charset="0"/>
            </a:endParaRPr>
          </a:p>
        </p:txBody>
      </p:sp>
      <p:sp>
        <p:nvSpPr>
          <p:cNvPr id="960517" name="Rectangle 5"/>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sz="2400" b="0" i="0">
              <a:latin typeface="Tahoma" pitchFamily="34" charset="0"/>
            </a:endParaRPr>
          </a:p>
        </p:txBody>
      </p:sp>
      <p:sp>
        <p:nvSpPr>
          <p:cNvPr id="960518" name="Rectangle 6"/>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sz="2400" b="0" i="0">
              <a:latin typeface="Tahoma" pitchFamily="34" charset="0"/>
            </a:endParaRPr>
          </a:p>
        </p:txBody>
      </p:sp>
      <p:sp>
        <p:nvSpPr>
          <p:cNvPr id="960519" name="Rectangle 7"/>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sz="2400" b="0" i="0">
              <a:latin typeface="Tahoma" pitchFamily="34" charset="0"/>
            </a:endParaRPr>
          </a:p>
        </p:txBody>
      </p:sp>
      <p:sp>
        <p:nvSpPr>
          <p:cNvPr id="960520" name="Rectangle 8"/>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sz="2400" b="0" i="0">
              <a:latin typeface="Tahoma" pitchFamily="34" charset="0"/>
            </a:endParaRPr>
          </a:p>
        </p:txBody>
      </p:sp>
      <p:sp>
        <p:nvSpPr>
          <p:cNvPr id="960521" name="Text Box 9"/>
          <p:cNvSpPr txBox="1">
            <a:spLocks noChangeArrowheads="1"/>
          </p:cNvSpPr>
          <p:nvPr/>
        </p:nvSpPr>
        <p:spPr bwMode="auto">
          <a:xfrm>
            <a:off x="1143000" y="0"/>
            <a:ext cx="35052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solidFill>
                  <a:schemeClr val="hlink"/>
                </a:solidFill>
                <a:latin typeface="Times New Roman" pitchFamily="18" charset="0"/>
              </a:rPr>
              <a:t>1.4.1  Cryptography</a:t>
            </a:r>
          </a:p>
        </p:txBody>
      </p:sp>
      <p:sp>
        <p:nvSpPr>
          <p:cNvPr id="960522" name="Rectangle 10"/>
          <p:cNvSpPr>
            <a:spLocks noChangeArrowheads="1"/>
          </p:cNvSpPr>
          <p:nvPr/>
        </p:nvSpPr>
        <p:spPr bwMode="auto">
          <a:xfrm>
            <a:off x="76200" y="1293813"/>
            <a:ext cx="8991600" cy="180022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sz="2800">
                <a:latin typeface="Times New Roman" pitchFamily="18" charset="0"/>
              </a:rPr>
              <a:t>Cryptography, a word with Greek origins, means </a:t>
            </a:r>
            <a:r>
              <a:rPr lang="en-US" sz="2800">
                <a:solidFill>
                  <a:schemeClr val="hlink"/>
                </a:solidFill>
                <a:latin typeface="Times New Roman" pitchFamily="18" charset="0"/>
              </a:rPr>
              <a:t>“secret writing.”</a:t>
            </a:r>
            <a:r>
              <a:rPr lang="en-US" sz="2800">
                <a:latin typeface="Times New Roman" pitchFamily="18" charset="0"/>
              </a:rPr>
              <a:t> However, we use the term to refer to the science and art of transforming messages to make them secure and immune to attacks. </a:t>
            </a:r>
          </a:p>
        </p:txBody>
      </p:sp>
    </p:spTree>
    <p:extLst>
      <p:ext uri="{BB962C8B-B14F-4D97-AF65-F5344CB8AC3E}">
        <p14:creationId xmlns:p14="http://schemas.microsoft.com/office/powerpoint/2010/main" val="4279151896"/>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Slide Number Placeholder 1"/>
          <p:cNvSpPr>
            <a:spLocks noGrp="1"/>
          </p:cNvSpPr>
          <p:nvPr>
            <p:ph type="sldNum" sz="quarter" idx="10"/>
          </p:nvPr>
        </p:nvSpPr>
        <p:spPr/>
        <p:txBody>
          <a:bodyPr/>
          <a:lstStyle/>
          <a:p>
            <a:r>
              <a:rPr lang="en-US"/>
              <a:t>1.</a:t>
            </a:r>
            <a:fld id="{279A902F-8F60-438D-B6EB-237ADE072F51}" type="slidenum">
              <a:rPr lang="en-US"/>
              <a:pPr/>
              <a:t>42</a:t>
            </a:fld>
            <a:endParaRPr lang="en-US"/>
          </a:p>
        </p:txBody>
      </p:sp>
      <p:sp>
        <p:nvSpPr>
          <p:cNvPr id="962562" name="Rectangle 2"/>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sz="2400" b="0" i="0">
              <a:latin typeface="Tahoma" pitchFamily="34" charset="0"/>
            </a:endParaRPr>
          </a:p>
        </p:txBody>
      </p:sp>
      <p:sp>
        <p:nvSpPr>
          <p:cNvPr id="962563" name="Rectangle 3"/>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sz="2400" b="0" i="0">
              <a:latin typeface="Tahoma" pitchFamily="34" charset="0"/>
            </a:endParaRPr>
          </a:p>
        </p:txBody>
      </p:sp>
      <p:sp>
        <p:nvSpPr>
          <p:cNvPr id="962564" name="Rectangle 4"/>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sz="2400" b="0" i="0">
              <a:latin typeface="Tahoma" pitchFamily="34" charset="0"/>
            </a:endParaRPr>
          </a:p>
        </p:txBody>
      </p:sp>
      <p:sp>
        <p:nvSpPr>
          <p:cNvPr id="962565" name="Rectangle 5"/>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sz="2400" b="0" i="0">
              <a:latin typeface="Tahoma" pitchFamily="34" charset="0"/>
            </a:endParaRPr>
          </a:p>
        </p:txBody>
      </p:sp>
      <p:sp>
        <p:nvSpPr>
          <p:cNvPr id="962566" name="Rectangle 6"/>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sz="2400" b="0" i="0">
              <a:latin typeface="Tahoma" pitchFamily="34" charset="0"/>
            </a:endParaRPr>
          </a:p>
        </p:txBody>
      </p:sp>
      <p:sp>
        <p:nvSpPr>
          <p:cNvPr id="962567" name="Rectangle 7"/>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sz="2400" b="0" i="0">
              <a:latin typeface="Tahoma" pitchFamily="34" charset="0"/>
            </a:endParaRPr>
          </a:p>
        </p:txBody>
      </p:sp>
      <p:sp>
        <p:nvSpPr>
          <p:cNvPr id="962568" name="Rectangle 8"/>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sz="2400" b="0" i="0">
              <a:latin typeface="Tahoma" pitchFamily="34" charset="0"/>
            </a:endParaRPr>
          </a:p>
        </p:txBody>
      </p:sp>
      <p:sp>
        <p:nvSpPr>
          <p:cNvPr id="962569" name="Text Box 9"/>
          <p:cNvSpPr txBox="1">
            <a:spLocks noChangeArrowheads="1"/>
          </p:cNvSpPr>
          <p:nvPr/>
        </p:nvSpPr>
        <p:spPr bwMode="auto">
          <a:xfrm>
            <a:off x="1143000" y="0"/>
            <a:ext cx="372903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solidFill>
                  <a:schemeClr val="hlink"/>
                </a:solidFill>
                <a:latin typeface="Times New Roman" pitchFamily="18" charset="0"/>
              </a:rPr>
              <a:t>1.4.2  Steganography</a:t>
            </a:r>
          </a:p>
        </p:txBody>
      </p:sp>
      <p:sp>
        <p:nvSpPr>
          <p:cNvPr id="962570" name="Rectangle 10"/>
          <p:cNvSpPr>
            <a:spLocks noChangeArrowheads="1"/>
          </p:cNvSpPr>
          <p:nvPr/>
        </p:nvSpPr>
        <p:spPr bwMode="auto">
          <a:xfrm>
            <a:off x="76200" y="1066800"/>
            <a:ext cx="8991600" cy="137318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sz="2800">
                <a:latin typeface="Times New Roman" pitchFamily="18" charset="0"/>
              </a:rPr>
              <a:t>The word steganography, with origin in Greek, means </a:t>
            </a:r>
            <a:r>
              <a:rPr lang="en-US" sz="2800">
                <a:solidFill>
                  <a:schemeClr val="hlink"/>
                </a:solidFill>
                <a:latin typeface="Times New Roman" pitchFamily="18" charset="0"/>
              </a:rPr>
              <a:t>“covered writing,”</a:t>
            </a:r>
            <a:r>
              <a:rPr lang="en-US" sz="2800">
                <a:latin typeface="Times New Roman" pitchFamily="18" charset="0"/>
              </a:rPr>
              <a:t> in contrast with cryptography, which means “secret writing.”</a:t>
            </a:r>
          </a:p>
        </p:txBody>
      </p:sp>
      <p:pic>
        <p:nvPicPr>
          <p:cNvPr id="962571" name="Picture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0713" y="3230563"/>
            <a:ext cx="7989887" cy="1265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62572" name="Rectangle 12"/>
          <p:cNvSpPr>
            <a:spLocks noChangeArrowheads="1"/>
          </p:cNvSpPr>
          <p:nvPr/>
        </p:nvSpPr>
        <p:spPr bwMode="auto">
          <a:xfrm>
            <a:off x="2057400" y="2667000"/>
            <a:ext cx="5029200" cy="51911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sz="2800">
                <a:solidFill>
                  <a:schemeClr val="hlink"/>
                </a:solidFill>
                <a:latin typeface="Times New Roman" pitchFamily="18" charset="0"/>
              </a:rPr>
              <a:t>Example: covering data with text</a:t>
            </a:r>
          </a:p>
        </p:txBody>
      </p:sp>
    </p:spTree>
    <p:extLst>
      <p:ext uri="{BB962C8B-B14F-4D97-AF65-F5344CB8AC3E}">
        <p14:creationId xmlns:p14="http://schemas.microsoft.com/office/powerpoint/2010/main" val="3178208706"/>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lide Number Placeholder 1"/>
          <p:cNvSpPr>
            <a:spLocks noGrp="1"/>
          </p:cNvSpPr>
          <p:nvPr>
            <p:ph type="sldNum" sz="quarter" idx="10"/>
          </p:nvPr>
        </p:nvSpPr>
        <p:spPr/>
        <p:txBody>
          <a:bodyPr/>
          <a:lstStyle/>
          <a:p>
            <a:r>
              <a:rPr lang="en-US"/>
              <a:t>1.</a:t>
            </a:r>
            <a:fld id="{C3F5B412-A401-40C4-B931-A9F5FB5D2BCE}" type="slidenum">
              <a:rPr lang="en-US"/>
              <a:pPr/>
              <a:t>43</a:t>
            </a:fld>
            <a:endParaRPr lang="en-US"/>
          </a:p>
        </p:txBody>
      </p:sp>
      <p:sp>
        <p:nvSpPr>
          <p:cNvPr id="964610" name="Rectangle 2"/>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sz="2400" b="0" i="0">
              <a:latin typeface="Tahoma" pitchFamily="34" charset="0"/>
            </a:endParaRPr>
          </a:p>
        </p:txBody>
      </p:sp>
      <p:sp>
        <p:nvSpPr>
          <p:cNvPr id="964611" name="Rectangle 3"/>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sz="2400" b="0" i="0">
              <a:latin typeface="Tahoma" pitchFamily="34" charset="0"/>
            </a:endParaRPr>
          </a:p>
        </p:txBody>
      </p:sp>
      <p:sp>
        <p:nvSpPr>
          <p:cNvPr id="964612" name="Rectangle 4"/>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sz="2400" b="0" i="0">
              <a:latin typeface="Tahoma" pitchFamily="34" charset="0"/>
            </a:endParaRPr>
          </a:p>
        </p:txBody>
      </p:sp>
      <p:sp>
        <p:nvSpPr>
          <p:cNvPr id="964613" name="Rectangle 5"/>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sz="2400" b="0" i="0">
              <a:latin typeface="Tahoma" pitchFamily="34" charset="0"/>
            </a:endParaRPr>
          </a:p>
        </p:txBody>
      </p:sp>
      <p:sp>
        <p:nvSpPr>
          <p:cNvPr id="964614" name="Rectangle 6"/>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sz="2400" b="0" i="0">
              <a:latin typeface="Tahoma" pitchFamily="34" charset="0"/>
            </a:endParaRPr>
          </a:p>
        </p:txBody>
      </p:sp>
      <p:sp>
        <p:nvSpPr>
          <p:cNvPr id="964615" name="Rectangle 7"/>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sz="2400" b="0" i="0">
              <a:latin typeface="Tahoma" pitchFamily="34" charset="0"/>
            </a:endParaRPr>
          </a:p>
        </p:txBody>
      </p:sp>
      <p:sp>
        <p:nvSpPr>
          <p:cNvPr id="964616" name="Rectangle 8"/>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sz="2400" b="0" i="0">
              <a:latin typeface="Tahoma" pitchFamily="34" charset="0"/>
            </a:endParaRPr>
          </a:p>
        </p:txBody>
      </p:sp>
      <p:sp>
        <p:nvSpPr>
          <p:cNvPr id="964617" name="Text Box 9"/>
          <p:cNvSpPr txBox="1">
            <a:spLocks noChangeArrowheads="1"/>
          </p:cNvSpPr>
          <p:nvPr/>
        </p:nvSpPr>
        <p:spPr bwMode="auto">
          <a:xfrm>
            <a:off x="1143000" y="0"/>
            <a:ext cx="296068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atin typeface="Times New Roman" pitchFamily="18" charset="0"/>
              </a:rPr>
              <a:t>1.4.2</a:t>
            </a:r>
            <a:r>
              <a:rPr lang="en-US">
                <a:solidFill>
                  <a:schemeClr val="hlink"/>
                </a:solidFill>
                <a:latin typeface="Times New Roman" pitchFamily="18" charset="0"/>
              </a:rPr>
              <a:t>  </a:t>
            </a:r>
            <a:r>
              <a:rPr lang="en-US">
                <a:latin typeface="Times New Roman" pitchFamily="18" charset="0"/>
              </a:rPr>
              <a:t>Continued</a:t>
            </a:r>
          </a:p>
        </p:txBody>
      </p:sp>
      <p:pic>
        <p:nvPicPr>
          <p:cNvPr id="964621" name="Picture 1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09775" y="2057400"/>
            <a:ext cx="5686425" cy="957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64622" name="Picture 1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01713" y="4343400"/>
            <a:ext cx="7596187" cy="1743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64623" name="Rectangle 15"/>
          <p:cNvSpPr>
            <a:spLocks noChangeArrowheads="1"/>
          </p:cNvSpPr>
          <p:nvPr/>
        </p:nvSpPr>
        <p:spPr bwMode="auto">
          <a:xfrm>
            <a:off x="2719388" y="1462088"/>
            <a:ext cx="4267200" cy="51911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sz="2800">
                <a:solidFill>
                  <a:schemeClr val="hlink"/>
                </a:solidFill>
                <a:latin typeface="Times New Roman" pitchFamily="18" charset="0"/>
              </a:rPr>
              <a:t>Example: using dictionary</a:t>
            </a:r>
          </a:p>
        </p:txBody>
      </p:sp>
      <p:sp>
        <p:nvSpPr>
          <p:cNvPr id="964624" name="Rectangle 16"/>
          <p:cNvSpPr>
            <a:spLocks noChangeArrowheads="1"/>
          </p:cNvSpPr>
          <p:nvPr/>
        </p:nvSpPr>
        <p:spPr bwMode="auto">
          <a:xfrm>
            <a:off x="1524000" y="3733800"/>
            <a:ext cx="6553200" cy="51911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sz="2800">
                <a:solidFill>
                  <a:schemeClr val="hlink"/>
                </a:solidFill>
                <a:latin typeface="Times New Roman" pitchFamily="18" charset="0"/>
              </a:rPr>
              <a:t>Example: covering data under color image</a:t>
            </a:r>
          </a:p>
        </p:txBody>
      </p:sp>
    </p:spTree>
    <p:extLst>
      <p:ext uri="{BB962C8B-B14F-4D97-AF65-F5344CB8AC3E}">
        <p14:creationId xmlns:p14="http://schemas.microsoft.com/office/powerpoint/2010/main" val="145012919"/>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dirty="0"/>
              <a:t>Conventional Cryptographic Techniques</a:t>
            </a:r>
          </a:p>
        </p:txBody>
      </p:sp>
      <p:sp>
        <p:nvSpPr>
          <p:cNvPr id="3" name="Subtitle 2"/>
          <p:cNvSpPr>
            <a:spLocks noGrp="1"/>
          </p:cNvSpPr>
          <p:nvPr>
            <p:ph type="subTitle" idx="1"/>
          </p:nvPr>
        </p:nvSpPr>
        <p:spPr/>
        <p:txBody>
          <a:bodyPr/>
          <a:lstStyle/>
          <a:p>
            <a:endParaRPr lang="en-IN"/>
          </a:p>
        </p:txBody>
      </p:sp>
    </p:spTree>
    <p:extLst>
      <p:ext uri="{BB962C8B-B14F-4D97-AF65-F5344CB8AC3E}">
        <p14:creationId xmlns:p14="http://schemas.microsoft.com/office/powerpoint/2010/main" val="2255517652"/>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Substitution Cipher</a:t>
            </a:r>
            <a:endParaRPr lang="en-IN" dirty="0"/>
          </a:p>
        </p:txBody>
      </p:sp>
      <p:sp>
        <p:nvSpPr>
          <p:cNvPr id="3" name="Content Placeholder 2"/>
          <p:cNvSpPr>
            <a:spLocks noGrp="1"/>
          </p:cNvSpPr>
          <p:nvPr>
            <p:ph idx="1"/>
          </p:nvPr>
        </p:nvSpPr>
        <p:spPr/>
        <p:txBody>
          <a:bodyPr/>
          <a:lstStyle/>
          <a:p>
            <a:r>
              <a:rPr lang="en-IN" dirty="0" err="1" smtClean="0"/>
              <a:t>Ceasor</a:t>
            </a:r>
            <a:r>
              <a:rPr lang="en-IN" dirty="0" smtClean="0"/>
              <a:t> Cipher</a:t>
            </a:r>
          </a:p>
          <a:p>
            <a:r>
              <a:rPr lang="en-IN" dirty="0" err="1" smtClean="0"/>
              <a:t>Monoalphabetic</a:t>
            </a:r>
            <a:r>
              <a:rPr lang="en-IN" dirty="0" smtClean="0"/>
              <a:t> Cipher</a:t>
            </a:r>
          </a:p>
          <a:p>
            <a:r>
              <a:rPr lang="en-IN" dirty="0" smtClean="0"/>
              <a:t>Polyalphabetic Cipher</a:t>
            </a:r>
            <a:endParaRPr lang="en-IN" dirty="0"/>
          </a:p>
        </p:txBody>
      </p:sp>
    </p:spTree>
    <p:extLst>
      <p:ext uri="{BB962C8B-B14F-4D97-AF65-F5344CB8AC3E}">
        <p14:creationId xmlns:p14="http://schemas.microsoft.com/office/powerpoint/2010/main" val="3712557481"/>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err="1" smtClean="0"/>
              <a:t>Ceasor</a:t>
            </a:r>
            <a:r>
              <a:rPr lang="en-IN" b="1" dirty="0" smtClean="0"/>
              <a:t> </a:t>
            </a:r>
            <a:r>
              <a:rPr lang="en-IN" b="1" dirty="0"/>
              <a:t>Cipher</a:t>
            </a:r>
            <a:br>
              <a:rPr lang="en-IN" b="1" dirty="0"/>
            </a:br>
            <a:endParaRPr lang="en-IN" dirty="0"/>
          </a:p>
        </p:txBody>
      </p:sp>
      <p:sp>
        <p:nvSpPr>
          <p:cNvPr id="3" name="Content Placeholder 2"/>
          <p:cNvSpPr>
            <a:spLocks noGrp="1"/>
          </p:cNvSpPr>
          <p:nvPr>
            <p:ph idx="1"/>
          </p:nvPr>
        </p:nvSpPr>
        <p:spPr/>
        <p:txBody>
          <a:bodyPr/>
          <a:lstStyle/>
          <a:p>
            <a:pPr algn="just"/>
            <a:r>
              <a:rPr lang="en-US" dirty="0"/>
              <a:t>The encryption can be represented using modular arithmetic by first transforming the letters into numbers, according to the scheme, A = 0, B = 1</a:t>
            </a:r>
            <a:r>
              <a:rPr lang="en-US" dirty="0" smtClean="0"/>
              <a:t>,…, </a:t>
            </a:r>
            <a:r>
              <a:rPr lang="en-US" dirty="0"/>
              <a:t>Z = 25.</a:t>
            </a:r>
            <a:endParaRPr lang="en-IN"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79712" y="3789040"/>
            <a:ext cx="5328592" cy="17042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55281329"/>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b="1" dirty="0"/>
              <a:t>Plain Text:</a:t>
            </a:r>
            <a:r>
              <a:rPr lang="en-IN" dirty="0"/>
              <a:t> ABCDEFGHIJKLMNOPQRSTUVWXYZ</a:t>
            </a:r>
            <a:br>
              <a:rPr lang="en-IN" dirty="0"/>
            </a:br>
            <a:r>
              <a:rPr lang="en-IN" b="1" dirty="0"/>
              <a:t>Key:</a:t>
            </a:r>
            <a:r>
              <a:rPr lang="en-IN" dirty="0"/>
              <a:t> 4</a:t>
            </a:r>
            <a:br>
              <a:rPr lang="en-IN" dirty="0"/>
            </a:br>
            <a:r>
              <a:rPr lang="en-IN" b="1" dirty="0"/>
              <a:t>Output:</a:t>
            </a:r>
            <a:r>
              <a:rPr lang="en-IN" dirty="0"/>
              <a:t> </a:t>
            </a:r>
            <a:r>
              <a:rPr lang="en-IN" dirty="0" err="1" smtClean="0"/>
              <a:t>EFGHIJKLMNOPQRSTUVWXYZabcd</a:t>
            </a:r>
            <a:endParaRPr lang="en-IN" dirty="0" smtClean="0"/>
          </a:p>
          <a:p>
            <a:endParaRPr lang="en-IN" dirty="0"/>
          </a:p>
          <a:p>
            <a:r>
              <a:rPr lang="en-IN" b="1" dirty="0"/>
              <a:t>Plain Text:</a:t>
            </a:r>
            <a:r>
              <a:rPr lang="en-IN" dirty="0"/>
              <a:t> I am studying Data Encryption</a:t>
            </a:r>
            <a:br>
              <a:rPr lang="en-IN" dirty="0"/>
            </a:br>
            <a:r>
              <a:rPr lang="en-IN" b="1" dirty="0"/>
              <a:t>Key:</a:t>
            </a:r>
            <a:r>
              <a:rPr lang="en-IN" dirty="0"/>
              <a:t> 4</a:t>
            </a:r>
            <a:br>
              <a:rPr lang="en-IN" dirty="0"/>
            </a:br>
            <a:r>
              <a:rPr lang="en-IN" b="1" dirty="0"/>
              <a:t>Output:</a:t>
            </a:r>
            <a:r>
              <a:rPr lang="en-IN" dirty="0"/>
              <a:t> M </a:t>
            </a:r>
            <a:r>
              <a:rPr lang="en-IN" dirty="0" err="1"/>
              <a:t>eq</a:t>
            </a:r>
            <a:r>
              <a:rPr lang="en-IN" dirty="0"/>
              <a:t> </a:t>
            </a:r>
            <a:r>
              <a:rPr lang="en-IN" dirty="0" err="1"/>
              <a:t>wxyhCmrk</a:t>
            </a:r>
            <a:r>
              <a:rPr lang="en-IN" dirty="0"/>
              <a:t> </a:t>
            </a:r>
            <a:r>
              <a:rPr lang="en-IN" dirty="0" err="1"/>
              <a:t>Hexe</a:t>
            </a:r>
            <a:r>
              <a:rPr lang="en-IN" dirty="0"/>
              <a:t> </a:t>
            </a:r>
            <a:r>
              <a:rPr lang="en-IN" dirty="0" err="1"/>
              <a:t>IrgvCtxmsr</a:t>
            </a:r>
            <a:endParaRPr lang="en-IN" dirty="0"/>
          </a:p>
        </p:txBody>
      </p:sp>
    </p:spTree>
    <p:extLst>
      <p:ext uri="{BB962C8B-B14F-4D97-AF65-F5344CB8AC3E}">
        <p14:creationId xmlns:p14="http://schemas.microsoft.com/office/powerpoint/2010/main" val="4152203253"/>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70000" lnSpcReduction="20000"/>
          </a:bodyPr>
          <a:lstStyle/>
          <a:p>
            <a:pPr fontAlgn="base"/>
            <a:r>
              <a:rPr lang="en-US" b="1" dirty="0"/>
              <a:t>Algorithm for Substitution Cipher:</a:t>
            </a:r>
            <a:r>
              <a:rPr lang="en-US" dirty="0"/>
              <a:t> </a:t>
            </a:r>
          </a:p>
          <a:p>
            <a:pPr fontAlgn="base"/>
            <a:r>
              <a:rPr lang="en-US" b="1" dirty="0"/>
              <a:t>Input: </a:t>
            </a:r>
            <a:endParaRPr lang="en-US" dirty="0"/>
          </a:p>
          <a:p>
            <a:pPr fontAlgn="base"/>
            <a:r>
              <a:rPr lang="en-US" dirty="0"/>
              <a:t>A String of both lower and upper case letters, called </a:t>
            </a:r>
            <a:r>
              <a:rPr lang="en-US" dirty="0" err="1"/>
              <a:t>PlainText</a:t>
            </a:r>
            <a:r>
              <a:rPr lang="en-US" dirty="0"/>
              <a:t>. </a:t>
            </a:r>
          </a:p>
          <a:p>
            <a:pPr fontAlgn="base"/>
            <a:r>
              <a:rPr lang="en-US" dirty="0"/>
              <a:t>An Integer denoting the required key. </a:t>
            </a:r>
          </a:p>
          <a:p>
            <a:pPr fontAlgn="base"/>
            <a:r>
              <a:rPr lang="en-US" b="1" dirty="0"/>
              <a:t>Procedure:</a:t>
            </a:r>
            <a:r>
              <a:rPr lang="en-US" dirty="0"/>
              <a:t> </a:t>
            </a:r>
          </a:p>
          <a:p>
            <a:pPr fontAlgn="base"/>
            <a:r>
              <a:rPr lang="en-US" dirty="0"/>
              <a:t>Create a list of all the characters. </a:t>
            </a:r>
          </a:p>
          <a:p>
            <a:pPr fontAlgn="base"/>
            <a:r>
              <a:rPr lang="en-US" dirty="0"/>
              <a:t>Create a dictionary to store the substitution for all characters. </a:t>
            </a:r>
          </a:p>
          <a:p>
            <a:pPr fontAlgn="base"/>
            <a:r>
              <a:rPr lang="en-US" dirty="0"/>
              <a:t>For each character, transform the given character as per the rule, depending on whether we’re encrypting or decrypting the text. </a:t>
            </a:r>
          </a:p>
          <a:p>
            <a:pPr fontAlgn="base"/>
            <a:r>
              <a:rPr lang="en-US" dirty="0"/>
              <a:t>Print the new string generated. </a:t>
            </a:r>
          </a:p>
          <a:p>
            <a:endParaRPr lang="en-IN" dirty="0"/>
          </a:p>
        </p:txBody>
      </p:sp>
    </p:spTree>
    <p:extLst>
      <p:ext uri="{BB962C8B-B14F-4D97-AF65-F5344CB8AC3E}">
        <p14:creationId xmlns:p14="http://schemas.microsoft.com/office/powerpoint/2010/main" val="1818251973"/>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err="1"/>
              <a:t>Monoalphabetic</a:t>
            </a:r>
            <a:r>
              <a:rPr lang="en-IN" dirty="0"/>
              <a:t> Cipher</a:t>
            </a:r>
            <a:br>
              <a:rPr lang="en-IN" dirty="0"/>
            </a:br>
            <a:endParaRPr lang="en-IN" dirty="0"/>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15616" y="2708920"/>
            <a:ext cx="7036162" cy="1638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1115616" y="1289006"/>
            <a:ext cx="7056784" cy="1200329"/>
          </a:xfrm>
          <a:prstGeom prst="rect">
            <a:avLst/>
          </a:prstGeom>
        </p:spPr>
        <p:txBody>
          <a:bodyPr wrap="square">
            <a:spAutoFit/>
          </a:bodyPr>
          <a:lstStyle/>
          <a:p>
            <a:pPr algn="just"/>
            <a:r>
              <a:rPr lang="en-US" sz="2400" dirty="0"/>
              <a:t>A </a:t>
            </a:r>
            <a:r>
              <a:rPr lang="en-US" sz="2400" dirty="0" err="1"/>
              <a:t>monoalphabetic</a:t>
            </a:r>
            <a:r>
              <a:rPr lang="en-US" sz="2400" dirty="0"/>
              <a:t> cipher is any cipher in which the letters of the plain text are mapped to cipher text letters based on a single alphabetic key.</a:t>
            </a:r>
            <a:endParaRPr lang="en-IN" sz="2400" dirty="0"/>
          </a:p>
        </p:txBody>
      </p:sp>
    </p:spTree>
    <p:extLst>
      <p:ext uri="{BB962C8B-B14F-4D97-AF65-F5344CB8AC3E}">
        <p14:creationId xmlns:p14="http://schemas.microsoft.com/office/powerpoint/2010/main" val="1443633651"/>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Polyalphabetic Cipher</a:t>
            </a:r>
            <a:endParaRPr lang="en-IN" dirty="0"/>
          </a:p>
        </p:txBody>
      </p:sp>
      <p:sp>
        <p:nvSpPr>
          <p:cNvPr id="3" name="Content Placeholder 2"/>
          <p:cNvSpPr>
            <a:spLocks noGrp="1"/>
          </p:cNvSpPr>
          <p:nvPr>
            <p:ph idx="1"/>
          </p:nvPr>
        </p:nvSpPr>
        <p:spPr/>
        <p:txBody>
          <a:bodyPr/>
          <a:lstStyle/>
          <a:p>
            <a:r>
              <a:rPr lang="en-US" dirty="0"/>
              <a:t>A polyalphabetic cipher is any cipher based on substitution, using multiple substitution alphabets</a:t>
            </a:r>
            <a:r>
              <a:rPr lang="en-US" dirty="0" smtClean="0"/>
              <a:t>.</a:t>
            </a:r>
          </a:p>
          <a:p>
            <a:r>
              <a:rPr lang="en-US" dirty="0" smtClean="0"/>
              <a:t>Example:</a:t>
            </a:r>
          </a:p>
          <a:p>
            <a:r>
              <a:rPr lang="en-US" dirty="0" smtClean="0"/>
              <a:t>Consider the Plain Text: ATTACKATDAWN</a:t>
            </a:r>
          </a:p>
          <a:p>
            <a:r>
              <a:rPr lang="en-US" dirty="0" err="1" smtClean="0"/>
              <a:t>Keyword:LEMON</a:t>
            </a:r>
            <a:endParaRPr lang="en-IN" dirty="0"/>
          </a:p>
        </p:txBody>
      </p:sp>
    </p:spTree>
    <p:extLst>
      <p:ext uri="{BB962C8B-B14F-4D97-AF65-F5344CB8AC3E}">
        <p14:creationId xmlns:p14="http://schemas.microsoft.com/office/powerpoint/2010/main" val="393732124"/>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5" name="Content Placeholder 4"/>
          <p:cNvSpPr>
            <a:spLocks noGrp="1"/>
          </p:cNvSpPr>
          <p:nvPr>
            <p:ph idx="1"/>
          </p:nvPr>
        </p:nvSpPr>
        <p:spPr/>
        <p:txBody>
          <a:bodyPr/>
          <a:lstStyle/>
          <a:p>
            <a:r>
              <a:rPr lang="en-IN" dirty="0" smtClean="0"/>
              <a:t>Step 1: Convert the Alphabets into number.</a:t>
            </a:r>
          </a:p>
          <a:p>
            <a:endParaRPr lang="en-IN"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1560" y="2204864"/>
            <a:ext cx="8064896" cy="15121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3588" y="3761048"/>
            <a:ext cx="7560840" cy="160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62983187"/>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098"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83568" y="1628800"/>
            <a:ext cx="7848872" cy="15121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9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4575" y="2949575"/>
            <a:ext cx="7054850" cy="958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37880100"/>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pic>
        <p:nvPicPr>
          <p:cNvPr id="5122"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971600" y="1700808"/>
            <a:ext cx="7112366" cy="21400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4789718"/>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614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95536" y="1628800"/>
            <a:ext cx="8280920" cy="1219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4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5536" y="3140968"/>
            <a:ext cx="8352928" cy="26642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61880603"/>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717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619672" y="1772816"/>
            <a:ext cx="6120680" cy="30243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6777119"/>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p:cNvGraphicFramePr>
            <a:graphicFrameLocks noGrp="1"/>
          </p:cNvGraphicFramePr>
          <p:nvPr>
            <p:ph idx="1"/>
            <p:extLst>
              <p:ext uri="{D42A27DB-BD31-4B8C-83A1-F6EECF244321}">
                <p14:modId xmlns:p14="http://schemas.microsoft.com/office/powerpoint/2010/main" val="359748711"/>
              </p:ext>
            </p:extLst>
          </p:nvPr>
        </p:nvGraphicFramePr>
        <p:xfrm>
          <a:off x="323528" y="260648"/>
          <a:ext cx="8229600" cy="5415280"/>
        </p:xfrm>
        <a:graphic>
          <a:graphicData uri="http://schemas.openxmlformats.org/drawingml/2006/table">
            <a:tbl>
              <a:tblPr firstRow="1" bandRow="1">
                <a:tableStyleId>{5C22544A-7EE6-4342-B048-85BDC9FD1C3A}</a:tableStyleId>
              </a:tblPr>
              <a:tblGrid>
                <a:gridCol w="4114800"/>
                <a:gridCol w="4114800"/>
              </a:tblGrid>
              <a:tr h="370840">
                <a:tc>
                  <a:txBody>
                    <a:bodyPr/>
                    <a:lstStyle/>
                    <a:p>
                      <a:pPr algn="ctr" fontAlgn="base"/>
                      <a:r>
                        <a:rPr lang="en-IN" sz="1400" b="1" dirty="0" err="1">
                          <a:effectLst/>
                          <a:latin typeface="Nunito"/>
                        </a:rPr>
                        <a:t>Monoalphabetic</a:t>
                      </a:r>
                      <a:r>
                        <a:rPr lang="en-IN" sz="1400" b="1" dirty="0">
                          <a:effectLst/>
                          <a:latin typeface="Nunito"/>
                        </a:rPr>
                        <a:t> Cipher</a:t>
                      </a:r>
                    </a:p>
                  </a:txBody>
                  <a:tcPr marL="38100" marR="38100" marT="63500" marB="63500" anchor="ctr"/>
                </a:tc>
                <a:tc>
                  <a:txBody>
                    <a:bodyPr/>
                    <a:lstStyle/>
                    <a:p>
                      <a:pPr algn="ctr" fontAlgn="base"/>
                      <a:r>
                        <a:rPr lang="en-IN" sz="1400" b="1">
                          <a:effectLst/>
                          <a:latin typeface="Nunito"/>
                        </a:rPr>
                        <a:t>Polyalphabetic Cipher</a:t>
                      </a:r>
                    </a:p>
                  </a:txBody>
                  <a:tcPr marL="63500" marR="63500" marT="63500" marB="63500" anchor="ctr"/>
                </a:tc>
              </a:tr>
              <a:tr h="370840">
                <a:tc>
                  <a:txBody>
                    <a:bodyPr/>
                    <a:lstStyle/>
                    <a:p>
                      <a:pPr algn="ctr" fontAlgn="ctr"/>
                      <a:r>
                        <a:rPr lang="en-US" sz="1250" b="0">
                          <a:effectLst/>
                          <a:latin typeface="Nunito"/>
                        </a:rPr>
                        <a:t>A monoalphabetic cipher is one where each symbol in plain text is mapped to a fixed symbol in cipher text.</a:t>
                      </a:r>
                    </a:p>
                  </a:txBody>
                  <a:tcPr marL="63500" marR="63500" marT="88900" marB="88900" anchor="ctr"/>
                </a:tc>
                <a:tc>
                  <a:txBody>
                    <a:bodyPr/>
                    <a:lstStyle/>
                    <a:p>
                      <a:pPr algn="ctr" fontAlgn="ctr"/>
                      <a:r>
                        <a:rPr lang="en-US" sz="1250" b="0">
                          <a:effectLst/>
                          <a:latin typeface="Nunito"/>
                        </a:rPr>
                        <a:t>Polyalphabetic cipher is any cipher based on substitution, using multiple substitution alphabets. </a:t>
                      </a:r>
                      <a:br>
                        <a:rPr lang="en-US" sz="1250" b="0">
                          <a:effectLst/>
                          <a:latin typeface="Nunito"/>
                        </a:rPr>
                      </a:br>
                      <a:r>
                        <a:rPr lang="en-US" sz="1250" b="0">
                          <a:effectLst/>
                          <a:latin typeface="Nunito"/>
                        </a:rPr>
                        <a:t> </a:t>
                      </a:r>
                    </a:p>
                  </a:txBody>
                  <a:tcPr marL="63500" marR="63500" marT="88900" marB="88900" anchor="ctr"/>
                </a:tc>
              </a:tr>
              <a:tr h="370840">
                <a:tc>
                  <a:txBody>
                    <a:bodyPr/>
                    <a:lstStyle/>
                    <a:p>
                      <a:pPr algn="ctr" fontAlgn="ctr"/>
                      <a:r>
                        <a:rPr lang="en-US" sz="1250" b="0" dirty="0">
                          <a:effectLst/>
                          <a:latin typeface="Nunito"/>
                        </a:rPr>
                        <a:t>The relationship between a character in the plain text and the characters in the cipher text is one-to-one.</a:t>
                      </a:r>
                    </a:p>
                  </a:txBody>
                  <a:tcPr marL="63500" marR="63500" marT="88900" marB="88900" anchor="ctr"/>
                </a:tc>
                <a:tc>
                  <a:txBody>
                    <a:bodyPr/>
                    <a:lstStyle/>
                    <a:p>
                      <a:pPr algn="ctr" fontAlgn="ctr"/>
                      <a:r>
                        <a:rPr lang="en-US" sz="1250" b="0">
                          <a:effectLst/>
                          <a:latin typeface="Nunito"/>
                        </a:rPr>
                        <a:t>The relationship between a character in the plain text and the characters in the cipher text is one-to-many.</a:t>
                      </a:r>
                    </a:p>
                  </a:txBody>
                  <a:tcPr marL="63500" marR="63500" marT="88900" marB="88900" anchor="ctr"/>
                </a:tc>
              </a:tr>
              <a:tr h="370840">
                <a:tc>
                  <a:txBody>
                    <a:bodyPr/>
                    <a:lstStyle/>
                    <a:p>
                      <a:pPr algn="ctr" fontAlgn="ctr"/>
                      <a:r>
                        <a:rPr lang="en-US" sz="1250" b="0">
                          <a:effectLst/>
                          <a:latin typeface="Nunito"/>
                        </a:rPr>
                        <a:t>Each alphabetic character of plain text is mapped onto a unique alphabetic character of a cipher text.</a:t>
                      </a:r>
                    </a:p>
                  </a:txBody>
                  <a:tcPr marL="63500" marR="63500" marT="88900" marB="88900" anchor="ctr"/>
                </a:tc>
                <a:tc>
                  <a:txBody>
                    <a:bodyPr/>
                    <a:lstStyle/>
                    <a:p>
                      <a:pPr algn="ctr" fontAlgn="ctr"/>
                      <a:r>
                        <a:rPr lang="en-US" sz="1250" b="0">
                          <a:effectLst/>
                          <a:latin typeface="Nunito"/>
                        </a:rPr>
                        <a:t>Each alphabetic character of plain text can be mapped onto 'm' alphabetic characters of a cipher text.</a:t>
                      </a:r>
                    </a:p>
                  </a:txBody>
                  <a:tcPr marL="63500" marR="63500" marT="88900" marB="88900" anchor="ctr"/>
                </a:tc>
              </a:tr>
              <a:tr h="370840">
                <a:tc>
                  <a:txBody>
                    <a:bodyPr/>
                    <a:lstStyle/>
                    <a:p>
                      <a:pPr algn="ctr" fontAlgn="ctr"/>
                      <a:r>
                        <a:rPr lang="en-US" sz="1250" b="0">
                          <a:effectLst/>
                          <a:latin typeface="Nunito"/>
                        </a:rPr>
                        <a:t>A stream cipher is a monoalphabetic cipher if the value of key does not depend on the position of the plain text character in the plain text stream.</a:t>
                      </a:r>
                    </a:p>
                  </a:txBody>
                  <a:tcPr marL="63500" marR="63500" marT="88900" marB="88900" anchor="ctr"/>
                </a:tc>
                <a:tc>
                  <a:txBody>
                    <a:bodyPr/>
                    <a:lstStyle/>
                    <a:p>
                      <a:pPr algn="ctr" fontAlgn="ctr"/>
                      <a:r>
                        <a:rPr lang="en-US" sz="1250" b="0">
                          <a:effectLst/>
                          <a:latin typeface="Nunito"/>
                        </a:rPr>
                        <a:t>A stream cipher is a polyalphabetic cipher if the value of key does depend on the position of the plain text character in the plain text stream.</a:t>
                      </a:r>
                    </a:p>
                  </a:txBody>
                  <a:tcPr marL="63500" marR="63500" marT="88900" marB="88900" anchor="ctr"/>
                </a:tc>
              </a:tr>
              <a:tr h="370840">
                <a:tc>
                  <a:txBody>
                    <a:bodyPr/>
                    <a:lstStyle/>
                    <a:p>
                      <a:pPr algn="ctr" fontAlgn="ctr"/>
                      <a:r>
                        <a:rPr lang="en-US" sz="1250" b="0">
                          <a:effectLst/>
                          <a:latin typeface="Nunito"/>
                        </a:rPr>
                        <a:t>It includes additive, multiplicative, </a:t>
                      </a:r>
                      <a:r>
                        <a:rPr lang="en-US" sz="1250" b="0" u="sng">
                          <a:solidFill>
                            <a:srgbClr val="22A779"/>
                          </a:solidFill>
                          <a:effectLst/>
                          <a:latin typeface="Nunito"/>
                          <a:hlinkClick r:id="rId2"/>
                        </a:rPr>
                        <a:t>affine</a:t>
                      </a:r>
                      <a:r>
                        <a:rPr lang="en-US" sz="1250" b="0">
                          <a:effectLst/>
                          <a:latin typeface="Nunito"/>
                        </a:rPr>
                        <a:t> and monoalphabetic substitution cipher.</a:t>
                      </a:r>
                    </a:p>
                  </a:txBody>
                  <a:tcPr marL="63500" marR="63500" marT="88900" marB="88900" anchor="ctr"/>
                </a:tc>
                <a:tc>
                  <a:txBody>
                    <a:bodyPr/>
                    <a:lstStyle/>
                    <a:p>
                      <a:pPr algn="ctr" fontAlgn="ctr"/>
                      <a:r>
                        <a:rPr lang="en-US" sz="1250" b="0">
                          <a:effectLst/>
                          <a:latin typeface="Nunito"/>
                        </a:rPr>
                        <a:t>It includes </a:t>
                      </a:r>
                      <a:r>
                        <a:rPr lang="en-US" sz="1250" b="0" u="sng">
                          <a:solidFill>
                            <a:srgbClr val="22A779"/>
                          </a:solidFill>
                          <a:effectLst/>
                          <a:latin typeface="Nunito"/>
                          <a:hlinkClick r:id="rId3"/>
                        </a:rPr>
                        <a:t>autokey</a:t>
                      </a:r>
                      <a:r>
                        <a:rPr lang="en-US" sz="1250" b="0">
                          <a:effectLst/>
                          <a:latin typeface="Nunito"/>
                        </a:rPr>
                        <a:t>, Playfair, Vigenere, Hill, one-time pad, rotor, and Enigma cipher. </a:t>
                      </a:r>
                      <a:br>
                        <a:rPr lang="en-US" sz="1250" b="0">
                          <a:effectLst/>
                          <a:latin typeface="Nunito"/>
                        </a:rPr>
                      </a:br>
                      <a:r>
                        <a:rPr lang="en-US" sz="1250" b="0">
                          <a:effectLst/>
                          <a:latin typeface="Nunito"/>
                        </a:rPr>
                        <a:t> </a:t>
                      </a:r>
                    </a:p>
                  </a:txBody>
                  <a:tcPr marL="63500" marR="63500" marT="88900" marB="88900" anchor="ctr"/>
                </a:tc>
              </a:tr>
              <a:tr h="370840">
                <a:tc>
                  <a:txBody>
                    <a:bodyPr/>
                    <a:lstStyle/>
                    <a:p>
                      <a:pPr algn="ctr" fontAlgn="ctr"/>
                      <a:r>
                        <a:rPr lang="en-US" sz="1250" b="0">
                          <a:effectLst/>
                          <a:latin typeface="Nunito"/>
                        </a:rPr>
                        <a:t>It is a simple substitution cipher.</a:t>
                      </a:r>
                    </a:p>
                  </a:txBody>
                  <a:tcPr marL="63500" marR="63500" marT="88900" marB="88900" anchor="ctr"/>
                </a:tc>
                <a:tc>
                  <a:txBody>
                    <a:bodyPr/>
                    <a:lstStyle/>
                    <a:p>
                      <a:pPr algn="ctr" fontAlgn="ctr"/>
                      <a:r>
                        <a:rPr lang="en-IN" sz="1250" b="0">
                          <a:effectLst/>
                          <a:latin typeface="Nunito"/>
                        </a:rPr>
                        <a:t>It is multiple substitutions cipher.</a:t>
                      </a:r>
                    </a:p>
                  </a:txBody>
                  <a:tcPr marL="63500" marR="63500" marT="88900" marB="88900" anchor="ctr"/>
                </a:tc>
              </a:tr>
              <a:tr h="370840">
                <a:tc>
                  <a:txBody>
                    <a:bodyPr/>
                    <a:lstStyle/>
                    <a:p>
                      <a:pPr algn="ctr" fontAlgn="ctr"/>
                      <a:r>
                        <a:rPr lang="en-US" sz="1250" b="0">
                          <a:effectLst/>
                          <a:latin typeface="Nunito"/>
                        </a:rPr>
                        <a:t>Monoalphabetic Cipher is described as a substitution cipher in which  the same fixed mappings from plain text to cipher letters across the entire text are used.</a:t>
                      </a:r>
                    </a:p>
                  </a:txBody>
                  <a:tcPr marL="63500" marR="63500" marT="88900" marB="88900" anchor="ctr"/>
                </a:tc>
                <a:tc>
                  <a:txBody>
                    <a:bodyPr/>
                    <a:lstStyle/>
                    <a:p>
                      <a:pPr algn="ctr" fontAlgn="ctr"/>
                      <a:r>
                        <a:rPr lang="en-US" sz="1250" b="0">
                          <a:effectLst/>
                          <a:latin typeface="Nunito"/>
                        </a:rPr>
                        <a:t>Polyalphabetic Cipher is described as substitution cipher in which plain text letters in different positions are enciphered using different cryptoalphabets.</a:t>
                      </a:r>
                    </a:p>
                  </a:txBody>
                  <a:tcPr marL="63500" marR="63500" marT="88900" marB="88900" anchor="ctr"/>
                </a:tc>
              </a:tr>
              <a:tr h="370840">
                <a:tc>
                  <a:txBody>
                    <a:bodyPr/>
                    <a:lstStyle/>
                    <a:p>
                      <a:pPr algn="ctr" fontAlgn="ctr"/>
                      <a:r>
                        <a:rPr lang="en-US" sz="1250" b="0">
                          <a:effectLst/>
                          <a:latin typeface="Nunito"/>
                        </a:rPr>
                        <a:t>Monoalphabetic ciphers are not that strong as compared to polyalphabetic cipher.</a:t>
                      </a:r>
                    </a:p>
                  </a:txBody>
                  <a:tcPr marL="63500" marR="63500" marT="88900" marB="88900" anchor="ctr"/>
                </a:tc>
                <a:tc>
                  <a:txBody>
                    <a:bodyPr/>
                    <a:lstStyle/>
                    <a:p>
                      <a:pPr algn="ctr" fontAlgn="ctr"/>
                      <a:r>
                        <a:rPr lang="en-US" sz="1250" b="0" dirty="0">
                          <a:effectLst/>
                          <a:latin typeface="Nunito"/>
                        </a:rPr>
                        <a:t>Polyalphabetic ciphers are much stronger</a:t>
                      </a:r>
                    </a:p>
                  </a:txBody>
                  <a:tcPr marL="63500" marR="63500" marT="88900" marB="88900" anchor="ctr"/>
                </a:tc>
              </a:tr>
            </a:tbl>
          </a:graphicData>
        </a:graphic>
      </p:graphicFrame>
    </p:spTree>
    <p:extLst>
      <p:ext uri="{BB962C8B-B14F-4D97-AF65-F5344CB8AC3E}">
        <p14:creationId xmlns:p14="http://schemas.microsoft.com/office/powerpoint/2010/main" val="260757982"/>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a:t>Playfair</a:t>
            </a:r>
            <a:r>
              <a:rPr lang="en-US" b="1" dirty="0"/>
              <a:t> cipher</a:t>
            </a:r>
            <a:endParaRPr lang="en-IN" dirty="0"/>
          </a:p>
        </p:txBody>
      </p:sp>
      <p:sp>
        <p:nvSpPr>
          <p:cNvPr id="3" name="Content Placeholder 2"/>
          <p:cNvSpPr>
            <a:spLocks noGrp="1"/>
          </p:cNvSpPr>
          <p:nvPr>
            <p:ph idx="1"/>
          </p:nvPr>
        </p:nvSpPr>
        <p:spPr/>
        <p:txBody>
          <a:bodyPr>
            <a:normAutofit fontScale="77500" lnSpcReduction="20000"/>
          </a:bodyPr>
          <a:lstStyle/>
          <a:p>
            <a:pPr algn="just"/>
            <a:r>
              <a:rPr lang="en-US" dirty="0"/>
              <a:t>The </a:t>
            </a:r>
            <a:r>
              <a:rPr lang="en-US" b="1" dirty="0" err="1"/>
              <a:t>Playfair</a:t>
            </a:r>
            <a:r>
              <a:rPr lang="en-US" b="1" dirty="0"/>
              <a:t> cipher</a:t>
            </a:r>
            <a:r>
              <a:rPr lang="en-US" dirty="0"/>
              <a:t> was the first practical digraph substitution cipher. </a:t>
            </a:r>
            <a:endParaRPr lang="en-US" dirty="0" smtClean="0"/>
          </a:p>
          <a:p>
            <a:pPr algn="just"/>
            <a:r>
              <a:rPr lang="en-US" dirty="0" smtClean="0"/>
              <a:t>The </a:t>
            </a:r>
            <a:r>
              <a:rPr lang="en-US" dirty="0"/>
              <a:t>scheme was invented in </a:t>
            </a:r>
            <a:r>
              <a:rPr lang="en-US" b="1" dirty="0"/>
              <a:t>1854</a:t>
            </a:r>
            <a:r>
              <a:rPr lang="en-US" dirty="0"/>
              <a:t> by </a:t>
            </a:r>
            <a:r>
              <a:rPr lang="en-US" b="1" dirty="0"/>
              <a:t>Charles Wheatstone</a:t>
            </a:r>
            <a:r>
              <a:rPr lang="en-US" dirty="0"/>
              <a:t> but was named after Lord </a:t>
            </a:r>
            <a:r>
              <a:rPr lang="en-US" dirty="0" err="1"/>
              <a:t>Playfair</a:t>
            </a:r>
            <a:r>
              <a:rPr lang="en-US" dirty="0"/>
              <a:t> who promoted the use of the cipher. </a:t>
            </a:r>
            <a:endParaRPr lang="en-US" dirty="0" smtClean="0"/>
          </a:p>
          <a:p>
            <a:pPr algn="just"/>
            <a:r>
              <a:rPr lang="en-US" dirty="0" smtClean="0"/>
              <a:t>In </a:t>
            </a:r>
            <a:r>
              <a:rPr lang="en-US" dirty="0" err="1"/>
              <a:t>playfair</a:t>
            </a:r>
            <a:r>
              <a:rPr lang="en-US" dirty="0"/>
              <a:t> cipher unlike </a:t>
            </a:r>
            <a:r>
              <a:rPr lang="en-US" u="sng" dirty="0">
                <a:hlinkClick r:id="rId2"/>
              </a:rPr>
              <a:t>traditional cipher</a:t>
            </a:r>
            <a:r>
              <a:rPr lang="en-US" dirty="0"/>
              <a:t> we encrypt a pair of alphabets(digraphs) instead of a single alphabet.</a:t>
            </a:r>
            <a:br>
              <a:rPr lang="en-US" dirty="0"/>
            </a:br>
            <a:endParaRPr lang="en-US" dirty="0" smtClean="0"/>
          </a:p>
          <a:p>
            <a:pPr algn="just"/>
            <a:r>
              <a:rPr lang="en-US" dirty="0" smtClean="0"/>
              <a:t>It </a:t>
            </a:r>
            <a:r>
              <a:rPr lang="en-US" dirty="0"/>
              <a:t>was used for tactical purposes by British forces in the Second Boer War and in World War I and for the same purpose by the Australians during World War II. </a:t>
            </a:r>
            <a:endParaRPr lang="en-US" dirty="0" smtClean="0"/>
          </a:p>
          <a:p>
            <a:pPr algn="just"/>
            <a:r>
              <a:rPr lang="en-US" dirty="0" smtClean="0"/>
              <a:t>This </a:t>
            </a:r>
            <a:r>
              <a:rPr lang="en-US" dirty="0"/>
              <a:t>was because </a:t>
            </a:r>
            <a:r>
              <a:rPr lang="en-US" dirty="0" err="1"/>
              <a:t>Playfair</a:t>
            </a:r>
            <a:r>
              <a:rPr lang="en-US" dirty="0"/>
              <a:t> is reasonably fast to use and requires no special equipment.</a:t>
            </a:r>
            <a:endParaRPr lang="en-IN" dirty="0"/>
          </a:p>
        </p:txBody>
      </p:sp>
    </p:spTree>
    <p:extLst>
      <p:ext uri="{BB962C8B-B14F-4D97-AF65-F5344CB8AC3E}">
        <p14:creationId xmlns:p14="http://schemas.microsoft.com/office/powerpoint/2010/main" val="1457811637"/>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77500" lnSpcReduction="20000"/>
          </a:bodyPr>
          <a:lstStyle/>
          <a:p>
            <a:pPr fontAlgn="base"/>
            <a:r>
              <a:rPr lang="en-US" i="1" dirty="0"/>
              <a:t>The algorithm consists of 2 steps: </a:t>
            </a:r>
          </a:p>
          <a:p>
            <a:pPr fontAlgn="base"/>
            <a:r>
              <a:rPr lang="en-US" b="1" i="1" dirty="0"/>
              <a:t>Generate the key Square (5x5):</a:t>
            </a:r>
            <a:r>
              <a:rPr lang="en-US" i="1" dirty="0"/>
              <a:t> </a:t>
            </a:r>
            <a:br>
              <a:rPr lang="en-US" i="1" dirty="0"/>
            </a:br>
            <a:endParaRPr lang="en-US" i="1" dirty="0"/>
          </a:p>
          <a:p>
            <a:pPr lvl="1" fontAlgn="base"/>
            <a:r>
              <a:rPr lang="en-US" i="1" dirty="0"/>
              <a:t>The key square is a 5×5 grid of alphabets that acts as the key for encrypting the plaintext. Each of the 25 alphabets must be unique and one letter of the alphabet (usually J) is omitted from the table (as the table can hold only 25 alphabets). If the plaintext contains J, then it is replaced by I. </a:t>
            </a:r>
          </a:p>
          <a:p>
            <a:pPr lvl="1" fontAlgn="base"/>
            <a:r>
              <a:rPr lang="en-US" i="1" dirty="0"/>
              <a:t>The initial alphabets in the key square are the unique alphabets of the key in the order in which they appear followed by the remaining letters of the alphabet in order. </a:t>
            </a:r>
          </a:p>
          <a:p>
            <a:pPr fontAlgn="base"/>
            <a:r>
              <a:rPr lang="en-US" b="1" i="1" dirty="0"/>
              <a:t>Algorithm to encrypt the plain text:</a:t>
            </a:r>
            <a:r>
              <a:rPr lang="en-US" i="1" dirty="0"/>
              <a:t> The plaintext is split into pairs of two letters (digraphs). If there is an odd number of letters, a Z is added to the last letter.  </a:t>
            </a:r>
          </a:p>
          <a:p>
            <a:endParaRPr lang="en-IN" dirty="0"/>
          </a:p>
        </p:txBody>
      </p:sp>
    </p:spTree>
    <p:extLst>
      <p:ext uri="{BB962C8B-B14F-4D97-AF65-F5344CB8AC3E}">
        <p14:creationId xmlns:p14="http://schemas.microsoft.com/office/powerpoint/2010/main" val="2697900062"/>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Examples</a:t>
            </a:r>
            <a:endParaRPr lang="en-IN" dirty="0"/>
          </a:p>
        </p:txBody>
      </p:sp>
      <p:sp>
        <p:nvSpPr>
          <p:cNvPr id="3" name="Content Placeholder 2"/>
          <p:cNvSpPr>
            <a:spLocks noGrp="1"/>
          </p:cNvSpPr>
          <p:nvPr>
            <p:ph idx="1"/>
          </p:nvPr>
        </p:nvSpPr>
        <p:spPr/>
        <p:txBody>
          <a:bodyPr>
            <a:normAutofit fontScale="77500" lnSpcReduction="20000"/>
          </a:bodyPr>
          <a:lstStyle/>
          <a:p>
            <a:pPr fontAlgn="base"/>
            <a:r>
              <a:rPr lang="en-US" b="1" i="1" dirty="0" err="1"/>
              <a:t>PlainText</a:t>
            </a:r>
            <a:r>
              <a:rPr lang="en-US" i="1" dirty="0"/>
              <a:t>: "instruments" </a:t>
            </a:r>
            <a:br>
              <a:rPr lang="en-US" i="1" dirty="0"/>
            </a:br>
            <a:r>
              <a:rPr lang="en-US" b="1" i="1" dirty="0"/>
              <a:t>After Split:</a:t>
            </a:r>
            <a:r>
              <a:rPr lang="en-US" i="1" dirty="0"/>
              <a:t> 'in' '</a:t>
            </a:r>
            <a:r>
              <a:rPr lang="en-US" i="1" dirty="0" err="1"/>
              <a:t>st</a:t>
            </a:r>
            <a:r>
              <a:rPr lang="en-US" i="1" dirty="0"/>
              <a:t>' '</a:t>
            </a:r>
            <a:r>
              <a:rPr lang="en-US" i="1" dirty="0" err="1"/>
              <a:t>ru</a:t>
            </a:r>
            <a:r>
              <a:rPr lang="en-US" i="1" dirty="0"/>
              <a:t>' 'me' '</a:t>
            </a:r>
            <a:r>
              <a:rPr lang="en-US" i="1" dirty="0" err="1"/>
              <a:t>nt</a:t>
            </a:r>
            <a:r>
              <a:rPr lang="en-US" i="1" dirty="0"/>
              <a:t>' '</a:t>
            </a:r>
            <a:r>
              <a:rPr lang="en-US" i="1" dirty="0" err="1"/>
              <a:t>sz</a:t>
            </a:r>
            <a:r>
              <a:rPr lang="en-US" i="1" dirty="0"/>
              <a:t>'</a:t>
            </a:r>
            <a:br>
              <a:rPr lang="en-US" i="1" dirty="0"/>
            </a:br>
            <a:r>
              <a:rPr lang="en-US" b="1" i="1" dirty="0"/>
              <a:t>Explanation:</a:t>
            </a:r>
            <a:r>
              <a:rPr lang="en-US" i="1" dirty="0"/>
              <a:t> Pair cannot be made with same letter. Break the letter in single and add a bogus letter to the previous letter. Here </a:t>
            </a:r>
            <a:r>
              <a:rPr lang="en-US" b="1" i="1" dirty="0"/>
              <a:t>'z' </a:t>
            </a:r>
            <a:r>
              <a:rPr lang="en-US" i="1" dirty="0"/>
              <a:t>is the bogus letter.</a:t>
            </a:r>
          </a:p>
          <a:p>
            <a:pPr fontAlgn="base"/>
            <a:r>
              <a:rPr lang="en-US" b="1" i="1" dirty="0"/>
              <a:t>Plain Text: </a:t>
            </a:r>
            <a:r>
              <a:rPr lang="en-US" i="1" dirty="0"/>
              <a:t>"hello"</a:t>
            </a:r>
            <a:br>
              <a:rPr lang="en-US" i="1" dirty="0"/>
            </a:br>
            <a:r>
              <a:rPr lang="en-US" b="1" i="1" dirty="0"/>
              <a:t>After Split: </a:t>
            </a:r>
            <a:r>
              <a:rPr lang="en-US" i="1" dirty="0"/>
              <a:t>'he' 'lx' 'lo'</a:t>
            </a:r>
            <a:br>
              <a:rPr lang="en-US" i="1" dirty="0"/>
            </a:br>
            <a:r>
              <a:rPr lang="en-US" b="1" i="1" dirty="0"/>
              <a:t>Explanation: </a:t>
            </a:r>
            <a:r>
              <a:rPr lang="en-US" i="1" dirty="0"/>
              <a:t>Here </a:t>
            </a:r>
            <a:r>
              <a:rPr lang="en-US" b="1" i="1" dirty="0"/>
              <a:t>'x' </a:t>
            </a:r>
            <a:r>
              <a:rPr lang="en-US" i="1" dirty="0"/>
              <a:t>is the bogus letter.</a:t>
            </a:r>
          </a:p>
          <a:p>
            <a:pPr fontAlgn="base"/>
            <a:r>
              <a:rPr lang="en-US" b="1" i="1" dirty="0"/>
              <a:t>Plain Text: </a:t>
            </a:r>
            <a:r>
              <a:rPr lang="en-US" i="1" dirty="0"/>
              <a:t>"</a:t>
            </a:r>
            <a:r>
              <a:rPr lang="en-US" i="1" dirty="0" err="1"/>
              <a:t>helloe</a:t>
            </a:r>
            <a:r>
              <a:rPr lang="en-US" i="1" dirty="0"/>
              <a:t>"</a:t>
            </a:r>
            <a:br>
              <a:rPr lang="en-US" i="1" dirty="0"/>
            </a:br>
            <a:r>
              <a:rPr lang="en-US" b="1" i="1" dirty="0"/>
              <a:t>After Split: </a:t>
            </a:r>
            <a:r>
              <a:rPr lang="en-US" i="1" dirty="0"/>
              <a:t>'he' 'lx' 'lo' '</a:t>
            </a:r>
            <a:r>
              <a:rPr lang="en-US" i="1" dirty="0" err="1"/>
              <a:t>ez</a:t>
            </a:r>
            <a:r>
              <a:rPr lang="en-US" i="1" dirty="0"/>
              <a:t>'</a:t>
            </a:r>
            <a:br>
              <a:rPr lang="en-US" i="1" dirty="0"/>
            </a:br>
            <a:r>
              <a:rPr lang="en-US" b="1" i="1" dirty="0"/>
              <a:t>Explanation: </a:t>
            </a:r>
            <a:r>
              <a:rPr lang="en-US" i="1" dirty="0"/>
              <a:t>If the letter is standing alone in the process of pairing, then add an extra bogus letter with the alone letter. Here </a:t>
            </a:r>
            <a:r>
              <a:rPr lang="en-US" b="1" i="1" dirty="0"/>
              <a:t>'x' </a:t>
            </a:r>
            <a:r>
              <a:rPr lang="en-US" i="1" dirty="0"/>
              <a:t>and </a:t>
            </a:r>
            <a:r>
              <a:rPr lang="en-US" b="1" i="1" dirty="0"/>
              <a:t>'z' </a:t>
            </a:r>
            <a:r>
              <a:rPr lang="en-US" i="1" dirty="0"/>
              <a:t> are the bogus letters.</a:t>
            </a:r>
          </a:p>
          <a:p>
            <a:endParaRPr lang="en-IN" dirty="0"/>
          </a:p>
        </p:txBody>
      </p:sp>
    </p:spTree>
    <p:extLst>
      <p:ext uri="{BB962C8B-B14F-4D97-AF65-F5344CB8AC3E}">
        <p14:creationId xmlns:p14="http://schemas.microsoft.com/office/powerpoint/2010/main" val="1468335086"/>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819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411760" y="2132856"/>
            <a:ext cx="4320480" cy="30963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81993868"/>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Rules for Encryption</a:t>
            </a:r>
            <a:br>
              <a:rPr lang="en-IN" b="1" dirty="0"/>
            </a:br>
            <a:endParaRPr lang="en-IN" dirty="0"/>
          </a:p>
        </p:txBody>
      </p:sp>
      <p:sp>
        <p:nvSpPr>
          <p:cNvPr id="3" name="Content Placeholder 2"/>
          <p:cNvSpPr>
            <a:spLocks noGrp="1"/>
          </p:cNvSpPr>
          <p:nvPr>
            <p:ph idx="1"/>
          </p:nvPr>
        </p:nvSpPr>
        <p:spPr/>
        <p:txBody>
          <a:bodyPr/>
          <a:lstStyle/>
          <a:p>
            <a:pPr fontAlgn="base"/>
            <a:r>
              <a:rPr lang="en-US" b="1" i="1" dirty="0"/>
              <a:t>If both the letters are in the same column</a:t>
            </a:r>
            <a:r>
              <a:rPr lang="en-US" i="1" dirty="0"/>
              <a:t>: Take the letter below each one (going back to the top if at the bottom).</a:t>
            </a:r>
          </a:p>
          <a:p>
            <a:pPr fontAlgn="base"/>
            <a:r>
              <a:rPr lang="en-US" b="1" i="1" dirty="0"/>
              <a:t>For example:</a:t>
            </a:r>
            <a:r>
              <a:rPr lang="en-US" i="1" dirty="0"/>
              <a:t> </a:t>
            </a:r>
            <a:br>
              <a:rPr lang="en-US" i="1" dirty="0"/>
            </a:br>
            <a:r>
              <a:rPr lang="en-US" b="1" i="1" dirty="0"/>
              <a:t>Diagraph:</a:t>
            </a:r>
            <a:r>
              <a:rPr lang="en-US" i="1" dirty="0"/>
              <a:t> "me"</a:t>
            </a:r>
            <a:br>
              <a:rPr lang="en-US" i="1" dirty="0"/>
            </a:br>
            <a:r>
              <a:rPr lang="en-US" b="1" i="1" dirty="0"/>
              <a:t>Encrypted Text:</a:t>
            </a:r>
            <a:r>
              <a:rPr lang="en-US" i="1" dirty="0"/>
              <a:t> </a:t>
            </a:r>
            <a:r>
              <a:rPr lang="en-US" i="1" dirty="0" smtClean="0"/>
              <a:t>cl</a:t>
            </a:r>
            <a:r>
              <a:rPr lang="en-US" i="1" dirty="0"/>
              <a:t/>
            </a:r>
            <a:br>
              <a:rPr lang="en-US" i="1" dirty="0"/>
            </a:br>
            <a:r>
              <a:rPr lang="en-US" b="1" i="1" dirty="0"/>
              <a:t>Encryption:</a:t>
            </a:r>
            <a:r>
              <a:rPr lang="en-US" i="1" dirty="0"/>
              <a:t> m -&gt; c e -&gt; l</a:t>
            </a:r>
          </a:p>
          <a:p>
            <a:pPr marL="0" indent="0">
              <a:buNone/>
            </a:pPr>
            <a:endParaRPr lang="en-IN"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55570" y="2996952"/>
            <a:ext cx="3670268" cy="23642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84842458"/>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pPr fontAlgn="base"/>
            <a:r>
              <a:rPr lang="en-US" b="1" i="1" dirty="0"/>
              <a:t>If both the letters are in the same row</a:t>
            </a:r>
            <a:r>
              <a:rPr lang="en-US" i="1" dirty="0"/>
              <a:t>: Take the letter to the right of each one (going back to the leftmost if at the rightmost position).</a:t>
            </a:r>
          </a:p>
          <a:p>
            <a:pPr fontAlgn="base"/>
            <a:r>
              <a:rPr lang="en-US" b="1" i="1" dirty="0"/>
              <a:t>For example:</a:t>
            </a:r>
            <a:r>
              <a:rPr lang="en-US" i="1" dirty="0"/>
              <a:t> </a:t>
            </a:r>
            <a:br>
              <a:rPr lang="en-US" i="1" dirty="0"/>
            </a:br>
            <a:r>
              <a:rPr lang="en-US" b="1" i="1" dirty="0"/>
              <a:t>Diagraph:</a:t>
            </a:r>
            <a:r>
              <a:rPr lang="en-US" i="1" dirty="0"/>
              <a:t> "</a:t>
            </a:r>
            <a:r>
              <a:rPr lang="en-US" i="1" dirty="0" err="1"/>
              <a:t>st</a:t>
            </a:r>
            <a:r>
              <a:rPr lang="en-US" i="1" dirty="0"/>
              <a:t>"</a:t>
            </a:r>
            <a:br>
              <a:rPr lang="en-US" i="1" dirty="0"/>
            </a:br>
            <a:r>
              <a:rPr lang="en-US" b="1" i="1" dirty="0"/>
              <a:t>Encrypted Text:</a:t>
            </a:r>
            <a:r>
              <a:rPr lang="en-US" i="1" dirty="0"/>
              <a:t> </a:t>
            </a:r>
            <a:r>
              <a:rPr lang="en-US" i="1" dirty="0" err="1" smtClean="0"/>
              <a:t>tl</a:t>
            </a:r>
            <a:r>
              <a:rPr lang="en-US" i="1" dirty="0"/>
              <a:t/>
            </a:r>
            <a:br>
              <a:rPr lang="en-US" i="1" dirty="0"/>
            </a:br>
            <a:r>
              <a:rPr lang="en-US" b="1" i="1" dirty="0"/>
              <a:t>Encryption: </a:t>
            </a:r>
            <a:r>
              <a:rPr lang="en-US" i="1" dirty="0"/>
              <a:t>s -&gt; t </a:t>
            </a:r>
            <a:r>
              <a:rPr lang="en-US" i="1" dirty="0" err="1"/>
              <a:t>t</a:t>
            </a:r>
            <a:r>
              <a:rPr lang="en-US" i="1" dirty="0"/>
              <a:t> -&gt; l</a:t>
            </a:r>
          </a:p>
          <a:p>
            <a:endParaRPr lang="en-IN"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88024" y="3212976"/>
            <a:ext cx="3793629" cy="24359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0132768"/>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pPr fontAlgn="base"/>
            <a:r>
              <a:rPr lang="en-US" b="1" i="1" dirty="0" smtClean="0"/>
              <a:t>If </a:t>
            </a:r>
            <a:r>
              <a:rPr lang="en-US" b="1" i="1" dirty="0"/>
              <a:t>neither of the above rules is true</a:t>
            </a:r>
            <a:r>
              <a:rPr lang="en-US" i="1" dirty="0"/>
              <a:t>: Form a rectangle with the two letters and take the letters on the horizontal opposite corner of the rectangle</a:t>
            </a:r>
            <a:r>
              <a:rPr lang="en-US" i="1" dirty="0" smtClean="0"/>
              <a:t>.</a:t>
            </a:r>
            <a:endParaRPr lang="en-US" i="1" dirty="0"/>
          </a:p>
          <a:p>
            <a:pPr fontAlgn="base"/>
            <a:r>
              <a:rPr lang="en-US" b="1" i="1" dirty="0"/>
              <a:t>For example:</a:t>
            </a:r>
            <a:r>
              <a:rPr lang="en-US" i="1" dirty="0"/>
              <a:t>  </a:t>
            </a:r>
            <a:br>
              <a:rPr lang="en-US" i="1" dirty="0"/>
            </a:br>
            <a:r>
              <a:rPr lang="en-US" b="1" i="1" dirty="0"/>
              <a:t>Diagraph:</a:t>
            </a:r>
            <a:r>
              <a:rPr lang="en-US" i="1" dirty="0"/>
              <a:t> "</a:t>
            </a:r>
            <a:r>
              <a:rPr lang="en-US" i="1" dirty="0" err="1"/>
              <a:t>nt</a:t>
            </a:r>
            <a:r>
              <a:rPr lang="en-US" i="1" dirty="0"/>
              <a:t>"</a:t>
            </a:r>
            <a:br>
              <a:rPr lang="en-US" i="1" dirty="0"/>
            </a:br>
            <a:r>
              <a:rPr lang="en-US" b="1" i="1" dirty="0"/>
              <a:t>Encrypted Text:</a:t>
            </a:r>
            <a:r>
              <a:rPr lang="en-US" i="1" dirty="0"/>
              <a:t> </a:t>
            </a:r>
            <a:r>
              <a:rPr lang="en-US" i="1" dirty="0" err="1"/>
              <a:t>rq</a:t>
            </a:r>
            <a:r>
              <a:rPr lang="en-US" i="1" dirty="0"/>
              <a:t/>
            </a:r>
            <a:br>
              <a:rPr lang="en-US" i="1" dirty="0"/>
            </a:br>
            <a:r>
              <a:rPr lang="en-US" b="1" i="1" dirty="0"/>
              <a:t>Encryption: </a:t>
            </a:r>
            <a:r>
              <a:rPr lang="en-US" i="1" dirty="0"/>
              <a:t>n -&gt; r t -&gt; q</a:t>
            </a:r>
          </a:p>
          <a:p>
            <a:endParaRPr lang="en-IN"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23273" y="3254970"/>
            <a:ext cx="4117403" cy="2652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28021182"/>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48680"/>
            <a:ext cx="8229600" cy="5577483"/>
          </a:xfrm>
        </p:spPr>
        <p:txBody>
          <a:bodyPr>
            <a:normAutofit fontScale="70000" lnSpcReduction="20000"/>
          </a:bodyPr>
          <a:lstStyle/>
          <a:p>
            <a:pPr fontAlgn="base"/>
            <a:r>
              <a:rPr lang="en-IN" b="1" i="1" dirty="0"/>
              <a:t>For example:</a:t>
            </a:r>
            <a:r>
              <a:rPr lang="en-IN" i="1" dirty="0"/>
              <a:t> </a:t>
            </a:r>
            <a:br>
              <a:rPr lang="en-IN" i="1" dirty="0"/>
            </a:br>
            <a:r>
              <a:rPr lang="en-IN" b="1" i="1" dirty="0"/>
              <a:t>Plain Text:</a:t>
            </a:r>
            <a:r>
              <a:rPr lang="en-IN" i="1" dirty="0"/>
              <a:t> "</a:t>
            </a:r>
            <a:r>
              <a:rPr lang="en-IN" i="1" dirty="0" err="1"/>
              <a:t>instrumentsz</a:t>
            </a:r>
            <a:r>
              <a:rPr lang="en-IN" i="1" dirty="0"/>
              <a:t>"</a:t>
            </a:r>
            <a:br>
              <a:rPr lang="en-IN" i="1" dirty="0"/>
            </a:br>
            <a:r>
              <a:rPr lang="en-IN" b="1" i="1" dirty="0"/>
              <a:t>Encrypted Text:</a:t>
            </a:r>
            <a:r>
              <a:rPr lang="en-IN" i="1" dirty="0"/>
              <a:t> </a:t>
            </a:r>
            <a:r>
              <a:rPr lang="en-IN" i="1" dirty="0" err="1"/>
              <a:t>gatlmzclrqtx</a:t>
            </a:r>
            <a:r>
              <a:rPr lang="en-IN" i="1" dirty="0"/>
              <a:t/>
            </a:r>
            <a:br>
              <a:rPr lang="en-IN" i="1" dirty="0"/>
            </a:br>
            <a:r>
              <a:rPr lang="en-IN" b="1" i="1" dirty="0"/>
              <a:t>Encryption:</a:t>
            </a:r>
            <a:r>
              <a:rPr lang="en-IN" i="1" dirty="0"/>
              <a:t> </a:t>
            </a:r>
            <a:br>
              <a:rPr lang="en-IN" i="1" dirty="0"/>
            </a:br>
            <a:r>
              <a:rPr lang="en-IN" i="1" dirty="0"/>
              <a:t>i -&gt; g</a:t>
            </a:r>
            <a:br>
              <a:rPr lang="en-IN" i="1" dirty="0"/>
            </a:br>
            <a:r>
              <a:rPr lang="en-IN" i="1" dirty="0"/>
              <a:t>n -&gt; a</a:t>
            </a:r>
            <a:br>
              <a:rPr lang="en-IN" i="1" dirty="0"/>
            </a:br>
            <a:r>
              <a:rPr lang="en-IN" i="1" dirty="0"/>
              <a:t>s -&gt; t</a:t>
            </a:r>
            <a:br>
              <a:rPr lang="en-IN" i="1" dirty="0"/>
            </a:br>
            <a:r>
              <a:rPr lang="en-IN" i="1" dirty="0" err="1"/>
              <a:t>t</a:t>
            </a:r>
            <a:r>
              <a:rPr lang="en-IN" i="1" dirty="0"/>
              <a:t> -&gt; l</a:t>
            </a:r>
            <a:br>
              <a:rPr lang="en-IN" i="1" dirty="0"/>
            </a:br>
            <a:r>
              <a:rPr lang="en-IN" i="1" dirty="0"/>
              <a:t>r -&gt; m</a:t>
            </a:r>
            <a:br>
              <a:rPr lang="en-IN" i="1" dirty="0"/>
            </a:br>
            <a:r>
              <a:rPr lang="en-IN" i="1" dirty="0"/>
              <a:t>u -&gt; z</a:t>
            </a:r>
            <a:br>
              <a:rPr lang="en-IN" i="1" dirty="0"/>
            </a:br>
            <a:r>
              <a:rPr lang="en-IN" i="1" dirty="0"/>
              <a:t>m -&gt; c</a:t>
            </a:r>
            <a:br>
              <a:rPr lang="en-IN" i="1" dirty="0"/>
            </a:br>
            <a:r>
              <a:rPr lang="en-IN" i="1" dirty="0"/>
              <a:t>e -&gt; l</a:t>
            </a:r>
            <a:br>
              <a:rPr lang="en-IN" i="1" dirty="0"/>
            </a:br>
            <a:r>
              <a:rPr lang="en-IN" i="1" dirty="0"/>
              <a:t>n -&gt; r</a:t>
            </a:r>
            <a:br>
              <a:rPr lang="en-IN" i="1" dirty="0"/>
            </a:br>
            <a:r>
              <a:rPr lang="en-IN" i="1" dirty="0"/>
              <a:t>t -&gt; q</a:t>
            </a:r>
            <a:br>
              <a:rPr lang="en-IN" i="1" dirty="0"/>
            </a:br>
            <a:r>
              <a:rPr lang="en-IN" i="1" dirty="0"/>
              <a:t>s -&gt; t</a:t>
            </a:r>
            <a:br>
              <a:rPr lang="en-IN" i="1" dirty="0"/>
            </a:br>
            <a:r>
              <a:rPr lang="en-IN" i="1" dirty="0"/>
              <a:t>z -&gt; x</a:t>
            </a:r>
          </a:p>
          <a:p>
            <a:r>
              <a:rPr lang="en-IN" dirty="0"/>
              <a:t/>
            </a:r>
            <a:br>
              <a:rPr lang="en-IN" dirty="0"/>
            </a:br>
            <a:endParaRPr lang="en-IN" dirty="0"/>
          </a:p>
        </p:txBody>
      </p:sp>
      <p:pic>
        <p:nvPicPr>
          <p:cNvPr id="4098" name="Picture 2" descr="Example of encryptio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7704" y="1971270"/>
            <a:ext cx="6910340" cy="34739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01517473"/>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Rules for Decryption</a:t>
            </a:r>
            <a:br>
              <a:rPr lang="en-IN" b="1" dirty="0"/>
            </a:br>
            <a:endParaRPr lang="en-IN" dirty="0"/>
          </a:p>
        </p:txBody>
      </p:sp>
      <p:sp>
        <p:nvSpPr>
          <p:cNvPr id="3" name="Content Placeholder 2"/>
          <p:cNvSpPr>
            <a:spLocks noGrp="1"/>
          </p:cNvSpPr>
          <p:nvPr>
            <p:ph idx="1"/>
          </p:nvPr>
        </p:nvSpPr>
        <p:spPr>
          <a:xfrm>
            <a:off x="457200" y="1052736"/>
            <a:ext cx="8229600" cy="5073427"/>
          </a:xfrm>
        </p:spPr>
        <p:txBody>
          <a:bodyPr>
            <a:normAutofit/>
          </a:bodyPr>
          <a:lstStyle/>
          <a:p>
            <a:r>
              <a:rPr lang="en-US" sz="2400" b="1" i="1" dirty="0"/>
              <a:t>If both the letters are in the same column</a:t>
            </a:r>
            <a:r>
              <a:rPr lang="en-US" sz="2400" i="1" dirty="0"/>
              <a:t>: Take the letter above each one (going back to the bottom if at the top).</a:t>
            </a:r>
            <a:r>
              <a:rPr lang="en-US" sz="2400" dirty="0"/>
              <a:t/>
            </a:r>
            <a:br>
              <a:rPr lang="en-US" sz="2400" dirty="0"/>
            </a:br>
            <a:r>
              <a:rPr lang="en-US" sz="2400" b="1" i="1" dirty="0"/>
              <a:t>For example:</a:t>
            </a:r>
            <a:r>
              <a:rPr lang="en-US" sz="2400" i="1" dirty="0"/>
              <a:t> </a:t>
            </a:r>
            <a:r>
              <a:rPr lang="en-US" sz="2400" dirty="0"/>
              <a:t/>
            </a:r>
            <a:br>
              <a:rPr lang="en-US" sz="2400" dirty="0"/>
            </a:br>
            <a:r>
              <a:rPr lang="en-US" sz="2400" b="1" i="1" dirty="0"/>
              <a:t>Diagraph:</a:t>
            </a:r>
            <a:r>
              <a:rPr lang="en-US" sz="2400" i="1" dirty="0"/>
              <a:t> "cl" </a:t>
            </a:r>
            <a:r>
              <a:rPr lang="en-US" sz="2400" dirty="0"/>
              <a:t/>
            </a:r>
            <a:br>
              <a:rPr lang="en-US" sz="2400" dirty="0"/>
            </a:br>
            <a:r>
              <a:rPr lang="en-US" sz="2400" b="1" i="1" dirty="0"/>
              <a:t>Decrypted Text:</a:t>
            </a:r>
            <a:r>
              <a:rPr lang="en-US" sz="2400" i="1" dirty="0"/>
              <a:t> me</a:t>
            </a:r>
            <a:r>
              <a:rPr lang="en-US" sz="2400" dirty="0"/>
              <a:t/>
            </a:r>
            <a:br>
              <a:rPr lang="en-US" sz="2400" dirty="0"/>
            </a:br>
            <a:r>
              <a:rPr lang="en-US" sz="2400" b="1" i="1" dirty="0"/>
              <a:t>Decryption:</a:t>
            </a:r>
            <a:r>
              <a:rPr lang="en-US" sz="2400" i="1" dirty="0"/>
              <a:t> c -&gt; m l -&gt; </a:t>
            </a:r>
            <a:r>
              <a:rPr lang="en-US" sz="2400" i="1" dirty="0" smtClean="0"/>
              <a:t>e</a:t>
            </a:r>
            <a:endParaRPr lang="en-IN" sz="2400" dirty="0"/>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07904" y="3284984"/>
            <a:ext cx="4657725" cy="300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24308459"/>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US" sz="2400" b="1" i="1" dirty="0"/>
              <a:t>If both the letters are in the same row</a:t>
            </a:r>
            <a:r>
              <a:rPr lang="en-US" sz="2400" i="1" dirty="0"/>
              <a:t>: Take the letter to the left of each one (going back to the rightmost if at the leftmost position).</a:t>
            </a:r>
            <a:r>
              <a:rPr lang="en-US" sz="2400" dirty="0"/>
              <a:t/>
            </a:r>
            <a:br>
              <a:rPr lang="en-US" sz="2400" dirty="0"/>
            </a:br>
            <a:r>
              <a:rPr lang="en-US" sz="2400" b="1" i="1" dirty="0"/>
              <a:t>For example:</a:t>
            </a:r>
            <a:r>
              <a:rPr lang="en-US" sz="2400" i="1" dirty="0"/>
              <a:t> </a:t>
            </a:r>
            <a:r>
              <a:rPr lang="en-US" sz="2400" dirty="0"/>
              <a:t/>
            </a:r>
            <a:br>
              <a:rPr lang="en-US" sz="2400" dirty="0"/>
            </a:br>
            <a:r>
              <a:rPr lang="en-US" sz="2400" b="1" i="1" dirty="0"/>
              <a:t>Diagraph:</a:t>
            </a:r>
            <a:r>
              <a:rPr lang="en-US" sz="2400" i="1" dirty="0"/>
              <a:t> "</a:t>
            </a:r>
            <a:r>
              <a:rPr lang="en-US" sz="2400" i="1" dirty="0" err="1"/>
              <a:t>tl</a:t>
            </a:r>
            <a:r>
              <a:rPr lang="en-US" sz="2400" i="1" dirty="0"/>
              <a:t>" </a:t>
            </a:r>
            <a:r>
              <a:rPr lang="en-US" sz="2400" dirty="0"/>
              <a:t/>
            </a:r>
            <a:br>
              <a:rPr lang="en-US" sz="2400" dirty="0"/>
            </a:br>
            <a:r>
              <a:rPr lang="en-US" sz="2400" b="1" i="1" dirty="0"/>
              <a:t>Decrypted Text:</a:t>
            </a:r>
            <a:r>
              <a:rPr lang="en-US" sz="2400" i="1" dirty="0"/>
              <a:t> </a:t>
            </a:r>
            <a:r>
              <a:rPr lang="en-US" sz="2400" i="1" dirty="0" err="1"/>
              <a:t>st</a:t>
            </a:r>
            <a:r>
              <a:rPr lang="en-US" sz="2400" i="1" dirty="0"/>
              <a:t> </a:t>
            </a:r>
            <a:r>
              <a:rPr lang="en-US" sz="2400" dirty="0"/>
              <a:t/>
            </a:r>
            <a:br>
              <a:rPr lang="en-US" sz="2400" dirty="0"/>
            </a:br>
            <a:r>
              <a:rPr lang="en-US" sz="2400" b="1" i="1" dirty="0"/>
              <a:t>Decryption: </a:t>
            </a:r>
            <a:r>
              <a:rPr lang="en-US" sz="2400" i="1" dirty="0"/>
              <a:t>t -&gt; s l -&gt; t</a:t>
            </a:r>
            <a:endParaRPr lang="en-IN" sz="2400" dirty="0"/>
          </a:p>
        </p:txBody>
      </p:sp>
      <p:pic>
        <p:nvPicPr>
          <p:cNvPr id="6146" name="Picture 2" descr="Rules for Decryption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23928" y="2708920"/>
            <a:ext cx="4657725" cy="2990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95279604"/>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US" sz="2400" b="1" i="1" dirty="0"/>
              <a:t>If neither of the above rules is true</a:t>
            </a:r>
            <a:r>
              <a:rPr lang="en-US" sz="2400" i="1" dirty="0"/>
              <a:t>: Form a rectangle with the two letters and take the letters on the horizontal opposite corner of the rectangle.</a:t>
            </a:r>
            <a:r>
              <a:rPr lang="en-US" sz="2400" dirty="0"/>
              <a:t/>
            </a:r>
            <a:br>
              <a:rPr lang="en-US" sz="2400" dirty="0"/>
            </a:br>
            <a:r>
              <a:rPr lang="en-US" sz="2400" b="1" i="1" dirty="0"/>
              <a:t>For example:</a:t>
            </a:r>
            <a:r>
              <a:rPr lang="en-US" sz="2400" i="1" dirty="0"/>
              <a:t> </a:t>
            </a:r>
            <a:r>
              <a:rPr lang="en-US" sz="2400" dirty="0"/>
              <a:t/>
            </a:r>
            <a:br>
              <a:rPr lang="en-US" sz="2400" dirty="0"/>
            </a:br>
            <a:r>
              <a:rPr lang="en-US" sz="2400" b="1" i="1" dirty="0"/>
              <a:t>Diagraph:</a:t>
            </a:r>
            <a:r>
              <a:rPr lang="en-US" sz="2400" i="1" dirty="0"/>
              <a:t> "</a:t>
            </a:r>
            <a:r>
              <a:rPr lang="en-US" sz="2400" i="1" dirty="0" err="1"/>
              <a:t>rq</a:t>
            </a:r>
            <a:r>
              <a:rPr lang="en-US" sz="2400" i="1" dirty="0"/>
              <a:t>" </a:t>
            </a:r>
            <a:r>
              <a:rPr lang="en-US" sz="2400" dirty="0"/>
              <a:t/>
            </a:r>
            <a:br>
              <a:rPr lang="en-US" sz="2400" dirty="0"/>
            </a:br>
            <a:r>
              <a:rPr lang="en-US" sz="2400" b="1" i="1" dirty="0"/>
              <a:t>Decrypted Text:</a:t>
            </a:r>
            <a:r>
              <a:rPr lang="en-US" sz="2400" i="1" dirty="0"/>
              <a:t> </a:t>
            </a:r>
            <a:r>
              <a:rPr lang="en-US" sz="2400" i="1" dirty="0" err="1"/>
              <a:t>nt</a:t>
            </a:r>
            <a:r>
              <a:rPr lang="en-US" sz="2400" i="1" dirty="0"/>
              <a:t> </a:t>
            </a:r>
            <a:r>
              <a:rPr lang="en-US" sz="2400" dirty="0"/>
              <a:t/>
            </a:r>
            <a:br>
              <a:rPr lang="en-US" sz="2400" dirty="0"/>
            </a:br>
            <a:r>
              <a:rPr lang="en-US" sz="2400" b="1" i="1" dirty="0"/>
              <a:t>Decryption: </a:t>
            </a:r>
            <a:r>
              <a:rPr lang="en-US" sz="2400" i="1" dirty="0"/>
              <a:t>r -&gt; n q -&gt; </a:t>
            </a:r>
            <a:r>
              <a:rPr lang="en-US" sz="2400" i="1" dirty="0" smtClean="0"/>
              <a:t>t</a:t>
            </a:r>
            <a:endParaRPr lang="en-IN" sz="2400" dirty="0"/>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23928" y="3068960"/>
            <a:ext cx="4657725" cy="300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73534973"/>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92500" lnSpcReduction="20000"/>
          </a:bodyPr>
          <a:lstStyle/>
          <a:p>
            <a:r>
              <a:rPr lang="en-IN" b="1" i="1" dirty="0"/>
              <a:t>For example:</a:t>
            </a:r>
            <a:r>
              <a:rPr lang="en-IN" i="1" dirty="0"/>
              <a:t> </a:t>
            </a:r>
            <a:r>
              <a:rPr lang="en-IN" dirty="0"/>
              <a:t/>
            </a:r>
            <a:br>
              <a:rPr lang="en-IN" dirty="0"/>
            </a:br>
            <a:r>
              <a:rPr lang="en-IN" b="1" i="1" dirty="0"/>
              <a:t>Plain Text:</a:t>
            </a:r>
            <a:r>
              <a:rPr lang="en-IN" i="1" dirty="0"/>
              <a:t> "</a:t>
            </a:r>
            <a:r>
              <a:rPr lang="en-IN" i="1" dirty="0" err="1"/>
              <a:t>gatlmzclrqtx</a:t>
            </a:r>
            <a:r>
              <a:rPr lang="en-IN" i="1" dirty="0"/>
              <a:t>"</a:t>
            </a:r>
            <a:r>
              <a:rPr lang="en-IN" dirty="0"/>
              <a:t/>
            </a:r>
            <a:br>
              <a:rPr lang="en-IN" dirty="0"/>
            </a:br>
            <a:r>
              <a:rPr lang="en-IN" b="1" i="1" dirty="0"/>
              <a:t>Decrypted Text:</a:t>
            </a:r>
            <a:r>
              <a:rPr lang="en-IN" i="1" dirty="0"/>
              <a:t> </a:t>
            </a:r>
            <a:r>
              <a:rPr lang="en-IN" i="1" dirty="0" err="1"/>
              <a:t>instrumentsz</a:t>
            </a:r>
            <a:r>
              <a:rPr lang="en-IN" dirty="0"/>
              <a:t/>
            </a:r>
            <a:br>
              <a:rPr lang="en-IN" dirty="0"/>
            </a:br>
            <a:r>
              <a:rPr lang="en-IN" b="1" i="1" dirty="0"/>
              <a:t>Decryption:</a:t>
            </a:r>
            <a:r>
              <a:rPr lang="en-IN" i="1" dirty="0"/>
              <a:t> </a:t>
            </a:r>
            <a:r>
              <a:rPr lang="en-IN" dirty="0"/>
              <a:t/>
            </a:r>
            <a:br>
              <a:rPr lang="en-IN" dirty="0"/>
            </a:br>
            <a:r>
              <a:rPr lang="en-IN" i="1" dirty="0"/>
              <a:t>(red)-&gt; (green)</a:t>
            </a:r>
            <a:r>
              <a:rPr lang="en-IN" dirty="0"/>
              <a:t/>
            </a:r>
            <a:br>
              <a:rPr lang="en-IN" dirty="0"/>
            </a:br>
            <a:r>
              <a:rPr lang="en-IN" i="1" dirty="0" err="1"/>
              <a:t>ga</a:t>
            </a:r>
            <a:r>
              <a:rPr lang="en-IN" i="1" dirty="0"/>
              <a:t> -&gt; in</a:t>
            </a:r>
            <a:r>
              <a:rPr lang="en-IN" dirty="0"/>
              <a:t/>
            </a:r>
            <a:br>
              <a:rPr lang="en-IN" dirty="0"/>
            </a:br>
            <a:r>
              <a:rPr lang="en-IN" i="1" dirty="0" err="1"/>
              <a:t>tl</a:t>
            </a:r>
            <a:r>
              <a:rPr lang="en-IN" i="1" dirty="0"/>
              <a:t> -&gt; </a:t>
            </a:r>
            <a:r>
              <a:rPr lang="en-IN" i="1" dirty="0" err="1"/>
              <a:t>st</a:t>
            </a:r>
            <a:r>
              <a:rPr lang="en-IN" dirty="0"/>
              <a:t/>
            </a:r>
            <a:br>
              <a:rPr lang="en-IN" dirty="0"/>
            </a:br>
            <a:r>
              <a:rPr lang="en-IN" i="1" dirty="0" err="1"/>
              <a:t>mz</a:t>
            </a:r>
            <a:r>
              <a:rPr lang="en-IN" i="1" dirty="0"/>
              <a:t> -&gt; </a:t>
            </a:r>
            <a:r>
              <a:rPr lang="en-IN" i="1" dirty="0" err="1"/>
              <a:t>ru</a:t>
            </a:r>
            <a:r>
              <a:rPr lang="en-IN" dirty="0"/>
              <a:t/>
            </a:r>
            <a:br>
              <a:rPr lang="en-IN" dirty="0"/>
            </a:br>
            <a:r>
              <a:rPr lang="en-IN" i="1" dirty="0"/>
              <a:t>cl -&gt; me</a:t>
            </a:r>
            <a:r>
              <a:rPr lang="en-IN" dirty="0"/>
              <a:t/>
            </a:r>
            <a:br>
              <a:rPr lang="en-IN" dirty="0"/>
            </a:br>
            <a:r>
              <a:rPr lang="en-IN" i="1" dirty="0" err="1"/>
              <a:t>rq</a:t>
            </a:r>
            <a:r>
              <a:rPr lang="en-IN" i="1" dirty="0"/>
              <a:t> -&gt; </a:t>
            </a:r>
            <a:r>
              <a:rPr lang="en-IN" i="1" dirty="0" err="1" smtClean="0"/>
              <a:t>nt</a:t>
            </a:r>
            <a:r>
              <a:rPr lang="en-IN" dirty="0"/>
              <a:t/>
            </a:r>
            <a:br>
              <a:rPr lang="en-IN" dirty="0"/>
            </a:br>
            <a:r>
              <a:rPr lang="en-IN" i="1" dirty="0" err="1"/>
              <a:t>tx</a:t>
            </a:r>
            <a:r>
              <a:rPr lang="en-IN" i="1" dirty="0"/>
              <a:t> -&gt; </a:t>
            </a:r>
            <a:r>
              <a:rPr lang="en-IN" i="1" dirty="0" err="1"/>
              <a:t>sz</a:t>
            </a:r>
            <a:r>
              <a:rPr lang="en-IN" i="1" dirty="0"/>
              <a:t> </a:t>
            </a:r>
            <a:endParaRPr lang="en-IN" dirty="0"/>
          </a:p>
        </p:txBody>
      </p:sp>
      <p:pic>
        <p:nvPicPr>
          <p:cNvPr id="819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55776" y="3501008"/>
            <a:ext cx="6201587" cy="2520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10891146"/>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Hill Cipher</a:t>
            </a:r>
            <a:endParaRPr lang="en-IN" dirty="0"/>
          </a:p>
        </p:txBody>
      </p:sp>
      <p:sp>
        <p:nvSpPr>
          <p:cNvPr id="3" name="Content Placeholder 2"/>
          <p:cNvSpPr>
            <a:spLocks noGrp="1"/>
          </p:cNvSpPr>
          <p:nvPr>
            <p:ph idx="1"/>
          </p:nvPr>
        </p:nvSpPr>
        <p:spPr/>
        <p:txBody>
          <a:bodyPr>
            <a:normAutofit fontScale="70000" lnSpcReduction="20000"/>
          </a:bodyPr>
          <a:lstStyle/>
          <a:p>
            <a:pPr algn="just"/>
            <a:r>
              <a:rPr lang="en-US" dirty="0"/>
              <a:t>Hill cipher is a </a:t>
            </a:r>
            <a:r>
              <a:rPr lang="en-US" dirty="0" err="1"/>
              <a:t>polygraphic</a:t>
            </a:r>
            <a:r>
              <a:rPr lang="en-US" dirty="0"/>
              <a:t> substitution cipher based on linear </a:t>
            </a:r>
            <a:r>
              <a:rPr lang="en-US" dirty="0" err="1"/>
              <a:t>algebra.Each</a:t>
            </a:r>
            <a:r>
              <a:rPr lang="en-US" dirty="0"/>
              <a:t> letter is represented by a number modulo 26. </a:t>
            </a:r>
            <a:endParaRPr lang="en-US" dirty="0" smtClean="0"/>
          </a:p>
          <a:p>
            <a:pPr algn="just"/>
            <a:r>
              <a:rPr lang="en-US" dirty="0" smtClean="0"/>
              <a:t>Often </a:t>
            </a:r>
            <a:r>
              <a:rPr lang="en-US" dirty="0"/>
              <a:t>the simple scheme A = 0, B = 1, ..., Z = 25 is used, but this is not an essential feature of the cipher. </a:t>
            </a:r>
            <a:endParaRPr lang="en-US" dirty="0" smtClean="0"/>
          </a:p>
          <a:p>
            <a:pPr algn="just"/>
            <a:r>
              <a:rPr lang="en-US" dirty="0" smtClean="0"/>
              <a:t>To </a:t>
            </a:r>
            <a:r>
              <a:rPr lang="en-US" dirty="0"/>
              <a:t>encrypt a message, each block of n letters (considered as an n-component vector) is multiplied by an invertible n × n matrix, against modulus 26. </a:t>
            </a:r>
            <a:endParaRPr lang="en-US" dirty="0" smtClean="0"/>
          </a:p>
          <a:p>
            <a:pPr algn="just"/>
            <a:r>
              <a:rPr lang="en-US" dirty="0" smtClean="0"/>
              <a:t>To </a:t>
            </a:r>
            <a:r>
              <a:rPr lang="en-US" dirty="0"/>
              <a:t>decrypt the message, each block is multiplied by the inverse of the matrix used for encryption.</a:t>
            </a:r>
            <a:r>
              <a:rPr lang="en-US" dirty="0"/>
              <a:t/>
            </a:r>
            <a:br>
              <a:rPr lang="en-US" dirty="0"/>
            </a:br>
            <a:endParaRPr lang="en-US" dirty="0" smtClean="0"/>
          </a:p>
          <a:p>
            <a:pPr algn="just"/>
            <a:r>
              <a:rPr lang="en-US" dirty="0" smtClean="0"/>
              <a:t>The </a:t>
            </a:r>
            <a:r>
              <a:rPr lang="en-US" dirty="0"/>
              <a:t>matrix used for encryption is the cipher key, and it should be chosen randomly from the set of invertible n × n matrices (modulo 26).</a:t>
            </a:r>
            <a:endParaRPr lang="en-IN" dirty="0"/>
          </a:p>
        </p:txBody>
      </p:sp>
    </p:spTree>
    <p:extLst>
      <p:ext uri="{BB962C8B-B14F-4D97-AF65-F5344CB8AC3E}">
        <p14:creationId xmlns:p14="http://schemas.microsoft.com/office/powerpoint/2010/main" val="3388720628"/>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Example</a:t>
            </a:r>
            <a:endParaRPr lang="en-IN" dirty="0"/>
          </a:p>
        </p:txBody>
      </p:sp>
      <p:sp>
        <p:nvSpPr>
          <p:cNvPr id="3" name="Content Placeholder 2"/>
          <p:cNvSpPr>
            <a:spLocks noGrp="1"/>
          </p:cNvSpPr>
          <p:nvPr>
            <p:ph idx="1"/>
          </p:nvPr>
        </p:nvSpPr>
        <p:spPr/>
        <p:txBody>
          <a:bodyPr/>
          <a:lstStyle/>
          <a:p>
            <a:r>
              <a:rPr lang="en-US" dirty="0"/>
              <a:t>Input : Plaintext: ACT </a:t>
            </a:r>
            <a:endParaRPr lang="en-US" dirty="0" smtClean="0"/>
          </a:p>
          <a:p>
            <a:r>
              <a:rPr lang="en-US" dirty="0" smtClean="0"/>
              <a:t>Key</a:t>
            </a:r>
            <a:r>
              <a:rPr lang="en-US" dirty="0"/>
              <a:t>: GYBNQKURP </a:t>
            </a:r>
            <a:endParaRPr lang="en-US" dirty="0" smtClean="0"/>
          </a:p>
          <a:p>
            <a:r>
              <a:rPr lang="en-US" dirty="0" smtClean="0"/>
              <a:t>Output </a:t>
            </a:r>
            <a:r>
              <a:rPr lang="en-US" dirty="0"/>
              <a:t>: </a:t>
            </a:r>
            <a:r>
              <a:rPr lang="en-US" dirty="0" err="1"/>
              <a:t>Ciphertext</a:t>
            </a:r>
            <a:r>
              <a:rPr lang="en-US" dirty="0"/>
              <a:t>: POH</a:t>
            </a:r>
            <a:endParaRPr lang="en-IN" dirty="0"/>
          </a:p>
        </p:txBody>
      </p:sp>
    </p:spTree>
    <p:extLst>
      <p:ext uri="{BB962C8B-B14F-4D97-AF65-F5344CB8AC3E}">
        <p14:creationId xmlns:p14="http://schemas.microsoft.com/office/powerpoint/2010/main" val="2685635736"/>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pPr fontAlgn="base"/>
            <a:r>
              <a:rPr lang="en-US" b="1" dirty="0"/>
              <a:t>Encryption</a:t>
            </a:r>
            <a:endParaRPr lang="en-US" dirty="0"/>
          </a:p>
          <a:p>
            <a:pPr fontAlgn="base"/>
            <a:r>
              <a:rPr lang="en-US" sz="2800" dirty="0" smtClean="0"/>
              <a:t>We</a:t>
            </a:r>
            <a:r>
              <a:rPr lang="en-US" dirty="0" smtClean="0"/>
              <a:t> </a:t>
            </a:r>
            <a:r>
              <a:rPr lang="en-US" sz="2800" dirty="0" smtClean="0"/>
              <a:t>have </a:t>
            </a:r>
            <a:r>
              <a:rPr lang="en-US" sz="2800" dirty="0"/>
              <a:t>to encrypt the message 'ACT' (n=3).The key is 'GYBNQKURP' which can be written as the </a:t>
            </a:r>
            <a:r>
              <a:rPr lang="en-US" sz="2800" dirty="0" err="1"/>
              <a:t>nxn</a:t>
            </a:r>
            <a:r>
              <a:rPr lang="en-US" sz="2800" dirty="0"/>
              <a:t> matrix: </a:t>
            </a:r>
            <a:br>
              <a:rPr lang="en-US" sz="2800" dirty="0"/>
            </a:br>
            <a:r>
              <a:rPr lang="en-US" dirty="0"/>
              <a:t> </a:t>
            </a:r>
          </a:p>
          <a:p>
            <a:pPr marL="0" indent="0">
              <a:buNone/>
            </a:pPr>
            <a:endParaRPr lang="en-US" dirty="0" smtClean="0"/>
          </a:p>
          <a:p>
            <a:pPr marL="0" indent="0">
              <a:buNone/>
            </a:pPr>
            <a:endParaRPr lang="en-US" sz="2400" dirty="0" smtClean="0"/>
          </a:p>
          <a:p>
            <a:pPr marL="0" indent="0">
              <a:buNone/>
            </a:pPr>
            <a:r>
              <a:rPr lang="en-US" sz="2400" dirty="0" smtClean="0"/>
              <a:t>The </a:t>
            </a:r>
            <a:r>
              <a:rPr lang="en-US" sz="2400" dirty="0"/>
              <a:t>message 'ACT' is written as vector</a:t>
            </a:r>
            <a:r>
              <a:rPr lang="en-US" sz="2400" dirty="0" smtClean="0"/>
              <a:t>:  </a:t>
            </a:r>
            <a:r>
              <a:rPr lang="en-US" sz="2400" dirty="0"/>
              <a:t/>
            </a:r>
            <a:br>
              <a:rPr lang="en-US" sz="2400" dirty="0"/>
            </a:br>
            <a:endParaRPr lang="en-IN" sz="2400" dirty="0"/>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79712" y="3068960"/>
            <a:ext cx="2047875" cy="1809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21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24128" y="4468813"/>
            <a:ext cx="876300" cy="166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93069901"/>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dirty="0"/>
              <a:t>The enciphered vector is given as: </a:t>
            </a:r>
            <a:endParaRPr lang="en-US" dirty="0" smtClean="0"/>
          </a:p>
          <a:p>
            <a:endParaRPr lang="en-IN" dirty="0"/>
          </a:p>
        </p:txBody>
      </p:sp>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76338" y="2635250"/>
            <a:ext cx="6791325" cy="2000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2051720" y="4635500"/>
            <a:ext cx="4078745" cy="369332"/>
          </a:xfrm>
          <a:prstGeom prst="rect">
            <a:avLst/>
          </a:prstGeom>
        </p:spPr>
        <p:txBody>
          <a:bodyPr wrap="none">
            <a:spAutoFit/>
          </a:bodyPr>
          <a:lstStyle/>
          <a:p>
            <a:r>
              <a:rPr lang="en-US" dirty="0"/>
              <a:t>which corresponds to </a:t>
            </a:r>
            <a:r>
              <a:rPr lang="en-US" dirty="0" err="1"/>
              <a:t>ciphertext</a:t>
            </a:r>
            <a:r>
              <a:rPr lang="en-US" dirty="0"/>
              <a:t> of 'POH' </a:t>
            </a:r>
            <a:endParaRPr lang="en-IN" dirty="0"/>
          </a:p>
        </p:txBody>
      </p:sp>
    </p:spTree>
    <p:extLst>
      <p:ext uri="{BB962C8B-B14F-4D97-AF65-F5344CB8AC3E}">
        <p14:creationId xmlns:p14="http://schemas.microsoft.com/office/powerpoint/2010/main" val="3416611206"/>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pPr fontAlgn="base"/>
            <a:r>
              <a:rPr lang="en-US" b="1" dirty="0"/>
              <a:t>Decryption</a:t>
            </a:r>
            <a:endParaRPr lang="en-US" dirty="0"/>
          </a:p>
          <a:p>
            <a:pPr algn="just" fontAlgn="base"/>
            <a:r>
              <a:rPr lang="en-US" sz="2400" dirty="0" smtClean="0"/>
              <a:t>To </a:t>
            </a:r>
            <a:r>
              <a:rPr lang="en-US" sz="2400" dirty="0"/>
              <a:t>decrypt the message, we turn the </a:t>
            </a:r>
            <a:r>
              <a:rPr lang="en-US" sz="2400" dirty="0" err="1"/>
              <a:t>ciphertext</a:t>
            </a:r>
            <a:r>
              <a:rPr lang="en-US" sz="2400" dirty="0"/>
              <a:t> back into a vector, then simply multiply by the inverse matrix of the key matrix (IFKVIVVMI in letters</a:t>
            </a:r>
            <a:r>
              <a:rPr lang="en-US" sz="2400" dirty="0" smtClean="0"/>
              <a:t>).</a:t>
            </a:r>
          </a:p>
          <a:p>
            <a:pPr algn="just" fontAlgn="base"/>
            <a:r>
              <a:rPr lang="en-US" sz="2400" dirty="0" smtClean="0"/>
              <a:t>The </a:t>
            </a:r>
            <a:r>
              <a:rPr lang="en-US" sz="2400" dirty="0"/>
              <a:t>inverse of the matrix used in the previous example is: </a:t>
            </a:r>
          </a:p>
          <a:p>
            <a:endParaRPr lang="en-IN" dirty="0"/>
          </a:p>
        </p:txBody>
      </p:sp>
      <p:pic>
        <p:nvPicPr>
          <p:cNvPr id="112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7624" y="4005064"/>
            <a:ext cx="6477000" cy="2019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72326960"/>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dirty="0"/>
              <a:t>For the previous </a:t>
            </a:r>
            <a:r>
              <a:rPr lang="en-US" dirty="0" err="1"/>
              <a:t>Ciphertext</a:t>
            </a:r>
            <a:r>
              <a:rPr lang="en-US" dirty="0"/>
              <a:t> 'POH</a:t>
            </a:r>
            <a:r>
              <a:rPr lang="en-US" dirty="0" smtClean="0"/>
              <a:t>':</a:t>
            </a:r>
          </a:p>
          <a:p>
            <a:endParaRPr lang="en-IN" dirty="0"/>
          </a:p>
        </p:txBody>
      </p:sp>
      <p:pic>
        <p:nvPicPr>
          <p:cNvPr id="122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2500" y="2625725"/>
            <a:ext cx="7239000" cy="2019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1187624" y="4365104"/>
            <a:ext cx="6048672" cy="1015663"/>
          </a:xfrm>
          <a:prstGeom prst="rect">
            <a:avLst/>
          </a:prstGeom>
        </p:spPr>
        <p:txBody>
          <a:bodyPr wrap="square">
            <a:spAutoFit/>
          </a:bodyPr>
          <a:lstStyle/>
          <a:p>
            <a:r>
              <a:rPr lang="en-US" sz="2000" dirty="0"/>
              <a:t>which gives us back 'ACT'. </a:t>
            </a:r>
            <a:r>
              <a:rPr lang="en-US" sz="2000" dirty="0"/>
              <a:t/>
            </a:r>
            <a:br>
              <a:rPr lang="en-US" sz="2000" dirty="0"/>
            </a:br>
            <a:r>
              <a:rPr lang="en-US" sz="2000" dirty="0"/>
              <a:t>Assume that all the alphabets are in upper case. </a:t>
            </a:r>
            <a:r>
              <a:rPr lang="en-US" sz="2000" dirty="0"/>
              <a:t/>
            </a:r>
            <a:br>
              <a:rPr lang="en-US" sz="2000" dirty="0"/>
            </a:br>
            <a:r>
              <a:rPr lang="en-US" sz="2000" dirty="0"/>
              <a:t>Below is the implementation of the above idea for n=3.</a:t>
            </a:r>
            <a:endParaRPr lang="en-IN" sz="2000" dirty="0"/>
          </a:p>
        </p:txBody>
      </p:sp>
    </p:spTree>
    <p:extLst>
      <p:ext uri="{BB962C8B-B14F-4D97-AF65-F5344CB8AC3E}">
        <p14:creationId xmlns:p14="http://schemas.microsoft.com/office/powerpoint/2010/main" val="672355824"/>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One Time Pad</a:t>
            </a:r>
            <a:endParaRPr lang="en-IN" dirty="0"/>
          </a:p>
        </p:txBody>
      </p:sp>
      <p:sp>
        <p:nvSpPr>
          <p:cNvPr id="3" name="Content Placeholder 2"/>
          <p:cNvSpPr>
            <a:spLocks noGrp="1"/>
          </p:cNvSpPr>
          <p:nvPr>
            <p:ph idx="1"/>
          </p:nvPr>
        </p:nvSpPr>
        <p:spPr/>
        <p:txBody>
          <a:bodyPr/>
          <a:lstStyle/>
          <a:p>
            <a:pPr marL="0" indent="0" fontAlgn="base">
              <a:buNone/>
            </a:pPr>
            <a:r>
              <a:rPr lang="en-US" dirty="0"/>
              <a:t>The two requirements for the One-Time pad </a:t>
            </a:r>
            <a:r>
              <a:rPr lang="en-US" dirty="0" smtClean="0"/>
              <a:t>are:</a:t>
            </a:r>
            <a:endParaRPr lang="en-US" dirty="0"/>
          </a:p>
          <a:p>
            <a:pPr fontAlgn="base"/>
            <a:r>
              <a:rPr lang="en-US" dirty="0"/>
              <a:t>The key should be</a:t>
            </a:r>
            <a:r>
              <a:rPr lang="en-US" b="1" dirty="0"/>
              <a:t> randomly generated as long as the size of the message</a:t>
            </a:r>
            <a:r>
              <a:rPr lang="en-US" dirty="0"/>
              <a:t>.</a:t>
            </a:r>
          </a:p>
          <a:p>
            <a:pPr fontAlgn="base"/>
            <a:r>
              <a:rPr lang="en-US" dirty="0"/>
              <a:t>The key is to be used to encrypt and decrypt </a:t>
            </a:r>
            <a:r>
              <a:rPr lang="en-US" b="1" dirty="0"/>
              <a:t>a single message</a:t>
            </a:r>
            <a:r>
              <a:rPr lang="en-US" dirty="0"/>
              <a:t>, and </a:t>
            </a:r>
            <a:r>
              <a:rPr lang="en-US" b="1" dirty="0"/>
              <a:t>then it is discarded</a:t>
            </a:r>
            <a:r>
              <a:rPr lang="en-US" dirty="0"/>
              <a:t>.</a:t>
            </a:r>
          </a:p>
          <a:p>
            <a:endParaRPr lang="en-IN" dirty="0"/>
          </a:p>
        </p:txBody>
      </p:sp>
    </p:spTree>
    <p:extLst>
      <p:ext uri="{BB962C8B-B14F-4D97-AF65-F5344CB8AC3E}">
        <p14:creationId xmlns:p14="http://schemas.microsoft.com/office/powerpoint/2010/main" val="3955833104"/>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27584" y="506409"/>
            <a:ext cx="7017111" cy="13208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4"/>
          <p:cNvSpPr/>
          <p:nvPr/>
        </p:nvSpPr>
        <p:spPr>
          <a:xfrm>
            <a:off x="683568" y="2200682"/>
            <a:ext cx="7416824" cy="5078313"/>
          </a:xfrm>
          <a:prstGeom prst="rect">
            <a:avLst/>
          </a:prstGeom>
        </p:spPr>
        <p:txBody>
          <a:bodyPr wrap="square">
            <a:spAutoFit/>
          </a:bodyPr>
          <a:lstStyle/>
          <a:p>
            <a:pPr fontAlgn="base"/>
            <a:r>
              <a:rPr lang="en-IN" b="1" i="1" dirty="0"/>
              <a:t>Input: </a:t>
            </a:r>
            <a:r>
              <a:rPr lang="en-IN" i="1" dirty="0"/>
              <a:t>Message = HELLO, </a:t>
            </a:r>
            <a:endParaRPr lang="en-IN" i="1" dirty="0" smtClean="0"/>
          </a:p>
          <a:p>
            <a:pPr fontAlgn="base"/>
            <a:r>
              <a:rPr lang="en-IN" i="1" dirty="0" smtClean="0"/>
              <a:t>Key </a:t>
            </a:r>
            <a:r>
              <a:rPr lang="en-IN" i="1" dirty="0"/>
              <a:t>= MONEY </a:t>
            </a:r>
            <a:endParaRPr lang="en-IN" i="1" dirty="0" smtClean="0"/>
          </a:p>
          <a:p>
            <a:pPr fontAlgn="base"/>
            <a:r>
              <a:rPr lang="en-IN" b="1" i="1" dirty="0" smtClean="0"/>
              <a:t>Output</a:t>
            </a:r>
            <a:r>
              <a:rPr lang="en-IN" b="1" i="1" dirty="0"/>
              <a:t>:</a:t>
            </a:r>
            <a:r>
              <a:rPr lang="en-IN" i="1" dirty="0"/>
              <a:t> Cipher - TSYPM, </a:t>
            </a:r>
            <a:endParaRPr lang="en-IN" i="1" dirty="0" smtClean="0"/>
          </a:p>
          <a:p>
            <a:pPr fontAlgn="base"/>
            <a:endParaRPr lang="en-IN" i="1" dirty="0"/>
          </a:p>
          <a:p>
            <a:pPr fontAlgn="base"/>
            <a:r>
              <a:rPr lang="en-IN" i="1" dirty="0" smtClean="0"/>
              <a:t>Message </a:t>
            </a:r>
            <a:r>
              <a:rPr lang="en-IN" i="1" dirty="0"/>
              <a:t>- HELLO </a:t>
            </a:r>
            <a:endParaRPr lang="en-IN" i="1" dirty="0" smtClean="0"/>
          </a:p>
          <a:p>
            <a:pPr fontAlgn="base"/>
            <a:endParaRPr lang="en-IN" b="1" i="1" dirty="0"/>
          </a:p>
          <a:p>
            <a:pPr fontAlgn="base"/>
            <a:r>
              <a:rPr lang="en-IN" b="1" i="1" dirty="0" smtClean="0"/>
              <a:t>Explanation</a:t>
            </a:r>
            <a:r>
              <a:rPr lang="en-IN" b="1" i="1" dirty="0"/>
              <a:t>:</a:t>
            </a:r>
            <a:r>
              <a:rPr lang="en-IN" i="1" dirty="0"/>
              <a:t>     Part 1: Plain text to </a:t>
            </a:r>
            <a:r>
              <a:rPr lang="en-IN" i="1" dirty="0" err="1"/>
              <a:t>Ciphertext</a:t>
            </a:r>
            <a:r>
              <a:rPr lang="en-IN" i="1" dirty="0"/>
              <a:t>         </a:t>
            </a:r>
            <a:endParaRPr lang="en-IN" i="1" dirty="0" smtClean="0"/>
          </a:p>
          <a:p>
            <a:pPr fontAlgn="base"/>
            <a:r>
              <a:rPr lang="en-IN" i="1" dirty="0" smtClean="0"/>
              <a:t>Plain </a:t>
            </a:r>
            <a:r>
              <a:rPr lang="en-IN" i="1" dirty="0"/>
              <a:t>text — H E L </a:t>
            </a:r>
            <a:r>
              <a:rPr lang="en-IN" i="1" dirty="0" err="1"/>
              <a:t>L</a:t>
            </a:r>
            <a:r>
              <a:rPr lang="en-IN" i="1" dirty="0"/>
              <a:t> O ? 7 4 11 11 14         </a:t>
            </a:r>
            <a:endParaRPr lang="en-IN" i="1" dirty="0" smtClean="0"/>
          </a:p>
          <a:p>
            <a:pPr fontAlgn="base"/>
            <a:r>
              <a:rPr lang="en-IN" i="1" dirty="0" smtClean="0"/>
              <a:t>Key </a:t>
            </a:r>
            <a:r>
              <a:rPr lang="en-IN" i="1" dirty="0"/>
              <a:t>— M O N E Y ? 12 14 13 4 24        </a:t>
            </a:r>
            <a:endParaRPr lang="en-IN" i="1" dirty="0" smtClean="0"/>
          </a:p>
          <a:p>
            <a:pPr fontAlgn="base"/>
            <a:r>
              <a:rPr lang="en-IN" i="1" dirty="0"/>
              <a:t> Plain text + key ? 19 18 24 15 38      </a:t>
            </a:r>
            <a:endParaRPr lang="en-IN" i="1" dirty="0" smtClean="0"/>
          </a:p>
          <a:p>
            <a:pPr fontAlgn="base"/>
            <a:r>
              <a:rPr lang="en-IN" b="1" i="1" dirty="0" smtClean="0"/>
              <a:t>Cipher </a:t>
            </a:r>
            <a:r>
              <a:rPr lang="en-IN" b="1" i="1" dirty="0"/>
              <a:t>Text ? T S Y P M</a:t>
            </a:r>
            <a:r>
              <a:rPr lang="en-IN" i="1" dirty="0"/>
              <a:t>     </a:t>
            </a:r>
            <a:endParaRPr lang="en-IN" i="1" dirty="0" smtClean="0"/>
          </a:p>
          <a:p>
            <a:pPr fontAlgn="base"/>
            <a:r>
              <a:rPr lang="en-IN" i="1" dirty="0" smtClean="0"/>
              <a:t>Part </a:t>
            </a:r>
            <a:r>
              <a:rPr lang="en-IN" i="1" dirty="0"/>
              <a:t>2: </a:t>
            </a:r>
            <a:r>
              <a:rPr lang="en-IN" i="1" dirty="0" err="1"/>
              <a:t>Ciphertext</a:t>
            </a:r>
            <a:r>
              <a:rPr lang="en-IN" i="1" dirty="0"/>
              <a:t> to Message        </a:t>
            </a:r>
            <a:endParaRPr lang="en-IN" i="1" dirty="0" smtClean="0"/>
          </a:p>
          <a:p>
            <a:pPr fontAlgn="base"/>
            <a:r>
              <a:rPr lang="en-IN" i="1" dirty="0"/>
              <a:t> Cipher Text — T S Y P M ? 19 18 24 15 12        </a:t>
            </a:r>
            <a:endParaRPr lang="en-IN" i="1" dirty="0" smtClean="0"/>
          </a:p>
          <a:p>
            <a:pPr fontAlgn="base"/>
            <a:r>
              <a:rPr lang="en-IN" i="1" dirty="0"/>
              <a:t> Key — M O N E Y? 12 14 13 4 24        </a:t>
            </a:r>
            <a:endParaRPr lang="en-IN" i="1" dirty="0" smtClean="0"/>
          </a:p>
          <a:p>
            <a:pPr fontAlgn="base"/>
            <a:r>
              <a:rPr lang="en-IN" i="1" dirty="0"/>
              <a:t> Cipher text - key ? 7 4 11 11 -12 ? 7 4 11 11 14         </a:t>
            </a:r>
            <a:endParaRPr lang="en-IN" i="1" dirty="0" smtClean="0"/>
          </a:p>
          <a:p>
            <a:pPr fontAlgn="base"/>
            <a:r>
              <a:rPr lang="en-IN" b="1" i="1" dirty="0" smtClean="0"/>
              <a:t>Message </a:t>
            </a:r>
            <a:r>
              <a:rPr lang="en-IN" b="1" i="1" dirty="0"/>
              <a:t>? H E L </a:t>
            </a:r>
            <a:r>
              <a:rPr lang="en-IN" b="1" i="1" dirty="0" err="1"/>
              <a:t>L</a:t>
            </a:r>
            <a:r>
              <a:rPr lang="en-IN" b="1" i="1" dirty="0"/>
              <a:t> </a:t>
            </a:r>
            <a:r>
              <a:rPr lang="en-IN" b="1" i="1" dirty="0" smtClean="0"/>
              <a:t>O</a:t>
            </a:r>
            <a:endParaRPr lang="en-IN" i="1" dirty="0"/>
          </a:p>
          <a:p>
            <a:r>
              <a:rPr lang="en-IN" dirty="0"/>
              <a:t/>
            </a:r>
            <a:br>
              <a:rPr lang="en-IN" dirty="0"/>
            </a:br>
            <a:endParaRPr lang="en-IN" dirty="0"/>
          </a:p>
        </p:txBody>
      </p:sp>
    </p:spTree>
    <p:extLst>
      <p:ext uri="{BB962C8B-B14F-4D97-AF65-F5344CB8AC3E}">
        <p14:creationId xmlns:p14="http://schemas.microsoft.com/office/powerpoint/2010/main" val="346451471"/>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Transposition Cipher</a:t>
            </a:r>
            <a:endParaRPr lang="en-IN" dirty="0"/>
          </a:p>
        </p:txBody>
      </p:sp>
      <p:sp>
        <p:nvSpPr>
          <p:cNvPr id="3" name="Content Placeholder 2"/>
          <p:cNvSpPr>
            <a:spLocks noGrp="1"/>
          </p:cNvSpPr>
          <p:nvPr>
            <p:ph idx="1"/>
          </p:nvPr>
        </p:nvSpPr>
        <p:spPr/>
        <p:txBody>
          <a:bodyPr>
            <a:normAutofit fontScale="92500" lnSpcReduction="20000"/>
          </a:bodyPr>
          <a:lstStyle/>
          <a:p>
            <a:pPr algn="just"/>
            <a:r>
              <a:rPr lang="en-US" dirty="0"/>
              <a:t>The Transposition Cipher Technique is an encryption method used to encrypt a message or information. </a:t>
            </a:r>
            <a:endParaRPr lang="en-US" dirty="0" smtClean="0"/>
          </a:p>
          <a:p>
            <a:pPr algn="just"/>
            <a:r>
              <a:rPr lang="en-US" dirty="0" smtClean="0"/>
              <a:t>This </a:t>
            </a:r>
            <a:r>
              <a:rPr lang="en-US" dirty="0"/>
              <a:t>encryption method is done by playing with the position of letters of the plain text. </a:t>
            </a:r>
            <a:endParaRPr lang="en-US" dirty="0" smtClean="0"/>
          </a:p>
          <a:p>
            <a:pPr algn="just"/>
            <a:r>
              <a:rPr lang="en-US" dirty="0" smtClean="0"/>
              <a:t>The </a:t>
            </a:r>
            <a:r>
              <a:rPr lang="en-US" dirty="0"/>
              <a:t>positions of the characters present in the plaintext are rearranged or shifted to form the </a:t>
            </a:r>
            <a:r>
              <a:rPr lang="en-US" dirty="0" err="1"/>
              <a:t>ciphertext</a:t>
            </a:r>
            <a:r>
              <a:rPr lang="en-US" dirty="0"/>
              <a:t>. </a:t>
            </a:r>
            <a:endParaRPr lang="en-US" dirty="0" smtClean="0"/>
          </a:p>
          <a:p>
            <a:pPr algn="just"/>
            <a:r>
              <a:rPr lang="en-US" dirty="0" smtClean="0"/>
              <a:t>It </a:t>
            </a:r>
            <a:r>
              <a:rPr lang="en-US" dirty="0"/>
              <a:t>makes use of some kind of permutation function to achieve the encryption purpose. </a:t>
            </a:r>
            <a:endParaRPr lang="en-US" dirty="0" smtClean="0"/>
          </a:p>
          <a:p>
            <a:pPr algn="just"/>
            <a:r>
              <a:rPr lang="en-US" dirty="0" smtClean="0"/>
              <a:t>It </a:t>
            </a:r>
            <a:r>
              <a:rPr lang="en-US" dirty="0"/>
              <a:t>is very easy to use and so simple to implement.</a:t>
            </a:r>
            <a:endParaRPr lang="en-IN" dirty="0"/>
          </a:p>
        </p:txBody>
      </p:sp>
    </p:spTree>
    <p:extLst>
      <p:ext uri="{BB962C8B-B14F-4D97-AF65-F5344CB8AC3E}">
        <p14:creationId xmlns:p14="http://schemas.microsoft.com/office/powerpoint/2010/main" val="551353067"/>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smtClean="0"/>
              <a:t/>
            </a:r>
            <a:br>
              <a:rPr lang="en-IN" b="1" dirty="0" smtClean="0"/>
            </a:br>
            <a:r>
              <a:rPr lang="en-IN" b="1" dirty="0" smtClean="0"/>
              <a:t>Types </a:t>
            </a:r>
            <a:r>
              <a:rPr lang="en-IN" b="1" dirty="0"/>
              <a:t>of Transposition Cipher Techniques</a:t>
            </a:r>
            <a:br>
              <a:rPr lang="en-IN" b="1" dirty="0"/>
            </a:br>
            <a:endParaRPr lang="en-IN" dirty="0"/>
          </a:p>
        </p:txBody>
      </p:sp>
      <p:sp>
        <p:nvSpPr>
          <p:cNvPr id="3" name="Content Placeholder 2"/>
          <p:cNvSpPr>
            <a:spLocks noGrp="1"/>
          </p:cNvSpPr>
          <p:nvPr>
            <p:ph idx="1"/>
          </p:nvPr>
        </p:nvSpPr>
        <p:spPr/>
        <p:txBody>
          <a:bodyPr/>
          <a:lstStyle/>
          <a:p>
            <a:pPr fontAlgn="base"/>
            <a:r>
              <a:rPr lang="en-IN" dirty="0"/>
              <a:t>Rail Fence Transposition Cipher</a:t>
            </a:r>
          </a:p>
          <a:p>
            <a:pPr fontAlgn="base"/>
            <a:r>
              <a:rPr lang="en-IN" dirty="0"/>
              <a:t>Block (Single Columnar) Transposition Cipher</a:t>
            </a:r>
          </a:p>
          <a:p>
            <a:pPr fontAlgn="base"/>
            <a:r>
              <a:rPr lang="en-IN" dirty="0"/>
              <a:t>Double Columnar Transposition Cipher</a:t>
            </a:r>
          </a:p>
          <a:p>
            <a:endParaRPr lang="en-IN" dirty="0"/>
          </a:p>
        </p:txBody>
      </p:sp>
    </p:spTree>
    <p:extLst>
      <p:ext uri="{BB962C8B-B14F-4D97-AF65-F5344CB8AC3E}">
        <p14:creationId xmlns:p14="http://schemas.microsoft.com/office/powerpoint/2010/main" val="445617914"/>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Rail Fence Transposition Cipher</a:t>
            </a:r>
            <a:br>
              <a:rPr lang="en-IN" dirty="0"/>
            </a:br>
            <a:endParaRPr lang="en-IN" dirty="0"/>
          </a:p>
        </p:txBody>
      </p:sp>
      <p:sp>
        <p:nvSpPr>
          <p:cNvPr id="3" name="Content Placeholder 2"/>
          <p:cNvSpPr>
            <a:spLocks noGrp="1"/>
          </p:cNvSpPr>
          <p:nvPr>
            <p:ph idx="1"/>
          </p:nvPr>
        </p:nvSpPr>
        <p:spPr/>
        <p:txBody>
          <a:bodyPr/>
          <a:lstStyle/>
          <a:p>
            <a:r>
              <a:rPr lang="en-US" dirty="0"/>
              <a:t>Rail Fence Transposition cipher technique is the simplest transposition cipher </a:t>
            </a:r>
            <a:r>
              <a:rPr lang="en-US" dirty="0" smtClean="0"/>
              <a:t>technique</a:t>
            </a:r>
            <a:r>
              <a:rPr lang="en-US" b="1" dirty="0"/>
              <a:t>.</a:t>
            </a:r>
            <a:r>
              <a:rPr lang="en-US" dirty="0" smtClean="0"/>
              <a:t> </a:t>
            </a:r>
          </a:p>
          <a:p>
            <a:r>
              <a:rPr lang="en-US" dirty="0" smtClean="0"/>
              <a:t>It </a:t>
            </a:r>
            <a:r>
              <a:rPr lang="en-US" dirty="0"/>
              <a:t>is also termed as a zigzag cipher</a:t>
            </a:r>
            <a:r>
              <a:rPr lang="en-US" dirty="0" smtClean="0"/>
              <a:t>.</a:t>
            </a:r>
          </a:p>
          <a:p>
            <a:r>
              <a:rPr lang="en-US" dirty="0" smtClean="0"/>
              <a:t> </a:t>
            </a:r>
            <a:r>
              <a:rPr lang="en-US" dirty="0"/>
              <a:t>It gets its name from the way through which it performs encryption of plain text. </a:t>
            </a:r>
            <a:endParaRPr lang="en-IN" dirty="0"/>
          </a:p>
        </p:txBody>
      </p:sp>
    </p:spTree>
    <p:extLst>
      <p:ext uri="{BB962C8B-B14F-4D97-AF65-F5344CB8AC3E}">
        <p14:creationId xmlns:p14="http://schemas.microsoft.com/office/powerpoint/2010/main" val="1926733924"/>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1331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11560" y="1556792"/>
            <a:ext cx="8136904" cy="50405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56851667"/>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
            </a:r>
            <a:br>
              <a:rPr lang="en-US" dirty="0" smtClean="0"/>
            </a:br>
            <a:r>
              <a:rPr lang="en-US" dirty="0" smtClean="0"/>
              <a:t>Block </a:t>
            </a:r>
            <a:r>
              <a:rPr lang="en-US" dirty="0"/>
              <a:t>(Single Columnar) Transposition Cipher</a:t>
            </a:r>
            <a:br>
              <a:rPr lang="en-US" dirty="0"/>
            </a:br>
            <a:endParaRPr lang="en-IN" dirty="0"/>
          </a:p>
        </p:txBody>
      </p:sp>
      <p:pic>
        <p:nvPicPr>
          <p:cNvPr id="14338"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438114" y="2548664"/>
            <a:ext cx="6267772" cy="26290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6907504"/>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15362"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971600" y="1484784"/>
            <a:ext cx="6712295" cy="30735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97885899"/>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1638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063444" y="2348628"/>
            <a:ext cx="7017111" cy="30291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61729904"/>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Decryption</a:t>
            </a:r>
            <a:endParaRPr lang="en-IN" dirty="0"/>
          </a:p>
        </p:txBody>
      </p:sp>
      <p:pic>
        <p:nvPicPr>
          <p:cNvPr id="1741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685776" y="2526438"/>
            <a:ext cx="5772447" cy="2673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005488"/>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1843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58900" y="1766888"/>
            <a:ext cx="6426200" cy="292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61276559"/>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19458"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130299" y="2335928"/>
            <a:ext cx="4883401" cy="30545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00634954"/>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44575" y="2386806"/>
            <a:ext cx="7054850" cy="2952750"/>
          </a:xfrm>
        </p:spPr>
      </p:pic>
    </p:spTree>
    <p:extLst>
      <p:ext uri="{BB962C8B-B14F-4D97-AF65-F5344CB8AC3E}">
        <p14:creationId xmlns:p14="http://schemas.microsoft.com/office/powerpoint/2010/main" val="3678504177"/>
      </p:ext>
    </p:extLst>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dirty="0"/>
              <a:t>Fill the grid row by row using Key 1. Removing spaces and punctuation makes a tighter grid, but the tool will also accept them if you keep them.</a:t>
            </a:r>
          </a:p>
          <a:p>
            <a:r>
              <a:rPr lang="en-US" dirty="0"/>
              <a:t>Key 1: FIRM Plaintext: </a:t>
            </a:r>
            <a:r>
              <a:rPr lang="en-US" dirty="0" smtClean="0"/>
              <a:t>MEETMEATDAWN</a:t>
            </a:r>
          </a:p>
          <a:p>
            <a:endParaRPr lang="en-IN" dirty="0"/>
          </a:p>
        </p:txBody>
      </p:sp>
      <p:pic>
        <p:nvPicPr>
          <p:cNvPr id="2048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07904" y="4365104"/>
            <a:ext cx="1512168" cy="15841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067968"/>
      </p:ext>
    </p:extLst>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b="1" dirty="0"/>
              <a:t>Read columns in Key 1 order</a:t>
            </a:r>
          </a:p>
          <a:p>
            <a:r>
              <a:rPr lang="en-US" dirty="0"/>
              <a:t>Sort the key alphabetically (ties keep their left-to-right order) and read the columns in that order to form the intermediate text.</a:t>
            </a:r>
          </a:p>
          <a:p>
            <a:r>
              <a:rPr lang="en-US" dirty="0"/>
              <a:t>Key 1 order: F, I, M, R </a:t>
            </a:r>
            <a:endParaRPr lang="en-US" dirty="0" smtClean="0"/>
          </a:p>
          <a:p>
            <a:r>
              <a:rPr lang="en-US" dirty="0" smtClean="0"/>
              <a:t>Intermediate </a:t>
            </a:r>
            <a:r>
              <a:rPr lang="en-US" dirty="0"/>
              <a:t>text: </a:t>
            </a:r>
            <a:r>
              <a:rPr lang="en-US" dirty="0" smtClean="0">
                <a:solidFill>
                  <a:srgbClr val="FF0000"/>
                </a:solidFill>
              </a:rPr>
              <a:t>MMDEEATTNEAW</a:t>
            </a:r>
          </a:p>
          <a:p>
            <a:endParaRPr lang="en-IN" dirty="0"/>
          </a:p>
        </p:txBody>
      </p:sp>
    </p:spTree>
    <p:extLst>
      <p:ext uri="{BB962C8B-B14F-4D97-AF65-F5344CB8AC3E}">
        <p14:creationId xmlns:p14="http://schemas.microsoft.com/office/powerpoint/2010/main" val="1401565667"/>
      </p:ext>
    </p:extLst>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b="1" dirty="0"/>
              <a:t>Write the intermediate text under Key 2</a:t>
            </a:r>
          </a:p>
          <a:p>
            <a:r>
              <a:rPr lang="en-US" dirty="0"/>
              <a:t>Repeat the same grid process using Key 2 and the intermediate text from the first pass.</a:t>
            </a:r>
          </a:p>
          <a:p>
            <a:r>
              <a:rPr lang="en-US" dirty="0"/>
              <a:t>Key 2: WORD </a:t>
            </a:r>
            <a:endParaRPr lang="en-US" dirty="0" smtClean="0"/>
          </a:p>
          <a:p>
            <a:r>
              <a:rPr lang="en-US" dirty="0" smtClean="0"/>
              <a:t>Intermediate </a:t>
            </a:r>
            <a:r>
              <a:rPr lang="en-US" dirty="0"/>
              <a:t>text: </a:t>
            </a:r>
            <a:r>
              <a:rPr lang="en-US" dirty="0" smtClean="0"/>
              <a:t>MMDEEATTNEAW</a:t>
            </a:r>
          </a:p>
          <a:p>
            <a:endParaRPr lang="en-IN" dirty="0"/>
          </a:p>
        </p:txBody>
      </p:sp>
      <p:pic>
        <p:nvPicPr>
          <p:cNvPr id="2150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35896" y="4509120"/>
            <a:ext cx="1512168" cy="15841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20235040"/>
      </p:ext>
    </p:extLst>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77500" lnSpcReduction="20000"/>
          </a:bodyPr>
          <a:lstStyle/>
          <a:p>
            <a:r>
              <a:rPr lang="en-US" b="1" dirty="0"/>
              <a:t>Read columns in Key 2 order</a:t>
            </a:r>
          </a:p>
          <a:p>
            <a:r>
              <a:rPr lang="en-US" dirty="0"/>
              <a:t>Read the Key 2 columns in order to produce the final </a:t>
            </a:r>
            <a:r>
              <a:rPr lang="en-US" dirty="0" err="1"/>
              <a:t>ciphertext</a:t>
            </a:r>
            <a:r>
              <a:rPr lang="en-US" dirty="0"/>
              <a:t>.</a:t>
            </a:r>
          </a:p>
          <a:p>
            <a:r>
              <a:rPr lang="en-US" dirty="0"/>
              <a:t>Key 2 order: D, O, R, W </a:t>
            </a:r>
            <a:r>
              <a:rPr lang="en-US" dirty="0" err="1"/>
              <a:t>Ciphertext</a:t>
            </a:r>
            <a:r>
              <a:rPr lang="en-US" dirty="0"/>
              <a:t>: ETWMAEDTAMEN </a:t>
            </a:r>
            <a:endParaRPr lang="en-US" dirty="0" smtClean="0"/>
          </a:p>
          <a:p>
            <a:endParaRPr lang="en-US" b="1" dirty="0"/>
          </a:p>
          <a:p>
            <a:r>
              <a:rPr lang="en-US" b="1" dirty="0" smtClean="0"/>
              <a:t>Decrypt </a:t>
            </a:r>
            <a:r>
              <a:rPr lang="en-US" b="1" dirty="0"/>
              <a:t>by reversing the order</a:t>
            </a:r>
          </a:p>
          <a:p>
            <a:r>
              <a:rPr lang="en-US" dirty="0"/>
              <a:t>To decrypt, rebuild the Key 2 grid column-by-column to recover the intermediate text, then repeat with Key 1 to recover the plaintext.</a:t>
            </a:r>
          </a:p>
          <a:p>
            <a:r>
              <a:rPr lang="en-US" dirty="0" err="1"/>
              <a:t>Ciphertext</a:t>
            </a:r>
            <a:r>
              <a:rPr lang="en-US" dirty="0"/>
              <a:t>: ETWMAEDTAMEN </a:t>
            </a:r>
            <a:endParaRPr lang="en-US" dirty="0" smtClean="0"/>
          </a:p>
          <a:p>
            <a:r>
              <a:rPr lang="en-US" dirty="0" smtClean="0">
                <a:solidFill>
                  <a:srgbClr val="FF0000"/>
                </a:solidFill>
              </a:rPr>
              <a:t>After </a:t>
            </a:r>
            <a:r>
              <a:rPr lang="en-US" dirty="0">
                <a:solidFill>
                  <a:srgbClr val="FF0000"/>
                </a:solidFill>
              </a:rPr>
              <a:t>Key 2: MMDEEATTNEAW </a:t>
            </a:r>
            <a:endParaRPr lang="en-US" dirty="0" smtClean="0">
              <a:solidFill>
                <a:srgbClr val="FF0000"/>
              </a:solidFill>
            </a:endParaRPr>
          </a:p>
          <a:p>
            <a:r>
              <a:rPr lang="en-US" dirty="0" smtClean="0">
                <a:solidFill>
                  <a:srgbClr val="FF0000"/>
                </a:solidFill>
              </a:rPr>
              <a:t>After </a:t>
            </a:r>
            <a:r>
              <a:rPr lang="en-US" dirty="0">
                <a:solidFill>
                  <a:srgbClr val="FF0000"/>
                </a:solidFill>
              </a:rPr>
              <a:t>Key 1: MEETMEATDAWN</a:t>
            </a:r>
            <a:endParaRPr lang="en-IN" dirty="0">
              <a:solidFill>
                <a:srgbClr val="FF0000"/>
              </a:solidFill>
            </a:endParaRPr>
          </a:p>
        </p:txBody>
      </p:sp>
    </p:spTree>
    <p:extLst>
      <p:ext uri="{BB962C8B-B14F-4D97-AF65-F5344CB8AC3E}">
        <p14:creationId xmlns:p14="http://schemas.microsoft.com/office/powerpoint/2010/main" val="1820622156"/>
      </p:ext>
    </p:extLst>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steganography</a:t>
            </a:r>
            <a:endParaRPr lang="en-IN" dirty="0"/>
          </a:p>
        </p:txBody>
      </p:sp>
      <p:sp>
        <p:nvSpPr>
          <p:cNvPr id="3" name="Content Placeholder 2"/>
          <p:cNvSpPr>
            <a:spLocks noGrp="1"/>
          </p:cNvSpPr>
          <p:nvPr>
            <p:ph idx="1"/>
          </p:nvPr>
        </p:nvSpPr>
        <p:spPr/>
        <p:txBody>
          <a:bodyPr>
            <a:normAutofit lnSpcReduction="10000"/>
          </a:bodyPr>
          <a:lstStyle/>
          <a:p>
            <a:pPr algn="just"/>
            <a:r>
              <a:rPr lang="en-US" dirty="0"/>
              <a:t>The term "steganography" is derived from the Greek word "</a:t>
            </a:r>
            <a:r>
              <a:rPr lang="en-US" dirty="0" err="1"/>
              <a:t>steganos</a:t>
            </a:r>
            <a:r>
              <a:rPr lang="en-US" dirty="0"/>
              <a:t>"</a:t>
            </a:r>
            <a:r>
              <a:rPr lang="en-US" i="1" dirty="0"/>
              <a:t> </a:t>
            </a:r>
            <a:r>
              <a:rPr lang="en-US" dirty="0"/>
              <a:t>which means "hidden or covered" and "graph" means "to write</a:t>
            </a:r>
            <a:r>
              <a:rPr lang="en-US" dirty="0" smtClean="0"/>
              <a:t>.“</a:t>
            </a:r>
          </a:p>
          <a:p>
            <a:pPr algn="just"/>
            <a:r>
              <a:rPr lang="en-US" dirty="0"/>
              <a:t>Steganography is the practice of concealing information. It involves hiding data within an ordinary, non-secret file or message to prevent detection. </a:t>
            </a:r>
            <a:endParaRPr lang="en-US" dirty="0" smtClean="0"/>
          </a:p>
          <a:p>
            <a:pPr algn="just"/>
            <a:r>
              <a:rPr lang="en-US" dirty="0" smtClean="0"/>
              <a:t>The </a:t>
            </a:r>
            <a:r>
              <a:rPr lang="en-US" dirty="0"/>
              <a:t>hidden information is being extracted at the receiving end. </a:t>
            </a:r>
            <a:endParaRPr lang="en-IN" dirty="0"/>
          </a:p>
        </p:txBody>
      </p:sp>
    </p:spTree>
    <p:extLst>
      <p:ext uri="{BB962C8B-B14F-4D97-AF65-F5344CB8AC3E}">
        <p14:creationId xmlns:p14="http://schemas.microsoft.com/office/powerpoint/2010/main" val="1612249435"/>
      </p:ext>
    </p:extLst>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2253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30240" y="1844824"/>
            <a:ext cx="7858184" cy="42484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21320072"/>
      </p:ext>
    </p:extLst>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85000" lnSpcReduction="20000"/>
          </a:bodyPr>
          <a:lstStyle/>
          <a:p>
            <a:pPr algn="just" fontAlgn="base"/>
            <a:r>
              <a:rPr lang="en-US" b="1" dirty="0"/>
              <a:t>Step 1:</a:t>
            </a:r>
            <a:r>
              <a:rPr lang="en-US" dirty="0"/>
              <a:t> The first step in steganography is selecting a cover medium which is the file or message that will carry the hidden data. Common cover media include:</a:t>
            </a:r>
          </a:p>
          <a:p>
            <a:pPr algn="just" fontAlgn="base"/>
            <a:r>
              <a:rPr lang="en-US" dirty="0"/>
              <a:t>Images (JPEG, PNG, BMP, etc.)</a:t>
            </a:r>
          </a:p>
          <a:p>
            <a:pPr algn="just" fontAlgn="base"/>
            <a:r>
              <a:rPr lang="en-US" dirty="0"/>
              <a:t>Audio files (MP3, WAV, etc.)</a:t>
            </a:r>
          </a:p>
          <a:p>
            <a:pPr algn="just" fontAlgn="base"/>
            <a:r>
              <a:rPr lang="en-US" dirty="0"/>
              <a:t>Video files (MP4, AVI, etc.)</a:t>
            </a:r>
          </a:p>
          <a:p>
            <a:pPr algn="just" fontAlgn="base"/>
            <a:r>
              <a:rPr lang="en-US" dirty="0"/>
              <a:t>Text files or documents</a:t>
            </a:r>
          </a:p>
          <a:p>
            <a:pPr algn="just" fontAlgn="base"/>
            <a:r>
              <a:rPr lang="en-US" b="1" dirty="0"/>
              <a:t>Step 2:</a:t>
            </a:r>
            <a:r>
              <a:rPr lang="en-US" dirty="0"/>
              <a:t> Sometimes, before embedding, the secret message is encrypted to add an additional layer of security. This ensures that even if someone detects the hidden data, they cannot read it without the decryption key.</a:t>
            </a:r>
          </a:p>
          <a:p>
            <a:endParaRPr lang="en-IN" dirty="0"/>
          </a:p>
        </p:txBody>
      </p:sp>
    </p:spTree>
    <p:extLst>
      <p:ext uri="{BB962C8B-B14F-4D97-AF65-F5344CB8AC3E}">
        <p14:creationId xmlns:p14="http://schemas.microsoft.com/office/powerpoint/2010/main" val="2585217923"/>
      </p:ext>
    </p:extLst>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77500" lnSpcReduction="20000"/>
          </a:bodyPr>
          <a:lstStyle/>
          <a:p>
            <a:pPr fontAlgn="base"/>
            <a:r>
              <a:rPr lang="en-US" b="1" dirty="0"/>
              <a:t>Step 3:</a:t>
            </a:r>
            <a:r>
              <a:rPr lang="en-US" dirty="0"/>
              <a:t> The secret message is then hidden using one of several techniques:</a:t>
            </a:r>
          </a:p>
          <a:p>
            <a:pPr fontAlgn="base"/>
            <a:r>
              <a:rPr lang="en-US" b="1" dirty="0"/>
              <a:t>Least Significant Bit (LSB)</a:t>
            </a:r>
            <a:r>
              <a:rPr lang="en-US" dirty="0"/>
              <a:t>: The least significant bit of a byte is changed to hide the secret message. This method is often used in image and audio files.</a:t>
            </a:r>
          </a:p>
          <a:p>
            <a:pPr fontAlgn="base"/>
            <a:r>
              <a:rPr lang="en-US" b="1" dirty="0"/>
              <a:t>Frequency Domain</a:t>
            </a:r>
            <a:r>
              <a:rPr lang="en-US" dirty="0"/>
              <a:t>: Instead of modifying the raw data (like pixels or audio samples), the secret message can be embedded in the frequency components of an image or audio file.</a:t>
            </a:r>
          </a:p>
          <a:p>
            <a:pPr fontAlgn="base"/>
            <a:r>
              <a:rPr lang="en-US" b="1" dirty="0"/>
              <a:t>Bit Planes</a:t>
            </a:r>
            <a:r>
              <a:rPr lang="en-US" dirty="0"/>
              <a:t>: In this method, data is hidden in the higher-order bit planes of an image. This can be more secure because it uses bits that are less likely to be noticed.</a:t>
            </a:r>
          </a:p>
          <a:p>
            <a:pPr fontAlgn="base"/>
            <a:r>
              <a:rPr lang="en-US" dirty="0"/>
              <a:t>The most common is </a:t>
            </a:r>
            <a:r>
              <a:rPr lang="en-US" b="1" dirty="0"/>
              <a:t>Least Significant Bit (LSB)</a:t>
            </a:r>
            <a:r>
              <a:rPr lang="en-US" dirty="0"/>
              <a:t> encoding.</a:t>
            </a:r>
          </a:p>
          <a:p>
            <a:endParaRPr lang="en-IN" dirty="0"/>
          </a:p>
        </p:txBody>
      </p:sp>
    </p:spTree>
    <p:extLst>
      <p:ext uri="{BB962C8B-B14F-4D97-AF65-F5344CB8AC3E}">
        <p14:creationId xmlns:p14="http://schemas.microsoft.com/office/powerpoint/2010/main" val="3086996257"/>
      </p:ext>
    </p:extLst>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dirty="0"/>
          </a:p>
        </p:txBody>
      </p:sp>
      <p:sp>
        <p:nvSpPr>
          <p:cNvPr id="4" name="Rectangle 3"/>
          <p:cNvSpPr/>
          <p:nvPr/>
        </p:nvSpPr>
        <p:spPr>
          <a:xfrm>
            <a:off x="395536" y="1582341"/>
            <a:ext cx="7776864" cy="4154984"/>
          </a:xfrm>
          <a:prstGeom prst="rect">
            <a:avLst/>
          </a:prstGeom>
        </p:spPr>
        <p:txBody>
          <a:bodyPr wrap="square">
            <a:spAutoFit/>
          </a:bodyPr>
          <a:lstStyle/>
          <a:p>
            <a:pPr algn="just" fontAlgn="base"/>
            <a:r>
              <a:rPr lang="en-US" sz="2400" b="1" dirty="0"/>
              <a:t>Step 4:</a:t>
            </a:r>
            <a:r>
              <a:rPr lang="en-US" sz="2400" dirty="0"/>
              <a:t> The modified data is then embedded into the cover medium. The resulting file which now contains both the cover data and the hidden message is referred to as the </a:t>
            </a:r>
            <a:r>
              <a:rPr lang="en-US" sz="2400" b="1" dirty="0" err="1"/>
              <a:t>stego</a:t>
            </a:r>
            <a:r>
              <a:rPr lang="en-US" sz="2400" b="1" dirty="0"/>
              <a:t>-object </a:t>
            </a:r>
            <a:r>
              <a:rPr lang="en-US" sz="2400" dirty="0"/>
              <a:t>which can be safely transmitted or stored without raising suspicion.</a:t>
            </a:r>
          </a:p>
          <a:p>
            <a:pPr algn="just" fontAlgn="base"/>
            <a:r>
              <a:rPr lang="en-US" sz="2400" b="1" dirty="0"/>
              <a:t>Step 5: </a:t>
            </a:r>
            <a:r>
              <a:rPr lang="en-US" sz="2400" dirty="0"/>
              <a:t>The receiver of the </a:t>
            </a:r>
            <a:r>
              <a:rPr lang="en-US" sz="2400" dirty="0" err="1"/>
              <a:t>stego</a:t>
            </a:r>
            <a:r>
              <a:rPr lang="en-US" sz="2400" dirty="0"/>
              <a:t>-object needs to know the method used for embedding the secret message. In some cases, a secret key is required to extract the data if encryption is used in combination with steganography.</a:t>
            </a:r>
          </a:p>
          <a:p>
            <a:pPr algn="just"/>
            <a:r>
              <a:rPr lang="en-US" sz="2400" dirty="0"/>
              <a:t/>
            </a:r>
            <a:br>
              <a:rPr lang="en-US" sz="2400" dirty="0"/>
            </a:br>
            <a:endParaRPr lang="en-IN" sz="2400" dirty="0"/>
          </a:p>
        </p:txBody>
      </p:sp>
    </p:spTree>
    <p:extLst>
      <p:ext uri="{BB962C8B-B14F-4D97-AF65-F5344CB8AC3E}">
        <p14:creationId xmlns:p14="http://schemas.microsoft.com/office/powerpoint/2010/main" val="3269291944"/>
      </p:ext>
    </p:extLst>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Cryptography</a:t>
            </a:r>
            <a:endParaRPr lang="en-IN" dirty="0"/>
          </a:p>
        </p:txBody>
      </p:sp>
      <p:pic>
        <p:nvPicPr>
          <p:cNvPr id="2355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032000" y="1916832"/>
            <a:ext cx="5204296" cy="32163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59256429"/>
      </p:ext>
    </p:extLst>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70000" lnSpcReduction="20000"/>
          </a:bodyPr>
          <a:lstStyle/>
          <a:p>
            <a:pPr algn="just" fontAlgn="base"/>
            <a:r>
              <a:rPr lang="en-US" b="1" dirty="0"/>
              <a:t>Confidentiality: </a:t>
            </a:r>
            <a:r>
              <a:rPr lang="en-US" dirty="0"/>
              <a:t>Information can only be accessed by the person for whom it is intended and no other person except him can access it.</a:t>
            </a:r>
          </a:p>
          <a:p>
            <a:pPr algn="just" fontAlgn="base"/>
            <a:r>
              <a:rPr lang="en-US" b="1" dirty="0"/>
              <a:t>Non-repudiation: </a:t>
            </a:r>
            <a:r>
              <a:rPr lang="en-US" dirty="0"/>
              <a:t>The creator/sender of information cannot deny his intention to send information at a later stage.</a:t>
            </a:r>
          </a:p>
          <a:p>
            <a:pPr algn="just" fontAlgn="base"/>
            <a:r>
              <a:rPr lang="en-US" b="1" dirty="0"/>
              <a:t>Integrity: </a:t>
            </a:r>
            <a:r>
              <a:rPr lang="en-US" dirty="0"/>
              <a:t>Information cannot be modified in storage or transition between sender and intended receiver without any addition to information being detected.</a:t>
            </a:r>
          </a:p>
          <a:p>
            <a:pPr algn="just" fontAlgn="base"/>
            <a:r>
              <a:rPr lang="en-US" b="1" dirty="0"/>
              <a:t>Adaptability: </a:t>
            </a:r>
            <a:r>
              <a:rPr lang="en-US" dirty="0"/>
              <a:t>Cryptography continuously evolves to stay ahead of security threats and technological advancements.</a:t>
            </a:r>
          </a:p>
          <a:p>
            <a:pPr algn="just" fontAlgn="base"/>
            <a:r>
              <a:rPr lang="en-US" b="1" dirty="0"/>
              <a:t>Interoperability: </a:t>
            </a:r>
            <a:r>
              <a:rPr lang="en-US" dirty="0"/>
              <a:t>Cryptography allows for secure communication between different systems and platforms.</a:t>
            </a:r>
          </a:p>
          <a:p>
            <a:pPr algn="just" fontAlgn="base"/>
            <a:r>
              <a:rPr lang="en-US" b="1" dirty="0"/>
              <a:t>Authentication: </a:t>
            </a:r>
            <a:r>
              <a:rPr lang="en-US" dirty="0"/>
              <a:t>The identities of the sender and receiver are confirmed. As well destination/origin of the information is confirmed.</a:t>
            </a:r>
          </a:p>
          <a:p>
            <a:endParaRPr lang="en-IN" dirty="0"/>
          </a:p>
        </p:txBody>
      </p:sp>
    </p:spTree>
    <p:extLst>
      <p:ext uri="{BB962C8B-B14F-4D97-AF65-F5344CB8AC3E}">
        <p14:creationId xmlns:p14="http://schemas.microsoft.com/office/powerpoint/2010/main" val="2112907039"/>
      </p:ext>
    </p:extLst>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Working of a cryptography</a:t>
            </a:r>
            <a:endParaRPr lang="en-IN" dirty="0"/>
          </a:p>
        </p:txBody>
      </p:sp>
      <p:pic>
        <p:nvPicPr>
          <p:cNvPr id="24578"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370940" y="1746204"/>
            <a:ext cx="6657444" cy="29996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37125816"/>
      </p:ext>
    </p:extLst>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pic>
        <p:nvPicPr>
          <p:cNvPr id="25602"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259632" y="1700808"/>
            <a:ext cx="6912768" cy="32403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6611059"/>
      </p:ext>
    </p:extLst>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266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79302" y="1916832"/>
            <a:ext cx="7565106" cy="32163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37577524"/>
      </p:ext>
    </p:extLst>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Block and Stream Cipher</a:t>
            </a:r>
            <a:endParaRPr lang="en-IN" dirty="0"/>
          </a:p>
        </p:txBody>
      </p:sp>
      <p:sp>
        <p:nvSpPr>
          <p:cNvPr id="3" name="Content Placeholder 2"/>
          <p:cNvSpPr>
            <a:spLocks noGrp="1"/>
          </p:cNvSpPr>
          <p:nvPr>
            <p:ph idx="1"/>
          </p:nvPr>
        </p:nvSpPr>
        <p:spPr/>
        <p:txBody>
          <a:bodyPr/>
          <a:lstStyle/>
          <a:p>
            <a:pPr algn="just"/>
            <a:r>
              <a:rPr lang="en-IN" b="1" dirty="0"/>
              <a:t>Block ciphers </a:t>
            </a:r>
            <a:r>
              <a:rPr lang="en-IN" dirty="0"/>
              <a:t>encrypt data in fixed-size chunks (blocks), like 128 bits, using complex substitutions and permutations (e.g., AES), good for large data storage; </a:t>
            </a:r>
            <a:endParaRPr lang="en-IN" dirty="0" smtClean="0"/>
          </a:p>
          <a:p>
            <a:pPr algn="just"/>
            <a:r>
              <a:rPr lang="en-IN" b="1" dirty="0"/>
              <a:t>S</a:t>
            </a:r>
            <a:r>
              <a:rPr lang="en-IN" b="1" dirty="0" smtClean="0"/>
              <a:t>tream </a:t>
            </a:r>
            <a:r>
              <a:rPr lang="en-IN" b="1" dirty="0"/>
              <a:t>ciphers </a:t>
            </a:r>
            <a:r>
              <a:rPr lang="en-IN" dirty="0"/>
              <a:t>encrypt bit-by-bit or byte-by-byte, generating a </a:t>
            </a:r>
            <a:r>
              <a:rPr lang="en-IN" dirty="0" err="1"/>
              <a:t>keystream</a:t>
            </a:r>
            <a:r>
              <a:rPr lang="en-IN" dirty="0"/>
              <a:t> </a:t>
            </a:r>
            <a:r>
              <a:rPr lang="en-IN" dirty="0" err="1"/>
              <a:t>XORed</a:t>
            </a:r>
            <a:r>
              <a:rPr lang="en-IN" dirty="0"/>
              <a:t> with plaintext (e.g., </a:t>
            </a:r>
            <a:r>
              <a:rPr lang="en-IN" dirty="0">
                <a:hlinkClick r:id="rId2"/>
              </a:rPr>
              <a:t>RC4</a:t>
            </a:r>
            <a:r>
              <a:rPr lang="en-IN" dirty="0"/>
              <a:t>), ideal for real-time, continuous data streams</a:t>
            </a:r>
            <a:endParaRPr lang="en-IN" dirty="0"/>
          </a:p>
        </p:txBody>
      </p:sp>
    </p:spTree>
    <p:extLst>
      <p:ext uri="{BB962C8B-B14F-4D97-AF65-F5344CB8AC3E}">
        <p14:creationId xmlns:p14="http://schemas.microsoft.com/office/powerpoint/2010/main" val="2861611343"/>
      </p:ext>
    </p:extLst>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Block Cipher</a:t>
            </a:r>
            <a:endParaRPr lang="en-IN" dirty="0"/>
          </a:p>
        </p:txBody>
      </p:sp>
      <p:pic>
        <p:nvPicPr>
          <p:cNvPr id="35842"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620778" y="1600200"/>
            <a:ext cx="5902444"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53408431"/>
      </p:ext>
    </p:extLst>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Stream Cipher</a:t>
            </a:r>
            <a:endParaRPr lang="en-IN" dirty="0"/>
          </a:p>
        </p:txBody>
      </p:sp>
      <p:pic>
        <p:nvPicPr>
          <p:cNvPr id="3686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043608" y="1844824"/>
            <a:ext cx="7488832" cy="37444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28353258"/>
      </p:ext>
    </p:extLst>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Encryption Standard</a:t>
            </a:r>
            <a:endParaRPr lang="en-IN" dirty="0"/>
          </a:p>
        </p:txBody>
      </p:sp>
      <p:sp>
        <p:nvSpPr>
          <p:cNvPr id="3" name="Content Placeholder 2"/>
          <p:cNvSpPr>
            <a:spLocks noGrp="1"/>
          </p:cNvSpPr>
          <p:nvPr>
            <p:ph idx="1"/>
          </p:nvPr>
        </p:nvSpPr>
        <p:spPr/>
        <p:txBody>
          <a:bodyPr>
            <a:normAutofit fontScale="92500" lnSpcReduction="20000"/>
          </a:bodyPr>
          <a:lstStyle/>
          <a:p>
            <a:pPr algn="just"/>
            <a:r>
              <a:rPr lang="en-US" dirty="0"/>
              <a:t>Data Encryption Standard (DES) is a symmetric block cipher. By 'symmetric', we mean that the size of input text and output text (</a:t>
            </a:r>
            <a:r>
              <a:rPr lang="en-US" dirty="0" err="1"/>
              <a:t>ciphertext</a:t>
            </a:r>
            <a:r>
              <a:rPr lang="en-US" dirty="0"/>
              <a:t>) is same (64-bits). </a:t>
            </a:r>
            <a:endParaRPr lang="en-US" dirty="0" smtClean="0"/>
          </a:p>
          <a:p>
            <a:pPr algn="just"/>
            <a:r>
              <a:rPr lang="en-US" dirty="0" smtClean="0"/>
              <a:t>The </a:t>
            </a:r>
            <a:r>
              <a:rPr lang="en-US" dirty="0"/>
              <a:t>'block' here means that it takes group of bits together as input instead of encrypting the text bit by bit. </a:t>
            </a:r>
            <a:endParaRPr lang="en-US" dirty="0" smtClean="0"/>
          </a:p>
          <a:p>
            <a:pPr algn="just"/>
            <a:r>
              <a:rPr lang="en-US" dirty="0" smtClean="0"/>
              <a:t>Data </a:t>
            </a:r>
            <a:r>
              <a:rPr lang="en-US" dirty="0"/>
              <a:t>encryption standard (DES) has been found vulnerable to very powerful attacks and therefore, it was replaced by Advanced Encryption Standard (AES).</a:t>
            </a:r>
            <a:endParaRPr lang="en-IN" dirty="0"/>
          </a:p>
        </p:txBody>
      </p:sp>
    </p:spTree>
    <p:extLst>
      <p:ext uri="{BB962C8B-B14F-4D97-AF65-F5344CB8AC3E}">
        <p14:creationId xmlns:p14="http://schemas.microsoft.com/office/powerpoint/2010/main" val="1618119220"/>
      </p:ext>
    </p:extLst>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6" name="Content Placeholder 5"/>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67544" y="1484784"/>
            <a:ext cx="8208912" cy="4388172"/>
          </a:xfrm>
        </p:spPr>
      </p:pic>
    </p:spTree>
    <p:extLst>
      <p:ext uri="{BB962C8B-B14F-4D97-AF65-F5344CB8AC3E}">
        <p14:creationId xmlns:p14="http://schemas.microsoft.com/office/powerpoint/2010/main" val="1861858878"/>
      </p:ext>
    </p:extLst>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AES </a:t>
            </a:r>
            <a:r>
              <a:rPr lang="en-IN" dirty="0" err="1" smtClean="0"/>
              <a:t>Subbytes</a:t>
            </a:r>
            <a:endParaRPr lang="en-IN" dirty="0"/>
          </a:p>
        </p:txBody>
      </p:sp>
      <p:pic>
        <p:nvPicPr>
          <p:cNvPr id="2765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67544" y="1412776"/>
            <a:ext cx="3100832"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76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35896" y="1628800"/>
            <a:ext cx="5400600" cy="20882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7652"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79912" y="3658417"/>
            <a:ext cx="5184576" cy="1930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68088256"/>
      </p:ext>
    </p:extLst>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96950" y="1850231"/>
            <a:ext cx="7150100" cy="4025900"/>
          </a:xfrm>
        </p:spPr>
      </p:pic>
    </p:spTree>
    <p:extLst>
      <p:ext uri="{BB962C8B-B14F-4D97-AF65-F5344CB8AC3E}">
        <p14:creationId xmlns:p14="http://schemas.microsoft.com/office/powerpoint/2010/main" val="4159341211"/>
      </p:ext>
    </p:extLst>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2867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809608" y="2993187"/>
            <a:ext cx="5524784" cy="1739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05475161"/>
      </p:ext>
    </p:extLst>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39552" y="1484784"/>
            <a:ext cx="8136904" cy="4353247"/>
          </a:xfrm>
        </p:spPr>
      </p:pic>
    </p:spTree>
    <p:extLst>
      <p:ext uri="{BB962C8B-B14F-4D97-AF65-F5344CB8AC3E}">
        <p14:creationId xmlns:p14="http://schemas.microsoft.com/office/powerpoint/2010/main" val="1483104559"/>
      </p:ext>
    </p:extLst>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29698"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082495" y="2507387"/>
            <a:ext cx="6979009" cy="27115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13747909"/>
      </p:ext>
    </p:extLst>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39552" y="1844824"/>
            <a:ext cx="7920880" cy="3888432"/>
          </a:xfrm>
        </p:spPr>
      </p:pic>
    </p:spTree>
    <p:extLst>
      <p:ext uri="{BB962C8B-B14F-4D97-AF65-F5344CB8AC3E}">
        <p14:creationId xmlns:p14="http://schemas.microsoft.com/office/powerpoint/2010/main" val="1090586637"/>
      </p:ext>
    </p:extLst>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00125" y="1869281"/>
            <a:ext cx="7143750" cy="3987800"/>
          </a:xfrm>
        </p:spPr>
      </p:pic>
    </p:spTree>
    <p:extLst>
      <p:ext uri="{BB962C8B-B14F-4D97-AF65-F5344CB8AC3E}">
        <p14:creationId xmlns:p14="http://schemas.microsoft.com/office/powerpoint/2010/main" val="1186642559"/>
      </p:ext>
    </p:extLst>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90600" y="1878806"/>
            <a:ext cx="7162800" cy="3968750"/>
          </a:xfrm>
        </p:spPr>
      </p:pic>
    </p:spTree>
    <p:extLst>
      <p:ext uri="{BB962C8B-B14F-4D97-AF65-F5344CB8AC3E}">
        <p14:creationId xmlns:p14="http://schemas.microsoft.com/office/powerpoint/2010/main" val="664180333"/>
      </p:ext>
    </p:extLst>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403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79512" y="1556792"/>
            <a:ext cx="8640960" cy="48245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37972325"/>
      </p:ext>
    </p:extLst>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30722"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415888" y="1888230"/>
            <a:ext cx="6312224" cy="39499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98250912"/>
      </p:ext>
    </p:extLst>
  </p:cSld>
  <p:clrMapOvr>
    <a:masterClrMapping/>
  </p:clrMapOvr>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3174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87624" y="1916832"/>
            <a:ext cx="6912768" cy="22322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57065266"/>
      </p:ext>
    </p:extLst>
  </p:cSld>
  <p:clrMapOvr>
    <a:masterClrMapping/>
  </p:clrMapOvr>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38225" y="1859756"/>
            <a:ext cx="7067550" cy="4006850"/>
          </a:xfrm>
        </p:spPr>
      </p:pic>
    </p:spTree>
    <p:extLst>
      <p:ext uri="{BB962C8B-B14F-4D97-AF65-F5344CB8AC3E}">
        <p14:creationId xmlns:p14="http://schemas.microsoft.com/office/powerpoint/2010/main" val="4062264191"/>
      </p:ext>
    </p:extLst>
  </p:cSld>
  <p:clrMapOvr>
    <a:masterClrMapping/>
  </p:clrMapOvr>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3277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387311" y="1859653"/>
            <a:ext cx="6369377" cy="40070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64023174"/>
      </p:ext>
    </p:extLst>
  </p:cSld>
  <p:clrMapOvr>
    <a:masterClrMapping/>
  </p:clrMapOvr>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3379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434939" y="1840602"/>
            <a:ext cx="6274122" cy="40451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04679749"/>
      </p:ext>
    </p:extLst>
  </p:cSld>
  <p:clrMapOvr>
    <a:masterClrMapping/>
  </p:clrMapOvr>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Hash Function</a:t>
            </a:r>
            <a:endParaRPr lang="en-IN" dirty="0"/>
          </a:p>
        </p:txBody>
      </p:sp>
      <p:pic>
        <p:nvPicPr>
          <p:cNvPr id="4301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004048" y="1412776"/>
            <a:ext cx="3744416" cy="40324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395536" y="1700808"/>
            <a:ext cx="4896544" cy="4154984"/>
          </a:xfrm>
          <a:prstGeom prst="rect">
            <a:avLst/>
          </a:prstGeom>
        </p:spPr>
        <p:txBody>
          <a:bodyPr wrap="square">
            <a:spAutoFit/>
          </a:bodyPr>
          <a:lstStyle/>
          <a:p>
            <a:pPr marL="285750" indent="-285750" algn="just">
              <a:buFont typeface="Arial" pitchFamily="34" charset="0"/>
              <a:buChar char="•"/>
            </a:pPr>
            <a:r>
              <a:rPr lang="en-US" sz="2400" dirty="0"/>
              <a:t>Hash functions are mathematical operations that "map" or change a given collection of data into a fixed-length bit string that is referred to as the "hash value."</a:t>
            </a:r>
          </a:p>
          <a:p>
            <a:pPr marL="285750" indent="-285750" algn="just">
              <a:buFont typeface="Arial" pitchFamily="34" charset="0"/>
              <a:buChar char="•"/>
            </a:pPr>
            <a:r>
              <a:rPr lang="en-US" sz="2400" dirty="0"/>
              <a:t>Hash functions have a variety of complexity and difficulty levels and are used in cryptography.</a:t>
            </a:r>
          </a:p>
          <a:p>
            <a:pPr marL="285750" indent="-285750" algn="just">
              <a:buFont typeface="Arial" pitchFamily="34" charset="0"/>
              <a:buChar char="•"/>
            </a:pPr>
            <a:r>
              <a:rPr lang="en-US" sz="2400" dirty="0" err="1"/>
              <a:t>Cryptocurrency</a:t>
            </a:r>
            <a:r>
              <a:rPr lang="en-US" sz="2400" dirty="0"/>
              <a:t>, password security, and communication security all use hash functions.</a:t>
            </a:r>
            <a:endParaRPr lang="en-US" dirty="0"/>
          </a:p>
        </p:txBody>
      </p:sp>
    </p:spTree>
    <p:extLst>
      <p:ext uri="{BB962C8B-B14F-4D97-AF65-F5344CB8AC3E}">
        <p14:creationId xmlns:p14="http://schemas.microsoft.com/office/powerpoint/2010/main" val="2449200980"/>
      </p:ext>
    </p:extLst>
  </p:cSld>
  <p:clrMapOvr>
    <a:masterClrMapping/>
  </p:clrMapOvr>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92500" lnSpcReduction="20000"/>
          </a:bodyPr>
          <a:lstStyle/>
          <a:p>
            <a:pPr algn="just"/>
            <a:r>
              <a:rPr lang="en-US" dirty="0"/>
              <a:t>Cryptographic hash functions are mathematical algorithms that transform input data into a fixed-length sequence of characters, referred to as a hash value. </a:t>
            </a:r>
            <a:endParaRPr lang="en-US" dirty="0" smtClean="0"/>
          </a:p>
          <a:p>
            <a:pPr algn="just"/>
            <a:r>
              <a:rPr lang="en-US" dirty="0" smtClean="0"/>
              <a:t>Cryptographic </a:t>
            </a:r>
            <a:r>
              <a:rPr lang="en-US" dirty="0"/>
              <a:t>hash functions are intended to be fast, deterministic, and one-way, meaning that even a minor change in input yields a very different hash. </a:t>
            </a:r>
            <a:endParaRPr lang="en-US" dirty="0" smtClean="0"/>
          </a:p>
          <a:p>
            <a:pPr algn="just"/>
            <a:r>
              <a:rPr lang="en-US" dirty="0" smtClean="0"/>
              <a:t>These </a:t>
            </a:r>
            <a:r>
              <a:rPr lang="en-US" dirty="0"/>
              <a:t>functions are important for securing information digitally by allowing data verification and authentication.</a:t>
            </a:r>
            <a:endParaRPr lang="en-IN" dirty="0"/>
          </a:p>
        </p:txBody>
      </p:sp>
    </p:spTree>
    <p:extLst>
      <p:ext uri="{BB962C8B-B14F-4D97-AF65-F5344CB8AC3E}">
        <p14:creationId xmlns:p14="http://schemas.microsoft.com/office/powerpoint/2010/main" val="785416891"/>
      </p:ext>
    </p:extLst>
  </p:cSld>
  <p:clrMapOvr>
    <a:masterClrMapping/>
  </p:clrMapOvr>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Properties </a:t>
            </a:r>
            <a:r>
              <a:rPr lang="en-US" b="1" dirty="0"/>
              <a:t>of Cryptographic Hash Functions</a:t>
            </a:r>
            <a:br>
              <a:rPr lang="en-US" b="1" dirty="0"/>
            </a:br>
            <a:endParaRPr lang="en-IN" dirty="0"/>
          </a:p>
        </p:txBody>
      </p:sp>
      <p:sp>
        <p:nvSpPr>
          <p:cNvPr id="3" name="Content Placeholder 2"/>
          <p:cNvSpPr>
            <a:spLocks noGrp="1"/>
          </p:cNvSpPr>
          <p:nvPr>
            <p:ph idx="1"/>
          </p:nvPr>
        </p:nvSpPr>
        <p:spPr/>
        <p:txBody>
          <a:bodyPr>
            <a:normAutofit fontScale="70000" lnSpcReduction="20000"/>
          </a:bodyPr>
          <a:lstStyle/>
          <a:p>
            <a:pPr fontAlgn="base"/>
            <a:r>
              <a:rPr lang="en-US" b="1" dirty="0" smtClean="0"/>
              <a:t>Deterministic</a:t>
            </a:r>
            <a:r>
              <a:rPr lang="en-US" b="1" dirty="0"/>
              <a:t>:</a:t>
            </a:r>
            <a:r>
              <a:rPr lang="en-US" dirty="0"/>
              <a:t> The same input always generates the exact same hash output, ensuring consistent and reliable verification of data.</a:t>
            </a:r>
          </a:p>
          <a:p>
            <a:pPr fontAlgn="base"/>
            <a:r>
              <a:rPr lang="en-US" b="1" dirty="0"/>
              <a:t>Fast Computation:</a:t>
            </a:r>
            <a:r>
              <a:rPr lang="en-US" dirty="0"/>
              <a:t> Cryptographic hash functions are designed to process inputs quickly and efficiently, making them practical for handling large datasets and real-time applications.</a:t>
            </a:r>
          </a:p>
          <a:p>
            <a:pPr fontAlgn="base"/>
            <a:r>
              <a:rPr lang="en-US" b="1" dirty="0"/>
              <a:t>Pre-image Resistance:</a:t>
            </a:r>
            <a:r>
              <a:rPr lang="en-US" dirty="0"/>
              <a:t> It is computationally infeasible to reverse-engineer or retrieve the original input data from its hash value, protecting sensitive information from exposure.</a:t>
            </a:r>
          </a:p>
          <a:p>
            <a:pPr fontAlgn="base"/>
            <a:r>
              <a:rPr lang="en-US" b="1" dirty="0" smtClean="0"/>
              <a:t>Collision </a:t>
            </a:r>
            <a:r>
              <a:rPr lang="en-US" b="1" dirty="0"/>
              <a:t>Resistance:</a:t>
            </a:r>
            <a:r>
              <a:rPr lang="en-US" dirty="0"/>
              <a:t> The function minimizes the chance that two distinct inputs will produce identical hash values, ensuring unique data fingerprints for security and integrity.</a:t>
            </a:r>
          </a:p>
          <a:p>
            <a:pPr fontAlgn="base"/>
            <a:r>
              <a:rPr lang="en-US" b="1" dirty="0"/>
              <a:t>Avalanche Effect:</a:t>
            </a:r>
            <a:r>
              <a:rPr lang="en-US" dirty="0"/>
              <a:t> Even a tiny change in the input, such as flipping a single bit, causes a significant and unpredictable change in the hash output, enhancing the function’s sensitivity to data modifications.</a:t>
            </a:r>
          </a:p>
          <a:p>
            <a:endParaRPr lang="en-IN" dirty="0"/>
          </a:p>
        </p:txBody>
      </p:sp>
    </p:spTree>
    <p:extLst>
      <p:ext uri="{BB962C8B-B14F-4D97-AF65-F5344CB8AC3E}">
        <p14:creationId xmlns:p14="http://schemas.microsoft.com/office/powerpoint/2010/main" val="683940069"/>
      </p:ext>
    </p:extLst>
  </p:cSld>
  <p:clrMapOvr>
    <a:masterClrMapping/>
  </p:clrMapOvr>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smtClean="0"/>
              <a:t/>
            </a:r>
            <a:br>
              <a:rPr lang="en-IN" b="1" dirty="0" smtClean="0"/>
            </a:br>
            <a:r>
              <a:rPr lang="en-IN" b="1" dirty="0" smtClean="0"/>
              <a:t>Popular </a:t>
            </a:r>
            <a:r>
              <a:rPr lang="en-IN" b="1" dirty="0"/>
              <a:t>Cryptographic Hash Algorithms</a:t>
            </a:r>
            <a:br>
              <a:rPr lang="en-IN" b="1" dirty="0"/>
            </a:br>
            <a:endParaRPr lang="en-IN" dirty="0"/>
          </a:p>
        </p:txBody>
      </p:sp>
      <p:sp>
        <p:nvSpPr>
          <p:cNvPr id="3" name="Content Placeholder 2"/>
          <p:cNvSpPr>
            <a:spLocks noGrp="1"/>
          </p:cNvSpPr>
          <p:nvPr>
            <p:ph idx="1"/>
          </p:nvPr>
        </p:nvSpPr>
        <p:spPr/>
        <p:txBody>
          <a:bodyPr>
            <a:noAutofit/>
          </a:bodyPr>
          <a:lstStyle/>
          <a:p>
            <a:pPr algn="just" fontAlgn="base"/>
            <a:r>
              <a:rPr lang="en-US" sz="1800" b="1" dirty="0"/>
              <a:t>MD5 (Message Digest Algorithm 5)</a:t>
            </a:r>
          </a:p>
          <a:p>
            <a:pPr marL="0" indent="0" algn="just" fontAlgn="base">
              <a:buNone/>
            </a:pPr>
            <a:r>
              <a:rPr lang="en-US" sz="1800" dirty="0"/>
              <a:t>Once widely used for data integrity and digital signatures, MD5 is now considered insecure due to vulnerabilities that allow attackers to generate hash collisions easily. Its speed and simplicity made it popular historically, but it is no longer recommended for security-critical applications.</a:t>
            </a:r>
          </a:p>
          <a:p>
            <a:pPr algn="just" fontAlgn="base"/>
            <a:r>
              <a:rPr lang="en-US" sz="1800" b="1" dirty="0"/>
              <a:t>SHA-1 (Secure Hash Algorithm 1)</a:t>
            </a:r>
          </a:p>
          <a:p>
            <a:pPr marL="0" indent="0" algn="just" fontAlgn="base">
              <a:buNone/>
            </a:pPr>
            <a:r>
              <a:rPr lang="en-US" sz="1800" dirty="0"/>
              <a:t>SHA-1 improved upon MD5 with a longer hash length and better resistance to collisions. However, advances in computational power and cryptanalysis exposed weaknesses, leading to practical collision attacks. Consequently, SHA-1 is deprecated for most security uses, including SSL/TLS certificates and digital signatures.</a:t>
            </a:r>
          </a:p>
          <a:p>
            <a:pPr algn="just" fontAlgn="base"/>
            <a:r>
              <a:rPr lang="en-US" sz="1800" b="1" dirty="0"/>
              <a:t>SHA-2 Family (SHA-256, SHA-512)</a:t>
            </a:r>
          </a:p>
          <a:p>
            <a:pPr marL="0" indent="0" algn="just" fontAlgn="base">
              <a:buNone/>
            </a:pPr>
            <a:r>
              <a:rPr lang="en-US" sz="1800" dirty="0"/>
              <a:t>The SHA-2 family is currently the industry standard for cryptographic hashing, offering robust security with longer hash outputs of 256 and 512 bits. These algorithms provide strong collision and pre-image resistance, making them the preferred choice for secure communication protocols, </a:t>
            </a:r>
            <a:r>
              <a:rPr lang="en-US" sz="1800" dirty="0" err="1"/>
              <a:t>blockchain</a:t>
            </a:r>
            <a:r>
              <a:rPr lang="en-US" sz="1800" dirty="0"/>
              <a:t> technologies, and password hashing</a:t>
            </a:r>
            <a:r>
              <a:rPr lang="en-US" sz="1800" dirty="0" smtClean="0"/>
              <a:t>.</a:t>
            </a:r>
            <a:endParaRPr lang="en-US" sz="1800" dirty="0"/>
          </a:p>
        </p:txBody>
      </p:sp>
    </p:spTree>
    <p:extLst>
      <p:ext uri="{BB962C8B-B14F-4D97-AF65-F5344CB8AC3E}">
        <p14:creationId xmlns:p14="http://schemas.microsoft.com/office/powerpoint/2010/main" val="3569459831"/>
      </p:ext>
    </p:extLst>
  </p:cSld>
  <p:clrMapOvr>
    <a:masterClrMapping/>
  </p:clrMapOvr>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77500" lnSpcReduction="20000"/>
          </a:bodyPr>
          <a:lstStyle/>
          <a:p>
            <a:pPr algn="just" fontAlgn="base"/>
            <a:r>
              <a:rPr lang="en-US" b="1" dirty="0"/>
              <a:t>SHA-3 (</a:t>
            </a:r>
            <a:r>
              <a:rPr lang="en-US" b="1" dirty="0" err="1"/>
              <a:t>Keccak</a:t>
            </a:r>
            <a:r>
              <a:rPr lang="en-US" b="1" dirty="0"/>
              <a:t>)</a:t>
            </a:r>
          </a:p>
          <a:p>
            <a:pPr marL="0" indent="0" algn="just" fontAlgn="base">
              <a:buNone/>
            </a:pPr>
            <a:r>
              <a:rPr lang="en-US" dirty="0"/>
              <a:t>Adopted as the latest NIST standard, SHA-3 uses a unique sponge construction different from SHA-2, enhancing security and flexibility. It offers comparable hash lengths with improved resistance to certain types of attacks, making it suitable for applications demanding long-term security.</a:t>
            </a:r>
          </a:p>
          <a:p>
            <a:pPr algn="just" fontAlgn="base"/>
            <a:r>
              <a:rPr lang="en-US" b="1" dirty="0"/>
              <a:t>BLAKE2 &amp; BLAKE3</a:t>
            </a:r>
          </a:p>
          <a:p>
            <a:pPr marL="0" indent="0" algn="just" fontAlgn="base">
              <a:buNone/>
            </a:pPr>
            <a:r>
              <a:rPr lang="en-US" dirty="0"/>
              <a:t>Designed as high-speed, secure alternatives to SHA-2 and SHA-3, BLAKE2 and BLAKE3 deliver faster hashing without compromising security. BLAKE3, in particular, supports parallel processing and incremental updates, making it ideal for modern systems requiring both speed and strong cryptographic guarantees.</a:t>
            </a:r>
          </a:p>
          <a:p>
            <a:endParaRPr lang="en-IN" dirty="0"/>
          </a:p>
          <a:p>
            <a:endParaRPr lang="en-IN" dirty="0"/>
          </a:p>
        </p:txBody>
      </p:sp>
    </p:spTree>
    <p:extLst>
      <p:ext uri="{BB962C8B-B14F-4D97-AF65-F5344CB8AC3E}">
        <p14:creationId xmlns:p14="http://schemas.microsoft.com/office/powerpoint/2010/main" val="3082892129"/>
      </p:ext>
    </p:extLst>
  </p:cSld>
  <p:clrMapOvr>
    <a:masterClrMapping/>
  </p:clrMapOvr>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23528" y="980728"/>
            <a:ext cx="8568952" cy="5184576"/>
          </a:xfrm>
        </p:spPr>
      </p:pic>
    </p:spTree>
    <p:extLst>
      <p:ext uri="{BB962C8B-B14F-4D97-AF65-F5344CB8AC3E}">
        <p14:creationId xmlns:p14="http://schemas.microsoft.com/office/powerpoint/2010/main" val="2515349175"/>
      </p:ext>
    </p:extLst>
  </p:cSld>
  <p:clrMapOvr>
    <a:masterClrMapping/>
  </p:clrMapOvr>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11560" y="1412776"/>
            <a:ext cx="8064896" cy="4422080"/>
          </a:xfrm>
        </p:spPr>
      </p:pic>
    </p:spTree>
    <p:extLst>
      <p:ext uri="{BB962C8B-B14F-4D97-AF65-F5344CB8AC3E}">
        <p14:creationId xmlns:p14="http://schemas.microsoft.com/office/powerpoint/2010/main" val="3494257407"/>
      </p:ext>
    </p:extLst>
  </p:cSld>
  <p:clrMapOvr>
    <a:masterClrMapping/>
  </p:clrMapOvr>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5058"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39552" y="1700808"/>
            <a:ext cx="8208911" cy="38164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00054983"/>
      </p:ext>
    </p:extLst>
  </p:cSld>
  <p:clrMapOvr>
    <a:masterClrMapping/>
  </p:clrMapOvr>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23528" y="1052736"/>
            <a:ext cx="8424936" cy="4824536"/>
          </a:xfrm>
        </p:spPr>
      </p:pic>
      <p:sp>
        <p:nvSpPr>
          <p:cNvPr id="5" name="Rectangle 4"/>
          <p:cNvSpPr/>
          <p:nvPr/>
        </p:nvSpPr>
        <p:spPr>
          <a:xfrm>
            <a:off x="4716016" y="5229200"/>
            <a:ext cx="3888432" cy="923330"/>
          </a:xfrm>
          <a:prstGeom prst="rect">
            <a:avLst/>
          </a:prstGeom>
        </p:spPr>
        <p:txBody>
          <a:bodyPr wrap="square">
            <a:spAutoFit/>
          </a:bodyPr>
          <a:lstStyle/>
          <a:p>
            <a:r>
              <a:rPr lang="en-US" dirty="0" err="1"/>
              <a:t>W</a:t>
            </a:r>
            <a:r>
              <a:rPr lang="en-US" baseline="-25000" dirty="0" err="1"/>
              <a:t>t</a:t>
            </a:r>
            <a:r>
              <a:rPr lang="en-US" dirty="0"/>
              <a:t> = expanded message word of round t;</a:t>
            </a:r>
          </a:p>
          <a:p>
            <a:r>
              <a:rPr lang="en-US" dirty="0" err="1"/>
              <a:t>K</a:t>
            </a:r>
            <a:r>
              <a:rPr lang="en-US" baseline="-25000" dirty="0" err="1"/>
              <a:t>t</a:t>
            </a:r>
            <a:r>
              <a:rPr lang="en-US" dirty="0"/>
              <a:t> = round constant of round t</a:t>
            </a:r>
          </a:p>
        </p:txBody>
      </p:sp>
    </p:spTree>
    <p:extLst>
      <p:ext uri="{BB962C8B-B14F-4D97-AF65-F5344CB8AC3E}">
        <p14:creationId xmlns:p14="http://schemas.microsoft.com/office/powerpoint/2010/main" val="1065758184"/>
      </p:ext>
    </p:extLst>
  </p:cSld>
  <p:clrMapOvr>
    <a:masterClrMapping/>
  </p:clrMapOvr>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Working of SHA-1</a:t>
            </a:r>
            <a:endParaRPr lang="en-IN" dirty="0"/>
          </a:p>
        </p:txBody>
      </p:sp>
      <p:sp>
        <p:nvSpPr>
          <p:cNvPr id="3" name="Content Placeholder 2"/>
          <p:cNvSpPr>
            <a:spLocks noGrp="1"/>
          </p:cNvSpPr>
          <p:nvPr>
            <p:ph idx="1"/>
          </p:nvPr>
        </p:nvSpPr>
        <p:spPr/>
        <p:txBody>
          <a:bodyPr>
            <a:normAutofit fontScale="62500" lnSpcReduction="20000"/>
          </a:bodyPr>
          <a:lstStyle/>
          <a:p>
            <a:r>
              <a:rPr lang="en-US" b="1" dirty="0"/>
              <a:t>Initialization</a:t>
            </a:r>
            <a:endParaRPr lang="en-US" dirty="0"/>
          </a:p>
          <a:p>
            <a:pPr lvl="1"/>
            <a:r>
              <a:rPr lang="en-US" dirty="0"/>
              <a:t>Let's start with some initial values.</a:t>
            </a:r>
          </a:p>
          <a:p>
            <a:pPr lvl="1"/>
            <a:r>
              <a:rPr lang="en-US" dirty="0"/>
              <a:t>Set all five variables (h0 to h4) with the correct values.</a:t>
            </a:r>
          </a:p>
          <a:p>
            <a:r>
              <a:rPr lang="en-US" b="1" dirty="0"/>
              <a:t>Pre-processing</a:t>
            </a:r>
            <a:endParaRPr lang="en-US" dirty="0"/>
          </a:p>
          <a:p>
            <a:pPr lvl="1"/>
            <a:r>
              <a:rPr lang="en-US" dirty="0"/>
              <a:t>Prepare the message ready for hashing.</a:t>
            </a:r>
          </a:p>
          <a:p>
            <a:pPr lvl="1"/>
            <a:r>
              <a:rPr lang="en-US" dirty="0"/>
              <a:t>A '1' bit should be added to the message's end.</a:t>
            </a:r>
          </a:p>
          <a:p>
            <a:pPr lvl="1"/>
            <a:r>
              <a:rPr lang="en-US" dirty="0"/>
              <a:t>To set a maximum length for the message, append a few '0' bits.</a:t>
            </a:r>
          </a:p>
          <a:p>
            <a:pPr lvl="1"/>
            <a:r>
              <a:rPr lang="en-US" dirty="0"/>
              <a:t>At the end of the message, include the message's original length (in bits).</a:t>
            </a:r>
          </a:p>
          <a:p>
            <a:r>
              <a:rPr lang="en-US" b="1" dirty="0"/>
              <a:t>Processing</a:t>
            </a:r>
            <a:endParaRPr lang="en-US" dirty="0"/>
          </a:p>
          <a:p>
            <a:pPr lvl="1"/>
            <a:r>
              <a:rPr lang="en-US" dirty="0"/>
              <a:t>Divide the message into manageable parts and deal with each one separately.</a:t>
            </a:r>
          </a:p>
          <a:p>
            <a:pPr lvl="1"/>
            <a:r>
              <a:rPr lang="en-US" dirty="0"/>
              <a:t>There should be 512 bits in each section.</a:t>
            </a:r>
          </a:p>
          <a:p>
            <a:pPr lvl="1"/>
            <a:r>
              <a:rPr lang="en-US" dirty="0"/>
              <a:t>Divide the pieces into sixteen 32-bit words each.</a:t>
            </a:r>
          </a:p>
          <a:p>
            <a:pPr lvl="1"/>
            <a:r>
              <a:rPr lang="en-US" dirty="0"/>
              <a:t>Use a formula to extend these words into eighty 32-bit words.</a:t>
            </a:r>
          </a:p>
          <a:p>
            <a:endParaRPr lang="en-IN" dirty="0"/>
          </a:p>
        </p:txBody>
      </p:sp>
    </p:spTree>
    <p:extLst>
      <p:ext uri="{BB962C8B-B14F-4D97-AF65-F5344CB8AC3E}">
        <p14:creationId xmlns:p14="http://schemas.microsoft.com/office/powerpoint/2010/main" val="2974328188"/>
      </p:ext>
    </p:extLst>
  </p:cSld>
  <p:clrMapOvr>
    <a:masterClrMapping/>
  </p:clrMapOvr>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lnSpcReduction="10000"/>
          </a:bodyPr>
          <a:lstStyle/>
          <a:p>
            <a:r>
              <a:rPr lang="en-US" b="1" dirty="0"/>
              <a:t>Main loop</a:t>
            </a:r>
            <a:endParaRPr lang="en-US" dirty="0"/>
          </a:p>
          <a:p>
            <a:pPr lvl="1" algn="just"/>
            <a:r>
              <a:rPr lang="en-US" dirty="0"/>
              <a:t>Go through every word and do some calculations.</a:t>
            </a:r>
          </a:p>
          <a:p>
            <a:pPr lvl="1" algn="just"/>
            <a:r>
              <a:rPr lang="en-US" dirty="0"/>
              <a:t>Based on the position and values of the word, update the temporary variables.</a:t>
            </a:r>
          </a:p>
          <a:p>
            <a:pPr lvl="1" algn="just"/>
            <a:r>
              <a:rPr lang="en-US" dirty="0"/>
              <a:t>As per these calculations, update the hash values.</a:t>
            </a:r>
          </a:p>
          <a:p>
            <a:pPr algn="just"/>
            <a:r>
              <a:rPr lang="en-US" b="1" dirty="0"/>
              <a:t>Finalization</a:t>
            </a:r>
            <a:endParaRPr lang="en-US" dirty="0"/>
          </a:p>
          <a:p>
            <a:pPr lvl="1" algn="just"/>
            <a:r>
              <a:rPr lang="en-US" dirty="0"/>
              <a:t>To get the final hash, combine the hash values.</a:t>
            </a:r>
          </a:p>
          <a:p>
            <a:pPr lvl="1" algn="just"/>
            <a:r>
              <a:rPr lang="en-US" dirty="0"/>
              <a:t>Using a predetermined order, arrange the hash values to generate a 160-bit integer.</a:t>
            </a:r>
          </a:p>
          <a:p>
            <a:endParaRPr lang="en-IN" dirty="0"/>
          </a:p>
        </p:txBody>
      </p:sp>
    </p:spTree>
    <p:extLst>
      <p:ext uri="{BB962C8B-B14F-4D97-AF65-F5344CB8AC3E}">
        <p14:creationId xmlns:p14="http://schemas.microsoft.com/office/powerpoint/2010/main" val="2940675197"/>
      </p:ext>
    </p:extLst>
  </p:cSld>
  <p:clrMapOvr>
    <a:masterClrMapping/>
  </p:clrMapOvr>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6082"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95536" y="1484784"/>
            <a:ext cx="8352927" cy="45365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46400598"/>
      </p:ext>
    </p:extLst>
  </p:cSld>
  <p:clrMapOvr>
    <a:masterClrMapping/>
  </p:clrMapOvr>
  <p:timing>
    <p:tnLst>
      <p:par>
        <p:cTn id="1" dur="indefinite" restart="never" nodeType="tmRoot"/>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P</a:t>
            </a:r>
            <a:r>
              <a:rPr lang="en-IN" b="1" dirty="0" smtClean="0"/>
              <a:t>ublic </a:t>
            </a:r>
            <a:r>
              <a:rPr lang="en-IN" b="1" dirty="0"/>
              <a:t>key </a:t>
            </a:r>
            <a:r>
              <a:rPr lang="en-IN" b="1" dirty="0" smtClean="0"/>
              <a:t>Cryptography</a:t>
            </a:r>
            <a:r>
              <a:rPr lang="en-IN" b="1" dirty="0"/>
              <a:t/>
            </a:r>
            <a:br>
              <a:rPr lang="en-IN" b="1" dirty="0"/>
            </a:br>
            <a:endParaRPr lang="en-IN" dirty="0"/>
          </a:p>
        </p:txBody>
      </p:sp>
      <p:sp>
        <p:nvSpPr>
          <p:cNvPr id="3" name="Content Placeholder 2"/>
          <p:cNvSpPr>
            <a:spLocks noGrp="1"/>
          </p:cNvSpPr>
          <p:nvPr>
            <p:ph idx="1"/>
          </p:nvPr>
        </p:nvSpPr>
        <p:spPr/>
        <p:txBody>
          <a:bodyPr>
            <a:normAutofit fontScale="92500" lnSpcReduction="10000"/>
          </a:bodyPr>
          <a:lstStyle/>
          <a:p>
            <a:pPr algn="just"/>
            <a:r>
              <a:rPr lang="en-US" dirty="0"/>
              <a:t>Public key cryptography is a method of encrypting or signing data with two different keys and making one of the keys, the public key, available for anyone to use. </a:t>
            </a:r>
            <a:endParaRPr lang="en-US" dirty="0" smtClean="0"/>
          </a:p>
          <a:p>
            <a:pPr algn="just"/>
            <a:r>
              <a:rPr lang="en-US" dirty="0" smtClean="0"/>
              <a:t>The </a:t>
            </a:r>
            <a:r>
              <a:rPr lang="en-US" dirty="0"/>
              <a:t>other key is known as the private key. </a:t>
            </a:r>
            <a:endParaRPr lang="en-US" dirty="0" smtClean="0"/>
          </a:p>
          <a:p>
            <a:pPr algn="just"/>
            <a:r>
              <a:rPr lang="en-US" dirty="0" smtClean="0"/>
              <a:t>Data </a:t>
            </a:r>
            <a:r>
              <a:rPr lang="en-US" dirty="0"/>
              <a:t>encrypted with the public key can only be decrypted with the private key. </a:t>
            </a:r>
            <a:endParaRPr lang="en-US" dirty="0" smtClean="0"/>
          </a:p>
          <a:p>
            <a:pPr algn="just"/>
            <a:r>
              <a:rPr lang="en-US" dirty="0" smtClean="0"/>
              <a:t>Because </a:t>
            </a:r>
            <a:r>
              <a:rPr lang="en-US" dirty="0"/>
              <a:t>of this use of two keys instead of one, public key cryptography is also known as </a:t>
            </a:r>
            <a:r>
              <a:rPr lang="en-US" dirty="0">
                <a:hlinkClick r:id="rId2"/>
              </a:rPr>
              <a:t>asymmetric cryptography</a:t>
            </a:r>
            <a:r>
              <a:rPr lang="en-US" dirty="0"/>
              <a:t>.</a:t>
            </a:r>
            <a:endParaRPr lang="en-IN" dirty="0"/>
          </a:p>
        </p:txBody>
      </p:sp>
    </p:spTree>
    <p:extLst>
      <p:ext uri="{BB962C8B-B14F-4D97-AF65-F5344CB8AC3E}">
        <p14:creationId xmlns:p14="http://schemas.microsoft.com/office/powerpoint/2010/main" val="2795058617"/>
      </p:ext>
    </p:extLst>
  </p:cSld>
  <p:clrMapOvr>
    <a:masterClrMapping/>
  </p:clrMapOvr>
  <p:timing>
    <p:tnLst>
      <p:par>
        <p:cTn id="1" dur="indefinite" restart="never" nodeType="tmRoot"/>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How </a:t>
            </a:r>
            <a:r>
              <a:rPr lang="en-US" b="1" dirty="0"/>
              <a:t>does TLS/SSL use public key cryptography?</a:t>
            </a:r>
            <a:br>
              <a:rPr lang="en-US" b="1" dirty="0"/>
            </a:br>
            <a:endParaRPr lang="en-IN" dirty="0"/>
          </a:p>
        </p:txBody>
      </p:sp>
      <p:sp>
        <p:nvSpPr>
          <p:cNvPr id="3" name="Content Placeholder 2"/>
          <p:cNvSpPr>
            <a:spLocks noGrp="1"/>
          </p:cNvSpPr>
          <p:nvPr>
            <p:ph idx="1"/>
          </p:nvPr>
        </p:nvSpPr>
        <p:spPr/>
        <p:txBody>
          <a:bodyPr>
            <a:normAutofit fontScale="70000" lnSpcReduction="20000"/>
          </a:bodyPr>
          <a:lstStyle/>
          <a:p>
            <a:pPr algn="just"/>
            <a:r>
              <a:rPr lang="en-US" dirty="0"/>
              <a:t>Public key cryptography is extremely useful for establishing secure communications over the Internet (via HTTPS). </a:t>
            </a:r>
            <a:endParaRPr lang="en-US" dirty="0" smtClean="0"/>
          </a:p>
          <a:p>
            <a:pPr algn="just"/>
            <a:r>
              <a:rPr lang="en-US" dirty="0" smtClean="0"/>
              <a:t>A </a:t>
            </a:r>
            <a:r>
              <a:rPr lang="en-US" dirty="0"/>
              <a:t>website's </a:t>
            </a:r>
            <a:r>
              <a:rPr lang="en-US" dirty="0">
                <a:hlinkClick r:id="rId2"/>
              </a:rPr>
              <a:t>SSL/TLS certificate</a:t>
            </a:r>
            <a:r>
              <a:rPr lang="en-US" dirty="0"/>
              <a:t>, which is shared publicly, contains the public key, and the private key is installed on the </a:t>
            </a:r>
            <a:r>
              <a:rPr lang="en-US" dirty="0">
                <a:hlinkClick r:id="rId3"/>
              </a:rPr>
              <a:t>origin server</a:t>
            </a:r>
            <a:r>
              <a:rPr lang="en-US" dirty="0"/>
              <a:t> — it's "owned" by the website.</a:t>
            </a:r>
          </a:p>
          <a:p>
            <a:pPr algn="just"/>
            <a:r>
              <a:rPr lang="en-US" dirty="0">
                <a:hlinkClick r:id="rId4"/>
              </a:rPr>
              <a:t>TLS handshakes</a:t>
            </a:r>
            <a:r>
              <a:rPr lang="en-US" dirty="0"/>
              <a:t> use public key cryptography to authenticate the identity of the origin server, and to exchange data that is used for generating the session keys. </a:t>
            </a:r>
            <a:endParaRPr lang="en-US" dirty="0" smtClean="0"/>
          </a:p>
          <a:p>
            <a:pPr algn="just"/>
            <a:r>
              <a:rPr lang="en-US" dirty="0" smtClean="0"/>
              <a:t>A </a:t>
            </a:r>
            <a:r>
              <a:rPr lang="en-US" dirty="0"/>
              <a:t>key exchange algorithm, such as RSA or </a:t>
            </a:r>
            <a:r>
              <a:rPr lang="en-US" dirty="0" err="1"/>
              <a:t>Diffie</a:t>
            </a:r>
            <a:r>
              <a:rPr lang="en-US" dirty="0"/>
              <a:t>-Hellman, uses the public-private key pair to agree upon session keys, which are used for symmetric encryption once the handshake is complete. </a:t>
            </a:r>
            <a:endParaRPr lang="en-US" dirty="0" smtClean="0"/>
          </a:p>
          <a:p>
            <a:pPr algn="just"/>
            <a:r>
              <a:rPr lang="en-US" dirty="0" smtClean="0"/>
              <a:t>Clients </a:t>
            </a:r>
            <a:r>
              <a:rPr lang="en-US" dirty="0"/>
              <a:t>and servers are able to agree upon new session keys for each communication session, so that bad actors are unable to decrypt communications even if they identify or steal one of the session keys from a previous session.</a:t>
            </a:r>
          </a:p>
          <a:p>
            <a:endParaRPr lang="en-IN" dirty="0"/>
          </a:p>
        </p:txBody>
      </p:sp>
    </p:spTree>
    <p:extLst>
      <p:ext uri="{BB962C8B-B14F-4D97-AF65-F5344CB8AC3E}">
        <p14:creationId xmlns:p14="http://schemas.microsoft.com/office/powerpoint/2010/main" val="3992616486"/>
      </p:ext>
    </p:extLst>
  </p:cSld>
  <p:clrMapOvr>
    <a:masterClrMapping/>
  </p:clrMapOvr>
  <p:timing>
    <p:tnLst>
      <p:par>
        <p:cTn id="1" dur="indefinite" restart="never" nodeType="tmRoot"/>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RSA Algorithm</a:t>
            </a:r>
            <a:endParaRPr lang="en-IN" dirty="0"/>
          </a:p>
        </p:txBody>
      </p:sp>
      <p:pic>
        <p:nvPicPr>
          <p:cNvPr id="34818"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475656" y="1556792"/>
            <a:ext cx="6768752" cy="4392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40497832"/>
      </p:ext>
    </p:extLst>
  </p:cSld>
  <p:clrMapOvr>
    <a:masterClrMapping/>
  </p:clrMapOvr>
  <p:timing>
    <p:tnLst>
      <p:par>
        <p:cTn id="1" dur="indefinite" restart="never" nodeType="tmRoot"/>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sp>
        <p:nvSpPr>
          <p:cNvPr id="3" name="Content Placeholder 2"/>
          <p:cNvSpPr>
            <a:spLocks noGrp="1"/>
          </p:cNvSpPr>
          <p:nvPr>
            <p:ph idx="1"/>
          </p:nvPr>
        </p:nvSpPr>
        <p:spPr/>
        <p:txBody>
          <a:bodyPr/>
          <a:lstStyle/>
          <a:p>
            <a:r>
              <a:rPr lang="en-US" dirty="0"/>
              <a:t>Let's say we choose p = 61 and q = 53.</a:t>
            </a:r>
          </a:p>
          <a:p>
            <a:r>
              <a:rPr lang="en-US" dirty="0"/>
              <a:t>n = p * q = 61 * 53 = 3233</a:t>
            </a:r>
          </a:p>
          <a:p>
            <a:r>
              <a:rPr lang="en-US" dirty="0"/>
              <a:t>(n) = (p-1)(q-1) = 60 * 52 = 3120</a:t>
            </a:r>
          </a:p>
          <a:p>
            <a:r>
              <a:rPr lang="en-US" dirty="0"/>
              <a:t>Let's choose e = 17 (a common choice).</a:t>
            </a:r>
          </a:p>
          <a:p>
            <a:r>
              <a:rPr lang="en-US" dirty="0"/>
              <a:t>d = 2753 (computed such that (17 * d) mod 3120 = 1)</a:t>
            </a:r>
          </a:p>
          <a:p>
            <a:r>
              <a:rPr lang="en-US" dirty="0"/>
              <a:t>So, the public key is (3233, 17), and the private key is (3233, 2753).</a:t>
            </a:r>
          </a:p>
          <a:p>
            <a:endParaRPr lang="en-IN" dirty="0"/>
          </a:p>
        </p:txBody>
      </p:sp>
    </p:spTree>
    <p:extLst>
      <p:ext uri="{BB962C8B-B14F-4D97-AF65-F5344CB8AC3E}">
        <p14:creationId xmlns:p14="http://schemas.microsoft.com/office/powerpoint/2010/main" val="440783827"/>
      </p:ext>
    </p:extLst>
  </p:cSld>
  <p:clrMapOvr>
    <a:masterClrMapping/>
  </p:clrMapOvr>
  <p:timing>
    <p:tnLst>
      <p:par>
        <p:cTn id="1" dur="indefinite" restart="never" nodeType="tmRoot"/>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lnSpcReduction="10000"/>
          </a:bodyPr>
          <a:lstStyle/>
          <a:p>
            <a:r>
              <a:rPr lang="en-US" dirty="0"/>
              <a:t>Encryption</a:t>
            </a:r>
          </a:p>
          <a:p>
            <a:r>
              <a:rPr lang="en-US" dirty="0"/>
              <a:t>To encrypt a message, the sender Uses the public key (n, e) provided by the recipient. Converts the plaintext message (m) into a </a:t>
            </a:r>
            <a:r>
              <a:rPr lang="en-US" dirty="0" err="1"/>
              <a:t>ciphertext</a:t>
            </a:r>
            <a:r>
              <a:rPr lang="en-US" dirty="0"/>
              <a:t> (c) using the formula −</a:t>
            </a:r>
          </a:p>
          <a:p>
            <a:r>
              <a:rPr lang="en-US" dirty="0"/>
              <a:t>c = </a:t>
            </a:r>
            <a:r>
              <a:rPr lang="en-US" dirty="0" err="1"/>
              <a:t>m^e</a:t>
            </a:r>
            <a:r>
              <a:rPr lang="en-US" dirty="0"/>
              <a:t> mod n.</a:t>
            </a:r>
          </a:p>
          <a:p>
            <a:r>
              <a:rPr lang="en-US" dirty="0"/>
              <a:t>Suppose we want to encrypt the message "HELLO". We convert it to ASCII: H(72) E(69) L(76) L(76) O(79).</a:t>
            </a:r>
          </a:p>
          <a:p>
            <a:endParaRPr lang="en-IN" dirty="0"/>
          </a:p>
        </p:txBody>
      </p:sp>
    </p:spTree>
    <p:extLst>
      <p:ext uri="{BB962C8B-B14F-4D97-AF65-F5344CB8AC3E}">
        <p14:creationId xmlns:p14="http://schemas.microsoft.com/office/powerpoint/2010/main" val="4212553203"/>
      </p:ext>
    </p:extLst>
  </p:cSld>
  <p:clrMapOvr>
    <a:masterClrMapping/>
  </p:clrMapOvr>
  <p:timing>
    <p:tnLst>
      <p:par>
        <p:cTn id="1" dur="indefinite" restart="never" nodeType="tmRoot"/>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dirty="0"/>
              <a:t>We will encrypt each ASCII value separately −</a:t>
            </a:r>
          </a:p>
          <a:p>
            <a:r>
              <a:rPr lang="en-IN" dirty="0"/>
              <a:t>H: C = 72^17 mod 3233 = 2103</a:t>
            </a:r>
          </a:p>
          <a:p>
            <a:r>
              <a:rPr lang="en-IN" dirty="0"/>
              <a:t>E: C = 69^17 mod 3233 = 2464</a:t>
            </a:r>
          </a:p>
          <a:p>
            <a:r>
              <a:rPr lang="en-IN" dirty="0"/>
              <a:t>L: C = 76^17 mod 3233 = 2190</a:t>
            </a:r>
          </a:p>
          <a:p>
            <a:r>
              <a:rPr lang="en-IN" dirty="0"/>
              <a:t>L: C = 76^17 mod 3233 = 2190</a:t>
            </a:r>
          </a:p>
          <a:p>
            <a:r>
              <a:rPr lang="en-IN" dirty="0"/>
              <a:t>O: C = 79^17 mod 3233 = 875</a:t>
            </a:r>
          </a:p>
          <a:p>
            <a:endParaRPr lang="en-IN" dirty="0"/>
          </a:p>
        </p:txBody>
      </p:sp>
    </p:spTree>
    <p:extLst>
      <p:ext uri="{BB962C8B-B14F-4D97-AF65-F5344CB8AC3E}">
        <p14:creationId xmlns:p14="http://schemas.microsoft.com/office/powerpoint/2010/main" val="1753059787"/>
      </p:ext>
    </p:extLst>
  </p:cSld>
  <p:clrMapOvr>
    <a:masterClrMapping/>
  </p:clrMapOvr>
  <p:timing>
    <p:tnLst>
      <p:par>
        <p:cTn id="1" dur="indefinite" restart="never" nodeType="tmRoot"/>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dirty="0"/>
              <a:t>Decryption</a:t>
            </a:r>
          </a:p>
          <a:p>
            <a:r>
              <a:rPr lang="en-US" dirty="0"/>
              <a:t>Once the </a:t>
            </a:r>
            <a:r>
              <a:rPr lang="en-US" dirty="0" err="1"/>
              <a:t>ciphertext</a:t>
            </a:r>
            <a:r>
              <a:rPr lang="en-US" dirty="0"/>
              <a:t> (c) is received, the recipient uses their private key (n, d) to decrypt the message. Computes the plaintext message (m) using the formula −</a:t>
            </a:r>
          </a:p>
          <a:p>
            <a:r>
              <a:rPr lang="en-US" dirty="0"/>
              <a:t>m = </a:t>
            </a:r>
            <a:r>
              <a:rPr lang="en-US" dirty="0" err="1"/>
              <a:t>c^d</a:t>
            </a:r>
            <a:r>
              <a:rPr lang="en-US" dirty="0"/>
              <a:t> mod n.</a:t>
            </a:r>
          </a:p>
          <a:p>
            <a:r>
              <a:rPr lang="en-US" dirty="0"/>
              <a:t>The recipient receives the </a:t>
            </a:r>
            <a:r>
              <a:rPr lang="en-US" dirty="0" err="1"/>
              <a:t>ciphertext</a:t>
            </a:r>
            <a:r>
              <a:rPr lang="en-US" dirty="0"/>
              <a:t> (2103, 2464, 2190, 2190, 875).</a:t>
            </a:r>
          </a:p>
          <a:p>
            <a:endParaRPr lang="en-IN" dirty="0"/>
          </a:p>
        </p:txBody>
      </p:sp>
    </p:spTree>
    <p:extLst>
      <p:ext uri="{BB962C8B-B14F-4D97-AF65-F5344CB8AC3E}">
        <p14:creationId xmlns:p14="http://schemas.microsoft.com/office/powerpoint/2010/main" val="255358940"/>
      </p:ext>
    </p:extLst>
  </p:cSld>
  <p:clrMapOvr>
    <a:masterClrMapping/>
  </p:clrMapOvr>
  <p:timing>
    <p:tnLst>
      <p:par>
        <p:cTn id="1" dur="indefinite" restart="never" nodeType="tmRoot"/>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lnSpcReduction="10000"/>
          </a:bodyPr>
          <a:lstStyle/>
          <a:p>
            <a:r>
              <a:rPr lang="en-US" dirty="0"/>
              <a:t>They use their private key to decrypt each value −</a:t>
            </a:r>
          </a:p>
          <a:p>
            <a:r>
              <a:rPr lang="en-US" dirty="0"/>
              <a:t>M = 2103^2753 mod 3233 = 72 (H)</a:t>
            </a:r>
          </a:p>
          <a:p>
            <a:r>
              <a:rPr lang="en-US" dirty="0"/>
              <a:t>M = 2464^2753 mod 3233 = 69 (E)</a:t>
            </a:r>
          </a:p>
          <a:p>
            <a:r>
              <a:rPr lang="en-US" dirty="0"/>
              <a:t>M = 2190^2753 mod 3233 = 76 (L)</a:t>
            </a:r>
          </a:p>
          <a:p>
            <a:r>
              <a:rPr lang="en-US" dirty="0"/>
              <a:t>M = 2190^2753 mod 3233 = 76 (L)</a:t>
            </a:r>
          </a:p>
          <a:p>
            <a:r>
              <a:rPr lang="en-US" dirty="0"/>
              <a:t>M = 875^2753 mod 3233 = 79 (O)</a:t>
            </a:r>
          </a:p>
          <a:p>
            <a:pPr marL="0" indent="0">
              <a:buNone/>
            </a:pPr>
            <a:r>
              <a:rPr lang="en-US" dirty="0"/>
              <a:t>the decrypted message is "HELLO".</a:t>
            </a:r>
            <a:endParaRPr lang="en-IN" dirty="0"/>
          </a:p>
        </p:txBody>
      </p:sp>
    </p:spTree>
    <p:extLst>
      <p:ext uri="{BB962C8B-B14F-4D97-AF65-F5344CB8AC3E}">
        <p14:creationId xmlns:p14="http://schemas.microsoft.com/office/powerpoint/2010/main" val="4141877334"/>
      </p:ext>
    </p:extLst>
  </p:cSld>
  <p:clrMapOvr>
    <a:masterClrMapping/>
  </p:clrMapOvr>
  <p:timing>
    <p:tnLst>
      <p:par>
        <p:cTn id="1" dur="indefinite" restart="never" nodeType="tmRoot"/>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3789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67544" y="1412776"/>
            <a:ext cx="8136904" cy="4320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79313756"/>
      </p:ext>
    </p:extLst>
  </p:cSld>
  <p:clrMapOvr>
    <a:masterClrMapping/>
  </p:clrMapOvr>
  <p:timing>
    <p:tnLst>
      <p:par>
        <p:cTn id="1" dur="indefinite" restart="never" nodeType="tmRoot"/>
      </p:par>
    </p:tn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3891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11560" y="1628800"/>
            <a:ext cx="7992888" cy="42484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641811"/>
      </p:ext>
    </p:extLst>
  </p:cSld>
  <p:clrMapOvr>
    <a:masterClrMapping/>
  </p:clrMapOvr>
  <p:timing>
    <p:tnLst>
      <p:par>
        <p:cTn id="1" dur="indefinite" restart="never" nodeType="tmRoot"/>
      </p:par>
    </p:tn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39938"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39552" y="1556792"/>
            <a:ext cx="7992888" cy="40324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79281242"/>
      </p:ext>
    </p:extLst>
  </p:cSld>
  <p:clrMapOvr>
    <a:masterClrMapping/>
  </p:clrMapOvr>
  <p:timing>
    <p:tnLst>
      <p:par>
        <p:cTn id="1" dur="indefinite" restart="never" nodeType="tmRoot"/>
      </p:par>
    </p:tn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0962"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11560" y="1556792"/>
            <a:ext cx="7992888" cy="44644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62223092"/>
      </p:ext>
    </p:extLst>
  </p:cSld>
  <p:clrMapOvr>
    <a:masterClrMapping/>
  </p:clrMapOvr>
  <p:timing>
    <p:tnLst>
      <p:par>
        <p:cTn id="1" dur="indefinite" restart="never" nodeType="tmRoot"/>
      </p:par>
    </p:tn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4" name="AutoShape 2" descr="RSA-Encryption-and-Decryption-Example-5.webp"/>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5" name="AutoShape 4" descr="RSA-Encryption-and-Decryption-Example-5.webp"/>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41989" name="Picture 5"/>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12775" y="1844824"/>
            <a:ext cx="7919665" cy="41764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80938912"/>
      </p:ext>
    </p:extLst>
  </p:cSld>
  <p:clrMapOvr>
    <a:masterClrMapping/>
  </p:clrMapOvr>
  <p:timing>
    <p:tnLst>
      <p:par>
        <p:cTn id="1" dur="indefinite" restart="never" nodeType="tmRoot"/>
      </p:par>
    </p:tn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Digital Certificate</a:t>
            </a:r>
            <a:endParaRPr lang="en-IN" b="1" dirty="0"/>
          </a:p>
        </p:txBody>
      </p:sp>
      <p:sp>
        <p:nvSpPr>
          <p:cNvPr id="3" name="Content Placeholder 2"/>
          <p:cNvSpPr>
            <a:spLocks noGrp="1"/>
          </p:cNvSpPr>
          <p:nvPr>
            <p:ph idx="1"/>
          </p:nvPr>
        </p:nvSpPr>
        <p:spPr/>
        <p:txBody>
          <a:bodyPr>
            <a:normAutofit fontScale="92500" lnSpcReduction="10000"/>
          </a:bodyPr>
          <a:lstStyle/>
          <a:p>
            <a:pPr algn="just" fontAlgn="base"/>
            <a:r>
              <a:rPr lang="en-US" dirty="0"/>
              <a:t>A Digital Certificate referred to as a public key certificate, is used to establish a cryptographic link between the owner of a public key and that entity. These are used to exchange public keys needed for authentication and encryption.</a:t>
            </a:r>
          </a:p>
          <a:p>
            <a:pPr algn="just" fontAlgn="base"/>
            <a:r>
              <a:rPr lang="en-US" dirty="0"/>
              <a:t>The certified public key, metadata about the certificate holder, identity information about the public key, and a </a:t>
            </a:r>
            <a:r>
              <a:rPr lang="en-US" b="1" dirty="0"/>
              <a:t>digital signature</a:t>
            </a:r>
            <a:r>
              <a:rPr lang="en-US" dirty="0"/>
              <a:t> of the public key created by the certificate issuer make up a </a:t>
            </a:r>
            <a:r>
              <a:rPr lang="en-US" b="1" dirty="0"/>
              <a:t>digital certificate</a:t>
            </a:r>
            <a:r>
              <a:rPr lang="en-US" dirty="0"/>
              <a:t>.</a:t>
            </a:r>
          </a:p>
          <a:p>
            <a:endParaRPr lang="en-IN" dirty="0"/>
          </a:p>
        </p:txBody>
      </p:sp>
    </p:spTree>
    <p:extLst>
      <p:ext uri="{BB962C8B-B14F-4D97-AF65-F5344CB8AC3E}">
        <p14:creationId xmlns:p14="http://schemas.microsoft.com/office/powerpoint/2010/main" val="684312211"/>
      </p:ext>
    </p:extLst>
  </p:cSld>
  <p:clrMapOvr>
    <a:masterClrMapping/>
  </p:clrMapOvr>
  <p:timing>
    <p:tnLst>
      <p:par>
        <p:cTn id="1" dur="indefinite" restart="never" nodeType="tmRoot"/>
      </p:par>
    </p:tn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lnSpcReduction="10000"/>
          </a:bodyPr>
          <a:lstStyle/>
          <a:p>
            <a:pPr algn="just"/>
            <a:r>
              <a:rPr lang="en-US" dirty="0"/>
              <a:t>It is basically a certificate issued digitally, issued to verify a user's authenticity i.e., verifying the user sending a message is who he or she claims to be, and also to provide the receiver with the means to encode a reply.</a:t>
            </a:r>
          </a:p>
          <a:p>
            <a:pPr algn="just"/>
            <a:r>
              <a:rPr lang="en-US" dirty="0"/>
              <a:t>Whoever wants to or an individual who wants to send encrypted messages applies for a digital certificate from a Certificate Authority (CA).</a:t>
            </a:r>
          </a:p>
          <a:p>
            <a:endParaRPr lang="en-IN" dirty="0"/>
          </a:p>
        </p:txBody>
      </p:sp>
    </p:spTree>
    <p:extLst>
      <p:ext uri="{BB962C8B-B14F-4D97-AF65-F5344CB8AC3E}">
        <p14:creationId xmlns:p14="http://schemas.microsoft.com/office/powerpoint/2010/main" val="1022243430"/>
      </p:ext>
    </p:extLst>
  </p:cSld>
  <p:clrMapOvr>
    <a:masterClrMapping/>
  </p:clrMapOvr>
  <p:timing>
    <p:tnLst>
      <p:par>
        <p:cTn id="1" dur="indefinite" restart="never" nodeType="tmRoot"/>
      </p:par>
    </p:tn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Need of digital certificate</a:t>
            </a:r>
            <a:br>
              <a:rPr lang="en-IN" dirty="0"/>
            </a:br>
            <a:endParaRPr lang="en-IN" dirty="0"/>
          </a:p>
        </p:txBody>
      </p:sp>
      <p:sp>
        <p:nvSpPr>
          <p:cNvPr id="3" name="Content Placeholder 2"/>
          <p:cNvSpPr>
            <a:spLocks noGrp="1"/>
          </p:cNvSpPr>
          <p:nvPr>
            <p:ph idx="1"/>
          </p:nvPr>
        </p:nvSpPr>
        <p:spPr/>
        <p:txBody>
          <a:bodyPr>
            <a:normAutofit/>
          </a:bodyPr>
          <a:lstStyle/>
          <a:p>
            <a:pPr algn="just"/>
            <a:r>
              <a:rPr lang="en-US" sz="2400" dirty="0"/>
              <a:t>The digital certificate allows entities to share their public key in an authenticated way. </a:t>
            </a:r>
            <a:endParaRPr lang="en-US" sz="2400" dirty="0" smtClean="0"/>
          </a:p>
          <a:p>
            <a:pPr algn="just"/>
            <a:r>
              <a:rPr lang="en-US" sz="2400" dirty="0" smtClean="0"/>
              <a:t>They </a:t>
            </a:r>
            <a:r>
              <a:rPr lang="en-US" sz="2400" dirty="0"/>
              <a:t>are used in initializing and establishing secure SSL (Secure Sockets Layer) connections between web browsers and web </a:t>
            </a:r>
            <a:r>
              <a:rPr lang="en-US" sz="2400" dirty="0" smtClean="0"/>
              <a:t>servers</a:t>
            </a:r>
            <a:r>
              <a:rPr lang="en-US" sz="2400" dirty="0"/>
              <a:t>.</a:t>
            </a:r>
            <a:endParaRPr lang="en-IN" sz="2400"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03648" y="3573016"/>
            <a:ext cx="6667500" cy="2276475"/>
          </a:xfrm>
          <a:prstGeom prst="rect">
            <a:avLst/>
          </a:prstGeom>
        </p:spPr>
      </p:pic>
    </p:spTree>
    <p:extLst>
      <p:ext uri="{BB962C8B-B14F-4D97-AF65-F5344CB8AC3E}">
        <p14:creationId xmlns:p14="http://schemas.microsoft.com/office/powerpoint/2010/main" val="3508699865"/>
      </p:ext>
    </p:extLst>
  </p:cSld>
  <p:clrMapOvr>
    <a:masterClrMapping/>
  </p:clrMapOvr>
  <p:timing>
    <p:tnLst>
      <p:par>
        <p:cTn id="1" dur="indefinite" restart="never" nodeType="tmRoot"/>
      </p:par>
    </p:tn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Digital Signature</a:t>
            </a:r>
            <a:endParaRPr lang="en-IN" dirty="0"/>
          </a:p>
        </p:txBody>
      </p:sp>
      <p:sp>
        <p:nvSpPr>
          <p:cNvPr id="3" name="Content Placeholder 2"/>
          <p:cNvSpPr>
            <a:spLocks noGrp="1"/>
          </p:cNvSpPr>
          <p:nvPr>
            <p:ph idx="1"/>
          </p:nvPr>
        </p:nvSpPr>
        <p:spPr>
          <a:xfrm>
            <a:off x="457200" y="1340768"/>
            <a:ext cx="8229600" cy="4785395"/>
          </a:xfrm>
        </p:spPr>
        <p:txBody>
          <a:bodyPr>
            <a:normAutofit fontScale="85000" lnSpcReduction="10000"/>
          </a:bodyPr>
          <a:lstStyle/>
          <a:p>
            <a:pPr algn="just"/>
            <a:r>
              <a:rPr lang="en-US" dirty="0"/>
              <a:t>A digital signature or a digital code which is generated and authenticated by public key encryption is a mathematical scheme verifying the authenticity of digital messages or documents</a:t>
            </a:r>
            <a:r>
              <a:rPr lang="en-US" dirty="0" smtClean="0"/>
              <a:t>.</a:t>
            </a:r>
          </a:p>
          <a:p>
            <a:pPr algn="just"/>
            <a:r>
              <a:rPr lang="en-US" dirty="0"/>
              <a:t>The digital signature is based on RSA and public key cryptography which depends on two mutually authenticating cryptographic keys. </a:t>
            </a:r>
            <a:endParaRPr lang="en-US" dirty="0" smtClean="0"/>
          </a:p>
          <a:p>
            <a:pPr algn="just"/>
            <a:r>
              <a:rPr lang="en-US" dirty="0" smtClean="0"/>
              <a:t>The </a:t>
            </a:r>
            <a:r>
              <a:rPr lang="en-US" dirty="0"/>
              <a:t>creator and the sender creating the digital signature uses his/her own private key to encrypt signature-related data and to decrypt that data the signer's public key is used which is the only key to decrypt it.</a:t>
            </a:r>
            <a:endParaRPr lang="en-IN" dirty="0"/>
          </a:p>
        </p:txBody>
      </p:sp>
    </p:spTree>
    <p:extLst>
      <p:ext uri="{BB962C8B-B14F-4D97-AF65-F5344CB8AC3E}">
        <p14:creationId xmlns:p14="http://schemas.microsoft.com/office/powerpoint/2010/main" val="536410086"/>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Purpose of digital signature</a:t>
            </a:r>
            <a:br>
              <a:rPr lang="en-IN" dirty="0"/>
            </a:br>
            <a:endParaRPr lang="en-IN" dirty="0"/>
          </a:p>
        </p:txBody>
      </p:sp>
      <p:sp>
        <p:nvSpPr>
          <p:cNvPr id="3" name="Content Placeholder 2"/>
          <p:cNvSpPr>
            <a:spLocks noGrp="1"/>
          </p:cNvSpPr>
          <p:nvPr>
            <p:ph idx="1"/>
          </p:nvPr>
        </p:nvSpPr>
        <p:spPr/>
        <p:txBody>
          <a:bodyPr/>
          <a:lstStyle/>
          <a:p>
            <a:r>
              <a:rPr lang="en-US" dirty="0"/>
              <a:t>It is attached to an electronically transmitted document verifying its contents and the sender's identity authenticating him. </a:t>
            </a:r>
            <a:endParaRPr lang="en-US" dirty="0" smtClean="0"/>
          </a:p>
          <a:p>
            <a:r>
              <a:rPr lang="en-US" dirty="0" smtClean="0"/>
              <a:t>It </a:t>
            </a:r>
            <a:r>
              <a:rPr lang="en-US" dirty="0"/>
              <a:t>is used for software distribution, financial transactions, and contract management software.</a:t>
            </a:r>
            <a:endParaRPr lang="en-IN" dirty="0"/>
          </a:p>
        </p:txBody>
      </p:sp>
    </p:spTree>
    <p:extLst>
      <p:ext uri="{BB962C8B-B14F-4D97-AF65-F5344CB8AC3E}">
        <p14:creationId xmlns:p14="http://schemas.microsoft.com/office/powerpoint/2010/main" val="2278507001"/>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Public Key Infrastructure (PKI)</a:t>
            </a:r>
            <a:endParaRPr lang="en-IN" dirty="0"/>
          </a:p>
        </p:txBody>
      </p:sp>
      <p:sp>
        <p:nvSpPr>
          <p:cNvPr id="3" name="Content Placeholder 2"/>
          <p:cNvSpPr>
            <a:spLocks noGrp="1"/>
          </p:cNvSpPr>
          <p:nvPr>
            <p:ph idx="1"/>
          </p:nvPr>
        </p:nvSpPr>
        <p:spPr/>
        <p:txBody>
          <a:bodyPr>
            <a:normAutofit fontScale="85000" lnSpcReduction="20000"/>
          </a:bodyPr>
          <a:lstStyle/>
          <a:p>
            <a:pPr fontAlgn="base"/>
            <a:r>
              <a:rPr lang="en-US" dirty="0"/>
              <a:t>Public Key Infrastructure (PKI) is a security framework that issues and manages digital certificates to establish trust on digital networks. It ensures secure communication by validating identities, protecting data, and preventing unauthorized access.</a:t>
            </a:r>
          </a:p>
          <a:p>
            <a:pPr fontAlgn="base"/>
            <a:r>
              <a:rPr lang="en-US" dirty="0"/>
              <a:t>Provides unique digital identities to users, devices, and systems</a:t>
            </a:r>
          </a:p>
          <a:p>
            <a:pPr fontAlgn="base"/>
            <a:r>
              <a:rPr lang="en-US" dirty="0"/>
              <a:t>Secures communication using public and private key pairs</a:t>
            </a:r>
          </a:p>
          <a:p>
            <a:pPr fontAlgn="base"/>
            <a:r>
              <a:rPr lang="en-US" dirty="0"/>
              <a:t>Prevents MITM attacks by verifying key ownership</a:t>
            </a:r>
          </a:p>
          <a:p>
            <a:pPr fontAlgn="base"/>
            <a:r>
              <a:rPr lang="en-US" dirty="0"/>
              <a:t>Ensures confidentiality, integrity, and authenticity of data</a:t>
            </a:r>
          </a:p>
          <a:p>
            <a:endParaRPr lang="en-IN" dirty="0"/>
          </a:p>
        </p:txBody>
      </p:sp>
    </p:spTree>
    <p:extLst>
      <p:ext uri="{BB962C8B-B14F-4D97-AF65-F5344CB8AC3E}">
        <p14:creationId xmlns:p14="http://schemas.microsoft.com/office/powerpoint/2010/main" val="354525881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31663</TotalTime>
  <Words>4217</Words>
  <Application>Microsoft Office PowerPoint</Application>
  <PresentationFormat>On-screen Show (4:3)</PresentationFormat>
  <Paragraphs>522</Paragraphs>
  <Slides>151</Slides>
  <Notes>8</Notes>
  <HiddenSlides>0</HiddenSlides>
  <MMClips>0</MMClips>
  <ScaleCrop>false</ScaleCrop>
  <HeadingPairs>
    <vt:vector size="4" baseType="variant">
      <vt:variant>
        <vt:lpstr>Theme</vt:lpstr>
      </vt:variant>
      <vt:variant>
        <vt:i4>1</vt:i4>
      </vt:variant>
      <vt:variant>
        <vt:lpstr>Slide Titles</vt:lpstr>
      </vt:variant>
      <vt:variant>
        <vt:i4>151</vt:i4>
      </vt:variant>
    </vt:vector>
  </HeadingPairs>
  <TitlesOfParts>
    <vt:vector size="152" baseType="lpstr">
      <vt:lpstr>Office Theme</vt:lpstr>
      <vt:lpstr>Network and Information Security </vt:lpstr>
      <vt:lpstr>PowerPoint Presentation</vt:lpstr>
      <vt:lpstr>PowerPoint Presentation</vt:lpstr>
      <vt:lpstr>What is Information Security</vt:lpstr>
      <vt:lpstr>What is InfoSec?</vt:lpstr>
      <vt:lpstr> 3 Principles of Information Security? </vt:lpstr>
      <vt:lpstr>PowerPoint Presentation</vt:lpstr>
      <vt:lpstr>Components &amp; Practices </vt:lpstr>
      <vt:lpstr>Threat </vt:lpstr>
      <vt:lpstr>PowerPoint Presentation</vt:lpstr>
      <vt:lpstr>Types of Attack </vt:lpstr>
      <vt:lpstr>Types of active attacks</vt:lpstr>
      <vt:lpstr>Masquerade Attack </vt:lpstr>
      <vt:lpstr>Modification of Messages</vt:lpstr>
      <vt:lpstr>Repudiation </vt:lpstr>
      <vt:lpstr>Replay Attack </vt:lpstr>
      <vt:lpstr>Denial of Service(DoS) Attack </vt:lpstr>
      <vt:lpstr>PowerPoint Presentation</vt:lpstr>
      <vt:lpstr>Vulnerabilities </vt:lpstr>
      <vt:lpstr>Types of Vulnerabilities </vt:lpstr>
      <vt:lpstr>Hardware Vulnerability  </vt:lpstr>
      <vt:lpstr>Software Vulnerability  </vt:lpstr>
      <vt:lpstr>Software Vulnerability: </vt:lpstr>
      <vt:lpstr>PowerPoint Presentation</vt:lpstr>
      <vt:lpstr>Network Vulnerability  </vt:lpstr>
      <vt:lpstr>PowerPoint Presentation</vt:lpstr>
      <vt:lpstr> Procedural Vulnerability </vt:lpstr>
      <vt:lpstr>PowerPoint Presentation</vt:lpstr>
      <vt:lpstr>PowerPoint Presentation</vt:lpstr>
      <vt:lpstr> Human Vulnerabilities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Conventional Cryptographic Techniques</vt:lpstr>
      <vt:lpstr>Substitution Cipher</vt:lpstr>
      <vt:lpstr>Ceasor Cipher </vt:lpstr>
      <vt:lpstr>PowerPoint Presentation</vt:lpstr>
      <vt:lpstr>PowerPoint Presentation</vt:lpstr>
      <vt:lpstr>Monoalphabetic Cipher </vt:lpstr>
      <vt:lpstr>Polyalphabetic Cipher</vt:lpstr>
      <vt:lpstr>PowerPoint Presentation</vt:lpstr>
      <vt:lpstr>PowerPoint Presentation</vt:lpstr>
      <vt:lpstr>PowerPoint Presentation</vt:lpstr>
      <vt:lpstr>PowerPoint Presentation</vt:lpstr>
      <vt:lpstr>PowerPoint Presentation</vt:lpstr>
      <vt:lpstr>PowerPoint Presentation</vt:lpstr>
      <vt:lpstr>Playfair cipher</vt:lpstr>
      <vt:lpstr>PowerPoint Presentation</vt:lpstr>
      <vt:lpstr>Examples</vt:lpstr>
      <vt:lpstr>PowerPoint Presentation</vt:lpstr>
      <vt:lpstr>Rules for Encryption </vt:lpstr>
      <vt:lpstr>PowerPoint Presentation</vt:lpstr>
      <vt:lpstr>PowerPoint Presentation</vt:lpstr>
      <vt:lpstr>PowerPoint Presentation</vt:lpstr>
      <vt:lpstr>Rules for Decryption </vt:lpstr>
      <vt:lpstr>PowerPoint Presentation</vt:lpstr>
      <vt:lpstr>PowerPoint Presentation</vt:lpstr>
      <vt:lpstr>PowerPoint Presentation</vt:lpstr>
      <vt:lpstr>Hill Cipher</vt:lpstr>
      <vt:lpstr>Example</vt:lpstr>
      <vt:lpstr>PowerPoint Presentation</vt:lpstr>
      <vt:lpstr>PowerPoint Presentation</vt:lpstr>
      <vt:lpstr>PowerPoint Presentation</vt:lpstr>
      <vt:lpstr>PowerPoint Presentation</vt:lpstr>
      <vt:lpstr>One Time Pad</vt:lpstr>
      <vt:lpstr>PowerPoint Presentation</vt:lpstr>
      <vt:lpstr>Transposition Cipher</vt:lpstr>
      <vt:lpstr> Types of Transposition Cipher Techniques </vt:lpstr>
      <vt:lpstr>Rail Fence Transposition Cipher </vt:lpstr>
      <vt:lpstr>PowerPoint Presentation</vt:lpstr>
      <vt:lpstr> Block (Single Columnar) Transposition Cipher </vt:lpstr>
      <vt:lpstr>PowerPoint Presentation</vt:lpstr>
      <vt:lpstr>PowerPoint Presentation</vt:lpstr>
      <vt:lpstr>Decryption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steganography</vt:lpstr>
      <vt:lpstr>PowerPoint Presentation</vt:lpstr>
      <vt:lpstr>PowerPoint Presentation</vt:lpstr>
      <vt:lpstr>PowerPoint Presentation</vt:lpstr>
      <vt:lpstr>PowerPoint Presentation</vt:lpstr>
      <vt:lpstr>Cryptography</vt:lpstr>
      <vt:lpstr>PowerPoint Presentation</vt:lpstr>
      <vt:lpstr>Working of a cryptography</vt:lpstr>
      <vt:lpstr>PowerPoint Presentation</vt:lpstr>
      <vt:lpstr>PowerPoint Presentation</vt:lpstr>
      <vt:lpstr>Block and Stream Cipher</vt:lpstr>
      <vt:lpstr>Block Cipher</vt:lpstr>
      <vt:lpstr>Stream Cipher</vt:lpstr>
      <vt:lpstr>Data Encryption Standard</vt:lpstr>
      <vt:lpstr>PowerPoint Presentation</vt:lpstr>
      <vt:lpstr>AES Subbytes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Hash Function</vt:lpstr>
      <vt:lpstr>PowerPoint Presentation</vt:lpstr>
      <vt:lpstr> Properties of Cryptographic Hash Functions </vt:lpstr>
      <vt:lpstr> Popular Cryptographic Hash Algorithms </vt:lpstr>
      <vt:lpstr>PowerPoint Presentation</vt:lpstr>
      <vt:lpstr>PowerPoint Presentation</vt:lpstr>
      <vt:lpstr>PowerPoint Presentation</vt:lpstr>
      <vt:lpstr>PowerPoint Presentation</vt:lpstr>
      <vt:lpstr>PowerPoint Presentation</vt:lpstr>
      <vt:lpstr>Working of SHA-1</vt:lpstr>
      <vt:lpstr>PowerPoint Presentation</vt:lpstr>
      <vt:lpstr>PowerPoint Presentation</vt:lpstr>
      <vt:lpstr>Public key Cryptography </vt:lpstr>
      <vt:lpstr> How does TLS/SSL use public key cryptography? </vt:lpstr>
      <vt:lpstr>RSA Algorithm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Digital Certificate</vt:lpstr>
      <vt:lpstr>PowerPoint Presentation</vt:lpstr>
      <vt:lpstr>Need of digital certificate </vt:lpstr>
      <vt:lpstr>Digital Signature</vt:lpstr>
      <vt:lpstr>Purpose of digital signature </vt:lpstr>
      <vt:lpstr>Public Key Infrastructure (PKI)</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Network and Information Security</dc:title>
  <dc:creator>Dr.Anushree Deshmukh</dc:creator>
  <cp:lastModifiedBy>Dr.Anushree Deshmukh</cp:lastModifiedBy>
  <cp:revision>82</cp:revision>
  <dcterms:created xsi:type="dcterms:W3CDTF">2026-01-02T06:08:06Z</dcterms:created>
  <dcterms:modified xsi:type="dcterms:W3CDTF">2026-02-03T11:43:54Z</dcterms:modified>
</cp:coreProperties>
</file>