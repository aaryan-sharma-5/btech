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6" r:id="rId3"/>
    <p:sldMasterId id="2147483708" r:id="rId4"/>
    <p:sldMasterId id="2147483865" r:id="rId5"/>
  </p:sldMasterIdLst>
  <p:notesMasterIdLst>
    <p:notesMasterId r:id="rId153"/>
  </p:notesMasterIdLst>
  <p:sldIdLst>
    <p:sldId id="256" r:id="rId6"/>
    <p:sldId id="398" r:id="rId7"/>
    <p:sldId id="461" r:id="rId8"/>
    <p:sldId id="462" r:id="rId9"/>
    <p:sldId id="463" r:id="rId10"/>
    <p:sldId id="278" r:id="rId11"/>
    <p:sldId id="279" r:id="rId12"/>
    <p:sldId id="280" r:id="rId13"/>
    <p:sldId id="281" r:id="rId14"/>
    <p:sldId id="464" r:id="rId15"/>
    <p:sldId id="465" r:id="rId16"/>
    <p:sldId id="396" r:id="rId17"/>
    <p:sldId id="397" r:id="rId18"/>
    <p:sldId id="257" r:id="rId19"/>
    <p:sldId id="259" r:id="rId20"/>
    <p:sldId id="379" r:id="rId21"/>
    <p:sldId id="380" r:id="rId22"/>
    <p:sldId id="381" r:id="rId23"/>
    <p:sldId id="382" r:id="rId24"/>
    <p:sldId id="383" r:id="rId25"/>
    <p:sldId id="384" r:id="rId26"/>
    <p:sldId id="385" r:id="rId27"/>
    <p:sldId id="386" r:id="rId28"/>
    <p:sldId id="369" r:id="rId29"/>
    <p:sldId id="370" r:id="rId30"/>
    <p:sldId id="371" r:id="rId31"/>
    <p:sldId id="373" r:id="rId32"/>
    <p:sldId id="374" r:id="rId33"/>
    <p:sldId id="265" r:id="rId34"/>
    <p:sldId id="466" r:id="rId35"/>
    <p:sldId id="467" r:id="rId36"/>
    <p:sldId id="378" r:id="rId37"/>
    <p:sldId id="392" r:id="rId38"/>
    <p:sldId id="393" r:id="rId39"/>
    <p:sldId id="403" r:id="rId40"/>
    <p:sldId id="404" r:id="rId41"/>
    <p:sldId id="468" r:id="rId42"/>
    <p:sldId id="470" r:id="rId43"/>
    <p:sldId id="410" r:id="rId44"/>
    <p:sldId id="473" r:id="rId45"/>
    <p:sldId id="411" r:id="rId46"/>
    <p:sldId id="412" r:id="rId47"/>
    <p:sldId id="413" r:id="rId48"/>
    <p:sldId id="387" r:id="rId49"/>
    <p:sldId id="388" r:id="rId50"/>
    <p:sldId id="389" r:id="rId51"/>
    <p:sldId id="390" r:id="rId52"/>
    <p:sldId id="391" r:id="rId53"/>
    <p:sldId id="266" r:id="rId54"/>
    <p:sldId id="401" r:id="rId55"/>
    <p:sldId id="267" r:id="rId56"/>
    <p:sldId id="402" r:id="rId57"/>
    <p:sldId id="375" r:id="rId58"/>
    <p:sldId id="376" r:id="rId59"/>
    <p:sldId id="377" r:id="rId60"/>
    <p:sldId id="474" r:id="rId61"/>
    <p:sldId id="475" r:id="rId62"/>
    <p:sldId id="476" r:id="rId63"/>
    <p:sldId id="478" r:id="rId64"/>
    <p:sldId id="477" r:id="rId65"/>
    <p:sldId id="479" r:id="rId66"/>
    <p:sldId id="269" r:id="rId67"/>
    <p:sldId id="400" r:id="rId68"/>
    <p:sldId id="270" r:id="rId69"/>
    <p:sldId id="271" r:id="rId70"/>
    <p:sldId id="272" r:id="rId71"/>
    <p:sldId id="294" r:id="rId72"/>
    <p:sldId id="295" r:id="rId73"/>
    <p:sldId id="296" r:id="rId74"/>
    <p:sldId id="299" r:id="rId75"/>
    <p:sldId id="300" r:id="rId76"/>
    <p:sldId id="301" r:id="rId77"/>
    <p:sldId id="302" r:id="rId78"/>
    <p:sldId id="303" r:id="rId79"/>
    <p:sldId id="309" r:id="rId80"/>
    <p:sldId id="308" r:id="rId81"/>
    <p:sldId id="310" r:id="rId82"/>
    <p:sldId id="311" r:id="rId83"/>
    <p:sldId id="312" r:id="rId84"/>
    <p:sldId id="315" r:id="rId85"/>
    <p:sldId id="314" r:id="rId86"/>
    <p:sldId id="316" r:id="rId87"/>
    <p:sldId id="317" r:id="rId88"/>
    <p:sldId id="318" r:id="rId89"/>
    <p:sldId id="319" r:id="rId90"/>
    <p:sldId id="480" r:id="rId91"/>
    <p:sldId id="481" r:id="rId92"/>
    <p:sldId id="482" r:id="rId93"/>
    <p:sldId id="329" r:id="rId94"/>
    <p:sldId id="483" r:id="rId95"/>
    <p:sldId id="325" r:id="rId96"/>
    <p:sldId id="327" r:id="rId97"/>
    <p:sldId id="328" r:id="rId98"/>
    <p:sldId id="431" r:id="rId99"/>
    <p:sldId id="484" r:id="rId100"/>
    <p:sldId id="485" r:id="rId101"/>
    <p:sldId id="337" r:id="rId102"/>
    <p:sldId id="330" r:id="rId103"/>
    <p:sldId id="331" r:id="rId104"/>
    <p:sldId id="332" r:id="rId105"/>
    <p:sldId id="486" r:id="rId106"/>
    <p:sldId id="335" r:id="rId107"/>
    <p:sldId id="336" r:id="rId108"/>
    <p:sldId id="339" r:id="rId109"/>
    <p:sldId id="340" r:id="rId110"/>
    <p:sldId id="341" r:id="rId111"/>
    <p:sldId id="342" r:id="rId112"/>
    <p:sldId id="343" r:id="rId113"/>
    <p:sldId id="344" r:id="rId114"/>
    <p:sldId id="345" r:id="rId115"/>
    <p:sldId id="346" r:id="rId116"/>
    <p:sldId id="347" r:id="rId117"/>
    <p:sldId id="348" r:id="rId118"/>
    <p:sldId id="349" r:id="rId119"/>
    <p:sldId id="350" r:id="rId120"/>
    <p:sldId id="351" r:id="rId121"/>
    <p:sldId id="352" r:id="rId122"/>
    <p:sldId id="353" r:id="rId123"/>
    <p:sldId id="432" r:id="rId124"/>
    <p:sldId id="433" r:id="rId125"/>
    <p:sldId id="434" r:id="rId126"/>
    <p:sldId id="435" r:id="rId127"/>
    <p:sldId id="436" r:id="rId128"/>
    <p:sldId id="437" r:id="rId129"/>
    <p:sldId id="438" r:id="rId130"/>
    <p:sldId id="439" r:id="rId131"/>
    <p:sldId id="440" r:id="rId132"/>
    <p:sldId id="441" r:id="rId133"/>
    <p:sldId id="442" r:id="rId134"/>
    <p:sldId id="443" r:id="rId135"/>
    <p:sldId id="444" r:id="rId136"/>
    <p:sldId id="445" r:id="rId137"/>
    <p:sldId id="446" r:id="rId138"/>
    <p:sldId id="447" r:id="rId139"/>
    <p:sldId id="448" r:id="rId140"/>
    <p:sldId id="449" r:id="rId141"/>
    <p:sldId id="450" r:id="rId142"/>
    <p:sldId id="451" r:id="rId143"/>
    <p:sldId id="452" r:id="rId144"/>
    <p:sldId id="453" r:id="rId145"/>
    <p:sldId id="454" r:id="rId146"/>
    <p:sldId id="455" r:id="rId147"/>
    <p:sldId id="456" r:id="rId148"/>
    <p:sldId id="457" r:id="rId149"/>
    <p:sldId id="458" r:id="rId150"/>
    <p:sldId id="459" r:id="rId151"/>
    <p:sldId id="460" r:id="rId1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74" autoAdjust="0"/>
    <p:restoredTop sz="94648" autoAdjust="0"/>
  </p:normalViewPr>
  <p:slideViewPr>
    <p:cSldViewPr>
      <p:cViewPr>
        <p:scale>
          <a:sx n="68" d="100"/>
          <a:sy n="68" d="100"/>
        </p:scale>
        <p:origin x="-1072" y="-12"/>
      </p:cViewPr>
      <p:guideLst>
        <p:guide orient="horz" pos="2160"/>
        <p:guide pos="2880"/>
      </p:guideLst>
    </p:cSldViewPr>
  </p:slideViewPr>
  <p:outlineViewPr>
    <p:cViewPr>
      <p:scale>
        <a:sx n="33" d="100"/>
        <a:sy n="33" d="100"/>
      </p:scale>
      <p:origin x="0" y="3070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38" Type="http://schemas.openxmlformats.org/officeDocument/2006/relationships/slide" Target="slides/slide133.xml"/><Relationship Id="rId154" Type="http://schemas.openxmlformats.org/officeDocument/2006/relationships/presProps" Target="presProp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openxmlformats.org/officeDocument/2006/relationships/slide" Target="slides/slide139.xml"/><Relationship Id="rId149" Type="http://schemas.openxmlformats.org/officeDocument/2006/relationships/slide" Target="slides/slide144.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slide" Target="slides/slide134.xml"/><Relationship Id="rId80" Type="http://schemas.openxmlformats.org/officeDocument/2006/relationships/slide" Target="slides/slide75.xml"/><Relationship Id="rId85" Type="http://schemas.openxmlformats.org/officeDocument/2006/relationships/slide" Target="slides/slide80.xml"/><Relationship Id="rId150" Type="http://schemas.openxmlformats.org/officeDocument/2006/relationships/slide" Target="slides/slide145.xml"/><Relationship Id="rId155"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slide" Target="slides/slide127.xml"/><Relationship Id="rId140" Type="http://schemas.openxmlformats.org/officeDocument/2006/relationships/slide" Target="slides/slide135.xml"/><Relationship Id="rId145" Type="http://schemas.openxmlformats.org/officeDocument/2006/relationships/slide" Target="slides/slide140.xml"/><Relationship Id="rId15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slide" Target="slides/slide125.xml"/><Relationship Id="rId135" Type="http://schemas.openxmlformats.org/officeDocument/2006/relationships/slide" Target="slides/slide130.xml"/><Relationship Id="rId143" Type="http://schemas.openxmlformats.org/officeDocument/2006/relationships/slide" Target="slides/slide138.xml"/><Relationship Id="rId148" Type="http://schemas.openxmlformats.org/officeDocument/2006/relationships/slide" Target="slides/slide143.xml"/><Relationship Id="rId151" Type="http://schemas.openxmlformats.org/officeDocument/2006/relationships/slide" Target="slides/slide146.xml"/><Relationship Id="rId156"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B81F46-C238-4904-B658-824A43BCC62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IN"/>
        </a:p>
      </dgm:t>
    </dgm:pt>
    <dgm:pt modelId="{A741236F-FE0A-4584-AC93-216850330383}">
      <dgm:prSet phldrT="[Text]" custT="1"/>
      <dgm:spPr/>
      <dgm:t>
        <a:bodyPr/>
        <a:lstStyle/>
        <a:p>
          <a:r>
            <a:rPr lang="en-US" sz="1600" dirty="0"/>
            <a:t>Size 8DFT</a:t>
          </a:r>
          <a:endParaRPr lang="en-IN" sz="1600" dirty="0"/>
        </a:p>
      </dgm:t>
    </dgm:pt>
    <dgm:pt modelId="{E397A914-0B21-4D49-904D-8469518A97D3}" type="parTrans" cxnId="{BA99E7B4-BB6F-4699-8497-BBAF7541A1A9}">
      <dgm:prSet/>
      <dgm:spPr/>
      <dgm:t>
        <a:bodyPr/>
        <a:lstStyle/>
        <a:p>
          <a:endParaRPr lang="en-IN"/>
        </a:p>
      </dgm:t>
    </dgm:pt>
    <dgm:pt modelId="{E5776324-6CE9-4810-A790-196F5FFA091A}" type="sibTrans" cxnId="{BA99E7B4-BB6F-4699-8497-BBAF7541A1A9}">
      <dgm:prSet/>
      <dgm:spPr/>
      <dgm:t>
        <a:bodyPr/>
        <a:lstStyle/>
        <a:p>
          <a:endParaRPr lang="en-IN"/>
        </a:p>
      </dgm:t>
    </dgm:pt>
    <dgm:pt modelId="{A1CD6FD2-AA8F-48EB-96AD-10225C981545}" type="asst">
      <dgm:prSet phldrT="[Text]" custT="1"/>
      <dgm:spPr/>
      <dgm:t>
        <a:bodyPr/>
        <a:lstStyle/>
        <a:p>
          <a:r>
            <a:rPr lang="en-US" sz="1600" dirty="0"/>
            <a:t>Size 4 DFT</a:t>
          </a:r>
          <a:endParaRPr lang="en-IN" sz="1600" dirty="0"/>
        </a:p>
      </dgm:t>
    </dgm:pt>
    <dgm:pt modelId="{C248B4C4-DBED-4AAD-9C8F-BFDF4E3D91A6}" type="parTrans" cxnId="{0F92B6AE-29FD-4FD7-BF4C-F6CA956CF22E}">
      <dgm:prSet/>
      <dgm:spPr/>
      <dgm:t>
        <a:bodyPr/>
        <a:lstStyle/>
        <a:p>
          <a:endParaRPr lang="en-IN"/>
        </a:p>
      </dgm:t>
    </dgm:pt>
    <dgm:pt modelId="{4441F2EE-5914-455F-9F05-F52E780754E9}" type="sibTrans" cxnId="{0F92B6AE-29FD-4FD7-BF4C-F6CA956CF22E}">
      <dgm:prSet/>
      <dgm:spPr/>
      <dgm:t>
        <a:bodyPr/>
        <a:lstStyle/>
        <a:p>
          <a:endParaRPr lang="en-IN"/>
        </a:p>
      </dgm:t>
    </dgm:pt>
    <dgm:pt modelId="{3BD93DCE-0C11-46B5-9F3C-012CBCEF6C14}">
      <dgm:prSet phldrT="[Text]" custT="1"/>
      <dgm:spPr/>
      <dgm:t>
        <a:bodyPr/>
        <a:lstStyle/>
        <a:p>
          <a:r>
            <a:rPr lang="en-US" sz="1600" dirty="0"/>
            <a:t>Size 2 DFT</a:t>
          </a:r>
          <a:endParaRPr lang="en-IN" sz="1600" dirty="0"/>
        </a:p>
      </dgm:t>
    </dgm:pt>
    <dgm:pt modelId="{7593CABC-50A0-4EAC-B0AC-85A34A8846FA}" type="parTrans" cxnId="{5D12D390-716E-4685-8DEA-825BB0D8846D}">
      <dgm:prSet/>
      <dgm:spPr/>
      <dgm:t>
        <a:bodyPr/>
        <a:lstStyle/>
        <a:p>
          <a:endParaRPr lang="en-IN"/>
        </a:p>
      </dgm:t>
    </dgm:pt>
    <dgm:pt modelId="{A71910C5-13AC-481C-A240-AC3F0C627374}" type="sibTrans" cxnId="{5D12D390-716E-4685-8DEA-825BB0D8846D}">
      <dgm:prSet/>
      <dgm:spPr/>
      <dgm:t>
        <a:bodyPr/>
        <a:lstStyle/>
        <a:p>
          <a:endParaRPr lang="en-IN"/>
        </a:p>
      </dgm:t>
    </dgm:pt>
    <dgm:pt modelId="{52313408-95E4-46F6-9638-26A9BCF66C3C}">
      <dgm:prSet phldrT="[Text]" custT="1"/>
      <dgm:spPr/>
      <dgm:t>
        <a:bodyPr/>
        <a:lstStyle/>
        <a:p>
          <a:r>
            <a:rPr lang="en-US" sz="1600" dirty="0"/>
            <a:t>Size 2 DFT</a:t>
          </a:r>
          <a:endParaRPr lang="en-IN" sz="1600" dirty="0"/>
        </a:p>
      </dgm:t>
    </dgm:pt>
    <dgm:pt modelId="{0F685057-7B68-42AB-8BE2-7A1A100C84F1}" type="parTrans" cxnId="{09DA84AB-1938-4B26-84BC-AE6274F7D7EA}">
      <dgm:prSet/>
      <dgm:spPr/>
      <dgm:t>
        <a:bodyPr/>
        <a:lstStyle/>
        <a:p>
          <a:endParaRPr lang="en-IN"/>
        </a:p>
      </dgm:t>
    </dgm:pt>
    <dgm:pt modelId="{09D8C7F8-E85D-443A-8659-E382D55878E3}" type="sibTrans" cxnId="{09DA84AB-1938-4B26-84BC-AE6274F7D7EA}">
      <dgm:prSet/>
      <dgm:spPr/>
      <dgm:t>
        <a:bodyPr/>
        <a:lstStyle/>
        <a:p>
          <a:endParaRPr lang="en-IN"/>
        </a:p>
      </dgm:t>
    </dgm:pt>
    <dgm:pt modelId="{7D955B7D-B8B3-4F43-A079-B605F4F16649}">
      <dgm:prSet phldrT="[Text]" custT="1"/>
      <dgm:spPr/>
      <dgm:t>
        <a:bodyPr/>
        <a:lstStyle/>
        <a:p>
          <a:r>
            <a:rPr lang="en-US" sz="1600" dirty="0"/>
            <a:t>Size 4 DFT</a:t>
          </a:r>
          <a:endParaRPr lang="en-IN" sz="1600" dirty="0"/>
        </a:p>
      </dgm:t>
    </dgm:pt>
    <dgm:pt modelId="{3030910B-209B-4FA3-AC75-EA1F9C253BC0}" type="parTrans" cxnId="{93600A43-0888-475D-B43B-2680DC2645C1}">
      <dgm:prSet/>
      <dgm:spPr/>
      <dgm:t>
        <a:bodyPr/>
        <a:lstStyle/>
        <a:p>
          <a:endParaRPr lang="en-IN"/>
        </a:p>
      </dgm:t>
    </dgm:pt>
    <dgm:pt modelId="{E2110BF6-09AE-417B-8D74-C76F77B732F9}" type="sibTrans" cxnId="{93600A43-0888-475D-B43B-2680DC2645C1}">
      <dgm:prSet/>
      <dgm:spPr/>
      <dgm:t>
        <a:bodyPr/>
        <a:lstStyle/>
        <a:p>
          <a:endParaRPr lang="en-IN"/>
        </a:p>
      </dgm:t>
    </dgm:pt>
    <dgm:pt modelId="{AA29FB4F-0422-4EA3-BF4B-9E30863AD30D}">
      <dgm:prSet phldrT="[Text]" custT="1"/>
      <dgm:spPr/>
      <dgm:t>
        <a:bodyPr/>
        <a:lstStyle/>
        <a:p>
          <a:r>
            <a:rPr lang="en-US" sz="1600" dirty="0"/>
            <a:t>Size 2 DFT</a:t>
          </a:r>
          <a:endParaRPr lang="en-IN" sz="1600" dirty="0"/>
        </a:p>
      </dgm:t>
    </dgm:pt>
    <dgm:pt modelId="{2A749030-03D4-411F-8984-9AF54A75842C}" type="parTrans" cxnId="{A7FB481B-E2F3-4DD0-ADBA-138C0720D8E1}">
      <dgm:prSet/>
      <dgm:spPr/>
      <dgm:t>
        <a:bodyPr/>
        <a:lstStyle/>
        <a:p>
          <a:endParaRPr lang="en-IN"/>
        </a:p>
      </dgm:t>
    </dgm:pt>
    <dgm:pt modelId="{EA04EE96-1C49-4C85-BE25-0C2126A55D47}" type="sibTrans" cxnId="{A7FB481B-E2F3-4DD0-ADBA-138C0720D8E1}">
      <dgm:prSet/>
      <dgm:spPr/>
      <dgm:t>
        <a:bodyPr/>
        <a:lstStyle/>
        <a:p>
          <a:endParaRPr lang="en-IN"/>
        </a:p>
      </dgm:t>
    </dgm:pt>
    <dgm:pt modelId="{1C295ACA-B19E-4798-88CD-404EFDF5786B}">
      <dgm:prSet phldrT="[Text]" custT="1"/>
      <dgm:spPr/>
      <dgm:t>
        <a:bodyPr/>
        <a:lstStyle/>
        <a:p>
          <a:r>
            <a:rPr lang="en-US" sz="1600" dirty="0"/>
            <a:t>Size 2 DFT</a:t>
          </a:r>
          <a:endParaRPr lang="en-IN" sz="1600" dirty="0"/>
        </a:p>
      </dgm:t>
    </dgm:pt>
    <dgm:pt modelId="{BE777A85-DCBF-44DB-A7E3-3CD1FC68DD5C}" type="parTrans" cxnId="{01A911B8-10A8-4F41-AFDD-07164918A231}">
      <dgm:prSet/>
      <dgm:spPr/>
      <dgm:t>
        <a:bodyPr/>
        <a:lstStyle/>
        <a:p>
          <a:endParaRPr lang="en-IN"/>
        </a:p>
      </dgm:t>
    </dgm:pt>
    <dgm:pt modelId="{7F3493AC-F15F-4186-AE63-B5ED0B83DEB5}" type="sibTrans" cxnId="{01A911B8-10A8-4F41-AFDD-07164918A231}">
      <dgm:prSet/>
      <dgm:spPr/>
      <dgm:t>
        <a:bodyPr/>
        <a:lstStyle/>
        <a:p>
          <a:endParaRPr lang="en-IN"/>
        </a:p>
      </dgm:t>
    </dgm:pt>
    <dgm:pt modelId="{5E75CE7D-7250-4D6D-A429-952B6ED4E14A}" type="pres">
      <dgm:prSet presAssocID="{83B81F46-C238-4904-B658-824A43BCC62A}" presName="mainComposite" presStyleCnt="0">
        <dgm:presLayoutVars>
          <dgm:chPref val="1"/>
          <dgm:dir/>
          <dgm:animOne val="branch"/>
          <dgm:animLvl val="lvl"/>
          <dgm:resizeHandles val="exact"/>
        </dgm:presLayoutVars>
      </dgm:prSet>
      <dgm:spPr/>
      <dgm:t>
        <a:bodyPr/>
        <a:lstStyle/>
        <a:p>
          <a:endParaRPr lang="en-IN"/>
        </a:p>
      </dgm:t>
    </dgm:pt>
    <dgm:pt modelId="{597B55E7-2C2C-4B0F-A188-5DFC72060997}" type="pres">
      <dgm:prSet presAssocID="{83B81F46-C238-4904-B658-824A43BCC62A}" presName="hierFlow" presStyleCnt="0"/>
      <dgm:spPr/>
    </dgm:pt>
    <dgm:pt modelId="{D87BD3D6-DC6B-4718-B4FE-864B4797DBEE}" type="pres">
      <dgm:prSet presAssocID="{83B81F46-C238-4904-B658-824A43BCC62A}" presName="hierChild1" presStyleCnt="0">
        <dgm:presLayoutVars>
          <dgm:chPref val="1"/>
          <dgm:animOne val="branch"/>
          <dgm:animLvl val="lvl"/>
        </dgm:presLayoutVars>
      </dgm:prSet>
      <dgm:spPr/>
    </dgm:pt>
    <dgm:pt modelId="{73835B52-2685-4353-8CBA-AD58CFC744C8}" type="pres">
      <dgm:prSet presAssocID="{A741236F-FE0A-4584-AC93-216850330383}" presName="Name14" presStyleCnt="0"/>
      <dgm:spPr/>
    </dgm:pt>
    <dgm:pt modelId="{7C460BCE-EBC7-428F-A125-4668A3A19127}" type="pres">
      <dgm:prSet presAssocID="{A741236F-FE0A-4584-AC93-216850330383}" presName="level1Shape" presStyleLbl="node0" presStyleIdx="0" presStyleCnt="1">
        <dgm:presLayoutVars>
          <dgm:chPref val="3"/>
        </dgm:presLayoutVars>
      </dgm:prSet>
      <dgm:spPr/>
      <dgm:t>
        <a:bodyPr/>
        <a:lstStyle/>
        <a:p>
          <a:endParaRPr lang="en-IN"/>
        </a:p>
      </dgm:t>
    </dgm:pt>
    <dgm:pt modelId="{25DFB05B-A6AF-4750-88B9-AFD7D1CC4DC2}" type="pres">
      <dgm:prSet presAssocID="{A741236F-FE0A-4584-AC93-216850330383}" presName="hierChild2" presStyleCnt="0"/>
      <dgm:spPr/>
    </dgm:pt>
    <dgm:pt modelId="{706B1EA9-A21A-429D-84E2-1DF27ABD3B86}" type="pres">
      <dgm:prSet presAssocID="{C248B4C4-DBED-4AAD-9C8F-BFDF4E3D91A6}" presName="Name19" presStyleLbl="parChTrans1D2" presStyleIdx="0" presStyleCnt="2"/>
      <dgm:spPr/>
      <dgm:t>
        <a:bodyPr/>
        <a:lstStyle/>
        <a:p>
          <a:endParaRPr lang="en-IN"/>
        </a:p>
      </dgm:t>
    </dgm:pt>
    <dgm:pt modelId="{1E673947-B056-4BC4-A156-B20296DB18A2}" type="pres">
      <dgm:prSet presAssocID="{A1CD6FD2-AA8F-48EB-96AD-10225C981545}" presName="Name21" presStyleCnt="0"/>
      <dgm:spPr/>
    </dgm:pt>
    <dgm:pt modelId="{488DE510-5EF4-40F1-BC38-7B1445682F55}" type="pres">
      <dgm:prSet presAssocID="{A1CD6FD2-AA8F-48EB-96AD-10225C981545}" presName="level2Shape" presStyleLbl="asst1" presStyleIdx="0" presStyleCnt="1"/>
      <dgm:spPr/>
      <dgm:t>
        <a:bodyPr/>
        <a:lstStyle/>
        <a:p>
          <a:endParaRPr lang="en-IN"/>
        </a:p>
      </dgm:t>
    </dgm:pt>
    <dgm:pt modelId="{7A86B9A4-FF6A-4893-9644-6B7B1584EF18}" type="pres">
      <dgm:prSet presAssocID="{A1CD6FD2-AA8F-48EB-96AD-10225C981545}" presName="hierChild3" presStyleCnt="0"/>
      <dgm:spPr/>
    </dgm:pt>
    <dgm:pt modelId="{A1FF1DB9-52D4-41DB-9227-D4DF7C84A826}" type="pres">
      <dgm:prSet presAssocID="{7593CABC-50A0-4EAC-B0AC-85A34A8846FA}" presName="Name19" presStyleLbl="parChTrans1D3" presStyleIdx="0" presStyleCnt="4"/>
      <dgm:spPr/>
      <dgm:t>
        <a:bodyPr/>
        <a:lstStyle/>
        <a:p>
          <a:endParaRPr lang="en-IN"/>
        </a:p>
      </dgm:t>
    </dgm:pt>
    <dgm:pt modelId="{48246C2B-0B34-4625-8ABC-6035725547E0}" type="pres">
      <dgm:prSet presAssocID="{3BD93DCE-0C11-46B5-9F3C-012CBCEF6C14}" presName="Name21" presStyleCnt="0"/>
      <dgm:spPr/>
    </dgm:pt>
    <dgm:pt modelId="{B657D8D5-D436-4F56-AF8D-6795EB6E36DA}" type="pres">
      <dgm:prSet presAssocID="{3BD93DCE-0C11-46B5-9F3C-012CBCEF6C14}" presName="level2Shape" presStyleLbl="node3" presStyleIdx="0" presStyleCnt="4"/>
      <dgm:spPr/>
      <dgm:t>
        <a:bodyPr/>
        <a:lstStyle/>
        <a:p>
          <a:endParaRPr lang="en-IN"/>
        </a:p>
      </dgm:t>
    </dgm:pt>
    <dgm:pt modelId="{3C2C28E0-856D-4812-9DCE-7B65355AC243}" type="pres">
      <dgm:prSet presAssocID="{3BD93DCE-0C11-46B5-9F3C-012CBCEF6C14}" presName="hierChild3" presStyleCnt="0"/>
      <dgm:spPr/>
    </dgm:pt>
    <dgm:pt modelId="{BE7ADF65-A0A2-4C8B-89EA-EEA3A4C519E7}" type="pres">
      <dgm:prSet presAssocID="{0F685057-7B68-42AB-8BE2-7A1A100C84F1}" presName="Name19" presStyleLbl="parChTrans1D3" presStyleIdx="1" presStyleCnt="4"/>
      <dgm:spPr/>
      <dgm:t>
        <a:bodyPr/>
        <a:lstStyle/>
        <a:p>
          <a:endParaRPr lang="en-IN"/>
        </a:p>
      </dgm:t>
    </dgm:pt>
    <dgm:pt modelId="{1942B0F0-B226-4F05-859E-E30D05D95E4E}" type="pres">
      <dgm:prSet presAssocID="{52313408-95E4-46F6-9638-26A9BCF66C3C}" presName="Name21" presStyleCnt="0"/>
      <dgm:spPr/>
    </dgm:pt>
    <dgm:pt modelId="{CA8C5A74-0BE3-4E37-AA31-0A81CD6F3072}" type="pres">
      <dgm:prSet presAssocID="{52313408-95E4-46F6-9638-26A9BCF66C3C}" presName="level2Shape" presStyleLbl="node3" presStyleIdx="1" presStyleCnt="4"/>
      <dgm:spPr/>
      <dgm:t>
        <a:bodyPr/>
        <a:lstStyle/>
        <a:p>
          <a:endParaRPr lang="en-IN"/>
        </a:p>
      </dgm:t>
    </dgm:pt>
    <dgm:pt modelId="{13535E39-85E6-4CF4-8825-DCB99D7FABEE}" type="pres">
      <dgm:prSet presAssocID="{52313408-95E4-46F6-9638-26A9BCF66C3C}" presName="hierChild3" presStyleCnt="0"/>
      <dgm:spPr/>
    </dgm:pt>
    <dgm:pt modelId="{62EB9B50-EA83-4A28-BAEB-FED5CFE3B793}" type="pres">
      <dgm:prSet presAssocID="{3030910B-209B-4FA3-AC75-EA1F9C253BC0}" presName="Name19" presStyleLbl="parChTrans1D2" presStyleIdx="1" presStyleCnt="2"/>
      <dgm:spPr/>
      <dgm:t>
        <a:bodyPr/>
        <a:lstStyle/>
        <a:p>
          <a:endParaRPr lang="en-IN"/>
        </a:p>
      </dgm:t>
    </dgm:pt>
    <dgm:pt modelId="{1FB78E0D-5A67-4A64-90DA-92458B52A0D8}" type="pres">
      <dgm:prSet presAssocID="{7D955B7D-B8B3-4F43-A079-B605F4F16649}" presName="Name21" presStyleCnt="0"/>
      <dgm:spPr/>
    </dgm:pt>
    <dgm:pt modelId="{ACA5FEEE-1176-4D0E-9A9B-6CA6149EF099}" type="pres">
      <dgm:prSet presAssocID="{7D955B7D-B8B3-4F43-A079-B605F4F16649}" presName="level2Shape" presStyleLbl="node2" presStyleIdx="0" presStyleCnt="1"/>
      <dgm:spPr/>
      <dgm:t>
        <a:bodyPr/>
        <a:lstStyle/>
        <a:p>
          <a:endParaRPr lang="en-IN"/>
        </a:p>
      </dgm:t>
    </dgm:pt>
    <dgm:pt modelId="{6D5559C7-DAC1-4D1C-AF9F-6FEF02871523}" type="pres">
      <dgm:prSet presAssocID="{7D955B7D-B8B3-4F43-A079-B605F4F16649}" presName="hierChild3" presStyleCnt="0"/>
      <dgm:spPr/>
    </dgm:pt>
    <dgm:pt modelId="{5394B3FD-A6B6-488B-8356-C7E71B64AA24}" type="pres">
      <dgm:prSet presAssocID="{2A749030-03D4-411F-8984-9AF54A75842C}" presName="Name19" presStyleLbl="parChTrans1D3" presStyleIdx="2" presStyleCnt="4"/>
      <dgm:spPr/>
      <dgm:t>
        <a:bodyPr/>
        <a:lstStyle/>
        <a:p>
          <a:endParaRPr lang="en-IN"/>
        </a:p>
      </dgm:t>
    </dgm:pt>
    <dgm:pt modelId="{B9A43692-4BAD-48E7-B17D-3C2A051C057A}" type="pres">
      <dgm:prSet presAssocID="{AA29FB4F-0422-4EA3-BF4B-9E30863AD30D}" presName="Name21" presStyleCnt="0"/>
      <dgm:spPr/>
    </dgm:pt>
    <dgm:pt modelId="{0C55DE20-212E-4546-8444-2102A014B106}" type="pres">
      <dgm:prSet presAssocID="{AA29FB4F-0422-4EA3-BF4B-9E30863AD30D}" presName="level2Shape" presStyleLbl="node3" presStyleIdx="2" presStyleCnt="4"/>
      <dgm:spPr/>
      <dgm:t>
        <a:bodyPr/>
        <a:lstStyle/>
        <a:p>
          <a:endParaRPr lang="en-IN"/>
        </a:p>
      </dgm:t>
    </dgm:pt>
    <dgm:pt modelId="{CCF691C6-812F-4A19-ACBA-A88B25956993}" type="pres">
      <dgm:prSet presAssocID="{AA29FB4F-0422-4EA3-BF4B-9E30863AD30D}" presName="hierChild3" presStyleCnt="0"/>
      <dgm:spPr/>
    </dgm:pt>
    <dgm:pt modelId="{F7E3681F-6721-4D08-B356-A886B4678E28}" type="pres">
      <dgm:prSet presAssocID="{BE777A85-DCBF-44DB-A7E3-3CD1FC68DD5C}" presName="Name19" presStyleLbl="parChTrans1D3" presStyleIdx="3" presStyleCnt="4"/>
      <dgm:spPr/>
      <dgm:t>
        <a:bodyPr/>
        <a:lstStyle/>
        <a:p>
          <a:endParaRPr lang="en-IN"/>
        </a:p>
      </dgm:t>
    </dgm:pt>
    <dgm:pt modelId="{C2880F28-552F-4730-9FA8-C0988A96E4CB}" type="pres">
      <dgm:prSet presAssocID="{1C295ACA-B19E-4798-88CD-404EFDF5786B}" presName="Name21" presStyleCnt="0"/>
      <dgm:spPr/>
    </dgm:pt>
    <dgm:pt modelId="{50597925-5BEE-460F-955F-DE974E7EC4AC}" type="pres">
      <dgm:prSet presAssocID="{1C295ACA-B19E-4798-88CD-404EFDF5786B}" presName="level2Shape" presStyleLbl="node3" presStyleIdx="3" presStyleCnt="4"/>
      <dgm:spPr/>
      <dgm:t>
        <a:bodyPr/>
        <a:lstStyle/>
        <a:p>
          <a:endParaRPr lang="en-IN"/>
        </a:p>
      </dgm:t>
    </dgm:pt>
    <dgm:pt modelId="{C14B44AF-832A-4C37-9FD7-B0EB6E10145B}" type="pres">
      <dgm:prSet presAssocID="{1C295ACA-B19E-4798-88CD-404EFDF5786B}" presName="hierChild3" presStyleCnt="0"/>
      <dgm:spPr/>
    </dgm:pt>
    <dgm:pt modelId="{5CF569A5-157F-40F0-869A-BB77796F3454}" type="pres">
      <dgm:prSet presAssocID="{83B81F46-C238-4904-B658-824A43BCC62A}" presName="bgShapesFlow" presStyleCnt="0"/>
      <dgm:spPr/>
    </dgm:pt>
  </dgm:ptLst>
  <dgm:cxnLst>
    <dgm:cxn modelId="{BA99E7B4-BB6F-4699-8497-BBAF7541A1A9}" srcId="{83B81F46-C238-4904-B658-824A43BCC62A}" destId="{A741236F-FE0A-4584-AC93-216850330383}" srcOrd="0" destOrd="0" parTransId="{E397A914-0B21-4D49-904D-8469518A97D3}" sibTransId="{E5776324-6CE9-4810-A790-196F5FFA091A}"/>
    <dgm:cxn modelId="{A7FB481B-E2F3-4DD0-ADBA-138C0720D8E1}" srcId="{7D955B7D-B8B3-4F43-A079-B605F4F16649}" destId="{AA29FB4F-0422-4EA3-BF4B-9E30863AD30D}" srcOrd="0" destOrd="0" parTransId="{2A749030-03D4-411F-8984-9AF54A75842C}" sibTransId="{EA04EE96-1C49-4C85-BE25-0C2126A55D47}"/>
    <dgm:cxn modelId="{C2157F9F-A4A5-4021-B58D-00478AFD3BEB}" type="presOf" srcId="{52313408-95E4-46F6-9638-26A9BCF66C3C}" destId="{CA8C5A74-0BE3-4E37-AA31-0A81CD6F3072}" srcOrd="0" destOrd="0" presId="urn:microsoft.com/office/officeart/2005/8/layout/hierarchy6"/>
    <dgm:cxn modelId="{F9936659-E2F4-41DE-B71D-4EE5DD7C0E85}" type="presOf" srcId="{7593CABC-50A0-4EAC-B0AC-85A34A8846FA}" destId="{A1FF1DB9-52D4-41DB-9227-D4DF7C84A826}" srcOrd="0" destOrd="0" presId="urn:microsoft.com/office/officeart/2005/8/layout/hierarchy6"/>
    <dgm:cxn modelId="{453E4FAC-1CAC-497B-8A27-27D246EFBEB1}" type="presOf" srcId="{A741236F-FE0A-4584-AC93-216850330383}" destId="{7C460BCE-EBC7-428F-A125-4668A3A19127}" srcOrd="0" destOrd="0" presId="urn:microsoft.com/office/officeart/2005/8/layout/hierarchy6"/>
    <dgm:cxn modelId="{4310D62E-0899-4E8E-ABB1-05AA415928D2}" type="presOf" srcId="{C248B4C4-DBED-4AAD-9C8F-BFDF4E3D91A6}" destId="{706B1EA9-A21A-429D-84E2-1DF27ABD3B86}" srcOrd="0" destOrd="0" presId="urn:microsoft.com/office/officeart/2005/8/layout/hierarchy6"/>
    <dgm:cxn modelId="{5D12D390-716E-4685-8DEA-825BB0D8846D}" srcId="{A1CD6FD2-AA8F-48EB-96AD-10225C981545}" destId="{3BD93DCE-0C11-46B5-9F3C-012CBCEF6C14}" srcOrd="0" destOrd="0" parTransId="{7593CABC-50A0-4EAC-B0AC-85A34A8846FA}" sibTransId="{A71910C5-13AC-481C-A240-AC3F0C627374}"/>
    <dgm:cxn modelId="{519C80F3-87FB-4A3F-92BE-678C189767C4}" type="presOf" srcId="{A1CD6FD2-AA8F-48EB-96AD-10225C981545}" destId="{488DE510-5EF4-40F1-BC38-7B1445682F55}" srcOrd="0" destOrd="0" presId="urn:microsoft.com/office/officeart/2005/8/layout/hierarchy6"/>
    <dgm:cxn modelId="{96005615-E634-4E72-8A2B-71C40D53F796}" type="presOf" srcId="{BE777A85-DCBF-44DB-A7E3-3CD1FC68DD5C}" destId="{F7E3681F-6721-4D08-B356-A886B4678E28}" srcOrd="0" destOrd="0" presId="urn:microsoft.com/office/officeart/2005/8/layout/hierarchy6"/>
    <dgm:cxn modelId="{0F92B6AE-29FD-4FD7-BF4C-F6CA956CF22E}" srcId="{A741236F-FE0A-4584-AC93-216850330383}" destId="{A1CD6FD2-AA8F-48EB-96AD-10225C981545}" srcOrd="0" destOrd="0" parTransId="{C248B4C4-DBED-4AAD-9C8F-BFDF4E3D91A6}" sibTransId="{4441F2EE-5914-455F-9F05-F52E780754E9}"/>
    <dgm:cxn modelId="{09DA84AB-1938-4B26-84BC-AE6274F7D7EA}" srcId="{A1CD6FD2-AA8F-48EB-96AD-10225C981545}" destId="{52313408-95E4-46F6-9638-26A9BCF66C3C}" srcOrd="1" destOrd="0" parTransId="{0F685057-7B68-42AB-8BE2-7A1A100C84F1}" sibTransId="{09D8C7F8-E85D-443A-8659-E382D55878E3}"/>
    <dgm:cxn modelId="{01A911B8-10A8-4F41-AFDD-07164918A231}" srcId="{7D955B7D-B8B3-4F43-A079-B605F4F16649}" destId="{1C295ACA-B19E-4798-88CD-404EFDF5786B}" srcOrd="1" destOrd="0" parTransId="{BE777A85-DCBF-44DB-A7E3-3CD1FC68DD5C}" sibTransId="{7F3493AC-F15F-4186-AE63-B5ED0B83DEB5}"/>
    <dgm:cxn modelId="{E5087C87-77B1-4CE2-A001-2663A072FE0D}" type="presOf" srcId="{3030910B-209B-4FA3-AC75-EA1F9C253BC0}" destId="{62EB9B50-EA83-4A28-BAEB-FED5CFE3B793}" srcOrd="0" destOrd="0" presId="urn:microsoft.com/office/officeart/2005/8/layout/hierarchy6"/>
    <dgm:cxn modelId="{97E47C7C-06E0-43D2-A6CC-FB2548203F7C}" type="presOf" srcId="{83B81F46-C238-4904-B658-824A43BCC62A}" destId="{5E75CE7D-7250-4D6D-A429-952B6ED4E14A}" srcOrd="0" destOrd="0" presId="urn:microsoft.com/office/officeart/2005/8/layout/hierarchy6"/>
    <dgm:cxn modelId="{16902FF7-B507-4595-B605-2FDFDC942707}" type="presOf" srcId="{0F685057-7B68-42AB-8BE2-7A1A100C84F1}" destId="{BE7ADF65-A0A2-4C8B-89EA-EEA3A4C519E7}" srcOrd="0" destOrd="0" presId="urn:microsoft.com/office/officeart/2005/8/layout/hierarchy6"/>
    <dgm:cxn modelId="{CF7E1484-E1F3-4EE7-B9DC-E05C4CFDD523}" type="presOf" srcId="{AA29FB4F-0422-4EA3-BF4B-9E30863AD30D}" destId="{0C55DE20-212E-4546-8444-2102A014B106}" srcOrd="0" destOrd="0" presId="urn:microsoft.com/office/officeart/2005/8/layout/hierarchy6"/>
    <dgm:cxn modelId="{3CBA1202-9C5E-4E8A-9257-72166B942F40}" type="presOf" srcId="{1C295ACA-B19E-4798-88CD-404EFDF5786B}" destId="{50597925-5BEE-460F-955F-DE974E7EC4AC}" srcOrd="0" destOrd="0" presId="urn:microsoft.com/office/officeart/2005/8/layout/hierarchy6"/>
    <dgm:cxn modelId="{22CC423A-5F7B-486A-93F9-B38733CE95CE}" type="presOf" srcId="{2A749030-03D4-411F-8984-9AF54A75842C}" destId="{5394B3FD-A6B6-488B-8356-C7E71B64AA24}" srcOrd="0" destOrd="0" presId="urn:microsoft.com/office/officeart/2005/8/layout/hierarchy6"/>
    <dgm:cxn modelId="{93600A43-0888-475D-B43B-2680DC2645C1}" srcId="{A741236F-FE0A-4584-AC93-216850330383}" destId="{7D955B7D-B8B3-4F43-A079-B605F4F16649}" srcOrd="1" destOrd="0" parTransId="{3030910B-209B-4FA3-AC75-EA1F9C253BC0}" sibTransId="{E2110BF6-09AE-417B-8D74-C76F77B732F9}"/>
    <dgm:cxn modelId="{558CFEAC-81A6-48FF-A3EE-05B0330465D7}" type="presOf" srcId="{3BD93DCE-0C11-46B5-9F3C-012CBCEF6C14}" destId="{B657D8D5-D436-4F56-AF8D-6795EB6E36DA}" srcOrd="0" destOrd="0" presId="urn:microsoft.com/office/officeart/2005/8/layout/hierarchy6"/>
    <dgm:cxn modelId="{4A2E0449-37D7-4581-AE76-EA0DC4D62800}" type="presOf" srcId="{7D955B7D-B8B3-4F43-A079-B605F4F16649}" destId="{ACA5FEEE-1176-4D0E-9A9B-6CA6149EF099}" srcOrd="0" destOrd="0" presId="urn:microsoft.com/office/officeart/2005/8/layout/hierarchy6"/>
    <dgm:cxn modelId="{0E80420D-FD04-47AC-BF6C-B7C3842807C2}" type="presParOf" srcId="{5E75CE7D-7250-4D6D-A429-952B6ED4E14A}" destId="{597B55E7-2C2C-4B0F-A188-5DFC72060997}" srcOrd="0" destOrd="0" presId="urn:microsoft.com/office/officeart/2005/8/layout/hierarchy6"/>
    <dgm:cxn modelId="{794AFA3A-776F-4B2C-A10E-308D78C50466}" type="presParOf" srcId="{597B55E7-2C2C-4B0F-A188-5DFC72060997}" destId="{D87BD3D6-DC6B-4718-B4FE-864B4797DBEE}" srcOrd="0" destOrd="0" presId="urn:microsoft.com/office/officeart/2005/8/layout/hierarchy6"/>
    <dgm:cxn modelId="{D6A074A8-B2C3-4EEB-B116-D1270F037ACC}" type="presParOf" srcId="{D87BD3D6-DC6B-4718-B4FE-864B4797DBEE}" destId="{73835B52-2685-4353-8CBA-AD58CFC744C8}" srcOrd="0" destOrd="0" presId="urn:microsoft.com/office/officeart/2005/8/layout/hierarchy6"/>
    <dgm:cxn modelId="{B66AA067-8EE2-41CD-8EBA-7A01FEC0AEF6}" type="presParOf" srcId="{73835B52-2685-4353-8CBA-AD58CFC744C8}" destId="{7C460BCE-EBC7-428F-A125-4668A3A19127}" srcOrd="0" destOrd="0" presId="urn:microsoft.com/office/officeart/2005/8/layout/hierarchy6"/>
    <dgm:cxn modelId="{5D009783-5B87-4A2C-9CE7-F64DC31D4CEC}" type="presParOf" srcId="{73835B52-2685-4353-8CBA-AD58CFC744C8}" destId="{25DFB05B-A6AF-4750-88B9-AFD7D1CC4DC2}" srcOrd="1" destOrd="0" presId="urn:microsoft.com/office/officeart/2005/8/layout/hierarchy6"/>
    <dgm:cxn modelId="{055F1EF0-D11D-4094-BCF4-FAF091767D23}" type="presParOf" srcId="{25DFB05B-A6AF-4750-88B9-AFD7D1CC4DC2}" destId="{706B1EA9-A21A-429D-84E2-1DF27ABD3B86}" srcOrd="0" destOrd="0" presId="urn:microsoft.com/office/officeart/2005/8/layout/hierarchy6"/>
    <dgm:cxn modelId="{ACFC921D-3528-4C10-9029-C0622673D570}" type="presParOf" srcId="{25DFB05B-A6AF-4750-88B9-AFD7D1CC4DC2}" destId="{1E673947-B056-4BC4-A156-B20296DB18A2}" srcOrd="1" destOrd="0" presId="urn:microsoft.com/office/officeart/2005/8/layout/hierarchy6"/>
    <dgm:cxn modelId="{B9E0509E-2D5A-47C2-8B5C-DE2E711107F0}" type="presParOf" srcId="{1E673947-B056-4BC4-A156-B20296DB18A2}" destId="{488DE510-5EF4-40F1-BC38-7B1445682F55}" srcOrd="0" destOrd="0" presId="urn:microsoft.com/office/officeart/2005/8/layout/hierarchy6"/>
    <dgm:cxn modelId="{34E15AB7-09F8-44ED-B28B-3C3B864C923D}" type="presParOf" srcId="{1E673947-B056-4BC4-A156-B20296DB18A2}" destId="{7A86B9A4-FF6A-4893-9644-6B7B1584EF18}" srcOrd="1" destOrd="0" presId="urn:microsoft.com/office/officeart/2005/8/layout/hierarchy6"/>
    <dgm:cxn modelId="{EAB6110E-0979-4F21-AD01-D1239703C9C8}" type="presParOf" srcId="{7A86B9A4-FF6A-4893-9644-6B7B1584EF18}" destId="{A1FF1DB9-52D4-41DB-9227-D4DF7C84A826}" srcOrd="0" destOrd="0" presId="urn:microsoft.com/office/officeart/2005/8/layout/hierarchy6"/>
    <dgm:cxn modelId="{4FAC197A-69E7-4427-9472-FB127E781861}" type="presParOf" srcId="{7A86B9A4-FF6A-4893-9644-6B7B1584EF18}" destId="{48246C2B-0B34-4625-8ABC-6035725547E0}" srcOrd="1" destOrd="0" presId="urn:microsoft.com/office/officeart/2005/8/layout/hierarchy6"/>
    <dgm:cxn modelId="{E4DEEF5D-BA1B-409E-9C37-1074EE94BDE0}" type="presParOf" srcId="{48246C2B-0B34-4625-8ABC-6035725547E0}" destId="{B657D8D5-D436-4F56-AF8D-6795EB6E36DA}" srcOrd="0" destOrd="0" presId="urn:microsoft.com/office/officeart/2005/8/layout/hierarchy6"/>
    <dgm:cxn modelId="{A1ECE12A-41E7-4D55-9D3C-E9D4CE7249A6}" type="presParOf" srcId="{48246C2B-0B34-4625-8ABC-6035725547E0}" destId="{3C2C28E0-856D-4812-9DCE-7B65355AC243}" srcOrd="1" destOrd="0" presId="urn:microsoft.com/office/officeart/2005/8/layout/hierarchy6"/>
    <dgm:cxn modelId="{2B9AFA03-9B5A-46C6-B942-949B6A1E436D}" type="presParOf" srcId="{7A86B9A4-FF6A-4893-9644-6B7B1584EF18}" destId="{BE7ADF65-A0A2-4C8B-89EA-EEA3A4C519E7}" srcOrd="2" destOrd="0" presId="urn:microsoft.com/office/officeart/2005/8/layout/hierarchy6"/>
    <dgm:cxn modelId="{F2179E3D-B58B-4F28-A25C-0DD3D1C479C7}" type="presParOf" srcId="{7A86B9A4-FF6A-4893-9644-6B7B1584EF18}" destId="{1942B0F0-B226-4F05-859E-E30D05D95E4E}" srcOrd="3" destOrd="0" presId="urn:microsoft.com/office/officeart/2005/8/layout/hierarchy6"/>
    <dgm:cxn modelId="{ECCB8CCC-E9E5-4015-8388-BD24170993BA}" type="presParOf" srcId="{1942B0F0-B226-4F05-859E-E30D05D95E4E}" destId="{CA8C5A74-0BE3-4E37-AA31-0A81CD6F3072}" srcOrd="0" destOrd="0" presId="urn:microsoft.com/office/officeart/2005/8/layout/hierarchy6"/>
    <dgm:cxn modelId="{5328D002-2D13-417D-84F1-EF72A575B763}" type="presParOf" srcId="{1942B0F0-B226-4F05-859E-E30D05D95E4E}" destId="{13535E39-85E6-4CF4-8825-DCB99D7FABEE}" srcOrd="1" destOrd="0" presId="urn:microsoft.com/office/officeart/2005/8/layout/hierarchy6"/>
    <dgm:cxn modelId="{46ADB5AB-3C6D-4CF6-9AC8-C6612FE93B0D}" type="presParOf" srcId="{25DFB05B-A6AF-4750-88B9-AFD7D1CC4DC2}" destId="{62EB9B50-EA83-4A28-BAEB-FED5CFE3B793}" srcOrd="2" destOrd="0" presId="urn:microsoft.com/office/officeart/2005/8/layout/hierarchy6"/>
    <dgm:cxn modelId="{0FF35FB2-FE65-4CD1-BFEE-6D3163EE12A4}" type="presParOf" srcId="{25DFB05B-A6AF-4750-88B9-AFD7D1CC4DC2}" destId="{1FB78E0D-5A67-4A64-90DA-92458B52A0D8}" srcOrd="3" destOrd="0" presId="urn:microsoft.com/office/officeart/2005/8/layout/hierarchy6"/>
    <dgm:cxn modelId="{A5301C11-12A8-424C-950F-00EFE2EDC2CB}" type="presParOf" srcId="{1FB78E0D-5A67-4A64-90DA-92458B52A0D8}" destId="{ACA5FEEE-1176-4D0E-9A9B-6CA6149EF099}" srcOrd="0" destOrd="0" presId="urn:microsoft.com/office/officeart/2005/8/layout/hierarchy6"/>
    <dgm:cxn modelId="{361578AD-EA45-4876-893A-24D7251DE382}" type="presParOf" srcId="{1FB78E0D-5A67-4A64-90DA-92458B52A0D8}" destId="{6D5559C7-DAC1-4D1C-AF9F-6FEF02871523}" srcOrd="1" destOrd="0" presId="urn:microsoft.com/office/officeart/2005/8/layout/hierarchy6"/>
    <dgm:cxn modelId="{E28BC6C8-50D3-4A71-99C4-7ECA2786172F}" type="presParOf" srcId="{6D5559C7-DAC1-4D1C-AF9F-6FEF02871523}" destId="{5394B3FD-A6B6-488B-8356-C7E71B64AA24}" srcOrd="0" destOrd="0" presId="urn:microsoft.com/office/officeart/2005/8/layout/hierarchy6"/>
    <dgm:cxn modelId="{EEB1392E-0AB8-4FE0-9CB0-27409D7949D2}" type="presParOf" srcId="{6D5559C7-DAC1-4D1C-AF9F-6FEF02871523}" destId="{B9A43692-4BAD-48E7-B17D-3C2A051C057A}" srcOrd="1" destOrd="0" presId="urn:microsoft.com/office/officeart/2005/8/layout/hierarchy6"/>
    <dgm:cxn modelId="{5B763D8C-6956-41CD-97A6-CFE6AC408E7D}" type="presParOf" srcId="{B9A43692-4BAD-48E7-B17D-3C2A051C057A}" destId="{0C55DE20-212E-4546-8444-2102A014B106}" srcOrd="0" destOrd="0" presId="urn:microsoft.com/office/officeart/2005/8/layout/hierarchy6"/>
    <dgm:cxn modelId="{0C14A134-4D24-4A9D-A8C2-49E628925ED6}" type="presParOf" srcId="{B9A43692-4BAD-48E7-B17D-3C2A051C057A}" destId="{CCF691C6-812F-4A19-ACBA-A88B25956993}" srcOrd="1" destOrd="0" presId="urn:microsoft.com/office/officeart/2005/8/layout/hierarchy6"/>
    <dgm:cxn modelId="{14A4FFFF-222F-40FC-B63B-51D207FA8F8D}" type="presParOf" srcId="{6D5559C7-DAC1-4D1C-AF9F-6FEF02871523}" destId="{F7E3681F-6721-4D08-B356-A886B4678E28}" srcOrd="2" destOrd="0" presId="urn:microsoft.com/office/officeart/2005/8/layout/hierarchy6"/>
    <dgm:cxn modelId="{1C6747BC-1785-42EF-B14B-3D00A1E5C9BC}" type="presParOf" srcId="{6D5559C7-DAC1-4D1C-AF9F-6FEF02871523}" destId="{C2880F28-552F-4730-9FA8-C0988A96E4CB}" srcOrd="3" destOrd="0" presId="urn:microsoft.com/office/officeart/2005/8/layout/hierarchy6"/>
    <dgm:cxn modelId="{A3EB817D-D145-47D4-800B-FCCB31978C1C}" type="presParOf" srcId="{C2880F28-552F-4730-9FA8-C0988A96E4CB}" destId="{50597925-5BEE-460F-955F-DE974E7EC4AC}" srcOrd="0" destOrd="0" presId="urn:microsoft.com/office/officeart/2005/8/layout/hierarchy6"/>
    <dgm:cxn modelId="{CA9016D7-AF33-4514-9006-67EA86359384}" type="presParOf" srcId="{C2880F28-552F-4730-9FA8-C0988A96E4CB}" destId="{C14B44AF-832A-4C37-9FD7-B0EB6E10145B}" srcOrd="1" destOrd="0" presId="urn:microsoft.com/office/officeart/2005/8/layout/hierarchy6"/>
    <dgm:cxn modelId="{DAD27FC1-8682-4498-AC5B-891E4F8B76EC}" type="presParOf" srcId="{5E75CE7D-7250-4D6D-A429-952B6ED4E14A}" destId="{5CF569A5-157F-40F0-869A-BB77796F345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image" Target="../media/image14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707851-339C-4C7B-AEBF-FBB24398B5DB}" type="datetimeFigureOut">
              <a:rPr lang="en-IN" smtClean="0"/>
              <a:t>29-01-2026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337B0E-C896-485A-95E2-6018AD2AD0A6}" type="slidenum">
              <a:rPr lang="en-IN" smtClean="0"/>
              <a:t>‹#›</a:t>
            </a:fld>
            <a:endParaRPr lang="en-IN"/>
          </a:p>
        </p:txBody>
      </p:sp>
    </p:spTree>
    <p:extLst>
      <p:ext uri="{BB962C8B-B14F-4D97-AF65-F5344CB8AC3E}">
        <p14:creationId xmlns:p14="http://schemas.microsoft.com/office/powerpoint/2010/main" val="42712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0337B0E-C896-485A-95E2-6018AD2AD0A6}" type="slidenum">
              <a:rPr lang="en-IN" smtClean="0"/>
              <a:t>15</a:t>
            </a:fld>
            <a:endParaRPr lang="en-IN"/>
          </a:p>
        </p:txBody>
      </p:sp>
    </p:spTree>
    <p:extLst>
      <p:ext uri="{BB962C8B-B14F-4D97-AF65-F5344CB8AC3E}">
        <p14:creationId xmlns:p14="http://schemas.microsoft.com/office/powerpoint/2010/main" val="3583620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0337B0E-C896-485A-95E2-6018AD2AD0A6}" type="slidenum">
              <a:rPr lang="en-IN" smtClean="0"/>
              <a:t>28</a:t>
            </a:fld>
            <a:endParaRPr lang="en-IN"/>
          </a:p>
        </p:txBody>
      </p:sp>
    </p:spTree>
    <p:extLst>
      <p:ext uri="{BB962C8B-B14F-4D97-AF65-F5344CB8AC3E}">
        <p14:creationId xmlns:p14="http://schemas.microsoft.com/office/powerpoint/2010/main" val="1260083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8378BFF7-5C6A-4E44-8DBA-65F283A367D3}" type="slidenum">
              <a:rPr lang="en-US" altLang="en-US" smtClean="0"/>
              <a:pPr eaLnBrk="1" hangingPunct="1">
                <a:spcBef>
                  <a:spcPct val="0"/>
                </a:spcBef>
              </a:pPr>
              <a:t>35</a:t>
            </a:fld>
            <a:endParaRPr lang="en-US" alt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A0D10D75-4D9F-46B9-86CF-E444DAAA4404}" type="slidenum">
              <a:rPr lang="en-US" altLang="en-US" smtClean="0"/>
              <a:pPr eaLnBrk="1" hangingPunct="1">
                <a:spcBef>
                  <a:spcPct val="0"/>
                </a:spcBef>
              </a:pPr>
              <a:t>36</a:t>
            </a:fld>
            <a:endParaRPr lang="en-US" alt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337B0E-C896-485A-95E2-6018AD2AD0A6}" type="slidenum">
              <a:rPr lang="en-IN" smtClean="0"/>
              <a:t>37</a:t>
            </a:fld>
            <a:endParaRPr lang="en-IN"/>
          </a:p>
        </p:txBody>
      </p:sp>
    </p:spTree>
    <p:extLst>
      <p:ext uri="{BB962C8B-B14F-4D97-AF65-F5344CB8AC3E}">
        <p14:creationId xmlns:p14="http://schemas.microsoft.com/office/powerpoint/2010/main" val="242007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9334A71D-0C34-46E2-BC84-E978D679FD45}" type="slidenum">
              <a:rPr lang="en-US" altLang="en-US" smtClean="0"/>
              <a:pPr eaLnBrk="1" hangingPunct="1">
                <a:spcBef>
                  <a:spcPct val="0"/>
                </a:spcBef>
              </a:pPr>
              <a:t>39</a:t>
            </a:fld>
            <a:endParaRPr lang="en-US"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3CA5B185-BBA1-4E3A-B0A3-D8B79BD1DBBD}" type="slidenum">
              <a:rPr lang="en-US" altLang="en-US" smtClean="0"/>
              <a:pPr eaLnBrk="1" hangingPunct="1">
                <a:spcBef>
                  <a:spcPct val="0"/>
                </a:spcBef>
              </a:pPr>
              <a:t>41</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0122905B-A29A-4FA4-BF63-2A85EDAD851F}" type="slidenum">
              <a:rPr lang="en-US" altLang="en-US" smtClean="0"/>
              <a:pPr eaLnBrk="1" hangingPunct="1">
                <a:spcBef>
                  <a:spcPct val="0"/>
                </a:spcBef>
              </a:pPr>
              <a:t>42</a:t>
            </a:fld>
            <a:endParaRPr lang="en-US" alt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DF34669-C9A1-4C34-9D40-A9767490FE58}" type="slidenum">
              <a:rPr lang="en-US" altLang="en-US" smtClean="0"/>
              <a:pPr eaLnBrk="1" hangingPunct="1">
                <a:spcBef>
                  <a:spcPct val="0"/>
                </a:spcBef>
              </a:pPr>
              <a:t>43</a:t>
            </a:fld>
            <a:endParaRPr lang="en-US" alt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0337B0E-C896-485A-95E2-6018AD2AD0A6}" type="slidenum">
              <a:rPr lang="en-IN" smtClean="0"/>
              <a:t>60</a:t>
            </a:fld>
            <a:endParaRPr lang="en-IN"/>
          </a:p>
        </p:txBody>
      </p:sp>
    </p:spTree>
    <p:extLst>
      <p:ext uri="{BB962C8B-B14F-4D97-AF65-F5344CB8AC3E}">
        <p14:creationId xmlns:p14="http://schemas.microsoft.com/office/powerpoint/2010/main" val="676635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F18647F-AB56-D04C-E702-D0A9EC3AEDF6}"/>
            </a:ext>
          </a:extLst>
        </p:cNvPr>
        <p:cNvGrpSpPr/>
        <p:nvPr/>
      </p:nvGrpSpPr>
      <p:grpSpPr>
        <a:xfrm>
          <a:off x="0" y="0"/>
          <a:ext cx="0" cy="0"/>
          <a:chOff x="0" y="0"/>
          <a:chExt cx="0" cy="0"/>
        </a:xfrm>
      </p:grpSpPr>
      <p:sp>
        <p:nvSpPr>
          <p:cNvPr id="76802" name="Rectangle 7">
            <a:extLst>
              <a:ext uri="{FF2B5EF4-FFF2-40B4-BE49-F238E27FC236}">
                <a16:creationId xmlns="" xmlns:a16="http://schemas.microsoft.com/office/drawing/2014/main" id="{64A0C425-C6C2-01B1-52F3-B28A63B98CD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4217F8F0-A339-4AD6-A725-B2209093CF4E}" type="slidenum">
              <a:rPr kumimoji="0" lang="en-US" altLang="en-US" sz="1200" smtClean="0"/>
              <a:pPr/>
              <a:t>90</a:t>
            </a:fld>
            <a:endParaRPr kumimoji="0" lang="en-US" altLang="en-US" sz="1200"/>
          </a:p>
        </p:txBody>
      </p:sp>
      <p:sp>
        <p:nvSpPr>
          <p:cNvPr id="76803" name="Rectangle 2">
            <a:extLst>
              <a:ext uri="{FF2B5EF4-FFF2-40B4-BE49-F238E27FC236}">
                <a16:creationId xmlns="" xmlns:a16="http://schemas.microsoft.com/office/drawing/2014/main" id="{F9CAA6E0-22C7-F375-2582-C43F112B8375}"/>
              </a:ext>
            </a:extLst>
          </p:cNvPr>
          <p:cNvSpPr>
            <a:spLocks noGrp="1" noRot="1" noChangeAspect="1" noChangeArrowheads="1" noTextEdit="1"/>
          </p:cNvSpPr>
          <p:nvPr>
            <p:ph type="sldImg"/>
          </p:nvPr>
        </p:nvSpPr>
        <p:spPr>
          <a:ln/>
        </p:spPr>
      </p:sp>
      <p:sp>
        <p:nvSpPr>
          <p:cNvPr id="76804" name="Rectangle 3">
            <a:extLst>
              <a:ext uri="{FF2B5EF4-FFF2-40B4-BE49-F238E27FC236}">
                <a16:creationId xmlns="" xmlns:a16="http://schemas.microsoft.com/office/drawing/2014/main" id="{256850C8-BC2A-9038-8C22-7B64EE6D4C5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extLst>
      <p:ext uri="{BB962C8B-B14F-4D97-AF65-F5344CB8AC3E}">
        <p14:creationId xmlns:p14="http://schemas.microsoft.com/office/powerpoint/2010/main" val="1581542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4217F8F0-A339-4AD6-A725-B2209093CF4E}" type="slidenum">
              <a:rPr kumimoji="0" lang="en-US" altLang="en-US" sz="1200" smtClean="0"/>
              <a:pPr/>
              <a:t>91</a:t>
            </a:fld>
            <a:endParaRPr kumimoji="0" lang="en-US" alt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34EC0DF8-ED97-4F0F-A353-695A4942C358}" type="slidenum">
              <a:rPr kumimoji="0" lang="en-US" altLang="en-US" sz="1200" smtClean="0"/>
              <a:pPr/>
              <a:t>92</a:t>
            </a:fld>
            <a:endParaRPr kumimoji="0" lang="en-US"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65365208-6FE9-453B-BD27-4521B300D096}" type="slidenum">
              <a:rPr kumimoji="0" lang="en-US" altLang="en-US" sz="1200" smtClean="0"/>
              <a:pPr/>
              <a:t>93</a:t>
            </a:fld>
            <a:endParaRPr kumimoji="0" lang="en-US" alt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26C81FB6-5BBF-4446-B8CA-E05D29CD815A}" type="slidenum">
              <a:rPr kumimoji="0" lang="en-US" altLang="en-US" sz="1200" smtClean="0"/>
              <a:pPr/>
              <a:t>98</a:t>
            </a:fld>
            <a:endParaRPr kumimoji="0"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91607A04-60B1-4379-A98F-31501E4A9CB7}" type="slidenum">
              <a:rPr kumimoji="0" lang="en-US" altLang="en-US" sz="1200">
                <a:solidFill>
                  <a:prstClr val="black"/>
                </a:solidFill>
              </a:rPr>
              <a:pPr/>
              <a:t>105</a:t>
            </a:fld>
            <a:endParaRPr kumimoji="0" lang="en-US" altLang="en-US" sz="1200">
              <a:solidFill>
                <a:prstClr val="black"/>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18764F6E-70E0-4F2E-BE1E-416CE0553810}" type="slidenum">
              <a:rPr kumimoji="0" lang="en-US" altLang="en-US" sz="1200">
                <a:solidFill>
                  <a:prstClr val="black"/>
                </a:solidFill>
              </a:rPr>
              <a:pPr/>
              <a:t>106</a:t>
            </a:fld>
            <a:endParaRPr kumimoji="0" lang="en-US" altLang="en-US" sz="1200">
              <a:solidFill>
                <a:prstClr val="black"/>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7A05FDE2-088A-43E8-AE3D-C844DE09FC11}" type="slidenum">
              <a:rPr kumimoji="0" lang="en-US" altLang="en-US" sz="1200">
                <a:solidFill>
                  <a:prstClr val="black"/>
                </a:solidFill>
              </a:rPr>
              <a:pPr/>
              <a:t>110</a:t>
            </a:fld>
            <a:endParaRPr kumimoji="0" lang="en-US" altLang="en-US" sz="1200">
              <a:solidFill>
                <a:prstClr val="black"/>
              </a:solidFill>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68F097D6-B809-4F92-B15D-6BD2B425EC27}" type="slidenum">
              <a:rPr kumimoji="0" lang="en-US" altLang="en-US" sz="1200">
                <a:solidFill>
                  <a:prstClr val="black"/>
                </a:solidFill>
              </a:rPr>
              <a:pPr/>
              <a:t>111</a:t>
            </a:fld>
            <a:endParaRPr kumimoji="0" lang="en-US" altLang="en-US" sz="1200">
              <a:solidFill>
                <a:prstClr val="black"/>
              </a:solidFill>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ECD65FAF-F597-49A5-9627-ED4AFA21B681}" type="slidenum">
              <a:rPr kumimoji="0" lang="en-US" altLang="en-US" sz="1200">
                <a:solidFill>
                  <a:prstClr val="black"/>
                </a:solidFill>
              </a:rPr>
              <a:pPr/>
              <a:t>112</a:t>
            </a:fld>
            <a:endParaRPr kumimoji="0" lang="en-US" altLang="en-US" sz="1200">
              <a:solidFill>
                <a:prstClr val="black"/>
              </a:solidFill>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9C683209-8F80-4330-B396-4583A2A65A05}" type="slidenum">
              <a:rPr kumimoji="0" lang="en-US" altLang="en-US" sz="1200">
                <a:solidFill>
                  <a:prstClr val="black"/>
                </a:solidFill>
              </a:rPr>
              <a:pPr/>
              <a:t>113</a:t>
            </a:fld>
            <a:endParaRPr kumimoji="0" lang="en-US" altLang="en-US" sz="1200">
              <a:solidFill>
                <a:prstClr val="black"/>
              </a:solidFill>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087F70A4-89D1-4708-9897-373CFFDE72B6}" type="slidenum">
              <a:rPr kumimoji="0" lang="en-US" altLang="en-US" sz="1200">
                <a:solidFill>
                  <a:prstClr val="black"/>
                </a:solidFill>
              </a:rPr>
              <a:pPr/>
              <a:t>114</a:t>
            </a:fld>
            <a:endParaRPr kumimoji="0" lang="en-US" altLang="en-US" sz="1200">
              <a:solidFill>
                <a:prstClr val="black"/>
              </a:solidFill>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CAAAD8AB-DD71-47FC-952D-DA949C078DDE}" type="slidenum">
              <a:rPr kumimoji="0" lang="en-US" altLang="en-US" sz="1200">
                <a:solidFill>
                  <a:prstClr val="black"/>
                </a:solidFill>
              </a:rPr>
              <a:pPr/>
              <a:t>115</a:t>
            </a:fld>
            <a:endParaRPr kumimoji="0" lang="en-US" altLang="en-US" sz="1200">
              <a:solidFill>
                <a:prstClr val="black"/>
              </a:solidFill>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xfrm>
            <a:off x="685800" y="4343400"/>
            <a:ext cx="548640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117475"/>
            <a:ext cx="9142413" cy="6738938"/>
            <a:chOff x="0" y="74"/>
            <a:chExt cx="5759" cy="4245"/>
          </a:xfrm>
        </p:grpSpPr>
        <p:sp>
          <p:nvSpPr>
            <p:cNvPr id="5" name="Rectangle 3"/>
            <p:cNvSpPr>
              <a:spLocks noChangeArrowheads="1"/>
            </p:cNvSpPr>
            <p:nvPr/>
          </p:nvSpPr>
          <p:spPr bwMode="invGray">
            <a:xfrm>
              <a:off x="432" y="4113"/>
              <a:ext cx="2208" cy="20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6" name="Rectangle 4"/>
            <p:cNvSpPr>
              <a:spLocks noChangeArrowheads="1"/>
            </p:cNvSpPr>
            <p:nvPr/>
          </p:nvSpPr>
          <p:spPr bwMode="invGray">
            <a:xfrm>
              <a:off x="432" y="1536"/>
              <a:ext cx="5327"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7" name="Oval 5"/>
            <p:cNvSpPr>
              <a:spLocks noChangeArrowheads="1"/>
            </p:cNvSpPr>
            <p:nvPr/>
          </p:nvSpPr>
          <p:spPr bwMode="invGray">
            <a:xfrm>
              <a:off x="555"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8" name="Oval 6"/>
            <p:cNvSpPr>
              <a:spLocks noChangeArrowheads="1"/>
            </p:cNvSpPr>
            <p:nvPr/>
          </p:nvSpPr>
          <p:spPr bwMode="invGray">
            <a:xfrm>
              <a:off x="555"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9" name="Oval 7"/>
            <p:cNvSpPr>
              <a:spLocks noChangeArrowheads="1"/>
            </p:cNvSpPr>
            <p:nvPr/>
          </p:nvSpPr>
          <p:spPr bwMode="invGray">
            <a:xfrm>
              <a:off x="555"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 name="Oval 8"/>
            <p:cNvSpPr>
              <a:spLocks noChangeArrowheads="1"/>
            </p:cNvSpPr>
            <p:nvPr/>
          </p:nvSpPr>
          <p:spPr bwMode="invGray">
            <a:xfrm>
              <a:off x="555" y="65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1" name="Oval 9"/>
            <p:cNvSpPr>
              <a:spLocks noChangeArrowheads="1"/>
            </p:cNvSpPr>
            <p:nvPr/>
          </p:nvSpPr>
          <p:spPr bwMode="invGray">
            <a:xfrm>
              <a:off x="555" y="79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2" name="Oval 10"/>
            <p:cNvSpPr>
              <a:spLocks noChangeArrowheads="1"/>
            </p:cNvSpPr>
            <p:nvPr/>
          </p:nvSpPr>
          <p:spPr bwMode="invGray">
            <a:xfrm>
              <a:off x="555" y="93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3" name="Oval 11"/>
            <p:cNvSpPr>
              <a:spLocks noChangeArrowheads="1"/>
            </p:cNvSpPr>
            <p:nvPr/>
          </p:nvSpPr>
          <p:spPr bwMode="invGray">
            <a:xfrm>
              <a:off x="555" y="108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4" name="Oval 12"/>
            <p:cNvSpPr>
              <a:spLocks noChangeArrowheads="1"/>
            </p:cNvSpPr>
            <p:nvPr/>
          </p:nvSpPr>
          <p:spPr bwMode="invGray">
            <a:xfrm>
              <a:off x="555" y="122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5" name="Oval 13"/>
            <p:cNvSpPr>
              <a:spLocks noChangeArrowheads="1"/>
            </p:cNvSpPr>
            <p:nvPr/>
          </p:nvSpPr>
          <p:spPr bwMode="invGray">
            <a:xfrm>
              <a:off x="555" y="137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6" name="Group 14"/>
            <p:cNvGrpSpPr>
              <a:grpSpLocks/>
            </p:cNvGrpSpPr>
            <p:nvPr/>
          </p:nvGrpSpPr>
          <p:grpSpPr bwMode="auto">
            <a:xfrm>
              <a:off x="2859" y="4202"/>
              <a:ext cx="2729" cy="41"/>
              <a:chOff x="2859" y="4202"/>
              <a:chExt cx="2729" cy="41"/>
            </a:xfrm>
          </p:grpSpPr>
          <p:sp>
            <p:nvSpPr>
              <p:cNvPr id="22" name="Oval 15"/>
              <p:cNvSpPr>
                <a:spLocks noChangeArrowheads="1"/>
              </p:cNvSpPr>
              <p:nvPr/>
            </p:nvSpPr>
            <p:spPr bwMode="invGray">
              <a:xfrm>
                <a:off x="285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3" name="Oval 16"/>
              <p:cNvSpPr>
                <a:spLocks noChangeArrowheads="1"/>
              </p:cNvSpPr>
              <p:nvPr/>
            </p:nvSpPr>
            <p:spPr bwMode="invGray">
              <a:xfrm>
                <a:off x="324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4" name="Oval 17"/>
              <p:cNvSpPr>
                <a:spLocks noChangeArrowheads="1"/>
              </p:cNvSpPr>
              <p:nvPr/>
            </p:nvSpPr>
            <p:spPr bwMode="invGray">
              <a:xfrm>
                <a:off x="362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5" name="Oval 18"/>
              <p:cNvSpPr>
                <a:spLocks noChangeArrowheads="1"/>
              </p:cNvSpPr>
              <p:nvPr/>
            </p:nvSpPr>
            <p:spPr bwMode="invGray">
              <a:xfrm>
                <a:off x="4011"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6" name="Oval 19"/>
              <p:cNvSpPr>
                <a:spLocks noChangeArrowheads="1"/>
              </p:cNvSpPr>
              <p:nvPr/>
            </p:nvSpPr>
            <p:spPr bwMode="invGray">
              <a:xfrm>
                <a:off x="4395"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7" name="Oval 20"/>
              <p:cNvSpPr>
                <a:spLocks noChangeArrowheads="1"/>
              </p:cNvSpPr>
              <p:nvPr/>
            </p:nvSpPr>
            <p:spPr bwMode="invGray">
              <a:xfrm>
                <a:off x="477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8" name="Oval 21"/>
              <p:cNvSpPr>
                <a:spLocks noChangeArrowheads="1"/>
              </p:cNvSpPr>
              <p:nvPr/>
            </p:nvSpPr>
            <p:spPr bwMode="invGray">
              <a:xfrm>
                <a:off x="516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9" name="Oval 22"/>
              <p:cNvSpPr>
                <a:spLocks noChangeArrowheads="1"/>
              </p:cNvSpPr>
              <p:nvPr/>
            </p:nvSpPr>
            <p:spPr bwMode="invGray">
              <a:xfrm>
                <a:off x="554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7" name="Oval 23"/>
            <p:cNvSpPr>
              <a:spLocks noChangeArrowheads="1"/>
            </p:cNvSpPr>
            <p:nvPr/>
          </p:nvSpPr>
          <p:spPr bwMode="invGray">
            <a:xfrm>
              <a:off x="555" y="50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8" name="Group 24"/>
            <p:cNvGrpSpPr>
              <a:grpSpLocks/>
            </p:cNvGrpSpPr>
            <p:nvPr/>
          </p:nvGrpSpPr>
          <p:grpSpPr bwMode="auto">
            <a:xfrm>
              <a:off x="0" y="2327"/>
              <a:ext cx="1203" cy="1203"/>
              <a:chOff x="0" y="2327"/>
              <a:chExt cx="1203" cy="1203"/>
            </a:xfrm>
          </p:grpSpPr>
          <p:sp>
            <p:nvSpPr>
              <p:cNvPr id="19" name="Freeform 25"/>
              <p:cNvSpPr>
                <a:spLocks/>
              </p:cNvSpPr>
              <p:nvPr/>
            </p:nvSpPr>
            <p:spPr bwMode="invGray">
              <a:xfrm>
                <a:off x="0" y="2394"/>
                <a:ext cx="443" cy="1033"/>
              </a:xfrm>
              <a:custGeom>
                <a:avLst/>
                <a:gdLst>
                  <a:gd name="T0" fmla="*/ 290 w 443"/>
                  <a:gd name="T1" fmla="*/ 1016 h 1033"/>
                  <a:gd name="T2" fmla="*/ 316 w 443"/>
                  <a:gd name="T3" fmla="*/ 974 h 1033"/>
                  <a:gd name="T4" fmla="*/ 354 w 443"/>
                  <a:gd name="T5" fmla="*/ 920 h 1033"/>
                  <a:gd name="T6" fmla="*/ 384 w 443"/>
                  <a:gd name="T7" fmla="*/ 884 h 1033"/>
                  <a:gd name="T8" fmla="*/ 381 w 443"/>
                  <a:gd name="T9" fmla="*/ 832 h 1033"/>
                  <a:gd name="T10" fmla="*/ 370 w 443"/>
                  <a:gd name="T11" fmla="*/ 794 h 1033"/>
                  <a:gd name="T12" fmla="*/ 361 w 443"/>
                  <a:gd name="T13" fmla="*/ 760 h 1033"/>
                  <a:gd name="T14" fmla="*/ 361 w 443"/>
                  <a:gd name="T15" fmla="*/ 734 h 1033"/>
                  <a:gd name="T16" fmla="*/ 359 w 443"/>
                  <a:gd name="T17" fmla="*/ 707 h 1033"/>
                  <a:gd name="T18" fmla="*/ 373 w 443"/>
                  <a:gd name="T19" fmla="*/ 691 h 1033"/>
                  <a:gd name="T20" fmla="*/ 391 w 443"/>
                  <a:gd name="T21" fmla="*/ 686 h 1033"/>
                  <a:gd name="T22" fmla="*/ 395 w 443"/>
                  <a:gd name="T23" fmla="*/ 680 h 1033"/>
                  <a:gd name="T24" fmla="*/ 390 w 443"/>
                  <a:gd name="T25" fmla="*/ 671 h 1033"/>
                  <a:gd name="T26" fmla="*/ 386 w 443"/>
                  <a:gd name="T27" fmla="*/ 660 h 1033"/>
                  <a:gd name="T28" fmla="*/ 437 w 443"/>
                  <a:gd name="T29" fmla="*/ 635 h 1033"/>
                  <a:gd name="T30" fmla="*/ 442 w 443"/>
                  <a:gd name="T31" fmla="*/ 619 h 1033"/>
                  <a:gd name="T32" fmla="*/ 438 w 443"/>
                  <a:gd name="T33" fmla="*/ 604 h 1033"/>
                  <a:gd name="T34" fmla="*/ 400 w 443"/>
                  <a:gd name="T35" fmla="*/ 543 h 1033"/>
                  <a:gd name="T36" fmla="*/ 384 w 443"/>
                  <a:gd name="T37" fmla="*/ 474 h 1033"/>
                  <a:gd name="T38" fmla="*/ 354 w 443"/>
                  <a:gd name="T39" fmla="*/ 455 h 1033"/>
                  <a:gd name="T40" fmla="*/ 326 w 443"/>
                  <a:gd name="T41" fmla="*/ 433 h 1033"/>
                  <a:gd name="T42" fmla="*/ 312 w 443"/>
                  <a:gd name="T43" fmla="*/ 411 h 1033"/>
                  <a:gd name="T44" fmla="*/ 307 w 443"/>
                  <a:gd name="T45" fmla="*/ 391 h 1033"/>
                  <a:gd name="T46" fmla="*/ 290 w 443"/>
                  <a:gd name="T47" fmla="*/ 339 h 1033"/>
                  <a:gd name="T48" fmla="*/ 308 w 443"/>
                  <a:gd name="T49" fmla="*/ 289 h 1033"/>
                  <a:gd name="T50" fmla="*/ 298 w 443"/>
                  <a:gd name="T51" fmla="*/ 278 h 1033"/>
                  <a:gd name="T52" fmla="*/ 280 w 443"/>
                  <a:gd name="T53" fmla="*/ 307 h 1033"/>
                  <a:gd name="T54" fmla="*/ 269 w 443"/>
                  <a:gd name="T55" fmla="*/ 283 h 1033"/>
                  <a:gd name="T56" fmla="*/ 272 w 443"/>
                  <a:gd name="T57" fmla="*/ 224 h 1033"/>
                  <a:gd name="T58" fmla="*/ 280 w 443"/>
                  <a:gd name="T59" fmla="*/ 177 h 1033"/>
                  <a:gd name="T60" fmla="*/ 280 w 443"/>
                  <a:gd name="T61" fmla="*/ 146 h 1033"/>
                  <a:gd name="T62" fmla="*/ 281 w 443"/>
                  <a:gd name="T63" fmla="*/ 123 h 1033"/>
                  <a:gd name="T64" fmla="*/ 290 w 443"/>
                  <a:gd name="T65" fmla="*/ 104 h 1033"/>
                  <a:gd name="T66" fmla="*/ 296 w 443"/>
                  <a:gd name="T67" fmla="*/ 97 h 1033"/>
                  <a:gd name="T68" fmla="*/ 298 w 443"/>
                  <a:gd name="T69" fmla="*/ 94 h 1033"/>
                  <a:gd name="T70" fmla="*/ 301 w 443"/>
                  <a:gd name="T71" fmla="*/ 92 h 1033"/>
                  <a:gd name="T72" fmla="*/ 307 w 443"/>
                  <a:gd name="T73" fmla="*/ 83 h 1033"/>
                  <a:gd name="T74" fmla="*/ 317 w 443"/>
                  <a:gd name="T75" fmla="*/ 79 h 1033"/>
                  <a:gd name="T76" fmla="*/ 328 w 443"/>
                  <a:gd name="T77" fmla="*/ 77 h 1033"/>
                  <a:gd name="T78" fmla="*/ 337 w 443"/>
                  <a:gd name="T79" fmla="*/ 74 h 1033"/>
                  <a:gd name="T80" fmla="*/ 345 w 443"/>
                  <a:gd name="T81" fmla="*/ 67 h 1033"/>
                  <a:gd name="T82" fmla="*/ 337 w 443"/>
                  <a:gd name="T83" fmla="*/ 50 h 1033"/>
                  <a:gd name="T84" fmla="*/ 337 w 443"/>
                  <a:gd name="T85" fmla="*/ 47 h 1033"/>
                  <a:gd name="T86" fmla="*/ 337 w 443"/>
                  <a:gd name="T87" fmla="*/ 43 h 1033"/>
                  <a:gd name="T88" fmla="*/ 337 w 443"/>
                  <a:gd name="T89" fmla="*/ 41 h 1033"/>
                  <a:gd name="T90" fmla="*/ 334 w 443"/>
                  <a:gd name="T91" fmla="*/ 38 h 1033"/>
                  <a:gd name="T92" fmla="*/ 321 w 443"/>
                  <a:gd name="T93" fmla="*/ 21 h 1033"/>
                  <a:gd name="T94" fmla="*/ 316 w 443"/>
                  <a:gd name="T95" fmla="*/ 0 h 1033"/>
                  <a:gd name="T96" fmla="*/ 188 w 443"/>
                  <a:gd name="T97" fmla="*/ 94 h 1033"/>
                  <a:gd name="T98" fmla="*/ 88 w 443"/>
                  <a:gd name="T99" fmla="*/ 218 h 1033"/>
                  <a:gd name="T100" fmla="*/ 21 w 443"/>
                  <a:gd name="T101" fmla="*/ 366 h 1033"/>
                  <a:gd name="T102" fmla="*/ 0 w 443"/>
                  <a:gd name="T103" fmla="*/ 530 h 1033"/>
                  <a:gd name="T104" fmla="*/ 20 w 443"/>
                  <a:gd name="T105" fmla="*/ 680 h 1033"/>
                  <a:gd name="T106" fmla="*/ 74 w 443"/>
                  <a:gd name="T107" fmla="*/ 819 h 1033"/>
                  <a:gd name="T108" fmla="*/ 160 w 443"/>
                  <a:gd name="T109" fmla="*/ 938 h 1033"/>
                  <a:gd name="T110" fmla="*/ 272 w 443"/>
                  <a:gd name="T111" fmla="*/ 1032 h 10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43" h="1033">
                    <a:moveTo>
                      <a:pt x="272" y="1032"/>
                    </a:moveTo>
                    <a:lnTo>
                      <a:pt x="290" y="1016"/>
                    </a:lnTo>
                    <a:lnTo>
                      <a:pt x="301" y="992"/>
                    </a:lnTo>
                    <a:lnTo>
                      <a:pt x="316" y="974"/>
                    </a:lnTo>
                    <a:lnTo>
                      <a:pt x="328" y="955"/>
                    </a:lnTo>
                    <a:lnTo>
                      <a:pt x="354" y="920"/>
                    </a:lnTo>
                    <a:lnTo>
                      <a:pt x="373" y="904"/>
                    </a:lnTo>
                    <a:lnTo>
                      <a:pt x="384" y="884"/>
                    </a:lnTo>
                    <a:lnTo>
                      <a:pt x="390" y="848"/>
                    </a:lnTo>
                    <a:lnTo>
                      <a:pt x="381" y="832"/>
                    </a:lnTo>
                    <a:lnTo>
                      <a:pt x="375" y="812"/>
                    </a:lnTo>
                    <a:lnTo>
                      <a:pt x="370" y="794"/>
                    </a:lnTo>
                    <a:lnTo>
                      <a:pt x="361" y="774"/>
                    </a:lnTo>
                    <a:lnTo>
                      <a:pt x="361" y="760"/>
                    </a:lnTo>
                    <a:lnTo>
                      <a:pt x="361" y="747"/>
                    </a:lnTo>
                    <a:lnTo>
                      <a:pt x="361" y="734"/>
                    </a:lnTo>
                    <a:lnTo>
                      <a:pt x="359" y="722"/>
                    </a:lnTo>
                    <a:lnTo>
                      <a:pt x="359" y="707"/>
                    </a:lnTo>
                    <a:lnTo>
                      <a:pt x="364" y="698"/>
                    </a:lnTo>
                    <a:lnTo>
                      <a:pt x="373" y="691"/>
                    </a:lnTo>
                    <a:lnTo>
                      <a:pt x="390" y="686"/>
                    </a:lnTo>
                    <a:lnTo>
                      <a:pt x="391" y="686"/>
                    </a:lnTo>
                    <a:lnTo>
                      <a:pt x="395" y="682"/>
                    </a:lnTo>
                    <a:lnTo>
                      <a:pt x="395" y="680"/>
                    </a:lnTo>
                    <a:lnTo>
                      <a:pt x="395" y="677"/>
                    </a:lnTo>
                    <a:lnTo>
                      <a:pt x="390" y="671"/>
                    </a:lnTo>
                    <a:lnTo>
                      <a:pt x="386" y="666"/>
                    </a:lnTo>
                    <a:lnTo>
                      <a:pt x="386" y="660"/>
                    </a:lnTo>
                    <a:lnTo>
                      <a:pt x="395" y="655"/>
                    </a:lnTo>
                    <a:lnTo>
                      <a:pt x="437" y="635"/>
                    </a:lnTo>
                    <a:lnTo>
                      <a:pt x="442" y="626"/>
                    </a:lnTo>
                    <a:lnTo>
                      <a:pt x="442" y="619"/>
                    </a:lnTo>
                    <a:lnTo>
                      <a:pt x="442" y="613"/>
                    </a:lnTo>
                    <a:lnTo>
                      <a:pt x="438" y="604"/>
                    </a:lnTo>
                    <a:lnTo>
                      <a:pt x="417" y="577"/>
                    </a:lnTo>
                    <a:lnTo>
                      <a:pt x="400" y="543"/>
                    </a:lnTo>
                    <a:lnTo>
                      <a:pt x="391" y="511"/>
                    </a:lnTo>
                    <a:lnTo>
                      <a:pt x="384" y="474"/>
                    </a:lnTo>
                    <a:lnTo>
                      <a:pt x="368" y="465"/>
                    </a:lnTo>
                    <a:lnTo>
                      <a:pt x="354" y="455"/>
                    </a:lnTo>
                    <a:lnTo>
                      <a:pt x="339" y="444"/>
                    </a:lnTo>
                    <a:lnTo>
                      <a:pt x="326" y="433"/>
                    </a:lnTo>
                    <a:lnTo>
                      <a:pt x="317" y="422"/>
                    </a:lnTo>
                    <a:lnTo>
                      <a:pt x="312" y="411"/>
                    </a:lnTo>
                    <a:lnTo>
                      <a:pt x="308" y="402"/>
                    </a:lnTo>
                    <a:lnTo>
                      <a:pt x="307" y="391"/>
                    </a:lnTo>
                    <a:lnTo>
                      <a:pt x="285" y="363"/>
                    </a:lnTo>
                    <a:lnTo>
                      <a:pt x="290" y="339"/>
                    </a:lnTo>
                    <a:lnTo>
                      <a:pt x="301" y="314"/>
                    </a:lnTo>
                    <a:lnTo>
                      <a:pt x="308" y="289"/>
                    </a:lnTo>
                    <a:lnTo>
                      <a:pt x="308" y="267"/>
                    </a:lnTo>
                    <a:lnTo>
                      <a:pt x="298" y="278"/>
                    </a:lnTo>
                    <a:lnTo>
                      <a:pt x="287" y="294"/>
                    </a:lnTo>
                    <a:lnTo>
                      <a:pt x="280" y="307"/>
                    </a:lnTo>
                    <a:lnTo>
                      <a:pt x="272" y="314"/>
                    </a:lnTo>
                    <a:lnTo>
                      <a:pt x="269" y="283"/>
                    </a:lnTo>
                    <a:lnTo>
                      <a:pt x="271" y="254"/>
                    </a:lnTo>
                    <a:lnTo>
                      <a:pt x="272" y="224"/>
                    </a:lnTo>
                    <a:lnTo>
                      <a:pt x="272" y="195"/>
                    </a:lnTo>
                    <a:lnTo>
                      <a:pt x="280" y="177"/>
                    </a:lnTo>
                    <a:lnTo>
                      <a:pt x="280" y="164"/>
                    </a:lnTo>
                    <a:lnTo>
                      <a:pt x="280" y="146"/>
                    </a:lnTo>
                    <a:lnTo>
                      <a:pt x="281" y="133"/>
                    </a:lnTo>
                    <a:lnTo>
                      <a:pt x="281" y="123"/>
                    </a:lnTo>
                    <a:lnTo>
                      <a:pt x="285" y="113"/>
                    </a:lnTo>
                    <a:lnTo>
                      <a:pt x="290" y="104"/>
                    </a:lnTo>
                    <a:lnTo>
                      <a:pt x="296" y="97"/>
                    </a:lnTo>
                    <a:lnTo>
                      <a:pt x="298" y="94"/>
                    </a:lnTo>
                    <a:lnTo>
                      <a:pt x="301" y="92"/>
                    </a:lnTo>
                    <a:lnTo>
                      <a:pt x="303" y="86"/>
                    </a:lnTo>
                    <a:lnTo>
                      <a:pt x="307" y="83"/>
                    </a:lnTo>
                    <a:lnTo>
                      <a:pt x="308" y="83"/>
                    </a:lnTo>
                    <a:lnTo>
                      <a:pt x="317" y="79"/>
                    </a:lnTo>
                    <a:lnTo>
                      <a:pt x="323" y="77"/>
                    </a:lnTo>
                    <a:lnTo>
                      <a:pt x="328" y="77"/>
                    </a:lnTo>
                    <a:lnTo>
                      <a:pt x="334" y="74"/>
                    </a:lnTo>
                    <a:lnTo>
                      <a:pt x="337" y="74"/>
                    </a:lnTo>
                    <a:lnTo>
                      <a:pt x="339" y="72"/>
                    </a:lnTo>
                    <a:lnTo>
                      <a:pt x="345" y="67"/>
                    </a:lnTo>
                    <a:lnTo>
                      <a:pt x="345" y="63"/>
                    </a:lnTo>
                    <a:lnTo>
                      <a:pt x="337" y="50"/>
                    </a:lnTo>
                    <a:lnTo>
                      <a:pt x="337" y="47"/>
                    </a:lnTo>
                    <a:lnTo>
                      <a:pt x="337" y="43"/>
                    </a:lnTo>
                    <a:lnTo>
                      <a:pt x="337" y="41"/>
                    </a:lnTo>
                    <a:lnTo>
                      <a:pt x="334" y="41"/>
                    </a:lnTo>
                    <a:lnTo>
                      <a:pt x="334" y="38"/>
                    </a:lnTo>
                    <a:lnTo>
                      <a:pt x="328" y="30"/>
                    </a:lnTo>
                    <a:lnTo>
                      <a:pt x="321" y="21"/>
                    </a:lnTo>
                    <a:lnTo>
                      <a:pt x="317" y="11"/>
                    </a:lnTo>
                    <a:lnTo>
                      <a:pt x="316" y="0"/>
                    </a:lnTo>
                    <a:lnTo>
                      <a:pt x="249" y="41"/>
                    </a:lnTo>
                    <a:lnTo>
                      <a:pt x="188" y="94"/>
                    </a:lnTo>
                    <a:lnTo>
                      <a:pt x="133" y="151"/>
                    </a:lnTo>
                    <a:lnTo>
                      <a:pt x="88" y="218"/>
                    </a:lnTo>
                    <a:lnTo>
                      <a:pt x="50" y="289"/>
                    </a:lnTo>
                    <a:lnTo>
                      <a:pt x="21" y="366"/>
                    </a:lnTo>
                    <a:lnTo>
                      <a:pt x="5" y="446"/>
                    </a:lnTo>
                    <a:lnTo>
                      <a:pt x="0" y="530"/>
                    </a:lnTo>
                    <a:lnTo>
                      <a:pt x="5" y="608"/>
                    </a:lnTo>
                    <a:lnTo>
                      <a:pt x="20" y="680"/>
                    </a:lnTo>
                    <a:lnTo>
                      <a:pt x="45" y="751"/>
                    </a:lnTo>
                    <a:lnTo>
                      <a:pt x="74" y="819"/>
                    </a:lnTo>
                    <a:lnTo>
                      <a:pt x="114" y="879"/>
                    </a:lnTo>
                    <a:lnTo>
                      <a:pt x="160" y="938"/>
                    </a:lnTo>
                    <a:lnTo>
                      <a:pt x="215" y="987"/>
                    </a:lnTo>
                    <a:lnTo>
                      <a:pt x="272" y="1032"/>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0" name="Freeform 26"/>
              <p:cNvSpPr>
                <a:spLocks/>
              </p:cNvSpPr>
              <p:nvPr/>
            </p:nvSpPr>
            <p:spPr bwMode="invGray">
              <a:xfrm>
                <a:off x="379" y="2327"/>
                <a:ext cx="824" cy="1203"/>
              </a:xfrm>
              <a:custGeom>
                <a:avLst/>
                <a:gdLst>
                  <a:gd name="T0" fmla="*/ 796 w 824"/>
                  <a:gd name="T1" fmla="*/ 688 h 1203"/>
                  <a:gd name="T2" fmla="*/ 756 w 824"/>
                  <a:gd name="T3" fmla="*/ 641 h 1203"/>
                  <a:gd name="T4" fmla="*/ 812 w 824"/>
                  <a:gd name="T5" fmla="*/ 615 h 1203"/>
                  <a:gd name="T6" fmla="*/ 814 w 824"/>
                  <a:gd name="T7" fmla="*/ 502 h 1203"/>
                  <a:gd name="T8" fmla="*/ 705 w 824"/>
                  <a:gd name="T9" fmla="*/ 247 h 1203"/>
                  <a:gd name="T10" fmla="*/ 651 w 824"/>
                  <a:gd name="T11" fmla="*/ 262 h 1203"/>
                  <a:gd name="T12" fmla="*/ 574 w 824"/>
                  <a:gd name="T13" fmla="*/ 289 h 1203"/>
                  <a:gd name="T14" fmla="*/ 536 w 824"/>
                  <a:gd name="T15" fmla="*/ 258 h 1203"/>
                  <a:gd name="T16" fmla="*/ 563 w 824"/>
                  <a:gd name="T17" fmla="*/ 170 h 1203"/>
                  <a:gd name="T18" fmla="*/ 532 w 824"/>
                  <a:gd name="T19" fmla="*/ 81 h 1203"/>
                  <a:gd name="T20" fmla="*/ 455 w 824"/>
                  <a:gd name="T21" fmla="*/ 56 h 1203"/>
                  <a:gd name="T22" fmla="*/ 484 w 824"/>
                  <a:gd name="T23" fmla="*/ 150 h 1203"/>
                  <a:gd name="T24" fmla="*/ 465 w 824"/>
                  <a:gd name="T25" fmla="*/ 190 h 1203"/>
                  <a:gd name="T26" fmla="*/ 442 w 824"/>
                  <a:gd name="T27" fmla="*/ 200 h 1203"/>
                  <a:gd name="T28" fmla="*/ 419 w 824"/>
                  <a:gd name="T29" fmla="*/ 164 h 1203"/>
                  <a:gd name="T30" fmla="*/ 381 w 824"/>
                  <a:gd name="T31" fmla="*/ 108 h 1203"/>
                  <a:gd name="T32" fmla="*/ 406 w 824"/>
                  <a:gd name="T33" fmla="*/ 108 h 1203"/>
                  <a:gd name="T34" fmla="*/ 424 w 824"/>
                  <a:gd name="T35" fmla="*/ 72 h 1203"/>
                  <a:gd name="T36" fmla="*/ 325 w 824"/>
                  <a:gd name="T37" fmla="*/ 0 h 1203"/>
                  <a:gd name="T38" fmla="*/ 281 w 824"/>
                  <a:gd name="T39" fmla="*/ 27 h 1203"/>
                  <a:gd name="T40" fmla="*/ 240 w 824"/>
                  <a:gd name="T41" fmla="*/ 72 h 1203"/>
                  <a:gd name="T42" fmla="*/ 209 w 824"/>
                  <a:gd name="T43" fmla="*/ 114 h 1203"/>
                  <a:gd name="T44" fmla="*/ 209 w 824"/>
                  <a:gd name="T45" fmla="*/ 150 h 1203"/>
                  <a:gd name="T46" fmla="*/ 240 w 824"/>
                  <a:gd name="T47" fmla="*/ 164 h 1203"/>
                  <a:gd name="T48" fmla="*/ 209 w 824"/>
                  <a:gd name="T49" fmla="*/ 222 h 1203"/>
                  <a:gd name="T50" fmla="*/ 213 w 824"/>
                  <a:gd name="T51" fmla="*/ 242 h 1203"/>
                  <a:gd name="T52" fmla="*/ 267 w 824"/>
                  <a:gd name="T53" fmla="*/ 222 h 1203"/>
                  <a:gd name="T54" fmla="*/ 303 w 824"/>
                  <a:gd name="T55" fmla="*/ 170 h 1203"/>
                  <a:gd name="T56" fmla="*/ 354 w 824"/>
                  <a:gd name="T57" fmla="*/ 231 h 1203"/>
                  <a:gd name="T58" fmla="*/ 372 w 824"/>
                  <a:gd name="T59" fmla="*/ 291 h 1203"/>
                  <a:gd name="T60" fmla="*/ 348 w 824"/>
                  <a:gd name="T61" fmla="*/ 294 h 1203"/>
                  <a:gd name="T62" fmla="*/ 298 w 824"/>
                  <a:gd name="T63" fmla="*/ 309 h 1203"/>
                  <a:gd name="T64" fmla="*/ 323 w 824"/>
                  <a:gd name="T65" fmla="*/ 330 h 1203"/>
                  <a:gd name="T66" fmla="*/ 260 w 824"/>
                  <a:gd name="T67" fmla="*/ 339 h 1203"/>
                  <a:gd name="T68" fmla="*/ 189 w 824"/>
                  <a:gd name="T69" fmla="*/ 411 h 1203"/>
                  <a:gd name="T70" fmla="*/ 184 w 824"/>
                  <a:gd name="T71" fmla="*/ 469 h 1203"/>
                  <a:gd name="T72" fmla="*/ 148 w 824"/>
                  <a:gd name="T73" fmla="*/ 435 h 1203"/>
                  <a:gd name="T74" fmla="*/ 83 w 824"/>
                  <a:gd name="T75" fmla="*/ 402 h 1203"/>
                  <a:gd name="T76" fmla="*/ 0 w 824"/>
                  <a:gd name="T77" fmla="*/ 455 h 1203"/>
                  <a:gd name="T78" fmla="*/ 54 w 824"/>
                  <a:gd name="T79" fmla="*/ 496 h 1203"/>
                  <a:gd name="T80" fmla="*/ 74 w 824"/>
                  <a:gd name="T81" fmla="*/ 485 h 1203"/>
                  <a:gd name="T82" fmla="*/ 54 w 824"/>
                  <a:gd name="T83" fmla="*/ 608 h 1203"/>
                  <a:gd name="T84" fmla="*/ 132 w 824"/>
                  <a:gd name="T85" fmla="*/ 641 h 1203"/>
                  <a:gd name="T86" fmla="*/ 195 w 824"/>
                  <a:gd name="T87" fmla="*/ 661 h 1203"/>
                  <a:gd name="T88" fmla="*/ 249 w 824"/>
                  <a:gd name="T89" fmla="*/ 744 h 1203"/>
                  <a:gd name="T90" fmla="*/ 334 w 824"/>
                  <a:gd name="T91" fmla="*/ 886 h 1203"/>
                  <a:gd name="T92" fmla="*/ 391 w 824"/>
                  <a:gd name="T93" fmla="*/ 1007 h 1203"/>
                  <a:gd name="T94" fmla="*/ 292 w 824"/>
                  <a:gd name="T95" fmla="*/ 1052 h 1203"/>
                  <a:gd name="T96" fmla="*/ 182 w 824"/>
                  <a:gd name="T97" fmla="*/ 1105 h 1203"/>
                  <a:gd name="T98" fmla="*/ 68 w 824"/>
                  <a:gd name="T99" fmla="*/ 1180 h 1203"/>
                  <a:gd name="T100" fmla="*/ 200 w 824"/>
                  <a:gd name="T101" fmla="*/ 1202 h 1203"/>
                  <a:gd name="T102" fmla="*/ 417 w 824"/>
                  <a:gd name="T103" fmla="*/ 1168 h 1203"/>
                  <a:gd name="T104" fmla="*/ 613 w 824"/>
                  <a:gd name="T105" fmla="*/ 1052 h 1203"/>
                  <a:gd name="T106" fmla="*/ 610 w 824"/>
                  <a:gd name="T107" fmla="*/ 929 h 1203"/>
                  <a:gd name="T108" fmla="*/ 543 w 824"/>
                  <a:gd name="T109" fmla="*/ 888 h 1203"/>
                  <a:gd name="T110" fmla="*/ 567 w 824"/>
                  <a:gd name="T111" fmla="*/ 791 h 1203"/>
                  <a:gd name="T112" fmla="*/ 655 w 824"/>
                  <a:gd name="T113" fmla="*/ 738 h 1203"/>
                  <a:gd name="T114" fmla="*/ 725 w 824"/>
                  <a:gd name="T115" fmla="*/ 713 h 1203"/>
                  <a:gd name="T116" fmla="*/ 792 w 824"/>
                  <a:gd name="T117" fmla="*/ 729 h 120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24" h="1203">
                    <a:moveTo>
                      <a:pt x="803" y="736"/>
                    </a:moveTo>
                    <a:lnTo>
                      <a:pt x="807" y="724"/>
                    </a:lnTo>
                    <a:lnTo>
                      <a:pt x="808" y="713"/>
                    </a:lnTo>
                    <a:lnTo>
                      <a:pt x="812" y="702"/>
                    </a:lnTo>
                    <a:lnTo>
                      <a:pt x="814" y="691"/>
                    </a:lnTo>
                    <a:lnTo>
                      <a:pt x="803" y="691"/>
                    </a:lnTo>
                    <a:lnTo>
                      <a:pt x="796" y="688"/>
                    </a:lnTo>
                    <a:lnTo>
                      <a:pt x="783" y="686"/>
                    </a:lnTo>
                    <a:lnTo>
                      <a:pt x="776" y="680"/>
                    </a:lnTo>
                    <a:lnTo>
                      <a:pt x="770" y="675"/>
                    </a:lnTo>
                    <a:lnTo>
                      <a:pt x="767" y="666"/>
                    </a:lnTo>
                    <a:lnTo>
                      <a:pt x="761" y="661"/>
                    </a:lnTo>
                    <a:lnTo>
                      <a:pt x="760" y="655"/>
                    </a:lnTo>
                    <a:lnTo>
                      <a:pt x="756" y="641"/>
                    </a:lnTo>
                    <a:lnTo>
                      <a:pt x="756" y="624"/>
                    </a:lnTo>
                    <a:lnTo>
                      <a:pt x="760" y="610"/>
                    </a:lnTo>
                    <a:lnTo>
                      <a:pt x="767" y="599"/>
                    </a:lnTo>
                    <a:lnTo>
                      <a:pt x="781" y="597"/>
                    </a:lnTo>
                    <a:lnTo>
                      <a:pt x="792" y="599"/>
                    </a:lnTo>
                    <a:lnTo>
                      <a:pt x="803" y="608"/>
                    </a:lnTo>
                    <a:lnTo>
                      <a:pt x="812" y="615"/>
                    </a:lnTo>
                    <a:lnTo>
                      <a:pt x="819" y="628"/>
                    </a:lnTo>
                    <a:lnTo>
                      <a:pt x="823" y="619"/>
                    </a:lnTo>
                    <a:lnTo>
                      <a:pt x="823" y="610"/>
                    </a:lnTo>
                    <a:lnTo>
                      <a:pt x="823" y="605"/>
                    </a:lnTo>
                    <a:lnTo>
                      <a:pt x="823" y="597"/>
                    </a:lnTo>
                    <a:lnTo>
                      <a:pt x="819" y="549"/>
                    </a:lnTo>
                    <a:lnTo>
                      <a:pt x="814" y="502"/>
                    </a:lnTo>
                    <a:lnTo>
                      <a:pt x="807" y="455"/>
                    </a:lnTo>
                    <a:lnTo>
                      <a:pt x="792" y="411"/>
                    </a:lnTo>
                    <a:lnTo>
                      <a:pt x="776" y="366"/>
                    </a:lnTo>
                    <a:lnTo>
                      <a:pt x="756" y="325"/>
                    </a:lnTo>
                    <a:lnTo>
                      <a:pt x="734" y="285"/>
                    </a:lnTo>
                    <a:lnTo>
                      <a:pt x="709" y="247"/>
                    </a:lnTo>
                    <a:lnTo>
                      <a:pt x="705" y="247"/>
                    </a:lnTo>
                    <a:lnTo>
                      <a:pt x="702" y="244"/>
                    </a:lnTo>
                    <a:lnTo>
                      <a:pt x="698" y="244"/>
                    </a:lnTo>
                    <a:lnTo>
                      <a:pt x="693" y="242"/>
                    </a:lnTo>
                    <a:lnTo>
                      <a:pt x="677" y="253"/>
                    </a:lnTo>
                    <a:lnTo>
                      <a:pt x="668" y="254"/>
                    </a:lnTo>
                    <a:lnTo>
                      <a:pt x="660" y="258"/>
                    </a:lnTo>
                    <a:lnTo>
                      <a:pt x="651" y="262"/>
                    </a:lnTo>
                    <a:lnTo>
                      <a:pt x="642" y="264"/>
                    </a:lnTo>
                    <a:lnTo>
                      <a:pt x="631" y="267"/>
                    </a:lnTo>
                    <a:lnTo>
                      <a:pt x="619" y="273"/>
                    </a:lnTo>
                    <a:lnTo>
                      <a:pt x="606" y="278"/>
                    </a:lnTo>
                    <a:lnTo>
                      <a:pt x="594" y="283"/>
                    </a:lnTo>
                    <a:lnTo>
                      <a:pt x="583" y="285"/>
                    </a:lnTo>
                    <a:lnTo>
                      <a:pt x="574" y="289"/>
                    </a:lnTo>
                    <a:lnTo>
                      <a:pt x="567" y="291"/>
                    </a:lnTo>
                    <a:lnTo>
                      <a:pt x="557" y="289"/>
                    </a:lnTo>
                    <a:lnTo>
                      <a:pt x="554" y="285"/>
                    </a:lnTo>
                    <a:lnTo>
                      <a:pt x="548" y="280"/>
                    </a:lnTo>
                    <a:lnTo>
                      <a:pt x="547" y="278"/>
                    </a:lnTo>
                    <a:lnTo>
                      <a:pt x="543" y="273"/>
                    </a:lnTo>
                    <a:lnTo>
                      <a:pt x="536" y="258"/>
                    </a:lnTo>
                    <a:lnTo>
                      <a:pt x="532" y="244"/>
                    </a:lnTo>
                    <a:lnTo>
                      <a:pt x="532" y="231"/>
                    </a:lnTo>
                    <a:lnTo>
                      <a:pt x="530" y="217"/>
                    </a:lnTo>
                    <a:lnTo>
                      <a:pt x="532" y="202"/>
                    </a:lnTo>
                    <a:lnTo>
                      <a:pt x="541" y="190"/>
                    </a:lnTo>
                    <a:lnTo>
                      <a:pt x="552" y="177"/>
                    </a:lnTo>
                    <a:lnTo>
                      <a:pt x="563" y="170"/>
                    </a:lnTo>
                    <a:lnTo>
                      <a:pt x="574" y="159"/>
                    </a:lnTo>
                    <a:lnTo>
                      <a:pt x="583" y="146"/>
                    </a:lnTo>
                    <a:lnTo>
                      <a:pt x="588" y="134"/>
                    </a:lnTo>
                    <a:lnTo>
                      <a:pt x="588" y="119"/>
                    </a:lnTo>
                    <a:lnTo>
                      <a:pt x="568" y="105"/>
                    </a:lnTo>
                    <a:lnTo>
                      <a:pt x="552" y="92"/>
                    </a:lnTo>
                    <a:lnTo>
                      <a:pt x="532" y="81"/>
                    </a:lnTo>
                    <a:lnTo>
                      <a:pt x="512" y="70"/>
                    </a:lnTo>
                    <a:lnTo>
                      <a:pt x="491" y="58"/>
                    </a:lnTo>
                    <a:lnTo>
                      <a:pt x="471" y="47"/>
                    </a:lnTo>
                    <a:lnTo>
                      <a:pt x="449" y="38"/>
                    </a:lnTo>
                    <a:lnTo>
                      <a:pt x="428" y="31"/>
                    </a:lnTo>
                    <a:lnTo>
                      <a:pt x="442" y="45"/>
                    </a:lnTo>
                    <a:lnTo>
                      <a:pt x="455" y="56"/>
                    </a:lnTo>
                    <a:lnTo>
                      <a:pt x="465" y="63"/>
                    </a:lnTo>
                    <a:lnTo>
                      <a:pt x="484" y="74"/>
                    </a:lnTo>
                    <a:lnTo>
                      <a:pt x="485" y="88"/>
                    </a:lnTo>
                    <a:lnTo>
                      <a:pt x="484" y="105"/>
                    </a:lnTo>
                    <a:lnTo>
                      <a:pt x="478" y="123"/>
                    </a:lnTo>
                    <a:lnTo>
                      <a:pt x="478" y="135"/>
                    </a:lnTo>
                    <a:lnTo>
                      <a:pt x="484" y="150"/>
                    </a:lnTo>
                    <a:lnTo>
                      <a:pt x="484" y="155"/>
                    </a:lnTo>
                    <a:lnTo>
                      <a:pt x="480" y="161"/>
                    </a:lnTo>
                    <a:lnTo>
                      <a:pt x="474" y="166"/>
                    </a:lnTo>
                    <a:lnTo>
                      <a:pt x="469" y="170"/>
                    </a:lnTo>
                    <a:lnTo>
                      <a:pt x="465" y="175"/>
                    </a:lnTo>
                    <a:lnTo>
                      <a:pt x="465" y="180"/>
                    </a:lnTo>
                    <a:lnTo>
                      <a:pt x="465" y="190"/>
                    </a:lnTo>
                    <a:lnTo>
                      <a:pt x="464" y="195"/>
                    </a:lnTo>
                    <a:lnTo>
                      <a:pt x="460" y="197"/>
                    </a:lnTo>
                    <a:lnTo>
                      <a:pt x="458" y="200"/>
                    </a:lnTo>
                    <a:lnTo>
                      <a:pt x="455" y="200"/>
                    </a:lnTo>
                    <a:lnTo>
                      <a:pt x="453" y="200"/>
                    </a:lnTo>
                    <a:lnTo>
                      <a:pt x="447" y="197"/>
                    </a:lnTo>
                    <a:lnTo>
                      <a:pt x="442" y="200"/>
                    </a:lnTo>
                    <a:lnTo>
                      <a:pt x="433" y="202"/>
                    </a:lnTo>
                    <a:lnTo>
                      <a:pt x="428" y="202"/>
                    </a:lnTo>
                    <a:lnTo>
                      <a:pt x="424" y="200"/>
                    </a:lnTo>
                    <a:lnTo>
                      <a:pt x="424" y="197"/>
                    </a:lnTo>
                    <a:lnTo>
                      <a:pt x="422" y="195"/>
                    </a:lnTo>
                    <a:lnTo>
                      <a:pt x="419" y="164"/>
                    </a:lnTo>
                    <a:lnTo>
                      <a:pt x="411" y="159"/>
                    </a:lnTo>
                    <a:lnTo>
                      <a:pt x="406" y="150"/>
                    </a:lnTo>
                    <a:lnTo>
                      <a:pt x="397" y="141"/>
                    </a:lnTo>
                    <a:lnTo>
                      <a:pt x="390" y="134"/>
                    </a:lnTo>
                    <a:lnTo>
                      <a:pt x="386" y="125"/>
                    </a:lnTo>
                    <a:lnTo>
                      <a:pt x="384" y="117"/>
                    </a:lnTo>
                    <a:lnTo>
                      <a:pt x="381" y="108"/>
                    </a:lnTo>
                    <a:lnTo>
                      <a:pt x="384" y="103"/>
                    </a:lnTo>
                    <a:lnTo>
                      <a:pt x="386" y="99"/>
                    </a:lnTo>
                    <a:lnTo>
                      <a:pt x="390" y="99"/>
                    </a:lnTo>
                    <a:lnTo>
                      <a:pt x="390" y="97"/>
                    </a:lnTo>
                    <a:lnTo>
                      <a:pt x="391" y="97"/>
                    </a:lnTo>
                    <a:lnTo>
                      <a:pt x="397" y="103"/>
                    </a:lnTo>
                    <a:lnTo>
                      <a:pt x="406" y="108"/>
                    </a:lnTo>
                    <a:lnTo>
                      <a:pt x="413" y="110"/>
                    </a:lnTo>
                    <a:lnTo>
                      <a:pt x="422" y="110"/>
                    </a:lnTo>
                    <a:lnTo>
                      <a:pt x="424" y="110"/>
                    </a:lnTo>
                    <a:lnTo>
                      <a:pt x="424" y="108"/>
                    </a:lnTo>
                    <a:lnTo>
                      <a:pt x="424" y="72"/>
                    </a:lnTo>
                    <a:lnTo>
                      <a:pt x="411" y="56"/>
                    </a:lnTo>
                    <a:lnTo>
                      <a:pt x="395" y="42"/>
                    </a:lnTo>
                    <a:lnTo>
                      <a:pt x="377" y="27"/>
                    </a:lnTo>
                    <a:lnTo>
                      <a:pt x="364" y="9"/>
                    </a:lnTo>
                    <a:lnTo>
                      <a:pt x="350" y="5"/>
                    </a:lnTo>
                    <a:lnTo>
                      <a:pt x="339" y="2"/>
                    </a:lnTo>
                    <a:lnTo>
                      <a:pt x="325" y="0"/>
                    </a:lnTo>
                    <a:lnTo>
                      <a:pt x="312" y="0"/>
                    </a:lnTo>
                    <a:lnTo>
                      <a:pt x="308" y="0"/>
                    </a:lnTo>
                    <a:lnTo>
                      <a:pt x="308" y="2"/>
                    </a:lnTo>
                    <a:lnTo>
                      <a:pt x="308" y="5"/>
                    </a:lnTo>
                    <a:lnTo>
                      <a:pt x="307" y="9"/>
                    </a:lnTo>
                    <a:lnTo>
                      <a:pt x="289" y="14"/>
                    </a:lnTo>
                    <a:lnTo>
                      <a:pt x="281" y="27"/>
                    </a:lnTo>
                    <a:lnTo>
                      <a:pt x="276" y="42"/>
                    </a:lnTo>
                    <a:lnTo>
                      <a:pt x="265" y="56"/>
                    </a:lnTo>
                    <a:lnTo>
                      <a:pt x="260" y="56"/>
                    </a:lnTo>
                    <a:lnTo>
                      <a:pt x="256" y="56"/>
                    </a:lnTo>
                    <a:lnTo>
                      <a:pt x="251" y="56"/>
                    </a:lnTo>
                    <a:lnTo>
                      <a:pt x="249" y="58"/>
                    </a:lnTo>
                    <a:lnTo>
                      <a:pt x="240" y="72"/>
                    </a:lnTo>
                    <a:lnTo>
                      <a:pt x="231" y="87"/>
                    </a:lnTo>
                    <a:lnTo>
                      <a:pt x="224" y="99"/>
                    </a:lnTo>
                    <a:lnTo>
                      <a:pt x="213" y="110"/>
                    </a:lnTo>
                    <a:lnTo>
                      <a:pt x="209" y="110"/>
                    </a:lnTo>
                    <a:lnTo>
                      <a:pt x="209" y="114"/>
                    </a:lnTo>
                    <a:lnTo>
                      <a:pt x="184" y="139"/>
                    </a:lnTo>
                    <a:lnTo>
                      <a:pt x="184" y="141"/>
                    </a:lnTo>
                    <a:lnTo>
                      <a:pt x="195" y="146"/>
                    </a:lnTo>
                    <a:lnTo>
                      <a:pt x="209" y="150"/>
                    </a:lnTo>
                    <a:lnTo>
                      <a:pt x="224" y="153"/>
                    </a:lnTo>
                    <a:lnTo>
                      <a:pt x="234" y="153"/>
                    </a:lnTo>
                    <a:lnTo>
                      <a:pt x="236" y="155"/>
                    </a:lnTo>
                    <a:lnTo>
                      <a:pt x="240" y="155"/>
                    </a:lnTo>
                    <a:lnTo>
                      <a:pt x="240" y="159"/>
                    </a:lnTo>
                    <a:lnTo>
                      <a:pt x="242" y="161"/>
                    </a:lnTo>
                    <a:lnTo>
                      <a:pt x="240" y="164"/>
                    </a:lnTo>
                    <a:lnTo>
                      <a:pt x="234" y="166"/>
                    </a:lnTo>
                    <a:lnTo>
                      <a:pt x="231" y="170"/>
                    </a:lnTo>
                    <a:lnTo>
                      <a:pt x="225" y="171"/>
                    </a:lnTo>
                    <a:lnTo>
                      <a:pt x="220" y="180"/>
                    </a:lnTo>
                    <a:lnTo>
                      <a:pt x="215" y="195"/>
                    </a:lnTo>
                    <a:lnTo>
                      <a:pt x="209" y="208"/>
                    </a:lnTo>
                    <a:lnTo>
                      <a:pt x="209" y="222"/>
                    </a:lnTo>
                    <a:lnTo>
                      <a:pt x="213" y="227"/>
                    </a:lnTo>
                    <a:lnTo>
                      <a:pt x="215" y="227"/>
                    </a:lnTo>
                    <a:lnTo>
                      <a:pt x="213" y="231"/>
                    </a:lnTo>
                    <a:lnTo>
                      <a:pt x="209" y="238"/>
                    </a:lnTo>
                    <a:lnTo>
                      <a:pt x="213" y="242"/>
                    </a:lnTo>
                    <a:lnTo>
                      <a:pt x="215" y="244"/>
                    </a:lnTo>
                    <a:lnTo>
                      <a:pt x="231" y="233"/>
                    </a:lnTo>
                    <a:lnTo>
                      <a:pt x="260" y="231"/>
                    </a:lnTo>
                    <a:lnTo>
                      <a:pt x="260" y="227"/>
                    </a:lnTo>
                    <a:lnTo>
                      <a:pt x="262" y="226"/>
                    </a:lnTo>
                    <a:lnTo>
                      <a:pt x="265" y="226"/>
                    </a:lnTo>
                    <a:lnTo>
                      <a:pt x="267" y="222"/>
                    </a:lnTo>
                    <a:lnTo>
                      <a:pt x="267" y="200"/>
                    </a:lnTo>
                    <a:lnTo>
                      <a:pt x="289" y="155"/>
                    </a:lnTo>
                    <a:lnTo>
                      <a:pt x="292" y="155"/>
                    </a:lnTo>
                    <a:lnTo>
                      <a:pt x="303" y="170"/>
                    </a:lnTo>
                    <a:lnTo>
                      <a:pt x="312" y="180"/>
                    </a:lnTo>
                    <a:lnTo>
                      <a:pt x="323" y="195"/>
                    </a:lnTo>
                    <a:lnTo>
                      <a:pt x="336" y="206"/>
                    </a:lnTo>
                    <a:lnTo>
                      <a:pt x="343" y="211"/>
                    </a:lnTo>
                    <a:lnTo>
                      <a:pt x="345" y="217"/>
                    </a:lnTo>
                    <a:lnTo>
                      <a:pt x="350" y="226"/>
                    </a:lnTo>
                    <a:lnTo>
                      <a:pt x="354" y="231"/>
                    </a:lnTo>
                    <a:lnTo>
                      <a:pt x="354" y="244"/>
                    </a:lnTo>
                    <a:lnTo>
                      <a:pt x="354" y="258"/>
                    </a:lnTo>
                    <a:lnTo>
                      <a:pt x="359" y="273"/>
                    </a:lnTo>
                    <a:lnTo>
                      <a:pt x="364" y="283"/>
                    </a:lnTo>
                    <a:lnTo>
                      <a:pt x="366" y="285"/>
                    </a:lnTo>
                    <a:lnTo>
                      <a:pt x="370" y="289"/>
                    </a:lnTo>
                    <a:lnTo>
                      <a:pt x="372" y="291"/>
                    </a:lnTo>
                    <a:lnTo>
                      <a:pt x="375" y="294"/>
                    </a:lnTo>
                    <a:lnTo>
                      <a:pt x="375" y="298"/>
                    </a:lnTo>
                    <a:lnTo>
                      <a:pt x="372" y="300"/>
                    </a:lnTo>
                    <a:lnTo>
                      <a:pt x="372" y="305"/>
                    </a:lnTo>
                    <a:lnTo>
                      <a:pt x="370" y="309"/>
                    </a:lnTo>
                    <a:lnTo>
                      <a:pt x="359" y="305"/>
                    </a:lnTo>
                    <a:lnTo>
                      <a:pt x="348" y="294"/>
                    </a:lnTo>
                    <a:lnTo>
                      <a:pt x="336" y="285"/>
                    </a:lnTo>
                    <a:lnTo>
                      <a:pt x="323" y="283"/>
                    </a:lnTo>
                    <a:lnTo>
                      <a:pt x="314" y="289"/>
                    </a:lnTo>
                    <a:lnTo>
                      <a:pt x="308" y="294"/>
                    </a:lnTo>
                    <a:lnTo>
                      <a:pt x="299" y="300"/>
                    </a:lnTo>
                    <a:lnTo>
                      <a:pt x="296" y="305"/>
                    </a:lnTo>
                    <a:lnTo>
                      <a:pt x="298" y="309"/>
                    </a:lnTo>
                    <a:lnTo>
                      <a:pt x="299" y="310"/>
                    </a:lnTo>
                    <a:lnTo>
                      <a:pt x="299" y="314"/>
                    </a:lnTo>
                    <a:lnTo>
                      <a:pt x="303" y="314"/>
                    </a:lnTo>
                    <a:lnTo>
                      <a:pt x="312" y="314"/>
                    </a:lnTo>
                    <a:lnTo>
                      <a:pt x="317" y="316"/>
                    </a:lnTo>
                    <a:lnTo>
                      <a:pt x="319" y="321"/>
                    </a:lnTo>
                    <a:lnTo>
                      <a:pt x="323" y="330"/>
                    </a:lnTo>
                    <a:lnTo>
                      <a:pt x="319" y="334"/>
                    </a:lnTo>
                    <a:lnTo>
                      <a:pt x="317" y="339"/>
                    </a:lnTo>
                    <a:lnTo>
                      <a:pt x="260" y="327"/>
                    </a:lnTo>
                    <a:lnTo>
                      <a:pt x="260" y="334"/>
                    </a:lnTo>
                    <a:lnTo>
                      <a:pt x="260" y="339"/>
                    </a:lnTo>
                    <a:lnTo>
                      <a:pt x="260" y="345"/>
                    </a:lnTo>
                    <a:lnTo>
                      <a:pt x="256" y="347"/>
                    </a:lnTo>
                    <a:lnTo>
                      <a:pt x="251" y="356"/>
                    </a:lnTo>
                    <a:lnTo>
                      <a:pt x="249" y="357"/>
                    </a:lnTo>
                    <a:lnTo>
                      <a:pt x="242" y="366"/>
                    </a:lnTo>
                    <a:lnTo>
                      <a:pt x="225" y="393"/>
                    </a:lnTo>
                    <a:lnTo>
                      <a:pt x="189" y="411"/>
                    </a:lnTo>
                    <a:lnTo>
                      <a:pt x="188" y="413"/>
                    </a:lnTo>
                    <a:lnTo>
                      <a:pt x="184" y="419"/>
                    </a:lnTo>
                    <a:lnTo>
                      <a:pt x="184" y="424"/>
                    </a:lnTo>
                    <a:lnTo>
                      <a:pt x="184" y="430"/>
                    </a:lnTo>
                    <a:lnTo>
                      <a:pt x="184" y="439"/>
                    </a:lnTo>
                    <a:lnTo>
                      <a:pt x="184" y="453"/>
                    </a:lnTo>
                    <a:lnTo>
                      <a:pt x="184" y="469"/>
                    </a:lnTo>
                    <a:lnTo>
                      <a:pt x="184" y="478"/>
                    </a:lnTo>
                    <a:lnTo>
                      <a:pt x="173" y="478"/>
                    </a:lnTo>
                    <a:lnTo>
                      <a:pt x="164" y="475"/>
                    </a:lnTo>
                    <a:lnTo>
                      <a:pt x="157" y="469"/>
                    </a:lnTo>
                    <a:lnTo>
                      <a:pt x="151" y="464"/>
                    </a:lnTo>
                    <a:lnTo>
                      <a:pt x="151" y="449"/>
                    </a:lnTo>
                    <a:lnTo>
                      <a:pt x="148" y="435"/>
                    </a:lnTo>
                    <a:lnTo>
                      <a:pt x="141" y="424"/>
                    </a:lnTo>
                    <a:lnTo>
                      <a:pt x="130" y="413"/>
                    </a:lnTo>
                    <a:lnTo>
                      <a:pt x="117" y="417"/>
                    </a:lnTo>
                    <a:lnTo>
                      <a:pt x="110" y="417"/>
                    </a:lnTo>
                    <a:lnTo>
                      <a:pt x="101" y="413"/>
                    </a:lnTo>
                    <a:lnTo>
                      <a:pt x="94" y="408"/>
                    </a:lnTo>
                    <a:lnTo>
                      <a:pt x="83" y="402"/>
                    </a:lnTo>
                    <a:lnTo>
                      <a:pt x="72" y="397"/>
                    </a:lnTo>
                    <a:lnTo>
                      <a:pt x="59" y="393"/>
                    </a:lnTo>
                    <a:lnTo>
                      <a:pt x="49" y="392"/>
                    </a:lnTo>
                    <a:lnTo>
                      <a:pt x="38" y="402"/>
                    </a:lnTo>
                    <a:lnTo>
                      <a:pt x="21" y="424"/>
                    </a:lnTo>
                    <a:lnTo>
                      <a:pt x="5" y="448"/>
                    </a:lnTo>
                    <a:lnTo>
                      <a:pt x="0" y="455"/>
                    </a:lnTo>
                    <a:lnTo>
                      <a:pt x="21" y="475"/>
                    </a:lnTo>
                    <a:lnTo>
                      <a:pt x="25" y="516"/>
                    </a:lnTo>
                    <a:lnTo>
                      <a:pt x="29" y="516"/>
                    </a:lnTo>
                    <a:lnTo>
                      <a:pt x="38" y="513"/>
                    </a:lnTo>
                    <a:lnTo>
                      <a:pt x="43" y="511"/>
                    </a:lnTo>
                    <a:lnTo>
                      <a:pt x="49" y="505"/>
                    </a:lnTo>
                    <a:lnTo>
                      <a:pt x="54" y="496"/>
                    </a:lnTo>
                    <a:lnTo>
                      <a:pt x="58" y="491"/>
                    </a:lnTo>
                    <a:lnTo>
                      <a:pt x="63" y="485"/>
                    </a:lnTo>
                    <a:lnTo>
                      <a:pt x="72" y="480"/>
                    </a:lnTo>
                    <a:lnTo>
                      <a:pt x="74" y="480"/>
                    </a:lnTo>
                    <a:lnTo>
                      <a:pt x="74" y="484"/>
                    </a:lnTo>
                    <a:lnTo>
                      <a:pt x="74" y="485"/>
                    </a:lnTo>
                    <a:lnTo>
                      <a:pt x="63" y="538"/>
                    </a:lnTo>
                    <a:lnTo>
                      <a:pt x="79" y="556"/>
                    </a:lnTo>
                    <a:lnTo>
                      <a:pt x="77" y="567"/>
                    </a:lnTo>
                    <a:lnTo>
                      <a:pt x="68" y="574"/>
                    </a:lnTo>
                    <a:lnTo>
                      <a:pt x="59" y="583"/>
                    </a:lnTo>
                    <a:lnTo>
                      <a:pt x="54" y="597"/>
                    </a:lnTo>
                    <a:lnTo>
                      <a:pt x="54" y="608"/>
                    </a:lnTo>
                    <a:lnTo>
                      <a:pt x="63" y="619"/>
                    </a:lnTo>
                    <a:lnTo>
                      <a:pt x="74" y="630"/>
                    </a:lnTo>
                    <a:lnTo>
                      <a:pt x="88" y="641"/>
                    </a:lnTo>
                    <a:lnTo>
                      <a:pt x="101" y="646"/>
                    </a:lnTo>
                    <a:lnTo>
                      <a:pt x="114" y="646"/>
                    </a:lnTo>
                    <a:lnTo>
                      <a:pt x="124" y="644"/>
                    </a:lnTo>
                    <a:lnTo>
                      <a:pt x="132" y="641"/>
                    </a:lnTo>
                    <a:lnTo>
                      <a:pt x="141" y="635"/>
                    </a:lnTo>
                    <a:lnTo>
                      <a:pt x="148" y="635"/>
                    </a:lnTo>
                    <a:lnTo>
                      <a:pt x="153" y="639"/>
                    </a:lnTo>
                    <a:lnTo>
                      <a:pt x="160" y="641"/>
                    </a:lnTo>
                    <a:lnTo>
                      <a:pt x="168" y="644"/>
                    </a:lnTo>
                    <a:lnTo>
                      <a:pt x="184" y="652"/>
                    </a:lnTo>
                    <a:lnTo>
                      <a:pt x="195" y="661"/>
                    </a:lnTo>
                    <a:lnTo>
                      <a:pt x="209" y="670"/>
                    </a:lnTo>
                    <a:lnTo>
                      <a:pt x="220" y="677"/>
                    </a:lnTo>
                    <a:lnTo>
                      <a:pt x="225" y="691"/>
                    </a:lnTo>
                    <a:lnTo>
                      <a:pt x="229" y="706"/>
                    </a:lnTo>
                    <a:lnTo>
                      <a:pt x="231" y="722"/>
                    </a:lnTo>
                    <a:lnTo>
                      <a:pt x="234" y="738"/>
                    </a:lnTo>
                    <a:lnTo>
                      <a:pt x="249" y="744"/>
                    </a:lnTo>
                    <a:lnTo>
                      <a:pt x="262" y="749"/>
                    </a:lnTo>
                    <a:lnTo>
                      <a:pt x="276" y="758"/>
                    </a:lnTo>
                    <a:lnTo>
                      <a:pt x="287" y="772"/>
                    </a:lnTo>
                    <a:lnTo>
                      <a:pt x="298" y="800"/>
                    </a:lnTo>
                    <a:lnTo>
                      <a:pt x="308" y="830"/>
                    </a:lnTo>
                    <a:lnTo>
                      <a:pt x="319" y="861"/>
                    </a:lnTo>
                    <a:lnTo>
                      <a:pt x="334" y="886"/>
                    </a:lnTo>
                    <a:lnTo>
                      <a:pt x="350" y="904"/>
                    </a:lnTo>
                    <a:lnTo>
                      <a:pt x="366" y="924"/>
                    </a:lnTo>
                    <a:lnTo>
                      <a:pt x="381" y="944"/>
                    </a:lnTo>
                    <a:lnTo>
                      <a:pt x="395" y="966"/>
                    </a:lnTo>
                    <a:lnTo>
                      <a:pt x="397" y="980"/>
                    </a:lnTo>
                    <a:lnTo>
                      <a:pt x="397" y="993"/>
                    </a:lnTo>
                    <a:lnTo>
                      <a:pt x="391" y="1007"/>
                    </a:lnTo>
                    <a:lnTo>
                      <a:pt x="381" y="1018"/>
                    </a:lnTo>
                    <a:lnTo>
                      <a:pt x="364" y="1022"/>
                    </a:lnTo>
                    <a:lnTo>
                      <a:pt x="348" y="1027"/>
                    </a:lnTo>
                    <a:lnTo>
                      <a:pt x="334" y="1032"/>
                    </a:lnTo>
                    <a:lnTo>
                      <a:pt x="319" y="1038"/>
                    </a:lnTo>
                    <a:lnTo>
                      <a:pt x="307" y="1043"/>
                    </a:lnTo>
                    <a:lnTo>
                      <a:pt x="292" y="1052"/>
                    </a:lnTo>
                    <a:lnTo>
                      <a:pt x="278" y="1063"/>
                    </a:lnTo>
                    <a:lnTo>
                      <a:pt x="262" y="1074"/>
                    </a:lnTo>
                    <a:lnTo>
                      <a:pt x="249" y="1083"/>
                    </a:lnTo>
                    <a:lnTo>
                      <a:pt x="231" y="1090"/>
                    </a:lnTo>
                    <a:lnTo>
                      <a:pt x="215" y="1094"/>
                    </a:lnTo>
                    <a:lnTo>
                      <a:pt x="198" y="1099"/>
                    </a:lnTo>
                    <a:lnTo>
                      <a:pt x="182" y="1105"/>
                    </a:lnTo>
                    <a:lnTo>
                      <a:pt x="164" y="1110"/>
                    </a:lnTo>
                    <a:lnTo>
                      <a:pt x="151" y="1119"/>
                    </a:lnTo>
                    <a:lnTo>
                      <a:pt x="141" y="1132"/>
                    </a:lnTo>
                    <a:lnTo>
                      <a:pt x="124" y="1146"/>
                    </a:lnTo>
                    <a:lnTo>
                      <a:pt x="106" y="1160"/>
                    </a:lnTo>
                    <a:lnTo>
                      <a:pt x="88" y="1171"/>
                    </a:lnTo>
                    <a:lnTo>
                      <a:pt x="68" y="1180"/>
                    </a:lnTo>
                    <a:lnTo>
                      <a:pt x="88" y="1186"/>
                    </a:lnTo>
                    <a:lnTo>
                      <a:pt x="106" y="1188"/>
                    </a:lnTo>
                    <a:lnTo>
                      <a:pt x="124" y="1193"/>
                    </a:lnTo>
                    <a:lnTo>
                      <a:pt x="142" y="1197"/>
                    </a:lnTo>
                    <a:lnTo>
                      <a:pt x="162" y="1198"/>
                    </a:lnTo>
                    <a:lnTo>
                      <a:pt x="182" y="1198"/>
                    </a:lnTo>
                    <a:lnTo>
                      <a:pt x="200" y="1202"/>
                    </a:lnTo>
                    <a:lnTo>
                      <a:pt x="220" y="1202"/>
                    </a:lnTo>
                    <a:lnTo>
                      <a:pt x="252" y="1202"/>
                    </a:lnTo>
                    <a:lnTo>
                      <a:pt x="287" y="1198"/>
                    </a:lnTo>
                    <a:lnTo>
                      <a:pt x="319" y="1193"/>
                    </a:lnTo>
                    <a:lnTo>
                      <a:pt x="354" y="1186"/>
                    </a:lnTo>
                    <a:lnTo>
                      <a:pt x="386" y="1177"/>
                    </a:lnTo>
                    <a:lnTo>
                      <a:pt x="417" y="1168"/>
                    </a:lnTo>
                    <a:lnTo>
                      <a:pt x="447" y="1155"/>
                    </a:lnTo>
                    <a:lnTo>
                      <a:pt x="478" y="1141"/>
                    </a:lnTo>
                    <a:lnTo>
                      <a:pt x="505" y="1126"/>
                    </a:lnTo>
                    <a:lnTo>
                      <a:pt x="536" y="1110"/>
                    </a:lnTo>
                    <a:lnTo>
                      <a:pt x="559" y="1094"/>
                    </a:lnTo>
                    <a:lnTo>
                      <a:pt x="588" y="1074"/>
                    </a:lnTo>
                    <a:lnTo>
                      <a:pt x="613" y="1052"/>
                    </a:lnTo>
                    <a:lnTo>
                      <a:pt x="637" y="1029"/>
                    </a:lnTo>
                    <a:lnTo>
                      <a:pt x="660" y="1007"/>
                    </a:lnTo>
                    <a:lnTo>
                      <a:pt x="682" y="982"/>
                    </a:lnTo>
                    <a:lnTo>
                      <a:pt x="666" y="966"/>
                    </a:lnTo>
                    <a:lnTo>
                      <a:pt x="646" y="955"/>
                    </a:lnTo>
                    <a:lnTo>
                      <a:pt x="626" y="940"/>
                    </a:lnTo>
                    <a:lnTo>
                      <a:pt x="610" y="929"/>
                    </a:lnTo>
                    <a:lnTo>
                      <a:pt x="590" y="922"/>
                    </a:lnTo>
                    <a:lnTo>
                      <a:pt x="574" y="917"/>
                    </a:lnTo>
                    <a:lnTo>
                      <a:pt x="557" y="904"/>
                    </a:lnTo>
                    <a:lnTo>
                      <a:pt x="547" y="893"/>
                    </a:lnTo>
                    <a:lnTo>
                      <a:pt x="547" y="892"/>
                    </a:lnTo>
                    <a:lnTo>
                      <a:pt x="547" y="888"/>
                    </a:lnTo>
                    <a:lnTo>
                      <a:pt x="543" y="888"/>
                    </a:lnTo>
                    <a:lnTo>
                      <a:pt x="543" y="886"/>
                    </a:lnTo>
                    <a:lnTo>
                      <a:pt x="543" y="874"/>
                    </a:lnTo>
                    <a:lnTo>
                      <a:pt x="547" y="863"/>
                    </a:lnTo>
                    <a:lnTo>
                      <a:pt x="547" y="855"/>
                    </a:lnTo>
                    <a:lnTo>
                      <a:pt x="548" y="845"/>
                    </a:lnTo>
                    <a:lnTo>
                      <a:pt x="557" y="819"/>
                    </a:lnTo>
                    <a:lnTo>
                      <a:pt x="567" y="791"/>
                    </a:lnTo>
                    <a:lnTo>
                      <a:pt x="579" y="769"/>
                    </a:lnTo>
                    <a:lnTo>
                      <a:pt x="601" y="753"/>
                    </a:lnTo>
                    <a:lnTo>
                      <a:pt x="613" y="749"/>
                    </a:lnTo>
                    <a:lnTo>
                      <a:pt x="624" y="744"/>
                    </a:lnTo>
                    <a:lnTo>
                      <a:pt x="631" y="742"/>
                    </a:lnTo>
                    <a:lnTo>
                      <a:pt x="642" y="738"/>
                    </a:lnTo>
                    <a:lnTo>
                      <a:pt x="655" y="738"/>
                    </a:lnTo>
                    <a:lnTo>
                      <a:pt x="666" y="736"/>
                    </a:lnTo>
                    <a:lnTo>
                      <a:pt x="673" y="729"/>
                    </a:lnTo>
                    <a:lnTo>
                      <a:pt x="684" y="727"/>
                    </a:lnTo>
                    <a:lnTo>
                      <a:pt x="695" y="727"/>
                    </a:lnTo>
                    <a:lnTo>
                      <a:pt x="704" y="722"/>
                    </a:lnTo>
                    <a:lnTo>
                      <a:pt x="715" y="718"/>
                    </a:lnTo>
                    <a:lnTo>
                      <a:pt x="725" y="713"/>
                    </a:lnTo>
                    <a:lnTo>
                      <a:pt x="736" y="711"/>
                    </a:lnTo>
                    <a:lnTo>
                      <a:pt x="749" y="707"/>
                    </a:lnTo>
                    <a:lnTo>
                      <a:pt x="760" y="707"/>
                    </a:lnTo>
                    <a:lnTo>
                      <a:pt x="770" y="711"/>
                    </a:lnTo>
                    <a:lnTo>
                      <a:pt x="776" y="717"/>
                    </a:lnTo>
                    <a:lnTo>
                      <a:pt x="783" y="722"/>
                    </a:lnTo>
                    <a:lnTo>
                      <a:pt x="792" y="729"/>
                    </a:lnTo>
                    <a:lnTo>
                      <a:pt x="803" y="736"/>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1" name="Freeform 27"/>
              <p:cNvSpPr>
                <a:spLocks/>
              </p:cNvSpPr>
              <p:nvPr/>
            </p:nvSpPr>
            <p:spPr bwMode="invGray">
              <a:xfrm>
                <a:off x="530" y="2834"/>
                <a:ext cx="63" cy="73"/>
              </a:xfrm>
              <a:custGeom>
                <a:avLst/>
                <a:gdLst>
                  <a:gd name="T0" fmla="*/ 42 w 63"/>
                  <a:gd name="T1" fmla="*/ 65 h 73"/>
                  <a:gd name="T2" fmla="*/ 58 w 63"/>
                  <a:gd name="T3" fmla="*/ 72 h 73"/>
                  <a:gd name="T4" fmla="*/ 62 w 63"/>
                  <a:gd name="T5" fmla="*/ 72 h 73"/>
                  <a:gd name="T6" fmla="*/ 62 w 63"/>
                  <a:gd name="T7" fmla="*/ 67 h 73"/>
                  <a:gd name="T8" fmla="*/ 58 w 63"/>
                  <a:gd name="T9" fmla="*/ 65 h 73"/>
                  <a:gd name="T10" fmla="*/ 58 w 63"/>
                  <a:gd name="T11" fmla="*/ 62 h 73"/>
                  <a:gd name="T12" fmla="*/ 44 w 63"/>
                  <a:gd name="T13" fmla="*/ 56 h 73"/>
                  <a:gd name="T14" fmla="*/ 37 w 63"/>
                  <a:gd name="T15" fmla="*/ 45 h 73"/>
                  <a:gd name="T16" fmla="*/ 31 w 63"/>
                  <a:gd name="T17" fmla="*/ 34 h 73"/>
                  <a:gd name="T18" fmla="*/ 26 w 63"/>
                  <a:gd name="T19" fmla="*/ 20 h 73"/>
                  <a:gd name="T20" fmla="*/ 9 w 63"/>
                  <a:gd name="T21" fmla="*/ 0 h 73"/>
                  <a:gd name="T22" fmla="*/ 6 w 63"/>
                  <a:gd name="T23" fmla="*/ 4 h 73"/>
                  <a:gd name="T24" fmla="*/ 2 w 63"/>
                  <a:gd name="T25" fmla="*/ 9 h 73"/>
                  <a:gd name="T26" fmla="*/ 0 w 63"/>
                  <a:gd name="T27" fmla="*/ 11 h 73"/>
                  <a:gd name="T28" fmla="*/ 0 w 63"/>
                  <a:gd name="T29" fmla="*/ 18 h 73"/>
                  <a:gd name="T30" fmla="*/ 0 w 63"/>
                  <a:gd name="T31" fmla="*/ 20 h 73"/>
                  <a:gd name="T32" fmla="*/ 0 w 63"/>
                  <a:gd name="T33" fmla="*/ 20 h 73"/>
                  <a:gd name="T34" fmla="*/ 0 w 63"/>
                  <a:gd name="T35" fmla="*/ 20 h 73"/>
                  <a:gd name="T36" fmla="*/ 0 w 63"/>
                  <a:gd name="T37" fmla="*/ 20 h 73"/>
                  <a:gd name="T38" fmla="*/ 9 w 63"/>
                  <a:gd name="T39" fmla="*/ 31 h 73"/>
                  <a:gd name="T40" fmla="*/ 20 w 63"/>
                  <a:gd name="T41" fmla="*/ 45 h 73"/>
                  <a:gd name="T42" fmla="*/ 31 w 63"/>
                  <a:gd name="T43" fmla="*/ 56 h 73"/>
                  <a:gd name="T44" fmla="*/ 42 w 63"/>
                  <a:gd name="T45" fmla="*/ 65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3" h="73">
                    <a:moveTo>
                      <a:pt x="42" y="65"/>
                    </a:moveTo>
                    <a:lnTo>
                      <a:pt x="58" y="72"/>
                    </a:lnTo>
                    <a:lnTo>
                      <a:pt x="62" y="72"/>
                    </a:lnTo>
                    <a:lnTo>
                      <a:pt x="62" y="67"/>
                    </a:lnTo>
                    <a:lnTo>
                      <a:pt x="58" y="65"/>
                    </a:lnTo>
                    <a:lnTo>
                      <a:pt x="58" y="62"/>
                    </a:lnTo>
                    <a:lnTo>
                      <a:pt x="44" y="56"/>
                    </a:lnTo>
                    <a:lnTo>
                      <a:pt x="37" y="45"/>
                    </a:lnTo>
                    <a:lnTo>
                      <a:pt x="31" y="34"/>
                    </a:lnTo>
                    <a:lnTo>
                      <a:pt x="26" y="20"/>
                    </a:lnTo>
                    <a:lnTo>
                      <a:pt x="9" y="0"/>
                    </a:lnTo>
                    <a:lnTo>
                      <a:pt x="6" y="4"/>
                    </a:lnTo>
                    <a:lnTo>
                      <a:pt x="2" y="9"/>
                    </a:lnTo>
                    <a:lnTo>
                      <a:pt x="0" y="11"/>
                    </a:lnTo>
                    <a:lnTo>
                      <a:pt x="0" y="18"/>
                    </a:lnTo>
                    <a:lnTo>
                      <a:pt x="0" y="20"/>
                    </a:lnTo>
                    <a:lnTo>
                      <a:pt x="9" y="31"/>
                    </a:lnTo>
                    <a:lnTo>
                      <a:pt x="20" y="45"/>
                    </a:lnTo>
                    <a:lnTo>
                      <a:pt x="31" y="56"/>
                    </a:lnTo>
                    <a:lnTo>
                      <a:pt x="42" y="65"/>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grpSp>
      </p:grpSp>
      <p:sp>
        <p:nvSpPr>
          <p:cNvPr id="17436" name="Rectangle 28"/>
          <p:cNvSpPr>
            <a:spLocks noGrp="1" noChangeArrowheads="1"/>
          </p:cNvSpPr>
          <p:nvPr>
            <p:ph type="ctrTitle" sz="quarter"/>
          </p:nvPr>
        </p:nvSpPr>
        <p:spPr>
          <a:xfrm>
            <a:off x="685800" y="2286000"/>
            <a:ext cx="7772400" cy="1143000"/>
          </a:xfrm>
        </p:spPr>
        <p:txBody>
          <a:bodyPr/>
          <a:lstStyle>
            <a:lvl1pPr>
              <a:defRPr/>
            </a:lvl1pPr>
          </a:lstStyle>
          <a:p>
            <a:r>
              <a:rPr lang="en-US"/>
              <a:t>Click to edit Master title style</a:t>
            </a:r>
          </a:p>
        </p:txBody>
      </p:sp>
      <p:sp>
        <p:nvSpPr>
          <p:cNvPr id="17437" name="Rectangle 29"/>
          <p:cNvSpPr>
            <a:spLocks noGrp="1" noChangeArrowheads="1"/>
          </p:cNvSpPr>
          <p:nvPr>
            <p:ph type="subTitle" sz="quarter" idx="1"/>
          </p:nvPr>
        </p:nvSpPr>
        <p:spPr>
          <a:xfrm>
            <a:off x="2057400" y="4114800"/>
            <a:ext cx="6400800" cy="1752600"/>
          </a:xfrm>
        </p:spPr>
        <p:txBody>
          <a:bodyPr/>
          <a:lstStyle>
            <a:lvl1pPr marL="0" indent="0" algn="ctr">
              <a:buFontTx/>
              <a:buNone/>
              <a:defRPr/>
            </a:lvl1pPr>
          </a:lstStyle>
          <a:p>
            <a:r>
              <a:rPr lang="en-US"/>
              <a:t>Click to edit Master subtitle style</a:t>
            </a:r>
          </a:p>
        </p:txBody>
      </p:sp>
      <p:sp>
        <p:nvSpPr>
          <p:cNvPr id="30" name="Rectangle 30"/>
          <p:cNvSpPr>
            <a:spLocks noGrp="1" noChangeArrowheads="1"/>
          </p:cNvSpPr>
          <p:nvPr>
            <p:ph type="dt" sz="quarter" idx="10"/>
          </p:nvPr>
        </p:nvSpPr>
        <p:spPr/>
        <p:txBody>
          <a:bodyPr/>
          <a:lstStyle>
            <a:lvl1pPr>
              <a:defRPr>
                <a:solidFill>
                  <a:srgbClr val="FFFFFF"/>
                </a:solidFill>
              </a:defRPr>
            </a:lvl1pPr>
          </a:lstStyle>
          <a:p>
            <a:pPr>
              <a:defRPr/>
            </a:pPr>
            <a:endParaRPr lang="en-US"/>
          </a:p>
        </p:txBody>
      </p:sp>
      <p:sp>
        <p:nvSpPr>
          <p:cNvPr id="31" name="Rectangle 31"/>
          <p:cNvSpPr>
            <a:spLocks noGrp="1" noChangeArrowheads="1"/>
          </p:cNvSpPr>
          <p:nvPr>
            <p:ph type="ftr" sz="quarter" idx="11"/>
          </p:nvPr>
        </p:nvSpPr>
        <p:spPr/>
        <p:txBody>
          <a:bodyPr/>
          <a:lstStyle>
            <a:lvl1pPr>
              <a:defRPr>
                <a:solidFill>
                  <a:srgbClr val="FFFFFF"/>
                </a:solidFill>
              </a:defRPr>
            </a:lvl1pPr>
          </a:lstStyle>
          <a:p>
            <a:pPr>
              <a:defRPr/>
            </a:pPr>
            <a:endParaRPr lang="en-US"/>
          </a:p>
        </p:txBody>
      </p:sp>
      <p:sp>
        <p:nvSpPr>
          <p:cNvPr id="32" name="Rectangle 32"/>
          <p:cNvSpPr>
            <a:spLocks noGrp="1" noChangeArrowheads="1"/>
          </p:cNvSpPr>
          <p:nvPr>
            <p:ph type="sldNum" sz="quarter" idx="12"/>
          </p:nvPr>
        </p:nvSpPr>
        <p:spPr/>
        <p:txBody>
          <a:bodyPr/>
          <a:lstStyle>
            <a:lvl1pPr>
              <a:defRPr>
                <a:solidFill>
                  <a:srgbClr val="FFFFFF"/>
                </a:solidFill>
              </a:defRPr>
            </a:lvl1pPr>
          </a:lstStyle>
          <a:p>
            <a:pPr>
              <a:defRPr/>
            </a:pPr>
            <a:fld id="{F8523D44-4593-4553-82E3-3B15E14C53D5}" type="slidenum">
              <a:rPr lang="en-US"/>
              <a:pPr>
                <a:defRPr/>
              </a:pPr>
              <a:t>‹#›</a:t>
            </a:fld>
            <a:endParaRPr lang="en-US"/>
          </a:p>
        </p:txBody>
      </p:sp>
    </p:spTree>
    <p:extLst>
      <p:ext uri="{BB962C8B-B14F-4D97-AF65-F5344CB8AC3E}">
        <p14:creationId xmlns:p14="http://schemas.microsoft.com/office/powerpoint/2010/main" val="3554014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13ECB1D3-A352-4455-8B28-6A84417DACD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8132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A0630BD-96A4-4607-B14E-5AB13AAE4D7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769572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71C22A43-091A-4AB3-8B74-14D21D7BE30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05691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8"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9" name="Rectangle 21"/>
          <p:cNvSpPr>
            <a:spLocks noGrp="1" noChangeArrowheads="1"/>
          </p:cNvSpPr>
          <p:nvPr>
            <p:ph type="sldNum" sz="quarter" idx="12"/>
          </p:nvPr>
        </p:nvSpPr>
        <p:spPr>
          <a:ln/>
        </p:spPr>
        <p:txBody>
          <a:bodyPr/>
          <a:lstStyle>
            <a:lvl1pPr>
              <a:defRPr/>
            </a:lvl1pPr>
          </a:lstStyle>
          <a:p>
            <a:pPr>
              <a:defRPr/>
            </a:pPr>
            <a:fld id="{CE15A2D1-4C54-4219-9A0B-A74D34AB8A53}"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27507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4"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5" name="Rectangle 21"/>
          <p:cNvSpPr>
            <a:spLocks noGrp="1" noChangeArrowheads="1"/>
          </p:cNvSpPr>
          <p:nvPr>
            <p:ph type="sldNum" sz="quarter" idx="12"/>
          </p:nvPr>
        </p:nvSpPr>
        <p:spPr>
          <a:ln/>
        </p:spPr>
        <p:txBody>
          <a:bodyPr/>
          <a:lstStyle>
            <a:lvl1pPr>
              <a:defRPr/>
            </a:lvl1pPr>
          </a:lstStyle>
          <a:p>
            <a:pPr>
              <a:defRPr/>
            </a:pPr>
            <a:fld id="{CCAB42E1-2F69-4033-BD34-32AD424402F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221132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3"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4" name="Rectangle 21"/>
          <p:cNvSpPr>
            <a:spLocks noGrp="1" noChangeArrowheads="1"/>
          </p:cNvSpPr>
          <p:nvPr>
            <p:ph type="sldNum" sz="quarter" idx="12"/>
          </p:nvPr>
        </p:nvSpPr>
        <p:spPr>
          <a:ln/>
        </p:spPr>
        <p:txBody>
          <a:bodyPr/>
          <a:lstStyle>
            <a:lvl1pPr>
              <a:defRPr/>
            </a:lvl1pPr>
          </a:lstStyle>
          <a:p>
            <a:pPr>
              <a:defRPr/>
            </a:pPr>
            <a:fld id="{55FDA948-CA68-4A2D-B0BA-25B0458F9F8C}"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809243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6EC052BF-DC22-4514-A430-3DD6ACB41B30}"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78006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982A91CE-5645-4FE8-AF66-F0B098911192}"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315216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72DAE7E-EE76-4987-9935-F6199A4BF4C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455944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FC657835-AFBA-456C-90B4-1C12100ACE7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656850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117475"/>
            <a:ext cx="9142413" cy="6738938"/>
            <a:chOff x="0" y="74"/>
            <a:chExt cx="5759" cy="4245"/>
          </a:xfrm>
        </p:grpSpPr>
        <p:sp>
          <p:nvSpPr>
            <p:cNvPr id="5" name="Rectangle 3"/>
            <p:cNvSpPr>
              <a:spLocks noChangeArrowheads="1"/>
            </p:cNvSpPr>
            <p:nvPr/>
          </p:nvSpPr>
          <p:spPr bwMode="invGray">
            <a:xfrm>
              <a:off x="432" y="4113"/>
              <a:ext cx="2208" cy="20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6" name="Rectangle 4"/>
            <p:cNvSpPr>
              <a:spLocks noChangeArrowheads="1"/>
            </p:cNvSpPr>
            <p:nvPr/>
          </p:nvSpPr>
          <p:spPr bwMode="invGray">
            <a:xfrm>
              <a:off x="432" y="1536"/>
              <a:ext cx="5327"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7" name="Oval 5"/>
            <p:cNvSpPr>
              <a:spLocks noChangeArrowheads="1"/>
            </p:cNvSpPr>
            <p:nvPr/>
          </p:nvSpPr>
          <p:spPr bwMode="invGray">
            <a:xfrm>
              <a:off x="555"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8" name="Oval 6"/>
            <p:cNvSpPr>
              <a:spLocks noChangeArrowheads="1"/>
            </p:cNvSpPr>
            <p:nvPr/>
          </p:nvSpPr>
          <p:spPr bwMode="invGray">
            <a:xfrm>
              <a:off x="555"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9" name="Oval 7"/>
            <p:cNvSpPr>
              <a:spLocks noChangeArrowheads="1"/>
            </p:cNvSpPr>
            <p:nvPr/>
          </p:nvSpPr>
          <p:spPr bwMode="invGray">
            <a:xfrm>
              <a:off x="555"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 name="Oval 8"/>
            <p:cNvSpPr>
              <a:spLocks noChangeArrowheads="1"/>
            </p:cNvSpPr>
            <p:nvPr/>
          </p:nvSpPr>
          <p:spPr bwMode="invGray">
            <a:xfrm>
              <a:off x="555" y="65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1" name="Oval 9"/>
            <p:cNvSpPr>
              <a:spLocks noChangeArrowheads="1"/>
            </p:cNvSpPr>
            <p:nvPr/>
          </p:nvSpPr>
          <p:spPr bwMode="invGray">
            <a:xfrm>
              <a:off x="555" y="79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2" name="Oval 10"/>
            <p:cNvSpPr>
              <a:spLocks noChangeArrowheads="1"/>
            </p:cNvSpPr>
            <p:nvPr/>
          </p:nvSpPr>
          <p:spPr bwMode="invGray">
            <a:xfrm>
              <a:off x="555" y="93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3" name="Oval 11"/>
            <p:cNvSpPr>
              <a:spLocks noChangeArrowheads="1"/>
            </p:cNvSpPr>
            <p:nvPr/>
          </p:nvSpPr>
          <p:spPr bwMode="invGray">
            <a:xfrm>
              <a:off x="555" y="108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4" name="Oval 12"/>
            <p:cNvSpPr>
              <a:spLocks noChangeArrowheads="1"/>
            </p:cNvSpPr>
            <p:nvPr/>
          </p:nvSpPr>
          <p:spPr bwMode="invGray">
            <a:xfrm>
              <a:off x="555" y="122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5" name="Oval 13"/>
            <p:cNvSpPr>
              <a:spLocks noChangeArrowheads="1"/>
            </p:cNvSpPr>
            <p:nvPr/>
          </p:nvSpPr>
          <p:spPr bwMode="invGray">
            <a:xfrm>
              <a:off x="555" y="137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6" name="Group 14"/>
            <p:cNvGrpSpPr>
              <a:grpSpLocks/>
            </p:cNvGrpSpPr>
            <p:nvPr/>
          </p:nvGrpSpPr>
          <p:grpSpPr bwMode="auto">
            <a:xfrm>
              <a:off x="2859" y="4202"/>
              <a:ext cx="2729" cy="41"/>
              <a:chOff x="2859" y="4202"/>
              <a:chExt cx="2729" cy="41"/>
            </a:xfrm>
          </p:grpSpPr>
          <p:sp>
            <p:nvSpPr>
              <p:cNvPr id="22" name="Oval 15"/>
              <p:cNvSpPr>
                <a:spLocks noChangeArrowheads="1"/>
              </p:cNvSpPr>
              <p:nvPr/>
            </p:nvSpPr>
            <p:spPr bwMode="invGray">
              <a:xfrm>
                <a:off x="285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3" name="Oval 16"/>
              <p:cNvSpPr>
                <a:spLocks noChangeArrowheads="1"/>
              </p:cNvSpPr>
              <p:nvPr/>
            </p:nvSpPr>
            <p:spPr bwMode="invGray">
              <a:xfrm>
                <a:off x="324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4" name="Oval 17"/>
              <p:cNvSpPr>
                <a:spLocks noChangeArrowheads="1"/>
              </p:cNvSpPr>
              <p:nvPr/>
            </p:nvSpPr>
            <p:spPr bwMode="invGray">
              <a:xfrm>
                <a:off x="362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5" name="Oval 18"/>
              <p:cNvSpPr>
                <a:spLocks noChangeArrowheads="1"/>
              </p:cNvSpPr>
              <p:nvPr/>
            </p:nvSpPr>
            <p:spPr bwMode="invGray">
              <a:xfrm>
                <a:off x="4011"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6" name="Oval 19"/>
              <p:cNvSpPr>
                <a:spLocks noChangeArrowheads="1"/>
              </p:cNvSpPr>
              <p:nvPr/>
            </p:nvSpPr>
            <p:spPr bwMode="invGray">
              <a:xfrm>
                <a:off x="4395"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7" name="Oval 20"/>
              <p:cNvSpPr>
                <a:spLocks noChangeArrowheads="1"/>
              </p:cNvSpPr>
              <p:nvPr/>
            </p:nvSpPr>
            <p:spPr bwMode="invGray">
              <a:xfrm>
                <a:off x="477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8" name="Oval 21"/>
              <p:cNvSpPr>
                <a:spLocks noChangeArrowheads="1"/>
              </p:cNvSpPr>
              <p:nvPr/>
            </p:nvSpPr>
            <p:spPr bwMode="invGray">
              <a:xfrm>
                <a:off x="516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9" name="Oval 22"/>
              <p:cNvSpPr>
                <a:spLocks noChangeArrowheads="1"/>
              </p:cNvSpPr>
              <p:nvPr/>
            </p:nvSpPr>
            <p:spPr bwMode="invGray">
              <a:xfrm>
                <a:off x="554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7" name="Oval 23"/>
            <p:cNvSpPr>
              <a:spLocks noChangeArrowheads="1"/>
            </p:cNvSpPr>
            <p:nvPr/>
          </p:nvSpPr>
          <p:spPr bwMode="invGray">
            <a:xfrm>
              <a:off x="555" y="50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8" name="Group 24"/>
            <p:cNvGrpSpPr>
              <a:grpSpLocks/>
            </p:cNvGrpSpPr>
            <p:nvPr/>
          </p:nvGrpSpPr>
          <p:grpSpPr bwMode="auto">
            <a:xfrm>
              <a:off x="0" y="2327"/>
              <a:ext cx="1203" cy="1203"/>
              <a:chOff x="0" y="2327"/>
              <a:chExt cx="1203" cy="1203"/>
            </a:xfrm>
          </p:grpSpPr>
          <p:sp>
            <p:nvSpPr>
              <p:cNvPr id="19" name="Freeform 25"/>
              <p:cNvSpPr>
                <a:spLocks/>
              </p:cNvSpPr>
              <p:nvPr/>
            </p:nvSpPr>
            <p:spPr bwMode="invGray">
              <a:xfrm>
                <a:off x="0" y="2394"/>
                <a:ext cx="443" cy="1033"/>
              </a:xfrm>
              <a:custGeom>
                <a:avLst/>
                <a:gdLst>
                  <a:gd name="T0" fmla="*/ 290 w 443"/>
                  <a:gd name="T1" fmla="*/ 1016 h 1033"/>
                  <a:gd name="T2" fmla="*/ 316 w 443"/>
                  <a:gd name="T3" fmla="*/ 974 h 1033"/>
                  <a:gd name="T4" fmla="*/ 354 w 443"/>
                  <a:gd name="T5" fmla="*/ 920 h 1033"/>
                  <a:gd name="T6" fmla="*/ 384 w 443"/>
                  <a:gd name="T7" fmla="*/ 884 h 1033"/>
                  <a:gd name="T8" fmla="*/ 381 w 443"/>
                  <a:gd name="T9" fmla="*/ 832 h 1033"/>
                  <a:gd name="T10" fmla="*/ 370 w 443"/>
                  <a:gd name="T11" fmla="*/ 794 h 1033"/>
                  <a:gd name="T12" fmla="*/ 361 w 443"/>
                  <a:gd name="T13" fmla="*/ 760 h 1033"/>
                  <a:gd name="T14" fmla="*/ 361 w 443"/>
                  <a:gd name="T15" fmla="*/ 734 h 1033"/>
                  <a:gd name="T16" fmla="*/ 359 w 443"/>
                  <a:gd name="T17" fmla="*/ 707 h 1033"/>
                  <a:gd name="T18" fmla="*/ 373 w 443"/>
                  <a:gd name="T19" fmla="*/ 691 h 1033"/>
                  <a:gd name="T20" fmla="*/ 391 w 443"/>
                  <a:gd name="T21" fmla="*/ 686 h 1033"/>
                  <a:gd name="T22" fmla="*/ 395 w 443"/>
                  <a:gd name="T23" fmla="*/ 680 h 1033"/>
                  <a:gd name="T24" fmla="*/ 390 w 443"/>
                  <a:gd name="T25" fmla="*/ 671 h 1033"/>
                  <a:gd name="T26" fmla="*/ 386 w 443"/>
                  <a:gd name="T27" fmla="*/ 660 h 1033"/>
                  <a:gd name="T28" fmla="*/ 437 w 443"/>
                  <a:gd name="T29" fmla="*/ 635 h 1033"/>
                  <a:gd name="T30" fmla="*/ 442 w 443"/>
                  <a:gd name="T31" fmla="*/ 619 h 1033"/>
                  <a:gd name="T32" fmla="*/ 438 w 443"/>
                  <a:gd name="T33" fmla="*/ 604 h 1033"/>
                  <a:gd name="T34" fmla="*/ 400 w 443"/>
                  <a:gd name="T35" fmla="*/ 543 h 1033"/>
                  <a:gd name="T36" fmla="*/ 384 w 443"/>
                  <a:gd name="T37" fmla="*/ 474 h 1033"/>
                  <a:gd name="T38" fmla="*/ 354 w 443"/>
                  <a:gd name="T39" fmla="*/ 455 h 1033"/>
                  <a:gd name="T40" fmla="*/ 326 w 443"/>
                  <a:gd name="T41" fmla="*/ 433 h 1033"/>
                  <a:gd name="T42" fmla="*/ 312 w 443"/>
                  <a:gd name="T43" fmla="*/ 411 h 1033"/>
                  <a:gd name="T44" fmla="*/ 307 w 443"/>
                  <a:gd name="T45" fmla="*/ 391 h 1033"/>
                  <a:gd name="T46" fmla="*/ 290 w 443"/>
                  <a:gd name="T47" fmla="*/ 339 h 1033"/>
                  <a:gd name="T48" fmla="*/ 308 w 443"/>
                  <a:gd name="T49" fmla="*/ 289 h 1033"/>
                  <a:gd name="T50" fmla="*/ 298 w 443"/>
                  <a:gd name="T51" fmla="*/ 278 h 1033"/>
                  <a:gd name="T52" fmla="*/ 280 w 443"/>
                  <a:gd name="T53" fmla="*/ 307 h 1033"/>
                  <a:gd name="T54" fmla="*/ 269 w 443"/>
                  <a:gd name="T55" fmla="*/ 283 h 1033"/>
                  <a:gd name="T56" fmla="*/ 272 w 443"/>
                  <a:gd name="T57" fmla="*/ 224 h 1033"/>
                  <a:gd name="T58" fmla="*/ 280 w 443"/>
                  <a:gd name="T59" fmla="*/ 177 h 1033"/>
                  <a:gd name="T60" fmla="*/ 280 w 443"/>
                  <a:gd name="T61" fmla="*/ 146 h 1033"/>
                  <a:gd name="T62" fmla="*/ 281 w 443"/>
                  <a:gd name="T63" fmla="*/ 123 h 1033"/>
                  <a:gd name="T64" fmla="*/ 290 w 443"/>
                  <a:gd name="T65" fmla="*/ 104 h 1033"/>
                  <a:gd name="T66" fmla="*/ 296 w 443"/>
                  <a:gd name="T67" fmla="*/ 97 h 1033"/>
                  <a:gd name="T68" fmla="*/ 298 w 443"/>
                  <a:gd name="T69" fmla="*/ 94 h 1033"/>
                  <a:gd name="T70" fmla="*/ 301 w 443"/>
                  <a:gd name="T71" fmla="*/ 92 h 1033"/>
                  <a:gd name="T72" fmla="*/ 307 w 443"/>
                  <a:gd name="T73" fmla="*/ 83 h 1033"/>
                  <a:gd name="T74" fmla="*/ 317 w 443"/>
                  <a:gd name="T75" fmla="*/ 79 h 1033"/>
                  <a:gd name="T76" fmla="*/ 328 w 443"/>
                  <a:gd name="T77" fmla="*/ 77 h 1033"/>
                  <a:gd name="T78" fmla="*/ 337 w 443"/>
                  <a:gd name="T79" fmla="*/ 74 h 1033"/>
                  <a:gd name="T80" fmla="*/ 345 w 443"/>
                  <a:gd name="T81" fmla="*/ 67 h 1033"/>
                  <a:gd name="T82" fmla="*/ 337 w 443"/>
                  <a:gd name="T83" fmla="*/ 50 h 1033"/>
                  <a:gd name="T84" fmla="*/ 337 w 443"/>
                  <a:gd name="T85" fmla="*/ 47 h 1033"/>
                  <a:gd name="T86" fmla="*/ 337 w 443"/>
                  <a:gd name="T87" fmla="*/ 43 h 1033"/>
                  <a:gd name="T88" fmla="*/ 337 w 443"/>
                  <a:gd name="T89" fmla="*/ 41 h 1033"/>
                  <a:gd name="T90" fmla="*/ 334 w 443"/>
                  <a:gd name="T91" fmla="*/ 38 h 1033"/>
                  <a:gd name="T92" fmla="*/ 321 w 443"/>
                  <a:gd name="T93" fmla="*/ 21 h 1033"/>
                  <a:gd name="T94" fmla="*/ 316 w 443"/>
                  <a:gd name="T95" fmla="*/ 0 h 1033"/>
                  <a:gd name="T96" fmla="*/ 188 w 443"/>
                  <a:gd name="T97" fmla="*/ 94 h 1033"/>
                  <a:gd name="T98" fmla="*/ 88 w 443"/>
                  <a:gd name="T99" fmla="*/ 218 h 1033"/>
                  <a:gd name="T100" fmla="*/ 21 w 443"/>
                  <a:gd name="T101" fmla="*/ 366 h 1033"/>
                  <a:gd name="T102" fmla="*/ 0 w 443"/>
                  <a:gd name="T103" fmla="*/ 530 h 1033"/>
                  <a:gd name="T104" fmla="*/ 20 w 443"/>
                  <a:gd name="T105" fmla="*/ 680 h 1033"/>
                  <a:gd name="T106" fmla="*/ 74 w 443"/>
                  <a:gd name="T107" fmla="*/ 819 h 1033"/>
                  <a:gd name="T108" fmla="*/ 160 w 443"/>
                  <a:gd name="T109" fmla="*/ 938 h 1033"/>
                  <a:gd name="T110" fmla="*/ 272 w 443"/>
                  <a:gd name="T111" fmla="*/ 1032 h 10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43" h="1033">
                    <a:moveTo>
                      <a:pt x="272" y="1032"/>
                    </a:moveTo>
                    <a:lnTo>
                      <a:pt x="290" y="1016"/>
                    </a:lnTo>
                    <a:lnTo>
                      <a:pt x="301" y="992"/>
                    </a:lnTo>
                    <a:lnTo>
                      <a:pt x="316" y="974"/>
                    </a:lnTo>
                    <a:lnTo>
                      <a:pt x="328" y="955"/>
                    </a:lnTo>
                    <a:lnTo>
                      <a:pt x="354" y="920"/>
                    </a:lnTo>
                    <a:lnTo>
                      <a:pt x="373" y="904"/>
                    </a:lnTo>
                    <a:lnTo>
                      <a:pt x="384" y="884"/>
                    </a:lnTo>
                    <a:lnTo>
                      <a:pt x="390" y="848"/>
                    </a:lnTo>
                    <a:lnTo>
                      <a:pt x="381" y="832"/>
                    </a:lnTo>
                    <a:lnTo>
                      <a:pt x="375" y="812"/>
                    </a:lnTo>
                    <a:lnTo>
                      <a:pt x="370" y="794"/>
                    </a:lnTo>
                    <a:lnTo>
                      <a:pt x="361" y="774"/>
                    </a:lnTo>
                    <a:lnTo>
                      <a:pt x="361" y="760"/>
                    </a:lnTo>
                    <a:lnTo>
                      <a:pt x="361" y="747"/>
                    </a:lnTo>
                    <a:lnTo>
                      <a:pt x="361" y="734"/>
                    </a:lnTo>
                    <a:lnTo>
                      <a:pt x="359" y="722"/>
                    </a:lnTo>
                    <a:lnTo>
                      <a:pt x="359" y="707"/>
                    </a:lnTo>
                    <a:lnTo>
                      <a:pt x="364" y="698"/>
                    </a:lnTo>
                    <a:lnTo>
                      <a:pt x="373" y="691"/>
                    </a:lnTo>
                    <a:lnTo>
                      <a:pt x="390" y="686"/>
                    </a:lnTo>
                    <a:lnTo>
                      <a:pt x="391" y="686"/>
                    </a:lnTo>
                    <a:lnTo>
                      <a:pt x="395" y="682"/>
                    </a:lnTo>
                    <a:lnTo>
                      <a:pt x="395" y="680"/>
                    </a:lnTo>
                    <a:lnTo>
                      <a:pt x="395" y="677"/>
                    </a:lnTo>
                    <a:lnTo>
                      <a:pt x="390" y="671"/>
                    </a:lnTo>
                    <a:lnTo>
                      <a:pt x="386" y="666"/>
                    </a:lnTo>
                    <a:lnTo>
                      <a:pt x="386" y="660"/>
                    </a:lnTo>
                    <a:lnTo>
                      <a:pt x="395" y="655"/>
                    </a:lnTo>
                    <a:lnTo>
                      <a:pt x="437" y="635"/>
                    </a:lnTo>
                    <a:lnTo>
                      <a:pt x="442" y="626"/>
                    </a:lnTo>
                    <a:lnTo>
                      <a:pt x="442" y="619"/>
                    </a:lnTo>
                    <a:lnTo>
                      <a:pt x="442" y="613"/>
                    </a:lnTo>
                    <a:lnTo>
                      <a:pt x="438" y="604"/>
                    </a:lnTo>
                    <a:lnTo>
                      <a:pt x="417" y="577"/>
                    </a:lnTo>
                    <a:lnTo>
                      <a:pt x="400" y="543"/>
                    </a:lnTo>
                    <a:lnTo>
                      <a:pt x="391" y="511"/>
                    </a:lnTo>
                    <a:lnTo>
                      <a:pt x="384" y="474"/>
                    </a:lnTo>
                    <a:lnTo>
                      <a:pt x="368" y="465"/>
                    </a:lnTo>
                    <a:lnTo>
                      <a:pt x="354" y="455"/>
                    </a:lnTo>
                    <a:lnTo>
                      <a:pt x="339" y="444"/>
                    </a:lnTo>
                    <a:lnTo>
                      <a:pt x="326" y="433"/>
                    </a:lnTo>
                    <a:lnTo>
                      <a:pt x="317" y="422"/>
                    </a:lnTo>
                    <a:lnTo>
                      <a:pt x="312" y="411"/>
                    </a:lnTo>
                    <a:lnTo>
                      <a:pt x="308" y="402"/>
                    </a:lnTo>
                    <a:lnTo>
                      <a:pt x="307" y="391"/>
                    </a:lnTo>
                    <a:lnTo>
                      <a:pt x="285" y="363"/>
                    </a:lnTo>
                    <a:lnTo>
                      <a:pt x="290" y="339"/>
                    </a:lnTo>
                    <a:lnTo>
                      <a:pt x="301" y="314"/>
                    </a:lnTo>
                    <a:lnTo>
                      <a:pt x="308" y="289"/>
                    </a:lnTo>
                    <a:lnTo>
                      <a:pt x="308" y="267"/>
                    </a:lnTo>
                    <a:lnTo>
                      <a:pt x="298" y="278"/>
                    </a:lnTo>
                    <a:lnTo>
                      <a:pt x="287" y="294"/>
                    </a:lnTo>
                    <a:lnTo>
                      <a:pt x="280" y="307"/>
                    </a:lnTo>
                    <a:lnTo>
                      <a:pt x="272" y="314"/>
                    </a:lnTo>
                    <a:lnTo>
                      <a:pt x="269" y="283"/>
                    </a:lnTo>
                    <a:lnTo>
                      <a:pt x="271" y="254"/>
                    </a:lnTo>
                    <a:lnTo>
                      <a:pt x="272" y="224"/>
                    </a:lnTo>
                    <a:lnTo>
                      <a:pt x="272" y="195"/>
                    </a:lnTo>
                    <a:lnTo>
                      <a:pt x="280" y="177"/>
                    </a:lnTo>
                    <a:lnTo>
                      <a:pt x="280" y="164"/>
                    </a:lnTo>
                    <a:lnTo>
                      <a:pt x="280" y="146"/>
                    </a:lnTo>
                    <a:lnTo>
                      <a:pt x="281" y="133"/>
                    </a:lnTo>
                    <a:lnTo>
                      <a:pt x="281" y="123"/>
                    </a:lnTo>
                    <a:lnTo>
                      <a:pt x="285" y="113"/>
                    </a:lnTo>
                    <a:lnTo>
                      <a:pt x="290" y="104"/>
                    </a:lnTo>
                    <a:lnTo>
                      <a:pt x="296" y="97"/>
                    </a:lnTo>
                    <a:lnTo>
                      <a:pt x="298" y="94"/>
                    </a:lnTo>
                    <a:lnTo>
                      <a:pt x="301" y="92"/>
                    </a:lnTo>
                    <a:lnTo>
                      <a:pt x="303" y="86"/>
                    </a:lnTo>
                    <a:lnTo>
                      <a:pt x="307" y="83"/>
                    </a:lnTo>
                    <a:lnTo>
                      <a:pt x="308" y="83"/>
                    </a:lnTo>
                    <a:lnTo>
                      <a:pt x="317" y="79"/>
                    </a:lnTo>
                    <a:lnTo>
                      <a:pt x="323" y="77"/>
                    </a:lnTo>
                    <a:lnTo>
                      <a:pt x="328" y="77"/>
                    </a:lnTo>
                    <a:lnTo>
                      <a:pt x="334" y="74"/>
                    </a:lnTo>
                    <a:lnTo>
                      <a:pt x="337" y="74"/>
                    </a:lnTo>
                    <a:lnTo>
                      <a:pt x="339" y="72"/>
                    </a:lnTo>
                    <a:lnTo>
                      <a:pt x="345" y="67"/>
                    </a:lnTo>
                    <a:lnTo>
                      <a:pt x="345" y="63"/>
                    </a:lnTo>
                    <a:lnTo>
                      <a:pt x="337" y="50"/>
                    </a:lnTo>
                    <a:lnTo>
                      <a:pt x="337" y="47"/>
                    </a:lnTo>
                    <a:lnTo>
                      <a:pt x="337" y="43"/>
                    </a:lnTo>
                    <a:lnTo>
                      <a:pt x="337" y="41"/>
                    </a:lnTo>
                    <a:lnTo>
                      <a:pt x="334" y="41"/>
                    </a:lnTo>
                    <a:lnTo>
                      <a:pt x="334" y="38"/>
                    </a:lnTo>
                    <a:lnTo>
                      <a:pt x="328" y="30"/>
                    </a:lnTo>
                    <a:lnTo>
                      <a:pt x="321" y="21"/>
                    </a:lnTo>
                    <a:lnTo>
                      <a:pt x="317" y="11"/>
                    </a:lnTo>
                    <a:lnTo>
                      <a:pt x="316" y="0"/>
                    </a:lnTo>
                    <a:lnTo>
                      <a:pt x="249" y="41"/>
                    </a:lnTo>
                    <a:lnTo>
                      <a:pt x="188" y="94"/>
                    </a:lnTo>
                    <a:lnTo>
                      <a:pt x="133" y="151"/>
                    </a:lnTo>
                    <a:lnTo>
                      <a:pt x="88" y="218"/>
                    </a:lnTo>
                    <a:lnTo>
                      <a:pt x="50" y="289"/>
                    </a:lnTo>
                    <a:lnTo>
                      <a:pt x="21" y="366"/>
                    </a:lnTo>
                    <a:lnTo>
                      <a:pt x="5" y="446"/>
                    </a:lnTo>
                    <a:lnTo>
                      <a:pt x="0" y="530"/>
                    </a:lnTo>
                    <a:lnTo>
                      <a:pt x="5" y="608"/>
                    </a:lnTo>
                    <a:lnTo>
                      <a:pt x="20" y="680"/>
                    </a:lnTo>
                    <a:lnTo>
                      <a:pt x="45" y="751"/>
                    </a:lnTo>
                    <a:lnTo>
                      <a:pt x="74" y="819"/>
                    </a:lnTo>
                    <a:lnTo>
                      <a:pt x="114" y="879"/>
                    </a:lnTo>
                    <a:lnTo>
                      <a:pt x="160" y="938"/>
                    </a:lnTo>
                    <a:lnTo>
                      <a:pt x="215" y="987"/>
                    </a:lnTo>
                    <a:lnTo>
                      <a:pt x="272" y="1032"/>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0" name="Freeform 26"/>
              <p:cNvSpPr>
                <a:spLocks/>
              </p:cNvSpPr>
              <p:nvPr/>
            </p:nvSpPr>
            <p:spPr bwMode="invGray">
              <a:xfrm>
                <a:off x="379" y="2327"/>
                <a:ext cx="824" cy="1203"/>
              </a:xfrm>
              <a:custGeom>
                <a:avLst/>
                <a:gdLst>
                  <a:gd name="T0" fmla="*/ 796 w 824"/>
                  <a:gd name="T1" fmla="*/ 688 h 1203"/>
                  <a:gd name="T2" fmla="*/ 756 w 824"/>
                  <a:gd name="T3" fmla="*/ 641 h 1203"/>
                  <a:gd name="T4" fmla="*/ 812 w 824"/>
                  <a:gd name="T5" fmla="*/ 615 h 1203"/>
                  <a:gd name="T6" fmla="*/ 814 w 824"/>
                  <a:gd name="T7" fmla="*/ 502 h 1203"/>
                  <a:gd name="T8" fmla="*/ 705 w 824"/>
                  <a:gd name="T9" fmla="*/ 247 h 1203"/>
                  <a:gd name="T10" fmla="*/ 651 w 824"/>
                  <a:gd name="T11" fmla="*/ 262 h 1203"/>
                  <a:gd name="T12" fmla="*/ 574 w 824"/>
                  <a:gd name="T13" fmla="*/ 289 h 1203"/>
                  <a:gd name="T14" fmla="*/ 536 w 824"/>
                  <a:gd name="T15" fmla="*/ 258 h 1203"/>
                  <a:gd name="T16" fmla="*/ 563 w 824"/>
                  <a:gd name="T17" fmla="*/ 170 h 1203"/>
                  <a:gd name="T18" fmla="*/ 532 w 824"/>
                  <a:gd name="T19" fmla="*/ 81 h 1203"/>
                  <a:gd name="T20" fmla="*/ 455 w 824"/>
                  <a:gd name="T21" fmla="*/ 56 h 1203"/>
                  <a:gd name="T22" fmla="*/ 484 w 824"/>
                  <a:gd name="T23" fmla="*/ 150 h 1203"/>
                  <a:gd name="T24" fmla="*/ 465 w 824"/>
                  <a:gd name="T25" fmla="*/ 190 h 1203"/>
                  <a:gd name="T26" fmla="*/ 442 w 824"/>
                  <a:gd name="T27" fmla="*/ 200 h 1203"/>
                  <a:gd name="T28" fmla="*/ 419 w 824"/>
                  <a:gd name="T29" fmla="*/ 164 h 1203"/>
                  <a:gd name="T30" fmla="*/ 381 w 824"/>
                  <a:gd name="T31" fmla="*/ 108 h 1203"/>
                  <a:gd name="T32" fmla="*/ 406 w 824"/>
                  <a:gd name="T33" fmla="*/ 108 h 1203"/>
                  <a:gd name="T34" fmla="*/ 424 w 824"/>
                  <a:gd name="T35" fmla="*/ 72 h 1203"/>
                  <a:gd name="T36" fmla="*/ 325 w 824"/>
                  <a:gd name="T37" fmla="*/ 0 h 1203"/>
                  <a:gd name="T38" fmla="*/ 281 w 824"/>
                  <a:gd name="T39" fmla="*/ 27 h 1203"/>
                  <a:gd name="T40" fmla="*/ 240 w 824"/>
                  <a:gd name="T41" fmla="*/ 72 h 1203"/>
                  <a:gd name="T42" fmla="*/ 209 w 824"/>
                  <a:gd name="T43" fmla="*/ 114 h 1203"/>
                  <a:gd name="T44" fmla="*/ 209 w 824"/>
                  <a:gd name="T45" fmla="*/ 150 h 1203"/>
                  <a:gd name="T46" fmla="*/ 240 w 824"/>
                  <a:gd name="T47" fmla="*/ 164 h 1203"/>
                  <a:gd name="T48" fmla="*/ 209 w 824"/>
                  <a:gd name="T49" fmla="*/ 222 h 1203"/>
                  <a:gd name="T50" fmla="*/ 213 w 824"/>
                  <a:gd name="T51" fmla="*/ 242 h 1203"/>
                  <a:gd name="T52" fmla="*/ 267 w 824"/>
                  <a:gd name="T53" fmla="*/ 222 h 1203"/>
                  <a:gd name="T54" fmla="*/ 303 w 824"/>
                  <a:gd name="T55" fmla="*/ 170 h 1203"/>
                  <a:gd name="T56" fmla="*/ 354 w 824"/>
                  <a:gd name="T57" fmla="*/ 231 h 1203"/>
                  <a:gd name="T58" fmla="*/ 372 w 824"/>
                  <a:gd name="T59" fmla="*/ 291 h 1203"/>
                  <a:gd name="T60" fmla="*/ 348 w 824"/>
                  <a:gd name="T61" fmla="*/ 294 h 1203"/>
                  <a:gd name="T62" fmla="*/ 298 w 824"/>
                  <a:gd name="T63" fmla="*/ 309 h 1203"/>
                  <a:gd name="T64" fmla="*/ 323 w 824"/>
                  <a:gd name="T65" fmla="*/ 330 h 1203"/>
                  <a:gd name="T66" fmla="*/ 260 w 824"/>
                  <a:gd name="T67" fmla="*/ 339 h 1203"/>
                  <a:gd name="T68" fmla="*/ 189 w 824"/>
                  <a:gd name="T69" fmla="*/ 411 h 1203"/>
                  <a:gd name="T70" fmla="*/ 184 w 824"/>
                  <a:gd name="T71" fmla="*/ 469 h 1203"/>
                  <a:gd name="T72" fmla="*/ 148 w 824"/>
                  <a:gd name="T73" fmla="*/ 435 h 1203"/>
                  <a:gd name="T74" fmla="*/ 83 w 824"/>
                  <a:gd name="T75" fmla="*/ 402 h 1203"/>
                  <a:gd name="T76" fmla="*/ 0 w 824"/>
                  <a:gd name="T77" fmla="*/ 455 h 1203"/>
                  <a:gd name="T78" fmla="*/ 54 w 824"/>
                  <a:gd name="T79" fmla="*/ 496 h 1203"/>
                  <a:gd name="T80" fmla="*/ 74 w 824"/>
                  <a:gd name="T81" fmla="*/ 485 h 1203"/>
                  <a:gd name="T82" fmla="*/ 54 w 824"/>
                  <a:gd name="T83" fmla="*/ 608 h 1203"/>
                  <a:gd name="T84" fmla="*/ 132 w 824"/>
                  <a:gd name="T85" fmla="*/ 641 h 1203"/>
                  <a:gd name="T86" fmla="*/ 195 w 824"/>
                  <a:gd name="T87" fmla="*/ 661 h 1203"/>
                  <a:gd name="T88" fmla="*/ 249 w 824"/>
                  <a:gd name="T89" fmla="*/ 744 h 1203"/>
                  <a:gd name="T90" fmla="*/ 334 w 824"/>
                  <a:gd name="T91" fmla="*/ 886 h 1203"/>
                  <a:gd name="T92" fmla="*/ 391 w 824"/>
                  <a:gd name="T93" fmla="*/ 1007 h 1203"/>
                  <a:gd name="T94" fmla="*/ 292 w 824"/>
                  <a:gd name="T95" fmla="*/ 1052 h 1203"/>
                  <a:gd name="T96" fmla="*/ 182 w 824"/>
                  <a:gd name="T97" fmla="*/ 1105 h 1203"/>
                  <a:gd name="T98" fmla="*/ 68 w 824"/>
                  <a:gd name="T99" fmla="*/ 1180 h 1203"/>
                  <a:gd name="T100" fmla="*/ 200 w 824"/>
                  <a:gd name="T101" fmla="*/ 1202 h 1203"/>
                  <a:gd name="T102" fmla="*/ 417 w 824"/>
                  <a:gd name="T103" fmla="*/ 1168 h 1203"/>
                  <a:gd name="T104" fmla="*/ 613 w 824"/>
                  <a:gd name="T105" fmla="*/ 1052 h 1203"/>
                  <a:gd name="T106" fmla="*/ 610 w 824"/>
                  <a:gd name="T107" fmla="*/ 929 h 1203"/>
                  <a:gd name="T108" fmla="*/ 543 w 824"/>
                  <a:gd name="T109" fmla="*/ 888 h 1203"/>
                  <a:gd name="T110" fmla="*/ 567 w 824"/>
                  <a:gd name="T111" fmla="*/ 791 h 1203"/>
                  <a:gd name="T112" fmla="*/ 655 w 824"/>
                  <a:gd name="T113" fmla="*/ 738 h 1203"/>
                  <a:gd name="T114" fmla="*/ 725 w 824"/>
                  <a:gd name="T115" fmla="*/ 713 h 1203"/>
                  <a:gd name="T116" fmla="*/ 792 w 824"/>
                  <a:gd name="T117" fmla="*/ 729 h 120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24" h="1203">
                    <a:moveTo>
                      <a:pt x="803" y="736"/>
                    </a:moveTo>
                    <a:lnTo>
                      <a:pt x="807" y="724"/>
                    </a:lnTo>
                    <a:lnTo>
                      <a:pt x="808" y="713"/>
                    </a:lnTo>
                    <a:lnTo>
                      <a:pt x="812" y="702"/>
                    </a:lnTo>
                    <a:lnTo>
                      <a:pt x="814" y="691"/>
                    </a:lnTo>
                    <a:lnTo>
                      <a:pt x="803" y="691"/>
                    </a:lnTo>
                    <a:lnTo>
                      <a:pt x="796" y="688"/>
                    </a:lnTo>
                    <a:lnTo>
                      <a:pt x="783" y="686"/>
                    </a:lnTo>
                    <a:lnTo>
                      <a:pt x="776" y="680"/>
                    </a:lnTo>
                    <a:lnTo>
                      <a:pt x="770" y="675"/>
                    </a:lnTo>
                    <a:lnTo>
                      <a:pt x="767" y="666"/>
                    </a:lnTo>
                    <a:lnTo>
                      <a:pt x="761" y="661"/>
                    </a:lnTo>
                    <a:lnTo>
                      <a:pt x="760" y="655"/>
                    </a:lnTo>
                    <a:lnTo>
                      <a:pt x="756" y="641"/>
                    </a:lnTo>
                    <a:lnTo>
                      <a:pt x="756" y="624"/>
                    </a:lnTo>
                    <a:lnTo>
                      <a:pt x="760" y="610"/>
                    </a:lnTo>
                    <a:lnTo>
                      <a:pt x="767" y="599"/>
                    </a:lnTo>
                    <a:lnTo>
                      <a:pt x="781" y="597"/>
                    </a:lnTo>
                    <a:lnTo>
                      <a:pt x="792" y="599"/>
                    </a:lnTo>
                    <a:lnTo>
                      <a:pt x="803" y="608"/>
                    </a:lnTo>
                    <a:lnTo>
                      <a:pt x="812" y="615"/>
                    </a:lnTo>
                    <a:lnTo>
                      <a:pt x="819" y="628"/>
                    </a:lnTo>
                    <a:lnTo>
                      <a:pt x="823" y="619"/>
                    </a:lnTo>
                    <a:lnTo>
                      <a:pt x="823" y="610"/>
                    </a:lnTo>
                    <a:lnTo>
                      <a:pt x="823" y="605"/>
                    </a:lnTo>
                    <a:lnTo>
                      <a:pt x="823" y="597"/>
                    </a:lnTo>
                    <a:lnTo>
                      <a:pt x="819" y="549"/>
                    </a:lnTo>
                    <a:lnTo>
                      <a:pt x="814" y="502"/>
                    </a:lnTo>
                    <a:lnTo>
                      <a:pt x="807" y="455"/>
                    </a:lnTo>
                    <a:lnTo>
                      <a:pt x="792" y="411"/>
                    </a:lnTo>
                    <a:lnTo>
                      <a:pt x="776" y="366"/>
                    </a:lnTo>
                    <a:lnTo>
                      <a:pt x="756" y="325"/>
                    </a:lnTo>
                    <a:lnTo>
                      <a:pt x="734" y="285"/>
                    </a:lnTo>
                    <a:lnTo>
                      <a:pt x="709" y="247"/>
                    </a:lnTo>
                    <a:lnTo>
                      <a:pt x="705" y="247"/>
                    </a:lnTo>
                    <a:lnTo>
                      <a:pt x="702" y="244"/>
                    </a:lnTo>
                    <a:lnTo>
                      <a:pt x="698" y="244"/>
                    </a:lnTo>
                    <a:lnTo>
                      <a:pt x="693" y="242"/>
                    </a:lnTo>
                    <a:lnTo>
                      <a:pt x="677" y="253"/>
                    </a:lnTo>
                    <a:lnTo>
                      <a:pt x="668" y="254"/>
                    </a:lnTo>
                    <a:lnTo>
                      <a:pt x="660" y="258"/>
                    </a:lnTo>
                    <a:lnTo>
                      <a:pt x="651" y="262"/>
                    </a:lnTo>
                    <a:lnTo>
                      <a:pt x="642" y="264"/>
                    </a:lnTo>
                    <a:lnTo>
                      <a:pt x="631" y="267"/>
                    </a:lnTo>
                    <a:lnTo>
                      <a:pt x="619" y="273"/>
                    </a:lnTo>
                    <a:lnTo>
                      <a:pt x="606" y="278"/>
                    </a:lnTo>
                    <a:lnTo>
                      <a:pt x="594" y="283"/>
                    </a:lnTo>
                    <a:lnTo>
                      <a:pt x="583" y="285"/>
                    </a:lnTo>
                    <a:lnTo>
                      <a:pt x="574" y="289"/>
                    </a:lnTo>
                    <a:lnTo>
                      <a:pt x="567" y="291"/>
                    </a:lnTo>
                    <a:lnTo>
                      <a:pt x="557" y="289"/>
                    </a:lnTo>
                    <a:lnTo>
                      <a:pt x="554" y="285"/>
                    </a:lnTo>
                    <a:lnTo>
                      <a:pt x="548" y="280"/>
                    </a:lnTo>
                    <a:lnTo>
                      <a:pt x="547" y="278"/>
                    </a:lnTo>
                    <a:lnTo>
                      <a:pt x="543" y="273"/>
                    </a:lnTo>
                    <a:lnTo>
                      <a:pt x="536" y="258"/>
                    </a:lnTo>
                    <a:lnTo>
                      <a:pt x="532" y="244"/>
                    </a:lnTo>
                    <a:lnTo>
                      <a:pt x="532" y="231"/>
                    </a:lnTo>
                    <a:lnTo>
                      <a:pt x="530" y="217"/>
                    </a:lnTo>
                    <a:lnTo>
                      <a:pt x="532" y="202"/>
                    </a:lnTo>
                    <a:lnTo>
                      <a:pt x="541" y="190"/>
                    </a:lnTo>
                    <a:lnTo>
                      <a:pt x="552" y="177"/>
                    </a:lnTo>
                    <a:lnTo>
                      <a:pt x="563" y="170"/>
                    </a:lnTo>
                    <a:lnTo>
                      <a:pt x="574" y="159"/>
                    </a:lnTo>
                    <a:lnTo>
                      <a:pt x="583" y="146"/>
                    </a:lnTo>
                    <a:lnTo>
                      <a:pt x="588" y="134"/>
                    </a:lnTo>
                    <a:lnTo>
                      <a:pt x="588" y="119"/>
                    </a:lnTo>
                    <a:lnTo>
                      <a:pt x="568" y="105"/>
                    </a:lnTo>
                    <a:lnTo>
                      <a:pt x="552" y="92"/>
                    </a:lnTo>
                    <a:lnTo>
                      <a:pt x="532" y="81"/>
                    </a:lnTo>
                    <a:lnTo>
                      <a:pt x="512" y="70"/>
                    </a:lnTo>
                    <a:lnTo>
                      <a:pt x="491" y="58"/>
                    </a:lnTo>
                    <a:lnTo>
                      <a:pt x="471" y="47"/>
                    </a:lnTo>
                    <a:lnTo>
                      <a:pt x="449" y="38"/>
                    </a:lnTo>
                    <a:lnTo>
                      <a:pt x="428" y="31"/>
                    </a:lnTo>
                    <a:lnTo>
                      <a:pt x="442" y="45"/>
                    </a:lnTo>
                    <a:lnTo>
                      <a:pt x="455" y="56"/>
                    </a:lnTo>
                    <a:lnTo>
                      <a:pt x="465" y="63"/>
                    </a:lnTo>
                    <a:lnTo>
                      <a:pt x="484" y="74"/>
                    </a:lnTo>
                    <a:lnTo>
                      <a:pt x="485" y="88"/>
                    </a:lnTo>
                    <a:lnTo>
                      <a:pt x="484" y="105"/>
                    </a:lnTo>
                    <a:lnTo>
                      <a:pt x="478" y="123"/>
                    </a:lnTo>
                    <a:lnTo>
                      <a:pt x="478" y="135"/>
                    </a:lnTo>
                    <a:lnTo>
                      <a:pt x="484" y="150"/>
                    </a:lnTo>
                    <a:lnTo>
                      <a:pt x="484" y="155"/>
                    </a:lnTo>
                    <a:lnTo>
                      <a:pt x="480" y="161"/>
                    </a:lnTo>
                    <a:lnTo>
                      <a:pt x="474" y="166"/>
                    </a:lnTo>
                    <a:lnTo>
                      <a:pt x="469" y="170"/>
                    </a:lnTo>
                    <a:lnTo>
                      <a:pt x="465" y="175"/>
                    </a:lnTo>
                    <a:lnTo>
                      <a:pt x="465" y="180"/>
                    </a:lnTo>
                    <a:lnTo>
                      <a:pt x="465" y="190"/>
                    </a:lnTo>
                    <a:lnTo>
                      <a:pt x="464" y="195"/>
                    </a:lnTo>
                    <a:lnTo>
                      <a:pt x="460" y="197"/>
                    </a:lnTo>
                    <a:lnTo>
                      <a:pt x="458" y="200"/>
                    </a:lnTo>
                    <a:lnTo>
                      <a:pt x="455" y="200"/>
                    </a:lnTo>
                    <a:lnTo>
                      <a:pt x="453" y="200"/>
                    </a:lnTo>
                    <a:lnTo>
                      <a:pt x="447" y="197"/>
                    </a:lnTo>
                    <a:lnTo>
                      <a:pt x="442" y="200"/>
                    </a:lnTo>
                    <a:lnTo>
                      <a:pt x="433" y="202"/>
                    </a:lnTo>
                    <a:lnTo>
                      <a:pt x="428" y="202"/>
                    </a:lnTo>
                    <a:lnTo>
                      <a:pt x="424" y="200"/>
                    </a:lnTo>
                    <a:lnTo>
                      <a:pt x="424" y="197"/>
                    </a:lnTo>
                    <a:lnTo>
                      <a:pt x="422" y="195"/>
                    </a:lnTo>
                    <a:lnTo>
                      <a:pt x="419" y="164"/>
                    </a:lnTo>
                    <a:lnTo>
                      <a:pt x="411" y="159"/>
                    </a:lnTo>
                    <a:lnTo>
                      <a:pt x="406" y="150"/>
                    </a:lnTo>
                    <a:lnTo>
                      <a:pt x="397" y="141"/>
                    </a:lnTo>
                    <a:lnTo>
                      <a:pt x="390" y="134"/>
                    </a:lnTo>
                    <a:lnTo>
                      <a:pt x="386" y="125"/>
                    </a:lnTo>
                    <a:lnTo>
                      <a:pt x="384" y="117"/>
                    </a:lnTo>
                    <a:lnTo>
                      <a:pt x="381" y="108"/>
                    </a:lnTo>
                    <a:lnTo>
                      <a:pt x="384" y="103"/>
                    </a:lnTo>
                    <a:lnTo>
                      <a:pt x="386" y="99"/>
                    </a:lnTo>
                    <a:lnTo>
                      <a:pt x="390" y="99"/>
                    </a:lnTo>
                    <a:lnTo>
                      <a:pt x="390" y="97"/>
                    </a:lnTo>
                    <a:lnTo>
                      <a:pt x="391" y="97"/>
                    </a:lnTo>
                    <a:lnTo>
                      <a:pt x="397" y="103"/>
                    </a:lnTo>
                    <a:lnTo>
                      <a:pt x="406" y="108"/>
                    </a:lnTo>
                    <a:lnTo>
                      <a:pt x="413" y="110"/>
                    </a:lnTo>
                    <a:lnTo>
                      <a:pt x="422" y="110"/>
                    </a:lnTo>
                    <a:lnTo>
                      <a:pt x="424" y="110"/>
                    </a:lnTo>
                    <a:lnTo>
                      <a:pt x="424" y="108"/>
                    </a:lnTo>
                    <a:lnTo>
                      <a:pt x="424" y="72"/>
                    </a:lnTo>
                    <a:lnTo>
                      <a:pt x="411" y="56"/>
                    </a:lnTo>
                    <a:lnTo>
                      <a:pt x="395" y="42"/>
                    </a:lnTo>
                    <a:lnTo>
                      <a:pt x="377" y="27"/>
                    </a:lnTo>
                    <a:lnTo>
                      <a:pt x="364" y="9"/>
                    </a:lnTo>
                    <a:lnTo>
                      <a:pt x="350" y="5"/>
                    </a:lnTo>
                    <a:lnTo>
                      <a:pt x="339" y="2"/>
                    </a:lnTo>
                    <a:lnTo>
                      <a:pt x="325" y="0"/>
                    </a:lnTo>
                    <a:lnTo>
                      <a:pt x="312" y="0"/>
                    </a:lnTo>
                    <a:lnTo>
                      <a:pt x="308" y="0"/>
                    </a:lnTo>
                    <a:lnTo>
                      <a:pt x="308" y="2"/>
                    </a:lnTo>
                    <a:lnTo>
                      <a:pt x="308" y="5"/>
                    </a:lnTo>
                    <a:lnTo>
                      <a:pt x="307" y="9"/>
                    </a:lnTo>
                    <a:lnTo>
                      <a:pt x="289" y="14"/>
                    </a:lnTo>
                    <a:lnTo>
                      <a:pt x="281" y="27"/>
                    </a:lnTo>
                    <a:lnTo>
                      <a:pt x="276" y="42"/>
                    </a:lnTo>
                    <a:lnTo>
                      <a:pt x="265" y="56"/>
                    </a:lnTo>
                    <a:lnTo>
                      <a:pt x="260" y="56"/>
                    </a:lnTo>
                    <a:lnTo>
                      <a:pt x="256" y="56"/>
                    </a:lnTo>
                    <a:lnTo>
                      <a:pt x="251" y="56"/>
                    </a:lnTo>
                    <a:lnTo>
                      <a:pt x="249" y="58"/>
                    </a:lnTo>
                    <a:lnTo>
                      <a:pt x="240" y="72"/>
                    </a:lnTo>
                    <a:lnTo>
                      <a:pt x="231" y="87"/>
                    </a:lnTo>
                    <a:lnTo>
                      <a:pt x="224" y="99"/>
                    </a:lnTo>
                    <a:lnTo>
                      <a:pt x="213" y="110"/>
                    </a:lnTo>
                    <a:lnTo>
                      <a:pt x="209" y="110"/>
                    </a:lnTo>
                    <a:lnTo>
                      <a:pt x="209" y="114"/>
                    </a:lnTo>
                    <a:lnTo>
                      <a:pt x="184" y="139"/>
                    </a:lnTo>
                    <a:lnTo>
                      <a:pt x="184" y="141"/>
                    </a:lnTo>
                    <a:lnTo>
                      <a:pt x="195" y="146"/>
                    </a:lnTo>
                    <a:lnTo>
                      <a:pt x="209" y="150"/>
                    </a:lnTo>
                    <a:lnTo>
                      <a:pt x="224" y="153"/>
                    </a:lnTo>
                    <a:lnTo>
                      <a:pt x="234" y="153"/>
                    </a:lnTo>
                    <a:lnTo>
                      <a:pt x="236" y="155"/>
                    </a:lnTo>
                    <a:lnTo>
                      <a:pt x="240" y="155"/>
                    </a:lnTo>
                    <a:lnTo>
                      <a:pt x="240" y="159"/>
                    </a:lnTo>
                    <a:lnTo>
                      <a:pt x="242" y="161"/>
                    </a:lnTo>
                    <a:lnTo>
                      <a:pt x="240" y="164"/>
                    </a:lnTo>
                    <a:lnTo>
                      <a:pt x="234" y="166"/>
                    </a:lnTo>
                    <a:lnTo>
                      <a:pt x="231" y="170"/>
                    </a:lnTo>
                    <a:lnTo>
                      <a:pt x="225" y="171"/>
                    </a:lnTo>
                    <a:lnTo>
                      <a:pt x="220" y="180"/>
                    </a:lnTo>
                    <a:lnTo>
                      <a:pt x="215" y="195"/>
                    </a:lnTo>
                    <a:lnTo>
                      <a:pt x="209" y="208"/>
                    </a:lnTo>
                    <a:lnTo>
                      <a:pt x="209" y="222"/>
                    </a:lnTo>
                    <a:lnTo>
                      <a:pt x="213" y="227"/>
                    </a:lnTo>
                    <a:lnTo>
                      <a:pt x="215" y="227"/>
                    </a:lnTo>
                    <a:lnTo>
                      <a:pt x="213" y="231"/>
                    </a:lnTo>
                    <a:lnTo>
                      <a:pt x="209" y="238"/>
                    </a:lnTo>
                    <a:lnTo>
                      <a:pt x="213" y="242"/>
                    </a:lnTo>
                    <a:lnTo>
                      <a:pt x="215" y="244"/>
                    </a:lnTo>
                    <a:lnTo>
                      <a:pt x="231" y="233"/>
                    </a:lnTo>
                    <a:lnTo>
                      <a:pt x="260" y="231"/>
                    </a:lnTo>
                    <a:lnTo>
                      <a:pt x="260" y="227"/>
                    </a:lnTo>
                    <a:lnTo>
                      <a:pt x="262" y="226"/>
                    </a:lnTo>
                    <a:lnTo>
                      <a:pt x="265" y="226"/>
                    </a:lnTo>
                    <a:lnTo>
                      <a:pt x="267" y="222"/>
                    </a:lnTo>
                    <a:lnTo>
                      <a:pt x="267" y="200"/>
                    </a:lnTo>
                    <a:lnTo>
                      <a:pt x="289" y="155"/>
                    </a:lnTo>
                    <a:lnTo>
                      <a:pt x="292" y="155"/>
                    </a:lnTo>
                    <a:lnTo>
                      <a:pt x="303" y="170"/>
                    </a:lnTo>
                    <a:lnTo>
                      <a:pt x="312" y="180"/>
                    </a:lnTo>
                    <a:lnTo>
                      <a:pt x="323" y="195"/>
                    </a:lnTo>
                    <a:lnTo>
                      <a:pt x="336" y="206"/>
                    </a:lnTo>
                    <a:lnTo>
                      <a:pt x="343" y="211"/>
                    </a:lnTo>
                    <a:lnTo>
                      <a:pt x="345" y="217"/>
                    </a:lnTo>
                    <a:lnTo>
                      <a:pt x="350" y="226"/>
                    </a:lnTo>
                    <a:lnTo>
                      <a:pt x="354" y="231"/>
                    </a:lnTo>
                    <a:lnTo>
                      <a:pt x="354" y="244"/>
                    </a:lnTo>
                    <a:lnTo>
                      <a:pt x="354" y="258"/>
                    </a:lnTo>
                    <a:lnTo>
                      <a:pt x="359" y="273"/>
                    </a:lnTo>
                    <a:lnTo>
                      <a:pt x="364" y="283"/>
                    </a:lnTo>
                    <a:lnTo>
                      <a:pt x="366" y="285"/>
                    </a:lnTo>
                    <a:lnTo>
                      <a:pt x="370" y="289"/>
                    </a:lnTo>
                    <a:lnTo>
                      <a:pt x="372" y="291"/>
                    </a:lnTo>
                    <a:lnTo>
                      <a:pt x="375" y="294"/>
                    </a:lnTo>
                    <a:lnTo>
                      <a:pt x="375" y="298"/>
                    </a:lnTo>
                    <a:lnTo>
                      <a:pt x="372" y="300"/>
                    </a:lnTo>
                    <a:lnTo>
                      <a:pt x="372" y="305"/>
                    </a:lnTo>
                    <a:lnTo>
                      <a:pt x="370" y="309"/>
                    </a:lnTo>
                    <a:lnTo>
                      <a:pt x="359" y="305"/>
                    </a:lnTo>
                    <a:lnTo>
                      <a:pt x="348" y="294"/>
                    </a:lnTo>
                    <a:lnTo>
                      <a:pt x="336" y="285"/>
                    </a:lnTo>
                    <a:lnTo>
                      <a:pt x="323" y="283"/>
                    </a:lnTo>
                    <a:lnTo>
                      <a:pt x="314" y="289"/>
                    </a:lnTo>
                    <a:lnTo>
                      <a:pt x="308" y="294"/>
                    </a:lnTo>
                    <a:lnTo>
                      <a:pt x="299" y="300"/>
                    </a:lnTo>
                    <a:lnTo>
                      <a:pt x="296" y="305"/>
                    </a:lnTo>
                    <a:lnTo>
                      <a:pt x="298" y="309"/>
                    </a:lnTo>
                    <a:lnTo>
                      <a:pt x="299" y="310"/>
                    </a:lnTo>
                    <a:lnTo>
                      <a:pt x="299" y="314"/>
                    </a:lnTo>
                    <a:lnTo>
                      <a:pt x="303" y="314"/>
                    </a:lnTo>
                    <a:lnTo>
                      <a:pt x="312" y="314"/>
                    </a:lnTo>
                    <a:lnTo>
                      <a:pt x="317" y="316"/>
                    </a:lnTo>
                    <a:lnTo>
                      <a:pt x="319" y="321"/>
                    </a:lnTo>
                    <a:lnTo>
                      <a:pt x="323" y="330"/>
                    </a:lnTo>
                    <a:lnTo>
                      <a:pt x="319" y="334"/>
                    </a:lnTo>
                    <a:lnTo>
                      <a:pt x="317" y="339"/>
                    </a:lnTo>
                    <a:lnTo>
                      <a:pt x="260" y="327"/>
                    </a:lnTo>
                    <a:lnTo>
                      <a:pt x="260" y="334"/>
                    </a:lnTo>
                    <a:lnTo>
                      <a:pt x="260" y="339"/>
                    </a:lnTo>
                    <a:lnTo>
                      <a:pt x="260" y="345"/>
                    </a:lnTo>
                    <a:lnTo>
                      <a:pt x="256" y="347"/>
                    </a:lnTo>
                    <a:lnTo>
                      <a:pt x="251" y="356"/>
                    </a:lnTo>
                    <a:lnTo>
                      <a:pt x="249" y="357"/>
                    </a:lnTo>
                    <a:lnTo>
                      <a:pt x="242" y="366"/>
                    </a:lnTo>
                    <a:lnTo>
                      <a:pt x="225" y="393"/>
                    </a:lnTo>
                    <a:lnTo>
                      <a:pt x="189" y="411"/>
                    </a:lnTo>
                    <a:lnTo>
                      <a:pt x="188" y="413"/>
                    </a:lnTo>
                    <a:lnTo>
                      <a:pt x="184" y="419"/>
                    </a:lnTo>
                    <a:lnTo>
                      <a:pt x="184" y="424"/>
                    </a:lnTo>
                    <a:lnTo>
                      <a:pt x="184" y="430"/>
                    </a:lnTo>
                    <a:lnTo>
                      <a:pt x="184" y="439"/>
                    </a:lnTo>
                    <a:lnTo>
                      <a:pt x="184" y="453"/>
                    </a:lnTo>
                    <a:lnTo>
                      <a:pt x="184" y="469"/>
                    </a:lnTo>
                    <a:lnTo>
                      <a:pt x="184" y="478"/>
                    </a:lnTo>
                    <a:lnTo>
                      <a:pt x="173" y="478"/>
                    </a:lnTo>
                    <a:lnTo>
                      <a:pt x="164" y="475"/>
                    </a:lnTo>
                    <a:lnTo>
                      <a:pt x="157" y="469"/>
                    </a:lnTo>
                    <a:lnTo>
                      <a:pt x="151" y="464"/>
                    </a:lnTo>
                    <a:lnTo>
                      <a:pt x="151" y="449"/>
                    </a:lnTo>
                    <a:lnTo>
                      <a:pt x="148" y="435"/>
                    </a:lnTo>
                    <a:lnTo>
                      <a:pt x="141" y="424"/>
                    </a:lnTo>
                    <a:lnTo>
                      <a:pt x="130" y="413"/>
                    </a:lnTo>
                    <a:lnTo>
                      <a:pt x="117" y="417"/>
                    </a:lnTo>
                    <a:lnTo>
                      <a:pt x="110" y="417"/>
                    </a:lnTo>
                    <a:lnTo>
                      <a:pt x="101" y="413"/>
                    </a:lnTo>
                    <a:lnTo>
                      <a:pt x="94" y="408"/>
                    </a:lnTo>
                    <a:lnTo>
                      <a:pt x="83" y="402"/>
                    </a:lnTo>
                    <a:lnTo>
                      <a:pt x="72" y="397"/>
                    </a:lnTo>
                    <a:lnTo>
                      <a:pt x="59" y="393"/>
                    </a:lnTo>
                    <a:lnTo>
                      <a:pt x="49" y="392"/>
                    </a:lnTo>
                    <a:lnTo>
                      <a:pt x="38" y="402"/>
                    </a:lnTo>
                    <a:lnTo>
                      <a:pt x="21" y="424"/>
                    </a:lnTo>
                    <a:lnTo>
                      <a:pt x="5" y="448"/>
                    </a:lnTo>
                    <a:lnTo>
                      <a:pt x="0" y="455"/>
                    </a:lnTo>
                    <a:lnTo>
                      <a:pt x="21" y="475"/>
                    </a:lnTo>
                    <a:lnTo>
                      <a:pt x="25" y="516"/>
                    </a:lnTo>
                    <a:lnTo>
                      <a:pt x="29" y="516"/>
                    </a:lnTo>
                    <a:lnTo>
                      <a:pt x="38" y="513"/>
                    </a:lnTo>
                    <a:lnTo>
                      <a:pt x="43" y="511"/>
                    </a:lnTo>
                    <a:lnTo>
                      <a:pt x="49" y="505"/>
                    </a:lnTo>
                    <a:lnTo>
                      <a:pt x="54" y="496"/>
                    </a:lnTo>
                    <a:lnTo>
                      <a:pt x="58" y="491"/>
                    </a:lnTo>
                    <a:lnTo>
                      <a:pt x="63" y="485"/>
                    </a:lnTo>
                    <a:lnTo>
                      <a:pt x="72" y="480"/>
                    </a:lnTo>
                    <a:lnTo>
                      <a:pt x="74" y="480"/>
                    </a:lnTo>
                    <a:lnTo>
                      <a:pt x="74" y="484"/>
                    </a:lnTo>
                    <a:lnTo>
                      <a:pt x="74" y="485"/>
                    </a:lnTo>
                    <a:lnTo>
                      <a:pt x="63" y="538"/>
                    </a:lnTo>
                    <a:lnTo>
                      <a:pt x="79" y="556"/>
                    </a:lnTo>
                    <a:lnTo>
                      <a:pt x="77" y="567"/>
                    </a:lnTo>
                    <a:lnTo>
                      <a:pt x="68" y="574"/>
                    </a:lnTo>
                    <a:lnTo>
                      <a:pt x="59" y="583"/>
                    </a:lnTo>
                    <a:lnTo>
                      <a:pt x="54" y="597"/>
                    </a:lnTo>
                    <a:lnTo>
                      <a:pt x="54" y="608"/>
                    </a:lnTo>
                    <a:lnTo>
                      <a:pt x="63" y="619"/>
                    </a:lnTo>
                    <a:lnTo>
                      <a:pt x="74" y="630"/>
                    </a:lnTo>
                    <a:lnTo>
                      <a:pt x="88" y="641"/>
                    </a:lnTo>
                    <a:lnTo>
                      <a:pt x="101" y="646"/>
                    </a:lnTo>
                    <a:lnTo>
                      <a:pt x="114" y="646"/>
                    </a:lnTo>
                    <a:lnTo>
                      <a:pt x="124" y="644"/>
                    </a:lnTo>
                    <a:lnTo>
                      <a:pt x="132" y="641"/>
                    </a:lnTo>
                    <a:lnTo>
                      <a:pt x="141" y="635"/>
                    </a:lnTo>
                    <a:lnTo>
                      <a:pt x="148" y="635"/>
                    </a:lnTo>
                    <a:lnTo>
                      <a:pt x="153" y="639"/>
                    </a:lnTo>
                    <a:lnTo>
                      <a:pt x="160" y="641"/>
                    </a:lnTo>
                    <a:lnTo>
                      <a:pt x="168" y="644"/>
                    </a:lnTo>
                    <a:lnTo>
                      <a:pt x="184" y="652"/>
                    </a:lnTo>
                    <a:lnTo>
                      <a:pt x="195" y="661"/>
                    </a:lnTo>
                    <a:lnTo>
                      <a:pt x="209" y="670"/>
                    </a:lnTo>
                    <a:lnTo>
                      <a:pt x="220" y="677"/>
                    </a:lnTo>
                    <a:lnTo>
                      <a:pt x="225" y="691"/>
                    </a:lnTo>
                    <a:lnTo>
                      <a:pt x="229" y="706"/>
                    </a:lnTo>
                    <a:lnTo>
                      <a:pt x="231" y="722"/>
                    </a:lnTo>
                    <a:lnTo>
                      <a:pt x="234" y="738"/>
                    </a:lnTo>
                    <a:lnTo>
                      <a:pt x="249" y="744"/>
                    </a:lnTo>
                    <a:lnTo>
                      <a:pt x="262" y="749"/>
                    </a:lnTo>
                    <a:lnTo>
                      <a:pt x="276" y="758"/>
                    </a:lnTo>
                    <a:lnTo>
                      <a:pt x="287" y="772"/>
                    </a:lnTo>
                    <a:lnTo>
                      <a:pt x="298" y="800"/>
                    </a:lnTo>
                    <a:lnTo>
                      <a:pt x="308" y="830"/>
                    </a:lnTo>
                    <a:lnTo>
                      <a:pt x="319" y="861"/>
                    </a:lnTo>
                    <a:lnTo>
                      <a:pt x="334" y="886"/>
                    </a:lnTo>
                    <a:lnTo>
                      <a:pt x="350" y="904"/>
                    </a:lnTo>
                    <a:lnTo>
                      <a:pt x="366" y="924"/>
                    </a:lnTo>
                    <a:lnTo>
                      <a:pt x="381" y="944"/>
                    </a:lnTo>
                    <a:lnTo>
                      <a:pt x="395" y="966"/>
                    </a:lnTo>
                    <a:lnTo>
                      <a:pt x="397" y="980"/>
                    </a:lnTo>
                    <a:lnTo>
                      <a:pt x="397" y="993"/>
                    </a:lnTo>
                    <a:lnTo>
                      <a:pt x="391" y="1007"/>
                    </a:lnTo>
                    <a:lnTo>
                      <a:pt x="381" y="1018"/>
                    </a:lnTo>
                    <a:lnTo>
                      <a:pt x="364" y="1022"/>
                    </a:lnTo>
                    <a:lnTo>
                      <a:pt x="348" y="1027"/>
                    </a:lnTo>
                    <a:lnTo>
                      <a:pt x="334" y="1032"/>
                    </a:lnTo>
                    <a:lnTo>
                      <a:pt x="319" y="1038"/>
                    </a:lnTo>
                    <a:lnTo>
                      <a:pt x="307" y="1043"/>
                    </a:lnTo>
                    <a:lnTo>
                      <a:pt x="292" y="1052"/>
                    </a:lnTo>
                    <a:lnTo>
                      <a:pt x="278" y="1063"/>
                    </a:lnTo>
                    <a:lnTo>
                      <a:pt x="262" y="1074"/>
                    </a:lnTo>
                    <a:lnTo>
                      <a:pt x="249" y="1083"/>
                    </a:lnTo>
                    <a:lnTo>
                      <a:pt x="231" y="1090"/>
                    </a:lnTo>
                    <a:lnTo>
                      <a:pt x="215" y="1094"/>
                    </a:lnTo>
                    <a:lnTo>
                      <a:pt x="198" y="1099"/>
                    </a:lnTo>
                    <a:lnTo>
                      <a:pt x="182" y="1105"/>
                    </a:lnTo>
                    <a:lnTo>
                      <a:pt x="164" y="1110"/>
                    </a:lnTo>
                    <a:lnTo>
                      <a:pt x="151" y="1119"/>
                    </a:lnTo>
                    <a:lnTo>
                      <a:pt x="141" y="1132"/>
                    </a:lnTo>
                    <a:lnTo>
                      <a:pt x="124" y="1146"/>
                    </a:lnTo>
                    <a:lnTo>
                      <a:pt x="106" y="1160"/>
                    </a:lnTo>
                    <a:lnTo>
                      <a:pt x="88" y="1171"/>
                    </a:lnTo>
                    <a:lnTo>
                      <a:pt x="68" y="1180"/>
                    </a:lnTo>
                    <a:lnTo>
                      <a:pt x="88" y="1186"/>
                    </a:lnTo>
                    <a:lnTo>
                      <a:pt x="106" y="1188"/>
                    </a:lnTo>
                    <a:lnTo>
                      <a:pt x="124" y="1193"/>
                    </a:lnTo>
                    <a:lnTo>
                      <a:pt x="142" y="1197"/>
                    </a:lnTo>
                    <a:lnTo>
                      <a:pt x="162" y="1198"/>
                    </a:lnTo>
                    <a:lnTo>
                      <a:pt x="182" y="1198"/>
                    </a:lnTo>
                    <a:lnTo>
                      <a:pt x="200" y="1202"/>
                    </a:lnTo>
                    <a:lnTo>
                      <a:pt x="220" y="1202"/>
                    </a:lnTo>
                    <a:lnTo>
                      <a:pt x="252" y="1202"/>
                    </a:lnTo>
                    <a:lnTo>
                      <a:pt x="287" y="1198"/>
                    </a:lnTo>
                    <a:lnTo>
                      <a:pt x="319" y="1193"/>
                    </a:lnTo>
                    <a:lnTo>
                      <a:pt x="354" y="1186"/>
                    </a:lnTo>
                    <a:lnTo>
                      <a:pt x="386" y="1177"/>
                    </a:lnTo>
                    <a:lnTo>
                      <a:pt x="417" y="1168"/>
                    </a:lnTo>
                    <a:lnTo>
                      <a:pt x="447" y="1155"/>
                    </a:lnTo>
                    <a:lnTo>
                      <a:pt x="478" y="1141"/>
                    </a:lnTo>
                    <a:lnTo>
                      <a:pt x="505" y="1126"/>
                    </a:lnTo>
                    <a:lnTo>
                      <a:pt x="536" y="1110"/>
                    </a:lnTo>
                    <a:lnTo>
                      <a:pt x="559" y="1094"/>
                    </a:lnTo>
                    <a:lnTo>
                      <a:pt x="588" y="1074"/>
                    </a:lnTo>
                    <a:lnTo>
                      <a:pt x="613" y="1052"/>
                    </a:lnTo>
                    <a:lnTo>
                      <a:pt x="637" y="1029"/>
                    </a:lnTo>
                    <a:lnTo>
                      <a:pt x="660" y="1007"/>
                    </a:lnTo>
                    <a:lnTo>
                      <a:pt x="682" y="982"/>
                    </a:lnTo>
                    <a:lnTo>
                      <a:pt x="666" y="966"/>
                    </a:lnTo>
                    <a:lnTo>
                      <a:pt x="646" y="955"/>
                    </a:lnTo>
                    <a:lnTo>
                      <a:pt x="626" y="940"/>
                    </a:lnTo>
                    <a:lnTo>
                      <a:pt x="610" y="929"/>
                    </a:lnTo>
                    <a:lnTo>
                      <a:pt x="590" y="922"/>
                    </a:lnTo>
                    <a:lnTo>
                      <a:pt x="574" y="917"/>
                    </a:lnTo>
                    <a:lnTo>
                      <a:pt x="557" y="904"/>
                    </a:lnTo>
                    <a:lnTo>
                      <a:pt x="547" y="893"/>
                    </a:lnTo>
                    <a:lnTo>
                      <a:pt x="547" y="892"/>
                    </a:lnTo>
                    <a:lnTo>
                      <a:pt x="547" y="888"/>
                    </a:lnTo>
                    <a:lnTo>
                      <a:pt x="543" y="888"/>
                    </a:lnTo>
                    <a:lnTo>
                      <a:pt x="543" y="886"/>
                    </a:lnTo>
                    <a:lnTo>
                      <a:pt x="543" y="874"/>
                    </a:lnTo>
                    <a:lnTo>
                      <a:pt x="547" y="863"/>
                    </a:lnTo>
                    <a:lnTo>
                      <a:pt x="547" y="855"/>
                    </a:lnTo>
                    <a:lnTo>
                      <a:pt x="548" y="845"/>
                    </a:lnTo>
                    <a:lnTo>
                      <a:pt x="557" y="819"/>
                    </a:lnTo>
                    <a:lnTo>
                      <a:pt x="567" y="791"/>
                    </a:lnTo>
                    <a:lnTo>
                      <a:pt x="579" y="769"/>
                    </a:lnTo>
                    <a:lnTo>
                      <a:pt x="601" y="753"/>
                    </a:lnTo>
                    <a:lnTo>
                      <a:pt x="613" y="749"/>
                    </a:lnTo>
                    <a:lnTo>
                      <a:pt x="624" y="744"/>
                    </a:lnTo>
                    <a:lnTo>
                      <a:pt x="631" y="742"/>
                    </a:lnTo>
                    <a:lnTo>
                      <a:pt x="642" y="738"/>
                    </a:lnTo>
                    <a:lnTo>
                      <a:pt x="655" y="738"/>
                    </a:lnTo>
                    <a:lnTo>
                      <a:pt x="666" y="736"/>
                    </a:lnTo>
                    <a:lnTo>
                      <a:pt x="673" y="729"/>
                    </a:lnTo>
                    <a:lnTo>
                      <a:pt x="684" y="727"/>
                    </a:lnTo>
                    <a:lnTo>
                      <a:pt x="695" y="727"/>
                    </a:lnTo>
                    <a:lnTo>
                      <a:pt x="704" y="722"/>
                    </a:lnTo>
                    <a:lnTo>
                      <a:pt x="715" y="718"/>
                    </a:lnTo>
                    <a:lnTo>
                      <a:pt x="725" y="713"/>
                    </a:lnTo>
                    <a:lnTo>
                      <a:pt x="736" y="711"/>
                    </a:lnTo>
                    <a:lnTo>
                      <a:pt x="749" y="707"/>
                    </a:lnTo>
                    <a:lnTo>
                      <a:pt x="760" y="707"/>
                    </a:lnTo>
                    <a:lnTo>
                      <a:pt x="770" y="711"/>
                    </a:lnTo>
                    <a:lnTo>
                      <a:pt x="776" y="717"/>
                    </a:lnTo>
                    <a:lnTo>
                      <a:pt x="783" y="722"/>
                    </a:lnTo>
                    <a:lnTo>
                      <a:pt x="792" y="729"/>
                    </a:lnTo>
                    <a:lnTo>
                      <a:pt x="803" y="736"/>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1" name="Freeform 27"/>
              <p:cNvSpPr>
                <a:spLocks/>
              </p:cNvSpPr>
              <p:nvPr/>
            </p:nvSpPr>
            <p:spPr bwMode="invGray">
              <a:xfrm>
                <a:off x="530" y="2834"/>
                <a:ext cx="63" cy="73"/>
              </a:xfrm>
              <a:custGeom>
                <a:avLst/>
                <a:gdLst>
                  <a:gd name="T0" fmla="*/ 42 w 63"/>
                  <a:gd name="T1" fmla="*/ 65 h 73"/>
                  <a:gd name="T2" fmla="*/ 58 w 63"/>
                  <a:gd name="T3" fmla="*/ 72 h 73"/>
                  <a:gd name="T4" fmla="*/ 62 w 63"/>
                  <a:gd name="T5" fmla="*/ 72 h 73"/>
                  <a:gd name="T6" fmla="*/ 62 w 63"/>
                  <a:gd name="T7" fmla="*/ 67 h 73"/>
                  <a:gd name="T8" fmla="*/ 58 w 63"/>
                  <a:gd name="T9" fmla="*/ 65 h 73"/>
                  <a:gd name="T10" fmla="*/ 58 w 63"/>
                  <a:gd name="T11" fmla="*/ 62 h 73"/>
                  <a:gd name="T12" fmla="*/ 44 w 63"/>
                  <a:gd name="T13" fmla="*/ 56 h 73"/>
                  <a:gd name="T14" fmla="*/ 37 w 63"/>
                  <a:gd name="T15" fmla="*/ 45 h 73"/>
                  <a:gd name="T16" fmla="*/ 31 w 63"/>
                  <a:gd name="T17" fmla="*/ 34 h 73"/>
                  <a:gd name="T18" fmla="*/ 26 w 63"/>
                  <a:gd name="T19" fmla="*/ 20 h 73"/>
                  <a:gd name="T20" fmla="*/ 9 w 63"/>
                  <a:gd name="T21" fmla="*/ 0 h 73"/>
                  <a:gd name="T22" fmla="*/ 6 w 63"/>
                  <a:gd name="T23" fmla="*/ 4 h 73"/>
                  <a:gd name="T24" fmla="*/ 2 w 63"/>
                  <a:gd name="T25" fmla="*/ 9 h 73"/>
                  <a:gd name="T26" fmla="*/ 0 w 63"/>
                  <a:gd name="T27" fmla="*/ 11 h 73"/>
                  <a:gd name="T28" fmla="*/ 0 w 63"/>
                  <a:gd name="T29" fmla="*/ 18 h 73"/>
                  <a:gd name="T30" fmla="*/ 0 w 63"/>
                  <a:gd name="T31" fmla="*/ 20 h 73"/>
                  <a:gd name="T32" fmla="*/ 0 w 63"/>
                  <a:gd name="T33" fmla="*/ 20 h 73"/>
                  <a:gd name="T34" fmla="*/ 0 w 63"/>
                  <a:gd name="T35" fmla="*/ 20 h 73"/>
                  <a:gd name="T36" fmla="*/ 0 w 63"/>
                  <a:gd name="T37" fmla="*/ 20 h 73"/>
                  <a:gd name="T38" fmla="*/ 9 w 63"/>
                  <a:gd name="T39" fmla="*/ 31 h 73"/>
                  <a:gd name="T40" fmla="*/ 20 w 63"/>
                  <a:gd name="T41" fmla="*/ 45 h 73"/>
                  <a:gd name="T42" fmla="*/ 31 w 63"/>
                  <a:gd name="T43" fmla="*/ 56 h 73"/>
                  <a:gd name="T44" fmla="*/ 42 w 63"/>
                  <a:gd name="T45" fmla="*/ 65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3" h="73">
                    <a:moveTo>
                      <a:pt x="42" y="65"/>
                    </a:moveTo>
                    <a:lnTo>
                      <a:pt x="58" y="72"/>
                    </a:lnTo>
                    <a:lnTo>
                      <a:pt x="62" y="72"/>
                    </a:lnTo>
                    <a:lnTo>
                      <a:pt x="62" y="67"/>
                    </a:lnTo>
                    <a:lnTo>
                      <a:pt x="58" y="65"/>
                    </a:lnTo>
                    <a:lnTo>
                      <a:pt x="58" y="62"/>
                    </a:lnTo>
                    <a:lnTo>
                      <a:pt x="44" y="56"/>
                    </a:lnTo>
                    <a:lnTo>
                      <a:pt x="37" y="45"/>
                    </a:lnTo>
                    <a:lnTo>
                      <a:pt x="31" y="34"/>
                    </a:lnTo>
                    <a:lnTo>
                      <a:pt x="26" y="20"/>
                    </a:lnTo>
                    <a:lnTo>
                      <a:pt x="9" y="0"/>
                    </a:lnTo>
                    <a:lnTo>
                      <a:pt x="6" y="4"/>
                    </a:lnTo>
                    <a:lnTo>
                      <a:pt x="2" y="9"/>
                    </a:lnTo>
                    <a:lnTo>
                      <a:pt x="0" y="11"/>
                    </a:lnTo>
                    <a:lnTo>
                      <a:pt x="0" y="18"/>
                    </a:lnTo>
                    <a:lnTo>
                      <a:pt x="0" y="20"/>
                    </a:lnTo>
                    <a:lnTo>
                      <a:pt x="9" y="31"/>
                    </a:lnTo>
                    <a:lnTo>
                      <a:pt x="20" y="45"/>
                    </a:lnTo>
                    <a:lnTo>
                      <a:pt x="31" y="56"/>
                    </a:lnTo>
                    <a:lnTo>
                      <a:pt x="42" y="65"/>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grpSp>
      </p:grpSp>
      <p:sp>
        <p:nvSpPr>
          <p:cNvPr id="17436" name="Rectangle 28"/>
          <p:cNvSpPr>
            <a:spLocks noGrp="1" noChangeArrowheads="1"/>
          </p:cNvSpPr>
          <p:nvPr>
            <p:ph type="ctrTitle" sz="quarter"/>
          </p:nvPr>
        </p:nvSpPr>
        <p:spPr>
          <a:xfrm>
            <a:off x="685800" y="2286000"/>
            <a:ext cx="7772400" cy="1143000"/>
          </a:xfrm>
        </p:spPr>
        <p:txBody>
          <a:bodyPr/>
          <a:lstStyle>
            <a:lvl1pPr>
              <a:defRPr/>
            </a:lvl1pPr>
          </a:lstStyle>
          <a:p>
            <a:r>
              <a:rPr lang="en-US"/>
              <a:t>Click to edit Master title style</a:t>
            </a:r>
          </a:p>
        </p:txBody>
      </p:sp>
      <p:sp>
        <p:nvSpPr>
          <p:cNvPr id="17437" name="Rectangle 29"/>
          <p:cNvSpPr>
            <a:spLocks noGrp="1" noChangeArrowheads="1"/>
          </p:cNvSpPr>
          <p:nvPr>
            <p:ph type="subTitle" sz="quarter" idx="1"/>
          </p:nvPr>
        </p:nvSpPr>
        <p:spPr>
          <a:xfrm>
            <a:off x="2057400" y="4114800"/>
            <a:ext cx="6400800" cy="1752600"/>
          </a:xfrm>
        </p:spPr>
        <p:txBody>
          <a:bodyPr/>
          <a:lstStyle>
            <a:lvl1pPr marL="0" indent="0" algn="ctr">
              <a:buFontTx/>
              <a:buNone/>
              <a:defRPr/>
            </a:lvl1pPr>
          </a:lstStyle>
          <a:p>
            <a:r>
              <a:rPr lang="en-US"/>
              <a:t>Click to edit Master subtitle style</a:t>
            </a:r>
          </a:p>
        </p:txBody>
      </p:sp>
      <p:sp>
        <p:nvSpPr>
          <p:cNvPr id="30" name="Rectangle 30"/>
          <p:cNvSpPr>
            <a:spLocks noGrp="1" noChangeArrowheads="1"/>
          </p:cNvSpPr>
          <p:nvPr>
            <p:ph type="dt" sz="quarter" idx="10"/>
          </p:nvPr>
        </p:nvSpPr>
        <p:spPr/>
        <p:txBody>
          <a:bodyPr/>
          <a:lstStyle>
            <a:lvl1pPr>
              <a:defRPr>
                <a:solidFill>
                  <a:srgbClr val="FFFFFF"/>
                </a:solidFill>
              </a:defRPr>
            </a:lvl1pPr>
          </a:lstStyle>
          <a:p>
            <a:pPr>
              <a:defRPr/>
            </a:pPr>
            <a:endParaRPr lang="en-US"/>
          </a:p>
        </p:txBody>
      </p:sp>
      <p:sp>
        <p:nvSpPr>
          <p:cNvPr id="31" name="Rectangle 31"/>
          <p:cNvSpPr>
            <a:spLocks noGrp="1" noChangeArrowheads="1"/>
          </p:cNvSpPr>
          <p:nvPr>
            <p:ph type="ftr" sz="quarter" idx="11"/>
          </p:nvPr>
        </p:nvSpPr>
        <p:spPr/>
        <p:txBody>
          <a:bodyPr/>
          <a:lstStyle>
            <a:lvl1pPr>
              <a:defRPr>
                <a:solidFill>
                  <a:srgbClr val="FFFFFF"/>
                </a:solidFill>
              </a:defRPr>
            </a:lvl1pPr>
          </a:lstStyle>
          <a:p>
            <a:pPr>
              <a:defRPr/>
            </a:pPr>
            <a:endParaRPr lang="en-US"/>
          </a:p>
        </p:txBody>
      </p:sp>
      <p:sp>
        <p:nvSpPr>
          <p:cNvPr id="32" name="Rectangle 32"/>
          <p:cNvSpPr>
            <a:spLocks noGrp="1" noChangeArrowheads="1"/>
          </p:cNvSpPr>
          <p:nvPr>
            <p:ph type="sldNum" sz="quarter" idx="12"/>
          </p:nvPr>
        </p:nvSpPr>
        <p:spPr/>
        <p:txBody>
          <a:bodyPr/>
          <a:lstStyle>
            <a:lvl1pPr>
              <a:defRPr>
                <a:solidFill>
                  <a:srgbClr val="FFFFFF"/>
                </a:solidFill>
              </a:defRPr>
            </a:lvl1pPr>
          </a:lstStyle>
          <a:p>
            <a:pPr>
              <a:defRPr/>
            </a:pPr>
            <a:fld id="{F8523D44-4593-4553-82E3-3B15E14C53D5}" type="slidenum">
              <a:rPr lang="en-US"/>
              <a:pPr>
                <a:defRPr/>
              </a:pPr>
              <a:t>‹#›</a:t>
            </a:fld>
            <a:endParaRPr lang="en-US"/>
          </a:p>
        </p:txBody>
      </p:sp>
    </p:spTree>
    <p:extLst>
      <p:ext uri="{BB962C8B-B14F-4D97-AF65-F5344CB8AC3E}">
        <p14:creationId xmlns:p14="http://schemas.microsoft.com/office/powerpoint/2010/main" val="2667077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13ECB1D3-A352-4455-8B28-6A84417DACD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366923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A0630BD-96A4-4607-B14E-5AB13AAE4D7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287725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71C22A43-091A-4AB3-8B74-14D21D7BE30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973205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8"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9" name="Rectangle 21"/>
          <p:cNvSpPr>
            <a:spLocks noGrp="1" noChangeArrowheads="1"/>
          </p:cNvSpPr>
          <p:nvPr>
            <p:ph type="sldNum" sz="quarter" idx="12"/>
          </p:nvPr>
        </p:nvSpPr>
        <p:spPr>
          <a:ln/>
        </p:spPr>
        <p:txBody>
          <a:bodyPr/>
          <a:lstStyle>
            <a:lvl1pPr>
              <a:defRPr/>
            </a:lvl1pPr>
          </a:lstStyle>
          <a:p>
            <a:pPr>
              <a:defRPr/>
            </a:pPr>
            <a:fld id="{CE15A2D1-4C54-4219-9A0B-A74D34AB8A53}"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417640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4"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5" name="Rectangle 21"/>
          <p:cNvSpPr>
            <a:spLocks noGrp="1" noChangeArrowheads="1"/>
          </p:cNvSpPr>
          <p:nvPr>
            <p:ph type="sldNum" sz="quarter" idx="12"/>
          </p:nvPr>
        </p:nvSpPr>
        <p:spPr>
          <a:ln/>
        </p:spPr>
        <p:txBody>
          <a:bodyPr/>
          <a:lstStyle>
            <a:lvl1pPr>
              <a:defRPr/>
            </a:lvl1pPr>
          </a:lstStyle>
          <a:p>
            <a:pPr>
              <a:defRPr/>
            </a:pPr>
            <a:fld id="{CCAB42E1-2F69-4033-BD34-32AD424402F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641107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3"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4" name="Rectangle 21"/>
          <p:cNvSpPr>
            <a:spLocks noGrp="1" noChangeArrowheads="1"/>
          </p:cNvSpPr>
          <p:nvPr>
            <p:ph type="sldNum" sz="quarter" idx="12"/>
          </p:nvPr>
        </p:nvSpPr>
        <p:spPr>
          <a:ln/>
        </p:spPr>
        <p:txBody>
          <a:bodyPr/>
          <a:lstStyle>
            <a:lvl1pPr>
              <a:defRPr/>
            </a:lvl1pPr>
          </a:lstStyle>
          <a:p>
            <a:pPr>
              <a:defRPr/>
            </a:pPr>
            <a:fld id="{55FDA948-CA68-4A2D-B0BA-25B0458F9F8C}"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967265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6EC052BF-DC22-4514-A430-3DD6ACB41B30}"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61031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982A91CE-5645-4FE8-AF66-F0B098911192}"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57189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72DAE7E-EE76-4987-9935-F6199A4BF4C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001656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FC657835-AFBA-456C-90B4-1C12100ACE7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160775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117475"/>
            <a:ext cx="9142413" cy="6738938"/>
            <a:chOff x="0" y="74"/>
            <a:chExt cx="5759" cy="4245"/>
          </a:xfrm>
        </p:grpSpPr>
        <p:sp>
          <p:nvSpPr>
            <p:cNvPr id="5" name="Rectangle 3"/>
            <p:cNvSpPr>
              <a:spLocks noChangeArrowheads="1"/>
            </p:cNvSpPr>
            <p:nvPr/>
          </p:nvSpPr>
          <p:spPr bwMode="invGray">
            <a:xfrm>
              <a:off x="432" y="4113"/>
              <a:ext cx="2208" cy="20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6" name="Rectangle 4"/>
            <p:cNvSpPr>
              <a:spLocks noChangeArrowheads="1"/>
            </p:cNvSpPr>
            <p:nvPr/>
          </p:nvSpPr>
          <p:spPr bwMode="invGray">
            <a:xfrm>
              <a:off x="432" y="1536"/>
              <a:ext cx="5327"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7" name="Oval 5"/>
            <p:cNvSpPr>
              <a:spLocks noChangeArrowheads="1"/>
            </p:cNvSpPr>
            <p:nvPr/>
          </p:nvSpPr>
          <p:spPr bwMode="invGray">
            <a:xfrm>
              <a:off x="555"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8" name="Oval 6"/>
            <p:cNvSpPr>
              <a:spLocks noChangeArrowheads="1"/>
            </p:cNvSpPr>
            <p:nvPr/>
          </p:nvSpPr>
          <p:spPr bwMode="invGray">
            <a:xfrm>
              <a:off x="555"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9" name="Oval 7"/>
            <p:cNvSpPr>
              <a:spLocks noChangeArrowheads="1"/>
            </p:cNvSpPr>
            <p:nvPr/>
          </p:nvSpPr>
          <p:spPr bwMode="invGray">
            <a:xfrm>
              <a:off x="555"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 name="Oval 8"/>
            <p:cNvSpPr>
              <a:spLocks noChangeArrowheads="1"/>
            </p:cNvSpPr>
            <p:nvPr/>
          </p:nvSpPr>
          <p:spPr bwMode="invGray">
            <a:xfrm>
              <a:off x="555" y="65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1" name="Oval 9"/>
            <p:cNvSpPr>
              <a:spLocks noChangeArrowheads="1"/>
            </p:cNvSpPr>
            <p:nvPr/>
          </p:nvSpPr>
          <p:spPr bwMode="invGray">
            <a:xfrm>
              <a:off x="555" y="79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2" name="Oval 10"/>
            <p:cNvSpPr>
              <a:spLocks noChangeArrowheads="1"/>
            </p:cNvSpPr>
            <p:nvPr/>
          </p:nvSpPr>
          <p:spPr bwMode="invGray">
            <a:xfrm>
              <a:off x="555" y="93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3" name="Oval 11"/>
            <p:cNvSpPr>
              <a:spLocks noChangeArrowheads="1"/>
            </p:cNvSpPr>
            <p:nvPr/>
          </p:nvSpPr>
          <p:spPr bwMode="invGray">
            <a:xfrm>
              <a:off x="555" y="108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4" name="Oval 12"/>
            <p:cNvSpPr>
              <a:spLocks noChangeArrowheads="1"/>
            </p:cNvSpPr>
            <p:nvPr/>
          </p:nvSpPr>
          <p:spPr bwMode="invGray">
            <a:xfrm>
              <a:off x="555" y="122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5" name="Oval 13"/>
            <p:cNvSpPr>
              <a:spLocks noChangeArrowheads="1"/>
            </p:cNvSpPr>
            <p:nvPr/>
          </p:nvSpPr>
          <p:spPr bwMode="invGray">
            <a:xfrm>
              <a:off x="555" y="137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6" name="Group 14"/>
            <p:cNvGrpSpPr>
              <a:grpSpLocks/>
            </p:cNvGrpSpPr>
            <p:nvPr/>
          </p:nvGrpSpPr>
          <p:grpSpPr bwMode="auto">
            <a:xfrm>
              <a:off x="2859" y="4202"/>
              <a:ext cx="2729" cy="41"/>
              <a:chOff x="2859" y="4202"/>
              <a:chExt cx="2729" cy="41"/>
            </a:xfrm>
          </p:grpSpPr>
          <p:sp>
            <p:nvSpPr>
              <p:cNvPr id="22" name="Oval 15"/>
              <p:cNvSpPr>
                <a:spLocks noChangeArrowheads="1"/>
              </p:cNvSpPr>
              <p:nvPr/>
            </p:nvSpPr>
            <p:spPr bwMode="invGray">
              <a:xfrm>
                <a:off x="285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3" name="Oval 16"/>
              <p:cNvSpPr>
                <a:spLocks noChangeArrowheads="1"/>
              </p:cNvSpPr>
              <p:nvPr/>
            </p:nvSpPr>
            <p:spPr bwMode="invGray">
              <a:xfrm>
                <a:off x="324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4" name="Oval 17"/>
              <p:cNvSpPr>
                <a:spLocks noChangeArrowheads="1"/>
              </p:cNvSpPr>
              <p:nvPr/>
            </p:nvSpPr>
            <p:spPr bwMode="invGray">
              <a:xfrm>
                <a:off x="362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5" name="Oval 18"/>
              <p:cNvSpPr>
                <a:spLocks noChangeArrowheads="1"/>
              </p:cNvSpPr>
              <p:nvPr/>
            </p:nvSpPr>
            <p:spPr bwMode="invGray">
              <a:xfrm>
                <a:off x="4011"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6" name="Oval 19"/>
              <p:cNvSpPr>
                <a:spLocks noChangeArrowheads="1"/>
              </p:cNvSpPr>
              <p:nvPr/>
            </p:nvSpPr>
            <p:spPr bwMode="invGray">
              <a:xfrm>
                <a:off x="4395"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7" name="Oval 20"/>
              <p:cNvSpPr>
                <a:spLocks noChangeArrowheads="1"/>
              </p:cNvSpPr>
              <p:nvPr/>
            </p:nvSpPr>
            <p:spPr bwMode="invGray">
              <a:xfrm>
                <a:off x="477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8" name="Oval 21"/>
              <p:cNvSpPr>
                <a:spLocks noChangeArrowheads="1"/>
              </p:cNvSpPr>
              <p:nvPr/>
            </p:nvSpPr>
            <p:spPr bwMode="invGray">
              <a:xfrm>
                <a:off x="516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9" name="Oval 22"/>
              <p:cNvSpPr>
                <a:spLocks noChangeArrowheads="1"/>
              </p:cNvSpPr>
              <p:nvPr/>
            </p:nvSpPr>
            <p:spPr bwMode="invGray">
              <a:xfrm>
                <a:off x="554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7" name="Oval 23"/>
            <p:cNvSpPr>
              <a:spLocks noChangeArrowheads="1"/>
            </p:cNvSpPr>
            <p:nvPr/>
          </p:nvSpPr>
          <p:spPr bwMode="invGray">
            <a:xfrm>
              <a:off x="555" y="50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8" name="Group 24"/>
            <p:cNvGrpSpPr>
              <a:grpSpLocks/>
            </p:cNvGrpSpPr>
            <p:nvPr/>
          </p:nvGrpSpPr>
          <p:grpSpPr bwMode="auto">
            <a:xfrm>
              <a:off x="0" y="2327"/>
              <a:ext cx="1203" cy="1203"/>
              <a:chOff x="0" y="2327"/>
              <a:chExt cx="1203" cy="1203"/>
            </a:xfrm>
          </p:grpSpPr>
          <p:sp>
            <p:nvSpPr>
              <p:cNvPr id="19" name="Freeform 25"/>
              <p:cNvSpPr>
                <a:spLocks/>
              </p:cNvSpPr>
              <p:nvPr/>
            </p:nvSpPr>
            <p:spPr bwMode="invGray">
              <a:xfrm>
                <a:off x="0" y="2394"/>
                <a:ext cx="443" cy="1033"/>
              </a:xfrm>
              <a:custGeom>
                <a:avLst/>
                <a:gdLst>
                  <a:gd name="T0" fmla="*/ 290 w 443"/>
                  <a:gd name="T1" fmla="*/ 1016 h 1033"/>
                  <a:gd name="T2" fmla="*/ 316 w 443"/>
                  <a:gd name="T3" fmla="*/ 974 h 1033"/>
                  <a:gd name="T4" fmla="*/ 354 w 443"/>
                  <a:gd name="T5" fmla="*/ 920 h 1033"/>
                  <a:gd name="T6" fmla="*/ 384 w 443"/>
                  <a:gd name="T7" fmla="*/ 884 h 1033"/>
                  <a:gd name="T8" fmla="*/ 381 w 443"/>
                  <a:gd name="T9" fmla="*/ 832 h 1033"/>
                  <a:gd name="T10" fmla="*/ 370 w 443"/>
                  <a:gd name="T11" fmla="*/ 794 h 1033"/>
                  <a:gd name="T12" fmla="*/ 361 w 443"/>
                  <a:gd name="T13" fmla="*/ 760 h 1033"/>
                  <a:gd name="T14" fmla="*/ 361 w 443"/>
                  <a:gd name="T15" fmla="*/ 734 h 1033"/>
                  <a:gd name="T16" fmla="*/ 359 w 443"/>
                  <a:gd name="T17" fmla="*/ 707 h 1033"/>
                  <a:gd name="T18" fmla="*/ 373 w 443"/>
                  <a:gd name="T19" fmla="*/ 691 h 1033"/>
                  <a:gd name="T20" fmla="*/ 391 w 443"/>
                  <a:gd name="T21" fmla="*/ 686 h 1033"/>
                  <a:gd name="T22" fmla="*/ 395 w 443"/>
                  <a:gd name="T23" fmla="*/ 680 h 1033"/>
                  <a:gd name="T24" fmla="*/ 390 w 443"/>
                  <a:gd name="T25" fmla="*/ 671 h 1033"/>
                  <a:gd name="T26" fmla="*/ 386 w 443"/>
                  <a:gd name="T27" fmla="*/ 660 h 1033"/>
                  <a:gd name="T28" fmla="*/ 437 w 443"/>
                  <a:gd name="T29" fmla="*/ 635 h 1033"/>
                  <a:gd name="T30" fmla="*/ 442 w 443"/>
                  <a:gd name="T31" fmla="*/ 619 h 1033"/>
                  <a:gd name="T32" fmla="*/ 438 w 443"/>
                  <a:gd name="T33" fmla="*/ 604 h 1033"/>
                  <a:gd name="T34" fmla="*/ 400 w 443"/>
                  <a:gd name="T35" fmla="*/ 543 h 1033"/>
                  <a:gd name="T36" fmla="*/ 384 w 443"/>
                  <a:gd name="T37" fmla="*/ 474 h 1033"/>
                  <a:gd name="T38" fmla="*/ 354 w 443"/>
                  <a:gd name="T39" fmla="*/ 455 h 1033"/>
                  <a:gd name="T40" fmla="*/ 326 w 443"/>
                  <a:gd name="T41" fmla="*/ 433 h 1033"/>
                  <a:gd name="T42" fmla="*/ 312 w 443"/>
                  <a:gd name="T43" fmla="*/ 411 h 1033"/>
                  <a:gd name="T44" fmla="*/ 307 w 443"/>
                  <a:gd name="T45" fmla="*/ 391 h 1033"/>
                  <a:gd name="T46" fmla="*/ 290 w 443"/>
                  <a:gd name="T47" fmla="*/ 339 h 1033"/>
                  <a:gd name="T48" fmla="*/ 308 w 443"/>
                  <a:gd name="T49" fmla="*/ 289 h 1033"/>
                  <a:gd name="T50" fmla="*/ 298 w 443"/>
                  <a:gd name="T51" fmla="*/ 278 h 1033"/>
                  <a:gd name="T52" fmla="*/ 280 w 443"/>
                  <a:gd name="T53" fmla="*/ 307 h 1033"/>
                  <a:gd name="T54" fmla="*/ 269 w 443"/>
                  <a:gd name="T55" fmla="*/ 283 h 1033"/>
                  <a:gd name="T56" fmla="*/ 272 w 443"/>
                  <a:gd name="T57" fmla="*/ 224 h 1033"/>
                  <a:gd name="T58" fmla="*/ 280 w 443"/>
                  <a:gd name="T59" fmla="*/ 177 h 1033"/>
                  <a:gd name="T60" fmla="*/ 280 w 443"/>
                  <a:gd name="T61" fmla="*/ 146 h 1033"/>
                  <a:gd name="T62" fmla="*/ 281 w 443"/>
                  <a:gd name="T63" fmla="*/ 123 h 1033"/>
                  <a:gd name="T64" fmla="*/ 290 w 443"/>
                  <a:gd name="T65" fmla="*/ 104 h 1033"/>
                  <a:gd name="T66" fmla="*/ 296 w 443"/>
                  <a:gd name="T67" fmla="*/ 97 h 1033"/>
                  <a:gd name="T68" fmla="*/ 298 w 443"/>
                  <a:gd name="T69" fmla="*/ 94 h 1033"/>
                  <a:gd name="T70" fmla="*/ 301 w 443"/>
                  <a:gd name="T71" fmla="*/ 92 h 1033"/>
                  <a:gd name="T72" fmla="*/ 307 w 443"/>
                  <a:gd name="T73" fmla="*/ 83 h 1033"/>
                  <a:gd name="T74" fmla="*/ 317 w 443"/>
                  <a:gd name="T75" fmla="*/ 79 h 1033"/>
                  <a:gd name="T76" fmla="*/ 328 w 443"/>
                  <a:gd name="T77" fmla="*/ 77 h 1033"/>
                  <a:gd name="T78" fmla="*/ 337 w 443"/>
                  <a:gd name="T79" fmla="*/ 74 h 1033"/>
                  <a:gd name="T80" fmla="*/ 345 w 443"/>
                  <a:gd name="T81" fmla="*/ 67 h 1033"/>
                  <a:gd name="T82" fmla="*/ 337 w 443"/>
                  <a:gd name="T83" fmla="*/ 50 h 1033"/>
                  <a:gd name="T84" fmla="*/ 337 w 443"/>
                  <a:gd name="T85" fmla="*/ 47 h 1033"/>
                  <a:gd name="T86" fmla="*/ 337 w 443"/>
                  <a:gd name="T87" fmla="*/ 43 h 1033"/>
                  <a:gd name="T88" fmla="*/ 337 w 443"/>
                  <a:gd name="T89" fmla="*/ 41 h 1033"/>
                  <a:gd name="T90" fmla="*/ 334 w 443"/>
                  <a:gd name="T91" fmla="*/ 38 h 1033"/>
                  <a:gd name="T92" fmla="*/ 321 w 443"/>
                  <a:gd name="T93" fmla="*/ 21 h 1033"/>
                  <a:gd name="T94" fmla="*/ 316 w 443"/>
                  <a:gd name="T95" fmla="*/ 0 h 1033"/>
                  <a:gd name="T96" fmla="*/ 188 w 443"/>
                  <a:gd name="T97" fmla="*/ 94 h 1033"/>
                  <a:gd name="T98" fmla="*/ 88 w 443"/>
                  <a:gd name="T99" fmla="*/ 218 h 1033"/>
                  <a:gd name="T100" fmla="*/ 21 w 443"/>
                  <a:gd name="T101" fmla="*/ 366 h 1033"/>
                  <a:gd name="T102" fmla="*/ 0 w 443"/>
                  <a:gd name="T103" fmla="*/ 530 h 1033"/>
                  <a:gd name="T104" fmla="*/ 20 w 443"/>
                  <a:gd name="T105" fmla="*/ 680 h 1033"/>
                  <a:gd name="T106" fmla="*/ 74 w 443"/>
                  <a:gd name="T107" fmla="*/ 819 h 1033"/>
                  <a:gd name="T108" fmla="*/ 160 w 443"/>
                  <a:gd name="T109" fmla="*/ 938 h 1033"/>
                  <a:gd name="T110" fmla="*/ 272 w 443"/>
                  <a:gd name="T111" fmla="*/ 1032 h 10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43" h="1033">
                    <a:moveTo>
                      <a:pt x="272" y="1032"/>
                    </a:moveTo>
                    <a:lnTo>
                      <a:pt x="290" y="1016"/>
                    </a:lnTo>
                    <a:lnTo>
                      <a:pt x="301" y="992"/>
                    </a:lnTo>
                    <a:lnTo>
                      <a:pt x="316" y="974"/>
                    </a:lnTo>
                    <a:lnTo>
                      <a:pt x="328" y="955"/>
                    </a:lnTo>
                    <a:lnTo>
                      <a:pt x="354" y="920"/>
                    </a:lnTo>
                    <a:lnTo>
                      <a:pt x="373" y="904"/>
                    </a:lnTo>
                    <a:lnTo>
                      <a:pt x="384" y="884"/>
                    </a:lnTo>
                    <a:lnTo>
                      <a:pt x="390" y="848"/>
                    </a:lnTo>
                    <a:lnTo>
                      <a:pt x="381" y="832"/>
                    </a:lnTo>
                    <a:lnTo>
                      <a:pt x="375" y="812"/>
                    </a:lnTo>
                    <a:lnTo>
                      <a:pt x="370" y="794"/>
                    </a:lnTo>
                    <a:lnTo>
                      <a:pt x="361" y="774"/>
                    </a:lnTo>
                    <a:lnTo>
                      <a:pt x="361" y="760"/>
                    </a:lnTo>
                    <a:lnTo>
                      <a:pt x="361" y="747"/>
                    </a:lnTo>
                    <a:lnTo>
                      <a:pt x="361" y="734"/>
                    </a:lnTo>
                    <a:lnTo>
                      <a:pt x="359" y="722"/>
                    </a:lnTo>
                    <a:lnTo>
                      <a:pt x="359" y="707"/>
                    </a:lnTo>
                    <a:lnTo>
                      <a:pt x="364" y="698"/>
                    </a:lnTo>
                    <a:lnTo>
                      <a:pt x="373" y="691"/>
                    </a:lnTo>
                    <a:lnTo>
                      <a:pt x="390" y="686"/>
                    </a:lnTo>
                    <a:lnTo>
                      <a:pt x="391" y="686"/>
                    </a:lnTo>
                    <a:lnTo>
                      <a:pt x="395" y="682"/>
                    </a:lnTo>
                    <a:lnTo>
                      <a:pt x="395" y="680"/>
                    </a:lnTo>
                    <a:lnTo>
                      <a:pt x="395" y="677"/>
                    </a:lnTo>
                    <a:lnTo>
                      <a:pt x="390" y="671"/>
                    </a:lnTo>
                    <a:lnTo>
                      <a:pt x="386" y="666"/>
                    </a:lnTo>
                    <a:lnTo>
                      <a:pt x="386" y="660"/>
                    </a:lnTo>
                    <a:lnTo>
                      <a:pt x="395" y="655"/>
                    </a:lnTo>
                    <a:lnTo>
                      <a:pt x="437" y="635"/>
                    </a:lnTo>
                    <a:lnTo>
                      <a:pt x="442" y="626"/>
                    </a:lnTo>
                    <a:lnTo>
                      <a:pt x="442" y="619"/>
                    </a:lnTo>
                    <a:lnTo>
                      <a:pt x="442" y="613"/>
                    </a:lnTo>
                    <a:lnTo>
                      <a:pt x="438" y="604"/>
                    </a:lnTo>
                    <a:lnTo>
                      <a:pt x="417" y="577"/>
                    </a:lnTo>
                    <a:lnTo>
                      <a:pt x="400" y="543"/>
                    </a:lnTo>
                    <a:lnTo>
                      <a:pt x="391" y="511"/>
                    </a:lnTo>
                    <a:lnTo>
                      <a:pt x="384" y="474"/>
                    </a:lnTo>
                    <a:lnTo>
                      <a:pt x="368" y="465"/>
                    </a:lnTo>
                    <a:lnTo>
                      <a:pt x="354" y="455"/>
                    </a:lnTo>
                    <a:lnTo>
                      <a:pt x="339" y="444"/>
                    </a:lnTo>
                    <a:lnTo>
                      <a:pt x="326" y="433"/>
                    </a:lnTo>
                    <a:lnTo>
                      <a:pt x="317" y="422"/>
                    </a:lnTo>
                    <a:lnTo>
                      <a:pt x="312" y="411"/>
                    </a:lnTo>
                    <a:lnTo>
                      <a:pt x="308" y="402"/>
                    </a:lnTo>
                    <a:lnTo>
                      <a:pt x="307" y="391"/>
                    </a:lnTo>
                    <a:lnTo>
                      <a:pt x="285" y="363"/>
                    </a:lnTo>
                    <a:lnTo>
                      <a:pt x="290" y="339"/>
                    </a:lnTo>
                    <a:lnTo>
                      <a:pt x="301" y="314"/>
                    </a:lnTo>
                    <a:lnTo>
                      <a:pt x="308" y="289"/>
                    </a:lnTo>
                    <a:lnTo>
                      <a:pt x="308" y="267"/>
                    </a:lnTo>
                    <a:lnTo>
                      <a:pt x="298" y="278"/>
                    </a:lnTo>
                    <a:lnTo>
                      <a:pt x="287" y="294"/>
                    </a:lnTo>
                    <a:lnTo>
                      <a:pt x="280" y="307"/>
                    </a:lnTo>
                    <a:lnTo>
                      <a:pt x="272" y="314"/>
                    </a:lnTo>
                    <a:lnTo>
                      <a:pt x="269" y="283"/>
                    </a:lnTo>
                    <a:lnTo>
                      <a:pt x="271" y="254"/>
                    </a:lnTo>
                    <a:lnTo>
                      <a:pt x="272" y="224"/>
                    </a:lnTo>
                    <a:lnTo>
                      <a:pt x="272" y="195"/>
                    </a:lnTo>
                    <a:lnTo>
                      <a:pt x="280" y="177"/>
                    </a:lnTo>
                    <a:lnTo>
                      <a:pt x="280" y="164"/>
                    </a:lnTo>
                    <a:lnTo>
                      <a:pt x="280" y="146"/>
                    </a:lnTo>
                    <a:lnTo>
                      <a:pt x="281" y="133"/>
                    </a:lnTo>
                    <a:lnTo>
                      <a:pt x="281" y="123"/>
                    </a:lnTo>
                    <a:lnTo>
                      <a:pt x="285" y="113"/>
                    </a:lnTo>
                    <a:lnTo>
                      <a:pt x="290" y="104"/>
                    </a:lnTo>
                    <a:lnTo>
                      <a:pt x="296" y="97"/>
                    </a:lnTo>
                    <a:lnTo>
                      <a:pt x="298" y="94"/>
                    </a:lnTo>
                    <a:lnTo>
                      <a:pt x="301" y="92"/>
                    </a:lnTo>
                    <a:lnTo>
                      <a:pt x="303" y="86"/>
                    </a:lnTo>
                    <a:lnTo>
                      <a:pt x="307" y="83"/>
                    </a:lnTo>
                    <a:lnTo>
                      <a:pt x="308" y="83"/>
                    </a:lnTo>
                    <a:lnTo>
                      <a:pt x="317" y="79"/>
                    </a:lnTo>
                    <a:lnTo>
                      <a:pt x="323" y="77"/>
                    </a:lnTo>
                    <a:lnTo>
                      <a:pt x="328" y="77"/>
                    </a:lnTo>
                    <a:lnTo>
                      <a:pt x="334" y="74"/>
                    </a:lnTo>
                    <a:lnTo>
                      <a:pt x="337" y="74"/>
                    </a:lnTo>
                    <a:lnTo>
                      <a:pt x="339" y="72"/>
                    </a:lnTo>
                    <a:lnTo>
                      <a:pt x="345" y="67"/>
                    </a:lnTo>
                    <a:lnTo>
                      <a:pt x="345" y="63"/>
                    </a:lnTo>
                    <a:lnTo>
                      <a:pt x="337" y="50"/>
                    </a:lnTo>
                    <a:lnTo>
                      <a:pt x="337" y="47"/>
                    </a:lnTo>
                    <a:lnTo>
                      <a:pt x="337" y="43"/>
                    </a:lnTo>
                    <a:lnTo>
                      <a:pt x="337" y="41"/>
                    </a:lnTo>
                    <a:lnTo>
                      <a:pt x="334" y="41"/>
                    </a:lnTo>
                    <a:lnTo>
                      <a:pt x="334" y="38"/>
                    </a:lnTo>
                    <a:lnTo>
                      <a:pt x="328" y="30"/>
                    </a:lnTo>
                    <a:lnTo>
                      <a:pt x="321" y="21"/>
                    </a:lnTo>
                    <a:lnTo>
                      <a:pt x="317" y="11"/>
                    </a:lnTo>
                    <a:lnTo>
                      <a:pt x="316" y="0"/>
                    </a:lnTo>
                    <a:lnTo>
                      <a:pt x="249" y="41"/>
                    </a:lnTo>
                    <a:lnTo>
                      <a:pt x="188" y="94"/>
                    </a:lnTo>
                    <a:lnTo>
                      <a:pt x="133" y="151"/>
                    </a:lnTo>
                    <a:lnTo>
                      <a:pt x="88" y="218"/>
                    </a:lnTo>
                    <a:lnTo>
                      <a:pt x="50" y="289"/>
                    </a:lnTo>
                    <a:lnTo>
                      <a:pt x="21" y="366"/>
                    </a:lnTo>
                    <a:lnTo>
                      <a:pt x="5" y="446"/>
                    </a:lnTo>
                    <a:lnTo>
                      <a:pt x="0" y="530"/>
                    </a:lnTo>
                    <a:lnTo>
                      <a:pt x="5" y="608"/>
                    </a:lnTo>
                    <a:lnTo>
                      <a:pt x="20" y="680"/>
                    </a:lnTo>
                    <a:lnTo>
                      <a:pt x="45" y="751"/>
                    </a:lnTo>
                    <a:lnTo>
                      <a:pt x="74" y="819"/>
                    </a:lnTo>
                    <a:lnTo>
                      <a:pt x="114" y="879"/>
                    </a:lnTo>
                    <a:lnTo>
                      <a:pt x="160" y="938"/>
                    </a:lnTo>
                    <a:lnTo>
                      <a:pt x="215" y="987"/>
                    </a:lnTo>
                    <a:lnTo>
                      <a:pt x="272" y="1032"/>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0" name="Freeform 26"/>
              <p:cNvSpPr>
                <a:spLocks/>
              </p:cNvSpPr>
              <p:nvPr/>
            </p:nvSpPr>
            <p:spPr bwMode="invGray">
              <a:xfrm>
                <a:off x="379" y="2327"/>
                <a:ext cx="824" cy="1203"/>
              </a:xfrm>
              <a:custGeom>
                <a:avLst/>
                <a:gdLst>
                  <a:gd name="T0" fmla="*/ 796 w 824"/>
                  <a:gd name="T1" fmla="*/ 688 h 1203"/>
                  <a:gd name="T2" fmla="*/ 756 w 824"/>
                  <a:gd name="T3" fmla="*/ 641 h 1203"/>
                  <a:gd name="T4" fmla="*/ 812 w 824"/>
                  <a:gd name="T5" fmla="*/ 615 h 1203"/>
                  <a:gd name="T6" fmla="*/ 814 w 824"/>
                  <a:gd name="T7" fmla="*/ 502 h 1203"/>
                  <a:gd name="T8" fmla="*/ 705 w 824"/>
                  <a:gd name="T9" fmla="*/ 247 h 1203"/>
                  <a:gd name="T10" fmla="*/ 651 w 824"/>
                  <a:gd name="T11" fmla="*/ 262 h 1203"/>
                  <a:gd name="T12" fmla="*/ 574 w 824"/>
                  <a:gd name="T13" fmla="*/ 289 h 1203"/>
                  <a:gd name="T14" fmla="*/ 536 w 824"/>
                  <a:gd name="T15" fmla="*/ 258 h 1203"/>
                  <a:gd name="T16" fmla="*/ 563 w 824"/>
                  <a:gd name="T17" fmla="*/ 170 h 1203"/>
                  <a:gd name="T18" fmla="*/ 532 w 824"/>
                  <a:gd name="T19" fmla="*/ 81 h 1203"/>
                  <a:gd name="T20" fmla="*/ 455 w 824"/>
                  <a:gd name="T21" fmla="*/ 56 h 1203"/>
                  <a:gd name="T22" fmla="*/ 484 w 824"/>
                  <a:gd name="T23" fmla="*/ 150 h 1203"/>
                  <a:gd name="T24" fmla="*/ 465 w 824"/>
                  <a:gd name="T25" fmla="*/ 190 h 1203"/>
                  <a:gd name="T26" fmla="*/ 442 w 824"/>
                  <a:gd name="T27" fmla="*/ 200 h 1203"/>
                  <a:gd name="T28" fmla="*/ 419 w 824"/>
                  <a:gd name="T29" fmla="*/ 164 h 1203"/>
                  <a:gd name="T30" fmla="*/ 381 w 824"/>
                  <a:gd name="T31" fmla="*/ 108 h 1203"/>
                  <a:gd name="T32" fmla="*/ 406 w 824"/>
                  <a:gd name="T33" fmla="*/ 108 h 1203"/>
                  <a:gd name="T34" fmla="*/ 424 w 824"/>
                  <a:gd name="T35" fmla="*/ 72 h 1203"/>
                  <a:gd name="T36" fmla="*/ 325 w 824"/>
                  <a:gd name="T37" fmla="*/ 0 h 1203"/>
                  <a:gd name="T38" fmla="*/ 281 w 824"/>
                  <a:gd name="T39" fmla="*/ 27 h 1203"/>
                  <a:gd name="T40" fmla="*/ 240 w 824"/>
                  <a:gd name="T41" fmla="*/ 72 h 1203"/>
                  <a:gd name="T42" fmla="*/ 209 w 824"/>
                  <a:gd name="T43" fmla="*/ 114 h 1203"/>
                  <a:gd name="T44" fmla="*/ 209 w 824"/>
                  <a:gd name="T45" fmla="*/ 150 h 1203"/>
                  <a:gd name="T46" fmla="*/ 240 w 824"/>
                  <a:gd name="T47" fmla="*/ 164 h 1203"/>
                  <a:gd name="T48" fmla="*/ 209 w 824"/>
                  <a:gd name="T49" fmla="*/ 222 h 1203"/>
                  <a:gd name="T50" fmla="*/ 213 w 824"/>
                  <a:gd name="T51" fmla="*/ 242 h 1203"/>
                  <a:gd name="T52" fmla="*/ 267 w 824"/>
                  <a:gd name="T53" fmla="*/ 222 h 1203"/>
                  <a:gd name="T54" fmla="*/ 303 w 824"/>
                  <a:gd name="T55" fmla="*/ 170 h 1203"/>
                  <a:gd name="T56" fmla="*/ 354 w 824"/>
                  <a:gd name="T57" fmla="*/ 231 h 1203"/>
                  <a:gd name="T58" fmla="*/ 372 w 824"/>
                  <a:gd name="T59" fmla="*/ 291 h 1203"/>
                  <a:gd name="T60" fmla="*/ 348 w 824"/>
                  <a:gd name="T61" fmla="*/ 294 h 1203"/>
                  <a:gd name="T62" fmla="*/ 298 w 824"/>
                  <a:gd name="T63" fmla="*/ 309 h 1203"/>
                  <a:gd name="T64" fmla="*/ 323 w 824"/>
                  <a:gd name="T65" fmla="*/ 330 h 1203"/>
                  <a:gd name="T66" fmla="*/ 260 w 824"/>
                  <a:gd name="T67" fmla="*/ 339 h 1203"/>
                  <a:gd name="T68" fmla="*/ 189 w 824"/>
                  <a:gd name="T69" fmla="*/ 411 h 1203"/>
                  <a:gd name="T70" fmla="*/ 184 w 824"/>
                  <a:gd name="T71" fmla="*/ 469 h 1203"/>
                  <a:gd name="T72" fmla="*/ 148 w 824"/>
                  <a:gd name="T73" fmla="*/ 435 h 1203"/>
                  <a:gd name="T74" fmla="*/ 83 w 824"/>
                  <a:gd name="T75" fmla="*/ 402 h 1203"/>
                  <a:gd name="T76" fmla="*/ 0 w 824"/>
                  <a:gd name="T77" fmla="*/ 455 h 1203"/>
                  <a:gd name="T78" fmla="*/ 54 w 824"/>
                  <a:gd name="T79" fmla="*/ 496 h 1203"/>
                  <a:gd name="T80" fmla="*/ 74 w 824"/>
                  <a:gd name="T81" fmla="*/ 485 h 1203"/>
                  <a:gd name="T82" fmla="*/ 54 w 824"/>
                  <a:gd name="T83" fmla="*/ 608 h 1203"/>
                  <a:gd name="T84" fmla="*/ 132 w 824"/>
                  <a:gd name="T85" fmla="*/ 641 h 1203"/>
                  <a:gd name="T86" fmla="*/ 195 w 824"/>
                  <a:gd name="T87" fmla="*/ 661 h 1203"/>
                  <a:gd name="T88" fmla="*/ 249 w 824"/>
                  <a:gd name="T89" fmla="*/ 744 h 1203"/>
                  <a:gd name="T90" fmla="*/ 334 w 824"/>
                  <a:gd name="T91" fmla="*/ 886 h 1203"/>
                  <a:gd name="T92" fmla="*/ 391 w 824"/>
                  <a:gd name="T93" fmla="*/ 1007 h 1203"/>
                  <a:gd name="T94" fmla="*/ 292 w 824"/>
                  <a:gd name="T95" fmla="*/ 1052 h 1203"/>
                  <a:gd name="T96" fmla="*/ 182 w 824"/>
                  <a:gd name="T97" fmla="*/ 1105 h 1203"/>
                  <a:gd name="T98" fmla="*/ 68 w 824"/>
                  <a:gd name="T99" fmla="*/ 1180 h 1203"/>
                  <a:gd name="T100" fmla="*/ 200 w 824"/>
                  <a:gd name="T101" fmla="*/ 1202 h 1203"/>
                  <a:gd name="T102" fmla="*/ 417 w 824"/>
                  <a:gd name="T103" fmla="*/ 1168 h 1203"/>
                  <a:gd name="T104" fmla="*/ 613 w 824"/>
                  <a:gd name="T105" fmla="*/ 1052 h 1203"/>
                  <a:gd name="T106" fmla="*/ 610 w 824"/>
                  <a:gd name="T107" fmla="*/ 929 h 1203"/>
                  <a:gd name="T108" fmla="*/ 543 w 824"/>
                  <a:gd name="T109" fmla="*/ 888 h 1203"/>
                  <a:gd name="T110" fmla="*/ 567 w 824"/>
                  <a:gd name="T111" fmla="*/ 791 h 1203"/>
                  <a:gd name="T112" fmla="*/ 655 w 824"/>
                  <a:gd name="T113" fmla="*/ 738 h 1203"/>
                  <a:gd name="T114" fmla="*/ 725 w 824"/>
                  <a:gd name="T115" fmla="*/ 713 h 1203"/>
                  <a:gd name="T116" fmla="*/ 792 w 824"/>
                  <a:gd name="T117" fmla="*/ 729 h 120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24" h="1203">
                    <a:moveTo>
                      <a:pt x="803" y="736"/>
                    </a:moveTo>
                    <a:lnTo>
                      <a:pt x="807" y="724"/>
                    </a:lnTo>
                    <a:lnTo>
                      <a:pt x="808" y="713"/>
                    </a:lnTo>
                    <a:lnTo>
                      <a:pt x="812" y="702"/>
                    </a:lnTo>
                    <a:lnTo>
                      <a:pt x="814" y="691"/>
                    </a:lnTo>
                    <a:lnTo>
                      <a:pt x="803" y="691"/>
                    </a:lnTo>
                    <a:lnTo>
                      <a:pt x="796" y="688"/>
                    </a:lnTo>
                    <a:lnTo>
                      <a:pt x="783" y="686"/>
                    </a:lnTo>
                    <a:lnTo>
                      <a:pt x="776" y="680"/>
                    </a:lnTo>
                    <a:lnTo>
                      <a:pt x="770" y="675"/>
                    </a:lnTo>
                    <a:lnTo>
                      <a:pt x="767" y="666"/>
                    </a:lnTo>
                    <a:lnTo>
                      <a:pt x="761" y="661"/>
                    </a:lnTo>
                    <a:lnTo>
                      <a:pt x="760" y="655"/>
                    </a:lnTo>
                    <a:lnTo>
                      <a:pt x="756" y="641"/>
                    </a:lnTo>
                    <a:lnTo>
                      <a:pt x="756" y="624"/>
                    </a:lnTo>
                    <a:lnTo>
                      <a:pt x="760" y="610"/>
                    </a:lnTo>
                    <a:lnTo>
                      <a:pt x="767" y="599"/>
                    </a:lnTo>
                    <a:lnTo>
                      <a:pt x="781" y="597"/>
                    </a:lnTo>
                    <a:lnTo>
                      <a:pt x="792" y="599"/>
                    </a:lnTo>
                    <a:lnTo>
                      <a:pt x="803" y="608"/>
                    </a:lnTo>
                    <a:lnTo>
                      <a:pt x="812" y="615"/>
                    </a:lnTo>
                    <a:lnTo>
                      <a:pt x="819" y="628"/>
                    </a:lnTo>
                    <a:lnTo>
                      <a:pt x="823" y="619"/>
                    </a:lnTo>
                    <a:lnTo>
                      <a:pt x="823" y="610"/>
                    </a:lnTo>
                    <a:lnTo>
                      <a:pt x="823" y="605"/>
                    </a:lnTo>
                    <a:lnTo>
                      <a:pt x="823" y="597"/>
                    </a:lnTo>
                    <a:lnTo>
                      <a:pt x="819" y="549"/>
                    </a:lnTo>
                    <a:lnTo>
                      <a:pt x="814" y="502"/>
                    </a:lnTo>
                    <a:lnTo>
                      <a:pt x="807" y="455"/>
                    </a:lnTo>
                    <a:lnTo>
                      <a:pt x="792" y="411"/>
                    </a:lnTo>
                    <a:lnTo>
                      <a:pt x="776" y="366"/>
                    </a:lnTo>
                    <a:lnTo>
                      <a:pt x="756" y="325"/>
                    </a:lnTo>
                    <a:lnTo>
                      <a:pt x="734" y="285"/>
                    </a:lnTo>
                    <a:lnTo>
                      <a:pt x="709" y="247"/>
                    </a:lnTo>
                    <a:lnTo>
                      <a:pt x="705" y="247"/>
                    </a:lnTo>
                    <a:lnTo>
                      <a:pt x="702" y="244"/>
                    </a:lnTo>
                    <a:lnTo>
                      <a:pt x="698" y="244"/>
                    </a:lnTo>
                    <a:lnTo>
                      <a:pt x="693" y="242"/>
                    </a:lnTo>
                    <a:lnTo>
                      <a:pt x="677" y="253"/>
                    </a:lnTo>
                    <a:lnTo>
                      <a:pt x="668" y="254"/>
                    </a:lnTo>
                    <a:lnTo>
                      <a:pt x="660" y="258"/>
                    </a:lnTo>
                    <a:lnTo>
                      <a:pt x="651" y="262"/>
                    </a:lnTo>
                    <a:lnTo>
                      <a:pt x="642" y="264"/>
                    </a:lnTo>
                    <a:lnTo>
                      <a:pt x="631" y="267"/>
                    </a:lnTo>
                    <a:lnTo>
                      <a:pt x="619" y="273"/>
                    </a:lnTo>
                    <a:lnTo>
                      <a:pt x="606" y="278"/>
                    </a:lnTo>
                    <a:lnTo>
                      <a:pt x="594" y="283"/>
                    </a:lnTo>
                    <a:lnTo>
                      <a:pt x="583" y="285"/>
                    </a:lnTo>
                    <a:lnTo>
                      <a:pt x="574" y="289"/>
                    </a:lnTo>
                    <a:lnTo>
                      <a:pt x="567" y="291"/>
                    </a:lnTo>
                    <a:lnTo>
                      <a:pt x="557" y="289"/>
                    </a:lnTo>
                    <a:lnTo>
                      <a:pt x="554" y="285"/>
                    </a:lnTo>
                    <a:lnTo>
                      <a:pt x="548" y="280"/>
                    </a:lnTo>
                    <a:lnTo>
                      <a:pt x="547" y="278"/>
                    </a:lnTo>
                    <a:lnTo>
                      <a:pt x="543" y="273"/>
                    </a:lnTo>
                    <a:lnTo>
                      <a:pt x="536" y="258"/>
                    </a:lnTo>
                    <a:lnTo>
                      <a:pt x="532" y="244"/>
                    </a:lnTo>
                    <a:lnTo>
                      <a:pt x="532" y="231"/>
                    </a:lnTo>
                    <a:lnTo>
                      <a:pt x="530" y="217"/>
                    </a:lnTo>
                    <a:lnTo>
                      <a:pt x="532" y="202"/>
                    </a:lnTo>
                    <a:lnTo>
                      <a:pt x="541" y="190"/>
                    </a:lnTo>
                    <a:lnTo>
                      <a:pt x="552" y="177"/>
                    </a:lnTo>
                    <a:lnTo>
                      <a:pt x="563" y="170"/>
                    </a:lnTo>
                    <a:lnTo>
                      <a:pt x="574" y="159"/>
                    </a:lnTo>
                    <a:lnTo>
                      <a:pt x="583" y="146"/>
                    </a:lnTo>
                    <a:lnTo>
                      <a:pt x="588" y="134"/>
                    </a:lnTo>
                    <a:lnTo>
                      <a:pt x="588" y="119"/>
                    </a:lnTo>
                    <a:lnTo>
                      <a:pt x="568" y="105"/>
                    </a:lnTo>
                    <a:lnTo>
                      <a:pt x="552" y="92"/>
                    </a:lnTo>
                    <a:lnTo>
                      <a:pt x="532" y="81"/>
                    </a:lnTo>
                    <a:lnTo>
                      <a:pt x="512" y="70"/>
                    </a:lnTo>
                    <a:lnTo>
                      <a:pt x="491" y="58"/>
                    </a:lnTo>
                    <a:lnTo>
                      <a:pt x="471" y="47"/>
                    </a:lnTo>
                    <a:lnTo>
                      <a:pt x="449" y="38"/>
                    </a:lnTo>
                    <a:lnTo>
                      <a:pt x="428" y="31"/>
                    </a:lnTo>
                    <a:lnTo>
                      <a:pt x="442" y="45"/>
                    </a:lnTo>
                    <a:lnTo>
                      <a:pt x="455" y="56"/>
                    </a:lnTo>
                    <a:lnTo>
                      <a:pt x="465" y="63"/>
                    </a:lnTo>
                    <a:lnTo>
                      <a:pt x="484" y="74"/>
                    </a:lnTo>
                    <a:lnTo>
                      <a:pt x="485" y="88"/>
                    </a:lnTo>
                    <a:lnTo>
                      <a:pt x="484" y="105"/>
                    </a:lnTo>
                    <a:lnTo>
                      <a:pt x="478" y="123"/>
                    </a:lnTo>
                    <a:lnTo>
                      <a:pt x="478" y="135"/>
                    </a:lnTo>
                    <a:lnTo>
                      <a:pt x="484" y="150"/>
                    </a:lnTo>
                    <a:lnTo>
                      <a:pt x="484" y="155"/>
                    </a:lnTo>
                    <a:lnTo>
                      <a:pt x="480" y="161"/>
                    </a:lnTo>
                    <a:lnTo>
                      <a:pt x="474" y="166"/>
                    </a:lnTo>
                    <a:lnTo>
                      <a:pt x="469" y="170"/>
                    </a:lnTo>
                    <a:lnTo>
                      <a:pt x="465" y="175"/>
                    </a:lnTo>
                    <a:lnTo>
                      <a:pt x="465" y="180"/>
                    </a:lnTo>
                    <a:lnTo>
                      <a:pt x="465" y="190"/>
                    </a:lnTo>
                    <a:lnTo>
                      <a:pt x="464" y="195"/>
                    </a:lnTo>
                    <a:lnTo>
                      <a:pt x="460" y="197"/>
                    </a:lnTo>
                    <a:lnTo>
                      <a:pt x="458" y="200"/>
                    </a:lnTo>
                    <a:lnTo>
                      <a:pt x="455" y="200"/>
                    </a:lnTo>
                    <a:lnTo>
                      <a:pt x="453" y="200"/>
                    </a:lnTo>
                    <a:lnTo>
                      <a:pt x="447" y="197"/>
                    </a:lnTo>
                    <a:lnTo>
                      <a:pt x="442" y="200"/>
                    </a:lnTo>
                    <a:lnTo>
                      <a:pt x="433" y="202"/>
                    </a:lnTo>
                    <a:lnTo>
                      <a:pt x="428" y="202"/>
                    </a:lnTo>
                    <a:lnTo>
                      <a:pt x="424" y="200"/>
                    </a:lnTo>
                    <a:lnTo>
                      <a:pt x="424" y="197"/>
                    </a:lnTo>
                    <a:lnTo>
                      <a:pt x="422" y="195"/>
                    </a:lnTo>
                    <a:lnTo>
                      <a:pt x="419" y="164"/>
                    </a:lnTo>
                    <a:lnTo>
                      <a:pt x="411" y="159"/>
                    </a:lnTo>
                    <a:lnTo>
                      <a:pt x="406" y="150"/>
                    </a:lnTo>
                    <a:lnTo>
                      <a:pt x="397" y="141"/>
                    </a:lnTo>
                    <a:lnTo>
                      <a:pt x="390" y="134"/>
                    </a:lnTo>
                    <a:lnTo>
                      <a:pt x="386" y="125"/>
                    </a:lnTo>
                    <a:lnTo>
                      <a:pt x="384" y="117"/>
                    </a:lnTo>
                    <a:lnTo>
                      <a:pt x="381" y="108"/>
                    </a:lnTo>
                    <a:lnTo>
                      <a:pt x="384" y="103"/>
                    </a:lnTo>
                    <a:lnTo>
                      <a:pt x="386" y="99"/>
                    </a:lnTo>
                    <a:lnTo>
                      <a:pt x="390" y="99"/>
                    </a:lnTo>
                    <a:lnTo>
                      <a:pt x="390" y="97"/>
                    </a:lnTo>
                    <a:lnTo>
                      <a:pt x="391" y="97"/>
                    </a:lnTo>
                    <a:lnTo>
                      <a:pt x="397" y="103"/>
                    </a:lnTo>
                    <a:lnTo>
                      <a:pt x="406" y="108"/>
                    </a:lnTo>
                    <a:lnTo>
                      <a:pt x="413" y="110"/>
                    </a:lnTo>
                    <a:lnTo>
                      <a:pt x="422" y="110"/>
                    </a:lnTo>
                    <a:lnTo>
                      <a:pt x="424" y="110"/>
                    </a:lnTo>
                    <a:lnTo>
                      <a:pt x="424" y="108"/>
                    </a:lnTo>
                    <a:lnTo>
                      <a:pt x="424" y="72"/>
                    </a:lnTo>
                    <a:lnTo>
                      <a:pt x="411" y="56"/>
                    </a:lnTo>
                    <a:lnTo>
                      <a:pt x="395" y="42"/>
                    </a:lnTo>
                    <a:lnTo>
                      <a:pt x="377" y="27"/>
                    </a:lnTo>
                    <a:lnTo>
                      <a:pt x="364" y="9"/>
                    </a:lnTo>
                    <a:lnTo>
                      <a:pt x="350" y="5"/>
                    </a:lnTo>
                    <a:lnTo>
                      <a:pt x="339" y="2"/>
                    </a:lnTo>
                    <a:lnTo>
                      <a:pt x="325" y="0"/>
                    </a:lnTo>
                    <a:lnTo>
                      <a:pt x="312" y="0"/>
                    </a:lnTo>
                    <a:lnTo>
                      <a:pt x="308" y="0"/>
                    </a:lnTo>
                    <a:lnTo>
                      <a:pt x="308" y="2"/>
                    </a:lnTo>
                    <a:lnTo>
                      <a:pt x="308" y="5"/>
                    </a:lnTo>
                    <a:lnTo>
                      <a:pt x="307" y="9"/>
                    </a:lnTo>
                    <a:lnTo>
                      <a:pt x="289" y="14"/>
                    </a:lnTo>
                    <a:lnTo>
                      <a:pt x="281" y="27"/>
                    </a:lnTo>
                    <a:lnTo>
                      <a:pt x="276" y="42"/>
                    </a:lnTo>
                    <a:lnTo>
                      <a:pt x="265" y="56"/>
                    </a:lnTo>
                    <a:lnTo>
                      <a:pt x="260" y="56"/>
                    </a:lnTo>
                    <a:lnTo>
                      <a:pt x="256" y="56"/>
                    </a:lnTo>
                    <a:lnTo>
                      <a:pt x="251" y="56"/>
                    </a:lnTo>
                    <a:lnTo>
                      <a:pt x="249" y="58"/>
                    </a:lnTo>
                    <a:lnTo>
                      <a:pt x="240" y="72"/>
                    </a:lnTo>
                    <a:lnTo>
                      <a:pt x="231" y="87"/>
                    </a:lnTo>
                    <a:lnTo>
                      <a:pt x="224" y="99"/>
                    </a:lnTo>
                    <a:lnTo>
                      <a:pt x="213" y="110"/>
                    </a:lnTo>
                    <a:lnTo>
                      <a:pt x="209" y="110"/>
                    </a:lnTo>
                    <a:lnTo>
                      <a:pt x="209" y="114"/>
                    </a:lnTo>
                    <a:lnTo>
                      <a:pt x="184" y="139"/>
                    </a:lnTo>
                    <a:lnTo>
                      <a:pt x="184" y="141"/>
                    </a:lnTo>
                    <a:lnTo>
                      <a:pt x="195" y="146"/>
                    </a:lnTo>
                    <a:lnTo>
                      <a:pt x="209" y="150"/>
                    </a:lnTo>
                    <a:lnTo>
                      <a:pt x="224" y="153"/>
                    </a:lnTo>
                    <a:lnTo>
                      <a:pt x="234" y="153"/>
                    </a:lnTo>
                    <a:lnTo>
                      <a:pt x="236" y="155"/>
                    </a:lnTo>
                    <a:lnTo>
                      <a:pt x="240" y="155"/>
                    </a:lnTo>
                    <a:lnTo>
                      <a:pt x="240" y="159"/>
                    </a:lnTo>
                    <a:lnTo>
                      <a:pt x="242" y="161"/>
                    </a:lnTo>
                    <a:lnTo>
                      <a:pt x="240" y="164"/>
                    </a:lnTo>
                    <a:lnTo>
                      <a:pt x="234" y="166"/>
                    </a:lnTo>
                    <a:lnTo>
                      <a:pt x="231" y="170"/>
                    </a:lnTo>
                    <a:lnTo>
                      <a:pt x="225" y="171"/>
                    </a:lnTo>
                    <a:lnTo>
                      <a:pt x="220" y="180"/>
                    </a:lnTo>
                    <a:lnTo>
                      <a:pt x="215" y="195"/>
                    </a:lnTo>
                    <a:lnTo>
                      <a:pt x="209" y="208"/>
                    </a:lnTo>
                    <a:lnTo>
                      <a:pt x="209" y="222"/>
                    </a:lnTo>
                    <a:lnTo>
                      <a:pt x="213" y="227"/>
                    </a:lnTo>
                    <a:lnTo>
                      <a:pt x="215" y="227"/>
                    </a:lnTo>
                    <a:lnTo>
                      <a:pt x="213" y="231"/>
                    </a:lnTo>
                    <a:lnTo>
                      <a:pt x="209" y="238"/>
                    </a:lnTo>
                    <a:lnTo>
                      <a:pt x="213" y="242"/>
                    </a:lnTo>
                    <a:lnTo>
                      <a:pt x="215" y="244"/>
                    </a:lnTo>
                    <a:lnTo>
                      <a:pt x="231" y="233"/>
                    </a:lnTo>
                    <a:lnTo>
                      <a:pt x="260" y="231"/>
                    </a:lnTo>
                    <a:lnTo>
                      <a:pt x="260" y="227"/>
                    </a:lnTo>
                    <a:lnTo>
                      <a:pt x="262" y="226"/>
                    </a:lnTo>
                    <a:lnTo>
                      <a:pt x="265" y="226"/>
                    </a:lnTo>
                    <a:lnTo>
                      <a:pt x="267" y="222"/>
                    </a:lnTo>
                    <a:lnTo>
                      <a:pt x="267" y="200"/>
                    </a:lnTo>
                    <a:lnTo>
                      <a:pt x="289" y="155"/>
                    </a:lnTo>
                    <a:lnTo>
                      <a:pt x="292" y="155"/>
                    </a:lnTo>
                    <a:lnTo>
                      <a:pt x="303" y="170"/>
                    </a:lnTo>
                    <a:lnTo>
                      <a:pt x="312" y="180"/>
                    </a:lnTo>
                    <a:lnTo>
                      <a:pt x="323" y="195"/>
                    </a:lnTo>
                    <a:lnTo>
                      <a:pt x="336" y="206"/>
                    </a:lnTo>
                    <a:lnTo>
                      <a:pt x="343" y="211"/>
                    </a:lnTo>
                    <a:lnTo>
                      <a:pt x="345" y="217"/>
                    </a:lnTo>
                    <a:lnTo>
                      <a:pt x="350" y="226"/>
                    </a:lnTo>
                    <a:lnTo>
                      <a:pt x="354" y="231"/>
                    </a:lnTo>
                    <a:lnTo>
                      <a:pt x="354" y="244"/>
                    </a:lnTo>
                    <a:lnTo>
                      <a:pt x="354" y="258"/>
                    </a:lnTo>
                    <a:lnTo>
                      <a:pt x="359" y="273"/>
                    </a:lnTo>
                    <a:lnTo>
                      <a:pt x="364" y="283"/>
                    </a:lnTo>
                    <a:lnTo>
                      <a:pt x="366" y="285"/>
                    </a:lnTo>
                    <a:lnTo>
                      <a:pt x="370" y="289"/>
                    </a:lnTo>
                    <a:lnTo>
                      <a:pt x="372" y="291"/>
                    </a:lnTo>
                    <a:lnTo>
                      <a:pt x="375" y="294"/>
                    </a:lnTo>
                    <a:lnTo>
                      <a:pt x="375" y="298"/>
                    </a:lnTo>
                    <a:lnTo>
                      <a:pt x="372" y="300"/>
                    </a:lnTo>
                    <a:lnTo>
                      <a:pt x="372" y="305"/>
                    </a:lnTo>
                    <a:lnTo>
                      <a:pt x="370" y="309"/>
                    </a:lnTo>
                    <a:lnTo>
                      <a:pt x="359" y="305"/>
                    </a:lnTo>
                    <a:lnTo>
                      <a:pt x="348" y="294"/>
                    </a:lnTo>
                    <a:lnTo>
                      <a:pt x="336" y="285"/>
                    </a:lnTo>
                    <a:lnTo>
                      <a:pt x="323" y="283"/>
                    </a:lnTo>
                    <a:lnTo>
                      <a:pt x="314" y="289"/>
                    </a:lnTo>
                    <a:lnTo>
                      <a:pt x="308" y="294"/>
                    </a:lnTo>
                    <a:lnTo>
                      <a:pt x="299" y="300"/>
                    </a:lnTo>
                    <a:lnTo>
                      <a:pt x="296" y="305"/>
                    </a:lnTo>
                    <a:lnTo>
                      <a:pt x="298" y="309"/>
                    </a:lnTo>
                    <a:lnTo>
                      <a:pt x="299" y="310"/>
                    </a:lnTo>
                    <a:lnTo>
                      <a:pt x="299" y="314"/>
                    </a:lnTo>
                    <a:lnTo>
                      <a:pt x="303" y="314"/>
                    </a:lnTo>
                    <a:lnTo>
                      <a:pt x="312" y="314"/>
                    </a:lnTo>
                    <a:lnTo>
                      <a:pt x="317" y="316"/>
                    </a:lnTo>
                    <a:lnTo>
                      <a:pt x="319" y="321"/>
                    </a:lnTo>
                    <a:lnTo>
                      <a:pt x="323" y="330"/>
                    </a:lnTo>
                    <a:lnTo>
                      <a:pt x="319" y="334"/>
                    </a:lnTo>
                    <a:lnTo>
                      <a:pt x="317" y="339"/>
                    </a:lnTo>
                    <a:lnTo>
                      <a:pt x="260" y="327"/>
                    </a:lnTo>
                    <a:lnTo>
                      <a:pt x="260" y="334"/>
                    </a:lnTo>
                    <a:lnTo>
                      <a:pt x="260" y="339"/>
                    </a:lnTo>
                    <a:lnTo>
                      <a:pt x="260" y="345"/>
                    </a:lnTo>
                    <a:lnTo>
                      <a:pt x="256" y="347"/>
                    </a:lnTo>
                    <a:lnTo>
                      <a:pt x="251" y="356"/>
                    </a:lnTo>
                    <a:lnTo>
                      <a:pt x="249" y="357"/>
                    </a:lnTo>
                    <a:lnTo>
                      <a:pt x="242" y="366"/>
                    </a:lnTo>
                    <a:lnTo>
                      <a:pt x="225" y="393"/>
                    </a:lnTo>
                    <a:lnTo>
                      <a:pt x="189" y="411"/>
                    </a:lnTo>
                    <a:lnTo>
                      <a:pt x="188" y="413"/>
                    </a:lnTo>
                    <a:lnTo>
                      <a:pt x="184" y="419"/>
                    </a:lnTo>
                    <a:lnTo>
                      <a:pt x="184" y="424"/>
                    </a:lnTo>
                    <a:lnTo>
                      <a:pt x="184" y="430"/>
                    </a:lnTo>
                    <a:lnTo>
                      <a:pt x="184" y="439"/>
                    </a:lnTo>
                    <a:lnTo>
                      <a:pt x="184" y="453"/>
                    </a:lnTo>
                    <a:lnTo>
                      <a:pt x="184" y="469"/>
                    </a:lnTo>
                    <a:lnTo>
                      <a:pt x="184" y="478"/>
                    </a:lnTo>
                    <a:lnTo>
                      <a:pt x="173" y="478"/>
                    </a:lnTo>
                    <a:lnTo>
                      <a:pt x="164" y="475"/>
                    </a:lnTo>
                    <a:lnTo>
                      <a:pt x="157" y="469"/>
                    </a:lnTo>
                    <a:lnTo>
                      <a:pt x="151" y="464"/>
                    </a:lnTo>
                    <a:lnTo>
                      <a:pt x="151" y="449"/>
                    </a:lnTo>
                    <a:lnTo>
                      <a:pt x="148" y="435"/>
                    </a:lnTo>
                    <a:lnTo>
                      <a:pt x="141" y="424"/>
                    </a:lnTo>
                    <a:lnTo>
                      <a:pt x="130" y="413"/>
                    </a:lnTo>
                    <a:lnTo>
                      <a:pt x="117" y="417"/>
                    </a:lnTo>
                    <a:lnTo>
                      <a:pt x="110" y="417"/>
                    </a:lnTo>
                    <a:lnTo>
                      <a:pt x="101" y="413"/>
                    </a:lnTo>
                    <a:lnTo>
                      <a:pt x="94" y="408"/>
                    </a:lnTo>
                    <a:lnTo>
                      <a:pt x="83" y="402"/>
                    </a:lnTo>
                    <a:lnTo>
                      <a:pt x="72" y="397"/>
                    </a:lnTo>
                    <a:lnTo>
                      <a:pt x="59" y="393"/>
                    </a:lnTo>
                    <a:lnTo>
                      <a:pt x="49" y="392"/>
                    </a:lnTo>
                    <a:lnTo>
                      <a:pt x="38" y="402"/>
                    </a:lnTo>
                    <a:lnTo>
                      <a:pt x="21" y="424"/>
                    </a:lnTo>
                    <a:lnTo>
                      <a:pt x="5" y="448"/>
                    </a:lnTo>
                    <a:lnTo>
                      <a:pt x="0" y="455"/>
                    </a:lnTo>
                    <a:lnTo>
                      <a:pt x="21" y="475"/>
                    </a:lnTo>
                    <a:lnTo>
                      <a:pt x="25" y="516"/>
                    </a:lnTo>
                    <a:lnTo>
                      <a:pt x="29" y="516"/>
                    </a:lnTo>
                    <a:lnTo>
                      <a:pt x="38" y="513"/>
                    </a:lnTo>
                    <a:lnTo>
                      <a:pt x="43" y="511"/>
                    </a:lnTo>
                    <a:lnTo>
                      <a:pt x="49" y="505"/>
                    </a:lnTo>
                    <a:lnTo>
                      <a:pt x="54" y="496"/>
                    </a:lnTo>
                    <a:lnTo>
                      <a:pt x="58" y="491"/>
                    </a:lnTo>
                    <a:lnTo>
                      <a:pt x="63" y="485"/>
                    </a:lnTo>
                    <a:lnTo>
                      <a:pt x="72" y="480"/>
                    </a:lnTo>
                    <a:lnTo>
                      <a:pt x="74" y="480"/>
                    </a:lnTo>
                    <a:lnTo>
                      <a:pt x="74" y="484"/>
                    </a:lnTo>
                    <a:lnTo>
                      <a:pt x="74" y="485"/>
                    </a:lnTo>
                    <a:lnTo>
                      <a:pt x="63" y="538"/>
                    </a:lnTo>
                    <a:lnTo>
                      <a:pt x="79" y="556"/>
                    </a:lnTo>
                    <a:lnTo>
                      <a:pt x="77" y="567"/>
                    </a:lnTo>
                    <a:lnTo>
                      <a:pt x="68" y="574"/>
                    </a:lnTo>
                    <a:lnTo>
                      <a:pt x="59" y="583"/>
                    </a:lnTo>
                    <a:lnTo>
                      <a:pt x="54" y="597"/>
                    </a:lnTo>
                    <a:lnTo>
                      <a:pt x="54" y="608"/>
                    </a:lnTo>
                    <a:lnTo>
                      <a:pt x="63" y="619"/>
                    </a:lnTo>
                    <a:lnTo>
                      <a:pt x="74" y="630"/>
                    </a:lnTo>
                    <a:lnTo>
                      <a:pt x="88" y="641"/>
                    </a:lnTo>
                    <a:lnTo>
                      <a:pt x="101" y="646"/>
                    </a:lnTo>
                    <a:lnTo>
                      <a:pt x="114" y="646"/>
                    </a:lnTo>
                    <a:lnTo>
                      <a:pt x="124" y="644"/>
                    </a:lnTo>
                    <a:lnTo>
                      <a:pt x="132" y="641"/>
                    </a:lnTo>
                    <a:lnTo>
                      <a:pt x="141" y="635"/>
                    </a:lnTo>
                    <a:lnTo>
                      <a:pt x="148" y="635"/>
                    </a:lnTo>
                    <a:lnTo>
                      <a:pt x="153" y="639"/>
                    </a:lnTo>
                    <a:lnTo>
                      <a:pt x="160" y="641"/>
                    </a:lnTo>
                    <a:lnTo>
                      <a:pt x="168" y="644"/>
                    </a:lnTo>
                    <a:lnTo>
                      <a:pt x="184" y="652"/>
                    </a:lnTo>
                    <a:lnTo>
                      <a:pt x="195" y="661"/>
                    </a:lnTo>
                    <a:lnTo>
                      <a:pt x="209" y="670"/>
                    </a:lnTo>
                    <a:lnTo>
                      <a:pt x="220" y="677"/>
                    </a:lnTo>
                    <a:lnTo>
                      <a:pt x="225" y="691"/>
                    </a:lnTo>
                    <a:lnTo>
                      <a:pt x="229" y="706"/>
                    </a:lnTo>
                    <a:lnTo>
                      <a:pt x="231" y="722"/>
                    </a:lnTo>
                    <a:lnTo>
                      <a:pt x="234" y="738"/>
                    </a:lnTo>
                    <a:lnTo>
                      <a:pt x="249" y="744"/>
                    </a:lnTo>
                    <a:lnTo>
                      <a:pt x="262" y="749"/>
                    </a:lnTo>
                    <a:lnTo>
                      <a:pt x="276" y="758"/>
                    </a:lnTo>
                    <a:lnTo>
                      <a:pt x="287" y="772"/>
                    </a:lnTo>
                    <a:lnTo>
                      <a:pt x="298" y="800"/>
                    </a:lnTo>
                    <a:lnTo>
                      <a:pt x="308" y="830"/>
                    </a:lnTo>
                    <a:lnTo>
                      <a:pt x="319" y="861"/>
                    </a:lnTo>
                    <a:lnTo>
                      <a:pt x="334" y="886"/>
                    </a:lnTo>
                    <a:lnTo>
                      <a:pt x="350" y="904"/>
                    </a:lnTo>
                    <a:lnTo>
                      <a:pt x="366" y="924"/>
                    </a:lnTo>
                    <a:lnTo>
                      <a:pt x="381" y="944"/>
                    </a:lnTo>
                    <a:lnTo>
                      <a:pt x="395" y="966"/>
                    </a:lnTo>
                    <a:lnTo>
                      <a:pt x="397" y="980"/>
                    </a:lnTo>
                    <a:lnTo>
                      <a:pt x="397" y="993"/>
                    </a:lnTo>
                    <a:lnTo>
                      <a:pt x="391" y="1007"/>
                    </a:lnTo>
                    <a:lnTo>
                      <a:pt x="381" y="1018"/>
                    </a:lnTo>
                    <a:lnTo>
                      <a:pt x="364" y="1022"/>
                    </a:lnTo>
                    <a:lnTo>
                      <a:pt x="348" y="1027"/>
                    </a:lnTo>
                    <a:lnTo>
                      <a:pt x="334" y="1032"/>
                    </a:lnTo>
                    <a:lnTo>
                      <a:pt x="319" y="1038"/>
                    </a:lnTo>
                    <a:lnTo>
                      <a:pt x="307" y="1043"/>
                    </a:lnTo>
                    <a:lnTo>
                      <a:pt x="292" y="1052"/>
                    </a:lnTo>
                    <a:lnTo>
                      <a:pt x="278" y="1063"/>
                    </a:lnTo>
                    <a:lnTo>
                      <a:pt x="262" y="1074"/>
                    </a:lnTo>
                    <a:lnTo>
                      <a:pt x="249" y="1083"/>
                    </a:lnTo>
                    <a:lnTo>
                      <a:pt x="231" y="1090"/>
                    </a:lnTo>
                    <a:lnTo>
                      <a:pt x="215" y="1094"/>
                    </a:lnTo>
                    <a:lnTo>
                      <a:pt x="198" y="1099"/>
                    </a:lnTo>
                    <a:lnTo>
                      <a:pt x="182" y="1105"/>
                    </a:lnTo>
                    <a:lnTo>
                      <a:pt x="164" y="1110"/>
                    </a:lnTo>
                    <a:lnTo>
                      <a:pt x="151" y="1119"/>
                    </a:lnTo>
                    <a:lnTo>
                      <a:pt x="141" y="1132"/>
                    </a:lnTo>
                    <a:lnTo>
                      <a:pt x="124" y="1146"/>
                    </a:lnTo>
                    <a:lnTo>
                      <a:pt x="106" y="1160"/>
                    </a:lnTo>
                    <a:lnTo>
                      <a:pt x="88" y="1171"/>
                    </a:lnTo>
                    <a:lnTo>
                      <a:pt x="68" y="1180"/>
                    </a:lnTo>
                    <a:lnTo>
                      <a:pt x="88" y="1186"/>
                    </a:lnTo>
                    <a:lnTo>
                      <a:pt x="106" y="1188"/>
                    </a:lnTo>
                    <a:lnTo>
                      <a:pt x="124" y="1193"/>
                    </a:lnTo>
                    <a:lnTo>
                      <a:pt x="142" y="1197"/>
                    </a:lnTo>
                    <a:lnTo>
                      <a:pt x="162" y="1198"/>
                    </a:lnTo>
                    <a:lnTo>
                      <a:pt x="182" y="1198"/>
                    </a:lnTo>
                    <a:lnTo>
                      <a:pt x="200" y="1202"/>
                    </a:lnTo>
                    <a:lnTo>
                      <a:pt x="220" y="1202"/>
                    </a:lnTo>
                    <a:lnTo>
                      <a:pt x="252" y="1202"/>
                    </a:lnTo>
                    <a:lnTo>
                      <a:pt x="287" y="1198"/>
                    </a:lnTo>
                    <a:lnTo>
                      <a:pt x="319" y="1193"/>
                    </a:lnTo>
                    <a:lnTo>
                      <a:pt x="354" y="1186"/>
                    </a:lnTo>
                    <a:lnTo>
                      <a:pt x="386" y="1177"/>
                    </a:lnTo>
                    <a:lnTo>
                      <a:pt x="417" y="1168"/>
                    </a:lnTo>
                    <a:lnTo>
                      <a:pt x="447" y="1155"/>
                    </a:lnTo>
                    <a:lnTo>
                      <a:pt x="478" y="1141"/>
                    </a:lnTo>
                    <a:lnTo>
                      <a:pt x="505" y="1126"/>
                    </a:lnTo>
                    <a:lnTo>
                      <a:pt x="536" y="1110"/>
                    </a:lnTo>
                    <a:lnTo>
                      <a:pt x="559" y="1094"/>
                    </a:lnTo>
                    <a:lnTo>
                      <a:pt x="588" y="1074"/>
                    </a:lnTo>
                    <a:lnTo>
                      <a:pt x="613" y="1052"/>
                    </a:lnTo>
                    <a:lnTo>
                      <a:pt x="637" y="1029"/>
                    </a:lnTo>
                    <a:lnTo>
                      <a:pt x="660" y="1007"/>
                    </a:lnTo>
                    <a:lnTo>
                      <a:pt x="682" y="982"/>
                    </a:lnTo>
                    <a:lnTo>
                      <a:pt x="666" y="966"/>
                    </a:lnTo>
                    <a:lnTo>
                      <a:pt x="646" y="955"/>
                    </a:lnTo>
                    <a:lnTo>
                      <a:pt x="626" y="940"/>
                    </a:lnTo>
                    <a:lnTo>
                      <a:pt x="610" y="929"/>
                    </a:lnTo>
                    <a:lnTo>
                      <a:pt x="590" y="922"/>
                    </a:lnTo>
                    <a:lnTo>
                      <a:pt x="574" y="917"/>
                    </a:lnTo>
                    <a:lnTo>
                      <a:pt x="557" y="904"/>
                    </a:lnTo>
                    <a:lnTo>
                      <a:pt x="547" y="893"/>
                    </a:lnTo>
                    <a:lnTo>
                      <a:pt x="547" y="892"/>
                    </a:lnTo>
                    <a:lnTo>
                      <a:pt x="547" y="888"/>
                    </a:lnTo>
                    <a:lnTo>
                      <a:pt x="543" y="888"/>
                    </a:lnTo>
                    <a:lnTo>
                      <a:pt x="543" y="886"/>
                    </a:lnTo>
                    <a:lnTo>
                      <a:pt x="543" y="874"/>
                    </a:lnTo>
                    <a:lnTo>
                      <a:pt x="547" y="863"/>
                    </a:lnTo>
                    <a:lnTo>
                      <a:pt x="547" y="855"/>
                    </a:lnTo>
                    <a:lnTo>
                      <a:pt x="548" y="845"/>
                    </a:lnTo>
                    <a:lnTo>
                      <a:pt x="557" y="819"/>
                    </a:lnTo>
                    <a:lnTo>
                      <a:pt x="567" y="791"/>
                    </a:lnTo>
                    <a:lnTo>
                      <a:pt x="579" y="769"/>
                    </a:lnTo>
                    <a:lnTo>
                      <a:pt x="601" y="753"/>
                    </a:lnTo>
                    <a:lnTo>
                      <a:pt x="613" y="749"/>
                    </a:lnTo>
                    <a:lnTo>
                      <a:pt x="624" y="744"/>
                    </a:lnTo>
                    <a:lnTo>
                      <a:pt x="631" y="742"/>
                    </a:lnTo>
                    <a:lnTo>
                      <a:pt x="642" y="738"/>
                    </a:lnTo>
                    <a:lnTo>
                      <a:pt x="655" y="738"/>
                    </a:lnTo>
                    <a:lnTo>
                      <a:pt x="666" y="736"/>
                    </a:lnTo>
                    <a:lnTo>
                      <a:pt x="673" y="729"/>
                    </a:lnTo>
                    <a:lnTo>
                      <a:pt x="684" y="727"/>
                    </a:lnTo>
                    <a:lnTo>
                      <a:pt x="695" y="727"/>
                    </a:lnTo>
                    <a:lnTo>
                      <a:pt x="704" y="722"/>
                    </a:lnTo>
                    <a:lnTo>
                      <a:pt x="715" y="718"/>
                    </a:lnTo>
                    <a:lnTo>
                      <a:pt x="725" y="713"/>
                    </a:lnTo>
                    <a:lnTo>
                      <a:pt x="736" y="711"/>
                    </a:lnTo>
                    <a:lnTo>
                      <a:pt x="749" y="707"/>
                    </a:lnTo>
                    <a:lnTo>
                      <a:pt x="760" y="707"/>
                    </a:lnTo>
                    <a:lnTo>
                      <a:pt x="770" y="711"/>
                    </a:lnTo>
                    <a:lnTo>
                      <a:pt x="776" y="717"/>
                    </a:lnTo>
                    <a:lnTo>
                      <a:pt x="783" y="722"/>
                    </a:lnTo>
                    <a:lnTo>
                      <a:pt x="792" y="729"/>
                    </a:lnTo>
                    <a:lnTo>
                      <a:pt x="803" y="736"/>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1" name="Freeform 27"/>
              <p:cNvSpPr>
                <a:spLocks/>
              </p:cNvSpPr>
              <p:nvPr/>
            </p:nvSpPr>
            <p:spPr bwMode="invGray">
              <a:xfrm>
                <a:off x="530" y="2834"/>
                <a:ext cx="63" cy="73"/>
              </a:xfrm>
              <a:custGeom>
                <a:avLst/>
                <a:gdLst>
                  <a:gd name="T0" fmla="*/ 42 w 63"/>
                  <a:gd name="T1" fmla="*/ 65 h 73"/>
                  <a:gd name="T2" fmla="*/ 58 w 63"/>
                  <a:gd name="T3" fmla="*/ 72 h 73"/>
                  <a:gd name="T4" fmla="*/ 62 w 63"/>
                  <a:gd name="T5" fmla="*/ 72 h 73"/>
                  <a:gd name="T6" fmla="*/ 62 w 63"/>
                  <a:gd name="T7" fmla="*/ 67 h 73"/>
                  <a:gd name="T8" fmla="*/ 58 w 63"/>
                  <a:gd name="T9" fmla="*/ 65 h 73"/>
                  <a:gd name="T10" fmla="*/ 58 w 63"/>
                  <a:gd name="T11" fmla="*/ 62 h 73"/>
                  <a:gd name="T12" fmla="*/ 44 w 63"/>
                  <a:gd name="T13" fmla="*/ 56 h 73"/>
                  <a:gd name="T14" fmla="*/ 37 w 63"/>
                  <a:gd name="T15" fmla="*/ 45 h 73"/>
                  <a:gd name="T16" fmla="*/ 31 w 63"/>
                  <a:gd name="T17" fmla="*/ 34 h 73"/>
                  <a:gd name="T18" fmla="*/ 26 w 63"/>
                  <a:gd name="T19" fmla="*/ 20 h 73"/>
                  <a:gd name="T20" fmla="*/ 9 w 63"/>
                  <a:gd name="T21" fmla="*/ 0 h 73"/>
                  <a:gd name="T22" fmla="*/ 6 w 63"/>
                  <a:gd name="T23" fmla="*/ 4 h 73"/>
                  <a:gd name="T24" fmla="*/ 2 w 63"/>
                  <a:gd name="T25" fmla="*/ 9 h 73"/>
                  <a:gd name="T26" fmla="*/ 0 w 63"/>
                  <a:gd name="T27" fmla="*/ 11 h 73"/>
                  <a:gd name="T28" fmla="*/ 0 w 63"/>
                  <a:gd name="T29" fmla="*/ 18 h 73"/>
                  <a:gd name="T30" fmla="*/ 0 w 63"/>
                  <a:gd name="T31" fmla="*/ 20 h 73"/>
                  <a:gd name="T32" fmla="*/ 0 w 63"/>
                  <a:gd name="T33" fmla="*/ 20 h 73"/>
                  <a:gd name="T34" fmla="*/ 0 w 63"/>
                  <a:gd name="T35" fmla="*/ 20 h 73"/>
                  <a:gd name="T36" fmla="*/ 0 w 63"/>
                  <a:gd name="T37" fmla="*/ 20 h 73"/>
                  <a:gd name="T38" fmla="*/ 9 w 63"/>
                  <a:gd name="T39" fmla="*/ 31 h 73"/>
                  <a:gd name="T40" fmla="*/ 20 w 63"/>
                  <a:gd name="T41" fmla="*/ 45 h 73"/>
                  <a:gd name="T42" fmla="*/ 31 w 63"/>
                  <a:gd name="T43" fmla="*/ 56 h 73"/>
                  <a:gd name="T44" fmla="*/ 42 w 63"/>
                  <a:gd name="T45" fmla="*/ 65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3" h="73">
                    <a:moveTo>
                      <a:pt x="42" y="65"/>
                    </a:moveTo>
                    <a:lnTo>
                      <a:pt x="58" y="72"/>
                    </a:lnTo>
                    <a:lnTo>
                      <a:pt x="62" y="72"/>
                    </a:lnTo>
                    <a:lnTo>
                      <a:pt x="62" y="67"/>
                    </a:lnTo>
                    <a:lnTo>
                      <a:pt x="58" y="65"/>
                    </a:lnTo>
                    <a:lnTo>
                      <a:pt x="58" y="62"/>
                    </a:lnTo>
                    <a:lnTo>
                      <a:pt x="44" y="56"/>
                    </a:lnTo>
                    <a:lnTo>
                      <a:pt x="37" y="45"/>
                    </a:lnTo>
                    <a:lnTo>
                      <a:pt x="31" y="34"/>
                    </a:lnTo>
                    <a:lnTo>
                      <a:pt x="26" y="20"/>
                    </a:lnTo>
                    <a:lnTo>
                      <a:pt x="9" y="0"/>
                    </a:lnTo>
                    <a:lnTo>
                      <a:pt x="6" y="4"/>
                    </a:lnTo>
                    <a:lnTo>
                      <a:pt x="2" y="9"/>
                    </a:lnTo>
                    <a:lnTo>
                      <a:pt x="0" y="11"/>
                    </a:lnTo>
                    <a:lnTo>
                      <a:pt x="0" y="18"/>
                    </a:lnTo>
                    <a:lnTo>
                      <a:pt x="0" y="20"/>
                    </a:lnTo>
                    <a:lnTo>
                      <a:pt x="9" y="31"/>
                    </a:lnTo>
                    <a:lnTo>
                      <a:pt x="20" y="45"/>
                    </a:lnTo>
                    <a:lnTo>
                      <a:pt x="31" y="56"/>
                    </a:lnTo>
                    <a:lnTo>
                      <a:pt x="42" y="65"/>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grpSp>
      </p:grpSp>
      <p:sp>
        <p:nvSpPr>
          <p:cNvPr id="17436" name="Rectangle 28"/>
          <p:cNvSpPr>
            <a:spLocks noGrp="1" noChangeArrowheads="1"/>
          </p:cNvSpPr>
          <p:nvPr>
            <p:ph type="ctrTitle" sz="quarter"/>
          </p:nvPr>
        </p:nvSpPr>
        <p:spPr>
          <a:xfrm>
            <a:off x="685800" y="2286000"/>
            <a:ext cx="7772400" cy="1143000"/>
          </a:xfrm>
        </p:spPr>
        <p:txBody>
          <a:bodyPr/>
          <a:lstStyle>
            <a:lvl1pPr>
              <a:defRPr/>
            </a:lvl1pPr>
          </a:lstStyle>
          <a:p>
            <a:r>
              <a:rPr lang="en-US"/>
              <a:t>Click to edit Master title style</a:t>
            </a:r>
          </a:p>
        </p:txBody>
      </p:sp>
      <p:sp>
        <p:nvSpPr>
          <p:cNvPr id="17437" name="Rectangle 29"/>
          <p:cNvSpPr>
            <a:spLocks noGrp="1" noChangeArrowheads="1"/>
          </p:cNvSpPr>
          <p:nvPr>
            <p:ph type="subTitle" sz="quarter" idx="1"/>
          </p:nvPr>
        </p:nvSpPr>
        <p:spPr>
          <a:xfrm>
            <a:off x="2057400" y="4114800"/>
            <a:ext cx="6400800" cy="1752600"/>
          </a:xfrm>
        </p:spPr>
        <p:txBody>
          <a:bodyPr/>
          <a:lstStyle>
            <a:lvl1pPr marL="0" indent="0" algn="ctr">
              <a:buFontTx/>
              <a:buNone/>
              <a:defRPr/>
            </a:lvl1pPr>
          </a:lstStyle>
          <a:p>
            <a:r>
              <a:rPr lang="en-US"/>
              <a:t>Click to edit Master subtitle style</a:t>
            </a:r>
          </a:p>
        </p:txBody>
      </p:sp>
      <p:sp>
        <p:nvSpPr>
          <p:cNvPr id="30" name="Rectangle 30"/>
          <p:cNvSpPr>
            <a:spLocks noGrp="1" noChangeArrowheads="1"/>
          </p:cNvSpPr>
          <p:nvPr>
            <p:ph type="dt" sz="quarter" idx="10"/>
          </p:nvPr>
        </p:nvSpPr>
        <p:spPr/>
        <p:txBody>
          <a:bodyPr/>
          <a:lstStyle>
            <a:lvl1pPr>
              <a:defRPr>
                <a:solidFill>
                  <a:srgbClr val="FFFFFF"/>
                </a:solidFill>
              </a:defRPr>
            </a:lvl1pPr>
          </a:lstStyle>
          <a:p>
            <a:pPr>
              <a:defRPr/>
            </a:pPr>
            <a:endParaRPr lang="en-US"/>
          </a:p>
        </p:txBody>
      </p:sp>
      <p:sp>
        <p:nvSpPr>
          <p:cNvPr id="31" name="Rectangle 31"/>
          <p:cNvSpPr>
            <a:spLocks noGrp="1" noChangeArrowheads="1"/>
          </p:cNvSpPr>
          <p:nvPr>
            <p:ph type="ftr" sz="quarter" idx="11"/>
          </p:nvPr>
        </p:nvSpPr>
        <p:spPr/>
        <p:txBody>
          <a:bodyPr/>
          <a:lstStyle>
            <a:lvl1pPr>
              <a:defRPr>
                <a:solidFill>
                  <a:srgbClr val="FFFFFF"/>
                </a:solidFill>
              </a:defRPr>
            </a:lvl1pPr>
          </a:lstStyle>
          <a:p>
            <a:pPr>
              <a:defRPr/>
            </a:pPr>
            <a:endParaRPr lang="en-US"/>
          </a:p>
        </p:txBody>
      </p:sp>
      <p:sp>
        <p:nvSpPr>
          <p:cNvPr id="32" name="Rectangle 32"/>
          <p:cNvSpPr>
            <a:spLocks noGrp="1" noChangeArrowheads="1"/>
          </p:cNvSpPr>
          <p:nvPr>
            <p:ph type="sldNum" sz="quarter" idx="12"/>
          </p:nvPr>
        </p:nvSpPr>
        <p:spPr/>
        <p:txBody>
          <a:bodyPr/>
          <a:lstStyle>
            <a:lvl1pPr>
              <a:defRPr>
                <a:solidFill>
                  <a:srgbClr val="FFFFFF"/>
                </a:solidFill>
              </a:defRPr>
            </a:lvl1pPr>
          </a:lstStyle>
          <a:p>
            <a:pPr>
              <a:defRPr/>
            </a:pPr>
            <a:fld id="{F8523D44-4593-4553-82E3-3B15E14C53D5}" type="slidenum">
              <a:rPr lang="en-US"/>
              <a:pPr>
                <a:defRPr/>
              </a:pPr>
              <a:t>‹#›</a:t>
            </a:fld>
            <a:endParaRPr lang="en-US"/>
          </a:p>
        </p:txBody>
      </p:sp>
    </p:spTree>
    <p:extLst>
      <p:ext uri="{BB962C8B-B14F-4D97-AF65-F5344CB8AC3E}">
        <p14:creationId xmlns:p14="http://schemas.microsoft.com/office/powerpoint/2010/main" val="3759587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13ECB1D3-A352-4455-8B28-6A84417DACD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9229957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A0630BD-96A4-4607-B14E-5AB13AAE4D7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8749484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71C22A43-091A-4AB3-8B74-14D21D7BE30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254570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8"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9" name="Rectangle 21"/>
          <p:cNvSpPr>
            <a:spLocks noGrp="1" noChangeArrowheads="1"/>
          </p:cNvSpPr>
          <p:nvPr>
            <p:ph type="sldNum" sz="quarter" idx="12"/>
          </p:nvPr>
        </p:nvSpPr>
        <p:spPr>
          <a:ln/>
        </p:spPr>
        <p:txBody>
          <a:bodyPr/>
          <a:lstStyle>
            <a:lvl1pPr>
              <a:defRPr/>
            </a:lvl1pPr>
          </a:lstStyle>
          <a:p>
            <a:pPr>
              <a:defRPr/>
            </a:pPr>
            <a:fld id="{CE15A2D1-4C54-4219-9A0B-A74D34AB8A53}"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7671826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4"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5" name="Rectangle 21"/>
          <p:cNvSpPr>
            <a:spLocks noGrp="1" noChangeArrowheads="1"/>
          </p:cNvSpPr>
          <p:nvPr>
            <p:ph type="sldNum" sz="quarter" idx="12"/>
          </p:nvPr>
        </p:nvSpPr>
        <p:spPr>
          <a:ln/>
        </p:spPr>
        <p:txBody>
          <a:bodyPr/>
          <a:lstStyle>
            <a:lvl1pPr>
              <a:defRPr/>
            </a:lvl1pPr>
          </a:lstStyle>
          <a:p>
            <a:pPr>
              <a:defRPr/>
            </a:pPr>
            <a:fld id="{CCAB42E1-2F69-4033-BD34-32AD424402F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156574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3"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4" name="Rectangle 21"/>
          <p:cNvSpPr>
            <a:spLocks noGrp="1" noChangeArrowheads="1"/>
          </p:cNvSpPr>
          <p:nvPr>
            <p:ph type="sldNum" sz="quarter" idx="12"/>
          </p:nvPr>
        </p:nvSpPr>
        <p:spPr>
          <a:ln/>
        </p:spPr>
        <p:txBody>
          <a:bodyPr/>
          <a:lstStyle>
            <a:lvl1pPr>
              <a:defRPr/>
            </a:lvl1pPr>
          </a:lstStyle>
          <a:p>
            <a:pPr>
              <a:defRPr/>
            </a:pPr>
            <a:fld id="{55FDA948-CA68-4A2D-B0BA-25B0458F9F8C}"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4089965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6EC052BF-DC22-4514-A430-3DD6ACB41B30}"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1416685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982A91CE-5645-4FE8-AF66-F0B098911192}"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520489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72DAE7E-EE76-4987-9935-F6199A4BF4C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608853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FC657835-AFBA-456C-90B4-1C12100ACE7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4101911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117475"/>
            <a:ext cx="9142413" cy="6738938"/>
            <a:chOff x="0" y="74"/>
            <a:chExt cx="5759" cy="4245"/>
          </a:xfrm>
        </p:grpSpPr>
        <p:sp>
          <p:nvSpPr>
            <p:cNvPr id="5" name="Rectangle 3"/>
            <p:cNvSpPr>
              <a:spLocks noChangeArrowheads="1"/>
            </p:cNvSpPr>
            <p:nvPr/>
          </p:nvSpPr>
          <p:spPr bwMode="invGray">
            <a:xfrm>
              <a:off x="432" y="4113"/>
              <a:ext cx="2208" cy="20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6" name="Rectangle 4"/>
            <p:cNvSpPr>
              <a:spLocks noChangeArrowheads="1"/>
            </p:cNvSpPr>
            <p:nvPr/>
          </p:nvSpPr>
          <p:spPr bwMode="invGray">
            <a:xfrm>
              <a:off x="432" y="1536"/>
              <a:ext cx="5327"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7" name="Oval 5"/>
            <p:cNvSpPr>
              <a:spLocks noChangeArrowheads="1"/>
            </p:cNvSpPr>
            <p:nvPr/>
          </p:nvSpPr>
          <p:spPr bwMode="invGray">
            <a:xfrm>
              <a:off x="555"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8" name="Oval 6"/>
            <p:cNvSpPr>
              <a:spLocks noChangeArrowheads="1"/>
            </p:cNvSpPr>
            <p:nvPr/>
          </p:nvSpPr>
          <p:spPr bwMode="invGray">
            <a:xfrm>
              <a:off x="555"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9" name="Oval 7"/>
            <p:cNvSpPr>
              <a:spLocks noChangeArrowheads="1"/>
            </p:cNvSpPr>
            <p:nvPr/>
          </p:nvSpPr>
          <p:spPr bwMode="invGray">
            <a:xfrm>
              <a:off x="555"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 name="Oval 8"/>
            <p:cNvSpPr>
              <a:spLocks noChangeArrowheads="1"/>
            </p:cNvSpPr>
            <p:nvPr/>
          </p:nvSpPr>
          <p:spPr bwMode="invGray">
            <a:xfrm>
              <a:off x="555" y="65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1" name="Oval 9"/>
            <p:cNvSpPr>
              <a:spLocks noChangeArrowheads="1"/>
            </p:cNvSpPr>
            <p:nvPr/>
          </p:nvSpPr>
          <p:spPr bwMode="invGray">
            <a:xfrm>
              <a:off x="555" y="79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2" name="Oval 10"/>
            <p:cNvSpPr>
              <a:spLocks noChangeArrowheads="1"/>
            </p:cNvSpPr>
            <p:nvPr/>
          </p:nvSpPr>
          <p:spPr bwMode="invGray">
            <a:xfrm>
              <a:off x="555" y="93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3" name="Oval 11"/>
            <p:cNvSpPr>
              <a:spLocks noChangeArrowheads="1"/>
            </p:cNvSpPr>
            <p:nvPr/>
          </p:nvSpPr>
          <p:spPr bwMode="invGray">
            <a:xfrm>
              <a:off x="555" y="108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4" name="Oval 12"/>
            <p:cNvSpPr>
              <a:spLocks noChangeArrowheads="1"/>
            </p:cNvSpPr>
            <p:nvPr/>
          </p:nvSpPr>
          <p:spPr bwMode="invGray">
            <a:xfrm>
              <a:off x="555" y="122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5" name="Oval 13"/>
            <p:cNvSpPr>
              <a:spLocks noChangeArrowheads="1"/>
            </p:cNvSpPr>
            <p:nvPr/>
          </p:nvSpPr>
          <p:spPr bwMode="invGray">
            <a:xfrm>
              <a:off x="555" y="1371"/>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6" name="Group 14"/>
            <p:cNvGrpSpPr>
              <a:grpSpLocks/>
            </p:cNvGrpSpPr>
            <p:nvPr/>
          </p:nvGrpSpPr>
          <p:grpSpPr bwMode="auto">
            <a:xfrm>
              <a:off x="2859" y="4202"/>
              <a:ext cx="2729" cy="41"/>
              <a:chOff x="2859" y="4202"/>
              <a:chExt cx="2729" cy="41"/>
            </a:xfrm>
          </p:grpSpPr>
          <p:sp>
            <p:nvSpPr>
              <p:cNvPr id="22" name="Oval 15"/>
              <p:cNvSpPr>
                <a:spLocks noChangeArrowheads="1"/>
              </p:cNvSpPr>
              <p:nvPr/>
            </p:nvSpPr>
            <p:spPr bwMode="invGray">
              <a:xfrm>
                <a:off x="285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3" name="Oval 16"/>
              <p:cNvSpPr>
                <a:spLocks noChangeArrowheads="1"/>
              </p:cNvSpPr>
              <p:nvPr/>
            </p:nvSpPr>
            <p:spPr bwMode="invGray">
              <a:xfrm>
                <a:off x="324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4" name="Oval 17"/>
              <p:cNvSpPr>
                <a:spLocks noChangeArrowheads="1"/>
              </p:cNvSpPr>
              <p:nvPr/>
            </p:nvSpPr>
            <p:spPr bwMode="invGray">
              <a:xfrm>
                <a:off x="362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5" name="Oval 18"/>
              <p:cNvSpPr>
                <a:spLocks noChangeArrowheads="1"/>
              </p:cNvSpPr>
              <p:nvPr/>
            </p:nvSpPr>
            <p:spPr bwMode="invGray">
              <a:xfrm>
                <a:off x="4011"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6" name="Oval 19"/>
              <p:cNvSpPr>
                <a:spLocks noChangeArrowheads="1"/>
              </p:cNvSpPr>
              <p:nvPr/>
            </p:nvSpPr>
            <p:spPr bwMode="invGray">
              <a:xfrm>
                <a:off x="4395"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7" name="Oval 20"/>
              <p:cNvSpPr>
                <a:spLocks noChangeArrowheads="1"/>
              </p:cNvSpPr>
              <p:nvPr/>
            </p:nvSpPr>
            <p:spPr bwMode="invGray">
              <a:xfrm>
                <a:off x="4779"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8" name="Oval 21"/>
              <p:cNvSpPr>
                <a:spLocks noChangeArrowheads="1"/>
              </p:cNvSpPr>
              <p:nvPr/>
            </p:nvSpPr>
            <p:spPr bwMode="invGray">
              <a:xfrm>
                <a:off x="5163" y="420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29" name="Oval 22"/>
              <p:cNvSpPr>
                <a:spLocks noChangeArrowheads="1"/>
              </p:cNvSpPr>
              <p:nvPr/>
            </p:nvSpPr>
            <p:spPr bwMode="invGray">
              <a:xfrm>
                <a:off x="5547" y="4202"/>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7" name="Oval 23"/>
            <p:cNvSpPr>
              <a:spLocks noChangeArrowheads="1"/>
            </p:cNvSpPr>
            <p:nvPr/>
          </p:nvSpPr>
          <p:spPr bwMode="invGray">
            <a:xfrm>
              <a:off x="555" y="507"/>
              <a:ext cx="42" cy="4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8" name="Group 24"/>
            <p:cNvGrpSpPr>
              <a:grpSpLocks/>
            </p:cNvGrpSpPr>
            <p:nvPr/>
          </p:nvGrpSpPr>
          <p:grpSpPr bwMode="auto">
            <a:xfrm>
              <a:off x="0" y="2327"/>
              <a:ext cx="1203" cy="1203"/>
              <a:chOff x="0" y="2327"/>
              <a:chExt cx="1203" cy="1203"/>
            </a:xfrm>
          </p:grpSpPr>
          <p:sp>
            <p:nvSpPr>
              <p:cNvPr id="19" name="Freeform 25"/>
              <p:cNvSpPr>
                <a:spLocks/>
              </p:cNvSpPr>
              <p:nvPr/>
            </p:nvSpPr>
            <p:spPr bwMode="invGray">
              <a:xfrm>
                <a:off x="0" y="2394"/>
                <a:ext cx="443" cy="1033"/>
              </a:xfrm>
              <a:custGeom>
                <a:avLst/>
                <a:gdLst>
                  <a:gd name="T0" fmla="*/ 290 w 443"/>
                  <a:gd name="T1" fmla="*/ 1016 h 1033"/>
                  <a:gd name="T2" fmla="*/ 316 w 443"/>
                  <a:gd name="T3" fmla="*/ 974 h 1033"/>
                  <a:gd name="T4" fmla="*/ 354 w 443"/>
                  <a:gd name="T5" fmla="*/ 920 h 1033"/>
                  <a:gd name="T6" fmla="*/ 384 w 443"/>
                  <a:gd name="T7" fmla="*/ 884 h 1033"/>
                  <a:gd name="T8" fmla="*/ 381 w 443"/>
                  <a:gd name="T9" fmla="*/ 832 h 1033"/>
                  <a:gd name="T10" fmla="*/ 370 w 443"/>
                  <a:gd name="T11" fmla="*/ 794 h 1033"/>
                  <a:gd name="T12" fmla="*/ 361 w 443"/>
                  <a:gd name="T13" fmla="*/ 760 h 1033"/>
                  <a:gd name="T14" fmla="*/ 361 w 443"/>
                  <a:gd name="T15" fmla="*/ 734 h 1033"/>
                  <a:gd name="T16" fmla="*/ 359 w 443"/>
                  <a:gd name="T17" fmla="*/ 707 h 1033"/>
                  <a:gd name="T18" fmla="*/ 373 w 443"/>
                  <a:gd name="T19" fmla="*/ 691 h 1033"/>
                  <a:gd name="T20" fmla="*/ 391 w 443"/>
                  <a:gd name="T21" fmla="*/ 686 h 1033"/>
                  <a:gd name="T22" fmla="*/ 395 w 443"/>
                  <a:gd name="T23" fmla="*/ 680 h 1033"/>
                  <a:gd name="T24" fmla="*/ 390 w 443"/>
                  <a:gd name="T25" fmla="*/ 671 h 1033"/>
                  <a:gd name="T26" fmla="*/ 386 w 443"/>
                  <a:gd name="T27" fmla="*/ 660 h 1033"/>
                  <a:gd name="T28" fmla="*/ 437 w 443"/>
                  <a:gd name="T29" fmla="*/ 635 h 1033"/>
                  <a:gd name="T30" fmla="*/ 442 w 443"/>
                  <a:gd name="T31" fmla="*/ 619 h 1033"/>
                  <a:gd name="T32" fmla="*/ 438 w 443"/>
                  <a:gd name="T33" fmla="*/ 604 h 1033"/>
                  <a:gd name="T34" fmla="*/ 400 w 443"/>
                  <a:gd name="T35" fmla="*/ 543 h 1033"/>
                  <a:gd name="T36" fmla="*/ 384 w 443"/>
                  <a:gd name="T37" fmla="*/ 474 h 1033"/>
                  <a:gd name="T38" fmla="*/ 354 w 443"/>
                  <a:gd name="T39" fmla="*/ 455 h 1033"/>
                  <a:gd name="T40" fmla="*/ 326 w 443"/>
                  <a:gd name="T41" fmla="*/ 433 h 1033"/>
                  <a:gd name="T42" fmla="*/ 312 w 443"/>
                  <a:gd name="T43" fmla="*/ 411 h 1033"/>
                  <a:gd name="T44" fmla="*/ 307 w 443"/>
                  <a:gd name="T45" fmla="*/ 391 h 1033"/>
                  <a:gd name="T46" fmla="*/ 290 w 443"/>
                  <a:gd name="T47" fmla="*/ 339 h 1033"/>
                  <a:gd name="T48" fmla="*/ 308 w 443"/>
                  <a:gd name="T49" fmla="*/ 289 h 1033"/>
                  <a:gd name="T50" fmla="*/ 298 w 443"/>
                  <a:gd name="T51" fmla="*/ 278 h 1033"/>
                  <a:gd name="T52" fmla="*/ 280 w 443"/>
                  <a:gd name="T53" fmla="*/ 307 h 1033"/>
                  <a:gd name="T54" fmla="*/ 269 w 443"/>
                  <a:gd name="T55" fmla="*/ 283 h 1033"/>
                  <a:gd name="T56" fmla="*/ 272 w 443"/>
                  <a:gd name="T57" fmla="*/ 224 h 1033"/>
                  <a:gd name="T58" fmla="*/ 280 w 443"/>
                  <a:gd name="T59" fmla="*/ 177 h 1033"/>
                  <a:gd name="T60" fmla="*/ 280 w 443"/>
                  <a:gd name="T61" fmla="*/ 146 h 1033"/>
                  <a:gd name="T62" fmla="*/ 281 w 443"/>
                  <a:gd name="T63" fmla="*/ 123 h 1033"/>
                  <a:gd name="T64" fmla="*/ 290 w 443"/>
                  <a:gd name="T65" fmla="*/ 104 h 1033"/>
                  <a:gd name="T66" fmla="*/ 296 w 443"/>
                  <a:gd name="T67" fmla="*/ 97 h 1033"/>
                  <a:gd name="T68" fmla="*/ 298 w 443"/>
                  <a:gd name="T69" fmla="*/ 94 h 1033"/>
                  <a:gd name="T70" fmla="*/ 301 w 443"/>
                  <a:gd name="T71" fmla="*/ 92 h 1033"/>
                  <a:gd name="T72" fmla="*/ 307 w 443"/>
                  <a:gd name="T73" fmla="*/ 83 h 1033"/>
                  <a:gd name="T74" fmla="*/ 317 w 443"/>
                  <a:gd name="T75" fmla="*/ 79 h 1033"/>
                  <a:gd name="T76" fmla="*/ 328 w 443"/>
                  <a:gd name="T77" fmla="*/ 77 h 1033"/>
                  <a:gd name="T78" fmla="*/ 337 w 443"/>
                  <a:gd name="T79" fmla="*/ 74 h 1033"/>
                  <a:gd name="T80" fmla="*/ 345 w 443"/>
                  <a:gd name="T81" fmla="*/ 67 h 1033"/>
                  <a:gd name="T82" fmla="*/ 337 w 443"/>
                  <a:gd name="T83" fmla="*/ 50 h 1033"/>
                  <a:gd name="T84" fmla="*/ 337 w 443"/>
                  <a:gd name="T85" fmla="*/ 47 h 1033"/>
                  <a:gd name="T86" fmla="*/ 337 w 443"/>
                  <a:gd name="T87" fmla="*/ 43 h 1033"/>
                  <a:gd name="T88" fmla="*/ 337 w 443"/>
                  <a:gd name="T89" fmla="*/ 41 h 1033"/>
                  <a:gd name="T90" fmla="*/ 334 w 443"/>
                  <a:gd name="T91" fmla="*/ 38 h 1033"/>
                  <a:gd name="T92" fmla="*/ 321 w 443"/>
                  <a:gd name="T93" fmla="*/ 21 h 1033"/>
                  <a:gd name="T94" fmla="*/ 316 w 443"/>
                  <a:gd name="T95" fmla="*/ 0 h 1033"/>
                  <a:gd name="T96" fmla="*/ 188 w 443"/>
                  <a:gd name="T97" fmla="*/ 94 h 1033"/>
                  <a:gd name="T98" fmla="*/ 88 w 443"/>
                  <a:gd name="T99" fmla="*/ 218 h 1033"/>
                  <a:gd name="T100" fmla="*/ 21 w 443"/>
                  <a:gd name="T101" fmla="*/ 366 h 1033"/>
                  <a:gd name="T102" fmla="*/ 0 w 443"/>
                  <a:gd name="T103" fmla="*/ 530 h 1033"/>
                  <a:gd name="T104" fmla="*/ 20 w 443"/>
                  <a:gd name="T105" fmla="*/ 680 h 1033"/>
                  <a:gd name="T106" fmla="*/ 74 w 443"/>
                  <a:gd name="T107" fmla="*/ 819 h 1033"/>
                  <a:gd name="T108" fmla="*/ 160 w 443"/>
                  <a:gd name="T109" fmla="*/ 938 h 1033"/>
                  <a:gd name="T110" fmla="*/ 272 w 443"/>
                  <a:gd name="T111" fmla="*/ 1032 h 10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43" h="1033">
                    <a:moveTo>
                      <a:pt x="272" y="1032"/>
                    </a:moveTo>
                    <a:lnTo>
                      <a:pt x="290" y="1016"/>
                    </a:lnTo>
                    <a:lnTo>
                      <a:pt x="301" y="992"/>
                    </a:lnTo>
                    <a:lnTo>
                      <a:pt x="316" y="974"/>
                    </a:lnTo>
                    <a:lnTo>
                      <a:pt x="328" y="955"/>
                    </a:lnTo>
                    <a:lnTo>
                      <a:pt x="354" y="920"/>
                    </a:lnTo>
                    <a:lnTo>
                      <a:pt x="373" y="904"/>
                    </a:lnTo>
                    <a:lnTo>
                      <a:pt x="384" y="884"/>
                    </a:lnTo>
                    <a:lnTo>
                      <a:pt x="390" y="848"/>
                    </a:lnTo>
                    <a:lnTo>
                      <a:pt x="381" y="832"/>
                    </a:lnTo>
                    <a:lnTo>
                      <a:pt x="375" y="812"/>
                    </a:lnTo>
                    <a:lnTo>
                      <a:pt x="370" y="794"/>
                    </a:lnTo>
                    <a:lnTo>
                      <a:pt x="361" y="774"/>
                    </a:lnTo>
                    <a:lnTo>
                      <a:pt x="361" y="760"/>
                    </a:lnTo>
                    <a:lnTo>
                      <a:pt x="361" y="747"/>
                    </a:lnTo>
                    <a:lnTo>
                      <a:pt x="361" y="734"/>
                    </a:lnTo>
                    <a:lnTo>
                      <a:pt x="359" y="722"/>
                    </a:lnTo>
                    <a:lnTo>
                      <a:pt x="359" y="707"/>
                    </a:lnTo>
                    <a:lnTo>
                      <a:pt x="364" y="698"/>
                    </a:lnTo>
                    <a:lnTo>
                      <a:pt x="373" y="691"/>
                    </a:lnTo>
                    <a:lnTo>
                      <a:pt x="390" y="686"/>
                    </a:lnTo>
                    <a:lnTo>
                      <a:pt x="391" y="686"/>
                    </a:lnTo>
                    <a:lnTo>
                      <a:pt x="395" y="682"/>
                    </a:lnTo>
                    <a:lnTo>
                      <a:pt x="395" y="680"/>
                    </a:lnTo>
                    <a:lnTo>
                      <a:pt x="395" y="677"/>
                    </a:lnTo>
                    <a:lnTo>
                      <a:pt x="390" y="671"/>
                    </a:lnTo>
                    <a:lnTo>
                      <a:pt x="386" y="666"/>
                    </a:lnTo>
                    <a:lnTo>
                      <a:pt x="386" y="660"/>
                    </a:lnTo>
                    <a:lnTo>
                      <a:pt x="395" y="655"/>
                    </a:lnTo>
                    <a:lnTo>
                      <a:pt x="437" y="635"/>
                    </a:lnTo>
                    <a:lnTo>
                      <a:pt x="442" y="626"/>
                    </a:lnTo>
                    <a:lnTo>
                      <a:pt x="442" y="619"/>
                    </a:lnTo>
                    <a:lnTo>
                      <a:pt x="442" y="613"/>
                    </a:lnTo>
                    <a:lnTo>
                      <a:pt x="438" y="604"/>
                    </a:lnTo>
                    <a:lnTo>
                      <a:pt x="417" y="577"/>
                    </a:lnTo>
                    <a:lnTo>
                      <a:pt x="400" y="543"/>
                    </a:lnTo>
                    <a:lnTo>
                      <a:pt x="391" y="511"/>
                    </a:lnTo>
                    <a:lnTo>
                      <a:pt x="384" y="474"/>
                    </a:lnTo>
                    <a:lnTo>
                      <a:pt x="368" y="465"/>
                    </a:lnTo>
                    <a:lnTo>
                      <a:pt x="354" y="455"/>
                    </a:lnTo>
                    <a:lnTo>
                      <a:pt x="339" y="444"/>
                    </a:lnTo>
                    <a:lnTo>
                      <a:pt x="326" y="433"/>
                    </a:lnTo>
                    <a:lnTo>
                      <a:pt x="317" y="422"/>
                    </a:lnTo>
                    <a:lnTo>
                      <a:pt x="312" y="411"/>
                    </a:lnTo>
                    <a:lnTo>
                      <a:pt x="308" y="402"/>
                    </a:lnTo>
                    <a:lnTo>
                      <a:pt x="307" y="391"/>
                    </a:lnTo>
                    <a:lnTo>
                      <a:pt x="285" y="363"/>
                    </a:lnTo>
                    <a:lnTo>
                      <a:pt x="290" y="339"/>
                    </a:lnTo>
                    <a:lnTo>
                      <a:pt x="301" y="314"/>
                    </a:lnTo>
                    <a:lnTo>
                      <a:pt x="308" y="289"/>
                    </a:lnTo>
                    <a:lnTo>
                      <a:pt x="308" y="267"/>
                    </a:lnTo>
                    <a:lnTo>
                      <a:pt x="298" y="278"/>
                    </a:lnTo>
                    <a:lnTo>
                      <a:pt x="287" y="294"/>
                    </a:lnTo>
                    <a:lnTo>
                      <a:pt x="280" y="307"/>
                    </a:lnTo>
                    <a:lnTo>
                      <a:pt x="272" y="314"/>
                    </a:lnTo>
                    <a:lnTo>
                      <a:pt x="269" y="283"/>
                    </a:lnTo>
                    <a:lnTo>
                      <a:pt x="271" y="254"/>
                    </a:lnTo>
                    <a:lnTo>
                      <a:pt x="272" y="224"/>
                    </a:lnTo>
                    <a:lnTo>
                      <a:pt x="272" y="195"/>
                    </a:lnTo>
                    <a:lnTo>
                      <a:pt x="280" y="177"/>
                    </a:lnTo>
                    <a:lnTo>
                      <a:pt x="280" y="164"/>
                    </a:lnTo>
                    <a:lnTo>
                      <a:pt x="280" y="146"/>
                    </a:lnTo>
                    <a:lnTo>
                      <a:pt x="281" y="133"/>
                    </a:lnTo>
                    <a:lnTo>
                      <a:pt x="281" y="123"/>
                    </a:lnTo>
                    <a:lnTo>
                      <a:pt x="285" y="113"/>
                    </a:lnTo>
                    <a:lnTo>
                      <a:pt x="290" y="104"/>
                    </a:lnTo>
                    <a:lnTo>
                      <a:pt x="296" y="97"/>
                    </a:lnTo>
                    <a:lnTo>
                      <a:pt x="298" y="94"/>
                    </a:lnTo>
                    <a:lnTo>
                      <a:pt x="301" y="92"/>
                    </a:lnTo>
                    <a:lnTo>
                      <a:pt x="303" y="86"/>
                    </a:lnTo>
                    <a:lnTo>
                      <a:pt x="307" y="83"/>
                    </a:lnTo>
                    <a:lnTo>
                      <a:pt x="308" y="83"/>
                    </a:lnTo>
                    <a:lnTo>
                      <a:pt x="317" y="79"/>
                    </a:lnTo>
                    <a:lnTo>
                      <a:pt x="323" y="77"/>
                    </a:lnTo>
                    <a:lnTo>
                      <a:pt x="328" y="77"/>
                    </a:lnTo>
                    <a:lnTo>
                      <a:pt x="334" y="74"/>
                    </a:lnTo>
                    <a:lnTo>
                      <a:pt x="337" y="74"/>
                    </a:lnTo>
                    <a:lnTo>
                      <a:pt x="339" y="72"/>
                    </a:lnTo>
                    <a:lnTo>
                      <a:pt x="345" y="67"/>
                    </a:lnTo>
                    <a:lnTo>
                      <a:pt x="345" y="63"/>
                    </a:lnTo>
                    <a:lnTo>
                      <a:pt x="337" y="50"/>
                    </a:lnTo>
                    <a:lnTo>
                      <a:pt x="337" y="47"/>
                    </a:lnTo>
                    <a:lnTo>
                      <a:pt x="337" y="43"/>
                    </a:lnTo>
                    <a:lnTo>
                      <a:pt x="337" y="41"/>
                    </a:lnTo>
                    <a:lnTo>
                      <a:pt x="334" y="41"/>
                    </a:lnTo>
                    <a:lnTo>
                      <a:pt x="334" y="38"/>
                    </a:lnTo>
                    <a:lnTo>
                      <a:pt x="328" y="30"/>
                    </a:lnTo>
                    <a:lnTo>
                      <a:pt x="321" y="21"/>
                    </a:lnTo>
                    <a:lnTo>
                      <a:pt x="317" y="11"/>
                    </a:lnTo>
                    <a:lnTo>
                      <a:pt x="316" y="0"/>
                    </a:lnTo>
                    <a:lnTo>
                      <a:pt x="249" y="41"/>
                    </a:lnTo>
                    <a:lnTo>
                      <a:pt x="188" y="94"/>
                    </a:lnTo>
                    <a:lnTo>
                      <a:pt x="133" y="151"/>
                    </a:lnTo>
                    <a:lnTo>
                      <a:pt x="88" y="218"/>
                    </a:lnTo>
                    <a:lnTo>
                      <a:pt x="50" y="289"/>
                    </a:lnTo>
                    <a:lnTo>
                      <a:pt x="21" y="366"/>
                    </a:lnTo>
                    <a:lnTo>
                      <a:pt x="5" y="446"/>
                    </a:lnTo>
                    <a:lnTo>
                      <a:pt x="0" y="530"/>
                    </a:lnTo>
                    <a:lnTo>
                      <a:pt x="5" y="608"/>
                    </a:lnTo>
                    <a:lnTo>
                      <a:pt x="20" y="680"/>
                    </a:lnTo>
                    <a:lnTo>
                      <a:pt x="45" y="751"/>
                    </a:lnTo>
                    <a:lnTo>
                      <a:pt x="74" y="819"/>
                    </a:lnTo>
                    <a:lnTo>
                      <a:pt x="114" y="879"/>
                    </a:lnTo>
                    <a:lnTo>
                      <a:pt x="160" y="938"/>
                    </a:lnTo>
                    <a:lnTo>
                      <a:pt x="215" y="987"/>
                    </a:lnTo>
                    <a:lnTo>
                      <a:pt x="272" y="1032"/>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0" name="Freeform 26"/>
              <p:cNvSpPr>
                <a:spLocks/>
              </p:cNvSpPr>
              <p:nvPr/>
            </p:nvSpPr>
            <p:spPr bwMode="invGray">
              <a:xfrm>
                <a:off x="379" y="2327"/>
                <a:ext cx="824" cy="1203"/>
              </a:xfrm>
              <a:custGeom>
                <a:avLst/>
                <a:gdLst>
                  <a:gd name="T0" fmla="*/ 796 w 824"/>
                  <a:gd name="T1" fmla="*/ 688 h 1203"/>
                  <a:gd name="T2" fmla="*/ 756 w 824"/>
                  <a:gd name="T3" fmla="*/ 641 h 1203"/>
                  <a:gd name="T4" fmla="*/ 812 w 824"/>
                  <a:gd name="T5" fmla="*/ 615 h 1203"/>
                  <a:gd name="T6" fmla="*/ 814 w 824"/>
                  <a:gd name="T7" fmla="*/ 502 h 1203"/>
                  <a:gd name="T8" fmla="*/ 705 w 824"/>
                  <a:gd name="T9" fmla="*/ 247 h 1203"/>
                  <a:gd name="T10" fmla="*/ 651 w 824"/>
                  <a:gd name="T11" fmla="*/ 262 h 1203"/>
                  <a:gd name="T12" fmla="*/ 574 w 824"/>
                  <a:gd name="T13" fmla="*/ 289 h 1203"/>
                  <a:gd name="T14" fmla="*/ 536 w 824"/>
                  <a:gd name="T15" fmla="*/ 258 h 1203"/>
                  <a:gd name="T16" fmla="*/ 563 w 824"/>
                  <a:gd name="T17" fmla="*/ 170 h 1203"/>
                  <a:gd name="T18" fmla="*/ 532 w 824"/>
                  <a:gd name="T19" fmla="*/ 81 h 1203"/>
                  <a:gd name="T20" fmla="*/ 455 w 824"/>
                  <a:gd name="T21" fmla="*/ 56 h 1203"/>
                  <a:gd name="T22" fmla="*/ 484 w 824"/>
                  <a:gd name="T23" fmla="*/ 150 h 1203"/>
                  <a:gd name="T24" fmla="*/ 465 w 824"/>
                  <a:gd name="T25" fmla="*/ 190 h 1203"/>
                  <a:gd name="T26" fmla="*/ 442 w 824"/>
                  <a:gd name="T27" fmla="*/ 200 h 1203"/>
                  <a:gd name="T28" fmla="*/ 419 w 824"/>
                  <a:gd name="T29" fmla="*/ 164 h 1203"/>
                  <a:gd name="T30" fmla="*/ 381 w 824"/>
                  <a:gd name="T31" fmla="*/ 108 h 1203"/>
                  <a:gd name="T32" fmla="*/ 406 w 824"/>
                  <a:gd name="T33" fmla="*/ 108 h 1203"/>
                  <a:gd name="T34" fmla="*/ 424 w 824"/>
                  <a:gd name="T35" fmla="*/ 72 h 1203"/>
                  <a:gd name="T36" fmla="*/ 325 w 824"/>
                  <a:gd name="T37" fmla="*/ 0 h 1203"/>
                  <a:gd name="T38" fmla="*/ 281 w 824"/>
                  <a:gd name="T39" fmla="*/ 27 h 1203"/>
                  <a:gd name="T40" fmla="*/ 240 w 824"/>
                  <a:gd name="T41" fmla="*/ 72 h 1203"/>
                  <a:gd name="T42" fmla="*/ 209 w 824"/>
                  <a:gd name="T43" fmla="*/ 114 h 1203"/>
                  <a:gd name="T44" fmla="*/ 209 w 824"/>
                  <a:gd name="T45" fmla="*/ 150 h 1203"/>
                  <a:gd name="T46" fmla="*/ 240 w 824"/>
                  <a:gd name="T47" fmla="*/ 164 h 1203"/>
                  <a:gd name="T48" fmla="*/ 209 w 824"/>
                  <a:gd name="T49" fmla="*/ 222 h 1203"/>
                  <a:gd name="T50" fmla="*/ 213 w 824"/>
                  <a:gd name="T51" fmla="*/ 242 h 1203"/>
                  <a:gd name="T52" fmla="*/ 267 w 824"/>
                  <a:gd name="T53" fmla="*/ 222 h 1203"/>
                  <a:gd name="T54" fmla="*/ 303 w 824"/>
                  <a:gd name="T55" fmla="*/ 170 h 1203"/>
                  <a:gd name="T56" fmla="*/ 354 w 824"/>
                  <a:gd name="T57" fmla="*/ 231 h 1203"/>
                  <a:gd name="T58" fmla="*/ 372 w 824"/>
                  <a:gd name="T59" fmla="*/ 291 h 1203"/>
                  <a:gd name="T60" fmla="*/ 348 w 824"/>
                  <a:gd name="T61" fmla="*/ 294 h 1203"/>
                  <a:gd name="T62" fmla="*/ 298 w 824"/>
                  <a:gd name="T63" fmla="*/ 309 h 1203"/>
                  <a:gd name="T64" fmla="*/ 323 w 824"/>
                  <a:gd name="T65" fmla="*/ 330 h 1203"/>
                  <a:gd name="T66" fmla="*/ 260 w 824"/>
                  <a:gd name="T67" fmla="*/ 339 h 1203"/>
                  <a:gd name="T68" fmla="*/ 189 w 824"/>
                  <a:gd name="T69" fmla="*/ 411 h 1203"/>
                  <a:gd name="T70" fmla="*/ 184 w 824"/>
                  <a:gd name="T71" fmla="*/ 469 h 1203"/>
                  <a:gd name="T72" fmla="*/ 148 w 824"/>
                  <a:gd name="T73" fmla="*/ 435 h 1203"/>
                  <a:gd name="T74" fmla="*/ 83 w 824"/>
                  <a:gd name="T75" fmla="*/ 402 h 1203"/>
                  <a:gd name="T76" fmla="*/ 0 w 824"/>
                  <a:gd name="T77" fmla="*/ 455 h 1203"/>
                  <a:gd name="T78" fmla="*/ 54 w 824"/>
                  <a:gd name="T79" fmla="*/ 496 h 1203"/>
                  <a:gd name="T80" fmla="*/ 74 w 824"/>
                  <a:gd name="T81" fmla="*/ 485 h 1203"/>
                  <a:gd name="T82" fmla="*/ 54 w 824"/>
                  <a:gd name="T83" fmla="*/ 608 h 1203"/>
                  <a:gd name="T84" fmla="*/ 132 w 824"/>
                  <a:gd name="T85" fmla="*/ 641 h 1203"/>
                  <a:gd name="T86" fmla="*/ 195 w 824"/>
                  <a:gd name="T87" fmla="*/ 661 h 1203"/>
                  <a:gd name="T88" fmla="*/ 249 w 824"/>
                  <a:gd name="T89" fmla="*/ 744 h 1203"/>
                  <a:gd name="T90" fmla="*/ 334 w 824"/>
                  <a:gd name="T91" fmla="*/ 886 h 1203"/>
                  <a:gd name="T92" fmla="*/ 391 w 824"/>
                  <a:gd name="T93" fmla="*/ 1007 h 1203"/>
                  <a:gd name="T94" fmla="*/ 292 w 824"/>
                  <a:gd name="T95" fmla="*/ 1052 h 1203"/>
                  <a:gd name="T96" fmla="*/ 182 w 824"/>
                  <a:gd name="T97" fmla="*/ 1105 h 1203"/>
                  <a:gd name="T98" fmla="*/ 68 w 824"/>
                  <a:gd name="T99" fmla="*/ 1180 h 1203"/>
                  <a:gd name="T100" fmla="*/ 200 w 824"/>
                  <a:gd name="T101" fmla="*/ 1202 h 1203"/>
                  <a:gd name="T102" fmla="*/ 417 w 824"/>
                  <a:gd name="T103" fmla="*/ 1168 h 1203"/>
                  <a:gd name="T104" fmla="*/ 613 w 824"/>
                  <a:gd name="T105" fmla="*/ 1052 h 1203"/>
                  <a:gd name="T106" fmla="*/ 610 w 824"/>
                  <a:gd name="T107" fmla="*/ 929 h 1203"/>
                  <a:gd name="T108" fmla="*/ 543 w 824"/>
                  <a:gd name="T109" fmla="*/ 888 h 1203"/>
                  <a:gd name="T110" fmla="*/ 567 w 824"/>
                  <a:gd name="T111" fmla="*/ 791 h 1203"/>
                  <a:gd name="T112" fmla="*/ 655 w 824"/>
                  <a:gd name="T113" fmla="*/ 738 h 1203"/>
                  <a:gd name="T114" fmla="*/ 725 w 824"/>
                  <a:gd name="T115" fmla="*/ 713 h 1203"/>
                  <a:gd name="T116" fmla="*/ 792 w 824"/>
                  <a:gd name="T117" fmla="*/ 729 h 120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24" h="1203">
                    <a:moveTo>
                      <a:pt x="803" y="736"/>
                    </a:moveTo>
                    <a:lnTo>
                      <a:pt x="807" y="724"/>
                    </a:lnTo>
                    <a:lnTo>
                      <a:pt x="808" y="713"/>
                    </a:lnTo>
                    <a:lnTo>
                      <a:pt x="812" y="702"/>
                    </a:lnTo>
                    <a:lnTo>
                      <a:pt x="814" y="691"/>
                    </a:lnTo>
                    <a:lnTo>
                      <a:pt x="803" y="691"/>
                    </a:lnTo>
                    <a:lnTo>
                      <a:pt x="796" y="688"/>
                    </a:lnTo>
                    <a:lnTo>
                      <a:pt x="783" y="686"/>
                    </a:lnTo>
                    <a:lnTo>
                      <a:pt x="776" y="680"/>
                    </a:lnTo>
                    <a:lnTo>
                      <a:pt x="770" y="675"/>
                    </a:lnTo>
                    <a:lnTo>
                      <a:pt x="767" y="666"/>
                    </a:lnTo>
                    <a:lnTo>
                      <a:pt x="761" y="661"/>
                    </a:lnTo>
                    <a:lnTo>
                      <a:pt x="760" y="655"/>
                    </a:lnTo>
                    <a:lnTo>
                      <a:pt x="756" y="641"/>
                    </a:lnTo>
                    <a:lnTo>
                      <a:pt x="756" y="624"/>
                    </a:lnTo>
                    <a:lnTo>
                      <a:pt x="760" y="610"/>
                    </a:lnTo>
                    <a:lnTo>
                      <a:pt x="767" y="599"/>
                    </a:lnTo>
                    <a:lnTo>
                      <a:pt x="781" y="597"/>
                    </a:lnTo>
                    <a:lnTo>
                      <a:pt x="792" y="599"/>
                    </a:lnTo>
                    <a:lnTo>
                      <a:pt x="803" y="608"/>
                    </a:lnTo>
                    <a:lnTo>
                      <a:pt x="812" y="615"/>
                    </a:lnTo>
                    <a:lnTo>
                      <a:pt x="819" y="628"/>
                    </a:lnTo>
                    <a:lnTo>
                      <a:pt x="823" y="619"/>
                    </a:lnTo>
                    <a:lnTo>
                      <a:pt x="823" y="610"/>
                    </a:lnTo>
                    <a:lnTo>
                      <a:pt x="823" y="605"/>
                    </a:lnTo>
                    <a:lnTo>
                      <a:pt x="823" y="597"/>
                    </a:lnTo>
                    <a:lnTo>
                      <a:pt x="819" y="549"/>
                    </a:lnTo>
                    <a:lnTo>
                      <a:pt x="814" y="502"/>
                    </a:lnTo>
                    <a:lnTo>
                      <a:pt x="807" y="455"/>
                    </a:lnTo>
                    <a:lnTo>
                      <a:pt x="792" y="411"/>
                    </a:lnTo>
                    <a:lnTo>
                      <a:pt x="776" y="366"/>
                    </a:lnTo>
                    <a:lnTo>
                      <a:pt x="756" y="325"/>
                    </a:lnTo>
                    <a:lnTo>
                      <a:pt x="734" y="285"/>
                    </a:lnTo>
                    <a:lnTo>
                      <a:pt x="709" y="247"/>
                    </a:lnTo>
                    <a:lnTo>
                      <a:pt x="705" y="247"/>
                    </a:lnTo>
                    <a:lnTo>
                      <a:pt x="702" y="244"/>
                    </a:lnTo>
                    <a:lnTo>
                      <a:pt x="698" y="244"/>
                    </a:lnTo>
                    <a:lnTo>
                      <a:pt x="693" y="242"/>
                    </a:lnTo>
                    <a:lnTo>
                      <a:pt x="677" y="253"/>
                    </a:lnTo>
                    <a:lnTo>
                      <a:pt x="668" y="254"/>
                    </a:lnTo>
                    <a:lnTo>
                      <a:pt x="660" y="258"/>
                    </a:lnTo>
                    <a:lnTo>
                      <a:pt x="651" y="262"/>
                    </a:lnTo>
                    <a:lnTo>
                      <a:pt x="642" y="264"/>
                    </a:lnTo>
                    <a:lnTo>
                      <a:pt x="631" y="267"/>
                    </a:lnTo>
                    <a:lnTo>
                      <a:pt x="619" y="273"/>
                    </a:lnTo>
                    <a:lnTo>
                      <a:pt x="606" y="278"/>
                    </a:lnTo>
                    <a:lnTo>
                      <a:pt x="594" y="283"/>
                    </a:lnTo>
                    <a:lnTo>
                      <a:pt x="583" y="285"/>
                    </a:lnTo>
                    <a:lnTo>
                      <a:pt x="574" y="289"/>
                    </a:lnTo>
                    <a:lnTo>
                      <a:pt x="567" y="291"/>
                    </a:lnTo>
                    <a:lnTo>
                      <a:pt x="557" y="289"/>
                    </a:lnTo>
                    <a:lnTo>
                      <a:pt x="554" y="285"/>
                    </a:lnTo>
                    <a:lnTo>
                      <a:pt x="548" y="280"/>
                    </a:lnTo>
                    <a:lnTo>
                      <a:pt x="547" y="278"/>
                    </a:lnTo>
                    <a:lnTo>
                      <a:pt x="543" y="273"/>
                    </a:lnTo>
                    <a:lnTo>
                      <a:pt x="536" y="258"/>
                    </a:lnTo>
                    <a:lnTo>
                      <a:pt x="532" y="244"/>
                    </a:lnTo>
                    <a:lnTo>
                      <a:pt x="532" y="231"/>
                    </a:lnTo>
                    <a:lnTo>
                      <a:pt x="530" y="217"/>
                    </a:lnTo>
                    <a:lnTo>
                      <a:pt x="532" y="202"/>
                    </a:lnTo>
                    <a:lnTo>
                      <a:pt x="541" y="190"/>
                    </a:lnTo>
                    <a:lnTo>
                      <a:pt x="552" y="177"/>
                    </a:lnTo>
                    <a:lnTo>
                      <a:pt x="563" y="170"/>
                    </a:lnTo>
                    <a:lnTo>
                      <a:pt x="574" y="159"/>
                    </a:lnTo>
                    <a:lnTo>
                      <a:pt x="583" y="146"/>
                    </a:lnTo>
                    <a:lnTo>
                      <a:pt x="588" y="134"/>
                    </a:lnTo>
                    <a:lnTo>
                      <a:pt x="588" y="119"/>
                    </a:lnTo>
                    <a:lnTo>
                      <a:pt x="568" y="105"/>
                    </a:lnTo>
                    <a:lnTo>
                      <a:pt x="552" y="92"/>
                    </a:lnTo>
                    <a:lnTo>
                      <a:pt x="532" y="81"/>
                    </a:lnTo>
                    <a:lnTo>
                      <a:pt x="512" y="70"/>
                    </a:lnTo>
                    <a:lnTo>
                      <a:pt x="491" y="58"/>
                    </a:lnTo>
                    <a:lnTo>
                      <a:pt x="471" y="47"/>
                    </a:lnTo>
                    <a:lnTo>
                      <a:pt x="449" y="38"/>
                    </a:lnTo>
                    <a:lnTo>
                      <a:pt x="428" y="31"/>
                    </a:lnTo>
                    <a:lnTo>
                      <a:pt x="442" y="45"/>
                    </a:lnTo>
                    <a:lnTo>
                      <a:pt x="455" y="56"/>
                    </a:lnTo>
                    <a:lnTo>
                      <a:pt x="465" y="63"/>
                    </a:lnTo>
                    <a:lnTo>
                      <a:pt x="484" y="74"/>
                    </a:lnTo>
                    <a:lnTo>
                      <a:pt x="485" y="88"/>
                    </a:lnTo>
                    <a:lnTo>
                      <a:pt x="484" y="105"/>
                    </a:lnTo>
                    <a:lnTo>
                      <a:pt x="478" y="123"/>
                    </a:lnTo>
                    <a:lnTo>
                      <a:pt x="478" y="135"/>
                    </a:lnTo>
                    <a:lnTo>
                      <a:pt x="484" y="150"/>
                    </a:lnTo>
                    <a:lnTo>
                      <a:pt x="484" y="155"/>
                    </a:lnTo>
                    <a:lnTo>
                      <a:pt x="480" y="161"/>
                    </a:lnTo>
                    <a:lnTo>
                      <a:pt x="474" y="166"/>
                    </a:lnTo>
                    <a:lnTo>
                      <a:pt x="469" y="170"/>
                    </a:lnTo>
                    <a:lnTo>
                      <a:pt x="465" y="175"/>
                    </a:lnTo>
                    <a:lnTo>
                      <a:pt x="465" y="180"/>
                    </a:lnTo>
                    <a:lnTo>
                      <a:pt x="465" y="190"/>
                    </a:lnTo>
                    <a:lnTo>
                      <a:pt x="464" y="195"/>
                    </a:lnTo>
                    <a:lnTo>
                      <a:pt x="460" y="197"/>
                    </a:lnTo>
                    <a:lnTo>
                      <a:pt x="458" y="200"/>
                    </a:lnTo>
                    <a:lnTo>
                      <a:pt x="455" y="200"/>
                    </a:lnTo>
                    <a:lnTo>
                      <a:pt x="453" y="200"/>
                    </a:lnTo>
                    <a:lnTo>
                      <a:pt x="447" y="197"/>
                    </a:lnTo>
                    <a:lnTo>
                      <a:pt x="442" y="200"/>
                    </a:lnTo>
                    <a:lnTo>
                      <a:pt x="433" y="202"/>
                    </a:lnTo>
                    <a:lnTo>
                      <a:pt x="428" y="202"/>
                    </a:lnTo>
                    <a:lnTo>
                      <a:pt x="424" y="200"/>
                    </a:lnTo>
                    <a:lnTo>
                      <a:pt x="424" y="197"/>
                    </a:lnTo>
                    <a:lnTo>
                      <a:pt x="422" y="195"/>
                    </a:lnTo>
                    <a:lnTo>
                      <a:pt x="419" y="164"/>
                    </a:lnTo>
                    <a:lnTo>
                      <a:pt x="411" y="159"/>
                    </a:lnTo>
                    <a:lnTo>
                      <a:pt x="406" y="150"/>
                    </a:lnTo>
                    <a:lnTo>
                      <a:pt x="397" y="141"/>
                    </a:lnTo>
                    <a:lnTo>
                      <a:pt x="390" y="134"/>
                    </a:lnTo>
                    <a:lnTo>
                      <a:pt x="386" y="125"/>
                    </a:lnTo>
                    <a:lnTo>
                      <a:pt x="384" y="117"/>
                    </a:lnTo>
                    <a:lnTo>
                      <a:pt x="381" y="108"/>
                    </a:lnTo>
                    <a:lnTo>
                      <a:pt x="384" y="103"/>
                    </a:lnTo>
                    <a:lnTo>
                      <a:pt x="386" y="99"/>
                    </a:lnTo>
                    <a:lnTo>
                      <a:pt x="390" y="99"/>
                    </a:lnTo>
                    <a:lnTo>
                      <a:pt x="390" y="97"/>
                    </a:lnTo>
                    <a:lnTo>
                      <a:pt x="391" y="97"/>
                    </a:lnTo>
                    <a:lnTo>
                      <a:pt x="397" y="103"/>
                    </a:lnTo>
                    <a:lnTo>
                      <a:pt x="406" y="108"/>
                    </a:lnTo>
                    <a:lnTo>
                      <a:pt x="413" y="110"/>
                    </a:lnTo>
                    <a:lnTo>
                      <a:pt x="422" y="110"/>
                    </a:lnTo>
                    <a:lnTo>
                      <a:pt x="424" y="110"/>
                    </a:lnTo>
                    <a:lnTo>
                      <a:pt x="424" y="108"/>
                    </a:lnTo>
                    <a:lnTo>
                      <a:pt x="424" y="72"/>
                    </a:lnTo>
                    <a:lnTo>
                      <a:pt x="411" y="56"/>
                    </a:lnTo>
                    <a:lnTo>
                      <a:pt x="395" y="42"/>
                    </a:lnTo>
                    <a:lnTo>
                      <a:pt x="377" y="27"/>
                    </a:lnTo>
                    <a:lnTo>
                      <a:pt x="364" y="9"/>
                    </a:lnTo>
                    <a:lnTo>
                      <a:pt x="350" y="5"/>
                    </a:lnTo>
                    <a:lnTo>
                      <a:pt x="339" y="2"/>
                    </a:lnTo>
                    <a:lnTo>
                      <a:pt x="325" y="0"/>
                    </a:lnTo>
                    <a:lnTo>
                      <a:pt x="312" y="0"/>
                    </a:lnTo>
                    <a:lnTo>
                      <a:pt x="308" y="0"/>
                    </a:lnTo>
                    <a:lnTo>
                      <a:pt x="308" y="2"/>
                    </a:lnTo>
                    <a:lnTo>
                      <a:pt x="308" y="5"/>
                    </a:lnTo>
                    <a:lnTo>
                      <a:pt x="307" y="9"/>
                    </a:lnTo>
                    <a:lnTo>
                      <a:pt x="289" y="14"/>
                    </a:lnTo>
                    <a:lnTo>
                      <a:pt x="281" y="27"/>
                    </a:lnTo>
                    <a:lnTo>
                      <a:pt x="276" y="42"/>
                    </a:lnTo>
                    <a:lnTo>
                      <a:pt x="265" y="56"/>
                    </a:lnTo>
                    <a:lnTo>
                      <a:pt x="260" y="56"/>
                    </a:lnTo>
                    <a:lnTo>
                      <a:pt x="256" y="56"/>
                    </a:lnTo>
                    <a:lnTo>
                      <a:pt x="251" y="56"/>
                    </a:lnTo>
                    <a:lnTo>
                      <a:pt x="249" y="58"/>
                    </a:lnTo>
                    <a:lnTo>
                      <a:pt x="240" y="72"/>
                    </a:lnTo>
                    <a:lnTo>
                      <a:pt x="231" y="87"/>
                    </a:lnTo>
                    <a:lnTo>
                      <a:pt x="224" y="99"/>
                    </a:lnTo>
                    <a:lnTo>
                      <a:pt x="213" y="110"/>
                    </a:lnTo>
                    <a:lnTo>
                      <a:pt x="209" y="110"/>
                    </a:lnTo>
                    <a:lnTo>
                      <a:pt x="209" y="114"/>
                    </a:lnTo>
                    <a:lnTo>
                      <a:pt x="184" y="139"/>
                    </a:lnTo>
                    <a:lnTo>
                      <a:pt x="184" y="141"/>
                    </a:lnTo>
                    <a:lnTo>
                      <a:pt x="195" y="146"/>
                    </a:lnTo>
                    <a:lnTo>
                      <a:pt x="209" y="150"/>
                    </a:lnTo>
                    <a:lnTo>
                      <a:pt x="224" y="153"/>
                    </a:lnTo>
                    <a:lnTo>
                      <a:pt x="234" y="153"/>
                    </a:lnTo>
                    <a:lnTo>
                      <a:pt x="236" y="155"/>
                    </a:lnTo>
                    <a:lnTo>
                      <a:pt x="240" y="155"/>
                    </a:lnTo>
                    <a:lnTo>
                      <a:pt x="240" y="159"/>
                    </a:lnTo>
                    <a:lnTo>
                      <a:pt x="242" y="161"/>
                    </a:lnTo>
                    <a:lnTo>
                      <a:pt x="240" y="164"/>
                    </a:lnTo>
                    <a:lnTo>
                      <a:pt x="234" y="166"/>
                    </a:lnTo>
                    <a:lnTo>
                      <a:pt x="231" y="170"/>
                    </a:lnTo>
                    <a:lnTo>
                      <a:pt x="225" y="171"/>
                    </a:lnTo>
                    <a:lnTo>
                      <a:pt x="220" y="180"/>
                    </a:lnTo>
                    <a:lnTo>
                      <a:pt x="215" y="195"/>
                    </a:lnTo>
                    <a:lnTo>
                      <a:pt x="209" y="208"/>
                    </a:lnTo>
                    <a:lnTo>
                      <a:pt x="209" y="222"/>
                    </a:lnTo>
                    <a:lnTo>
                      <a:pt x="213" y="227"/>
                    </a:lnTo>
                    <a:lnTo>
                      <a:pt x="215" y="227"/>
                    </a:lnTo>
                    <a:lnTo>
                      <a:pt x="213" y="231"/>
                    </a:lnTo>
                    <a:lnTo>
                      <a:pt x="209" y="238"/>
                    </a:lnTo>
                    <a:lnTo>
                      <a:pt x="213" y="242"/>
                    </a:lnTo>
                    <a:lnTo>
                      <a:pt x="215" y="244"/>
                    </a:lnTo>
                    <a:lnTo>
                      <a:pt x="231" y="233"/>
                    </a:lnTo>
                    <a:lnTo>
                      <a:pt x="260" y="231"/>
                    </a:lnTo>
                    <a:lnTo>
                      <a:pt x="260" y="227"/>
                    </a:lnTo>
                    <a:lnTo>
                      <a:pt x="262" y="226"/>
                    </a:lnTo>
                    <a:lnTo>
                      <a:pt x="265" y="226"/>
                    </a:lnTo>
                    <a:lnTo>
                      <a:pt x="267" y="222"/>
                    </a:lnTo>
                    <a:lnTo>
                      <a:pt x="267" y="200"/>
                    </a:lnTo>
                    <a:lnTo>
                      <a:pt x="289" y="155"/>
                    </a:lnTo>
                    <a:lnTo>
                      <a:pt x="292" y="155"/>
                    </a:lnTo>
                    <a:lnTo>
                      <a:pt x="303" y="170"/>
                    </a:lnTo>
                    <a:lnTo>
                      <a:pt x="312" y="180"/>
                    </a:lnTo>
                    <a:lnTo>
                      <a:pt x="323" y="195"/>
                    </a:lnTo>
                    <a:lnTo>
                      <a:pt x="336" y="206"/>
                    </a:lnTo>
                    <a:lnTo>
                      <a:pt x="343" y="211"/>
                    </a:lnTo>
                    <a:lnTo>
                      <a:pt x="345" y="217"/>
                    </a:lnTo>
                    <a:lnTo>
                      <a:pt x="350" y="226"/>
                    </a:lnTo>
                    <a:lnTo>
                      <a:pt x="354" y="231"/>
                    </a:lnTo>
                    <a:lnTo>
                      <a:pt x="354" y="244"/>
                    </a:lnTo>
                    <a:lnTo>
                      <a:pt x="354" y="258"/>
                    </a:lnTo>
                    <a:lnTo>
                      <a:pt x="359" y="273"/>
                    </a:lnTo>
                    <a:lnTo>
                      <a:pt x="364" y="283"/>
                    </a:lnTo>
                    <a:lnTo>
                      <a:pt x="366" y="285"/>
                    </a:lnTo>
                    <a:lnTo>
                      <a:pt x="370" y="289"/>
                    </a:lnTo>
                    <a:lnTo>
                      <a:pt x="372" y="291"/>
                    </a:lnTo>
                    <a:lnTo>
                      <a:pt x="375" y="294"/>
                    </a:lnTo>
                    <a:lnTo>
                      <a:pt x="375" y="298"/>
                    </a:lnTo>
                    <a:lnTo>
                      <a:pt x="372" y="300"/>
                    </a:lnTo>
                    <a:lnTo>
                      <a:pt x="372" y="305"/>
                    </a:lnTo>
                    <a:lnTo>
                      <a:pt x="370" y="309"/>
                    </a:lnTo>
                    <a:lnTo>
                      <a:pt x="359" y="305"/>
                    </a:lnTo>
                    <a:lnTo>
                      <a:pt x="348" y="294"/>
                    </a:lnTo>
                    <a:lnTo>
                      <a:pt x="336" y="285"/>
                    </a:lnTo>
                    <a:lnTo>
                      <a:pt x="323" y="283"/>
                    </a:lnTo>
                    <a:lnTo>
                      <a:pt x="314" y="289"/>
                    </a:lnTo>
                    <a:lnTo>
                      <a:pt x="308" y="294"/>
                    </a:lnTo>
                    <a:lnTo>
                      <a:pt x="299" y="300"/>
                    </a:lnTo>
                    <a:lnTo>
                      <a:pt x="296" y="305"/>
                    </a:lnTo>
                    <a:lnTo>
                      <a:pt x="298" y="309"/>
                    </a:lnTo>
                    <a:lnTo>
                      <a:pt x="299" y="310"/>
                    </a:lnTo>
                    <a:lnTo>
                      <a:pt x="299" y="314"/>
                    </a:lnTo>
                    <a:lnTo>
                      <a:pt x="303" y="314"/>
                    </a:lnTo>
                    <a:lnTo>
                      <a:pt x="312" y="314"/>
                    </a:lnTo>
                    <a:lnTo>
                      <a:pt x="317" y="316"/>
                    </a:lnTo>
                    <a:lnTo>
                      <a:pt x="319" y="321"/>
                    </a:lnTo>
                    <a:lnTo>
                      <a:pt x="323" y="330"/>
                    </a:lnTo>
                    <a:lnTo>
                      <a:pt x="319" y="334"/>
                    </a:lnTo>
                    <a:lnTo>
                      <a:pt x="317" y="339"/>
                    </a:lnTo>
                    <a:lnTo>
                      <a:pt x="260" y="327"/>
                    </a:lnTo>
                    <a:lnTo>
                      <a:pt x="260" y="334"/>
                    </a:lnTo>
                    <a:lnTo>
                      <a:pt x="260" y="339"/>
                    </a:lnTo>
                    <a:lnTo>
                      <a:pt x="260" y="345"/>
                    </a:lnTo>
                    <a:lnTo>
                      <a:pt x="256" y="347"/>
                    </a:lnTo>
                    <a:lnTo>
                      <a:pt x="251" y="356"/>
                    </a:lnTo>
                    <a:lnTo>
                      <a:pt x="249" y="357"/>
                    </a:lnTo>
                    <a:lnTo>
                      <a:pt x="242" y="366"/>
                    </a:lnTo>
                    <a:lnTo>
                      <a:pt x="225" y="393"/>
                    </a:lnTo>
                    <a:lnTo>
                      <a:pt x="189" y="411"/>
                    </a:lnTo>
                    <a:lnTo>
                      <a:pt x="188" y="413"/>
                    </a:lnTo>
                    <a:lnTo>
                      <a:pt x="184" y="419"/>
                    </a:lnTo>
                    <a:lnTo>
                      <a:pt x="184" y="424"/>
                    </a:lnTo>
                    <a:lnTo>
                      <a:pt x="184" y="430"/>
                    </a:lnTo>
                    <a:lnTo>
                      <a:pt x="184" y="439"/>
                    </a:lnTo>
                    <a:lnTo>
                      <a:pt x="184" y="453"/>
                    </a:lnTo>
                    <a:lnTo>
                      <a:pt x="184" y="469"/>
                    </a:lnTo>
                    <a:lnTo>
                      <a:pt x="184" y="478"/>
                    </a:lnTo>
                    <a:lnTo>
                      <a:pt x="173" y="478"/>
                    </a:lnTo>
                    <a:lnTo>
                      <a:pt x="164" y="475"/>
                    </a:lnTo>
                    <a:lnTo>
                      <a:pt x="157" y="469"/>
                    </a:lnTo>
                    <a:lnTo>
                      <a:pt x="151" y="464"/>
                    </a:lnTo>
                    <a:lnTo>
                      <a:pt x="151" y="449"/>
                    </a:lnTo>
                    <a:lnTo>
                      <a:pt x="148" y="435"/>
                    </a:lnTo>
                    <a:lnTo>
                      <a:pt x="141" y="424"/>
                    </a:lnTo>
                    <a:lnTo>
                      <a:pt x="130" y="413"/>
                    </a:lnTo>
                    <a:lnTo>
                      <a:pt x="117" y="417"/>
                    </a:lnTo>
                    <a:lnTo>
                      <a:pt x="110" y="417"/>
                    </a:lnTo>
                    <a:lnTo>
                      <a:pt x="101" y="413"/>
                    </a:lnTo>
                    <a:lnTo>
                      <a:pt x="94" y="408"/>
                    </a:lnTo>
                    <a:lnTo>
                      <a:pt x="83" y="402"/>
                    </a:lnTo>
                    <a:lnTo>
                      <a:pt x="72" y="397"/>
                    </a:lnTo>
                    <a:lnTo>
                      <a:pt x="59" y="393"/>
                    </a:lnTo>
                    <a:lnTo>
                      <a:pt x="49" y="392"/>
                    </a:lnTo>
                    <a:lnTo>
                      <a:pt x="38" y="402"/>
                    </a:lnTo>
                    <a:lnTo>
                      <a:pt x="21" y="424"/>
                    </a:lnTo>
                    <a:lnTo>
                      <a:pt x="5" y="448"/>
                    </a:lnTo>
                    <a:lnTo>
                      <a:pt x="0" y="455"/>
                    </a:lnTo>
                    <a:lnTo>
                      <a:pt x="21" y="475"/>
                    </a:lnTo>
                    <a:lnTo>
                      <a:pt x="25" y="516"/>
                    </a:lnTo>
                    <a:lnTo>
                      <a:pt x="29" y="516"/>
                    </a:lnTo>
                    <a:lnTo>
                      <a:pt x="38" y="513"/>
                    </a:lnTo>
                    <a:lnTo>
                      <a:pt x="43" y="511"/>
                    </a:lnTo>
                    <a:lnTo>
                      <a:pt x="49" y="505"/>
                    </a:lnTo>
                    <a:lnTo>
                      <a:pt x="54" y="496"/>
                    </a:lnTo>
                    <a:lnTo>
                      <a:pt x="58" y="491"/>
                    </a:lnTo>
                    <a:lnTo>
                      <a:pt x="63" y="485"/>
                    </a:lnTo>
                    <a:lnTo>
                      <a:pt x="72" y="480"/>
                    </a:lnTo>
                    <a:lnTo>
                      <a:pt x="74" y="480"/>
                    </a:lnTo>
                    <a:lnTo>
                      <a:pt x="74" y="484"/>
                    </a:lnTo>
                    <a:lnTo>
                      <a:pt x="74" y="485"/>
                    </a:lnTo>
                    <a:lnTo>
                      <a:pt x="63" y="538"/>
                    </a:lnTo>
                    <a:lnTo>
                      <a:pt x="79" y="556"/>
                    </a:lnTo>
                    <a:lnTo>
                      <a:pt x="77" y="567"/>
                    </a:lnTo>
                    <a:lnTo>
                      <a:pt x="68" y="574"/>
                    </a:lnTo>
                    <a:lnTo>
                      <a:pt x="59" y="583"/>
                    </a:lnTo>
                    <a:lnTo>
                      <a:pt x="54" y="597"/>
                    </a:lnTo>
                    <a:lnTo>
                      <a:pt x="54" y="608"/>
                    </a:lnTo>
                    <a:lnTo>
                      <a:pt x="63" y="619"/>
                    </a:lnTo>
                    <a:lnTo>
                      <a:pt x="74" y="630"/>
                    </a:lnTo>
                    <a:lnTo>
                      <a:pt x="88" y="641"/>
                    </a:lnTo>
                    <a:lnTo>
                      <a:pt x="101" y="646"/>
                    </a:lnTo>
                    <a:lnTo>
                      <a:pt x="114" y="646"/>
                    </a:lnTo>
                    <a:lnTo>
                      <a:pt x="124" y="644"/>
                    </a:lnTo>
                    <a:lnTo>
                      <a:pt x="132" y="641"/>
                    </a:lnTo>
                    <a:lnTo>
                      <a:pt x="141" y="635"/>
                    </a:lnTo>
                    <a:lnTo>
                      <a:pt x="148" y="635"/>
                    </a:lnTo>
                    <a:lnTo>
                      <a:pt x="153" y="639"/>
                    </a:lnTo>
                    <a:lnTo>
                      <a:pt x="160" y="641"/>
                    </a:lnTo>
                    <a:lnTo>
                      <a:pt x="168" y="644"/>
                    </a:lnTo>
                    <a:lnTo>
                      <a:pt x="184" y="652"/>
                    </a:lnTo>
                    <a:lnTo>
                      <a:pt x="195" y="661"/>
                    </a:lnTo>
                    <a:lnTo>
                      <a:pt x="209" y="670"/>
                    </a:lnTo>
                    <a:lnTo>
                      <a:pt x="220" y="677"/>
                    </a:lnTo>
                    <a:lnTo>
                      <a:pt x="225" y="691"/>
                    </a:lnTo>
                    <a:lnTo>
                      <a:pt x="229" y="706"/>
                    </a:lnTo>
                    <a:lnTo>
                      <a:pt x="231" y="722"/>
                    </a:lnTo>
                    <a:lnTo>
                      <a:pt x="234" y="738"/>
                    </a:lnTo>
                    <a:lnTo>
                      <a:pt x="249" y="744"/>
                    </a:lnTo>
                    <a:lnTo>
                      <a:pt x="262" y="749"/>
                    </a:lnTo>
                    <a:lnTo>
                      <a:pt x="276" y="758"/>
                    </a:lnTo>
                    <a:lnTo>
                      <a:pt x="287" y="772"/>
                    </a:lnTo>
                    <a:lnTo>
                      <a:pt x="298" y="800"/>
                    </a:lnTo>
                    <a:lnTo>
                      <a:pt x="308" y="830"/>
                    </a:lnTo>
                    <a:lnTo>
                      <a:pt x="319" y="861"/>
                    </a:lnTo>
                    <a:lnTo>
                      <a:pt x="334" y="886"/>
                    </a:lnTo>
                    <a:lnTo>
                      <a:pt x="350" y="904"/>
                    </a:lnTo>
                    <a:lnTo>
                      <a:pt x="366" y="924"/>
                    </a:lnTo>
                    <a:lnTo>
                      <a:pt x="381" y="944"/>
                    </a:lnTo>
                    <a:lnTo>
                      <a:pt x="395" y="966"/>
                    </a:lnTo>
                    <a:lnTo>
                      <a:pt x="397" y="980"/>
                    </a:lnTo>
                    <a:lnTo>
                      <a:pt x="397" y="993"/>
                    </a:lnTo>
                    <a:lnTo>
                      <a:pt x="391" y="1007"/>
                    </a:lnTo>
                    <a:lnTo>
                      <a:pt x="381" y="1018"/>
                    </a:lnTo>
                    <a:lnTo>
                      <a:pt x="364" y="1022"/>
                    </a:lnTo>
                    <a:lnTo>
                      <a:pt x="348" y="1027"/>
                    </a:lnTo>
                    <a:lnTo>
                      <a:pt x="334" y="1032"/>
                    </a:lnTo>
                    <a:lnTo>
                      <a:pt x="319" y="1038"/>
                    </a:lnTo>
                    <a:lnTo>
                      <a:pt x="307" y="1043"/>
                    </a:lnTo>
                    <a:lnTo>
                      <a:pt x="292" y="1052"/>
                    </a:lnTo>
                    <a:lnTo>
                      <a:pt x="278" y="1063"/>
                    </a:lnTo>
                    <a:lnTo>
                      <a:pt x="262" y="1074"/>
                    </a:lnTo>
                    <a:lnTo>
                      <a:pt x="249" y="1083"/>
                    </a:lnTo>
                    <a:lnTo>
                      <a:pt x="231" y="1090"/>
                    </a:lnTo>
                    <a:lnTo>
                      <a:pt x="215" y="1094"/>
                    </a:lnTo>
                    <a:lnTo>
                      <a:pt x="198" y="1099"/>
                    </a:lnTo>
                    <a:lnTo>
                      <a:pt x="182" y="1105"/>
                    </a:lnTo>
                    <a:lnTo>
                      <a:pt x="164" y="1110"/>
                    </a:lnTo>
                    <a:lnTo>
                      <a:pt x="151" y="1119"/>
                    </a:lnTo>
                    <a:lnTo>
                      <a:pt x="141" y="1132"/>
                    </a:lnTo>
                    <a:lnTo>
                      <a:pt x="124" y="1146"/>
                    </a:lnTo>
                    <a:lnTo>
                      <a:pt x="106" y="1160"/>
                    </a:lnTo>
                    <a:lnTo>
                      <a:pt x="88" y="1171"/>
                    </a:lnTo>
                    <a:lnTo>
                      <a:pt x="68" y="1180"/>
                    </a:lnTo>
                    <a:lnTo>
                      <a:pt x="88" y="1186"/>
                    </a:lnTo>
                    <a:lnTo>
                      <a:pt x="106" y="1188"/>
                    </a:lnTo>
                    <a:lnTo>
                      <a:pt x="124" y="1193"/>
                    </a:lnTo>
                    <a:lnTo>
                      <a:pt x="142" y="1197"/>
                    </a:lnTo>
                    <a:lnTo>
                      <a:pt x="162" y="1198"/>
                    </a:lnTo>
                    <a:lnTo>
                      <a:pt x="182" y="1198"/>
                    </a:lnTo>
                    <a:lnTo>
                      <a:pt x="200" y="1202"/>
                    </a:lnTo>
                    <a:lnTo>
                      <a:pt x="220" y="1202"/>
                    </a:lnTo>
                    <a:lnTo>
                      <a:pt x="252" y="1202"/>
                    </a:lnTo>
                    <a:lnTo>
                      <a:pt x="287" y="1198"/>
                    </a:lnTo>
                    <a:lnTo>
                      <a:pt x="319" y="1193"/>
                    </a:lnTo>
                    <a:lnTo>
                      <a:pt x="354" y="1186"/>
                    </a:lnTo>
                    <a:lnTo>
                      <a:pt x="386" y="1177"/>
                    </a:lnTo>
                    <a:lnTo>
                      <a:pt x="417" y="1168"/>
                    </a:lnTo>
                    <a:lnTo>
                      <a:pt x="447" y="1155"/>
                    </a:lnTo>
                    <a:lnTo>
                      <a:pt x="478" y="1141"/>
                    </a:lnTo>
                    <a:lnTo>
                      <a:pt x="505" y="1126"/>
                    </a:lnTo>
                    <a:lnTo>
                      <a:pt x="536" y="1110"/>
                    </a:lnTo>
                    <a:lnTo>
                      <a:pt x="559" y="1094"/>
                    </a:lnTo>
                    <a:lnTo>
                      <a:pt x="588" y="1074"/>
                    </a:lnTo>
                    <a:lnTo>
                      <a:pt x="613" y="1052"/>
                    </a:lnTo>
                    <a:lnTo>
                      <a:pt x="637" y="1029"/>
                    </a:lnTo>
                    <a:lnTo>
                      <a:pt x="660" y="1007"/>
                    </a:lnTo>
                    <a:lnTo>
                      <a:pt x="682" y="982"/>
                    </a:lnTo>
                    <a:lnTo>
                      <a:pt x="666" y="966"/>
                    </a:lnTo>
                    <a:lnTo>
                      <a:pt x="646" y="955"/>
                    </a:lnTo>
                    <a:lnTo>
                      <a:pt x="626" y="940"/>
                    </a:lnTo>
                    <a:lnTo>
                      <a:pt x="610" y="929"/>
                    </a:lnTo>
                    <a:lnTo>
                      <a:pt x="590" y="922"/>
                    </a:lnTo>
                    <a:lnTo>
                      <a:pt x="574" y="917"/>
                    </a:lnTo>
                    <a:lnTo>
                      <a:pt x="557" y="904"/>
                    </a:lnTo>
                    <a:lnTo>
                      <a:pt x="547" y="893"/>
                    </a:lnTo>
                    <a:lnTo>
                      <a:pt x="547" y="892"/>
                    </a:lnTo>
                    <a:lnTo>
                      <a:pt x="547" y="888"/>
                    </a:lnTo>
                    <a:lnTo>
                      <a:pt x="543" y="888"/>
                    </a:lnTo>
                    <a:lnTo>
                      <a:pt x="543" y="886"/>
                    </a:lnTo>
                    <a:lnTo>
                      <a:pt x="543" y="874"/>
                    </a:lnTo>
                    <a:lnTo>
                      <a:pt x="547" y="863"/>
                    </a:lnTo>
                    <a:lnTo>
                      <a:pt x="547" y="855"/>
                    </a:lnTo>
                    <a:lnTo>
                      <a:pt x="548" y="845"/>
                    </a:lnTo>
                    <a:lnTo>
                      <a:pt x="557" y="819"/>
                    </a:lnTo>
                    <a:lnTo>
                      <a:pt x="567" y="791"/>
                    </a:lnTo>
                    <a:lnTo>
                      <a:pt x="579" y="769"/>
                    </a:lnTo>
                    <a:lnTo>
                      <a:pt x="601" y="753"/>
                    </a:lnTo>
                    <a:lnTo>
                      <a:pt x="613" y="749"/>
                    </a:lnTo>
                    <a:lnTo>
                      <a:pt x="624" y="744"/>
                    </a:lnTo>
                    <a:lnTo>
                      <a:pt x="631" y="742"/>
                    </a:lnTo>
                    <a:lnTo>
                      <a:pt x="642" y="738"/>
                    </a:lnTo>
                    <a:lnTo>
                      <a:pt x="655" y="738"/>
                    </a:lnTo>
                    <a:lnTo>
                      <a:pt x="666" y="736"/>
                    </a:lnTo>
                    <a:lnTo>
                      <a:pt x="673" y="729"/>
                    </a:lnTo>
                    <a:lnTo>
                      <a:pt x="684" y="727"/>
                    </a:lnTo>
                    <a:lnTo>
                      <a:pt x="695" y="727"/>
                    </a:lnTo>
                    <a:lnTo>
                      <a:pt x="704" y="722"/>
                    </a:lnTo>
                    <a:lnTo>
                      <a:pt x="715" y="718"/>
                    </a:lnTo>
                    <a:lnTo>
                      <a:pt x="725" y="713"/>
                    </a:lnTo>
                    <a:lnTo>
                      <a:pt x="736" y="711"/>
                    </a:lnTo>
                    <a:lnTo>
                      <a:pt x="749" y="707"/>
                    </a:lnTo>
                    <a:lnTo>
                      <a:pt x="760" y="707"/>
                    </a:lnTo>
                    <a:lnTo>
                      <a:pt x="770" y="711"/>
                    </a:lnTo>
                    <a:lnTo>
                      <a:pt x="776" y="717"/>
                    </a:lnTo>
                    <a:lnTo>
                      <a:pt x="783" y="722"/>
                    </a:lnTo>
                    <a:lnTo>
                      <a:pt x="792" y="729"/>
                    </a:lnTo>
                    <a:lnTo>
                      <a:pt x="803" y="736"/>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sp>
            <p:nvSpPr>
              <p:cNvPr id="21" name="Freeform 27"/>
              <p:cNvSpPr>
                <a:spLocks/>
              </p:cNvSpPr>
              <p:nvPr/>
            </p:nvSpPr>
            <p:spPr bwMode="invGray">
              <a:xfrm>
                <a:off x="530" y="2834"/>
                <a:ext cx="63" cy="73"/>
              </a:xfrm>
              <a:custGeom>
                <a:avLst/>
                <a:gdLst>
                  <a:gd name="T0" fmla="*/ 42 w 63"/>
                  <a:gd name="T1" fmla="*/ 65 h 73"/>
                  <a:gd name="T2" fmla="*/ 58 w 63"/>
                  <a:gd name="T3" fmla="*/ 72 h 73"/>
                  <a:gd name="T4" fmla="*/ 62 w 63"/>
                  <a:gd name="T5" fmla="*/ 72 h 73"/>
                  <a:gd name="T6" fmla="*/ 62 w 63"/>
                  <a:gd name="T7" fmla="*/ 67 h 73"/>
                  <a:gd name="T8" fmla="*/ 58 w 63"/>
                  <a:gd name="T9" fmla="*/ 65 h 73"/>
                  <a:gd name="T10" fmla="*/ 58 w 63"/>
                  <a:gd name="T11" fmla="*/ 62 h 73"/>
                  <a:gd name="T12" fmla="*/ 44 w 63"/>
                  <a:gd name="T13" fmla="*/ 56 h 73"/>
                  <a:gd name="T14" fmla="*/ 37 w 63"/>
                  <a:gd name="T15" fmla="*/ 45 h 73"/>
                  <a:gd name="T16" fmla="*/ 31 w 63"/>
                  <a:gd name="T17" fmla="*/ 34 h 73"/>
                  <a:gd name="T18" fmla="*/ 26 w 63"/>
                  <a:gd name="T19" fmla="*/ 20 h 73"/>
                  <a:gd name="T20" fmla="*/ 9 w 63"/>
                  <a:gd name="T21" fmla="*/ 0 h 73"/>
                  <a:gd name="T22" fmla="*/ 6 w 63"/>
                  <a:gd name="T23" fmla="*/ 4 h 73"/>
                  <a:gd name="T24" fmla="*/ 2 w 63"/>
                  <a:gd name="T25" fmla="*/ 9 h 73"/>
                  <a:gd name="T26" fmla="*/ 0 w 63"/>
                  <a:gd name="T27" fmla="*/ 11 h 73"/>
                  <a:gd name="T28" fmla="*/ 0 w 63"/>
                  <a:gd name="T29" fmla="*/ 18 h 73"/>
                  <a:gd name="T30" fmla="*/ 0 w 63"/>
                  <a:gd name="T31" fmla="*/ 20 h 73"/>
                  <a:gd name="T32" fmla="*/ 0 w 63"/>
                  <a:gd name="T33" fmla="*/ 20 h 73"/>
                  <a:gd name="T34" fmla="*/ 0 w 63"/>
                  <a:gd name="T35" fmla="*/ 20 h 73"/>
                  <a:gd name="T36" fmla="*/ 0 w 63"/>
                  <a:gd name="T37" fmla="*/ 20 h 73"/>
                  <a:gd name="T38" fmla="*/ 9 w 63"/>
                  <a:gd name="T39" fmla="*/ 31 h 73"/>
                  <a:gd name="T40" fmla="*/ 20 w 63"/>
                  <a:gd name="T41" fmla="*/ 45 h 73"/>
                  <a:gd name="T42" fmla="*/ 31 w 63"/>
                  <a:gd name="T43" fmla="*/ 56 h 73"/>
                  <a:gd name="T44" fmla="*/ 42 w 63"/>
                  <a:gd name="T45" fmla="*/ 65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3" h="73">
                    <a:moveTo>
                      <a:pt x="42" y="65"/>
                    </a:moveTo>
                    <a:lnTo>
                      <a:pt x="58" y="72"/>
                    </a:lnTo>
                    <a:lnTo>
                      <a:pt x="62" y="72"/>
                    </a:lnTo>
                    <a:lnTo>
                      <a:pt x="62" y="67"/>
                    </a:lnTo>
                    <a:lnTo>
                      <a:pt x="58" y="65"/>
                    </a:lnTo>
                    <a:lnTo>
                      <a:pt x="58" y="62"/>
                    </a:lnTo>
                    <a:lnTo>
                      <a:pt x="44" y="56"/>
                    </a:lnTo>
                    <a:lnTo>
                      <a:pt x="37" y="45"/>
                    </a:lnTo>
                    <a:lnTo>
                      <a:pt x="31" y="34"/>
                    </a:lnTo>
                    <a:lnTo>
                      <a:pt x="26" y="20"/>
                    </a:lnTo>
                    <a:lnTo>
                      <a:pt x="9" y="0"/>
                    </a:lnTo>
                    <a:lnTo>
                      <a:pt x="6" y="4"/>
                    </a:lnTo>
                    <a:lnTo>
                      <a:pt x="2" y="9"/>
                    </a:lnTo>
                    <a:lnTo>
                      <a:pt x="0" y="11"/>
                    </a:lnTo>
                    <a:lnTo>
                      <a:pt x="0" y="18"/>
                    </a:lnTo>
                    <a:lnTo>
                      <a:pt x="0" y="20"/>
                    </a:lnTo>
                    <a:lnTo>
                      <a:pt x="9" y="31"/>
                    </a:lnTo>
                    <a:lnTo>
                      <a:pt x="20" y="45"/>
                    </a:lnTo>
                    <a:lnTo>
                      <a:pt x="31" y="56"/>
                    </a:lnTo>
                    <a:lnTo>
                      <a:pt x="42" y="65"/>
                    </a:lnTo>
                  </a:path>
                </a:pathLst>
              </a:custGeom>
              <a:solidFill>
                <a:schemeClr val="folHlink"/>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a:lstStyle/>
              <a:p>
                <a:pPr eaLnBrk="0" fontAlgn="base" hangingPunct="0">
                  <a:spcBef>
                    <a:spcPct val="0"/>
                  </a:spcBef>
                  <a:spcAft>
                    <a:spcPct val="0"/>
                  </a:spcAft>
                </a:pPr>
                <a:endParaRPr kumimoji="1" lang="en-IN" sz="2400">
                  <a:solidFill>
                    <a:srgbClr val="FFFFFF"/>
                  </a:solidFill>
                </a:endParaRPr>
              </a:p>
            </p:txBody>
          </p:sp>
        </p:grpSp>
      </p:grpSp>
      <p:sp>
        <p:nvSpPr>
          <p:cNvPr id="17436" name="Rectangle 28"/>
          <p:cNvSpPr>
            <a:spLocks noGrp="1" noChangeArrowheads="1"/>
          </p:cNvSpPr>
          <p:nvPr>
            <p:ph type="ctrTitle" sz="quarter"/>
          </p:nvPr>
        </p:nvSpPr>
        <p:spPr>
          <a:xfrm>
            <a:off x="685800" y="2286000"/>
            <a:ext cx="7772400" cy="1143000"/>
          </a:xfrm>
        </p:spPr>
        <p:txBody>
          <a:bodyPr/>
          <a:lstStyle>
            <a:lvl1pPr>
              <a:defRPr/>
            </a:lvl1pPr>
          </a:lstStyle>
          <a:p>
            <a:r>
              <a:rPr lang="en-US"/>
              <a:t>Click to edit Master title style</a:t>
            </a:r>
          </a:p>
        </p:txBody>
      </p:sp>
      <p:sp>
        <p:nvSpPr>
          <p:cNvPr id="17437" name="Rectangle 29"/>
          <p:cNvSpPr>
            <a:spLocks noGrp="1" noChangeArrowheads="1"/>
          </p:cNvSpPr>
          <p:nvPr>
            <p:ph type="subTitle" sz="quarter" idx="1"/>
          </p:nvPr>
        </p:nvSpPr>
        <p:spPr>
          <a:xfrm>
            <a:off x="2057400" y="4114800"/>
            <a:ext cx="6400800" cy="1752600"/>
          </a:xfrm>
        </p:spPr>
        <p:txBody>
          <a:bodyPr/>
          <a:lstStyle>
            <a:lvl1pPr marL="0" indent="0" algn="ctr">
              <a:buFontTx/>
              <a:buNone/>
              <a:defRPr/>
            </a:lvl1pPr>
          </a:lstStyle>
          <a:p>
            <a:r>
              <a:rPr lang="en-US"/>
              <a:t>Click to edit Master subtitle style</a:t>
            </a:r>
          </a:p>
        </p:txBody>
      </p:sp>
      <p:sp>
        <p:nvSpPr>
          <p:cNvPr id="30" name="Rectangle 30"/>
          <p:cNvSpPr>
            <a:spLocks noGrp="1" noChangeArrowheads="1"/>
          </p:cNvSpPr>
          <p:nvPr>
            <p:ph type="dt" sz="quarter" idx="10"/>
          </p:nvPr>
        </p:nvSpPr>
        <p:spPr/>
        <p:txBody>
          <a:bodyPr/>
          <a:lstStyle>
            <a:lvl1pPr>
              <a:defRPr>
                <a:solidFill>
                  <a:srgbClr val="FFFFFF"/>
                </a:solidFill>
              </a:defRPr>
            </a:lvl1pPr>
          </a:lstStyle>
          <a:p>
            <a:pPr>
              <a:defRPr/>
            </a:pPr>
            <a:endParaRPr lang="en-US"/>
          </a:p>
        </p:txBody>
      </p:sp>
      <p:sp>
        <p:nvSpPr>
          <p:cNvPr id="31" name="Rectangle 31"/>
          <p:cNvSpPr>
            <a:spLocks noGrp="1" noChangeArrowheads="1"/>
          </p:cNvSpPr>
          <p:nvPr>
            <p:ph type="ftr" sz="quarter" idx="11"/>
          </p:nvPr>
        </p:nvSpPr>
        <p:spPr/>
        <p:txBody>
          <a:bodyPr/>
          <a:lstStyle>
            <a:lvl1pPr>
              <a:defRPr>
                <a:solidFill>
                  <a:srgbClr val="FFFFFF"/>
                </a:solidFill>
              </a:defRPr>
            </a:lvl1pPr>
          </a:lstStyle>
          <a:p>
            <a:pPr>
              <a:defRPr/>
            </a:pPr>
            <a:endParaRPr lang="en-US"/>
          </a:p>
        </p:txBody>
      </p:sp>
      <p:sp>
        <p:nvSpPr>
          <p:cNvPr id="32" name="Rectangle 32"/>
          <p:cNvSpPr>
            <a:spLocks noGrp="1" noChangeArrowheads="1"/>
          </p:cNvSpPr>
          <p:nvPr>
            <p:ph type="sldNum" sz="quarter" idx="12"/>
          </p:nvPr>
        </p:nvSpPr>
        <p:spPr/>
        <p:txBody>
          <a:bodyPr/>
          <a:lstStyle>
            <a:lvl1pPr>
              <a:defRPr>
                <a:solidFill>
                  <a:srgbClr val="FFFFFF"/>
                </a:solidFill>
              </a:defRPr>
            </a:lvl1pPr>
          </a:lstStyle>
          <a:p>
            <a:pPr>
              <a:defRPr/>
            </a:pPr>
            <a:fld id="{F8523D44-4593-4553-82E3-3B15E14C53D5}" type="slidenum">
              <a:rPr lang="en-US"/>
              <a:pPr>
                <a:defRPr/>
              </a:pPr>
              <a:t>‹#›</a:t>
            </a:fld>
            <a:endParaRPr lang="en-US"/>
          </a:p>
        </p:txBody>
      </p:sp>
    </p:spTree>
    <p:extLst>
      <p:ext uri="{BB962C8B-B14F-4D97-AF65-F5344CB8AC3E}">
        <p14:creationId xmlns:p14="http://schemas.microsoft.com/office/powerpoint/2010/main" val="799324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13ECB1D3-A352-4455-8B28-6A84417DACD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7793930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A0630BD-96A4-4607-B14E-5AB13AAE4D7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990266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71C22A43-091A-4AB3-8B74-14D21D7BE30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7415883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8"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9" name="Rectangle 21"/>
          <p:cNvSpPr>
            <a:spLocks noGrp="1" noChangeArrowheads="1"/>
          </p:cNvSpPr>
          <p:nvPr>
            <p:ph type="sldNum" sz="quarter" idx="12"/>
          </p:nvPr>
        </p:nvSpPr>
        <p:spPr>
          <a:ln/>
        </p:spPr>
        <p:txBody>
          <a:bodyPr/>
          <a:lstStyle>
            <a:lvl1pPr>
              <a:defRPr/>
            </a:lvl1pPr>
          </a:lstStyle>
          <a:p>
            <a:pPr>
              <a:defRPr/>
            </a:pPr>
            <a:fld id="{CE15A2D1-4C54-4219-9A0B-A74D34AB8A53}"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3910558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4"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5" name="Rectangle 21"/>
          <p:cNvSpPr>
            <a:spLocks noGrp="1" noChangeArrowheads="1"/>
          </p:cNvSpPr>
          <p:nvPr>
            <p:ph type="sldNum" sz="quarter" idx="12"/>
          </p:nvPr>
        </p:nvSpPr>
        <p:spPr>
          <a:ln/>
        </p:spPr>
        <p:txBody>
          <a:bodyPr/>
          <a:lstStyle>
            <a:lvl1pPr>
              <a:defRPr/>
            </a:lvl1pPr>
          </a:lstStyle>
          <a:p>
            <a:pPr>
              <a:defRPr/>
            </a:pPr>
            <a:fld id="{CCAB42E1-2F69-4033-BD34-32AD424402F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7107235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3"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4" name="Rectangle 21"/>
          <p:cNvSpPr>
            <a:spLocks noGrp="1" noChangeArrowheads="1"/>
          </p:cNvSpPr>
          <p:nvPr>
            <p:ph type="sldNum" sz="quarter" idx="12"/>
          </p:nvPr>
        </p:nvSpPr>
        <p:spPr>
          <a:ln/>
        </p:spPr>
        <p:txBody>
          <a:bodyPr/>
          <a:lstStyle>
            <a:lvl1pPr>
              <a:defRPr/>
            </a:lvl1pPr>
          </a:lstStyle>
          <a:p>
            <a:pPr>
              <a:defRPr/>
            </a:pPr>
            <a:fld id="{55FDA948-CA68-4A2D-B0BA-25B0458F9F8C}"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2793835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6EC052BF-DC22-4514-A430-3DD6ACB41B30}"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799197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6"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7" name="Rectangle 21"/>
          <p:cNvSpPr>
            <a:spLocks noGrp="1" noChangeArrowheads="1"/>
          </p:cNvSpPr>
          <p:nvPr>
            <p:ph type="sldNum" sz="quarter" idx="12"/>
          </p:nvPr>
        </p:nvSpPr>
        <p:spPr>
          <a:ln/>
        </p:spPr>
        <p:txBody>
          <a:bodyPr/>
          <a:lstStyle>
            <a:lvl1pPr>
              <a:defRPr/>
            </a:lvl1pPr>
          </a:lstStyle>
          <a:p>
            <a:pPr>
              <a:defRPr/>
            </a:pPr>
            <a:fld id="{982A91CE-5645-4FE8-AF66-F0B098911192}"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2478470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372DAE7E-EE76-4987-9935-F6199A4BF4C8}"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3113176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dt" sz="half" idx="10"/>
          </p:nvPr>
        </p:nvSpPr>
        <p:spPr>
          <a:ln/>
        </p:spPr>
        <p:txBody>
          <a:bodyPr/>
          <a:lstStyle>
            <a:lvl1pPr>
              <a:defRPr/>
            </a:lvl1pPr>
          </a:lstStyle>
          <a:p>
            <a:pPr>
              <a:defRPr/>
            </a:pPr>
            <a:endParaRPr lang="en-US">
              <a:solidFill>
                <a:srgbClr val="FFFFFF"/>
              </a:solidFill>
            </a:endParaRPr>
          </a:p>
        </p:txBody>
      </p:sp>
      <p:sp>
        <p:nvSpPr>
          <p:cNvPr id="5" name="Rectangle 20"/>
          <p:cNvSpPr>
            <a:spLocks noGrp="1" noChangeArrowheads="1"/>
          </p:cNvSpPr>
          <p:nvPr>
            <p:ph type="ftr" sz="quarter" idx="11"/>
          </p:nvPr>
        </p:nvSpPr>
        <p:spPr>
          <a:ln/>
        </p:spPr>
        <p:txBody>
          <a:bodyPr/>
          <a:lstStyle>
            <a:lvl1pPr>
              <a:defRPr/>
            </a:lvl1pPr>
          </a:lstStyle>
          <a:p>
            <a:pPr>
              <a:defRPr/>
            </a:pPr>
            <a:endParaRPr lang="en-US">
              <a:solidFill>
                <a:srgbClr val="FFFFFF"/>
              </a:solidFill>
            </a:endParaRPr>
          </a:p>
        </p:txBody>
      </p:sp>
      <p:sp>
        <p:nvSpPr>
          <p:cNvPr id="6" name="Rectangle 21"/>
          <p:cNvSpPr>
            <a:spLocks noGrp="1" noChangeArrowheads="1"/>
          </p:cNvSpPr>
          <p:nvPr>
            <p:ph type="sldNum" sz="quarter" idx="12"/>
          </p:nvPr>
        </p:nvSpPr>
        <p:spPr>
          <a:ln/>
        </p:spPr>
        <p:txBody>
          <a:bodyPr/>
          <a:lstStyle>
            <a:lvl1pPr>
              <a:defRPr/>
            </a:lvl1pPr>
          </a:lstStyle>
          <a:p>
            <a:pPr>
              <a:defRPr/>
            </a:pPr>
            <a:fld id="{FC657835-AFBA-456C-90B4-1C12100ACE7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5351502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D33CD57-A8F9-4A46-BFD0-C149D47D5D32}"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4EFAF0-86EE-40B2-81C2-FE64EE1B17BE}" type="slidenum">
              <a:rPr lang="en-IN" smtClean="0"/>
              <a:t>‹#›</a:t>
            </a:fld>
            <a:endParaRPr lang="en-IN"/>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0391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3CD57-A8F9-4A46-BFD0-C149D47D5D32}"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1349459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3CD57-A8F9-4A46-BFD0-C149D47D5D32}"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4EFAF0-86EE-40B2-81C2-FE64EE1B17BE}" type="slidenum">
              <a:rPr lang="en-IN" smtClean="0"/>
              <a:t>‹#›</a:t>
            </a:fld>
            <a:endParaRPr lang="en-IN"/>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2840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3CD57-A8F9-4A46-BFD0-C149D47D5D32}"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20000905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3CD57-A8F9-4A46-BFD0-C149D47D5D32}"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3777860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3CD57-A8F9-4A46-BFD0-C149D47D5D32}" type="datetimeFigureOut">
              <a:rPr lang="en-IN" smtClean="0"/>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37981761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3CD57-A8F9-4A46-BFD0-C149D47D5D32}" type="datetimeFigureOut">
              <a:rPr lang="en-IN" smtClean="0"/>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16435216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33CD57-A8F9-4A46-BFD0-C149D47D5D32}"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21097109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D33CD57-A8F9-4A46-BFD0-C149D47D5D32}"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4EFAF0-86EE-40B2-81C2-FE64EE1B17BE}" type="slidenum">
              <a:rPr lang="en-IN" smtClean="0"/>
              <a:t>‹#›</a:t>
            </a:fld>
            <a:endParaRPr lang="en-IN"/>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60601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3CD57-A8F9-4A46-BFD0-C149D47D5D32}"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4EFAF0-86EE-40B2-81C2-FE64EE1B17BE}" type="slidenum">
              <a:rPr lang="en-IN" smtClean="0"/>
              <a:t>‹#›</a:t>
            </a:fld>
            <a:endParaRPr lang="en-IN"/>
          </a:p>
        </p:txBody>
      </p:sp>
    </p:spTree>
    <p:extLst>
      <p:ext uri="{BB962C8B-B14F-4D97-AF65-F5344CB8AC3E}">
        <p14:creationId xmlns:p14="http://schemas.microsoft.com/office/powerpoint/2010/main" val="25932208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3CD57-A8F9-4A46-BFD0-C149D47D5D32}"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4EFAF0-86EE-40B2-81C2-FE64EE1B17BE}" type="slidenum">
              <a:rPr lang="en-IN" smtClean="0"/>
              <a:t>‹#›</a:t>
            </a:fld>
            <a:endParaRPr lang="en-IN"/>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5387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677BFF-F01D-4ABC-B96D-A3FA1D95EA64}" type="slidenum">
              <a:rPr lang="en-US"/>
              <a:pPr>
                <a:defRPr/>
              </a:pPr>
              <a:t>‹#›</a:t>
            </a:fld>
            <a:endParaRPr lang="en-US"/>
          </a:p>
        </p:txBody>
      </p:sp>
    </p:spTree>
    <p:extLst>
      <p:ext uri="{BB962C8B-B14F-4D97-AF65-F5344CB8AC3E}">
        <p14:creationId xmlns:p14="http://schemas.microsoft.com/office/powerpoint/2010/main" val="660591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0AD4CE26-3389-4711-AF16-9A4F3565BA34}" type="slidenum">
              <a:rPr lang="en-US"/>
              <a:pPr>
                <a:defRPr/>
              </a:pPr>
              <a:t>‹#›</a:t>
            </a:fld>
            <a:endParaRPr lang="en-US"/>
          </a:p>
        </p:txBody>
      </p:sp>
    </p:spTree>
    <p:extLst>
      <p:ext uri="{BB962C8B-B14F-4D97-AF65-F5344CB8AC3E}">
        <p14:creationId xmlns:p14="http://schemas.microsoft.com/office/powerpoint/2010/main" val="21708425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286D7F18-9475-4346-B4EA-1503748A9DCC}" type="slidenum">
              <a:rPr lang="en-US"/>
              <a:pPr>
                <a:defRPr/>
              </a:pPr>
              <a:t>‹#›</a:t>
            </a:fld>
            <a:endParaRPr lang="en-US"/>
          </a:p>
        </p:txBody>
      </p:sp>
    </p:spTree>
    <p:extLst>
      <p:ext uri="{BB962C8B-B14F-4D97-AF65-F5344CB8AC3E}">
        <p14:creationId xmlns:p14="http://schemas.microsoft.com/office/powerpoint/2010/main" val="1980038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5.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685800" y="117475"/>
            <a:ext cx="8456613" cy="6738938"/>
            <a:chOff x="432" y="74"/>
            <a:chExt cx="5327" cy="4245"/>
          </a:xfrm>
        </p:grpSpPr>
        <p:sp>
          <p:nvSpPr>
            <p:cNvPr id="1032" name="Rectangle 3"/>
            <p:cNvSpPr>
              <a:spLocks noChangeArrowheads="1"/>
            </p:cNvSpPr>
            <p:nvPr/>
          </p:nvSpPr>
          <p:spPr bwMode="invGray">
            <a:xfrm>
              <a:off x="432" y="4176"/>
              <a:ext cx="2208" cy="14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033" name="Group 4"/>
            <p:cNvGrpSpPr>
              <a:grpSpLocks/>
            </p:cNvGrpSpPr>
            <p:nvPr/>
          </p:nvGrpSpPr>
          <p:grpSpPr bwMode="auto">
            <a:xfrm>
              <a:off x="2859" y="4250"/>
              <a:ext cx="2729" cy="41"/>
              <a:chOff x="2859" y="4250"/>
              <a:chExt cx="2729" cy="41"/>
            </a:xfrm>
          </p:grpSpPr>
          <p:sp>
            <p:nvSpPr>
              <p:cNvPr id="1038" name="Oval 5"/>
              <p:cNvSpPr>
                <a:spLocks noChangeArrowheads="1"/>
              </p:cNvSpPr>
              <p:nvPr/>
            </p:nvSpPr>
            <p:spPr bwMode="invGray">
              <a:xfrm>
                <a:off x="285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9" name="Oval 6"/>
              <p:cNvSpPr>
                <a:spLocks noChangeArrowheads="1"/>
              </p:cNvSpPr>
              <p:nvPr/>
            </p:nvSpPr>
            <p:spPr bwMode="invGray">
              <a:xfrm>
                <a:off x="324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0" name="Oval 7"/>
              <p:cNvSpPr>
                <a:spLocks noChangeArrowheads="1"/>
              </p:cNvSpPr>
              <p:nvPr/>
            </p:nvSpPr>
            <p:spPr bwMode="invGray">
              <a:xfrm>
                <a:off x="362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1" name="Oval 8"/>
              <p:cNvSpPr>
                <a:spLocks noChangeArrowheads="1"/>
              </p:cNvSpPr>
              <p:nvPr/>
            </p:nvSpPr>
            <p:spPr bwMode="invGray">
              <a:xfrm>
                <a:off x="4011"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2" name="Oval 9"/>
              <p:cNvSpPr>
                <a:spLocks noChangeArrowheads="1"/>
              </p:cNvSpPr>
              <p:nvPr/>
            </p:nvSpPr>
            <p:spPr bwMode="invGray">
              <a:xfrm>
                <a:off x="4395"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3" name="Oval 10"/>
              <p:cNvSpPr>
                <a:spLocks noChangeArrowheads="1"/>
              </p:cNvSpPr>
              <p:nvPr/>
            </p:nvSpPr>
            <p:spPr bwMode="invGray">
              <a:xfrm>
                <a:off x="477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4" name="Oval 11"/>
              <p:cNvSpPr>
                <a:spLocks noChangeArrowheads="1"/>
              </p:cNvSpPr>
              <p:nvPr/>
            </p:nvSpPr>
            <p:spPr bwMode="invGray">
              <a:xfrm>
                <a:off x="516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5" name="Oval 12"/>
              <p:cNvSpPr>
                <a:spLocks noChangeArrowheads="1"/>
              </p:cNvSpPr>
              <p:nvPr/>
            </p:nvSpPr>
            <p:spPr bwMode="invGray">
              <a:xfrm>
                <a:off x="554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34" name="Rectangle 13"/>
            <p:cNvSpPr>
              <a:spLocks noChangeArrowheads="1"/>
            </p:cNvSpPr>
            <p:nvPr/>
          </p:nvSpPr>
          <p:spPr bwMode="invGray">
            <a:xfrm>
              <a:off x="480" y="480"/>
              <a:ext cx="5279"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5" name="Oval 14"/>
            <p:cNvSpPr>
              <a:spLocks noChangeArrowheads="1"/>
            </p:cNvSpPr>
            <p:nvPr/>
          </p:nvSpPr>
          <p:spPr bwMode="invGray">
            <a:xfrm>
              <a:off x="507"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6" name="Oval 15"/>
            <p:cNvSpPr>
              <a:spLocks noChangeArrowheads="1"/>
            </p:cNvSpPr>
            <p:nvPr/>
          </p:nvSpPr>
          <p:spPr bwMode="invGray">
            <a:xfrm>
              <a:off x="507"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7" name="Oval 16"/>
            <p:cNvSpPr>
              <a:spLocks noChangeArrowheads="1"/>
            </p:cNvSpPr>
            <p:nvPr/>
          </p:nvSpPr>
          <p:spPr bwMode="invGray">
            <a:xfrm>
              <a:off x="507"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27" name="Rectangle 17"/>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1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403" name="Rectangle 1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vl1pPr>
          </a:lstStyle>
          <a:p>
            <a:pPr eaLnBrk="0" fontAlgn="base" hangingPunct="0">
              <a:spcAft>
                <a:spcPct val="0"/>
              </a:spcAft>
              <a:defRPr/>
            </a:pPr>
            <a:endParaRPr kumimoji="1" lang="en-US">
              <a:solidFill>
                <a:srgbClr val="FFFFFF"/>
              </a:solidFill>
            </a:endParaRPr>
          </a:p>
        </p:txBody>
      </p:sp>
      <p:sp>
        <p:nvSpPr>
          <p:cNvPr id="16404" name="Rectangle 2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pPr eaLnBrk="0" fontAlgn="base" hangingPunct="0">
              <a:spcAft>
                <a:spcPct val="0"/>
              </a:spcAft>
              <a:defRPr/>
            </a:pPr>
            <a:endParaRPr kumimoji="1" lang="en-US">
              <a:solidFill>
                <a:srgbClr val="FFFFFF"/>
              </a:solidFill>
            </a:endParaRPr>
          </a:p>
        </p:txBody>
      </p:sp>
      <p:sp>
        <p:nvSpPr>
          <p:cNvPr id="16405" name="Rectangle 2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vl1pPr>
          </a:lstStyle>
          <a:p>
            <a:pPr eaLnBrk="0" fontAlgn="base" hangingPunct="0">
              <a:spcAft>
                <a:spcPct val="0"/>
              </a:spcAft>
              <a:defRPr/>
            </a:pPr>
            <a:fld id="{E7A4E5C9-CE64-44A2-BBBB-FA7F983E3A56}" type="slidenum">
              <a:rPr kumimoji="1" lang="en-US">
                <a:solidFill>
                  <a:srgbClr val="FFFFFF"/>
                </a:solidFill>
              </a:rPr>
              <a:pPr eaLnBrk="0" fontAlgn="base" hangingPunct="0">
                <a:spcAft>
                  <a:spcPct val="0"/>
                </a:spcAft>
                <a:defRPr/>
              </a:pPr>
              <a:t>‹#›</a:t>
            </a:fld>
            <a:endParaRPr kumimoji="1" lang="en-US">
              <a:solidFill>
                <a:srgbClr val="FFFFFF"/>
              </a:solidFill>
            </a:endParaRPr>
          </a:p>
        </p:txBody>
      </p:sp>
    </p:spTree>
    <p:extLst>
      <p:ext uri="{BB962C8B-B14F-4D97-AF65-F5344CB8AC3E}">
        <p14:creationId xmlns:p14="http://schemas.microsoft.com/office/powerpoint/2010/main" val="3834086202"/>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kumimoji="1" sz="3600">
          <a:solidFill>
            <a:schemeClr val="tx2"/>
          </a:solidFill>
          <a:latin typeface="+mj-lt"/>
          <a:ea typeface="+mj-ea"/>
          <a:cs typeface="+mj-cs"/>
        </a:defRPr>
      </a:lvl1pPr>
      <a:lvl2pPr algn="ctr" rtl="0" eaLnBrk="0" fontAlgn="base" hangingPunct="0">
        <a:spcBef>
          <a:spcPct val="0"/>
        </a:spcBef>
        <a:spcAft>
          <a:spcPct val="0"/>
        </a:spcAft>
        <a:defRPr kumimoji="1" sz="3600">
          <a:solidFill>
            <a:schemeClr val="tx2"/>
          </a:solidFill>
          <a:latin typeface="Times New Roman" pitchFamily="18" charset="0"/>
        </a:defRPr>
      </a:lvl2pPr>
      <a:lvl3pPr algn="ctr" rtl="0" eaLnBrk="0" fontAlgn="base" hangingPunct="0">
        <a:spcBef>
          <a:spcPct val="0"/>
        </a:spcBef>
        <a:spcAft>
          <a:spcPct val="0"/>
        </a:spcAft>
        <a:defRPr kumimoji="1" sz="3600">
          <a:solidFill>
            <a:schemeClr val="tx2"/>
          </a:solidFill>
          <a:latin typeface="Times New Roman" pitchFamily="18" charset="0"/>
        </a:defRPr>
      </a:lvl3pPr>
      <a:lvl4pPr algn="ctr" rtl="0" eaLnBrk="0" fontAlgn="base" hangingPunct="0">
        <a:spcBef>
          <a:spcPct val="0"/>
        </a:spcBef>
        <a:spcAft>
          <a:spcPct val="0"/>
        </a:spcAft>
        <a:defRPr kumimoji="1" sz="3600">
          <a:solidFill>
            <a:schemeClr val="tx2"/>
          </a:solidFill>
          <a:latin typeface="Times New Roman" pitchFamily="18" charset="0"/>
        </a:defRPr>
      </a:lvl4pPr>
      <a:lvl5pPr algn="ctr" rtl="0" eaLnBrk="0" fontAlgn="base" hangingPunct="0">
        <a:spcBef>
          <a:spcPct val="0"/>
        </a:spcBef>
        <a:spcAft>
          <a:spcPct val="0"/>
        </a:spcAft>
        <a:defRPr kumimoji="1" sz="3600">
          <a:solidFill>
            <a:schemeClr val="tx2"/>
          </a:solidFill>
          <a:latin typeface="Times New Roman" pitchFamily="18" charset="0"/>
        </a:defRPr>
      </a:lvl5pPr>
      <a:lvl6pPr marL="457200" algn="ctr" rtl="0" eaLnBrk="0" fontAlgn="base" hangingPunct="0">
        <a:spcBef>
          <a:spcPct val="0"/>
        </a:spcBef>
        <a:spcAft>
          <a:spcPct val="0"/>
        </a:spcAft>
        <a:defRPr kumimoji="1" sz="3600">
          <a:solidFill>
            <a:schemeClr val="tx2"/>
          </a:solidFill>
          <a:latin typeface="Times New Roman" pitchFamily="18" charset="0"/>
        </a:defRPr>
      </a:lvl6pPr>
      <a:lvl7pPr marL="914400" algn="ctr" rtl="0" eaLnBrk="0" fontAlgn="base" hangingPunct="0">
        <a:spcBef>
          <a:spcPct val="0"/>
        </a:spcBef>
        <a:spcAft>
          <a:spcPct val="0"/>
        </a:spcAft>
        <a:defRPr kumimoji="1" sz="3600">
          <a:solidFill>
            <a:schemeClr val="tx2"/>
          </a:solidFill>
          <a:latin typeface="Times New Roman" pitchFamily="18" charset="0"/>
        </a:defRPr>
      </a:lvl7pPr>
      <a:lvl8pPr marL="1371600" algn="ctr" rtl="0" eaLnBrk="0" fontAlgn="base" hangingPunct="0">
        <a:spcBef>
          <a:spcPct val="0"/>
        </a:spcBef>
        <a:spcAft>
          <a:spcPct val="0"/>
        </a:spcAft>
        <a:defRPr kumimoji="1" sz="3600">
          <a:solidFill>
            <a:schemeClr val="tx2"/>
          </a:solidFill>
          <a:latin typeface="Times New Roman" pitchFamily="18" charset="0"/>
        </a:defRPr>
      </a:lvl8pPr>
      <a:lvl9pPr marL="1828800" algn="ctr" rtl="0" eaLnBrk="0" fontAlgn="base" hangingPunct="0">
        <a:spcBef>
          <a:spcPct val="0"/>
        </a:spcBef>
        <a:spcAft>
          <a:spcPct val="0"/>
        </a:spcAft>
        <a:defRPr kumimoji="1" sz="36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200">
          <a:solidFill>
            <a:schemeClr val="tx1"/>
          </a:solidFill>
          <a:latin typeface="+mn-lt"/>
        </a:defRPr>
      </a:lvl2pPr>
      <a:lvl3pPr marL="1143000" indent="-228600" algn="l" rtl="0" eaLnBrk="0" fontAlgn="base" hangingPunct="0">
        <a:spcBef>
          <a:spcPct val="20000"/>
        </a:spcBef>
        <a:spcAft>
          <a:spcPct val="0"/>
        </a:spcAft>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400">
          <a:solidFill>
            <a:schemeClr val="tx1"/>
          </a:solidFill>
          <a:latin typeface="+mn-lt"/>
        </a:defRPr>
      </a:lvl4pPr>
      <a:lvl5pPr marL="2057400" indent="-228600" algn="l" rtl="0" eaLnBrk="0" fontAlgn="base" hangingPunct="0">
        <a:spcBef>
          <a:spcPct val="20000"/>
        </a:spcBef>
        <a:spcAft>
          <a:spcPct val="0"/>
        </a:spcAft>
        <a:buChar char="•"/>
        <a:defRPr kumimoji="1" sz="1400">
          <a:solidFill>
            <a:schemeClr val="tx1"/>
          </a:solidFill>
          <a:latin typeface="+mn-lt"/>
        </a:defRPr>
      </a:lvl5pPr>
      <a:lvl6pPr marL="2514600" indent="-228600" algn="l" rtl="0" eaLnBrk="0" fontAlgn="base" hangingPunct="0">
        <a:spcBef>
          <a:spcPct val="20000"/>
        </a:spcBef>
        <a:spcAft>
          <a:spcPct val="0"/>
        </a:spcAft>
        <a:buChar char="•"/>
        <a:defRPr kumimoji="1" sz="1400">
          <a:solidFill>
            <a:schemeClr val="tx1"/>
          </a:solidFill>
          <a:latin typeface="+mn-lt"/>
        </a:defRPr>
      </a:lvl6pPr>
      <a:lvl7pPr marL="2971800" indent="-228600" algn="l" rtl="0" eaLnBrk="0" fontAlgn="base" hangingPunct="0">
        <a:spcBef>
          <a:spcPct val="20000"/>
        </a:spcBef>
        <a:spcAft>
          <a:spcPct val="0"/>
        </a:spcAft>
        <a:buChar char="•"/>
        <a:defRPr kumimoji="1" sz="1400">
          <a:solidFill>
            <a:schemeClr val="tx1"/>
          </a:solidFill>
          <a:latin typeface="+mn-lt"/>
        </a:defRPr>
      </a:lvl7pPr>
      <a:lvl8pPr marL="3429000" indent="-228600" algn="l" rtl="0" eaLnBrk="0" fontAlgn="base" hangingPunct="0">
        <a:spcBef>
          <a:spcPct val="20000"/>
        </a:spcBef>
        <a:spcAft>
          <a:spcPct val="0"/>
        </a:spcAft>
        <a:buChar char="•"/>
        <a:defRPr kumimoji="1" sz="1400">
          <a:solidFill>
            <a:schemeClr val="tx1"/>
          </a:solidFill>
          <a:latin typeface="+mn-lt"/>
        </a:defRPr>
      </a:lvl8pPr>
      <a:lvl9pPr marL="3886200" indent="-228600" algn="l" rtl="0" eaLnBrk="0" fontAlgn="base" hangingPunct="0">
        <a:spcBef>
          <a:spcPct val="20000"/>
        </a:spcBef>
        <a:spcAft>
          <a:spcPct val="0"/>
        </a:spcAft>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685800" y="117475"/>
            <a:ext cx="8456613" cy="6738938"/>
            <a:chOff x="432" y="74"/>
            <a:chExt cx="5327" cy="4245"/>
          </a:xfrm>
        </p:grpSpPr>
        <p:sp>
          <p:nvSpPr>
            <p:cNvPr id="1032" name="Rectangle 3"/>
            <p:cNvSpPr>
              <a:spLocks noChangeArrowheads="1"/>
            </p:cNvSpPr>
            <p:nvPr/>
          </p:nvSpPr>
          <p:spPr bwMode="invGray">
            <a:xfrm>
              <a:off x="432" y="4176"/>
              <a:ext cx="2208" cy="14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033" name="Group 4"/>
            <p:cNvGrpSpPr>
              <a:grpSpLocks/>
            </p:cNvGrpSpPr>
            <p:nvPr/>
          </p:nvGrpSpPr>
          <p:grpSpPr bwMode="auto">
            <a:xfrm>
              <a:off x="2859" y="4250"/>
              <a:ext cx="2729" cy="41"/>
              <a:chOff x="2859" y="4250"/>
              <a:chExt cx="2729" cy="41"/>
            </a:xfrm>
          </p:grpSpPr>
          <p:sp>
            <p:nvSpPr>
              <p:cNvPr id="1038" name="Oval 5"/>
              <p:cNvSpPr>
                <a:spLocks noChangeArrowheads="1"/>
              </p:cNvSpPr>
              <p:nvPr/>
            </p:nvSpPr>
            <p:spPr bwMode="invGray">
              <a:xfrm>
                <a:off x="285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9" name="Oval 6"/>
              <p:cNvSpPr>
                <a:spLocks noChangeArrowheads="1"/>
              </p:cNvSpPr>
              <p:nvPr/>
            </p:nvSpPr>
            <p:spPr bwMode="invGray">
              <a:xfrm>
                <a:off x="324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0" name="Oval 7"/>
              <p:cNvSpPr>
                <a:spLocks noChangeArrowheads="1"/>
              </p:cNvSpPr>
              <p:nvPr/>
            </p:nvSpPr>
            <p:spPr bwMode="invGray">
              <a:xfrm>
                <a:off x="362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1" name="Oval 8"/>
              <p:cNvSpPr>
                <a:spLocks noChangeArrowheads="1"/>
              </p:cNvSpPr>
              <p:nvPr/>
            </p:nvSpPr>
            <p:spPr bwMode="invGray">
              <a:xfrm>
                <a:off x="4011"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2" name="Oval 9"/>
              <p:cNvSpPr>
                <a:spLocks noChangeArrowheads="1"/>
              </p:cNvSpPr>
              <p:nvPr/>
            </p:nvSpPr>
            <p:spPr bwMode="invGray">
              <a:xfrm>
                <a:off x="4395"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3" name="Oval 10"/>
              <p:cNvSpPr>
                <a:spLocks noChangeArrowheads="1"/>
              </p:cNvSpPr>
              <p:nvPr/>
            </p:nvSpPr>
            <p:spPr bwMode="invGray">
              <a:xfrm>
                <a:off x="477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4" name="Oval 11"/>
              <p:cNvSpPr>
                <a:spLocks noChangeArrowheads="1"/>
              </p:cNvSpPr>
              <p:nvPr/>
            </p:nvSpPr>
            <p:spPr bwMode="invGray">
              <a:xfrm>
                <a:off x="516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5" name="Oval 12"/>
              <p:cNvSpPr>
                <a:spLocks noChangeArrowheads="1"/>
              </p:cNvSpPr>
              <p:nvPr/>
            </p:nvSpPr>
            <p:spPr bwMode="invGray">
              <a:xfrm>
                <a:off x="554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34" name="Rectangle 13"/>
            <p:cNvSpPr>
              <a:spLocks noChangeArrowheads="1"/>
            </p:cNvSpPr>
            <p:nvPr/>
          </p:nvSpPr>
          <p:spPr bwMode="invGray">
            <a:xfrm>
              <a:off x="480" y="480"/>
              <a:ext cx="5279"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5" name="Oval 14"/>
            <p:cNvSpPr>
              <a:spLocks noChangeArrowheads="1"/>
            </p:cNvSpPr>
            <p:nvPr/>
          </p:nvSpPr>
          <p:spPr bwMode="invGray">
            <a:xfrm>
              <a:off x="507"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6" name="Oval 15"/>
            <p:cNvSpPr>
              <a:spLocks noChangeArrowheads="1"/>
            </p:cNvSpPr>
            <p:nvPr/>
          </p:nvSpPr>
          <p:spPr bwMode="invGray">
            <a:xfrm>
              <a:off x="507"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7" name="Oval 16"/>
            <p:cNvSpPr>
              <a:spLocks noChangeArrowheads="1"/>
            </p:cNvSpPr>
            <p:nvPr/>
          </p:nvSpPr>
          <p:spPr bwMode="invGray">
            <a:xfrm>
              <a:off x="507"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27" name="Rectangle 17"/>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1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403" name="Rectangle 1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vl1pPr>
          </a:lstStyle>
          <a:p>
            <a:pPr eaLnBrk="0" fontAlgn="base" hangingPunct="0">
              <a:spcAft>
                <a:spcPct val="0"/>
              </a:spcAft>
              <a:defRPr/>
            </a:pPr>
            <a:endParaRPr kumimoji="1" lang="en-US">
              <a:solidFill>
                <a:srgbClr val="FFFFFF"/>
              </a:solidFill>
            </a:endParaRPr>
          </a:p>
        </p:txBody>
      </p:sp>
      <p:sp>
        <p:nvSpPr>
          <p:cNvPr id="16404" name="Rectangle 2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pPr eaLnBrk="0" fontAlgn="base" hangingPunct="0">
              <a:spcAft>
                <a:spcPct val="0"/>
              </a:spcAft>
              <a:defRPr/>
            </a:pPr>
            <a:endParaRPr kumimoji="1" lang="en-US">
              <a:solidFill>
                <a:srgbClr val="FFFFFF"/>
              </a:solidFill>
            </a:endParaRPr>
          </a:p>
        </p:txBody>
      </p:sp>
      <p:sp>
        <p:nvSpPr>
          <p:cNvPr id="16405" name="Rectangle 2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vl1pPr>
          </a:lstStyle>
          <a:p>
            <a:pPr eaLnBrk="0" fontAlgn="base" hangingPunct="0">
              <a:spcAft>
                <a:spcPct val="0"/>
              </a:spcAft>
              <a:defRPr/>
            </a:pPr>
            <a:fld id="{E7A4E5C9-CE64-44A2-BBBB-FA7F983E3A56}" type="slidenum">
              <a:rPr kumimoji="1" lang="en-US">
                <a:solidFill>
                  <a:srgbClr val="FFFFFF"/>
                </a:solidFill>
              </a:rPr>
              <a:pPr eaLnBrk="0" fontAlgn="base" hangingPunct="0">
                <a:spcAft>
                  <a:spcPct val="0"/>
                </a:spcAft>
                <a:defRPr/>
              </a:pPr>
              <a:t>‹#›</a:t>
            </a:fld>
            <a:endParaRPr kumimoji="1" lang="en-US">
              <a:solidFill>
                <a:srgbClr val="FFFFFF"/>
              </a:solidFill>
            </a:endParaRPr>
          </a:p>
        </p:txBody>
      </p:sp>
    </p:spTree>
    <p:extLst>
      <p:ext uri="{BB962C8B-B14F-4D97-AF65-F5344CB8AC3E}">
        <p14:creationId xmlns:p14="http://schemas.microsoft.com/office/powerpoint/2010/main" val="577840669"/>
      </p:ext>
    </p:extLst>
  </p:cSld>
  <p:clrMap bg1="dk2" tx1="lt1" bg2="dk1"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kumimoji="1" sz="3600">
          <a:solidFill>
            <a:schemeClr val="tx2"/>
          </a:solidFill>
          <a:latin typeface="+mj-lt"/>
          <a:ea typeface="+mj-ea"/>
          <a:cs typeface="+mj-cs"/>
        </a:defRPr>
      </a:lvl1pPr>
      <a:lvl2pPr algn="ctr" rtl="0" eaLnBrk="0" fontAlgn="base" hangingPunct="0">
        <a:spcBef>
          <a:spcPct val="0"/>
        </a:spcBef>
        <a:spcAft>
          <a:spcPct val="0"/>
        </a:spcAft>
        <a:defRPr kumimoji="1" sz="3600">
          <a:solidFill>
            <a:schemeClr val="tx2"/>
          </a:solidFill>
          <a:latin typeface="Times New Roman" pitchFamily="18" charset="0"/>
        </a:defRPr>
      </a:lvl2pPr>
      <a:lvl3pPr algn="ctr" rtl="0" eaLnBrk="0" fontAlgn="base" hangingPunct="0">
        <a:spcBef>
          <a:spcPct val="0"/>
        </a:spcBef>
        <a:spcAft>
          <a:spcPct val="0"/>
        </a:spcAft>
        <a:defRPr kumimoji="1" sz="3600">
          <a:solidFill>
            <a:schemeClr val="tx2"/>
          </a:solidFill>
          <a:latin typeface="Times New Roman" pitchFamily="18" charset="0"/>
        </a:defRPr>
      </a:lvl3pPr>
      <a:lvl4pPr algn="ctr" rtl="0" eaLnBrk="0" fontAlgn="base" hangingPunct="0">
        <a:spcBef>
          <a:spcPct val="0"/>
        </a:spcBef>
        <a:spcAft>
          <a:spcPct val="0"/>
        </a:spcAft>
        <a:defRPr kumimoji="1" sz="3600">
          <a:solidFill>
            <a:schemeClr val="tx2"/>
          </a:solidFill>
          <a:latin typeface="Times New Roman" pitchFamily="18" charset="0"/>
        </a:defRPr>
      </a:lvl4pPr>
      <a:lvl5pPr algn="ctr" rtl="0" eaLnBrk="0" fontAlgn="base" hangingPunct="0">
        <a:spcBef>
          <a:spcPct val="0"/>
        </a:spcBef>
        <a:spcAft>
          <a:spcPct val="0"/>
        </a:spcAft>
        <a:defRPr kumimoji="1" sz="3600">
          <a:solidFill>
            <a:schemeClr val="tx2"/>
          </a:solidFill>
          <a:latin typeface="Times New Roman" pitchFamily="18" charset="0"/>
        </a:defRPr>
      </a:lvl5pPr>
      <a:lvl6pPr marL="457200" algn="ctr" rtl="0" eaLnBrk="0" fontAlgn="base" hangingPunct="0">
        <a:spcBef>
          <a:spcPct val="0"/>
        </a:spcBef>
        <a:spcAft>
          <a:spcPct val="0"/>
        </a:spcAft>
        <a:defRPr kumimoji="1" sz="3600">
          <a:solidFill>
            <a:schemeClr val="tx2"/>
          </a:solidFill>
          <a:latin typeface="Times New Roman" pitchFamily="18" charset="0"/>
        </a:defRPr>
      </a:lvl6pPr>
      <a:lvl7pPr marL="914400" algn="ctr" rtl="0" eaLnBrk="0" fontAlgn="base" hangingPunct="0">
        <a:spcBef>
          <a:spcPct val="0"/>
        </a:spcBef>
        <a:spcAft>
          <a:spcPct val="0"/>
        </a:spcAft>
        <a:defRPr kumimoji="1" sz="3600">
          <a:solidFill>
            <a:schemeClr val="tx2"/>
          </a:solidFill>
          <a:latin typeface="Times New Roman" pitchFamily="18" charset="0"/>
        </a:defRPr>
      </a:lvl7pPr>
      <a:lvl8pPr marL="1371600" algn="ctr" rtl="0" eaLnBrk="0" fontAlgn="base" hangingPunct="0">
        <a:spcBef>
          <a:spcPct val="0"/>
        </a:spcBef>
        <a:spcAft>
          <a:spcPct val="0"/>
        </a:spcAft>
        <a:defRPr kumimoji="1" sz="3600">
          <a:solidFill>
            <a:schemeClr val="tx2"/>
          </a:solidFill>
          <a:latin typeface="Times New Roman" pitchFamily="18" charset="0"/>
        </a:defRPr>
      </a:lvl8pPr>
      <a:lvl9pPr marL="1828800" algn="ctr" rtl="0" eaLnBrk="0" fontAlgn="base" hangingPunct="0">
        <a:spcBef>
          <a:spcPct val="0"/>
        </a:spcBef>
        <a:spcAft>
          <a:spcPct val="0"/>
        </a:spcAft>
        <a:defRPr kumimoji="1" sz="36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200">
          <a:solidFill>
            <a:schemeClr val="tx1"/>
          </a:solidFill>
          <a:latin typeface="+mn-lt"/>
        </a:defRPr>
      </a:lvl2pPr>
      <a:lvl3pPr marL="1143000" indent="-228600" algn="l" rtl="0" eaLnBrk="0" fontAlgn="base" hangingPunct="0">
        <a:spcBef>
          <a:spcPct val="20000"/>
        </a:spcBef>
        <a:spcAft>
          <a:spcPct val="0"/>
        </a:spcAft>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400">
          <a:solidFill>
            <a:schemeClr val="tx1"/>
          </a:solidFill>
          <a:latin typeface="+mn-lt"/>
        </a:defRPr>
      </a:lvl4pPr>
      <a:lvl5pPr marL="2057400" indent="-228600" algn="l" rtl="0" eaLnBrk="0" fontAlgn="base" hangingPunct="0">
        <a:spcBef>
          <a:spcPct val="20000"/>
        </a:spcBef>
        <a:spcAft>
          <a:spcPct val="0"/>
        </a:spcAft>
        <a:buChar char="•"/>
        <a:defRPr kumimoji="1" sz="1400">
          <a:solidFill>
            <a:schemeClr val="tx1"/>
          </a:solidFill>
          <a:latin typeface="+mn-lt"/>
        </a:defRPr>
      </a:lvl5pPr>
      <a:lvl6pPr marL="2514600" indent="-228600" algn="l" rtl="0" eaLnBrk="0" fontAlgn="base" hangingPunct="0">
        <a:spcBef>
          <a:spcPct val="20000"/>
        </a:spcBef>
        <a:spcAft>
          <a:spcPct val="0"/>
        </a:spcAft>
        <a:buChar char="•"/>
        <a:defRPr kumimoji="1" sz="1400">
          <a:solidFill>
            <a:schemeClr val="tx1"/>
          </a:solidFill>
          <a:latin typeface="+mn-lt"/>
        </a:defRPr>
      </a:lvl6pPr>
      <a:lvl7pPr marL="2971800" indent="-228600" algn="l" rtl="0" eaLnBrk="0" fontAlgn="base" hangingPunct="0">
        <a:spcBef>
          <a:spcPct val="20000"/>
        </a:spcBef>
        <a:spcAft>
          <a:spcPct val="0"/>
        </a:spcAft>
        <a:buChar char="•"/>
        <a:defRPr kumimoji="1" sz="1400">
          <a:solidFill>
            <a:schemeClr val="tx1"/>
          </a:solidFill>
          <a:latin typeface="+mn-lt"/>
        </a:defRPr>
      </a:lvl7pPr>
      <a:lvl8pPr marL="3429000" indent="-228600" algn="l" rtl="0" eaLnBrk="0" fontAlgn="base" hangingPunct="0">
        <a:spcBef>
          <a:spcPct val="20000"/>
        </a:spcBef>
        <a:spcAft>
          <a:spcPct val="0"/>
        </a:spcAft>
        <a:buChar char="•"/>
        <a:defRPr kumimoji="1" sz="1400">
          <a:solidFill>
            <a:schemeClr val="tx1"/>
          </a:solidFill>
          <a:latin typeface="+mn-lt"/>
        </a:defRPr>
      </a:lvl8pPr>
      <a:lvl9pPr marL="3886200" indent="-228600" algn="l" rtl="0" eaLnBrk="0" fontAlgn="base" hangingPunct="0">
        <a:spcBef>
          <a:spcPct val="20000"/>
        </a:spcBef>
        <a:spcAft>
          <a:spcPct val="0"/>
        </a:spcAft>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685800" y="117475"/>
            <a:ext cx="8456613" cy="6738938"/>
            <a:chOff x="432" y="74"/>
            <a:chExt cx="5327" cy="4245"/>
          </a:xfrm>
        </p:grpSpPr>
        <p:sp>
          <p:nvSpPr>
            <p:cNvPr id="1032" name="Rectangle 3"/>
            <p:cNvSpPr>
              <a:spLocks noChangeArrowheads="1"/>
            </p:cNvSpPr>
            <p:nvPr/>
          </p:nvSpPr>
          <p:spPr bwMode="invGray">
            <a:xfrm>
              <a:off x="432" y="4176"/>
              <a:ext cx="2208" cy="14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033" name="Group 4"/>
            <p:cNvGrpSpPr>
              <a:grpSpLocks/>
            </p:cNvGrpSpPr>
            <p:nvPr/>
          </p:nvGrpSpPr>
          <p:grpSpPr bwMode="auto">
            <a:xfrm>
              <a:off x="2859" y="4250"/>
              <a:ext cx="2729" cy="41"/>
              <a:chOff x="2859" y="4250"/>
              <a:chExt cx="2729" cy="41"/>
            </a:xfrm>
          </p:grpSpPr>
          <p:sp>
            <p:nvSpPr>
              <p:cNvPr id="1038" name="Oval 5"/>
              <p:cNvSpPr>
                <a:spLocks noChangeArrowheads="1"/>
              </p:cNvSpPr>
              <p:nvPr/>
            </p:nvSpPr>
            <p:spPr bwMode="invGray">
              <a:xfrm>
                <a:off x="285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9" name="Oval 6"/>
              <p:cNvSpPr>
                <a:spLocks noChangeArrowheads="1"/>
              </p:cNvSpPr>
              <p:nvPr/>
            </p:nvSpPr>
            <p:spPr bwMode="invGray">
              <a:xfrm>
                <a:off x="324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0" name="Oval 7"/>
              <p:cNvSpPr>
                <a:spLocks noChangeArrowheads="1"/>
              </p:cNvSpPr>
              <p:nvPr/>
            </p:nvSpPr>
            <p:spPr bwMode="invGray">
              <a:xfrm>
                <a:off x="362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1" name="Oval 8"/>
              <p:cNvSpPr>
                <a:spLocks noChangeArrowheads="1"/>
              </p:cNvSpPr>
              <p:nvPr/>
            </p:nvSpPr>
            <p:spPr bwMode="invGray">
              <a:xfrm>
                <a:off x="4011"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2" name="Oval 9"/>
              <p:cNvSpPr>
                <a:spLocks noChangeArrowheads="1"/>
              </p:cNvSpPr>
              <p:nvPr/>
            </p:nvSpPr>
            <p:spPr bwMode="invGray">
              <a:xfrm>
                <a:off x="4395"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3" name="Oval 10"/>
              <p:cNvSpPr>
                <a:spLocks noChangeArrowheads="1"/>
              </p:cNvSpPr>
              <p:nvPr/>
            </p:nvSpPr>
            <p:spPr bwMode="invGray">
              <a:xfrm>
                <a:off x="477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4" name="Oval 11"/>
              <p:cNvSpPr>
                <a:spLocks noChangeArrowheads="1"/>
              </p:cNvSpPr>
              <p:nvPr/>
            </p:nvSpPr>
            <p:spPr bwMode="invGray">
              <a:xfrm>
                <a:off x="516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5" name="Oval 12"/>
              <p:cNvSpPr>
                <a:spLocks noChangeArrowheads="1"/>
              </p:cNvSpPr>
              <p:nvPr/>
            </p:nvSpPr>
            <p:spPr bwMode="invGray">
              <a:xfrm>
                <a:off x="554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34" name="Rectangle 13"/>
            <p:cNvSpPr>
              <a:spLocks noChangeArrowheads="1"/>
            </p:cNvSpPr>
            <p:nvPr/>
          </p:nvSpPr>
          <p:spPr bwMode="invGray">
            <a:xfrm>
              <a:off x="480" y="480"/>
              <a:ext cx="5279"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5" name="Oval 14"/>
            <p:cNvSpPr>
              <a:spLocks noChangeArrowheads="1"/>
            </p:cNvSpPr>
            <p:nvPr/>
          </p:nvSpPr>
          <p:spPr bwMode="invGray">
            <a:xfrm>
              <a:off x="507"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6" name="Oval 15"/>
            <p:cNvSpPr>
              <a:spLocks noChangeArrowheads="1"/>
            </p:cNvSpPr>
            <p:nvPr/>
          </p:nvSpPr>
          <p:spPr bwMode="invGray">
            <a:xfrm>
              <a:off x="507"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7" name="Oval 16"/>
            <p:cNvSpPr>
              <a:spLocks noChangeArrowheads="1"/>
            </p:cNvSpPr>
            <p:nvPr/>
          </p:nvSpPr>
          <p:spPr bwMode="invGray">
            <a:xfrm>
              <a:off x="507"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27" name="Rectangle 17"/>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1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403" name="Rectangle 1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vl1pPr>
          </a:lstStyle>
          <a:p>
            <a:pPr eaLnBrk="0" fontAlgn="base" hangingPunct="0">
              <a:spcAft>
                <a:spcPct val="0"/>
              </a:spcAft>
              <a:defRPr/>
            </a:pPr>
            <a:endParaRPr kumimoji="1" lang="en-US">
              <a:solidFill>
                <a:srgbClr val="FFFFFF"/>
              </a:solidFill>
            </a:endParaRPr>
          </a:p>
        </p:txBody>
      </p:sp>
      <p:sp>
        <p:nvSpPr>
          <p:cNvPr id="16404" name="Rectangle 2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pPr eaLnBrk="0" fontAlgn="base" hangingPunct="0">
              <a:spcAft>
                <a:spcPct val="0"/>
              </a:spcAft>
              <a:defRPr/>
            </a:pPr>
            <a:endParaRPr kumimoji="1" lang="en-US">
              <a:solidFill>
                <a:srgbClr val="FFFFFF"/>
              </a:solidFill>
            </a:endParaRPr>
          </a:p>
        </p:txBody>
      </p:sp>
      <p:sp>
        <p:nvSpPr>
          <p:cNvPr id="16405" name="Rectangle 2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vl1pPr>
          </a:lstStyle>
          <a:p>
            <a:pPr eaLnBrk="0" fontAlgn="base" hangingPunct="0">
              <a:spcAft>
                <a:spcPct val="0"/>
              </a:spcAft>
              <a:defRPr/>
            </a:pPr>
            <a:fld id="{E7A4E5C9-CE64-44A2-BBBB-FA7F983E3A56}" type="slidenum">
              <a:rPr kumimoji="1" lang="en-US">
                <a:solidFill>
                  <a:srgbClr val="FFFFFF"/>
                </a:solidFill>
              </a:rPr>
              <a:pPr eaLnBrk="0" fontAlgn="base" hangingPunct="0">
                <a:spcAft>
                  <a:spcPct val="0"/>
                </a:spcAft>
                <a:defRPr/>
              </a:pPr>
              <a:t>‹#›</a:t>
            </a:fld>
            <a:endParaRPr kumimoji="1" lang="en-US">
              <a:solidFill>
                <a:srgbClr val="FFFFFF"/>
              </a:solidFill>
            </a:endParaRPr>
          </a:p>
        </p:txBody>
      </p:sp>
    </p:spTree>
    <p:extLst>
      <p:ext uri="{BB962C8B-B14F-4D97-AF65-F5344CB8AC3E}">
        <p14:creationId xmlns:p14="http://schemas.microsoft.com/office/powerpoint/2010/main" val="3663322775"/>
      </p:ext>
    </p:extLst>
  </p:cSld>
  <p:clrMap bg1="dk2" tx1="lt1" bg2="dk1"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kumimoji="1" sz="3600">
          <a:solidFill>
            <a:schemeClr val="tx2"/>
          </a:solidFill>
          <a:latin typeface="+mj-lt"/>
          <a:ea typeface="+mj-ea"/>
          <a:cs typeface="+mj-cs"/>
        </a:defRPr>
      </a:lvl1pPr>
      <a:lvl2pPr algn="ctr" rtl="0" eaLnBrk="0" fontAlgn="base" hangingPunct="0">
        <a:spcBef>
          <a:spcPct val="0"/>
        </a:spcBef>
        <a:spcAft>
          <a:spcPct val="0"/>
        </a:spcAft>
        <a:defRPr kumimoji="1" sz="3600">
          <a:solidFill>
            <a:schemeClr val="tx2"/>
          </a:solidFill>
          <a:latin typeface="Times New Roman" pitchFamily="18" charset="0"/>
        </a:defRPr>
      </a:lvl2pPr>
      <a:lvl3pPr algn="ctr" rtl="0" eaLnBrk="0" fontAlgn="base" hangingPunct="0">
        <a:spcBef>
          <a:spcPct val="0"/>
        </a:spcBef>
        <a:spcAft>
          <a:spcPct val="0"/>
        </a:spcAft>
        <a:defRPr kumimoji="1" sz="3600">
          <a:solidFill>
            <a:schemeClr val="tx2"/>
          </a:solidFill>
          <a:latin typeface="Times New Roman" pitchFamily="18" charset="0"/>
        </a:defRPr>
      </a:lvl3pPr>
      <a:lvl4pPr algn="ctr" rtl="0" eaLnBrk="0" fontAlgn="base" hangingPunct="0">
        <a:spcBef>
          <a:spcPct val="0"/>
        </a:spcBef>
        <a:spcAft>
          <a:spcPct val="0"/>
        </a:spcAft>
        <a:defRPr kumimoji="1" sz="3600">
          <a:solidFill>
            <a:schemeClr val="tx2"/>
          </a:solidFill>
          <a:latin typeface="Times New Roman" pitchFamily="18" charset="0"/>
        </a:defRPr>
      </a:lvl4pPr>
      <a:lvl5pPr algn="ctr" rtl="0" eaLnBrk="0" fontAlgn="base" hangingPunct="0">
        <a:spcBef>
          <a:spcPct val="0"/>
        </a:spcBef>
        <a:spcAft>
          <a:spcPct val="0"/>
        </a:spcAft>
        <a:defRPr kumimoji="1" sz="3600">
          <a:solidFill>
            <a:schemeClr val="tx2"/>
          </a:solidFill>
          <a:latin typeface="Times New Roman" pitchFamily="18" charset="0"/>
        </a:defRPr>
      </a:lvl5pPr>
      <a:lvl6pPr marL="457200" algn="ctr" rtl="0" eaLnBrk="0" fontAlgn="base" hangingPunct="0">
        <a:spcBef>
          <a:spcPct val="0"/>
        </a:spcBef>
        <a:spcAft>
          <a:spcPct val="0"/>
        </a:spcAft>
        <a:defRPr kumimoji="1" sz="3600">
          <a:solidFill>
            <a:schemeClr val="tx2"/>
          </a:solidFill>
          <a:latin typeface="Times New Roman" pitchFamily="18" charset="0"/>
        </a:defRPr>
      </a:lvl6pPr>
      <a:lvl7pPr marL="914400" algn="ctr" rtl="0" eaLnBrk="0" fontAlgn="base" hangingPunct="0">
        <a:spcBef>
          <a:spcPct val="0"/>
        </a:spcBef>
        <a:spcAft>
          <a:spcPct val="0"/>
        </a:spcAft>
        <a:defRPr kumimoji="1" sz="3600">
          <a:solidFill>
            <a:schemeClr val="tx2"/>
          </a:solidFill>
          <a:latin typeface="Times New Roman" pitchFamily="18" charset="0"/>
        </a:defRPr>
      </a:lvl7pPr>
      <a:lvl8pPr marL="1371600" algn="ctr" rtl="0" eaLnBrk="0" fontAlgn="base" hangingPunct="0">
        <a:spcBef>
          <a:spcPct val="0"/>
        </a:spcBef>
        <a:spcAft>
          <a:spcPct val="0"/>
        </a:spcAft>
        <a:defRPr kumimoji="1" sz="3600">
          <a:solidFill>
            <a:schemeClr val="tx2"/>
          </a:solidFill>
          <a:latin typeface="Times New Roman" pitchFamily="18" charset="0"/>
        </a:defRPr>
      </a:lvl8pPr>
      <a:lvl9pPr marL="1828800" algn="ctr" rtl="0" eaLnBrk="0" fontAlgn="base" hangingPunct="0">
        <a:spcBef>
          <a:spcPct val="0"/>
        </a:spcBef>
        <a:spcAft>
          <a:spcPct val="0"/>
        </a:spcAft>
        <a:defRPr kumimoji="1" sz="36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200">
          <a:solidFill>
            <a:schemeClr val="tx1"/>
          </a:solidFill>
          <a:latin typeface="+mn-lt"/>
        </a:defRPr>
      </a:lvl2pPr>
      <a:lvl3pPr marL="1143000" indent="-228600" algn="l" rtl="0" eaLnBrk="0" fontAlgn="base" hangingPunct="0">
        <a:spcBef>
          <a:spcPct val="20000"/>
        </a:spcBef>
        <a:spcAft>
          <a:spcPct val="0"/>
        </a:spcAft>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400">
          <a:solidFill>
            <a:schemeClr val="tx1"/>
          </a:solidFill>
          <a:latin typeface="+mn-lt"/>
        </a:defRPr>
      </a:lvl4pPr>
      <a:lvl5pPr marL="2057400" indent="-228600" algn="l" rtl="0" eaLnBrk="0" fontAlgn="base" hangingPunct="0">
        <a:spcBef>
          <a:spcPct val="20000"/>
        </a:spcBef>
        <a:spcAft>
          <a:spcPct val="0"/>
        </a:spcAft>
        <a:buChar char="•"/>
        <a:defRPr kumimoji="1" sz="1400">
          <a:solidFill>
            <a:schemeClr val="tx1"/>
          </a:solidFill>
          <a:latin typeface="+mn-lt"/>
        </a:defRPr>
      </a:lvl5pPr>
      <a:lvl6pPr marL="2514600" indent="-228600" algn="l" rtl="0" eaLnBrk="0" fontAlgn="base" hangingPunct="0">
        <a:spcBef>
          <a:spcPct val="20000"/>
        </a:spcBef>
        <a:spcAft>
          <a:spcPct val="0"/>
        </a:spcAft>
        <a:buChar char="•"/>
        <a:defRPr kumimoji="1" sz="1400">
          <a:solidFill>
            <a:schemeClr val="tx1"/>
          </a:solidFill>
          <a:latin typeface="+mn-lt"/>
        </a:defRPr>
      </a:lvl6pPr>
      <a:lvl7pPr marL="2971800" indent="-228600" algn="l" rtl="0" eaLnBrk="0" fontAlgn="base" hangingPunct="0">
        <a:spcBef>
          <a:spcPct val="20000"/>
        </a:spcBef>
        <a:spcAft>
          <a:spcPct val="0"/>
        </a:spcAft>
        <a:buChar char="•"/>
        <a:defRPr kumimoji="1" sz="1400">
          <a:solidFill>
            <a:schemeClr val="tx1"/>
          </a:solidFill>
          <a:latin typeface="+mn-lt"/>
        </a:defRPr>
      </a:lvl7pPr>
      <a:lvl8pPr marL="3429000" indent="-228600" algn="l" rtl="0" eaLnBrk="0" fontAlgn="base" hangingPunct="0">
        <a:spcBef>
          <a:spcPct val="20000"/>
        </a:spcBef>
        <a:spcAft>
          <a:spcPct val="0"/>
        </a:spcAft>
        <a:buChar char="•"/>
        <a:defRPr kumimoji="1" sz="1400">
          <a:solidFill>
            <a:schemeClr val="tx1"/>
          </a:solidFill>
          <a:latin typeface="+mn-lt"/>
        </a:defRPr>
      </a:lvl8pPr>
      <a:lvl9pPr marL="3886200" indent="-228600" algn="l" rtl="0" eaLnBrk="0" fontAlgn="base" hangingPunct="0">
        <a:spcBef>
          <a:spcPct val="20000"/>
        </a:spcBef>
        <a:spcAft>
          <a:spcPct val="0"/>
        </a:spcAft>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685800" y="117475"/>
            <a:ext cx="8456613" cy="6738938"/>
            <a:chOff x="432" y="74"/>
            <a:chExt cx="5327" cy="4245"/>
          </a:xfrm>
        </p:grpSpPr>
        <p:sp>
          <p:nvSpPr>
            <p:cNvPr id="1032" name="Rectangle 3"/>
            <p:cNvSpPr>
              <a:spLocks noChangeArrowheads="1"/>
            </p:cNvSpPr>
            <p:nvPr/>
          </p:nvSpPr>
          <p:spPr bwMode="invGray">
            <a:xfrm>
              <a:off x="432" y="4176"/>
              <a:ext cx="2208" cy="14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nvGrpSpPr>
            <p:cNvPr id="1033" name="Group 4"/>
            <p:cNvGrpSpPr>
              <a:grpSpLocks/>
            </p:cNvGrpSpPr>
            <p:nvPr/>
          </p:nvGrpSpPr>
          <p:grpSpPr bwMode="auto">
            <a:xfrm>
              <a:off x="2859" y="4250"/>
              <a:ext cx="2729" cy="41"/>
              <a:chOff x="2859" y="4250"/>
              <a:chExt cx="2729" cy="41"/>
            </a:xfrm>
          </p:grpSpPr>
          <p:sp>
            <p:nvSpPr>
              <p:cNvPr id="1038" name="Oval 5"/>
              <p:cNvSpPr>
                <a:spLocks noChangeArrowheads="1"/>
              </p:cNvSpPr>
              <p:nvPr/>
            </p:nvSpPr>
            <p:spPr bwMode="invGray">
              <a:xfrm>
                <a:off x="285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9" name="Oval 6"/>
              <p:cNvSpPr>
                <a:spLocks noChangeArrowheads="1"/>
              </p:cNvSpPr>
              <p:nvPr/>
            </p:nvSpPr>
            <p:spPr bwMode="invGray">
              <a:xfrm>
                <a:off x="324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0" name="Oval 7"/>
              <p:cNvSpPr>
                <a:spLocks noChangeArrowheads="1"/>
              </p:cNvSpPr>
              <p:nvPr/>
            </p:nvSpPr>
            <p:spPr bwMode="invGray">
              <a:xfrm>
                <a:off x="362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1" name="Oval 8"/>
              <p:cNvSpPr>
                <a:spLocks noChangeArrowheads="1"/>
              </p:cNvSpPr>
              <p:nvPr/>
            </p:nvSpPr>
            <p:spPr bwMode="invGray">
              <a:xfrm>
                <a:off x="4011"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2" name="Oval 9"/>
              <p:cNvSpPr>
                <a:spLocks noChangeArrowheads="1"/>
              </p:cNvSpPr>
              <p:nvPr/>
            </p:nvSpPr>
            <p:spPr bwMode="invGray">
              <a:xfrm>
                <a:off x="4395"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3" name="Oval 10"/>
              <p:cNvSpPr>
                <a:spLocks noChangeArrowheads="1"/>
              </p:cNvSpPr>
              <p:nvPr/>
            </p:nvSpPr>
            <p:spPr bwMode="invGray">
              <a:xfrm>
                <a:off x="4779"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4" name="Oval 11"/>
              <p:cNvSpPr>
                <a:spLocks noChangeArrowheads="1"/>
              </p:cNvSpPr>
              <p:nvPr/>
            </p:nvSpPr>
            <p:spPr bwMode="invGray">
              <a:xfrm>
                <a:off x="5163" y="4250"/>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45" name="Oval 12"/>
              <p:cNvSpPr>
                <a:spLocks noChangeArrowheads="1"/>
              </p:cNvSpPr>
              <p:nvPr/>
            </p:nvSpPr>
            <p:spPr bwMode="invGray">
              <a:xfrm>
                <a:off x="5547" y="4250"/>
                <a:ext cx="41"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34" name="Rectangle 13"/>
            <p:cNvSpPr>
              <a:spLocks noChangeArrowheads="1"/>
            </p:cNvSpPr>
            <p:nvPr/>
          </p:nvSpPr>
          <p:spPr bwMode="invGray">
            <a:xfrm>
              <a:off x="480" y="480"/>
              <a:ext cx="5279" cy="48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5" name="Oval 14"/>
            <p:cNvSpPr>
              <a:spLocks noChangeArrowheads="1"/>
            </p:cNvSpPr>
            <p:nvPr/>
          </p:nvSpPr>
          <p:spPr bwMode="invGray">
            <a:xfrm>
              <a:off x="507" y="74"/>
              <a:ext cx="42" cy="4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6" name="Oval 15"/>
            <p:cNvSpPr>
              <a:spLocks noChangeArrowheads="1"/>
            </p:cNvSpPr>
            <p:nvPr/>
          </p:nvSpPr>
          <p:spPr bwMode="invGray">
            <a:xfrm>
              <a:off x="507" y="219"/>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sp>
          <p:nvSpPr>
            <p:cNvPr id="1037" name="Oval 16"/>
            <p:cNvSpPr>
              <a:spLocks noChangeArrowheads="1"/>
            </p:cNvSpPr>
            <p:nvPr/>
          </p:nvSpPr>
          <p:spPr bwMode="invGray">
            <a:xfrm>
              <a:off x="507" y="362"/>
              <a:ext cx="42" cy="41"/>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defRPr/>
              </a:pPr>
              <a:endParaRPr lang="en-US" altLang="en-US">
                <a:solidFill>
                  <a:srgbClr val="FFFFFF"/>
                </a:solidFill>
              </a:endParaRPr>
            </a:p>
          </p:txBody>
        </p:sp>
      </p:grpSp>
      <p:sp>
        <p:nvSpPr>
          <p:cNvPr id="1027" name="Rectangle 17"/>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1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403" name="Rectangle 1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vl1pPr>
          </a:lstStyle>
          <a:p>
            <a:pPr eaLnBrk="0" fontAlgn="base" hangingPunct="0">
              <a:spcAft>
                <a:spcPct val="0"/>
              </a:spcAft>
              <a:defRPr/>
            </a:pPr>
            <a:endParaRPr kumimoji="1" lang="en-US">
              <a:solidFill>
                <a:srgbClr val="FFFFFF"/>
              </a:solidFill>
            </a:endParaRPr>
          </a:p>
        </p:txBody>
      </p:sp>
      <p:sp>
        <p:nvSpPr>
          <p:cNvPr id="16404" name="Rectangle 2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pPr eaLnBrk="0" fontAlgn="base" hangingPunct="0">
              <a:spcAft>
                <a:spcPct val="0"/>
              </a:spcAft>
              <a:defRPr/>
            </a:pPr>
            <a:endParaRPr kumimoji="1" lang="en-US">
              <a:solidFill>
                <a:srgbClr val="FFFFFF"/>
              </a:solidFill>
            </a:endParaRPr>
          </a:p>
        </p:txBody>
      </p:sp>
      <p:sp>
        <p:nvSpPr>
          <p:cNvPr id="16405" name="Rectangle 2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vl1pPr>
          </a:lstStyle>
          <a:p>
            <a:pPr eaLnBrk="0" fontAlgn="base" hangingPunct="0">
              <a:spcAft>
                <a:spcPct val="0"/>
              </a:spcAft>
              <a:defRPr/>
            </a:pPr>
            <a:fld id="{E7A4E5C9-CE64-44A2-BBBB-FA7F983E3A56}" type="slidenum">
              <a:rPr kumimoji="1" lang="en-US">
                <a:solidFill>
                  <a:srgbClr val="FFFFFF"/>
                </a:solidFill>
              </a:rPr>
              <a:pPr eaLnBrk="0" fontAlgn="base" hangingPunct="0">
                <a:spcAft>
                  <a:spcPct val="0"/>
                </a:spcAft>
                <a:defRPr/>
              </a:pPr>
              <a:t>‹#›</a:t>
            </a:fld>
            <a:endParaRPr kumimoji="1" lang="en-US">
              <a:solidFill>
                <a:srgbClr val="FFFFFF"/>
              </a:solidFill>
            </a:endParaRPr>
          </a:p>
        </p:txBody>
      </p:sp>
    </p:spTree>
    <p:extLst>
      <p:ext uri="{BB962C8B-B14F-4D97-AF65-F5344CB8AC3E}">
        <p14:creationId xmlns:p14="http://schemas.microsoft.com/office/powerpoint/2010/main" val="3547395696"/>
      </p:ext>
    </p:extLst>
  </p:cSld>
  <p:clrMap bg1="dk2" tx1="lt1" bg2="dk1"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kumimoji="1" sz="3600">
          <a:solidFill>
            <a:schemeClr val="tx2"/>
          </a:solidFill>
          <a:latin typeface="+mj-lt"/>
          <a:ea typeface="+mj-ea"/>
          <a:cs typeface="+mj-cs"/>
        </a:defRPr>
      </a:lvl1pPr>
      <a:lvl2pPr algn="ctr" rtl="0" eaLnBrk="0" fontAlgn="base" hangingPunct="0">
        <a:spcBef>
          <a:spcPct val="0"/>
        </a:spcBef>
        <a:spcAft>
          <a:spcPct val="0"/>
        </a:spcAft>
        <a:defRPr kumimoji="1" sz="3600">
          <a:solidFill>
            <a:schemeClr val="tx2"/>
          </a:solidFill>
          <a:latin typeface="Times New Roman" pitchFamily="18" charset="0"/>
        </a:defRPr>
      </a:lvl2pPr>
      <a:lvl3pPr algn="ctr" rtl="0" eaLnBrk="0" fontAlgn="base" hangingPunct="0">
        <a:spcBef>
          <a:spcPct val="0"/>
        </a:spcBef>
        <a:spcAft>
          <a:spcPct val="0"/>
        </a:spcAft>
        <a:defRPr kumimoji="1" sz="3600">
          <a:solidFill>
            <a:schemeClr val="tx2"/>
          </a:solidFill>
          <a:latin typeface="Times New Roman" pitchFamily="18" charset="0"/>
        </a:defRPr>
      </a:lvl3pPr>
      <a:lvl4pPr algn="ctr" rtl="0" eaLnBrk="0" fontAlgn="base" hangingPunct="0">
        <a:spcBef>
          <a:spcPct val="0"/>
        </a:spcBef>
        <a:spcAft>
          <a:spcPct val="0"/>
        </a:spcAft>
        <a:defRPr kumimoji="1" sz="3600">
          <a:solidFill>
            <a:schemeClr val="tx2"/>
          </a:solidFill>
          <a:latin typeface="Times New Roman" pitchFamily="18" charset="0"/>
        </a:defRPr>
      </a:lvl4pPr>
      <a:lvl5pPr algn="ctr" rtl="0" eaLnBrk="0" fontAlgn="base" hangingPunct="0">
        <a:spcBef>
          <a:spcPct val="0"/>
        </a:spcBef>
        <a:spcAft>
          <a:spcPct val="0"/>
        </a:spcAft>
        <a:defRPr kumimoji="1" sz="3600">
          <a:solidFill>
            <a:schemeClr val="tx2"/>
          </a:solidFill>
          <a:latin typeface="Times New Roman" pitchFamily="18" charset="0"/>
        </a:defRPr>
      </a:lvl5pPr>
      <a:lvl6pPr marL="457200" algn="ctr" rtl="0" eaLnBrk="0" fontAlgn="base" hangingPunct="0">
        <a:spcBef>
          <a:spcPct val="0"/>
        </a:spcBef>
        <a:spcAft>
          <a:spcPct val="0"/>
        </a:spcAft>
        <a:defRPr kumimoji="1" sz="3600">
          <a:solidFill>
            <a:schemeClr val="tx2"/>
          </a:solidFill>
          <a:latin typeface="Times New Roman" pitchFamily="18" charset="0"/>
        </a:defRPr>
      </a:lvl6pPr>
      <a:lvl7pPr marL="914400" algn="ctr" rtl="0" eaLnBrk="0" fontAlgn="base" hangingPunct="0">
        <a:spcBef>
          <a:spcPct val="0"/>
        </a:spcBef>
        <a:spcAft>
          <a:spcPct val="0"/>
        </a:spcAft>
        <a:defRPr kumimoji="1" sz="3600">
          <a:solidFill>
            <a:schemeClr val="tx2"/>
          </a:solidFill>
          <a:latin typeface="Times New Roman" pitchFamily="18" charset="0"/>
        </a:defRPr>
      </a:lvl7pPr>
      <a:lvl8pPr marL="1371600" algn="ctr" rtl="0" eaLnBrk="0" fontAlgn="base" hangingPunct="0">
        <a:spcBef>
          <a:spcPct val="0"/>
        </a:spcBef>
        <a:spcAft>
          <a:spcPct val="0"/>
        </a:spcAft>
        <a:defRPr kumimoji="1" sz="3600">
          <a:solidFill>
            <a:schemeClr val="tx2"/>
          </a:solidFill>
          <a:latin typeface="Times New Roman" pitchFamily="18" charset="0"/>
        </a:defRPr>
      </a:lvl8pPr>
      <a:lvl9pPr marL="1828800" algn="ctr" rtl="0" eaLnBrk="0" fontAlgn="base" hangingPunct="0">
        <a:spcBef>
          <a:spcPct val="0"/>
        </a:spcBef>
        <a:spcAft>
          <a:spcPct val="0"/>
        </a:spcAft>
        <a:defRPr kumimoji="1" sz="36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200">
          <a:solidFill>
            <a:schemeClr val="tx1"/>
          </a:solidFill>
          <a:latin typeface="+mn-lt"/>
        </a:defRPr>
      </a:lvl2pPr>
      <a:lvl3pPr marL="1143000" indent="-228600" algn="l" rtl="0" eaLnBrk="0" fontAlgn="base" hangingPunct="0">
        <a:spcBef>
          <a:spcPct val="20000"/>
        </a:spcBef>
        <a:spcAft>
          <a:spcPct val="0"/>
        </a:spcAft>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400">
          <a:solidFill>
            <a:schemeClr val="tx1"/>
          </a:solidFill>
          <a:latin typeface="+mn-lt"/>
        </a:defRPr>
      </a:lvl4pPr>
      <a:lvl5pPr marL="2057400" indent="-228600" algn="l" rtl="0" eaLnBrk="0" fontAlgn="base" hangingPunct="0">
        <a:spcBef>
          <a:spcPct val="20000"/>
        </a:spcBef>
        <a:spcAft>
          <a:spcPct val="0"/>
        </a:spcAft>
        <a:buChar char="•"/>
        <a:defRPr kumimoji="1" sz="1400">
          <a:solidFill>
            <a:schemeClr val="tx1"/>
          </a:solidFill>
          <a:latin typeface="+mn-lt"/>
        </a:defRPr>
      </a:lvl5pPr>
      <a:lvl6pPr marL="2514600" indent="-228600" algn="l" rtl="0" eaLnBrk="0" fontAlgn="base" hangingPunct="0">
        <a:spcBef>
          <a:spcPct val="20000"/>
        </a:spcBef>
        <a:spcAft>
          <a:spcPct val="0"/>
        </a:spcAft>
        <a:buChar char="•"/>
        <a:defRPr kumimoji="1" sz="1400">
          <a:solidFill>
            <a:schemeClr val="tx1"/>
          </a:solidFill>
          <a:latin typeface="+mn-lt"/>
        </a:defRPr>
      </a:lvl6pPr>
      <a:lvl7pPr marL="2971800" indent="-228600" algn="l" rtl="0" eaLnBrk="0" fontAlgn="base" hangingPunct="0">
        <a:spcBef>
          <a:spcPct val="20000"/>
        </a:spcBef>
        <a:spcAft>
          <a:spcPct val="0"/>
        </a:spcAft>
        <a:buChar char="•"/>
        <a:defRPr kumimoji="1" sz="1400">
          <a:solidFill>
            <a:schemeClr val="tx1"/>
          </a:solidFill>
          <a:latin typeface="+mn-lt"/>
        </a:defRPr>
      </a:lvl7pPr>
      <a:lvl8pPr marL="3429000" indent="-228600" algn="l" rtl="0" eaLnBrk="0" fontAlgn="base" hangingPunct="0">
        <a:spcBef>
          <a:spcPct val="20000"/>
        </a:spcBef>
        <a:spcAft>
          <a:spcPct val="0"/>
        </a:spcAft>
        <a:buChar char="•"/>
        <a:defRPr kumimoji="1" sz="1400">
          <a:solidFill>
            <a:schemeClr val="tx1"/>
          </a:solidFill>
          <a:latin typeface="+mn-lt"/>
        </a:defRPr>
      </a:lvl8pPr>
      <a:lvl9pPr marL="3886200" indent="-228600" algn="l" rtl="0" eaLnBrk="0" fontAlgn="base" hangingPunct="0">
        <a:spcBef>
          <a:spcPct val="20000"/>
        </a:spcBef>
        <a:spcAft>
          <a:spcPct val="0"/>
        </a:spcAft>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eaLnBrk="0" fontAlgn="base" hangingPunct="0">
              <a:spcAft>
                <a:spcPct val="0"/>
              </a:spcAft>
              <a:defRPr/>
            </a:pPr>
            <a:endParaRPr kumimoji="1" lang="en-US">
              <a:solidFill>
                <a:srgbClr val="FFFFFF"/>
              </a:solidFill>
            </a:endParaRPr>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eaLnBrk="0" fontAlgn="base" hangingPunct="0">
              <a:spcAft>
                <a:spcPct val="0"/>
              </a:spcAft>
              <a:defRPr/>
            </a:pPr>
            <a:endParaRPr kumimoji="1" lang="en-US">
              <a:solidFill>
                <a:srgbClr val="FFFFFF"/>
              </a:solidFill>
            </a:endParaRPr>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eaLnBrk="0" fontAlgn="base" hangingPunct="0">
              <a:spcAft>
                <a:spcPct val="0"/>
              </a:spcAft>
              <a:defRPr/>
            </a:pPr>
            <a:fld id="{AF90D75F-569E-4FCC-9DEB-2158506FD4C9}" type="slidenum">
              <a:rPr kumimoji="1" lang="en-US" smtClean="0">
                <a:solidFill>
                  <a:srgbClr val="FFFFFF"/>
                </a:solidFill>
              </a:rPr>
              <a:pPr eaLnBrk="0" fontAlgn="base" hangingPunct="0">
                <a:spcAft>
                  <a:spcPct val="0"/>
                </a:spcAft>
                <a:defRPr/>
              </a:pPr>
              <a:t>‹#›</a:t>
            </a:fld>
            <a:endParaRPr kumimoji="1" lang="en-US">
              <a:solidFill>
                <a:srgbClr val="FFFFFF"/>
              </a:solidFill>
            </a:endParaRPr>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054872"/>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6.xml"/><Relationship Id="rId1" Type="http://schemas.openxmlformats.org/officeDocument/2006/relationships/vmlDrawing" Target="../drawings/vmlDrawing1.vml"/><Relationship Id="rId5" Type="http://schemas.openxmlformats.org/officeDocument/2006/relationships/image" Target="../media/image35.wmf"/><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gif"/><Relationship Id="rId1" Type="http://schemas.openxmlformats.org/officeDocument/2006/relationships/slideLayout" Target="../slideLayouts/slideLayout46.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6.xml"/><Relationship Id="rId7" Type="http://schemas.openxmlformats.org/officeDocument/2006/relationships/image" Target="../media/image42.wmf"/><Relationship Id="rId2" Type="http://schemas.openxmlformats.org/officeDocument/2006/relationships/slideLayout" Target="../slideLayouts/slideLayout58.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1.wmf"/><Relationship Id="rId4" Type="http://schemas.openxmlformats.org/officeDocument/2006/relationships/oleObject" Target="../embeddings/oleObject2.bin"/><Relationship Id="rId9" Type="http://schemas.openxmlformats.org/officeDocument/2006/relationships/image" Target="../media/image43.wmf"/></Relationships>
</file>

<file path=ppt/slides/_rels/slide4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5.png"/><Relationship Id="rId7"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slideLayout" Target="../slideLayouts/slideLayout46.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6.xml"/><Relationship Id="rId1" Type="http://schemas.openxmlformats.org/officeDocument/2006/relationships/vmlDrawing" Target="../drawings/vmlDrawing3.vml"/><Relationship Id="rId5" Type="http://schemas.openxmlformats.org/officeDocument/2006/relationships/image" Target="../media/image46.wmf"/><Relationship Id="rId4" Type="http://schemas.openxmlformats.org/officeDocument/2006/relationships/oleObject" Target="../embeddings/oleObject5.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7.xml"/><Relationship Id="rId1" Type="http://schemas.openxmlformats.org/officeDocument/2006/relationships/vmlDrawing" Target="../drawings/vmlDrawing4.vml"/><Relationship Id="rId6" Type="http://schemas.openxmlformats.org/officeDocument/2006/relationships/image" Target="../media/image46.wmf"/><Relationship Id="rId5" Type="http://schemas.openxmlformats.org/officeDocument/2006/relationships/oleObject" Target="../embeddings/oleObject6.bin"/><Relationship Id="rId4" Type="http://schemas.openxmlformats.org/officeDocument/2006/relationships/image" Target="../media/image47.wmf"/></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6.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4.png"/><Relationship Id="rId1" Type="http://schemas.openxmlformats.org/officeDocument/2006/relationships/slideLayout" Target="../slideLayouts/slideLayout4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6.xml"/></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1.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46.xml"/></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4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51.xml"/></Relationships>
</file>

<file path=ppt/slides/_rels/slide6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51.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51.xml"/></Relationships>
</file>

<file path=ppt/slides/_rels/slide6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1.xml"/></Relationships>
</file>

<file path=ppt/slides/_rels/slide7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51.xml"/></Relationships>
</file>

<file path=ppt/slides/_rels/slide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51.xml"/></Relationships>
</file>

<file path=ppt/slides/_rels/slide7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51.xml"/></Relationships>
</file>

<file path=ppt/slides/_rels/slide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1.xml"/></Relationships>
</file>

<file path=ppt/slides/_rels/slide7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1.xml"/></Relationships>
</file>

<file path=ppt/slides/_rels/slide7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46.xml"/></Relationships>
</file>

<file path=ppt/slides/_rels/slide7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5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51.xml"/></Relationships>
</file>

<file path=ppt/slides/_rels/slide8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46.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6.xml"/></Relationships>
</file>

<file path=ppt/slides/_rels/slide8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46.xml"/><Relationship Id="rId4" Type="http://schemas.openxmlformats.org/officeDocument/2006/relationships/image" Target="../media/image99.png"/></Relationships>
</file>

<file path=ppt/slides/_rels/slide8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6.xml"/></Relationships>
</file>

<file path=ppt/slides/_rels/slide8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6.xml"/></Relationships>
</file>

<file path=ppt/slides/_rels/slide8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02.wmf"/><Relationship Id="rId2" Type="http://schemas.openxmlformats.org/officeDocument/2006/relationships/slideLayout" Target="../slideLayouts/slideLayout46.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101.wmf"/><Relationship Id="rId4" Type="http://schemas.openxmlformats.org/officeDocument/2006/relationships/oleObject" Target="../embeddings/oleObject7.bin"/></Relationships>
</file>

<file path=ppt/slides/_rels/slide91.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notesSlide" Target="../notesSlides/notesSlide12.xml"/><Relationship Id="rId7" Type="http://schemas.openxmlformats.org/officeDocument/2006/relationships/oleObject" Target="../embeddings/oleObject10.bin"/><Relationship Id="rId2" Type="http://schemas.openxmlformats.org/officeDocument/2006/relationships/slideLayout" Target="../slideLayouts/slideLayout46.xml"/><Relationship Id="rId1" Type="http://schemas.openxmlformats.org/officeDocument/2006/relationships/vmlDrawing" Target="../drawings/vmlDrawing6.vml"/><Relationship Id="rId6" Type="http://schemas.openxmlformats.org/officeDocument/2006/relationships/image" Target="../media/image103.wmf"/><Relationship Id="rId5" Type="http://schemas.openxmlformats.org/officeDocument/2006/relationships/oleObject" Target="../embeddings/oleObject9.bin"/><Relationship Id="rId4" Type="http://schemas.openxmlformats.org/officeDocument/2006/relationships/image" Target="../media/image105.png"/></Relationships>
</file>

<file path=ppt/slides/_rels/slide92.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notesSlide" Target="../notesSlides/notesSlide13.xml"/><Relationship Id="rId1" Type="http://schemas.openxmlformats.org/officeDocument/2006/relationships/slideLayout" Target="../slideLayouts/slideLayout46.xml"/><Relationship Id="rId6" Type="http://schemas.openxmlformats.org/officeDocument/2006/relationships/image" Target="../media/image109.wmf"/><Relationship Id="rId5" Type="http://schemas.openxmlformats.org/officeDocument/2006/relationships/image" Target="../media/image108.png"/><Relationship Id="rId4" Type="http://schemas.openxmlformats.org/officeDocument/2006/relationships/image" Target="../media/image107.wmf"/></Relationships>
</file>

<file path=ppt/slides/_rels/slide9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openxmlformats.org/officeDocument/2006/relationships/image" Target="../media/image111.png"/></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46.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6.xml"/><Relationship Id="rId1" Type="http://schemas.openxmlformats.org/officeDocument/2006/relationships/vmlDrawing" Target="../drawings/vmlDrawing7.vml"/><Relationship Id="rId5" Type="http://schemas.openxmlformats.org/officeDocument/2006/relationships/image" Target="../media/image115.png"/><Relationship Id="rId4" Type="http://schemas.openxmlformats.org/officeDocument/2006/relationships/image" Target="../media/image114.wmf"/></Relationships>
</file>

<file path=ppt/slides/_rels/slide9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46.xml"/></Relationships>
</file>

<file path=ppt/slides/_rels/slide9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46.xml"/></Relationships>
</file>

<file path=ppt/slides/_rels/slide98.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notesSlide" Target="../notesSlides/notesSlide15.xml"/><Relationship Id="rId1" Type="http://schemas.openxmlformats.org/officeDocument/2006/relationships/slideLayout" Target="../slideLayouts/slideLayout46.xml"/><Relationship Id="rId4" Type="http://schemas.openxmlformats.org/officeDocument/2006/relationships/image" Target="../media/image119.png"/></Relationships>
</file>

<file path=ppt/slides/_rels/slide99.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notesSlide" Target="../notesSlides/notesSlide16.xml"/><Relationship Id="rId1" Type="http://schemas.openxmlformats.org/officeDocument/2006/relationships/slideLayout" Target="../slideLayouts/slideLayout48.xml"/></Relationships>
</file>

<file path=ppt/slides/_rels/slide100.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notesSlide" Target="../notesSlides/notesSlide17.xml"/><Relationship Id="rId1" Type="http://schemas.openxmlformats.org/officeDocument/2006/relationships/slideLayout" Target="../slideLayouts/slideLayout48.xml"/><Relationship Id="rId4" Type="http://schemas.openxmlformats.org/officeDocument/2006/relationships/image" Target="../media/image122.png"/></Relationships>
</file>

<file path=ppt/slides/_rels/slide10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slideLayout" Target="../slideLayouts/slideLayout46.xml"/><Relationship Id="rId1" Type="http://schemas.openxmlformats.org/officeDocument/2006/relationships/vmlDrawing" Target="../drawings/vmlDrawing8.vml"/><Relationship Id="rId5" Type="http://schemas.openxmlformats.org/officeDocument/2006/relationships/image" Target="../media/image123.wmf"/><Relationship Id="rId4" Type="http://schemas.openxmlformats.org/officeDocument/2006/relationships/oleObject" Target="../embeddings/oleObject12.bin"/></Relationships>
</file>

<file path=ppt/slides/_rels/slide102.xml.rels><?xml version="1.0" encoding="UTF-8" standalone="yes"?>
<Relationships xmlns="http://schemas.openxmlformats.org/package/2006/relationships"><Relationship Id="rId3" Type="http://schemas.openxmlformats.org/officeDocument/2006/relationships/image" Target="../media/image125.wmf"/><Relationship Id="rId2" Type="http://schemas.openxmlformats.org/officeDocument/2006/relationships/notesSlide" Target="../notesSlides/notesSlide18.xml"/><Relationship Id="rId1" Type="http://schemas.openxmlformats.org/officeDocument/2006/relationships/slideLayout" Target="../slideLayouts/slideLayout51.xml"/><Relationship Id="rId4" Type="http://schemas.openxmlformats.org/officeDocument/2006/relationships/image" Target="../media/image126.wmf"/></Relationships>
</file>

<file path=ppt/slides/_rels/slide10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30.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29.png"/><Relationship Id="rId5" Type="http://schemas.openxmlformats.org/officeDocument/2006/relationships/image" Target="../media/image128.wmf"/><Relationship Id="rId4" Type="http://schemas.openxmlformats.org/officeDocument/2006/relationships/oleObject" Target="../embeddings/oleObject13.bin"/></Relationships>
</file>

<file path=ppt/slides/_rels/slide105.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32.wmf"/></Relationships>
</file>

<file path=ppt/slides/_rels/slide10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34.wmf"/></Relationships>
</file>

<file path=ppt/slides/_rels/slide10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23.xml"/><Relationship Id="rId1" Type="http://schemas.openxmlformats.org/officeDocument/2006/relationships/slideLayout" Target="../slideLayouts/slideLayout26.xml"/><Relationship Id="rId4" Type="http://schemas.openxmlformats.org/officeDocument/2006/relationships/image" Target="../media/image136.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5.xml"/><Relationship Id="rId1" Type="http://schemas.openxmlformats.org/officeDocument/2006/relationships/vmlDrawing" Target="../drawings/vmlDrawing10.vml"/><Relationship Id="rId6" Type="http://schemas.openxmlformats.org/officeDocument/2006/relationships/image" Target="../media/image138.png"/><Relationship Id="rId5" Type="http://schemas.openxmlformats.org/officeDocument/2006/relationships/image" Target="../media/image137.wmf"/><Relationship Id="rId4" Type="http://schemas.openxmlformats.org/officeDocument/2006/relationships/oleObject" Target="../embeddings/oleObject14.bin"/></Relationships>
</file>

<file path=ppt/slides/_rels/slide10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5.xml"/><Relationship Id="rId1" Type="http://schemas.openxmlformats.org/officeDocument/2006/relationships/slideLayout" Target="../slideLayouts/slideLayout37.xml"/><Relationship Id="rId4" Type="http://schemas.openxmlformats.org/officeDocument/2006/relationships/image" Target="../media/image139.png"/></Relationships>
</file>

<file path=ppt/slides/_rels/slide1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6.xml"/><Relationship Id="rId1" Type="http://schemas.openxmlformats.org/officeDocument/2006/relationships/slideLayout" Target="../slideLayouts/slideLayout46.xml"/></Relationships>
</file>

<file path=ppt/slides/_rels/slide111.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112.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notesSlide" Target="../notesSlides/notesSlide28.xml"/><Relationship Id="rId7" Type="http://schemas.openxmlformats.org/officeDocument/2006/relationships/oleObject" Target="../embeddings/oleObject16.bin"/><Relationship Id="rId2" Type="http://schemas.openxmlformats.org/officeDocument/2006/relationships/slideLayout" Target="../slideLayouts/slideLayout46.xml"/><Relationship Id="rId1" Type="http://schemas.openxmlformats.org/officeDocument/2006/relationships/vmlDrawing" Target="../drawings/vmlDrawing11.vml"/><Relationship Id="rId6" Type="http://schemas.openxmlformats.org/officeDocument/2006/relationships/image" Target="../media/image142.wmf"/><Relationship Id="rId5" Type="http://schemas.openxmlformats.org/officeDocument/2006/relationships/oleObject" Target="../embeddings/oleObject15.bin"/><Relationship Id="rId4" Type="http://schemas.openxmlformats.org/officeDocument/2006/relationships/image" Target="../media/image144.wmf"/></Relationships>
</file>

<file path=ppt/slides/_rels/slide113.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notesSlide" Target="../notesSlides/notesSlide29.xml"/><Relationship Id="rId1" Type="http://schemas.openxmlformats.org/officeDocument/2006/relationships/slideLayout" Target="../slideLayouts/slideLayout46.xml"/><Relationship Id="rId4" Type="http://schemas.openxmlformats.org/officeDocument/2006/relationships/image" Target="../media/image145.wmf"/></Relationships>
</file>

<file path=ppt/slides/_rels/slide114.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notesSlide" Target="../notesSlides/notesSlide30.xml"/><Relationship Id="rId1" Type="http://schemas.openxmlformats.org/officeDocument/2006/relationships/slideLayout" Target="../slideLayouts/slideLayout46.xml"/><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46.wmf"/></Relationships>
</file>

<file path=ppt/slides/_rels/slide11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31.xml"/><Relationship Id="rId7" Type="http://schemas.openxmlformats.org/officeDocument/2006/relationships/image" Target="../media/image153.png"/><Relationship Id="rId2" Type="http://schemas.openxmlformats.org/officeDocument/2006/relationships/slideLayout" Target="../slideLayouts/slideLayout46.xml"/><Relationship Id="rId1" Type="http://schemas.openxmlformats.org/officeDocument/2006/relationships/vmlDrawing" Target="../drawings/vmlDrawing12.vml"/><Relationship Id="rId6" Type="http://schemas.openxmlformats.org/officeDocument/2006/relationships/image" Target="../media/image152.png"/><Relationship Id="rId5" Type="http://schemas.openxmlformats.org/officeDocument/2006/relationships/image" Target="../media/image151.wmf"/><Relationship Id="rId4" Type="http://schemas.openxmlformats.org/officeDocument/2006/relationships/image" Target="../media/image150.wmf"/><Relationship Id="rId9" Type="http://schemas.openxmlformats.org/officeDocument/2006/relationships/image" Target="../media/image149.wmf"/></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154.wmf"/><Relationship Id="rId2" Type="http://schemas.openxmlformats.org/officeDocument/2006/relationships/slideLayout" Target="../slideLayouts/slideLayout48.xml"/><Relationship Id="rId1" Type="http://schemas.openxmlformats.org/officeDocument/2006/relationships/vmlDrawing" Target="../drawings/vmlDrawing13.vml"/><Relationship Id="rId6" Type="http://schemas.openxmlformats.org/officeDocument/2006/relationships/oleObject" Target="../embeddings/oleObject18.bin"/><Relationship Id="rId5" Type="http://schemas.openxmlformats.org/officeDocument/2006/relationships/image" Target="../media/image156.wmf"/><Relationship Id="rId4" Type="http://schemas.openxmlformats.org/officeDocument/2006/relationships/image" Target="../media/image155.wmf"/></Relationships>
</file>

<file path=ppt/slides/_rels/slide11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3.xml"/><Relationship Id="rId1" Type="http://schemas.openxmlformats.org/officeDocument/2006/relationships/slideLayout" Target="../slideLayouts/slideLayout46.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159.wmf"/><Relationship Id="rId2" Type="http://schemas.openxmlformats.org/officeDocument/2006/relationships/slideLayout" Target="../slideLayouts/slideLayout46.xml"/><Relationship Id="rId1" Type="http://schemas.openxmlformats.org/officeDocument/2006/relationships/vmlDrawing" Target="../drawings/vmlDrawing14.vml"/><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oleObject" Target="../embeddings/oleObject19.bin"/></Relationships>
</file>

<file path=ppt/slides/_rels/slide119.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60.png"/><Relationship Id="rId1" Type="http://schemas.openxmlformats.org/officeDocument/2006/relationships/slideLayout" Target="../slideLayouts/slideLayout46.xml"/><Relationship Id="rId6" Type="http://schemas.openxmlformats.org/officeDocument/2006/relationships/image" Target="../media/image162.png"/><Relationship Id="rId5" Type="http://schemas.microsoft.com/office/2007/relationships/hdphoto" Target="../media/hdphoto2.wdp"/><Relationship Id="rId4" Type="http://schemas.openxmlformats.org/officeDocument/2006/relationships/image" Target="../media/image161.png"/></Relationships>
</file>

<file path=ppt/slides/_rels/slide120.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46.xml"/></Relationships>
</file>

<file path=ppt/slides/_rels/slide12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4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3.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46.xml"/></Relationships>
</file>

<file path=ppt/slides/_rels/slide124.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4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7.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4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9.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46.xml"/></Relationships>
</file>

<file path=ppt/slides/_rels/slide13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46.xml"/></Relationships>
</file>

<file path=ppt/slides/_rels/slide131.xml.rels><?xml version="1.0" encoding="UTF-8" standalone="yes"?>
<Relationships xmlns="http://schemas.openxmlformats.org/package/2006/relationships"><Relationship Id="rId3" Type="http://schemas.openxmlformats.org/officeDocument/2006/relationships/hyperlink" Target="https://www.mathsisfun.com/algebra/matrix-determinant.html" TargetMode="External"/><Relationship Id="rId2" Type="http://schemas.openxmlformats.org/officeDocument/2006/relationships/hyperlink" Target="https://www.mathsisfun.com/algebra/matrix-types.html" TargetMode="External"/><Relationship Id="rId1" Type="http://schemas.openxmlformats.org/officeDocument/2006/relationships/slideLayout" Target="../slideLayouts/slideLayout46.xml"/></Relationships>
</file>

<file path=ppt/slides/_rels/slide13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46.xml"/></Relationships>
</file>

<file path=ppt/slides/_rels/slide13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4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6.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46.xml"/></Relationships>
</file>

<file path=ppt/slides/_rels/slide13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46.xml"/><Relationship Id="rId6" Type="http://schemas.openxmlformats.org/officeDocument/2006/relationships/image" Target="../media/image176.png"/><Relationship Id="rId5" Type="http://schemas.openxmlformats.org/officeDocument/2006/relationships/image" Target="../media/image163.png"/><Relationship Id="rId4" Type="http://schemas.openxmlformats.org/officeDocument/2006/relationships/image" Target="../media/image173.png"/></Relationships>
</file>

<file path=ppt/slides/_rels/slide138.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46.xml"/></Relationships>
</file>

<file path=ppt/slides/_rels/slide139.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46.xml"/></Relationships>
</file>

<file path=ppt/slides/_rels/slide140.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4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180.png"/><Relationship Id="rId1" Type="http://schemas.openxmlformats.org/officeDocument/2006/relationships/slideLayout" Target="../slideLayouts/slideLayout46.xml"/></Relationships>
</file>

<file path=ppt/slides/_rels/slide143.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46.xml"/></Relationships>
</file>

<file path=ppt/slides/_rels/slide144.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46.xml"/></Relationships>
</file>

<file path=ppt/slides/_rels/slide14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46.xml"/></Relationships>
</file>

<file path=ppt/slides/_rels/slide146.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Chapter 3</a:t>
            </a:r>
            <a:br>
              <a:rPr lang="en-IN" dirty="0"/>
            </a:br>
            <a:endParaRPr lang="en-IN" dirty="0"/>
          </a:p>
        </p:txBody>
      </p:sp>
      <p:sp>
        <p:nvSpPr>
          <p:cNvPr id="3" name="Subtitle 2"/>
          <p:cNvSpPr>
            <a:spLocks noGrp="1"/>
          </p:cNvSpPr>
          <p:nvPr>
            <p:ph type="subTitle" idx="1"/>
          </p:nvPr>
        </p:nvSpPr>
        <p:spPr/>
        <p:txBody>
          <a:bodyPr>
            <a:normAutofit fontScale="92500"/>
          </a:bodyPr>
          <a:lstStyle/>
          <a:p>
            <a:r>
              <a:rPr lang="en-IN" sz="2400" b="1" dirty="0"/>
              <a:t>Image Transform: Frequency Domain Representation and Enhancement</a:t>
            </a:r>
          </a:p>
          <a:p>
            <a:endParaRPr lang="en-US" sz="2400" b="1" dirty="0"/>
          </a:p>
          <a:p>
            <a:endParaRPr lang="en-IN" dirty="0"/>
          </a:p>
        </p:txBody>
      </p:sp>
    </p:spTree>
    <p:extLst>
      <p:ext uri="{BB962C8B-B14F-4D97-AF65-F5344CB8AC3E}">
        <p14:creationId xmlns:p14="http://schemas.microsoft.com/office/powerpoint/2010/main" val="4090191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rPr lang="en-IN" dirty="0"/>
              <a:t>Syllabus</a:t>
            </a:r>
          </a:p>
        </p:txBody>
      </p:sp>
      <p:sp>
        <p:nvSpPr>
          <p:cNvPr id="3" name="Content Placeholder 2"/>
          <p:cNvSpPr>
            <a:spLocks noGrp="1"/>
          </p:cNvSpPr>
          <p:nvPr>
            <p:ph idx="1"/>
          </p:nvPr>
        </p:nvSpPr>
        <p:spPr>
          <a:xfrm>
            <a:off x="768096" y="2286000"/>
            <a:ext cx="4550113" cy="4023360"/>
          </a:xfrm>
        </p:spPr>
        <p:txBody>
          <a:bodyPr>
            <a:normAutofit/>
          </a:bodyPr>
          <a:lstStyle/>
          <a:p>
            <a:pPr marL="0" indent="0">
              <a:buNone/>
            </a:pPr>
            <a:r>
              <a:rPr lang="en-IN" sz="1600" b="1"/>
              <a:t>Image Transform: Frequency Domain Representation and Enhancement (10-CO3)</a:t>
            </a:r>
            <a:r>
              <a:rPr lang="en-IN" sz="1600"/>
              <a:t>	</a:t>
            </a:r>
          </a:p>
          <a:p>
            <a:pPr marL="0" indent="0">
              <a:buNone/>
            </a:pPr>
            <a:r>
              <a:rPr lang="en-IN" sz="1600" b="1"/>
              <a:t>3.1 </a:t>
            </a:r>
            <a:r>
              <a:rPr lang="en-IN" sz="1600"/>
              <a:t>Introduction , DFT and its properties, radix-2 algorithm(2- DFT ), FFT algorithm: divide and conquer approach, Dissemination in Time(DIT)-FFT 	</a:t>
            </a:r>
          </a:p>
          <a:p>
            <a:pPr marL="0" indent="0">
              <a:buNone/>
            </a:pPr>
            <a:r>
              <a:rPr lang="en-IN" sz="1600" b="1"/>
              <a:t>3.2 </a:t>
            </a:r>
            <a:r>
              <a:rPr lang="en-IN" sz="1600"/>
              <a:t>Discrete Cosine Transform, Walsh Transform, </a:t>
            </a:r>
            <a:r>
              <a:rPr lang="en-IN" sz="1600" err="1"/>
              <a:t>Hadamard</a:t>
            </a:r>
            <a:r>
              <a:rPr lang="en-IN" sz="1600"/>
              <a:t> Transform, </a:t>
            </a:r>
            <a:r>
              <a:rPr lang="en-IN" sz="1600" err="1"/>
              <a:t>Haar</a:t>
            </a:r>
            <a:r>
              <a:rPr lang="en-IN" sz="1600"/>
              <a:t> Transform, Principal component Analysis(PCA/Hoteling Transform), Introduction to Wavelet Transform 	</a:t>
            </a:r>
          </a:p>
          <a:p>
            <a:pPr marL="0" indent="0">
              <a:buNone/>
            </a:pPr>
            <a:r>
              <a:rPr lang="en-IN" sz="1600" b="1"/>
              <a:t>3.3 </a:t>
            </a:r>
            <a:r>
              <a:rPr lang="en-IN" sz="1600"/>
              <a:t>Low Pass and High Pass Frequency domain filters: Ideal, Butterworth, Homomorphic filter </a:t>
            </a:r>
          </a:p>
          <a:p>
            <a:pPr marL="0" indent="0">
              <a:buNone/>
            </a:pPr>
            <a:r>
              <a:rPr lang="en-IN" sz="1600"/>
              <a:t>Self-Learning Topic: Discrete Sine Transform (DST) 	</a:t>
            </a:r>
          </a:p>
          <a:p>
            <a:endParaRPr lang="en-IN" sz="1600"/>
          </a:p>
          <a:p>
            <a:endParaRPr lang="en-IN" sz="1600"/>
          </a:p>
        </p:txBody>
      </p:sp>
      <p:pic>
        <p:nvPicPr>
          <p:cNvPr id="5" name="Picture 4" descr="A blackboard with mathematical equations and formulas&#10;&#10;AI-generated content may be incorrect.">
            <a:extLst>
              <a:ext uri="{FF2B5EF4-FFF2-40B4-BE49-F238E27FC236}">
                <a16:creationId xmlns="" xmlns:a16="http://schemas.microsoft.com/office/drawing/2014/main" id="{C65274F7-2FCC-D2ED-C29F-DF91324E108C}"/>
              </a:ext>
            </a:extLst>
          </p:cNvPr>
          <p:cNvPicPr>
            <a:picLocks noChangeAspect="1"/>
          </p:cNvPicPr>
          <p:nvPr/>
        </p:nvPicPr>
        <p:blipFill>
          <a:blip r:embed="rId2"/>
          <a:srcRect l="28326" r="43132"/>
          <a:stretch/>
        </p:blipFill>
        <p:spPr>
          <a:xfrm>
            <a:off x="5664199" y="10"/>
            <a:ext cx="3479800" cy="6857990"/>
          </a:xfrm>
          <a:prstGeom prst="rect">
            <a:avLst/>
          </a:prstGeom>
        </p:spPr>
      </p:pic>
    </p:spTree>
    <p:extLst>
      <p:ext uri="{BB962C8B-B14F-4D97-AF65-F5344CB8AC3E}">
        <p14:creationId xmlns:p14="http://schemas.microsoft.com/office/powerpoint/2010/main" val="3581940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58EEA9-7D58-8152-8D2C-C303E42A01EF}"/>
              </a:ext>
            </a:extLst>
          </p:cNvPr>
          <p:cNvSpPr>
            <a:spLocks noGrp="1"/>
          </p:cNvSpPr>
          <p:nvPr>
            <p:ph type="title"/>
          </p:nvPr>
        </p:nvSpPr>
        <p:spPr/>
        <p:txBody>
          <a:bodyPr/>
          <a:lstStyle/>
          <a:p>
            <a:r>
              <a:rPr lang="en-IN" dirty="0"/>
              <a:t>Image Transforms</a:t>
            </a:r>
          </a:p>
        </p:txBody>
      </p:sp>
      <p:sp>
        <p:nvSpPr>
          <p:cNvPr id="3" name="Content Placeholder 2">
            <a:extLst>
              <a:ext uri="{FF2B5EF4-FFF2-40B4-BE49-F238E27FC236}">
                <a16:creationId xmlns="" xmlns:a16="http://schemas.microsoft.com/office/drawing/2014/main" id="{AFF10828-EF24-F853-3712-5F9D75024758}"/>
              </a:ext>
            </a:extLst>
          </p:cNvPr>
          <p:cNvSpPr>
            <a:spLocks noGrp="1"/>
          </p:cNvSpPr>
          <p:nvPr>
            <p:ph idx="1"/>
          </p:nvPr>
        </p:nvSpPr>
        <p:spPr/>
        <p:txBody>
          <a:bodyPr/>
          <a:lstStyle/>
          <a:p>
            <a:pPr algn="just">
              <a:buFont typeface="Arial" panose="020B0604020202020204" pitchFamily="34" charset="0"/>
              <a:buChar char="•"/>
            </a:pPr>
            <a:r>
              <a:rPr lang="en-US" dirty="0"/>
              <a:t>Extensively used in image processing and image analysis. </a:t>
            </a:r>
          </a:p>
          <a:p>
            <a:pPr algn="just">
              <a:buFont typeface="Arial" panose="020B0604020202020204" pitchFamily="34" charset="0"/>
              <a:buChar char="•"/>
            </a:pPr>
            <a:r>
              <a:rPr lang="en-US" dirty="0"/>
              <a:t>Transform is basically a mathematical tool, which allows us to move from one domain to another domain (time domain to the frequency domain). </a:t>
            </a:r>
          </a:p>
          <a:p>
            <a:pPr algn="just">
              <a:buFont typeface="Arial" panose="020B0604020202020204" pitchFamily="34" charset="0"/>
              <a:buChar char="•"/>
            </a:pPr>
            <a:r>
              <a:rPr lang="en-US" dirty="0"/>
              <a:t>Transforms change the representation of a signal by projecting it onto a set of basis functions.</a:t>
            </a:r>
          </a:p>
          <a:p>
            <a:pPr algn="just">
              <a:buFont typeface="Arial" panose="020B0604020202020204" pitchFamily="34" charset="0"/>
              <a:buChar char="•"/>
            </a:pPr>
            <a:r>
              <a:rPr lang="en-US" dirty="0"/>
              <a:t>The transforms do not change the information content present in the signal. </a:t>
            </a:r>
            <a:endParaRPr lang="en-IN" dirty="0"/>
          </a:p>
        </p:txBody>
      </p:sp>
    </p:spTree>
    <p:extLst>
      <p:ext uri="{BB962C8B-B14F-4D97-AF65-F5344CB8AC3E}">
        <p14:creationId xmlns:p14="http://schemas.microsoft.com/office/powerpoint/2010/main" val="112480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F00D10-493B-35F2-F062-641C5509B12E}"/>
              </a:ext>
            </a:extLst>
          </p:cNvPr>
          <p:cNvSpPr>
            <a:spLocks noGrp="1"/>
          </p:cNvSpPr>
          <p:nvPr>
            <p:ph type="title"/>
          </p:nvPr>
        </p:nvSpPr>
        <p:spPr>
          <a:xfrm>
            <a:off x="768096" y="585216"/>
            <a:ext cx="4550113" cy="1499616"/>
          </a:xfrm>
        </p:spPr>
        <p:txBody>
          <a:bodyPr>
            <a:normAutofit/>
          </a:bodyPr>
          <a:lstStyle/>
          <a:p>
            <a:r>
              <a:rPr lang="en-IN" dirty="0"/>
              <a:t>NEED FOR TRANSFORM</a:t>
            </a:r>
          </a:p>
        </p:txBody>
      </p:sp>
      <p:sp>
        <p:nvSpPr>
          <p:cNvPr id="3" name="Content Placeholder 2">
            <a:extLst>
              <a:ext uri="{FF2B5EF4-FFF2-40B4-BE49-F238E27FC236}">
                <a16:creationId xmlns="" xmlns:a16="http://schemas.microsoft.com/office/drawing/2014/main" id="{6AA15BBB-0723-356E-95FA-9C0D30357EB4}"/>
              </a:ext>
            </a:extLst>
          </p:cNvPr>
          <p:cNvSpPr>
            <a:spLocks noGrp="1"/>
          </p:cNvSpPr>
          <p:nvPr>
            <p:ph idx="1"/>
          </p:nvPr>
        </p:nvSpPr>
        <p:spPr>
          <a:xfrm>
            <a:off x="768096" y="2286000"/>
            <a:ext cx="4550113" cy="4023360"/>
          </a:xfrm>
        </p:spPr>
        <p:txBody>
          <a:bodyPr>
            <a:normAutofit/>
          </a:bodyPr>
          <a:lstStyle/>
          <a:p>
            <a:r>
              <a:rPr lang="en-US" dirty="0"/>
              <a:t>(</a:t>
            </a:r>
            <a:r>
              <a:rPr lang="en-US" dirty="0" err="1"/>
              <a:t>i</a:t>
            </a:r>
            <a:r>
              <a:rPr lang="en-US" dirty="0"/>
              <a:t>) Mathematical Convenience:</a:t>
            </a:r>
          </a:p>
          <a:p>
            <a:r>
              <a:rPr lang="en-US" dirty="0"/>
              <a:t>Every action in time domain will have an impact in the frequency domain. </a:t>
            </a:r>
          </a:p>
          <a:p>
            <a:r>
              <a:rPr lang="en-US" dirty="0"/>
              <a:t>The complex convolution operation in time domain is equal to simple multiplication operation in the frequency domain</a:t>
            </a:r>
          </a:p>
          <a:p>
            <a:r>
              <a:rPr lang="en-US" dirty="0"/>
              <a:t>(ii) To Extract more Information:</a:t>
            </a:r>
          </a:p>
          <a:p>
            <a:r>
              <a:rPr lang="en-US" dirty="0"/>
              <a:t>Transforms allow us to extract more relevant information.</a:t>
            </a:r>
            <a:endParaRPr lang="en-IN" dirty="0"/>
          </a:p>
        </p:txBody>
      </p:sp>
      <p:pic>
        <p:nvPicPr>
          <p:cNvPr id="5" name="Picture 4">
            <a:extLst>
              <a:ext uri="{FF2B5EF4-FFF2-40B4-BE49-F238E27FC236}">
                <a16:creationId xmlns="" xmlns:a16="http://schemas.microsoft.com/office/drawing/2014/main" id="{21DB57AB-6A91-ED4E-5375-15359C10CB9E}"/>
              </a:ext>
            </a:extLst>
          </p:cNvPr>
          <p:cNvPicPr>
            <a:picLocks noChangeAspect="1"/>
          </p:cNvPicPr>
          <p:nvPr/>
        </p:nvPicPr>
        <p:blipFill>
          <a:blip r:embed="rId2"/>
          <a:stretch>
            <a:fillRect/>
          </a:stretch>
        </p:blipFill>
        <p:spPr>
          <a:xfrm>
            <a:off x="5664200" y="2116363"/>
            <a:ext cx="2999740" cy="1918562"/>
          </a:xfrm>
          <a:prstGeom prst="rect">
            <a:avLst/>
          </a:prstGeom>
        </p:spPr>
      </p:pic>
      <p:pic>
        <p:nvPicPr>
          <p:cNvPr id="7" name="Picture 6">
            <a:extLst>
              <a:ext uri="{FF2B5EF4-FFF2-40B4-BE49-F238E27FC236}">
                <a16:creationId xmlns="" xmlns:a16="http://schemas.microsoft.com/office/drawing/2014/main" id="{ED8EC07E-4A1C-8079-256D-C90EE866DC1D}"/>
              </a:ext>
            </a:extLst>
          </p:cNvPr>
          <p:cNvPicPr>
            <a:picLocks noChangeAspect="1"/>
          </p:cNvPicPr>
          <p:nvPr/>
        </p:nvPicPr>
        <p:blipFill>
          <a:blip r:embed="rId3"/>
          <a:stretch>
            <a:fillRect/>
          </a:stretch>
        </p:blipFill>
        <p:spPr>
          <a:xfrm>
            <a:off x="5664200" y="4297680"/>
            <a:ext cx="2999740" cy="1217716"/>
          </a:xfrm>
          <a:prstGeom prst="rect">
            <a:avLst/>
          </a:prstGeom>
        </p:spPr>
      </p:pic>
    </p:spTree>
    <p:extLst>
      <p:ext uri="{BB962C8B-B14F-4D97-AF65-F5344CB8AC3E}">
        <p14:creationId xmlns:p14="http://schemas.microsoft.com/office/powerpoint/2010/main" val="2935101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C91C05-BA42-2ACE-E23B-7087FB82A38D}"/>
              </a:ext>
            </a:extLst>
          </p:cNvPr>
          <p:cNvSpPr>
            <a:spLocks noGrp="1"/>
          </p:cNvSpPr>
          <p:nvPr>
            <p:ph type="title"/>
          </p:nvPr>
        </p:nvSpPr>
        <p:spPr/>
        <p:txBody>
          <a:bodyPr/>
          <a:lstStyle/>
          <a:p>
            <a:r>
              <a:rPr lang="en-IN" dirty="0"/>
              <a:t>Classification of Image Transforms </a:t>
            </a:r>
          </a:p>
        </p:txBody>
      </p:sp>
      <p:sp>
        <p:nvSpPr>
          <p:cNvPr id="3" name="Content Placeholder 2">
            <a:extLst>
              <a:ext uri="{FF2B5EF4-FFF2-40B4-BE49-F238E27FC236}">
                <a16:creationId xmlns="" xmlns:a16="http://schemas.microsoft.com/office/drawing/2014/main" id="{EF0693F5-0AA7-AD19-6F95-C6ACB262CA06}"/>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CBDF15C6-8B9B-C89A-7FF2-217C652D6BB3}"/>
              </a:ext>
            </a:extLst>
          </p:cNvPr>
          <p:cNvPicPr>
            <a:picLocks noChangeAspect="1"/>
          </p:cNvPicPr>
          <p:nvPr/>
        </p:nvPicPr>
        <p:blipFill>
          <a:blip r:embed="rId2"/>
          <a:stretch>
            <a:fillRect/>
          </a:stretch>
        </p:blipFill>
        <p:spPr>
          <a:xfrm>
            <a:off x="926973" y="1843514"/>
            <a:ext cx="7290054" cy="4410679"/>
          </a:xfrm>
          <a:prstGeom prst="rect">
            <a:avLst/>
          </a:prstGeom>
        </p:spPr>
      </p:pic>
    </p:spTree>
    <p:extLst>
      <p:ext uri="{BB962C8B-B14F-4D97-AF65-F5344CB8AC3E}">
        <p14:creationId xmlns:p14="http://schemas.microsoft.com/office/powerpoint/2010/main" val="3104487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Transform</a:t>
            </a:r>
          </a:p>
        </p:txBody>
      </p:sp>
      <p:sp>
        <p:nvSpPr>
          <p:cNvPr id="4" name="Content Placeholder 3"/>
          <p:cNvSpPr>
            <a:spLocks noGrp="1"/>
          </p:cNvSpPr>
          <p:nvPr>
            <p:ph idx="1"/>
          </p:nvPr>
        </p:nvSpPr>
        <p:spPr/>
        <p:txBody>
          <a:bodyPr>
            <a:normAutofit/>
          </a:bodyPr>
          <a:lstStyle/>
          <a:p>
            <a:pPr marL="0" indent="0">
              <a:buNone/>
            </a:pPr>
            <a:r>
              <a:rPr lang="en-IN" b="1" dirty="0"/>
              <a:t>1) Orthogonal sinusoidal basis function</a:t>
            </a:r>
          </a:p>
          <a:p>
            <a:pPr algn="just"/>
            <a:r>
              <a:rPr lang="en-IN" dirty="0"/>
              <a:t>One of the most powerful transforms with orthogonal sinusoidal basis function is the Fourier transform.</a:t>
            </a:r>
          </a:p>
          <a:p>
            <a:pPr algn="just"/>
            <a:r>
              <a:rPr lang="en-IN" dirty="0"/>
              <a:t>The transform which is widely used in the field of </a:t>
            </a:r>
            <a:r>
              <a:rPr lang="en-IN" b="1" dirty="0"/>
              <a:t>image compression </a:t>
            </a:r>
            <a:r>
              <a:rPr lang="en-IN" dirty="0"/>
              <a:t>is discrete cosine transform.</a:t>
            </a:r>
          </a:p>
        </p:txBody>
      </p:sp>
    </p:spTree>
    <p:extLst>
      <p:ext uri="{BB962C8B-B14F-4D97-AF65-F5344CB8AC3E}">
        <p14:creationId xmlns:p14="http://schemas.microsoft.com/office/powerpoint/2010/main" val="2434737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Transform</a:t>
            </a:r>
          </a:p>
        </p:txBody>
      </p:sp>
      <p:sp>
        <p:nvSpPr>
          <p:cNvPr id="3" name="Content Placeholder 2"/>
          <p:cNvSpPr>
            <a:spLocks noGrp="1"/>
          </p:cNvSpPr>
          <p:nvPr>
            <p:ph idx="1"/>
          </p:nvPr>
        </p:nvSpPr>
        <p:spPr/>
        <p:txBody>
          <a:bodyPr>
            <a:normAutofit/>
          </a:bodyPr>
          <a:lstStyle/>
          <a:p>
            <a:pPr marL="0" indent="0" algn="just">
              <a:buNone/>
            </a:pPr>
            <a:r>
              <a:rPr lang="en-IN" b="1" dirty="0"/>
              <a:t>2) Non-sinusoidal orthogonal basis function</a:t>
            </a:r>
          </a:p>
          <a:p>
            <a:pPr algn="just"/>
            <a:r>
              <a:rPr lang="en-IN" dirty="0"/>
              <a:t>The transforms whose basis functions are non-sinusoidal in nature.</a:t>
            </a:r>
          </a:p>
          <a:p>
            <a:pPr marL="0" indent="0" algn="just">
              <a:buNone/>
            </a:pPr>
            <a:endParaRPr lang="en-IN" dirty="0"/>
          </a:p>
          <a:p>
            <a:pPr algn="just"/>
            <a:r>
              <a:rPr lang="en-IN" dirty="0"/>
              <a:t>One of the important advantages of wavelet transform is that signals (images) can be </a:t>
            </a:r>
            <a:r>
              <a:rPr lang="en-IN" b="1" dirty="0"/>
              <a:t>represented in different resolutions.</a:t>
            </a:r>
          </a:p>
        </p:txBody>
      </p:sp>
    </p:spTree>
    <p:extLst>
      <p:ext uri="{BB962C8B-B14F-4D97-AF65-F5344CB8AC3E}">
        <p14:creationId xmlns:p14="http://schemas.microsoft.com/office/powerpoint/2010/main" val="133268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Transform</a:t>
            </a:r>
          </a:p>
        </p:txBody>
      </p:sp>
      <p:sp>
        <p:nvSpPr>
          <p:cNvPr id="3" name="Content Placeholder 2"/>
          <p:cNvSpPr>
            <a:spLocks noGrp="1"/>
          </p:cNvSpPr>
          <p:nvPr>
            <p:ph idx="1"/>
          </p:nvPr>
        </p:nvSpPr>
        <p:spPr>
          <a:xfrm>
            <a:off x="457200" y="1600200"/>
            <a:ext cx="8229600" cy="5069160"/>
          </a:xfrm>
        </p:spPr>
        <p:txBody>
          <a:bodyPr>
            <a:normAutofit/>
          </a:bodyPr>
          <a:lstStyle/>
          <a:p>
            <a:pPr marL="0" indent="0" algn="just">
              <a:buNone/>
            </a:pPr>
            <a:r>
              <a:rPr lang="en-IN" b="1" dirty="0"/>
              <a:t>3) Basis function depending on statistics of input  signal</a:t>
            </a:r>
          </a:p>
          <a:p>
            <a:pPr algn="just"/>
            <a:r>
              <a:rPr lang="en-IN" dirty="0"/>
              <a:t>The transform whose basis function depends on the statistics of input signal are KL transform and singular value decomposition.</a:t>
            </a:r>
          </a:p>
          <a:p>
            <a:pPr algn="just"/>
            <a:endParaRPr lang="en-IN" dirty="0"/>
          </a:p>
          <a:p>
            <a:pPr algn="just"/>
            <a:r>
              <a:rPr lang="en-IN" dirty="0"/>
              <a:t>The KL transform is considered to be the best among all linear transforms with respect to </a:t>
            </a:r>
            <a:r>
              <a:rPr lang="en-IN" b="1" dirty="0"/>
              <a:t>energy compaction</a:t>
            </a:r>
            <a:r>
              <a:rPr lang="en-IN" dirty="0"/>
              <a:t>.</a:t>
            </a:r>
            <a:endParaRPr lang="en-IN" b="1" dirty="0"/>
          </a:p>
        </p:txBody>
      </p:sp>
    </p:spTree>
    <p:extLst>
      <p:ext uri="{BB962C8B-B14F-4D97-AF65-F5344CB8AC3E}">
        <p14:creationId xmlns:p14="http://schemas.microsoft.com/office/powerpoint/2010/main" val="2969665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Transform</a:t>
            </a:r>
          </a:p>
        </p:txBody>
      </p:sp>
      <p:sp>
        <p:nvSpPr>
          <p:cNvPr id="3" name="Content Placeholder 2"/>
          <p:cNvSpPr>
            <a:spLocks noGrp="1"/>
          </p:cNvSpPr>
          <p:nvPr>
            <p:ph idx="1"/>
          </p:nvPr>
        </p:nvSpPr>
        <p:spPr/>
        <p:txBody>
          <a:bodyPr/>
          <a:lstStyle/>
          <a:p>
            <a:pPr marL="0" indent="0">
              <a:buNone/>
            </a:pPr>
            <a:r>
              <a:rPr lang="en-IN" b="1" dirty="0"/>
              <a:t>4) Directional transformation</a:t>
            </a:r>
          </a:p>
          <a:p>
            <a:pPr algn="just"/>
            <a:r>
              <a:rPr lang="en-IN" dirty="0"/>
              <a:t>The transforms whose basis functions are effective in </a:t>
            </a:r>
            <a:r>
              <a:rPr lang="en-IN" b="1" dirty="0"/>
              <a:t>representing the directional information of a signal </a:t>
            </a:r>
            <a:r>
              <a:rPr lang="en-IN" dirty="0"/>
              <a:t>include Hough transform, Radon transform, </a:t>
            </a:r>
            <a:r>
              <a:rPr lang="en-IN" dirty="0" err="1"/>
              <a:t>Ridgelet</a:t>
            </a:r>
            <a:r>
              <a:rPr lang="en-IN" dirty="0"/>
              <a:t> transform and </a:t>
            </a:r>
            <a:r>
              <a:rPr lang="en-IN" dirty="0" err="1"/>
              <a:t>Contourlet</a:t>
            </a:r>
            <a:r>
              <a:rPr lang="en-IN" dirty="0"/>
              <a:t> transform.</a:t>
            </a:r>
          </a:p>
        </p:txBody>
      </p:sp>
    </p:spTree>
    <p:extLst>
      <p:ext uri="{BB962C8B-B14F-4D97-AF65-F5344CB8AC3E}">
        <p14:creationId xmlns:p14="http://schemas.microsoft.com/office/powerpoint/2010/main" val="24734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020B5A-234D-722B-543C-7F8DD0EFACC5}"/>
              </a:ext>
            </a:extLst>
          </p:cNvPr>
          <p:cNvSpPr>
            <a:spLocks noGrp="1"/>
          </p:cNvSpPr>
          <p:nvPr>
            <p:ph type="title"/>
          </p:nvPr>
        </p:nvSpPr>
        <p:spPr/>
        <p:txBody>
          <a:bodyPr/>
          <a:lstStyle/>
          <a:p>
            <a:r>
              <a:rPr lang="en-IN" dirty="0"/>
              <a:t>FOURIER TRANSFORM</a:t>
            </a:r>
          </a:p>
        </p:txBody>
      </p:sp>
      <p:sp>
        <p:nvSpPr>
          <p:cNvPr id="3" name="Content Placeholder 2">
            <a:extLst>
              <a:ext uri="{FF2B5EF4-FFF2-40B4-BE49-F238E27FC236}">
                <a16:creationId xmlns="" xmlns:a16="http://schemas.microsoft.com/office/drawing/2014/main" id="{0FD9D5DC-3D97-CC2C-1319-4A024C22A1B7}"/>
              </a:ext>
            </a:extLst>
          </p:cNvPr>
          <p:cNvSpPr>
            <a:spLocks noGrp="1"/>
          </p:cNvSpPr>
          <p:nvPr>
            <p:ph idx="1"/>
          </p:nvPr>
        </p:nvSpPr>
        <p:spPr>
          <a:xfrm>
            <a:off x="768096" y="1700808"/>
            <a:ext cx="7290055" cy="4608552"/>
          </a:xfrm>
        </p:spPr>
        <p:txBody>
          <a:bodyPr/>
          <a:lstStyle/>
          <a:p>
            <a:r>
              <a:rPr lang="en-US" dirty="0"/>
              <a:t>Fourier transform is widely used in the field of image processing.</a:t>
            </a:r>
          </a:p>
          <a:p>
            <a:r>
              <a:rPr lang="en-US" dirty="0"/>
              <a:t>A Fourier transform is used to transform an intensity image into the domain of spatial frequency.</a:t>
            </a:r>
            <a:endParaRPr lang="en-IN" dirty="0"/>
          </a:p>
        </p:txBody>
      </p:sp>
      <p:pic>
        <p:nvPicPr>
          <p:cNvPr id="5" name="Picture 4">
            <a:extLst>
              <a:ext uri="{FF2B5EF4-FFF2-40B4-BE49-F238E27FC236}">
                <a16:creationId xmlns="" xmlns:a16="http://schemas.microsoft.com/office/drawing/2014/main" id="{D5CC01B9-B8C8-9939-7D19-4555835E6A9C}"/>
              </a:ext>
            </a:extLst>
          </p:cNvPr>
          <p:cNvPicPr>
            <a:picLocks noChangeAspect="1"/>
          </p:cNvPicPr>
          <p:nvPr/>
        </p:nvPicPr>
        <p:blipFill>
          <a:blip r:embed="rId2"/>
          <a:stretch>
            <a:fillRect/>
          </a:stretch>
        </p:blipFill>
        <p:spPr>
          <a:xfrm>
            <a:off x="2032282" y="2861924"/>
            <a:ext cx="5511086" cy="1499616"/>
          </a:xfrm>
          <a:prstGeom prst="rect">
            <a:avLst/>
          </a:prstGeom>
        </p:spPr>
      </p:pic>
      <p:sp>
        <p:nvSpPr>
          <p:cNvPr id="7" name="TextBox 6">
            <a:extLst>
              <a:ext uri="{FF2B5EF4-FFF2-40B4-BE49-F238E27FC236}">
                <a16:creationId xmlns="" xmlns:a16="http://schemas.microsoft.com/office/drawing/2014/main" id="{EEA15AEB-A56C-8B2B-A6A5-D286EDFE1DF1}"/>
              </a:ext>
            </a:extLst>
          </p:cNvPr>
          <p:cNvSpPr txBox="1"/>
          <p:nvPr/>
        </p:nvSpPr>
        <p:spPr>
          <a:xfrm>
            <a:off x="1085849" y="4379614"/>
            <a:ext cx="7734499" cy="646331"/>
          </a:xfrm>
          <a:prstGeom prst="rect">
            <a:avLst/>
          </a:prstGeom>
          <a:noFill/>
        </p:spPr>
        <p:txBody>
          <a:bodyPr wrap="square">
            <a:spAutoFit/>
          </a:bodyPr>
          <a:lstStyle/>
          <a:p>
            <a:r>
              <a:rPr lang="en-US" dirty="0"/>
              <a:t>A continuous time signal x(t) is converted into discrete time signal x(</a:t>
            </a:r>
            <a:r>
              <a:rPr lang="en-US" dirty="0" err="1"/>
              <a:t>nT</a:t>
            </a:r>
            <a:r>
              <a:rPr lang="en-US" dirty="0"/>
              <a:t> ) by sampling process, where T is the sampling interval</a:t>
            </a:r>
            <a:endParaRPr lang="en-IN" dirty="0"/>
          </a:p>
        </p:txBody>
      </p:sp>
      <p:pic>
        <p:nvPicPr>
          <p:cNvPr id="9" name="Picture 8">
            <a:extLst>
              <a:ext uri="{FF2B5EF4-FFF2-40B4-BE49-F238E27FC236}">
                <a16:creationId xmlns="" xmlns:a16="http://schemas.microsoft.com/office/drawing/2014/main" id="{E68F911F-7039-3636-BAFB-A0A0FAA37589}"/>
              </a:ext>
            </a:extLst>
          </p:cNvPr>
          <p:cNvPicPr>
            <a:picLocks noChangeAspect="1"/>
          </p:cNvPicPr>
          <p:nvPr/>
        </p:nvPicPr>
        <p:blipFill>
          <a:blip r:embed="rId3"/>
          <a:stretch>
            <a:fillRect/>
          </a:stretch>
        </p:blipFill>
        <p:spPr>
          <a:xfrm>
            <a:off x="2123789" y="5117590"/>
            <a:ext cx="5331039" cy="1538732"/>
          </a:xfrm>
          <a:prstGeom prst="rect">
            <a:avLst/>
          </a:prstGeom>
        </p:spPr>
      </p:pic>
    </p:spTree>
    <p:extLst>
      <p:ext uri="{BB962C8B-B14F-4D97-AF65-F5344CB8AC3E}">
        <p14:creationId xmlns:p14="http://schemas.microsoft.com/office/powerpoint/2010/main" val="103143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68729335-FF02-AC26-26AB-EDBDB052A8CD}"/>
              </a:ext>
            </a:extLst>
          </p:cNvPr>
          <p:cNvSpPr txBox="1"/>
          <p:nvPr/>
        </p:nvSpPr>
        <p:spPr>
          <a:xfrm>
            <a:off x="23026" y="-16024"/>
            <a:ext cx="7734499" cy="646331"/>
          </a:xfrm>
          <a:prstGeom prst="rect">
            <a:avLst/>
          </a:prstGeom>
          <a:noFill/>
        </p:spPr>
        <p:txBody>
          <a:bodyPr wrap="square">
            <a:spAutoFit/>
          </a:bodyPr>
          <a:lstStyle/>
          <a:p>
            <a:r>
              <a:rPr lang="en-US" dirty="0"/>
              <a:t>A continuous time signal x(t) is converted into discrete time signal x(</a:t>
            </a:r>
            <a:r>
              <a:rPr lang="en-US" dirty="0" err="1"/>
              <a:t>nT</a:t>
            </a:r>
            <a:r>
              <a:rPr lang="en-US" dirty="0"/>
              <a:t> ) by sampling process, where T is the sampling interval</a:t>
            </a:r>
            <a:endParaRPr lang="en-IN" dirty="0"/>
          </a:p>
        </p:txBody>
      </p:sp>
      <p:pic>
        <p:nvPicPr>
          <p:cNvPr id="5" name="Picture 4">
            <a:extLst>
              <a:ext uri="{FF2B5EF4-FFF2-40B4-BE49-F238E27FC236}">
                <a16:creationId xmlns="" xmlns:a16="http://schemas.microsoft.com/office/drawing/2014/main" id="{A1F75D1A-F98C-5745-BACA-79EAB109C3C8}"/>
              </a:ext>
            </a:extLst>
          </p:cNvPr>
          <p:cNvPicPr>
            <a:picLocks noChangeAspect="1"/>
          </p:cNvPicPr>
          <p:nvPr/>
        </p:nvPicPr>
        <p:blipFill>
          <a:blip r:embed="rId2"/>
          <a:stretch>
            <a:fillRect/>
          </a:stretch>
        </p:blipFill>
        <p:spPr>
          <a:xfrm>
            <a:off x="1060966" y="721952"/>
            <a:ext cx="5331039" cy="1538732"/>
          </a:xfrm>
          <a:prstGeom prst="rect">
            <a:avLst/>
          </a:prstGeom>
        </p:spPr>
      </p:pic>
      <p:sp>
        <p:nvSpPr>
          <p:cNvPr id="7" name="TextBox 6">
            <a:extLst>
              <a:ext uri="{FF2B5EF4-FFF2-40B4-BE49-F238E27FC236}">
                <a16:creationId xmlns="" xmlns:a16="http://schemas.microsoft.com/office/drawing/2014/main" id="{3542DB95-7E71-3C86-FD17-AAFD7315D63A}"/>
              </a:ext>
            </a:extLst>
          </p:cNvPr>
          <p:cNvSpPr txBox="1"/>
          <p:nvPr/>
        </p:nvSpPr>
        <p:spPr>
          <a:xfrm>
            <a:off x="23026" y="2253242"/>
            <a:ext cx="8869454" cy="646331"/>
          </a:xfrm>
          <a:prstGeom prst="rect">
            <a:avLst/>
          </a:prstGeom>
          <a:noFill/>
        </p:spPr>
        <p:txBody>
          <a:bodyPr wrap="square">
            <a:spAutoFit/>
          </a:bodyPr>
          <a:lstStyle/>
          <a:p>
            <a:r>
              <a:rPr lang="en-US" dirty="0"/>
              <a:t>Where  X(</a:t>
            </a:r>
            <a:r>
              <a:rPr lang="en-US" dirty="0" err="1"/>
              <a:t>ejω</a:t>
            </a:r>
            <a:r>
              <a:rPr lang="en-US" dirty="0"/>
              <a:t> ) is known as Discrete-Time Fourier Transform (DTFT) and is a continuous function of ω. The relation between ω and Ω is given by</a:t>
            </a:r>
            <a:endParaRPr lang="en-IN" dirty="0"/>
          </a:p>
        </p:txBody>
      </p:sp>
      <p:pic>
        <p:nvPicPr>
          <p:cNvPr id="9" name="Picture 8">
            <a:extLst>
              <a:ext uri="{FF2B5EF4-FFF2-40B4-BE49-F238E27FC236}">
                <a16:creationId xmlns="" xmlns:a16="http://schemas.microsoft.com/office/drawing/2014/main" id="{8B5DD70F-69BD-C270-7882-9103D29E14B2}"/>
              </a:ext>
            </a:extLst>
          </p:cNvPr>
          <p:cNvPicPr>
            <a:picLocks noChangeAspect="1"/>
          </p:cNvPicPr>
          <p:nvPr/>
        </p:nvPicPr>
        <p:blipFill>
          <a:blip r:embed="rId3"/>
          <a:stretch>
            <a:fillRect/>
          </a:stretch>
        </p:blipFill>
        <p:spPr>
          <a:xfrm>
            <a:off x="883988" y="2266725"/>
            <a:ext cx="663676" cy="313403"/>
          </a:xfrm>
          <a:prstGeom prst="rect">
            <a:avLst/>
          </a:prstGeom>
        </p:spPr>
      </p:pic>
      <p:sp>
        <p:nvSpPr>
          <p:cNvPr id="11" name="TextBox 10">
            <a:extLst>
              <a:ext uri="{FF2B5EF4-FFF2-40B4-BE49-F238E27FC236}">
                <a16:creationId xmlns="" xmlns:a16="http://schemas.microsoft.com/office/drawing/2014/main" id="{DE865BBB-B2AA-7A11-DC3F-1C1CCE46B24E}"/>
              </a:ext>
            </a:extLst>
          </p:cNvPr>
          <p:cNvSpPr txBox="1"/>
          <p:nvPr/>
        </p:nvSpPr>
        <p:spPr>
          <a:xfrm>
            <a:off x="3203054" y="2896383"/>
            <a:ext cx="4587764" cy="369332"/>
          </a:xfrm>
          <a:prstGeom prst="rect">
            <a:avLst/>
          </a:prstGeom>
          <a:noFill/>
        </p:spPr>
        <p:txBody>
          <a:bodyPr wrap="square">
            <a:spAutoFit/>
          </a:bodyPr>
          <a:lstStyle/>
          <a:p>
            <a:r>
              <a:rPr lang="el-GR" dirty="0"/>
              <a:t>ω = Ω</a:t>
            </a:r>
            <a:r>
              <a:rPr lang="en-IN" dirty="0"/>
              <a:t>T</a:t>
            </a:r>
          </a:p>
        </p:txBody>
      </p:sp>
      <p:sp>
        <p:nvSpPr>
          <p:cNvPr id="13" name="TextBox 12">
            <a:extLst>
              <a:ext uri="{FF2B5EF4-FFF2-40B4-BE49-F238E27FC236}">
                <a16:creationId xmlns="" xmlns:a16="http://schemas.microsoft.com/office/drawing/2014/main" id="{59AC0384-A608-0C1A-820F-E9619D44FB76}"/>
              </a:ext>
            </a:extLst>
          </p:cNvPr>
          <p:cNvSpPr txBox="1"/>
          <p:nvPr/>
        </p:nvSpPr>
        <p:spPr>
          <a:xfrm>
            <a:off x="3162577" y="3275692"/>
            <a:ext cx="4587764" cy="369332"/>
          </a:xfrm>
          <a:prstGeom prst="rect">
            <a:avLst/>
          </a:prstGeom>
          <a:noFill/>
        </p:spPr>
        <p:txBody>
          <a:bodyPr wrap="square">
            <a:spAutoFit/>
          </a:bodyPr>
          <a:lstStyle/>
          <a:p>
            <a:r>
              <a:rPr lang="el-GR" dirty="0"/>
              <a:t>ω =2π</a:t>
            </a:r>
            <a:r>
              <a:rPr lang="en-IN" dirty="0"/>
              <a:t>f ×T </a:t>
            </a:r>
          </a:p>
        </p:txBody>
      </p:sp>
      <p:sp>
        <p:nvSpPr>
          <p:cNvPr id="15" name="TextBox 14">
            <a:extLst>
              <a:ext uri="{FF2B5EF4-FFF2-40B4-BE49-F238E27FC236}">
                <a16:creationId xmlns="" xmlns:a16="http://schemas.microsoft.com/office/drawing/2014/main" id="{D8718539-6521-E92F-2C08-9FC462974B7F}"/>
              </a:ext>
            </a:extLst>
          </p:cNvPr>
          <p:cNvSpPr txBox="1"/>
          <p:nvPr/>
        </p:nvSpPr>
        <p:spPr>
          <a:xfrm>
            <a:off x="-53148" y="3585690"/>
            <a:ext cx="8869454" cy="646331"/>
          </a:xfrm>
          <a:prstGeom prst="rect">
            <a:avLst/>
          </a:prstGeom>
          <a:noFill/>
        </p:spPr>
        <p:txBody>
          <a:bodyPr wrap="square">
            <a:spAutoFit/>
          </a:bodyPr>
          <a:lstStyle/>
          <a:p>
            <a:r>
              <a:rPr lang="en-US" dirty="0"/>
              <a:t>where T is the sampling interval and is equal to 1/ fs . Replacing T by 1/ fs in above equation we get</a:t>
            </a:r>
            <a:endParaRPr lang="en-IN" dirty="0"/>
          </a:p>
        </p:txBody>
      </p:sp>
      <p:pic>
        <p:nvPicPr>
          <p:cNvPr id="17" name="Picture 16">
            <a:extLst>
              <a:ext uri="{FF2B5EF4-FFF2-40B4-BE49-F238E27FC236}">
                <a16:creationId xmlns="" xmlns:a16="http://schemas.microsoft.com/office/drawing/2014/main" id="{A3DB6B51-26C6-228E-F5BC-B3A5A690EAC1}"/>
              </a:ext>
            </a:extLst>
          </p:cNvPr>
          <p:cNvPicPr>
            <a:picLocks noChangeAspect="1"/>
          </p:cNvPicPr>
          <p:nvPr/>
        </p:nvPicPr>
        <p:blipFill>
          <a:blip r:embed="rId4"/>
          <a:stretch>
            <a:fillRect/>
          </a:stretch>
        </p:blipFill>
        <p:spPr>
          <a:xfrm>
            <a:off x="3218379" y="3976137"/>
            <a:ext cx="1458792" cy="744281"/>
          </a:xfrm>
          <a:prstGeom prst="rect">
            <a:avLst/>
          </a:prstGeom>
        </p:spPr>
      </p:pic>
      <p:pic>
        <p:nvPicPr>
          <p:cNvPr id="19" name="Picture 18">
            <a:extLst>
              <a:ext uri="{FF2B5EF4-FFF2-40B4-BE49-F238E27FC236}">
                <a16:creationId xmlns="" xmlns:a16="http://schemas.microsoft.com/office/drawing/2014/main" id="{6215AD27-905D-85C6-9A7B-B85C24D665C3}"/>
              </a:ext>
            </a:extLst>
          </p:cNvPr>
          <p:cNvPicPr>
            <a:picLocks noChangeAspect="1"/>
          </p:cNvPicPr>
          <p:nvPr/>
        </p:nvPicPr>
        <p:blipFill>
          <a:blip r:embed="rId5"/>
          <a:stretch>
            <a:fillRect/>
          </a:stretch>
        </p:blipFill>
        <p:spPr>
          <a:xfrm>
            <a:off x="729983" y="4701460"/>
            <a:ext cx="817681" cy="769582"/>
          </a:xfrm>
          <a:prstGeom prst="rect">
            <a:avLst/>
          </a:prstGeom>
        </p:spPr>
      </p:pic>
      <p:sp>
        <p:nvSpPr>
          <p:cNvPr id="21" name="TextBox 20">
            <a:extLst>
              <a:ext uri="{FF2B5EF4-FFF2-40B4-BE49-F238E27FC236}">
                <a16:creationId xmlns="" xmlns:a16="http://schemas.microsoft.com/office/drawing/2014/main" id="{B104359B-E1A0-3A34-A200-189EA7B4650E}"/>
              </a:ext>
            </a:extLst>
          </p:cNvPr>
          <p:cNvSpPr txBox="1"/>
          <p:nvPr/>
        </p:nvSpPr>
        <p:spPr>
          <a:xfrm>
            <a:off x="3218379" y="4733472"/>
            <a:ext cx="4627178" cy="369332"/>
          </a:xfrm>
          <a:prstGeom prst="rect">
            <a:avLst/>
          </a:prstGeom>
          <a:noFill/>
        </p:spPr>
        <p:txBody>
          <a:bodyPr wrap="square">
            <a:spAutoFit/>
          </a:bodyPr>
          <a:lstStyle/>
          <a:p>
            <a:r>
              <a:rPr lang="el-GR" dirty="0"/>
              <a:t>ω = </a:t>
            </a:r>
            <a:r>
              <a:rPr lang="en-IN" dirty="0"/>
              <a:t>k × 2</a:t>
            </a:r>
            <a:r>
              <a:rPr lang="el-GR" dirty="0"/>
              <a:t>π</a:t>
            </a:r>
            <a:endParaRPr lang="en-IN" dirty="0"/>
          </a:p>
        </p:txBody>
      </p:sp>
      <p:sp>
        <p:nvSpPr>
          <p:cNvPr id="23" name="TextBox 22">
            <a:extLst>
              <a:ext uri="{FF2B5EF4-FFF2-40B4-BE49-F238E27FC236}">
                <a16:creationId xmlns="" xmlns:a16="http://schemas.microsoft.com/office/drawing/2014/main" id="{0670A4E2-9D24-C771-3EDD-7463CE100199}"/>
              </a:ext>
            </a:extLst>
          </p:cNvPr>
          <p:cNvSpPr txBox="1"/>
          <p:nvPr/>
        </p:nvSpPr>
        <p:spPr>
          <a:xfrm>
            <a:off x="-53148" y="5456029"/>
            <a:ext cx="9197148" cy="646331"/>
          </a:xfrm>
          <a:prstGeom prst="rect">
            <a:avLst/>
          </a:prstGeom>
          <a:noFill/>
        </p:spPr>
        <p:txBody>
          <a:bodyPr wrap="square">
            <a:spAutoFit/>
          </a:bodyPr>
          <a:lstStyle/>
          <a:p>
            <a:r>
              <a:rPr lang="en-US" dirty="0"/>
              <a:t>To limit the infinite number of values to a finite number, above equation is modified as          ω/2π= k/N </a:t>
            </a:r>
            <a:endParaRPr lang="en-IN" dirty="0"/>
          </a:p>
        </p:txBody>
      </p:sp>
      <p:pic>
        <p:nvPicPr>
          <p:cNvPr id="25" name="Picture 24">
            <a:extLst>
              <a:ext uri="{FF2B5EF4-FFF2-40B4-BE49-F238E27FC236}">
                <a16:creationId xmlns="" xmlns:a16="http://schemas.microsoft.com/office/drawing/2014/main" id="{777C216C-C844-C3F4-64DF-159563826051}"/>
              </a:ext>
            </a:extLst>
          </p:cNvPr>
          <p:cNvPicPr>
            <a:picLocks noChangeAspect="1"/>
          </p:cNvPicPr>
          <p:nvPr/>
        </p:nvPicPr>
        <p:blipFill>
          <a:blip r:embed="rId6"/>
          <a:stretch>
            <a:fillRect/>
          </a:stretch>
        </p:blipFill>
        <p:spPr>
          <a:xfrm>
            <a:off x="1401395" y="5931919"/>
            <a:ext cx="5092759" cy="789786"/>
          </a:xfrm>
          <a:prstGeom prst="rect">
            <a:avLst/>
          </a:prstGeom>
        </p:spPr>
      </p:pic>
    </p:spTree>
    <p:extLst>
      <p:ext uri="{BB962C8B-B14F-4D97-AF65-F5344CB8AC3E}">
        <p14:creationId xmlns:p14="http://schemas.microsoft.com/office/powerpoint/2010/main" val="3378065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Fourier Transform</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12</a:t>
            </a:fld>
            <a:endParaRPr lang="en-GB"/>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320" t="15946" r="29330" b="11340"/>
          <a:stretch/>
        </p:blipFill>
        <p:spPr bwMode="auto">
          <a:xfrm>
            <a:off x="107504" y="1700808"/>
            <a:ext cx="4675695" cy="4986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6871" t="15467" r="30604" b="4800"/>
          <a:stretch/>
        </p:blipFill>
        <p:spPr bwMode="auto">
          <a:xfrm>
            <a:off x="4716016" y="1723047"/>
            <a:ext cx="4291357"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4197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Fourier Transform</a:t>
            </a:r>
            <a:endParaRPr lang="en-IN" dirty="0"/>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105" t="21802" r="58247" b="58378"/>
          <a:stretch/>
        </p:blipFill>
        <p:spPr bwMode="auto">
          <a:xfrm>
            <a:off x="833605" y="2924944"/>
            <a:ext cx="7031314"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954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Discrete Fourier Transform</a:t>
            </a:r>
          </a:p>
        </p:txBody>
      </p:sp>
      <p:sp>
        <p:nvSpPr>
          <p:cNvPr id="3" name="Content Placeholder 2"/>
          <p:cNvSpPr>
            <a:spLocks noGrp="1"/>
          </p:cNvSpPr>
          <p:nvPr>
            <p:ph idx="1"/>
          </p:nvPr>
        </p:nvSpPr>
        <p:spPr/>
        <p:txBody>
          <a:bodyPr>
            <a:normAutofit/>
          </a:bodyPr>
          <a:lstStyle/>
          <a:p>
            <a:pPr algn="just"/>
            <a:r>
              <a:rPr lang="en-IN" dirty="0"/>
              <a:t>Discrete Fourier transform for a finite sequence is given by:</a:t>
            </a:r>
          </a:p>
          <a:p>
            <a:pPr algn="just"/>
            <a:endParaRPr lang="en-IN" dirty="0"/>
          </a:p>
          <a:p>
            <a:pPr algn="just"/>
            <a:endParaRPr lang="en-IN" dirty="0"/>
          </a:p>
          <a:p>
            <a:pPr algn="just"/>
            <a:endParaRPr lang="en-IN" dirty="0"/>
          </a:p>
          <a:p>
            <a:pPr algn="just"/>
            <a:r>
              <a:rPr lang="en-IN" dirty="0"/>
              <a:t>Evaluating summation for finite sequence for 0 to N-1.</a:t>
            </a:r>
          </a:p>
          <a:p>
            <a:pPr algn="just"/>
            <a:r>
              <a:rPr lang="en-IN" dirty="0"/>
              <a:t>k/N corresponds to frequency F</a:t>
            </a:r>
          </a:p>
          <a:p>
            <a:pPr algn="just"/>
            <a:r>
              <a:rPr lang="en-IN" dirty="0"/>
              <a:t>N corresponds to time for discrete signals</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780928"/>
            <a:ext cx="4392488" cy="999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8961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Inverse Discrete Fourier Transform</a:t>
            </a: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5576" y="1772816"/>
            <a:ext cx="7920880"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4293096"/>
            <a:ext cx="8330189" cy="864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3434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BB9DEC2-7BBA-59DE-1DA7-1424738ACA41}"/>
              </a:ext>
            </a:extLst>
          </p:cNvPr>
          <p:cNvSpPr>
            <a:spLocks noGrp="1"/>
          </p:cNvSpPr>
          <p:nvPr>
            <p:ph type="title"/>
          </p:nvPr>
        </p:nvSpPr>
        <p:spPr>
          <a:xfrm>
            <a:off x="768096" y="585216"/>
            <a:ext cx="4550113" cy="1499616"/>
          </a:xfrm>
        </p:spPr>
        <p:txBody>
          <a:bodyPr vert="horz" lIns="91440" tIns="45720" rIns="91440" bIns="45720" rtlCol="0" anchor="ctr">
            <a:normAutofit/>
          </a:bodyPr>
          <a:lstStyle/>
          <a:p>
            <a:r>
              <a:rPr lang="en-US" sz="5000"/>
              <a:t>Unitary transform</a:t>
            </a:r>
          </a:p>
        </p:txBody>
      </p:sp>
      <p:sp>
        <p:nvSpPr>
          <p:cNvPr id="3" name="TextBox 2">
            <a:extLst>
              <a:ext uri="{FF2B5EF4-FFF2-40B4-BE49-F238E27FC236}">
                <a16:creationId xmlns="" xmlns:a16="http://schemas.microsoft.com/office/drawing/2014/main" id="{3767DD09-24DD-405C-7D3C-33D280AD5BA9}"/>
              </a:ext>
            </a:extLst>
          </p:cNvPr>
          <p:cNvSpPr txBox="1"/>
          <p:nvPr/>
        </p:nvSpPr>
        <p:spPr>
          <a:xfrm>
            <a:off x="768096" y="2286000"/>
            <a:ext cx="4550113" cy="4023360"/>
          </a:xfrm>
          <a:prstGeom prst="rect">
            <a:avLst/>
          </a:prstGeom>
        </p:spPr>
        <p:txBody>
          <a:bodyPr vert="horz" lIns="45720" tIns="45720" rIns="45720" bIns="45720" rtlCol="0">
            <a:normAutofit/>
          </a:bodyPr>
          <a:lstStyle/>
          <a:p>
            <a:pPr>
              <a:lnSpc>
                <a:spcPct val="90000"/>
              </a:lnSpc>
              <a:spcAft>
                <a:spcPts val="600"/>
              </a:spcAft>
              <a:buClr>
                <a:schemeClr val="accent1"/>
              </a:buClr>
            </a:pPr>
            <a:r>
              <a:rPr lang="en-US" dirty="0"/>
              <a:t>Unitary Transform= A discrete linear transform is unitary if its transform matrix conforms to the unitary condition </a:t>
            </a:r>
          </a:p>
          <a:p>
            <a:pPr>
              <a:lnSpc>
                <a:spcPct val="90000"/>
              </a:lnSpc>
              <a:spcAft>
                <a:spcPts val="600"/>
              </a:spcAft>
              <a:buClr>
                <a:schemeClr val="accent1"/>
              </a:buClr>
            </a:pPr>
            <a:r>
              <a:rPr lang="en-US" dirty="0"/>
              <a:t>A × A</a:t>
            </a:r>
            <a:r>
              <a:rPr lang="en-US" baseline="30000" dirty="0"/>
              <a:t>H </a:t>
            </a:r>
            <a:r>
              <a:rPr lang="en-US" dirty="0"/>
              <a:t>= I </a:t>
            </a:r>
          </a:p>
          <a:p>
            <a:pPr>
              <a:lnSpc>
                <a:spcPct val="90000"/>
              </a:lnSpc>
              <a:spcAft>
                <a:spcPts val="600"/>
              </a:spcAft>
              <a:buClr>
                <a:schemeClr val="accent1"/>
              </a:buClr>
            </a:pPr>
            <a:r>
              <a:rPr lang="en-US" dirty="0"/>
              <a:t>where A = transformation matrix, </a:t>
            </a:r>
          </a:p>
          <a:p>
            <a:pPr>
              <a:lnSpc>
                <a:spcPct val="90000"/>
              </a:lnSpc>
              <a:spcAft>
                <a:spcPts val="600"/>
              </a:spcAft>
              <a:buClr>
                <a:schemeClr val="accent1"/>
              </a:buClr>
            </a:pPr>
            <a:r>
              <a:rPr lang="en-US" dirty="0"/>
              <a:t>A</a:t>
            </a:r>
            <a:r>
              <a:rPr lang="en-US" baseline="30000" dirty="0"/>
              <a:t>H </a:t>
            </a:r>
            <a:r>
              <a:rPr lang="en-US" dirty="0"/>
              <a:t>represents Hermitian matrix. </a:t>
            </a:r>
          </a:p>
          <a:p>
            <a:pPr>
              <a:lnSpc>
                <a:spcPct val="90000"/>
              </a:lnSpc>
              <a:spcAft>
                <a:spcPts val="600"/>
              </a:spcAft>
              <a:buClr>
                <a:schemeClr val="accent1"/>
              </a:buClr>
            </a:pPr>
            <a:r>
              <a:rPr lang="en-US" dirty="0"/>
              <a:t>A</a:t>
            </a:r>
            <a:r>
              <a:rPr lang="en-US" baseline="30000" dirty="0"/>
              <a:t>H</a:t>
            </a:r>
            <a:r>
              <a:rPr lang="en-US" dirty="0"/>
              <a:t>= A</a:t>
            </a:r>
            <a:r>
              <a:rPr lang="en-US" baseline="30000" dirty="0"/>
              <a:t>*T</a:t>
            </a:r>
            <a:r>
              <a:rPr lang="en-US" dirty="0"/>
              <a:t> </a:t>
            </a:r>
          </a:p>
          <a:p>
            <a:pPr>
              <a:lnSpc>
                <a:spcPct val="90000"/>
              </a:lnSpc>
              <a:spcAft>
                <a:spcPts val="600"/>
              </a:spcAft>
              <a:buClr>
                <a:schemeClr val="accent1"/>
              </a:buClr>
            </a:pPr>
            <a:r>
              <a:rPr lang="en-US" dirty="0"/>
              <a:t>I = identity matrix </a:t>
            </a:r>
          </a:p>
          <a:p>
            <a:pPr>
              <a:lnSpc>
                <a:spcPct val="90000"/>
              </a:lnSpc>
              <a:spcAft>
                <a:spcPts val="600"/>
              </a:spcAft>
              <a:buClr>
                <a:schemeClr val="accent1"/>
              </a:buClr>
            </a:pPr>
            <a:endParaRPr lang="en-US" dirty="0"/>
          </a:p>
          <a:p>
            <a:pPr>
              <a:lnSpc>
                <a:spcPct val="90000"/>
              </a:lnSpc>
              <a:spcAft>
                <a:spcPts val="600"/>
              </a:spcAft>
              <a:buClr>
                <a:schemeClr val="accent1"/>
              </a:buClr>
            </a:pPr>
            <a:r>
              <a:rPr lang="en-US" dirty="0"/>
              <a:t>When the transform matrix A is unitary, the defined transform is called unitary transform</a:t>
            </a:r>
          </a:p>
        </p:txBody>
      </p:sp>
      <p:pic>
        <p:nvPicPr>
          <p:cNvPr id="6" name="Picture 5">
            <a:extLst>
              <a:ext uri="{FF2B5EF4-FFF2-40B4-BE49-F238E27FC236}">
                <a16:creationId xmlns="" xmlns:a16="http://schemas.microsoft.com/office/drawing/2014/main" id="{4A7CD1BC-1656-A489-0038-5E05FD4ADF58}"/>
              </a:ext>
            </a:extLst>
          </p:cNvPr>
          <p:cNvPicPr>
            <a:picLocks noChangeAspect="1"/>
          </p:cNvPicPr>
          <p:nvPr/>
        </p:nvPicPr>
        <p:blipFill>
          <a:blip r:embed="rId2"/>
          <a:srcRect l="28326" r="43132"/>
          <a:stretch/>
        </p:blipFill>
        <p:spPr>
          <a:xfrm>
            <a:off x="5664199" y="10"/>
            <a:ext cx="3479800" cy="6857990"/>
          </a:xfrm>
          <a:prstGeom prst="rect">
            <a:avLst/>
          </a:prstGeom>
        </p:spPr>
      </p:pic>
    </p:spTree>
    <p:extLst>
      <p:ext uri="{BB962C8B-B14F-4D97-AF65-F5344CB8AC3E}">
        <p14:creationId xmlns:p14="http://schemas.microsoft.com/office/powerpoint/2010/main" val="1914691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Orthogonal DFT</a:t>
            </a:r>
          </a:p>
        </p:txBody>
      </p:sp>
      <p:sp>
        <p:nvSpPr>
          <p:cNvPr id="3" name="Content Placeholder 2"/>
          <p:cNvSpPr>
            <a:spLocks noGrp="1"/>
          </p:cNvSpPr>
          <p:nvPr>
            <p:ph idx="1"/>
          </p:nvPr>
        </p:nvSpPr>
        <p:spPr/>
        <p:txBody>
          <a:bodyPr/>
          <a:lstStyle/>
          <a:p>
            <a:r>
              <a:rPr lang="en-IN" dirty="0"/>
              <a:t>If A is unitary and has only real elements , then it is orthogonal matrix</a:t>
            </a:r>
          </a:p>
          <a:p>
            <a:endParaRPr lang="en-IN" dirty="0"/>
          </a:p>
          <a:p>
            <a:r>
              <a:rPr lang="en-IN" dirty="0"/>
              <a:t>A is orthogonal if A.A’ = I</a:t>
            </a:r>
          </a:p>
        </p:txBody>
      </p:sp>
    </p:spTree>
    <p:extLst>
      <p:ext uri="{BB962C8B-B14F-4D97-AF65-F5344CB8AC3E}">
        <p14:creationId xmlns:p14="http://schemas.microsoft.com/office/powerpoint/2010/main" val="3437632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Image Transform</a:t>
            </a:r>
          </a:p>
        </p:txBody>
      </p:sp>
      <p:sp>
        <p:nvSpPr>
          <p:cNvPr id="3" name="Content Placeholder 2"/>
          <p:cNvSpPr>
            <a:spLocks noGrp="1"/>
          </p:cNvSpPr>
          <p:nvPr>
            <p:ph idx="1"/>
          </p:nvPr>
        </p:nvSpPr>
        <p:spPr/>
        <p:txBody>
          <a:bodyPr/>
          <a:lstStyle/>
          <a:p>
            <a:pPr marL="0" indent="0">
              <a:buNone/>
            </a:pPr>
            <a:r>
              <a:rPr lang="en-IN" dirty="0"/>
              <a:t>1) Check whether the DFT matrix is unitary or not.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767637"/>
            <a:ext cx="7488832" cy="39176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0143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18D68A4-E711-9909-A709-362221D43119}"/>
              </a:ext>
            </a:extLst>
          </p:cNvPr>
          <p:cNvPicPr>
            <a:picLocks noChangeAspect="1"/>
          </p:cNvPicPr>
          <p:nvPr/>
        </p:nvPicPr>
        <p:blipFill>
          <a:blip r:embed="rId2"/>
          <a:stretch>
            <a:fillRect/>
          </a:stretch>
        </p:blipFill>
        <p:spPr>
          <a:xfrm>
            <a:off x="539551" y="620688"/>
            <a:ext cx="7870987" cy="4680520"/>
          </a:xfrm>
          <a:prstGeom prst="rect">
            <a:avLst/>
          </a:prstGeom>
        </p:spPr>
      </p:pic>
    </p:spTree>
    <p:extLst>
      <p:ext uri="{BB962C8B-B14F-4D97-AF65-F5344CB8AC3E}">
        <p14:creationId xmlns:p14="http://schemas.microsoft.com/office/powerpoint/2010/main" val="935690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B871E0CF-F356-EF67-2062-045DE00045B0}"/>
              </a:ext>
            </a:extLst>
          </p:cNvPr>
          <p:cNvPicPr>
            <a:picLocks noChangeAspect="1"/>
          </p:cNvPicPr>
          <p:nvPr/>
        </p:nvPicPr>
        <p:blipFill>
          <a:blip r:embed="rId2"/>
          <a:stretch>
            <a:fillRect/>
          </a:stretch>
        </p:blipFill>
        <p:spPr>
          <a:xfrm>
            <a:off x="179512" y="332656"/>
            <a:ext cx="8546817" cy="5256584"/>
          </a:xfrm>
          <a:prstGeom prst="rect">
            <a:avLst/>
          </a:prstGeom>
        </p:spPr>
      </p:pic>
    </p:spTree>
    <p:extLst>
      <p:ext uri="{BB962C8B-B14F-4D97-AF65-F5344CB8AC3E}">
        <p14:creationId xmlns:p14="http://schemas.microsoft.com/office/powerpoint/2010/main" val="1379794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18560"/>
            <a:ext cx="8303298" cy="5174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1157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836712"/>
            <a:ext cx="8224008"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5558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Unitary Transform</a:t>
            </a:r>
          </a:p>
        </p:txBody>
      </p:sp>
      <p:sp>
        <p:nvSpPr>
          <p:cNvPr id="3" name="Content Placeholder 2"/>
          <p:cNvSpPr>
            <a:spLocks noGrp="1"/>
          </p:cNvSpPr>
          <p:nvPr>
            <p:ph idx="1"/>
          </p:nvPr>
        </p:nvSpPr>
        <p:spPr/>
        <p:txBody>
          <a:bodyPr>
            <a:normAutofit/>
          </a:bodyPr>
          <a:lstStyle/>
          <a:p>
            <a:r>
              <a:rPr lang="en-IN" dirty="0"/>
              <a:t>unitary transformation preserves the </a:t>
            </a:r>
            <a:r>
              <a:rPr lang="en-IN" b="1" dirty="0"/>
              <a:t>signal energy</a:t>
            </a:r>
          </a:p>
          <a:p>
            <a:endParaRPr lang="en-IN" dirty="0"/>
          </a:p>
          <a:p>
            <a:r>
              <a:rPr lang="en-IN" dirty="0"/>
              <a:t>Most unitary transforms pack a </a:t>
            </a:r>
            <a:r>
              <a:rPr lang="en-IN" b="1" dirty="0"/>
              <a:t>large fraction of the energy of the image into relatively few of the transform coefficients.</a:t>
            </a:r>
          </a:p>
          <a:p>
            <a:endParaRPr lang="en-IN" dirty="0"/>
          </a:p>
          <a:p>
            <a:r>
              <a:rPr lang="en-IN" dirty="0"/>
              <a:t>Few of the transform coefficients have significant values and these are the coefficients that are close to the origin</a:t>
            </a:r>
          </a:p>
        </p:txBody>
      </p:sp>
    </p:spTree>
    <p:extLst>
      <p:ext uri="{BB962C8B-B14F-4D97-AF65-F5344CB8AC3E}">
        <p14:creationId xmlns:p14="http://schemas.microsoft.com/office/powerpoint/2010/main" val="256364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Properties of DFT-</a:t>
            </a:r>
            <a:endParaRPr lang="en-IN" dirty="0"/>
          </a:p>
        </p:txBody>
      </p:sp>
      <p:sp>
        <p:nvSpPr>
          <p:cNvPr id="6" name="Content Placeholder 5"/>
          <p:cNvSpPr>
            <a:spLocks noGrp="1"/>
          </p:cNvSpPr>
          <p:nvPr>
            <p:ph idx="1"/>
          </p:nvPr>
        </p:nvSpPr>
        <p:spPr/>
        <p:txBody>
          <a:bodyPr/>
          <a:lstStyle/>
          <a:p>
            <a:r>
              <a:rPr lang="en-IN"/>
              <a:t>Periodicity</a:t>
            </a:r>
            <a:endParaRPr lang="en-IN"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2176" t="26392" r="42599" b="61867"/>
          <a:stretch/>
        </p:blipFill>
        <p:spPr bwMode="auto">
          <a:xfrm>
            <a:off x="3219824" y="2076299"/>
            <a:ext cx="2288280" cy="992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258" t="58875" r="35361" b="28385"/>
          <a:stretch/>
        </p:blipFill>
        <p:spPr bwMode="auto">
          <a:xfrm>
            <a:off x="1979712" y="3717032"/>
            <a:ext cx="5018894"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784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Properties of DFT</a:t>
            </a:r>
            <a:endParaRPr lang="en-IN" dirty="0"/>
          </a:p>
        </p:txBody>
      </p:sp>
      <p:sp>
        <p:nvSpPr>
          <p:cNvPr id="3" name="Content Placeholder 2"/>
          <p:cNvSpPr>
            <a:spLocks noGrp="1"/>
          </p:cNvSpPr>
          <p:nvPr>
            <p:ph idx="1"/>
          </p:nvPr>
        </p:nvSpPr>
        <p:spPr/>
        <p:txBody>
          <a:bodyPr/>
          <a:lstStyle/>
          <a:p>
            <a:r>
              <a:rPr lang="en-IN"/>
              <a:t>Linearity</a:t>
            </a:r>
            <a:endParaRPr lang="en-IN"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826" t="33797" r="39124" b="42204"/>
          <a:stretch/>
        </p:blipFill>
        <p:spPr bwMode="auto">
          <a:xfrm>
            <a:off x="3185528" y="2348880"/>
            <a:ext cx="2322576" cy="164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557" t="65847" r="29175" b="25103"/>
          <a:stretch/>
        </p:blipFill>
        <p:spPr bwMode="auto">
          <a:xfrm rot="160558">
            <a:off x="1960484" y="4790886"/>
            <a:ext cx="4543721" cy="62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5737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DFT</a:t>
            </a:r>
            <a:endParaRPr lang="en-IN" dirty="0"/>
          </a:p>
        </p:txBody>
      </p:sp>
      <p:sp>
        <p:nvSpPr>
          <p:cNvPr id="3" name="Content Placeholder 2"/>
          <p:cNvSpPr>
            <a:spLocks noGrp="1"/>
          </p:cNvSpPr>
          <p:nvPr>
            <p:ph idx="1"/>
          </p:nvPr>
        </p:nvSpPr>
        <p:spPr/>
        <p:txBody>
          <a:bodyPr/>
          <a:lstStyle/>
          <a:p>
            <a:r>
              <a:rPr lang="en-IN" dirty="0"/>
              <a:t>Circular Convolution</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119" t="39450" r="41856" b="34158"/>
          <a:stretch/>
        </p:blipFill>
        <p:spPr bwMode="auto">
          <a:xfrm>
            <a:off x="3275856" y="2470992"/>
            <a:ext cx="3978751" cy="2949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5125" t="55786" r="35450" b="37174"/>
          <a:stretch/>
        </p:blipFill>
        <p:spPr bwMode="auto">
          <a:xfrm>
            <a:off x="3275856" y="5420491"/>
            <a:ext cx="4176464" cy="851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5463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DFT</a:t>
            </a:r>
            <a:endParaRPr lang="en-IN" dirty="0"/>
          </a:p>
        </p:txBody>
      </p:sp>
      <p:sp>
        <p:nvSpPr>
          <p:cNvPr id="3" name="Content Placeholder 2"/>
          <p:cNvSpPr>
            <a:spLocks noGrp="1"/>
          </p:cNvSpPr>
          <p:nvPr>
            <p:ph idx="1"/>
          </p:nvPr>
        </p:nvSpPr>
        <p:spPr>
          <a:xfrm>
            <a:off x="680704" y="2420888"/>
            <a:ext cx="7290055" cy="3384416"/>
          </a:xfrm>
        </p:spPr>
        <p:txBody>
          <a:bodyPr>
            <a:normAutofit fontScale="92500" lnSpcReduction="20000"/>
          </a:bodyPr>
          <a:lstStyle/>
          <a:p>
            <a:r>
              <a:rPr lang="en-IN" dirty="0"/>
              <a:t>Time reversal </a:t>
            </a:r>
          </a:p>
          <a:p>
            <a:endParaRPr lang="en-IN" dirty="0"/>
          </a:p>
          <a:p>
            <a:endParaRPr lang="en-IN" dirty="0"/>
          </a:p>
          <a:p>
            <a:endParaRPr lang="en-IN" dirty="0"/>
          </a:p>
          <a:p>
            <a:endParaRPr lang="en-IN" dirty="0"/>
          </a:p>
          <a:p>
            <a:endParaRPr lang="en-IN" dirty="0"/>
          </a:p>
          <a:p>
            <a:endParaRPr lang="en-IN" dirty="0"/>
          </a:p>
          <a:p>
            <a:endParaRPr lang="en-IN" dirty="0"/>
          </a:p>
          <a:p>
            <a:r>
              <a:rPr lang="en-IN" dirty="0"/>
              <a:t>If the sequence is circularly folded , its DFT is also circularly folded.</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459" t="29485" r="22912" b="36633"/>
          <a:stretch/>
        </p:blipFill>
        <p:spPr bwMode="auto">
          <a:xfrm>
            <a:off x="797941" y="2708920"/>
            <a:ext cx="7635712" cy="2323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6539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DFT</a:t>
            </a:r>
            <a:endParaRPr lang="en-IN" dirty="0"/>
          </a:p>
        </p:txBody>
      </p:sp>
      <p:sp>
        <p:nvSpPr>
          <p:cNvPr id="3" name="Content Placeholder 2"/>
          <p:cNvSpPr>
            <a:spLocks noGrp="1"/>
          </p:cNvSpPr>
          <p:nvPr>
            <p:ph idx="1"/>
          </p:nvPr>
        </p:nvSpPr>
        <p:spPr/>
        <p:txBody>
          <a:bodyPr/>
          <a:lstStyle/>
          <a:p>
            <a:r>
              <a:rPr lang="en-IN" dirty="0"/>
              <a:t>Time shift</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1804" t="30377" r="36289" b="38007"/>
          <a:stretch/>
        </p:blipFill>
        <p:spPr bwMode="auto">
          <a:xfrm>
            <a:off x="1691680" y="2556979"/>
            <a:ext cx="5109329" cy="2168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0846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Properties of DFT</a:t>
            </a:r>
          </a:p>
        </p:txBody>
      </p:sp>
      <p:sp>
        <p:nvSpPr>
          <p:cNvPr id="3" name="Content Placeholder 2"/>
          <p:cNvSpPr>
            <a:spLocks noGrp="1"/>
          </p:cNvSpPr>
          <p:nvPr>
            <p:ph idx="1"/>
          </p:nvPr>
        </p:nvSpPr>
        <p:spPr/>
        <p:txBody>
          <a:bodyPr/>
          <a:lstStyle/>
          <a:p>
            <a:r>
              <a:rPr lang="en-IN" dirty="0"/>
              <a:t>Conjugation</a:t>
            </a:r>
          </a:p>
          <a:p>
            <a:r>
              <a:rPr lang="en-IN" dirty="0"/>
              <a:t>DFT of complex conjugate of any sequence is equal to complex conjugate of DFT of that sequence , with sequence delayed by k samples in frequency domain.</a:t>
            </a:r>
          </a:p>
          <a:p>
            <a:r>
              <a:rPr lang="en-IN" dirty="0"/>
              <a:t>DFT{x(n)}=X(k)</a:t>
            </a:r>
          </a:p>
          <a:p>
            <a:r>
              <a:rPr lang="en-IN" sz="3600"/>
              <a:t>DFT{X</a:t>
            </a:r>
            <a:r>
              <a:rPr lang="en-IN" sz="4000"/>
              <a:t>*(n)}=X</a:t>
            </a:r>
            <a:r>
              <a:rPr lang="en-IN" sz="4400"/>
              <a:t>*(N-k)</a:t>
            </a:r>
            <a:endParaRPr lang="en-IN" dirty="0"/>
          </a:p>
        </p:txBody>
      </p:sp>
    </p:spTree>
    <p:extLst>
      <p:ext uri="{BB962C8B-B14F-4D97-AF65-F5344CB8AC3E}">
        <p14:creationId xmlns:p14="http://schemas.microsoft.com/office/powerpoint/2010/main" val="3661416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BCAFA4-1DD0-48F9-B235-957F665A5A3F}"/>
              </a:ext>
            </a:extLst>
          </p:cNvPr>
          <p:cNvSpPr>
            <a:spLocks noGrp="1"/>
          </p:cNvSpPr>
          <p:nvPr>
            <p:ph type="title"/>
          </p:nvPr>
        </p:nvSpPr>
        <p:spPr/>
        <p:txBody>
          <a:bodyPr/>
          <a:lstStyle/>
          <a:p>
            <a:r>
              <a:rPr lang="en-IN" dirty="0"/>
              <a:t>2D DISCRETE FOURIER TRANSFORM</a:t>
            </a:r>
          </a:p>
        </p:txBody>
      </p:sp>
      <p:sp>
        <p:nvSpPr>
          <p:cNvPr id="3" name="Content Placeholder 2">
            <a:extLst>
              <a:ext uri="{FF2B5EF4-FFF2-40B4-BE49-F238E27FC236}">
                <a16:creationId xmlns="" xmlns:a16="http://schemas.microsoft.com/office/drawing/2014/main" id="{629B7A86-13E2-A7AC-B00F-6D368EF98CD9}"/>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C28916CF-291B-729F-C84D-E34A5ED99933}"/>
              </a:ext>
            </a:extLst>
          </p:cNvPr>
          <p:cNvPicPr>
            <a:picLocks noChangeAspect="1"/>
          </p:cNvPicPr>
          <p:nvPr/>
        </p:nvPicPr>
        <p:blipFill>
          <a:blip r:embed="rId2"/>
          <a:stretch>
            <a:fillRect/>
          </a:stretch>
        </p:blipFill>
        <p:spPr>
          <a:xfrm>
            <a:off x="611560" y="1844824"/>
            <a:ext cx="7912408" cy="2304256"/>
          </a:xfrm>
          <a:prstGeom prst="rect">
            <a:avLst/>
          </a:prstGeom>
        </p:spPr>
      </p:pic>
    </p:spTree>
    <p:extLst>
      <p:ext uri="{BB962C8B-B14F-4D97-AF65-F5344CB8AC3E}">
        <p14:creationId xmlns:p14="http://schemas.microsoft.com/office/powerpoint/2010/main" val="2015021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D46F0B-E163-CDA4-4A27-B05A2D58544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CB79E67D-7FFA-93D5-ACEA-4A445E8220AA}"/>
              </a:ext>
            </a:extLst>
          </p:cNvPr>
          <p:cNvSpPr>
            <a:spLocks noGrp="1"/>
          </p:cNvSpPr>
          <p:nvPr>
            <p:ph idx="1"/>
          </p:nvPr>
        </p:nvSpPr>
        <p:spPr/>
        <p:txBody>
          <a:bodyPr/>
          <a:lstStyle/>
          <a:p>
            <a:endParaRPr lang="en-IN" dirty="0"/>
          </a:p>
        </p:txBody>
      </p:sp>
      <p:pic>
        <p:nvPicPr>
          <p:cNvPr id="5" name="Picture 4">
            <a:extLst>
              <a:ext uri="{FF2B5EF4-FFF2-40B4-BE49-F238E27FC236}">
                <a16:creationId xmlns="" xmlns:a16="http://schemas.microsoft.com/office/drawing/2014/main" id="{38AC93D0-241B-3D66-154A-2A09EE1D6B91}"/>
              </a:ext>
            </a:extLst>
          </p:cNvPr>
          <p:cNvPicPr>
            <a:picLocks noChangeAspect="1"/>
          </p:cNvPicPr>
          <p:nvPr/>
        </p:nvPicPr>
        <p:blipFill>
          <a:blip r:embed="rId2"/>
          <a:stretch>
            <a:fillRect/>
          </a:stretch>
        </p:blipFill>
        <p:spPr>
          <a:xfrm>
            <a:off x="899592" y="2373361"/>
            <a:ext cx="5976664" cy="2902131"/>
          </a:xfrm>
          <a:prstGeom prst="rect">
            <a:avLst/>
          </a:prstGeom>
        </p:spPr>
      </p:pic>
      <p:sp>
        <p:nvSpPr>
          <p:cNvPr id="7" name="TextBox 6">
            <a:extLst>
              <a:ext uri="{FF2B5EF4-FFF2-40B4-BE49-F238E27FC236}">
                <a16:creationId xmlns="" xmlns:a16="http://schemas.microsoft.com/office/drawing/2014/main" id="{38E4F095-FC2D-744D-37E9-CE6CD039E470}"/>
              </a:ext>
            </a:extLst>
          </p:cNvPr>
          <p:cNvSpPr txBox="1"/>
          <p:nvPr/>
        </p:nvSpPr>
        <p:spPr>
          <a:xfrm>
            <a:off x="768096" y="5275492"/>
            <a:ext cx="7290054" cy="646331"/>
          </a:xfrm>
          <a:prstGeom prst="rect">
            <a:avLst/>
          </a:prstGeom>
          <a:noFill/>
        </p:spPr>
        <p:txBody>
          <a:bodyPr wrap="square">
            <a:spAutoFit/>
          </a:bodyPr>
          <a:lstStyle/>
          <a:p>
            <a:r>
              <a:rPr lang="en-US"/>
              <a:t>where R(k, l ) represents the real part of the spectrum and I(k, l) represents the imaginary part</a:t>
            </a:r>
            <a:endParaRPr lang="en-IN" dirty="0"/>
          </a:p>
        </p:txBody>
      </p:sp>
    </p:spTree>
    <p:extLst>
      <p:ext uri="{BB962C8B-B14F-4D97-AF65-F5344CB8AC3E}">
        <p14:creationId xmlns:p14="http://schemas.microsoft.com/office/powerpoint/2010/main" val="3894727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Twiddle factor</a:t>
            </a:r>
            <a:endParaRPr lang="en-IN" dirty="0"/>
          </a:p>
        </p:txBody>
      </p:sp>
      <p:sp>
        <p:nvSpPr>
          <p:cNvPr id="3" name="Content Placeholder 2"/>
          <p:cNvSpPr>
            <a:spLocks noGrp="1"/>
          </p:cNvSpPr>
          <p:nvPr>
            <p:ph idx="1"/>
          </p:nvPr>
        </p:nvSpPr>
        <p:spPr/>
        <p:txBody>
          <a:bodyPr/>
          <a:lstStyle/>
          <a:p>
            <a:endParaRPr lang="en-IN"/>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186" y="1641854"/>
            <a:ext cx="7531190" cy="519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066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Twiddle factor</a:t>
            </a:r>
            <a:endParaRPr lang="en-IN" dirty="0"/>
          </a:p>
        </p:txBody>
      </p:sp>
      <p:sp>
        <p:nvSpPr>
          <p:cNvPr id="3" name="Content Placeholder 2"/>
          <p:cNvSpPr>
            <a:spLocks noGrp="1"/>
          </p:cNvSpPr>
          <p:nvPr>
            <p:ph idx="1"/>
          </p:nvPr>
        </p:nvSpPr>
        <p:spPr/>
        <p:txBody>
          <a:bodyPr/>
          <a:lstStyle/>
          <a:p>
            <a:endParaRPr lang="en-IN"/>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2370"/>
            <a:ext cx="9211083"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7987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Twiddle Factor</a:t>
            </a:r>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7762" t="64365" r="58063" b="28033"/>
          <a:stretch/>
        </p:blipFill>
        <p:spPr bwMode="auto">
          <a:xfrm>
            <a:off x="1048239" y="2411906"/>
            <a:ext cx="7047519" cy="88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9665" t="43175" r="27165" b="46592"/>
          <a:stretch/>
        </p:blipFill>
        <p:spPr bwMode="auto">
          <a:xfrm rot="152792">
            <a:off x="1932669" y="3337850"/>
            <a:ext cx="6048672" cy="104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Grp="1" noChangeAspect="1" noChangeArrowheads="1"/>
          </p:cNvPicPr>
          <p:nvPr/>
        </p:nvPicPr>
        <p:blipFill rotWithShape="1">
          <a:blip r:embed="rId2">
            <a:extLst>
              <a:ext uri="{28A0092B-C50C-407E-A947-70E740481C1C}">
                <a14:useLocalDpi xmlns:a14="http://schemas.microsoft.com/office/drawing/2010/main" val="0"/>
              </a:ext>
            </a:extLst>
          </a:blip>
          <a:srcRect l="7762" t="72734" r="58063" b="17716"/>
          <a:stretch/>
        </p:blipFill>
        <p:spPr bwMode="auto">
          <a:xfrm>
            <a:off x="1146521" y="4248084"/>
            <a:ext cx="6871891"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39409" t="53228" r="27420" b="36539"/>
          <a:stretch/>
        </p:blipFill>
        <p:spPr bwMode="auto">
          <a:xfrm rot="184509">
            <a:off x="1663210" y="5318679"/>
            <a:ext cx="6048672" cy="1049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7223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p:txBody>
          <a:bodyPr/>
          <a:lstStyle/>
          <a:p>
            <a:pPr algn="l" eaLnBrk="1" hangingPunct="1"/>
            <a:r>
              <a:rPr lang="en-US" altLang="en-US">
                <a:solidFill>
                  <a:schemeClr val="tx1"/>
                </a:solidFill>
              </a:rPr>
              <a:t>DFT:</a:t>
            </a:r>
          </a:p>
        </p:txBody>
      </p:sp>
      <p:sp>
        <p:nvSpPr>
          <p:cNvPr id="12291" name="Rectangle 10"/>
          <p:cNvSpPr>
            <a:spLocks noGrp="1" noChangeArrowheads="1"/>
          </p:cNvSpPr>
          <p:nvPr>
            <p:ph type="body" sz="half" idx="1"/>
          </p:nvPr>
        </p:nvSpPr>
        <p:spPr>
          <a:xfrm>
            <a:off x="457200" y="1600200"/>
            <a:ext cx="9296400" cy="4525963"/>
          </a:xfrm>
        </p:spPr>
        <p:txBody>
          <a:bodyPr/>
          <a:lstStyle/>
          <a:p>
            <a:pPr eaLnBrk="1" hangingPunct="1">
              <a:buFontTx/>
              <a:buNone/>
            </a:pPr>
            <a:r>
              <a:rPr lang="en-US" altLang="en-US" sz="2800"/>
              <a:t>For  N  of length 4,range of n, k = [0 1 2 3] each.</a:t>
            </a:r>
          </a:p>
          <a:p>
            <a:pPr eaLnBrk="1" hangingPunct="1">
              <a:buFontTx/>
              <a:buNone/>
            </a:pPr>
            <a:r>
              <a:rPr lang="en-US" altLang="en-US" sz="2400"/>
              <a:t>Hence</a:t>
            </a:r>
            <a:r>
              <a:rPr lang="en-US" altLang="en-US" sz="2800"/>
              <a:t> </a:t>
            </a:r>
            <a:r>
              <a:rPr lang="en-US" altLang="en-US" sz="2400"/>
              <a:t>X(n) = x(0)W</a:t>
            </a:r>
            <a:r>
              <a:rPr lang="en-US" altLang="en-US" sz="2400" baseline="-25000"/>
              <a:t>N</a:t>
            </a:r>
            <a:r>
              <a:rPr lang="en-US" altLang="en-US" sz="2400" baseline="30000"/>
              <a:t>n.0</a:t>
            </a:r>
            <a:r>
              <a:rPr lang="en-US" altLang="en-US" sz="2400"/>
              <a:t>+x(1)W</a:t>
            </a:r>
            <a:r>
              <a:rPr lang="en-US" altLang="en-US" sz="2400" baseline="-25000"/>
              <a:t>N</a:t>
            </a:r>
            <a:r>
              <a:rPr lang="en-US" altLang="en-US" sz="2400" baseline="30000"/>
              <a:t>n.1</a:t>
            </a:r>
            <a:r>
              <a:rPr lang="en-US" altLang="en-US" sz="2400"/>
              <a:t>+x(2)W</a:t>
            </a:r>
            <a:r>
              <a:rPr lang="en-US" altLang="en-US" sz="2400" baseline="-25000"/>
              <a:t>N</a:t>
            </a:r>
            <a:r>
              <a:rPr lang="en-US" altLang="en-US" sz="2400" baseline="30000"/>
              <a:t>n.2 </a:t>
            </a:r>
            <a:r>
              <a:rPr lang="en-US" altLang="en-US" sz="2400"/>
              <a:t>+</a:t>
            </a:r>
            <a:r>
              <a:rPr lang="en-US" altLang="en-US" sz="2400" baseline="30000"/>
              <a:t> </a:t>
            </a:r>
            <a:r>
              <a:rPr lang="en-US" altLang="en-US" sz="2400"/>
              <a:t>x(3)W</a:t>
            </a:r>
            <a:r>
              <a:rPr lang="en-US" altLang="en-US" sz="2400" baseline="-25000"/>
              <a:t>N</a:t>
            </a:r>
            <a:r>
              <a:rPr lang="en-US" altLang="en-US" sz="2400" baseline="30000"/>
              <a:t>n.3</a:t>
            </a:r>
            <a:endParaRPr lang="en-US" altLang="en-US" sz="2400"/>
          </a:p>
          <a:p>
            <a:pPr eaLnBrk="1" hangingPunct="1">
              <a:buFontTx/>
              <a:buNone/>
            </a:pPr>
            <a:endParaRPr lang="en-US" altLang="en-US" sz="2800"/>
          </a:p>
          <a:p>
            <a:pPr eaLnBrk="1" hangingPunct="1">
              <a:buFontTx/>
              <a:buNone/>
            </a:pPr>
            <a:endParaRPr lang="en-US" altLang="en-US" sz="2800"/>
          </a:p>
        </p:txBody>
      </p:sp>
      <p:graphicFrame>
        <p:nvGraphicFramePr>
          <p:cNvPr id="55372" name="Group 76"/>
          <p:cNvGraphicFramePr>
            <a:graphicFrameLocks noGrp="1"/>
          </p:cNvGraphicFramePr>
          <p:nvPr>
            <p:ph sz="half" idx="2"/>
          </p:nvPr>
        </p:nvGraphicFramePr>
        <p:xfrm>
          <a:off x="914400" y="3048000"/>
          <a:ext cx="7772400" cy="3200402"/>
        </p:xfrm>
        <a:graphic>
          <a:graphicData uri="http://schemas.openxmlformats.org/drawingml/2006/table">
            <a:tbl>
              <a:tblPr/>
              <a:tblGrid>
                <a:gridCol w="1295400">
                  <a:extLst>
                    <a:ext uri="{9D8B030D-6E8A-4147-A177-3AD203B41FA5}">
                      <a16:colId xmlns="" xmlns:a16="http://schemas.microsoft.com/office/drawing/2014/main" val="20000"/>
                    </a:ext>
                  </a:extLst>
                </a:gridCol>
                <a:gridCol w="1295400">
                  <a:extLst>
                    <a:ext uri="{9D8B030D-6E8A-4147-A177-3AD203B41FA5}">
                      <a16:colId xmlns="" xmlns:a16="http://schemas.microsoft.com/office/drawing/2014/main" val="20001"/>
                    </a:ext>
                  </a:extLst>
                </a:gridCol>
                <a:gridCol w="1295400">
                  <a:extLst>
                    <a:ext uri="{9D8B030D-6E8A-4147-A177-3AD203B41FA5}">
                      <a16:colId xmlns="" xmlns:a16="http://schemas.microsoft.com/office/drawing/2014/main" val="20002"/>
                    </a:ext>
                  </a:extLst>
                </a:gridCol>
                <a:gridCol w="1295400">
                  <a:extLst>
                    <a:ext uri="{9D8B030D-6E8A-4147-A177-3AD203B41FA5}">
                      <a16:colId xmlns="" xmlns:a16="http://schemas.microsoft.com/office/drawing/2014/main" val="20003"/>
                    </a:ext>
                  </a:extLst>
                </a:gridCol>
                <a:gridCol w="1295400">
                  <a:extLst>
                    <a:ext uri="{9D8B030D-6E8A-4147-A177-3AD203B41FA5}">
                      <a16:colId xmlns="" xmlns:a16="http://schemas.microsoft.com/office/drawing/2014/main" val="20004"/>
                    </a:ext>
                  </a:extLst>
                </a:gridCol>
                <a:gridCol w="1295400">
                  <a:extLst>
                    <a:ext uri="{9D8B030D-6E8A-4147-A177-3AD203B41FA5}">
                      <a16:colId xmlns="" xmlns:a16="http://schemas.microsoft.com/office/drawing/2014/main" val="20005"/>
                    </a:ext>
                  </a:extLst>
                </a:gridCol>
              </a:tblGrid>
              <a:tr h="639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0"/>
                  </a:ext>
                </a:extLst>
              </a:tr>
              <a:tr h="639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2"/>
                  </a:ext>
                </a:extLst>
              </a:tr>
              <a:tr h="639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3"/>
                  </a:ext>
                </a:extLst>
              </a:tr>
              <a:tr h="639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4"/>
                  </a:ext>
                </a:extLst>
              </a:tr>
            </a:tbl>
          </a:graphicData>
        </a:graphic>
      </p:graphicFrame>
      <p:graphicFrame>
        <p:nvGraphicFramePr>
          <p:cNvPr id="12292" name="Object 4"/>
          <p:cNvGraphicFramePr>
            <a:graphicFrameLocks noGrp="1" noChangeAspect="1"/>
          </p:cNvGraphicFramePr>
          <p:nvPr>
            <p:ph idx="4294967295"/>
          </p:nvPr>
        </p:nvGraphicFramePr>
        <p:xfrm>
          <a:off x="5411788" y="0"/>
          <a:ext cx="3732212" cy="1389063"/>
        </p:xfrm>
        <a:graphic>
          <a:graphicData uri="http://schemas.openxmlformats.org/presentationml/2006/ole">
            <mc:AlternateContent xmlns:mc="http://schemas.openxmlformats.org/markup-compatibility/2006">
              <mc:Choice xmlns:v="urn:schemas-microsoft-com:vml" Requires="v">
                <p:oleObj spid="_x0000_s1027" name="Mathcad" r:id="rId4" imgW="1714500" imgH="638175" progId="Mathcad">
                  <p:embed/>
                </p:oleObj>
              </mc:Choice>
              <mc:Fallback>
                <p:oleObj name="Mathcad" r:id="rId4" imgW="1714500" imgH="638175" progId="Mathca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1788" y="0"/>
                        <a:ext cx="3732212" cy="1389063"/>
                      </a:xfrm>
                      <a:prstGeom prst="rect">
                        <a:avLst/>
                      </a:prstGeom>
                      <a:solidFill>
                        <a:schemeClr val="bg1"/>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30746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z="2800"/>
              <a:t>		</a:t>
            </a:r>
            <a:endParaRPr lang="en-US" altLang="en-US" sz="2800" baseline="30000"/>
          </a:p>
        </p:txBody>
      </p:sp>
      <p:graphicFrame>
        <p:nvGraphicFramePr>
          <p:cNvPr id="61675" name="Group 235"/>
          <p:cNvGraphicFramePr>
            <a:graphicFrameLocks noGrp="1"/>
          </p:cNvGraphicFramePr>
          <p:nvPr>
            <p:ph sz="quarter" idx="1"/>
          </p:nvPr>
        </p:nvGraphicFramePr>
        <p:xfrm>
          <a:off x="457200" y="304800"/>
          <a:ext cx="7620000" cy="2670174"/>
        </p:xfrm>
        <a:graphic>
          <a:graphicData uri="http://schemas.openxmlformats.org/drawingml/2006/table">
            <a:tbl>
              <a:tblPr/>
              <a:tblGrid>
                <a:gridCol w="1270000">
                  <a:extLst>
                    <a:ext uri="{9D8B030D-6E8A-4147-A177-3AD203B41FA5}">
                      <a16:colId xmlns="" xmlns:a16="http://schemas.microsoft.com/office/drawing/2014/main" val="20000"/>
                    </a:ext>
                  </a:extLst>
                </a:gridCol>
                <a:gridCol w="1270000">
                  <a:extLst>
                    <a:ext uri="{9D8B030D-6E8A-4147-A177-3AD203B41FA5}">
                      <a16:colId xmlns="" xmlns:a16="http://schemas.microsoft.com/office/drawing/2014/main" val="20001"/>
                    </a:ext>
                  </a:extLst>
                </a:gridCol>
                <a:gridCol w="1270000">
                  <a:extLst>
                    <a:ext uri="{9D8B030D-6E8A-4147-A177-3AD203B41FA5}">
                      <a16:colId xmlns="" xmlns:a16="http://schemas.microsoft.com/office/drawing/2014/main" val="20002"/>
                    </a:ext>
                  </a:extLst>
                </a:gridCol>
                <a:gridCol w="1270000">
                  <a:extLst>
                    <a:ext uri="{9D8B030D-6E8A-4147-A177-3AD203B41FA5}">
                      <a16:colId xmlns="" xmlns:a16="http://schemas.microsoft.com/office/drawing/2014/main" val="20003"/>
                    </a:ext>
                  </a:extLst>
                </a:gridCol>
                <a:gridCol w="1270000">
                  <a:extLst>
                    <a:ext uri="{9D8B030D-6E8A-4147-A177-3AD203B41FA5}">
                      <a16:colId xmlns="" xmlns:a16="http://schemas.microsoft.com/office/drawing/2014/main" val="20004"/>
                    </a:ext>
                  </a:extLst>
                </a:gridCol>
                <a:gridCol w="1270000">
                  <a:extLst>
                    <a:ext uri="{9D8B030D-6E8A-4147-A177-3AD203B41FA5}">
                      <a16:colId xmlns="" xmlns:a16="http://schemas.microsoft.com/office/drawing/2014/main" val="20005"/>
                    </a:ext>
                  </a:extLst>
                </a:gridCol>
              </a:tblGrid>
              <a:tr h="51828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0"/>
                  </a:ext>
                </a:extLst>
              </a:tr>
              <a:tr h="51828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0x0</a:t>
                      </a:r>
                      <a:endParaRPr kumimoji="0" lang="en-US" sz="2800" b="0" i="0" u="none" strike="noStrike" cap="none" normalizeH="0" baseline="0">
                        <a:ln>
                          <a:noFill/>
                        </a:ln>
                        <a:solidFill>
                          <a:schemeClr val="tx1"/>
                        </a:solidFill>
                        <a:effectLst/>
                        <a:latin typeface="Arial"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0x3</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r h="51828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1x3</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2"/>
                  </a:ext>
                </a:extLst>
              </a:tr>
              <a:tr h="51828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2x3</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3"/>
                  </a:ext>
                </a:extLst>
              </a:tr>
              <a:tr h="59704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3x3</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4"/>
                  </a:ext>
                </a:extLst>
              </a:tr>
            </a:tbl>
          </a:graphicData>
        </a:graphic>
      </p:graphicFrame>
      <p:graphicFrame>
        <p:nvGraphicFramePr>
          <p:cNvPr id="61678" name="Group 238"/>
          <p:cNvGraphicFramePr>
            <a:graphicFrameLocks noGrp="1"/>
          </p:cNvGraphicFramePr>
          <p:nvPr>
            <p:ph sz="quarter" idx="2"/>
            <p:extLst>
              <p:ext uri="{D42A27DB-BD31-4B8C-83A1-F6EECF244321}">
                <p14:modId xmlns:p14="http://schemas.microsoft.com/office/powerpoint/2010/main" val="2140463653"/>
              </p:ext>
            </p:extLst>
          </p:nvPr>
        </p:nvGraphicFramePr>
        <p:xfrm>
          <a:off x="609600" y="3810000"/>
          <a:ext cx="7467600" cy="3054405"/>
        </p:xfrm>
        <a:graphic>
          <a:graphicData uri="http://schemas.openxmlformats.org/drawingml/2006/table">
            <a:tbl>
              <a:tblPr/>
              <a:tblGrid>
                <a:gridCol w="1244600">
                  <a:extLst>
                    <a:ext uri="{9D8B030D-6E8A-4147-A177-3AD203B41FA5}">
                      <a16:colId xmlns="" xmlns:a16="http://schemas.microsoft.com/office/drawing/2014/main" val="20000"/>
                    </a:ext>
                  </a:extLst>
                </a:gridCol>
                <a:gridCol w="1244600">
                  <a:extLst>
                    <a:ext uri="{9D8B030D-6E8A-4147-A177-3AD203B41FA5}">
                      <a16:colId xmlns="" xmlns:a16="http://schemas.microsoft.com/office/drawing/2014/main" val="20001"/>
                    </a:ext>
                  </a:extLst>
                </a:gridCol>
                <a:gridCol w="1244600">
                  <a:extLst>
                    <a:ext uri="{9D8B030D-6E8A-4147-A177-3AD203B41FA5}">
                      <a16:colId xmlns="" xmlns:a16="http://schemas.microsoft.com/office/drawing/2014/main" val="20002"/>
                    </a:ext>
                  </a:extLst>
                </a:gridCol>
                <a:gridCol w="1244600">
                  <a:extLst>
                    <a:ext uri="{9D8B030D-6E8A-4147-A177-3AD203B41FA5}">
                      <a16:colId xmlns="" xmlns:a16="http://schemas.microsoft.com/office/drawing/2014/main" val="20003"/>
                    </a:ext>
                  </a:extLst>
                </a:gridCol>
                <a:gridCol w="1244600">
                  <a:extLst>
                    <a:ext uri="{9D8B030D-6E8A-4147-A177-3AD203B41FA5}">
                      <a16:colId xmlns="" xmlns:a16="http://schemas.microsoft.com/office/drawing/2014/main" val="20004"/>
                    </a:ext>
                  </a:extLst>
                </a:gridCol>
                <a:gridCol w="1244600">
                  <a:extLst>
                    <a:ext uri="{9D8B030D-6E8A-4147-A177-3AD203B41FA5}">
                      <a16:colId xmlns="" xmlns:a16="http://schemas.microsoft.com/office/drawing/2014/main" val="20005"/>
                    </a:ext>
                  </a:extLst>
                </a:gridCol>
              </a:tblGrid>
              <a:tr h="5181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0"/>
                  </a:ext>
                </a:extLst>
              </a:tr>
              <a:tr h="62379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X(0)</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endParaRPr kumimoji="0" lang="en-US" sz="28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W</a:t>
                      </a:r>
                      <a:r>
                        <a:rPr kumimoji="0" lang="en-US" sz="2800" b="0" i="0" u="none" strike="noStrike" cap="none" normalizeH="0" baseline="-25000" dirty="0">
                          <a:ln>
                            <a:noFill/>
                          </a:ln>
                          <a:solidFill>
                            <a:schemeClr val="tx1"/>
                          </a:solidFill>
                          <a:effectLst/>
                          <a:latin typeface="Arial" charset="0"/>
                        </a:rPr>
                        <a:t>4</a:t>
                      </a:r>
                      <a:r>
                        <a:rPr kumimoji="0" lang="en-US" sz="2800" b="0" i="0" u="none" strike="noStrike" cap="none" normalizeH="0" baseline="30000" dirty="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r h="5181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2"/>
                  </a:ext>
                </a:extLst>
              </a:tr>
              <a:tr h="5181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W</a:t>
                      </a:r>
                      <a:r>
                        <a:rPr kumimoji="0" lang="en-US" sz="2800" b="0" i="0" u="none" strike="noStrike" cap="none" normalizeH="0" baseline="-25000" dirty="0">
                          <a:ln>
                            <a:noFill/>
                          </a:ln>
                          <a:solidFill>
                            <a:schemeClr val="tx1"/>
                          </a:solidFill>
                          <a:effectLst/>
                          <a:latin typeface="Arial" charset="0"/>
                        </a:rPr>
                        <a:t>4</a:t>
                      </a:r>
                      <a:r>
                        <a:rPr kumimoji="0" lang="en-US" sz="2800" b="0" i="0" u="none" strike="noStrike" cap="none" normalizeH="0" baseline="30000" dirty="0">
                          <a:ln>
                            <a:noFill/>
                          </a:ln>
                          <a:solidFill>
                            <a:schemeClr val="tx1"/>
                          </a:solidFill>
                          <a:effectLst/>
                          <a:latin typeface="Arial" charset="0"/>
                        </a:rPr>
                        <a:t>6</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3"/>
                  </a:ext>
                </a:extLst>
              </a:tr>
              <a:tr h="8761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X(3)</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a:t>
                      </a:r>
                      <a:r>
                        <a:rPr kumimoji="0" lang="en-US" sz="2800" b="0" i="0" u="none" strike="noStrike" cap="none" normalizeH="0" baseline="-25000">
                          <a:ln>
                            <a:noFill/>
                          </a:ln>
                          <a:solidFill>
                            <a:schemeClr val="tx1"/>
                          </a:solidFill>
                          <a:effectLst/>
                          <a:latin typeface="Arial" charset="0"/>
                        </a:rPr>
                        <a:t>4</a:t>
                      </a:r>
                      <a:r>
                        <a:rPr kumimoji="0" lang="en-US" sz="2800" b="0" i="0" u="none" strike="noStrike" cap="none" normalizeH="0" baseline="30000">
                          <a:ln>
                            <a:noFill/>
                          </a:ln>
                          <a:solidFill>
                            <a:schemeClr val="tx1"/>
                          </a:solidFill>
                          <a:effectLst/>
                          <a:latin typeface="Arial" charset="0"/>
                        </a:rPr>
                        <a:t>6</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W</a:t>
                      </a:r>
                      <a:r>
                        <a:rPr kumimoji="0" lang="en-US" sz="2800" b="0" i="0" u="none" strike="noStrike" cap="none" normalizeH="0" baseline="-25000" dirty="0">
                          <a:ln>
                            <a:noFill/>
                          </a:ln>
                          <a:solidFill>
                            <a:schemeClr val="tx1"/>
                          </a:solidFill>
                          <a:effectLst/>
                          <a:latin typeface="Arial" charset="0"/>
                        </a:rPr>
                        <a:t>4</a:t>
                      </a:r>
                      <a:r>
                        <a:rPr kumimoji="0" lang="en-US" sz="2800" b="0" i="0" u="none" strike="noStrike" cap="none" normalizeH="0" baseline="30000" dirty="0">
                          <a:ln>
                            <a:noFill/>
                          </a:ln>
                          <a:solidFill>
                            <a:schemeClr val="tx1"/>
                          </a:solidFill>
                          <a:effectLst/>
                          <a:latin typeface="Arial" charset="0"/>
                        </a:rPr>
                        <a:t>9</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4"/>
                  </a:ext>
                </a:extLst>
              </a:tr>
            </a:tbl>
          </a:graphicData>
        </a:graphic>
      </p:graphicFrame>
      <p:sp>
        <p:nvSpPr>
          <p:cNvPr id="13403" name="Text Box 232"/>
          <p:cNvSpPr txBox="1">
            <a:spLocks noChangeArrowheads="1"/>
          </p:cNvSpPr>
          <p:nvPr/>
        </p:nvSpPr>
        <p:spPr bwMode="auto">
          <a:xfrm>
            <a:off x="593725" y="3160713"/>
            <a:ext cx="236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t>Can be rewritten as:</a:t>
            </a:r>
          </a:p>
        </p:txBody>
      </p:sp>
    </p:spTree>
    <p:extLst>
      <p:ext uri="{BB962C8B-B14F-4D97-AF65-F5344CB8AC3E}">
        <p14:creationId xmlns:p14="http://schemas.microsoft.com/office/powerpoint/2010/main" val="2820038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28B038F8-5519-C53A-83D8-5A581C45347E}"/>
              </a:ext>
            </a:extLst>
          </p:cNvPr>
          <p:cNvSpPr>
            <a:spLocks noGrp="1"/>
          </p:cNvSpPr>
          <p:nvPr>
            <p:ph type="title"/>
          </p:nvPr>
        </p:nvSpPr>
        <p:spPr/>
        <p:txBody>
          <a:bodyPr/>
          <a:lstStyle/>
          <a:p>
            <a:r>
              <a:rPr lang="en-US" dirty="0"/>
              <a:t>Cyclic property of twiddle factors</a:t>
            </a:r>
            <a:endParaRPr lang="en-IN" dirty="0"/>
          </a:p>
        </p:txBody>
      </p:sp>
      <p:sp>
        <p:nvSpPr>
          <p:cNvPr id="7" name="Content Placeholder 6">
            <a:extLst>
              <a:ext uri="{FF2B5EF4-FFF2-40B4-BE49-F238E27FC236}">
                <a16:creationId xmlns="" xmlns:a16="http://schemas.microsoft.com/office/drawing/2014/main" id="{4AE16BCC-2043-93FA-857E-03D0464411D4}"/>
              </a:ext>
            </a:extLst>
          </p:cNvPr>
          <p:cNvSpPr>
            <a:spLocks noGrp="1"/>
          </p:cNvSpPr>
          <p:nvPr>
            <p:ph idx="1"/>
          </p:nvPr>
        </p:nvSpPr>
        <p:spPr>
          <a:xfrm>
            <a:off x="611560" y="1700808"/>
            <a:ext cx="7290055" cy="4023360"/>
          </a:xfrm>
        </p:spPr>
        <p:txBody>
          <a:bodyPr/>
          <a:lstStyle/>
          <a:p>
            <a:r>
              <a:rPr lang="en-US" b="0" i="0" dirty="0">
                <a:solidFill>
                  <a:srgbClr val="001D35"/>
                </a:solidFill>
                <a:effectLst/>
                <a:latin typeface="Google Sans"/>
              </a:rPr>
              <a:t>The "cyclic property" of twiddle factors means that their values repeat periodically, meaning that the sequence of twiddle factors for a given FFT size will repeat after a certain number of cycles, which is equal to the size of the DFT (N) itself; essentially, the values "wrap around" and start repeating again, allowing for efficient computation in FFT algorithms by reusing calculated values. </a:t>
            </a:r>
            <a:endParaRPr lang="en-IN" dirty="0"/>
          </a:p>
        </p:txBody>
      </p:sp>
      <p:pic>
        <p:nvPicPr>
          <p:cNvPr id="9" name="Picture 8">
            <a:extLst>
              <a:ext uri="{FF2B5EF4-FFF2-40B4-BE49-F238E27FC236}">
                <a16:creationId xmlns="" xmlns:a16="http://schemas.microsoft.com/office/drawing/2014/main" id="{D79F74A3-27CF-F6DD-1357-D828EE3D8C63}"/>
              </a:ext>
            </a:extLst>
          </p:cNvPr>
          <p:cNvPicPr>
            <a:picLocks noChangeAspect="1"/>
          </p:cNvPicPr>
          <p:nvPr/>
        </p:nvPicPr>
        <p:blipFill>
          <a:blip r:embed="rId3"/>
          <a:stretch>
            <a:fillRect/>
          </a:stretch>
        </p:blipFill>
        <p:spPr>
          <a:xfrm>
            <a:off x="1916499" y="3429000"/>
            <a:ext cx="5311001" cy="3173099"/>
          </a:xfrm>
          <a:prstGeom prst="rect">
            <a:avLst/>
          </a:prstGeom>
        </p:spPr>
      </p:pic>
    </p:spTree>
    <p:extLst>
      <p:ext uri="{BB962C8B-B14F-4D97-AF65-F5344CB8AC3E}">
        <p14:creationId xmlns:p14="http://schemas.microsoft.com/office/powerpoint/2010/main" val="3270652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C8B22C-7C68-B551-4993-E35E09FC882A}"/>
              </a:ext>
            </a:extLst>
          </p:cNvPr>
          <p:cNvSpPr>
            <a:spLocks noGrp="1"/>
          </p:cNvSpPr>
          <p:nvPr>
            <p:ph type="title"/>
          </p:nvPr>
        </p:nvSpPr>
        <p:spPr/>
        <p:txBody>
          <a:bodyPr/>
          <a:lstStyle/>
          <a:p>
            <a:endParaRPr lang="en-IN"/>
          </a:p>
        </p:txBody>
      </p:sp>
      <p:pic>
        <p:nvPicPr>
          <p:cNvPr id="2050" name="Picture 2">
            <a:extLst>
              <a:ext uri="{FF2B5EF4-FFF2-40B4-BE49-F238E27FC236}">
                <a16:creationId xmlns="" xmlns:a16="http://schemas.microsoft.com/office/drawing/2014/main" id="{269805B1-50E5-71FF-195A-333000F4D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96" y="188640"/>
            <a:ext cx="6889948" cy="34449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BB3E810A-AC72-67C9-295B-5B89DE932F4F}"/>
              </a:ext>
            </a:extLst>
          </p:cNvPr>
          <p:cNvSpPr txBox="1"/>
          <p:nvPr/>
        </p:nvSpPr>
        <p:spPr>
          <a:xfrm>
            <a:off x="750644" y="3668403"/>
            <a:ext cx="6907399" cy="369332"/>
          </a:xfrm>
          <a:prstGeom prst="rect">
            <a:avLst/>
          </a:prstGeom>
          <a:noFill/>
        </p:spPr>
        <p:txBody>
          <a:bodyPr wrap="square">
            <a:spAutoFit/>
          </a:bodyPr>
          <a:lstStyle/>
          <a:p>
            <a:r>
              <a:rPr lang="en-US" dirty="0"/>
              <a:t>Compute the DFT of the four-point sequence x(n)={0,1,2,3</a:t>
            </a:r>
            <a:r>
              <a:rPr lang="en-IN" dirty="0"/>
              <a:t>}</a:t>
            </a:r>
            <a:endParaRPr lang="en-US" dirty="0"/>
          </a:p>
        </p:txBody>
      </p:sp>
      <p:pic>
        <p:nvPicPr>
          <p:cNvPr id="7" name="Picture 6">
            <a:extLst>
              <a:ext uri="{FF2B5EF4-FFF2-40B4-BE49-F238E27FC236}">
                <a16:creationId xmlns="" xmlns:a16="http://schemas.microsoft.com/office/drawing/2014/main" id="{731CF5E8-993C-6F4B-E2CF-442981DF8971}"/>
              </a:ext>
            </a:extLst>
          </p:cNvPr>
          <p:cNvPicPr>
            <a:picLocks noChangeAspect="1"/>
          </p:cNvPicPr>
          <p:nvPr/>
        </p:nvPicPr>
        <p:blipFill>
          <a:blip r:embed="rId3"/>
          <a:stretch>
            <a:fillRect/>
          </a:stretch>
        </p:blipFill>
        <p:spPr>
          <a:xfrm>
            <a:off x="490618" y="4107422"/>
            <a:ext cx="4067743" cy="1076475"/>
          </a:xfrm>
          <a:prstGeom prst="rect">
            <a:avLst/>
          </a:prstGeom>
        </p:spPr>
      </p:pic>
      <p:pic>
        <p:nvPicPr>
          <p:cNvPr id="9" name="Picture 8">
            <a:extLst>
              <a:ext uri="{FF2B5EF4-FFF2-40B4-BE49-F238E27FC236}">
                <a16:creationId xmlns="" xmlns:a16="http://schemas.microsoft.com/office/drawing/2014/main" id="{CAFE1850-9CD2-4681-DBE0-FC872A447828}"/>
              </a:ext>
            </a:extLst>
          </p:cNvPr>
          <p:cNvPicPr>
            <a:picLocks noChangeAspect="1"/>
          </p:cNvPicPr>
          <p:nvPr/>
        </p:nvPicPr>
        <p:blipFill>
          <a:blip r:embed="rId4"/>
          <a:stretch>
            <a:fillRect/>
          </a:stretch>
        </p:blipFill>
        <p:spPr>
          <a:xfrm>
            <a:off x="4860032" y="4158897"/>
            <a:ext cx="1971950" cy="943107"/>
          </a:xfrm>
          <a:prstGeom prst="rect">
            <a:avLst/>
          </a:prstGeom>
        </p:spPr>
      </p:pic>
      <p:pic>
        <p:nvPicPr>
          <p:cNvPr id="11" name="Picture 10">
            <a:extLst>
              <a:ext uri="{FF2B5EF4-FFF2-40B4-BE49-F238E27FC236}">
                <a16:creationId xmlns="" xmlns:a16="http://schemas.microsoft.com/office/drawing/2014/main" id="{4B140D4C-DEDC-2B52-A32A-C94B436343C9}"/>
              </a:ext>
            </a:extLst>
          </p:cNvPr>
          <p:cNvPicPr>
            <a:picLocks noChangeAspect="1"/>
          </p:cNvPicPr>
          <p:nvPr/>
        </p:nvPicPr>
        <p:blipFill>
          <a:blip r:embed="rId5"/>
          <a:stretch>
            <a:fillRect/>
          </a:stretch>
        </p:blipFill>
        <p:spPr>
          <a:xfrm>
            <a:off x="3132631" y="5566127"/>
            <a:ext cx="2143424" cy="990738"/>
          </a:xfrm>
          <a:prstGeom prst="rect">
            <a:avLst/>
          </a:prstGeom>
        </p:spPr>
      </p:pic>
    </p:spTree>
    <p:extLst>
      <p:ext uri="{BB962C8B-B14F-4D97-AF65-F5344CB8AC3E}">
        <p14:creationId xmlns:p14="http://schemas.microsoft.com/office/powerpoint/2010/main" val="1900586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9"/>
          <p:cNvGraphicFramePr>
            <a:graphicFrameLocks noGrp="1" noChangeAspect="1"/>
          </p:cNvGraphicFramePr>
          <p:nvPr>
            <p:ph sz="half" idx="1"/>
          </p:nvPr>
        </p:nvGraphicFramePr>
        <p:xfrm>
          <a:off x="1525588" y="304800"/>
          <a:ext cx="5178425" cy="2238375"/>
        </p:xfrm>
        <a:graphic>
          <a:graphicData uri="http://schemas.openxmlformats.org/presentationml/2006/ole">
            <mc:AlternateContent xmlns:mc="http://schemas.openxmlformats.org/markup-compatibility/2006">
              <mc:Choice xmlns:v="urn:schemas-microsoft-com:vml" Requires="v">
                <p:oleObj spid="_x0000_s2053" name="Mathcad" r:id="rId4" imgW="1828800" imgH="790560" progId="Mathcad">
                  <p:embed/>
                </p:oleObj>
              </mc:Choice>
              <mc:Fallback>
                <p:oleObj name="Mathcad" r:id="rId4" imgW="1828800" imgH="790560" progId="Mathca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8" y="304800"/>
                        <a:ext cx="5178425" cy="2238375"/>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59" name="Object 6"/>
          <p:cNvGraphicFramePr>
            <a:graphicFrameLocks noGrp="1" noChangeAspect="1"/>
          </p:cNvGraphicFramePr>
          <p:nvPr>
            <p:ph sz="quarter" idx="2"/>
          </p:nvPr>
        </p:nvGraphicFramePr>
        <p:xfrm>
          <a:off x="5710238" y="2439988"/>
          <a:ext cx="1914525" cy="504825"/>
        </p:xfrm>
        <a:graphic>
          <a:graphicData uri="http://schemas.openxmlformats.org/presentationml/2006/ole">
            <mc:AlternateContent xmlns:mc="http://schemas.openxmlformats.org/markup-compatibility/2006">
              <mc:Choice xmlns:v="urn:schemas-microsoft-com:vml" Requires="v">
                <p:oleObj spid="_x0000_s2054" name="Mathcad" r:id="rId6" imgW="1914525" imgH="504825" progId="Mathcad">
                  <p:embed/>
                </p:oleObj>
              </mc:Choice>
              <mc:Fallback>
                <p:oleObj name="Mathcad" r:id="rId6" imgW="1914525" imgH="504825" progId="Mathca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0238" y="2439988"/>
                        <a:ext cx="1914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1" name="Object 14"/>
          <p:cNvGraphicFramePr>
            <a:graphicFrameLocks noGrp="1" noChangeAspect="1"/>
          </p:cNvGraphicFramePr>
          <p:nvPr>
            <p:ph sz="quarter" idx="3"/>
          </p:nvPr>
        </p:nvGraphicFramePr>
        <p:xfrm>
          <a:off x="1289050" y="4191000"/>
          <a:ext cx="5803900" cy="2209800"/>
        </p:xfrm>
        <a:graphic>
          <a:graphicData uri="http://schemas.openxmlformats.org/presentationml/2006/ole">
            <mc:AlternateContent xmlns:mc="http://schemas.openxmlformats.org/markup-compatibility/2006">
              <mc:Choice xmlns:v="urn:schemas-microsoft-com:vml" Requires="v">
                <p:oleObj spid="_x0000_s2055" name="Mathcad" r:id="rId8" imgW="2076450" imgH="790575" progId="Mathcad">
                  <p:embed/>
                </p:oleObj>
              </mc:Choice>
              <mc:Fallback>
                <p:oleObj name="Mathcad" r:id="rId8" imgW="2076450" imgH="790575" progId="Mathca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9050" y="4191000"/>
                        <a:ext cx="5803900" cy="2209800"/>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Text Box 10"/>
          <p:cNvSpPr txBox="1">
            <a:spLocks noChangeArrowheads="1"/>
          </p:cNvSpPr>
          <p:nvPr/>
        </p:nvSpPr>
        <p:spPr bwMode="auto">
          <a:xfrm>
            <a:off x="0" y="2895600"/>
            <a:ext cx="8839200" cy="925513"/>
          </a:xfrm>
          <a:prstGeom prst="rect">
            <a:avLst/>
          </a:prstGeom>
          <a:solidFill>
            <a:schemeClr val="bg1"/>
          </a:solidFill>
          <a:ln w="9525">
            <a:solidFill>
              <a:srgbClr val="CC0000"/>
            </a:solidFill>
            <a:miter lim="800000"/>
            <a:headEnd/>
            <a:tailEnd/>
          </a:ln>
        </p:spPr>
        <p:txBody>
          <a:bodyPr>
            <a:spAutoFit/>
          </a:bodyPr>
          <a:lstStyle>
            <a:lvl1pPr marL="57150" indent="-57150"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0"/>
              <a:t>The effective determinant of above is 1/4.  </a:t>
            </a:r>
          </a:p>
          <a:p>
            <a:pPr eaLnBrk="1" hangingPunct="1">
              <a:spcBef>
                <a:spcPct val="0"/>
              </a:spcBef>
              <a:buFontTx/>
              <a:buNone/>
            </a:pPr>
            <a:r>
              <a:rPr lang="en-US" altLang="en-US" sz="1800" b="0"/>
              <a:t>Conversion in system matrices of DFT and IDFT obtained by replacing  by j by –j.  </a:t>
            </a:r>
          </a:p>
          <a:p>
            <a:pPr eaLnBrk="1" hangingPunct="1">
              <a:spcBef>
                <a:spcPct val="0"/>
              </a:spcBef>
              <a:buFontTx/>
              <a:buNone/>
            </a:pPr>
            <a:r>
              <a:rPr lang="en-US" altLang="en-US" sz="1800" b="0"/>
              <a:t>Inversion of above matrix is:</a:t>
            </a:r>
          </a:p>
        </p:txBody>
      </p:sp>
      <p:sp>
        <p:nvSpPr>
          <p:cNvPr id="19462" name="Line 17"/>
          <p:cNvSpPr>
            <a:spLocks noChangeShapeType="1"/>
          </p:cNvSpPr>
          <p:nvPr/>
        </p:nvSpPr>
        <p:spPr bwMode="auto">
          <a:xfrm flipH="1">
            <a:off x="2819400" y="3124200"/>
            <a:ext cx="11430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3213462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454C4D5-BF93-D918-AE38-93B090BDB68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F649F00-DF37-8A61-7323-BF65CB9B6CA3}"/>
              </a:ext>
            </a:extLst>
          </p:cNvPr>
          <p:cNvSpPr>
            <a:spLocks noGrp="1"/>
          </p:cNvSpPr>
          <p:nvPr>
            <p:ph type="title"/>
          </p:nvPr>
        </p:nvSpPr>
        <p:spPr/>
        <p:txBody>
          <a:bodyPr/>
          <a:lstStyle/>
          <a:p>
            <a:r>
              <a:rPr lang="en-US" dirty="0"/>
              <a:t>Cyclic property of twiddle factors</a:t>
            </a:r>
            <a:endParaRPr lang="en-IN" dirty="0"/>
          </a:p>
        </p:txBody>
      </p:sp>
      <p:sp>
        <p:nvSpPr>
          <p:cNvPr id="5" name="TextBox 4">
            <a:extLst>
              <a:ext uri="{FF2B5EF4-FFF2-40B4-BE49-F238E27FC236}">
                <a16:creationId xmlns="" xmlns:a16="http://schemas.microsoft.com/office/drawing/2014/main" id="{4DB3F5C0-8A50-EABF-AB92-14309DF768A8}"/>
              </a:ext>
            </a:extLst>
          </p:cNvPr>
          <p:cNvSpPr txBox="1"/>
          <p:nvPr/>
        </p:nvSpPr>
        <p:spPr>
          <a:xfrm>
            <a:off x="1051827" y="2286000"/>
            <a:ext cx="4572000" cy="369332"/>
          </a:xfrm>
          <a:prstGeom prst="rect">
            <a:avLst/>
          </a:prstGeom>
          <a:noFill/>
        </p:spPr>
        <p:txBody>
          <a:bodyPr wrap="square">
            <a:spAutoFit/>
          </a:bodyPr>
          <a:lstStyle/>
          <a:p>
            <a:r>
              <a:rPr lang="en-IN" dirty="0"/>
              <a:t>For an 8-point DFT</a:t>
            </a:r>
          </a:p>
        </p:txBody>
      </p:sp>
      <p:pic>
        <p:nvPicPr>
          <p:cNvPr id="7" name="Picture 6">
            <a:extLst>
              <a:ext uri="{FF2B5EF4-FFF2-40B4-BE49-F238E27FC236}">
                <a16:creationId xmlns="" xmlns:a16="http://schemas.microsoft.com/office/drawing/2014/main" id="{16EF43CD-874D-0AF0-5C66-2557DBE482B8}"/>
              </a:ext>
            </a:extLst>
          </p:cNvPr>
          <p:cNvPicPr>
            <a:picLocks noChangeAspect="1"/>
          </p:cNvPicPr>
          <p:nvPr/>
        </p:nvPicPr>
        <p:blipFill>
          <a:blip r:embed="rId2"/>
          <a:stretch>
            <a:fillRect/>
          </a:stretch>
        </p:blipFill>
        <p:spPr>
          <a:xfrm>
            <a:off x="1051827" y="2677602"/>
            <a:ext cx="5382376" cy="762106"/>
          </a:xfrm>
          <a:prstGeom prst="rect">
            <a:avLst/>
          </a:prstGeom>
        </p:spPr>
      </p:pic>
      <p:pic>
        <p:nvPicPr>
          <p:cNvPr id="16" name="Picture 15">
            <a:extLst>
              <a:ext uri="{FF2B5EF4-FFF2-40B4-BE49-F238E27FC236}">
                <a16:creationId xmlns="" xmlns:a16="http://schemas.microsoft.com/office/drawing/2014/main" id="{1721A4D0-E8F4-1BD1-D460-60018D6650BD}"/>
              </a:ext>
            </a:extLst>
          </p:cNvPr>
          <p:cNvPicPr>
            <a:picLocks noChangeAspect="1"/>
          </p:cNvPicPr>
          <p:nvPr/>
        </p:nvPicPr>
        <p:blipFill>
          <a:blip r:embed="rId3"/>
          <a:stretch>
            <a:fillRect/>
          </a:stretch>
        </p:blipFill>
        <p:spPr>
          <a:xfrm>
            <a:off x="1988643" y="3864735"/>
            <a:ext cx="4420217" cy="215295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B352C2C2-35CF-6A92-D1A8-30BB59BE824D}"/>
                  </a:ext>
                </a:extLst>
              </p:cNvPr>
              <p:cNvSpPr txBox="1"/>
              <p:nvPr/>
            </p:nvSpPr>
            <p:spPr>
              <a:xfrm>
                <a:off x="5796136" y="4660524"/>
                <a:ext cx="405496" cy="2814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8</m:t>
                          </m:r>
                        </m:sup>
                      </m:sSubSup>
                    </m:oMath>
                  </m:oMathPara>
                </a14:m>
                <a:endParaRPr lang="en-IN" dirty="0"/>
              </a:p>
            </p:txBody>
          </p:sp>
        </mc:Choice>
        <mc:Fallback xmlns="">
          <p:sp>
            <p:nvSpPr>
              <p:cNvPr id="3" name="TextBox 2">
                <a:extLst>
                  <a:ext uri="{FF2B5EF4-FFF2-40B4-BE49-F238E27FC236}">
                    <a16:creationId xmlns:a16="http://schemas.microsoft.com/office/drawing/2014/main" id="{B352C2C2-35CF-6A92-D1A8-30BB59BE824D}"/>
                  </a:ext>
                </a:extLst>
              </p:cNvPr>
              <p:cNvSpPr txBox="1">
                <a:spLocks noRot="1" noChangeAspect="1" noMove="1" noResize="1" noEditPoints="1" noAdjustHandles="1" noChangeArrowheads="1" noChangeShapeType="1" noTextEdit="1"/>
              </p:cNvSpPr>
              <p:nvPr/>
            </p:nvSpPr>
            <p:spPr>
              <a:xfrm>
                <a:off x="5796136" y="4660524"/>
                <a:ext cx="405496" cy="281424"/>
              </a:xfrm>
              <a:prstGeom prst="rect">
                <a:avLst/>
              </a:prstGeom>
              <a:blipFill>
                <a:blip r:embed="rId4"/>
                <a:stretch>
                  <a:fillRect l="-13636" t="-2174" r="-3030"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 xmlns:a16="http://schemas.microsoft.com/office/drawing/2014/main" id="{6028B462-556E-ACD4-7BEE-3AD77CD1EC67}"/>
                  </a:ext>
                </a:extLst>
              </p:cNvPr>
              <p:cNvSpPr txBox="1"/>
              <p:nvPr/>
            </p:nvSpPr>
            <p:spPr>
              <a:xfrm>
                <a:off x="6485060" y="5085184"/>
                <a:ext cx="400686" cy="281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9</m:t>
                          </m:r>
                        </m:sup>
                      </m:sSubSup>
                    </m:oMath>
                  </m:oMathPara>
                </a14:m>
                <a:endParaRPr lang="en-IN" dirty="0"/>
              </a:p>
            </p:txBody>
          </p:sp>
        </mc:Choice>
        <mc:Fallback xmlns="">
          <p:sp>
            <p:nvSpPr>
              <p:cNvPr id="4" name="TextBox 3">
                <a:extLst>
                  <a:ext uri="{FF2B5EF4-FFF2-40B4-BE49-F238E27FC236}">
                    <a16:creationId xmlns:a16="http://schemas.microsoft.com/office/drawing/2014/main" id="{6028B462-556E-ACD4-7BEE-3AD77CD1EC67}"/>
                  </a:ext>
                </a:extLst>
              </p:cNvPr>
              <p:cNvSpPr txBox="1">
                <a:spLocks noRot="1" noChangeAspect="1" noMove="1" noResize="1" noEditPoints="1" noAdjustHandles="1" noChangeArrowheads="1" noChangeShapeType="1" noTextEdit="1"/>
              </p:cNvSpPr>
              <p:nvPr/>
            </p:nvSpPr>
            <p:spPr>
              <a:xfrm>
                <a:off x="6485060" y="5085184"/>
                <a:ext cx="400686" cy="281039"/>
              </a:xfrm>
              <a:prstGeom prst="rect">
                <a:avLst/>
              </a:prstGeom>
              <a:blipFill>
                <a:blip r:embed="rId5"/>
                <a:stretch>
                  <a:fillRect l="-13636" t="-2174" r="-1515" b="-195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38573E9-B58F-CBB0-248F-A7EDD8D06278}"/>
                  </a:ext>
                </a:extLst>
              </p:cNvPr>
              <p:cNvSpPr txBox="1"/>
              <p:nvPr/>
            </p:nvSpPr>
            <p:spPr>
              <a:xfrm>
                <a:off x="3796861" y="5875498"/>
                <a:ext cx="498342" cy="281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10</m:t>
                          </m:r>
                        </m:sup>
                      </m:sSubSup>
                    </m:oMath>
                  </m:oMathPara>
                </a14:m>
                <a:endParaRPr lang="en-IN" dirty="0"/>
              </a:p>
            </p:txBody>
          </p:sp>
        </mc:Choice>
        <mc:Fallback xmlns="">
          <p:sp>
            <p:nvSpPr>
              <p:cNvPr id="6" name="TextBox 5">
                <a:extLst>
                  <a:ext uri="{FF2B5EF4-FFF2-40B4-BE49-F238E27FC236}">
                    <a16:creationId xmlns:a16="http://schemas.microsoft.com/office/drawing/2014/main" id="{C38573E9-B58F-CBB0-248F-A7EDD8D06278}"/>
                  </a:ext>
                </a:extLst>
              </p:cNvPr>
              <p:cNvSpPr txBox="1">
                <a:spLocks noRot="1" noChangeAspect="1" noMove="1" noResize="1" noEditPoints="1" noAdjustHandles="1" noChangeArrowheads="1" noChangeShapeType="1" noTextEdit="1"/>
              </p:cNvSpPr>
              <p:nvPr/>
            </p:nvSpPr>
            <p:spPr>
              <a:xfrm>
                <a:off x="3796861" y="5875498"/>
                <a:ext cx="498342" cy="281295"/>
              </a:xfrm>
              <a:prstGeom prst="rect">
                <a:avLst/>
              </a:prstGeom>
              <a:blipFill>
                <a:blip r:embed="rId6"/>
                <a:stretch>
                  <a:fillRect l="-10976" t="-2174" r="-1220"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9F137AE7-747D-1EE3-7CCE-A51C9F6A7492}"/>
                  </a:ext>
                </a:extLst>
              </p:cNvPr>
              <p:cNvSpPr txBox="1"/>
              <p:nvPr/>
            </p:nvSpPr>
            <p:spPr>
              <a:xfrm>
                <a:off x="1464787" y="5226537"/>
                <a:ext cx="498342" cy="279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11</m:t>
                          </m:r>
                        </m:sup>
                      </m:sSubSup>
                    </m:oMath>
                  </m:oMathPara>
                </a14:m>
                <a:endParaRPr lang="en-IN" dirty="0"/>
              </a:p>
            </p:txBody>
          </p:sp>
        </mc:Choice>
        <mc:Fallback xmlns="">
          <p:sp>
            <p:nvSpPr>
              <p:cNvPr id="8" name="TextBox 7">
                <a:extLst>
                  <a:ext uri="{FF2B5EF4-FFF2-40B4-BE49-F238E27FC236}">
                    <a16:creationId xmlns:a16="http://schemas.microsoft.com/office/drawing/2014/main" id="{9F137AE7-747D-1EE3-7CCE-A51C9F6A7492}"/>
                  </a:ext>
                </a:extLst>
              </p:cNvPr>
              <p:cNvSpPr txBox="1">
                <a:spLocks noRot="1" noChangeAspect="1" noMove="1" noResize="1" noEditPoints="1" noAdjustHandles="1" noChangeArrowheads="1" noChangeShapeType="1" noTextEdit="1"/>
              </p:cNvSpPr>
              <p:nvPr/>
            </p:nvSpPr>
            <p:spPr>
              <a:xfrm>
                <a:off x="1464787" y="5226537"/>
                <a:ext cx="498342" cy="279372"/>
              </a:xfrm>
              <a:prstGeom prst="rect">
                <a:avLst/>
              </a:prstGeom>
              <a:blipFill>
                <a:blip r:embed="rId7"/>
                <a:stretch>
                  <a:fillRect l="-9756" t="-2174" r="-2439" b="-195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12523BCE-45FA-7C81-F379-602B7169E702}"/>
                  </a:ext>
                </a:extLst>
              </p:cNvPr>
              <p:cNvSpPr txBox="1"/>
              <p:nvPr/>
            </p:nvSpPr>
            <p:spPr>
              <a:xfrm>
                <a:off x="2411760" y="4661262"/>
                <a:ext cx="498342" cy="2799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12</m:t>
                          </m:r>
                        </m:sup>
                      </m:sSubSup>
                    </m:oMath>
                  </m:oMathPara>
                </a14:m>
                <a:endParaRPr lang="en-IN" dirty="0"/>
              </a:p>
            </p:txBody>
          </p:sp>
        </mc:Choice>
        <mc:Fallback xmlns="">
          <p:sp>
            <p:nvSpPr>
              <p:cNvPr id="9" name="TextBox 8">
                <a:extLst>
                  <a:ext uri="{FF2B5EF4-FFF2-40B4-BE49-F238E27FC236}">
                    <a16:creationId xmlns:a16="http://schemas.microsoft.com/office/drawing/2014/main" id="{12523BCE-45FA-7C81-F379-602B7169E702}"/>
                  </a:ext>
                </a:extLst>
              </p:cNvPr>
              <p:cNvSpPr txBox="1">
                <a:spLocks noRot="1" noChangeAspect="1" noMove="1" noResize="1" noEditPoints="1" noAdjustHandles="1" noChangeArrowheads="1" noChangeShapeType="1" noTextEdit="1"/>
              </p:cNvSpPr>
              <p:nvPr/>
            </p:nvSpPr>
            <p:spPr>
              <a:xfrm>
                <a:off x="2411760" y="4661262"/>
                <a:ext cx="498342" cy="279948"/>
              </a:xfrm>
              <a:prstGeom prst="rect">
                <a:avLst/>
              </a:prstGeom>
              <a:blipFill>
                <a:blip r:embed="rId8"/>
                <a:stretch>
                  <a:fillRect l="-11111" t="-2174" r="-2469"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DADD3C37-BEDD-B06E-4609-BCB391E25976}"/>
                  </a:ext>
                </a:extLst>
              </p:cNvPr>
              <p:cNvSpPr txBox="1"/>
              <p:nvPr/>
            </p:nvSpPr>
            <p:spPr>
              <a:xfrm>
                <a:off x="1515644" y="4143477"/>
                <a:ext cx="498342" cy="2809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13</m:t>
                          </m:r>
                        </m:sup>
                      </m:sSubSup>
                    </m:oMath>
                  </m:oMathPara>
                </a14:m>
                <a:endParaRPr lang="en-IN" dirty="0"/>
              </a:p>
            </p:txBody>
          </p:sp>
        </mc:Choice>
        <mc:Fallback xmlns="">
          <p:sp>
            <p:nvSpPr>
              <p:cNvPr id="10" name="TextBox 9">
                <a:extLst>
                  <a:ext uri="{FF2B5EF4-FFF2-40B4-BE49-F238E27FC236}">
                    <a16:creationId xmlns:a16="http://schemas.microsoft.com/office/drawing/2014/main" id="{DADD3C37-BEDD-B06E-4609-BCB391E25976}"/>
                  </a:ext>
                </a:extLst>
              </p:cNvPr>
              <p:cNvSpPr txBox="1">
                <a:spLocks noRot="1" noChangeAspect="1" noMove="1" noResize="1" noEditPoints="1" noAdjustHandles="1" noChangeArrowheads="1" noChangeShapeType="1" noTextEdit="1"/>
              </p:cNvSpPr>
              <p:nvPr/>
            </p:nvSpPr>
            <p:spPr>
              <a:xfrm>
                <a:off x="1515644" y="4143477"/>
                <a:ext cx="498342" cy="280974"/>
              </a:xfrm>
              <a:prstGeom prst="rect">
                <a:avLst/>
              </a:prstGeom>
              <a:blipFill>
                <a:blip r:embed="rId9"/>
                <a:stretch>
                  <a:fillRect l="-11111" t="-2174" r="-2469" b="-173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90F1BDF1-50C3-D190-3A9F-0816E44DC9BC}"/>
                  </a:ext>
                </a:extLst>
              </p:cNvPr>
              <p:cNvSpPr txBox="1"/>
              <p:nvPr/>
            </p:nvSpPr>
            <p:spPr>
              <a:xfrm>
                <a:off x="3974923" y="3708098"/>
                <a:ext cx="498342" cy="279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14</m:t>
                          </m:r>
                        </m:sup>
                      </m:sSubSup>
                    </m:oMath>
                  </m:oMathPara>
                </a14:m>
                <a:endParaRPr lang="en-IN" dirty="0"/>
              </a:p>
            </p:txBody>
          </p:sp>
        </mc:Choice>
        <mc:Fallback xmlns="">
          <p:sp>
            <p:nvSpPr>
              <p:cNvPr id="11" name="TextBox 10">
                <a:extLst>
                  <a:ext uri="{FF2B5EF4-FFF2-40B4-BE49-F238E27FC236}">
                    <a16:creationId xmlns:a16="http://schemas.microsoft.com/office/drawing/2014/main" id="{90F1BDF1-50C3-D190-3A9F-0816E44DC9BC}"/>
                  </a:ext>
                </a:extLst>
              </p:cNvPr>
              <p:cNvSpPr txBox="1">
                <a:spLocks noRot="1" noChangeAspect="1" noMove="1" noResize="1" noEditPoints="1" noAdjustHandles="1" noChangeArrowheads="1" noChangeShapeType="1" noTextEdit="1"/>
              </p:cNvSpPr>
              <p:nvPr/>
            </p:nvSpPr>
            <p:spPr>
              <a:xfrm>
                <a:off x="3974923" y="3708098"/>
                <a:ext cx="498342" cy="279372"/>
              </a:xfrm>
              <a:prstGeom prst="rect">
                <a:avLst/>
              </a:prstGeom>
              <a:blipFill>
                <a:blip r:embed="rId10"/>
                <a:stretch>
                  <a:fillRect l="-9756" t="-2174" r="-2439" b="-195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230A481-7152-D9D8-3D22-483A09A1E14C}"/>
                  </a:ext>
                </a:extLst>
              </p:cNvPr>
              <p:cNvSpPr txBox="1"/>
              <p:nvPr/>
            </p:nvSpPr>
            <p:spPr>
              <a:xfrm>
                <a:off x="5979693" y="4120299"/>
                <a:ext cx="498342" cy="2852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4</m:t>
                          </m:r>
                        </m:sub>
                        <m:sup>
                          <m:r>
                            <a:rPr lang="en-US" b="0" i="1" smtClean="0">
                              <a:latin typeface="Cambria Math" panose="02040503050406030204" pitchFamily="18" charset="0"/>
                            </a:rPr>
                            <m:t>15</m:t>
                          </m:r>
                        </m:sup>
                      </m:sSubSup>
                    </m:oMath>
                  </m:oMathPara>
                </a14:m>
                <a:endParaRPr lang="en-IN" dirty="0"/>
              </a:p>
            </p:txBody>
          </p:sp>
        </mc:Choice>
        <mc:Fallback xmlns="">
          <p:sp>
            <p:nvSpPr>
              <p:cNvPr id="12" name="TextBox 11">
                <a:extLst>
                  <a:ext uri="{FF2B5EF4-FFF2-40B4-BE49-F238E27FC236}">
                    <a16:creationId xmlns:a16="http://schemas.microsoft.com/office/drawing/2014/main" id="{0230A481-7152-D9D8-3D22-483A09A1E14C}"/>
                  </a:ext>
                </a:extLst>
              </p:cNvPr>
              <p:cNvSpPr txBox="1">
                <a:spLocks noRot="1" noChangeAspect="1" noMove="1" noResize="1" noEditPoints="1" noAdjustHandles="1" noChangeArrowheads="1" noChangeShapeType="1" noTextEdit="1"/>
              </p:cNvSpPr>
              <p:nvPr/>
            </p:nvSpPr>
            <p:spPr>
              <a:xfrm>
                <a:off x="5979693" y="4120299"/>
                <a:ext cx="498342" cy="285206"/>
              </a:xfrm>
              <a:prstGeom prst="rect">
                <a:avLst/>
              </a:prstGeom>
              <a:blipFill>
                <a:blip r:embed="rId11"/>
                <a:stretch>
                  <a:fillRect l="-10976" t="-2128" r="-2439" b="-17021"/>
                </a:stretch>
              </a:blipFill>
            </p:spPr>
            <p:txBody>
              <a:bodyPr/>
              <a:lstStyle/>
              <a:p>
                <a:r>
                  <a:rPr lang="en-IN">
                    <a:noFill/>
                  </a:rPr>
                  <a:t> </a:t>
                </a:r>
              </a:p>
            </p:txBody>
          </p:sp>
        </mc:Fallback>
      </mc:AlternateContent>
    </p:spTree>
    <p:extLst>
      <p:ext uri="{BB962C8B-B14F-4D97-AF65-F5344CB8AC3E}">
        <p14:creationId xmlns:p14="http://schemas.microsoft.com/office/powerpoint/2010/main" val="705288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8229600" cy="914400"/>
          </a:xfrm>
        </p:spPr>
        <p:txBody>
          <a:bodyPr/>
          <a:lstStyle/>
          <a:p>
            <a:pPr algn="l" eaLnBrk="1" hangingPunct="1"/>
            <a:r>
              <a:rPr lang="en-US" altLang="en-US">
                <a:solidFill>
                  <a:srgbClr val="FF0000"/>
                </a:solidFill>
              </a:rPr>
              <a:t>FOR    8 point DFT:  N=8</a:t>
            </a:r>
          </a:p>
        </p:txBody>
      </p:sp>
      <p:sp>
        <p:nvSpPr>
          <p:cNvPr id="20483" name="Rectangle 3"/>
          <p:cNvSpPr>
            <a:spLocks noGrp="1" noChangeArrowheads="1"/>
          </p:cNvSpPr>
          <p:nvPr>
            <p:ph type="body" sz="half" idx="1"/>
          </p:nvPr>
        </p:nvSpPr>
        <p:spPr>
          <a:xfrm>
            <a:off x="0" y="762000"/>
            <a:ext cx="8229600" cy="457200"/>
          </a:xfrm>
        </p:spPr>
        <p:txBody>
          <a:bodyPr/>
          <a:lstStyle/>
          <a:p>
            <a:pPr eaLnBrk="1" hangingPunct="1"/>
            <a:r>
              <a:rPr lang="en-US" altLang="en-US" sz="2400"/>
              <a:t>The system Matrix is:</a:t>
            </a:r>
          </a:p>
        </p:txBody>
      </p:sp>
      <p:graphicFrame>
        <p:nvGraphicFramePr>
          <p:cNvPr id="83057" name="Group 113"/>
          <p:cNvGraphicFramePr>
            <a:graphicFrameLocks noGrp="1"/>
          </p:cNvGraphicFramePr>
          <p:nvPr>
            <p:ph sz="half" idx="2"/>
          </p:nvPr>
        </p:nvGraphicFramePr>
        <p:xfrm>
          <a:off x="0" y="1295400"/>
          <a:ext cx="9144000" cy="5559520"/>
        </p:xfrm>
        <a:graphic>
          <a:graphicData uri="http://schemas.openxmlformats.org/drawingml/2006/table">
            <a:tbl>
              <a:tblPr/>
              <a:tblGrid>
                <a:gridCol w="1143000">
                  <a:extLst>
                    <a:ext uri="{9D8B030D-6E8A-4147-A177-3AD203B41FA5}">
                      <a16:colId xmlns="" xmlns:a16="http://schemas.microsoft.com/office/drawing/2014/main" val="20000"/>
                    </a:ext>
                  </a:extLst>
                </a:gridCol>
                <a:gridCol w="1143000">
                  <a:extLst>
                    <a:ext uri="{9D8B030D-6E8A-4147-A177-3AD203B41FA5}">
                      <a16:colId xmlns="" xmlns:a16="http://schemas.microsoft.com/office/drawing/2014/main" val="20001"/>
                    </a:ext>
                  </a:extLst>
                </a:gridCol>
                <a:gridCol w="1143000">
                  <a:extLst>
                    <a:ext uri="{9D8B030D-6E8A-4147-A177-3AD203B41FA5}">
                      <a16:colId xmlns="" xmlns:a16="http://schemas.microsoft.com/office/drawing/2014/main" val="20002"/>
                    </a:ext>
                  </a:extLst>
                </a:gridCol>
                <a:gridCol w="1143000">
                  <a:extLst>
                    <a:ext uri="{9D8B030D-6E8A-4147-A177-3AD203B41FA5}">
                      <a16:colId xmlns="" xmlns:a16="http://schemas.microsoft.com/office/drawing/2014/main" val="20003"/>
                    </a:ext>
                  </a:extLst>
                </a:gridCol>
                <a:gridCol w="1143000">
                  <a:extLst>
                    <a:ext uri="{9D8B030D-6E8A-4147-A177-3AD203B41FA5}">
                      <a16:colId xmlns="" xmlns:a16="http://schemas.microsoft.com/office/drawing/2014/main" val="20004"/>
                    </a:ext>
                  </a:extLst>
                </a:gridCol>
                <a:gridCol w="1143000">
                  <a:extLst>
                    <a:ext uri="{9D8B030D-6E8A-4147-A177-3AD203B41FA5}">
                      <a16:colId xmlns="" xmlns:a16="http://schemas.microsoft.com/office/drawing/2014/main" val="20005"/>
                    </a:ext>
                  </a:extLst>
                </a:gridCol>
                <a:gridCol w="1143000">
                  <a:extLst>
                    <a:ext uri="{9D8B030D-6E8A-4147-A177-3AD203B41FA5}">
                      <a16:colId xmlns="" xmlns:a16="http://schemas.microsoft.com/office/drawing/2014/main" val="20006"/>
                    </a:ext>
                  </a:extLst>
                </a:gridCol>
                <a:gridCol w="1143000">
                  <a:extLst>
                    <a:ext uri="{9D8B030D-6E8A-4147-A177-3AD203B41FA5}">
                      <a16:colId xmlns="" xmlns:a16="http://schemas.microsoft.com/office/drawing/2014/main" val="20007"/>
                    </a:ext>
                  </a:extLst>
                </a:gridCol>
              </a:tblGrid>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0x0</a:t>
                      </a:r>
                      <a:endParaRPr kumimoji="0" lang="en-US" sz="1800" b="0" i="0" u="none" strike="noStrike" cap="none" normalizeH="0" baseline="30000">
                        <a:ln>
                          <a:noFill/>
                        </a:ln>
                        <a:solidFill>
                          <a:srgbClr val="FF0000"/>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0x1</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0x2</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0x3</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0x4</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0x5</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0x6</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0x7</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1x7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2x7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3x7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4x7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5x7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6x3</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6x7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6949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7x0</a:t>
                      </a:r>
                      <a:endParaRPr kumimoji="0" 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7x1</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7x2</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7x0</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7x4</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7x5</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7x6</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W</a:t>
                      </a:r>
                      <a:r>
                        <a:rPr kumimoji="0" lang="en-US" sz="1800" b="0" i="0" u="none" strike="noStrike" cap="none" normalizeH="0" baseline="-25000">
                          <a:ln>
                            <a:noFill/>
                          </a:ln>
                          <a:solidFill>
                            <a:schemeClr val="tx1"/>
                          </a:solidFill>
                          <a:effectLst/>
                          <a:latin typeface="Arial" charset="0"/>
                        </a:rPr>
                        <a:t>8</a:t>
                      </a:r>
                      <a:r>
                        <a:rPr kumimoji="0" lang="en-US" sz="1800" b="0" i="0" u="none" strike="noStrike" cap="none" normalizeH="0" baseline="30000">
                          <a:ln>
                            <a:noFill/>
                          </a:ln>
                          <a:solidFill>
                            <a:schemeClr val="tx1"/>
                          </a:solidFill>
                          <a:effectLst/>
                          <a:latin typeface="Arial" charset="0"/>
                        </a:rPr>
                        <a:t>7x7</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bl>
          </a:graphicData>
        </a:graphic>
      </p:graphicFrame>
    </p:spTree>
    <p:extLst>
      <p:ext uri="{BB962C8B-B14F-4D97-AF65-F5344CB8AC3E}">
        <p14:creationId xmlns:p14="http://schemas.microsoft.com/office/powerpoint/2010/main" val="2495495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pPr eaLnBrk="1" hangingPunct="1"/>
            <a:r>
              <a:rPr lang="en-US" altLang="en-US" sz="4000"/>
              <a:t>The characteristic matrix  of 8-point DFT is:</a:t>
            </a:r>
          </a:p>
        </p:txBody>
      </p:sp>
      <p:graphicFrame>
        <p:nvGraphicFramePr>
          <p:cNvPr id="21507" name="Object 4"/>
          <p:cNvGraphicFramePr>
            <a:graphicFrameLocks noGrp="1" noChangeAspect="1"/>
          </p:cNvGraphicFramePr>
          <p:nvPr>
            <p:ph idx="1"/>
          </p:nvPr>
        </p:nvGraphicFramePr>
        <p:xfrm>
          <a:off x="1995488" y="1676400"/>
          <a:ext cx="5381625" cy="4495800"/>
        </p:xfrm>
        <a:graphic>
          <a:graphicData uri="http://schemas.openxmlformats.org/presentationml/2006/ole">
            <mc:AlternateContent xmlns:mc="http://schemas.openxmlformats.org/markup-compatibility/2006">
              <mc:Choice xmlns:v="urn:schemas-microsoft-com:vml" Requires="v">
                <p:oleObj spid="_x0000_s3075" name="Mathcad" r:id="rId4" imgW="2952750" imgH="2466975" progId="Mathcad">
                  <p:embed/>
                </p:oleObj>
              </mc:Choice>
              <mc:Fallback>
                <p:oleObj name="Mathcad" r:id="rId4" imgW="2952750" imgH="2466975" progId="Mathca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5488" y="1676400"/>
                        <a:ext cx="53816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77405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title"/>
          </p:nvPr>
        </p:nvSpPr>
        <p:spPr>
          <a:xfrm>
            <a:off x="457200" y="0"/>
            <a:ext cx="8686800" cy="1676400"/>
          </a:xfrm>
        </p:spPr>
        <p:txBody>
          <a:bodyPr>
            <a:normAutofit fontScale="90000"/>
          </a:bodyPr>
          <a:lstStyle/>
          <a:p>
            <a:pPr eaLnBrk="1" hangingPunct="1"/>
            <a:r>
              <a:rPr lang="en-US" altLang="en-US" sz="4000">
                <a:solidFill>
                  <a:srgbClr val="660033"/>
                </a:solidFill>
              </a:rPr>
              <a:t/>
            </a:r>
            <a:br>
              <a:rPr lang="en-US" altLang="en-US" sz="4000">
                <a:solidFill>
                  <a:srgbClr val="660033"/>
                </a:solidFill>
              </a:rPr>
            </a:br>
            <a:r>
              <a:rPr lang="en-US" altLang="en-US" sz="4000">
                <a:solidFill>
                  <a:srgbClr val="660033"/>
                </a:solidFill>
              </a:rPr>
              <a:t>DFT and its Inverse</a:t>
            </a:r>
            <a:r>
              <a:rPr lang="en-US" altLang="en-US" sz="4000"/>
              <a:t/>
            </a:r>
            <a:br>
              <a:rPr lang="en-US" altLang="en-US" sz="4000"/>
            </a:br>
            <a:r>
              <a:rPr lang="en-US" altLang="en-US" sz="4000"/>
              <a:t> </a:t>
            </a:r>
            <a:r>
              <a:rPr lang="en-US" altLang="en-US" sz="2400">
                <a:solidFill>
                  <a:schemeClr val="tx1"/>
                </a:solidFill>
              </a:rPr>
              <a:t>Conversion in system matrices of DFT and IDFT obtained by replacing  by j by –j.</a:t>
            </a:r>
            <a:r>
              <a:rPr lang="en-US" altLang="en-US" sz="1800">
                <a:solidFill>
                  <a:srgbClr val="660033"/>
                </a:solidFill>
              </a:rPr>
              <a:t>.</a:t>
            </a:r>
            <a:r>
              <a:rPr lang="en-US" altLang="en-US" sz="3200">
                <a:solidFill>
                  <a:srgbClr val="660033"/>
                </a:solidFill>
              </a:rPr>
              <a:t/>
            </a:r>
            <a:br>
              <a:rPr lang="en-US" altLang="en-US" sz="3200">
                <a:solidFill>
                  <a:srgbClr val="660033"/>
                </a:solidFill>
              </a:rPr>
            </a:br>
            <a:endParaRPr lang="en-US" altLang="en-US" sz="3200">
              <a:solidFill>
                <a:srgbClr val="660033"/>
              </a:solidFill>
            </a:endParaRPr>
          </a:p>
        </p:txBody>
      </p:sp>
      <p:pic>
        <p:nvPicPr>
          <p:cNvPr id="22532" name="Picture 1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tretch>
            <a:fillRect/>
          </a:stretch>
        </p:blipFill>
        <p:spPr>
          <a:xfrm>
            <a:off x="4696758" y="1981200"/>
            <a:ext cx="4051251" cy="3429000"/>
          </a:xfrm>
          <a:noFill/>
        </p:spPr>
      </p:pic>
      <p:graphicFrame>
        <p:nvGraphicFramePr>
          <p:cNvPr id="22531" name="Object 5"/>
          <p:cNvGraphicFramePr>
            <a:graphicFrameLocks noGrp="1" noChangeAspect="1"/>
          </p:cNvGraphicFramePr>
          <p:nvPr>
            <p:ph sz="quarter" idx="2"/>
          </p:nvPr>
        </p:nvGraphicFramePr>
        <p:xfrm>
          <a:off x="80963" y="1981200"/>
          <a:ext cx="4103687" cy="3429000"/>
        </p:xfrm>
        <a:graphic>
          <a:graphicData uri="http://schemas.openxmlformats.org/presentationml/2006/ole">
            <mc:AlternateContent xmlns:mc="http://schemas.openxmlformats.org/markup-compatibility/2006">
              <mc:Choice xmlns:v="urn:schemas-microsoft-com:vml" Requires="v">
                <p:oleObj spid="_x0000_s4099" name="Mathcad" r:id="rId5" imgW="2952750" imgH="2466975" progId="Mathcad">
                  <p:embed/>
                </p:oleObj>
              </mc:Choice>
              <mc:Fallback>
                <p:oleObj name="Mathcad" r:id="rId5" imgW="2952750" imgH="2466975" progId="Mathca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963" y="1981200"/>
                        <a:ext cx="4103687"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3" name="Text Box 13"/>
          <p:cNvSpPr txBox="1">
            <a:spLocks noChangeArrowheads="1"/>
          </p:cNvSpPr>
          <p:nvPr/>
        </p:nvSpPr>
        <p:spPr bwMode="auto">
          <a:xfrm>
            <a:off x="822325" y="5903913"/>
            <a:ext cx="628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t>DFT</a:t>
            </a:r>
          </a:p>
        </p:txBody>
      </p:sp>
      <p:sp>
        <p:nvSpPr>
          <p:cNvPr id="22534" name="Text Box 14"/>
          <p:cNvSpPr txBox="1">
            <a:spLocks noChangeArrowheads="1"/>
          </p:cNvSpPr>
          <p:nvPr/>
        </p:nvSpPr>
        <p:spPr bwMode="auto">
          <a:xfrm>
            <a:off x="5699125" y="5980113"/>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t>IDFT</a:t>
            </a:r>
          </a:p>
        </p:txBody>
      </p:sp>
      <p:sp>
        <p:nvSpPr>
          <p:cNvPr id="22535" name="Line 15"/>
          <p:cNvSpPr>
            <a:spLocks noChangeShapeType="1"/>
          </p:cNvSpPr>
          <p:nvPr/>
        </p:nvSpPr>
        <p:spPr bwMode="auto">
          <a:xfrm flipV="1">
            <a:off x="4572000" y="4038600"/>
            <a:ext cx="304800" cy="190500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2536" name="Text Box 16"/>
          <p:cNvSpPr txBox="1">
            <a:spLocks noChangeArrowheads="1"/>
          </p:cNvSpPr>
          <p:nvPr/>
        </p:nvSpPr>
        <p:spPr bwMode="auto">
          <a:xfrm>
            <a:off x="3641725" y="5827713"/>
            <a:ext cx="1501775" cy="650875"/>
          </a:xfrm>
          <a:prstGeom prst="rect">
            <a:avLst/>
          </a:prstGeom>
          <a:solidFill>
            <a:srgbClr val="CCFFFF"/>
          </a:solidFill>
          <a:ln w="9525">
            <a:solidFill>
              <a:srgbClr val="CC0000"/>
            </a:solidFill>
            <a:miter lim="800000"/>
            <a:headEnd/>
            <a:tailEnd/>
          </a:ln>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t>Effective </a:t>
            </a:r>
          </a:p>
          <a:p>
            <a:pPr eaLnBrk="1" hangingPunct="1">
              <a:spcBef>
                <a:spcPct val="0"/>
              </a:spcBef>
              <a:buFontTx/>
              <a:buNone/>
            </a:pPr>
            <a:r>
              <a:rPr lang="en-US" altLang="en-US" sz="1800"/>
              <a:t>determinant</a:t>
            </a:r>
          </a:p>
        </p:txBody>
      </p:sp>
    </p:spTree>
    <p:extLst>
      <p:ext uri="{BB962C8B-B14F-4D97-AF65-F5344CB8AC3E}">
        <p14:creationId xmlns:p14="http://schemas.microsoft.com/office/powerpoint/2010/main" val="1335609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DFT of Image Matrix (2D)</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5443" y="1772816"/>
            <a:ext cx="7200800" cy="1493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212976"/>
            <a:ext cx="8465798"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91608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DFT of Image Matrix (2D)</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568952"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3933056"/>
            <a:ext cx="8280920" cy="23908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1245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2656"/>
            <a:ext cx="8536861"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3559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050"/>
            <a:ext cx="8630910" cy="6806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16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412776"/>
            <a:ext cx="5736127"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21785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Fast Fourier Transform</a:t>
            </a:r>
          </a:p>
        </p:txBody>
      </p:sp>
      <p:sp>
        <p:nvSpPr>
          <p:cNvPr id="3" name="Content Placeholder 2"/>
          <p:cNvSpPr>
            <a:spLocks noGrp="1"/>
          </p:cNvSpPr>
          <p:nvPr>
            <p:ph idx="1"/>
          </p:nvPr>
        </p:nvSpPr>
        <p:spPr/>
        <p:txBody>
          <a:bodyPr/>
          <a:lstStyle/>
          <a:p>
            <a:pPr algn="just"/>
            <a:r>
              <a:rPr lang="en-IN" dirty="0"/>
              <a:t>FFT is method of computing DFT with reduced number of calculations.</a:t>
            </a:r>
          </a:p>
          <a:p>
            <a:pPr algn="just"/>
            <a:r>
              <a:rPr lang="en-IN" dirty="0"/>
              <a:t>Computational efficiency is achieved if we adopt a divide and conquer approach.</a:t>
            </a:r>
          </a:p>
          <a:p>
            <a:pPr algn="just"/>
            <a:r>
              <a:rPr lang="en-IN" dirty="0"/>
              <a:t>Approach is based on decomposition of N point DFT into successively smaller DFTs.</a:t>
            </a:r>
          </a:p>
        </p:txBody>
      </p:sp>
    </p:spTree>
    <p:extLst>
      <p:ext uri="{BB962C8B-B14F-4D97-AF65-F5344CB8AC3E}">
        <p14:creationId xmlns:p14="http://schemas.microsoft.com/office/powerpoint/2010/main" val="2702785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5400" dirty="0"/>
              <a:t>FFT-Divide &amp; Conquer</a:t>
            </a:r>
            <a:endParaRPr lang="en-IN" dirty="0"/>
          </a:p>
        </p:txBody>
      </p:sp>
      <p:sp>
        <p:nvSpPr>
          <p:cNvPr id="3" name="Content Placeholder 2"/>
          <p:cNvSpPr>
            <a:spLocks noGrp="1"/>
          </p:cNvSpPr>
          <p:nvPr>
            <p:ph idx="1"/>
          </p:nvPr>
        </p:nvSpPr>
        <p:spPr/>
        <p:txBody>
          <a:bodyPr/>
          <a:lstStyle/>
          <a:p>
            <a:endParaRPr lang="en-IN" dirty="0"/>
          </a:p>
        </p:txBody>
      </p:sp>
      <p:sp>
        <p:nvSpPr>
          <p:cNvPr id="4" name="Rectangle 2"/>
          <p:cNvSpPr>
            <a:spLocks noChangeArrowheads="1"/>
          </p:cNvSpPr>
          <p:nvPr/>
        </p:nvSpPr>
        <p:spPr bwMode="auto">
          <a:xfrm>
            <a:off x="1582603" y="2292061"/>
            <a:ext cx="6324600" cy="32766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5" name="Rectangle 3"/>
          <p:cNvSpPr>
            <a:spLocks noChangeArrowheads="1"/>
          </p:cNvSpPr>
          <p:nvPr/>
        </p:nvSpPr>
        <p:spPr bwMode="auto">
          <a:xfrm>
            <a:off x="1634991" y="3611274"/>
            <a:ext cx="3048000" cy="19050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6" name="Rectangle 4"/>
          <p:cNvSpPr>
            <a:spLocks noChangeArrowheads="1"/>
          </p:cNvSpPr>
          <p:nvPr/>
        </p:nvSpPr>
        <p:spPr bwMode="auto">
          <a:xfrm>
            <a:off x="1674678" y="4790786"/>
            <a:ext cx="1600200" cy="6858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7" name="Text Box 6"/>
          <p:cNvSpPr txBox="1">
            <a:spLocks noChangeArrowheads="1"/>
          </p:cNvSpPr>
          <p:nvPr/>
        </p:nvSpPr>
        <p:spPr bwMode="auto">
          <a:xfrm>
            <a:off x="3944803" y="2444461"/>
            <a:ext cx="1589088" cy="45720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2400" dirty="0">
                <a:latin typeface="Times" pitchFamily="1" charset="0"/>
              </a:rPr>
              <a:t>Size 8 DFT</a:t>
            </a:r>
          </a:p>
        </p:txBody>
      </p:sp>
      <p:sp>
        <p:nvSpPr>
          <p:cNvPr id="8" name="Line 7"/>
          <p:cNvSpPr>
            <a:spLocks noChangeShapeType="1"/>
          </p:cNvSpPr>
          <p:nvPr/>
        </p:nvSpPr>
        <p:spPr bwMode="auto">
          <a:xfrm flipH="1">
            <a:off x="3716203" y="3054061"/>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9" name="Line 8"/>
          <p:cNvSpPr>
            <a:spLocks noChangeShapeType="1"/>
          </p:cNvSpPr>
          <p:nvPr/>
        </p:nvSpPr>
        <p:spPr bwMode="auto">
          <a:xfrm>
            <a:off x="5316403" y="3054061"/>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10" name="Text Box 9"/>
          <p:cNvSpPr txBox="1">
            <a:spLocks noChangeArrowheads="1"/>
          </p:cNvSpPr>
          <p:nvPr/>
        </p:nvSpPr>
        <p:spPr bwMode="auto">
          <a:xfrm>
            <a:off x="2649403" y="3816061"/>
            <a:ext cx="1355725" cy="396875"/>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2000">
                <a:latin typeface="Times" pitchFamily="1" charset="0"/>
              </a:rPr>
              <a:t>Size 4 DFT</a:t>
            </a:r>
          </a:p>
        </p:txBody>
      </p:sp>
      <p:sp>
        <p:nvSpPr>
          <p:cNvPr id="11" name="Text Box 10"/>
          <p:cNvSpPr txBox="1">
            <a:spLocks noChangeArrowheads="1"/>
          </p:cNvSpPr>
          <p:nvPr/>
        </p:nvSpPr>
        <p:spPr bwMode="auto">
          <a:xfrm>
            <a:off x="5545003" y="3816061"/>
            <a:ext cx="1355725" cy="396875"/>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2000">
                <a:latin typeface="Times" pitchFamily="1" charset="0"/>
              </a:rPr>
              <a:t>Size 4 DFT</a:t>
            </a:r>
          </a:p>
        </p:txBody>
      </p:sp>
      <p:sp>
        <p:nvSpPr>
          <p:cNvPr id="12" name="Line 11"/>
          <p:cNvSpPr>
            <a:spLocks noChangeShapeType="1"/>
          </p:cNvSpPr>
          <p:nvPr/>
        </p:nvSpPr>
        <p:spPr bwMode="auto">
          <a:xfrm flipH="1">
            <a:off x="2649403" y="4289136"/>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13" name="Line 12"/>
          <p:cNvSpPr>
            <a:spLocks noChangeShapeType="1"/>
          </p:cNvSpPr>
          <p:nvPr/>
        </p:nvSpPr>
        <p:spPr bwMode="auto">
          <a:xfrm>
            <a:off x="3640003" y="4289136"/>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14" name="Line 13"/>
          <p:cNvSpPr>
            <a:spLocks noChangeShapeType="1"/>
          </p:cNvSpPr>
          <p:nvPr/>
        </p:nvSpPr>
        <p:spPr bwMode="auto">
          <a:xfrm flipH="1">
            <a:off x="5468803" y="4289136"/>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15" name="Line 14"/>
          <p:cNvSpPr>
            <a:spLocks noChangeShapeType="1"/>
          </p:cNvSpPr>
          <p:nvPr/>
        </p:nvSpPr>
        <p:spPr bwMode="auto">
          <a:xfrm>
            <a:off x="6459403" y="4289136"/>
            <a:ext cx="457200" cy="6858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16" name="Text Box 15"/>
          <p:cNvSpPr txBox="1">
            <a:spLocks noChangeArrowheads="1"/>
          </p:cNvSpPr>
          <p:nvPr/>
        </p:nvSpPr>
        <p:spPr bwMode="auto">
          <a:xfrm>
            <a:off x="1887403" y="4989224"/>
            <a:ext cx="1238250" cy="366712"/>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1800">
                <a:latin typeface="Times" pitchFamily="1" charset="0"/>
              </a:rPr>
              <a:t>Size 2 DFT</a:t>
            </a:r>
          </a:p>
        </p:txBody>
      </p:sp>
      <p:sp>
        <p:nvSpPr>
          <p:cNvPr id="17" name="Text Box 16"/>
          <p:cNvSpPr txBox="1">
            <a:spLocks noChangeArrowheads="1"/>
          </p:cNvSpPr>
          <p:nvPr/>
        </p:nvSpPr>
        <p:spPr bwMode="auto">
          <a:xfrm>
            <a:off x="3474903" y="4989224"/>
            <a:ext cx="1238250" cy="366712"/>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1800">
                <a:latin typeface="Times" pitchFamily="1" charset="0"/>
              </a:rPr>
              <a:t>Size 2 DFT</a:t>
            </a:r>
          </a:p>
        </p:txBody>
      </p:sp>
      <p:sp>
        <p:nvSpPr>
          <p:cNvPr id="18" name="Text Box 17"/>
          <p:cNvSpPr txBox="1">
            <a:spLocks noChangeArrowheads="1"/>
          </p:cNvSpPr>
          <p:nvPr/>
        </p:nvSpPr>
        <p:spPr bwMode="auto">
          <a:xfrm>
            <a:off x="4935403" y="4989224"/>
            <a:ext cx="1238250" cy="366712"/>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1800">
                <a:latin typeface="Times" pitchFamily="1" charset="0"/>
              </a:rPr>
              <a:t>Size 2 DFT</a:t>
            </a:r>
          </a:p>
        </p:txBody>
      </p:sp>
      <p:sp>
        <p:nvSpPr>
          <p:cNvPr id="19" name="Text Box 18"/>
          <p:cNvSpPr txBox="1">
            <a:spLocks noChangeArrowheads="1"/>
          </p:cNvSpPr>
          <p:nvPr/>
        </p:nvSpPr>
        <p:spPr bwMode="auto">
          <a:xfrm>
            <a:off x="6395903" y="4989224"/>
            <a:ext cx="1238250" cy="366712"/>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1800">
                <a:latin typeface="Times" pitchFamily="1" charset="0"/>
              </a:rPr>
              <a:t>Size 2 DFT</a:t>
            </a:r>
          </a:p>
        </p:txBody>
      </p:sp>
      <p:sp>
        <p:nvSpPr>
          <p:cNvPr id="20" name="Text Box 19"/>
          <p:cNvSpPr txBox="1">
            <a:spLocks noChangeArrowheads="1"/>
          </p:cNvSpPr>
          <p:nvPr/>
        </p:nvSpPr>
        <p:spPr bwMode="auto">
          <a:xfrm>
            <a:off x="4021003" y="3144549"/>
            <a:ext cx="1506538" cy="366712"/>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p>
            <a:pPr eaLnBrk="0" hangingPunct="0"/>
            <a:r>
              <a:rPr lang="en-US" altLang="en-US" sz="1800" i="1">
                <a:solidFill>
                  <a:schemeClr val="accent2"/>
                </a:solidFill>
                <a:latin typeface="Times" pitchFamily="1" charset="0"/>
              </a:rPr>
              <a:t>p</a:t>
            </a:r>
            <a:r>
              <a:rPr lang="en-US" altLang="en-US" sz="1800">
                <a:latin typeface="Times" pitchFamily="1" charset="0"/>
              </a:rPr>
              <a:t> = 2 (</a:t>
            </a:r>
            <a:r>
              <a:rPr lang="en-US" altLang="en-US" sz="1800">
                <a:solidFill>
                  <a:srgbClr val="FF0000"/>
                </a:solidFill>
                <a:latin typeface="Times" pitchFamily="1" charset="0"/>
              </a:rPr>
              <a:t>radix 2</a:t>
            </a:r>
            <a:r>
              <a:rPr lang="en-US" altLang="en-US" sz="1800">
                <a:latin typeface="Times" pitchFamily="1" charset="0"/>
              </a:rPr>
              <a:t>)</a:t>
            </a:r>
            <a:endParaRPr lang="en-US" altLang="en-US" sz="1800" i="1">
              <a:latin typeface="Times" pitchFamily="1" charset="0"/>
            </a:endParaRPr>
          </a:p>
        </p:txBody>
      </p:sp>
    </p:spTree>
    <p:extLst>
      <p:ext uri="{BB962C8B-B14F-4D97-AF65-F5344CB8AC3E}">
        <p14:creationId xmlns:p14="http://schemas.microsoft.com/office/powerpoint/2010/main" val="145729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Radix-2 FFT</a:t>
            </a:r>
          </a:p>
        </p:txBody>
      </p:sp>
      <p:sp>
        <p:nvSpPr>
          <p:cNvPr id="3" name="Content Placeholder 2"/>
          <p:cNvSpPr>
            <a:spLocks noGrp="1"/>
          </p:cNvSpPr>
          <p:nvPr>
            <p:ph idx="1"/>
          </p:nvPr>
        </p:nvSpPr>
        <p:spPr/>
        <p:txBody>
          <a:bodyPr>
            <a:normAutofit/>
          </a:bodyPr>
          <a:lstStyle/>
          <a:p>
            <a:r>
              <a:rPr lang="en-US" altLang="en-US" dirty="0"/>
              <a:t>Radix-x:  here ‘x’ represents number of samples in each group made at the first stage. They are generally equal.</a:t>
            </a:r>
          </a:p>
          <a:p>
            <a:endParaRPr lang="en-IN" dirty="0"/>
          </a:p>
          <a:p>
            <a:r>
              <a:rPr lang="en-IN" dirty="0"/>
              <a:t>N=2^m</a:t>
            </a:r>
          </a:p>
          <a:p>
            <a:r>
              <a:rPr lang="en-IN" dirty="0"/>
              <a:t>m is number of stages</a:t>
            </a:r>
          </a:p>
          <a:p>
            <a:r>
              <a:rPr lang="en-IN" dirty="0"/>
              <a:t>N point sequence is decimated into 2 point sequences, further from the results of 2 point DFTs, the 4 point DFTs can be computed and so on.</a:t>
            </a:r>
          </a:p>
          <a:p>
            <a:endParaRPr lang="en-IN" dirty="0"/>
          </a:p>
        </p:txBody>
      </p:sp>
    </p:spTree>
    <p:extLst>
      <p:ext uri="{BB962C8B-B14F-4D97-AF65-F5344CB8AC3E}">
        <p14:creationId xmlns:p14="http://schemas.microsoft.com/office/powerpoint/2010/main" val="1645723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Radix -2</a:t>
            </a:r>
          </a:p>
        </p:txBody>
      </p:sp>
      <p:sp>
        <p:nvSpPr>
          <p:cNvPr id="3" name="Content Placeholder 2"/>
          <p:cNvSpPr>
            <a:spLocks noGrp="1"/>
          </p:cNvSpPr>
          <p:nvPr>
            <p:ph idx="1"/>
          </p:nvPr>
        </p:nvSpPr>
        <p:spPr/>
        <p:txBody>
          <a:bodyPr>
            <a:normAutofit/>
          </a:bodyPr>
          <a:lstStyle/>
          <a:p>
            <a:pPr marL="228600" indent="-228600">
              <a:lnSpc>
                <a:spcPct val="90000"/>
              </a:lnSpc>
            </a:pPr>
            <a:r>
              <a:rPr lang="en-US" altLang="en-US" dirty="0"/>
              <a:t>Radix-2 is the first FFT algorithm. It was proposed by Cooley and Tukey in 1965.</a:t>
            </a:r>
          </a:p>
          <a:p>
            <a:pPr marL="228600" indent="-228600">
              <a:lnSpc>
                <a:spcPct val="90000"/>
              </a:lnSpc>
            </a:pPr>
            <a:r>
              <a:rPr lang="en-US" altLang="en-US" dirty="0"/>
              <a:t>The algorithms appear either in </a:t>
            </a:r>
          </a:p>
          <a:p>
            <a:pPr marL="228600" indent="-228600">
              <a:lnSpc>
                <a:spcPct val="90000"/>
              </a:lnSpc>
              <a:buNone/>
            </a:pPr>
            <a:r>
              <a:rPr lang="en-US" altLang="en-US" dirty="0"/>
              <a:t>		(a) </a:t>
            </a:r>
            <a:r>
              <a:rPr lang="en-US" altLang="en-US" b="1" dirty="0"/>
              <a:t>D</a:t>
            </a:r>
            <a:r>
              <a:rPr lang="en-US" altLang="en-US" dirty="0"/>
              <a:t>ecimation </a:t>
            </a:r>
            <a:r>
              <a:rPr lang="en-US" altLang="en-US" b="1" dirty="0"/>
              <a:t>I</a:t>
            </a:r>
            <a:r>
              <a:rPr lang="en-US" altLang="en-US" dirty="0"/>
              <a:t>n </a:t>
            </a:r>
            <a:r>
              <a:rPr lang="en-US" altLang="en-US" b="1" dirty="0"/>
              <a:t>T</a:t>
            </a:r>
            <a:r>
              <a:rPr lang="en-US" altLang="en-US" dirty="0"/>
              <a:t>ime (DIT),     </a:t>
            </a:r>
          </a:p>
          <a:p>
            <a:pPr marL="228600" indent="-228600">
              <a:lnSpc>
                <a:spcPct val="90000"/>
              </a:lnSpc>
              <a:buNone/>
            </a:pPr>
            <a:r>
              <a:rPr lang="en-US" altLang="en-US" dirty="0"/>
              <a:t>		(b) </a:t>
            </a:r>
            <a:r>
              <a:rPr lang="en-US" altLang="en-US" b="1" dirty="0"/>
              <a:t>D</a:t>
            </a:r>
            <a:r>
              <a:rPr lang="en-US" altLang="en-US" dirty="0"/>
              <a:t>ecimation </a:t>
            </a:r>
            <a:r>
              <a:rPr lang="en-US" altLang="en-US" b="1" dirty="0"/>
              <a:t>I</a:t>
            </a:r>
            <a:r>
              <a:rPr lang="en-US" altLang="en-US" dirty="0"/>
              <a:t>n </a:t>
            </a:r>
            <a:r>
              <a:rPr lang="en-US" altLang="en-US" b="1" dirty="0"/>
              <a:t>F</a:t>
            </a:r>
            <a:r>
              <a:rPr lang="en-US" altLang="en-US" dirty="0"/>
              <a:t>requency (DIF).</a:t>
            </a:r>
          </a:p>
          <a:p>
            <a:pPr marL="228600" indent="-228600">
              <a:lnSpc>
                <a:spcPct val="90000"/>
              </a:lnSpc>
            </a:pPr>
            <a:r>
              <a:rPr lang="en-US" altLang="en-US" dirty="0"/>
              <a:t>DIT and DIF, both yield same complexity and results. They are complementary.</a:t>
            </a:r>
          </a:p>
          <a:p>
            <a:pPr marL="228600" indent="-228600">
              <a:lnSpc>
                <a:spcPct val="90000"/>
              </a:lnSpc>
            </a:pPr>
            <a:r>
              <a:rPr lang="en-US" altLang="en-US" dirty="0"/>
              <a:t>We shall stress on 8 to radix 2 DIT FFT</a:t>
            </a:r>
            <a:endParaRPr lang="en-IN" dirty="0"/>
          </a:p>
        </p:txBody>
      </p:sp>
    </p:spTree>
    <p:extLst>
      <p:ext uri="{BB962C8B-B14F-4D97-AF65-F5344CB8AC3E}">
        <p14:creationId xmlns:p14="http://schemas.microsoft.com/office/powerpoint/2010/main" val="33469092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 of Calculations in DFT</a:t>
            </a:r>
          </a:p>
        </p:txBody>
      </p:sp>
      <p:sp>
        <p:nvSpPr>
          <p:cNvPr id="3" name="Content Placeholder 2"/>
          <p:cNvSpPr>
            <a:spLocks noGrp="1"/>
          </p:cNvSpPr>
          <p:nvPr>
            <p:ph idx="1"/>
          </p:nvPr>
        </p:nvSpPr>
        <p:spPr/>
        <p:txBody>
          <a:bodyPr/>
          <a:lstStyle/>
          <a:p>
            <a:endParaRPr lang="en-IN"/>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19" y="188640"/>
            <a:ext cx="8434895"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18" y="3933055"/>
            <a:ext cx="7776865" cy="2873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2437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61" y="140617"/>
            <a:ext cx="8602677"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9" name="Content Placeholder 18">
            <a:extLst>
              <a:ext uri="{FF2B5EF4-FFF2-40B4-BE49-F238E27FC236}">
                <a16:creationId xmlns="" xmlns:a16="http://schemas.microsoft.com/office/drawing/2014/main" id="{315FA293-F59E-707D-59CE-E83A26F81759}"/>
              </a:ext>
            </a:extLst>
          </p:cNvPr>
          <p:cNvGraphicFramePr>
            <a:graphicFrameLocks noGrp="1"/>
          </p:cNvGraphicFramePr>
          <p:nvPr>
            <p:ph idx="1"/>
          </p:nvPr>
        </p:nvGraphicFramePr>
        <p:xfrm>
          <a:off x="5217739" y="968710"/>
          <a:ext cx="4063193" cy="1944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88739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4664"/>
            <a:ext cx="8600712"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15119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9C0922-637C-5185-5724-49649D835020}"/>
              </a:ext>
            </a:extLst>
          </p:cNvPr>
          <p:cNvSpPr>
            <a:spLocks noGrp="1"/>
          </p:cNvSpPr>
          <p:nvPr>
            <p:ph type="title"/>
          </p:nvPr>
        </p:nvSpPr>
        <p:spPr/>
        <p:txBody>
          <a:bodyPr/>
          <a:lstStyle/>
          <a:p>
            <a:r>
              <a:rPr lang="en-IN" dirty="0"/>
              <a:t>DIT- FFT Flowgraphs</a:t>
            </a:r>
          </a:p>
        </p:txBody>
      </p:sp>
      <p:sp>
        <p:nvSpPr>
          <p:cNvPr id="3" name="Content Placeholder 2">
            <a:extLst>
              <a:ext uri="{FF2B5EF4-FFF2-40B4-BE49-F238E27FC236}">
                <a16:creationId xmlns="" xmlns:a16="http://schemas.microsoft.com/office/drawing/2014/main" id="{08AFCE1B-4A84-438F-F807-7B108CD55CD0}"/>
              </a:ext>
            </a:extLst>
          </p:cNvPr>
          <p:cNvSpPr>
            <a:spLocks noGrp="1"/>
          </p:cNvSpPr>
          <p:nvPr>
            <p:ph idx="1"/>
          </p:nvPr>
        </p:nvSpPr>
        <p:spPr/>
        <p:txBody>
          <a:bodyPr/>
          <a:lstStyle/>
          <a:p>
            <a:r>
              <a:rPr lang="en-US" dirty="0"/>
              <a:t>The </a:t>
            </a:r>
            <a:r>
              <a:rPr lang="en-US" b="1" dirty="0"/>
              <a:t>Radix-2 Decimation in Time (DIT) Fast Fourier Transform (FFT)</a:t>
            </a:r>
            <a:r>
              <a:rPr lang="en-US" dirty="0"/>
              <a:t> is an efficient algorithm to compute the </a:t>
            </a:r>
            <a:r>
              <a:rPr lang="en-US" b="1" dirty="0"/>
              <a:t>Discrete Fourier Transform (DFT)</a:t>
            </a:r>
            <a:r>
              <a:rPr lang="en-US" dirty="0"/>
              <a:t>. It reduces the computational complexity from </a:t>
            </a:r>
            <a:r>
              <a:rPr lang="en-US" b="1" dirty="0"/>
              <a:t>O(N²)</a:t>
            </a:r>
            <a:r>
              <a:rPr lang="en-US" dirty="0"/>
              <a:t> (in direct DFT computation) to </a:t>
            </a:r>
            <a:r>
              <a:rPr lang="en-US" b="1" dirty="0"/>
              <a:t>O(N </a:t>
            </a:r>
            <a:r>
              <a:rPr lang="en-US" b="1" dirty="0" err="1"/>
              <a:t>log₂N</a:t>
            </a:r>
            <a:r>
              <a:rPr lang="en-US" b="1" dirty="0"/>
              <a:t>)</a:t>
            </a:r>
            <a:r>
              <a:rPr lang="en-US" dirty="0"/>
              <a:t>.</a:t>
            </a:r>
          </a:p>
          <a:p>
            <a:r>
              <a:rPr lang="en-US" dirty="0"/>
              <a:t>Steps to compute the </a:t>
            </a:r>
            <a:r>
              <a:rPr lang="en-US" b="1" dirty="0"/>
              <a:t>DFT using Radix-2 DIT FFT</a:t>
            </a:r>
            <a:r>
              <a:rPr lang="en-US" dirty="0"/>
              <a:t>:</a:t>
            </a:r>
            <a:endParaRPr lang="en-IN" dirty="0"/>
          </a:p>
          <a:p>
            <a:r>
              <a:rPr lang="en-US" b="1" dirty="0"/>
              <a:t>Step 1: Check for Radix-2 Condition</a:t>
            </a:r>
          </a:p>
          <a:p>
            <a:pPr>
              <a:buFont typeface="Arial" panose="020B0604020202020204" pitchFamily="34" charset="0"/>
              <a:buChar char="•"/>
            </a:pPr>
            <a:r>
              <a:rPr lang="en-US" dirty="0"/>
              <a:t>Ensure that the number of input points, </a:t>
            </a:r>
            <a:r>
              <a:rPr lang="en-US" b="1" dirty="0"/>
              <a:t>N</a:t>
            </a:r>
            <a:r>
              <a:rPr lang="en-US" dirty="0"/>
              <a:t>, is a power of 2 (</a:t>
            </a:r>
            <a:r>
              <a:rPr lang="en-US" b="1" dirty="0"/>
              <a:t>N = 2^m</a:t>
            </a:r>
            <a:r>
              <a:rPr lang="en-US" dirty="0"/>
              <a:t>).</a:t>
            </a:r>
          </a:p>
          <a:p>
            <a:pPr>
              <a:buFont typeface="Arial" panose="020B0604020202020204" pitchFamily="34" charset="0"/>
              <a:buChar char="•"/>
            </a:pPr>
            <a:r>
              <a:rPr lang="en-US" dirty="0"/>
              <a:t>If </a:t>
            </a:r>
            <a:r>
              <a:rPr lang="en-US" b="1" dirty="0"/>
              <a:t>N</a:t>
            </a:r>
            <a:r>
              <a:rPr lang="en-US" dirty="0"/>
              <a:t> is not a power of 2, pad the sequence with zeros until it becomes a power of 2.</a:t>
            </a:r>
          </a:p>
        </p:txBody>
      </p:sp>
    </p:spTree>
    <p:extLst>
      <p:ext uri="{BB962C8B-B14F-4D97-AF65-F5344CB8AC3E}">
        <p14:creationId xmlns:p14="http://schemas.microsoft.com/office/powerpoint/2010/main" val="15815678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E8DD73-D9CA-E2D4-99FA-B912DF4FFD36}"/>
              </a:ext>
            </a:extLst>
          </p:cNvPr>
          <p:cNvSpPr>
            <a:spLocks noGrp="1"/>
          </p:cNvSpPr>
          <p:nvPr>
            <p:ph type="title"/>
          </p:nvPr>
        </p:nvSpPr>
        <p:spPr/>
        <p:txBody>
          <a:bodyPr/>
          <a:lstStyle/>
          <a:p>
            <a:r>
              <a:rPr lang="en-IN" dirty="0"/>
              <a:t>DIT- FFT Flowgraphs</a:t>
            </a:r>
          </a:p>
        </p:txBody>
      </p:sp>
      <p:sp>
        <p:nvSpPr>
          <p:cNvPr id="3" name="Content Placeholder 2">
            <a:extLst>
              <a:ext uri="{FF2B5EF4-FFF2-40B4-BE49-F238E27FC236}">
                <a16:creationId xmlns="" xmlns:a16="http://schemas.microsoft.com/office/drawing/2014/main" id="{1F98747F-8EB9-FD55-22F5-E6B241960268}"/>
              </a:ext>
            </a:extLst>
          </p:cNvPr>
          <p:cNvSpPr>
            <a:spLocks noGrp="1"/>
          </p:cNvSpPr>
          <p:nvPr>
            <p:ph idx="1"/>
          </p:nvPr>
        </p:nvSpPr>
        <p:spPr/>
        <p:txBody>
          <a:bodyPr>
            <a:normAutofit lnSpcReduction="10000"/>
          </a:bodyPr>
          <a:lstStyle/>
          <a:p>
            <a:r>
              <a:rPr lang="en-US" b="1" dirty="0"/>
              <a:t>Step 2: Bit-Reversal Permutation</a:t>
            </a:r>
          </a:p>
          <a:p>
            <a:pPr>
              <a:buFont typeface="Arial" panose="020B0604020202020204" pitchFamily="34" charset="0"/>
              <a:buChar char="•"/>
            </a:pPr>
            <a:r>
              <a:rPr lang="en-US" dirty="0"/>
              <a:t>Rearrange the input sequence </a:t>
            </a:r>
            <a:r>
              <a:rPr lang="en-US" b="1" dirty="0"/>
              <a:t>x(n)</a:t>
            </a:r>
            <a:r>
              <a:rPr lang="en-US" dirty="0"/>
              <a:t> into bit-reversed order.</a:t>
            </a:r>
          </a:p>
          <a:p>
            <a:pPr>
              <a:buFont typeface="Arial" panose="020B0604020202020204" pitchFamily="34" charset="0"/>
              <a:buChar char="•"/>
            </a:pPr>
            <a:r>
              <a:rPr lang="en-US" dirty="0"/>
              <a:t>The index positions of the input sequence are converted into their binary equivalents, then reversed, and finally mapped to the new sequence.</a:t>
            </a:r>
          </a:p>
          <a:p>
            <a:r>
              <a:rPr lang="en-US" b="1" dirty="0"/>
              <a:t>Step 3: Perform FFT Computation Using Butterfly Operations</a:t>
            </a:r>
          </a:p>
          <a:p>
            <a:pPr>
              <a:buFont typeface="Arial" panose="020B0604020202020204" pitchFamily="34" charset="0"/>
              <a:buChar char="•"/>
            </a:pPr>
            <a:r>
              <a:rPr lang="en-US" dirty="0"/>
              <a:t>The algorithm follows a </a:t>
            </a:r>
            <a:r>
              <a:rPr lang="en-US" b="1" dirty="0"/>
              <a:t>divide-and-conquer</a:t>
            </a:r>
            <a:r>
              <a:rPr lang="en-US" dirty="0"/>
              <a:t> approach by recursively breaking down the DFT into smaller computations.</a:t>
            </a:r>
          </a:p>
          <a:p>
            <a:pPr>
              <a:buFont typeface="Arial" panose="020B0604020202020204" pitchFamily="34" charset="0"/>
              <a:buChar char="•"/>
            </a:pPr>
            <a:r>
              <a:rPr lang="en-US" dirty="0"/>
              <a:t>The number of </a:t>
            </a:r>
            <a:r>
              <a:rPr lang="en-US" b="1" dirty="0"/>
              <a:t>stages</a:t>
            </a:r>
            <a:r>
              <a:rPr lang="en-US" dirty="0"/>
              <a:t> in the FFT is </a:t>
            </a:r>
            <a:r>
              <a:rPr lang="en-US" b="1" dirty="0" err="1"/>
              <a:t>log₂N</a:t>
            </a:r>
            <a:r>
              <a:rPr lang="en-US" dirty="0"/>
              <a:t>.</a:t>
            </a:r>
          </a:p>
          <a:p>
            <a:pPr>
              <a:buFont typeface="Arial" panose="020B0604020202020204" pitchFamily="34" charset="0"/>
              <a:buChar char="•"/>
            </a:pPr>
            <a:r>
              <a:rPr lang="en-US" dirty="0"/>
              <a:t>Each stage consists of multiple </a:t>
            </a:r>
            <a:r>
              <a:rPr lang="en-US" b="1" dirty="0"/>
              <a:t>butterfly computations</a:t>
            </a:r>
            <a:r>
              <a:rPr lang="en-US" dirty="0"/>
              <a:t>, where a butterfly operation processes two inputs to produce two outputs.</a:t>
            </a:r>
          </a:p>
          <a:p>
            <a:endParaRPr lang="en-IN" dirty="0"/>
          </a:p>
        </p:txBody>
      </p:sp>
    </p:spTree>
    <p:extLst>
      <p:ext uri="{BB962C8B-B14F-4D97-AF65-F5344CB8AC3E}">
        <p14:creationId xmlns:p14="http://schemas.microsoft.com/office/powerpoint/2010/main" val="24656098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EA0783-363D-18A5-3C2D-B8BCD0549A14}"/>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E37F5AE5-7C0B-D505-46FE-3BF3ECE7502D}"/>
              </a:ext>
            </a:extLst>
          </p:cNvPr>
          <p:cNvSpPr>
            <a:spLocks noGrp="1"/>
          </p:cNvSpPr>
          <p:nvPr>
            <p:ph idx="1"/>
          </p:nvPr>
        </p:nvSpPr>
        <p:spPr>
          <a:xfrm>
            <a:off x="768096" y="3290694"/>
            <a:ext cx="7290055" cy="3018666"/>
          </a:xfrm>
        </p:spPr>
        <p:txBody>
          <a:bodyPr/>
          <a:lstStyle/>
          <a:p>
            <a:r>
              <a:rPr lang="en-US" b="1" dirty="0"/>
              <a:t>Step 4: Iterate for All Stages</a:t>
            </a:r>
          </a:p>
          <a:p>
            <a:pPr>
              <a:buFont typeface="Arial" panose="020B0604020202020204" pitchFamily="34" charset="0"/>
              <a:buChar char="•"/>
            </a:pPr>
            <a:r>
              <a:rPr lang="en-US" dirty="0"/>
              <a:t>Repeat the butterfly computations for </a:t>
            </a:r>
            <a:r>
              <a:rPr lang="en-US" b="1" dirty="0" err="1"/>
              <a:t>log₂N</a:t>
            </a:r>
            <a:r>
              <a:rPr lang="en-US" dirty="0"/>
              <a:t> stages.</a:t>
            </a:r>
          </a:p>
          <a:p>
            <a:pPr>
              <a:buFont typeface="Arial" panose="020B0604020202020204" pitchFamily="34" charset="0"/>
              <a:buChar char="•"/>
            </a:pPr>
            <a:r>
              <a:rPr lang="en-US" dirty="0"/>
              <a:t>The number of groups (or sub-DFTs) doubles at each stage, while the number of points per group halves.</a:t>
            </a:r>
          </a:p>
          <a:p>
            <a:r>
              <a:rPr lang="en-US" b="1" dirty="0"/>
              <a:t>Step 5: Output the Final FFT Coefficients</a:t>
            </a:r>
          </a:p>
          <a:p>
            <a:pPr>
              <a:buFont typeface="Arial" panose="020B0604020202020204" pitchFamily="34" charset="0"/>
              <a:buChar char="•"/>
            </a:pPr>
            <a:r>
              <a:rPr lang="en-US" dirty="0"/>
              <a:t>After completing </a:t>
            </a:r>
            <a:r>
              <a:rPr lang="en-US" b="1" dirty="0" err="1"/>
              <a:t>log₂N</a:t>
            </a:r>
            <a:r>
              <a:rPr lang="en-US" dirty="0"/>
              <a:t> stages, the transformed sequence </a:t>
            </a:r>
            <a:r>
              <a:rPr lang="en-US" b="1" dirty="0"/>
              <a:t>X(k)</a:t>
            </a:r>
            <a:r>
              <a:rPr lang="en-US" dirty="0"/>
              <a:t> represents the DFT of the input sequence </a:t>
            </a:r>
            <a:r>
              <a:rPr lang="en-US" b="1" dirty="0"/>
              <a:t>x(n)</a:t>
            </a:r>
            <a:r>
              <a:rPr lang="en-US" dirty="0"/>
              <a:t>.</a:t>
            </a:r>
          </a:p>
          <a:p>
            <a:pPr>
              <a:buFont typeface="Arial" panose="020B0604020202020204" pitchFamily="34" charset="0"/>
              <a:buChar char="•"/>
            </a:pPr>
            <a:endParaRPr lang="en-US" dirty="0"/>
          </a:p>
          <a:p>
            <a:endParaRPr lang="en-IN" dirty="0"/>
          </a:p>
        </p:txBody>
      </p:sp>
      <p:pic>
        <p:nvPicPr>
          <p:cNvPr id="5" name="Picture 4">
            <a:extLst>
              <a:ext uri="{FF2B5EF4-FFF2-40B4-BE49-F238E27FC236}">
                <a16:creationId xmlns="" xmlns:a16="http://schemas.microsoft.com/office/drawing/2014/main" id="{66D2D612-C6A1-4E2B-22C2-F9439D8E3D8B}"/>
              </a:ext>
            </a:extLst>
          </p:cNvPr>
          <p:cNvPicPr>
            <a:picLocks noChangeAspect="1"/>
          </p:cNvPicPr>
          <p:nvPr/>
        </p:nvPicPr>
        <p:blipFill>
          <a:blip r:embed="rId2"/>
          <a:stretch>
            <a:fillRect/>
          </a:stretch>
        </p:blipFill>
        <p:spPr>
          <a:xfrm>
            <a:off x="752771" y="548640"/>
            <a:ext cx="4686954" cy="2705478"/>
          </a:xfrm>
          <a:prstGeom prst="rect">
            <a:avLst/>
          </a:prstGeom>
        </p:spPr>
      </p:pic>
    </p:spTree>
    <p:extLst>
      <p:ext uri="{BB962C8B-B14F-4D97-AF65-F5344CB8AC3E}">
        <p14:creationId xmlns:p14="http://schemas.microsoft.com/office/powerpoint/2010/main" val="578460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 xmlns:a16="http://schemas.microsoft.com/office/drawing/2014/main" id="{C61657BD-3333-446A-A16A-CBDC77C8E55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3999" cy="4572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153" name="Rectangle 6152">
            <a:extLst>
              <a:ext uri="{FF2B5EF4-FFF2-40B4-BE49-F238E27FC236}">
                <a16:creationId xmlns="" xmlns:a16="http://schemas.microsoft.com/office/drawing/2014/main" id="{52CAFF06-4D3A-42A5-8614-B1FA47EA0F6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2600" y="643467"/>
            <a:ext cx="8178799" cy="557106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Length-4, DIT radix-2 FFT">
            <a:extLst>
              <a:ext uri="{FF2B5EF4-FFF2-40B4-BE49-F238E27FC236}">
                <a16:creationId xmlns="" xmlns:a16="http://schemas.microsoft.com/office/drawing/2014/main" id="{35AFB004-3214-DF68-336D-E6AAA99710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30607" y="2597281"/>
            <a:ext cx="6882784" cy="345931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2B9C9D21-7647-4618-6B3E-D8A076A35774}"/>
              </a:ext>
            </a:extLst>
          </p:cNvPr>
          <p:cNvPicPr>
            <a:picLocks noChangeAspect="1"/>
          </p:cNvPicPr>
          <p:nvPr/>
        </p:nvPicPr>
        <p:blipFill>
          <a:blip r:embed="rId3"/>
          <a:stretch>
            <a:fillRect/>
          </a:stretch>
        </p:blipFill>
        <p:spPr>
          <a:xfrm>
            <a:off x="2987824" y="886865"/>
            <a:ext cx="2486372" cy="1066949"/>
          </a:xfrm>
          <a:prstGeom prst="rect">
            <a:avLst/>
          </a:prstGeom>
        </p:spPr>
      </p:pic>
      <p:sp>
        <p:nvSpPr>
          <p:cNvPr id="5" name="TextBox 4">
            <a:extLst>
              <a:ext uri="{FF2B5EF4-FFF2-40B4-BE49-F238E27FC236}">
                <a16:creationId xmlns="" xmlns:a16="http://schemas.microsoft.com/office/drawing/2014/main" id="{D195484A-8BF8-F504-DD6E-D67A3C3D3837}"/>
              </a:ext>
            </a:extLst>
          </p:cNvPr>
          <p:cNvSpPr txBox="1"/>
          <p:nvPr/>
        </p:nvSpPr>
        <p:spPr>
          <a:xfrm>
            <a:off x="2843808" y="2040447"/>
            <a:ext cx="4572000" cy="369332"/>
          </a:xfrm>
          <a:prstGeom prst="rect">
            <a:avLst/>
          </a:prstGeom>
          <a:noFill/>
        </p:spPr>
        <p:txBody>
          <a:bodyPr wrap="square">
            <a:spAutoFit/>
          </a:bodyPr>
          <a:lstStyle/>
          <a:p>
            <a:r>
              <a:rPr lang="en-US" b="0" i="0" dirty="0">
                <a:solidFill>
                  <a:srgbClr val="111111"/>
                </a:solidFill>
                <a:effectLst/>
                <a:latin typeface="Roboto" panose="02000000000000000000" pitchFamily="2" charset="0"/>
              </a:rPr>
              <a:t>radix-2 DIT butterfly operation. </a:t>
            </a:r>
            <a:endParaRPr lang="en-IN" dirty="0"/>
          </a:p>
        </p:txBody>
      </p:sp>
      <p:sp>
        <p:nvSpPr>
          <p:cNvPr id="7" name="TextBox 6">
            <a:extLst>
              <a:ext uri="{FF2B5EF4-FFF2-40B4-BE49-F238E27FC236}">
                <a16:creationId xmlns="" xmlns:a16="http://schemas.microsoft.com/office/drawing/2014/main" id="{E60C0287-C929-F256-3635-307DFC1EC033}"/>
              </a:ext>
            </a:extLst>
          </p:cNvPr>
          <p:cNvSpPr txBox="1"/>
          <p:nvPr/>
        </p:nvSpPr>
        <p:spPr>
          <a:xfrm>
            <a:off x="2815284" y="6335887"/>
            <a:ext cx="4572000" cy="369332"/>
          </a:xfrm>
          <a:prstGeom prst="rect">
            <a:avLst/>
          </a:prstGeom>
          <a:noFill/>
        </p:spPr>
        <p:txBody>
          <a:bodyPr wrap="square">
            <a:spAutoFit/>
          </a:bodyPr>
          <a:lstStyle/>
          <a:p>
            <a:r>
              <a:rPr lang="en-US" b="0" i="0" dirty="0">
                <a:solidFill>
                  <a:srgbClr val="111111"/>
                </a:solidFill>
                <a:effectLst/>
                <a:latin typeface="Roboto" panose="02000000000000000000" pitchFamily="2" charset="0"/>
              </a:rPr>
              <a:t>radix-4 DIT butterfly operation. </a:t>
            </a:r>
            <a:endParaRPr lang="en-IN" dirty="0"/>
          </a:p>
        </p:txBody>
      </p:sp>
    </p:spTree>
    <p:extLst>
      <p:ext uri="{BB962C8B-B14F-4D97-AF65-F5344CB8AC3E}">
        <p14:creationId xmlns:p14="http://schemas.microsoft.com/office/powerpoint/2010/main" val="4282768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437CBF-3BC7-B2DC-D090-51D9E109A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D39BB901-23E8-7221-2568-311399711B9E}"/>
              </a:ext>
            </a:extLst>
          </p:cNvPr>
          <p:cNvSpPr>
            <a:spLocks noGrp="1"/>
          </p:cNvSpPr>
          <p:nvPr>
            <p:ph idx="1"/>
          </p:nvPr>
        </p:nvSpPr>
        <p:spPr/>
        <p:txBody>
          <a:bodyPr/>
          <a:lstStyle/>
          <a:p>
            <a:endParaRPr lang="en-IN"/>
          </a:p>
        </p:txBody>
      </p:sp>
      <p:pic>
        <p:nvPicPr>
          <p:cNvPr id="3074" name="Picture 2" descr="(a) Signal flow graph of 8-point radix-2 DIT FFT (b) radix-2 DIT butterfly operation.  ">
            <a:extLst>
              <a:ext uri="{FF2B5EF4-FFF2-40B4-BE49-F238E27FC236}">
                <a16:creationId xmlns="" xmlns:a16="http://schemas.microsoft.com/office/drawing/2014/main" id="{1BDB6D17-0A06-D41D-FD25-959729AEE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313" y="357188"/>
            <a:ext cx="5667375" cy="6143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9BF963F3-FFE8-9722-E331-12B72BC02871}"/>
              </a:ext>
            </a:extLst>
          </p:cNvPr>
          <p:cNvSpPr txBox="1"/>
          <p:nvPr/>
        </p:nvSpPr>
        <p:spPr>
          <a:xfrm>
            <a:off x="116086" y="6488668"/>
            <a:ext cx="9027914" cy="369332"/>
          </a:xfrm>
          <a:prstGeom prst="rect">
            <a:avLst/>
          </a:prstGeom>
          <a:noFill/>
        </p:spPr>
        <p:txBody>
          <a:bodyPr wrap="square">
            <a:spAutoFit/>
          </a:bodyPr>
          <a:lstStyle/>
          <a:p>
            <a:pPr algn="l"/>
            <a:r>
              <a:rPr lang="en-US" b="0" i="0" dirty="0">
                <a:solidFill>
                  <a:srgbClr val="111111"/>
                </a:solidFill>
                <a:effectLst/>
                <a:latin typeface="Roboto" panose="02000000000000000000" pitchFamily="2" charset="0"/>
              </a:rPr>
              <a:t>(a) Signal flow graph of 8-point radix-2 DIT FFT (b) radix-2 DIT butterfly operation. </a:t>
            </a:r>
          </a:p>
        </p:txBody>
      </p:sp>
    </p:spTree>
    <p:extLst>
      <p:ext uri="{BB962C8B-B14F-4D97-AF65-F5344CB8AC3E}">
        <p14:creationId xmlns:p14="http://schemas.microsoft.com/office/powerpoint/2010/main" val="7718783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3B6A81-0B12-F8FC-DDA8-9B429174899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5EFC783E-C25E-7AE3-B211-B198486EE327}"/>
              </a:ext>
            </a:extLst>
          </p:cNvPr>
          <p:cNvSpPr>
            <a:spLocks noGrp="1"/>
          </p:cNvSpPr>
          <p:nvPr>
            <p:ph idx="1"/>
          </p:nvPr>
        </p:nvSpPr>
        <p:spPr/>
        <p:txBody>
          <a:bodyPr/>
          <a:lstStyle/>
          <a:p>
            <a:r>
              <a:rPr lang="en-IN" dirty="0"/>
              <a:t>Refer example 5.5, page 5.38 of digital signal processing, </a:t>
            </a:r>
            <a:r>
              <a:rPr lang="en-IN" dirty="0" err="1"/>
              <a:t>Nagoorkani</a:t>
            </a:r>
            <a:endParaRPr lang="en-IN" dirty="0"/>
          </a:p>
        </p:txBody>
      </p:sp>
    </p:spTree>
    <p:extLst>
      <p:ext uri="{BB962C8B-B14F-4D97-AF65-F5344CB8AC3E}">
        <p14:creationId xmlns:p14="http://schemas.microsoft.com/office/powerpoint/2010/main" val="41330576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DIT-FFT</a:t>
            </a:r>
          </a:p>
        </p:txBody>
      </p:sp>
      <p:sp>
        <p:nvSpPr>
          <p:cNvPr id="3" name="Content Placeholder 2"/>
          <p:cNvSpPr>
            <a:spLocks noGrp="1"/>
          </p:cNvSpPr>
          <p:nvPr>
            <p:ph idx="1"/>
          </p:nvPr>
        </p:nvSpPr>
        <p:spPr/>
        <p:txBody>
          <a:bodyPr/>
          <a:lstStyle/>
          <a:p>
            <a:r>
              <a:rPr lang="en-IN" dirty="0"/>
              <a:t>Steps to find DFT using Radix 2 DIT FFT:</a:t>
            </a:r>
          </a:p>
          <a:p>
            <a:pPr marL="0" indent="0">
              <a:buNone/>
            </a:pPr>
            <a:endParaRPr lang="en-IN" sz="2000" dirty="0"/>
          </a:p>
          <a:p>
            <a:pPr marL="514350" indent="-514350">
              <a:buAutoNum type="arabicPeriod"/>
            </a:pPr>
            <a:endParaRPr lang="en-IN"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636912"/>
            <a:ext cx="7920880"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78487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04800"/>
            <a:ext cx="8001000" cy="646331"/>
          </a:xfrm>
          <a:prstGeom prst="rect">
            <a:avLst/>
          </a:prstGeom>
        </p:spPr>
        <p:txBody>
          <a:bodyPr wrap="square">
            <a:spAutoFit/>
          </a:bodyPr>
          <a:lstStyle/>
          <a:p>
            <a:r>
              <a:rPr lang="en-US" u="sng" dirty="0"/>
              <a:t>Ex</a:t>
            </a:r>
            <a:r>
              <a:rPr lang="en-US" dirty="0"/>
              <a:t>: Draw the signal flow graph of the 4-point FFT, then use to it to find the spectrum of the sequence x(n)={1,-1,2,3}.</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5127" y="772863"/>
            <a:ext cx="273367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46012"/>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1171" y="959970"/>
            <a:ext cx="4572000" cy="646331"/>
          </a:xfrm>
          <a:prstGeom prst="rect">
            <a:avLst/>
          </a:prstGeom>
        </p:spPr>
        <p:txBody>
          <a:bodyPr>
            <a:spAutoFit/>
          </a:bodyPr>
          <a:lstStyle/>
          <a:p>
            <a:r>
              <a:rPr lang="en-US" dirty="0"/>
              <a:t>The even numbered samples are x(0) and x(2)      </a:t>
            </a:r>
          </a:p>
          <a:p>
            <a:r>
              <a:rPr lang="en-US" dirty="0"/>
              <a:t>The odd numbered samples are x(1) and x(3) </a:t>
            </a:r>
            <a:endParaRPr lang="ar-IQ" dirty="0"/>
          </a:p>
        </p:txBody>
      </p:sp>
      <p:sp>
        <p:nvSpPr>
          <p:cNvPr id="6" name="Rectangle 5"/>
          <p:cNvSpPr/>
          <p:nvPr/>
        </p:nvSpPr>
        <p:spPr>
          <a:xfrm>
            <a:off x="533400" y="2298469"/>
            <a:ext cx="2015295" cy="369332"/>
          </a:xfrm>
          <a:prstGeom prst="rect">
            <a:avLst/>
          </a:prstGeom>
        </p:spPr>
        <p:txBody>
          <a:bodyPr wrap="none">
            <a:spAutoFit/>
          </a:bodyPr>
          <a:lstStyle/>
          <a:p>
            <a:r>
              <a:rPr lang="en-US" dirty="0"/>
              <a:t>X(0)=G(0)+W</a:t>
            </a:r>
            <a:r>
              <a:rPr lang="en-US" baseline="-25000" dirty="0"/>
              <a:t>4</a:t>
            </a:r>
            <a:r>
              <a:rPr lang="en-US" baseline="30000" dirty="0"/>
              <a:t>0</a:t>
            </a:r>
            <a:r>
              <a:rPr lang="en-US" dirty="0"/>
              <a:t> H(0)</a:t>
            </a:r>
          </a:p>
        </p:txBody>
      </p:sp>
      <p:sp>
        <p:nvSpPr>
          <p:cNvPr id="7" name="Rectangle 6"/>
          <p:cNvSpPr/>
          <p:nvPr/>
        </p:nvSpPr>
        <p:spPr>
          <a:xfrm>
            <a:off x="597276" y="2667801"/>
            <a:ext cx="2015295" cy="369332"/>
          </a:xfrm>
          <a:prstGeom prst="rect">
            <a:avLst/>
          </a:prstGeom>
        </p:spPr>
        <p:txBody>
          <a:bodyPr wrap="none">
            <a:spAutoFit/>
          </a:bodyPr>
          <a:lstStyle/>
          <a:p>
            <a:r>
              <a:rPr lang="en-US" dirty="0"/>
              <a:t>X(1)=G(1)+W</a:t>
            </a:r>
            <a:r>
              <a:rPr lang="en-US" baseline="-25000" dirty="0"/>
              <a:t>4</a:t>
            </a:r>
            <a:r>
              <a:rPr lang="en-US" baseline="30000" dirty="0"/>
              <a:t>1</a:t>
            </a:r>
            <a:r>
              <a:rPr lang="en-US" dirty="0"/>
              <a:t> H(1)</a:t>
            </a:r>
            <a:endParaRPr lang="ar-IQ" dirty="0"/>
          </a:p>
        </p:txBody>
      </p:sp>
      <p:sp>
        <p:nvSpPr>
          <p:cNvPr id="10" name="Rectangle 9"/>
          <p:cNvSpPr/>
          <p:nvPr/>
        </p:nvSpPr>
        <p:spPr>
          <a:xfrm>
            <a:off x="619047" y="3807040"/>
            <a:ext cx="4572000" cy="1200329"/>
          </a:xfrm>
          <a:prstGeom prst="rect">
            <a:avLst/>
          </a:prstGeom>
        </p:spPr>
        <p:txBody>
          <a:bodyPr>
            <a:spAutoFit/>
          </a:bodyPr>
          <a:lstStyle/>
          <a:p>
            <a:r>
              <a:rPr lang="en-US" dirty="0"/>
              <a:t>X(2)=G(0)+W</a:t>
            </a:r>
            <a:r>
              <a:rPr lang="en-US" baseline="-25000" dirty="0"/>
              <a:t>4</a:t>
            </a:r>
            <a:r>
              <a:rPr lang="en-US" baseline="30000" dirty="0"/>
              <a:t>2</a:t>
            </a:r>
            <a:r>
              <a:rPr lang="en-US" dirty="0"/>
              <a:t> H(0)</a:t>
            </a:r>
          </a:p>
          <a:p>
            <a:r>
              <a:rPr lang="en-US" dirty="0"/>
              <a:t>X(3)=G(3)+W</a:t>
            </a:r>
            <a:r>
              <a:rPr lang="en-US" baseline="-25000" dirty="0"/>
              <a:t>4</a:t>
            </a:r>
            <a:r>
              <a:rPr lang="en-US" baseline="30000" dirty="0"/>
              <a:t>3</a:t>
            </a:r>
            <a:r>
              <a:rPr lang="en-US" dirty="0"/>
              <a:t> H(3)</a:t>
            </a:r>
          </a:p>
          <a:p>
            <a:r>
              <a:rPr lang="en-US" dirty="0"/>
              <a:t>And again G(3)=G(1)and H(3)=H(1), then:</a:t>
            </a:r>
          </a:p>
          <a:p>
            <a:r>
              <a:rPr lang="en-US" dirty="0"/>
              <a:t>X(3)=G(1)+W</a:t>
            </a:r>
            <a:r>
              <a:rPr lang="en-US" baseline="-25000" dirty="0"/>
              <a:t>4</a:t>
            </a:r>
            <a:r>
              <a:rPr lang="en-US" baseline="30000" dirty="0"/>
              <a:t>3</a:t>
            </a:r>
            <a:r>
              <a:rPr lang="en-US" dirty="0"/>
              <a:t> H(1) </a:t>
            </a:r>
            <a:endParaRPr lang="ar-IQ" dirty="0"/>
          </a:p>
        </p:txBody>
      </p:sp>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038600"/>
            <a:ext cx="4343400"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Rectangle 19"/>
          <p:cNvSpPr/>
          <p:nvPr/>
        </p:nvSpPr>
        <p:spPr>
          <a:xfrm>
            <a:off x="619046" y="5104884"/>
            <a:ext cx="3114753" cy="369332"/>
          </a:xfrm>
          <a:prstGeom prst="rect">
            <a:avLst/>
          </a:prstGeom>
        </p:spPr>
        <p:txBody>
          <a:bodyPr wrap="square">
            <a:spAutoFit/>
          </a:bodyPr>
          <a:lstStyle/>
          <a:p>
            <a:r>
              <a:rPr lang="en-US" dirty="0"/>
              <a:t>E=</a:t>
            </a:r>
            <a:endParaRPr lang="ar-IQ" dirty="0"/>
          </a:p>
        </p:txBody>
      </p:sp>
      <p:pic>
        <p:nvPicPr>
          <p:cNvPr id="1434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5057775"/>
            <a:ext cx="4324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8"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257471"/>
            <a:ext cx="56578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587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arn(inVertical)">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4339"/>
                                        </p:tgtEl>
                                        <p:attrNameLst>
                                          <p:attrName>style.visibility</p:attrName>
                                        </p:attrNameLst>
                                      </p:cBhvr>
                                      <p:to>
                                        <p:strVal val="visible"/>
                                      </p:to>
                                    </p:set>
                                    <p:animEffect transition="in" filter="barn(inVertical)">
                                      <p:cBhvr>
                                        <p:cTn id="17" dur="500"/>
                                        <p:tgtEl>
                                          <p:spTgt spid="1433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4340"/>
                                        </p:tgtEl>
                                        <p:attrNameLst>
                                          <p:attrName>style.visibility</p:attrName>
                                        </p:attrNameLst>
                                      </p:cBhvr>
                                      <p:to>
                                        <p:strVal val="visible"/>
                                      </p:to>
                                    </p:set>
                                    <p:animEffect transition="in" filter="barn(inVertical)">
                                      <p:cBhvr>
                                        <p:cTn id="37" dur="500"/>
                                        <p:tgtEl>
                                          <p:spTgt spid="1434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arn(inVertical)">
                                      <p:cBhvr>
                                        <p:cTn id="42" dur="500"/>
                                        <p:tgtEl>
                                          <p:spTgt spid="20"/>
                                        </p:tgtEl>
                                      </p:cBhvr>
                                    </p:animEffect>
                                  </p:childTnLst>
                                </p:cTn>
                              </p:par>
                              <p:par>
                                <p:cTn id="43" presetID="16" presetClass="entr" presetSubtype="21" fill="hold" nodeType="withEffect">
                                  <p:stCondLst>
                                    <p:cond delay="0"/>
                                  </p:stCondLst>
                                  <p:childTnLst>
                                    <p:set>
                                      <p:cBhvr>
                                        <p:cTn id="44" dur="1" fill="hold">
                                          <p:stCondLst>
                                            <p:cond delay="0"/>
                                          </p:stCondLst>
                                        </p:cTn>
                                        <p:tgtEl>
                                          <p:spTgt spid="14347"/>
                                        </p:tgtEl>
                                        <p:attrNameLst>
                                          <p:attrName>style.visibility</p:attrName>
                                        </p:attrNameLst>
                                      </p:cBhvr>
                                      <p:to>
                                        <p:strVal val="visible"/>
                                      </p:to>
                                    </p:set>
                                    <p:animEffect transition="in" filter="barn(inVertical)">
                                      <p:cBhvr>
                                        <p:cTn id="45" dur="500"/>
                                        <p:tgtEl>
                                          <p:spTgt spid="14347"/>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4348"/>
                                        </p:tgtEl>
                                        <p:attrNameLst>
                                          <p:attrName>style.visibility</p:attrName>
                                        </p:attrNameLst>
                                      </p:cBhvr>
                                      <p:to>
                                        <p:strVal val="visible"/>
                                      </p:to>
                                    </p:set>
                                    <p:animEffect transition="in" filter="barn(inVertical)">
                                      <p:cBhvr>
                                        <p:cTn id="50" dur="500"/>
                                        <p:tgtEl>
                                          <p:spTgt spid="14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8" y="0"/>
            <a:ext cx="9127232"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25868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0"/>
            <a:ext cx="5792647" cy="6765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83964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836712"/>
            <a:ext cx="7475794" cy="4896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27084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Discrete Cosine Transform (DCT)</a:t>
            </a:r>
          </a:p>
        </p:txBody>
      </p:sp>
      <p:sp>
        <p:nvSpPr>
          <p:cNvPr id="3" name="Content Placeholder 2"/>
          <p:cNvSpPr>
            <a:spLocks noGrp="1"/>
          </p:cNvSpPr>
          <p:nvPr>
            <p:ph idx="1"/>
          </p:nvPr>
        </p:nvSpPr>
        <p:spPr/>
        <p:txBody>
          <a:bodyPr>
            <a:normAutofit/>
          </a:bodyPr>
          <a:lstStyle/>
          <a:p>
            <a:pPr algn="just"/>
            <a:r>
              <a:rPr lang="en-IN" dirty="0"/>
              <a:t>The discrete cosine transforms are the members of a family of real-valued discrete sinusoidal unitary transforms. </a:t>
            </a:r>
          </a:p>
          <a:p>
            <a:pPr algn="just"/>
            <a:r>
              <a:rPr lang="en-IN" dirty="0"/>
              <a:t>A discrete cosine transform consists of a set of basis vectors that are sampled cosine functions. </a:t>
            </a:r>
          </a:p>
          <a:p>
            <a:pPr algn="just"/>
            <a:r>
              <a:rPr lang="en-IN" dirty="0"/>
              <a:t>DCT is a technique for converting a signal into elementary frequency components and it is widely used in image compression.</a:t>
            </a:r>
          </a:p>
        </p:txBody>
      </p:sp>
    </p:spTree>
    <p:extLst>
      <p:ext uri="{BB962C8B-B14F-4D97-AF65-F5344CB8AC3E}">
        <p14:creationId xmlns:p14="http://schemas.microsoft.com/office/powerpoint/2010/main" val="714813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19" y="980728"/>
            <a:ext cx="8657325" cy="1656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212976"/>
            <a:ext cx="3816424" cy="2428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91969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16632"/>
            <a:ext cx="8784976" cy="6624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70123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 y="260648"/>
            <a:ext cx="9085753" cy="6453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8141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4" y="404664"/>
            <a:ext cx="9128123" cy="6192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5707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78" y="530261"/>
            <a:ext cx="8992421" cy="5532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06" y="5301208"/>
            <a:ext cx="8664963" cy="12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97715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09" y="476672"/>
            <a:ext cx="9164735"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90812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052736"/>
            <a:ext cx="8568952"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1653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IDCT</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2492896"/>
            <a:ext cx="8280920"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52799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Symmetric and Asymmetric</a:t>
            </a:r>
          </a:p>
        </p:txBody>
      </p:sp>
      <p:sp>
        <p:nvSpPr>
          <p:cNvPr id="3" name="Content Placeholder 2"/>
          <p:cNvSpPr>
            <a:spLocks noGrp="1"/>
          </p:cNvSpPr>
          <p:nvPr>
            <p:ph idx="1"/>
          </p:nvPr>
        </p:nvSpPr>
        <p:spPr/>
        <p:txBody>
          <a:bodyPr>
            <a:normAutofit/>
          </a:bodyPr>
          <a:lstStyle/>
          <a:p>
            <a:r>
              <a:rPr lang="en-IN" b="1" dirty="0"/>
              <a:t>Transformation Matrix – T</a:t>
            </a:r>
          </a:p>
          <a:p>
            <a:r>
              <a:rPr lang="en-IN" b="1" dirty="0"/>
              <a:t>Image Matrix – f</a:t>
            </a:r>
          </a:p>
          <a:p>
            <a:r>
              <a:rPr lang="en-IN" b="1" dirty="0">
                <a:solidFill>
                  <a:srgbClr val="FF0000"/>
                </a:solidFill>
              </a:rPr>
              <a:t>If Transformation matrix is symmetric:</a:t>
            </a:r>
          </a:p>
          <a:p>
            <a:r>
              <a:rPr lang="en-IN" b="1" dirty="0"/>
              <a:t>F = </a:t>
            </a:r>
            <a:r>
              <a:rPr lang="en-IN" b="1" dirty="0" err="1"/>
              <a:t>TfT</a:t>
            </a:r>
            <a:endParaRPr lang="en-IN" b="1" dirty="0"/>
          </a:p>
          <a:p>
            <a:endParaRPr lang="en-IN" b="1" dirty="0"/>
          </a:p>
          <a:p>
            <a:r>
              <a:rPr lang="en-IN" b="1" dirty="0">
                <a:solidFill>
                  <a:srgbClr val="FF0000"/>
                </a:solidFill>
              </a:rPr>
              <a:t>If Transformation matrix is asymmetric:</a:t>
            </a:r>
          </a:p>
          <a:p>
            <a:r>
              <a:rPr lang="en-IN" b="1" dirty="0"/>
              <a:t>F = </a:t>
            </a:r>
            <a:r>
              <a:rPr lang="en-IN" b="1" dirty="0" err="1"/>
              <a:t>TfT</a:t>
            </a:r>
            <a:r>
              <a:rPr lang="en-IN" b="1" dirty="0"/>
              <a:t>’</a:t>
            </a:r>
          </a:p>
          <a:p>
            <a:endParaRPr lang="en-IN" b="1" dirty="0">
              <a:solidFill>
                <a:srgbClr val="FF0000"/>
              </a:solidFill>
            </a:endParaRPr>
          </a:p>
          <a:p>
            <a:endParaRPr lang="en-IN" b="1" dirty="0">
              <a:solidFill>
                <a:srgbClr val="FF0000"/>
              </a:solidFill>
            </a:endParaRPr>
          </a:p>
        </p:txBody>
      </p:sp>
    </p:spTree>
    <p:extLst>
      <p:ext uri="{BB962C8B-B14F-4D97-AF65-F5344CB8AC3E}">
        <p14:creationId xmlns:p14="http://schemas.microsoft.com/office/powerpoint/2010/main" val="21904135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Hadamard</a:t>
            </a:r>
            <a:r>
              <a:rPr lang="en-IN" dirty="0"/>
              <a:t> Transform</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41321" y="2132856"/>
            <a:ext cx="2411054"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048" y="3573016"/>
            <a:ext cx="6705600" cy="288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20219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640"/>
            <a:ext cx="8453692"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01286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Hadamard</a:t>
            </a:r>
            <a:r>
              <a:rPr lang="en-IN" dirty="0"/>
              <a:t> Transform</a:t>
            </a:r>
          </a:p>
        </p:txBody>
      </p:sp>
      <p:sp>
        <p:nvSpPr>
          <p:cNvPr id="3" name="Content Placeholder 2"/>
          <p:cNvSpPr>
            <a:spLocks noGrp="1"/>
          </p:cNvSpPr>
          <p:nvPr>
            <p:ph idx="1"/>
          </p:nvPr>
        </p:nvSpPr>
        <p:spPr/>
        <p:txBody>
          <a:bodyPr>
            <a:normAutofit/>
          </a:bodyPr>
          <a:lstStyle/>
          <a:p>
            <a:r>
              <a:rPr lang="en-IN" dirty="0" err="1"/>
              <a:t>Hadamard</a:t>
            </a:r>
            <a:r>
              <a:rPr lang="en-IN" dirty="0"/>
              <a:t> of Sequence</a:t>
            </a:r>
          </a:p>
          <a:p>
            <a:pPr marL="0" indent="0">
              <a:buNone/>
            </a:pPr>
            <a:r>
              <a:rPr lang="en-IN" b="1" dirty="0"/>
              <a:t>	X[n]={H(N).x(n)}</a:t>
            </a:r>
          </a:p>
          <a:p>
            <a:r>
              <a:rPr lang="en-IN" dirty="0"/>
              <a:t>Inverse </a:t>
            </a:r>
            <a:r>
              <a:rPr lang="en-IN" dirty="0" err="1"/>
              <a:t>Hadamard</a:t>
            </a:r>
            <a:r>
              <a:rPr lang="en-IN" dirty="0"/>
              <a:t> of Sequence</a:t>
            </a:r>
          </a:p>
          <a:p>
            <a:pPr marL="0" indent="0">
              <a:buNone/>
            </a:pPr>
            <a:r>
              <a:rPr lang="en-IN" b="1" dirty="0"/>
              <a:t>	x[n] = 1/N{H(N).X(n)}</a:t>
            </a:r>
          </a:p>
          <a:p>
            <a:r>
              <a:rPr lang="en-IN" dirty="0" err="1"/>
              <a:t>Hadamard</a:t>
            </a:r>
            <a:r>
              <a:rPr lang="en-IN" dirty="0"/>
              <a:t> of image (2D)</a:t>
            </a:r>
          </a:p>
          <a:p>
            <a:pPr marL="0" indent="0">
              <a:buNone/>
            </a:pPr>
            <a:r>
              <a:rPr lang="en-IN" dirty="0"/>
              <a:t>	</a:t>
            </a:r>
            <a:r>
              <a:rPr lang="en-IN" dirty="0" err="1"/>
              <a:t>Hadamard</a:t>
            </a:r>
            <a:r>
              <a:rPr lang="en-IN" dirty="0"/>
              <a:t> is symmetric transform</a:t>
            </a:r>
          </a:p>
          <a:p>
            <a:pPr marL="0" indent="0">
              <a:buNone/>
            </a:pPr>
            <a:r>
              <a:rPr lang="en-IN" b="1" dirty="0"/>
              <a:t>	F = </a:t>
            </a:r>
            <a:r>
              <a:rPr lang="en-IN" b="1" dirty="0" err="1"/>
              <a:t>TfT</a:t>
            </a:r>
            <a:endParaRPr lang="en-IN" b="1" dirty="0"/>
          </a:p>
          <a:p>
            <a:endParaRPr lang="en-IN" dirty="0"/>
          </a:p>
          <a:p>
            <a:endParaRPr lang="en-IN" dirty="0"/>
          </a:p>
        </p:txBody>
      </p:sp>
    </p:spTree>
    <p:extLst>
      <p:ext uri="{BB962C8B-B14F-4D97-AF65-F5344CB8AC3E}">
        <p14:creationId xmlns:p14="http://schemas.microsoft.com/office/powerpoint/2010/main" val="18377795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226" y="332656"/>
            <a:ext cx="4536504" cy="4464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1380" y="717053"/>
            <a:ext cx="3816424" cy="4080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4572000" y="2996952"/>
            <a:ext cx="288032" cy="1440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295344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Walsh Transform</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2420888"/>
            <a:ext cx="6811592"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84585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Haar</a:t>
            </a:r>
            <a:r>
              <a:rPr lang="en-IN" dirty="0"/>
              <a:t> Transform</a:t>
            </a:r>
          </a:p>
        </p:txBody>
      </p:sp>
      <p:sp>
        <p:nvSpPr>
          <p:cNvPr id="3" name="Content Placeholder 2"/>
          <p:cNvSpPr>
            <a:spLocks noGrp="1"/>
          </p:cNvSpPr>
          <p:nvPr>
            <p:ph idx="1"/>
          </p:nvPr>
        </p:nvSpPr>
        <p:spPr/>
        <p:txBody>
          <a:bodyPr/>
          <a:lstStyle/>
          <a:p>
            <a:endParaRPr lang="en-IN" dirty="0"/>
          </a:p>
          <a:p>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1" y="2060848"/>
            <a:ext cx="8208912"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30923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Haar</a:t>
            </a:r>
            <a:r>
              <a:rPr lang="en-IN" dirty="0"/>
              <a:t> Transform</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9552" y="2204864"/>
            <a:ext cx="8167169"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32170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IMAGE ENHANCEMENT IN THE FREQUENCY DOMAIN</a:t>
            </a:r>
          </a:p>
        </p:txBody>
      </p:sp>
      <p:sp>
        <p:nvSpPr>
          <p:cNvPr id="3" name="Content Placeholder 2"/>
          <p:cNvSpPr>
            <a:spLocks noGrp="1"/>
          </p:cNvSpPr>
          <p:nvPr>
            <p:ph idx="1"/>
          </p:nvPr>
        </p:nvSpPr>
        <p:spPr>
          <a:xfrm>
            <a:off x="395536" y="1988840"/>
            <a:ext cx="8229600" cy="4502271"/>
          </a:xfrm>
        </p:spPr>
        <p:txBody>
          <a:bodyPr>
            <a:normAutofit fontScale="92500" lnSpcReduction="20000"/>
          </a:bodyPr>
          <a:lstStyle/>
          <a:p>
            <a:pPr algn="just"/>
            <a:r>
              <a:rPr lang="en-IN" dirty="0"/>
              <a:t>If we multiply each element of the Fourier coefficient by a suitably chosen weighting function then we can </a:t>
            </a:r>
            <a:r>
              <a:rPr lang="en-IN" b="1" dirty="0"/>
              <a:t>accentuate certain frequency components and attenuate others. </a:t>
            </a:r>
          </a:p>
          <a:p>
            <a:pPr algn="just"/>
            <a:r>
              <a:rPr lang="en-IN" dirty="0"/>
              <a:t>This </a:t>
            </a:r>
            <a:r>
              <a:rPr lang="en-IN" b="1" dirty="0"/>
              <a:t>selective enhancement or suppression of frequency components </a:t>
            </a:r>
            <a:r>
              <a:rPr lang="en-IN" dirty="0"/>
              <a:t>is termed Fourier filtering or frequency domain filtering.</a:t>
            </a:r>
          </a:p>
          <a:p>
            <a:pPr algn="just"/>
            <a:r>
              <a:rPr lang="en-IN" dirty="0"/>
              <a:t>The spatial representation of image data </a:t>
            </a:r>
            <a:r>
              <a:rPr lang="en-IN" b="1" dirty="0"/>
              <a:t>describes the adjacency relationship between the pixels.</a:t>
            </a:r>
            <a:r>
              <a:rPr lang="en-IN" dirty="0"/>
              <a:t> </a:t>
            </a:r>
          </a:p>
          <a:p>
            <a:pPr algn="just"/>
            <a:r>
              <a:rPr lang="en-IN" dirty="0"/>
              <a:t>On the other hand, the frequency domain </a:t>
            </a:r>
            <a:r>
              <a:rPr lang="en-IN" b="1" dirty="0"/>
              <a:t>representation clusters the image data according to their frequency distribution.</a:t>
            </a:r>
          </a:p>
          <a:p>
            <a:pPr algn="just"/>
            <a:r>
              <a:rPr lang="en-IN" dirty="0"/>
              <a:t>In frequency domain filtering, the </a:t>
            </a:r>
            <a:r>
              <a:rPr lang="en-IN" b="1" dirty="0"/>
              <a:t>image data is dissected into various spectral bands</a:t>
            </a:r>
            <a:r>
              <a:rPr lang="en-IN" dirty="0"/>
              <a:t>, where each band depicts a specific range of details within the image. </a:t>
            </a:r>
          </a:p>
          <a:p>
            <a:pPr algn="just"/>
            <a:r>
              <a:rPr lang="en-IN" dirty="0"/>
              <a:t>The </a:t>
            </a:r>
            <a:r>
              <a:rPr lang="en-IN" b="1" dirty="0"/>
              <a:t>process of selective frequency inclusion or exclusion is termed frequency domain filtering.</a:t>
            </a:r>
          </a:p>
          <a:p>
            <a:pPr algn="just"/>
            <a:r>
              <a:rPr lang="en-IN" dirty="0"/>
              <a:t>It is possible to perform filtering in the frequency domain by specifying the frequencies that should be kept and the frequencies that should be discarded.</a:t>
            </a:r>
          </a:p>
        </p:txBody>
      </p:sp>
    </p:spTree>
    <p:extLst>
      <p:ext uri="{BB962C8B-B14F-4D97-AF65-F5344CB8AC3E}">
        <p14:creationId xmlns:p14="http://schemas.microsoft.com/office/powerpoint/2010/main" val="19665080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IMAGE ENHANCEMENT IN THE FREQUENCY DOMAIN</a:t>
            </a:r>
          </a:p>
        </p:txBody>
      </p:sp>
      <p:sp>
        <p:nvSpPr>
          <p:cNvPr id="3" name="Content Placeholder 2"/>
          <p:cNvSpPr>
            <a:spLocks noGrp="1"/>
          </p:cNvSpPr>
          <p:nvPr>
            <p:ph idx="1"/>
          </p:nvPr>
        </p:nvSpPr>
        <p:spPr>
          <a:xfrm>
            <a:off x="457200" y="1600200"/>
            <a:ext cx="8229600" cy="4853136"/>
          </a:xfrm>
        </p:spPr>
        <p:txBody>
          <a:bodyPr>
            <a:normAutofit/>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just">
              <a:buNone/>
            </a:pPr>
            <a:r>
              <a:rPr lang="en-IN" dirty="0"/>
              <a:t>f(</a:t>
            </a:r>
            <a:r>
              <a:rPr lang="en-IN" dirty="0" err="1"/>
              <a:t>m,n</a:t>
            </a:r>
            <a:r>
              <a:rPr lang="en-IN" dirty="0"/>
              <a:t>) – original image</a:t>
            </a:r>
          </a:p>
          <a:p>
            <a:pPr marL="0" indent="0" algn="just">
              <a:buNone/>
            </a:pPr>
            <a:r>
              <a:rPr lang="en-IN" dirty="0"/>
              <a:t>F(</a:t>
            </a:r>
            <a:r>
              <a:rPr lang="en-IN" dirty="0" err="1"/>
              <a:t>k,l</a:t>
            </a:r>
            <a:r>
              <a:rPr lang="en-IN" dirty="0"/>
              <a:t>) – FT of original image</a:t>
            </a:r>
          </a:p>
          <a:p>
            <a:pPr marL="0" indent="0" algn="just">
              <a:buNone/>
            </a:pPr>
            <a:r>
              <a:rPr lang="en-IN" dirty="0"/>
              <a:t>h(</a:t>
            </a:r>
            <a:r>
              <a:rPr lang="en-IN" dirty="0" err="1"/>
              <a:t>m,n</a:t>
            </a:r>
            <a:r>
              <a:rPr lang="en-IN" dirty="0"/>
              <a:t>) – Filtering mask</a:t>
            </a:r>
          </a:p>
          <a:p>
            <a:pPr marL="0" indent="0" algn="just">
              <a:buNone/>
            </a:pPr>
            <a:r>
              <a:rPr lang="en-IN" dirty="0"/>
              <a:t>H(</a:t>
            </a:r>
            <a:r>
              <a:rPr lang="en-IN" dirty="0" err="1"/>
              <a:t>k,l</a:t>
            </a:r>
            <a:r>
              <a:rPr lang="en-IN" dirty="0"/>
              <a:t>) – FT of filtering mask</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346" y="1988840"/>
            <a:ext cx="6086475"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346" y="2626126"/>
            <a:ext cx="5966966" cy="606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815" y="3356992"/>
            <a:ext cx="6027596" cy="576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83928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C5C400-619C-90CD-D333-80E33F81CE0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AFB85B37-E5E4-FB2F-B3AA-921BA78D80DE}"/>
              </a:ext>
            </a:extLst>
          </p:cNvPr>
          <p:cNvSpPr>
            <a:spLocks noGrp="1"/>
          </p:cNvSpPr>
          <p:nvPr>
            <p:ph idx="1"/>
          </p:nvPr>
        </p:nvSpPr>
        <p:spPr>
          <a:xfrm>
            <a:off x="768096" y="2670048"/>
            <a:ext cx="7290055" cy="3639312"/>
          </a:xfrm>
        </p:spPr>
        <p:txBody>
          <a:bodyPr>
            <a:normAutofit/>
          </a:bodyPr>
          <a:lstStyle/>
          <a:p>
            <a:r>
              <a:rPr lang="en-US" dirty="0"/>
              <a:t>1. Low pass filter:</a:t>
            </a:r>
          </a:p>
          <a:p>
            <a:r>
              <a:rPr lang="en-US" b="1" dirty="0"/>
              <a:t>1. Low pass filter </a:t>
            </a:r>
            <a:r>
              <a:rPr lang="en-US" dirty="0"/>
              <a:t>removes the high frequency components that means it keeps low frequency components. It is used for smoothing the image. It is used to smoothen the image by attenuating high frequency components and preserving low frequency components.</a:t>
            </a:r>
          </a:p>
          <a:p>
            <a:r>
              <a:rPr lang="en-US" dirty="0"/>
              <a:t>Mechanism of low pass filtering in frequency domain is given by:</a:t>
            </a:r>
          </a:p>
          <a:p>
            <a:r>
              <a:rPr lang="en-US" dirty="0"/>
              <a:t>G(u, v) = H(u, v) . F(u, v)</a:t>
            </a:r>
          </a:p>
          <a:p>
            <a:r>
              <a:rPr lang="en-US" dirty="0"/>
              <a:t>where F(u, v) is the Fourier Transform of original image</a:t>
            </a:r>
          </a:p>
          <a:p>
            <a:r>
              <a:rPr lang="en-US" dirty="0"/>
              <a:t>and H(u, v) is the Fourier Transform of filtering mask </a:t>
            </a:r>
            <a:endParaRPr lang="en-IN" dirty="0"/>
          </a:p>
        </p:txBody>
      </p:sp>
      <p:pic>
        <p:nvPicPr>
          <p:cNvPr id="4" name="Picture 3">
            <a:extLst>
              <a:ext uri="{FF2B5EF4-FFF2-40B4-BE49-F238E27FC236}">
                <a16:creationId xmlns="" xmlns:a16="http://schemas.microsoft.com/office/drawing/2014/main" id="{4BB13DCD-5BC5-7172-C974-1599BA77C3A4}"/>
              </a:ext>
            </a:extLst>
          </p:cNvPr>
          <p:cNvPicPr>
            <a:picLocks noChangeAspect="1"/>
          </p:cNvPicPr>
          <p:nvPr/>
        </p:nvPicPr>
        <p:blipFill>
          <a:blip r:embed="rId2">
            <a:biLevel thresh="75000"/>
          </a:blip>
          <a:stretch>
            <a:fillRect/>
          </a:stretch>
        </p:blipFill>
        <p:spPr>
          <a:xfrm>
            <a:off x="768096" y="0"/>
            <a:ext cx="7290054" cy="3061556"/>
          </a:xfrm>
          <a:prstGeom prst="rect">
            <a:avLst/>
          </a:prstGeom>
        </p:spPr>
      </p:pic>
    </p:spTree>
    <p:extLst>
      <p:ext uri="{BB962C8B-B14F-4D97-AF65-F5344CB8AC3E}">
        <p14:creationId xmlns:p14="http://schemas.microsoft.com/office/powerpoint/2010/main" val="22043445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8A2705E-293D-A823-71DB-1EE5177E6A8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2EDC1F2-5829-91A7-C4E1-AF1D7A69515C}"/>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8F3AF9DA-7A46-28B4-4580-F7CED5A2FFC9}"/>
              </a:ext>
            </a:extLst>
          </p:cNvPr>
          <p:cNvSpPr>
            <a:spLocks noGrp="1"/>
          </p:cNvSpPr>
          <p:nvPr>
            <p:ph idx="1"/>
          </p:nvPr>
        </p:nvSpPr>
        <p:spPr>
          <a:xfrm>
            <a:off x="768096" y="2670048"/>
            <a:ext cx="7290055" cy="3639312"/>
          </a:xfrm>
        </p:spPr>
        <p:txBody>
          <a:bodyPr>
            <a:normAutofit/>
          </a:bodyPr>
          <a:lstStyle/>
          <a:p>
            <a:r>
              <a:rPr lang="en-US" dirty="0"/>
              <a:t>1. Low pass filter:</a:t>
            </a:r>
          </a:p>
          <a:p>
            <a:r>
              <a:rPr lang="en-US" b="1" dirty="0"/>
              <a:t>2. High pass filter: </a:t>
            </a:r>
            <a:r>
              <a:rPr lang="en-US" dirty="0"/>
              <a:t>High pass filter removes the low frequency components that means it keeps high frequency components. It is used for sharpening the image. It is used to sharpen the image by attenuating low frequency components and preserving high frequency components.</a:t>
            </a:r>
          </a:p>
          <a:p>
            <a:r>
              <a:rPr lang="en-US" dirty="0"/>
              <a:t>Mechanism of high pass filtering in frequency domain is given by:</a:t>
            </a:r>
          </a:p>
          <a:p>
            <a:endParaRPr lang="en-IN" dirty="0"/>
          </a:p>
        </p:txBody>
      </p:sp>
      <p:pic>
        <p:nvPicPr>
          <p:cNvPr id="4" name="Picture 3">
            <a:extLst>
              <a:ext uri="{FF2B5EF4-FFF2-40B4-BE49-F238E27FC236}">
                <a16:creationId xmlns="" xmlns:a16="http://schemas.microsoft.com/office/drawing/2014/main" id="{F3591E96-76D1-2D06-3A00-19568B1984F2}"/>
              </a:ext>
            </a:extLst>
          </p:cNvPr>
          <p:cNvPicPr>
            <a:picLocks noChangeAspect="1"/>
          </p:cNvPicPr>
          <p:nvPr/>
        </p:nvPicPr>
        <p:blipFill>
          <a:blip r:embed="rId2">
            <a:biLevel thresh="75000"/>
          </a:blip>
          <a:stretch>
            <a:fillRect/>
          </a:stretch>
        </p:blipFill>
        <p:spPr>
          <a:xfrm>
            <a:off x="768096" y="0"/>
            <a:ext cx="7290054" cy="3061556"/>
          </a:xfrm>
          <a:prstGeom prst="rect">
            <a:avLst/>
          </a:prstGeom>
        </p:spPr>
      </p:pic>
      <p:sp>
        <p:nvSpPr>
          <p:cNvPr id="8" name="TextBox 7">
            <a:extLst>
              <a:ext uri="{FF2B5EF4-FFF2-40B4-BE49-F238E27FC236}">
                <a16:creationId xmlns="" xmlns:a16="http://schemas.microsoft.com/office/drawing/2014/main" id="{9017A821-E038-3AD6-A6F0-ACF85E0055C4}"/>
              </a:ext>
            </a:extLst>
          </p:cNvPr>
          <p:cNvSpPr txBox="1"/>
          <p:nvPr/>
        </p:nvSpPr>
        <p:spPr>
          <a:xfrm>
            <a:off x="779608" y="4992940"/>
            <a:ext cx="7824839" cy="923330"/>
          </a:xfrm>
          <a:prstGeom prst="rect">
            <a:avLst/>
          </a:prstGeom>
          <a:noFill/>
        </p:spPr>
        <p:txBody>
          <a:bodyPr wrap="square">
            <a:spAutoFit/>
          </a:bodyPr>
          <a:lstStyle/>
          <a:p>
            <a:r>
              <a:rPr lang="en-US" dirty="0"/>
              <a:t>H(u, v) = 1 - H'(u, v)</a:t>
            </a:r>
          </a:p>
          <a:p>
            <a:r>
              <a:rPr lang="en-US" dirty="0"/>
              <a:t>where H(u, v) is the Fourier Transform of high pass filtering</a:t>
            </a:r>
          </a:p>
          <a:p>
            <a:r>
              <a:rPr lang="en-US" dirty="0"/>
              <a:t>and H'(u, v) is the Fourier Transform of low pass filtering </a:t>
            </a:r>
            <a:endParaRPr lang="en-IN" dirty="0"/>
          </a:p>
        </p:txBody>
      </p:sp>
    </p:spTree>
    <p:extLst>
      <p:ext uri="{BB962C8B-B14F-4D97-AF65-F5344CB8AC3E}">
        <p14:creationId xmlns:p14="http://schemas.microsoft.com/office/powerpoint/2010/main" val="18319399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1F80333-AE11-0EBE-9B7E-1A90AB2EA27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67B0623-DE0D-4831-C0D1-BEDC9BE18C72}"/>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1E63E618-9645-FE52-6B3F-CF4E42A9BFBD}"/>
              </a:ext>
            </a:extLst>
          </p:cNvPr>
          <p:cNvSpPr>
            <a:spLocks noGrp="1"/>
          </p:cNvSpPr>
          <p:nvPr>
            <p:ph idx="1"/>
          </p:nvPr>
        </p:nvSpPr>
        <p:spPr>
          <a:xfrm>
            <a:off x="768096" y="2670048"/>
            <a:ext cx="7290055" cy="3639312"/>
          </a:xfrm>
        </p:spPr>
        <p:txBody>
          <a:bodyPr>
            <a:normAutofit/>
          </a:bodyPr>
          <a:lstStyle/>
          <a:p>
            <a:r>
              <a:rPr lang="en-US" dirty="0"/>
              <a:t>1. Low pass filter:</a:t>
            </a:r>
          </a:p>
          <a:p>
            <a:r>
              <a:rPr lang="en-US" b="1" dirty="0"/>
              <a:t>3. Band pass filter: </a:t>
            </a:r>
            <a:r>
              <a:rPr lang="en-US" dirty="0"/>
              <a:t>Band pass filter removes the very low frequency and very high frequency components that means it keeps the moderate range band of frequencies. Band pass filtering is used to enhance edges while reducing the noise at the same time.</a:t>
            </a:r>
          </a:p>
          <a:p>
            <a:r>
              <a:rPr lang="en-US" dirty="0"/>
              <a:t>Band pass filter removes the very low frequency and very high frequency components that means it keeps the moderate range band of frequencies. Band pass filtering is used to enhance edges while reducing the noise at the same time.</a:t>
            </a:r>
            <a:endParaRPr lang="en-IN" dirty="0"/>
          </a:p>
        </p:txBody>
      </p:sp>
      <p:pic>
        <p:nvPicPr>
          <p:cNvPr id="4" name="Picture 3">
            <a:extLst>
              <a:ext uri="{FF2B5EF4-FFF2-40B4-BE49-F238E27FC236}">
                <a16:creationId xmlns="" xmlns:a16="http://schemas.microsoft.com/office/drawing/2014/main" id="{5D546C3B-ED2F-6D49-F22C-69D305FF6052}"/>
              </a:ext>
            </a:extLst>
          </p:cNvPr>
          <p:cNvPicPr>
            <a:picLocks noChangeAspect="1"/>
          </p:cNvPicPr>
          <p:nvPr/>
        </p:nvPicPr>
        <p:blipFill>
          <a:blip r:embed="rId2">
            <a:biLevel thresh="75000"/>
          </a:blip>
          <a:stretch>
            <a:fillRect/>
          </a:stretch>
        </p:blipFill>
        <p:spPr>
          <a:xfrm>
            <a:off x="768096" y="0"/>
            <a:ext cx="7290054" cy="3061556"/>
          </a:xfrm>
          <a:prstGeom prst="rect">
            <a:avLst/>
          </a:prstGeom>
        </p:spPr>
      </p:pic>
    </p:spTree>
    <p:extLst>
      <p:ext uri="{BB962C8B-B14F-4D97-AF65-F5344CB8AC3E}">
        <p14:creationId xmlns:p14="http://schemas.microsoft.com/office/powerpoint/2010/main" val="35398759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a:t>Low Pass (LP) Filters</a:t>
            </a:r>
          </a:p>
        </p:txBody>
      </p:sp>
      <p:sp>
        <p:nvSpPr>
          <p:cNvPr id="26627" name="Content Placeholder 2"/>
          <p:cNvSpPr>
            <a:spLocks noGrp="1"/>
          </p:cNvSpPr>
          <p:nvPr>
            <p:ph idx="1"/>
          </p:nvPr>
        </p:nvSpPr>
        <p:spPr/>
        <p:txBody>
          <a:bodyPr/>
          <a:lstStyle/>
          <a:p>
            <a:r>
              <a:rPr lang="en-US" altLang="en-US" dirty="0"/>
              <a:t>Ideal low-pass filter (ILPF) </a:t>
            </a:r>
          </a:p>
          <a:p>
            <a:r>
              <a:rPr lang="en-US" altLang="en-US" dirty="0"/>
              <a:t>Butterworth low-pass filter (BLPF)</a:t>
            </a:r>
          </a:p>
          <a:p>
            <a:r>
              <a:rPr lang="en-US" altLang="en-US" dirty="0"/>
              <a:t>Gaussian low-pass filter (GLPF)</a:t>
            </a:r>
          </a:p>
          <a:p>
            <a:endParaRPr lang="en-US" altLang="en-US" dirty="0"/>
          </a:p>
        </p:txBody>
      </p:sp>
    </p:spTree>
    <p:extLst>
      <p:ext uri="{BB962C8B-B14F-4D97-AF65-F5344CB8AC3E}">
        <p14:creationId xmlns:p14="http://schemas.microsoft.com/office/powerpoint/2010/main" val="35641758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7AEDA2C-E6F1-3147-6A59-DA39856336FD}"/>
            </a:ext>
          </a:extLst>
        </p:cNvPr>
        <p:cNvGrpSpPr/>
        <p:nvPr/>
      </p:nvGrpSpPr>
      <p:grpSpPr>
        <a:xfrm>
          <a:off x="0" y="0"/>
          <a:ext cx="0" cy="0"/>
          <a:chOff x="0" y="0"/>
          <a:chExt cx="0" cy="0"/>
        </a:xfrm>
      </p:grpSpPr>
      <p:sp>
        <p:nvSpPr>
          <p:cNvPr id="19458" name="Rectangle 2">
            <a:extLst>
              <a:ext uri="{FF2B5EF4-FFF2-40B4-BE49-F238E27FC236}">
                <a16:creationId xmlns="" xmlns:a16="http://schemas.microsoft.com/office/drawing/2014/main" id="{3ED2F8A2-C8AC-B679-5C16-4B6E5F82119A}"/>
              </a:ext>
            </a:extLst>
          </p:cNvPr>
          <p:cNvSpPr>
            <a:spLocks noGrp="1" noChangeArrowheads="1"/>
          </p:cNvSpPr>
          <p:nvPr>
            <p:ph type="title"/>
          </p:nvPr>
        </p:nvSpPr>
        <p:spPr/>
        <p:txBody>
          <a:bodyPr>
            <a:normAutofit/>
          </a:bodyPr>
          <a:lstStyle/>
          <a:p>
            <a:r>
              <a:rPr lang="en-US" altLang="en-US" dirty="0"/>
              <a:t>Ideal Low-pass (LP) filtering</a:t>
            </a:r>
          </a:p>
        </p:txBody>
      </p:sp>
      <p:sp>
        <p:nvSpPr>
          <p:cNvPr id="19459" name="Rectangle 3">
            <a:extLst>
              <a:ext uri="{FF2B5EF4-FFF2-40B4-BE49-F238E27FC236}">
                <a16:creationId xmlns="" xmlns:a16="http://schemas.microsoft.com/office/drawing/2014/main" id="{FAE3969F-A05E-5E99-2C14-1B953FA3B357}"/>
              </a:ext>
            </a:extLst>
          </p:cNvPr>
          <p:cNvSpPr>
            <a:spLocks noGrp="1" noChangeArrowheads="1"/>
          </p:cNvSpPr>
          <p:nvPr>
            <p:ph idx="1"/>
          </p:nvPr>
        </p:nvSpPr>
        <p:spPr/>
        <p:txBody>
          <a:bodyPr/>
          <a:lstStyle/>
          <a:p>
            <a:r>
              <a:rPr lang="en-US" altLang="en-US" dirty="0"/>
              <a:t>Preserves low frequencies, attenuates high frequencies.</a:t>
            </a:r>
          </a:p>
        </p:txBody>
      </p:sp>
      <p:sp>
        <p:nvSpPr>
          <p:cNvPr id="3" name="TextBox 2">
            <a:extLst>
              <a:ext uri="{FF2B5EF4-FFF2-40B4-BE49-F238E27FC236}">
                <a16:creationId xmlns="" xmlns:a16="http://schemas.microsoft.com/office/drawing/2014/main" id="{2F7E3AE3-12A4-3CA6-E16B-91E5EC784405}"/>
              </a:ext>
            </a:extLst>
          </p:cNvPr>
          <p:cNvSpPr txBox="1"/>
          <p:nvPr/>
        </p:nvSpPr>
        <p:spPr>
          <a:xfrm>
            <a:off x="383016" y="2636912"/>
            <a:ext cx="7992888" cy="2862322"/>
          </a:xfrm>
          <a:prstGeom prst="rect">
            <a:avLst/>
          </a:prstGeom>
          <a:noFill/>
        </p:spPr>
        <p:txBody>
          <a:bodyPr wrap="square">
            <a:spAutoFit/>
          </a:bodyPr>
          <a:lstStyle/>
          <a:p>
            <a:pPr lvl="1"/>
            <a:r>
              <a:rPr lang="en-US" altLang="en-US" sz="1800" dirty="0"/>
              <a:t>Cut off all high-frequency components of the Fourier transform that are at a distance greater than a specified distance D</a:t>
            </a:r>
            <a:r>
              <a:rPr lang="en-US" altLang="en-US" sz="1800" baseline="-25000" dirty="0"/>
              <a:t>0</a:t>
            </a:r>
            <a:r>
              <a:rPr lang="en-US" altLang="en-US" sz="1800" dirty="0"/>
              <a:t> (</a:t>
            </a:r>
            <a:r>
              <a:rPr lang="en-US" altLang="en-US" sz="1800" dirty="0">
                <a:solidFill>
                  <a:srgbClr val="FF0000"/>
                </a:solidFill>
              </a:rPr>
              <a:t>cut off frequency</a:t>
            </a:r>
            <a:r>
              <a:rPr lang="en-US" altLang="en-US" sz="1800" dirty="0"/>
              <a:t>) from the origin of the (centered) transform</a:t>
            </a:r>
          </a:p>
          <a:p>
            <a:pPr lvl="1"/>
            <a:r>
              <a:rPr lang="en-US" altLang="en-US" sz="1800" dirty="0"/>
              <a:t>The transfer function (frequency domain filter) is defined by</a:t>
            </a:r>
          </a:p>
          <a:p>
            <a:pPr lvl="1"/>
            <a:r>
              <a:rPr lang="en-US" altLang="en-US" sz="1800" dirty="0"/>
              <a:t>D(</a:t>
            </a:r>
            <a:r>
              <a:rPr lang="en-US" altLang="en-US" sz="1800" dirty="0" err="1"/>
              <a:t>u,v</a:t>
            </a:r>
            <a:r>
              <a:rPr lang="en-US" altLang="en-US" sz="1800" dirty="0"/>
              <a:t>) is the distance from point (</a:t>
            </a:r>
            <a:r>
              <a:rPr lang="en-US" altLang="en-US" sz="1800" dirty="0" err="1"/>
              <a:t>u,v</a:t>
            </a:r>
            <a:r>
              <a:rPr lang="en-US" altLang="en-US" sz="1800" dirty="0"/>
              <a:t>) to the origin (center) of the frequency domain filter</a:t>
            </a:r>
          </a:p>
          <a:p>
            <a:pPr lvl="1"/>
            <a:endParaRPr lang="en-US" altLang="en-US" sz="1800" dirty="0"/>
          </a:p>
          <a:p>
            <a:pPr lvl="1"/>
            <a:endParaRPr lang="en-US" altLang="en-US" sz="1800" dirty="0"/>
          </a:p>
          <a:p>
            <a:pPr lvl="1"/>
            <a:r>
              <a:rPr lang="en-US" altLang="en-US" sz="1800" dirty="0"/>
              <a:t>Usually, the image to be filtered is even-sized, in this case, the center of the filter is (M/2,N/2). Then the distance D(</a:t>
            </a:r>
            <a:r>
              <a:rPr lang="en-US" altLang="en-US" sz="1800" dirty="0" err="1"/>
              <a:t>u,v</a:t>
            </a:r>
            <a:r>
              <a:rPr lang="en-US" altLang="en-US" sz="1800" dirty="0"/>
              <a:t>) can be obtained by </a:t>
            </a:r>
          </a:p>
        </p:txBody>
      </p:sp>
      <p:graphicFrame>
        <p:nvGraphicFramePr>
          <p:cNvPr id="4" name="Object 4">
            <a:extLst>
              <a:ext uri="{FF2B5EF4-FFF2-40B4-BE49-F238E27FC236}">
                <a16:creationId xmlns="" xmlns:a16="http://schemas.microsoft.com/office/drawing/2014/main" id="{8D4DA1A9-D226-8B91-B333-2D3D90FA2E2D}"/>
              </a:ext>
            </a:extLst>
          </p:cNvPr>
          <p:cNvGraphicFramePr>
            <a:graphicFrameLocks noChangeAspect="1"/>
          </p:cNvGraphicFramePr>
          <p:nvPr>
            <p:extLst>
              <p:ext uri="{D42A27DB-BD31-4B8C-83A1-F6EECF244321}">
                <p14:modId xmlns:p14="http://schemas.microsoft.com/office/powerpoint/2010/main" val="1471035005"/>
              </p:ext>
            </p:extLst>
          </p:nvPr>
        </p:nvGraphicFramePr>
        <p:xfrm>
          <a:off x="3131840" y="4077072"/>
          <a:ext cx="3663950" cy="887413"/>
        </p:xfrm>
        <a:graphic>
          <a:graphicData uri="http://schemas.openxmlformats.org/presentationml/2006/ole">
            <mc:AlternateContent xmlns:mc="http://schemas.openxmlformats.org/markup-compatibility/2006">
              <mc:Choice xmlns:v="urn:schemas-microsoft-com:vml" Requires="v">
                <p:oleObj spid="_x0000_s5124" name="Equation" r:id="rId4" imgW="1993680" imgH="482400" progId="Equation.3">
                  <p:embed/>
                </p:oleObj>
              </mc:Choice>
              <mc:Fallback>
                <p:oleObj name="Equation" r:id="rId4" imgW="1993680" imgH="482400" progId="Equation.3">
                  <p:embed/>
                  <p:pic>
                    <p:nvPicPr>
                      <p:cNvPr id="11268" name="Object 4">
                        <a:extLst>
                          <a:ext uri="{FF2B5EF4-FFF2-40B4-BE49-F238E27FC236}">
                            <a16:creationId xmlns="" xmlns:a16="http://schemas.microsoft.com/office/drawing/2014/main" id="{F0679FA6-C2FF-1C4B-16A2-37BE44CB9F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4077072"/>
                        <a:ext cx="36639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a:extLst>
              <a:ext uri="{FF2B5EF4-FFF2-40B4-BE49-F238E27FC236}">
                <a16:creationId xmlns="" xmlns:a16="http://schemas.microsoft.com/office/drawing/2014/main" id="{109CF447-4359-563B-DB4B-36DF3A99705A}"/>
              </a:ext>
            </a:extLst>
          </p:cNvPr>
          <p:cNvGraphicFramePr>
            <a:graphicFrameLocks noChangeAspect="1"/>
          </p:cNvGraphicFramePr>
          <p:nvPr/>
        </p:nvGraphicFramePr>
        <p:xfrm>
          <a:off x="2722563" y="5795963"/>
          <a:ext cx="4621212" cy="420687"/>
        </p:xfrm>
        <a:graphic>
          <a:graphicData uri="http://schemas.openxmlformats.org/presentationml/2006/ole">
            <mc:AlternateContent xmlns:mc="http://schemas.openxmlformats.org/markup-compatibility/2006">
              <mc:Choice xmlns:v="urn:schemas-microsoft-com:vml" Requires="v">
                <p:oleObj spid="_x0000_s5125" name="Equation" r:id="rId6" imgW="2514600" imgH="228600" progId="Equation.3">
                  <p:embed/>
                </p:oleObj>
              </mc:Choice>
              <mc:Fallback>
                <p:oleObj name="Equation" r:id="rId6" imgW="2514600" imgH="228600" progId="Equation.3">
                  <p:embed/>
                  <p:pic>
                    <p:nvPicPr>
                      <p:cNvPr id="11269" name="Object 5">
                        <a:extLst>
                          <a:ext uri="{FF2B5EF4-FFF2-40B4-BE49-F238E27FC236}">
                            <a16:creationId xmlns="" xmlns:a16="http://schemas.microsoft.com/office/drawing/2014/main" id="{A81D62AC-8C68-93DF-C23A-D148295DC5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2563" y="5795963"/>
                        <a:ext cx="4621212"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771015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en-US" altLang="en-US" dirty="0"/>
              <a:t>Ideal Low-pass (LP) filtering</a:t>
            </a:r>
          </a:p>
        </p:txBody>
      </p:sp>
      <p:pic>
        <p:nvPicPr>
          <p:cNvPr id="3" name="Picture 4">
            <a:extLst>
              <a:ext uri="{FF2B5EF4-FFF2-40B4-BE49-F238E27FC236}">
                <a16:creationId xmlns="" xmlns:a16="http://schemas.microsoft.com/office/drawing/2014/main" id="{43A28E97-1943-6782-9424-7375E5C93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850" y="1916832"/>
            <a:ext cx="6316662" cy="267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 xmlns:a16="http://schemas.microsoft.com/office/drawing/2014/main" id="{E8BA1279-B59C-E5F4-0E48-B6671AE4C5A0}"/>
              </a:ext>
            </a:extLst>
          </p:cNvPr>
          <p:cNvSpPr txBox="1"/>
          <p:nvPr/>
        </p:nvSpPr>
        <p:spPr>
          <a:xfrm>
            <a:off x="881716" y="4591770"/>
            <a:ext cx="7290053" cy="923330"/>
          </a:xfrm>
          <a:prstGeom prst="rect">
            <a:avLst/>
          </a:prstGeom>
          <a:noFill/>
        </p:spPr>
        <p:txBody>
          <a:bodyPr wrap="square">
            <a:spAutoFit/>
          </a:bodyPr>
          <a:lstStyle/>
          <a:p>
            <a:r>
              <a:rPr lang="en-US" altLang="en-US" dirty="0"/>
              <a:t>How to determine the cutoff frequency D</a:t>
            </a:r>
            <a:r>
              <a:rPr lang="en-US" altLang="en-US" baseline="-25000" dirty="0"/>
              <a:t>0</a:t>
            </a:r>
            <a:r>
              <a:rPr lang="en-US" altLang="en-US" dirty="0"/>
              <a:t>?</a:t>
            </a:r>
          </a:p>
          <a:p>
            <a:pPr lvl="1"/>
            <a:r>
              <a:rPr lang="en-US" altLang="en-US" dirty="0"/>
              <a:t>One way to do this is to compute circles that enclose specified amounts of total image power P</a:t>
            </a:r>
            <a:r>
              <a:rPr lang="en-US" altLang="en-US" baseline="-25000" dirty="0"/>
              <a:t>T</a:t>
            </a:r>
            <a:r>
              <a:rPr lang="en-US" altLang="en-US" dirty="0"/>
              <a:t>.  </a:t>
            </a:r>
          </a:p>
        </p:txBody>
      </p:sp>
      <p:graphicFrame>
        <p:nvGraphicFramePr>
          <p:cNvPr id="12" name="Object 5">
            <a:extLst>
              <a:ext uri="{FF2B5EF4-FFF2-40B4-BE49-F238E27FC236}">
                <a16:creationId xmlns="" xmlns:a16="http://schemas.microsoft.com/office/drawing/2014/main" id="{5F6B1A25-295D-3811-28D0-BB5204A89E40}"/>
              </a:ext>
            </a:extLst>
          </p:cNvPr>
          <p:cNvGraphicFramePr>
            <a:graphicFrameLocks noChangeAspect="1"/>
          </p:cNvGraphicFramePr>
          <p:nvPr>
            <p:extLst>
              <p:ext uri="{D42A27DB-BD31-4B8C-83A1-F6EECF244321}">
                <p14:modId xmlns:p14="http://schemas.microsoft.com/office/powerpoint/2010/main" val="634933324"/>
              </p:ext>
            </p:extLst>
          </p:nvPr>
        </p:nvGraphicFramePr>
        <p:xfrm>
          <a:off x="3928120" y="5094287"/>
          <a:ext cx="2971800" cy="871538"/>
        </p:xfrm>
        <a:graphic>
          <a:graphicData uri="http://schemas.openxmlformats.org/presentationml/2006/ole">
            <mc:AlternateContent xmlns:mc="http://schemas.openxmlformats.org/markup-compatibility/2006">
              <mc:Choice xmlns:v="urn:schemas-microsoft-com:vml" Requires="v">
                <p:oleObj spid="_x0000_s6148" name="Equation" r:id="rId5" imgW="1473120" imgH="431640" progId="Equation.3">
                  <p:embed/>
                </p:oleObj>
              </mc:Choice>
              <mc:Fallback>
                <p:oleObj name="Equation" r:id="rId5" imgW="1473120" imgH="431640" progId="Equation.3">
                  <p:embed/>
                  <p:pic>
                    <p:nvPicPr>
                      <p:cNvPr id="12293" name="Object 5">
                        <a:extLst>
                          <a:ext uri="{FF2B5EF4-FFF2-40B4-BE49-F238E27FC236}">
                            <a16:creationId xmlns="" xmlns:a16="http://schemas.microsoft.com/office/drawing/2014/main" id="{4CF6310F-BA82-A94C-F132-B806E97416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8120" y="5094287"/>
                        <a:ext cx="2971800" cy="87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6">
            <a:extLst>
              <a:ext uri="{FF2B5EF4-FFF2-40B4-BE49-F238E27FC236}">
                <a16:creationId xmlns="" xmlns:a16="http://schemas.microsoft.com/office/drawing/2014/main" id="{90F71948-EDE2-AD65-D09D-E1D190880C46}"/>
              </a:ext>
            </a:extLst>
          </p:cNvPr>
          <p:cNvGraphicFramePr>
            <a:graphicFrameLocks noChangeAspect="1"/>
          </p:cNvGraphicFramePr>
          <p:nvPr>
            <p:extLst>
              <p:ext uri="{D42A27DB-BD31-4B8C-83A1-F6EECF244321}">
                <p14:modId xmlns:p14="http://schemas.microsoft.com/office/powerpoint/2010/main" val="2313542238"/>
              </p:ext>
            </p:extLst>
          </p:nvPr>
        </p:nvGraphicFramePr>
        <p:xfrm>
          <a:off x="3851920" y="6115050"/>
          <a:ext cx="3125788" cy="742950"/>
        </p:xfrm>
        <a:graphic>
          <a:graphicData uri="http://schemas.openxmlformats.org/presentationml/2006/ole">
            <mc:AlternateContent xmlns:mc="http://schemas.openxmlformats.org/markup-compatibility/2006">
              <mc:Choice xmlns:v="urn:schemas-microsoft-com:vml" Requires="v">
                <p:oleObj spid="_x0000_s6149" name="Equation" r:id="rId7" imgW="1549080" imgH="368280" progId="Equation.3">
                  <p:embed/>
                </p:oleObj>
              </mc:Choice>
              <mc:Fallback>
                <p:oleObj name="Equation" r:id="rId7" imgW="1549080" imgH="368280" progId="Equation.3">
                  <p:embed/>
                  <p:pic>
                    <p:nvPicPr>
                      <p:cNvPr id="12294" name="Object 6">
                        <a:extLst>
                          <a:ext uri="{FF2B5EF4-FFF2-40B4-BE49-F238E27FC236}">
                            <a16:creationId xmlns="" xmlns:a16="http://schemas.microsoft.com/office/drawing/2014/main" id="{1A79D52E-F649-E253-880C-D502390D55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920" y="6115050"/>
                        <a:ext cx="3125788"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316826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sz="3200"/>
              <a:t>How does D</a:t>
            </a:r>
            <a:r>
              <a:rPr lang="en-US" altLang="en-US" sz="3200" baseline="-25000"/>
              <a:t>0 </a:t>
            </a:r>
            <a:r>
              <a:rPr lang="en-US" altLang="en-US" sz="3200"/>
              <a:t>control smoothing? (cont’d)</a:t>
            </a:r>
          </a:p>
        </p:txBody>
      </p:sp>
      <p:sp>
        <p:nvSpPr>
          <p:cNvPr id="24579" name="Rectangle 3"/>
          <p:cNvSpPr>
            <a:spLocks noGrp="1" noChangeArrowheads="1"/>
          </p:cNvSpPr>
          <p:nvPr>
            <p:ph idx="1"/>
          </p:nvPr>
        </p:nvSpPr>
        <p:spPr>
          <a:xfrm>
            <a:off x="685800" y="1752600"/>
            <a:ext cx="7772400" cy="4114800"/>
          </a:xfrm>
        </p:spPr>
        <p:txBody>
          <a:bodyPr/>
          <a:lstStyle/>
          <a:p>
            <a:r>
              <a:rPr lang="en-US" altLang="en-US"/>
              <a:t>D</a:t>
            </a:r>
            <a:r>
              <a:rPr lang="en-US" altLang="en-US" baseline="-25000"/>
              <a:t>0</a:t>
            </a:r>
            <a:r>
              <a:rPr lang="en-US" altLang="en-US"/>
              <a:t> controls the amount of blurring</a:t>
            </a:r>
            <a:endParaRPr lang="en-US" altLang="en-US" baseline="-25000"/>
          </a:p>
        </p:txBody>
      </p:sp>
      <p:pic>
        <p:nvPicPr>
          <p:cNvPr id="24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8400"/>
            <a:ext cx="6110288"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2458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495800"/>
            <a:ext cx="6399213"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2458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4724400"/>
            <a:ext cx="1430338" cy="144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2458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2667000"/>
            <a:ext cx="1430338" cy="144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24584" name="Text Box 8"/>
          <p:cNvSpPr txBox="1">
            <a:spLocks noChangeArrowheads="1"/>
          </p:cNvSpPr>
          <p:nvPr/>
        </p:nvSpPr>
        <p:spPr bwMode="auto">
          <a:xfrm>
            <a:off x="7467600" y="4343400"/>
            <a:ext cx="1028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600"/>
              <a:t>r=8 (90%)</a:t>
            </a:r>
          </a:p>
        </p:txBody>
      </p:sp>
      <p:sp>
        <p:nvSpPr>
          <p:cNvPr id="24585" name="Text Box 9"/>
          <p:cNvSpPr txBox="1">
            <a:spLocks noChangeArrowheads="1"/>
          </p:cNvSpPr>
          <p:nvPr/>
        </p:nvSpPr>
        <p:spPr bwMode="auto">
          <a:xfrm>
            <a:off x="7391400" y="2362200"/>
            <a:ext cx="1219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600"/>
              <a:t>r=78 (99%)</a:t>
            </a:r>
          </a:p>
        </p:txBody>
      </p:sp>
    </p:spTree>
    <p:extLst>
      <p:ext uri="{BB962C8B-B14F-4D97-AF65-F5344CB8AC3E}">
        <p14:creationId xmlns:p14="http://schemas.microsoft.com/office/powerpoint/2010/main" val="21829086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t>Ringing Effect</a:t>
            </a:r>
          </a:p>
        </p:txBody>
      </p:sp>
      <p:sp>
        <p:nvSpPr>
          <p:cNvPr id="25603" name="Rectangle 3"/>
          <p:cNvSpPr>
            <a:spLocks noGrp="1" noChangeArrowheads="1"/>
          </p:cNvSpPr>
          <p:nvPr>
            <p:ph idx="1"/>
          </p:nvPr>
        </p:nvSpPr>
        <p:spPr>
          <a:xfrm>
            <a:off x="685800" y="1981200"/>
            <a:ext cx="4648200" cy="4267200"/>
          </a:xfrm>
        </p:spPr>
        <p:txBody>
          <a:bodyPr/>
          <a:lstStyle/>
          <a:p>
            <a:r>
              <a:rPr lang="en-US" altLang="en-US" u="sng"/>
              <a:t>Sharp </a:t>
            </a:r>
            <a:r>
              <a:rPr lang="en-US" altLang="en-US"/>
              <a:t>cutoff frequencies produce an overshoot of image features whose frequency is close to the cutoff frequencies </a:t>
            </a:r>
            <a:r>
              <a:rPr lang="en-US" altLang="en-US" b="1"/>
              <a:t>(ringing effect).</a:t>
            </a:r>
          </a:p>
          <a:p>
            <a:endParaRPr lang="en-US" altLang="en-US" b="1"/>
          </a:p>
        </p:txBody>
      </p:sp>
      <p:pic>
        <p:nvPicPr>
          <p:cNvPr id="25604" name="Picture 7" descr="crane_p193a"/>
          <p:cNvPicPr>
            <a:picLocks noChangeAspect="1" noChangeArrowheads="1"/>
          </p:cNvPicPr>
          <p:nvPr/>
        </p:nvPicPr>
        <p:blipFill>
          <a:blip r:embed="rId3">
            <a:extLst>
              <a:ext uri="{28A0092B-C50C-407E-A947-70E740481C1C}">
                <a14:useLocalDpi xmlns:a14="http://schemas.microsoft.com/office/drawing/2010/main" val="0"/>
              </a:ext>
            </a:extLst>
          </a:blip>
          <a:srcRect l="1981" t="3137" r="70297" b="9019"/>
          <a:stretch>
            <a:fillRect/>
          </a:stretch>
        </p:blipFill>
        <p:spPr bwMode="auto">
          <a:xfrm>
            <a:off x="534469" y="4511675"/>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8" descr="crane_p193a"/>
          <p:cNvPicPr>
            <a:picLocks noChangeAspect="1" noChangeArrowheads="1"/>
          </p:cNvPicPr>
          <p:nvPr/>
        </p:nvPicPr>
        <p:blipFill>
          <a:blip r:embed="rId3">
            <a:extLst>
              <a:ext uri="{28A0092B-C50C-407E-A947-70E740481C1C}">
                <a14:useLocalDpi xmlns:a14="http://schemas.microsoft.com/office/drawing/2010/main" val="0"/>
              </a:ext>
            </a:extLst>
          </a:blip>
          <a:srcRect l="64357" t="3137" r="6931" b="9019"/>
          <a:stretch>
            <a:fillRect/>
          </a:stretch>
        </p:blipFill>
        <p:spPr bwMode="auto">
          <a:xfrm>
            <a:off x="2936241" y="4511675"/>
            <a:ext cx="2209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9" descr="cast_p165"/>
          <p:cNvPicPr>
            <a:picLocks noChangeAspect="1" noChangeArrowheads="1"/>
          </p:cNvPicPr>
          <p:nvPr/>
        </p:nvPicPr>
        <p:blipFill>
          <a:blip r:embed="rId4">
            <a:extLst>
              <a:ext uri="{28A0092B-C50C-407E-A947-70E740481C1C}">
                <a14:useLocalDpi xmlns:a14="http://schemas.microsoft.com/office/drawing/2010/main" val="0"/>
              </a:ext>
            </a:extLst>
          </a:blip>
          <a:srcRect l="11220" t="5772" r="5751" b="3030"/>
          <a:stretch>
            <a:fillRect/>
          </a:stretch>
        </p:blipFill>
        <p:spPr bwMode="auto">
          <a:xfrm>
            <a:off x="6324600" y="1676400"/>
            <a:ext cx="2176463"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10"/>
          <p:cNvSpPr txBox="1">
            <a:spLocks noChangeArrowheads="1"/>
          </p:cNvSpPr>
          <p:nvPr/>
        </p:nvSpPr>
        <p:spPr bwMode="auto">
          <a:xfrm>
            <a:off x="7620000" y="5410200"/>
            <a:ext cx="671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600">
                <a:solidFill>
                  <a:schemeClr val="bg2"/>
                </a:solidFill>
              </a:rPr>
              <a:t>h=f*g</a:t>
            </a:r>
          </a:p>
        </p:txBody>
      </p:sp>
    </p:spTree>
    <p:extLst>
      <p:ext uri="{BB962C8B-B14F-4D97-AF65-F5344CB8AC3E}">
        <p14:creationId xmlns:p14="http://schemas.microsoft.com/office/powerpoint/2010/main" val="2744945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7413" y="2168617"/>
            <a:ext cx="7372496" cy="4625880"/>
          </a:xfrm>
        </p:spPr>
      </p:pic>
      <p:sp>
        <p:nvSpPr>
          <p:cNvPr id="44034" name="Date Placeholder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254484A-9FC5-475A-80E2-912D18BA27DE}" type="datetime1">
              <a:rPr lang="en-US" altLang="en-US" sz="1400" smtClean="0"/>
              <a:pPr eaLnBrk="1" hangingPunct="1"/>
              <a:t>1/29/2026</a:t>
            </a:fld>
            <a:endParaRPr lang="en-US" altLang="en-US" sz="1400"/>
          </a:p>
        </p:txBody>
      </p:sp>
      <p:sp>
        <p:nvSpPr>
          <p:cNvPr id="4403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BAFCEED-9BB2-4B6F-B336-49F3E5A8CD4A}" type="slidenum">
              <a:rPr lang="en-US" altLang="en-US" sz="1400" smtClean="0"/>
              <a:pPr eaLnBrk="1" hangingPunct="1"/>
              <a:t>94</a:t>
            </a:fld>
            <a:endParaRPr lang="en-US" altLang="en-US" sz="1400"/>
          </a:p>
        </p:txBody>
      </p:sp>
      <p:pic>
        <p:nvPicPr>
          <p:cNvPr id="2" name="Picture 4">
            <a:extLst>
              <a:ext uri="{FF2B5EF4-FFF2-40B4-BE49-F238E27FC236}">
                <a16:creationId xmlns="" xmlns:a16="http://schemas.microsoft.com/office/drawing/2014/main" id="{B65A9760-FFB8-3789-B57B-6C8FEFB0B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8342"/>
            <a:ext cx="3707904" cy="2423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 xmlns:a16="http://schemas.microsoft.com/office/drawing/2014/main" id="{72CDBCB6-730F-87DF-D27D-585E03B67D2A}"/>
              </a:ext>
            </a:extLst>
          </p:cNvPr>
          <p:cNvSpPr txBox="1"/>
          <p:nvPr/>
        </p:nvSpPr>
        <p:spPr>
          <a:xfrm>
            <a:off x="3901989" y="49241"/>
            <a:ext cx="4587764" cy="982577"/>
          </a:xfrm>
          <a:prstGeom prst="rect">
            <a:avLst/>
          </a:prstGeom>
          <a:noFill/>
        </p:spPr>
        <p:txBody>
          <a:bodyPr wrap="square">
            <a:spAutoFit/>
          </a:bodyPr>
          <a:lstStyle/>
          <a:p>
            <a:pPr>
              <a:lnSpc>
                <a:spcPct val="80000"/>
              </a:lnSpc>
            </a:pPr>
            <a:r>
              <a:rPr lang="en-US" altLang="en-US" sz="1800"/>
              <a:t>Ringing effect is clear in most cases except for the last one.</a:t>
            </a:r>
          </a:p>
          <a:p>
            <a:pPr>
              <a:lnSpc>
                <a:spcPct val="80000"/>
              </a:lnSpc>
            </a:pPr>
            <a:r>
              <a:rPr lang="en-US" altLang="en-US" sz="1800"/>
              <a:t>Ringing effect is the consequence of applying ideal lowpass filters</a:t>
            </a:r>
            <a:endParaRPr lang="en-US" altLang="en-US" sz="1800" dirty="0"/>
          </a:p>
        </p:txBody>
      </p:sp>
      <p:sp>
        <p:nvSpPr>
          <p:cNvPr id="6" name="TextBox 5">
            <a:extLst>
              <a:ext uri="{FF2B5EF4-FFF2-40B4-BE49-F238E27FC236}">
                <a16:creationId xmlns="" xmlns:a16="http://schemas.microsoft.com/office/drawing/2014/main" id="{CC7C8E9B-0F25-EB05-5D28-CE71726ABBC4}"/>
              </a:ext>
            </a:extLst>
          </p:cNvPr>
          <p:cNvSpPr txBox="1"/>
          <p:nvPr/>
        </p:nvSpPr>
        <p:spPr>
          <a:xfrm>
            <a:off x="0" y="2574045"/>
            <a:ext cx="1797413" cy="1868973"/>
          </a:xfrm>
          <a:prstGeom prst="rect">
            <a:avLst/>
          </a:prstGeom>
          <a:noFill/>
        </p:spPr>
        <p:txBody>
          <a:bodyPr wrap="square">
            <a:spAutoFit/>
          </a:bodyPr>
          <a:lstStyle/>
          <a:p>
            <a:pPr>
              <a:lnSpc>
                <a:spcPct val="80000"/>
              </a:lnSpc>
            </a:pPr>
            <a:r>
              <a:rPr lang="en-US" altLang="en-US" sz="1800" dirty="0"/>
              <a:t>Ringing effect is clear in most cases except for the last one.</a:t>
            </a:r>
          </a:p>
          <a:p>
            <a:pPr>
              <a:lnSpc>
                <a:spcPct val="80000"/>
              </a:lnSpc>
            </a:pPr>
            <a:r>
              <a:rPr lang="en-US" altLang="en-US" sz="1800" dirty="0"/>
              <a:t>Ringing effect is the consequence of applying ideal lowpass filters</a:t>
            </a:r>
          </a:p>
        </p:txBody>
      </p:sp>
    </p:spTree>
    <p:extLst>
      <p:ext uri="{BB962C8B-B14F-4D97-AF65-F5344CB8AC3E}">
        <p14:creationId xmlns:p14="http://schemas.microsoft.com/office/powerpoint/2010/main" val="16846945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 xmlns:a16="http://schemas.microsoft.com/office/drawing/2014/main" id="{0CA9D94C-55B2-7950-7686-8B7524242EDD}"/>
              </a:ext>
            </a:extLst>
          </p:cNvPr>
          <p:cNvSpPr>
            <a:spLocks noGrp="1" noChangeArrowheads="1"/>
          </p:cNvSpPr>
          <p:nvPr>
            <p:ph type="title"/>
          </p:nvPr>
        </p:nvSpPr>
        <p:spPr/>
        <p:txBody>
          <a:bodyPr/>
          <a:lstStyle/>
          <a:p>
            <a:r>
              <a:rPr lang="en-US" altLang="en-US"/>
              <a:t>Butterworth Lowpass Filters</a:t>
            </a:r>
          </a:p>
        </p:txBody>
      </p:sp>
      <p:sp>
        <p:nvSpPr>
          <p:cNvPr id="16387" name="Rectangle 3">
            <a:extLst>
              <a:ext uri="{FF2B5EF4-FFF2-40B4-BE49-F238E27FC236}">
                <a16:creationId xmlns="" xmlns:a16="http://schemas.microsoft.com/office/drawing/2014/main" id="{6E8F8FEE-3B6D-63D6-3B74-6E9DF5149CF4}"/>
              </a:ext>
            </a:extLst>
          </p:cNvPr>
          <p:cNvSpPr>
            <a:spLocks noGrp="1" noChangeArrowheads="1"/>
          </p:cNvSpPr>
          <p:nvPr>
            <p:ph type="body" idx="1"/>
          </p:nvPr>
        </p:nvSpPr>
        <p:spPr>
          <a:xfrm>
            <a:off x="457200" y="1600200"/>
            <a:ext cx="8229600" cy="2590800"/>
          </a:xfrm>
        </p:spPr>
        <p:txBody>
          <a:bodyPr/>
          <a:lstStyle/>
          <a:p>
            <a:r>
              <a:rPr lang="en-US" altLang="en-US" sz="2000"/>
              <a:t>A butterworth lowpass filter (BLPF) of order n with cutoff frequency at a distance D</a:t>
            </a:r>
            <a:r>
              <a:rPr lang="en-US" altLang="en-US" sz="2000" baseline="-25000"/>
              <a:t>0</a:t>
            </a:r>
            <a:r>
              <a:rPr lang="en-US" altLang="en-US" sz="2000"/>
              <a:t> from the origin is given by the following transfer function</a:t>
            </a:r>
          </a:p>
          <a:p>
            <a:pPr lvl="1"/>
            <a:r>
              <a:rPr lang="en-US" altLang="en-US"/>
              <a:t>  </a:t>
            </a:r>
          </a:p>
          <a:p>
            <a:pPr lvl="1"/>
            <a:r>
              <a:rPr lang="en-US" altLang="en-US" sz="1800"/>
              <a:t>BLPF does not have a sharp discontinuity  </a:t>
            </a:r>
          </a:p>
          <a:p>
            <a:pPr lvl="1"/>
            <a:r>
              <a:rPr lang="en-US" altLang="en-US" sz="1800"/>
              <a:t>For BLPF, the cutoff frequency is defined as the frequency at which the transfer function has value which is half of the maximum</a:t>
            </a:r>
          </a:p>
        </p:txBody>
      </p:sp>
      <p:graphicFrame>
        <p:nvGraphicFramePr>
          <p:cNvPr id="16388" name="Object 4">
            <a:extLst>
              <a:ext uri="{FF2B5EF4-FFF2-40B4-BE49-F238E27FC236}">
                <a16:creationId xmlns="" xmlns:a16="http://schemas.microsoft.com/office/drawing/2014/main" id="{0C8EAA46-FA06-1DDA-D87D-E226A16755B0}"/>
              </a:ext>
            </a:extLst>
          </p:cNvPr>
          <p:cNvGraphicFramePr>
            <a:graphicFrameLocks noChangeAspect="1"/>
          </p:cNvGraphicFramePr>
          <p:nvPr>
            <p:extLst>
              <p:ext uri="{D42A27DB-BD31-4B8C-83A1-F6EECF244321}">
                <p14:modId xmlns:p14="http://schemas.microsoft.com/office/powerpoint/2010/main" val="146478040"/>
              </p:ext>
            </p:extLst>
          </p:nvPr>
        </p:nvGraphicFramePr>
        <p:xfrm>
          <a:off x="4932040" y="2183828"/>
          <a:ext cx="2552700" cy="628650"/>
        </p:xfrm>
        <a:graphic>
          <a:graphicData uri="http://schemas.openxmlformats.org/presentationml/2006/ole">
            <mc:AlternateContent xmlns:mc="http://schemas.openxmlformats.org/markup-compatibility/2006">
              <mc:Choice xmlns:v="urn:schemas-microsoft-com:vml" Requires="v">
                <p:oleObj spid="_x0000_s7171" name="Equation" r:id="rId3" imgW="1752480" imgH="431640" progId="Equation.3">
                  <p:embed/>
                </p:oleObj>
              </mc:Choice>
              <mc:Fallback>
                <p:oleObj name="Equation" r:id="rId3" imgW="1752480" imgH="431640" progId="Equation.3">
                  <p:embed/>
                  <p:pic>
                    <p:nvPicPr>
                      <p:cNvPr id="16388" name="Object 4">
                        <a:extLst>
                          <a:ext uri="{FF2B5EF4-FFF2-40B4-BE49-F238E27FC236}">
                            <a16:creationId xmlns="" xmlns:a16="http://schemas.microsoft.com/office/drawing/2014/main" id="{0C8EAA46-FA06-1DDA-D87D-E226A16755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2183828"/>
                        <a:ext cx="25527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6389" name="Picture 5">
            <a:extLst>
              <a:ext uri="{FF2B5EF4-FFF2-40B4-BE49-F238E27FC236}">
                <a16:creationId xmlns="" xmlns:a16="http://schemas.microsoft.com/office/drawing/2014/main" id="{1969772A-6193-3CCE-A65C-4BFA962393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3988" y="4168775"/>
            <a:ext cx="6294437"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 xmlns:a16="http://schemas.microsoft.com/office/drawing/2014/main" id="{69D9F066-5D90-B727-813D-F535EA511D8E}"/>
              </a:ext>
            </a:extLst>
          </p:cNvPr>
          <p:cNvSpPr>
            <a:spLocks noGrp="1" noChangeArrowheads="1"/>
          </p:cNvSpPr>
          <p:nvPr>
            <p:ph type="title"/>
          </p:nvPr>
        </p:nvSpPr>
        <p:spPr/>
        <p:txBody>
          <a:bodyPr/>
          <a:lstStyle/>
          <a:p>
            <a:r>
              <a:rPr lang="en-US" altLang="en-US" sz="4000"/>
              <a:t>Examples of Application of BLPF</a:t>
            </a:r>
          </a:p>
        </p:txBody>
      </p:sp>
      <p:pic>
        <p:nvPicPr>
          <p:cNvPr id="18436" name="Picture 4">
            <a:extLst>
              <a:ext uri="{FF2B5EF4-FFF2-40B4-BE49-F238E27FC236}">
                <a16:creationId xmlns="" xmlns:a16="http://schemas.microsoft.com/office/drawing/2014/main" id="{E07E3780-61D1-4F2E-A4F6-CA57FC2F76A1}"/>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162425" y="1971338"/>
            <a:ext cx="3145879" cy="4581861"/>
          </a:xfrm>
          <a:noFill/>
          <a:ln/>
        </p:spPr>
      </p:pic>
      <p:sp>
        <p:nvSpPr>
          <p:cNvPr id="18437" name="Rectangle 5">
            <a:extLst>
              <a:ext uri="{FF2B5EF4-FFF2-40B4-BE49-F238E27FC236}">
                <a16:creationId xmlns="" xmlns:a16="http://schemas.microsoft.com/office/drawing/2014/main" id="{6EAA13B1-6F24-2B9A-1525-D6FB166646C8}"/>
              </a:ext>
            </a:extLst>
          </p:cNvPr>
          <p:cNvSpPr>
            <a:spLocks noChangeArrowheads="1"/>
          </p:cNvSpPr>
          <p:nvPr/>
        </p:nvSpPr>
        <p:spPr bwMode="auto">
          <a:xfrm>
            <a:off x="457200" y="1600200"/>
            <a:ext cx="3962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800"/>
              <a:t>Same order but with different cutoff frequencies</a:t>
            </a:r>
          </a:p>
          <a:p>
            <a:pPr lvl="1"/>
            <a:r>
              <a:rPr lang="en-US" altLang="en-US" sz="2400"/>
              <a:t>The larger the cutoff frequency, the more details are reserved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7848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IN" dirty="0"/>
              <a:t>Butterworth LPF</a:t>
            </a:r>
          </a:p>
        </p:txBody>
      </p:sp>
    </p:spTree>
    <p:extLst>
      <p:ext uri="{BB962C8B-B14F-4D97-AF65-F5344CB8AC3E}">
        <p14:creationId xmlns:p14="http://schemas.microsoft.com/office/powerpoint/2010/main" val="35447162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t>Butterworth LP filter (BLPF)</a:t>
            </a:r>
          </a:p>
        </p:txBody>
      </p:sp>
      <p:sp>
        <p:nvSpPr>
          <p:cNvPr id="27651" name="Rectangle 3"/>
          <p:cNvSpPr>
            <a:spLocks noGrp="1" noChangeArrowheads="1"/>
          </p:cNvSpPr>
          <p:nvPr>
            <p:ph idx="1"/>
          </p:nvPr>
        </p:nvSpPr>
        <p:spPr>
          <a:xfrm>
            <a:off x="685800" y="1981200"/>
            <a:ext cx="8077200" cy="4267200"/>
          </a:xfrm>
        </p:spPr>
        <p:txBody>
          <a:bodyPr/>
          <a:lstStyle/>
          <a:p>
            <a:r>
              <a:rPr lang="en-US" altLang="en-US"/>
              <a:t>In practice, we use filters that </a:t>
            </a:r>
            <a:r>
              <a:rPr lang="en-US" altLang="en-US" u="sng"/>
              <a:t>attenuate high frequencies smoothly</a:t>
            </a:r>
            <a:r>
              <a:rPr lang="en-US" altLang="en-US"/>
              <a:t> (e.g., </a:t>
            </a:r>
            <a:r>
              <a:rPr lang="en-US" altLang="en-US" b="1"/>
              <a:t>Butterworth</a:t>
            </a:r>
            <a:r>
              <a:rPr lang="en-US" altLang="en-US"/>
              <a:t> LP filter) </a:t>
            </a:r>
            <a:r>
              <a:rPr lang="en-US" altLang="en-US">
                <a:sym typeface="Wingdings" pitchFamily="2" charset="2"/>
              </a:rPr>
              <a:t> </a:t>
            </a:r>
            <a:r>
              <a:rPr lang="en-US" altLang="en-US"/>
              <a:t>less ringing effect</a:t>
            </a:r>
          </a:p>
          <a:p>
            <a:endParaRPr lang="en-US" altLang="en-US" b="1"/>
          </a:p>
        </p:txBody>
      </p:sp>
      <p:pic>
        <p:nvPicPr>
          <p:cNvPr id="2765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276600"/>
            <a:ext cx="31242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27653" name="Picture 8"/>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867400" y="4572000"/>
            <a:ext cx="3114675"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27654" name="Text Box 9"/>
          <p:cNvSpPr txBox="1">
            <a:spLocks noChangeArrowheads="1"/>
          </p:cNvSpPr>
          <p:nvPr/>
        </p:nvSpPr>
        <p:spPr bwMode="auto">
          <a:xfrm>
            <a:off x="6156325" y="4659313"/>
            <a:ext cx="461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400">
                <a:solidFill>
                  <a:schemeClr val="bg2"/>
                </a:solidFill>
              </a:rPr>
              <a:t>n=1</a:t>
            </a:r>
          </a:p>
        </p:txBody>
      </p:sp>
      <p:sp>
        <p:nvSpPr>
          <p:cNvPr id="27655" name="Text Box 10"/>
          <p:cNvSpPr txBox="1">
            <a:spLocks noChangeArrowheads="1"/>
          </p:cNvSpPr>
          <p:nvPr/>
        </p:nvSpPr>
        <p:spPr bwMode="auto">
          <a:xfrm>
            <a:off x="6629400" y="4724400"/>
            <a:ext cx="461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400">
                <a:solidFill>
                  <a:schemeClr val="bg2"/>
                </a:solidFill>
              </a:rPr>
              <a:t>n=4</a:t>
            </a:r>
          </a:p>
        </p:txBody>
      </p:sp>
      <p:sp>
        <p:nvSpPr>
          <p:cNvPr id="27656" name="Text Box 11"/>
          <p:cNvSpPr txBox="1">
            <a:spLocks noChangeArrowheads="1"/>
          </p:cNvSpPr>
          <p:nvPr/>
        </p:nvSpPr>
        <p:spPr bwMode="auto">
          <a:xfrm>
            <a:off x="7010400" y="4724400"/>
            <a:ext cx="550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400">
                <a:solidFill>
                  <a:schemeClr val="bg2"/>
                </a:solidFill>
              </a:rPr>
              <a:t>n=16</a:t>
            </a:r>
          </a:p>
        </p:txBody>
      </p:sp>
      <p:pic>
        <p:nvPicPr>
          <p:cNvPr id="27657" name="Picture 12" descr="gonzalez_p208"/>
          <p:cNvPicPr>
            <a:picLocks noChangeAspect="1" noChangeArrowheads="1"/>
          </p:cNvPicPr>
          <p:nvPr/>
        </p:nvPicPr>
        <p:blipFill>
          <a:blip r:embed="rId4">
            <a:extLst>
              <a:ext uri="{28A0092B-C50C-407E-A947-70E740481C1C}">
                <a14:useLocalDpi xmlns:a14="http://schemas.microsoft.com/office/drawing/2010/main" val="0"/>
              </a:ext>
            </a:extLst>
          </a:blip>
          <a:srcRect l="1949" t="3558" r="5579" b="9550"/>
          <a:stretch>
            <a:fillRect/>
          </a:stretch>
        </p:blipFill>
        <p:spPr bwMode="auto">
          <a:xfrm>
            <a:off x="533400" y="3810000"/>
            <a:ext cx="495300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40317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endParaRPr kumimoji="0" lang="en-US" altLang="en-US">
              <a:latin typeface="Tahoma" pitchFamily="34" charset="0"/>
            </a:endParaRPr>
          </a:p>
          <a:p>
            <a:endParaRPr kumimoji="0" lang="en-US" altLang="en-US">
              <a:latin typeface="Tahoma" pitchFamily="34" charset="0"/>
            </a:endParaRPr>
          </a:p>
          <a:p>
            <a:endParaRPr kumimoji="0" lang="en-US" altLang="en-US">
              <a:latin typeface="Tahoma" pitchFamily="34" charset="0"/>
            </a:endParaRPr>
          </a:p>
          <a:p>
            <a:endParaRPr kumimoji="0" lang="en-US" altLang="en-US">
              <a:latin typeface="Tahoma" pitchFamily="34" charset="0"/>
            </a:endParaRPr>
          </a:p>
        </p:txBody>
      </p:sp>
      <p:sp>
        <p:nvSpPr>
          <p:cNvPr id="28675" name="Rectangle 4"/>
          <p:cNvSpPr>
            <a:spLocks noGrp="1" noRot="1" noChangeArrowheads="1"/>
          </p:cNvSpPr>
          <p:nvPr>
            <p:ph type="title"/>
          </p:nvPr>
        </p:nvSpPr>
        <p:spPr>
          <a:xfrm>
            <a:off x="719138" y="381000"/>
            <a:ext cx="8424862" cy="13319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Spatial Representation of BLPFs</a:t>
            </a:r>
          </a:p>
        </p:txBody>
      </p:sp>
      <p:pic>
        <p:nvPicPr>
          <p:cNvPr id="286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100" y="2057400"/>
            <a:ext cx="7335838" cy="406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7" name="TextBox 1"/>
          <p:cNvSpPr txBox="1">
            <a:spLocks noChangeArrowheads="1"/>
          </p:cNvSpPr>
          <p:nvPr/>
        </p:nvSpPr>
        <p:spPr bwMode="auto">
          <a:xfrm>
            <a:off x="1589088" y="1658938"/>
            <a:ext cx="6262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a:t>n=1                 n=2                  n=5                n=20 </a:t>
            </a:r>
          </a:p>
        </p:txBody>
      </p:sp>
    </p:spTree>
    <p:extLst>
      <p:ext uri="{BB962C8B-B14F-4D97-AF65-F5344CB8AC3E}">
        <p14:creationId xmlns:p14="http://schemas.microsoft.com/office/powerpoint/2010/main" val="17712818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endParaRPr kumimoji="0" lang="en-US" altLang="en-US">
              <a:latin typeface="Tahoma" pitchFamily="34" charset="0"/>
            </a:endParaRPr>
          </a:p>
          <a:p>
            <a:endParaRPr kumimoji="0" lang="en-US" altLang="en-US">
              <a:latin typeface="Tahoma" pitchFamily="34" charset="0"/>
            </a:endParaRPr>
          </a:p>
          <a:p>
            <a:endParaRPr kumimoji="0" lang="en-US" altLang="en-US">
              <a:latin typeface="Tahoma" pitchFamily="34" charset="0"/>
            </a:endParaRPr>
          </a:p>
          <a:p>
            <a:endParaRPr kumimoji="0" lang="en-US" altLang="en-US">
              <a:latin typeface="Tahoma" pitchFamily="34" charset="0"/>
            </a:endParaRPr>
          </a:p>
        </p:txBody>
      </p:sp>
      <p:sp>
        <p:nvSpPr>
          <p:cNvPr id="29699" name="Rectangle 4"/>
          <p:cNvSpPr>
            <a:spLocks noGrp="1" noRot="1" noChangeArrowheads="1"/>
          </p:cNvSpPr>
          <p:nvPr>
            <p:ph type="title"/>
          </p:nvPr>
        </p:nvSpPr>
        <p:spPr>
          <a:xfrm>
            <a:off x="719138" y="381000"/>
            <a:ext cx="8424862" cy="13319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Comparison: Ideal LP and BLPF</a:t>
            </a:r>
          </a:p>
        </p:txBody>
      </p:sp>
      <p:pic>
        <p:nvPicPr>
          <p:cNvPr id="297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3225" y="1933575"/>
            <a:ext cx="2724150" cy="460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188" y="1901825"/>
            <a:ext cx="2763837" cy="461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2" name="TextBox 2"/>
          <p:cNvSpPr txBox="1">
            <a:spLocks noChangeArrowheads="1"/>
          </p:cNvSpPr>
          <p:nvPr/>
        </p:nvSpPr>
        <p:spPr bwMode="auto">
          <a:xfrm>
            <a:off x="2711450" y="1573213"/>
            <a:ext cx="65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800"/>
              <a:t>ILPF</a:t>
            </a:r>
          </a:p>
        </p:txBody>
      </p:sp>
      <p:sp>
        <p:nvSpPr>
          <p:cNvPr id="29703" name="TextBox 8"/>
          <p:cNvSpPr txBox="1">
            <a:spLocks noChangeArrowheads="1"/>
          </p:cNvSpPr>
          <p:nvPr/>
        </p:nvSpPr>
        <p:spPr bwMode="auto">
          <a:xfrm>
            <a:off x="5534025" y="153352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800"/>
              <a:t>BLPF</a:t>
            </a:r>
          </a:p>
        </p:txBody>
      </p:sp>
      <p:sp>
        <p:nvSpPr>
          <p:cNvPr id="29704" name="TextBox 3"/>
          <p:cNvSpPr txBox="1">
            <a:spLocks noChangeArrowheads="1"/>
          </p:cNvSpPr>
          <p:nvPr/>
        </p:nvSpPr>
        <p:spPr bwMode="auto">
          <a:xfrm>
            <a:off x="228600" y="3533775"/>
            <a:ext cx="11922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800"/>
              <a:t>D</a:t>
            </a:r>
            <a:r>
              <a:rPr lang="en-US" altLang="en-US" sz="1800" baseline="-25000"/>
              <a:t>0</a:t>
            </a:r>
            <a:r>
              <a:rPr lang="en-US" altLang="en-US" sz="1800"/>
              <a:t>=10, 30,</a:t>
            </a:r>
          </a:p>
          <a:p>
            <a:r>
              <a:rPr lang="en-US" altLang="en-US" sz="1800"/>
              <a:t>60, 160,</a:t>
            </a:r>
          </a:p>
          <a:p>
            <a:r>
              <a:rPr lang="en-US" altLang="en-US" sz="1800"/>
              <a:t>460</a:t>
            </a:r>
          </a:p>
        </p:txBody>
      </p:sp>
      <p:sp>
        <p:nvSpPr>
          <p:cNvPr id="29705" name="TextBox 7"/>
          <p:cNvSpPr txBox="1">
            <a:spLocks noChangeArrowheads="1"/>
          </p:cNvSpPr>
          <p:nvPr/>
        </p:nvSpPr>
        <p:spPr bwMode="auto">
          <a:xfrm>
            <a:off x="7924800" y="3810000"/>
            <a:ext cx="546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800"/>
              <a:t>n=2</a:t>
            </a:r>
          </a:p>
        </p:txBody>
      </p:sp>
      <p:sp>
        <p:nvSpPr>
          <p:cNvPr id="29706" name="TextBox 3"/>
          <p:cNvSpPr txBox="1">
            <a:spLocks noChangeArrowheads="1"/>
          </p:cNvSpPr>
          <p:nvPr/>
        </p:nvSpPr>
        <p:spPr bwMode="auto">
          <a:xfrm>
            <a:off x="7696200" y="2590800"/>
            <a:ext cx="11922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sz="1800"/>
              <a:t>D</a:t>
            </a:r>
            <a:r>
              <a:rPr lang="en-US" altLang="en-US" sz="1800" baseline="-25000"/>
              <a:t>0</a:t>
            </a:r>
            <a:r>
              <a:rPr lang="en-US" altLang="en-US" sz="1800"/>
              <a:t>=10, 30,</a:t>
            </a:r>
          </a:p>
          <a:p>
            <a:r>
              <a:rPr lang="en-US" altLang="en-US" sz="1800"/>
              <a:t>60, 160,</a:t>
            </a:r>
          </a:p>
          <a:p>
            <a:r>
              <a:rPr lang="en-US" altLang="en-US" sz="1800"/>
              <a:t>460</a:t>
            </a:r>
          </a:p>
        </p:txBody>
      </p:sp>
    </p:spTree>
    <p:extLst>
      <p:ext uri="{BB962C8B-B14F-4D97-AF65-F5344CB8AC3E}">
        <p14:creationId xmlns:p14="http://schemas.microsoft.com/office/powerpoint/2010/main" val="8598270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7A1A21A0-A7D5-08A5-E864-A2E3F491F7A9}"/>
              </a:ext>
            </a:extLst>
          </p:cNvPr>
          <p:cNvSpPr>
            <a:spLocks noGrp="1"/>
          </p:cNvSpPr>
          <p:nvPr>
            <p:ph type="title"/>
          </p:nvPr>
        </p:nvSpPr>
        <p:spPr/>
        <p:txBody>
          <a:bodyPr/>
          <a:lstStyle/>
          <a:p>
            <a:r>
              <a:rPr lang="en-US" altLang="en-US" dirty="0"/>
              <a:t>Gaussian Lowpass Filters </a:t>
            </a:r>
            <a:endParaRPr lang="en-IN" dirty="0"/>
          </a:p>
        </p:txBody>
      </p:sp>
      <p:sp>
        <p:nvSpPr>
          <p:cNvPr id="7" name="Rectangle 3">
            <a:extLst>
              <a:ext uri="{FF2B5EF4-FFF2-40B4-BE49-F238E27FC236}">
                <a16:creationId xmlns="" xmlns:a16="http://schemas.microsoft.com/office/drawing/2014/main" id="{3776F7F1-26DC-BAB8-2F7F-01806A1D8FA8}"/>
              </a:ext>
            </a:extLst>
          </p:cNvPr>
          <p:cNvSpPr txBox="1">
            <a:spLocks noChangeArrowheads="1"/>
          </p:cNvSpPr>
          <p:nvPr/>
        </p:nvSpPr>
        <p:spPr>
          <a:xfrm>
            <a:off x="457200" y="1600200"/>
            <a:ext cx="8382000" cy="281940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r>
              <a:rPr lang="en-US" altLang="en-US" sz="2400" dirty="0">
                <a:cs typeface="Arial" panose="020B0604020202020204" pitchFamily="34" charset="0"/>
              </a:rPr>
              <a:t>GLPF is given by the following (centered ) transfer function</a:t>
            </a:r>
          </a:p>
          <a:p>
            <a:pPr lvl="1"/>
            <a:endParaRPr lang="en-US" altLang="en-US" sz="2000" dirty="0">
              <a:cs typeface="Arial" panose="020B0604020202020204" pitchFamily="34" charset="0"/>
            </a:endParaRPr>
          </a:p>
          <a:p>
            <a:pPr lvl="1"/>
            <a:r>
              <a:rPr lang="en-US" altLang="en-US" sz="2000" dirty="0">
                <a:cs typeface="Arial" panose="020B0604020202020204" pitchFamily="34" charset="0"/>
              </a:rPr>
              <a:t>(u</a:t>
            </a:r>
            <a:r>
              <a:rPr lang="en-US" altLang="en-US" sz="2000" baseline="-25000" dirty="0">
                <a:cs typeface="Arial" panose="020B0604020202020204" pitchFamily="34" charset="0"/>
              </a:rPr>
              <a:t>0</a:t>
            </a:r>
            <a:r>
              <a:rPr lang="en-US" altLang="en-US" sz="2000" dirty="0">
                <a:cs typeface="Arial" panose="020B0604020202020204" pitchFamily="34" charset="0"/>
              </a:rPr>
              <a:t>,v</a:t>
            </a:r>
            <a:r>
              <a:rPr lang="en-US" altLang="en-US" sz="2000" baseline="-25000" dirty="0">
                <a:cs typeface="Arial" panose="020B0604020202020204" pitchFamily="34" charset="0"/>
              </a:rPr>
              <a:t>0</a:t>
            </a:r>
            <a:r>
              <a:rPr lang="en-US" altLang="en-US" sz="2000" dirty="0">
                <a:cs typeface="Arial" panose="020B0604020202020204" pitchFamily="34" charset="0"/>
              </a:rPr>
              <a:t>) is the center of the transfer function</a:t>
            </a:r>
          </a:p>
          <a:p>
            <a:pPr lvl="1"/>
            <a:r>
              <a:rPr lang="en-US" altLang="en-US" sz="2000" dirty="0">
                <a:cs typeface="Arial" panose="020B0604020202020204" pitchFamily="34" charset="0"/>
              </a:rPr>
              <a:t>It is [M/2, N/2] if M,N are even and [(M+1)/2,(N+1)/2] if M,N are odd numbers</a:t>
            </a:r>
          </a:p>
          <a:p>
            <a:pPr lvl="1"/>
            <a:r>
              <a:rPr lang="en-US" altLang="en-US" sz="2000" dirty="0">
                <a:cs typeface="Arial" panose="020B0604020202020204" pitchFamily="34" charset="0"/>
              </a:rPr>
              <a:t>Dose GLPF suffer from the ringing effect?</a:t>
            </a:r>
            <a:endParaRPr lang="el-GR" altLang="en-US" sz="2000" dirty="0">
              <a:cs typeface="Arial" panose="020B0604020202020204" pitchFamily="34" charset="0"/>
            </a:endParaRPr>
          </a:p>
        </p:txBody>
      </p:sp>
      <p:pic>
        <p:nvPicPr>
          <p:cNvPr id="8" name="Picture 5">
            <a:extLst>
              <a:ext uri="{FF2B5EF4-FFF2-40B4-BE49-F238E27FC236}">
                <a16:creationId xmlns="" xmlns:a16="http://schemas.microsoft.com/office/drawing/2014/main" id="{C8E5F8B4-DF7F-6B05-C055-710FA26D4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4173" y="4120822"/>
            <a:ext cx="6057900" cy="262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Object 4">
            <a:extLst>
              <a:ext uri="{FF2B5EF4-FFF2-40B4-BE49-F238E27FC236}">
                <a16:creationId xmlns="" xmlns:a16="http://schemas.microsoft.com/office/drawing/2014/main" id="{38D89E19-6ADE-BDEA-9C40-0947E51EDCBC}"/>
              </a:ext>
            </a:extLst>
          </p:cNvPr>
          <p:cNvGraphicFramePr>
            <a:graphicFrameLocks noChangeAspect="1"/>
          </p:cNvGraphicFramePr>
          <p:nvPr>
            <p:extLst>
              <p:ext uri="{D42A27DB-BD31-4B8C-83A1-F6EECF244321}">
                <p14:modId xmlns:p14="http://schemas.microsoft.com/office/powerpoint/2010/main" val="4280946040"/>
              </p:ext>
            </p:extLst>
          </p:nvPr>
        </p:nvGraphicFramePr>
        <p:xfrm>
          <a:off x="2440403" y="1916832"/>
          <a:ext cx="5589588" cy="555625"/>
        </p:xfrm>
        <a:graphic>
          <a:graphicData uri="http://schemas.openxmlformats.org/presentationml/2006/ole">
            <mc:AlternateContent xmlns:mc="http://schemas.openxmlformats.org/markup-compatibility/2006">
              <mc:Choice xmlns:v="urn:schemas-microsoft-com:vml" Requires="v">
                <p:oleObj spid="_x0000_s8195" name="Equation" r:id="rId4" imgW="2552400" imgH="253800" progId="Equation.3">
                  <p:embed/>
                </p:oleObj>
              </mc:Choice>
              <mc:Fallback>
                <p:oleObj name="Equation" r:id="rId4" imgW="2552400" imgH="253800" progId="Equation.3">
                  <p:embed/>
                  <p:pic>
                    <p:nvPicPr>
                      <p:cNvPr id="22532" name="Object 4">
                        <a:extLst>
                          <a:ext uri="{FF2B5EF4-FFF2-40B4-BE49-F238E27FC236}">
                            <a16:creationId xmlns="" xmlns:a16="http://schemas.microsoft.com/office/drawing/2014/main" id="{2B817CDE-4282-0717-2C82-5B9B8CAB1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0403" y="1916832"/>
                        <a:ext cx="5589588"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93117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57400"/>
            <a:ext cx="6931025"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2362200"/>
            <a:ext cx="1636713"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4"/>
          <p:cNvSpPr>
            <a:spLocks noRot="1" noChangeArrowheads="1"/>
          </p:cNvSpPr>
          <p:nvPr/>
        </p:nvSpPr>
        <p:spPr bwMode="auto">
          <a:xfrm>
            <a:off x="239713" y="482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eaLnBrk="1" hangingPunct="1"/>
            <a:r>
              <a:rPr lang="en-US" altLang="en-US" sz="3200">
                <a:solidFill>
                  <a:schemeClr val="tx2"/>
                </a:solidFill>
              </a:rPr>
              <a:t>Example: smoothing by GLPF (1)</a:t>
            </a:r>
          </a:p>
        </p:txBody>
      </p:sp>
    </p:spTree>
    <p:extLst>
      <p:ext uri="{BB962C8B-B14F-4D97-AF65-F5344CB8AC3E}">
        <p14:creationId xmlns:p14="http://schemas.microsoft.com/office/powerpoint/2010/main" val="35878493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Date Placeholder 1"/>
          <p:cNvSpPr>
            <a:spLocks noGrp="1"/>
          </p:cNvSpPr>
          <p:nvPr>
            <p:ph type="dt" sz="half"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72111015-2AD6-48EE-A1A7-C77A0A182C34}" type="datetime1">
              <a:rPr lang="en-US" altLang="en-US" sz="1400" smtClean="0"/>
              <a:pPr/>
              <a:t>1/29/2026</a:t>
            </a:fld>
            <a:endParaRPr lang="en-US" altLang="en-US" sz="1400"/>
          </a:p>
        </p:txBody>
      </p:sp>
      <p:sp>
        <p:nvSpPr>
          <p:cNvPr id="33795" name="Slide Number Placeholder 3"/>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fld id="{3C3CA0F0-9979-4490-B3FD-57443F3ADB7F}" type="slidenum">
              <a:rPr lang="en-US" altLang="en-US" sz="1400" smtClean="0"/>
              <a:pPr/>
              <a:t>103</a:t>
            </a:fld>
            <a:endParaRPr lang="en-US" altLang="en-US" sz="1400"/>
          </a:p>
        </p:txBody>
      </p:sp>
      <p:sp>
        <p:nvSpPr>
          <p:cNvPr id="33796" name="Rectangle 4"/>
          <p:cNvSpPr>
            <a:spLocks noRot="1" noChangeArrowheads="1"/>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eaLnBrk="1" hangingPunct="1"/>
            <a:r>
              <a:rPr lang="en-US" altLang="en-US" sz="3200">
                <a:solidFill>
                  <a:schemeClr val="tx2"/>
                </a:solidFill>
              </a:rPr>
              <a:t>Examples of smoothing by GLPF (2)</a:t>
            </a:r>
          </a:p>
        </p:txBody>
      </p:sp>
      <p:pic>
        <p:nvPicPr>
          <p:cNvPr id="337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1104900"/>
            <a:ext cx="9109075" cy="578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extBox 1"/>
          <p:cNvSpPr txBox="1">
            <a:spLocks noChangeArrowheads="1"/>
          </p:cNvSpPr>
          <p:nvPr/>
        </p:nvSpPr>
        <p:spPr bwMode="auto">
          <a:xfrm>
            <a:off x="3565525" y="5207000"/>
            <a:ext cx="1146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a:solidFill>
                  <a:schemeClr val="bg2"/>
                </a:solidFill>
              </a:rPr>
              <a:t>D</a:t>
            </a:r>
            <a:r>
              <a:rPr lang="en-US" altLang="en-US" baseline="-25000">
                <a:solidFill>
                  <a:schemeClr val="bg2"/>
                </a:solidFill>
              </a:rPr>
              <a:t>0</a:t>
            </a:r>
            <a:r>
              <a:rPr lang="en-US" altLang="en-US">
                <a:solidFill>
                  <a:schemeClr val="bg2"/>
                </a:solidFill>
              </a:rPr>
              <a:t>=100</a:t>
            </a:r>
          </a:p>
        </p:txBody>
      </p:sp>
      <p:sp>
        <p:nvSpPr>
          <p:cNvPr id="33799" name="TextBox 6"/>
          <p:cNvSpPr txBox="1">
            <a:spLocks noChangeArrowheads="1"/>
          </p:cNvSpPr>
          <p:nvPr/>
        </p:nvSpPr>
        <p:spPr bwMode="auto">
          <a:xfrm>
            <a:off x="6553200" y="5661025"/>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r>
              <a:rPr lang="en-US" altLang="en-US">
                <a:solidFill>
                  <a:schemeClr val="bg2"/>
                </a:solidFill>
              </a:rPr>
              <a:t>D</a:t>
            </a:r>
            <a:r>
              <a:rPr lang="en-US" altLang="en-US" baseline="-25000">
                <a:solidFill>
                  <a:schemeClr val="bg2"/>
                </a:solidFill>
              </a:rPr>
              <a:t>0</a:t>
            </a:r>
            <a:r>
              <a:rPr lang="en-US" altLang="en-US">
                <a:solidFill>
                  <a:schemeClr val="bg2"/>
                </a:solidFill>
              </a:rPr>
              <a:t>=80</a:t>
            </a:r>
          </a:p>
        </p:txBody>
      </p:sp>
    </p:spTree>
    <p:extLst>
      <p:ext uri="{BB962C8B-B14F-4D97-AF65-F5344CB8AC3E}">
        <p14:creationId xmlns:p14="http://schemas.microsoft.com/office/powerpoint/2010/main" val="36606663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28600" y="533400"/>
            <a:ext cx="8540750" cy="1143000"/>
          </a:xfrm>
        </p:spPr>
        <p:txBody>
          <a:bodyPr/>
          <a:lstStyle/>
          <a:p>
            <a:r>
              <a:rPr lang="en-US" altLang="en-US"/>
              <a:t>High-Pass filtering</a:t>
            </a:r>
          </a:p>
        </p:txBody>
      </p:sp>
      <p:sp>
        <p:nvSpPr>
          <p:cNvPr id="34819" name="Text Box 4"/>
          <p:cNvSpPr txBox="1">
            <a:spLocks noChangeArrowheads="1"/>
          </p:cNvSpPr>
          <p:nvPr/>
        </p:nvSpPr>
        <p:spPr bwMode="auto">
          <a:xfrm>
            <a:off x="577850" y="1743075"/>
            <a:ext cx="81534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kumimoji="0" lang="en-US" altLang="en-US">
                <a:solidFill>
                  <a:srgbClr val="FFFFFF"/>
                </a:solidFill>
                <a:latin typeface="Tahoma" pitchFamily="34" charset="0"/>
              </a:rPr>
              <a:t>   </a:t>
            </a:r>
          </a:p>
          <a:p>
            <a:pPr eaLnBrk="0" fontAlgn="base" hangingPunct="0">
              <a:spcBef>
                <a:spcPct val="0"/>
              </a:spcBef>
              <a:spcAft>
                <a:spcPct val="0"/>
              </a:spcAft>
              <a:buFontTx/>
              <a:buChar char="•"/>
            </a:pPr>
            <a:r>
              <a:rPr kumimoji="0" lang="en-US" altLang="en-US">
                <a:solidFill>
                  <a:srgbClr val="FFFFFF"/>
                </a:solidFill>
              </a:rPr>
              <a:t>A high-pass filter can be obtained from a low-pass filter using:</a:t>
            </a:r>
          </a:p>
          <a:p>
            <a:pPr eaLnBrk="0" fontAlgn="base" hangingPunct="0">
              <a:spcBef>
                <a:spcPct val="0"/>
              </a:spcBef>
              <a:spcAft>
                <a:spcPct val="0"/>
              </a:spcAft>
            </a:pPr>
            <a:endParaRPr kumimoji="0" lang="en-US" altLang="en-US">
              <a:solidFill>
                <a:srgbClr val="FFFFFF"/>
              </a:solidFill>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graphicFrame>
        <p:nvGraphicFramePr>
          <p:cNvPr id="34820" name="Object 5"/>
          <p:cNvGraphicFramePr>
            <a:graphicFrameLocks noChangeAspect="1"/>
          </p:cNvGraphicFramePr>
          <p:nvPr/>
        </p:nvGraphicFramePr>
        <p:xfrm>
          <a:off x="2700338" y="3386138"/>
          <a:ext cx="3908425" cy="590550"/>
        </p:xfrm>
        <a:graphic>
          <a:graphicData uri="http://schemas.openxmlformats.org/presentationml/2006/ole">
            <mc:AlternateContent xmlns:mc="http://schemas.openxmlformats.org/markup-compatibility/2006">
              <mc:Choice xmlns:v="urn:schemas-microsoft-com:vml" Requires="v">
                <p:oleObj spid="_x0000_s9219" name="Equation" r:id="rId4" imgW="1511300" imgH="228600" progId="Equation.DSMT4">
                  <p:embed/>
                </p:oleObj>
              </mc:Choice>
              <mc:Fallback>
                <p:oleObj name="Equation" r:id="rId4" imgW="15113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3386138"/>
                        <a:ext cx="3908425" cy="59055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821" name="Group 3"/>
          <p:cNvGrpSpPr>
            <a:grpSpLocks/>
          </p:cNvGrpSpPr>
          <p:nvPr/>
        </p:nvGrpSpPr>
        <p:grpSpPr bwMode="auto">
          <a:xfrm>
            <a:off x="2514600" y="4476750"/>
            <a:ext cx="4673600" cy="1503363"/>
            <a:chOff x="1447800" y="4477470"/>
            <a:chExt cx="4673369" cy="1502977"/>
          </a:xfrm>
        </p:grpSpPr>
        <p:pic>
          <p:nvPicPr>
            <p:cNvPr id="34822" name="Picture 9" descr="gonzalez_p212"/>
            <p:cNvPicPr>
              <a:picLocks noChangeAspect="1" noChangeArrowheads="1"/>
            </p:cNvPicPr>
            <p:nvPr/>
          </p:nvPicPr>
          <p:blipFill>
            <a:blip r:embed="rId6">
              <a:extLst>
                <a:ext uri="{28A0092B-C50C-407E-A947-70E740481C1C}">
                  <a14:useLocalDpi xmlns:a14="http://schemas.microsoft.com/office/drawing/2010/main" val="0"/>
                </a:ext>
              </a:extLst>
            </a:blip>
            <a:srcRect l="55151"/>
            <a:stretch>
              <a:fillRect/>
            </a:stretch>
          </p:blipFill>
          <p:spPr bwMode="auto">
            <a:xfrm>
              <a:off x="1447800" y="4569936"/>
              <a:ext cx="1886105" cy="1410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8"/>
            <p:cNvPicPr>
              <a:picLocks noChangeAspect="1" noChangeArrowheads="1"/>
            </p:cNvPicPr>
            <p:nvPr/>
          </p:nvPicPr>
          <p:blipFill>
            <a:blip r:embed="rId7">
              <a:extLst>
                <a:ext uri="{28A0092B-C50C-407E-A947-70E740481C1C}">
                  <a14:useLocalDpi xmlns:a14="http://schemas.microsoft.com/office/drawing/2010/main" val="0"/>
                </a:ext>
              </a:extLst>
            </a:blip>
            <a:srcRect r="67346"/>
            <a:stretch>
              <a:fillRect/>
            </a:stretch>
          </p:blipFill>
          <p:spPr bwMode="auto">
            <a:xfrm>
              <a:off x="4419600" y="4477470"/>
              <a:ext cx="1701569" cy="1410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34824" name="TextBox 1"/>
            <p:cNvSpPr txBox="1">
              <a:spLocks noChangeArrowheads="1"/>
            </p:cNvSpPr>
            <p:nvPr/>
          </p:nvSpPr>
          <p:spPr bwMode="auto">
            <a:xfrm>
              <a:off x="3581400" y="5161923"/>
              <a:ext cx="7681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a:solidFill>
                    <a:srgbClr val="FFFFFF"/>
                  </a:solidFill>
                </a:rPr>
                <a:t>= 1 -</a:t>
              </a:r>
            </a:p>
          </p:txBody>
        </p:sp>
        <p:sp>
          <p:nvSpPr>
            <p:cNvPr id="34825" name="TextBox 2"/>
            <p:cNvSpPr txBox="1">
              <a:spLocks noChangeArrowheads="1"/>
            </p:cNvSpPr>
            <p:nvPr/>
          </p:nvSpPr>
          <p:spPr bwMode="auto">
            <a:xfrm>
              <a:off x="5438264" y="5703448"/>
              <a:ext cx="346570" cy="276999"/>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200">
                  <a:solidFill>
                    <a:srgbClr val="000000"/>
                  </a:solidFill>
                </a:rPr>
                <a:t>D</a:t>
              </a:r>
              <a:r>
                <a:rPr lang="en-US" altLang="en-US" sz="1200" baseline="-25000">
                  <a:solidFill>
                    <a:srgbClr val="000000"/>
                  </a:solidFill>
                </a:rPr>
                <a:t>0</a:t>
              </a:r>
              <a:endParaRPr lang="en-US" altLang="en-US" sz="1200">
                <a:solidFill>
                  <a:srgbClr val="000000"/>
                </a:solidFill>
              </a:endParaRPr>
            </a:p>
          </p:txBody>
        </p:sp>
      </p:grpSp>
    </p:spTree>
    <p:extLst>
      <p:ext uri="{BB962C8B-B14F-4D97-AF65-F5344CB8AC3E}">
        <p14:creationId xmlns:p14="http://schemas.microsoft.com/office/powerpoint/2010/main" val="2953068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t>High-pass filtering (cont’d)</a:t>
            </a:r>
          </a:p>
        </p:txBody>
      </p:sp>
      <p:sp>
        <p:nvSpPr>
          <p:cNvPr id="35843" name="Rectangle 3"/>
          <p:cNvSpPr>
            <a:spLocks noGrp="1" noChangeArrowheads="1"/>
          </p:cNvSpPr>
          <p:nvPr>
            <p:ph type="body" idx="1"/>
          </p:nvPr>
        </p:nvSpPr>
        <p:spPr/>
        <p:txBody>
          <a:bodyPr/>
          <a:lstStyle/>
          <a:p>
            <a:r>
              <a:rPr lang="en-US" altLang="en-US"/>
              <a:t>Preserves high frequencies, attenuates low frequencies.</a:t>
            </a:r>
          </a:p>
        </p:txBody>
      </p:sp>
      <p:pic>
        <p:nvPicPr>
          <p:cNvPr id="3584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876800"/>
            <a:ext cx="2690813"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3584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953000"/>
            <a:ext cx="34464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35846" name="Picture 8" descr="gonzalez_p212"/>
          <p:cNvPicPr>
            <a:picLocks noChangeAspect="1" noChangeArrowheads="1"/>
          </p:cNvPicPr>
          <p:nvPr/>
        </p:nvPicPr>
        <p:blipFill>
          <a:blip r:embed="rId5">
            <a:extLst>
              <a:ext uri="{28A0092B-C50C-407E-A947-70E740481C1C}">
                <a14:useLocalDpi xmlns:a14="http://schemas.microsoft.com/office/drawing/2010/main" val="0"/>
              </a:ext>
            </a:extLst>
          </a:blip>
          <a:srcRect r="44849"/>
          <a:stretch>
            <a:fillRect/>
          </a:stretch>
        </p:blipFill>
        <p:spPr bwMode="auto">
          <a:xfrm>
            <a:off x="4953000" y="2971800"/>
            <a:ext cx="2667000"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9" descr="gonzalez_p212"/>
          <p:cNvPicPr>
            <a:picLocks noChangeAspect="1" noChangeArrowheads="1"/>
          </p:cNvPicPr>
          <p:nvPr/>
        </p:nvPicPr>
        <p:blipFill>
          <a:blip r:embed="rId5">
            <a:extLst>
              <a:ext uri="{28A0092B-C50C-407E-A947-70E740481C1C}">
                <a14:useLocalDpi xmlns:a14="http://schemas.microsoft.com/office/drawing/2010/main" val="0"/>
              </a:ext>
            </a:extLst>
          </a:blip>
          <a:srcRect l="55151"/>
          <a:stretch>
            <a:fillRect/>
          </a:stretch>
        </p:blipFill>
        <p:spPr bwMode="auto">
          <a:xfrm>
            <a:off x="1524000" y="2819400"/>
            <a:ext cx="2392363"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19173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a:t>Butterworth high pass filter (BHPF)</a:t>
            </a:r>
          </a:p>
        </p:txBody>
      </p:sp>
      <p:sp>
        <p:nvSpPr>
          <p:cNvPr id="37891" name="Rectangle 3"/>
          <p:cNvSpPr>
            <a:spLocks noGrp="1" noChangeArrowheads="1"/>
          </p:cNvSpPr>
          <p:nvPr>
            <p:ph type="body" idx="1"/>
          </p:nvPr>
        </p:nvSpPr>
        <p:spPr>
          <a:xfrm>
            <a:off x="685800" y="1752600"/>
            <a:ext cx="7772400" cy="4114800"/>
          </a:xfrm>
        </p:spPr>
        <p:txBody>
          <a:bodyPr/>
          <a:lstStyle/>
          <a:p>
            <a:r>
              <a:rPr lang="en-US" altLang="en-US"/>
              <a:t>In practice, we use filters that </a:t>
            </a:r>
            <a:r>
              <a:rPr lang="en-US" altLang="en-US" u="sng"/>
              <a:t>attenuate low frequencies smoothly</a:t>
            </a:r>
            <a:r>
              <a:rPr lang="en-US" altLang="en-US"/>
              <a:t> (e.g., </a:t>
            </a:r>
            <a:r>
              <a:rPr lang="en-US" altLang="en-US" b="1"/>
              <a:t>Butterworth</a:t>
            </a:r>
            <a:r>
              <a:rPr lang="en-US" altLang="en-US"/>
              <a:t> HP filter) </a:t>
            </a:r>
            <a:r>
              <a:rPr lang="en-US" altLang="en-US">
                <a:sym typeface="Wingdings" pitchFamily="2" charset="2"/>
              </a:rPr>
              <a:t> </a:t>
            </a:r>
            <a:r>
              <a:rPr lang="en-US" altLang="en-US"/>
              <a:t>less ringing effect</a:t>
            </a:r>
          </a:p>
          <a:p>
            <a:endParaRPr lang="en-US" altLang="en-US" b="1"/>
          </a:p>
          <a:p>
            <a:endParaRPr lang="en-US" altLang="en-US"/>
          </a:p>
        </p:txBody>
      </p:sp>
      <p:pic>
        <p:nvPicPr>
          <p:cNvPr id="37892" name="Picture 4" descr="gonzalez_p2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657600"/>
            <a:ext cx="4343400"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884613"/>
            <a:ext cx="32004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23004004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3"/>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sp>
        <p:nvSpPr>
          <p:cNvPr id="39939" name="Rectangle 4"/>
          <p:cNvSpPr>
            <a:spLocks noGrp="1" noRot="1" noChangeArrowheads="1"/>
          </p:cNvSpPr>
          <p:nvPr>
            <p:ph type="title"/>
          </p:nvPr>
        </p:nvSpPr>
        <p:spPr>
          <a:xfrm>
            <a:off x="533400" y="457200"/>
            <a:ext cx="8424863" cy="13319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Comparison: IHPF and BHPF</a:t>
            </a:r>
          </a:p>
        </p:txBody>
      </p:sp>
      <p:sp>
        <p:nvSpPr>
          <p:cNvPr id="39940" name="TextBox 2"/>
          <p:cNvSpPr txBox="1">
            <a:spLocks noChangeArrowheads="1"/>
          </p:cNvSpPr>
          <p:nvPr/>
        </p:nvSpPr>
        <p:spPr bwMode="auto">
          <a:xfrm>
            <a:off x="422275" y="2454275"/>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IHPF</a:t>
            </a:r>
          </a:p>
        </p:txBody>
      </p:sp>
      <p:sp>
        <p:nvSpPr>
          <p:cNvPr id="39941" name="TextBox 8"/>
          <p:cNvSpPr txBox="1">
            <a:spLocks noChangeArrowheads="1"/>
          </p:cNvSpPr>
          <p:nvPr/>
        </p:nvSpPr>
        <p:spPr bwMode="auto">
          <a:xfrm>
            <a:off x="346075" y="5116513"/>
            <a:ext cx="760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BHPF</a:t>
            </a:r>
          </a:p>
        </p:txBody>
      </p:sp>
      <p:sp>
        <p:nvSpPr>
          <p:cNvPr id="39942" name="TextBox 3"/>
          <p:cNvSpPr txBox="1">
            <a:spLocks noChangeArrowheads="1"/>
          </p:cNvSpPr>
          <p:nvPr/>
        </p:nvSpPr>
        <p:spPr bwMode="auto">
          <a:xfrm>
            <a:off x="6934200" y="2551113"/>
            <a:ext cx="1592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D</a:t>
            </a:r>
            <a:r>
              <a:rPr lang="en-US" altLang="en-US" sz="1800" baseline="-25000">
                <a:solidFill>
                  <a:srgbClr val="FFFFFF"/>
                </a:solidFill>
              </a:rPr>
              <a:t>0</a:t>
            </a:r>
            <a:r>
              <a:rPr lang="en-US" altLang="en-US" sz="1800">
                <a:solidFill>
                  <a:srgbClr val="FFFFFF"/>
                </a:solidFill>
              </a:rPr>
              <a:t>=30,60,160</a:t>
            </a:r>
          </a:p>
        </p:txBody>
      </p:sp>
      <p:sp>
        <p:nvSpPr>
          <p:cNvPr id="39943" name="TextBox 7"/>
          <p:cNvSpPr txBox="1">
            <a:spLocks noChangeArrowheads="1"/>
          </p:cNvSpPr>
          <p:nvPr/>
        </p:nvSpPr>
        <p:spPr bwMode="auto">
          <a:xfrm>
            <a:off x="7391400" y="5108575"/>
            <a:ext cx="546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n=2</a:t>
            </a:r>
          </a:p>
        </p:txBody>
      </p:sp>
      <p:pic>
        <p:nvPicPr>
          <p:cNvPr id="3994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66875"/>
            <a:ext cx="5334000" cy="220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113" y="3957638"/>
            <a:ext cx="5286375"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6" name="TextBox 3"/>
          <p:cNvSpPr txBox="1">
            <a:spLocks noChangeArrowheads="1"/>
          </p:cNvSpPr>
          <p:nvPr/>
        </p:nvSpPr>
        <p:spPr bwMode="auto">
          <a:xfrm>
            <a:off x="6943725" y="46482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D</a:t>
            </a:r>
            <a:r>
              <a:rPr lang="en-US" altLang="en-US" sz="1800" baseline="-25000">
                <a:solidFill>
                  <a:srgbClr val="FFFFFF"/>
                </a:solidFill>
              </a:rPr>
              <a:t>0</a:t>
            </a:r>
            <a:r>
              <a:rPr lang="en-US" altLang="en-US" sz="1800">
                <a:solidFill>
                  <a:srgbClr val="FFFFFF"/>
                </a:solidFill>
              </a:rPr>
              <a:t>=30,60,160</a:t>
            </a:r>
          </a:p>
        </p:txBody>
      </p:sp>
    </p:spTree>
    <p:extLst>
      <p:ext uri="{BB962C8B-B14F-4D97-AF65-F5344CB8AC3E}">
        <p14:creationId xmlns:p14="http://schemas.microsoft.com/office/powerpoint/2010/main" val="18171622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t>Gaussian HP filter</a:t>
            </a:r>
          </a:p>
        </p:txBody>
      </p:sp>
      <p:graphicFrame>
        <p:nvGraphicFramePr>
          <p:cNvPr id="40963" name="Object 4"/>
          <p:cNvGraphicFramePr>
            <a:graphicFrameLocks noGrp="1" noChangeAspect="1"/>
          </p:cNvGraphicFramePr>
          <p:nvPr>
            <p:ph type="body" idx="1"/>
          </p:nvPr>
        </p:nvGraphicFramePr>
        <p:xfrm>
          <a:off x="1371600" y="1752600"/>
          <a:ext cx="6553200" cy="971550"/>
        </p:xfrm>
        <a:graphic>
          <a:graphicData uri="http://schemas.openxmlformats.org/presentationml/2006/ole">
            <mc:AlternateContent xmlns:mc="http://schemas.openxmlformats.org/markup-compatibility/2006">
              <mc:Choice xmlns:v="urn:schemas-microsoft-com:vml" Requires="v">
                <p:oleObj spid="_x0000_s10243" name="Equation" r:id="rId4" imgW="3251200" imgH="482600" progId="Equation.DSMT4">
                  <p:embed/>
                </p:oleObj>
              </mc:Choice>
              <mc:Fallback>
                <p:oleObj name="Equation" r:id="rId4" imgW="3251200" imgH="482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752600"/>
                        <a:ext cx="6553200" cy="97155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0964" name="Picture 5"/>
          <p:cNvPicPr>
            <a:picLocks noChangeAspect="1" noChangeArrowheads="1"/>
          </p:cNvPicPr>
          <p:nvPr/>
        </p:nvPicPr>
        <p:blipFill>
          <a:blip r:embed="rId6">
            <a:extLst>
              <a:ext uri="{28A0092B-C50C-407E-A947-70E740481C1C}">
                <a14:useLocalDpi xmlns:a14="http://schemas.microsoft.com/office/drawing/2010/main" val="0"/>
              </a:ext>
            </a:extLst>
          </a:blip>
          <a:srcRect t="61383" b="7573"/>
          <a:stretch>
            <a:fillRect/>
          </a:stretch>
        </p:blipFill>
        <p:spPr bwMode="auto">
          <a:xfrm>
            <a:off x="1600200" y="3073400"/>
            <a:ext cx="5254625"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5" name="Text Box 6"/>
          <p:cNvSpPr txBox="1">
            <a:spLocks noChangeArrowheads="1"/>
          </p:cNvSpPr>
          <p:nvPr/>
        </p:nvSpPr>
        <p:spPr bwMode="auto">
          <a:xfrm>
            <a:off x="7010400" y="3656013"/>
            <a:ext cx="9731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a:solidFill>
                  <a:srgbClr val="FFFFFF"/>
                </a:solidFill>
              </a:rPr>
              <a:t>GHPF</a:t>
            </a:r>
          </a:p>
        </p:txBody>
      </p:sp>
      <p:pic>
        <p:nvPicPr>
          <p:cNvPr id="40966" name="Picture 5"/>
          <p:cNvPicPr>
            <a:picLocks noChangeAspect="1" noChangeArrowheads="1"/>
          </p:cNvPicPr>
          <p:nvPr/>
        </p:nvPicPr>
        <p:blipFill>
          <a:blip r:embed="rId6">
            <a:extLst>
              <a:ext uri="{28A0092B-C50C-407E-A947-70E740481C1C}">
                <a14:useLocalDpi xmlns:a14="http://schemas.microsoft.com/office/drawing/2010/main" val="0"/>
              </a:ext>
            </a:extLst>
          </a:blip>
          <a:srcRect t="30339" b="38617"/>
          <a:stretch>
            <a:fillRect/>
          </a:stretch>
        </p:blipFill>
        <p:spPr bwMode="auto">
          <a:xfrm>
            <a:off x="1622425" y="4822825"/>
            <a:ext cx="5254625"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7" name="Text Box 6"/>
          <p:cNvSpPr txBox="1">
            <a:spLocks noChangeArrowheads="1"/>
          </p:cNvSpPr>
          <p:nvPr/>
        </p:nvSpPr>
        <p:spPr bwMode="auto">
          <a:xfrm>
            <a:off x="7034213" y="5173663"/>
            <a:ext cx="9556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a:solidFill>
                  <a:srgbClr val="FFFFFF"/>
                </a:solidFill>
              </a:rPr>
              <a:t>BHPF</a:t>
            </a:r>
          </a:p>
        </p:txBody>
      </p:sp>
    </p:spTree>
    <p:extLst>
      <p:ext uri="{BB962C8B-B14F-4D97-AF65-F5344CB8AC3E}">
        <p14:creationId xmlns:p14="http://schemas.microsoft.com/office/powerpoint/2010/main" val="54977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3"/>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sp>
        <p:nvSpPr>
          <p:cNvPr id="41987" name="Rectangle 4"/>
          <p:cNvSpPr>
            <a:spLocks noGrp="1" noRot="1" noChangeArrowheads="1"/>
          </p:cNvSpPr>
          <p:nvPr>
            <p:ph type="title"/>
          </p:nvPr>
        </p:nvSpPr>
        <p:spPr>
          <a:xfrm>
            <a:off x="533400" y="457200"/>
            <a:ext cx="8424863" cy="13319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Comparison: BHPF and GHPF</a:t>
            </a:r>
          </a:p>
        </p:txBody>
      </p:sp>
      <p:sp>
        <p:nvSpPr>
          <p:cNvPr id="41988" name="TextBox 2"/>
          <p:cNvSpPr txBox="1">
            <a:spLocks noChangeArrowheads="1"/>
          </p:cNvSpPr>
          <p:nvPr/>
        </p:nvSpPr>
        <p:spPr bwMode="auto">
          <a:xfrm>
            <a:off x="334963" y="4902200"/>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GHPF</a:t>
            </a:r>
          </a:p>
        </p:txBody>
      </p:sp>
      <p:sp>
        <p:nvSpPr>
          <p:cNvPr id="41989" name="TextBox 8"/>
          <p:cNvSpPr txBox="1">
            <a:spLocks noChangeArrowheads="1"/>
          </p:cNvSpPr>
          <p:nvPr/>
        </p:nvSpPr>
        <p:spPr bwMode="auto">
          <a:xfrm>
            <a:off x="327025" y="2597150"/>
            <a:ext cx="760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BHPF</a:t>
            </a:r>
          </a:p>
        </p:txBody>
      </p:sp>
      <p:sp>
        <p:nvSpPr>
          <p:cNvPr id="41990" name="TextBox 3"/>
          <p:cNvSpPr txBox="1">
            <a:spLocks noChangeArrowheads="1"/>
          </p:cNvSpPr>
          <p:nvPr/>
        </p:nvSpPr>
        <p:spPr bwMode="auto">
          <a:xfrm>
            <a:off x="6934200" y="2551113"/>
            <a:ext cx="167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D</a:t>
            </a:r>
            <a:r>
              <a:rPr lang="en-US" altLang="en-US" sz="1800" baseline="-25000">
                <a:solidFill>
                  <a:srgbClr val="FFFFFF"/>
                </a:solidFill>
              </a:rPr>
              <a:t>0</a:t>
            </a:r>
            <a:r>
              <a:rPr lang="en-US" altLang="en-US" sz="1800">
                <a:solidFill>
                  <a:srgbClr val="FFFFFF"/>
                </a:solidFill>
              </a:rPr>
              <a:t>=30,60,160</a:t>
            </a:r>
          </a:p>
        </p:txBody>
      </p:sp>
      <p:sp>
        <p:nvSpPr>
          <p:cNvPr id="41991" name="TextBox 7"/>
          <p:cNvSpPr txBox="1">
            <a:spLocks noChangeArrowheads="1"/>
          </p:cNvSpPr>
          <p:nvPr/>
        </p:nvSpPr>
        <p:spPr bwMode="auto">
          <a:xfrm>
            <a:off x="7499350" y="2992438"/>
            <a:ext cx="546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n=2</a:t>
            </a:r>
          </a:p>
        </p:txBody>
      </p:sp>
      <p:pic>
        <p:nvPicPr>
          <p:cNvPr id="4199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625" y="1589088"/>
            <a:ext cx="5286375"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9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4625" y="4159250"/>
            <a:ext cx="5286375" cy="232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94" name="TextBox 3"/>
          <p:cNvSpPr txBox="1">
            <a:spLocks noChangeArrowheads="1"/>
          </p:cNvSpPr>
          <p:nvPr/>
        </p:nvSpPr>
        <p:spPr bwMode="auto">
          <a:xfrm>
            <a:off x="6896100" y="461645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a:solidFill>
                  <a:srgbClr val="FFFFFF"/>
                </a:solidFill>
              </a:rPr>
              <a:t>D</a:t>
            </a:r>
            <a:r>
              <a:rPr lang="en-US" altLang="en-US" sz="1800" baseline="-25000">
                <a:solidFill>
                  <a:srgbClr val="FFFFFF"/>
                </a:solidFill>
              </a:rPr>
              <a:t>0</a:t>
            </a:r>
            <a:r>
              <a:rPr lang="en-US" altLang="en-US" sz="1800">
                <a:solidFill>
                  <a:srgbClr val="FFFFFF"/>
                </a:solidFill>
              </a:rPr>
              <a:t>=30,60,160</a:t>
            </a:r>
          </a:p>
        </p:txBody>
      </p:sp>
    </p:spTree>
    <p:extLst>
      <p:ext uri="{BB962C8B-B14F-4D97-AF65-F5344CB8AC3E}">
        <p14:creationId xmlns:p14="http://schemas.microsoft.com/office/powerpoint/2010/main" val="24561300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t>Homomorphic filtering</a:t>
            </a:r>
          </a:p>
        </p:txBody>
      </p:sp>
      <p:sp>
        <p:nvSpPr>
          <p:cNvPr id="50179" name="Rectangle 3"/>
          <p:cNvSpPr>
            <a:spLocks noGrp="1" noChangeArrowheads="1"/>
          </p:cNvSpPr>
          <p:nvPr>
            <p:ph idx="1"/>
          </p:nvPr>
        </p:nvSpPr>
        <p:spPr>
          <a:xfrm>
            <a:off x="762000" y="1828800"/>
            <a:ext cx="7772400" cy="4114800"/>
          </a:xfrm>
        </p:spPr>
        <p:txBody>
          <a:bodyPr/>
          <a:lstStyle/>
          <a:p>
            <a:r>
              <a:rPr lang="en-US" altLang="en-US"/>
              <a:t>Many times, we want to remove shading effects from an image (i.e., due to uneven illumination)</a:t>
            </a:r>
          </a:p>
          <a:p>
            <a:pPr lvl="1"/>
            <a:r>
              <a:rPr lang="en-US" altLang="en-US"/>
              <a:t>Enhance high frequencies</a:t>
            </a:r>
          </a:p>
          <a:p>
            <a:pPr lvl="1"/>
            <a:r>
              <a:rPr lang="en-US" altLang="en-US"/>
              <a:t>Attenuate low frequencies but preserve fine detail.</a:t>
            </a:r>
          </a:p>
        </p:txBody>
      </p:sp>
      <p:pic>
        <p:nvPicPr>
          <p:cNvPr id="50180" name="Picture 4"/>
          <p:cNvPicPr>
            <a:picLocks noChangeAspect="1" noChangeArrowheads="1"/>
          </p:cNvPicPr>
          <p:nvPr/>
        </p:nvPicPr>
        <p:blipFill>
          <a:blip r:embed="rId3">
            <a:extLst>
              <a:ext uri="{28A0092B-C50C-407E-A947-70E740481C1C}">
                <a14:useLocalDpi xmlns:a14="http://schemas.microsoft.com/office/drawing/2010/main" val="0"/>
              </a:ext>
            </a:extLst>
          </a:blip>
          <a:srcRect l="19019" r="40491"/>
          <a:stretch>
            <a:fillRect/>
          </a:stretch>
        </p:blipFill>
        <p:spPr bwMode="auto">
          <a:xfrm>
            <a:off x="2971800" y="3787775"/>
            <a:ext cx="2597150" cy="264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91292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t>Homomorphic Filtering (cont’d)</a:t>
            </a:r>
          </a:p>
        </p:txBody>
      </p:sp>
      <p:sp>
        <p:nvSpPr>
          <p:cNvPr id="50179" name="Rectangle 3"/>
          <p:cNvSpPr>
            <a:spLocks noGrp="1" noChangeArrowheads="1"/>
          </p:cNvSpPr>
          <p:nvPr>
            <p:ph idx="1"/>
          </p:nvPr>
        </p:nvSpPr>
        <p:spPr/>
        <p:txBody>
          <a:bodyPr/>
          <a:lstStyle/>
          <a:p>
            <a:pPr>
              <a:defRPr/>
            </a:pPr>
            <a:r>
              <a:rPr lang="en-US" dirty="0"/>
              <a:t>Consider the following model of image formation:</a:t>
            </a:r>
          </a:p>
          <a:p>
            <a:pPr>
              <a:defRPr/>
            </a:pPr>
            <a:endParaRPr lang="en-US" dirty="0"/>
          </a:p>
          <a:p>
            <a:pPr>
              <a:defRPr/>
            </a:pPr>
            <a:endParaRPr lang="en-US" dirty="0"/>
          </a:p>
          <a:p>
            <a:pPr>
              <a:defRPr/>
            </a:pPr>
            <a:endParaRPr lang="en-US" dirty="0"/>
          </a:p>
          <a:p>
            <a:pPr>
              <a:defRPr/>
            </a:pPr>
            <a:r>
              <a:rPr lang="en-US" dirty="0"/>
              <a:t>In general, the illumination component i(</a:t>
            </a:r>
            <a:r>
              <a:rPr lang="en-US" dirty="0" err="1"/>
              <a:t>x,y</a:t>
            </a:r>
            <a:r>
              <a:rPr lang="en-US" dirty="0"/>
              <a:t>) varies </a:t>
            </a:r>
            <a:r>
              <a:rPr lang="en-US" b="1" dirty="0"/>
              <a:t>slowly</a:t>
            </a:r>
            <a:r>
              <a:rPr lang="en-US" dirty="0"/>
              <a:t> and affects </a:t>
            </a:r>
            <a:r>
              <a:rPr lang="en-US" b="1" dirty="0">
                <a:solidFill>
                  <a:schemeClr val="accent6"/>
                </a:solidFill>
              </a:rPr>
              <a:t>low</a:t>
            </a:r>
            <a:r>
              <a:rPr lang="en-US" dirty="0"/>
              <a:t> frequencies mostly.</a:t>
            </a:r>
          </a:p>
          <a:p>
            <a:pPr>
              <a:defRPr/>
            </a:pPr>
            <a:r>
              <a:rPr lang="en-US" dirty="0"/>
              <a:t>In general, the reflection component r(</a:t>
            </a:r>
            <a:r>
              <a:rPr lang="en-US" dirty="0" err="1"/>
              <a:t>x,y</a:t>
            </a:r>
            <a:r>
              <a:rPr lang="en-US" dirty="0"/>
              <a:t>) varies </a:t>
            </a:r>
            <a:r>
              <a:rPr lang="en-US" b="1" dirty="0"/>
              <a:t>faster</a:t>
            </a:r>
            <a:r>
              <a:rPr lang="en-US" dirty="0"/>
              <a:t> and affects </a:t>
            </a:r>
            <a:r>
              <a:rPr lang="en-US" b="1" dirty="0">
                <a:solidFill>
                  <a:schemeClr val="accent6"/>
                </a:solidFill>
              </a:rPr>
              <a:t>high</a:t>
            </a:r>
            <a:r>
              <a:rPr lang="en-US" dirty="0"/>
              <a:t> frequencies mostly.</a:t>
            </a:r>
          </a:p>
        </p:txBody>
      </p:sp>
      <p:pic>
        <p:nvPicPr>
          <p:cNvPr id="512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667000"/>
            <a:ext cx="34909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1205" name="Text Box 5"/>
          <p:cNvSpPr txBox="1">
            <a:spLocks noChangeArrowheads="1"/>
          </p:cNvSpPr>
          <p:nvPr/>
        </p:nvSpPr>
        <p:spPr bwMode="auto">
          <a:xfrm>
            <a:off x="5181600" y="2743200"/>
            <a:ext cx="1936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sz="1800" b="1">
                <a:solidFill>
                  <a:srgbClr val="FFFFFF"/>
                </a:solidFill>
              </a:rPr>
              <a:t>i(x,y):</a:t>
            </a:r>
            <a:r>
              <a:rPr lang="en-US" altLang="en-US" sz="1800">
                <a:solidFill>
                  <a:srgbClr val="FFFFFF"/>
                </a:solidFill>
              </a:rPr>
              <a:t> illumination</a:t>
            </a:r>
          </a:p>
          <a:p>
            <a:pPr eaLnBrk="0" fontAlgn="base" hangingPunct="0">
              <a:spcBef>
                <a:spcPct val="0"/>
              </a:spcBef>
              <a:spcAft>
                <a:spcPct val="0"/>
              </a:spcAft>
            </a:pPr>
            <a:r>
              <a:rPr lang="en-US" altLang="en-US" sz="1800" b="1">
                <a:solidFill>
                  <a:srgbClr val="FFFFFF"/>
                </a:solidFill>
              </a:rPr>
              <a:t>r(x,y):</a:t>
            </a:r>
            <a:r>
              <a:rPr lang="en-US" altLang="en-US" sz="1800">
                <a:solidFill>
                  <a:srgbClr val="FFFFFF"/>
                </a:solidFill>
              </a:rPr>
              <a:t> reflection</a:t>
            </a:r>
          </a:p>
        </p:txBody>
      </p:sp>
      <p:sp>
        <p:nvSpPr>
          <p:cNvPr id="2" name="TextBox 1"/>
          <p:cNvSpPr txBox="1">
            <a:spLocks noChangeArrowheads="1"/>
          </p:cNvSpPr>
          <p:nvPr/>
        </p:nvSpPr>
        <p:spPr bwMode="auto">
          <a:xfrm>
            <a:off x="1487488" y="5638800"/>
            <a:ext cx="57864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u="sng">
                <a:solidFill>
                  <a:srgbClr val="FFFFFF"/>
                </a:solidFill>
              </a:rPr>
              <a:t>IDEA:</a:t>
            </a:r>
            <a:r>
              <a:rPr lang="en-US" altLang="en-US">
                <a:solidFill>
                  <a:srgbClr val="FFFFFF"/>
                </a:solidFill>
              </a:rPr>
              <a:t> separate low frequencies due to i(x,y) </a:t>
            </a:r>
          </a:p>
          <a:p>
            <a:pPr eaLnBrk="0" fontAlgn="base" hangingPunct="0">
              <a:spcBef>
                <a:spcPct val="0"/>
              </a:spcBef>
              <a:spcAft>
                <a:spcPct val="0"/>
              </a:spcAft>
            </a:pPr>
            <a:r>
              <a:rPr lang="en-US" altLang="en-US">
                <a:solidFill>
                  <a:srgbClr val="FFFFFF"/>
                </a:solidFill>
              </a:rPr>
              <a:t>           from high frequencies due to r(x,y)</a:t>
            </a:r>
          </a:p>
        </p:txBody>
      </p:sp>
    </p:spTree>
    <p:extLst>
      <p:ext uri="{BB962C8B-B14F-4D97-AF65-F5344CB8AC3E}">
        <p14:creationId xmlns:p14="http://schemas.microsoft.com/office/powerpoint/2010/main" val="31019534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768096" y="585216"/>
            <a:ext cx="8052376" cy="1499616"/>
          </a:xfrm>
        </p:spPr>
        <p:txBody>
          <a:bodyPr/>
          <a:lstStyle/>
          <a:p>
            <a:r>
              <a:rPr lang="en-US" altLang="en-US" dirty="0"/>
              <a:t>How are frequencies mixed together?</a:t>
            </a:r>
          </a:p>
        </p:txBody>
      </p:sp>
      <p:pic>
        <p:nvPicPr>
          <p:cNvPr id="5222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235325"/>
            <a:ext cx="30480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2228" name="Text Box 7"/>
          <p:cNvSpPr txBox="1">
            <a:spLocks noChangeArrowheads="1"/>
          </p:cNvSpPr>
          <p:nvPr/>
        </p:nvSpPr>
        <p:spPr bwMode="auto">
          <a:xfrm>
            <a:off x="1066800" y="4343400"/>
            <a:ext cx="64389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marL="342900" indent="-342900">
              <a:spcBef>
                <a:spcPct val="20000"/>
              </a:spcBef>
              <a:buChar char="•"/>
              <a:defRPr kumimoji="1" sz="2400">
                <a:solidFill>
                  <a:schemeClr val="tx1"/>
                </a:solidFill>
                <a:latin typeface="Times New Roman" pitchFamily="18" charset="0"/>
              </a:defRPr>
            </a:lvl1pPr>
            <a:lvl2pPr marL="742950" indent="-285750">
              <a:spcBef>
                <a:spcPct val="20000"/>
              </a:spcBef>
              <a:buChar char="–"/>
              <a:defRPr kumimoji="1" sz="2200">
                <a:solidFill>
                  <a:schemeClr val="tx1"/>
                </a:solidFill>
                <a:latin typeface="Times New Roman" pitchFamily="18" charset="0"/>
              </a:defRPr>
            </a:lvl2pPr>
            <a:lvl3pPr marL="1143000" indent="-228600">
              <a:spcBef>
                <a:spcPct val="20000"/>
              </a:spcBef>
              <a:buChar char="•"/>
              <a:defRPr kumimoji="1">
                <a:solidFill>
                  <a:schemeClr val="tx1"/>
                </a:solidFill>
                <a:latin typeface="Times New Roman" pitchFamily="18" charset="0"/>
              </a:defRPr>
            </a:lvl3pPr>
            <a:lvl4pPr marL="1600200" indent="-228600">
              <a:spcBef>
                <a:spcPct val="20000"/>
              </a:spcBef>
              <a:buChar char="–"/>
              <a:defRPr kumimoji="1" sz="1400">
                <a:solidFill>
                  <a:schemeClr val="tx1"/>
                </a:solidFill>
                <a:latin typeface="Times New Roman" pitchFamily="18" charset="0"/>
              </a:defRPr>
            </a:lvl4pPr>
            <a:lvl5pPr marL="2057400" indent="-228600">
              <a:spcBef>
                <a:spcPct val="20000"/>
              </a:spcBef>
              <a:buChar char="•"/>
              <a:defRPr kumimoji="1" sz="1400">
                <a:solidFill>
                  <a:schemeClr val="tx1"/>
                </a:solidFill>
                <a:latin typeface="Times New Roman" pitchFamily="18" charset="0"/>
              </a:defRPr>
            </a:lvl5pPr>
            <a:lvl6pPr marL="2514600" indent="-228600" eaLnBrk="0" fontAlgn="base" hangingPunct="0">
              <a:spcBef>
                <a:spcPct val="20000"/>
              </a:spcBef>
              <a:spcAft>
                <a:spcPct val="0"/>
              </a:spcAft>
              <a:buChar char="•"/>
              <a:defRPr kumimoji="1" sz="1400">
                <a:solidFill>
                  <a:schemeClr val="tx1"/>
                </a:solidFill>
                <a:latin typeface="Times New Roman" pitchFamily="18" charset="0"/>
              </a:defRPr>
            </a:lvl6pPr>
            <a:lvl7pPr marL="2971800" indent="-228600" eaLnBrk="0" fontAlgn="base" hangingPunct="0">
              <a:spcBef>
                <a:spcPct val="20000"/>
              </a:spcBef>
              <a:spcAft>
                <a:spcPct val="0"/>
              </a:spcAft>
              <a:buChar char="•"/>
              <a:defRPr kumimoji="1" sz="1400">
                <a:solidFill>
                  <a:schemeClr val="tx1"/>
                </a:solidFill>
                <a:latin typeface="Times New Roman" pitchFamily="18" charset="0"/>
              </a:defRPr>
            </a:lvl7pPr>
            <a:lvl8pPr marL="3429000" indent="-228600" eaLnBrk="0" fontAlgn="base" hangingPunct="0">
              <a:spcBef>
                <a:spcPct val="20000"/>
              </a:spcBef>
              <a:spcAft>
                <a:spcPct val="0"/>
              </a:spcAft>
              <a:buChar char="•"/>
              <a:defRPr kumimoji="1" sz="1400">
                <a:solidFill>
                  <a:schemeClr val="tx1"/>
                </a:solidFill>
                <a:latin typeface="Times New Roman" pitchFamily="18" charset="0"/>
              </a:defRPr>
            </a:lvl8pPr>
            <a:lvl9pPr marL="3886200" indent="-228600" eaLnBrk="0" fontAlgn="base" hangingPunct="0">
              <a:spcBef>
                <a:spcPct val="20000"/>
              </a:spcBef>
              <a:spcAft>
                <a:spcPct val="0"/>
              </a:spcAft>
              <a:buChar char="•"/>
              <a:defRPr kumimoji="1" sz="1400">
                <a:solidFill>
                  <a:schemeClr val="tx1"/>
                </a:solidFill>
                <a:latin typeface="Times New Roman" pitchFamily="18" charset="0"/>
              </a:defRPr>
            </a:lvl9pPr>
          </a:lstStyle>
          <a:p>
            <a:pPr eaLnBrk="0" fontAlgn="base" hangingPunct="0">
              <a:spcBef>
                <a:spcPct val="0"/>
              </a:spcBef>
              <a:spcAft>
                <a:spcPct val="0"/>
              </a:spcAft>
              <a:defRPr/>
            </a:pPr>
            <a:r>
              <a:rPr lang="en-US" altLang="en-US" dirty="0">
                <a:solidFill>
                  <a:srgbClr val="FFFFFF"/>
                </a:solidFill>
              </a:rPr>
              <a:t>When applying filtering, it is difficult to handle </a:t>
            </a:r>
          </a:p>
          <a:p>
            <a:pPr marL="0" indent="0" eaLnBrk="0" fontAlgn="base" hangingPunct="0">
              <a:spcBef>
                <a:spcPct val="0"/>
              </a:spcBef>
              <a:spcAft>
                <a:spcPct val="0"/>
              </a:spcAft>
              <a:buFontTx/>
              <a:buNone/>
              <a:defRPr/>
            </a:pPr>
            <a:r>
              <a:rPr lang="en-US" altLang="en-US" dirty="0">
                <a:solidFill>
                  <a:srgbClr val="FFFFFF"/>
                </a:solidFill>
              </a:rPr>
              <a:t>     low/high frequencies separately.</a:t>
            </a:r>
          </a:p>
        </p:txBody>
      </p:sp>
      <p:graphicFrame>
        <p:nvGraphicFramePr>
          <p:cNvPr id="52229" name="Object 1"/>
          <p:cNvGraphicFramePr>
            <a:graphicFrameLocks noChangeAspect="1"/>
          </p:cNvGraphicFramePr>
          <p:nvPr>
            <p:extLst>
              <p:ext uri="{D42A27DB-BD31-4B8C-83A1-F6EECF244321}">
                <p14:modId xmlns:p14="http://schemas.microsoft.com/office/powerpoint/2010/main" val="2691959747"/>
              </p:ext>
            </p:extLst>
          </p:nvPr>
        </p:nvGraphicFramePr>
        <p:xfrm>
          <a:off x="4343400" y="3289300"/>
          <a:ext cx="4343400" cy="503238"/>
        </p:xfrm>
        <a:graphic>
          <a:graphicData uri="http://schemas.openxmlformats.org/presentationml/2006/ole">
            <mc:AlternateContent xmlns:mc="http://schemas.openxmlformats.org/markup-compatibility/2006">
              <mc:Choice xmlns:v="urn:schemas-microsoft-com:vml" Requires="v">
                <p:oleObj spid="_x0000_s11268" name="Equation" r:id="rId5" imgW="1752600" imgH="203200" progId="Equation.DSMT4">
                  <p:embed/>
                </p:oleObj>
              </mc:Choice>
              <mc:Fallback>
                <p:oleObj name="Equation" r:id="rId5" imgW="1752600" imgH="203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3289300"/>
                        <a:ext cx="4343400" cy="503238"/>
                      </a:xfrm>
                      <a:prstGeom prst="rect">
                        <a:avLst/>
                      </a:prstGeom>
                      <a:noFill/>
                      <a:ln>
                        <a:noFill/>
                      </a:ln>
                    </p:spPr>
                  </p:pic>
                </p:oleObj>
              </mc:Fallback>
            </mc:AlternateContent>
          </a:graphicData>
        </a:graphic>
      </p:graphicFrame>
      <p:graphicFrame>
        <p:nvGraphicFramePr>
          <p:cNvPr id="52230" name="Object 2"/>
          <p:cNvGraphicFramePr>
            <a:graphicFrameLocks noChangeAspect="1"/>
          </p:cNvGraphicFramePr>
          <p:nvPr>
            <p:extLst>
              <p:ext uri="{D42A27DB-BD31-4B8C-83A1-F6EECF244321}">
                <p14:modId xmlns:p14="http://schemas.microsoft.com/office/powerpoint/2010/main" val="1429260022"/>
              </p:ext>
            </p:extLst>
          </p:nvPr>
        </p:nvGraphicFramePr>
        <p:xfrm>
          <a:off x="1077913" y="5562600"/>
          <a:ext cx="6765925" cy="504825"/>
        </p:xfrm>
        <a:graphic>
          <a:graphicData uri="http://schemas.openxmlformats.org/presentationml/2006/ole">
            <mc:AlternateContent xmlns:mc="http://schemas.openxmlformats.org/markup-compatibility/2006">
              <mc:Choice xmlns:v="urn:schemas-microsoft-com:vml" Requires="v">
                <p:oleObj spid="_x0000_s11269" name="Equation" r:id="rId7" imgW="2730500" imgH="203200" progId="Equation.DSMT4">
                  <p:embed/>
                </p:oleObj>
              </mc:Choice>
              <mc:Fallback>
                <p:oleObj name="Equation" r:id="rId7" imgW="2730500" imgH="203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7913" y="5562600"/>
                        <a:ext cx="6765925" cy="504825"/>
                      </a:xfrm>
                      <a:prstGeom prst="rect">
                        <a:avLst/>
                      </a:prstGeom>
                      <a:noFill/>
                      <a:ln>
                        <a:noFill/>
                      </a:ln>
                    </p:spPr>
                  </p:pic>
                </p:oleObj>
              </mc:Fallback>
            </mc:AlternateContent>
          </a:graphicData>
        </a:graphic>
      </p:graphicFrame>
      <p:sp>
        <p:nvSpPr>
          <p:cNvPr id="52231" name="Rectangle 3"/>
          <p:cNvSpPr>
            <a:spLocks noChangeArrowheads="1"/>
          </p:cNvSpPr>
          <p:nvPr/>
        </p:nvSpPr>
        <p:spPr bwMode="auto">
          <a:xfrm>
            <a:off x="1031875" y="1795463"/>
            <a:ext cx="6858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buFontTx/>
              <a:buChar char="•"/>
            </a:pPr>
            <a:r>
              <a:rPr lang="en-US" altLang="en-US">
                <a:solidFill>
                  <a:srgbClr val="FFFFFF"/>
                </a:solidFill>
              </a:rPr>
              <a:t> Low and high frequencies from </a:t>
            </a:r>
            <a:r>
              <a:rPr lang="en-US" altLang="en-US" b="1">
                <a:solidFill>
                  <a:srgbClr val="FFFFFF"/>
                </a:solidFill>
              </a:rPr>
              <a:t>i(x,y)</a:t>
            </a:r>
            <a:r>
              <a:rPr lang="en-US" altLang="en-US">
                <a:solidFill>
                  <a:srgbClr val="FFFFFF"/>
                </a:solidFill>
              </a:rPr>
              <a:t> and </a:t>
            </a:r>
            <a:r>
              <a:rPr lang="en-US" altLang="en-US" b="1">
                <a:solidFill>
                  <a:srgbClr val="FFFFFF"/>
                </a:solidFill>
              </a:rPr>
              <a:t>r(x,y)</a:t>
            </a:r>
          </a:p>
          <a:p>
            <a:pPr eaLnBrk="0" fontAlgn="base" hangingPunct="0">
              <a:spcBef>
                <a:spcPct val="0"/>
              </a:spcBef>
              <a:spcAft>
                <a:spcPct val="0"/>
              </a:spcAft>
            </a:pPr>
            <a:r>
              <a:rPr lang="en-US" altLang="en-US">
                <a:solidFill>
                  <a:srgbClr val="FFFFFF"/>
                </a:solidFill>
              </a:rPr>
              <a:t>   are mixed together.</a:t>
            </a:r>
          </a:p>
        </p:txBody>
      </p:sp>
      <p:sp>
        <p:nvSpPr>
          <p:cNvPr id="52232" name="Right Arrow 4"/>
          <p:cNvSpPr>
            <a:spLocks noChangeArrowheads="1"/>
          </p:cNvSpPr>
          <p:nvPr/>
        </p:nvSpPr>
        <p:spPr bwMode="auto">
          <a:xfrm>
            <a:off x="3597275" y="3357563"/>
            <a:ext cx="533400" cy="417512"/>
          </a:xfrm>
          <a:prstGeom prst="rightArrow">
            <a:avLst>
              <a:gd name="adj1" fmla="val 50000"/>
              <a:gd name="adj2" fmla="val 49991"/>
            </a:avLst>
          </a:prstGeom>
          <a:solidFill>
            <a:schemeClr val="accent1"/>
          </a:solidFill>
          <a:ln w="12700" cap="sq" algn="ctr">
            <a:solidFill>
              <a:schemeClr val="tx1"/>
            </a:solidFill>
            <a:round/>
            <a:headEnd type="none" w="sm" len="sm"/>
            <a:tailEnd type="none" w="sm" len="sm"/>
          </a:ln>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lang="en-US" altLang="en-US">
              <a:solidFill>
                <a:srgbClr val="FFFFFF"/>
              </a:solidFill>
            </a:endParaRPr>
          </a:p>
        </p:txBody>
      </p:sp>
    </p:spTree>
    <p:extLst>
      <p:ext uri="{BB962C8B-B14F-4D97-AF65-F5344CB8AC3E}">
        <p14:creationId xmlns:p14="http://schemas.microsoft.com/office/powerpoint/2010/main" val="253814044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t>Can we separate them?</a:t>
            </a:r>
          </a:p>
        </p:txBody>
      </p:sp>
      <p:sp>
        <p:nvSpPr>
          <p:cNvPr id="53251" name="Rectangle 3"/>
          <p:cNvSpPr>
            <a:spLocks noGrp="1" noChangeArrowheads="1"/>
          </p:cNvSpPr>
          <p:nvPr>
            <p:ph idx="1"/>
          </p:nvPr>
        </p:nvSpPr>
        <p:spPr/>
        <p:txBody>
          <a:bodyPr/>
          <a:lstStyle/>
          <a:p>
            <a:pPr marL="514350" indent="-457200"/>
            <a:r>
              <a:rPr lang="en-US" altLang="en-US" sz="3000"/>
              <a:t>Idea:</a:t>
            </a:r>
          </a:p>
        </p:txBody>
      </p:sp>
      <p:pic>
        <p:nvPicPr>
          <p:cNvPr id="5325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2438" y="2609850"/>
            <a:ext cx="3313112"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325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038600"/>
            <a:ext cx="57070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3254" name="Text Box 10"/>
          <p:cNvSpPr txBox="1">
            <a:spLocks noChangeArrowheads="1"/>
          </p:cNvSpPr>
          <p:nvPr/>
        </p:nvSpPr>
        <p:spPr bwMode="auto">
          <a:xfrm>
            <a:off x="1981200" y="2743200"/>
            <a:ext cx="231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r>
              <a:rPr lang="en-US" altLang="en-US">
                <a:solidFill>
                  <a:srgbClr val="FFFFFF"/>
                </a:solidFill>
              </a:rPr>
              <a:t>Take the ln( )  of </a:t>
            </a:r>
          </a:p>
        </p:txBody>
      </p:sp>
    </p:spTree>
    <p:extLst>
      <p:ext uri="{BB962C8B-B14F-4D97-AF65-F5344CB8AC3E}">
        <p14:creationId xmlns:p14="http://schemas.microsoft.com/office/powerpoint/2010/main" val="37443190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t>Steps of Homomorphic Filtering</a:t>
            </a:r>
          </a:p>
        </p:txBody>
      </p:sp>
      <p:sp>
        <p:nvSpPr>
          <p:cNvPr id="53251" name="Rectangle 3"/>
          <p:cNvSpPr>
            <a:spLocks noGrp="1" noChangeArrowheads="1"/>
          </p:cNvSpPr>
          <p:nvPr>
            <p:ph idx="1"/>
          </p:nvPr>
        </p:nvSpPr>
        <p:spPr>
          <a:xfrm>
            <a:off x="838200" y="1600200"/>
            <a:ext cx="7772400" cy="4114800"/>
          </a:xfrm>
        </p:spPr>
        <p:txBody>
          <a:bodyPr/>
          <a:lstStyle/>
          <a:p>
            <a:pPr marL="0" indent="0">
              <a:buFontTx/>
              <a:buNone/>
              <a:defRPr/>
            </a:pPr>
            <a:endParaRPr lang="en-US" sz="2800" dirty="0"/>
          </a:p>
          <a:p>
            <a:pPr>
              <a:buFontTx/>
              <a:buNone/>
              <a:defRPr/>
            </a:pPr>
            <a:r>
              <a:rPr lang="en-US" dirty="0"/>
              <a:t>	(1) Take</a:t>
            </a:r>
          </a:p>
          <a:p>
            <a:pPr>
              <a:buFontTx/>
              <a:buNone/>
              <a:defRPr/>
            </a:pPr>
            <a:endParaRPr lang="en-US" dirty="0"/>
          </a:p>
          <a:p>
            <a:pPr>
              <a:buFontTx/>
              <a:buNone/>
              <a:defRPr/>
            </a:pPr>
            <a:r>
              <a:rPr lang="en-US" dirty="0"/>
              <a:t>	</a:t>
            </a:r>
          </a:p>
          <a:p>
            <a:pPr>
              <a:buFontTx/>
              <a:buNone/>
              <a:defRPr/>
            </a:pPr>
            <a:r>
              <a:rPr lang="en-US" dirty="0"/>
              <a:t>(2) Apply FT: </a:t>
            </a:r>
          </a:p>
          <a:p>
            <a:pPr>
              <a:buFontTx/>
              <a:buNone/>
              <a:defRPr/>
            </a:pPr>
            <a:r>
              <a:rPr lang="en-US" dirty="0"/>
              <a:t>                     		 </a:t>
            </a:r>
          </a:p>
          <a:p>
            <a:pPr>
              <a:buFontTx/>
              <a:buNone/>
              <a:defRPr/>
            </a:pPr>
            <a:r>
              <a:rPr lang="en-US" dirty="0"/>
              <a:t>				or </a:t>
            </a:r>
          </a:p>
          <a:p>
            <a:pPr>
              <a:buFontTx/>
              <a:buNone/>
              <a:defRPr/>
            </a:pPr>
            <a:endParaRPr lang="en-US" dirty="0"/>
          </a:p>
          <a:p>
            <a:pPr>
              <a:buFontTx/>
              <a:buNone/>
              <a:defRPr/>
            </a:pPr>
            <a:r>
              <a:rPr lang="en-US" dirty="0"/>
              <a:t>	(3) Apply H(</a:t>
            </a:r>
            <a:r>
              <a:rPr lang="en-US" dirty="0" err="1"/>
              <a:t>u,v</a:t>
            </a:r>
            <a:r>
              <a:rPr lang="en-US" dirty="0"/>
              <a:t>)</a:t>
            </a:r>
          </a:p>
        </p:txBody>
      </p:sp>
      <p:pic>
        <p:nvPicPr>
          <p:cNvPr id="542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106613"/>
            <a:ext cx="44958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42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352800"/>
            <a:ext cx="6067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427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6213" y="4267200"/>
            <a:ext cx="3886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42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6713" y="5824538"/>
            <a:ext cx="666908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779035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990600" y="533400"/>
            <a:ext cx="7772400" cy="1143000"/>
          </a:xfrm>
        </p:spPr>
        <p:txBody>
          <a:bodyPr>
            <a:normAutofit fontScale="90000"/>
          </a:bodyPr>
          <a:lstStyle/>
          <a:p>
            <a:r>
              <a:rPr lang="en-US" altLang="en-US" dirty="0"/>
              <a:t>Steps of Homomorphic Filtering (cont’d)</a:t>
            </a:r>
          </a:p>
        </p:txBody>
      </p:sp>
      <p:sp>
        <p:nvSpPr>
          <p:cNvPr id="55299" name="Rectangle 3"/>
          <p:cNvSpPr>
            <a:spLocks noGrp="1" noChangeArrowheads="1"/>
          </p:cNvSpPr>
          <p:nvPr>
            <p:ph idx="1"/>
          </p:nvPr>
        </p:nvSpPr>
        <p:spPr/>
        <p:txBody>
          <a:bodyPr/>
          <a:lstStyle/>
          <a:p>
            <a:pPr>
              <a:buFontTx/>
              <a:buNone/>
            </a:pPr>
            <a:r>
              <a:rPr lang="en-US" altLang="en-US"/>
              <a:t>	(4) Take Inverse FT:</a:t>
            </a:r>
          </a:p>
          <a:p>
            <a:pPr>
              <a:buFontTx/>
              <a:buNone/>
            </a:pPr>
            <a:endParaRPr lang="en-US" altLang="en-US"/>
          </a:p>
          <a:p>
            <a:pPr>
              <a:buFontTx/>
              <a:buNone/>
            </a:pPr>
            <a:endParaRPr lang="en-US" altLang="en-US"/>
          </a:p>
          <a:p>
            <a:pPr>
              <a:buFontTx/>
              <a:buNone/>
            </a:pPr>
            <a:r>
              <a:rPr lang="en-US" altLang="en-US"/>
              <a:t> 			or</a:t>
            </a:r>
          </a:p>
          <a:p>
            <a:pPr>
              <a:buFontTx/>
              <a:buNone/>
            </a:pPr>
            <a:endParaRPr lang="en-US" altLang="en-US"/>
          </a:p>
          <a:p>
            <a:pPr>
              <a:buFontTx/>
              <a:buNone/>
            </a:pPr>
            <a:r>
              <a:rPr lang="en-US" altLang="en-US"/>
              <a:t>	(5) Take exp( ) 			 or </a:t>
            </a:r>
          </a:p>
        </p:txBody>
      </p:sp>
      <p:pic>
        <p:nvPicPr>
          <p:cNvPr id="553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514600"/>
            <a:ext cx="67056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53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0850" y="3244850"/>
            <a:ext cx="2819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53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4114800"/>
            <a:ext cx="22860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4280" name="Picture 8" descr="gonzalez_p216"/>
          <p:cNvPicPr>
            <a:picLocks noChangeAspect="1" noChangeArrowheads="1"/>
          </p:cNvPicPr>
          <p:nvPr/>
        </p:nvPicPr>
        <p:blipFill>
          <a:blip r:embed="rId7">
            <a:extLst>
              <a:ext uri="{28A0092B-C50C-407E-A947-70E740481C1C}">
                <a14:useLocalDpi xmlns:a14="http://schemas.microsoft.com/office/drawing/2010/main" val="0"/>
              </a:ext>
            </a:extLst>
          </a:blip>
          <a:srcRect b="25233"/>
          <a:stretch>
            <a:fillRect/>
          </a:stretch>
        </p:blipFill>
        <p:spPr bwMode="auto">
          <a:xfrm>
            <a:off x="396875" y="5105400"/>
            <a:ext cx="84582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5304" name="Object 1"/>
          <p:cNvGraphicFramePr>
            <a:graphicFrameLocks noChangeAspect="1"/>
          </p:cNvGraphicFramePr>
          <p:nvPr>
            <p:extLst>
              <p:ext uri="{D42A27DB-BD31-4B8C-83A1-F6EECF244321}">
                <p14:modId xmlns:p14="http://schemas.microsoft.com/office/powerpoint/2010/main" val="4194966521"/>
              </p:ext>
            </p:extLst>
          </p:nvPr>
        </p:nvGraphicFramePr>
        <p:xfrm>
          <a:off x="5905500" y="4159250"/>
          <a:ext cx="2662238" cy="409575"/>
        </p:xfrm>
        <a:graphic>
          <a:graphicData uri="http://schemas.openxmlformats.org/presentationml/2006/ole">
            <mc:AlternateContent xmlns:mc="http://schemas.openxmlformats.org/markup-compatibility/2006">
              <mc:Choice xmlns:v="urn:schemas-microsoft-com:vml" Requires="v">
                <p:oleObj spid="_x0000_s12291" name="Equation" r:id="rId8" imgW="1485900" imgH="228600" progId="Equation.3">
                  <p:embed/>
                </p:oleObj>
              </mc:Choice>
              <mc:Fallback>
                <p:oleObj name="Equation" r:id="rId8" imgW="14859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05500" y="4159250"/>
                        <a:ext cx="2662238" cy="4095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63778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3"/>
          <p:cNvSpPr txBox="1">
            <a:spLocks noChangeArrowheads="1"/>
          </p:cNvSpPr>
          <p:nvPr/>
        </p:nvSpPr>
        <p:spPr bwMode="auto">
          <a:xfrm>
            <a:off x="1600200" y="1676400"/>
            <a:ext cx="69262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sp>
        <p:nvSpPr>
          <p:cNvPr id="56323" name="Rectangle 4"/>
          <p:cNvSpPr>
            <a:spLocks noGrp="1" noRot="1" noChangeArrowheads="1"/>
          </p:cNvSpPr>
          <p:nvPr>
            <p:ph type="title"/>
          </p:nvPr>
        </p:nvSpPr>
        <p:spPr>
          <a:xfrm>
            <a:off x="869950" y="569913"/>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ormAutofit fontScale="90000"/>
          </a:bodyPr>
          <a:lstStyle/>
          <a:p>
            <a:r>
              <a:rPr lang="en-US" altLang="en-US"/>
              <a:t>Example using high-frequency emphasis</a:t>
            </a:r>
          </a:p>
        </p:txBody>
      </p:sp>
      <p:pic>
        <p:nvPicPr>
          <p:cNvPr id="5632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124200"/>
            <a:ext cx="5351463" cy="314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3276600"/>
            <a:ext cx="163195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6326" name="Object 7"/>
          <p:cNvGraphicFramePr>
            <a:graphicFrameLocks noChangeAspect="1"/>
          </p:cNvGraphicFramePr>
          <p:nvPr>
            <p:extLst>
              <p:ext uri="{D42A27DB-BD31-4B8C-83A1-F6EECF244321}">
                <p14:modId xmlns:p14="http://schemas.microsoft.com/office/powerpoint/2010/main" val="1583365370"/>
              </p:ext>
            </p:extLst>
          </p:nvPr>
        </p:nvGraphicFramePr>
        <p:xfrm>
          <a:off x="1752600" y="1901825"/>
          <a:ext cx="5464175" cy="879475"/>
        </p:xfrm>
        <a:graphic>
          <a:graphicData uri="http://schemas.openxmlformats.org/presentationml/2006/ole">
            <mc:AlternateContent xmlns:mc="http://schemas.openxmlformats.org/markup-compatibility/2006">
              <mc:Choice xmlns:v="urn:schemas-microsoft-com:vml" Requires="v">
                <p:oleObj spid="_x0000_s13315" name="Equation" r:id="rId6" imgW="2527300" imgH="406400" progId="Equation.DSMT4">
                  <p:embed/>
                </p:oleObj>
              </mc:Choice>
              <mc:Fallback>
                <p:oleObj name="Equation" r:id="rId6" imgW="2527300" imgH="4064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1901825"/>
                        <a:ext cx="5464175" cy="879475"/>
                      </a:xfrm>
                      <a:prstGeom prst="rect">
                        <a:avLst/>
                      </a:prstGeom>
                      <a:noFill/>
                      <a:ln>
                        <a:noFill/>
                      </a:ln>
                    </p:spPr>
                  </p:pic>
                </p:oleObj>
              </mc:Fallback>
            </mc:AlternateContent>
          </a:graphicData>
        </a:graphic>
      </p:graphicFrame>
      <p:sp>
        <p:nvSpPr>
          <p:cNvPr id="143368" name="AutoShape 8"/>
          <p:cNvSpPr>
            <a:spLocks noChangeArrowheads="1"/>
          </p:cNvSpPr>
          <p:nvPr/>
        </p:nvSpPr>
        <p:spPr bwMode="auto">
          <a:xfrm>
            <a:off x="3432175" y="4357688"/>
            <a:ext cx="3368675" cy="1536700"/>
          </a:xfrm>
          <a:prstGeom prst="wedgeRoundRectCallout">
            <a:avLst>
              <a:gd name="adj1" fmla="val -96986"/>
              <a:gd name="adj2" fmla="val 23139"/>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eaLnBrk="0" fontAlgn="base" hangingPunct="0">
              <a:spcBef>
                <a:spcPct val="0"/>
              </a:spcBef>
              <a:spcAft>
                <a:spcPct val="0"/>
              </a:spcAft>
            </a:pPr>
            <a:r>
              <a:rPr kumimoji="0" lang="en-US" altLang="en-US" sz="1800">
                <a:solidFill>
                  <a:srgbClr val="FFFFFF"/>
                </a:solidFill>
                <a:latin typeface="Tahoma" pitchFamily="34" charset="0"/>
              </a:rPr>
              <a:t>Attenuate the contribution made by illumination and amplify the contribution made by reflectance</a:t>
            </a:r>
          </a:p>
        </p:txBody>
      </p:sp>
      <p:sp>
        <p:nvSpPr>
          <p:cNvPr id="143369" name="AutoShape 9"/>
          <p:cNvSpPr>
            <a:spLocks noChangeArrowheads="1"/>
          </p:cNvSpPr>
          <p:nvPr/>
        </p:nvSpPr>
        <p:spPr bwMode="auto">
          <a:xfrm>
            <a:off x="3427413" y="4352925"/>
            <a:ext cx="3368675" cy="1536700"/>
          </a:xfrm>
          <a:prstGeom prst="wedgeRoundRectCallout">
            <a:avLst>
              <a:gd name="adj1" fmla="val -57778"/>
              <a:gd name="adj2" fmla="val -49588"/>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eaLnBrk="0" fontAlgn="base" hangingPunct="0">
              <a:spcBef>
                <a:spcPct val="0"/>
              </a:spcBef>
              <a:spcAft>
                <a:spcPct val="0"/>
              </a:spcAft>
            </a:pPr>
            <a:r>
              <a:rPr kumimoji="0" lang="en-US" altLang="en-US" sz="1800">
                <a:solidFill>
                  <a:srgbClr val="FFFFFF"/>
                </a:solidFill>
                <a:latin typeface="Tahoma" pitchFamily="34" charset="0"/>
              </a:rPr>
              <a:t>Attenuate the contribution made by illumination and amplify the contribution made by reflectance</a:t>
            </a:r>
          </a:p>
        </p:txBody>
      </p:sp>
    </p:spTree>
    <p:extLst>
      <p:ext uri="{BB962C8B-B14F-4D97-AF65-F5344CB8AC3E}">
        <p14:creationId xmlns:p14="http://schemas.microsoft.com/office/powerpoint/2010/main" val="2791693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43368"/>
                                        </p:tgtEl>
                                        <p:attrNameLst>
                                          <p:attrName>style.visibility</p:attrName>
                                        </p:attrNameLst>
                                      </p:cBhvr>
                                      <p:to>
                                        <p:strVal val="visible"/>
                                      </p:to>
                                    </p:set>
                                    <p:animEffect transition="in" filter="diamond(in)">
                                      <p:cBhvr>
                                        <p:cTn id="7" dur="2000"/>
                                        <p:tgtEl>
                                          <p:spTgt spid="143368"/>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43369"/>
                                        </p:tgtEl>
                                        <p:attrNameLst>
                                          <p:attrName>style.visibility</p:attrName>
                                        </p:attrNameLst>
                                      </p:cBhvr>
                                      <p:to>
                                        <p:strVal val="visible"/>
                                      </p:to>
                                    </p:set>
                                    <p:animEffect transition="in" filter="diamond(in)">
                                      <p:cBhvr>
                                        <p:cTn id="10" dur="2000"/>
                                        <p:tgtEl>
                                          <p:spTgt spid="143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8" grpId="0" animBg="1"/>
      <p:bldP spid="14336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sp>
        <p:nvSpPr>
          <p:cNvPr id="57347" name="Rectangle 3"/>
          <p:cNvSpPr>
            <a:spLocks noGrp="1" noRot="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Homomorphic Filtering: Example</a:t>
            </a:r>
          </a:p>
        </p:txBody>
      </p:sp>
      <p:pic>
        <p:nvPicPr>
          <p:cNvPr id="573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86000"/>
            <a:ext cx="7543800" cy="310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49" name="Rectangle 5"/>
          <p:cNvSpPr>
            <a:spLocks noChangeArrowheads="1"/>
          </p:cNvSpPr>
          <p:nvPr/>
        </p:nvSpPr>
        <p:spPr bwMode="auto">
          <a:xfrm>
            <a:off x="696913" y="1973263"/>
            <a:ext cx="433387" cy="2460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lang="en-US" altLang="en-US">
              <a:solidFill>
                <a:srgbClr val="FFFFFF"/>
              </a:solidFill>
            </a:endParaRPr>
          </a:p>
        </p:txBody>
      </p:sp>
    </p:spTree>
    <p:extLst>
      <p:ext uri="{BB962C8B-B14F-4D97-AF65-F5344CB8AC3E}">
        <p14:creationId xmlns:p14="http://schemas.microsoft.com/office/powerpoint/2010/main" val="359551319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663575" y="1414463"/>
            <a:ext cx="78628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a:p>
            <a:pPr eaLnBrk="0" fontAlgn="base" hangingPunct="0">
              <a:spcBef>
                <a:spcPct val="0"/>
              </a:spcBef>
              <a:spcAft>
                <a:spcPct val="0"/>
              </a:spcAft>
            </a:pPr>
            <a:endParaRPr kumimoji="0" lang="en-US" altLang="en-US">
              <a:solidFill>
                <a:srgbClr val="FFFFFF"/>
              </a:solidFill>
              <a:latin typeface="Tahoma" pitchFamily="34" charset="0"/>
            </a:endParaRPr>
          </a:p>
        </p:txBody>
      </p:sp>
      <p:sp>
        <p:nvSpPr>
          <p:cNvPr id="58371" name="Rectangle 3"/>
          <p:cNvSpPr>
            <a:spLocks noGrp="1" noRot="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r>
              <a:rPr lang="en-US" altLang="en-US"/>
              <a:t>Homomorphic Filtering: Example</a:t>
            </a:r>
          </a:p>
        </p:txBody>
      </p:sp>
      <p:graphicFrame>
        <p:nvGraphicFramePr>
          <p:cNvPr id="58375" name="Object 8"/>
          <p:cNvGraphicFramePr>
            <a:graphicFrameLocks noGrp="1" noChangeAspect="1"/>
          </p:cNvGraphicFramePr>
          <p:nvPr>
            <p:ph idx="1"/>
          </p:nvPr>
        </p:nvGraphicFramePr>
        <p:xfrm>
          <a:off x="3200400" y="2667000"/>
          <a:ext cx="1179513" cy="1770063"/>
        </p:xfrm>
        <a:graphic>
          <a:graphicData uri="http://schemas.openxmlformats.org/presentationml/2006/ole">
            <mc:AlternateContent xmlns:mc="http://schemas.openxmlformats.org/markup-compatibility/2006">
              <mc:Choice xmlns:v="urn:schemas-microsoft-com:vml" Requires="v">
                <p:oleObj spid="_x0000_s14339" name="Equation" r:id="rId4" imgW="609600" imgH="914400" progId="Equation.DSMT4">
                  <p:embed/>
                </p:oleObj>
              </mc:Choice>
              <mc:Fallback>
                <p:oleObj name="Equation" r:id="rId4" imgW="609600" imgH="9144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667000"/>
                        <a:ext cx="1179513" cy="177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837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601788"/>
            <a:ext cx="6821488" cy="525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07300" y="2895600"/>
            <a:ext cx="1536700" cy="219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48120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Steps:</a:t>
            </a:r>
            <a:endParaRPr lang="en-IN" dirty="0"/>
          </a:p>
        </p:txBody>
      </p:sp>
      <p:pic>
        <p:nvPicPr>
          <p:cNvPr id="4" name="Picture 3"/>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p:blipFill>
        <p:spPr bwMode="auto">
          <a:xfrm>
            <a:off x="2836649" y="2000233"/>
            <a:ext cx="3046413" cy="2767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a:blip r:embed="rId4">
            <a:extLst>
              <a:ext uri="{BEBA8EAE-BF5A-486C-A8C5-ECC9F3942E4B}">
                <a14:imgProps xmlns:a14="http://schemas.microsoft.com/office/drawing/2010/main">
                  <a14:imgLayer r:embed="rId5">
                    <a14:imgEffect>
                      <a14:artisticTexturizer/>
                    </a14:imgEffect>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977331" y="2005956"/>
            <a:ext cx="2964755" cy="2767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a:blip r:embed="rId6">
            <a:extLst>
              <a:ext uri="{BEBA8EAE-BF5A-486C-A8C5-ECC9F3942E4B}">
                <a14:imgProps xmlns:a14="http://schemas.microsoft.com/office/drawing/2010/main">
                  <a14:imgLayer r:embed="rId7">
                    <a14:imgEffect>
                      <a14:artisticTexturizer/>
                    </a14:imgEffect>
                  </a14:imgLayer>
                </a14:imgProps>
              </a:ext>
              <a:ext uri="{28A0092B-C50C-407E-A947-70E740481C1C}">
                <a14:useLocalDpi xmlns:a14="http://schemas.microsoft.com/office/drawing/2010/main" val="0"/>
              </a:ext>
            </a:extLst>
          </a:blip>
          <a:srcRect/>
          <a:stretch>
            <a:fillRect/>
          </a:stretch>
        </p:blipFill>
        <p:spPr bwMode="auto">
          <a:xfrm>
            <a:off x="169039" y="2011689"/>
            <a:ext cx="2518556" cy="2756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169039" y="4898796"/>
            <a:ext cx="2415412" cy="646331"/>
          </a:xfrm>
          <a:prstGeom prst="rect">
            <a:avLst/>
          </a:prstGeom>
          <a:noFill/>
        </p:spPr>
        <p:txBody>
          <a:bodyPr wrap="square" rtlCol="0">
            <a:spAutoFit/>
          </a:bodyPr>
          <a:lstStyle/>
          <a:p>
            <a:r>
              <a:rPr lang="en-IN" dirty="0"/>
              <a:t>Centre the data by subtracting off the mean</a:t>
            </a:r>
          </a:p>
        </p:txBody>
      </p:sp>
      <p:sp>
        <p:nvSpPr>
          <p:cNvPr id="8" name="TextBox 7"/>
          <p:cNvSpPr txBox="1"/>
          <p:nvPr/>
        </p:nvSpPr>
        <p:spPr>
          <a:xfrm>
            <a:off x="2836650" y="4895524"/>
            <a:ext cx="3046414" cy="923330"/>
          </a:xfrm>
          <a:prstGeom prst="rect">
            <a:avLst/>
          </a:prstGeom>
          <a:noFill/>
        </p:spPr>
        <p:txBody>
          <a:bodyPr wrap="square" rtlCol="0">
            <a:spAutoFit/>
          </a:bodyPr>
          <a:lstStyle/>
          <a:p>
            <a:r>
              <a:rPr lang="en-IN" dirty="0"/>
              <a:t>Choose the direction with largest variation, place an axis in that direction</a:t>
            </a:r>
          </a:p>
        </p:txBody>
      </p:sp>
      <p:sp>
        <p:nvSpPr>
          <p:cNvPr id="9" name="TextBox 8"/>
          <p:cNvSpPr txBox="1"/>
          <p:nvPr/>
        </p:nvSpPr>
        <p:spPr>
          <a:xfrm>
            <a:off x="6012809" y="4862212"/>
            <a:ext cx="2828661" cy="1477328"/>
          </a:xfrm>
          <a:prstGeom prst="rect">
            <a:avLst/>
          </a:prstGeom>
          <a:noFill/>
        </p:spPr>
        <p:txBody>
          <a:bodyPr wrap="square" rtlCol="0">
            <a:spAutoFit/>
          </a:bodyPr>
          <a:lstStyle/>
          <a:p>
            <a:r>
              <a:rPr lang="en-IN" dirty="0"/>
              <a:t>Look at the remaining variations, find another axis that is that is orthogonal to the first axis and covers maximum variations</a:t>
            </a:r>
          </a:p>
        </p:txBody>
      </p:sp>
      <p:sp>
        <p:nvSpPr>
          <p:cNvPr id="10" name="Curved Down Arrow 9"/>
          <p:cNvSpPr/>
          <p:nvPr/>
        </p:nvSpPr>
        <p:spPr>
          <a:xfrm>
            <a:off x="1335641" y="1463040"/>
            <a:ext cx="2056290" cy="53608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urved Down Arrow 10"/>
          <p:cNvSpPr/>
          <p:nvPr/>
        </p:nvSpPr>
        <p:spPr>
          <a:xfrm>
            <a:off x="4572005" y="1463040"/>
            <a:ext cx="2082113" cy="53608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urved Down Arrow 11"/>
          <p:cNvSpPr/>
          <p:nvPr/>
        </p:nvSpPr>
        <p:spPr>
          <a:xfrm rot="11049940">
            <a:off x="4192384" y="5597722"/>
            <a:ext cx="2816420" cy="793011"/>
          </a:xfrm>
          <a:prstGeom prst="curvedDownArrow">
            <a:avLst>
              <a:gd name="adj1" fmla="val 25000"/>
              <a:gd name="adj2" fmla="val 50000"/>
              <a:gd name="adj3" fmla="val 285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50852399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Standard deviation</a:t>
            </a:r>
          </a:p>
        </p:txBody>
      </p:sp>
      <p:sp>
        <p:nvSpPr>
          <p:cNvPr id="3" name="Content Placeholder 2"/>
          <p:cNvSpPr>
            <a:spLocks noGrp="1"/>
          </p:cNvSpPr>
          <p:nvPr>
            <p:ph idx="1"/>
          </p:nvPr>
        </p:nvSpPr>
        <p:spPr/>
        <p:txBody>
          <a:bodyPr>
            <a:normAutofit/>
          </a:bodyPr>
          <a:lstStyle/>
          <a:p>
            <a:r>
              <a:rPr lang="en-IN" i="1" dirty="0"/>
              <a:t>Standard deviation</a:t>
            </a:r>
            <a:r>
              <a:rPr lang="en-IN" dirty="0"/>
              <a:t>, is simply the square root of the average square distance of data points to the mean. In the equation below, the numerator contains the sum of the differences between each </a:t>
            </a:r>
            <a:r>
              <a:rPr lang="en-IN" dirty="0" err="1"/>
              <a:t>datapoint</a:t>
            </a:r>
            <a:r>
              <a:rPr lang="en-IN" dirty="0"/>
              <a:t> and the mean, and the denominator is simply the number of data points (minus one), producing the average distance.</a:t>
            </a:r>
            <a:br>
              <a:rPr lang="en-IN" dirty="0"/>
            </a:br>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202" y="4544492"/>
            <a:ext cx="2823530" cy="1283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75424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Variance</a:t>
            </a:r>
          </a:p>
        </p:txBody>
      </p:sp>
      <p:sp>
        <p:nvSpPr>
          <p:cNvPr id="3" name="Content Placeholder 2"/>
          <p:cNvSpPr>
            <a:spLocks noGrp="1"/>
          </p:cNvSpPr>
          <p:nvPr>
            <p:ph idx="1"/>
          </p:nvPr>
        </p:nvSpPr>
        <p:spPr/>
        <p:txBody>
          <a:bodyPr/>
          <a:lstStyle/>
          <a:p>
            <a:r>
              <a:rPr lang="en-IN" dirty="0"/>
              <a:t>Variance is simply standard deviation squared, and is often expressed as </a:t>
            </a:r>
            <a:r>
              <a:rPr lang="en-IN" i="1" dirty="0"/>
              <a:t>s^2</a:t>
            </a:r>
          </a:p>
          <a:p>
            <a:endParaRPr lang="en-IN" i="1" dirty="0"/>
          </a:p>
          <a:p>
            <a:endParaRPr lang="en-IN" i="1" dirty="0"/>
          </a:p>
          <a:p>
            <a:pPr algn="just"/>
            <a:endParaRPr lang="en-IN" dirty="0"/>
          </a:p>
          <a:p>
            <a:pPr algn="just"/>
            <a:r>
              <a:rPr lang="en-IN" dirty="0"/>
              <a:t>For both variance and standard deviation, squaring the differences between data points and the mean makes them positive, so that values above and below the mean don’t cancel each other out.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2258" y="2223306"/>
            <a:ext cx="3811328" cy="10385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19581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Covariance</a:t>
            </a:r>
            <a:endParaRPr lang="en-IN" dirty="0"/>
          </a:p>
        </p:txBody>
      </p:sp>
      <p:sp>
        <p:nvSpPr>
          <p:cNvPr id="3" name="Content Placeholder 2"/>
          <p:cNvSpPr>
            <a:spLocks noGrp="1"/>
          </p:cNvSpPr>
          <p:nvPr>
            <p:ph idx="1"/>
          </p:nvPr>
        </p:nvSpPr>
        <p:spPr/>
        <p:txBody>
          <a:bodyPr>
            <a:normAutofit/>
          </a:bodyPr>
          <a:lstStyle/>
          <a:p>
            <a:pPr marL="0" indent="0">
              <a:buNone/>
            </a:pPr>
            <a:r>
              <a:rPr lang="en-IN" dirty="0"/>
              <a:t>Variance and Covariance are a measure of the “spread” of a set of points around their </a:t>
            </a:r>
            <a:r>
              <a:rPr lang="en-IN" dirty="0" err="1"/>
              <a:t>center</a:t>
            </a:r>
            <a:r>
              <a:rPr lang="en-IN" dirty="0"/>
              <a:t> of mass (mean)</a:t>
            </a:r>
          </a:p>
          <a:p>
            <a:pPr marL="0" indent="0">
              <a:buNone/>
            </a:pPr>
            <a:r>
              <a:rPr lang="en-IN" dirty="0"/>
              <a:t>• Variance – measure of the deviation from the mean for points in one dimension e.g. heights</a:t>
            </a:r>
          </a:p>
          <a:p>
            <a:pPr marL="0" indent="0">
              <a:buNone/>
            </a:pPr>
            <a:r>
              <a:rPr lang="en-IN" dirty="0"/>
              <a:t>• Covariance as a measure of how much each of the dimensions vary from the mean with respect to each other.</a:t>
            </a:r>
          </a:p>
          <a:p>
            <a:pPr marL="0" indent="0">
              <a:buNone/>
            </a:pPr>
            <a:r>
              <a:rPr lang="en-IN" dirty="0"/>
              <a:t>• Covariance is measured between 2 dimensions to see if there is a relationship between the 2 dimensions e.g. number of hours studied &amp; marks obtained.</a:t>
            </a:r>
          </a:p>
          <a:p>
            <a:pPr marL="0" indent="0">
              <a:buNone/>
            </a:pPr>
            <a:r>
              <a:rPr lang="en-IN" dirty="0"/>
              <a:t>• The covariance between one dimension and itself is the variance</a:t>
            </a:r>
            <a:endParaRPr lang="en-US" dirty="0"/>
          </a:p>
          <a:p>
            <a:pPr marL="0" indent="0">
              <a:buNone/>
            </a:pPr>
            <a:endParaRPr lang="en-IN" dirty="0"/>
          </a:p>
        </p:txBody>
      </p:sp>
    </p:spTree>
    <p:extLst>
      <p:ext uri="{BB962C8B-B14F-4D97-AF65-F5344CB8AC3E}">
        <p14:creationId xmlns:p14="http://schemas.microsoft.com/office/powerpoint/2010/main" val="41248864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Covariance</a:t>
            </a:r>
            <a:endParaRPr lang="en-IN" dirty="0"/>
          </a:p>
        </p:txBody>
      </p:sp>
      <p:sp>
        <p:nvSpPr>
          <p:cNvPr id="3" name="Content Placeholder 2"/>
          <p:cNvSpPr>
            <a:spLocks noGrp="1"/>
          </p:cNvSpPr>
          <p:nvPr>
            <p:ph idx="1"/>
          </p:nvPr>
        </p:nvSpPr>
        <p:spPr/>
        <p:txBody>
          <a:bodyPr/>
          <a:lstStyle/>
          <a:p>
            <a:r>
              <a:rPr lang="en-IN" dirty="0"/>
              <a:t>So, if you had a 3-dimensional data set (</a:t>
            </a:r>
            <a:r>
              <a:rPr lang="en-IN" dirty="0" err="1"/>
              <a:t>x,y,z</a:t>
            </a:r>
            <a:r>
              <a:rPr lang="en-IN" dirty="0"/>
              <a:t>), then you could measure the covariance between the x and y dimensions, the y and z dimensions, and the x and z dimensions. </a:t>
            </a:r>
          </a:p>
          <a:p>
            <a:r>
              <a:rPr lang="en-IN" dirty="0"/>
              <a:t>Measuring the covariance between x and x , or y and y , or z and z would give you the variance of the x , y and z dimensions respectively.</a:t>
            </a:r>
            <a:endParaRPr lang="en-US" dirty="0"/>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4005" y="4682001"/>
            <a:ext cx="4393541" cy="1163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71175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Covariance Matrix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114300" indent="0">
                  <a:buNone/>
                </a:pPr>
                <a:r>
                  <a:rPr lang="en-IN" dirty="0"/>
                  <a:t>Representing Covariance between dimensions as a </a:t>
                </a:r>
                <a:r>
                  <a:rPr lang="fr-FR" dirty="0"/>
                  <a:t>matrix </a:t>
                </a:r>
                <a:r>
                  <a:rPr lang="fr-FR" dirty="0" err="1"/>
                  <a:t>e.g</a:t>
                </a:r>
                <a:r>
                  <a:rPr lang="fr-FR" dirty="0"/>
                  <a:t>. for 3 dimensions:</a:t>
                </a:r>
              </a:p>
              <a:p>
                <a:pPr marL="114300" indent="0">
                  <a:buNone/>
                </a:pPr>
                <a14:m>
                  <m:oMathPara xmlns:m="http://schemas.openxmlformats.org/officeDocument/2006/math">
                    <m:oMathParaPr>
                      <m:jc m:val="centerGroup"/>
                    </m:oMathParaPr>
                    <m:oMath xmlns:m="http://schemas.openxmlformats.org/officeDocument/2006/math">
                      <m:r>
                        <a:rPr lang="en-IN" b="0" i="1" smtClean="0">
                          <a:latin typeface="Cambria Math"/>
                        </a:rPr>
                        <m:t>𝐶</m:t>
                      </m:r>
                      <m:r>
                        <a:rPr lang="en-IN" b="0" i="1" smtClean="0">
                          <a:latin typeface="Cambria Math"/>
                        </a:rPr>
                        <m:t>=</m:t>
                      </m:r>
                      <m:d>
                        <m:dPr>
                          <m:begChr m:val="["/>
                          <m:endChr m:val="]"/>
                          <m:ctrlPr>
                            <a:rPr lang="en-IN" b="0" i="1" smtClean="0">
                              <a:latin typeface="Cambria Math"/>
                            </a:rPr>
                          </m:ctrlPr>
                        </m:dPr>
                        <m:e>
                          <m:m>
                            <m:mPr>
                              <m:mcs>
                                <m:mc>
                                  <m:mcPr>
                                    <m:count m:val="3"/>
                                    <m:mcJc m:val="center"/>
                                  </m:mcPr>
                                </m:mc>
                              </m:mcs>
                              <m:ctrlPr>
                                <a:rPr lang="en-IN" b="0" i="1" smtClean="0">
                                  <a:latin typeface="Cambria Math"/>
                                </a:rPr>
                              </m:ctrlPr>
                            </m:mPr>
                            <m:mr>
                              <m:e>
                                <m:r>
                                  <m:rPr>
                                    <m:brk m:alnAt="7"/>
                                  </m:rPr>
                                  <a:rPr lang="en-IN" b="0" i="1" smtClean="0">
                                    <a:solidFill>
                                      <a:srgbClr val="FF0000"/>
                                    </a:solidFill>
                                    <a:latin typeface="Cambria Math"/>
                                  </a:rPr>
                                  <m:t>𝑐</m:t>
                                </m:r>
                                <m:r>
                                  <a:rPr lang="en-IN" b="0" i="1" smtClean="0">
                                    <a:solidFill>
                                      <a:srgbClr val="FF0000"/>
                                    </a:solidFill>
                                    <a:latin typeface="Cambria Math"/>
                                  </a:rPr>
                                  <m:t>𝑜𝑣</m:t>
                                </m:r>
                                <m:d>
                                  <m:dPr>
                                    <m:ctrlPr>
                                      <a:rPr lang="en-IN" b="0" i="1" smtClean="0">
                                        <a:solidFill>
                                          <a:srgbClr val="FF0000"/>
                                        </a:solidFill>
                                        <a:latin typeface="Cambria Math"/>
                                      </a:rPr>
                                    </m:ctrlPr>
                                  </m:dPr>
                                  <m:e>
                                    <m:r>
                                      <a:rPr lang="en-IN" b="0" i="1" smtClean="0">
                                        <a:solidFill>
                                          <a:srgbClr val="FF0000"/>
                                        </a:solidFill>
                                        <a:latin typeface="Cambria Math"/>
                                      </a:rPr>
                                      <m:t>𝑥</m:t>
                                    </m:r>
                                    <m:r>
                                      <a:rPr lang="en-IN" b="0" i="1" smtClean="0">
                                        <a:solidFill>
                                          <a:srgbClr val="FF0000"/>
                                        </a:solidFill>
                                        <a:latin typeface="Cambria Math"/>
                                      </a:rPr>
                                      <m:t>,</m:t>
                                    </m:r>
                                    <m:r>
                                      <a:rPr lang="en-IN" b="0" i="1" smtClean="0">
                                        <a:solidFill>
                                          <a:srgbClr val="FF0000"/>
                                        </a:solidFill>
                                        <a:latin typeface="Cambria Math"/>
                                      </a:rPr>
                                      <m:t>𝑥</m:t>
                                    </m:r>
                                  </m:e>
                                </m:d>
                              </m:e>
                              <m:e>
                                <m:r>
                                  <a:rPr lang="en-IN" b="0" i="1" smtClean="0">
                                    <a:solidFill>
                                      <a:srgbClr val="00B0F0"/>
                                    </a:solidFill>
                                    <a:latin typeface="Cambria Math"/>
                                  </a:rPr>
                                  <m:t>𝑐𝑜𝑣</m:t>
                                </m:r>
                                <m:d>
                                  <m:dPr>
                                    <m:ctrlPr>
                                      <a:rPr lang="en-IN" b="0" i="1" smtClean="0">
                                        <a:solidFill>
                                          <a:srgbClr val="00B0F0"/>
                                        </a:solidFill>
                                        <a:latin typeface="Cambria Math"/>
                                      </a:rPr>
                                    </m:ctrlPr>
                                  </m:dPr>
                                  <m:e>
                                    <m:r>
                                      <a:rPr lang="en-IN" b="0" i="1" smtClean="0">
                                        <a:solidFill>
                                          <a:srgbClr val="00B0F0"/>
                                        </a:solidFill>
                                        <a:latin typeface="Cambria Math"/>
                                      </a:rPr>
                                      <m:t>𝑥</m:t>
                                    </m:r>
                                    <m:r>
                                      <a:rPr lang="en-IN" b="0" i="1" smtClean="0">
                                        <a:solidFill>
                                          <a:srgbClr val="00B0F0"/>
                                        </a:solidFill>
                                        <a:latin typeface="Cambria Math"/>
                                      </a:rPr>
                                      <m:t>,</m:t>
                                    </m:r>
                                    <m:r>
                                      <a:rPr lang="en-IN" b="0" i="1" smtClean="0">
                                        <a:solidFill>
                                          <a:srgbClr val="00B0F0"/>
                                        </a:solidFill>
                                        <a:latin typeface="Cambria Math"/>
                                      </a:rPr>
                                      <m:t>𝑦</m:t>
                                    </m:r>
                                  </m:e>
                                </m:d>
                              </m:e>
                              <m:e>
                                <m:r>
                                  <a:rPr lang="en-IN" b="0" i="1" smtClean="0">
                                    <a:solidFill>
                                      <a:srgbClr val="92D050"/>
                                    </a:solidFill>
                                    <a:latin typeface="Cambria Math"/>
                                  </a:rPr>
                                  <m:t>𝑐𝑜𝑣</m:t>
                                </m:r>
                                <m:d>
                                  <m:dPr>
                                    <m:ctrlPr>
                                      <a:rPr lang="en-IN" b="0" i="1" smtClean="0">
                                        <a:solidFill>
                                          <a:srgbClr val="92D050"/>
                                        </a:solidFill>
                                        <a:latin typeface="Cambria Math"/>
                                      </a:rPr>
                                    </m:ctrlPr>
                                  </m:dPr>
                                  <m:e>
                                    <m:r>
                                      <a:rPr lang="en-IN" b="0" i="1" smtClean="0">
                                        <a:solidFill>
                                          <a:srgbClr val="92D050"/>
                                        </a:solidFill>
                                        <a:latin typeface="Cambria Math"/>
                                      </a:rPr>
                                      <m:t>𝑥</m:t>
                                    </m:r>
                                    <m:r>
                                      <a:rPr lang="en-IN" b="0" i="1" smtClean="0">
                                        <a:solidFill>
                                          <a:srgbClr val="92D050"/>
                                        </a:solidFill>
                                        <a:latin typeface="Cambria Math"/>
                                      </a:rPr>
                                      <m:t>,</m:t>
                                    </m:r>
                                    <m:r>
                                      <a:rPr lang="en-IN" b="0" i="1" smtClean="0">
                                        <a:solidFill>
                                          <a:srgbClr val="92D050"/>
                                        </a:solidFill>
                                        <a:latin typeface="Cambria Math"/>
                                      </a:rPr>
                                      <m:t>𝑧</m:t>
                                    </m:r>
                                  </m:e>
                                </m:d>
                              </m:e>
                            </m:mr>
                            <m:mr>
                              <m:e>
                                <m:r>
                                  <a:rPr lang="en-IN" b="0" i="1" smtClean="0">
                                    <a:solidFill>
                                      <a:srgbClr val="00B0F0"/>
                                    </a:solidFill>
                                    <a:latin typeface="Cambria Math"/>
                                  </a:rPr>
                                  <m:t>𝑐𝑜𝑣</m:t>
                                </m:r>
                                <m:d>
                                  <m:dPr>
                                    <m:ctrlPr>
                                      <a:rPr lang="en-IN" b="0" i="1" smtClean="0">
                                        <a:solidFill>
                                          <a:srgbClr val="00B0F0"/>
                                        </a:solidFill>
                                        <a:latin typeface="Cambria Math"/>
                                      </a:rPr>
                                    </m:ctrlPr>
                                  </m:dPr>
                                  <m:e>
                                    <m:r>
                                      <a:rPr lang="en-IN" b="0" i="1" smtClean="0">
                                        <a:solidFill>
                                          <a:srgbClr val="00B0F0"/>
                                        </a:solidFill>
                                        <a:latin typeface="Cambria Math"/>
                                      </a:rPr>
                                      <m:t>𝑦</m:t>
                                    </m:r>
                                    <m:r>
                                      <a:rPr lang="en-IN" b="0" i="1" smtClean="0">
                                        <a:solidFill>
                                          <a:srgbClr val="00B0F0"/>
                                        </a:solidFill>
                                        <a:latin typeface="Cambria Math"/>
                                      </a:rPr>
                                      <m:t>,</m:t>
                                    </m:r>
                                    <m:r>
                                      <a:rPr lang="en-IN" b="0" i="1" smtClean="0">
                                        <a:solidFill>
                                          <a:srgbClr val="00B0F0"/>
                                        </a:solidFill>
                                        <a:latin typeface="Cambria Math"/>
                                      </a:rPr>
                                      <m:t>𝑥</m:t>
                                    </m:r>
                                  </m:e>
                                </m:d>
                              </m:e>
                              <m:e>
                                <m:r>
                                  <a:rPr lang="en-IN" b="0" i="1" smtClean="0">
                                    <a:solidFill>
                                      <a:srgbClr val="FF0000"/>
                                    </a:solidFill>
                                    <a:latin typeface="Cambria Math"/>
                                  </a:rPr>
                                  <m:t>𝑐𝑜𝑣</m:t>
                                </m:r>
                                <m:d>
                                  <m:dPr>
                                    <m:ctrlPr>
                                      <a:rPr lang="en-IN" b="0" i="1" smtClean="0">
                                        <a:solidFill>
                                          <a:srgbClr val="FF0000"/>
                                        </a:solidFill>
                                        <a:latin typeface="Cambria Math"/>
                                      </a:rPr>
                                    </m:ctrlPr>
                                  </m:dPr>
                                  <m:e>
                                    <m:r>
                                      <a:rPr lang="en-IN" b="0" i="1" smtClean="0">
                                        <a:solidFill>
                                          <a:srgbClr val="FF0000"/>
                                        </a:solidFill>
                                        <a:latin typeface="Cambria Math"/>
                                      </a:rPr>
                                      <m:t>𝑦</m:t>
                                    </m:r>
                                    <m:r>
                                      <a:rPr lang="en-IN" b="0" i="1" smtClean="0">
                                        <a:solidFill>
                                          <a:srgbClr val="FF0000"/>
                                        </a:solidFill>
                                        <a:latin typeface="Cambria Math"/>
                                      </a:rPr>
                                      <m:t>,</m:t>
                                    </m:r>
                                    <m:r>
                                      <a:rPr lang="en-IN" b="0" i="1" smtClean="0">
                                        <a:solidFill>
                                          <a:srgbClr val="FF0000"/>
                                        </a:solidFill>
                                        <a:latin typeface="Cambria Math"/>
                                      </a:rPr>
                                      <m:t>𝑦</m:t>
                                    </m:r>
                                  </m:e>
                                </m:d>
                              </m:e>
                              <m:e>
                                <m:r>
                                  <a:rPr lang="en-IN" b="0" i="1" smtClean="0">
                                    <a:solidFill>
                                      <a:srgbClr val="FFC000"/>
                                    </a:solidFill>
                                    <a:latin typeface="Cambria Math"/>
                                  </a:rPr>
                                  <m:t>𝑐𝑜𝑣</m:t>
                                </m:r>
                                <m:d>
                                  <m:dPr>
                                    <m:ctrlPr>
                                      <a:rPr lang="en-IN" b="0" i="1" smtClean="0">
                                        <a:solidFill>
                                          <a:srgbClr val="FFC000"/>
                                        </a:solidFill>
                                        <a:latin typeface="Cambria Math"/>
                                      </a:rPr>
                                    </m:ctrlPr>
                                  </m:dPr>
                                  <m:e>
                                    <m:r>
                                      <a:rPr lang="en-IN" b="0" i="1" smtClean="0">
                                        <a:solidFill>
                                          <a:srgbClr val="FFC000"/>
                                        </a:solidFill>
                                        <a:latin typeface="Cambria Math"/>
                                      </a:rPr>
                                      <m:t>𝑦</m:t>
                                    </m:r>
                                    <m:r>
                                      <a:rPr lang="en-IN" b="0" i="1" smtClean="0">
                                        <a:solidFill>
                                          <a:srgbClr val="FFC000"/>
                                        </a:solidFill>
                                        <a:latin typeface="Cambria Math"/>
                                      </a:rPr>
                                      <m:t>,</m:t>
                                    </m:r>
                                    <m:r>
                                      <a:rPr lang="en-IN" b="0" i="1" smtClean="0">
                                        <a:solidFill>
                                          <a:srgbClr val="FFC000"/>
                                        </a:solidFill>
                                        <a:latin typeface="Cambria Math"/>
                                      </a:rPr>
                                      <m:t>𝑧</m:t>
                                    </m:r>
                                  </m:e>
                                </m:d>
                              </m:e>
                            </m:mr>
                            <m:mr>
                              <m:e>
                                <m:r>
                                  <a:rPr lang="en-IN" b="0" i="1" smtClean="0">
                                    <a:solidFill>
                                      <a:srgbClr val="92D050"/>
                                    </a:solidFill>
                                    <a:latin typeface="Cambria Math"/>
                                  </a:rPr>
                                  <m:t>𝑐𝑜𝑣</m:t>
                                </m:r>
                                <m:d>
                                  <m:dPr>
                                    <m:ctrlPr>
                                      <a:rPr lang="en-IN" b="0" i="1" smtClean="0">
                                        <a:solidFill>
                                          <a:srgbClr val="92D050"/>
                                        </a:solidFill>
                                        <a:latin typeface="Cambria Math"/>
                                      </a:rPr>
                                    </m:ctrlPr>
                                  </m:dPr>
                                  <m:e>
                                    <m:r>
                                      <a:rPr lang="en-IN" b="0" i="1" smtClean="0">
                                        <a:solidFill>
                                          <a:srgbClr val="92D050"/>
                                        </a:solidFill>
                                        <a:latin typeface="Cambria Math"/>
                                      </a:rPr>
                                      <m:t>𝑧</m:t>
                                    </m:r>
                                    <m:r>
                                      <a:rPr lang="en-IN" b="0" i="1" smtClean="0">
                                        <a:solidFill>
                                          <a:srgbClr val="92D050"/>
                                        </a:solidFill>
                                        <a:latin typeface="Cambria Math"/>
                                      </a:rPr>
                                      <m:t>,</m:t>
                                    </m:r>
                                    <m:r>
                                      <a:rPr lang="en-IN" b="0" i="1" smtClean="0">
                                        <a:solidFill>
                                          <a:srgbClr val="92D050"/>
                                        </a:solidFill>
                                        <a:latin typeface="Cambria Math"/>
                                      </a:rPr>
                                      <m:t>𝑥</m:t>
                                    </m:r>
                                  </m:e>
                                </m:d>
                              </m:e>
                              <m:e>
                                <m:r>
                                  <a:rPr lang="en-IN" b="0" i="1" smtClean="0">
                                    <a:solidFill>
                                      <a:srgbClr val="FFC000"/>
                                    </a:solidFill>
                                    <a:latin typeface="Cambria Math"/>
                                  </a:rPr>
                                  <m:t>𝑐𝑜𝑣</m:t>
                                </m:r>
                                <m:d>
                                  <m:dPr>
                                    <m:ctrlPr>
                                      <a:rPr lang="en-IN" b="0" i="1" smtClean="0">
                                        <a:solidFill>
                                          <a:srgbClr val="FFC000"/>
                                        </a:solidFill>
                                        <a:latin typeface="Cambria Math"/>
                                      </a:rPr>
                                    </m:ctrlPr>
                                  </m:dPr>
                                  <m:e>
                                    <m:r>
                                      <a:rPr lang="en-IN" b="0" i="1" smtClean="0">
                                        <a:solidFill>
                                          <a:srgbClr val="FFC000"/>
                                        </a:solidFill>
                                        <a:latin typeface="Cambria Math"/>
                                      </a:rPr>
                                      <m:t>𝑧</m:t>
                                    </m:r>
                                    <m:r>
                                      <a:rPr lang="en-IN" b="0" i="1" smtClean="0">
                                        <a:solidFill>
                                          <a:srgbClr val="FFC000"/>
                                        </a:solidFill>
                                        <a:latin typeface="Cambria Math"/>
                                      </a:rPr>
                                      <m:t>,</m:t>
                                    </m:r>
                                    <m:r>
                                      <a:rPr lang="en-IN" b="0" i="1" smtClean="0">
                                        <a:solidFill>
                                          <a:srgbClr val="FFC000"/>
                                        </a:solidFill>
                                        <a:latin typeface="Cambria Math"/>
                                      </a:rPr>
                                      <m:t>𝑦</m:t>
                                    </m:r>
                                  </m:e>
                                </m:d>
                              </m:e>
                              <m:e>
                                <m:r>
                                  <a:rPr lang="en-IN" b="0" i="1" smtClean="0">
                                    <a:solidFill>
                                      <a:srgbClr val="FF0000"/>
                                    </a:solidFill>
                                    <a:latin typeface="Cambria Math"/>
                                  </a:rPr>
                                  <m:t>𝑐𝑜𝑣</m:t>
                                </m:r>
                                <m:d>
                                  <m:dPr>
                                    <m:ctrlPr>
                                      <a:rPr lang="en-IN" b="0" i="1" smtClean="0">
                                        <a:solidFill>
                                          <a:srgbClr val="FF0000"/>
                                        </a:solidFill>
                                        <a:latin typeface="Cambria Math"/>
                                      </a:rPr>
                                    </m:ctrlPr>
                                  </m:dPr>
                                  <m:e>
                                    <m:r>
                                      <a:rPr lang="en-IN" b="0" i="1" smtClean="0">
                                        <a:solidFill>
                                          <a:srgbClr val="FF0000"/>
                                        </a:solidFill>
                                        <a:latin typeface="Cambria Math"/>
                                      </a:rPr>
                                      <m:t>𝑧</m:t>
                                    </m:r>
                                    <m:r>
                                      <a:rPr lang="en-IN" b="0" i="1" smtClean="0">
                                        <a:solidFill>
                                          <a:srgbClr val="FF0000"/>
                                        </a:solidFill>
                                        <a:latin typeface="Cambria Math"/>
                                      </a:rPr>
                                      <m:t>,</m:t>
                                    </m:r>
                                    <m:r>
                                      <a:rPr lang="en-IN" b="0" i="1" smtClean="0">
                                        <a:solidFill>
                                          <a:srgbClr val="FF0000"/>
                                        </a:solidFill>
                                        <a:latin typeface="Cambria Math"/>
                                      </a:rPr>
                                      <m:t>𝑧</m:t>
                                    </m:r>
                                  </m:e>
                                </m:d>
                              </m:e>
                            </m:mr>
                          </m:m>
                        </m:e>
                      </m:d>
                    </m:oMath>
                  </m:oMathPara>
                </a14:m>
                <a:endParaRPr lang="en-IN" dirty="0"/>
              </a:p>
              <a:p>
                <a:pPr marL="114300" indent="0">
                  <a:buNone/>
                </a:pPr>
                <a:r>
                  <a:rPr lang="en-IN" dirty="0"/>
                  <a:t>• Diagonal is the variances of x, y and z</a:t>
                </a:r>
              </a:p>
              <a:p>
                <a:pPr marL="114300" indent="0">
                  <a:buNone/>
                </a:pPr>
                <a:r>
                  <a:rPr lang="en-IN" dirty="0"/>
                  <a:t>• </a:t>
                </a:r>
                <a:r>
                  <a:rPr lang="en-IN" dirty="0" err="1"/>
                  <a:t>cov</a:t>
                </a:r>
                <a:r>
                  <a:rPr lang="en-IN" dirty="0"/>
                  <a:t>(</a:t>
                </a:r>
                <a:r>
                  <a:rPr lang="en-IN" dirty="0" err="1"/>
                  <a:t>x,y</a:t>
                </a:r>
                <a:r>
                  <a:rPr lang="en-IN" dirty="0"/>
                  <a:t>) = </a:t>
                </a:r>
                <a:r>
                  <a:rPr lang="en-IN" dirty="0" err="1"/>
                  <a:t>cov</a:t>
                </a:r>
                <a:r>
                  <a:rPr lang="en-IN" dirty="0"/>
                  <a:t>(</a:t>
                </a:r>
                <a:r>
                  <a:rPr lang="en-IN" dirty="0" err="1"/>
                  <a:t>y,x</a:t>
                </a:r>
                <a:r>
                  <a:rPr lang="en-IN" dirty="0"/>
                  <a:t>) hence matrix is symmetrical about the diagonal</a:t>
                </a:r>
              </a:p>
              <a:p>
                <a:pPr marL="114300" indent="0">
                  <a:buNone/>
                </a:pPr>
                <a:r>
                  <a:rPr lang="en-IN" dirty="0"/>
                  <a:t>• N-dimensional data will result in </a:t>
                </a:r>
                <a:r>
                  <a:rPr lang="en-IN" dirty="0" err="1"/>
                  <a:t>NxN</a:t>
                </a:r>
                <a:r>
                  <a:rPr lang="en-IN" dirty="0"/>
                  <a:t> covariance matrix</a:t>
                </a:r>
                <a:endParaRPr lang="en-US" sz="22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875"/>
                </a:stretch>
              </a:blipFill>
            </p:spPr>
            <p:txBody>
              <a:bodyPr/>
              <a:lstStyle/>
              <a:p>
                <a:r>
                  <a:rPr lang="en-IN">
                    <a:noFill/>
                  </a:rPr>
                  <a:t> </a:t>
                </a:r>
              </a:p>
            </p:txBody>
          </p:sp>
        </mc:Fallback>
      </mc:AlternateContent>
    </p:spTree>
    <p:extLst>
      <p:ext uri="{BB962C8B-B14F-4D97-AF65-F5344CB8AC3E}">
        <p14:creationId xmlns:p14="http://schemas.microsoft.com/office/powerpoint/2010/main" val="31353414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Covariance</a:t>
            </a:r>
          </a:p>
        </p:txBody>
      </p:sp>
      <p:sp>
        <p:nvSpPr>
          <p:cNvPr id="3" name="Content Placeholder 2"/>
          <p:cNvSpPr>
            <a:spLocks noGrp="1"/>
          </p:cNvSpPr>
          <p:nvPr>
            <p:ph idx="1"/>
          </p:nvPr>
        </p:nvSpPr>
        <p:spPr/>
        <p:txBody>
          <a:bodyPr>
            <a:normAutofit/>
          </a:bodyPr>
          <a:lstStyle/>
          <a:p>
            <a:r>
              <a:rPr lang="en-IN" dirty="0"/>
              <a:t>Exact value is not as important as it’s sign.</a:t>
            </a:r>
          </a:p>
          <a:p>
            <a:r>
              <a:rPr lang="en-IN" dirty="0"/>
              <a:t>(+) A positive value of covariance indicates both dimensions increase or decrease together e.g. as the number of hours studied increases, the marks in that subject increase.</a:t>
            </a:r>
          </a:p>
          <a:p>
            <a:r>
              <a:rPr lang="en-IN" dirty="0"/>
              <a:t>(-) A negative value indicates while one increases the other decreases, or vice-versa e.g. time spent on social media vs performance in exam.</a:t>
            </a:r>
          </a:p>
          <a:p>
            <a:r>
              <a:rPr lang="en-IN" dirty="0"/>
              <a:t>(zero) If covariance is zero: the two dimensions are independent of each other e.g. heights of students vs the marks obtained in a subject</a:t>
            </a:r>
            <a:endParaRPr lang="en-US" sz="2200" dirty="0"/>
          </a:p>
          <a:p>
            <a:endParaRPr lang="en-IN" dirty="0"/>
          </a:p>
        </p:txBody>
      </p:sp>
    </p:spTree>
    <p:extLst>
      <p:ext uri="{BB962C8B-B14F-4D97-AF65-F5344CB8AC3E}">
        <p14:creationId xmlns:p14="http://schemas.microsoft.com/office/powerpoint/2010/main" val="17923604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Covariance</a:t>
            </a:r>
          </a:p>
        </p:txBody>
      </p:sp>
      <p:sp>
        <p:nvSpPr>
          <p:cNvPr id="3" name="Content Placeholder 2"/>
          <p:cNvSpPr>
            <a:spLocks noGrp="1"/>
          </p:cNvSpPr>
          <p:nvPr>
            <p:ph idx="1"/>
          </p:nvPr>
        </p:nvSpPr>
        <p:spPr/>
        <p:txBody>
          <a:bodyPr/>
          <a:lstStyle/>
          <a:p>
            <a:pPr marL="114300" indent="0">
              <a:buNone/>
            </a:pPr>
            <a:r>
              <a:rPr lang="en-IN" dirty="0"/>
              <a:t>Why bother with calculating covariance when we could just plot the 2 values to see their relationship?</a:t>
            </a:r>
          </a:p>
          <a:p>
            <a:pPr marL="114300" indent="0">
              <a:buNone/>
            </a:pPr>
            <a:r>
              <a:rPr lang="en-IN" dirty="0" err="1"/>
              <a:t>Ans</a:t>
            </a:r>
            <a:r>
              <a:rPr lang="en-IN" dirty="0"/>
              <a:t>: </a:t>
            </a:r>
          </a:p>
          <a:p>
            <a:pPr marL="114300" indent="0">
              <a:buNone/>
            </a:pPr>
            <a:r>
              <a:rPr lang="en-IN" dirty="0"/>
              <a:t>Covariance calculations are used to find relationships between dimensions in high dimensional data sets (usually greater than 3) where visualization is difficult.</a:t>
            </a:r>
            <a:endParaRPr lang="en-US" sz="2200" dirty="0"/>
          </a:p>
          <a:p>
            <a:endParaRPr lang="en-IN" dirty="0"/>
          </a:p>
        </p:txBody>
      </p:sp>
    </p:spTree>
    <p:extLst>
      <p:ext uri="{BB962C8B-B14F-4D97-AF65-F5344CB8AC3E}">
        <p14:creationId xmlns:p14="http://schemas.microsoft.com/office/powerpoint/2010/main" val="1630554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Eigen vectors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14:m>
                  <m:oMath xmlns:m="http://schemas.openxmlformats.org/officeDocument/2006/math">
                    <m:r>
                      <a:rPr lang="en-IN" b="0" i="1" smtClean="0">
                        <a:latin typeface="Cambria Math"/>
                      </a:rPr>
                      <m:t>𝑀</m:t>
                    </m:r>
                    <m:r>
                      <a:rPr lang="en-IN" b="0" i="1" smtClean="0">
                        <a:latin typeface="Cambria Math"/>
                      </a:rPr>
                      <m:t>=</m:t>
                    </m:r>
                    <m:d>
                      <m:dPr>
                        <m:begChr m:val="["/>
                        <m:endChr m:val="]"/>
                        <m:ctrlPr>
                          <a:rPr lang="en-IN" b="0" i="1" smtClean="0">
                            <a:latin typeface="Cambria Math"/>
                          </a:rPr>
                        </m:ctrlPr>
                      </m:dPr>
                      <m:e>
                        <m:m>
                          <m:mPr>
                            <m:mcs>
                              <m:mc>
                                <m:mcPr>
                                  <m:count m:val="2"/>
                                  <m:mcJc m:val="center"/>
                                </m:mcPr>
                              </m:mc>
                            </m:mcs>
                            <m:ctrlPr>
                              <a:rPr lang="en-IN" b="0" i="1" smtClean="0">
                                <a:latin typeface="Cambria Math"/>
                              </a:rPr>
                            </m:ctrlPr>
                          </m:mPr>
                          <m:mr>
                            <m:e>
                              <m:r>
                                <m:rPr>
                                  <m:brk m:alnAt="7"/>
                                </m:rPr>
                                <a:rPr lang="en-IN" b="0" i="1" smtClean="0">
                                  <a:latin typeface="Cambria Math"/>
                                </a:rPr>
                                <m:t>2</m:t>
                              </m:r>
                            </m:e>
                            <m:e>
                              <m:r>
                                <a:rPr lang="en-IN" b="0" i="1" smtClean="0">
                                  <a:latin typeface="Cambria Math"/>
                                </a:rPr>
                                <m:t>3</m:t>
                              </m:r>
                            </m:e>
                          </m:mr>
                          <m:mr>
                            <m:e>
                              <m:r>
                                <a:rPr lang="en-IN" b="0" i="1" smtClean="0">
                                  <a:latin typeface="Cambria Math"/>
                                </a:rPr>
                                <m:t>2</m:t>
                              </m:r>
                            </m:e>
                            <m:e>
                              <m:r>
                                <a:rPr lang="en-IN" b="0" i="1" smtClean="0">
                                  <a:latin typeface="Cambria Math"/>
                                </a:rPr>
                                <m:t>1</m:t>
                              </m:r>
                            </m:e>
                          </m:mr>
                        </m:m>
                      </m:e>
                    </m:d>
                    <m:r>
                      <a:rPr lang="en-IN" b="0" i="1" smtClean="0">
                        <a:latin typeface="Cambria Math"/>
                        <a:ea typeface="Cambria Math"/>
                      </a:rPr>
                      <m:t>×</m:t>
                    </m:r>
                    <m:d>
                      <m:dPr>
                        <m:begChr m:val="["/>
                        <m:endChr m:val="]"/>
                        <m:ctrlPr>
                          <a:rPr lang="en-IN" b="0" i="1" smtClean="0">
                            <a:latin typeface="Cambria Math"/>
                            <a:ea typeface="Cambria Math"/>
                          </a:rPr>
                        </m:ctrlPr>
                      </m:dPr>
                      <m:e>
                        <m:m>
                          <m:mPr>
                            <m:mcs>
                              <m:mc>
                                <m:mcPr>
                                  <m:count m:val="1"/>
                                  <m:mcJc m:val="center"/>
                                </m:mcPr>
                              </m:mc>
                            </m:mcs>
                            <m:ctrlPr>
                              <a:rPr lang="en-IN" b="0" i="1" smtClean="0">
                                <a:latin typeface="Cambria Math"/>
                                <a:ea typeface="Cambria Math"/>
                              </a:rPr>
                            </m:ctrlPr>
                          </m:mPr>
                          <m:mr>
                            <m:e>
                              <m:r>
                                <m:rPr>
                                  <m:brk m:alnAt="7"/>
                                </m:rPr>
                                <a:rPr lang="en-IN" b="0" i="1" smtClean="0">
                                  <a:latin typeface="Cambria Math"/>
                                  <a:ea typeface="Cambria Math"/>
                                </a:rPr>
                                <m:t>1</m:t>
                              </m:r>
                            </m:e>
                          </m:mr>
                          <m:mr>
                            <m:e>
                              <m:r>
                                <a:rPr lang="en-IN" b="0" i="1" smtClean="0">
                                  <a:latin typeface="Cambria Math"/>
                                  <a:ea typeface="Cambria Math"/>
                                </a:rPr>
                                <m:t>3</m:t>
                              </m:r>
                            </m:e>
                          </m:mr>
                        </m:m>
                      </m:e>
                    </m:d>
                    <m:r>
                      <a:rPr lang="en-IN" b="0" i="1" smtClean="0">
                        <a:latin typeface="Cambria Math"/>
                        <a:ea typeface="Cambria Math"/>
                      </a:rPr>
                      <m:t>=</m:t>
                    </m:r>
                    <m:d>
                      <m:dPr>
                        <m:begChr m:val="["/>
                        <m:endChr m:val="]"/>
                        <m:ctrlPr>
                          <a:rPr lang="en-IN" b="0" i="1" smtClean="0">
                            <a:latin typeface="Cambria Math"/>
                          </a:rPr>
                        </m:ctrlPr>
                      </m:dPr>
                      <m:e>
                        <m:m>
                          <m:mPr>
                            <m:mcs>
                              <m:mc>
                                <m:mcPr>
                                  <m:count m:val="1"/>
                                  <m:mcJc m:val="center"/>
                                </m:mcPr>
                              </m:mc>
                            </m:mcs>
                            <m:ctrlPr>
                              <a:rPr lang="en-IN" b="0" i="1" smtClean="0">
                                <a:latin typeface="Cambria Math"/>
                              </a:rPr>
                            </m:ctrlPr>
                          </m:mPr>
                          <m:mr>
                            <m:e>
                              <m:r>
                                <m:rPr>
                                  <m:brk m:alnAt="7"/>
                                </m:rPr>
                                <a:rPr lang="en-IN" b="0" i="1" smtClean="0">
                                  <a:latin typeface="Cambria Math"/>
                                </a:rPr>
                                <m:t>1</m:t>
                              </m:r>
                              <m:r>
                                <a:rPr lang="en-IN" b="0" i="1" smtClean="0">
                                  <a:latin typeface="Cambria Math"/>
                                </a:rPr>
                                <m:t>1</m:t>
                              </m:r>
                            </m:e>
                          </m:mr>
                          <m:mr>
                            <m:e>
                              <m:r>
                                <a:rPr lang="en-IN" b="0" i="1" smtClean="0">
                                  <a:latin typeface="Cambria Math"/>
                                </a:rPr>
                                <m:t>5</m:t>
                              </m:r>
                            </m:e>
                          </m:mr>
                        </m:m>
                      </m:e>
                    </m:d>
                  </m:oMath>
                </a14:m>
                <a:r>
                  <a:rPr lang="en-IN" dirty="0"/>
                  <a:t>   The resulting vector is not integer multiple of the original vector</a:t>
                </a:r>
                <a:endParaRPr lang="en-IN" i="1" dirty="0">
                  <a:latin typeface="Cambria Math"/>
                </a:endParaRPr>
              </a:p>
              <a:p>
                <a14:m>
                  <m:oMath xmlns:m="http://schemas.openxmlformats.org/officeDocument/2006/math">
                    <m:r>
                      <a:rPr lang="en-IN" b="0" i="1" smtClean="0">
                        <a:latin typeface="Cambria Math"/>
                      </a:rPr>
                      <m:t>𝑁</m:t>
                    </m:r>
                    <m:r>
                      <a:rPr lang="en-IN" i="1">
                        <a:latin typeface="Cambria Math"/>
                      </a:rPr>
                      <m:t>=</m:t>
                    </m:r>
                    <m:d>
                      <m:dPr>
                        <m:begChr m:val="["/>
                        <m:endChr m:val="]"/>
                        <m:ctrlPr>
                          <a:rPr lang="en-IN" i="1">
                            <a:latin typeface="Cambria Math"/>
                          </a:rPr>
                        </m:ctrlPr>
                      </m:dPr>
                      <m:e>
                        <m:m>
                          <m:mPr>
                            <m:mcs>
                              <m:mc>
                                <m:mcPr>
                                  <m:count m:val="2"/>
                                  <m:mcJc m:val="center"/>
                                </m:mcPr>
                              </m:mc>
                            </m:mcs>
                            <m:ctrlPr>
                              <a:rPr lang="en-IN" i="1">
                                <a:latin typeface="Cambria Math"/>
                              </a:rPr>
                            </m:ctrlPr>
                          </m:mPr>
                          <m:mr>
                            <m:e>
                              <m:r>
                                <m:rPr>
                                  <m:brk m:alnAt="7"/>
                                </m:rPr>
                                <a:rPr lang="en-IN" i="1">
                                  <a:latin typeface="Cambria Math"/>
                                </a:rPr>
                                <m:t>2</m:t>
                              </m:r>
                            </m:e>
                            <m:e>
                              <m:r>
                                <a:rPr lang="en-IN" i="1">
                                  <a:latin typeface="Cambria Math"/>
                                </a:rPr>
                                <m:t>3</m:t>
                              </m:r>
                            </m:e>
                          </m:mr>
                          <m:mr>
                            <m:e>
                              <m:r>
                                <a:rPr lang="en-IN" i="1">
                                  <a:latin typeface="Cambria Math"/>
                                </a:rPr>
                                <m:t>2</m:t>
                              </m:r>
                            </m:e>
                            <m:e>
                              <m:r>
                                <a:rPr lang="en-IN" i="1">
                                  <a:latin typeface="Cambria Math"/>
                                </a:rPr>
                                <m:t>1</m:t>
                              </m:r>
                            </m:e>
                          </m:mr>
                        </m:m>
                      </m:e>
                    </m:d>
                    <m:r>
                      <a:rPr lang="en-IN" i="1">
                        <a:latin typeface="Cambria Math"/>
                        <a:ea typeface="Cambria Math"/>
                      </a:rPr>
                      <m:t>×</m:t>
                    </m:r>
                    <m:d>
                      <m:dPr>
                        <m:begChr m:val="["/>
                        <m:endChr m:val="]"/>
                        <m:ctrlPr>
                          <a:rPr lang="en-IN" i="1">
                            <a:latin typeface="Cambria Math"/>
                            <a:ea typeface="Cambria Math"/>
                          </a:rPr>
                        </m:ctrlPr>
                      </m:dPr>
                      <m:e>
                        <m:m>
                          <m:mPr>
                            <m:mcs>
                              <m:mc>
                                <m:mcPr>
                                  <m:count m:val="1"/>
                                  <m:mcJc m:val="center"/>
                                </m:mcPr>
                              </m:mc>
                            </m:mcs>
                            <m:ctrlPr>
                              <a:rPr lang="en-IN" i="1">
                                <a:latin typeface="Cambria Math"/>
                                <a:ea typeface="Cambria Math"/>
                              </a:rPr>
                            </m:ctrlPr>
                          </m:mPr>
                          <m:mr>
                            <m:e>
                              <m:r>
                                <m:rPr>
                                  <m:brk m:alnAt="7"/>
                                </m:rPr>
                                <a:rPr lang="en-IN" b="0" i="1" smtClean="0">
                                  <a:latin typeface="Cambria Math"/>
                                  <a:ea typeface="Cambria Math"/>
                                </a:rPr>
                                <m:t>3</m:t>
                              </m:r>
                            </m:e>
                          </m:mr>
                          <m:mr>
                            <m:e>
                              <m:r>
                                <a:rPr lang="en-IN" b="0" i="1" smtClean="0">
                                  <a:latin typeface="Cambria Math"/>
                                  <a:ea typeface="Cambria Math"/>
                                </a:rPr>
                                <m:t>2</m:t>
                              </m:r>
                            </m:e>
                          </m:mr>
                        </m:m>
                      </m:e>
                    </m:d>
                    <m:r>
                      <a:rPr lang="en-IN" i="1">
                        <a:latin typeface="Cambria Math"/>
                        <a:ea typeface="Cambria Math"/>
                      </a:rPr>
                      <m:t>=</m:t>
                    </m:r>
                    <m:d>
                      <m:dPr>
                        <m:begChr m:val="["/>
                        <m:endChr m:val="]"/>
                        <m:ctrlPr>
                          <a:rPr lang="en-IN" i="1">
                            <a:latin typeface="Cambria Math"/>
                          </a:rPr>
                        </m:ctrlPr>
                      </m:dPr>
                      <m:e>
                        <m:m>
                          <m:mPr>
                            <m:mcs>
                              <m:mc>
                                <m:mcPr>
                                  <m:count m:val="1"/>
                                  <m:mcJc m:val="center"/>
                                </m:mcPr>
                              </m:mc>
                            </m:mcs>
                            <m:ctrlPr>
                              <a:rPr lang="en-IN" i="1">
                                <a:latin typeface="Cambria Math"/>
                              </a:rPr>
                            </m:ctrlPr>
                          </m:mPr>
                          <m:mr>
                            <m:e>
                              <m:r>
                                <m:rPr>
                                  <m:brk m:alnAt="7"/>
                                </m:rPr>
                                <a:rPr lang="en-IN" i="1">
                                  <a:latin typeface="Cambria Math"/>
                                </a:rPr>
                                <m:t>1</m:t>
                              </m:r>
                              <m:r>
                                <a:rPr lang="en-IN" b="0" i="1" smtClean="0">
                                  <a:latin typeface="Cambria Math"/>
                                </a:rPr>
                                <m:t>2</m:t>
                              </m:r>
                            </m:e>
                          </m:mr>
                          <m:mr>
                            <m:e>
                              <m:r>
                                <a:rPr lang="en-IN" b="0" i="1" smtClean="0">
                                  <a:latin typeface="Cambria Math"/>
                                </a:rPr>
                                <m:t>8</m:t>
                              </m:r>
                            </m:e>
                          </m:mr>
                        </m:m>
                      </m:e>
                    </m:d>
                    <m:r>
                      <a:rPr lang="en-IN" b="0" i="1" smtClean="0">
                        <a:latin typeface="Cambria Math"/>
                      </a:rPr>
                      <m:t>=4</m:t>
                    </m:r>
                    <m:r>
                      <a:rPr lang="en-IN" b="0" i="1" smtClean="0">
                        <a:latin typeface="Cambria Math"/>
                        <a:ea typeface="Cambria Math"/>
                      </a:rPr>
                      <m:t>×</m:t>
                    </m:r>
                    <m:d>
                      <m:dPr>
                        <m:begChr m:val="["/>
                        <m:endChr m:val="]"/>
                        <m:ctrlPr>
                          <a:rPr lang="en-IN" b="0" i="1" smtClean="0">
                            <a:latin typeface="Cambria Math"/>
                            <a:ea typeface="Cambria Math"/>
                          </a:rPr>
                        </m:ctrlPr>
                      </m:dPr>
                      <m:e>
                        <m:m>
                          <m:mPr>
                            <m:mcs>
                              <m:mc>
                                <m:mcPr>
                                  <m:count m:val="1"/>
                                  <m:mcJc m:val="center"/>
                                </m:mcPr>
                              </m:mc>
                            </m:mcs>
                            <m:ctrlPr>
                              <a:rPr lang="en-IN" b="0" i="1" smtClean="0">
                                <a:latin typeface="Cambria Math"/>
                                <a:ea typeface="Cambria Math"/>
                              </a:rPr>
                            </m:ctrlPr>
                          </m:mPr>
                          <m:mr>
                            <m:e>
                              <m:r>
                                <m:rPr>
                                  <m:brk m:alnAt="7"/>
                                </m:rPr>
                                <a:rPr lang="en-IN" b="0" i="1" smtClean="0">
                                  <a:latin typeface="Cambria Math"/>
                                  <a:ea typeface="Cambria Math"/>
                                </a:rPr>
                                <m:t>3</m:t>
                              </m:r>
                            </m:e>
                          </m:mr>
                          <m:mr>
                            <m:e>
                              <m:r>
                                <a:rPr lang="en-IN" b="0" i="1" smtClean="0">
                                  <a:latin typeface="Cambria Math"/>
                                  <a:ea typeface="Cambria Math"/>
                                </a:rPr>
                                <m:t>2</m:t>
                              </m:r>
                            </m:e>
                          </m:mr>
                        </m:m>
                      </m:e>
                    </m:d>
                  </m:oMath>
                </a14:m>
                <a:r>
                  <a:rPr lang="en-IN" dirty="0"/>
                  <a:t>    The resulting vector is exactly 4 times the original vector. This is called eigenvector.              </a:t>
                </a:r>
              </a:p>
              <a:p>
                <a:endParaRPr lang="en-IN" dirty="0"/>
              </a:p>
              <a:p>
                <a:r>
                  <a:rPr lang="en-IN" i="1" dirty="0">
                    <a:solidFill>
                      <a:srgbClr val="FF0000"/>
                    </a:solidFill>
                  </a:rPr>
                  <a:t>We can transform and change matrices into new vectors by multiplying a matrix with a vector. The multiplication of the matrix by a vector computes a new vector. This is the transformed vector.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51" r="-2425"/>
                </a:stretch>
              </a:blipFill>
            </p:spPr>
            <p:txBody>
              <a:bodyPr/>
              <a:lstStyle/>
              <a:p>
                <a:r>
                  <a:rPr lang="en-IN">
                    <a:noFill/>
                  </a:rPr>
                  <a:t> </a:t>
                </a:r>
              </a:p>
            </p:txBody>
          </p:sp>
        </mc:Fallback>
      </mc:AlternateContent>
    </p:spTree>
    <p:extLst>
      <p:ext uri="{BB962C8B-B14F-4D97-AF65-F5344CB8AC3E}">
        <p14:creationId xmlns:p14="http://schemas.microsoft.com/office/powerpoint/2010/main" val="351775812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Eigenvector</a:t>
            </a:r>
          </a:p>
        </p:txBody>
      </p:sp>
      <p:sp>
        <p:nvSpPr>
          <p:cNvPr id="3" name="Content Placeholder 2"/>
          <p:cNvSpPr>
            <a:spLocks noGrp="1"/>
          </p:cNvSpPr>
          <p:nvPr>
            <p:ph idx="1"/>
          </p:nvPr>
        </p:nvSpPr>
        <p:spPr/>
        <p:txBody>
          <a:bodyPr/>
          <a:lstStyle/>
          <a:p>
            <a:r>
              <a:rPr lang="en-IN" dirty="0"/>
              <a:t>If the new transformed vector is just a scaled form of the original vector then the original vector is known to be an </a:t>
            </a:r>
            <a:r>
              <a:rPr lang="en-IN" b="1" dirty="0"/>
              <a:t>eigenvector</a:t>
            </a:r>
            <a:r>
              <a:rPr lang="en-IN" dirty="0"/>
              <a:t> of the original matrix</a:t>
            </a:r>
          </a:p>
          <a:p>
            <a:r>
              <a:rPr lang="en-IN" dirty="0"/>
              <a:t>An eigenvector is a vector that does not change when a transformation is applied to it, except that it becomes a scaled version of the original vector.</a:t>
            </a:r>
          </a:p>
          <a:p>
            <a:r>
              <a:rPr lang="en-IN" b="1" dirty="0"/>
              <a:t>Eigenvalue</a:t>
            </a:r>
            <a:r>
              <a:rPr lang="en-IN" dirty="0"/>
              <a:t>— The scalar that is used to transform (stretch) an Eigenvector.</a:t>
            </a:r>
          </a:p>
        </p:txBody>
      </p:sp>
    </p:spTree>
    <p:extLst>
      <p:ext uri="{BB962C8B-B14F-4D97-AF65-F5344CB8AC3E}">
        <p14:creationId xmlns:p14="http://schemas.microsoft.com/office/powerpoint/2010/main" val="36006117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Eigenvector and Eigenvalue</a:t>
            </a:r>
          </a:p>
        </p:txBody>
      </p:sp>
      <p:sp>
        <p:nvSpPr>
          <p:cNvPr id="3" name="Content Placeholder 2"/>
          <p:cNvSpPr>
            <a:spLocks noGrp="1"/>
          </p:cNvSpPr>
          <p:nvPr>
            <p:ph idx="1"/>
          </p:nvPr>
        </p:nvSpPr>
        <p:spPr>
          <a:xfrm>
            <a:off x="4473055" y="1600200"/>
            <a:ext cx="4213745" cy="4876800"/>
          </a:xfrm>
        </p:spPr>
        <p:txBody>
          <a:bodyPr>
            <a:normAutofit/>
          </a:bodyPr>
          <a:lstStyle/>
          <a:p>
            <a:r>
              <a:rPr lang="en-IN" dirty="0"/>
              <a:t>An eigenvector </a:t>
            </a:r>
            <a:r>
              <a:rPr lang="en-IN" b="1" dirty="0"/>
              <a:t>does not change direction</a:t>
            </a:r>
            <a:r>
              <a:rPr lang="en-IN" dirty="0"/>
              <a:t> in a transformation:</a:t>
            </a:r>
          </a:p>
          <a:p>
            <a:r>
              <a:rPr lang="en-IN" dirty="0"/>
              <a:t>In this shear mapping the red arrow changes direction, but the blue arrow does not. The blue arrow is an eigenvector of this shear mapping because it does not change direction, and since its length is unchanged, its eigenvalue is 1.</a:t>
            </a:r>
          </a:p>
          <a:p>
            <a:r>
              <a:rPr lang="en-IN" b="1" dirty="0"/>
              <a:t>1</a:t>
            </a:r>
            <a:r>
              <a:rPr lang="en-IN" dirty="0"/>
              <a:t> means no change,</a:t>
            </a:r>
          </a:p>
          <a:p>
            <a:r>
              <a:rPr lang="en-IN" b="1" dirty="0"/>
              <a:t>2</a:t>
            </a:r>
            <a:r>
              <a:rPr lang="en-IN" dirty="0"/>
              <a:t> means doubling in length,</a:t>
            </a:r>
          </a:p>
          <a:p>
            <a:r>
              <a:rPr lang="en-IN" b="1"/>
              <a:t>−1</a:t>
            </a:r>
            <a:r>
              <a:rPr lang="en-IN"/>
              <a:t> means pointing backwards along the eigenvalue's direction</a:t>
            </a:r>
          </a:p>
          <a:p>
            <a:endParaRPr lang="en-IN" dirty="0"/>
          </a:p>
        </p:txBody>
      </p:sp>
      <p:sp>
        <p:nvSpPr>
          <p:cNvPr id="4" name="AutoShape 4" descr="Eigenvector in transformation"/>
          <p:cNvSpPr>
            <a:spLocks noChangeAspect="1" noChangeArrowheads="1"/>
          </p:cNvSpPr>
          <p:nvPr/>
        </p:nvSpPr>
        <p:spPr bwMode="auto">
          <a:xfrm>
            <a:off x="116681" y="-144463"/>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Eigenvector in transformation"/>
          <p:cNvSpPr>
            <a:spLocks noChangeAspect="1" noChangeArrowheads="1"/>
          </p:cNvSpPr>
          <p:nvPr/>
        </p:nvSpPr>
        <p:spPr bwMode="auto">
          <a:xfrm>
            <a:off x="230981" y="7938"/>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8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65" y="2653567"/>
            <a:ext cx="3621629" cy="3365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58603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The Mathematics </a:t>
            </a:r>
            <a:endParaRPr lang="en-IN" dirty="0"/>
          </a:p>
        </p:txBody>
      </p:sp>
      <p:sp>
        <p:nvSpPr>
          <p:cNvPr id="3" name="Content Placeholder 2"/>
          <p:cNvSpPr>
            <a:spLocks noGrp="1"/>
          </p:cNvSpPr>
          <p:nvPr>
            <p:ph idx="1"/>
          </p:nvPr>
        </p:nvSpPr>
        <p:spPr/>
        <p:txBody>
          <a:bodyPr/>
          <a:lstStyle/>
          <a:p>
            <a:r>
              <a:rPr lang="en-IN" dirty="0"/>
              <a:t>For a square matrix </a:t>
            </a:r>
            <a:r>
              <a:rPr lang="en-IN" b="1" dirty="0"/>
              <a:t>A</a:t>
            </a:r>
            <a:r>
              <a:rPr lang="en-IN" dirty="0"/>
              <a:t>, an Eigenvector and Eigenvalue make this equation true:</a:t>
            </a:r>
          </a:p>
          <a:p>
            <a:endParaRPr lang="en-IN"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75" y="3095341"/>
            <a:ext cx="2653156" cy="1422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888" y="2606722"/>
            <a:ext cx="5825207" cy="3698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74401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How do we find these </a:t>
            </a:r>
            <a:r>
              <a:rPr lang="en-IN" b="1" dirty="0" err="1"/>
              <a:t>eigen</a:t>
            </a:r>
            <a:r>
              <a:rPr lang="en-IN" b="1" dirty="0"/>
              <a:t> things?</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a:t>We start by finding the </a:t>
            </a:r>
            <a:r>
              <a:rPr lang="en-IN" b="1" dirty="0"/>
              <a:t>eigenvalue</a:t>
            </a:r>
            <a:r>
              <a:rPr lang="en-IN" dirty="0"/>
              <a:t>: </a:t>
            </a:r>
          </a:p>
          <a:p>
            <a:pPr marL="0" indent="0">
              <a:buNone/>
            </a:pPr>
            <a:r>
              <a:rPr lang="en-IN" dirty="0"/>
              <a:t>we know this equation must be true: Av = </a:t>
            </a:r>
            <a:r>
              <a:rPr lang="en-IN" dirty="0" err="1"/>
              <a:t>λv</a:t>
            </a:r>
            <a:endParaRPr lang="en-IN" dirty="0"/>
          </a:p>
          <a:p>
            <a:pPr marL="0" indent="0">
              <a:buNone/>
            </a:pPr>
            <a:r>
              <a:rPr lang="en-IN" dirty="0"/>
              <a:t>Now let us put in an </a:t>
            </a:r>
            <a:r>
              <a:rPr lang="en-IN" dirty="0">
                <a:hlinkClick r:id="rId2"/>
              </a:rPr>
              <a:t>identity matrix</a:t>
            </a:r>
            <a:r>
              <a:rPr lang="en-IN" dirty="0"/>
              <a:t> so we are dealing with matrix-vs-matrix:</a:t>
            </a:r>
          </a:p>
          <a:p>
            <a:pPr marL="0" indent="0">
              <a:buNone/>
            </a:pPr>
            <a:r>
              <a:rPr lang="en-IN" dirty="0"/>
              <a:t>				Av = </a:t>
            </a:r>
            <a:r>
              <a:rPr lang="en-IN" dirty="0" err="1"/>
              <a:t>λIv</a:t>
            </a:r>
            <a:endParaRPr lang="en-IN" dirty="0"/>
          </a:p>
          <a:p>
            <a:pPr marL="0" indent="0">
              <a:buNone/>
            </a:pPr>
            <a:r>
              <a:rPr lang="en-IN" dirty="0"/>
              <a:t>Bring all to left hand side:</a:t>
            </a:r>
          </a:p>
          <a:p>
            <a:pPr marL="0" indent="0">
              <a:buNone/>
            </a:pPr>
            <a:r>
              <a:rPr lang="en-IN" dirty="0"/>
              <a:t>				Av − </a:t>
            </a:r>
            <a:r>
              <a:rPr lang="en-IN" dirty="0" err="1"/>
              <a:t>λIv</a:t>
            </a:r>
            <a:r>
              <a:rPr lang="en-IN" dirty="0"/>
              <a:t> = 0</a:t>
            </a:r>
          </a:p>
          <a:p>
            <a:pPr marL="0" indent="0">
              <a:buNone/>
            </a:pPr>
            <a:r>
              <a:rPr lang="en-IN" dirty="0"/>
              <a:t>If </a:t>
            </a:r>
            <a:r>
              <a:rPr lang="en-IN" b="1" dirty="0"/>
              <a:t>v</a:t>
            </a:r>
            <a:r>
              <a:rPr lang="en-IN" dirty="0"/>
              <a:t> is non-zero then we can solve for λ using just the </a:t>
            </a:r>
            <a:r>
              <a:rPr lang="en-IN" dirty="0">
                <a:hlinkClick r:id="rId3"/>
              </a:rPr>
              <a:t>determinant</a:t>
            </a:r>
            <a:r>
              <a:rPr lang="en-IN" dirty="0"/>
              <a:t>:</a:t>
            </a:r>
          </a:p>
          <a:p>
            <a:pPr marL="0" indent="0">
              <a:buNone/>
            </a:pPr>
            <a:r>
              <a:rPr lang="en-IN" dirty="0"/>
              <a:t>				| A − </a:t>
            </a:r>
            <a:r>
              <a:rPr lang="en-IN" dirty="0" err="1"/>
              <a:t>λI</a:t>
            </a:r>
            <a:r>
              <a:rPr lang="en-IN" dirty="0"/>
              <a:t> | = 0</a:t>
            </a:r>
          </a:p>
          <a:p>
            <a:pPr marL="0" indent="0">
              <a:buNone/>
            </a:pPr>
            <a:r>
              <a:rPr lang="en-IN" dirty="0"/>
              <a:t>Let's try that equation on our previous example:</a:t>
            </a:r>
          </a:p>
          <a:p>
            <a:endParaRPr lang="en-IN" dirty="0"/>
          </a:p>
        </p:txBody>
      </p:sp>
    </p:spTree>
    <p:extLst>
      <p:ext uri="{BB962C8B-B14F-4D97-AF65-F5344CB8AC3E}">
        <p14:creationId xmlns:p14="http://schemas.microsoft.com/office/powerpoint/2010/main" val="575943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3017" y="936009"/>
            <a:ext cx="3687035" cy="4877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74436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796" y="545130"/>
            <a:ext cx="3914348" cy="3177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95" y="3722969"/>
            <a:ext cx="3914348" cy="2650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668011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PCA</a:t>
            </a:r>
          </a:p>
        </p:txBody>
      </p:sp>
      <p:sp>
        <p:nvSpPr>
          <p:cNvPr id="3" name="Content Placeholder 2"/>
          <p:cNvSpPr>
            <a:spLocks noGrp="1"/>
          </p:cNvSpPr>
          <p:nvPr>
            <p:ph idx="1"/>
          </p:nvPr>
        </p:nvSpPr>
        <p:spPr/>
        <p:txBody>
          <a:bodyPr>
            <a:normAutofit/>
          </a:bodyPr>
          <a:lstStyle/>
          <a:p>
            <a:pPr marL="114300" indent="0" algn="just">
              <a:buNone/>
            </a:pPr>
            <a:r>
              <a:rPr lang="en-IN" b="1" dirty="0"/>
              <a:t>Principal components analysis (PCA) </a:t>
            </a:r>
            <a:r>
              <a:rPr lang="en-IN" dirty="0"/>
              <a:t>is a technique that can be used to simplify a dataset</a:t>
            </a:r>
          </a:p>
          <a:p>
            <a:pPr marL="114300" indent="0" algn="just">
              <a:buNone/>
            </a:pPr>
            <a:r>
              <a:rPr lang="en-IN" dirty="0"/>
              <a:t>• It is a linear transformation that chooses a new coordinate system for the data set such that greatest variance by any projection of the data set comes to lie on the first axis (then called the first principal component),the second greatest variance on the second axis, and so on.</a:t>
            </a:r>
          </a:p>
          <a:p>
            <a:pPr marL="114300" indent="0" algn="just">
              <a:buNone/>
            </a:pPr>
            <a:r>
              <a:rPr lang="en-IN" dirty="0"/>
              <a:t>• PCA can be used for reducing dimensionality by eliminating the later principal components.</a:t>
            </a:r>
          </a:p>
        </p:txBody>
      </p:sp>
    </p:spTree>
    <p:extLst>
      <p:ext uri="{BB962C8B-B14F-4D97-AF65-F5344CB8AC3E}">
        <p14:creationId xmlns:p14="http://schemas.microsoft.com/office/powerpoint/2010/main" val="73433044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Steps Involved in the PCA</a:t>
            </a:r>
          </a:p>
        </p:txBody>
      </p:sp>
      <p:sp>
        <p:nvSpPr>
          <p:cNvPr id="3" name="Content Placeholder 2"/>
          <p:cNvSpPr>
            <a:spLocks noGrp="1"/>
          </p:cNvSpPr>
          <p:nvPr>
            <p:ph idx="1"/>
          </p:nvPr>
        </p:nvSpPr>
        <p:spPr/>
        <p:txBody>
          <a:bodyPr>
            <a:normAutofit/>
          </a:bodyPr>
          <a:lstStyle/>
          <a:p>
            <a:pPr marL="0" indent="0">
              <a:buNone/>
            </a:pPr>
            <a:r>
              <a:rPr lang="en-IN" b="1" i="1" dirty="0"/>
              <a:t>Step 1:</a:t>
            </a:r>
            <a:r>
              <a:rPr lang="en-IN" dirty="0"/>
              <a:t> Standardize the dataset.</a:t>
            </a:r>
          </a:p>
          <a:p>
            <a:pPr marL="0" indent="0">
              <a:buNone/>
            </a:pPr>
            <a:r>
              <a:rPr lang="en-IN" b="1" i="1" dirty="0"/>
              <a:t>Step 2:</a:t>
            </a:r>
            <a:r>
              <a:rPr lang="en-IN" b="1" dirty="0"/>
              <a:t> </a:t>
            </a:r>
            <a:r>
              <a:rPr lang="en-IN" dirty="0"/>
              <a:t>Calculate the covariance matrix for the features in the dataset.</a:t>
            </a:r>
          </a:p>
          <a:p>
            <a:pPr marL="0" indent="0">
              <a:buNone/>
            </a:pPr>
            <a:r>
              <a:rPr lang="en-IN" b="1" i="1" dirty="0"/>
              <a:t>Step 3: </a:t>
            </a:r>
            <a:r>
              <a:rPr lang="en-IN" dirty="0"/>
              <a:t>Calculate the eigenvalues and eigenvectors for the covariance matrix.</a:t>
            </a:r>
          </a:p>
          <a:p>
            <a:pPr marL="0" indent="0">
              <a:buNone/>
            </a:pPr>
            <a:r>
              <a:rPr lang="en-IN" b="1" i="1" dirty="0"/>
              <a:t>Step 4: </a:t>
            </a:r>
            <a:r>
              <a:rPr lang="en-IN" dirty="0"/>
              <a:t>Sort eigenvalues and their corresponding eigenvectors.</a:t>
            </a:r>
          </a:p>
          <a:p>
            <a:pPr marL="0" indent="0">
              <a:buNone/>
            </a:pPr>
            <a:r>
              <a:rPr lang="en-IN" b="1" i="1" dirty="0"/>
              <a:t>Step 5: </a:t>
            </a:r>
            <a:r>
              <a:rPr lang="en-IN" dirty="0"/>
              <a:t>Pick k eigenvalues and form a matrix of eigenvectors.</a:t>
            </a:r>
          </a:p>
          <a:p>
            <a:pPr marL="0" indent="0">
              <a:buNone/>
            </a:pPr>
            <a:r>
              <a:rPr lang="en-IN" b="1" dirty="0"/>
              <a:t>Step 6:</a:t>
            </a:r>
            <a:r>
              <a:rPr lang="en-IN" dirty="0"/>
              <a:t> Transform the original matrix.</a:t>
            </a:r>
          </a:p>
          <a:p>
            <a:pPr marL="0" indent="0">
              <a:buNone/>
            </a:pPr>
            <a:r>
              <a:rPr lang="en-IN" dirty="0"/>
              <a:t/>
            </a:r>
            <a:br>
              <a:rPr lang="en-IN" dirty="0"/>
            </a:br>
            <a:endParaRPr lang="en-IN" dirty="0"/>
          </a:p>
        </p:txBody>
      </p:sp>
    </p:spTree>
    <p:extLst>
      <p:ext uri="{BB962C8B-B14F-4D97-AF65-F5344CB8AC3E}">
        <p14:creationId xmlns:p14="http://schemas.microsoft.com/office/powerpoint/2010/main" val="309770088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lstStyle/>
          <a:p>
            <a:pPr marL="0" indent="0">
              <a:buNone/>
            </a:pPr>
            <a:r>
              <a:rPr lang="en-IN" b="1" dirty="0"/>
              <a:t>1. Standardize the Dataset</a:t>
            </a:r>
            <a:endParaRPr lang="en-IN" dirty="0"/>
          </a:p>
          <a:p>
            <a:r>
              <a:rPr lang="en-IN" dirty="0"/>
              <a:t>Assume we have the below dataset which has 4 features and a total of 5 training examples.</a:t>
            </a:r>
          </a:p>
          <a:p>
            <a:endParaRPr lang="en-IN" dirty="0"/>
          </a:p>
        </p:txBody>
      </p:sp>
      <p:sp>
        <p:nvSpPr>
          <p:cNvPr id="4" name="AutoShape 2" descr="https://miro.medium.com/max/520/1*LRIwao7YjAvYfkWpWVrQ_A.png"/>
          <p:cNvSpPr>
            <a:spLocks noChangeAspect="1" noChangeArrowheads="1"/>
          </p:cNvSpPr>
          <p:nvPr/>
        </p:nvSpPr>
        <p:spPr bwMode="auto">
          <a:xfrm>
            <a:off x="116681" y="-144463"/>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https://miro.medium.com/max/520/1*LRIwao7YjAvYfkWpWVrQ_A.png"/>
          <p:cNvSpPr>
            <a:spLocks noChangeAspect="1" noChangeArrowheads="1"/>
          </p:cNvSpPr>
          <p:nvPr/>
        </p:nvSpPr>
        <p:spPr bwMode="auto">
          <a:xfrm>
            <a:off x="230981" y="7938"/>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https://miro.medium.com/max/520/1*LRIwao7YjAvYfkWpWVrQ_A.png"/>
          <p:cNvSpPr>
            <a:spLocks noChangeAspect="1" noChangeArrowheads="1"/>
          </p:cNvSpPr>
          <p:nvPr/>
        </p:nvSpPr>
        <p:spPr bwMode="auto">
          <a:xfrm>
            <a:off x="345281" y="160338"/>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0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48" y="3645024"/>
            <a:ext cx="3714750"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94168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a:bodyPr>
          <a:lstStyle/>
          <a:p>
            <a:r>
              <a:rPr lang="en-IN" sz="1800" dirty="0"/>
              <a:t>First, we need to standardize the dataset and for that, we need to calculate the mean and standard deviation for each feature.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2681647"/>
            <a:ext cx="936104" cy="520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3" y="4722127"/>
            <a:ext cx="4331389" cy="1062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834" y="2610206"/>
            <a:ext cx="3475312" cy="2111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6868" y="5802439"/>
            <a:ext cx="2391425" cy="1086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4572000" y="3114091"/>
            <a:ext cx="4261514" cy="646331"/>
          </a:xfrm>
          <a:prstGeom prst="rect">
            <a:avLst/>
          </a:prstGeom>
        </p:spPr>
        <p:txBody>
          <a:bodyPr wrap="square">
            <a:spAutoFit/>
          </a:bodyPr>
          <a:lstStyle/>
          <a:p>
            <a:r>
              <a:rPr lang="en-IN" dirty="0"/>
              <a:t>After applying the formula for each feature in the dataset is transformed as below:</a:t>
            </a:r>
          </a:p>
        </p:txBody>
      </p:sp>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3004" y="3760422"/>
            <a:ext cx="3707606"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87627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a:xfrm>
            <a:off x="768095" y="1778342"/>
            <a:ext cx="7290055" cy="4023360"/>
          </a:xfrm>
        </p:spPr>
        <p:txBody>
          <a:bodyPr>
            <a:normAutofit/>
          </a:bodyPr>
          <a:lstStyle/>
          <a:p>
            <a:r>
              <a:rPr lang="en-IN" sz="1800" dirty="0"/>
              <a:t>2. Calculate the covariance matrix for the whole dataset</a:t>
            </a:r>
          </a:p>
          <a:p>
            <a:pPr marL="0" indent="0">
              <a:buNone/>
            </a:pPr>
            <a:r>
              <a:rPr lang="en-IN" sz="1800" dirty="0"/>
              <a:t>The formula to calculate the covariance matrix:</a:t>
            </a:r>
          </a:p>
          <a:p>
            <a:r>
              <a:rPr lang="en-IN" sz="1800" dirty="0"/>
              <a:t/>
            </a:r>
            <a:br>
              <a:rPr lang="en-IN" sz="1800" dirty="0"/>
            </a:br>
            <a:endParaRPr lang="en-IN" sz="18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4569" y="3995783"/>
            <a:ext cx="4614863"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17561" y="5862684"/>
            <a:ext cx="7888406" cy="646331"/>
          </a:xfrm>
          <a:prstGeom prst="rect">
            <a:avLst/>
          </a:prstGeom>
        </p:spPr>
        <p:txBody>
          <a:bodyPr wrap="square">
            <a:spAutoFit/>
          </a:bodyPr>
          <a:lstStyle/>
          <a:p>
            <a:r>
              <a:rPr lang="en-IN" i="1" dirty="0">
                <a:solidFill>
                  <a:srgbClr val="FF0000"/>
                </a:solidFill>
              </a:rPr>
              <a:t>Since we have standardized the dataset, so the </a:t>
            </a:r>
            <a:r>
              <a:rPr lang="en-IN" b="1" i="1" dirty="0">
                <a:solidFill>
                  <a:srgbClr val="FF0000"/>
                </a:solidFill>
              </a:rPr>
              <a:t>mean for each feature is 0</a:t>
            </a:r>
            <a:r>
              <a:rPr lang="en-IN" i="1" dirty="0">
                <a:solidFill>
                  <a:srgbClr val="FF0000"/>
                </a:solidFill>
              </a:rPr>
              <a:t> and the standard deviation is 1.</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2491759"/>
            <a:ext cx="2654969" cy="15040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22573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fontScale="92500" lnSpcReduction="20000"/>
          </a:bodyPr>
          <a:lstStyle/>
          <a:p>
            <a:endParaRPr lang="da-DK" dirty="0"/>
          </a:p>
          <a:p>
            <a:endParaRPr lang="da-DK" dirty="0"/>
          </a:p>
          <a:p>
            <a:endParaRPr lang="da-DK" dirty="0"/>
          </a:p>
          <a:p>
            <a:endParaRPr lang="da-DK" dirty="0"/>
          </a:p>
          <a:p>
            <a:endParaRPr lang="da-DK" dirty="0"/>
          </a:p>
          <a:p>
            <a:r>
              <a:rPr lang="da-DK" dirty="0"/>
              <a:t>var(f1) = ((-1.0-0)² + (0.33-0)² + (-1.0-0)² +(0.33–0)² +(1.33–0)²)/5</a:t>
            </a:r>
            <a:br>
              <a:rPr lang="da-DK" dirty="0"/>
            </a:br>
            <a:r>
              <a:rPr lang="da-DK" b="1" dirty="0"/>
              <a:t>var (f1) = 0.8</a:t>
            </a:r>
          </a:p>
          <a:p>
            <a:r>
              <a:rPr lang="en-IN" dirty="0" err="1"/>
              <a:t>cov</a:t>
            </a:r>
            <a:r>
              <a:rPr lang="en-IN" dirty="0"/>
              <a:t>(f1,f2) =((-1.0–0)*(-0.632456-0) +</a:t>
            </a:r>
            <a:br>
              <a:rPr lang="en-IN" dirty="0"/>
            </a:br>
            <a:r>
              <a:rPr lang="en-IN" dirty="0"/>
              <a:t>                   (0.33–0)*(1.264911-0) +</a:t>
            </a:r>
            <a:br>
              <a:rPr lang="en-IN" dirty="0"/>
            </a:br>
            <a:r>
              <a:rPr lang="en-IN" dirty="0"/>
              <a:t>                   (-1.0–0)* (0.632456-0)+</a:t>
            </a:r>
            <a:br>
              <a:rPr lang="en-IN" dirty="0"/>
            </a:br>
            <a:r>
              <a:rPr lang="en-IN" dirty="0"/>
              <a:t>                   (0.33–0)*(0.000000 -0)+</a:t>
            </a:r>
            <a:br>
              <a:rPr lang="en-IN" dirty="0"/>
            </a:br>
            <a:r>
              <a:rPr lang="en-IN" dirty="0"/>
              <a:t>                   (1.33–0)*(-1.264911–0))/5</a:t>
            </a:r>
            <a:br>
              <a:rPr lang="en-IN" dirty="0"/>
            </a:br>
            <a:r>
              <a:rPr lang="en-IN" b="1" dirty="0" err="1"/>
              <a:t>cov</a:t>
            </a:r>
            <a:r>
              <a:rPr lang="en-IN" b="1" dirty="0"/>
              <a:t>(f1,f2) = -0.25298</a:t>
            </a:r>
            <a:endParaRPr lang="en-IN"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675" y="1541096"/>
            <a:ext cx="3474475" cy="20797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0082" y="1541096"/>
            <a:ext cx="4614863"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52750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lstStyle/>
          <a:p>
            <a:r>
              <a:rPr lang="en-IN" dirty="0"/>
              <a:t>In the similar way be can calculate the other </a:t>
            </a:r>
            <a:r>
              <a:rPr lang="en-IN" dirty="0" err="1"/>
              <a:t>covariances</a:t>
            </a:r>
            <a:r>
              <a:rPr lang="en-IN" dirty="0"/>
              <a:t> and which will result in the below covariance matrix</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997" y="3212976"/>
            <a:ext cx="4622006"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366154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lstStyle/>
          <a:p>
            <a:r>
              <a:rPr lang="en-IN" dirty="0"/>
              <a:t>3. Calculate eigenvalues and </a:t>
            </a:r>
            <a:r>
              <a:rPr lang="en-IN" dirty="0" err="1"/>
              <a:t>eigen</a:t>
            </a:r>
            <a:r>
              <a:rPr lang="en-IN" dirty="0"/>
              <a:t> vectors.</a:t>
            </a:r>
          </a:p>
          <a:p>
            <a:pPr marL="0" indent="0">
              <a:buNone/>
            </a:pPr>
            <a:r>
              <a:rPr lang="en-IN" dirty="0"/>
              <a:t>  A</a:t>
            </a:r>
            <a:r>
              <a:rPr lang="el-GR" dirty="0"/>
              <a:t>ν-λ</a:t>
            </a:r>
            <a:r>
              <a:rPr lang="en-IN" dirty="0"/>
              <a:t>I</a:t>
            </a:r>
            <a:r>
              <a:rPr lang="el-GR" dirty="0"/>
              <a:t>ν =0 ;</a:t>
            </a:r>
            <a:endParaRPr lang="en-IN" dirty="0"/>
          </a:p>
          <a:p>
            <a:pPr marL="0" indent="0">
              <a:buNone/>
            </a:pPr>
            <a:r>
              <a:rPr lang="el-GR" dirty="0"/>
              <a:t> (</a:t>
            </a:r>
            <a:r>
              <a:rPr lang="en-IN" dirty="0"/>
              <a:t>A-</a:t>
            </a:r>
            <a:r>
              <a:rPr lang="el-GR" dirty="0"/>
              <a:t>λ</a:t>
            </a:r>
            <a:r>
              <a:rPr lang="en-IN" dirty="0"/>
              <a:t>I)</a:t>
            </a:r>
            <a:r>
              <a:rPr lang="el-GR" dirty="0"/>
              <a:t>ν = 0</a:t>
            </a:r>
            <a:endParaRPr lang="en-IN" dirty="0"/>
          </a:p>
          <a:p>
            <a:pPr marL="0" indent="0">
              <a:buNone/>
            </a:pPr>
            <a:r>
              <a:rPr lang="en-IN" dirty="0"/>
              <a:t>Since we  already know ν is a non- zero vector, only way this equation can be equal to zero, if</a:t>
            </a:r>
          </a:p>
          <a:p>
            <a:r>
              <a:rPr lang="en-IN" dirty="0" err="1"/>
              <a:t>det</a:t>
            </a:r>
            <a:r>
              <a:rPr lang="en-IN" dirty="0"/>
              <a:t>(A-</a:t>
            </a:r>
            <a:r>
              <a:rPr lang="en-IN" dirty="0" err="1"/>
              <a:t>λI</a:t>
            </a:r>
            <a:r>
              <a:rPr lang="en-IN" dirty="0"/>
              <a:t>) = 0</a:t>
            </a:r>
          </a:p>
          <a:p>
            <a:pPr marL="0" indent="0">
              <a:buNone/>
            </a:pPr>
            <a:endParaRPr lang="en-IN" dirty="0"/>
          </a:p>
        </p:txBody>
      </p:sp>
    </p:spTree>
    <p:extLst>
      <p:ext uri="{BB962C8B-B14F-4D97-AF65-F5344CB8AC3E}">
        <p14:creationId xmlns:p14="http://schemas.microsoft.com/office/powerpoint/2010/main" val="332049581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fontScale="850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Solving the above equation |M|= 0</a:t>
            </a:r>
          </a:p>
          <a:p>
            <a:r>
              <a:rPr lang="en-IN" b="1" i="1" dirty="0"/>
              <a:t>λ = 2.51579324 , 1.0652885 , 0.39388704 , 0.02503121</a:t>
            </a:r>
            <a:endParaRPr lang="en-IN" dirty="0"/>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3560075"/>
            <a:ext cx="4629150"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1781033" y="2169995"/>
                <a:ext cx="7186904" cy="11128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a:rPr>
                          </m:ctrlPr>
                        </m:dPr>
                        <m:e>
                          <m:m>
                            <m:mPr>
                              <m:mcs>
                                <m:mc>
                                  <m:mcPr>
                                    <m:count m:val="2"/>
                                    <m:mcJc m:val="center"/>
                                  </m:mcPr>
                                </m:mc>
                              </m:mcs>
                              <m:ctrlPr>
                                <a:rPr lang="en-IN" i="1" smtClean="0">
                                  <a:latin typeface="Cambria Math"/>
                                </a:rPr>
                              </m:ctrlPr>
                            </m:mPr>
                            <m:mr>
                              <m:e>
                                <m:m>
                                  <m:mPr>
                                    <m:mcs>
                                      <m:mc>
                                        <m:mcPr>
                                          <m:count m:val="2"/>
                                          <m:mcJc m:val="center"/>
                                        </m:mcPr>
                                      </m:mc>
                                    </m:mcs>
                                    <m:ctrlPr>
                                      <a:rPr lang="en-IN" i="1" smtClean="0">
                                        <a:latin typeface="Cambria Math"/>
                                      </a:rPr>
                                    </m:ctrlPr>
                                  </m:mPr>
                                  <m:mr>
                                    <m:e>
                                      <m:r>
                                        <m:rPr>
                                          <m:brk m:alnAt="7"/>
                                        </m:rPr>
                                        <a:rPr lang="en-IN" b="0" i="1" smtClean="0">
                                          <a:latin typeface="Cambria Math"/>
                                        </a:rPr>
                                        <m:t>0</m:t>
                                      </m:r>
                                      <m:r>
                                        <a:rPr lang="en-IN" b="0" i="1" smtClean="0">
                                          <a:latin typeface="Cambria Math"/>
                                        </a:rPr>
                                        <m:t>.8</m:t>
                                      </m:r>
                                    </m:e>
                                    <m:e>
                                      <m:r>
                                        <a:rPr lang="en-IN" b="0" i="1" smtClean="0">
                                          <a:latin typeface="Cambria Math"/>
                                        </a:rPr>
                                        <m:t>−0.25298</m:t>
                                      </m:r>
                                    </m:e>
                                  </m:mr>
                                  <m:mr>
                                    <m:e>
                                      <m:r>
                                        <a:rPr lang="en-IN" b="0" i="1" smtClean="0">
                                          <a:latin typeface="Cambria Math"/>
                                        </a:rPr>
                                        <m:t>−0.25298</m:t>
                                      </m:r>
                                    </m:e>
                                    <m:e>
                                      <m:r>
                                        <a:rPr lang="en-IN" b="0" i="1" smtClean="0">
                                          <a:latin typeface="Cambria Math"/>
                                        </a:rPr>
                                        <m:t>0.8</m:t>
                                      </m:r>
                                    </m:e>
                                  </m:mr>
                                </m:m>
                              </m:e>
                              <m:e>
                                <m:m>
                                  <m:mPr>
                                    <m:mcs>
                                      <m:mc>
                                        <m:mcPr>
                                          <m:count m:val="2"/>
                                          <m:mcJc m:val="center"/>
                                        </m:mcPr>
                                      </m:mc>
                                    </m:mcs>
                                    <m:ctrlPr>
                                      <a:rPr lang="en-IN" i="1" smtClean="0">
                                        <a:latin typeface="Cambria Math"/>
                                      </a:rPr>
                                    </m:ctrlPr>
                                  </m:mPr>
                                  <m:mr>
                                    <m:e>
                                      <m:r>
                                        <m:rPr>
                                          <m:brk m:alnAt="7"/>
                                        </m:rPr>
                                        <a:rPr lang="en-IN" b="0" i="1" smtClean="0">
                                          <a:latin typeface="Cambria Math"/>
                                        </a:rPr>
                                        <m:t>0</m:t>
                                      </m:r>
                                      <m:r>
                                        <a:rPr lang="en-IN" b="0" i="1" smtClean="0">
                                          <a:latin typeface="Cambria Math"/>
                                        </a:rPr>
                                        <m:t>.03849</m:t>
                                      </m:r>
                                    </m:e>
                                    <m:e>
                                      <m:r>
                                        <a:rPr lang="en-IN" b="0" i="1" smtClean="0">
                                          <a:latin typeface="Cambria Math"/>
                                        </a:rPr>
                                        <m:t>−0.14479</m:t>
                                      </m:r>
                                    </m:e>
                                  </m:mr>
                                  <m:mr>
                                    <m:e>
                                      <m:r>
                                        <a:rPr lang="en-IN" b="0" i="1" smtClean="0">
                                          <a:latin typeface="Cambria Math"/>
                                        </a:rPr>
                                        <m:t>0.51121</m:t>
                                      </m:r>
                                    </m:e>
                                    <m:e>
                                      <m:r>
                                        <a:rPr lang="en-IN" b="0" i="1" smtClean="0">
                                          <a:latin typeface="Cambria Math"/>
                                        </a:rPr>
                                        <m:t>0.4945</m:t>
                                      </m:r>
                                    </m:e>
                                  </m:mr>
                                </m:m>
                              </m:e>
                            </m:mr>
                            <m:mr>
                              <m:e>
                                <m:m>
                                  <m:mPr>
                                    <m:mcs>
                                      <m:mc>
                                        <m:mcPr>
                                          <m:count m:val="2"/>
                                          <m:mcJc m:val="center"/>
                                        </m:mcPr>
                                      </m:mc>
                                    </m:mcs>
                                    <m:ctrlPr>
                                      <a:rPr lang="en-IN" i="1" smtClean="0">
                                        <a:latin typeface="Cambria Math"/>
                                      </a:rPr>
                                    </m:ctrlPr>
                                  </m:mPr>
                                  <m:mr>
                                    <m:e>
                                      <m:r>
                                        <m:rPr>
                                          <m:brk m:alnAt="7"/>
                                        </m:rPr>
                                        <a:rPr lang="en-IN" b="0" i="1" smtClean="0">
                                          <a:latin typeface="Cambria Math"/>
                                        </a:rPr>
                                        <m:t>0</m:t>
                                      </m:r>
                                      <m:r>
                                        <a:rPr lang="en-IN" b="0" i="1" smtClean="0">
                                          <a:latin typeface="Cambria Math"/>
                                        </a:rPr>
                                        <m:t>.03849</m:t>
                                      </m:r>
                                    </m:e>
                                    <m:e>
                                      <m:r>
                                        <a:rPr lang="en-IN" b="0" i="1" smtClean="0">
                                          <a:latin typeface="Cambria Math"/>
                                        </a:rPr>
                                        <m:t>0.51121</m:t>
                                      </m:r>
                                    </m:e>
                                  </m:mr>
                                  <m:mr>
                                    <m:e>
                                      <m:r>
                                        <a:rPr lang="en-IN" b="0" i="1" smtClean="0">
                                          <a:latin typeface="Cambria Math"/>
                                        </a:rPr>
                                        <m:t>−0.14479</m:t>
                                      </m:r>
                                    </m:e>
                                    <m:e>
                                      <m:r>
                                        <a:rPr lang="en-IN" b="0" i="1" smtClean="0">
                                          <a:latin typeface="Cambria Math"/>
                                        </a:rPr>
                                        <m:t>0.4945</m:t>
                                      </m:r>
                                    </m:e>
                                  </m:mr>
                                </m:m>
                              </m:e>
                              <m:e>
                                <m:m>
                                  <m:mPr>
                                    <m:mcs>
                                      <m:mc>
                                        <m:mcPr>
                                          <m:count m:val="2"/>
                                          <m:mcJc m:val="center"/>
                                        </m:mcPr>
                                      </m:mc>
                                    </m:mcs>
                                    <m:ctrlPr>
                                      <a:rPr lang="en-IN" i="1" smtClean="0">
                                        <a:latin typeface="Cambria Math"/>
                                      </a:rPr>
                                    </m:ctrlPr>
                                  </m:mPr>
                                  <m:mr>
                                    <m:e>
                                      <m:r>
                                        <m:rPr>
                                          <m:brk m:alnAt="7"/>
                                        </m:rPr>
                                        <a:rPr lang="en-IN" b="0" i="1" smtClean="0">
                                          <a:latin typeface="Cambria Math"/>
                                        </a:rPr>
                                        <m:t>0</m:t>
                                      </m:r>
                                      <m:r>
                                        <a:rPr lang="en-IN" b="0" i="1" smtClean="0">
                                          <a:latin typeface="Cambria Math"/>
                                        </a:rPr>
                                        <m:t>.8</m:t>
                                      </m:r>
                                    </m:e>
                                    <m:e>
                                      <m:r>
                                        <a:rPr lang="en-IN" b="0" i="1" smtClean="0">
                                          <a:latin typeface="Cambria Math"/>
                                        </a:rPr>
                                        <m:t>0.75236</m:t>
                                      </m:r>
                                    </m:e>
                                  </m:mr>
                                  <m:mr>
                                    <m:e>
                                      <m:r>
                                        <a:rPr lang="en-IN" b="0" i="1" smtClean="0">
                                          <a:latin typeface="Cambria Math"/>
                                        </a:rPr>
                                        <m:t>0.75236</m:t>
                                      </m:r>
                                    </m:e>
                                    <m:e>
                                      <m:r>
                                        <a:rPr lang="en-IN" b="0" i="1" smtClean="0">
                                          <a:latin typeface="Cambria Math"/>
                                        </a:rPr>
                                        <m:t>0.8</m:t>
                                      </m:r>
                                    </m:e>
                                  </m:mr>
                                </m:m>
                              </m:e>
                            </m:mr>
                          </m:m>
                        </m:e>
                      </m:d>
                      <m:r>
                        <a:rPr lang="en-IN" b="0" i="1" smtClean="0">
                          <a:latin typeface="Cambria Math"/>
                        </a:rPr>
                        <m:t>−</m:t>
                      </m:r>
                      <m:r>
                        <a:rPr lang="en-IN" b="0" i="1" smtClean="0">
                          <a:latin typeface="Cambria Math"/>
                          <a:ea typeface="Cambria Math"/>
                        </a:rPr>
                        <m:t>𝜆</m:t>
                      </m:r>
                      <m:d>
                        <m:dPr>
                          <m:begChr m:val="["/>
                          <m:endChr m:val="]"/>
                          <m:ctrlPr>
                            <a:rPr lang="en-IN" b="0" i="1" smtClean="0">
                              <a:latin typeface="Cambria Math"/>
                              <a:ea typeface="Cambria Math"/>
                            </a:rPr>
                          </m:ctrlPr>
                        </m:dPr>
                        <m:e>
                          <m:m>
                            <m:mPr>
                              <m:mcs>
                                <m:mc>
                                  <m:mcPr>
                                    <m:count m:val="2"/>
                                    <m:mcJc m:val="center"/>
                                  </m:mcPr>
                                </m:mc>
                              </m:mcs>
                              <m:ctrlPr>
                                <a:rPr lang="en-IN" b="0" i="1" smtClean="0">
                                  <a:latin typeface="Cambria Math"/>
                                  <a:ea typeface="Cambria Math"/>
                                </a:rPr>
                              </m:ctrlPr>
                            </m:mPr>
                            <m:mr>
                              <m:e>
                                <m:m>
                                  <m:mPr>
                                    <m:mcs>
                                      <m:mc>
                                        <m:mcPr>
                                          <m:count m:val="2"/>
                                          <m:mcJc m:val="center"/>
                                        </m:mcPr>
                                      </m:mc>
                                    </m:mcs>
                                    <m:ctrlPr>
                                      <a:rPr lang="en-IN" b="0" i="1" smtClean="0">
                                        <a:latin typeface="Cambria Math"/>
                                        <a:ea typeface="Cambria Math"/>
                                      </a:rPr>
                                    </m:ctrlPr>
                                  </m:mPr>
                                  <m:mr>
                                    <m:e>
                                      <m:r>
                                        <m:rPr>
                                          <m:brk m:alnAt="7"/>
                                        </m:rPr>
                                        <a:rPr lang="en-IN" b="0" i="1" smtClean="0">
                                          <a:latin typeface="Cambria Math"/>
                                          <a:ea typeface="Cambria Math"/>
                                        </a:rPr>
                                        <m:t>1</m:t>
                                      </m:r>
                                    </m:e>
                                    <m:e>
                                      <m:r>
                                        <a:rPr lang="en-IN" b="0" i="1" smtClean="0">
                                          <a:latin typeface="Cambria Math"/>
                                          <a:ea typeface="Cambria Math"/>
                                        </a:rPr>
                                        <m:t>0</m:t>
                                      </m:r>
                                    </m:e>
                                  </m:mr>
                                  <m:mr>
                                    <m:e>
                                      <m:r>
                                        <a:rPr lang="en-IN" b="0" i="1" smtClean="0">
                                          <a:latin typeface="Cambria Math"/>
                                          <a:ea typeface="Cambria Math"/>
                                        </a:rPr>
                                        <m:t>0</m:t>
                                      </m:r>
                                    </m:e>
                                    <m:e>
                                      <m:r>
                                        <a:rPr lang="en-IN" b="0" i="1" smtClean="0">
                                          <a:latin typeface="Cambria Math"/>
                                          <a:ea typeface="Cambria Math"/>
                                        </a:rPr>
                                        <m:t>1</m:t>
                                      </m:r>
                                    </m:e>
                                  </m:mr>
                                </m:m>
                              </m:e>
                              <m:e>
                                <m:m>
                                  <m:mPr>
                                    <m:mcs>
                                      <m:mc>
                                        <m:mcPr>
                                          <m:count m:val="2"/>
                                          <m:mcJc m:val="center"/>
                                        </m:mcPr>
                                      </m:mc>
                                    </m:mcs>
                                    <m:ctrlPr>
                                      <a:rPr lang="en-IN" b="0" i="1" smtClean="0">
                                        <a:latin typeface="Cambria Math"/>
                                        <a:ea typeface="Cambria Math"/>
                                      </a:rPr>
                                    </m:ctrlPr>
                                  </m:mPr>
                                  <m:mr>
                                    <m:e>
                                      <m:r>
                                        <m:rPr>
                                          <m:brk m:alnAt="7"/>
                                        </m:rPr>
                                        <a:rPr lang="en-IN" b="0" i="1" smtClean="0">
                                          <a:latin typeface="Cambria Math"/>
                                          <a:ea typeface="Cambria Math"/>
                                        </a:rPr>
                                        <m:t>0</m:t>
                                      </m:r>
                                    </m:e>
                                    <m:e>
                                      <m:r>
                                        <a:rPr lang="en-IN" b="0" i="1" smtClean="0">
                                          <a:latin typeface="Cambria Math"/>
                                          <a:ea typeface="Cambria Math"/>
                                        </a:rPr>
                                        <m:t>0</m:t>
                                      </m:r>
                                    </m:e>
                                  </m:mr>
                                  <m:mr>
                                    <m:e>
                                      <m:r>
                                        <a:rPr lang="en-IN" b="0" i="1" smtClean="0">
                                          <a:latin typeface="Cambria Math"/>
                                          <a:ea typeface="Cambria Math"/>
                                        </a:rPr>
                                        <m:t>0</m:t>
                                      </m:r>
                                    </m:e>
                                    <m:e>
                                      <m:r>
                                        <a:rPr lang="en-IN" b="0" i="1" smtClean="0">
                                          <a:latin typeface="Cambria Math"/>
                                          <a:ea typeface="Cambria Math"/>
                                        </a:rPr>
                                        <m:t>0</m:t>
                                      </m:r>
                                    </m:e>
                                  </m:mr>
                                </m:m>
                              </m:e>
                            </m:mr>
                            <m:mr>
                              <m:e>
                                <m:m>
                                  <m:mPr>
                                    <m:mcs>
                                      <m:mc>
                                        <m:mcPr>
                                          <m:count m:val="2"/>
                                          <m:mcJc m:val="center"/>
                                        </m:mcPr>
                                      </m:mc>
                                    </m:mcs>
                                    <m:ctrlPr>
                                      <a:rPr lang="en-IN" b="0" i="1" smtClean="0">
                                        <a:latin typeface="Cambria Math"/>
                                        <a:ea typeface="Cambria Math"/>
                                      </a:rPr>
                                    </m:ctrlPr>
                                  </m:mPr>
                                  <m:mr>
                                    <m:e>
                                      <m:r>
                                        <m:rPr>
                                          <m:brk m:alnAt="7"/>
                                        </m:rPr>
                                        <a:rPr lang="en-IN" b="0" i="1" smtClean="0">
                                          <a:latin typeface="Cambria Math"/>
                                          <a:ea typeface="Cambria Math"/>
                                        </a:rPr>
                                        <m:t>0</m:t>
                                      </m:r>
                                    </m:e>
                                    <m:e>
                                      <m:r>
                                        <a:rPr lang="en-IN" b="0" i="1" smtClean="0">
                                          <a:latin typeface="Cambria Math"/>
                                          <a:ea typeface="Cambria Math"/>
                                        </a:rPr>
                                        <m:t>0</m:t>
                                      </m:r>
                                    </m:e>
                                  </m:mr>
                                  <m:mr>
                                    <m:e>
                                      <m:r>
                                        <a:rPr lang="en-IN" b="0" i="1" smtClean="0">
                                          <a:latin typeface="Cambria Math"/>
                                          <a:ea typeface="Cambria Math"/>
                                        </a:rPr>
                                        <m:t>0</m:t>
                                      </m:r>
                                    </m:e>
                                    <m:e>
                                      <m:r>
                                        <a:rPr lang="en-IN" b="0" i="1" smtClean="0">
                                          <a:latin typeface="Cambria Math"/>
                                          <a:ea typeface="Cambria Math"/>
                                        </a:rPr>
                                        <m:t>0</m:t>
                                      </m:r>
                                    </m:e>
                                  </m:mr>
                                </m:m>
                              </m:e>
                              <m:e>
                                <m:m>
                                  <m:mPr>
                                    <m:mcs>
                                      <m:mc>
                                        <m:mcPr>
                                          <m:count m:val="2"/>
                                          <m:mcJc m:val="center"/>
                                        </m:mcPr>
                                      </m:mc>
                                    </m:mcs>
                                    <m:ctrlPr>
                                      <a:rPr lang="en-IN" b="0" i="1" smtClean="0">
                                        <a:latin typeface="Cambria Math"/>
                                        <a:ea typeface="Cambria Math"/>
                                      </a:rPr>
                                    </m:ctrlPr>
                                  </m:mPr>
                                  <m:mr>
                                    <m:e>
                                      <m:r>
                                        <m:rPr>
                                          <m:brk m:alnAt="7"/>
                                        </m:rPr>
                                        <a:rPr lang="en-IN" b="0" i="1" smtClean="0">
                                          <a:latin typeface="Cambria Math"/>
                                          <a:ea typeface="Cambria Math"/>
                                        </a:rPr>
                                        <m:t>1</m:t>
                                      </m:r>
                                    </m:e>
                                    <m:e>
                                      <m:r>
                                        <a:rPr lang="en-IN" b="0" i="1" smtClean="0">
                                          <a:latin typeface="Cambria Math"/>
                                          <a:ea typeface="Cambria Math"/>
                                        </a:rPr>
                                        <m:t>0</m:t>
                                      </m:r>
                                    </m:e>
                                  </m:mr>
                                  <m:mr>
                                    <m:e>
                                      <m:r>
                                        <a:rPr lang="en-IN" b="0" i="1" smtClean="0">
                                          <a:latin typeface="Cambria Math"/>
                                          <a:ea typeface="Cambria Math"/>
                                        </a:rPr>
                                        <m:t>0</m:t>
                                      </m:r>
                                    </m:e>
                                    <m:e>
                                      <m:r>
                                        <a:rPr lang="en-IN" b="0" i="1" smtClean="0">
                                          <a:latin typeface="Cambria Math"/>
                                          <a:ea typeface="Cambria Math"/>
                                        </a:rPr>
                                        <m:t>1</m:t>
                                      </m:r>
                                    </m:e>
                                  </m:mr>
                                </m:m>
                              </m:e>
                            </m:mr>
                          </m:m>
                        </m:e>
                      </m:d>
                      <m:r>
                        <a:rPr lang="en-IN" b="0" i="1" smtClean="0">
                          <a:latin typeface="Cambria Math"/>
                          <a:ea typeface="Cambria Math"/>
                        </a:rPr>
                        <m:t>=0</m:t>
                      </m:r>
                    </m:oMath>
                  </m:oMathPara>
                </a14:m>
                <a:endParaRPr lang="en-IN" dirty="0"/>
              </a:p>
            </p:txBody>
          </p:sp>
        </mc:Choice>
        <mc:Fallback xmlns="">
          <p:sp>
            <p:nvSpPr>
              <p:cNvPr id="4" name="TextBox 3"/>
              <p:cNvSpPr txBox="1">
                <a:spLocks noRot="1" noChangeAspect="1" noMove="1" noResize="1" noEditPoints="1" noAdjustHandles="1" noChangeArrowheads="1" noChangeShapeType="1" noTextEdit="1"/>
              </p:cNvSpPr>
              <p:nvPr/>
            </p:nvSpPr>
            <p:spPr>
              <a:xfrm>
                <a:off x="2374710" y="2169994"/>
                <a:ext cx="7193316" cy="1112805"/>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925879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lstStyle/>
          <a:p>
            <a:r>
              <a:rPr lang="en-IN" b="1" dirty="0"/>
              <a:t>Eigenvectors:</a:t>
            </a:r>
            <a:endParaRPr lang="en-IN" dirty="0"/>
          </a:p>
          <a:p>
            <a:r>
              <a:rPr lang="en-IN" dirty="0"/>
              <a:t>Solving the (A-</a:t>
            </a:r>
            <a:r>
              <a:rPr lang="en-IN" dirty="0" err="1"/>
              <a:t>λI</a:t>
            </a:r>
            <a:r>
              <a:rPr lang="en-IN" dirty="0"/>
              <a:t>)ν = 0 equation for ν vector with different λ values:</a:t>
            </a:r>
          </a:p>
          <a:p>
            <a:r>
              <a:rPr lang="en-IN" dirty="0"/>
              <a:t/>
            </a:r>
            <a:br>
              <a:rPr lang="en-IN" dirty="0"/>
            </a:b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619" y="2632810"/>
            <a:ext cx="7173987" cy="1584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71098" y="4503467"/>
            <a:ext cx="7284493" cy="1754326"/>
          </a:xfrm>
          <a:prstGeom prst="rect">
            <a:avLst/>
          </a:prstGeom>
        </p:spPr>
        <p:txBody>
          <a:bodyPr wrap="square">
            <a:spAutoFit/>
          </a:bodyPr>
          <a:lstStyle/>
          <a:p>
            <a:r>
              <a:rPr lang="en-IN" dirty="0"/>
              <a:t>For λ = </a:t>
            </a:r>
            <a:r>
              <a:rPr lang="en-IN" i="1" dirty="0"/>
              <a:t>2.51579324, solving the above equation using Cramer's rule, the values for v vector are</a:t>
            </a:r>
            <a:endParaRPr lang="en-IN" dirty="0"/>
          </a:p>
          <a:p>
            <a:r>
              <a:rPr lang="en-IN" i="1" dirty="0"/>
              <a:t>v1 = 0.16195986</a:t>
            </a:r>
            <a:br>
              <a:rPr lang="en-IN" i="1" dirty="0"/>
            </a:br>
            <a:r>
              <a:rPr lang="en-IN" i="1" dirty="0"/>
              <a:t>v2 = -0.52404813</a:t>
            </a:r>
            <a:br>
              <a:rPr lang="en-IN" i="1" dirty="0"/>
            </a:br>
            <a:r>
              <a:rPr lang="en-IN" i="1" dirty="0"/>
              <a:t>v3 = -0.58589647</a:t>
            </a:r>
            <a:br>
              <a:rPr lang="en-IN" i="1" dirty="0"/>
            </a:br>
            <a:r>
              <a:rPr lang="en-IN" i="1" dirty="0"/>
              <a:t>v4 = -0.59654663</a:t>
            </a:r>
            <a:endParaRPr lang="en-IN" dirty="0"/>
          </a:p>
        </p:txBody>
      </p:sp>
    </p:spTree>
    <p:extLst>
      <p:ext uri="{BB962C8B-B14F-4D97-AF65-F5344CB8AC3E}">
        <p14:creationId xmlns:p14="http://schemas.microsoft.com/office/powerpoint/2010/main" val="123651157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a:bodyPr>
          <a:lstStyle/>
          <a:p>
            <a:r>
              <a:rPr lang="en-IN" dirty="0"/>
              <a:t>Going by the same approach, we can calculate the </a:t>
            </a:r>
            <a:r>
              <a:rPr lang="en-IN" dirty="0" err="1"/>
              <a:t>eigen</a:t>
            </a:r>
            <a:r>
              <a:rPr lang="en-IN" dirty="0"/>
              <a:t> vectors for the other </a:t>
            </a:r>
            <a:r>
              <a:rPr lang="en-IN" dirty="0" err="1"/>
              <a:t>eigen</a:t>
            </a:r>
            <a:r>
              <a:rPr lang="en-IN" dirty="0"/>
              <a:t> values. We can from a matrix using the </a:t>
            </a:r>
            <a:r>
              <a:rPr lang="en-IN" b="1" dirty="0" err="1"/>
              <a:t>eigen</a:t>
            </a:r>
            <a:r>
              <a:rPr lang="en-IN" b="1" dirty="0"/>
              <a:t> vectors.</a:t>
            </a:r>
          </a:p>
          <a:p>
            <a:endParaRPr lang="en-IN" dirty="0"/>
          </a:p>
          <a:p>
            <a:endParaRPr lang="en-IN" dirty="0"/>
          </a:p>
          <a:p>
            <a:endParaRPr lang="en-IN" dirty="0"/>
          </a:p>
          <a:p>
            <a:endParaRPr lang="en-IN" dirty="0"/>
          </a:p>
          <a:p>
            <a:r>
              <a:rPr lang="en-IN" b="1" i="1" dirty="0"/>
              <a:t>4. </a:t>
            </a:r>
            <a:r>
              <a:rPr lang="en-IN" b="1" dirty="0"/>
              <a:t>Sort eigenvalues and their corresponding eigenvectors.</a:t>
            </a:r>
            <a:endParaRPr lang="en-IN" dirty="0"/>
          </a:p>
          <a:p>
            <a:r>
              <a:rPr lang="en-IN" dirty="0"/>
              <a:t>Since eigenvalues are already sorted in this case so no need to sort them again.</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788" y="2622645"/>
            <a:ext cx="4381525" cy="1717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14604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fontScale="92500" lnSpcReduction="10000"/>
          </a:bodyPr>
          <a:lstStyle/>
          <a:p>
            <a:pPr marL="0" indent="0">
              <a:buNone/>
            </a:pPr>
            <a:r>
              <a:rPr lang="en-IN" b="1" i="1" dirty="0"/>
              <a:t>5. </a:t>
            </a:r>
            <a:r>
              <a:rPr lang="en-IN" dirty="0"/>
              <a:t>Pick k eigenvalues and form a matrix of eigenvectors</a:t>
            </a:r>
          </a:p>
          <a:p>
            <a:r>
              <a:rPr lang="en-IN" dirty="0"/>
              <a:t>If we choose the top 2 eigenvectors, the matrix will look like this:</a:t>
            </a:r>
          </a:p>
          <a:p>
            <a:endParaRPr lang="en-IN" dirty="0"/>
          </a:p>
          <a:p>
            <a:endParaRPr lang="en-IN" dirty="0"/>
          </a:p>
          <a:p>
            <a:endParaRPr lang="en-IN" dirty="0"/>
          </a:p>
          <a:p>
            <a:pPr marL="0" indent="0">
              <a:buNone/>
            </a:pPr>
            <a:r>
              <a:rPr lang="en-IN" b="1" dirty="0"/>
              <a:t>6.</a:t>
            </a:r>
            <a:r>
              <a:rPr lang="en-IN" dirty="0"/>
              <a:t> Transform the original matrix.</a:t>
            </a:r>
          </a:p>
          <a:p>
            <a:r>
              <a:rPr lang="en-IN" dirty="0"/>
              <a:t>Feature matrix * top k eigenvectors = Transformed Data</a:t>
            </a:r>
          </a:p>
          <a:p>
            <a:endParaRPr lang="en-IN" dirty="0"/>
          </a:p>
          <a:p>
            <a:r>
              <a:rPr lang="en-IN" dirty="0"/>
              <a:t/>
            </a:r>
            <a:br>
              <a:rPr lang="en-IN" dirty="0"/>
            </a:b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1879" y="2992955"/>
            <a:ext cx="1654951" cy="1326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754" y="5124734"/>
            <a:ext cx="6319199" cy="1733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34769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029" y="681039"/>
            <a:ext cx="8693944" cy="549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263996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Wavelet Transform</a:t>
            </a:r>
          </a:p>
        </p:txBody>
      </p:sp>
      <p:sp>
        <p:nvSpPr>
          <p:cNvPr id="3" name="Content Placeholder 2"/>
          <p:cNvSpPr>
            <a:spLocks noGrp="1"/>
          </p:cNvSpPr>
          <p:nvPr>
            <p:ph idx="1"/>
          </p:nvPr>
        </p:nvSpPr>
        <p:spPr/>
        <p:txBody>
          <a:bodyPr/>
          <a:lstStyle/>
          <a:p>
            <a:r>
              <a:rPr lang="en-IN" u="sng"/>
              <a:t>https://medium.com/@koushikc2000/2d-discrete-wavelet-transformation-and-its-applications-in-digital-image-processing-using-matlab-1f5c68672de3</a:t>
            </a:r>
            <a:r>
              <a:rPr lang="en-IN"/>
              <a:t/>
            </a:r>
            <a:br>
              <a:rPr lang="en-IN"/>
            </a:br>
            <a:endParaRPr lang="en-IN"/>
          </a:p>
        </p:txBody>
      </p:sp>
    </p:spTree>
    <p:extLst>
      <p:ext uri="{BB962C8B-B14F-4D97-AF65-F5344CB8AC3E}">
        <p14:creationId xmlns:p14="http://schemas.microsoft.com/office/powerpoint/2010/main" val="2377488910"/>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ontemporary">
  <a:themeElements>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fontScheme name="Contemporary">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ontemporary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ntemporary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temporary">
  <a:themeElements>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fontScheme name="Contemporary">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ontemporary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ntemporary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Contemporary">
  <a:themeElements>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fontScheme name="Contemporary">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ontemporary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ntemporary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temporary">
  <a:themeElements>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fontScheme name="Contemporary">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ntemporary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ontemporary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ntemporary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Integral" id="{3577F8C9-A904-41D8-97D2-FD898F53F20E}" vid="{682D6EBE-8D36-4FF2-9DB3-F3D8D7B6715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11148</TotalTime>
  <Words>4311</Words>
  <Application>Microsoft Office PowerPoint</Application>
  <PresentationFormat>On-screen Show (4:3)</PresentationFormat>
  <Paragraphs>729</Paragraphs>
  <Slides>147</Slides>
  <Notes>34</Notes>
  <HiddenSlides>2</HiddenSlides>
  <MMClips>0</MMClips>
  <ScaleCrop>false</ScaleCrop>
  <HeadingPairs>
    <vt:vector size="6" baseType="variant">
      <vt:variant>
        <vt:lpstr>Theme</vt:lpstr>
      </vt:variant>
      <vt:variant>
        <vt:i4>5</vt:i4>
      </vt:variant>
      <vt:variant>
        <vt:lpstr>Embedded OLE Servers</vt:lpstr>
      </vt:variant>
      <vt:variant>
        <vt:i4>2</vt:i4>
      </vt:variant>
      <vt:variant>
        <vt:lpstr>Slide Titles</vt:lpstr>
      </vt:variant>
      <vt:variant>
        <vt:i4>147</vt:i4>
      </vt:variant>
    </vt:vector>
  </HeadingPairs>
  <TitlesOfParts>
    <vt:vector size="154" baseType="lpstr">
      <vt:lpstr>1_Contemporary</vt:lpstr>
      <vt:lpstr>2_Contemporary</vt:lpstr>
      <vt:lpstr>3_Contemporary</vt:lpstr>
      <vt:lpstr>4_Contemporary</vt:lpstr>
      <vt:lpstr>Integral</vt:lpstr>
      <vt:lpstr>Mathcad</vt:lpstr>
      <vt:lpstr>Equation</vt:lpstr>
      <vt:lpstr>Chapter 3 </vt:lpstr>
      <vt:lpstr>Syllabus</vt:lpstr>
      <vt:lpstr>Image Transforms</vt:lpstr>
      <vt:lpstr>NEED FOR TRANSFORM</vt:lpstr>
      <vt:lpstr>Classification of Image Transforms </vt:lpstr>
      <vt:lpstr>Image Transform</vt:lpstr>
      <vt:lpstr>Image Transform</vt:lpstr>
      <vt:lpstr>Image Transform</vt:lpstr>
      <vt:lpstr>Image Transform</vt:lpstr>
      <vt:lpstr>FOURIER TRANSFORM</vt:lpstr>
      <vt:lpstr>PowerPoint Presentation</vt:lpstr>
      <vt:lpstr>Discrete Fourier Transform</vt:lpstr>
      <vt:lpstr>Discrete Fourier Transform</vt:lpstr>
      <vt:lpstr>Discrete Fourier Transform</vt:lpstr>
      <vt:lpstr>Inverse Discrete Fourier Transform</vt:lpstr>
      <vt:lpstr>Unitary transform</vt:lpstr>
      <vt:lpstr>Orthogonal DFT</vt:lpstr>
      <vt:lpstr>Image Transform</vt:lpstr>
      <vt:lpstr>PowerPoint Presentation</vt:lpstr>
      <vt:lpstr>PowerPoint Presentation</vt:lpstr>
      <vt:lpstr>PowerPoint Presentation</vt:lpstr>
      <vt:lpstr>PowerPoint Presentation</vt:lpstr>
      <vt:lpstr>Unitary Transform</vt:lpstr>
      <vt:lpstr>Properties of DFT-</vt:lpstr>
      <vt:lpstr>Properties of DFT</vt:lpstr>
      <vt:lpstr>Properties of DFT</vt:lpstr>
      <vt:lpstr>Properties of DFT</vt:lpstr>
      <vt:lpstr>Properties of DFT</vt:lpstr>
      <vt:lpstr>Properties of DFT</vt:lpstr>
      <vt:lpstr>2D DISCRETE FOURIER TRANSFORM</vt:lpstr>
      <vt:lpstr>PowerPoint Presentation</vt:lpstr>
      <vt:lpstr>Twiddle factor</vt:lpstr>
      <vt:lpstr>Twiddle factor</vt:lpstr>
      <vt:lpstr>Twiddle Factor</vt:lpstr>
      <vt:lpstr>DFT:</vt:lpstr>
      <vt:lpstr>  </vt:lpstr>
      <vt:lpstr>Cyclic property of twiddle factors</vt:lpstr>
      <vt:lpstr>PowerPoint Presentation</vt:lpstr>
      <vt:lpstr>PowerPoint Presentation</vt:lpstr>
      <vt:lpstr>Cyclic property of twiddle factors</vt:lpstr>
      <vt:lpstr>FOR    8 point DFT:  N=8</vt:lpstr>
      <vt:lpstr>The characteristic matrix  of 8-point DFT is:</vt:lpstr>
      <vt:lpstr> DFT and its Inverse  Conversion in system matrices of DFT and IDFT obtained by replacing  by j by –j.. </vt:lpstr>
      <vt:lpstr>DFT of Image Matrix (2D)</vt:lpstr>
      <vt:lpstr>DFT of Image Matrix (2D)</vt:lpstr>
      <vt:lpstr>PowerPoint Presentation</vt:lpstr>
      <vt:lpstr>PowerPoint Presentation</vt:lpstr>
      <vt:lpstr>PowerPoint Presentation</vt:lpstr>
      <vt:lpstr>Fast Fourier Transform</vt:lpstr>
      <vt:lpstr>FFT-Divide &amp; Conquer</vt:lpstr>
      <vt:lpstr>Radix-2 FFT</vt:lpstr>
      <vt:lpstr>Radix -2</vt:lpstr>
      <vt:lpstr>No. of Calculations in DFT</vt:lpstr>
      <vt:lpstr>PowerPoint Presentation</vt:lpstr>
      <vt:lpstr>PowerPoint Presentation</vt:lpstr>
      <vt:lpstr>DIT- FFT Flowgraphs</vt:lpstr>
      <vt:lpstr>DIT- FFT Flowgraphs</vt:lpstr>
      <vt:lpstr>PowerPoint Presentation</vt:lpstr>
      <vt:lpstr>PowerPoint Presentation</vt:lpstr>
      <vt:lpstr>PowerPoint Presentation</vt:lpstr>
      <vt:lpstr>PowerPoint Presentation</vt:lpstr>
      <vt:lpstr>DIT-FFT</vt:lpstr>
      <vt:lpstr>PowerPoint Presentation</vt:lpstr>
      <vt:lpstr>PowerPoint Presentation</vt:lpstr>
      <vt:lpstr>PowerPoint Presentation</vt:lpstr>
      <vt:lpstr>PowerPoint Presentation</vt:lpstr>
      <vt:lpstr>Discrete Cosine Transform (DCT)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IDCT</vt:lpstr>
      <vt:lpstr>Symmetric and Asymmetric</vt:lpstr>
      <vt:lpstr>Hadamard Transform</vt:lpstr>
      <vt:lpstr>PowerPoint Presentation</vt:lpstr>
      <vt:lpstr>Hadamard Transform</vt:lpstr>
      <vt:lpstr>PowerPoint Presentation</vt:lpstr>
      <vt:lpstr>Walsh Transform</vt:lpstr>
      <vt:lpstr>Haar Transform</vt:lpstr>
      <vt:lpstr>Haar Transform</vt:lpstr>
      <vt:lpstr>IMAGE ENHANCEMENT IN THE FREQUENCY DOMAIN</vt:lpstr>
      <vt:lpstr>IMAGE ENHANCEMENT IN THE FREQUENCY DOMAIN</vt:lpstr>
      <vt:lpstr>PowerPoint Presentation</vt:lpstr>
      <vt:lpstr>PowerPoint Presentation</vt:lpstr>
      <vt:lpstr>PowerPoint Presentation</vt:lpstr>
      <vt:lpstr>Low Pass (LP) Filters</vt:lpstr>
      <vt:lpstr>Ideal Low-pass (LP) filtering</vt:lpstr>
      <vt:lpstr>Ideal Low-pass (LP) filtering</vt:lpstr>
      <vt:lpstr>How does D0 control smoothing? (cont’d)</vt:lpstr>
      <vt:lpstr>Ringing Effect</vt:lpstr>
      <vt:lpstr>PowerPoint Presentation</vt:lpstr>
      <vt:lpstr>Butterworth Lowpass Filters</vt:lpstr>
      <vt:lpstr>Examples of Application of BLPF</vt:lpstr>
      <vt:lpstr>Butterworth LPF</vt:lpstr>
      <vt:lpstr>Butterworth LP filter (BLPF)</vt:lpstr>
      <vt:lpstr>Spatial Representation of BLPFs</vt:lpstr>
      <vt:lpstr>Comparison: Ideal LP and BLPF</vt:lpstr>
      <vt:lpstr>Gaussian Lowpass Filters </vt:lpstr>
      <vt:lpstr>PowerPoint Presentation</vt:lpstr>
      <vt:lpstr>PowerPoint Presentation</vt:lpstr>
      <vt:lpstr>High-Pass filtering</vt:lpstr>
      <vt:lpstr>High-pass filtering (cont’d)</vt:lpstr>
      <vt:lpstr>Butterworth high pass filter (BHPF)</vt:lpstr>
      <vt:lpstr>Comparison: IHPF and BHPF</vt:lpstr>
      <vt:lpstr>Gaussian HP filter</vt:lpstr>
      <vt:lpstr>Comparison: BHPF and GHPF</vt:lpstr>
      <vt:lpstr>Homomorphic filtering</vt:lpstr>
      <vt:lpstr>Homomorphic Filtering (cont’d)</vt:lpstr>
      <vt:lpstr>How are frequencies mixed together?</vt:lpstr>
      <vt:lpstr>Can we separate them?</vt:lpstr>
      <vt:lpstr>Steps of Homomorphic Filtering</vt:lpstr>
      <vt:lpstr>Steps of Homomorphic Filtering (cont’d)</vt:lpstr>
      <vt:lpstr>Example using high-frequency emphasis</vt:lpstr>
      <vt:lpstr>Homomorphic Filtering: Example</vt:lpstr>
      <vt:lpstr>Homomorphic Filtering: Example</vt:lpstr>
      <vt:lpstr>PCA Steps:</vt:lpstr>
      <vt:lpstr>Standard deviation</vt:lpstr>
      <vt:lpstr>Variance</vt:lpstr>
      <vt:lpstr>Covariance</vt:lpstr>
      <vt:lpstr>Covariance</vt:lpstr>
      <vt:lpstr>Covariance Matrix</vt:lpstr>
      <vt:lpstr>Covariance</vt:lpstr>
      <vt:lpstr>Covariance</vt:lpstr>
      <vt:lpstr>Eigen vectors</vt:lpstr>
      <vt:lpstr>Eigenvector</vt:lpstr>
      <vt:lpstr>Eigenvector and Eigenvalue</vt:lpstr>
      <vt:lpstr>The Mathematics </vt:lpstr>
      <vt:lpstr>How do we find these eigen things?</vt:lpstr>
      <vt:lpstr>PowerPoint Presentation</vt:lpstr>
      <vt:lpstr>PowerPoint Presentation</vt:lpstr>
      <vt:lpstr>PCA</vt:lpstr>
      <vt:lpstr>Steps Involved in the PCA</vt:lpstr>
      <vt:lpstr>Example</vt:lpstr>
      <vt:lpstr>Example</vt:lpstr>
      <vt:lpstr>Example</vt:lpstr>
      <vt:lpstr>Example</vt:lpstr>
      <vt:lpstr>Example</vt:lpstr>
      <vt:lpstr>Example</vt:lpstr>
      <vt:lpstr>Example</vt:lpstr>
      <vt:lpstr>Example</vt:lpstr>
      <vt:lpstr>Example</vt:lpstr>
      <vt:lpstr>Example</vt:lpstr>
      <vt:lpstr>PowerPoint Presentation</vt:lpstr>
      <vt:lpstr>Wavelet Transform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Admin</dc:creator>
  <cp:lastModifiedBy>Admin</cp:lastModifiedBy>
  <cp:revision>185</cp:revision>
  <dcterms:created xsi:type="dcterms:W3CDTF">2022-02-18T09:26:03Z</dcterms:created>
  <dcterms:modified xsi:type="dcterms:W3CDTF">2026-01-29T05:41:40Z</dcterms:modified>
</cp:coreProperties>
</file>