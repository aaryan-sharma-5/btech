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Default Extension="wdp" ContentType="image/vnd.ms-photo"/>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tags/tag1.xml" ContentType="application/vnd.openxmlformats-officedocument.presentationml.tags+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1" r:id="rId1"/>
  </p:sldMasterIdLst>
  <p:notesMasterIdLst>
    <p:notesMasterId r:id="rId87"/>
  </p:notesMasterIdLst>
  <p:sldIdLst>
    <p:sldId id="257" r:id="rId2"/>
    <p:sldId id="259" r:id="rId3"/>
    <p:sldId id="260" r:id="rId4"/>
    <p:sldId id="261" r:id="rId5"/>
    <p:sldId id="262" r:id="rId6"/>
    <p:sldId id="263" r:id="rId7"/>
    <p:sldId id="264" r:id="rId8"/>
    <p:sldId id="265" r:id="rId9"/>
    <p:sldId id="266" r:id="rId10"/>
    <p:sldId id="267" r:id="rId11"/>
    <p:sldId id="268" r:id="rId12"/>
    <p:sldId id="293" r:id="rId13"/>
    <p:sldId id="270" r:id="rId14"/>
    <p:sldId id="294" r:id="rId15"/>
    <p:sldId id="272" r:id="rId16"/>
    <p:sldId id="299" r:id="rId17"/>
    <p:sldId id="273" r:id="rId18"/>
    <p:sldId id="274" r:id="rId19"/>
    <p:sldId id="301" r:id="rId20"/>
    <p:sldId id="302" r:id="rId21"/>
    <p:sldId id="300" r:id="rId22"/>
    <p:sldId id="331" r:id="rId23"/>
    <p:sldId id="296" r:id="rId24"/>
    <p:sldId id="279" r:id="rId25"/>
    <p:sldId id="347" r:id="rId26"/>
    <p:sldId id="345" r:id="rId27"/>
    <p:sldId id="321" r:id="rId28"/>
    <p:sldId id="322" r:id="rId29"/>
    <p:sldId id="323" r:id="rId30"/>
    <p:sldId id="348" r:id="rId31"/>
    <p:sldId id="326" r:id="rId32"/>
    <p:sldId id="349" r:id="rId33"/>
    <p:sldId id="324" r:id="rId34"/>
    <p:sldId id="325" r:id="rId35"/>
    <p:sldId id="327" r:id="rId36"/>
    <p:sldId id="350" r:id="rId37"/>
    <p:sldId id="297" r:id="rId38"/>
    <p:sldId id="282" r:id="rId39"/>
    <p:sldId id="283" r:id="rId40"/>
    <p:sldId id="298" r:id="rId41"/>
    <p:sldId id="354" r:id="rId42"/>
    <p:sldId id="303" r:id="rId43"/>
    <p:sldId id="304" r:id="rId44"/>
    <p:sldId id="285" r:id="rId45"/>
    <p:sldId id="305" r:id="rId46"/>
    <p:sldId id="332" r:id="rId47"/>
    <p:sldId id="286" r:id="rId48"/>
    <p:sldId id="315" r:id="rId49"/>
    <p:sldId id="333" r:id="rId50"/>
    <p:sldId id="320" r:id="rId51"/>
    <p:sldId id="334" r:id="rId52"/>
    <p:sldId id="335" r:id="rId53"/>
    <p:sldId id="336" r:id="rId54"/>
    <p:sldId id="337" r:id="rId55"/>
    <p:sldId id="338" r:id="rId56"/>
    <p:sldId id="287" r:id="rId57"/>
    <p:sldId id="306" r:id="rId58"/>
    <p:sldId id="307" r:id="rId59"/>
    <p:sldId id="308" r:id="rId60"/>
    <p:sldId id="309" r:id="rId61"/>
    <p:sldId id="310" r:id="rId62"/>
    <p:sldId id="311" r:id="rId63"/>
    <p:sldId id="352" r:id="rId64"/>
    <p:sldId id="351" r:id="rId65"/>
    <p:sldId id="312" r:id="rId66"/>
    <p:sldId id="313" r:id="rId67"/>
    <p:sldId id="314" r:id="rId68"/>
    <p:sldId id="339" r:id="rId69"/>
    <p:sldId id="353" r:id="rId70"/>
    <p:sldId id="340" r:id="rId71"/>
    <p:sldId id="341" r:id="rId72"/>
    <p:sldId id="342" r:id="rId73"/>
    <p:sldId id="317" r:id="rId74"/>
    <p:sldId id="318" r:id="rId75"/>
    <p:sldId id="319" r:id="rId76"/>
    <p:sldId id="288" r:id="rId77"/>
    <p:sldId id="316" r:id="rId78"/>
    <p:sldId id="328" r:id="rId79"/>
    <p:sldId id="329" r:id="rId80"/>
    <p:sldId id="330" r:id="rId81"/>
    <p:sldId id="343" r:id="rId82"/>
    <p:sldId id="344" r:id="rId83"/>
    <p:sldId id="289" r:id="rId84"/>
    <p:sldId id="290" r:id="rId85"/>
    <p:sldId id="291" r:id="rId86"/>
  </p:sldIdLst>
  <p:sldSz cx="9144000" cy="6858000" type="screen4x3"/>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p:cViewPr>
        <p:scale>
          <a:sx n="63" d="100"/>
          <a:sy n="63" d="100"/>
        </p:scale>
        <p:origin x="-1356" y="-84"/>
      </p:cViewPr>
      <p:guideLst>
        <p:guide orient="horz" pos="2160"/>
        <p:guide pos="2880"/>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slide" Target="slides/slide49.xml"/><Relationship Id="rId55" Type="http://schemas.openxmlformats.org/officeDocument/2006/relationships/slide" Target="slides/slide54.xml"/><Relationship Id="rId63" Type="http://schemas.openxmlformats.org/officeDocument/2006/relationships/slide" Target="slides/slide62.xml"/><Relationship Id="rId68" Type="http://schemas.openxmlformats.org/officeDocument/2006/relationships/slide" Target="slides/slide67.xml"/><Relationship Id="rId76" Type="http://schemas.openxmlformats.org/officeDocument/2006/relationships/slide" Target="slides/slide75.xml"/><Relationship Id="rId84" Type="http://schemas.openxmlformats.org/officeDocument/2006/relationships/slide" Target="slides/slide83.xml"/><Relationship Id="rId89" Type="http://schemas.openxmlformats.org/officeDocument/2006/relationships/viewProps" Target="viewProps.xml"/><Relationship Id="rId7" Type="http://schemas.openxmlformats.org/officeDocument/2006/relationships/slide" Target="slides/slide6.xml"/><Relationship Id="rId71" Type="http://schemas.openxmlformats.org/officeDocument/2006/relationships/slide" Target="slides/slide70.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slide" Target="slides/slide52.xml"/><Relationship Id="rId58" Type="http://schemas.openxmlformats.org/officeDocument/2006/relationships/slide" Target="slides/slide57.xml"/><Relationship Id="rId66" Type="http://schemas.openxmlformats.org/officeDocument/2006/relationships/slide" Target="slides/slide65.xml"/><Relationship Id="rId74" Type="http://schemas.openxmlformats.org/officeDocument/2006/relationships/slide" Target="slides/slide73.xml"/><Relationship Id="rId79" Type="http://schemas.openxmlformats.org/officeDocument/2006/relationships/slide" Target="slides/slide78.xml"/><Relationship Id="rId87" Type="http://schemas.openxmlformats.org/officeDocument/2006/relationships/notesMaster" Target="notesMasters/notesMaster1.xml"/><Relationship Id="rId5" Type="http://schemas.openxmlformats.org/officeDocument/2006/relationships/slide" Target="slides/slide4.xml"/><Relationship Id="rId61" Type="http://schemas.openxmlformats.org/officeDocument/2006/relationships/slide" Target="slides/slide60.xml"/><Relationship Id="rId82" Type="http://schemas.openxmlformats.org/officeDocument/2006/relationships/slide" Target="slides/slide81.xml"/><Relationship Id="rId90" Type="http://schemas.openxmlformats.org/officeDocument/2006/relationships/theme" Target="theme/theme1.xml"/><Relationship Id="rId19" Type="http://schemas.openxmlformats.org/officeDocument/2006/relationships/slide" Target="slides/slide1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slide" Target="slides/slide55.xml"/><Relationship Id="rId64" Type="http://schemas.openxmlformats.org/officeDocument/2006/relationships/slide" Target="slides/slide63.xml"/><Relationship Id="rId69" Type="http://schemas.openxmlformats.org/officeDocument/2006/relationships/slide" Target="slides/slide68.xml"/><Relationship Id="rId77" Type="http://schemas.openxmlformats.org/officeDocument/2006/relationships/slide" Target="slides/slide76.xml"/><Relationship Id="rId8" Type="http://schemas.openxmlformats.org/officeDocument/2006/relationships/slide" Target="slides/slide7.xml"/><Relationship Id="rId51" Type="http://schemas.openxmlformats.org/officeDocument/2006/relationships/slide" Target="slides/slide50.xml"/><Relationship Id="rId72" Type="http://schemas.openxmlformats.org/officeDocument/2006/relationships/slide" Target="slides/slide71.xml"/><Relationship Id="rId80" Type="http://schemas.openxmlformats.org/officeDocument/2006/relationships/slide" Target="slides/slide79.xml"/><Relationship Id="rId85" Type="http://schemas.openxmlformats.org/officeDocument/2006/relationships/slide" Target="slides/slide84.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slide" Target="slides/slide58.xml"/><Relationship Id="rId67" Type="http://schemas.openxmlformats.org/officeDocument/2006/relationships/slide" Target="slides/slide66.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slide" Target="slides/slide61.xml"/><Relationship Id="rId70" Type="http://schemas.openxmlformats.org/officeDocument/2006/relationships/slide" Target="slides/slide69.xml"/><Relationship Id="rId75" Type="http://schemas.openxmlformats.org/officeDocument/2006/relationships/slide" Target="slides/slide74.xml"/><Relationship Id="rId83" Type="http://schemas.openxmlformats.org/officeDocument/2006/relationships/slide" Target="slides/slide82.xml"/><Relationship Id="rId88" Type="http://schemas.openxmlformats.org/officeDocument/2006/relationships/presProps" Target="presProps.xml"/><Relationship Id="rId91"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slide" Target="slides/slide64.xml"/><Relationship Id="rId73" Type="http://schemas.openxmlformats.org/officeDocument/2006/relationships/slide" Target="slides/slide72.xml"/><Relationship Id="rId78" Type="http://schemas.openxmlformats.org/officeDocument/2006/relationships/slide" Target="slides/slide77.xml"/><Relationship Id="rId81" Type="http://schemas.openxmlformats.org/officeDocument/2006/relationships/slide" Target="slides/slide80.xml"/><Relationship Id="rId86" Type="http://schemas.openxmlformats.org/officeDocument/2006/relationships/slide" Target="slides/slide85.xml"/><Relationship Id="rId4" Type="http://schemas.openxmlformats.org/officeDocument/2006/relationships/slide" Target="slides/slide3.xml"/><Relationship Id="rId9" Type="http://schemas.openxmlformats.org/officeDocument/2006/relationships/slide" Target="slides/slide8.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IN"/>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188D733E-DEC1-404B-B80D-6E89FEE4806B}" type="datetimeFigureOut">
              <a:rPr lang="en-IN" smtClean="0"/>
              <a:t>27-03-2026</a:t>
            </a:fld>
            <a:endParaRPr lang="en-IN"/>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IN"/>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N"/>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IN"/>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FA467DF0-D7EB-4DE3-A6E0-C769DF88981C}" type="slidenum">
              <a:rPr lang="en-IN" smtClean="0"/>
              <a:t>‹#›</a:t>
            </a:fld>
            <a:endParaRPr lang="en-IN"/>
          </a:p>
        </p:txBody>
      </p:sp>
    </p:spTree>
    <p:extLst>
      <p:ext uri="{BB962C8B-B14F-4D97-AF65-F5344CB8AC3E}">
        <p14:creationId xmlns:p14="http://schemas.microsoft.com/office/powerpoint/2010/main" val="23255524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143000" y="685800"/>
            <a:ext cx="4572000" cy="3429000"/>
          </a:xfrm>
        </p:spPr>
      </p:sp>
      <p:sp>
        <p:nvSpPr>
          <p:cNvPr id="3" name="Notes Placeholder 2"/>
          <p:cNvSpPr>
            <a:spLocks noGrp="1"/>
          </p:cNvSpPr>
          <p:nvPr>
            <p:ph type="body" idx="1"/>
          </p:nvPr>
        </p:nvSpPr>
        <p:spPr/>
        <p:txBody>
          <a:bodyPr/>
          <a:lstStyle/>
          <a:p>
            <a:endParaRPr lang="en-IN" dirty="0"/>
          </a:p>
        </p:txBody>
      </p:sp>
      <p:sp>
        <p:nvSpPr>
          <p:cNvPr id="4" name="Footer Placeholder 3"/>
          <p:cNvSpPr>
            <a:spLocks noGrp="1"/>
          </p:cNvSpPr>
          <p:nvPr>
            <p:ph type="ftr" sz="quarter" idx="10"/>
          </p:nvPr>
        </p:nvSpPr>
        <p:spPr/>
        <p:txBody>
          <a:bodyPr/>
          <a:lstStyle/>
          <a:p>
            <a:pPr>
              <a:defRPr/>
            </a:pPr>
            <a:r>
              <a:rPr lang="en-US" dirty="0" smtClean="0">
                <a:latin typeface="Gill Sans" panose="020B0702020104020203" pitchFamily="34" charset="0"/>
              </a:rPr>
              <a:t>&lt;Course name&gt;   1 - </a:t>
            </a:r>
            <a:fld id="{7C951E65-0BAA-4B24-AD87-683F8269D8DB}" type="slidenum">
              <a:rPr lang="en-US" smtClean="0">
                <a:latin typeface="Gill Sans" panose="020B0702020104020203" pitchFamily="34" charset="0"/>
              </a:rPr>
              <a:pPr>
                <a:defRPr/>
              </a:pPr>
              <a:t>1</a:t>
            </a:fld>
            <a:endParaRPr lang="en-US" dirty="0">
              <a:latin typeface="Gill Sans" panose="020B0702020104020203" pitchFamily="34" charset="0"/>
            </a:endParaRPr>
          </a:p>
        </p:txBody>
      </p:sp>
    </p:spTree>
    <p:extLst>
      <p:ext uri="{BB962C8B-B14F-4D97-AF65-F5344CB8AC3E}">
        <p14:creationId xmlns:p14="http://schemas.microsoft.com/office/powerpoint/2010/main" val="4286530387"/>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143000" y="685800"/>
            <a:ext cx="4572000" cy="3429000"/>
          </a:xfrm>
        </p:spPr>
      </p:sp>
      <p:sp>
        <p:nvSpPr>
          <p:cNvPr id="3" name="Notes Placeholder 2"/>
          <p:cNvSpPr>
            <a:spLocks noGrp="1"/>
          </p:cNvSpPr>
          <p:nvPr>
            <p:ph type="body" idx="1"/>
          </p:nvPr>
        </p:nvSpPr>
        <p:spPr/>
        <p:txBody>
          <a:bodyPr/>
          <a:lstStyle/>
          <a:p>
            <a:endParaRPr lang="en-IN" dirty="0"/>
          </a:p>
        </p:txBody>
      </p:sp>
      <p:sp>
        <p:nvSpPr>
          <p:cNvPr id="4" name="Footer Placeholder 3"/>
          <p:cNvSpPr>
            <a:spLocks noGrp="1"/>
          </p:cNvSpPr>
          <p:nvPr>
            <p:ph type="ftr" sz="quarter" idx="10"/>
          </p:nvPr>
        </p:nvSpPr>
        <p:spPr/>
        <p:txBody>
          <a:bodyPr/>
          <a:lstStyle/>
          <a:p>
            <a:pPr>
              <a:defRPr/>
            </a:pPr>
            <a:r>
              <a:rPr lang="en-US" dirty="0">
                <a:latin typeface="Gill Sans" panose="020B0702020104020203" pitchFamily="34" charset="0"/>
              </a:rPr>
              <a:t>&lt;Course name&gt;   1 - </a:t>
            </a:r>
            <a:fld id="{7C951E65-0BAA-4B24-AD87-683F8269D8DB}" type="slidenum">
              <a:rPr lang="en-US" smtClean="0">
                <a:latin typeface="Gill Sans" panose="020B0702020104020203" pitchFamily="34" charset="0"/>
              </a:rPr>
              <a:pPr>
                <a:defRPr/>
              </a:pPr>
              <a:t>8</a:t>
            </a:fld>
            <a:endParaRPr lang="en-US" dirty="0">
              <a:latin typeface="Gill Sans" panose="020B0702020104020203" pitchFamily="34" charset="0"/>
            </a:endParaRPr>
          </a:p>
        </p:txBody>
      </p:sp>
    </p:spTree>
    <p:extLst>
      <p:ext uri="{BB962C8B-B14F-4D97-AF65-F5344CB8AC3E}">
        <p14:creationId xmlns:p14="http://schemas.microsoft.com/office/powerpoint/2010/main" val="2665440158"/>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143000" y="685800"/>
            <a:ext cx="4572000" cy="3429000"/>
          </a:xfrm>
        </p:spPr>
      </p:sp>
      <p:sp>
        <p:nvSpPr>
          <p:cNvPr id="3" name="Notes Placeholder 2"/>
          <p:cNvSpPr>
            <a:spLocks noGrp="1"/>
          </p:cNvSpPr>
          <p:nvPr>
            <p:ph type="body" idx="1"/>
          </p:nvPr>
        </p:nvSpPr>
        <p:spPr/>
        <p:txBody>
          <a:bodyPr/>
          <a:lstStyle/>
          <a:p>
            <a:pPr defTabSz="449546" eaLnBrk="0" fontAlgn="base" hangingPunct="0">
              <a:spcBef>
                <a:spcPts val="393"/>
              </a:spcBef>
              <a:spcAft>
                <a:spcPct val="0"/>
              </a:spcAft>
              <a:buSzPct val="100000"/>
              <a:defRPr/>
            </a:pPr>
            <a:r>
              <a:rPr lang="en-IN" sz="900" kern="0" dirty="0">
                <a:solidFill>
                  <a:srgbClr val="5F5F5F"/>
                </a:solidFill>
                <a:latin typeface="Gill Sans" panose="020B0702020104020203" pitchFamily="34" charset="0"/>
              </a:rPr>
              <a:t>Google Cloud Platform, is a suite of cloud computing services </a:t>
            </a:r>
            <a:r>
              <a:rPr lang="en-IN" sz="900" i="1" kern="0" dirty="0">
                <a:solidFill>
                  <a:srgbClr val="095A82"/>
                </a:solidFill>
                <a:latin typeface="Gill Sans" panose="020B0702020104020203" pitchFamily="34" charset="0"/>
              </a:rPr>
              <a:t>that runs on the same infrastructure that Google uses internally</a:t>
            </a:r>
            <a:r>
              <a:rPr lang="en-IN" sz="900" kern="0" dirty="0">
                <a:solidFill>
                  <a:srgbClr val="5F5F5F"/>
                </a:solidFill>
                <a:latin typeface="Gill Sans" panose="020B0702020104020203" pitchFamily="34" charset="0"/>
              </a:rPr>
              <a:t>  for its end-user products, such as Google Search, Gmail, Google Photos and YouTube</a:t>
            </a:r>
          </a:p>
          <a:p>
            <a:endParaRPr lang="en-IN" dirty="0"/>
          </a:p>
          <a:p>
            <a:endParaRPr lang="en-IN" dirty="0"/>
          </a:p>
        </p:txBody>
      </p:sp>
      <p:sp>
        <p:nvSpPr>
          <p:cNvPr id="4" name="Footer Placeholder 3"/>
          <p:cNvSpPr>
            <a:spLocks noGrp="1"/>
          </p:cNvSpPr>
          <p:nvPr>
            <p:ph type="ftr" sz="quarter" idx="10"/>
          </p:nvPr>
        </p:nvSpPr>
        <p:spPr/>
        <p:txBody>
          <a:bodyPr/>
          <a:lstStyle/>
          <a:p>
            <a:pPr>
              <a:defRPr/>
            </a:pPr>
            <a:r>
              <a:rPr lang="en-US" dirty="0">
                <a:latin typeface="Gill Sans" panose="020B0702020104020203" pitchFamily="34" charset="0"/>
              </a:rPr>
              <a:t>&lt;Course name&gt;   1 - </a:t>
            </a:r>
            <a:fld id="{7C951E65-0BAA-4B24-AD87-683F8269D8DB}" type="slidenum">
              <a:rPr lang="en-US" smtClean="0">
                <a:latin typeface="Gill Sans" panose="020B0702020104020203" pitchFamily="34" charset="0"/>
              </a:rPr>
              <a:pPr>
                <a:defRPr/>
              </a:pPr>
              <a:t>15</a:t>
            </a:fld>
            <a:endParaRPr lang="en-US" dirty="0">
              <a:latin typeface="Gill Sans" panose="020B0702020104020203" pitchFamily="34" charset="0"/>
            </a:endParaRPr>
          </a:p>
        </p:txBody>
      </p:sp>
    </p:spTree>
    <p:extLst>
      <p:ext uri="{BB962C8B-B14F-4D97-AF65-F5344CB8AC3E}">
        <p14:creationId xmlns:p14="http://schemas.microsoft.com/office/powerpoint/2010/main" val="4256263479"/>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143000" y="685800"/>
            <a:ext cx="4572000" cy="3429000"/>
          </a:xfrm>
        </p:spPr>
      </p:sp>
      <p:sp>
        <p:nvSpPr>
          <p:cNvPr id="3" name="Notes Placeholder 2"/>
          <p:cNvSpPr>
            <a:spLocks noGrp="1"/>
          </p:cNvSpPr>
          <p:nvPr>
            <p:ph type="body" idx="1"/>
          </p:nvPr>
        </p:nvSpPr>
        <p:spPr/>
        <p:txBody>
          <a:bodyPr/>
          <a:lstStyle/>
          <a:p>
            <a:r>
              <a:rPr lang="en-IN" dirty="0"/>
              <a:t>Cost Effective : Pay per use</a:t>
            </a:r>
          </a:p>
          <a:p>
            <a:r>
              <a:rPr lang="en-IN" dirty="0"/>
              <a:t>Scalability : Highly Scalable (Auto Scalability)</a:t>
            </a:r>
          </a:p>
          <a:p>
            <a:r>
              <a:rPr lang="en-IN" dirty="0"/>
              <a:t>Customized: Custom Machine Types : </a:t>
            </a:r>
          </a:p>
          <a:p>
            <a:r>
              <a:rPr lang="en-IN" dirty="0"/>
              <a:t>Big Data Analytics : </a:t>
            </a:r>
            <a:r>
              <a:rPr lang="en-IN" sz="900" dirty="0">
                <a:latin typeface="Gill Sans" panose="020B0702020104020203" pitchFamily="34" charset="0"/>
              </a:rPr>
              <a:t>Fully managed data warehousing, batch and stream processing, data exploration, Hadoop/Spark, and reliable messaging</a:t>
            </a:r>
          </a:p>
          <a:p>
            <a:r>
              <a:rPr lang="en-IN" sz="900" b="1" dirty="0">
                <a:latin typeface="Gill Sans" panose="020B0702020104020203" pitchFamily="34" charset="0"/>
              </a:rPr>
              <a:t>API Platform and Ecosystem: </a:t>
            </a:r>
            <a:r>
              <a:rPr lang="en-IN" sz="900" dirty="0">
                <a:latin typeface="Gill Sans" panose="020B0702020104020203" pitchFamily="34" charset="0"/>
              </a:rPr>
              <a:t>Cross-cloud API platform enabling businesses to unlock the value of data, deliver modern applications, and power ecosystems.</a:t>
            </a:r>
          </a:p>
          <a:p>
            <a:r>
              <a:rPr lang="en-IN" sz="900" b="1" dirty="0">
                <a:latin typeface="Gill Sans" panose="020B0702020104020203" pitchFamily="34" charset="0"/>
              </a:rPr>
              <a:t>Internet Of Things: </a:t>
            </a:r>
            <a:r>
              <a:rPr lang="en-IN" sz="900" dirty="0">
                <a:latin typeface="Gill Sans" panose="020B0702020104020203" pitchFamily="34" charset="0"/>
              </a:rPr>
              <a:t>Intelligent IoT platform that unlocks business insights from your global device network </a:t>
            </a:r>
            <a:endParaRPr lang="en-IN" sz="900" b="1" dirty="0">
              <a:latin typeface="Gill Sans" panose="020B0702020104020203" pitchFamily="34" charset="0"/>
            </a:endParaRPr>
          </a:p>
          <a:p>
            <a:r>
              <a:rPr lang="en-IN" sz="900" b="1" dirty="0">
                <a:latin typeface="Gill Sans" panose="020B0702020104020203" pitchFamily="34" charset="0"/>
              </a:rPr>
              <a:t>Cloud AI: </a:t>
            </a:r>
            <a:r>
              <a:rPr lang="en-IN" sz="900" dirty="0">
                <a:latin typeface="Gill Sans" panose="020B0702020104020203" pitchFamily="34" charset="0"/>
              </a:rPr>
              <a:t>Fast, large scale and easy to use AI services. neural net-based ML service has better training performance </a:t>
            </a:r>
            <a:r>
              <a:rPr lang="en-IN" sz="900" dirty="0" err="1">
                <a:latin typeface="Gill Sans" panose="020B0702020104020203" pitchFamily="34" charset="0"/>
              </a:rPr>
              <a:t>and</a:t>
            </a:r>
            <a:r>
              <a:rPr lang="en-IN" sz="900" b="1" dirty="0" err="1">
                <a:latin typeface="Gill Sans" panose="020B0702020104020203" pitchFamily="34" charset="0"/>
              </a:rPr>
              <a:t>increased</a:t>
            </a:r>
            <a:r>
              <a:rPr lang="en-IN" sz="900" b="1" dirty="0">
                <a:latin typeface="Gill Sans" panose="020B0702020104020203" pitchFamily="34" charset="0"/>
              </a:rPr>
              <a:t> accuracy</a:t>
            </a:r>
            <a:r>
              <a:rPr lang="en-IN" sz="900" dirty="0">
                <a:latin typeface="Gill Sans" panose="020B0702020104020203" pitchFamily="34" charset="0"/>
              </a:rPr>
              <a:t> compared to other large scale deep learning systems. </a:t>
            </a:r>
          </a:p>
          <a:p>
            <a:r>
              <a:rPr lang="en-IN" sz="900" b="1" dirty="0">
                <a:latin typeface="Gill Sans" panose="020B0702020104020203" pitchFamily="34" charset="0"/>
              </a:rPr>
              <a:t>Serverless : </a:t>
            </a:r>
            <a:r>
              <a:rPr lang="en-IN" sz="900" dirty="0">
                <a:latin typeface="Gill Sans" panose="020B0702020104020203" pitchFamily="34" charset="0"/>
              </a:rPr>
              <a:t>No upfront provisioning - Just provide your code and data, and Google dynamically provisions resources as needed. No management of servers. Applications with rapid time-to-market and unpredictable scale requirements benefit the most from Serverless</a:t>
            </a:r>
            <a:br>
              <a:rPr lang="en-IN" sz="900" dirty="0">
                <a:latin typeface="Gill Sans" panose="020B0702020104020203" pitchFamily="34" charset="0"/>
              </a:rPr>
            </a:br>
            <a:r>
              <a:rPr lang="en-IN" sz="900" dirty="0">
                <a:latin typeface="Gill Sans" panose="020B0702020104020203" pitchFamily="34" charset="0"/>
              </a:rPr>
              <a:t/>
            </a:r>
            <a:br>
              <a:rPr lang="en-IN" sz="900" dirty="0">
                <a:latin typeface="Gill Sans" panose="020B0702020104020203" pitchFamily="34" charset="0"/>
              </a:rPr>
            </a:br>
            <a:endParaRPr lang="en-IN" dirty="0"/>
          </a:p>
        </p:txBody>
      </p:sp>
      <p:sp>
        <p:nvSpPr>
          <p:cNvPr id="4" name="Footer Placeholder 3"/>
          <p:cNvSpPr>
            <a:spLocks noGrp="1"/>
          </p:cNvSpPr>
          <p:nvPr>
            <p:ph type="ftr" sz="quarter" idx="10"/>
          </p:nvPr>
        </p:nvSpPr>
        <p:spPr/>
        <p:txBody>
          <a:bodyPr/>
          <a:lstStyle/>
          <a:p>
            <a:pPr>
              <a:defRPr/>
            </a:pPr>
            <a:r>
              <a:rPr lang="en-US">
                <a:latin typeface="Gill Sans" panose="020B0702020104020203" pitchFamily="34" charset="0"/>
              </a:rPr>
              <a:t>&lt;Course name&gt;   1 - </a:t>
            </a:r>
            <a:fld id="{7C951E65-0BAA-4B24-AD87-683F8269D8DB}" type="slidenum">
              <a:rPr lang="en-US" smtClean="0">
                <a:latin typeface="Gill Sans" panose="020B0702020104020203" pitchFamily="34" charset="0"/>
              </a:rPr>
              <a:pPr>
                <a:defRPr/>
              </a:pPr>
              <a:t>17</a:t>
            </a:fld>
            <a:endParaRPr lang="en-US" dirty="0">
              <a:latin typeface="Gill Sans" panose="020B0702020104020203" pitchFamily="34" charset="0"/>
            </a:endParaRPr>
          </a:p>
        </p:txBody>
      </p:sp>
    </p:spTree>
    <p:extLst>
      <p:ext uri="{BB962C8B-B14F-4D97-AF65-F5344CB8AC3E}">
        <p14:creationId xmlns:p14="http://schemas.microsoft.com/office/powerpoint/2010/main" val="1796369793"/>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143000" y="685800"/>
            <a:ext cx="4572000" cy="3429000"/>
          </a:xfrm>
        </p:spPr>
      </p:sp>
      <p:sp>
        <p:nvSpPr>
          <p:cNvPr id="3" name="Notes Placeholder 2"/>
          <p:cNvSpPr>
            <a:spLocks noGrp="1"/>
          </p:cNvSpPr>
          <p:nvPr>
            <p:ph type="body" idx="1"/>
          </p:nvPr>
        </p:nvSpPr>
        <p:spPr/>
        <p:txBody>
          <a:bodyPr/>
          <a:lstStyle/>
          <a:p>
            <a:pPr algn="just">
              <a:buFont typeface="Wingdings" pitchFamily="2" charset="2"/>
              <a:buChar char="§"/>
            </a:pPr>
            <a:r>
              <a:rPr lang="en-IN" dirty="0"/>
              <a:t>All GCP services are associated with Project</a:t>
            </a:r>
          </a:p>
          <a:p>
            <a:pPr algn="just">
              <a:buFont typeface="Wingdings" pitchFamily="2" charset="2"/>
              <a:buChar char="§"/>
            </a:pPr>
            <a:r>
              <a:rPr lang="en-IN" dirty="0"/>
              <a:t>By default a project is created when you Sign Up</a:t>
            </a:r>
          </a:p>
          <a:p>
            <a:pPr algn="just">
              <a:buFont typeface="Wingdings" pitchFamily="2" charset="2"/>
              <a:buChar char="§"/>
            </a:pPr>
            <a:r>
              <a:rPr lang="en-IN" dirty="0"/>
              <a:t>Project Identity:</a:t>
            </a:r>
          </a:p>
          <a:p>
            <a:pPr lvl="1" algn="just">
              <a:buFont typeface="Wingdings" pitchFamily="2" charset="2"/>
              <a:buChar char="§"/>
            </a:pPr>
            <a:r>
              <a:rPr lang="en-IN" sz="2800" dirty="0"/>
              <a:t>Name</a:t>
            </a:r>
          </a:p>
          <a:p>
            <a:pPr lvl="1" algn="just">
              <a:buFont typeface="Wingdings" pitchFamily="2" charset="2"/>
              <a:buChar char="§"/>
            </a:pPr>
            <a:r>
              <a:rPr lang="en-IN" sz="2800" dirty="0"/>
              <a:t>Number</a:t>
            </a:r>
          </a:p>
          <a:p>
            <a:pPr lvl="1" algn="just">
              <a:buFont typeface="Wingdings" pitchFamily="2" charset="2"/>
              <a:buChar char="§"/>
            </a:pPr>
            <a:r>
              <a:rPr lang="en-IN" sz="2800" dirty="0"/>
              <a:t>ID</a:t>
            </a:r>
          </a:p>
          <a:p>
            <a:pPr algn="just">
              <a:buFont typeface="Wingdings" pitchFamily="2" charset="2"/>
              <a:buChar char="§"/>
            </a:pPr>
            <a:r>
              <a:rPr lang="en-IN" dirty="0"/>
              <a:t>Using Project, you can :</a:t>
            </a:r>
          </a:p>
          <a:p>
            <a:pPr lvl="1" algn="just">
              <a:buFont typeface="Wingdings" pitchFamily="2" charset="2"/>
              <a:buChar char="§"/>
            </a:pPr>
            <a:r>
              <a:rPr lang="en-IN" sz="2800" dirty="0"/>
              <a:t>Enable Billing</a:t>
            </a:r>
          </a:p>
          <a:p>
            <a:pPr lvl="1" algn="just">
              <a:buFont typeface="Wingdings" pitchFamily="2" charset="2"/>
              <a:buChar char="§"/>
            </a:pPr>
            <a:r>
              <a:rPr lang="en-IN" sz="2800" dirty="0"/>
              <a:t>Track resource usage</a:t>
            </a:r>
          </a:p>
          <a:p>
            <a:pPr lvl="1" algn="just">
              <a:buFont typeface="Wingdings" pitchFamily="2" charset="2"/>
              <a:buChar char="§"/>
            </a:pPr>
            <a:r>
              <a:rPr lang="en-IN" sz="2800" dirty="0"/>
              <a:t>Manage permissions</a:t>
            </a:r>
          </a:p>
          <a:p>
            <a:pPr lvl="1" algn="just">
              <a:buFont typeface="Wingdings" pitchFamily="2" charset="2"/>
              <a:buChar char="§"/>
            </a:pPr>
            <a:r>
              <a:rPr lang="en-IN" sz="2800" dirty="0"/>
              <a:t>Enable different services</a:t>
            </a:r>
          </a:p>
          <a:p>
            <a:pPr lvl="1" algn="just">
              <a:buFont typeface="Wingdings" pitchFamily="2" charset="2"/>
              <a:buChar char="§"/>
            </a:pPr>
            <a:r>
              <a:rPr lang="en-IN" sz="2800" dirty="0"/>
              <a:t>Access APIs</a:t>
            </a:r>
          </a:p>
          <a:p>
            <a:endParaRPr lang="en-IN" dirty="0"/>
          </a:p>
        </p:txBody>
      </p:sp>
      <p:sp>
        <p:nvSpPr>
          <p:cNvPr id="4" name="Footer Placeholder 3"/>
          <p:cNvSpPr>
            <a:spLocks noGrp="1"/>
          </p:cNvSpPr>
          <p:nvPr>
            <p:ph type="ftr" sz="quarter" idx="10"/>
          </p:nvPr>
        </p:nvSpPr>
        <p:spPr/>
        <p:txBody>
          <a:bodyPr/>
          <a:lstStyle/>
          <a:p>
            <a:pPr>
              <a:defRPr/>
            </a:pPr>
            <a:r>
              <a:rPr lang="en-US">
                <a:latin typeface="Gill Sans" panose="020B0702020104020203" pitchFamily="34" charset="0"/>
              </a:rPr>
              <a:t>&lt;Course name&gt;   1 - </a:t>
            </a:r>
            <a:fld id="{7C951E65-0BAA-4B24-AD87-683F8269D8DB}" type="slidenum">
              <a:rPr lang="en-US" smtClean="0">
                <a:latin typeface="Gill Sans" panose="020B0702020104020203" pitchFamily="34" charset="0"/>
              </a:rPr>
              <a:pPr>
                <a:defRPr/>
              </a:pPr>
              <a:t>39</a:t>
            </a:fld>
            <a:endParaRPr lang="en-US" dirty="0">
              <a:latin typeface="Gill Sans" panose="020B0702020104020203" pitchFamily="34" charset="0"/>
            </a:endParaRPr>
          </a:p>
        </p:txBody>
      </p:sp>
    </p:spTree>
    <p:extLst>
      <p:ext uri="{BB962C8B-B14F-4D97-AF65-F5344CB8AC3E}">
        <p14:creationId xmlns:p14="http://schemas.microsoft.com/office/powerpoint/2010/main" val="1548338762"/>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143000" y="685800"/>
            <a:ext cx="4572000" cy="3429000"/>
          </a:xfrm>
        </p:spPr>
      </p:sp>
      <p:sp>
        <p:nvSpPr>
          <p:cNvPr id="3" name="Notes Placeholder 2"/>
          <p:cNvSpPr>
            <a:spLocks noGrp="1"/>
          </p:cNvSpPr>
          <p:nvPr>
            <p:ph type="body" idx="1"/>
          </p:nvPr>
        </p:nvSpPr>
        <p:spPr/>
        <p:txBody>
          <a:bodyPr/>
          <a:lstStyle/>
          <a:p>
            <a:r>
              <a:rPr lang="en-IN" sz="900" dirty="0">
                <a:latin typeface="Gill Sans" panose="020B0702020104020203" pitchFamily="34" charset="0"/>
              </a:rPr>
              <a:t>From global, load-balanced, resilient services to flexible single-instance VMs, we provide a scalable range of computing options you can tailor to match your needs. Google Compute Engine provides highly customizable virtual machines with best-of-breed features,</a:t>
            </a:r>
          </a:p>
          <a:p>
            <a:endParaRPr lang="en-IN" dirty="0"/>
          </a:p>
        </p:txBody>
      </p:sp>
      <p:sp>
        <p:nvSpPr>
          <p:cNvPr id="4" name="Footer Placeholder 3"/>
          <p:cNvSpPr>
            <a:spLocks noGrp="1"/>
          </p:cNvSpPr>
          <p:nvPr>
            <p:ph type="ftr" sz="quarter" idx="10"/>
          </p:nvPr>
        </p:nvSpPr>
        <p:spPr/>
        <p:txBody>
          <a:bodyPr/>
          <a:lstStyle/>
          <a:p>
            <a:pPr>
              <a:defRPr/>
            </a:pPr>
            <a:r>
              <a:rPr lang="en-US">
                <a:latin typeface="Gill Sans" panose="020B0702020104020203" pitchFamily="34" charset="0"/>
              </a:rPr>
              <a:t>&lt;Course name&gt;   1 - </a:t>
            </a:r>
            <a:fld id="{7C951E65-0BAA-4B24-AD87-683F8269D8DB}" type="slidenum">
              <a:rPr lang="en-US" smtClean="0">
                <a:latin typeface="Gill Sans" panose="020B0702020104020203" pitchFamily="34" charset="0"/>
              </a:rPr>
              <a:pPr>
                <a:defRPr/>
              </a:pPr>
              <a:t>44</a:t>
            </a:fld>
            <a:endParaRPr lang="en-US" dirty="0">
              <a:latin typeface="Gill Sans" panose="020B0702020104020203" pitchFamily="34" charset="0"/>
            </a:endParaRPr>
          </a:p>
        </p:txBody>
      </p:sp>
    </p:spTree>
    <p:extLst>
      <p:ext uri="{BB962C8B-B14F-4D97-AF65-F5344CB8AC3E}">
        <p14:creationId xmlns:p14="http://schemas.microsoft.com/office/powerpoint/2010/main" val="3690196317"/>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2" Type="http://schemas.openxmlformats.org/officeDocument/2006/relationships/slideMaster" Target="../slideMasters/slideMaster1.xml"/><Relationship Id="rId1" Type="http://schemas.openxmlformats.org/officeDocument/2006/relationships/tags" Target="../tags/tag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1905000"/>
            <a:ext cx="7543800" cy="2593975"/>
          </a:xfrm>
        </p:spPr>
        <p:txBody>
          <a:bodyPr anchor="b"/>
          <a:lstStyle>
            <a:lvl1pPr>
              <a:defRPr sz="6600">
                <a:ln>
                  <a:noFill/>
                </a:ln>
                <a:solidFill>
                  <a:schemeClr val="tx2"/>
                </a:solidFill>
              </a:defRPr>
            </a:lvl1pPr>
          </a:lstStyle>
          <a:p>
            <a:r>
              <a:rPr lang="en-US" smtClean="0"/>
              <a:t>Click to edit Master title style</a:t>
            </a:r>
            <a:endParaRPr lang="en-US" dirty="0"/>
          </a:p>
        </p:txBody>
      </p:sp>
      <p:sp>
        <p:nvSpPr>
          <p:cNvPr id="3" name="Subtitle 2"/>
          <p:cNvSpPr>
            <a:spLocks noGrp="1"/>
          </p:cNvSpPr>
          <p:nvPr>
            <p:ph type="subTitle" idx="1"/>
          </p:nvPr>
        </p:nvSpPr>
        <p:spPr>
          <a:xfrm>
            <a:off x="685800" y="4572000"/>
            <a:ext cx="6461760" cy="1066800"/>
          </a:xfrm>
        </p:spPr>
        <p:txBody>
          <a:bodyPr anchor="t">
            <a:normAutofit/>
          </a:bodyPr>
          <a:lstStyle>
            <a:lvl1pPr marL="0" indent="0" algn="l">
              <a:buNone/>
              <a:defRPr sz="2000">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dirty="0"/>
          </a:p>
        </p:txBody>
      </p:sp>
      <p:sp>
        <p:nvSpPr>
          <p:cNvPr id="4" name="Date Placeholder 3"/>
          <p:cNvSpPr>
            <a:spLocks noGrp="1"/>
          </p:cNvSpPr>
          <p:nvPr>
            <p:ph type="dt" sz="half" idx="10"/>
          </p:nvPr>
        </p:nvSpPr>
        <p:spPr/>
        <p:txBody>
          <a:bodyPr/>
          <a:lstStyle/>
          <a:p>
            <a:fld id="{89A9C25A-A1AB-423A-AEAA-54B9F67347B8}" type="datetimeFigureOut">
              <a:rPr lang="en-IN" smtClean="0"/>
              <a:t>27-03-2026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036BD46B-AA7B-45BA-9CDE-052EB1F79944}" type="slidenum">
              <a:rPr lang="en-IN" smtClean="0"/>
              <a:t>‹#›</a:t>
            </a:fld>
            <a:endParaRPr lang="en-IN"/>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89A9C25A-A1AB-423A-AEAA-54B9F67347B8}" type="datetimeFigureOut">
              <a:rPr lang="en-IN" smtClean="0"/>
              <a:t>27-03-2026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036BD46B-AA7B-45BA-9CDE-052EB1F79944}" type="slidenum">
              <a:rPr lang="en-IN" smtClean="0"/>
              <a:t>‹#›</a:t>
            </a:fld>
            <a:endParaRPr lang="en-IN"/>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5486400"/>
            <a:ext cx="7659687" cy="1168400"/>
          </a:xfrm>
        </p:spPr>
        <p:txBody>
          <a:bodyPr anchor="t"/>
          <a:lstStyle>
            <a:lvl1pPr algn="l">
              <a:defRPr sz="3600" b="0" cap="all"/>
            </a:lvl1pPr>
          </a:lstStyle>
          <a:p>
            <a:r>
              <a:rPr lang="en-US" smtClean="0"/>
              <a:t>Click to edit Master title style</a:t>
            </a:r>
            <a:endParaRPr lang="en-US" dirty="0"/>
          </a:p>
        </p:txBody>
      </p:sp>
      <p:sp>
        <p:nvSpPr>
          <p:cNvPr id="3" name="Text Placeholder 2"/>
          <p:cNvSpPr>
            <a:spLocks noGrp="1"/>
          </p:cNvSpPr>
          <p:nvPr>
            <p:ph type="body" idx="1"/>
          </p:nvPr>
        </p:nvSpPr>
        <p:spPr>
          <a:xfrm>
            <a:off x="722313" y="3852863"/>
            <a:ext cx="6135687" cy="1633538"/>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89A9C25A-A1AB-423A-AEAA-54B9F67347B8}" type="datetimeFigureOut">
              <a:rPr lang="en-IN" smtClean="0"/>
              <a:t>27-03-2026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036BD46B-AA7B-45BA-9CDE-052EB1F79944}" type="slidenum">
              <a:rPr lang="en-IN" smtClean="0"/>
              <a:t>‹#›</a:t>
            </a:fld>
            <a:endParaRPr lang="en-IN"/>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536192"/>
            <a:ext cx="3657600" cy="4590288"/>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Content Placeholder 3"/>
          <p:cNvSpPr>
            <a:spLocks noGrp="1"/>
          </p:cNvSpPr>
          <p:nvPr>
            <p:ph sz="half" idx="2"/>
          </p:nvPr>
        </p:nvSpPr>
        <p:spPr>
          <a:xfrm>
            <a:off x="4419600" y="1536192"/>
            <a:ext cx="3657600" cy="4590288"/>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5" name="Date Placeholder 4"/>
          <p:cNvSpPr>
            <a:spLocks noGrp="1"/>
          </p:cNvSpPr>
          <p:nvPr>
            <p:ph type="dt" sz="half" idx="10"/>
          </p:nvPr>
        </p:nvSpPr>
        <p:spPr/>
        <p:txBody>
          <a:bodyPr/>
          <a:lstStyle/>
          <a:p>
            <a:fld id="{89A9C25A-A1AB-423A-AEAA-54B9F67347B8}" type="datetimeFigureOut">
              <a:rPr lang="en-IN" smtClean="0"/>
              <a:t>27-03-2026</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036BD46B-AA7B-45BA-9CDE-052EB1F79944}" type="slidenum">
              <a:rPr lang="en-IN" smtClean="0"/>
              <a:t>‹#›</a:t>
            </a:fld>
            <a:endParaRPr lang="en-IN"/>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3657600" cy="639762"/>
          </a:xfrm>
        </p:spPr>
        <p:txBody>
          <a:bodyPr anchor="b">
            <a:noAutofit/>
          </a:bodyPr>
          <a:lstStyle>
            <a:lvl1pPr marL="0" indent="0" algn="ctr">
              <a:buNone/>
              <a:defRPr sz="2000" b="1">
                <a:solidFill>
                  <a:schemeClr val="tx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3657600"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5" name="Text Placeholder 4"/>
          <p:cNvSpPr>
            <a:spLocks noGrp="1"/>
          </p:cNvSpPr>
          <p:nvPr>
            <p:ph type="body" sz="quarter" idx="3"/>
          </p:nvPr>
        </p:nvSpPr>
        <p:spPr>
          <a:xfrm>
            <a:off x="4419600" y="1535113"/>
            <a:ext cx="3657600" cy="639762"/>
          </a:xfrm>
        </p:spPr>
        <p:txBody>
          <a:bodyPr anchor="b">
            <a:noAutofit/>
          </a:bodyPr>
          <a:lstStyle>
            <a:lvl1pPr marL="0" indent="0" algn="ctr">
              <a:buNone/>
              <a:defRPr sz="2000" b="1">
                <a:solidFill>
                  <a:schemeClr val="tx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419600" y="2174875"/>
            <a:ext cx="3657600"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89A9C25A-A1AB-423A-AEAA-54B9F67347B8}" type="datetimeFigureOut">
              <a:rPr lang="en-IN" smtClean="0"/>
              <a:t>27-03-2026</a:t>
            </a:fld>
            <a:endParaRPr lang="en-IN"/>
          </a:p>
        </p:txBody>
      </p:sp>
      <p:sp>
        <p:nvSpPr>
          <p:cNvPr id="8" name="Footer Placeholder 7"/>
          <p:cNvSpPr>
            <a:spLocks noGrp="1"/>
          </p:cNvSpPr>
          <p:nvPr>
            <p:ph type="ftr" sz="quarter" idx="11"/>
          </p:nvPr>
        </p:nvSpPr>
        <p:spPr/>
        <p:txBody>
          <a:bodyPr/>
          <a:lstStyle/>
          <a:p>
            <a:endParaRPr lang="en-IN"/>
          </a:p>
        </p:txBody>
      </p:sp>
      <p:sp>
        <p:nvSpPr>
          <p:cNvPr id="9" name="Slide Number Placeholder 8"/>
          <p:cNvSpPr>
            <a:spLocks noGrp="1"/>
          </p:cNvSpPr>
          <p:nvPr>
            <p:ph type="sldNum" sz="quarter" idx="12"/>
          </p:nvPr>
        </p:nvSpPr>
        <p:spPr/>
        <p:txBody>
          <a:bodyPr/>
          <a:lstStyle/>
          <a:p>
            <a:fld id="{036BD46B-AA7B-45BA-9CDE-052EB1F79944}" type="slidenum">
              <a:rPr lang="en-IN" smtClean="0"/>
              <a:t>‹#›</a:t>
            </a:fld>
            <a:endParaRPr lang="en-IN"/>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89A9C25A-A1AB-423A-AEAA-54B9F67347B8}" type="datetimeFigureOut">
              <a:rPr lang="en-IN" smtClean="0"/>
              <a:t>27-03-2026</a:t>
            </a:fld>
            <a:endParaRPr lang="en-IN"/>
          </a:p>
        </p:txBody>
      </p:sp>
      <p:sp>
        <p:nvSpPr>
          <p:cNvPr id="4" name="Footer Placeholder 3"/>
          <p:cNvSpPr>
            <a:spLocks noGrp="1"/>
          </p:cNvSpPr>
          <p:nvPr>
            <p:ph type="ftr" sz="quarter" idx="11"/>
          </p:nvPr>
        </p:nvSpPr>
        <p:spPr/>
        <p:txBody>
          <a:bodyPr/>
          <a:lstStyle/>
          <a:p>
            <a:endParaRPr lang="en-IN"/>
          </a:p>
        </p:txBody>
      </p:sp>
      <p:sp>
        <p:nvSpPr>
          <p:cNvPr id="5" name="Slide Number Placeholder 4"/>
          <p:cNvSpPr>
            <a:spLocks noGrp="1"/>
          </p:cNvSpPr>
          <p:nvPr>
            <p:ph type="sldNum" sz="quarter" idx="12"/>
          </p:nvPr>
        </p:nvSpPr>
        <p:spPr/>
        <p:txBody>
          <a:bodyPr/>
          <a:lstStyle/>
          <a:p>
            <a:fld id="{036BD46B-AA7B-45BA-9CDE-052EB1F79944}" type="slidenum">
              <a:rPr lang="en-IN" smtClean="0"/>
              <a:t>‹#›</a:t>
            </a:fld>
            <a:endParaRPr lang="en-IN"/>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89A9C25A-A1AB-423A-AEAA-54B9F67347B8}" type="datetimeFigureOut">
              <a:rPr lang="en-IN" smtClean="0"/>
              <a:t>27-03-2026</a:t>
            </a:fld>
            <a:endParaRPr lang="en-IN"/>
          </a:p>
        </p:txBody>
      </p:sp>
      <p:sp>
        <p:nvSpPr>
          <p:cNvPr id="3" name="Footer Placeholder 2"/>
          <p:cNvSpPr>
            <a:spLocks noGrp="1"/>
          </p:cNvSpPr>
          <p:nvPr>
            <p:ph type="ftr" sz="quarter" idx="11"/>
          </p:nvPr>
        </p:nvSpPr>
        <p:spPr/>
        <p:txBody>
          <a:bodyPr/>
          <a:lstStyle/>
          <a:p>
            <a:endParaRPr lang="en-IN"/>
          </a:p>
        </p:txBody>
      </p:sp>
      <p:sp>
        <p:nvSpPr>
          <p:cNvPr id="4" name="Slide Number Placeholder 3"/>
          <p:cNvSpPr>
            <a:spLocks noGrp="1"/>
          </p:cNvSpPr>
          <p:nvPr>
            <p:ph type="sldNum" sz="quarter" idx="12"/>
          </p:nvPr>
        </p:nvSpPr>
        <p:spPr/>
        <p:txBody>
          <a:bodyPr/>
          <a:lstStyle/>
          <a:p>
            <a:fld id="{036BD46B-AA7B-45BA-9CDE-052EB1F79944}" type="slidenum">
              <a:rPr lang="en-IN" smtClean="0"/>
              <a:t>‹#›</a:t>
            </a:fld>
            <a:endParaRPr lang="en-IN"/>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304801" y="5495544"/>
            <a:ext cx="7772400" cy="594360"/>
          </a:xfrm>
        </p:spPr>
        <p:txBody>
          <a:bodyPr anchor="b"/>
          <a:lstStyle>
            <a:lvl1pPr algn="ctr">
              <a:defRPr sz="2200" b="1"/>
            </a:lvl1pPr>
          </a:lstStyle>
          <a:p>
            <a:r>
              <a:rPr lang="en-US" smtClean="0"/>
              <a:t>Click to edit Master title style</a:t>
            </a:r>
            <a:endParaRPr lang="en-US" dirty="0"/>
          </a:p>
        </p:txBody>
      </p:sp>
      <p:sp>
        <p:nvSpPr>
          <p:cNvPr id="4" name="Text Placeholder 3"/>
          <p:cNvSpPr>
            <a:spLocks noGrp="1"/>
          </p:cNvSpPr>
          <p:nvPr>
            <p:ph type="body" sz="half" idx="2"/>
          </p:nvPr>
        </p:nvSpPr>
        <p:spPr>
          <a:xfrm>
            <a:off x="304799" y="6096000"/>
            <a:ext cx="7772401" cy="609600"/>
          </a:xfrm>
        </p:spPr>
        <p:txBody>
          <a:bodyPr>
            <a:normAutofit/>
          </a:bodyPr>
          <a:lstStyle>
            <a:lvl1pPr marL="0" indent="0" algn="ctr">
              <a:buNone/>
              <a:defRPr sz="16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89A9C25A-A1AB-423A-AEAA-54B9F67347B8}" type="datetimeFigureOut">
              <a:rPr lang="en-IN" smtClean="0"/>
              <a:t>27-03-2026</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036BD46B-AA7B-45BA-9CDE-052EB1F79944}" type="slidenum">
              <a:rPr lang="en-IN" smtClean="0"/>
              <a:t>‹#›</a:t>
            </a:fld>
            <a:endParaRPr lang="en-IN"/>
          </a:p>
        </p:txBody>
      </p:sp>
      <p:sp>
        <p:nvSpPr>
          <p:cNvPr id="9" name="Content Placeholder 8"/>
          <p:cNvSpPr>
            <a:spLocks noGrp="1"/>
          </p:cNvSpPr>
          <p:nvPr>
            <p:ph sz="quarter" idx="13"/>
          </p:nvPr>
        </p:nvSpPr>
        <p:spPr>
          <a:xfrm>
            <a:off x="304800" y="381000"/>
            <a:ext cx="7772400" cy="4942840"/>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301752" y="5495278"/>
            <a:ext cx="7772400" cy="594626"/>
          </a:xfrm>
        </p:spPr>
        <p:txBody>
          <a:bodyPr anchor="b"/>
          <a:lstStyle>
            <a:lvl1pPr algn="ctr">
              <a:defRPr sz="2200" b="1">
                <a:ln>
                  <a:noFill/>
                </a:ln>
                <a:solidFill>
                  <a:schemeClr val="tx2"/>
                </a:solidFill>
              </a:defRPr>
            </a:lvl1pPr>
          </a:lstStyle>
          <a:p>
            <a:r>
              <a:rPr lang="en-US" smtClean="0"/>
              <a:t>Click to edit Master title style</a:t>
            </a:r>
            <a:endParaRPr lang="en-US" dirty="0"/>
          </a:p>
        </p:txBody>
      </p:sp>
      <p:sp>
        <p:nvSpPr>
          <p:cNvPr id="3" name="Picture Placeholder 2"/>
          <p:cNvSpPr>
            <a:spLocks noGrp="1"/>
          </p:cNvSpPr>
          <p:nvPr>
            <p:ph type="pic" idx="1"/>
          </p:nvPr>
        </p:nvSpPr>
        <p:spPr>
          <a:xfrm>
            <a:off x="0" y="0"/>
            <a:ext cx="8458200" cy="54864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smtClean="0"/>
              <a:t>Click icon to add picture</a:t>
            </a:r>
            <a:endParaRPr lang="en-US" dirty="0"/>
          </a:p>
        </p:txBody>
      </p:sp>
      <p:sp>
        <p:nvSpPr>
          <p:cNvPr id="4" name="Text Placeholder 3"/>
          <p:cNvSpPr>
            <a:spLocks noGrp="1"/>
          </p:cNvSpPr>
          <p:nvPr>
            <p:ph type="body" sz="half" idx="2"/>
          </p:nvPr>
        </p:nvSpPr>
        <p:spPr>
          <a:xfrm>
            <a:off x="301752" y="6096000"/>
            <a:ext cx="7772400" cy="612648"/>
          </a:xfrm>
        </p:spPr>
        <p:txBody>
          <a:bodyPr>
            <a:normAutofit/>
          </a:bodyPr>
          <a:lstStyle>
            <a:lvl1pPr marL="0" indent="0" algn="ctr">
              <a:buNone/>
              <a:defRPr sz="16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8" name="Date Placeholder 7"/>
          <p:cNvSpPr>
            <a:spLocks noGrp="1"/>
          </p:cNvSpPr>
          <p:nvPr>
            <p:ph type="dt" sz="half" idx="10"/>
          </p:nvPr>
        </p:nvSpPr>
        <p:spPr/>
        <p:txBody>
          <a:bodyPr/>
          <a:lstStyle/>
          <a:p>
            <a:fld id="{89A9C25A-A1AB-423A-AEAA-54B9F67347B8}" type="datetimeFigureOut">
              <a:rPr lang="en-IN" smtClean="0"/>
              <a:t>27-03-2026</a:t>
            </a:fld>
            <a:endParaRPr lang="en-IN"/>
          </a:p>
        </p:txBody>
      </p:sp>
      <p:sp>
        <p:nvSpPr>
          <p:cNvPr id="9" name="Slide Number Placeholder 8"/>
          <p:cNvSpPr>
            <a:spLocks noGrp="1"/>
          </p:cNvSpPr>
          <p:nvPr>
            <p:ph type="sldNum" sz="quarter" idx="11"/>
          </p:nvPr>
        </p:nvSpPr>
        <p:spPr/>
        <p:txBody>
          <a:bodyPr/>
          <a:lstStyle/>
          <a:p>
            <a:fld id="{036BD46B-AA7B-45BA-9CDE-052EB1F79944}" type="slidenum">
              <a:rPr lang="en-IN" smtClean="0"/>
              <a:t>‹#›</a:t>
            </a:fld>
            <a:endParaRPr lang="en-IN"/>
          </a:p>
        </p:txBody>
      </p:sp>
      <p:sp>
        <p:nvSpPr>
          <p:cNvPr id="10" name="Footer Placeholder 9"/>
          <p:cNvSpPr>
            <a:spLocks noGrp="1"/>
          </p:cNvSpPr>
          <p:nvPr>
            <p:ph type="ftr" sz="quarter" idx="12"/>
          </p:nvPr>
        </p:nvSpPr>
        <p:spPr/>
        <p:txBody>
          <a:bodyPr/>
          <a:lstStyle/>
          <a:p>
            <a:endParaRPr lang="en-IN"/>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89A9C25A-A1AB-423A-AEAA-54B9F67347B8}" type="datetimeFigureOut">
              <a:rPr lang="en-IN" smtClean="0"/>
              <a:t>27-03-2026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036BD46B-AA7B-45BA-9CDE-052EB1F79944}" type="slidenum">
              <a:rPr lang="en-IN" smtClean="0"/>
              <a:t>‹#›</a:t>
            </a:fld>
            <a:endParaRPr lang="en-IN"/>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1752600" cy="5851525"/>
          </a:xfrm>
        </p:spPr>
        <p:txBody>
          <a:bodyPr vert="eaVert" anchor="b" anchorCtr="0"/>
          <a:lstStyle/>
          <a:p>
            <a:r>
              <a:rPr lang="en-US" smtClean="0"/>
              <a:t>Click to edit Master title style</a:t>
            </a:r>
            <a:endParaRPr lang="en-US" dirty="0"/>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89A9C25A-A1AB-423A-AEAA-54B9F67347B8}" type="datetimeFigureOut">
              <a:rPr lang="en-IN" smtClean="0"/>
              <a:t>27-03-2026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036BD46B-AA7B-45BA-9CDE-052EB1F79944}" type="slidenum">
              <a:rPr lang="en-IN" smtClean="0"/>
              <a:t>‹#›</a:t>
            </a:fld>
            <a:endParaRPr lang="en-IN"/>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userDrawn="1">
  <p:cSld name="2_Title and Content">
    <p:spTree>
      <p:nvGrpSpPr>
        <p:cNvPr id="1" name=""/>
        <p:cNvGrpSpPr/>
        <p:nvPr/>
      </p:nvGrpSpPr>
      <p:grpSpPr>
        <a:xfrm>
          <a:off x="0" y="0"/>
          <a:ext cx="0" cy="0"/>
          <a:chOff x="0" y="0"/>
          <a:chExt cx="0" cy="0"/>
        </a:xfrm>
      </p:grpSpPr>
      <p:sp>
        <p:nvSpPr>
          <p:cNvPr id="7" name="Slide_PlaceholderTitle"/>
          <p:cNvSpPr>
            <a:spLocks noGrp="1" noChangeArrowheads="1"/>
          </p:cNvSpPr>
          <p:nvPr>
            <p:ph type="title"/>
          </p:nvPr>
        </p:nvSpPr>
        <p:spPr bwMode="auto">
          <a:xfrm>
            <a:off x="466725" y="531319"/>
            <a:ext cx="8210550" cy="497415"/>
          </a:xfrm>
          <a:prstGeom prst="rect">
            <a:avLst/>
          </a:prstGeom>
          <a:noFill/>
          <a:ln w="9525">
            <a:noFill/>
            <a:miter lim="800000"/>
            <a:headEnd/>
            <a:tailEnd/>
          </a:ln>
        </p:spPr>
        <p:txBody>
          <a:bodyPr vert="horz" wrap="square" lIns="4740" tIns="4740" rIns="4740" bIns="4740" numCol="1" anchor="t" anchorCtr="0" compatLnSpc="1">
            <a:prstTxWarp prst="textNoShape">
              <a:avLst/>
            </a:prstTxWarp>
          </a:bodyPr>
          <a:lstStyle>
            <a:lvl1pPr algn="ctr">
              <a:defRPr sz="3200">
                <a:solidFill>
                  <a:srgbClr val="095A82"/>
                </a:solidFill>
              </a:defRPr>
            </a:lvl1pPr>
          </a:lstStyle>
          <a:p>
            <a:pPr lvl="0"/>
            <a:r>
              <a:rPr lang="en-US" dirty="0"/>
              <a:t>Click to edit Master title style</a:t>
            </a:r>
          </a:p>
        </p:txBody>
      </p:sp>
      <p:sp>
        <p:nvSpPr>
          <p:cNvPr id="4" name="Text Placeholder 7"/>
          <p:cNvSpPr>
            <a:spLocks noGrp="1"/>
          </p:cNvSpPr>
          <p:nvPr>
            <p:ph type="body" sz="quarter" idx="10" hasCustomPrompt="1"/>
          </p:nvPr>
        </p:nvSpPr>
        <p:spPr>
          <a:xfrm>
            <a:off x="466725" y="1124745"/>
            <a:ext cx="8210550" cy="4415367"/>
          </a:xfrm>
        </p:spPr>
        <p:txBody>
          <a:bodyPr/>
          <a:lstStyle>
            <a:lvl1pPr marL="320040" indent="-320040">
              <a:buClr>
                <a:srgbClr val="095A82"/>
              </a:buClr>
              <a:buFont typeface="Wingdings" panose="05000000000000000000" pitchFamily="2" charset="2"/>
              <a:buChar char="§"/>
              <a:defRPr/>
            </a:lvl1pPr>
          </a:lstStyle>
          <a:p>
            <a:pPr lvl="0"/>
            <a:r>
              <a:rPr lang="en-US" dirty="0"/>
              <a:t>Add Title Here, Add Title Here, Add Title Here.</a:t>
            </a:r>
          </a:p>
          <a:p>
            <a:pPr lvl="0"/>
            <a:r>
              <a:rPr lang="en-US" dirty="0"/>
              <a:t>Add Title Here, Add Title Here, Add Title Here.</a:t>
            </a:r>
          </a:p>
          <a:p>
            <a:pPr lvl="0"/>
            <a:r>
              <a:rPr lang="en-US" dirty="0"/>
              <a:t>Add Title Here, Add Title Here, Add Title Here.</a:t>
            </a:r>
          </a:p>
          <a:p>
            <a:pPr lvl="0"/>
            <a:r>
              <a:rPr lang="en-US" dirty="0"/>
              <a:t>Add Title Here, Add Title Here, Add Title Here.</a:t>
            </a:r>
          </a:p>
          <a:p>
            <a:pPr lvl="0"/>
            <a:r>
              <a:rPr lang="en-US" dirty="0"/>
              <a:t>Add Title Here, Add Title Here, Add Title Here.</a:t>
            </a:r>
          </a:p>
          <a:p>
            <a:pPr lvl="0"/>
            <a:r>
              <a:rPr lang="en-US" dirty="0"/>
              <a:t>Add Title Here, Add Title Here, Add Title Here.</a:t>
            </a:r>
          </a:p>
          <a:p>
            <a:pPr lvl="0"/>
            <a:r>
              <a:rPr lang="en-US" dirty="0"/>
              <a:t>Add Title Here, Add Title Here, Add Title Here.</a:t>
            </a:r>
          </a:p>
          <a:p>
            <a:pPr lvl="0"/>
            <a:r>
              <a:rPr lang="en-US" dirty="0"/>
              <a:t>Add Title Here, Add Title Here, Add Title Here.</a:t>
            </a:r>
          </a:p>
        </p:txBody>
      </p:sp>
    </p:spTree>
    <p:custDataLst>
      <p:tags r:id="rId1"/>
    </p:custDataLst>
    <p:extLst>
      <p:ext uri="{BB962C8B-B14F-4D97-AF65-F5344CB8AC3E}">
        <p14:creationId xmlns:p14="http://schemas.microsoft.com/office/powerpoint/2010/main" val="1121211368"/>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2">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7620000" cy="1143000"/>
          </a:xfrm>
          <a:prstGeom prst="rect">
            <a:avLst/>
          </a:prstGeom>
        </p:spPr>
        <p:txBody>
          <a:bodyPr vert="horz" lIns="91440" tIns="45720" rIns="91440" bIns="45720" rtlCol="0" anchor="ctr">
            <a:noAutofit/>
          </a:bodyPr>
          <a:lstStyle/>
          <a:p>
            <a:r>
              <a:rPr lang="en-US" smtClean="0"/>
              <a:t>Click to edit Master title style</a:t>
            </a:r>
            <a:endParaRPr lang="en-US" dirty="0"/>
          </a:p>
        </p:txBody>
      </p:sp>
      <p:sp>
        <p:nvSpPr>
          <p:cNvPr id="3" name="Text Placeholder 2"/>
          <p:cNvSpPr>
            <a:spLocks noGrp="1"/>
          </p:cNvSpPr>
          <p:nvPr>
            <p:ph type="body" idx="1"/>
          </p:nvPr>
        </p:nvSpPr>
        <p:spPr>
          <a:xfrm>
            <a:off x="457200" y="1600200"/>
            <a:ext cx="7620000" cy="4800600"/>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7" name="Rectangle 6"/>
          <p:cNvSpPr/>
          <p:nvPr/>
        </p:nvSpPr>
        <p:spPr>
          <a:xfrm>
            <a:off x="8458200" y="0"/>
            <a:ext cx="685800" cy="6858000"/>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Rectangle 7"/>
          <p:cNvSpPr/>
          <p:nvPr/>
        </p:nvSpPr>
        <p:spPr>
          <a:xfrm>
            <a:off x="8458200" y="5486400"/>
            <a:ext cx="685800" cy="6858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Slide Number Placeholder 5"/>
          <p:cNvSpPr>
            <a:spLocks noGrp="1"/>
          </p:cNvSpPr>
          <p:nvPr>
            <p:ph type="sldNum" sz="quarter" idx="4"/>
          </p:nvPr>
        </p:nvSpPr>
        <p:spPr>
          <a:xfrm>
            <a:off x="8531788" y="5648960"/>
            <a:ext cx="548640" cy="396240"/>
          </a:xfrm>
          <a:prstGeom prst="bracketPair">
            <a:avLst>
              <a:gd name="adj" fmla="val 17949"/>
            </a:avLst>
          </a:prstGeom>
          <a:ln w="19050">
            <a:solidFill>
              <a:srgbClr val="FFFFFF"/>
            </a:solidFill>
          </a:ln>
        </p:spPr>
        <p:txBody>
          <a:bodyPr vert="horz" lIns="0" tIns="0" rIns="0" bIns="0" rtlCol="0" anchor="ctr"/>
          <a:lstStyle>
            <a:lvl1pPr algn="ctr">
              <a:defRPr sz="1800">
                <a:solidFill>
                  <a:srgbClr val="FFFFFF"/>
                </a:solidFill>
              </a:defRPr>
            </a:lvl1pPr>
          </a:lstStyle>
          <a:p>
            <a:fld id="{036BD46B-AA7B-45BA-9CDE-052EB1F79944}" type="slidenum">
              <a:rPr lang="en-IN" smtClean="0"/>
              <a:t>‹#›</a:t>
            </a:fld>
            <a:endParaRPr lang="en-IN"/>
          </a:p>
        </p:txBody>
      </p:sp>
      <p:sp>
        <p:nvSpPr>
          <p:cNvPr id="5" name="Footer Placeholder 4"/>
          <p:cNvSpPr>
            <a:spLocks noGrp="1"/>
          </p:cNvSpPr>
          <p:nvPr>
            <p:ph type="ftr" sz="quarter" idx="3"/>
          </p:nvPr>
        </p:nvSpPr>
        <p:spPr>
          <a:xfrm rot="16200000">
            <a:off x="7586910" y="4048760"/>
            <a:ext cx="2367281" cy="365760"/>
          </a:xfrm>
          <a:prstGeom prst="rect">
            <a:avLst/>
          </a:prstGeom>
        </p:spPr>
        <p:txBody>
          <a:bodyPr vert="horz" lIns="91440" tIns="45720" rIns="91440" bIns="45720" rtlCol="0" anchor="ctr"/>
          <a:lstStyle>
            <a:lvl1pPr algn="r">
              <a:defRPr sz="1200">
                <a:solidFill>
                  <a:schemeClr val="bg2"/>
                </a:solidFill>
              </a:defRPr>
            </a:lvl1pPr>
          </a:lstStyle>
          <a:p>
            <a:endParaRPr lang="en-IN"/>
          </a:p>
        </p:txBody>
      </p:sp>
      <p:sp>
        <p:nvSpPr>
          <p:cNvPr id="4" name="Date Placeholder 3"/>
          <p:cNvSpPr>
            <a:spLocks noGrp="1"/>
          </p:cNvSpPr>
          <p:nvPr>
            <p:ph type="dt" sz="half" idx="2"/>
          </p:nvPr>
        </p:nvSpPr>
        <p:spPr>
          <a:xfrm rot="16200000">
            <a:off x="7551351" y="1645920"/>
            <a:ext cx="2438399" cy="365760"/>
          </a:xfrm>
          <a:prstGeom prst="rect">
            <a:avLst/>
          </a:prstGeom>
        </p:spPr>
        <p:txBody>
          <a:bodyPr vert="horz" lIns="91440" tIns="45720" rIns="91440" bIns="45720" rtlCol="0" anchor="ctr"/>
          <a:lstStyle>
            <a:lvl1pPr algn="l">
              <a:defRPr sz="1200">
                <a:solidFill>
                  <a:schemeClr val="bg2"/>
                </a:solidFill>
              </a:defRPr>
            </a:lvl1pPr>
          </a:lstStyle>
          <a:p>
            <a:fld id="{89A9C25A-A1AB-423A-AEAA-54B9F67347B8}" type="datetimeFigureOut">
              <a:rPr lang="en-IN" smtClean="0"/>
              <a:t>27-03-2026</a:t>
            </a:fld>
            <a:endParaRPr lang="en-IN"/>
          </a:p>
        </p:txBody>
      </p:sp>
    </p:spTree>
  </p:cSld>
  <p:clrMap bg1="lt1" tx1="dk1" bg2="lt2" tx2="dk2" accent1="accent1" accent2="accent2" accent3="accent3" accent4="accent4" accent5="accent5" accent6="accent6" hlink="hlink" folHlink="folHlink"/>
  <p:sldLayoutIdLst>
    <p:sldLayoutId id="2147483662" r:id="rId1"/>
    <p:sldLayoutId id="2147483663" r:id="rId2"/>
    <p:sldLayoutId id="2147483664" r:id="rId3"/>
    <p:sldLayoutId id="2147483665" r:id="rId4"/>
    <p:sldLayoutId id="2147483666" r:id="rId5"/>
    <p:sldLayoutId id="2147483667" r:id="rId6"/>
    <p:sldLayoutId id="2147483668" r:id="rId7"/>
    <p:sldLayoutId id="2147483669" r:id="rId8"/>
    <p:sldLayoutId id="2147483670" r:id="rId9"/>
    <p:sldLayoutId id="2147483671" r:id="rId10"/>
    <p:sldLayoutId id="2147483672" r:id="rId11"/>
    <p:sldLayoutId id="2147483673" r:id="rId12"/>
  </p:sldLayoutIdLst>
  <p:txStyles>
    <p:titleStyle>
      <a:lvl1pPr algn="l" defTabSz="914400" rtl="0" eaLnBrk="1" latinLnBrk="0" hangingPunct="1">
        <a:spcBef>
          <a:spcPct val="0"/>
        </a:spcBef>
        <a:buNone/>
        <a:defRPr sz="4600" kern="1200" cap="none" spc="-100" baseline="0">
          <a:ln>
            <a:noFill/>
          </a:ln>
          <a:solidFill>
            <a:schemeClr val="tx2"/>
          </a:solidFill>
          <a:effectLst/>
          <a:latin typeface="+mj-lt"/>
          <a:ea typeface="+mj-ea"/>
          <a:cs typeface="+mj-cs"/>
        </a:defRPr>
      </a:lvl1pPr>
    </p:titleStyle>
    <p:bodyStyle>
      <a:lvl1pPr marL="342900" indent="-228600" algn="l" defTabSz="914400" rtl="0" eaLnBrk="1" latinLnBrk="0" hangingPunct="1">
        <a:spcBef>
          <a:spcPct val="20000"/>
        </a:spcBef>
        <a:buClr>
          <a:schemeClr val="accent1"/>
        </a:buClr>
        <a:buFont typeface="Arial" pitchFamily="34" charset="0"/>
        <a:buChar char="•"/>
        <a:defRPr sz="2200" kern="1200">
          <a:solidFill>
            <a:schemeClr val="tx1"/>
          </a:solidFill>
          <a:latin typeface="+mn-lt"/>
          <a:ea typeface="+mn-ea"/>
          <a:cs typeface="+mn-cs"/>
        </a:defRPr>
      </a:lvl1pPr>
      <a:lvl2pPr marL="640080" indent="-228600" algn="l" defTabSz="914400" rtl="0" eaLnBrk="1" latinLnBrk="0" hangingPunct="1">
        <a:spcBef>
          <a:spcPct val="20000"/>
        </a:spcBef>
        <a:buClr>
          <a:schemeClr val="accent2"/>
        </a:buClr>
        <a:buFont typeface="Arial" pitchFamily="34" charset="0"/>
        <a:buChar char="•"/>
        <a:defRPr sz="2000" kern="1200">
          <a:solidFill>
            <a:schemeClr val="tx1"/>
          </a:solidFill>
          <a:latin typeface="+mn-lt"/>
          <a:ea typeface="+mn-ea"/>
          <a:cs typeface="+mn-cs"/>
        </a:defRPr>
      </a:lvl2pPr>
      <a:lvl3pPr marL="1005840" indent="-228600" algn="l" defTabSz="914400" rtl="0" eaLnBrk="1" latinLnBrk="0" hangingPunct="1">
        <a:spcBef>
          <a:spcPct val="20000"/>
        </a:spcBef>
        <a:buClr>
          <a:schemeClr val="accent3"/>
        </a:buClr>
        <a:buFont typeface="Arial" pitchFamily="34" charset="0"/>
        <a:buChar char="•"/>
        <a:defRPr sz="1800" kern="1200">
          <a:solidFill>
            <a:schemeClr val="tx1"/>
          </a:solidFill>
          <a:latin typeface="+mn-lt"/>
          <a:ea typeface="+mn-ea"/>
          <a:cs typeface="+mn-cs"/>
        </a:defRPr>
      </a:lvl3pPr>
      <a:lvl4pPr marL="1280160" indent="-228600" algn="l" defTabSz="914400" rtl="0" eaLnBrk="1" latinLnBrk="0" hangingPunct="1">
        <a:spcBef>
          <a:spcPct val="20000"/>
        </a:spcBef>
        <a:buClr>
          <a:schemeClr val="accent4"/>
        </a:buClr>
        <a:buFont typeface="Arial" pitchFamily="34" charset="0"/>
        <a:buChar char="•"/>
        <a:defRPr sz="1600" kern="1200">
          <a:solidFill>
            <a:schemeClr val="tx1"/>
          </a:solidFill>
          <a:latin typeface="+mn-lt"/>
          <a:ea typeface="+mn-ea"/>
          <a:cs typeface="+mn-cs"/>
        </a:defRPr>
      </a:lvl4pPr>
      <a:lvl5pPr marL="1554480" indent="-228600" algn="l" defTabSz="914400" rtl="0" eaLnBrk="1" latinLnBrk="0" hangingPunct="1">
        <a:spcBef>
          <a:spcPct val="20000"/>
        </a:spcBef>
        <a:buClr>
          <a:schemeClr val="accent5"/>
        </a:buClr>
        <a:buFont typeface="Arial" pitchFamily="34" charset="0"/>
        <a:buChar char="•"/>
        <a:defRPr sz="1400" kern="1200" baseline="0">
          <a:solidFill>
            <a:schemeClr val="tx1"/>
          </a:solidFill>
          <a:latin typeface="+mn-lt"/>
          <a:ea typeface="+mn-ea"/>
          <a:cs typeface="+mn-cs"/>
        </a:defRPr>
      </a:lvl5pPr>
      <a:lvl6pPr marL="1737360" indent="-182880" algn="l" defTabSz="914400" rtl="0" eaLnBrk="1" latinLnBrk="0" hangingPunct="1">
        <a:spcBef>
          <a:spcPct val="20000"/>
        </a:spcBef>
        <a:buClr>
          <a:schemeClr val="accent1"/>
        </a:buClr>
        <a:buFont typeface="Arial" pitchFamily="34" charset="0"/>
        <a:buChar char="•"/>
        <a:defRPr sz="1400" kern="1200" baseline="0">
          <a:solidFill>
            <a:schemeClr val="tx1"/>
          </a:solidFill>
          <a:latin typeface="+mn-lt"/>
          <a:ea typeface="+mn-ea"/>
          <a:cs typeface="+mn-cs"/>
        </a:defRPr>
      </a:lvl6pPr>
      <a:lvl7pPr marL="1920240" indent="-182880" algn="l" defTabSz="914400" rtl="0" eaLnBrk="1" latinLnBrk="0" hangingPunct="1">
        <a:spcBef>
          <a:spcPct val="20000"/>
        </a:spcBef>
        <a:buClr>
          <a:schemeClr val="accent2"/>
        </a:buClr>
        <a:buFont typeface="Arial" pitchFamily="34" charset="0"/>
        <a:buChar char="•"/>
        <a:defRPr sz="1400" kern="1200">
          <a:solidFill>
            <a:schemeClr val="tx1"/>
          </a:solidFill>
          <a:latin typeface="+mn-lt"/>
          <a:ea typeface="+mn-ea"/>
          <a:cs typeface="+mn-cs"/>
        </a:defRPr>
      </a:lvl7pPr>
      <a:lvl8pPr marL="2103120" indent="-182880" algn="l" defTabSz="914400" rtl="0" eaLnBrk="1" latinLnBrk="0" hangingPunct="1">
        <a:spcBef>
          <a:spcPct val="20000"/>
        </a:spcBef>
        <a:buClr>
          <a:schemeClr val="accent3"/>
        </a:buClr>
        <a:buFont typeface="Arial" pitchFamily="34" charset="0"/>
        <a:buChar char="•"/>
        <a:defRPr sz="1400" kern="1200">
          <a:solidFill>
            <a:schemeClr val="tx1"/>
          </a:solidFill>
          <a:latin typeface="+mn-lt"/>
          <a:ea typeface="+mn-ea"/>
          <a:cs typeface="+mn-cs"/>
        </a:defRPr>
      </a:lvl8pPr>
      <a:lvl9pPr marL="2286000" indent="-182880" algn="l" defTabSz="914400" rtl="0" eaLnBrk="1" latinLnBrk="0" hangingPunct="1">
        <a:spcBef>
          <a:spcPct val="20000"/>
        </a:spcBef>
        <a:buClr>
          <a:schemeClr val="accent4"/>
        </a:buClr>
        <a:buFont typeface="Arial" pitchFamily="34" charset="0"/>
        <a:buChar char="•"/>
        <a:defRPr sz="14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xml"/><Relationship Id="rId1" Type="http://schemas.openxmlformats.org/officeDocument/2006/relationships/slideLayout" Target="../slideLayouts/slideLayout12.xml"/></Relationships>
</file>

<file path=ppt/slides/_rels/slide2.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jpeg"/><Relationship Id="rId1" Type="http://schemas.openxmlformats.org/officeDocument/2006/relationships/slideLayout" Target="../slideLayouts/slideLayout12.xml"/></Relationships>
</file>

<file path=ppt/slides/_rels/slide3.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jpeg"/><Relationship Id="rId1" Type="http://schemas.openxmlformats.org/officeDocument/2006/relationships/slideLayout" Target="../slideLayouts/slideLayout12.xml"/><Relationship Id="rId4" Type="http://schemas.openxmlformats.org/officeDocument/2006/relationships/image" Target="../media/image5.png"/></Relationships>
</file>

<file path=ppt/slides/_rels/slide4.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jpeg"/><Relationship Id="rId1" Type="http://schemas.openxmlformats.org/officeDocument/2006/relationships/slideLayout" Target="../slideLayouts/slideLayout12.xml"/><Relationship Id="rId5" Type="http://schemas.openxmlformats.org/officeDocument/2006/relationships/image" Target="../media/image5.png"/><Relationship Id="rId4" Type="http://schemas.openxmlformats.org/officeDocument/2006/relationships/image" Target="../media/image6.png"/></Relationships>
</file>

<file path=ppt/slides/_rels/slide5.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jpeg"/><Relationship Id="rId1" Type="http://schemas.openxmlformats.org/officeDocument/2006/relationships/slideLayout" Target="../slideLayouts/slideLayout12.xml"/><Relationship Id="rId6" Type="http://schemas.openxmlformats.org/officeDocument/2006/relationships/image" Target="../media/image7.png"/><Relationship Id="rId5" Type="http://schemas.openxmlformats.org/officeDocument/2006/relationships/image" Target="../media/image5.png"/><Relationship Id="rId4" Type="http://schemas.openxmlformats.org/officeDocument/2006/relationships/image" Target="../media/image6.png"/></Relationships>
</file>

<file path=ppt/slides/_rels/slide6.xml.rels><?xml version="1.0" encoding="UTF-8" standalone="yes"?>
<Relationships xmlns="http://schemas.openxmlformats.org/package/2006/relationships"><Relationship Id="rId3" Type="http://schemas.openxmlformats.org/officeDocument/2006/relationships/image" Target="../media/image4.png"/><Relationship Id="rId7" Type="http://schemas.openxmlformats.org/officeDocument/2006/relationships/image" Target="../media/image7.png"/><Relationship Id="rId2" Type="http://schemas.openxmlformats.org/officeDocument/2006/relationships/image" Target="../media/image3.jpeg"/><Relationship Id="rId1" Type="http://schemas.openxmlformats.org/officeDocument/2006/relationships/slideLayout" Target="../slideLayouts/slideLayout12.xml"/><Relationship Id="rId6" Type="http://schemas.openxmlformats.org/officeDocument/2006/relationships/image" Target="../media/image8.png"/><Relationship Id="rId5" Type="http://schemas.openxmlformats.org/officeDocument/2006/relationships/image" Target="../media/image5.png"/><Relationship Id="rId4" Type="http://schemas.openxmlformats.org/officeDocument/2006/relationships/image" Target="../media/image6.png"/></Relationships>
</file>

<file path=ppt/slides/_rels/slide7.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jpeg"/><Relationship Id="rId1" Type="http://schemas.openxmlformats.org/officeDocument/2006/relationships/slideLayout" Target="../slideLayouts/slideLayout12.xml"/><Relationship Id="rId4" Type="http://schemas.openxmlformats.org/officeDocument/2006/relationships/image" Target="../media/image9.jpeg"/></Relationships>
</file>

<file path=ppt/slides/_rels/slide8.xml.rels><?xml version="1.0" encoding="UTF-8" standalone="yes"?>
<Relationships xmlns="http://schemas.openxmlformats.org/package/2006/relationships"><Relationship Id="rId8" Type="http://schemas.openxmlformats.org/officeDocument/2006/relationships/image" Target="../media/image15.png"/><Relationship Id="rId13" Type="http://schemas.openxmlformats.org/officeDocument/2006/relationships/image" Target="../media/image20.png"/><Relationship Id="rId3" Type="http://schemas.openxmlformats.org/officeDocument/2006/relationships/image" Target="../media/image10.png"/><Relationship Id="rId7" Type="http://schemas.openxmlformats.org/officeDocument/2006/relationships/image" Target="../media/image14.png"/><Relationship Id="rId12" Type="http://schemas.openxmlformats.org/officeDocument/2006/relationships/image" Target="../media/image19.png"/><Relationship Id="rId2" Type="http://schemas.openxmlformats.org/officeDocument/2006/relationships/notesSlide" Target="../notesSlides/notesSlide2.xml"/><Relationship Id="rId1" Type="http://schemas.openxmlformats.org/officeDocument/2006/relationships/slideLayout" Target="../slideLayouts/slideLayout12.xml"/><Relationship Id="rId6" Type="http://schemas.openxmlformats.org/officeDocument/2006/relationships/image" Target="../media/image13.png"/><Relationship Id="rId11" Type="http://schemas.openxmlformats.org/officeDocument/2006/relationships/image" Target="../media/image18.png"/><Relationship Id="rId5" Type="http://schemas.openxmlformats.org/officeDocument/2006/relationships/image" Target="../media/image12.png"/><Relationship Id="rId10" Type="http://schemas.openxmlformats.org/officeDocument/2006/relationships/image" Target="../media/image17.png"/><Relationship Id="rId4" Type="http://schemas.openxmlformats.org/officeDocument/2006/relationships/image" Target="../media/image11.png"/><Relationship Id="rId9" Type="http://schemas.openxmlformats.org/officeDocument/2006/relationships/image" Target="../media/image16.png"/></Relationships>
</file>

<file path=ppt/slides/_rels/slide9.xml.rels><?xml version="1.0" encoding="UTF-8" standalone="yes"?>
<Relationships xmlns="http://schemas.openxmlformats.org/package/2006/relationships"><Relationship Id="rId8" Type="http://schemas.openxmlformats.org/officeDocument/2006/relationships/image" Target="../media/image26.png"/><Relationship Id="rId3" Type="http://schemas.openxmlformats.org/officeDocument/2006/relationships/image" Target="../media/image22.png"/><Relationship Id="rId7" Type="http://schemas.microsoft.com/office/2007/relationships/hdphoto" Target="../media/hdphoto1.wdp"/><Relationship Id="rId2" Type="http://schemas.openxmlformats.org/officeDocument/2006/relationships/image" Target="../media/image21.jpeg"/><Relationship Id="rId1" Type="http://schemas.openxmlformats.org/officeDocument/2006/relationships/slideLayout" Target="../slideLayouts/slideLayout12.xml"/><Relationship Id="rId6" Type="http://schemas.openxmlformats.org/officeDocument/2006/relationships/image" Target="../media/image25.png"/><Relationship Id="rId5" Type="http://schemas.openxmlformats.org/officeDocument/2006/relationships/image" Target="../media/image24.png"/><Relationship Id="rId10" Type="http://schemas.openxmlformats.org/officeDocument/2006/relationships/image" Target="../media/image28.jpeg"/><Relationship Id="rId4" Type="http://schemas.openxmlformats.org/officeDocument/2006/relationships/image" Target="../media/image23.png"/><Relationship Id="rId9" Type="http://schemas.openxmlformats.org/officeDocument/2006/relationships/image" Target="../media/image27.png"/></Relationships>
</file>

<file path=ppt/slides/_rels/slide10.xml.rels><?xml version="1.0" encoding="UTF-8" standalone="yes"?>
<Relationships xmlns="http://schemas.openxmlformats.org/package/2006/relationships"><Relationship Id="rId2" Type="http://schemas.openxmlformats.org/officeDocument/2006/relationships/image" Target="../media/image29.png"/><Relationship Id="rId1" Type="http://schemas.openxmlformats.org/officeDocument/2006/relationships/slideLayout" Target="../slideLayouts/slideLayout1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3.xml.rels><?xml version="1.0" encoding="UTF-8" standalone="yes"?>
<Relationships xmlns="http://schemas.openxmlformats.org/package/2006/relationships"><Relationship Id="rId8" Type="http://schemas.openxmlformats.org/officeDocument/2006/relationships/image" Target="../media/image36.png"/><Relationship Id="rId3" Type="http://schemas.openxmlformats.org/officeDocument/2006/relationships/image" Target="../media/image31.png"/><Relationship Id="rId7" Type="http://schemas.openxmlformats.org/officeDocument/2006/relationships/image" Target="../media/image35.png"/><Relationship Id="rId2" Type="http://schemas.openxmlformats.org/officeDocument/2006/relationships/image" Target="../media/image30.png"/><Relationship Id="rId1" Type="http://schemas.openxmlformats.org/officeDocument/2006/relationships/slideLayout" Target="../slideLayouts/slideLayout12.xml"/><Relationship Id="rId6" Type="http://schemas.openxmlformats.org/officeDocument/2006/relationships/image" Target="../media/image34.png"/><Relationship Id="rId5" Type="http://schemas.openxmlformats.org/officeDocument/2006/relationships/image" Target="../media/image33.png"/><Relationship Id="rId10" Type="http://schemas.openxmlformats.org/officeDocument/2006/relationships/image" Target="../media/image38.png"/><Relationship Id="rId4" Type="http://schemas.openxmlformats.org/officeDocument/2006/relationships/image" Target="../media/image32.png"/><Relationship Id="rId9" Type="http://schemas.openxmlformats.org/officeDocument/2006/relationships/image" Target="../media/image37.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5.xml.rels><?xml version="1.0" encoding="UTF-8" standalone="yes"?>
<Relationships xmlns="http://schemas.openxmlformats.org/package/2006/relationships"><Relationship Id="rId3" Type="http://schemas.openxmlformats.org/officeDocument/2006/relationships/image" Target="../media/image39.png"/><Relationship Id="rId2" Type="http://schemas.openxmlformats.org/officeDocument/2006/relationships/notesSlide" Target="../notesSlides/notesSlide3.xml"/><Relationship Id="rId1" Type="http://schemas.openxmlformats.org/officeDocument/2006/relationships/slideLayout" Target="../slideLayouts/slideLayout12.xml"/><Relationship Id="rId4" Type="http://schemas.openxmlformats.org/officeDocument/2006/relationships/image" Target="../media/image40.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17.xml.rels><?xml version="1.0" encoding="UTF-8" standalone="yes"?>
<Relationships xmlns="http://schemas.openxmlformats.org/package/2006/relationships"><Relationship Id="rId8" Type="http://schemas.openxmlformats.org/officeDocument/2006/relationships/image" Target="../media/image45.png"/><Relationship Id="rId13" Type="http://schemas.openxmlformats.org/officeDocument/2006/relationships/image" Target="../media/image50.png"/><Relationship Id="rId3" Type="http://schemas.openxmlformats.org/officeDocument/2006/relationships/image" Target="../media/image41.png"/><Relationship Id="rId7" Type="http://schemas.openxmlformats.org/officeDocument/2006/relationships/image" Target="../media/image44.png"/><Relationship Id="rId12" Type="http://schemas.openxmlformats.org/officeDocument/2006/relationships/image" Target="../media/image49.png"/><Relationship Id="rId2" Type="http://schemas.openxmlformats.org/officeDocument/2006/relationships/notesSlide" Target="../notesSlides/notesSlide4.xml"/><Relationship Id="rId1" Type="http://schemas.openxmlformats.org/officeDocument/2006/relationships/slideLayout" Target="../slideLayouts/slideLayout12.xml"/><Relationship Id="rId6" Type="http://schemas.openxmlformats.org/officeDocument/2006/relationships/image" Target="../media/image43.png"/><Relationship Id="rId11" Type="http://schemas.openxmlformats.org/officeDocument/2006/relationships/image" Target="../media/image48.png"/><Relationship Id="rId5" Type="http://schemas.openxmlformats.org/officeDocument/2006/relationships/image" Target="../media/image42.jpeg"/><Relationship Id="rId10" Type="http://schemas.openxmlformats.org/officeDocument/2006/relationships/image" Target="../media/image47.png"/><Relationship Id="rId4" Type="http://schemas.openxmlformats.org/officeDocument/2006/relationships/image" Target="../media/image34.png"/><Relationship Id="rId9" Type="http://schemas.openxmlformats.org/officeDocument/2006/relationships/image" Target="../media/image46.png"/></Relationships>
</file>

<file path=ppt/slides/_rels/slide18.xml.rels><?xml version="1.0" encoding="UTF-8" standalone="yes"?>
<Relationships xmlns="http://schemas.openxmlformats.org/package/2006/relationships"><Relationship Id="rId2" Type="http://schemas.openxmlformats.org/officeDocument/2006/relationships/image" Target="../media/image51.png"/><Relationship Id="rId1" Type="http://schemas.openxmlformats.org/officeDocument/2006/relationships/slideLayout" Target="../slideLayouts/slideLayout1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22.xml.rels><?xml version="1.0" encoding="UTF-8" standalone="yes"?>
<Relationships xmlns="http://schemas.openxmlformats.org/package/2006/relationships"><Relationship Id="rId2" Type="http://schemas.openxmlformats.org/officeDocument/2006/relationships/image" Target="../media/image52.png"/><Relationship Id="rId1" Type="http://schemas.openxmlformats.org/officeDocument/2006/relationships/slideLayout" Target="../slideLayouts/slideLayout1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24.xml.rels><?xml version="1.0" encoding="UTF-8" standalone="yes"?>
<Relationships xmlns="http://schemas.openxmlformats.org/package/2006/relationships"><Relationship Id="rId2" Type="http://schemas.openxmlformats.org/officeDocument/2006/relationships/image" Target="../media/image53.PNG"/><Relationship Id="rId1" Type="http://schemas.openxmlformats.org/officeDocument/2006/relationships/slideLayout" Target="../slideLayouts/slideLayout12.xml"/></Relationships>
</file>

<file path=ppt/slides/_rels/slide25.xml.rels><?xml version="1.0" encoding="UTF-8" standalone="yes"?>
<Relationships xmlns="http://schemas.openxmlformats.org/package/2006/relationships"><Relationship Id="rId2" Type="http://schemas.openxmlformats.org/officeDocument/2006/relationships/image" Target="../media/image54.png"/><Relationship Id="rId1" Type="http://schemas.openxmlformats.org/officeDocument/2006/relationships/slideLayout" Target="../slideLayouts/slideLayout12.xml"/></Relationships>
</file>

<file path=ppt/slides/_rels/slide26.xml.rels><?xml version="1.0" encoding="UTF-8" standalone="yes"?>
<Relationships xmlns="http://schemas.openxmlformats.org/package/2006/relationships"><Relationship Id="rId2" Type="http://schemas.openxmlformats.org/officeDocument/2006/relationships/image" Target="../media/image55.png"/><Relationship Id="rId1" Type="http://schemas.openxmlformats.org/officeDocument/2006/relationships/slideLayout" Target="../slideLayouts/slideLayout12.xml"/></Relationships>
</file>

<file path=ppt/slides/_rels/slide27.xml.rels><?xml version="1.0" encoding="UTF-8" standalone="yes"?>
<Relationships xmlns="http://schemas.openxmlformats.org/package/2006/relationships"><Relationship Id="rId2" Type="http://schemas.openxmlformats.org/officeDocument/2006/relationships/image" Target="../media/image56.png"/><Relationship Id="rId1" Type="http://schemas.openxmlformats.org/officeDocument/2006/relationships/slideLayout" Target="../slideLayouts/slideLayout1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31.xml.rels><?xml version="1.0" encoding="UTF-8" standalone="yes"?>
<Relationships xmlns="http://schemas.openxmlformats.org/package/2006/relationships"><Relationship Id="rId2" Type="http://schemas.openxmlformats.org/officeDocument/2006/relationships/image" Target="../media/image57.png"/><Relationship Id="rId1" Type="http://schemas.openxmlformats.org/officeDocument/2006/relationships/slideLayout" Target="../slideLayouts/slideLayout1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35.xml.rels><?xml version="1.0" encoding="UTF-8" standalone="yes"?>
<Relationships xmlns="http://schemas.openxmlformats.org/package/2006/relationships"><Relationship Id="rId2" Type="http://schemas.openxmlformats.org/officeDocument/2006/relationships/image" Target="../media/image58.png"/><Relationship Id="rId1" Type="http://schemas.openxmlformats.org/officeDocument/2006/relationships/slideLayout" Target="../slideLayouts/slideLayout12.xml"/></Relationships>
</file>

<file path=ppt/slides/_rels/slide36.xml.rels><?xml version="1.0" encoding="UTF-8" standalone="yes"?>
<Relationships xmlns="http://schemas.openxmlformats.org/package/2006/relationships"><Relationship Id="rId2" Type="http://schemas.openxmlformats.org/officeDocument/2006/relationships/hyperlink" Target="https://cloud.google.com/about/locations#americas" TargetMode="External"/><Relationship Id="rId1" Type="http://schemas.openxmlformats.org/officeDocument/2006/relationships/slideLayout" Target="../slideLayouts/slideLayout12.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38.xml.rels><?xml version="1.0" encoding="UTF-8" standalone="yes"?>
<Relationships xmlns="http://schemas.openxmlformats.org/package/2006/relationships"><Relationship Id="rId3" Type="http://schemas.openxmlformats.org/officeDocument/2006/relationships/image" Target="../media/image60.png"/><Relationship Id="rId2" Type="http://schemas.openxmlformats.org/officeDocument/2006/relationships/image" Target="../media/image59.png"/><Relationship Id="rId1" Type="http://schemas.openxmlformats.org/officeDocument/2006/relationships/slideLayout" Target="../slideLayouts/slideLayout12.xml"/></Relationships>
</file>

<file path=ppt/slides/_rels/slide39.xml.rels><?xml version="1.0" encoding="UTF-8" standalone="yes"?>
<Relationships xmlns="http://schemas.openxmlformats.org/package/2006/relationships"><Relationship Id="rId3" Type="http://schemas.openxmlformats.org/officeDocument/2006/relationships/image" Target="../media/image61.png"/><Relationship Id="rId2" Type="http://schemas.openxmlformats.org/officeDocument/2006/relationships/notesSlide" Target="../notesSlides/notesSlide5.xml"/><Relationship Id="rId1" Type="http://schemas.openxmlformats.org/officeDocument/2006/relationships/slideLayout" Target="../slideLayouts/slideLayout12.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41.xml.rels><?xml version="1.0" encoding="UTF-8" standalone="yes"?>
<Relationships xmlns="http://schemas.openxmlformats.org/package/2006/relationships"><Relationship Id="rId8" Type="http://schemas.openxmlformats.org/officeDocument/2006/relationships/image" Target="../media/image68.png"/><Relationship Id="rId3" Type="http://schemas.openxmlformats.org/officeDocument/2006/relationships/image" Target="../media/image63.png"/><Relationship Id="rId7" Type="http://schemas.openxmlformats.org/officeDocument/2006/relationships/image" Target="../media/image67.png"/><Relationship Id="rId2" Type="http://schemas.openxmlformats.org/officeDocument/2006/relationships/image" Target="../media/image62.png"/><Relationship Id="rId1" Type="http://schemas.openxmlformats.org/officeDocument/2006/relationships/slideLayout" Target="../slideLayouts/slideLayout12.xml"/><Relationship Id="rId6" Type="http://schemas.openxmlformats.org/officeDocument/2006/relationships/image" Target="../media/image66.png"/><Relationship Id="rId11" Type="http://schemas.openxmlformats.org/officeDocument/2006/relationships/image" Target="../media/image71.png"/><Relationship Id="rId5" Type="http://schemas.openxmlformats.org/officeDocument/2006/relationships/image" Target="../media/image65.png"/><Relationship Id="rId10" Type="http://schemas.openxmlformats.org/officeDocument/2006/relationships/image" Target="../media/image70.png"/><Relationship Id="rId4" Type="http://schemas.openxmlformats.org/officeDocument/2006/relationships/image" Target="../media/image64.png"/><Relationship Id="rId9" Type="http://schemas.openxmlformats.org/officeDocument/2006/relationships/image" Target="../media/image69.png"/></Relationships>
</file>

<file path=ppt/slides/_rels/slide42.xml.rels><?xml version="1.0" encoding="UTF-8" standalone="yes"?>
<Relationships xmlns="http://schemas.openxmlformats.org/package/2006/relationships"><Relationship Id="rId2" Type="http://schemas.openxmlformats.org/officeDocument/2006/relationships/image" Target="../media/image72.png"/><Relationship Id="rId1" Type="http://schemas.openxmlformats.org/officeDocument/2006/relationships/slideLayout" Target="../slideLayouts/slideLayout12.xml"/></Relationships>
</file>

<file path=ppt/slides/_rels/slide43.xml.rels><?xml version="1.0" encoding="UTF-8" standalone="yes"?>
<Relationships xmlns="http://schemas.openxmlformats.org/package/2006/relationships"><Relationship Id="rId2" Type="http://schemas.openxmlformats.org/officeDocument/2006/relationships/image" Target="../media/image73.png"/><Relationship Id="rId1" Type="http://schemas.openxmlformats.org/officeDocument/2006/relationships/slideLayout" Target="../slideLayouts/slideLayout12.xml"/></Relationships>
</file>

<file path=ppt/slides/_rels/slide44.xml.rels><?xml version="1.0" encoding="UTF-8" standalone="yes"?>
<Relationships xmlns="http://schemas.openxmlformats.org/package/2006/relationships"><Relationship Id="rId3" Type="http://schemas.openxmlformats.org/officeDocument/2006/relationships/image" Target="../media/image74.png"/><Relationship Id="rId2" Type="http://schemas.openxmlformats.org/officeDocument/2006/relationships/notesSlide" Target="../notesSlides/notesSlide6.xml"/><Relationship Id="rId1" Type="http://schemas.openxmlformats.org/officeDocument/2006/relationships/slideLayout" Target="../slideLayouts/slideLayout12.xml"/></Relationships>
</file>

<file path=ppt/slides/_rels/slide45.xml.rels><?xml version="1.0" encoding="UTF-8" standalone="yes"?>
<Relationships xmlns="http://schemas.openxmlformats.org/package/2006/relationships"><Relationship Id="rId2" Type="http://schemas.openxmlformats.org/officeDocument/2006/relationships/image" Target="../media/image75.png"/><Relationship Id="rId1" Type="http://schemas.openxmlformats.org/officeDocument/2006/relationships/slideLayout" Target="../slideLayouts/slideLayout12.xml"/></Relationships>
</file>

<file path=ppt/slides/_rels/slide46.xml.rels><?xml version="1.0" encoding="UTF-8" standalone="yes"?>
<Relationships xmlns="http://schemas.openxmlformats.org/package/2006/relationships"><Relationship Id="rId2" Type="http://schemas.openxmlformats.org/officeDocument/2006/relationships/image" Target="../media/image76.png"/><Relationship Id="rId1" Type="http://schemas.openxmlformats.org/officeDocument/2006/relationships/slideLayout" Target="../slideLayouts/slideLayout12.xml"/></Relationships>
</file>

<file path=ppt/slides/_rels/slide47.xml.rels><?xml version="1.0" encoding="UTF-8" standalone="yes"?>
<Relationships xmlns="http://schemas.openxmlformats.org/package/2006/relationships"><Relationship Id="rId3" Type="http://schemas.openxmlformats.org/officeDocument/2006/relationships/image" Target="../media/image78.png"/><Relationship Id="rId2" Type="http://schemas.openxmlformats.org/officeDocument/2006/relationships/image" Target="../media/image77.png"/><Relationship Id="rId1" Type="http://schemas.openxmlformats.org/officeDocument/2006/relationships/slideLayout" Target="../slideLayouts/slideLayout12.xml"/><Relationship Id="rId6" Type="http://schemas.openxmlformats.org/officeDocument/2006/relationships/image" Target="../media/image81.png"/><Relationship Id="rId5" Type="http://schemas.openxmlformats.org/officeDocument/2006/relationships/image" Target="../media/image80.png"/><Relationship Id="rId4" Type="http://schemas.openxmlformats.org/officeDocument/2006/relationships/image" Target="../media/image79.png"/></Relationships>
</file>

<file path=ppt/slides/_rels/slide48.xml.rels><?xml version="1.0" encoding="UTF-8" standalone="yes"?>
<Relationships xmlns="http://schemas.openxmlformats.org/package/2006/relationships"><Relationship Id="rId2" Type="http://schemas.openxmlformats.org/officeDocument/2006/relationships/image" Target="../media/image82.png"/><Relationship Id="rId1" Type="http://schemas.openxmlformats.org/officeDocument/2006/relationships/slideLayout" Target="../slideLayouts/slideLayout12.xml"/></Relationships>
</file>

<file path=ppt/slides/_rels/slide49.xml.rels><?xml version="1.0" encoding="UTF-8" standalone="yes"?>
<Relationships xmlns="http://schemas.openxmlformats.org/package/2006/relationships"><Relationship Id="rId2" Type="http://schemas.openxmlformats.org/officeDocument/2006/relationships/image" Target="../media/image82.png"/><Relationship Id="rId1" Type="http://schemas.openxmlformats.org/officeDocument/2006/relationships/slideLayout" Target="../slideLayouts/slideLayout12.xml"/></Relationships>
</file>

<file path=ppt/slides/_rels/slide50.xml.rels><?xml version="1.0" encoding="UTF-8" standalone="yes"?>
<Relationships xmlns="http://schemas.openxmlformats.org/package/2006/relationships"><Relationship Id="rId2" Type="http://schemas.openxmlformats.org/officeDocument/2006/relationships/image" Target="../media/image82.png"/><Relationship Id="rId1" Type="http://schemas.openxmlformats.org/officeDocument/2006/relationships/slideLayout" Target="../slideLayouts/slideLayout12.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6.xml.rels><?xml version="1.0" encoding="UTF-8" standalone="yes"?>
<Relationships xmlns="http://schemas.openxmlformats.org/package/2006/relationships"><Relationship Id="rId3" Type="http://schemas.openxmlformats.org/officeDocument/2006/relationships/image" Target="../media/image84.png"/><Relationship Id="rId7" Type="http://schemas.openxmlformats.org/officeDocument/2006/relationships/image" Target="../media/image88.png"/><Relationship Id="rId2" Type="http://schemas.openxmlformats.org/officeDocument/2006/relationships/image" Target="../media/image83.png"/><Relationship Id="rId1" Type="http://schemas.openxmlformats.org/officeDocument/2006/relationships/slideLayout" Target="../slideLayouts/slideLayout12.xml"/><Relationship Id="rId6" Type="http://schemas.openxmlformats.org/officeDocument/2006/relationships/image" Target="../media/image87.png"/><Relationship Id="rId5" Type="http://schemas.openxmlformats.org/officeDocument/2006/relationships/image" Target="../media/image86.png"/><Relationship Id="rId4" Type="http://schemas.openxmlformats.org/officeDocument/2006/relationships/image" Target="../media/image85.png"/></Relationships>
</file>

<file path=ppt/slides/_rels/slide57.xml.rels><?xml version="1.0" encoding="UTF-8" standalone="yes"?>
<Relationships xmlns="http://schemas.openxmlformats.org/package/2006/relationships"><Relationship Id="rId2" Type="http://schemas.openxmlformats.org/officeDocument/2006/relationships/image" Target="../media/image89.png"/><Relationship Id="rId1" Type="http://schemas.openxmlformats.org/officeDocument/2006/relationships/slideLayout" Target="../slideLayouts/slideLayout12.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59.xml.rels><?xml version="1.0" encoding="UTF-8" standalone="yes"?>
<Relationships xmlns="http://schemas.openxmlformats.org/package/2006/relationships"><Relationship Id="rId2" Type="http://schemas.openxmlformats.org/officeDocument/2006/relationships/image" Target="../media/image90.png"/><Relationship Id="rId1" Type="http://schemas.openxmlformats.org/officeDocument/2006/relationships/slideLayout" Target="../slideLayouts/slideLayout12.xml"/></Relationships>
</file>

<file path=ppt/slides/_rels/slide60.xml.rels><?xml version="1.0" encoding="UTF-8" standalone="yes"?>
<Relationships xmlns="http://schemas.openxmlformats.org/package/2006/relationships"><Relationship Id="rId2" Type="http://schemas.openxmlformats.org/officeDocument/2006/relationships/image" Target="../media/image89.png"/><Relationship Id="rId1" Type="http://schemas.openxmlformats.org/officeDocument/2006/relationships/slideLayout" Target="../slideLayouts/slideLayout12.xml"/></Relationships>
</file>

<file path=ppt/slides/_rels/slide61.xml.rels><?xml version="1.0" encoding="UTF-8" standalone="yes"?>
<Relationships xmlns="http://schemas.openxmlformats.org/package/2006/relationships"><Relationship Id="rId2" Type="http://schemas.openxmlformats.org/officeDocument/2006/relationships/image" Target="../media/image90.png"/><Relationship Id="rId1" Type="http://schemas.openxmlformats.org/officeDocument/2006/relationships/slideLayout" Target="../slideLayouts/slideLayout12.xml"/></Relationships>
</file>

<file path=ppt/slides/_rels/slide62.xml.rels><?xml version="1.0" encoding="UTF-8" standalone="yes"?>
<Relationships xmlns="http://schemas.openxmlformats.org/package/2006/relationships"><Relationship Id="rId2" Type="http://schemas.openxmlformats.org/officeDocument/2006/relationships/image" Target="../media/image90.png"/><Relationship Id="rId1" Type="http://schemas.openxmlformats.org/officeDocument/2006/relationships/slideLayout" Target="../slideLayouts/slideLayout12.xml"/></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65.xml.rels><?xml version="1.0" encoding="UTF-8" standalone="yes"?>
<Relationships xmlns="http://schemas.openxmlformats.org/package/2006/relationships"><Relationship Id="rId2" Type="http://schemas.openxmlformats.org/officeDocument/2006/relationships/image" Target="../media/image91.png"/><Relationship Id="rId1" Type="http://schemas.openxmlformats.org/officeDocument/2006/relationships/slideLayout" Target="../slideLayouts/slideLayout12.xml"/></Relationships>
</file>

<file path=ppt/slides/_rels/slide66.xml.rels><?xml version="1.0" encoding="UTF-8" standalone="yes"?>
<Relationships xmlns="http://schemas.openxmlformats.org/package/2006/relationships"><Relationship Id="rId2" Type="http://schemas.openxmlformats.org/officeDocument/2006/relationships/image" Target="../media/image92.png"/><Relationship Id="rId1" Type="http://schemas.openxmlformats.org/officeDocument/2006/relationships/slideLayout" Target="../slideLayouts/slideLayout12.xml"/></Relationships>
</file>

<file path=ppt/slides/_rels/slide67.xml.rels><?xml version="1.0" encoding="UTF-8" standalone="yes"?>
<Relationships xmlns="http://schemas.openxmlformats.org/package/2006/relationships"><Relationship Id="rId2" Type="http://schemas.openxmlformats.org/officeDocument/2006/relationships/image" Target="../media/image93.png"/><Relationship Id="rId1" Type="http://schemas.openxmlformats.org/officeDocument/2006/relationships/slideLayout" Target="../slideLayouts/slideLayout12.xml"/></Relationships>
</file>

<file path=ppt/slides/_rels/slide68.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69.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70.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71.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72.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73.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74.xml.rels><?xml version="1.0" encoding="UTF-8" standalone="yes"?>
<Relationships xmlns="http://schemas.openxmlformats.org/package/2006/relationships"><Relationship Id="rId2" Type="http://schemas.openxmlformats.org/officeDocument/2006/relationships/image" Target="../media/image94.png"/><Relationship Id="rId1" Type="http://schemas.openxmlformats.org/officeDocument/2006/relationships/slideLayout" Target="../slideLayouts/slideLayout12.xml"/></Relationships>
</file>

<file path=ppt/slides/_rels/slide75.xml.rels><?xml version="1.0" encoding="UTF-8" standalone="yes"?>
<Relationships xmlns="http://schemas.openxmlformats.org/package/2006/relationships"><Relationship Id="rId2" Type="http://schemas.openxmlformats.org/officeDocument/2006/relationships/image" Target="../media/image95.png"/><Relationship Id="rId1" Type="http://schemas.openxmlformats.org/officeDocument/2006/relationships/slideLayout" Target="../slideLayouts/slideLayout12.xml"/></Relationships>
</file>

<file path=ppt/slides/_rels/slide76.xml.rels><?xml version="1.0" encoding="UTF-8" standalone="yes"?>
<Relationships xmlns="http://schemas.openxmlformats.org/package/2006/relationships"><Relationship Id="rId3" Type="http://schemas.openxmlformats.org/officeDocument/2006/relationships/image" Target="../media/image97.png"/><Relationship Id="rId7" Type="http://schemas.openxmlformats.org/officeDocument/2006/relationships/image" Target="../media/image101.png"/><Relationship Id="rId2" Type="http://schemas.openxmlformats.org/officeDocument/2006/relationships/image" Target="../media/image96.png"/><Relationship Id="rId1" Type="http://schemas.openxmlformats.org/officeDocument/2006/relationships/slideLayout" Target="../slideLayouts/slideLayout12.xml"/><Relationship Id="rId6" Type="http://schemas.openxmlformats.org/officeDocument/2006/relationships/image" Target="../media/image100.png"/><Relationship Id="rId5" Type="http://schemas.openxmlformats.org/officeDocument/2006/relationships/image" Target="../media/image99.png"/><Relationship Id="rId4" Type="http://schemas.openxmlformats.org/officeDocument/2006/relationships/image" Target="../media/image98.png"/></Relationships>
</file>

<file path=ppt/slides/_rels/slide77.xml.rels><?xml version="1.0" encoding="UTF-8" standalone="yes"?>
<Relationships xmlns="http://schemas.openxmlformats.org/package/2006/relationships"><Relationship Id="rId2" Type="http://schemas.openxmlformats.org/officeDocument/2006/relationships/image" Target="../media/image102.png"/><Relationship Id="rId1" Type="http://schemas.openxmlformats.org/officeDocument/2006/relationships/slideLayout" Target="../slideLayouts/slideLayout12.xml"/></Relationships>
</file>

<file path=ppt/slides/_rels/slide78.xml.rels><?xml version="1.0" encoding="UTF-8" standalone="yes"?>
<Relationships xmlns="http://schemas.openxmlformats.org/package/2006/relationships"><Relationship Id="rId2" Type="http://schemas.openxmlformats.org/officeDocument/2006/relationships/image" Target="../media/image103.jpeg"/><Relationship Id="rId1" Type="http://schemas.openxmlformats.org/officeDocument/2006/relationships/slideLayout" Target="../slideLayouts/slideLayout12.xml"/></Relationships>
</file>

<file path=ppt/slides/_rels/slide79.xml.rels><?xml version="1.0" encoding="UTF-8" standalone="yes"?>
<Relationships xmlns="http://schemas.openxmlformats.org/package/2006/relationships"><Relationship Id="rId2" Type="http://schemas.openxmlformats.org/officeDocument/2006/relationships/image" Target="../media/image104.png"/><Relationship Id="rId1" Type="http://schemas.openxmlformats.org/officeDocument/2006/relationships/slideLayout" Target="../slideLayouts/slideLayout12.xml"/></Relationships>
</file>

<file path=ppt/slides/_rels/slide80.xml.rels><?xml version="1.0" encoding="UTF-8" standalone="yes"?>
<Relationships xmlns="http://schemas.openxmlformats.org/package/2006/relationships"><Relationship Id="rId2" Type="http://schemas.openxmlformats.org/officeDocument/2006/relationships/image" Target="../media/image105.png"/><Relationship Id="rId1" Type="http://schemas.openxmlformats.org/officeDocument/2006/relationships/slideLayout" Target="../slideLayouts/slideLayout12.xml"/></Relationships>
</file>

<file path=ppt/slides/_rels/slide81.xml.rels><?xml version="1.0" encoding="UTF-8" standalone="yes"?>
<Relationships xmlns="http://schemas.openxmlformats.org/package/2006/relationships"><Relationship Id="rId2" Type="http://schemas.openxmlformats.org/officeDocument/2006/relationships/image" Target="../media/image105.png"/><Relationship Id="rId1" Type="http://schemas.openxmlformats.org/officeDocument/2006/relationships/slideLayout" Target="../slideLayouts/slideLayout12.xml"/></Relationships>
</file>

<file path=ppt/slides/_rels/slide82.xml.rels><?xml version="1.0" encoding="UTF-8" standalone="yes"?>
<Relationships xmlns="http://schemas.openxmlformats.org/package/2006/relationships"><Relationship Id="rId2" Type="http://schemas.openxmlformats.org/officeDocument/2006/relationships/image" Target="../media/image106.png"/><Relationship Id="rId1" Type="http://schemas.openxmlformats.org/officeDocument/2006/relationships/slideLayout" Target="../slideLayouts/slideLayout12.xml"/></Relationships>
</file>

<file path=ppt/slides/_rels/slide83.xml.rels><?xml version="1.0" encoding="UTF-8" standalone="yes"?>
<Relationships xmlns="http://schemas.openxmlformats.org/package/2006/relationships"><Relationship Id="rId3" Type="http://schemas.openxmlformats.org/officeDocument/2006/relationships/image" Target="../media/image108.png"/><Relationship Id="rId7" Type="http://schemas.openxmlformats.org/officeDocument/2006/relationships/image" Target="../media/image112.png"/><Relationship Id="rId2" Type="http://schemas.openxmlformats.org/officeDocument/2006/relationships/image" Target="../media/image107.png"/><Relationship Id="rId1" Type="http://schemas.openxmlformats.org/officeDocument/2006/relationships/slideLayout" Target="../slideLayouts/slideLayout12.xml"/><Relationship Id="rId6" Type="http://schemas.openxmlformats.org/officeDocument/2006/relationships/image" Target="../media/image111.png"/><Relationship Id="rId5" Type="http://schemas.openxmlformats.org/officeDocument/2006/relationships/image" Target="../media/image110.png"/><Relationship Id="rId4" Type="http://schemas.openxmlformats.org/officeDocument/2006/relationships/image" Target="../media/image109.png"/></Relationships>
</file>

<file path=ppt/slides/_rels/slide84.xml.rels><?xml version="1.0" encoding="UTF-8" standalone="yes"?>
<Relationships xmlns="http://schemas.openxmlformats.org/package/2006/relationships"><Relationship Id="rId3" Type="http://schemas.openxmlformats.org/officeDocument/2006/relationships/image" Target="../media/image114.png"/><Relationship Id="rId2" Type="http://schemas.openxmlformats.org/officeDocument/2006/relationships/image" Target="../media/image113.png"/><Relationship Id="rId1" Type="http://schemas.openxmlformats.org/officeDocument/2006/relationships/slideLayout" Target="../slideLayouts/slideLayout12.xml"/><Relationship Id="rId4" Type="http://schemas.openxmlformats.org/officeDocument/2006/relationships/image" Target="../media/image115.png"/></Relationships>
</file>

<file path=ppt/slides/_rels/slide85.xml.rels><?xml version="1.0" encoding="UTF-8" standalone="yes"?>
<Relationships xmlns="http://schemas.openxmlformats.org/package/2006/relationships"><Relationship Id="rId3" Type="http://schemas.openxmlformats.org/officeDocument/2006/relationships/image" Target="../media/image117.png"/><Relationship Id="rId2" Type="http://schemas.openxmlformats.org/officeDocument/2006/relationships/image" Target="../media/image116.png"/><Relationship Id="rId1" Type="http://schemas.openxmlformats.org/officeDocument/2006/relationships/slideLayout" Target="../slideLayouts/slideLayout1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27" name="Picture 3"/>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004888" y="1366838"/>
            <a:ext cx="7134225" cy="4124325"/>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extLst>
      <p:ext uri="{BB962C8B-B14F-4D97-AF65-F5344CB8AC3E}">
        <p14:creationId xmlns:p14="http://schemas.microsoft.com/office/powerpoint/2010/main" val="287150236"/>
      </p:ext>
    </p:extLst>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1FE9E239-5D43-44EF-BA0D-32AA46121B5E}"/>
              </a:ext>
            </a:extLst>
          </p:cNvPr>
          <p:cNvSpPr>
            <a:spLocks noGrp="1"/>
          </p:cNvSpPr>
          <p:nvPr>
            <p:ph type="title"/>
          </p:nvPr>
        </p:nvSpPr>
        <p:spPr/>
        <p:txBody>
          <a:bodyPr/>
          <a:lstStyle/>
          <a:p>
            <a:r>
              <a:rPr lang="en-IN" dirty="0"/>
              <a:t>Traditional E-commerce Scenario</a:t>
            </a:r>
          </a:p>
        </p:txBody>
      </p:sp>
      <p:pic>
        <p:nvPicPr>
          <p:cNvPr id="4" name="Picture 3" descr="A picture containing text&#10;&#10;Description generated with very high confidence">
            <a:extLst>
              <a:ext uri="{FF2B5EF4-FFF2-40B4-BE49-F238E27FC236}">
                <a16:creationId xmlns:a16="http://schemas.microsoft.com/office/drawing/2014/main" xmlns="" id="{F044621E-4581-4E42-9CC1-701BCDCF0469}"/>
              </a:ext>
            </a:extLst>
          </p:cNvPr>
          <p:cNvPicPr>
            <a:picLocks noChangeAspect="1"/>
          </p:cNvPicPr>
          <p:nvPr/>
        </p:nvPicPr>
        <p:blipFill>
          <a:blip r:embed="rId2" cstate="print">
            <a:clrChange>
              <a:clrFrom>
                <a:srgbClr val="FFFFFF"/>
              </a:clrFrom>
              <a:clrTo>
                <a:srgbClr val="FFFFFF">
                  <a:alpha val="0"/>
                </a:srgbClr>
              </a:clrTo>
            </a:clrChange>
            <a:extLst>
              <a:ext uri="{28A0092B-C50C-407E-A947-70E740481C1C}">
                <a14:useLocalDpi xmlns:a14="http://schemas.microsoft.com/office/drawing/2010/main" val="0"/>
              </a:ext>
            </a:extLst>
          </a:blip>
          <a:stretch>
            <a:fillRect/>
          </a:stretch>
        </p:blipFill>
        <p:spPr>
          <a:xfrm>
            <a:off x="2495956" y="1741955"/>
            <a:ext cx="4152086" cy="4663376"/>
          </a:xfrm>
          <a:prstGeom prst="rect">
            <a:avLst/>
          </a:prstGeom>
        </p:spPr>
      </p:pic>
      <p:pic>
        <p:nvPicPr>
          <p:cNvPr id="5" name="Picture 4" descr="A close up of a sign&#10;&#10;Description generated with high confidence">
            <a:extLst>
              <a:ext uri="{FF2B5EF4-FFF2-40B4-BE49-F238E27FC236}">
                <a16:creationId xmlns:a16="http://schemas.microsoft.com/office/drawing/2014/main" xmlns="" id="{0745B724-1FEC-43C7-8FA1-0A3AC988435C}"/>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3749124" y="3946145"/>
            <a:ext cx="1645753" cy="2204060"/>
          </a:xfrm>
          <a:prstGeom prst="rect">
            <a:avLst/>
          </a:prstGeom>
        </p:spPr>
      </p:pic>
    </p:spTree>
    <p:extLst>
      <p:ext uri="{BB962C8B-B14F-4D97-AF65-F5344CB8AC3E}">
        <p14:creationId xmlns:p14="http://schemas.microsoft.com/office/powerpoint/2010/main" val="3469730862"/>
      </p:ext>
    </p:extLst>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1FE9E239-5D43-44EF-BA0D-32AA46121B5E}"/>
              </a:ext>
            </a:extLst>
          </p:cNvPr>
          <p:cNvSpPr>
            <a:spLocks noGrp="1"/>
          </p:cNvSpPr>
          <p:nvPr>
            <p:ph type="title"/>
          </p:nvPr>
        </p:nvSpPr>
        <p:spPr/>
        <p:txBody>
          <a:bodyPr/>
          <a:lstStyle/>
          <a:p>
            <a:r>
              <a:rPr lang="en-IN" dirty="0"/>
              <a:t>Traditional E-commerce Scenario</a:t>
            </a:r>
          </a:p>
        </p:txBody>
      </p:sp>
      <p:pic>
        <p:nvPicPr>
          <p:cNvPr id="4" name="Picture 3" descr="A picture containing text&#10;&#10;Description generated with very high confidence">
            <a:extLst>
              <a:ext uri="{FF2B5EF4-FFF2-40B4-BE49-F238E27FC236}">
                <a16:creationId xmlns:a16="http://schemas.microsoft.com/office/drawing/2014/main" xmlns="" id="{F044621E-4581-4E42-9CC1-701BCDCF0469}"/>
              </a:ext>
            </a:extLst>
          </p:cNvPr>
          <p:cNvPicPr>
            <a:picLocks noChangeAspect="1"/>
          </p:cNvPicPr>
          <p:nvPr/>
        </p:nvPicPr>
        <p:blipFill>
          <a:blip r:embed="rId2" cstate="print">
            <a:clrChange>
              <a:clrFrom>
                <a:srgbClr val="FFFFFF"/>
              </a:clrFrom>
              <a:clrTo>
                <a:srgbClr val="FFFFFF">
                  <a:alpha val="0"/>
                </a:srgbClr>
              </a:clrTo>
            </a:clrChange>
            <a:extLst>
              <a:ext uri="{28A0092B-C50C-407E-A947-70E740481C1C}">
                <a14:useLocalDpi xmlns:a14="http://schemas.microsoft.com/office/drawing/2010/main" val="0"/>
              </a:ext>
            </a:extLst>
          </a:blip>
          <a:stretch>
            <a:fillRect/>
          </a:stretch>
        </p:blipFill>
        <p:spPr>
          <a:xfrm>
            <a:off x="2495956" y="1741955"/>
            <a:ext cx="4152086" cy="4663376"/>
          </a:xfrm>
          <a:prstGeom prst="rect">
            <a:avLst/>
          </a:prstGeom>
        </p:spPr>
      </p:pic>
      <p:pic>
        <p:nvPicPr>
          <p:cNvPr id="5" name="Picture 4" descr="A close up of a sign&#10;&#10;Description generated with high confidence">
            <a:extLst>
              <a:ext uri="{FF2B5EF4-FFF2-40B4-BE49-F238E27FC236}">
                <a16:creationId xmlns:a16="http://schemas.microsoft.com/office/drawing/2014/main" xmlns="" id="{0745B724-1FEC-43C7-8FA1-0A3AC988435C}"/>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3749124" y="3946145"/>
            <a:ext cx="1645753" cy="2204060"/>
          </a:xfrm>
          <a:prstGeom prst="rect">
            <a:avLst/>
          </a:prstGeom>
        </p:spPr>
      </p:pic>
      <p:pic>
        <p:nvPicPr>
          <p:cNvPr id="7" name="Picture 6" descr="A close up of a sign&#10;&#10;Description generated with high confidence">
            <a:extLst>
              <a:ext uri="{FF2B5EF4-FFF2-40B4-BE49-F238E27FC236}">
                <a16:creationId xmlns:a16="http://schemas.microsoft.com/office/drawing/2014/main" xmlns="" id="{D53436A2-7F6D-46DA-9CA6-226492F1C03D}"/>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flipH="1">
            <a:off x="971601" y="4614257"/>
            <a:ext cx="948385" cy="1650023"/>
          </a:xfrm>
          <a:prstGeom prst="rect">
            <a:avLst/>
          </a:prstGeom>
        </p:spPr>
      </p:pic>
    </p:spTree>
    <p:extLst>
      <p:ext uri="{BB962C8B-B14F-4D97-AF65-F5344CB8AC3E}">
        <p14:creationId xmlns:p14="http://schemas.microsoft.com/office/powerpoint/2010/main" val="2397909302"/>
      </p:ext>
    </p:extLst>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1FE9E239-5D43-44EF-BA0D-32AA46121B5E}"/>
              </a:ext>
            </a:extLst>
          </p:cNvPr>
          <p:cNvSpPr>
            <a:spLocks noGrp="1"/>
          </p:cNvSpPr>
          <p:nvPr>
            <p:ph type="title"/>
          </p:nvPr>
        </p:nvSpPr>
        <p:spPr/>
        <p:txBody>
          <a:bodyPr/>
          <a:lstStyle/>
          <a:p>
            <a:r>
              <a:rPr lang="en-IN" dirty="0"/>
              <a:t>Traditional E-commerce Scenario</a:t>
            </a:r>
          </a:p>
        </p:txBody>
      </p:sp>
      <p:pic>
        <p:nvPicPr>
          <p:cNvPr id="4" name="Picture 3" descr="A picture containing text&#10;&#10;Description generated with very high confidence">
            <a:extLst>
              <a:ext uri="{FF2B5EF4-FFF2-40B4-BE49-F238E27FC236}">
                <a16:creationId xmlns:a16="http://schemas.microsoft.com/office/drawing/2014/main" xmlns="" id="{F044621E-4581-4E42-9CC1-701BCDCF0469}"/>
              </a:ext>
            </a:extLst>
          </p:cNvPr>
          <p:cNvPicPr>
            <a:picLocks noChangeAspect="1"/>
          </p:cNvPicPr>
          <p:nvPr/>
        </p:nvPicPr>
        <p:blipFill>
          <a:blip r:embed="rId2" cstate="print">
            <a:clrChange>
              <a:clrFrom>
                <a:srgbClr val="FFFFFF"/>
              </a:clrFrom>
              <a:clrTo>
                <a:srgbClr val="FFFFFF">
                  <a:alpha val="0"/>
                </a:srgbClr>
              </a:clrTo>
            </a:clrChange>
            <a:extLst>
              <a:ext uri="{28A0092B-C50C-407E-A947-70E740481C1C}">
                <a14:useLocalDpi xmlns:a14="http://schemas.microsoft.com/office/drawing/2010/main" val="0"/>
              </a:ext>
            </a:extLst>
          </a:blip>
          <a:stretch>
            <a:fillRect/>
          </a:stretch>
        </p:blipFill>
        <p:spPr>
          <a:xfrm>
            <a:off x="2495956" y="1741955"/>
            <a:ext cx="4152086" cy="4663376"/>
          </a:xfrm>
          <a:prstGeom prst="rect">
            <a:avLst/>
          </a:prstGeom>
        </p:spPr>
      </p:pic>
      <p:pic>
        <p:nvPicPr>
          <p:cNvPr id="5" name="Picture 4" descr="A close up of a sign&#10;&#10;Description generated with high confidence">
            <a:extLst>
              <a:ext uri="{FF2B5EF4-FFF2-40B4-BE49-F238E27FC236}">
                <a16:creationId xmlns:a16="http://schemas.microsoft.com/office/drawing/2014/main" xmlns="" id="{0745B724-1FEC-43C7-8FA1-0A3AC988435C}"/>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3749124" y="3946145"/>
            <a:ext cx="1645753" cy="2204060"/>
          </a:xfrm>
          <a:prstGeom prst="rect">
            <a:avLst/>
          </a:prstGeom>
        </p:spPr>
      </p:pic>
      <p:pic>
        <p:nvPicPr>
          <p:cNvPr id="6" name="Picture 5">
            <a:extLst>
              <a:ext uri="{FF2B5EF4-FFF2-40B4-BE49-F238E27FC236}">
                <a16:creationId xmlns:a16="http://schemas.microsoft.com/office/drawing/2014/main" xmlns="" id="{DDC35B64-0003-42FD-B79F-40B4C84C1DCA}"/>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730567" y="2094696"/>
            <a:ext cx="1588763" cy="1334304"/>
          </a:xfrm>
          <a:prstGeom prst="rect">
            <a:avLst/>
          </a:prstGeom>
        </p:spPr>
      </p:pic>
      <p:pic>
        <p:nvPicPr>
          <p:cNvPr id="7" name="Picture 6" descr="A close up of a sign&#10;&#10;Description generated with high confidence">
            <a:extLst>
              <a:ext uri="{FF2B5EF4-FFF2-40B4-BE49-F238E27FC236}">
                <a16:creationId xmlns:a16="http://schemas.microsoft.com/office/drawing/2014/main" xmlns="" id="{D53436A2-7F6D-46DA-9CA6-226492F1C03D}"/>
              </a:ext>
            </a:extLst>
          </p:cNvPr>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a:xfrm flipH="1">
            <a:off x="971601" y="4614257"/>
            <a:ext cx="948385" cy="1650023"/>
          </a:xfrm>
          <a:prstGeom prst="rect">
            <a:avLst/>
          </a:prstGeom>
        </p:spPr>
      </p:pic>
    </p:spTree>
    <p:extLst>
      <p:ext uri="{BB962C8B-B14F-4D97-AF65-F5344CB8AC3E}">
        <p14:creationId xmlns:p14="http://schemas.microsoft.com/office/powerpoint/2010/main" val="2352669418"/>
      </p:ext>
    </p:extLst>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1FE9E239-5D43-44EF-BA0D-32AA46121B5E}"/>
              </a:ext>
            </a:extLst>
          </p:cNvPr>
          <p:cNvSpPr>
            <a:spLocks noGrp="1"/>
          </p:cNvSpPr>
          <p:nvPr>
            <p:ph type="title"/>
          </p:nvPr>
        </p:nvSpPr>
        <p:spPr/>
        <p:txBody>
          <a:bodyPr/>
          <a:lstStyle/>
          <a:p>
            <a:r>
              <a:rPr lang="en-IN" dirty="0"/>
              <a:t>Traditional E-commerce Scenario</a:t>
            </a:r>
          </a:p>
        </p:txBody>
      </p:sp>
      <p:pic>
        <p:nvPicPr>
          <p:cNvPr id="4" name="Picture 3" descr="A picture containing text&#10;&#10;Description generated with very high confidence">
            <a:extLst>
              <a:ext uri="{FF2B5EF4-FFF2-40B4-BE49-F238E27FC236}">
                <a16:creationId xmlns:a16="http://schemas.microsoft.com/office/drawing/2014/main" xmlns="" id="{F044621E-4581-4E42-9CC1-701BCDCF0469}"/>
              </a:ext>
            </a:extLst>
          </p:cNvPr>
          <p:cNvPicPr>
            <a:picLocks noChangeAspect="1"/>
          </p:cNvPicPr>
          <p:nvPr/>
        </p:nvPicPr>
        <p:blipFill>
          <a:blip r:embed="rId2" cstate="print">
            <a:clrChange>
              <a:clrFrom>
                <a:srgbClr val="FFFFFF"/>
              </a:clrFrom>
              <a:clrTo>
                <a:srgbClr val="FFFFFF">
                  <a:alpha val="0"/>
                </a:srgbClr>
              </a:clrTo>
            </a:clrChange>
            <a:extLst>
              <a:ext uri="{28A0092B-C50C-407E-A947-70E740481C1C}">
                <a14:useLocalDpi xmlns:a14="http://schemas.microsoft.com/office/drawing/2010/main" val="0"/>
              </a:ext>
            </a:extLst>
          </a:blip>
          <a:stretch>
            <a:fillRect/>
          </a:stretch>
        </p:blipFill>
        <p:spPr>
          <a:xfrm>
            <a:off x="2495956" y="1741955"/>
            <a:ext cx="4152086" cy="4663376"/>
          </a:xfrm>
          <a:prstGeom prst="rect">
            <a:avLst/>
          </a:prstGeom>
        </p:spPr>
      </p:pic>
      <p:pic>
        <p:nvPicPr>
          <p:cNvPr id="5" name="Picture 4" descr="A close up of a sign&#10;&#10;Description generated with high confidence">
            <a:extLst>
              <a:ext uri="{FF2B5EF4-FFF2-40B4-BE49-F238E27FC236}">
                <a16:creationId xmlns:a16="http://schemas.microsoft.com/office/drawing/2014/main" xmlns="" id="{0745B724-1FEC-43C7-8FA1-0A3AC988435C}"/>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3749124" y="3946145"/>
            <a:ext cx="1645753" cy="2204060"/>
          </a:xfrm>
          <a:prstGeom prst="rect">
            <a:avLst/>
          </a:prstGeom>
        </p:spPr>
      </p:pic>
      <p:pic>
        <p:nvPicPr>
          <p:cNvPr id="6" name="Picture 5">
            <a:extLst>
              <a:ext uri="{FF2B5EF4-FFF2-40B4-BE49-F238E27FC236}">
                <a16:creationId xmlns:a16="http://schemas.microsoft.com/office/drawing/2014/main" xmlns="" id="{DDC35B64-0003-42FD-B79F-40B4C84C1DCA}"/>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730567" y="2094696"/>
            <a:ext cx="1588763" cy="1334304"/>
          </a:xfrm>
          <a:prstGeom prst="rect">
            <a:avLst/>
          </a:prstGeom>
        </p:spPr>
      </p:pic>
      <p:pic>
        <p:nvPicPr>
          <p:cNvPr id="7" name="Picture 6" descr="A close up of a sign&#10;&#10;Description generated with high confidence">
            <a:extLst>
              <a:ext uri="{FF2B5EF4-FFF2-40B4-BE49-F238E27FC236}">
                <a16:creationId xmlns:a16="http://schemas.microsoft.com/office/drawing/2014/main" xmlns="" id="{D53436A2-7F6D-46DA-9CA6-226492F1C03D}"/>
              </a:ext>
            </a:extLst>
          </p:cNvPr>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a:xfrm flipH="1">
            <a:off x="971601" y="4614257"/>
            <a:ext cx="948385" cy="1650023"/>
          </a:xfrm>
          <a:prstGeom prst="rect">
            <a:avLst/>
          </a:prstGeom>
        </p:spPr>
      </p:pic>
      <p:pic>
        <p:nvPicPr>
          <p:cNvPr id="9" name="Picture 8" descr="A picture containing device, gauge&#10;&#10;Description generated with high confidence">
            <a:extLst>
              <a:ext uri="{FF2B5EF4-FFF2-40B4-BE49-F238E27FC236}">
                <a16:creationId xmlns:a16="http://schemas.microsoft.com/office/drawing/2014/main" xmlns="" id="{619E391C-0BD5-4C1A-853D-D2E13D6EC8AC}"/>
              </a:ext>
            </a:extLst>
          </p:cNvPr>
          <p:cNvPicPr>
            <a:picLocks noChangeAspect="1"/>
          </p:cNvPicPr>
          <p:nvPr/>
        </p:nvPicPr>
        <p:blipFill>
          <a:blip r:embed="rId6" cstate="print">
            <a:duotone>
              <a:prstClr val="black"/>
              <a:schemeClr val="accent2">
                <a:tint val="45000"/>
                <a:satMod val="400000"/>
              </a:schemeClr>
            </a:duotone>
            <a:extLst>
              <a:ext uri="{28A0092B-C50C-407E-A947-70E740481C1C}">
                <a14:useLocalDpi xmlns:a14="http://schemas.microsoft.com/office/drawing/2010/main" val="0"/>
              </a:ext>
            </a:extLst>
          </a:blip>
          <a:stretch>
            <a:fillRect/>
          </a:stretch>
        </p:blipFill>
        <p:spPr>
          <a:xfrm>
            <a:off x="7002620" y="1492010"/>
            <a:ext cx="521708" cy="2539677"/>
          </a:xfrm>
          <a:prstGeom prst="rect">
            <a:avLst/>
          </a:prstGeom>
        </p:spPr>
      </p:pic>
    </p:spTree>
    <p:extLst>
      <p:ext uri="{BB962C8B-B14F-4D97-AF65-F5344CB8AC3E}">
        <p14:creationId xmlns:p14="http://schemas.microsoft.com/office/powerpoint/2010/main" val="4001119513"/>
      </p:ext>
    </p:extLst>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1FE9E239-5D43-44EF-BA0D-32AA46121B5E}"/>
              </a:ext>
            </a:extLst>
          </p:cNvPr>
          <p:cNvSpPr>
            <a:spLocks noGrp="1"/>
          </p:cNvSpPr>
          <p:nvPr>
            <p:ph type="title"/>
          </p:nvPr>
        </p:nvSpPr>
        <p:spPr/>
        <p:txBody>
          <a:bodyPr/>
          <a:lstStyle/>
          <a:p>
            <a:r>
              <a:rPr lang="en-IN" dirty="0"/>
              <a:t>Traditional E-commerce Scenario</a:t>
            </a:r>
          </a:p>
        </p:txBody>
      </p:sp>
      <p:pic>
        <p:nvPicPr>
          <p:cNvPr id="4" name="Picture 3" descr="A picture containing text&#10;&#10;Description generated with very high confidence">
            <a:extLst>
              <a:ext uri="{FF2B5EF4-FFF2-40B4-BE49-F238E27FC236}">
                <a16:creationId xmlns:a16="http://schemas.microsoft.com/office/drawing/2014/main" xmlns="" id="{F044621E-4581-4E42-9CC1-701BCDCF0469}"/>
              </a:ext>
            </a:extLst>
          </p:cNvPr>
          <p:cNvPicPr>
            <a:picLocks noChangeAspect="1"/>
          </p:cNvPicPr>
          <p:nvPr/>
        </p:nvPicPr>
        <p:blipFill>
          <a:blip r:embed="rId2" cstate="print">
            <a:clrChange>
              <a:clrFrom>
                <a:srgbClr val="FFFFFF"/>
              </a:clrFrom>
              <a:clrTo>
                <a:srgbClr val="FFFFFF">
                  <a:alpha val="0"/>
                </a:srgbClr>
              </a:clrTo>
            </a:clrChange>
            <a:extLst>
              <a:ext uri="{28A0092B-C50C-407E-A947-70E740481C1C}">
                <a14:useLocalDpi xmlns:a14="http://schemas.microsoft.com/office/drawing/2010/main" val="0"/>
              </a:ext>
            </a:extLst>
          </a:blip>
          <a:stretch>
            <a:fillRect/>
          </a:stretch>
        </p:blipFill>
        <p:spPr>
          <a:xfrm>
            <a:off x="2495956" y="1741955"/>
            <a:ext cx="4152086" cy="4663376"/>
          </a:xfrm>
          <a:prstGeom prst="rect">
            <a:avLst/>
          </a:prstGeom>
        </p:spPr>
      </p:pic>
      <p:pic>
        <p:nvPicPr>
          <p:cNvPr id="5" name="Picture 4" descr="A close up of a sign&#10;&#10;Description generated with high confidence">
            <a:extLst>
              <a:ext uri="{FF2B5EF4-FFF2-40B4-BE49-F238E27FC236}">
                <a16:creationId xmlns:a16="http://schemas.microsoft.com/office/drawing/2014/main" xmlns="" id="{0745B724-1FEC-43C7-8FA1-0A3AC988435C}"/>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3749124" y="3946145"/>
            <a:ext cx="1645753" cy="2204060"/>
          </a:xfrm>
          <a:prstGeom prst="rect">
            <a:avLst/>
          </a:prstGeom>
        </p:spPr>
      </p:pic>
      <p:pic>
        <p:nvPicPr>
          <p:cNvPr id="6" name="Picture 5">
            <a:extLst>
              <a:ext uri="{FF2B5EF4-FFF2-40B4-BE49-F238E27FC236}">
                <a16:creationId xmlns:a16="http://schemas.microsoft.com/office/drawing/2014/main" xmlns="" id="{DDC35B64-0003-42FD-B79F-40B4C84C1DCA}"/>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730567" y="2094696"/>
            <a:ext cx="1588763" cy="1334304"/>
          </a:xfrm>
          <a:prstGeom prst="rect">
            <a:avLst/>
          </a:prstGeom>
        </p:spPr>
      </p:pic>
      <p:pic>
        <p:nvPicPr>
          <p:cNvPr id="7" name="Picture 6" descr="A close up of a sign&#10;&#10;Description generated with high confidence">
            <a:extLst>
              <a:ext uri="{FF2B5EF4-FFF2-40B4-BE49-F238E27FC236}">
                <a16:creationId xmlns:a16="http://schemas.microsoft.com/office/drawing/2014/main" xmlns="" id="{D53436A2-7F6D-46DA-9CA6-226492F1C03D}"/>
              </a:ext>
            </a:extLst>
          </p:cNvPr>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a:xfrm flipH="1">
            <a:off x="971601" y="4614257"/>
            <a:ext cx="948385" cy="1650023"/>
          </a:xfrm>
          <a:prstGeom prst="rect">
            <a:avLst/>
          </a:prstGeom>
        </p:spPr>
      </p:pic>
      <p:pic>
        <p:nvPicPr>
          <p:cNvPr id="8" name="Picture 7">
            <a:extLst>
              <a:ext uri="{FF2B5EF4-FFF2-40B4-BE49-F238E27FC236}">
                <a16:creationId xmlns:a16="http://schemas.microsoft.com/office/drawing/2014/main" xmlns="" id="{FEC839E7-F5E4-4CE3-BD54-1C01F7639A2F}"/>
              </a:ext>
            </a:extLst>
          </p:cNvPr>
          <p:cNvPicPr>
            <a:picLocks noChangeAspect="1"/>
          </p:cNvPicPr>
          <p:nvPr/>
        </p:nvPicPr>
        <p:blipFill>
          <a:blip r:embed="rId6" cstate="print">
            <a:extLst>
              <a:ext uri="{28A0092B-C50C-407E-A947-70E740481C1C}">
                <a14:useLocalDpi xmlns:a14="http://schemas.microsoft.com/office/drawing/2010/main" val="0"/>
              </a:ext>
            </a:extLst>
          </a:blip>
          <a:stretch>
            <a:fillRect/>
          </a:stretch>
        </p:blipFill>
        <p:spPr>
          <a:xfrm>
            <a:off x="7263474" y="4073643"/>
            <a:ext cx="1090368" cy="2539677"/>
          </a:xfrm>
          <a:prstGeom prst="rect">
            <a:avLst/>
          </a:prstGeom>
        </p:spPr>
      </p:pic>
      <p:pic>
        <p:nvPicPr>
          <p:cNvPr id="9" name="Picture 8" descr="A picture containing device, gauge&#10;&#10;Description generated with high confidence">
            <a:extLst>
              <a:ext uri="{FF2B5EF4-FFF2-40B4-BE49-F238E27FC236}">
                <a16:creationId xmlns:a16="http://schemas.microsoft.com/office/drawing/2014/main" xmlns="" id="{619E391C-0BD5-4C1A-853D-D2E13D6EC8AC}"/>
              </a:ext>
            </a:extLst>
          </p:cNvPr>
          <p:cNvPicPr>
            <a:picLocks noChangeAspect="1"/>
          </p:cNvPicPr>
          <p:nvPr/>
        </p:nvPicPr>
        <p:blipFill>
          <a:blip r:embed="rId7" cstate="print">
            <a:duotone>
              <a:prstClr val="black"/>
              <a:schemeClr val="accent2">
                <a:tint val="45000"/>
                <a:satMod val="400000"/>
              </a:schemeClr>
            </a:duotone>
            <a:extLst>
              <a:ext uri="{28A0092B-C50C-407E-A947-70E740481C1C}">
                <a14:useLocalDpi xmlns:a14="http://schemas.microsoft.com/office/drawing/2010/main" val="0"/>
              </a:ext>
            </a:extLst>
          </a:blip>
          <a:stretch>
            <a:fillRect/>
          </a:stretch>
        </p:blipFill>
        <p:spPr>
          <a:xfrm>
            <a:off x="7002620" y="1492010"/>
            <a:ext cx="521708" cy="2539677"/>
          </a:xfrm>
          <a:prstGeom prst="rect">
            <a:avLst/>
          </a:prstGeom>
        </p:spPr>
      </p:pic>
    </p:spTree>
    <p:extLst>
      <p:ext uri="{BB962C8B-B14F-4D97-AF65-F5344CB8AC3E}">
        <p14:creationId xmlns:p14="http://schemas.microsoft.com/office/powerpoint/2010/main" val="1527143747"/>
      </p:ext>
    </p:extLst>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1FE9E239-5D43-44EF-BA0D-32AA46121B5E}"/>
              </a:ext>
            </a:extLst>
          </p:cNvPr>
          <p:cNvSpPr>
            <a:spLocks noGrp="1"/>
          </p:cNvSpPr>
          <p:nvPr>
            <p:ph type="title"/>
          </p:nvPr>
        </p:nvSpPr>
        <p:spPr/>
        <p:txBody>
          <a:bodyPr/>
          <a:lstStyle/>
          <a:p>
            <a:r>
              <a:rPr lang="en-IN" dirty="0"/>
              <a:t>Traditional E-commerce Scenario</a:t>
            </a:r>
          </a:p>
        </p:txBody>
      </p:sp>
      <p:grpSp>
        <p:nvGrpSpPr>
          <p:cNvPr id="3" name="Group 2">
            <a:extLst>
              <a:ext uri="{FF2B5EF4-FFF2-40B4-BE49-F238E27FC236}">
                <a16:creationId xmlns:a16="http://schemas.microsoft.com/office/drawing/2014/main" xmlns="" id="{60D5886C-3879-43DF-B7F2-1E667657B43D}"/>
              </a:ext>
            </a:extLst>
          </p:cNvPr>
          <p:cNvGrpSpPr/>
          <p:nvPr/>
        </p:nvGrpSpPr>
        <p:grpSpPr>
          <a:xfrm>
            <a:off x="338479" y="1645944"/>
            <a:ext cx="4152086" cy="4663376"/>
            <a:chOff x="2495956" y="1306466"/>
            <a:chExt cx="4152086" cy="3497532"/>
          </a:xfrm>
        </p:grpSpPr>
        <p:pic>
          <p:nvPicPr>
            <p:cNvPr id="4" name="Picture 3" descr="A picture containing text&#10;&#10;Description generated with very high confidence">
              <a:extLst>
                <a:ext uri="{FF2B5EF4-FFF2-40B4-BE49-F238E27FC236}">
                  <a16:creationId xmlns:a16="http://schemas.microsoft.com/office/drawing/2014/main" xmlns="" id="{F044621E-4581-4E42-9CC1-701BCDCF0469}"/>
                </a:ext>
              </a:extLst>
            </p:cNvPr>
            <p:cNvPicPr>
              <a:picLocks noChangeAspect="1"/>
            </p:cNvPicPr>
            <p:nvPr/>
          </p:nvPicPr>
          <p:blipFill>
            <a:blip r:embed="rId2" cstate="print">
              <a:clrChange>
                <a:clrFrom>
                  <a:srgbClr val="FFFFFF"/>
                </a:clrFrom>
                <a:clrTo>
                  <a:srgbClr val="FFFFFF">
                    <a:alpha val="0"/>
                  </a:srgbClr>
                </a:clrTo>
              </a:clrChange>
              <a:extLst>
                <a:ext uri="{28A0092B-C50C-407E-A947-70E740481C1C}">
                  <a14:useLocalDpi xmlns:a14="http://schemas.microsoft.com/office/drawing/2010/main" val="0"/>
                </a:ext>
              </a:extLst>
            </a:blip>
            <a:stretch>
              <a:fillRect/>
            </a:stretch>
          </p:blipFill>
          <p:spPr>
            <a:xfrm>
              <a:off x="2495956" y="1306466"/>
              <a:ext cx="4152086" cy="3497532"/>
            </a:xfrm>
            <a:prstGeom prst="rect">
              <a:avLst/>
            </a:prstGeom>
          </p:spPr>
        </p:pic>
        <p:pic>
          <p:nvPicPr>
            <p:cNvPr id="5" name="Picture 4" descr="A close up of a sign&#10;&#10;Description generated with high confidence">
              <a:extLst>
                <a:ext uri="{FF2B5EF4-FFF2-40B4-BE49-F238E27FC236}">
                  <a16:creationId xmlns:a16="http://schemas.microsoft.com/office/drawing/2014/main" xmlns="" id="{0745B724-1FEC-43C7-8FA1-0A3AC988435C}"/>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3749123" y="2959608"/>
              <a:ext cx="1645753" cy="1653045"/>
            </a:xfrm>
            <a:prstGeom prst="rect">
              <a:avLst/>
            </a:prstGeom>
          </p:spPr>
        </p:pic>
      </p:grpSp>
      <p:pic>
        <p:nvPicPr>
          <p:cNvPr id="7" name="Picture 6" descr="A close up of a sign&#10;&#10;Description generated with high confidence">
            <a:extLst>
              <a:ext uri="{FF2B5EF4-FFF2-40B4-BE49-F238E27FC236}">
                <a16:creationId xmlns:a16="http://schemas.microsoft.com/office/drawing/2014/main" xmlns="" id="{5C4F5549-0A88-4B7B-9B46-68652E69348C}"/>
              </a:ext>
            </a:extLst>
          </p:cNvPr>
          <p:cNvPicPr>
            <a:picLocks noChangeAspect="1"/>
          </p:cNvPicPr>
          <p:nvPr/>
        </p:nvPicPr>
        <p:blipFill rotWithShape="1">
          <a:blip r:embed="rId4" cstate="print">
            <a:extLst>
              <a:ext uri="{28A0092B-C50C-407E-A947-70E740481C1C}">
                <a14:useLocalDpi xmlns:a14="http://schemas.microsoft.com/office/drawing/2010/main" val="0"/>
              </a:ext>
            </a:extLst>
          </a:blip>
          <a:srcRect b="8163"/>
          <a:stretch/>
        </p:blipFill>
        <p:spPr>
          <a:xfrm>
            <a:off x="5423467" y="2035512"/>
            <a:ext cx="2627748" cy="3217691"/>
          </a:xfrm>
          <a:prstGeom prst="roundRect">
            <a:avLst>
              <a:gd name="adj" fmla="val 4047"/>
            </a:avLst>
          </a:prstGeom>
        </p:spPr>
      </p:pic>
      <p:sp>
        <p:nvSpPr>
          <p:cNvPr id="8" name="TextBox 7">
            <a:extLst>
              <a:ext uri="{FF2B5EF4-FFF2-40B4-BE49-F238E27FC236}">
                <a16:creationId xmlns:a16="http://schemas.microsoft.com/office/drawing/2014/main" xmlns="" id="{C2C4302C-ECAD-40C9-B82A-C738EBCC7D2A}"/>
              </a:ext>
            </a:extLst>
          </p:cNvPr>
          <p:cNvSpPr txBox="1"/>
          <p:nvPr/>
        </p:nvSpPr>
        <p:spPr>
          <a:xfrm>
            <a:off x="4989259" y="5240268"/>
            <a:ext cx="3496165" cy="702962"/>
          </a:xfrm>
          <a:prstGeom prst="rect">
            <a:avLst/>
          </a:prstGeom>
          <a:noFill/>
        </p:spPr>
        <p:txBody>
          <a:bodyPr wrap="square" lIns="25603" tIns="12802" rIns="25603" bIns="12802" rtlCol="0">
            <a:spAutoFit/>
          </a:bodyPr>
          <a:lstStyle/>
          <a:p>
            <a:pPr algn="ctr"/>
            <a:r>
              <a:rPr lang="en-IN" sz="2200" dirty="0">
                <a:solidFill>
                  <a:srgbClr val="FF0000"/>
                </a:solidFill>
                <a:latin typeface="Cooper Black" panose="0208090404030B020404" pitchFamily="18" charset="0"/>
              </a:rPr>
              <a:t>Increased Website </a:t>
            </a:r>
          </a:p>
          <a:p>
            <a:pPr algn="ctr"/>
            <a:r>
              <a:rPr lang="en-IN" sz="2200" dirty="0">
                <a:solidFill>
                  <a:srgbClr val="FF0000"/>
                </a:solidFill>
                <a:latin typeface="Cooper Black" panose="0208090404030B020404" pitchFamily="18" charset="0"/>
              </a:rPr>
              <a:t>Traffic</a:t>
            </a:r>
          </a:p>
        </p:txBody>
      </p:sp>
    </p:spTree>
    <p:extLst>
      <p:ext uri="{BB962C8B-B14F-4D97-AF65-F5344CB8AC3E}">
        <p14:creationId xmlns:p14="http://schemas.microsoft.com/office/powerpoint/2010/main" val="1648850469"/>
      </p:ext>
    </p:extLst>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4" name="Rectangle: Rounded Corners 43">
            <a:extLst>
              <a:ext uri="{FF2B5EF4-FFF2-40B4-BE49-F238E27FC236}">
                <a16:creationId xmlns:a16="http://schemas.microsoft.com/office/drawing/2014/main" xmlns="" id="{7FAECE78-BA6F-49F7-BCC8-241C8B8BAF2C}"/>
              </a:ext>
            </a:extLst>
          </p:cNvPr>
          <p:cNvSpPr/>
          <p:nvPr/>
        </p:nvSpPr>
        <p:spPr bwMode="auto">
          <a:xfrm>
            <a:off x="3278366" y="3830259"/>
            <a:ext cx="2625672" cy="2156607"/>
          </a:xfrm>
          <a:prstGeom prst="roundRect">
            <a:avLst>
              <a:gd name="adj" fmla="val 2882"/>
            </a:avLst>
          </a:prstGeom>
          <a:solidFill>
            <a:srgbClr val="D9D9D9"/>
          </a:solidFill>
          <a:ln w="28575" cap="flat" cmpd="sng" algn="ctr">
            <a:noFill/>
            <a:prstDash val="solid"/>
            <a:round/>
            <a:headEnd type="none" w="sm" len="sm"/>
            <a:tailEnd type="none" w="sm" len="sm"/>
          </a:ln>
          <a:effectLst/>
        </p:spPr>
        <p:txBody>
          <a:bodyPr vert="horz" wrap="square" lIns="102413" tIns="51206" rIns="102413" bIns="51206" numCol="1" rtlCol="0" anchor="t" anchorCtr="0" compatLnSpc="1">
            <a:prstTxWarp prst="textNoShape">
              <a:avLst/>
            </a:prstTxWarp>
          </a:bodyPr>
          <a:lstStyle/>
          <a:p>
            <a:pPr algn="ctr">
              <a:spcBef>
                <a:spcPct val="20000"/>
              </a:spcBef>
              <a:buClr>
                <a:srgbClr val="FF0000"/>
              </a:buClr>
            </a:pPr>
            <a:endParaRPr lang="en-IN" sz="2000" dirty="0">
              <a:latin typeface="Arial" pitchFamily="34" charset="0"/>
            </a:endParaRPr>
          </a:p>
        </p:txBody>
      </p:sp>
      <p:pic>
        <p:nvPicPr>
          <p:cNvPr id="37" name="Picture 36">
            <a:extLst>
              <a:ext uri="{FF2B5EF4-FFF2-40B4-BE49-F238E27FC236}">
                <a16:creationId xmlns:a16="http://schemas.microsoft.com/office/drawing/2014/main" xmlns="" id="{C8F7AC06-8B1B-4891-833B-76C692C5E7D9}"/>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5261986" y="3964939"/>
            <a:ext cx="462142" cy="616189"/>
          </a:xfrm>
          <a:prstGeom prst="rect">
            <a:avLst/>
          </a:prstGeom>
        </p:spPr>
      </p:pic>
      <p:sp>
        <p:nvSpPr>
          <p:cNvPr id="49" name="Rectangle: Rounded Corners 48">
            <a:extLst>
              <a:ext uri="{FF2B5EF4-FFF2-40B4-BE49-F238E27FC236}">
                <a16:creationId xmlns:a16="http://schemas.microsoft.com/office/drawing/2014/main" xmlns="" id="{175865FE-CE9C-4487-86D8-5BC310E7906A}"/>
              </a:ext>
            </a:extLst>
          </p:cNvPr>
          <p:cNvSpPr/>
          <p:nvPr/>
        </p:nvSpPr>
        <p:spPr bwMode="auto">
          <a:xfrm>
            <a:off x="361093" y="3817173"/>
            <a:ext cx="2625672" cy="2228713"/>
          </a:xfrm>
          <a:prstGeom prst="roundRect">
            <a:avLst>
              <a:gd name="adj" fmla="val 2882"/>
            </a:avLst>
          </a:prstGeom>
          <a:solidFill>
            <a:schemeClr val="bg1">
              <a:lumMod val="95000"/>
            </a:schemeClr>
          </a:solidFill>
          <a:ln w="28575" cap="flat" cmpd="sng" algn="ctr">
            <a:noFill/>
            <a:prstDash val="solid"/>
            <a:round/>
            <a:headEnd type="none" w="sm" len="sm"/>
            <a:tailEnd type="none" w="sm" len="sm"/>
          </a:ln>
          <a:effectLst/>
        </p:spPr>
        <p:txBody>
          <a:bodyPr vert="horz" wrap="square" lIns="102413" tIns="51206" rIns="102413" bIns="51206" numCol="1" rtlCol="0" anchor="t" anchorCtr="0" compatLnSpc="1">
            <a:prstTxWarp prst="textNoShape">
              <a:avLst/>
            </a:prstTxWarp>
          </a:bodyPr>
          <a:lstStyle/>
          <a:p>
            <a:pPr algn="ctr">
              <a:spcBef>
                <a:spcPct val="20000"/>
              </a:spcBef>
              <a:buClr>
                <a:srgbClr val="FF0000"/>
              </a:buClr>
            </a:pPr>
            <a:endParaRPr lang="en-IN" sz="2000" dirty="0">
              <a:latin typeface="Arial" pitchFamily="34" charset="0"/>
            </a:endParaRPr>
          </a:p>
        </p:txBody>
      </p:sp>
      <p:sp>
        <p:nvSpPr>
          <p:cNvPr id="48" name="Rectangle: Rounded Corners 47">
            <a:extLst>
              <a:ext uri="{FF2B5EF4-FFF2-40B4-BE49-F238E27FC236}">
                <a16:creationId xmlns:a16="http://schemas.microsoft.com/office/drawing/2014/main" xmlns="" id="{A703DD60-2B67-4F7B-BDEA-A8AA79FA41B9}"/>
              </a:ext>
            </a:extLst>
          </p:cNvPr>
          <p:cNvSpPr/>
          <p:nvPr/>
        </p:nvSpPr>
        <p:spPr bwMode="auto">
          <a:xfrm>
            <a:off x="6163928" y="3835401"/>
            <a:ext cx="2083415" cy="2138379"/>
          </a:xfrm>
          <a:prstGeom prst="roundRect">
            <a:avLst>
              <a:gd name="adj" fmla="val 2882"/>
            </a:avLst>
          </a:prstGeom>
          <a:solidFill>
            <a:schemeClr val="bg1">
              <a:lumMod val="95000"/>
            </a:schemeClr>
          </a:solidFill>
          <a:ln w="28575" cap="flat" cmpd="sng" algn="ctr">
            <a:noFill/>
            <a:prstDash val="solid"/>
            <a:round/>
            <a:headEnd type="none" w="sm" len="sm"/>
            <a:tailEnd type="none" w="sm" len="sm"/>
          </a:ln>
          <a:effectLst/>
        </p:spPr>
        <p:txBody>
          <a:bodyPr vert="horz" wrap="square" lIns="102413" tIns="51206" rIns="102413" bIns="51206" numCol="1" rtlCol="0" anchor="t" anchorCtr="0" compatLnSpc="1">
            <a:prstTxWarp prst="textNoShape">
              <a:avLst/>
            </a:prstTxWarp>
          </a:bodyPr>
          <a:lstStyle/>
          <a:p>
            <a:pPr algn="ctr">
              <a:spcBef>
                <a:spcPct val="20000"/>
              </a:spcBef>
              <a:buClr>
                <a:srgbClr val="FF0000"/>
              </a:buClr>
            </a:pPr>
            <a:endParaRPr lang="en-IN" sz="2000" dirty="0">
              <a:latin typeface="Arial" pitchFamily="34" charset="0"/>
            </a:endParaRPr>
          </a:p>
        </p:txBody>
      </p:sp>
      <p:sp>
        <p:nvSpPr>
          <p:cNvPr id="45" name="Rectangle: Rounded Corners 44">
            <a:extLst>
              <a:ext uri="{FF2B5EF4-FFF2-40B4-BE49-F238E27FC236}">
                <a16:creationId xmlns:a16="http://schemas.microsoft.com/office/drawing/2014/main" xmlns="" id="{759A5009-B5FB-4168-BFF8-776F662DE9C3}"/>
              </a:ext>
            </a:extLst>
          </p:cNvPr>
          <p:cNvSpPr/>
          <p:nvPr/>
        </p:nvSpPr>
        <p:spPr bwMode="auto">
          <a:xfrm>
            <a:off x="6281883" y="1412777"/>
            <a:ext cx="2145456" cy="1956279"/>
          </a:xfrm>
          <a:prstGeom prst="roundRect">
            <a:avLst>
              <a:gd name="adj" fmla="val 3232"/>
            </a:avLst>
          </a:prstGeom>
          <a:solidFill>
            <a:schemeClr val="bg1">
              <a:lumMod val="85000"/>
            </a:schemeClr>
          </a:solidFill>
          <a:ln w="28575" cap="flat" cmpd="sng" algn="ctr">
            <a:noFill/>
            <a:prstDash val="solid"/>
            <a:round/>
            <a:headEnd type="none" w="sm" len="sm"/>
            <a:tailEnd type="none" w="sm" len="sm"/>
          </a:ln>
          <a:effectLst/>
        </p:spPr>
        <p:txBody>
          <a:bodyPr vert="horz" wrap="square" lIns="102413" tIns="51206" rIns="102413" bIns="51206" numCol="1" rtlCol="0" anchor="t" anchorCtr="0" compatLnSpc="1">
            <a:prstTxWarp prst="textNoShape">
              <a:avLst/>
            </a:prstTxWarp>
          </a:bodyPr>
          <a:lstStyle/>
          <a:p>
            <a:pPr algn="ctr">
              <a:spcBef>
                <a:spcPct val="20000"/>
              </a:spcBef>
              <a:buClr>
                <a:srgbClr val="FF0000"/>
              </a:buClr>
            </a:pPr>
            <a:endParaRPr lang="en-IN" sz="2000" dirty="0">
              <a:latin typeface="Arial" pitchFamily="34" charset="0"/>
            </a:endParaRPr>
          </a:p>
        </p:txBody>
      </p:sp>
      <p:sp>
        <p:nvSpPr>
          <p:cNvPr id="13" name="Rectangle: Rounded Corners 12">
            <a:extLst>
              <a:ext uri="{FF2B5EF4-FFF2-40B4-BE49-F238E27FC236}">
                <a16:creationId xmlns:a16="http://schemas.microsoft.com/office/drawing/2014/main" xmlns="" id="{84BBC785-4DBB-4702-A869-7763365AF093}"/>
              </a:ext>
            </a:extLst>
          </p:cNvPr>
          <p:cNvSpPr/>
          <p:nvPr/>
        </p:nvSpPr>
        <p:spPr bwMode="auto">
          <a:xfrm>
            <a:off x="466725" y="1412776"/>
            <a:ext cx="2339518" cy="1960552"/>
          </a:xfrm>
          <a:prstGeom prst="roundRect">
            <a:avLst>
              <a:gd name="adj" fmla="val 2417"/>
            </a:avLst>
          </a:prstGeom>
          <a:solidFill>
            <a:schemeClr val="bg1">
              <a:lumMod val="85000"/>
            </a:schemeClr>
          </a:solidFill>
          <a:ln w="28575" cap="flat" cmpd="sng" algn="ctr">
            <a:noFill/>
            <a:prstDash val="solid"/>
            <a:round/>
            <a:headEnd type="none" w="sm" len="sm"/>
            <a:tailEnd type="none" w="sm" len="sm"/>
          </a:ln>
          <a:effectLst/>
        </p:spPr>
        <p:txBody>
          <a:bodyPr vert="horz" wrap="square" lIns="102413" tIns="51206" rIns="102413" bIns="51206" numCol="1" rtlCol="0" anchor="t" anchorCtr="0" compatLnSpc="1">
            <a:prstTxWarp prst="textNoShape">
              <a:avLst/>
            </a:prstTxWarp>
          </a:bodyPr>
          <a:lstStyle/>
          <a:p>
            <a:pPr algn="ctr">
              <a:spcBef>
                <a:spcPct val="20000"/>
              </a:spcBef>
              <a:buClr>
                <a:srgbClr val="FF0000"/>
              </a:buClr>
            </a:pPr>
            <a:endParaRPr lang="en-IN" sz="2000" dirty="0">
              <a:latin typeface="Arial" pitchFamily="34" charset="0"/>
            </a:endParaRPr>
          </a:p>
        </p:txBody>
      </p:sp>
      <p:sp>
        <p:nvSpPr>
          <p:cNvPr id="2" name="Title 1">
            <a:extLst>
              <a:ext uri="{FF2B5EF4-FFF2-40B4-BE49-F238E27FC236}">
                <a16:creationId xmlns:a16="http://schemas.microsoft.com/office/drawing/2014/main" xmlns="" id="{7319AB2B-26BC-4302-94C1-BB5550278AFA}"/>
              </a:ext>
            </a:extLst>
          </p:cNvPr>
          <p:cNvSpPr>
            <a:spLocks noGrp="1"/>
          </p:cNvSpPr>
          <p:nvPr>
            <p:ph type="title"/>
          </p:nvPr>
        </p:nvSpPr>
        <p:spPr/>
        <p:txBody>
          <a:bodyPr/>
          <a:lstStyle/>
          <a:p>
            <a:r>
              <a:rPr lang="en-IN" dirty="0"/>
              <a:t>Problems Faced</a:t>
            </a:r>
          </a:p>
        </p:txBody>
      </p:sp>
      <p:pic>
        <p:nvPicPr>
          <p:cNvPr id="24" name="Picture 23">
            <a:extLst>
              <a:ext uri="{FF2B5EF4-FFF2-40B4-BE49-F238E27FC236}">
                <a16:creationId xmlns:a16="http://schemas.microsoft.com/office/drawing/2014/main" xmlns="" id="{7D8B289C-266C-4951-906C-AC371B148708}"/>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1072884" y="3996054"/>
            <a:ext cx="1237595" cy="1739985"/>
          </a:xfrm>
          <a:prstGeom prst="rect">
            <a:avLst/>
          </a:prstGeom>
        </p:spPr>
      </p:pic>
      <p:grpSp>
        <p:nvGrpSpPr>
          <p:cNvPr id="7" name="Group 6">
            <a:extLst>
              <a:ext uri="{FF2B5EF4-FFF2-40B4-BE49-F238E27FC236}">
                <a16:creationId xmlns:a16="http://schemas.microsoft.com/office/drawing/2014/main" xmlns="" id="{75E1558D-1F56-4885-B279-80C0E600FE66}"/>
              </a:ext>
            </a:extLst>
          </p:cNvPr>
          <p:cNvGrpSpPr/>
          <p:nvPr/>
        </p:nvGrpSpPr>
        <p:grpSpPr>
          <a:xfrm>
            <a:off x="1177672" y="1748589"/>
            <a:ext cx="1018065" cy="1392380"/>
            <a:chOff x="1281909" y="1344776"/>
            <a:chExt cx="1018065" cy="1044285"/>
          </a:xfrm>
        </p:grpSpPr>
        <p:pic>
          <p:nvPicPr>
            <p:cNvPr id="20" name="Picture 19">
              <a:extLst>
                <a:ext uri="{FF2B5EF4-FFF2-40B4-BE49-F238E27FC236}">
                  <a16:creationId xmlns:a16="http://schemas.microsoft.com/office/drawing/2014/main" xmlns="" id="{9F6294D7-0F03-4353-86AF-A953E5522730}"/>
                </a:ext>
              </a:extLst>
            </p:cNvPr>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a:xfrm flipH="1">
              <a:off x="1281909" y="1344776"/>
              <a:ext cx="819543" cy="819543"/>
            </a:xfrm>
            <a:prstGeom prst="rect">
              <a:avLst/>
            </a:prstGeom>
          </p:spPr>
        </p:pic>
        <p:pic>
          <p:nvPicPr>
            <p:cNvPr id="25" name="Picture 24">
              <a:extLst>
                <a:ext uri="{FF2B5EF4-FFF2-40B4-BE49-F238E27FC236}">
                  <a16:creationId xmlns:a16="http://schemas.microsoft.com/office/drawing/2014/main" xmlns="" id="{F38EA96A-C387-4D1B-95AC-FDA11BCBE957}"/>
                </a:ext>
              </a:extLst>
            </p:cNvPr>
            <p:cNvPicPr>
              <a:picLocks noChangeAspect="1"/>
            </p:cNvPicPr>
            <p:nvPr/>
          </p:nvPicPr>
          <p:blipFill>
            <a:blip r:embed="rId6" cstate="print">
              <a:extLst>
                <a:ext uri="{28A0092B-C50C-407E-A947-70E740481C1C}">
                  <a14:useLocalDpi xmlns:a14="http://schemas.microsoft.com/office/drawing/2010/main" val="0"/>
                </a:ext>
              </a:extLst>
            </a:blip>
            <a:stretch>
              <a:fillRect/>
            </a:stretch>
          </p:blipFill>
          <p:spPr>
            <a:xfrm>
              <a:off x="1597439" y="1743932"/>
              <a:ext cx="702535" cy="645129"/>
            </a:xfrm>
            <a:prstGeom prst="rect">
              <a:avLst/>
            </a:prstGeom>
          </p:spPr>
        </p:pic>
      </p:grpSp>
      <p:grpSp>
        <p:nvGrpSpPr>
          <p:cNvPr id="8" name="Group 7">
            <a:extLst>
              <a:ext uri="{FF2B5EF4-FFF2-40B4-BE49-F238E27FC236}">
                <a16:creationId xmlns:a16="http://schemas.microsoft.com/office/drawing/2014/main" xmlns="" id="{EB059307-7FF3-40A6-BBFC-679207B2D3C6}"/>
              </a:ext>
            </a:extLst>
          </p:cNvPr>
          <p:cNvGrpSpPr/>
          <p:nvPr/>
        </p:nvGrpSpPr>
        <p:grpSpPr>
          <a:xfrm>
            <a:off x="6171623" y="4304187"/>
            <a:ext cx="2409235" cy="1237048"/>
            <a:chOff x="6267221" y="3221230"/>
            <a:chExt cx="2409235" cy="927786"/>
          </a:xfrm>
        </p:grpSpPr>
        <p:pic>
          <p:nvPicPr>
            <p:cNvPr id="26" name="Picture 4" descr="https://lh3.googleusercontent.com/-Ued-ipvE4VU/WjeOYUvsrPI/AAAAAAAABbQ/-6hlTPBrGMIkFmFB-3Oyc9-13wLlJ4QWACL0BGAYYCw/h1233/2017-12-18.png">
              <a:extLst>
                <a:ext uri="{FF2B5EF4-FFF2-40B4-BE49-F238E27FC236}">
                  <a16:creationId xmlns:a16="http://schemas.microsoft.com/office/drawing/2014/main" xmlns="" id="{4A124D38-BF3D-4904-B95E-6251F33F26A3}"/>
                </a:ext>
              </a:extLst>
            </p:cNvPr>
            <p:cNvPicPr>
              <a:picLocks noChangeAspect="1" noChangeArrowheads="1"/>
            </p:cNvPicPr>
            <p:nvPr/>
          </p:nvPicPr>
          <p:blipFill>
            <a:blip r:embed="rId7" cstate="print">
              <a:extLst>
                <a:ext uri="{28A0092B-C50C-407E-A947-70E740481C1C}">
                  <a14:useLocalDpi xmlns:a14="http://schemas.microsoft.com/office/drawing/2010/main" val="0"/>
                </a:ext>
              </a:extLst>
            </a:blip>
            <a:srcRect/>
            <a:stretch>
              <a:fillRect/>
            </a:stretch>
          </p:blipFill>
          <p:spPr bwMode="auto">
            <a:xfrm>
              <a:off x="8009427" y="3407365"/>
              <a:ext cx="667029" cy="741651"/>
            </a:xfrm>
            <a:prstGeom prst="rect">
              <a:avLst/>
            </a:prstGeom>
            <a:noFill/>
            <a:extLst>
              <a:ext uri="{909E8E84-426E-40DD-AFC4-6F175D3DCCD1}">
                <a14:hiddenFill xmlns:a14="http://schemas.microsoft.com/office/drawing/2010/main">
                  <a:solidFill>
                    <a:srgbClr val="FFFFFF"/>
                  </a:solidFill>
                </a14:hiddenFill>
              </a:ext>
            </a:extLst>
          </p:spPr>
        </p:pic>
        <p:pic>
          <p:nvPicPr>
            <p:cNvPr id="27" name="Picture 26">
              <a:extLst>
                <a:ext uri="{FF2B5EF4-FFF2-40B4-BE49-F238E27FC236}">
                  <a16:creationId xmlns:a16="http://schemas.microsoft.com/office/drawing/2014/main" xmlns="" id="{D9C938BE-BAE2-44C0-B6D0-CC6DBBF1F3EE}"/>
                </a:ext>
              </a:extLst>
            </p:cNvPr>
            <p:cNvPicPr>
              <a:picLocks noChangeAspect="1"/>
            </p:cNvPicPr>
            <p:nvPr/>
          </p:nvPicPr>
          <p:blipFill>
            <a:blip r:embed="rId8">
              <a:clrChange>
                <a:clrFrom>
                  <a:srgbClr val="FFFFFF"/>
                </a:clrFrom>
                <a:clrTo>
                  <a:srgbClr val="FFFFFF">
                    <a:alpha val="0"/>
                  </a:srgbClr>
                </a:clrTo>
              </a:clrChange>
            </a:blip>
            <a:stretch>
              <a:fillRect/>
            </a:stretch>
          </p:blipFill>
          <p:spPr>
            <a:xfrm>
              <a:off x="6267221" y="3221230"/>
              <a:ext cx="2255715" cy="925564"/>
            </a:xfrm>
            <a:prstGeom prst="rect">
              <a:avLst/>
            </a:prstGeom>
          </p:spPr>
        </p:pic>
      </p:grpSp>
      <p:pic>
        <p:nvPicPr>
          <p:cNvPr id="31" name="Picture 2" descr="https://lh3.googleusercontent.com/-39DASUfyl5Y/WoF7J9AQzvI/AAAAAAAABqk/7W0N_9fCka0cL4tKaCWF9Oyxk2GDegYDwCL0BGAYYCw/h1080/2018-02-12.png">
            <a:extLst>
              <a:ext uri="{FF2B5EF4-FFF2-40B4-BE49-F238E27FC236}">
                <a16:creationId xmlns:a16="http://schemas.microsoft.com/office/drawing/2014/main" xmlns="" id="{9888D045-077A-4ABF-B0C9-35A1356DC72B}"/>
              </a:ext>
            </a:extLst>
          </p:cNvPr>
          <p:cNvPicPr>
            <a:picLocks noChangeAspect="1" noChangeArrowheads="1"/>
          </p:cNvPicPr>
          <p:nvPr/>
        </p:nvPicPr>
        <p:blipFill>
          <a:blip r:embed="rId9" cstate="print">
            <a:extLst>
              <a:ext uri="{28A0092B-C50C-407E-A947-70E740481C1C}">
                <a14:useLocalDpi xmlns:a14="http://schemas.microsoft.com/office/drawing/2010/main" val="0"/>
              </a:ext>
            </a:extLst>
          </a:blip>
          <a:srcRect/>
          <a:stretch>
            <a:fillRect/>
          </a:stretch>
        </p:blipFill>
        <p:spPr bwMode="auto">
          <a:xfrm>
            <a:off x="5004048" y="4131979"/>
            <a:ext cx="601750" cy="793516"/>
          </a:xfrm>
          <a:prstGeom prst="rect">
            <a:avLst/>
          </a:prstGeom>
          <a:noFill/>
          <a:extLst>
            <a:ext uri="{909E8E84-426E-40DD-AFC4-6F175D3DCCD1}">
              <a14:hiddenFill xmlns:a14="http://schemas.microsoft.com/office/drawing/2010/main">
                <a:solidFill>
                  <a:srgbClr val="FFFFFF"/>
                </a:solidFill>
              </a14:hiddenFill>
            </a:ext>
          </a:extLst>
        </p:spPr>
      </p:pic>
      <p:sp>
        <p:nvSpPr>
          <p:cNvPr id="12" name="Rectangle: Diagonal Corners Rounded 11">
            <a:extLst>
              <a:ext uri="{FF2B5EF4-FFF2-40B4-BE49-F238E27FC236}">
                <a16:creationId xmlns:a16="http://schemas.microsoft.com/office/drawing/2014/main" xmlns="" id="{376EC363-EE55-4919-ADC3-6FDC9B1B0B79}"/>
              </a:ext>
            </a:extLst>
          </p:cNvPr>
          <p:cNvSpPr/>
          <p:nvPr/>
        </p:nvSpPr>
        <p:spPr bwMode="auto">
          <a:xfrm>
            <a:off x="763747" y="3166848"/>
            <a:ext cx="1807745" cy="326693"/>
          </a:xfrm>
          <a:prstGeom prst="round2DiagRect">
            <a:avLst/>
          </a:prstGeom>
          <a:solidFill>
            <a:schemeClr val="tx1"/>
          </a:solidFill>
          <a:ln w="12700" cap="flat" cmpd="sng" algn="ctr">
            <a:solidFill>
              <a:schemeClr val="bg1"/>
            </a:solidFill>
            <a:prstDash val="solid"/>
            <a:round/>
            <a:headEnd type="none" w="sm" len="sm"/>
            <a:tailEnd type="none" w="sm" len="sm"/>
          </a:ln>
          <a:effectLst>
            <a:outerShdw blurRad="50800" dist="38100" dir="5400000" algn="t" rotWithShape="0">
              <a:prstClr val="black">
                <a:alpha val="40000"/>
              </a:prstClr>
            </a:outerShdw>
          </a:effectLst>
        </p:spPr>
        <p:txBody>
          <a:bodyPr vert="horz" wrap="square" lIns="102413" tIns="51206" rIns="102413" bIns="51206" numCol="1" rtlCol="0" anchor="ctr" anchorCtr="0" compatLnSpc="1">
            <a:prstTxWarp prst="textNoShape">
              <a:avLst/>
            </a:prstTxWarp>
          </a:bodyPr>
          <a:lstStyle/>
          <a:p>
            <a:pPr algn="ctr">
              <a:spcBef>
                <a:spcPct val="20000"/>
              </a:spcBef>
              <a:buClr>
                <a:srgbClr val="FF0000"/>
              </a:buClr>
            </a:pPr>
            <a:r>
              <a:rPr lang="en-IN" sz="1200" dirty="0">
                <a:solidFill>
                  <a:schemeClr val="bg1"/>
                </a:solidFill>
              </a:rPr>
              <a:t>Database &amp; Security</a:t>
            </a:r>
          </a:p>
        </p:txBody>
      </p:sp>
      <p:sp>
        <p:nvSpPr>
          <p:cNvPr id="39" name="Rectangle: Diagonal Corners Rounded 38">
            <a:extLst>
              <a:ext uri="{FF2B5EF4-FFF2-40B4-BE49-F238E27FC236}">
                <a16:creationId xmlns:a16="http://schemas.microsoft.com/office/drawing/2014/main" xmlns="" id="{BC3547B2-8E7B-4CA4-B0BA-229EC04ADAA0}"/>
              </a:ext>
            </a:extLst>
          </p:cNvPr>
          <p:cNvSpPr/>
          <p:nvPr/>
        </p:nvSpPr>
        <p:spPr bwMode="auto">
          <a:xfrm>
            <a:off x="6775187" y="3166848"/>
            <a:ext cx="1358187" cy="326693"/>
          </a:xfrm>
          <a:prstGeom prst="round2DiagRect">
            <a:avLst/>
          </a:prstGeom>
          <a:solidFill>
            <a:schemeClr val="tx1"/>
          </a:solidFill>
          <a:ln w="12700" cap="flat" cmpd="sng" algn="ctr">
            <a:solidFill>
              <a:schemeClr val="bg1"/>
            </a:solidFill>
            <a:prstDash val="solid"/>
            <a:round/>
            <a:headEnd type="none" w="sm" len="sm"/>
            <a:tailEnd type="none" w="sm" len="sm"/>
          </a:ln>
          <a:effectLst>
            <a:outerShdw blurRad="50800" dist="38100" dir="5400000" algn="t" rotWithShape="0">
              <a:prstClr val="black">
                <a:alpha val="40000"/>
              </a:prstClr>
            </a:outerShdw>
          </a:effectLst>
        </p:spPr>
        <p:txBody>
          <a:bodyPr vert="horz" wrap="square" lIns="102413" tIns="51206" rIns="102413" bIns="51206" numCol="1" rtlCol="0" anchor="ctr" anchorCtr="0" compatLnSpc="1">
            <a:prstTxWarp prst="textNoShape">
              <a:avLst/>
            </a:prstTxWarp>
          </a:bodyPr>
          <a:lstStyle/>
          <a:p>
            <a:pPr algn="ctr">
              <a:spcBef>
                <a:spcPct val="20000"/>
              </a:spcBef>
              <a:buClr>
                <a:srgbClr val="FF0000"/>
              </a:buClr>
            </a:pPr>
            <a:r>
              <a:rPr lang="en-IN" sz="1200" dirty="0">
                <a:solidFill>
                  <a:schemeClr val="bg1"/>
                </a:solidFill>
              </a:rPr>
              <a:t>Managing Servers</a:t>
            </a:r>
          </a:p>
        </p:txBody>
      </p:sp>
      <p:sp>
        <p:nvSpPr>
          <p:cNvPr id="40" name="Rectangle: Diagonal Corners Rounded 39">
            <a:extLst>
              <a:ext uri="{FF2B5EF4-FFF2-40B4-BE49-F238E27FC236}">
                <a16:creationId xmlns:a16="http://schemas.microsoft.com/office/drawing/2014/main" xmlns="" id="{70C48252-784C-4252-905C-D56AD370FE6A}"/>
              </a:ext>
            </a:extLst>
          </p:cNvPr>
          <p:cNvSpPr/>
          <p:nvPr/>
        </p:nvSpPr>
        <p:spPr bwMode="auto">
          <a:xfrm>
            <a:off x="765102" y="5837660"/>
            <a:ext cx="1807745" cy="326693"/>
          </a:xfrm>
          <a:prstGeom prst="round2DiagRect">
            <a:avLst/>
          </a:prstGeom>
          <a:solidFill>
            <a:srgbClr val="009999"/>
          </a:solidFill>
          <a:ln w="12700" cap="flat" cmpd="sng" algn="ctr">
            <a:solidFill>
              <a:schemeClr val="bg1"/>
            </a:solidFill>
            <a:prstDash val="solid"/>
            <a:round/>
            <a:headEnd type="none" w="sm" len="sm"/>
            <a:tailEnd type="none" w="sm" len="sm"/>
          </a:ln>
          <a:effectLst>
            <a:outerShdw blurRad="50800" dist="38100" dir="5400000" algn="t" rotWithShape="0">
              <a:prstClr val="black">
                <a:alpha val="40000"/>
              </a:prstClr>
            </a:outerShdw>
          </a:effectLst>
        </p:spPr>
        <p:txBody>
          <a:bodyPr vert="horz" wrap="square" lIns="102413" tIns="51206" rIns="102413" bIns="51206" numCol="1" rtlCol="0" anchor="ctr" anchorCtr="0" compatLnSpc="1">
            <a:prstTxWarp prst="textNoShape">
              <a:avLst/>
            </a:prstTxWarp>
          </a:bodyPr>
          <a:lstStyle/>
          <a:p>
            <a:pPr algn="ctr">
              <a:spcBef>
                <a:spcPct val="20000"/>
              </a:spcBef>
              <a:buClr>
                <a:srgbClr val="FF0000"/>
              </a:buClr>
            </a:pPr>
            <a:r>
              <a:rPr lang="en-IN" sz="1200" dirty="0">
                <a:solidFill>
                  <a:schemeClr val="bg1"/>
                </a:solidFill>
              </a:rPr>
              <a:t>Increasing Cost</a:t>
            </a:r>
          </a:p>
        </p:txBody>
      </p:sp>
      <p:sp>
        <p:nvSpPr>
          <p:cNvPr id="42" name="Rectangle: Diagonal Corners Rounded 41">
            <a:extLst>
              <a:ext uri="{FF2B5EF4-FFF2-40B4-BE49-F238E27FC236}">
                <a16:creationId xmlns:a16="http://schemas.microsoft.com/office/drawing/2014/main" xmlns="" id="{94EF1C48-2DF3-4F67-A3A2-B590E6E1731C}"/>
              </a:ext>
            </a:extLst>
          </p:cNvPr>
          <p:cNvSpPr/>
          <p:nvPr/>
        </p:nvSpPr>
        <p:spPr bwMode="auto">
          <a:xfrm>
            <a:off x="6708630" y="5837660"/>
            <a:ext cx="1494006" cy="326693"/>
          </a:xfrm>
          <a:prstGeom prst="round2DiagRect">
            <a:avLst/>
          </a:prstGeom>
          <a:solidFill>
            <a:srgbClr val="3E7EB9"/>
          </a:solidFill>
          <a:ln w="12700" cap="flat" cmpd="sng" algn="ctr">
            <a:solidFill>
              <a:schemeClr val="bg1"/>
            </a:solidFill>
            <a:prstDash val="solid"/>
            <a:round/>
            <a:headEnd type="none" w="sm" len="sm"/>
            <a:tailEnd type="none" w="sm" len="sm"/>
          </a:ln>
          <a:effectLst>
            <a:outerShdw blurRad="50800" dist="38100" dir="5400000" algn="t" rotWithShape="0">
              <a:prstClr val="black">
                <a:alpha val="40000"/>
              </a:prstClr>
            </a:outerShdw>
          </a:effectLst>
        </p:spPr>
        <p:txBody>
          <a:bodyPr vert="horz" wrap="square" lIns="102413" tIns="51206" rIns="102413" bIns="51206" numCol="1" rtlCol="0" anchor="ctr" anchorCtr="0" compatLnSpc="1">
            <a:prstTxWarp prst="textNoShape">
              <a:avLst/>
            </a:prstTxWarp>
          </a:bodyPr>
          <a:lstStyle/>
          <a:p>
            <a:pPr algn="ctr">
              <a:spcBef>
                <a:spcPct val="20000"/>
              </a:spcBef>
              <a:buClr>
                <a:srgbClr val="FF0000"/>
              </a:buClr>
            </a:pPr>
            <a:r>
              <a:rPr lang="en-IN" sz="1200" dirty="0">
                <a:solidFill>
                  <a:schemeClr val="bg1"/>
                </a:solidFill>
              </a:rPr>
              <a:t>Fast &amp; Fault Tolerant</a:t>
            </a:r>
          </a:p>
        </p:txBody>
      </p:sp>
      <p:pic>
        <p:nvPicPr>
          <p:cNvPr id="1026" name="Picture 2" descr="https://lh3.googleusercontent.com/-KvvltG_8i5I/WoJ_X3SOYII/AAAAAAAABsM/ruArWvl18TIKZVro44cRaCNcgbLLOh9AACL0BGAYYCw/h1906/2018-02-12.png">
            <a:extLst>
              <a:ext uri="{FF2B5EF4-FFF2-40B4-BE49-F238E27FC236}">
                <a16:creationId xmlns:a16="http://schemas.microsoft.com/office/drawing/2014/main" xmlns="" id="{176BC60D-C06D-48B3-95BD-EF2B4A16EE0A}"/>
              </a:ext>
            </a:extLst>
          </p:cNvPr>
          <p:cNvPicPr>
            <a:picLocks noChangeAspect="1" noChangeArrowheads="1"/>
          </p:cNvPicPr>
          <p:nvPr/>
        </p:nvPicPr>
        <p:blipFill>
          <a:blip r:embed="rId10" cstate="print">
            <a:extLst>
              <a:ext uri="{28A0092B-C50C-407E-A947-70E740481C1C}">
                <a14:useLocalDpi xmlns:a14="http://schemas.microsoft.com/office/drawing/2010/main" val="0"/>
              </a:ext>
            </a:extLst>
          </a:blip>
          <a:srcRect/>
          <a:stretch>
            <a:fillRect/>
          </a:stretch>
        </p:blipFill>
        <p:spPr bwMode="auto">
          <a:xfrm>
            <a:off x="6364156" y="1691224"/>
            <a:ext cx="2190591" cy="1449745"/>
          </a:xfrm>
          <a:prstGeom prst="rect">
            <a:avLst/>
          </a:prstGeom>
          <a:noFill/>
          <a:extLst>
            <a:ext uri="{909E8E84-426E-40DD-AFC4-6F175D3DCCD1}">
              <a14:hiddenFill xmlns:a14="http://schemas.microsoft.com/office/drawing/2010/main">
                <a:solidFill>
                  <a:srgbClr val="FFFFFF"/>
                </a:solidFill>
              </a14:hiddenFill>
            </a:ext>
          </a:extLst>
        </p:spPr>
      </p:pic>
      <p:pic>
        <p:nvPicPr>
          <p:cNvPr id="43" name="Picture 42">
            <a:extLst>
              <a:ext uri="{FF2B5EF4-FFF2-40B4-BE49-F238E27FC236}">
                <a16:creationId xmlns:a16="http://schemas.microsoft.com/office/drawing/2014/main" xmlns="" id="{153AFD8C-48BF-41CD-8441-A61359E31E0E}"/>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3491880" y="3964939"/>
            <a:ext cx="462142" cy="616189"/>
          </a:xfrm>
          <a:prstGeom prst="rect">
            <a:avLst/>
          </a:prstGeom>
        </p:spPr>
      </p:pic>
      <p:pic>
        <p:nvPicPr>
          <p:cNvPr id="30" name="Picture 2" descr="https://lh3.googleusercontent.com/-39DASUfyl5Y/WoF7J9AQzvI/AAAAAAAABqk/7W0N_9fCka0cL4tKaCWF9Oyxk2GDegYDwCL0BGAYYCw/h1080/2018-02-12.png">
            <a:extLst>
              <a:ext uri="{FF2B5EF4-FFF2-40B4-BE49-F238E27FC236}">
                <a16:creationId xmlns:a16="http://schemas.microsoft.com/office/drawing/2014/main" xmlns="" id="{FA69DFA0-2A65-402C-B7E2-98B465159247}"/>
              </a:ext>
            </a:extLst>
          </p:cNvPr>
          <p:cNvPicPr>
            <a:picLocks noChangeAspect="1" noChangeArrowheads="1"/>
          </p:cNvPicPr>
          <p:nvPr/>
        </p:nvPicPr>
        <p:blipFill>
          <a:blip r:embed="rId9" cstate="print">
            <a:extLst>
              <a:ext uri="{28A0092B-C50C-407E-A947-70E740481C1C}">
                <a14:useLocalDpi xmlns:a14="http://schemas.microsoft.com/office/drawing/2010/main" val="0"/>
              </a:ext>
            </a:extLst>
          </a:blip>
          <a:srcRect/>
          <a:stretch>
            <a:fillRect/>
          </a:stretch>
        </p:blipFill>
        <p:spPr bwMode="auto">
          <a:xfrm>
            <a:off x="3682218" y="4131979"/>
            <a:ext cx="601750" cy="793516"/>
          </a:xfrm>
          <a:prstGeom prst="rect">
            <a:avLst/>
          </a:prstGeom>
          <a:noFill/>
          <a:extLst>
            <a:ext uri="{909E8E84-426E-40DD-AFC4-6F175D3DCCD1}">
              <a14:hiddenFill xmlns:a14="http://schemas.microsoft.com/office/drawing/2010/main">
                <a:solidFill>
                  <a:srgbClr val="FFFFFF"/>
                </a:solidFill>
              </a14:hiddenFill>
            </a:ext>
          </a:extLst>
        </p:spPr>
      </p:pic>
      <p:pic>
        <p:nvPicPr>
          <p:cNvPr id="50" name="Picture 49">
            <a:extLst>
              <a:ext uri="{FF2B5EF4-FFF2-40B4-BE49-F238E27FC236}">
                <a16:creationId xmlns:a16="http://schemas.microsoft.com/office/drawing/2014/main" xmlns="" id="{9A5D391F-0A8B-4B33-8E78-C851639F24D1}"/>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5146905" y="4715809"/>
            <a:ext cx="420129" cy="560172"/>
          </a:xfrm>
          <a:prstGeom prst="rect">
            <a:avLst/>
          </a:prstGeom>
        </p:spPr>
      </p:pic>
      <p:pic>
        <p:nvPicPr>
          <p:cNvPr id="29" name="Picture 2" descr="https://lh3.googleusercontent.com/-39DASUfyl5Y/WoF7J9AQzvI/AAAAAAAABqk/7W0N_9fCka0cL4tKaCWF9Oyxk2GDegYDwCL0BGAYYCw/h1080/2018-02-12.png">
            <a:extLst>
              <a:ext uri="{FF2B5EF4-FFF2-40B4-BE49-F238E27FC236}">
                <a16:creationId xmlns:a16="http://schemas.microsoft.com/office/drawing/2014/main" xmlns="" id="{B5261A7B-2382-4EEC-97C9-710FD2005F72}"/>
              </a:ext>
            </a:extLst>
          </p:cNvPr>
          <p:cNvPicPr>
            <a:picLocks noChangeAspect="1" noChangeArrowheads="1"/>
          </p:cNvPicPr>
          <p:nvPr/>
        </p:nvPicPr>
        <p:blipFill>
          <a:blip r:embed="rId11" cstate="print">
            <a:extLst>
              <a:ext uri="{28A0092B-C50C-407E-A947-70E740481C1C}">
                <a14:useLocalDpi xmlns:a14="http://schemas.microsoft.com/office/drawing/2010/main" val="0"/>
              </a:ext>
            </a:extLst>
          </a:blip>
          <a:srcRect/>
          <a:stretch>
            <a:fillRect/>
          </a:stretch>
        </p:blipFill>
        <p:spPr bwMode="auto">
          <a:xfrm>
            <a:off x="4749113" y="4528762"/>
            <a:ext cx="661925" cy="872868"/>
          </a:xfrm>
          <a:prstGeom prst="rect">
            <a:avLst/>
          </a:prstGeom>
          <a:noFill/>
          <a:extLst>
            <a:ext uri="{909E8E84-426E-40DD-AFC4-6F175D3DCCD1}">
              <a14:hiddenFill xmlns:a14="http://schemas.microsoft.com/office/drawing/2010/main">
                <a:solidFill>
                  <a:srgbClr val="FFFFFF"/>
                </a:solidFill>
              </a14:hiddenFill>
            </a:ext>
          </a:extLst>
        </p:spPr>
      </p:pic>
      <p:pic>
        <p:nvPicPr>
          <p:cNvPr id="51" name="Picture 50">
            <a:extLst>
              <a:ext uri="{FF2B5EF4-FFF2-40B4-BE49-F238E27FC236}">
                <a16:creationId xmlns:a16="http://schemas.microsoft.com/office/drawing/2014/main" xmlns="" id="{1E4CE5B7-72EC-4360-9DE9-30D131BCEBC0}"/>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3705190" y="4715809"/>
            <a:ext cx="420129" cy="560172"/>
          </a:xfrm>
          <a:prstGeom prst="rect">
            <a:avLst/>
          </a:prstGeom>
        </p:spPr>
      </p:pic>
      <p:pic>
        <p:nvPicPr>
          <p:cNvPr id="28" name="Picture 2" descr="https://lh3.googleusercontent.com/-39DASUfyl5Y/WoF7J9AQzvI/AAAAAAAABqk/7W0N_9fCka0cL4tKaCWF9Oyxk2GDegYDwCL0BGAYYCw/h1080/2018-02-12.png">
            <a:extLst>
              <a:ext uri="{FF2B5EF4-FFF2-40B4-BE49-F238E27FC236}">
                <a16:creationId xmlns:a16="http://schemas.microsoft.com/office/drawing/2014/main" xmlns="" id="{37520420-D5DA-4385-99FB-EA56F90DBBC8}"/>
              </a:ext>
            </a:extLst>
          </p:cNvPr>
          <p:cNvPicPr>
            <a:picLocks noChangeAspect="1" noChangeArrowheads="1"/>
          </p:cNvPicPr>
          <p:nvPr/>
        </p:nvPicPr>
        <p:blipFill>
          <a:blip r:embed="rId11" cstate="print">
            <a:extLst>
              <a:ext uri="{28A0092B-C50C-407E-A947-70E740481C1C}">
                <a14:useLocalDpi xmlns:a14="http://schemas.microsoft.com/office/drawing/2010/main" val="0"/>
              </a:ext>
            </a:extLst>
          </a:blip>
          <a:srcRect/>
          <a:stretch>
            <a:fillRect/>
          </a:stretch>
        </p:blipFill>
        <p:spPr bwMode="auto">
          <a:xfrm>
            <a:off x="3876980" y="4528762"/>
            <a:ext cx="661925" cy="872868"/>
          </a:xfrm>
          <a:prstGeom prst="rect">
            <a:avLst/>
          </a:prstGeom>
          <a:noFill/>
          <a:extLst>
            <a:ext uri="{909E8E84-426E-40DD-AFC4-6F175D3DCCD1}">
              <a14:hiddenFill xmlns:a14="http://schemas.microsoft.com/office/drawing/2010/main">
                <a:solidFill>
                  <a:srgbClr val="FFFFFF"/>
                </a:solidFill>
              </a14:hiddenFill>
            </a:ext>
          </a:extLst>
        </p:spPr>
      </p:pic>
      <p:pic>
        <p:nvPicPr>
          <p:cNvPr id="2050" name="Picture 2" descr="https://lh3.googleusercontent.com/-39DASUfyl5Y/WoF7J9AQzvI/AAAAAAAABqk/7W0N_9fCka0cL4tKaCWF9Oyxk2GDegYDwCL0BGAYYCw/h1080/2018-02-12.png">
            <a:extLst>
              <a:ext uri="{FF2B5EF4-FFF2-40B4-BE49-F238E27FC236}">
                <a16:creationId xmlns:a16="http://schemas.microsoft.com/office/drawing/2014/main" xmlns="" id="{C96E863C-32ED-489B-90F6-F524A324D954}"/>
              </a:ext>
            </a:extLst>
          </p:cNvPr>
          <p:cNvPicPr>
            <a:picLocks noChangeAspect="1" noChangeArrowheads="1"/>
          </p:cNvPicPr>
          <p:nvPr/>
        </p:nvPicPr>
        <p:blipFill>
          <a:blip r:embed="rId12" cstate="print">
            <a:extLst>
              <a:ext uri="{28A0092B-C50C-407E-A947-70E740481C1C}">
                <a14:useLocalDpi xmlns:a14="http://schemas.microsoft.com/office/drawing/2010/main" val="0"/>
              </a:ext>
            </a:extLst>
          </a:blip>
          <a:srcRect/>
          <a:stretch>
            <a:fillRect/>
          </a:stretch>
        </p:blipFill>
        <p:spPr bwMode="auto">
          <a:xfrm>
            <a:off x="4222699" y="4773150"/>
            <a:ext cx="881022" cy="1161788"/>
          </a:xfrm>
          <a:prstGeom prst="rect">
            <a:avLst/>
          </a:prstGeom>
          <a:noFill/>
          <a:extLst>
            <a:ext uri="{909E8E84-426E-40DD-AFC4-6F175D3DCCD1}">
              <a14:hiddenFill xmlns:a14="http://schemas.microsoft.com/office/drawing/2010/main">
                <a:solidFill>
                  <a:srgbClr val="FFFFFF"/>
                </a:solidFill>
              </a14:hiddenFill>
            </a:ext>
          </a:extLst>
        </p:spPr>
      </p:pic>
      <p:pic>
        <p:nvPicPr>
          <p:cNvPr id="47" name="Picture 46">
            <a:extLst>
              <a:ext uri="{FF2B5EF4-FFF2-40B4-BE49-F238E27FC236}">
                <a16:creationId xmlns:a16="http://schemas.microsoft.com/office/drawing/2014/main" xmlns="" id="{19FE83D4-B3C2-4921-858F-0C691E59F82E}"/>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4745706" y="5110724"/>
            <a:ext cx="462142" cy="616189"/>
          </a:xfrm>
          <a:prstGeom prst="rect">
            <a:avLst/>
          </a:prstGeom>
        </p:spPr>
      </p:pic>
      <p:sp>
        <p:nvSpPr>
          <p:cNvPr id="41" name="Rectangle: Diagonal Corners Rounded 40">
            <a:extLst>
              <a:ext uri="{FF2B5EF4-FFF2-40B4-BE49-F238E27FC236}">
                <a16:creationId xmlns:a16="http://schemas.microsoft.com/office/drawing/2014/main" xmlns="" id="{15E07AA4-804E-49FA-85E7-463CCC108B11}"/>
              </a:ext>
            </a:extLst>
          </p:cNvPr>
          <p:cNvSpPr/>
          <p:nvPr/>
        </p:nvSpPr>
        <p:spPr bwMode="auto">
          <a:xfrm>
            <a:off x="3826353" y="5839614"/>
            <a:ext cx="1494005" cy="326693"/>
          </a:xfrm>
          <a:prstGeom prst="round2DiagRect">
            <a:avLst/>
          </a:prstGeom>
          <a:solidFill>
            <a:srgbClr val="FF4F4F"/>
          </a:solidFill>
          <a:ln w="12700" cap="flat" cmpd="sng" algn="ctr">
            <a:solidFill>
              <a:schemeClr val="bg1"/>
            </a:solidFill>
            <a:prstDash val="solid"/>
            <a:round/>
            <a:headEnd type="none" w="sm" len="sm"/>
            <a:tailEnd type="none" w="sm" len="sm"/>
          </a:ln>
          <a:effectLst>
            <a:outerShdw blurRad="50800" dist="38100" dir="5400000" algn="t" rotWithShape="0">
              <a:prstClr val="black">
                <a:alpha val="40000"/>
              </a:prstClr>
            </a:outerShdw>
          </a:effectLst>
        </p:spPr>
        <p:txBody>
          <a:bodyPr vert="horz" wrap="square" lIns="102413" tIns="51206" rIns="102413" bIns="51206" numCol="1" rtlCol="0" anchor="ctr" anchorCtr="0" compatLnSpc="1">
            <a:prstTxWarp prst="textNoShape">
              <a:avLst/>
            </a:prstTxWarp>
          </a:bodyPr>
          <a:lstStyle/>
          <a:p>
            <a:pPr algn="ctr">
              <a:spcBef>
                <a:spcPct val="20000"/>
              </a:spcBef>
              <a:buClr>
                <a:srgbClr val="FF0000"/>
              </a:buClr>
            </a:pPr>
            <a:r>
              <a:rPr lang="en-IN" sz="1200" dirty="0">
                <a:solidFill>
                  <a:schemeClr val="bg1"/>
                </a:solidFill>
              </a:rPr>
              <a:t>Scalability Issue</a:t>
            </a:r>
          </a:p>
        </p:txBody>
      </p:sp>
      <p:pic>
        <p:nvPicPr>
          <p:cNvPr id="32" name="Picture 31">
            <a:extLst>
              <a:ext uri="{FF2B5EF4-FFF2-40B4-BE49-F238E27FC236}">
                <a16:creationId xmlns:a16="http://schemas.microsoft.com/office/drawing/2014/main" xmlns="" id="{3701DC33-49B3-4EDE-9EA1-F9AF5C54C6A1}"/>
              </a:ext>
            </a:extLst>
          </p:cNvPr>
          <p:cNvPicPr>
            <a:picLocks noChangeAspect="1"/>
          </p:cNvPicPr>
          <p:nvPr/>
        </p:nvPicPr>
        <p:blipFill>
          <a:blip r:embed="rId13" cstate="print">
            <a:extLst>
              <a:ext uri="{28A0092B-C50C-407E-A947-70E740481C1C}">
                <a14:useLocalDpi xmlns:a14="http://schemas.microsoft.com/office/drawing/2010/main" val="0"/>
              </a:ext>
            </a:extLst>
          </a:blip>
          <a:stretch>
            <a:fillRect/>
          </a:stretch>
        </p:blipFill>
        <p:spPr>
          <a:xfrm>
            <a:off x="4324768" y="1233455"/>
            <a:ext cx="666153" cy="2476920"/>
          </a:xfrm>
          <a:prstGeom prst="rect">
            <a:avLst/>
          </a:prstGeom>
        </p:spPr>
      </p:pic>
    </p:spTree>
    <p:extLst>
      <p:ext uri="{BB962C8B-B14F-4D97-AF65-F5344CB8AC3E}">
        <p14:creationId xmlns:p14="http://schemas.microsoft.com/office/powerpoint/2010/main" val="2273735429"/>
      </p:ext>
    </p:extLst>
  </p:cSld>
  <p:clrMapOvr>
    <a:masterClrMapping/>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678BC99C-0BEC-4B78-AA1F-517EAA90CA28}"/>
              </a:ext>
            </a:extLst>
          </p:cNvPr>
          <p:cNvSpPr>
            <a:spLocks noGrp="1"/>
          </p:cNvSpPr>
          <p:nvPr>
            <p:ph type="title"/>
          </p:nvPr>
        </p:nvSpPr>
        <p:spPr/>
        <p:txBody>
          <a:bodyPr/>
          <a:lstStyle/>
          <a:p>
            <a:r>
              <a:rPr lang="en-IN" dirty="0"/>
              <a:t>Solution</a:t>
            </a:r>
          </a:p>
        </p:txBody>
      </p:sp>
      <p:sp>
        <p:nvSpPr>
          <p:cNvPr id="6" name="Rectangle: Rounded Corners 5">
            <a:extLst>
              <a:ext uri="{FF2B5EF4-FFF2-40B4-BE49-F238E27FC236}">
                <a16:creationId xmlns:a16="http://schemas.microsoft.com/office/drawing/2014/main" xmlns="" id="{A7C072BA-02CF-4256-9EBF-E54B5579B8E4}"/>
              </a:ext>
            </a:extLst>
          </p:cNvPr>
          <p:cNvSpPr/>
          <p:nvPr/>
        </p:nvSpPr>
        <p:spPr bwMode="auto">
          <a:xfrm>
            <a:off x="179513" y="1208055"/>
            <a:ext cx="8208911" cy="5088565"/>
          </a:xfrm>
          <a:prstGeom prst="roundRect">
            <a:avLst>
              <a:gd name="adj" fmla="val 1600"/>
            </a:avLst>
          </a:prstGeom>
          <a:solidFill>
            <a:srgbClr val="009999"/>
          </a:solidFill>
          <a:ln w="28575" cap="flat" cmpd="sng" algn="ctr">
            <a:solidFill>
              <a:schemeClr val="bg1"/>
            </a:solidFill>
            <a:prstDash val="solid"/>
            <a:round/>
            <a:headEnd type="none" w="sm" len="sm"/>
            <a:tailEnd type="none" w="sm" len="sm"/>
          </a:ln>
          <a:effectLst/>
        </p:spPr>
        <p:txBody>
          <a:bodyPr vert="horz" wrap="square" lIns="102413" tIns="51206" rIns="102413" bIns="51206" numCol="1" rtlCol="0" anchor="t" anchorCtr="0" compatLnSpc="1">
            <a:prstTxWarp prst="textNoShape">
              <a:avLst/>
            </a:prstTxWarp>
          </a:bodyPr>
          <a:lstStyle/>
          <a:p>
            <a:pPr algn="ctr">
              <a:spcBef>
                <a:spcPct val="20000"/>
              </a:spcBef>
              <a:buClr>
                <a:srgbClr val="FF0000"/>
              </a:buClr>
            </a:pPr>
            <a:endParaRPr lang="en-IN" sz="2000" dirty="0">
              <a:latin typeface="Arial" pitchFamily="34" charset="0"/>
            </a:endParaRPr>
          </a:p>
        </p:txBody>
      </p:sp>
      <p:pic>
        <p:nvPicPr>
          <p:cNvPr id="5" name="Picture 4" descr="A close up of a logo&#10;&#10;Description generated with high confidence">
            <a:extLst>
              <a:ext uri="{FF2B5EF4-FFF2-40B4-BE49-F238E27FC236}">
                <a16:creationId xmlns:a16="http://schemas.microsoft.com/office/drawing/2014/main" xmlns="" id="{59655080-3E10-45F2-86E1-C6466A237681}"/>
              </a:ext>
            </a:extLst>
          </p:cNvPr>
          <p:cNvPicPr>
            <a:picLocks noChangeAspect="1"/>
          </p:cNvPicPr>
          <p:nvPr/>
        </p:nvPicPr>
        <p:blipFill rotWithShape="1">
          <a:blip r:embed="rId2" cstate="print">
            <a:clrChange>
              <a:clrFrom>
                <a:srgbClr val="019BBD"/>
              </a:clrFrom>
              <a:clrTo>
                <a:srgbClr val="019BBD">
                  <a:alpha val="0"/>
                </a:srgbClr>
              </a:clrTo>
            </a:clrChange>
            <a:extLst>
              <a:ext uri="{28A0092B-C50C-407E-A947-70E740481C1C}">
                <a14:useLocalDpi xmlns:a14="http://schemas.microsoft.com/office/drawing/2010/main" val="0"/>
              </a:ext>
            </a:extLst>
          </a:blip>
          <a:srcRect l="54599" t="26708" r="4801" b="50893"/>
          <a:stretch/>
        </p:blipFill>
        <p:spPr>
          <a:xfrm>
            <a:off x="3191807" y="2570611"/>
            <a:ext cx="2779437" cy="2044644"/>
          </a:xfrm>
          <a:prstGeom prst="rect">
            <a:avLst/>
          </a:prstGeom>
          <a:effectLst>
            <a:outerShdw blurRad="50800" dist="63500" dir="5400000" algn="t" rotWithShape="0">
              <a:prstClr val="black">
                <a:alpha val="52000"/>
              </a:prstClr>
            </a:outerShdw>
          </a:effectLst>
        </p:spPr>
      </p:pic>
      <p:pic>
        <p:nvPicPr>
          <p:cNvPr id="7" name="Picture 6">
            <a:extLst>
              <a:ext uri="{FF2B5EF4-FFF2-40B4-BE49-F238E27FC236}">
                <a16:creationId xmlns:a16="http://schemas.microsoft.com/office/drawing/2014/main" xmlns="" id="{F1373622-5BCA-477F-BD73-8E9AD5EFDB1B}"/>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6273571" y="3823061"/>
            <a:ext cx="1962535" cy="1526152"/>
          </a:xfrm>
          <a:prstGeom prst="rect">
            <a:avLst/>
          </a:prstGeom>
        </p:spPr>
      </p:pic>
      <p:grpSp>
        <p:nvGrpSpPr>
          <p:cNvPr id="18" name="Group 17">
            <a:extLst>
              <a:ext uri="{FF2B5EF4-FFF2-40B4-BE49-F238E27FC236}">
                <a16:creationId xmlns:a16="http://schemas.microsoft.com/office/drawing/2014/main" xmlns="" id="{C6249B7D-1EA9-4984-A0D7-003C2A3DC925}"/>
              </a:ext>
            </a:extLst>
          </p:cNvPr>
          <p:cNvGrpSpPr/>
          <p:nvPr/>
        </p:nvGrpSpPr>
        <p:grpSpPr>
          <a:xfrm>
            <a:off x="6588225" y="1599447"/>
            <a:ext cx="1168435" cy="1233472"/>
            <a:chOff x="6780926" y="1436391"/>
            <a:chExt cx="1168435" cy="925104"/>
          </a:xfrm>
        </p:grpSpPr>
        <p:pic>
          <p:nvPicPr>
            <p:cNvPr id="16" name="Picture 15">
              <a:extLst>
                <a:ext uri="{FF2B5EF4-FFF2-40B4-BE49-F238E27FC236}">
                  <a16:creationId xmlns:a16="http://schemas.microsoft.com/office/drawing/2014/main" xmlns="" id="{1039B02B-3AF9-4F6E-ADC4-F96BDE178F1B}"/>
                </a:ext>
              </a:extLst>
            </p:cNvPr>
            <p:cNvPicPr>
              <a:picLocks noChangeAspect="1"/>
            </p:cNvPicPr>
            <p:nvPr/>
          </p:nvPicPr>
          <p:blipFill>
            <a:blip r:embed="rId4" cstate="print">
              <a:clrChange>
                <a:clrFrom>
                  <a:srgbClr val="FFFFFF"/>
                </a:clrFrom>
                <a:clrTo>
                  <a:srgbClr val="FFFFFF">
                    <a:alpha val="0"/>
                  </a:srgbClr>
                </a:clrTo>
              </a:clrChange>
              <a:extLst>
                <a:ext uri="{28A0092B-C50C-407E-A947-70E740481C1C}">
                  <a14:useLocalDpi xmlns:a14="http://schemas.microsoft.com/office/drawing/2010/main" val="0"/>
                </a:ext>
              </a:extLst>
            </a:blip>
            <a:stretch>
              <a:fillRect/>
            </a:stretch>
          </p:blipFill>
          <p:spPr>
            <a:xfrm>
              <a:off x="6780926" y="1436391"/>
              <a:ext cx="729270" cy="925104"/>
            </a:xfrm>
            <a:prstGeom prst="rect">
              <a:avLst/>
            </a:prstGeom>
          </p:spPr>
        </p:pic>
        <p:pic>
          <p:nvPicPr>
            <p:cNvPr id="15" name="Picture 14">
              <a:extLst>
                <a:ext uri="{FF2B5EF4-FFF2-40B4-BE49-F238E27FC236}">
                  <a16:creationId xmlns:a16="http://schemas.microsoft.com/office/drawing/2014/main" xmlns="" id="{750D70CE-9359-49AB-931C-B665024D1764}"/>
                </a:ext>
              </a:extLst>
            </p:cNvPr>
            <p:cNvPicPr>
              <a:picLocks noChangeAspect="1"/>
            </p:cNvPicPr>
            <p:nvPr/>
          </p:nvPicPr>
          <p:blipFill>
            <a:blip r:embed="rId5" cstate="print">
              <a:clrChange>
                <a:clrFrom>
                  <a:srgbClr val="FFFFFF"/>
                </a:clrFrom>
                <a:clrTo>
                  <a:srgbClr val="FFFFFF">
                    <a:alpha val="0"/>
                  </a:srgbClr>
                </a:clrTo>
              </a:clrChange>
              <a:extLst>
                <a:ext uri="{28A0092B-C50C-407E-A947-70E740481C1C}">
                  <a14:useLocalDpi xmlns:a14="http://schemas.microsoft.com/office/drawing/2010/main" val="0"/>
                </a:ext>
              </a:extLst>
            </a:blip>
            <a:stretch>
              <a:fillRect/>
            </a:stretch>
          </p:blipFill>
          <p:spPr>
            <a:xfrm>
              <a:off x="7447540" y="1436391"/>
              <a:ext cx="501821" cy="925104"/>
            </a:xfrm>
            <a:prstGeom prst="rect">
              <a:avLst/>
            </a:prstGeom>
          </p:spPr>
        </p:pic>
      </p:grpSp>
      <p:pic>
        <p:nvPicPr>
          <p:cNvPr id="19" name="Picture 18">
            <a:extLst>
              <a:ext uri="{FF2B5EF4-FFF2-40B4-BE49-F238E27FC236}">
                <a16:creationId xmlns:a16="http://schemas.microsoft.com/office/drawing/2014/main" xmlns="" id="{5B7E32CD-9219-4B78-A17E-7C06D50CA493}"/>
              </a:ext>
            </a:extLst>
          </p:cNvPr>
          <p:cNvPicPr>
            <a:picLocks noChangeAspect="1"/>
          </p:cNvPicPr>
          <p:nvPr/>
        </p:nvPicPr>
        <p:blipFill>
          <a:blip r:embed="rId6" cstate="print">
            <a:grayscl/>
            <a:extLst>
              <a:ext uri="{BEBA8EAE-BF5A-486C-A8C5-ECC9F3942E4B}">
                <a14:imgProps xmlns:a14="http://schemas.microsoft.com/office/drawing/2010/main">
                  <a14:imgLayer r:embed="rId7">
                    <a14:imgEffect>
                      <a14:colorTemperature colorTemp="10957"/>
                    </a14:imgEffect>
                    <a14:imgEffect>
                      <a14:saturation sat="174000"/>
                    </a14:imgEffect>
                  </a14:imgLayer>
                </a14:imgProps>
              </a:ext>
              <a:ext uri="{28A0092B-C50C-407E-A947-70E740481C1C}">
                <a14:useLocalDpi xmlns:a14="http://schemas.microsoft.com/office/drawing/2010/main" val="0"/>
              </a:ext>
            </a:extLst>
          </a:blip>
          <a:stretch>
            <a:fillRect/>
          </a:stretch>
        </p:blipFill>
        <p:spPr>
          <a:xfrm flipH="1">
            <a:off x="1693473" y="1641316"/>
            <a:ext cx="862303" cy="1149737"/>
          </a:xfrm>
          <a:prstGeom prst="rect">
            <a:avLst/>
          </a:prstGeom>
        </p:spPr>
      </p:pic>
      <p:pic>
        <p:nvPicPr>
          <p:cNvPr id="23" name="Picture 22" descr="A screenshot of a computer&#10;&#10;Description generated with high confidence">
            <a:extLst>
              <a:ext uri="{FF2B5EF4-FFF2-40B4-BE49-F238E27FC236}">
                <a16:creationId xmlns:a16="http://schemas.microsoft.com/office/drawing/2014/main" xmlns="" id="{D1C2A5C8-3332-4259-8DBD-4C87FF1D207B}"/>
              </a:ext>
            </a:extLst>
          </p:cNvPr>
          <p:cNvPicPr>
            <a:picLocks noChangeAspect="1"/>
          </p:cNvPicPr>
          <p:nvPr/>
        </p:nvPicPr>
        <p:blipFill>
          <a:blip r:embed="rId8" cstate="print">
            <a:clrChange>
              <a:clrFrom>
                <a:srgbClr val="FFFFFF"/>
              </a:clrFrom>
              <a:clrTo>
                <a:srgbClr val="FFFFFF">
                  <a:alpha val="0"/>
                </a:srgbClr>
              </a:clrTo>
            </a:clrChange>
            <a:extLst>
              <a:ext uri="{28A0092B-C50C-407E-A947-70E740481C1C}">
                <a14:useLocalDpi xmlns:a14="http://schemas.microsoft.com/office/drawing/2010/main" val="0"/>
              </a:ext>
            </a:extLst>
          </a:blip>
          <a:stretch>
            <a:fillRect/>
          </a:stretch>
        </p:blipFill>
        <p:spPr>
          <a:xfrm>
            <a:off x="1003625" y="3701242"/>
            <a:ext cx="2236621" cy="1385927"/>
          </a:xfrm>
          <a:prstGeom prst="rect">
            <a:avLst/>
          </a:prstGeom>
        </p:spPr>
      </p:pic>
      <p:sp>
        <p:nvSpPr>
          <p:cNvPr id="24" name="TextBox 23">
            <a:extLst>
              <a:ext uri="{FF2B5EF4-FFF2-40B4-BE49-F238E27FC236}">
                <a16:creationId xmlns:a16="http://schemas.microsoft.com/office/drawing/2014/main" xmlns="" id="{763E18FF-46A9-4382-9E26-0E213F560DB0}"/>
              </a:ext>
            </a:extLst>
          </p:cNvPr>
          <p:cNvSpPr txBox="1"/>
          <p:nvPr/>
        </p:nvSpPr>
        <p:spPr>
          <a:xfrm>
            <a:off x="2822888" y="1409138"/>
            <a:ext cx="3496165" cy="702962"/>
          </a:xfrm>
          <a:prstGeom prst="rect">
            <a:avLst/>
          </a:prstGeom>
          <a:noFill/>
        </p:spPr>
        <p:txBody>
          <a:bodyPr wrap="square" lIns="25603" tIns="12802" rIns="25603" bIns="12802" rtlCol="0">
            <a:spAutoFit/>
          </a:bodyPr>
          <a:lstStyle/>
          <a:p>
            <a:pPr algn="ctr"/>
            <a:r>
              <a:rPr lang="en-IN" sz="2200" dirty="0">
                <a:solidFill>
                  <a:schemeClr val="bg1"/>
                </a:solidFill>
                <a:latin typeface="Cooper Black" panose="0208090404030B020404" pitchFamily="18" charset="0"/>
              </a:rPr>
              <a:t>CLOUD </a:t>
            </a:r>
          </a:p>
          <a:p>
            <a:pPr algn="ctr"/>
            <a:r>
              <a:rPr lang="en-IN" sz="2200" dirty="0">
                <a:solidFill>
                  <a:schemeClr val="bg1"/>
                </a:solidFill>
                <a:latin typeface="Cooper Black" panose="0208090404030B020404" pitchFamily="18" charset="0"/>
              </a:rPr>
              <a:t>COMPUTING</a:t>
            </a:r>
          </a:p>
        </p:txBody>
      </p:sp>
      <p:cxnSp>
        <p:nvCxnSpPr>
          <p:cNvPr id="26" name="Straight Connector 25">
            <a:extLst>
              <a:ext uri="{FF2B5EF4-FFF2-40B4-BE49-F238E27FC236}">
                <a16:creationId xmlns:a16="http://schemas.microsoft.com/office/drawing/2014/main" xmlns="" id="{729A1391-2389-4102-8E77-367EC71F5719}"/>
              </a:ext>
            </a:extLst>
          </p:cNvPr>
          <p:cNvCxnSpPr/>
          <p:nvPr/>
        </p:nvCxnSpPr>
        <p:spPr bwMode="auto">
          <a:xfrm flipH="1" flipV="1">
            <a:off x="2580159" y="2684636"/>
            <a:ext cx="1152129" cy="672075"/>
          </a:xfrm>
          <a:prstGeom prst="line">
            <a:avLst/>
          </a:prstGeom>
          <a:noFill/>
          <a:ln w="12700" cap="flat" cmpd="sng" algn="ctr">
            <a:solidFill>
              <a:schemeClr val="bg1"/>
            </a:solidFill>
            <a:prstDash val="sysDash"/>
            <a:round/>
            <a:headEnd type="none" w="sm" len="sm"/>
            <a:tailEnd type="none" w="sm" len="sm"/>
          </a:ln>
          <a:effectLst/>
        </p:spPr>
      </p:cxnSp>
      <p:cxnSp>
        <p:nvCxnSpPr>
          <p:cNvPr id="27" name="Straight Connector 26">
            <a:extLst>
              <a:ext uri="{FF2B5EF4-FFF2-40B4-BE49-F238E27FC236}">
                <a16:creationId xmlns:a16="http://schemas.microsoft.com/office/drawing/2014/main" xmlns="" id="{76D7718C-2D15-436E-8B5C-78D79834E8A2}"/>
              </a:ext>
            </a:extLst>
          </p:cNvPr>
          <p:cNvCxnSpPr>
            <a:cxnSpLocks/>
          </p:cNvCxnSpPr>
          <p:nvPr/>
        </p:nvCxnSpPr>
        <p:spPr bwMode="auto">
          <a:xfrm flipV="1">
            <a:off x="5408311" y="2627623"/>
            <a:ext cx="1347601" cy="786100"/>
          </a:xfrm>
          <a:prstGeom prst="line">
            <a:avLst/>
          </a:prstGeom>
          <a:noFill/>
          <a:ln w="12700" cap="flat" cmpd="sng" algn="ctr">
            <a:solidFill>
              <a:schemeClr val="bg1"/>
            </a:solidFill>
            <a:prstDash val="sysDash"/>
            <a:round/>
            <a:headEnd type="none" w="sm" len="sm"/>
            <a:tailEnd type="none" w="sm" len="sm"/>
          </a:ln>
          <a:effectLst/>
        </p:spPr>
      </p:cxnSp>
      <p:cxnSp>
        <p:nvCxnSpPr>
          <p:cNvPr id="30" name="Straight Connector 29">
            <a:extLst>
              <a:ext uri="{FF2B5EF4-FFF2-40B4-BE49-F238E27FC236}">
                <a16:creationId xmlns:a16="http://schemas.microsoft.com/office/drawing/2014/main" xmlns="" id="{9B919DF8-2E40-4D8F-94B2-E2FDD9BD3560}"/>
              </a:ext>
            </a:extLst>
          </p:cNvPr>
          <p:cNvCxnSpPr>
            <a:cxnSpLocks/>
          </p:cNvCxnSpPr>
          <p:nvPr/>
        </p:nvCxnSpPr>
        <p:spPr bwMode="auto">
          <a:xfrm flipV="1">
            <a:off x="3095949" y="4387315"/>
            <a:ext cx="532047" cy="487187"/>
          </a:xfrm>
          <a:prstGeom prst="line">
            <a:avLst/>
          </a:prstGeom>
          <a:noFill/>
          <a:ln w="12700" cap="flat" cmpd="sng" algn="ctr">
            <a:solidFill>
              <a:schemeClr val="bg1"/>
            </a:solidFill>
            <a:prstDash val="sysDash"/>
            <a:round/>
            <a:headEnd type="none" w="sm" len="sm"/>
            <a:tailEnd type="none" w="sm" len="sm"/>
          </a:ln>
          <a:effectLst/>
        </p:spPr>
      </p:cxnSp>
      <p:cxnSp>
        <p:nvCxnSpPr>
          <p:cNvPr id="34" name="Straight Connector 33">
            <a:extLst>
              <a:ext uri="{FF2B5EF4-FFF2-40B4-BE49-F238E27FC236}">
                <a16:creationId xmlns:a16="http://schemas.microsoft.com/office/drawing/2014/main" xmlns="" id="{FE269136-B3EF-4D31-ACD7-C7D78456973B}"/>
              </a:ext>
            </a:extLst>
          </p:cNvPr>
          <p:cNvCxnSpPr>
            <a:cxnSpLocks/>
          </p:cNvCxnSpPr>
          <p:nvPr/>
        </p:nvCxnSpPr>
        <p:spPr bwMode="auto">
          <a:xfrm flipH="1" flipV="1">
            <a:off x="5650257" y="4387315"/>
            <a:ext cx="532047" cy="487187"/>
          </a:xfrm>
          <a:prstGeom prst="line">
            <a:avLst/>
          </a:prstGeom>
          <a:noFill/>
          <a:ln w="12700" cap="flat" cmpd="sng" algn="ctr">
            <a:solidFill>
              <a:schemeClr val="bg1"/>
            </a:solidFill>
            <a:prstDash val="sysDash"/>
            <a:round/>
            <a:headEnd type="none" w="sm" len="sm"/>
            <a:tailEnd type="none" w="sm" len="sm"/>
          </a:ln>
          <a:effectLst/>
        </p:spPr>
      </p:cxnSp>
      <p:cxnSp>
        <p:nvCxnSpPr>
          <p:cNvPr id="35" name="Straight Connector 34">
            <a:extLst>
              <a:ext uri="{FF2B5EF4-FFF2-40B4-BE49-F238E27FC236}">
                <a16:creationId xmlns:a16="http://schemas.microsoft.com/office/drawing/2014/main" xmlns="" id="{B028891F-9987-4AD2-9C47-FA22C340C59A}"/>
              </a:ext>
            </a:extLst>
          </p:cNvPr>
          <p:cNvCxnSpPr>
            <a:cxnSpLocks/>
          </p:cNvCxnSpPr>
          <p:nvPr/>
        </p:nvCxnSpPr>
        <p:spPr bwMode="auto">
          <a:xfrm flipV="1">
            <a:off x="4570970" y="4427681"/>
            <a:ext cx="0" cy="468400"/>
          </a:xfrm>
          <a:prstGeom prst="line">
            <a:avLst/>
          </a:prstGeom>
          <a:noFill/>
          <a:ln w="12700" cap="flat" cmpd="sng" algn="ctr">
            <a:solidFill>
              <a:schemeClr val="bg1"/>
            </a:solidFill>
            <a:prstDash val="sysDash"/>
            <a:round/>
            <a:headEnd type="none" w="sm" len="sm"/>
            <a:tailEnd type="none" w="sm" len="sm"/>
          </a:ln>
          <a:effectLst/>
        </p:spPr>
      </p:cxnSp>
      <p:pic>
        <p:nvPicPr>
          <p:cNvPr id="3074" name="Picture 2" descr="https://lh3.googleusercontent.com/-VMesthOwvbA/WoF_yEeks2I/AAAAAAAABq8/2YEvBP7di4MR970H23ycAcNAqbjYmB9pQCL0BGAYYCw/h1000/2018-02-12.png">
            <a:extLst>
              <a:ext uri="{FF2B5EF4-FFF2-40B4-BE49-F238E27FC236}">
                <a16:creationId xmlns:a16="http://schemas.microsoft.com/office/drawing/2014/main" xmlns="" id="{E1023826-406B-4429-8C11-24248BFD67DE}"/>
              </a:ext>
            </a:extLst>
          </p:cNvPr>
          <p:cNvPicPr>
            <a:picLocks noChangeAspect="1" noChangeArrowheads="1"/>
          </p:cNvPicPr>
          <p:nvPr/>
        </p:nvPicPr>
        <p:blipFill>
          <a:blip r:embed="rId9" cstate="print">
            <a:extLst>
              <a:ext uri="{28A0092B-C50C-407E-A947-70E740481C1C}">
                <a14:useLocalDpi xmlns:a14="http://schemas.microsoft.com/office/drawing/2010/main" val="0"/>
              </a:ext>
            </a:extLst>
          </a:blip>
          <a:srcRect/>
          <a:stretch>
            <a:fillRect/>
          </a:stretch>
        </p:blipFill>
        <p:spPr bwMode="auto">
          <a:xfrm>
            <a:off x="2202885" y="2204703"/>
            <a:ext cx="633682" cy="844909"/>
          </a:xfrm>
          <a:prstGeom prst="rect">
            <a:avLst/>
          </a:prstGeom>
          <a:noFill/>
          <a:extLst>
            <a:ext uri="{909E8E84-426E-40DD-AFC4-6F175D3DCCD1}">
              <a14:hiddenFill xmlns:a14="http://schemas.microsoft.com/office/drawing/2010/main">
                <a:solidFill>
                  <a:srgbClr val="FFFFFF"/>
                </a:solidFill>
              </a14:hiddenFill>
            </a:ext>
          </a:extLst>
        </p:spPr>
      </p:pic>
      <p:sp>
        <p:nvSpPr>
          <p:cNvPr id="43" name="TextBox 42">
            <a:extLst>
              <a:ext uri="{FF2B5EF4-FFF2-40B4-BE49-F238E27FC236}">
                <a16:creationId xmlns:a16="http://schemas.microsoft.com/office/drawing/2014/main" xmlns="" id="{E1399772-93A4-40A3-82D5-EA3C9A6B88B7}"/>
              </a:ext>
            </a:extLst>
          </p:cNvPr>
          <p:cNvSpPr txBox="1"/>
          <p:nvPr/>
        </p:nvSpPr>
        <p:spPr>
          <a:xfrm>
            <a:off x="1481949" y="2778589"/>
            <a:ext cx="1073253" cy="425964"/>
          </a:xfrm>
          <a:prstGeom prst="rect">
            <a:avLst/>
          </a:prstGeom>
          <a:noFill/>
        </p:spPr>
        <p:txBody>
          <a:bodyPr wrap="square" lIns="25603" tIns="12802" rIns="25603" bIns="12802" rtlCol="0">
            <a:spAutoFit/>
          </a:bodyPr>
          <a:lstStyle/>
          <a:p>
            <a:pPr algn="ctr"/>
            <a:r>
              <a:rPr lang="en-IN" sz="1300" b="1" dirty="0">
                <a:solidFill>
                  <a:schemeClr val="bg1"/>
                </a:solidFill>
              </a:rPr>
              <a:t>Database &amp; Security</a:t>
            </a:r>
          </a:p>
        </p:txBody>
      </p:sp>
      <p:sp>
        <p:nvSpPr>
          <p:cNvPr id="44" name="TextBox 43">
            <a:extLst>
              <a:ext uri="{FF2B5EF4-FFF2-40B4-BE49-F238E27FC236}">
                <a16:creationId xmlns:a16="http://schemas.microsoft.com/office/drawing/2014/main" xmlns="" id="{6586B078-E76D-43D3-837A-699942C99436}"/>
              </a:ext>
            </a:extLst>
          </p:cNvPr>
          <p:cNvSpPr txBox="1"/>
          <p:nvPr/>
        </p:nvSpPr>
        <p:spPr>
          <a:xfrm>
            <a:off x="6605519" y="2785511"/>
            <a:ext cx="1298637" cy="425964"/>
          </a:xfrm>
          <a:prstGeom prst="rect">
            <a:avLst/>
          </a:prstGeom>
          <a:noFill/>
        </p:spPr>
        <p:txBody>
          <a:bodyPr wrap="square" lIns="25603" tIns="12802" rIns="25603" bIns="12802" rtlCol="0">
            <a:spAutoFit/>
          </a:bodyPr>
          <a:lstStyle/>
          <a:p>
            <a:pPr algn="ctr"/>
            <a:r>
              <a:rPr lang="en-IN" sz="1300" b="1" dirty="0">
                <a:solidFill>
                  <a:schemeClr val="bg1"/>
                </a:solidFill>
              </a:rPr>
              <a:t>Dynamically Scalable Servers</a:t>
            </a:r>
          </a:p>
        </p:txBody>
      </p:sp>
      <p:sp>
        <p:nvSpPr>
          <p:cNvPr id="45" name="TextBox 44">
            <a:extLst>
              <a:ext uri="{FF2B5EF4-FFF2-40B4-BE49-F238E27FC236}">
                <a16:creationId xmlns:a16="http://schemas.microsoft.com/office/drawing/2014/main" xmlns="" id="{DD927A91-999B-402A-8C50-7FE6563A43B4}"/>
              </a:ext>
            </a:extLst>
          </p:cNvPr>
          <p:cNvSpPr txBox="1"/>
          <p:nvPr/>
        </p:nvSpPr>
        <p:spPr>
          <a:xfrm>
            <a:off x="1485739" y="5123922"/>
            <a:ext cx="1272388" cy="425964"/>
          </a:xfrm>
          <a:prstGeom prst="rect">
            <a:avLst/>
          </a:prstGeom>
          <a:noFill/>
        </p:spPr>
        <p:txBody>
          <a:bodyPr wrap="square" lIns="25603" tIns="12802" rIns="25603" bIns="12802" rtlCol="0">
            <a:spAutoFit/>
          </a:bodyPr>
          <a:lstStyle/>
          <a:p>
            <a:pPr algn="ctr"/>
            <a:r>
              <a:rPr lang="en-IN" sz="1300" b="1" dirty="0">
                <a:solidFill>
                  <a:schemeClr val="bg1"/>
                </a:solidFill>
              </a:rPr>
              <a:t>Remote Access to Devices</a:t>
            </a:r>
          </a:p>
        </p:txBody>
      </p:sp>
      <p:sp>
        <p:nvSpPr>
          <p:cNvPr id="46" name="TextBox 45">
            <a:extLst>
              <a:ext uri="{FF2B5EF4-FFF2-40B4-BE49-F238E27FC236}">
                <a16:creationId xmlns:a16="http://schemas.microsoft.com/office/drawing/2014/main" xmlns="" id="{2BF758AD-B3B5-41DD-B79A-409620C577B6}"/>
              </a:ext>
            </a:extLst>
          </p:cNvPr>
          <p:cNvSpPr txBox="1"/>
          <p:nvPr/>
        </p:nvSpPr>
        <p:spPr>
          <a:xfrm>
            <a:off x="6485041" y="5336644"/>
            <a:ext cx="1539590" cy="225909"/>
          </a:xfrm>
          <a:prstGeom prst="rect">
            <a:avLst/>
          </a:prstGeom>
          <a:noFill/>
        </p:spPr>
        <p:txBody>
          <a:bodyPr wrap="square" lIns="25603" tIns="12802" rIns="25603" bIns="12802" rtlCol="0">
            <a:spAutoFit/>
          </a:bodyPr>
          <a:lstStyle/>
          <a:p>
            <a:pPr algn="ctr"/>
            <a:r>
              <a:rPr lang="en-IN" sz="1300" b="1" dirty="0">
                <a:solidFill>
                  <a:schemeClr val="bg1"/>
                </a:solidFill>
              </a:rPr>
              <a:t>Fast Computation</a:t>
            </a:r>
          </a:p>
        </p:txBody>
      </p:sp>
      <p:sp>
        <p:nvSpPr>
          <p:cNvPr id="47" name="TextBox 46">
            <a:extLst>
              <a:ext uri="{FF2B5EF4-FFF2-40B4-BE49-F238E27FC236}">
                <a16:creationId xmlns:a16="http://schemas.microsoft.com/office/drawing/2014/main" xmlns="" id="{BCA1CF22-457A-4D42-8CCA-746B90C27124}"/>
              </a:ext>
            </a:extLst>
          </p:cNvPr>
          <p:cNvSpPr txBox="1"/>
          <p:nvPr/>
        </p:nvSpPr>
        <p:spPr>
          <a:xfrm>
            <a:off x="3639517" y="5733256"/>
            <a:ext cx="1862904" cy="225909"/>
          </a:xfrm>
          <a:prstGeom prst="rect">
            <a:avLst/>
          </a:prstGeom>
          <a:noFill/>
        </p:spPr>
        <p:txBody>
          <a:bodyPr wrap="square" lIns="25603" tIns="12802" rIns="25603" bIns="12802" rtlCol="0">
            <a:spAutoFit/>
          </a:bodyPr>
          <a:lstStyle/>
          <a:p>
            <a:pPr algn="ctr"/>
            <a:r>
              <a:rPr lang="en-IN" sz="1300" b="1" dirty="0">
                <a:solidFill>
                  <a:schemeClr val="bg1"/>
                </a:solidFill>
              </a:rPr>
              <a:t>Reduced Cost &amp; Overhead</a:t>
            </a:r>
          </a:p>
        </p:txBody>
      </p:sp>
      <p:pic>
        <p:nvPicPr>
          <p:cNvPr id="4" name="Picture 3" descr="A close up of a logo&#10;&#10;Description generated with high confidence">
            <a:extLst>
              <a:ext uri="{FF2B5EF4-FFF2-40B4-BE49-F238E27FC236}">
                <a16:creationId xmlns:a16="http://schemas.microsoft.com/office/drawing/2014/main" xmlns="" id="{B5D2B53E-71EB-4AE2-A79E-3D9BE8429DDE}"/>
              </a:ext>
            </a:extLst>
          </p:cNvPr>
          <p:cNvPicPr>
            <a:picLocks noChangeAspect="1"/>
          </p:cNvPicPr>
          <p:nvPr/>
        </p:nvPicPr>
        <p:blipFill>
          <a:blip r:embed="rId10" cstate="print">
            <a:clrChange>
              <a:clrFrom>
                <a:srgbClr val="94BBA8"/>
              </a:clrFrom>
              <a:clrTo>
                <a:srgbClr val="94BBA8">
                  <a:alpha val="0"/>
                </a:srgbClr>
              </a:clrTo>
            </a:clrChange>
            <a:extLst>
              <a:ext uri="{28A0092B-C50C-407E-A947-70E740481C1C}">
                <a14:useLocalDpi xmlns:a14="http://schemas.microsoft.com/office/drawing/2010/main" val="0"/>
              </a:ext>
            </a:extLst>
          </a:blip>
          <a:stretch>
            <a:fillRect/>
          </a:stretch>
        </p:blipFill>
        <p:spPr>
          <a:xfrm>
            <a:off x="3542572" y="4136386"/>
            <a:ext cx="2049470" cy="2049471"/>
          </a:xfrm>
          <a:prstGeom prst="rect">
            <a:avLst/>
          </a:prstGeom>
        </p:spPr>
      </p:pic>
    </p:spTree>
    <p:extLst>
      <p:ext uri="{BB962C8B-B14F-4D97-AF65-F5344CB8AC3E}">
        <p14:creationId xmlns:p14="http://schemas.microsoft.com/office/powerpoint/2010/main" val="1043022343"/>
      </p:ext>
    </p:extLst>
  </p:cSld>
  <p:clrMapOvr>
    <a:masterClrMapping/>
  </p:clrMapOvr>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57982A32-3B7B-42E5-BC40-244D84B3657D}"/>
              </a:ext>
            </a:extLst>
          </p:cNvPr>
          <p:cNvSpPr>
            <a:spLocks noGrp="1"/>
          </p:cNvSpPr>
          <p:nvPr>
            <p:ph type="title"/>
          </p:nvPr>
        </p:nvSpPr>
        <p:spPr/>
        <p:txBody>
          <a:bodyPr/>
          <a:lstStyle/>
          <a:p>
            <a:r>
              <a:rPr lang="en-IN" dirty="0"/>
              <a:t>Cloud Computing</a:t>
            </a:r>
          </a:p>
        </p:txBody>
      </p:sp>
      <p:sp>
        <p:nvSpPr>
          <p:cNvPr id="3" name="Text Placeholder 2">
            <a:extLst>
              <a:ext uri="{FF2B5EF4-FFF2-40B4-BE49-F238E27FC236}">
                <a16:creationId xmlns:a16="http://schemas.microsoft.com/office/drawing/2014/main" xmlns="" id="{1D028737-B4ED-4D69-9483-D0C36C0104F6}"/>
              </a:ext>
            </a:extLst>
          </p:cNvPr>
          <p:cNvSpPr>
            <a:spLocks noGrp="1"/>
          </p:cNvSpPr>
          <p:nvPr>
            <p:ph type="body" sz="quarter" idx="10"/>
          </p:nvPr>
        </p:nvSpPr>
        <p:spPr>
          <a:xfrm>
            <a:off x="466726" y="2031242"/>
            <a:ext cx="4105275" cy="3187651"/>
          </a:xfrm>
        </p:spPr>
        <p:txBody>
          <a:bodyPr/>
          <a:lstStyle/>
          <a:p>
            <a:pPr marL="192024" indent="-192024" algn="just" defTabSz="256032">
              <a:buClr>
                <a:schemeClr val="tx1"/>
              </a:buClr>
              <a:buFont typeface="Wingdings" panose="05000000000000000000" pitchFamily="2" charset="2"/>
              <a:buChar char="Ø"/>
            </a:pPr>
            <a:r>
              <a:rPr lang="en-IN" sz="1300" dirty="0">
                <a:latin typeface="Gill Sans"/>
                <a:cs typeface="Arial" charset="0"/>
              </a:rPr>
              <a:t>Cloud computing is the on-demand delivery of </a:t>
            </a:r>
            <a:r>
              <a:rPr lang="en-IN" sz="1300" i="1" dirty="0">
                <a:solidFill>
                  <a:schemeClr val="accent1"/>
                </a:solidFill>
                <a:latin typeface="Gill Sans"/>
                <a:cs typeface="Arial" charset="0"/>
              </a:rPr>
              <a:t>compute power</a:t>
            </a:r>
            <a:r>
              <a:rPr lang="en-IN" sz="1300" dirty="0">
                <a:solidFill>
                  <a:schemeClr val="accent1"/>
                </a:solidFill>
                <a:latin typeface="Gill Sans"/>
                <a:cs typeface="Arial" charset="0"/>
              </a:rPr>
              <a:t>, </a:t>
            </a:r>
            <a:r>
              <a:rPr lang="en-IN" sz="1300" i="1" dirty="0">
                <a:solidFill>
                  <a:schemeClr val="accent1"/>
                </a:solidFill>
                <a:latin typeface="Gill Sans"/>
                <a:cs typeface="Arial" charset="0"/>
              </a:rPr>
              <a:t>database storage</a:t>
            </a:r>
            <a:r>
              <a:rPr lang="en-IN" sz="1300" dirty="0">
                <a:solidFill>
                  <a:schemeClr val="accent1"/>
                </a:solidFill>
                <a:latin typeface="Gill Sans"/>
                <a:cs typeface="Arial" charset="0"/>
              </a:rPr>
              <a:t>, </a:t>
            </a:r>
            <a:r>
              <a:rPr lang="en-IN" sz="1300" i="1" dirty="0">
                <a:solidFill>
                  <a:schemeClr val="accent1"/>
                </a:solidFill>
                <a:latin typeface="Gill Sans"/>
                <a:cs typeface="Arial" charset="0"/>
              </a:rPr>
              <a:t>applications, and other IT resources</a:t>
            </a:r>
            <a:r>
              <a:rPr lang="en-IN" sz="1300" dirty="0">
                <a:solidFill>
                  <a:schemeClr val="accent1"/>
                </a:solidFill>
                <a:latin typeface="Gill Sans"/>
                <a:cs typeface="Arial" charset="0"/>
              </a:rPr>
              <a:t> </a:t>
            </a:r>
            <a:r>
              <a:rPr lang="en-IN" sz="1300" dirty="0">
                <a:latin typeface="Gill Sans"/>
                <a:cs typeface="Arial" charset="0"/>
              </a:rPr>
              <a:t>through a </a:t>
            </a:r>
            <a:r>
              <a:rPr lang="en-IN" sz="1300" i="1" dirty="0">
                <a:latin typeface="Gill Sans"/>
                <a:cs typeface="Arial" charset="0"/>
              </a:rPr>
              <a:t>cloud services platform </a:t>
            </a:r>
            <a:r>
              <a:rPr lang="en-IN" sz="1300" dirty="0">
                <a:latin typeface="Gill Sans"/>
                <a:cs typeface="Arial" charset="0"/>
              </a:rPr>
              <a:t>via the internet with pay-as-you-go pricing</a:t>
            </a:r>
          </a:p>
          <a:p>
            <a:pPr indent="0" defTabSz="256032">
              <a:lnSpc>
                <a:spcPct val="200000"/>
              </a:lnSpc>
              <a:buClr>
                <a:srgbClr val="FF0000"/>
              </a:buClr>
            </a:pPr>
            <a:endParaRPr lang="en-IN" sz="1300" dirty="0">
              <a:latin typeface="Gill Sans"/>
              <a:cs typeface="Arial" charset="0"/>
            </a:endParaRPr>
          </a:p>
          <a:p>
            <a:pPr marL="192024" indent="-192024" algn="just" defTabSz="256032">
              <a:buClr>
                <a:schemeClr val="tx1"/>
              </a:buClr>
              <a:buFont typeface="Wingdings" panose="05000000000000000000" pitchFamily="2" charset="2"/>
              <a:buChar char="Ø"/>
            </a:pPr>
            <a:r>
              <a:rPr lang="en-IN" sz="1300" dirty="0">
                <a:latin typeface="Gill Sans"/>
                <a:cs typeface="Arial" charset="0"/>
              </a:rPr>
              <a:t>It is the </a:t>
            </a:r>
            <a:r>
              <a:rPr lang="en-IN" sz="1300" i="1" dirty="0">
                <a:solidFill>
                  <a:schemeClr val="accent1"/>
                </a:solidFill>
                <a:latin typeface="Gill Sans"/>
                <a:cs typeface="Arial" charset="0"/>
              </a:rPr>
              <a:t>use of remote servers on the internet</a:t>
            </a:r>
            <a:r>
              <a:rPr lang="en-IN" sz="1300" dirty="0">
                <a:latin typeface="Gill Sans"/>
                <a:cs typeface="Arial" charset="0"/>
              </a:rPr>
              <a:t> to store, manage and process data rather than a local server or your personal computer</a:t>
            </a:r>
          </a:p>
        </p:txBody>
      </p:sp>
      <p:pic>
        <p:nvPicPr>
          <p:cNvPr id="5" name="Picture 4" descr="A close up of text on a white background&#10;&#10;Description generated with high confidence">
            <a:extLst>
              <a:ext uri="{FF2B5EF4-FFF2-40B4-BE49-F238E27FC236}">
                <a16:creationId xmlns:a16="http://schemas.microsoft.com/office/drawing/2014/main" xmlns="" id="{5AD30530-CD15-4017-9E3E-D425C5B64C3B}"/>
              </a:ext>
            </a:extLst>
          </p:cNvPr>
          <p:cNvPicPr>
            <a:picLocks noChangeAspect="1"/>
          </p:cNvPicPr>
          <p:nvPr/>
        </p:nvPicPr>
        <p:blipFill>
          <a:blip r:embed="rId2" cstate="print">
            <a:clrChange>
              <a:clrFrom>
                <a:srgbClr val="FFFFFF"/>
              </a:clrFrom>
              <a:clrTo>
                <a:srgbClr val="FFFFFF">
                  <a:alpha val="0"/>
                </a:srgbClr>
              </a:clrTo>
            </a:clrChange>
            <a:extLst>
              <a:ext uri="{28A0092B-C50C-407E-A947-70E740481C1C}">
                <a14:useLocalDpi xmlns:a14="http://schemas.microsoft.com/office/drawing/2010/main" val="0"/>
              </a:ext>
            </a:extLst>
          </a:blip>
          <a:stretch>
            <a:fillRect/>
          </a:stretch>
        </p:blipFill>
        <p:spPr>
          <a:xfrm>
            <a:off x="4427984" y="1891002"/>
            <a:ext cx="3737005" cy="3466403"/>
          </a:xfrm>
          <a:prstGeom prst="rect">
            <a:avLst/>
          </a:prstGeom>
        </p:spPr>
      </p:pic>
    </p:spTree>
    <p:extLst>
      <p:ext uri="{BB962C8B-B14F-4D97-AF65-F5344CB8AC3E}">
        <p14:creationId xmlns:p14="http://schemas.microsoft.com/office/powerpoint/2010/main" val="3388363789"/>
      </p:ext>
    </p:extLst>
  </p:cSld>
  <p:clrMapOvr>
    <a:masterClrMapping/>
  </p:clrMapOvr>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Rounded Corners 4">
            <a:extLst>
              <a:ext uri="{FF2B5EF4-FFF2-40B4-BE49-F238E27FC236}">
                <a16:creationId xmlns:a16="http://schemas.microsoft.com/office/drawing/2014/main" xmlns="" id="{0870BC45-7FAF-477E-AD12-42BD46C72778}"/>
              </a:ext>
            </a:extLst>
          </p:cNvPr>
          <p:cNvSpPr/>
          <p:nvPr/>
        </p:nvSpPr>
        <p:spPr bwMode="auto">
          <a:xfrm>
            <a:off x="568127" y="1268760"/>
            <a:ext cx="1726488" cy="4644427"/>
          </a:xfrm>
          <a:prstGeom prst="roundRect">
            <a:avLst>
              <a:gd name="adj" fmla="val 7092"/>
            </a:avLst>
          </a:prstGeom>
          <a:solidFill>
            <a:schemeClr val="bg1">
              <a:lumMod val="85000"/>
            </a:schemeClr>
          </a:solidFill>
          <a:ln w="28575" cap="flat" cmpd="sng" algn="ctr">
            <a:noFill/>
            <a:prstDash val="solid"/>
            <a:round/>
            <a:headEnd type="none" w="sm" len="sm"/>
            <a:tailEnd type="none" w="sm" len="sm"/>
          </a:ln>
          <a:effectLst/>
        </p:spPr>
        <p:txBody>
          <a:bodyPr vert="horz" wrap="square" lIns="102413" tIns="51206" rIns="102413" bIns="51206" numCol="1" rtlCol="0" anchor="t" anchorCtr="0" compatLnSpc="1">
            <a:prstTxWarp prst="textNoShape">
              <a:avLst/>
            </a:prstTxWarp>
          </a:bodyPr>
          <a:lstStyle/>
          <a:p>
            <a:pPr algn="ctr">
              <a:spcBef>
                <a:spcPct val="20000"/>
              </a:spcBef>
              <a:buClr>
                <a:srgbClr val="FF0000"/>
              </a:buClr>
            </a:pPr>
            <a:endParaRPr lang="en-IN" sz="200" dirty="0"/>
          </a:p>
          <a:p>
            <a:pPr algn="ctr">
              <a:spcBef>
                <a:spcPct val="20000"/>
              </a:spcBef>
              <a:buClr>
                <a:srgbClr val="FF0000"/>
              </a:buClr>
            </a:pPr>
            <a:r>
              <a:rPr lang="en-IN" sz="1300" b="1" dirty="0"/>
              <a:t>On-Premise</a:t>
            </a:r>
          </a:p>
        </p:txBody>
      </p:sp>
      <p:sp>
        <p:nvSpPr>
          <p:cNvPr id="2" name="Title 1">
            <a:extLst>
              <a:ext uri="{FF2B5EF4-FFF2-40B4-BE49-F238E27FC236}">
                <a16:creationId xmlns:a16="http://schemas.microsoft.com/office/drawing/2014/main" xmlns="" id="{47D38106-24D2-4541-BC56-33021CBA4106}"/>
              </a:ext>
            </a:extLst>
          </p:cNvPr>
          <p:cNvSpPr>
            <a:spLocks noGrp="1"/>
          </p:cNvSpPr>
          <p:nvPr>
            <p:ph type="title"/>
          </p:nvPr>
        </p:nvSpPr>
        <p:spPr/>
        <p:txBody>
          <a:bodyPr/>
          <a:lstStyle/>
          <a:p>
            <a:r>
              <a:rPr lang="en-IN" dirty="0"/>
              <a:t>Cloud Services</a:t>
            </a:r>
          </a:p>
        </p:txBody>
      </p:sp>
      <p:sp>
        <p:nvSpPr>
          <p:cNvPr id="4" name="Rectangle: Diagonal Corners Rounded 3">
            <a:extLst>
              <a:ext uri="{FF2B5EF4-FFF2-40B4-BE49-F238E27FC236}">
                <a16:creationId xmlns:a16="http://schemas.microsoft.com/office/drawing/2014/main" xmlns="" id="{D8A4C94D-72CD-4308-A576-148548B08D71}"/>
              </a:ext>
            </a:extLst>
          </p:cNvPr>
          <p:cNvSpPr/>
          <p:nvPr/>
        </p:nvSpPr>
        <p:spPr bwMode="auto">
          <a:xfrm>
            <a:off x="783709" y="1884773"/>
            <a:ext cx="1296144" cy="316835"/>
          </a:xfrm>
          <a:prstGeom prst="round2DiagRect">
            <a:avLst/>
          </a:prstGeom>
          <a:solidFill>
            <a:srgbClr val="3E7EB9"/>
          </a:solidFill>
          <a:ln w="9525" cap="flat" cmpd="sng" algn="ctr">
            <a:noFill/>
            <a:prstDash val="solid"/>
            <a:round/>
            <a:headEnd type="none" w="sm" len="sm"/>
            <a:tailEnd type="none" w="sm" len="sm"/>
          </a:ln>
          <a:effectLst/>
        </p:spPr>
        <p:txBody>
          <a:bodyPr vert="horz" wrap="square" lIns="102413" tIns="51206" rIns="102413" bIns="51206" numCol="1" rtlCol="0" anchor="ctr" anchorCtr="0" compatLnSpc="1">
            <a:prstTxWarp prst="textNoShape">
              <a:avLst/>
            </a:prstTxWarp>
          </a:bodyPr>
          <a:lstStyle/>
          <a:p>
            <a:pPr algn="ctr">
              <a:spcBef>
                <a:spcPct val="20000"/>
              </a:spcBef>
              <a:buClr>
                <a:srgbClr val="FF0000"/>
              </a:buClr>
            </a:pPr>
            <a:r>
              <a:rPr lang="en-IN" sz="1200" dirty="0">
                <a:solidFill>
                  <a:schemeClr val="bg1"/>
                </a:solidFill>
              </a:rPr>
              <a:t>Applications</a:t>
            </a:r>
          </a:p>
        </p:txBody>
      </p:sp>
      <p:sp>
        <p:nvSpPr>
          <p:cNvPr id="6" name="Rectangle: Diagonal Corners Rounded 5">
            <a:extLst>
              <a:ext uri="{FF2B5EF4-FFF2-40B4-BE49-F238E27FC236}">
                <a16:creationId xmlns:a16="http://schemas.microsoft.com/office/drawing/2014/main" xmlns="" id="{6A8E0708-CB1C-489A-9356-CCF2B0AF2899}"/>
              </a:ext>
            </a:extLst>
          </p:cNvPr>
          <p:cNvSpPr/>
          <p:nvPr/>
        </p:nvSpPr>
        <p:spPr bwMode="auto">
          <a:xfrm>
            <a:off x="783299" y="2317325"/>
            <a:ext cx="1296144" cy="316835"/>
          </a:xfrm>
          <a:prstGeom prst="round2DiagRect">
            <a:avLst/>
          </a:prstGeom>
          <a:solidFill>
            <a:srgbClr val="3E7EB9"/>
          </a:solidFill>
          <a:ln w="9525" cap="flat" cmpd="sng" algn="ctr">
            <a:noFill/>
            <a:prstDash val="solid"/>
            <a:round/>
            <a:headEnd type="none" w="sm" len="sm"/>
            <a:tailEnd type="none" w="sm" len="sm"/>
          </a:ln>
          <a:effectLst/>
        </p:spPr>
        <p:txBody>
          <a:bodyPr vert="horz" wrap="square" lIns="102413" tIns="51206" rIns="102413" bIns="51206" numCol="1" rtlCol="0" anchor="ctr" anchorCtr="0" compatLnSpc="1">
            <a:prstTxWarp prst="textNoShape">
              <a:avLst/>
            </a:prstTxWarp>
          </a:bodyPr>
          <a:lstStyle/>
          <a:p>
            <a:pPr algn="ctr">
              <a:spcBef>
                <a:spcPct val="20000"/>
              </a:spcBef>
              <a:buClr>
                <a:srgbClr val="FF0000"/>
              </a:buClr>
            </a:pPr>
            <a:r>
              <a:rPr lang="en-IN" sz="1200" dirty="0">
                <a:solidFill>
                  <a:schemeClr val="bg1"/>
                </a:solidFill>
              </a:rPr>
              <a:t>Data</a:t>
            </a:r>
          </a:p>
        </p:txBody>
      </p:sp>
      <p:sp>
        <p:nvSpPr>
          <p:cNvPr id="7" name="Rectangle: Diagonal Corners Rounded 6">
            <a:extLst>
              <a:ext uri="{FF2B5EF4-FFF2-40B4-BE49-F238E27FC236}">
                <a16:creationId xmlns:a16="http://schemas.microsoft.com/office/drawing/2014/main" xmlns="" id="{67982FEF-2685-4F21-9AC2-EE3F3194CE49}"/>
              </a:ext>
            </a:extLst>
          </p:cNvPr>
          <p:cNvSpPr/>
          <p:nvPr/>
        </p:nvSpPr>
        <p:spPr bwMode="auto">
          <a:xfrm>
            <a:off x="783299" y="2749877"/>
            <a:ext cx="1296144" cy="316835"/>
          </a:xfrm>
          <a:prstGeom prst="round2DiagRect">
            <a:avLst/>
          </a:prstGeom>
          <a:solidFill>
            <a:srgbClr val="3E7EB9"/>
          </a:solidFill>
          <a:ln w="9525" cap="flat" cmpd="sng" algn="ctr">
            <a:noFill/>
            <a:prstDash val="solid"/>
            <a:round/>
            <a:headEnd type="none" w="sm" len="sm"/>
            <a:tailEnd type="none" w="sm" len="sm"/>
          </a:ln>
          <a:effectLst/>
        </p:spPr>
        <p:txBody>
          <a:bodyPr vert="horz" wrap="square" lIns="102413" tIns="51206" rIns="102413" bIns="51206" numCol="1" rtlCol="0" anchor="ctr" anchorCtr="0" compatLnSpc="1">
            <a:prstTxWarp prst="textNoShape">
              <a:avLst/>
            </a:prstTxWarp>
          </a:bodyPr>
          <a:lstStyle/>
          <a:p>
            <a:pPr algn="ctr">
              <a:spcBef>
                <a:spcPct val="20000"/>
              </a:spcBef>
              <a:buClr>
                <a:srgbClr val="FF0000"/>
              </a:buClr>
            </a:pPr>
            <a:r>
              <a:rPr lang="en-IN" sz="1200" dirty="0">
                <a:solidFill>
                  <a:schemeClr val="bg1"/>
                </a:solidFill>
              </a:rPr>
              <a:t>Runtime</a:t>
            </a:r>
          </a:p>
        </p:txBody>
      </p:sp>
      <p:sp>
        <p:nvSpPr>
          <p:cNvPr id="8" name="Rectangle: Diagonal Corners Rounded 7">
            <a:extLst>
              <a:ext uri="{FF2B5EF4-FFF2-40B4-BE49-F238E27FC236}">
                <a16:creationId xmlns:a16="http://schemas.microsoft.com/office/drawing/2014/main" xmlns="" id="{13283D87-727C-49FA-A156-655B06AE022A}"/>
              </a:ext>
            </a:extLst>
          </p:cNvPr>
          <p:cNvSpPr/>
          <p:nvPr/>
        </p:nvSpPr>
        <p:spPr bwMode="auto">
          <a:xfrm>
            <a:off x="783299" y="3182429"/>
            <a:ext cx="1296144" cy="316835"/>
          </a:xfrm>
          <a:prstGeom prst="round2DiagRect">
            <a:avLst/>
          </a:prstGeom>
          <a:solidFill>
            <a:srgbClr val="3E7EB9"/>
          </a:solidFill>
          <a:ln w="9525" cap="flat" cmpd="sng" algn="ctr">
            <a:noFill/>
            <a:prstDash val="solid"/>
            <a:round/>
            <a:headEnd type="none" w="sm" len="sm"/>
            <a:tailEnd type="none" w="sm" len="sm"/>
          </a:ln>
          <a:effectLst/>
        </p:spPr>
        <p:txBody>
          <a:bodyPr vert="horz" wrap="square" lIns="102413" tIns="51206" rIns="102413" bIns="51206" numCol="1" rtlCol="0" anchor="ctr" anchorCtr="0" compatLnSpc="1">
            <a:prstTxWarp prst="textNoShape">
              <a:avLst/>
            </a:prstTxWarp>
          </a:bodyPr>
          <a:lstStyle/>
          <a:p>
            <a:pPr algn="ctr">
              <a:spcBef>
                <a:spcPct val="20000"/>
              </a:spcBef>
              <a:buClr>
                <a:srgbClr val="FF0000"/>
              </a:buClr>
            </a:pPr>
            <a:r>
              <a:rPr lang="en-IN" sz="1200" dirty="0">
                <a:solidFill>
                  <a:schemeClr val="bg1"/>
                </a:solidFill>
              </a:rPr>
              <a:t>Middleware</a:t>
            </a:r>
          </a:p>
        </p:txBody>
      </p:sp>
      <p:sp>
        <p:nvSpPr>
          <p:cNvPr id="9" name="Rectangle: Diagonal Corners Rounded 8">
            <a:extLst>
              <a:ext uri="{FF2B5EF4-FFF2-40B4-BE49-F238E27FC236}">
                <a16:creationId xmlns:a16="http://schemas.microsoft.com/office/drawing/2014/main" xmlns="" id="{3E2027C0-177C-414E-A43D-5061AFB2C888}"/>
              </a:ext>
            </a:extLst>
          </p:cNvPr>
          <p:cNvSpPr/>
          <p:nvPr/>
        </p:nvSpPr>
        <p:spPr bwMode="auto">
          <a:xfrm>
            <a:off x="772286" y="3614981"/>
            <a:ext cx="1296144" cy="316835"/>
          </a:xfrm>
          <a:prstGeom prst="round2DiagRect">
            <a:avLst/>
          </a:prstGeom>
          <a:solidFill>
            <a:srgbClr val="3E7EB9"/>
          </a:solidFill>
          <a:ln w="9525" cap="flat" cmpd="sng" algn="ctr">
            <a:noFill/>
            <a:prstDash val="solid"/>
            <a:round/>
            <a:headEnd type="none" w="sm" len="sm"/>
            <a:tailEnd type="none" w="sm" len="sm"/>
          </a:ln>
          <a:effectLst/>
        </p:spPr>
        <p:txBody>
          <a:bodyPr vert="horz" wrap="square" lIns="102413" tIns="51206" rIns="102413" bIns="51206" numCol="1" rtlCol="0" anchor="ctr" anchorCtr="0" compatLnSpc="1">
            <a:prstTxWarp prst="textNoShape">
              <a:avLst/>
            </a:prstTxWarp>
          </a:bodyPr>
          <a:lstStyle/>
          <a:p>
            <a:pPr algn="ctr">
              <a:spcBef>
                <a:spcPct val="20000"/>
              </a:spcBef>
              <a:buClr>
                <a:srgbClr val="FF0000"/>
              </a:buClr>
            </a:pPr>
            <a:r>
              <a:rPr lang="en-IN" sz="1200" dirty="0">
                <a:solidFill>
                  <a:schemeClr val="bg1"/>
                </a:solidFill>
              </a:rPr>
              <a:t>O/S</a:t>
            </a:r>
          </a:p>
        </p:txBody>
      </p:sp>
      <p:sp>
        <p:nvSpPr>
          <p:cNvPr id="10" name="Rectangle: Diagonal Corners Rounded 9">
            <a:extLst>
              <a:ext uri="{FF2B5EF4-FFF2-40B4-BE49-F238E27FC236}">
                <a16:creationId xmlns:a16="http://schemas.microsoft.com/office/drawing/2014/main" xmlns="" id="{1EA48B63-5E3D-44CA-A8AC-3F31CC61E3D1}"/>
              </a:ext>
            </a:extLst>
          </p:cNvPr>
          <p:cNvSpPr/>
          <p:nvPr/>
        </p:nvSpPr>
        <p:spPr bwMode="auto">
          <a:xfrm>
            <a:off x="772286" y="4047533"/>
            <a:ext cx="1296144" cy="316835"/>
          </a:xfrm>
          <a:prstGeom prst="round2DiagRect">
            <a:avLst/>
          </a:prstGeom>
          <a:solidFill>
            <a:srgbClr val="3E7EB9"/>
          </a:solidFill>
          <a:ln w="9525" cap="flat" cmpd="sng" algn="ctr">
            <a:noFill/>
            <a:prstDash val="solid"/>
            <a:round/>
            <a:headEnd type="none" w="sm" len="sm"/>
            <a:tailEnd type="none" w="sm" len="sm"/>
          </a:ln>
          <a:effectLst/>
        </p:spPr>
        <p:txBody>
          <a:bodyPr vert="horz" wrap="square" lIns="102413" tIns="51206" rIns="102413" bIns="51206" numCol="1" rtlCol="0" anchor="ctr" anchorCtr="0" compatLnSpc="1">
            <a:prstTxWarp prst="textNoShape">
              <a:avLst/>
            </a:prstTxWarp>
          </a:bodyPr>
          <a:lstStyle/>
          <a:p>
            <a:pPr algn="ctr">
              <a:spcBef>
                <a:spcPct val="20000"/>
              </a:spcBef>
              <a:buClr>
                <a:srgbClr val="FF0000"/>
              </a:buClr>
            </a:pPr>
            <a:r>
              <a:rPr lang="en-IN" sz="1200" dirty="0">
                <a:solidFill>
                  <a:schemeClr val="bg1"/>
                </a:solidFill>
              </a:rPr>
              <a:t>Virtualization</a:t>
            </a:r>
          </a:p>
        </p:txBody>
      </p:sp>
      <p:sp>
        <p:nvSpPr>
          <p:cNvPr id="11" name="Rectangle: Diagonal Corners Rounded 10">
            <a:extLst>
              <a:ext uri="{FF2B5EF4-FFF2-40B4-BE49-F238E27FC236}">
                <a16:creationId xmlns:a16="http://schemas.microsoft.com/office/drawing/2014/main" xmlns="" id="{16C05AC6-537B-41E7-B860-D2FCE74CB89A}"/>
              </a:ext>
            </a:extLst>
          </p:cNvPr>
          <p:cNvSpPr/>
          <p:nvPr/>
        </p:nvSpPr>
        <p:spPr bwMode="auto">
          <a:xfrm>
            <a:off x="780323" y="4480085"/>
            <a:ext cx="1296144" cy="316835"/>
          </a:xfrm>
          <a:prstGeom prst="round2DiagRect">
            <a:avLst/>
          </a:prstGeom>
          <a:solidFill>
            <a:srgbClr val="3E7EB9"/>
          </a:solidFill>
          <a:ln w="9525" cap="flat" cmpd="sng" algn="ctr">
            <a:noFill/>
            <a:prstDash val="solid"/>
            <a:round/>
            <a:headEnd type="none" w="sm" len="sm"/>
            <a:tailEnd type="none" w="sm" len="sm"/>
          </a:ln>
          <a:effectLst/>
        </p:spPr>
        <p:txBody>
          <a:bodyPr vert="horz" wrap="square" lIns="102413" tIns="51206" rIns="102413" bIns="51206" numCol="1" rtlCol="0" anchor="ctr" anchorCtr="0" compatLnSpc="1">
            <a:prstTxWarp prst="textNoShape">
              <a:avLst/>
            </a:prstTxWarp>
          </a:bodyPr>
          <a:lstStyle/>
          <a:p>
            <a:pPr algn="ctr">
              <a:spcBef>
                <a:spcPct val="20000"/>
              </a:spcBef>
              <a:buClr>
                <a:srgbClr val="FF0000"/>
              </a:buClr>
            </a:pPr>
            <a:r>
              <a:rPr lang="en-IN" sz="1200" dirty="0">
                <a:solidFill>
                  <a:schemeClr val="bg1"/>
                </a:solidFill>
              </a:rPr>
              <a:t>Servers</a:t>
            </a:r>
          </a:p>
        </p:txBody>
      </p:sp>
      <p:sp>
        <p:nvSpPr>
          <p:cNvPr id="12" name="Rectangle: Diagonal Corners Rounded 11">
            <a:extLst>
              <a:ext uri="{FF2B5EF4-FFF2-40B4-BE49-F238E27FC236}">
                <a16:creationId xmlns:a16="http://schemas.microsoft.com/office/drawing/2014/main" xmlns="" id="{4ECD085A-AAEB-496B-BC74-523E1EDCBB48}"/>
              </a:ext>
            </a:extLst>
          </p:cNvPr>
          <p:cNvSpPr/>
          <p:nvPr/>
        </p:nvSpPr>
        <p:spPr bwMode="auto">
          <a:xfrm>
            <a:off x="769310" y="4912637"/>
            <a:ext cx="1296144" cy="316835"/>
          </a:xfrm>
          <a:prstGeom prst="round2DiagRect">
            <a:avLst/>
          </a:prstGeom>
          <a:solidFill>
            <a:srgbClr val="3E7EB9"/>
          </a:solidFill>
          <a:ln w="9525" cap="flat" cmpd="sng" algn="ctr">
            <a:noFill/>
            <a:prstDash val="solid"/>
            <a:round/>
            <a:headEnd type="none" w="sm" len="sm"/>
            <a:tailEnd type="none" w="sm" len="sm"/>
          </a:ln>
          <a:effectLst/>
        </p:spPr>
        <p:txBody>
          <a:bodyPr vert="horz" wrap="square" lIns="102413" tIns="51206" rIns="102413" bIns="51206" numCol="1" rtlCol="0" anchor="ctr" anchorCtr="0" compatLnSpc="1">
            <a:prstTxWarp prst="textNoShape">
              <a:avLst/>
            </a:prstTxWarp>
          </a:bodyPr>
          <a:lstStyle/>
          <a:p>
            <a:pPr algn="ctr">
              <a:spcBef>
                <a:spcPct val="20000"/>
              </a:spcBef>
              <a:buClr>
                <a:srgbClr val="FF0000"/>
              </a:buClr>
            </a:pPr>
            <a:r>
              <a:rPr lang="en-IN" sz="1200" dirty="0">
                <a:solidFill>
                  <a:schemeClr val="bg1"/>
                </a:solidFill>
              </a:rPr>
              <a:t>Storage</a:t>
            </a:r>
          </a:p>
        </p:txBody>
      </p:sp>
      <p:sp>
        <p:nvSpPr>
          <p:cNvPr id="13" name="Rectangle: Diagonal Corners Rounded 12">
            <a:extLst>
              <a:ext uri="{FF2B5EF4-FFF2-40B4-BE49-F238E27FC236}">
                <a16:creationId xmlns:a16="http://schemas.microsoft.com/office/drawing/2014/main" xmlns="" id="{CB9B2A2D-FFE6-4B9E-870A-675A8E0B1BFA}"/>
              </a:ext>
            </a:extLst>
          </p:cNvPr>
          <p:cNvSpPr/>
          <p:nvPr/>
        </p:nvSpPr>
        <p:spPr bwMode="auto">
          <a:xfrm>
            <a:off x="769310" y="5345192"/>
            <a:ext cx="1296144" cy="316835"/>
          </a:xfrm>
          <a:prstGeom prst="round2DiagRect">
            <a:avLst/>
          </a:prstGeom>
          <a:solidFill>
            <a:srgbClr val="3E7EB9"/>
          </a:solidFill>
          <a:ln w="9525" cap="flat" cmpd="sng" algn="ctr">
            <a:noFill/>
            <a:prstDash val="solid"/>
            <a:round/>
            <a:headEnd type="none" w="sm" len="sm"/>
            <a:tailEnd type="none" w="sm" len="sm"/>
          </a:ln>
          <a:effectLst/>
        </p:spPr>
        <p:txBody>
          <a:bodyPr vert="horz" wrap="square" lIns="102413" tIns="51206" rIns="102413" bIns="51206" numCol="1" rtlCol="0" anchor="ctr" anchorCtr="0" compatLnSpc="1">
            <a:prstTxWarp prst="textNoShape">
              <a:avLst/>
            </a:prstTxWarp>
          </a:bodyPr>
          <a:lstStyle/>
          <a:p>
            <a:pPr algn="ctr">
              <a:spcBef>
                <a:spcPct val="20000"/>
              </a:spcBef>
              <a:buClr>
                <a:srgbClr val="FF0000"/>
              </a:buClr>
            </a:pPr>
            <a:r>
              <a:rPr lang="en-IN" sz="1200" dirty="0">
                <a:solidFill>
                  <a:schemeClr val="bg1"/>
                </a:solidFill>
              </a:rPr>
              <a:t>Networking</a:t>
            </a:r>
          </a:p>
        </p:txBody>
      </p:sp>
      <p:sp>
        <p:nvSpPr>
          <p:cNvPr id="17" name="Rectangle: Rounded Corners 16">
            <a:extLst>
              <a:ext uri="{FF2B5EF4-FFF2-40B4-BE49-F238E27FC236}">
                <a16:creationId xmlns:a16="http://schemas.microsoft.com/office/drawing/2014/main" xmlns="" id="{B201F23D-BA4E-4ED6-AC8F-74860F4AC674}"/>
              </a:ext>
            </a:extLst>
          </p:cNvPr>
          <p:cNvSpPr/>
          <p:nvPr/>
        </p:nvSpPr>
        <p:spPr bwMode="auto">
          <a:xfrm>
            <a:off x="3233307" y="1252331"/>
            <a:ext cx="1726488" cy="4644427"/>
          </a:xfrm>
          <a:prstGeom prst="roundRect">
            <a:avLst>
              <a:gd name="adj" fmla="val 7092"/>
            </a:avLst>
          </a:prstGeom>
          <a:solidFill>
            <a:schemeClr val="bg1">
              <a:lumMod val="85000"/>
            </a:schemeClr>
          </a:solidFill>
          <a:ln w="28575" cap="flat" cmpd="sng" algn="ctr">
            <a:noFill/>
            <a:prstDash val="solid"/>
            <a:round/>
            <a:headEnd type="none" w="sm" len="sm"/>
            <a:tailEnd type="none" w="sm" len="sm"/>
          </a:ln>
          <a:effectLst/>
        </p:spPr>
        <p:txBody>
          <a:bodyPr vert="horz" wrap="square" lIns="102413" tIns="51206" rIns="102413" bIns="51206" numCol="1" rtlCol="0" anchor="t" anchorCtr="0" compatLnSpc="1">
            <a:prstTxWarp prst="textNoShape">
              <a:avLst/>
            </a:prstTxWarp>
          </a:bodyPr>
          <a:lstStyle/>
          <a:p>
            <a:pPr algn="ctr">
              <a:spcBef>
                <a:spcPct val="20000"/>
              </a:spcBef>
              <a:buClr>
                <a:srgbClr val="FF0000"/>
              </a:buClr>
            </a:pPr>
            <a:r>
              <a:rPr lang="en-IN" sz="1200" b="1" dirty="0"/>
              <a:t>Infrastructure as a Service (IaaS)</a:t>
            </a:r>
          </a:p>
        </p:txBody>
      </p:sp>
      <p:sp>
        <p:nvSpPr>
          <p:cNvPr id="18" name="Rectangle: Diagonal Corners Rounded 17">
            <a:extLst>
              <a:ext uri="{FF2B5EF4-FFF2-40B4-BE49-F238E27FC236}">
                <a16:creationId xmlns:a16="http://schemas.microsoft.com/office/drawing/2014/main" xmlns="" id="{ECF6CD54-5DFC-4B09-811D-6B352C03B33A}"/>
              </a:ext>
            </a:extLst>
          </p:cNvPr>
          <p:cNvSpPr/>
          <p:nvPr/>
        </p:nvSpPr>
        <p:spPr bwMode="auto">
          <a:xfrm>
            <a:off x="3448889" y="1884773"/>
            <a:ext cx="1296144" cy="316835"/>
          </a:xfrm>
          <a:prstGeom prst="round2DiagRect">
            <a:avLst/>
          </a:prstGeom>
          <a:solidFill>
            <a:srgbClr val="009999"/>
          </a:solidFill>
          <a:ln w="9525" cap="flat" cmpd="sng" algn="ctr">
            <a:noFill/>
            <a:prstDash val="solid"/>
            <a:round/>
            <a:headEnd type="none" w="sm" len="sm"/>
            <a:tailEnd type="none" w="sm" len="sm"/>
          </a:ln>
          <a:effectLst/>
        </p:spPr>
        <p:txBody>
          <a:bodyPr vert="horz" wrap="square" lIns="102413" tIns="51206" rIns="102413" bIns="51206" numCol="1" rtlCol="0" anchor="ctr" anchorCtr="0" compatLnSpc="1">
            <a:prstTxWarp prst="textNoShape">
              <a:avLst/>
            </a:prstTxWarp>
          </a:bodyPr>
          <a:lstStyle/>
          <a:p>
            <a:pPr algn="ctr">
              <a:spcBef>
                <a:spcPct val="20000"/>
              </a:spcBef>
              <a:buClr>
                <a:srgbClr val="FF0000"/>
              </a:buClr>
            </a:pPr>
            <a:r>
              <a:rPr lang="en-IN" sz="1200" dirty="0">
                <a:solidFill>
                  <a:schemeClr val="bg1"/>
                </a:solidFill>
              </a:rPr>
              <a:t>Applications</a:t>
            </a:r>
          </a:p>
        </p:txBody>
      </p:sp>
      <p:sp>
        <p:nvSpPr>
          <p:cNvPr id="19" name="Rectangle: Diagonal Corners Rounded 18">
            <a:extLst>
              <a:ext uri="{FF2B5EF4-FFF2-40B4-BE49-F238E27FC236}">
                <a16:creationId xmlns:a16="http://schemas.microsoft.com/office/drawing/2014/main" xmlns="" id="{9C0F9204-77A7-4DE1-9DB9-74E98183CC6A}"/>
              </a:ext>
            </a:extLst>
          </p:cNvPr>
          <p:cNvSpPr/>
          <p:nvPr/>
        </p:nvSpPr>
        <p:spPr bwMode="auto">
          <a:xfrm>
            <a:off x="3448479" y="2317325"/>
            <a:ext cx="1296144" cy="316835"/>
          </a:xfrm>
          <a:prstGeom prst="round2DiagRect">
            <a:avLst/>
          </a:prstGeom>
          <a:solidFill>
            <a:srgbClr val="009999"/>
          </a:solidFill>
          <a:ln w="9525" cap="flat" cmpd="sng" algn="ctr">
            <a:noFill/>
            <a:prstDash val="solid"/>
            <a:round/>
            <a:headEnd type="none" w="sm" len="sm"/>
            <a:tailEnd type="none" w="sm" len="sm"/>
          </a:ln>
          <a:effectLst/>
        </p:spPr>
        <p:txBody>
          <a:bodyPr vert="horz" wrap="square" lIns="102413" tIns="51206" rIns="102413" bIns="51206" numCol="1" rtlCol="0" anchor="ctr" anchorCtr="0" compatLnSpc="1">
            <a:prstTxWarp prst="textNoShape">
              <a:avLst/>
            </a:prstTxWarp>
          </a:bodyPr>
          <a:lstStyle/>
          <a:p>
            <a:pPr algn="ctr">
              <a:spcBef>
                <a:spcPct val="20000"/>
              </a:spcBef>
              <a:buClr>
                <a:srgbClr val="FF0000"/>
              </a:buClr>
            </a:pPr>
            <a:r>
              <a:rPr lang="en-IN" sz="1200" dirty="0">
                <a:solidFill>
                  <a:schemeClr val="bg1"/>
                </a:solidFill>
              </a:rPr>
              <a:t>Data</a:t>
            </a:r>
          </a:p>
        </p:txBody>
      </p:sp>
      <p:sp>
        <p:nvSpPr>
          <p:cNvPr id="20" name="Rectangle: Diagonal Corners Rounded 19">
            <a:extLst>
              <a:ext uri="{FF2B5EF4-FFF2-40B4-BE49-F238E27FC236}">
                <a16:creationId xmlns:a16="http://schemas.microsoft.com/office/drawing/2014/main" xmlns="" id="{432A722A-2057-4FC9-AD7A-391EBAE64CA9}"/>
              </a:ext>
            </a:extLst>
          </p:cNvPr>
          <p:cNvSpPr/>
          <p:nvPr/>
        </p:nvSpPr>
        <p:spPr bwMode="auto">
          <a:xfrm>
            <a:off x="3448479" y="2749877"/>
            <a:ext cx="1296144" cy="316835"/>
          </a:xfrm>
          <a:prstGeom prst="round2DiagRect">
            <a:avLst/>
          </a:prstGeom>
          <a:solidFill>
            <a:srgbClr val="009999"/>
          </a:solidFill>
          <a:ln w="9525" cap="flat" cmpd="sng" algn="ctr">
            <a:noFill/>
            <a:prstDash val="solid"/>
            <a:round/>
            <a:headEnd type="none" w="sm" len="sm"/>
            <a:tailEnd type="none" w="sm" len="sm"/>
          </a:ln>
          <a:effectLst/>
        </p:spPr>
        <p:txBody>
          <a:bodyPr vert="horz" wrap="square" lIns="102413" tIns="51206" rIns="102413" bIns="51206" numCol="1" rtlCol="0" anchor="ctr" anchorCtr="0" compatLnSpc="1">
            <a:prstTxWarp prst="textNoShape">
              <a:avLst/>
            </a:prstTxWarp>
          </a:bodyPr>
          <a:lstStyle/>
          <a:p>
            <a:pPr algn="ctr">
              <a:spcBef>
                <a:spcPct val="20000"/>
              </a:spcBef>
              <a:buClr>
                <a:srgbClr val="FF0000"/>
              </a:buClr>
            </a:pPr>
            <a:r>
              <a:rPr lang="en-IN" sz="1200" dirty="0">
                <a:solidFill>
                  <a:schemeClr val="bg1"/>
                </a:solidFill>
              </a:rPr>
              <a:t>Runtime</a:t>
            </a:r>
          </a:p>
        </p:txBody>
      </p:sp>
      <p:sp>
        <p:nvSpPr>
          <p:cNvPr id="21" name="Rectangle: Diagonal Corners Rounded 20">
            <a:extLst>
              <a:ext uri="{FF2B5EF4-FFF2-40B4-BE49-F238E27FC236}">
                <a16:creationId xmlns:a16="http://schemas.microsoft.com/office/drawing/2014/main" xmlns="" id="{C1A4A70E-FDBA-4D22-8512-439D0679691F}"/>
              </a:ext>
            </a:extLst>
          </p:cNvPr>
          <p:cNvSpPr/>
          <p:nvPr/>
        </p:nvSpPr>
        <p:spPr bwMode="auto">
          <a:xfrm>
            <a:off x="3448479" y="3182429"/>
            <a:ext cx="1296144" cy="316835"/>
          </a:xfrm>
          <a:prstGeom prst="round2DiagRect">
            <a:avLst/>
          </a:prstGeom>
          <a:solidFill>
            <a:srgbClr val="009999"/>
          </a:solidFill>
          <a:ln w="9525" cap="flat" cmpd="sng" algn="ctr">
            <a:noFill/>
            <a:prstDash val="solid"/>
            <a:round/>
            <a:headEnd type="none" w="sm" len="sm"/>
            <a:tailEnd type="none" w="sm" len="sm"/>
          </a:ln>
          <a:effectLst/>
        </p:spPr>
        <p:txBody>
          <a:bodyPr vert="horz" wrap="square" lIns="102413" tIns="51206" rIns="102413" bIns="51206" numCol="1" rtlCol="0" anchor="ctr" anchorCtr="0" compatLnSpc="1">
            <a:prstTxWarp prst="textNoShape">
              <a:avLst/>
            </a:prstTxWarp>
          </a:bodyPr>
          <a:lstStyle/>
          <a:p>
            <a:pPr algn="ctr">
              <a:spcBef>
                <a:spcPct val="20000"/>
              </a:spcBef>
              <a:buClr>
                <a:srgbClr val="FF0000"/>
              </a:buClr>
            </a:pPr>
            <a:r>
              <a:rPr lang="en-IN" sz="1200" dirty="0">
                <a:solidFill>
                  <a:schemeClr val="bg1"/>
                </a:solidFill>
              </a:rPr>
              <a:t>Middleware</a:t>
            </a:r>
          </a:p>
        </p:txBody>
      </p:sp>
      <p:sp>
        <p:nvSpPr>
          <p:cNvPr id="22" name="Rectangle: Diagonal Corners Rounded 21">
            <a:extLst>
              <a:ext uri="{FF2B5EF4-FFF2-40B4-BE49-F238E27FC236}">
                <a16:creationId xmlns:a16="http://schemas.microsoft.com/office/drawing/2014/main" xmlns="" id="{B09D80E2-B3CA-4152-9748-2EFAB4C840A8}"/>
              </a:ext>
            </a:extLst>
          </p:cNvPr>
          <p:cNvSpPr/>
          <p:nvPr/>
        </p:nvSpPr>
        <p:spPr bwMode="auto">
          <a:xfrm>
            <a:off x="3437466" y="3614981"/>
            <a:ext cx="1296144" cy="316835"/>
          </a:xfrm>
          <a:prstGeom prst="round2DiagRect">
            <a:avLst/>
          </a:prstGeom>
          <a:solidFill>
            <a:srgbClr val="009999"/>
          </a:solidFill>
          <a:ln w="9525" cap="flat" cmpd="sng" algn="ctr">
            <a:noFill/>
            <a:prstDash val="solid"/>
            <a:round/>
            <a:headEnd type="none" w="sm" len="sm"/>
            <a:tailEnd type="none" w="sm" len="sm"/>
          </a:ln>
          <a:effectLst/>
        </p:spPr>
        <p:txBody>
          <a:bodyPr vert="horz" wrap="square" lIns="102413" tIns="51206" rIns="102413" bIns="51206" numCol="1" rtlCol="0" anchor="ctr" anchorCtr="0" compatLnSpc="1">
            <a:prstTxWarp prst="textNoShape">
              <a:avLst/>
            </a:prstTxWarp>
          </a:bodyPr>
          <a:lstStyle/>
          <a:p>
            <a:pPr algn="ctr">
              <a:spcBef>
                <a:spcPct val="20000"/>
              </a:spcBef>
              <a:buClr>
                <a:srgbClr val="FF0000"/>
              </a:buClr>
            </a:pPr>
            <a:r>
              <a:rPr lang="en-IN" sz="1200" dirty="0">
                <a:solidFill>
                  <a:schemeClr val="bg1"/>
                </a:solidFill>
              </a:rPr>
              <a:t>O/S</a:t>
            </a:r>
          </a:p>
        </p:txBody>
      </p:sp>
      <p:sp>
        <p:nvSpPr>
          <p:cNvPr id="23" name="Rectangle: Diagonal Corners Rounded 22">
            <a:extLst>
              <a:ext uri="{FF2B5EF4-FFF2-40B4-BE49-F238E27FC236}">
                <a16:creationId xmlns:a16="http://schemas.microsoft.com/office/drawing/2014/main" xmlns="" id="{F1F1E015-5097-4716-A1BB-AD2EAA696F72}"/>
              </a:ext>
            </a:extLst>
          </p:cNvPr>
          <p:cNvSpPr/>
          <p:nvPr/>
        </p:nvSpPr>
        <p:spPr bwMode="auto">
          <a:xfrm>
            <a:off x="3437466" y="4047533"/>
            <a:ext cx="1296144" cy="316835"/>
          </a:xfrm>
          <a:prstGeom prst="round2DiagRect">
            <a:avLst/>
          </a:prstGeom>
          <a:solidFill>
            <a:srgbClr val="FF4F4F"/>
          </a:solidFill>
          <a:ln w="9525" cap="flat" cmpd="sng" algn="ctr">
            <a:noFill/>
            <a:prstDash val="solid"/>
            <a:round/>
            <a:headEnd type="none" w="sm" len="sm"/>
            <a:tailEnd type="none" w="sm" len="sm"/>
          </a:ln>
          <a:effectLst/>
        </p:spPr>
        <p:txBody>
          <a:bodyPr vert="horz" wrap="square" lIns="102413" tIns="51206" rIns="102413" bIns="51206" numCol="1" rtlCol="0" anchor="ctr" anchorCtr="0" compatLnSpc="1">
            <a:prstTxWarp prst="textNoShape">
              <a:avLst/>
            </a:prstTxWarp>
          </a:bodyPr>
          <a:lstStyle/>
          <a:p>
            <a:pPr algn="ctr">
              <a:spcBef>
                <a:spcPct val="20000"/>
              </a:spcBef>
              <a:buClr>
                <a:srgbClr val="FF0000"/>
              </a:buClr>
            </a:pPr>
            <a:r>
              <a:rPr lang="en-IN" sz="1200" dirty="0">
                <a:solidFill>
                  <a:schemeClr val="bg1"/>
                </a:solidFill>
              </a:rPr>
              <a:t>Virtualization</a:t>
            </a:r>
          </a:p>
        </p:txBody>
      </p:sp>
      <p:sp>
        <p:nvSpPr>
          <p:cNvPr id="24" name="Rectangle: Diagonal Corners Rounded 23">
            <a:extLst>
              <a:ext uri="{FF2B5EF4-FFF2-40B4-BE49-F238E27FC236}">
                <a16:creationId xmlns:a16="http://schemas.microsoft.com/office/drawing/2014/main" xmlns="" id="{B25646ED-F9F7-4935-97B1-6DFA2841CD16}"/>
              </a:ext>
            </a:extLst>
          </p:cNvPr>
          <p:cNvSpPr/>
          <p:nvPr/>
        </p:nvSpPr>
        <p:spPr bwMode="auto">
          <a:xfrm>
            <a:off x="3445503" y="4480085"/>
            <a:ext cx="1296144" cy="316835"/>
          </a:xfrm>
          <a:prstGeom prst="round2DiagRect">
            <a:avLst/>
          </a:prstGeom>
          <a:solidFill>
            <a:srgbClr val="FF4F4F"/>
          </a:solidFill>
          <a:ln w="9525" cap="flat" cmpd="sng" algn="ctr">
            <a:noFill/>
            <a:prstDash val="solid"/>
            <a:round/>
            <a:headEnd type="none" w="sm" len="sm"/>
            <a:tailEnd type="none" w="sm" len="sm"/>
          </a:ln>
          <a:effectLst/>
        </p:spPr>
        <p:txBody>
          <a:bodyPr vert="horz" wrap="square" lIns="102413" tIns="51206" rIns="102413" bIns="51206" numCol="1" rtlCol="0" anchor="ctr" anchorCtr="0" compatLnSpc="1">
            <a:prstTxWarp prst="textNoShape">
              <a:avLst/>
            </a:prstTxWarp>
          </a:bodyPr>
          <a:lstStyle/>
          <a:p>
            <a:pPr algn="ctr">
              <a:spcBef>
                <a:spcPct val="20000"/>
              </a:spcBef>
              <a:buClr>
                <a:srgbClr val="FF0000"/>
              </a:buClr>
            </a:pPr>
            <a:r>
              <a:rPr lang="en-IN" sz="1200" dirty="0">
                <a:solidFill>
                  <a:schemeClr val="bg1"/>
                </a:solidFill>
              </a:rPr>
              <a:t>Servers</a:t>
            </a:r>
          </a:p>
        </p:txBody>
      </p:sp>
      <p:sp>
        <p:nvSpPr>
          <p:cNvPr id="25" name="Rectangle: Diagonal Corners Rounded 24">
            <a:extLst>
              <a:ext uri="{FF2B5EF4-FFF2-40B4-BE49-F238E27FC236}">
                <a16:creationId xmlns:a16="http://schemas.microsoft.com/office/drawing/2014/main" xmlns="" id="{6343133E-36A1-4D80-88E4-6A8F18E6C089}"/>
              </a:ext>
            </a:extLst>
          </p:cNvPr>
          <p:cNvSpPr/>
          <p:nvPr/>
        </p:nvSpPr>
        <p:spPr bwMode="auto">
          <a:xfrm>
            <a:off x="3434490" y="4912637"/>
            <a:ext cx="1296144" cy="316835"/>
          </a:xfrm>
          <a:prstGeom prst="round2DiagRect">
            <a:avLst/>
          </a:prstGeom>
          <a:solidFill>
            <a:srgbClr val="FF4F4F"/>
          </a:solidFill>
          <a:ln w="9525" cap="flat" cmpd="sng" algn="ctr">
            <a:noFill/>
            <a:prstDash val="solid"/>
            <a:round/>
            <a:headEnd type="none" w="sm" len="sm"/>
            <a:tailEnd type="none" w="sm" len="sm"/>
          </a:ln>
          <a:effectLst/>
        </p:spPr>
        <p:txBody>
          <a:bodyPr vert="horz" wrap="square" lIns="102413" tIns="51206" rIns="102413" bIns="51206" numCol="1" rtlCol="0" anchor="ctr" anchorCtr="0" compatLnSpc="1">
            <a:prstTxWarp prst="textNoShape">
              <a:avLst/>
            </a:prstTxWarp>
          </a:bodyPr>
          <a:lstStyle/>
          <a:p>
            <a:pPr algn="ctr">
              <a:spcBef>
                <a:spcPct val="20000"/>
              </a:spcBef>
              <a:buClr>
                <a:srgbClr val="FF0000"/>
              </a:buClr>
            </a:pPr>
            <a:r>
              <a:rPr lang="en-IN" sz="1200" dirty="0">
                <a:solidFill>
                  <a:schemeClr val="bg1"/>
                </a:solidFill>
              </a:rPr>
              <a:t>Storage</a:t>
            </a:r>
          </a:p>
        </p:txBody>
      </p:sp>
      <p:sp>
        <p:nvSpPr>
          <p:cNvPr id="26" name="Rectangle: Diagonal Corners Rounded 25">
            <a:extLst>
              <a:ext uri="{FF2B5EF4-FFF2-40B4-BE49-F238E27FC236}">
                <a16:creationId xmlns:a16="http://schemas.microsoft.com/office/drawing/2014/main" xmlns="" id="{0712F1B4-BBD3-4B3F-85C3-6AC9EC93279E}"/>
              </a:ext>
            </a:extLst>
          </p:cNvPr>
          <p:cNvSpPr/>
          <p:nvPr/>
        </p:nvSpPr>
        <p:spPr bwMode="auto">
          <a:xfrm>
            <a:off x="3434490" y="5345192"/>
            <a:ext cx="1296144" cy="316835"/>
          </a:xfrm>
          <a:prstGeom prst="round2DiagRect">
            <a:avLst/>
          </a:prstGeom>
          <a:solidFill>
            <a:srgbClr val="FF4F4F"/>
          </a:solidFill>
          <a:ln w="9525" cap="flat" cmpd="sng" algn="ctr">
            <a:noFill/>
            <a:prstDash val="solid"/>
            <a:round/>
            <a:headEnd type="none" w="sm" len="sm"/>
            <a:tailEnd type="none" w="sm" len="sm"/>
          </a:ln>
          <a:effectLst/>
        </p:spPr>
        <p:txBody>
          <a:bodyPr vert="horz" wrap="square" lIns="102413" tIns="51206" rIns="102413" bIns="51206" numCol="1" rtlCol="0" anchor="ctr" anchorCtr="0" compatLnSpc="1">
            <a:prstTxWarp prst="textNoShape">
              <a:avLst/>
            </a:prstTxWarp>
          </a:bodyPr>
          <a:lstStyle/>
          <a:p>
            <a:pPr algn="ctr">
              <a:spcBef>
                <a:spcPct val="20000"/>
              </a:spcBef>
              <a:buClr>
                <a:srgbClr val="FF0000"/>
              </a:buClr>
            </a:pPr>
            <a:r>
              <a:rPr lang="en-IN" sz="1200" dirty="0">
                <a:solidFill>
                  <a:schemeClr val="bg1"/>
                </a:solidFill>
              </a:rPr>
              <a:t>Networking</a:t>
            </a:r>
          </a:p>
        </p:txBody>
      </p:sp>
      <p:sp>
        <p:nvSpPr>
          <p:cNvPr id="27" name="Rectangle: Rounded Corners 26">
            <a:extLst>
              <a:ext uri="{FF2B5EF4-FFF2-40B4-BE49-F238E27FC236}">
                <a16:creationId xmlns:a16="http://schemas.microsoft.com/office/drawing/2014/main" xmlns="" id="{1AC99870-8CD3-41C9-A765-72BBBA2B8117}"/>
              </a:ext>
            </a:extLst>
          </p:cNvPr>
          <p:cNvSpPr/>
          <p:nvPr/>
        </p:nvSpPr>
        <p:spPr bwMode="auto">
          <a:xfrm>
            <a:off x="5069069" y="1252330"/>
            <a:ext cx="1726488" cy="4676003"/>
          </a:xfrm>
          <a:prstGeom prst="roundRect">
            <a:avLst>
              <a:gd name="adj" fmla="val 7092"/>
            </a:avLst>
          </a:prstGeom>
          <a:solidFill>
            <a:schemeClr val="bg1">
              <a:lumMod val="85000"/>
            </a:schemeClr>
          </a:solidFill>
          <a:ln w="28575" cap="flat" cmpd="sng" algn="ctr">
            <a:noFill/>
            <a:prstDash val="solid"/>
            <a:round/>
            <a:headEnd type="none" w="sm" len="sm"/>
            <a:tailEnd type="none" w="sm" len="sm"/>
          </a:ln>
          <a:effectLst/>
        </p:spPr>
        <p:txBody>
          <a:bodyPr vert="horz" wrap="square" lIns="102413" tIns="51206" rIns="102413" bIns="51206" numCol="1" rtlCol="0" anchor="t" anchorCtr="0" compatLnSpc="1">
            <a:prstTxWarp prst="textNoShape">
              <a:avLst/>
            </a:prstTxWarp>
          </a:bodyPr>
          <a:lstStyle/>
          <a:p>
            <a:pPr algn="ctr">
              <a:spcBef>
                <a:spcPct val="20000"/>
              </a:spcBef>
              <a:buClr>
                <a:srgbClr val="FF0000"/>
              </a:buClr>
            </a:pPr>
            <a:r>
              <a:rPr lang="en-IN" sz="1200" b="1" dirty="0"/>
              <a:t>Platform as a Service (PaaS)</a:t>
            </a:r>
          </a:p>
        </p:txBody>
      </p:sp>
      <p:sp>
        <p:nvSpPr>
          <p:cNvPr id="28" name="Rectangle: Diagonal Corners Rounded 27">
            <a:extLst>
              <a:ext uri="{FF2B5EF4-FFF2-40B4-BE49-F238E27FC236}">
                <a16:creationId xmlns:a16="http://schemas.microsoft.com/office/drawing/2014/main" xmlns="" id="{2B17BAC2-EED6-4371-AB30-18B88BE8C9A5}"/>
              </a:ext>
            </a:extLst>
          </p:cNvPr>
          <p:cNvSpPr/>
          <p:nvPr/>
        </p:nvSpPr>
        <p:spPr bwMode="auto">
          <a:xfrm>
            <a:off x="5284651" y="1916349"/>
            <a:ext cx="1296144" cy="316835"/>
          </a:xfrm>
          <a:prstGeom prst="round2DiagRect">
            <a:avLst/>
          </a:prstGeom>
          <a:solidFill>
            <a:srgbClr val="009999"/>
          </a:solidFill>
          <a:ln w="9525" cap="flat" cmpd="sng" algn="ctr">
            <a:noFill/>
            <a:prstDash val="solid"/>
            <a:round/>
            <a:headEnd type="none" w="sm" len="sm"/>
            <a:tailEnd type="none" w="sm" len="sm"/>
          </a:ln>
          <a:effectLst/>
        </p:spPr>
        <p:txBody>
          <a:bodyPr vert="horz" wrap="square" lIns="102413" tIns="51206" rIns="102413" bIns="51206" numCol="1" rtlCol="0" anchor="ctr" anchorCtr="0" compatLnSpc="1">
            <a:prstTxWarp prst="textNoShape">
              <a:avLst/>
            </a:prstTxWarp>
          </a:bodyPr>
          <a:lstStyle/>
          <a:p>
            <a:pPr algn="ctr">
              <a:spcBef>
                <a:spcPct val="20000"/>
              </a:spcBef>
              <a:buClr>
                <a:srgbClr val="FF0000"/>
              </a:buClr>
            </a:pPr>
            <a:r>
              <a:rPr lang="en-IN" sz="1200" dirty="0">
                <a:solidFill>
                  <a:schemeClr val="bg1"/>
                </a:solidFill>
              </a:rPr>
              <a:t>Applications</a:t>
            </a:r>
          </a:p>
        </p:txBody>
      </p:sp>
      <p:sp>
        <p:nvSpPr>
          <p:cNvPr id="29" name="Rectangle: Diagonal Corners Rounded 28">
            <a:extLst>
              <a:ext uri="{FF2B5EF4-FFF2-40B4-BE49-F238E27FC236}">
                <a16:creationId xmlns:a16="http://schemas.microsoft.com/office/drawing/2014/main" xmlns="" id="{3FB4C8E8-5D99-4E68-8937-427E9C834024}"/>
              </a:ext>
            </a:extLst>
          </p:cNvPr>
          <p:cNvSpPr/>
          <p:nvPr/>
        </p:nvSpPr>
        <p:spPr bwMode="auto">
          <a:xfrm>
            <a:off x="5284241" y="2348901"/>
            <a:ext cx="1296144" cy="316835"/>
          </a:xfrm>
          <a:prstGeom prst="round2DiagRect">
            <a:avLst/>
          </a:prstGeom>
          <a:solidFill>
            <a:srgbClr val="009999"/>
          </a:solidFill>
          <a:ln w="9525" cap="flat" cmpd="sng" algn="ctr">
            <a:noFill/>
            <a:prstDash val="solid"/>
            <a:round/>
            <a:headEnd type="none" w="sm" len="sm"/>
            <a:tailEnd type="none" w="sm" len="sm"/>
          </a:ln>
          <a:effectLst/>
        </p:spPr>
        <p:txBody>
          <a:bodyPr vert="horz" wrap="square" lIns="102413" tIns="51206" rIns="102413" bIns="51206" numCol="1" rtlCol="0" anchor="ctr" anchorCtr="0" compatLnSpc="1">
            <a:prstTxWarp prst="textNoShape">
              <a:avLst/>
            </a:prstTxWarp>
          </a:bodyPr>
          <a:lstStyle/>
          <a:p>
            <a:pPr algn="ctr">
              <a:spcBef>
                <a:spcPct val="20000"/>
              </a:spcBef>
              <a:buClr>
                <a:srgbClr val="FF0000"/>
              </a:buClr>
            </a:pPr>
            <a:r>
              <a:rPr lang="en-IN" sz="1200" dirty="0">
                <a:solidFill>
                  <a:schemeClr val="bg1"/>
                </a:solidFill>
              </a:rPr>
              <a:t>Data</a:t>
            </a:r>
          </a:p>
        </p:txBody>
      </p:sp>
      <p:sp>
        <p:nvSpPr>
          <p:cNvPr id="30" name="Rectangle: Diagonal Corners Rounded 29">
            <a:extLst>
              <a:ext uri="{FF2B5EF4-FFF2-40B4-BE49-F238E27FC236}">
                <a16:creationId xmlns:a16="http://schemas.microsoft.com/office/drawing/2014/main" xmlns="" id="{67372EB9-0C9E-4C6F-A41B-5E1BB2F55416}"/>
              </a:ext>
            </a:extLst>
          </p:cNvPr>
          <p:cNvSpPr/>
          <p:nvPr/>
        </p:nvSpPr>
        <p:spPr bwMode="auto">
          <a:xfrm>
            <a:off x="5284241" y="2781453"/>
            <a:ext cx="1296144" cy="316835"/>
          </a:xfrm>
          <a:prstGeom prst="round2DiagRect">
            <a:avLst/>
          </a:prstGeom>
          <a:solidFill>
            <a:srgbClr val="FF4F4F"/>
          </a:solidFill>
          <a:ln w="9525" cap="flat" cmpd="sng" algn="ctr">
            <a:noFill/>
            <a:prstDash val="solid"/>
            <a:round/>
            <a:headEnd type="none" w="sm" len="sm"/>
            <a:tailEnd type="none" w="sm" len="sm"/>
          </a:ln>
          <a:effectLst/>
        </p:spPr>
        <p:txBody>
          <a:bodyPr vert="horz" wrap="square" lIns="102413" tIns="51206" rIns="102413" bIns="51206" numCol="1" rtlCol="0" anchor="ctr" anchorCtr="0" compatLnSpc="1">
            <a:prstTxWarp prst="textNoShape">
              <a:avLst/>
            </a:prstTxWarp>
          </a:bodyPr>
          <a:lstStyle/>
          <a:p>
            <a:pPr algn="ctr">
              <a:spcBef>
                <a:spcPct val="20000"/>
              </a:spcBef>
              <a:buClr>
                <a:srgbClr val="FF0000"/>
              </a:buClr>
            </a:pPr>
            <a:r>
              <a:rPr lang="en-IN" sz="1200" dirty="0">
                <a:solidFill>
                  <a:schemeClr val="bg1"/>
                </a:solidFill>
              </a:rPr>
              <a:t>Runtime</a:t>
            </a:r>
          </a:p>
        </p:txBody>
      </p:sp>
      <p:sp>
        <p:nvSpPr>
          <p:cNvPr id="31" name="Rectangle: Diagonal Corners Rounded 30">
            <a:extLst>
              <a:ext uri="{FF2B5EF4-FFF2-40B4-BE49-F238E27FC236}">
                <a16:creationId xmlns:a16="http://schemas.microsoft.com/office/drawing/2014/main" xmlns="" id="{E96F9ECC-7655-4FA5-963F-14783E178751}"/>
              </a:ext>
            </a:extLst>
          </p:cNvPr>
          <p:cNvSpPr/>
          <p:nvPr/>
        </p:nvSpPr>
        <p:spPr bwMode="auto">
          <a:xfrm>
            <a:off x="5284241" y="3214005"/>
            <a:ext cx="1296144" cy="316835"/>
          </a:xfrm>
          <a:prstGeom prst="round2DiagRect">
            <a:avLst/>
          </a:prstGeom>
          <a:solidFill>
            <a:srgbClr val="FF4F4F"/>
          </a:solidFill>
          <a:ln w="9525" cap="flat" cmpd="sng" algn="ctr">
            <a:noFill/>
            <a:prstDash val="solid"/>
            <a:round/>
            <a:headEnd type="none" w="sm" len="sm"/>
            <a:tailEnd type="none" w="sm" len="sm"/>
          </a:ln>
          <a:effectLst/>
        </p:spPr>
        <p:txBody>
          <a:bodyPr vert="horz" wrap="square" lIns="102413" tIns="51206" rIns="102413" bIns="51206" numCol="1" rtlCol="0" anchor="ctr" anchorCtr="0" compatLnSpc="1">
            <a:prstTxWarp prst="textNoShape">
              <a:avLst/>
            </a:prstTxWarp>
          </a:bodyPr>
          <a:lstStyle/>
          <a:p>
            <a:pPr algn="ctr">
              <a:spcBef>
                <a:spcPct val="20000"/>
              </a:spcBef>
              <a:buClr>
                <a:srgbClr val="FF0000"/>
              </a:buClr>
            </a:pPr>
            <a:r>
              <a:rPr lang="en-IN" sz="1200" dirty="0">
                <a:solidFill>
                  <a:schemeClr val="bg1"/>
                </a:solidFill>
              </a:rPr>
              <a:t>Middleware</a:t>
            </a:r>
          </a:p>
        </p:txBody>
      </p:sp>
      <p:sp>
        <p:nvSpPr>
          <p:cNvPr id="32" name="Rectangle: Diagonal Corners Rounded 31">
            <a:extLst>
              <a:ext uri="{FF2B5EF4-FFF2-40B4-BE49-F238E27FC236}">
                <a16:creationId xmlns:a16="http://schemas.microsoft.com/office/drawing/2014/main" xmlns="" id="{9578947A-8BCB-40F8-AD39-8A098E89BEE5}"/>
              </a:ext>
            </a:extLst>
          </p:cNvPr>
          <p:cNvSpPr/>
          <p:nvPr/>
        </p:nvSpPr>
        <p:spPr bwMode="auto">
          <a:xfrm>
            <a:off x="5273228" y="3646557"/>
            <a:ext cx="1296144" cy="316835"/>
          </a:xfrm>
          <a:prstGeom prst="round2DiagRect">
            <a:avLst/>
          </a:prstGeom>
          <a:solidFill>
            <a:srgbClr val="FF4F4F"/>
          </a:solidFill>
          <a:ln w="9525" cap="flat" cmpd="sng" algn="ctr">
            <a:noFill/>
            <a:prstDash val="solid"/>
            <a:round/>
            <a:headEnd type="none" w="sm" len="sm"/>
            <a:tailEnd type="none" w="sm" len="sm"/>
          </a:ln>
          <a:effectLst/>
        </p:spPr>
        <p:txBody>
          <a:bodyPr vert="horz" wrap="square" lIns="102413" tIns="51206" rIns="102413" bIns="51206" numCol="1" rtlCol="0" anchor="ctr" anchorCtr="0" compatLnSpc="1">
            <a:prstTxWarp prst="textNoShape">
              <a:avLst/>
            </a:prstTxWarp>
          </a:bodyPr>
          <a:lstStyle/>
          <a:p>
            <a:pPr algn="ctr">
              <a:spcBef>
                <a:spcPct val="20000"/>
              </a:spcBef>
              <a:buClr>
                <a:srgbClr val="FF0000"/>
              </a:buClr>
            </a:pPr>
            <a:r>
              <a:rPr lang="en-IN" sz="1200" dirty="0">
                <a:solidFill>
                  <a:schemeClr val="bg1"/>
                </a:solidFill>
              </a:rPr>
              <a:t>O/S</a:t>
            </a:r>
          </a:p>
        </p:txBody>
      </p:sp>
      <p:sp>
        <p:nvSpPr>
          <p:cNvPr id="33" name="Rectangle: Diagonal Corners Rounded 32">
            <a:extLst>
              <a:ext uri="{FF2B5EF4-FFF2-40B4-BE49-F238E27FC236}">
                <a16:creationId xmlns:a16="http://schemas.microsoft.com/office/drawing/2014/main" xmlns="" id="{C77AE232-DB56-4B90-9B29-678FE0A57997}"/>
              </a:ext>
            </a:extLst>
          </p:cNvPr>
          <p:cNvSpPr/>
          <p:nvPr/>
        </p:nvSpPr>
        <p:spPr bwMode="auto">
          <a:xfrm>
            <a:off x="5273228" y="4079109"/>
            <a:ext cx="1296144" cy="316835"/>
          </a:xfrm>
          <a:prstGeom prst="round2DiagRect">
            <a:avLst/>
          </a:prstGeom>
          <a:solidFill>
            <a:srgbClr val="FF4F4F"/>
          </a:solidFill>
          <a:ln w="9525" cap="flat" cmpd="sng" algn="ctr">
            <a:noFill/>
            <a:prstDash val="solid"/>
            <a:round/>
            <a:headEnd type="none" w="sm" len="sm"/>
            <a:tailEnd type="none" w="sm" len="sm"/>
          </a:ln>
          <a:effectLst/>
        </p:spPr>
        <p:txBody>
          <a:bodyPr vert="horz" wrap="square" lIns="102413" tIns="51206" rIns="102413" bIns="51206" numCol="1" rtlCol="0" anchor="ctr" anchorCtr="0" compatLnSpc="1">
            <a:prstTxWarp prst="textNoShape">
              <a:avLst/>
            </a:prstTxWarp>
          </a:bodyPr>
          <a:lstStyle/>
          <a:p>
            <a:pPr algn="ctr">
              <a:spcBef>
                <a:spcPct val="20000"/>
              </a:spcBef>
              <a:buClr>
                <a:srgbClr val="FF0000"/>
              </a:buClr>
            </a:pPr>
            <a:r>
              <a:rPr lang="en-IN" sz="1200" dirty="0">
                <a:solidFill>
                  <a:schemeClr val="bg1"/>
                </a:solidFill>
              </a:rPr>
              <a:t>Virtualization</a:t>
            </a:r>
          </a:p>
        </p:txBody>
      </p:sp>
      <p:sp>
        <p:nvSpPr>
          <p:cNvPr id="34" name="Rectangle: Diagonal Corners Rounded 33">
            <a:extLst>
              <a:ext uri="{FF2B5EF4-FFF2-40B4-BE49-F238E27FC236}">
                <a16:creationId xmlns:a16="http://schemas.microsoft.com/office/drawing/2014/main" xmlns="" id="{6D6AAFDE-0BED-46FF-918D-B2D3BB051A5D}"/>
              </a:ext>
            </a:extLst>
          </p:cNvPr>
          <p:cNvSpPr/>
          <p:nvPr/>
        </p:nvSpPr>
        <p:spPr bwMode="auto">
          <a:xfrm>
            <a:off x="5281265" y="4511661"/>
            <a:ext cx="1296144" cy="316835"/>
          </a:xfrm>
          <a:prstGeom prst="round2DiagRect">
            <a:avLst/>
          </a:prstGeom>
          <a:solidFill>
            <a:srgbClr val="FF4F4F"/>
          </a:solidFill>
          <a:ln w="9525" cap="flat" cmpd="sng" algn="ctr">
            <a:noFill/>
            <a:prstDash val="solid"/>
            <a:round/>
            <a:headEnd type="none" w="sm" len="sm"/>
            <a:tailEnd type="none" w="sm" len="sm"/>
          </a:ln>
          <a:effectLst/>
        </p:spPr>
        <p:txBody>
          <a:bodyPr vert="horz" wrap="square" lIns="102413" tIns="51206" rIns="102413" bIns="51206" numCol="1" rtlCol="0" anchor="ctr" anchorCtr="0" compatLnSpc="1">
            <a:prstTxWarp prst="textNoShape">
              <a:avLst/>
            </a:prstTxWarp>
          </a:bodyPr>
          <a:lstStyle/>
          <a:p>
            <a:pPr algn="ctr">
              <a:spcBef>
                <a:spcPct val="20000"/>
              </a:spcBef>
              <a:buClr>
                <a:srgbClr val="FF0000"/>
              </a:buClr>
            </a:pPr>
            <a:r>
              <a:rPr lang="en-IN" sz="1200" dirty="0">
                <a:solidFill>
                  <a:schemeClr val="bg1"/>
                </a:solidFill>
              </a:rPr>
              <a:t>Servers</a:t>
            </a:r>
          </a:p>
        </p:txBody>
      </p:sp>
      <p:sp>
        <p:nvSpPr>
          <p:cNvPr id="35" name="Rectangle: Diagonal Corners Rounded 34">
            <a:extLst>
              <a:ext uri="{FF2B5EF4-FFF2-40B4-BE49-F238E27FC236}">
                <a16:creationId xmlns:a16="http://schemas.microsoft.com/office/drawing/2014/main" xmlns="" id="{10B3BA92-4527-4317-B259-4EFA39B6AF00}"/>
              </a:ext>
            </a:extLst>
          </p:cNvPr>
          <p:cNvSpPr/>
          <p:nvPr/>
        </p:nvSpPr>
        <p:spPr bwMode="auto">
          <a:xfrm>
            <a:off x="5270252" y="4944213"/>
            <a:ext cx="1296144" cy="316835"/>
          </a:xfrm>
          <a:prstGeom prst="round2DiagRect">
            <a:avLst/>
          </a:prstGeom>
          <a:solidFill>
            <a:srgbClr val="FF4F4F"/>
          </a:solidFill>
          <a:ln w="9525" cap="flat" cmpd="sng" algn="ctr">
            <a:noFill/>
            <a:prstDash val="solid"/>
            <a:round/>
            <a:headEnd type="none" w="sm" len="sm"/>
            <a:tailEnd type="none" w="sm" len="sm"/>
          </a:ln>
          <a:effectLst/>
        </p:spPr>
        <p:txBody>
          <a:bodyPr vert="horz" wrap="square" lIns="102413" tIns="51206" rIns="102413" bIns="51206" numCol="1" rtlCol="0" anchor="ctr" anchorCtr="0" compatLnSpc="1">
            <a:prstTxWarp prst="textNoShape">
              <a:avLst/>
            </a:prstTxWarp>
          </a:bodyPr>
          <a:lstStyle/>
          <a:p>
            <a:pPr algn="ctr">
              <a:spcBef>
                <a:spcPct val="20000"/>
              </a:spcBef>
              <a:buClr>
                <a:srgbClr val="FF0000"/>
              </a:buClr>
            </a:pPr>
            <a:r>
              <a:rPr lang="en-IN" sz="1200" dirty="0">
                <a:solidFill>
                  <a:schemeClr val="bg1"/>
                </a:solidFill>
              </a:rPr>
              <a:t>Storage</a:t>
            </a:r>
          </a:p>
        </p:txBody>
      </p:sp>
      <p:sp>
        <p:nvSpPr>
          <p:cNvPr id="36" name="Rectangle: Diagonal Corners Rounded 35">
            <a:extLst>
              <a:ext uri="{FF2B5EF4-FFF2-40B4-BE49-F238E27FC236}">
                <a16:creationId xmlns:a16="http://schemas.microsoft.com/office/drawing/2014/main" xmlns="" id="{625BFE61-ADB9-4141-BB37-5C0B826F3C2C}"/>
              </a:ext>
            </a:extLst>
          </p:cNvPr>
          <p:cNvSpPr/>
          <p:nvPr/>
        </p:nvSpPr>
        <p:spPr bwMode="auto">
          <a:xfrm>
            <a:off x="5270252" y="5376768"/>
            <a:ext cx="1296144" cy="316835"/>
          </a:xfrm>
          <a:prstGeom prst="round2DiagRect">
            <a:avLst/>
          </a:prstGeom>
          <a:solidFill>
            <a:srgbClr val="FF4F4F"/>
          </a:solidFill>
          <a:ln w="9525" cap="flat" cmpd="sng" algn="ctr">
            <a:noFill/>
            <a:prstDash val="solid"/>
            <a:round/>
            <a:headEnd type="none" w="sm" len="sm"/>
            <a:tailEnd type="none" w="sm" len="sm"/>
          </a:ln>
          <a:effectLst/>
        </p:spPr>
        <p:txBody>
          <a:bodyPr vert="horz" wrap="square" lIns="102413" tIns="51206" rIns="102413" bIns="51206" numCol="1" rtlCol="0" anchor="ctr" anchorCtr="0" compatLnSpc="1">
            <a:prstTxWarp prst="textNoShape">
              <a:avLst/>
            </a:prstTxWarp>
          </a:bodyPr>
          <a:lstStyle/>
          <a:p>
            <a:pPr algn="ctr">
              <a:spcBef>
                <a:spcPct val="20000"/>
              </a:spcBef>
              <a:buClr>
                <a:srgbClr val="FF0000"/>
              </a:buClr>
            </a:pPr>
            <a:r>
              <a:rPr lang="en-IN" sz="1200" dirty="0">
                <a:solidFill>
                  <a:schemeClr val="bg1"/>
                </a:solidFill>
              </a:rPr>
              <a:t>Networking</a:t>
            </a:r>
          </a:p>
        </p:txBody>
      </p:sp>
      <p:sp>
        <p:nvSpPr>
          <p:cNvPr id="37" name="Rectangle: Rounded Corners 36">
            <a:extLst>
              <a:ext uri="{FF2B5EF4-FFF2-40B4-BE49-F238E27FC236}">
                <a16:creationId xmlns:a16="http://schemas.microsoft.com/office/drawing/2014/main" xmlns="" id="{A7BF07AE-AF43-4417-A320-F1014BA57D81}"/>
              </a:ext>
            </a:extLst>
          </p:cNvPr>
          <p:cNvSpPr/>
          <p:nvPr/>
        </p:nvSpPr>
        <p:spPr bwMode="auto">
          <a:xfrm>
            <a:off x="6904831" y="1220754"/>
            <a:ext cx="1726488" cy="4676003"/>
          </a:xfrm>
          <a:prstGeom prst="roundRect">
            <a:avLst>
              <a:gd name="adj" fmla="val 7092"/>
            </a:avLst>
          </a:prstGeom>
          <a:solidFill>
            <a:schemeClr val="bg1">
              <a:lumMod val="85000"/>
            </a:schemeClr>
          </a:solidFill>
          <a:ln w="28575" cap="flat" cmpd="sng" algn="ctr">
            <a:noFill/>
            <a:prstDash val="solid"/>
            <a:round/>
            <a:headEnd type="none" w="sm" len="sm"/>
            <a:tailEnd type="none" w="sm" len="sm"/>
          </a:ln>
          <a:effectLst/>
        </p:spPr>
        <p:txBody>
          <a:bodyPr vert="horz" wrap="square" lIns="102413" tIns="51206" rIns="102413" bIns="51206" numCol="1" rtlCol="0" anchor="t" anchorCtr="0" compatLnSpc="1">
            <a:prstTxWarp prst="textNoShape">
              <a:avLst/>
            </a:prstTxWarp>
          </a:bodyPr>
          <a:lstStyle/>
          <a:p>
            <a:pPr algn="ctr">
              <a:spcBef>
                <a:spcPct val="20000"/>
              </a:spcBef>
              <a:buClr>
                <a:srgbClr val="FF0000"/>
              </a:buClr>
            </a:pPr>
            <a:r>
              <a:rPr lang="en-IN" sz="1200" b="1" dirty="0"/>
              <a:t>Software as a Service (SaaS)</a:t>
            </a:r>
          </a:p>
        </p:txBody>
      </p:sp>
      <p:sp>
        <p:nvSpPr>
          <p:cNvPr id="38" name="Rectangle: Diagonal Corners Rounded 37">
            <a:extLst>
              <a:ext uri="{FF2B5EF4-FFF2-40B4-BE49-F238E27FC236}">
                <a16:creationId xmlns:a16="http://schemas.microsoft.com/office/drawing/2014/main" xmlns="" id="{21780005-CEAB-4926-B394-CDDF600F1811}"/>
              </a:ext>
            </a:extLst>
          </p:cNvPr>
          <p:cNvSpPr/>
          <p:nvPr/>
        </p:nvSpPr>
        <p:spPr bwMode="auto">
          <a:xfrm>
            <a:off x="7120413" y="1884773"/>
            <a:ext cx="1296144" cy="316835"/>
          </a:xfrm>
          <a:prstGeom prst="round2DiagRect">
            <a:avLst/>
          </a:prstGeom>
          <a:solidFill>
            <a:srgbClr val="FF4F4F"/>
          </a:solidFill>
          <a:ln w="9525" cap="flat" cmpd="sng" algn="ctr">
            <a:noFill/>
            <a:prstDash val="solid"/>
            <a:round/>
            <a:headEnd type="none" w="sm" len="sm"/>
            <a:tailEnd type="none" w="sm" len="sm"/>
          </a:ln>
          <a:effectLst/>
        </p:spPr>
        <p:txBody>
          <a:bodyPr vert="horz" wrap="square" lIns="102413" tIns="51206" rIns="102413" bIns="51206" numCol="1" rtlCol="0" anchor="ctr" anchorCtr="0" compatLnSpc="1">
            <a:prstTxWarp prst="textNoShape">
              <a:avLst/>
            </a:prstTxWarp>
          </a:bodyPr>
          <a:lstStyle/>
          <a:p>
            <a:pPr algn="ctr">
              <a:spcBef>
                <a:spcPct val="20000"/>
              </a:spcBef>
              <a:buClr>
                <a:srgbClr val="FF0000"/>
              </a:buClr>
            </a:pPr>
            <a:r>
              <a:rPr lang="en-IN" sz="1200" dirty="0">
                <a:solidFill>
                  <a:schemeClr val="bg1"/>
                </a:solidFill>
              </a:rPr>
              <a:t>Applications</a:t>
            </a:r>
          </a:p>
        </p:txBody>
      </p:sp>
      <p:sp>
        <p:nvSpPr>
          <p:cNvPr id="39" name="Rectangle: Diagonal Corners Rounded 38">
            <a:extLst>
              <a:ext uri="{FF2B5EF4-FFF2-40B4-BE49-F238E27FC236}">
                <a16:creationId xmlns:a16="http://schemas.microsoft.com/office/drawing/2014/main" xmlns="" id="{4379654E-F470-4822-B2FE-FE82EDE3762A}"/>
              </a:ext>
            </a:extLst>
          </p:cNvPr>
          <p:cNvSpPr/>
          <p:nvPr/>
        </p:nvSpPr>
        <p:spPr bwMode="auto">
          <a:xfrm>
            <a:off x="7120003" y="2317325"/>
            <a:ext cx="1296144" cy="316835"/>
          </a:xfrm>
          <a:prstGeom prst="round2DiagRect">
            <a:avLst/>
          </a:prstGeom>
          <a:solidFill>
            <a:srgbClr val="FF4F4F"/>
          </a:solidFill>
          <a:ln w="9525" cap="flat" cmpd="sng" algn="ctr">
            <a:noFill/>
            <a:prstDash val="solid"/>
            <a:round/>
            <a:headEnd type="none" w="sm" len="sm"/>
            <a:tailEnd type="none" w="sm" len="sm"/>
          </a:ln>
          <a:effectLst/>
        </p:spPr>
        <p:txBody>
          <a:bodyPr vert="horz" wrap="square" lIns="102413" tIns="51206" rIns="102413" bIns="51206" numCol="1" rtlCol="0" anchor="ctr" anchorCtr="0" compatLnSpc="1">
            <a:prstTxWarp prst="textNoShape">
              <a:avLst/>
            </a:prstTxWarp>
          </a:bodyPr>
          <a:lstStyle/>
          <a:p>
            <a:pPr algn="ctr">
              <a:spcBef>
                <a:spcPct val="20000"/>
              </a:spcBef>
              <a:buClr>
                <a:srgbClr val="FF0000"/>
              </a:buClr>
            </a:pPr>
            <a:r>
              <a:rPr lang="en-IN" sz="1200" dirty="0">
                <a:solidFill>
                  <a:schemeClr val="bg1"/>
                </a:solidFill>
              </a:rPr>
              <a:t>Data</a:t>
            </a:r>
          </a:p>
        </p:txBody>
      </p:sp>
      <p:sp>
        <p:nvSpPr>
          <p:cNvPr id="40" name="Rectangle: Diagonal Corners Rounded 39">
            <a:extLst>
              <a:ext uri="{FF2B5EF4-FFF2-40B4-BE49-F238E27FC236}">
                <a16:creationId xmlns:a16="http://schemas.microsoft.com/office/drawing/2014/main" xmlns="" id="{3792A4D3-86F5-4C5E-8732-5E3755EC1EBE}"/>
              </a:ext>
            </a:extLst>
          </p:cNvPr>
          <p:cNvSpPr/>
          <p:nvPr/>
        </p:nvSpPr>
        <p:spPr bwMode="auto">
          <a:xfrm>
            <a:off x="7120003" y="2749877"/>
            <a:ext cx="1296144" cy="316835"/>
          </a:xfrm>
          <a:prstGeom prst="round2DiagRect">
            <a:avLst/>
          </a:prstGeom>
          <a:solidFill>
            <a:srgbClr val="FF4F4F"/>
          </a:solidFill>
          <a:ln w="9525" cap="flat" cmpd="sng" algn="ctr">
            <a:noFill/>
            <a:prstDash val="solid"/>
            <a:round/>
            <a:headEnd type="none" w="sm" len="sm"/>
            <a:tailEnd type="none" w="sm" len="sm"/>
          </a:ln>
          <a:effectLst/>
        </p:spPr>
        <p:txBody>
          <a:bodyPr vert="horz" wrap="square" lIns="102413" tIns="51206" rIns="102413" bIns="51206" numCol="1" rtlCol="0" anchor="ctr" anchorCtr="0" compatLnSpc="1">
            <a:prstTxWarp prst="textNoShape">
              <a:avLst/>
            </a:prstTxWarp>
          </a:bodyPr>
          <a:lstStyle/>
          <a:p>
            <a:pPr algn="ctr">
              <a:spcBef>
                <a:spcPct val="20000"/>
              </a:spcBef>
              <a:buClr>
                <a:srgbClr val="FF0000"/>
              </a:buClr>
            </a:pPr>
            <a:r>
              <a:rPr lang="en-IN" sz="1200" dirty="0">
                <a:solidFill>
                  <a:schemeClr val="bg1"/>
                </a:solidFill>
              </a:rPr>
              <a:t>Runtime</a:t>
            </a:r>
          </a:p>
        </p:txBody>
      </p:sp>
      <p:sp>
        <p:nvSpPr>
          <p:cNvPr id="41" name="Rectangle: Diagonal Corners Rounded 40">
            <a:extLst>
              <a:ext uri="{FF2B5EF4-FFF2-40B4-BE49-F238E27FC236}">
                <a16:creationId xmlns:a16="http://schemas.microsoft.com/office/drawing/2014/main" xmlns="" id="{CDDED525-68F5-467C-97C9-C3478EFC4656}"/>
              </a:ext>
            </a:extLst>
          </p:cNvPr>
          <p:cNvSpPr/>
          <p:nvPr/>
        </p:nvSpPr>
        <p:spPr bwMode="auto">
          <a:xfrm>
            <a:off x="7120003" y="3182429"/>
            <a:ext cx="1296144" cy="316835"/>
          </a:xfrm>
          <a:prstGeom prst="round2DiagRect">
            <a:avLst/>
          </a:prstGeom>
          <a:solidFill>
            <a:srgbClr val="FF4F4F"/>
          </a:solidFill>
          <a:ln w="9525" cap="flat" cmpd="sng" algn="ctr">
            <a:noFill/>
            <a:prstDash val="solid"/>
            <a:round/>
            <a:headEnd type="none" w="sm" len="sm"/>
            <a:tailEnd type="none" w="sm" len="sm"/>
          </a:ln>
          <a:effectLst/>
        </p:spPr>
        <p:txBody>
          <a:bodyPr vert="horz" wrap="square" lIns="102413" tIns="51206" rIns="102413" bIns="51206" numCol="1" rtlCol="0" anchor="ctr" anchorCtr="0" compatLnSpc="1">
            <a:prstTxWarp prst="textNoShape">
              <a:avLst/>
            </a:prstTxWarp>
          </a:bodyPr>
          <a:lstStyle/>
          <a:p>
            <a:pPr algn="ctr">
              <a:spcBef>
                <a:spcPct val="20000"/>
              </a:spcBef>
              <a:buClr>
                <a:srgbClr val="FF0000"/>
              </a:buClr>
            </a:pPr>
            <a:r>
              <a:rPr lang="en-IN" sz="1200" dirty="0">
                <a:solidFill>
                  <a:schemeClr val="bg1"/>
                </a:solidFill>
              </a:rPr>
              <a:t>Middleware</a:t>
            </a:r>
          </a:p>
        </p:txBody>
      </p:sp>
      <p:sp>
        <p:nvSpPr>
          <p:cNvPr id="42" name="Rectangle: Diagonal Corners Rounded 41">
            <a:extLst>
              <a:ext uri="{FF2B5EF4-FFF2-40B4-BE49-F238E27FC236}">
                <a16:creationId xmlns:a16="http://schemas.microsoft.com/office/drawing/2014/main" xmlns="" id="{59CEC70C-9F1C-472E-BB85-9344B84AC2DB}"/>
              </a:ext>
            </a:extLst>
          </p:cNvPr>
          <p:cNvSpPr/>
          <p:nvPr/>
        </p:nvSpPr>
        <p:spPr bwMode="auto">
          <a:xfrm>
            <a:off x="7108990" y="3614981"/>
            <a:ext cx="1296144" cy="316835"/>
          </a:xfrm>
          <a:prstGeom prst="round2DiagRect">
            <a:avLst/>
          </a:prstGeom>
          <a:solidFill>
            <a:srgbClr val="FF4F4F"/>
          </a:solidFill>
          <a:ln w="9525" cap="flat" cmpd="sng" algn="ctr">
            <a:noFill/>
            <a:prstDash val="solid"/>
            <a:round/>
            <a:headEnd type="none" w="sm" len="sm"/>
            <a:tailEnd type="none" w="sm" len="sm"/>
          </a:ln>
          <a:effectLst/>
        </p:spPr>
        <p:txBody>
          <a:bodyPr vert="horz" wrap="square" lIns="102413" tIns="51206" rIns="102413" bIns="51206" numCol="1" rtlCol="0" anchor="ctr" anchorCtr="0" compatLnSpc="1">
            <a:prstTxWarp prst="textNoShape">
              <a:avLst/>
            </a:prstTxWarp>
          </a:bodyPr>
          <a:lstStyle/>
          <a:p>
            <a:pPr algn="ctr">
              <a:spcBef>
                <a:spcPct val="20000"/>
              </a:spcBef>
              <a:buClr>
                <a:srgbClr val="FF0000"/>
              </a:buClr>
            </a:pPr>
            <a:r>
              <a:rPr lang="en-IN" sz="1200" dirty="0">
                <a:solidFill>
                  <a:schemeClr val="bg1"/>
                </a:solidFill>
              </a:rPr>
              <a:t>O/S</a:t>
            </a:r>
          </a:p>
        </p:txBody>
      </p:sp>
      <p:sp>
        <p:nvSpPr>
          <p:cNvPr id="43" name="Rectangle: Diagonal Corners Rounded 42">
            <a:extLst>
              <a:ext uri="{FF2B5EF4-FFF2-40B4-BE49-F238E27FC236}">
                <a16:creationId xmlns:a16="http://schemas.microsoft.com/office/drawing/2014/main" xmlns="" id="{E630A05E-6ADB-481D-9226-ACA28ABCBAF3}"/>
              </a:ext>
            </a:extLst>
          </p:cNvPr>
          <p:cNvSpPr/>
          <p:nvPr/>
        </p:nvSpPr>
        <p:spPr bwMode="auto">
          <a:xfrm>
            <a:off x="7108990" y="4047533"/>
            <a:ext cx="1296144" cy="316835"/>
          </a:xfrm>
          <a:prstGeom prst="round2DiagRect">
            <a:avLst/>
          </a:prstGeom>
          <a:solidFill>
            <a:srgbClr val="FF4F4F"/>
          </a:solidFill>
          <a:ln w="9525" cap="flat" cmpd="sng" algn="ctr">
            <a:noFill/>
            <a:prstDash val="solid"/>
            <a:round/>
            <a:headEnd type="none" w="sm" len="sm"/>
            <a:tailEnd type="none" w="sm" len="sm"/>
          </a:ln>
          <a:effectLst/>
        </p:spPr>
        <p:txBody>
          <a:bodyPr vert="horz" wrap="square" lIns="102413" tIns="51206" rIns="102413" bIns="51206" numCol="1" rtlCol="0" anchor="ctr" anchorCtr="0" compatLnSpc="1">
            <a:prstTxWarp prst="textNoShape">
              <a:avLst/>
            </a:prstTxWarp>
          </a:bodyPr>
          <a:lstStyle/>
          <a:p>
            <a:pPr algn="ctr">
              <a:spcBef>
                <a:spcPct val="20000"/>
              </a:spcBef>
              <a:buClr>
                <a:srgbClr val="FF0000"/>
              </a:buClr>
            </a:pPr>
            <a:r>
              <a:rPr lang="en-IN" sz="1200" dirty="0">
                <a:solidFill>
                  <a:schemeClr val="bg1"/>
                </a:solidFill>
              </a:rPr>
              <a:t>Virtualization</a:t>
            </a:r>
          </a:p>
        </p:txBody>
      </p:sp>
      <p:sp>
        <p:nvSpPr>
          <p:cNvPr id="44" name="Rectangle: Diagonal Corners Rounded 43">
            <a:extLst>
              <a:ext uri="{FF2B5EF4-FFF2-40B4-BE49-F238E27FC236}">
                <a16:creationId xmlns:a16="http://schemas.microsoft.com/office/drawing/2014/main" xmlns="" id="{72B7F615-E1E5-4DD9-A783-343C6089C382}"/>
              </a:ext>
            </a:extLst>
          </p:cNvPr>
          <p:cNvSpPr/>
          <p:nvPr/>
        </p:nvSpPr>
        <p:spPr bwMode="auto">
          <a:xfrm>
            <a:off x="7117027" y="4480085"/>
            <a:ext cx="1296144" cy="316835"/>
          </a:xfrm>
          <a:prstGeom prst="round2DiagRect">
            <a:avLst/>
          </a:prstGeom>
          <a:solidFill>
            <a:srgbClr val="FF4F4F"/>
          </a:solidFill>
          <a:ln w="9525" cap="flat" cmpd="sng" algn="ctr">
            <a:noFill/>
            <a:prstDash val="solid"/>
            <a:round/>
            <a:headEnd type="none" w="sm" len="sm"/>
            <a:tailEnd type="none" w="sm" len="sm"/>
          </a:ln>
          <a:effectLst/>
        </p:spPr>
        <p:txBody>
          <a:bodyPr vert="horz" wrap="square" lIns="102413" tIns="51206" rIns="102413" bIns="51206" numCol="1" rtlCol="0" anchor="ctr" anchorCtr="0" compatLnSpc="1">
            <a:prstTxWarp prst="textNoShape">
              <a:avLst/>
            </a:prstTxWarp>
          </a:bodyPr>
          <a:lstStyle/>
          <a:p>
            <a:pPr algn="ctr">
              <a:spcBef>
                <a:spcPct val="20000"/>
              </a:spcBef>
              <a:buClr>
                <a:srgbClr val="FF0000"/>
              </a:buClr>
            </a:pPr>
            <a:r>
              <a:rPr lang="en-IN" sz="1200" dirty="0">
                <a:solidFill>
                  <a:schemeClr val="bg1"/>
                </a:solidFill>
              </a:rPr>
              <a:t>Servers</a:t>
            </a:r>
          </a:p>
        </p:txBody>
      </p:sp>
      <p:sp>
        <p:nvSpPr>
          <p:cNvPr id="45" name="Rectangle: Diagonal Corners Rounded 44">
            <a:extLst>
              <a:ext uri="{FF2B5EF4-FFF2-40B4-BE49-F238E27FC236}">
                <a16:creationId xmlns:a16="http://schemas.microsoft.com/office/drawing/2014/main" xmlns="" id="{41C2209B-B916-4C7A-9C86-C3149C233ADE}"/>
              </a:ext>
            </a:extLst>
          </p:cNvPr>
          <p:cNvSpPr/>
          <p:nvPr/>
        </p:nvSpPr>
        <p:spPr bwMode="auto">
          <a:xfrm>
            <a:off x="7106014" y="4912637"/>
            <a:ext cx="1296144" cy="316835"/>
          </a:xfrm>
          <a:prstGeom prst="round2DiagRect">
            <a:avLst/>
          </a:prstGeom>
          <a:solidFill>
            <a:srgbClr val="FF4F4F"/>
          </a:solidFill>
          <a:ln w="9525" cap="flat" cmpd="sng" algn="ctr">
            <a:noFill/>
            <a:prstDash val="solid"/>
            <a:round/>
            <a:headEnd type="none" w="sm" len="sm"/>
            <a:tailEnd type="none" w="sm" len="sm"/>
          </a:ln>
          <a:effectLst/>
        </p:spPr>
        <p:txBody>
          <a:bodyPr vert="horz" wrap="square" lIns="102413" tIns="51206" rIns="102413" bIns="51206" numCol="1" rtlCol="0" anchor="ctr" anchorCtr="0" compatLnSpc="1">
            <a:prstTxWarp prst="textNoShape">
              <a:avLst/>
            </a:prstTxWarp>
          </a:bodyPr>
          <a:lstStyle/>
          <a:p>
            <a:pPr algn="ctr">
              <a:spcBef>
                <a:spcPct val="20000"/>
              </a:spcBef>
              <a:buClr>
                <a:srgbClr val="FF0000"/>
              </a:buClr>
            </a:pPr>
            <a:r>
              <a:rPr lang="en-IN" sz="1200" dirty="0">
                <a:solidFill>
                  <a:schemeClr val="bg1"/>
                </a:solidFill>
              </a:rPr>
              <a:t>Storage</a:t>
            </a:r>
          </a:p>
        </p:txBody>
      </p:sp>
      <p:sp>
        <p:nvSpPr>
          <p:cNvPr id="46" name="Rectangle: Diagonal Corners Rounded 45">
            <a:extLst>
              <a:ext uri="{FF2B5EF4-FFF2-40B4-BE49-F238E27FC236}">
                <a16:creationId xmlns:a16="http://schemas.microsoft.com/office/drawing/2014/main" xmlns="" id="{F449110F-0442-4F7A-8C9A-EEC00778684E}"/>
              </a:ext>
            </a:extLst>
          </p:cNvPr>
          <p:cNvSpPr/>
          <p:nvPr/>
        </p:nvSpPr>
        <p:spPr bwMode="auto">
          <a:xfrm>
            <a:off x="7106014" y="5345192"/>
            <a:ext cx="1296144" cy="316835"/>
          </a:xfrm>
          <a:prstGeom prst="round2DiagRect">
            <a:avLst/>
          </a:prstGeom>
          <a:solidFill>
            <a:srgbClr val="FF4F4F"/>
          </a:solidFill>
          <a:ln w="9525" cap="flat" cmpd="sng" algn="ctr">
            <a:noFill/>
            <a:prstDash val="solid"/>
            <a:round/>
            <a:headEnd type="none" w="sm" len="sm"/>
            <a:tailEnd type="none" w="sm" len="sm"/>
          </a:ln>
          <a:effectLst/>
        </p:spPr>
        <p:txBody>
          <a:bodyPr vert="horz" wrap="square" lIns="102413" tIns="51206" rIns="102413" bIns="51206" numCol="1" rtlCol="0" anchor="ctr" anchorCtr="0" compatLnSpc="1">
            <a:prstTxWarp prst="textNoShape">
              <a:avLst/>
            </a:prstTxWarp>
          </a:bodyPr>
          <a:lstStyle/>
          <a:p>
            <a:pPr algn="ctr">
              <a:spcBef>
                <a:spcPct val="20000"/>
              </a:spcBef>
              <a:buClr>
                <a:srgbClr val="FF0000"/>
              </a:buClr>
            </a:pPr>
            <a:r>
              <a:rPr lang="en-IN" sz="1200" dirty="0">
                <a:solidFill>
                  <a:schemeClr val="bg1"/>
                </a:solidFill>
              </a:rPr>
              <a:t>Networking</a:t>
            </a:r>
          </a:p>
        </p:txBody>
      </p:sp>
      <p:sp>
        <p:nvSpPr>
          <p:cNvPr id="47" name="Arrow: Left-Right 46">
            <a:extLst>
              <a:ext uri="{FF2B5EF4-FFF2-40B4-BE49-F238E27FC236}">
                <a16:creationId xmlns:a16="http://schemas.microsoft.com/office/drawing/2014/main" xmlns="" id="{256A11AF-AA77-4DFA-AE2B-B9444C3FC50C}"/>
              </a:ext>
            </a:extLst>
          </p:cNvPr>
          <p:cNvSpPr/>
          <p:nvPr/>
        </p:nvSpPr>
        <p:spPr bwMode="auto">
          <a:xfrm>
            <a:off x="2456826" y="3408477"/>
            <a:ext cx="646368" cy="181571"/>
          </a:xfrm>
          <a:prstGeom prst="leftRightArrow">
            <a:avLst/>
          </a:prstGeom>
          <a:solidFill>
            <a:schemeClr val="tx1"/>
          </a:solidFill>
          <a:ln w="28575" cap="flat" cmpd="sng" algn="ctr">
            <a:solidFill>
              <a:schemeClr val="tx1"/>
            </a:solidFill>
            <a:prstDash val="solid"/>
            <a:round/>
            <a:headEnd type="none" w="sm" len="sm"/>
            <a:tailEnd type="none" w="sm" len="sm"/>
          </a:ln>
          <a:effectLst/>
        </p:spPr>
        <p:txBody>
          <a:bodyPr vert="horz" wrap="square" lIns="102413" tIns="51206" rIns="102413" bIns="51206" numCol="1" rtlCol="0" anchor="t" anchorCtr="0" compatLnSpc="1">
            <a:prstTxWarp prst="textNoShape">
              <a:avLst/>
            </a:prstTxWarp>
          </a:bodyPr>
          <a:lstStyle/>
          <a:p>
            <a:pPr algn="ctr">
              <a:spcBef>
                <a:spcPct val="20000"/>
              </a:spcBef>
              <a:buClr>
                <a:srgbClr val="FF0000"/>
              </a:buClr>
            </a:pPr>
            <a:endParaRPr lang="en-IN" sz="2000" dirty="0">
              <a:latin typeface="Arial" pitchFamily="34" charset="0"/>
            </a:endParaRPr>
          </a:p>
        </p:txBody>
      </p:sp>
      <p:sp>
        <p:nvSpPr>
          <p:cNvPr id="48" name="Rectangle: Diagonal Corners Rounded 47">
            <a:extLst>
              <a:ext uri="{FF2B5EF4-FFF2-40B4-BE49-F238E27FC236}">
                <a16:creationId xmlns:a16="http://schemas.microsoft.com/office/drawing/2014/main" xmlns="" id="{8DFB1FC0-8DB1-41A9-B549-C9AAB92BA444}"/>
              </a:ext>
            </a:extLst>
          </p:cNvPr>
          <p:cNvSpPr/>
          <p:nvPr/>
        </p:nvSpPr>
        <p:spPr bwMode="auto">
          <a:xfrm>
            <a:off x="2430816" y="6117299"/>
            <a:ext cx="412993" cy="216403"/>
          </a:xfrm>
          <a:prstGeom prst="round2DiagRect">
            <a:avLst/>
          </a:prstGeom>
          <a:solidFill>
            <a:srgbClr val="009999"/>
          </a:solidFill>
          <a:ln w="9525" cap="flat" cmpd="sng" algn="ctr">
            <a:noFill/>
            <a:prstDash val="solid"/>
            <a:round/>
            <a:headEnd type="none" w="sm" len="sm"/>
            <a:tailEnd type="none" w="sm" len="sm"/>
          </a:ln>
          <a:effectLst/>
        </p:spPr>
        <p:txBody>
          <a:bodyPr vert="horz" wrap="square" lIns="102413" tIns="51206" rIns="102413" bIns="51206" numCol="1" rtlCol="0" anchor="ctr" anchorCtr="0" compatLnSpc="1">
            <a:prstTxWarp prst="textNoShape">
              <a:avLst/>
            </a:prstTxWarp>
          </a:bodyPr>
          <a:lstStyle/>
          <a:p>
            <a:pPr algn="ctr">
              <a:spcBef>
                <a:spcPct val="20000"/>
              </a:spcBef>
              <a:buClr>
                <a:srgbClr val="FF0000"/>
              </a:buClr>
            </a:pPr>
            <a:endParaRPr lang="en-IN" sz="1200" dirty="0">
              <a:solidFill>
                <a:schemeClr val="bg1"/>
              </a:solidFill>
            </a:endParaRPr>
          </a:p>
        </p:txBody>
      </p:sp>
      <p:sp>
        <p:nvSpPr>
          <p:cNvPr id="49" name="Rectangle: Diagonal Corners Rounded 48">
            <a:extLst>
              <a:ext uri="{FF2B5EF4-FFF2-40B4-BE49-F238E27FC236}">
                <a16:creationId xmlns:a16="http://schemas.microsoft.com/office/drawing/2014/main" xmlns="" id="{D0174442-9285-4E31-AC3F-E7AF168AA620}"/>
              </a:ext>
            </a:extLst>
          </p:cNvPr>
          <p:cNvSpPr/>
          <p:nvPr/>
        </p:nvSpPr>
        <p:spPr bwMode="auto">
          <a:xfrm>
            <a:off x="6093698" y="6110279"/>
            <a:ext cx="412993" cy="216403"/>
          </a:xfrm>
          <a:prstGeom prst="round2DiagRect">
            <a:avLst/>
          </a:prstGeom>
          <a:solidFill>
            <a:srgbClr val="FF4F4F"/>
          </a:solidFill>
          <a:ln w="9525" cap="flat" cmpd="sng" algn="ctr">
            <a:noFill/>
            <a:prstDash val="solid"/>
            <a:round/>
            <a:headEnd type="none" w="sm" len="sm"/>
            <a:tailEnd type="none" w="sm" len="sm"/>
          </a:ln>
          <a:effectLst/>
        </p:spPr>
        <p:txBody>
          <a:bodyPr vert="horz" wrap="square" lIns="102413" tIns="51206" rIns="102413" bIns="51206" numCol="1" rtlCol="0" anchor="ctr" anchorCtr="0" compatLnSpc="1">
            <a:prstTxWarp prst="textNoShape">
              <a:avLst/>
            </a:prstTxWarp>
          </a:bodyPr>
          <a:lstStyle/>
          <a:p>
            <a:pPr algn="ctr">
              <a:spcBef>
                <a:spcPct val="20000"/>
              </a:spcBef>
              <a:buClr>
                <a:srgbClr val="FF0000"/>
              </a:buClr>
            </a:pPr>
            <a:endParaRPr lang="en-IN" sz="1200" dirty="0">
              <a:solidFill>
                <a:schemeClr val="bg1"/>
              </a:solidFill>
            </a:endParaRPr>
          </a:p>
        </p:txBody>
      </p:sp>
      <p:sp>
        <p:nvSpPr>
          <p:cNvPr id="3" name="TextBox 2">
            <a:extLst>
              <a:ext uri="{FF2B5EF4-FFF2-40B4-BE49-F238E27FC236}">
                <a16:creationId xmlns:a16="http://schemas.microsoft.com/office/drawing/2014/main" xmlns="" id="{B3FAB2FC-5A6E-4C90-864F-93B0137B4CC1}"/>
              </a:ext>
            </a:extLst>
          </p:cNvPr>
          <p:cNvSpPr txBox="1"/>
          <p:nvPr/>
        </p:nvSpPr>
        <p:spPr>
          <a:xfrm>
            <a:off x="2843809" y="6044052"/>
            <a:ext cx="1512168" cy="210520"/>
          </a:xfrm>
          <a:prstGeom prst="rect">
            <a:avLst/>
          </a:prstGeom>
          <a:noFill/>
        </p:spPr>
        <p:txBody>
          <a:bodyPr wrap="square" lIns="25603" tIns="12802" rIns="25603" bIns="12802" rtlCol="0">
            <a:spAutoFit/>
          </a:bodyPr>
          <a:lstStyle/>
          <a:p>
            <a:r>
              <a:rPr lang="en-IN" sz="1200" b="1" dirty="0"/>
              <a:t>Managed by Customer</a:t>
            </a:r>
          </a:p>
        </p:txBody>
      </p:sp>
      <p:sp>
        <p:nvSpPr>
          <p:cNvPr id="50" name="TextBox 49">
            <a:extLst>
              <a:ext uri="{FF2B5EF4-FFF2-40B4-BE49-F238E27FC236}">
                <a16:creationId xmlns:a16="http://schemas.microsoft.com/office/drawing/2014/main" xmlns="" id="{83A8A15F-F173-4D40-BCA4-AD1836EDDBDE}"/>
              </a:ext>
            </a:extLst>
          </p:cNvPr>
          <p:cNvSpPr txBox="1"/>
          <p:nvPr/>
        </p:nvSpPr>
        <p:spPr>
          <a:xfrm>
            <a:off x="6506690" y="6044052"/>
            <a:ext cx="1512168" cy="210520"/>
          </a:xfrm>
          <a:prstGeom prst="rect">
            <a:avLst/>
          </a:prstGeom>
          <a:noFill/>
        </p:spPr>
        <p:txBody>
          <a:bodyPr wrap="square" lIns="25603" tIns="12802" rIns="25603" bIns="12802" rtlCol="0">
            <a:spAutoFit/>
          </a:bodyPr>
          <a:lstStyle/>
          <a:p>
            <a:r>
              <a:rPr lang="en-IN" sz="1200" b="1" dirty="0"/>
              <a:t>Managed by Provider</a:t>
            </a:r>
          </a:p>
        </p:txBody>
      </p:sp>
    </p:spTree>
    <p:extLst>
      <p:ext uri="{BB962C8B-B14F-4D97-AF65-F5344CB8AC3E}">
        <p14:creationId xmlns:p14="http://schemas.microsoft.com/office/powerpoint/2010/main" val="2107023178"/>
      </p:ext>
    </p:extLst>
  </p:cSld>
  <p:clrMapOvr>
    <a:masterClrMapping/>
  </p:clrMapOvr>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itle 6"/>
          <p:cNvSpPr>
            <a:spLocks noGrp="1"/>
          </p:cNvSpPr>
          <p:nvPr>
            <p:ph type="title"/>
          </p:nvPr>
        </p:nvSpPr>
        <p:spPr>
          <a:xfrm>
            <a:off x="611560" y="2708920"/>
            <a:ext cx="7620000" cy="1143000"/>
          </a:xfrm>
        </p:spPr>
        <p:txBody>
          <a:bodyPr/>
          <a:lstStyle/>
          <a:p>
            <a:r>
              <a:rPr lang="en-IN" dirty="0" smtClean="0">
                <a:solidFill>
                  <a:schemeClr val="accent1"/>
                </a:solidFill>
              </a:rPr>
              <a:t>Various Cloud Providers</a:t>
            </a:r>
            <a:endParaRPr lang="en-IN" dirty="0"/>
          </a:p>
        </p:txBody>
      </p:sp>
    </p:spTree>
    <p:extLst>
      <p:ext uri="{BB962C8B-B14F-4D97-AF65-F5344CB8AC3E}">
        <p14:creationId xmlns:p14="http://schemas.microsoft.com/office/powerpoint/2010/main" val="3816357894"/>
      </p:ext>
    </p:extLst>
  </p:cSld>
  <p:clrMapOvr>
    <a:masterClrMapping/>
  </p:clrMapOvr>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3E0DB18D-1A02-43D1-A4BC-4E2ED29EDD19}"/>
              </a:ext>
            </a:extLst>
          </p:cNvPr>
          <p:cNvSpPr>
            <a:spLocks noGrp="1"/>
          </p:cNvSpPr>
          <p:nvPr>
            <p:ph type="title"/>
          </p:nvPr>
        </p:nvSpPr>
        <p:spPr/>
        <p:txBody>
          <a:bodyPr/>
          <a:lstStyle/>
          <a:p>
            <a:r>
              <a:rPr lang="en-IN" dirty="0"/>
              <a:t>Cloud Providers</a:t>
            </a:r>
          </a:p>
        </p:txBody>
      </p:sp>
      <p:pic>
        <p:nvPicPr>
          <p:cNvPr id="4" name="Picture 3" descr="Image result for rackspace">
            <a:extLst>
              <a:ext uri="{FF2B5EF4-FFF2-40B4-BE49-F238E27FC236}">
                <a16:creationId xmlns:a16="http://schemas.microsoft.com/office/drawing/2014/main" xmlns="" id="{418FCC1E-DF1D-4EC5-9B4E-1C911567141C}"/>
              </a:ext>
            </a:extLst>
          </p:cNvPr>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3998060" y="1649654"/>
            <a:ext cx="1158825" cy="734425"/>
          </a:xfrm>
          <a:prstGeom prst="rect">
            <a:avLst/>
          </a:prstGeom>
          <a:noFill/>
          <a:extLst>
            <a:ext uri="{909E8E84-426E-40DD-AFC4-6F175D3DCCD1}">
              <a14:hiddenFill xmlns:a14="http://schemas.microsoft.com/office/drawing/2010/main">
                <a:solidFill>
                  <a:srgbClr val="FFFFFF"/>
                </a:solidFill>
              </a14:hiddenFill>
            </a:ext>
          </a:extLst>
        </p:spPr>
      </p:pic>
      <p:pic>
        <p:nvPicPr>
          <p:cNvPr id="5" name="Picture 4" descr="Image result for rackspace">
            <a:extLst>
              <a:ext uri="{FF2B5EF4-FFF2-40B4-BE49-F238E27FC236}">
                <a16:creationId xmlns:a16="http://schemas.microsoft.com/office/drawing/2014/main" xmlns="" id="{5E154EB0-6745-4547-A198-F74FD12E289C}"/>
              </a:ext>
            </a:extLst>
          </p:cNvPr>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6542072" y="1769419"/>
            <a:ext cx="1455724" cy="494893"/>
          </a:xfrm>
          <a:prstGeom prst="rect">
            <a:avLst/>
          </a:prstGeom>
          <a:noFill/>
          <a:extLst>
            <a:ext uri="{909E8E84-426E-40DD-AFC4-6F175D3DCCD1}">
              <a14:hiddenFill xmlns:a14="http://schemas.microsoft.com/office/drawing/2010/main">
                <a:solidFill>
                  <a:srgbClr val="FFFFFF"/>
                </a:solidFill>
              </a14:hiddenFill>
            </a:ext>
          </a:extLst>
        </p:spPr>
      </p:pic>
      <p:pic>
        <p:nvPicPr>
          <p:cNvPr id="6" name="Picture 4" descr="Image result for joyent">
            <a:extLst>
              <a:ext uri="{FF2B5EF4-FFF2-40B4-BE49-F238E27FC236}">
                <a16:creationId xmlns:a16="http://schemas.microsoft.com/office/drawing/2014/main" xmlns="" id="{AB72B8B6-E594-4492-980C-843AFAC23461}"/>
              </a:ext>
            </a:extLst>
          </p:cNvPr>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1380600" y="5082369"/>
            <a:ext cx="1173227" cy="431532"/>
          </a:xfrm>
          <a:prstGeom prst="rect">
            <a:avLst/>
          </a:prstGeom>
          <a:noFill/>
          <a:extLst>
            <a:ext uri="{909E8E84-426E-40DD-AFC4-6F175D3DCCD1}">
              <a14:hiddenFill xmlns:a14="http://schemas.microsoft.com/office/drawing/2010/main">
                <a:solidFill>
                  <a:srgbClr val="FFFFFF"/>
                </a:solidFill>
              </a14:hiddenFill>
            </a:ext>
          </a:extLst>
        </p:spPr>
      </p:pic>
      <p:pic>
        <p:nvPicPr>
          <p:cNvPr id="7" name="Picture 6" descr="Image result for microsoft azure logo">
            <a:extLst>
              <a:ext uri="{FF2B5EF4-FFF2-40B4-BE49-F238E27FC236}">
                <a16:creationId xmlns:a16="http://schemas.microsoft.com/office/drawing/2014/main" xmlns="" id="{7A347AA6-B38B-4220-A486-2E991735DF45}"/>
              </a:ext>
            </a:extLst>
          </p:cNvPr>
          <p:cNvPicPr>
            <a:picLocks noChangeAspect="1" noChangeArrowheads="1"/>
          </p:cNvPicPr>
          <p:nvPr/>
        </p:nvPicPr>
        <p:blipFill>
          <a:blip r:embed="rId5" cstate="print">
            <a:extLst>
              <a:ext uri="{28A0092B-C50C-407E-A947-70E740481C1C}">
                <a14:useLocalDpi xmlns:a14="http://schemas.microsoft.com/office/drawing/2010/main" val="0"/>
              </a:ext>
            </a:extLst>
          </a:blip>
          <a:srcRect/>
          <a:stretch>
            <a:fillRect/>
          </a:stretch>
        </p:blipFill>
        <p:spPr bwMode="auto">
          <a:xfrm>
            <a:off x="6332030" y="2368083"/>
            <a:ext cx="1875808" cy="2501077"/>
          </a:xfrm>
          <a:prstGeom prst="rect">
            <a:avLst/>
          </a:prstGeom>
          <a:noFill/>
          <a:extLst>
            <a:ext uri="{909E8E84-426E-40DD-AFC4-6F175D3DCCD1}">
              <a14:hiddenFill xmlns:a14="http://schemas.microsoft.com/office/drawing/2010/main">
                <a:solidFill>
                  <a:srgbClr val="FFFFFF"/>
                </a:solidFill>
              </a14:hiddenFill>
            </a:ext>
          </a:extLst>
        </p:spPr>
      </p:pic>
      <p:pic>
        <p:nvPicPr>
          <p:cNvPr id="8" name="Picture 12" descr="Image result for google cloud">
            <a:extLst>
              <a:ext uri="{FF2B5EF4-FFF2-40B4-BE49-F238E27FC236}">
                <a16:creationId xmlns:a16="http://schemas.microsoft.com/office/drawing/2014/main" xmlns="" id="{588BB94F-836B-49E7-8254-323B91B507A7}"/>
              </a:ext>
            </a:extLst>
          </p:cNvPr>
          <p:cNvPicPr>
            <a:picLocks noChangeAspect="1" noChangeArrowheads="1"/>
          </p:cNvPicPr>
          <p:nvPr/>
        </p:nvPicPr>
        <p:blipFill>
          <a:blip r:embed="rId6" cstate="print">
            <a:extLst>
              <a:ext uri="{28A0092B-C50C-407E-A947-70E740481C1C}">
                <a14:useLocalDpi xmlns:a14="http://schemas.microsoft.com/office/drawing/2010/main" val="0"/>
              </a:ext>
            </a:extLst>
          </a:blip>
          <a:srcRect/>
          <a:stretch>
            <a:fillRect/>
          </a:stretch>
        </p:blipFill>
        <p:spPr bwMode="auto">
          <a:xfrm>
            <a:off x="1037982" y="2760699"/>
            <a:ext cx="1858467" cy="1530988"/>
          </a:xfrm>
          <a:prstGeom prst="rect">
            <a:avLst/>
          </a:prstGeom>
          <a:noFill/>
          <a:extLst>
            <a:ext uri="{909E8E84-426E-40DD-AFC4-6F175D3DCCD1}">
              <a14:hiddenFill xmlns:a14="http://schemas.microsoft.com/office/drawing/2010/main">
                <a:solidFill>
                  <a:srgbClr val="FFFFFF"/>
                </a:solidFill>
              </a14:hiddenFill>
            </a:ext>
          </a:extLst>
        </p:spPr>
      </p:pic>
      <p:pic>
        <p:nvPicPr>
          <p:cNvPr id="9" name="Picture 14" descr="Image result for digital ocean">
            <a:extLst>
              <a:ext uri="{FF2B5EF4-FFF2-40B4-BE49-F238E27FC236}">
                <a16:creationId xmlns:a16="http://schemas.microsoft.com/office/drawing/2014/main" xmlns="" id="{FEED6BE4-5E87-4357-BA40-5B0B9A7C8CBB}"/>
              </a:ext>
            </a:extLst>
          </p:cNvPr>
          <p:cNvPicPr>
            <a:picLocks noChangeAspect="1" noChangeArrowheads="1"/>
          </p:cNvPicPr>
          <p:nvPr/>
        </p:nvPicPr>
        <p:blipFill>
          <a:blip r:embed="rId7" cstate="print">
            <a:extLst>
              <a:ext uri="{28A0092B-C50C-407E-A947-70E740481C1C}">
                <a14:useLocalDpi xmlns:a14="http://schemas.microsoft.com/office/drawing/2010/main" val="0"/>
              </a:ext>
            </a:extLst>
          </a:blip>
          <a:srcRect/>
          <a:stretch>
            <a:fillRect/>
          </a:stretch>
        </p:blipFill>
        <p:spPr bwMode="auto">
          <a:xfrm>
            <a:off x="1456884" y="1537314"/>
            <a:ext cx="1020659" cy="862005"/>
          </a:xfrm>
          <a:prstGeom prst="rect">
            <a:avLst/>
          </a:prstGeom>
          <a:noFill/>
          <a:extLst>
            <a:ext uri="{909E8E84-426E-40DD-AFC4-6F175D3DCCD1}">
              <a14:hiddenFill xmlns:a14="http://schemas.microsoft.com/office/drawing/2010/main">
                <a:solidFill>
                  <a:srgbClr val="FFFFFF"/>
                </a:solidFill>
              </a14:hiddenFill>
            </a:ext>
          </a:extLst>
        </p:spPr>
      </p:pic>
      <p:pic>
        <p:nvPicPr>
          <p:cNvPr id="10" name="Picture 16" descr="Image result for IBM cloud">
            <a:extLst>
              <a:ext uri="{FF2B5EF4-FFF2-40B4-BE49-F238E27FC236}">
                <a16:creationId xmlns:a16="http://schemas.microsoft.com/office/drawing/2014/main" xmlns="" id="{47D09B5A-70E0-4C0E-BC5E-BF2DF6D6D417}"/>
              </a:ext>
            </a:extLst>
          </p:cNvPr>
          <p:cNvPicPr>
            <a:picLocks noChangeAspect="1" noChangeArrowheads="1"/>
          </p:cNvPicPr>
          <p:nvPr/>
        </p:nvPicPr>
        <p:blipFill>
          <a:blip r:embed="rId8" cstate="print">
            <a:extLst>
              <a:ext uri="{28A0092B-C50C-407E-A947-70E740481C1C}">
                <a14:useLocalDpi xmlns:a14="http://schemas.microsoft.com/office/drawing/2010/main" val="0"/>
              </a:ext>
            </a:extLst>
          </a:blip>
          <a:srcRect/>
          <a:stretch>
            <a:fillRect/>
          </a:stretch>
        </p:blipFill>
        <p:spPr bwMode="auto">
          <a:xfrm>
            <a:off x="4186962" y="4802499"/>
            <a:ext cx="770076" cy="1026768"/>
          </a:xfrm>
          <a:prstGeom prst="rect">
            <a:avLst/>
          </a:prstGeom>
          <a:noFill/>
          <a:extLst>
            <a:ext uri="{909E8E84-426E-40DD-AFC4-6F175D3DCCD1}">
              <a14:hiddenFill xmlns:a14="http://schemas.microsoft.com/office/drawing/2010/main">
                <a:solidFill>
                  <a:srgbClr val="FFFFFF"/>
                </a:solidFill>
              </a14:hiddenFill>
            </a:ext>
          </a:extLst>
        </p:spPr>
      </p:pic>
      <p:pic>
        <p:nvPicPr>
          <p:cNvPr id="11" name="Picture 2" descr="Image result for terremark logo png">
            <a:extLst>
              <a:ext uri="{FF2B5EF4-FFF2-40B4-BE49-F238E27FC236}">
                <a16:creationId xmlns:a16="http://schemas.microsoft.com/office/drawing/2014/main" xmlns="" id="{E5E9403A-1D04-4EC6-B8DC-C3FC097D049D}"/>
              </a:ext>
            </a:extLst>
          </p:cNvPr>
          <p:cNvPicPr>
            <a:picLocks noChangeAspect="1" noChangeArrowheads="1"/>
          </p:cNvPicPr>
          <p:nvPr/>
        </p:nvPicPr>
        <p:blipFill>
          <a:blip r:embed="rId9" cstate="print">
            <a:extLst>
              <a:ext uri="{28A0092B-C50C-407E-A947-70E740481C1C}">
                <a14:useLocalDpi xmlns:a14="http://schemas.microsoft.com/office/drawing/2010/main" val="0"/>
              </a:ext>
            </a:extLst>
          </a:blip>
          <a:srcRect/>
          <a:stretch>
            <a:fillRect/>
          </a:stretch>
        </p:blipFill>
        <p:spPr bwMode="auto">
          <a:xfrm>
            <a:off x="6403899" y="5100117"/>
            <a:ext cx="1732070" cy="442232"/>
          </a:xfrm>
          <a:prstGeom prst="rect">
            <a:avLst/>
          </a:prstGeom>
          <a:noFill/>
          <a:extLst>
            <a:ext uri="{909E8E84-426E-40DD-AFC4-6F175D3DCCD1}">
              <a14:hiddenFill xmlns:a14="http://schemas.microsoft.com/office/drawing/2010/main">
                <a:solidFill>
                  <a:srgbClr val="FFFFFF"/>
                </a:solidFill>
              </a14:hiddenFill>
            </a:ext>
          </a:extLst>
        </p:spPr>
      </p:pic>
      <p:pic>
        <p:nvPicPr>
          <p:cNvPr id="12" name="Picture 11" descr="Image result for aws logo">
            <a:extLst>
              <a:ext uri="{FF2B5EF4-FFF2-40B4-BE49-F238E27FC236}">
                <a16:creationId xmlns:a16="http://schemas.microsoft.com/office/drawing/2014/main" xmlns="" id="{FEBBE8E9-C4D4-4F8D-9740-A1AD40B65137}"/>
              </a:ext>
            </a:extLst>
          </p:cNvPr>
          <p:cNvPicPr>
            <a:picLocks noChangeAspect="1" noChangeArrowheads="1"/>
          </p:cNvPicPr>
          <p:nvPr/>
        </p:nvPicPr>
        <p:blipFill>
          <a:blip r:embed="rId10" cstate="print">
            <a:extLst>
              <a:ext uri="{28A0092B-C50C-407E-A947-70E740481C1C}">
                <a14:useLocalDpi xmlns:a14="http://schemas.microsoft.com/office/drawing/2010/main" val="0"/>
              </a:ext>
            </a:extLst>
          </a:blip>
          <a:srcRect/>
          <a:stretch>
            <a:fillRect/>
          </a:stretch>
        </p:blipFill>
        <p:spPr bwMode="auto">
          <a:xfrm>
            <a:off x="3639564" y="3022260"/>
            <a:ext cx="1864877" cy="935029"/>
          </a:xfrm>
          <a:prstGeom prst="rect">
            <a:avLst/>
          </a:prstGeom>
          <a:noFill/>
          <a:effectLst>
            <a:softEdge rad="0"/>
          </a:effectLst>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973165168"/>
      </p:ext>
    </p:extLst>
  </p:cSld>
  <p:clrMapOvr>
    <a:masterClrMapping/>
  </p:clrMapOvr>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a:xfrm>
            <a:off x="539552" y="2852936"/>
            <a:ext cx="8229600" cy="1143000"/>
          </a:xfrm>
        </p:spPr>
        <p:txBody>
          <a:bodyPr>
            <a:normAutofit fontScale="90000"/>
          </a:bodyPr>
          <a:lstStyle/>
          <a:p>
            <a:r>
              <a:rPr lang="en-IN" dirty="0" smtClean="0">
                <a:solidFill>
                  <a:schemeClr val="accent1"/>
                </a:solidFill>
              </a:rPr>
              <a:t>Why go for</a:t>
            </a:r>
            <a:br>
              <a:rPr lang="en-IN" dirty="0" smtClean="0">
                <a:solidFill>
                  <a:schemeClr val="accent1"/>
                </a:solidFill>
              </a:rPr>
            </a:br>
            <a:r>
              <a:rPr lang="en-IN" dirty="0" smtClean="0">
                <a:solidFill>
                  <a:schemeClr val="accent1"/>
                </a:solidFill>
              </a:rPr>
              <a:t>Google Cloud Platform?</a:t>
            </a:r>
            <a:endParaRPr lang="en-IN" dirty="0"/>
          </a:p>
        </p:txBody>
      </p:sp>
    </p:spTree>
    <p:extLst>
      <p:ext uri="{BB962C8B-B14F-4D97-AF65-F5344CB8AC3E}">
        <p14:creationId xmlns:p14="http://schemas.microsoft.com/office/powerpoint/2010/main" val="2883771369"/>
      </p:ext>
    </p:extLst>
  </p:cSld>
  <p:clrMapOvr>
    <a:masterClrMapping/>
  </p:clrMapOvr>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F2700004-667D-4AE6-B80E-F811D22083B6}"/>
              </a:ext>
            </a:extLst>
          </p:cNvPr>
          <p:cNvSpPr>
            <a:spLocks noGrp="1"/>
          </p:cNvSpPr>
          <p:nvPr>
            <p:ph type="title"/>
          </p:nvPr>
        </p:nvSpPr>
        <p:spPr/>
        <p:txBody>
          <a:bodyPr/>
          <a:lstStyle/>
          <a:p>
            <a:r>
              <a:rPr lang="en-IN" dirty="0"/>
              <a:t>Why GCP?</a:t>
            </a:r>
          </a:p>
        </p:txBody>
      </p:sp>
      <p:sp>
        <p:nvSpPr>
          <p:cNvPr id="3" name="Text Placeholder 2">
            <a:extLst>
              <a:ext uri="{FF2B5EF4-FFF2-40B4-BE49-F238E27FC236}">
                <a16:creationId xmlns:a16="http://schemas.microsoft.com/office/drawing/2014/main" xmlns="" id="{3F5BBB21-F242-4875-B149-4852ED52150F}"/>
              </a:ext>
            </a:extLst>
          </p:cNvPr>
          <p:cNvSpPr>
            <a:spLocks noGrp="1"/>
          </p:cNvSpPr>
          <p:nvPr>
            <p:ph type="body" sz="quarter" idx="10"/>
          </p:nvPr>
        </p:nvSpPr>
        <p:spPr>
          <a:xfrm>
            <a:off x="466725" y="1174514"/>
            <a:ext cx="8210550" cy="3050690"/>
          </a:xfrm>
        </p:spPr>
        <p:txBody>
          <a:bodyPr/>
          <a:lstStyle/>
          <a:p>
            <a:endParaRPr lang="en-IN" sz="1300" dirty="0"/>
          </a:p>
          <a:p>
            <a:endParaRPr lang="en-IN" sz="1300" dirty="0"/>
          </a:p>
          <a:p>
            <a:endParaRPr lang="en-IN" dirty="0"/>
          </a:p>
          <a:p>
            <a:endParaRPr lang="en-IN" dirty="0"/>
          </a:p>
          <a:p>
            <a:endParaRPr lang="en-IN" dirty="0"/>
          </a:p>
          <a:p>
            <a:endParaRPr lang="en-IN" dirty="0"/>
          </a:p>
        </p:txBody>
      </p:sp>
      <p:grpSp>
        <p:nvGrpSpPr>
          <p:cNvPr id="12" name="Group 11">
            <a:extLst>
              <a:ext uri="{FF2B5EF4-FFF2-40B4-BE49-F238E27FC236}">
                <a16:creationId xmlns:a16="http://schemas.microsoft.com/office/drawing/2014/main" xmlns="" id="{7240757A-BD2F-401B-B4A0-A60B50E6A744}"/>
              </a:ext>
            </a:extLst>
          </p:cNvPr>
          <p:cNvGrpSpPr/>
          <p:nvPr/>
        </p:nvGrpSpPr>
        <p:grpSpPr>
          <a:xfrm>
            <a:off x="2696815" y="2698053"/>
            <a:ext cx="3750371" cy="3035204"/>
            <a:chOff x="2027684" y="1219648"/>
            <a:chExt cx="4566495" cy="2771775"/>
          </a:xfrm>
        </p:grpSpPr>
        <p:pic>
          <p:nvPicPr>
            <p:cNvPr id="10" name="Picture 9">
              <a:extLst>
                <a:ext uri="{FF2B5EF4-FFF2-40B4-BE49-F238E27FC236}">
                  <a16:creationId xmlns:a16="http://schemas.microsoft.com/office/drawing/2014/main" xmlns="" id="{6F62CEA5-D4F3-4ECD-822E-0C89D406D12A}"/>
                </a:ext>
              </a:extLst>
            </p:cNvPr>
            <p:cNvPicPr>
              <a:picLocks noChangeAspect="1"/>
            </p:cNvPicPr>
            <p:nvPr/>
          </p:nvPicPr>
          <p:blipFill>
            <a:blip r:embed="rId3">
              <a:clrChange>
                <a:clrFrom>
                  <a:srgbClr val="FFFFFF"/>
                </a:clrFrom>
                <a:clrTo>
                  <a:srgbClr val="FFFFFF">
                    <a:alpha val="0"/>
                  </a:srgbClr>
                </a:clrTo>
              </a:clrChange>
            </a:blip>
            <a:stretch>
              <a:fillRect/>
            </a:stretch>
          </p:blipFill>
          <p:spPr>
            <a:xfrm>
              <a:off x="2027684" y="1408383"/>
              <a:ext cx="2400300" cy="2562225"/>
            </a:xfrm>
            <a:prstGeom prst="rect">
              <a:avLst/>
            </a:prstGeom>
          </p:spPr>
        </p:pic>
        <p:pic>
          <p:nvPicPr>
            <p:cNvPr id="11" name="Picture 10">
              <a:extLst>
                <a:ext uri="{FF2B5EF4-FFF2-40B4-BE49-F238E27FC236}">
                  <a16:creationId xmlns:a16="http://schemas.microsoft.com/office/drawing/2014/main" xmlns="" id="{8AF74434-31AB-48BF-B845-47084ED2DE81}"/>
                </a:ext>
              </a:extLst>
            </p:cNvPr>
            <p:cNvPicPr>
              <a:picLocks noChangeAspect="1"/>
            </p:cNvPicPr>
            <p:nvPr/>
          </p:nvPicPr>
          <p:blipFill>
            <a:blip r:embed="rId4">
              <a:clrChange>
                <a:clrFrom>
                  <a:srgbClr val="FFFFFF"/>
                </a:clrFrom>
                <a:clrTo>
                  <a:srgbClr val="FFFFFF">
                    <a:alpha val="0"/>
                  </a:srgbClr>
                </a:clrTo>
              </a:clrChange>
            </a:blip>
            <a:stretch>
              <a:fillRect/>
            </a:stretch>
          </p:blipFill>
          <p:spPr>
            <a:xfrm>
              <a:off x="4212929" y="1219648"/>
              <a:ext cx="2381250" cy="2771775"/>
            </a:xfrm>
            <a:prstGeom prst="rect">
              <a:avLst/>
            </a:prstGeom>
          </p:spPr>
        </p:pic>
      </p:grpSp>
      <p:sp>
        <p:nvSpPr>
          <p:cNvPr id="13" name="Rectangle: Diagonal Corners Rounded 12">
            <a:extLst>
              <a:ext uri="{FF2B5EF4-FFF2-40B4-BE49-F238E27FC236}">
                <a16:creationId xmlns:a16="http://schemas.microsoft.com/office/drawing/2014/main" xmlns="" id="{E5B05C5D-B955-42BA-99A3-3F819FF2CFBC}"/>
              </a:ext>
            </a:extLst>
          </p:cNvPr>
          <p:cNvSpPr/>
          <p:nvPr/>
        </p:nvSpPr>
        <p:spPr bwMode="auto">
          <a:xfrm>
            <a:off x="839933" y="1196752"/>
            <a:ext cx="7464136" cy="1707973"/>
          </a:xfrm>
          <a:prstGeom prst="round2DiagRect">
            <a:avLst/>
          </a:prstGeom>
          <a:solidFill>
            <a:schemeClr val="bg1">
              <a:lumMod val="95000"/>
            </a:schemeClr>
          </a:solidFill>
          <a:ln w="6350" cap="flat" cmpd="sng" algn="ctr">
            <a:solidFill>
              <a:schemeClr val="bg1"/>
            </a:solidFill>
            <a:prstDash val="solid"/>
            <a:round/>
            <a:headEnd type="none" w="sm" len="sm"/>
            <a:tailEnd type="none" w="sm" len="sm"/>
          </a:ln>
          <a:effectLst>
            <a:outerShdw blurRad="50800" dist="38100" dir="5400000" algn="t" rotWithShape="0">
              <a:prstClr val="black">
                <a:alpha val="40000"/>
              </a:prstClr>
            </a:outerShdw>
          </a:effectLst>
        </p:spPr>
        <p:txBody>
          <a:bodyPr vert="horz" wrap="square" lIns="102413" tIns="51206" rIns="102413" bIns="51206" numCol="1" rtlCol="0" anchor="ctr" anchorCtr="0" compatLnSpc="1">
            <a:prstTxWarp prst="textNoShape">
              <a:avLst/>
            </a:prstTxWarp>
          </a:bodyPr>
          <a:lstStyle/>
          <a:p>
            <a:pPr algn="ctr" defTabSz="255987">
              <a:lnSpc>
                <a:spcPct val="150000"/>
              </a:lnSpc>
              <a:spcBef>
                <a:spcPts val="756"/>
              </a:spcBef>
              <a:buClr>
                <a:srgbClr val="095A82"/>
              </a:buClr>
            </a:pPr>
            <a:r>
              <a:rPr lang="en-IN" sz="2000" kern="0" dirty="0">
                <a:solidFill>
                  <a:srgbClr val="5F5F5F"/>
                </a:solidFill>
                <a:latin typeface="Gill Sans" panose="020B0702020104020203" pitchFamily="34" charset="0"/>
              </a:rPr>
              <a:t>Google Cloud Platform, is a suite of cloud computing services </a:t>
            </a:r>
            <a:r>
              <a:rPr lang="en-IN" sz="2000" i="1" kern="0" dirty="0">
                <a:solidFill>
                  <a:srgbClr val="095A82"/>
                </a:solidFill>
                <a:latin typeface="Gill Sans" panose="020B0702020104020203" pitchFamily="34" charset="0"/>
              </a:rPr>
              <a:t>that runs on the same infrastructure that Google uses internally</a:t>
            </a:r>
            <a:r>
              <a:rPr lang="en-IN" sz="2000" kern="0" dirty="0">
                <a:solidFill>
                  <a:srgbClr val="5F5F5F"/>
                </a:solidFill>
                <a:latin typeface="Gill Sans" panose="020B0702020104020203" pitchFamily="34" charset="0"/>
              </a:rPr>
              <a:t>  for its end-user products, such as Google Search, Gmail, Google Photos and YouTube</a:t>
            </a:r>
          </a:p>
        </p:txBody>
      </p:sp>
    </p:spTree>
    <p:extLst>
      <p:ext uri="{BB962C8B-B14F-4D97-AF65-F5344CB8AC3E}">
        <p14:creationId xmlns:p14="http://schemas.microsoft.com/office/powerpoint/2010/main" val="18649536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nodeType="clickEffect">
                                  <p:stCondLst>
                                    <p:cond delay="0"/>
                                  </p:stCondLst>
                                  <p:childTnLst>
                                    <p:set>
                                      <p:cBhvr>
                                        <p:cTn id="6" dur="1" fill="hold">
                                          <p:stCondLst>
                                            <p:cond delay="0"/>
                                          </p:stCondLst>
                                        </p:cTn>
                                        <p:tgtEl>
                                          <p:spTgt spid="12"/>
                                        </p:tgtEl>
                                        <p:attrNameLst>
                                          <p:attrName>style.visibility</p:attrName>
                                        </p:attrNameLst>
                                      </p:cBhvr>
                                      <p:to>
                                        <p:strVal val="visible"/>
                                      </p:to>
                                    </p:set>
                                    <p:anim calcmode="lin" valueType="num">
                                      <p:cBhvr>
                                        <p:cTn id="7" dur="500" fill="hold"/>
                                        <p:tgtEl>
                                          <p:spTgt spid="12"/>
                                        </p:tgtEl>
                                        <p:attrNameLst>
                                          <p:attrName>ppt_w</p:attrName>
                                        </p:attrNameLst>
                                      </p:cBhvr>
                                      <p:tavLst>
                                        <p:tav tm="0">
                                          <p:val>
                                            <p:fltVal val="0"/>
                                          </p:val>
                                        </p:tav>
                                        <p:tav tm="100000">
                                          <p:val>
                                            <p:strVal val="#ppt_w"/>
                                          </p:val>
                                        </p:tav>
                                      </p:tavLst>
                                    </p:anim>
                                    <p:anim calcmode="lin" valueType="num">
                                      <p:cBhvr>
                                        <p:cTn id="8" dur="500" fill="hold"/>
                                        <p:tgtEl>
                                          <p:spTgt spid="12"/>
                                        </p:tgtEl>
                                        <p:attrNameLst>
                                          <p:attrName>ppt_h</p:attrName>
                                        </p:attrNameLst>
                                      </p:cBhvr>
                                      <p:tavLst>
                                        <p:tav tm="0">
                                          <p:val>
                                            <p:fltVal val="0"/>
                                          </p:val>
                                        </p:tav>
                                        <p:tav tm="100000">
                                          <p:val>
                                            <p:strVal val="#ppt_h"/>
                                          </p:val>
                                        </p:tav>
                                      </p:tavLst>
                                    </p:anim>
                                    <p:animEffect transition="in" filter="fade">
                                      <p:cBhvr>
                                        <p:cTn id="9" dur="500"/>
                                        <p:tgtEl>
                                          <p:spTgt spid="1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Run on Google’s Infrastructure</a:t>
            </a:r>
            <a:br>
              <a:rPr lang="en-US" dirty="0"/>
            </a:br>
            <a:endParaRPr lang="en-IN" dirty="0"/>
          </a:p>
        </p:txBody>
      </p:sp>
      <p:sp>
        <p:nvSpPr>
          <p:cNvPr id="3" name="Text Placeholder 2"/>
          <p:cNvSpPr>
            <a:spLocks noGrp="1"/>
          </p:cNvSpPr>
          <p:nvPr>
            <p:ph type="body" sz="quarter" idx="10"/>
          </p:nvPr>
        </p:nvSpPr>
        <p:spPr/>
        <p:txBody>
          <a:bodyPr/>
          <a:lstStyle/>
          <a:p>
            <a:r>
              <a:rPr lang="en-US" dirty="0" smtClean="0"/>
              <a:t>Build </a:t>
            </a:r>
            <a:r>
              <a:rPr lang="en-US" dirty="0"/>
              <a:t>on the same infrastructure that allows Google to return billions of </a:t>
            </a:r>
            <a:r>
              <a:rPr lang="en-US" dirty="0" smtClean="0"/>
              <a:t>search </a:t>
            </a:r>
            <a:r>
              <a:rPr lang="en-US" dirty="0"/>
              <a:t>results in milliseconds, </a:t>
            </a:r>
            <a:endParaRPr lang="en-US" dirty="0" smtClean="0"/>
          </a:p>
          <a:p>
            <a:r>
              <a:rPr lang="en-US" dirty="0" smtClean="0"/>
              <a:t>serve </a:t>
            </a:r>
            <a:r>
              <a:rPr lang="en-US" dirty="0"/>
              <a:t>6 billion hours of YouTube video per </a:t>
            </a:r>
            <a:r>
              <a:rPr lang="en-US" dirty="0" smtClean="0"/>
              <a:t>month </a:t>
            </a:r>
            <a:r>
              <a:rPr lang="en-US" dirty="0"/>
              <a:t>and </a:t>
            </a:r>
            <a:endParaRPr lang="en-US" dirty="0" smtClean="0"/>
          </a:p>
          <a:p>
            <a:r>
              <a:rPr lang="en-US" dirty="0" smtClean="0"/>
              <a:t>provide </a:t>
            </a:r>
            <a:r>
              <a:rPr lang="en-US" dirty="0"/>
              <a:t>storage for 425 million Gmail users</a:t>
            </a:r>
            <a:r>
              <a:rPr lang="en-US" dirty="0" smtClean="0"/>
              <a:t>.</a:t>
            </a:r>
          </a:p>
          <a:p>
            <a:endParaRPr lang="en-US" dirty="0"/>
          </a:p>
          <a:p>
            <a:pPr>
              <a:buFont typeface="Wingdings" pitchFamily="2" charset="2"/>
              <a:buChar char="ü"/>
            </a:pPr>
            <a:r>
              <a:rPr lang="en-IN" dirty="0" smtClean="0"/>
              <a:t>Global </a:t>
            </a:r>
            <a:r>
              <a:rPr lang="en-IN" dirty="0"/>
              <a:t>Network</a:t>
            </a:r>
          </a:p>
          <a:p>
            <a:pPr>
              <a:buFont typeface="Wingdings" pitchFamily="2" charset="2"/>
              <a:buChar char="ü"/>
            </a:pPr>
            <a:r>
              <a:rPr lang="en-IN" dirty="0" smtClean="0"/>
              <a:t>Redundancy</a:t>
            </a:r>
            <a:endParaRPr lang="en-IN" dirty="0"/>
          </a:p>
          <a:p>
            <a:pPr>
              <a:buFont typeface="Wingdings" pitchFamily="2" charset="2"/>
              <a:buChar char="ü"/>
            </a:pPr>
            <a:r>
              <a:rPr lang="en-IN" dirty="0" smtClean="0"/>
              <a:t>Innovative </a:t>
            </a:r>
            <a:r>
              <a:rPr lang="en-IN" dirty="0"/>
              <a:t>Infrastructure</a:t>
            </a:r>
          </a:p>
          <a:p>
            <a:endParaRPr lang="en-IN" dirty="0"/>
          </a:p>
        </p:txBody>
      </p:sp>
    </p:spTree>
    <p:extLst>
      <p:ext uri="{BB962C8B-B14F-4D97-AF65-F5344CB8AC3E}">
        <p14:creationId xmlns:p14="http://schemas.microsoft.com/office/powerpoint/2010/main" val="3093145658"/>
      </p:ext>
    </p:extLst>
  </p:cSld>
  <p:clrMapOvr>
    <a:masterClrMapping/>
  </p:clrMapOvr>
  <p:timing>
    <p:tnLst>
      <p:par>
        <p:cT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9F4C20FF-9F44-4195-B327-F9E074CA5118}"/>
              </a:ext>
            </a:extLst>
          </p:cNvPr>
          <p:cNvSpPr>
            <a:spLocks noGrp="1"/>
          </p:cNvSpPr>
          <p:nvPr>
            <p:ph type="title"/>
          </p:nvPr>
        </p:nvSpPr>
        <p:spPr/>
        <p:txBody>
          <a:bodyPr/>
          <a:lstStyle/>
          <a:p>
            <a:r>
              <a:rPr lang="en-IN" dirty="0"/>
              <a:t>Why GCP?</a:t>
            </a:r>
          </a:p>
        </p:txBody>
      </p:sp>
      <p:pic>
        <p:nvPicPr>
          <p:cNvPr id="15" name="Picture 14">
            <a:extLst>
              <a:ext uri="{FF2B5EF4-FFF2-40B4-BE49-F238E27FC236}">
                <a16:creationId xmlns:a16="http://schemas.microsoft.com/office/drawing/2014/main" xmlns="" id="{1FFEE9D1-8B90-4EF0-90C5-D91AB05FF8E8}"/>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995451" y="1277491"/>
            <a:ext cx="5153099" cy="5196195"/>
          </a:xfrm>
          <a:prstGeom prst="rect">
            <a:avLst/>
          </a:prstGeom>
        </p:spPr>
      </p:pic>
      <p:pic>
        <p:nvPicPr>
          <p:cNvPr id="11" name="Picture 12" descr="Image result for google cloud">
            <a:extLst>
              <a:ext uri="{FF2B5EF4-FFF2-40B4-BE49-F238E27FC236}">
                <a16:creationId xmlns:a16="http://schemas.microsoft.com/office/drawing/2014/main" xmlns="" id="{4B6B7697-16CC-4236-B6B5-06222EED928D}"/>
              </a:ext>
            </a:extLst>
          </p:cNvPr>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3616517" y="2084851"/>
            <a:ext cx="2044314" cy="1684087"/>
          </a:xfrm>
          <a:prstGeom prst="rect">
            <a:avLst/>
          </a:prstGeom>
          <a:noFill/>
          <a:extLst>
            <a:ext uri="{909E8E84-426E-40DD-AFC4-6F175D3DCCD1}">
              <a14:hiddenFill xmlns:a14="http://schemas.microsoft.com/office/drawing/2010/main">
                <a:solidFill>
                  <a:srgbClr val="FFFFFF"/>
                </a:solidFill>
              </a14:hiddenFill>
            </a:ext>
          </a:extLst>
        </p:spPr>
      </p:pic>
      <p:pic>
        <p:nvPicPr>
          <p:cNvPr id="19" name="Picture 18">
            <a:extLst>
              <a:ext uri="{FF2B5EF4-FFF2-40B4-BE49-F238E27FC236}">
                <a16:creationId xmlns:a16="http://schemas.microsoft.com/office/drawing/2014/main" xmlns="" id="{CBC48D52-1865-465D-ABC1-9096B7BB7B31}"/>
              </a:ext>
            </a:extLst>
          </p:cNvPr>
          <p:cNvPicPr>
            <a:picLocks noChangeAspect="1"/>
          </p:cNvPicPr>
          <p:nvPr/>
        </p:nvPicPr>
        <p:blipFill>
          <a:blip r:embed="rId5" cstate="print">
            <a:clrChange>
              <a:clrFrom>
                <a:srgbClr val="AED1CA"/>
              </a:clrFrom>
              <a:clrTo>
                <a:srgbClr val="AED1CA">
                  <a:alpha val="0"/>
                </a:srgbClr>
              </a:clrTo>
            </a:clrChange>
            <a:extLst>
              <a:ext uri="{28A0092B-C50C-407E-A947-70E740481C1C}">
                <a14:useLocalDpi xmlns:a14="http://schemas.microsoft.com/office/drawing/2010/main" val="0"/>
              </a:ext>
            </a:extLst>
          </a:blip>
          <a:stretch>
            <a:fillRect/>
          </a:stretch>
        </p:blipFill>
        <p:spPr>
          <a:xfrm>
            <a:off x="2759100" y="4239419"/>
            <a:ext cx="720080" cy="960107"/>
          </a:xfrm>
          <a:prstGeom prst="rect">
            <a:avLst/>
          </a:prstGeom>
        </p:spPr>
      </p:pic>
      <p:pic>
        <p:nvPicPr>
          <p:cNvPr id="2050" name="Picture 2" descr="https://lh3.googleusercontent.com/-rSdBf-Fy2PQ/WoLEynIHGEI/AAAAAAAAAV4/S9PmCd2zqMAylHd7iy3VjyYfZKCxjEkigCL0BGAYYCw/h164/2018-02-13.png">
            <a:extLst>
              <a:ext uri="{FF2B5EF4-FFF2-40B4-BE49-F238E27FC236}">
                <a16:creationId xmlns:a16="http://schemas.microsoft.com/office/drawing/2014/main" xmlns="" id="{7632D638-748D-4603-8C17-167A4452324A}"/>
              </a:ext>
            </a:extLst>
          </p:cNvPr>
          <p:cNvPicPr>
            <a:picLocks noChangeAspect="1" noChangeArrowheads="1"/>
          </p:cNvPicPr>
          <p:nvPr/>
        </p:nvPicPr>
        <p:blipFill>
          <a:blip r:embed="rId6" cstate="print">
            <a:clrChange>
              <a:clrFrom>
                <a:srgbClr val="FFFFFF"/>
              </a:clrFrom>
              <a:clrTo>
                <a:srgbClr val="FFFFFF">
                  <a:alpha val="0"/>
                </a:srgbClr>
              </a:clrTo>
            </a:clrChange>
            <a:extLst>
              <a:ext uri="{28A0092B-C50C-407E-A947-70E740481C1C}">
                <a14:useLocalDpi xmlns:a14="http://schemas.microsoft.com/office/drawing/2010/main" val="0"/>
              </a:ext>
            </a:extLst>
          </a:blip>
          <a:srcRect/>
          <a:stretch>
            <a:fillRect/>
          </a:stretch>
        </p:blipFill>
        <p:spPr bwMode="auto">
          <a:xfrm>
            <a:off x="5940152" y="4362579"/>
            <a:ext cx="489640" cy="713787"/>
          </a:xfrm>
          <a:prstGeom prst="rect">
            <a:avLst/>
          </a:prstGeom>
          <a:noFill/>
          <a:extLst>
            <a:ext uri="{909E8E84-426E-40DD-AFC4-6F175D3DCCD1}">
              <a14:hiddenFill xmlns:a14="http://schemas.microsoft.com/office/drawing/2010/main">
                <a:solidFill>
                  <a:srgbClr val="FFFFFF"/>
                </a:solidFill>
              </a14:hiddenFill>
            </a:ext>
          </a:extLst>
        </p:spPr>
      </p:pic>
      <p:grpSp>
        <p:nvGrpSpPr>
          <p:cNvPr id="29" name="Group 28">
            <a:extLst>
              <a:ext uri="{FF2B5EF4-FFF2-40B4-BE49-F238E27FC236}">
                <a16:creationId xmlns:a16="http://schemas.microsoft.com/office/drawing/2014/main" xmlns="" id="{504ADEF6-BEF1-4973-8AE9-56EFF6BBB099}"/>
              </a:ext>
            </a:extLst>
          </p:cNvPr>
          <p:cNvGrpSpPr/>
          <p:nvPr/>
        </p:nvGrpSpPr>
        <p:grpSpPr>
          <a:xfrm flipH="1">
            <a:off x="2357081" y="3154091"/>
            <a:ext cx="625357" cy="549819"/>
            <a:chOff x="3256053" y="3878205"/>
            <a:chExt cx="661441" cy="436158"/>
          </a:xfrm>
        </p:grpSpPr>
        <p:pic>
          <p:nvPicPr>
            <p:cNvPr id="30" name="Picture 29">
              <a:extLst>
                <a:ext uri="{FF2B5EF4-FFF2-40B4-BE49-F238E27FC236}">
                  <a16:creationId xmlns:a16="http://schemas.microsoft.com/office/drawing/2014/main" xmlns="" id="{AEE6659C-3248-450E-AED0-7B30F884B304}"/>
                </a:ext>
              </a:extLst>
            </p:cNvPr>
            <p:cNvPicPr>
              <a:picLocks noChangeAspect="1"/>
            </p:cNvPicPr>
            <p:nvPr/>
          </p:nvPicPr>
          <p:blipFill>
            <a:blip r:embed="rId7" cstate="print">
              <a:extLst>
                <a:ext uri="{28A0092B-C50C-407E-A947-70E740481C1C}">
                  <a14:useLocalDpi xmlns:a14="http://schemas.microsoft.com/office/drawing/2010/main" val="0"/>
                </a:ext>
              </a:extLst>
            </a:blip>
            <a:stretch>
              <a:fillRect/>
            </a:stretch>
          </p:blipFill>
          <p:spPr>
            <a:xfrm>
              <a:off x="3728374" y="3932398"/>
              <a:ext cx="189120" cy="270820"/>
            </a:xfrm>
            <a:prstGeom prst="rect">
              <a:avLst/>
            </a:prstGeom>
          </p:spPr>
        </p:pic>
        <p:sp>
          <p:nvSpPr>
            <p:cNvPr id="31" name="Arrow: Left 30">
              <a:extLst>
                <a:ext uri="{FF2B5EF4-FFF2-40B4-BE49-F238E27FC236}">
                  <a16:creationId xmlns:a16="http://schemas.microsoft.com/office/drawing/2014/main" xmlns="" id="{4C8A3390-E819-47CF-8CA6-733D87FB7198}"/>
                </a:ext>
              </a:extLst>
            </p:cNvPr>
            <p:cNvSpPr/>
            <p:nvPr/>
          </p:nvSpPr>
          <p:spPr bwMode="auto">
            <a:xfrm>
              <a:off x="3563221" y="4039330"/>
              <a:ext cx="149680" cy="56955"/>
            </a:xfrm>
            <a:prstGeom prst="leftArrow">
              <a:avLst/>
            </a:prstGeom>
            <a:solidFill>
              <a:schemeClr val="bg2">
                <a:lumMod val="50000"/>
              </a:schemeClr>
            </a:solidFill>
            <a:ln w="28575" cap="flat" cmpd="sng" algn="ctr">
              <a:noFill/>
              <a:prstDash val="solid"/>
              <a:round/>
              <a:headEnd type="none" w="sm" len="sm"/>
              <a:tailEnd type="none" w="sm" len="sm"/>
            </a:ln>
            <a:effectLst/>
          </p:spPr>
          <p:txBody>
            <a:bodyPr vert="horz" wrap="square" lIns="365760" tIns="182880" rIns="365760" bIns="182880" numCol="1" rtlCol="0" anchor="t" anchorCtr="0" compatLnSpc="1">
              <a:prstTxWarp prst="textNoShape">
                <a:avLst/>
              </a:prstTxWarp>
            </a:bodyPr>
            <a:lstStyle/>
            <a:p>
              <a:pPr algn="ctr">
                <a:spcBef>
                  <a:spcPct val="20000"/>
                </a:spcBef>
                <a:buClr>
                  <a:srgbClr val="FF0000"/>
                </a:buClr>
              </a:pPr>
              <a:endParaRPr lang="en-IN" sz="2000" dirty="0">
                <a:latin typeface="Arial" pitchFamily="34" charset="0"/>
              </a:endParaRPr>
            </a:p>
          </p:txBody>
        </p:sp>
        <p:pic>
          <p:nvPicPr>
            <p:cNvPr id="32" name="Picture 31">
              <a:extLst>
                <a:ext uri="{FF2B5EF4-FFF2-40B4-BE49-F238E27FC236}">
                  <a16:creationId xmlns:a16="http://schemas.microsoft.com/office/drawing/2014/main" xmlns="" id="{0C1D547F-87BD-414B-BBC0-48E13CC2C34A}"/>
                </a:ext>
              </a:extLst>
            </p:cNvPr>
            <p:cNvPicPr>
              <a:picLocks noChangeAspect="1"/>
            </p:cNvPicPr>
            <p:nvPr/>
          </p:nvPicPr>
          <p:blipFill>
            <a:blip r:embed="rId8" cstate="print">
              <a:extLst>
                <a:ext uri="{28A0092B-C50C-407E-A947-70E740481C1C}">
                  <a14:useLocalDpi xmlns:a14="http://schemas.microsoft.com/office/drawing/2010/main" val="0"/>
                </a:ext>
              </a:extLst>
            </a:blip>
            <a:stretch>
              <a:fillRect/>
            </a:stretch>
          </p:blipFill>
          <p:spPr>
            <a:xfrm>
              <a:off x="3256053" y="3878205"/>
              <a:ext cx="304581" cy="436158"/>
            </a:xfrm>
            <a:prstGeom prst="rect">
              <a:avLst/>
            </a:prstGeom>
          </p:spPr>
        </p:pic>
      </p:grpSp>
      <p:pic>
        <p:nvPicPr>
          <p:cNvPr id="2052" name="Picture 4" descr="https://lh3.googleusercontent.com/-bbbVQHBZFIE/WoLkl4A2V0I/AAAAAAAABug/W_yi2Hq_hCgQGproZwTIge-IdyLz9gaRgCL0BGAYYCw/h464/2018-02-13.png">
            <a:extLst>
              <a:ext uri="{FF2B5EF4-FFF2-40B4-BE49-F238E27FC236}">
                <a16:creationId xmlns:a16="http://schemas.microsoft.com/office/drawing/2014/main" xmlns="" id="{06663EED-F1FD-4570-9686-6837DA49AC2A}"/>
              </a:ext>
            </a:extLst>
          </p:cNvPr>
          <p:cNvPicPr>
            <a:picLocks noChangeAspect="1" noChangeArrowheads="1"/>
          </p:cNvPicPr>
          <p:nvPr/>
        </p:nvPicPr>
        <p:blipFill>
          <a:blip r:embed="rId9" cstate="print">
            <a:extLst>
              <a:ext uri="{28A0092B-C50C-407E-A947-70E740481C1C}">
                <a14:useLocalDpi xmlns:a14="http://schemas.microsoft.com/office/drawing/2010/main" val="0"/>
              </a:ext>
            </a:extLst>
          </a:blip>
          <a:srcRect/>
          <a:stretch>
            <a:fillRect/>
          </a:stretch>
        </p:blipFill>
        <p:spPr bwMode="auto">
          <a:xfrm>
            <a:off x="3851920" y="5106597"/>
            <a:ext cx="636684" cy="848912"/>
          </a:xfrm>
          <a:prstGeom prst="rect">
            <a:avLst/>
          </a:prstGeom>
          <a:noFill/>
          <a:extLst>
            <a:ext uri="{909E8E84-426E-40DD-AFC4-6F175D3DCCD1}">
              <a14:hiddenFill xmlns:a14="http://schemas.microsoft.com/office/drawing/2010/main">
                <a:solidFill>
                  <a:srgbClr val="FFFFFF"/>
                </a:solidFill>
              </a14:hiddenFill>
            </a:ext>
          </a:extLst>
        </p:spPr>
      </p:pic>
      <p:pic>
        <p:nvPicPr>
          <p:cNvPr id="37" name="Picture 36" descr="A close up of a logo&#10;&#10;Description generated with high confidence">
            <a:extLst>
              <a:ext uri="{FF2B5EF4-FFF2-40B4-BE49-F238E27FC236}">
                <a16:creationId xmlns:a16="http://schemas.microsoft.com/office/drawing/2014/main" xmlns="" id="{951B49B5-C6CA-44C2-A9C8-5900B8CD49C3}"/>
              </a:ext>
            </a:extLst>
          </p:cNvPr>
          <p:cNvPicPr>
            <a:picLocks noChangeAspect="1"/>
          </p:cNvPicPr>
          <p:nvPr/>
        </p:nvPicPr>
        <p:blipFill>
          <a:blip r:embed="rId10" cstate="print">
            <a:extLst>
              <a:ext uri="{28A0092B-C50C-407E-A947-70E740481C1C}">
                <a14:useLocalDpi xmlns:a14="http://schemas.microsoft.com/office/drawing/2010/main" val="0"/>
              </a:ext>
            </a:extLst>
          </a:blip>
          <a:stretch>
            <a:fillRect/>
          </a:stretch>
        </p:blipFill>
        <p:spPr>
          <a:xfrm>
            <a:off x="4965643" y="5138464"/>
            <a:ext cx="612784" cy="817045"/>
          </a:xfrm>
          <a:prstGeom prst="rect">
            <a:avLst/>
          </a:prstGeom>
        </p:spPr>
      </p:pic>
      <p:pic>
        <p:nvPicPr>
          <p:cNvPr id="41" name="Picture 2" descr="https://lh3.googleusercontent.com/-KvvltG_8i5I/WoJ_X3SOYII/AAAAAAAABsM/ruArWvl18TIKZVro44cRaCNcgbLLOh9AACL0BGAYYCw/h1906/2018-02-12.png">
            <a:extLst>
              <a:ext uri="{FF2B5EF4-FFF2-40B4-BE49-F238E27FC236}">
                <a16:creationId xmlns:a16="http://schemas.microsoft.com/office/drawing/2014/main" xmlns="" id="{540B0AF6-8928-4A15-8BFC-E6ECD9D3E80C}"/>
              </a:ext>
            </a:extLst>
          </p:cNvPr>
          <p:cNvPicPr>
            <a:picLocks noChangeAspect="1" noChangeArrowheads="1"/>
          </p:cNvPicPr>
          <p:nvPr/>
        </p:nvPicPr>
        <p:blipFill rotWithShape="1">
          <a:blip r:embed="rId11" cstate="print">
            <a:extLst>
              <a:ext uri="{28A0092B-C50C-407E-A947-70E740481C1C}">
                <a14:useLocalDpi xmlns:a14="http://schemas.microsoft.com/office/drawing/2010/main" val="0"/>
              </a:ext>
            </a:extLst>
          </a:blip>
          <a:srcRect l="35250"/>
          <a:stretch/>
        </p:blipFill>
        <p:spPr bwMode="auto">
          <a:xfrm>
            <a:off x="6200946" y="1677936"/>
            <a:ext cx="554232" cy="566477"/>
          </a:xfrm>
          <a:prstGeom prst="rect">
            <a:avLst/>
          </a:prstGeom>
          <a:noFill/>
          <a:extLst>
            <a:ext uri="{909E8E84-426E-40DD-AFC4-6F175D3DCCD1}">
              <a14:hiddenFill xmlns:a14="http://schemas.microsoft.com/office/drawing/2010/main">
                <a:solidFill>
                  <a:srgbClr val="FFFFFF"/>
                </a:solidFill>
              </a14:hiddenFill>
            </a:ext>
          </a:extLst>
        </p:spPr>
      </p:pic>
      <p:pic>
        <p:nvPicPr>
          <p:cNvPr id="42" name="Picture 41">
            <a:extLst>
              <a:ext uri="{FF2B5EF4-FFF2-40B4-BE49-F238E27FC236}">
                <a16:creationId xmlns:a16="http://schemas.microsoft.com/office/drawing/2014/main" xmlns="" id="{D884A510-D5D6-4C05-B02F-521E62A992E0}"/>
              </a:ext>
            </a:extLst>
          </p:cNvPr>
          <p:cNvPicPr>
            <a:picLocks noChangeAspect="1"/>
          </p:cNvPicPr>
          <p:nvPr/>
        </p:nvPicPr>
        <p:blipFill>
          <a:blip r:embed="rId12"/>
          <a:stretch>
            <a:fillRect/>
          </a:stretch>
        </p:blipFill>
        <p:spPr>
          <a:xfrm flipH="1">
            <a:off x="6325440" y="2991921"/>
            <a:ext cx="635510" cy="777016"/>
          </a:xfrm>
          <a:prstGeom prst="rect">
            <a:avLst/>
          </a:prstGeom>
        </p:spPr>
      </p:pic>
      <p:pic>
        <p:nvPicPr>
          <p:cNvPr id="4" name="Picture 3" descr="A picture containing vector graphics&#10;&#10;Description generated with high confidence">
            <a:extLst>
              <a:ext uri="{FF2B5EF4-FFF2-40B4-BE49-F238E27FC236}">
                <a16:creationId xmlns:a16="http://schemas.microsoft.com/office/drawing/2014/main" xmlns="" id="{6DFB0A5E-8DE4-4268-A690-4EE423A892DB}"/>
              </a:ext>
            </a:extLst>
          </p:cNvPr>
          <p:cNvPicPr>
            <a:picLocks noChangeAspect="1"/>
          </p:cNvPicPr>
          <p:nvPr/>
        </p:nvPicPr>
        <p:blipFill>
          <a:blip r:embed="rId13" cstate="print">
            <a:extLst>
              <a:ext uri="{28A0092B-C50C-407E-A947-70E740481C1C}">
                <a14:useLocalDpi xmlns:a14="http://schemas.microsoft.com/office/drawing/2010/main" val="0"/>
              </a:ext>
            </a:extLst>
          </a:blip>
          <a:stretch>
            <a:fillRect/>
          </a:stretch>
        </p:blipFill>
        <p:spPr>
          <a:xfrm>
            <a:off x="2493541" y="1770917"/>
            <a:ext cx="720080" cy="412260"/>
          </a:xfrm>
          <a:prstGeom prst="rect">
            <a:avLst/>
          </a:prstGeom>
        </p:spPr>
      </p:pic>
      <p:sp>
        <p:nvSpPr>
          <p:cNvPr id="5" name="Multiplication Sign 4">
            <a:extLst>
              <a:ext uri="{FF2B5EF4-FFF2-40B4-BE49-F238E27FC236}">
                <a16:creationId xmlns:a16="http://schemas.microsoft.com/office/drawing/2014/main" xmlns="" id="{5DF56F62-F1E8-423F-98AE-3CFC0C9854A1}"/>
              </a:ext>
            </a:extLst>
          </p:cNvPr>
          <p:cNvSpPr/>
          <p:nvPr/>
        </p:nvSpPr>
        <p:spPr bwMode="auto">
          <a:xfrm>
            <a:off x="6264025" y="1647711"/>
            <a:ext cx="379170" cy="658669"/>
          </a:xfrm>
          <a:prstGeom prst="mathMultiply">
            <a:avLst/>
          </a:prstGeom>
          <a:solidFill>
            <a:srgbClr val="FF0000"/>
          </a:solidFill>
          <a:ln w="19050" cap="flat" cmpd="sng" algn="ctr">
            <a:solidFill>
              <a:schemeClr val="bg1"/>
            </a:solidFill>
            <a:prstDash val="solid"/>
            <a:round/>
            <a:headEnd type="none" w="sm" len="sm"/>
            <a:tailEnd type="none" w="sm" len="sm"/>
          </a:ln>
          <a:effectLst/>
        </p:spPr>
        <p:txBody>
          <a:bodyPr vert="horz" wrap="square" lIns="102413" tIns="51206" rIns="102413" bIns="51206" numCol="1" rtlCol="0" anchor="t" anchorCtr="0" compatLnSpc="1">
            <a:prstTxWarp prst="textNoShape">
              <a:avLst/>
            </a:prstTxWarp>
          </a:bodyPr>
          <a:lstStyle/>
          <a:p>
            <a:pPr algn="ctr">
              <a:spcBef>
                <a:spcPct val="20000"/>
              </a:spcBef>
              <a:buClr>
                <a:srgbClr val="FF0000"/>
              </a:buClr>
            </a:pPr>
            <a:endParaRPr lang="en-IN" sz="2000" dirty="0">
              <a:latin typeface="Arial" pitchFamily="34" charset="0"/>
            </a:endParaRPr>
          </a:p>
        </p:txBody>
      </p:sp>
      <p:sp>
        <p:nvSpPr>
          <p:cNvPr id="6" name="Rectangle: Rounded Corners 5">
            <a:extLst>
              <a:ext uri="{FF2B5EF4-FFF2-40B4-BE49-F238E27FC236}">
                <a16:creationId xmlns:a16="http://schemas.microsoft.com/office/drawing/2014/main" xmlns="" id="{405286A1-0F8B-4E76-AAC6-125A4F56DCE7}"/>
              </a:ext>
            </a:extLst>
          </p:cNvPr>
          <p:cNvSpPr/>
          <p:nvPr/>
        </p:nvSpPr>
        <p:spPr bwMode="auto">
          <a:xfrm>
            <a:off x="671901" y="1776483"/>
            <a:ext cx="1418744" cy="411087"/>
          </a:xfrm>
          <a:prstGeom prst="roundRect">
            <a:avLst/>
          </a:prstGeom>
          <a:solidFill>
            <a:srgbClr val="F2BE00"/>
          </a:solidFill>
          <a:ln w="28575" cap="flat" cmpd="sng" algn="ctr">
            <a:solidFill>
              <a:schemeClr val="bg1"/>
            </a:solidFill>
            <a:prstDash val="solid"/>
            <a:round/>
            <a:headEnd type="none" w="sm" len="sm"/>
            <a:tailEnd type="none" w="sm" len="sm"/>
          </a:ln>
          <a:effectLst>
            <a:outerShdw blurRad="50800" dist="38100" dir="5400000" algn="t" rotWithShape="0">
              <a:prstClr val="black">
                <a:alpha val="40000"/>
              </a:prstClr>
            </a:outerShdw>
          </a:effectLst>
        </p:spPr>
        <p:txBody>
          <a:bodyPr vert="horz" wrap="square" lIns="102413" tIns="51206" rIns="102413" bIns="51206" numCol="1" rtlCol="0" anchor="t" anchorCtr="0" compatLnSpc="1">
            <a:prstTxWarp prst="textNoShape">
              <a:avLst/>
            </a:prstTxWarp>
          </a:bodyPr>
          <a:lstStyle/>
          <a:p>
            <a:pPr algn="ctr">
              <a:spcBef>
                <a:spcPct val="20000"/>
              </a:spcBef>
              <a:buClr>
                <a:srgbClr val="FF0000"/>
              </a:buClr>
            </a:pPr>
            <a:r>
              <a:rPr lang="en-IN" sz="1300" b="1" dirty="0">
                <a:solidFill>
                  <a:schemeClr val="bg1"/>
                </a:solidFill>
              </a:rPr>
              <a:t>Cost Effective</a:t>
            </a:r>
          </a:p>
        </p:txBody>
      </p:sp>
      <p:sp>
        <p:nvSpPr>
          <p:cNvPr id="21" name="Rectangle: Rounded Corners 20">
            <a:extLst>
              <a:ext uri="{FF2B5EF4-FFF2-40B4-BE49-F238E27FC236}">
                <a16:creationId xmlns:a16="http://schemas.microsoft.com/office/drawing/2014/main" xmlns="" id="{17A087AF-3B4D-40EC-81D9-A12D2E276B49}"/>
              </a:ext>
            </a:extLst>
          </p:cNvPr>
          <p:cNvSpPr/>
          <p:nvPr/>
        </p:nvSpPr>
        <p:spPr bwMode="auto">
          <a:xfrm>
            <a:off x="7205234" y="1783566"/>
            <a:ext cx="1418744" cy="411087"/>
          </a:xfrm>
          <a:prstGeom prst="roundRect">
            <a:avLst/>
          </a:prstGeom>
          <a:solidFill>
            <a:srgbClr val="9BC801"/>
          </a:solidFill>
          <a:ln w="28575" cap="flat" cmpd="sng" algn="ctr">
            <a:solidFill>
              <a:schemeClr val="bg1"/>
            </a:solidFill>
            <a:prstDash val="solid"/>
            <a:round/>
            <a:headEnd type="none" w="sm" len="sm"/>
            <a:tailEnd type="none" w="sm" len="sm"/>
          </a:ln>
          <a:effectLst>
            <a:outerShdw blurRad="50800" dist="38100" dir="5400000" algn="t" rotWithShape="0">
              <a:prstClr val="black">
                <a:alpha val="40000"/>
              </a:prstClr>
            </a:outerShdw>
          </a:effectLst>
        </p:spPr>
        <p:txBody>
          <a:bodyPr vert="horz" wrap="square" lIns="102413" tIns="51206" rIns="102413" bIns="51206" numCol="1" rtlCol="0" anchor="t" anchorCtr="0" compatLnSpc="1">
            <a:prstTxWarp prst="textNoShape">
              <a:avLst/>
            </a:prstTxWarp>
          </a:bodyPr>
          <a:lstStyle/>
          <a:p>
            <a:pPr algn="ctr">
              <a:spcBef>
                <a:spcPct val="20000"/>
              </a:spcBef>
              <a:buClr>
                <a:srgbClr val="FF0000"/>
              </a:buClr>
            </a:pPr>
            <a:r>
              <a:rPr lang="en-IN" sz="1300" b="1" dirty="0">
                <a:solidFill>
                  <a:schemeClr val="bg1"/>
                </a:solidFill>
              </a:rPr>
              <a:t>Serverless</a:t>
            </a:r>
          </a:p>
        </p:txBody>
      </p:sp>
      <p:sp>
        <p:nvSpPr>
          <p:cNvPr id="22" name="Rectangle: Rounded Corners 21">
            <a:extLst>
              <a:ext uri="{FF2B5EF4-FFF2-40B4-BE49-F238E27FC236}">
                <a16:creationId xmlns:a16="http://schemas.microsoft.com/office/drawing/2014/main" xmlns="" id="{01A06739-7D56-4A2E-8DE7-7AC9BBE388B2}"/>
              </a:ext>
            </a:extLst>
          </p:cNvPr>
          <p:cNvSpPr/>
          <p:nvPr/>
        </p:nvSpPr>
        <p:spPr bwMode="auto">
          <a:xfrm>
            <a:off x="565133" y="3187559"/>
            <a:ext cx="1418744" cy="411087"/>
          </a:xfrm>
          <a:prstGeom prst="roundRect">
            <a:avLst/>
          </a:prstGeom>
          <a:solidFill>
            <a:srgbClr val="21B5A3"/>
          </a:solidFill>
          <a:ln w="28575" cap="flat" cmpd="sng" algn="ctr">
            <a:solidFill>
              <a:schemeClr val="bg1"/>
            </a:solidFill>
            <a:prstDash val="solid"/>
            <a:round/>
            <a:headEnd type="none" w="sm" len="sm"/>
            <a:tailEnd type="none" w="sm" len="sm"/>
          </a:ln>
          <a:effectLst>
            <a:outerShdw blurRad="50800" dist="38100" dir="5400000" algn="t" rotWithShape="0">
              <a:prstClr val="black">
                <a:alpha val="40000"/>
              </a:prstClr>
            </a:outerShdw>
          </a:effectLst>
        </p:spPr>
        <p:txBody>
          <a:bodyPr vert="horz" wrap="square" lIns="102413" tIns="51206" rIns="102413" bIns="51206" numCol="1" rtlCol="0" anchor="t" anchorCtr="0" compatLnSpc="1">
            <a:prstTxWarp prst="textNoShape">
              <a:avLst/>
            </a:prstTxWarp>
          </a:bodyPr>
          <a:lstStyle/>
          <a:p>
            <a:pPr algn="ctr">
              <a:spcBef>
                <a:spcPct val="20000"/>
              </a:spcBef>
              <a:buClr>
                <a:srgbClr val="FF0000"/>
              </a:buClr>
            </a:pPr>
            <a:r>
              <a:rPr lang="en-IN" sz="1300" b="1" dirty="0">
                <a:solidFill>
                  <a:schemeClr val="bg1"/>
                </a:solidFill>
              </a:rPr>
              <a:t>Highly Scalable</a:t>
            </a:r>
          </a:p>
        </p:txBody>
      </p:sp>
      <p:sp>
        <p:nvSpPr>
          <p:cNvPr id="23" name="Rectangle: Rounded Corners 22">
            <a:extLst>
              <a:ext uri="{FF2B5EF4-FFF2-40B4-BE49-F238E27FC236}">
                <a16:creationId xmlns:a16="http://schemas.microsoft.com/office/drawing/2014/main" xmlns="" id="{FA7A5B1E-1D65-45EE-B6BE-4CE227CE89A3}"/>
              </a:ext>
            </a:extLst>
          </p:cNvPr>
          <p:cNvSpPr/>
          <p:nvPr/>
        </p:nvSpPr>
        <p:spPr bwMode="auto">
          <a:xfrm>
            <a:off x="974678" y="4485118"/>
            <a:ext cx="1418744" cy="621836"/>
          </a:xfrm>
          <a:prstGeom prst="roundRect">
            <a:avLst/>
          </a:prstGeom>
          <a:solidFill>
            <a:srgbClr val="FF475D"/>
          </a:solidFill>
          <a:ln w="28575" cap="flat" cmpd="sng" algn="ctr">
            <a:solidFill>
              <a:schemeClr val="bg1"/>
            </a:solidFill>
            <a:prstDash val="solid"/>
            <a:round/>
            <a:headEnd type="none" w="sm" len="sm"/>
            <a:tailEnd type="none" w="sm" len="sm"/>
          </a:ln>
          <a:effectLst>
            <a:outerShdw blurRad="50800" dist="38100" dir="5400000" algn="t" rotWithShape="0">
              <a:prstClr val="black">
                <a:alpha val="40000"/>
              </a:prstClr>
            </a:outerShdw>
          </a:effectLst>
        </p:spPr>
        <p:txBody>
          <a:bodyPr vert="horz" wrap="square" lIns="102413" tIns="51206" rIns="102413" bIns="51206" numCol="1" rtlCol="0" anchor="ctr" anchorCtr="0" compatLnSpc="1">
            <a:prstTxWarp prst="textNoShape">
              <a:avLst/>
            </a:prstTxWarp>
          </a:bodyPr>
          <a:lstStyle/>
          <a:p>
            <a:pPr algn="ctr">
              <a:spcBef>
                <a:spcPct val="20000"/>
              </a:spcBef>
              <a:buClr>
                <a:srgbClr val="FF0000"/>
              </a:buClr>
            </a:pPr>
            <a:r>
              <a:rPr lang="en-IN" sz="1300" b="1" dirty="0">
                <a:solidFill>
                  <a:schemeClr val="bg1"/>
                </a:solidFill>
              </a:rPr>
              <a:t>Custom Machine Types</a:t>
            </a:r>
          </a:p>
        </p:txBody>
      </p:sp>
      <p:sp>
        <p:nvSpPr>
          <p:cNvPr id="24" name="Rectangle: Rounded Corners 23">
            <a:extLst>
              <a:ext uri="{FF2B5EF4-FFF2-40B4-BE49-F238E27FC236}">
                <a16:creationId xmlns:a16="http://schemas.microsoft.com/office/drawing/2014/main" xmlns="" id="{58EF0C9F-07F8-458B-BC87-AB5CCE3327A9}"/>
              </a:ext>
            </a:extLst>
          </p:cNvPr>
          <p:cNvSpPr/>
          <p:nvPr/>
        </p:nvSpPr>
        <p:spPr bwMode="auto">
          <a:xfrm>
            <a:off x="6876256" y="4485118"/>
            <a:ext cx="1418744" cy="621836"/>
          </a:xfrm>
          <a:prstGeom prst="roundRect">
            <a:avLst/>
          </a:prstGeom>
          <a:solidFill>
            <a:srgbClr val="986EB2"/>
          </a:solidFill>
          <a:ln w="28575" cap="flat" cmpd="sng" algn="ctr">
            <a:solidFill>
              <a:schemeClr val="bg1"/>
            </a:solidFill>
            <a:prstDash val="solid"/>
            <a:round/>
            <a:headEnd type="none" w="sm" len="sm"/>
            <a:tailEnd type="none" w="sm" len="sm"/>
          </a:ln>
          <a:effectLst>
            <a:outerShdw blurRad="50800" dist="38100" dir="5400000" algn="t" rotWithShape="0">
              <a:prstClr val="black">
                <a:alpha val="40000"/>
              </a:prstClr>
            </a:outerShdw>
          </a:effectLst>
        </p:spPr>
        <p:txBody>
          <a:bodyPr vert="horz" wrap="square" lIns="102413" tIns="51206" rIns="102413" bIns="51206" numCol="1" rtlCol="0" anchor="ctr" anchorCtr="0" compatLnSpc="1">
            <a:prstTxWarp prst="textNoShape">
              <a:avLst/>
            </a:prstTxWarp>
          </a:bodyPr>
          <a:lstStyle/>
          <a:p>
            <a:pPr algn="ctr">
              <a:spcBef>
                <a:spcPct val="20000"/>
              </a:spcBef>
              <a:buClr>
                <a:srgbClr val="FF0000"/>
              </a:buClr>
            </a:pPr>
            <a:r>
              <a:rPr lang="en-IN" sz="1300" b="1" dirty="0">
                <a:solidFill>
                  <a:schemeClr val="bg1"/>
                </a:solidFill>
              </a:rPr>
              <a:t>Big Data   Analytics</a:t>
            </a:r>
          </a:p>
        </p:txBody>
      </p:sp>
      <p:sp>
        <p:nvSpPr>
          <p:cNvPr id="25" name="Rectangle: Rounded Corners 24">
            <a:extLst>
              <a:ext uri="{FF2B5EF4-FFF2-40B4-BE49-F238E27FC236}">
                <a16:creationId xmlns:a16="http://schemas.microsoft.com/office/drawing/2014/main" xmlns="" id="{F72712C0-EA48-439C-AA19-70F3F413D688}"/>
              </a:ext>
            </a:extLst>
          </p:cNvPr>
          <p:cNvSpPr/>
          <p:nvPr/>
        </p:nvSpPr>
        <p:spPr bwMode="auto">
          <a:xfrm>
            <a:off x="7265155" y="3187559"/>
            <a:ext cx="1418744" cy="411087"/>
          </a:xfrm>
          <a:prstGeom prst="roundRect">
            <a:avLst/>
          </a:prstGeom>
          <a:solidFill>
            <a:srgbClr val="FF8A65"/>
          </a:solidFill>
          <a:ln w="28575" cap="flat" cmpd="sng" algn="ctr">
            <a:solidFill>
              <a:schemeClr val="bg1"/>
            </a:solidFill>
            <a:prstDash val="solid"/>
            <a:round/>
            <a:headEnd type="none" w="sm" len="sm"/>
            <a:tailEnd type="none" w="sm" len="sm"/>
          </a:ln>
          <a:effectLst>
            <a:outerShdw blurRad="50800" dist="38100" dir="5400000" algn="t" rotWithShape="0">
              <a:prstClr val="black">
                <a:alpha val="40000"/>
              </a:prstClr>
            </a:outerShdw>
          </a:effectLst>
        </p:spPr>
        <p:txBody>
          <a:bodyPr vert="horz" wrap="square" lIns="102413" tIns="51206" rIns="102413" bIns="51206" numCol="1" rtlCol="0" anchor="t" anchorCtr="0" compatLnSpc="1">
            <a:prstTxWarp prst="textNoShape">
              <a:avLst/>
            </a:prstTxWarp>
          </a:bodyPr>
          <a:lstStyle/>
          <a:p>
            <a:pPr algn="ctr">
              <a:spcBef>
                <a:spcPct val="20000"/>
              </a:spcBef>
              <a:buClr>
                <a:srgbClr val="FF0000"/>
              </a:buClr>
            </a:pPr>
            <a:r>
              <a:rPr lang="en-IN" sz="1300" b="1" dirty="0">
                <a:solidFill>
                  <a:schemeClr val="bg1"/>
                </a:solidFill>
              </a:rPr>
              <a:t>Cloud AI</a:t>
            </a:r>
          </a:p>
        </p:txBody>
      </p:sp>
      <p:sp>
        <p:nvSpPr>
          <p:cNvPr id="26" name="Rectangle: Rounded Corners 25">
            <a:extLst>
              <a:ext uri="{FF2B5EF4-FFF2-40B4-BE49-F238E27FC236}">
                <a16:creationId xmlns:a16="http://schemas.microsoft.com/office/drawing/2014/main" xmlns="" id="{E10B4CD4-11E4-47C4-B341-403295585843}"/>
              </a:ext>
            </a:extLst>
          </p:cNvPr>
          <p:cNvSpPr/>
          <p:nvPr/>
        </p:nvSpPr>
        <p:spPr bwMode="auto">
          <a:xfrm>
            <a:off x="2061544" y="5787882"/>
            <a:ext cx="1418744" cy="411087"/>
          </a:xfrm>
          <a:prstGeom prst="roundRect">
            <a:avLst/>
          </a:prstGeom>
          <a:solidFill>
            <a:srgbClr val="FF33CA"/>
          </a:solidFill>
          <a:ln w="28575" cap="flat" cmpd="sng" algn="ctr">
            <a:solidFill>
              <a:schemeClr val="bg1"/>
            </a:solidFill>
            <a:prstDash val="solid"/>
            <a:round/>
            <a:headEnd type="none" w="sm" len="sm"/>
            <a:tailEnd type="none" w="sm" len="sm"/>
          </a:ln>
          <a:effectLst>
            <a:outerShdw blurRad="50800" dist="38100" dir="5400000" algn="t" rotWithShape="0">
              <a:prstClr val="black">
                <a:alpha val="40000"/>
              </a:prstClr>
            </a:outerShdw>
          </a:effectLst>
        </p:spPr>
        <p:txBody>
          <a:bodyPr vert="horz" wrap="square" lIns="102413" tIns="51206" rIns="102413" bIns="51206" numCol="1" rtlCol="0" anchor="t" anchorCtr="0" compatLnSpc="1">
            <a:prstTxWarp prst="textNoShape">
              <a:avLst/>
            </a:prstTxWarp>
          </a:bodyPr>
          <a:lstStyle/>
          <a:p>
            <a:pPr algn="ctr">
              <a:spcBef>
                <a:spcPct val="20000"/>
              </a:spcBef>
              <a:buClr>
                <a:srgbClr val="FF0000"/>
              </a:buClr>
            </a:pPr>
            <a:r>
              <a:rPr lang="en-IN" sz="1300" b="1" dirty="0">
                <a:solidFill>
                  <a:schemeClr val="bg1"/>
                </a:solidFill>
              </a:rPr>
              <a:t>Internet of Things</a:t>
            </a:r>
          </a:p>
        </p:txBody>
      </p:sp>
      <p:sp>
        <p:nvSpPr>
          <p:cNvPr id="27" name="Rectangle: Rounded Corners 26">
            <a:extLst>
              <a:ext uri="{FF2B5EF4-FFF2-40B4-BE49-F238E27FC236}">
                <a16:creationId xmlns:a16="http://schemas.microsoft.com/office/drawing/2014/main" xmlns="" id="{39EF120E-8EFA-4732-A40D-62CA09442D8D}"/>
              </a:ext>
            </a:extLst>
          </p:cNvPr>
          <p:cNvSpPr/>
          <p:nvPr/>
        </p:nvSpPr>
        <p:spPr bwMode="auto">
          <a:xfrm>
            <a:off x="5915621" y="5787882"/>
            <a:ext cx="2112763" cy="411087"/>
          </a:xfrm>
          <a:prstGeom prst="roundRect">
            <a:avLst/>
          </a:prstGeom>
          <a:solidFill>
            <a:srgbClr val="00BBEE"/>
          </a:solidFill>
          <a:ln w="28575" cap="flat" cmpd="sng" algn="ctr">
            <a:solidFill>
              <a:schemeClr val="bg1"/>
            </a:solidFill>
            <a:prstDash val="solid"/>
            <a:round/>
            <a:headEnd type="none" w="sm" len="sm"/>
            <a:tailEnd type="none" w="sm" len="sm"/>
          </a:ln>
          <a:effectLst>
            <a:outerShdw blurRad="50800" dist="38100" dir="5400000" algn="t" rotWithShape="0">
              <a:prstClr val="black">
                <a:alpha val="40000"/>
              </a:prstClr>
            </a:outerShdw>
          </a:effectLst>
        </p:spPr>
        <p:txBody>
          <a:bodyPr vert="horz" wrap="square" lIns="102413" tIns="51206" rIns="102413" bIns="51206" numCol="1" rtlCol="0" anchor="t" anchorCtr="0" compatLnSpc="1">
            <a:prstTxWarp prst="textNoShape">
              <a:avLst/>
            </a:prstTxWarp>
          </a:bodyPr>
          <a:lstStyle/>
          <a:p>
            <a:pPr algn="ctr">
              <a:spcBef>
                <a:spcPct val="20000"/>
              </a:spcBef>
              <a:buClr>
                <a:srgbClr val="FF0000"/>
              </a:buClr>
            </a:pPr>
            <a:r>
              <a:rPr lang="en-IN" sz="1300" b="1" dirty="0">
                <a:solidFill>
                  <a:schemeClr val="bg1"/>
                </a:solidFill>
              </a:rPr>
              <a:t>API Platform and Ecosystem</a:t>
            </a:r>
          </a:p>
        </p:txBody>
      </p:sp>
    </p:spTree>
    <p:extLst>
      <p:ext uri="{BB962C8B-B14F-4D97-AF65-F5344CB8AC3E}">
        <p14:creationId xmlns:p14="http://schemas.microsoft.com/office/powerpoint/2010/main" val="21117753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6"/>
                                        </p:tgtEl>
                                        <p:attrNameLst>
                                          <p:attrName>style.visibility</p:attrName>
                                        </p:attrNameLst>
                                      </p:cBhvr>
                                      <p:to>
                                        <p:strVal val="visible"/>
                                      </p:to>
                                    </p:set>
                                    <p:anim calcmode="lin" valueType="num">
                                      <p:cBhvr additive="base">
                                        <p:cTn id="7" dur="500" fill="hold"/>
                                        <p:tgtEl>
                                          <p:spTgt spid="6"/>
                                        </p:tgtEl>
                                        <p:attrNameLst>
                                          <p:attrName>ppt_x</p:attrName>
                                        </p:attrNameLst>
                                      </p:cBhvr>
                                      <p:tavLst>
                                        <p:tav tm="0">
                                          <p:val>
                                            <p:strVal val="#ppt_x"/>
                                          </p:val>
                                        </p:tav>
                                        <p:tav tm="100000">
                                          <p:val>
                                            <p:strVal val="#ppt_x"/>
                                          </p:val>
                                        </p:tav>
                                      </p:tavLst>
                                    </p:anim>
                                    <p:anim calcmode="lin" valueType="num">
                                      <p:cBhvr additive="base">
                                        <p:cTn id="8" dur="500" fill="hold"/>
                                        <p:tgtEl>
                                          <p:spTgt spid="6"/>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22"/>
                                        </p:tgtEl>
                                        <p:attrNameLst>
                                          <p:attrName>style.visibility</p:attrName>
                                        </p:attrNameLst>
                                      </p:cBhvr>
                                      <p:to>
                                        <p:strVal val="visible"/>
                                      </p:to>
                                    </p:set>
                                    <p:anim calcmode="lin" valueType="num">
                                      <p:cBhvr additive="base">
                                        <p:cTn id="13" dur="500" fill="hold"/>
                                        <p:tgtEl>
                                          <p:spTgt spid="22"/>
                                        </p:tgtEl>
                                        <p:attrNameLst>
                                          <p:attrName>ppt_x</p:attrName>
                                        </p:attrNameLst>
                                      </p:cBhvr>
                                      <p:tavLst>
                                        <p:tav tm="0">
                                          <p:val>
                                            <p:strVal val="#ppt_x"/>
                                          </p:val>
                                        </p:tav>
                                        <p:tav tm="100000">
                                          <p:val>
                                            <p:strVal val="#ppt_x"/>
                                          </p:val>
                                        </p:tav>
                                      </p:tavLst>
                                    </p:anim>
                                    <p:anim calcmode="lin" valueType="num">
                                      <p:cBhvr additive="base">
                                        <p:cTn id="14" dur="500" fill="hold"/>
                                        <p:tgtEl>
                                          <p:spTgt spid="22"/>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grpId="0" nodeType="clickEffect">
                                  <p:stCondLst>
                                    <p:cond delay="0"/>
                                  </p:stCondLst>
                                  <p:childTnLst>
                                    <p:set>
                                      <p:cBhvr>
                                        <p:cTn id="18" dur="1" fill="hold">
                                          <p:stCondLst>
                                            <p:cond delay="0"/>
                                          </p:stCondLst>
                                        </p:cTn>
                                        <p:tgtEl>
                                          <p:spTgt spid="23"/>
                                        </p:tgtEl>
                                        <p:attrNameLst>
                                          <p:attrName>style.visibility</p:attrName>
                                        </p:attrNameLst>
                                      </p:cBhvr>
                                      <p:to>
                                        <p:strVal val="visible"/>
                                      </p:to>
                                    </p:set>
                                    <p:anim calcmode="lin" valueType="num">
                                      <p:cBhvr additive="base">
                                        <p:cTn id="19" dur="500" fill="hold"/>
                                        <p:tgtEl>
                                          <p:spTgt spid="23"/>
                                        </p:tgtEl>
                                        <p:attrNameLst>
                                          <p:attrName>ppt_x</p:attrName>
                                        </p:attrNameLst>
                                      </p:cBhvr>
                                      <p:tavLst>
                                        <p:tav tm="0">
                                          <p:val>
                                            <p:strVal val="#ppt_x"/>
                                          </p:val>
                                        </p:tav>
                                        <p:tav tm="100000">
                                          <p:val>
                                            <p:strVal val="#ppt_x"/>
                                          </p:val>
                                        </p:tav>
                                      </p:tavLst>
                                    </p:anim>
                                    <p:anim calcmode="lin" valueType="num">
                                      <p:cBhvr additive="base">
                                        <p:cTn id="20" dur="500" fill="hold"/>
                                        <p:tgtEl>
                                          <p:spTgt spid="23"/>
                                        </p:tgtEl>
                                        <p:attrNameLst>
                                          <p:attrName>ppt_y</p:attrName>
                                        </p:attrNameLst>
                                      </p:cBhvr>
                                      <p:tavLst>
                                        <p:tav tm="0">
                                          <p:val>
                                            <p:strVal val="1+#ppt_h/2"/>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4" fill="hold" grpId="0" nodeType="clickEffect">
                                  <p:stCondLst>
                                    <p:cond delay="0"/>
                                  </p:stCondLst>
                                  <p:childTnLst>
                                    <p:set>
                                      <p:cBhvr>
                                        <p:cTn id="24" dur="1" fill="hold">
                                          <p:stCondLst>
                                            <p:cond delay="0"/>
                                          </p:stCondLst>
                                        </p:cTn>
                                        <p:tgtEl>
                                          <p:spTgt spid="26"/>
                                        </p:tgtEl>
                                        <p:attrNameLst>
                                          <p:attrName>style.visibility</p:attrName>
                                        </p:attrNameLst>
                                      </p:cBhvr>
                                      <p:to>
                                        <p:strVal val="visible"/>
                                      </p:to>
                                    </p:set>
                                    <p:anim calcmode="lin" valueType="num">
                                      <p:cBhvr additive="base">
                                        <p:cTn id="25" dur="500" fill="hold"/>
                                        <p:tgtEl>
                                          <p:spTgt spid="26"/>
                                        </p:tgtEl>
                                        <p:attrNameLst>
                                          <p:attrName>ppt_x</p:attrName>
                                        </p:attrNameLst>
                                      </p:cBhvr>
                                      <p:tavLst>
                                        <p:tav tm="0">
                                          <p:val>
                                            <p:strVal val="#ppt_x"/>
                                          </p:val>
                                        </p:tav>
                                        <p:tav tm="100000">
                                          <p:val>
                                            <p:strVal val="#ppt_x"/>
                                          </p:val>
                                        </p:tav>
                                      </p:tavLst>
                                    </p:anim>
                                    <p:anim calcmode="lin" valueType="num">
                                      <p:cBhvr additive="base">
                                        <p:cTn id="26" dur="500" fill="hold"/>
                                        <p:tgtEl>
                                          <p:spTgt spid="26"/>
                                        </p:tgtEl>
                                        <p:attrNameLst>
                                          <p:attrName>ppt_y</p:attrName>
                                        </p:attrNameLst>
                                      </p:cBhvr>
                                      <p:tavLst>
                                        <p:tav tm="0">
                                          <p:val>
                                            <p:strVal val="1+#ppt_h/2"/>
                                          </p:val>
                                        </p:tav>
                                        <p:tav tm="100000">
                                          <p:val>
                                            <p:strVal val="#ppt_y"/>
                                          </p:val>
                                        </p:tav>
                                      </p:tavLst>
                                    </p:anim>
                                  </p:childTnLst>
                                </p:cTn>
                              </p:par>
                            </p:childTnLst>
                          </p:cTn>
                        </p:par>
                      </p:childTnLst>
                    </p:cTn>
                  </p:par>
                  <p:par>
                    <p:cTn id="27" fill="hold">
                      <p:stCondLst>
                        <p:cond delay="indefinite"/>
                      </p:stCondLst>
                      <p:childTnLst>
                        <p:par>
                          <p:cTn id="28" fill="hold">
                            <p:stCondLst>
                              <p:cond delay="0"/>
                            </p:stCondLst>
                            <p:childTnLst>
                              <p:par>
                                <p:cTn id="29" presetID="2" presetClass="entr" presetSubtype="4" fill="hold" grpId="0" nodeType="clickEffect">
                                  <p:stCondLst>
                                    <p:cond delay="0"/>
                                  </p:stCondLst>
                                  <p:childTnLst>
                                    <p:set>
                                      <p:cBhvr>
                                        <p:cTn id="30" dur="1" fill="hold">
                                          <p:stCondLst>
                                            <p:cond delay="0"/>
                                          </p:stCondLst>
                                        </p:cTn>
                                        <p:tgtEl>
                                          <p:spTgt spid="27"/>
                                        </p:tgtEl>
                                        <p:attrNameLst>
                                          <p:attrName>style.visibility</p:attrName>
                                        </p:attrNameLst>
                                      </p:cBhvr>
                                      <p:to>
                                        <p:strVal val="visible"/>
                                      </p:to>
                                    </p:set>
                                    <p:anim calcmode="lin" valueType="num">
                                      <p:cBhvr additive="base">
                                        <p:cTn id="31" dur="500" fill="hold"/>
                                        <p:tgtEl>
                                          <p:spTgt spid="27"/>
                                        </p:tgtEl>
                                        <p:attrNameLst>
                                          <p:attrName>ppt_x</p:attrName>
                                        </p:attrNameLst>
                                      </p:cBhvr>
                                      <p:tavLst>
                                        <p:tav tm="0">
                                          <p:val>
                                            <p:strVal val="#ppt_x"/>
                                          </p:val>
                                        </p:tav>
                                        <p:tav tm="100000">
                                          <p:val>
                                            <p:strVal val="#ppt_x"/>
                                          </p:val>
                                        </p:tav>
                                      </p:tavLst>
                                    </p:anim>
                                    <p:anim calcmode="lin" valueType="num">
                                      <p:cBhvr additive="base">
                                        <p:cTn id="32" dur="500" fill="hold"/>
                                        <p:tgtEl>
                                          <p:spTgt spid="27"/>
                                        </p:tgtEl>
                                        <p:attrNameLst>
                                          <p:attrName>ppt_y</p:attrName>
                                        </p:attrNameLst>
                                      </p:cBhvr>
                                      <p:tavLst>
                                        <p:tav tm="0">
                                          <p:val>
                                            <p:strVal val="1+#ppt_h/2"/>
                                          </p:val>
                                        </p:tav>
                                        <p:tav tm="100000">
                                          <p:val>
                                            <p:strVal val="#ppt_y"/>
                                          </p:val>
                                        </p:tav>
                                      </p:tavLst>
                                    </p:anim>
                                  </p:childTnLst>
                                </p:cTn>
                              </p:par>
                            </p:childTnLst>
                          </p:cTn>
                        </p:par>
                      </p:childTnLst>
                    </p:cTn>
                  </p:par>
                  <p:par>
                    <p:cTn id="33" fill="hold">
                      <p:stCondLst>
                        <p:cond delay="indefinite"/>
                      </p:stCondLst>
                      <p:childTnLst>
                        <p:par>
                          <p:cTn id="34" fill="hold">
                            <p:stCondLst>
                              <p:cond delay="0"/>
                            </p:stCondLst>
                            <p:childTnLst>
                              <p:par>
                                <p:cTn id="35" presetID="2" presetClass="entr" presetSubtype="4" fill="hold" grpId="0" nodeType="clickEffect">
                                  <p:stCondLst>
                                    <p:cond delay="0"/>
                                  </p:stCondLst>
                                  <p:childTnLst>
                                    <p:set>
                                      <p:cBhvr>
                                        <p:cTn id="36" dur="1" fill="hold">
                                          <p:stCondLst>
                                            <p:cond delay="0"/>
                                          </p:stCondLst>
                                        </p:cTn>
                                        <p:tgtEl>
                                          <p:spTgt spid="24"/>
                                        </p:tgtEl>
                                        <p:attrNameLst>
                                          <p:attrName>style.visibility</p:attrName>
                                        </p:attrNameLst>
                                      </p:cBhvr>
                                      <p:to>
                                        <p:strVal val="visible"/>
                                      </p:to>
                                    </p:set>
                                    <p:anim calcmode="lin" valueType="num">
                                      <p:cBhvr additive="base">
                                        <p:cTn id="37" dur="500" fill="hold"/>
                                        <p:tgtEl>
                                          <p:spTgt spid="24"/>
                                        </p:tgtEl>
                                        <p:attrNameLst>
                                          <p:attrName>ppt_x</p:attrName>
                                        </p:attrNameLst>
                                      </p:cBhvr>
                                      <p:tavLst>
                                        <p:tav tm="0">
                                          <p:val>
                                            <p:strVal val="#ppt_x"/>
                                          </p:val>
                                        </p:tav>
                                        <p:tav tm="100000">
                                          <p:val>
                                            <p:strVal val="#ppt_x"/>
                                          </p:val>
                                        </p:tav>
                                      </p:tavLst>
                                    </p:anim>
                                    <p:anim calcmode="lin" valueType="num">
                                      <p:cBhvr additive="base">
                                        <p:cTn id="38" dur="500" fill="hold"/>
                                        <p:tgtEl>
                                          <p:spTgt spid="24"/>
                                        </p:tgtEl>
                                        <p:attrNameLst>
                                          <p:attrName>ppt_y</p:attrName>
                                        </p:attrNameLst>
                                      </p:cBhvr>
                                      <p:tavLst>
                                        <p:tav tm="0">
                                          <p:val>
                                            <p:strVal val="1+#ppt_h/2"/>
                                          </p:val>
                                        </p:tav>
                                        <p:tav tm="100000">
                                          <p:val>
                                            <p:strVal val="#ppt_y"/>
                                          </p:val>
                                        </p:tav>
                                      </p:tavLst>
                                    </p:anim>
                                  </p:childTnLst>
                                </p:cTn>
                              </p:par>
                            </p:childTnLst>
                          </p:cTn>
                        </p:par>
                      </p:childTnLst>
                    </p:cTn>
                  </p:par>
                  <p:par>
                    <p:cTn id="39" fill="hold">
                      <p:stCondLst>
                        <p:cond delay="indefinite"/>
                      </p:stCondLst>
                      <p:childTnLst>
                        <p:par>
                          <p:cTn id="40" fill="hold">
                            <p:stCondLst>
                              <p:cond delay="0"/>
                            </p:stCondLst>
                            <p:childTnLst>
                              <p:par>
                                <p:cTn id="41" presetID="2" presetClass="entr" presetSubtype="4" fill="hold" grpId="0" nodeType="clickEffect">
                                  <p:stCondLst>
                                    <p:cond delay="0"/>
                                  </p:stCondLst>
                                  <p:childTnLst>
                                    <p:set>
                                      <p:cBhvr>
                                        <p:cTn id="42" dur="1" fill="hold">
                                          <p:stCondLst>
                                            <p:cond delay="0"/>
                                          </p:stCondLst>
                                        </p:cTn>
                                        <p:tgtEl>
                                          <p:spTgt spid="25"/>
                                        </p:tgtEl>
                                        <p:attrNameLst>
                                          <p:attrName>style.visibility</p:attrName>
                                        </p:attrNameLst>
                                      </p:cBhvr>
                                      <p:to>
                                        <p:strVal val="visible"/>
                                      </p:to>
                                    </p:set>
                                    <p:anim calcmode="lin" valueType="num">
                                      <p:cBhvr additive="base">
                                        <p:cTn id="43" dur="500" fill="hold"/>
                                        <p:tgtEl>
                                          <p:spTgt spid="25"/>
                                        </p:tgtEl>
                                        <p:attrNameLst>
                                          <p:attrName>ppt_x</p:attrName>
                                        </p:attrNameLst>
                                      </p:cBhvr>
                                      <p:tavLst>
                                        <p:tav tm="0">
                                          <p:val>
                                            <p:strVal val="#ppt_x"/>
                                          </p:val>
                                        </p:tav>
                                        <p:tav tm="100000">
                                          <p:val>
                                            <p:strVal val="#ppt_x"/>
                                          </p:val>
                                        </p:tav>
                                      </p:tavLst>
                                    </p:anim>
                                    <p:anim calcmode="lin" valueType="num">
                                      <p:cBhvr additive="base">
                                        <p:cTn id="44" dur="500" fill="hold"/>
                                        <p:tgtEl>
                                          <p:spTgt spid="25"/>
                                        </p:tgtEl>
                                        <p:attrNameLst>
                                          <p:attrName>ppt_y</p:attrName>
                                        </p:attrNameLst>
                                      </p:cBhvr>
                                      <p:tavLst>
                                        <p:tav tm="0">
                                          <p:val>
                                            <p:strVal val="1+#ppt_h/2"/>
                                          </p:val>
                                        </p:tav>
                                        <p:tav tm="100000">
                                          <p:val>
                                            <p:strVal val="#ppt_y"/>
                                          </p:val>
                                        </p:tav>
                                      </p:tavLst>
                                    </p:anim>
                                  </p:childTnLst>
                                </p:cTn>
                              </p:par>
                            </p:childTnLst>
                          </p:cTn>
                        </p:par>
                      </p:childTnLst>
                    </p:cTn>
                  </p:par>
                  <p:par>
                    <p:cTn id="45" fill="hold">
                      <p:stCondLst>
                        <p:cond delay="indefinite"/>
                      </p:stCondLst>
                      <p:childTnLst>
                        <p:par>
                          <p:cTn id="46" fill="hold">
                            <p:stCondLst>
                              <p:cond delay="0"/>
                            </p:stCondLst>
                            <p:childTnLst>
                              <p:par>
                                <p:cTn id="47" presetID="2" presetClass="entr" presetSubtype="4" fill="hold" grpId="0" nodeType="clickEffect">
                                  <p:stCondLst>
                                    <p:cond delay="0"/>
                                  </p:stCondLst>
                                  <p:childTnLst>
                                    <p:set>
                                      <p:cBhvr>
                                        <p:cTn id="48" dur="1" fill="hold">
                                          <p:stCondLst>
                                            <p:cond delay="0"/>
                                          </p:stCondLst>
                                        </p:cTn>
                                        <p:tgtEl>
                                          <p:spTgt spid="21"/>
                                        </p:tgtEl>
                                        <p:attrNameLst>
                                          <p:attrName>style.visibility</p:attrName>
                                        </p:attrNameLst>
                                      </p:cBhvr>
                                      <p:to>
                                        <p:strVal val="visible"/>
                                      </p:to>
                                    </p:set>
                                    <p:anim calcmode="lin" valueType="num">
                                      <p:cBhvr additive="base">
                                        <p:cTn id="49" dur="500" fill="hold"/>
                                        <p:tgtEl>
                                          <p:spTgt spid="21"/>
                                        </p:tgtEl>
                                        <p:attrNameLst>
                                          <p:attrName>ppt_x</p:attrName>
                                        </p:attrNameLst>
                                      </p:cBhvr>
                                      <p:tavLst>
                                        <p:tav tm="0">
                                          <p:val>
                                            <p:strVal val="#ppt_x"/>
                                          </p:val>
                                        </p:tav>
                                        <p:tav tm="100000">
                                          <p:val>
                                            <p:strVal val="#ppt_x"/>
                                          </p:val>
                                        </p:tav>
                                      </p:tavLst>
                                    </p:anim>
                                    <p:anim calcmode="lin" valueType="num">
                                      <p:cBhvr additive="base">
                                        <p:cTn id="50" dur="500" fill="hold"/>
                                        <p:tgtEl>
                                          <p:spTgt spid="21"/>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animBg="1"/>
      <p:bldP spid="21" grpId="0" animBg="1"/>
      <p:bldP spid="22" grpId="0" animBg="1"/>
      <p:bldP spid="23" grpId="0" animBg="1"/>
      <p:bldP spid="24" grpId="0" animBg="1"/>
      <p:bldP spid="25" grpId="0" animBg="1"/>
      <p:bldP spid="26" grpId="0" animBg="1"/>
      <p:bldP spid="27" grpId="0" animBg="1"/>
    </p:bld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5DC11B5C-4F1D-4565-8D2D-EFC691B493BD}"/>
              </a:ext>
            </a:extLst>
          </p:cNvPr>
          <p:cNvSpPr>
            <a:spLocks noGrp="1"/>
          </p:cNvSpPr>
          <p:nvPr>
            <p:ph type="title"/>
          </p:nvPr>
        </p:nvSpPr>
        <p:spPr/>
        <p:txBody>
          <a:bodyPr/>
          <a:lstStyle/>
          <a:p>
            <a:r>
              <a:rPr lang="en-IN" dirty="0"/>
              <a:t>Why GCP?</a:t>
            </a:r>
          </a:p>
        </p:txBody>
      </p:sp>
      <p:pic>
        <p:nvPicPr>
          <p:cNvPr id="5" name="Picture 4" descr="A screenshot of a cell phone&#10;&#10;Description generated with very high confidence">
            <a:extLst>
              <a:ext uri="{FF2B5EF4-FFF2-40B4-BE49-F238E27FC236}">
                <a16:creationId xmlns:a16="http://schemas.microsoft.com/office/drawing/2014/main" xmlns="" id="{08555DA8-25E8-4BB7-8A39-6FDCCF7E6A3F}"/>
              </a:ext>
            </a:extLst>
          </p:cNvPr>
          <p:cNvPicPr>
            <a:picLocks noChangeAspect="1"/>
          </p:cNvPicPr>
          <p:nvPr/>
        </p:nvPicPr>
        <p:blipFill rotWithShape="1">
          <a:blip r:embed="rId2" cstate="print">
            <a:extLst>
              <a:ext uri="{28A0092B-C50C-407E-A947-70E740481C1C}">
                <a14:useLocalDpi xmlns:a14="http://schemas.microsoft.com/office/drawing/2010/main" val="0"/>
              </a:ext>
            </a:extLst>
          </a:blip>
          <a:srcRect t="9693"/>
          <a:stretch/>
        </p:blipFill>
        <p:spPr>
          <a:xfrm>
            <a:off x="3933100" y="1452827"/>
            <a:ext cx="4239301" cy="4472451"/>
          </a:xfrm>
          <a:prstGeom prst="rect">
            <a:avLst/>
          </a:prstGeom>
        </p:spPr>
      </p:pic>
      <p:sp>
        <p:nvSpPr>
          <p:cNvPr id="7" name="Shape 323">
            <a:extLst>
              <a:ext uri="{FF2B5EF4-FFF2-40B4-BE49-F238E27FC236}">
                <a16:creationId xmlns:a16="http://schemas.microsoft.com/office/drawing/2014/main" xmlns="" id="{646FE1A8-FAA7-47EC-8706-A5E9FF3DB330}"/>
              </a:ext>
            </a:extLst>
          </p:cNvPr>
          <p:cNvSpPr txBox="1"/>
          <p:nvPr/>
        </p:nvSpPr>
        <p:spPr>
          <a:xfrm>
            <a:off x="7020272" y="6067197"/>
            <a:ext cx="2298892" cy="333600"/>
          </a:xfrm>
          <a:prstGeom prst="rect">
            <a:avLst/>
          </a:prstGeom>
          <a:noFill/>
          <a:ln>
            <a:noFill/>
          </a:ln>
        </p:spPr>
        <p:txBody>
          <a:bodyPr lIns="76804" tIns="76804" rIns="76804" bIns="76804" anchor="ctr" anchorCtr="0">
            <a:noAutofit/>
          </a:bodyPr>
          <a:lstStyle/>
          <a:p>
            <a:pPr algn="ctr">
              <a:buClr>
                <a:srgbClr val="808080"/>
              </a:buClr>
              <a:buSzPct val="25000"/>
            </a:pPr>
            <a:r>
              <a:rPr lang="en-US" sz="800" b="1" dirty="0">
                <a:solidFill>
                  <a:srgbClr val="808080"/>
                </a:solidFill>
                <a:ea typeface="Open Sans"/>
                <a:cs typeface="Open Sans"/>
                <a:sym typeface="Open Sans"/>
              </a:rPr>
              <a:t>Source: Synergy Resource Group</a:t>
            </a:r>
          </a:p>
        </p:txBody>
      </p:sp>
      <p:pic>
        <p:nvPicPr>
          <p:cNvPr id="6" name="Picture 5" descr="A screenshot of a cell phone&#10;&#10;Description generated with very high confidence">
            <a:extLst>
              <a:ext uri="{FF2B5EF4-FFF2-40B4-BE49-F238E27FC236}">
                <a16:creationId xmlns:a16="http://schemas.microsoft.com/office/drawing/2014/main" xmlns="" id="{A5B8C232-3E84-4078-891E-85DC00298ACF}"/>
              </a:ext>
            </a:extLst>
          </p:cNvPr>
          <p:cNvPicPr>
            <a:picLocks noChangeAspect="1"/>
          </p:cNvPicPr>
          <p:nvPr/>
        </p:nvPicPr>
        <p:blipFill rotWithShape="1">
          <a:blip r:embed="rId2" cstate="print">
            <a:extLst>
              <a:ext uri="{28A0092B-C50C-407E-A947-70E740481C1C}">
                <a14:useLocalDpi xmlns:a14="http://schemas.microsoft.com/office/drawing/2010/main" val="0"/>
              </a:ext>
            </a:extLst>
          </a:blip>
          <a:srcRect b="89956"/>
          <a:stretch/>
        </p:blipFill>
        <p:spPr>
          <a:xfrm>
            <a:off x="-180528" y="3273858"/>
            <a:ext cx="4239301" cy="497415"/>
          </a:xfrm>
          <a:prstGeom prst="rect">
            <a:avLst/>
          </a:prstGeom>
        </p:spPr>
      </p:pic>
    </p:spTree>
    <p:extLst>
      <p:ext uri="{BB962C8B-B14F-4D97-AF65-F5344CB8AC3E}">
        <p14:creationId xmlns:p14="http://schemas.microsoft.com/office/powerpoint/2010/main" val="2409716706"/>
      </p:ext>
    </p:extLst>
  </p:cSld>
  <p:clrMapOvr>
    <a:masterClrMapping/>
  </p:clrMapOvr>
  <p:timing>
    <p:tnLst>
      <p:par>
        <p:cTn id="1" dur="indefinite" restart="never" nodeType="tmRoot"/>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Why Google Cloud Platform?</a:t>
            </a:r>
            <a:endParaRPr lang="en-IN" dirty="0"/>
          </a:p>
        </p:txBody>
      </p:sp>
      <p:sp>
        <p:nvSpPr>
          <p:cNvPr id="3" name="Text Placeholder 2"/>
          <p:cNvSpPr>
            <a:spLocks noGrp="1"/>
          </p:cNvSpPr>
          <p:nvPr>
            <p:ph type="body" sz="quarter" idx="10"/>
          </p:nvPr>
        </p:nvSpPr>
        <p:spPr/>
        <p:txBody>
          <a:bodyPr>
            <a:noAutofit/>
          </a:bodyPr>
          <a:lstStyle/>
          <a:p>
            <a:r>
              <a:rPr lang="en-US" sz="2400" b="1" dirty="0" smtClean="0"/>
              <a:t>Scale </a:t>
            </a:r>
            <a:r>
              <a:rPr lang="en-US" sz="2400" b="1" dirty="0"/>
              <a:t>to millions of users</a:t>
            </a:r>
          </a:p>
          <a:p>
            <a:r>
              <a:rPr lang="en-US" sz="2400" dirty="0"/>
              <a:t>Applications hosted on Cloud Platform can automatically scale up to handle </a:t>
            </a:r>
            <a:r>
              <a:rPr lang="en-US" sz="2400" dirty="0" smtClean="0"/>
              <a:t>the most </a:t>
            </a:r>
            <a:r>
              <a:rPr lang="en-US" sz="2400" dirty="0"/>
              <a:t>demanding workloads and scale down when traffic subsides. You pay </a:t>
            </a:r>
            <a:r>
              <a:rPr lang="en-US" sz="2400" dirty="0" smtClean="0"/>
              <a:t>only for </a:t>
            </a:r>
            <a:r>
              <a:rPr lang="en-US" sz="2400" dirty="0"/>
              <a:t>what you use.</a:t>
            </a:r>
          </a:p>
          <a:p>
            <a:r>
              <a:rPr lang="en-US" sz="2400" dirty="0"/>
              <a:t>Scale-up: </a:t>
            </a:r>
            <a:endParaRPr lang="en-US" sz="2400" dirty="0" smtClean="0"/>
          </a:p>
          <a:p>
            <a:pPr lvl="1"/>
            <a:r>
              <a:rPr lang="en-US" sz="2400" dirty="0" smtClean="0"/>
              <a:t>Cloud </a:t>
            </a:r>
            <a:r>
              <a:rPr lang="en-US" sz="2400" dirty="0"/>
              <a:t>Platform is designed to scale like Google’s own products, even when you </a:t>
            </a:r>
            <a:r>
              <a:rPr lang="en-US" sz="2400" dirty="0" smtClean="0"/>
              <a:t>experience </a:t>
            </a:r>
            <a:r>
              <a:rPr lang="en-US" sz="2400" dirty="0"/>
              <a:t>a huge traffic spike. Managed services such as App Engine or Cloud </a:t>
            </a:r>
            <a:r>
              <a:rPr lang="en-US" sz="2400" dirty="0" err="1"/>
              <a:t>Datastore</a:t>
            </a:r>
            <a:r>
              <a:rPr lang="en-US" sz="2400" dirty="0"/>
              <a:t> </a:t>
            </a:r>
            <a:r>
              <a:rPr lang="en-US" sz="2400" dirty="0" smtClean="0"/>
              <a:t>give you </a:t>
            </a:r>
            <a:r>
              <a:rPr lang="en-US" sz="2400" dirty="0"/>
              <a:t>auto-scaling that enables your application to grow with your users.</a:t>
            </a:r>
          </a:p>
          <a:p>
            <a:r>
              <a:rPr lang="en-US" sz="2400" dirty="0"/>
              <a:t>Scale-down: </a:t>
            </a:r>
            <a:endParaRPr lang="en-US" sz="2400" dirty="0" smtClean="0"/>
          </a:p>
          <a:p>
            <a:pPr lvl="1"/>
            <a:r>
              <a:rPr lang="en-US" sz="2400" dirty="0" smtClean="0"/>
              <a:t>Just </a:t>
            </a:r>
            <a:r>
              <a:rPr lang="en-US" sz="2400" dirty="0"/>
              <a:t>as Cloud Platform allows you to scale-up, managed services also scale down. </a:t>
            </a:r>
            <a:r>
              <a:rPr lang="en-US" sz="2400" dirty="0" smtClean="0"/>
              <a:t>You </a:t>
            </a:r>
            <a:r>
              <a:rPr lang="en-US" sz="2400" dirty="0"/>
              <a:t>don’t pay for computing resources that you don’t need.</a:t>
            </a:r>
          </a:p>
        </p:txBody>
      </p:sp>
    </p:spTree>
    <p:extLst>
      <p:ext uri="{BB962C8B-B14F-4D97-AF65-F5344CB8AC3E}">
        <p14:creationId xmlns:p14="http://schemas.microsoft.com/office/powerpoint/2010/main" val="1416809750"/>
      </p:ext>
    </p:extLst>
  </p:cSld>
  <p:clrMapOvr>
    <a:masterClrMapping/>
  </p:clrMapOvr>
  <p:timing>
    <p:tnLst>
      <p:par>
        <p:cTn id="1" dur="indefinite" restart="never" nodeType="tmRoot"/>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Why Google Cloud Platform?</a:t>
            </a:r>
            <a:endParaRPr lang="en-IN" dirty="0"/>
          </a:p>
        </p:txBody>
      </p:sp>
      <p:sp>
        <p:nvSpPr>
          <p:cNvPr id="3" name="Text Placeholder 2"/>
          <p:cNvSpPr>
            <a:spLocks noGrp="1"/>
          </p:cNvSpPr>
          <p:nvPr>
            <p:ph type="body" sz="quarter" idx="10"/>
          </p:nvPr>
        </p:nvSpPr>
        <p:spPr/>
        <p:txBody>
          <a:bodyPr>
            <a:noAutofit/>
          </a:bodyPr>
          <a:lstStyle/>
          <a:p>
            <a:r>
              <a:rPr lang="en-US" sz="2400" b="1" dirty="0"/>
              <a:t>Focus on your product</a:t>
            </a:r>
          </a:p>
          <a:p>
            <a:r>
              <a:rPr lang="en-US" sz="2400" dirty="0"/>
              <a:t>Rapidly develop, deploy and iterate your applications without worrying </a:t>
            </a:r>
            <a:r>
              <a:rPr lang="en-US" sz="2400" dirty="0" smtClean="0"/>
              <a:t>about system </a:t>
            </a:r>
            <a:r>
              <a:rPr lang="en-US" sz="2400" dirty="0"/>
              <a:t>administration. Google manages your application, database and </a:t>
            </a:r>
            <a:r>
              <a:rPr lang="en-US" sz="2400" dirty="0" smtClean="0"/>
              <a:t>storage </a:t>
            </a:r>
            <a:r>
              <a:rPr lang="en-US" sz="2400" dirty="0"/>
              <a:t>servers so you don’t have to.</a:t>
            </a:r>
          </a:p>
          <a:p>
            <a:pPr>
              <a:buFont typeface="Wingdings" pitchFamily="2" charset="2"/>
              <a:buChar char="ü"/>
            </a:pPr>
            <a:r>
              <a:rPr lang="en-US" sz="2400" dirty="0" smtClean="0"/>
              <a:t> </a:t>
            </a:r>
            <a:r>
              <a:rPr lang="en-US" sz="2400" dirty="0"/>
              <a:t>Managed services</a:t>
            </a:r>
          </a:p>
          <a:p>
            <a:pPr>
              <a:buFont typeface="Wingdings" pitchFamily="2" charset="2"/>
              <a:buChar char="ü"/>
            </a:pPr>
            <a:r>
              <a:rPr lang="en-US" sz="2400" dirty="0" smtClean="0"/>
              <a:t> </a:t>
            </a:r>
            <a:r>
              <a:rPr lang="en-US" sz="2400" dirty="0"/>
              <a:t>Developer Tools and SDKs</a:t>
            </a:r>
          </a:p>
          <a:p>
            <a:pPr>
              <a:buFont typeface="Wingdings" pitchFamily="2" charset="2"/>
              <a:buChar char="ü"/>
            </a:pPr>
            <a:r>
              <a:rPr lang="en-US" sz="2400" dirty="0" smtClean="0"/>
              <a:t> </a:t>
            </a:r>
            <a:r>
              <a:rPr lang="en-US" sz="2400" dirty="0"/>
              <a:t>Console and Administration</a:t>
            </a:r>
          </a:p>
        </p:txBody>
      </p:sp>
    </p:spTree>
    <p:extLst>
      <p:ext uri="{BB962C8B-B14F-4D97-AF65-F5344CB8AC3E}">
        <p14:creationId xmlns:p14="http://schemas.microsoft.com/office/powerpoint/2010/main" val="3095918346"/>
      </p:ext>
    </p:extLst>
  </p:cSld>
  <p:clrMapOvr>
    <a:masterClrMapping/>
  </p:clrMapOvr>
  <p:timing>
    <p:tnLst>
      <p:par>
        <p:cTn id="1" dur="indefinite" restart="never" nodeType="tmRoot"/>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p:txBody>
          <a:bodyPr/>
          <a:lstStyle/>
          <a:p>
            <a:r>
              <a:rPr lang="en-IN" dirty="0" smtClean="0">
                <a:solidFill>
                  <a:schemeClr val="accent1"/>
                </a:solidFill>
              </a:rPr>
              <a:t>What is Google Cloud Platform?</a:t>
            </a:r>
            <a:endParaRPr lang="en-IN" dirty="0"/>
          </a:p>
        </p:txBody>
      </p:sp>
    </p:spTree>
    <p:extLst>
      <p:ext uri="{BB962C8B-B14F-4D97-AF65-F5344CB8AC3E}">
        <p14:creationId xmlns:p14="http://schemas.microsoft.com/office/powerpoint/2010/main" val="2676530763"/>
      </p:ext>
    </p:extLst>
  </p:cSld>
  <p:clrMapOvr>
    <a:masterClrMapping/>
  </p:clrMapOvr>
  <p:timing>
    <p:tnLst>
      <p:par>
        <p:cTn id="1" dur="indefinite" restart="never" nodeType="tmRoot"/>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A91ACB58-295E-41DD-8309-39B803058B25}"/>
              </a:ext>
            </a:extLst>
          </p:cNvPr>
          <p:cNvSpPr>
            <a:spLocks noGrp="1"/>
          </p:cNvSpPr>
          <p:nvPr>
            <p:ph type="title"/>
          </p:nvPr>
        </p:nvSpPr>
        <p:spPr/>
        <p:txBody>
          <a:bodyPr/>
          <a:lstStyle/>
          <a:p>
            <a:r>
              <a:rPr lang="en-IN" dirty="0"/>
              <a:t>What is GCP?</a:t>
            </a:r>
          </a:p>
        </p:txBody>
      </p:sp>
      <p:pic>
        <p:nvPicPr>
          <p:cNvPr id="5" name="Picture 4">
            <a:extLst>
              <a:ext uri="{FF2B5EF4-FFF2-40B4-BE49-F238E27FC236}">
                <a16:creationId xmlns:a16="http://schemas.microsoft.com/office/drawing/2014/main" xmlns="" id="{F550755C-F730-4117-A99F-124163B8E655}"/>
              </a:ext>
            </a:extLst>
          </p:cNvPr>
          <p:cNvPicPr>
            <a:picLocks noChangeAspect="1"/>
          </p:cNvPicPr>
          <p:nvPr/>
        </p:nvPicPr>
        <p:blipFill>
          <a:blip r:embed="rId2"/>
          <a:stretch>
            <a:fillRect/>
          </a:stretch>
        </p:blipFill>
        <p:spPr>
          <a:xfrm>
            <a:off x="2924632" y="2568337"/>
            <a:ext cx="3294734" cy="2036745"/>
          </a:xfrm>
          <a:prstGeom prst="rect">
            <a:avLst/>
          </a:prstGeom>
        </p:spPr>
      </p:pic>
      <p:sp>
        <p:nvSpPr>
          <p:cNvPr id="6" name="Rectangle 5">
            <a:extLst>
              <a:ext uri="{FF2B5EF4-FFF2-40B4-BE49-F238E27FC236}">
                <a16:creationId xmlns:a16="http://schemas.microsoft.com/office/drawing/2014/main" xmlns="" id="{36E7C35C-1E80-46A8-A11D-2110F65A6E01}"/>
              </a:ext>
            </a:extLst>
          </p:cNvPr>
          <p:cNvSpPr/>
          <p:nvPr/>
        </p:nvSpPr>
        <p:spPr>
          <a:xfrm>
            <a:off x="554898" y="1268328"/>
            <a:ext cx="7980715" cy="641407"/>
          </a:xfrm>
          <a:prstGeom prst="rect">
            <a:avLst/>
          </a:prstGeom>
        </p:spPr>
        <p:txBody>
          <a:bodyPr wrap="square" lIns="25603" tIns="12802" rIns="25603" bIns="12802">
            <a:spAutoFit/>
          </a:bodyPr>
          <a:lstStyle/>
          <a:p>
            <a:pPr algn="ctr"/>
            <a:r>
              <a:rPr lang="en-IN" sz="2000" kern="0" dirty="0">
                <a:solidFill>
                  <a:srgbClr val="5F5F5F"/>
                </a:solidFill>
              </a:rPr>
              <a:t>Google Cloud Platform, is a suite of </a:t>
            </a:r>
            <a:r>
              <a:rPr lang="en-IN" sz="2000" i="1" kern="0" dirty="0">
                <a:solidFill>
                  <a:schemeClr val="accent1"/>
                </a:solidFill>
              </a:rPr>
              <a:t>cloud computing services </a:t>
            </a:r>
            <a:r>
              <a:rPr lang="en-IN" sz="2000" kern="0" dirty="0">
                <a:solidFill>
                  <a:srgbClr val="5F5F5F"/>
                </a:solidFill>
              </a:rPr>
              <a:t>and </a:t>
            </a:r>
            <a:r>
              <a:rPr lang="en-IN" sz="2000" i="1" dirty="0">
                <a:solidFill>
                  <a:schemeClr val="accent1"/>
                </a:solidFill>
              </a:rPr>
              <a:t>management tools </a:t>
            </a:r>
            <a:r>
              <a:rPr lang="en-IN" sz="2000" dirty="0"/>
              <a:t>offered by Google</a:t>
            </a:r>
          </a:p>
        </p:txBody>
      </p:sp>
      <p:sp>
        <p:nvSpPr>
          <p:cNvPr id="7" name="Rectangle: Rounded Corners 6">
            <a:extLst>
              <a:ext uri="{FF2B5EF4-FFF2-40B4-BE49-F238E27FC236}">
                <a16:creationId xmlns:a16="http://schemas.microsoft.com/office/drawing/2014/main" xmlns="" id="{D4537AAB-EAC9-47D8-86D7-F112B7E49E9B}"/>
              </a:ext>
            </a:extLst>
          </p:cNvPr>
          <p:cNvSpPr/>
          <p:nvPr/>
        </p:nvSpPr>
        <p:spPr>
          <a:xfrm>
            <a:off x="467544" y="4811575"/>
            <a:ext cx="7776864" cy="1508158"/>
          </a:xfrm>
          <a:prstGeom prst="roundRect">
            <a:avLst/>
          </a:prstGeom>
          <a:solidFill>
            <a:schemeClr val="bg1"/>
          </a:solidFill>
          <a:effectLst>
            <a:outerShdw blurRad="50800" dist="38100" dir="5400000" algn="t" rotWithShape="0">
              <a:prstClr val="black">
                <a:alpha val="40000"/>
              </a:prstClr>
            </a:outerShdw>
          </a:effectLst>
        </p:spPr>
        <p:txBody>
          <a:bodyPr wrap="square" lIns="25603" tIns="12802" rIns="25603" bIns="12802" anchor="ctr">
            <a:spAutoFit/>
          </a:bodyPr>
          <a:lstStyle/>
          <a:p>
            <a:pPr algn="just">
              <a:lnSpc>
                <a:spcPct val="150000"/>
              </a:lnSpc>
            </a:pPr>
            <a:r>
              <a:rPr lang="en-IN" sz="2000" dirty="0"/>
              <a:t>Alongside a set of management tools, it provides a </a:t>
            </a:r>
            <a:r>
              <a:rPr lang="en-IN" sz="2000" i="1" dirty="0">
                <a:solidFill>
                  <a:schemeClr val="accent1"/>
                </a:solidFill>
              </a:rPr>
              <a:t>series of modular cloud services including computing, data storage, data analytics and machine learning</a:t>
            </a:r>
          </a:p>
        </p:txBody>
      </p:sp>
    </p:spTree>
    <p:extLst>
      <p:ext uri="{BB962C8B-B14F-4D97-AF65-F5344CB8AC3E}">
        <p14:creationId xmlns:p14="http://schemas.microsoft.com/office/powerpoint/2010/main" val="307588977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6" presetClass="entr" presetSubtype="21" fill="hold" grpId="0" nodeType="click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barn(inVertical)">
                                      <p:cBhvr>
                                        <p:cTn id="7" dur="500"/>
                                        <p:tgtEl>
                                          <p:spTgt spid="6"/>
                                        </p:tgtEl>
                                      </p:cBhvr>
                                    </p:animEffect>
                                  </p:childTnLst>
                                </p:cTn>
                              </p:par>
                            </p:childTnLst>
                          </p:cTn>
                        </p:par>
                      </p:childTnLst>
                    </p:cTn>
                  </p:par>
                  <p:par>
                    <p:cTn id="8" fill="hold">
                      <p:stCondLst>
                        <p:cond delay="indefinite"/>
                      </p:stCondLst>
                      <p:childTnLst>
                        <p:par>
                          <p:cTn id="9" fill="hold">
                            <p:stCondLst>
                              <p:cond delay="0"/>
                            </p:stCondLst>
                            <p:childTnLst>
                              <p:par>
                                <p:cTn id="10" presetID="42" presetClass="entr" presetSubtype="0" fill="hold" grpId="0" nodeType="clickEffect">
                                  <p:stCondLst>
                                    <p:cond delay="0"/>
                                  </p:stCondLst>
                                  <p:childTnLst>
                                    <p:set>
                                      <p:cBhvr>
                                        <p:cTn id="11" dur="1" fill="hold">
                                          <p:stCondLst>
                                            <p:cond delay="0"/>
                                          </p:stCondLst>
                                        </p:cTn>
                                        <p:tgtEl>
                                          <p:spTgt spid="7"/>
                                        </p:tgtEl>
                                        <p:attrNameLst>
                                          <p:attrName>style.visibility</p:attrName>
                                        </p:attrNameLst>
                                      </p:cBhvr>
                                      <p:to>
                                        <p:strVal val="visible"/>
                                      </p:to>
                                    </p:set>
                                    <p:animEffect transition="in" filter="fade">
                                      <p:cBhvr>
                                        <p:cTn id="12" dur="1000"/>
                                        <p:tgtEl>
                                          <p:spTgt spid="7"/>
                                        </p:tgtEl>
                                      </p:cBhvr>
                                    </p:animEffect>
                                    <p:anim calcmode="lin" valueType="num">
                                      <p:cBhvr>
                                        <p:cTn id="13" dur="1000" fill="hold"/>
                                        <p:tgtEl>
                                          <p:spTgt spid="7"/>
                                        </p:tgtEl>
                                        <p:attrNameLst>
                                          <p:attrName>ppt_x</p:attrName>
                                        </p:attrNameLst>
                                      </p:cBhvr>
                                      <p:tavLst>
                                        <p:tav tm="0">
                                          <p:val>
                                            <p:strVal val="#ppt_x"/>
                                          </p:val>
                                        </p:tav>
                                        <p:tav tm="100000">
                                          <p:val>
                                            <p:strVal val="#ppt_x"/>
                                          </p:val>
                                        </p:tav>
                                      </p:tavLst>
                                    </p:anim>
                                    <p:anim calcmode="lin" valueType="num">
                                      <p:cBhvr>
                                        <p:cTn id="14" dur="1000" fill="hold"/>
                                        <p:tgtEl>
                                          <p:spTgt spid="7"/>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p:bldP spid="7" grpId="0" animBg="1"/>
    </p:bld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a:xfrm>
            <a:off x="467544" y="2852936"/>
            <a:ext cx="7620000" cy="1143000"/>
          </a:xfrm>
        </p:spPr>
        <p:txBody>
          <a:bodyPr/>
          <a:lstStyle/>
          <a:p>
            <a:r>
              <a:rPr lang="en-IN" dirty="0" smtClean="0">
                <a:solidFill>
                  <a:schemeClr val="accent1"/>
                </a:solidFill>
              </a:rPr>
              <a:t>GCP Regions and Zones</a:t>
            </a:r>
            <a:endParaRPr lang="en-IN" dirty="0"/>
          </a:p>
        </p:txBody>
      </p:sp>
    </p:spTree>
    <p:extLst>
      <p:ext uri="{BB962C8B-B14F-4D97-AF65-F5344CB8AC3E}">
        <p14:creationId xmlns:p14="http://schemas.microsoft.com/office/powerpoint/2010/main" val="1911527254"/>
      </p:ext>
    </p:extLst>
  </p:cSld>
  <p:clrMapOvr>
    <a:masterClrMapping/>
  </p:clrMapOvr>
  <p:timing>
    <p:tnLst>
      <p:par>
        <p:cTn id="1" dur="indefinite" restart="never" nodeType="tmRoot"/>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7018F44D-D046-48CB-9ECD-CDE8B092C4DF}"/>
              </a:ext>
            </a:extLst>
          </p:cNvPr>
          <p:cNvSpPr>
            <a:spLocks noGrp="1"/>
          </p:cNvSpPr>
          <p:nvPr>
            <p:ph type="title"/>
          </p:nvPr>
        </p:nvSpPr>
        <p:spPr/>
        <p:txBody>
          <a:bodyPr/>
          <a:lstStyle/>
          <a:p>
            <a:r>
              <a:rPr lang="en-IN" dirty="0"/>
              <a:t>GCP Regions and </a:t>
            </a:r>
            <a:r>
              <a:rPr lang="en-IN" dirty="0" smtClean="0"/>
              <a:t>Zones(2024)</a:t>
            </a:r>
            <a:endParaRPr lang="en-IN" dirty="0"/>
          </a:p>
        </p:txBody>
      </p:sp>
      <p:pic>
        <p:nvPicPr>
          <p:cNvPr id="5" name="Picture 4" descr="A close up of a map&#10;&#10;Description generated with high confidence">
            <a:extLst>
              <a:ext uri="{FF2B5EF4-FFF2-40B4-BE49-F238E27FC236}">
                <a16:creationId xmlns:a16="http://schemas.microsoft.com/office/drawing/2014/main" xmlns="" id="{6E1D2C00-FBD1-41CE-B08B-BE8FC1C4E94A}"/>
              </a:ext>
            </a:extLst>
          </p:cNvPr>
          <p:cNvPicPr>
            <a:picLocks noChangeAspect="1"/>
          </p:cNvPicPr>
          <p:nvPr/>
        </p:nvPicPr>
        <p:blipFill rotWithShape="1">
          <a:blip r:embed="rId2">
            <a:extLst>
              <a:ext uri="{28A0092B-C50C-407E-A947-70E740481C1C}">
                <a14:useLocalDpi xmlns:a14="http://schemas.microsoft.com/office/drawing/2010/main" val="0"/>
              </a:ext>
            </a:extLst>
          </a:blip>
          <a:srcRect t="10351"/>
          <a:stretch/>
        </p:blipFill>
        <p:spPr>
          <a:xfrm>
            <a:off x="395536" y="1132380"/>
            <a:ext cx="7776864" cy="5499374"/>
          </a:xfrm>
          <a:prstGeom prst="rect">
            <a:avLst/>
          </a:prstGeom>
        </p:spPr>
      </p:pic>
    </p:spTree>
    <p:extLst>
      <p:ext uri="{BB962C8B-B14F-4D97-AF65-F5344CB8AC3E}">
        <p14:creationId xmlns:p14="http://schemas.microsoft.com/office/powerpoint/2010/main" val="1970272757"/>
      </p:ext>
    </p:extLst>
  </p:cSld>
  <p:clrMapOvr>
    <a:masterClrMapping/>
  </p:clrMapOvr>
  <p:timing>
    <p:tnLst>
      <p:par>
        <p:cTn id="1" dur="indefinite" restart="never" nodeType="tmRoot"/>
      </p:par>
    </p:tn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7018F44D-D046-48CB-9ECD-CDE8B092C4DF}"/>
              </a:ext>
            </a:extLst>
          </p:cNvPr>
          <p:cNvSpPr>
            <a:spLocks noGrp="1"/>
          </p:cNvSpPr>
          <p:nvPr>
            <p:ph type="title"/>
          </p:nvPr>
        </p:nvSpPr>
        <p:spPr/>
        <p:txBody>
          <a:bodyPr/>
          <a:lstStyle/>
          <a:p>
            <a:r>
              <a:rPr lang="en-IN" dirty="0"/>
              <a:t>GCP Regions and </a:t>
            </a:r>
            <a:r>
              <a:rPr lang="en-IN" dirty="0" smtClean="0"/>
              <a:t>Zones(2025)</a:t>
            </a:r>
            <a:endParaRPr lang="en-IN" dirty="0"/>
          </a:p>
        </p:txBody>
      </p:sp>
      <p:pic>
        <p:nvPicPr>
          <p:cNvPr id="2050"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350" y="1270248"/>
            <a:ext cx="8382074" cy="474479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3857244747"/>
      </p:ext>
    </p:extLst>
  </p:cSld>
  <p:clrMapOvr>
    <a:masterClrMapping/>
  </p:clrMapOvr>
  <p:timing>
    <p:tnLst>
      <p:par>
        <p:cTn id="1" dur="indefinite" restart="never" nodeType="tmRoot"/>
      </p:par>
    </p:tn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dirty="0"/>
              <a:t>Google Cloud </a:t>
            </a:r>
            <a:r>
              <a:rPr lang="en-IN" dirty="0" smtClean="0"/>
              <a:t>Regions &amp; Zones(2024)</a:t>
            </a:r>
            <a:endParaRPr lang="en-IN" dirty="0"/>
          </a:p>
        </p:txBody>
      </p:sp>
      <p:sp>
        <p:nvSpPr>
          <p:cNvPr id="3" name="Text Placeholder 2"/>
          <p:cNvSpPr>
            <a:spLocks noGrp="1"/>
          </p:cNvSpPr>
          <p:nvPr>
            <p:ph type="body" sz="quarter" idx="10"/>
          </p:nvPr>
        </p:nvSpPr>
        <p:spPr/>
        <p:txBody>
          <a:bodyPr>
            <a:noAutofit/>
          </a:bodyPr>
          <a:lstStyle/>
          <a:p>
            <a:endParaRPr lang="en-US" sz="2400" dirty="0"/>
          </a:p>
        </p:txBody>
      </p:sp>
      <p:sp>
        <p:nvSpPr>
          <p:cNvPr id="4" name="AutoShape 2" descr="Google Compute Engine icon in Color Style"/>
          <p:cNvSpPr>
            <a:spLocks noChangeAspect="1" noChangeArrowheads="1"/>
          </p:cNvSpPr>
          <p:nvPr/>
        </p:nvSpPr>
        <p:spPr bwMode="auto">
          <a:xfrm>
            <a:off x="155575" y="-144463"/>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IN"/>
          </a:p>
        </p:txBody>
      </p:sp>
      <p:pic>
        <p:nvPicPr>
          <p:cNvPr id="36866"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96850" y="2011363"/>
            <a:ext cx="8047558" cy="28384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1175841212"/>
      </p:ext>
    </p:extLst>
  </p:cSld>
  <p:clrMapOvr>
    <a:masterClrMapping/>
  </p:clrMapOvr>
  <p:timing>
    <p:tnLst>
      <p:par>
        <p:cTn id="1" dur="indefinite" restart="never" nodeType="tmRoot"/>
      </p:par>
    </p:tn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dirty="0"/>
              <a:t>Google Cloud </a:t>
            </a:r>
            <a:r>
              <a:rPr lang="en-IN" dirty="0" smtClean="0"/>
              <a:t>Regions &amp; Zones(2025)</a:t>
            </a:r>
            <a:endParaRPr lang="en-IN" dirty="0"/>
          </a:p>
        </p:txBody>
      </p:sp>
      <p:sp>
        <p:nvSpPr>
          <p:cNvPr id="3" name="Text Placeholder 2"/>
          <p:cNvSpPr>
            <a:spLocks noGrp="1"/>
          </p:cNvSpPr>
          <p:nvPr>
            <p:ph type="body" sz="quarter" idx="10"/>
          </p:nvPr>
        </p:nvSpPr>
        <p:spPr/>
        <p:txBody>
          <a:bodyPr>
            <a:noAutofit/>
          </a:bodyPr>
          <a:lstStyle/>
          <a:p>
            <a:endParaRPr lang="en-US" sz="2400" dirty="0"/>
          </a:p>
        </p:txBody>
      </p:sp>
      <p:sp>
        <p:nvSpPr>
          <p:cNvPr id="4" name="AutoShape 2" descr="Google Compute Engine icon in Color Style"/>
          <p:cNvSpPr>
            <a:spLocks noChangeAspect="1" noChangeArrowheads="1"/>
          </p:cNvSpPr>
          <p:nvPr/>
        </p:nvSpPr>
        <p:spPr bwMode="auto">
          <a:xfrm>
            <a:off x="155575" y="-144463"/>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IN"/>
          </a:p>
        </p:txBody>
      </p:sp>
      <p:pic>
        <p:nvPicPr>
          <p:cNvPr id="1026"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54682" y="2204864"/>
            <a:ext cx="7905750" cy="16764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2625757045"/>
      </p:ext>
    </p:extLst>
  </p:cSld>
  <p:clrMapOvr>
    <a:masterClrMapping/>
  </p:clrMapOvr>
  <p:timing>
    <p:tnLst>
      <p:par>
        <p:cTn id="1" dur="indefinite" restart="never" nodeType="tmRoot"/>
      </p:par>
    </p:tn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dirty="0"/>
              <a:t>Google Cloud </a:t>
            </a:r>
            <a:r>
              <a:rPr lang="en-IN" dirty="0" smtClean="0"/>
              <a:t>Regions &amp; Zones</a:t>
            </a:r>
            <a:endParaRPr lang="en-IN" dirty="0"/>
          </a:p>
        </p:txBody>
      </p:sp>
      <p:sp>
        <p:nvSpPr>
          <p:cNvPr id="3" name="Text Placeholder 2"/>
          <p:cNvSpPr>
            <a:spLocks noGrp="1"/>
          </p:cNvSpPr>
          <p:nvPr>
            <p:ph type="body" sz="quarter" idx="10"/>
          </p:nvPr>
        </p:nvSpPr>
        <p:spPr/>
        <p:txBody>
          <a:bodyPr>
            <a:noAutofit/>
          </a:bodyPr>
          <a:lstStyle/>
          <a:p>
            <a:r>
              <a:rPr lang="en-US" sz="2400" dirty="0"/>
              <a:t>Compute Engine resources are hosted in multiple locations worldwide. These locations are composed of regions and zones. </a:t>
            </a:r>
            <a:endParaRPr lang="en-US" sz="2400" dirty="0" smtClean="0"/>
          </a:p>
        </p:txBody>
      </p:sp>
      <p:sp>
        <p:nvSpPr>
          <p:cNvPr id="4" name="AutoShape 2" descr="Google Compute Engine icon in Color Style"/>
          <p:cNvSpPr>
            <a:spLocks noChangeAspect="1" noChangeArrowheads="1"/>
          </p:cNvSpPr>
          <p:nvPr/>
        </p:nvSpPr>
        <p:spPr bwMode="auto">
          <a:xfrm>
            <a:off x="155575" y="-144463"/>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IN"/>
          </a:p>
        </p:txBody>
      </p:sp>
    </p:spTree>
    <p:extLst>
      <p:ext uri="{BB962C8B-B14F-4D97-AF65-F5344CB8AC3E}">
        <p14:creationId xmlns:p14="http://schemas.microsoft.com/office/powerpoint/2010/main" val="1445338983"/>
      </p:ext>
    </p:extLst>
  </p:cSld>
  <p:clrMapOvr>
    <a:masterClrMapping/>
  </p:clrMapOvr>
  <p:timing>
    <p:tnLst>
      <p:par>
        <p:cTn id="1" dur="indefinite" restart="never" nodeType="tmRoot"/>
      </p:par>
    </p:tn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dirty="0" smtClean="0"/>
              <a:t>Regions</a:t>
            </a:r>
            <a:endParaRPr lang="en-IN" dirty="0"/>
          </a:p>
        </p:txBody>
      </p:sp>
      <p:sp>
        <p:nvSpPr>
          <p:cNvPr id="3" name="Text Placeholder 2"/>
          <p:cNvSpPr>
            <a:spLocks noGrp="1"/>
          </p:cNvSpPr>
          <p:nvPr>
            <p:ph type="body" sz="quarter" idx="10"/>
          </p:nvPr>
        </p:nvSpPr>
        <p:spPr/>
        <p:txBody>
          <a:bodyPr>
            <a:noAutofit/>
          </a:bodyPr>
          <a:lstStyle/>
          <a:p>
            <a:r>
              <a:rPr lang="en-US" sz="2400" dirty="0"/>
              <a:t>A region is a specific geographical location where you can host your resources. </a:t>
            </a:r>
          </a:p>
          <a:p>
            <a:r>
              <a:rPr lang="en-US" sz="2400" i="1" dirty="0" smtClean="0"/>
              <a:t>Regions</a:t>
            </a:r>
            <a:r>
              <a:rPr lang="en-US" sz="2400" dirty="0"/>
              <a:t> are independent geographic areas that consist of </a:t>
            </a:r>
            <a:r>
              <a:rPr lang="en-US" sz="2400" i="1" dirty="0"/>
              <a:t>zones</a:t>
            </a:r>
            <a:r>
              <a:rPr lang="en-US" sz="2400" dirty="0"/>
              <a:t>. </a:t>
            </a:r>
            <a:endParaRPr lang="en-US" sz="2400" dirty="0" smtClean="0"/>
          </a:p>
          <a:p>
            <a:r>
              <a:rPr lang="en-US" sz="2400" dirty="0" smtClean="0"/>
              <a:t>A </a:t>
            </a:r>
            <a:r>
              <a:rPr lang="en-US" sz="2400" dirty="0"/>
              <a:t>region consists of three or more zones housed in three or more physical data centers. </a:t>
            </a:r>
            <a:endParaRPr lang="en-US" sz="2400" dirty="0" smtClean="0"/>
          </a:p>
        </p:txBody>
      </p:sp>
      <p:sp>
        <p:nvSpPr>
          <p:cNvPr id="4" name="AutoShape 2" descr="Google Compute Engine icon in Color Style"/>
          <p:cNvSpPr>
            <a:spLocks noChangeAspect="1" noChangeArrowheads="1"/>
          </p:cNvSpPr>
          <p:nvPr/>
        </p:nvSpPr>
        <p:spPr bwMode="auto">
          <a:xfrm>
            <a:off x="155575" y="-144463"/>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IN"/>
          </a:p>
        </p:txBody>
      </p:sp>
    </p:spTree>
    <p:extLst>
      <p:ext uri="{BB962C8B-B14F-4D97-AF65-F5344CB8AC3E}">
        <p14:creationId xmlns:p14="http://schemas.microsoft.com/office/powerpoint/2010/main" val="3361060181"/>
      </p:ext>
    </p:extLst>
  </p:cSld>
  <p:clrMapOvr>
    <a:masterClrMapping/>
  </p:clrMapOvr>
  <p:timing>
    <p:tnLst>
      <p:par>
        <p:cTn id="1" dur="indefinite" restart="never" nodeType="tmRoot"/>
      </p:par>
    </p:tn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dirty="0" smtClean="0"/>
              <a:t>Regions</a:t>
            </a:r>
            <a:endParaRPr lang="en-IN" dirty="0"/>
          </a:p>
        </p:txBody>
      </p:sp>
      <p:sp>
        <p:nvSpPr>
          <p:cNvPr id="3" name="Text Placeholder 2"/>
          <p:cNvSpPr>
            <a:spLocks noGrp="1"/>
          </p:cNvSpPr>
          <p:nvPr>
            <p:ph type="body" sz="quarter" idx="10"/>
          </p:nvPr>
        </p:nvSpPr>
        <p:spPr/>
        <p:txBody>
          <a:bodyPr>
            <a:noAutofit/>
          </a:bodyPr>
          <a:lstStyle/>
          <a:p>
            <a:r>
              <a:rPr lang="en-US" sz="2400" dirty="0" smtClean="0"/>
              <a:t>For </a:t>
            </a:r>
            <a:r>
              <a:rPr lang="en-US" sz="2400" dirty="0" err="1" smtClean="0"/>
              <a:t>eg</a:t>
            </a:r>
            <a:r>
              <a:rPr lang="en-US" sz="2400" dirty="0" smtClean="0"/>
              <a:t>-</a:t>
            </a:r>
          </a:p>
          <a:p>
            <a:r>
              <a:rPr lang="en-US" sz="2400" dirty="0"/>
              <a:t>The regions Mexico, Osaka, and Montreal have three zones housed in one or two physical data centers. These regions are in the process of expanding to at least three physical data centers. </a:t>
            </a:r>
            <a:endParaRPr lang="en-US" sz="2400" dirty="0" smtClean="0"/>
          </a:p>
        </p:txBody>
      </p:sp>
      <p:sp>
        <p:nvSpPr>
          <p:cNvPr id="4" name="AutoShape 2" descr="Google Compute Engine icon in Color Style"/>
          <p:cNvSpPr>
            <a:spLocks noChangeAspect="1" noChangeArrowheads="1"/>
          </p:cNvSpPr>
          <p:nvPr/>
        </p:nvSpPr>
        <p:spPr bwMode="auto">
          <a:xfrm>
            <a:off x="155575" y="-144463"/>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IN"/>
          </a:p>
        </p:txBody>
      </p:sp>
    </p:spTree>
    <p:extLst>
      <p:ext uri="{BB962C8B-B14F-4D97-AF65-F5344CB8AC3E}">
        <p14:creationId xmlns:p14="http://schemas.microsoft.com/office/powerpoint/2010/main" val="566068939"/>
      </p:ext>
    </p:extLst>
  </p:cSld>
  <p:clrMapOvr>
    <a:masterClrMapping/>
  </p:clrMapOvr>
  <p:timing>
    <p:tnLst>
      <p:par>
        <p:cTn id="1" dur="indefinite" restart="never" nodeType="tmRoot"/>
      </p:par>
    </p:tn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dirty="0"/>
              <a:t>Google Cloud </a:t>
            </a:r>
            <a:r>
              <a:rPr lang="en-IN" dirty="0" smtClean="0"/>
              <a:t>Regions &amp; Zones</a:t>
            </a:r>
            <a:endParaRPr lang="en-IN" dirty="0"/>
          </a:p>
        </p:txBody>
      </p:sp>
      <p:sp>
        <p:nvSpPr>
          <p:cNvPr id="3" name="Text Placeholder 2"/>
          <p:cNvSpPr>
            <a:spLocks noGrp="1"/>
          </p:cNvSpPr>
          <p:nvPr>
            <p:ph type="body" sz="quarter" idx="10"/>
          </p:nvPr>
        </p:nvSpPr>
        <p:spPr/>
        <p:txBody>
          <a:bodyPr>
            <a:noAutofit/>
          </a:bodyPr>
          <a:lstStyle/>
          <a:p>
            <a:r>
              <a:rPr lang="en-US" sz="2400" dirty="0" smtClean="0"/>
              <a:t>For </a:t>
            </a:r>
            <a:r>
              <a:rPr lang="en-US" sz="2400" dirty="0"/>
              <a:t>example, the us-west1 region denotes a region on the west coast of the United States that has three zones: us-west1-a, us-west1-b, and us-west1-c.</a:t>
            </a:r>
          </a:p>
        </p:txBody>
      </p:sp>
      <p:sp>
        <p:nvSpPr>
          <p:cNvPr id="4" name="AutoShape 2" descr="Google Compute Engine icon in Color Style"/>
          <p:cNvSpPr>
            <a:spLocks noChangeAspect="1" noChangeArrowheads="1"/>
          </p:cNvSpPr>
          <p:nvPr/>
        </p:nvSpPr>
        <p:spPr bwMode="auto">
          <a:xfrm>
            <a:off x="155575" y="-144463"/>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IN"/>
          </a:p>
        </p:txBody>
      </p:sp>
      <p:pic>
        <p:nvPicPr>
          <p:cNvPr id="5"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11560" y="2492896"/>
            <a:ext cx="7512050" cy="41338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829523798"/>
      </p:ext>
    </p:extLst>
  </p:cSld>
  <p:clrMapOvr>
    <a:masterClrMapping/>
  </p:clrMapOvr>
  <p:timing>
    <p:tnLst>
      <p:par>
        <p:cTn id="1" dur="indefinite" restart="never" nodeType="tmRoot"/>
      </p:par>
    </p:tn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dirty="0" smtClean="0"/>
              <a:t>Zones</a:t>
            </a:r>
            <a:endParaRPr lang="en-IN" dirty="0"/>
          </a:p>
        </p:txBody>
      </p:sp>
      <p:sp>
        <p:nvSpPr>
          <p:cNvPr id="3" name="Text Placeholder 2"/>
          <p:cNvSpPr>
            <a:spLocks noGrp="1"/>
          </p:cNvSpPr>
          <p:nvPr>
            <p:ph type="body" sz="quarter" idx="10"/>
          </p:nvPr>
        </p:nvSpPr>
        <p:spPr/>
        <p:txBody>
          <a:bodyPr>
            <a:noAutofit/>
          </a:bodyPr>
          <a:lstStyle/>
          <a:p>
            <a:r>
              <a:rPr lang="en-US" sz="2400" dirty="0"/>
              <a:t>A </a:t>
            </a:r>
            <a:r>
              <a:rPr lang="en-US" sz="2400" i="1" dirty="0"/>
              <a:t>zone</a:t>
            </a:r>
            <a:r>
              <a:rPr lang="en-US" sz="2400" dirty="0"/>
              <a:t> is a deployment area for Google Cloud resources within a region</a:t>
            </a:r>
            <a:r>
              <a:rPr lang="en-US" sz="2400" dirty="0" smtClean="0"/>
              <a:t>.</a:t>
            </a:r>
          </a:p>
          <a:p>
            <a:r>
              <a:rPr lang="en-US" sz="2400" dirty="0" smtClean="0"/>
              <a:t>Zones </a:t>
            </a:r>
            <a:r>
              <a:rPr lang="en-US" sz="2400" dirty="0"/>
              <a:t>should be considered a single failure domain within a region. </a:t>
            </a:r>
            <a:endParaRPr lang="en-US" sz="2400" dirty="0" smtClean="0"/>
          </a:p>
          <a:p>
            <a:r>
              <a:rPr lang="en-US" sz="2400" dirty="0" smtClean="0"/>
              <a:t>To </a:t>
            </a:r>
            <a:r>
              <a:rPr lang="en-US" sz="2400" dirty="0"/>
              <a:t>deploy fault-tolerant applications with high availability and help protect against unexpected failures, </a:t>
            </a:r>
            <a:r>
              <a:rPr lang="en-US" sz="2400" b="1" dirty="0"/>
              <a:t>deploy your applications across multiple zones in a region.</a:t>
            </a:r>
            <a:endParaRPr lang="en-US" sz="2400" b="1" dirty="0" smtClean="0"/>
          </a:p>
        </p:txBody>
      </p:sp>
      <p:sp>
        <p:nvSpPr>
          <p:cNvPr id="4" name="AutoShape 2" descr="Google Compute Engine icon in Color Style"/>
          <p:cNvSpPr>
            <a:spLocks noChangeAspect="1" noChangeArrowheads="1"/>
          </p:cNvSpPr>
          <p:nvPr/>
        </p:nvSpPr>
        <p:spPr bwMode="auto">
          <a:xfrm>
            <a:off x="155575" y="-144463"/>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IN"/>
          </a:p>
        </p:txBody>
      </p:sp>
    </p:spTree>
    <p:extLst>
      <p:ext uri="{BB962C8B-B14F-4D97-AF65-F5344CB8AC3E}">
        <p14:creationId xmlns:p14="http://schemas.microsoft.com/office/powerpoint/2010/main" val="900296529"/>
      </p:ext>
    </p:extLst>
  </p:cSld>
  <p:clrMapOvr>
    <a:masterClrMapping/>
  </p:clrMapOvr>
  <p:timing>
    <p:tnLst>
      <p:par>
        <p:cTn id="1" dur="indefinite" restart="never" nodeType="tmRoot"/>
      </p:par>
    </p:tn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dirty="0" err="1" smtClean="0"/>
              <a:t>Zonal</a:t>
            </a:r>
            <a:r>
              <a:rPr lang="en-IN" dirty="0" smtClean="0"/>
              <a:t> Resources</a:t>
            </a:r>
            <a:endParaRPr lang="en-IN" dirty="0"/>
          </a:p>
        </p:txBody>
      </p:sp>
      <p:sp>
        <p:nvSpPr>
          <p:cNvPr id="3" name="Text Placeholder 2"/>
          <p:cNvSpPr>
            <a:spLocks noGrp="1"/>
          </p:cNvSpPr>
          <p:nvPr>
            <p:ph type="body" sz="quarter" idx="10"/>
          </p:nvPr>
        </p:nvSpPr>
        <p:spPr/>
        <p:txBody>
          <a:bodyPr>
            <a:noAutofit/>
          </a:bodyPr>
          <a:lstStyle/>
          <a:p>
            <a:r>
              <a:rPr lang="en-US" sz="2400" dirty="0"/>
              <a:t>Zonal resources operate within a single zone</a:t>
            </a:r>
            <a:r>
              <a:rPr lang="en-US" sz="2400" dirty="0" smtClean="0"/>
              <a:t>.</a:t>
            </a:r>
          </a:p>
          <a:p>
            <a:r>
              <a:rPr lang="en-US" sz="2400" dirty="0" err="1" smtClean="0"/>
              <a:t>Eg</a:t>
            </a:r>
            <a:r>
              <a:rPr lang="en-US" sz="2400" dirty="0" smtClean="0"/>
              <a:t>- </a:t>
            </a:r>
            <a:r>
              <a:rPr lang="en-US" sz="2400" dirty="0"/>
              <a:t>Compute Engine virtual machine (VM) instance that resides within a specific zone</a:t>
            </a:r>
            <a:r>
              <a:rPr lang="en-US" sz="2400" dirty="0" smtClean="0"/>
              <a:t>.</a:t>
            </a:r>
          </a:p>
          <a:p>
            <a:r>
              <a:rPr lang="en-US" sz="2400" dirty="0"/>
              <a:t>Zonal outages can affect some or all of the resources in that zone. </a:t>
            </a:r>
          </a:p>
          <a:p>
            <a:endParaRPr lang="en-US" sz="2400" b="1" dirty="0" smtClean="0"/>
          </a:p>
        </p:txBody>
      </p:sp>
      <p:sp>
        <p:nvSpPr>
          <p:cNvPr id="4" name="AutoShape 2" descr="Google Compute Engine icon in Color Style"/>
          <p:cNvSpPr>
            <a:spLocks noChangeAspect="1" noChangeArrowheads="1"/>
          </p:cNvSpPr>
          <p:nvPr/>
        </p:nvSpPr>
        <p:spPr bwMode="auto">
          <a:xfrm>
            <a:off x="155575" y="-144463"/>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IN"/>
          </a:p>
        </p:txBody>
      </p:sp>
    </p:spTree>
    <p:extLst>
      <p:ext uri="{BB962C8B-B14F-4D97-AF65-F5344CB8AC3E}">
        <p14:creationId xmlns:p14="http://schemas.microsoft.com/office/powerpoint/2010/main" val="2938133222"/>
      </p:ext>
    </p:extLst>
  </p:cSld>
  <p:clrMapOvr>
    <a:masterClrMapping/>
  </p:clrMapOvr>
  <p:timing>
    <p:tnLst>
      <p:par>
        <p:cTn id="1" dur="indefinite" restart="never" nodeType="tmRoot"/>
      </p:par>
    </p:tn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dirty="0" smtClean="0"/>
              <a:t>Regional resources</a:t>
            </a:r>
            <a:endParaRPr lang="en-IN" dirty="0"/>
          </a:p>
        </p:txBody>
      </p:sp>
      <p:sp>
        <p:nvSpPr>
          <p:cNvPr id="3" name="Text Placeholder 2"/>
          <p:cNvSpPr>
            <a:spLocks noGrp="1"/>
          </p:cNvSpPr>
          <p:nvPr>
            <p:ph type="body" sz="quarter" idx="10"/>
          </p:nvPr>
        </p:nvSpPr>
        <p:spPr/>
        <p:txBody>
          <a:bodyPr>
            <a:noAutofit/>
          </a:bodyPr>
          <a:lstStyle/>
          <a:p>
            <a:r>
              <a:rPr lang="en-US" sz="2400" b="1" dirty="0" smtClean="0"/>
              <a:t>Regional </a:t>
            </a:r>
            <a:r>
              <a:rPr lang="en-US" sz="2400" b="1" dirty="0"/>
              <a:t>resources can be used by any resource in that region, regardless of zone, while zonal resources can only be used by other resources in the same zone.</a:t>
            </a:r>
          </a:p>
          <a:p>
            <a:endParaRPr lang="en-US" sz="2400" dirty="0"/>
          </a:p>
          <a:p>
            <a:r>
              <a:rPr lang="en-US" sz="2400" b="1" dirty="0"/>
              <a:t>For example, to attach a zonal persistent disk to an instance, both resources must be in the same zone. </a:t>
            </a:r>
            <a:endParaRPr lang="en-US" sz="2400" b="1" dirty="0" smtClean="0"/>
          </a:p>
          <a:p>
            <a:r>
              <a:rPr lang="en-US" sz="2400" dirty="0" smtClean="0"/>
              <a:t>Similarly</a:t>
            </a:r>
            <a:r>
              <a:rPr lang="en-US" sz="2400" dirty="0"/>
              <a:t>, </a:t>
            </a:r>
            <a:r>
              <a:rPr lang="en-US" sz="2400" b="1" dirty="0"/>
              <a:t>if you want to assign </a:t>
            </a:r>
            <a:r>
              <a:rPr lang="en-US" sz="2400" b="1" dirty="0" smtClean="0"/>
              <a:t>a region level static </a:t>
            </a:r>
            <a:r>
              <a:rPr lang="en-US" sz="2400" b="1" dirty="0"/>
              <a:t>IP address to an instance, the instance must be in the same region as the static IP </a:t>
            </a:r>
            <a:r>
              <a:rPr lang="en-US" sz="2400" b="1" dirty="0" smtClean="0"/>
              <a:t>address, but can be from any zone.</a:t>
            </a:r>
            <a:endParaRPr lang="en-US" sz="2400" b="1" dirty="0"/>
          </a:p>
        </p:txBody>
      </p:sp>
      <p:sp>
        <p:nvSpPr>
          <p:cNvPr id="4" name="AutoShape 2" descr="Google Compute Engine icon in Color Style"/>
          <p:cNvSpPr>
            <a:spLocks noChangeAspect="1" noChangeArrowheads="1"/>
          </p:cNvSpPr>
          <p:nvPr/>
        </p:nvSpPr>
        <p:spPr bwMode="auto">
          <a:xfrm>
            <a:off x="155575" y="-144463"/>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IN"/>
          </a:p>
        </p:txBody>
      </p:sp>
    </p:spTree>
    <p:extLst>
      <p:ext uri="{BB962C8B-B14F-4D97-AF65-F5344CB8AC3E}">
        <p14:creationId xmlns:p14="http://schemas.microsoft.com/office/powerpoint/2010/main" val="3048844543"/>
      </p:ext>
    </p:extLst>
  </p:cSld>
  <p:clrMapOvr>
    <a:masterClrMapping/>
  </p:clrMapOvr>
  <p:timing>
    <p:tnLst>
      <p:par>
        <p:cTn id="1" dur="indefinite" restart="never" nodeType="tmRoot"/>
      </p:par>
    </p:tn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dirty="0" smtClean="0"/>
              <a:t>Products available by Location</a:t>
            </a:r>
            <a:endParaRPr lang="en-IN" dirty="0"/>
          </a:p>
        </p:txBody>
      </p:sp>
      <p:sp>
        <p:nvSpPr>
          <p:cNvPr id="4" name="AutoShape 2" descr="Google Compute Engine icon in Color Style"/>
          <p:cNvSpPr>
            <a:spLocks noChangeAspect="1" noChangeArrowheads="1"/>
          </p:cNvSpPr>
          <p:nvPr/>
        </p:nvSpPr>
        <p:spPr bwMode="auto">
          <a:xfrm>
            <a:off x="155575" y="-144463"/>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IN"/>
          </a:p>
        </p:txBody>
      </p:sp>
      <p:pic>
        <p:nvPicPr>
          <p:cNvPr id="3074"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60375" y="1299872"/>
            <a:ext cx="7990144" cy="493744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2768449915"/>
      </p:ext>
    </p:extLst>
  </p:cSld>
  <p:clrMapOvr>
    <a:masterClrMapping/>
  </p:clrMapOvr>
  <p:timing>
    <p:tnLst>
      <p:par>
        <p:cTn id="1" dur="indefinite" restart="never" nodeType="tmRoot"/>
      </p:par>
    </p:tn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dirty="0" smtClean="0"/>
              <a:t>Products available by Location</a:t>
            </a:r>
            <a:endParaRPr lang="en-IN" dirty="0"/>
          </a:p>
        </p:txBody>
      </p:sp>
      <p:sp>
        <p:nvSpPr>
          <p:cNvPr id="4" name="AutoShape 2" descr="Google Compute Engine icon in Color Style"/>
          <p:cNvSpPr>
            <a:spLocks noChangeAspect="1" noChangeArrowheads="1"/>
          </p:cNvSpPr>
          <p:nvPr/>
        </p:nvSpPr>
        <p:spPr bwMode="auto">
          <a:xfrm>
            <a:off x="155575" y="-144463"/>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IN"/>
          </a:p>
        </p:txBody>
      </p:sp>
      <p:sp>
        <p:nvSpPr>
          <p:cNvPr id="3" name="Rectangle 2"/>
          <p:cNvSpPr/>
          <p:nvPr/>
        </p:nvSpPr>
        <p:spPr>
          <a:xfrm>
            <a:off x="827584" y="2132856"/>
            <a:ext cx="7416824" cy="369332"/>
          </a:xfrm>
          <a:prstGeom prst="rect">
            <a:avLst/>
          </a:prstGeom>
        </p:spPr>
        <p:txBody>
          <a:bodyPr wrap="square">
            <a:spAutoFit/>
          </a:bodyPr>
          <a:lstStyle/>
          <a:p>
            <a:r>
              <a:rPr lang="fr-FR" dirty="0">
                <a:hlinkClick r:id="rId2"/>
              </a:rPr>
              <a:t>Global Locations - </a:t>
            </a:r>
            <a:r>
              <a:rPr lang="fr-FR" dirty="0" err="1">
                <a:hlinkClick r:id="rId2"/>
              </a:rPr>
              <a:t>Regions</a:t>
            </a:r>
            <a:r>
              <a:rPr lang="fr-FR" dirty="0">
                <a:hlinkClick r:id="rId2"/>
              </a:rPr>
              <a:t> &amp; Zones  |  Google Cloud</a:t>
            </a:r>
            <a:endParaRPr lang="en-IN" dirty="0"/>
          </a:p>
        </p:txBody>
      </p:sp>
    </p:spTree>
    <p:extLst>
      <p:ext uri="{BB962C8B-B14F-4D97-AF65-F5344CB8AC3E}">
        <p14:creationId xmlns:p14="http://schemas.microsoft.com/office/powerpoint/2010/main" val="607551095"/>
      </p:ext>
    </p:extLst>
  </p:cSld>
  <p:clrMapOvr>
    <a:masterClrMapping/>
  </p:clrMapOvr>
  <p:timing>
    <p:tnLst>
      <p:par>
        <p:cTn id="1" dur="indefinite" restart="never" nodeType="tmRoot"/>
      </p:par>
    </p:tnLst>
  </p:timing>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a:xfrm>
            <a:off x="539552" y="3140968"/>
            <a:ext cx="7620000" cy="1143000"/>
          </a:xfrm>
        </p:spPr>
        <p:txBody>
          <a:bodyPr/>
          <a:lstStyle/>
          <a:p>
            <a:r>
              <a:rPr lang="en-IN" dirty="0" smtClean="0">
                <a:solidFill>
                  <a:schemeClr val="accent1"/>
                </a:solidFill>
              </a:rPr>
              <a:t>Creating account on GCP</a:t>
            </a:r>
            <a:endParaRPr lang="en-IN" dirty="0"/>
          </a:p>
        </p:txBody>
      </p:sp>
    </p:spTree>
    <p:extLst>
      <p:ext uri="{BB962C8B-B14F-4D97-AF65-F5344CB8AC3E}">
        <p14:creationId xmlns:p14="http://schemas.microsoft.com/office/powerpoint/2010/main" val="3417147275"/>
      </p:ext>
    </p:extLst>
  </p:cSld>
  <p:clrMapOvr>
    <a:masterClrMapping/>
  </p:clrMapOvr>
  <p:timing>
    <p:tnLst>
      <p:par>
        <p:cTn id="1" dur="indefinite" restart="never" nodeType="tmRoot"/>
      </p:par>
    </p:tnLst>
  </p:timing>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99BA91D9-1F40-4217-AF93-4C964EBD1355}"/>
              </a:ext>
            </a:extLst>
          </p:cNvPr>
          <p:cNvSpPr>
            <a:spLocks noGrp="1"/>
          </p:cNvSpPr>
          <p:nvPr>
            <p:ph type="title"/>
          </p:nvPr>
        </p:nvSpPr>
        <p:spPr/>
        <p:txBody>
          <a:bodyPr/>
          <a:lstStyle/>
          <a:p>
            <a:r>
              <a:rPr lang="en-IN" dirty="0"/>
              <a:t>Creating Free Account</a:t>
            </a:r>
          </a:p>
        </p:txBody>
      </p:sp>
      <p:pic>
        <p:nvPicPr>
          <p:cNvPr id="4" name="Picture 3">
            <a:extLst>
              <a:ext uri="{FF2B5EF4-FFF2-40B4-BE49-F238E27FC236}">
                <a16:creationId xmlns:a16="http://schemas.microsoft.com/office/drawing/2014/main" xmlns="" id="{6625992A-0506-4B6E-8C34-B01A0DBFC0A8}"/>
              </a:ext>
            </a:extLst>
          </p:cNvPr>
          <p:cNvPicPr>
            <a:picLocks noChangeAspect="1"/>
          </p:cNvPicPr>
          <p:nvPr/>
        </p:nvPicPr>
        <p:blipFill>
          <a:blip r:embed="rId2"/>
          <a:stretch>
            <a:fillRect/>
          </a:stretch>
        </p:blipFill>
        <p:spPr>
          <a:xfrm>
            <a:off x="689339" y="1916831"/>
            <a:ext cx="3022624" cy="4313590"/>
          </a:xfrm>
          <a:prstGeom prst="rect">
            <a:avLst/>
          </a:prstGeom>
          <a:ln>
            <a:solidFill>
              <a:schemeClr val="tx1"/>
            </a:solidFill>
          </a:ln>
        </p:spPr>
      </p:pic>
      <p:pic>
        <p:nvPicPr>
          <p:cNvPr id="4098" name="Picture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923928" y="1916831"/>
            <a:ext cx="4592513" cy="20162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3" name="TextBox 2"/>
          <p:cNvSpPr txBox="1"/>
          <p:nvPr/>
        </p:nvSpPr>
        <p:spPr>
          <a:xfrm>
            <a:off x="4211960" y="4509120"/>
            <a:ext cx="3672408" cy="1477328"/>
          </a:xfrm>
          <a:prstGeom prst="rect">
            <a:avLst/>
          </a:prstGeom>
          <a:noFill/>
        </p:spPr>
        <p:txBody>
          <a:bodyPr wrap="square" rtlCol="0">
            <a:spAutoFit/>
          </a:bodyPr>
          <a:lstStyle/>
          <a:p>
            <a:pPr fontAlgn="base"/>
            <a:r>
              <a:rPr lang="en-US" b="1" dirty="0"/>
              <a:t>$300 in free credit</a:t>
            </a:r>
          </a:p>
          <a:p>
            <a:pPr fontAlgn="base"/>
            <a:r>
              <a:rPr lang="en-US" dirty="0"/>
              <a:t>Try Google Cloud with $300 in credit to spend over the next 90 </a:t>
            </a:r>
            <a:r>
              <a:rPr lang="en-US" dirty="0" smtClean="0"/>
              <a:t>days</a:t>
            </a:r>
          </a:p>
          <a:p>
            <a:pPr fontAlgn="base"/>
            <a:endParaRPr lang="en-US" dirty="0"/>
          </a:p>
          <a:p>
            <a:pPr fontAlgn="base"/>
            <a:r>
              <a:rPr lang="en-US" dirty="0" smtClean="0"/>
              <a:t>Signup for GCP</a:t>
            </a:r>
            <a:endParaRPr lang="en-US" dirty="0"/>
          </a:p>
        </p:txBody>
      </p:sp>
    </p:spTree>
    <p:extLst>
      <p:ext uri="{BB962C8B-B14F-4D97-AF65-F5344CB8AC3E}">
        <p14:creationId xmlns:p14="http://schemas.microsoft.com/office/powerpoint/2010/main" val="124031921"/>
      </p:ext>
    </p:extLst>
  </p:cSld>
  <p:clrMapOvr>
    <a:masterClrMapping/>
  </p:clrMapOvr>
  <p:timing>
    <p:tnLst>
      <p:par>
        <p:cTn id="1" dur="indefinite" restart="never" nodeType="tmRoot"/>
      </p:par>
    </p:tnLst>
  </p:timing>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27DBE4B8-2FC7-4B7C-A049-9764FACA5CD5}"/>
              </a:ext>
            </a:extLst>
          </p:cNvPr>
          <p:cNvSpPr>
            <a:spLocks noGrp="1"/>
          </p:cNvSpPr>
          <p:nvPr>
            <p:ph type="title"/>
          </p:nvPr>
        </p:nvSpPr>
        <p:spPr/>
        <p:txBody>
          <a:bodyPr/>
          <a:lstStyle/>
          <a:p>
            <a:r>
              <a:rPr lang="en-IN" dirty="0"/>
              <a:t>GCP Home</a:t>
            </a:r>
          </a:p>
        </p:txBody>
      </p:sp>
      <p:pic>
        <p:nvPicPr>
          <p:cNvPr id="4" name="Picture 3">
            <a:extLst>
              <a:ext uri="{FF2B5EF4-FFF2-40B4-BE49-F238E27FC236}">
                <a16:creationId xmlns:a16="http://schemas.microsoft.com/office/drawing/2014/main" xmlns="" id="{0EF49825-2269-4054-BA2D-7EA44812D2BA}"/>
              </a:ext>
            </a:extLst>
          </p:cNvPr>
          <p:cNvPicPr>
            <a:picLocks noChangeAspect="1"/>
          </p:cNvPicPr>
          <p:nvPr/>
        </p:nvPicPr>
        <p:blipFill>
          <a:blip r:embed="rId3"/>
          <a:stretch>
            <a:fillRect/>
          </a:stretch>
        </p:blipFill>
        <p:spPr>
          <a:xfrm>
            <a:off x="793489" y="1260183"/>
            <a:ext cx="7557025" cy="4953127"/>
          </a:xfrm>
          <a:prstGeom prst="rect">
            <a:avLst/>
          </a:prstGeom>
        </p:spPr>
      </p:pic>
      <p:sp>
        <p:nvSpPr>
          <p:cNvPr id="5" name="Rectangle 4">
            <a:extLst>
              <a:ext uri="{FF2B5EF4-FFF2-40B4-BE49-F238E27FC236}">
                <a16:creationId xmlns:a16="http://schemas.microsoft.com/office/drawing/2014/main" xmlns="" id="{8B618F3A-5BD1-415A-9482-00C9AA265A90}"/>
              </a:ext>
            </a:extLst>
          </p:cNvPr>
          <p:cNvSpPr/>
          <p:nvPr/>
        </p:nvSpPr>
        <p:spPr bwMode="auto">
          <a:xfrm>
            <a:off x="8043624" y="1300247"/>
            <a:ext cx="250120" cy="284807"/>
          </a:xfrm>
          <a:prstGeom prst="rect">
            <a:avLst/>
          </a:prstGeom>
          <a:solidFill>
            <a:srgbClr val="3B78E7"/>
          </a:solidFill>
          <a:ln w="28575" cap="flat" cmpd="sng" algn="ctr">
            <a:noFill/>
            <a:prstDash val="solid"/>
            <a:round/>
            <a:headEnd type="none" w="sm" len="sm"/>
            <a:tailEnd type="none" w="sm" len="sm"/>
          </a:ln>
          <a:effectLst/>
        </p:spPr>
        <p:txBody>
          <a:bodyPr vert="horz" wrap="square" lIns="102413" tIns="51206" rIns="102413" bIns="51206" numCol="1" rtlCol="0" anchor="t" anchorCtr="0" compatLnSpc="1">
            <a:prstTxWarp prst="textNoShape">
              <a:avLst/>
            </a:prstTxWarp>
          </a:bodyPr>
          <a:lstStyle/>
          <a:p>
            <a:pPr algn="ctr">
              <a:spcBef>
                <a:spcPct val="20000"/>
              </a:spcBef>
              <a:buClr>
                <a:srgbClr val="FF0000"/>
              </a:buClr>
            </a:pPr>
            <a:endParaRPr lang="en-IN" sz="2000">
              <a:latin typeface="Arial" pitchFamily="34" charset="0"/>
            </a:endParaRPr>
          </a:p>
        </p:txBody>
      </p:sp>
    </p:spTree>
    <p:extLst>
      <p:ext uri="{BB962C8B-B14F-4D97-AF65-F5344CB8AC3E}">
        <p14:creationId xmlns:p14="http://schemas.microsoft.com/office/powerpoint/2010/main" val="1191093903"/>
      </p:ext>
    </p:extLst>
  </p:cSld>
  <p:clrMapOvr>
    <a:masterClrMapping/>
  </p:clrMapOvr>
  <p:timing>
    <p:tnLst>
      <p:par>
        <p:cTn id="1" dur="indefinite" restart="never" nodeType="tmRoot"/>
      </p:par>
    </p:tnLst>
  </p:timing>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a:xfrm>
            <a:off x="467544" y="2996952"/>
            <a:ext cx="7620000" cy="1143000"/>
          </a:xfrm>
        </p:spPr>
        <p:txBody>
          <a:bodyPr/>
          <a:lstStyle/>
          <a:p>
            <a:r>
              <a:rPr lang="en-IN" dirty="0" smtClean="0">
                <a:solidFill>
                  <a:schemeClr val="accent1"/>
                </a:solidFill>
              </a:rPr>
              <a:t>GCP Services in Depth</a:t>
            </a:r>
            <a:endParaRPr lang="en-IN" dirty="0"/>
          </a:p>
        </p:txBody>
      </p:sp>
    </p:spTree>
    <p:extLst>
      <p:ext uri="{BB962C8B-B14F-4D97-AF65-F5344CB8AC3E}">
        <p14:creationId xmlns:p14="http://schemas.microsoft.com/office/powerpoint/2010/main" val="360405887"/>
      </p:ext>
    </p:extLst>
  </p:cSld>
  <p:clrMapOvr>
    <a:masterClrMapping/>
  </p:clrMapOvr>
  <p:timing>
    <p:tnLst>
      <p:par>
        <p:cTn id="1" dur="indefinite" restart="never" nodeType="tmRoot"/>
      </p:par>
    </p:tnLst>
  </p:timing>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45AE9591-B406-4D03-AB03-5A6482D02BF8}"/>
              </a:ext>
            </a:extLst>
          </p:cNvPr>
          <p:cNvSpPr>
            <a:spLocks noGrp="1"/>
          </p:cNvSpPr>
          <p:nvPr>
            <p:ph type="title"/>
          </p:nvPr>
        </p:nvSpPr>
        <p:spPr/>
        <p:txBody>
          <a:bodyPr/>
          <a:lstStyle/>
          <a:p>
            <a:r>
              <a:rPr lang="en-IN" dirty="0"/>
              <a:t>Google Cloud Platform Services</a:t>
            </a:r>
          </a:p>
        </p:txBody>
      </p:sp>
      <p:grpSp>
        <p:nvGrpSpPr>
          <p:cNvPr id="3" name="Group 2">
            <a:extLst>
              <a:ext uri="{FF2B5EF4-FFF2-40B4-BE49-F238E27FC236}">
                <a16:creationId xmlns:a16="http://schemas.microsoft.com/office/drawing/2014/main" xmlns="" id="{87100F5D-0C6B-49A9-8B89-46878E57091A}"/>
              </a:ext>
            </a:extLst>
          </p:cNvPr>
          <p:cNvGrpSpPr/>
          <p:nvPr/>
        </p:nvGrpSpPr>
        <p:grpSpPr>
          <a:xfrm>
            <a:off x="280490" y="1508788"/>
            <a:ext cx="8529394" cy="4494885"/>
            <a:chOff x="1121958" y="4526362"/>
            <a:chExt cx="34117576" cy="13484656"/>
          </a:xfrm>
        </p:grpSpPr>
        <p:pic>
          <p:nvPicPr>
            <p:cNvPr id="37" name="Picture 36" descr="A close up of a sign&#10;&#10;Description generated with very high confidence">
              <a:extLst>
                <a:ext uri="{FF2B5EF4-FFF2-40B4-BE49-F238E27FC236}">
                  <a16:creationId xmlns:a16="http://schemas.microsoft.com/office/drawing/2014/main" xmlns="" id="{72045A84-744F-439C-AEC5-D792D86182FF}"/>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23313554" y="4526362"/>
              <a:ext cx="4037692" cy="4037692"/>
            </a:xfrm>
            <a:prstGeom prst="rect">
              <a:avLst/>
            </a:prstGeom>
          </p:spPr>
        </p:pic>
        <p:pic>
          <p:nvPicPr>
            <p:cNvPr id="40" name="Picture 39" descr="A close up of a logo&#10;&#10;Description generated with high confidence">
              <a:extLst>
                <a:ext uri="{FF2B5EF4-FFF2-40B4-BE49-F238E27FC236}">
                  <a16:creationId xmlns:a16="http://schemas.microsoft.com/office/drawing/2014/main" xmlns="" id="{9DB706CA-0931-43BF-B9A9-53C6F3665B6F}"/>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2440998" y="12199834"/>
              <a:ext cx="4037692" cy="4037692"/>
            </a:xfrm>
            <a:prstGeom prst="rect">
              <a:avLst/>
            </a:prstGeom>
          </p:spPr>
        </p:pic>
        <p:pic>
          <p:nvPicPr>
            <p:cNvPr id="42" name="Picture 41" descr="A close up of a logo&#10;&#10;Description generated with very high confidence">
              <a:extLst>
                <a:ext uri="{FF2B5EF4-FFF2-40B4-BE49-F238E27FC236}">
                  <a16:creationId xmlns:a16="http://schemas.microsoft.com/office/drawing/2014/main" xmlns="" id="{B5E315B1-C2C0-4D0F-80E5-AF51D0E0F3A0}"/>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9354194" y="12181874"/>
              <a:ext cx="4037692" cy="4037692"/>
            </a:xfrm>
            <a:prstGeom prst="rect">
              <a:avLst/>
            </a:prstGeom>
          </p:spPr>
        </p:pic>
        <p:pic>
          <p:nvPicPr>
            <p:cNvPr id="44" name="Picture 43">
              <a:extLst>
                <a:ext uri="{FF2B5EF4-FFF2-40B4-BE49-F238E27FC236}">
                  <a16:creationId xmlns:a16="http://schemas.microsoft.com/office/drawing/2014/main" xmlns="" id="{9C3EDDA4-403B-43AE-9726-BDA21F5FA273}"/>
                </a:ext>
              </a:extLst>
            </p:cNvPr>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a:xfrm>
              <a:off x="16267394" y="12181878"/>
              <a:ext cx="4037692" cy="4037692"/>
            </a:xfrm>
            <a:prstGeom prst="rect">
              <a:avLst/>
            </a:prstGeom>
          </p:spPr>
        </p:pic>
        <p:pic>
          <p:nvPicPr>
            <p:cNvPr id="46" name="Picture 45" descr="A close up of a logo&#10;&#10;Description generated with very high confidence">
              <a:extLst>
                <a:ext uri="{FF2B5EF4-FFF2-40B4-BE49-F238E27FC236}">
                  <a16:creationId xmlns:a16="http://schemas.microsoft.com/office/drawing/2014/main" xmlns="" id="{9EF4D4AA-D873-4490-BFD4-15B5B9665CAB}"/>
                </a:ext>
              </a:extLst>
            </p:cNvPr>
            <p:cNvPicPr>
              <a:picLocks noChangeAspect="1"/>
            </p:cNvPicPr>
            <p:nvPr/>
          </p:nvPicPr>
          <p:blipFill>
            <a:blip r:embed="rId6" cstate="print">
              <a:extLst>
                <a:ext uri="{28A0092B-C50C-407E-A947-70E740481C1C}">
                  <a14:useLocalDpi xmlns:a14="http://schemas.microsoft.com/office/drawing/2010/main" val="0"/>
                </a:ext>
              </a:extLst>
            </a:blip>
            <a:stretch>
              <a:fillRect/>
            </a:stretch>
          </p:blipFill>
          <p:spPr>
            <a:xfrm>
              <a:off x="23411506" y="12181874"/>
              <a:ext cx="4037692" cy="4037692"/>
            </a:xfrm>
            <a:prstGeom prst="rect">
              <a:avLst/>
            </a:prstGeom>
          </p:spPr>
        </p:pic>
        <p:pic>
          <p:nvPicPr>
            <p:cNvPr id="50" name="Picture 49" descr="A close up of a logo&#10;&#10;Description generated with very high confidence">
              <a:extLst>
                <a:ext uri="{FF2B5EF4-FFF2-40B4-BE49-F238E27FC236}">
                  <a16:creationId xmlns:a16="http://schemas.microsoft.com/office/drawing/2014/main" xmlns="" id="{06AEFADD-57CB-4ED8-86F0-FE0D26432E4A}"/>
                </a:ext>
              </a:extLst>
            </p:cNvPr>
            <p:cNvPicPr>
              <a:picLocks noChangeAspect="1"/>
            </p:cNvPicPr>
            <p:nvPr/>
          </p:nvPicPr>
          <p:blipFill>
            <a:blip r:embed="rId7" cstate="print">
              <a:extLst>
                <a:ext uri="{28A0092B-C50C-407E-A947-70E740481C1C}">
                  <a14:useLocalDpi xmlns:a14="http://schemas.microsoft.com/office/drawing/2010/main" val="0"/>
                </a:ext>
              </a:extLst>
            </a:blip>
            <a:stretch>
              <a:fillRect/>
            </a:stretch>
          </p:blipFill>
          <p:spPr>
            <a:xfrm>
              <a:off x="30380102" y="12181874"/>
              <a:ext cx="4037692" cy="4037692"/>
            </a:xfrm>
            <a:prstGeom prst="rect">
              <a:avLst/>
            </a:prstGeom>
          </p:spPr>
        </p:pic>
        <p:pic>
          <p:nvPicPr>
            <p:cNvPr id="58" name="Picture 57">
              <a:extLst>
                <a:ext uri="{FF2B5EF4-FFF2-40B4-BE49-F238E27FC236}">
                  <a16:creationId xmlns:a16="http://schemas.microsoft.com/office/drawing/2014/main" xmlns="" id="{FA04C064-B1DE-4051-9C53-7E9832176EC6}"/>
                </a:ext>
              </a:extLst>
            </p:cNvPr>
            <p:cNvPicPr>
              <a:picLocks noChangeAspect="1"/>
            </p:cNvPicPr>
            <p:nvPr/>
          </p:nvPicPr>
          <p:blipFill>
            <a:blip r:embed="rId8" cstate="print">
              <a:extLst>
                <a:ext uri="{28A0092B-C50C-407E-A947-70E740481C1C}">
                  <a14:useLocalDpi xmlns:a14="http://schemas.microsoft.com/office/drawing/2010/main" val="0"/>
                </a:ext>
              </a:extLst>
            </a:blip>
            <a:stretch>
              <a:fillRect/>
            </a:stretch>
          </p:blipFill>
          <p:spPr>
            <a:xfrm>
              <a:off x="30361486" y="4723514"/>
              <a:ext cx="4053460" cy="3643380"/>
            </a:xfrm>
            <a:prstGeom prst="rect">
              <a:avLst/>
            </a:prstGeom>
          </p:spPr>
        </p:pic>
        <p:pic>
          <p:nvPicPr>
            <p:cNvPr id="59" name="Picture 58" descr="A close up of a logo&#10;&#10;Description generated with very high confidence">
              <a:extLst>
                <a:ext uri="{FF2B5EF4-FFF2-40B4-BE49-F238E27FC236}">
                  <a16:creationId xmlns:a16="http://schemas.microsoft.com/office/drawing/2014/main" xmlns="" id="{39F4FD17-DCDB-4F08-B471-23EA7D596901}"/>
                </a:ext>
              </a:extLst>
            </p:cNvPr>
            <p:cNvPicPr>
              <a:picLocks noChangeAspect="1"/>
            </p:cNvPicPr>
            <p:nvPr/>
          </p:nvPicPr>
          <p:blipFill>
            <a:blip r:embed="rId9" cstate="print">
              <a:extLst>
                <a:ext uri="{28A0092B-C50C-407E-A947-70E740481C1C}">
                  <a14:useLocalDpi xmlns:a14="http://schemas.microsoft.com/office/drawing/2010/main" val="0"/>
                </a:ext>
              </a:extLst>
            </a:blip>
            <a:stretch>
              <a:fillRect/>
            </a:stretch>
          </p:blipFill>
          <p:spPr>
            <a:xfrm>
              <a:off x="2440994" y="4526366"/>
              <a:ext cx="4037692" cy="4037692"/>
            </a:xfrm>
            <a:prstGeom prst="rect">
              <a:avLst/>
            </a:prstGeom>
          </p:spPr>
        </p:pic>
        <p:pic>
          <p:nvPicPr>
            <p:cNvPr id="60" name="Picture 59" descr="A close up of a logo&#10;&#10;Description generated with high confidence">
              <a:extLst>
                <a:ext uri="{FF2B5EF4-FFF2-40B4-BE49-F238E27FC236}">
                  <a16:creationId xmlns:a16="http://schemas.microsoft.com/office/drawing/2014/main" xmlns="" id="{5F239741-F06F-4EC3-A845-232EDF664234}"/>
                </a:ext>
              </a:extLst>
            </p:cNvPr>
            <p:cNvPicPr>
              <a:picLocks noChangeAspect="1"/>
            </p:cNvPicPr>
            <p:nvPr/>
          </p:nvPicPr>
          <p:blipFill>
            <a:blip r:embed="rId10" cstate="print">
              <a:extLst>
                <a:ext uri="{28A0092B-C50C-407E-A947-70E740481C1C}">
                  <a14:useLocalDpi xmlns:a14="http://schemas.microsoft.com/office/drawing/2010/main" val="0"/>
                </a:ext>
              </a:extLst>
            </a:blip>
            <a:stretch>
              <a:fillRect/>
            </a:stretch>
          </p:blipFill>
          <p:spPr>
            <a:xfrm>
              <a:off x="9354190" y="4526362"/>
              <a:ext cx="4037692" cy="4037692"/>
            </a:xfrm>
            <a:prstGeom prst="rect">
              <a:avLst/>
            </a:prstGeom>
          </p:spPr>
        </p:pic>
        <p:pic>
          <p:nvPicPr>
            <p:cNvPr id="61" name="Picture 60" descr="A close up of a sign&#10;&#10;Description generated with high confidence">
              <a:extLst>
                <a:ext uri="{FF2B5EF4-FFF2-40B4-BE49-F238E27FC236}">
                  <a16:creationId xmlns:a16="http://schemas.microsoft.com/office/drawing/2014/main" xmlns="" id="{1491FA82-C8D8-47FB-A8F4-4379453CF1E0}"/>
                </a:ext>
              </a:extLst>
            </p:cNvPr>
            <p:cNvPicPr>
              <a:picLocks noChangeAspect="1"/>
            </p:cNvPicPr>
            <p:nvPr/>
          </p:nvPicPr>
          <p:blipFill>
            <a:blip r:embed="rId11" cstate="print">
              <a:extLst>
                <a:ext uri="{28A0092B-C50C-407E-A947-70E740481C1C}">
                  <a14:useLocalDpi xmlns:a14="http://schemas.microsoft.com/office/drawing/2010/main" val="0"/>
                </a:ext>
              </a:extLst>
            </a:blip>
            <a:stretch>
              <a:fillRect/>
            </a:stretch>
          </p:blipFill>
          <p:spPr>
            <a:xfrm>
              <a:off x="16265622" y="4526362"/>
              <a:ext cx="4037692" cy="4037692"/>
            </a:xfrm>
            <a:prstGeom prst="rect">
              <a:avLst/>
            </a:prstGeom>
          </p:spPr>
        </p:pic>
        <p:sp>
          <p:nvSpPr>
            <p:cNvPr id="63" name="TextBox 62">
              <a:extLst>
                <a:ext uri="{FF2B5EF4-FFF2-40B4-BE49-F238E27FC236}">
                  <a16:creationId xmlns:a16="http://schemas.microsoft.com/office/drawing/2014/main" xmlns="" id="{67D72447-07A1-4778-BA00-3292FACF62C0}"/>
                </a:ext>
              </a:extLst>
            </p:cNvPr>
            <p:cNvSpPr txBox="1"/>
            <p:nvPr/>
          </p:nvSpPr>
          <p:spPr>
            <a:xfrm>
              <a:off x="1870174" y="8718229"/>
              <a:ext cx="4317856" cy="1015662"/>
            </a:xfrm>
            <a:prstGeom prst="rect">
              <a:avLst/>
            </a:prstGeom>
            <a:noFill/>
          </p:spPr>
          <p:txBody>
            <a:bodyPr wrap="square" rtlCol="0">
              <a:spAutoFit/>
            </a:bodyPr>
            <a:lstStyle/>
            <a:p>
              <a:r>
                <a:rPr lang="en-IN" sz="1600" b="1" dirty="0"/>
                <a:t>Compute</a:t>
              </a:r>
            </a:p>
          </p:txBody>
        </p:sp>
        <p:sp>
          <p:nvSpPr>
            <p:cNvPr id="64" name="TextBox 63">
              <a:extLst>
                <a:ext uri="{FF2B5EF4-FFF2-40B4-BE49-F238E27FC236}">
                  <a16:creationId xmlns:a16="http://schemas.microsoft.com/office/drawing/2014/main" xmlns="" id="{6CCDFC30-9736-4797-A37F-FEE3CE7D2E58}"/>
                </a:ext>
              </a:extLst>
            </p:cNvPr>
            <p:cNvSpPr txBox="1"/>
            <p:nvPr/>
          </p:nvSpPr>
          <p:spPr>
            <a:xfrm>
              <a:off x="7968926" y="8718229"/>
              <a:ext cx="6808216" cy="1754325"/>
            </a:xfrm>
            <a:prstGeom prst="rect">
              <a:avLst/>
            </a:prstGeom>
            <a:noFill/>
          </p:spPr>
          <p:txBody>
            <a:bodyPr wrap="square" rtlCol="0">
              <a:spAutoFit/>
            </a:bodyPr>
            <a:lstStyle/>
            <a:p>
              <a:pPr algn="ctr"/>
              <a:r>
                <a:rPr lang="en-IN" sz="1600" b="1" dirty="0"/>
                <a:t>Storage &amp; Database</a:t>
              </a:r>
            </a:p>
          </p:txBody>
        </p:sp>
        <p:sp>
          <p:nvSpPr>
            <p:cNvPr id="65" name="TextBox 64">
              <a:extLst>
                <a:ext uri="{FF2B5EF4-FFF2-40B4-BE49-F238E27FC236}">
                  <a16:creationId xmlns:a16="http://schemas.microsoft.com/office/drawing/2014/main" xmlns="" id="{F75F319A-4BEE-4328-8D9E-25E04E8B2041}"/>
                </a:ext>
              </a:extLst>
            </p:cNvPr>
            <p:cNvSpPr txBox="1"/>
            <p:nvPr/>
          </p:nvSpPr>
          <p:spPr>
            <a:xfrm>
              <a:off x="16124926" y="8718229"/>
              <a:ext cx="5043388" cy="1015662"/>
            </a:xfrm>
            <a:prstGeom prst="rect">
              <a:avLst/>
            </a:prstGeom>
            <a:noFill/>
          </p:spPr>
          <p:txBody>
            <a:bodyPr wrap="square" rtlCol="0">
              <a:spAutoFit/>
            </a:bodyPr>
            <a:lstStyle/>
            <a:p>
              <a:r>
                <a:rPr lang="en-IN" sz="1600" b="1" dirty="0"/>
                <a:t>Networking</a:t>
              </a:r>
            </a:p>
          </p:txBody>
        </p:sp>
        <p:sp>
          <p:nvSpPr>
            <p:cNvPr id="66" name="TextBox 65">
              <a:extLst>
                <a:ext uri="{FF2B5EF4-FFF2-40B4-BE49-F238E27FC236}">
                  <a16:creationId xmlns:a16="http://schemas.microsoft.com/office/drawing/2014/main" xmlns="" id="{3AD7C501-B4E3-4F84-9B2E-4261935B53DB}"/>
                </a:ext>
              </a:extLst>
            </p:cNvPr>
            <p:cNvSpPr txBox="1"/>
            <p:nvPr/>
          </p:nvSpPr>
          <p:spPr>
            <a:xfrm>
              <a:off x="23598362" y="8718229"/>
              <a:ext cx="3468068" cy="1754325"/>
            </a:xfrm>
            <a:prstGeom prst="rect">
              <a:avLst/>
            </a:prstGeom>
            <a:noFill/>
          </p:spPr>
          <p:txBody>
            <a:bodyPr wrap="square" rtlCol="0">
              <a:spAutoFit/>
            </a:bodyPr>
            <a:lstStyle/>
            <a:p>
              <a:r>
                <a:rPr lang="en-IN" sz="1600" b="1" dirty="0"/>
                <a:t>Big Data</a:t>
              </a:r>
            </a:p>
          </p:txBody>
        </p:sp>
        <p:sp>
          <p:nvSpPr>
            <p:cNvPr id="67" name="TextBox 66">
              <a:extLst>
                <a:ext uri="{FF2B5EF4-FFF2-40B4-BE49-F238E27FC236}">
                  <a16:creationId xmlns:a16="http://schemas.microsoft.com/office/drawing/2014/main" xmlns="" id="{6E52039B-2ECC-4070-8EF7-A3CDA2ACB718}"/>
                </a:ext>
              </a:extLst>
            </p:cNvPr>
            <p:cNvSpPr txBox="1"/>
            <p:nvPr/>
          </p:nvSpPr>
          <p:spPr>
            <a:xfrm>
              <a:off x="29536890" y="8718229"/>
              <a:ext cx="5702644" cy="1754325"/>
            </a:xfrm>
            <a:prstGeom prst="rect">
              <a:avLst/>
            </a:prstGeom>
            <a:noFill/>
          </p:spPr>
          <p:txBody>
            <a:bodyPr wrap="square" rtlCol="0">
              <a:spAutoFit/>
            </a:bodyPr>
            <a:lstStyle/>
            <a:p>
              <a:pPr algn="ctr"/>
              <a:r>
                <a:rPr lang="en-IN" sz="1600" b="1" dirty="0"/>
                <a:t>Developer Tools</a:t>
              </a:r>
            </a:p>
          </p:txBody>
        </p:sp>
        <p:sp>
          <p:nvSpPr>
            <p:cNvPr id="68" name="TextBox 67">
              <a:extLst>
                <a:ext uri="{FF2B5EF4-FFF2-40B4-BE49-F238E27FC236}">
                  <a16:creationId xmlns:a16="http://schemas.microsoft.com/office/drawing/2014/main" xmlns="" id="{A59B7B2F-F4CA-4315-A733-03F87B03AF23}"/>
                </a:ext>
              </a:extLst>
            </p:cNvPr>
            <p:cNvSpPr txBox="1"/>
            <p:nvPr/>
          </p:nvSpPr>
          <p:spPr>
            <a:xfrm>
              <a:off x="1121958" y="16217831"/>
              <a:ext cx="6675756" cy="1754325"/>
            </a:xfrm>
            <a:prstGeom prst="rect">
              <a:avLst/>
            </a:prstGeom>
            <a:noFill/>
          </p:spPr>
          <p:txBody>
            <a:bodyPr wrap="square" rtlCol="0">
              <a:spAutoFit/>
            </a:bodyPr>
            <a:lstStyle/>
            <a:p>
              <a:pPr algn="ctr"/>
              <a:r>
                <a:rPr lang="en-IN" sz="1600" b="1" dirty="0"/>
                <a:t>Identity &amp; Security</a:t>
              </a:r>
            </a:p>
          </p:txBody>
        </p:sp>
        <p:sp>
          <p:nvSpPr>
            <p:cNvPr id="69" name="TextBox 68">
              <a:extLst>
                <a:ext uri="{FF2B5EF4-FFF2-40B4-BE49-F238E27FC236}">
                  <a16:creationId xmlns:a16="http://schemas.microsoft.com/office/drawing/2014/main" xmlns="" id="{D263B071-D2EF-4127-81EA-436E3F57F94B}"/>
                </a:ext>
              </a:extLst>
            </p:cNvPr>
            <p:cNvSpPr txBox="1"/>
            <p:nvPr/>
          </p:nvSpPr>
          <p:spPr>
            <a:xfrm>
              <a:off x="8355466" y="16218986"/>
              <a:ext cx="6037328" cy="1754325"/>
            </a:xfrm>
            <a:prstGeom prst="rect">
              <a:avLst/>
            </a:prstGeom>
            <a:noFill/>
          </p:spPr>
          <p:txBody>
            <a:bodyPr wrap="square" rtlCol="0">
              <a:spAutoFit/>
            </a:bodyPr>
            <a:lstStyle/>
            <a:p>
              <a:pPr algn="ctr"/>
              <a:r>
                <a:rPr lang="en-IN" sz="1600" b="1" dirty="0"/>
                <a:t>Internet of Things</a:t>
              </a:r>
            </a:p>
          </p:txBody>
        </p:sp>
        <p:sp>
          <p:nvSpPr>
            <p:cNvPr id="70" name="TextBox 69">
              <a:extLst>
                <a:ext uri="{FF2B5EF4-FFF2-40B4-BE49-F238E27FC236}">
                  <a16:creationId xmlns:a16="http://schemas.microsoft.com/office/drawing/2014/main" xmlns="" id="{57CED610-7537-45D4-B350-5A3168ADD114}"/>
                </a:ext>
              </a:extLst>
            </p:cNvPr>
            <p:cNvSpPr txBox="1"/>
            <p:nvPr/>
          </p:nvSpPr>
          <p:spPr>
            <a:xfrm>
              <a:off x="16383454" y="16219565"/>
              <a:ext cx="3802024" cy="1015662"/>
            </a:xfrm>
            <a:prstGeom prst="rect">
              <a:avLst/>
            </a:prstGeom>
            <a:noFill/>
          </p:spPr>
          <p:txBody>
            <a:bodyPr wrap="square" rtlCol="0">
              <a:spAutoFit/>
            </a:bodyPr>
            <a:lstStyle/>
            <a:p>
              <a:pPr algn="ctr"/>
              <a:r>
                <a:rPr lang="en-IN" sz="1600" b="1" dirty="0"/>
                <a:t>Cloud AI</a:t>
              </a:r>
            </a:p>
          </p:txBody>
        </p:sp>
        <p:sp>
          <p:nvSpPr>
            <p:cNvPr id="71" name="TextBox 70">
              <a:extLst>
                <a:ext uri="{FF2B5EF4-FFF2-40B4-BE49-F238E27FC236}">
                  <a16:creationId xmlns:a16="http://schemas.microsoft.com/office/drawing/2014/main" xmlns="" id="{626BB5B3-E340-4143-B324-939883C39176}"/>
                </a:ext>
              </a:extLst>
            </p:cNvPr>
            <p:cNvSpPr txBox="1"/>
            <p:nvPr/>
          </p:nvSpPr>
          <p:spPr>
            <a:xfrm>
              <a:off x="21923434" y="16256693"/>
              <a:ext cx="7013828" cy="1754325"/>
            </a:xfrm>
            <a:prstGeom prst="rect">
              <a:avLst/>
            </a:prstGeom>
            <a:noFill/>
          </p:spPr>
          <p:txBody>
            <a:bodyPr wrap="square" rtlCol="0">
              <a:spAutoFit/>
            </a:bodyPr>
            <a:lstStyle/>
            <a:p>
              <a:pPr algn="ctr"/>
              <a:r>
                <a:rPr lang="en-IN" sz="1600" b="1" dirty="0"/>
                <a:t>Management Tools</a:t>
              </a:r>
            </a:p>
          </p:txBody>
        </p:sp>
        <p:sp>
          <p:nvSpPr>
            <p:cNvPr id="72" name="TextBox 71">
              <a:extLst>
                <a:ext uri="{FF2B5EF4-FFF2-40B4-BE49-F238E27FC236}">
                  <a16:creationId xmlns:a16="http://schemas.microsoft.com/office/drawing/2014/main" xmlns="" id="{9915296E-179D-41DF-9C34-D2ECD754A493}"/>
                </a:ext>
              </a:extLst>
            </p:cNvPr>
            <p:cNvSpPr txBox="1"/>
            <p:nvPr/>
          </p:nvSpPr>
          <p:spPr>
            <a:xfrm>
              <a:off x="29924438" y="16256693"/>
              <a:ext cx="4927540" cy="1754325"/>
            </a:xfrm>
            <a:prstGeom prst="rect">
              <a:avLst/>
            </a:prstGeom>
            <a:noFill/>
          </p:spPr>
          <p:txBody>
            <a:bodyPr wrap="square" rtlCol="0">
              <a:spAutoFit/>
            </a:bodyPr>
            <a:lstStyle/>
            <a:p>
              <a:pPr algn="ctr"/>
              <a:r>
                <a:rPr lang="en-IN" sz="1600" b="1" dirty="0"/>
                <a:t>Data Transfer</a:t>
              </a:r>
            </a:p>
          </p:txBody>
        </p:sp>
      </p:grpSp>
    </p:spTree>
    <p:extLst>
      <p:ext uri="{BB962C8B-B14F-4D97-AF65-F5344CB8AC3E}">
        <p14:creationId xmlns:p14="http://schemas.microsoft.com/office/powerpoint/2010/main" val="732128256"/>
      </p:ext>
    </p:extLst>
  </p:cSld>
  <p:clrMapOvr>
    <a:masterClrMapping/>
  </p:clrMapOvr>
  <p:timing>
    <p:tnLst>
      <p:par>
        <p:cTn id="1" dur="indefinite" restart="never" nodeType="tmRoot"/>
      </p:par>
    </p:tnLst>
  </p:timing>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dirty="0"/>
              <a:t>Google Cloud Platform Services</a:t>
            </a:r>
          </a:p>
        </p:txBody>
      </p:sp>
      <p:pic>
        <p:nvPicPr>
          <p:cNvPr id="1026" name="Picture 2"/>
          <p:cNvPicPr>
            <a:picLocks noChangeAspect="1" noChangeArrowheads="1"/>
          </p:cNvPicPr>
          <p:nvPr/>
        </p:nvPicPr>
        <p:blipFill rotWithShape="1">
          <a:blip r:embed="rId2">
            <a:extLst>
              <a:ext uri="{28A0092B-C50C-407E-A947-70E740481C1C}">
                <a14:useLocalDpi xmlns:a14="http://schemas.microsoft.com/office/drawing/2010/main" val="0"/>
              </a:ext>
            </a:extLst>
          </a:blip>
          <a:srcRect t="5593"/>
          <a:stretch/>
        </p:blipFill>
        <p:spPr bwMode="auto">
          <a:xfrm>
            <a:off x="418847" y="1556792"/>
            <a:ext cx="8257609" cy="352839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2216836540"/>
      </p:ext>
    </p:extLst>
  </p:cSld>
  <p:clrMapOvr>
    <a:masterClrMapping/>
  </p:clrMapOvr>
  <p:timing>
    <p:tnLst>
      <p:par>
        <p:cTn id="1" dur="indefinite" restart="never" nodeType="tmRoot"/>
      </p:par>
    </p:tnLst>
  </p:timing>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dirty="0"/>
              <a:t>Google Cloud Platform Services</a:t>
            </a:r>
          </a:p>
        </p:txBody>
      </p:sp>
      <p:pic>
        <p:nvPicPr>
          <p:cNvPr id="2050"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01938" y="1700808"/>
            <a:ext cx="8613930" cy="331236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1869639619"/>
      </p:ext>
    </p:extLst>
  </p:cSld>
  <p:clrMapOvr>
    <a:masterClrMapping/>
  </p:clrMapOvr>
  <p:timing>
    <p:tnLst>
      <p:par>
        <p:cTn id="1" dur="indefinite" restart="never" nodeType="tmRoot"/>
      </p:par>
    </p:tnLst>
  </p:timing>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B48F8134-B7C9-4EE3-8A3A-B745CA75B4BF}"/>
              </a:ext>
            </a:extLst>
          </p:cNvPr>
          <p:cNvSpPr>
            <a:spLocks noGrp="1"/>
          </p:cNvSpPr>
          <p:nvPr>
            <p:ph type="title"/>
          </p:nvPr>
        </p:nvSpPr>
        <p:spPr/>
        <p:txBody>
          <a:bodyPr/>
          <a:lstStyle/>
          <a:p>
            <a:r>
              <a:rPr lang="en-IN" dirty="0"/>
              <a:t>Compute</a:t>
            </a:r>
          </a:p>
        </p:txBody>
      </p:sp>
      <p:pic>
        <p:nvPicPr>
          <p:cNvPr id="2050" name="Picture 2"/>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1" y="1916832"/>
            <a:ext cx="8820472" cy="4752528"/>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extLst>
      <p:ext uri="{BB962C8B-B14F-4D97-AF65-F5344CB8AC3E}">
        <p14:creationId xmlns:p14="http://schemas.microsoft.com/office/powerpoint/2010/main" val="3718721764"/>
      </p:ext>
    </p:extLst>
  </p:cSld>
  <p:clrMapOvr>
    <a:masterClrMapping/>
  </p:clrMapOvr>
  <p:timing>
    <p:tnLst>
      <p:par>
        <p:cTn id="1" dur="indefinite" restart="never" nodeType="tmRoot"/>
      </p:par>
    </p:tnLst>
  </p:timing>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dirty="0"/>
              <a:t>Google Cloud Platform Services</a:t>
            </a:r>
          </a:p>
        </p:txBody>
      </p:sp>
      <p:sp>
        <p:nvSpPr>
          <p:cNvPr id="3" name="Text Placeholder 2"/>
          <p:cNvSpPr>
            <a:spLocks noGrp="1"/>
          </p:cNvSpPr>
          <p:nvPr>
            <p:ph type="body" sz="quarter" idx="10"/>
          </p:nvPr>
        </p:nvSpPr>
        <p:spPr/>
        <p:txBody>
          <a:bodyPr>
            <a:noAutofit/>
          </a:bodyPr>
          <a:lstStyle/>
          <a:p>
            <a:pPr marL="0" indent="0">
              <a:buNone/>
            </a:pPr>
            <a:r>
              <a:rPr lang="en-IN" sz="2400" b="1" dirty="0"/>
              <a:t>Compute </a:t>
            </a:r>
            <a:r>
              <a:rPr lang="en-IN" sz="2400" b="1" dirty="0" smtClean="0"/>
              <a:t>Engine</a:t>
            </a:r>
          </a:p>
          <a:p>
            <a:r>
              <a:rPr lang="en-US" sz="2400" dirty="0" smtClean="0"/>
              <a:t>Secure </a:t>
            </a:r>
            <a:r>
              <a:rPr lang="en-US" sz="2400" dirty="0"/>
              <a:t>and customizable compute service that </a:t>
            </a:r>
            <a:r>
              <a:rPr lang="en-US" sz="2400" b="1" dirty="0"/>
              <a:t>lets you create and run virtual machines on Google’s infrastructure</a:t>
            </a:r>
            <a:r>
              <a:rPr lang="en-US" sz="2400" b="1" dirty="0" smtClean="0"/>
              <a:t>.</a:t>
            </a:r>
          </a:p>
          <a:p>
            <a:endParaRPr lang="en-US" sz="2400" b="1" dirty="0"/>
          </a:p>
          <a:p>
            <a:r>
              <a:rPr lang="en-US" sz="2400" b="1" dirty="0"/>
              <a:t>Virtual machines for any workload</a:t>
            </a:r>
          </a:p>
          <a:p>
            <a:pPr lvl="1"/>
            <a:r>
              <a:rPr lang="en-US" sz="2400" dirty="0" smtClean="0"/>
              <a:t>Easily </a:t>
            </a:r>
            <a:r>
              <a:rPr lang="en-US" sz="2400" dirty="0"/>
              <a:t>create and run online VMs on high-performance, reliable cloud infrastructure. </a:t>
            </a:r>
          </a:p>
          <a:p>
            <a:endParaRPr lang="en-US" sz="2400" dirty="0" smtClean="0"/>
          </a:p>
        </p:txBody>
      </p:sp>
      <p:sp>
        <p:nvSpPr>
          <p:cNvPr id="4" name="AutoShape 2" descr="Google Compute Engine icon in Color Style"/>
          <p:cNvSpPr>
            <a:spLocks noChangeAspect="1" noChangeArrowheads="1"/>
          </p:cNvSpPr>
          <p:nvPr/>
        </p:nvSpPr>
        <p:spPr bwMode="auto">
          <a:xfrm>
            <a:off x="155575" y="-144463"/>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IN"/>
          </a:p>
        </p:txBody>
      </p:sp>
      <p:pic>
        <p:nvPicPr>
          <p:cNvPr id="3075" name="Picture 3"/>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444653" y="4005064"/>
            <a:ext cx="2143125" cy="21431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1431138216"/>
      </p:ext>
    </p:extLst>
  </p:cSld>
  <p:clrMapOvr>
    <a:masterClrMapping/>
  </p:clrMapOvr>
  <p:timing>
    <p:tnLst>
      <p:par>
        <p:cTn id="1" dur="indefinite" restart="never" nodeType="tmRoot"/>
      </p:par>
    </p:tnLst>
  </p:timing>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dirty="0"/>
              <a:t>Google Cloud Platform Services</a:t>
            </a:r>
          </a:p>
        </p:txBody>
      </p:sp>
      <p:sp>
        <p:nvSpPr>
          <p:cNvPr id="3" name="Text Placeholder 2"/>
          <p:cNvSpPr>
            <a:spLocks noGrp="1"/>
          </p:cNvSpPr>
          <p:nvPr>
            <p:ph type="body" sz="quarter" idx="10"/>
          </p:nvPr>
        </p:nvSpPr>
        <p:spPr/>
        <p:txBody>
          <a:bodyPr>
            <a:noAutofit/>
          </a:bodyPr>
          <a:lstStyle/>
          <a:p>
            <a:pPr marL="0" indent="0">
              <a:buNone/>
            </a:pPr>
            <a:r>
              <a:rPr lang="en-IN" sz="2400" b="1" dirty="0"/>
              <a:t>Compute </a:t>
            </a:r>
            <a:r>
              <a:rPr lang="en-IN" sz="2400" b="1" dirty="0" smtClean="0"/>
              <a:t>Engine</a:t>
            </a:r>
          </a:p>
          <a:p>
            <a:r>
              <a:rPr lang="en-US" sz="2400" dirty="0" smtClean="0"/>
              <a:t>New </a:t>
            </a:r>
            <a:r>
              <a:rPr lang="en-US" sz="2400" dirty="0"/>
              <a:t>users get $300 in free trial credits to use within 90 days.</a:t>
            </a:r>
          </a:p>
          <a:p>
            <a:r>
              <a:rPr lang="en-US" sz="2400" dirty="0" smtClean="0"/>
              <a:t>The </a:t>
            </a:r>
            <a:r>
              <a:rPr lang="en-US" sz="2400" dirty="0"/>
              <a:t>Compute Engine free tier gives you one e2-micro VM instance, up to 30 GB storage, and up to 1 GB of outbound data transfers per </a:t>
            </a:r>
            <a:r>
              <a:rPr lang="en-US" sz="2400" dirty="0" smtClean="0"/>
              <a:t>month, </a:t>
            </a:r>
            <a:r>
              <a:rPr lang="en-US" sz="2400" b="1" dirty="0"/>
              <a:t>not charged against your credits</a:t>
            </a:r>
            <a:r>
              <a:rPr lang="en-US" sz="2400" b="1" dirty="0" smtClean="0"/>
              <a:t>.</a:t>
            </a:r>
            <a:endParaRPr lang="en-US" sz="2400" b="1" dirty="0"/>
          </a:p>
        </p:txBody>
      </p:sp>
      <p:sp>
        <p:nvSpPr>
          <p:cNvPr id="4" name="AutoShape 2" descr="Google Compute Engine icon in Color Style"/>
          <p:cNvSpPr>
            <a:spLocks noChangeAspect="1" noChangeArrowheads="1"/>
          </p:cNvSpPr>
          <p:nvPr/>
        </p:nvSpPr>
        <p:spPr bwMode="auto">
          <a:xfrm>
            <a:off x="155575" y="-144463"/>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IN"/>
          </a:p>
        </p:txBody>
      </p:sp>
      <p:pic>
        <p:nvPicPr>
          <p:cNvPr id="2050"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11560" y="3356992"/>
            <a:ext cx="7498928" cy="332005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2701371638"/>
      </p:ext>
    </p:extLst>
  </p:cSld>
  <p:clrMapOvr>
    <a:masterClrMapping/>
  </p:clrMapOvr>
  <p:timing>
    <p:tnLst>
      <p:par>
        <p:cTn id="1" dur="indefinite" restart="never" nodeType="tmRoot"/>
      </p:par>
    </p:tnLst>
  </p:timing>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0B212B5E-61A8-4285-A2CA-AD89E4EC605D}"/>
              </a:ext>
            </a:extLst>
          </p:cNvPr>
          <p:cNvSpPr>
            <a:spLocks noGrp="1"/>
          </p:cNvSpPr>
          <p:nvPr>
            <p:ph type="title"/>
          </p:nvPr>
        </p:nvSpPr>
        <p:spPr/>
        <p:txBody>
          <a:bodyPr/>
          <a:lstStyle/>
          <a:p>
            <a:r>
              <a:rPr lang="en-IN" dirty="0"/>
              <a:t>Networking</a:t>
            </a:r>
          </a:p>
        </p:txBody>
      </p:sp>
      <p:grpSp>
        <p:nvGrpSpPr>
          <p:cNvPr id="25" name="Group 24">
            <a:extLst>
              <a:ext uri="{FF2B5EF4-FFF2-40B4-BE49-F238E27FC236}">
                <a16:creationId xmlns:a16="http://schemas.microsoft.com/office/drawing/2014/main" xmlns="" id="{8FA8DBAD-0987-4368-B8CD-D838D274A92A}"/>
              </a:ext>
            </a:extLst>
          </p:cNvPr>
          <p:cNvGrpSpPr/>
          <p:nvPr/>
        </p:nvGrpSpPr>
        <p:grpSpPr>
          <a:xfrm>
            <a:off x="602085" y="1898206"/>
            <a:ext cx="7939830" cy="3551511"/>
            <a:chOff x="602085" y="1560795"/>
            <a:chExt cx="7939830" cy="2663633"/>
          </a:xfrm>
        </p:grpSpPr>
        <p:sp>
          <p:nvSpPr>
            <p:cNvPr id="24" name="Rectangle: Rounded Corners 23">
              <a:extLst>
                <a:ext uri="{FF2B5EF4-FFF2-40B4-BE49-F238E27FC236}">
                  <a16:creationId xmlns:a16="http://schemas.microsoft.com/office/drawing/2014/main" xmlns="" id="{EB14EE73-9677-49DA-9F6C-A6D6E0582660}"/>
                </a:ext>
              </a:extLst>
            </p:cNvPr>
            <p:cNvSpPr/>
            <p:nvPr/>
          </p:nvSpPr>
          <p:spPr bwMode="auto">
            <a:xfrm>
              <a:off x="6954445" y="1567145"/>
              <a:ext cx="1587470" cy="2650933"/>
            </a:xfrm>
            <a:prstGeom prst="roundRect">
              <a:avLst/>
            </a:prstGeom>
            <a:solidFill>
              <a:srgbClr val="FEE6FD"/>
            </a:solidFill>
            <a:ln w="28575" cap="flat" cmpd="sng" algn="ctr">
              <a:noFill/>
              <a:prstDash val="solid"/>
              <a:round/>
              <a:headEnd type="none" w="sm" len="sm"/>
              <a:tailEnd type="none" w="sm" len="sm"/>
            </a:ln>
            <a:effectLst/>
          </p:spPr>
          <p:txBody>
            <a:bodyPr vert="horz" wrap="square" lIns="365760" tIns="182880" rIns="365760" bIns="182880" numCol="1" rtlCol="0" anchor="t" anchorCtr="0" compatLnSpc="1">
              <a:prstTxWarp prst="textNoShape">
                <a:avLst/>
              </a:prstTxWarp>
            </a:bodyPr>
            <a:lstStyle/>
            <a:p>
              <a:pPr algn="ctr">
                <a:spcBef>
                  <a:spcPct val="20000"/>
                </a:spcBef>
                <a:buClr>
                  <a:srgbClr val="FF0000"/>
                </a:buClr>
              </a:pPr>
              <a:endParaRPr lang="en-IN" sz="2000">
                <a:latin typeface="Arial" pitchFamily="34" charset="0"/>
              </a:endParaRPr>
            </a:p>
          </p:txBody>
        </p:sp>
        <p:sp>
          <p:nvSpPr>
            <p:cNvPr id="23" name="Rectangle: Rounded Corners 22">
              <a:extLst>
                <a:ext uri="{FF2B5EF4-FFF2-40B4-BE49-F238E27FC236}">
                  <a16:creationId xmlns:a16="http://schemas.microsoft.com/office/drawing/2014/main" xmlns="" id="{8BC826C5-DFBA-4CDE-AA0F-FAB17404BABB}"/>
                </a:ext>
              </a:extLst>
            </p:cNvPr>
            <p:cNvSpPr/>
            <p:nvPr/>
          </p:nvSpPr>
          <p:spPr bwMode="auto">
            <a:xfrm>
              <a:off x="3784074" y="1573495"/>
              <a:ext cx="1587470" cy="2650933"/>
            </a:xfrm>
            <a:prstGeom prst="roundRect">
              <a:avLst/>
            </a:prstGeom>
            <a:solidFill>
              <a:srgbClr val="FEE6FD"/>
            </a:solidFill>
            <a:ln w="28575" cap="flat" cmpd="sng" algn="ctr">
              <a:noFill/>
              <a:prstDash val="solid"/>
              <a:round/>
              <a:headEnd type="none" w="sm" len="sm"/>
              <a:tailEnd type="none" w="sm" len="sm"/>
            </a:ln>
            <a:effectLst/>
          </p:spPr>
          <p:txBody>
            <a:bodyPr vert="horz" wrap="square" lIns="365760" tIns="182880" rIns="365760" bIns="182880" numCol="1" rtlCol="0" anchor="t" anchorCtr="0" compatLnSpc="1">
              <a:prstTxWarp prst="textNoShape">
                <a:avLst/>
              </a:prstTxWarp>
            </a:bodyPr>
            <a:lstStyle/>
            <a:p>
              <a:pPr algn="ctr">
                <a:spcBef>
                  <a:spcPct val="20000"/>
                </a:spcBef>
                <a:buClr>
                  <a:srgbClr val="FF0000"/>
                </a:buClr>
              </a:pPr>
              <a:endParaRPr lang="en-IN" sz="2000">
                <a:latin typeface="Arial" pitchFamily="34" charset="0"/>
              </a:endParaRPr>
            </a:p>
          </p:txBody>
        </p:sp>
        <p:sp>
          <p:nvSpPr>
            <p:cNvPr id="22" name="Rectangle: Rounded Corners 21">
              <a:extLst>
                <a:ext uri="{FF2B5EF4-FFF2-40B4-BE49-F238E27FC236}">
                  <a16:creationId xmlns:a16="http://schemas.microsoft.com/office/drawing/2014/main" xmlns="" id="{CA9F2654-06F5-4040-AF7A-767CEDC3A6AD}"/>
                </a:ext>
              </a:extLst>
            </p:cNvPr>
            <p:cNvSpPr/>
            <p:nvPr/>
          </p:nvSpPr>
          <p:spPr bwMode="auto">
            <a:xfrm>
              <a:off x="602085" y="1560795"/>
              <a:ext cx="1587470" cy="2650933"/>
            </a:xfrm>
            <a:prstGeom prst="roundRect">
              <a:avLst/>
            </a:prstGeom>
            <a:solidFill>
              <a:srgbClr val="FEE6FD"/>
            </a:solidFill>
            <a:ln w="28575" cap="flat" cmpd="sng" algn="ctr">
              <a:noFill/>
              <a:prstDash val="solid"/>
              <a:round/>
              <a:headEnd type="none" w="sm" len="sm"/>
              <a:tailEnd type="none" w="sm" len="sm"/>
            </a:ln>
            <a:effectLst/>
          </p:spPr>
          <p:txBody>
            <a:bodyPr vert="horz" wrap="square" lIns="365760" tIns="182880" rIns="365760" bIns="182880" numCol="1" rtlCol="0" anchor="t" anchorCtr="0" compatLnSpc="1">
              <a:prstTxWarp prst="textNoShape">
                <a:avLst/>
              </a:prstTxWarp>
            </a:bodyPr>
            <a:lstStyle/>
            <a:p>
              <a:pPr algn="ctr">
                <a:spcBef>
                  <a:spcPct val="20000"/>
                </a:spcBef>
                <a:buClr>
                  <a:srgbClr val="FF0000"/>
                </a:buClr>
              </a:pPr>
              <a:endParaRPr lang="en-IN" sz="2000">
                <a:latin typeface="Arial" pitchFamily="34" charset="0"/>
              </a:endParaRPr>
            </a:p>
          </p:txBody>
        </p:sp>
        <p:sp>
          <p:nvSpPr>
            <p:cNvPr id="21" name="Rectangle: Rounded Corners 20">
              <a:extLst>
                <a:ext uri="{FF2B5EF4-FFF2-40B4-BE49-F238E27FC236}">
                  <a16:creationId xmlns:a16="http://schemas.microsoft.com/office/drawing/2014/main" xmlns="" id="{13F681DF-CBFB-48D5-84CE-B50E9F58C743}"/>
                </a:ext>
              </a:extLst>
            </p:cNvPr>
            <p:cNvSpPr/>
            <p:nvPr/>
          </p:nvSpPr>
          <p:spPr bwMode="auto">
            <a:xfrm>
              <a:off x="5348369" y="1572783"/>
              <a:ext cx="1587470" cy="2650933"/>
            </a:xfrm>
            <a:prstGeom prst="roundRect">
              <a:avLst/>
            </a:prstGeom>
            <a:solidFill>
              <a:schemeClr val="bg1">
                <a:lumMod val="95000"/>
              </a:schemeClr>
            </a:solidFill>
            <a:ln w="28575" cap="flat" cmpd="sng" algn="ctr">
              <a:noFill/>
              <a:prstDash val="solid"/>
              <a:round/>
              <a:headEnd type="none" w="sm" len="sm"/>
              <a:tailEnd type="none" w="sm" len="sm"/>
            </a:ln>
            <a:effectLst/>
          </p:spPr>
          <p:txBody>
            <a:bodyPr vert="horz" wrap="square" lIns="365760" tIns="182880" rIns="365760" bIns="182880" numCol="1" rtlCol="0" anchor="t" anchorCtr="0" compatLnSpc="1">
              <a:prstTxWarp prst="textNoShape">
                <a:avLst/>
              </a:prstTxWarp>
            </a:bodyPr>
            <a:lstStyle/>
            <a:p>
              <a:pPr algn="ctr">
                <a:spcBef>
                  <a:spcPct val="20000"/>
                </a:spcBef>
                <a:buClr>
                  <a:srgbClr val="FF0000"/>
                </a:buClr>
              </a:pPr>
              <a:endParaRPr lang="en-IN" sz="2000">
                <a:latin typeface="Arial" pitchFamily="34" charset="0"/>
              </a:endParaRPr>
            </a:p>
          </p:txBody>
        </p:sp>
        <p:sp>
          <p:nvSpPr>
            <p:cNvPr id="20" name="Rectangle: Rounded Corners 19">
              <a:extLst>
                <a:ext uri="{FF2B5EF4-FFF2-40B4-BE49-F238E27FC236}">
                  <a16:creationId xmlns:a16="http://schemas.microsoft.com/office/drawing/2014/main" xmlns="" id="{FDCE6DC1-4B57-4EB4-B496-F4557FE42182}"/>
                </a:ext>
              </a:extLst>
            </p:cNvPr>
            <p:cNvSpPr/>
            <p:nvPr/>
          </p:nvSpPr>
          <p:spPr bwMode="auto">
            <a:xfrm>
              <a:off x="2201980" y="1567145"/>
              <a:ext cx="1587470" cy="2650933"/>
            </a:xfrm>
            <a:prstGeom prst="roundRect">
              <a:avLst/>
            </a:prstGeom>
            <a:solidFill>
              <a:schemeClr val="bg1">
                <a:lumMod val="95000"/>
              </a:schemeClr>
            </a:solidFill>
            <a:ln w="28575" cap="flat" cmpd="sng" algn="ctr">
              <a:noFill/>
              <a:prstDash val="solid"/>
              <a:round/>
              <a:headEnd type="none" w="sm" len="sm"/>
              <a:tailEnd type="none" w="sm" len="sm"/>
            </a:ln>
            <a:effectLst/>
          </p:spPr>
          <p:txBody>
            <a:bodyPr vert="horz" wrap="square" lIns="365760" tIns="182880" rIns="365760" bIns="182880" numCol="1" rtlCol="0" anchor="t" anchorCtr="0" compatLnSpc="1">
              <a:prstTxWarp prst="textNoShape">
                <a:avLst/>
              </a:prstTxWarp>
            </a:bodyPr>
            <a:lstStyle/>
            <a:p>
              <a:pPr algn="ctr">
                <a:spcBef>
                  <a:spcPct val="20000"/>
                </a:spcBef>
                <a:buClr>
                  <a:srgbClr val="FF0000"/>
                </a:buClr>
              </a:pPr>
              <a:endParaRPr lang="en-IN" sz="2000">
                <a:latin typeface="Arial" pitchFamily="34" charset="0"/>
              </a:endParaRPr>
            </a:p>
          </p:txBody>
        </p:sp>
        <p:pic>
          <p:nvPicPr>
            <p:cNvPr id="5" name="Shape 342" descr="Cloud-Virtual-Network_256px.png">
              <a:extLst>
                <a:ext uri="{FF2B5EF4-FFF2-40B4-BE49-F238E27FC236}">
                  <a16:creationId xmlns:a16="http://schemas.microsoft.com/office/drawing/2014/main" xmlns="" id="{2772AC03-1F82-4DFE-8E66-4AF66BA88BB6}"/>
                </a:ext>
              </a:extLst>
            </p:cNvPr>
            <p:cNvPicPr preferRelativeResize="0"/>
            <p:nvPr/>
          </p:nvPicPr>
          <p:blipFill rotWithShape="1">
            <a:blip r:embed="rId2">
              <a:alphaModFix/>
            </a:blip>
            <a:srcRect t="5092" b="5092"/>
            <a:stretch/>
          </p:blipFill>
          <p:spPr>
            <a:xfrm>
              <a:off x="829455" y="2649616"/>
              <a:ext cx="1135826" cy="1020188"/>
            </a:xfrm>
            <a:prstGeom prst="rect">
              <a:avLst/>
            </a:prstGeom>
            <a:noFill/>
            <a:ln>
              <a:noFill/>
            </a:ln>
          </p:spPr>
        </p:pic>
        <p:pic>
          <p:nvPicPr>
            <p:cNvPr id="6" name="Shape 343" descr="Cloud-Load-Balancing_256px.png">
              <a:extLst>
                <a:ext uri="{FF2B5EF4-FFF2-40B4-BE49-F238E27FC236}">
                  <a16:creationId xmlns:a16="http://schemas.microsoft.com/office/drawing/2014/main" xmlns="" id="{E3194FCB-F3FE-4935-B681-4349B1AA1BA2}"/>
                </a:ext>
              </a:extLst>
            </p:cNvPr>
            <p:cNvPicPr preferRelativeResize="0"/>
            <p:nvPr/>
          </p:nvPicPr>
          <p:blipFill rotWithShape="1">
            <a:blip r:embed="rId3">
              <a:alphaModFix/>
            </a:blip>
            <a:srcRect t="5092" b="5092"/>
            <a:stretch/>
          </p:blipFill>
          <p:spPr>
            <a:xfrm>
              <a:off x="2416771" y="2649616"/>
              <a:ext cx="1135826" cy="1020188"/>
            </a:xfrm>
            <a:prstGeom prst="rect">
              <a:avLst/>
            </a:prstGeom>
            <a:noFill/>
            <a:ln>
              <a:noFill/>
            </a:ln>
          </p:spPr>
        </p:pic>
        <p:pic>
          <p:nvPicPr>
            <p:cNvPr id="7" name="Shape 344" descr="Cloud-CDN_256px.png">
              <a:extLst>
                <a:ext uri="{FF2B5EF4-FFF2-40B4-BE49-F238E27FC236}">
                  <a16:creationId xmlns:a16="http://schemas.microsoft.com/office/drawing/2014/main" xmlns="" id="{376347CD-86A8-4134-BFEC-E9FC83E50A45}"/>
                </a:ext>
              </a:extLst>
            </p:cNvPr>
            <p:cNvPicPr preferRelativeResize="0"/>
            <p:nvPr/>
          </p:nvPicPr>
          <p:blipFill rotWithShape="1">
            <a:blip r:embed="rId4">
              <a:alphaModFix/>
            </a:blip>
            <a:srcRect t="5092" b="5092"/>
            <a:stretch/>
          </p:blipFill>
          <p:spPr>
            <a:xfrm>
              <a:off x="4004087" y="2649616"/>
              <a:ext cx="1135826" cy="1020188"/>
            </a:xfrm>
            <a:prstGeom prst="rect">
              <a:avLst/>
            </a:prstGeom>
            <a:noFill/>
            <a:ln>
              <a:noFill/>
            </a:ln>
          </p:spPr>
        </p:pic>
        <p:pic>
          <p:nvPicPr>
            <p:cNvPr id="8" name="Shape 345" descr="Cloud-Interconnect_256px.png">
              <a:extLst>
                <a:ext uri="{FF2B5EF4-FFF2-40B4-BE49-F238E27FC236}">
                  <a16:creationId xmlns:a16="http://schemas.microsoft.com/office/drawing/2014/main" xmlns="" id="{87E858A3-967E-4F61-9A81-7DD7942A6830}"/>
                </a:ext>
              </a:extLst>
            </p:cNvPr>
            <p:cNvPicPr preferRelativeResize="0"/>
            <p:nvPr/>
          </p:nvPicPr>
          <p:blipFill rotWithShape="1">
            <a:blip r:embed="rId5">
              <a:alphaModFix/>
            </a:blip>
            <a:srcRect t="5092" b="5092"/>
            <a:stretch/>
          </p:blipFill>
          <p:spPr>
            <a:xfrm>
              <a:off x="5591403" y="2649616"/>
              <a:ext cx="1135826" cy="1020188"/>
            </a:xfrm>
            <a:prstGeom prst="rect">
              <a:avLst/>
            </a:prstGeom>
            <a:noFill/>
            <a:ln>
              <a:noFill/>
            </a:ln>
          </p:spPr>
        </p:pic>
        <p:pic>
          <p:nvPicPr>
            <p:cNvPr id="9" name="Shape 346" descr="Cloud-DNS_256px.png">
              <a:extLst>
                <a:ext uri="{FF2B5EF4-FFF2-40B4-BE49-F238E27FC236}">
                  <a16:creationId xmlns:a16="http://schemas.microsoft.com/office/drawing/2014/main" xmlns="" id="{2F443048-9552-4F92-9A67-C6D89C4588EA}"/>
                </a:ext>
              </a:extLst>
            </p:cNvPr>
            <p:cNvPicPr preferRelativeResize="0"/>
            <p:nvPr/>
          </p:nvPicPr>
          <p:blipFill rotWithShape="1">
            <a:blip r:embed="rId6">
              <a:alphaModFix/>
            </a:blip>
            <a:srcRect t="5092" b="5092"/>
            <a:stretch/>
          </p:blipFill>
          <p:spPr>
            <a:xfrm>
              <a:off x="7178719" y="2649616"/>
              <a:ext cx="1135826" cy="1020188"/>
            </a:xfrm>
            <a:prstGeom prst="rect">
              <a:avLst/>
            </a:prstGeom>
            <a:noFill/>
            <a:ln>
              <a:noFill/>
            </a:ln>
          </p:spPr>
        </p:pic>
        <p:sp>
          <p:nvSpPr>
            <p:cNvPr id="10" name="Shape 322">
              <a:extLst>
                <a:ext uri="{FF2B5EF4-FFF2-40B4-BE49-F238E27FC236}">
                  <a16:creationId xmlns:a16="http://schemas.microsoft.com/office/drawing/2014/main" xmlns="" id="{AC5A7141-DDEC-4A49-B351-D0011E43D259}"/>
                </a:ext>
              </a:extLst>
            </p:cNvPr>
            <p:cNvSpPr txBox="1"/>
            <p:nvPr/>
          </p:nvSpPr>
          <p:spPr>
            <a:xfrm>
              <a:off x="661045" y="1884048"/>
              <a:ext cx="1472646" cy="250200"/>
            </a:xfrm>
            <a:prstGeom prst="rect">
              <a:avLst/>
            </a:prstGeom>
            <a:noFill/>
            <a:ln>
              <a:noFill/>
            </a:ln>
          </p:spPr>
          <p:txBody>
            <a:bodyPr lIns="274300" tIns="274300" rIns="274300" bIns="274300" anchor="ctr" anchorCtr="0">
              <a:noAutofit/>
            </a:bodyPr>
            <a:lstStyle/>
            <a:p>
              <a:pPr algn="ctr">
                <a:buClr>
                  <a:srgbClr val="808080"/>
                </a:buClr>
                <a:buSzPct val="25000"/>
              </a:pPr>
              <a:r>
                <a:rPr lang="en-US" sz="1300" b="1" dirty="0">
                  <a:solidFill>
                    <a:srgbClr val="00838F"/>
                  </a:solidFill>
                  <a:ea typeface="Open Sans"/>
                  <a:cs typeface="Open Sans"/>
                  <a:sym typeface="Open Sans"/>
                </a:rPr>
                <a:t>Cloud Virtual Network</a:t>
              </a:r>
            </a:p>
          </p:txBody>
        </p:sp>
        <p:sp>
          <p:nvSpPr>
            <p:cNvPr id="11" name="Shape 323">
              <a:extLst>
                <a:ext uri="{FF2B5EF4-FFF2-40B4-BE49-F238E27FC236}">
                  <a16:creationId xmlns:a16="http://schemas.microsoft.com/office/drawing/2014/main" xmlns="" id="{3D3D3753-BFEB-41B6-AE28-BF02A683C6EE}"/>
                </a:ext>
              </a:extLst>
            </p:cNvPr>
            <p:cNvSpPr txBox="1"/>
            <p:nvPr/>
          </p:nvSpPr>
          <p:spPr>
            <a:xfrm>
              <a:off x="2249605" y="1851670"/>
              <a:ext cx="1466214" cy="250200"/>
            </a:xfrm>
            <a:prstGeom prst="rect">
              <a:avLst/>
            </a:prstGeom>
            <a:noFill/>
            <a:ln>
              <a:noFill/>
            </a:ln>
          </p:spPr>
          <p:txBody>
            <a:bodyPr lIns="274300" tIns="274300" rIns="274300" bIns="274300" anchor="ctr" anchorCtr="0">
              <a:noAutofit/>
            </a:bodyPr>
            <a:lstStyle/>
            <a:p>
              <a:pPr algn="ctr">
                <a:buClr>
                  <a:srgbClr val="808080"/>
                </a:buClr>
                <a:buSzPct val="25000"/>
              </a:pPr>
              <a:r>
                <a:rPr lang="en-US" sz="1300" b="1" dirty="0">
                  <a:solidFill>
                    <a:srgbClr val="808080"/>
                  </a:solidFill>
                  <a:ea typeface="Open Sans"/>
                  <a:cs typeface="Open Sans"/>
                  <a:sym typeface="Open Sans"/>
                </a:rPr>
                <a:t>Cloud Load Balancing</a:t>
              </a:r>
            </a:p>
          </p:txBody>
        </p:sp>
        <p:sp>
          <p:nvSpPr>
            <p:cNvPr id="12" name="Shape 324">
              <a:extLst>
                <a:ext uri="{FF2B5EF4-FFF2-40B4-BE49-F238E27FC236}">
                  <a16:creationId xmlns:a16="http://schemas.microsoft.com/office/drawing/2014/main" xmlns="" id="{AFAFF0A8-05A6-422F-820B-A3543DC502ED}"/>
                </a:ext>
              </a:extLst>
            </p:cNvPr>
            <p:cNvSpPr txBox="1"/>
            <p:nvPr/>
          </p:nvSpPr>
          <p:spPr>
            <a:xfrm>
              <a:off x="3986947" y="1884048"/>
              <a:ext cx="1167476" cy="250200"/>
            </a:xfrm>
            <a:prstGeom prst="rect">
              <a:avLst/>
            </a:prstGeom>
            <a:noFill/>
            <a:ln>
              <a:noFill/>
            </a:ln>
          </p:spPr>
          <p:txBody>
            <a:bodyPr lIns="274300" tIns="274300" rIns="274300" bIns="274300" anchor="ctr" anchorCtr="0">
              <a:noAutofit/>
            </a:bodyPr>
            <a:lstStyle/>
            <a:p>
              <a:pPr algn="ctr">
                <a:buClr>
                  <a:srgbClr val="808080"/>
                </a:buClr>
                <a:buSzPct val="25000"/>
              </a:pPr>
              <a:r>
                <a:rPr lang="en-US" sz="1300" b="1" dirty="0">
                  <a:solidFill>
                    <a:srgbClr val="FF6161"/>
                  </a:solidFill>
                  <a:ea typeface="Open Sans"/>
                  <a:cs typeface="Open Sans"/>
                  <a:sym typeface="Open Sans"/>
                </a:rPr>
                <a:t>Cloud CDN</a:t>
              </a:r>
            </a:p>
          </p:txBody>
        </p:sp>
        <p:sp>
          <p:nvSpPr>
            <p:cNvPr id="13" name="Shape 325">
              <a:extLst>
                <a:ext uri="{FF2B5EF4-FFF2-40B4-BE49-F238E27FC236}">
                  <a16:creationId xmlns:a16="http://schemas.microsoft.com/office/drawing/2014/main" xmlns="" id="{B9CF9CBD-B397-41AD-BA7B-1D9149BFB7FA}"/>
                </a:ext>
              </a:extLst>
            </p:cNvPr>
            <p:cNvSpPr txBox="1"/>
            <p:nvPr/>
          </p:nvSpPr>
          <p:spPr>
            <a:xfrm>
              <a:off x="5432931" y="1851670"/>
              <a:ext cx="1452770" cy="250200"/>
            </a:xfrm>
            <a:prstGeom prst="rect">
              <a:avLst/>
            </a:prstGeom>
            <a:noFill/>
            <a:ln>
              <a:noFill/>
            </a:ln>
          </p:spPr>
          <p:txBody>
            <a:bodyPr lIns="274300" tIns="274300" rIns="274300" bIns="274300" anchor="ctr" anchorCtr="0">
              <a:noAutofit/>
            </a:bodyPr>
            <a:lstStyle/>
            <a:p>
              <a:pPr algn="ctr">
                <a:buClr>
                  <a:srgbClr val="808080"/>
                </a:buClr>
                <a:buSzPct val="25000"/>
              </a:pPr>
              <a:r>
                <a:rPr lang="en-US" sz="1300" b="1" dirty="0">
                  <a:solidFill>
                    <a:srgbClr val="9C4999"/>
                  </a:solidFill>
                  <a:ea typeface="Open Sans"/>
                  <a:cs typeface="Open Sans"/>
                  <a:sym typeface="Open Sans"/>
                </a:rPr>
                <a:t>Cloud Interconnect</a:t>
              </a:r>
            </a:p>
          </p:txBody>
        </p:sp>
        <p:sp>
          <p:nvSpPr>
            <p:cNvPr id="14" name="Shape 326">
              <a:extLst>
                <a:ext uri="{FF2B5EF4-FFF2-40B4-BE49-F238E27FC236}">
                  <a16:creationId xmlns:a16="http://schemas.microsoft.com/office/drawing/2014/main" xmlns="" id="{C889F99E-6FB8-468F-BFF7-112AF7B37664}"/>
                </a:ext>
              </a:extLst>
            </p:cNvPr>
            <p:cNvSpPr txBox="1"/>
            <p:nvPr/>
          </p:nvSpPr>
          <p:spPr>
            <a:xfrm>
              <a:off x="7162894" y="1884048"/>
              <a:ext cx="1167476" cy="250200"/>
            </a:xfrm>
            <a:prstGeom prst="rect">
              <a:avLst/>
            </a:prstGeom>
            <a:noFill/>
            <a:ln>
              <a:noFill/>
            </a:ln>
          </p:spPr>
          <p:txBody>
            <a:bodyPr lIns="274300" tIns="274300" rIns="274300" bIns="274300" anchor="ctr" anchorCtr="0">
              <a:noAutofit/>
            </a:bodyPr>
            <a:lstStyle/>
            <a:p>
              <a:pPr algn="ctr">
                <a:buClr>
                  <a:srgbClr val="808080"/>
                </a:buClr>
                <a:buSzPct val="25000"/>
              </a:pPr>
              <a:r>
                <a:rPr lang="en-US" sz="1300" b="1" dirty="0">
                  <a:solidFill>
                    <a:srgbClr val="0D80B9"/>
                  </a:solidFill>
                  <a:ea typeface="Open Sans"/>
                  <a:cs typeface="Open Sans"/>
                  <a:sym typeface="Open Sans"/>
                </a:rPr>
                <a:t>Cloud DNS</a:t>
              </a:r>
            </a:p>
          </p:txBody>
        </p:sp>
      </p:grpSp>
    </p:spTree>
    <p:extLst>
      <p:ext uri="{BB962C8B-B14F-4D97-AF65-F5344CB8AC3E}">
        <p14:creationId xmlns:p14="http://schemas.microsoft.com/office/powerpoint/2010/main" val="80858350"/>
      </p:ext>
    </p:extLst>
  </p:cSld>
  <p:clrMapOvr>
    <a:masterClrMapping/>
  </p:clrMapOvr>
  <p:timing>
    <p:tnLst>
      <p:par>
        <p:cTn id="1" dur="indefinite" restart="never" nodeType="tmRoot"/>
      </p:par>
    </p:tnLst>
  </p:timing>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dirty="0"/>
              <a:t>Google Cloud Platform Services</a:t>
            </a:r>
          </a:p>
        </p:txBody>
      </p:sp>
      <p:sp>
        <p:nvSpPr>
          <p:cNvPr id="3" name="Text Placeholder 2"/>
          <p:cNvSpPr>
            <a:spLocks noGrp="1"/>
          </p:cNvSpPr>
          <p:nvPr>
            <p:ph type="body" sz="quarter" idx="10"/>
          </p:nvPr>
        </p:nvSpPr>
        <p:spPr>
          <a:xfrm>
            <a:off x="466725" y="836712"/>
            <a:ext cx="8210550" cy="4415367"/>
          </a:xfrm>
        </p:spPr>
        <p:txBody>
          <a:bodyPr>
            <a:noAutofit/>
          </a:bodyPr>
          <a:lstStyle/>
          <a:p>
            <a:pPr marL="0" indent="0">
              <a:buNone/>
            </a:pPr>
            <a:r>
              <a:rPr lang="en-US" sz="2400" b="1" dirty="0" smtClean="0"/>
              <a:t>Cloud VPC</a:t>
            </a:r>
            <a:endParaRPr lang="en-US" sz="2400" b="1" dirty="0"/>
          </a:p>
          <a:p>
            <a:r>
              <a:rPr lang="en-US" sz="2400" b="1" u="sng" dirty="0"/>
              <a:t>Network</a:t>
            </a:r>
            <a:r>
              <a:rPr lang="en-US" sz="2400" b="1" dirty="0"/>
              <a:t> of </a:t>
            </a:r>
            <a:r>
              <a:rPr lang="en-US" sz="2400" b="1" dirty="0" smtClean="0"/>
              <a:t>41 </a:t>
            </a:r>
            <a:r>
              <a:rPr lang="en-US" sz="2400" b="1" dirty="0"/>
              <a:t>regions, </a:t>
            </a:r>
            <a:r>
              <a:rPr lang="en-US" sz="2400" b="1" dirty="0" smtClean="0"/>
              <a:t>128 </a:t>
            </a:r>
            <a:r>
              <a:rPr lang="en-US" sz="2400" b="1" dirty="0"/>
              <a:t>zones in 200+ countries and territories with uptime of 99.99</a:t>
            </a:r>
            <a:r>
              <a:rPr lang="en-US" sz="2400" b="1" dirty="0" smtClean="0"/>
              <a:t>%</a:t>
            </a:r>
          </a:p>
          <a:p>
            <a:endParaRPr lang="en-US" sz="2400" dirty="0"/>
          </a:p>
          <a:p>
            <a:r>
              <a:rPr lang="en-US" sz="2400" dirty="0" smtClean="0"/>
              <a:t>Use </a:t>
            </a:r>
            <a:r>
              <a:rPr lang="en-US" sz="2400" dirty="0"/>
              <a:t>a single VPC to span multiple regions </a:t>
            </a:r>
            <a:r>
              <a:rPr lang="en-US" sz="2400" b="1" dirty="0"/>
              <a:t>without communicating across the public internet</a:t>
            </a:r>
          </a:p>
          <a:p>
            <a:endParaRPr lang="en-US" sz="2400" dirty="0"/>
          </a:p>
        </p:txBody>
      </p:sp>
      <p:sp>
        <p:nvSpPr>
          <p:cNvPr id="4" name="AutoShape 2" descr="Google Compute Engine icon in Color Style"/>
          <p:cNvSpPr>
            <a:spLocks noChangeAspect="1" noChangeArrowheads="1"/>
          </p:cNvSpPr>
          <p:nvPr/>
        </p:nvSpPr>
        <p:spPr bwMode="auto">
          <a:xfrm>
            <a:off x="155575" y="-144463"/>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IN"/>
          </a:p>
        </p:txBody>
      </p:sp>
      <p:sp>
        <p:nvSpPr>
          <p:cNvPr id="5" name="AutoShape 2" descr="Google Cloud CDN - Reviews, Pros &amp; Cons | Companies using Google Cloud CDN"/>
          <p:cNvSpPr>
            <a:spLocks noChangeAspect="1" noChangeArrowheads="1"/>
          </p:cNvSpPr>
          <p:nvPr/>
        </p:nvSpPr>
        <p:spPr bwMode="auto">
          <a:xfrm>
            <a:off x="307975" y="7937"/>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IN"/>
          </a:p>
        </p:txBody>
      </p:sp>
      <p:pic>
        <p:nvPicPr>
          <p:cNvPr id="29699" name="Picture 3"/>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483424" y="4980384"/>
            <a:ext cx="1905000" cy="19050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912612959"/>
      </p:ext>
    </p:extLst>
  </p:cSld>
  <p:clrMapOvr>
    <a:masterClrMapping/>
  </p:clrMapOvr>
  <p:timing>
    <p:tnLst>
      <p:par>
        <p:cTn id="1" dur="indefinite" restart="never" nodeType="tmRoot"/>
      </p:par>
    </p:tnLst>
  </p:timing>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dirty="0"/>
              <a:t>Google Cloud Platform Services</a:t>
            </a:r>
          </a:p>
        </p:txBody>
      </p:sp>
      <p:sp>
        <p:nvSpPr>
          <p:cNvPr id="3" name="Text Placeholder 2"/>
          <p:cNvSpPr>
            <a:spLocks noGrp="1"/>
          </p:cNvSpPr>
          <p:nvPr>
            <p:ph type="body" sz="quarter" idx="10"/>
          </p:nvPr>
        </p:nvSpPr>
        <p:spPr>
          <a:xfrm>
            <a:off x="466725" y="836712"/>
            <a:ext cx="8210550" cy="4415367"/>
          </a:xfrm>
        </p:spPr>
        <p:txBody>
          <a:bodyPr>
            <a:noAutofit/>
          </a:bodyPr>
          <a:lstStyle/>
          <a:p>
            <a:pPr marL="0" indent="0">
              <a:buNone/>
            </a:pPr>
            <a:r>
              <a:rPr lang="en-US" sz="2400" b="1" dirty="0" smtClean="0"/>
              <a:t>Cloud VPC</a:t>
            </a:r>
            <a:endParaRPr lang="en-US" sz="2400" dirty="0"/>
          </a:p>
          <a:p>
            <a:r>
              <a:rPr lang="en-US" sz="2400" dirty="0"/>
              <a:t>Global virtual network that spans all regions. </a:t>
            </a:r>
            <a:endParaRPr lang="en-US" sz="2400" dirty="0" smtClean="0"/>
          </a:p>
          <a:p>
            <a:r>
              <a:rPr lang="en-US" sz="2400" dirty="0" smtClean="0"/>
              <a:t>Single </a:t>
            </a:r>
            <a:r>
              <a:rPr lang="en-US" sz="2400" dirty="0"/>
              <a:t>VPC for an entire organization, isolated within projects. </a:t>
            </a:r>
            <a:endParaRPr lang="en-US" sz="2400" dirty="0" smtClean="0"/>
          </a:p>
          <a:p>
            <a:r>
              <a:rPr lang="en-US" sz="2400" b="1" dirty="0" smtClean="0"/>
              <a:t>Increase </a:t>
            </a:r>
            <a:r>
              <a:rPr lang="en-US" sz="2400" b="1" dirty="0"/>
              <a:t>IP space with no downtime.</a:t>
            </a:r>
          </a:p>
          <a:p>
            <a:r>
              <a:rPr lang="en-US" sz="2400" b="1" dirty="0"/>
              <a:t>New customers get $300 in free credits to spend on VPC.</a:t>
            </a:r>
          </a:p>
          <a:p>
            <a:endParaRPr lang="en-US" sz="2400" dirty="0"/>
          </a:p>
        </p:txBody>
      </p:sp>
      <p:sp>
        <p:nvSpPr>
          <p:cNvPr id="4" name="AutoShape 2" descr="Google Compute Engine icon in Color Style"/>
          <p:cNvSpPr>
            <a:spLocks noChangeAspect="1" noChangeArrowheads="1"/>
          </p:cNvSpPr>
          <p:nvPr/>
        </p:nvSpPr>
        <p:spPr bwMode="auto">
          <a:xfrm>
            <a:off x="155575" y="-144463"/>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IN"/>
          </a:p>
        </p:txBody>
      </p:sp>
      <p:sp>
        <p:nvSpPr>
          <p:cNvPr id="5" name="AutoShape 2" descr="Google Cloud CDN - Reviews, Pros &amp; Cons | Companies using Google Cloud CDN"/>
          <p:cNvSpPr>
            <a:spLocks noChangeAspect="1" noChangeArrowheads="1"/>
          </p:cNvSpPr>
          <p:nvPr/>
        </p:nvSpPr>
        <p:spPr bwMode="auto">
          <a:xfrm>
            <a:off x="307975" y="7937"/>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IN"/>
          </a:p>
        </p:txBody>
      </p:sp>
      <p:pic>
        <p:nvPicPr>
          <p:cNvPr id="29699" name="Picture 3"/>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483424" y="4980384"/>
            <a:ext cx="1905000" cy="19050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3107936505"/>
      </p:ext>
    </p:extLst>
  </p:cSld>
  <p:clrMapOvr>
    <a:masterClrMapping/>
  </p:clrMapOvr>
  <p:timing>
    <p:tnLst>
      <p:par>
        <p:cTn id="1" dur="indefinite" restart="never" nodeType="tmRoot"/>
      </p:par>
    </p:tnLst>
  </p:timing>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dirty="0"/>
              <a:t>Google Cloud Platform Services</a:t>
            </a:r>
          </a:p>
        </p:txBody>
      </p:sp>
      <p:sp>
        <p:nvSpPr>
          <p:cNvPr id="3" name="Text Placeholder 2"/>
          <p:cNvSpPr>
            <a:spLocks noGrp="1"/>
          </p:cNvSpPr>
          <p:nvPr>
            <p:ph type="body" sz="quarter" idx="10"/>
          </p:nvPr>
        </p:nvSpPr>
        <p:spPr/>
        <p:txBody>
          <a:bodyPr>
            <a:noAutofit/>
          </a:bodyPr>
          <a:lstStyle/>
          <a:p>
            <a:pPr marL="0" indent="0">
              <a:buNone/>
            </a:pPr>
            <a:r>
              <a:rPr lang="en-US" sz="2400" b="1" dirty="0" smtClean="0"/>
              <a:t>Cloud </a:t>
            </a:r>
            <a:r>
              <a:rPr lang="en-US" sz="2400" b="1" dirty="0"/>
              <a:t>CDN</a:t>
            </a:r>
          </a:p>
          <a:p>
            <a:r>
              <a:rPr lang="en-IN" sz="2400" dirty="0"/>
              <a:t>Content Delivery </a:t>
            </a:r>
            <a:r>
              <a:rPr lang="en-IN" sz="2400" dirty="0" smtClean="0"/>
              <a:t>Network</a:t>
            </a:r>
          </a:p>
          <a:p>
            <a:r>
              <a:rPr lang="en-US" sz="2400" dirty="0" smtClean="0"/>
              <a:t>Uses </a:t>
            </a:r>
            <a:r>
              <a:rPr lang="en-US" sz="2400" dirty="0"/>
              <a:t>Google's global edge network to serve content closer to </a:t>
            </a:r>
            <a:r>
              <a:rPr lang="en-US" sz="2400" dirty="0" smtClean="0"/>
              <a:t>users</a:t>
            </a:r>
            <a:r>
              <a:rPr lang="en-US" sz="2400" dirty="0"/>
              <a:t>, </a:t>
            </a:r>
            <a:r>
              <a:rPr lang="en-US" sz="2400" b="1" dirty="0"/>
              <a:t>which accelerates your websites and applications.</a:t>
            </a:r>
            <a:endParaRPr lang="en-US" sz="2400" b="1" dirty="0" smtClean="0"/>
          </a:p>
          <a:p>
            <a:r>
              <a:rPr lang="en-US" sz="2400" dirty="0" smtClean="0"/>
              <a:t>Fast</a:t>
            </a:r>
            <a:r>
              <a:rPr lang="en-US" sz="2400" dirty="0"/>
              <a:t>, reliable web and video content delivery with global scale and reach.</a:t>
            </a:r>
          </a:p>
          <a:p>
            <a:r>
              <a:rPr lang="en-US" sz="2400" dirty="0"/>
              <a:t>New customers get $300 in free credits to spend on Cloud CDN.</a:t>
            </a:r>
          </a:p>
        </p:txBody>
      </p:sp>
      <p:sp>
        <p:nvSpPr>
          <p:cNvPr id="4" name="AutoShape 2" descr="Google Compute Engine icon in Color Style"/>
          <p:cNvSpPr>
            <a:spLocks noChangeAspect="1" noChangeArrowheads="1"/>
          </p:cNvSpPr>
          <p:nvPr/>
        </p:nvSpPr>
        <p:spPr bwMode="auto">
          <a:xfrm>
            <a:off x="155575" y="-144463"/>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IN"/>
          </a:p>
        </p:txBody>
      </p:sp>
      <p:sp>
        <p:nvSpPr>
          <p:cNvPr id="5" name="AutoShape 2" descr="Google Cloud CDN - Reviews, Pros &amp; Cons | Companies using Google Cloud CDN"/>
          <p:cNvSpPr>
            <a:spLocks noChangeAspect="1" noChangeArrowheads="1"/>
          </p:cNvSpPr>
          <p:nvPr/>
        </p:nvSpPr>
        <p:spPr bwMode="auto">
          <a:xfrm>
            <a:off x="307975" y="7937"/>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IN"/>
          </a:p>
        </p:txBody>
      </p:sp>
      <p:pic>
        <p:nvPicPr>
          <p:cNvPr id="29699" name="Picture 3"/>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012160" y="4149080"/>
            <a:ext cx="1905000" cy="19050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2263972741"/>
      </p:ext>
    </p:extLst>
  </p:cSld>
  <p:clrMapOvr>
    <a:masterClrMapping/>
  </p:clrMapOvr>
  <p:timing>
    <p:tnLst>
      <p:par>
        <p:cTn id="1" dur="indefinite" restart="never" nodeType="tmRoot"/>
      </p:par>
    </p:tnLst>
  </p:timing>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dirty="0"/>
              <a:t>What is a CDN</a:t>
            </a:r>
            <a:r>
              <a:rPr lang="en-US" dirty="0" smtClean="0"/>
              <a:t>?</a:t>
            </a:r>
            <a:endParaRPr lang="en-IN" dirty="0"/>
          </a:p>
        </p:txBody>
      </p:sp>
      <p:sp>
        <p:nvSpPr>
          <p:cNvPr id="3" name="Content Placeholder 2"/>
          <p:cNvSpPr>
            <a:spLocks noGrp="1"/>
          </p:cNvSpPr>
          <p:nvPr>
            <p:ph idx="1"/>
          </p:nvPr>
        </p:nvSpPr>
        <p:spPr/>
        <p:txBody>
          <a:bodyPr>
            <a:normAutofit/>
          </a:bodyPr>
          <a:lstStyle/>
          <a:p>
            <a:r>
              <a:rPr lang="en-US" sz="2400" dirty="0" smtClean="0"/>
              <a:t>A </a:t>
            </a:r>
            <a:r>
              <a:rPr lang="en-US" sz="2400" dirty="0"/>
              <a:t>content delivery network (CDN) is </a:t>
            </a:r>
            <a:r>
              <a:rPr lang="en-US" sz="2400" b="1" dirty="0"/>
              <a:t>a network of interconnected servers that speeds up webpage loading </a:t>
            </a:r>
            <a:r>
              <a:rPr lang="en-US" sz="2400" dirty="0"/>
              <a:t>for data-heavy applications. </a:t>
            </a:r>
            <a:endParaRPr lang="en-US" sz="2400" dirty="0" smtClean="0"/>
          </a:p>
          <a:p>
            <a:r>
              <a:rPr lang="en-US" sz="2400" dirty="0" smtClean="0"/>
              <a:t>CDN </a:t>
            </a:r>
            <a:r>
              <a:rPr lang="en-US" sz="2400" dirty="0"/>
              <a:t>can stand for content delivery network or content distribution network. </a:t>
            </a:r>
            <a:endParaRPr lang="en-US" sz="2400" dirty="0" smtClean="0"/>
          </a:p>
          <a:p>
            <a:endParaRPr lang="en-US" sz="2400" b="1" dirty="0"/>
          </a:p>
          <a:p>
            <a:pPr marL="0" indent="0">
              <a:buNone/>
            </a:pPr>
            <a:r>
              <a:rPr lang="en-IN" sz="1600" b="1" dirty="0"/>
              <a:t>https://aws.amazon.com/what-is/cdn/</a:t>
            </a:r>
          </a:p>
        </p:txBody>
      </p:sp>
      <p:sp>
        <p:nvSpPr>
          <p:cNvPr id="4" name="Date Placeholder 3"/>
          <p:cNvSpPr>
            <a:spLocks noGrp="1"/>
          </p:cNvSpPr>
          <p:nvPr>
            <p:ph type="dt" sz="half" idx="10"/>
          </p:nvPr>
        </p:nvSpPr>
        <p:spPr/>
        <p:txBody>
          <a:bodyPr/>
          <a:lstStyle/>
          <a:p>
            <a:fld id="{20C8C015-9DB9-44EB-8132-3C05A310C0E5}" type="datetime1">
              <a:rPr lang="en-IN" smtClean="0"/>
              <a:t>27-03-2026</a:t>
            </a:fld>
            <a:endParaRPr lang="en-IN"/>
          </a:p>
        </p:txBody>
      </p:sp>
      <p:sp>
        <p:nvSpPr>
          <p:cNvPr id="5" name="Footer Placeholder 4"/>
          <p:cNvSpPr>
            <a:spLocks noGrp="1"/>
          </p:cNvSpPr>
          <p:nvPr>
            <p:ph type="ftr" sz="quarter" idx="11"/>
          </p:nvPr>
        </p:nvSpPr>
        <p:spPr/>
        <p:txBody>
          <a:bodyPr/>
          <a:lstStyle/>
          <a:p>
            <a:r>
              <a:rPr lang="en-IN" smtClean="0"/>
              <a:t>Prof. Shweta Dhawan Chachra</a:t>
            </a:r>
            <a:endParaRPr lang="en-IN"/>
          </a:p>
        </p:txBody>
      </p:sp>
      <p:sp>
        <p:nvSpPr>
          <p:cNvPr id="6" name="Slide Number Placeholder 5"/>
          <p:cNvSpPr>
            <a:spLocks noGrp="1"/>
          </p:cNvSpPr>
          <p:nvPr>
            <p:ph type="sldNum" sz="quarter" idx="12"/>
          </p:nvPr>
        </p:nvSpPr>
        <p:spPr/>
        <p:txBody>
          <a:bodyPr/>
          <a:lstStyle/>
          <a:p>
            <a:fld id="{E159CD84-036B-4754-BD39-CB865687F047}" type="slidenum">
              <a:rPr lang="en-IN" smtClean="0"/>
              <a:t>51</a:t>
            </a:fld>
            <a:endParaRPr lang="en-IN"/>
          </a:p>
        </p:txBody>
      </p:sp>
    </p:spTree>
    <p:extLst>
      <p:ext uri="{BB962C8B-B14F-4D97-AF65-F5344CB8AC3E}">
        <p14:creationId xmlns:p14="http://schemas.microsoft.com/office/powerpoint/2010/main" val="1452774699"/>
      </p:ext>
    </p:extLst>
  </p:cSld>
  <p:clrMapOvr>
    <a:masterClrMapping/>
  </p:clrMapOvr>
  <p:timing>
    <p:tnLst>
      <p:par>
        <p:cTn id="1" dur="indefinite" restart="never" nodeType="tmRoot"/>
      </p:par>
    </p:tnLst>
  </p:timing>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dirty="0"/>
              <a:t>What is a CDN</a:t>
            </a:r>
            <a:r>
              <a:rPr lang="en-US" dirty="0" smtClean="0"/>
              <a:t>?</a:t>
            </a:r>
            <a:endParaRPr lang="en-IN" dirty="0"/>
          </a:p>
        </p:txBody>
      </p:sp>
      <p:sp>
        <p:nvSpPr>
          <p:cNvPr id="3" name="Content Placeholder 2"/>
          <p:cNvSpPr>
            <a:spLocks noGrp="1"/>
          </p:cNvSpPr>
          <p:nvPr>
            <p:ph idx="1"/>
          </p:nvPr>
        </p:nvSpPr>
        <p:spPr/>
        <p:txBody>
          <a:bodyPr>
            <a:normAutofit/>
          </a:bodyPr>
          <a:lstStyle/>
          <a:p>
            <a:r>
              <a:rPr lang="en-US" sz="2400" dirty="0" smtClean="0"/>
              <a:t>When </a:t>
            </a:r>
            <a:r>
              <a:rPr lang="en-US" sz="2400" dirty="0"/>
              <a:t>a user visits a website, data from that website's server has to travel across the internet to reach the user's computer. </a:t>
            </a:r>
            <a:r>
              <a:rPr lang="en-US" sz="2400" b="1" dirty="0"/>
              <a:t>If the user is located far from that server, it will take a long time to load a large file, such as a video or website image. </a:t>
            </a:r>
            <a:endParaRPr lang="en-US" sz="2400" b="1" dirty="0" smtClean="0"/>
          </a:p>
          <a:p>
            <a:r>
              <a:rPr lang="en-US" sz="2400" dirty="0" smtClean="0"/>
              <a:t>Instead</a:t>
            </a:r>
            <a:r>
              <a:rPr lang="en-US" sz="2400" dirty="0"/>
              <a:t>, the </a:t>
            </a:r>
            <a:r>
              <a:rPr lang="en-US" sz="2400" b="1" dirty="0"/>
              <a:t>website content is stored on CDN servers geographically closer to the users and reaches their computers much faster.</a:t>
            </a:r>
          </a:p>
          <a:p>
            <a:endParaRPr lang="en-US" sz="2400" b="1" dirty="0"/>
          </a:p>
          <a:p>
            <a:pPr marL="0" indent="0">
              <a:buNone/>
            </a:pPr>
            <a:r>
              <a:rPr lang="en-IN" sz="1600" b="1" dirty="0"/>
              <a:t>https://aws.amazon.com/what-is/cdn/</a:t>
            </a:r>
          </a:p>
        </p:txBody>
      </p:sp>
      <p:sp>
        <p:nvSpPr>
          <p:cNvPr id="4" name="Date Placeholder 3"/>
          <p:cNvSpPr>
            <a:spLocks noGrp="1"/>
          </p:cNvSpPr>
          <p:nvPr>
            <p:ph type="dt" sz="half" idx="10"/>
          </p:nvPr>
        </p:nvSpPr>
        <p:spPr/>
        <p:txBody>
          <a:bodyPr/>
          <a:lstStyle/>
          <a:p>
            <a:fld id="{7E90DAB7-171C-487C-ADEC-061845869EFE}" type="datetime1">
              <a:rPr lang="en-IN" smtClean="0"/>
              <a:t>27-03-2026</a:t>
            </a:fld>
            <a:endParaRPr lang="en-IN"/>
          </a:p>
        </p:txBody>
      </p:sp>
      <p:sp>
        <p:nvSpPr>
          <p:cNvPr id="5" name="Footer Placeholder 4"/>
          <p:cNvSpPr>
            <a:spLocks noGrp="1"/>
          </p:cNvSpPr>
          <p:nvPr>
            <p:ph type="ftr" sz="quarter" idx="11"/>
          </p:nvPr>
        </p:nvSpPr>
        <p:spPr/>
        <p:txBody>
          <a:bodyPr/>
          <a:lstStyle/>
          <a:p>
            <a:r>
              <a:rPr lang="en-IN" smtClean="0"/>
              <a:t>Prof. Shweta Dhawan Chachra</a:t>
            </a:r>
            <a:endParaRPr lang="en-IN"/>
          </a:p>
        </p:txBody>
      </p:sp>
      <p:sp>
        <p:nvSpPr>
          <p:cNvPr id="6" name="Slide Number Placeholder 5"/>
          <p:cNvSpPr>
            <a:spLocks noGrp="1"/>
          </p:cNvSpPr>
          <p:nvPr>
            <p:ph type="sldNum" sz="quarter" idx="12"/>
          </p:nvPr>
        </p:nvSpPr>
        <p:spPr/>
        <p:txBody>
          <a:bodyPr/>
          <a:lstStyle/>
          <a:p>
            <a:fld id="{E159CD84-036B-4754-BD39-CB865687F047}" type="slidenum">
              <a:rPr lang="en-IN" smtClean="0"/>
              <a:t>52</a:t>
            </a:fld>
            <a:endParaRPr lang="en-IN"/>
          </a:p>
        </p:txBody>
      </p:sp>
    </p:spTree>
    <p:extLst>
      <p:ext uri="{BB962C8B-B14F-4D97-AF65-F5344CB8AC3E}">
        <p14:creationId xmlns:p14="http://schemas.microsoft.com/office/powerpoint/2010/main" val="598488844"/>
      </p:ext>
    </p:extLst>
  </p:cSld>
  <p:clrMapOvr>
    <a:masterClrMapping/>
  </p:clrMapOvr>
  <p:timing>
    <p:tnLst>
      <p:par>
        <p:cTn id="1" dur="indefinite" restart="never" nodeType="tmRoot"/>
      </p:par>
    </p:tnLst>
  </p:timing>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dirty="0"/>
              <a:t>Why is a CDN important?</a:t>
            </a:r>
          </a:p>
        </p:txBody>
      </p:sp>
      <p:sp>
        <p:nvSpPr>
          <p:cNvPr id="3" name="Content Placeholder 2"/>
          <p:cNvSpPr>
            <a:spLocks noGrp="1"/>
          </p:cNvSpPr>
          <p:nvPr>
            <p:ph idx="1"/>
          </p:nvPr>
        </p:nvSpPr>
        <p:spPr/>
        <p:txBody>
          <a:bodyPr>
            <a:normAutofit/>
          </a:bodyPr>
          <a:lstStyle/>
          <a:p>
            <a:r>
              <a:rPr lang="en-US" sz="2400" dirty="0" smtClean="0"/>
              <a:t>The primary purpose of a content delivery network (CDN) is to </a:t>
            </a:r>
            <a:r>
              <a:rPr lang="en-US" sz="2400" b="1" dirty="0" smtClean="0"/>
              <a:t>reduce latency, or reduce the delay in communication created by a network's design</a:t>
            </a:r>
            <a:r>
              <a:rPr lang="en-US" sz="2400" dirty="0" smtClean="0"/>
              <a:t>. </a:t>
            </a:r>
          </a:p>
          <a:p>
            <a:r>
              <a:rPr lang="en-US" sz="2400" dirty="0" smtClean="0"/>
              <a:t>Because of the global and complex nature of the internet, </a:t>
            </a:r>
            <a:r>
              <a:rPr lang="en-US" sz="2400" b="1" dirty="0" smtClean="0"/>
              <a:t>communication traffic between websites (servers) and their users (clients) has to move over large physical distances</a:t>
            </a:r>
            <a:r>
              <a:rPr lang="en-US" sz="2400" dirty="0" smtClean="0"/>
              <a:t>. </a:t>
            </a:r>
          </a:p>
          <a:p>
            <a:r>
              <a:rPr lang="en-US" sz="2400" dirty="0" smtClean="0"/>
              <a:t>The communication is also two-way, with requests going from the client to the server and responses coming back.</a:t>
            </a:r>
          </a:p>
          <a:p>
            <a:endParaRPr lang="en-US" sz="2400" b="1" dirty="0"/>
          </a:p>
          <a:p>
            <a:pPr marL="0" indent="0">
              <a:buNone/>
            </a:pPr>
            <a:r>
              <a:rPr lang="en-IN" sz="1600" b="1" dirty="0" smtClean="0"/>
              <a:t>https://aws.amazon.com/what-is/cdn/</a:t>
            </a:r>
            <a:endParaRPr lang="en-IN" sz="1600" b="1" dirty="0"/>
          </a:p>
        </p:txBody>
      </p:sp>
      <p:sp>
        <p:nvSpPr>
          <p:cNvPr id="4" name="Date Placeholder 3"/>
          <p:cNvSpPr>
            <a:spLocks noGrp="1"/>
          </p:cNvSpPr>
          <p:nvPr>
            <p:ph type="dt" sz="half" idx="10"/>
          </p:nvPr>
        </p:nvSpPr>
        <p:spPr/>
        <p:txBody>
          <a:bodyPr/>
          <a:lstStyle/>
          <a:p>
            <a:fld id="{01F71579-55C3-414D-AF4B-40F691475A4B}" type="datetime1">
              <a:rPr lang="en-IN" smtClean="0"/>
              <a:t>27-03-2026</a:t>
            </a:fld>
            <a:endParaRPr lang="en-IN"/>
          </a:p>
        </p:txBody>
      </p:sp>
      <p:sp>
        <p:nvSpPr>
          <p:cNvPr id="5" name="Footer Placeholder 4"/>
          <p:cNvSpPr>
            <a:spLocks noGrp="1"/>
          </p:cNvSpPr>
          <p:nvPr>
            <p:ph type="ftr" sz="quarter" idx="11"/>
          </p:nvPr>
        </p:nvSpPr>
        <p:spPr/>
        <p:txBody>
          <a:bodyPr/>
          <a:lstStyle/>
          <a:p>
            <a:r>
              <a:rPr lang="en-IN" smtClean="0"/>
              <a:t>Prof. Shweta Dhawan Chachra</a:t>
            </a:r>
            <a:endParaRPr lang="en-IN"/>
          </a:p>
        </p:txBody>
      </p:sp>
      <p:sp>
        <p:nvSpPr>
          <p:cNvPr id="6" name="Slide Number Placeholder 5"/>
          <p:cNvSpPr>
            <a:spLocks noGrp="1"/>
          </p:cNvSpPr>
          <p:nvPr>
            <p:ph type="sldNum" sz="quarter" idx="12"/>
          </p:nvPr>
        </p:nvSpPr>
        <p:spPr/>
        <p:txBody>
          <a:bodyPr/>
          <a:lstStyle/>
          <a:p>
            <a:fld id="{E159CD84-036B-4754-BD39-CB865687F047}" type="slidenum">
              <a:rPr lang="en-IN" smtClean="0"/>
              <a:t>53</a:t>
            </a:fld>
            <a:endParaRPr lang="en-IN"/>
          </a:p>
        </p:txBody>
      </p:sp>
    </p:spTree>
    <p:extLst>
      <p:ext uri="{BB962C8B-B14F-4D97-AF65-F5344CB8AC3E}">
        <p14:creationId xmlns:p14="http://schemas.microsoft.com/office/powerpoint/2010/main" val="466466129"/>
      </p:ext>
    </p:extLst>
  </p:cSld>
  <p:clrMapOvr>
    <a:masterClrMapping/>
  </p:clrMapOvr>
  <p:timing>
    <p:tnLst>
      <p:par>
        <p:cTn id="1" dur="indefinite" restart="never" nodeType="tmRoot"/>
      </p:par>
    </p:tnLst>
  </p:timing>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dirty="0"/>
              <a:t>Why is a CDN important?</a:t>
            </a:r>
          </a:p>
        </p:txBody>
      </p:sp>
      <p:sp>
        <p:nvSpPr>
          <p:cNvPr id="3" name="Content Placeholder 2"/>
          <p:cNvSpPr>
            <a:spLocks noGrp="1"/>
          </p:cNvSpPr>
          <p:nvPr>
            <p:ph idx="1"/>
          </p:nvPr>
        </p:nvSpPr>
        <p:spPr/>
        <p:txBody>
          <a:bodyPr>
            <a:normAutofit/>
          </a:bodyPr>
          <a:lstStyle/>
          <a:p>
            <a:r>
              <a:rPr lang="en-US" sz="2400" dirty="0"/>
              <a:t>A CDN improves efficiency by introducing </a:t>
            </a:r>
            <a:r>
              <a:rPr lang="en-US" sz="2400" b="1" dirty="0"/>
              <a:t>intermediary servers between the client and the website server. </a:t>
            </a:r>
            <a:endParaRPr lang="en-US" sz="2400" b="1" dirty="0" smtClean="0"/>
          </a:p>
          <a:p>
            <a:r>
              <a:rPr lang="en-US" sz="2400" dirty="0" smtClean="0"/>
              <a:t>These </a:t>
            </a:r>
            <a:r>
              <a:rPr lang="en-US" sz="2400" dirty="0"/>
              <a:t>CDN servers manage some of the client-server communications. </a:t>
            </a:r>
            <a:r>
              <a:rPr lang="en-US" sz="2400" b="1" dirty="0"/>
              <a:t>They decrease web traffic to the web server, reduce bandwidth consumption,</a:t>
            </a:r>
            <a:r>
              <a:rPr lang="en-US" sz="2400" dirty="0"/>
              <a:t> and improve the user experience of your applications</a:t>
            </a:r>
            <a:r>
              <a:rPr lang="en-US" sz="2400" dirty="0" smtClean="0"/>
              <a:t>.</a:t>
            </a:r>
          </a:p>
          <a:p>
            <a:endParaRPr lang="en-US" sz="2400" b="1" dirty="0"/>
          </a:p>
          <a:p>
            <a:endParaRPr lang="en-US" sz="2400" b="1" dirty="0" smtClean="0"/>
          </a:p>
          <a:p>
            <a:endParaRPr lang="en-US" sz="2400" b="1" dirty="0"/>
          </a:p>
          <a:p>
            <a:pPr marL="0" indent="0">
              <a:buNone/>
            </a:pPr>
            <a:endParaRPr lang="en-US" sz="2400" b="1" dirty="0"/>
          </a:p>
          <a:p>
            <a:pPr marL="0" indent="0">
              <a:buNone/>
            </a:pPr>
            <a:r>
              <a:rPr lang="en-IN" sz="1600" b="1" dirty="0" smtClean="0"/>
              <a:t>https://aws.amazon.com/what-is/cdn/</a:t>
            </a:r>
            <a:endParaRPr lang="en-IN" sz="1600" b="1" dirty="0"/>
          </a:p>
        </p:txBody>
      </p:sp>
      <p:sp>
        <p:nvSpPr>
          <p:cNvPr id="4" name="Date Placeholder 3"/>
          <p:cNvSpPr>
            <a:spLocks noGrp="1"/>
          </p:cNvSpPr>
          <p:nvPr>
            <p:ph type="dt" sz="half" idx="10"/>
          </p:nvPr>
        </p:nvSpPr>
        <p:spPr/>
        <p:txBody>
          <a:bodyPr/>
          <a:lstStyle/>
          <a:p>
            <a:fld id="{63EC8A4F-30A4-4422-BC8E-06782258F9D3}" type="datetime1">
              <a:rPr lang="en-IN" smtClean="0"/>
              <a:t>27-03-2026</a:t>
            </a:fld>
            <a:endParaRPr lang="en-IN"/>
          </a:p>
        </p:txBody>
      </p:sp>
      <p:sp>
        <p:nvSpPr>
          <p:cNvPr id="5" name="Footer Placeholder 4"/>
          <p:cNvSpPr>
            <a:spLocks noGrp="1"/>
          </p:cNvSpPr>
          <p:nvPr>
            <p:ph type="ftr" sz="quarter" idx="11"/>
          </p:nvPr>
        </p:nvSpPr>
        <p:spPr/>
        <p:txBody>
          <a:bodyPr/>
          <a:lstStyle/>
          <a:p>
            <a:r>
              <a:rPr lang="en-IN" smtClean="0"/>
              <a:t>Prof. Shweta Dhawan Chachra</a:t>
            </a:r>
            <a:endParaRPr lang="en-IN"/>
          </a:p>
        </p:txBody>
      </p:sp>
      <p:sp>
        <p:nvSpPr>
          <p:cNvPr id="6" name="Slide Number Placeholder 5"/>
          <p:cNvSpPr>
            <a:spLocks noGrp="1"/>
          </p:cNvSpPr>
          <p:nvPr>
            <p:ph type="sldNum" sz="quarter" idx="12"/>
          </p:nvPr>
        </p:nvSpPr>
        <p:spPr/>
        <p:txBody>
          <a:bodyPr/>
          <a:lstStyle/>
          <a:p>
            <a:fld id="{E159CD84-036B-4754-BD39-CB865687F047}" type="slidenum">
              <a:rPr lang="en-IN" smtClean="0"/>
              <a:t>54</a:t>
            </a:fld>
            <a:endParaRPr lang="en-IN"/>
          </a:p>
        </p:txBody>
      </p:sp>
    </p:spTree>
    <p:extLst>
      <p:ext uri="{BB962C8B-B14F-4D97-AF65-F5344CB8AC3E}">
        <p14:creationId xmlns:p14="http://schemas.microsoft.com/office/powerpoint/2010/main" val="3455620649"/>
      </p:ext>
    </p:extLst>
  </p:cSld>
  <p:clrMapOvr>
    <a:masterClrMapping/>
  </p:clrMapOvr>
  <p:timing>
    <p:tnLst>
      <p:par>
        <p:cTn id="1" dur="indefinite" restart="never" nodeType="tmRoot"/>
      </p:par>
    </p:tnLst>
  </p:timing>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dirty="0"/>
              <a:t>CDN?</a:t>
            </a:r>
          </a:p>
        </p:txBody>
      </p:sp>
      <p:sp>
        <p:nvSpPr>
          <p:cNvPr id="3" name="Content Placeholder 2"/>
          <p:cNvSpPr>
            <a:spLocks noGrp="1"/>
          </p:cNvSpPr>
          <p:nvPr>
            <p:ph idx="1"/>
          </p:nvPr>
        </p:nvSpPr>
        <p:spPr/>
        <p:txBody>
          <a:bodyPr>
            <a:normAutofit/>
          </a:bodyPr>
          <a:lstStyle/>
          <a:p>
            <a:r>
              <a:rPr lang="en-US" sz="2400" dirty="0"/>
              <a:t>You could think of a CDN like an ATM. </a:t>
            </a:r>
            <a:endParaRPr lang="en-US" sz="2400" dirty="0" smtClean="0"/>
          </a:p>
          <a:p>
            <a:r>
              <a:rPr lang="en-US" sz="2400" dirty="0" smtClean="0"/>
              <a:t>Having </a:t>
            </a:r>
            <a:r>
              <a:rPr lang="en-US" sz="2400" dirty="0"/>
              <a:t>a cash machine on practically every corner makes it fast and efficient to get money. </a:t>
            </a:r>
            <a:r>
              <a:rPr lang="en-US" sz="2400" b="1" dirty="0"/>
              <a:t>There’s no wait time in long bank lines, and the ATMs are placed in many convenient locations for immediate access.</a:t>
            </a:r>
          </a:p>
          <a:p>
            <a:endParaRPr lang="en-US" sz="2400" b="1" dirty="0" smtClean="0"/>
          </a:p>
          <a:p>
            <a:endParaRPr lang="en-US" sz="2400" b="1" dirty="0"/>
          </a:p>
          <a:p>
            <a:pPr marL="0" indent="0">
              <a:buNone/>
            </a:pPr>
            <a:endParaRPr lang="en-US" sz="2400" b="1" dirty="0"/>
          </a:p>
          <a:p>
            <a:pPr marL="0" indent="0">
              <a:buNone/>
            </a:pPr>
            <a:endParaRPr lang="en-IN" sz="1600" b="1" dirty="0" smtClean="0"/>
          </a:p>
          <a:p>
            <a:pPr marL="0" indent="0">
              <a:buNone/>
            </a:pPr>
            <a:endParaRPr lang="en-IN" sz="1600" b="1" dirty="0"/>
          </a:p>
          <a:p>
            <a:pPr marL="0" indent="0">
              <a:buNone/>
            </a:pPr>
            <a:endParaRPr lang="en-IN" sz="1600" b="1" dirty="0" smtClean="0"/>
          </a:p>
          <a:p>
            <a:pPr marL="0" indent="0">
              <a:buNone/>
            </a:pPr>
            <a:endParaRPr lang="en-IN" sz="1600" b="1" dirty="0"/>
          </a:p>
          <a:p>
            <a:pPr marL="0" indent="0">
              <a:buNone/>
            </a:pPr>
            <a:r>
              <a:rPr lang="en-IN" sz="1600" b="1" dirty="0" smtClean="0"/>
              <a:t>https</a:t>
            </a:r>
            <a:r>
              <a:rPr lang="en-IN" sz="1600" b="1" dirty="0"/>
              <a:t>://www.akamai.com/our-thinking/cdn/what-is-a-cdn</a:t>
            </a:r>
          </a:p>
        </p:txBody>
      </p:sp>
      <p:sp>
        <p:nvSpPr>
          <p:cNvPr id="4" name="Date Placeholder 3"/>
          <p:cNvSpPr>
            <a:spLocks noGrp="1"/>
          </p:cNvSpPr>
          <p:nvPr>
            <p:ph type="dt" sz="half" idx="10"/>
          </p:nvPr>
        </p:nvSpPr>
        <p:spPr/>
        <p:txBody>
          <a:bodyPr/>
          <a:lstStyle/>
          <a:p>
            <a:fld id="{CE9C3BD2-86CE-4E08-84F7-6C5E75CC772E}" type="datetime1">
              <a:rPr lang="en-IN" smtClean="0"/>
              <a:t>27-03-2026</a:t>
            </a:fld>
            <a:endParaRPr lang="en-IN"/>
          </a:p>
        </p:txBody>
      </p:sp>
      <p:sp>
        <p:nvSpPr>
          <p:cNvPr id="5" name="Footer Placeholder 4"/>
          <p:cNvSpPr>
            <a:spLocks noGrp="1"/>
          </p:cNvSpPr>
          <p:nvPr>
            <p:ph type="ftr" sz="quarter" idx="11"/>
          </p:nvPr>
        </p:nvSpPr>
        <p:spPr/>
        <p:txBody>
          <a:bodyPr/>
          <a:lstStyle/>
          <a:p>
            <a:r>
              <a:rPr lang="en-IN" smtClean="0"/>
              <a:t>Prof. Shweta Dhawan Chachra</a:t>
            </a:r>
            <a:endParaRPr lang="en-IN"/>
          </a:p>
        </p:txBody>
      </p:sp>
      <p:sp>
        <p:nvSpPr>
          <p:cNvPr id="6" name="Slide Number Placeholder 5"/>
          <p:cNvSpPr>
            <a:spLocks noGrp="1"/>
          </p:cNvSpPr>
          <p:nvPr>
            <p:ph type="sldNum" sz="quarter" idx="12"/>
          </p:nvPr>
        </p:nvSpPr>
        <p:spPr/>
        <p:txBody>
          <a:bodyPr/>
          <a:lstStyle/>
          <a:p>
            <a:fld id="{E159CD84-036B-4754-BD39-CB865687F047}" type="slidenum">
              <a:rPr lang="en-IN" smtClean="0"/>
              <a:t>55</a:t>
            </a:fld>
            <a:endParaRPr lang="en-IN"/>
          </a:p>
        </p:txBody>
      </p:sp>
    </p:spTree>
    <p:extLst>
      <p:ext uri="{BB962C8B-B14F-4D97-AF65-F5344CB8AC3E}">
        <p14:creationId xmlns:p14="http://schemas.microsoft.com/office/powerpoint/2010/main" val="973319282"/>
      </p:ext>
    </p:extLst>
  </p:cSld>
  <p:clrMapOvr>
    <a:masterClrMapping/>
  </p:clrMapOvr>
  <p:timing>
    <p:tnLst>
      <p:par>
        <p:cTn id="1" dur="indefinite" restart="never" nodeType="tmRoot"/>
      </p:par>
    </p:tnLst>
  </p:timing>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2E17DA0F-8D6B-44F8-9D0B-5F70C81AC482}"/>
              </a:ext>
            </a:extLst>
          </p:cNvPr>
          <p:cNvSpPr>
            <a:spLocks noGrp="1"/>
          </p:cNvSpPr>
          <p:nvPr>
            <p:ph type="title"/>
          </p:nvPr>
        </p:nvSpPr>
        <p:spPr/>
        <p:txBody>
          <a:bodyPr/>
          <a:lstStyle/>
          <a:p>
            <a:r>
              <a:rPr lang="en-IN" dirty="0"/>
              <a:t>Storage and Databases</a:t>
            </a:r>
          </a:p>
        </p:txBody>
      </p:sp>
      <p:pic>
        <p:nvPicPr>
          <p:cNvPr id="5" name="Picture 4" descr="A picture containing object&#10;&#10;Description generated with very high confidence">
            <a:extLst>
              <a:ext uri="{FF2B5EF4-FFF2-40B4-BE49-F238E27FC236}">
                <a16:creationId xmlns:a16="http://schemas.microsoft.com/office/drawing/2014/main" xmlns="" id="{2A1237FD-7DC7-4AD5-8B5E-A5F30F56CA0B}"/>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466725" y="2231240"/>
            <a:ext cx="8210550" cy="2395520"/>
          </a:xfrm>
          <a:prstGeom prst="rect">
            <a:avLst/>
          </a:prstGeom>
        </p:spPr>
      </p:pic>
      <p:pic>
        <p:nvPicPr>
          <p:cNvPr id="6" name="Shape 368" descr="Cloud-Bigtable_256px.png">
            <a:extLst>
              <a:ext uri="{FF2B5EF4-FFF2-40B4-BE49-F238E27FC236}">
                <a16:creationId xmlns:a16="http://schemas.microsoft.com/office/drawing/2014/main" xmlns="" id="{B0179CCF-EDC4-44D2-B47E-7EA61F199C2E}"/>
              </a:ext>
            </a:extLst>
          </p:cNvPr>
          <p:cNvPicPr preferRelativeResize="0"/>
          <p:nvPr/>
        </p:nvPicPr>
        <p:blipFill rotWithShape="1">
          <a:blip r:embed="rId3">
            <a:alphaModFix/>
          </a:blip>
          <a:srcRect t="5092" b="5092"/>
          <a:stretch/>
        </p:blipFill>
        <p:spPr>
          <a:xfrm>
            <a:off x="2771801" y="3005237"/>
            <a:ext cx="834869" cy="999828"/>
          </a:xfrm>
          <a:prstGeom prst="rect">
            <a:avLst/>
          </a:prstGeom>
          <a:noFill/>
          <a:ln>
            <a:noFill/>
          </a:ln>
        </p:spPr>
      </p:pic>
      <p:pic>
        <p:nvPicPr>
          <p:cNvPr id="7" name="Shape 369" descr="Cloud-Storage_256px.png">
            <a:extLst>
              <a:ext uri="{FF2B5EF4-FFF2-40B4-BE49-F238E27FC236}">
                <a16:creationId xmlns:a16="http://schemas.microsoft.com/office/drawing/2014/main" xmlns="" id="{860947E7-1C86-4E16-8EE7-A13B650109DC}"/>
              </a:ext>
            </a:extLst>
          </p:cNvPr>
          <p:cNvPicPr preferRelativeResize="0"/>
          <p:nvPr/>
        </p:nvPicPr>
        <p:blipFill rotWithShape="1">
          <a:blip r:embed="rId4">
            <a:alphaModFix/>
          </a:blip>
          <a:srcRect t="5092" b="5092"/>
          <a:stretch/>
        </p:blipFill>
        <p:spPr>
          <a:xfrm>
            <a:off x="1389036" y="2756926"/>
            <a:ext cx="834869" cy="999828"/>
          </a:xfrm>
          <a:prstGeom prst="rect">
            <a:avLst/>
          </a:prstGeom>
          <a:noFill/>
          <a:ln>
            <a:noFill/>
          </a:ln>
        </p:spPr>
      </p:pic>
      <p:pic>
        <p:nvPicPr>
          <p:cNvPr id="8" name="Shape 370" descr="Cloud-Datastore_256px.png">
            <a:extLst>
              <a:ext uri="{FF2B5EF4-FFF2-40B4-BE49-F238E27FC236}">
                <a16:creationId xmlns:a16="http://schemas.microsoft.com/office/drawing/2014/main" xmlns="" id="{498EE8A6-7505-472F-847F-2CABD2C3D93E}"/>
              </a:ext>
            </a:extLst>
          </p:cNvPr>
          <p:cNvPicPr preferRelativeResize="0"/>
          <p:nvPr/>
        </p:nvPicPr>
        <p:blipFill rotWithShape="1">
          <a:blip r:embed="rId5">
            <a:alphaModFix/>
          </a:blip>
          <a:srcRect t="5092" b="5092"/>
          <a:stretch/>
        </p:blipFill>
        <p:spPr>
          <a:xfrm>
            <a:off x="4154566" y="2756926"/>
            <a:ext cx="834869" cy="999828"/>
          </a:xfrm>
          <a:prstGeom prst="rect">
            <a:avLst/>
          </a:prstGeom>
          <a:noFill/>
          <a:ln>
            <a:noFill/>
          </a:ln>
        </p:spPr>
      </p:pic>
      <p:pic>
        <p:nvPicPr>
          <p:cNvPr id="9" name="Shape 371" descr="Cloud-SQL_256px.png">
            <a:extLst>
              <a:ext uri="{FF2B5EF4-FFF2-40B4-BE49-F238E27FC236}">
                <a16:creationId xmlns:a16="http://schemas.microsoft.com/office/drawing/2014/main" xmlns="" id="{A841FF7A-8057-403D-8279-20F097EAFA10}"/>
              </a:ext>
            </a:extLst>
          </p:cNvPr>
          <p:cNvPicPr preferRelativeResize="0"/>
          <p:nvPr/>
        </p:nvPicPr>
        <p:blipFill rotWithShape="1">
          <a:blip r:embed="rId6">
            <a:alphaModFix/>
          </a:blip>
          <a:srcRect t="5092" b="5092"/>
          <a:stretch/>
        </p:blipFill>
        <p:spPr>
          <a:xfrm>
            <a:off x="5537331" y="3005237"/>
            <a:ext cx="834869" cy="999828"/>
          </a:xfrm>
          <a:prstGeom prst="rect">
            <a:avLst/>
          </a:prstGeom>
          <a:noFill/>
          <a:ln>
            <a:noFill/>
          </a:ln>
        </p:spPr>
      </p:pic>
      <p:pic>
        <p:nvPicPr>
          <p:cNvPr id="10" name="Shape 373" descr="Persistent-Disk_256px.png">
            <a:extLst>
              <a:ext uri="{FF2B5EF4-FFF2-40B4-BE49-F238E27FC236}">
                <a16:creationId xmlns:a16="http://schemas.microsoft.com/office/drawing/2014/main" xmlns="" id="{EBE6D82A-AA9F-4011-BA5E-0D5A41C43F23}"/>
              </a:ext>
            </a:extLst>
          </p:cNvPr>
          <p:cNvPicPr preferRelativeResize="0"/>
          <p:nvPr/>
        </p:nvPicPr>
        <p:blipFill rotWithShape="1">
          <a:blip r:embed="rId7">
            <a:alphaModFix/>
          </a:blip>
          <a:srcRect t="5092" b="5092"/>
          <a:stretch/>
        </p:blipFill>
        <p:spPr>
          <a:xfrm>
            <a:off x="6920096" y="2756926"/>
            <a:ext cx="834869" cy="999828"/>
          </a:xfrm>
          <a:prstGeom prst="rect">
            <a:avLst/>
          </a:prstGeom>
          <a:noFill/>
          <a:ln>
            <a:noFill/>
          </a:ln>
        </p:spPr>
      </p:pic>
      <p:sp>
        <p:nvSpPr>
          <p:cNvPr id="11" name="Shape 364">
            <a:extLst>
              <a:ext uri="{FF2B5EF4-FFF2-40B4-BE49-F238E27FC236}">
                <a16:creationId xmlns:a16="http://schemas.microsoft.com/office/drawing/2014/main" xmlns="" id="{3542ED86-DB61-42B3-90BF-B269F973E613}"/>
              </a:ext>
            </a:extLst>
          </p:cNvPr>
          <p:cNvSpPr txBox="1"/>
          <p:nvPr/>
        </p:nvSpPr>
        <p:spPr>
          <a:xfrm>
            <a:off x="1367898" y="4609196"/>
            <a:ext cx="877142" cy="333600"/>
          </a:xfrm>
          <a:prstGeom prst="rect">
            <a:avLst/>
          </a:prstGeom>
          <a:noFill/>
          <a:ln>
            <a:noFill/>
          </a:ln>
        </p:spPr>
        <p:txBody>
          <a:bodyPr lIns="76804" tIns="76804" rIns="76804" bIns="76804" anchor="ctr" anchorCtr="0">
            <a:noAutofit/>
          </a:bodyPr>
          <a:lstStyle/>
          <a:p>
            <a:pPr algn="ctr">
              <a:buClr>
                <a:srgbClr val="808080"/>
              </a:buClr>
              <a:buSzPct val="25000"/>
            </a:pPr>
            <a:r>
              <a:rPr lang="en-US" sz="1300" b="1" dirty="0">
                <a:solidFill>
                  <a:srgbClr val="808080"/>
                </a:solidFill>
                <a:ea typeface="Open Sans"/>
                <a:cs typeface="Open Sans"/>
                <a:sym typeface="Open Sans"/>
              </a:rPr>
              <a:t>Cloud Storage</a:t>
            </a:r>
          </a:p>
        </p:txBody>
      </p:sp>
      <p:sp>
        <p:nvSpPr>
          <p:cNvPr id="12" name="Shape 365">
            <a:extLst>
              <a:ext uri="{FF2B5EF4-FFF2-40B4-BE49-F238E27FC236}">
                <a16:creationId xmlns:a16="http://schemas.microsoft.com/office/drawing/2014/main" xmlns="" id="{E42284CD-5F51-4B69-BEA8-07174FE42A11}"/>
              </a:ext>
            </a:extLst>
          </p:cNvPr>
          <p:cNvSpPr txBox="1"/>
          <p:nvPr/>
        </p:nvSpPr>
        <p:spPr>
          <a:xfrm>
            <a:off x="2658563" y="1897640"/>
            <a:ext cx="1061342" cy="333600"/>
          </a:xfrm>
          <a:prstGeom prst="rect">
            <a:avLst/>
          </a:prstGeom>
          <a:noFill/>
          <a:ln>
            <a:noFill/>
          </a:ln>
        </p:spPr>
        <p:txBody>
          <a:bodyPr lIns="76804" tIns="76804" rIns="76804" bIns="76804" anchor="ctr" anchorCtr="0">
            <a:noAutofit/>
          </a:bodyPr>
          <a:lstStyle/>
          <a:p>
            <a:pPr algn="ctr">
              <a:buClr>
                <a:srgbClr val="808080"/>
              </a:buClr>
              <a:buSzPct val="25000"/>
            </a:pPr>
            <a:r>
              <a:rPr lang="en-US" sz="1300" b="1" dirty="0">
                <a:solidFill>
                  <a:srgbClr val="0D80B9"/>
                </a:solidFill>
                <a:ea typeface="Open Sans"/>
                <a:cs typeface="Open Sans"/>
                <a:sym typeface="Open Sans"/>
              </a:rPr>
              <a:t>Cloud </a:t>
            </a:r>
            <a:r>
              <a:rPr lang="en-US" sz="1300" b="1" dirty="0" err="1">
                <a:solidFill>
                  <a:srgbClr val="0D80B9"/>
                </a:solidFill>
                <a:ea typeface="Open Sans"/>
                <a:cs typeface="Open Sans"/>
                <a:sym typeface="Open Sans"/>
              </a:rPr>
              <a:t>Bigtable</a:t>
            </a:r>
            <a:endParaRPr lang="en-US" sz="1300" b="1" dirty="0">
              <a:solidFill>
                <a:srgbClr val="0D80B9"/>
              </a:solidFill>
              <a:ea typeface="Open Sans"/>
              <a:cs typeface="Open Sans"/>
              <a:sym typeface="Open Sans"/>
            </a:endParaRPr>
          </a:p>
        </p:txBody>
      </p:sp>
      <p:sp>
        <p:nvSpPr>
          <p:cNvPr id="13" name="Shape 366">
            <a:extLst>
              <a:ext uri="{FF2B5EF4-FFF2-40B4-BE49-F238E27FC236}">
                <a16:creationId xmlns:a16="http://schemas.microsoft.com/office/drawing/2014/main" xmlns="" id="{8B9C06AA-9B04-40A4-9663-A5FE87E9BDD7}"/>
              </a:ext>
            </a:extLst>
          </p:cNvPr>
          <p:cNvSpPr txBox="1"/>
          <p:nvPr/>
        </p:nvSpPr>
        <p:spPr>
          <a:xfrm>
            <a:off x="4112292" y="4609196"/>
            <a:ext cx="877142" cy="333600"/>
          </a:xfrm>
          <a:prstGeom prst="rect">
            <a:avLst/>
          </a:prstGeom>
          <a:noFill/>
          <a:ln>
            <a:noFill/>
          </a:ln>
        </p:spPr>
        <p:txBody>
          <a:bodyPr lIns="76804" tIns="76804" rIns="76804" bIns="76804" anchor="ctr" anchorCtr="0">
            <a:noAutofit/>
          </a:bodyPr>
          <a:lstStyle/>
          <a:p>
            <a:pPr algn="ctr">
              <a:buClr>
                <a:srgbClr val="808080"/>
              </a:buClr>
              <a:buSzPct val="25000"/>
            </a:pPr>
            <a:r>
              <a:rPr lang="en-US" sz="1300" b="1" dirty="0">
                <a:solidFill>
                  <a:srgbClr val="03A4C5"/>
                </a:solidFill>
                <a:ea typeface="Open Sans"/>
                <a:cs typeface="Open Sans"/>
                <a:sym typeface="Open Sans"/>
              </a:rPr>
              <a:t>Cloud Datastore</a:t>
            </a:r>
          </a:p>
        </p:txBody>
      </p:sp>
      <p:sp>
        <p:nvSpPr>
          <p:cNvPr id="14" name="Shape 367">
            <a:extLst>
              <a:ext uri="{FF2B5EF4-FFF2-40B4-BE49-F238E27FC236}">
                <a16:creationId xmlns:a16="http://schemas.microsoft.com/office/drawing/2014/main" xmlns="" id="{88AED260-F35E-4B89-B357-1D0C8F65DA0E}"/>
              </a:ext>
            </a:extLst>
          </p:cNvPr>
          <p:cNvSpPr txBox="1"/>
          <p:nvPr/>
        </p:nvSpPr>
        <p:spPr>
          <a:xfrm>
            <a:off x="5516193" y="1897640"/>
            <a:ext cx="877142" cy="333600"/>
          </a:xfrm>
          <a:prstGeom prst="rect">
            <a:avLst/>
          </a:prstGeom>
          <a:noFill/>
          <a:ln>
            <a:noFill/>
          </a:ln>
        </p:spPr>
        <p:txBody>
          <a:bodyPr lIns="76804" tIns="76804" rIns="76804" bIns="76804" anchor="ctr" anchorCtr="0">
            <a:noAutofit/>
          </a:bodyPr>
          <a:lstStyle/>
          <a:p>
            <a:pPr algn="ctr">
              <a:buClr>
                <a:srgbClr val="808080"/>
              </a:buClr>
              <a:buSzPct val="25000"/>
            </a:pPr>
            <a:r>
              <a:rPr lang="en-US" sz="1300" b="1" dirty="0">
                <a:solidFill>
                  <a:srgbClr val="9C4999"/>
                </a:solidFill>
                <a:ea typeface="Open Sans"/>
                <a:cs typeface="Open Sans"/>
                <a:sym typeface="Open Sans"/>
              </a:rPr>
              <a:t>Cloud SQL</a:t>
            </a:r>
          </a:p>
        </p:txBody>
      </p:sp>
      <p:sp>
        <p:nvSpPr>
          <p:cNvPr id="15" name="Shape 372">
            <a:extLst>
              <a:ext uri="{FF2B5EF4-FFF2-40B4-BE49-F238E27FC236}">
                <a16:creationId xmlns:a16="http://schemas.microsoft.com/office/drawing/2014/main" xmlns="" id="{3A86498B-65A6-4765-9005-308274E5374F}"/>
              </a:ext>
            </a:extLst>
          </p:cNvPr>
          <p:cNvSpPr txBox="1"/>
          <p:nvPr/>
        </p:nvSpPr>
        <p:spPr>
          <a:xfrm>
            <a:off x="6877822" y="4609196"/>
            <a:ext cx="877142" cy="333600"/>
          </a:xfrm>
          <a:prstGeom prst="rect">
            <a:avLst/>
          </a:prstGeom>
          <a:noFill/>
          <a:ln>
            <a:noFill/>
          </a:ln>
        </p:spPr>
        <p:txBody>
          <a:bodyPr lIns="76804" tIns="76804" rIns="76804" bIns="76804" anchor="ctr" anchorCtr="0">
            <a:noAutofit/>
          </a:bodyPr>
          <a:lstStyle/>
          <a:p>
            <a:pPr algn="ctr">
              <a:buClr>
                <a:srgbClr val="808080"/>
              </a:buClr>
              <a:buSzPct val="25000"/>
            </a:pPr>
            <a:r>
              <a:rPr lang="en-US" sz="1300" b="1" dirty="0">
                <a:solidFill>
                  <a:srgbClr val="FF6161"/>
                </a:solidFill>
                <a:ea typeface="Open Sans"/>
                <a:cs typeface="Open Sans"/>
                <a:sym typeface="Open Sans"/>
              </a:rPr>
              <a:t>Persistent Disk</a:t>
            </a:r>
          </a:p>
        </p:txBody>
      </p:sp>
    </p:spTree>
    <p:extLst>
      <p:ext uri="{BB962C8B-B14F-4D97-AF65-F5344CB8AC3E}">
        <p14:creationId xmlns:p14="http://schemas.microsoft.com/office/powerpoint/2010/main" val="3661427613"/>
      </p:ext>
    </p:extLst>
  </p:cSld>
  <p:clrMapOvr>
    <a:masterClrMapping/>
  </p:clrMapOvr>
  <p:timing>
    <p:tnLst>
      <p:par>
        <p:cTn id="1" dur="indefinite" restart="never" nodeType="tmRoot"/>
      </p:par>
    </p:tnLst>
  </p:timing>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dirty="0"/>
              <a:t>Google Cloud Platform Services</a:t>
            </a:r>
          </a:p>
        </p:txBody>
      </p:sp>
      <p:sp>
        <p:nvSpPr>
          <p:cNvPr id="3" name="Text Placeholder 2"/>
          <p:cNvSpPr>
            <a:spLocks noGrp="1"/>
          </p:cNvSpPr>
          <p:nvPr>
            <p:ph type="body" sz="quarter" idx="10"/>
          </p:nvPr>
        </p:nvSpPr>
        <p:spPr/>
        <p:txBody>
          <a:bodyPr>
            <a:noAutofit/>
          </a:bodyPr>
          <a:lstStyle/>
          <a:p>
            <a:pPr marL="0" indent="0">
              <a:buNone/>
            </a:pPr>
            <a:r>
              <a:rPr lang="en-IN" sz="2400" b="1" dirty="0" smtClean="0"/>
              <a:t>Cloud Storage</a:t>
            </a:r>
          </a:p>
          <a:p>
            <a:r>
              <a:rPr lang="en-US" sz="2400" b="1" dirty="0"/>
              <a:t>Object storage for companies of all sizes</a:t>
            </a:r>
          </a:p>
          <a:p>
            <a:r>
              <a:rPr lang="en-US" sz="2400" dirty="0"/>
              <a:t>Cloud Storage is a managed service for </a:t>
            </a:r>
            <a:r>
              <a:rPr lang="en-US" sz="2400" b="1" dirty="0"/>
              <a:t>storing unstructured data.</a:t>
            </a:r>
            <a:r>
              <a:rPr lang="en-US" sz="2400" dirty="0"/>
              <a:t> Store any amount of data and retrieve it as often as you like</a:t>
            </a:r>
            <a:r>
              <a:rPr lang="en-US" sz="2400" dirty="0" smtClean="0"/>
              <a:t>.</a:t>
            </a:r>
          </a:p>
          <a:p>
            <a:endParaRPr lang="en-US" sz="2400" dirty="0"/>
          </a:p>
          <a:p>
            <a:r>
              <a:rPr lang="en-US" sz="2400" dirty="0"/>
              <a:t>To use Cloud Storage, </a:t>
            </a:r>
            <a:r>
              <a:rPr lang="en-US" sz="2400" b="1" dirty="0"/>
              <a:t>you’ll first create a bucket, a basic container that holds your data in Cloud Storage</a:t>
            </a:r>
            <a:r>
              <a:rPr lang="en-US" sz="2400" dirty="0"/>
              <a:t>. You’ll then upload objects into that bucket—where you can download, share, and manage objects.</a:t>
            </a:r>
          </a:p>
        </p:txBody>
      </p:sp>
      <p:sp>
        <p:nvSpPr>
          <p:cNvPr id="4" name="AutoShape 2" descr="Google Compute Engine icon in Color Style"/>
          <p:cNvSpPr>
            <a:spLocks noChangeAspect="1" noChangeArrowheads="1"/>
          </p:cNvSpPr>
          <p:nvPr/>
        </p:nvSpPr>
        <p:spPr bwMode="auto">
          <a:xfrm>
            <a:off x="155575" y="-144463"/>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IN"/>
          </a:p>
        </p:txBody>
      </p:sp>
      <p:pic>
        <p:nvPicPr>
          <p:cNvPr id="6146"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012160" y="4742259"/>
            <a:ext cx="2143125" cy="21431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633136082"/>
      </p:ext>
    </p:extLst>
  </p:cSld>
  <p:clrMapOvr>
    <a:masterClrMapping/>
  </p:clrMapOvr>
  <p:timing>
    <p:tnLst>
      <p:par>
        <p:cTn id="1" dur="indefinite" restart="never" nodeType="tmRoot"/>
      </p:par>
    </p:tnLst>
  </p:timing>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dirty="0"/>
              <a:t>Google Cloud Platform Services</a:t>
            </a:r>
          </a:p>
        </p:txBody>
      </p:sp>
      <p:sp>
        <p:nvSpPr>
          <p:cNvPr id="3" name="Text Placeholder 2"/>
          <p:cNvSpPr>
            <a:spLocks noGrp="1"/>
          </p:cNvSpPr>
          <p:nvPr>
            <p:ph type="body" sz="quarter" idx="10"/>
          </p:nvPr>
        </p:nvSpPr>
        <p:spPr/>
        <p:txBody>
          <a:bodyPr>
            <a:noAutofit/>
          </a:bodyPr>
          <a:lstStyle/>
          <a:p>
            <a:pPr marL="0" indent="0">
              <a:buNone/>
            </a:pPr>
            <a:r>
              <a:rPr lang="en-IN" sz="2400" b="1" dirty="0" smtClean="0"/>
              <a:t>Cloud Storage</a:t>
            </a:r>
          </a:p>
          <a:p>
            <a:r>
              <a:rPr lang="en-US" sz="2400" dirty="0" smtClean="0"/>
              <a:t>Cloud </a:t>
            </a:r>
            <a:r>
              <a:rPr lang="en-US" sz="2400" dirty="0"/>
              <a:t>Storage is a service for storing your objects in Google Cloud. </a:t>
            </a:r>
            <a:r>
              <a:rPr lang="en-US" sz="2400" b="1" dirty="0" smtClean="0"/>
              <a:t>An </a:t>
            </a:r>
            <a:r>
              <a:rPr lang="en-US" sz="2400" b="1" dirty="0"/>
              <a:t>object is an immutable piece of data consisting of a file of any format. </a:t>
            </a:r>
            <a:endParaRPr lang="en-US" sz="2400" b="1" dirty="0" smtClean="0"/>
          </a:p>
        </p:txBody>
      </p:sp>
      <p:sp>
        <p:nvSpPr>
          <p:cNvPr id="4" name="AutoShape 2" descr="Google Compute Engine icon in Color Style"/>
          <p:cNvSpPr>
            <a:spLocks noChangeAspect="1" noChangeArrowheads="1"/>
          </p:cNvSpPr>
          <p:nvPr/>
        </p:nvSpPr>
        <p:spPr bwMode="auto">
          <a:xfrm>
            <a:off x="155575" y="-144463"/>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IN"/>
          </a:p>
        </p:txBody>
      </p:sp>
    </p:spTree>
    <p:extLst>
      <p:ext uri="{BB962C8B-B14F-4D97-AF65-F5344CB8AC3E}">
        <p14:creationId xmlns:p14="http://schemas.microsoft.com/office/powerpoint/2010/main" val="2070766432"/>
      </p:ext>
    </p:extLst>
  </p:cSld>
  <p:clrMapOvr>
    <a:masterClrMapping/>
  </p:clrMapOvr>
  <p:timing>
    <p:tnLst>
      <p:par>
        <p:cTn id="1" dur="indefinite" restart="never" nodeType="tmRoot"/>
      </p:par>
    </p:tnLst>
  </p:timing>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dirty="0"/>
              <a:t>Google Cloud Platform Services</a:t>
            </a:r>
          </a:p>
        </p:txBody>
      </p:sp>
      <p:sp>
        <p:nvSpPr>
          <p:cNvPr id="3" name="Text Placeholder 2"/>
          <p:cNvSpPr>
            <a:spLocks noGrp="1"/>
          </p:cNvSpPr>
          <p:nvPr>
            <p:ph type="body" sz="quarter" idx="10"/>
          </p:nvPr>
        </p:nvSpPr>
        <p:spPr/>
        <p:txBody>
          <a:bodyPr>
            <a:noAutofit/>
          </a:bodyPr>
          <a:lstStyle/>
          <a:p>
            <a:pPr marL="0" indent="0">
              <a:buNone/>
            </a:pPr>
            <a:r>
              <a:rPr lang="en-IN" sz="2400" b="1" dirty="0" smtClean="0"/>
              <a:t>Cloud Storage</a:t>
            </a:r>
          </a:p>
          <a:p>
            <a:r>
              <a:rPr lang="en-US" sz="2400" dirty="0" smtClean="0"/>
              <a:t>You </a:t>
            </a:r>
            <a:r>
              <a:rPr lang="en-US" sz="2400" dirty="0"/>
              <a:t>store objects in containers called buckets. All buckets are </a:t>
            </a:r>
            <a:r>
              <a:rPr lang="en-US" sz="2400" dirty="0" smtClean="0"/>
              <a:t>associated </a:t>
            </a:r>
            <a:r>
              <a:rPr lang="en-US" sz="2400" dirty="0"/>
              <a:t>with a project, and you can group your projects under an organization. </a:t>
            </a:r>
            <a:endParaRPr lang="en-US" sz="2400" dirty="0" smtClean="0"/>
          </a:p>
          <a:p>
            <a:r>
              <a:rPr lang="en-US" sz="2400" dirty="0" smtClean="0"/>
              <a:t>Each </a:t>
            </a:r>
            <a:r>
              <a:rPr lang="en-US" sz="2400" dirty="0"/>
              <a:t>project, bucket, and object in Google Cloud is a resource in Google </a:t>
            </a:r>
            <a:r>
              <a:rPr lang="en-US" sz="2400" dirty="0" smtClean="0"/>
              <a:t>Cloud</a:t>
            </a:r>
            <a:endParaRPr lang="en-US" sz="2400" dirty="0"/>
          </a:p>
        </p:txBody>
      </p:sp>
      <p:sp>
        <p:nvSpPr>
          <p:cNvPr id="4" name="AutoShape 2" descr="Google Compute Engine icon in Color Style"/>
          <p:cNvSpPr>
            <a:spLocks noChangeAspect="1" noChangeArrowheads="1"/>
          </p:cNvSpPr>
          <p:nvPr/>
        </p:nvSpPr>
        <p:spPr bwMode="auto">
          <a:xfrm>
            <a:off x="155575" y="-144463"/>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IN"/>
          </a:p>
        </p:txBody>
      </p:sp>
      <p:pic>
        <p:nvPicPr>
          <p:cNvPr id="7170"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283968" y="3359646"/>
            <a:ext cx="4067175" cy="349835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1955362625"/>
      </p:ext>
    </p:extLst>
  </p:cSld>
  <p:clrMapOvr>
    <a:masterClrMapping/>
  </p:clrMapOvr>
  <p:timing>
    <p:tnLst>
      <p:par>
        <p:cTn id="1" dur="indefinite" restart="never" nodeType="tmRoot"/>
      </p:par>
    </p:tnLst>
  </p:timing>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dirty="0"/>
              <a:t>Google Cloud Platform Services</a:t>
            </a:r>
          </a:p>
        </p:txBody>
      </p:sp>
      <p:sp>
        <p:nvSpPr>
          <p:cNvPr id="3" name="Text Placeholder 2"/>
          <p:cNvSpPr>
            <a:spLocks noGrp="1"/>
          </p:cNvSpPr>
          <p:nvPr>
            <p:ph type="body" sz="quarter" idx="10"/>
          </p:nvPr>
        </p:nvSpPr>
        <p:spPr/>
        <p:txBody>
          <a:bodyPr>
            <a:noAutofit/>
          </a:bodyPr>
          <a:lstStyle/>
          <a:p>
            <a:pPr marL="0" indent="0">
              <a:buNone/>
            </a:pPr>
            <a:r>
              <a:rPr lang="en-IN" sz="2400" b="1" dirty="0" smtClean="0"/>
              <a:t>Cloud Storage</a:t>
            </a:r>
          </a:p>
          <a:p>
            <a:r>
              <a:rPr lang="en-US" sz="2400" dirty="0" smtClean="0"/>
              <a:t>After </a:t>
            </a:r>
            <a:r>
              <a:rPr lang="en-US" sz="2400" dirty="0"/>
              <a:t>you create a project, you can create Cloud Storage buckets, upload objects to your buckets, and download objects from your buckets. </a:t>
            </a:r>
            <a:endParaRPr lang="en-US" sz="2400" dirty="0" smtClean="0"/>
          </a:p>
          <a:p>
            <a:r>
              <a:rPr lang="en-US" sz="2400" dirty="0" smtClean="0"/>
              <a:t>You </a:t>
            </a:r>
            <a:r>
              <a:rPr lang="en-US" sz="2400" dirty="0"/>
              <a:t>can also grant permissions to make your data accessible to principals you specify, or - </a:t>
            </a:r>
            <a:r>
              <a:rPr lang="en-US" sz="2400" b="1" dirty="0"/>
              <a:t>for certain use cases such as hosting a website - accessible to everyone on the public internet.</a:t>
            </a:r>
          </a:p>
        </p:txBody>
      </p:sp>
      <p:sp>
        <p:nvSpPr>
          <p:cNvPr id="4" name="AutoShape 2" descr="Google Compute Engine icon in Color Style"/>
          <p:cNvSpPr>
            <a:spLocks noChangeAspect="1" noChangeArrowheads="1"/>
          </p:cNvSpPr>
          <p:nvPr/>
        </p:nvSpPr>
        <p:spPr bwMode="auto">
          <a:xfrm>
            <a:off x="155575" y="-144463"/>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IN"/>
          </a:p>
        </p:txBody>
      </p:sp>
      <p:pic>
        <p:nvPicPr>
          <p:cNvPr id="6146"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012160" y="4742259"/>
            <a:ext cx="2143125" cy="21431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1201804865"/>
      </p:ext>
    </p:extLst>
  </p:cSld>
  <p:clrMapOvr>
    <a:masterClrMapping/>
  </p:clrMapOvr>
  <p:timing>
    <p:tnLst>
      <p:par>
        <p:cTn id="1" dur="indefinite" restart="never" nodeType="tmRoot"/>
      </p:par>
    </p:tnLst>
  </p:timing>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dirty="0"/>
              <a:t>Google Cloud Platform Services</a:t>
            </a:r>
          </a:p>
        </p:txBody>
      </p:sp>
      <p:sp>
        <p:nvSpPr>
          <p:cNvPr id="3" name="Text Placeholder 2"/>
          <p:cNvSpPr>
            <a:spLocks noGrp="1"/>
          </p:cNvSpPr>
          <p:nvPr>
            <p:ph type="body" sz="quarter" idx="10"/>
          </p:nvPr>
        </p:nvSpPr>
        <p:spPr>
          <a:xfrm>
            <a:off x="466725" y="980728"/>
            <a:ext cx="8210550" cy="4415367"/>
          </a:xfrm>
        </p:spPr>
        <p:txBody>
          <a:bodyPr>
            <a:noAutofit/>
          </a:bodyPr>
          <a:lstStyle/>
          <a:p>
            <a:pPr marL="0" indent="0">
              <a:buNone/>
            </a:pPr>
            <a:r>
              <a:rPr lang="en-IN" sz="2400" b="1" dirty="0" smtClean="0"/>
              <a:t>Cloud Storage</a:t>
            </a:r>
          </a:p>
          <a:p>
            <a:r>
              <a:rPr lang="en-US" sz="2400" b="1" dirty="0" smtClean="0"/>
              <a:t>Organization</a:t>
            </a:r>
            <a:r>
              <a:rPr lang="en-US" sz="2400" dirty="0"/>
              <a:t>: Your company, called Example Inc., creates a Google Cloud organization called exampleinc.org.</a:t>
            </a:r>
          </a:p>
          <a:p>
            <a:r>
              <a:rPr lang="en-US" sz="2400" b="1" dirty="0"/>
              <a:t>Project</a:t>
            </a:r>
            <a:r>
              <a:rPr lang="en-US" sz="2400" dirty="0"/>
              <a:t>: Example Inc. is building several applications, and each one is associated with a project. Each project has its own set of Cloud Storage APIs, as well as other resources</a:t>
            </a:r>
            <a:r>
              <a:rPr lang="en-US" sz="2400" dirty="0" smtClean="0"/>
              <a:t>.</a:t>
            </a:r>
            <a:endParaRPr lang="en-US" sz="2400" dirty="0"/>
          </a:p>
        </p:txBody>
      </p:sp>
      <p:sp>
        <p:nvSpPr>
          <p:cNvPr id="4" name="AutoShape 2" descr="Google Compute Engine icon in Color Style"/>
          <p:cNvSpPr>
            <a:spLocks noChangeAspect="1" noChangeArrowheads="1"/>
          </p:cNvSpPr>
          <p:nvPr/>
        </p:nvSpPr>
        <p:spPr bwMode="auto">
          <a:xfrm>
            <a:off x="155575" y="-144463"/>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IN"/>
          </a:p>
        </p:txBody>
      </p:sp>
      <p:pic>
        <p:nvPicPr>
          <p:cNvPr id="7"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283968" y="3359646"/>
            <a:ext cx="4067175" cy="349835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4122177785"/>
      </p:ext>
    </p:extLst>
  </p:cSld>
  <p:clrMapOvr>
    <a:masterClrMapping/>
  </p:clrMapOvr>
  <p:timing>
    <p:tnLst>
      <p:par>
        <p:cTn id="1" dur="indefinite" restart="never" nodeType="tmRoot"/>
      </p:par>
    </p:tnLst>
  </p:timing>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dirty="0"/>
              <a:t>Google Cloud Platform Services</a:t>
            </a:r>
          </a:p>
        </p:txBody>
      </p:sp>
      <p:sp>
        <p:nvSpPr>
          <p:cNvPr id="3" name="Text Placeholder 2"/>
          <p:cNvSpPr>
            <a:spLocks noGrp="1"/>
          </p:cNvSpPr>
          <p:nvPr>
            <p:ph type="body" sz="quarter" idx="10"/>
          </p:nvPr>
        </p:nvSpPr>
        <p:spPr>
          <a:xfrm>
            <a:off x="466725" y="980728"/>
            <a:ext cx="8210550" cy="4415367"/>
          </a:xfrm>
        </p:spPr>
        <p:txBody>
          <a:bodyPr>
            <a:noAutofit/>
          </a:bodyPr>
          <a:lstStyle/>
          <a:p>
            <a:pPr marL="0" indent="0">
              <a:buNone/>
            </a:pPr>
            <a:r>
              <a:rPr lang="en-IN" sz="2400" b="1" dirty="0" smtClean="0"/>
              <a:t>Cloud Storage</a:t>
            </a:r>
          </a:p>
          <a:p>
            <a:r>
              <a:rPr lang="en-US" sz="2400" b="1" dirty="0" smtClean="0"/>
              <a:t>Bucket</a:t>
            </a:r>
            <a:r>
              <a:rPr lang="en-US" sz="2400" dirty="0"/>
              <a:t>: Each project can contain multiple buckets, which are containers to store your objects. For example, you might create a photos bucket for all the image files your app generates and a separate videos bucket.</a:t>
            </a:r>
          </a:p>
          <a:p>
            <a:r>
              <a:rPr lang="en-US" sz="2400" b="1" dirty="0"/>
              <a:t>Object</a:t>
            </a:r>
            <a:r>
              <a:rPr lang="en-US" sz="2400" dirty="0"/>
              <a:t>: An individual file, such as an image called puppy.png.</a:t>
            </a:r>
          </a:p>
        </p:txBody>
      </p:sp>
      <p:sp>
        <p:nvSpPr>
          <p:cNvPr id="4" name="AutoShape 2" descr="Google Compute Engine icon in Color Style"/>
          <p:cNvSpPr>
            <a:spLocks noChangeAspect="1" noChangeArrowheads="1"/>
          </p:cNvSpPr>
          <p:nvPr/>
        </p:nvSpPr>
        <p:spPr bwMode="auto">
          <a:xfrm>
            <a:off x="155575" y="-144463"/>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IN"/>
          </a:p>
        </p:txBody>
      </p:sp>
      <p:pic>
        <p:nvPicPr>
          <p:cNvPr id="5"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283968" y="3359646"/>
            <a:ext cx="4067175" cy="349835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3401344552"/>
      </p:ext>
    </p:extLst>
  </p:cSld>
  <p:clrMapOvr>
    <a:masterClrMapping/>
  </p:clrMapOvr>
  <p:timing>
    <p:tnLst>
      <p:par>
        <p:cTn id="1" dur="indefinite" restart="never" nodeType="tmRoot"/>
      </p:par>
    </p:tnLst>
  </p:timing>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dirty="0" smtClean="0"/>
              <a:t>Storage Classes</a:t>
            </a:r>
            <a:endParaRPr lang="en-IN" dirty="0"/>
          </a:p>
        </p:txBody>
      </p:sp>
      <p:sp>
        <p:nvSpPr>
          <p:cNvPr id="3" name="Text Placeholder 2"/>
          <p:cNvSpPr>
            <a:spLocks noGrp="1"/>
          </p:cNvSpPr>
          <p:nvPr>
            <p:ph type="body" sz="quarter" idx="10"/>
          </p:nvPr>
        </p:nvSpPr>
        <p:spPr/>
        <p:txBody>
          <a:bodyPr>
            <a:noAutofit/>
          </a:bodyPr>
          <a:lstStyle/>
          <a:p>
            <a:r>
              <a:rPr lang="en-US" sz="2400" dirty="0" smtClean="0"/>
              <a:t>A</a:t>
            </a:r>
            <a:r>
              <a:rPr lang="en-US" sz="2400" dirty="0"/>
              <a:t> </a:t>
            </a:r>
            <a:r>
              <a:rPr lang="en-US" sz="2400" i="1" dirty="0"/>
              <a:t>storage class</a:t>
            </a:r>
            <a:r>
              <a:rPr lang="en-US" sz="2400" dirty="0"/>
              <a:t> is a piece of metadata that is used by every object.</a:t>
            </a:r>
          </a:p>
          <a:p>
            <a:r>
              <a:rPr lang="en-US" sz="2400" dirty="0" smtClean="0"/>
              <a:t>The </a:t>
            </a:r>
            <a:r>
              <a:rPr lang="en-US" sz="2400" dirty="0"/>
              <a:t>storage class set for an object affects the object's availability and pricing model.</a:t>
            </a:r>
          </a:p>
          <a:p>
            <a:pPr marL="0" indent="0">
              <a:buNone/>
            </a:pPr>
            <a:r>
              <a:rPr lang="en-US" sz="2400" dirty="0"/>
              <a:t/>
            </a:r>
            <a:br>
              <a:rPr lang="en-US" sz="2400" dirty="0"/>
            </a:br>
            <a:endParaRPr lang="en-IN" sz="2400" dirty="0"/>
          </a:p>
        </p:txBody>
      </p:sp>
    </p:spTree>
    <p:extLst>
      <p:ext uri="{BB962C8B-B14F-4D97-AF65-F5344CB8AC3E}">
        <p14:creationId xmlns:p14="http://schemas.microsoft.com/office/powerpoint/2010/main" val="849496048"/>
      </p:ext>
    </p:extLst>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dirty="0" smtClean="0"/>
              <a:t>Storage Classes</a:t>
            </a:r>
            <a:endParaRPr lang="en-IN" dirty="0"/>
          </a:p>
        </p:txBody>
      </p:sp>
      <p:sp>
        <p:nvSpPr>
          <p:cNvPr id="3" name="Text Placeholder 2"/>
          <p:cNvSpPr>
            <a:spLocks noGrp="1"/>
          </p:cNvSpPr>
          <p:nvPr>
            <p:ph type="body" sz="quarter" idx="10"/>
          </p:nvPr>
        </p:nvSpPr>
        <p:spPr/>
        <p:txBody>
          <a:bodyPr>
            <a:noAutofit/>
          </a:bodyPr>
          <a:lstStyle/>
          <a:p>
            <a:r>
              <a:rPr lang="en-US" sz="2400" dirty="0" smtClean="0"/>
              <a:t>When </a:t>
            </a:r>
            <a:r>
              <a:rPr lang="en-US" sz="2400" dirty="0"/>
              <a:t>you create a bucket, you can specify a </a:t>
            </a:r>
            <a:r>
              <a:rPr lang="en-US" sz="2400" i="1" dirty="0"/>
              <a:t>default storage class</a:t>
            </a:r>
            <a:r>
              <a:rPr lang="en-US" sz="2400" dirty="0"/>
              <a:t> for the bucket. When you add objects to the bucket, they inherit this storage class unless explicitly set otherwise.</a:t>
            </a:r>
          </a:p>
          <a:p>
            <a:pPr lvl="1"/>
            <a:r>
              <a:rPr lang="en-US" sz="2400" b="1" dirty="0"/>
              <a:t>If you don't specify a default storage class when you create a bucket, that bucket's default storage class is set to Standard storage</a:t>
            </a:r>
            <a:r>
              <a:rPr lang="en-US" sz="2400" b="1" dirty="0" smtClean="0"/>
              <a:t>.</a:t>
            </a:r>
            <a:endParaRPr lang="en-US" sz="2400" b="1" dirty="0"/>
          </a:p>
        </p:txBody>
      </p:sp>
    </p:spTree>
    <p:extLst>
      <p:ext uri="{BB962C8B-B14F-4D97-AF65-F5344CB8AC3E}">
        <p14:creationId xmlns:p14="http://schemas.microsoft.com/office/powerpoint/2010/main" val="2067976098"/>
      </p:ext>
    </p:extLst>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dirty="0" smtClean="0"/>
              <a:t>Storage Classes</a:t>
            </a:r>
            <a:endParaRPr lang="en-IN" dirty="0"/>
          </a:p>
        </p:txBody>
      </p:sp>
      <p:sp>
        <p:nvSpPr>
          <p:cNvPr id="4" name="AutoShape 2" descr="Google Compute Engine icon in Color Style"/>
          <p:cNvSpPr>
            <a:spLocks noChangeAspect="1" noChangeArrowheads="1"/>
          </p:cNvSpPr>
          <p:nvPr/>
        </p:nvSpPr>
        <p:spPr bwMode="auto">
          <a:xfrm>
            <a:off x="155575" y="-144463"/>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IN"/>
          </a:p>
        </p:txBody>
      </p:sp>
      <p:pic>
        <p:nvPicPr>
          <p:cNvPr id="8194"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16518" y="1124744"/>
            <a:ext cx="8919978" cy="54006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4033471932"/>
      </p:ext>
    </p:extLst>
  </p:cSld>
  <p:clrMapOvr>
    <a:masterClrMapping/>
  </p:clrMapOvr>
  <p:timing>
    <p:tnLst>
      <p:par>
        <p:cTn id="1" dur="indefinite" restart="never" nodeType="tmRoot"/>
      </p:par>
    </p:tnLst>
  </p:timing>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dirty="0"/>
              <a:t>Google Cloud Platform Services</a:t>
            </a:r>
          </a:p>
        </p:txBody>
      </p:sp>
      <p:sp>
        <p:nvSpPr>
          <p:cNvPr id="3" name="Text Placeholder 2"/>
          <p:cNvSpPr>
            <a:spLocks noGrp="1"/>
          </p:cNvSpPr>
          <p:nvPr>
            <p:ph type="body" sz="quarter" idx="10"/>
          </p:nvPr>
        </p:nvSpPr>
        <p:spPr/>
        <p:txBody>
          <a:bodyPr>
            <a:noAutofit/>
          </a:bodyPr>
          <a:lstStyle/>
          <a:p>
            <a:pPr marL="0" indent="0">
              <a:buNone/>
            </a:pPr>
            <a:r>
              <a:rPr lang="en-IN" sz="2400" b="1" dirty="0" smtClean="0"/>
              <a:t>Cloud SQL</a:t>
            </a:r>
          </a:p>
          <a:p>
            <a:r>
              <a:rPr lang="en-US" sz="2400" dirty="0"/>
              <a:t>Fully managed relational database service for MySQL, </a:t>
            </a:r>
            <a:r>
              <a:rPr lang="en-US" sz="2400" dirty="0" err="1"/>
              <a:t>PostgreSQL</a:t>
            </a:r>
            <a:r>
              <a:rPr lang="en-US" sz="2400" dirty="0"/>
              <a:t>, and SQL Server with rich extension collections, configuration flags, and developer ecosystems.</a:t>
            </a:r>
          </a:p>
          <a:p>
            <a:r>
              <a:rPr lang="en-US" sz="2400" dirty="0"/>
              <a:t>New customers get $300 in free credits to spend on Cloud SQL. You won’t be charged until you upgrade.</a:t>
            </a:r>
          </a:p>
        </p:txBody>
      </p:sp>
      <p:sp>
        <p:nvSpPr>
          <p:cNvPr id="4" name="AutoShape 2" descr="Google Compute Engine icon in Color Style"/>
          <p:cNvSpPr>
            <a:spLocks noChangeAspect="1" noChangeArrowheads="1"/>
          </p:cNvSpPr>
          <p:nvPr/>
        </p:nvSpPr>
        <p:spPr bwMode="auto">
          <a:xfrm>
            <a:off x="155575" y="-144463"/>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IN"/>
          </a:p>
        </p:txBody>
      </p:sp>
      <p:sp>
        <p:nvSpPr>
          <p:cNvPr id="5" name="AutoShape 2" descr="Managing SQL Database on Google Cloud - Analytics Vidhya"/>
          <p:cNvSpPr>
            <a:spLocks noChangeAspect="1" noChangeArrowheads="1"/>
          </p:cNvSpPr>
          <p:nvPr/>
        </p:nvSpPr>
        <p:spPr bwMode="auto">
          <a:xfrm>
            <a:off x="307975" y="7937"/>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IN"/>
          </a:p>
        </p:txBody>
      </p:sp>
      <p:sp>
        <p:nvSpPr>
          <p:cNvPr id="6" name="AutoShape 4" descr="Managing SQL Database on Google Cloud - Analytics Vidhya"/>
          <p:cNvSpPr>
            <a:spLocks noChangeAspect="1" noChangeArrowheads="1"/>
          </p:cNvSpPr>
          <p:nvPr/>
        </p:nvSpPr>
        <p:spPr bwMode="auto">
          <a:xfrm>
            <a:off x="460375" y="160337"/>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IN"/>
          </a:p>
        </p:txBody>
      </p:sp>
      <p:pic>
        <p:nvPicPr>
          <p:cNvPr id="9221" name="Picture 5"/>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707904" y="4130675"/>
            <a:ext cx="4231040" cy="181860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3378705284"/>
      </p:ext>
    </p:extLst>
  </p:cSld>
  <p:clrMapOvr>
    <a:masterClrMapping/>
  </p:clrMapOvr>
  <p:timing>
    <p:tnLst>
      <p:par>
        <p:cTn id="1" dur="indefinite" restart="never" nodeType="tmRoot"/>
      </p:par>
    </p:tnLst>
  </p:timing>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dirty="0"/>
              <a:t>Google Cloud Platform Services</a:t>
            </a:r>
          </a:p>
        </p:txBody>
      </p:sp>
      <p:sp>
        <p:nvSpPr>
          <p:cNvPr id="3" name="Text Placeholder 2"/>
          <p:cNvSpPr>
            <a:spLocks noGrp="1"/>
          </p:cNvSpPr>
          <p:nvPr>
            <p:ph type="body" sz="quarter" idx="10"/>
          </p:nvPr>
        </p:nvSpPr>
        <p:spPr/>
        <p:txBody>
          <a:bodyPr>
            <a:noAutofit/>
          </a:bodyPr>
          <a:lstStyle/>
          <a:p>
            <a:pPr marL="0" indent="0">
              <a:buNone/>
            </a:pPr>
            <a:r>
              <a:rPr lang="en-IN" sz="2400" b="1" dirty="0" err="1" smtClean="0"/>
              <a:t>Datastore</a:t>
            </a:r>
            <a:endParaRPr lang="en-IN" sz="2400" b="1" dirty="0" smtClean="0"/>
          </a:p>
          <a:p>
            <a:r>
              <a:rPr lang="en-US" sz="2400" dirty="0" err="1"/>
              <a:t>Datastore</a:t>
            </a:r>
            <a:r>
              <a:rPr lang="en-US" sz="2400" dirty="0"/>
              <a:t> is a highly scalable </a:t>
            </a:r>
            <a:r>
              <a:rPr lang="en-US" sz="2400" dirty="0" err="1"/>
              <a:t>NoSQL</a:t>
            </a:r>
            <a:r>
              <a:rPr lang="en-US" sz="2400" dirty="0"/>
              <a:t> database for your web and mobile applications</a:t>
            </a:r>
            <a:r>
              <a:rPr lang="en-US" sz="2400" dirty="0" smtClean="0"/>
              <a:t>.</a:t>
            </a:r>
          </a:p>
          <a:p>
            <a:r>
              <a:rPr lang="en-US" sz="2400" b="1" dirty="0" err="1"/>
              <a:t>Datastore</a:t>
            </a:r>
            <a:r>
              <a:rPr lang="en-US" sz="2400" b="1" dirty="0"/>
              <a:t> automatically handles </a:t>
            </a:r>
            <a:r>
              <a:rPr lang="en-US" sz="2400" b="1" dirty="0" err="1"/>
              <a:t>sharding</a:t>
            </a:r>
            <a:r>
              <a:rPr lang="en-US" sz="2400" b="1" dirty="0"/>
              <a:t> and replication, </a:t>
            </a:r>
            <a:r>
              <a:rPr lang="en-US" sz="2400" dirty="0"/>
              <a:t>providing you with a highly available and durable database that scales automatically to handle your applications' load. </a:t>
            </a:r>
            <a:endParaRPr lang="en-US" sz="2400" dirty="0" smtClean="0"/>
          </a:p>
          <a:p>
            <a:r>
              <a:rPr lang="en-US" sz="2400" dirty="0" err="1" smtClean="0"/>
              <a:t>Datastore</a:t>
            </a:r>
            <a:r>
              <a:rPr lang="en-US" sz="2400" dirty="0" smtClean="0"/>
              <a:t> </a:t>
            </a:r>
            <a:r>
              <a:rPr lang="en-US" sz="2400" dirty="0"/>
              <a:t>provides a </a:t>
            </a:r>
            <a:r>
              <a:rPr lang="en-US" sz="2400" b="1" dirty="0"/>
              <a:t>myriad of capabilities such as ACID transactions,</a:t>
            </a:r>
            <a:r>
              <a:rPr lang="en-US" sz="2400" dirty="0"/>
              <a:t> SQL-like queries, indexes, and much more.</a:t>
            </a:r>
          </a:p>
        </p:txBody>
      </p:sp>
      <p:sp>
        <p:nvSpPr>
          <p:cNvPr id="4" name="AutoShape 2" descr="Google Compute Engine icon in Color Style"/>
          <p:cNvSpPr>
            <a:spLocks noChangeAspect="1" noChangeArrowheads="1"/>
          </p:cNvSpPr>
          <p:nvPr/>
        </p:nvSpPr>
        <p:spPr bwMode="auto">
          <a:xfrm>
            <a:off x="155575" y="-144463"/>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IN"/>
          </a:p>
        </p:txBody>
      </p:sp>
      <p:sp>
        <p:nvSpPr>
          <p:cNvPr id="5" name="AutoShape 2" descr="Managing SQL Database on Google Cloud - Analytics Vidhya"/>
          <p:cNvSpPr>
            <a:spLocks noChangeAspect="1" noChangeArrowheads="1"/>
          </p:cNvSpPr>
          <p:nvPr/>
        </p:nvSpPr>
        <p:spPr bwMode="auto">
          <a:xfrm>
            <a:off x="307975" y="7937"/>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IN"/>
          </a:p>
        </p:txBody>
      </p:sp>
      <p:sp>
        <p:nvSpPr>
          <p:cNvPr id="6" name="AutoShape 4" descr="Managing SQL Database on Google Cloud - Analytics Vidhya"/>
          <p:cNvSpPr>
            <a:spLocks noChangeAspect="1" noChangeArrowheads="1"/>
          </p:cNvSpPr>
          <p:nvPr/>
        </p:nvSpPr>
        <p:spPr bwMode="auto">
          <a:xfrm>
            <a:off x="460375" y="160337"/>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IN"/>
          </a:p>
        </p:txBody>
      </p:sp>
      <p:pic>
        <p:nvPicPr>
          <p:cNvPr id="30721" name="Picture 1"/>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292080" y="4869160"/>
            <a:ext cx="3028950" cy="15144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1569275790"/>
      </p:ext>
    </p:extLst>
  </p:cSld>
  <p:clrMapOvr>
    <a:masterClrMapping/>
  </p:clrMapOvr>
  <p:timing>
    <p:tnLst>
      <p:par>
        <p:cTn id="1" dur="indefinite" restart="never" nodeType="tmRoot"/>
      </p:par>
    </p:tnLst>
  </p:timing>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smtClean="0"/>
              <a:t>What is </a:t>
            </a:r>
            <a:r>
              <a:rPr lang="en-US" b="1" dirty="0" err="1" smtClean="0"/>
              <a:t>Sharding</a:t>
            </a:r>
            <a:r>
              <a:rPr lang="en-US" b="1" dirty="0" smtClean="0"/>
              <a:t>?</a:t>
            </a:r>
            <a:r>
              <a:rPr lang="en-US" b="1" dirty="0"/>
              <a:t/>
            </a:r>
            <a:br>
              <a:rPr lang="en-US" b="1" dirty="0"/>
            </a:br>
            <a:endParaRPr lang="en-IN" dirty="0"/>
          </a:p>
        </p:txBody>
      </p:sp>
      <p:sp>
        <p:nvSpPr>
          <p:cNvPr id="4" name="Text Placeholder 3"/>
          <p:cNvSpPr>
            <a:spLocks noGrp="1"/>
          </p:cNvSpPr>
          <p:nvPr>
            <p:ph type="body" sz="quarter" idx="10"/>
          </p:nvPr>
        </p:nvSpPr>
        <p:spPr/>
        <p:txBody>
          <a:bodyPr/>
          <a:lstStyle/>
          <a:p>
            <a:endParaRPr lang="en-IN"/>
          </a:p>
        </p:txBody>
      </p:sp>
    </p:spTree>
    <p:extLst>
      <p:ext uri="{BB962C8B-B14F-4D97-AF65-F5344CB8AC3E}">
        <p14:creationId xmlns:p14="http://schemas.microsoft.com/office/powerpoint/2010/main" val="3068437536"/>
      </p:ext>
    </p:extLst>
  </p:cSld>
  <p:clrMapOvr>
    <a:masterClrMapping/>
  </p:clrMapOvr>
  <p:timing>
    <p:tnLst>
      <p:par>
        <p:cTn id="1" dur="indefinite" restart="never" nodeType="tmRoot"/>
      </p:par>
    </p:tnLst>
  </p:timing>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smtClean="0"/>
              <a:t>What is </a:t>
            </a:r>
            <a:r>
              <a:rPr lang="en-US" b="1" dirty="0" err="1" smtClean="0"/>
              <a:t>Sharding</a:t>
            </a:r>
            <a:r>
              <a:rPr lang="en-US" b="1" dirty="0" smtClean="0"/>
              <a:t>?</a:t>
            </a:r>
            <a:r>
              <a:rPr lang="en-US" b="1" dirty="0"/>
              <a:t/>
            </a:r>
            <a:br>
              <a:rPr lang="en-US" b="1" dirty="0"/>
            </a:br>
            <a:endParaRPr lang="en-IN" dirty="0"/>
          </a:p>
        </p:txBody>
      </p:sp>
      <p:sp>
        <p:nvSpPr>
          <p:cNvPr id="3" name="Text Placeholder 2"/>
          <p:cNvSpPr>
            <a:spLocks noGrp="1"/>
          </p:cNvSpPr>
          <p:nvPr>
            <p:ph type="body" sz="quarter" idx="10"/>
          </p:nvPr>
        </p:nvSpPr>
        <p:spPr/>
        <p:txBody>
          <a:bodyPr>
            <a:normAutofit/>
          </a:bodyPr>
          <a:lstStyle/>
          <a:p>
            <a:pPr fontAlgn="base"/>
            <a:r>
              <a:rPr lang="en-US" sz="2400" dirty="0"/>
              <a:t> The word “</a:t>
            </a:r>
            <a:r>
              <a:rPr lang="en-US" sz="2400" b="1" dirty="0"/>
              <a:t>Shard</a:t>
            </a:r>
            <a:r>
              <a:rPr lang="en-US" sz="2400" dirty="0"/>
              <a:t>” means “</a:t>
            </a:r>
            <a:r>
              <a:rPr lang="en-US" sz="2400" b="1" dirty="0"/>
              <a:t>a small part of a whole</a:t>
            </a:r>
            <a:r>
              <a:rPr lang="en-US" sz="2400" dirty="0"/>
              <a:t>“. Hence </a:t>
            </a:r>
            <a:r>
              <a:rPr lang="en-US" sz="2400" dirty="0" err="1"/>
              <a:t>Sharding</a:t>
            </a:r>
            <a:r>
              <a:rPr lang="en-US" sz="2400" dirty="0"/>
              <a:t> means dividing a larger part into smaller parts. </a:t>
            </a:r>
            <a:endParaRPr lang="en-US" sz="2400" dirty="0" smtClean="0"/>
          </a:p>
          <a:p>
            <a:pPr fontAlgn="base"/>
            <a:r>
              <a:rPr lang="en-US" sz="2400" b="1" dirty="0" smtClean="0"/>
              <a:t>In </a:t>
            </a:r>
            <a:r>
              <a:rPr lang="en-US" sz="2400" b="1" dirty="0"/>
              <a:t>DBMS, </a:t>
            </a:r>
            <a:r>
              <a:rPr lang="en-US" sz="2400" b="1" dirty="0" err="1"/>
              <a:t>Sharding</a:t>
            </a:r>
            <a:r>
              <a:rPr lang="en-US" sz="2400" b="1" dirty="0"/>
              <a:t> is a type of </a:t>
            </a:r>
            <a:r>
              <a:rPr lang="en-US" sz="2400" b="1" dirty="0" err="1"/>
              <a:t>DataBase</a:t>
            </a:r>
            <a:r>
              <a:rPr lang="en-US" sz="2400" b="1" dirty="0"/>
              <a:t> partitioning in which a large database is divided or partitioned into smaller data and different nodes. </a:t>
            </a:r>
            <a:endParaRPr lang="en-US" sz="2400" b="1" dirty="0" smtClean="0"/>
          </a:p>
          <a:p>
            <a:pPr fontAlgn="base"/>
            <a:r>
              <a:rPr lang="en-US" sz="2400" dirty="0" smtClean="0"/>
              <a:t>These </a:t>
            </a:r>
            <a:r>
              <a:rPr lang="en-US" sz="2400" dirty="0"/>
              <a:t>shards are not only smaller, but also faster and hence easily manageable. </a:t>
            </a:r>
            <a:endParaRPr lang="en-IN" sz="2400" dirty="0"/>
          </a:p>
        </p:txBody>
      </p:sp>
    </p:spTree>
    <p:extLst>
      <p:ext uri="{BB962C8B-B14F-4D97-AF65-F5344CB8AC3E}">
        <p14:creationId xmlns:p14="http://schemas.microsoft.com/office/powerpoint/2010/main" val="1177315041"/>
      </p:ext>
    </p:extLst>
  </p:cSld>
  <p:clrMapOvr>
    <a:masterClrMapping/>
  </p:clrMapOvr>
  <p:timing>
    <p:tnLst>
      <p:par>
        <p:cTn id="1" dur="indefinite" restart="never" nodeType="tmRoot"/>
      </p:par>
    </p:tnLst>
  </p:timing>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t>Need for </a:t>
            </a:r>
            <a:r>
              <a:rPr lang="en-US" b="1" dirty="0" err="1"/>
              <a:t>Sharding</a:t>
            </a:r>
            <a:r>
              <a:rPr lang="en-US" b="1" dirty="0"/>
              <a:t>:</a:t>
            </a:r>
            <a:br>
              <a:rPr lang="en-US" b="1" dirty="0"/>
            </a:br>
            <a:endParaRPr lang="en-IN" dirty="0"/>
          </a:p>
        </p:txBody>
      </p:sp>
      <p:sp>
        <p:nvSpPr>
          <p:cNvPr id="3" name="Text Placeholder 2"/>
          <p:cNvSpPr>
            <a:spLocks noGrp="1"/>
          </p:cNvSpPr>
          <p:nvPr>
            <p:ph type="body" sz="quarter" idx="10"/>
          </p:nvPr>
        </p:nvSpPr>
        <p:spPr/>
        <p:txBody>
          <a:bodyPr>
            <a:normAutofit fontScale="92500" lnSpcReduction="10000"/>
          </a:bodyPr>
          <a:lstStyle/>
          <a:p>
            <a:pPr fontAlgn="base"/>
            <a:r>
              <a:rPr lang="en-US" dirty="0"/>
              <a:t> Consider a very large database whose </a:t>
            </a:r>
            <a:r>
              <a:rPr lang="en-US" dirty="0" err="1"/>
              <a:t>sharding</a:t>
            </a:r>
            <a:r>
              <a:rPr lang="en-US" dirty="0"/>
              <a:t> has not been done. For example, let’s take a </a:t>
            </a:r>
            <a:r>
              <a:rPr lang="en-US" dirty="0" err="1"/>
              <a:t>DataBase</a:t>
            </a:r>
            <a:r>
              <a:rPr lang="en-US" dirty="0"/>
              <a:t> of a college in which all the student’s records (present and past) in the whole college are maintained in a single database. So, it would contain a very </a:t>
            </a:r>
            <a:r>
              <a:rPr lang="en-US" dirty="0" err="1"/>
              <a:t>very</a:t>
            </a:r>
            <a:r>
              <a:rPr lang="en-US" dirty="0"/>
              <a:t> large number of data, say 100, 000 records. </a:t>
            </a:r>
            <a:endParaRPr lang="en-US" dirty="0" smtClean="0"/>
          </a:p>
          <a:p>
            <a:pPr fontAlgn="base"/>
            <a:r>
              <a:rPr lang="en-US" dirty="0" smtClean="0"/>
              <a:t>Now </a:t>
            </a:r>
            <a:r>
              <a:rPr lang="en-US" dirty="0"/>
              <a:t>when we need to find a student from this Database, each time around 100, 000 transactions have to be done to find the student, which is </a:t>
            </a:r>
            <a:r>
              <a:rPr lang="en-US" dirty="0" smtClean="0"/>
              <a:t>very </a:t>
            </a:r>
            <a:r>
              <a:rPr lang="en-US" dirty="0"/>
              <a:t>costly. </a:t>
            </a:r>
            <a:endParaRPr lang="en-US" dirty="0" smtClean="0"/>
          </a:p>
          <a:p>
            <a:pPr fontAlgn="base"/>
            <a:r>
              <a:rPr lang="en-US" dirty="0" smtClean="0"/>
              <a:t>Now </a:t>
            </a:r>
            <a:r>
              <a:rPr lang="en-US" dirty="0"/>
              <a:t>consider the same college students records, divided into smaller data shards based on years. Now each data shard will have around 1000-5000 students records only. </a:t>
            </a:r>
            <a:endParaRPr lang="en-US" dirty="0" smtClean="0"/>
          </a:p>
          <a:p>
            <a:pPr fontAlgn="base"/>
            <a:r>
              <a:rPr lang="en-US" dirty="0" smtClean="0"/>
              <a:t>So </a:t>
            </a:r>
            <a:r>
              <a:rPr lang="en-US" dirty="0"/>
              <a:t>not only the database became much more manageable, but also the transaction cost each time also reduces by a huge factor, which is achieved by </a:t>
            </a:r>
            <a:r>
              <a:rPr lang="en-US" dirty="0" err="1"/>
              <a:t>Sharding</a:t>
            </a:r>
            <a:r>
              <a:rPr lang="en-US" dirty="0"/>
              <a:t>. Hence this is why </a:t>
            </a:r>
            <a:r>
              <a:rPr lang="en-US" dirty="0" err="1"/>
              <a:t>Sharding</a:t>
            </a:r>
            <a:r>
              <a:rPr lang="en-US" dirty="0"/>
              <a:t> is needed. </a:t>
            </a:r>
          </a:p>
          <a:p>
            <a:endParaRPr lang="en-IN" dirty="0"/>
          </a:p>
        </p:txBody>
      </p:sp>
    </p:spTree>
    <p:extLst>
      <p:ext uri="{BB962C8B-B14F-4D97-AF65-F5344CB8AC3E}">
        <p14:creationId xmlns:p14="http://schemas.microsoft.com/office/powerpoint/2010/main" val="2156325361"/>
      </p:ext>
    </p:extLst>
  </p:cSld>
  <p:clrMapOvr>
    <a:masterClrMapping/>
  </p:clrMapOvr>
  <p:timing>
    <p:tnLst>
      <p:par>
        <p:cTn id="1" dur="indefinite" restart="never" nodeType="tmRoot"/>
      </p:par>
    </p:tnLst>
  </p:timing>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t>How does </a:t>
            </a:r>
            <a:r>
              <a:rPr lang="en-US" b="1" dirty="0" err="1"/>
              <a:t>Sharding</a:t>
            </a:r>
            <a:r>
              <a:rPr lang="en-US" b="1" dirty="0"/>
              <a:t> work?</a:t>
            </a:r>
            <a:br>
              <a:rPr lang="en-US" b="1" dirty="0"/>
            </a:br>
            <a:endParaRPr lang="en-IN" dirty="0"/>
          </a:p>
        </p:txBody>
      </p:sp>
      <p:sp>
        <p:nvSpPr>
          <p:cNvPr id="3" name="Text Placeholder 2"/>
          <p:cNvSpPr>
            <a:spLocks noGrp="1"/>
          </p:cNvSpPr>
          <p:nvPr>
            <p:ph type="body" sz="quarter" idx="10"/>
          </p:nvPr>
        </p:nvSpPr>
        <p:spPr/>
        <p:txBody>
          <a:bodyPr>
            <a:normAutofit/>
          </a:bodyPr>
          <a:lstStyle/>
          <a:p>
            <a:pPr fontAlgn="base"/>
            <a:r>
              <a:rPr lang="en-US" dirty="0" smtClean="0"/>
              <a:t>In </a:t>
            </a:r>
            <a:r>
              <a:rPr lang="en-US" dirty="0"/>
              <a:t>a </a:t>
            </a:r>
            <a:r>
              <a:rPr lang="en-US" dirty="0" err="1"/>
              <a:t>sharded</a:t>
            </a:r>
            <a:r>
              <a:rPr lang="en-US" dirty="0"/>
              <a:t> system, the data is partitioned into shards based on a predetermined criterion. For example, a </a:t>
            </a:r>
            <a:r>
              <a:rPr lang="en-US" dirty="0" err="1"/>
              <a:t>sharding</a:t>
            </a:r>
            <a:r>
              <a:rPr lang="en-US" dirty="0"/>
              <a:t> scheme may </a:t>
            </a:r>
            <a:r>
              <a:rPr lang="en-US" b="1" dirty="0"/>
              <a:t>divide the data based on geographic location, user ID, or time period. </a:t>
            </a:r>
            <a:endParaRPr lang="en-US" b="1" dirty="0" smtClean="0"/>
          </a:p>
          <a:p>
            <a:pPr fontAlgn="base"/>
            <a:r>
              <a:rPr lang="en-US" dirty="0" smtClean="0"/>
              <a:t>Once </a:t>
            </a:r>
            <a:r>
              <a:rPr lang="en-US" dirty="0"/>
              <a:t>the data is partitioned, it is distributed across multiple servers or nodes. Each server or node is responsible for storing and processing a subset of the data</a:t>
            </a:r>
            <a:r>
              <a:rPr lang="en-US" dirty="0" smtClean="0"/>
              <a:t>.</a:t>
            </a:r>
            <a:endParaRPr lang="en-US" dirty="0"/>
          </a:p>
        </p:txBody>
      </p:sp>
    </p:spTree>
    <p:extLst>
      <p:ext uri="{BB962C8B-B14F-4D97-AF65-F5344CB8AC3E}">
        <p14:creationId xmlns:p14="http://schemas.microsoft.com/office/powerpoint/2010/main" val="1408806882"/>
      </p:ext>
    </p:extLst>
  </p:cSld>
  <p:clrMapOvr>
    <a:masterClrMapping/>
  </p:clrMapOvr>
  <p:timing>
    <p:tnLst>
      <p:par>
        <p:cTn id="1" dur="indefinite" restart="never" nodeType="tmRoot"/>
      </p:par>
    </p:tnLst>
  </p:timing>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t>How does </a:t>
            </a:r>
            <a:r>
              <a:rPr lang="en-US" b="1" dirty="0" err="1"/>
              <a:t>Sharding</a:t>
            </a:r>
            <a:r>
              <a:rPr lang="en-US" b="1" dirty="0"/>
              <a:t> work?</a:t>
            </a:r>
            <a:br>
              <a:rPr lang="en-US" b="1" dirty="0"/>
            </a:br>
            <a:endParaRPr lang="en-IN" dirty="0"/>
          </a:p>
        </p:txBody>
      </p:sp>
      <p:sp>
        <p:nvSpPr>
          <p:cNvPr id="3" name="Text Placeholder 2"/>
          <p:cNvSpPr>
            <a:spLocks noGrp="1"/>
          </p:cNvSpPr>
          <p:nvPr>
            <p:ph type="body" sz="quarter" idx="10"/>
          </p:nvPr>
        </p:nvSpPr>
        <p:spPr/>
        <p:txBody>
          <a:bodyPr>
            <a:normAutofit/>
          </a:bodyPr>
          <a:lstStyle/>
          <a:p>
            <a:pPr fontAlgn="base"/>
            <a:r>
              <a:rPr lang="en-US" dirty="0" smtClean="0"/>
              <a:t>To </a:t>
            </a:r>
            <a:r>
              <a:rPr lang="en-US" dirty="0"/>
              <a:t>query data from a </a:t>
            </a:r>
            <a:r>
              <a:rPr lang="en-US" dirty="0" err="1"/>
              <a:t>sharded</a:t>
            </a:r>
            <a:r>
              <a:rPr lang="en-US" dirty="0"/>
              <a:t> database, the system needs to know which shard contains the required data. </a:t>
            </a:r>
            <a:endParaRPr lang="en-US" dirty="0" smtClean="0"/>
          </a:p>
          <a:p>
            <a:pPr fontAlgn="base"/>
            <a:r>
              <a:rPr lang="en-US" b="1" dirty="0" smtClean="0"/>
              <a:t>This </a:t>
            </a:r>
            <a:r>
              <a:rPr lang="en-US" b="1" dirty="0"/>
              <a:t>is achieved using a shard key, which is a unique identifier </a:t>
            </a:r>
            <a:r>
              <a:rPr lang="en-US" dirty="0"/>
              <a:t>that is used to map the data to its corresponding </a:t>
            </a:r>
            <a:r>
              <a:rPr lang="en-US" dirty="0" smtClean="0"/>
              <a:t>shard and then </a:t>
            </a:r>
            <a:r>
              <a:rPr lang="en-US" dirty="0"/>
              <a:t>sends the query to the appropriate server or node.</a:t>
            </a:r>
          </a:p>
          <a:p>
            <a:endParaRPr lang="en-IN" dirty="0"/>
          </a:p>
        </p:txBody>
      </p:sp>
    </p:spTree>
    <p:extLst>
      <p:ext uri="{BB962C8B-B14F-4D97-AF65-F5344CB8AC3E}">
        <p14:creationId xmlns:p14="http://schemas.microsoft.com/office/powerpoint/2010/main" val="3118912527"/>
      </p:ext>
    </p:extLst>
  </p:cSld>
  <p:clrMapOvr>
    <a:masterClrMapping/>
  </p:clrMapOvr>
  <p:timing>
    <p:tnLst>
      <p:par>
        <p:cTn id="1" dur="indefinite" restart="never" nodeType="tmRoot"/>
      </p:par>
    </p:tnLst>
  </p:timing>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dirty="0"/>
              <a:t>Google Cloud Platform Services</a:t>
            </a:r>
          </a:p>
        </p:txBody>
      </p:sp>
      <p:sp>
        <p:nvSpPr>
          <p:cNvPr id="3" name="Text Placeholder 2"/>
          <p:cNvSpPr>
            <a:spLocks noGrp="1"/>
          </p:cNvSpPr>
          <p:nvPr>
            <p:ph type="body" sz="quarter" idx="10"/>
          </p:nvPr>
        </p:nvSpPr>
        <p:spPr/>
        <p:txBody>
          <a:bodyPr>
            <a:noAutofit/>
          </a:bodyPr>
          <a:lstStyle/>
          <a:p>
            <a:pPr marL="0" indent="0">
              <a:buNone/>
            </a:pPr>
            <a:r>
              <a:rPr lang="en-IN" sz="2400" b="1" dirty="0" err="1" smtClean="0"/>
              <a:t>Firestore</a:t>
            </a:r>
            <a:endParaRPr lang="en-IN" sz="2400" b="1" dirty="0" smtClean="0"/>
          </a:p>
          <a:p>
            <a:r>
              <a:rPr lang="en-US" sz="2400" dirty="0" err="1"/>
              <a:t>Firestore</a:t>
            </a:r>
            <a:r>
              <a:rPr lang="en-US" sz="2400" dirty="0"/>
              <a:t> is the next generation of </a:t>
            </a:r>
            <a:r>
              <a:rPr lang="en-US" sz="2400" dirty="0" err="1" smtClean="0"/>
              <a:t>Datastore</a:t>
            </a:r>
            <a:endParaRPr lang="en-US" sz="2400" dirty="0" smtClean="0"/>
          </a:p>
          <a:p>
            <a:r>
              <a:rPr lang="en-US" sz="2400" dirty="0" err="1"/>
              <a:t>Firestore</a:t>
            </a:r>
            <a:r>
              <a:rPr lang="en-US" sz="2400" dirty="0"/>
              <a:t> is the newest version of </a:t>
            </a:r>
            <a:r>
              <a:rPr lang="en-US" sz="2400" dirty="0" err="1"/>
              <a:t>Datastore</a:t>
            </a:r>
            <a:r>
              <a:rPr lang="en-US" sz="2400" dirty="0"/>
              <a:t> and introduces several improvements over </a:t>
            </a:r>
            <a:r>
              <a:rPr lang="en-US" sz="2400" dirty="0" err="1"/>
              <a:t>Datastore</a:t>
            </a:r>
            <a:r>
              <a:rPr lang="en-US" sz="2400" dirty="0"/>
              <a:t>. </a:t>
            </a:r>
            <a:endParaRPr lang="en-US" sz="2400" dirty="0" smtClean="0"/>
          </a:p>
          <a:p>
            <a:r>
              <a:rPr lang="en-US" sz="2400" dirty="0" smtClean="0"/>
              <a:t>Existing </a:t>
            </a:r>
            <a:r>
              <a:rPr lang="en-US" sz="2400" dirty="0" err="1"/>
              <a:t>Datastore</a:t>
            </a:r>
            <a:r>
              <a:rPr lang="en-US" sz="2400" dirty="0"/>
              <a:t> users can access these improvements by creating a new </a:t>
            </a:r>
            <a:r>
              <a:rPr lang="en-US" sz="2400" dirty="0" err="1"/>
              <a:t>Firestore</a:t>
            </a:r>
            <a:r>
              <a:rPr lang="en-US" sz="2400" dirty="0"/>
              <a:t> in </a:t>
            </a:r>
            <a:r>
              <a:rPr lang="en-US" sz="2400" dirty="0" err="1"/>
              <a:t>Datastore</a:t>
            </a:r>
            <a:r>
              <a:rPr lang="en-US" sz="2400" dirty="0"/>
              <a:t> mode database instance. In the future, all existing </a:t>
            </a:r>
            <a:r>
              <a:rPr lang="en-US" sz="2400" dirty="0" err="1"/>
              <a:t>Datastore</a:t>
            </a:r>
            <a:r>
              <a:rPr lang="en-US" sz="2400" dirty="0"/>
              <a:t> databases will be automatically upgraded to </a:t>
            </a:r>
            <a:r>
              <a:rPr lang="en-US" sz="2400" dirty="0" err="1"/>
              <a:t>Firestore</a:t>
            </a:r>
            <a:r>
              <a:rPr lang="en-US" sz="2400" dirty="0"/>
              <a:t> in </a:t>
            </a:r>
            <a:r>
              <a:rPr lang="en-US" sz="2400" dirty="0" err="1"/>
              <a:t>Datastore</a:t>
            </a:r>
            <a:r>
              <a:rPr lang="en-US" sz="2400" dirty="0"/>
              <a:t> mode.</a:t>
            </a:r>
          </a:p>
        </p:txBody>
      </p:sp>
      <p:sp>
        <p:nvSpPr>
          <p:cNvPr id="4" name="AutoShape 2" descr="Google Compute Engine icon in Color Style"/>
          <p:cNvSpPr>
            <a:spLocks noChangeAspect="1" noChangeArrowheads="1"/>
          </p:cNvSpPr>
          <p:nvPr/>
        </p:nvSpPr>
        <p:spPr bwMode="auto">
          <a:xfrm>
            <a:off x="155575" y="-144463"/>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IN"/>
          </a:p>
        </p:txBody>
      </p:sp>
      <p:sp>
        <p:nvSpPr>
          <p:cNvPr id="5" name="AutoShape 2" descr="Managing SQL Database on Google Cloud - Analytics Vidhya"/>
          <p:cNvSpPr>
            <a:spLocks noChangeAspect="1" noChangeArrowheads="1"/>
          </p:cNvSpPr>
          <p:nvPr/>
        </p:nvSpPr>
        <p:spPr bwMode="auto">
          <a:xfrm>
            <a:off x="307975" y="7937"/>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IN"/>
          </a:p>
        </p:txBody>
      </p:sp>
      <p:sp>
        <p:nvSpPr>
          <p:cNvPr id="6" name="AutoShape 4" descr="Managing SQL Database on Google Cloud - Analytics Vidhya"/>
          <p:cNvSpPr>
            <a:spLocks noChangeAspect="1" noChangeArrowheads="1"/>
          </p:cNvSpPr>
          <p:nvPr/>
        </p:nvSpPr>
        <p:spPr bwMode="auto">
          <a:xfrm>
            <a:off x="460375" y="160337"/>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IN"/>
          </a:p>
        </p:txBody>
      </p:sp>
      <p:sp>
        <p:nvSpPr>
          <p:cNvPr id="7" name="AutoShape 2" descr="Datastore - Happy Coding"/>
          <p:cNvSpPr>
            <a:spLocks noChangeAspect="1" noChangeArrowheads="1"/>
          </p:cNvSpPr>
          <p:nvPr/>
        </p:nvSpPr>
        <p:spPr bwMode="auto">
          <a:xfrm>
            <a:off x="612775" y="312737"/>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IN"/>
          </a:p>
        </p:txBody>
      </p:sp>
    </p:spTree>
    <p:extLst>
      <p:ext uri="{BB962C8B-B14F-4D97-AF65-F5344CB8AC3E}">
        <p14:creationId xmlns:p14="http://schemas.microsoft.com/office/powerpoint/2010/main" val="2039633305"/>
      </p:ext>
    </p:extLst>
  </p:cSld>
  <p:clrMapOvr>
    <a:masterClrMapping/>
  </p:clrMapOvr>
  <p:timing>
    <p:tnLst>
      <p:par>
        <p:cTn id="1" dur="indefinite" restart="never" nodeType="tmRoot"/>
      </p:par>
    </p:tnLst>
  </p:timing>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dirty="0"/>
              <a:t>Google Cloud Platform Services</a:t>
            </a:r>
          </a:p>
        </p:txBody>
      </p:sp>
      <p:sp>
        <p:nvSpPr>
          <p:cNvPr id="3" name="Text Placeholder 2"/>
          <p:cNvSpPr>
            <a:spLocks noGrp="1"/>
          </p:cNvSpPr>
          <p:nvPr>
            <p:ph type="body" sz="quarter" idx="10"/>
          </p:nvPr>
        </p:nvSpPr>
        <p:spPr/>
        <p:txBody>
          <a:bodyPr>
            <a:noAutofit/>
          </a:bodyPr>
          <a:lstStyle/>
          <a:p>
            <a:pPr marL="0" indent="0">
              <a:buNone/>
            </a:pPr>
            <a:r>
              <a:rPr lang="en-US" sz="2400" b="1" dirty="0" smtClean="0"/>
              <a:t>Cloud </a:t>
            </a:r>
            <a:r>
              <a:rPr lang="en-US" sz="2400" b="1" dirty="0" err="1"/>
              <a:t>Bigtable</a:t>
            </a:r>
            <a:endParaRPr lang="en-US" sz="2400" b="1" dirty="0"/>
          </a:p>
          <a:p>
            <a:r>
              <a:rPr lang="en-US" sz="2400" dirty="0" err="1"/>
              <a:t>HBase</a:t>
            </a:r>
            <a:r>
              <a:rPr lang="en-US" sz="2400" dirty="0"/>
              <a:t>-compatible, enterprise-grade </a:t>
            </a:r>
            <a:r>
              <a:rPr lang="en-US" sz="2400" dirty="0" err="1"/>
              <a:t>NoSQL</a:t>
            </a:r>
            <a:r>
              <a:rPr lang="en-US" sz="2400" dirty="0"/>
              <a:t> database service with single-digit millisecond latency, limitless scale, and 99.999% availability for large analytical and operational workloads.</a:t>
            </a:r>
          </a:p>
          <a:p>
            <a:r>
              <a:rPr lang="en-US" sz="2400" dirty="0"/>
              <a:t>New customers get $300 in free credits to spend on </a:t>
            </a:r>
            <a:r>
              <a:rPr lang="en-US" sz="2400" dirty="0" err="1" smtClean="0"/>
              <a:t>Bigtable</a:t>
            </a:r>
            <a:endParaRPr lang="en-US" sz="2400" dirty="0" smtClean="0"/>
          </a:p>
          <a:p>
            <a:endParaRPr lang="en-US" sz="2400" dirty="0"/>
          </a:p>
          <a:p>
            <a:r>
              <a:rPr lang="en-US" sz="2400" b="1" dirty="0" err="1" smtClean="0"/>
              <a:t>HBase</a:t>
            </a:r>
            <a:r>
              <a:rPr lang="en-US" sz="2400" dirty="0"/>
              <a:t> is a column-oriented non-relational database management system that runs on top of </a:t>
            </a:r>
            <a:r>
              <a:rPr lang="en-US" sz="2400" dirty="0" err="1"/>
              <a:t>Hadoop</a:t>
            </a:r>
            <a:r>
              <a:rPr lang="en-US" sz="2400" dirty="0"/>
              <a:t> Distributed File System (HDFS).</a:t>
            </a:r>
            <a:r>
              <a:rPr lang="en-US" sz="2400" dirty="0" smtClean="0"/>
              <a:t>.</a:t>
            </a:r>
            <a:endParaRPr lang="en-US" sz="2400" dirty="0"/>
          </a:p>
        </p:txBody>
      </p:sp>
      <p:sp>
        <p:nvSpPr>
          <p:cNvPr id="4" name="AutoShape 2" descr="Google Compute Engine icon in Color Style"/>
          <p:cNvSpPr>
            <a:spLocks noChangeAspect="1" noChangeArrowheads="1"/>
          </p:cNvSpPr>
          <p:nvPr/>
        </p:nvSpPr>
        <p:spPr bwMode="auto">
          <a:xfrm>
            <a:off x="155575" y="-144463"/>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IN"/>
          </a:p>
        </p:txBody>
      </p:sp>
      <p:sp>
        <p:nvSpPr>
          <p:cNvPr id="5" name="AutoShape 2" descr="Managing SQL Database on Google Cloud - Analytics Vidhya"/>
          <p:cNvSpPr>
            <a:spLocks noChangeAspect="1" noChangeArrowheads="1"/>
          </p:cNvSpPr>
          <p:nvPr/>
        </p:nvSpPr>
        <p:spPr bwMode="auto">
          <a:xfrm>
            <a:off x="307975" y="7937"/>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IN"/>
          </a:p>
        </p:txBody>
      </p:sp>
      <p:sp>
        <p:nvSpPr>
          <p:cNvPr id="6" name="AutoShape 4" descr="Managing SQL Database on Google Cloud - Analytics Vidhya"/>
          <p:cNvSpPr>
            <a:spLocks noChangeAspect="1" noChangeArrowheads="1"/>
          </p:cNvSpPr>
          <p:nvPr/>
        </p:nvSpPr>
        <p:spPr bwMode="auto">
          <a:xfrm>
            <a:off x="460375" y="160337"/>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IN"/>
          </a:p>
        </p:txBody>
      </p:sp>
      <p:sp>
        <p:nvSpPr>
          <p:cNvPr id="7" name="AutoShape 2" descr="Datastore - Happy Coding"/>
          <p:cNvSpPr>
            <a:spLocks noChangeAspect="1" noChangeArrowheads="1"/>
          </p:cNvSpPr>
          <p:nvPr/>
        </p:nvSpPr>
        <p:spPr bwMode="auto">
          <a:xfrm>
            <a:off x="612775" y="312737"/>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IN"/>
          </a:p>
        </p:txBody>
      </p:sp>
      <p:pic>
        <p:nvPicPr>
          <p:cNvPr id="33794"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682183" y="5104209"/>
            <a:ext cx="2562225" cy="17811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2606903832"/>
      </p:ext>
    </p:extLst>
  </p:cSld>
  <p:clrMapOvr>
    <a:masterClrMapping/>
  </p:clrMapOvr>
  <p:timing>
    <p:tnLst>
      <p:par>
        <p:cTn id="1" dur="indefinite" restart="never" nodeType="tmRoot"/>
      </p:par>
    </p:tnLst>
  </p:timing>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dirty="0"/>
              <a:t>Google Cloud Platform Services</a:t>
            </a:r>
          </a:p>
        </p:txBody>
      </p:sp>
      <p:sp>
        <p:nvSpPr>
          <p:cNvPr id="3" name="Text Placeholder 2"/>
          <p:cNvSpPr>
            <a:spLocks noGrp="1"/>
          </p:cNvSpPr>
          <p:nvPr>
            <p:ph type="body" sz="quarter" idx="10"/>
          </p:nvPr>
        </p:nvSpPr>
        <p:spPr/>
        <p:txBody>
          <a:bodyPr>
            <a:noAutofit/>
          </a:bodyPr>
          <a:lstStyle/>
          <a:p>
            <a:pPr marL="0" indent="0">
              <a:buNone/>
            </a:pPr>
            <a:r>
              <a:rPr lang="en-US" sz="2400" b="1" dirty="0" smtClean="0"/>
              <a:t>Persistent Disk</a:t>
            </a:r>
            <a:endParaRPr lang="en-US" sz="2400" b="1" dirty="0"/>
          </a:p>
          <a:p>
            <a:r>
              <a:rPr lang="en-US" sz="2400" dirty="0"/>
              <a:t>Reliable, high-performance block storage for virtual machine instances. </a:t>
            </a:r>
            <a:endParaRPr lang="en-US" sz="2400" dirty="0" smtClean="0"/>
          </a:p>
          <a:p>
            <a:r>
              <a:rPr lang="en-US" sz="2400" dirty="0" smtClean="0"/>
              <a:t>Enterprise </a:t>
            </a:r>
            <a:r>
              <a:rPr lang="en-US" sz="2400" dirty="0"/>
              <a:t>scale, limitless flexibility, and competitive price for performance.</a:t>
            </a:r>
          </a:p>
          <a:p>
            <a:r>
              <a:rPr lang="en-US" sz="2400" dirty="0"/>
              <a:t>New customers get $300 in free credits to spend on Persistent Disk.</a:t>
            </a:r>
          </a:p>
        </p:txBody>
      </p:sp>
      <p:sp>
        <p:nvSpPr>
          <p:cNvPr id="4" name="AutoShape 2" descr="Google Compute Engine icon in Color Style"/>
          <p:cNvSpPr>
            <a:spLocks noChangeAspect="1" noChangeArrowheads="1"/>
          </p:cNvSpPr>
          <p:nvPr/>
        </p:nvSpPr>
        <p:spPr bwMode="auto">
          <a:xfrm>
            <a:off x="155575" y="-144463"/>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IN"/>
          </a:p>
        </p:txBody>
      </p:sp>
      <p:sp>
        <p:nvSpPr>
          <p:cNvPr id="5" name="AutoShape 2" descr="Managing SQL Database on Google Cloud - Analytics Vidhya"/>
          <p:cNvSpPr>
            <a:spLocks noChangeAspect="1" noChangeArrowheads="1"/>
          </p:cNvSpPr>
          <p:nvPr/>
        </p:nvSpPr>
        <p:spPr bwMode="auto">
          <a:xfrm>
            <a:off x="307975" y="7937"/>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IN"/>
          </a:p>
        </p:txBody>
      </p:sp>
      <p:sp>
        <p:nvSpPr>
          <p:cNvPr id="6" name="AutoShape 4" descr="Managing SQL Database on Google Cloud - Analytics Vidhya"/>
          <p:cNvSpPr>
            <a:spLocks noChangeAspect="1" noChangeArrowheads="1"/>
          </p:cNvSpPr>
          <p:nvPr/>
        </p:nvSpPr>
        <p:spPr bwMode="auto">
          <a:xfrm>
            <a:off x="460375" y="160337"/>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IN"/>
          </a:p>
        </p:txBody>
      </p:sp>
      <p:sp>
        <p:nvSpPr>
          <p:cNvPr id="7" name="AutoShape 2" descr="Datastore - Happy Coding"/>
          <p:cNvSpPr>
            <a:spLocks noChangeAspect="1" noChangeArrowheads="1"/>
          </p:cNvSpPr>
          <p:nvPr/>
        </p:nvSpPr>
        <p:spPr bwMode="auto">
          <a:xfrm>
            <a:off x="612775" y="312737"/>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IN"/>
          </a:p>
        </p:txBody>
      </p:sp>
      <p:sp>
        <p:nvSpPr>
          <p:cNvPr id="8" name="AutoShape 2" descr="GCP Persistent Disk - Cloud Computing Gate - Features of Persistent Disk"/>
          <p:cNvSpPr>
            <a:spLocks noChangeAspect="1" noChangeArrowheads="1"/>
          </p:cNvSpPr>
          <p:nvPr/>
        </p:nvSpPr>
        <p:spPr bwMode="auto">
          <a:xfrm>
            <a:off x="765175" y="465137"/>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IN"/>
          </a:p>
        </p:txBody>
      </p:sp>
      <p:sp>
        <p:nvSpPr>
          <p:cNvPr id="9" name="AutoShape 4" descr="GCP Persistent Disk - Cloud Computing Gate - Features of Persistent Disk"/>
          <p:cNvSpPr>
            <a:spLocks noChangeAspect="1" noChangeArrowheads="1"/>
          </p:cNvSpPr>
          <p:nvPr/>
        </p:nvSpPr>
        <p:spPr bwMode="auto">
          <a:xfrm>
            <a:off x="917575" y="617537"/>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IN"/>
          </a:p>
        </p:txBody>
      </p:sp>
      <p:pic>
        <p:nvPicPr>
          <p:cNvPr id="35845" name="Picture 5"/>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743021" y="4293096"/>
            <a:ext cx="2362200" cy="19335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986122383"/>
      </p:ext>
    </p:extLst>
  </p:cSld>
  <p:clrMapOvr>
    <a:masterClrMapping/>
  </p:clrMapOvr>
  <p:timing>
    <p:tnLst>
      <p:par>
        <p:cTn id="1" dur="indefinite" restart="never" nodeType="tmRoot"/>
      </p:par>
    </p:tnLst>
  </p:timing>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45F8F37D-F260-4263-AD30-00A22DBF41CF}"/>
              </a:ext>
            </a:extLst>
          </p:cNvPr>
          <p:cNvSpPr>
            <a:spLocks noGrp="1"/>
          </p:cNvSpPr>
          <p:nvPr>
            <p:ph type="title"/>
          </p:nvPr>
        </p:nvSpPr>
        <p:spPr/>
        <p:txBody>
          <a:bodyPr/>
          <a:lstStyle/>
          <a:p>
            <a:r>
              <a:rPr lang="en-IN" dirty="0"/>
              <a:t>Big Data</a:t>
            </a:r>
          </a:p>
        </p:txBody>
      </p:sp>
      <p:sp>
        <p:nvSpPr>
          <p:cNvPr id="10" name="Oval 9">
            <a:extLst>
              <a:ext uri="{FF2B5EF4-FFF2-40B4-BE49-F238E27FC236}">
                <a16:creationId xmlns:a16="http://schemas.microsoft.com/office/drawing/2014/main" xmlns="" id="{80F63D59-9EBA-447A-81D3-9C9B0AE2C99D}"/>
              </a:ext>
            </a:extLst>
          </p:cNvPr>
          <p:cNvSpPr/>
          <p:nvPr/>
        </p:nvSpPr>
        <p:spPr bwMode="auto">
          <a:xfrm>
            <a:off x="1367643" y="1431887"/>
            <a:ext cx="1368152" cy="1824203"/>
          </a:xfrm>
          <a:prstGeom prst="ellipse">
            <a:avLst/>
          </a:prstGeom>
          <a:noFill/>
          <a:ln w="28575" cap="flat" cmpd="sng" algn="ctr">
            <a:solidFill>
              <a:schemeClr val="tx1"/>
            </a:solidFill>
            <a:prstDash val="solid"/>
            <a:round/>
            <a:headEnd type="none" w="sm" len="sm"/>
            <a:tailEnd type="none" w="sm" len="sm"/>
          </a:ln>
          <a:effectLst/>
        </p:spPr>
        <p:txBody>
          <a:bodyPr vert="horz" wrap="square" lIns="102413" tIns="51206" rIns="102413" bIns="51206" numCol="1" rtlCol="0" anchor="t" anchorCtr="0" compatLnSpc="1">
            <a:prstTxWarp prst="textNoShape">
              <a:avLst/>
            </a:prstTxWarp>
          </a:bodyPr>
          <a:lstStyle/>
          <a:p>
            <a:pPr algn="ctr">
              <a:spcBef>
                <a:spcPct val="20000"/>
              </a:spcBef>
              <a:buClr>
                <a:srgbClr val="FF0000"/>
              </a:buClr>
            </a:pPr>
            <a:endParaRPr lang="en-IN" sz="2000">
              <a:latin typeface="Arial" pitchFamily="34" charset="0"/>
            </a:endParaRPr>
          </a:p>
        </p:txBody>
      </p:sp>
      <p:sp>
        <p:nvSpPr>
          <p:cNvPr id="11" name="Oval 10">
            <a:extLst>
              <a:ext uri="{FF2B5EF4-FFF2-40B4-BE49-F238E27FC236}">
                <a16:creationId xmlns:a16="http://schemas.microsoft.com/office/drawing/2014/main" xmlns="" id="{102CD427-1041-4B1B-8280-A3E826DA0BA8}"/>
              </a:ext>
            </a:extLst>
          </p:cNvPr>
          <p:cNvSpPr/>
          <p:nvPr/>
        </p:nvSpPr>
        <p:spPr bwMode="auto">
          <a:xfrm>
            <a:off x="1421233" y="1503340"/>
            <a:ext cx="1260973" cy="1681297"/>
          </a:xfrm>
          <a:prstGeom prst="ellipse">
            <a:avLst/>
          </a:prstGeom>
          <a:solidFill>
            <a:srgbClr val="CCECFC"/>
          </a:solidFill>
          <a:ln w="28575" cap="flat" cmpd="sng" algn="ctr">
            <a:solidFill>
              <a:schemeClr val="tx1"/>
            </a:solidFill>
            <a:prstDash val="solid"/>
            <a:round/>
            <a:headEnd type="none" w="sm" len="sm"/>
            <a:tailEnd type="none" w="sm" len="sm"/>
          </a:ln>
          <a:effectLst/>
        </p:spPr>
        <p:txBody>
          <a:bodyPr vert="horz" wrap="square" lIns="102413" tIns="51206" rIns="102413" bIns="51206" numCol="1" rtlCol="0" anchor="t" anchorCtr="0" compatLnSpc="1">
            <a:prstTxWarp prst="textNoShape">
              <a:avLst/>
            </a:prstTxWarp>
          </a:bodyPr>
          <a:lstStyle/>
          <a:p>
            <a:pPr algn="ctr">
              <a:spcBef>
                <a:spcPct val="20000"/>
              </a:spcBef>
              <a:buClr>
                <a:srgbClr val="FF0000"/>
              </a:buClr>
            </a:pPr>
            <a:endParaRPr lang="en-IN" sz="2000">
              <a:latin typeface="Arial" pitchFamily="34" charset="0"/>
            </a:endParaRPr>
          </a:p>
        </p:txBody>
      </p:sp>
      <p:grpSp>
        <p:nvGrpSpPr>
          <p:cNvPr id="14" name="Group 13">
            <a:extLst>
              <a:ext uri="{FF2B5EF4-FFF2-40B4-BE49-F238E27FC236}">
                <a16:creationId xmlns:a16="http://schemas.microsoft.com/office/drawing/2014/main" xmlns="" id="{71187167-2A56-42B6-AD7B-400A17C490B8}"/>
              </a:ext>
            </a:extLst>
          </p:cNvPr>
          <p:cNvGrpSpPr/>
          <p:nvPr/>
        </p:nvGrpSpPr>
        <p:grpSpPr>
          <a:xfrm>
            <a:off x="3887924" y="1436633"/>
            <a:ext cx="1368152" cy="1824203"/>
            <a:chOff x="3887924" y="1089510"/>
            <a:chExt cx="1368152" cy="1368152"/>
          </a:xfrm>
        </p:grpSpPr>
        <p:sp>
          <p:nvSpPr>
            <p:cNvPr id="12" name="Oval 11">
              <a:extLst>
                <a:ext uri="{FF2B5EF4-FFF2-40B4-BE49-F238E27FC236}">
                  <a16:creationId xmlns:a16="http://schemas.microsoft.com/office/drawing/2014/main" xmlns="" id="{15AE9F13-F12F-4561-8DC3-3B8FC9E135D0}"/>
                </a:ext>
              </a:extLst>
            </p:cNvPr>
            <p:cNvSpPr/>
            <p:nvPr/>
          </p:nvSpPr>
          <p:spPr bwMode="auto">
            <a:xfrm>
              <a:off x="3887924" y="1089510"/>
              <a:ext cx="1368152" cy="1368152"/>
            </a:xfrm>
            <a:prstGeom prst="ellipse">
              <a:avLst/>
            </a:prstGeom>
            <a:noFill/>
            <a:ln w="28575" cap="flat" cmpd="sng" algn="ctr">
              <a:solidFill>
                <a:schemeClr val="tx1"/>
              </a:solidFill>
              <a:prstDash val="solid"/>
              <a:round/>
              <a:headEnd type="none" w="sm" len="sm"/>
              <a:tailEnd type="none" w="sm" len="sm"/>
            </a:ln>
            <a:effectLst/>
          </p:spPr>
          <p:txBody>
            <a:bodyPr vert="horz" wrap="square" lIns="365760" tIns="182880" rIns="365760" bIns="182880" numCol="1" rtlCol="0" anchor="t" anchorCtr="0" compatLnSpc="1">
              <a:prstTxWarp prst="textNoShape">
                <a:avLst/>
              </a:prstTxWarp>
            </a:bodyPr>
            <a:lstStyle/>
            <a:p>
              <a:pPr algn="ctr">
                <a:spcBef>
                  <a:spcPct val="20000"/>
                </a:spcBef>
                <a:buClr>
                  <a:srgbClr val="FF0000"/>
                </a:buClr>
              </a:pPr>
              <a:endParaRPr lang="en-IN" sz="2000">
                <a:latin typeface="Arial" pitchFamily="34" charset="0"/>
              </a:endParaRPr>
            </a:p>
          </p:txBody>
        </p:sp>
        <p:sp>
          <p:nvSpPr>
            <p:cNvPr id="13" name="Oval 12">
              <a:extLst>
                <a:ext uri="{FF2B5EF4-FFF2-40B4-BE49-F238E27FC236}">
                  <a16:creationId xmlns:a16="http://schemas.microsoft.com/office/drawing/2014/main" xmlns="" id="{1022C370-7477-4D5E-8E84-7C85C921C464}"/>
                </a:ext>
              </a:extLst>
            </p:cNvPr>
            <p:cNvSpPr/>
            <p:nvPr/>
          </p:nvSpPr>
          <p:spPr bwMode="auto">
            <a:xfrm>
              <a:off x="3941513" y="1143099"/>
              <a:ext cx="1260973" cy="1260973"/>
            </a:xfrm>
            <a:prstGeom prst="ellipse">
              <a:avLst/>
            </a:prstGeom>
            <a:solidFill>
              <a:srgbClr val="FDE7E7"/>
            </a:solidFill>
            <a:ln w="28575" cap="flat" cmpd="sng" algn="ctr">
              <a:solidFill>
                <a:schemeClr val="tx1"/>
              </a:solidFill>
              <a:prstDash val="solid"/>
              <a:round/>
              <a:headEnd type="none" w="sm" len="sm"/>
              <a:tailEnd type="none" w="sm" len="sm"/>
            </a:ln>
            <a:effectLst/>
          </p:spPr>
          <p:txBody>
            <a:bodyPr vert="horz" wrap="square" lIns="365760" tIns="182880" rIns="365760" bIns="182880" numCol="1" rtlCol="0" anchor="t" anchorCtr="0" compatLnSpc="1">
              <a:prstTxWarp prst="textNoShape">
                <a:avLst/>
              </a:prstTxWarp>
            </a:bodyPr>
            <a:lstStyle/>
            <a:p>
              <a:pPr algn="ctr">
                <a:spcBef>
                  <a:spcPct val="20000"/>
                </a:spcBef>
                <a:buClr>
                  <a:srgbClr val="FF0000"/>
                </a:buClr>
              </a:pPr>
              <a:endParaRPr lang="en-IN" sz="2000" dirty="0">
                <a:latin typeface="Arial" pitchFamily="34" charset="0"/>
              </a:endParaRPr>
            </a:p>
          </p:txBody>
        </p:sp>
      </p:grpSp>
      <p:grpSp>
        <p:nvGrpSpPr>
          <p:cNvPr id="15" name="Group 14">
            <a:extLst>
              <a:ext uri="{FF2B5EF4-FFF2-40B4-BE49-F238E27FC236}">
                <a16:creationId xmlns:a16="http://schemas.microsoft.com/office/drawing/2014/main" xmlns="" id="{E7F7A7F0-EDE9-48D5-8393-0ED89A98B53F}"/>
              </a:ext>
            </a:extLst>
          </p:cNvPr>
          <p:cNvGrpSpPr/>
          <p:nvPr/>
        </p:nvGrpSpPr>
        <p:grpSpPr>
          <a:xfrm>
            <a:off x="6408205" y="1431887"/>
            <a:ext cx="1368152" cy="1824203"/>
            <a:chOff x="3887924" y="1089510"/>
            <a:chExt cx="1368152" cy="1368152"/>
          </a:xfrm>
        </p:grpSpPr>
        <p:sp>
          <p:nvSpPr>
            <p:cNvPr id="16" name="Oval 15">
              <a:extLst>
                <a:ext uri="{FF2B5EF4-FFF2-40B4-BE49-F238E27FC236}">
                  <a16:creationId xmlns:a16="http://schemas.microsoft.com/office/drawing/2014/main" xmlns="" id="{2067C8C6-FB7B-43AE-B302-83B51B784F7D}"/>
                </a:ext>
              </a:extLst>
            </p:cNvPr>
            <p:cNvSpPr/>
            <p:nvPr/>
          </p:nvSpPr>
          <p:spPr bwMode="auto">
            <a:xfrm>
              <a:off x="3887924" y="1089510"/>
              <a:ext cx="1368152" cy="1368152"/>
            </a:xfrm>
            <a:prstGeom prst="ellipse">
              <a:avLst/>
            </a:prstGeom>
            <a:noFill/>
            <a:ln w="28575" cap="flat" cmpd="sng" algn="ctr">
              <a:solidFill>
                <a:schemeClr val="tx1"/>
              </a:solidFill>
              <a:prstDash val="solid"/>
              <a:round/>
              <a:headEnd type="none" w="sm" len="sm"/>
              <a:tailEnd type="none" w="sm" len="sm"/>
            </a:ln>
            <a:effectLst/>
          </p:spPr>
          <p:txBody>
            <a:bodyPr vert="horz" wrap="square" lIns="365760" tIns="182880" rIns="365760" bIns="182880" numCol="1" rtlCol="0" anchor="t" anchorCtr="0" compatLnSpc="1">
              <a:prstTxWarp prst="textNoShape">
                <a:avLst/>
              </a:prstTxWarp>
            </a:bodyPr>
            <a:lstStyle/>
            <a:p>
              <a:pPr algn="ctr">
                <a:spcBef>
                  <a:spcPct val="20000"/>
                </a:spcBef>
                <a:buClr>
                  <a:srgbClr val="FF0000"/>
                </a:buClr>
              </a:pPr>
              <a:endParaRPr lang="en-IN" sz="2000">
                <a:latin typeface="Arial" pitchFamily="34" charset="0"/>
              </a:endParaRPr>
            </a:p>
          </p:txBody>
        </p:sp>
        <p:sp>
          <p:nvSpPr>
            <p:cNvPr id="17" name="Oval 16">
              <a:extLst>
                <a:ext uri="{FF2B5EF4-FFF2-40B4-BE49-F238E27FC236}">
                  <a16:creationId xmlns:a16="http://schemas.microsoft.com/office/drawing/2014/main" xmlns="" id="{1130938B-B2C0-4771-A26D-A4B354B08F91}"/>
                </a:ext>
              </a:extLst>
            </p:cNvPr>
            <p:cNvSpPr/>
            <p:nvPr/>
          </p:nvSpPr>
          <p:spPr bwMode="auto">
            <a:xfrm>
              <a:off x="3941513" y="1143099"/>
              <a:ext cx="1260973" cy="1260973"/>
            </a:xfrm>
            <a:prstGeom prst="ellipse">
              <a:avLst/>
            </a:prstGeom>
            <a:solidFill>
              <a:srgbClr val="CCECFC"/>
            </a:solidFill>
            <a:ln w="28575" cap="flat" cmpd="sng" algn="ctr">
              <a:solidFill>
                <a:schemeClr val="tx1"/>
              </a:solidFill>
              <a:prstDash val="solid"/>
              <a:round/>
              <a:headEnd type="none" w="sm" len="sm"/>
              <a:tailEnd type="none" w="sm" len="sm"/>
            </a:ln>
            <a:effectLst/>
          </p:spPr>
          <p:txBody>
            <a:bodyPr vert="horz" wrap="square" lIns="365760" tIns="182880" rIns="365760" bIns="182880" numCol="1" rtlCol="0" anchor="t" anchorCtr="0" compatLnSpc="1">
              <a:prstTxWarp prst="textNoShape">
                <a:avLst/>
              </a:prstTxWarp>
            </a:bodyPr>
            <a:lstStyle/>
            <a:p>
              <a:pPr algn="ctr">
                <a:spcBef>
                  <a:spcPct val="20000"/>
                </a:spcBef>
                <a:buClr>
                  <a:srgbClr val="FF0000"/>
                </a:buClr>
              </a:pPr>
              <a:endParaRPr lang="en-IN" sz="2000" dirty="0">
                <a:latin typeface="Arial" pitchFamily="34" charset="0"/>
              </a:endParaRPr>
            </a:p>
          </p:txBody>
        </p:sp>
      </p:grpSp>
      <p:sp>
        <p:nvSpPr>
          <p:cNvPr id="18" name="Oval 17">
            <a:extLst>
              <a:ext uri="{FF2B5EF4-FFF2-40B4-BE49-F238E27FC236}">
                <a16:creationId xmlns:a16="http://schemas.microsoft.com/office/drawing/2014/main" xmlns="" id="{4EF63A2D-6261-493D-BEAA-644B6F450DF8}"/>
              </a:ext>
            </a:extLst>
          </p:cNvPr>
          <p:cNvSpPr/>
          <p:nvPr/>
        </p:nvSpPr>
        <p:spPr bwMode="auto">
          <a:xfrm>
            <a:off x="1367643" y="3942407"/>
            <a:ext cx="1368152" cy="1824203"/>
          </a:xfrm>
          <a:prstGeom prst="ellipse">
            <a:avLst/>
          </a:prstGeom>
          <a:noFill/>
          <a:ln w="28575" cap="flat" cmpd="sng" algn="ctr">
            <a:solidFill>
              <a:schemeClr val="tx1"/>
            </a:solidFill>
            <a:prstDash val="solid"/>
            <a:round/>
            <a:headEnd type="none" w="sm" len="sm"/>
            <a:tailEnd type="none" w="sm" len="sm"/>
          </a:ln>
          <a:effectLst/>
        </p:spPr>
        <p:txBody>
          <a:bodyPr vert="horz" wrap="square" lIns="102413" tIns="51206" rIns="102413" bIns="51206" numCol="1" rtlCol="0" anchor="t" anchorCtr="0" compatLnSpc="1">
            <a:prstTxWarp prst="textNoShape">
              <a:avLst/>
            </a:prstTxWarp>
          </a:bodyPr>
          <a:lstStyle/>
          <a:p>
            <a:pPr algn="ctr">
              <a:spcBef>
                <a:spcPct val="20000"/>
              </a:spcBef>
              <a:buClr>
                <a:srgbClr val="FF0000"/>
              </a:buClr>
            </a:pPr>
            <a:endParaRPr lang="en-IN" sz="2000">
              <a:latin typeface="Arial" pitchFamily="34" charset="0"/>
            </a:endParaRPr>
          </a:p>
        </p:txBody>
      </p:sp>
      <p:sp>
        <p:nvSpPr>
          <p:cNvPr id="19" name="Oval 18">
            <a:extLst>
              <a:ext uri="{FF2B5EF4-FFF2-40B4-BE49-F238E27FC236}">
                <a16:creationId xmlns:a16="http://schemas.microsoft.com/office/drawing/2014/main" xmlns="" id="{E4B7DB6E-61B4-4801-9045-0084794CB6B2}"/>
              </a:ext>
            </a:extLst>
          </p:cNvPr>
          <p:cNvSpPr/>
          <p:nvPr/>
        </p:nvSpPr>
        <p:spPr bwMode="auto">
          <a:xfrm>
            <a:off x="1421233" y="4013860"/>
            <a:ext cx="1260973" cy="1681297"/>
          </a:xfrm>
          <a:prstGeom prst="ellipse">
            <a:avLst/>
          </a:prstGeom>
          <a:solidFill>
            <a:srgbClr val="FDE7E7"/>
          </a:solidFill>
          <a:ln w="28575" cap="flat" cmpd="sng" algn="ctr">
            <a:solidFill>
              <a:schemeClr val="tx1"/>
            </a:solidFill>
            <a:prstDash val="solid"/>
            <a:round/>
            <a:headEnd type="none" w="sm" len="sm"/>
            <a:tailEnd type="none" w="sm" len="sm"/>
          </a:ln>
          <a:effectLst/>
        </p:spPr>
        <p:txBody>
          <a:bodyPr vert="horz" wrap="square" lIns="102413" tIns="51206" rIns="102413" bIns="51206" numCol="1" rtlCol="0" anchor="t" anchorCtr="0" compatLnSpc="1">
            <a:prstTxWarp prst="textNoShape">
              <a:avLst/>
            </a:prstTxWarp>
          </a:bodyPr>
          <a:lstStyle/>
          <a:p>
            <a:pPr algn="ctr">
              <a:spcBef>
                <a:spcPct val="20000"/>
              </a:spcBef>
              <a:buClr>
                <a:srgbClr val="FF0000"/>
              </a:buClr>
            </a:pPr>
            <a:endParaRPr lang="en-IN" sz="2000">
              <a:latin typeface="Arial" pitchFamily="34" charset="0"/>
            </a:endParaRPr>
          </a:p>
        </p:txBody>
      </p:sp>
      <p:grpSp>
        <p:nvGrpSpPr>
          <p:cNvPr id="20" name="Group 19">
            <a:extLst>
              <a:ext uri="{FF2B5EF4-FFF2-40B4-BE49-F238E27FC236}">
                <a16:creationId xmlns:a16="http://schemas.microsoft.com/office/drawing/2014/main" xmlns="" id="{EE8E489E-8EE0-4929-97FA-95084DFE77EC}"/>
              </a:ext>
            </a:extLst>
          </p:cNvPr>
          <p:cNvGrpSpPr/>
          <p:nvPr/>
        </p:nvGrpSpPr>
        <p:grpSpPr>
          <a:xfrm>
            <a:off x="3887924" y="3947153"/>
            <a:ext cx="1368152" cy="1824203"/>
            <a:chOff x="3887924" y="1089510"/>
            <a:chExt cx="1368152" cy="1368152"/>
          </a:xfrm>
        </p:grpSpPr>
        <p:sp>
          <p:nvSpPr>
            <p:cNvPr id="21" name="Oval 20">
              <a:extLst>
                <a:ext uri="{FF2B5EF4-FFF2-40B4-BE49-F238E27FC236}">
                  <a16:creationId xmlns:a16="http://schemas.microsoft.com/office/drawing/2014/main" xmlns="" id="{897440C9-E7D9-43FA-9776-5005BFFC7BB1}"/>
                </a:ext>
              </a:extLst>
            </p:cNvPr>
            <p:cNvSpPr/>
            <p:nvPr/>
          </p:nvSpPr>
          <p:spPr bwMode="auto">
            <a:xfrm>
              <a:off x="3887924" y="1089510"/>
              <a:ext cx="1368152" cy="1368152"/>
            </a:xfrm>
            <a:prstGeom prst="ellipse">
              <a:avLst/>
            </a:prstGeom>
            <a:noFill/>
            <a:ln w="28575" cap="flat" cmpd="sng" algn="ctr">
              <a:solidFill>
                <a:schemeClr val="tx1"/>
              </a:solidFill>
              <a:prstDash val="solid"/>
              <a:round/>
              <a:headEnd type="none" w="sm" len="sm"/>
              <a:tailEnd type="none" w="sm" len="sm"/>
            </a:ln>
            <a:effectLst/>
          </p:spPr>
          <p:txBody>
            <a:bodyPr vert="horz" wrap="square" lIns="365760" tIns="182880" rIns="365760" bIns="182880" numCol="1" rtlCol="0" anchor="t" anchorCtr="0" compatLnSpc="1">
              <a:prstTxWarp prst="textNoShape">
                <a:avLst/>
              </a:prstTxWarp>
            </a:bodyPr>
            <a:lstStyle/>
            <a:p>
              <a:pPr algn="ctr">
                <a:spcBef>
                  <a:spcPct val="20000"/>
                </a:spcBef>
                <a:buClr>
                  <a:srgbClr val="FF0000"/>
                </a:buClr>
              </a:pPr>
              <a:endParaRPr lang="en-IN" sz="2000">
                <a:latin typeface="Arial" pitchFamily="34" charset="0"/>
              </a:endParaRPr>
            </a:p>
          </p:txBody>
        </p:sp>
        <p:sp>
          <p:nvSpPr>
            <p:cNvPr id="22" name="Oval 21">
              <a:extLst>
                <a:ext uri="{FF2B5EF4-FFF2-40B4-BE49-F238E27FC236}">
                  <a16:creationId xmlns:a16="http://schemas.microsoft.com/office/drawing/2014/main" xmlns="" id="{5CFD1B90-69EC-454F-9982-D7BDB9F707B7}"/>
                </a:ext>
              </a:extLst>
            </p:cNvPr>
            <p:cNvSpPr/>
            <p:nvPr/>
          </p:nvSpPr>
          <p:spPr bwMode="auto">
            <a:xfrm>
              <a:off x="3941513" y="1143099"/>
              <a:ext cx="1260973" cy="1260973"/>
            </a:xfrm>
            <a:prstGeom prst="ellipse">
              <a:avLst/>
            </a:prstGeom>
            <a:solidFill>
              <a:srgbClr val="CCECFC"/>
            </a:solidFill>
            <a:ln w="28575" cap="flat" cmpd="sng" algn="ctr">
              <a:solidFill>
                <a:schemeClr val="tx1"/>
              </a:solidFill>
              <a:prstDash val="solid"/>
              <a:round/>
              <a:headEnd type="none" w="sm" len="sm"/>
              <a:tailEnd type="none" w="sm" len="sm"/>
            </a:ln>
            <a:effectLst/>
          </p:spPr>
          <p:txBody>
            <a:bodyPr vert="horz" wrap="square" lIns="365760" tIns="182880" rIns="365760" bIns="182880" numCol="1" rtlCol="0" anchor="t" anchorCtr="0" compatLnSpc="1">
              <a:prstTxWarp prst="textNoShape">
                <a:avLst/>
              </a:prstTxWarp>
            </a:bodyPr>
            <a:lstStyle/>
            <a:p>
              <a:pPr algn="ctr">
                <a:spcBef>
                  <a:spcPct val="20000"/>
                </a:spcBef>
                <a:buClr>
                  <a:srgbClr val="FF0000"/>
                </a:buClr>
              </a:pPr>
              <a:endParaRPr lang="en-IN" sz="2000" dirty="0">
                <a:latin typeface="Arial" pitchFamily="34" charset="0"/>
              </a:endParaRPr>
            </a:p>
          </p:txBody>
        </p:sp>
      </p:grpSp>
      <p:grpSp>
        <p:nvGrpSpPr>
          <p:cNvPr id="23" name="Group 22">
            <a:extLst>
              <a:ext uri="{FF2B5EF4-FFF2-40B4-BE49-F238E27FC236}">
                <a16:creationId xmlns:a16="http://schemas.microsoft.com/office/drawing/2014/main" xmlns="" id="{CD31BB35-8DE7-4912-A3EE-9BAAB37A4626}"/>
              </a:ext>
            </a:extLst>
          </p:cNvPr>
          <p:cNvGrpSpPr/>
          <p:nvPr/>
        </p:nvGrpSpPr>
        <p:grpSpPr>
          <a:xfrm>
            <a:off x="6408205" y="3942407"/>
            <a:ext cx="1368152" cy="1824203"/>
            <a:chOff x="3887924" y="1089510"/>
            <a:chExt cx="1368152" cy="1368152"/>
          </a:xfrm>
        </p:grpSpPr>
        <p:sp>
          <p:nvSpPr>
            <p:cNvPr id="24" name="Oval 23">
              <a:extLst>
                <a:ext uri="{FF2B5EF4-FFF2-40B4-BE49-F238E27FC236}">
                  <a16:creationId xmlns:a16="http://schemas.microsoft.com/office/drawing/2014/main" xmlns="" id="{9A7A6BEA-C669-4C45-A813-DBAE0763530F}"/>
                </a:ext>
              </a:extLst>
            </p:cNvPr>
            <p:cNvSpPr/>
            <p:nvPr/>
          </p:nvSpPr>
          <p:spPr bwMode="auto">
            <a:xfrm>
              <a:off x="3887924" y="1089510"/>
              <a:ext cx="1368152" cy="1368152"/>
            </a:xfrm>
            <a:prstGeom prst="ellipse">
              <a:avLst/>
            </a:prstGeom>
            <a:noFill/>
            <a:ln w="28575" cap="flat" cmpd="sng" algn="ctr">
              <a:solidFill>
                <a:schemeClr val="tx1"/>
              </a:solidFill>
              <a:prstDash val="solid"/>
              <a:round/>
              <a:headEnd type="none" w="sm" len="sm"/>
              <a:tailEnd type="none" w="sm" len="sm"/>
            </a:ln>
            <a:effectLst/>
          </p:spPr>
          <p:txBody>
            <a:bodyPr vert="horz" wrap="square" lIns="365760" tIns="182880" rIns="365760" bIns="182880" numCol="1" rtlCol="0" anchor="t" anchorCtr="0" compatLnSpc="1">
              <a:prstTxWarp prst="textNoShape">
                <a:avLst/>
              </a:prstTxWarp>
            </a:bodyPr>
            <a:lstStyle/>
            <a:p>
              <a:pPr algn="ctr">
                <a:spcBef>
                  <a:spcPct val="20000"/>
                </a:spcBef>
                <a:buClr>
                  <a:srgbClr val="FF0000"/>
                </a:buClr>
              </a:pPr>
              <a:endParaRPr lang="en-IN" sz="2000">
                <a:latin typeface="Arial" pitchFamily="34" charset="0"/>
              </a:endParaRPr>
            </a:p>
          </p:txBody>
        </p:sp>
        <p:sp>
          <p:nvSpPr>
            <p:cNvPr id="25" name="Oval 24">
              <a:extLst>
                <a:ext uri="{FF2B5EF4-FFF2-40B4-BE49-F238E27FC236}">
                  <a16:creationId xmlns:a16="http://schemas.microsoft.com/office/drawing/2014/main" xmlns="" id="{F6FBA2B9-6E37-4272-A34F-577BC553DEE5}"/>
                </a:ext>
              </a:extLst>
            </p:cNvPr>
            <p:cNvSpPr/>
            <p:nvPr/>
          </p:nvSpPr>
          <p:spPr bwMode="auto">
            <a:xfrm>
              <a:off x="3941513" y="1143099"/>
              <a:ext cx="1260973" cy="1260973"/>
            </a:xfrm>
            <a:prstGeom prst="ellipse">
              <a:avLst/>
            </a:prstGeom>
            <a:solidFill>
              <a:srgbClr val="FDE7E7"/>
            </a:solidFill>
            <a:ln w="28575" cap="flat" cmpd="sng" algn="ctr">
              <a:solidFill>
                <a:schemeClr val="tx1"/>
              </a:solidFill>
              <a:prstDash val="solid"/>
              <a:round/>
              <a:headEnd type="none" w="sm" len="sm"/>
              <a:tailEnd type="none" w="sm" len="sm"/>
            </a:ln>
            <a:effectLst/>
          </p:spPr>
          <p:txBody>
            <a:bodyPr vert="horz" wrap="square" lIns="365760" tIns="182880" rIns="365760" bIns="182880" numCol="1" rtlCol="0" anchor="t" anchorCtr="0" compatLnSpc="1">
              <a:prstTxWarp prst="textNoShape">
                <a:avLst/>
              </a:prstTxWarp>
            </a:bodyPr>
            <a:lstStyle/>
            <a:p>
              <a:pPr algn="ctr">
                <a:spcBef>
                  <a:spcPct val="20000"/>
                </a:spcBef>
                <a:buClr>
                  <a:srgbClr val="FF0000"/>
                </a:buClr>
              </a:pPr>
              <a:endParaRPr lang="en-IN" sz="2000" dirty="0">
                <a:latin typeface="Arial" pitchFamily="34" charset="0"/>
              </a:endParaRPr>
            </a:p>
          </p:txBody>
        </p:sp>
      </p:grpSp>
      <p:pic>
        <p:nvPicPr>
          <p:cNvPr id="6" name="Shape 348" descr="Cloud-Dataproc_256px.png">
            <a:extLst>
              <a:ext uri="{FF2B5EF4-FFF2-40B4-BE49-F238E27FC236}">
                <a16:creationId xmlns:a16="http://schemas.microsoft.com/office/drawing/2014/main" xmlns="" id="{1B44AC06-F738-4B98-BA58-4B751024B2C5}"/>
              </a:ext>
            </a:extLst>
          </p:cNvPr>
          <p:cNvPicPr preferRelativeResize="0"/>
          <p:nvPr/>
        </p:nvPicPr>
        <p:blipFill rotWithShape="1">
          <a:blip r:embed="rId2">
            <a:alphaModFix/>
          </a:blip>
          <a:srcRect t="5092" b="5092"/>
          <a:stretch/>
        </p:blipFill>
        <p:spPr>
          <a:xfrm>
            <a:off x="4179191" y="1873567"/>
            <a:ext cx="785616" cy="940843"/>
          </a:xfrm>
          <a:prstGeom prst="rect">
            <a:avLst/>
          </a:prstGeom>
          <a:noFill/>
          <a:ln>
            <a:noFill/>
          </a:ln>
        </p:spPr>
      </p:pic>
      <p:pic>
        <p:nvPicPr>
          <p:cNvPr id="8" name="Shape 350" descr="Cloud-PubSub_256px.png">
            <a:extLst>
              <a:ext uri="{FF2B5EF4-FFF2-40B4-BE49-F238E27FC236}">
                <a16:creationId xmlns:a16="http://schemas.microsoft.com/office/drawing/2014/main" xmlns="" id="{94762CD8-246A-4358-88E3-6D0EB337E4B7}"/>
              </a:ext>
            </a:extLst>
          </p:cNvPr>
          <p:cNvPicPr preferRelativeResize="0"/>
          <p:nvPr/>
        </p:nvPicPr>
        <p:blipFill rotWithShape="1">
          <a:blip r:embed="rId3">
            <a:alphaModFix/>
          </a:blip>
          <a:srcRect t="5092" b="5092"/>
          <a:stretch/>
        </p:blipFill>
        <p:spPr>
          <a:xfrm>
            <a:off x="6699471" y="1873567"/>
            <a:ext cx="785616" cy="940843"/>
          </a:xfrm>
          <a:prstGeom prst="rect">
            <a:avLst/>
          </a:prstGeom>
          <a:noFill/>
          <a:ln>
            <a:noFill/>
          </a:ln>
        </p:spPr>
      </p:pic>
      <p:pic>
        <p:nvPicPr>
          <p:cNvPr id="4" name="Shape 337" descr="BigQuery_256px.png">
            <a:extLst>
              <a:ext uri="{FF2B5EF4-FFF2-40B4-BE49-F238E27FC236}">
                <a16:creationId xmlns:a16="http://schemas.microsoft.com/office/drawing/2014/main" xmlns="" id="{153BB41A-B222-40F2-9789-FF3D571AFF4E}"/>
              </a:ext>
            </a:extLst>
          </p:cNvPr>
          <p:cNvPicPr preferRelativeResize="0"/>
          <p:nvPr/>
        </p:nvPicPr>
        <p:blipFill rotWithShape="1">
          <a:blip r:embed="rId4">
            <a:alphaModFix/>
          </a:blip>
          <a:srcRect t="5092" b="5092"/>
          <a:stretch/>
        </p:blipFill>
        <p:spPr>
          <a:xfrm>
            <a:off x="1658911" y="1873567"/>
            <a:ext cx="785616" cy="940843"/>
          </a:xfrm>
          <a:prstGeom prst="rect">
            <a:avLst/>
          </a:prstGeom>
          <a:noFill/>
          <a:ln>
            <a:noFill/>
          </a:ln>
        </p:spPr>
      </p:pic>
      <p:pic>
        <p:nvPicPr>
          <p:cNvPr id="5" name="Shape 347" descr="Cloud-Dataflow_256px.png">
            <a:extLst>
              <a:ext uri="{FF2B5EF4-FFF2-40B4-BE49-F238E27FC236}">
                <a16:creationId xmlns:a16="http://schemas.microsoft.com/office/drawing/2014/main" xmlns="" id="{6A248904-E084-4F62-9450-52C5CC576ADB}"/>
              </a:ext>
            </a:extLst>
          </p:cNvPr>
          <p:cNvPicPr preferRelativeResize="0"/>
          <p:nvPr/>
        </p:nvPicPr>
        <p:blipFill rotWithShape="1">
          <a:blip r:embed="rId5">
            <a:alphaModFix/>
          </a:blip>
          <a:srcRect t="5092" b="5092"/>
          <a:stretch/>
        </p:blipFill>
        <p:spPr>
          <a:xfrm>
            <a:off x="1658911" y="4389108"/>
            <a:ext cx="785616" cy="940843"/>
          </a:xfrm>
          <a:prstGeom prst="rect">
            <a:avLst/>
          </a:prstGeom>
          <a:noFill/>
          <a:ln>
            <a:noFill/>
          </a:ln>
        </p:spPr>
      </p:pic>
      <p:pic>
        <p:nvPicPr>
          <p:cNvPr id="7" name="Shape 349" descr="Cloud-Datalab_256px.png">
            <a:extLst>
              <a:ext uri="{FF2B5EF4-FFF2-40B4-BE49-F238E27FC236}">
                <a16:creationId xmlns:a16="http://schemas.microsoft.com/office/drawing/2014/main" xmlns="" id="{58EE73C9-3D52-4137-88E4-98BB7DAB2E60}"/>
              </a:ext>
            </a:extLst>
          </p:cNvPr>
          <p:cNvPicPr preferRelativeResize="0"/>
          <p:nvPr/>
        </p:nvPicPr>
        <p:blipFill rotWithShape="1">
          <a:blip r:embed="rId6">
            <a:alphaModFix/>
          </a:blip>
          <a:srcRect t="5092" b="5092"/>
          <a:stretch/>
        </p:blipFill>
        <p:spPr>
          <a:xfrm>
            <a:off x="4179193" y="4389107"/>
            <a:ext cx="785615" cy="940844"/>
          </a:xfrm>
          <a:prstGeom prst="rect">
            <a:avLst/>
          </a:prstGeom>
          <a:noFill/>
          <a:ln>
            <a:noFill/>
          </a:ln>
        </p:spPr>
      </p:pic>
      <p:pic>
        <p:nvPicPr>
          <p:cNvPr id="9" name="Shape 351" descr="Genomics_256px.png">
            <a:extLst>
              <a:ext uri="{FF2B5EF4-FFF2-40B4-BE49-F238E27FC236}">
                <a16:creationId xmlns:a16="http://schemas.microsoft.com/office/drawing/2014/main" xmlns="" id="{C66C7857-EB4D-40F8-9ABD-8659D8A51032}"/>
              </a:ext>
            </a:extLst>
          </p:cNvPr>
          <p:cNvPicPr preferRelativeResize="0"/>
          <p:nvPr/>
        </p:nvPicPr>
        <p:blipFill rotWithShape="1">
          <a:blip r:embed="rId7">
            <a:alphaModFix/>
          </a:blip>
          <a:srcRect t="5092" b="5092"/>
          <a:stretch/>
        </p:blipFill>
        <p:spPr>
          <a:xfrm>
            <a:off x="6699471" y="4389108"/>
            <a:ext cx="785616" cy="940843"/>
          </a:xfrm>
          <a:prstGeom prst="rect">
            <a:avLst/>
          </a:prstGeom>
          <a:noFill/>
          <a:ln>
            <a:noFill/>
          </a:ln>
        </p:spPr>
      </p:pic>
      <p:sp>
        <p:nvSpPr>
          <p:cNvPr id="26" name="Shape 329">
            <a:extLst>
              <a:ext uri="{FF2B5EF4-FFF2-40B4-BE49-F238E27FC236}">
                <a16:creationId xmlns:a16="http://schemas.microsoft.com/office/drawing/2014/main" xmlns="" id="{BCB4C110-A631-40FF-8911-64FA50A4F310}"/>
              </a:ext>
            </a:extLst>
          </p:cNvPr>
          <p:cNvSpPr txBox="1"/>
          <p:nvPr/>
        </p:nvSpPr>
        <p:spPr>
          <a:xfrm>
            <a:off x="1647125" y="3327541"/>
            <a:ext cx="797402" cy="333600"/>
          </a:xfrm>
          <a:prstGeom prst="rect">
            <a:avLst/>
          </a:prstGeom>
          <a:noFill/>
          <a:ln>
            <a:noFill/>
          </a:ln>
        </p:spPr>
        <p:txBody>
          <a:bodyPr lIns="76804" tIns="76804" rIns="76804" bIns="76804" anchor="ctr" anchorCtr="0">
            <a:noAutofit/>
          </a:bodyPr>
          <a:lstStyle/>
          <a:p>
            <a:pPr algn="ctr">
              <a:buClr>
                <a:srgbClr val="808080"/>
              </a:buClr>
              <a:buSzPct val="25000"/>
            </a:pPr>
            <a:r>
              <a:rPr lang="en-US" sz="1300" b="1" dirty="0" err="1">
                <a:solidFill>
                  <a:srgbClr val="808080"/>
                </a:solidFill>
                <a:ea typeface="Open Sans"/>
                <a:cs typeface="Open Sans"/>
                <a:sym typeface="Open Sans"/>
              </a:rPr>
              <a:t>BigQuery</a:t>
            </a:r>
            <a:endParaRPr lang="en-US" sz="1300" b="1" dirty="0">
              <a:solidFill>
                <a:srgbClr val="808080"/>
              </a:solidFill>
              <a:ea typeface="Open Sans"/>
              <a:cs typeface="Open Sans"/>
              <a:sym typeface="Open Sans"/>
            </a:endParaRPr>
          </a:p>
        </p:txBody>
      </p:sp>
      <p:sp>
        <p:nvSpPr>
          <p:cNvPr id="27" name="Shape 331">
            <a:extLst>
              <a:ext uri="{FF2B5EF4-FFF2-40B4-BE49-F238E27FC236}">
                <a16:creationId xmlns:a16="http://schemas.microsoft.com/office/drawing/2014/main" xmlns="" id="{34F9AF1D-339E-4C19-AFB1-94E3C23FD239}"/>
              </a:ext>
            </a:extLst>
          </p:cNvPr>
          <p:cNvSpPr txBox="1"/>
          <p:nvPr/>
        </p:nvSpPr>
        <p:spPr>
          <a:xfrm>
            <a:off x="4199382" y="3353843"/>
            <a:ext cx="797402" cy="333600"/>
          </a:xfrm>
          <a:prstGeom prst="rect">
            <a:avLst/>
          </a:prstGeom>
          <a:noFill/>
          <a:ln>
            <a:noFill/>
          </a:ln>
        </p:spPr>
        <p:txBody>
          <a:bodyPr lIns="76804" tIns="76804" rIns="76804" bIns="76804" anchor="ctr" anchorCtr="0">
            <a:noAutofit/>
          </a:bodyPr>
          <a:lstStyle/>
          <a:p>
            <a:pPr algn="ctr">
              <a:buClr>
                <a:srgbClr val="808080"/>
              </a:buClr>
              <a:buSzPct val="25000"/>
            </a:pPr>
            <a:r>
              <a:rPr lang="en-US" sz="1300" b="1" dirty="0" err="1">
                <a:solidFill>
                  <a:srgbClr val="808080"/>
                </a:solidFill>
                <a:ea typeface="Open Sans"/>
                <a:cs typeface="Open Sans"/>
                <a:sym typeface="Open Sans"/>
              </a:rPr>
              <a:t>Dataproc</a:t>
            </a:r>
            <a:endParaRPr lang="en-US" sz="1300" b="1" dirty="0">
              <a:solidFill>
                <a:srgbClr val="808080"/>
              </a:solidFill>
              <a:ea typeface="Open Sans"/>
              <a:cs typeface="Open Sans"/>
              <a:sym typeface="Open Sans"/>
            </a:endParaRPr>
          </a:p>
        </p:txBody>
      </p:sp>
      <p:sp>
        <p:nvSpPr>
          <p:cNvPr id="28" name="Shape 333">
            <a:extLst>
              <a:ext uri="{FF2B5EF4-FFF2-40B4-BE49-F238E27FC236}">
                <a16:creationId xmlns:a16="http://schemas.microsoft.com/office/drawing/2014/main" xmlns="" id="{853A9EF0-3723-4277-B9EE-4635C4A4C0AA}"/>
              </a:ext>
            </a:extLst>
          </p:cNvPr>
          <p:cNvSpPr txBox="1"/>
          <p:nvPr/>
        </p:nvSpPr>
        <p:spPr>
          <a:xfrm>
            <a:off x="6693578" y="3357384"/>
            <a:ext cx="797402" cy="333600"/>
          </a:xfrm>
          <a:prstGeom prst="rect">
            <a:avLst/>
          </a:prstGeom>
          <a:noFill/>
          <a:ln>
            <a:noFill/>
          </a:ln>
        </p:spPr>
        <p:txBody>
          <a:bodyPr lIns="76804" tIns="76804" rIns="76804" bIns="76804" anchor="ctr" anchorCtr="0">
            <a:noAutofit/>
          </a:bodyPr>
          <a:lstStyle/>
          <a:p>
            <a:pPr algn="ctr">
              <a:buClr>
                <a:srgbClr val="808080"/>
              </a:buClr>
              <a:buSzPct val="25000"/>
            </a:pPr>
            <a:r>
              <a:rPr lang="en-US" sz="1300" b="1" dirty="0">
                <a:solidFill>
                  <a:srgbClr val="808080"/>
                </a:solidFill>
                <a:ea typeface="Open Sans"/>
                <a:cs typeface="Open Sans"/>
                <a:sym typeface="Open Sans"/>
              </a:rPr>
              <a:t>Pub/Sub</a:t>
            </a:r>
          </a:p>
        </p:txBody>
      </p:sp>
      <p:sp>
        <p:nvSpPr>
          <p:cNvPr id="29" name="Shape 330">
            <a:extLst>
              <a:ext uri="{FF2B5EF4-FFF2-40B4-BE49-F238E27FC236}">
                <a16:creationId xmlns:a16="http://schemas.microsoft.com/office/drawing/2014/main" xmlns="" id="{ED9104AA-BEAB-4F17-9163-4D817C593457}"/>
              </a:ext>
            </a:extLst>
          </p:cNvPr>
          <p:cNvSpPr txBox="1"/>
          <p:nvPr/>
        </p:nvSpPr>
        <p:spPr>
          <a:xfrm>
            <a:off x="1647125" y="5838061"/>
            <a:ext cx="797402" cy="333600"/>
          </a:xfrm>
          <a:prstGeom prst="rect">
            <a:avLst/>
          </a:prstGeom>
          <a:noFill/>
          <a:ln>
            <a:noFill/>
          </a:ln>
        </p:spPr>
        <p:txBody>
          <a:bodyPr lIns="76804" tIns="76804" rIns="76804" bIns="76804" anchor="ctr" anchorCtr="0">
            <a:noAutofit/>
          </a:bodyPr>
          <a:lstStyle/>
          <a:p>
            <a:pPr algn="ctr">
              <a:buClr>
                <a:srgbClr val="808080"/>
              </a:buClr>
              <a:buSzPct val="25000"/>
            </a:pPr>
            <a:r>
              <a:rPr lang="en-US" sz="1300" b="1" dirty="0">
                <a:solidFill>
                  <a:srgbClr val="808080"/>
                </a:solidFill>
                <a:ea typeface="Open Sans"/>
                <a:cs typeface="Open Sans"/>
                <a:sym typeface="Open Sans"/>
              </a:rPr>
              <a:t>Dataflow</a:t>
            </a:r>
          </a:p>
        </p:txBody>
      </p:sp>
      <p:sp>
        <p:nvSpPr>
          <p:cNvPr id="30" name="Shape 332">
            <a:extLst>
              <a:ext uri="{FF2B5EF4-FFF2-40B4-BE49-F238E27FC236}">
                <a16:creationId xmlns:a16="http://schemas.microsoft.com/office/drawing/2014/main" xmlns="" id="{39FC8659-1C40-4E72-B456-A82EB3DEAF3D}"/>
              </a:ext>
            </a:extLst>
          </p:cNvPr>
          <p:cNvSpPr txBox="1"/>
          <p:nvPr/>
        </p:nvSpPr>
        <p:spPr>
          <a:xfrm>
            <a:off x="4167405" y="5860469"/>
            <a:ext cx="797402" cy="333600"/>
          </a:xfrm>
          <a:prstGeom prst="rect">
            <a:avLst/>
          </a:prstGeom>
          <a:noFill/>
          <a:ln>
            <a:noFill/>
          </a:ln>
        </p:spPr>
        <p:txBody>
          <a:bodyPr lIns="76804" tIns="76804" rIns="76804" bIns="76804" anchor="ctr" anchorCtr="0">
            <a:noAutofit/>
          </a:bodyPr>
          <a:lstStyle/>
          <a:p>
            <a:pPr algn="ctr">
              <a:buClr>
                <a:srgbClr val="808080"/>
              </a:buClr>
              <a:buSzPct val="25000"/>
            </a:pPr>
            <a:r>
              <a:rPr lang="en-US" sz="1300" b="1" dirty="0" err="1">
                <a:solidFill>
                  <a:srgbClr val="808080"/>
                </a:solidFill>
                <a:ea typeface="Open Sans"/>
                <a:cs typeface="Open Sans"/>
                <a:sym typeface="Open Sans"/>
              </a:rPr>
              <a:t>Datalab</a:t>
            </a:r>
            <a:endParaRPr lang="en-US" sz="1300" b="1" dirty="0">
              <a:solidFill>
                <a:srgbClr val="808080"/>
              </a:solidFill>
              <a:ea typeface="Open Sans"/>
              <a:cs typeface="Open Sans"/>
              <a:sym typeface="Open Sans"/>
            </a:endParaRPr>
          </a:p>
        </p:txBody>
      </p:sp>
      <p:sp>
        <p:nvSpPr>
          <p:cNvPr id="31" name="Shape 334">
            <a:extLst>
              <a:ext uri="{FF2B5EF4-FFF2-40B4-BE49-F238E27FC236}">
                <a16:creationId xmlns:a16="http://schemas.microsoft.com/office/drawing/2014/main" xmlns="" id="{77BD8E27-698F-4DC5-AC3F-E341F5AAC649}"/>
              </a:ext>
            </a:extLst>
          </p:cNvPr>
          <p:cNvSpPr txBox="1"/>
          <p:nvPr/>
        </p:nvSpPr>
        <p:spPr>
          <a:xfrm>
            <a:off x="6687685" y="5860469"/>
            <a:ext cx="797402" cy="333600"/>
          </a:xfrm>
          <a:prstGeom prst="rect">
            <a:avLst/>
          </a:prstGeom>
          <a:noFill/>
          <a:ln>
            <a:noFill/>
          </a:ln>
        </p:spPr>
        <p:txBody>
          <a:bodyPr lIns="76804" tIns="76804" rIns="76804" bIns="76804" anchor="ctr" anchorCtr="0">
            <a:noAutofit/>
          </a:bodyPr>
          <a:lstStyle/>
          <a:p>
            <a:pPr algn="ctr">
              <a:buClr>
                <a:srgbClr val="808080"/>
              </a:buClr>
              <a:buSzPct val="25000"/>
            </a:pPr>
            <a:r>
              <a:rPr lang="en-US" sz="1300" b="1" dirty="0">
                <a:solidFill>
                  <a:srgbClr val="808080"/>
                </a:solidFill>
                <a:ea typeface="Open Sans"/>
                <a:cs typeface="Open Sans"/>
                <a:sym typeface="Open Sans"/>
              </a:rPr>
              <a:t>Genomics</a:t>
            </a:r>
          </a:p>
        </p:txBody>
      </p:sp>
    </p:spTree>
    <p:extLst>
      <p:ext uri="{BB962C8B-B14F-4D97-AF65-F5344CB8AC3E}">
        <p14:creationId xmlns:p14="http://schemas.microsoft.com/office/powerpoint/2010/main" val="186520328"/>
      </p:ext>
    </p:extLst>
  </p:cSld>
  <p:clrMapOvr>
    <a:masterClrMapping/>
  </p:clrMapOvr>
  <p:timing>
    <p:tnLst>
      <p:par>
        <p:cTn id="1" dur="indefinite" restart="never" nodeType="tmRoot"/>
      </p:par>
    </p:tnLst>
  </p:timing>
</p:sld>
</file>

<file path=ppt/slides/slide7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dirty="0"/>
              <a:t>Google Cloud Platform Services</a:t>
            </a:r>
          </a:p>
        </p:txBody>
      </p:sp>
      <p:sp>
        <p:nvSpPr>
          <p:cNvPr id="3" name="Text Placeholder 2"/>
          <p:cNvSpPr>
            <a:spLocks noGrp="1"/>
          </p:cNvSpPr>
          <p:nvPr>
            <p:ph type="body" sz="quarter" idx="10"/>
          </p:nvPr>
        </p:nvSpPr>
        <p:spPr/>
        <p:txBody>
          <a:bodyPr>
            <a:noAutofit/>
          </a:bodyPr>
          <a:lstStyle/>
          <a:p>
            <a:pPr marL="0" indent="0">
              <a:buNone/>
            </a:pPr>
            <a:r>
              <a:rPr lang="en-IN" sz="2400" b="1" dirty="0" smtClean="0"/>
              <a:t>Big Query</a:t>
            </a:r>
          </a:p>
          <a:p>
            <a:r>
              <a:rPr lang="en-US" sz="2400" dirty="0" err="1"/>
              <a:t>BigQuery</a:t>
            </a:r>
            <a:r>
              <a:rPr lang="en-US" sz="2400" dirty="0"/>
              <a:t> is a fully managed, AI-ready data analytics platform that helps you maximize value from your data </a:t>
            </a:r>
            <a:endParaRPr lang="en-US" sz="2400" dirty="0" smtClean="0"/>
          </a:p>
          <a:p>
            <a:r>
              <a:rPr lang="en-US" sz="2400" dirty="0" err="1" smtClean="0"/>
              <a:t>BigQuery</a:t>
            </a:r>
            <a:r>
              <a:rPr lang="en-US" sz="2400" dirty="0" smtClean="0"/>
              <a:t> </a:t>
            </a:r>
            <a:r>
              <a:rPr lang="en-US" sz="2400" dirty="0"/>
              <a:t>is a </a:t>
            </a:r>
            <a:r>
              <a:rPr lang="en-US" sz="2400" b="1" dirty="0"/>
              <a:t>completely </a:t>
            </a:r>
            <a:r>
              <a:rPr lang="en-US" sz="2400" b="1" dirty="0" err="1"/>
              <a:t>serverless</a:t>
            </a:r>
            <a:r>
              <a:rPr lang="en-US" sz="2400" b="1" dirty="0"/>
              <a:t> and cost-effective enterprise data warehouse </a:t>
            </a:r>
            <a:r>
              <a:rPr lang="en-US" sz="2400" dirty="0"/>
              <a:t>that works across clouds and scales with your data</a:t>
            </a:r>
            <a:r>
              <a:rPr lang="en-US" sz="2400" b="1" dirty="0"/>
              <a:t>, with BI, machine learning and AI built in</a:t>
            </a:r>
            <a:r>
              <a:rPr lang="en-US" sz="2400" b="1" dirty="0" smtClean="0"/>
              <a:t>.</a:t>
            </a:r>
          </a:p>
          <a:p>
            <a:r>
              <a:rPr lang="en-US" sz="2400" dirty="0" err="1"/>
              <a:t>BigQuery's</a:t>
            </a:r>
            <a:r>
              <a:rPr lang="en-US" sz="2400" dirty="0"/>
              <a:t> </a:t>
            </a:r>
            <a:r>
              <a:rPr lang="en-US" sz="2400" dirty="0" err="1"/>
              <a:t>serverless</a:t>
            </a:r>
            <a:r>
              <a:rPr lang="en-US" sz="2400" dirty="0"/>
              <a:t> architecture lets you use SQL queries to analyze your data. </a:t>
            </a:r>
            <a:endParaRPr lang="en-US" sz="2400" b="1" dirty="0"/>
          </a:p>
        </p:txBody>
      </p:sp>
      <p:sp>
        <p:nvSpPr>
          <p:cNvPr id="4" name="AutoShape 2" descr="Google Compute Engine icon in Color Style"/>
          <p:cNvSpPr>
            <a:spLocks noChangeAspect="1" noChangeArrowheads="1"/>
          </p:cNvSpPr>
          <p:nvPr/>
        </p:nvSpPr>
        <p:spPr bwMode="auto">
          <a:xfrm>
            <a:off x="155575" y="-144463"/>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IN"/>
          </a:p>
        </p:txBody>
      </p:sp>
      <p:sp>
        <p:nvSpPr>
          <p:cNvPr id="5" name="AutoShape 2" descr="Managing SQL Database on Google Cloud - Analytics Vidhya"/>
          <p:cNvSpPr>
            <a:spLocks noChangeAspect="1" noChangeArrowheads="1"/>
          </p:cNvSpPr>
          <p:nvPr/>
        </p:nvSpPr>
        <p:spPr bwMode="auto">
          <a:xfrm>
            <a:off x="307975" y="7937"/>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IN"/>
          </a:p>
        </p:txBody>
      </p:sp>
      <p:sp>
        <p:nvSpPr>
          <p:cNvPr id="6" name="AutoShape 4" descr="Managing SQL Database on Google Cloud - Analytics Vidhya"/>
          <p:cNvSpPr>
            <a:spLocks noChangeAspect="1" noChangeArrowheads="1"/>
          </p:cNvSpPr>
          <p:nvPr/>
        </p:nvSpPr>
        <p:spPr bwMode="auto">
          <a:xfrm>
            <a:off x="460375" y="160337"/>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IN"/>
          </a:p>
        </p:txBody>
      </p:sp>
      <p:sp>
        <p:nvSpPr>
          <p:cNvPr id="7" name="AutoShape 2" descr="Google BigQuery Console Simplified: The Ultimate Guide 101"/>
          <p:cNvSpPr>
            <a:spLocks noChangeAspect="1" noChangeArrowheads="1"/>
          </p:cNvSpPr>
          <p:nvPr/>
        </p:nvSpPr>
        <p:spPr bwMode="auto">
          <a:xfrm>
            <a:off x="612775" y="312737"/>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IN"/>
          </a:p>
        </p:txBody>
      </p:sp>
      <p:pic>
        <p:nvPicPr>
          <p:cNvPr id="31747" name="Picture 3"/>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707904" y="4724710"/>
            <a:ext cx="3096344" cy="154817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1002531949"/>
      </p:ext>
    </p:extLst>
  </p:cSld>
  <p:clrMapOvr>
    <a:masterClrMapping/>
  </p:clrMapOvr>
  <p:timing>
    <p:tnLst>
      <p:par>
        <p:cTn id="1" dur="indefinite" restart="never" nodeType="tmRoot"/>
      </p:par>
    </p:tnLst>
  </p:timing>
</p:sld>
</file>

<file path=ppt/slides/slide7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dirty="0"/>
              <a:t>Google Cloud Platform Services</a:t>
            </a:r>
          </a:p>
        </p:txBody>
      </p:sp>
      <p:sp>
        <p:nvSpPr>
          <p:cNvPr id="3" name="Text Placeholder 2"/>
          <p:cNvSpPr>
            <a:spLocks noGrp="1"/>
          </p:cNvSpPr>
          <p:nvPr>
            <p:ph type="body" sz="quarter" idx="10"/>
          </p:nvPr>
        </p:nvSpPr>
        <p:spPr>
          <a:xfrm>
            <a:off x="466725" y="1124745"/>
            <a:ext cx="7705675" cy="4415367"/>
          </a:xfrm>
        </p:spPr>
        <p:txBody>
          <a:bodyPr>
            <a:noAutofit/>
          </a:bodyPr>
          <a:lstStyle/>
          <a:p>
            <a:pPr marL="0" indent="0" fontAlgn="ctr">
              <a:buNone/>
            </a:pPr>
            <a:r>
              <a:rPr lang="en-US" sz="2400" b="1" dirty="0" err="1" smtClean="0"/>
              <a:t>Dataproc</a:t>
            </a:r>
            <a:endParaRPr lang="en-US" sz="2400" b="1" dirty="0"/>
          </a:p>
          <a:p>
            <a:r>
              <a:rPr lang="en-US" sz="2400" dirty="0" err="1"/>
              <a:t>Dataproc</a:t>
            </a:r>
            <a:r>
              <a:rPr lang="en-US" sz="2400" dirty="0"/>
              <a:t> is a fully managed and highly scalable service for running Apache </a:t>
            </a:r>
            <a:r>
              <a:rPr lang="en-US" sz="2400" dirty="0" err="1"/>
              <a:t>Hadoop</a:t>
            </a:r>
            <a:r>
              <a:rPr lang="en-US" sz="2400" dirty="0"/>
              <a:t>, Apache Spark, Apache </a:t>
            </a:r>
            <a:r>
              <a:rPr lang="en-US" sz="2400" dirty="0" err="1"/>
              <a:t>Flink</a:t>
            </a:r>
            <a:r>
              <a:rPr lang="en-US" sz="2400" dirty="0"/>
              <a:t>, Presto, and 30+ open source tools and frameworks</a:t>
            </a:r>
            <a:r>
              <a:rPr lang="en-US" sz="2400" dirty="0" smtClean="0"/>
              <a:t>.</a:t>
            </a:r>
          </a:p>
          <a:p>
            <a:r>
              <a:rPr lang="en-US" sz="2400" b="1" dirty="0" smtClean="0"/>
              <a:t>Run </a:t>
            </a:r>
            <a:r>
              <a:rPr lang="en-US" sz="2400" b="1" dirty="0"/>
              <a:t>open source data analytics </a:t>
            </a:r>
            <a:r>
              <a:rPr lang="en-US" sz="2400" b="1" dirty="0" smtClean="0"/>
              <a:t>software at </a:t>
            </a:r>
            <a:r>
              <a:rPr lang="en-US" sz="2400" b="1" dirty="0"/>
              <a:t>scale</a:t>
            </a:r>
            <a:r>
              <a:rPr lang="en-US" sz="2400" dirty="0"/>
              <a:t>, with enterprise grade </a:t>
            </a:r>
            <a:r>
              <a:rPr lang="en-US" sz="2400" dirty="0" smtClean="0"/>
              <a:t>security</a:t>
            </a:r>
          </a:p>
          <a:p>
            <a:r>
              <a:rPr lang="en-US" sz="2400" b="1" dirty="0"/>
              <a:t>Fully managed and automated big data open source software</a:t>
            </a:r>
          </a:p>
          <a:p>
            <a:endParaRPr lang="en-US" sz="2400" dirty="0"/>
          </a:p>
        </p:txBody>
      </p:sp>
      <p:sp>
        <p:nvSpPr>
          <p:cNvPr id="4" name="AutoShape 2" descr="Google Compute Engine icon in Color Style"/>
          <p:cNvSpPr>
            <a:spLocks noChangeAspect="1" noChangeArrowheads="1"/>
          </p:cNvSpPr>
          <p:nvPr/>
        </p:nvSpPr>
        <p:spPr bwMode="auto">
          <a:xfrm>
            <a:off x="155575" y="-144463"/>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IN"/>
          </a:p>
        </p:txBody>
      </p:sp>
      <p:sp>
        <p:nvSpPr>
          <p:cNvPr id="5" name="AutoShape 2" descr="Managing SQL Database on Google Cloud - Analytics Vidhya"/>
          <p:cNvSpPr>
            <a:spLocks noChangeAspect="1" noChangeArrowheads="1"/>
          </p:cNvSpPr>
          <p:nvPr/>
        </p:nvSpPr>
        <p:spPr bwMode="auto">
          <a:xfrm>
            <a:off x="307975" y="7937"/>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IN"/>
          </a:p>
        </p:txBody>
      </p:sp>
      <p:sp>
        <p:nvSpPr>
          <p:cNvPr id="6" name="AutoShape 4" descr="Managing SQL Database on Google Cloud - Analytics Vidhya"/>
          <p:cNvSpPr>
            <a:spLocks noChangeAspect="1" noChangeArrowheads="1"/>
          </p:cNvSpPr>
          <p:nvPr/>
        </p:nvSpPr>
        <p:spPr bwMode="auto">
          <a:xfrm>
            <a:off x="460375" y="160337"/>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IN"/>
          </a:p>
        </p:txBody>
      </p:sp>
      <p:sp>
        <p:nvSpPr>
          <p:cNvPr id="7" name="AutoShape 2" descr="Google BigQuery Console Simplified: The Ultimate Guide 101"/>
          <p:cNvSpPr>
            <a:spLocks noChangeAspect="1" noChangeArrowheads="1"/>
          </p:cNvSpPr>
          <p:nvPr/>
        </p:nvSpPr>
        <p:spPr bwMode="auto">
          <a:xfrm>
            <a:off x="612775" y="312737"/>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IN"/>
          </a:p>
        </p:txBody>
      </p:sp>
      <p:pic>
        <p:nvPicPr>
          <p:cNvPr id="39938" name="Picture 2" descr="Image result for dataproc logo"/>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084168" y="4149080"/>
            <a:ext cx="2033950" cy="2448272"/>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744430569"/>
      </p:ext>
    </p:extLst>
  </p:cSld>
  <p:clrMapOvr>
    <a:masterClrMapping/>
  </p:clrMapOvr>
  <p:timing>
    <p:tnLst>
      <p:par>
        <p:cTn id="1" dur="indefinite" restart="never" nodeType="tmRoot"/>
      </p:par>
    </p:tnLst>
  </p:timing>
</p:sld>
</file>

<file path=ppt/slides/slide7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dirty="0"/>
              <a:t>Google Cloud Platform Services</a:t>
            </a:r>
          </a:p>
        </p:txBody>
      </p:sp>
      <p:sp>
        <p:nvSpPr>
          <p:cNvPr id="3" name="Text Placeholder 2"/>
          <p:cNvSpPr>
            <a:spLocks noGrp="1"/>
          </p:cNvSpPr>
          <p:nvPr>
            <p:ph type="body" sz="quarter" idx="10"/>
          </p:nvPr>
        </p:nvSpPr>
        <p:spPr>
          <a:xfrm>
            <a:off x="466725" y="1124745"/>
            <a:ext cx="7705675" cy="4415367"/>
          </a:xfrm>
        </p:spPr>
        <p:txBody>
          <a:bodyPr>
            <a:noAutofit/>
          </a:bodyPr>
          <a:lstStyle/>
          <a:p>
            <a:pPr marL="0" indent="0" fontAlgn="ctr">
              <a:buNone/>
            </a:pPr>
            <a:r>
              <a:rPr lang="en-US" sz="2400" b="1" dirty="0" smtClean="0"/>
              <a:t>Dataflow</a:t>
            </a:r>
            <a:endParaRPr lang="en-US" sz="2400" b="1" dirty="0"/>
          </a:p>
          <a:p>
            <a:r>
              <a:rPr lang="en-US" sz="2400" dirty="0"/>
              <a:t>Dataflow is a managed service for executing a wide variety of data processing patterns. </a:t>
            </a:r>
            <a:endParaRPr lang="en-US" sz="2400" dirty="0" smtClean="0"/>
          </a:p>
          <a:p>
            <a:r>
              <a:rPr lang="en-US" sz="2400" b="1" dirty="0" smtClean="0"/>
              <a:t>Batch </a:t>
            </a:r>
            <a:r>
              <a:rPr lang="en-US" sz="2400" b="1" dirty="0"/>
              <a:t>and streaming data processing </a:t>
            </a:r>
            <a:r>
              <a:rPr lang="en-US" sz="2400" b="1" dirty="0" smtClean="0"/>
              <a:t>using </a:t>
            </a:r>
            <a:r>
              <a:rPr lang="en-US" sz="2400" b="1" dirty="0"/>
              <a:t>Dataflow</a:t>
            </a:r>
            <a:r>
              <a:rPr lang="en-US" sz="2400" b="1" dirty="0" smtClean="0"/>
              <a:t>,</a:t>
            </a:r>
          </a:p>
          <a:p>
            <a:r>
              <a:rPr lang="en-US" sz="2400" dirty="0" smtClean="0"/>
              <a:t>Unified </a:t>
            </a:r>
            <a:r>
              <a:rPr lang="en-US" sz="2400" dirty="0"/>
              <a:t>stream and batch data processing that's </a:t>
            </a:r>
            <a:r>
              <a:rPr lang="en-US" sz="2400" dirty="0" err="1"/>
              <a:t>serverless</a:t>
            </a:r>
            <a:r>
              <a:rPr lang="en-US" sz="2400" dirty="0"/>
              <a:t>, fast, and cost-effective.</a:t>
            </a:r>
          </a:p>
          <a:p>
            <a:r>
              <a:rPr lang="en-US" sz="2400" dirty="0"/>
              <a:t>New customers get $300 in free credits to spend on Dataflow.</a:t>
            </a:r>
          </a:p>
          <a:p>
            <a:endParaRPr lang="en-US" sz="2400" dirty="0"/>
          </a:p>
        </p:txBody>
      </p:sp>
      <p:sp>
        <p:nvSpPr>
          <p:cNvPr id="4" name="AutoShape 2" descr="Google Compute Engine icon in Color Style"/>
          <p:cNvSpPr>
            <a:spLocks noChangeAspect="1" noChangeArrowheads="1"/>
          </p:cNvSpPr>
          <p:nvPr/>
        </p:nvSpPr>
        <p:spPr bwMode="auto">
          <a:xfrm>
            <a:off x="155575" y="-144463"/>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IN"/>
          </a:p>
        </p:txBody>
      </p:sp>
      <p:sp>
        <p:nvSpPr>
          <p:cNvPr id="5" name="AutoShape 2" descr="Managing SQL Database on Google Cloud - Analytics Vidhya"/>
          <p:cNvSpPr>
            <a:spLocks noChangeAspect="1" noChangeArrowheads="1"/>
          </p:cNvSpPr>
          <p:nvPr/>
        </p:nvSpPr>
        <p:spPr bwMode="auto">
          <a:xfrm>
            <a:off x="307975" y="7937"/>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IN"/>
          </a:p>
        </p:txBody>
      </p:sp>
      <p:sp>
        <p:nvSpPr>
          <p:cNvPr id="6" name="AutoShape 4" descr="Managing SQL Database on Google Cloud - Analytics Vidhya"/>
          <p:cNvSpPr>
            <a:spLocks noChangeAspect="1" noChangeArrowheads="1"/>
          </p:cNvSpPr>
          <p:nvPr/>
        </p:nvSpPr>
        <p:spPr bwMode="auto">
          <a:xfrm>
            <a:off x="460375" y="160337"/>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IN"/>
          </a:p>
        </p:txBody>
      </p:sp>
      <p:sp>
        <p:nvSpPr>
          <p:cNvPr id="7" name="AutoShape 2" descr="Google BigQuery Console Simplified: The Ultimate Guide 101"/>
          <p:cNvSpPr>
            <a:spLocks noChangeAspect="1" noChangeArrowheads="1"/>
          </p:cNvSpPr>
          <p:nvPr/>
        </p:nvSpPr>
        <p:spPr bwMode="auto">
          <a:xfrm>
            <a:off x="612775" y="312737"/>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IN"/>
          </a:p>
        </p:txBody>
      </p:sp>
      <p:pic>
        <p:nvPicPr>
          <p:cNvPr id="45060" name="Picture 4" descr="Dataflow - Coding Ninjas"/>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746363" y="4509120"/>
            <a:ext cx="4709555" cy="1892424"/>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795789666"/>
      </p:ext>
    </p:extLst>
  </p:cSld>
  <p:clrMapOvr>
    <a:masterClrMapping/>
  </p:clrMapOvr>
  <p:timing>
    <p:tnLst>
      <p:par>
        <p:cTn id="1" dur="indefinite" restart="never" nodeType="tmRoot"/>
      </p:par>
    </p:tnLst>
  </p:timing>
</p:sld>
</file>

<file path=ppt/slides/slide8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dirty="0"/>
              <a:t>Google Cloud Platform Services</a:t>
            </a:r>
          </a:p>
        </p:txBody>
      </p:sp>
      <p:sp>
        <p:nvSpPr>
          <p:cNvPr id="3" name="Text Placeholder 2"/>
          <p:cNvSpPr>
            <a:spLocks noGrp="1"/>
          </p:cNvSpPr>
          <p:nvPr>
            <p:ph type="body" sz="quarter" idx="10"/>
          </p:nvPr>
        </p:nvSpPr>
        <p:spPr>
          <a:xfrm>
            <a:off x="466725" y="1124745"/>
            <a:ext cx="7705675" cy="4415367"/>
          </a:xfrm>
        </p:spPr>
        <p:txBody>
          <a:bodyPr>
            <a:noAutofit/>
          </a:bodyPr>
          <a:lstStyle/>
          <a:p>
            <a:pPr marL="0" indent="0" fontAlgn="ctr">
              <a:buNone/>
            </a:pPr>
            <a:r>
              <a:rPr lang="en-US" sz="2400" b="1" dirty="0" smtClean="0"/>
              <a:t>Cloud </a:t>
            </a:r>
            <a:r>
              <a:rPr lang="en-US" sz="2400" b="1" dirty="0"/>
              <a:t>Life </a:t>
            </a:r>
            <a:r>
              <a:rPr lang="en-US" sz="2400" b="1" dirty="0" err="1" smtClean="0"/>
              <a:t>Sciences</a:t>
            </a:r>
            <a:r>
              <a:rPr lang="en-US" sz="2400" cap="all" baseline="30000" dirty="0" err="1" smtClean="0"/>
              <a:t>BETA</a:t>
            </a:r>
            <a:endParaRPr lang="en-US" sz="2400" b="1" dirty="0"/>
          </a:p>
          <a:p>
            <a:r>
              <a:rPr lang="en-US" sz="2400" dirty="0"/>
              <a:t>From Genomics to Life Sciences</a:t>
            </a:r>
          </a:p>
          <a:p>
            <a:r>
              <a:rPr lang="en-US" sz="2400" b="1" dirty="0" smtClean="0"/>
              <a:t>Cloud </a:t>
            </a:r>
            <a:r>
              <a:rPr lang="en-US" sz="2400" b="1" dirty="0"/>
              <a:t>Life Sciences enables the life sciences community to process biomedical data at scale.</a:t>
            </a:r>
          </a:p>
          <a:p>
            <a:r>
              <a:rPr lang="en-US" sz="2400" dirty="0"/>
              <a:t>Process, analyze, and annotate genomics and biomedical data at scale using containerized workflows.</a:t>
            </a:r>
          </a:p>
          <a:p>
            <a:endParaRPr lang="en-US" sz="2400" dirty="0"/>
          </a:p>
          <a:p>
            <a:endParaRPr lang="en-US" sz="2400" dirty="0"/>
          </a:p>
        </p:txBody>
      </p:sp>
      <p:sp>
        <p:nvSpPr>
          <p:cNvPr id="4" name="AutoShape 2" descr="Google Compute Engine icon in Color Style"/>
          <p:cNvSpPr>
            <a:spLocks noChangeAspect="1" noChangeArrowheads="1"/>
          </p:cNvSpPr>
          <p:nvPr/>
        </p:nvSpPr>
        <p:spPr bwMode="auto">
          <a:xfrm>
            <a:off x="155575" y="-144463"/>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IN"/>
          </a:p>
        </p:txBody>
      </p:sp>
      <p:sp>
        <p:nvSpPr>
          <p:cNvPr id="5" name="AutoShape 2" descr="Managing SQL Database on Google Cloud - Analytics Vidhya"/>
          <p:cNvSpPr>
            <a:spLocks noChangeAspect="1" noChangeArrowheads="1"/>
          </p:cNvSpPr>
          <p:nvPr/>
        </p:nvSpPr>
        <p:spPr bwMode="auto">
          <a:xfrm>
            <a:off x="307975" y="7937"/>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IN"/>
          </a:p>
        </p:txBody>
      </p:sp>
      <p:sp>
        <p:nvSpPr>
          <p:cNvPr id="6" name="AutoShape 4" descr="Managing SQL Database on Google Cloud - Analytics Vidhya"/>
          <p:cNvSpPr>
            <a:spLocks noChangeAspect="1" noChangeArrowheads="1"/>
          </p:cNvSpPr>
          <p:nvPr/>
        </p:nvSpPr>
        <p:spPr bwMode="auto">
          <a:xfrm>
            <a:off x="460375" y="160337"/>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IN"/>
          </a:p>
        </p:txBody>
      </p:sp>
      <p:sp>
        <p:nvSpPr>
          <p:cNvPr id="7" name="AutoShape 2" descr="Google BigQuery Console Simplified: The Ultimate Guide 101"/>
          <p:cNvSpPr>
            <a:spLocks noChangeAspect="1" noChangeArrowheads="1"/>
          </p:cNvSpPr>
          <p:nvPr/>
        </p:nvSpPr>
        <p:spPr bwMode="auto">
          <a:xfrm>
            <a:off x="612775" y="312737"/>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IN"/>
          </a:p>
        </p:txBody>
      </p:sp>
      <p:pic>
        <p:nvPicPr>
          <p:cNvPr id="46082"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671923" y="4436109"/>
            <a:ext cx="2209800" cy="20764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640559945"/>
      </p:ext>
    </p:extLst>
  </p:cSld>
  <p:clrMapOvr>
    <a:masterClrMapping/>
  </p:clrMapOvr>
  <p:timing>
    <p:tnLst>
      <p:par>
        <p:cTn id="1" dur="indefinite" restart="never" nodeType="tmRoot"/>
      </p:par>
    </p:tnLst>
  </p:timing>
</p:sld>
</file>

<file path=ppt/slides/slide8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dirty="0"/>
              <a:t>Google Cloud Platform Services</a:t>
            </a:r>
          </a:p>
        </p:txBody>
      </p:sp>
      <p:sp>
        <p:nvSpPr>
          <p:cNvPr id="3" name="Text Placeholder 2"/>
          <p:cNvSpPr>
            <a:spLocks noGrp="1"/>
          </p:cNvSpPr>
          <p:nvPr>
            <p:ph type="body" sz="quarter" idx="10"/>
          </p:nvPr>
        </p:nvSpPr>
        <p:spPr>
          <a:xfrm>
            <a:off x="466725" y="1124745"/>
            <a:ext cx="7705675" cy="4415367"/>
          </a:xfrm>
        </p:spPr>
        <p:txBody>
          <a:bodyPr>
            <a:noAutofit/>
          </a:bodyPr>
          <a:lstStyle/>
          <a:p>
            <a:pPr marL="0" indent="0" fontAlgn="ctr">
              <a:buNone/>
            </a:pPr>
            <a:r>
              <a:rPr lang="en-US" sz="2400" b="1" dirty="0" smtClean="0"/>
              <a:t>Cloud </a:t>
            </a:r>
            <a:r>
              <a:rPr lang="en-US" sz="2400" b="1" dirty="0"/>
              <a:t>Life </a:t>
            </a:r>
            <a:r>
              <a:rPr lang="en-US" sz="2400" b="1" dirty="0" err="1" smtClean="0"/>
              <a:t>Sciences</a:t>
            </a:r>
            <a:r>
              <a:rPr lang="en-US" sz="2400" cap="all" baseline="30000" dirty="0" err="1" smtClean="0"/>
              <a:t>BETA</a:t>
            </a:r>
            <a:endParaRPr lang="en-US" sz="2400" b="1" dirty="0"/>
          </a:p>
          <a:p>
            <a:r>
              <a:rPr lang="en-US" sz="2400" dirty="0"/>
              <a:t>Cloud Life Sciences is a </a:t>
            </a:r>
            <a:r>
              <a:rPr lang="en-US" sz="2400" b="1" dirty="0"/>
              <a:t>suite of services and tools for managing, processing, and transforming life sciences data. It also enables advanced insights and operational workflows </a:t>
            </a:r>
            <a:r>
              <a:rPr lang="en-US" sz="2400" dirty="0"/>
              <a:t>using highly scalable and compliant infrastructure. </a:t>
            </a:r>
            <a:endParaRPr lang="en-US" sz="2400" dirty="0" smtClean="0"/>
          </a:p>
          <a:p>
            <a:r>
              <a:rPr lang="en-US" sz="2400" dirty="0" smtClean="0"/>
              <a:t>Cloud </a:t>
            </a:r>
            <a:r>
              <a:rPr lang="en-US" sz="2400" dirty="0"/>
              <a:t>Life Sciences includes features such as </a:t>
            </a:r>
            <a:r>
              <a:rPr lang="en-US" sz="2400" b="1" dirty="0" smtClean="0"/>
              <a:t>the Cloud Life Sciences API, extract-transform-load (ETL) tools, and more.</a:t>
            </a:r>
            <a:endParaRPr lang="en-US" sz="2400" b="1" dirty="0"/>
          </a:p>
        </p:txBody>
      </p:sp>
      <p:sp>
        <p:nvSpPr>
          <p:cNvPr id="4" name="AutoShape 2" descr="Google Compute Engine icon in Color Style"/>
          <p:cNvSpPr>
            <a:spLocks noChangeAspect="1" noChangeArrowheads="1"/>
          </p:cNvSpPr>
          <p:nvPr/>
        </p:nvSpPr>
        <p:spPr bwMode="auto">
          <a:xfrm>
            <a:off x="155575" y="-144463"/>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IN"/>
          </a:p>
        </p:txBody>
      </p:sp>
      <p:sp>
        <p:nvSpPr>
          <p:cNvPr id="5" name="AutoShape 2" descr="Managing SQL Database on Google Cloud - Analytics Vidhya"/>
          <p:cNvSpPr>
            <a:spLocks noChangeAspect="1" noChangeArrowheads="1"/>
          </p:cNvSpPr>
          <p:nvPr/>
        </p:nvSpPr>
        <p:spPr bwMode="auto">
          <a:xfrm>
            <a:off x="307975" y="7937"/>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IN"/>
          </a:p>
        </p:txBody>
      </p:sp>
      <p:sp>
        <p:nvSpPr>
          <p:cNvPr id="6" name="AutoShape 4" descr="Managing SQL Database on Google Cloud - Analytics Vidhya"/>
          <p:cNvSpPr>
            <a:spLocks noChangeAspect="1" noChangeArrowheads="1"/>
          </p:cNvSpPr>
          <p:nvPr/>
        </p:nvSpPr>
        <p:spPr bwMode="auto">
          <a:xfrm>
            <a:off x="460375" y="160337"/>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IN"/>
          </a:p>
        </p:txBody>
      </p:sp>
      <p:sp>
        <p:nvSpPr>
          <p:cNvPr id="7" name="AutoShape 2" descr="Google BigQuery Console Simplified: The Ultimate Guide 101"/>
          <p:cNvSpPr>
            <a:spLocks noChangeAspect="1" noChangeArrowheads="1"/>
          </p:cNvSpPr>
          <p:nvPr/>
        </p:nvSpPr>
        <p:spPr bwMode="auto">
          <a:xfrm>
            <a:off x="612775" y="312737"/>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IN"/>
          </a:p>
        </p:txBody>
      </p:sp>
      <p:pic>
        <p:nvPicPr>
          <p:cNvPr id="46082"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671923" y="4436109"/>
            <a:ext cx="2209800" cy="20764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1106198871"/>
      </p:ext>
    </p:extLst>
  </p:cSld>
  <p:clrMapOvr>
    <a:masterClrMapping/>
  </p:clrMapOvr>
  <p:timing>
    <p:tnLst>
      <p:par>
        <p:cTn id="1" dur="indefinite" restart="never" nodeType="tmRoot"/>
      </p:par>
    </p:tnLst>
  </p:timing>
</p:sld>
</file>

<file path=ppt/slides/slide8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dirty="0"/>
              <a:t>Google Cloud Platform Services</a:t>
            </a:r>
          </a:p>
        </p:txBody>
      </p:sp>
      <p:sp>
        <p:nvSpPr>
          <p:cNvPr id="3" name="Text Placeholder 2"/>
          <p:cNvSpPr>
            <a:spLocks noGrp="1"/>
          </p:cNvSpPr>
          <p:nvPr>
            <p:ph type="body" sz="quarter" idx="10"/>
          </p:nvPr>
        </p:nvSpPr>
        <p:spPr/>
        <p:txBody>
          <a:bodyPr/>
          <a:lstStyle/>
          <a:p>
            <a:r>
              <a:rPr lang="en-US" sz="2000" b="1" dirty="0"/>
              <a:t>Cloud Life </a:t>
            </a:r>
            <a:r>
              <a:rPr lang="en-US" sz="2000" b="1" dirty="0" err="1"/>
              <a:t>Sciences</a:t>
            </a:r>
            <a:r>
              <a:rPr lang="en-US" sz="2000" cap="all" baseline="30000" dirty="0" err="1"/>
              <a:t>BETA</a:t>
            </a:r>
            <a:endParaRPr lang="en-US" sz="2000" b="1" dirty="0"/>
          </a:p>
          <a:p>
            <a:endParaRPr lang="en-IN" dirty="0"/>
          </a:p>
        </p:txBody>
      </p:sp>
      <p:pic>
        <p:nvPicPr>
          <p:cNvPr id="3074"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44525" y="1772816"/>
            <a:ext cx="7854950" cy="453650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1094959930"/>
      </p:ext>
    </p:extLst>
  </p:cSld>
  <p:clrMapOvr>
    <a:masterClrMapping/>
  </p:clrMapOvr>
  <p:timing>
    <p:tnLst>
      <p:par>
        <p:cTn id="1" dur="indefinite" restart="never" nodeType="tmRoot"/>
      </p:par>
    </p:tnLst>
  </p:timing>
</p:sld>
</file>

<file path=ppt/slides/slide8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51E719F0-5BE2-4152-8AB5-4CE891E7684A}"/>
              </a:ext>
            </a:extLst>
          </p:cNvPr>
          <p:cNvSpPr>
            <a:spLocks noGrp="1"/>
          </p:cNvSpPr>
          <p:nvPr>
            <p:ph type="title"/>
          </p:nvPr>
        </p:nvSpPr>
        <p:spPr/>
        <p:txBody>
          <a:bodyPr/>
          <a:lstStyle/>
          <a:p>
            <a:r>
              <a:rPr lang="en-IN" dirty="0"/>
              <a:t>Machine Learning</a:t>
            </a:r>
          </a:p>
        </p:txBody>
      </p:sp>
      <p:grpSp>
        <p:nvGrpSpPr>
          <p:cNvPr id="53" name="Group 52">
            <a:extLst>
              <a:ext uri="{FF2B5EF4-FFF2-40B4-BE49-F238E27FC236}">
                <a16:creationId xmlns:a16="http://schemas.microsoft.com/office/drawing/2014/main" xmlns="" id="{75A48B23-12BE-4414-839E-D586C67B72D3}"/>
              </a:ext>
            </a:extLst>
          </p:cNvPr>
          <p:cNvGrpSpPr/>
          <p:nvPr/>
        </p:nvGrpSpPr>
        <p:grpSpPr>
          <a:xfrm>
            <a:off x="190375" y="1260242"/>
            <a:ext cx="8280919" cy="4323068"/>
            <a:chOff x="1783088" y="1149293"/>
            <a:chExt cx="5337435" cy="2837753"/>
          </a:xfrm>
        </p:grpSpPr>
        <p:grpSp>
          <p:nvGrpSpPr>
            <p:cNvPr id="10" name="Group 9">
              <a:extLst>
                <a:ext uri="{FF2B5EF4-FFF2-40B4-BE49-F238E27FC236}">
                  <a16:creationId xmlns:a16="http://schemas.microsoft.com/office/drawing/2014/main" xmlns="" id="{E6500923-3079-43C7-848A-44B08379995C}"/>
                </a:ext>
              </a:extLst>
            </p:cNvPr>
            <p:cNvGrpSpPr/>
            <p:nvPr/>
          </p:nvGrpSpPr>
          <p:grpSpPr>
            <a:xfrm>
              <a:off x="2051720" y="2166891"/>
              <a:ext cx="5040560" cy="809717"/>
              <a:chOff x="2069186" y="2494162"/>
              <a:chExt cx="5040560" cy="809717"/>
            </a:xfrm>
          </p:grpSpPr>
          <p:pic>
            <p:nvPicPr>
              <p:cNvPr id="4" name="Shape 380" descr="Cloud-Machine-Learning_256px.png">
                <a:extLst>
                  <a:ext uri="{FF2B5EF4-FFF2-40B4-BE49-F238E27FC236}">
                    <a16:creationId xmlns:a16="http://schemas.microsoft.com/office/drawing/2014/main" xmlns="" id="{5C3D2C1A-40FE-41DE-879D-1DCF1AE83C94}"/>
                  </a:ext>
                </a:extLst>
              </p:cNvPr>
              <p:cNvPicPr preferRelativeResize="0"/>
              <p:nvPr/>
            </p:nvPicPr>
            <p:blipFill rotWithShape="1">
              <a:blip r:embed="rId2">
                <a:alphaModFix/>
              </a:blip>
              <a:srcRect t="5092" b="5092"/>
              <a:stretch/>
            </p:blipFill>
            <p:spPr>
              <a:xfrm>
                <a:off x="2069186" y="2499742"/>
                <a:ext cx="895286" cy="804137"/>
              </a:xfrm>
              <a:prstGeom prst="rect">
                <a:avLst/>
              </a:prstGeom>
              <a:noFill/>
              <a:ln>
                <a:noFill/>
              </a:ln>
            </p:spPr>
          </p:pic>
          <p:pic>
            <p:nvPicPr>
              <p:cNvPr id="5" name="Shape 381" descr="Vision-API_256px.png">
                <a:extLst>
                  <a:ext uri="{FF2B5EF4-FFF2-40B4-BE49-F238E27FC236}">
                    <a16:creationId xmlns:a16="http://schemas.microsoft.com/office/drawing/2014/main" xmlns="" id="{316F27A7-3C5D-4F6E-B9F2-8C4A25C58B7D}"/>
                  </a:ext>
                </a:extLst>
              </p:cNvPr>
              <p:cNvPicPr preferRelativeResize="0"/>
              <p:nvPr/>
            </p:nvPicPr>
            <p:blipFill rotWithShape="1">
              <a:blip r:embed="rId3">
                <a:alphaModFix/>
              </a:blip>
              <a:srcRect t="5092" b="5092"/>
              <a:stretch/>
            </p:blipFill>
            <p:spPr>
              <a:xfrm>
                <a:off x="2898241" y="2498481"/>
                <a:ext cx="895286" cy="804137"/>
              </a:xfrm>
              <a:prstGeom prst="rect">
                <a:avLst/>
              </a:prstGeom>
              <a:noFill/>
              <a:ln>
                <a:noFill/>
              </a:ln>
            </p:spPr>
          </p:pic>
          <p:pic>
            <p:nvPicPr>
              <p:cNvPr id="6" name="Shape 382" descr="Speech-API_256px.png">
                <a:extLst>
                  <a:ext uri="{FF2B5EF4-FFF2-40B4-BE49-F238E27FC236}">
                    <a16:creationId xmlns:a16="http://schemas.microsoft.com/office/drawing/2014/main" xmlns="" id="{1872D6B2-4F3B-41BB-9C8B-FEED01034563}"/>
                  </a:ext>
                </a:extLst>
              </p:cNvPr>
              <p:cNvPicPr preferRelativeResize="0"/>
              <p:nvPr/>
            </p:nvPicPr>
            <p:blipFill rotWithShape="1">
              <a:blip r:embed="rId4">
                <a:alphaModFix/>
              </a:blip>
              <a:srcRect t="5092" b="5092"/>
              <a:stretch/>
            </p:blipFill>
            <p:spPr>
              <a:xfrm>
                <a:off x="3727296" y="2494162"/>
                <a:ext cx="895286" cy="804137"/>
              </a:xfrm>
              <a:prstGeom prst="rect">
                <a:avLst/>
              </a:prstGeom>
              <a:noFill/>
              <a:ln>
                <a:noFill/>
              </a:ln>
            </p:spPr>
          </p:pic>
          <p:pic>
            <p:nvPicPr>
              <p:cNvPr id="7" name="Shape 383" descr="Natural-Language-API_256px.png">
                <a:extLst>
                  <a:ext uri="{FF2B5EF4-FFF2-40B4-BE49-F238E27FC236}">
                    <a16:creationId xmlns:a16="http://schemas.microsoft.com/office/drawing/2014/main" xmlns="" id="{697EA5EA-F511-4042-B75D-ABE9F1DF4206}"/>
                  </a:ext>
                </a:extLst>
              </p:cNvPr>
              <p:cNvPicPr preferRelativeResize="0"/>
              <p:nvPr/>
            </p:nvPicPr>
            <p:blipFill rotWithShape="1">
              <a:blip r:embed="rId5">
                <a:alphaModFix/>
              </a:blip>
              <a:srcRect t="5092" b="5092"/>
              <a:stretch/>
            </p:blipFill>
            <p:spPr>
              <a:xfrm>
                <a:off x="4556351" y="2494162"/>
                <a:ext cx="895286" cy="804137"/>
              </a:xfrm>
              <a:prstGeom prst="rect">
                <a:avLst/>
              </a:prstGeom>
              <a:noFill/>
              <a:ln>
                <a:noFill/>
              </a:ln>
            </p:spPr>
          </p:pic>
          <p:pic>
            <p:nvPicPr>
              <p:cNvPr id="8" name="Shape 385" descr="Translation-API_256px.png">
                <a:extLst>
                  <a:ext uri="{FF2B5EF4-FFF2-40B4-BE49-F238E27FC236}">
                    <a16:creationId xmlns:a16="http://schemas.microsoft.com/office/drawing/2014/main" xmlns="" id="{0BEFC89A-06F6-48AA-9039-CB5257272EDA}"/>
                  </a:ext>
                </a:extLst>
              </p:cNvPr>
              <p:cNvPicPr preferRelativeResize="0"/>
              <p:nvPr/>
            </p:nvPicPr>
            <p:blipFill rotWithShape="1">
              <a:blip r:embed="rId6">
                <a:alphaModFix/>
              </a:blip>
              <a:srcRect t="5092" b="5092"/>
              <a:stretch/>
            </p:blipFill>
            <p:spPr>
              <a:xfrm>
                <a:off x="5385406" y="2496749"/>
                <a:ext cx="895286" cy="804137"/>
              </a:xfrm>
              <a:prstGeom prst="rect">
                <a:avLst/>
              </a:prstGeom>
              <a:noFill/>
              <a:ln>
                <a:noFill/>
              </a:ln>
            </p:spPr>
          </p:pic>
          <p:pic>
            <p:nvPicPr>
              <p:cNvPr id="9" name="Shape 388" descr="Jobs-API.png">
                <a:extLst>
                  <a:ext uri="{FF2B5EF4-FFF2-40B4-BE49-F238E27FC236}">
                    <a16:creationId xmlns:a16="http://schemas.microsoft.com/office/drawing/2014/main" xmlns="" id="{C9A32A97-16AE-4D2C-AD48-5B154EC4DB85}"/>
                  </a:ext>
                </a:extLst>
              </p:cNvPr>
              <p:cNvPicPr preferRelativeResize="0"/>
              <p:nvPr/>
            </p:nvPicPr>
            <p:blipFill rotWithShape="1">
              <a:blip r:embed="rId7">
                <a:alphaModFix/>
              </a:blip>
              <a:srcRect t="5092" b="5092"/>
              <a:stretch/>
            </p:blipFill>
            <p:spPr>
              <a:xfrm>
                <a:off x="6214460" y="2496749"/>
                <a:ext cx="895286" cy="804137"/>
              </a:xfrm>
              <a:prstGeom prst="rect">
                <a:avLst/>
              </a:prstGeom>
              <a:noFill/>
              <a:ln>
                <a:noFill/>
              </a:ln>
            </p:spPr>
          </p:pic>
        </p:grpSp>
        <p:grpSp>
          <p:nvGrpSpPr>
            <p:cNvPr id="13" name="Group 12">
              <a:extLst>
                <a:ext uri="{FF2B5EF4-FFF2-40B4-BE49-F238E27FC236}">
                  <a16:creationId xmlns:a16="http://schemas.microsoft.com/office/drawing/2014/main" xmlns="" id="{139FF49B-D779-4D1E-BB6E-70324BA12D47}"/>
                </a:ext>
              </a:extLst>
            </p:cNvPr>
            <p:cNvGrpSpPr/>
            <p:nvPr/>
          </p:nvGrpSpPr>
          <p:grpSpPr>
            <a:xfrm>
              <a:off x="2391351" y="1517585"/>
              <a:ext cx="216024" cy="649306"/>
              <a:chOff x="958455" y="1419622"/>
              <a:chExt cx="216024" cy="649306"/>
            </a:xfrm>
          </p:grpSpPr>
          <p:sp>
            <p:nvSpPr>
              <p:cNvPr id="11" name="Rectangle 10">
                <a:extLst>
                  <a:ext uri="{FF2B5EF4-FFF2-40B4-BE49-F238E27FC236}">
                    <a16:creationId xmlns:a16="http://schemas.microsoft.com/office/drawing/2014/main" xmlns="" id="{0F0BD759-5A4F-4338-9E3C-D46A383140BE}"/>
                  </a:ext>
                </a:extLst>
              </p:cNvPr>
              <p:cNvSpPr/>
              <p:nvPr/>
            </p:nvSpPr>
            <p:spPr bwMode="auto">
              <a:xfrm>
                <a:off x="1043608" y="1656279"/>
                <a:ext cx="45719" cy="412649"/>
              </a:xfrm>
              <a:prstGeom prst="rect">
                <a:avLst/>
              </a:prstGeom>
              <a:solidFill>
                <a:srgbClr val="F45656"/>
              </a:solidFill>
              <a:ln w="28575" cap="flat" cmpd="sng" algn="ctr">
                <a:solidFill>
                  <a:srgbClr val="F45656"/>
                </a:solidFill>
                <a:prstDash val="solid"/>
                <a:round/>
                <a:headEnd type="none" w="sm" len="sm"/>
                <a:tailEnd type="none" w="sm" len="sm"/>
              </a:ln>
              <a:effectLst/>
            </p:spPr>
            <p:txBody>
              <a:bodyPr vert="horz" wrap="square" lIns="365760" tIns="182880" rIns="365760" bIns="182880" numCol="1" rtlCol="0" anchor="t" anchorCtr="0" compatLnSpc="1">
                <a:prstTxWarp prst="textNoShape">
                  <a:avLst/>
                </a:prstTxWarp>
              </a:bodyPr>
              <a:lstStyle/>
              <a:p>
                <a:pPr algn="ctr">
                  <a:spcBef>
                    <a:spcPct val="20000"/>
                  </a:spcBef>
                  <a:buClr>
                    <a:srgbClr val="FF0000"/>
                  </a:buClr>
                </a:pPr>
                <a:endParaRPr lang="en-IN" sz="2000">
                  <a:latin typeface="Arial" pitchFamily="34" charset="0"/>
                </a:endParaRPr>
              </a:p>
            </p:txBody>
          </p:sp>
          <p:sp>
            <p:nvSpPr>
              <p:cNvPr id="12" name="Circle: Hollow 11">
                <a:extLst>
                  <a:ext uri="{FF2B5EF4-FFF2-40B4-BE49-F238E27FC236}">
                    <a16:creationId xmlns:a16="http://schemas.microsoft.com/office/drawing/2014/main" xmlns="" id="{EC0B7546-95E6-49CE-9AD6-F1FC808FDF89}"/>
                  </a:ext>
                </a:extLst>
              </p:cNvPr>
              <p:cNvSpPr/>
              <p:nvPr/>
            </p:nvSpPr>
            <p:spPr bwMode="auto">
              <a:xfrm>
                <a:off x="958455" y="1419622"/>
                <a:ext cx="216024" cy="216024"/>
              </a:xfrm>
              <a:prstGeom prst="donut">
                <a:avLst/>
              </a:prstGeom>
              <a:solidFill>
                <a:srgbClr val="F45656"/>
              </a:solidFill>
              <a:ln w="28575" cap="flat" cmpd="sng" algn="ctr">
                <a:solidFill>
                  <a:srgbClr val="F45656"/>
                </a:solidFill>
                <a:prstDash val="solid"/>
                <a:round/>
                <a:headEnd type="none" w="sm" len="sm"/>
                <a:tailEnd type="none" w="sm" len="sm"/>
              </a:ln>
              <a:effectLst/>
            </p:spPr>
            <p:txBody>
              <a:bodyPr vert="horz" wrap="square" lIns="365760" tIns="182880" rIns="365760" bIns="182880" numCol="1" rtlCol="0" anchor="t" anchorCtr="0" compatLnSpc="1">
                <a:prstTxWarp prst="textNoShape">
                  <a:avLst/>
                </a:prstTxWarp>
              </a:bodyPr>
              <a:lstStyle/>
              <a:p>
                <a:pPr algn="ctr">
                  <a:spcBef>
                    <a:spcPct val="20000"/>
                  </a:spcBef>
                  <a:buClr>
                    <a:srgbClr val="FF0000"/>
                  </a:buClr>
                </a:pPr>
                <a:endParaRPr lang="en-IN" sz="2000">
                  <a:latin typeface="Arial" pitchFamily="34" charset="0"/>
                </a:endParaRPr>
              </a:p>
            </p:txBody>
          </p:sp>
        </p:grpSp>
        <p:grpSp>
          <p:nvGrpSpPr>
            <p:cNvPr id="14" name="Group 13">
              <a:extLst>
                <a:ext uri="{FF2B5EF4-FFF2-40B4-BE49-F238E27FC236}">
                  <a16:creationId xmlns:a16="http://schemas.microsoft.com/office/drawing/2014/main" xmlns="" id="{FECCA007-F230-4BD4-9AA9-211862A2534C}"/>
                </a:ext>
              </a:extLst>
            </p:cNvPr>
            <p:cNvGrpSpPr/>
            <p:nvPr/>
          </p:nvGrpSpPr>
          <p:grpSpPr>
            <a:xfrm>
              <a:off x="4049461" y="1510444"/>
              <a:ext cx="216024" cy="649306"/>
              <a:chOff x="958455" y="1419622"/>
              <a:chExt cx="216024" cy="649306"/>
            </a:xfrm>
            <a:solidFill>
              <a:srgbClr val="F45656"/>
            </a:solidFill>
          </p:grpSpPr>
          <p:sp>
            <p:nvSpPr>
              <p:cNvPr id="15" name="Rectangle 14">
                <a:extLst>
                  <a:ext uri="{FF2B5EF4-FFF2-40B4-BE49-F238E27FC236}">
                    <a16:creationId xmlns:a16="http://schemas.microsoft.com/office/drawing/2014/main" xmlns="" id="{DBABBE0E-FC12-4AF9-B743-59A8D7B0B3A5}"/>
                  </a:ext>
                </a:extLst>
              </p:cNvPr>
              <p:cNvSpPr/>
              <p:nvPr/>
            </p:nvSpPr>
            <p:spPr bwMode="auto">
              <a:xfrm>
                <a:off x="1043608" y="1656279"/>
                <a:ext cx="45719" cy="412649"/>
              </a:xfrm>
              <a:prstGeom prst="rect">
                <a:avLst/>
              </a:prstGeom>
              <a:grpFill/>
              <a:ln w="28575" cap="flat" cmpd="sng" algn="ctr">
                <a:solidFill>
                  <a:srgbClr val="F45656"/>
                </a:solidFill>
                <a:prstDash val="solid"/>
                <a:round/>
                <a:headEnd type="none" w="sm" len="sm"/>
                <a:tailEnd type="none" w="sm" len="sm"/>
              </a:ln>
              <a:effectLst/>
            </p:spPr>
            <p:txBody>
              <a:bodyPr vert="horz" wrap="square" lIns="365760" tIns="182880" rIns="365760" bIns="182880" numCol="1" rtlCol="0" anchor="t" anchorCtr="0" compatLnSpc="1">
                <a:prstTxWarp prst="textNoShape">
                  <a:avLst/>
                </a:prstTxWarp>
              </a:bodyPr>
              <a:lstStyle/>
              <a:p>
                <a:pPr algn="ctr">
                  <a:spcBef>
                    <a:spcPct val="20000"/>
                  </a:spcBef>
                  <a:buClr>
                    <a:srgbClr val="FF0000"/>
                  </a:buClr>
                </a:pPr>
                <a:endParaRPr lang="en-IN" sz="2000">
                  <a:latin typeface="Arial" pitchFamily="34" charset="0"/>
                </a:endParaRPr>
              </a:p>
            </p:txBody>
          </p:sp>
          <p:sp>
            <p:nvSpPr>
              <p:cNvPr id="16" name="Circle: Hollow 15">
                <a:extLst>
                  <a:ext uri="{FF2B5EF4-FFF2-40B4-BE49-F238E27FC236}">
                    <a16:creationId xmlns:a16="http://schemas.microsoft.com/office/drawing/2014/main" xmlns="" id="{5F9780F7-A58B-4684-94D6-8119B230EB0D}"/>
                  </a:ext>
                </a:extLst>
              </p:cNvPr>
              <p:cNvSpPr/>
              <p:nvPr/>
            </p:nvSpPr>
            <p:spPr bwMode="auto">
              <a:xfrm>
                <a:off x="958455" y="1419622"/>
                <a:ext cx="216024" cy="216024"/>
              </a:xfrm>
              <a:prstGeom prst="donut">
                <a:avLst/>
              </a:prstGeom>
              <a:grpFill/>
              <a:ln w="28575" cap="flat" cmpd="sng" algn="ctr">
                <a:solidFill>
                  <a:srgbClr val="F45656"/>
                </a:solidFill>
                <a:prstDash val="solid"/>
                <a:round/>
                <a:headEnd type="none" w="sm" len="sm"/>
                <a:tailEnd type="none" w="sm" len="sm"/>
              </a:ln>
              <a:effectLst/>
            </p:spPr>
            <p:txBody>
              <a:bodyPr vert="horz" wrap="square" lIns="365760" tIns="182880" rIns="365760" bIns="182880" numCol="1" rtlCol="0" anchor="t" anchorCtr="0" compatLnSpc="1">
                <a:prstTxWarp prst="textNoShape">
                  <a:avLst/>
                </a:prstTxWarp>
              </a:bodyPr>
              <a:lstStyle/>
              <a:p>
                <a:pPr algn="ctr">
                  <a:spcBef>
                    <a:spcPct val="20000"/>
                  </a:spcBef>
                  <a:buClr>
                    <a:srgbClr val="FF0000"/>
                  </a:buClr>
                </a:pPr>
                <a:endParaRPr lang="en-IN" sz="2000">
                  <a:latin typeface="Arial" pitchFamily="34" charset="0"/>
                </a:endParaRPr>
              </a:p>
            </p:txBody>
          </p:sp>
        </p:grpSp>
        <p:grpSp>
          <p:nvGrpSpPr>
            <p:cNvPr id="17" name="Group 16">
              <a:extLst>
                <a:ext uri="{FF2B5EF4-FFF2-40B4-BE49-F238E27FC236}">
                  <a16:creationId xmlns:a16="http://schemas.microsoft.com/office/drawing/2014/main" xmlns="" id="{A6250F20-A257-402F-8AEF-FCB8EB3292AE}"/>
                </a:ext>
              </a:extLst>
            </p:cNvPr>
            <p:cNvGrpSpPr/>
            <p:nvPr/>
          </p:nvGrpSpPr>
          <p:grpSpPr>
            <a:xfrm>
              <a:off x="5707570" y="1517585"/>
              <a:ext cx="216024" cy="649306"/>
              <a:chOff x="958455" y="1419622"/>
              <a:chExt cx="216024" cy="649306"/>
            </a:xfrm>
          </p:grpSpPr>
          <p:sp>
            <p:nvSpPr>
              <p:cNvPr id="18" name="Rectangle 17">
                <a:extLst>
                  <a:ext uri="{FF2B5EF4-FFF2-40B4-BE49-F238E27FC236}">
                    <a16:creationId xmlns:a16="http://schemas.microsoft.com/office/drawing/2014/main" xmlns="" id="{33205AD1-C682-4A76-8295-3BB3FAEE24E4}"/>
                  </a:ext>
                </a:extLst>
              </p:cNvPr>
              <p:cNvSpPr/>
              <p:nvPr/>
            </p:nvSpPr>
            <p:spPr bwMode="auto">
              <a:xfrm>
                <a:off x="1043608" y="1656279"/>
                <a:ext cx="45719" cy="412649"/>
              </a:xfrm>
              <a:prstGeom prst="rect">
                <a:avLst/>
              </a:prstGeom>
              <a:solidFill>
                <a:srgbClr val="F45656"/>
              </a:solidFill>
              <a:ln w="28575" cap="flat" cmpd="sng" algn="ctr">
                <a:solidFill>
                  <a:srgbClr val="F45656"/>
                </a:solidFill>
                <a:prstDash val="solid"/>
                <a:round/>
                <a:headEnd type="none" w="sm" len="sm"/>
                <a:tailEnd type="none" w="sm" len="sm"/>
              </a:ln>
              <a:effectLst/>
            </p:spPr>
            <p:txBody>
              <a:bodyPr vert="horz" wrap="square" lIns="365760" tIns="182880" rIns="365760" bIns="182880" numCol="1" rtlCol="0" anchor="t" anchorCtr="0" compatLnSpc="1">
                <a:prstTxWarp prst="textNoShape">
                  <a:avLst/>
                </a:prstTxWarp>
              </a:bodyPr>
              <a:lstStyle/>
              <a:p>
                <a:pPr algn="ctr">
                  <a:spcBef>
                    <a:spcPct val="20000"/>
                  </a:spcBef>
                  <a:buClr>
                    <a:srgbClr val="FF0000"/>
                  </a:buClr>
                </a:pPr>
                <a:endParaRPr lang="en-IN" sz="2000">
                  <a:latin typeface="Arial" pitchFamily="34" charset="0"/>
                </a:endParaRPr>
              </a:p>
            </p:txBody>
          </p:sp>
          <p:sp>
            <p:nvSpPr>
              <p:cNvPr id="19" name="Circle: Hollow 18">
                <a:extLst>
                  <a:ext uri="{FF2B5EF4-FFF2-40B4-BE49-F238E27FC236}">
                    <a16:creationId xmlns:a16="http://schemas.microsoft.com/office/drawing/2014/main" xmlns="" id="{67DA3D72-F64C-4004-96EE-1065AAB9794A}"/>
                  </a:ext>
                </a:extLst>
              </p:cNvPr>
              <p:cNvSpPr/>
              <p:nvPr/>
            </p:nvSpPr>
            <p:spPr bwMode="auto">
              <a:xfrm>
                <a:off x="958455" y="1419622"/>
                <a:ext cx="216024" cy="216024"/>
              </a:xfrm>
              <a:prstGeom prst="donut">
                <a:avLst/>
              </a:prstGeom>
              <a:solidFill>
                <a:srgbClr val="F45656"/>
              </a:solidFill>
              <a:ln w="28575" cap="flat" cmpd="sng" algn="ctr">
                <a:solidFill>
                  <a:srgbClr val="F45656"/>
                </a:solidFill>
                <a:prstDash val="solid"/>
                <a:round/>
                <a:headEnd type="none" w="sm" len="sm"/>
                <a:tailEnd type="none" w="sm" len="sm"/>
              </a:ln>
              <a:effectLst/>
            </p:spPr>
            <p:txBody>
              <a:bodyPr vert="horz" wrap="square" lIns="365760" tIns="182880" rIns="365760" bIns="182880" numCol="1" rtlCol="0" anchor="t" anchorCtr="0" compatLnSpc="1">
                <a:prstTxWarp prst="textNoShape">
                  <a:avLst/>
                </a:prstTxWarp>
              </a:bodyPr>
              <a:lstStyle/>
              <a:p>
                <a:pPr algn="ctr">
                  <a:spcBef>
                    <a:spcPct val="20000"/>
                  </a:spcBef>
                  <a:buClr>
                    <a:srgbClr val="FF0000"/>
                  </a:buClr>
                </a:pPr>
                <a:endParaRPr lang="en-IN" sz="2000">
                  <a:latin typeface="Arial" pitchFamily="34" charset="0"/>
                </a:endParaRPr>
              </a:p>
            </p:txBody>
          </p:sp>
        </p:grpSp>
        <p:grpSp>
          <p:nvGrpSpPr>
            <p:cNvPr id="38" name="Group 37">
              <a:extLst>
                <a:ext uri="{FF2B5EF4-FFF2-40B4-BE49-F238E27FC236}">
                  <a16:creationId xmlns:a16="http://schemas.microsoft.com/office/drawing/2014/main" xmlns="" id="{71DBCAB9-154B-4E53-AD92-C0FF1CE3D982}"/>
                </a:ext>
              </a:extLst>
            </p:cNvPr>
            <p:cNvGrpSpPr/>
            <p:nvPr/>
          </p:nvGrpSpPr>
          <p:grpSpPr>
            <a:xfrm>
              <a:off x="3225391" y="2979666"/>
              <a:ext cx="216024" cy="628673"/>
              <a:chOff x="958455" y="1656279"/>
              <a:chExt cx="216024" cy="628673"/>
            </a:xfrm>
            <a:solidFill>
              <a:srgbClr val="049BAF"/>
            </a:solidFill>
          </p:grpSpPr>
          <p:sp>
            <p:nvSpPr>
              <p:cNvPr id="39" name="Rectangle 38">
                <a:extLst>
                  <a:ext uri="{FF2B5EF4-FFF2-40B4-BE49-F238E27FC236}">
                    <a16:creationId xmlns:a16="http://schemas.microsoft.com/office/drawing/2014/main" xmlns="" id="{FDF3017B-E993-4F94-B8F4-03079D7EAE7E}"/>
                  </a:ext>
                </a:extLst>
              </p:cNvPr>
              <p:cNvSpPr/>
              <p:nvPr/>
            </p:nvSpPr>
            <p:spPr bwMode="auto">
              <a:xfrm>
                <a:off x="1043608" y="1656279"/>
                <a:ext cx="45719" cy="412649"/>
              </a:xfrm>
              <a:prstGeom prst="rect">
                <a:avLst/>
              </a:prstGeom>
              <a:grpFill/>
              <a:ln w="28575" cap="flat" cmpd="sng" algn="ctr">
                <a:solidFill>
                  <a:srgbClr val="049BAF"/>
                </a:solidFill>
                <a:prstDash val="solid"/>
                <a:round/>
                <a:headEnd type="none" w="sm" len="sm"/>
                <a:tailEnd type="none" w="sm" len="sm"/>
              </a:ln>
              <a:effectLst/>
            </p:spPr>
            <p:txBody>
              <a:bodyPr vert="horz" wrap="square" lIns="365760" tIns="182880" rIns="365760" bIns="182880" numCol="1" rtlCol="0" anchor="t" anchorCtr="0" compatLnSpc="1">
                <a:prstTxWarp prst="textNoShape">
                  <a:avLst/>
                </a:prstTxWarp>
              </a:bodyPr>
              <a:lstStyle/>
              <a:p>
                <a:pPr algn="ctr">
                  <a:spcBef>
                    <a:spcPct val="20000"/>
                  </a:spcBef>
                  <a:buClr>
                    <a:srgbClr val="FF0000"/>
                  </a:buClr>
                </a:pPr>
                <a:endParaRPr lang="en-IN" sz="2000" dirty="0">
                  <a:latin typeface="Arial" pitchFamily="34" charset="0"/>
                </a:endParaRPr>
              </a:p>
            </p:txBody>
          </p:sp>
          <p:sp>
            <p:nvSpPr>
              <p:cNvPr id="40" name="Circle: Hollow 39">
                <a:extLst>
                  <a:ext uri="{FF2B5EF4-FFF2-40B4-BE49-F238E27FC236}">
                    <a16:creationId xmlns:a16="http://schemas.microsoft.com/office/drawing/2014/main" xmlns="" id="{2BE88978-9A44-4B5B-8537-08C050083E4A}"/>
                  </a:ext>
                </a:extLst>
              </p:cNvPr>
              <p:cNvSpPr/>
              <p:nvPr/>
            </p:nvSpPr>
            <p:spPr bwMode="auto">
              <a:xfrm>
                <a:off x="958455" y="2068928"/>
                <a:ext cx="216024" cy="216024"/>
              </a:xfrm>
              <a:prstGeom prst="donut">
                <a:avLst/>
              </a:prstGeom>
              <a:grpFill/>
              <a:ln w="28575" cap="flat" cmpd="sng" algn="ctr">
                <a:solidFill>
                  <a:srgbClr val="049BAF"/>
                </a:solidFill>
                <a:prstDash val="solid"/>
                <a:round/>
                <a:headEnd type="none" w="sm" len="sm"/>
                <a:tailEnd type="none" w="sm" len="sm"/>
              </a:ln>
              <a:effectLst/>
            </p:spPr>
            <p:txBody>
              <a:bodyPr vert="horz" wrap="square" lIns="365760" tIns="182880" rIns="365760" bIns="182880" numCol="1" rtlCol="0" anchor="t" anchorCtr="0" compatLnSpc="1">
                <a:prstTxWarp prst="textNoShape">
                  <a:avLst/>
                </a:prstTxWarp>
              </a:bodyPr>
              <a:lstStyle/>
              <a:p>
                <a:pPr algn="ctr">
                  <a:spcBef>
                    <a:spcPct val="20000"/>
                  </a:spcBef>
                  <a:buClr>
                    <a:srgbClr val="FF0000"/>
                  </a:buClr>
                </a:pPr>
                <a:endParaRPr lang="en-IN" sz="2000">
                  <a:latin typeface="Arial" pitchFamily="34" charset="0"/>
                </a:endParaRPr>
              </a:p>
            </p:txBody>
          </p:sp>
        </p:grpSp>
        <p:grpSp>
          <p:nvGrpSpPr>
            <p:cNvPr id="41" name="Group 40">
              <a:extLst>
                <a:ext uri="{FF2B5EF4-FFF2-40B4-BE49-F238E27FC236}">
                  <a16:creationId xmlns:a16="http://schemas.microsoft.com/office/drawing/2014/main" xmlns="" id="{46A846F6-1FF1-4D3B-92CF-8C461B765B46}"/>
                </a:ext>
              </a:extLst>
            </p:cNvPr>
            <p:cNvGrpSpPr/>
            <p:nvPr/>
          </p:nvGrpSpPr>
          <p:grpSpPr>
            <a:xfrm>
              <a:off x="4878516" y="2971028"/>
              <a:ext cx="216024" cy="628673"/>
              <a:chOff x="958455" y="1656279"/>
              <a:chExt cx="216024" cy="628673"/>
            </a:xfrm>
            <a:solidFill>
              <a:srgbClr val="049BAF"/>
            </a:solidFill>
          </p:grpSpPr>
          <p:sp>
            <p:nvSpPr>
              <p:cNvPr id="42" name="Rectangle 41">
                <a:extLst>
                  <a:ext uri="{FF2B5EF4-FFF2-40B4-BE49-F238E27FC236}">
                    <a16:creationId xmlns:a16="http://schemas.microsoft.com/office/drawing/2014/main" xmlns="" id="{E50D041B-1157-496E-996D-BBF0994484C5}"/>
                  </a:ext>
                </a:extLst>
              </p:cNvPr>
              <p:cNvSpPr/>
              <p:nvPr/>
            </p:nvSpPr>
            <p:spPr bwMode="auto">
              <a:xfrm>
                <a:off x="1043608" y="1656279"/>
                <a:ext cx="45719" cy="412649"/>
              </a:xfrm>
              <a:prstGeom prst="rect">
                <a:avLst/>
              </a:prstGeom>
              <a:grpFill/>
              <a:ln w="28575" cap="flat" cmpd="sng" algn="ctr">
                <a:solidFill>
                  <a:srgbClr val="049BAF"/>
                </a:solidFill>
                <a:prstDash val="solid"/>
                <a:round/>
                <a:headEnd type="none" w="sm" len="sm"/>
                <a:tailEnd type="none" w="sm" len="sm"/>
              </a:ln>
              <a:effectLst/>
            </p:spPr>
            <p:txBody>
              <a:bodyPr vert="horz" wrap="square" lIns="365760" tIns="182880" rIns="365760" bIns="182880" numCol="1" rtlCol="0" anchor="t" anchorCtr="0" compatLnSpc="1">
                <a:prstTxWarp prst="textNoShape">
                  <a:avLst/>
                </a:prstTxWarp>
              </a:bodyPr>
              <a:lstStyle/>
              <a:p>
                <a:pPr algn="ctr">
                  <a:spcBef>
                    <a:spcPct val="20000"/>
                  </a:spcBef>
                  <a:buClr>
                    <a:srgbClr val="FF0000"/>
                  </a:buClr>
                </a:pPr>
                <a:endParaRPr lang="en-IN" sz="2000" dirty="0">
                  <a:latin typeface="Arial" pitchFamily="34" charset="0"/>
                </a:endParaRPr>
              </a:p>
            </p:txBody>
          </p:sp>
          <p:sp>
            <p:nvSpPr>
              <p:cNvPr id="43" name="Circle: Hollow 42">
                <a:extLst>
                  <a:ext uri="{FF2B5EF4-FFF2-40B4-BE49-F238E27FC236}">
                    <a16:creationId xmlns:a16="http://schemas.microsoft.com/office/drawing/2014/main" xmlns="" id="{DD4FA6E7-0026-463B-9682-9A73E94CC944}"/>
                  </a:ext>
                </a:extLst>
              </p:cNvPr>
              <p:cNvSpPr/>
              <p:nvPr/>
            </p:nvSpPr>
            <p:spPr bwMode="auto">
              <a:xfrm>
                <a:off x="958455" y="2068928"/>
                <a:ext cx="216024" cy="216024"/>
              </a:xfrm>
              <a:prstGeom prst="donut">
                <a:avLst/>
              </a:prstGeom>
              <a:grpFill/>
              <a:ln w="28575" cap="flat" cmpd="sng" algn="ctr">
                <a:solidFill>
                  <a:srgbClr val="049BAF"/>
                </a:solidFill>
                <a:prstDash val="solid"/>
                <a:round/>
                <a:headEnd type="none" w="sm" len="sm"/>
                <a:tailEnd type="none" w="sm" len="sm"/>
              </a:ln>
              <a:effectLst/>
            </p:spPr>
            <p:txBody>
              <a:bodyPr vert="horz" wrap="square" lIns="365760" tIns="182880" rIns="365760" bIns="182880" numCol="1" rtlCol="0" anchor="t" anchorCtr="0" compatLnSpc="1">
                <a:prstTxWarp prst="textNoShape">
                  <a:avLst/>
                </a:prstTxWarp>
              </a:bodyPr>
              <a:lstStyle/>
              <a:p>
                <a:pPr algn="ctr">
                  <a:spcBef>
                    <a:spcPct val="20000"/>
                  </a:spcBef>
                  <a:buClr>
                    <a:srgbClr val="FF0000"/>
                  </a:buClr>
                </a:pPr>
                <a:endParaRPr lang="en-IN" sz="2000">
                  <a:latin typeface="Arial" pitchFamily="34" charset="0"/>
                </a:endParaRPr>
              </a:p>
            </p:txBody>
          </p:sp>
        </p:grpSp>
        <p:grpSp>
          <p:nvGrpSpPr>
            <p:cNvPr id="44" name="Group 43">
              <a:extLst>
                <a:ext uri="{FF2B5EF4-FFF2-40B4-BE49-F238E27FC236}">
                  <a16:creationId xmlns:a16="http://schemas.microsoft.com/office/drawing/2014/main" xmlns="" id="{6B663AC7-430D-4A2E-A254-95F96DE9CFA6}"/>
                </a:ext>
              </a:extLst>
            </p:cNvPr>
            <p:cNvGrpSpPr/>
            <p:nvPr/>
          </p:nvGrpSpPr>
          <p:grpSpPr>
            <a:xfrm>
              <a:off x="6536625" y="2979666"/>
              <a:ext cx="216024" cy="628673"/>
              <a:chOff x="958455" y="1656279"/>
              <a:chExt cx="216024" cy="628673"/>
            </a:xfrm>
            <a:solidFill>
              <a:srgbClr val="049BAF"/>
            </a:solidFill>
          </p:grpSpPr>
          <p:sp>
            <p:nvSpPr>
              <p:cNvPr id="45" name="Rectangle 44">
                <a:extLst>
                  <a:ext uri="{FF2B5EF4-FFF2-40B4-BE49-F238E27FC236}">
                    <a16:creationId xmlns:a16="http://schemas.microsoft.com/office/drawing/2014/main" xmlns="" id="{E15A124B-B8F7-4F7F-B4CA-2371DA0C49EF}"/>
                  </a:ext>
                </a:extLst>
              </p:cNvPr>
              <p:cNvSpPr/>
              <p:nvPr/>
            </p:nvSpPr>
            <p:spPr bwMode="auto">
              <a:xfrm>
                <a:off x="1043608" y="1656279"/>
                <a:ext cx="45719" cy="412649"/>
              </a:xfrm>
              <a:prstGeom prst="rect">
                <a:avLst/>
              </a:prstGeom>
              <a:grpFill/>
              <a:ln w="28575" cap="flat" cmpd="sng" algn="ctr">
                <a:solidFill>
                  <a:srgbClr val="049BAF"/>
                </a:solidFill>
                <a:prstDash val="solid"/>
                <a:round/>
                <a:headEnd type="none" w="sm" len="sm"/>
                <a:tailEnd type="none" w="sm" len="sm"/>
              </a:ln>
              <a:effectLst/>
            </p:spPr>
            <p:txBody>
              <a:bodyPr vert="horz" wrap="square" lIns="365760" tIns="182880" rIns="365760" bIns="182880" numCol="1" rtlCol="0" anchor="t" anchorCtr="0" compatLnSpc="1">
                <a:prstTxWarp prst="textNoShape">
                  <a:avLst/>
                </a:prstTxWarp>
              </a:bodyPr>
              <a:lstStyle/>
              <a:p>
                <a:pPr algn="ctr">
                  <a:spcBef>
                    <a:spcPct val="20000"/>
                  </a:spcBef>
                  <a:buClr>
                    <a:srgbClr val="FF0000"/>
                  </a:buClr>
                </a:pPr>
                <a:endParaRPr lang="en-IN" sz="2000" dirty="0">
                  <a:latin typeface="Arial" pitchFamily="34" charset="0"/>
                </a:endParaRPr>
              </a:p>
            </p:txBody>
          </p:sp>
          <p:sp>
            <p:nvSpPr>
              <p:cNvPr id="46" name="Circle: Hollow 45">
                <a:extLst>
                  <a:ext uri="{FF2B5EF4-FFF2-40B4-BE49-F238E27FC236}">
                    <a16:creationId xmlns:a16="http://schemas.microsoft.com/office/drawing/2014/main" xmlns="" id="{EBE5082B-7E19-4149-985D-42184B475C0F}"/>
                  </a:ext>
                </a:extLst>
              </p:cNvPr>
              <p:cNvSpPr/>
              <p:nvPr/>
            </p:nvSpPr>
            <p:spPr bwMode="auto">
              <a:xfrm>
                <a:off x="958455" y="2068928"/>
                <a:ext cx="216024" cy="216024"/>
              </a:xfrm>
              <a:prstGeom prst="donut">
                <a:avLst/>
              </a:prstGeom>
              <a:grpFill/>
              <a:ln w="28575" cap="flat" cmpd="sng" algn="ctr">
                <a:solidFill>
                  <a:srgbClr val="049BAF"/>
                </a:solidFill>
                <a:prstDash val="solid"/>
                <a:round/>
                <a:headEnd type="none" w="sm" len="sm"/>
                <a:tailEnd type="none" w="sm" len="sm"/>
              </a:ln>
              <a:effectLst/>
            </p:spPr>
            <p:txBody>
              <a:bodyPr vert="horz" wrap="square" lIns="365760" tIns="182880" rIns="365760" bIns="182880" numCol="1" rtlCol="0" anchor="t" anchorCtr="0" compatLnSpc="1">
                <a:prstTxWarp prst="textNoShape">
                  <a:avLst/>
                </a:prstTxWarp>
              </a:bodyPr>
              <a:lstStyle/>
              <a:p>
                <a:pPr algn="ctr">
                  <a:spcBef>
                    <a:spcPct val="20000"/>
                  </a:spcBef>
                  <a:buClr>
                    <a:srgbClr val="FF0000"/>
                  </a:buClr>
                </a:pPr>
                <a:endParaRPr lang="en-IN" sz="2000">
                  <a:latin typeface="Arial" pitchFamily="34" charset="0"/>
                </a:endParaRPr>
              </a:p>
            </p:txBody>
          </p:sp>
        </p:grpSp>
        <p:sp>
          <p:nvSpPr>
            <p:cNvPr id="47" name="Shape 376">
              <a:extLst>
                <a:ext uri="{FF2B5EF4-FFF2-40B4-BE49-F238E27FC236}">
                  <a16:creationId xmlns:a16="http://schemas.microsoft.com/office/drawing/2014/main" xmlns="" id="{9C028552-D0C3-48FA-8016-87B1784BA9DD}"/>
                </a:ext>
              </a:extLst>
            </p:cNvPr>
            <p:cNvSpPr txBox="1"/>
            <p:nvPr/>
          </p:nvSpPr>
          <p:spPr>
            <a:xfrm>
              <a:off x="1783088" y="1159511"/>
              <a:ext cx="1432550" cy="250200"/>
            </a:xfrm>
            <a:prstGeom prst="rect">
              <a:avLst/>
            </a:prstGeom>
            <a:noFill/>
            <a:ln>
              <a:noFill/>
            </a:ln>
          </p:spPr>
          <p:txBody>
            <a:bodyPr lIns="274300" tIns="274300" rIns="274300" bIns="274300" anchor="ctr" anchorCtr="0">
              <a:noAutofit/>
            </a:bodyPr>
            <a:lstStyle/>
            <a:p>
              <a:pPr algn="ctr">
                <a:buClr>
                  <a:srgbClr val="808080"/>
                </a:buClr>
                <a:buSzPct val="25000"/>
              </a:pPr>
              <a:r>
                <a:rPr lang="en-US" sz="1300" b="1" dirty="0">
                  <a:solidFill>
                    <a:srgbClr val="808080"/>
                  </a:solidFill>
                  <a:ea typeface="Open Sans"/>
                  <a:cs typeface="Open Sans"/>
                  <a:sym typeface="Open Sans"/>
                </a:rPr>
                <a:t>Cloud Machine Learning</a:t>
              </a:r>
            </a:p>
          </p:txBody>
        </p:sp>
        <p:sp>
          <p:nvSpPr>
            <p:cNvPr id="48" name="Shape 378">
              <a:extLst>
                <a:ext uri="{FF2B5EF4-FFF2-40B4-BE49-F238E27FC236}">
                  <a16:creationId xmlns:a16="http://schemas.microsoft.com/office/drawing/2014/main" xmlns="" id="{E5F7891F-D73D-48AA-9A34-3385E156AE2D}"/>
                </a:ext>
              </a:extLst>
            </p:cNvPr>
            <p:cNvSpPr txBox="1"/>
            <p:nvPr/>
          </p:nvSpPr>
          <p:spPr>
            <a:xfrm>
              <a:off x="3675045" y="1159511"/>
              <a:ext cx="964856" cy="250200"/>
            </a:xfrm>
            <a:prstGeom prst="rect">
              <a:avLst/>
            </a:prstGeom>
            <a:noFill/>
            <a:ln>
              <a:noFill/>
            </a:ln>
          </p:spPr>
          <p:txBody>
            <a:bodyPr lIns="274300" tIns="274300" rIns="274300" bIns="274300" anchor="ctr" anchorCtr="0">
              <a:noAutofit/>
            </a:bodyPr>
            <a:lstStyle/>
            <a:p>
              <a:pPr algn="ctr">
                <a:buClr>
                  <a:srgbClr val="808080"/>
                </a:buClr>
                <a:buSzPct val="25000"/>
              </a:pPr>
              <a:r>
                <a:rPr lang="en-US" sz="1300" b="1" dirty="0">
                  <a:solidFill>
                    <a:srgbClr val="808080"/>
                  </a:solidFill>
                  <a:ea typeface="Open Sans"/>
                  <a:cs typeface="Open Sans"/>
                  <a:sym typeface="Open Sans"/>
                </a:rPr>
                <a:t>Speech API</a:t>
              </a:r>
            </a:p>
          </p:txBody>
        </p:sp>
        <p:sp>
          <p:nvSpPr>
            <p:cNvPr id="49" name="Shape 384">
              <a:extLst>
                <a:ext uri="{FF2B5EF4-FFF2-40B4-BE49-F238E27FC236}">
                  <a16:creationId xmlns:a16="http://schemas.microsoft.com/office/drawing/2014/main" xmlns="" id="{A0338B87-484B-4DF9-A637-B3284DB27DA4}"/>
                </a:ext>
              </a:extLst>
            </p:cNvPr>
            <p:cNvSpPr txBox="1"/>
            <p:nvPr/>
          </p:nvSpPr>
          <p:spPr>
            <a:xfrm>
              <a:off x="5266962" y="1149293"/>
              <a:ext cx="1097240" cy="250200"/>
            </a:xfrm>
            <a:prstGeom prst="rect">
              <a:avLst/>
            </a:prstGeom>
            <a:noFill/>
            <a:ln>
              <a:noFill/>
            </a:ln>
          </p:spPr>
          <p:txBody>
            <a:bodyPr lIns="274300" tIns="274300" rIns="274300" bIns="274300" anchor="ctr" anchorCtr="0">
              <a:noAutofit/>
            </a:bodyPr>
            <a:lstStyle/>
            <a:p>
              <a:pPr algn="ctr">
                <a:buClr>
                  <a:srgbClr val="808080"/>
                </a:buClr>
                <a:buSzPct val="25000"/>
              </a:pPr>
              <a:r>
                <a:rPr lang="en-US" sz="1300" b="1" dirty="0">
                  <a:solidFill>
                    <a:srgbClr val="808080"/>
                  </a:solidFill>
                  <a:ea typeface="Open Sans"/>
                  <a:cs typeface="Open Sans"/>
                  <a:sym typeface="Open Sans"/>
                </a:rPr>
                <a:t>Translation API</a:t>
              </a:r>
            </a:p>
          </p:txBody>
        </p:sp>
        <p:sp>
          <p:nvSpPr>
            <p:cNvPr id="50" name="Shape 377">
              <a:extLst>
                <a:ext uri="{FF2B5EF4-FFF2-40B4-BE49-F238E27FC236}">
                  <a16:creationId xmlns:a16="http://schemas.microsoft.com/office/drawing/2014/main" xmlns="" id="{59360F32-908A-4016-87E9-058245A71336}"/>
                </a:ext>
              </a:extLst>
            </p:cNvPr>
            <p:cNvSpPr txBox="1"/>
            <p:nvPr/>
          </p:nvSpPr>
          <p:spPr>
            <a:xfrm>
              <a:off x="2917692" y="3736846"/>
              <a:ext cx="877142" cy="250200"/>
            </a:xfrm>
            <a:prstGeom prst="rect">
              <a:avLst/>
            </a:prstGeom>
            <a:noFill/>
            <a:ln>
              <a:noFill/>
            </a:ln>
          </p:spPr>
          <p:txBody>
            <a:bodyPr lIns="274300" tIns="274300" rIns="274300" bIns="274300" anchor="ctr" anchorCtr="0">
              <a:noAutofit/>
            </a:bodyPr>
            <a:lstStyle/>
            <a:p>
              <a:pPr algn="ctr">
                <a:buClr>
                  <a:srgbClr val="808080"/>
                </a:buClr>
                <a:buSzPct val="25000"/>
              </a:pPr>
              <a:r>
                <a:rPr lang="en-US" sz="1300" b="1" dirty="0">
                  <a:solidFill>
                    <a:srgbClr val="808080"/>
                  </a:solidFill>
                  <a:ea typeface="Open Sans"/>
                  <a:cs typeface="Open Sans"/>
                  <a:sym typeface="Open Sans"/>
                </a:rPr>
                <a:t>Vision API</a:t>
              </a:r>
            </a:p>
          </p:txBody>
        </p:sp>
        <p:sp>
          <p:nvSpPr>
            <p:cNvPr id="51" name="Shape 379">
              <a:extLst>
                <a:ext uri="{FF2B5EF4-FFF2-40B4-BE49-F238E27FC236}">
                  <a16:creationId xmlns:a16="http://schemas.microsoft.com/office/drawing/2014/main" xmlns="" id="{C0BF3BDC-0890-4B13-8A0F-4769A61A388A}"/>
                </a:ext>
              </a:extLst>
            </p:cNvPr>
            <p:cNvSpPr txBox="1"/>
            <p:nvPr/>
          </p:nvSpPr>
          <p:spPr>
            <a:xfrm>
              <a:off x="4394426" y="3731254"/>
              <a:ext cx="1138485" cy="250200"/>
            </a:xfrm>
            <a:prstGeom prst="rect">
              <a:avLst/>
            </a:prstGeom>
            <a:noFill/>
            <a:ln>
              <a:noFill/>
            </a:ln>
          </p:spPr>
          <p:txBody>
            <a:bodyPr lIns="274300" tIns="274300" rIns="274300" bIns="274300" anchor="ctr" anchorCtr="0">
              <a:noAutofit/>
            </a:bodyPr>
            <a:lstStyle/>
            <a:p>
              <a:pPr algn="ctr">
                <a:buClr>
                  <a:srgbClr val="808080"/>
                </a:buClr>
                <a:buSzPct val="25000"/>
              </a:pPr>
              <a:r>
                <a:rPr lang="en-US" sz="1300" b="1" dirty="0">
                  <a:solidFill>
                    <a:srgbClr val="808080"/>
                  </a:solidFill>
                  <a:ea typeface="Open Sans"/>
                  <a:cs typeface="Open Sans"/>
                  <a:sym typeface="Open Sans"/>
                </a:rPr>
                <a:t>Natural Language API</a:t>
              </a:r>
            </a:p>
          </p:txBody>
        </p:sp>
        <p:sp>
          <p:nvSpPr>
            <p:cNvPr id="52" name="Shape 387">
              <a:extLst>
                <a:ext uri="{FF2B5EF4-FFF2-40B4-BE49-F238E27FC236}">
                  <a16:creationId xmlns:a16="http://schemas.microsoft.com/office/drawing/2014/main" xmlns="" id="{1E4D13DF-BCD2-4825-914D-C1451217A15C}"/>
                </a:ext>
              </a:extLst>
            </p:cNvPr>
            <p:cNvSpPr txBox="1"/>
            <p:nvPr/>
          </p:nvSpPr>
          <p:spPr>
            <a:xfrm>
              <a:off x="6123032" y="3731254"/>
              <a:ext cx="997491" cy="250200"/>
            </a:xfrm>
            <a:prstGeom prst="rect">
              <a:avLst/>
            </a:prstGeom>
            <a:noFill/>
            <a:ln>
              <a:noFill/>
            </a:ln>
          </p:spPr>
          <p:txBody>
            <a:bodyPr lIns="274300" tIns="274300" rIns="274300" bIns="274300" anchor="ctr" anchorCtr="0">
              <a:noAutofit/>
            </a:bodyPr>
            <a:lstStyle/>
            <a:p>
              <a:pPr algn="ctr">
                <a:buClr>
                  <a:srgbClr val="808080"/>
                </a:buClr>
                <a:buSzPct val="25000"/>
              </a:pPr>
              <a:r>
                <a:rPr lang="en-US" sz="1300" b="1" dirty="0">
                  <a:solidFill>
                    <a:srgbClr val="808080"/>
                  </a:solidFill>
                  <a:ea typeface="Open Sans"/>
                  <a:cs typeface="Open Sans"/>
                  <a:sym typeface="Open Sans"/>
                </a:rPr>
                <a:t>Jobs API</a:t>
              </a:r>
            </a:p>
          </p:txBody>
        </p:sp>
      </p:grpSp>
    </p:spTree>
    <p:extLst>
      <p:ext uri="{BB962C8B-B14F-4D97-AF65-F5344CB8AC3E}">
        <p14:creationId xmlns:p14="http://schemas.microsoft.com/office/powerpoint/2010/main" val="3145700388"/>
      </p:ext>
    </p:extLst>
  </p:cSld>
  <p:clrMapOvr>
    <a:masterClrMapping/>
  </p:clrMapOvr>
  <p:timing>
    <p:tnLst>
      <p:par>
        <p:cTn id="1" dur="indefinite" restart="never" nodeType="tmRoot"/>
      </p:par>
    </p:tnLst>
  </p:timing>
</p:sld>
</file>

<file path=ppt/slides/slide8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99F9B78A-7E84-4744-8082-86451D51942F}"/>
              </a:ext>
            </a:extLst>
          </p:cNvPr>
          <p:cNvSpPr>
            <a:spLocks noGrp="1"/>
          </p:cNvSpPr>
          <p:nvPr>
            <p:ph type="title"/>
          </p:nvPr>
        </p:nvSpPr>
        <p:spPr/>
        <p:txBody>
          <a:bodyPr/>
          <a:lstStyle/>
          <a:p>
            <a:r>
              <a:rPr lang="en-IN" dirty="0"/>
              <a:t>Identity &amp; Security </a:t>
            </a:r>
          </a:p>
        </p:txBody>
      </p:sp>
      <p:pic>
        <p:nvPicPr>
          <p:cNvPr id="5" name="Picture 4">
            <a:extLst>
              <a:ext uri="{FF2B5EF4-FFF2-40B4-BE49-F238E27FC236}">
                <a16:creationId xmlns:a16="http://schemas.microsoft.com/office/drawing/2014/main" xmlns="" id="{37A93FAC-AC3F-4C4A-BAA7-49045381CF08}"/>
              </a:ext>
            </a:extLst>
          </p:cNvPr>
          <p:cNvPicPr>
            <a:picLocks noChangeAspect="1"/>
          </p:cNvPicPr>
          <p:nvPr/>
        </p:nvPicPr>
        <p:blipFill rotWithShape="1">
          <a:blip r:embed="rId2" cstate="print">
            <a:extLst>
              <a:ext uri="{28A0092B-C50C-407E-A947-70E740481C1C}">
                <a14:useLocalDpi xmlns:a14="http://schemas.microsoft.com/office/drawing/2010/main" val="0"/>
              </a:ext>
            </a:extLst>
          </a:blip>
          <a:srcRect l="29644" r="29644"/>
          <a:stretch/>
        </p:blipFill>
        <p:spPr>
          <a:xfrm rot="10800000">
            <a:off x="3851920" y="1079533"/>
            <a:ext cx="1440161" cy="5280587"/>
          </a:xfrm>
          <a:prstGeom prst="rect">
            <a:avLst/>
          </a:prstGeom>
        </p:spPr>
      </p:pic>
      <p:pic>
        <p:nvPicPr>
          <p:cNvPr id="6" name="Shape 358" descr="Cloud-IAM_256px.png">
            <a:extLst>
              <a:ext uri="{FF2B5EF4-FFF2-40B4-BE49-F238E27FC236}">
                <a16:creationId xmlns:a16="http://schemas.microsoft.com/office/drawing/2014/main" xmlns="" id="{46D37AE8-3771-4130-9BC8-A1B97B908461}"/>
              </a:ext>
            </a:extLst>
          </p:cNvPr>
          <p:cNvPicPr preferRelativeResize="0"/>
          <p:nvPr/>
        </p:nvPicPr>
        <p:blipFill rotWithShape="1">
          <a:blip r:embed="rId3">
            <a:alphaModFix/>
          </a:blip>
          <a:srcRect t="5092" b="5092"/>
          <a:stretch/>
        </p:blipFill>
        <p:spPr>
          <a:xfrm>
            <a:off x="2907946" y="2468894"/>
            <a:ext cx="943973" cy="1130489"/>
          </a:xfrm>
          <a:prstGeom prst="rect">
            <a:avLst/>
          </a:prstGeom>
          <a:noFill/>
          <a:ln>
            <a:noFill/>
          </a:ln>
        </p:spPr>
      </p:pic>
      <p:pic>
        <p:nvPicPr>
          <p:cNvPr id="7" name="Shape 359" descr="Generic-GCP_256px.png">
            <a:extLst>
              <a:ext uri="{FF2B5EF4-FFF2-40B4-BE49-F238E27FC236}">
                <a16:creationId xmlns:a16="http://schemas.microsoft.com/office/drawing/2014/main" xmlns="" id="{62E01E38-A74A-417E-9724-098345DC05FB}"/>
              </a:ext>
            </a:extLst>
          </p:cNvPr>
          <p:cNvPicPr preferRelativeResize="0"/>
          <p:nvPr/>
        </p:nvPicPr>
        <p:blipFill rotWithShape="1">
          <a:blip r:embed="rId4">
            <a:alphaModFix/>
          </a:blip>
          <a:srcRect t="5092" b="5092"/>
          <a:stretch/>
        </p:blipFill>
        <p:spPr>
          <a:xfrm>
            <a:off x="5292081" y="1195877"/>
            <a:ext cx="943973" cy="1130489"/>
          </a:xfrm>
          <a:prstGeom prst="rect">
            <a:avLst/>
          </a:prstGeom>
          <a:noFill/>
          <a:ln>
            <a:noFill/>
          </a:ln>
        </p:spPr>
      </p:pic>
      <p:pic>
        <p:nvPicPr>
          <p:cNvPr id="8" name="Shape 360" descr="Generic-GCP_256px.png">
            <a:extLst>
              <a:ext uri="{FF2B5EF4-FFF2-40B4-BE49-F238E27FC236}">
                <a16:creationId xmlns:a16="http://schemas.microsoft.com/office/drawing/2014/main" xmlns="" id="{526A7407-4298-4F1F-8A00-864C7A72450A}"/>
              </a:ext>
            </a:extLst>
          </p:cNvPr>
          <p:cNvPicPr preferRelativeResize="0"/>
          <p:nvPr/>
        </p:nvPicPr>
        <p:blipFill rotWithShape="1">
          <a:blip r:embed="rId4">
            <a:alphaModFix/>
          </a:blip>
          <a:srcRect t="5092" b="5092"/>
          <a:stretch/>
        </p:blipFill>
        <p:spPr>
          <a:xfrm>
            <a:off x="5292081" y="3784014"/>
            <a:ext cx="943973" cy="1130489"/>
          </a:xfrm>
          <a:prstGeom prst="rect">
            <a:avLst/>
          </a:prstGeom>
          <a:noFill/>
          <a:ln>
            <a:noFill/>
          </a:ln>
        </p:spPr>
      </p:pic>
      <p:pic>
        <p:nvPicPr>
          <p:cNvPr id="9" name="Shape 361" descr="Generic-GCP_256px.png">
            <a:extLst>
              <a:ext uri="{FF2B5EF4-FFF2-40B4-BE49-F238E27FC236}">
                <a16:creationId xmlns:a16="http://schemas.microsoft.com/office/drawing/2014/main" xmlns="" id="{B1BB34FE-A4CB-4632-BD05-C2CA7D84315C}"/>
              </a:ext>
            </a:extLst>
          </p:cNvPr>
          <p:cNvPicPr preferRelativeResize="0"/>
          <p:nvPr/>
        </p:nvPicPr>
        <p:blipFill rotWithShape="1">
          <a:blip r:embed="rId4">
            <a:alphaModFix/>
          </a:blip>
          <a:srcRect t="5092" b="5092"/>
          <a:stretch/>
        </p:blipFill>
        <p:spPr>
          <a:xfrm>
            <a:off x="2907946" y="5113660"/>
            <a:ext cx="943973" cy="1130489"/>
          </a:xfrm>
          <a:prstGeom prst="rect">
            <a:avLst/>
          </a:prstGeom>
          <a:noFill/>
          <a:ln>
            <a:noFill/>
          </a:ln>
        </p:spPr>
      </p:pic>
      <p:sp>
        <p:nvSpPr>
          <p:cNvPr id="10" name="Shape 354">
            <a:extLst>
              <a:ext uri="{FF2B5EF4-FFF2-40B4-BE49-F238E27FC236}">
                <a16:creationId xmlns:a16="http://schemas.microsoft.com/office/drawing/2014/main" xmlns="" id="{C697CF56-CFF1-4C3D-BAAC-45BB586DFF59}"/>
              </a:ext>
            </a:extLst>
          </p:cNvPr>
          <p:cNvSpPr txBox="1"/>
          <p:nvPr/>
        </p:nvSpPr>
        <p:spPr>
          <a:xfrm>
            <a:off x="4803653" y="2867337"/>
            <a:ext cx="724911" cy="333600"/>
          </a:xfrm>
          <a:prstGeom prst="rect">
            <a:avLst/>
          </a:prstGeom>
          <a:noFill/>
          <a:ln>
            <a:noFill/>
          </a:ln>
        </p:spPr>
        <p:txBody>
          <a:bodyPr lIns="76804" tIns="76804" rIns="76804" bIns="76804" anchor="ctr" anchorCtr="0">
            <a:noAutofit/>
          </a:bodyPr>
          <a:lstStyle/>
          <a:p>
            <a:pPr algn="ctr">
              <a:buClr>
                <a:srgbClr val="808080"/>
              </a:buClr>
              <a:buSzPct val="25000"/>
            </a:pPr>
            <a:r>
              <a:rPr lang="en-US" sz="1100" b="1" dirty="0">
                <a:solidFill>
                  <a:srgbClr val="049BAF"/>
                </a:solidFill>
                <a:ea typeface="Open Sans"/>
                <a:cs typeface="Open Sans"/>
                <a:sym typeface="Open Sans"/>
              </a:rPr>
              <a:t>Cloud IAM</a:t>
            </a:r>
          </a:p>
        </p:txBody>
      </p:sp>
      <p:sp>
        <p:nvSpPr>
          <p:cNvPr id="11" name="Shape 355">
            <a:extLst>
              <a:ext uri="{FF2B5EF4-FFF2-40B4-BE49-F238E27FC236}">
                <a16:creationId xmlns:a16="http://schemas.microsoft.com/office/drawing/2014/main" xmlns="" id="{2BDA3F71-F085-4EA3-A0D3-49B4FF73FC51}"/>
              </a:ext>
            </a:extLst>
          </p:cNvPr>
          <p:cNvSpPr txBox="1"/>
          <p:nvPr/>
        </p:nvSpPr>
        <p:spPr>
          <a:xfrm>
            <a:off x="3330287" y="1607413"/>
            <a:ext cx="1043262" cy="333600"/>
          </a:xfrm>
          <a:prstGeom prst="rect">
            <a:avLst/>
          </a:prstGeom>
          <a:noFill/>
          <a:ln>
            <a:noFill/>
          </a:ln>
        </p:spPr>
        <p:txBody>
          <a:bodyPr lIns="76804" tIns="76804" rIns="76804" bIns="76804" anchor="ctr" anchorCtr="0">
            <a:noAutofit/>
          </a:bodyPr>
          <a:lstStyle/>
          <a:p>
            <a:pPr algn="ctr">
              <a:buClr>
                <a:srgbClr val="808080"/>
              </a:buClr>
              <a:buSzPct val="25000"/>
            </a:pPr>
            <a:r>
              <a:rPr lang="en-US" sz="1100" b="1" dirty="0">
                <a:solidFill>
                  <a:srgbClr val="0C7CA8"/>
                </a:solidFill>
                <a:ea typeface="Open Sans"/>
                <a:cs typeface="Open Sans"/>
                <a:sym typeface="Open Sans"/>
              </a:rPr>
              <a:t>Cloud Resource Manager</a:t>
            </a:r>
          </a:p>
        </p:txBody>
      </p:sp>
      <p:sp>
        <p:nvSpPr>
          <p:cNvPr id="12" name="Shape 356">
            <a:extLst>
              <a:ext uri="{FF2B5EF4-FFF2-40B4-BE49-F238E27FC236}">
                <a16:creationId xmlns:a16="http://schemas.microsoft.com/office/drawing/2014/main" xmlns="" id="{B2EA6000-3C16-4F6C-B7A8-D8D6044E339D}"/>
              </a:ext>
            </a:extLst>
          </p:cNvPr>
          <p:cNvSpPr txBox="1"/>
          <p:nvPr/>
        </p:nvSpPr>
        <p:spPr>
          <a:xfrm>
            <a:off x="3366950" y="4189720"/>
            <a:ext cx="969936" cy="333600"/>
          </a:xfrm>
          <a:prstGeom prst="rect">
            <a:avLst/>
          </a:prstGeom>
          <a:noFill/>
          <a:ln>
            <a:noFill/>
          </a:ln>
        </p:spPr>
        <p:txBody>
          <a:bodyPr lIns="76804" tIns="76804" rIns="76804" bIns="76804" anchor="ctr" anchorCtr="0">
            <a:noAutofit/>
          </a:bodyPr>
          <a:lstStyle/>
          <a:p>
            <a:pPr algn="ctr">
              <a:buClr>
                <a:srgbClr val="808080"/>
              </a:buClr>
              <a:buSzPct val="25000"/>
            </a:pPr>
            <a:r>
              <a:rPr lang="en-US" sz="1100" b="1" dirty="0">
                <a:solidFill>
                  <a:srgbClr val="914391"/>
                </a:solidFill>
                <a:ea typeface="Open Sans"/>
                <a:cs typeface="Open Sans"/>
                <a:sym typeface="Open Sans"/>
              </a:rPr>
              <a:t>Cloud Security Scanner</a:t>
            </a:r>
          </a:p>
        </p:txBody>
      </p:sp>
      <p:sp>
        <p:nvSpPr>
          <p:cNvPr id="13" name="Shape 357">
            <a:extLst>
              <a:ext uri="{FF2B5EF4-FFF2-40B4-BE49-F238E27FC236}">
                <a16:creationId xmlns:a16="http://schemas.microsoft.com/office/drawing/2014/main" xmlns="" id="{77505836-F6EF-47B8-8B84-F12D771ADDED}"/>
              </a:ext>
            </a:extLst>
          </p:cNvPr>
          <p:cNvSpPr txBox="1"/>
          <p:nvPr/>
        </p:nvSpPr>
        <p:spPr>
          <a:xfrm>
            <a:off x="4591115" y="5512103"/>
            <a:ext cx="1149984" cy="333600"/>
          </a:xfrm>
          <a:prstGeom prst="rect">
            <a:avLst/>
          </a:prstGeom>
          <a:noFill/>
          <a:ln>
            <a:noFill/>
          </a:ln>
        </p:spPr>
        <p:txBody>
          <a:bodyPr lIns="76804" tIns="76804" rIns="76804" bIns="76804" anchor="ctr" anchorCtr="0">
            <a:noAutofit/>
          </a:bodyPr>
          <a:lstStyle/>
          <a:p>
            <a:pPr algn="ctr">
              <a:buClr>
                <a:srgbClr val="808080"/>
              </a:buClr>
              <a:buSzPct val="25000"/>
            </a:pPr>
            <a:r>
              <a:rPr lang="en-US" sz="1100" b="1" dirty="0">
                <a:solidFill>
                  <a:srgbClr val="F45656"/>
                </a:solidFill>
                <a:ea typeface="Open Sans"/>
                <a:cs typeface="Open Sans"/>
                <a:sym typeface="Open Sans"/>
              </a:rPr>
              <a:t>Cloud Platform Security</a:t>
            </a:r>
          </a:p>
        </p:txBody>
      </p:sp>
    </p:spTree>
    <p:extLst>
      <p:ext uri="{BB962C8B-B14F-4D97-AF65-F5344CB8AC3E}">
        <p14:creationId xmlns:p14="http://schemas.microsoft.com/office/powerpoint/2010/main" val="3429065102"/>
      </p:ext>
    </p:extLst>
  </p:cSld>
  <p:clrMapOvr>
    <a:masterClrMapping/>
  </p:clrMapOvr>
  <p:timing>
    <p:tnLst>
      <p:par>
        <p:cTn id="1" dur="indefinite" restart="never" nodeType="tmRoot"/>
      </p:par>
    </p:tnLst>
  </p:timing>
</p:sld>
</file>

<file path=ppt/slides/slide8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559CC636-96DA-4C5C-B3EB-BB231565F9D7}"/>
              </a:ext>
            </a:extLst>
          </p:cNvPr>
          <p:cNvSpPr>
            <a:spLocks noGrp="1"/>
          </p:cNvSpPr>
          <p:nvPr>
            <p:ph type="title"/>
          </p:nvPr>
        </p:nvSpPr>
        <p:spPr/>
        <p:txBody>
          <a:bodyPr/>
          <a:lstStyle/>
          <a:p>
            <a:r>
              <a:rPr lang="en-IN" dirty="0"/>
              <a:t>Management and Developer Tools</a:t>
            </a:r>
          </a:p>
        </p:txBody>
      </p:sp>
      <p:pic>
        <p:nvPicPr>
          <p:cNvPr id="3074" name="Picture 2"/>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2731422" y="1375228"/>
            <a:ext cx="5008929" cy="2478333"/>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pic>
        <p:nvPicPr>
          <p:cNvPr id="3075" name="Picture 3"/>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50031" y="3845443"/>
            <a:ext cx="8499664" cy="2885921"/>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extLst>
      <p:ext uri="{BB962C8B-B14F-4D97-AF65-F5344CB8AC3E}">
        <p14:creationId xmlns:p14="http://schemas.microsoft.com/office/powerpoint/2010/main" val="346131365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3074"/>
                                        </p:tgtEl>
                                        <p:attrNameLst>
                                          <p:attrName>style.visibility</p:attrName>
                                        </p:attrNameLst>
                                      </p:cBhvr>
                                      <p:to>
                                        <p:strVal val="visible"/>
                                      </p:to>
                                    </p:set>
                                    <p:animEffect transition="in" filter="fade">
                                      <p:cBhvr>
                                        <p:cTn id="7" dur="500"/>
                                        <p:tgtEl>
                                          <p:spTgt spid="3074"/>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3075"/>
                                        </p:tgtEl>
                                        <p:attrNameLst>
                                          <p:attrName>style.visibility</p:attrName>
                                        </p:attrNameLst>
                                      </p:cBhvr>
                                      <p:to>
                                        <p:strVal val="visible"/>
                                      </p:to>
                                    </p:set>
                                    <p:animEffect transition="in" filter="fade">
                                      <p:cBhvr>
                                        <p:cTn id="12" dur="500"/>
                                        <p:tgtEl>
                                          <p:spTgt spid="307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tags/tag1.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Adjacency">
  <a:themeElements>
    <a:clrScheme name="Clarity">
      <a:dk1>
        <a:srgbClr val="292934"/>
      </a:dk1>
      <a:lt1>
        <a:srgbClr val="FFFFFF"/>
      </a:lt1>
      <a:dk2>
        <a:srgbClr val="D2533C"/>
      </a:dk2>
      <a:lt2>
        <a:srgbClr val="F3F2DC"/>
      </a:lt2>
      <a:accent1>
        <a:srgbClr val="93A299"/>
      </a:accent1>
      <a:accent2>
        <a:srgbClr val="AD8F67"/>
      </a:accent2>
      <a:accent3>
        <a:srgbClr val="726056"/>
      </a:accent3>
      <a:accent4>
        <a:srgbClr val="4C5A6A"/>
      </a:accent4>
      <a:accent5>
        <a:srgbClr val="808DA0"/>
      </a:accent5>
      <a:accent6>
        <a:srgbClr val="79463D"/>
      </a:accent6>
      <a:hlink>
        <a:srgbClr val="0000FF"/>
      </a:hlink>
      <a:folHlink>
        <a:srgbClr val="800080"/>
      </a:folHlink>
    </a:clrScheme>
    <a:fontScheme name="Office">
      <a:majorFont>
        <a:latin typeface="Cambria"/>
        <a:ea typeface=""/>
        <a:cs typeface=""/>
        <a:font script="Jpan" typeface="ＭＳ 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明朝"/>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Adjacency">
      <a:fillStyleLst>
        <a:solidFill>
          <a:schemeClr val="phClr"/>
        </a:solidFill>
        <a:solidFill>
          <a:schemeClr val="phClr">
            <a:tint val="55000"/>
          </a:schemeClr>
        </a:solidFill>
        <a:solidFill>
          <a:schemeClr val="phClr"/>
        </a:solidFill>
      </a:fillStyleLst>
      <a:lnStyleLst>
        <a:ln w="12700"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effectStyle>
        <a:effectStyle>
          <a:effectLst>
            <a:outerShdw blurRad="50800" dist="25400" algn="bl" rotWithShape="0">
              <a:srgbClr val="000000">
                <a:alpha val="60000"/>
              </a:srgbClr>
            </a:outerShdw>
          </a:effectLst>
        </a:effectStyle>
        <a:effectStyle>
          <a:effectLst/>
          <a:scene3d>
            <a:camera prst="orthographicFront">
              <a:rot lat="0" lon="0" rev="0"/>
            </a:camera>
            <a:lightRig rig="brightRoom" dir="tl">
              <a:rot lat="0" lon="0" rev="1800000"/>
            </a:lightRig>
          </a:scene3d>
          <a:sp3d contourW="10160" prstMaterial="dkEdge">
            <a:bevelT w="38100" h="50800" prst="angle"/>
            <a:contourClr>
              <a:schemeClr val="phClr">
                <a:shade val="40000"/>
                <a:satMod val="150000"/>
              </a:schemeClr>
            </a:contourClr>
          </a:sp3d>
        </a:effectStyle>
      </a:effectStyleLst>
      <a:bgFillStyleLst>
        <a:solidFill>
          <a:schemeClr val="phClr"/>
        </a:solidFill>
        <a:gradFill rotWithShape="1">
          <a:gsLst>
            <a:gs pos="0">
              <a:schemeClr val="phClr">
                <a:tint val="90000"/>
              </a:schemeClr>
            </a:gs>
            <a:gs pos="75000">
              <a:schemeClr val="phClr">
                <a:shade val="100000"/>
                <a:satMod val="115000"/>
              </a:schemeClr>
            </a:gs>
            <a:gs pos="100000">
              <a:schemeClr val="phClr">
                <a:shade val="70000"/>
                <a:satMod val="130000"/>
              </a:schemeClr>
            </a:gs>
          </a:gsLst>
          <a:path path="circle">
            <a:fillToRect l="20000" t="50000" r="100000" b="50000"/>
          </a:path>
        </a:gradFill>
        <a:blipFill rotWithShape="1">
          <a:blip xmlns:r="http://schemas.openxmlformats.org/officeDocument/2006/relationships" r:embed="rId1">
            <a:duotone>
              <a:schemeClr val="phClr">
                <a:tint val="97000"/>
              </a:schemeClr>
              <a:schemeClr val="phClr">
                <a:shade val="96000"/>
              </a:schemeClr>
            </a:duotone>
          </a:blip>
          <a:tile tx="0" ty="0" sx="32000" sy="32000" flip="none" algn="tl"/>
        </a:blip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Adjacency</Template>
  <TotalTime>699</TotalTime>
  <Words>2714</Words>
  <Application>Microsoft Office PowerPoint</Application>
  <PresentationFormat>On-screen Show (4:3)</PresentationFormat>
  <Paragraphs>407</Paragraphs>
  <Slides>85</Slides>
  <Notes>6</Notes>
  <HiddenSlides>0</HiddenSlides>
  <MMClips>0</MMClips>
  <ScaleCrop>false</ScaleCrop>
  <HeadingPairs>
    <vt:vector size="4" baseType="variant">
      <vt:variant>
        <vt:lpstr>Theme</vt:lpstr>
      </vt:variant>
      <vt:variant>
        <vt:i4>1</vt:i4>
      </vt:variant>
      <vt:variant>
        <vt:lpstr>Slide Titles</vt:lpstr>
      </vt:variant>
      <vt:variant>
        <vt:i4>85</vt:i4>
      </vt:variant>
    </vt:vector>
  </HeadingPairs>
  <TitlesOfParts>
    <vt:vector size="86" baseType="lpstr">
      <vt:lpstr>Adjacency</vt:lpstr>
      <vt:lpstr>PowerPoint Presentation</vt:lpstr>
      <vt:lpstr>Traditional E-commerce Scenario</vt:lpstr>
      <vt:lpstr>Traditional E-commerce Scenario</vt:lpstr>
      <vt:lpstr>Traditional E-commerce Scenario</vt:lpstr>
      <vt:lpstr>Traditional E-commerce Scenario</vt:lpstr>
      <vt:lpstr>Traditional E-commerce Scenario</vt:lpstr>
      <vt:lpstr>Traditional E-commerce Scenario</vt:lpstr>
      <vt:lpstr>Problems Faced</vt:lpstr>
      <vt:lpstr>Solution</vt:lpstr>
      <vt:lpstr>Cloud Computing</vt:lpstr>
      <vt:lpstr>Cloud Services</vt:lpstr>
      <vt:lpstr>Various Cloud Providers</vt:lpstr>
      <vt:lpstr>Cloud Providers</vt:lpstr>
      <vt:lpstr>Why go for Google Cloud Platform?</vt:lpstr>
      <vt:lpstr>Why GCP?</vt:lpstr>
      <vt:lpstr>Run on Google’s Infrastructure </vt:lpstr>
      <vt:lpstr>Why GCP?</vt:lpstr>
      <vt:lpstr>Why GCP?</vt:lpstr>
      <vt:lpstr>Why Google Cloud Platform?</vt:lpstr>
      <vt:lpstr>Why Google Cloud Platform?</vt:lpstr>
      <vt:lpstr>What is Google Cloud Platform?</vt:lpstr>
      <vt:lpstr>What is GCP?</vt:lpstr>
      <vt:lpstr>GCP Regions and Zones</vt:lpstr>
      <vt:lpstr>GCP Regions and Zones(2024)</vt:lpstr>
      <vt:lpstr>GCP Regions and Zones(2025)</vt:lpstr>
      <vt:lpstr>Google Cloud Regions &amp; Zones(2024)</vt:lpstr>
      <vt:lpstr>Google Cloud Regions &amp; Zones(2025)</vt:lpstr>
      <vt:lpstr>Google Cloud Regions &amp; Zones</vt:lpstr>
      <vt:lpstr>Regions</vt:lpstr>
      <vt:lpstr>Regions</vt:lpstr>
      <vt:lpstr>Google Cloud Regions &amp; Zones</vt:lpstr>
      <vt:lpstr>Zones</vt:lpstr>
      <vt:lpstr>Zonal Resources</vt:lpstr>
      <vt:lpstr>Regional resources</vt:lpstr>
      <vt:lpstr>Products available by Location</vt:lpstr>
      <vt:lpstr>Products available by Location</vt:lpstr>
      <vt:lpstr>Creating account on GCP</vt:lpstr>
      <vt:lpstr>Creating Free Account</vt:lpstr>
      <vt:lpstr>GCP Home</vt:lpstr>
      <vt:lpstr>GCP Services in Depth</vt:lpstr>
      <vt:lpstr>Google Cloud Platform Services</vt:lpstr>
      <vt:lpstr>Google Cloud Platform Services</vt:lpstr>
      <vt:lpstr>Google Cloud Platform Services</vt:lpstr>
      <vt:lpstr>Compute</vt:lpstr>
      <vt:lpstr>Google Cloud Platform Services</vt:lpstr>
      <vt:lpstr>Google Cloud Platform Services</vt:lpstr>
      <vt:lpstr>Networking</vt:lpstr>
      <vt:lpstr>Google Cloud Platform Services</vt:lpstr>
      <vt:lpstr>Google Cloud Platform Services</vt:lpstr>
      <vt:lpstr>Google Cloud Platform Services</vt:lpstr>
      <vt:lpstr>What is a CDN?</vt:lpstr>
      <vt:lpstr>What is a CDN?</vt:lpstr>
      <vt:lpstr>Why is a CDN important?</vt:lpstr>
      <vt:lpstr>Why is a CDN important?</vt:lpstr>
      <vt:lpstr>CDN?</vt:lpstr>
      <vt:lpstr>Storage and Databases</vt:lpstr>
      <vt:lpstr>Google Cloud Platform Services</vt:lpstr>
      <vt:lpstr>Google Cloud Platform Services</vt:lpstr>
      <vt:lpstr>Google Cloud Platform Services</vt:lpstr>
      <vt:lpstr>Google Cloud Platform Services</vt:lpstr>
      <vt:lpstr>Google Cloud Platform Services</vt:lpstr>
      <vt:lpstr>Google Cloud Platform Services</vt:lpstr>
      <vt:lpstr>Storage Classes</vt:lpstr>
      <vt:lpstr>Storage Classes</vt:lpstr>
      <vt:lpstr>Storage Classes</vt:lpstr>
      <vt:lpstr>Google Cloud Platform Services</vt:lpstr>
      <vt:lpstr>Google Cloud Platform Services</vt:lpstr>
      <vt:lpstr>What is Sharding? </vt:lpstr>
      <vt:lpstr>What is Sharding? </vt:lpstr>
      <vt:lpstr>Need for Sharding: </vt:lpstr>
      <vt:lpstr>How does Sharding work? </vt:lpstr>
      <vt:lpstr>How does Sharding work? </vt:lpstr>
      <vt:lpstr>Google Cloud Platform Services</vt:lpstr>
      <vt:lpstr>Google Cloud Platform Services</vt:lpstr>
      <vt:lpstr>Google Cloud Platform Services</vt:lpstr>
      <vt:lpstr>Big Data</vt:lpstr>
      <vt:lpstr>Google Cloud Platform Services</vt:lpstr>
      <vt:lpstr>Google Cloud Platform Services</vt:lpstr>
      <vt:lpstr>Google Cloud Platform Services</vt:lpstr>
      <vt:lpstr>Google Cloud Platform Services</vt:lpstr>
      <vt:lpstr>Google Cloud Platform Services</vt:lpstr>
      <vt:lpstr>Google Cloud Platform Services</vt:lpstr>
      <vt:lpstr>Machine Learning</vt:lpstr>
      <vt:lpstr>Identity &amp; Security </vt:lpstr>
      <vt:lpstr>Management and Developer Tools</vt:lpstr>
    </vt:vector>
  </TitlesOfParts>
  <Company>HP Inc.</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Admin</dc:creator>
  <cp:lastModifiedBy>Admin</cp:lastModifiedBy>
  <cp:revision>73</cp:revision>
  <dcterms:created xsi:type="dcterms:W3CDTF">2023-03-20T04:39:05Z</dcterms:created>
  <dcterms:modified xsi:type="dcterms:W3CDTF">2026-03-27T04:55:30Z</dcterms:modified>
</cp:coreProperties>
</file>