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2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4" r:id="rId58"/>
    <p:sldId id="315" r:id="rId59"/>
    <p:sldId id="312" r:id="rId60"/>
    <p:sldId id="313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068F3-3E74-4E9E-8D3E-82698212994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678A4-5A6E-4BA9-AE47-8D30E4CFD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678A4-5A6E-4BA9-AE47-8D30E4CFDC4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C96A2-1B0C-4DB6-B5DC-A594C82127F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-1" y="1"/>
          <a:ext cx="9144001" cy="6857998"/>
        </p:xfrm>
        <a:graphic>
          <a:graphicData uri="http://schemas.openxmlformats.org/drawingml/2006/table">
            <a:tbl>
              <a:tblPr/>
              <a:tblGrid>
                <a:gridCol w="148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+mn-lt"/>
                          <a:ea typeface="Calibri"/>
                          <a:cs typeface="Times New Roman"/>
                        </a:rPr>
                        <a:t>System Implementation &amp;Configuration Management</a:t>
                      </a:r>
                      <a:endParaRPr lang="en-US" sz="2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3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4.1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Packages and interfaces: Distinguishing between classes/interfaces, Exposing class and package interfaces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4.2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Mapping model to code , Mapping Object Model to Database Schema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4.3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Component and deployment diagrams: Describing dependencies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4.4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Managing and controlling Changes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52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4.5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Managing and controlling version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Version control </a:t>
            </a:r>
            <a:r>
              <a:rPr lang="en-US" b="1" dirty="0"/>
              <a:t>combines procedures and tools to manage different versions of configuration objects </a:t>
            </a:r>
            <a:r>
              <a:rPr lang="en-US" dirty="0"/>
              <a:t>that are created during the software process.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version control system implements four major capabilities: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(1) a </a:t>
            </a:r>
            <a:r>
              <a:rPr lang="en-US" b="1" dirty="0"/>
              <a:t>project database </a:t>
            </a:r>
            <a:r>
              <a:rPr lang="en-US" dirty="0"/>
              <a:t>that stores all relevant configuration objects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(2) a </a:t>
            </a:r>
            <a:r>
              <a:rPr lang="en-US" b="1" dirty="0"/>
              <a:t>version management capability </a:t>
            </a:r>
            <a:r>
              <a:rPr lang="en-US" dirty="0"/>
              <a:t>that </a:t>
            </a:r>
            <a:r>
              <a:rPr lang="en-US" b="1" dirty="0"/>
              <a:t>stores all versions</a:t>
            </a:r>
            <a:r>
              <a:rPr lang="en-US" dirty="0"/>
              <a:t> of a configuration object.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(3) a make facility that enables </a:t>
            </a:r>
            <a:r>
              <a:rPr lang="en-US" b="1" dirty="0"/>
              <a:t>construct a specific version of the software.  </a:t>
            </a:r>
          </a:p>
          <a:p>
            <a:pPr algn="just">
              <a:buNone/>
            </a:pPr>
            <a:endParaRPr lang="en-US" b="1" dirty="0"/>
          </a:p>
          <a:p>
            <a:pPr algn="just">
              <a:buNone/>
            </a:pPr>
            <a:r>
              <a:rPr lang="en-US" dirty="0"/>
              <a:t>(4) version control and change control systems often implement an </a:t>
            </a:r>
            <a:r>
              <a:rPr lang="en-US" b="1" dirty="0"/>
              <a:t>issues tracking (also called bug tracking) </a:t>
            </a:r>
            <a:r>
              <a:rPr lang="en-US" dirty="0"/>
              <a:t>capability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334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 number of version control systems </a:t>
            </a:r>
            <a:r>
              <a:rPr lang="en-US" b="1" dirty="0"/>
              <a:t>establish a change set</a:t>
            </a:r>
            <a:r>
              <a:rPr lang="en-US" dirty="0"/>
              <a:t>—a collection of all changes that are required to create a specific version of the software.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named change sets can be identified </a:t>
            </a:r>
            <a:r>
              <a:rPr lang="en-US" dirty="0"/>
              <a:t>for an application or system.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construct a version of the software by specifying the change sets </a:t>
            </a:r>
            <a:r>
              <a:rPr lang="en-US" b="1" dirty="0"/>
              <a:t>(by name)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Modeling approach for building new versions contains:</a:t>
            </a:r>
          </a:p>
          <a:p>
            <a:pPr marL="514350" indent="-514350">
              <a:buAutoNum type="arabicPeriod"/>
            </a:pPr>
            <a:r>
              <a:rPr lang="en-US" dirty="0"/>
              <a:t>Template for building version</a:t>
            </a:r>
          </a:p>
          <a:p>
            <a:pPr marL="514350" indent="-514350">
              <a:buAutoNum type="arabicPeriod"/>
            </a:pPr>
            <a:r>
              <a:rPr lang="en-US" dirty="0"/>
              <a:t>Construction rules</a:t>
            </a:r>
          </a:p>
          <a:p>
            <a:pPr marL="514350" indent="-514350">
              <a:buAutoNum type="arabicPeriod"/>
            </a:pPr>
            <a:r>
              <a:rPr lang="en-US" dirty="0"/>
              <a:t>Verification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Too much change control and we create problems.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large software project, uncontrolled change rapidly leads to chaos.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</a:t>
            </a:r>
            <a:r>
              <a:rPr lang="en-US" b="1" dirty="0"/>
              <a:t>large projects </a:t>
            </a:r>
            <a:r>
              <a:rPr lang="en-US" dirty="0"/>
              <a:t>change control combines </a:t>
            </a:r>
            <a:r>
              <a:rPr lang="en-US" b="1" dirty="0"/>
              <a:t>human procedures and automated tools </a:t>
            </a:r>
            <a:r>
              <a:rPr lang="en-US" dirty="0"/>
              <a:t>to provide a mechanism for the control of change.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just"/>
            <a:r>
              <a:rPr lang="en-US" dirty="0"/>
              <a:t>engineering change order (ECO).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elements of change management:</a:t>
            </a:r>
          </a:p>
          <a:p>
            <a:pPr algn="just"/>
            <a:endParaRPr lang="en-US" b="1" dirty="0"/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Access Control </a:t>
            </a:r>
          </a:p>
          <a:p>
            <a:pPr marL="514350" indent="-514350" algn="just"/>
            <a:r>
              <a:rPr lang="en-US" dirty="0"/>
              <a:t>Access control governs which software engineers have the authority to access and modify a particular configuration object.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2. Synchronization Control.</a:t>
            </a:r>
          </a:p>
          <a:p>
            <a:pPr algn="just"/>
            <a:r>
              <a:rPr lang="en-US" dirty="0"/>
              <a:t>Synchronization control helps to ensure that parallel changes, performed by two different people, don’t overwrite one another.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Informal Change Control</a:t>
            </a:r>
          </a:p>
          <a:p>
            <a:r>
              <a:rPr lang="en-US" dirty="0"/>
              <a:t>Developer makes changes in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project level change control</a:t>
            </a:r>
          </a:p>
          <a:p>
            <a:r>
              <a:rPr lang="en-US" dirty="0"/>
              <a:t>developer must gain approval from the project manager to makes changes.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formal change control </a:t>
            </a:r>
          </a:p>
          <a:p>
            <a:pPr algn="just"/>
            <a:r>
              <a:rPr lang="en-US" dirty="0"/>
              <a:t>is instituted when the software product is released to customers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"/>
            <a:ext cx="7924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Component diagram </a:t>
            </a:r>
            <a:r>
              <a:rPr lang="en-US" i="1" dirty="0"/>
              <a:t>shows components</a:t>
            </a:r>
            <a:r>
              <a:rPr lang="en-US" dirty="0"/>
              <a:t>, provided and required interfaces, ports, and </a:t>
            </a:r>
            <a:r>
              <a:rPr lang="en-US" b="1" dirty="0"/>
              <a:t>relationships between them.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It does not describe the functionality of the system but it </a:t>
            </a:r>
            <a:r>
              <a:rPr lang="en-US" b="1" dirty="0"/>
              <a:t>describes the components used to make those functionalities.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Component diagrams can also be described as a static implementation view of a system. 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335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component diagram's main purpose is to show the structural relationships between the components of a system.</a:t>
            </a:r>
          </a:p>
        </p:txBody>
      </p:sp>
    </p:spTree>
    <p:extLst>
      <p:ext uri="{BB962C8B-B14F-4D97-AF65-F5344CB8AC3E}">
        <p14:creationId xmlns:p14="http://schemas.microsoft.com/office/powerpoint/2010/main" val="313383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534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1930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610599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826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392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7826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3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7595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assembly connector bridges  component’s required interface (Component1) with the provided interface of another component (Component2); this allows one component to provide the services that another component requires.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419600"/>
            <a:ext cx="5029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6866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7482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162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Port</a:t>
            </a:r>
          </a:p>
          <a:p>
            <a:pPr algn="just"/>
            <a:r>
              <a:rPr lang="en-US" dirty="0"/>
              <a:t>Ports are represented using a square along the edge of the system or a component. A port is often used to help expose required and provided interfaces of a component.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178" y="4343400"/>
            <a:ext cx="4114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9428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/>
              <a:t> This component's inner structure is composed of other components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0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3234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800" b="1" dirty="0"/>
              <a:t>Online Shopping </a:t>
            </a:r>
            <a:r>
              <a:rPr lang="en-US" sz="4800" b="1" i="1" dirty="0"/>
              <a:t>UML Component Diagram Example</a:t>
            </a:r>
          </a:p>
          <a:p>
            <a:endParaRPr lang="en-US" sz="4800" b="1" i="1" dirty="0"/>
          </a:p>
          <a:p>
            <a:pPr algn="just"/>
            <a:r>
              <a:rPr lang="en-US" sz="4800" dirty="0"/>
              <a:t>Online shopping UML component diagram example with three related subsystems - </a:t>
            </a:r>
            <a:r>
              <a:rPr lang="en-US" sz="4800" b="1" dirty="0" err="1"/>
              <a:t>WebStore</a:t>
            </a:r>
            <a:r>
              <a:rPr lang="en-US" sz="4800" b="1" dirty="0"/>
              <a:t>, Warehouses, and Accounting.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5806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nline shopping UML component diagram example with three related subsystems - WebStore, Warehouses, and Accountin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776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deployment diagram is used to show the allocation of artifacts to nodes in the physical design of a system.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Deployment Diagrams are made up of a graph of nodes connected by communication associations to show the physical configuration of the software and hardware.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500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Essential elements of deployment diagram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Artifacts</a:t>
            </a:r>
          </a:p>
          <a:p>
            <a:pPr algn="just"/>
            <a:r>
              <a:rPr lang="en-US" dirty="0"/>
              <a:t>Artifact is a physical item that implements a portion of software design.</a:t>
            </a:r>
          </a:p>
          <a:p>
            <a:pPr algn="just"/>
            <a:r>
              <a:rPr lang="en-US" dirty="0"/>
              <a:t>It can be an source file , document or another item related to code.</a:t>
            </a:r>
          </a:p>
          <a:p>
            <a:pPr algn="just"/>
            <a:r>
              <a:rPr lang="en-US" dirty="0"/>
              <a:t>Notation of artifact consists of class rectangle name of artifact and label </a:t>
            </a:r>
            <a:r>
              <a:rPr lang="en-US" b="1" dirty="0"/>
              <a:t>&lt;&lt;artifact&gt;&gt;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51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2. Nodes</a:t>
            </a:r>
          </a:p>
          <a:p>
            <a:pPr algn="just"/>
            <a:r>
              <a:rPr lang="en-US" dirty="0"/>
              <a:t>A node is computational resource containing memory and processing on which artifacts are deployed for execution.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Notation of node three dimensional cube.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Nodes denote hardware, not software entities.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3. Connections</a:t>
            </a:r>
          </a:p>
          <a:p>
            <a:r>
              <a:rPr lang="en-US" dirty="0"/>
              <a:t>Nodes communicate via messages and signals , through communication path indicated by solid line.</a:t>
            </a:r>
          </a:p>
          <a:p>
            <a:endParaRPr lang="en-US" dirty="0"/>
          </a:p>
          <a:p>
            <a:pPr algn="just"/>
            <a:r>
              <a:rPr lang="en-US" dirty="0"/>
              <a:t>Communication paths are usually considered to be bidirectional, for unidirectional, an arrow may be added to show the direction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Each communication path may include an optional keyword label, such as «http» or «TCP/IP», that provides information about the connection.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multiplicity for each of the nodes connected via a communication path.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966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"/>
            <a:ext cx="8000999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456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2296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150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"/>
            <a:ext cx="6917871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465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transformation </a:t>
            </a:r>
            <a:r>
              <a:rPr lang="en-US" dirty="0"/>
              <a:t>aims at improving one aspect of the model (e.g., its modularity) while preserving all of its other properties (e.g., its functionality).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Transformation Activities:</a:t>
            </a:r>
          </a:p>
          <a:p>
            <a:pPr marL="514350" indent="-514350" algn="just">
              <a:buAutoNum type="arabicPeriod"/>
            </a:pPr>
            <a:r>
              <a:rPr lang="en-US" i="1" dirty="0">
                <a:solidFill>
                  <a:srgbClr val="FF0000"/>
                </a:solidFill>
              </a:rPr>
              <a:t>Optimization</a:t>
            </a:r>
          </a:p>
          <a:p>
            <a:pPr algn="just"/>
            <a:r>
              <a:rPr lang="en-US" dirty="0"/>
              <a:t>This activity addresses the performance requirements of the system model.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175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Examples</a:t>
            </a:r>
          </a:p>
          <a:p>
            <a:r>
              <a:rPr lang="en-US" dirty="0"/>
              <a:t>Reducing multiplicities </a:t>
            </a:r>
          </a:p>
          <a:p>
            <a:r>
              <a:rPr lang="en-US" dirty="0"/>
              <a:t>adding redundant associations for efficiency,</a:t>
            </a:r>
          </a:p>
          <a:p>
            <a:r>
              <a:rPr lang="en-US" dirty="0"/>
              <a:t>adding derived attributes to improve the access time to objects.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2. Realizing associations</a:t>
            </a:r>
          </a:p>
          <a:p>
            <a:r>
              <a:rPr lang="en-US" dirty="0"/>
              <a:t>map associations to source code constructs,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references and collections of references.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614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i="1" dirty="0">
                <a:solidFill>
                  <a:srgbClr val="FF0000"/>
                </a:solidFill>
              </a:rPr>
              <a:t>3. Mapping contracts to exceptions </a:t>
            </a:r>
          </a:p>
          <a:p>
            <a:pPr algn="just"/>
            <a:r>
              <a:rPr lang="en-US" dirty="0"/>
              <a:t>describe the behavior of operations when contracts are broken.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includes raising exceptions when violations are detected.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i="1" dirty="0">
                <a:solidFill>
                  <a:srgbClr val="FF0000"/>
                </a:solidFill>
              </a:rPr>
              <a:t>4. Mapping class models to a storage schema </a:t>
            </a:r>
          </a:p>
          <a:p>
            <a:pPr algn="just"/>
            <a:r>
              <a:rPr lang="en-US" dirty="0"/>
              <a:t>selected a persistent storage strategy, such as a database management system, a set of flat files, or a combination of both.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map the class model to a storage schema, such as a relational database schema.</a:t>
            </a:r>
          </a:p>
        </p:txBody>
      </p:sp>
    </p:spTree>
    <p:extLst>
      <p:ext uri="{BB962C8B-B14F-4D97-AF65-F5344CB8AC3E}">
        <p14:creationId xmlns:p14="http://schemas.microsoft.com/office/powerpoint/2010/main" val="3263384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Four types of transformations:</a:t>
            </a:r>
          </a:p>
          <a:p>
            <a:pPr marL="514350" indent="-514350">
              <a:buAutoNum type="arabicPeriod"/>
            </a:pPr>
            <a:r>
              <a:rPr lang="en-US" b="1" i="1" dirty="0">
                <a:solidFill>
                  <a:srgbClr val="FF0000"/>
                </a:solidFill>
              </a:rPr>
              <a:t>Model transformations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model transformation </a:t>
            </a:r>
            <a:r>
              <a:rPr lang="en-US" dirty="0"/>
              <a:t>is applied to an object model and results in another object model.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purpose of object model transformation is to bringing it into closer compliance with all requirements.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A transformation may add, remove, or rename classes, operations, associations, or attributes.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761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80772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999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2. Refactoring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refactoring </a:t>
            </a:r>
            <a:r>
              <a:rPr lang="en-US" dirty="0"/>
              <a:t>is a transformation of the source code that improves its readability or modifiability without changing the behavior of the system.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Refactoring aims at improving the design of a working system.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the refactoring is done in small incremental steps that are interleaved with tests.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329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model transformation of Figure shown corresponds to a sequence of three </a:t>
            </a:r>
            <a:r>
              <a:rPr lang="en-US" dirty="0" err="1"/>
              <a:t>refactorings</a:t>
            </a:r>
            <a:r>
              <a:rPr lang="en-US" dirty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278756"/>
            <a:ext cx="5867400" cy="3350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113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just"/>
            <a:r>
              <a:rPr lang="en-US" dirty="0"/>
              <a:t>The first one, Pull Up Field, moves the email field from the subclasses to the superclass User.</a:t>
            </a:r>
          </a:p>
          <a:p>
            <a:pPr algn="just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00400"/>
            <a:ext cx="65532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154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8839200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5318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second one, Pull Up Constructor Body, moves the initialization code from the subclasses to the superclass.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3276600"/>
            <a:ext cx="6934199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6487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467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4637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third and final one, Pull Up Method, moves the methods manipulating the email field from the subclasses to the superclass.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05200"/>
            <a:ext cx="5686816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845" y="5521368"/>
            <a:ext cx="5371708" cy="879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9767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Applying these three </a:t>
            </a:r>
            <a:r>
              <a:rPr lang="en-US" dirty="0" err="1"/>
              <a:t>refactorings</a:t>
            </a:r>
            <a:r>
              <a:rPr lang="en-US" dirty="0"/>
              <a:t> effectively transforms the ARENA source code in the same way the object model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72334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3. Forward Engineering</a:t>
            </a:r>
          </a:p>
          <a:p>
            <a:pPr algn="just"/>
            <a:r>
              <a:rPr lang="en-US" b="1" dirty="0"/>
              <a:t>Forward engineering </a:t>
            </a:r>
            <a:r>
              <a:rPr lang="en-US" dirty="0"/>
              <a:t>is applied to a set of model elements and results in a set of corresponding source code statements, such as a class declaration, a Java expression, or a database schema.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Purpose of forward engineering is </a:t>
            </a:r>
            <a:r>
              <a:rPr lang="en-US" b="1" dirty="0"/>
              <a:t>to maintain a strong correspondence between the object design model and the code</a:t>
            </a:r>
            <a:r>
              <a:rPr lang="en-US" dirty="0"/>
              <a:t>, and to </a:t>
            </a:r>
            <a:r>
              <a:rPr lang="en-US" b="1" dirty="0"/>
              <a:t>reduce</a:t>
            </a:r>
            <a:r>
              <a:rPr lang="en-US" dirty="0"/>
              <a:t> </a:t>
            </a:r>
            <a:r>
              <a:rPr lang="en-US" b="1" dirty="0"/>
              <a:t>implementation errors.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7252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3146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4. Reverse Engineering</a:t>
            </a:r>
          </a:p>
          <a:p>
            <a:pPr algn="just"/>
            <a:r>
              <a:rPr lang="en-US" b="1" dirty="0"/>
              <a:t>Reverse engineering </a:t>
            </a:r>
            <a:r>
              <a:rPr lang="en-US" dirty="0"/>
              <a:t>is applied to a set of source code elements and results in a set of model elements.</a:t>
            </a:r>
          </a:p>
          <a:p>
            <a:pPr algn="just"/>
            <a:endParaRPr lang="en-US" i="1" dirty="0">
              <a:solidFill>
                <a:srgbClr val="FF0000"/>
              </a:solidFill>
            </a:endParaRPr>
          </a:p>
          <a:p>
            <a:pPr algn="just"/>
            <a:r>
              <a:rPr lang="en-US" b="1" dirty="0"/>
              <a:t>purpose</a:t>
            </a:r>
            <a:r>
              <a:rPr lang="en-US" dirty="0"/>
              <a:t> - to recreate the model for an existing system, either because the model was lost or never created, or because it became out of sync with the source code.</a:t>
            </a:r>
          </a:p>
          <a:p>
            <a:pPr algn="just"/>
            <a:endParaRPr lang="en-US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Reverse engineering is essentially an inverse transformation of forward engineering.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63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Transformation Principles</a:t>
            </a:r>
          </a:p>
          <a:p>
            <a:pPr marL="0" indent="0" algn="just">
              <a:buNone/>
            </a:pPr>
            <a:r>
              <a:rPr lang="en-US" dirty="0"/>
              <a:t>A transformation aims at improving the design of the system with respect to some criterion.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To avoid introducing new errors, all transformations should follow certain principles:</a:t>
            </a:r>
          </a:p>
        </p:txBody>
      </p:sp>
    </p:spTree>
    <p:extLst>
      <p:ext uri="{BB962C8B-B14F-4D97-AF65-F5344CB8AC3E}">
        <p14:creationId xmlns:p14="http://schemas.microsoft.com/office/powerpoint/2010/main" val="13650383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AutoNum type="arabicPeriod"/>
            </a:pPr>
            <a:r>
              <a:rPr lang="en-US" b="1" i="1" dirty="0"/>
              <a:t>Each transformation must address a single criteria</a:t>
            </a:r>
            <a:r>
              <a:rPr lang="en-US" i="1" dirty="0"/>
              <a:t>.</a:t>
            </a:r>
          </a:p>
          <a:p>
            <a:pPr marL="514350" indent="-514350" algn="just">
              <a:buAutoNum type="arabicPeriod"/>
            </a:pPr>
            <a:endParaRPr lang="en-US" dirty="0"/>
          </a:p>
          <a:p>
            <a:pPr marL="0" indent="0" algn="just">
              <a:buNone/>
            </a:pPr>
            <a:r>
              <a:rPr lang="en-US" i="1" dirty="0"/>
              <a:t>2. </a:t>
            </a:r>
            <a:r>
              <a:rPr lang="en-US" b="1" i="1" dirty="0"/>
              <a:t>Each transformation must be local</a:t>
            </a:r>
            <a:r>
              <a:rPr lang="en-US" dirty="0"/>
              <a:t>. A transformation should change only a few methods or a few classes at once.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lang="en-US" b="1" i="1" dirty="0"/>
              <a:t>Each transformation must be applied in isolation to other changes</a:t>
            </a:r>
            <a:r>
              <a:rPr lang="en-US" b="1" dirty="0"/>
              <a:t>.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i="1" dirty="0"/>
              <a:t>4. Each transformation must be followed by a validation step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3190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Mapping Associations to Collections</a:t>
            </a:r>
          </a:p>
          <a:p>
            <a:pPr marL="0" indent="0">
              <a:buNone/>
            </a:pPr>
            <a:r>
              <a:rPr lang="en-US" b="1" dirty="0"/>
              <a:t>1. Unidirectional one-to-one associations.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61722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07043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Bidirectional one-to-one associations.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2200"/>
            <a:ext cx="7010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2624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One-to-many associations.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7543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17044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Many-to-many associations.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8001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959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Mapping Contracts to Exceptions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Checking preconditions. </a:t>
            </a:r>
          </a:p>
          <a:p>
            <a:pPr algn="just"/>
            <a:r>
              <a:rPr lang="en-US" dirty="0"/>
              <a:t>Preconditions should be checked at the beginning of the method, before any processing is done.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There should be a test that checks if the precondition is true and raises an exception otherwise.</a:t>
            </a:r>
          </a:p>
          <a:p>
            <a:pPr algn="just"/>
            <a:endParaRPr lang="en-US" dirty="0"/>
          </a:p>
          <a:p>
            <a:r>
              <a:rPr lang="en-US" dirty="0"/>
              <a:t>Each precondition corresponds to a different exception</a:t>
            </a:r>
          </a:p>
        </p:txBody>
      </p:sp>
    </p:spTree>
    <p:extLst>
      <p:ext uri="{BB962C8B-B14F-4D97-AF65-F5344CB8AC3E}">
        <p14:creationId xmlns:p14="http://schemas.microsoft.com/office/powerpoint/2010/main" val="3819181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2. Checking post conditions. </a:t>
            </a:r>
          </a:p>
          <a:p>
            <a:pPr algn="just"/>
            <a:r>
              <a:rPr lang="en-US" dirty="0"/>
              <a:t>Post conditions should be checked at the end of the method, after all the work has been accomplished and the state changes are finalized.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Post condition corresponds to a Boolean expression in an if statement that raises an exception if the contract is violated.</a:t>
            </a:r>
          </a:p>
        </p:txBody>
      </p:sp>
    </p:spTree>
    <p:extLst>
      <p:ext uri="{BB962C8B-B14F-4D97-AF65-F5344CB8AC3E}">
        <p14:creationId xmlns:p14="http://schemas.microsoft.com/office/powerpoint/2010/main" val="26134477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3. Checking invariants. </a:t>
            </a:r>
          </a:p>
          <a:p>
            <a:pPr algn="just"/>
            <a:r>
              <a:rPr lang="en-US" dirty="0"/>
              <a:t>When treating each operation contract individually, invariants are checked at the same time as post conditions.</a:t>
            </a:r>
          </a:p>
          <a:p>
            <a:pPr marL="0" indent="0" algn="just">
              <a:buNone/>
            </a:pPr>
            <a:r>
              <a:rPr lang="en-US" b="1" dirty="0"/>
              <a:t>4. Dealing with inheritance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The checking code for preconditions and post conditions should be encapsulated into separate methods that can be called from subclasses.</a:t>
            </a:r>
          </a:p>
        </p:txBody>
      </p:sp>
    </p:spTree>
    <p:extLst>
      <p:ext uri="{BB962C8B-B14F-4D97-AF65-F5344CB8AC3E}">
        <p14:creationId xmlns:p14="http://schemas.microsoft.com/office/powerpoint/2010/main" val="27883741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Coding effort. </a:t>
            </a:r>
          </a:p>
          <a:p>
            <a:pPr algn="just"/>
            <a:r>
              <a:rPr lang="en-US" dirty="0"/>
              <a:t>In many cases, the code required for checking preconditions and post conditions is longer and more complex than the code accomplishing the real work.</a:t>
            </a:r>
          </a:p>
          <a:p>
            <a:pPr marL="0" indent="0" algn="just">
              <a:buNone/>
            </a:pPr>
            <a:r>
              <a:rPr lang="en-US" b="1" dirty="0"/>
              <a:t>6. Increased opportunities for defects. </a:t>
            </a:r>
          </a:p>
          <a:p>
            <a:pPr algn="just"/>
            <a:r>
              <a:rPr lang="en-US" dirty="0"/>
              <a:t>Checking code can also include errors, increasing testing effort.</a:t>
            </a:r>
          </a:p>
        </p:txBody>
      </p:sp>
    </p:spTree>
    <p:extLst>
      <p:ext uri="{BB962C8B-B14F-4D97-AF65-F5344CB8AC3E}">
        <p14:creationId xmlns:p14="http://schemas.microsoft.com/office/powerpoint/2010/main" val="12492370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7. Performances drawback. </a:t>
            </a:r>
          </a:p>
          <a:p>
            <a:pPr marL="0" indent="0" algn="just">
              <a:buNone/>
            </a:pPr>
            <a:r>
              <a:rPr lang="en-US" dirty="0"/>
              <a:t>Checking systematically all contracts can significantly slow down the code, sometimes by an order of magnitude. Although correctness is always a design goal, response time and throughput design goals would not be met.</a:t>
            </a:r>
          </a:p>
        </p:txBody>
      </p:sp>
    </p:spTree>
    <p:extLst>
      <p:ext uri="{BB962C8B-B14F-4D97-AF65-F5344CB8AC3E}">
        <p14:creationId xmlns:p14="http://schemas.microsoft.com/office/powerpoint/2010/main" val="37459331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7863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3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190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1724</Words>
  <Application>Microsoft Office PowerPoint</Application>
  <PresentationFormat>On-screen Show (4:3)</PresentationFormat>
  <Paragraphs>219</Paragraphs>
  <Slides>60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CHAPTER 4</vt:lpstr>
      <vt:lpstr>PowerPoint Presentation</vt:lpstr>
      <vt:lpstr>Version Control</vt:lpstr>
      <vt:lpstr>Version Control</vt:lpstr>
      <vt:lpstr>Version Control</vt:lpstr>
      <vt:lpstr>Version Control</vt:lpstr>
      <vt:lpstr>Change Control</vt:lpstr>
      <vt:lpstr>Change Control</vt:lpstr>
      <vt:lpstr>Change Control</vt:lpstr>
      <vt:lpstr>Change Control</vt:lpstr>
      <vt:lpstr>PowerPoint Presentation</vt:lpstr>
      <vt:lpstr>Component diagram</vt:lpstr>
      <vt:lpstr>Component diagram</vt:lpstr>
      <vt:lpstr>Component diagram</vt:lpstr>
      <vt:lpstr>Component diagram</vt:lpstr>
      <vt:lpstr>PowerPoint Presentation</vt:lpstr>
      <vt:lpstr>PowerPoint Presentation</vt:lpstr>
      <vt:lpstr>Component diagram</vt:lpstr>
      <vt:lpstr>PowerPoint Presentation</vt:lpstr>
      <vt:lpstr>PowerPoint Presentation</vt:lpstr>
      <vt:lpstr>Component diagram</vt:lpstr>
      <vt:lpstr>Component diagram</vt:lpstr>
      <vt:lpstr>Component diagram</vt:lpstr>
      <vt:lpstr>PowerPoint Presentation</vt:lpstr>
      <vt:lpstr>Deployment Diagram</vt:lpstr>
      <vt:lpstr>Deployment Diagram</vt:lpstr>
      <vt:lpstr>Deployment Diagram</vt:lpstr>
      <vt:lpstr>Deployment Diagram</vt:lpstr>
      <vt:lpstr>PowerPoint Presentation</vt:lpstr>
      <vt:lpstr>PowerPoint Presentation</vt:lpstr>
      <vt:lpstr>PowerPoint Presentation</vt:lpstr>
      <vt:lpstr>Mapping Models to Code</vt:lpstr>
      <vt:lpstr>Mapping Models to Code</vt:lpstr>
      <vt:lpstr>Mapping Models to Code</vt:lpstr>
      <vt:lpstr>Mapping Models to Code</vt:lpstr>
      <vt:lpstr>PowerPoint Presentation</vt:lpstr>
      <vt:lpstr>Mapping Models to Code</vt:lpstr>
      <vt:lpstr>Mapping Models to Code</vt:lpstr>
      <vt:lpstr>Mapping Models to Code</vt:lpstr>
      <vt:lpstr>Mapping Models to Code</vt:lpstr>
      <vt:lpstr>Mapping Models to Code</vt:lpstr>
      <vt:lpstr>PowerPoint Presentation</vt:lpstr>
      <vt:lpstr>Mapping Models to Code</vt:lpstr>
      <vt:lpstr>Mapping Models to Code</vt:lpstr>
      <vt:lpstr>Mapping Models to Code</vt:lpstr>
      <vt:lpstr>PowerPoint Presentation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poonam madam</dc:creator>
  <cp:lastModifiedBy>Aaryan Sharma</cp:lastModifiedBy>
  <cp:revision>117</cp:revision>
  <dcterms:created xsi:type="dcterms:W3CDTF">2016-09-28T13:54:18Z</dcterms:created>
  <dcterms:modified xsi:type="dcterms:W3CDTF">2025-11-13T12:54:36Z</dcterms:modified>
</cp:coreProperties>
</file>