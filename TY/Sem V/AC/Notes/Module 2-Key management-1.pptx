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301" r:id="rId3"/>
    <p:sldId id="302" r:id="rId4"/>
    <p:sldId id="303" r:id="rId5"/>
    <p:sldId id="304" r:id="rId6"/>
    <p:sldId id="305" r:id="rId7"/>
    <p:sldId id="331" r:id="rId8"/>
    <p:sldId id="332" r:id="rId9"/>
    <p:sldId id="306" r:id="rId10"/>
    <p:sldId id="307" r:id="rId11"/>
    <p:sldId id="334" r:id="rId12"/>
    <p:sldId id="335" r:id="rId13"/>
    <p:sldId id="333" r:id="rId14"/>
    <p:sldId id="308" r:id="rId15"/>
    <p:sldId id="309" r:id="rId16"/>
    <p:sldId id="336" r:id="rId17"/>
    <p:sldId id="337" r:id="rId18"/>
    <p:sldId id="338" r:id="rId19"/>
    <p:sldId id="339" r:id="rId20"/>
    <p:sldId id="340" r:id="rId21"/>
    <p:sldId id="357" r:id="rId22"/>
    <p:sldId id="310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11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12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13" r:id="rId53"/>
    <p:sldId id="314" r:id="rId54"/>
    <p:sldId id="319" r:id="rId55"/>
    <p:sldId id="315" r:id="rId56"/>
    <p:sldId id="316" r:id="rId57"/>
    <p:sldId id="317" r:id="rId58"/>
    <p:sldId id="318" r:id="rId59"/>
    <p:sldId id="320" r:id="rId60"/>
    <p:sldId id="321" r:id="rId61"/>
    <p:sldId id="322" r:id="rId62"/>
    <p:sldId id="323" r:id="rId63"/>
    <p:sldId id="326" r:id="rId64"/>
    <p:sldId id="369" r:id="rId65"/>
    <p:sldId id="370" r:id="rId66"/>
    <p:sldId id="371" r:id="rId67"/>
    <p:sldId id="327" r:id="rId68"/>
    <p:sldId id="324" r:id="rId69"/>
    <p:sldId id="328" r:id="rId70"/>
    <p:sldId id="329" r:id="rId71"/>
    <p:sldId id="330" r:id="rId72"/>
    <p:sldId id="300" r:id="rId73"/>
  </p:sldIdLst>
  <p:sldSz cx="9144000" cy="6858000" type="screen4x3"/>
  <p:notesSz cx="6858000" cy="9144000"/>
  <p:embeddedFontLst>
    <p:embeddedFont>
      <p:font typeface="Fira Sans" panose="020B0604020202020204" charset="0"/>
      <p:regular r:id="rId75"/>
      <p:bold r:id="rId76"/>
      <p:italic r:id="rId77"/>
      <p:boldItalic r:id="rId78"/>
    </p:embeddedFont>
    <p:embeddedFont>
      <p:font typeface="Marcellus" panose="020B0604020202020204" charset="0"/>
      <p:regular r:id="rId79"/>
    </p:embeddedFont>
    <p:embeddedFont>
      <p:font typeface="Calibri" panose="020F0502020204030204" pitchFamily="34" charset="0"/>
      <p:regular r:id="rId80"/>
      <p:bold r:id="rId81"/>
      <p:italic r:id="rId82"/>
      <p:boldItalic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9" roundtripDataSignature="AMtx7mi+Va9nyG3wRVfGq3RblIefrATA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362B229-3FED-4026-8406-B81C52CA36E7}">
  <a:tblStyle styleId="{0362B229-3FED-4026-8406-B81C52CA36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00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199" Type="http://customschemas.google.com/relationships/presentationmetadata" Target="metadata"/><Relationship Id="rId203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202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3" Type="http://schemas.openxmlformats.org/officeDocument/2006/relationships/slide" Target="slides/slide2.xml"/><Relationship Id="rId201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74069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ubTitle" idx="1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body" idx="1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728983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1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681575" y="1606006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03704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3"/>
          </p:nvPr>
        </p:nvSpPr>
        <p:spPr>
          <a:xfrm>
            <a:off x="4803013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body" idx="4"/>
          </p:nvPr>
        </p:nvSpPr>
        <p:spPr>
          <a:xfrm>
            <a:off x="4803013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3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3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1-</a:t>
            </a: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/>
        </p:nvSpPr>
        <p:spPr>
          <a:xfrm>
            <a:off x="1148443" y="294320"/>
            <a:ext cx="6847115" cy="7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2"/>
          <p:cNvSpPr txBox="1"/>
          <p:nvPr/>
        </p:nvSpPr>
        <p:spPr>
          <a:xfrm>
            <a:off x="324390" y="6373654"/>
            <a:ext cx="14559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2/10/2023</a:t>
            </a:r>
            <a:endParaRPr sz="1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22"/>
          <p:cNvSpPr txBox="1"/>
          <p:nvPr/>
        </p:nvSpPr>
        <p:spPr>
          <a:xfrm>
            <a:off x="8240198" y="6347051"/>
            <a:ext cx="6014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2"/>
          <p:cNvCxnSpPr/>
          <p:nvPr/>
        </p:nvCxnSpPr>
        <p:spPr>
          <a:xfrm>
            <a:off x="173929" y="524443"/>
            <a:ext cx="15020" cy="5873873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22"/>
          <p:cNvCxnSpPr/>
          <p:nvPr/>
        </p:nvCxnSpPr>
        <p:spPr>
          <a:xfrm>
            <a:off x="8958782" y="135448"/>
            <a:ext cx="14374" cy="610095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15;p22"/>
          <p:cNvCxnSpPr/>
          <p:nvPr/>
        </p:nvCxnSpPr>
        <p:spPr>
          <a:xfrm>
            <a:off x="429274" y="135448"/>
            <a:ext cx="8536694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22"/>
          <p:cNvCxnSpPr/>
          <p:nvPr/>
        </p:nvCxnSpPr>
        <p:spPr>
          <a:xfrm rot="-5400000" flipH="1">
            <a:off x="162549" y="6424715"/>
            <a:ext cx="293100" cy="240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17;p22"/>
          <p:cNvCxnSpPr/>
          <p:nvPr/>
        </p:nvCxnSpPr>
        <p:spPr>
          <a:xfrm rot="5400000">
            <a:off x="8611957" y="6330007"/>
            <a:ext cx="454800" cy="267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" name="Google Shape;18;p2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54" y="135448"/>
            <a:ext cx="425219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29588" y="135448"/>
            <a:ext cx="153343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2" descr="A close up of a sign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21645" y="6043825"/>
            <a:ext cx="651512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2" descr="A picture containing drawing&#10;&#10;Description automatically generated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4" y="6214968"/>
            <a:ext cx="1991676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rot="5400000">
            <a:off x="4987623" y="3550281"/>
            <a:ext cx="385984" cy="628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rot="5400000">
            <a:off x="5093663" y="3283949"/>
            <a:ext cx="173904" cy="628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stechnica.com/tech-policy/2014/08/john-walker-the-navy-spy-who-defined-crypto-betrayal-dead-at-77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755576" y="66611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IN" sz="54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Key management</a:t>
            </a:r>
            <a: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/>
            </a:r>
            <a:b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/>
            </a:r>
            <a:b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/>
            </a:r>
            <a:br>
              <a:rPr lang="en-IN" sz="5400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54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115616" y="3676315"/>
            <a:ext cx="773433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Ms. Swati Mali</a:t>
            </a:r>
            <a:endParaRPr sz="20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swatimali@somaiya.edu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Assistant Professor,  Department of Computer Engineering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K. J. Somaiya College of Engineering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IN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Somaiya Vidyavihar University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descr="A picture containing drawing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930" y="2219"/>
            <a:ext cx="1991676" cy="66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management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Why build a strong cryptanalysis machine when someone can be bribed with a cheaper and easier deal?</a:t>
            </a:r>
          </a:p>
          <a:p>
            <a:pPr marL="50800" indent="0">
              <a:buNone/>
            </a:pPr>
            <a:r>
              <a:rPr lang="en-IN" dirty="0">
                <a:hlinkClick r:id="rId2"/>
              </a:rPr>
              <a:t>https://arstechnica.com/tech-policy/2014/08/john-walker-the-navy-spy-who-defined-crypto-betrayal-dead-at-77</a:t>
            </a:r>
            <a:r>
              <a:rPr lang="en-IN" dirty="0" smtClean="0">
                <a:hlinkClick r:id="rId2"/>
              </a:rPr>
              <a:t>/</a:t>
            </a:r>
            <a:endParaRPr lang="en-IN" dirty="0" smtClean="0"/>
          </a:p>
          <a:p>
            <a:endParaRPr lang="en-IN" dirty="0"/>
          </a:p>
          <a:p>
            <a:r>
              <a:rPr lang="en-US" dirty="0"/>
              <a:t>Ames, a 31-year CIA employee, and his wife, Rosario, were arrested Feb. 21 and charged with taking $1.5 million from the Soviets in exchange for classified </a:t>
            </a:r>
            <a:r>
              <a:rPr lang="en-US" dirty="0" smtClean="0"/>
              <a:t>information </a:t>
            </a:r>
            <a:endParaRPr lang="en-US" dirty="0" smtClean="0"/>
          </a:p>
          <a:p>
            <a:pPr marL="50800" indent="0">
              <a:buNone/>
            </a:pPr>
            <a:r>
              <a:rPr lang="en-IN" sz="2200" dirty="0" smtClean="0"/>
              <a:t>https</a:t>
            </a:r>
            <a:r>
              <a:rPr lang="en-IN" sz="2200" dirty="0"/>
              <a:t>://</a:t>
            </a:r>
            <a:r>
              <a:rPr lang="en-IN" sz="2200" dirty="0" smtClean="0"/>
              <a:t>library.cqpress.com/cqalmanac/document.php?id=cqal94-1102497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229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DiskLock</a:t>
            </a:r>
            <a:r>
              <a:rPr lang="en-US" dirty="0"/>
              <a:t> program for </a:t>
            </a:r>
            <a:r>
              <a:rPr lang="en-US" dirty="0" smtClean="0"/>
              <a:t>Macintosh!!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DiskLock</a:t>
            </a:r>
            <a:r>
              <a:rPr lang="en-US" dirty="0"/>
              <a:t> program for Macintosh (version 2.1), sold at most software stores, </a:t>
            </a:r>
            <a:r>
              <a:rPr lang="en-US" dirty="0" smtClean="0"/>
              <a:t>claimed the </a:t>
            </a:r>
            <a:r>
              <a:rPr lang="en-US" dirty="0"/>
              <a:t>security of DES encryption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encrypts files using DES.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dirty="0" err="1"/>
              <a:t>DiskLock</a:t>
            </a:r>
            <a:r>
              <a:rPr lang="en-US" dirty="0"/>
              <a:t> stores the DES key with the encrypted file.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know where </a:t>
            </a:r>
            <a:r>
              <a:rPr lang="en-US" dirty="0" smtClean="0"/>
              <a:t>to look </a:t>
            </a:r>
            <a:r>
              <a:rPr lang="en-US" dirty="0"/>
              <a:t>for the key, and want to read a file encrypted with </a:t>
            </a:r>
            <a:r>
              <a:rPr lang="en-US" dirty="0" err="1"/>
              <a:t>DiskLock’s</a:t>
            </a:r>
            <a:r>
              <a:rPr lang="en-US" dirty="0"/>
              <a:t> DES, recover the key from </a:t>
            </a:r>
            <a:r>
              <a:rPr lang="en-US" dirty="0" smtClean="0"/>
              <a:t>the encrypted </a:t>
            </a:r>
            <a:r>
              <a:rPr lang="en-US" dirty="0"/>
              <a:t>file and then decrypt the file.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doesn’t matter that this program uses DES </a:t>
            </a:r>
            <a:r>
              <a:rPr lang="en-US" dirty="0" smtClean="0"/>
              <a:t>encryption—the implementation </a:t>
            </a:r>
            <a:r>
              <a:rPr lang="en-US" dirty="0"/>
              <a:t>is completely insecure.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41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Generating keys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security of an algorithm rests in the key.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you’re using a cryptographically weak process </a:t>
            </a:r>
            <a:r>
              <a:rPr lang="en-US" dirty="0" smtClean="0"/>
              <a:t>to generate </a:t>
            </a:r>
            <a:r>
              <a:rPr lang="en-US" dirty="0"/>
              <a:t>keys, then </a:t>
            </a:r>
            <a:r>
              <a:rPr lang="en-US" dirty="0" smtClean="0"/>
              <a:t>the whole </a:t>
            </a:r>
            <a:r>
              <a:rPr lang="en-US" dirty="0"/>
              <a:t>system is weak. </a:t>
            </a:r>
            <a:endParaRPr lang="en-US" dirty="0" smtClean="0"/>
          </a:p>
          <a:p>
            <a:r>
              <a:rPr lang="en-US" dirty="0" smtClean="0"/>
              <a:t>Eve </a:t>
            </a:r>
            <a:r>
              <a:rPr lang="en-US" dirty="0"/>
              <a:t>need not cryptanalyze </a:t>
            </a:r>
            <a:r>
              <a:rPr lang="en-US" dirty="0" smtClean="0"/>
              <a:t>the encryption algorithm</a:t>
            </a:r>
            <a:r>
              <a:rPr lang="en-US" dirty="0"/>
              <a:t>; she can cryptanalyze </a:t>
            </a:r>
            <a:r>
              <a:rPr lang="en-US" dirty="0" smtClean="0"/>
              <a:t>the key </a:t>
            </a:r>
            <a:r>
              <a:rPr lang="en-US" dirty="0"/>
              <a:t>generation algorithm.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35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keys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Keyspaces</a:t>
            </a:r>
            <a:endParaRPr lang="en-IN" dirty="0" smtClean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117435"/>
            <a:ext cx="8235516" cy="284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508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keys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Poor Key </a:t>
            </a:r>
            <a:r>
              <a:rPr lang="en-IN" dirty="0" smtClean="0"/>
              <a:t>Choices</a:t>
            </a:r>
          </a:p>
          <a:p>
            <a:pPr lvl="1"/>
            <a:r>
              <a:rPr lang="en-IN" dirty="0"/>
              <a:t>dictionary </a:t>
            </a:r>
            <a:r>
              <a:rPr lang="en-IN" dirty="0" smtClean="0"/>
              <a:t>attack</a:t>
            </a:r>
          </a:p>
          <a:p>
            <a:r>
              <a:rPr lang="en-IN" dirty="0"/>
              <a:t>Random </a:t>
            </a:r>
            <a:r>
              <a:rPr lang="en-IN" dirty="0" smtClean="0"/>
              <a:t>Keys</a:t>
            </a:r>
          </a:p>
          <a:p>
            <a:r>
              <a:rPr lang="en-IN" dirty="0"/>
              <a:t>Pass </a:t>
            </a:r>
            <a:r>
              <a:rPr lang="en-IN" dirty="0" smtClean="0"/>
              <a:t>Phrases</a:t>
            </a:r>
          </a:p>
          <a:p>
            <a:r>
              <a:rPr lang="en-IN" dirty="0"/>
              <a:t>X9.17 Key Generation</a:t>
            </a:r>
          </a:p>
        </p:txBody>
      </p:sp>
    </p:spTree>
    <p:extLst>
      <p:ext uri="{BB962C8B-B14F-4D97-AF65-F5344CB8AC3E}">
        <p14:creationId xmlns:p14="http://schemas.microsoft.com/office/powerpoint/2010/main" val="163271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</a:t>
            </a:r>
            <a:r>
              <a:rPr lang="en-US" b="1" dirty="0" err="1"/>
              <a:t>Keyspace</a:t>
            </a:r>
            <a:r>
              <a:rPr lang="en-US" b="1" dirty="0" smtClean="0"/>
              <a:t>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err="1"/>
              <a:t>keyspace</a:t>
            </a:r>
            <a:r>
              <a:rPr lang="en-US" dirty="0"/>
              <a:t> is the set of all valid keys that an algorithm can use.</a:t>
            </a:r>
          </a:p>
          <a:p>
            <a:r>
              <a:rPr lang="en-US" dirty="0"/>
              <a:t>Example: If you use 128-bit keys, the </a:t>
            </a:r>
            <a:r>
              <a:rPr lang="en-US" dirty="0" err="1"/>
              <a:t>keyspace</a:t>
            </a:r>
            <a:r>
              <a:rPr lang="en-US" dirty="0"/>
              <a:t> has 2^128 possible keys.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56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Makes a </a:t>
            </a:r>
            <a:r>
              <a:rPr lang="en-US" b="1" dirty="0" err="1"/>
              <a:t>Keyspace</a:t>
            </a:r>
            <a:r>
              <a:rPr lang="en-US" b="1" dirty="0"/>
              <a:t> Linear vs. </a:t>
            </a:r>
            <a:r>
              <a:rPr lang="en-US" b="1" dirty="0" smtClean="0"/>
              <a:t>Nonlinear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Linear </a:t>
            </a:r>
            <a:r>
              <a:rPr lang="en-US" b="1" dirty="0" err="1"/>
              <a:t>Keyspace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If small changes in the key result in predictable or proportional changes in the output (</a:t>
            </a:r>
            <a:r>
              <a:rPr lang="en-US" dirty="0" err="1"/>
              <a:t>ciphertext</a:t>
            </a:r>
            <a:r>
              <a:rPr lang="en-US" dirty="0"/>
              <a:t>), the system is said to be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Often </a:t>
            </a:r>
            <a:r>
              <a:rPr lang="en-US" b="1" dirty="0"/>
              <a:t>insecure</a:t>
            </a:r>
            <a:r>
              <a:rPr lang="en-US" dirty="0"/>
              <a:t>, as it enables attacks like </a:t>
            </a:r>
            <a:r>
              <a:rPr lang="en-US" b="1" dirty="0"/>
              <a:t>linear cryptanalysis</a:t>
            </a:r>
            <a:r>
              <a:rPr lang="en-US" dirty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Nonlinear </a:t>
            </a:r>
            <a:r>
              <a:rPr lang="en-US" b="1" dirty="0" err="1"/>
              <a:t>Keyspace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The relationship between the key and the cryptographic output is </a:t>
            </a:r>
            <a:r>
              <a:rPr lang="en-US" b="1" dirty="0"/>
              <a:t>non-predictable</a:t>
            </a:r>
            <a:r>
              <a:rPr lang="en-US" dirty="0"/>
              <a:t>, even with small changes.</a:t>
            </a:r>
          </a:p>
          <a:p>
            <a:pPr lvl="1"/>
            <a:r>
              <a:rPr lang="en-US" dirty="0"/>
              <a:t>Ensures that attackers cannot "interpolate" or guess keys using algebraic or statistical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49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Nonlinear </a:t>
            </a:r>
            <a:r>
              <a:rPr lang="en-IN" dirty="0" err="1" smtClean="0"/>
              <a:t>Keyspaces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All the </a:t>
            </a:r>
            <a:r>
              <a:rPr lang="en-US" dirty="0"/>
              <a:t>keys are not equally strong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 an </a:t>
            </a:r>
            <a:r>
              <a:rPr lang="en-US" dirty="0"/>
              <a:t>algorithm such that certain keys are stronger than others</a:t>
            </a:r>
            <a:r>
              <a:rPr lang="en-US" dirty="0" smtClean="0"/>
              <a:t>.</a:t>
            </a:r>
          </a:p>
          <a:p>
            <a:r>
              <a:rPr lang="en-US" dirty="0"/>
              <a:t>Avoid predictable key patterns to prevent attacks like brute force and dictionary attacks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works if: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the algorithm is secret and the enemy can’t reverse-engineer it, </a:t>
            </a:r>
            <a:endParaRPr lang="en-US" dirty="0" smtClean="0"/>
          </a:p>
          <a:p>
            <a:pPr lvl="1"/>
            <a:r>
              <a:rPr lang="en-US" dirty="0" smtClean="0"/>
              <a:t>or </a:t>
            </a:r>
            <a:r>
              <a:rPr lang="en-US" dirty="0"/>
              <a:t>if the </a:t>
            </a:r>
            <a:r>
              <a:rPr lang="en-US" dirty="0" smtClean="0"/>
              <a:t>difference in </a:t>
            </a:r>
            <a:r>
              <a:rPr lang="en-US" dirty="0"/>
              <a:t>key strength is subtle enough that the enemy can’t figure it out.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NSA did this with the </a:t>
            </a:r>
            <a:r>
              <a:rPr lang="en-US" dirty="0" smtClean="0"/>
              <a:t>secret algorithms </a:t>
            </a:r>
            <a:r>
              <a:rPr lang="en-US" dirty="0"/>
              <a:t>in their Overtake modules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54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Nonlinear </a:t>
            </a:r>
            <a:r>
              <a:rPr lang="en-IN" dirty="0" err="1"/>
              <a:t>Keyspaces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nonlinear </a:t>
            </a:r>
            <a:r>
              <a:rPr lang="en-US" b="1" dirty="0" err="1"/>
              <a:t>keyspace</a:t>
            </a:r>
            <a:r>
              <a:rPr lang="en-US" dirty="0"/>
              <a:t> ensures that keys do not produce outputs in a predictable or algebraically simple way, making the system robust against mathematical attacks.</a:t>
            </a:r>
          </a:p>
          <a:p>
            <a:r>
              <a:rPr lang="en-US" dirty="0"/>
              <a:t>It's a fundamental </a:t>
            </a:r>
            <a:r>
              <a:rPr lang="en-US" b="1" dirty="0"/>
              <a:t>design principle in modern cryptography</a:t>
            </a:r>
            <a:r>
              <a:rPr lang="en-US" dirty="0"/>
              <a:t> — not a specific algorithm, but a property essential for secure key generation and cryptographic strength.</a:t>
            </a:r>
          </a:p>
        </p:txBody>
      </p:sp>
    </p:spTree>
    <p:extLst>
      <p:ext uri="{BB962C8B-B14F-4D97-AF65-F5344CB8AC3E}">
        <p14:creationId xmlns:p14="http://schemas.microsoft.com/office/powerpoint/2010/main" val="161433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323" y="214817"/>
            <a:ext cx="8139641" cy="874951"/>
          </a:xfrm>
        </p:spPr>
        <p:txBody>
          <a:bodyPr/>
          <a:lstStyle/>
          <a:p>
            <a:r>
              <a:rPr lang="en-IN" dirty="0" smtClean="0"/>
              <a:t>Create non-linear </a:t>
            </a:r>
            <a:r>
              <a:rPr lang="en-IN" dirty="0" err="1" smtClean="0"/>
              <a:t>keyspace</a:t>
            </a:r>
            <a:r>
              <a:rPr lang="en-IN" dirty="0" smtClean="0"/>
              <a:t> </a:t>
            </a:r>
            <a:r>
              <a:rPr lang="en-US" b="1" dirty="0" smtClean="0"/>
              <a:t>Using Nonlinear </a:t>
            </a:r>
            <a:r>
              <a:rPr lang="en-US" b="1" dirty="0"/>
              <a:t>Mathematical Structures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04" y="1324629"/>
            <a:ext cx="8229600" cy="4951480"/>
          </a:xfrm>
        </p:spPr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en-US" b="1" dirty="0" smtClean="0"/>
              <a:t>a) </a:t>
            </a:r>
            <a:r>
              <a:rPr lang="en-US" b="1" dirty="0"/>
              <a:t>Elliptic Curve Groups</a:t>
            </a:r>
          </a:p>
          <a:p>
            <a:pPr lvl="1"/>
            <a:r>
              <a:rPr lang="en-US" dirty="0"/>
              <a:t>Base cryptographic operations (like scalar multiplication) on elliptic curves over finite fields.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keyspace</a:t>
            </a:r>
            <a:r>
              <a:rPr lang="en-US" dirty="0"/>
              <a:t> is the set of scalars k such that public key = k × G.</a:t>
            </a:r>
          </a:p>
          <a:p>
            <a:pPr lvl="1"/>
            <a:r>
              <a:rPr lang="en-US" dirty="0"/>
              <a:t>This space is nonlinear due to the elliptic curve point addition rules.</a:t>
            </a:r>
          </a:p>
          <a:p>
            <a:pPr lvl="1"/>
            <a:r>
              <a:rPr lang="en-US" dirty="0"/>
              <a:t>✅ </a:t>
            </a:r>
            <a:r>
              <a:rPr lang="en-US" b="1" dirty="0"/>
              <a:t>Used in</a:t>
            </a:r>
            <a:r>
              <a:rPr lang="en-US" dirty="0"/>
              <a:t>: ECC (Elliptic Curve Cryptography), ECDSA, </a:t>
            </a:r>
            <a:r>
              <a:rPr lang="en-US" dirty="0" smtClean="0"/>
              <a:t>ECDH</a:t>
            </a:r>
          </a:p>
          <a:p>
            <a:pPr marL="50800" indent="0">
              <a:buNone/>
            </a:pPr>
            <a:r>
              <a:rPr lang="en-IN" b="1" dirty="0"/>
              <a:t>b) Multivariate Polynomial Systems</a:t>
            </a:r>
          </a:p>
          <a:p>
            <a:pPr lvl="1"/>
            <a:r>
              <a:rPr lang="en-IN" dirty="0"/>
              <a:t>Use sets of </a:t>
            </a:r>
            <a:r>
              <a:rPr lang="en-IN" b="1" dirty="0"/>
              <a:t>nonlinear equations</a:t>
            </a:r>
            <a:r>
              <a:rPr lang="en-IN" dirty="0"/>
              <a:t> over finite fields.</a:t>
            </a:r>
          </a:p>
          <a:p>
            <a:pPr lvl="1"/>
            <a:r>
              <a:rPr lang="en-IN" dirty="0"/>
              <a:t>Public and private keys are generated via nonlinear mappings.</a:t>
            </a:r>
          </a:p>
          <a:p>
            <a:pPr lvl="1"/>
            <a:r>
              <a:rPr lang="en-IN" dirty="0"/>
              <a:t>✅ </a:t>
            </a:r>
            <a:r>
              <a:rPr lang="en-IN" b="1" dirty="0"/>
              <a:t>Used in</a:t>
            </a:r>
            <a:r>
              <a:rPr lang="en-IN" dirty="0"/>
              <a:t>: Rainbow, HFE (Hidden Field Equations), other post-quantum schemes.</a:t>
            </a:r>
          </a:p>
          <a:p>
            <a:pPr marL="50800" indent="0">
              <a:buNone/>
            </a:pPr>
            <a:r>
              <a:rPr lang="en-IN" b="1" dirty="0"/>
              <a:t>c) Lattices and Ideal Lattices</a:t>
            </a:r>
          </a:p>
          <a:p>
            <a:pPr marL="850900" lvl="1" indent="-342900"/>
            <a:r>
              <a:rPr lang="en-IN" dirty="0"/>
              <a:t>Operations like rounding or closest vector problems in high-dimensional space behave nonlinearly.</a:t>
            </a:r>
          </a:p>
          <a:p>
            <a:pPr marL="850900" lvl="1" indent="-342900"/>
            <a:r>
              <a:rPr lang="en-IN" dirty="0"/>
              <a:t>The key derivation process includes Gaussian sampling or trapdoor functions that resist linear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pPr marL="850900" lvl="1" indent="-342900"/>
            <a:r>
              <a:rPr lang="en-IN" dirty="0"/>
              <a:t>✅ </a:t>
            </a:r>
            <a:r>
              <a:rPr lang="en-IN" b="1" dirty="0"/>
              <a:t>Used in</a:t>
            </a:r>
            <a:r>
              <a:rPr lang="en-IN" dirty="0"/>
              <a:t>: NTRU, </a:t>
            </a:r>
            <a:r>
              <a:rPr lang="en-IN" dirty="0" err="1"/>
              <a:t>Kyber</a:t>
            </a:r>
            <a:r>
              <a:rPr lang="en-IN" dirty="0"/>
              <a:t>, </a:t>
            </a:r>
            <a:r>
              <a:rPr lang="en-IN" dirty="0" err="1"/>
              <a:t>FrodoKEM</a:t>
            </a:r>
            <a:r>
              <a:rPr lang="en-IN" dirty="0"/>
              <a:t>, etc.</a:t>
            </a:r>
          </a:p>
          <a:p>
            <a:pPr lvl="2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75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non-linear </a:t>
            </a:r>
            <a:r>
              <a:rPr lang="en-IN" dirty="0" err="1"/>
              <a:t>keyspace</a:t>
            </a:r>
            <a:r>
              <a:rPr lang="en-IN" dirty="0"/>
              <a:t> </a:t>
            </a:r>
            <a:r>
              <a:rPr lang="en-IN" dirty="0" smtClean="0"/>
              <a:t>:</a:t>
            </a:r>
            <a:r>
              <a:rPr lang="en-US" sz="2800" dirty="0" smtClean="0"/>
              <a:t>Apply </a:t>
            </a:r>
            <a:r>
              <a:rPr lang="en-US" sz="2800" dirty="0"/>
              <a:t>Nonlinear Transformations in Key Schedules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n-US" b="1" dirty="0" smtClean="0"/>
              <a:t>a</a:t>
            </a:r>
            <a:r>
              <a:rPr lang="en-US" b="1" dirty="0"/>
              <a:t>) Use of S-boxes</a:t>
            </a:r>
          </a:p>
          <a:p>
            <a:pPr lvl="1"/>
            <a:r>
              <a:rPr lang="en-US" dirty="0"/>
              <a:t>S-boxes (substitution boxes) are </a:t>
            </a:r>
            <a:r>
              <a:rPr lang="en-US" b="1" dirty="0"/>
              <a:t>nonlinear bijective functions</a:t>
            </a:r>
            <a:r>
              <a:rPr lang="en-US" dirty="0"/>
              <a:t> used in block ciphers.</a:t>
            </a:r>
          </a:p>
          <a:p>
            <a:pPr lvl="1"/>
            <a:r>
              <a:rPr lang="en-US" dirty="0"/>
              <a:t>Ensure the key material goes through S-boxes before being mixed into the encryption rounds.</a:t>
            </a:r>
          </a:p>
          <a:p>
            <a:pPr lvl="1"/>
            <a:r>
              <a:rPr lang="en-US" dirty="0"/>
              <a:t>✅ </a:t>
            </a:r>
            <a:r>
              <a:rPr lang="en-US" b="1" dirty="0"/>
              <a:t>Used in</a:t>
            </a:r>
            <a:r>
              <a:rPr lang="en-US" dirty="0"/>
              <a:t>: AES, DES, Serpent, Camellia</a:t>
            </a:r>
          </a:p>
          <a:p>
            <a:pPr marL="50800" indent="0">
              <a:buNone/>
            </a:pPr>
            <a:r>
              <a:rPr lang="en-US" b="1" dirty="0"/>
              <a:t>b) Bit Permutations and Modular Arithmetic</a:t>
            </a:r>
          </a:p>
          <a:p>
            <a:pPr lvl="1"/>
            <a:r>
              <a:rPr lang="en-US" dirty="0"/>
              <a:t>Combining bit-level permutation with modular additions or multiplications introduces nonlinearity.</a:t>
            </a:r>
          </a:p>
          <a:p>
            <a:pPr lvl="1"/>
            <a:r>
              <a:rPr lang="en-US" dirty="0"/>
              <a:t>Example: key[</a:t>
            </a:r>
            <a:r>
              <a:rPr lang="en-US" dirty="0" err="1"/>
              <a:t>i</a:t>
            </a:r>
            <a:r>
              <a:rPr lang="en-US" dirty="0"/>
              <a:t>] = (</a:t>
            </a:r>
            <a:r>
              <a:rPr lang="en-US" dirty="0" err="1"/>
              <a:t>S_box</a:t>
            </a:r>
            <a:r>
              <a:rPr lang="en-US" dirty="0"/>
              <a:t>[key[</a:t>
            </a:r>
            <a:r>
              <a:rPr lang="en-US" dirty="0" err="1"/>
              <a:t>i</a:t>
            </a:r>
            <a:r>
              <a:rPr lang="en-US" dirty="0"/>
              <a:t>]] + rotate(key[i-1], r)) mod 256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7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Where Are Nonlinear </a:t>
            </a:r>
            <a:r>
              <a:rPr lang="en-IN" b="1" dirty="0" err="1"/>
              <a:t>Keyspaces</a:t>
            </a:r>
            <a:r>
              <a:rPr lang="en-IN" b="1" dirty="0"/>
              <a:t> Used</a:t>
            </a:r>
            <a:r>
              <a:rPr lang="en-IN" b="1" dirty="0" smtClean="0"/>
              <a:t>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Symmetric </a:t>
            </a:r>
            <a:r>
              <a:rPr lang="en-IN" b="1" dirty="0"/>
              <a:t>Ciphers:</a:t>
            </a:r>
          </a:p>
          <a:p>
            <a:pPr lvl="1"/>
            <a:r>
              <a:rPr lang="en-IN" b="1" dirty="0"/>
              <a:t>AES</a:t>
            </a:r>
            <a:r>
              <a:rPr lang="en-IN" dirty="0"/>
              <a:t>: The S-box (substitution box) is highly nonlinear.</a:t>
            </a:r>
          </a:p>
          <a:p>
            <a:pPr lvl="1"/>
            <a:r>
              <a:rPr lang="en-IN" dirty="0"/>
              <a:t>Nonlinear mixing functions (e.g., in substitution–permutation networks) ensure the </a:t>
            </a:r>
            <a:r>
              <a:rPr lang="en-IN" dirty="0" err="1"/>
              <a:t>keyspace</a:t>
            </a:r>
            <a:r>
              <a:rPr lang="en-IN" dirty="0"/>
              <a:t> is complex.</a:t>
            </a:r>
          </a:p>
          <a:p>
            <a:r>
              <a:rPr lang="en-IN" b="1" dirty="0" smtClean="0"/>
              <a:t>Asymmetric </a:t>
            </a:r>
            <a:r>
              <a:rPr lang="en-IN" b="1" dirty="0"/>
              <a:t>Cryptography:</a:t>
            </a:r>
          </a:p>
          <a:p>
            <a:pPr lvl="1"/>
            <a:r>
              <a:rPr lang="en-IN" b="1" dirty="0"/>
              <a:t>Elliptic Curve Cryptography (ECC)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Uses a </a:t>
            </a:r>
            <a:r>
              <a:rPr lang="en-IN" b="1" dirty="0"/>
              <a:t>nonlinear algebraic structure</a:t>
            </a:r>
            <a:r>
              <a:rPr lang="en-IN" dirty="0"/>
              <a:t>: elliptic curves over finite fields.</a:t>
            </a:r>
          </a:p>
          <a:p>
            <a:pPr lvl="2"/>
            <a:r>
              <a:rPr lang="en-IN" dirty="0" smtClean="0"/>
              <a:t>Scalar </a:t>
            </a:r>
            <a:r>
              <a:rPr lang="en-IN" dirty="0"/>
              <a:t>multiplication on the curve is nonlinear.</a:t>
            </a:r>
          </a:p>
          <a:p>
            <a:r>
              <a:rPr lang="en-IN" b="1" dirty="0" smtClean="0"/>
              <a:t>Post-Quantum </a:t>
            </a:r>
            <a:r>
              <a:rPr lang="en-IN" b="1" dirty="0"/>
              <a:t>Cryptography:</a:t>
            </a:r>
          </a:p>
          <a:p>
            <a:pPr lvl="1"/>
            <a:r>
              <a:rPr lang="en-IN" dirty="0"/>
              <a:t>Many lattice- and multivariate polynomial-based schemes use </a:t>
            </a:r>
            <a:r>
              <a:rPr lang="en-IN" b="1" dirty="0"/>
              <a:t>nonlinear transformations</a:t>
            </a:r>
            <a:r>
              <a:rPr lang="en-IN" dirty="0"/>
              <a:t> in key generation to resist quantum attacks.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66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Transferring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use </a:t>
            </a:r>
            <a:r>
              <a:rPr lang="en-IN" dirty="0"/>
              <a:t>a random-key </a:t>
            </a:r>
            <a:r>
              <a:rPr lang="en-IN" dirty="0" smtClean="0"/>
              <a:t>generator at sender’s and receiver’s side</a:t>
            </a:r>
          </a:p>
          <a:p>
            <a:r>
              <a:rPr lang="en-IN" dirty="0" smtClean="0"/>
              <a:t>Use a </a:t>
            </a:r>
            <a:r>
              <a:rPr lang="en-IN" dirty="0"/>
              <a:t>trusted </a:t>
            </a:r>
            <a:r>
              <a:rPr lang="en-IN" dirty="0" smtClean="0"/>
              <a:t>messenger</a:t>
            </a:r>
            <a:endParaRPr lang="en-IN" dirty="0"/>
          </a:p>
          <a:p>
            <a:r>
              <a:rPr lang="en-IN" dirty="0" smtClean="0"/>
              <a:t>Use secure key exchange algorithms</a:t>
            </a:r>
          </a:p>
          <a:p>
            <a:pPr lvl="1"/>
            <a:r>
              <a:rPr lang="en-IN" dirty="0" err="1" smtClean="0"/>
              <a:t>Deffie</a:t>
            </a:r>
            <a:r>
              <a:rPr lang="en-IN" dirty="0" smtClean="0"/>
              <a:t> Hellman (?)</a:t>
            </a:r>
          </a:p>
          <a:p>
            <a:pPr lvl="1"/>
            <a:r>
              <a:rPr lang="en-IN" dirty="0" smtClean="0"/>
              <a:t>ECDH</a:t>
            </a:r>
          </a:p>
          <a:p>
            <a:pPr lvl="1"/>
            <a:r>
              <a:rPr lang="en-IN" dirty="0" smtClean="0"/>
              <a:t>QCDH</a:t>
            </a:r>
          </a:p>
          <a:p>
            <a:r>
              <a:rPr lang="en-IN" dirty="0" smtClean="0"/>
              <a:t>Out of band communication channel</a:t>
            </a:r>
          </a:p>
          <a:p>
            <a:r>
              <a:rPr lang="en-IN" dirty="0" smtClean="0"/>
              <a:t>Ring of trust</a:t>
            </a:r>
          </a:p>
          <a:p>
            <a:r>
              <a:rPr lang="en-IN" dirty="0" smtClean="0"/>
              <a:t>Digital certificate</a:t>
            </a:r>
          </a:p>
          <a:p>
            <a:r>
              <a:rPr lang="en-IN" dirty="0" smtClean="0"/>
              <a:t>Key distribution </a:t>
            </a:r>
            <a:r>
              <a:rPr lang="en-IN" dirty="0" err="1" smtClean="0"/>
              <a:t>center</a:t>
            </a:r>
            <a:endParaRPr lang="en-IN" dirty="0" smtClean="0"/>
          </a:p>
          <a:p>
            <a:r>
              <a:rPr lang="en-IN" dirty="0" smtClean="0"/>
              <a:t>PGP</a:t>
            </a:r>
          </a:p>
          <a:p>
            <a:r>
              <a:rPr lang="en-IN" dirty="0" smtClean="0"/>
              <a:t>Secure communication channel</a:t>
            </a:r>
          </a:p>
          <a:p>
            <a:r>
              <a:rPr lang="en-US" dirty="0"/>
              <a:t>splits the key into several different parts </a:t>
            </a:r>
            <a:r>
              <a:rPr lang="en-US" dirty="0" smtClean="0"/>
              <a:t>and </a:t>
            </a:r>
            <a:r>
              <a:rPr lang="en-US" dirty="0"/>
              <a:t>sends each of those parts over a different channel.</a:t>
            </a:r>
            <a:endParaRPr lang="en-IN" dirty="0" smtClean="0"/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2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Use a shared </a:t>
            </a:r>
            <a:r>
              <a:rPr lang="en-US" dirty="0" smtClean="0"/>
              <a:t>key-encryption key which is known only to sender and </a:t>
            </a:r>
            <a:r>
              <a:rPr lang="en-US" dirty="0" err="1" smtClean="0"/>
              <a:t>reciever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/>
              <a:t>a digital signature protocol </a:t>
            </a:r>
            <a:r>
              <a:rPr lang="en-US" dirty="0" smtClean="0"/>
              <a:t>to sign </a:t>
            </a:r>
            <a:r>
              <a:rPr lang="en-US" dirty="0"/>
              <a:t>the key, </a:t>
            </a:r>
            <a:r>
              <a:rPr lang="en-US" dirty="0" err="1" smtClean="0"/>
              <a:t>reciever</a:t>
            </a:r>
            <a:r>
              <a:rPr lang="en-US" dirty="0" smtClean="0"/>
              <a:t> has </a:t>
            </a:r>
            <a:r>
              <a:rPr lang="en-US" dirty="0"/>
              <a:t>to trust the public-key database when he verifies that signature</a:t>
            </a:r>
            <a:r>
              <a:rPr lang="en-US" dirty="0" smtClean="0"/>
              <a:t>.</a:t>
            </a:r>
          </a:p>
          <a:p>
            <a:r>
              <a:rPr lang="en-US" dirty="0"/>
              <a:t>Key Distribution Center (KDC) signs </a:t>
            </a:r>
            <a:r>
              <a:rPr lang="en-US" dirty="0" smtClean="0"/>
              <a:t>sender’s public key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55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Verify </a:t>
            </a:r>
            <a:r>
              <a:rPr lang="en-US" b="1" dirty="0" smtClean="0"/>
              <a:t>Symmetric </a:t>
            </a:r>
            <a:r>
              <a:rPr lang="en-US" b="1" dirty="0"/>
              <a:t>Keys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Symmetric </a:t>
            </a:r>
            <a:r>
              <a:rPr lang="en-US" dirty="0"/>
              <a:t>keys (e.g., for AES) are </a:t>
            </a:r>
            <a:r>
              <a:rPr lang="en-US" b="1" dirty="0"/>
              <a:t>shared secrets</a:t>
            </a:r>
            <a:r>
              <a:rPr lang="en-US" dirty="0"/>
              <a:t>, so verification is more limited but still important.</a:t>
            </a:r>
          </a:p>
          <a:p>
            <a:r>
              <a:rPr lang="en-US" b="1" dirty="0"/>
              <a:t>✅ Common Practices:</a:t>
            </a:r>
          </a:p>
          <a:p>
            <a:r>
              <a:rPr lang="en-US" b="1" dirty="0"/>
              <a:t>Key fingerprints</a:t>
            </a:r>
            <a:r>
              <a:rPr lang="en-US" dirty="0"/>
              <a:t>: Hash (e.g., SHA-256) of the key to verify integrity</a:t>
            </a:r>
          </a:p>
          <a:p>
            <a:r>
              <a:rPr lang="en-US" b="1" dirty="0"/>
              <a:t>MAC (Message Authentication Code) test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Encrypt &amp; decrypt a known value using the key and verify the result.</a:t>
            </a:r>
          </a:p>
          <a:p>
            <a:r>
              <a:rPr lang="en-US" b="1" dirty="0"/>
              <a:t>Key Check Value (KCV)</a:t>
            </a:r>
            <a:r>
              <a:rPr lang="en-US" dirty="0"/>
              <a:t>: Encrypt a block of zeros and use that as a short checksum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AES key → encrypt 0x0000000000000000</a:t>
            </a:r>
            <a:br>
              <a:rPr lang="en-US" dirty="0"/>
            </a:br>
            <a:r>
              <a:rPr lang="en-US" dirty="0"/>
              <a:t>Resulting </a:t>
            </a:r>
            <a:r>
              <a:rPr lang="en-US" dirty="0" err="1"/>
              <a:t>ciphertext</a:t>
            </a:r>
            <a:r>
              <a:rPr lang="en-US" dirty="0"/>
              <a:t> = KCV (Key Check Value)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06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Verify Asymmetric </a:t>
            </a:r>
            <a:r>
              <a:rPr lang="en-US" b="1" dirty="0"/>
              <a:t>Keys (Public/Private Key Pairs)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Verifying </a:t>
            </a:r>
            <a:r>
              <a:rPr lang="en-US" dirty="0"/>
              <a:t>that public and private keys form a </a:t>
            </a:r>
            <a:r>
              <a:rPr lang="en-US" b="1" dirty="0"/>
              <a:t>valid cryptographic pair</a:t>
            </a:r>
            <a:r>
              <a:rPr lang="en-US" dirty="0"/>
              <a:t> is essential.</a:t>
            </a:r>
          </a:p>
          <a:p>
            <a:r>
              <a:rPr lang="en-US" b="1" dirty="0" smtClean="0"/>
              <a:t>Private </a:t>
            </a:r>
            <a:r>
              <a:rPr lang="en-US" b="1" dirty="0"/>
              <a:t>Key ↔ Public Key Consistency</a:t>
            </a:r>
          </a:p>
          <a:p>
            <a:r>
              <a:rPr lang="en-US" dirty="0"/>
              <a:t>For </a:t>
            </a:r>
            <a:r>
              <a:rPr lang="en-US" b="1" dirty="0"/>
              <a:t>RSA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Verify that encrypt(decrypt(data, d), e) == data</a:t>
            </a:r>
          </a:p>
          <a:p>
            <a:r>
              <a:rPr lang="en-US" dirty="0"/>
              <a:t>For </a:t>
            </a:r>
            <a:r>
              <a:rPr lang="en-US" b="1" dirty="0"/>
              <a:t>ECC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Confirm public key = </a:t>
            </a:r>
            <a:r>
              <a:rPr lang="en-US" dirty="0" err="1"/>
              <a:t>private_key</a:t>
            </a:r>
            <a:r>
              <a:rPr lang="en-US" dirty="0"/>
              <a:t> × G (G is the base point)</a:t>
            </a:r>
          </a:p>
          <a:p>
            <a:r>
              <a:rPr lang="en-US" dirty="0"/>
              <a:t>For </a:t>
            </a:r>
            <a:r>
              <a:rPr lang="en-US" b="1" dirty="0"/>
              <a:t>DSA/ECDSA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Sign a test message and verify with the public key</a:t>
            </a:r>
          </a:p>
          <a:p>
            <a:r>
              <a:rPr lang="en-US" b="1" dirty="0" smtClean="0"/>
              <a:t>Certificate-Based </a:t>
            </a:r>
            <a:r>
              <a:rPr lang="en-US" b="1" dirty="0"/>
              <a:t>Verification</a:t>
            </a:r>
          </a:p>
          <a:p>
            <a:r>
              <a:rPr lang="en-US" dirty="0"/>
              <a:t>In PKI (Public Key Infrastructure):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digital certificate</a:t>
            </a:r>
            <a:r>
              <a:rPr lang="en-US" dirty="0"/>
              <a:t> signed by a Certificate Authority (CA)</a:t>
            </a:r>
          </a:p>
          <a:p>
            <a:pPr lvl="1"/>
            <a:r>
              <a:rPr lang="en-US" dirty="0"/>
              <a:t>Verify with the CA's public key that the signature on the certificate is valid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17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Verify </a:t>
            </a:r>
            <a:r>
              <a:rPr lang="en-US" b="1" dirty="0" smtClean="0"/>
              <a:t>Key </a:t>
            </a:r>
            <a:r>
              <a:rPr lang="en-US" b="1" dirty="0"/>
              <a:t>Fingerprints &amp; Hashes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Public </a:t>
            </a:r>
            <a:r>
              <a:rPr lang="en-US" dirty="0"/>
              <a:t>keys are often hashed (e.g., using SHA-256) to generate a </a:t>
            </a:r>
            <a:r>
              <a:rPr lang="en-US" b="1" dirty="0"/>
              <a:t>fingerprint</a:t>
            </a:r>
            <a:endParaRPr lang="en-US" dirty="0"/>
          </a:p>
          <a:p>
            <a:r>
              <a:rPr lang="en-US" dirty="0"/>
              <a:t>These fingerprints can be compared:</a:t>
            </a:r>
          </a:p>
          <a:p>
            <a:pPr lvl="1"/>
            <a:r>
              <a:rPr lang="en-US" dirty="0"/>
              <a:t>Out-of-band (e.g., phone call confirmation)</a:t>
            </a:r>
          </a:p>
          <a:p>
            <a:pPr lvl="1"/>
            <a:r>
              <a:rPr lang="en-US" dirty="0"/>
              <a:t>Through UI prompts ("Does the displayed fingerprint match?")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4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Verify Chain </a:t>
            </a:r>
            <a:r>
              <a:rPr lang="en-US" b="1" dirty="0"/>
              <a:t>of Trust Validation (PKI)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</a:t>
            </a:r>
            <a:r>
              <a:rPr lang="en-US" dirty="0"/>
              <a:t>verify public keys in secure communications (like HTTPS, email):</a:t>
            </a:r>
          </a:p>
          <a:p>
            <a:r>
              <a:rPr lang="en-US" dirty="0"/>
              <a:t>Check certificate signature</a:t>
            </a:r>
          </a:p>
          <a:p>
            <a:r>
              <a:rPr lang="en-US" dirty="0"/>
              <a:t>Verify certificate chain up to a trusted root CA</a:t>
            </a:r>
          </a:p>
          <a:p>
            <a:r>
              <a:rPr lang="en-US" dirty="0"/>
              <a:t>Check expiration, revocation status (via CRL or OCSP)</a:t>
            </a:r>
          </a:p>
          <a:p>
            <a:r>
              <a:rPr lang="en-US" dirty="0"/>
              <a:t>Match subject/common name to the domain or user</a:t>
            </a:r>
          </a:p>
          <a:p>
            <a:r>
              <a:rPr lang="en-US" dirty="0"/>
              <a:t>Example: TLS in a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48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Verify Secure </a:t>
            </a:r>
            <a:r>
              <a:rPr lang="en-IN" b="1" dirty="0"/>
              <a:t>Key Storage Verification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When </a:t>
            </a:r>
            <a:r>
              <a:rPr lang="en-IN" dirty="0"/>
              <a:t>keys are stored (e.g., in hardware or software </a:t>
            </a:r>
            <a:r>
              <a:rPr lang="en-IN" dirty="0" err="1"/>
              <a:t>keystores</a:t>
            </a:r>
            <a:r>
              <a:rPr lang="en-IN" dirty="0"/>
              <a:t>):</a:t>
            </a:r>
          </a:p>
          <a:p>
            <a:r>
              <a:rPr lang="en-IN" dirty="0"/>
              <a:t>Validate </a:t>
            </a:r>
            <a:r>
              <a:rPr lang="en-IN" b="1" dirty="0"/>
              <a:t>key integrity</a:t>
            </a:r>
            <a:r>
              <a:rPr lang="en-IN" dirty="0"/>
              <a:t> using HMACs or hashes</a:t>
            </a:r>
          </a:p>
          <a:p>
            <a:r>
              <a:rPr lang="en-IN" dirty="0"/>
              <a:t>Ensure </a:t>
            </a:r>
            <a:r>
              <a:rPr lang="en-IN" b="1" dirty="0"/>
              <a:t>correct decryption</a:t>
            </a:r>
            <a:r>
              <a:rPr lang="en-IN" dirty="0"/>
              <a:t> of encrypted key blobs using KDFs</a:t>
            </a:r>
          </a:p>
          <a:p>
            <a:r>
              <a:rPr lang="en-IN" dirty="0"/>
              <a:t>Confirm </a:t>
            </a:r>
            <a:r>
              <a:rPr lang="en-IN" b="1" dirty="0"/>
              <a:t>no unauthorized access</a:t>
            </a:r>
            <a:r>
              <a:rPr lang="en-IN" dirty="0"/>
              <a:t> via secure audit logs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26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Using keys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58425"/>
              </p:ext>
            </p:extLst>
          </p:nvPr>
        </p:nvGraphicFramePr>
        <p:xfrm>
          <a:off x="1323108" y="1731816"/>
          <a:ext cx="6781800" cy="3401292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3390900"/>
                <a:gridCol w="3390900"/>
              </a:tblGrid>
              <a:tr h="5668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Principle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Goal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5668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Purpose </a:t>
                      </a:r>
                      <a:r>
                        <a:rPr lang="en-IN" sz="2000" u="none" strike="noStrike" dirty="0">
                          <a:effectLst/>
                        </a:rPr>
                        <a:t>limitation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Prevent misuse of keys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5668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Access </a:t>
                      </a:r>
                      <a:r>
                        <a:rPr lang="en-IN" sz="2000" u="none" strike="noStrike" dirty="0">
                          <a:effectLst/>
                        </a:rPr>
                        <a:t>control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Ensure only authorized use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5668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Strong </a:t>
                      </a:r>
                      <a:r>
                        <a:rPr lang="en-IN" sz="2000" u="none" strike="noStrike" dirty="0">
                          <a:effectLst/>
                        </a:rPr>
                        <a:t>encryption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Guarantee confidentiality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5668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Auditing </a:t>
                      </a:r>
                      <a:r>
                        <a:rPr lang="en-IN" sz="2000" u="none" strike="noStrike" dirty="0">
                          <a:effectLst/>
                        </a:rPr>
                        <a:t>&amp; logging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Enable traceability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56688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Ephemeral </a:t>
                      </a:r>
                      <a:r>
                        <a:rPr lang="en-IN" sz="2000" u="none" strike="noStrike" dirty="0">
                          <a:effectLst/>
                        </a:rPr>
                        <a:t>key usage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Reduce exposure in memory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14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6095" y="1075247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What if the encryption process is </a:t>
            </a:r>
            <a:r>
              <a:rPr lang="en-IN" dirty="0" err="1" smtClean="0"/>
              <a:t>preempted</a:t>
            </a:r>
            <a:r>
              <a:rPr lang="en-IN" dirty="0" smtClean="0"/>
              <a:t> over during its execution?</a:t>
            </a:r>
          </a:p>
          <a:p>
            <a:pPr lvl="1"/>
            <a:r>
              <a:rPr lang="en-US" dirty="0" smtClean="0"/>
              <a:t>Operating system </a:t>
            </a:r>
            <a:r>
              <a:rPr lang="en-US" dirty="0" smtClean="0"/>
              <a:t>might write the </a:t>
            </a:r>
            <a:r>
              <a:rPr lang="en-US" dirty="0"/>
              <a:t>encryption application to disk, </a:t>
            </a:r>
            <a:r>
              <a:rPr lang="en-US" dirty="0" smtClean="0"/>
              <a:t>along </a:t>
            </a:r>
            <a:r>
              <a:rPr lang="en-US" dirty="0"/>
              <a:t>with </a:t>
            </a:r>
            <a:r>
              <a:rPr lang="en-US" dirty="0" smtClean="0"/>
              <a:t>key. </a:t>
            </a:r>
          </a:p>
          <a:p>
            <a:pPr lvl="1"/>
            <a:r>
              <a:rPr lang="en-US" dirty="0" smtClean="0"/>
              <a:t>The key </a:t>
            </a:r>
            <a:r>
              <a:rPr lang="en-US" dirty="0"/>
              <a:t>will sit on the disk, unencrypted, until the computer writes over that area of memory again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Could be exploited by some adversary</a:t>
            </a:r>
          </a:p>
          <a:p>
            <a:r>
              <a:rPr lang="en-US" dirty="0" smtClean="0"/>
              <a:t>Solution: set the encryption </a:t>
            </a:r>
            <a:r>
              <a:rPr lang="en-US" dirty="0"/>
              <a:t>operation to a high enough priority so it will not </a:t>
            </a:r>
            <a:r>
              <a:rPr lang="en-US" dirty="0" smtClean="0"/>
              <a:t>be interrupted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encryption devices </a:t>
            </a:r>
            <a:r>
              <a:rPr lang="en-US" dirty="0" smtClean="0"/>
              <a:t>could be designed </a:t>
            </a:r>
            <a:r>
              <a:rPr lang="en-US" dirty="0"/>
              <a:t>to erase the key </a:t>
            </a:r>
            <a:r>
              <a:rPr lang="en-US" dirty="0" smtClean="0"/>
              <a:t>if tampered </a:t>
            </a:r>
            <a:r>
              <a:rPr lang="en-US" dirty="0"/>
              <a:t>with.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the IBM PS/2 encryption card has an epoxy unit containing the </a:t>
            </a:r>
            <a:r>
              <a:rPr lang="en-US" dirty="0" smtClean="0"/>
              <a:t>DES chip</a:t>
            </a:r>
            <a:r>
              <a:rPr lang="en-US" dirty="0"/>
              <a:t>, battery, and memory</a:t>
            </a:r>
            <a:r>
              <a:rPr lang="en-US" dirty="0" smtClean="0"/>
              <a:t>.</a:t>
            </a:r>
          </a:p>
          <a:p>
            <a:r>
              <a:rPr lang="en-US" dirty="0"/>
              <a:t>Telephone </a:t>
            </a:r>
            <a:r>
              <a:rPr lang="en-US" dirty="0" err="1"/>
              <a:t>encryptors</a:t>
            </a:r>
            <a:r>
              <a:rPr lang="en-US" dirty="0"/>
              <a:t> use session keys and it is discarded after the use. </a:t>
            </a:r>
          </a:p>
        </p:txBody>
      </p:sp>
    </p:spTree>
    <p:extLst>
      <p:ext uri="{BB962C8B-B14F-4D97-AF65-F5344CB8AC3E}">
        <p14:creationId xmlns:p14="http://schemas.microsoft.com/office/powerpoint/2010/main" val="291430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0800" indent="0">
              <a:buNone/>
            </a:pPr>
            <a:r>
              <a:rPr lang="en-IN" b="1" dirty="0" smtClean="0"/>
              <a:t>1. Use </a:t>
            </a:r>
            <a:r>
              <a:rPr lang="en-IN" b="1" dirty="0"/>
              <a:t>Keys for Their Intended Purpose Only</a:t>
            </a:r>
          </a:p>
          <a:p>
            <a:pPr marL="50800" indent="0">
              <a:buNone/>
            </a:pPr>
            <a:r>
              <a:rPr lang="en-IN" b="1" dirty="0" smtClean="0"/>
              <a:t>Separation </a:t>
            </a:r>
            <a:r>
              <a:rPr lang="en-IN" b="1" dirty="0"/>
              <a:t>of Duties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Use different keys for:</a:t>
            </a:r>
          </a:p>
          <a:p>
            <a:pPr lvl="1"/>
            <a:r>
              <a:rPr lang="en-IN" dirty="0"/>
              <a:t>Encryption vs. signing</a:t>
            </a:r>
          </a:p>
          <a:p>
            <a:pPr lvl="1"/>
            <a:r>
              <a:rPr lang="en-IN" dirty="0"/>
              <a:t>Data encryption vs. key encryption (DEK vs. KEK)</a:t>
            </a:r>
          </a:p>
          <a:p>
            <a:r>
              <a:rPr lang="en-IN" dirty="0" smtClean="0"/>
              <a:t>Prevents </a:t>
            </a:r>
            <a:r>
              <a:rPr lang="en-IN" dirty="0"/>
              <a:t>misuse or cryptographic vulnerabilities</a:t>
            </a:r>
          </a:p>
          <a:p>
            <a:pPr marL="50800" indent="0">
              <a:buNone/>
            </a:pPr>
            <a:endParaRPr lang="en-IN" b="1" dirty="0" smtClean="0"/>
          </a:p>
          <a:p>
            <a:pPr marL="50800" indent="0">
              <a:buNone/>
            </a:pPr>
            <a:r>
              <a:rPr lang="en-IN" b="1" dirty="0" smtClean="0"/>
              <a:t>2</a:t>
            </a:r>
            <a:r>
              <a:rPr lang="en-IN" b="1" dirty="0"/>
              <a:t>. Control Key Access</a:t>
            </a:r>
          </a:p>
          <a:p>
            <a:pPr marL="50800" indent="0">
              <a:buNone/>
            </a:pPr>
            <a:r>
              <a:rPr lang="en-IN" dirty="0" smtClean="0"/>
              <a:t>Restrict </a:t>
            </a:r>
            <a:r>
              <a:rPr lang="en-IN" dirty="0"/>
              <a:t>access using </a:t>
            </a:r>
            <a:r>
              <a:rPr lang="en-IN" b="1" dirty="0"/>
              <a:t>Access Control Lists (ACLs)</a:t>
            </a:r>
            <a:r>
              <a:rPr lang="en-IN" dirty="0"/>
              <a:t> or </a:t>
            </a:r>
            <a:r>
              <a:rPr lang="en-IN" b="1" dirty="0"/>
              <a:t>Role-Based Access Control (RBAC)</a:t>
            </a:r>
            <a:endParaRPr lang="en-IN" dirty="0"/>
          </a:p>
          <a:p>
            <a:pPr marL="50800" indent="0">
              <a:buNone/>
            </a:pPr>
            <a:r>
              <a:rPr lang="en-IN" dirty="0" smtClean="0"/>
              <a:t>Integrate </a:t>
            </a:r>
            <a:r>
              <a:rPr lang="en-IN" dirty="0"/>
              <a:t>with </a:t>
            </a:r>
            <a:r>
              <a:rPr lang="en-IN" b="1" dirty="0"/>
              <a:t>Identity and Access Management (IAM)</a:t>
            </a:r>
            <a:r>
              <a:rPr lang="en-IN" dirty="0"/>
              <a:t> systems (e.g., AWS IAM, Azure AD)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11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IN" b="1" dirty="0"/>
              <a:t>3. Always Use Authenticated Encryption</a:t>
            </a:r>
          </a:p>
          <a:p>
            <a:r>
              <a:rPr lang="en-IN" dirty="0" smtClean="0"/>
              <a:t>Use </a:t>
            </a:r>
            <a:r>
              <a:rPr lang="en-IN" dirty="0"/>
              <a:t>algorithms like </a:t>
            </a:r>
            <a:r>
              <a:rPr lang="en-IN" b="1" dirty="0"/>
              <a:t>AES-GCM</a:t>
            </a:r>
            <a:r>
              <a:rPr lang="en-IN" dirty="0"/>
              <a:t> or </a:t>
            </a:r>
            <a:r>
              <a:rPr lang="en-IN" b="1" dirty="0"/>
              <a:t>ChaCha20-Poly1305</a:t>
            </a:r>
            <a:endParaRPr lang="en-IN" dirty="0"/>
          </a:p>
          <a:p>
            <a:r>
              <a:rPr lang="en-IN" dirty="0"/>
              <a:t>Prevents both data </a:t>
            </a:r>
            <a:r>
              <a:rPr lang="en-IN" b="1" dirty="0"/>
              <a:t>leakage</a:t>
            </a:r>
            <a:r>
              <a:rPr lang="en-IN" dirty="0"/>
              <a:t> and </a:t>
            </a:r>
            <a:r>
              <a:rPr lang="en-IN" b="1" dirty="0"/>
              <a:t>tampering</a:t>
            </a:r>
            <a:endParaRPr lang="en-IN" dirty="0"/>
          </a:p>
          <a:p>
            <a:pPr marL="50800" indent="0">
              <a:buNone/>
            </a:pPr>
            <a:endParaRPr lang="en-IN" b="1" dirty="0" smtClean="0"/>
          </a:p>
          <a:p>
            <a:pPr marL="50800" indent="0">
              <a:buNone/>
            </a:pPr>
            <a:r>
              <a:rPr lang="en-IN" b="1" dirty="0" smtClean="0"/>
              <a:t>4</a:t>
            </a:r>
            <a:r>
              <a:rPr lang="en-IN" b="1" dirty="0"/>
              <a:t>. Ensure Secure Key Usage in Code</a:t>
            </a:r>
          </a:p>
          <a:p>
            <a:r>
              <a:rPr lang="en-IN" dirty="0" smtClean="0"/>
              <a:t>Never </a:t>
            </a:r>
            <a:r>
              <a:rPr lang="en-IN" dirty="0"/>
              <a:t>hardcode keys in source code</a:t>
            </a:r>
          </a:p>
          <a:p>
            <a:r>
              <a:rPr lang="en-IN" dirty="0" smtClean="0"/>
              <a:t>Use </a:t>
            </a:r>
            <a:r>
              <a:rPr lang="en-IN" dirty="0"/>
              <a:t>secure APIs and key references from </a:t>
            </a:r>
            <a:r>
              <a:rPr lang="en-IN" b="1" dirty="0"/>
              <a:t>Hardware Security Modules (HSMs)</a:t>
            </a:r>
            <a:r>
              <a:rPr lang="en-IN" dirty="0"/>
              <a:t> or </a:t>
            </a:r>
            <a:r>
              <a:rPr lang="en-IN" b="1" dirty="0"/>
              <a:t>Key Management Services (KMSs)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00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0800" indent="0">
              <a:buNone/>
            </a:pPr>
            <a:r>
              <a:rPr lang="en-IN" b="1" dirty="0"/>
              <a:t>5. Use Keys with Proper Cryptographic Protocols</a:t>
            </a:r>
          </a:p>
          <a:p>
            <a:r>
              <a:rPr lang="en-IN" dirty="0" smtClean="0"/>
              <a:t>Use </a:t>
            </a:r>
            <a:r>
              <a:rPr lang="en-IN" b="1" dirty="0"/>
              <a:t>TLS (Transport Layer Security)</a:t>
            </a:r>
            <a:r>
              <a:rPr lang="en-IN" dirty="0"/>
              <a:t> when transmitting keys</a:t>
            </a:r>
          </a:p>
          <a:p>
            <a:r>
              <a:rPr lang="en-IN" dirty="0" smtClean="0"/>
              <a:t>Use </a:t>
            </a:r>
            <a:r>
              <a:rPr lang="en-IN" b="1" dirty="0"/>
              <a:t>hybrid encryption</a:t>
            </a:r>
            <a:r>
              <a:rPr lang="en-IN" dirty="0"/>
              <a:t>: RSA for key transport + AES for data</a:t>
            </a:r>
          </a:p>
          <a:p>
            <a:pPr marL="50800" indent="0">
              <a:buNone/>
            </a:pPr>
            <a:endParaRPr lang="en-IN" b="1" dirty="0" smtClean="0"/>
          </a:p>
          <a:p>
            <a:pPr marL="50800" indent="0">
              <a:buNone/>
            </a:pPr>
            <a:r>
              <a:rPr lang="en-IN" b="1" dirty="0" smtClean="0"/>
              <a:t>6</a:t>
            </a:r>
            <a:r>
              <a:rPr lang="en-IN" b="1" dirty="0"/>
              <a:t>. Audit and Monitor Key Usage</a:t>
            </a:r>
          </a:p>
          <a:p>
            <a:r>
              <a:rPr lang="en-IN" dirty="0" smtClean="0"/>
              <a:t>Log </a:t>
            </a:r>
            <a:r>
              <a:rPr lang="en-IN" dirty="0"/>
              <a:t>every key operation: encrypt, decrypt, sign, verify</a:t>
            </a:r>
          </a:p>
          <a:p>
            <a:r>
              <a:rPr lang="en-IN" dirty="0" smtClean="0"/>
              <a:t>Monitor </a:t>
            </a:r>
            <a:r>
              <a:rPr lang="en-IN" dirty="0"/>
              <a:t>for:</a:t>
            </a:r>
          </a:p>
          <a:p>
            <a:pPr lvl="1"/>
            <a:r>
              <a:rPr lang="en-IN" dirty="0"/>
              <a:t>Unexpected usage patterns</a:t>
            </a:r>
          </a:p>
          <a:p>
            <a:pPr lvl="1"/>
            <a:r>
              <a:rPr lang="en-IN" dirty="0"/>
              <a:t>Unauthorized access attempts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47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IN" b="1" dirty="0"/>
              <a:t>8. Minimize Key Lifetime in Memory</a:t>
            </a:r>
          </a:p>
          <a:p>
            <a:r>
              <a:rPr lang="en-IN" dirty="0" smtClean="0"/>
              <a:t>Load </a:t>
            </a:r>
            <a:r>
              <a:rPr lang="en-IN" dirty="0"/>
              <a:t>keys only when needed</a:t>
            </a:r>
          </a:p>
          <a:p>
            <a:r>
              <a:rPr lang="en-IN" dirty="0" smtClean="0"/>
              <a:t> </a:t>
            </a:r>
            <a:r>
              <a:rPr lang="en-IN" dirty="0"/>
              <a:t>Zero out memory after use to prevent leakage through memory dumps</a:t>
            </a:r>
          </a:p>
          <a:p>
            <a:pPr marL="50800" indent="0">
              <a:buNone/>
            </a:pPr>
            <a:endParaRPr lang="en-IN" b="1" dirty="0" smtClean="0"/>
          </a:p>
          <a:p>
            <a:pPr marL="50800" indent="0">
              <a:buNone/>
            </a:pPr>
            <a:r>
              <a:rPr lang="en-IN" b="1" dirty="0" smtClean="0"/>
              <a:t>9</a:t>
            </a:r>
            <a:r>
              <a:rPr lang="en-IN" b="1" dirty="0"/>
              <a:t>. Ensure Compatibility and Interoperability</a:t>
            </a:r>
          </a:p>
          <a:p>
            <a:r>
              <a:rPr lang="en-IN" dirty="0" smtClean="0"/>
              <a:t>Keys </a:t>
            </a:r>
            <a:r>
              <a:rPr lang="en-IN" dirty="0"/>
              <a:t>may need to follow formats like </a:t>
            </a:r>
            <a:r>
              <a:rPr lang="en-IN" b="1" dirty="0"/>
              <a:t>PKCS#8</a:t>
            </a:r>
            <a:r>
              <a:rPr lang="en-IN" dirty="0"/>
              <a:t>, </a:t>
            </a:r>
            <a:r>
              <a:rPr lang="en-IN" b="1" dirty="0"/>
              <a:t>PEM</a:t>
            </a:r>
            <a:r>
              <a:rPr lang="en-IN" dirty="0"/>
              <a:t>, or </a:t>
            </a:r>
            <a:r>
              <a:rPr lang="en-IN" b="1" dirty="0"/>
              <a:t>DER</a:t>
            </a:r>
            <a:endParaRPr lang="en-IN" dirty="0"/>
          </a:p>
          <a:p>
            <a:r>
              <a:rPr lang="en-IN" dirty="0" smtClean="0"/>
              <a:t>Important </a:t>
            </a:r>
            <a:r>
              <a:rPr lang="en-IN" dirty="0"/>
              <a:t>in multi-vendor or cloud-hybrid environments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78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US" b="1" dirty="0"/>
              <a:t>Why Update Keys?</a:t>
            </a:r>
          </a:p>
          <a:p>
            <a:r>
              <a:rPr lang="en-US" b="1" dirty="0"/>
              <a:t>Key aging</a:t>
            </a:r>
            <a:r>
              <a:rPr lang="en-US" dirty="0"/>
              <a:t>: Over time, keys become vulnerable due to advances in computing or cryptanalysis.</a:t>
            </a:r>
          </a:p>
          <a:p>
            <a:r>
              <a:rPr lang="en-US" b="1" dirty="0"/>
              <a:t>Compromise</a:t>
            </a:r>
            <a:r>
              <a:rPr lang="en-US" dirty="0"/>
              <a:t>: If a key is suspected to be exposed or misused.</a:t>
            </a:r>
          </a:p>
          <a:p>
            <a:r>
              <a:rPr lang="en-US" b="1" dirty="0"/>
              <a:t>Policy requirements</a:t>
            </a:r>
            <a:r>
              <a:rPr lang="en-US" dirty="0"/>
              <a:t>: Security policies or regulations (e.g., PCI DSS, NIST) mandate periodic updates.</a:t>
            </a:r>
          </a:p>
          <a:p>
            <a:r>
              <a:rPr lang="en-US" b="1" dirty="0"/>
              <a:t>User/device rotation</a:t>
            </a:r>
            <a:r>
              <a:rPr lang="en-US" dirty="0"/>
              <a:t>: When roles, devices, or users change.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1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update key?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 smtClean="0"/>
              <a:t>1. Key </a:t>
            </a:r>
            <a:r>
              <a:rPr lang="en-US" b="1" dirty="0"/>
              <a:t>Rotation</a:t>
            </a:r>
          </a:p>
          <a:p>
            <a:r>
              <a:rPr lang="en-US" dirty="0"/>
              <a:t>Replacing an old key with a new one while maintaining continuity.</a:t>
            </a:r>
          </a:p>
          <a:p>
            <a:r>
              <a:rPr lang="en-US" b="1" dirty="0"/>
              <a:t>Types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Manual rotation</a:t>
            </a:r>
            <a:r>
              <a:rPr lang="en-US" dirty="0"/>
              <a:t>: Admin-initiated (e.g., reissuing API keys).</a:t>
            </a:r>
          </a:p>
          <a:p>
            <a:pPr lvl="1"/>
            <a:r>
              <a:rPr lang="en-US" b="1" dirty="0"/>
              <a:t>Automatic rotation</a:t>
            </a:r>
            <a:r>
              <a:rPr lang="en-US" dirty="0"/>
              <a:t>: Scheduled or policy-driven (common in cloud KMS).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5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 smtClean="0"/>
              <a:t>2. </a:t>
            </a:r>
            <a:r>
              <a:rPr lang="en-US" b="1" dirty="0"/>
              <a:t>Forward Secrecy</a:t>
            </a:r>
          </a:p>
          <a:p>
            <a:r>
              <a:rPr lang="en-US" dirty="0"/>
              <a:t>Old communications cannot be decrypted even if a current key is compromised.</a:t>
            </a:r>
          </a:p>
          <a:p>
            <a:r>
              <a:rPr lang="en-US" dirty="0"/>
              <a:t>Achieved by </a:t>
            </a:r>
            <a:r>
              <a:rPr lang="en-US" b="1" dirty="0"/>
              <a:t>frequent key updates</a:t>
            </a:r>
            <a:r>
              <a:rPr lang="en-US" dirty="0"/>
              <a:t> or using </a:t>
            </a:r>
            <a:r>
              <a:rPr lang="en-US" b="1" dirty="0"/>
              <a:t>ephemeral session keys</a:t>
            </a:r>
            <a:r>
              <a:rPr lang="en-US" dirty="0"/>
              <a:t> (e.g., in TLS with </a:t>
            </a:r>
            <a:r>
              <a:rPr lang="en-US" dirty="0" err="1"/>
              <a:t>Diffie</a:t>
            </a:r>
            <a:r>
              <a:rPr lang="en-US" dirty="0"/>
              <a:t>-Hellman).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11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/>
              <a:t>4. Key Rotation Mechanisms</a:t>
            </a:r>
          </a:p>
          <a:p>
            <a:r>
              <a:rPr lang="en-US" b="1" dirty="0"/>
              <a:t>Dual key usage</a:t>
            </a:r>
            <a:r>
              <a:rPr lang="en-US" dirty="0"/>
              <a:t> (during transition):</a:t>
            </a:r>
          </a:p>
          <a:p>
            <a:pPr lvl="1"/>
            <a:r>
              <a:rPr lang="en-US" dirty="0"/>
              <a:t>Old key is used to decrypt</a:t>
            </a:r>
          </a:p>
          <a:p>
            <a:pPr lvl="1"/>
            <a:r>
              <a:rPr lang="en-US" dirty="0"/>
              <a:t>New key is used to encrypt</a:t>
            </a:r>
          </a:p>
          <a:p>
            <a:r>
              <a:rPr lang="en-US" b="1" dirty="0"/>
              <a:t>Key wrapping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Encrypt new keys with a master Key Encryption Key (KEK)</a:t>
            </a:r>
          </a:p>
          <a:p>
            <a:r>
              <a:rPr lang="en-US" b="1" dirty="0"/>
              <a:t>Versioning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Track key versions (e.g., Key_v1, Key_v2) to manage lifecycle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84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US" b="1" dirty="0"/>
              <a:t>5. Re-encryption Strategy</a:t>
            </a:r>
          </a:p>
          <a:p>
            <a:r>
              <a:rPr lang="en-US" dirty="0"/>
              <a:t>When keys are updated, </a:t>
            </a:r>
            <a:r>
              <a:rPr lang="en-US" b="1" dirty="0"/>
              <a:t>data encrypted with old keys</a:t>
            </a:r>
            <a:r>
              <a:rPr lang="en-US" dirty="0"/>
              <a:t> may need to be:</a:t>
            </a:r>
          </a:p>
          <a:p>
            <a:pPr lvl="1"/>
            <a:r>
              <a:rPr lang="en-US" b="1" dirty="0"/>
              <a:t>Re-encrypted</a:t>
            </a:r>
            <a:r>
              <a:rPr lang="en-US" dirty="0"/>
              <a:t> with the new key</a:t>
            </a:r>
          </a:p>
          <a:p>
            <a:pPr lvl="1"/>
            <a:r>
              <a:rPr lang="en-US" dirty="0"/>
              <a:t>Or </a:t>
            </a:r>
            <a:r>
              <a:rPr lang="en-US" b="1" dirty="0"/>
              <a:t>decrypted on access</a:t>
            </a:r>
            <a:r>
              <a:rPr lang="en-US" dirty="0"/>
              <a:t>, then re-encrypted on write</a:t>
            </a:r>
          </a:p>
          <a:p>
            <a:pPr marL="50800" indent="0">
              <a:buNone/>
            </a:pPr>
            <a:endParaRPr lang="en-US" b="1" dirty="0" smtClean="0"/>
          </a:p>
          <a:p>
            <a:pPr marL="50800" indent="0">
              <a:buNone/>
            </a:pPr>
            <a:r>
              <a:rPr lang="en-US" b="1" dirty="0" smtClean="0"/>
              <a:t>6</a:t>
            </a:r>
            <a:r>
              <a:rPr lang="en-US" b="1" dirty="0"/>
              <a:t>. Key Derivation for Rotation</a:t>
            </a:r>
          </a:p>
          <a:p>
            <a:r>
              <a:rPr lang="en-US" dirty="0"/>
              <a:t>Derive fresh sub-keys regularly using </a:t>
            </a:r>
            <a:r>
              <a:rPr lang="en-US" b="1" dirty="0"/>
              <a:t>Key Derivation Functions (KDFs)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E.g., HKDF (HMAC-based Key Derivation Function)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36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n-US" b="1" dirty="0"/>
              <a:t>7. Logging and Auditing</a:t>
            </a:r>
          </a:p>
          <a:p>
            <a:r>
              <a:rPr lang="en-US" dirty="0"/>
              <a:t>Record when, why, and how keys are updated</a:t>
            </a:r>
          </a:p>
          <a:p>
            <a:r>
              <a:rPr lang="en-US" dirty="0"/>
              <a:t>Ensure audit trails for compliance (e.g., SOC 2, HIPAA)</a:t>
            </a:r>
          </a:p>
          <a:p>
            <a:pPr marL="50800" indent="0">
              <a:buNone/>
            </a:pPr>
            <a:endParaRPr lang="en-US" b="1" dirty="0" smtClean="0"/>
          </a:p>
          <a:p>
            <a:pPr marL="50800" indent="0">
              <a:buNone/>
            </a:pPr>
            <a:r>
              <a:rPr lang="en-US" b="1" dirty="0" smtClean="0"/>
              <a:t>8</a:t>
            </a:r>
            <a:r>
              <a:rPr lang="en-US" b="1" dirty="0"/>
              <a:t>. Emergency Key Updates (Key Revocation)</a:t>
            </a:r>
          </a:p>
          <a:p>
            <a:r>
              <a:rPr lang="en-US" dirty="0"/>
              <a:t>If a key is compromised:</a:t>
            </a:r>
          </a:p>
          <a:p>
            <a:pPr lvl="1"/>
            <a:r>
              <a:rPr lang="en-US" dirty="0"/>
              <a:t>Immediately revoke it</a:t>
            </a:r>
          </a:p>
          <a:p>
            <a:pPr lvl="1"/>
            <a:r>
              <a:rPr lang="en-US" dirty="0"/>
              <a:t>Notify affected systems/users</a:t>
            </a:r>
          </a:p>
          <a:p>
            <a:pPr lvl="1"/>
            <a:r>
              <a:rPr lang="en-US" dirty="0"/>
              <a:t>Initiate secure key replacement and data re-encryption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75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0800" indent="0">
              <a:buNone/>
            </a:pPr>
            <a:r>
              <a:rPr lang="en-IN" b="1" dirty="0"/>
              <a:t>9. Policy for Key Updates</a:t>
            </a:r>
          </a:p>
          <a:p>
            <a:r>
              <a:rPr lang="en-IN" dirty="0"/>
              <a:t>Define update intervals (e.g., every 6–12 months)</a:t>
            </a:r>
          </a:p>
          <a:p>
            <a:r>
              <a:rPr lang="en-IN" dirty="0"/>
              <a:t>Automate where possible</a:t>
            </a:r>
          </a:p>
          <a:p>
            <a:r>
              <a:rPr lang="en-IN" dirty="0"/>
              <a:t>Document procedures and assign </a:t>
            </a:r>
            <a:r>
              <a:rPr lang="en-IN" dirty="0" smtClean="0"/>
              <a:t>roles</a:t>
            </a:r>
          </a:p>
          <a:p>
            <a:pPr marL="50800" indent="0">
              <a:buNone/>
            </a:pPr>
            <a:endParaRPr lang="en-IN" b="1" dirty="0"/>
          </a:p>
          <a:p>
            <a:pPr marL="50800" indent="0">
              <a:buNone/>
            </a:pPr>
            <a:r>
              <a:rPr lang="en-IN" b="1" dirty="0" smtClean="0"/>
              <a:t> </a:t>
            </a:r>
            <a:r>
              <a:rPr lang="en-IN" b="1" dirty="0"/>
              <a:t>10. Tools and Services</a:t>
            </a:r>
          </a:p>
          <a:p>
            <a:r>
              <a:rPr lang="en-IN" dirty="0"/>
              <a:t>Use </a:t>
            </a:r>
            <a:r>
              <a:rPr lang="en-IN" b="1" dirty="0"/>
              <a:t>Key Management Systems (KMS)</a:t>
            </a:r>
            <a:r>
              <a:rPr lang="en-IN" dirty="0"/>
              <a:t> that support rotation:</a:t>
            </a:r>
          </a:p>
          <a:p>
            <a:pPr lvl="1"/>
            <a:r>
              <a:rPr lang="en-IN" dirty="0"/>
              <a:t>AWS KMS, Google Cloud KMS, Azure Key Vault</a:t>
            </a:r>
          </a:p>
          <a:p>
            <a:r>
              <a:rPr lang="en-IN" dirty="0"/>
              <a:t>Use </a:t>
            </a:r>
            <a:r>
              <a:rPr lang="en-IN" b="1" dirty="0"/>
              <a:t>HSMs (Hardware Security Modules)</a:t>
            </a:r>
            <a:r>
              <a:rPr lang="en-IN" dirty="0"/>
              <a:t> for secure in-place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60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Keys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68641"/>
              </p:ext>
            </p:extLst>
          </p:nvPr>
        </p:nvGraphicFramePr>
        <p:xfrm>
          <a:off x="827808" y="1048327"/>
          <a:ext cx="7848600" cy="4791364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2616200"/>
                <a:gridCol w="2616200"/>
                <a:gridCol w="2616200"/>
              </a:tblGrid>
              <a:tr h="4355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dirty="0">
                          <a:effectLst/>
                        </a:rPr>
                        <a:t>Method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>
                          <a:effectLst/>
                        </a:rPr>
                        <a:t>Purpose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dirty="0">
                          <a:effectLst/>
                        </a:rPr>
                        <a:t>Tools/Practices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711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Key Rotation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Regular update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KMS, versioning, dual usage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711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Key Revocation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Emergency response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CRL (Certificate Revocation List)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711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Re-encryption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Secure data migration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Background jobs, batch ops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711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Key Derivation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err="1">
                          <a:effectLst/>
                        </a:rPr>
                        <a:t>Subkey</a:t>
                      </a:r>
                      <a:r>
                        <a:rPr lang="en-IN" sz="2000" u="none" strike="noStrike" dirty="0">
                          <a:effectLst/>
                        </a:rPr>
                        <a:t> generation per use/session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HKDF, PBKDF2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711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Logging &amp; Auditing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Compliance and traceability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SIEM, audit logs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77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old cryptographic keys with new ones </a:t>
            </a:r>
            <a:r>
              <a:rPr lang="en-US" b="1" dirty="0" smtClean="0"/>
              <a:t>securely</a:t>
            </a:r>
            <a:r>
              <a:rPr lang="en-US" b="1" dirty="0"/>
              <a:t>, with minimal disruption</a:t>
            </a:r>
            <a:r>
              <a:rPr lang="en-US" dirty="0"/>
              <a:t>, while maintaining </a:t>
            </a:r>
            <a:r>
              <a:rPr lang="en-US" b="1" dirty="0"/>
              <a:t>data confidentiality and integrity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91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</a:t>
            </a:r>
            <a:r>
              <a:rPr lang="en-IN" dirty="0" smtClean="0"/>
              <a:t>Updating </a:t>
            </a:r>
            <a:r>
              <a:rPr lang="en-IN" dirty="0"/>
              <a:t>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04" y="810491"/>
            <a:ext cx="8229600" cy="5040101"/>
          </a:xfrm>
        </p:spPr>
        <p:txBody>
          <a:bodyPr>
            <a:normAutofit fontScale="62500" lnSpcReduction="20000"/>
          </a:bodyPr>
          <a:lstStyle/>
          <a:p>
            <a:pPr marL="50800" indent="0">
              <a:buNone/>
            </a:pPr>
            <a:r>
              <a:rPr lang="en-US" b="1" dirty="0"/>
              <a:t>1. Key Rotation</a:t>
            </a:r>
          </a:p>
          <a:p>
            <a:pPr lvl="1"/>
            <a:r>
              <a:rPr lang="en-US" dirty="0"/>
              <a:t>Replacing keys at regular intervals or upon security events.</a:t>
            </a:r>
          </a:p>
          <a:p>
            <a:pPr lvl="1"/>
            <a:r>
              <a:rPr lang="en-US" dirty="0"/>
              <a:t>Most common form of key </a:t>
            </a:r>
            <a:r>
              <a:rPr lang="en-US" dirty="0" smtClean="0"/>
              <a:t>updating.</a:t>
            </a:r>
          </a:p>
          <a:p>
            <a:pPr marL="7620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How </a:t>
            </a:r>
            <a:r>
              <a:rPr lang="en-US" b="1" dirty="0"/>
              <a:t>it works:</a:t>
            </a:r>
          </a:p>
          <a:p>
            <a:pPr marL="850900" lvl="1" indent="-342900"/>
            <a:r>
              <a:rPr lang="en-US" dirty="0"/>
              <a:t>Generate a new key.</a:t>
            </a:r>
          </a:p>
          <a:p>
            <a:pPr marL="850900" lvl="1" indent="-342900"/>
            <a:r>
              <a:rPr lang="en-US" dirty="0"/>
              <a:t>Re-encrypt new data (or all data, if needed) with the new key.</a:t>
            </a:r>
          </a:p>
          <a:p>
            <a:pPr marL="850900" lvl="1" indent="-342900"/>
            <a:r>
              <a:rPr lang="en-US" dirty="0"/>
              <a:t>Retire the old key (sometimes still kept to decrypt past data).</a:t>
            </a:r>
          </a:p>
          <a:p>
            <a:pPr marL="5080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Used </a:t>
            </a:r>
            <a:r>
              <a:rPr lang="en-US" b="1" dirty="0"/>
              <a:t>in:</a:t>
            </a:r>
          </a:p>
          <a:p>
            <a:pPr lvl="1"/>
            <a:r>
              <a:rPr lang="en-US" dirty="0"/>
              <a:t>Symmetric systems (e.g., AES key rotation)</a:t>
            </a:r>
          </a:p>
          <a:p>
            <a:pPr lvl="1"/>
            <a:r>
              <a:rPr lang="en-US" dirty="0"/>
              <a:t>TLS certificates</a:t>
            </a:r>
          </a:p>
          <a:p>
            <a:pPr lvl="1"/>
            <a:r>
              <a:rPr lang="en-US" dirty="0"/>
              <a:t>API keys</a:t>
            </a:r>
          </a:p>
          <a:p>
            <a:pPr marL="50800" indent="0">
              <a:buNone/>
            </a:pPr>
            <a:r>
              <a:rPr lang="en-US" b="1" dirty="0" smtClean="0"/>
              <a:t>2</a:t>
            </a:r>
            <a:r>
              <a:rPr lang="en-US" b="1" dirty="0"/>
              <a:t>. Key Derivation Functions (KDFs) with New Salts</a:t>
            </a:r>
          </a:p>
          <a:p>
            <a:pPr lvl="1"/>
            <a:r>
              <a:rPr lang="en-US" dirty="0"/>
              <a:t>Derive new keys from a master secret + new random salt.</a:t>
            </a:r>
          </a:p>
          <a:p>
            <a:pPr lvl="1"/>
            <a:r>
              <a:rPr lang="en-US" dirty="0"/>
              <a:t>Provides key agility and supports key separation for different users/sessions.</a:t>
            </a:r>
          </a:p>
          <a:p>
            <a:pPr marL="50800" indent="0">
              <a:buNone/>
            </a:pPr>
            <a:r>
              <a:rPr lang="en-US" b="1" dirty="0" smtClean="0"/>
              <a:t>	 </a:t>
            </a:r>
            <a:r>
              <a:rPr lang="en-US" b="1" dirty="0"/>
              <a:t>Examples:</a:t>
            </a:r>
          </a:p>
          <a:p>
            <a:pPr lvl="1"/>
            <a:r>
              <a:rPr lang="en-US" dirty="0"/>
              <a:t>plaintext</a:t>
            </a:r>
          </a:p>
          <a:p>
            <a:pPr lvl="1"/>
            <a:r>
              <a:rPr lang="en-US" dirty="0" err="1"/>
              <a:t>CopyEdit</a:t>
            </a:r>
            <a:endParaRPr lang="en-US" dirty="0"/>
          </a:p>
          <a:p>
            <a:pPr lvl="1"/>
            <a:r>
              <a:rPr lang="en-US" dirty="0" err="1"/>
              <a:t>new_key</a:t>
            </a:r>
            <a:r>
              <a:rPr lang="en-US" dirty="0"/>
              <a:t> = HKDF(</a:t>
            </a:r>
            <a:r>
              <a:rPr lang="en-US" dirty="0" err="1"/>
              <a:t>master_secret</a:t>
            </a:r>
            <a:r>
              <a:rPr lang="en-US" dirty="0"/>
              <a:t>, </a:t>
            </a:r>
            <a:r>
              <a:rPr lang="en-US" dirty="0" err="1"/>
              <a:t>new_salt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Used in TLS 1.3, SSH, and password-based encryption.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46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Updating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141" y="1116811"/>
            <a:ext cx="8229600" cy="5180080"/>
          </a:xfrm>
        </p:spPr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en-US" b="1" dirty="0" smtClean="0"/>
              <a:t>3</a:t>
            </a:r>
            <a:r>
              <a:rPr lang="en-US" b="1" dirty="0"/>
              <a:t>. Key Wrapping and Rekeying</a:t>
            </a:r>
          </a:p>
          <a:p>
            <a:pPr lvl="1"/>
            <a:r>
              <a:rPr lang="en-US" dirty="0"/>
              <a:t>Instead of decrypting and re-encrypting all data, wrap the data key with a new master key.</a:t>
            </a:r>
          </a:p>
          <a:p>
            <a:pPr marL="50800" indent="0">
              <a:buNone/>
            </a:pPr>
            <a:r>
              <a:rPr lang="en-US" b="1" dirty="0" smtClean="0"/>
              <a:t>	✅ </a:t>
            </a:r>
            <a:r>
              <a:rPr lang="en-US" b="1" dirty="0"/>
              <a:t>How it works:</a:t>
            </a:r>
          </a:p>
          <a:p>
            <a:pPr lvl="1"/>
            <a:r>
              <a:rPr lang="en-US" dirty="0"/>
              <a:t>Data is encrypted with a </a:t>
            </a:r>
            <a:r>
              <a:rPr lang="en-US" b="1" dirty="0"/>
              <a:t>data encryption key (DEK)</a:t>
            </a:r>
            <a:endParaRPr lang="en-US" dirty="0"/>
          </a:p>
          <a:p>
            <a:pPr lvl="1"/>
            <a:r>
              <a:rPr lang="en-US" dirty="0"/>
              <a:t>DEK is encrypted (wrapped) with a </a:t>
            </a:r>
            <a:r>
              <a:rPr lang="en-US" b="1" dirty="0"/>
              <a:t>key encryption key (KEK)</a:t>
            </a:r>
            <a:endParaRPr lang="en-US" dirty="0"/>
          </a:p>
          <a:p>
            <a:pPr lvl="1"/>
            <a:r>
              <a:rPr lang="en-US" dirty="0"/>
              <a:t>To rotate KEK:</a:t>
            </a:r>
          </a:p>
          <a:p>
            <a:pPr lvl="2"/>
            <a:r>
              <a:rPr lang="en-US" dirty="0"/>
              <a:t>Decrypt DEK with old KEK</a:t>
            </a:r>
          </a:p>
          <a:p>
            <a:pPr lvl="2"/>
            <a:r>
              <a:rPr lang="en-US" dirty="0"/>
              <a:t>Re-encrypt DEK with new KEK</a:t>
            </a:r>
          </a:p>
          <a:p>
            <a:pPr lvl="2"/>
            <a:r>
              <a:rPr lang="en-US" dirty="0"/>
              <a:t>No need to re-encrypt the data</a:t>
            </a:r>
          </a:p>
          <a:p>
            <a:pPr marL="50800" indent="0">
              <a:buNone/>
            </a:pPr>
            <a:r>
              <a:rPr lang="en-US" dirty="0" smtClean="0"/>
              <a:t>	</a:t>
            </a:r>
            <a:r>
              <a:rPr lang="en-US" b="1" dirty="0" smtClean="0"/>
              <a:t>Used </a:t>
            </a:r>
            <a:r>
              <a:rPr lang="en-US" b="1" dirty="0"/>
              <a:t>in AWS KMS, Google Cloud KMS, </a:t>
            </a:r>
            <a:r>
              <a:rPr lang="en-US" b="1" dirty="0" smtClean="0"/>
              <a:t>HSMs</a:t>
            </a:r>
          </a:p>
          <a:p>
            <a:pPr marL="50800" indent="0">
              <a:buNone/>
            </a:pPr>
            <a:r>
              <a:rPr lang="en-US" b="1" dirty="0" smtClean="0"/>
              <a:t>4. Forward Secrecy / Ephemeral Keys</a:t>
            </a:r>
          </a:p>
          <a:p>
            <a:pPr lvl="1"/>
            <a:r>
              <a:rPr lang="en-US" dirty="0" smtClean="0"/>
              <a:t>Frequently </a:t>
            </a:r>
            <a:r>
              <a:rPr lang="en-US" dirty="0"/>
              <a:t>update keys per session or message.</a:t>
            </a:r>
          </a:p>
          <a:p>
            <a:pPr lvl="1"/>
            <a:r>
              <a:rPr lang="en-US" dirty="0"/>
              <a:t>No long-term key reuse.</a:t>
            </a:r>
          </a:p>
          <a:p>
            <a:pPr marL="50800" indent="0">
              <a:buNone/>
            </a:pPr>
            <a:r>
              <a:rPr lang="en-US" dirty="0" smtClean="0"/>
              <a:t>	✅ </a:t>
            </a:r>
            <a:r>
              <a:rPr lang="en-US" dirty="0"/>
              <a:t>Used in secure messaging (e.g., Signal Protocol), TLS </a:t>
            </a:r>
            <a:r>
              <a:rPr lang="en-US" dirty="0" smtClean="0"/>
              <a:t>1.3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3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Updating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04" y="1324629"/>
            <a:ext cx="8229600" cy="4847571"/>
          </a:xfrm>
        </p:spPr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5. Key Expiry and Auto-Renewal</a:t>
            </a:r>
          </a:p>
          <a:p>
            <a:pPr lvl="1"/>
            <a:r>
              <a:rPr lang="en-US" dirty="0"/>
              <a:t>Keys are associated with expiration timestamps.</a:t>
            </a:r>
          </a:p>
          <a:p>
            <a:pPr lvl="1"/>
            <a:r>
              <a:rPr lang="en-US" dirty="0"/>
              <a:t>Systems auto-generate and distribute new keys before expiry.</a:t>
            </a:r>
          </a:p>
          <a:p>
            <a:pPr lvl="1"/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X.509 TLS certificates have a validity period (e.g., 90 days for Let’s Encrypt)</a:t>
            </a:r>
          </a:p>
          <a:p>
            <a:pPr marL="50800" indent="0">
              <a:buNone/>
            </a:pPr>
            <a:r>
              <a:rPr lang="en-US" b="1" dirty="0" smtClean="0"/>
              <a:t>6</a:t>
            </a:r>
            <a:r>
              <a:rPr lang="en-US" b="1" dirty="0"/>
              <a:t>. Key Update Protocols (KUPs)</a:t>
            </a:r>
          </a:p>
          <a:p>
            <a:pPr lvl="1"/>
            <a:r>
              <a:rPr lang="en-US" dirty="0"/>
              <a:t>Specific protocols for securely updating keys between parties.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IKEv2 Rekeying: In IPsec VPNs</a:t>
            </a:r>
          </a:p>
          <a:p>
            <a:pPr lvl="2"/>
            <a:r>
              <a:rPr lang="en-US" dirty="0"/>
              <a:t>TLS Session Ticket Update</a:t>
            </a:r>
          </a:p>
          <a:p>
            <a:pPr lvl="2"/>
            <a:r>
              <a:rPr lang="en-US" dirty="0" err="1"/>
              <a:t>Zigbee</a:t>
            </a:r>
            <a:r>
              <a:rPr lang="en-US" dirty="0"/>
              <a:t> Key Update Procedure</a:t>
            </a:r>
          </a:p>
          <a:p>
            <a:pPr marL="50800" indent="0">
              <a:buNone/>
            </a:pPr>
            <a:r>
              <a:rPr lang="en-US" b="1" dirty="0" smtClean="0"/>
              <a:t>7</a:t>
            </a:r>
            <a:r>
              <a:rPr lang="en-US" b="1" dirty="0"/>
              <a:t>. Key Escrow and Re-encryption</a:t>
            </a:r>
          </a:p>
          <a:p>
            <a:pPr lvl="1"/>
            <a:r>
              <a:rPr lang="en-US" dirty="0"/>
              <a:t>Old keys are archived in escrow.</a:t>
            </a:r>
          </a:p>
          <a:p>
            <a:pPr lvl="1"/>
            <a:r>
              <a:rPr lang="en-US" dirty="0"/>
              <a:t>When updating keys, data is </a:t>
            </a:r>
            <a:r>
              <a:rPr lang="en-US" b="1" dirty="0"/>
              <a:t>re-encrypted in bulk</a:t>
            </a:r>
            <a:r>
              <a:rPr lang="en-US" dirty="0"/>
              <a:t> using new keys.</a:t>
            </a:r>
          </a:p>
          <a:p>
            <a:pPr lvl="1"/>
            <a:r>
              <a:rPr lang="en-US" dirty="0"/>
              <a:t>Risky if not done securely – requires full access to plaintext.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98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Update Keys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80152"/>
              </p:ext>
            </p:extLst>
          </p:nvPr>
        </p:nvGraphicFramePr>
        <p:xfrm>
          <a:off x="955386" y="1432791"/>
          <a:ext cx="7430078" cy="4552372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2577523"/>
                <a:gridCol w="4852555"/>
              </a:tblGrid>
              <a:tr h="4138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Trigger Type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Examples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277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Time-based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Rotate keys every X days (e.g., every 90 days)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277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Security </a:t>
                      </a:r>
                      <a:r>
                        <a:rPr lang="en-IN" sz="2000" u="none" strike="noStrike" dirty="0">
                          <a:effectLst/>
                        </a:rPr>
                        <a:t>Event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Suspected breach or key compromise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277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Policy-based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Regulatory compliance (e.g., NIST mandates)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277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Usage-based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After N encryptions (as in AES-GCM nonce limits)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8277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 smtClean="0">
                          <a:effectLst/>
                        </a:rPr>
                        <a:t>Personnel </a:t>
                      </a:r>
                      <a:r>
                        <a:rPr lang="en-IN" sz="2000" u="none" strike="noStrike" dirty="0">
                          <a:effectLst/>
                        </a:rPr>
                        <a:t>change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Key holder leaves the organization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10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</a:t>
            </a:r>
            <a:r>
              <a:rPr lang="en-IN" b="1" dirty="0" smtClean="0"/>
              <a:t>Practices for key update strategy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Automate </a:t>
            </a:r>
            <a:r>
              <a:rPr lang="en-IN" dirty="0"/>
              <a:t>key rotation using secure KMS (AWS KMS, </a:t>
            </a:r>
            <a:r>
              <a:rPr lang="en-IN" dirty="0" err="1"/>
              <a:t>HashiCorp</a:t>
            </a:r>
            <a:r>
              <a:rPr lang="en-IN" dirty="0"/>
              <a:t> </a:t>
            </a:r>
            <a:r>
              <a:rPr lang="en-IN" dirty="0" smtClean="0"/>
              <a:t>Vault)</a:t>
            </a:r>
          </a:p>
          <a:p>
            <a:r>
              <a:rPr lang="en-IN" dirty="0" smtClean="0"/>
              <a:t>Use </a:t>
            </a:r>
            <a:r>
              <a:rPr lang="en-IN" b="1" dirty="0"/>
              <a:t>versioning</a:t>
            </a:r>
            <a:r>
              <a:rPr lang="en-IN" dirty="0"/>
              <a:t> to track old and new </a:t>
            </a:r>
            <a:r>
              <a:rPr lang="en-IN" dirty="0" smtClean="0"/>
              <a:t>keys</a:t>
            </a:r>
          </a:p>
          <a:p>
            <a:r>
              <a:rPr lang="en-IN" dirty="0" smtClean="0"/>
              <a:t>Audit </a:t>
            </a:r>
            <a:r>
              <a:rPr lang="en-IN" dirty="0"/>
              <a:t>all key updates and store logs </a:t>
            </a:r>
            <a:r>
              <a:rPr lang="en-IN" dirty="0" smtClean="0"/>
              <a:t>securely</a:t>
            </a:r>
          </a:p>
          <a:p>
            <a:r>
              <a:rPr lang="en-IN" dirty="0" smtClean="0"/>
              <a:t> </a:t>
            </a:r>
            <a:r>
              <a:rPr lang="en-IN" dirty="0"/>
              <a:t>Ensure </a:t>
            </a:r>
            <a:r>
              <a:rPr lang="en-IN" b="1" dirty="0"/>
              <a:t>backward compatibility</a:t>
            </a:r>
            <a:r>
              <a:rPr lang="en-IN" dirty="0"/>
              <a:t> (e.g., for decrypting older </a:t>
            </a:r>
            <a:r>
              <a:rPr lang="en-IN" dirty="0" smtClean="0"/>
              <a:t>data)</a:t>
            </a:r>
          </a:p>
          <a:p>
            <a:r>
              <a:rPr lang="en-IN" dirty="0" smtClean="0"/>
              <a:t>Avoid </a:t>
            </a:r>
            <a:r>
              <a:rPr lang="en-IN" dirty="0"/>
              <a:t>simultaneous rotation across multiple systems unless coordinated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27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  <a:r>
              <a:rPr lang="en-US" dirty="0" smtClean="0"/>
              <a:t>: </a:t>
            </a:r>
            <a:r>
              <a:rPr lang="en-US" dirty="0"/>
              <a:t>Key Update </a:t>
            </a:r>
            <a:r>
              <a:rPr lang="en-US" dirty="0" smtClean="0"/>
              <a:t>Methods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013929"/>
              </p:ext>
            </p:extLst>
          </p:nvPr>
        </p:nvGraphicFramePr>
        <p:xfrm>
          <a:off x="772389" y="1164934"/>
          <a:ext cx="7976757" cy="4996874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2218537"/>
                <a:gridCol w="3099301"/>
                <a:gridCol w="2658919"/>
              </a:tblGrid>
              <a:tr h="3123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effectLst/>
                        </a:rPr>
                        <a:t>Method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>
                          <a:effectLst/>
                        </a:rPr>
                        <a:t>Description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Used In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93691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Key Rotation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Regular replacement of keys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TLS, APIs, symmetric crypto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6246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KDF with new salt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Derive fresh keys from master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TLS, password encryption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93691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Key Wrapping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Rotate KEKs without touching encrypted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HSMs, cloud KMS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93691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Forward Secrecy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Per-session or per-message ephemeral keys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Signal, TLS 1.3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6246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Expiry &amp; Auto-Renewal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Timed expiry triggers rotation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Certificates, JWTs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6246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Key Update Protocols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Secure rekeying messages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IKEv2, </a:t>
                      </a:r>
                      <a:r>
                        <a:rPr lang="en-IN" sz="1600" u="none" strike="noStrike" dirty="0" err="1">
                          <a:effectLst/>
                        </a:rPr>
                        <a:t>Zigbee</a:t>
                      </a:r>
                      <a:r>
                        <a:rPr lang="en-IN" sz="1600" u="none" strike="noStrike" dirty="0">
                          <a:effectLst/>
                        </a:rPr>
                        <a:t>, TLS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93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Memorise the key(s) (!!!)</a:t>
            </a:r>
          </a:p>
          <a:p>
            <a:pPr lvl="1"/>
            <a:r>
              <a:rPr lang="en-IN" dirty="0" smtClean="0"/>
              <a:t>Keys are longer, not very easy to remember</a:t>
            </a:r>
          </a:p>
          <a:p>
            <a:pPr lvl="1"/>
            <a:r>
              <a:rPr lang="en-IN" dirty="0" smtClean="0"/>
              <a:t>Could turn out Single of failure</a:t>
            </a:r>
          </a:p>
          <a:p>
            <a:r>
              <a:rPr lang="en-US" dirty="0"/>
              <a:t>key in a magnetic stripe card, plastic key with an embedded </a:t>
            </a:r>
            <a:r>
              <a:rPr lang="en-US" dirty="0" smtClean="0"/>
              <a:t>ROM chip </a:t>
            </a:r>
            <a:r>
              <a:rPr lang="en-US" dirty="0"/>
              <a:t>(called a ROM key), or smart </a:t>
            </a:r>
            <a:r>
              <a:rPr lang="en-US" dirty="0" smtClean="0"/>
              <a:t>card</a:t>
            </a:r>
          </a:p>
          <a:p>
            <a:r>
              <a:rPr lang="en-US" dirty="0"/>
              <a:t>inserting the physical token into a special reader in his encryption box or attached to </a:t>
            </a:r>
            <a:r>
              <a:rPr lang="en-US" dirty="0" smtClean="0"/>
              <a:t>the computer </a:t>
            </a:r>
            <a:r>
              <a:rPr lang="en-US" dirty="0"/>
              <a:t>terminal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 key escrow technique</a:t>
            </a:r>
          </a:p>
          <a:p>
            <a:r>
              <a:rPr lang="en-US" dirty="0"/>
              <a:t>regenerate the keys from an easy-to-remember password every </a:t>
            </a:r>
            <a:r>
              <a:rPr lang="en-US" dirty="0" smtClean="0"/>
              <a:t>time they </a:t>
            </a:r>
            <a:r>
              <a:rPr lang="en-US" dirty="0"/>
              <a:t>are required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key </a:t>
            </a:r>
            <a:r>
              <a:rPr lang="en-US" dirty="0"/>
              <a:t>should never appear unencrypted outside the encryption device.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85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Storage </a:t>
            </a:r>
            <a:r>
              <a:rPr lang="en-IN" dirty="0" smtClean="0"/>
              <a:t>Requirements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82359"/>
              </p:ext>
            </p:extLst>
          </p:nvPr>
        </p:nvGraphicFramePr>
        <p:xfrm>
          <a:off x="1134916" y="1505526"/>
          <a:ext cx="7032338" cy="4396509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2481120"/>
                <a:gridCol w="4551218"/>
              </a:tblGrid>
              <a:tr h="39968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Property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Description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7993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Confidentiality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Prevent unauthorized access to the key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7993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Integrity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Ensure the key is not modified or corrupted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11990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Availability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Ensure the key can be retrieved when needed by authorized systems/users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  <a:tr h="11990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Auditability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Ensure every access, change, and operation on the key is logged and traceable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51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Storage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04" y="1070265"/>
            <a:ext cx="8229600" cy="4780328"/>
          </a:xfrm>
        </p:spPr>
        <p:txBody>
          <a:bodyPr>
            <a:normAutofit fontScale="55000" lnSpcReduction="20000"/>
          </a:bodyPr>
          <a:lstStyle/>
          <a:p>
            <a:pPr marL="50800" indent="0">
              <a:buNone/>
            </a:pPr>
            <a:r>
              <a:rPr lang="en-US" b="1" dirty="0"/>
              <a:t>1. Hardware Security Module (HSM)</a:t>
            </a:r>
          </a:p>
          <a:p>
            <a:r>
              <a:rPr lang="en-US" dirty="0"/>
              <a:t>A physical device </a:t>
            </a:r>
            <a:r>
              <a:rPr lang="en-US" dirty="0" smtClean="0"/>
              <a:t>would securely generate, store, </a:t>
            </a:r>
            <a:r>
              <a:rPr lang="en-US" dirty="0"/>
              <a:t>and </a:t>
            </a:r>
            <a:r>
              <a:rPr lang="en-US" dirty="0" smtClean="0"/>
              <a:t>use </a:t>
            </a:r>
            <a:r>
              <a:rPr lang="en-US" dirty="0"/>
              <a:t>cryptographic </a:t>
            </a:r>
            <a:r>
              <a:rPr lang="en-US" dirty="0" smtClean="0"/>
              <a:t>keys.</a:t>
            </a:r>
          </a:p>
          <a:p>
            <a:r>
              <a:rPr lang="en-US" dirty="0" smtClean="0"/>
              <a:t>Will Ensure </a:t>
            </a:r>
            <a:r>
              <a:rPr lang="en-US" dirty="0"/>
              <a:t>that private keys </a:t>
            </a:r>
            <a:r>
              <a:rPr lang="en-US" b="1" dirty="0"/>
              <a:t>never leave the secure hardware </a:t>
            </a:r>
            <a:r>
              <a:rPr lang="en-US" b="1" dirty="0" smtClean="0"/>
              <a:t>boundary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Certified </a:t>
            </a:r>
            <a:r>
              <a:rPr lang="en-US" dirty="0"/>
              <a:t>devices often comply with </a:t>
            </a:r>
            <a:r>
              <a:rPr lang="en-US" b="1" dirty="0"/>
              <a:t>Federal Information Processing Standard (FIPS) 140-2 or 140-3</a:t>
            </a:r>
            <a:r>
              <a:rPr lang="en-US" dirty="0"/>
              <a:t>.</a:t>
            </a:r>
          </a:p>
          <a:p>
            <a:pPr marL="50800" indent="0">
              <a:buNone/>
            </a:pPr>
            <a:r>
              <a:rPr lang="en-US" b="1" dirty="0"/>
              <a:t>Use Cases:</a:t>
            </a:r>
            <a:endParaRPr lang="en-US" dirty="0"/>
          </a:p>
          <a:p>
            <a:r>
              <a:rPr lang="en-US" dirty="0"/>
              <a:t>Root key storage</a:t>
            </a:r>
          </a:p>
          <a:p>
            <a:r>
              <a:rPr lang="en-US" dirty="0"/>
              <a:t>Payment systems</a:t>
            </a:r>
          </a:p>
          <a:p>
            <a:r>
              <a:rPr lang="en-US" dirty="0"/>
              <a:t>Digital certificates (Public Key Infrastructure)</a:t>
            </a:r>
          </a:p>
          <a:p>
            <a:pPr marL="50800" indent="0">
              <a:buNone/>
            </a:pPr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Physically tamper-resistant</a:t>
            </a:r>
          </a:p>
          <a:p>
            <a:r>
              <a:rPr lang="en-US" dirty="0"/>
              <a:t>High-performance cryptographic operations</a:t>
            </a:r>
          </a:p>
          <a:p>
            <a:r>
              <a:rPr lang="en-US" dirty="0"/>
              <a:t>Non-extractable keys</a:t>
            </a:r>
          </a:p>
          <a:p>
            <a:pPr marL="50800" indent="0">
              <a:buNone/>
            </a:pPr>
            <a:r>
              <a:rPr lang="en-US" b="1" dirty="0"/>
              <a:t>Cons:</a:t>
            </a:r>
            <a:endParaRPr lang="en-US" dirty="0"/>
          </a:p>
          <a:p>
            <a:r>
              <a:rPr lang="en-US" dirty="0"/>
              <a:t>Expensive</a:t>
            </a:r>
          </a:p>
          <a:p>
            <a:r>
              <a:rPr lang="en-US" dirty="0"/>
              <a:t>Requires physical and network integration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0391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b="1" dirty="0"/>
              <a:t>2. Trusted Platform Module (TPM)</a:t>
            </a:r>
          </a:p>
          <a:p>
            <a:r>
              <a:rPr lang="en-IN" dirty="0"/>
              <a:t>A dedicated microcontroller integrated into computers</a:t>
            </a:r>
          </a:p>
          <a:p>
            <a:r>
              <a:rPr lang="en-IN" dirty="0"/>
              <a:t>Stores cryptographic keys, digital signatures, and integrity measurements</a:t>
            </a:r>
          </a:p>
          <a:p>
            <a:pPr marL="50800" indent="0">
              <a:buNone/>
            </a:pPr>
            <a:r>
              <a:rPr lang="en-IN" b="1" dirty="0"/>
              <a:t>Use Cases:</a:t>
            </a:r>
            <a:endParaRPr lang="en-IN" dirty="0"/>
          </a:p>
          <a:p>
            <a:r>
              <a:rPr lang="en-IN" dirty="0" smtClean="0"/>
              <a:t>Full-disk encryption (e.g., BitLocker)</a:t>
            </a:r>
          </a:p>
          <a:p>
            <a:r>
              <a:rPr lang="en-IN" dirty="0" smtClean="0"/>
              <a:t>Platform attestation</a:t>
            </a:r>
          </a:p>
          <a:p>
            <a:r>
              <a:rPr lang="en-IN" dirty="0" smtClean="0"/>
              <a:t>Secure boot and identity keys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987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en-US" b="1" dirty="0"/>
              <a:t>3. Key Management Service (KMS)</a:t>
            </a:r>
          </a:p>
          <a:p>
            <a:r>
              <a:rPr lang="en-US" dirty="0"/>
              <a:t>A cloud-based or on-premises service for centralized key storage and operations</a:t>
            </a:r>
          </a:p>
          <a:p>
            <a:r>
              <a:rPr lang="en-US" dirty="0"/>
              <a:t>Often backed by HSMs or software-based secure enclaves</a:t>
            </a:r>
          </a:p>
          <a:p>
            <a:pPr marL="50800" indent="0">
              <a:buNone/>
            </a:pPr>
            <a:r>
              <a:rPr lang="en-US" dirty="0"/>
              <a:t>Examples:</a:t>
            </a:r>
          </a:p>
          <a:p>
            <a:pPr lvl="1"/>
            <a:r>
              <a:rPr lang="en-US" dirty="0"/>
              <a:t>Amazon Web Services Key Management Service (AWS KMS)</a:t>
            </a:r>
          </a:p>
          <a:p>
            <a:pPr lvl="1"/>
            <a:r>
              <a:rPr lang="en-US" dirty="0"/>
              <a:t>Microsoft Azure Key Vault</a:t>
            </a:r>
          </a:p>
          <a:p>
            <a:pPr lvl="1"/>
            <a:r>
              <a:rPr lang="en-US" dirty="0"/>
              <a:t>Google Cloud Key Management Service (GCP KMS)</a:t>
            </a:r>
          </a:p>
          <a:p>
            <a:pPr marL="50800" indent="0">
              <a:buNone/>
            </a:pPr>
            <a:r>
              <a:rPr lang="en-US" b="1" dirty="0"/>
              <a:t>Features:</a:t>
            </a:r>
            <a:endParaRPr lang="en-US" dirty="0"/>
          </a:p>
          <a:p>
            <a:pPr lvl="1"/>
            <a:r>
              <a:rPr lang="en-US" dirty="0"/>
              <a:t>Access control using </a:t>
            </a:r>
            <a:r>
              <a:rPr lang="en-US" b="1" dirty="0"/>
              <a:t>Identity and Access Management (IAM)</a:t>
            </a:r>
            <a:endParaRPr lang="en-US" dirty="0"/>
          </a:p>
          <a:p>
            <a:pPr lvl="1"/>
            <a:r>
              <a:rPr lang="en-US" dirty="0"/>
              <a:t>Automatic key rotation</a:t>
            </a:r>
          </a:p>
          <a:p>
            <a:pPr lvl="1"/>
            <a:r>
              <a:rPr lang="en-US" dirty="0"/>
              <a:t>Audit logs via </a:t>
            </a:r>
            <a:r>
              <a:rPr lang="en-US" b="1" dirty="0" err="1"/>
              <a:t>CloudTrail</a:t>
            </a:r>
            <a:r>
              <a:rPr lang="en-US" dirty="0"/>
              <a:t>, </a:t>
            </a:r>
            <a:r>
              <a:rPr lang="en-US" b="1" dirty="0"/>
              <a:t>Azure Monitor</a:t>
            </a:r>
            <a:r>
              <a:rPr lang="en-US" dirty="0"/>
              <a:t>, or similar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8606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 smtClean="0"/>
              <a:t>4. Operating </a:t>
            </a:r>
            <a:r>
              <a:rPr lang="en-IN" dirty="0"/>
              <a:t>System–Level </a:t>
            </a:r>
            <a:r>
              <a:rPr lang="en-IN" dirty="0" err="1" smtClean="0"/>
              <a:t>Keystores</a:t>
            </a:r>
            <a:endParaRPr lang="en-IN" dirty="0" smtClean="0"/>
          </a:p>
          <a:p>
            <a:pPr lvl="1"/>
            <a:r>
              <a:rPr lang="en-IN" dirty="0" smtClean="0"/>
              <a:t>Windows- Data-Protection </a:t>
            </a:r>
            <a:r>
              <a:rPr lang="en-IN" dirty="0"/>
              <a:t>API (DPAPI)</a:t>
            </a:r>
          </a:p>
          <a:p>
            <a:pPr lvl="1"/>
            <a:r>
              <a:rPr lang="en-IN" dirty="0" err="1"/>
              <a:t>macOS</a:t>
            </a:r>
            <a:r>
              <a:rPr lang="en-IN" dirty="0"/>
              <a:t> / iOS- Keychain</a:t>
            </a:r>
          </a:p>
          <a:p>
            <a:pPr lvl="1"/>
            <a:r>
              <a:rPr lang="en-IN" dirty="0"/>
              <a:t>Linux-GNOME Keyring, </a:t>
            </a:r>
            <a:r>
              <a:rPr lang="en-IN" dirty="0" err="1"/>
              <a:t>KWallet</a:t>
            </a:r>
            <a:endParaRPr lang="en-IN" dirty="0"/>
          </a:p>
          <a:p>
            <a:pPr lvl="1"/>
            <a:r>
              <a:rPr lang="en-IN" dirty="0"/>
              <a:t>Android	-Android </a:t>
            </a:r>
            <a:r>
              <a:rPr lang="en-IN" dirty="0" err="1"/>
              <a:t>Keystore</a:t>
            </a:r>
            <a:r>
              <a:rPr lang="en-IN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2395124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b="1" dirty="0" smtClean="0"/>
              <a:t>5. Application-Level </a:t>
            </a:r>
            <a:r>
              <a:rPr lang="en-IN" b="1" dirty="0"/>
              <a:t>or Software-Based </a:t>
            </a:r>
            <a:r>
              <a:rPr lang="en-IN" b="1" dirty="0" err="1"/>
              <a:t>Keystores</a:t>
            </a:r>
            <a:endParaRPr lang="en-IN" b="1" dirty="0"/>
          </a:p>
          <a:p>
            <a:r>
              <a:rPr lang="en-IN" dirty="0"/>
              <a:t>Store encrypted keys within application configuration or files</a:t>
            </a:r>
          </a:p>
          <a:p>
            <a:r>
              <a:rPr lang="en-IN" dirty="0"/>
              <a:t>Encrypt keys using a </a:t>
            </a:r>
            <a:r>
              <a:rPr lang="en-IN" b="1" dirty="0"/>
              <a:t>Key Encryption Key (KEK)</a:t>
            </a:r>
            <a:r>
              <a:rPr lang="en-IN" dirty="0"/>
              <a:t>, often derived from user input via a </a:t>
            </a:r>
            <a:r>
              <a:rPr lang="en-IN" b="1" dirty="0"/>
              <a:t>Key Derivation Function (KDF)</a:t>
            </a:r>
            <a:r>
              <a:rPr lang="en-IN" dirty="0"/>
              <a:t> like </a:t>
            </a:r>
            <a:r>
              <a:rPr lang="en-IN" b="1" dirty="0"/>
              <a:t>PBKDF2</a:t>
            </a:r>
            <a:r>
              <a:rPr lang="en-IN" dirty="0"/>
              <a:t>, </a:t>
            </a:r>
            <a:r>
              <a:rPr lang="en-IN" b="1" dirty="0" err="1"/>
              <a:t>scrypt</a:t>
            </a:r>
            <a:r>
              <a:rPr lang="en-IN" dirty="0"/>
              <a:t>, or </a:t>
            </a:r>
            <a:r>
              <a:rPr lang="en-IN" b="1" dirty="0"/>
              <a:t>Argon2</a:t>
            </a:r>
            <a:endParaRPr lang="en-IN" dirty="0"/>
          </a:p>
          <a:p>
            <a:pPr marL="50800" indent="0">
              <a:buNone/>
            </a:pPr>
            <a:r>
              <a:rPr lang="en-IN" b="1" dirty="0"/>
              <a:t>Drawback:</a:t>
            </a:r>
            <a:r>
              <a:rPr lang="en-IN" dirty="0"/>
              <a:t> Security depends on how well the KEK is protected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690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n-US" b="1" dirty="0" smtClean="0"/>
              <a:t>6. Key </a:t>
            </a:r>
            <a:r>
              <a:rPr lang="en-US" b="1" dirty="0"/>
              <a:t>Wrapping</a:t>
            </a:r>
          </a:p>
          <a:p>
            <a:pPr marL="50800" indent="0">
              <a:buNone/>
            </a:pPr>
            <a:r>
              <a:rPr lang="en-US" dirty="0"/>
              <a:t>Instead of storing a raw key directly, </a:t>
            </a:r>
            <a:r>
              <a:rPr lang="en-US" b="1" dirty="0"/>
              <a:t>key wrapping</a:t>
            </a:r>
            <a:r>
              <a:rPr lang="en-US" dirty="0"/>
              <a:t> means:</a:t>
            </a:r>
          </a:p>
          <a:p>
            <a:pPr lvl="1"/>
            <a:r>
              <a:rPr lang="en-US" dirty="0"/>
              <a:t>Encrypting the target key with a </a:t>
            </a:r>
            <a:r>
              <a:rPr lang="en-US" b="1" dirty="0"/>
              <a:t>Key Encryption Key (KEK)</a:t>
            </a:r>
            <a:endParaRPr lang="en-US" dirty="0"/>
          </a:p>
          <a:p>
            <a:pPr lvl="1"/>
            <a:r>
              <a:rPr lang="en-US" dirty="0"/>
              <a:t>Storing the </a:t>
            </a:r>
            <a:r>
              <a:rPr lang="en-US" b="1" dirty="0"/>
              <a:t>wrapped key</a:t>
            </a:r>
            <a:r>
              <a:rPr lang="en-US" dirty="0"/>
              <a:t> instead</a:t>
            </a:r>
          </a:p>
          <a:p>
            <a:r>
              <a:rPr lang="en-US" dirty="0"/>
              <a:t>This technique enables:</a:t>
            </a:r>
          </a:p>
          <a:p>
            <a:pPr lvl="1"/>
            <a:r>
              <a:rPr lang="en-US" dirty="0"/>
              <a:t>Layered protection</a:t>
            </a:r>
          </a:p>
          <a:p>
            <a:pPr lvl="1"/>
            <a:r>
              <a:rPr lang="en-US" dirty="0"/>
              <a:t>Separation of data and key encryption</a:t>
            </a:r>
          </a:p>
          <a:p>
            <a:pPr lvl="1"/>
            <a:r>
              <a:rPr lang="en-US" dirty="0"/>
              <a:t>Easier key rotation (re-wrap with new KEK)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7849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Storing Keys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770306"/>
              </p:ext>
            </p:extLst>
          </p:nvPr>
        </p:nvGraphicFramePr>
        <p:xfrm>
          <a:off x="707735" y="1501197"/>
          <a:ext cx="8228445" cy="4458069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2158026"/>
                <a:gridCol w="6070419"/>
              </a:tblGrid>
              <a:tr h="47703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Practice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Description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47703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smtClean="0">
                          <a:effectLst/>
                        </a:rPr>
                        <a:t>Encrypt </a:t>
                      </a:r>
                      <a:r>
                        <a:rPr lang="en-US" sz="1800" u="none" strike="noStrike" dirty="0">
                          <a:effectLst/>
                        </a:rPr>
                        <a:t>keys at rest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Always encrypt stored keys with a strong KEK or using HSM capabilities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8849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smtClean="0">
                          <a:effectLst/>
                        </a:rPr>
                        <a:t>Use </a:t>
                      </a:r>
                      <a:r>
                        <a:rPr lang="en-IN" sz="1800" u="none" strike="noStrike" dirty="0">
                          <a:effectLst/>
                        </a:rPr>
                        <a:t>non-exportable keys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Ensure keys can’t be exported from the storage module (if supported)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4770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smtClean="0">
                          <a:effectLst/>
                        </a:rPr>
                        <a:t>Use </a:t>
                      </a:r>
                      <a:r>
                        <a:rPr lang="en-IN" sz="1800" u="none" strike="noStrike" dirty="0">
                          <a:effectLst/>
                        </a:rPr>
                        <a:t>key hierarchy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Use a Data Encryption Key (DEK) for actual data, and a KEK to protect 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4770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smtClean="0">
                          <a:effectLst/>
                        </a:rPr>
                        <a:t>Enable </a:t>
                      </a:r>
                      <a:r>
                        <a:rPr lang="en-IN" sz="1800" u="none" strike="noStrike" dirty="0">
                          <a:effectLst/>
                        </a:rPr>
                        <a:t>auditing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Track key creation, access, rotation, and deletion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95406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smtClean="0">
                          <a:effectLst/>
                        </a:rPr>
                        <a:t>Validate </a:t>
                      </a:r>
                      <a:r>
                        <a:rPr lang="en-IN" sz="1800" u="none" strike="noStrike" dirty="0">
                          <a:effectLst/>
                        </a:rPr>
                        <a:t>integrity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Use Message Authentication Codes (MAC) or Hash-based Message Authentication Code (HMAC) to detect tampering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4770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smtClean="0">
                          <a:effectLst/>
                        </a:rPr>
                        <a:t>Rotate </a:t>
                      </a:r>
                      <a:r>
                        <a:rPr lang="en-IN" sz="1800" u="none" strike="noStrike" dirty="0">
                          <a:effectLst/>
                        </a:rPr>
                        <a:t>keys regularly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Reduce exposure in case a key is compromised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021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Common pitfalls to avoid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127063"/>
              </p:ext>
            </p:extLst>
          </p:nvPr>
        </p:nvGraphicFramePr>
        <p:xfrm>
          <a:off x="1055832" y="1452704"/>
          <a:ext cx="7267286" cy="4427220"/>
        </p:xfrm>
        <a:graphic>
          <a:graphicData uri="http://schemas.openxmlformats.org/drawingml/2006/table">
            <a:tbl>
              <a:tblPr>
                <a:tableStyleId>{0362B229-3FED-4026-8406-B81C52CA36E7}</a:tableStyleId>
              </a:tblPr>
              <a:tblGrid>
                <a:gridCol w="3025785"/>
                <a:gridCol w="4241501"/>
              </a:tblGrid>
              <a:tr h="36668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Pitfall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Risk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7333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 smtClean="0">
                          <a:effectLst/>
                        </a:rPr>
                        <a:t>Storing </a:t>
                      </a:r>
                      <a:r>
                        <a:rPr lang="en-IN" sz="2400" u="none" strike="noStrike" dirty="0">
                          <a:effectLst/>
                        </a:rPr>
                        <a:t>plaintext keys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Immediate compromise if storage is accessed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7333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 smtClean="0">
                          <a:effectLst/>
                        </a:rPr>
                        <a:t>Hardcoding </a:t>
                      </a:r>
                      <a:r>
                        <a:rPr lang="en-US" sz="2400" u="none" strike="noStrike" dirty="0">
                          <a:effectLst/>
                        </a:rPr>
                        <a:t>keys in source code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Allows attackers to extract them from decompiled code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101407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 smtClean="0">
                          <a:effectLst/>
                        </a:rPr>
                        <a:t>Weak </a:t>
                      </a:r>
                      <a:r>
                        <a:rPr lang="en-IN" sz="2400" u="none" strike="noStrike" dirty="0">
                          <a:effectLst/>
                        </a:rPr>
                        <a:t>KEKs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An encrypted key is only as strong as the KEK that protects it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7333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 smtClean="0">
                          <a:effectLst/>
                        </a:rPr>
                        <a:t>No </a:t>
                      </a:r>
                      <a:r>
                        <a:rPr lang="en-IN" sz="2400" u="none" strike="noStrike" dirty="0">
                          <a:effectLst/>
                        </a:rPr>
                        <a:t>key rotation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Prolonged exposure to potential compromise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  <a:tr h="7333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 smtClean="0">
                          <a:effectLst/>
                        </a:rPr>
                        <a:t>No </a:t>
                      </a:r>
                      <a:r>
                        <a:rPr lang="en-IN" sz="2400" u="none" strike="noStrike" dirty="0">
                          <a:effectLst/>
                        </a:rPr>
                        <a:t>access logs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Lack of audit trail impairs incident response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4722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Backup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</a:t>
            </a:r>
            <a:r>
              <a:rPr lang="en-IN" dirty="0" smtClean="0"/>
              <a:t>escrow </a:t>
            </a:r>
          </a:p>
          <a:p>
            <a:r>
              <a:rPr lang="en-IN" dirty="0" smtClean="0"/>
              <a:t>Split the key and store them with different people</a:t>
            </a:r>
          </a:p>
          <a:p>
            <a:r>
              <a:rPr lang="en-US" dirty="0"/>
              <a:t>store the </a:t>
            </a:r>
            <a:r>
              <a:rPr lang="en-US" dirty="0" smtClean="0"/>
              <a:t>split pieces</a:t>
            </a:r>
            <a:r>
              <a:rPr lang="en-US" dirty="0"/>
              <a:t>, encrypted with each of </a:t>
            </a:r>
            <a:r>
              <a:rPr lang="en-US" dirty="0" smtClean="0"/>
              <a:t>the officer’s </a:t>
            </a:r>
            <a:r>
              <a:rPr lang="en-US" dirty="0"/>
              <a:t>different public keys, on </a:t>
            </a:r>
            <a:r>
              <a:rPr lang="en-US" dirty="0" smtClean="0"/>
              <a:t>owner’s </a:t>
            </a:r>
            <a:r>
              <a:rPr lang="en-US" dirty="0"/>
              <a:t>hard disk. That way, no one gets involved with </a:t>
            </a:r>
            <a:r>
              <a:rPr lang="en-US" dirty="0" smtClean="0"/>
              <a:t>key management </a:t>
            </a:r>
            <a:r>
              <a:rPr lang="en-US" dirty="0"/>
              <a:t>until it becomes necessary.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22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Compromised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Alice’s key is lost, </a:t>
            </a:r>
            <a:r>
              <a:rPr lang="en-US" dirty="0" smtClean="0"/>
              <a:t>stolen or otherwise </a:t>
            </a:r>
            <a:r>
              <a:rPr lang="en-US" dirty="0"/>
              <a:t>compromised, then all her security is gone</a:t>
            </a:r>
            <a:r>
              <a:rPr lang="en-US" dirty="0" smtClean="0"/>
              <a:t>.</a:t>
            </a:r>
          </a:p>
          <a:p>
            <a:r>
              <a:rPr lang="en-US" dirty="0"/>
              <a:t>If the compromised key was for a symmetric cryptosystem, Alice has to change her key and hope </a:t>
            </a:r>
            <a:r>
              <a:rPr lang="en-US" dirty="0" smtClean="0"/>
              <a:t>the actual </a:t>
            </a:r>
            <a:r>
              <a:rPr lang="en-US" dirty="0"/>
              <a:t>damage was minimal.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it was a private key, she has bigger </a:t>
            </a:r>
            <a:r>
              <a:rPr lang="en-US" dirty="0" smtClean="0"/>
              <a:t>problems</a:t>
            </a:r>
          </a:p>
          <a:p>
            <a:r>
              <a:rPr lang="en-US" dirty="0"/>
              <a:t>if a key-encryption key </a:t>
            </a:r>
            <a:r>
              <a:rPr lang="en-US" dirty="0" smtClean="0"/>
              <a:t>is compromised</a:t>
            </a:r>
            <a:r>
              <a:rPr lang="en-US" dirty="0"/>
              <a:t>, the potential loss is </a:t>
            </a:r>
            <a:r>
              <a:rPr lang="en-US" dirty="0" smtClean="0"/>
              <a:t>extreme</a:t>
            </a:r>
          </a:p>
          <a:p>
            <a:r>
              <a:rPr lang="en-US" dirty="0" smtClean="0"/>
              <a:t>a </a:t>
            </a:r>
            <a:r>
              <a:rPr lang="en-US" dirty="0"/>
              <a:t>private key’s </a:t>
            </a:r>
            <a:r>
              <a:rPr lang="en-US" dirty="0" smtClean="0"/>
              <a:t>compromise must </a:t>
            </a:r>
            <a:r>
              <a:rPr lang="en-US" dirty="0"/>
              <a:t>propagate quickly throughout the network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 Any databases </a:t>
            </a:r>
            <a:r>
              <a:rPr lang="en-US" dirty="0"/>
              <a:t>of public keys must immediately be </a:t>
            </a:r>
            <a:r>
              <a:rPr lang="en-US" dirty="0" smtClean="0"/>
              <a:t>notified</a:t>
            </a:r>
          </a:p>
          <a:p>
            <a:r>
              <a:rPr lang="en-US" dirty="0" smtClean="0"/>
              <a:t>Inform KDC if it’s involved in key distribution</a:t>
            </a:r>
          </a:p>
          <a:p>
            <a:r>
              <a:rPr lang="en-US" dirty="0" smtClean="0"/>
              <a:t>Use Certificate revocation list- CRL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50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Compromised </a:t>
            </a:r>
            <a:r>
              <a:rPr lang="en-US" dirty="0"/>
              <a:t>Key Response:</a:t>
            </a:r>
          </a:p>
          <a:p>
            <a:pPr lvl="1"/>
            <a:r>
              <a:rPr lang="en-US" dirty="0"/>
              <a:t>Revoke and replace immediately.</a:t>
            </a:r>
          </a:p>
          <a:p>
            <a:pPr lvl="1"/>
            <a:r>
              <a:rPr lang="en-US" dirty="0"/>
              <a:t>Notify affected parties.</a:t>
            </a:r>
          </a:p>
          <a:p>
            <a:pPr lvl="1"/>
            <a:r>
              <a:rPr lang="en-US" dirty="0"/>
              <a:t>Check logs for unauthorized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2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Lifetime of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004" y="1324629"/>
            <a:ext cx="8229600" cy="52112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 encryption key should be used for an indefinite period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should expire automatically </a:t>
            </a:r>
            <a:r>
              <a:rPr lang="en-US" dirty="0" smtClean="0"/>
              <a:t>like passports </a:t>
            </a:r>
            <a:r>
              <a:rPr lang="en-US" dirty="0"/>
              <a:t>and licenses. </a:t>
            </a:r>
            <a:endParaRPr lang="en-US" dirty="0" smtClean="0"/>
          </a:p>
          <a:p>
            <a:r>
              <a:rPr lang="en-US" dirty="0"/>
              <a:t>Key Lifetime Considerations:</a:t>
            </a:r>
          </a:p>
          <a:p>
            <a:pPr lvl="1"/>
            <a:r>
              <a:rPr lang="en-US" dirty="0"/>
              <a:t>Shorter key lifetimes reduce exposure to attacks.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key expiration policies for automated rotation.</a:t>
            </a:r>
          </a:p>
          <a:p>
            <a:r>
              <a:rPr lang="en-US" dirty="0" smtClean="0"/>
              <a:t>Reasons-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longer a key is used, the greater the chance that it will be compromised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longer a key is used, the greater the loss if the key is compromised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longer a key is used, the greater the temptation for someone to spend the </a:t>
            </a:r>
            <a:r>
              <a:rPr lang="en-US" dirty="0" smtClean="0"/>
              <a:t>effort necessary </a:t>
            </a:r>
            <a:r>
              <a:rPr lang="en-US" dirty="0"/>
              <a:t>to break </a:t>
            </a:r>
            <a:r>
              <a:rPr lang="en-US" dirty="0" smtClean="0"/>
              <a:t>it</a:t>
            </a:r>
          </a:p>
          <a:p>
            <a:pPr lvl="1"/>
            <a:r>
              <a:rPr lang="en-US" dirty="0"/>
              <a:t>It is generally easier to do cryptanalysis with more </a:t>
            </a:r>
            <a:r>
              <a:rPr lang="en-US" dirty="0" err="1"/>
              <a:t>ciphertext</a:t>
            </a:r>
            <a:r>
              <a:rPr lang="en-US" dirty="0"/>
              <a:t> encrypted with the same key.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31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Lifetime of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Session keys – last only for a session</a:t>
            </a:r>
          </a:p>
          <a:p>
            <a:r>
              <a:rPr lang="en-US" dirty="0"/>
              <a:t>Key-encryption keys don’t have to be replaced as frequently</a:t>
            </a:r>
            <a:r>
              <a:rPr lang="en-US" dirty="0" smtClean="0"/>
              <a:t>.</a:t>
            </a:r>
          </a:p>
          <a:p>
            <a:r>
              <a:rPr lang="en-US" dirty="0"/>
              <a:t>balance the inherent danger in keeping a key around for a </a:t>
            </a:r>
            <a:r>
              <a:rPr lang="en-US" dirty="0" smtClean="0"/>
              <a:t>while with </a:t>
            </a:r>
            <a:r>
              <a:rPr lang="en-US" dirty="0"/>
              <a:t>the inherent danger in distributing a new one</a:t>
            </a:r>
            <a:r>
              <a:rPr lang="en-US" dirty="0" smtClean="0"/>
              <a:t>.</a:t>
            </a:r>
          </a:p>
          <a:p>
            <a:r>
              <a:rPr lang="en-US" dirty="0"/>
              <a:t>Encryption keys used to encrypt data files for storage cannot be changed often, as The files may </a:t>
            </a:r>
            <a:r>
              <a:rPr lang="en-US" dirty="0" smtClean="0"/>
              <a:t>sit encrypted </a:t>
            </a:r>
            <a:r>
              <a:rPr lang="en-US" dirty="0"/>
              <a:t>on disk for months or years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47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Lifetime of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Private keys used for digital signatures and proofs of identity may have to last </a:t>
            </a:r>
            <a:r>
              <a:rPr lang="en-US" dirty="0" smtClean="0"/>
              <a:t>years (</a:t>
            </a:r>
            <a:r>
              <a:rPr lang="en-US" dirty="0"/>
              <a:t>even a lifetime). </a:t>
            </a:r>
            <a:endParaRPr lang="en-US" dirty="0" smtClean="0"/>
          </a:p>
          <a:p>
            <a:r>
              <a:rPr lang="en-US" dirty="0" smtClean="0"/>
              <a:t>Private </a:t>
            </a:r>
            <a:r>
              <a:rPr lang="en-US" dirty="0"/>
              <a:t>keys used for coin-flipping protocols can be discarded immediately </a:t>
            </a:r>
            <a:r>
              <a:rPr lang="en-US" dirty="0" smtClean="0"/>
              <a:t>after the </a:t>
            </a:r>
            <a:r>
              <a:rPr lang="en-US" dirty="0"/>
              <a:t>protocol is completed. </a:t>
            </a:r>
            <a:endParaRPr lang="en-US" dirty="0" smtClean="0"/>
          </a:p>
          <a:p>
            <a:r>
              <a:rPr lang="en-US" dirty="0" smtClean="0"/>
              <a:t>Even </a:t>
            </a:r>
            <a:r>
              <a:rPr lang="en-US" dirty="0"/>
              <a:t>if a key’s security is expected to last a lifetime, it may be prudent </a:t>
            </a:r>
            <a:r>
              <a:rPr lang="en-US" dirty="0" smtClean="0"/>
              <a:t>to change </a:t>
            </a:r>
            <a:r>
              <a:rPr lang="en-US" dirty="0"/>
              <a:t>the key every couple of years. </a:t>
            </a:r>
            <a:r>
              <a:rPr lang="en-US" dirty="0" smtClean="0"/>
              <a:t>T</a:t>
            </a:r>
          </a:p>
          <a:p>
            <a:r>
              <a:rPr lang="en-US" dirty="0" smtClean="0"/>
              <a:t>he </a:t>
            </a:r>
            <a:r>
              <a:rPr lang="en-US" dirty="0"/>
              <a:t>private keys in many networks are good only for </a:t>
            </a:r>
            <a:r>
              <a:rPr lang="en-US" dirty="0" smtClean="0"/>
              <a:t>two years</a:t>
            </a:r>
            <a:r>
              <a:rPr lang="en-US" dirty="0"/>
              <a:t>; after that the user must get a new private key. </a:t>
            </a:r>
          </a:p>
          <a:p>
            <a:r>
              <a:rPr lang="en-US" dirty="0" smtClean="0"/>
              <a:t>The </a:t>
            </a:r>
            <a:r>
              <a:rPr lang="en-US" dirty="0"/>
              <a:t>old key would still have to remain secret, </a:t>
            </a:r>
            <a:r>
              <a:rPr lang="en-US" dirty="0" smtClean="0"/>
              <a:t>in case </a:t>
            </a:r>
            <a:r>
              <a:rPr lang="en-US" dirty="0"/>
              <a:t>the user needed to verify a signature from that period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But the new key would be used to </a:t>
            </a:r>
            <a:r>
              <a:rPr lang="en-US" dirty="0" smtClean="0"/>
              <a:t>sign new </a:t>
            </a:r>
            <a:r>
              <a:rPr lang="en-US" dirty="0"/>
              <a:t>documents, reducing the number of signed documents a cryptanalyst would have for an attack.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34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Destroying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Given that keys must be replaced regularly, old keys must be destroyed. </a:t>
            </a:r>
            <a:endParaRPr lang="en-US" dirty="0" smtClean="0"/>
          </a:p>
          <a:p>
            <a:r>
              <a:rPr lang="en-US" dirty="0" smtClean="0"/>
              <a:t>Old </a:t>
            </a:r>
            <a:r>
              <a:rPr lang="en-US" dirty="0"/>
              <a:t>keys are valuable, </a:t>
            </a:r>
            <a:r>
              <a:rPr lang="en-US" dirty="0" smtClean="0"/>
              <a:t>even if </a:t>
            </a:r>
            <a:r>
              <a:rPr lang="en-US" dirty="0"/>
              <a:t>they are never used again. </a:t>
            </a:r>
            <a:endParaRPr lang="en-US" dirty="0" smtClean="0"/>
          </a:p>
          <a:p>
            <a:r>
              <a:rPr lang="en-US" dirty="0"/>
              <a:t>If the key is written on paper, the paper </a:t>
            </a:r>
            <a:r>
              <a:rPr lang="en-US" dirty="0" smtClean="0"/>
              <a:t>should be </a:t>
            </a:r>
            <a:r>
              <a:rPr lang="en-US" dirty="0"/>
              <a:t>shredded or </a:t>
            </a:r>
            <a:r>
              <a:rPr lang="en-US" dirty="0" smtClean="0"/>
              <a:t>burned</a:t>
            </a:r>
          </a:p>
          <a:p>
            <a:r>
              <a:rPr lang="en-US" dirty="0"/>
              <a:t>If the key is in a hardware EEPROM, the key should be overwritten multiple times.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key is in </a:t>
            </a:r>
            <a:r>
              <a:rPr lang="en-US" dirty="0" smtClean="0"/>
              <a:t>a hardware </a:t>
            </a:r>
            <a:r>
              <a:rPr lang="en-US" dirty="0"/>
              <a:t>EPROM or PROM, the chip should be smashed into tiny bits and scattered to the </a:t>
            </a:r>
            <a:r>
              <a:rPr lang="en-US" dirty="0" smtClean="0"/>
              <a:t>four winds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key is stored on a computer disk, the actual bits of the storage should be </a:t>
            </a:r>
            <a:r>
              <a:rPr lang="en-US" dirty="0" smtClean="0"/>
              <a:t>overwritten multiple </a:t>
            </a:r>
            <a:r>
              <a:rPr lang="en-US" dirty="0"/>
              <a:t>times </a:t>
            </a:r>
            <a:r>
              <a:rPr lang="en-US" dirty="0" smtClean="0"/>
              <a:t>or </a:t>
            </a:r>
            <a:r>
              <a:rPr lang="en-US" dirty="0"/>
              <a:t>the disk should be shredded.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503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Destroying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Destruction:</a:t>
            </a:r>
          </a:p>
          <a:p>
            <a:pPr lvl="1"/>
            <a:r>
              <a:rPr lang="en-US" dirty="0"/>
              <a:t>Use secure wiping tools (e.g., overwrite with random data).</a:t>
            </a:r>
          </a:p>
          <a:p>
            <a:pPr lvl="1"/>
            <a:r>
              <a:rPr lang="en-US" dirty="0"/>
              <a:t>Physically destroy hardware storing sensitive keys.</a:t>
            </a:r>
          </a:p>
          <a:p>
            <a:r>
              <a:rPr lang="en-US" dirty="0"/>
              <a:t>Public-Key Key Management:</a:t>
            </a:r>
          </a:p>
          <a:p>
            <a:pPr lvl="1"/>
            <a:r>
              <a:rPr lang="en-US" dirty="0"/>
              <a:t>Use Certificate Authorities (CAs) to issue and revoke public keys.</a:t>
            </a:r>
          </a:p>
          <a:p>
            <a:pPr lvl="1"/>
            <a:r>
              <a:rPr lang="en-US" dirty="0"/>
              <a:t>Implement Public Key Infrastructure (PKI) for secure identity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173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Key Exchange Algorithm : </a:t>
            </a:r>
            <a:br>
              <a:rPr lang="en-IN" dirty="0" smtClean="0"/>
            </a:br>
            <a:r>
              <a:rPr lang="en-IN" dirty="0" err="1" smtClean="0"/>
              <a:t>Diffie</a:t>
            </a:r>
            <a:r>
              <a:rPr lang="en-IN" dirty="0"/>
              <a:t>-Hellman Key Exchange Algorithm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9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Diffie</a:t>
            </a:r>
            <a:r>
              <a:rPr lang="en-US" b="1" dirty="0"/>
              <a:t>-Hellman Key Exchange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Diffie</a:t>
            </a:r>
            <a:r>
              <a:rPr lang="en-US" b="1" dirty="0"/>
              <a:t>-Hellman Key Exchange</a:t>
            </a:r>
            <a:r>
              <a:rPr lang="en-US" dirty="0"/>
              <a:t> (DHKE) </a:t>
            </a:r>
            <a:r>
              <a:rPr lang="en-US" dirty="0" smtClean="0"/>
              <a:t>allows </a:t>
            </a:r>
            <a:r>
              <a:rPr lang="en-US" dirty="0"/>
              <a:t>two parties to securely establish a shared secret key over an insecure channel.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shared key can then be used for encryption and decryption of messages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Invented in 1976</a:t>
            </a:r>
          </a:p>
          <a:p>
            <a:r>
              <a:rPr lang="en-US" dirty="0" smtClean="0"/>
              <a:t>relies </a:t>
            </a:r>
            <a:r>
              <a:rPr lang="en-US" dirty="0"/>
              <a:t>on the mathematical properties of modular exponentiation and discrete logarithms, which are computationally hard to reverse.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47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Whitfield </a:t>
            </a:r>
            <a:r>
              <a:rPr lang="en-IN" dirty="0" err="1" smtClean="0"/>
              <a:t>Diffie</a:t>
            </a:r>
            <a:r>
              <a:rPr lang="en-IN" dirty="0" smtClean="0"/>
              <a:t> &amp; </a:t>
            </a:r>
            <a:r>
              <a:rPr lang="en-IN" dirty="0"/>
              <a:t>Martin Hellman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21" y="1154690"/>
            <a:ext cx="3143250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481" y="996229"/>
            <a:ext cx="4177145" cy="487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83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Primitive root(generator)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Every prime number has a primitive root</a:t>
            </a:r>
          </a:p>
          <a:p>
            <a:r>
              <a:rPr lang="en-IN" dirty="0" smtClean="0"/>
              <a:t>A </a:t>
            </a:r>
            <a:r>
              <a:rPr lang="en-IN" b="1" dirty="0"/>
              <a:t>primitive root</a:t>
            </a:r>
            <a:r>
              <a:rPr lang="en-IN" dirty="0"/>
              <a:t> of a prime number </a:t>
            </a:r>
            <a:r>
              <a:rPr lang="en-IN" dirty="0" smtClean="0"/>
              <a:t>p </a:t>
            </a:r>
            <a:r>
              <a:rPr lang="en-IN" dirty="0"/>
              <a:t>is an integer </a:t>
            </a:r>
            <a:r>
              <a:rPr lang="en-IN" dirty="0" smtClean="0"/>
              <a:t>g </a:t>
            </a:r>
            <a:r>
              <a:rPr lang="en-IN" dirty="0"/>
              <a:t>such that its powers generate all the </a:t>
            </a:r>
            <a:r>
              <a:rPr lang="en-IN" dirty="0" smtClean="0"/>
              <a:t>coprime numbers </a:t>
            </a:r>
            <a:r>
              <a:rPr lang="en-IN" dirty="0"/>
              <a:t>from </a:t>
            </a:r>
            <a:r>
              <a:rPr lang="en-IN" dirty="0" smtClean="0"/>
              <a:t>1 </a:t>
            </a:r>
            <a:r>
              <a:rPr lang="en-IN" dirty="0"/>
              <a:t>to p−</a:t>
            </a:r>
            <a:r>
              <a:rPr lang="en-IN" dirty="0" smtClean="0"/>
              <a:t>1 </a:t>
            </a:r>
            <a:r>
              <a:rPr lang="en-IN" dirty="0"/>
              <a:t>modulo </a:t>
            </a:r>
            <a:r>
              <a:rPr lang="en-IN" dirty="0" smtClean="0"/>
              <a:t>p. </a:t>
            </a:r>
          </a:p>
          <a:p>
            <a:r>
              <a:rPr lang="en-IN" dirty="0" smtClean="0"/>
              <a:t>That </a:t>
            </a:r>
            <a:r>
              <a:rPr lang="en-IN" dirty="0"/>
              <a:t>is, for every integer </a:t>
            </a:r>
            <a:r>
              <a:rPr lang="en-IN" b="1" dirty="0" smtClean="0"/>
              <a:t>a</a:t>
            </a:r>
            <a:r>
              <a:rPr lang="en-IN" dirty="0" smtClean="0"/>
              <a:t> </a:t>
            </a:r>
            <a:r>
              <a:rPr lang="en-IN" dirty="0"/>
              <a:t>such that 1≤</a:t>
            </a:r>
            <a:r>
              <a:rPr lang="en-IN" dirty="0" smtClean="0"/>
              <a:t>a&lt;p, </a:t>
            </a:r>
            <a:r>
              <a:rPr lang="en-IN" dirty="0"/>
              <a:t>there exists some exponent </a:t>
            </a:r>
            <a:r>
              <a:rPr lang="en-IN" dirty="0" smtClean="0"/>
              <a:t>k </a:t>
            </a:r>
            <a:r>
              <a:rPr lang="en-IN" dirty="0"/>
              <a:t>such that:</a:t>
            </a:r>
          </a:p>
          <a:p>
            <a:pPr marL="50800" indent="0" algn="ctr">
              <a:buNone/>
            </a:pPr>
            <a:r>
              <a:rPr lang="en-IN" dirty="0" err="1" smtClean="0"/>
              <a:t>g</a:t>
            </a:r>
            <a:r>
              <a:rPr lang="en-IN" baseline="30000" dirty="0" err="1" smtClean="0"/>
              <a:t>k</a:t>
            </a:r>
            <a:r>
              <a:rPr lang="en-IN" baseline="30000" dirty="0" smtClean="0"/>
              <a:t> </a:t>
            </a:r>
            <a:r>
              <a:rPr lang="en-IN" dirty="0" smtClean="0"/>
              <a:t>≡a mod</a:t>
            </a:r>
            <a:r>
              <a:rPr lang="en-IN" dirty="0"/>
              <a:t>  </a:t>
            </a:r>
            <a:r>
              <a:rPr lang="en-IN" dirty="0" smtClean="0"/>
              <a:t>p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83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primitive </a:t>
            </a:r>
            <a:r>
              <a:rPr lang="en-US" dirty="0" smtClean="0"/>
              <a:t>root </a:t>
            </a:r>
            <a:r>
              <a:rPr lang="en-US" b="1" u="sng" dirty="0"/>
              <a:t>g</a:t>
            </a:r>
            <a:r>
              <a:rPr lang="en-US" dirty="0" smtClean="0"/>
              <a:t> </a:t>
            </a:r>
            <a:r>
              <a:rPr lang="en-US" dirty="0"/>
              <a:t>modulo n, where n is a positive integer, is a number whose powers generate all the integers relatively prime to n</a:t>
            </a:r>
            <a:r>
              <a:rPr lang="en-US" dirty="0" smtClean="0"/>
              <a:t>.</a:t>
            </a:r>
          </a:p>
          <a:p>
            <a:r>
              <a:rPr lang="en-US" dirty="0"/>
              <a:t> For example, 2 is a primitive root modulo 5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2^1 </a:t>
            </a:r>
            <a:r>
              <a:rPr lang="en-US" dirty="0"/>
              <a:t>mod 5 = </a:t>
            </a:r>
            <a:r>
              <a:rPr lang="en-US" dirty="0" smtClean="0"/>
              <a:t>2</a:t>
            </a:r>
          </a:p>
          <a:p>
            <a:pPr lvl="1"/>
            <a:r>
              <a:rPr lang="en-US" dirty="0" smtClean="0"/>
              <a:t>2^2 </a:t>
            </a:r>
            <a:r>
              <a:rPr lang="en-US" dirty="0"/>
              <a:t>mod 5 = 4, </a:t>
            </a:r>
            <a:endParaRPr lang="en-US" dirty="0" smtClean="0"/>
          </a:p>
          <a:p>
            <a:pPr lvl="1"/>
            <a:r>
              <a:rPr lang="en-US" dirty="0" smtClean="0"/>
              <a:t>2^3 </a:t>
            </a:r>
            <a:r>
              <a:rPr lang="en-US" dirty="0"/>
              <a:t>mod 5 = 3, </a:t>
            </a:r>
            <a:endParaRPr lang="en-US" dirty="0" smtClean="0"/>
          </a:p>
          <a:p>
            <a:pPr lvl="1"/>
            <a:r>
              <a:rPr lang="en-US" dirty="0" smtClean="0"/>
              <a:t>2^4 </a:t>
            </a:r>
            <a:r>
              <a:rPr lang="en-US" dirty="0"/>
              <a:t>mod 5 = </a:t>
            </a:r>
            <a:r>
              <a:rPr lang="en-US" dirty="0" smtClean="0"/>
              <a:t>1 </a:t>
            </a:r>
          </a:p>
          <a:p>
            <a:pPr lvl="1"/>
            <a:r>
              <a:rPr lang="en-US" dirty="0" smtClean="0"/>
              <a:t>all </a:t>
            </a:r>
            <a:r>
              <a:rPr lang="en-US" dirty="0"/>
              <a:t>the numbers relatively prime to 5 (which are 1, 2, 3, and 4).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83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 </a:t>
            </a:r>
            <a:r>
              <a:rPr lang="en-US" dirty="0"/>
              <a:t>is a primitive root modulo 7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3^1 </a:t>
            </a:r>
            <a:r>
              <a:rPr lang="en-US" dirty="0"/>
              <a:t>mod 7 = 3,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3^2 </a:t>
            </a:r>
            <a:r>
              <a:rPr lang="en-US" dirty="0"/>
              <a:t>mod 7 = 2,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3^3 </a:t>
            </a:r>
            <a:r>
              <a:rPr lang="en-US" dirty="0"/>
              <a:t>mod 7 = 6,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3^4 </a:t>
            </a:r>
            <a:r>
              <a:rPr lang="en-US" dirty="0"/>
              <a:t>mod 7 = 4,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3^5 </a:t>
            </a:r>
            <a:r>
              <a:rPr lang="en-US" dirty="0"/>
              <a:t>mod 7 = 5, </a:t>
            </a:r>
            <a:endParaRPr lang="en-US" dirty="0" smtClean="0"/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3^6 </a:t>
            </a:r>
            <a:r>
              <a:rPr lang="en-US" dirty="0"/>
              <a:t>mod 7 = </a:t>
            </a:r>
            <a:r>
              <a:rPr lang="en-US" dirty="0" smtClean="0"/>
              <a:t>1</a:t>
            </a:r>
          </a:p>
          <a:p>
            <a:pPr marL="914400" lvl="2" indent="-406400">
              <a:spcBef>
                <a:spcPts val="1000"/>
              </a:spcBef>
              <a:buSzPts val="2800"/>
              <a:buFont typeface="Arial"/>
              <a:buChar char="•"/>
            </a:pPr>
            <a:r>
              <a:rPr lang="en-US" dirty="0" smtClean="0"/>
              <a:t>i.e. it  generates </a:t>
            </a:r>
            <a:r>
              <a:rPr lang="en-US" dirty="0"/>
              <a:t>all the numbers relatively prime to 7 (1, 2, 3, 4, 5, and 6)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36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D-H Algorithm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 descr="Block diagram of the Diffie-Hellman algorithm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835602"/>
            <a:ext cx="809625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356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50800" indent="0">
              <a:buNone/>
            </a:pPr>
            <a:r>
              <a:rPr lang="en-IN" dirty="0"/>
              <a:t>Let’s assume:</a:t>
            </a:r>
          </a:p>
          <a:p>
            <a:pPr marL="50800" indent="0">
              <a:buNone/>
            </a:pPr>
            <a:r>
              <a:rPr lang="en-IN" dirty="0" smtClean="0"/>
              <a:t>p=23, g=5</a:t>
            </a:r>
          </a:p>
          <a:p>
            <a:r>
              <a:rPr lang="en-IN" dirty="0" smtClean="0"/>
              <a:t>Alice </a:t>
            </a:r>
            <a:r>
              <a:rPr lang="en-IN" dirty="0"/>
              <a:t>picks </a:t>
            </a:r>
            <a:r>
              <a:rPr lang="en-IN" dirty="0" smtClean="0"/>
              <a:t>a=6, </a:t>
            </a:r>
            <a:r>
              <a:rPr lang="en-IN" dirty="0"/>
              <a:t>Bob picks </a:t>
            </a:r>
            <a:r>
              <a:rPr lang="en-IN" dirty="0" smtClean="0"/>
              <a:t>b=15 </a:t>
            </a:r>
          </a:p>
          <a:p>
            <a:pPr marL="50800" indent="0">
              <a:buNone/>
            </a:pPr>
            <a:r>
              <a:rPr lang="en-IN" b="1" dirty="0" smtClean="0"/>
              <a:t>Compute </a:t>
            </a:r>
            <a:r>
              <a:rPr lang="en-IN" b="1" dirty="0"/>
              <a:t>Public Keys</a:t>
            </a:r>
            <a:endParaRPr lang="en-IN" dirty="0"/>
          </a:p>
          <a:p>
            <a:pPr marL="50800" indent="0">
              <a:buNone/>
            </a:pPr>
            <a:r>
              <a:rPr lang="en-IN" dirty="0"/>
              <a:t>Alice computes </a:t>
            </a:r>
            <a:endParaRPr lang="en-IN" dirty="0" smtClean="0"/>
          </a:p>
          <a:p>
            <a:pPr marL="50800" indent="0">
              <a:buNone/>
            </a:pPr>
            <a:r>
              <a:rPr lang="en-IN" dirty="0" smtClean="0"/>
              <a:t>A=5</a:t>
            </a:r>
            <a:r>
              <a:rPr lang="en-IN" baseline="30000" dirty="0" smtClean="0"/>
              <a:t>6</a:t>
            </a:r>
            <a:r>
              <a:rPr lang="en-IN" dirty="0" smtClean="0"/>
              <a:t> mod</a:t>
            </a:r>
            <a:r>
              <a:rPr lang="en-IN" dirty="0"/>
              <a:t>  </a:t>
            </a:r>
            <a:r>
              <a:rPr lang="en-IN" dirty="0" smtClean="0"/>
              <a:t>23 =15625 mod</a:t>
            </a:r>
            <a:r>
              <a:rPr lang="en-IN" dirty="0"/>
              <a:t>  </a:t>
            </a:r>
            <a:r>
              <a:rPr lang="en-IN" dirty="0" smtClean="0"/>
              <a:t>23 =8 </a:t>
            </a:r>
          </a:p>
          <a:p>
            <a:pPr marL="50800" indent="0">
              <a:buNone/>
            </a:pPr>
            <a:r>
              <a:rPr lang="en-IN" dirty="0" smtClean="0"/>
              <a:t>Bob </a:t>
            </a:r>
            <a:r>
              <a:rPr lang="en-IN" dirty="0"/>
              <a:t>computes </a:t>
            </a:r>
            <a:endParaRPr lang="en-IN" dirty="0" smtClean="0"/>
          </a:p>
          <a:p>
            <a:pPr marL="50800" indent="0">
              <a:buNone/>
            </a:pPr>
            <a:r>
              <a:rPr lang="en-IN" dirty="0" smtClean="0"/>
              <a:t>B=5</a:t>
            </a:r>
            <a:r>
              <a:rPr lang="en-IN" baseline="30000" dirty="0" smtClean="0"/>
              <a:t>15</a:t>
            </a:r>
            <a:r>
              <a:rPr lang="en-IN" dirty="0" smtClean="0"/>
              <a:t>mod</a:t>
            </a:r>
            <a:r>
              <a:rPr lang="en-IN" dirty="0"/>
              <a:t>  23</a:t>
            </a:r>
            <a:r>
              <a:rPr lang="en-IN" dirty="0" smtClean="0"/>
              <a:t>= 30517578125 mod</a:t>
            </a:r>
            <a:r>
              <a:rPr lang="en-IN" dirty="0"/>
              <a:t>  </a:t>
            </a:r>
            <a:r>
              <a:rPr lang="en-IN" dirty="0" smtClean="0"/>
              <a:t>23 =19</a:t>
            </a:r>
          </a:p>
          <a:p>
            <a:pPr marL="50800" indent="0">
              <a:buNone/>
            </a:pPr>
            <a:r>
              <a:rPr lang="en-IN" b="1" dirty="0" smtClean="0"/>
              <a:t>Compute </a:t>
            </a:r>
            <a:r>
              <a:rPr lang="en-IN" b="1" dirty="0"/>
              <a:t>Shared Key</a:t>
            </a:r>
            <a:endParaRPr lang="en-IN" dirty="0"/>
          </a:p>
          <a:p>
            <a:pPr marL="50800" indent="0">
              <a:buNone/>
            </a:pPr>
            <a:r>
              <a:rPr lang="en-IN" dirty="0"/>
              <a:t>Alice computes S=19</a:t>
            </a:r>
            <a:r>
              <a:rPr lang="en-IN" baseline="30000" dirty="0"/>
              <a:t>6</a:t>
            </a:r>
            <a:r>
              <a:rPr lang="en-IN" dirty="0"/>
              <a:t>mod  23</a:t>
            </a:r>
            <a:r>
              <a:rPr lang="en-IN" dirty="0" smtClean="0"/>
              <a:t>= 47045881 mod</a:t>
            </a:r>
            <a:r>
              <a:rPr lang="en-IN" dirty="0"/>
              <a:t>  </a:t>
            </a:r>
            <a:r>
              <a:rPr lang="en-IN" dirty="0" smtClean="0"/>
              <a:t>23=2</a:t>
            </a:r>
            <a:endParaRPr lang="en-IN" dirty="0"/>
          </a:p>
          <a:p>
            <a:pPr marL="50800" indent="0">
              <a:buNone/>
            </a:pPr>
            <a:r>
              <a:rPr lang="en-IN" dirty="0"/>
              <a:t>Bob computes S=8</a:t>
            </a:r>
            <a:r>
              <a:rPr lang="en-IN" baseline="30000" dirty="0"/>
              <a:t>15</a:t>
            </a:r>
            <a:r>
              <a:rPr lang="en-IN" dirty="0"/>
              <a:t>mod  </a:t>
            </a:r>
            <a:r>
              <a:rPr lang="en-IN" dirty="0" smtClean="0"/>
              <a:t>23 = 35184372088832vmod</a:t>
            </a:r>
            <a:r>
              <a:rPr lang="en-IN" dirty="0"/>
              <a:t>  </a:t>
            </a:r>
            <a:r>
              <a:rPr lang="en-IN" dirty="0" smtClean="0"/>
              <a:t>23=2</a:t>
            </a:r>
            <a:endParaRPr lang="en-IN" dirty="0"/>
          </a:p>
          <a:p>
            <a:pPr marL="50800" indent="0">
              <a:buNone/>
            </a:pPr>
            <a:r>
              <a:rPr lang="en-IN" dirty="0"/>
              <a:t>Both end up with the same shared secret key </a:t>
            </a:r>
            <a:r>
              <a:rPr lang="en-IN" b="1" dirty="0" smtClean="0"/>
              <a:t>S=2 </a:t>
            </a:r>
            <a:r>
              <a:rPr lang="en-IN" dirty="0" smtClean="0"/>
              <a:t>which </a:t>
            </a:r>
            <a:r>
              <a:rPr lang="en-IN" dirty="0"/>
              <a:t>can now be used for </a:t>
            </a:r>
            <a:r>
              <a:rPr lang="en-IN" dirty="0" smtClean="0"/>
              <a:t>encryption-decryption process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5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Diffie-Hellman Key Exchange – Practical Networking .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8" y="0"/>
            <a:ext cx="8348540" cy="612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94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of </a:t>
            </a:r>
            <a:r>
              <a:rPr lang="en-US" b="1" dirty="0" err="1" smtClean="0"/>
              <a:t>Diffie</a:t>
            </a:r>
            <a:r>
              <a:rPr lang="en-US" b="1" dirty="0" smtClean="0"/>
              <a:t>-Hellman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security </a:t>
            </a:r>
            <a:r>
              <a:rPr lang="en-US" dirty="0" smtClean="0"/>
              <a:t>is </a:t>
            </a:r>
            <a:r>
              <a:rPr lang="en-US" dirty="0"/>
              <a:t>based on the difficulty of solving the </a:t>
            </a:r>
            <a:r>
              <a:rPr lang="en-US" b="1" dirty="0"/>
              <a:t>Discrete Logarithm Problem (DLP)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Given A=</a:t>
            </a:r>
            <a:r>
              <a:rPr lang="en-US" dirty="0" err="1" smtClean="0"/>
              <a:t>g</a:t>
            </a:r>
            <a:r>
              <a:rPr lang="en-US" baseline="30000" dirty="0" err="1" smtClean="0"/>
              <a:t>a</a:t>
            </a:r>
            <a:r>
              <a:rPr lang="en-US" dirty="0" smtClean="0"/>
              <a:t> mod</a:t>
            </a:r>
            <a:r>
              <a:rPr lang="en-US" dirty="0"/>
              <a:t>  </a:t>
            </a:r>
            <a:r>
              <a:rPr lang="en-US" dirty="0" smtClean="0"/>
              <a:t>p, </a:t>
            </a:r>
            <a:r>
              <a:rPr lang="en-US" dirty="0"/>
              <a:t>finding </a:t>
            </a:r>
            <a:r>
              <a:rPr lang="en-US" dirty="0" smtClean="0"/>
              <a:t>a </a:t>
            </a:r>
            <a:r>
              <a:rPr lang="en-US" dirty="0"/>
              <a:t>(the private key) is computationally hard when </a:t>
            </a:r>
            <a:r>
              <a:rPr lang="en-US" dirty="0" smtClean="0"/>
              <a:t>p </a:t>
            </a:r>
            <a:r>
              <a:rPr lang="en-US" dirty="0"/>
              <a:t>is large.</a:t>
            </a:r>
          </a:p>
          <a:p>
            <a:r>
              <a:rPr lang="en-US" dirty="0"/>
              <a:t>However, </a:t>
            </a:r>
            <a:r>
              <a:rPr lang="en-US" dirty="0" err="1"/>
              <a:t>Diffie</a:t>
            </a:r>
            <a:r>
              <a:rPr lang="en-US" dirty="0"/>
              <a:t>-Hellman is vulnerable to </a:t>
            </a:r>
            <a:r>
              <a:rPr lang="en-US" b="1" dirty="0"/>
              <a:t>Man-in-the-Middle (MITM) attacks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MITM-where </a:t>
            </a:r>
            <a:r>
              <a:rPr lang="en-US" dirty="0"/>
              <a:t>an attacker intercepts and replaces public keys.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874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Improvements over D-H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Elliptic Curve </a:t>
            </a:r>
            <a:r>
              <a:rPr lang="en-US" dirty="0" err="1"/>
              <a:t>Diffie</a:t>
            </a:r>
            <a:r>
              <a:rPr lang="en-US" dirty="0"/>
              <a:t>-Hellman (ECDH) </a:t>
            </a:r>
          </a:p>
          <a:p>
            <a:r>
              <a:rPr lang="en-US" dirty="0"/>
              <a:t>Quantum cryptography </a:t>
            </a:r>
            <a:r>
              <a:rPr lang="en-US" dirty="0" err="1"/>
              <a:t>Diffie</a:t>
            </a:r>
            <a:r>
              <a:rPr lang="en-US" dirty="0"/>
              <a:t>-Hellman (QCDH)</a:t>
            </a:r>
          </a:p>
          <a:p>
            <a:r>
              <a:rPr lang="en-US" dirty="0"/>
              <a:t>Digital Signatures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2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</a:t>
            </a:r>
            <a:r>
              <a:rPr lang="en-IN" b="1" dirty="0" err="1" smtClean="0"/>
              <a:t>Diffie</a:t>
            </a:r>
            <a:r>
              <a:rPr lang="en-IN" b="1" dirty="0" smtClean="0"/>
              <a:t>-Hellman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smtClean="0"/>
              <a:t>Secure </a:t>
            </a:r>
            <a:r>
              <a:rPr lang="en-IN" b="1" dirty="0"/>
              <a:t>Web Browsing (</a:t>
            </a:r>
            <a:r>
              <a:rPr lang="en-IN" b="1" dirty="0" smtClean="0"/>
              <a:t>HTTPS/TLS</a:t>
            </a:r>
            <a:r>
              <a:rPr lang="en-IN" dirty="0" smtClean="0"/>
              <a:t> </a:t>
            </a:r>
            <a:r>
              <a:rPr lang="en-IN" dirty="0"/>
              <a:t>for establishing secure communication between a browser and a server.</a:t>
            </a:r>
          </a:p>
          <a:p>
            <a:r>
              <a:rPr lang="en-IN" b="1" dirty="0"/>
              <a:t>VPNs &amp; Secure Messaging</a:t>
            </a:r>
            <a:r>
              <a:rPr lang="en-IN" dirty="0"/>
              <a:t>: Used in </a:t>
            </a:r>
            <a:r>
              <a:rPr lang="en-IN" b="1" dirty="0"/>
              <a:t>IPsec VPNs</a:t>
            </a:r>
            <a:r>
              <a:rPr lang="en-IN" dirty="0"/>
              <a:t> and encrypted chat applications like </a:t>
            </a:r>
            <a:r>
              <a:rPr lang="en-IN" b="1" dirty="0"/>
              <a:t>Signal and WhatsApp</a:t>
            </a:r>
            <a:r>
              <a:rPr lang="en-IN" dirty="0"/>
              <a:t>.</a:t>
            </a:r>
          </a:p>
          <a:p>
            <a:r>
              <a:rPr lang="en-IN" b="1" dirty="0" err="1"/>
              <a:t>Blockchain</a:t>
            </a:r>
            <a:r>
              <a:rPr lang="en-IN" b="1" dirty="0"/>
              <a:t> &amp; Cryptocurrencies</a:t>
            </a:r>
            <a:r>
              <a:rPr lang="en-IN" dirty="0"/>
              <a:t>: Secure peer-to-peer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56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"/>
          <p:cNvSpPr/>
          <p:nvPr/>
        </p:nvSpPr>
        <p:spPr>
          <a:xfrm>
            <a:off x="3033631" y="2967334"/>
            <a:ext cx="52827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1" i="0" u="none" strike="noStrike" cap="none">
                <a:solidFill>
                  <a:srgbClr val="FF9356"/>
                </a:solidFill>
                <a:latin typeface="Calibri"/>
                <a:ea typeface="Calibri"/>
                <a:cs typeface="Calibri"/>
                <a:sym typeface="Calibri"/>
              </a:rPr>
              <a:t>Questions? </a:t>
            </a:r>
            <a:endParaRPr sz="5400" b="1" i="0" u="none" strike="noStrike" cap="none">
              <a:solidFill>
                <a:srgbClr val="FF9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36344</TotalTime>
  <Words>3966</Words>
  <Application>Microsoft Office PowerPoint</Application>
  <PresentationFormat>On-screen Show (4:3)</PresentationFormat>
  <Paragraphs>570</Paragraphs>
  <Slides>72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Arial</vt:lpstr>
      <vt:lpstr>Fira Sans</vt:lpstr>
      <vt:lpstr>Times New Roman</vt:lpstr>
      <vt:lpstr>Marcellus</vt:lpstr>
      <vt:lpstr>Calibri</vt:lpstr>
      <vt:lpstr>Noto Sans Symbols</vt:lpstr>
      <vt:lpstr>Courier New</vt:lpstr>
      <vt:lpstr>2_Custom Design</vt:lpstr>
      <vt:lpstr>Key management   </vt:lpstr>
      <vt:lpstr>Key management</vt:lpstr>
      <vt:lpstr>DiskLock program for Macintosh!!</vt:lpstr>
      <vt:lpstr>Generating keys</vt:lpstr>
      <vt:lpstr>Generating keys</vt:lpstr>
      <vt:lpstr>Generating keys</vt:lpstr>
      <vt:lpstr>What Is a Keyspace?</vt:lpstr>
      <vt:lpstr>What Makes a Keyspace Linear vs. Nonlinear</vt:lpstr>
      <vt:lpstr>Nonlinear Keyspaces</vt:lpstr>
      <vt:lpstr>Nonlinear Keyspaces</vt:lpstr>
      <vt:lpstr>Create non-linear keyspace Using Nonlinear Mathematical Structures </vt:lpstr>
      <vt:lpstr>Create non-linear keyspace :Apply Nonlinear Transformations in Key Schedules </vt:lpstr>
      <vt:lpstr>Where Are Nonlinear Keyspaces Used?</vt:lpstr>
      <vt:lpstr>Transferring Keys</vt:lpstr>
      <vt:lpstr>Verifying Keys</vt:lpstr>
      <vt:lpstr>Verify Symmetric Keys </vt:lpstr>
      <vt:lpstr>Verify Asymmetric Keys (Public/Private Key Pairs) </vt:lpstr>
      <vt:lpstr>Verify Key Fingerprints &amp; Hashes </vt:lpstr>
      <vt:lpstr>Verify Chain of Trust Validation (PKI) </vt:lpstr>
      <vt:lpstr>Verify Secure Key Storage Verification </vt:lpstr>
      <vt:lpstr>Using keys</vt:lpstr>
      <vt:lpstr>Using Keys</vt:lpstr>
      <vt:lpstr>Using keys</vt:lpstr>
      <vt:lpstr>Using keys</vt:lpstr>
      <vt:lpstr>Using keys</vt:lpstr>
      <vt:lpstr>Using keys</vt:lpstr>
      <vt:lpstr>Updating Keys</vt:lpstr>
      <vt:lpstr>How to update key?</vt:lpstr>
      <vt:lpstr>Updating Keys</vt:lpstr>
      <vt:lpstr>Updating Keys</vt:lpstr>
      <vt:lpstr>Updating Keys</vt:lpstr>
      <vt:lpstr>Updating Keys</vt:lpstr>
      <vt:lpstr>Updating Keys</vt:lpstr>
      <vt:lpstr>Updating Keys</vt:lpstr>
      <vt:lpstr>PowerPoint Presentation</vt:lpstr>
      <vt:lpstr>Key Updating Methods</vt:lpstr>
      <vt:lpstr>Key Updating Methods</vt:lpstr>
      <vt:lpstr>Key Updating Methods</vt:lpstr>
      <vt:lpstr>When to Update Keys</vt:lpstr>
      <vt:lpstr>Best Practices for key update strategy</vt:lpstr>
      <vt:lpstr>Summary : Key Update Methods</vt:lpstr>
      <vt:lpstr>Storing Keys</vt:lpstr>
      <vt:lpstr>Key Storage Requirements</vt:lpstr>
      <vt:lpstr>Key Storage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Practices for Storing Keys</vt:lpstr>
      <vt:lpstr>Common pitfalls to avoid</vt:lpstr>
      <vt:lpstr>Backup Keys</vt:lpstr>
      <vt:lpstr>Compromised Keys</vt:lpstr>
      <vt:lpstr>PowerPoint Presentation</vt:lpstr>
      <vt:lpstr>Lifetime of Keys</vt:lpstr>
      <vt:lpstr>Lifetime of Keys</vt:lpstr>
      <vt:lpstr>Lifetime of Keys</vt:lpstr>
      <vt:lpstr>Destroying Keys</vt:lpstr>
      <vt:lpstr>Destroying Keys</vt:lpstr>
      <vt:lpstr>Key Exchange Algorithm :  Diffie-Hellman Key Exchange Algorithm</vt:lpstr>
      <vt:lpstr>Diffie-Hellman Key Exchange</vt:lpstr>
      <vt:lpstr>Whitfield Diffie &amp; Martin Hellman </vt:lpstr>
      <vt:lpstr>Primitive root(generator)</vt:lpstr>
      <vt:lpstr>PowerPoint Presentation</vt:lpstr>
      <vt:lpstr>PowerPoint Presentation</vt:lpstr>
      <vt:lpstr>D-H Algorithm</vt:lpstr>
      <vt:lpstr>PowerPoint Presentation</vt:lpstr>
      <vt:lpstr>PowerPoint Presentation</vt:lpstr>
      <vt:lpstr>Security of Diffie-Hellman</vt:lpstr>
      <vt:lpstr>Improvements over D-H </vt:lpstr>
      <vt:lpstr>Applications of Diffie-Hellman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Swati Mali</dc:creator>
  <cp:lastModifiedBy>Swati</cp:lastModifiedBy>
  <cp:revision>149</cp:revision>
  <dcterms:created xsi:type="dcterms:W3CDTF">2021-02-11T03:47:51Z</dcterms:created>
  <dcterms:modified xsi:type="dcterms:W3CDTF">2025-08-11T08:51:21Z</dcterms:modified>
</cp:coreProperties>
</file>