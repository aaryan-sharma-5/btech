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3" roundtripDataSignature="AMtx7miIilym+cFieQc4JBbqk3114ZbO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customschemas.google.com/relationships/presentationmetadata" Target="metadata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1" name="Google Shape;18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9" name="Google Shape;189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7" name="Google Shape;19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5" name="Google Shape;20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13" name="Google Shape;21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1" name="Google Shape;22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9" name="Google Shape;22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43" name="Google Shape;243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51" name="Google Shape;251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59" name="Google Shape;259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68" name="Google Shape;268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76" name="Google Shape;276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85" name="Google Shape;285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93" name="Google Shape;293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03" name="Google Shape;303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11" name="Google Shape;31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19" name="Google Shape;31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27" name="Google Shape;327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35" name="Google Shape;335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Google Shape;33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43" name="Google Shape;343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51" name="Google Shape;351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59" name="Google Shape;359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67" name="Google Shape;367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88" name="Google Shape;388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96" name="Google Shape;396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7" name="Google Shape;39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04" name="Google Shape;404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13" name="Google Shape;413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28" name="Google Shape;428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36" name="Google Shape;436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7" name="Google Shape;43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44" name="Google Shape;444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5" name="Google Shape;44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52" name="Google Shape;452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3" name="Google Shape;453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63" name="Google Shape;463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4" name="Google Shape;46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71" name="Google Shape;471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2" name="Google Shape;47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79" name="Google Shape;479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0" name="Google Shape;480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5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5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Context Free Grammar</a:t>
            </a:r>
            <a:endParaRPr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IN"/>
              <a:t>Module 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7" name="Google Shape;97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Definition of a Context Free Grammar</a:t>
            </a:r>
            <a:endParaRPr/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 4.1 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Represented by 4-tuple (V</a:t>
            </a:r>
            <a:r>
              <a:rPr baseline="-25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,T, P , S )where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 V</a:t>
            </a:r>
            <a:r>
              <a:rPr baseline="-25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set of variables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(ii) ∑ or T is a set of  terminals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(iii) S is a start symbol and S ∈ V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(v) P is a set of productions or rules of the form A-&gt;α where A is a variable and α is a string of variables and terminals i.e. α ∈ (V U ∑ )*</a:t>
            </a:r>
            <a:endParaRPr baseline="30000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5" name="Google Shape;10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Context free Grammar</a:t>
            </a:r>
            <a:endParaRPr/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Have a natural recursive notation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Defines Parse trees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Parse tree is a picture of the structure that a grammar places on the strings of its language.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Pushdown Automata describes all and only the context free languages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aseline="30000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3" name="Google Shape;11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Applications of Context free Grammar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Parse tree construction and Compiler design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XML, Document type Definition (DTD)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1" name="Google Shape;121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Applications of Context free Grammar</a:t>
            </a:r>
            <a:endParaRPr/>
          </a:p>
        </p:txBody>
      </p:sp>
      <p:sp>
        <p:nvSpPr>
          <p:cNvPr id="122" name="Google Shape;122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Played a central role in Compiler technology since the 1960s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turned the implementation of parsers from a time consuming, ad-hoc implementation task into a routine job that could be done quickly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Example Revisited</a:t>
            </a:r>
            <a:endParaRPr/>
          </a:p>
        </p:txBody>
      </p:sp>
      <p:sp>
        <p:nvSpPr>
          <p:cNvPr id="128" name="Google Shape;128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29" name="Google Shape;129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1196752"/>
            <a:ext cx="8568952" cy="5203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Example Revisited</a:t>
            </a:r>
            <a:endParaRPr/>
          </a:p>
        </p:txBody>
      </p:sp>
      <p:sp>
        <p:nvSpPr>
          <p:cNvPr id="136" name="Google Shape;13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37" name="Google Shape;13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1268760"/>
            <a:ext cx="7236296" cy="5040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5" name="Google Shape;145;p8"/>
          <p:cNvSpPr txBox="1"/>
          <p:nvPr>
            <p:ph idx="1" type="body"/>
          </p:nvPr>
        </p:nvSpPr>
        <p:spPr>
          <a:xfrm>
            <a:off x="179512" y="620688"/>
            <a:ext cx="8856984" cy="597666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G=( {S,C},{a,b},P,S} where P consists of 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S-&gt;aCa</a:t>
            </a:r>
            <a:endParaRPr sz="2600"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C-&gt;aCa|b</a:t>
            </a:r>
            <a:endParaRPr sz="2600"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language generated by G</a:t>
            </a:r>
            <a:endParaRPr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146" name="Google Shape;146;p8"/>
          <p:cNvSpPr txBox="1"/>
          <p:nvPr/>
        </p:nvSpPr>
        <p:spPr>
          <a:xfrm>
            <a:off x="609600" y="17364"/>
            <a:ext cx="8229600" cy="409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free Grammar:Example 1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3" name="Google Shape;153;p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G=( {S,C},{a,b},P,S} where P consists of 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S-&gt;aCa</a:t>
            </a:r>
            <a:endParaRPr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C-&gt;aCa|b</a:t>
            </a:r>
            <a:endParaRPr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language generated by G</a:t>
            </a:r>
            <a:endParaRPr/>
          </a:p>
          <a:p>
            <a:pPr indent="-190182" lvl="0" marL="34290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S-&gt;aCa				by using S-&gt;aCa</a:t>
            </a:r>
            <a:endParaRPr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-&gt;aaCaa			by using C-&gt;aCa</a:t>
            </a:r>
            <a:endParaRPr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-&gt;aaaCaaa			by using C-&gt;aCa</a:t>
            </a:r>
            <a:endParaRPr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-&gt;aaaabaaa			by using C-&gt;b</a:t>
            </a:r>
            <a:endParaRPr/>
          </a:p>
          <a:p>
            <a:pPr indent="0" lvl="1" marL="45720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600"/>
          </a:p>
          <a:p>
            <a:pPr indent="0" lvl="1" marL="45720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L(G)={a</a:t>
            </a:r>
            <a:r>
              <a:rPr baseline="30000"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</a:t>
            </a:r>
            <a:r>
              <a:rPr baseline="30000"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|n&gt;=1}</a:t>
            </a:r>
            <a:endParaRPr/>
          </a:p>
          <a:p>
            <a:pPr indent="-178435" lvl="0" marL="3429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</p:txBody>
      </p:sp>
      <p:sp>
        <p:nvSpPr>
          <p:cNvPr id="154" name="Google Shape;154;p9"/>
          <p:cNvSpPr txBox="1"/>
          <p:nvPr/>
        </p:nvSpPr>
        <p:spPr>
          <a:xfrm>
            <a:off x="609600" y="4270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free Grammar:Example 1</a:t>
            </a:r>
            <a:br>
              <a:rPr b="0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1" name="Google Shape;161;p10"/>
          <p:cNvSpPr txBox="1"/>
          <p:nvPr>
            <p:ph type="title"/>
          </p:nvPr>
        </p:nvSpPr>
        <p:spPr>
          <a:xfrm>
            <a:off x="467544" y="116632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Context free Grammar:Example 2</a:t>
            </a:r>
            <a:endParaRPr sz="2800"/>
          </a:p>
        </p:txBody>
      </p:sp>
      <p:sp>
        <p:nvSpPr>
          <p:cNvPr id="162" name="Google Shape;162;p10"/>
          <p:cNvSpPr txBox="1"/>
          <p:nvPr>
            <p:ph idx="1" type="body"/>
          </p:nvPr>
        </p:nvSpPr>
        <p:spPr>
          <a:xfrm>
            <a:off x="179512" y="620688"/>
            <a:ext cx="8784976" cy="612068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G=( {S},{a,b},{S-&gt;aSb, S-&gt;ab},S} 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language generated by G</a:t>
            </a:r>
            <a:endParaRPr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9" name="Google Shape;1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Context free Grammar:Example 2</a:t>
            </a:r>
            <a:br>
              <a:rPr lang="en-IN" sz="2800"/>
            </a:br>
            <a:endParaRPr sz="2800"/>
          </a:p>
        </p:txBody>
      </p:sp>
      <p:sp>
        <p:nvSpPr>
          <p:cNvPr id="170" name="Google Shape;170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G=( {S},{a,b},{S-&gt;aSb, S-&gt;ab},S} 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language generated by G</a:t>
            </a:r>
            <a:endParaRPr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S-&gt;aSb				by using S-&gt;aSb</a:t>
            </a:r>
            <a:endParaRPr sz="2600"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-&gt;aaSbb			by using S-&gt;aSb</a:t>
            </a:r>
            <a:endParaRPr sz="2600"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-&gt;aaaSbbb			by using S-&gt;aSb</a:t>
            </a:r>
            <a:endParaRPr sz="2600"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-&gt;aaaabbbb			by using S-&gt;ab</a:t>
            </a:r>
            <a:endParaRPr/>
          </a:p>
          <a:p>
            <a:pPr indent="0" lvl="1" marL="4572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0" lvl="1" marL="4572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L(G)={a</a:t>
            </a:r>
            <a:r>
              <a:rPr baseline="30000"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aseline="30000"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|n&gt;=1}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7" name="Google Shape;177;p12"/>
          <p:cNvSpPr txBox="1"/>
          <p:nvPr>
            <p:ph type="title"/>
          </p:nvPr>
        </p:nvSpPr>
        <p:spPr>
          <a:xfrm>
            <a:off x="395536" y="27856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Context free Grammar:Example 3</a:t>
            </a:r>
            <a:endParaRPr sz="2800"/>
          </a:p>
        </p:txBody>
      </p:sp>
      <p:sp>
        <p:nvSpPr>
          <p:cNvPr id="178" name="Google Shape;178;p12"/>
          <p:cNvSpPr txBox="1"/>
          <p:nvPr>
            <p:ph idx="1" type="body"/>
          </p:nvPr>
        </p:nvSpPr>
        <p:spPr>
          <a:xfrm>
            <a:off x="179512" y="476672"/>
            <a:ext cx="8784976" cy="612068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 CFG to generate a set of palindromes over the alphabet {a,b}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5" name="Google Shape;18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Context free Grammar:Example 3</a:t>
            </a:r>
            <a:br>
              <a:rPr lang="en-IN" sz="2800"/>
            </a:br>
            <a:endParaRPr sz="2800"/>
          </a:p>
        </p:txBody>
      </p:sp>
      <p:sp>
        <p:nvSpPr>
          <p:cNvPr id="186" name="Google Shape;186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 CFG to generate a set of palindromes over the alphabet {a,b}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we read palindrome in forward or reverse manner, we get the same thing. In a Palindrome the start and end symbols are same.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the productions are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S-&gt;aSa|bSb</a:t>
            </a:r>
            <a:endParaRPr sz="2600"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 ε|a|b</a:t>
            </a:r>
            <a:endParaRPr sz="2600"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G=({S},{a , b},{ S-&gt;aSa|bSb, S-&gt;ε|a|b },S} 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3" name="Google Shape;193;p14"/>
          <p:cNvSpPr txBox="1"/>
          <p:nvPr>
            <p:ph type="title"/>
          </p:nvPr>
        </p:nvSpPr>
        <p:spPr>
          <a:xfrm>
            <a:off x="395536" y="25121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Context free Grammar:Example 4</a:t>
            </a:r>
            <a:endParaRPr sz="2800"/>
          </a:p>
        </p:txBody>
      </p:sp>
      <p:sp>
        <p:nvSpPr>
          <p:cNvPr id="194" name="Google Shape;194;p14"/>
          <p:cNvSpPr txBox="1"/>
          <p:nvPr>
            <p:ph idx="1" type="body"/>
          </p:nvPr>
        </p:nvSpPr>
        <p:spPr>
          <a:xfrm>
            <a:off x="251520" y="476672"/>
            <a:ext cx="8712968" cy="612068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 a CFG generating </a:t>
            </a:r>
            <a:r>
              <a:rPr i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L(G) 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{0</a:t>
            </a:r>
            <a:r>
              <a:rPr baseline="30000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aseline="30000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2n </a:t>
            </a:r>
            <a:r>
              <a:rPr i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n&gt;=1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2800"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1" name="Google Shape;20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Context free Grammar:Example 4</a:t>
            </a:r>
            <a:br>
              <a:rPr lang="en-IN" sz="2800"/>
            </a:br>
            <a:endParaRPr sz="2800"/>
          </a:p>
        </p:txBody>
      </p:sp>
      <p:sp>
        <p:nvSpPr>
          <p:cNvPr id="202" name="Google Shape;202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 a CFG generating </a:t>
            </a:r>
            <a:r>
              <a:rPr i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L(G) 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{0</a:t>
            </a:r>
            <a:r>
              <a:rPr baseline="30000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aseline="30000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2n </a:t>
            </a:r>
            <a:r>
              <a:rPr i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n&gt;=1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2800"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Properties of L: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with 0 and end with 1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1’s is two times greater than 0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the productions are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S-&gt;011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S-&gt;0S11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G=({S},{0,1},{ S-&gt;011|0S11 }, S} 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9" name="Google Shape;209;p16"/>
          <p:cNvSpPr txBox="1"/>
          <p:nvPr>
            <p:ph type="title"/>
          </p:nvPr>
        </p:nvSpPr>
        <p:spPr>
          <a:xfrm>
            <a:off x="467544" y="58614"/>
            <a:ext cx="8229600" cy="3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Context free Grammar:Example 5</a:t>
            </a:r>
            <a:endParaRPr sz="2800"/>
          </a:p>
        </p:txBody>
      </p:sp>
      <p:sp>
        <p:nvSpPr>
          <p:cNvPr id="210" name="Google Shape;210;p16"/>
          <p:cNvSpPr txBox="1"/>
          <p:nvPr>
            <p:ph idx="1" type="body"/>
          </p:nvPr>
        </p:nvSpPr>
        <p:spPr>
          <a:xfrm>
            <a:off x="179512" y="692696"/>
            <a:ext cx="8784976" cy="597666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alphabet ∑ ={a,b,(,),+,*,., ε }. Construct a CFG that generates all strings in ∑ * that are RE over the alphabet {a , b}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17" name="Google Shape;21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Context free Grammar:Example 5</a:t>
            </a:r>
            <a:br>
              <a:rPr lang="en-IN" sz="2800"/>
            </a:br>
            <a:endParaRPr sz="2800"/>
          </a:p>
        </p:txBody>
      </p:sp>
      <p:sp>
        <p:nvSpPr>
          <p:cNvPr id="218" name="Google Shape;218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alphabet ∑ ={a,b,(,),+,*,., ε }. Construct a CFG that generates all strings in ∑ * that are RE over the alphabet {a , b}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L=a*,b*,a + b, a . b, (a + b) ,a , b, ε</a:t>
            </a:r>
            <a:endParaRPr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R-&gt;R+R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R-&gt;R.R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R-&gt;(R)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R-&gt;R*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R-&gt;a|b| ε</a:t>
            </a:r>
            <a:endParaRPr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G=({R}, {a,b,(,),+,*,., ε },{R-&gt;R+R|R.R|(R)|R*|a|b| ε} , R} </a:t>
            </a:r>
            <a:endParaRPr/>
          </a:p>
          <a:p>
            <a:pPr indent="0" lvl="0" marL="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5" name="Google Shape;225;p18"/>
          <p:cNvSpPr txBox="1"/>
          <p:nvPr>
            <p:ph type="title"/>
          </p:nvPr>
        </p:nvSpPr>
        <p:spPr>
          <a:xfrm>
            <a:off x="467544" y="116632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Example</a:t>
            </a:r>
            <a:endParaRPr sz="2800"/>
          </a:p>
        </p:txBody>
      </p:sp>
      <p:sp>
        <p:nvSpPr>
          <p:cNvPr id="226" name="Google Shape;226;p18"/>
          <p:cNvSpPr txBox="1"/>
          <p:nvPr>
            <p:ph idx="1" type="body"/>
          </p:nvPr>
        </p:nvSpPr>
        <p:spPr>
          <a:xfrm>
            <a:off x="179512" y="836712"/>
            <a:ext cx="8856984" cy="56886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 a CFG generating L(G)={ a</a:t>
            </a:r>
            <a:r>
              <a:rPr baseline="30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</a:t>
            </a:r>
            <a:r>
              <a:rPr baseline="30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baseline="30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i, j, k ≥ 0 and i+j = k }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467544" y="116632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Example</a:t>
            </a:r>
            <a:endParaRPr sz="2800"/>
          </a:p>
        </p:txBody>
      </p:sp>
      <p:sp>
        <p:nvSpPr>
          <p:cNvPr id="234" name="Google Shape;234;p19"/>
          <p:cNvSpPr txBox="1"/>
          <p:nvPr>
            <p:ph idx="1" type="body"/>
          </p:nvPr>
        </p:nvSpPr>
        <p:spPr>
          <a:xfrm>
            <a:off x="179512" y="836712"/>
            <a:ext cx="8856984" cy="56886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 a CFG generating L(G)={ a</a:t>
            </a:r>
            <a:r>
              <a:rPr baseline="30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</a:t>
            </a:r>
            <a:r>
              <a:rPr baseline="30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baseline="30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i, j, k ≥ 0 and i+j = k }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→ aSc | X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→ bXc | ε</a:t>
            </a:r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Lecture 29/3/2022</a:t>
            </a:r>
            <a:endParaRPr/>
          </a:p>
        </p:txBody>
      </p:sp>
      <p:sp>
        <p:nvSpPr>
          <p:cNvPr id="240" name="Google Shape;240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47" name="Google Shape;247;p21"/>
          <p:cNvSpPr txBox="1"/>
          <p:nvPr>
            <p:ph type="title"/>
          </p:nvPr>
        </p:nvSpPr>
        <p:spPr>
          <a:xfrm>
            <a:off x="467544" y="16559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 sz="3200"/>
              <a:t>Derivation</a:t>
            </a:r>
            <a:endParaRPr/>
          </a:p>
        </p:txBody>
      </p:sp>
      <p:sp>
        <p:nvSpPr>
          <p:cNvPr id="248" name="Google Shape;248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Paramasivan-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process of deriving a string from start symbol by applying the production of CFG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Hopcraft-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productions from Head to Body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Expand the start symbol using one of its productions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Expand the resulting string by replacing one of the variables by the body of one of its productions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Until we drive a string consisting entirely of terminals</a:t>
            </a:r>
            <a:endParaRPr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55" name="Google Shape;255;p22"/>
          <p:cNvSpPr txBox="1"/>
          <p:nvPr>
            <p:ph type="title"/>
          </p:nvPr>
        </p:nvSpPr>
        <p:spPr>
          <a:xfrm>
            <a:off x="467544" y="27678"/>
            <a:ext cx="8229600" cy="3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Derivation-Example 7</a:t>
            </a:r>
            <a:endParaRPr sz="2800"/>
          </a:p>
        </p:txBody>
      </p:sp>
      <p:sp>
        <p:nvSpPr>
          <p:cNvPr id="256" name="Google Shape;256;p22"/>
          <p:cNvSpPr txBox="1"/>
          <p:nvPr>
            <p:ph idx="1" type="body"/>
          </p:nvPr>
        </p:nvSpPr>
        <p:spPr>
          <a:xfrm>
            <a:off x="457200" y="548680"/>
            <a:ext cx="8229600" cy="557748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grammar G=({E},{+,*,(,),id },{E-&gt;E+E|E*E|(E)|id},E).  Derive the string (id+id)*id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63" name="Google Shape;263;p23"/>
          <p:cNvSpPr txBox="1"/>
          <p:nvPr>
            <p:ph type="title"/>
          </p:nvPr>
        </p:nvSpPr>
        <p:spPr>
          <a:xfrm>
            <a:off x="467544" y="27678"/>
            <a:ext cx="8229600" cy="3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Derivation-Example 7</a:t>
            </a:r>
            <a:endParaRPr sz="2800"/>
          </a:p>
        </p:txBody>
      </p:sp>
      <p:sp>
        <p:nvSpPr>
          <p:cNvPr id="264" name="Google Shape;264;p23"/>
          <p:cNvSpPr txBox="1"/>
          <p:nvPr>
            <p:ph idx="1" type="body"/>
          </p:nvPr>
        </p:nvSpPr>
        <p:spPr>
          <a:xfrm>
            <a:off x="457200" y="548680"/>
            <a:ext cx="8229600" cy="557748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grammar G=({E},{+,*,(,),id },{E-&gt;E+E|E*E|(E)|id},E).  Derive the string (id+id)*id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E=&gt;E*E			By using E-&gt;E*E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=&gt;(E)*E			By using E-&gt;(E)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=&gt;(E+E)*E			By using E-&gt;E+E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=&gt;(id+E)*E			By using E-&gt;id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=&gt;(id+id)*E			By using E-&gt;id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=&gt;(id+id)*id			By using E-&gt;id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E=&gt;(id+id)*id		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265" name="Google Shape;265;p23"/>
          <p:cNvSpPr txBox="1"/>
          <p:nvPr/>
        </p:nvSpPr>
        <p:spPr>
          <a:xfrm>
            <a:off x="605136" y="5127313"/>
            <a:ext cx="36004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72" name="Google Shape;272;p24"/>
          <p:cNvSpPr txBox="1"/>
          <p:nvPr>
            <p:ph type="title"/>
          </p:nvPr>
        </p:nvSpPr>
        <p:spPr>
          <a:xfrm>
            <a:off x="467544" y="27678"/>
            <a:ext cx="8229600" cy="3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Derivation-Example 8</a:t>
            </a:r>
            <a:endParaRPr sz="2800"/>
          </a:p>
        </p:txBody>
      </p:sp>
      <p:sp>
        <p:nvSpPr>
          <p:cNvPr id="273" name="Google Shape;273;p24"/>
          <p:cNvSpPr txBox="1"/>
          <p:nvPr>
            <p:ph idx="1" type="body"/>
          </p:nvPr>
        </p:nvSpPr>
        <p:spPr>
          <a:xfrm>
            <a:off x="457200" y="548680"/>
            <a:ext cx="8229600" cy="557748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grammar G=({E},{+,*,(,),id },{E-&gt;E+E|E*E|(E)|id},E).  Derive the string id+(id*id)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80" name="Google Shape;280;p25"/>
          <p:cNvSpPr txBox="1"/>
          <p:nvPr>
            <p:ph type="title"/>
          </p:nvPr>
        </p:nvSpPr>
        <p:spPr>
          <a:xfrm>
            <a:off x="467544" y="27678"/>
            <a:ext cx="8229600" cy="3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Derivation-Example 8</a:t>
            </a:r>
            <a:endParaRPr sz="2800"/>
          </a:p>
        </p:txBody>
      </p:sp>
      <p:sp>
        <p:nvSpPr>
          <p:cNvPr id="281" name="Google Shape;281;p25"/>
          <p:cNvSpPr txBox="1"/>
          <p:nvPr>
            <p:ph idx="1" type="body"/>
          </p:nvPr>
        </p:nvSpPr>
        <p:spPr>
          <a:xfrm>
            <a:off x="457200" y="548680"/>
            <a:ext cx="8229600" cy="557748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grammar G=({E},{+,*,(,),id },{E-&gt;E+E|E*E|(E)|id},E).  Derive the string id+(id*id)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E=&gt;E+E			By using E-&gt;E+E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=&gt;E+(E)			By using E-&gt;(E)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 E+(E*E) 			By using E-&gt;E*E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 id+(E*E) 			By using E-&gt;id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 id+(id*E) 			By using E-&gt;id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 id+(id*id) 			By using E-&gt;id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E=&gt; id+(id*id) 		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282" name="Google Shape;282;p25"/>
          <p:cNvSpPr txBox="1"/>
          <p:nvPr/>
        </p:nvSpPr>
        <p:spPr>
          <a:xfrm>
            <a:off x="605136" y="5127313"/>
            <a:ext cx="36004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89" name="Google Shape;289;p26"/>
          <p:cNvSpPr txBox="1"/>
          <p:nvPr>
            <p:ph type="title"/>
          </p:nvPr>
        </p:nvSpPr>
        <p:spPr>
          <a:xfrm>
            <a:off x="467544" y="16559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 sz="3200"/>
              <a:t>Types of Derivation</a:t>
            </a:r>
            <a:endParaRPr/>
          </a:p>
        </p:txBody>
      </p:sp>
      <p:sp>
        <p:nvSpPr>
          <p:cNvPr id="290" name="Google Shape;290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Most Derivation(LMD)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Most derivation(RMD)</a:t>
            </a:r>
            <a:endParaRPr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97" name="Google Shape;297;p27"/>
          <p:cNvSpPr txBox="1"/>
          <p:nvPr>
            <p:ph type="title"/>
          </p:nvPr>
        </p:nvSpPr>
        <p:spPr>
          <a:xfrm>
            <a:off x="467544" y="16559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 sz="3200"/>
              <a:t>Types of Derivation</a:t>
            </a:r>
            <a:endParaRPr/>
          </a:p>
        </p:txBody>
      </p:sp>
      <p:sp>
        <p:nvSpPr>
          <p:cNvPr id="298" name="Google Shape;298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Most Derivation(LMD)-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derivation A=&gt;w is called Left most derivation if we apply a production only to the left most variable at every step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Most derivation(RMD)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derivation A=&gt;w is called Right most derivation if we apply a production only to the right most variable at every step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-KLP Mishra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99" name="Google Shape;299;p27"/>
          <p:cNvSpPr txBox="1"/>
          <p:nvPr/>
        </p:nvSpPr>
        <p:spPr>
          <a:xfrm>
            <a:off x="2555776" y="3356992"/>
            <a:ext cx="36004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7"/>
          <p:cNvSpPr txBox="1"/>
          <p:nvPr/>
        </p:nvSpPr>
        <p:spPr>
          <a:xfrm>
            <a:off x="2555776" y="1844824"/>
            <a:ext cx="36004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07" name="Google Shape;307;p28"/>
          <p:cNvSpPr txBox="1"/>
          <p:nvPr>
            <p:ph type="title"/>
          </p:nvPr>
        </p:nvSpPr>
        <p:spPr>
          <a:xfrm>
            <a:off x="467544" y="116632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Context free Grammar:Example 9</a:t>
            </a:r>
            <a:endParaRPr sz="2800"/>
          </a:p>
        </p:txBody>
      </p:sp>
      <p:sp>
        <p:nvSpPr>
          <p:cNvPr id="308" name="Google Shape;308;p28"/>
          <p:cNvSpPr txBox="1"/>
          <p:nvPr>
            <p:ph idx="1" type="body"/>
          </p:nvPr>
        </p:nvSpPr>
        <p:spPr>
          <a:xfrm>
            <a:off x="179512" y="908720"/>
            <a:ext cx="8856984" cy="56886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grammar S-&gt;aAS, A-&gt;SbA, S-&gt;a,A-&gt;ba Derive the  string aabbaa using LMD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15" name="Google Shape;315;p29"/>
          <p:cNvSpPr txBox="1"/>
          <p:nvPr>
            <p:ph type="title"/>
          </p:nvPr>
        </p:nvSpPr>
        <p:spPr>
          <a:xfrm>
            <a:off x="467544" y="116632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Context free Grammar:Example 10</a:t>
            </a:r>
            <a:endParaRPr sz="2800"/>
          </a:p>
        </p:txBody>
      </p:sp>
      <p:sp>
        <p:nvSpPr>
          <p:cNvPr id="316" name="Google Shape;316;p29"/>
          <p:cNvSpPr txBox="1"/>
          <p:nvPr>
            <p:ph idx="1" type="body"/>
          </p:nvPr>
        </p:nvSpPr>
        <p:spPr>
          <a:xfrm>
            <a:off x="179512" y="908720"/>
            <a:ext cx="8856984" cy="56886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grammar S-&gt;aAS, A-&gt;SbA, S-&gt;a,A-&gt;ba Derive the  string aabbaa using RMD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23" name="Google Shape;323;p30"/>
          <p:cNvSpPr txBox="1"/>
          <p:nvPr>
            <p:ph type="title"/>
          </p:nvPr>
        </p:nvSpPr>
        <p:spPr>
          <a:xfrm>
            <a:off x="467544" y="116632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Context free Grammar:Example 11</a:t>
            </a:r>
            <a:endParaRPr sz="2800"/>
          </a:p>
        </p:txBody>
      </p:sp>
      <p:sp>
        <p:nvSpPr>
          <p:cNvPr id="324" name="Google Shape;324;p30"/>
          <p:cNvSpPr txBox="1"/>
          <p:nvPr>
            <p:ph idx="1" type="body"/>
          </p:nvPr>
        </p:nvSpPr>
        <p:spPr>
          <a:xfrm>
            <a:off x="179512" y="908720"/>
            <a:ext cx="8856984" cy="56886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grammar G=({S},{a,b},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 S-&gt;0B|1A, 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A-&gt;0|0S|1AA,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B-&gt;1|1S|0BB}, S} 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the string 0110, find RMD. </a:t>
            </a:r>
            <a:endParaRPr sz="2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31" name="Google Shape;331;p31"/>
          <p:cNvSpPr txBox="1"/>
          <p:nvPr>
            <p:ph type="title"/>
          </p:nvPr>
        </p:nvSpPr>
        <p:spPr>
          <a:xfrm>
            <a:off x="467544" y="116632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Context free Grammar:Example 12</a:t>
            </a:r>
            <a:endParaRPr sz="2800"/>
          </a:p>
        </p:txBody>
      </p:sp>
      <p:sp>
        <p:nvSpPr>
          <p:cNvPr id="332" name="Google Shape;332;p31"/>
          <p:cNvSpPr txBox="1"/>
          <p:nvPr>
            <p:ph idx="1" type="body"/>
          </p:nvPr>
        </p:nvSpPr>
        <p:spPr>
          <a:xfrm>
            <a:off x="179512" y="908720"/>
            <a:ext cx="8856984" cy="56886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grammar G=({S},{a,b},{ 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S-&gt;0B|1A, 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A-&gt;0|0S|1AA,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B-&gt;1|1S|0BB}, S} 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the string 00110101, find the following:</a:t>
            </a:r>
            <a:endParaRPr/>
          </a:p>
          <a:p>
            <a:pPr indent="-514350" lvl="0" marL="5143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lphaLcParenR"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LMD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39" name="Google Shape;339;p32"/>
          <p:cNvSpPr txBox="1"/>
          <p:nvPr>
            <p:ph type="title"/>
          </p:nvPr>
        </p:nvSpPr>
        <p:spPr>
          <a:xfrm>
            <a:off x="467544" y="116632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Context free Grammar:Example 12</a:t>
            </a:r>
            <a:endParaRPr sz="2800"/>
          </a:p>
        </p:txBody>
      </p:sp>
      <p:sp>
        <p:nvSpPr>
          <p:cNvPr id="340" name="Google Shape;340;p32"/>
          <p:cNvSpPr txBox="1"/>
          <p:nvPr>
            <p:ph idx="1" type="body"/>
          </p:nvPr>
        </p:nvSpPr>
        <p:spPr>
          <a:xfrm>
            <a:off x="179512" y="908720"/>
            <a:ext cx="8856984" cy="56886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grammar G=({S},{a,b},{ 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S-&gt;0B|1A, 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A-&gt;0|0S|1AA,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B-&gt;1|1S|0BB}, S} 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the string 00110101, find the following:</a:t>
            </a:r>
            <a:endParaRPr/>
          </a:p>
          <a:p>
            <a:pPr indent="-514350" lvl="0" marL="5143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lphaLcParenR" startAt="2"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RMD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47" name="Google Shape;347;p33"/>
          <p:cNvSpPr txBox="1"/>
          <p:nvPr>
            <p:ph type="title"/>
          </p:nvPr>
        </p:nvSpPr>
        <p:spPr>
          <a:xfrm>
            <a:off x="467544" y="116632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Definition of a Derivation tree</a:t>
            </a:r>
            <a:endParaRPr sz="2800"/>
          </a:p>
        </p:txBody>
      </p:sp>
      <p:sp>
        <p:nvSpPr>
          <p:cNvPr id="348" name="Google Shape;348;p33"/>
          <p:cNvSpPr txBox="1"/>
          <p:nvPr>
            <p:ph idx="1" type="body"/>
          </p:nvPr>
        </p:nvSpPr>
        <p:spPr>
          <a:xfrm>
            <a:off x="179512" y="908720"/>
            <a:ext cx="8856984" cy="56886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tree representation of derivations is called derivation trees or parse trees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useful in compilation of programming languages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tree structure of the source program makes the translation of source program into executable code easier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55" name="Google Shape;355;p34"/>
          <p:cNvSpPr txBox="1"/>
          <p:nvPr>
            <p:ph type="title"/>
          </p:nvPr>
        </p:nvSpPr>
        <p:spPr>
          <a:xfrm>
            <a:off x="467544" y="116632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Definition of a Derivation tree</a:t>
            </a:r>
            <a:endParaRPr sz="2800"/>
          </a:p>
        </p:txBody>
      </p:sp>
      <p:sp>
        <p:nvSpPr>
          <p:cNvPr id="356" name="Google Shape;356;p34"/>
          <p:cNvSpPr txBox="1"/>
          <p:nvPr>
            <p:ph idx="1" type="body"/>
          </p:nvPr>
        </p:nvSpPr>
        <p:spPr>
          <a:xfrm>
            <a:off x="179512" y="908720"/>
            <a:ext cx="8856984" cy="56886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derivation tree/Parse tree for a CFG G (V</a:t>
            </a:r>
            <a:r>
              <a:rPr baseline="-25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∑, P , S ) is a tree satisfying the following:-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vertex/node of the tree has a label which is variable or terminal or ε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root has label S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label of an internal node is a Variable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interior node is labelled with A and the sons of the vertex are labelled with X</a:t>
            </a:r>
            <a:r>
              <a:rPr baseline="-25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….X</a:t>
            </a:r>
            <a:r>
              <a:rPr baseline="-25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the left then A-&gt;X</a:t>
            </a:r>
            <a:r>
              <a:rPr baseline="-25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….X</a:t>
            </a:r>
            <a:r>
              <a:rPr baseline="-25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must be a production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node is a leaf if its label a∈ ∑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an vertex has label ε then it is a leaf and it is the only one son of its father</a:t>
            </a:r>
            <a:endParaRPr sz="2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63" name="Google Shape;363;p35"/>
          <p:cNvSpPr txBox="1"/>
          <p:nvPr>
            <p:ph type="title"/>
          </p:nvPr>
        </p:nvSpPr>
        <p:spPr>
          <a:xfrm>
            <a:off x="467544" y="116632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Yield of a Derivation tree</a:t>
            </a:r>
            <a:endParaRPr sz="2800"/>
          </a:p>
        </p:txBody>
      </p:sp>
      <p:sp>
        <p:nvSpPr>
          <p:cNvPr id="364" name="Google Shape;364;p35"/>
          <p:cNvSpPr txBox="1"/>
          <p:nvPr>
            <p:ph idx="1" type="body"/>
          </p:nvPr>
        </p:nvSpPr>
        <p:spPr>
          <a:xfrm>
            <a:off x="179512" y="908720"/>
            <a:ext cx="8856984" cy="56886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Definition:-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Parmasivan-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read the leaves of the derivation tree from left to right order , we get the string or the expression. This is called yield of the tree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KLP Mishra-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yield of a derivation tree is the concatenation of the labels of the leaves without repetition in the left to right ordering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71" name="Google Shape;371;p36"/>
          <p:cNvSpPr txBox="1"/>
          <p:nvPr>
            <p:ph type="title"/>
          </p:nvPr>
        </p:nvSpPr>
        <p:spPr>
          <a:xfrm>
            <a:off x="467544" y="116632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Yield of a Derivation tree</a:t>
            </a:r>
            <a:endParaRPr sz="2800"/>
          </a:p>
        </p:txBody>
      </p:sp>
      <p:sp>
        <p:nvSpPr>
          <p:cNvPr id="372" name="Google Shape;372;p36"/>
          <p:cNvSpPr txBox="1"/>
          <p:nvPr>
            <p:ph idx="1" type="body"/>
          </p:nvPr>
        </p:nvSpPr>
        <p:spPr>
          <a:xfrm>
            <a:off x="179512" y="908720"/>
            <a:ext cx="8856984" cy="56886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Example-Yield of the tree ?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73" name="Google Shape;373;p36"/>
          <p:cNvSpPr/>
          <p:nvPr/>
        </p:nvSpPr>
        <p:spPr>
          <a:xfrm>
            <a:off x="2267744" y="1628800"/>
            <a:ext cx="432048" cy="4320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374" name="Google Shape;374;p36"/>
          <p:cNvSpPr/>
          <p:nvPr/>
        </p:nvSpPr>
        <p:spPr>
          <a:xfrm>
            <a:off x="1115616" y="2780928"/>
            <a:ext cx="432048" cy="4320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375" name="Google Shape;375;p36"/>
          <p:cNvSpPr/>
          <p:nvPr/>
        </p:nvSpPr>
        <p:spPr>
          <a:xfrm>
            <a:off x="2267744" y="2780928"/>
            <a:ext cx="432048" cy="4320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376" name="Google Shape;376;p36"/>
          <p:cNvSpPr/>
          <p:nvPr/>
        </p:nvSpPr>
        <p:spPr>
          <a:xfrm>
            <a:off x="3419872" y="2780928"/>
            <a:ext cx="432048" cy="4320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377" name="Google Shape;377;p36"/>
          <p:cNvSpPr/>
          <p:nvPr/>
        </p:nvSpPr>
        <p:spPr>
          <a:xfrm>
            <a:off x="1547664" y="3789040"/>
            <a:ext cx="432048" cy="4320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378" name="Google Shape;378;p36"/>
          <p:cNvSpPr/>
          <p:nvPr/>
        </p:nvSpPr>
        <p:spPr>
          <a:xfrm>
            <a:off x="3131840" y="3789040"/>
            <a:ext cx="432048" cy="4320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cxnSp>
        <p:nvCxnSpPr>
          <p:cNvPr id="379" name="Google Shape;379;p36"/>
          <p:cNvCxnSpPr>
            <a:stCxn id="373" idx="3"/>
            <a:endCxn id="374" idx="7"/>
          </p:cNvCxnSpPr>
          <p:nvPr/>
        </p:nvCxnSpPr>
        <p:spPr>
          <a:xfrm flipH="1">
            <a:off x="1484416" y="1997576"/>
            <a:ext cx="846600" cy="846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0" name="Google Shape;380;p36"/>
          <p:cNvCxnSpPr/>
          <p:nvPr/>
        </p:nvCxnSpPr>
        <p:spPr>
          <a:xfrm>
            <a:off x="2577480" y="1988840"/>
            <a:ext cx="914400" cy="914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" name="Google Shape;381;p36"/>
          <p:cNvCxnSpPr>
            <a:endCxn id="375" idx="0"/>
          </p:cNvCxnSpPr>
          <p:nvPr/>
        </p:nvCxnSpPr>
        <p:spPr>
          <a:xfrm>
            <a:off x="2483768" y="2060928"/>
            <a:ext cx="0" cy="720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" name="Google Shape;382;p36"/>
          <p:cNvCxnSpPr/>
          <p:nvPr/>
        </p:nvCxnSpPr>
        <p:spPr>
          <a:xfrm flipH="1">
            <a:off x="1907704" y="3212976"/>
            <a:ext cx="423312" cy="576064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3" name="Google Shape;383;p36"/>
          <p:cNvCxnSpPr/>
          <p:nvPr/>
        </p:nvCxnSpPr>
        <p:spPr>
          <a:xfrm>
            <a:off x="2627784" y="3140968"/>
            <a:ext cx="495320" cy="639336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" name="Google Shape;384;p36"/>
          <p:cNvSpPr/>
          <p:nvPr/>
        </p:nvSpPr>
        <p:spPr>
          <a:xfrm>
            <a:off x="4283968" y="3789040"/>
            <a:ext cx="432048" cy="4320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cxnSp>
        <p:nvCxnSpPr>
          <p:cNvPr id="385" name="Google Shape;385;p36"/>
          <p:cNvCxnSpPr/>
          <p:nvPr/>
        </p:nvCxnSpPr>
        <p:spPr>
          <a:xfrm>
            <a:off x="3779912" y="3140968"/>
            <a:ext cx="495320" cy="639336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92" name="Google Shape;392;p37"/>
          <p:cNvSpPr txBox="1"/>
          <p:nvPr>
            <p:ph type="title"/>
          </p:nvPr>
        </p:nvSpPr>
        <p:spPr>
          <a:xfrm>
            <a:off x="467544" y="116632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Context free Grammar:Example 14</a:t>
            </a:r>
            <a:endParaRPr sz="2800"/>
          </a:p>
        </p:txBody>
      </p:sp>
      <p:sp>
        <p:nvSpPr>
          <p:cNvPr id="393" name="Google Shape;393;p37"/>
          <p:cNvSpPr txBox="1"/>
          <p:nvPr>
            <p:ph idx="1" type="body"/>
          </p:nvPr>
        </p:nvSpPr>
        <p:spPr>
          <a:xfrm>
            <a:off x="179512" y="908720"/>
            <a:ext cx="8856984" cy="56886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a derivation tree of a*b+a*b where G is given by 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S-&gt;S+S|S*S|a|b</a:t>
            </a:r>
            <a:endParaRPr sz="26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00" name="Google Shape;400;p38"/>
          <p:cNvSpPr txBox="1"/>
          <p:nvPr>
            <p:ph type="title"/>
          </p:nvPr>
        </p:nvSpPr>
        <p:spPr>
          <a:xfrm>
            <a:off x="467544" y="116632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Context free Grammar:Example 14</a:t>
            </a:r>
            <a:endParaRPr sz="2800"/>
          </a:p>
        </p:txBody>
      </p:sp>
      <p:sp>
        <p:nvSpPr>
          <p:cNvPr id="401" name="Google Shape;401;p38"/>
          <p:cNvSpPr txBox="1"/>
          <p:nvPr>
            <p:ph idx="1" type="body"/>
          </p:nvPr>
        </p:nvSpPr>
        <p:spPr>
          <a:xfrm>
            <a:off x="179512" y="908720"/>
            <a:ext cx="8856984" cy="56886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a derivation tree of a*b+a*b where G is given by 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S-&gt;S+S|S*S|a|b</a:t>
            </a:r>
            <a:endParaRPr sz="26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08" name="Google Shape;408;p39"/>
          <p:cNvSpPr txBox="1"/>
          <p:nvPr>
            <p:ph type="title"/>
          </p:nvPr>
        </p:nvSpPr>
        <p:spPr>
          <a:xfrm>
            <a:off x="467544" y="116632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Context free Grammar:Example 13</a:t>
            </a:r>
            <a:endParaRPr sz="2800"/>
          </a:p>
        </p:txBody>
      </p:sp>
      <p:sp>
        <p:nvSpPr>
          <p:cNvPr id="409" name="Google Shape;409;p39"/>
          <p:cNvSpPr txBox="1"/>
          <p:nvPr>
            <p:ph idx="1" type="body"/>
          </p:nvPr>
        </p:nvSpPr>
        <p:spPr>
          <a:xfrm>
            <a:off x="179512" y="908720"/>
            <a:ext cx="8856984" cy="56886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grammar G=({S},{a,b},{ S-&gt;aAS|a, A-&gt;SbA|ba}, S} 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 that S=&gt;aabbaa and Construct a derivation tree whose yield is aabbaa</a:t>
            </a:r>
            <a:endParaRPr sz="26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410" name="Google Shape;410;p39"/>
          <p:cNvSpPr txBox="1"/>
          <p:nvPr/>
        </p:nvSpPr>
        <p:spPr>
          <a:xfrm>
            <a:off x="1763688" y="1249596"/>
            <a:ext cx="36004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17" name="Google Shape;417;p40"/>
          <p:cNvSpPr txBox="1"/>
          <p:nvPr>
            <p:ph type="title"/>
          </p:nvPr>
        </p:nvSpPr>
        <p:spPr>
          <a:xfrm>
            <a:off x="467544" y="116632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Sentential Form</a:t>
            </a:r>
            <a:endParaRPr sz="2800"/>
          </a:p>
        </p:txBody>
      </p:sp>
      <p:sp>
        <p:nvSpPr>
          <p:cNvPr id="418" name="Google Shape;418;p40"/>
          <p:cNvSpPr txBox="1"/>
          <p:nvPr>
            <p:ph idx="1" type="body"/>
          </p:nvPr>
        </p:nvSpPr>
        <p:spPr>
          <a:xfrm>
            <a:off x="179512" y="908720"/>
            <a:ext cx="8856984" cy="56886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G=(V</a:t>
            </a:r>
            <a:r>
              <a:rPr baseline="-25000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∑, P , S ) is a CFG then any string α in (VUT)* such that S=&gt; α is a sentential form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S=&gt; α, then α is left sentential form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S=&gt; α, then α is right sentential form</a:t>
            </a:r>
            <a:endParaRPr sz="2800"/>
          </a:p>
          <a:p>
            <a:pPr indent="-165100" lvl="0" marL="342900" rtl="0" algn="l">
              <a:lnSpc>
                <a:spcPct val="2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grpSp>
        <p:nvGrpSpPr>
          <p:cNvPr id="419" name="Google Shape;419;p40"/>
          <p:cNvGrpSpPr/>
          <p:nvPr/>
        </p:nvGrpSpPr>
        <p:grpSpPr>
          <a:xfrm>
            <a:off x="683568" y="2924944"/>
            <a:ext cx="504056" cy="749418"/>
            <a:chOff x="2123728" y="1988840"/>
            <a:chExt cx="504056" cy="749418"/>
          </a:xfrm>
        </p:grpSpPr>
        <p:sp>
          <p:nvSpPr>
            <p:cNvPr id="420" name="Google Shape;420;p40"/>
            <p:cNvSpPr txBox="1"/>
            <p:nvPr/>
          </p:nvSpPr>
          <p:spPr>
            <a:xfrm>
              <a:off x="2123728" y="1988840"/>
              <a:ext cx="36004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40"/>
            <p:cNvSpPr txBox="1"/>
            <p:nvPr/>
          </p:nvSpPr>
          <p:spPr>
            <a:xfrm>
              <a:off x="2123728" y="2368926"/>
              <a:ext cx="50405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lm</a:t>
              </a:r>
              <a:endParaRPr/>
            </a:p>
          </p:txBody>
        </p:sp>
      </p:grpSp>
      <p:grpSp>
        <p:nvGrpSpPr>
          <p:cNvPr id="422" name="Google Shape;422;p40"/>
          <p:cNvGrpSpPr/>
          <p:nvPr/>
        </p:nvGrpSpPr>
        <p:grpSpPr>
          <a:xfrm>
            <a:off x="683568" y="3861048"/>
            <a:ext cx="504056" cy="749418"/>
            <a:chOff x="2123728" y="1988840"/>
            <a:chExt cx="504056" cy="749418"/>
          </a:xfrm>
        </p:grpSpPr>
        <p:sp>
          <p:nvSpPr>
            <p:cNvPr id="423" name="Google Shape;423;p40"/>
            <p:cNvSpPr txBox="1"/>
            <p:nvPr/>
          </p:nvSpPr>
          <p:spPr>
            <a:xfrm>
              <a:off x="2123728" y="1988840"/>
              <a:ext cx="36004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40"/>
            <p:cNvSpPr txBox="1"/>
            <p:nvPr/>
          </p:nvSpPr>
          <p:spPr>
            <a:xfrm>
              <a:off x="2123728" y="2368926"/>
              <a:ext cx="50405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rm</a:t>
              </a:r>
              <a:endPara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5" name="Google Shape;425;p40"/>
          <p:cNvSpPr txBox="1"/>
          <p:nvPr/>
        </p:nvSpPr>
        <p:spPr>
          <a:xfrm>
            <a:off x="2123728" y="1988840"/>
            <a:ext cx="36004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32" name="Google Shape;432;p41"/>
          <p:cNvSpPr txBox="1"/>
          <p:nvPr>
            <p:ph type="title"/>
          </p:nvPr>
        </p:nvSpPr>
        <p:spPr>
          <a:xfrm>
            <a:off x="467544" y="116632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Ambiguity in Grammar </a:t>
            </a:r>
            <a:endParaRPr sz="2800"/>
          </a:p>
        </p:txBody>
      </p:sp>
      <p:sp>
        <p:nvSpPr>
          <p:cNvPr id="433" name="Google Shape;433;p41"/>
          <p:cNvSpPr txBox="1"/>
          <p:nvPr>
            <p:ph idx="1" type="body"/>
          </p:nvPr>
        </p:nvSpPr>
        <p:spPr>
          <a:xfrm>
            <a:off x="179512" y="836712"/>
            <a:ext cx="8856984" cy="56886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following sentence in English Language:-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“In books selected information is given”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Sentence may be parsed in  two different ways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situation may arise in CFG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40" name="Google Shape;440;p42"/>
          <p:cNvSpPr txBox="1"/>
          <p:nvPr>
            <p:ph type="title"/>
          </p:nvPr>
        </p:nvSpPr>
        <p:spPr>
          <a:xfrm>
            <a:off x="467544" y="116632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Ambiguity in Grammar </a:t>
            </a:r>
            <a:endParaRPr sz="2800"/>
          </a:p>
        </p:txBody>
      </p:sp>
      <p:sp>
        <p:nvSpPr>
          <p:cNvPr id="441" name="Google Shape;441;p42"/>
          <p:cNvSpPr txBox="1"/>
          <p:nvPr>
            <p:ph idx="1" type="body"/>
          </p:nvPr>
        </p:nvSpPr>
        <p:spPr>
          <a:xfrm>
            <a:off x="179512" y="836712"/>
            <a:ext cx="8856984" cy="56886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CFG is said to be ambiguous if there exist some w ∈L(G) that has atleast two or more Leftmost Derivation trees or Rightmost Derivation trees.</a:t>
            </a:r>
            <a:endParaRPr/>
          </a:p>
          <a:p>
            <a:pPr indent="-190500" lvl="0" marL="342900" rtl="0" algn="l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48" name="Google Shape;448;p43"/>
          <p:cNvSpPr txBox="1"/>
          <p:nvPr>
            <p:ph type="title"/>
          </p:nvPr>
        </p:nvSpPr>
        <p:spPr>
          <a:xfrm>
            <a:off x="467544" y="116632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Ambiguity in Grammar :Example 15</a:t>
            </a:r>
            <a:endParaRPr sz="2800"/>
          </a:p>
        </p:txBody>
      </p:sp>
      <p:sp>
        <p:nvSpPr>
          <p:cNvPr id="449" name="Google Shape;449;p43"/>
          <p:cNvSpPr txBox="1"/>
          <p:nvPr>
            <p:ph idx="1" type="body"/>
          </p:nvPr>
        </p:nvSpPr>
        <p:spPr>
          <a:xfrm>
            <a:off x="179512" y="908720"/>
            <a:ext cx="8856984" cy="56886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grammar G=({S},{a,b,+,*},P,S) where P consists of S-&gt;S+S|S*S|a|b. Check whether 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is ambiguous for the string a+a*b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56" name="Google Shape;456;p44"/>
          <p:cNvSpPr txBox="1"/>
          <p:nvPr>
            <p:ph type="title"/>
          </p:nvPr>
        </p:nvSpPr>
        <p:spPr>
          <a:xfrm>
            <a:off x="467544" y="116632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Ambiguity in Grammar :Example 15</a:t>
            </a:r>
            <a:endParaRPr sz="2800"/>
          </a:p>
        </p:txBody>
      </p:sp>
      <p:sp>
        <p:nvSpPr>
          <p:cNvPr id="457" name="Google Shape;457;p44"/>
          <p:cNvSpPr txBox="1"/>
          <p:nvPr>
            <p:ph idx="1" type="body"/>
          </p:nvPr>
        </p:nvSpPr>
        <p:spPr>
          <a:xfrm>
            <a:off x="179512" y="908720"/>
            <a:ext cx="8856984" cy="56886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grammar G=({S},{a,b,+,*},P,S) where P consists of S-&gt;S+S|S*S|a|b. Check whether 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is ambiguous for the string a+a*b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458" name="Google Shape;458;p44"/>
          <p:cNvSpPr txBox="1"/>
          <p:nvPr/>
        </p:nvSpPr>
        <p:spPr>
          <a:xfrm>
            <a:off x="539552" y="2780928"/>
            <a:ext cx="2808312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aseline="30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Left Most Derivation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S=&gt;S+S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=&gt;a+S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=&gt;a+S*S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=&gt;a+a*S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=&gt;a+a*b</a:t>
            </a:r>
            <a:endParaRPr/>
          </a:p>
        </p:txBody>
      </p:sp>
      <p:sp>
        <p:nvSpPr>
          <p:cNvPr id="459" name="Google Shape;459;p44"/>
          <p:cNvSpPr txBox="1"/>
          <p:nvPr/>
        </p:nvSpPr>
        <p:spPr>
          <a:xfrm>
            <a:off x="4499992" y="2790769"/>
            <a:ext cx="2808312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aseline="30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Left Most Derivation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S=&gt;S*S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=&gt;S+S*S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=&gt;a+S*S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=&gt;a+a*S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=&gt;a+a*b</a:t>
            </a:r>
            <a:endParaRPr/>
          </a:p>
        </p:txBody>
      </p:sp>
      <p:sp>
        <p:nvSpPr>
          <p:cNvPr id="460" name="Google Shape;460;p44"/>
          <p:cNvSpPr txBox="1"/>
          <p:nvPr/>
        </p:nvSpPr>
        <p:spPr>
          <a:xfrm>
            <a:off x="539552" y="5733256"/>
            <a:ext cx="38615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LMDS , Thus Ambiguous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67" name="Google Shape;467;p45"/>
          <p:cNvSpPr txBox="1"/>
          <p:nvPr>
            <p:ph type="title"/>
          </p:nvPr>
        </p:nvSpPr>
        <p:spPr>
          <a:xfrm>
            <a:off x="467544" y="116632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Ambiguity in Grammar :Example 16</a:t>
            </a:r>
            <a:endParaRPr sz="2800"/>
          </a:p>
        </p:txBody>
      </p:sp>
      <p:sp>
        <p:nvSpPr>
          <p:cNvPr id="468" name="Google Shape;468;p45"/>
          <p:cNvSpPr txBox="1"/>
          <p:nvPr>
            <p:ph idx="1" type="body"/>
          </p:nvPr>
        </p:nvSpPr>
        <p:spPr>
          <a:xfrm>
            <a:off x="179512" y="836712"/>
            <a:ext cx="8856984" cy="56886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grammar S-&gt;aS|aSbS|ε. Show that G is ambiguous for the string aab. Further draw their derivation trees</a:t>
            </a:r>
            <a:endParaRPr sz="24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75" name="Google Shape;475;p46"/>
          <p:cNvSpPr txBox="1"/>
          <p:nvPr>
            <p:ph type="title"/>
          </p:nvPr>
        </p:nvSpPr>
        <p:spPr>
          <a:xfrm>
            <a:off x="467544" y="116632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Ambiguity in Grammar :Example 17</a:t>
            </a:r>
            <a:endParaRPr sz="2800"/>
          </a:p>
        </p:txBody>
      </p:sp>
      <p:sp>
        <p:nvSpPr>
          <p:cNvPr id="476" name="Google Shape;476;p46"/>
          <p:cNvSpPr txBox="1"/>
          <p:nvPr>
            <p:ph idx="1" type="body"/>
          </p:nvPr>
        </p:nvSpPr>
        <p:spPr>
          <a:xfrm>
            <a:off x="179512" y="836712"/>
            <a:ext cx="8856984" cy="56886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G is the grammar S-&gt;SbS|a ,  Show that G is ambiguous .</a:t>
            </a:r>
            <a:endParaRPr sz="24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83" name="Google Shape;483;p47"/>
          <p:cNvSpPr txBox="1"/>
          <p:nvPr>
            <p:ph type="title"/>
          </p:nvPr>
        </p:nvSpPr>
        <p:spPr>
          <a:xfrm>
            <a:off x="467544" y="116632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Ambiguity in Grammar :Example 17</a:t>
            </a:r>
            <a:endParaRPr sz="2800"/>
          </a:p>
        </p:txBody>
      </p:sp>
      <p:sp>
        <p:nvSpPr>
          <p:cNvPr id="484" name="Google Shape;484;p47"/>
          <p:cNvSpPr txBox="1"/>
          <p:nvPr>
            <p:ph idx="1" type="body"/>
          </p:nvPr>
        </p:nvSpPr>
        <p:spPr>
          <a:xfrm>
            <a:off x="179512" y="836712"/>
            <a:ext cx="8856984" cy="56886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G is the grammar S-&gt;SbS|a ,  Show that G is ambiguous 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Lets take string abababa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2022-02-21T08:37:41Z</dcterms:created>
  <dc:creator>Admin</dc:creator>
</cp:coreProperties>
</file>