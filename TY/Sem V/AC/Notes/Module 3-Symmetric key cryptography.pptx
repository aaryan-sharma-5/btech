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5"/>
  </p:notesMasterIdLst>
  <p:sldIdLst>
    <p:sldId id="256" r:id="rId2"/>
    <p:sldId id="406" r:id="rId3"/>
    <p:sldId id="301" r:id="rId4"/>
    <p:sldId id="407" r:id="rId5"/>
    <p:sldId id="302" r:id="rId6"/>
    <p:sldId id="307" r:id="rId7"/>
    <p:sldId id="303" r:id="rId8"/>
    <p:sldId id="305" r:id="rId9"/>
    <p:sldId id="306" r:id="rId10"/>
    <p:sldId id="308" r:id="rId11"/>
    <p:sldId id="309" r:id="rId12"/>
    <p:sldId id="310" r:id="rId13"/>
    <p:sldId id="311" r:id="rId14"/>
    <p:sldId id="312" r:id="rId15"/>
    <p:sldId id="336" r:id="rId16"/>
    <p:sldId id="337" r:id="rId17"/>
    <p:sldId id="313" r:id="rId18"/>
    <p:sldId id="314" r:id="rId19"/>
    <p:sldId id="315" r:id="rId20"/>
    <p:sldId id="316" r:id="rId21"/>
    <p:sldId id="317" r:id="rId22"/>
    <p:sldId id="318" r:id="rId23"/>
    <p:sldId id="319" r:id="rId24"/>
    <p:sldId id="320" r:id="rId25"/>
    <p:sldId id="321" r:id="rId26"/>
    <p:sldId id="323" r:id="rId27"/>
    <p:sldId id="322" r:id="rId28"/>
    <p:sldId id="324" r:id="rId29"/>
    <p:sldId id="325" r:id="rId30"/>
    <p:sldId id="326" r:id="rId31"/>
    <p:sldId id="327" r:id="rId32"/>
    <p:sldId id="328" r:id="rId33"/>
    <p:sldId id="329" r:id="rId34"/>
    <p:sldId id="330" r:id="rId35"/>
    <p:sldId id="331" r:id="rId36"/>
    <p:sldId id="332" r:id="rId37"/>
    <p:sldId id="333" r:id="rId38"/>
    <p:sldId id="334" r:id="rId39"/>
    <p:sldId id="339" r:id="rId40"/>
    <p:sldId id="340" r:id="rId41"/>
    <p:sldId id="342" r:id="rId42"/>
    <p:sldId id="344" r:id="rId43"/>
    <p:sldId id="345" r:id="rId44"/>
    <p:sldId id="343" r:id="rId45"/>
    <p:sldId id="346" r:id="rId46"/>
    <p:sldId id="347" r:id="rId47"/>
    <p:sldId id="348" r:id="rId48"/>
    <p:sldId id="349" r:id="rId49"/>
    <p:sldId id="351" r:id="rId50"/>
    <p:sldId id="352" r:id="rId51"/>
    <p:sldId id="353" r:id="rId52"/>
    <p:sldId id="354" r:id="rId53"/>
    <p:sldId id="355" r:id="rId54"/>
    <p:sldId id="356" r:id="rId55"/>
    <p:sldId id="357" r:id="rId56"/>
    <p:sldId id="358" r:id="rId57"/>
    <p:sldId id="359" r:id="rId58"/>
    <p:sldId id="360" r:id="rId59"/>
    <p:sldId id="361" r:id="rId60"/>
    <p:sldId id="362" r:id="rId61"/>
    <p:sldId id="363" r:id="rId62"/>
    <p:sldId id="364" r:id="rId63"/>
    <p:sldId id="350" r:id="rId64"/>
    <p:sldId id="365" r:id="rId65"/>
    <p:sldId id="366" r:id="rId66"/>
    <p:sldId id="370" r:id="rId67"/>
    <p:sldId id="371" r:id="rId68"/>
    <p:sldId id="367" r:id="rId69"/>
    <p:sldId id="372" r:id="rId70"/>
    <p:sldId id="373" r:id="rId71"/>
    <p:sldId id="404" r:id="rId72"/>
    <p:sldId id="405" r:id="rId73"/>
    <p:sldId id="374" r:id="rId74"/>
    <p:sldId id="376" r:id="rId75"/>
    <p:sldId id="383" r:id="rId76"/>
    <p:sldId id="375" r:id="rId77"/>
    <p:sldId id="382" r:id="rId78"/>
    <p:sldId id="384" r:id="rId79"/>
    <p:sldId id="385" r:id="rId80"/>
    <p:sldId id="386" r:id="rId81"/>
    <p:sldId id="387" r:id="rId82"/>
    <p:sldId id="388" r:id="rId83"/>
    <p:sldId id="390" r:id="rId84"/>
    <p:sldId id="389" r:id="rId85"/>
    <p:sldId id="391" r:id="rId86"/>
    <p:sldId id="392" r:id="rId87"/>
    <p:sldId id="393" r:id="rId88"/>
    <p:sldId id="394" r:id="rId89"/>
    <p:sldId id="395" r:id="rId90"/>
    <p:sldId id="396" r:id="rId91"/>
    <p:sldId id="397" r:id="rId92"/>
    <p:sldId id="398" r:id="rId93"/>
    <p:sldId id="399" r:id="rId94"/>
    <p:sldId id="400" r:id="rId95"/>
    <p:sldId id="401" r:id="rId96"/>
    <p:sldId id="402" r:id="rId97"/>
    <p:sldId id="380" r:id="rId98"/>
    <p:sldId id="403" r:id="rId99"/>
    <p:sldId id="381" r:id="rId100"/>
    <p:sldId id="377" r:id="rId101"/>
    <p:sldId id="378" r:id="rId102"/>
    <p:sldId id="379" r:id="rId103"/>
    <p:sldId id="300" r:id="rId104"/>
  </p:sldIdLst>
  <p:sldSz cx="9144000" cy="6858000" type="screen4x3"/>
  <p:notesSz cx="6858000" cy="9144000"/>
  <p:embeddedFontLst>
    <p:embeddedFont>
      <p:font typeface="Fira Sans" panose="020B0604020202020204" charset="0"/>
      <p:regular r:id="rId106"/>
      <p:bold r:id="rId107"/>
      <p:italic r:id="rId108"/>
      <p:boldItalic r:id="rId109"/>
    </p:embeddedFont>
    <p:embeddedFont>
      <p:font typeface="Tahoma" panose="020B0604030504040204" pitchFamily="34" charset="0"/>
      <p:regular r:id="rId110"/>
      <p:bold r:id="rId111"/>
    </p:embeddedFont>
    <p:embeddedFont>
      <p:font typeface="Marcellus" panose="020B0604020202020204" charset="0"/>
      <p:regular r:id="rId112"/>
    </p:embeddedFont>
    <p:embeddedFont>
      <p:font typeface="Calibri" panose="020F0502020204030204" pitchFamily="34" charset="0"/>
      <p:regular r:id="rId113"/>
      <p:bold r:id="rId114"/>
      <p:italic r:id="rId115"/>
      <p:boldItalic r:id="rId1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9" roundtripDataSignature="AMtx7mi+Va9nyG3wRVfGq3RblIefrATAK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0362B229-3FED-4026-8406-B81C52CA36E7}">
  <a:tblStyle styleId="{0362B229-3FED-4026-8406-B81C52CA36E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1344"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7.fntdata"/><Relationship Id="rId200"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font" Target="fonts/font2.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9" Type="http://customschemas.google.com/relationships/presentationmetadata" Target="metadata"/><Relationship Id="rId20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113"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01"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font" Target="fonts/font3.fntdata"/><Relationship Id="rId11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fntdata"/><Relationship Id="rId114"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202"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4.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5.fntdata"/><Relationship Id="rId115"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574069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0"/>
        <p:cNvGrpSpPr/>
        <p:nvPr/>
      </p:nvGrpSpPr>
      <p:grpSpPr>
        <a:xfrm>
          <a:off x="0" y="0"/>
          <a:ext cx="0" cy="0"/>
          <a:chOff x="0" y="0"/>
          <a:chExt cx="0" cy="0"/>
        </a:xfrm>
      </p:grpSpPr>
      <p:sp>
        <p:nvSpPr>
          <p:cNvPr id="1241" name="Google Shape;1241;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2" name="Google Shape;1242;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2" name="Google Shape;1262;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rtl="0">
              <a:spcBef>
                <a:spcPts val="0"/>
              </a:spcBef>
              <a:spcAft>
                <a:spcPts val="0"/>
              </a:spcAft>
              <a:buNone/>
            </a:pPr>
            <a:r>
              <a:rPr lang="en-US" sz="1200" dirty="0" smtClean="0">
                <a:solidFill>
                  <a:schemeClr val="dk1"/>
                </a:solidFill>
                <a:latin typeface="Tahoma"/>
                <a:ea typeface="Tahoma"/>
                <a:cs typeface="Tahoma"/>
                <a:sym typeface="Tahoma"/>
              </a:rPr>
              <a:t>if the input to the left box is 001, the output is 101. </a:t>
            </a:r>
          </a:p>
          <a:p>
            <a:pPr marL="0" marR="0" lvl="0" indent="0" algn="just" rtl="0">
              <a:spcBef>
                <a:spcPts val="0"/>
              </a:spcBef>
              <a:spcAft>
                <a:spcPts val="0"/>
              </a:spcAft>
              <a:buNone/>
            </a:pPr>
            <a:r>
              <a:rPr lang="en-US" sz="1200" dirty="0" smtClean="0">
                <a:solidFill>
                  <a:schemeClr val="dk1"/>
                </a:solidFill>
                <a:latin typeface="Tahoma"/>
                <a:ea typeface="Tahoma"/>
                <a:cs typeface="Tahoma"/>
                <a:sym typeface="Tahoma"/>
              </a:rPr>
              <a:t>The input 101 in the right table creates the output 001, which shows that the two tables are inverses of each other.</a:t>
            </a:r>
            <a:endParaRPr lang="en-US" dirty="0" smtClean="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25645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5" name="Google Shape;505;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4" name="Google Shape;554;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1" name="Google Shape;1161;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3"/>
        <p:cNvGrpSpPr/>
        <p:nvPr/>
      </p:nvGrpSpPr>
      <p:grpSpPr>
        <a:xfrm>
          <a:off x="0" y="0"/>
          <a:ext cx="0" cy="0"/>
          <a:chOff x="0" y="0"/>
          <a:chExt cx="0" cy="0"/>
        </a:xfrm>
      </p:grpSpPr>
      <p:sp>
        <p:nvSpPr>
          <p:cNvPr id="1194" name="Google Shape;1194;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5" name="Google Shape;1195;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2" name="Google Shape;1212;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0"/>
        <p:cNvGrpSpPr/>
        <p:nvPr/>
      </p:nvGrpSpPr>
      <p:grpSpPr>
        <a:xfrm>
          <a:off x="0" y="0"/>
          <a:ext cx="0" cy="0"/>
          <a:chOff x="0" y="0"/>
          <a:chExt cx="0" cy="0"/>
        </a:xfrm>
      </p:grpSpPr>
      <p:sp>
        <p:nvSpPr>
          <p:cNvPr id="1281" name="Google Shape;1281;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82" name="Google Shape;1282;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7" name="Google Shape;1357;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Google Shape;1433;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4" name="Google Shape;1434;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3"/>
        <p:cNvGrpSpPr/>
        <p:nvPr/>
      </p:nvGrpSpPr>
      <p:grpSpPr>
        <a:xfrm>
          <a:off x="0" y="0"/>
          <a:ext cx="0" cy="0"/>
          <a:chOff x="0" y="0"/>
          <a:chExt cx="0" cy="0"/>
        </a:xfrm>
      </p:grpSpPr>
      <p:sp>
        <p:nvSpPr>
          <p:cNvPr id="1824" name="Google Shape;1824;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25" name="Google Shape;1825;p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9"/>
        <p:cNvGrpSpPr/>
        <p:nvPr/>
      </p:nvGrpSpPr>
      <p:grpSpPr>
        <a:xfrm>
          <a:off x="0" y="0"/>
          <a:ext cx="0" cy="0"/>
          <a:chOff x="0" y="0"/>
          <a:chExt cx="0" cy="0"/>
        </a:xfrm>
      </p:grpSpPr>
      <p:sp>
        <p:nvSpPr>
          <p:cNvPr id="2050" name="Google Shape;2050;p1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1" name="Google Shape;2051;p10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5"/>
        <p:cNvGrpSpPr/>
        <p:nvPr/>
      </p:nvGrpSpPr>
      <p:grpSpPr>
        <a:xfrm>
          <a:off x="0" y="0"/>
          <a:ext cx="0" cy="0"/>
          <a:chOff x="0" y="0"/>
          <a:chExt cx="0" cy="0"/>
        </a:xfrm>
      </p:grpSpPr>
      <p:sp>
        <p:nvSpPr>
          <p:cNvPr id="2086" name="Google Shape;2086;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87" name="Google Shape;2087;p10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7"/>
        <p:cNvGrpSpPr/>
        <p:nvPr/>
      </p:nvGrpSpPr>
      <p:grpSpPr>
        <a:xfrm>
          <a:off x="0" y="0"/>
          <a:ext cx="0" cy="0"/>
          <a:chOff x="0" y="0"/>
          <a:chExt cx="0" cy="0"/>
        </a:xfrm>
      </p:grpSpPr>
      <p:sp>
        <p:nvSpPr>
          <p:cNvPr id="2118" name="Google Shape;2118;p1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19" name="Google Shape;2119;p10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3"/>
        <p:cNvGrpSpPr/>
        <p:nvPr/>
      </p:nvGrpSpPr>
      <p:grpSpPr>
        <a:xfrm>
          <a:off x="0" y="0"/>
          <a:ext cx="0" cy="0"/>
          <a:chOff x="0" y="0"/>
          <a:chExt cx="0" cy="0"/>
        </a:xfrm>
      </p:grpSpPr>
      <p:sp>
        <p:nvSpPr>
          <p:cNvPr id="2134" name="Google Shape;2134;p1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35" name="Google Shape;2135;p10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4"/>
        <p:cNvGrpSpPr/>
        <p:nvPr/>
      </p:nvGrpSpPr>
      <p:grpSpPr>
        <a:xfrm>
          <a:off x="0" y="0"/>
          <a:ext cx="0" cy="0"/>
          <a:chOff x="0" y="0"/>
          <a:chExt cx="0" cy="0"/>
        </a:xfrm>
      </p:grpSpPr>
      <p:sp>
        <p:nvSpPr>
          <p:cNvPr id="2165" name="Google Shape;2165;p1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66" name="Google Shape;2166;p1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1"/>
        <p:cNvGrpSpPr/>
        <p:nvPr/>
      </p:nvGrpSpPr>
      <p:grpSpPr>
        <a:xfrm>
          <a:off x="0" y="0"/>
          <a:ext cx="0" cy="0"/>
          <a:chOff x="0" y="0"/>
          <a:chExt cx="0" cy="0"/>
        </a:xfrm>
      </p:grpSpPr>
      <p:sp>
        <p:nvSpPr>
          <p:cNvPr id="2182" name="Google Shape;2182;p1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3" name="Google Shape;2183;p1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1"/>
        <p:cNvGrpSpPr/>
        <p:nvPr/>
      </p:nvGrpSpPr>
      <p:grpSpPr>
        <a:xfrm>
          <a:off x="0" y="0"/>
          <a:ext cx="0" cy="0"/>
          <a:chOff x="0" y="0"/>
          <a:chExt cx="0" cy="0"/>
        </a:xfrm>
      </p:grpSpPr>
      <p:sp>
        <p:nvSpPr>
          <p:cNvPr id="2232" name="Google Shape;2232;p1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3" name="Google Shape;2233;p1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7"/>
        <p:cNvGrpSpPr/>
        <p:nvPr/>
      </p:nvGrpSpPr>
      <p:grpSpPr>
        <a:xfrm>
          <a:off x="0" y="0"/>
          <a:ext cx="0" cy="0"/>
          <a:chOff x="0" y="0"/>
          <a:chExt cx="0" cy="0"/>
        </a:xfrm>
      </p:grpSpPr>
      <p:sp>
        <p:nvSpPr>
          <p:cNvPr id="2248" name="Google Shape;2248;p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9" name="Google Shape;2249;p1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9"/>
        <p:cNvGrpSpPr/>
        <p:nvPr/>
      </p:nvGrpSpPr>
      <p:grpSpPr>
        <a:xfrm>
          <a:off x="0" y="0"/>
          <a:ext cx="0" cy="0"/>
          <a:chOff x="0" y="0"/>
          <a:chExt cx="0" cy="0"/>
        </a:xfrm>
      </p:grpSpPr>
      <p:sp>
        <p:nvSpPr>
          <p:cNvPr id="2300" name="Google Shape;2300;p1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01" name="Google Shape;2301;p1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3"/>
        <p:cNvGrpSpPr/>
        <p:nvPr/>
      </p:nvGrpSpPr>
      <p:grpSpPr>
        <a:xfrm>
          <a:off x="0" y="0"/>
          <a:ext cx="0" cy="0"/>
          <a:chOff x="0" y="0"/>
          <a:chExt cx="0" cy="0"/>
        </a:xfrm>
      </p:grpSpPr>
      <p:sp>
        <p:nvSpPr>
          <p:cNvPr id="2454" name="Google Shape;2454;p1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5" name="Google Shape;2455;p1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8"/>
        <p:cNvGrpSpPr/>
        <p:nvPr/>
      </p:nvGrpSpPr>
      <p:grpSpPr>
        <a:xfrm>
          <a:off x="0" y="0"/>
          <a:ext cx="0" cy="0"/>
          <a:chOff x="0" y="0"/>
          <a:chExt cx="0" cy="0"/>
        </a:xfrm>
      </p:grpSpPr>
      <p:sp>
        <p:nvSpPr>
          <p:cNvPr id="2579" name="Google Shape;2579;p1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0" name="Google Shape;2580;p1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1"/>
        <p:cNvGrpSpPr/>
        <p:nvPr/>
      </p:nvGrpSpPr>
      <p:grpSpPr>
        <a:xfrm>
          <a:off x="0" y="0"/>
          <a:ext cx="0" cy="0"/>
          <a:chOff x="0" y="0"/>
          <a:chExt cx="0" cy="0"/>
        </a:xfrm>
      </p:grpSpPr>
      <p:sp>
        <p:nvSpPr>
          <p:cNvPr id="2732" name="Google Shape;2732;p1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3" name="Google Shape;2733;p1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6" name="Google Shape;42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24"/>
        <p:cNvGrpSpPr/>
        <p:nvPr/>
      </p:nvGrpSpPr>
      <p:grpSpPr>
        <a:xfrm>
          <a:off x="0" y="0"/>
          <a:ext cx="0" cy="0"/>
          <a:chOff x="0" y="0"/>
          <a:chExt cx="0" cy="0"/>
        </a:xfrm>
      </p:grpSpPr>
      <p:sp>
        <p:nvSpPr>
          <p:cNvPr id="25" name="Google Shape;25;p2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3"/>
          <p:cNvSpPr txBox="1">
            <a:spLocks noGrp="1"/>
          </p:cNvSpPr>
          <p:nvPr>
            <p:ph type="subTitle" idx="1"/>
          </p:nvPr>
        </p:nvSpPr>
        <p:spPr>
          <a:xfrm>
            <a:off x="685800" y="3886200"/>
            <a:ext cx="7086600" cy="17526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Noto Sans Symbols"/>
              <a:buNone/>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7"/>
        <p:cNvGrpSpPr/>
        <p:nvPr/>
      </p:nvGrpSpPr>
      <p:grpSpPr>
        <a:xfrm>
          <a:off x="0" y="0"/>
          <a:ext cx="0" cy="0"/>
          <a:chOff x="0" y="0"/>
          <a:chExt cx="0" cy="0"/>
        </a:xfrm>
      </p:grpSpPr>
      <p:sp>
        <p:nvSpPr>
          <p:cNvPr id="28" name="Google Shape;28;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
        <p:nvSpPr>
          <p:cNvPr id="31" name="Google Shape;31;p24"/>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C00000"/>
                </a:solidFill>
                <a:latin typeface="Marcellus"/>
                <a:ea typeface="Marcellus"/>
                <a:cs typeface="Marcellus"/>
                <a:sym typeface="Marcellu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2" name="Google Shape;32;p24"/>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Fira Sans"/>
                <a:ea typeface="Fira Sans"/>
                <a:cs typeface="Fira Sans"/>
                <a:sym typeface="Fira Sans"/>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9"/>
        <p:cNvGrpSpPr/>
        <p:nvPr/>
      </p:nvGrpSpPr>
      <p:grpSpPr>
        <a:xfrm>
          <a:off x="0" y="0"/>
          <a:ext cx="0" cy="0"/>
          <a:chOff x="0" y="0"/>
          <a:chExt cx="0" cy="0"/>
        </a:xfrm>
      </p:grpSpPr>
      <p:sp>
        <p:nvSpPr>
          <p:cNvPr id="40" name="Google Shape;40;p2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2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2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
        <p:nvSpPr>
          <p:cNvPr id="43" name="Google Shape;43;p26"/>
          <p:cNvSpPr txBox="1">
            <a:spLocks noGrp="1"/>
          </p:cNvSpPr>
          <p:nvPr>
            <p:ph type="body" idx="1"/>
          </p:nvPr>
        </p:nvSpPr>
        <p:spPr>
          <a:xfrm>
            <a:off x="728983" y="1324629"/>
            <a:ext cx="82296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4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5"/>
        <p:cNvGrpSpPr/>
        <p:nvPr/>
      </p:nvGrpSpPr>
      <p:grpSpPr>
        <a:xfrm>
          <a:off x="0" y="0"/>
          <a:ext cx="0" cy="0"/>
          <a:chOff x="0" y="0"/>
          <a:chExt cx="0" cy="0"/>
        </a:xfrm>
      </p:grpSpPr>
      <p:sp>
        <p:nvSpPr>
          <p:cNvPr id="46" name="Google Shape;46;p28"/>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930B0B"/>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7" name="Google Shape;47;p28"/>
          <p:cNvSpPr txBox="1">
            <a:spLocks noGrp="1"/>
          </p:cNvSpPr>
          <p:nvPr>
            <p:ph type="body" idx="1"/>
          </p:nvPr>
        </p:nvSpPr>
        <p:spPr>
          <a:xfrm>
            <a:off x="655370" y="1189973"/>
            <a:ext cx="8248389" cy="489930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35280" algn="l" rtl="0">
              <a:lnSpc>
                <a:spcPct val="90000"/>
              </a:lnSpc>
              <a:spcBef>
                <a:spcPts val="500"/>
              </a:spcBef>
              <a:spcAft>
                <a:spcPts val="0"/>
              </a:spcAft>
              <a:buClr>
                <a:srgbClr val="C55A11"/>
              </a:buClr>
              <a:buSzPts val="168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17500" algn="l" rtl="0">
              <a:lnSpc>
                <a:spcPct val="90000"/>
              </a:lnSpc>
              <a:spcBef>
                <a:spcPts val="500"/>
              </a:spcBef>
              <a:spcAft>
                <a:spcPts val="0"/>
              </a:spcAft>
              <a:buClr>
                <a:srgbClr val="8D4427"/>
              </a:buClr>
              <a:buSzPts val="14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0" name="Google Shape;50;p29"/>
          <p:cNvSpPr txBox="1">
            <a:spLocks noGrp="1"/>
          </p:cNvSpPr>
          <p:nvPr>
            <p:ph type="body" idx="1"/>
          </p:nvPr>
        </p:nvSpPr>
        <p:spPr>
          <a:xfrm>
            <a:off x="681575" y="1606006"/>
            <a:ext cx="3868340"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1" name="Google Shape;51;p29"/>
          <p:cNvSpPr txBox="1">
            <a:spLocks noGrp="1"/>
          </p:cNvSpPr>
          <p:nvPr>
            <p:ph type="body" idx="2"/>
          </p:nvPr>
        </p:nvSpPr>
        <p:spPr>
          <a:xfrm>
            <a:off x="803704" y="2505075"/>
            <a:ext cx="3868340"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29"/>
          <p:cNvSpPr txBox="1">
            <a:spLocks noGrp="1"/>
          </p:cNvSpPr>
          <p:nvPr>
            <p:ph type="body" idx="3"/>
          </p:nvPr>
        </p:nvSpPr>
        <p:spPr>
          <a:xfrm>
            <a:off x="4803013" y="1681163"/>
            <a:ext cx="3887391"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3" name="Google Shape;53;p29"/>
          <p:cNvSpPr txBox="1">
            <a:spLocks noGrp="1"/>
          </p:cNvSpPr>
          <p:nvPr>
            <p:ph type="body" idx="4"/>
          </p:nvPr>
        </p:nvSpPr>
        <p:spPr>
          <a:xfrm>
            <a:off x="4803013" y="2505075"/>
            <a:ext cx="3887391"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4" name="Google Shape;54;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3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9" name="Google Shape;5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32"/>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8" name="Google Shape;68;p32"/>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9" name="Google Shape;69;p32"/>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0" name="Google Shape;70;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3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5" name="Google Shape;75;p33"/>
          <p:cNvSpPr>
            <a:spLocks noGrp="1"/>
          </p:cNvSpPr>
          <p:nvPr>
            <p:ph type="pic" idx="2"/>
          </p:nvPr>
        </p:nvSpPr>
        <p:spPr>
          <a:xfrm>
            <a:off x="3887391" y="987426"/>
            <a:ext cx="4629150" cy="4873625"/>
          </a:xfrm>
          <a:prstGeom prst="rect">
            <a:avLst/>
          </a:prstGeom>
          <a:noFill/>
          <a:ln>
            <a:noFill/>
          </a:ln>
        </p:spPr>
      </p:sp>
      <p:sp>
        <p:nvSpPr>
          <p:cNvPr id="76" name="Google Shape;76;p33"/>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7" name="Google Shape;77;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2" name="Google Shape;82;p34"/>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6"/>
        <p:cNvGrpSpPr/>
        <p:nvPr/>
      </p:nvGrpSpPr>
      <p:grpSpPr>
        <a:xfrm>
          <a:off x="0" y="0"/>
          <a:ext cx="0" cy="0"/>
          <a:chOff x="0" y="0"/>
          <a:chExt cx="0" cy="0"/>
        </a:xfrm>
      </p:grpSpPr>
      <p:sp>
        <p:nvSpPr>
          <p:cNvPr id="87" name="Google Shape;87;p35"/>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8" name="Google Shape;88;p35"/>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9" name="Google Shape;89;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2"/>
        <p:cNvGrpSpPr/>
        <p:nvPr/>
      </p:nvGrpSpPr>
      <p:grpSpPr>
        <a:xfrm>
          <a:off x="0" y="0"/>
          <a:ext cx="0" cy="0"/>
          <a:chOff x="0" y="0"/>
          <a:chExt cx="0" cy="0"/>
        </a:xfrm>
      </p:grpSpPr>
      <p:sp>
        <p:nvSpPr>
          <p:cNvPr id="93" name="Google Shape;93;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94"/>
        <p:cNvGrpSpPr/>
        <p:nvPr/>
      </p:nvGrpSpPr>
      <p:grpSpPr>
        <a:xfrm>
          <a:off x="0" y="0"/>
          <a:ext cx="0" cy="0"/>
          <a:chOff x="0" y="0"/>
          <a:chExt cx="0" cy="0"/>
        </a:xfrm>
      </p:grpSpPr>
      <p:sp>
        <p:nvSpPr>
          <p:cNvPr id="95" name="Google Shape;95;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96"/>
        <p:cNvGrpSpPr/>
        <p:nvPr/>
      </p:nvGrpSpPr>
      <p:grpSpPr>
        <a:xfrm>
          <a:off x="0" y="0"/>
          <a:ext cx="0" cy="0"/>
          <a:chOff x="0" y="0"/>
          <a:chExt cx="0" cy="0"/>
        </a:xfrm>
      </p:grpSpPr>
      <p:sp>
        <p:nvSpPr>
          <p:cNvPr id="97" name="Google Shape;97;p38"/>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8" name="Google Shape;98;p38"/>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9" name="Google Shape;99;p38"/>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0" name="Google Shape;100;p38"/>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r>
              <a:rPr lang="en-IN"/>
              <a:t>1-</a:t>
            </a: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p:nvPr/>
        </p:nvSpPr>
        <p:spPr>
          <a:xfrm>
            <a:off x="1148443" y="294320"/>
            <a:ext cx="6847115" cy="73796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4400"/>
              <a:buFont typeface="Calibri"/>
              <a:buNone/>
            </a:pPr>
            <a:endParaRPr sz="4400" b="0" i="0" u="none" strike="noStrike" cap="none">
              <a:solidFill>
                <a:srgbClr val="000000"/>
              </a:solidFill>
              <a:latin typeface="Calibri"/>
              <a:ea typeface="Calibri"/>
              <a:cs typeface="Calibri"/>
              <a:sym typeface="Calibri"/>
            </a:endParaRPr>
          </a:p>
        </p:txBody>
      </p:sp>
      <p:sp>
        <p:nvSpPr>
          <p:cNvPr id="11" name="Google Shape;11;p22"/>
          <p:cNvSpPr txBox="1"/>
          <p:nvPr/>
        </p:nvSpPr>
        <p:spPr>
          <a:xfrm>
            <a:off x="324390" y="6373654"/>
            <a:ext cx="1455965" cy="3651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rgbClr val="FFFFFF"/>
                </a:solidFill>
                <a:latin typeface="Times New Roman"/>
                <a:ea typeface="Times New Roman"/>
                <a:cs typeface="Times New Roman"/>
                <a:sym typeface="Times New Roman"/>
              </a:rPr>
              <a:t>2/10/2023</a:t>
            </a:r>
            <a:endParaRPr sz="1400" b="1" i="0" u="none" strike="noStrike" cap="none">
              <a:solidFill>
                <a:srgbClr val="FFFFFF"/>
              </a:solidFill>
              <a:latin typeface="Times New Roman"/>
              <a:ea typeface="Times New Roman"/>
              <a:cs typeface="Times New Roman"/>
              <a:sym typeface="Times New Roman"/>
            </a:endParaRPr>
          </a:p>
        </p:txBody>
      </p:sp>
      <p:sp>
        <p:nvSpPr>
          <p:cNvPr id="12" name="Google Shape;12;p22"/>
          <p:cNvSpPr txBox="1"/>
          <p:nvPr/>
        </p:nvSpPr>
        <p:spPr>
          <a:xfrm>
            <a:off x="8240198" y="6347051"/>
            <a:ext cx="601436" cy="3651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fld id="{00000000-1234-1234-1234-123412341234}" type="slidenum">
              <a:rPr lang="en-IN" sz="1400" b="1" i="0" u="none" strike="noStrike" cap="none">
                <a:solidFill>
                  <a:srgbClr val="FFFFFF"/>
                </a:solidFill>
                <a:latin typeface="Times New Roman"/>
                <a:ea typeface="Times New Roman"/>
                <a:cs typeface="Times New Roman"/>
                <a:sym typeface="Times New Roman"/>
              </a:rPr>
              <a:t>‹#›</a:t>
            </a:fld>
            <a:endParaRPr sz="1400" b="1" i="0" u="none" strike="noStrike" cap="none">
              <a:solidFill>
                <a:srgbClr val="FFFFFF"/>
              </a:solidFill>
              <a:latin typeface="Times New Roman"/>
              <a:ea typeface="Times New Roman"/>
              <a:cs typeface="Times New Roman"/>
              <a:sym typeface="Times New Roman"/>
            </a:endParaRPr>
          </a:p>
        </p:txBody>
      </p:sp>
      <p:cxnSp>
        <p:nvCxnSpPr>
          <p:cNvPr id="13" name="Google Shape;13;p22"/>
          <p:cNvCxnSpPr/>
          <p:nvPr/>
        </p:nvCxnSpPr>
        <p:spPr>
          <a:xfrm>
            <a:off x="173929" y="524443"/>
            <a:ext cx="15020" cy="5873873"/>
          </a:xfrm>
          <a:prstGeom prst="straightConnector1">
            <a:avLst/>
          </a:prstGeom>
          <a:noFill/>
          <a:ln w="9525" cap="flat" cmpd="sng">
            <a:solidFill>
              <a:schemeClr val="accent2"/>
            </a:solidFill>
            <a:prstDash val="solid"/>
            <a:miter lim="800000"/>
            <a:headEnd type="none" w="sm" len="sm"/>
            <a:tailEnd type="none" w="sm" len="sm"/>
          </a:ln>
        </p:spPr>
      </p:cxnSp>
      <p:cxnSp>
        <p:nvCxnSpPr>
          <p:cNvPr id="14" name="Google Shape;14;p22"/>
          <p:cNvCxnSpPr/>
          <p:nvPr/>
        </p:nvCxnSpPr>
        <p:spPr>
          <a:xfrm>
            <a:off x="8958782" y="135448"/>
            <a:ext cx="14374" cy="6100958"/>
          </a:xfrm>
          <a:prstGeom prst="straightConnector1">
            <a:avLst/>
          </a:prstGeom>
          <a:noFill/>
          <a:ln w="9525" cap="flat" cmpd="sng">
            <a:solidFill>
              <a:schemeClr val="accent2"/>
            </a:solidFill>
            <a:prstDash val="solid"/>
            <a:miter lim="800000"/>
            <a:headEnd type="none" w="sm" len="sm"/>
            <a:tailEnd type="none" w="sm" len="sm"/>
          </a:ln>
        </p:spPr>
      </p:cxnSp>
      <p:cxnSp>
        <p:nvCxnSpPr>
          <p:cNvPr id="15" name="Google Shape;15;p22"/>
          <p:cNvCxnSpPr/>
          <p:nvPr/>
        </p:nvCxnSpPr>
        <p:spPr>
          <a:xfrm>
            <a:off x="429274" y="135448"/>
            <a:ext cx="8536694" cy="0"/>
          </a:xfrm>
          <a:prstGeom prst="straightConnector1">
            <a:avLst/>
          </a:prstGeom>
          <a:noFill/>
          <a:ln w="9525" cap="flat" cmpd="sng">
            <a:solidFill>
              <a:schemeClr val="accent2"/>
            </a:solidFill>
            <a:prstDash val="solid"/>
            <a:miter lim="800000"/>
            <a:headEnd type="none" w="sm" len="sm"/>
            <a:tailEnd type="none" w="sm" len="sm"/>
          </a:ln>
        </p:spPr>
      </p:cxnSp>
      <p:cxnSp>
        <p:nvCxnSpPr>
          <p:cNvPr id="16" name="Google Shape;16;p22"/>
          <p:cNvCxnSpPr/>
          <p:nvPr/>
        </p:nvCxnSpPr>
        <p:spPr>
          <a:xfrm rot="-5400000" flipH="1">
            <a:off x="162549" y="6424715"/>
            <a:ext cx="293100" cy="240300"/>
          </a:xfrm>
          <a:prstGeom prst="curvedConnector3">
            <a:avLst>
              <a:gd name="adj1" fmla="val 50000"/>
            </a:avLst>
          </a:prstGeom>
          <a:noFill/>
          <a:ln w="9525" cap="flat" cmpd="sng">
            <a:solidFill>
              <a:schemeClr val="accent2"/>
            </a:solidFill>
            <a:prstDash val="solid"/>
            <a:miter lim="800000"/>
            <a:headEnd type="none" w="sm" len="sm"/>
            <a:tailEnd type="none" w="sm" len="sm"/>
          </a:ln>
        </p:spPr>
      </p:cxnSp>
      <p:cxnSp>
        <p:nvCxnSpPr>
          <p:cNvPr id="17" name="Google Shape;17;p22"/>
          <p:cNvCxnSpPr/>
          <p:nvPr/>
        </p:nvCxnSpPr>
        <p:spPr>
          <a:xfrm rot="5400000">
            <a:off x="8611957" y="6330007"/>
            <a:ext cx="454800" cy="267600"/>
          </a:xfrm>
          <a:prstGeom prst="curvedConnector3">
            <a:avLst>
              <a:gd name="adj1" fmla="val 50000"/>
            </a:avLst>
          </a:prstGeom>
          <a:noFill/>
          <a:ln w="9525" cap="flat" cmpd="sng">
            <a:solidFill>
              <a:schemeClr val="accent2"/>
            </a:solidFill>
            <a:prstDash val="solid"/>
            <a:miter lim="800000"/>
            <a:headEnd type="none" w="sm" len="sm"/>
            <a:tailEnd type="none" w="sm" len="sm"/>
          </a:ln>
        </p:spPr>
      </p:cxnSp>
      <p:pic>
        <p:nvPicPr>
          <p:cNvPr id="18" name="Google Shape;18;p22"/>
          <p:cNvPicPr preferRelativeResize="0"/>
          <p:nvPr/>
        </p:nvPicPr>
        <p:blipFill rotWithShape="1">
          <a:blip r:embed="rId17">
            <a:alphaModFix/>
          </a:blip>
          <a:srcRect/>
          <a:stretch/>
        </p:blipFill>
        <p:spPr>
          <a:xfrm>
            <a:off x="454" y="135448"/>
            <a:ext cx="425219" cy="6722552"/>
          </a:xfrm>
          <a:prstGeom prst="rect">
            <a:avLst/>
          </a:prstGeom>
          <a:noFill/>
          <a:ln>
            <a:noFill/>
          </a:ln>
        </p:spPr>
      </p:pic>
      <p:pic>
        <p:nvPicPr>
          <p:cNvPr id="19" name="Google Shape;19;p22"/>
          <p:cNvPicPr preferRelativeResize="0"/>
          <p:nvPr/>
        </p:nvPicPr>
        <p:blipFill rotWithShape="1">
          <a:blip r:embed="rId18">
            <a:alphaModFix/>
          </a:blip>
          <a:srcRect/>
          <a:stretch/>
        </p:blipFill>
        <p:spPr>
          <a:xfrm>
            <a:off x="429588" y="135448"/>
            <a:ext cx="153343" cy="5305232"/>
          </a:xfrm>
          <a:prstGeom prst="rect">
            <a:avLst/>
          </a:prstGeom>
          <a:noFill/>
          <a:ln>
            <a:noFill/>
          </a:ln>
        </p:spPr>
      </p:pic>
      <p:pic>
        <p:nvPicPr>
          <p:cNvPr id="20" name="Google Shape;20;p22" descr="A close up of a sign&#10;&#10;Description automatically generated"/>
          <p:cNvPicPr preferRelativeResize="0"/>
          <p:nvPr/>
        </p:nvPicPr>
        <p:blipFill rotWithShape="1">
          <a:blip r:embed="rId19">
            <a:alphaModFix/>
          </a:blip>
          <a:srcRect/>
          <a:stretch/>
        </p:blipFill>
        <p:spPr>
          <a:xfrm>
            <a:off x="8321645" y="6043825"/>
            <a:ext cx="651512" cy="647487"/>
          </a:xfrm>
          <a:prstGeom prst="rect">
            <a:avLst/>
          </a:prstGeom>
          <a:noFill/>
          <a:ln>
            <a:noFill/>
          </a:ln>
        </p:spPr>
      </p:pic>
      <p:pic>
        <p:nvPicPr>
          <p:cNvPr id="21" name="Google Shape;21;p22" descr="A picture containing drawing&#10;&#10;Description automatically generated"/>
          <p:cNvPicPr preferRelativeResize="0"/>
          <p:nvPr/>
        </p:nvPicPr>
        <p:blipFill rotWithShape="1">
          <a:blip r:embed="rId20">
            <a:alphaModFix/>
          </a:blip>
          <a:srcRect/>
          <a:stretch/>
        </p:blipFill>
        <p:spPr>
          <a:xfrm>
            <a:off x="454" y="6214968"/>
            <a:ext cx="1991676" cy="663892"/>
          </a:xfrm>
          <a:prstGeom prst="rect">
            <a:avLst/>
          </a:prstGeom>
          <a:noFill/>
          <a:ln>
            <a:noFill/>
          </a:ln>
        </p:spPr>
      </p:pic>
      <p:pic>
        <p:nvPicPr>
          <p:cNvPr id="22" name="Google Shape;22;p22"/>
          <p:cNvPicPr preferRelativeResize="0"/>
          <p:nvPr/>
        </p:nvPicPr>
        <p:blipFill rotWithShape="1">
          <a:blip r:embed="rId17">
            <a:alphaModFix/>
          </a:blip>
          <a:srcRect/>
          <a:stretch/>
        </p:blipFill>
        <p:spPr>
          <a:xfrm rot="5400000">
            <a:off x="4987623" y="3550281"/>
            <a:ext cx="385984" cy="6282060"/>
          </a:xfrm>
          <a:prstGeom prst="rect">
            <a:avLst/>
          </a:prstGeom>
          <a:noFill/>
          <a:ln>
            <a:noFill/>
          </a:ln>
        </p:spPr>
      </p:pic>
      <p:pic>
        <p:nvPicPr>
          <p:cNvPr id="23" name="Google Shape;23;p22"/>
          <p:cNvPicPr preferRelativeResize="0"/>
          <p:nvPr/>
        </p:nvPicPr>
        <p:blipFill rotWithShape="1">
          <a:blip r:embed="rId18">
            <a:alphaModFix/>
          </a:blip>
          <a:srcRect/>
          <a:stretch/>
        </p:blipFill>
        <p:spPr>
          <a:xfrm rot="5400000">
            <a:off x="5093663" y="3283949"/>
            <a:ext cx="173904" cy="628205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
          <p:cNvSpPr txBox="1">
            <a:spLocks noGrp="1"/>
          </p:cNvSpPr>
          <p:nvPr>
            <p:ph type="ctrTitle"/>
          </p:nvPr>
        </p:nvSpPr>
        <p:spPr>
          <a:xfrm>
            <a:off x="755576" y="666111"/>
            <a:ext cx="7772400" cy="1470025"/>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C00000"/>
              </a:buClr>
              <a:buSzPct val="100000"/>
              <a:buFont typeface="Marcellus"/>
              <a:buNone/>
            </a:pPr>
            <a:r>
              <a:rPr lang="en-IN" sz="5400" dirty="0" smtClean="0">
                <a:solidFill>
                  <a:srgbClr val="C00000"/>
                </a:solidFill>
                <a:latin typeface="Marcellus"/>
                <a:ea typeface="Marcellus"/>
                <a:cs typeface="Marcellus"/>
                <a:sym typeface="Marcellus"/>
              </a:rPr>
              <a:t>Modern Block Ciphers- DES &amp; AES</a:t>
            </a:r>
            <a:r>
              <a:rPr lang="en-IN" sz="5400" dirty="0">
                <a:solidFill>
                  <a:srgbClr val="C00000"/>
                </a:solidFill>
                <a:latin typeface="Marcellus"/>
                <a:ea typeface="Marcellus"/>
                <a:cs typeface="Marcellus"/>
                <a:sym typeface="Marcellus"/>
              </a:rPr>
              <a:t/>
            </a:r>
            <a:br>
              <a:rPr lang="en-IN" sz="5400" dirty="0">
                <a:solidFill>
                  <a:srgbClr val="C00000"/>
                </a:solidFill>
                <a:latin typeface="Marcellus"/>
                <a:ea typeface="Marcellus"/>
                <a:cs typeface="Marcellus"/>
                <a:sym typeface="Marcellus"/>
              </a:rPr>
            </a:br>
            <a:r>
              <a:rPr lang="en-IN" sz="5400" dirty="0">
                <a:solidFill>
                  <a:srgbClr val="C00000"/>
                </a:solidFill>
                <a:latin typeface="Marcellus"/>
                <a:ea typeface="Marcellus"/>
                <a:cs typeface="Marcellus"/>
                <a:sym typeface="Marcellus"/>
              </a:rPr>
              <a:t/>
            </a:r>
            <a:br>
              <a:rPr lang="en-IN" sz="5400" dirty="0">
                <a:solidFill>
                  <a:srgbClr val="C00000"/>
                </a:solidFill>
                <a:latin typeface="Marcellus"/>
                <a:ea typeface="Marcellus"/>
                <a:cs typeface="Marcellus"/>
                <a:sym typeface="Marcellus"/>
              </a:rPr>
            </a:br>
            <a:r>
              <a:rPr lang="en-IN" sz="5400" dirty="0">
                <a:solidFill>
                  <a:srgbClr val="C00000"/>
                </a:solidFill>
                <a:latin typeface="Marcellus"/>
                <a:ea typeface="Marcellus"/>
                <a:cs typeface="Marcellus"/>
                <a:sym typeface="Marcellus"/>
              </a:rPr>
              <a:t/>
            </a:r>
            <a:br>
              <a:rPr lang="en-IN" sz="5400" dirty="0">
                <a:solidFill>
                  <a:srgbClr val="C00000"/>
                </a:solidFill>
                <a:latin typeface="Marcellus"/>
                <a:ea typeface="Marcellus"/>
                <a:cs typeface="Marcellus"/>
                <a:sym typeface="Marcellus"/>
              </a:rPr>
            </a:br>
            <a:endParaRPr sz="5400" dirty="0">
              <a:solidFill>
                <a:srgbClr val="C00000"/>
              </a:solidFill>
              <a:latin typeface="Marcellus"/>
              <a:ea typeface="Marcellus"/>
              <a:cs typeface="Marcellus"/>
              <a:sym typeface="Marcellus"/>
            </a:endParaRPr>
          </a:p>
        </p:txBody>
      </p:sp>
      <p:sp>
        <p:nvSpPr>
          <p:cNvPr id="107" name="Google Shape;107;p1"/>
          <p:cNvSpPr txBox="1">
            <a:spLocks noGrp="1"/>
          </p:cNvSpPr>
          <p:nvPr>
            <p:ph type="subTitle" idx="1"/>
          </p:nvPr>
        </p:nvSpPr>
        <p:spPr>
          <a:xfrm>
            <a:off x="1115616" y="3676315"/>
            <a:ext cx="7734334" cy="17526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262626"/>
              </a:buClr>
              <a:buSzPts val="2000"/>
              <a:buNone/>
            </a:pPr>
            <a:r>
              <a:rPr lang="en-IN" sz="2200" dirty="0">
                <a:solidFill>
                  <a:srgbClr val="262626"/>
                </a:solidFill>
                <a:latin typeface="Marcellus" panose="020B0604020202020204" charset="0"/>
                <a:ea typeface="Marcellus"/>
                <a:cs typeface="Marcellus"/>
                <a:sym typeface="Marcellus"/>
              </a:rPr>
              <a:t>Ms. Swati Mali</a:t>
            </a:r>
            <a:endParaRPr sz="2200" dirty="0">
              <a:solidFill>
                <a:srgbClr val="262626"/>
              </a:solidFill>
              <a:latin typeface="Marcellus" panose="020B0604020202020204" charset="0"/>
              <a:ea typeface="Marcellus"/>
              <a:cs typeface="Marcellus"/>
              <a:sym typeface="Marcellus"/>
            </a:endParaRPr>
          </a:p>
          <a:p>
            <a:pPr marL="0" lvl="0" indent="0" algn="ctr" rtl="0">
              <a:lnSpc>
                <a:spcPct val="100000"/>
              </a:lnSpc>
              <a:spcBef>
                <a:spcPts val="0"/>
              </a:spcBef>
              <a:spcAft>
                <a:spcPts val="0"/>
              </a:spcAft>
              <a:buClr>
                <a:schemeClr val="dk1"/>
              </a:buClr>
              <a:buSzPts val="2000"/>
              <a:buNone/>
            </a:pPr>
            <a:r>
              <a:rPr lang="en-IN" sz="2200" dirty="0">
                <a:latin typeface="Marcellus" panose="020B0604020202020204" charset="0"/>
              </a:rPr>
              <a:t>swatimali@somaiya.edu</a:t>
            </a:r>
            <a:endParaRPr sz="2200" dirty="0">
              <a:latin typeface="Marcellus" panose="020B0604020202020204" charset="0"/>
            </a:endParaRPr>
          </a:p>
          <a:p>
            <a:pPr marL="0" lvl="0" indent="0" algn="ctr" rtl="0">
              <a:lnSpc>
                <a:spcPct val="100000"/>
              </a:lnSpc>
              <a:spcBef>
                <a:spcPts val="0"/>
              </a:spcBef>
              <a:spcAft>
                <a:spcPts val="0"/>
              </a:spcAft>
              <a:buClr>
                <a:srgbClr val="262626"/>
              </a:buClr>
              <a:buSzPts val="2000"/>
              <a:buNone/>
            </a:pPr>
            <a:r>
              <a:rPr lang="en-IN" sz="2200" dirty="0" err="1" smtClean="0">
                <a:solidFill>
                  <a:srgbClr val="262626"/>
                </a:solidFill>
                <a:latin typeface="Marcellus" panose="020B0604020202020204" charset="0"/>
                <a:ea typeface="Marcellus"/>
                <a:cs typeface="Marcellus"/>
                <a:sym typeface="Marcellus"/>
              </a:rPr>
              <a:t>Somaiya</a:t>
            </a:r>
            <a:r>
              <a:rPr lang="en-IN" sz="2200" dirty="0" smtClean="0">
                <a:solidFill>
                  <a:srgbClr val="262626"/>
                </a:solidFill>
                <a:latin typeface="Marcellus" panose="020B0604020202020204" charset="0"/>
                <a:ea typeface="Marcellus"/>
                <a:cs typeface="Marcellus"/>
                <a:sym typeface="Marcellus"/>
              </a:rPr>
              <a:t> </a:t>
            </a:r>
            <a:r>
              <a:rPr lang="en-IN" sz="2200" dirty="0" err="1">
                <a:solidFill>
                  <a:srgbClr val="262626"/>
                </a:solidFill>
                <a:latin typeface="Marcellus" panose="020B0604020202020204" charset="0"/>
                <a:ea typeface="Marcellus"/>
                <a:cs typeface="Marcellus"/>
                <a:sym typeface="Marcellus"/>
              </a:rPr>
              <a:t>Vidyavihar</a:t>
            </a:r>
            <a:r>
              <a:rPr lang="en-IN" sz="2200" dirty="0">
                <a:solidFill>
                  <a:srgbClr val="262626"/>
                </a:solidFill>
                <a:latin typeface="Marcellus" panose="020B0604020202020204" charset="0"/>
                <a:ea typeface="Marcellus"/>
                <a:cs typeface="Marcellus"/>
                <a:sym typeface="Marcellus"/>
              </a:rPr>
              <a:t> University</a:t>
            </a:r>
            <a:endParaRPr sz="2200" dirty="0">
              <a:latin typeface="Marcellus" panose="020B0604020202020204" charset="0"/>
            </a:endParaRPr>
          </a:p>
        </p:txBody>
      </p:sp>
      <p:pic>
        <p:nvPicPr>
          <p:cNvPr id="108" name="Google Shape;108;p1"/>
          <p:cNvPicPr preferRelativeResize="0"/>
          <p:nvPr/>
        </p:nvPicPr>
        <p:blipFill rotWithShape="1">
          <a:blip r:embed="rId3">
            <a:alphaModFix/>
          </a:blip>
          <a:srcRect/>
          <a:stretch/>
        </p:blipFill>
        <p:spPr>
          <a:xfrm>
            <a:off x="454" y="2220"/>
            <a:ext cx="425219" cy="6855781"/>
          </a:xfrm>
          <a:prstGeom prst="rect">
            <a:avLst/>
          </a:prstGeom>
          <a:noFill/>
          <a:ln>
            <a:noFill/>
          </a:ln>
        </p:spPr>
      </p:pic>
      <p:pic>
        <p:nvPicPr>
          <p:cNvPr id="109" name="Google Shape;109;p1"/>
          <p:cNvPicPr preferRelativeResize="0"/>
          <p:nvPr/>
        </p:nvPicPr>
        <p:blipFill rotWithShape="1">
          <a:blip r:embed="rId4">
            <a:alphaModFix/>
          </a:blip>
          <a:srcRect/>
          <a:stretch/>
        </p:blipFill>
        <p:spPr>
          <a:xfrm>
            <a:off x="425673" y="0"/>
            <a:ext cx="157258" cy="5440680"/>
          </a:xfrm>
          <a:prstGeom prst="rect">
            <a:avLst/>
          </a:prstGeom>
          <a:noFill/>
          <a:ln>
            <a:noFill/>
          </a:ln>
        </p:spPr>
      </p:pic>
      <p:pic>
        <p:nvPicPr>
          <p:cNvPr id="110" name="Google Shape;110;p1" descr="A picture containing drawing&#10;&#10;Description automatically generated"/>
          <p:cNvPicPr preferRelativeResize="0"/>
          <p:nvPr/>
        </p:nvPicPr>
        <p:blipFill rotWithShape="1">
          <a:blip r:embed="rId5">
            <a:alphaModFix/>
          </a:blip>
          <a:srcRect/>
          <a:stretch/>
        </p:blipFill>
        <p:spPr>
          <a:xfrm>
            <a:off x="582930" y="2219"/>
            <a:ext cx="1991676" cy="663892"/>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3: Symmetric </a:t>
            </a:r>
            <a:r>
              <a:rPr lang="en-US" dirty="0"/>
              <a:t>Key Cryptography</a:t>
            </a:r>
            <a:r>
              <a:rPr lang="en-IN" sz="3200" dirty="0">
                <a:latin typeface="Times New Roman"/>
                <a:ea typeface="Times New Roman"/>
              </a:rPr>
              <a:t/>
            </a:r>
            <a:br>
              <a:rPr lang="en-IN" sz="3200" dirty="0">
                <a:latin typeface="Times New Roman"/>
                <a:ea typeface="Times New Roman"/>
              </a:rPr>
            </a:b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577794751"/>
              </p:ext>
            </p:extLst>
          </p:nvPr>
        </p:nvGraphicFramePr>
        <p:xfrm>
          <a:off x="753339" y="1366715"/>
          <a:ext cx="7943851" cy="3808705"/>
        </p:xfrm>
        <a:graphic>
          <a:graphicData uri="http://schemas.openxmlformats.org/drawingml/2006/table">
            <a:tbl>
              <a:tblPr>
                <a:tableStyleId>{0362B229-3FED-4026-8406-B81C52CA36E7}</a:tableStyleId>
              </a:tblPr>
              <a:tblGrid>
                <a:gridCol w="882378"/>
                <a:gridCol w="7061473"/>
              </a:tblGrid>
              <a:tr h="1223486">
                <a:tc>
                  <a:txBody>
                    <a:bodyPr/>
                    <a:lstStyle/>
                    <a:p>
                      <a:pPr marR="126365" algn="r">
                        <a:lnSpc>
                          <a:spcPct val="113000"/>
                        </a:lnSpc>
                        <a:spcAft>
                          <a:spcPts val="0"/>
                        </a:spcAft>
                      </a:pPr>
                      <a:r>
                        <a:rPr lang="en-US" sz="1800" dirty="0">
                          <a:effectLst/>
                        </a:rPr>
                        <a:t>3.1</a:t>
                      </a:r>
                      <a:endParaRPr lang="en-IN" sz="1600" dirty="0">
                        <a:effectLst/>
                        <a:latin typeface="Times New Roman"/>
                        <a:ea typeface="Times New Roman"/>
                      </a:endParaRPr>
                    </a:p>
                  </a:txBody>
                  <a:tcPr marL="68580" marR="68580" marT="0" marB="0"/>
                </a:tc>
                <a:tc>
                  <a:txBody>
                    <a:bodyPr/>
                    <a:lstStyle/>
                    <a:p>
                      <a:pPr marL="67945">
                        <a:lnSpc>
                          <a:spcPct val="111000"/>
                        </a:lnSpc>
                        <a:spcAft>
                          <a:spcPts val="0"/>
                        </a:spcAft>
                        <a:tabLst>
                          <a:tab pos="492760" algn="l"/>
                          <a:tab pos="1225550" algn="l"/>
                          <a:tab pos="1651000" algn="l"/>
                          <a:tab pos="2362200" algn="l"/>
                          <a:tab pos="3155315" algn="l"/>
                        </a:tabLst>
                      </a:pPr>
                      <a:r>
                        <a:rPr lang="en-US" sz="1800" dirty="0">
                          <a:effectLst/>
                        </a:rPr>
                        <a:t>Building blocks of modern and classical Block Ciphers: P box, S Box, EX-OR operations, circular shifts, swaps, split and combine, Rounds, Initialization vectors, Confusion, Diffusion, </a:t>
                      </a:r>
                      <a:r>
                        <a:rPr lang="en-US" sz="1800" dirty="0" err="1">
                          <a:effectLst/>
                        </a:rPr>
                        <a:t>Fiestel</a:t>
                      </a:r>
                      <a:r>
                        <a:rPr lang="en-US" sz="1800" dirty="0">
                          <a:effectLst/>
                        </a:rPr>
                        <a:t> Ciphers, Non-</a:t>
                      </a:r>
                      <a:r>
                        <a:rPr lang="en-US" sz="1800" dirty="0" err="1">
                          <a:effectLst/>
                        </a:rPr>
                        <a:t>Fiestel</a:t>
                      </a:r>
                      <a:r>
                        <a:rPr lang="en-US" sz="1800" dirty="0">
                          <a:effectLst/>
                        </a:rPr>
                        <a:t> ciphers</a:t>
                      </a:r>
                      <a:endParaRPr lang="en-IN" sz="1600" dirty="0">
                        <a:effectLst/>
                        <a:latin typeface="Times New Roman"/>
                        <a:ea typeface="Times New Roman"/>
                      </a:endParaRPr>
                    </a:p>
                  </a:txBody>
                  <a:tcPr marL="68580" marR="68580" marT="0" marB="0"/>
                </a:tc>
              </a:tr>
              <a:tr h="1548246">
                <a:tc>
                  <a:txBody>
                    <a:bodyPr/>
                    <a:lstStyle/>
                    <a:p>
                      <a:pPr marR="126365" algn="r">
                        <a:lnSpc>
                          <a:spcPct val="113000"/>
                        </a:lnSpc>
                        <a:spcAft>
                          <a:spcPts val="0"/>
                        </a:spcAft>
                      </a:pPr>
                      <a:r>
                        <a:rPr lang="en-US" sz="1800">
                          <a:effectLst/>
                        </a:rPr>
                        <a:t>3.2</a:t>
                      </a:r>
                      <a:endParaRPr lang="en-IN" sz="1600">
                        <a:effectLst/>
                        <a:latin typeface="Times New Roman"/>
                        <a:ea typeface="Times New Roman"/>
                      </a:endParaRPr>
                    </a:p>
                  </a:txBody>
                  <a:tcPr marL="68580" marR="68580" marT="0" marB="0"/>
                </a:tc>
                <a:tc>
                  <a:txBody>
                    <a:bodyPr/>
                    <a:lstStyle/>
                    <a:p>
                      <a:pPr marL="67945">
                        <a:lnSpc>
                          <a:spcPct val="111000"/>
                        </a:lnSpc>
                        <a:spcAft>
                          <a:spcPts val="0"/>
                        </a:spcAft>
                        <a:tabLst>
                          <a:tab pos="492760" algn="l"/>
                          <a:tab pos="1225550" algn="l"/>
                          <a:tab pos="1651000" algn="l"/>
                          <a:tab pos="2362200" algn="l"/>
                          <a:tab pos="3155315" algn="l"/>
                        </a:tabLst>
                      </a:pPr>
                      <a:r>
                        <a:rPr lang="en-US" sz="1800" dirty="0" smtClean="0">
                          <a:effectLst/>
                        </a:rPr>
                        <a:t>Introduction to classical block ciphers as means of confusion and diffusion techniques  : Initialization vector, Electronic code book[ECB], Cipher feedback[CFB], cipher block chaining[CBC], output feedback[OFB], propagating cipher block chaining[PCBC], counter[CTR] </a:t>
                      </a:r>
                      <a:endParaRPr lang="en-IN" sz="1600" dirty="0">
                        <a:effectLst/>
                        <a:latin typeface="Times New Roman"/>
                        <a:ea typeface="Times New Roman"/>
                      </a:endParaRPr>
                    </a:p>
                  </a:txBody>
                  <a:tcPr marL="68580" marR="68580" marT="0" marB="0"/>
                </a:tc>
              </a:tr>
              <a:tr h="1036973">
                <a:tc>
                  <a:txBody>
                    <a:bodyPr/>
                    <a:lstStyle/>
                    <a:p>
                      <a:pPr marL="132080">
                        <a:lnSpc>
                          <a:spcPct val="113000"/>
                        </a:lnSpc>
                        <a:spcAft>
                          <a:spcPts val="0"/>
                        </a:spcAft>
                      </a:pPr>
                      <a:r>
                        <a:rPr lang="en-US" sz="1800">
                          <a:effectLst/>
                        </a:rPr>
                        <a:t>3.3</a:t>
                      </a:r>
                      <a:endParaRPr lang="en-IN" sz="1600">
                        <a:effectLst/>
                        <a:latin typeface="Times New Roman"/>
                        <a:ea typeface="Times New Roman"/>
                      </a:endParaRPr>
                    </a:p>
                  </a:txBody>
                  <a:tcPr marL="68580" marR="68580" marT="0" marB="0"/>
                </a:tc>
                <a:tc>
                  <a:txBody>
                    <a:bodyPr/>
                    <a:lstStyle/>
                    <a:p>
                      <a:pPr marL="67945">
                        <a:lnSpc>
                          <a:spcPct val="111000"/>
                        </a:lnSpc>
                        <a:spcAft>
                          <a:spcPts val="0"/>
                        </a:spcAft>
                      </a:pPr>
                      <a:r>
                        <a:rPr lang="en-US" sz="1800" dirty="0">
                          <a:effectLst/>
                        </a:rPr>
                        <a:t>DES: DES Structure, DES Analysis: Properties, Design Criteria, DES Strength and Weaknesses, DES Security, Multiple DES, 3DES, AES vs DES</a:t>
                      </a:r>
                      <a:endParaRPr lang="en-IN" sz="1600" dirty="0">
                        <a:effectLst/>
                        <a:latin typeface="Times New Roman"/>
                        <a:ea typeface="Times New Roman"/>
                      </a:endParaRPr>
                    </a:p>
                  </a:txBody>
                  <a:tcPr marL="68580" marR="68580" marT="0" marB="0"/>
                </a:tc>
              </a:tr>
            </a:tbl>
          </a:graphicData>
        </a:graphic>
      </p:graphicFrame>
    </p:spTree>
    <p:extLst>
      <p:ext uri="{BB962C8B-B14F-4D97-AF65-F5344CB8AC3E}">
        <p14:creationId xmlns:p14="http://schemas.microsoft.com/office/powerpoint/2010/main" val="293268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MODERN BLOCK </a:t>
            </a:r>
            <a:r>
              <a:rPr lang="en-IN" dirty="0" smtClean="0"/>
              <a:t>CIPHERS</a:t>
            </a:r>
            <a:endParaRPr lang="en-IN" dirty="0"/>
          </a:p>
        </p:txBody>
      </p:sp>
      <p:sp>
        <p:nvSpPr>
          <p:cNvPr id="3" name="Text Placeholder 2"/>
          <p:cNvSpPr>
            <a:spLocks noGrp="1"/>
          </p:cNvSpPr>
          <p:nvPr>
            <p:ph type="body" idx="1"/>
          </p:nvPr>
        </p:nvSpPr>
        <p:spPr/>
        <p:txBody>
          <a:bodyPr/>
          <a:lstStyle/>
          <a:p>
            <a:r>
              <a:rPr lang="en-US" dirty="0"/>
              <a:t>A symmetric-key modern block cipher </a:t>
            </a:r>
            <a:r>
              <a:rPr lang="en-US" dirty="0" smtClean="0"/>
              <a:t>:</a:t>
            </a:r>
          </a:p>
          <a:p>
            <a:pPr lvl="1"/>
            <a:r>
              <a:rPr lang="en-US" dirty="0" smtClean="0"/>
              <a:t>encrypts </a:t>
            </a:r>
            <a:r>
              <a:rPr lang="en-US" dirty="0"/>
              <a:t>an </a:t>
            </a:r>
            <a:r>
              <a:rPr lang="en-US" dirty="0" smtClean="0"/>
              <a:t>n-bit </a:t>
            </a:r>
            <a:r>
              <a:rPr lang="en-US" dirty="0"/>
              <a:t>block of plaintext or </a:t>
            </a:r>
            <a:endParaRPr lang="en-US" dirty="0" smtClean="0"/>
          </a:p>
          <a:p>
            <a:pPr lvl="1"/>
            <a:r>
              <a:rPr lang="en-US" dirty="0" smtClean="0"/>
              <a:t>decrypts </a:t>
            </a:r>
            <a:r>
              <a:rPr lang="en-US" dirty="0"/>
              <a:t>an n-bit block of </a:t>
            </a:r>
            <a:r>
              <a:rPr lang="en-US" dirty="0" err="1"/>
              <a:t>ciphertext</a:t>
            </a:r>
            <a:r>
              <a:rPr lang="en-US" dirty="0"/>
              <a:t>. </a:t>
            </a:r>
            <a:endParaRPr lang="en-US" dirty="0" smtClean="0"/>
          </a:p>
          <a:p>
            <a:pPr lvl="1"/>
            <a:r>
              <a:rPr lang="en-US" dirty="0" smtClean="0"/>
              <a:t>The </a:t>
            </a:r>
            <a:r>
              <a:rPr lang="en-US" dirty="0"/>
              <a:t>encryption or decryption algorithm uses a k-bit key. </a:t>
            </a:r>
          </a:p>
          <a:p>
            <a:endParaRPr lang="en-IN" dirty="0"/>
          </a:p>
        </p:txBody>
      </p:sp>
      <p:pic>
        <p:nvPicPr>
          <p:cNvPr id="4" name="Google Shape;421;p3"/>
          <p:cNvPicPr preferRelativeResize="0"/>
          <p:nvPr/>
        </p:nvPicPr>
        <p:blipFill rotWithShape="1">
          <a:blip r:embed="rId2">
            <a:alphaModFix/>
          </a:blip>
          <a:srcRect/>
          <a:stretch/>
        </p:blipFill>
        <p:spPr>
          <a:xfrm>
            <a:off x="1095808" y="3355181"/>
            <a:ext cx="6700837" cy="2662237"/>
          </a:xfrm>
          <a:prstGeom prst="rect">
            <a:avLst/>
          </a:prstGeom>
          <a:noFill/>
          <a:ln>
            <a:noFill/>
          </a:ln>
        </p:spPr>
      </p:pic>
    </p:spTree>
    <p:extLst>
      <p:ext uri="{BB962C8B-B14F-4D97-AF65-F5344CB8AC3E}">
        <p14:creationId xmlns:p14="http://schemas.microsoft.com/office/powerpoint/2010/main" val="23314261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“must-know” vocabulary</a:t>
            </a:r>
            <a:r>
              <a:rPr lang="en-IN" dirty="0"/>
              <a:t> terms</a:t>
            </a:r>
          </a:p>
        </p:txBody>
      </p:sp>
      <p:sp>
        <p:nvSpPr>
          <p:cNvPr id="3" name="Text Placeholder 2"/>
          <p:cNvSpPr>
            <a:spLocks noGrp="1"/>
          </p:cNvSpPr>
          <p:nvPr>
            <p:ph type="body" idx="1"/>
          </p:nvPr>
        </p:nvSpPr>
        <p:spPr/>
        <p:txBody>
          <a:bodyPr/>
          <a:lstStyle/>
          <a:p>
            <a:r>
              <a:rPr lang="en-IN" b="1" dirty="0"/>
              <a:t>Avalanche Effect</a:t>
            </a:r>
            <a:r>
              <a:rPr lang="en-IN" dirty="0"/>
              <a:t> </a:t>
            </a:r>
            <a:r>
              <a:rPr lang="en-IN" dirty="0" smtClean="0"/>
              <a:t>- </a:t>
            </a:r>
            <a:r>
              <a:rPr lang="en-US" dirty="0"/>
              <a:t>Small change in input causes large change in output (important in ciphers &amp; hashes</a:t>
            </a:r>
            <a:r>
              <a:rPr lang="en-US" dirty="0" smtClean="0"/>
              <a:t>)</a:t>
            </a:r>
          </a:p>
          <a:p>
            <a:r>
              <a:rPr lang="en-IN" b="1" dirty="0"/>
              <a:t>Initialization Vector (IV)</a:t>
            </a:r>
            <a:r>
              <a:rPr lang="en-IN" dirty="0"/>
              <a:t> – Random/non-repeating input ensuring same plaintext doesn’t give same </a:t>
            </a:r>
            <a:r>
              <a:rPr lang="en-IN" dirty="0" err="1"/>
              <a:t>ciphertext</a:t>
            </a:r>
            <a:r>
              <a:rPr lang="en-IN" dirty="0"/>
              <a:t>.</a:t>
            </a:r>
          </a:p>
          <a:p>
            <a:r>
              <a:rPr lang="en-IN" b="1" dirty="0"/>
              <a:t>Padding</a:t>
            </a:r>
            <a:r>
              <a:rPr lang="en-IN" dirty="0"/>
              <a:t> – Adding extra data to fit block size.</a:t>
            </a:r>
          </a:p>
          <a:p>
            <a:r>
              <a:rPr lang="en-IN" b="1" dirty="0"/>
              <a:t>Rounds</a:t>
            </a:r>
            <a:r>
              <a:rPr lang="en-IN" dirty="0"/>
              <a:t> – Repeated transformations in encryption (e.g., multiple rounds in AES, DES</a:t>
            </a:r>
            <a:r>
              <a:rPr lang="en-IN" dirty="0" smtClean="0"/>
              <a:t>).</a:t>
            </a:r>
            <a:endParaRPr lang="en-IN" dirty="0"/>
          </a:p>
        </p:txBody>
      </p:sp>
    </p:spTree>
    <p:extLst>
      <p:ext uri="{BB962C8B-B14F-4D97-AF65-F5344CB8AC3E}">
        <p14:creationId xmlns:p14="http://schemas.microsoft.com/office/powerpoint/2010/main" val="3146068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3.2 Classical </a:t>
            </a:r>
            <a:r>
              <a:rPr lang="en-IN" dirty="0" smtClean="0"/>
              <a:t>block ciphers</a:t>
            </a:r>
            <a:endParaRPr lang="en-IN" dirty="0"/>
          </a:p>
        </p:txBody>
      </p:sp>
      <p:sp>
        <p:nvSpPr>
          <p:cNvPr id="3" name="Text Placeholder 2"/>
          <p:cNvSpPr>
            <a:spLocks noGrp="1"/>
          </p:cNvSpPr>
          <p:nvPr>
            <p:ph type="body" idx="1"/>
          </p:nvPr>
        </p:nvSpPr>
        <p:spPr/>
        <p:txBody>
          <a:bodyPr/>
          <a:lstStyle/>
          <a:p>
            <a:r>
              <a:rPr lang="en-IN" dirty="0" smtClean="0"/>
              <a:t>Electronic codebook mode</a:t>
            </a:r>
          </a:p>
          <a:p>
            <a:r>
              <a:rPr lang="en-IN" dirty="0" smtClean="0"/>
              <a:t>Cipher feedback mode</a:t>
            </a:r>
          </a:p>
          <a:p>
            <a:r>
              <a:rPr lang="en-IN" dirty="0" smtClean="0"/>
              <a:t>Output feedback mode</a:t>
            </a:r>
          </a:p>
          <a:p>
            <a:r>
              <a:rPr lang="en-IN" dirty="0" smtClean="0"/>
              <a:t>Cipher block chaining with checksum</a:t>
            </a:r>
            <a:endParaRPr lang="en-IN" dirty="0"/>
          </a:p>
        </p:txBody>
      </p:sp>
    </p:spTree>
    <p:extLst>
      <p:ext uri="{BB962C8B-B14F-4D97-AF65-F5344CB8AC3E}">
        <p14:creationId xmlns:p14="http://schemas.microsoft.com/office/powerpoint/2010/main" val="38564988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Electronic codebook mode</a:t>
            </a:r>
            <a:endParaRPr lang="en-IN" dirty="0"/>
          </a:p>
        </p:txBody>
      </p:sp>
      <p:sp>
        <p:nvSpPr>
          <p:cNvPr id="3" name="Text Placeholder 2"/>
          <p:cNvSpPr>
            <a:spLocks noGrp="1"/>
          </p:cNvSpPr>
          <p:nvPr>
            <p:ph type="body" idx="1"/>
          </p:nvPr>
        </p:nvSpPr>
        <p:spPr/>
        <p:txBody>
          <a:bodyPr/>
          <a:lstStyle/>
          <a:p>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8725" y="1695450"/>
            <a:ext cx="6686550"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16628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Cipher Feedback Mode</a:t>
            </a:r>
            <a:endParaRPr lang="en-IN" dirty="0"/>
          </a:p>
        </p:txBody>
      </p:sp>
      <p:sp>
        <p:nvSpPr>
          <p:cNvPr id="3" name="Text Placeholder 2"/>
          <p:cNvSpPr>
            <a:spLocks noGrp="1"/>
          </p:cNvSpPr>
          <p:nvPr>
            <p:ph type="body" idx="1"/>
          </p:nvPr>
        </p:nvSpPr>
        <p:spPr/>
        <p:txBody>
          <a:bodyPr/>
          <a:lstStyle/>
          <a:p>
            <a:endParaRPr lang="en-IN"/>
          </a:p>
        </p:txBody>
      </p:sp>
      <p:pic>
        <p:nvPicPr>
          <p:cNvPr id="1026" name="Picture 2" descr="encryption - Cipher Feedback Mode - Cryptography Stack Exchan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210" y="1096962"/>
            <a:ext cx="8219499" cy="4171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01167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Output Feedback Mode</a:t>
            </a:r>
            <a:endParaRPr lang="en-IN" dirty="0"/>
          </a:p>
        </p:txBody>
      </p:sp>
      <p:sp>
        <p:nvSpPr>
          <p:cNvPr id="3" name="Text Placeholder 2"/>
          <p:cNvSpPr>
            <a:spLocks noGrp="1"/>
          </p:cNvSpPr>
          <p:nvPr>
            <p:ph type="body" idx="1"/>
          </p:nvPr>
        </p:nvSpPr>
        <p:spPr/>
        <p:txBody>
          <a:bodyPr/>
          <a:lstStyle/>
          <a:p>
            <a:endParaRPr lang="en-IN"/>
          </a:p>
        </p:txBody>
      </p:sp>
      <p:sp>
        <p:nvSpPr>
          <p:cNvPr id="4" name="AutoShape 2" descr="What is OFB?"/>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What is OFB?"/>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What is OFB?"/>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175" y="1299730"/>
            <a:ext cx="8289951" cy="325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39081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Cipher block </a:t>
            </a:r>
            <a:r>
              <a:rPr lang="en-IN" dirty="0" smtClean="0"/>
              <a:t>chaining mode</a:t>
            </a:r>
            <a:endParaRPr lang="en-IN" dirty="0"/>
          </a:p>
        </p:txBody>
      </p:sp>
      <p:sp>
        <p:nvSpPr>
          <p:cNvPr id="3" name="Text Placeholder 2"/>
          <p:cNvSpPr>
            <a:spLocks noGrp="1"/>
          </p:cNvSpPr>
          <p:nvPr>
            <p:ph type="body" idx="1"/>
          </p:nvPr>
        </p:nvSpPr>
        <p:spPr/>
        <p:txBody>
          <a:bodyPr/>
          <a:lstStyle/>
          <a:p>
            <a:endParaRPr lang="en-IN"/>
          </a:p>
        </p:txBody>
      </p:sp>
      <p:sp>
        <p:nvSpPr>
          <p:cNvPr id="4" name="AutoShape 2" descr="Cipher-block chaining (CBC) mode encryption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991" y="1529196"/>
            <a:ext cx="8027522" cy="329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48254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292" y="214817"/>
            <a:ext cx="8562108" cy="874951"/>
          </a:xfrm>
        </p:spPr>
        <p:txBody>
          <a:bodyPr/>
          <a:lstStyle/>
          <a:p>
            <a:r>
              <a:rPr lang="en-IN" dirty="0" smtClean="0"/>
              <a:t>Summary : Classical block cipher modes</a:t>
            </a:r>
            <a:endParaRPr lang="en-IN" dirty="0"/>
          </a:p>
        </p:txBody>
      </p:sp>
      <p:sp>
        <p:nvSpPr>
          <p:cNvPr id="3" name="Text Placeholder 2"/>
          <p:cNvSpPr>
            <a:spLocks noGrp="1"/>
          </p:cNvSpPr>
          <p:nvPr>
            <p:ph type="body" idx="1"/>
          </p:nvPr>
        </p:nvSpPr>
        <p:spPr/>
        <p:txBody>
          <a:bodyPr/>
          <a:lstStyle/>
          <a:p>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288" y="1084117"/>
            <a:ext cx="6283902" cy="5068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65010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295" y="104776"/>
            <a:ext cx="6412221" cy="187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30" y="1728352"/>
            <a:ext cx="6343651" cy="4744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19638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dirty="0" smtClean="0"/>
              <a:t>Reference: Bruce </a:t>
            </a:r>
            <a:r>
              <a:rPr lang="en-IN" dirty="0" err="1" smtClean="0"/>
              <a:t>Schneier</a:t>
            </a:r>
            <a:r>
              <a:rPr lang="en-IN" dirty="0" smtClean="0"/>
              <a:t>, “Applied Cryptography”, 2</a:t>
            </a:r>
            <a:r>
              <a:rPr lang="en-IN" baseline="30000" dirty="0" smtClean="0"/>
              <a:t>nd</a:t>
            </a:r>
            <a:r>
              <a:rPr lang="en-IN" dirty="0" smtClean="0"/>
              <a:t> Edition</a:t>
            </a:r>
            <a:endParaRPr lang="en-IN" dirty="0"/>
          </a:p>
        </p:txBody>
      </p:sp>
    </p:spTree>
    <p:extLst>
      <p:ext uri="{BB962C8B-B14F-4D97-AF65-F5344CB8AC3E}">
        <p14:creationId xmlns:p14="http://schemas.microsoft.com/office/powerpoint/2010/main" val="37853636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smtClean="0">
                <a:solidFill>
                  <a:srgbClr val="C00000"/>
                </a:solidFill>
              </a:rPr>
              <a:t>Modern Block Cipher techniques</a:t>
            </a:r>
            <a:endParaRPr lang="en-IN" dirty="0">
              <a:solidFill>
                <a:srgbClr val="C00000"/>
              </a:solidFill>
            </a:endParaRPr>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766543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Modern Block Cipher techniques</a:t>
            </a:r>
          </a:p>
        </p:txBody>
      </p:sp>
      <p:sp>
        <p:nvSpPr>
          <p:cNvPr id="3" name="Text Placeholder 2"/>
          <p:cNvSpPr>
            <a:spLocks noGrp="1"/>
          </p:cNvSpPr>
          <p:nvPr>
            <p:ph type="body" idx="1"/>
          </p:nvPr>
        </p:nvSpPr>
        <p:spPr/>
        <p:txBody>
          <a:bodyPr>
            <a:normAutofit lnSpcReduction="10000"/>
          </a:bodyPr>
          <a:lstStyle/>
          <a:p>
            <a:r>
              <a:rPr lang="en-IN" dirty="0"/>
              <a:t>Confusion – </a:t>
            </a:r>
            <a:r>
              <a:rPr lang="en-IN" dirty="0" smtClean="0"/>
              <a:t>substitution – S Box</a:t>
            </a:r>
            <a:endParaRPr lang="en-IN" dirty="0"/>
          </a:p>
          <a:p>
            <a:r>
              <a:rPr lang="en-IN" dirty="0" smtClean="0"/>
              <a:t>Diffusion – transposition – P Box</a:t>
            </a:r>
          </a:p>
          <a:p>
            <a:r>
              <a:rPr lang="en-IN" dirty="0" smtClean="0"/>
              <a:t>Ex-OR operations</a:t>
            </a:r>
          </a:p>
          <a:p>
            <a:r>
              <a:rPr lang="en-IN" dirty="0" smtClean="0"/>
              <a:t>Circular Shift</a:t>
            </a:r>
          </a:p>
          <a:p>
            <a:r>
              <a:rPr lang="en-IN" dirty="0" smtClean="0"/>
              <a:t>Swap</a:t>
            </a:r>
          </a:p>
          <a:p>
            <a:r>
              <a:rPr lang="en-IN" dirty="0" smtClean="0"/>
              <a:t>Split and combine</a:t>
            </a:r>
          </a:p>
          <a:p>
            <a:r>
              <a:rPr lang="en-IN" dirty="0" smtClean="0"/>
              <a:t>Product cipher - </a:t>
            </a:r>
            <a:r>
              <a:rPr lang="en-US" dirty="0"/>
              <a:t>complex cipher combining substitution, permutation, and other components </a:t>
            </a:r>
            <a:r>
              <a:rPr lang="en-US" dirty="0" smtClean="0"/>
              <a:t>(introduced by Shannon)</a:t>
            </a:r>
          </a:p>
          <a:p>
            <a:r>
              <a:rPr lang="en-US" dirty="0" smtClean="0"/>
              <a:t>rounds</a:t>
            </a:r>
            <a:endParaRPr lang="en-IN" dirty="0" smtClean="0"/>
          </a:p>
          <a:p>
            <a:endParaRPr lang="en-IN" dirty="0"/>
          </a:p>
        </p:txBody>
      </p:sp>
    </p:spTree>
    <p:extLst>
      <p:ext uri="{BB962C8B-B14F-4D97-AF65-F5344CB8AC3E}">
        <p14:creationId xmlns:p14="http://schemas.microsoft.com/office/powerpoint/2010/main" val="14443783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3"/>
        <p:cNvGrpSpPr/>
        <p:nvPr/>
      </p:nvGrpSpPr>
      <p:grpSpPr>
        <a:xfrm>
          <a:off x="0" y="0"/>
          <a:ext cx="0" cy="0"/>
          <a:chOff x="0" y="0"/>
          <a:chExt cx="0" cy="0"/>
        </a:xfrm>
      </p:grpSpPr>
      <p:sp>
        <p:nvSpPr>
          <p:cNvPr id="1244" name="Google Shape;1244;p52"/>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5.</a:t>
            </a:r>
            <a:fld id="{00000000-1234-1234-1234-123412341234}" type="slidenum">
              <a:rPr lang="en-US" sz="1200" b="1">
                <a:solidFill>
                  <a:schemeClr val="lt2"/>
                </a:solidFill>
                <a:latin typeface="Arial"/>
                <a:ea typeface="Arial"/>
                <a:cs typeface="Arial"/>
                <a:sym typeface="Arial"/>
              </a:rPr>
              <a:t>15</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r>
              <a:rPr lang="en-IN" dirty="0"/>
              <a:t>Diffusion</a:t>
            </a:r>
          </a:p>
        </p:txBody>
      </p:sp>
      <p:sp>
        <p:nvSpPr>
          <p:cNvPr id="3" name="Text Placeholder 2"/>
          <p:cNvSpPr>
            <a:spLocks noGrp="1"/>
          </p:cNvSpPr>
          <p:nvPr>
            <p:ph type="body" idx="1"/>
          </p:nvPr>
        </p:nvSpPr>
        <p:spPr/>
        <p:txBody>
          <a:bodyPr/>
          <a:lstStyle/>
          <a:p>
            <a:endParaRPr lang="en-IN"/>
          </a:p>
        </p:txBody>
      </p:sp>
      <p:sp>
        <p:nvSpPr>
          <p:cNvPr id="1250" name="Google Shape;1250;p52"/>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1252" name="Google Shape;1252;p52"/>
          <p:cNvSpPr/>
          <p:nvPr/>
        </p:nvSpPr>
        <p:spPr>
          <a:xfrm>
            <a:off x="495300" y="1124166"/>
            <a:ext cx="8686800" cy="5693866"/>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dirty="0"/>
          </a:p>
          <a:p>
            <a:pPr marL="457200" marR="0" lvl="0" indent="-457200" algn="just" rtl="0">
              <a:spcBef>
                <a:spcPts val="0"/>
              </a:spcBef>
              <a:spcAft>
                <a:spcPts val="0"/>
              </a:spcAft>
              <a:buClr>
                <a:schemeClr val="dk1"/>
              </a:buClr>
              <a:buSzPts val="2800"/>
              <a:buFont typeface="Arial"/>
              <a:buChar char="•"/>
            </a:pPr>
            <a:r>
              <a:rPr lang="en-US" sz="2800" b="1" i="1" dirty="0">
                <a:solidFill>
                  <a:schemeClr val="dk1"/>
                </a:solidFill>
                <a:latin typeface="Times New Roman"/>
                <a:ea typeface="Times New Roman"/>
                <a:cs typeface="Times New Roman"/>
                <a:sym typeface="Times New Roman"/>
              </a:rPr>
              <a:t>The idea of diffusion is to hide the relationship between the </a:t>
            </a:r>
            <a:r>
              <a:rPr lang="en-US" sz="2800" b="1" i="1" dirty="0" err="1">
                <a:solidFill>
                  <a:schemeClr val="dk1"/>
                </a:solidFill>
                <a:latin typeface="Times New Roman"/>
                <a:ea typeface="Times New Roman"/>
                <a:cs typeface="Times New Roman"/>
                <a:sym typeface="Times New Roman"/>
              </a:rPr>
              <a:t>ciphertext</a:t>
            </a:r>
            <a:r>
              <a:rPr lang="en-US" sz="2800" b="1" i="1" dirty="0">
                <a:solidFill>
                  <a:schemeClr val="dk1"/>
                </a:solidFill>
                <a:latin typeface="Times New Roman"/>
                <a:ea typeface="Times New Roman"/>
                <a:cs typeface="Times New Roman"/>
                <a:sym typeface="Times New Roman"/>
              </a:rPr>
              <a:t> and the plaintext. </a:t>
            </a: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2800"/>
              <a:buFont typeface="Arial"/>
              <a:buChar char="•"/>
            </a:pPr>
            <a:r>
              <a:rPr lang="en-US" sz="2800" b="1" i="1" dirty="0">
                <a:solidFill>
                  <a:schemeClr val="dk1"/>
                </a:solidFill>
                <a:latin typeface="Times New Roman"/>
                <a:ea typeface="Times New Roman"/>
                <a:cs typeface="Times New Roman"/>
                <a:sym typeface="Times New Roman"/>
              </a:rPr>
              <a:t>Frustrate the adversary who uses </a:t>
            </a:r>
            <a:r>
              <a:rPr lang="en-US" sz="2800" b="1" i="1" dirty="0" err="1">
                <a:solidFill>
                  <a:schemeClr val="dk1"/>
                </a:solidFill>
                <a:latin typeface="Times New Roman"/>
                <a:ea typeface="Times New Roman"/>
                <a:cs typeface="Times New Roman"/>
                <a:sym typeface="Times New Roman"/>
              </a:rPr>
              <a:t>ciphertext</a:t>
            </a:r>
            <a:r>
              <a:rPr lang="en-US" sz="2800" b="1" i="1" dirty="0">
                <a:solidFill>
                  <a:schemeClr val="dk1"/>
                </a:solidFill>
                <a:latin typeface="Times New Roman"/>
                <a:ea typeface="Times New Roman"/>
                <a:cs typeface="Times New Roman"/>
                <a:sym typeface="Times New Roman"/>
              </a:rPr>
              <a:t> statistics to find plaintext</a:t>
            </a:r>
            <a:endParaRPr dirty="0"/>
          </a:p>
          <a:p>
            <a:pPr marL="457200" marR="0" lvl="0" indent="-457200" algn="just" rtl="0">
              <a:spcBef>
                <a:spcPts val="0"/>
              </a:spcBef>
              <a:spcAft>
                <a:spcPts val="0"/>
              </a:spcAft>
              <a:buClr>
                <a:schemeClr val="dk1"/>
              </a:buClr>
              <a:buSzPts val="2800"/>
              <a:buFont typeface="Arial"/>
              <a:buChar char="•"/>
            </a:pPr>
            <a:r>
              <a:rPr lang="en-US" sz="2800" b="1" i="1" dirty="0">
                <a:solidFill>
                  <a:schemeClr val="dk1"/>
                </a:solidFill>
                <a:latin typeface="Times New Roman"/>
                <a:ea typeface="Times New Roman"/>
                <a:cs typeface="Times New Roman"/>
                <a:sym typeface="Times New Roman"/>
              </a:rPr>
              <a:t>If a single symbol in plaintext is changes, several or all symbols in the </a:t>
            </a:r>
            <a:r>
              <a:rPr lang="en-US" sz="2800" b="1" i="1" dirty="0" err="1">
                <a:solidFill>
                  <a:schemeClr val="dk1"/>
                </a:solidFill>
                <a:latin typeface="Times New Roman"/>
                <a:ea typeface="Times New Roman"/>
                <a:cs typeface="Times New Roman"/>
                <a:sym typeface="Times New Roman"/>
              </a:rPr>
              <a:t>ciphertext</a:t>
            </a:r>
            <a:r>
              <a:rPr lang="en-US" sz="2800" b="1" i="1" dirty="0">
                <a:solidFill>
                  <a:schemeClr val="dk1"/>
                </a:solidFill>
                <a:latin typeface="Times New Roman"/>
                <a:ea typeface="Times New Roman"/>
                <a:cs typeface="Times New Roman"/>
                <a:sym typeface="Times New Roman"/>
              </a:rPr>
              <a:t> will also be changed</a:t>
            </a:r>
            <a:endParaRPr sz="2800" b="1" i="1" dirty="0">
              <a:solidFill>
                <a:schemeClr val="dk1"/>
              </a:solidFill>
              <a:latin typeface="Times New Roman"/>
              <a:ea typeface="Times New Roman"/>
              <a:cs typeface="Times New Roman"/>
              <a:sym typeface="Times New Roman"/>
            </a:endParaRPr>
          </a:p>
        </p:txBody>
      </p:sp>
      <p:sp>
        <p:nvSpPr>
          <p:cNvPr id="1254" name="Google Shape;1254;p52"/>
          <p:cNvSpPr/>
          <p:nvPr/>
        </p:nvSpPr>
        <p:spPr>
          <a:xfrm>
            <a:off x="495300" y="2955925"/>
            <a:ext cx="8077200" cy="946150"/>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chemeClr val="dk1"/>
                </a:solidFill>
                <a:latin typeface="Times New Roman"/>
                <a:ea typeface="Times New Roman"/>
                <a:cs typeface="Times New Roman"/>
                <a:sym typeface="Times New Roman"/>
              </a:rPr>
              <a:t>Diffusion hides the relationship between the </a:t>
            </a:r>
            <a:r>
              <a:rPr lang="en-US" sz="2800" b="1" dirty="0" err="1">
                <a:solidFill>
                  <a:schemeClr val="dk1"/>
                </a:solidFill>
                <a:latin typeface="Times New Roman"/>
                <a:ea typeface="Times New Roman"/>
                <a:cs typeface="Times New Roman"/>
                <a:sym typeface="Times New Roman"/>
              </a:rPr>
              <a:t>ciphertext</a:t>
            </a:r>
            <a:r>
              <a:rPr lang="en-US" sz="2800" b="1" dirty="0">
                <a:solidFill>
                  <a:schemeClr val="dk1"/>
                </a:solidFill>
                <a:latin typeface="Times New Roman"/>
                <a:ea typeface="Times New Roman"/>
                <a:cs typeface="Times New Roman"/>
                <a:sym typeface="Times New Roman"/>
              </a:rPr>
              <a:t> and the plaintext.</a:t>
            </a:r>
            <a:endParaRPr dirty="0"/>
          </a:p>
        </p:txBody>
      </p:sp>
      <p:cxnSp>
        <p:nvCxnSpPr>
          <p:cNvPr id="1258" name="Google Shape;1258;p52"/>
          <p:cNvCxnSpPr/>
          <p:nvPr/>
        </p:nvCxnSpPr>
        <p:spPr>
          <a:xfrm>
            <a:off x="495300" y="2879725"/>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1259" name="Google Shape;1259;p52"/>
          <p:cNvCxnSpPr/>
          <p:nvPr/>
        </p:nvCxnSpPr>
        <p:spPr>
          <a:xfrm>
            <a:off x="495300" y="4022725"/>
            <a:ext cx="8153400" cy="0"/>
          </a:xfrm>
          <a:prstGeom prst="straightConnector1">
            <a:avLst/>
          </a:prstGeom>
          <a:noFill/>
          <a:ln w="76200" cap="flat" cmpd="sng">
            <a:solidFill>
              <a:srgbClr val="009900"/>
            </a:solidFill>
            <a:prstDash val="solid"/>
            <a:round/>
            <a:headEnd type="none" w="med" len="med"/>
            <a:tailEnd type="none" w="med" len="med"/>
          </a:ln>
        </p:spPr>
      </p:cxnSp>
    </p:spTree>
    <p:extLst>
      <p:ext uri="{BB962C8B-B14F-4D97-AF65-F5344CB8AC3E}">
        <p14:creationId xmlns:p14="http://schemas.microsoft.com/office/powerpoint/2010/main" val="3526272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53"/>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5.</a:t>
            </a:r>
            <a:fld id="{00000000-1234-1234-1234-123412341234}" type="slidenum">
              <a:rPr lang="en-US" sz="1200" b="1">
                <a:solidFill>
                  <a:schemeClr val="lt2"/>
                </a:solidFill>
                <a:latin typeface="Arial"/>
                <a:ea typeface="Arial"/>
                <a:cs typeface="Arial"/>
                <a:sym typeface="Arial"/>
              </a:rPr>
              <a:t>16</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r>
              <a:rPr lang="en-IN" dirty="0"/>
              <a:t>Confusion</a:t>
            </a:r>
          </a:p>
        </p:txBody>
      </p:sp>
      <p:sp>
        <p:nvSpPr>
          <p:cNvPr id="3" name="Text Placeholder 2"/>
          <p:cNvSpPr>
            <a:spLocks noGrp="1"/>
          </p:cNvSpPr>
          <p:nvPr>
            <p:ph type="body" idx="1"/>
          </p:nvPr>
        </p:nvSpPr>
        <p:spPr/>
        <p:txBody>
          <a:bodyPr/>
          <a:lstStyle/>
          <a:p>
            <a:endParaRPr lang="en-IN"/>
          </a:p>
        </p:txBody>
      </p:sp>
      <p:sp>
        <p:nvSpPr>
          <p:cNvPr id="1272" name="Google Shape;1272;p53"/>
          <p:cNvSpPr/>
          <p:nvPr/>
        </p:nvSpPr>
        <p:spPr>
          <a:xfrm>
            <a:off x="228600" y="1123950"/>
            <a:ext cx="8686800" cy="5693866"/>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dirty="0"/>
          </a:p>
          <a:p>
            <a:pPr marL="457200" marR="0" lvl="0" indent="-457200" algn="just" rtl="0">
              <a:spcBef>
                <a:spcPts val="0"/>
              </a:spcBef>
              <a:spcAft>
                <a:spcPts val="0"/>
              </a:spcAft>
              <a:buClr>
                <a:schemeClr val="dk1"/>
              </a:buClr>
              <a:buSzPts val="2800"/>
              <a:buFont typeface="Arial"/>
              <a:buChar char="•"/>
            </a:pPr>
            <a:r>
              <a:rPr lang="en-US" sz="2800" b="1" i="1" dirty="0">
                <a:solidFill>
                  <a:schemeClr val="dk1"/>
                </a:solidFill>
                <a:latin typeface="Times New Roman"/>
                <a:ea typeface="Times New Roman"/>
                <a:cs typeface="Times New Roman"/>
                <a:sym typeface="Times New Roman"/>
              </a:rPr>
              <a:t>The idea of confusion is to hide the relationship between the </a:t>
            </a:r>
            <a:r>
              <a:rPr lang="en-US" sz="2800" b="1" i="1" dirty="0" err="1">
                <a:solidFill>
                  <a:schemeClr val="dk1"/>
                </a:solidFill>
                <a:latin typeface="Times New Roman"/>
                <a:ea typeface="Times New Roman"/>
                <a:cs typeface="Times New Roman"/>
                <a:sym typeface="Times New Roman"/>
              </a:rPr>
              <a:t>ciphertext</a:t>
            </a:r>
            <a:r>
              <a:rPr lang="en-US" sz="2800" b="1" i="1" dirty="0">
                <a:solidFill>
                  <a:schemeClr val="dk1"/>
                </a:solidFill>
                <a:latin typeface="Times New Roman"/>
                <a:ea typeface="Times New Roman"/>
                <a:cs typeface="Times New Roman"/>
                <a:sym typeface="Times New Roman"/>
              </a:rPr>
              <a:t> and the key.</a:t>
            </a:r>
            <a:endParaRPr dirty="0"/>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279400" algn="just" rtl="0">
              <a:spcBef>
                <a:spcPts val="0"/>
              </a:spcBef>
              <a:spcAft>
                <a:spcPts val="0"/>
              </a:spcAft>
              <a:buClr>
                <a:schemeClr val="dk1"/>
              </a:buClr>
              <a:buSzPts val="2800"/>
              <a:buFont typeface="Arial"/>
              <a:buNone/>
            </a:pPr>
            <a:endParaRPr sz="2800" b="1" i="1" dirty="0">
              <a:solidFill>
                <a:schemeClr val="dk1"/>
              </a:solidFill>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2800"/>
              <a:buFont typeface="Arial"/>
              <a:buChar char="•"/>
            </a:pPr>
            <a:r>
              <a:rPr lang="en-US" sz="2800" b="1" i="1" dirty="0" err="1">
                <a:solidFill>
                  <a:schemeClr val="dk1"/>
                </a:solidFill>
                <a:latin typeface="Times New Roman"/>
                <a:ea typeface="Times New Roman"/>
                <a:cs typeface="Times New Roman"/>
                <a:sym typeface="Times New Roman"/>
              </a:rPr>
              <a:t>Frustate</a:t>
            </a:r>
            <a:r>
              <a:rPr lang="en-US" sz="2800" b="1" i="1" dirty="0">
                <a:solidFill>
                  <a:schemeClr val="dk1"/>
                </a:solidFill>
                <a:latin typeface="Times New Roman"/>
                <a:ea typeface="Times New Roman"/>
                <a:cs typeface="Times New Roman"/>
                <a:sym typeface="Times New Roman"/>
              </a:rPr>
              <a:t> the adversary who uses </a:t>
            </a:r>
            <a:r>
              <a:rPr lang="en-US" sz="2800" b="1" i="1" dirty="0" err="1">
                <a:solidFill>
                  <a:schemeClr val="dk1"/>
                </a:solidFill>
                <a:latin typeface="Times New Roman"/>
                <a:ea typeface="Times New Roman"/>
                <a:cs typeface="Times New Roman"/>
                <a:sym typeface="Times New Roman"/>
              </a:rPr>
              <a:t>ciphertext</a:t>
            </a:r>
            <a:r>
              <a:rPr lang="en-US" sz="2800" b="1" i="1" dirty="0">
                <a:solidFill>
                  <a:schemeClr val="dk1"/>
                </a:solidFill>
                <a:latin typeface="Times New Roman"/>
                <a:ea typeface="Times New Roman"/>
                <a:cs typeface="Times New Roman"/>
                <a:sym typeface="Times New Roman"/>
              </a:rPr>
              <a:t> statistics to find key</a:t>
            </a:r>
            <a:endParaRPr dirty="0"/>
          </a:p>
          <a:p>
            <a:pPr marL="457200" marR="0" lvl="0" indent="-457200" algn="just" rtl="0">
              <a:spcBef>
                <a:spcPts val="0"/>
              </a:spcBef>
              <a:spcAft>
                <a:spcPts val="0"/>
              </a:spcAft>
              <a:buClr>
                <a:schemeClr val="dk1"/>
              </a:buClr>
              <a:buSzPts val="2800"/>
              <a:buFont typeface="Arial"/>
              <a:buChar char="•"/>
            </a:pPr>
            <a:r>
              <a:rPr lang="en-US" sz="2800" b="1" i="1" dirty="0">
                <a:solidFill>
                  <a:schemeClr val="dk1"/>
                </a:solidFill>
                <a:latin typeface="Times New Roman"/>
                <a:ea typeface="Times New Roman"/>
                <a:cs typeface="Times New Roman"/>
                <a:sym typeface="Times New Roman"/>
              </a:rPr>
              <a:t>If a single bit in the key is changed, most or all bits in the </a:t>
            </a:r>
            <a:r>
              <a:rPr lang="en-US" sz="2800" b="1" i="1" dirty="0" err="1">
                <a:solidFill>
                  <a:schemeClr val="dk1"/>
                </a:solidFill>
                <a:latin typeface="Times New Roman"/>
                <a:ea typeface="Times New Roman"/>
                <a:cs typeface="Times New Roman"/>
                <a:sym typeface="Times New Roman"/>
              </a:rPr>
              <a:t>ciphertext</a:t>
            </a:r>
            <a:r>
              <a:rPr lang="en-US" sz="2800" b="1" i="1" dirty="0">
                <a:solidFill>
                  <a:schemeClr val="dk1"/>
                </a:solidFill>
                <a:latin typeface="Times New Roman"/>
                <a:ea typeface="Times New Roman"/>
                <a:cs typeface="Times New Roman"/>
                <a:sym typeface="Times New Roman"/>
              </a:rPr>
              <a:t> will also be changed</a:t>
            </a:r>
            <a:endParaRPr sz="2800" b="1" i="1" dirty="0">
              <a:solidFill>
                <a:schemeClr val="dk1"/>
              </a:solidFill>
              <a:latin typeface="Times New Roman"/>
              <a:ea typeface="Times New Roman"/>
              <a:cs typeface="Times New Roman"/>
              <a:sym typeface="Times New Roman"/>
            </a:endParaRPr>
          </a:p>
        </p:txBody>
      </p:sp>
      <p:sp>
        <p:nvSpPr>
          <p:cNvPr id="1274" name="Google Shape;1274;p53"/>
          <p:cNvSpPr/>
          <p:nvPr/>
        </p:nvSpPr>
        <p:spPr>
          <a:xfrm>
            <a:off x="457200" y="2964866"/>
            <a:ext cx="8077200" cy="946150"/>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dk1"/>
                </a:solidFill>
                <a:latin typeface="Times New Roman"/>
                <a:ea typeface="Times New Roman"/>
                <a:cs typeface="Times New Roman"/>
                <a:sym typeface="Times New Roman"/>
              </a:rPr>
              <a:t>Confusion hides the relationship between the ciphertext and the key.</a:t>
            </a:r>
            <a:endParaRPr/>
          </a:p>
        </p:txBody>
      </p:sp>
      <p:cxnSp>
        <p:nvCxnSpPr>
          <p:cNvPr id="1278" name="Google Shape;1278;p53"/>
          <p:cNvCxnSpPr/>
          <p:nvPr/>
        </p:nvCxnSpPr>
        <p:spPr>
          <a:xfrm>
            <a:off x="457200" y="2888666"/>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1279" name="Google Shape;1279;p53"/>
          <p:cNvCxnSpPr/>
          <p:nvPr/>
        </p:nvCxnSpPr>
        <p:spPr>
          <a:xfrm>
            <a:off x="457200" y="4031666"/>
            <a:ext cx="8153400" cy="0"/>
          </a:xfrm>
          <a:prstGeom prst="straightConnector1">
            <a:avLst/>
          </a:prstGeom>
          <a:noFill/>
          <a:ln w="76200" cap="flat" cmpd="sng">
            <a:solidFill>
              <a:srgbClr val="009900"/>
            </a:solidFill>
            <a:prstDash val="solid"/>
            <a:round/>
            <a:headEnd type="none" w="med" len="med"/>
            <a:tailEnd type="none" w="med" len="med"/>
          </a:ln>
        </p:spPr>
      </p:cxnSp>
    </p:spTree>
    <p:extLst>
      <p:ext uri="{BB962C8B-B14F-4D97-AF65-F5344CB8AC3E}">
        <p14:creationId xmlns:p14="http://schemas.microsoft.com/office/powerpoint/2010/main" val="14329488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S-Box</a:t>
            </a:r>
            <a:endParaRPr lang="en-IN" dirty="0"/>
          </a:p>
        </p:txBody>
      </p:sp>
      <p:sp>
        <p:nvSpPr>
          <p:cNvPr id="3" name="Text Placeholder 2"/>
          <p:cNvSpPr>
            <a:spLocks noGrp="1"/>
          </p:cNvSpPr>
          <p:nvPr>
            <p:ph type="body" idx="1"/>
          </p:nvPr>
        </p:nvSpPr>
        <p:spPr/>
        <p:txBody>
          <a:bodyPr/>
          <a:lstStyle/>
          <a:p>
            <a:r>
              <a:rPr lang="en-US" dirty="0"/>
              <a:t>An S-box (substitution box) can be thought of as a miniature substitution </a:t>
            </a:r>
            <a:r>
              <a:rPr lang="en-US" dirty="0" smtClean="0"/>
              <a:t>cipher</a:t>
            </a:r>
          </a:p>
          <a:p>
            <a:endParaRPr lang="en-US" dirty="0"/>
          </a:p>
          <a:p>
            <a:endParaRPr lang="en-US" dirty="0" smtClean="0"/>
          </a:p>
          <a:p>
            <a:endParaRPr lang="en-US" dirty="0"/>
          </a:p>
          <a:p>
            <a:pPr lvl="0" indent="-457200" algn="just">
              <a:spcBef>
                <a:spcPts val="0"/>
              </a:spcBef>
            </a:pPr>
            <a:r>
              <a:rPr lang="en-US" i="1" dirty="0" smtClean="0">
                <a:latin typeface="Fira Sans" panose="020B0604020202020204" charset="0"/>
                <a:ea typeface="Times New Roman"/>
                <a:cs typeface="Times New Roman"/>
                <a:sym typeface="Times New Roman"/>
              </a:rPr>
              <a:t>S Box </a:t>
            </a:r>
            <a:r>
              <a:rPr lang="en-US" i="1" dirty="0">
                <a:latin typeface="Fira Sans" panose="020B0604020202020204" charset="0"/>
                <a:ea typeface="Times New Roman"/>
                <a:cs typeface="Times New Roman"/>
                <a:sym typeface="Times New Roman"/>
              </a:rPr>
              <a:t>can be keyed or keyless</a:t>
            </a:r>
            <a:endParaRPr lang="en-US" dirty="0">
              <a:latin typeface="Fira Sans" panose="020B0604020202020204" charset="0"/>
            </a:endParaRPr>
          </a:p>
          <a:p>
            <a:pPr lvl="0" indent="-457200" algn="just">
              <a:spcBef>
                <a:spcPts val="0"/>
              </a:spcBef>
            </a:pPr>
            <a:r>
              <a:rPr lang="en-US" i="1" dirty="0" smtClean="0">
                <a:latin typeface="Fira Sans" panose="020B0604020202020204" charset="0"/>
                <a:ea typeface="Times New Roman"/>
                <a:cs typeface="Times New Roman"/>
                <a:sym typeface="Times New Roman"/>
              </a:rPr>
              <a:t>Modern </a:t>
            </a:r>
            <a:r>
              <a:rPr lang="en-US" i="1" dirty="0">
                <a:latin typeface="Fira Sans" panose="020B0604020202020204" charset="0"/>
                <a:ea typeface="Times New Roman"/>
                <a:cs typeface="Times New Roman"/>
                <a:sym typeface="Times New Roman"/>
              </a:rPr>
              <a:t>Block ciphers normally use keyless S Box where the mapping from inputs to outputs is predetermined</a:t>
            </a:r>
            <a:endParaRPr lang="en-US" dirty="0">
              <a:latin typeface="Fira Sans" panose="020B0604020202020204" charset="0"/>
            </a:endParaRPr>
          </a:p>
          <a:p>
            <a:endParaRPr lang="en-US" dirty="0" smtClean="0"/>
          </a:p>
          <a:p>
            <a:endParaRPr lang="en-IN" dirty="0"/>
          </a:p>
        </p:txBody>
      </p:sp>
      <p:sp>
        <p:nvSpPr>
          <p:cNvPr id="4" name="Google Shape;833;p26"/>
          <p:cNvSpPr/>
          <p:nvPr/>
        </p:nvSpPr>
        <p:spPr>
          <a:xfrm>
            <a:off x="609600" y="2448213"/>
            <a:ext cx="8077200" cy="946150"/>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dirty="0">
                <a:solidFill>
                  <a:schemeClr val="dk1"/>
                </a:solidFill>
                <a:latin typeface="Times New Roman"/>
                <a:ea typeface="Times New Roman"/>
                <a:cs typeface="Times New Roman"/>
                <a:sym typeface="Times New Roman"/>
              </a:rPr>
              <a:t>An S-box is an </a:t>
            </a:r>
            <a:r>
              <a:rPr lang="en-US" sz="2800" b="1" i="1" u="none" strike="noStrike" cap="none" dirty="0">
                <a:solidFill>
                  <a:schemeClr val="dk1"/>
                </a:solidFill>
                <a:latin typeface="Times New Roman"/>
                <a:ea typeface="Times New Roman"/>
                <a:cs typeface="Times New Roman"/>
                <a:sym typeface="Times New Roman"/>
              </a:rPr>
              <a:t>m</a:t>
            </a:r>
            <a:r>
              <a:rPr lang="en-US" sz="2800" b="1" i="0" u="none" strike="noStrike" cap="none" dirty="0">
                <a:solidFill>
                  <a:schemeClr val="dk1"/>
                </a:solidFill>
                <a:latin typeface="Times New Roman"/>
                <a:ea typeface="Times New Roman"/>
                <a:cs typeface="Times New Roman"/>
                <a:sym typeface="Times New Roman"/>
              </a:rPr>
              <a:t> × </a:t>
            </a:r>
            <a:r>
              <a:rPr lang="en-US" sz="2800" b="1" i="1" u="none" strike="noStrike" cap="none" dirty="0">
                <a:solidFill>
                  <a:schemeClr val="dk1"/>
                </a:solidFill>
                <a:latin typeface="Times New Roman"/>
                <a:ea typeface="Times New Roman"/>
                <a:cs typeface="Times New Roman"/>
                <a:sym typeface="Times New Roman"/>
              </a:rPr>
              <a:t>n</a:t>
            </a:r>
            <a:r>
              <a:rPr lang="en-US" sz="2800" b="1" i="0" u="none" strike="noStrike" cap="none" dirty="0">
                <a:solidFill>
                  <a:schemeClr val="dk1"/>
                </a:solidFill>
                <a:latin typeface="Times New Roman"/>
                <a:ea typeface="Times New Roman"/>
                <a:cs typeface="Times New Roman"/>
                <a:sym typeface="Times New Roman"/>
              </a:rPr>
              <a:t> substitution unit, where </a:t>
            </a:r>
            <a:r>
              <a:rPr lang="en-US" sz="2800" b="1" i="1" u="none" strike="noStrike" cap="none" dirty="0">
                <a:solidFill>
                  <a:schemeClr val="dk1"/>
                </a:solidFill>
                <a:latin typeface="Times New Roman"/>
                <a:ea typeface="Times New Roman"/>
                <a:cs typeface="Times New Roman"/>
                <a:sym typeface="Times New Roman"/>
              </a:rPr>
              <a:t>m</a:t>
            </a:r>
            <a:r>
              <a:rPr lang="en-US" sz="2800" b="1" i="0" u="none" strike="noStrike" cap="none" dirty="0">
                <a:solidFill>
                  <a:schemeClr val="dk1"/>
                </a:solidFill>
                <a:latin typeface="Times New Roman"/>
                <a:ea typeface="Times New Roman"/>
                <a:cs typeface="Times New Roman"/>
                <a:sym typeface="Times New Roman"/>
              </a:rPr>
              <a:t> and </a:t>
            </a:r>
            <a:r>
              <a:rPr lang="en-US" sz="2800" b="1" i="1" u="none" strike="noStrike" cap="none" dirty="0">
                <a:solidFill>
                  <a:schemeClr val="dk1"/>
                </a:solidFill>
                <a:latin typeface="Times New Roman"/>
                <a:ea typeface="Times New Roman"/>
                <a:cs typeface="Times New Roman"/>
                <a:sym typeface="Times New Roman"/>
              </a:rPr>
              <a:t>n</a:t>
            </a:r>
            <a:r>
              <a:rPr lang="en-US" sz="2800" b="1" i="0" u="none" strike="noStrike" cap="none" dirty="0">
                <a:solidFill>
                  <a:schemeClr val="dk1"/>
                </a:solidFill>
                <a:latin typeface="Times New Roman"/>
                <a:ea typeface="Times New Roman"/>
                <a:cs typeface="Times New Roman"/>
                <a:sym typeface="Times New Roman"/>
              </a:rPr>
              <a:t> are not necessarily the same.</a:t>
            </a:r>
            <a:endParaRPr dirty="0"/>
          </a:p>
        </p:txBody>
      </p:sp>
    </p:spTree>
    <p:extLst>
      <p:ext uri="{BB962C8B-B14F-4D97-AF65-F5344CB8AC3E}">
        <p14:creationId xmlns:p14="http://schemas.microsoft.com/office/powerpoint/2010/main" val="8303584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S-Box</a:t>
            </a:r>
          </a:p>
        </p:txBody>
      </p:sp>
      <p:sp>
        <p:nvSpPr>
          <p:cNvPr id="3" name="Text Placeholder 2"/>
          <p:cNvSpPr>
            <a:spLocks noGrp="1"/>
          </p:cNvSpPr>
          <p:nvPr>
            <p:ph type="body" idx="1"/>
          </p:nvPr>
        </p:nvSpPr>
        <p:spPr/>
        <p:txBody>
          <a:bodyPr/>
          <a:lstStyle/>
          <a:p>
            <a:r>
              <a:rPr lang="en-US" dirty="0"/>
              <a:t>S Box are substitution ciphers in which relationship between input and output is defined by </a:t>
            </a:r>
          </a:p>
          <a:p>
            <a:pPr lvl="1"/>
            <a:r>
              <a:rPr lang="en-US" dirty="0"/>
              <a:t>a table or </a:t>
            </a:r>
          </a:p>
          <a:p>
            <a:pPr lvl="1"/>
            <a:r>
              <a:rPr lang="en-US" dirty="0"/>
              <a:t>mathematical </a:t>
            </a:r>
            <a:r>
              <a:rPr lang="en-US" dirty="0" smtClean="0"/>
              <a:t>relation</a:t>
            </a:r>
          </a:p>
          <a:p>
            <a:pPr lvl="2"/>
            <a:r>
              <a:rPr lang="en-US" dirty="0" err="1" smtClean="0"/>
              <a:t>E.g</a:t>
            </a:r>
            <a:r>
              <a:rPr lang="en-US" dirty="0" smtClean="0"/>
              <a:t> </a:t>
            </a:r>
          </a:p>
          <a:p>
            <a:pPr lvl="1"/>
            <a:endParaRPr lang="en-US" dirty="0"/>
          </a:p>
          <a:p>
            <a:endParaRPr lang="en-IN" dirty="0"/>
          </a:p>
        </p:txBody>
      </p:sp>
      <p:pic>
        <p:nvPicPr>
          <p:cNvPr id="4" name="Google Shape;928;p32"/>
          <p:cNvPicPr preferRelativeResize="0"/>
          <p:nvPr/>
        </p:nvPicPr>
        <p:blipFill rotWithShape="1">
          <a:blip r:embed="rId2">
            <a:alphaModFix/>
          </a:blip>
          <a:srcRect/>
          <a:stretch/>
        </p:blipFill>
        <p:spPr>
          <a:xfrm>
            <a:off x="1893022" y="3836338"/>
            <a:ext cx="5411787" cy="979487"/>
          </a:xfrm>
          <a:prstGeom prst="rect">
            <a:avLst/>
          </a:prstGeom>
          <a:noFill/>
          <a:ln>
            <a:noFill/>
          </a:ln>
        </p:spPr>
      </p:pic>
      <p:sp>
        <p:nvSpPr>
          <p:cNvPr id="5" name="Google Shape;947;p33"/>
          <p:cNvSpPr/>
          <p:nvPr/>
        </p:nvSpPr>
        <p:spPr>
          <a:xfrm>
            <a:off x="1077913" y="5053171"/>
            <a:ext cx="650160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dirty="0">
                <a:solidFill>
                  <a:schemeClr val="dk1"/>
                </a:solidFill>
                <a:latin typeface="Tahoma"/>
                <a:ea typeface="Tahoma"/>
                <a:cs typeface="Tahoma"/>
                <a:sym typeface="Tahoma"/>
              </a:rPr>
              <a:t>If the input is 110 then the output y1= 0 and y2= 1</a:t>
            </a:r>
            <a:endParaRPr dirty="0"/>
          </a:p>
          <a:p>
            <a:pPr marL="0" marR="0" lvl="0" indent="0" algn="l" rtl="0">
              <a:spcBef>
                <a:spcPts val="0"/>
              </a:spcBef>
              <a:spcAft>
                <a:spcPts val="0"/>
              </a:spcAft>
              <a:buNone/>
            </a:pPr>
            <a:r>
              <a:rPr lang="en-US" sz="2000" dirty="0">
                <a:solidFill>
                  <a:schemeClr val="dk1"/>
                </a:solidFill>
                <a:latin typeface="Tahoma"/>
                <a:ea typeface="Tahoma"/>
                <a:cs typeface="Tahoma"/>
                <a:sym typeface="Tahoma"/>
              </a:rPr>
              <a:t>If the input is 001 then the output y1= 1 and y2= 0.</a:t>
            </a:r>
            <a:endParaRPr dirty="0"/>
          </a:p>
        </p:txBody>
      </p:sp>
    </p:spTree>
    <p:extLst>
      <p:ext uri="{BB962C8B-B14F-4D97-AF65-F5344CB8AC3E}">
        <p14:creationId xmlns:p14="http://schemas.microsoft.com/office/powerpoint/2010/main" val="24324431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S-Box</a:t>
            </a:r>
          </a:p>
        </p:txBody>
      </p:sp>
      <p:sp>
        <p:nvSpPr>
          <p:cNvPr id="3" name="Text Placeholder 2"/>
          <p:cNvSpPr>
            <a:spLocks noGrp="1"/>
          </p:cNvSpPr>
          <p:nvPr>
            <p:ph type="body" idx="1"/>
          </p:nvPr>
        </p:nvSpPr>
        <p:spPr/>
        <p:txBody>
          <a:bodyPr>
            <a:normAutofit fontScale="92500"/>
          </a:bodyPr>
          <a:lstStyle/>
          <a:p>
            <a:r>
              <a:rPr lang="en-IN" dirty="0" smtClean="0"/>
              <a:t>Tabular s box example (non-invertible)</a:t>
            </a:r>
          </a:p>
          <a:p>
            <a:endParaRPr lang="en-IN" dirty="0"/>
          </a:p>
          <a:p>
            <a:endParaRPr lang="en-IN" dirty="0" smtClean="0"/>
          </a:p>
          <a:p>
            <a:endParaRPr lang="en-IN" dirty="0"/>
          </a:p>
          <a:p>
            <a:endParaRPr lang="en-IN" dirty="0" smtClean="0"/>
          </a:p>
          <a:p>
            <a:endParaRPr lang="en-IN" dirty="0"/>
          </a:p>
          <a:p>
            <a:endParaRPr lang="en-IN" dirty="0" smtClean="0"/>
          </a:p>
          <a:p>
            <a:r>
              <a:rPr lang="en-IN" dirty="0" smtClean="0"/>
              <a:t>For </a:t>
            </a:r>
            <a:r>
              <a:rPr lang="en-IN" dirty="0" err="1" smtClean="0"/>
              <a:t>i</a:t>
            </a:r>
            <a:r>
              <a:rPr lang="en-IN" dirty="0" smtClean="0"/>
              <a:t>/p = 001, o/p = 10</a:t>
            </a:r>
          </a:p>
          <a:p>
            <a:r>
              <a:rPr lang="en-IN" dirty="0" smtClean="0"/>
              <a:t>First 1 bit makes row, rest two bits make column</a:t>
            </a:r>
            <a:endParaRPr lang="en-IN" dirty="0"/>
          </a:p>
        </p:txBody>
      </p:sp>
      <p:pic>
        <p:nvPicPr>
          <p:cNvPr id="4" name="Google Shape;981;p35"/>
          <p:cNvPicPr preferRelativeResize="0"/>
          <p:nvPr/>
        </p:nvPicPr>
        <p:blipFill rotWithShape="1">
          <a:blip r:embed="rId2">
            <a:alphaModFix/>
          </a:blip>
          <a:srcRect/>
          <a:stretch/>
        </p:blipFill>
        <p:spPr>
          <a:xfrm>
            <a:off x="1332202" y="2228129"/>
            <a:ext cx="6024562" cy="2506662"/>
          </a:xfrm>
          <a:prstGeom prst="rect">
            <a:avLst/>
          </a:prstGeom>
          <a:noFill/>
          <a:ln>
            <a:noFill/>
          </a:ln>
        </p:spPr>
      </p:pic>
    </p:spTree>
    <p:extLst>
      <p:ext uri="{BB962C8B-B14F-4D97-AF65-F5344CB8AC3E}">
        <p14:creationId xmlns:p14="http://schemas.microsoft.com/office/powerpoint/2010/main" val="11808286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Invertability</a:t>
            </a:r>
            <a:r>
              <a:rPr lang="en-IN" dirty="0" smtClean="0"/>
              <a:t> of S-Box</a:t>
            </a:r>
            <a:endParaRPr lang="en-IN" dirty="0"/>
          </a:p>
        </p:txBody>
      </p:sp>
      <p:sp>
        <p:nvSpPr>
          <p:cNvPr id="3" name="Text Placeholder 2"/>
          <p:cNvSpPr>
            <a:spLocks noGrp="1"/>
          </p:cNvSpPr>
          <p:nvPr>
            <p:ph type="body" idx="1"/>
          </p:nvPr>
        </p:nvSpPr>
        <p:spPr/>
        <p:txBody>
          <a:bodyPr/>
          <a:lstStyle/>
          <a:p>
            <a:r>
              <a:rPr lang="en-US" dirty="0"/>
              <a:t>An S-box may or may not be invertible. </a:t>
            </a:r>
            <a:endParaRPr lang="en-US" dirty="0" smtClean="0"/>
          </a:p>
          <a:p>
            <a:r>
              <a:rPr lang="en-US" dirty="0" smtClean="0"/>
              <a:t>In </a:t>
            </a:r>
            <a:r>
              <a:rPr lang="en-US" dirty="0"/>
              <a:t>an invertible </a:t>
            </a:r>
            <a:r>
              <a:rPr lang="en-US" dirty="0" smtClean="0"/>
              <a:t>S-box</a:t>
            </a:r>
            <a:r>
              <a:rPr lang="en-US" dirty="0"/>
              <a:t>, the number of input bits should be the same as the number of output </a:t>
            </a:r>
            <a:r>
              <a:rPr lang="en-US" dirty="0" smtClean="0"/>
              <a:t>bits</a:t>
            </a:r>
          </a:p>
          <a:p>
            <a:r>
              <a:rPr lang="en-IN" dirty="0" smtClean="0"/>
              <a:t>Example : invertible S box</a:t>
            </a:r>
            <a:endParaRPr lang="en-IN" dirty="0"/>
          </a:p>
        </p:txBody>
      </p:sp>
      <p:pic>
        <p:nvPicPr>
          <p:cNvPr id="4" name="Google Shape;1013;p37"/>
          <p:cNvPicPr preferRelativeResize="0"/>
          <p:nvPr/>
        </p:nvPicPr>
        <p:blipFill rotWithShape="1">
          <a:blip r:embed="rId3">
            <a:alphaModFix/>
          </a:blip>
          <a:srcRect/>
          <a:stretch/>
        </p:blipFill>
        <p:spPr>
          <a:xfrm>
            <a:off x="798080" y="3672032"/>
            <a:ext cx="6873875" cy="2711450"/>
          </a:xfrm>
          <a:prstGeom prst="rect">
            <a:avLst/>
          </a:prstGeom>
          <a:noFill/>
          <a:ln>
            <a:noFill/>
          </a:ln>
        </p:spPr>
      </p:pic>
    </p:spTree>
    <p:extLst>
      <p:ext uri="{BB962C8B-B14F-4D97-AF65-F5344CB8AC3E}">
        <p14:creationId xmlns:p14="http://schemas.microsoft.com/office/powerpoint/2010/main" val="15396848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P-Box</a:t>
            </a:r>
            <a:endParaRPr lang="en-IN" dirty="0"/>
          </a:p>
        </p:txBody>
      </p:sp>
      <p:sp>
        <p:nvSpPr>
          <p:cNvPr id="3" name="Text Placeholder 2"/>
          <p:cNvSpPr>
            <a:spLocks noGrp="1"/>
          </p:cNvSpPr>
          <p:nvPr>
            <p:ph type="body" idx="1"/>
          </p:nvPr>
        </p:nvSpPr>
        <p:spPr>
          <a:xfrm>
            <a:off x="689613" y="1054465"/>
            <a:ext cx="8229600" cy="4993044"/>
          </a:xfrm>
        </p:spPr>
        <p:txBody>
          <a:bodyPr/>
          <a:lstStyle/>
          <a:p>
            <a:r>
              <a:rPr lang="en-US" dirty="0"/>
              <a:t>Permutation Box parallels the traditional transposition cipher for characters </a:t>
            </a:r>
          </a:p>
          <a:p>
            <a:r>
              <a:rPr lang="en-US" dirty="0" smtClean="0"/>
              <a:t>It </a:t>
            </a:r>
            <a:r>
              <a:rPr lang="en-US" dirty="0"/>
              <a:t>transposes </a:t>
            </a:r>
            <a:r>
              <a:rPr lang="en-US" dirty="0" smtClean="0"/>
              <a:t>bits</a:t>
            </a:r>
          </a:p>
          <a:p>
            <a:r>
              <a:rPr lang="en-US" dirty="0" smtClean="0"/>
              <a:t>Types</a:t>
            </a:r>
          </a:p>
          <a:p>
            <a:pPr lvl="2"/>
            <a:r>
              <a:rPr lang="en-US" sz="2400" dirty="0" smtClean="0"/>
              <a:t>Straight P box</a:t>
            </a:r>
          </a:p>
          <a:p>
            <a:pPr lvl="2"/>
            <a:r>
              <a:rPr lang="en-US" sz="2400" dirty="0" smtClean="0"/>
              <a:t>Compression P box</a:t>
            </a:r>
          </a:p>
          <a:p>
            <a:pPr lvl="2"/>
            <a:r>
              <a:rPr lang="en-US" sz="2400" dirty="0" smtClean="0"/>
              <a:t>Expansion P box</a:t>
            </a:r>
            <a:endParaRPr lang="en-US" sz="2400" dirty="0"/>
          </a:p>
          <a:p>
            <a:endParaRPr lang="en-IN" dirty="0"/>
          </a:p>
        </p:txBody>
      </p:sp>
    </p:spTree>
    <p:extLst>
      <p:ext uri="{BB962C8B-B14F-4D97-AF65-F5344CB8AC3E}">
        <p14:creationId xmlns:p14="http://schemas.microsoft.com/office/powerpoint/2010/main" val="4038583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P Boxes</a:t>
            </a:r>
            <a:endParaRPr lang="en-IN" dirty="0"/>
          </a:p>
        </p:txBody>
      </p:sp>
      <p:sp>
        <p:nvSpPr>
          <p:cNvPr id="3" name="Text Placeholder 2"/>
          <p:cNvSpPr>
            <a:spLocks noGrp="1"/>
          </p:cNvSpPr>
          <p:nvPr>
            <p:ph type="body" idx="1"/>
          </p:nvPr>
        </p:nvSpPr>
        <p:spPr/>
        <p:txBody>
          <a:bodyPr/>
          <a:lstStyle/>
          <a:p>
            <a:endParaRPr lang="en-IN"/>
          </a:p>
        </p:txBody>
      </p:sp>
      <p:pic>
        <p:nvPicPr>
          <p:cNvPr id="4" name="Google Shape;463;p6"/>
          <p:cNvPicPr preferRelativeResize="0"/>
          <p:nvPr/>
        </p:nvPicPr>
        <p:blipFill rotWithShape="1">
          <a:blip r:embed="rId2">
            <a:alphaModFix/>
          </a:blip>
          <a:srcRect/>
          <a:stretch/>
        </p:blipFill>
        <p:spPr>
          <a:xfrm>
            <a:off x="414338" y="1170708"/>
            <a:ext cx="8729662" cy="4668983"/>
          </a:xfrm>
          <a:prstGeom prst="rect">
            <a:avLst/>
          </a:prstGeom>
          <a:noFill/>
          <a:ln>
            <a:noFill/>
          </a:ln>
        </p:spPr>
      </p:pic>
    </p:spTree>
    <p:extLst>
      <p:ext uri="{BB962C8B-B14F-4D97-AF65-F5344CB8AC3E}">
        <p14:creationId xmlns:p14="http://schemas.microsoft.com/office/powerpoint/2010/main" val="35466961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Straight P box</a:t>
            </a:r>
            <a:endParaRPr lang="en-IN" dirty="0"/>
          </a:p>
        </p:txBody>
      </p:sp>
      <p:sp>
        <p:nvSpPr>
          <p:cNvPr id="3" name="Text Placeholder 2"/>
          <p:cNvSpPr>
            <a:spLocks noGrp="1"/>
          </p:cNvSpPr>
          <p:nvPr>
            <p:ph type="body" idx="1"/>
          </p:nvPr>
        </p:nvSpPr>
        <p:spPr/>
        <p:txBody>
          <a:bodyPr>
            <a:normAutofit/>
          </a:bodyPr>
          <a:lstStyle/>
          <a:p>
            <a:r>
              <a:rPr lang="en-US" dirty="0"/>
              <a:t>A straight P-box is a P-box with n inputs and n outputs</a:t>
            </a:r>
          </a:p>
          <a:p>
            <a:r>
              <a:rPr lang="en-US" dirty="0" smtClean="0"/>
              <a:t>n</a:t>
            </a:r>
            <a:r>
              <a:rPr lang="en-US" dirty="0"/>
              <a:t>! possible mappings</a:t>
            </a:r>
          </a:p>
          <a:p>
            <a:r>
              <a:rPr lang="en-US" dirty="0" smtClean="0"/>
              <a:t>P </a:t>
            </a:r>
            <a:r>
              <a:rPr lang="en-US" dirty="0"/>
              <a:t>Box is normally Keyless</a:t>
            </a:r>
          </a:p>
          <a:p>
            <a:r>
              <a:rPr lang="en-US" dirty="0" smtClean="0"/>
              <a:t>Mapping </a:t>
            </a:r>
            <a:r>
              <a:rPr lang="en-US" dirty="0"/>
              <a:t>is predetermined</a:t>
            </a:r>
          </a:p>
          <a:p>
            <a:r>
              <a:rPr lang="en-US" dirty="0" smtClean="0"/>
              <a:t>If </a:t>
            </a:r>
            <a:r>
              <a:rPr lang="en-US" dirty="0"/>
              <a:t>implemented in Hardware, then Prewired</a:t>
            </a:r>
          </a:p>
          <a:p>
            <a:r>
              <a:rPr lang="en-US" dirty="0"/>
              <a:t>IF implemented in software, Permutation table shows rule of mapping</a:t>
            </a:r>
          </a:p>
          <a:p>
            <a:endParaRPr lang="en-IN" dirty="0"/>
          </a:p>
        </p:txBody>
      </p:sp>
    </p:spTree>
    <p:extLst>
      <p:ext uri="{BB962C8B-B14F-4D97-AF65-F5344CB8AC3E}">
        <p14:creationId xmlns:p14="http://schemas.microsoft.com/office/powerpoint/2010/main" val="33924213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9"/>
          <p:cNvSpPr txBox="1">
            <a:spLocks noGrp="1"/>
          </p:cNvSpPr>
          <p:nvPr>
            <p:ph type="sldNum" idx="12"/>
          </p:nvPr>
        </p:nvSpPr>
        <p:spPr>
          <a:xfrm>
            <a:off x="76200" y="6400800"/>
            <a:ext cx="19050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i="0" u="none" strike="noStrike" cap="none">
                <a:solidFill>
                  <a:srgbClr val="1C1C1C"/>
                </a:solidFill>
                <a:latin typeface="Arial"/>
                <a:ea typeface="Arial"/>
                <a:cs typeface="Arial"/>
                <a:sym typeface="Arial"/>
              </a:rPr>
              <a:t>5.</a:t>
            </a:r>
            <a:fld id="{00000000-1234-1234-1234-123412341234}" type="slidenum">
              <a:rPr lang="en-US" sz="1200" b="1" i="0" u="none" strike="noStrike" cap="none">
                <a:solidFill>
                  <a:srgbClr val="1C1C1C"/>
                </a:solidFill>
                <a:latin typeface="Arial"/>
                <a:ea typeface="Arial"/>
                <a:cs typeface="Arial"/>
                <a:sym typeface="Arial"/>
              </a:rPr>
              <a:t>24</a:t>
            </a:fld>
            <a:endParaRPr sz="1200" b="1" i="0" u="none" strike="noStrike" cap="none">
              <a:solidFill>
                <a:srgbClr val="1C1C1C"/>
              </a:solidFill>
              <a:latin typeface="Arial"/>
              <a:ea typeface="Arial"/>
              <a:cs typeface="Arial"/>
              <a:sym typeface="Arial"/>
            </a:endParaRPr>
          </a:p>
        </p:txBody>
      </p:sp>
      <p:sp>
        <p:nvSpPr>
          <p:cNvPr id="508" name="Google Shape;508;p9"/>
          <p:cNvSpPr/>
          <p:nvPr/>
        </p:nvSpPr>
        <p:spPr>
          <a:xfrm>
            <a:off x="366713" y="107950"/>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09" name="Google Shape;509;p9"/>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10" name="Google Shape;510;p9"/>
          <p:cNvSpPr/>
          <p:nvPr/>
        </p:nvSpPr>
        <p:spPr>
          <a:xfrm>
            <a:off x="490538" y="530225"/>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11" name="Google Shape;511;p9"/>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12" name="Google Shape;512;p9"/>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13" name="Google Shape;513;p9"/>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14" name="Google Shape;514;p9"/>
          <p:cNvSpPr/>
          <p:nvPr/>
        </p:nvSpPr>
        <p:spPr>
          <a:xfrm>
            <a:off x="442913"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pic>
        <p:nvPicPr>
          <p:cNvPr id="516" name="Google Shape;516;p9"/>
          <p:cNvPicPr preferRelativeResize="0"/>
          <p:nvPr/>
        </p:nvPicPr>
        <p:blipFill rotWithShape="1">
          <a:blip r:embed="rId3">
            <a:alphaModFix/>
          </a:blip>
          <a:srcRect/>
          <a:stretch/>
        </p:blipFill>
        <p:spPr>
          <a:xfrm>
            <a:off x="214312" y="4343400"/>
            <a:ext cx="8683625" cy="1982787"/>
          </a:xfrm>
          <a:prstGeom prst="rect">
            <a:avLst/>
          </a:prstGeom>
          <a:noFill/>
          <a:ln>
            <a:noFill/>
          </a:ln>
        </p:spPr>
      </p:pic>
      <p:sp>
        <p:nvSpPr>
          <p:cNvPr id="517" name="Google Shape;517;p9"/>
          <p:cNvSpPr txBox="1"/>
          <p:nvPr/>
        </p:nvSpPr>
        <p:spPr>
          <a:xfrm>
            <a:off x="1116013" y="533400"/>
            <a:ext cx="2376487"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CC"/>
                </a:solidFill>
                <a:latin typeface="Times New Roman"/>
                <a:ea typeface="Times New Roman"/>
                <a:cs typeface="Times New Roman"/>
                <a:sym typeface="Times New Roman"/>
              </a:rPr>
              <a:t>Straight P-Boxes</a:t>
            </a:r>
            <a:endParaRPr sz="2000" b="1" i="1" u="none" strike="noStrike" cap="none">
              <a:solidFill>
                <a:srgbClr val="000000"/>
              </a:solidFill>
              <a:latin typeface="Times New Roman"/>
              <a:ea typeface="Times New Roman"/>
              <a:cs typeface="Times New Roman"/>
              <a:sym typeface="Times New Roman"/>
            </a:endParaRPr>
          </a:p>
        </p:txBody>
      </p:sp>
      <p:sp>
        <p:nvSpPr>
          <p:cNvPr id="518" name="Google Shape;518;p9"/>
          <p:cNvSpPr/>
          <p:nvPr/>
        </p:nvSpPr>
        <p:spPr>
          <a:xfrm>
            <a:off x="913606" y="1447800"/>
            <a:ext cx="7755732" cy="2308324"/>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64 Inputs</a:t>
            </a:r>
            <a:endParaRPr dirty="0"/>
          </a:p>
          <a:p>
            <a:pPr marL="0" marR="0" lvl="0" indent="0" algn="just" rtl="0">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64 Outputs</a:t>
            </a:r>
            <a:endParaRPr dirty="0"/>
          </a:p>
          <a:p>
            <a:pPr marL="0" marR="0" lvl="0" indent="0" algn="just" rtl="0">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The index of the entry corresponds with the output</a:t>
            </a:r>
            <a:endParaRPr dirty="0"/>
          </a:p>
          <a:p>
            <a:pPr marL="0" marR="0" lvl="0" indent="0" algn="just" rtl="0">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First entry is 58=&gt;First Output comes from 58</a:t>
            </a:r>
            <a:r>
              <a:rPr lang="en-US" sz="2400" b="1" i="0" u="none" strike="noStrike" cap="none" baseline="30000" dirty="0">
                <a:solidFill>
                  <a:srgbClr val="000000"/>
                </a:solidFill>
                <a:latin typeface="Times New Roman"/>
                <a:ea typeface="Times New Roman"/>
                <a:cs typeface="Times New Roman"/>
                <a:sym typeface="Times New Roman"/>
              </a:rPr>
              <a:t>th</a:t>
            </a:r>
            <a:r>
              <a:rPr lang="en-US" sz="2400" b="1" i="0" u="none" strike="noStrike" cap="none" dirty="0">
                <a:solidFill>
                  <a:srgbClr val="000000"/>
                </a:solidFill>
                <a:latin typeface="Times New Roman"/>
                <a:ea typeface="Times New Roman"/>
                <a:cs typeface="Times New Roman"/>
                <a:sym typeface="Times New Roman"/>
              </a:rPr>
              <a:t> Input</a:t>
            </a:r>
            <a:endParaRPr dirty="0"/>
          </a:p>
          <a:p>
            <a:pPr marL="0" marR="0" lvl="0" indent="0" algn="just" rtl="0">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Last Entry is 07=&gt;64</a:t>
            </a:r>
            <a:r>
              <a:rPr lang="en-US" sz="2400" b="1" i="0" u="none" strike="noStrike" cap="none" baseline="30000" dirty="0">
                <a:solidFill>
                  <a:srgbClr val="000000"/>
                </a:solidFill>
                <a:latin typeface="Times New Roman"/>
                <a:ea typeface="Times New Roman"/>
                <a:cs typeface="Times New Roman"/>
                <a:sym typeface="Times New Roman"/>
              </a:rPr>
              <a:t>th</a:t>
            </a:r>
            <a:r>
              <a:rPr lang="en-US" sz="2400" b="1" i="0" u="none" strike="noStrike" cap="none" dirty="0">
                <a:solidFill>
                  <a:srgbClr val="000000"/>
                </a:solidFill>
                <a:latin typeface="Times New Roman"/>
                <a:ea typeface="Times New Roman"/>
                <a:cs typeface="Times New Roman"/>
                <a:sym typeface="Times New Roman"/>
              </a:rPr>
              <a:t> Output comes from 7</a:t>
            </a:r>
            <a:r>
              <a:rPr lang="en-US" sz="2400" b="1" i="0" u="none" strike="noStrike" cap="none" baseline="30000" dirty="0">
                <a:solidFill>
                  <a:srgbClr val="000000"/>
                </a:solidFill>
                <a:latin typeface="Times New Roman"/>
                <a:ea typeface="Times New Roman"/>
                <a:cs typeface="Times New Roman"/>
                <a:sym typeface="Times New Roman"/>
              </a:rPr>
              <a:t>th</a:t>
            </a:r>
            <a:r>
              <a:rPr lang="en-US" sz="2400" b="1" i="0" u="none" strike="noStrike" cap="none" dirty="0">
                <a:solidFill>
                  <a:srgbClr val="000000"/>
                </a:solidFill>
                <a:latin typeface="Times New Roman"/>
                <a:ea typeface="Times New Roman"/>
                <a:cs typeface="Times New Roman"/>
                <a:sym typeface="Times New Roman"/>
              </a:rPr>
              <a:t> Input</a:t>
            </a:r>
            <a:endParaRPr dirty="0"/>
          </a:p>
          <a:p>
            <a:pPr marL="0" marR="0" lvl="0" indent="0" algn="just" rtl="0">
              <a:spcBef>
                <a:spcPts val="0"/>
              </a:spcBef>
              <a:spcAft>
                <a:spcPts val="0"/>
              </a:spcAft>
              <a:buNone/>
            </a:pPr>
            <a:endParaRPr sz="2400" b="1"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83650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382" y="214817"/>
            <a:ext cx="8676409" cy="874951"/>
          </a:xfrm>
        </p:spPr>
        <p:txBody>
          <a:bodyPr/>
          <a:lstStyle/>
          <a:p>
            <a:r>
              <a:rPr lang="en-IN" dirty="0"/>
              <a:t>All possibilities of a 3 × </a:t>
            </a:r>
            <a:r>
              <a:rPr lang="en-IN" dirty="0" smtClean="0"/>
              <a:t>3 straight </a:t>
            </a:r>
            <a:r>
              <a:rPr lang="en-IN" dirty="0"/>
              <a:t>P-box.</a:t>
            </a:r>
            <a:br>
              <a:rPr lang="en-IN" dirty="0"/>
            </a:br>
            <a:endParaRPr lang="en-IN" dirty="0"/>
          </a:p>
        </p:txBody>
      </p:sp>
      <p:sp>
        <p:nvSpPr>
          <p:cNvPr id="3" name="Text Placeholder 2"/>
          <p:cNvSpPr>
            <a:spLocks noGrp="1"/>
          </p:cNvSpPr>
          <p:nvPr>
            <p:ph type="body" idx="1"/>
          </p:nvPr>
        </p:nvSpPr>
        <p:spPr/>
        <p:txBody>
          <a:bodyPr/>
          <a:lstStyle/>
          <a:p>
            <a:endParaRPr lang="en-IN"/>
          </a:p>
        </p:txBody>
      </p:sp>
      <p:pic>
        <p:nvPicPr>
          <p:cNvPr id="4" name="Google Shape;533;p10"/>
          <p:cNvPicPr preferRelativeResize="0"/>
          <p:nvPr/>
        </p:nvPicPr>
        <p:blipFill rotWithShape="1">
          <a:blip r:embed="rId2">
            <a:alphaModFix/>
          </a:blip>
          <a:srcRect/>
          <a:stretch/>
        </p:blipFill>
        <p:spPr>
          <a:xfrm>
            <a:off x="876300" y="3509963"/>
            <a:ext cx="7277100" cy="1076325"/>
          </a:xfrm>
          <a:prstGeom prst="rect">
            <a:avLst/>
          </a:prstGeom>
          <a:noFill/>
          <a:ln>
            <a:noFill/>
          </a:ln>
        </p:spPr>
      </p:pic>
    </p:spTree>
    <p:extLst>
      <p:ext uri="{BB962C8B-B14F-4D97-AF65-F5344CB8AC3E}">
        <p14:creationId xmlns:p14="http://schemas.microsoft.com/office/powerpoint/2010/main" val="22046918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12"/>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i="0" u="none" strike="noStrike" cap="none">
                <a:solidFill>
                  <a:srgbClr val="1C1C1C"/>
                </a:solidFill>
                <a:latin typeface="Arial"/>
                <a:ea typeface="Arial"/>
                <a:cs typeface="Arial"/>
                <a:sym typeface="Arial"/>
              </a:rPr>
              <a:t>5.</a:t>
            </a:r>
            <a:fld id="{00000000-1234-1234-1234-123412341234}" type="slidenum">
              <a:rPr lang="en-US" sz="1200" b="1" i="0" u="none" strike="noStrike" cap="none">
                <a:solidFill>
                  <a:srgbClr val="1C1C1C"/>
                </a:solidFill>
                <a:latin typeface="Arial"/>
                <a:ea typeface="Arial"/>
                <a:cs typeface="Arial"/>
                <a:sym typeface="Arial"/>
              </a:rPr>
              <a:t>26</a:t>
            </a:fld>
            <a:endParaRPr sz="1200" b="1" i="0" u="none" strike="noStrike" cap="none">
              <a:solidFill>
                <a:srgbClr val="1C1C1C"/>
              </a:solidFill>
              <a:latin typeface="Arial"/>
              <a:ea typeface="Arial"/>
              <a:cs typeface="Arial"/>
              <a:sym typeface="Arial"/>
            </a:endParaRPr>
          </a:p>
        </p:txBody>
      </p:sp>
      <p:sp>
        <p:nvSpPr>
          <p:cNvPr id="2" name="Title 1"/>
          <p:cNvSpPr>
            <a:spLocks noGrp="1"/>
          </p:cNvSpPr>
          <p:nvPr>
            <p:ph type="title"/>
          </p:nvPr>
        </p:nvSpPr>
        <p:spPr/>
        <p:txBody>
          <a:bodyPr/>
          <a:lstStyle/>
          <a:p>
            <a:r>
              <a:rPr lang="en-IN" dirty="0" smtClean="0"/>
              <a:t>Example</a:t>
            </a:r>
            <a:endParaRPr lang="en-IN" dirty="0"/>
          </a:p>
        </p:txBody>
      </p:sp>
      <p:sp>
        <p:nvSpPr>
          <p:cNvPr id="563" name="Google Shape;563;p12"/>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000000"/>
              </a:solidFill>
              <a:latin typeface="Tahoma"/>
              <a:ea typeface="Tahoma"/>
              <a:cs typeface="Tahoma"/>
              <a:sym typeface="Tahoma"/>
            </a:endParaRPr>
          </a:p>
        </p:txBody>
      </p:sp>
      <p:sp>
        <p:nvSpPr>
          <p:cNvPr id="566" name="Google Shape;566;p12"/>
          <p:cNvSpPr/>
          <p:nvPr/>
        </p:nvSpPr>
        <p:spPr>
          <a:xfrm>
            <a:off x="711200" y="1504950"/>
            <a:ext cx="8229600" cy="1552575"/>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Design an 8 × 8 permutation table for a straight P-box that moves the two middle bits (bits 4 and 5) in the input word to the two ends (bits 1 and 8) in the output words. Relative positions of other bits should not be changed.</a:t>
            </a:r>
            <a:endParaRPr dirty="0"/>
          </a:p>
        </p:txBody>
      </p:sp>
      <p:sp>
        <p:nvSpPr>
          <p:cNvPr id="567" name="Google Shape;567;p12"/>
          <p:cNvSpPr/>
          <p:nvPr/>
        </p:nvSpPr>
        <p:spPr>
          <a:xfrm>
            <a:off x="711200" y="3253222"/>
            <a:ext cx="8229600" cy="519112"/>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800" b="1" i="0" u="none" strike="noStrike" cap="none" dirty="0">
                <a:solidFill>
                  <a:srgbClr val="FF0000"/>
                </a:solidFill>
                <a:latin typeface="Times New Roman"/>
                <a:ea typeface="Times New Roman"/>
                <a:cs typeface="Times New Roman"/>
                <a:sym typeface="Times New Roman"/>
              </a:rPr>
              <a:t>Solution</a:t>
            </a:r>
            <a:endParaRPr dirty="0"/>
          </a:p>
        </p:txBody>
      </p:sp>
      <p:sp>
        <p:nvSpPr>
          <p:cNvPr id="568" name="Google Shape;568;p12"/>
          <p:cNvSpPr/>
          <p:nvPr/>
        </p:nvSpPr>
        <p:spPr>
          <a:xfrm>
            <a:off x="742950" y="3782291"/>
            <a:ext cx="8229600" cy="1552575"/>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We need a straight P-box with the table [4  1  2  3  6  7  8  5]. The relative positions of input bits 1, 2, 3, 6, 7, and 8 have not been changed, but the first output takes the fourth input and the eighth output takes the fifth input.</a:t>
            </a:r>
            <a:endParaRPr dirty="0"/>
          </a:p>
        </p:txBody>
      </p:sp>
    </p:spTree>
    <p:extLst>
      <p:ext uri="{BB962C8B-B14F-4D97-AF65-F5344CB8AC3E}">
        <p14:creationId xmlns:p14="http://schemas.microsoft.com/office/powerpoint/2010/main" val="120766602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Compression P Box</a:t>
            </a:r>
            <a:endParaRPr lang="en-IN" dirty="0"/>
          </a:p>
        </p:txBody>
      </p:sp>
      <p:sp>
        <p:nvSpPr>
          <p:cNvPr id="3" name="Text Placeholder 2"/>
          <p:cNvSpPr>
            <a:spLocks noGrp="1"/>
          </p:cNvSpPr>
          <p:nvPr>
            <p:ph type="body" idx="1"/>
          </p:nvPr>
        </p:nvSpPr>
        <p:spPr>
          <a:xfrm>
            <a:off x="700004" y="1324629"/>
            <a:ext cx="8229600" cy="4826789"/>
          </a:xfrm>
        </p:spPr>
        <p:txBody>
          <a:bodyPr>
            <a:normAutofit fontScale="92500"/>
          </a:bodyPr>
          <a:lstStyle/>
          <a:p>
            <a:pPr indent="-457200" algn="just">
              <a:spcBef>
                <a:spcPts val="0"/>
              </a:spcBef>
            </a:pPr>
            <a:r>
              <a:rPr lang="en-US" i="1" dirty="0">
                <a:solidFill>
                  <a:srgbClr val="000000"/>
                </a:solidFill>
                <a:latin typeface="Fira Sans" panose="020B0604020202020204" charset="0"/>
                <a:ea typeface="Times New Roman"/>
                <a:cs typeface="Times New Roman"/>
                <a:sym typeface="Times New Roman"/>
              </a:rPr>
              <a:t>A compression P-box is a P-box with n inputs and m outputs where m &lt; n. </a:t>
            </a:r>
            <a:endParaRPr lang="en-US" dirty="0" smtClean="0">
              <a:latin typeface="Fira Sans" panose="020B0604020202020204" charset="0"/>
              <a:ea typeface="Times New Roman"/>
              <a:cs typeface="Times New Roman"/>
            </a:endParaRPr>
          </a:p>
          <a:p>
            <a:pPr indent="-457200" algn="just">
              <a:spcBef>
                <a:spcPts val="0"/>
              </a:spcBef>
            </a:pPr>
            <a:r>
              <a:rPr lang="en-US" i="1" dirty="0" smtClean="0">
                <a:solidFill>
                  <a:srgbClr val="000000"/>
                </a:solidFill>
                <a:latin typeface="Fira Sans" panose="020B0604020202020204" charset="0"/>
                <a:ea typeface="Times New Roman"/>
                <a:cs typeface="Times New Roman"/>
                <a:sym typeface="Times New Roman"/>
              </a:rPr>
              <a:t>Some </a:t>
            </a:r>
            <a:r>
              <a:rPr lang="en-US" i="1" dirty="0">
                <a:solidFill>
                  <a:srgbClr val="000000"/>
                </a:solidFill>
                <a:latin typeface="Fira Sans" panose="020B0604020202020204" charset="0"/>
                <a:ea typeface="Times New Roman"/>
                <a:cs typeface="Times New Roman"/>
                <a:sym typeface="Times New Roman"/>
              </a:rPr>
              <a:t>of the inputs are blocked and do not reach the output</a:t>
            </a:r>
            <a:r>
              <a:rPr lang="en-US" i="1" dirty="0" smtClean="0">
                <a:solidFill>
                  <a:srgbClr val="000000"/>
                </a:solidFill>
                <a:latin typeface="Fira Sans" panose="020B0604020202020204" charset="0"/>
                <a:ea typeface="Times New Roman"/>
                <a:cs typeface="Times New Roman"/>
                <a:sym typeface="Times New Roman"/>
              </a:rPr>
              <a:t>.</a:t>
            </a:r>
          </a:p>
          <a:p>
            <a:pPr indent="-457200" algn="just">
              <a:spcBef>
                <a:spcPts val="0"/>
              </a:spcBef>
            </a:pPr>
            <a:endParaRPr lang="en-US" i="1" dirty="0">
              <a:solidFill>
                <a:srgbClr val="000000"/>
              </a:solidFill>
              <a:latin typeface="Fira Sans" panose="020B0604020202020204" charset="0"/>
              <a:cs typeface="Times New Roman"/>
              <a:sym typeface="Times New Roman"/>
            </a:endParaRPr>
          </a:p>
          <a:p>
            <a:pPr indent="-457200" algn="just">
              <a:spcBef>
                <a:spcPts val="0"/>
              </a:spcBef>
            </a:pPr>
            <a:endParaRPr lang="en-US" i="1" dirty="0" smtClean="0">
              <a:solidFill>
                <a:srgbClr val="000000"/>
              </a:solidFill>
              <a:latin typeface="Fira Sans" panose="020B0604020202020204" charset="0"/>
              <a:cs typeface="Times New Roman"/>
              <a:sym typeface="Times New Roman"/>
            </a:endParaRPr>
          </a:p>
          <a:p>
            <a:pPr indent="-457200" algn="just">
              <a:spcBef>
                <a:spcPts val="0"/>
              </a:spcBef>
            </a:pPr>
            <a:endParaRPr lang="en-US" i="1" dirty="0">
              <a:solidFill>
                <a:srgbClr val="000000"/>
              </a:solidFill>
              <a:latin typeface="Fira Sans" panose="020B0604020202020204" charset="0"/>
              <a:cs typeface="Times New Roman"/>
              <a:sym typeface="Times New Roman"/>
            </a:endParaRPr>
          </a:p>
          <a:p>
            <a:pPr indent="-457200" algn="just">
              <a:spcBef>
                <a:spcPts val="0"/>
              </a:spcBef>
            </a:pPr>
            <a:endParaRPr lang="en-US" i="1" dirty="0" smtClean="0">
              <a:solidFill>
                <a:srgbClr val="000000"/>
              </a:solidFill>
              <a:latin typeface="Fira Sans" panose="020B0604020202020204" charset="0"/>
              <a:cs typeface="Times New Roman"/>
              <a:sym typeface="Times New Roman"/>
            </a:endParaRPr>
          </a:p>
          <a:p>
            <a:pPr indent="-457200" algn="just">
              <a:spcBef>
                <a:spcPts val="0"/>
              </a:spcBef>
            </a:pPr>
            <a:endParaRPr lang="en-US" i="1" dirty="0">
              <a:solidFill>
                <a:srgbClr val="000000"/>
              </a:solidFill>
              <a:latin typeface="Fira Sans" panose="020B0604020202020204" charset="0"/>
              <a:cs typeface="Times New Roman"/>
              <a:sym typeface="Times New Roman"/>
            </a:endParaRPr>
          </a:p>
          <a:p>
            <a:pPr indent="-457200" algn="just">
              <a:spcBef>
                <a:spcPts val="0"/>
              </a:spcBef>
            </a:pPr>
            <a:r>
              <a:rPr lang="en-US" i="1" dirty="0">
                <a:solidFill>
                  <a:srgbClr val="000000"/>
                </a:solidFill>
                <a:latin typeface="Fira Sans" panose="020B0604020202020204" charset="0"/>
                <a:ea typeface="Times New Roman"/>
                <a:cs typeface="Times New Roman"/>
                <a:sym typeface="Times New Roman"/>
              </a:rPr>
              <a:t>Inputs 7,8,9,15,16,23,24 and 25 are blocked</a:t>
            </a:r>
            <a:endParaRPr lang="en-US" dirty="0">
              <a:latin typeface="Fira Sans" panose="020B0604020202020204" charset="0"/>
            </a:endParaRPr>
          </a:p>
          <a:p>
            <a:pPr marL="0" lvl="0" indent="0" algn="just">
              <a:spcBef>
                <a:spcPts val="0"/>
              </a:spcBef>
              <a:buNone/>
            </a:pPr>
            <a:endParaRPr lang="en-US" i="1" dirty="0">
              <a:solidFill>
                <a:srgbClr val="000000"/>
              </a:solidFill>
              <a:latin typeface="Fira Sans" panose="020B0604020202020204" charset="0"/>
              <a:ea typeface="Times New Roman"/>
              <a:cs typeface="Times New Roman"/>
              <a:sym typeface="Times New Roman"/>
            </a:endParaRPr>
          </a:p>
          <a:p>
            <a:pPr indent="-457200" algn="just">
              <a:spcBef>
                <a:spcPts val="0"/>
              </a:spcBef>
            </a:pPr>
            <a:r>
              <a:rPr lang="en-US" i="1" dirty="0">
                <a:solidFill>
                  <a:srgbClr val="000000"/>
                </a:solidFill>
                <a:latin typeface="Fira Sans" panose="020B0604020202020204" charset="0"/>
                <a:ea typeface="Times New Roman"/>
                <a:cs typeface="Times New Roman"/>
                <a:sym typeface="Times New Roman"/>
              </a:rPr>
              <a:t>Used when we need to permute bits and the same time decrease the number of bits for next </a:t>
            </a:r>
            <a:r>
              <a:rPr lang="en-US" i="1" dirty="0" smtClean="0">
                <a:solidFill>
                  <a:srgbClr val="000000"/>
                </a:solidFill>
                <a:latin typeface="Fira Sans" panose="020B0604020202020204" charset="0"/>
                <a:ea typeface="Times New Roman"/>
                <a:cs typeface="Times New Roman"/>
                <a:sym typeface="Times New Roman"/>
              </a:rPr>
              <a:t>stage</a:t>
            </a:r>
            <a:endParaRPr lang="en-US" i="1" dirty="0">
              <a:solidFill>
                <a:srgbClr val="000000"/>
              </a:solidFill>
              <a:latin typeface="Fira Sans" panose="020B0604020202020204" charset="0"/>
              <a:ea typeface="Times New Roman"/>
              <a:cs typeface="Times New Roman"/>
              <a:sym typeface="Times New Roman"/>
            </a:endParaRPr>
          </a:p>
        </p:txBody>
      </p:sp>
      <p:pic>
        <p:nvPicPr>
          <p:cNvPr id="4" name="Google Shape;585;p13"/>
          <p:cNvPicPr preferRelativeResize="0"/>
          <p:nvPr/>
        </p:nvPicPr>
        <p:blipFill rotWithShape="1">
          <a:blip r:embed="rId2">
            <a:alphaModFix/>
          </a:blip>
          <a:srcRect/>
          <a:stretch/>
        </p:blipFill>
        <p:spPr>
          <a:xfrm>
            <a:off x="570753" y="3001571"/>
            <a:ext cx="8410575" cy="1323975"/>
          </a:xfrm>
          <a:prstGeom prst="rect">
            <a:avLst/>
          </a:prstGeom>
          <a:noFill/>
          <a:ln>
            <a:noFill/>
          </a:ln>
        </p:spPr>
      </p:pic>
      <p:sp>
        <p:nvSpPr>
          <p:cNvPr id="5" name="Google Shape;601;p14"/>
          <p:cNvSpPr txBox="1"/>
          <p:nvPr/>
        </p:nvSpPr>
        <p:spPr>
          <a:xfrm>
            <a:off x="2910658" y="2637890"/>
            <a:ext cx="5767387"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dirty="0" smtClean="0">
                <a:solidFill>
                  <a:srgbClr val="3333CC"/>
                </a:solidFill>
                <a:latin typeface="Times New Roman"/>
                <a:ea typeface="Times New Roman"/>
                <a:cs typeface="Times New Roman"/>
                <a:sym typeface="Times New Roman"/>
              </a:rPr>
              <a:t>  </a:t>
            </a:r>
            <a:r>
              <a:rPr lang="en-US" sz="2000" b="1" i="1" u="none" strike="noStrike" cap="none" dirty="0">
                <a:solidFill>
                  <a:srgbClr val="000000"/>
                </a:solidFill>
                <a:latin typeface="Times New Roman"/>
                <a:ea typeface="Times New Roman"/>
                <a:cs typeface="Times New Roman"/>
                <a:sym typeface="Times New Roman"/>
              </a:rPr>
              <a:t>Example of a 32 × 24 permutation table</a:t>
            </a:r>
            <a:endParaRPr dirty="0"/>
          </a:p>
        </p:txBody>
      </p:sp>
    </p:spTree>
    <p:extLst>
      <p:ext uri="{BB962C8B-B14F-4D97-AF65-F5344CB8AC3E}">
        <p14:creationId xmlns:p14="http://schemas.microsoft.com/office/powerpoint/2010/main" val="18285090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Expansion P-box</a:t>
            </a:r>
            <a:endParaRPr lang="en-IN" dirty="0"/>
          </a:p>
        </p:txBody>
      </p:sp>
      <p:sp>
        <p:nvSpPr>
          <p:cNvPr id="3" name="Text Placeholder 2"/>
          <p:cNvSpPr>
            <a:spLocks noGrp="1"/>
          </p:cNvSpPr>
          <p:nvPr>
            <p:ph type="body" idx="1"/>
          </p:nvPr>
        </p:nvSpPr>
        <p:spPr/>
        <p:txBody>
          <a:bodyPr/>
          <a:lstStyle/>
          <a:p>
            <a:r>
              <a:rPr lang="en-US" dirty="0"/>
              <a:t>An expansion P-box is a P-box with n inputs and m outputs where m &gt; n. </a:t>
            </a:r>
          </a:p>
          <a:p>
            <a:r>
              <a:rPr lang="en-US" dirty="0" smtClean="0"/>
              <a:t>Some </a:t>
            </a:r>
            <a:r>
              <a:rPr lang="en-US" dirty="0"/>
              <a:t>of the inputs are connected to more than one output</a:t>
            </a:r>
          </a:p>
          <a:p>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972" y="3195638"/>
            <a:ext cx="4181475" cy="320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97656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Invertability</a:t>
            </a:r>
            <a:r>
              <a:rPr lang="en-IN" dirty="0" smtClean="0"/>
              <a:t> of P Box</a:t>
            </a:r>
            <a:endParaRPr lang="en-IN" dirty="0"/>
          </a:p>
        </p:txBody>
      </p:sp>
      <p:sp>
        <p:nvSpPr>
          <p:cNvPr id="3" name="Text Placeholder 2"/>
          <p:cNvSpPr>
            <a:spLocks noGrp="1"/>
          </p:cNvSpPr>
          <p:nvPr>
            <p:ph type="body" idx="1"/>
          </p:nvPr>
        </p:nvSpPr>
        <p:spPr/>
        <p:txBody>
          <a:bodyPr/>
          <a:lstStyle/>
          <a:p>
            <a:r>
              <a:rPr lang="en-US" dirty="0"/>
              <a:t>A straight P-box is invertible, </a:t>
            </a:r>
            <a:endParaRPr lang="en-US" dirty="0" smtClean="0"/>
          </a:p>
          <a:p>
            <a:r>
              <a:rPr lang="en-US" dirty="0" smtClean="0"/>
              <a:t>but </a:t>
            </a:r>
            <a:r>
              <a:rPr lang="en-US" dirty="0"/>
              <a:t>compression and expansion P-boxes are not.</a:t>
            </a:r>
          </a:p>
          <a:p>
            <a:endParaRPr lang="en-IN" dirty="0"/>
          </a:p>
        </p:txBody>
      </p:sp>
      <p:sp>
        <p:nvSpPr>
          <p:cNvPr id="4" name="Google Shape;690;p19"/>
          <p:cNvSpPr/>
          <p:nvPr/>
        </p:nvSpPr>
        <p:spPr>
          <a:xfrm>
            <a:off x="533400" y="3117272"/>
            <a:ext cx="8077200" cy="2677656"/>
          </a:xfrm>
          <a:prstGeom prst="rect">
            <a:avLst/>
          </a:prstGeom>
          <a:solidFill>
            <a:srgbClr val="99FF3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dirty="0">
                <a:solidFill>
                  <a:schemeClr val="dk1"/>
                </a:solidFill>
                <a:latin typeface="Times New Roman"/>
                <a:ea typeface="Times New Roman"/>
                <a:cs typeface="Times New Roman"/>
                <a:sym typeface="Times New Roman"/>
              </a:rPr>
              <a:t>A straight P-box is invertible=&gt;We can use Straight box in the encryption cipher and its inverse in the decryption cipher</a:t>
            </a:r>
            <a:endParaRPr dirty="0"/>
          </a:p>
          <a:p>
            <a:pPr marL="0" marR="0" lvl="0" indent="0" algn="ctr" rtl="0">
              <a:spcBef>
                <a:spcPts val="0"/>
              </a:spcBef>
              <a:spcAft>
                <a:spcPts val="0"/>
              </a:spcAft>
              <a:buNone/>
            </a:pPr>
            <a:endParaRPr sz="2800" b="1"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800" b="1" i="0" u="none" strike="noStrike" cap="none" dirty="0">
                <a:solidFill>
                  <a:schemeClr val="dk1"/>
                </a:solidFill>
                <a:latin typeface="Times New Roman"/>
                <a:ea typeface="Times New Roman"/>
                <a:cs typeface="Times New Roman"/>
                <a:sym typeface="Times New Roman"/>
              </a:rPr>
              <a:t>Permutation tables need to be inverses of each other</a:t>
            </a:r>
            <a:endParaRPr sz="2800" b="1" i="0" u="none" strike="noStrike" cap="none" dirty="0">
              <a:solidFill>
                <a:schemeClr val="dk1"/>
              </a:solidFill>
              <a:latin typeface="Times New Roman"/>
              <a:ea typeface="Times New Roman"/>
              <a:cs typeface="Times New Roman"/>
              <a:sym typeface="Times New Roman"/>
            </a:endParaRPr>
          </a:p>
        </p:txBody>
      </p:sp>
      <p:cxnSp>
        <p:nvCxnSpPr>
          <p:cNvPr id="5" name="Google Shape;694;p19"/>
          <p:cNvCxnSpPr/>
          <p:nvPr/>
        </p:nvCxnSpPr>
        <p:spPr>
          <a:xfrm>
            <a:off x="533400" y="3041072"/>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6" name="Google Shape;695;p19"/>
          <p:cNvCxnSpPr/>
          <p:nvPr/>
        </p:nvCxnSpPr>
        <p:spPr>
          <a:xfrm>
            <a:off x="495300" y="5815710"/>
            <a:ext cx="8153400" cy="0"/>
          </a:xfrm>
          <a:prstGeom prst="straightConnector1">
            <a:avLst/>
          </a:prstGeom>
          <a:noFill/>
          <a:ln w="76200" cap="flat" cmpd="sng">
            <a:solidFill>
              <a:srgbClr val="009900"/>
            </a:solidFill>
            <a:prstDash val="solid"/>
            <a:round/>
            <a:headEnd type="none" w="med" len="med"/>
            <a:tailEnd type="none" w="med" len="med"/>
          </a:ln>
        </p:spPr>
      </p:cxnSp>
    </p:spTree>
    <p:extLst>
      <p:ext uri="{BB962C8B-B14F-4D97-AF65-F5344CB8AC3E}">
        <p14:creationId xmlns:p14="http://schemas.microsoft.com/office/powerpoint/2010/main" val="26784888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Invertability</a:t>
            </a:r>
            <a:r>
              <a:rPr lang="en-IN" dirty="0"/>
              <a:t> of P Box</a:t>
            </a:r>
          </a:p>
        </p:txBody>
      </p:sp>
      <p:sp>
        <p:nvSpPr>
          <p:cNvPr id="3" name="Text Placeholder 2"/>
          <p:cNvSpPr>
            <a:spLocks noGrp="1"/>
          </p:cNvSpPr>
          <p:nvPr>
            <p:ph type="body" idx="1"/>
          </p:nvPr>
        </p:nvSpPr>
        <p:spPr/>
        <p:txBody>
          <a:bodyPr/>
          <a:lstStyle/>
          <a:p>
            <a:endParaRPr lang="en-IN" dirty="0"/>
          </a:p>
        </p:txBody>
      </p:sp>
      <p:pic>
        <p:nvPicPr>
          <p:cNvPr id="4" name="Google Shape;760;p22"/>
          <p:cNvPicPr preferRelativeResize="0"/>
          <p:nvPr/>
        </p:nvPicPr>
        <p:blipFill rotWithShape="1">
          <a:blip r:embed="rId2">
            <a:alphaModFix/>
          </a:blip>
          <a:srcRect b="50000"/>
          <a:stretch/>
        </p:blipFill>
        <p:spPr>
          <a:xfrm>
            <a:off x="1202312" y="3820942"/>
            <a:ext cx="6061075" cy="2211387"/>
          </a:xfrm>
          <a:prstGeom prst="rect">
            <a:avLst/>
          </a:prstGeom>
          <a:noFill/>
          <a:ln>
            <a:noFill/>
          </a:ln>
        </p:spPr>
      </p:pic>
      <p:sp>
        <p:nvSpPr>
          <p:cNvPr id="8" name="Google Shape;754;p22"/>
          <p:cNvSpPr/>
          <p:nvPr/>
        </p:nvSpPr>
        <p:spPr>
          <a:xfrm>
            <a:off x="846541" y="1454887"/>
            <a:ext cx="8077200" cy="1815882"/>
          </a:xfrm>
          <a:prstGeom prst="rect">
            <a:avLst/>
          </a:prstGeom>
          <a:solidFill>
            <a:srgbClr val="99FF33"/>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In Compression P Box-</a:t>
            </a:r>
            <a:endParaRPr/>
          </a:p>
          <a:p>
            <a:pPr marL="0" marR="0" lvl="0" indent="0" algn="l"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An input can be dropped During Encryption .</a:t>
            </a:r>
            <a:endParaRPr/>
          </a:p>
          <a:p>
            <a:pPr marL="0" marR="0" lvl="0" indent="0" algn="l"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The Decryption Algorithm doesn’t have a clue how to replace the dropped bit.</a:t>
            </a:r>
            <a:endParaRPr sz="2800" b="1" i="0" u="none" strike="noStrike" cap="none">
              <a:solidFill>
                <a:schemeClr val="dk1"/>
              </a:solidFill>
              <a:latin typeface="Times New Roman"/>
              <a:ea typeface="Times New Roman"/>
              <a:cs typeface="Times New Roman"/>
              <a:sym typeface="Times New Roman"/>
            </a:endParaRPr>
          </a:p>
        </p:txBody>
      </p:sp>
      <p:cxnSp>
        <p:nvCxnSpPr>
          <p:cNvPr id="9" name="Google Shape;758;p22"/>
          <p:cNvCxnSpPr/>
          <p:nvPr/>
        </p:nvCxnSpPr>
        <p:spPr>
          <a:xfrm>
            <a:off x="846541" y="1378687"/>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10" name="Google Shape;759;p22"/>
          <p:cNvCxnSpPr/>
          <p:nvPr/>
        </p:nvCxnSpPr>
        <p:spPr>
          <a:xfrm>
            <a:off x="828680" y="3270769"/>
            <a:ext cx="8153400" cy="0"/>
          </a:xfrm>
          <a:prstGeom prst="straightConnector1">
            <a:avLst/>
          </a:prstGeom>
          <a:noFill/>
          <a:ln w="76200" cap="flat" cmpd="sng">
            <a:solidFill>
              <a:srgbClr val="009900"/>
            </a:solidFill>
            <a:prstDash val="solid"/>
            <a:round/>
            <a:headEnd type="none" w="med" len="med"/>
            <a:tailEnd type="none" w="med" len="med"/>
          </a:ln>
        </p:spPr>
      </p:cxnSp>
    </p:spTree>
    <p:extLst>
      <p:ext uri="{BB962C8B-B14F-4D97-AF65-F5344CB8AC3E}">
        <p14:creationId xmlns:p14="http://schemas.microsoft.com/office/powerpoint/2010/main" val="5443799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Invertability</a:t>
            </a:r>
            <a:r>
              <a:rPr lang="en-IN" dirty="0"/>
              <a:t> of P Box</a:t>
            </a:r>
          </a:p>
        </p:txBody>
      </p:sp>
      <p:sp>
        <p:nvSpPr>
          <p:cNvPr id="3" name="Text Placeholder 2"/>
          <p:cNvSpPr>
            <a:spLocks noGrp="1"/>
          </p:cNvSpPr>
          <p:nvPr>
            <p:ph type="body" idx="1"/>
          </p:nvPr>
        </p:nvSpPr>
        <p:spPr/>
        <p:txBody>
          <a:bodyPr/>
          <a:lstStyle/>
          <a:p>
            <a:endParaRPr lang="en-IN"/>
          </a:p>
        </p:txBody>
      </p:sp>
      <p:pic>
        <p:nvPicPr>
          <p:cNvPr id="4" name="Google Shape;782;p23"/>
          <p:cNvPicPr preferRelativeResize="0"/>
          <p:nvPr/>
        </p:nvPicPr>
        <p:blipFill rotWithShape="1">
          <a:blip r:embed="rId2">
            <a:alphaModFix/>
          </a:blip>
          <a:srcRect t="50000"/>
          <a:stretch/>
        </p:blipFill>
        <p:spPr>
          <a:xfrm>
            <a:off x="1445889" y="3608752"/>
            <a:ext cx="6061075" cy="2211388"/>
          </a:xfrm>
          <a:prstGeom prst="rect">
            <a:avLst/>
          </a:prstGeom>
          <a:noFill/>
          <a:ln>
            <a:noFill/>
          </a:ln>
        </p:spPr>
      </p:pic>
      <p:sp>
        <p:nvSpPr>
          <p:cNvPr id="5" name="Google Shape;776;p23"/>
          <p:cNvSpPr/>
          <p:nvPr/>
        </p:nvSpPr>
        <p:spPr>
          <a:xfrm>
            <a:off x="638721" y="1247067"/>
            <a:ext cx="8077200" cy="2246769"/>
          </a:xfrm>
          <a:prstGeom prst="rect">
            <a:avLst/>
          </a:prstGeom>
          <a:solidFill>
            <a:srgbClr val="99FF33"/>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In Expansion P Box-</a:t>
            </a:r>
            <a:endParaRPr/>
          </a:p>
          <a:p>
            <a:pPr marL="0" marR="0" lvl="0" indent="0" algn="l"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An input may be mapped to more than one output during Encryption. The Decryption algorithm does not have a clue which of the several inputs are mapped to an output.</a:t>
            </a:r>
            <a:endParaRPr sz="2800" b="1" i="0" u="none" strike="noStrike" cap="none">
              <a:solidFill>
                <a:schemeClr val="dk1"/>
              </a:solidFill>
              <a:latin typeface="Times New Roman"/>
              <a:ea typeface="Times New Roman"/>
              <a:cs typeface="Times New Roman"/>
              <a:sym typeface="Times New Roman"/>
            </a:endParaRPr>
          </a:p>
        </p:txBody>
      </p:sp>
      <p:cxnSp>
        <p:nvCxnSpPr>
          <p:cNvPr id="6" name="Google Shape;780;p23"/>
          <p:cNvCxnSpPr/>
          <p:nvPr/>
        </p:nvCxnSpPr>
        <p:spPr>
          <a:xfrm>
            <a:off x="638721" y="1170867"/>
            <a:ext cx="8153400" cy="0"/>
          </a:xfrm>
          <a:prstGeom prst="straightConnector1">
            <a:avLst/>
          </a:prstGeom>
          <a:noFill/>
          <a:ln w="76200" cap="flat" cmpd="sng">
            <a:solidFill>
              <a:srgbClr val="009900"/>
            </a:solidFill>
            <a:prstDash val="solid"/>
            <a:round/>
            <a:headEnd type="none" w="med" len="med"/>
            <a:tailEnd type="none" w="med" len="med"/>
          </a:ln>
        </p:spPr>
      </p:cxnSp>
      <p:cxnSp>
        <p:nvCxnSpPr>
          <p:cNvPr id="7" name="Google Shape;781;p23"/>
          <p:cNvCxnSpPr/>
          <p:nvPr/>
        </p:nvCxnSpPr>
        <p:spPr>
          <a:xfrm>
            <a:off x="638721" y="3498880"/>
            <a:ext cx="8153400" cy="0"/>
          </a:xfrm>
          <a:prstGeom prst="straightConnector1">
            <a:avLst/>
          </a:prstGeom>
          <a:noFill/>
          <a:ln w="76200" cap="flat" cmpd="sng">
            <a:solidFill>
              <a:srgbClr val="009900"/>
            </a:solidFill>
            <a:prstDash val="solid"/>
            <a:round/>
            <a:headEnd type="none" w="med" len="med"/>
            <a:tailEnd type="none" w="med" len="med"/>
          </a:ln>
        </p:spPr>
      </p:cxnSp>
    </p:spTree>
    <p:extLst>
      <p:ext uri="{BB962C8B-B14F-4D97-AF65-F5344CB8AC3E}">
        <p14:creationId xmlns:p14="http://schemas.microsoft.com/office/powerpoint/2010/main" val="19584294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Circular </a:t>
            </a:r>
            <a:r>
              <a:rPr lang="en-IN" dirty="0" smtClean="0"/>
              <a:t>Shift</a:t>
            </a:r>
            <a:endParaRPr lang="en-IN" dirty="0"/>
          </a:p>
        </p:txBody>
      </p:sp>
      <p:sp>
        <p:nvSpPr>
          <p:cNvPr id="3" name="Text Placeholder 2"/>
          <p:cNvSpPr>
            <a:spLocks noGrp="1"/>
          </p:cNvSpPr>
          <p:nvPr>
            <p:ph type="body" idx="1"/>
          </p:nvPr>
        </p:nvSpPr>
        <p:spPr>
          <a:xfrm>
            <a:off x="710395" y="888211"/>
            <a:ext cx="8229600" cy="4525963"/>
          </a:xfrm>
        </p:spPr>
        <p:txBody>
          <a:bodyPr/>
          <a:lstStyle/>
          <a:p>
            <a:r>
              <a:rPr lang="en-US" dirty="0"/>
              <a:t>Mixes bits in a word and helps hide the patterns in the original word</a:t>
            </a:r>
          </a:p>
          <a:p>
            <a:r>
              <a:rPr lang="en-US" dirty="0"/>
              <a:t>Circular left shift operation shifts each bit in a n bit </a:t>
            </a:r>
            <a:r>
              <a:rPr lang="en-US" dirty="0" smtClean="0"/>
              <a:t>word, k </a:t>
            </a:r>
            <a:r>
              <a:rPr lang="en-US" dirty="0"/>
              <a:t>positions left.</a:t>
            </a:r>
          </a:p>
          <a:p>
            <a:r>
              <a:rPr lang="en-US" dirty="0"/>
              <a:t>The leftmost k bits are removed from the left and become the rightmost bits</a:t>
            </a:r>
          </a:p>
          <a:p>
            <a:endParaRPr lang="en-IN" dirty="0"/>
          </a:p>
        </p:txBody>
      </p:sp>
      <p:pic>
        <p:nvPicPr>
          <p:cNvPr id="4" name="Google Shape;1126;p44"/>
          <p:cNvPicPr preferRelativeResize="0"/>
          <p:nvPr/>
        </p:nvPicPr>
        <p:blipFill rotWithShape="1">
          <a:blip r:embed="rId2">
            <a:alphaModFix/>
          </a:blip>
          <a:srcRect r="50000"/>
          <a:stretch/>
        </p:blipFill>
        <p:spPr>
          <a:xfrm>
            <a:off x="3135336" y="3708834"/>
            <a:ext cx="3098800" cy="2560637"/>
          </a:xfrm>
          <a:prstGeom prst="rect">
            <a:avLst/>
          </a:prstGeom>
          <a:noFill/>
          <a:ln>
            <a:noFill/>
          </a:ln>
        </p:spPr>
      </p:pic>
    </p:spTree>
    <p:extLst>
      <p:ext uri="{BB962C8B-B14F-4D97-AF65-F5344CB8AC3E}">
        <p14:creationId xmlns:p14="http://schemas.microsoft.com/office/powerpoint/2010/main" val="17899874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a:t>Circular right shift operation shifts each bit in a n bit word ,k positions right.</a:t>
            </a:r>
          </a:p>
          <a:p>
            <a:r>
              <a:rPr lang="en-US" dirty="0"/>
              <a:t>The rightmost k bits are removed from the right and become the leftmost bits</a:t>
            </a:r>
          </a:p>
          <a:p>
            <a:r>
              <a:rPr lang="en-IN" dirty="0" smtClean="0"/>
              <a:t> </a:t>
            </a:r>
            <a:endParaRPr lang="en-IN" dirty="0"/>
          </a:p>
        </p:txBody>
      </p:sp>
      <p:pic>
        <p:nvPicPr>
          <p:cNvPr id="4" name="Google Shape;1143;p45"/>
          <p:cNvPicPr preferRelativeResize="0"/>
          <p:nvPr/>
        </p:nvPicPr>
        <p:blipFill rotWithShape="1">
          <a:blip r:embed="rId2">
            <a:alphaModFix/>
          </a:blip>
          <a:srcRect l="54507"/>
          <a:stretch/>
        </p:blipFill>
        <p:spPr>
          <a:xfrm>
            <a:off x="2616696" y="3446318"/>
            <a:ext cx="2819400" cy="2560637"/>
          </a:xfrm>
          <a:prstGeom prst="rect">
            <a:avLst/>
          </a:prstGeom>
          <a:noFill/>
          <a:ln>
            <a:noFill/>
          </a:ln>
        </p:spPr>
      </p:pic>
    </p:spTree>
    <p:extLst>
      <p:ext uri="{BB962C8B-B14F-4D97-AF65-F5344CB8AC3E}">
        <p14:creationId xmlns:p14="http://schemas.microsoft.com/office/powerpoint/2010/main" val="318166505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Invertibility of circular shift</a:t>
            </a:r>
            <a:endParaRPr lang="en-IN" dirty="0"/>
          </a:p>
        </p:txBody>
      </p:sp>
      <p:sp>
        <p:nvSpPr>
          <p:cNvPr id="3" name="Text Placeholder 2"/>
          <p:cNvSpPr>
            <a:spLocks noGrp="1"/>
          </p:cNvSpPr>
          <p:nvPr>
            <p:ph type="body" idx="1"/>
          </p:nvPr>
        </p:nvSpPr>
        <p:spPr/>
        <p:txBody>
          <a:bodyPr/>
          <a:lstStyle/>
          <a:p>
            <a:r>
              <a:rPr lang="en-US" dirty="0" err="1"/>
              <a:t>Invertibility</a:t>
            </a:r>
            <a:r>
              <a:rPr lang="en-US" dirty="0"/>
              <a:t>- A circular left shift operation is the inverse of the circular right shift operation</a:t>
            </a:r>
          </a:p>
          <a:p>
            <a:endParaRPr lang="en-US" dirty="0"/>
          </a:p>
          <a:p>
            <a:r>
              <a:rPr lang="en-US" dirty="0"/>
              <a:t>If one is used in encryption cipher, The other can be used in the Decryption cipher</a:t>
            </a:r>
          </a:p>
          <a:p>
            <a:endParaRPr lang="en-IN" dirty="0"/>
          </a:p>
        </p:txBody>
      </p:sp>
    </p:spTree>
    <p:extLst>
      <p:ext uri="{BB962C8B-B14F-4D97-AF65-F5344CB8AC3E}">
        <p14:creationId xmlns:p14="http://schemas.microsoft.com/office/powerpoint/2010/main" val="279192416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47"/>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5.</a:t>
            </a:r>
            <a:fld id="{00000000-1234-1234-1234-123412341234}" type="slidenum">
              <a:rPr lang="en-US" sz="1200" b="1">
                <a:solidFill>
                  <a:schemeClr val="lt2"/>
                </a:solidFill>
                <a:latin typeface="Arial"/>
                <a:ea typeface="Arial"/>
                <a:cs typeface="Arial"/>
                <a:sym typeface="Arial"/>
              </a:rPr>
              <a:t>35</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r>
              <a:rPr lang="en-US" b="1" dirty="0">
                <a:latin typeface="Marcellus" panose="020B0604020202020204" charset="0"/>
                <a:ea typeface="Times New Roman"/>
                <a:cs typeface="Times New Roman"/>
                <a:sym typeface="Times New Roman"/>
              </a:rPr>
              <a:t>Swap</a:t>
            </a:r>
            <a:endParaRPr lang="en-IN" dirty="0">
              <a:latin typeface="Marcellus" panose="020B0604020202020204" charset="0"/>
            </a:endParaRPr>
          </a:p>
        </p:txBody>
      </p:sp>
      <p:sp>
        <p:nvSpPr>
          <p:cNvPr id="3" name="Text Placeholder 2"/>
          <p:cNvSpPr>
            <a:spLocks noGrp="1"/>
          </p:cNvSpPr>
          <p:nvPr>
            <p:ph type="body" idx="1"/>
          </p:nvPr>
        </p:nvSpPr>
        <p:spPr/>
        <p:txBody>
          <a:bodyPr/>
          <a:lstStyle/>
          <a:p>
            <a:endParaRPr lang="en-IN"/>
          </a:p>
        </p:txBody>
      </p:sp>
      <p:sp>
        <p:nvSpPr>
          <p:cNvPr id="1173" name="Google Shape;1173;p47"/>
          <p:cNvSpPr/>
          <p:nvPr/>
        </p:nvSpPr>
        <p:spPr>
          <a:xfrm>
            <a:off x="228600" y="1416050"/>
            <a:ext cx="8686800" cy="954107"/>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1" dirty="0">
                <a:solidFill>
                  <a:schemeClr val="dk1"/>
                </a:solidFill>
                <a:latin typeface="Times New Roman"/>
                <a:ea typeface="Times New Roman"/>
                <a:cs typeface="Times New Roman"/>
                <a:sym typeface="Times New Roman"/>
              </a:rPr>
              <a:t>The swap operation is a special case of the circular shift operation where k = n/2. </a:t>
            </a:r>
            <a:endParaRPr sz="2800" b="1" i="1" dirty="0">
              <a:solidFill>
                <a:schemeClr val="dk1"/>
              </a:solidFill>
              <a:latin typeface="Times New Roman"/>
              <a:ea typeface="Times New Roman"/>
              <a:cs typeface="Times New Roman"/>
              <a:sym typeface="Times New Roman"/>
            </a:endParaRPr>
          </a:p>
        </p:txBody>
      </p:sp>
      <p:sp>
        <p:nvSpPr>
          <p:cNvPr id="1174" name="Google Shape;1174;p47"/>
          <p:cNvSpPr txBox="1"/>
          <p:nvPr/>
        </p:nvSpPr>
        <p:spPr>
          <a:xfrm>
            <a:off x="1858963" y="2667000"/>
            <a:ext cx="5227637"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dirty="0" smtClean="0">
                <a:solidFill>
                  <a:schemeClr val="dk1"/>
                </a:solidFill>
                <a:latin typeface="Times New Roman"/>
                <a:ea typeface="Times New Roman"/>
                <a:cs typeface="Times New Roman"/>
                <a:sym typeface="Times New Roman"/>
              </a:rPr>
              <a:t>Swap </a:t>
            </a:r>
            <a:r>
              <a:rPr lang="en-US" sz="2000" b="1" i="1" dirty="0">
                <a:solidFill>
                  <a:schemeClr val="dk1"/>
                </a:solidFill>
                <a:latin typeface="Times New Roman"/>
                <a:ea typeface="Times New Roman"/>
                <a:cs typeface="Times New Roman"/>
                <a:sym typeface="Times New Roman"/>
              </a:rPr>
              <a:t>operation on an 8-bit word</a:t>
            </a:r>
            <a:endParaRPr dirty="0"/>
          </a:p>
        </p:txBody>
      </p:sp>
      <p:pic>
        <p:nvPicPr>
          <p:cNvPr id="1175" name="Google Shape;1175;p47"/>
          <p:cNvPicPr preferRelativeResize="0"/>
          <p:nvPr/>
        </p:nvPicPr>
        <p:blipFill rotWithShape="1">
          <a:blip r:embed="rId3">
            <a:alphaModFix/>
          </a:blip>
          <a:srcRect/>
          <a:stretch/>
        </p:blipFill>
        <p:spPr>
          <a:xfrm>
            <a:off x="304800" y="3757613"/>
            <a:ext cx="8483600" cy="2262187"/>
          </a:xfrm>
          <a:prstGeom prst="rect">
            <a:avLst/>
          </a:prstGeom>
          <a:noFill/>
          <a:ln>
            <a:noFill/>
          </a:ln>
        </p:spPr>
      </p:pic>
    </p:spTree>
    <p:extLst>
      <p:ext uri="{BB962C8B-B14F-4D97-AF65-F5344CB8AC3E}">
        <p14:creationId xmlns:p14="http://schemas.microsoft.com/office/powerpoint/2010/main" val="355343164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Swap operation </a:t>
            </a:r>
            <a:r>
              <a:rPr lang="en-IN" dirty="0" err="1" smtClean="0"/>
              <a:t>invertability</a:t>
            </a:r>
            <a:endParaRPr lang="en-IN" dirty="0"/>
          </a:p>
        </p:txBody>
      </p:sp>
      <p:sp>
        <p:nvSpPr>
          <p:cNvPr id="3" name="Text Placeholder 2"/>
          <p:cNvSpPr>
            <a:spLocks noGrp="1"/>
          </p:cNvSpPr>
          <p:nvPr>
            <p:ph type="body" idx="1"/>
          </p:nvPr>
        </p:nvSpPr>
        <p:spPr/>
        <p:txBody>
          <a:bodyPr/>
          <a:lstStyle/>
          <a:p>
            <a:r>
              <a:rPr lang="en-US" dirty="0"/>
              <a:t>Self Invertible-A swap operation in Encryption cipher can be totally cancelled by a swap operation in the decryption cipher</a:t>
            </a:r>
          </a:p>
          <a:p>
            <a:endParaRPr lang="en-IN" dirty="0"/>
          </a:p>
        </p:txBody>
      </p:sp>
    </p:spTree>
    <p:extLst>
      <p:ext uri="{BB962C8B-B14F-4D97-AF65-F5344CB8AC3E}">
        <p14:creationId xmlns:p14="http://schemas.microsoft.com/office/powerpoint/2010/main" val="185283140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96"/>
        <p:cNvGrpSpPr/>
        <p:nvPr/>
      </p:nvGrpSpPr>
      <p:grpSpPr>
        <a:xfrm>
          <a:off x="0" y="0"/>
          <a:ext cx="0" cy="0"/>
          <a:chOff x="0" y="0"/>
          <a:chExt cx="0" cy="0"/>
        </a:xfrm>
      </p:grpSpPr>
      <p:sp>
        <p:nvSpPr>
          <p:cNvPr id="1197" name="Google Shape;1197;p49"/>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5.</a:t>
            </a:r>
            <a:fld id="{00000000-1234-1234-1234-123412341234}" type="slidenum">
              <a:rPr lang="en-US" sz="1200" b="1">
                <a:solidFill>
                  <a:schemeClr val="lt2"/>
                </a:solidFill>
                <a:latin typeface="Arial"/>
                <a:ea typeface="Arial"/>
                <a:cs typeface="Arial"/>
                <a:sym typeface="Arial"/>
              </a:rPr>
              <a:t>37</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pPr lvl="0"/>
            <a:r>
              <a:rPr lang="en-US" b="1" dirty="0">
                <a:latin typeface="Marcellus" panose="020B0604020202020204" charset="0"/>
                <a:ea typeface="Times New Roman"/>
                <a:cs typeface="Times New Roman"/>
                <a:sym typeface="Times New Roman"/>
              </a:rPr>
              <a:t>Split and </a:t>
            </a:r>
            <a:r>
              <a:rPr lang="en-US" b="1" dirty="0" smtClean="0">
                <a:latin typeface="Marcellus" panose="020B0604020202020204" charset="0"/>
                <a:ea typeface="Times New Roman"/>
                <a:cs typeface="Times New Roman"/>
                <a:sym typeface="Times New Roman"/>
              </a:rPr>
              <a:t>Combine</a:t>
            </a:r>
            <a:endParaRPr lang="en-IN" dirty="0">
              <a:latin typeface="Marcellus" panose="020B0604020202020204" charset="0"/>
            </a:endParaRPr>
          </a:p>
        </p:txBody>
      </p:sp>
      <p:sp>
        <p:nvSpPr>
          <p:cNvPr id="3" name="Text Placeholder 2"/>
          <p:cNvSpPr>
            <a:spLocks noGrp="1"/>
          </p:cNvSpPr>
          <p:nvPr>
            <p:ph type="body" idx="1"/>
          </p:nvPr>
        </p:nvSpPr>
        <p:spPr/>
        <p:txBody>
          <a:bodyPr/>
          <a:lstStyle/>
          <a:p>
            <a:endParaRPr lang="en-IN"/>
          </a:p>
        </p:txBody>
      </p:sp>
      <p:sp>
        <p:nvSpPr>
          <p:cNvPr id="1207" name="Google Shape;1207;p49"/>
          <p:cNvSpPr/>
          <p:nvPr/>
        </p:nvSpPr>
        <p:spPr>
          <a:xfrm>
            <a:off x="228600" y="1143000"/>
            <a:ext cx="8686800" cy="946150"/>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1" dirty="0">
                <a:solidFill>
                  <a:schemeClr val="dk1"/>
                </a:solidFill>
                <a:latin typeface="Times New Roman"/>
                <a:ea typeface="Times New Roman"/>
                <a:cs typeface="Times New Roman"/>
                <a:sym typeface="Times New Roman"/>
              </a:rPr>
              <a:t>Two other operations found in some block ciphers are split and combine. </a:t>
            </a:r>
            <a:endParaRPr dirty="0"/>
          </a:p>
        </p:txBody>
      </p:sp>
      <p:sp>
        <p:nvSpPr>
          <p:cNvPr id="1208" name="Google Shape;1208;p49"/>
          <p:cNvSpPr txBox="1"/>
          <p:nvPr/>
        </p:nvSpPr>
        <p:spPr>
          <a:xfrm>
            <a:off x="1143000" y="3200400"/>
            <a:ext cx="664845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dirty="0" smtClean="0">
                <a:solidFill>
                  <a:schemeClr val="dk1"/>
                </a:solidFill>
                <a:latin typeface="Times New Roman"/>
                <a:ea typeface="Times New Roman"/>
                <a:cs typeface="Times New Roman"/>
                <a:sym typeface="Times New Roman"/>
              </a:rPr>
              <a:t>Split </a:t>
            </a:r>
            <a:r>
              <a:rPr lang="en-US" sz="2000" b="1" i="1" dirty="0">
                <a:solidFill>
                  <a:schemeClr val="dk1"/>
                </a:solidFill>
                <a:latin typeface="Times New Roman"/>
                <a:ea typeface="Times New Roman"/>
                <a:cs typeface="Times New Roman"/>
                <a:sym typeface="Times New Roman"/>
              </a:rPr>
              <a:t>and combine operations on an 8-bit word</a:t>
            </a:r>
            <a:endParaRPr dirty="0"/>
          </a:p>
        </p:txBody>
      </p:sp>
      <p:pic>
        <p:nvPicPr>
          <p:cNvPr id="1209" name="Google Shape;1209;p49"/>
          <p:cNvPicPr preferRelativeResize="0"/>
          <p:nvPr/>
        </p:nvPicPr>
        <p:blipFill rotWithShape="1">
          <a:blip r:embed="rId3">
            <a:alphaModFix/>
          </a:blip>
          <a:srcRect/>
          <a:stretch/>
        </p:blipFill>
        <p:spPr>
          <a:xfrm>
            <a:off x="620713" y="4271963"/>
            <a:ext cx="7989887" cy="1900237"/>
          </a:xfrm>
          <a:prstGeom prst="rect">
            <a:avLst/>
          </a:prstGeom>
          <a:noFill/>
          <a:ln>
            <a:noFill/>
          </a:ln>
        </p:spPr>
      </p:pic>
    </p:spTree>
    <p:extLst>
      <p:ext uri="{BB962C8B-B14F-4D97-AF65-F5344CB8AC3E}">
        <p14:creationId xmlns:p14="http://schemas.microsoft.com/office/powerpoint/2010/main" val="18256983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50"/>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5.</a:t>
            </a:r>
            <a:fld id="{00000000-1234-1234-1234-123412341234}" type="slidenum">
              <a:rPr lang="en-US" sz="1200" b="1">
                <a:solidFill>
                  <a:schemeClr val="lt2"/>
                </a:solidFill>
                <a:latin typeface="Arial"/>
                <a:ea typeface="Arial"/>
                <a:cs typeface="Arial"/>
                <a:sym typeface="Arial"/>
              </a:rPr>
              <a:t>38</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r>
              <a:rPr lang="en-IN" dirty="0" smtClean="0"/>
              <a:t>Split and Combine</a:t>
            </a:r>
            <a:endParaRPr lang="en-IN" dirty="0"/>
          </a:p>
        </p:txBody>
      </p:sp>
      <p:sp>
        <p:nvSpPr>
          <p:cNvPr id="3" name="Text Placeholder 2"/>
          <p:cNvSpPr>
            <a:spLocks noGrp="1"/>
          </p:cNvSpPr>
          <p:nvPr>
            <p:ph type="body" idx="1"/>
          </p:nvPr>
        </p:nvSpPr>
        <p:spPr/>
        <p:txBody>
          <a:bodyPr/>
          <a:lstStyle/>
          <a:p>
            <a:endParaRPr lang="en-IN"/>
          </a:p>
        </p:txBody>
      </p:sp>
      <p:sp>
        <p:nvSpPr>
          <p:cNvPr id="1215" name="Google Shape;1215;p50"/>
          <p:cNvSpPr txBox="1"/>
          <p:nvPr/>
        </p:nvSpPr>
        <p:spPr>
          <a:xfrm>
            <a:off x="1263722" y="4710546"/>
            <a:ext cx="664845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dirty="0" smtClean="0">
                <a:solidFill>
                  <a:schemeClr val="dk1"/>
                </a:solidFill>
                <a:latin typeface="Times New Roman"/>
                <a:ea typeface="Times New Roman"/>
                <a:cs typeface="Times New Roman"/>
                <a:sym typeface="Times New Roman"/>
              </a:rPr>
              <a:t>Split </a:t>
            </a:r>
            <a:r>
              <a:rPr lang="en-US" sz="2000" b="1" i="1" dirty="0">
                <a:solidFill>
                  <a:schemeClr val="dk1"/>
                </a:solidFill>
                <a:latin typeface="Times New Roman"/>
                <a:ea typeface="Times New Roman"/>
                <a:cs typeface="Times New Roman"/>
                <a:sym typeface="Times New Roman"/>
              </a:rPr>
              <a:t>and combine operations on an 8-bit word</a:t>
            </a:r>
            <a:endParaRPr dirty="0"/>
          </a:p>
        </p:txBody>
      </p:sp>
      <p:pic>
        <p:nvPicPr>
          <p:cNvPr id="1216" name="Google Shape;1216;p50"/>
          <p:cNvPicPr preferRelativeResize="0"/>
          <p:nvPr/>
        </p:nvPicPr>
        <p:blipFill rotWithShape="1">
          <a:blip r:embed="rId3">
            <a:alphaModFix/>
          </a:blip>
          <a:srcRect/>
          <a:stretch/>
        </p:blipFill>
        <p:spPr>
          <a:xfrm>
            <a:off x="593004" y="5301208"/>
            <a:ext cx="7989887" cy="1210429"/>
          </a:xfrm>
          <a:prstGeom prst="rect">
            <a:avLst/>
          </a:prstGeom>
          <a:noFill/>
          <a:ln>
            <a:noFill/>
          </a:ln>
        </p:spPr>
      </p:pic>
      <p:sp>
        <p:nvSpPr>
          <p:cNvPr id="1225" name="Google Shape;1225;p50"/>
          <p:cNvSpPr/>
          <p:nvPr/>
        </p:nvSpPr>
        <p:spPr>
          <a:xfrm>
            <a:off x="244547" y="2130136"/>
            <a:ext cx="8686800" cy="2677616"/>
          </a:xfrm>
          <a:prstGeom prst="rect">
            <a:avLst/>
          </a:prstGeom>
          <a:solidFill>
            <a:schemeClr val="lt1"/>
          </a:solid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800"/>
              <a:buFont typeface="Arial"/>
              <a:buChar char="•"/>
            </a:pPr>
            <a:r>
              <a:rPr lang="en-US" sz="2800" i="1" dirty="0">
                <a:solidFill>
                  <a:schemeClr val="dk1"/>
                </a:solidFill>
                <a:latin typeface="Fira Sans" panose="020B0604020202020204" charset="0"/>
                <a:ea typeface="Times New Roman"/>
                <a:cs typeface="Times New Roman"/>
                <a:sym typeface="Times New Roman"/>
              </a:rPr>
              <a:t>Split operation splits an n-bit word in the middle creating two equal length words</a:t>
            </a:r>
            <a:endParaRPr dirty="0">
              <a:latin typeface="Fira Sans" panose="020B0604020202020204" charset="0"/>
            </a:endParaRPr>
          </a:p>
          <a:p>
            <a:pPr marL="457200" marR="0" lvl="0" indent="-457200" algn="just" rtl="0">
              <a:spcBef>
                <a:spcPts val="0"/>
              </a:spcBef>
              <a:spcAft>
                <a:spcPts val="0"/>
              </a:spcAft>
              <a:buClr>
                <a:schemeClr val="dk1"/>
              </a:buClr>
              <a:buSzPts val="2800"/>
              <a:buFont typeface="Arial"/>
              <a:buChar char="•"/>
            </a:pPr>
            <a:r>
              <a:rPr lang="en-US" sz="2800" i="1" dirty="0" smtClean="0">
                <a:solidFill>
                  <a:schemeClr val="dk1"/>
                </a:solidFill>
                <a:latin typeface="Fira Sans" panose="020B0604020202020204" charset="0"/>
                <a:ea typeface="Times New Roman"/>
                <a:cs typeface="Times New Roman"/>
                <a:sym typeface="Times New Roman"/>
              </a:rPr>
              <a:t>Combine </a:t>
            </a:r>
            <a:r>
              <a:rPr lang="en-US" sz="2800" i="1" dirty="0">
                <a:solidFill>
                  <a:schemeClr val="dk1"/>
                </a:solidFill>
                <a:latin typeface="Fira Sans" panose="020B0604020202020204" charset="0"/>
                <a:ea typeface="Times New Roman"/>
                <a:cs typeface="Times New Roman"/>
                <a:sym typeface="Times New Roman"/>
              </a:rPr>
              <a:t>operation normally concatenates two equal length words to create an n bit word.</a:t>
            </a:r>
            <a:endParaRPr dirty="0">
              <a:latin typeface="Fira Sans" panose="020B0604020202020204" charset="0"/>
            </a:endParaRPr>
          </a:p>
          <a:p>
            <a:pPr marL="457200" marR="0" lvl="0" indent="-457200" algn="just" rtl="0">
              <a:spcBef>
                <a:spcPts val="0"/>
              </a:spcBef>
              <a:spcAft>
                <a:spcPts val="0"/>
              </a:spcAft>
              <a:buClr>
                <a:schemeClr val="dk1"/>
              </a:buClr>
              <a:buSzPts val="2800"/>
              <a:buFont typeface="Arial"/>
              <a:buChar char="•"/>
            </a:pPr>
            <a:r>
              <a:rPr lang="en-US" sz="2800" i="1" dirty="0" smtClean="0">
                <a:solidFill>
                  <a:schemeClr val="dk1"/>
                </a:solidFill>
                <a:latin typeface="Fira Sans" panose="020B0604020202020204" charset="0"/>
                <a:ea typeface="Times New Roman"/>
                <a:cs typeface="Times New Roman"/>
                <a:sym typeface="Times New Roman"/>
              </a:rPr>
              <a:t>Inverse </a:t>
            </a:r>
            <a:r>
              <a:rPr lang="en-US" sz="2800" i="1" dirty="0">
                <a:solidFill>
                  <a:schemeClr val="dk1"/>
                </a:solidFill>
                <a:latin typeface="Fira Sans" panose="020B0604020202020204" charset="0"/>
                <a:ea typeface="Times New Roman"/>
                <a:cs typeface="Times New Roman"/>
                <a:sym typeface="Times New Roman"/>
              </a:rPr>
              <a:t>of each other</a:t>
            </a:r>
            <a:endParaRPr dirty="0">
              <a:latin typeface="Fira Sans" panose="020B0604020202020204" charset="0"/>
            </a:endParaRPr>
          </a:p>
          <a:p>
            <a:pPr marL="457200" marR="0" lvl="0" indent="-457200" algn="just" rtl="0">
              <a:spcBef>
                <a:spcPts val="0"/>
              </a:spcBef>
              <a:spcAft>
                <a:spcPts val="0"/>
              </a:spcAft>
              <a:buClr>
                <a:schemeClr val="dk1"/>
              </a:buClr>
              <a:buSzPts val="2800"/>
              <a:buFont typeface="Arial"/>
              <a:buChar char="•"/>
            </a:pPr>
            <a:r>
              <a:rPr lang="en-US" sz="2800" i="1" dirty="0" smtClean="0">
                <a:solidFill>
                  <a:schemeClr val="dk1"/>
                </a:solidFill>
                <a:latin typeface="Fira Sans" panose="020B0604020202020204" charset="0"/>
                <a:ea typeface="Times New Roman"/>
                <a:cs typeface="Times New Roman"/>
                <a:sym typeface="Times New Roman"/>
              </a:rPr>
              <a:t>Used </a:t>
            </a:r>
            <a:r>
              <a:rPr lang="en-US" sz="2800" i="1" dirty="0">
                <a:solidFill>
                  <a:schemeClr val="dk1"/>
                </a:solidFill>
                <a:latin typeface="Fira Sans" panose="020B0604020202020204" charset="0"/>
                <a:ea typeface="Times New Roman"/>
                <a:cs typeface="Times New Roman"/>
                <a:sym typeface="Times New Roman"/>
              </a:rPr>
              <a:t>as a pair to cancel each other out.</a:t>
            </a:r>
            <a:endParaRPr sz="2800" i="1" dirty="0">
              <a:solidFill>
                <a:schemeClr val="dk1"/>
              </a:solidFill>
              <a:latin typeface="Fira Sans" panose="020B0604020202020204" charset="0"/>
              <a:ea typeface="Times New Roman"/>
              <a:cs typeface="Times New Roman"/>
              <a:sym typeface="Times New Roman"/>
            </a:endParaRPr>
          </a:p>
        </p:txBody>
      </p:sp>
    </p:spTree>
    <p:extLst>
      <p:ext uri="{BB962C8B-B14F-4D97-AF65-F5344CB8AC3E}">
        <p14:creationId xmlns:p14="http://schemas.microsoft.com/office/powerpoint/2010/main" val="21659589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83"/>
        <p:cNvGrpSpPr/>
        <p:nvPr/>
      </p:nvGrpSpPr>
      <p:grpSpPr>
        <a:xfrm>
          <a:off x="0" y="0"/>
          <a:ext cx="0" cy="0"/>
          <a:chOff x="0" y="0"/>
          <a:chExt cx="0" cy="0"/>
        </a:xfrm>
      </p:grpSpPr>
      <p:sp>
        <p:nvSpPr>
          <p:cNvPr id="1284" name="Google Shape;1284;p54"/>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5.</a:t>
            </a:r>
            <a:fld id="{00000000-1234-1234-1234-123412341234}" type="slidenum">
              <a:rPr lang="en-US" sz="1200" b="1">
                <a:solidFill>
                  <a:schemeClr val="lt2"/>
                </a:solidFill>
                <a:latin typeface="Arial"/>
                <a:ea typeface="Arial"/>
                <a:cs typeface="Arial"/>
                <a:sym typeface="Arial"/>
              </a:rPr>
              <a:t>39</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r>
              <a:rPr lang="en-IN" dirty="0"/>
              <a:t>Rounds</a:t>
            </a:r>
          </a:p>
        </p:txBody>
      </p:sp>
      <p:sp>
        <p:nvSpPr>
          <p:cNvPr id="3" name="Text Placeholder 2"/>
          <p:cNvSpPr>
            <a:spLocks noGrp="1"/>
          </p:cNvSpPr>
          <p:nvPr>
            <p:ph type="body" idx="1"/>
          </p:nvPr>
        </p:nvSpPr>
        <p:spPr/>
        <p:txBody>
          <a:bodyPr/>
          <a:lstStyle/>
          <a:p>
            <a:endParaRPr lang="en-IN"/>
          </a:p>
        </p:txBody>
      </p:sp>
      <p:sp>
        <p:nvSpPr>
          <p:cNvPr id="1290" name="Google Shape;1290;p54"/>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1292" name="Google Shape;1292;p54"/>
          <p:cNvSpPr/>
          <p:nvPr/>
        </p:nvSpPr>
        <p:spPr>
          <a:xfrm>
            <a:off x="955964" y="1123950"/>
            <a:ext cx="7959436" cy="5262939"/>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dirty="0">
              <a:latin typeface="Fira Sans" panose="020B0604020202020204" charset="0"/>
            </a:endParaRPr>
          </a:p>
          <a:p>
            <a:pPr marL="0" marR="0" lvl="0" indent="0" algn="just" rtl="0">
              <a:spcBef>
                <a:spcPts val="0"/>
              </a:spcBef>
              <a:spcAft>
                <a:spcPts val="0"/>
              </a:spcAft>
              <a:buNone/>
            </a:pPr>
            <a:r>
              <a:rPr lang="en-US" sz="2800" i="1" dirty="0">
                <a:solidFill>
                  <a:schemeClr val="dk1"/>
                </a:solidFill>
                <a:latin typeface="Fira Sans" panose="020B0604020202020204" charset="0"/>
                <a:ea typeface="Times New Roman"/>
                <a:cs typeface="Times New Roman"/>
                <a:sym typeface="Times New Roman"/>
              </a:rPr>
              <a:t>Diffusion and confusion can be achieved using iterated product ciphers where each iteration is a combination of S-boxes, P-boxes, and other components. </a:t>
            </a:r>
            <a:endParaRPr lang="en-US" sz="2800" i="1" dirty="0" smtClean="0">
              <a:solidFill>
                <a:schemeClr val="dk1"/>
              </a:solidFill>
              <a:latin typeface="Fira Sans" panose="020B0604020202020204" charset="0"/>
              <a:ea typeface="Times New Roman"/>
              <a:cs typeface="Times New Roman"/>
              <a:sym typeface="Times New Roman"/>
            </a:endParaRPr>
          </a:p>
          <a:p>
            <a:pPr marL="457200" lvl="0" indent="-457200" algn="just">
              <a:buFont typeface="Arial" panose="020B0604020202020204" pitchFamily="34" charset="0"/>
              <a:buChar char="•"/>
            </a:pPr>
            <a:r>
              <a:rPr lang="en-US" sz="2800" i="1" dirty="0" smtClean="0">
                <a:solidFill>
                  <a:schemeClr val="dk1"/>
                </a:solidFill>
                <a:latin typeface="Fira Sans" panose="020B0604020202020204" charset="0"/>
                <a:ea typeface="Times New Roman"/>
                <a:cs typeface="Times New Roman"/>
              </a:rPr>
              <a:t>The </a:t>
            </a:r>
            <a:r>
              <a:rPr lang="en-US" sz="2800" i="1" dirty="0">
                <a:solidFill>
                  <a:schemeClr val="dk1"/>
                </a:solidFill>
                <a:latin typeface="Fira Sans" panose="020B0604020202020204" charset="0"/>
                <a:ea typeface="Times New Roman"/>
                <a:cs typeface="Times New Roman"/>
              </a:rPr>
              <a:t>block cipher uses a Key schedule or Key generator that creates different keys for each </a:t>
            </a:r>
            <a:r>
              <a:rPr lang="en-US" sz="2800" i="1" dirty="0" smtClean="0">
                <a:solidFill>
                  <a:schemeClr val="dk1"/>
                </a:solidFill>
                <a:latin typeface="Fira Sans" panose="020B0604020202020204" charset="0"/>
                <a:ea typeface="Times New Roman"/>
                <a:cs typeface="Times New Roman"/>
              </a:rPr>
              <a:t>round.</a:t>
            </a:r>
          </a:p>
          <a:p>
            <a:pPr marL="457200" lvl="0" indent="-457200" algn="just">
              <a:buFont typeface="Arial" panose="020B0604020202020204" pitchFamily="34" charset="0"/>
              <a:buChar char="•"/>
            </a:pPr>
            <a:r>
              <a:rPr lang="en-US" sz="2800" i="1" dirty="0" smtClean="0">
                <a:solidFill>
                  <a:schemeClr val="dk1"/>
                </a:solidFill>
                <a:latin typeface="Fira Sans" panose="020B0604020202020204" charset="0"/>
                <a:ea typeface="Times New Roman"/>
                <a:cs typeface="Times New Roman"/>
              </a:rPr>
              <a:t>In </a:t>
            </a:r>
            <a:r>
              <a:rPr lang="en-US" sz="2800" i="1" dirty="0">
                <a:solidFill>
                  <a:schemeClr val="dk1"/>
                </a:solidFill>
                <a:latin typeface="Fira Sans" panose="020B0604020202020204" charset="0"/>
                <a:ea typeface="Times New Roman"/>
                <a:cs typeface="Times New Roman"/>
              </a:rPr>
              <a:t>a N-round cipher, the plaintext is encrypted N times to create the </a:t>
            </a:r>
            <a:r>
              <a:rPr lang="en-US" sz="2800" i="1" dirty="0" err="1" smtClean="0">
                <a:solidFill>
                  <a:schemeClr val="dk1"/>
                </a:solidFill>
                <a:latin typeface="Fira Sans" panose="020B0604020202020204" charset="0"/>
                <a:ea typeface="Times New Roman"/>
                <a:cs typeface="Times New Roman"/>
              </a:rPr>
              <a:t>ciphertext</a:t>
            </a:r>
            <a:r>
              <a:rPr lang="en-US" sz="2800" i="1" dirty="0" smtClean="0">
                <a:solidFill>
                  <a:schemeClr val="dk1"/>
                </a:solidFill>
                <a:latin typeface="Fira Sans" panose="020B0604020202020204" charset="0"/>
                <a:ea typeface="Times New Roman"/>
                <a:cs typeface="Times New Roman"/>
              </a:rPr>
              <a:t>.</a:t>
            </a:r>
          </a:p>
          <a:p>
            <a:pPr marL="457200" lvl="0" indent="-457200" algn="just">
              <a:buFont typeface="Arial" panose="020B0604020202020204" pitchFamily="34" charset="0"/>
              <a:buChar char="•"/>
            </a:pPr>
            <a:r>
              <a:rPr lang="en-US" sz="2800" i="1" dirty="0" smtClean="0">
                <a:solidFill>
                  <a:schemeClr val="dk1"/>
                </a:solidFill>
                <a:latin typeface="Fira Sans" panose="020B0604020202020204" charset="0"/>
                <a:ea typeface="Times New Roman"/>
                <a:cs typeface="Times New Roman"/>
              </a:rPr>
              <a:t>The </a:t>
            </a:r>
            <a:r>
              <a:rPr lang="en-US" sz="2800" i="1" dirty="0" err="1">
                <a:solidFill>
                  <a:schemeClr val="dk1"/>
                </a:solidFill>
                <a:latin typeface="Fira Sans" panose="020B0604020202020204" charset="0"/>
                <a:ea typeface="Times New Roman"/>
                <a:cs typeface="Times New Roman"/>
              </a:rPr>
              <a:t>ciphertext</a:t>
            </a:r>
            <a:r>
              <a:rPr lang="en-US" sz="2800" i="1" dirty="0">
                <a:solidFill>
                  <a:schemeClr val="dk1"/>
                </a:solidFill>
                <a:latin typeface="Fira Sans" panose="020B0604020202020204" charset="0"/>
                <a:ea typeface="Times New Roman"/>
                <a:cs typeface="Times New Roman"/>
              </a:rPr>
              <a:t> is decrypted N times to create the plaintext</a:t>
            </a:r>
          </a:p>
          <a:p>
            <a:pPr marL="0" marR="0" lvl="0" indent="0" algn="just" rtl="0">
              <a:spcBef>
                <a:spcPts val="0"/>
              </a:spcBef>
              <a:spcAft>
                <a:spcPts val="0"/>
              </a:spcAft>
              <a:buNone/>
            </a:pPr>
            <a:endParaRPr dirty="0">
              <a:latin typeface="Fira Sans" panose="020B0604020202020204" charset="0"/>
            </a:endParaRPr>
          </a:p>
        </p:txBody>
      </p:sp>
    </p:spTree>
    <p:extLst>
      <p:ext uri="{BB962C8B-B14F-4D97-AF65-F5344CB8AC3E}">
        <p14:creationId xmlns:p14="http://schemas.microsoft.com/office/powerpoint/2010/main" val="68923071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 product cipher with two rounds</a:t>
            </a:r>
            <a:endParaRPr lang="en-IN" dirty="0"/>
          </a:p>
        </p:txBody>
      </p:sp>
      <p:sp>
        <p:nvSpPr>
          <p:cNvPr id="3" name="Text Placeholder 2"/>
          <p:cNvSpPr>
            <a:spLocks noGrp="1"/>
          </p:cNvSpPr>
          <p:nvPr>
            <p:ph type="body" idx="1"/>
          </p:nvPr>
        </p:nvSpPr>
        <p:spPr/>
        <p:txBody>
          <a:bodyPr/>
          <a:lstStyle/>
          <a:p>
            <a:endParaRPr lang="en-IN"/>
          </a:p>
        </p:txBody>
      </p:sp>
      <p:pic>
        <p:nvPicPr>
          <p:cNvPr id="4" name="Google Shape;1314;p56"/>
          <p:cNvPicPr preferRelativeResize="0"/>
          <p:nvPr/>
        </p:nvPicPr>
        <p:blipFill rotWithShape="1">
          <a:blip r:embed="rId2">
            <a:alphaModFix/>
          </a:blip>
          <a:srcRect/>
          <a:stretch/>
        </p:blipFill>
        <p:spPr>
          <a:xfrm>
            <a:off x="2438400" y="1228725"/>
            <a:ext cx="4918075" cy="5400675"/>
          </a:xfrm>
          <a:prstGeom prst="rect">
            <a:avLst/>
          </a:prstGeom>
          <a:noFill/>
          <a:ln>
            <a:noFill/>
          </a:ln>
        </p:spPr>
      </p:pic>
    </p:spTree>
    <p:extLst>
      <p:ext uri="{BB962C8B-B14F-4D97-AF65-F5344CB8AC3E}">
        <p14:creationId xmlns:p14="http://schemas.microsoft.com/office/powerpoint/2010/main" val="428597229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59"/>
          <p:cNvSpPr txBox="1">
            <a:spLocks noGrp="1"/>
          </p:cNvSpPr>
          <p:nvPr>
            <p:ph type="sldNum" idx="12"/>
          </p:nvPr>
        </p:nvSpPr>
        <p:spPr>
          <a:xfrm>
            <a:off x="76200" y="6400800"/>
            <a:ext cx="19050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5.</a:t>
            </a:r>
            <a:fld id="{00000000-1234-1234-1234-123412341234}" type="slidenum">
              <a:rPr lang="en-US" sz="1200" b="1">
                <a:solidFill>
                  <a:schemeClr val="lt2"/>
                </a:solidFill>
                <a:latin typeface="Arial"/>
                <a:ea typeface="Arial"/>
                <a:cs typeface="Arial"/>
                <a:sym typeface="Arial"/>
              </a:rPr>
              <a:t>41</a:t>
            </a:fld>
            <a:endParaRPr sz="1200" b="1">
              <a:solidFill>
                <a:schemeClr val="lt2"/>
              </a:solidFill>
              <a:latin typeface="Arial"/>
              <a:ea typeface="Arial"/>
              <a:cs typeface="Arial"/>
              <a:sym typeface="Arial"/>
            </a:endParaRPr>
          </a:p>
        </p:txBody>
      </p:sp>
      <p:pic>
        <p:nvPicPr>
          <p:cNvPr id="1361" name="Google Shape;1361;p59"/>
          <p:cNvPicPr preferRelativeResize="0"/>
          <p:nvPr/>
        </p:nvPicPr>
        <p:blipFill rotWithShape="1">
          <a:blip r:embed="rId3">
            <a:alphaModFix/>
          </a:blip>
          <a:srcRect/>
          <a:stretch/>
        </p:blipFill>
        <p:spPr>
          <a:xfrm>
            <a:off x="4821684" y="1399338"/>
            <a:ext cx="4214812" cy="4479925"/>
          </a:xfrm>
          <a:prstGeom prst="rect">
            <a:avLst/>
          </a:prstGeom>
          <a:noFill/>
          <a:ln>
            <a:noFill/>
          </a:ln>
        </p:spPr>
      </p:pic>
      <p:sp>
        <p:nvSpPr>
          <p:cNvPr id="1367" name="Google Shape;1367;p59"/>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1370" name="Google Shape;1370;p59"/>
          <p:cNvSpPr/>
          <p:nvPr/>
        </p:nvSpPr>
        <p:spPr>
          <a:xfrm>
            <a:off x="632334" y="341590"/>
            <a:ext cx="83786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dirty="0">
                <a:solidFill>
                  <a:schemeClr val="dk1"/>
                </a:solidFill>
                <a:latin typeface="Fira Sans" panose="020B0604020202020204" charset="0"/>
                <a:ea typeface="Tahoma"/>
                <a:cs typeface="Tahoma"/>
                <a:sym typeface="Tahoma"/>
              </a:rPr>
              <a:t>How Changing a single bit in the plain text affects many bits in the </a:t>
            </a:r>
            <a:r>
              <a:rPr lang="en-US" sz="1800" i="1" dirty="0" err="1">
                <a:solidFill>
                  <a:schemeClr val="dk1"/>
                </a:solidFill>
                <a:latin typeface="Fira Sans" panose="020B0604020202020204" charset="0"/>
                <a:ea typeface="Tahoma"/>
                <a:cs typeface="Tahoma"/>
                <a:sym typeface="Tahoma"/>
              </a:rPr>
              <a:t>ciphertext</a:t>
            </a:r>
            <a:endParaRPr sz="1800" i="1" dirty="0">
              <a:solidFill>
                <a:schemeClr val="dk1"/>
              </a:solidFill>
              <a:latin typeface="Fira Sans" panose="020B0604020202020204" charset="0"/>
              <a:ea typeface="Tahoma"/>
              <a:cs typeface="Tahoma"/>
              <a:sym typeface="Tahoma"/>
            </a:endParaRPr>
          </a:p>
        </p:txBody>
      </p:sp>
      <p:pic>
        <p:nvPicPr>
          <p:cNvPr id="1371" name="Google Shape;1371;p59"/>
          <p:cNvPicPr preferRelativeResize="0"/>
          <p:nvPr/>
        </p:nvPicPr>
        <p:blipFill rotWithShape="1">
          <a:blip r:embed="rId4">
            <a:alphaModFix/>
          </a:blip>
          <a:srcRect/>
          <a:stretch/>
        </p:blipFill>
        <p:spPr>
          <a:xfrm>
            <a:off x="864582" y="1052513"/>
            <a:ext cx="3621931" cy="4933701"/>
          </a:xfrm>
          <a:prstGeom prst="rect">
            <a:avLst/>
          </a:prstGeom>
          <a:noFill/>
          <a:ln>
            <a:noFill/>
          </a:ln>
        </p:spPr>
      </p:pic>
    </p:spTree>
    <p:extLst>
      <p:ext uri="{BB962C8B-B14F-4D97-AF65-F5344CB8AC3E}">
        <p14:creationId xmlns:p14="http://schemas.microsoft.com/office/powerpoint/2010/main" val="9913363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35"/>
        <p:cNvGrpSpPr/>
        <p:nvPr/>
      </p:nvGrpSpPr>
      <p:grpSpPr>
        <a:xfrm>
          <a:off x="0" y="0"/>
          <a:ext cx="0" cy="0"/>
          <a:chOff x="0" y="0"/>
          <a:chExt cx="0" cy="0"/>
        </a:xfrm>
      </p:grpSpPr>
      <p:sp>
        <p:nvSpPr>
          <p:cNvPr id="1436" name="Google Shape;1436;p64"/>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5.</a:t>
            </a:r>
            <a:fld id="{00000000-1234-1234-1234-123412341234}" type="slidenum">
              <a:rPr lang="en-US" sz="1200" b="1">
                <a:solidFill>
                  <a:schemeClr val="lt2"/>
                </a:solidFill>
                <a:latin typeface="Arial"/>
                <a:ea typeface="Arial"/>
                <a:cs typeface="Arial"/>
                <a:sym typeface="Arial"/>
              </a:rPr>
              <a:t>42</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r>
              <a:rPr lang="en-US" dirty="0" smtClean="0"/>
              <a:t> </a:t>
            </a:r>
            <a:r>
              <a:rPr lang="en-US" dirty="0"/>
              <a:t>Classes of Product Ciphers</a:t>
            </a:r>
            <a:br>
              <a:rPr lang="en-US" dirty="0"/>
            </a:br>
            <a:endParaRPr lang="en-IN" dirty="0"/>
          </a:p>
        </p:txBody>
      </p:sp>
      <p:sp>
        <p:nvSpPr>
          <p:cNvPr id="3" name="Text Placeholder 2"/>
          <p:cNvSpPr>
            <a:spLocks noGrp="1"/>
          </p:cNvSpPr>
          <p:nvPr>
            <p:ph type="body" idx="1"/>
          </p:nvPr>
        </p:nvSpPr>
        <p:spPr/>
        <p:txBody>
          <a:bodyPr>
            <a:normAutofit fontScale="92500"/>
          </a:bodyPr>
          <a:lstStyle/>
          <a:p>
            <a:pPr marL="0" lvl="0" indent="0" algn="just">
              <a:spcBef>
                <a:spcPts val="0"/>
              </a:spcBef>
              <a:buNone/>
            </a:pPr>
            <a:r>
              <a:rPr lang="en-US" i="1" dirty="0">
                <a:latin typeface="Fira Sans" panose="020B0604020202020204" charset="0"/>
                <a:ea typeface="Times New Roman"/>
                <a:cs typeface="Times New Roman"/>
                <a:sym typeface="Times New Roman"/>
              </a:rPr>
              <a:t>Modern block ciphers are all product ciphers, but they are divided into two classes. </a:t>
            </a:r>
            <a:endParaRPr lang="en-US" dirty="0">
              <a:latin typeface="Fira Sans" panose="020B0604020202020204" charset="0"/>
            </a:endParaRPr>
          </a:p>
          <a:p>
            <a:pPr marL="0" lvl="0" indent="0" algn="just">
              <a:spcBef>
                <a:spcPts val="0"/>
              </a:spcBef>
              <a:buNone/>
            </a:pPr>
            <a:endParaRPr lang="en-US" i="1" dirty="0">
              <a:latin typeface="Fira Sans" panose="020B0604020202020204" charset="0"/>
              <a:ea typeface="Times New Roman"/>
              <a:cs typeface="Times New Roman"/>
              <a:sym typeface="Times New Roman"/>
            </a:endParaRPr>
          </a:p>
          <a:p>
            <a:pPr marL="514350" lvl="0" indent="-514350" algn="just">
              <a:spcBef>
                <a:spcPts val="0"/>
              </a:spcBef>
              <a:buAutoNum type="arabicPeriod"/>
            </a:pPr>
            <a:r>
              <a:rPr lang="en-US" i="1" dirty="0" err="1" smtClean="0">
                <a:latin typeface="Fira Sans" panose="020B0604020202020204" charset="0"/>
                <a:ea typeface="Times New Roman"/>
                <a:cs typeface="Times New Roman"/>
                <a:sym typeface="Times New Roman"/>
              </a:rPr>
              <a:t>Feistel</a:t>
            </a:r>
            <a:r>
              <a:rPr lang="en-US" i="1" dirty="0" smtClean="0">
                <a:latin typeface="Fira Sans" panose="020B0604020202020204" charset="0"/>
                <a:ea typeface="Times New Roman"/>
                <a:cs typeface="Times New Roman"/>
                <a:sym typeface="Times New Roman"/>
              </a:rPr>
              <a:t> ciphers</a:t>
            </a:r>
          </a:p>
          <a:p>
            <a:pPr marL="971550" lvl="1" indent="-514350" algn="just">
              <a:spcBef>
                <a:spcPts val="0"/>
              </a:spcBef>
            </a:pPr>
            <a:r>
              <a:rPr lang="en-US" dirty="0">
                <a:latin typeface="Fira Sans" panose="020B0604020202020204" charset="0"/>
              </a:rPr>
              <a:t>Uses both invertible and non-invertible </a:t>
            </a:r>
            <a:r>
              <a:rPr lang="en-US" dirty="0" smtClean="0">
                <a:latin typeface="Fira Sans" panose="020B0604020202020204" charset="0"/>
              </a:rPr>
              <a:t>components</a:t>
            </a:r>
            <a:endParaRPr lang="en-US" dirty="0">
              <a:latin typeface="Fira Sans" panose="020B0604020202020204" charset="0"/>
            </a:endParaRPr>
          </a:p>
          <a:p>
            <a:pPr marL="971550" lvl="1" indent="-514350" algn="just">
              <a:spcBef>
                <a:spcPts val="0"/>
              </a:spcBef>
            </a:pPr>
            <a:r>
              <a:rPr lang="en-US" dirty="0">
                <a:latin typeface="Fira Sans" panose="020B0604020202020204" charset="0"/>
              </a:rPr>
              <a:t>A </a:t>
            </a:r>
            <a:r>
              <a:rPr lang="en-US" dirty="0" err="1">
                <a:latin typeface="Fira Sans" panose="020B0604020202020204" charset="0"/>
              </a:rPr>
              <a:t>Feistel</a:t>
            </a:r>
            <a:r>
              <a:rPr lang="en-US" dirty="0">
                <a:latin typeface="Fira Sans" panose="020B0604020202020204" charset="0"/>
              </a:rPr>
              <a:t> cipher can have three types of components: </a:t>
            </a:r>
          </a:p>
          <a:p>
            <a:pPr marL="457200" lvl="1" indent="0" algn="just">
              <a:spcBef>
                <a:spcPts val="0"/>
              </a:spcBef>
              <a:buNone/>
            </a:pPr>
            <a:r>
              <a:rPr lang="en-US" dirty="0">
                <a:latin typeface="Fira Sans" panose="020B0604020202020204" charset="0"/>
              </a:rPr>
              <a:t>self-invertible, invertible, and noninvertible. </a:t>
            </a:r>
          </a:p>
          <a:p>
            <a:pPr marL="971550" lvl="1" indent="-514350" algn="just">
              <a:spcBef>
                <a:spcPts val="0"/>
              </a:spcBef>
            </a:pPr>
            <a:endParaRPr lang="en-US" dirty="0" smtClean="0">
              <a:latin typeface="Fira Sans" panose="020B0604020202020204" charset="0"/>
            </a:endParaRPr>
          </a:p>
          <a:p>
            <a:pPr marL="0" lvl="0" indent="0" algn="just">
              <a:spcBef>
                <a:spcPts val="0"/>
              </a:spcBef>
              <a:buNone/>
            </a:pPr>
            <a:r>
              <a:rPr lang="en-US" i="1" dirty="0" smtClean="0">
                <a:solidFill>
                  <a:schemeClr val="hlink"/>
                </a:solidFill>
                <a:latin typeface="Fira Sans" panose="020B0604020202020204" charset="0"/>
                <a:ea typeface="Times New Roman"/>
                <a:cs typeface="Times New Roman"/>
                <a:sym typeface="Times New Roman"/>
              </a:rPr>
              <a:t>2</a:t>
            </a:r>
            <a:r>
              <a:rPr lang="en-US" i="1" dirty="0">
                <a:solidFill>
                  <a:schemeClr val="hlink"/>
                </a:solidFill>
                <a:latin typeface="Fira Sans" panose="020B0604020202020204" charset="0"/>
                <a:ea typeface="Times New Roman"/>
                <a:cs typeface="Times New Roman"/>
                <a:sym typeface="Times New Roman"/>
              </a:rPr>
              <a:t>.</a:t>
            </a:r>
            <a:r>
              <a:rPr lang="en-US" i="1" dirty="0">
                <a:latin typeface="Fira Sans" panose="020B0604020202020204" charset="0"/>
                <a:ea typeface="Times New Roman"/>
                <a:cs typeface="Times New Roman"/>
                <a:sym typeface="Times New Roman"/>
              </a:rPr>
              <a:t> Non-</a:t>
            </a:r>
            <a:r>
              <a:rPr lang="en-US" i="1" dirty="0" err="1">
                <a:latin typeface="Fira Sans" panose="020B0604020202020204" charset="0"/>
                <a:ea typeface="Times New Roman"/>
                <a:cs typeface="Times New Roman"/>
                <a:sym typeface="Times New Roman"/>
              </a:rPr>
              <a:t>Feistel</a:t>
            </a:r>
            <a:r>
              <a:rPr lang="en-US" i="1" dirty="0">
                <a:latin typeface="Fira Sans" panose="020B0604020202020204" charset="0"/>
                <a:ea typeface="Times New Roman"/>
                <a:cs typeface="Times New Roman"/>
                <a:sym typeface="Times New Roman"/>
              </a:rPr>
              <a:t> </a:t>
            </a:r>
            <a:r>
              <a:rPr lang="en-US" i="1" dirty="0" smtClean="0">
                <a:latin typeface="Fira Sans" panose="020B0604020202020204" charset="0"/>
                <a:ea typeface="Times New Roman"/>
                <a:cs typeface="Times New Roman"/>
                <a:sym typeface="Times New Roman"/>
              </a:rPr>
              <a:t>ciphers</a:t>
            </a:r>
          </a:p>
          <a:p>
            <a:pPr lvl="1" indent="-457200" algn="just">
              <a:spcBef>
                <a:spcPts val="0"/>
              </a:spcBef>
            </a:pPr>
            <a:r>
              <a:rPr lang="en-US" dirty="0">
                <a:latin typeface="Fira Sans" panose="020B0604020202020204" charset="0"/>
              </a:rPr>
              <a:t>Non-</a:t>
            </a:r>
            <a:r>
              <a:rPr lang="en-US" dirty="0" err="1">
                <a:latin typeface="Fira Sans" panose="020B0604020202020204" charset="0"/>
              </a:rPr>
              <a:t>Feistel</a:t>
            </a:r>
            <a:r>
              <a:rPr lang="en-US" dirty="0">
                <a:latin typeface="Fira Sans" panose="020B0604020202020204" charset="0"/>
              </a:rPr>
              <a:t> ciphers-Uses only invertible </a:t>
            </a:r>
            <a:r>
              <a:rPr lang="en-US" dirty="0" smtClean="0">
                <a:latin typeface="Fira Sans" panose="020B0604020202020204" charset="0"/>
              </a:rPr>
              <a:t>components</a:t>
            </a:r>
          </a:p>
          <a:p>
            <a:pPr lvl="1" indent="-457200" algn="just">
              <a:spcBef>
                <a:spcPts val="0"/>
              </a:spcBef>
            </a:pPr>
            <a:r>
              <a:rPr lang="en-US" dirty="0">
                <a:latin typeface="Fira Sans" panose="020B0604020202020204" charset="0"/>
              </a:rPr>
              <a:t>A non-</a:t>
            </a:r>
            <a:r>
              <a:rPr lang="en-US" dirty="0" err="1">
                <a:latin typeface="Fira Sans" panose="020B0604020202020204" charset="0"/>
              </a:rPr>
              <a:t>Feistel</a:t>
            </a:r>
            <a:r>
              <a:rPr lang="en-US" dirty="0">
                <a:latin typeface="Fira Sans" panose="020B0604020202020204" charset="0"/>
              </a:rPr>
              <a:t> cipher uses only invertible components. </a:t>
            </a:r>
            <a:endParaRPr lang="en-US" dirty="0" smtClean="0">
              <a:latin typeface="Fira Sans" panose="020B0604020202020204" charset="0"/>
            </a:endParaRPr>
          </a:p>
          <a:p>
            <a:pPr lvl="1" indent="-457200" algn="just">
              <a:spcBef>
                <a:spcPts val="0"/>
              </a:spcBef>
            </a:pPr>
            <a:r>
              <a:rPr lang="en-US" dirty="0" smtClean="0">
                <a:latin typeface="Fira Sans" panose="020B0604020202020204" charset="0"/>
              </a:rPr>
              <a:t>A </a:t>
            </a:r>
            <a:r>
              <a:rPr lang="en-US" dirty="0">
                <a:latin typeface="Fira Sans" panose="020B0604020202020204" charset="0"/>
              </a:rPr>
              <a:t>component in the encryption cipher has the corresponding component in the decryption cipher. </a:t>
            </a:r>
          </a:p>
          <a:p>
            <a:pPr marL="0" lvl="0" indent="0" algn="just">
              <a:spcBef>
                <a:spcPts val="0"/>
              </a:spcBef>
              <a:buNone/>
            </a:pPr>
            <a:endParaRPr lang="en-US" dirty="0">
              <a:latin typeface="Fira Sans" panose="020B0604020202020204" charset="0"/>
            </a:endParaRPr>
          </a:p>
          <a:p>
            <a:endParaRPr lang="en-IN" dirty="0"/>
          </a:p>
        </p:txBody>
      </p:sp>
      <p:sp>
        <p:nvSpPr>
          <p:cNvPr id="1442" name="Google Shape;1442;p64"/>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Tree>
    <p:extLst>
      <p:ext uri="{BB962C8B-B14F-4D97-AF65-F5344CB8AC3E}">
        <p14:creationId xmlns:p14="http://schemas.microsoft.com/office/powerpoint/2010/main" val="120552569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smtClean="0">
                <a:solidFill>
                  <a:srgbClr val="C00000"/>
                </a:solidFill>
                <a:latin typeface="Marcellus" panose="020B0604020202020204" charset="0"/>
              </a:rPr>
              <a:t>Data Encryption Standard</a:t>
            </a:r>
            <a:endParaRPr lang="en-IN" dirty="0">
              <a:solidFill>
                <a:srgbClr val="C00000"/>
              </a:solidFill>
              <a:latin typeface="Marcellus" panose="020B0604020202020204" charset="0"/>
            </a:endParaRPr>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301693497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History of DES</a:t>
            </a:r>
            <a:endParaRPr lang="en-IN" dirty="0"/>
          </a:p>
        </p:txBody>
      </p:sp>
      <p:sp>
        <p:nvSpPr>
          <p:cNvPr id="3" name="Text Placeholder 2"/>
          <p:cNvSpPr>
            <a:spLocks noGrp="1"/>
          </p:cNvSpPr>
          <p:nvPr>
            <p:ph type="body" idx="1"/>
          </p:nvPr>
        </p:nvSpPr>
        <p:spPr/>
        <p:txBody>
          <a:bodyPr>
            <a:normAutofit fontScale="85000" lnSpcReduction="20000"/>
          </a:bodyPr>
          <a:lstStyle/>
          <a:p>
            <a:r>
              <a:rPr lang="en-US" dirty="0"/>
              <a:t>In 1973, NIST published a request for proposals for a national symmetric-key cryptosystem. </a:t>
            </a:r>
            <a:endParaRPr lang="en-US" dirty="0" smtClean="0"/>
          </a:p>
          <a:p>
            <a:r>
              <a:rPr lang="en-US" dirty="0" smtClean="0"/>
              <a:t>A </a:t>
            </a:r>
            <a:r>
              <a:rPr lang="en-US" dirty="0"/>
              <a:t>proposal from IBM, a modification of a project called Lucifer, was accepted as DES. </a:t>
            </a:r>
            <a:endParaRPr lang="en-US" dirty="0" smtClean="0"/>
          </a:p>
          <a:p>
            <a:r>
              <a:rPr lang="en-US" dirty="0" smtClean="0"/>
              <a:t>DES </a:t>
            </a:r>
            <a:r>
              <a:rPr lang="en-US" dirty="0"/>
              <a:t>was published in the Federal Register in March 1975 as a draft of the Federal Information Processing Standard (FIPS</a:t>
            </a:r>
            <a:r>
              <a:rPr lang="en-US" dirty="0" smtClean="0"/>
              <a:t>).</a:t>
            </a:r>
          </a:p>
          <a:p>
            <a:r>
              <a:rPr lang="en-US" dirty="0"/>
              <a:t>Finally published as FIPS 46 in the Federal Register in January 1977</a:t>
            </a:r>
          </a:p>
          <a:p>
            <a:r>
              <a:rPr lang="en-US" dirty="0" smtClean="0"/>
              <a:t>A </a:t>
            </a:r>
            <a:r>
              <a:rPr lang="en-US" dirty="0"/>
              <a:t>new standard FIPS 46-3 recommended the use of  </a:t>
            </a:r>
            <a:r>
              <a:rPr lang="en-US" u="sng" dirty="0"/>
              <a:t>Triple DES- </a:t>
            </a:r>
            <a:r>
              <a:rPr lang="en-US" dirty="0"/>
              <a:t>repeated DES cipher three times</a:t>
            </a:r>
          </a:p>
          <a:p>
            <a:r>
              <a:rPr lang="en-US" u="sng" dirty="0" smtClean="0"/>
              <a:t>AES</a:t>
            </a:r>
            <a:r>
              <a:rPr lang="en-US" dirty="0"/>
              <a:t>, The recent standard is supposed to replace DES in the long run</a:t>
            </a:r>
          </a:p>
          <a:p>
            <a:endParaRPr lang="en-US" dirty="0" smtClean="0"/>
          </a:p>
          <a:p>
            <a:endParaRPr lang="en-IN" dirty="0"/>
          </a:p>
        </p:txBody>
      </p:sp>
    </p:spTree>
    <p:extLst>
      <p:ext uri="{BB962C8B-B14F-4D97-AF65-F5344CB8AC3E}">
        <p14:creationId xmlns:p14="http://schemas.microsoft.com/office/powerpoint/2010/main" val="336177821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826"/>
        <p:cNvGrpSpPr/>
        <p:nvPr/>
      </p:nvGrpSpPr>
      <p:grpSpPr>
        <a:xfrm>
          <a:off x="0" y="0"/>
          <a:ext cx="0" cy="0"/>
          <a:chOff x="0" y="0"/>
          <a:chExt cx="0" cy="0"/>
        </a:xfrm>
      </p:grpSpPr>
      <p:sp>
        <p:nvSpPr>
          <p:cNvPr id="1827" name="Google Shape;1827;p90"/>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45</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r>
              <a:rPr lang="en-US" dirty="0"/>
              <a:t>DES -</a:t>
            </a:r>
            <a:r>
              <a:rPr lang="en-US" dirty="0" smtClean="0"/>
              <a:t> </a:t>
            </a:r>
            <a:r>
              <a:rPr lang="en-US" dirty="0"/>
              <a:t>a block cipher</a:t>
            </a:r>
            <a:endParaRPr lang="en-IN" dirty="0"/>
          </a:p>
        </p:txBody>
      </p:sp>
      <p:sp>
        <p:nvSpPr>
          <p:cNvPr id="3" name="Text Placeholder 2"/>
          <p:cNvSpPr>
            <a:spLocks noGrp="1"/>
          </p:cNvSpPr>
          <p:nvPr>
            <p:ph type="body" idx="1"/>
          </p:nvPr>
        </p:nvSpPr>
        <p:spPr/>
        <p:txBody>
          <a:bodyPr/>
          <a:lstStyle/>
          <a:p>
            <a:endParaRPr lang="en-IN"/>
          </a:p>
        </p:txBody>
      </p:sp>
      <p:sp>
        <p:nvSpPr>
          <p:cNvPr id="1837" name="Google Shape;1837;p90"/>
          <p:cNvSpPr txBox="1"/>
          <p:nvPr/>
        </p:nvSpPr>
        <p:spPr>
          <a:xfrm>
            <a:off x="1731963" y="2057400"/>
            <a:ext cx="5519737"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dirty="0" smtClean="0">
                <a:solidFill>
                  <a:schemeClr val="dk1"/>
                </a:solidFill>
                <a:latin typeface="Times New Roman"/>
                <a:ea typeface="Times New Roman"/>
                <a:cs typeface="Times New Roman"/>
                <a:sym typeface="Times New Roman"/>
              </a:rPr>
              <a:t>Encryption </a:t>
            </a:r>
            <a:r>
              <a:rPr lang="en-US" sz="2000" b="1" i="1" dirty="0">
                <a:solidFill>
                  <a:schemeClr val="dk1"/>
                </a:solidFill>
                <a:latin typeface="Times New Roman"/>
                <a:ea typeface="Times New Roman"/>
                <a:cs typeface="Times New Roman"/>
                <a:sym typeface="Times New Roman"/>
              </a:rPr>
              <a:t>and decryption with DES</a:t>
            </a:r>
            <a:endParaRPr dirty="0"/>
          </a:p>
        </p:txBody>
      </p:sp>
      <p:pic>
        <p:nvPicPr>
          <p:cNvPr id="1838" name="Google Shape;1838;p90"/>
          <p:cNvPicPr preferRelativeResize="0"/>
          <p:nvPr/>
        </p:nvPicPr>
        <p:blipFill rotWithShape="1">
          <a:blip r:embed="rId3">
            <a:alphaModFix/>
          </a:blip>
          <a:srcRect/>
          <a:stretch/>
        </p:blipFill>
        <p:spPr>
          <a:xfrm>
            <a:off x="575828" y="2543175"/>
            <a:ext cx="8391525" cy="2752725"/>
          </a:xfrm>
          <a:prstGeom prst="rect">
            <a:avLst/>
          </a:prstGeom>
          <a:noFill/>
          <a:ln>
            <a:noFill/>
          </a:ln>
        </p:spPr>
      </p:pic>
    </p:spTree>
    <p:extLst>
      <p:ext uri="{BB962C8B-B14F-4D97-AF65-F5344CB8AC3E}">
        <p14:creationId xmlns:p14="http://schemas.microsoft.com/office/powerpoint/2010/main" val="312541086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DES Structure</a:t>
            </a:r>
            <a:endParaRPr lang="en-IN" dirty="0"/>
          </a:p>
        </p:txBody>
      </p:sp>
      <p:sp>
        <p:nvSpPr>
          <p:cNvPr id="3" name="Text Placeholder 2"/>
          <p:cNvSpPr>
            <a:spLocks noGrp="1"/>
          </p:cNvSpPr>
          <p:nvPr>
            <p:ph type="body" idx="1"/>
          </p:nvPr>
        </p:nvSpPr>
        <p:spPr>
          <a:xfrm>
            <a:off x="585704" y="940165"/>
            <a:ext cx="8229600" cy="4525963"/>
          </a:xfrm>
        </p:spPr>
        <p:txBody>
          <a:bodyPr/>
          <a:lstStyle/>
          <a:p>
            <a:r>
              <a:rPr lang="en-US" dirty="0"/>
              <a:t>The encryption process is made of two permutations (P-boxes), which we call initial and final permutations, and sixteen </a:t>
            </a:r>
            <a:r>
              <a:rPr lang="en-US" dirty="0" err="1"/>
              <a:t>Feistel</a:t>
            </a:r>
            <a:r>
              <a:rPr lang="en-US" dirty="0"/>
              <a:t> rounds. </a:t>
            </a:r>
          </a:p>
          <a:p>
            <a:endParaRPr lang="en-IN" dirty="0"/>
          </a:p>
        </p:txBody>
      </p:sp>
      <p:pic>
        <p:nvPicPr>
          <p:cNvPr id="4" name="Google Shape;1848;p91"/>
          <p:cNvPicPr preferRelativeResize="0"/>
          <p:nvPr/>
        </p:nvPicPr>
        <p:blipFill rotWithShape="1">
          <a:blip r:embed="rId2">
            <a:alphaModFix/>
          </a:blip>
          <a:srcRect/>
          <a:stretch/>
        </p:blipFill>
        <p:spPr>
          <a:xfrm>
            <a:off x="2457500" y="2500845"/>
            <a:ext cx="6208517" cy="3754482"/>
          </a:xfrm>
          <a:prstGeom prst="rect">
            <a:avLst/>
          </a:prstGeom>
          <a:noFill/>
          <a:ln>
            <a:noFill/>
          </a:ln>
        </p:spPr>
      </p:pic>
    </p:spTree>
    <p:extLst>
      <p:ext uri="{BB962C8B-B14F-4D97-AF65-F5344CB8AC3E}">
        <p14:creationId xmlns:p14="http://schemas.microsoft.com/office/powerpoint/2010/main" val="243709699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DES Keys and General structure</a:t>
            </a:r>
            <a:endParaRPr lang="en-IN" dirty="0"/>
          </a:p>
        </p:txBody>
      </p:sp>
      <p:sp>
        <p:nvSpPr>
          <p:cNvPr id="3" name="Text Placeholder 2"/>
          <p:cNvSpPr>
            <a:spLocks noGrp="1"/>
          </p:cNvSpPr>
          <p:nvPr>
            <p:ph type="body" idx="1"/>
          </p:nvPr>
        </p:nvSpPr>
        <p:spPr>
          <a:xfrm>
            <a:off x="648050" y="877819"/>
            <a:ext cx="8229600" cy="4525963"/>
          </a:xfrm>
        </p:spPr>
        <p:txBody>
          <a:bodyPr/>
          <a:lstStyle/>
          <a:p>
            <a:r>
              <a:rPr lang="en-US" dirty="0"/>
              <a:t>Each round uses a different 48 bit round key generated from the cipher key according to a predefined algorithm</a:t>
            </a:r>
          </a:p>
          <a:p>
            <a:endParaRPr lang="en-US" dirty="0"/>
          </a:p>
          <a:p>
            <a:endParaRPr lang="en-US" dirty="0"/>
          </a:p>
          <a:p>
            <a:endParaRPr lang="en-IN" dirty="0"/>
          </a:p>
        </p:txBody>
      </p:sp>
      <p:pic>
        <p:nvPicPr>
          <p:cNvPr id="4" name="Google Shape;1858;p92"/>
          <p:cNvPicPr preferRelativeResize="0"/>
          <p:nvPr/>
        </p:nvPicPr>
        <p:blipFill rotWithShape="1">
          <a:blip r:embed="rId2">
            <a:alphaModFix/>
          </a:blip>
          <a:srcRect/>
          <a:stretch/>
        </p:blipFill>
        <p:spPr>
          <a:xfrm>
            <a:off x="1834045" y="2324200"/>
            <a:ext cx="5400600" cy="3318064"/>
          </a:xfrm>
          <a:prstGeom prst="rect">
            <a:avLst/>
          </a:prstGeom>
          <a:noFill/>
          <a:ln>
            <a:noFill/>
          </a:ln>
        </p:spPr>
      </p:pic>
      <p:sp>
        <p:nvSpPr>
          <p:cNvPr id="5" name="Google Shape;1868;p93"/>
          <p:cNvSpPr txBox="1"/>
          <p:nvPr/>
        </p:nvSpPr>
        <p:spPr>
          <a:xfrm>
            <a:off x="2363438" y="5760026"/>
            <a:ext cx="4341813"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i="1" dirty="0" smtClean="0">
                <a:solidFill>
                  <a:schemeClr val="dk1"/>
                </a:solidFill>
                <a:latin typeface="Fira Sans" panose="020B0604020202020204" charset="0"/>
                <a:ea typeface="Times New Roman"/>
                <a:cs typeface="Times New Roman"/>
                <a:sym typeface="Times New Roman"/>
              </a:rPr>
              <a:t>Fig: General </a:t>
            </a:r>
            <a:r>
              <a:rPr lang="en-US" sz="2000" i="1" dirty="0">
                <a:solidFill>
                  <a:schemeClr val="dk1"/>
                </a:solidFill>
                <a:latin typeface="Fira Sans" panose="020B0604020202020204" charset="0"/>
                <a:ea typeface="Times New Roman"/>
                <a:cs typeface="Times New Roman"/>
                <a:sym typeface="Times New Roman"/>
              </a:rPr>
              <a:t>structure of DES</a:t>
            </a:r>
            <a:endParaRPr dirty="0">
              <a:latin typeface="Fira Sans" panose="020B0604020202020204" charset="0"/>
            </a:endParaRPr>
          </a:p>
        </p:txBody>
      </p:sp>
    </p:spTree>
    <p:extLst>
      <p:ext uri="{BB962C8B-B14F-4D97-AF65-F5344CB8AC3E}">
        <p14:creationId xmlns:p14="http://schemas.microsoft.com/office/powerpoint/2010/main" val="396550652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DES Rounds</a:t>
            </a:r>
            <a:endParaRPr lang="en-IN" dirty="0"/>
          </a:p>
        </p:txBody>
      </p:sp>
      <p:sp>
        <p:nvSpPr>
          <p:cNvPr id="3" name="Text Placeholder 2"/>
          <p:cNvSpPr>
            <a:spLocks noGrp="1"/>
          </p:cNvSpPr>
          <p:nvPr>
            <p:ph type="body" idx="1"/>
          </p:nvPr>
        </p:nvSpPr>
        <p:spPr>
          <a:xfrm>
            <a:off x="5320144" y="1324629"/>
            <a:ext cx="3609459" cy="4525963"/>
          </a:xfrm>
        </p:spPr>
        <p:txBody>
          <a:bodyPr/>
          <a:lstStyle/>
          <a:p>
            <a:pPr lvl="0" indent="-457200" algn="just">
              <a:spcBef>
                <a:spcPts val="0"/>
              </a:spcBef>
            </a:pPr>
            <a:r>
              <a:rPr lang="en-US" sz="2400" i="1" dirty="0">
                <a:latin typeface="Fira Sans" panose="020B0604020202020204" charset="0"/>
                <a:ea typeface="Times New Roman"/>
                <a:cs typeface="Times New Roman"/>
                <a:sym typeface="Times New Roman"/>
              </a:rPr>
              <a:t>Swapper is invertible</a:t>
            </a:r>
            <a:endParaRPr lang="en-US" sz="2400" dirty="0">
              <a:latin typeface="Fira Sans" panose="020B0604020202020204" charset="0"/>
            </a:endParaRPr>
          </a:p>
          <a:p>
            <a:pPr lvl="0" indent="-457200" algn="just">
              <a:spcBef>
                <a:spcPts val="0"/>
              </a:spcBef>
            </a:pPr>
            <a:r>
              <a:rPr lang="en-US" sz="2400" i="1" dirty="0">
                <a:latin typeface="Fira Sans" panose="020B0604020202020204" charset="0"/>
                <a:ea typeface="Times New Roman"/>
                <a:cs typeface="Times New Roman"/>
                <a:sym typeface="Times New Roman"/>
              </a:rPr>
              <a:t>Mixer is invertible because of EXOR operation</a:t>
            </a:r>
            <a:endParaRPr lang="en-US" sz="2400" dirty="0">
              <a:latin typeface="Fira Sans" panose="020B0604020202020204" charset="0"/>
            </a:endParaRPr>
          </a:p>
          <a:p>
            <a:pPr lvl="0" indent="-457200" algn="just">
              <a:spcBef>
                <a:spcPts val="0"/>
              </a:spcBef>
            </a:pPr>
            <a:r>
              <a:rPr lang="en-US" sz="2400" i="1" dirty="0">
                <a:latin typeface="Fira Sans" panose="020B0604020202020204" charset="0"/>
                <a:ea typeface="Times New Roman"/>
                <a:cs typeface="Times New Roman"/>
                <a:sym typeface="Times New Roman"/>
              </a:rPr>
              <a:t>All non invertible elements are collected inside the function f</a:t>
            </a:r>
          </a:p>
          <a:p>
            <a:endParaRPr lang="en-IN" dirty="0"/>
          </a:p>
        </p:txBody>
      </p:sp>
      <p:pic>
        <p:nvPicPr>
          <p:cNvPr id="4" name="Google Shape;2048;p103"/>
          <p:cNvPicPr preferRelativeResize="0"/>
          <p:nvPr/>
        </p:nvPicPr>
        <p:blipFill rotWithShape="1">
          <a:blip r:embed="rId2">
            <a:alphaModFix/>
          </a:blip>
          <a:srcRect/>
          <a:stretch/>
        </p:blipFill>
        <p:spPr>
          <a:xfrm>
            <a:off x="903288" y="1182758"/>
            <a:ext cx="4278312" cy="4154705"/>
          </a:xfrm>
          <a:prstGeom prst="rect">
            <a:avLst/>
          </a:prstGeom>
          <a:noFill/>
          <a:ln>
            <a:noFill/>
          </a:ln>
        </p:spPr>
      </p:pic>
    </p:spTree>
    <p:extLst>
      <p:ext uri="{BB962C8B-B14F-4D97-AF65-F5344CB8AC3E}">
        <p14:creationId xmlns:p14="http://schemas.microsoft.com/office/powerpoint/2010/main" val="383284364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52"/>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 round in DES</a:t>
            </a:r>
            <a:endParaRPr lang="en-IN" dirty="0"/>
          </a:p>
        </p:txBody>
      </p:sp>
      <p:sp>
        <p:nvSpPr>
          <p:cNvPr id="3" name="Text Placeholder 2"/>
          <p:cNvSpPr>
            <a:spLocks noGrp="1"/>
          </p:cNvSpPr>
          <p:nvPr>
            <p:ph type="body" idx="1"/>
          </p:nvPr>
        </p:nvSpPr>
        <p:spPr/>
        <p:txBody>
          <a:bodyPr/>
          <a:lstStyle/>
          <a:p>
            <a:endParaRPr lang="en-IN" dirty="0"/>
          </a:p>
        </p:txBody>
      </p:sp>
      <p:sp>
        <p:nvSpPr>
          <p:cNvPr id="2061" name="Google Shape;2061;p104"/>
          <p:cNvSpPr/>
          <p:nvPr/>
        </p:nvSpPr>
        <p:spPr>
          <a:xfrm>
            <a:off x="228600" y="774267"/>
            <a:ext cx="8686800" cy="954067"/>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1" dirty="0" smtClean="0">
                <a:solidFill>
                  <a:schemeClr val="dk1"/>
                </a:solidFill>
                <a:latin typeface="Times New Roman"/>
                <a:ea typeface="Times New Roman"/>
                <a:cs typeface="Times New Roman"/>
                <a:sym typeface="Times New Roman"/>
              </a:rPr>
              <a:t>The </a:t>
            </a:r>
            <a:r>
              <a:rPr lang="en-US" sz="2800" b="1" i="1" dirty="0">
                <a:solidFill>
                  <a:schemeClr val="dk1"/>
                </a:solidFill>
                <a:latin typeface="Times New Roman"/>
                <a:ea typeface="Times New Roman"/>
                <a:cs typeface="Times New Roman"/>
                <a:sym typeface="Times New Roman"/>
              </a:rPr>
              <a:t>DES function applies a 48-bit key to the rightmost 32 bits to produce a 32-bit output. </a:t>
            </a:r>
            <a:endParaRPr dirty="0"/>
          </a:p>
        </p:txBody>
      </p:sp>
      <p:pic>
        <p:nvPicPr>
          <p:cNvPr id="9218" name="Picture 2" descr="Solved This problem provides a numerical example of part of | Chegg.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370" y="1728334"/>
            <a:ext cx="6390412" cy="49320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4819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88"/>
        <p:cNvGrpSpPr/>
        <p:nvPr/>
      </p:nvGrpSpPr>
      <p:grpSpPr>
        <a:xfrm>
          <a:off x="0" y="0"/>
          <a:ext cx="0" cy="0"/>
          <a:chOff x="0" y="0"/>
          <a:chExt cx="0" cy="0"/>
        </a:xfrm>
      </p:grpSpPr>
      <p:sp>
        <p:nvSpPr>
          <p:cNvPr id="2089" name="Google Shape;2089;p106"/>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50</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pPr lvl="0"/>
            <a:r>
              <a:rPr lang="en-US" dirty="0">
                <a:latin typeface="Marcellus" panose="020B0604020202020204" charset="0"/>
                <a:ea typeface="Times New Roman"/>
                <a:cs typeface="Times New Roman"/>
                <a:sym typeface="Times New Roman"/>
              </a:rPr>
              <a:t>Expansion </a:t>
            </a:r>
            <a:r>
              <a:rPr lang="en-US" dirty="0" smtClean="0">
                <a:latin typeface="Marcellus" panose="020B0604020202020204" charset="0"/>
                <a:ea typeface="Times New Roman"/>
                <a:cs typeface="Times New Roman"/>
                <a:sym typeface="Times New Roman"/>
              </a:rPr>
              <a:t>P-box</a:t>
            </a:r>
            <a:endParaRPr lang="en-IN" dirty="0">
              <a:latin typeface="Marcellus" panose="020B0604020202020204" charset="0"/>
            </a:endParaRPr>
          </a:p>
        </p:txBody>
      </p:sp>
      <p:sp>
        <p:nvSpPr>
          <p:cNvPr id="3" name="Text Placeholder 2"/>
          <p:cNvSpPr>
            <a:spLocks noGrp="1"/>
          </p:cNvSpPr>
          <p:nvPr>
            <p:ph type="body" idx="1"/>
          </p:nvPr>
        </p:nvSpPr>
        <p:spPr/>
        <p:txBody>
          <a:bodyPr/>
          <a:lstStyle/>
          <a:p>
            <a:endParaRPr lang="en-IN"/>
          </a:p>
        </p:txBody>
      </p:sp>
      <p:sp>
        <p:nvSpPr>
          <p:cNvPr id="2095" name="Google Shape;2095;p106"/>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097" name="Google Shape;2097;p106"/>
          <p:cNvSpPr/>
          <p:nvPr/>
        </p:nvSpPr>
        <p:spPr>
          <a:xfrm>
            <a:off x="457200" y="2150178"/>
            <a:ext cx="8686800" cy="1126422"/>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lnSpc>
                <a:spcPct val="120000"/>
              </a:lnSpc>
              <a:spcBef>
                <a:spcPts val="0"/>
              </a:spcBef>
              <a:spcAft>
                <a:spcPts val="0"/>
              </a:spcAft>
              <a:buNone/>
            </a:pPr>
            <a:r>
              <a:rPr lang="en-US" sz="2800" b="1" i="1" dirty="0" smtClean="0">
                <a:solidFill>
                  <a:schemeClr val="dk1"/>
                </a:solidFill>
                <a:latin typeface="Times New Roman"/>
                <a:ea typeface="Times New Roman"/>
                <a:cs typeface="Times New Roman"/>
                <a:sym typeface="Times New Roman"/>
              </a:rPr>
              <a:t>Since </a:t>
            </a:r>
            <a:r>
              <a:rPr lang="en-US" sz="2800" b="1" i="1" dirty="0">
                <a:solidFill>
                  <a:schemeClr val="dk1"/>
                </a:solidFill>
                <a:latin typeface="Times New Roman"/>
                <a:ea typeface="Times New Roman"/>
                <a:cs typeface="Times New Roman"/>
                <a:sym typeface="Times New Roman"/>
              </a:rPr>
              <a:t>R</a:t>
            </a:r>
            <a:r>
              <a:rPr lang="en-US" sz="2800" b="1" i="1" baseline="-25000" dirty="0">
                <a:solidFill>
                  <a:schemeClr val="dk1"/>
                </a:solidFill>
                <a:latin typeface="Times New Roman"/>
                <a:ea typeface="Times New Roman"/>
                <a:cs typeface="Times New Roman"/>
                <a:sym typeface="Times New Roman"/>
              </a:rPr>
              <a:t>I−1</a:t>
            </a:r>
            <a:r>
              <a:rPr lang="en-US" sz="2800" b="1" i="1" dirty="0">
                <a:solidFill>
                  <a:schemeClr val="dk1"/>
                </a:solidFill>
                <a:latin typeface="Times New Roman"/>
                <a:ea typeface="Times New Roman"/>
                <a:cs typeface="Times New Roman"/>
                <a:sym typeface="Times New Roman"/>
              </a:rPr>
              <a:t> is a 32-bit input and K</a:t>
            </a:r>
            <a:r>
              <a:rPr lang="en-US" sz="2800" b="1" i="1" baseline="-25000" dirty="0">
                <a:solidFill>
                  <a:schemeClr val="dk1"/>
                </a:solidFill>
                <a:latin typeface="Times New Roman"/>
                <a:ea typeface="Times New Roman"/>
                <a:cs typeface="Times New Roman"/>
                <a:sym typeface="Times New Roman"/>
              </a:rPr>
              <a:t>I</a:t>
            </a:r>
            <a:r>
              <a:rPr lang="en-US" sz="2800" b="1" i="1" dirty="0">
                <a:solidFill>
                  <a:schemeClr val="dk1"/>
                </a:solidFill>
                <a:latin typeface="Times New Roman"/>
                <a:ea typeface="Times New Roman"/>
                <a:cs typeface="Times New Roman"/>
                <a:sym typeface="Times New Roman"/>
              </a:rPr>
              <a:t> is a 48-bit key, we first need to expand R</a:t>
            </a:r>
            <a:r>
              <a:rPr lang="en-US" sz="2800" b="1" i="1" baseline="-25000" dirty="0">
                <a:solidFill>
                  <a:schemeClr val="dk1"/>
                </a:solidFill>
                <a:latin typeface="Times New Roman"/>
                <a:ea typeface="Times New Roman"/>
                <a:cs typeface="Times New Roman"/>
                <a:sym typeface="Times New Roman"/>
              </a:rPr>
              <a:t>I−1</a:t>
            </a:r>
            <a:r>
              <a:rPr lang="en-US" sz="2800" b="1" i="1" dirty="0">
                <a:solidFill>
                  <a:schemeClr val="dk1"/>
                </a:solidFill>
                <a:latin typeface="Times New Roman"/>
                <a:ea typeface="Times New Roman"/>
                <a:cs typeface="Times New Roman"/>
                <a:sym typeface="Times New Roman"/>
              </a:rPr>
              <a:t> to 48 bits. </a:t>
            </a:r>
            <a:endParaRPr dirty="0"/>
          </a:p>
        </p:txBody>
      </p:sp>
      <p:pic>
        <p:nvPicPr>
          <p:cNvPr id="2099" name="Google Shape;2099;p106"/>
          <p:cNvPicPr preferRelativeResize="0"/>
          <p:nvPr/>
        </p:nvPicPr>
        <p:blipFill rotWithShape="1">
          <a:blip r:embed="rId3">
            <a:alphaModFix/>
          </a:blip>
          <a:srcRect/>
          <a:stretch/>
        </p:blipFill>
        <p:spPr>
          <a:xfrm>
            <a:off x="304800" y="4049713"/>
            <a:ext cx="8610600" cy="1284287"/>
          </a:xfrm>
          <a:prstGeom prst="rect">
            <a:avLst/>
          </a:prstGeom>
          <a:noFill/>
          <a:ln>
            <a:noFill/>
          </a:ln>
        </p:spPr>
      </p:pic>
      <p:sp>
        <p:nvSpPr>
          <p:cNvPr id="2100" name="Google Shape;2100;p106"/>
          <p:cNvSpPr txBox="1"/>
          <p:nvPr/>
        </p:nvSpPr>
        <p:spPr>
          <a:xfrm>
            <a:off x="2976563" y="3276600"/>
            <a:ext cx="4129087"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folHlink"/>
                </a:solidFill>
                <a:latin typeface="Times New Roman"/>
                <a:ea typeface="Times New Roman"/>
                <a:cs typeface="Times New Roman"/>
                <a:sym typeface="Times New Roman"/>
              </a:rPr>
              <a:t>Figure 6.6  </a:t>
            </a:r>
            <a:r>
              <a:rPr lang="en-US" sz="2000" b="1" i="1">
                <a:solidFill>
                  <a:schemeClr val="dk1"/>
                </a:solidFill>
                <a:latin typeface="Times New Roman"/>
                <a:ea typeface="Times New Roman"/>
                <a:cs typeface="Times New Roman"/>
                <a:sym typeface="Times New Roman"/>
              </a:rPr>
              <a:t>Expansion permutation</a:t>
            </a:r>
            <a:endParaRPr/>
          </a:p>
        </p:txBody>
      </p:sp>
    </p:spTree>
    <p:extLst>
      <p:ext uri="{BB962C8B-B14F-4D97-AF65-F5344CB8AC3E}">
        <p14:creationId xmlns:p14="http://schemas.microsoft.com/office/powerpoint/2010/main" val="270456538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20"/>
        <p:cNvGrpSpPr/>
        <p:nvPr/>
      </p:nvGrpSpPr>
      <p:grpSpPr>
        <a:xfrm>
          <a:off x="0" y="0"/>
          <a:ext cx="0" cy="0"/>
          <a:chOff x="0" y="0"/>
          <a:chExt cx="0" cy="0"/>
        </a:xfrm>
      </p:grpSpPr>
      <p:sp>
        <p:nvSpPr>
          <p:cNvPr id="2121" name="Google Shape;2121;p108"/>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51</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pPr lvl="0"/>
            <a:r>
              <a:rPr lang="en-US" dirty="0">
                <a:latin typeface="Marcellus" panose="020B0604020202020204" charset="0"/>
                <a:ea typeface="Times New Roman"/>
                <a:cs typeface="Times New Roman"/>
                <a:sym typeface="Times New Roman"/>
              </a:rPr>
              <a:t>Expansion </a:t>
            </a:r>
            <a:r>
              <a:rPr lang="en-US" dirty="0" smtClean="0">
                <a:latin typeface="Marcellus" panose="020B0604020202020204" charset="0"/>
                <a:ea typeface="Times New Roman"/>
                <a:cs typeface="Times New Roman"/>
                <a:sym typeface="Times New Roman"/>
              </a:rPr>
              <a:t>P-box</a:t>
            </a:r>
            <a:endParaRPr lang="en-IN" dirty="0">
              <a:latin typeface="Marcellus" panose="020B0604020202020204" charset="0"/>
            </a:endParaRPr>
          </a:p>
        </p:txBody>
      </p:sp>
      <p:sp>
        <p:nvSpPr>
          <p:cNvPr id="3" name="Text Placeholder 2"/>
          <p:cNvSpPr>
            <a:spLocks noGrp="1"/>
          </p:cNvSpPr>
          <p:nvPr>
            <p:ph type="body" idx="1"/>
          </p:nvPr>
        </p:nvSpPr>
        <p:spPr/>
        <p:txBody>
          <a:bodyPr/>
          <a:lstStyle/>
          <a:p>
            <a:pPr indent="-457200" algn="just">
              <a:lnSpc>
                <a:spcPct val="120000"/>
              </a:lnSpc>
              <a:spcBef>
                <a:spcPts val="0"/>
              </a:spcBef>
            </a:pPr>
            <a:r>
              <a:rPr lang="en-US" b="1" i="1" dirty="0">
                <a:latin typeface="Times New Roman"/>
                <a:ea typeface="Times New Roman"/>
                <a:cs typeface="Times New Roman"/>
                <a:sym typeface="Times New Roman"/>
              </a:rPr>
              <a:t>For each section, I/P bits 1,2,3 and 4 are copied to O/P bits 2,3,4 and 5 respectively.</a:t>
            </a:r>
            <a:endParaRPr lang="en-US" dirty="0"/>
          </a:p>
          <a:p>
            <a:pPr indent="-457200" algn="just">
              <a:lnSpc>
                <a:spcPct val="120000"/>
              </a:lnSpc>
              <a:spcBef>
                <a:spcPts val="0"/>
              </a:spcBef>
            </a:pPr>
            <a:r>
              <a:rPr lang="en-US" b="1" i="1" dirty="0">
                <a:latin typeface="Times New Roman"/>
                <a:ea typeface="Times New Roman"/>
                <a:cs typeface="Times New Roman"/>
                <a:sym typeface="Times New Roman"/>
              </a:rPr>
              <a:t>Output Bit 1 comes from bit 4 of previous section</a:t>
            </a:r>
            <a:endParaRPr lang="en-US" dirty="0"/>
          </a:p>
          <a:p>
            <a:pPr indent="-457200" algn="just">
              <a:lnSpc>
                <a:spcPct val="120000"/>
              </a:lnSpc>
              <a:spcBef>
                <a:spcPts val="0"/>
              </a:spcBef>
            </a:pPr>
            <a:r>
              <a:rPr lang="en-US" b="1" i="1" dirty="0">
                <a:latin typeface="Times New Roman"/>
                <a:ea typeface="Times New Roman"/>
                <a:cs typeface="Times New Roman"/>
                <a:sym typeface="Times New Roman"/>
              </a:rPr>
              <a:t>Output bit 6 comes from  bit 4 of next section</a:t>
            </a:r>
            <a:endParaRPr lang="en-US" dirty="0"/>
          </a:p>
          <a:p>
            <a:pPr indent="-457200" algn="just">
              <a:lnSpc>
                <a:spcPct val="120000"/>
              </a:lnSpc>
              <a:spcBef>
                <a:spcPts val="0"/>
              </a:spcBef>
            </a:pPr>
            <a:r>
              <a:rPr lang="en-US" b="1" i="1" dirty="0">
                <a:latin typeface="Times New Roman"/>
                <a:ea typeface="Times New Roman"/>
                <a:cs typeface="Times New Roman"/>
                <a:sym typeface="Times New Roman"/>
              </a:rPr>
              <a:t>Sections 1 and 8 are considered adjacent, Same rule applies to bits 1 and 32</a:t>
            </a:r>
            <a:endParaRPr lang="en-US" dirty="0"/>
          </a:p>
          <a:p>
            <a:pPr marL="0" lvl="0" indent="0" algn="just">
              <a:lnSpc>
                <a:spcPct val="120000"/>
              </a:lnSpc>
              <a:spcBef>
                <a:spcPts val="0"/>
              </a:spcBef>
              <a:buNone/>
            </a:pPr>
            <a:endParaRPr lang="en-US" sz="3200" b="1" i="1" dirty="0">
              <a:latin typeface="Times New Roman"/>
              <a:ea typeface="Times New Roman"/>
              <a:cs typeface="Times New Roman"/>
              <a:sym typeface="Times New Roman"/>
            </a:endParaRPr>
          </a:p>
          <a:p>
            <a:endParaRPr lang="en-IN" dirty="0"/>
          </a:p>
        </p:txBody>
      </p:sp>
      <p:pic>
        <p:nvPicPr>
          <p:cNvPr id="2131" name="Google Shape;2131;p108"/>
          <p:cNvPicPr preferRelativeResize="0"/>
          <p:nvPr/>
        </p:nvPicPr>
        <p:blipFill rotWithShape="1">
          <a:blip r:embed="rId3">
            <a:alphaModFix/>
          </a:blip>
          <a:srcRect/>
          <a:stretch/>
        </p:blipFill>
        <p:spPr>
          <a:xfrm>
            <a:off x="304800" y="5348777"/>
            <a:ext cx="8610600" cy="1284287"/>
          </a:xfrm>
          <a:prstGeom prst="rect">
            <a:avLst/>
          </a:prstGeom>
          <a:noFill/>
          <a:ln>
            <a:noFill/>
          </a:ln>
        </p:spPr>
      </p:pic>
      <p:sp>
        <p:nvSpPr>
          <p:cNvPr id="2132" name="Google Shape;2132;p108"/>
          <p:cNvSpPr txBox="1"/>
          <p:nvPr/>
        </p:nvSpPr>
        <p:spPr>
          <a:xfrm>
            <a:off x="2960330" y="4926213"/>
            <a:ext cx="4129087"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dirty="0" smtClean="0">
                <a:solidFill>
                  <a:schemeClr val="dk1"/>
                </a:solidFill>
                <a:latin typeface="Times New Roman"/>
                <a:ea typeface="Times New Roman"/>
                <a:cs typeface="Times New Roman"/>
                <a:sym typeface="Times New Roman"/>
              </a:rPr>
              <a:t>Expansion </a:t>
            </a:r>
            <a:r>
              <a:rPr lang="en-US" sz="2000" b="1" i="1" dirty="0">
                <a:solidFill>
                  <a:schemeClr val="dk1"/>
                </a:solidFill>
                <a:latin typeface="Times New Roman"/>
                <a:ea typeface="Times New Roman"/>
                <a:cs typeface="Times New Roman"/>
                <a:sym typeface="Times New Roman"/>
              </a:rPr>
              <a:t>permutation</a:t>
            </a:r>
            <a:endParaRPr dirty="0"/>
          </a:p>
        </p:txBody>
      </p:sp>
    </p:spTree>
    <p:extLst>
      <p:ext uri="{BB962C8B-B14F-4D97-AF65-F5344CB8AC3E}">
        <p14:creationId xmlns:p14="http://schemas.microsoft.com/office/powerpoint/2010/main" val="116368975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2137" name="Google Shape;2137;p109"/>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52</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a:xfrm>
            <a:off x="415637" y="214817"/>
            <a:ext cx="7804570" cy="874951"/>
          </a:xfrm>
        </p:spPr>
        <p:txBody>
          <a:bodyPr/>
          <a:lstStyle/>
          <a:p>
            <a:pPr lvl="0"/>
            <a:r>
              <a:rPr lang="en-US" sz="4000" dirty="0">
                <a:latin typeface="Marcellus" panose="020B0604020202020204" charset="0"/>
                <a:ea typeface="Times New Roman"/>
                <a:cs typeface="Times New Roman"/>
                <a:sym typeface="Times New Roman"/>
              </a:rPr>
              <a:t> </a:t>
            </a:r>
            <a:r>
              <a:rPr lang="en-US" i="1" dirty="0">
                <a:latin typeface="Marcellus" panose="020B0604020202020204" charset="0"/>
                <a:ea typeface="Times New Roman"/>
                <a:cs typeface="Times New Roman"/>
                <a:sym typeface="Times New Roman"/>
              </a:rPr>
              <a:t>Expansion P-box </a:t>
            </a:r>
            <a:r>
              <a:rPr lang="en-US" i="1" dirty="0" smtClean="0">
                <a:latin typeface="Marcellus" panose="020B0604020202020204" charset="0"/>
                <a:ea typeface="Times New Roman"/>
                <a:cs typeface="Times New Roman"/>
                <a:sym typeface="Times New Roman"/>
              </a:rPr>
              <a:t> expressed as table</a:t>
            </a:r>
            <a:r>
              <a:rPr lang="en-US" dirty="0">
                <a:latin typeface="Marcellus" panose="020B0604020202020204" charset="0"/>
              </a:rPr>
              <a:t/>
            </a:r>
            <a:br>
              <a:rPr lang="en-US" dirty="0">
                <a:latin typeface="Marcellus" panose="020B0604020202020204" charset="0"/>
              </a:rPr>
            </a:br>
            <a:endParaRPr lang="en-IN" dirty="0">
              <a:latin typeface="Marcellus" panose="020B0604020202020204" charset="0"/>
            </a:endParaRPr>
          </a:p>
        </p:txBody>
      </p:sp>
      <p:sp>
        <p:nvSpPr>
          <p:cNvPr id="3" name="Text Placeholder 2"/>
          <p:cNvSpPr>
            <a:spLocks noGrp="1"/>
          </p:cNvSpPr>
          <p:nvPr>
            <p:ph type="body" idx="1"/>
          </p:nvPr>
        </p:nvSpPr>
        <p:spPr/>
        <p:txBody>
          <a:bodyPr/>
          <a:lstStyle/>
          <a:p>
            <a:endParaRPr lang="en-IN"/>
          </a:p>
        </p:txBody>
      </p:sp>
      <p:sp>
        <p:nvSpPr>
          <p:cNvPr id="2143" name="Google Shape;2143;p109"/>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45" name="Google Shape;2145;p109"/>
          <p:cNvSpPr/>
          <p:nvPr/>
        </p:nvSpPr>
        <p:spPr>
          <a:xfrm>
            <a:off x="529936" y="1052513"/>
            <a:ext cx="8686800" cy="1421887"/>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lnSpc>
                <a:spcPct val="120000"/>
              </a:lnSpc>
              <a:spcBef>
                <a:spcPts val="0"/>
              </a:spcBef>
              <a:spcAft>
                <a:spcPts val="0"/>
              </a:spcAft>
              <a:buNone/>
            </a:pPr>
            <a:r>
              <a:rPr lang="en-US" sz="2400" b="1" i="1" dirty="0">
                <a:solidFill>
                  <a:schemeClr val="dk1"/>
                </a:solidFill>
                <a:latin typeface="Times New Roman"/>
                <a:ea typeface="Times New Roman"/>
                <a:cs typeface="Times New Roman"/>
                <a:sym typeface="Times New Roman"/>
              </a:rPr>
              <a:t>Although the relationship between the input and output can be defined mathematically, DES uses Table </a:t>
            </a:r>
            <a:r>
              <a:rPr lang="en-US" sz="2400" b="1" i="1" dirty="0" smtClean="0">
                <a:solidFill>
                  <a:schemeClr val="dk1"/>
                </a:solidFill>
                <a:latin typeface="Times New Roman"/>
                <a:ea typeface="Times New Roman"/>
                <a:cs typeface="Times New Roman"/>
                <a:sym typeface="Times New Roman"/>
              </a:rPr>
              <a:t>to </a:t>
            </a:r>
            <a:r>
              <a:rPr lang="en-US" sz="2400" b="1" i="1" dirty="0">
                <a:solidFill>
                  <a:schemeClr val="dk1"/>
                </a:solidFill>
                <a:latin typeface="Times New Roman"/>
                <a:ea typeface="Times New Roman"/>
                <a:cs typeface="Times New Roman"/>
                <a:sym typeface="Times New Roman"/>
              </a:rPr>
              <a:t>define this P-box.</a:t>
            </a:r>
            <a:endParaRPr dirty="0"/>
          </a:p>
          <a:p>
            <a:pPr marL="0" marR="0" lvl="0" indent="0" algn="just" rtl="0">
              <a:lnSpc>
                <a:spcPct val="120000"/>
              </a:lnSpc>
              <a:spcBef>
                <a:spcPts val="0"/>
              </a:spcBef>
              <a:spcAft>
                <a:spcPts val="0"/>
              </a:spcAft>
              <a:buNone/>
            </a:pPr>
            <a:r>
              <a:rPr lang="en-US" sz="2400" b="1" i="1" dirty="0">
                <a:solidFill>
                  <a:schemeClr val="dk1"/>
                </a:solidFill>
                <a:latin typeface="Times New Roman"/>
                <a:ea typeface="Times New Roman"/>
                <a:cs typeface="Times New Roman"/>
                <a:sym typeface="Times New Roman"/>
              </a:rPr>
              <a:t>A 6 X 8 Table</a:t>
            </a:r>
            <a:endParaRPr sz="2400" b="1" i="1" dirty="0">
              <a:solidFill>
                <a:schemeClr val="dk1"/>
              </a:solidFill>
              <a:latin typeface="Times New Roman"/>
              <a:ea typeface="Times New Roman"/>
              <a:cs typeface="Times New Roman"/>
              <a:sym typeface="Times New Roman"/>
            </a:endParaRPr>
          </a:p>
        </p:txBody>
      </p:sp>
      <p:pic>
        <p:nvPicPr>
          <p:cNvPr id="2147" name="Google Shape;2147;p109"/>
          <p:cNvPicPr preferRelativeResize="0"/>
          <p:nvPr/>
        </p:nvPicPr>
        <p:blipFill rotWithShape="1">
          <a:blip r:embed="rId3">
            <a:alphaModFix/>
          </a:blip>
          <a:srcRect/>
          <a:stretch/>
        </p:blipFill>
        <p:spPr>
          <a:xfrm>
            <a:off x="1104900" y="3182938"/>
            <a:ext cx="7048500" cy="3217862"/>
          </a:xfrm>
          <a:prstGeom prst="rect">
            <a:avLst/>
          </a:prstGeom>
          <a:noFill/>
          <a:ln>
            <a:noFill/>
          </a:ln>
        </p:spPr>
      </p:pic>
      <p:sp>
        <p:nvSpPr>
          <p:cNvPr id="2148" name="Google Shape;2148;p109"/>
          <p:cNvSpPr txBox="1"/>
          <p:nvPr/>
        </p:nvSpPr>
        <p:spPr>
          <a:xfrm>
            <a:off x="2209800" y="2667000"/>
            <a:ext cx="392112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smtClean="0">
                <a:solidFill>
                  <a:schemeClr val="folHlink"/>
                </a:solidFill>
                <a:latin typeface="Times New Roman"/>
                <a:ea typeface="Times New Roman"/>
                <a:cs typeface="Times New Roman"/>
                <a:sym typeface="Times New Roman"/>
              </a:rPr>
              <a:t> </a:t>
            </a:r>
            <a:r>
              <a:rPr lang="en-US" sz="2000" b="1" i="1" dirty="0">
                <a:solidFill>
                  <a:schemeClr val="dk1"/>
                </a:solidFill>
                <a:latin typeface="Times New Roman"/>
                <a:ea typeface="Times New Roman"/>
                <a:cs typeface="Times New Roman"/>
                <a:sym typeface="Times New Roman"/>
              </a:rPr>
              <a:t>Expansion P-box table</a:t>
            </a:r>
            <a:endParaRPr dirty="0"/>
          </a:p>
        </p:txBody>
      </p:sp>
    </p:spTree>
    <p:extLst>
      <p:ext uri="{BB962C8B-B14F-4D97-AF65-F5344CB8AC3E}">
        <p14:creationId xmlns:p14="http://schemas.microsoft.com/office/powerpoint/2010/main" val="134035167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67"/>
        <p:cNvGrpSpPr/>
        <p:nvPr/>
      </p:nvGrpSpPr>
      <p:grpSpPr>
        <a:xfrm>
          <a:off x="0" y="0"/>
          <a:ext cx="0" cy="0"/>
          <a:chOff x="0" y="0"/>
          <a:chExt cx="0" cy="0"/>
        </a:xfrm>
      </p:grpSpPr>
      <p:sp>
        <p:nvSpPr>
          <p:cNvPr id="2168" name="Google Shape;2168;p111"/>
          <p:cNvSpPr txBox="1">
            <a:spLocks noGrp="1"/>
          </p:cNvSpPr>
          <p:nvPr>
            <p:ph type="sldNum" idx="12"/>
          </p:nvPr>
        </p:nvSpPr>
        <p:spPr>
          <a:xfrm>
            <a:off x="76200" y="6400800"/>
            <a:ext cx="19050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53</a:t>
            </a:fld>
            <a:endParaRPr sz="1200" b="1">
              <a:solidFill>
                <a:schemeClr val="lt2"/>
              </a:solidFill>
              <a:latin typeface="Arial"/>
              <a:ea typeface="Arial"/>
              <a:cs typeface="Arial"/>
              <a:sym typeface="Arial"/>
            </a:endParaRPr>
          </a:p>
        </p:txBody>
      </p:sp>
      <p:sp>
        <p:nvSpPr>
          <p:cNvPr id="2170" name="Google Shape;2170;p111"/>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71" name="Google Shape;2171;p111"/>
          <p:cNvSpPr/>
          <p:nvPr/>
        </p:nvSpPr>
        <p:spPr>
          <a:xfrm>
            <a:off x="490538" y="530225"/>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72" name="Google Shape;2172;p111"/>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76" name="Google Shape;2176;p111"/>
          <p:cNvSpPr/>
          <p:nvPr/>
        </p:nvSpPr>
        <p:spPr>
          <a:xfrm>
            <a:off x="301337" y="118630"/>
            <a:ext cx="8686800" cy="2382191"/>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lnSpc>
                <a:spcPct val="120000"/>
              </a:lnSpc>
              <a:spcBef>
                <a:spcPts val="0"/>
              </a:spcBef>
              <a:spcAft>
                <a:spcPts val="0"/>
              </a:spcAft>
              <a:buNone/>
            </a:pPr>
            <a:r>
              <a:rPr lang="en-US" sz="2800" b="1" i="1" dirty="0" smtClean="0">
                <a:solidFill>
                  <a:schemeClr val="folHlink"/>
                </a:solidFill>
                <a:latin typeface="Times New Roman"/>
                <a:ea typeface="Times New Roman"/>
                <a:cs typeface="Times New Roman"/>
                <a:sym typeface="Times New Roman"/>
              </a:rPr>
              <a:t>S-Boxes</a:t>
            </a:r>
            <a:endParaRPr dirty="0" smtClean="0"/>
          </a:p>
          <a:p>
            <a:pPr marL="457200" marR="0" lvl="0" indent="-457200" algn="just" rtl="0">
              <a:lnSpc>
                <a:spcPct val="120000"/>
              </a:lnSpc>
              <a:spcBef>
                <a:spcPts val="0"/>
              </a:spcBef>
              <a:spcAft>
                <a:spcPts val="0"/>
              </a:spcAft>
              <a:buClr>
                <a:schemeClr val="dk1"/>
              </a:buClr>
              <a:buSzPts val="2400"/>
              <a:buFont typeface="Arial"/>
              <a:buChar char="•"/>
            </a:pPr>
            <a:r>
              <a:rPr lang="en-US" sz="2400" b="1" i="1" dirty="0" smtClean="0">
                <a:solidFill>
                  <a:schemeClr val="dk1"/>
                </a:solidFill>
                <a:latin typeface="Times New Roman"/>
                <a:ea typeface="Times New Roman"/>
                <a:cs typeface="Times New Roman"/>
                <a:sym typeface="Times New Roman"/>
              </a:rPr>
              <a:t>The </a:t>
            </a:r>
            <a:r>
              <a:rPr lang="en-US" sz="2400" b="1" i="1" dirty="0">
                <a:solidFill>
                  <a:schemeClr val="dk1"/>
                </a:solidFill>
                <a:latin typeface="Times New Roman"/>
                <a:ea typeface="Times New Roman"/>
                <a:cs typeface="Times New Roman"/>
                <a:sym typeface="Times New Roman"/>
              </a:rPr>
              <a:t>S-boxes do the real mixing (confusion). </a:t>
            </a:r>
            <a:endParaRPr sz="2400" b="1" i="1" dirty="0">
              <a:solidFill>
                <a:schemeClr val="dk1"/>
              </a:solidFill>
              <a:latin typeface="Times New Roman"/>
              <a:ea typeface="Times New Roman"/>
              <a:cs typeface="Times New Roman"/>
              <a:sym typeface="Times New Roman"/>
            </a:endParaRPr>
          </a:p>
          <a:p>
            <a:pPr marL="457200" marR="0" lvl="0" indent="-457200" algn="just" rtl="0">
              <a:lnSpc>
                <a:spcPct val="120000"/>
              </a:lnSpc>
              <a:spcBef>
                <a:spcPts val="0"/>
              </a:spcBef>
              <a:spcAft>
                <a:spcPts val="0"/>
              </a:spcAft>
              <a:buClr>
                <a:schemeClr val="dk1"/>
              </a:buClr>
              <a:buSzPts val="2400"/>
              <a:buFont typeface="Arial"/>
              <a:buChar char="•"/>
            </a:pPr>
            <a:r>
              <a:rPr lang="en-US" sz="2400" b="1" i="1" dirty="0">
                <a:solidFill>
                  <a:schemeClr val="dk1"/>
                </a:solidFill>
                <a:latin typeface="Times New Roman"/>
                <a:ea typeface="Times New Roman"/>
                <a:cs typeface="Times New Roman"/>
                <a:sym typeface="Times New Roman"/>
              </a:rPr>
              <a:t>48 bit output from Whitener is divided into Eight 6-bit chunks</a:t>
            </a:r>
            <a:endParaRPr dirty="0"/>
          </a:p>
          <a:p>
            <a:pPr marL="457200" marR="0" lvl="0" indent="-457200" algn="just" rtl="0">
              <a:lnSpc>
                <a:spcPct val="120000"/>
              </a:lnSpc>
              <a:spcBef>
                <a:spcPts val="0"/>
              </a:spcBef>
              <a:spcAft>
                <a:spcPts val="0"/>
              </a:spcAft>
              <a:buClr>
                <a:schemeClr val="dk1"/>
              </a:buClr>
              <a:buSzPts val="2400"/>
              <a:buFont typeface="Arial"/>
              <a:buChar char="•"/>
            </a:pPr>
            <a:r>
              <a:rPr lang="en-US" sz="2400" b="1" i="1" dirty="0">
                <a:solidFill>
                  <a:schemeClr val="dk1"/>
                </a:solidFill>
                <a:latin typeface="Times New Roman"/>
                <a:ea typeface="Times New Roman"/>
                <a:cs typeface="Times New Roman"/>
                <a:sym typeface="Times New Roman"/>
              </a:rPr>
              <a:t>DES uses 8 S-boxes,</a:t>
            </a:r>
            <a:endParaRPr dirty="0"/>
          </a:p>
          <a:p>
            <a:pPr marL="457200" marR="0" lvl="0" indent="-457200" algn="just" rtl="0">
              <a:lnSpc>
                <a:spcPct val="120000"/>
              </a:lnSpc>
              <a:spcBef>
                <a:spcPts val="0"/>
              </a:spcBef>
              <a:spcAft>
                <a:spcPts val="0"/>
              </a:spcAft>
              <a:buClr>
                <a:schemeClr val="dk1"/>
              </a:buClr>
              <a:buSzPts val="2400"/>
              <a:buFont typeface="Arial"/>
              <a:buChar char="•"/>
            </a:pPr>
            <a:r>
              <a:rPr lang="en-US" sz="2400" b="1" i="1" dirty="0">
                <a:solidFill>
                  <a:schemeClr val="dk1"/>
                </a:solidFill>
                <a:latin typeface="Times New Roman"/>
                <a:ea typeface="Times New Roman"/>
                <a:cs typeface="Times New Roman"/>
                <a:sym typeface="Times New Roman"/>
              </a:rPr>
              <a:t>Each 6-bit chunk as input and a 4-bit output. </a:t>
            </a:r>
            <a:endParaRPr dirty="0"/>
          </a:p>
        </p:txBody>
      </p:sp>
      <p:pic>
        <p:nvPicPr>
          <p:cNvPr id="2178" name="Google Shape;2178;p111"/>
          <p:cNvPicPr preferRelativeResize="0"/>
          <p:nvPr/>
        </p:nvPicPr>
        <p:blipFill rotWithShape="1">
          <a:blip r:embed="rId3">
            <a:alphaModFix/>
          </a:blip>
          <a:srcRect/>
          <a:stretch/>
        </p:blipFill>
        <p:spPr>
          <a:xfrm>
            <a:off x="609600" y="4709368"/>
            <a:ext cx="7705725" cy="2032000"/>
          </a:xfrm>
          <a:prstGeom prst="rect">
            <a:avLst/>
          </a:prstGeom>
          <a:noFill/>
          <a:ln>
            <a:noFill/>
          </a:ln>
        </p:spPr>
      </p:pic>
      <p:sp>
        <p:nvSpPr>
          <p:cNvPr id="2179" name="Google Shape;2179;p111"/>
          <p:cNvSpPr txBox="1"/>
          <p:nvPr/>
        </p:nvSpPr>
        <p:spPr>
          <a:xfrm>
            <a:off x="2843808" y="4245241"/>
            <a:ext cx="247332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smtClean="0">
                <a:solidFill>
                  <a:schemeClr val="folHlink"/>
                </a:solidFill>
                <a:latin typeface="Times New Roman"/>
                <a:ea typeface="Times New Roman"/>
                <a:cs typeface="Times New Roman"/>
                <a:sym typeface="Times New Roman"/>
              </a:rPr>
              <a:t> </a:t>
            </a:r>
            <a:r>
              <a:rPr lang="en-US" sz="2000" b="1" i="1" dirty="0">
                <a:solidFill>
                  <a:schemeClr val="dk1"/>
                </a:solidFill>
                <a:latin typeface="Times New Roman"/>
                <a:ea typeface="Times New Roman"/>
                <a:cs typeface="Times New Roman"/>
                <a:sym typeface="Times New Roman"/>
              </a:rPr>
              <a:t>S-boxes</a:t>
            </a:r>
            <a:endParaRPr dirty="0"/>
          </a:p>
        </p:txBody>
      </p:sp>
      <p:pic>
        <p:nvPicPr>
          <p:cNvPr id="2180" name="Google Shape;2180;p111"/>
          <p:cNvPicPr preferRelativeResize="0"/>
          <p:nvPr/>
        </p:nvPicPr>
        <p:blipFill rotWithShape="1">
          <a:blip r:embed="rId4">
            <a:alphaModFix/>
          </a:blip>
          <a:srcRect/>
          <a:stretch/>
        </p:blipFill>
        <p:spPr>
          <a:xfrm>
            <a:off x="5985165" y="2680855"/>
            <a:ext cx="3162702" cy="2539469"/>
          </a:xfrm>
          <a:prstGeom prst="rect">
            <a:avLst/>
          </a:prstGeom>
          <a:noFill/>
          <a:ln>
            <a:noFill/>
          </a:ln>
        </p:spPr>
      </p:pic>
    </p:spTree>
    <p:extLst>
      <p:ext uri="{BB962C8B-B14F-4D97-AF65-F5344CB8AC3E}">
        <p14:creationId xmlns:p14="http://schemas.microsoft.com/office/powerpoint/2010/main" val="284210264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84"/>
        <p:cNvGrpSpPr/>
        <p:nvPr/>
      </p:nvGrpSpPr>
      <p:grpSpPr>
        <a:xfrm>
          <a:off x="0" y="0"/>
          <a:ext cx="0" cy="0"/>
          <a:chOff x="0" y="0"/>
          <a:chExt cx="0" cy="0"/>
        </a:xfrm>
      </p:grpSpPr>
      <p:sp>
        <p:nvSpPr>
          <p:cNvPr id="2185" name="Google Shape;2185;p112"/>
          <p:cNvSpPr txBox="1">
            <a:spLocks noGrp="1"/>
          </p:cNvSpPr>
          <p:nvPr>
            <p:ph type="sldNum" idx="12"/>
          </p:nvPr>
        </p:nvSpPr>
        <p:spPr>
          <a:xfrm>
            <a:off x="76200" y="6400800"/>
            <a:ext cx="19050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54</a:t>
            </a:fld>
            <a:endParaRPr sz="1200" b="1">
              <a:solidFill>
                <a:schemeClr val="lt2"/>
              </a:solidFill>
              <a:latin typeface="Arial"/>
              <a:ea typeface="Arial"/>
              <a:cs typeface="Arial"/>
              <a:sym typeface="Arial"/>
            </a:endParaRPr>
          </a:p>
        </p:txBody>
      </p:sp>
      <p:sp>
        <p:nvSpPr>
          <p:cNvPr id="2186" name="Google Shape;2186;p112"/>
          <p:cNvSpPr/>
          <p:nvPr/>
        </p:nvSpPr>
        <p:spPr>
          <a:xfrm>
            <a:off x="366713" y="107950"/>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87" name="Google Shape;2187;p112"/>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88" name="Google Shape;2188;p112"/>
          <p:cNvSpPr/>
          <p:nvPr/>
        </p:nvSpPr>
        <p:spPr>
          <a:xfrm>
            <a:off x="490538" y="530225"/>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89" name="Google Shape;2189;p112"/>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90" name="Google Shape;2190;p112"/>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91" name="Google Shape;2191;p112"/>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92" name="Google Shape;2192;p112"/>
          <p:cNvSpPr/>
          <p:nvPr/>
        </p:nvSpPr>
        <p:spPr>
          <a:xfrm>
            <a:off x="442913" y="533400"/>
            <a:ext cx="8226425" cy="31750"/>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193" name="Google Shape;2193;p112"/>
          <p:cNvSpPr/>
          <p:nvPr/>
        </p:nvSpPr>
        <p:spPr>
          <a:xfrm>
            <a:off x="228600" y="685800"/>
            <a:ext cx="8686800" cy="604838"/>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lnSpc>
                <a:spcPct val="120000"/>
              </a:lnSpc>
              <a:spcBef>
                <a:spcPts val="0"/>
              </a:spcBef>
              <a:spcAft>
                <a:spcPts val="0"/>
              </a:spcAft>
              <a:buNone/>
            </a:pPr>
            <a:endParaRPr sz="2800" b="1" i="1">
              <a:solidFill>
                <a:schemeClr val="dk1"/>
              </a:solidFill>
              <a:latin typeface="Times New Roman"/>
              <a:ea typeface="Times New Roman"/>
              <a:cs typeface="Times New Roman"/>
              <a:sym typeface="Times New Roman"/>
            </a:endParaRPr>
          </a:p>
        </p:txBody>
      </p:sp>
      <p:sp>
        <p:nvSpPr>
          <p:cNvPr id="2195" name="Google Shape;2195;p112"/>
          <p:cNvSpPr txBox="1"/>
          <p:nvPr/>
        </p:nvSpPr>
        <p:spPr>
          <a:xfrm>
            <a:off x="701675" y="1066800"/>
            <a:ext cx="7174634"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dirty="0" smtClean="0">
                <a:solidFill>
                  <a:schemeClr val="dk1"/>
                </a:solidFill>
                <a:latin typeface="Times New Roman"/>
                <a:ea typeface="Times New Roman"/>
                <a:cs typeface="Times New Roman"/>
                <a:sym typeface="Times New Roman"/>
              </a:rPr>
              <a:t>S-box rule: Bit 1 and 6 make the row, bits 2 to 5 make the column</a:t>
            </a:r>
            <a:endParaRPr dirty="0"/>
          </a:p>
        </p:txBody>
      </p:sp>
      <p:pic>
        <p:nvPicPr>
          <p:cNvPr id="2196" name="Google Shape;2196;p112"/>
          <p:cNvPicPr preferRelativeResize="0"/>
          <p:nvPr/>
        </p:nvPicPr>
        <p:blipFill rotWithShape="1">
          <a:blip r:embed="rId3">
            <a:alphaModFix/>
          </a:blip>
          <a:srcRect/>
          <a:stretch/>
        </p:blipFill>
        <p:spPr>
          <a:xfrm>
            <a:off x="1812925" y="2057400"/>
            <a:ext cx="4716463" cy="3827463"/>
          </a:xfrm>
          <a:prstGeom prst="rect">
            <a:avLst/>
          </a:prstGeom>
          <a:noFill/>
          <a:ln>
            <a:noFill/>
          </a:ln>
        </p:spPr>
      </p:pic>
    </p:spTree>
    <p:extLst>
      <p:ext uri="{BB962C8B-B14F-4D97-AF65-F5344CB8AC3E}">
        <p14:creationId xmlns:p14="http://schemas.microsoft.com/office/powerpoint/2010/main" val="352508071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234"/>
        <p:cNvGrpSpPr/>
        <p:nvPr/>
      </p:nvGrpSpPr>
      <p:grpSpPr>
        <a:xfrm>
          <a:off x="0" y="0"/>
          <a:ext cx="0" cy="0"/>
          <a:chOff x="0" y="0"/>
          <a:chExt cx="0" cy="0"/>
        </a:xfrm>
      </p:grpSpPr>
      <p:sp>
        <p:nvSpPr>
          <p:cNvPr id="2235" name="Google Shape;2235;p115"/>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55</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r>
              <a:rPr lang="en-IN" dirty="0" smtClean="0"/>
              <a:t>Example</a:t>
            </a:r>
            <a:endParaRPr lang="en-IN" dirty="0"/>
          </a:p>
        </p:txBody>
      </p:sp>
      <p:sp>
        <p:nvSpPr>
          <p:cNvPr id="3" name="Text Placeholder 2"/>
          <p:cNvSpPr>
            <a:spLocks noGrp="1"/>
          </p:cNvSpPr>
          <p:nvPr>
            <p:ph type="body" idx="1"/>
          </p:nvPr>
        </p:nvSpPr>
        <p:spPr/>
        <p:txBody>
          <a:bodyPr/>
          <a:lstStyle/>
          <a:p>
            <a:endParaRPr lang="en-IN"/>
          </a:p>
        </p:txBody>
      </p:sp>
      <p:sp>
        <p:nvSpPr>
          <p:cNvPr id="2236" name="Google Shape;2236;p115"/>
          <p:cNvSpPr/>
          <p:nvPr/>
        </p:nvSpPr>
        <p:spPr>
          <a:xfrm>
            <a:off x="366713" y="107950"/>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37" name="Google Shape;2237;p115"/>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38" name="Google Shape;2238;p115"/>
          <p:cNvSpPr/>
          <p:nvPr/>
        </p:nvSpPr>
        <p:spPr>
          <a:xfrm>
            <a:off x="490538" y="530225"/>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39" name="Google Shape;2239;p115"/>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40" name="Google Shape;2240;p115"/>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41" name="Google Shape;2241;p115"/>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43" name="Google Shape;2243;p115"/>
          <p:cNvSpPr/>
          <p:nvPr/>
        </p:nvSpPr>
        <p:spPr>
          <a:xfrm>
            <a:off x="457200" y="1402773"/>
            <a:ext cx="8686800" cy="2308324"/>
          </a:xfrm>
          <a:prstGeom prst="rect">
            <a:avLst/>
          </a:prstGeom>
          <a:solidFill>
            <a:schemeClr val="lt1"/>
          </a:solidFill>
          <a:ln>
            <a:noFill/>
          </a:ln>
        </p:spPr>
        <p:txBody>
          <a:bodyPr spcFirstLastPara="1" wrap="square" lIns="91425" tIns="45700" rIns="91425" bIns="45700" anchor="t" anchorCtr="0">
            <a:spAutoFit/>
          </a:bodyPr>
          <a:lstStyle/>
          <a:p>
            <a:pPr marL="457200" marR="0" lvl="0" indent="-457200" algn="just" rtl="0">
              <a:lnSpc>
                <a:spcPct val="120000"/>
              </a:lnSpc>
              <a:spcBef>
                <a:spcPts val="0"/>
              </a:spcBef>
              <a:spcAft>
                <a:spcPts val="0"/>
              </a:spcAft>
              <a:buClr>
                <a:schemeClr val="dk1"/>
              </a:buClr>
              <a:buSzPts val="2400"/>
              <a:buFont typeface="Arial"/>
              <a:buChar char="•"/>
            </a:pPr>
            <a:r>
              <a:rPr lang="en-US" sz="2400" b="1" i="1" dirty="0">
                <a:solidFill>
                  <a:schemeClr val="dk1"/>
                </a:solidFill>
                <a:latin typeface="Times New Roman"/>
                <a:ea typeface="Times New Roman"/>
                <a:cs typeface="Times New Roman"/>
                <a:sym typeface="Times New Roman"/>
              </a:rPr>
              <a:t>Table 6.3 shows the permutation for S-box 1. </a:t>
            </a:r>
            <a:endParaRPr sz="2400" b="1" i="1" dirty="0">
              <a:solidFill>
                <a:schemeClr val="dk1"/>
              </a:solidFill>
              <a:latin typeface="Times New Roman"/>
              <a:ea typeface="Times New Roman"/>
              <a:cs typeface="Times New Roman"/>
              <a:sym typeface="Times New Roman"/>
            </a:endParaRPr>
          </a:p>
          <a:p>
            <a:pPr marL="457200" marR="0" lvl="0" indent="-457200" algn="just" rtl="0">
              <a:lnSpc>
                <a:spcPct val="120000"/>
              </a:lnSpc>
              <a:spcBef>
                <a:spcPts val="0"/>
              </a:spcBef>
              <a:spcAft>
                <a:spcPts val="0"/>
              </a:spcAft>
              <a:buClr>
                <a:schemeClr val="dk1"/>
              </a:buClr>
              <a:buSzPts val="2400"/>
              <a:buFont typeface="Arial"/>
              <a:buChar char="•"/>
            </a:pPr>
            <a:r>
              <a:rPr lang="en-US" sz="2400" b="1" i="1" dirty="0">
                <a:solidFill>
                  <a:schemeClr val="dk1"/>
                </a:solidFill>
                <a:latin typeface="Times New Roman"/>
                <a:ea typeface="Times New Roman"/>
                <a:cs typeface="Times New Roman"/>
                <a:sym typeface="Times New Roman"/>
              </a:rPr>
              <a:t>For the rest of the boxes see the textbook.  </a:t>
            </a:r>
            <a:endParaRPr sz="2400" b="1" i="1" dirty="0">
              <a:solidFill>
                <a:schemeClr val="dk1"/>
              </a:solidFill>
              <a:latin typeface="Times New Roman"/>
              <a:ea typeface="Times New Roman"/>
              <a:cs typeface="Times New Roman"/>
              <a:sym typeface="Times New Roman"/>
            </a:endParaRPr>
          </a:p>
          <a:p>
            <a:pPr marL="457200" marR="0" lvl="0" indent="-457200" algn="just" rtl="0">
              <a:lnSpc>
                <a:spcPct val="120000"/>
              </a:lnSpc>
              <a:spcBef>
                <a:spcPts val="0"/>
              </a:spcBef>
              <a:spcAft>
                <a:spcPts val="0"/>
              </a:spcAft>
              <a:buClr>
                <a:schemeClr val="dk1"/>
              </a:buClr>
              <a:buSzPts val="2400"/>
              <a:buFont typeface="Arial"/>
              <a:buChar char="•"/>
            </a:pPr>
            <a:r>
              <a:rPr lang="en-US" sz="2400" b="1" i="1" dirty="0">
                <a:solidFill>
                  <a:schemeClr val="dk1"/>
                </a:solidFill>
                <a:latin typeface="Times New Roman"/>
                <a:ea typeface="Times New Roman"/>
                <a:cs typeface="Times New Roman"/>
                <a:sym typeface="Times New Roman"/>
              </a:rPr>
              <a:t>The row number and column no, output are given as decimal to save space</a:t>
            </a:r>
            <a:endParaRPr dirty="0"/>
          </a:p>
          <a:p>
            <a:pPr marL="457200" marR="0" lvl="0" indent="-457200" algn="just" rtl="0">
              <a:lnSpc>
                <a:spcPct val="120000"/>
              </a:lnSpc>
              <a:spcBef>
                <a:spcPts val="0"/>
              </a:spcBef>
              <a:spcAft>
                <a:spcPts val="0"/>
              </a:spcAft>
              <a:buClr>
                <a:schemeClr val="dk1"/>
              </a:buClr>
              <a:buSzPts val="2400"/>
              <a:buFont typeface="Arial"/>
              <a:buChar char="•"/>
            </a:pPr>
            <a:r>
              <a:rPr lang="en-US" sz="2400" b="1" i="1" dirty="0">
                <a:solidFill>
                  <a:schemeClr val="dk1"/>
                </a:solidFill>
                <a:latin typeface="Times New Roman"/>
                <a:ea typeface="Times New Roman"/>
                <a:cs typeface="Times New Roman"/>
                <a:sym typeface="Times New Roman"/>
              </a:rPr>
              <a:t>These need to be changed to binary</a:t>
            </a:r>
            <a:endParaRPr sz="2400" b="1" i="1" dirty="0">
              <a:solidFill>
                <a:schemeClr val="dk1"/>
              </a:solidFill>
              <a:latin typeface="Times New Roman"/>
              <a:ea typeface="Times New Roman"/>
              <a:cs typeface="Times New Roman"/>
              <a:sym typeface="Times New Roman"/>
            </a:endParaRPr>
          </a:p>
        </p:txBody>
      </p:sp>
      <p:sp>
        <p:nvSpPr>
          <p:cNvPr id="2245" name="Google Shape;2245;p115"/>
          <p:cNvSpPr txBox="1"/>
          <p:nvPr/>
        </p:nvSpPr>
        <p:spPr>
          <a:xfrm>
            <a:off x="3059832" y="4051920"/>
            <a:ext cx="23352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folHlink"/>
                </a:solidFill>
                <a:latin typeface="Times New Roman"/>
                <a:ea typeface="Times New Roman"/>
                <a:cs typeface="Times New Roman"/>
                <a:sym typeface="Times New Roman"/>
              </a:rPr>
              <a:t>Table 6.3  </a:t>
            </a:r>
            <a:r>
              <a:rPr lang="en-US" sz="2000" b="1" i="1">
                <a:solidFill>
                  <a:schemeClr val="dk1"/>
                </a:solidFill>
                <a:latin typeface="Times New Roman"/>
                <a:ea typeface="Times New Roman"/>
                <a:cs typeface="Times New Roman"/>
                <a:sym typeface="Times New Roman"/>
              </a:rPr>
              <a:t>S-box 1</a:t>
            </a:r>
            <a:endParaRPr/>
          </a:p>
        </p:txBody>
      </p:sp>
      <p:pic>
        <p:nvPicPr>
          <p:cNvPr id="2246" name="Google Shape;2246;p115"/>
          <p:cNvPicPr preferRelativeResize="0"/>
          <p:nvPr/>
        </p:nvPicPr>
        <p:blipFill rotWithShape="1">
          <a:blip r:embed="rId3">
            <a:alphaModFix/>
          </a:blip>
          <a:srcRect/>
          <a:stretch/>
        </p:blipFill>
        <p:spPr>
          <a:xfrm>
            <a:off x="331787" y="4509120"/>
            <a:ext cx="8583613" cy="2025650"/>
          </a:xfrm>
          <a:prstGeom prst="rect">
            <a:avLst/>
          </a:prstGeom>
          <a:noFill/>
          <a:ln>
            <a:noFill/>
          </a:ln>
        </p:spPr>
      </p:pic>
    </p:spTree>
    <p:extLst>
      <p:ext uri="{BB962C8B-B14F-4D97-AF65-F5344CB8AC3E}">
        <p14:creationId xmlns:p14="http://schemas.microsoft.com/office/powerpoint/2010/main" val="6884902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250"/>
        <p:cNvGrpSpPr/>
        <p:nvPr/>
      </p:nvGrpSpPr>
      <p:grpSpPr>
        <a:xfrm>
          <a:off x="0" y="0"/>
          <a:ext cx="0" cy="0"/>
          <a:chOff x="0" y="0"/>
          <a:chExt cx="0" cy="0"/>
        </a:xfrm>
      </p:grpSpPr>
      <p:sp>
        <p:nvSpPr>
          <p:cNvPr id="2251" name="Google Shape;2251;p116"/>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56</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r>
              <a:rPr lang="en-IN" dirty="0" smtClean="0"/>
              <a:t>Example</a:t>
            </a:r>
            <a:endParaRPr lang="en-IN" dirty="0"/>
          </a:p>
        </p:txBody>
      </p:sp>
      <p:sp>
        <p:nvSpPr>
          <p:cNvPr id="3" name="Text Placeholder 2"/>
          <p:cNvSpPr>
            <a:spLocks noGrp="1"/>
          </p:cNvSpPr>
          <p:nvPr>
            <p:ph type="body" idx="1"/>
          </p:nvPr>
        </p:nvSpPr>
        <p:spPr/>
        <p:txBody>
          <a:bodyPr/>
          <a:lstStyle/>
          <a:p>
            <a:endParaRPr lang="en-IN" dirty="0"/>
          </a:p>
        </p:txBody>
      </p:sp>
      <p:sp>
        <p:nvSpPr>
          <p:cNvPr id="2253" name="Google Shape;2253;p116"/>
          <p:cNvSpPr/>
          <p:nvPr/>
        </p:nvSpPr>
        <p:spPr>
          <a:xfrm>
            <a:off x="366713" y="107950"/>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54" name="Google Shape;2254;p116"/>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55" name="Google Shape;2255;p116"/>
          <p:cNvSpPr/>
          <p:nvPr/>
        </p:nvSpPr>
        <p:spPr>
          <a:xfrm>
            <a:off x="490538" y="530225"/>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56" name="Google Shape;2256;p116"/>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57" name="Google Shape;2257;p116"/>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58" name="Google Shape;2258;p116"/>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261" name="Google Shape;2261;p116"/>
          <p:cNvSpPr/>
          <p:nvPr/>
        </p:nvSpPr>
        <p:spPr>
          <a:xfrm>
            <a:off x="257378" y="1004888"/>
            <a:ext cx="8229600" cy="45720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400">
                <a:solidFill>
                  <a:schemeClr val="dk1"/>
                </a:solidFill>
                <a:latin typeface="Times New Roman"/>
                <a:ea typeface="Times New Roman"/>
                <a:cs typeface="Times New Roman"/>
                <a:sym typeface="Times New Roman"/>
              </a:rPr>
              <a:t>The input to S-box 1 is </a:t>
            </a:r>
            <a:r>
              <a:rPr lang="en-US" sz="2400">
                <a:solidFill>
                  <a:schemeClr val="hlink"/>
                </a:solidFill>
                <a:latin typeface="Times New Roman"/>
                <a:ea typeface="Times New Roman"/>
                <a:cs typeface="Times New Roman"/>
                <a:sym typeface="Times New Roman"/>
              </a:rPr>
              <a:t>1</a:t>
            </a:r>
            <a:r>
              <a:rPr lang="en-US" sz="2400">
                <a:solidFill>
                  <a:schemeClr val="dk1"/>
                </a:solidFill>
                <a:latin typeface="Times New Roman"/>
                <a:ea typeface="Times New Roman"/>
                <a:cs typeface="Times New Roman"/>
                <a:sym typeface="Times New Roman"/>
              </a:rPr>
              <a:t>0001</a:t>
            </a:r>
            <a:r>
              <a:rPr lang="en-US" sz="2400">
                <a:solidFill>
                  <a:schemeClr val="hlink"/>
                </a:solidFill>
                <a:latin typeface="Times New Roman"/>
                <a:ea typeface="Times New Roman"/>
                <a:cs typeface="Times New Roman"/>
                <a:sym typeface="Times New Roman"/>
              </a:rPr>
              <a:t>1</a:t>
            </a:r>
            <a:r>
              <a:rPr lang="en-US" sz="2400">
                <a:solidFill>
                  <a:schemeClr val="dk1"/>
                </a:solidFill>
                <a:latin typeface="Times New Roman"/>
                <a:ea typeface="Times New Roman"/>
                <a:cs typeface="Times New Roman"/>
                <a:sym typeface="Times New Roman"/>
              </a:rPr>
              <a:t>. What is the output?</a:t>
            </a:r>
            <a:endParaRPr/>
          </a:p>
        </p:txBody>
      </p:sp>
      <p:sp>
        <p:nvSpPr>
          <p:cNvPr id="2262" name="Google Shape;2262;p116"/>
          <p:cNvSpPr/>
          <p:nvPr/>
        </p:nvSpPr>
        <p:spPr>
          <a:xfrm>
            <a:off x="257378" y="3876196"/>
            <a:ext cx="8229600" cy="2308324"/>
          </a:xfrm>
          <a:prstGeom prst="rect">
            <a:avLst/>
          </a:prstGeom>
          <a:noFill/>
          <a:ln>
            <a:noFill/>
          </a:ln>
        </p:spPr>
        <p:txBody>
          <a:bodyPr spcFirstLastPara="1" wrap="square" lIns="91425" tIns="45700" rIns="91425" bIns="45700" anchor="ctr" anchorCtr="0">
            <a:spAutoFit/>
          </a:bodyPr>
          <a:lstStyle/>
          <a:p>
            <a:pPr marL="342900" marR="0" lvl="0" indent="-342900" algn="just" rtl="0">
              <a:spcBef>
                <a:spcPts val="0"/>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If we write the first and the sixth bits together, we get 11 in binary, which is 3 in decimal. </a:t>
            </a:r>
            <a:endParaRPr sz="2400" dirty="0">
              <a:solidFill>
                <a:schemeClr val="dk1"/>
              </a:solidFill>
              <a:latin typeface="Times New Roman"/>
              <a:ea typeface="Times New Roman"/>
              <a:cs typeface="Times New Roman"/>
              <a:sym typeface="Times New Roman"/>
            </a:endParaRPr>
          </a:p>
          <a:p>
            <a:pPr marL="342900" marR="0" lvl="0" indent="-342900" algn="just" rtl="0">
              <a:spcBef>
                <a:spcPts val="0"/>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The remaining bits are 0001 in binary, which is 1 in decimal. </a:t>
            </a:r>
            <a:endParaRPr sz="2400" dirty="0">
              <a:solidFill>
                <a:schemeClr val="dk1"/>
              </a:solidFill>
              <a:latin typeface="Times New Roman"/>
              <a:ea typeface="Times New Roman"/>
              <a:cs typeface="Times New Roman"/>
              <a:sym typeface="Times New Roman"/>
            </a:endParaRPr>
          </a:p>
          <a:p>
            <a:pPr marL="342900" marR="0" lvl="0" indent="-342900" algn="just" rtl="0">
              <a:spcBef>
                <a:spcPts val="0"/>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We look for the value in row 3, column 1, in Table (S-box 1). </a:t>
            </a:r>
            <a:endParaRPr sz="2400" dirty="0">
              <a:solidFill>
                <a:schemeClr val="dk1"/>
              </a:solidFill>
              <a:latin typeface="Times New Roman"/>
              <a:ea typeface="Times New Roman"/>
              <a:cs typeface="Times New Roman"/>
              <a:sym typeface="Times New Roman"/>
            </a:endParaRPr>
          </a:p>
          <a:p>
            <a:pPr marL="342900" marR="0" lvl="0" indent="-342900" algn="just" rtl="0">
              <a:spcBef>
                <a:spcPts val="0"/>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The result is 12 in decimal, which in binary is 1100. So the input </a:t>
            </a:r>
            <a:r>
              <a:rPr lang="en-US" sz="2400" dirty="0">
                <a:solidFill>
                  <a:schemeClr val="hlink"/>
                </a:solidFill>
                <a:latin typeface="Times New Roman"/>
                <a:ea typeface="Times New Roman"/>
                <a:cs typeface="Times New Roman"/>
                <a:sym typeface="Times New Roman"/>
              </a:rPr>
              <a:t>100011</a:t>
            </a:r>
            <a:r>
              <a:rPr lang="en-US" sz="2400" dirty="0">
                <a:solidFill>
                  <a:schemeClr val="dk1"/>
                </a:solidFill>
                <a:latin typeface="Times New Roman"/>
                <a:ea typeface="Times New Roman"/>
                <a:cs typeface="Times New Roman"/>
                <a:sym typeface="Times New Roman"/>
              </a:rPr>
              <a:t> yields the output </a:t>
            </a:r>
            <a:r>
              <a:rPr lang="en-US" sz="2400" dirty="0">
                <a:solidFill>
                  <a:schemeClr val="hlink"/>
                </a:solidFill>
                <a:latin typeface="Times New Roman"/>
                <a:ea typeface="Times New Roman"/>
                <a:cs typeface="Times New Roman"/>
                <a:sym typeface="Times New Roman"/>
              </a:rPr>
              <a:t>1100</a:t>
            </a:r>
            <a:r>
              <a:rPr lang="en-US" sz="2400" dirty="0">
                <a:solidFill>
                  <a:schemeClr val="dk1"/>
                </a:solidFill>
                <a:latin typeface="Times New Roman"/>
                <a:ea typeface="Times New Roman"/>
                <a:cs typeface="Times New Roman"/>
                <a:sym typeface="Times New Roman"/>
              </a:rPr>
              <a:t>.</a:t>
            </a:r>
            <a:endParaRPr dirty="0"/>
          </a:p>
        </p:txBody>
      </p:sp>
      <p:sp>
        <p:nvSpPr>
          <p:cNvPr id="2263" name="Google Shape;2263;p116"/>
          <p:cNvSpPr/>
          <p:nvPr/>
        </p:nvSpPr>
        <p:spPr>
          <a:xfrm>
            <a:off x="804863" y="3591647"/>
            <a:ext cx="7681826" cy="45720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400" dirty="0">
                <a:solidFill>
                  <a:schemeClr val="hlink"/>
                </a:solidFill>
                <a:latin typeface="Times New Roman"/>
                <a:ea typeface="Times New Roman"/>
                <a:cs typeface="Times New Roman"/>
                <a:sym typeface="Times New Roman"/>
              </a:rPr>
              <a:t>Solution</a:t>
            </a:r>
            <a:endParaRPr dirty="0"/>
          </a:p>
        </p:txBody>
      </p:sp>
      <p:pic>
        <p:nvPicPr>
          <p:cNvPr id="2264" name="Google Shape;2264;p116"/>
          <p:cNvPicPr preferRelativeResize="0"/>
          <p:nvPr/>
        </p:nvPicPr>
        <p:blipFill rotWithShape="1">
          <a:blip r:embed="rId3">
            <a:alphaModFix/>
          </a:blip>
          <a:srcRect/>
          <a:stretch/>
        </p:blipFill>
        <p:spPr>
          <a:xfrm>
            <a:off x="356394" y="1565997"/>
            <a:ext cx="8583613" cy="2025650"/>
          </a:xfrm>
          <a:prstGeom prst="rect">
            <a:avLst/>
          </a:prstGeom>
          <a:noFill/>
          <a:ln>
            <a:noFill/>
          </a:ln>
        </p:spPr>
      </p:pic>
    </p:spTree>
    <p:extLst>
      <p:ext uri="{BB962C8B-B14F-4D97-AF65-F5344CB8AC3E}">
        <p14:creationId xmlns:p14="http://schemas.microsoft.com/office/powerpoint/2010/main" val="176978078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302"/>
        <p:cNvGrpSpPr/>
        <p:nvPr/>
      </p:nvGrpSpPr>
      <p:grpSpPr>
        <a:xfrm>
          <a:off x="0" y="0"/>
          <a:ext cx="0" cy="0"/>
          <a:chOff x="0" y="0"/>
          <a:chExt cx="0" cy="0"/>
        </a:xfrm>
      </p:grpSpPr>
      <p:sp>
        <p:nvSpPr>
          <p:cNvPr id="2303" name="Google Shape;2303;p119"/>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57</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pPr lvl="0"/>
            <a:r>
              <a:rPr lang="en-US" dirty="0">
                <a:latin typeface="Marcellus" panose="020B0604020202020204" charset="0"/>
                <a:ea typeface="Times New Roman"/>
                <a:cs typeface="Times New Roman"/>
                <a:sym typeface="Times New Roman"/>
              </a:rPr>
              <a:t>Straight Permutation</a:t>
            </a:r>
            <a:r>
              <a:rPr lang="en-US" dirty="0">
                <a:latin typeface="Marcellus" panose="020B0604020202020204" charset="0"/>
              </a:rPr>
              <a:t/>
            </a:r>
            <a:br>
              <a:rPr lang="en-US" dirty="0">
                <a:latin typeface="Marcellus" panose="020B0604020202020204" charset="0"/>
              </a:rPr>
            </a:br>
            <a:endParaRPr lang="en-IN" dirty="0">
              <a:latin typeface="Marcellus" panose="020B0604020202020204" charset="0"/>
            </a:endParaRPr>
          </a:p>
        </p:txBody>
      </p:sp>
      <p:sp>
        <p:nvSpPr>
          <p:cNvPr id="3" name="Text Placeholder 2"/>
          <p:cNvSpPr>
            <a:spLocks noGrp="1"/>
          </p:cNvSpPr>
          <p:nvPr>
            <p:ph type="body" idx="1"/>
          </p:nvPr>
        </p:nvSpPr>
        <p:spPr/>
        <p:txBody>
          <a:bodyPr/>
          <a:lstStyle/>
          <a:p>
            <a:endParaRPr lang="en-IN"/>
          </a:p>
        </p:txBody>
      </p:sp>
      <p:sp>
        <p:nvSpPr>
          <p:cNvPr id="2304" name="Google Shape;2304;p119"/>
          <p:cNvSpPr/>
          <p:nvPr/>
        </p:nvSpPr>
        <p:spPr>
          <a:xfrm>
            <a:off x="366713" y="107950"/>
            <a:ext cx="438150" cy="47466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305" name="Google Shape;2305;p119"/>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306" name="Google Shape;2306;p119"/>
          <p:cNvSpPr/>
          <p:nvPr/>
        </p:nvSpPr>
        <p:spPr>
          <a:xfrm>
            <a:off x="490538" y="530225"/>
            <a:ext cx="422275" cy="474663"/>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307" name="Google Shape;2307;p119"/>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308" name="Google Shape;2308;p119"/>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309" name="Google Shape;2309;p119"/>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sp>
        <p:nvSpPr>
          <p:cNvPr id="2311" name="Google Shape;2311;p119"/>
          <p:cNvSpPr/>
          <p:nvPr/>
        </p:nvSpPr>
        <p:spPr>
          <a:xfrm>
            <a:off x="228600" y="838200"/>
            <a:ext cx="8686800" cy="609357"/>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lnSpc>
                <a:spcPct val="120000"/>
              </a:lnSpc>
              <a:spcBef>
                <a:spcPts val="0"/>
              </a:spcBef>
              <a:spcAft>
                <a:spcPts val="0"/>
              </a:spcAft>
              <a:buNone/>
            </a:pPr>
            <a:endParaRPr sz="2800" b="1" i="1" dirty="0">
              <a:solidFill>
                <a:schemeClr val="dk1"/>
              </a:solidFill>
              <a:latin typeface="Times New Roman"/>
              <a:ea typeface="Times New Roman"/>
              <a:cs typeface="Times New Roman"/>
              <a:sym typeface="Times New Roman"/>
            </a:endParaRPr>
          </a:p>
        </p:txBody>
      </p:sp>
      <p:pic>
        <p:nvPicPr>
          <p:cNvPr id="2313" name="Google Shape;2313;p119"/>
          <p:cNvPicPr preferRelativeResize="0"/>
          <p:nvPr/>
        </p:nvPicPr>
        <p:blipFill rotWithShape="1">
          <a:blip r:embed="rId3">
            <a:alphaModFix/>
          </a:blip>
          <a:srcRect/>
          <a:stretch/>
        </p:blipFill>
        <p:spPr>
          <a:xfrm>
            <a:off x="585788" y="4869160"/>
            <a:ext cx="7550150" cy="1706562"/>
          </a:xfrm>
          <a:prstGeom prst="rect">
            <a:avLst/>
          </a:prstGeom>
          <a:noFill/>
          <a:ln>
            <a:noFill/>
          </a:ln>
        </p:spPr>
      </p:pic>
      <p:sp>
        <p:nvSpPr>
          <p:cNvPr id="2314" name="Google Shape;2314;p119"/>
          <p:cNvSpPr txBox="1"/>
          <p:nvPr/>
        </p:nvSpPr>
        <p:spPr>
          <a:xfrm>
            <a:off x="1860511" y="4399562"/>
            <a:ext cx="4449762"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folHlink"/>
                </a:solidFill>
                <a:latin typeface="Times New Roman"/>
                <a:ea typeface="Times New Roman"/>
                <a:cs typeface="Times New Roman"/>
                <a:sym typeface="Times New Roman"/>
              </a:rPr>
              <a:t>Table 6.11  </a:t>
            </a:r>
            <a:r>
              <a:rPr lang="en-US" sz="2000" b="1" i="1">
                <a:solidFill>
                  <a:schemeClr val="dk1"/>
                </a:solidFill>
                <a:latin typeface="Times New Roman"/>
                <a:ea typeface="Times New Roman"/>
                <a:cs typeface="Times New Roman"/>
                <a:sym typeface="Times New Roman"/>
              </a:rPr>
              <a:t>Straight permutation table</a:t>
            </a:r>
            <a:endParaRPr/>
          </a:p>
        </p:txBody>
      </p:sp>
      <p:sp>
        <p:nvSpPr>
          <p:cNvPr id="2315" name="Google Shape;2315;p119"/>
          <p:cNvSpPr/>
          <p:nvPr/>
        </p:nvSpPr>
        <p:spPr>
          <a:xfrm>
            <a:off x="208859" y="1377109"/>
            <a:ext cx="7383257" cy="978729"/>
          </a:xfrm>
          <a:prstGeom prst="rect">
            <a:avLst/>
          </a:prstGeom>
          <a:solidFill>
            <a:schemeClr val="lt1"/>
          </a:solidFill>
          <a:ln>
            <a:noFill/>
          </a:ln>
        </p:spPr>
        <p:txBody>
          <a:bodyPr spcFirstLastPara="1" wrap="square" lIns="91425" tIns="45700" rIns="91425" bIns="45700" anchor="t" anchorCtr="0">
            <a:spAutoFit/>
          </a:bodyPr>
          <a:lstStyle/>
          <a:p>
            <a:pPr marL="457200" marR="0" lvl="0" indent="-457200" algn="just" rtl="0">
              <a:lnSpc>
                <a:spcPct val="120000"/>
              </a:lnSpc>
              <a:spcBef>
                <a:spcPts val="0"/>
              </a:spcBef>
              <a:spcAft>
                <a:spcPts val="0"/>
              </a:spcAft>
              <a:buClr>
                <a:schemeClr val="dk1"/>
              </a:buClr>
              <a:buSzPts val="2400"/>
              <a:buFont typeface="Arial"/>
              <a:buChar char="•"/>
            </a:pPr>
            <a:r>
              <a:rPr lang="en-US" sz="2400" b="1" i="1" dirty="0">
                <a:solidFill>
                  <a:schemeClr val="dk1"/>
                </a:solidFill>
                <a:latin typeface="Times New Roman"/>
                <a:ea typeface="Times New Roman"/>
                <a:cs typeface="Times New Roman"/>
                <a:sym typeface="Times New Roman"/>
              </a:rPr>
              <a:t>Last operation in DES </a:t>
            </a:r>
            <a:r>
              <a:rPr lang="en-US" sz="2400" b="1" i="1" dirty="0" smtClean="0">
                <a:solidFill>
                  <a:schemeClr val="dk1"/>
                </a:solidFill>
                <a:latin typeface="Times New Roman"/>
                <a:ea typeface="Times New Roman"/>
                <a:cs typeface="Times New Roman"/>
                <a:sym typeface="Times New Roman"/>
              </a:rPr>
              <a:t>round</a:t>
            </a:r>
            <a:endParaRPr dirty="0"/>
          </a:p>
          <a:p>
            <a:pPr marL="457200" marR="0" lvl="0" indent="-457200" algn="just" rtl="0">
              <a:lnSpc>
                <a:spcPct val="120000"/>
              </a:lnSpc>
              <a:spcBef>
                <a:spcPts val="0"/>
              </a:spcBef>
              <a:spcAft>
                <a:spcPts val="0"/>
              </a:spcAft>
              <a:buClr>
                <a:schemeClr val="dk1"/>
              </a:buClr>
              <a:buSzPts val="2400"/>
              <a:buFont typeface="Arial"/>
              <a:buChar char="•"/>
            </a:pPr>
            <a:r>
              <a:rPr lang="en-US" sz="2400" b="1" i="1" dirty="0">
                <a:solidFill>
                  <a:schemeClr val="dk1"/>
                </a:solidFill>
                <a:latin typeface="Times New Roman"/>
                <a:ea typeface="Times New Roman"/>
                <a:cs typeface="Times New Roman"/>
                <a:sym typeface="Times New Roman"/>
              </a:rPr>
              <a:t>Permutation with 32 bit input and 32 bit output</a:t>
            </a:r>
            <a:endParaRPr sz="2400" b="1" i="1" dirty="0">
              <a:solidFill>
                <a:schemeClr val="dk1"/>
              </a:solidFill>
              <a:latin typeface="Times New Roman"/>
              <a:ea typeface="Times New Roman"/>
              <a:cs typeface="Times New Roman"/>
              <a:sym typeface="Times New Roman"/>
            </a:endParaRPr>
          </a:p>
        </p:txBody>
      </p:sp>
      <p:pic>
        <p:nvPicPr>
          <p:cNvPr id="2316" name="Google Shape;2316;p119"/>
          <p:cNvPicPr preferRelativeResize="0"/>
          <p:nvPr/>
        </p:nvPicPr>
        <p:blipFill rotWithShape="1">
          <a:blip r:embed="rId4">
            <a:alphaModFix/>
          </a:blip>
          <a:srcRect/>
          <a:stretch/>
        </p:blipFill>
        <p:spPr>
          <a:xfrm>
            <a:off x="6311761" y="2355838"/>
            <a:ext cx="2837593" cy="2485435"/>
          </a:xfrm>
          <a:prstGeom prst="rect">
            <a:avLst/>
          </a:prstGeom>
          <a:noFill/>
          <a:ln>
            <a:noFill/>
          </a:ln>
        </p:spPr>
      </p:pic>
    </p:spTree>
    <p:extLst>
      <p:ext uri="{BB962C8B-B14F-4D97-AF65-F5344CB8AC3E}">
        <p14:creationId xmlns:p14="http://schemas.microsoft.com/office/powerpoint/2010/main" val="35887330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456"/>
        <p:cNvGrpSpPr/>
        <p:nvPr/>
      </p:nvGrpSpPr>
      <p:grpSpPr>
        <a:xfrm>
          <a:off x="0" y="0"/>
          <a:ext cx="0" cy="0"/>
          <a:chOff x="0" y="0"/>
          <a:chExt cx="0" cy="0"/>
        </a:xfrm>
      </p:grpSpPr>
      <p:sp>
        <p:nvSpPr>
          <p:cNvPr id="2457" name="Google Shape;2457;p128"/>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58</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pPr lvl="0"/>
            <a:r>
              <a:rPr lang="en-US" dirty="0">
                <a:latin typeface="Marcellus" panose="020B0604020202020204" charset="0"/>
                <a:ea typeface="Times New Roman"/>
                <a:cs typeface="Times New Roman"/>
                <a:sym typeface="Times New Roman"/>
              </a:rPr>
              <a:t>Key </a:t>
            </a:r>
            <a:r>
              <a:rPr lang="en-US" dirty="0" smtClean="0">
                <a:latin typeface="Marcellus" panose="020B0604020202020204" charset="0"/>
                <a:ea typeface="Times New Roman"/>
                <a:cs typeface="Times New Roman"/>
                <a:sym typeface="Times New Roman"/>
              </a:rPr>
              <a:t>Generation</a:t>
            </a:r>
            <a:endParaRPr lang="en-IN" dirty="0">
              <a:latin typeface="Marcellus" panose="020B0604020202020204" charset="0"/>
            </a:endParaRPr>
          </a:p>
        </p:txBody>
      </p:sp>
      <p:sp>
        <p:nvSpPr>
          <p:cNvPr id="3" name="Text Placeholder 2"/>
          <p:cNvSpPr>
            <a:spLocks noGrp="1"/>
          </p:cNvSpPr>
          <p:nvPr>
            <p:ph type="body" idx="1"/>
          </p:nvPr>
        </p:nvSpPr>
        <p:spPr/>
        <p:txBody>
          <a:bodyPr/>
          <a:lstStyle/>
          <a:p>
            <a:endParaRPr lang="en-IN"/>
          </a:p>
        </p:txBody>
      </p:sp>
      <p:pic>
        <p:nvPicPr>
          <p:cNvPr id="2466" name="Google Shape;2466;p128"/>
          <p:cNvPicPr preferRelativeResize="0"/>
          <p:nvPr/>
        </p:nvPicPr>
        <p:blipFill rotWithShape="1">
          <a:blip r:embed="rId3">
            <a:alphaModFix/>
          </a:blip>
          <a:srcRect/>
          <a:stretch/>
        </p:blipFill>
        <p:spPr>
          <a:xfrm>
            <a:off x="58600" y="823913"/>
            <a:ext cx="5048595" cy="4729990"/>
          </a:xfrm>
          <a:prstGeom prst="rect">
            <a:avLst/>
          </a:prstGeom>
          <a:noFill/>
          <a:ln>
            <a:noFill/>
          </a:ln>
        </p:spPr>
      </p:pic>
      <p:sp>
        <p:nvSpPr>
          <p:cNvPr id="14" name="Google Shape;2452;p127"/>
          <p:cNvSpPr/>
          <p:nvPr/>
        </p:nvSpPr>
        <p:spPr>
          <a:xfrm>
            <a:off x="5107195" y="1582352"/>
            <a:ext cx="3959225" cy="1384954"/>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dirty="0">
                <a:solidFill>
                  <a:schemeClr val="dk1"/>
                </a:solidFill>
                <a:latin typeface="Times New Roman"/>
                <a:ea typeface="Times New Roman"/>
                <a:cs typeface="Times New Roman"/>
                <a:sym typeface="Times New Roman"/>
              </a:rPr>
              <a:t>The round-key generator creates sixteen 48-bit keys out of a 56-bit cipher key. </a:t>
            </a:r>
            <a:endParaRPr dirty="0"/>
          </a:p>
        </p:txBody>
      </p:sp>
      <p:sp>
        <p:nvSpPr>
          <p:cNvPr id="13" name="Google Shape;2483;p129"/>
          <p:cNvSpPr/>
          <p:nvPr/>
        </p:nvSpPr>
        <p:spPr>
          <a:xfrm>
            <a:off x="5107195" y="3765801"/>
            <a:ext cx="3907191" cy="2308324"/>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Cipher key is normally given as a  64bit key in which 8 extra bits are parity bits,</a:t>
            </a:r>
            <a:endParaRPr dirty="0"/>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which are dropped off before the actual key generation process.</a:t>
            </a:r>
            <a:endParaRPr sz="2400" dirty="0">
              <a:solidFill>
                <a:schemeClr val="dk1"/>
              </a:solidFill>
              <a:latin typeface="Times New Roman"/>
              <a:ea typeface="Times New Roman"/>
              <a:cs typeface="Times New Roman"/>
              <a:sym typeface="Times New Roman"/>
            </a:endParaRPr>
          </a:p>
        </p:txBody>
      </p:sp>
      <p:pic>
        <p:nvPicPr>
          <p:cNvPr id="16" name="Google Shape;2516;p131"/>
          <p:cNvPicPr preferRelativeResize="0"/>
          <p:nvPr/>
        </p:nvPicPr>
        <p:blipFill rotWithShape="1">
          <a:blip r:embed="rId4">
            <a:alphaModFix/>
          </a:blip>
          <a:srcRect/>
          <a:stretch/>
        </p:blipFill>
        <p:spPr>
          <a:xfrm>
            <a:off x="1122189" y="5760975"/>
            <a:ext cx="7165975" cy="846994"/>
          </a:xfrm>
          <a:prstGeom prst="rect">
            <a:avLst/>
          </a:prstGeom>
          <a:noFill/>
          <a:ln>
            <a:noFill/>
          </a:ln>
        </p:spPr>
      </p:pic>
    </p:spTree>
    <p:extLst>
      <p:ext uri="{BB962C8B-B14F-4D97-AF65-F5344CB8AC3E}">
        <p14:creationId xmlns:p14="http://schemas.microsoft.com/office/powerpoint/2010/main" val="331163411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581"/>
        <p:cNvGrpSpPr/>
        <p:nvPr/>
      </p:nvGrpSpPr>
      <p:grpSpPr>
        <a:xfrm>
          <a:off x="0" y="0"/>
          <a:ext cx="0" cy="0"/>
          <a:chOff x="0" y="0"/>
          <a:chExt cx="0" cy="0"/>
        </a:xfrm>
      </p:grpSpPr>
      <p:sp>
        <p:nvSpPr>
          <p:cNvPr id="2582" name="Google Shape;2582;p136"/>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59</a:t>
            </a:fld>
            <a:endParaRPr sz="1200" b="1">
              <a:solidFill>
                <a:schemeClr val="lt2"/>
              </a:solidFill>
              <a:latin typeface="Arial"/>
              <a:ea typeface="Arial"/>
              <a:cs typeface="Arial"/>
              <a:sym typeface="Arial"/>
            </a:endParaRPr>
          </a:p>
        </p:txBody>
      </p:sp>
      <p:sp>
        <p:nvSpPr>
          <p:cNvPr id="2" name="Title 1"/>
          <p:cNvSpPr>
            <a:spLocks noGrp="1"/>
          </p:cNvSpPr>
          <p:nvPr>
            <p:ph type="title"/>
          </p:nvPr>
        </p:nvSpPr>
        <p:spPr/>
        <p:txBody>
          <a:bodyPr/>
          <a:lstStyle/>
          <a:p>
            <a:pPr lvl="0"/>
            <a:r>
              <a:rPr lang="en-US" dirty="0">
                <a:latin typeface="Marcellus" panose="020B0604020202020204" charset="0"/>
                <a:ea typeface="Times New Roman"/>
                <a:cs typeface="Times New Roman"/>
                <a:sym typeface="Times New Roman"/>
              </a:rPr>
              <a:t>Triple </a:t>
            </a:r>
            <a:r>
              <a:rPr lang="en-US" dirty="0" smtClean="0">
                <a:latin typeface="Marcellus" panose="020B0604020202020204" charset="0"/>
                <a:ea typeface="Times New Roman"/>
                <a:cs typeface="Times New Roman"/>
                <a:sym typeface="Times New Roman"/>
              </a:rPr>
              <a:t>DES</a:t>
            </a:r>
            <a:endParaRPr lang="en-IN" dirty="0">
              <a:latin typeface="Marcellus" panose="020B0604020202020204" charset="0"/>
            </a:endParaRPr>
          </a:p>
        </p:txBody>
      </p:sp>
      <p:sp>
        <p:nvSpPr>
          <p:cNvPr id="3" name="Text Placeholder 2"/>
          <p:cNvSpPr>
            <a:spLocks noGrp="1"/>
          </p:cNvSpPr>
          <p:nvPr>
            <p:ph type="body" idx="1"/>
          </p:nvPr>
        </p:nvSpPr>
        <p:spPr/>
        <p:txBody>
          <a:bodyPr/>
          <a:lstStyle/>
          <a:p>
            <a:endParaRPr lang="en-IN"/>
          </a:p>
        </p:txBody>
      </p:sp>
      <p:sp>
        <p:nvSpPr>
          <p:cNvPr id="2588" name="Google Shape;2588;p136"/>
          <p:cNvSpPr/>
          <p:nvPr/>
        </p:nvSpPr>
        <p:spPr>
          <a:xfrm>
            <a:off x="711200" y="0"/>
            <a:ext cx="31750" cy="105251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a:solidFill>
                <a:schemeClr val="dk1"/>
              </a:solidFill>
              <a:latin typeface="Tahoma"/>
              <a:ea typeface="Tahoma"/>
              <a:cs typeface="Tahoma"/>
              <a:sym typeface="Tahoma"/>
            </a:endParaRPr>
          </a:p>
        </p:txBody>
      </p:sp>
      <p:pic>
        <p:nvPicPr>
          <p:cNvPr id="2591" name="Google Shape;2591;p136"/>
          <p:cNvPicPr preferRelativeResize="0"/>
          <p:nvPr/>
        </p:nvPicPr>
        <p:blipFill rotWithShape="1">
          <a:blip r:embed="rId3">
            <a:alphaModFix/>
          </a:blip>
          <a:srcRect/>
          <a:stretch/>
        </p:blipFill>
        <p:spPr>
          <a:xfrm>
            <a:off x="685800" y="1647825"/>
            <a:ext cx="7075488" cy="4981575"/>
          </a:xfrm>
          <a:prstGeom prst="rect">
            <a:avLst/>
          </a:prstGeom>
          <a:noFill/>
          <a:ln>
            <a:noFill/>
          </a:ln>
        </p:spPr>
      </p:pic>
      <p:sp>
        <p:nvSpPr>
          <p:cNvPr id="2592" name="Google Shape;2592;p136"/>
          <p:cNvSpPr txBox="1"/>
          <p:nvPr/>
        </p:nvSpPr>
        <p:spPr>
          <a:xfrm>
            <a:off x="1828800" y="838200"/>
            <a:ext cx="44592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smtClean="0">
                <a:solidFill>
                  <a:schemeClr val="folHlink"/>
                </a:solidFill>
                <a:latin typeface="Times New Roman"/>
                <a:ea typeface="Times New Roman"/>
                <a:cs typeface="Times New Roman"/>
                <a:sym typeface="Times New Roman"/>
              </a:rPr>
              <a:t> </a:t>
            </a:r>
            <a:r>
              <a:rPr lang="en-US" sz="2000" b="1" i="1" dirty="0">
                <a:solidFill>
                  <a:schemeClr val="dk1"/>
                </a:solidFill>
                <a:latin typeface="Times New Roman"/>
                <a:ea typeface="Times New Roman"/>
                <a:cs typeface="Times New Roman"/>
                <a:sym typeface="Times New Roman"/>
              </a:rPr>
              <a:t>Triple DES with two keys</a:t>
            </a:r>
            <a:endParaRPr dirty="0"/>
          </a:p>
        </p:txBody>
      </p:sp>
    </p:spTree>
    <p:extLst>
      <p:ext uri="{BB962C8B-B14F-4D97-AF65-F5344CB8AC3E}">
        <p14:creationId xmlns:p14="http://schemas.microsoft.com/office/powerpoint/2010/main" val="35949731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DES Analysis</a:t>
            </a:r>
            <a:endParaRPr lang="en-IN" dirty="0"/>
          </a:p>
        </p:txBody>
      </p:sp>
      <p:sp>
        <p:nvSpPr>
          <p:cNvPr id="3" name="Text Placeholder 2"/>
          <p:cNvSpPr>
            <a:spLocks noGrp="1"/>
          </p:cNvSpPr>
          <p:nvPr>
            <p:ph type="body" idx="1"/>
          </p:nvPr>
        </p:nvSpPr>
        <p:spPr/>
        <p:txBody>
          <a:bodyPr/>
          <a:lstStyle/>
          <a:p>
            <a:r>
              <a:rPr lang="en-IN" dirty="0" smtClean="0"/>
              <a:t>Properties</a:t>
            </a:r>
          </a:p>
          <a:p>
            <a:pPr lvl="1"/>
            <a:r>
              <a:rPr lang="en-IN" dirty="0" smtClean="0"/>
              <a:t>Avalanche effect</a:t>
            </a:r>
          </a:p>
          <a:p>
            <a:pPr lvl="1"/>
            <a:r>
              <a:rPr lang="en-IN" dirty="0" smtClean="0"/>
              <a:t>completeness</a:t>
            </a:r>
          </a:p>
          <a:p>
            <a:r>
              <a:rPr lang="en-IN" dirty="0" smtClean="0"/>
              <a:t>Design </a:t>
            </a:r>
            <a:r>
              <a:rPr lang="en-IN" dirty="0"/>
              <a:t>Criteria</a:t>
            </a:r>
          </a:p>
          <a:p>
            <a:r>
              <a:rPr lang="en-IN" dirty="0" smtClean="0"/>
              <a:t>DES </a:t>
            </a:r>
            <a:r>
              <a:rPr lang="en-IN" dirty="0"/>
              <a:t>Weaknesses</a:t>
            </a:r>
          </a:p>
          <a:p>
            <a:endParaRPr lang="en-IN" dirty="0"/>
          </a:p>
        </p:txBody>
      </p:sp>
    </p:spTree>
    <p:extLst>
      <p:ext uri="{BB962C8B-B14F-4D97-AF65-F5344CB8AC3E}">
        <p14:creationId xmlns:p14="http://schemas.microsoft.com/office/powerpoint/2010/main" val="194602390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DES Properties</a:t>
            </a:r>
            <a:endParaRPr lang="en-IN" dirty="0"/>
          </a:p>
        </p:txBody>
      </p:sp>
      <p:sp>
        <p:nvSpPr>
          <p:cNvPr id="3" name="Text Placeholder 2"/>
          <p:cNvSpPr>
            <a:spLocks noGrp="1"/>
          </p:cNvSpPr>
          <p:nvPr>
            <p:ph type="body" idx="1"/>
          </p:nvPr>
        </p:nvSpPr>
        <p:spPr>
          <a:xfrm>
            <a:off x="585704" y="825866"/>
            <a:ext cx="8229600" cy="4525963"/>
          </a:xfrm>
        </p:spPr>
        <p:txBody>
          <a:bodyPr>
            <a:normAutofit fontScale="92500" lnSpcReduction="20000"/>
          </a:bodyPr>
          <a:lstStyle/>
          <a:p>
            <a:pPr marL="50800" indent="0">
              <a:buNone/>
            </a:pPr>
            <a:r>
              <a:rPr lang="en-US" i="1" dirty="0">
                <a:latin typeface="Fira Sans" panose="020B0604020202020204" charset="0"/>
              </a:rPr>
              <a:t>Avalanche effect</a:t>
            </a:r>
          </a:p>
          <a:p>
            <a:r>
              <a:rPr lang="en-US" i="1" dirty="0">
                <a:latin typeface="Fira Sans" panose="020B0604020202020204" charset="0"/>
              </a:rPr>
              <a:t>A small change in the Plain text ( or key) should create a significant change in the </a:t>
            </a:r>
            <a:r>
              <a:rPr lang="en-US" i="1" dirty="0" err="1">
                <a:latin typeface="Fira Sans" panose="020B0604020202020204" charset="0"/>
              </a:rPr>
              <a:t>ciphertext</a:t>
            </a:r>
            <a:r>
              <a:rPr lang="en-US" i="1" dirty="0">
                <a:latin typeface="Fira Sans" panose="020B0604020202020204" charset="0"/>
              </a:rPr>
              <a:t> </a:t>
            </a:r>
          </a:p>
          <a:p>
            <a:r>
              <a:rPr lang="en-US" i="1" dirty="0" smtClean="0">
                <a:latin typeface="Fira Sans" panose="020B0604020202020204" charset="0"/>
              </a:rPr>
              <a:t>DES </a:t>
            </a:r>
            <a:r>
              <a:rPr lang="en-US" i="1" dirty="0">
                <a:latin typeface="Fira Sans" panose="020B0604020202020204" charset="0"/>
              </a:rPr>
              <a:t>has been proved to be strong with respect to this </a:t>
            </a:r>
            <a:r>
              <a:rPr lang="en-US" i="1" dirty="0" smtClean="0">
                <a:latin typeface="Fira Sans" panose="020B0604020202020204" charset="0"/>
              </a:rPr>
              <a:t>property</a:t>
            </a:r>
          </a:p>
          <a:p>
            <a:endParaRPr lang="en-US" i="1" dirty="0" smtClean="0">
              <a:latin typeface="Fira Sans" panose="020B0604020202020204" charset="0"/>
            </a:endParaRPr>
          </a:p>
          <a:p>
            <a:pPr marL="0" lvl="0" indent="0" algn="just">
              <a:spcBef>
                <a:spcPts val="0"/>
              </a:spcBef>
              <a:buNone/>
            </a:pPr>
            <a:r>
              <a:rPr lang="en-US" i="1" dirty="0">
                <a:latin typeface="Fira Sans" panose="020B0604020202020204" charset="0"/>
                <a:sym typeface="Times New Roman"/>
              </a:rPr>
              <a:t>Completeness effect</a:t>
            </a:r>
            <a:endParaRPr lang="en-US" i="1" dirty="0">
              <a:latin typeface="Fira Sans" panose="020B0604020202020204" charset="0"/>
            </a:endParaRPr>
          </a:p>
          <a:p>
            <a:pPr lvl="0" indent="-457200" algn="just">
              <a:spcBef>
                <a:spcPts val="0"/>
              </a:spcBef>
            </a:pPr>
            <a:r>
              <a:rPr lang="en-US" i="1" dirty="0">
                <a:latin typeface="Fira Sans" panose="020B0604020202020204" charset="0"/>
                <a:ea typeface="Times New Roman"/>
                <a:cs typeface="Times New Roman"/>
                <a:sym typeface="Times New Roman"/>
              </a:rPr>
              <a:t>Completeness effect means that each bit of the </a:t>
            </a:r>
            <a:r>
              <a:rPr lang="en-US" i="1" dirty="0" err="1">
                <a:latin typeface="Fira Sans" panose="020B0604020202020204" charset="0"/>
                <a:ea typeface="Times New Roman"/>
                <a:cs typeface="Times New Roman"/>
                <a:sym typeface="Times New Roman"/>
              </a:rPr>
              <a:t>ciphertext</a:t>
            </a:r>
            <a:r>
              <a:rPr lang="en-US" i="1" dirty="0">
                <a:latin typeface="Fira Sans" panose="020B0604020202020204" charset="0"/>
                <a:ea typeface="Times New Roman"/>
                <a:cs typeface="Times New Roman"/>
                <a:sym typeface="Times New Roman"/>
              </a:rPr>
              <a:t> needs to depend on many bits on the plaintext. </a:t>
            </a:r>
          </a:p>
          <a:p>
            <a:pPr lvl="0" indent="-279400" algn="just">
              <a:spcBef>
                <a:spcPts val="0"/>
              </a:spcBef>
              <a:buNone/>
            </a:pPr>
            <a:endParaRPr lang="en-US" i="1" dirty="0">
              <a:latin typeface="Fira Sans" panose="020B0604020202020204" charset="0"/>
              <a:ea typeface="Times New Roman"/>
              <a:cs typeface="Times New Roman"/>
              <a:sym typeface="Times New Roman"/>
            </a:endParaRPr>
          </a:p>
          <a:p>
            <a:pPr lvl="0" indent="-457200" algn="just">
              <a:spcBef>
                <a:spcPts val="0"/>
              </a:spcBef>
            </a:pPr>
            <a:r>
              <a:rPr lang="en-US" i="1" dirty="0">
                <a:latin typeface="Fira Sans" panose="020B0604020202020204" charset="0"/>
                <a:ea typeface="Times New Roman"/>
                <a:cs typeface="Times New Roman"/>
                <a:sym typeface="Times New Roman"/>
              </a:rPr>
              <a:t>Diffusion and Confusion produced by P Boxes and S Boxes in DES show a very strong completeness effect</a:t>
            </a:r>
          </a:p>
          <a:p>
            <a:endParaRPr lang="en-US" i="1" dirty="0">
              <a:latin typeface="Fira Sans" panose="020B0604020202020204" charset="0"/>
            </a:endParaRPr>
          </a:p>
          <a:p>
            <a:endParaRPr lang="en-IN" i="1" dirty="0">
              <a:latin typeface="Fira Sans" panose="020B0604020202020204" charset="0"/>
            </a:endParaRPr>
          </a:p>
        </p:txBody>
      </p:sp>
    </p:spTree>
    <p:extLst>
      <p:ext uri="{BB962C8B-B14F-4D97-AF65-F5344CB8AC3E}">
        <p14:creationId xmlns:p14="http://schemas.microsoft.com/office/powerpoint/2010/main" val="185071120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734"/>
        <p:cNvGrpSpPr/>
        <p:nvPr/>
      </p:nvGrpSpPr>
      <p:grpSpPr>
        <a:xfrm>
          <a:off x="0" y="0"/>
          <a:ext cx="0" cy="0"/>
          <a:chOff x="0" y="0"/>
          <a:chExt cx="0" cy="0"/>
        </a:xfrm>
      </p:grpSpPr>
      <p:sp>
        <p:nvSpPr>
          <p:cNvPr id="2735" name="Google Shape;2735;p146"/>
          <p:cNvSpPr txBox="1">
            <a:spLocks noGrp="1"/>
          </p:cNvSpPr>
          <p:nvPr>
            <p:ph type="sldNum" idx="12"/>
          </p:nvPr>
        </p:nvSpPr>
        <p:spPr>
          <a:xfrm>
            <a:off x="76200" y="6400800"/>
            <a:ext cx="19050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200" b="1">
                <a:solidFill>
                  <a:schemeClr val="lt2"/>
                </a:solidFill>
                <a:latin typeface="Arial"/>
                <a:ea typeface="Arial"/>
                <a:cs typeface="Arial"/>
                <a:sym typeface="Arial"/>
              </a:rPr>
              <a:t>6.</a:t>
            </a:r>
            <a:fld id="{00000000-1234-1234-1234-123412341234}" type="slidenum">
              <a:rPr lang="en-US" sz="1200" b="1">
                <a:solidFill>
                  <a:schemeClr val="lt2"/>
                </a:solidFill>
                <a:latin typeface="Arial"/>
                <a:ea typeface="Arial"/>
                <a:cs typeface="Arial"/>
                <a:sym typeface="Arial"/>
              </a:rPr>
              <a:t>62</a:t>
            </a:fld>
            <a:endParaRPr sz="1200" b="1">
              <a:solidFill>
                <a:schemeClr val="lt2"/>
              </a:solidFill>
              <a:latin typeface="Arial"/>
              <a:ea typeface="Arial"/>
              <a:cs typeface="Arial"/>
              <a:sym typeface="Arial"/>
            </a:endParaRPr>
          </a:p>
        </p:txBody>
      </p:sp>
      <p:sp>
        <p:nvSpPr>
          <p:cNvPr id="2743" name="Google Shape;2743;p146"/>
          <p:cNvSpPr/>
          <p:nvPr/>
        </p:nvSpPr>
        <p:spPr>
          <a:xfrm>
            <a:off x="1756064" y="249382"/>
            <a:ext cx="7387936" cy="707846"/>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000" dirty="0">
                <a:solidFill>
                  <a:srgbClr val="C00000"/>
                </a:solidFill>
                <a:latin typeface="Marcellus" panose="020B0604020202020204" charset="0"/>
                <a:ea typeface="Times New Roman"/>
                <a:cs typeface="Times New Roman"/>
                <a:sym typeface="Times New Roman"/>
              </a:rPr>
              <a:t>Avalanche effect</a:t>
            </a:r>
            <a:endParaRPr sz="2000" dirty="0">
              <a:solidFill>
                <a:srgbClr val="C00000"/>
              </a:solidFill>
              <a:latin typeface="Marcellus" panose="020B0604020202020204" charset="0"/>
            </a:endParaRPr>
          </a:p>
        </p:txBody>
      </p:sp>
      <p:sp>
        <p:nvSpPr>
          <p:cNvPr id="2746" name="Google Shape;2746;p146"/>
          <p:cNvSpPr/>
          <p:nvPr/>
        </p:nvSpPr>
        <p:spPr>
          <a:xfrm>
            <a:off x="254722" y="2446248"/>
            <a:ext cx="8229600" cy="1200329"/>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400">
                <a:solidFill>
                  <a:schemeClr val="dk1"/>
                </a:solidFill>
                <a:latin typeface="Times New Roman"/>
                <a:ea typeface="Times New Roman"/>
                <a:cs typeface="Times New Roman"/>
                <a:sym typeface="Times New Roman"/>
              </a:rPr>
              <a:t>To check the avalanche effect in DES, let us encrypt two plaintext blocks (with the same key) that differ only in one bit and observe the differences in the number of bits in each round.</a:t>
            </a:r>
            <a:endParaRPr/>
          </a:p>
        </p:txBody>
      </p:sp>
      <p:pic>
        <p:nvPicPr>
          <p:cNvPr id="2747" name="Google Shape;2747;p146"/>
          <p:cNvPicPr preferRelativeResize="0"/>
          <p:nvPr/>
        </p:nvPicPr>
        <p:blipFill rotWithShape="1">
          <a:blip r:embed="rId3">
            <a:alphaModFix/>
          </a:blip>
          <a:srcRect/>
          <a:stretch/>
        </p:blipFill>
        <p:spPr>
          <a:xfrm>
            <a:off x="785018" y="3933056"/>
            <a:ext cx="7542213" cy="1606550"/>
          </a:xfrm>
          <a:prstGeom prst="rect">
            <a:avLst/>
          </a:prstGeom>
          <a:noFill/>
          <a:ln>
            <a:noFill/>
          </a:ln>
        </p:spPr>
      </p:pic>
    </p:spTree>
    <p:extLst>
      <p:ext uri="{BB962C8B-B14F-4D97-AF65-F5344CB8AC3E}">
        <p14:creationId xmlns:p14="http://schemas.microsoft.com/office/powerpoint/2010/main" val="316324997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p:txBody>
          <a:bodyPr/>
          <a:lstStyle/>
          <a:p>
            <a:r>
              <a:rPr lang="en-US" dirty="0"/>
              <a:t>Experiments have found that DES versions with less than 16 rounds are even more vulnerable to known plain text attacks than brute force attack , That justifies the use of 16 rounds</a:t>
            </a:r>
          </a:p>
          <a:p>
            <a:r>
              <a:rPr lang="en-US" dirty="0"/>
              <a:t>Weaknesses in Cipher </a:t>
            </a:r>
            <a:r>
              <a:rPr lang="en-US" dirty="0" smtClean="0"/>
              <a:t>Design</a:t>
            </a:r>
          </a:p>
          <a:p>
            <a:pPr lvl="1"/>
            <a:r>
              <a:rPr lang="en-US" dirty="0" smtClean="0"/>
              <a:t>Weaknesses </a:t>
            </a:r>
            <a:r>
              <a:rPr lang="en-US" dirty="0"/>
              <a:t>in </a:t>
            </a:r>
            <a:r>
              <a:rPr lang="en-US" dirty="0" smtClean="0"/>
              <a:t>S-boxes</a:t>
            </a:r>
          </a:p>
          <a:p>
            <a:pPr lvl="1"/>
            <a:r>
              <a:rPr lang="en-US" dirty="0" smtClean="0"/>
              <a:t>Weaknesses </a:t>
            </a:r>
            <a:r>
              <a:rPr lang="en-US" dirty="0"/>
              <a:t>in </a:t>
            </a:r>
            <a:r>
              <a:rPr lang="en-US" dirty="0" smtClean="0"/>
              <a:t>P-boxes</a:t>
            </a:r>
          </a:p>
          <a:p>
            <a:pPr lvl="1"/>
            <a:r>
              <a:rPr lang="en-US" dirty="0" smtClean="0"/>
              <a:t>Weaknesses </a:t>
            </a:r>
            <a:r>
              <a:rPr lang="en-US" dirty="0"/>
              <a:t>in Key</a:t>
            </a:r>
          </a:p>
          <a:p>
            <a:endParaRPr lang="en-IN" dirty="0"/>
          </a:p>
        </p:txBody>
      </p:sp>
    </p:spTree>
    <p:extLst>
      <p:ext uri="{BB962C8B-B14F-4D97-AF65-F5344CB8AC3E}">
        <p14:creationId xmlns:p14="http://schemas.microsoft.com/office/powerpoint/2010/main" val="59734275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Applications of DES</a:t>
            </a:r>
            <a:endParaRPr lang="en-IN" dirty="0"/>
          </a:p>
        </p:txBody>
      </p:sp>
      <p:sp>
        <p:nvSpPr>
          <p:cNvPr id="3" name="Text Placeholder 2"/>
          <p:cNvSpPr>
            <a:spLocks noGrp="1"/>
          </p:cNvSpPr>
          <p:nvPr>
            <p:ph type="body" idx="1"/>
          </p:nvPr>
        </p:nvSpPr>
        <p:spPr/>
        <p:txBody>
          <a:bodyPr>
            <a:normAutofit/>
          </a:bodyPr>
          <a:lstStyle/>
          <a:p>
            <a:r>
              <a:rPr lang="en-IN" b="1" dirty="0"/>
              <a:t>Data Security in Banking</a:t>
            </a:r>
            <a:endParaRPr lang="en-IN" dirty="0"/>
          </a:p>
          <a:p>
            <a:pPr lvl="1"/>
            <a:r>
              <a:rPr lang="en-IN" dirty="0"/>
              <a:t>Secure fund transfers (e.g., ATM transactions, SWIFT network)</a:t>
            </a:r>
          </a:p>
          <a:p>
            <a:pPr lvl="1"/>
            <a:r>
              <a:rPr lang="en-IN" dirty="0"/>
              <a:t>Encrypting PINs and cardholder information</a:t>
            </a:r>
          </a:p>
          <a:p>
            <a:r>
              <a:rPr lang="en-IN" b="1" dirty="0"/>
              <a:t>Secure Communication</a:t>
            </a:r>
            <a:endParaRPr lang="en-IN" dirty="0"/>
          </a:p>
          <a:p>
            <a:pPr lvl="1"/>
            <a:r>
              <a:rPr lang="en-IN" dirty="0"/>
              <a:t>Encrypting emails and messages</a:t>
            </a:r>
          </a:p>
          <a:p>
            <a:pPr lvl="1"/>
            <a:r>
              <a:rPr lang="en-IN" dirty="0"/>
              <a:t>Securing VoIP and telecommunication networks</a:t>
            </a:r>
          </a:p>
          <a:p>
            <a:r>
              <a:rPr lang="en-IN" b="1" dirty="0"/>
              <a:t>File and Disk Encryption</a:t>
            </a:r>
            <a:endParaRPr lang="en-IN" dirty="0"/>
          </a:p>
          <a:p>
            <a:pPr lvl="1"/>
            <a:r>
              <a:rPr lang="en-IN" dirty="0"/>
              <a:t>Encrypting sensitive files and documents</a:t>
            </a:r>
          </a:p>
          <a:p>
            <a:pPr lvl="1"/>
            <a:r>
              <a:rPr lang="en-IN" dirty="0"/>
              <a:t>Used in early disk encryption tools</a:t>
            </a:r>
          </a:p>
          <a:p>
            <a:endParaRPr lang="en-IN" dirty="0"/>
          </a:p>
        </p:txBody>
      </p:sp>
    </p:spTree>
    <p:extLst>
      <p:ext uri="{BB962C8B-B14F-4D97-AF65-F5344CB8AC3E}">
        <p14:creationId xmlns:p14="http://schemas.microsoft.com/office/powerpoint/2010/main" val="163362136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Applications of DES</a:t>
            </a:r>
            <a:endParaRPr lang="en-IN" dirty="0"/>
          </a:p>
        </p:txBody>
      </p:sp>
      <p:sp>
        <p:nvSpPr>
          <p:cNvPr id="3" name="Text Placeholder 2"/>
          <p:cNvSpPr>
            <a:spLocks noGrp="1"/>
          </p:cNvSpPr>
          <p:nvPr>
            <p:ph type="body" idx="1"/>
          </p:nvPr>
        </p:nvSpPr>
        <p:spPr/>
        <p:txBody>
          <a:bodyPr>
            <a:normAutofit fontScale="92500" lnSpcReduction="10000"/>
          </a:bodyPr>
          <a:lstStyle/>
          <a:p>
            <a:r>
              <a:rPr lang="en-IN" b="1" dirty="0" smtClean="0"/>
              <a:t>Identity </a:t>
            </a:r>
            <a:r>
              <a:rPr lang="en-IN" b="1" dirty="0"/>
              <a:t>Verification &amp; Authentication</a:t>
            </a:r>
            <a:endParaRPr lang="en-IN" dirty="0"/>
          </a:p>
          <a:p>
            <a:pPr lvl="1"/>
            <a:r>
              <a:rPr lang="en-IN" dirty="0"/>
              <a:t>Used in challenge-response authentication systems</a:t>
            </a:r>
          </a:p>
          <a:p>
            <a:pPr lvl="1"/>
            <a:r>
              <a:rPr lang="en-IN" dirty="0"/>
              <a:t>Biometric data encryption</a:t>
            </a:r>
          </a:p>
          <a:p>
            <a:r>
              <a:rPr lang="en-IN" b="1" dirty="0"/>
              <a:t>Smart Cards and Embedded Systems</a:t>
            </a:r>
            <a:endParaRPr lang="en-IN" dirty="0"/>
          </a:p>
          <a:p>
            <a:pPr lvl="1"/>
            <a:r>
              <a:rPr lang="en-IN" dirty="0"/>
              <a:t>Secure authentication in access control systems</a:t>
            </a:r>
          </a:p>
          <a:p>
            <a:pPr lvl="1"/>
            <a:r>
              <a:rPr lang="en-IN" dirty="0"/>
              <a:t>Encrypting stored data on smart cards</a:t>
            </a:r>
          </a:p>
          <a:p>
            <a:r>
              <a:rPr lang="en-IN" b="1" dirty="0"/>
              <a:t>Wireless and Network Security</a:t>
            </a:r>
            <a:endParaRPr lang="en-IN" dirty="0"/>
          </a:p>
          <a:p>
            <a:pPr lvl="1"/>
            <a:r>
              <a:rPr lang="en-IN" dirty="0"/>
              <a:t>Used in older VPNs and network security protocols</a:t>
            </a:r>
          </a:p>
          <a:p>
            <a:pPr lvl="1"/>
            <a:r>
              <a:rPr lang="en-IN" dirty="0"/>
              <a:t>Secure key exchanges</a:t>
            </a:r>
          </a:p>
          <a:p>
            <a:r>
              <a:rPr lang="en-IN" b="1" dirty="0"/>
              <a:t>Digital Rights Management (DRM)</a:t>
            </a:r>
            <a:endParaRPr lang="en-IN" dirty="0"/>
          </a:p>
          <a:p>
            <a:pPr lvl="1"/>
            <a:r>
              <a:rPr lang="en-IN" dirty="0"/>
              <a:t>Protecting copyrighted digital media</a:t>
            </a:r>
          </a:p>
          <a:p>
            <a:pPr lvl="1"/>
            <a:r>
              <a:rPr lang="en-IN" dirty="0"/>
              <a:t>Encryption in early DVD protection systems</a:t>
            </a:r>
          </a:p>
          <a:p>
            <a:endParaRPr lang="en-IN" dirty="0"/>
          </a:p>
        </p:txBody>
      </p:sp>
    </p:spTree>
    <p:extLst>
      <p:ext uri="{BB962C8B-B14F-4D97-AF65-F5344CB8AC3E}">
        <p14:creationId xmlns:p14="http://schemas.microsoft.com/office/powerpoint/2010/main" val="126058812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Limitations of DES</a:t>
            </a:r>
            <a:endParaRPr lang="en-IN" dirty="0"/>
          </a:p>
        </p:txBody>
      </p:sp>
      <p:sp>
        <p:nvSpPr>
          <p:cNvPr id="3" name="Text Placeholder 2"/>
          <p:cNvSpPr>
            <a:spLocks noGrp="1"/>
          </p:cNvSpPr>
          <p:nvPr>
            <p:ph type="body" idx="1"/>
          </p:nvPr>
        </p:nvSpPr>
        <p:spPr/>
        <p:txBody>
          <a:bodyPr>
            <a:normAutofit fontScale="70000" lnSpcReduction="20000"/>
          </a:bodyPr>
          <a:lstStyle/>
          <a:p>
            <a:pPr marL="50800" indent="0">
              <a:buNone/>
            </a:pPr>
            <a:r>
              <a:rPr lang="en-US" b="1" dirty="0" smtClean="0"/>
              <a:t>1</a:t>
            </a:r>
            <a:r>
              <a:rPr lang="en-US" b="1" dirty="0"/>
              <a:t>. Small Key Size (56-bit)</a:t>
            </a:r>
          </a:p>
          <a:p>
            <a:pPr lvl="1"/>
            <a:r>
              <a:rPr lang="en-US" b="1" dirty="0"/>
              <a:t>Vulnerability:</a:t>
            </a:r>
            <a:r>
              <a:rPr lang="en-US" dirty="0"/>
              <a:t> The 56-bit key is too short by today's standards, making it susceptible to </a:t>
            </a:r>
            <a:r>
              <a:rPr lang="en-US" b="1" dirty="0"/>
              <a:t>brute-force attacks</a:t>
            </a:r>
            <a:r>
              <a:rPr lang="en-US" dirty="0"/>
              <a:t>.</a:t>
            </a:r>
          </a:p>
          <a:p>
            <a:pPr lvl="1"/>
            <a:r>
              <a:rPr lang="en-US" b="1" dirty="0"/>
              <a:t>Example:</a:t>
            </a:r>
            <a:r>
              <a:rPr lang="en-US" dirty="0"/>
              <a:t> In 1998, the </a:t>
            </a:r>
            <a:r>
              <a:rPr lang="en-US" b="1" dirty="0"/>
              <a:t>EFF (Electronic Frontier Foundation)</a:t>
            </a:r>
            <a:r>
              <a:rPr lang="en-US" dirty="0"/>
              <a:t> built a machine that cracked DES in under 3 days. Modern systems can do it even faster.</a:t>
            </a:r>
          </a:p>
          <a:p>
            <a:pPr marL="50800" indent="0">
              <a:buNone/>
            </a:pPr>
            <a:r>
              <a:rPr lang="en-US" b="1" dirty="0" smtClean="0"/>
              <a:t>2</a:t>
            </a:r>
            <a:r>
              <a:rPr lang="en-US" b="1" dirty="0"/>
              <a:t>. Susceptible to Brute-Force Attacks</a:t>
            </a:r>
          </a:p>
          <a:p>
            <a:pPr lvl="1"/>
            <a:r>
              <a:rPr lang="en-US" dirty="0"/>
              <a:t>DES relies solely on the strength of its key. With advancements in computing power, brute-forcing DES is now feasible for even moderately resourced attackers.</a:t>
            </a:r>
          </a:p>
          <a:p>
            <a:pPr marL="50800" indent="0">
              <a:buNone/>
            </a:pPr>
            <a:r>
              <a:rPr lang="en-US" b="1" dirty="0" smtClean="0"/>
              <a:t> </a:t>
            </a:r>
            <a:r>
              <a:rPr lang="en-US" b="1" dirty="0"/>
              <a:t>3. Slow Performance in Software</a:t>
            </a:r>
          </a:p>
          <a:p>
            <a:pPr lvl="1"/>
            <a:r>
              <a:rPr lang="en-US" dirty="0"/>
              <a:t>DES was optimized for hardware, not software</a:t>
            </a:r>
            <a:r>
              <a:rPr lang="en-US" dirty="0" smtClean="0"/>
              <a:t>.</a:t>
            </a:r>
          </a:p>
          <a:p>
            <a:pPr lvl="1"/>
            <a:r>
              <a:rPr lang="en-US" dirty="0" smtClean="0"/>
              <a:t> </a:t>
            </a:r>
            <a:r>
              <a:rPr lang="en-US" dirty="0"/>
              <a:t>In software implementations, especially on general-purpose processors, it performs inefficiently compared to algorithms like AES.</a:t>
            </a:r>
          </a:p>
          <a:p>
            <a:pPr marL="50800" indent="0">
              <a:buNone/>
            </a:pPr>
            <a:r>
              <a:rPr lang="en-US" b="1" dirty="0" smtClean="0"/>
              <a:t> </a:t>
            </a:r>
            <a:r>
              <a:rPr lang="en-US" b="1" dirty="0"/>
              <a:t>4. Vulnerable to Cryptanalytic Attacks</a:t>
            </a:r>
          </a:p>
          <a:p>
            <a:pPr lvl="1"/>
            <a:r>
              <a:rPr lang="en-US" b="1" dirty="0"/>
              <a:t>Differential and Linear Cryptanalysis:</a:t>
            </a:r>
            <a:r>
              <a:rPr lang="en-US" dirty="0"/>
              <a:t> Techniques discovered in </a:t>
            </a:r>
            <a:r>
              <a:rPr lang="en-US" dirty="0" smtClean="0"/>
              <a:t>the </a:t>
            </a:r>
            <a:r>
              <a:rPr lang="en-US" dirty="0"/>
              <a:t>1990s can analyze DES more effectively than brute force, reducing its effective security</a:t>
            </a:r>
            <a:r>
              <a:rPr lang="en-US" dirty="0" smtClean="0"/>
              <a:t>.</a:t>
            </a:r>
          </a:p>
          <a:p>
            <a:pPr lvl="1"/>
            <a:r>
              <a:rPr lang="en-US" b="1" dirty="0"/>
              <a:t>Meet-in-the-Middle Attacks:</a:t>
            </a:r>
            <a:r>
              <a:rPr lang="en-US" dirty="0"/>
              <a:t> Particularly relevant for DES variants like Double DES.</a:t>
            </a:r>
          </a:p>
          <a:p>
            <a:pPr lvl="1"/>
            <a:endParaRPr lang="en-US" dirty="0"/>
          </a:p>
          <a:p>
            <a:endParaRPr lang="en-IN" dirty="0"/>
          </a:p>
        </p:txBody>
      </p:sp>
    </p:spTree>
    <p:extLst>
      <p:ext uri="{BB962C8B-B14F-4D97-AF65-F5344CB8AC3E}">
        <p14:creationId xmlns:p14="http://schemas.microsoft.com/office/powerpoint/2010/main" val="399524337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Limitations of DES</a:t>
            </a:r>
            <a:endParaRPr lang="en-IN" dirty="0"/>
          </a:p>
        </p:txBody>
      </p:sp>
      <p:sp>
        <p:nvSpPr>
          <p:cNvPr id="3" name="Text Placeholder 2"/>
          <p:cNvSpPr>
            <a:spLocks noGrp="1"/>
          </p:cNvSpPr>
          <p:nvPr>
            <p:ph type="body" idx="1"/>
          </p:nvPr>
        </p:nvSpPr>
        <p:spPr/>
        <p:txBody>
          <a:bodyPr>
            <a:normAutofit fontScale="92500" lnSpcReduction="10000"/>
          </a:bodyPr>
          <a:lstStyle/>
          <a:p>
            <a:pPr marL="50800" indent="0">
              <a:buNone/>
            </a:pPr>
            <a:r>
              <a:rPr lang="en-US" b="1" dirty="0" smtClean="0"/>
              <a:t>5</a:t>
            </a:r>
            <a:r>
              <a:rPr lang="en-US" b="1" dirty="0"/>
              <a:t>. Insecure in Certain Modes of Operation</a:t>
            </a:r>
          </a:p>
          <a:p>
            <a:pPr lvl="1"/>
            <a:r>
              <a:rPr lang="en-US" dirty="0"/>
              <a:t>When used in modes like </a:t>
            </a:r>
            <a:r>
              <a:rPr lang="en-US" b="1" dirty="0"/>
              <a:t>ECB (Electronic Codebook)</a:t>
            </a:r>
            <a:r>
              <a:rPr lang="en-US" dirty="0"/>
              <a:t>, patterns in the plaintext can still be visible in the </a:t>
            </a:r>
            <a:r>
              <a:rPr lang="en-US" dirty="0" err="1"/>
              <a:t>ciphertext</a:t>
            </a:r>
            <a:r>
              <a:rPr lang="en-US" dirty="0"/>
              <a:t>, compromising data confidentiality.</a:t>
            </a:r>
          </a:p>
          <a:p>
            <a:pPr marL="50800" indent="0">
              <a:buNone/>
            </a:pPr>
            <a:r>
              <a:rPr lang="en-US" b="1" dirty="0" smtClean="0"/>
              <a:t>6</a:t>
            </a:r>
            <a:r>
              <a:rPr lang="en-US" b="1" dirty="0"/>
              <a:t>. Lack of Flexibility</a:t>
            </a:r>
          </a:p>
          <a:p>
            <a:pPr lvl="1"/>
            <a:r>
              <a:rPr lang="en-US" dirty="0"/>
              <a:t>Fixed block size of 64 bits, which is small for modern data encryption needs.</a:t>
            </a:r>
          </a:p>
          <a:p>
            <a:pPr lvl="1"/>
            <a:r>
              <a:rPr lang="en-US" dirty="0"/>
              <a:t>Key schedule is relatively weak, making the key generation process predictable in some cases.</a:t>
            </a:r>
          </a:p>
          <a:p>
            <a:pPr marL="50800" indent="0">
              <a:buNone/>
            </a:pPr>
            <a:r>
              <a:rPr lang="en-US" b="1" dirty="0" smtClean="0"/>
              <a:t>7</a:t>
            </a:r>
            <a:r>
              <a:rPr lang="en-US" b="1" dirty="0"/>
              <a:t>. Legacy Dependency</a:t>
            </a:r>
          </a:p>
          <a:p>
            <a:pPr lvl="1"/>
            <a:r>
              <a:rPr lang="en-US" dirty="0"/>
              <a:t>Despite its weaknesses, some systems still use DES due to legacy constraints, posing security risks if not properly updated or managed.</a:t>
            </a:r>
          </a:p>
          <a:p>
            <a:endParaRPr lang="en-IN" dirty="0"/>
          </a:p>
        </p:txBody>
      </p:sp>
    </p:spTree>
    <p:extLst>
      <p:ext uri="{BB962C8B-B14F-4D97-AF65-F5344CB8AC3E}">
        <p14:creationId xmlns:p14="http://schemas.microsoft.com/office/powerpoint/2010/main" val="402680342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sz="5400" dirty="0" smtClean="0">
                <a:solidFill>
                  <a:srgbClr val="C00000"/>
                </a:solidFill>
                <a:latin typeface="Marcellus" panose="020B0604020202020204" charset="0"/>
              </a:rPr>
              <a:t>Advanced Encryption Standard</a:t>
            </a:r>
            <a:endParaRPr lang="en-IN" sz="5400" dirty="0">
              <a:solidFill>
                <a:srgbClr val="C00000"/>
              </a:solidFill>
              <a:latin typeface="Marcellus" panose="020B0604020202020204" charset="0"/>
            </a:endParaRPr>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0359485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normAutofit fontScale="85000" lnSpcReduction="20000"/>
          </a:bodyPr>
          <a:lstStyle/>
          <a:p>
            <a:r>
              <a:rPr lang="en-US" dirty="0"/>
              <a:t>Introduction to </a:t>
            </a:r>
            <a:r>
              <a:rPr lang="en-US" dirty="0" smtClean="0"/>
              <a:t>AES</a:t>
            </a:r>
          </a:p>
          <a:p>
            <a:r>
              <a:rPr lang="en-US" dirty="0" smtClean="0"/>
              <a:t>History </a:t>
            </a:r>
            <a:r>
              <a:rPr lang="en-US" dirty="0"/>
              <a:t>and </a:t>
            </a:r>
            <a:r>
              <a:rPr lang="en-US" dirty="0" smtClean="0"/>
              <a:t>Development</a:t>
            </a:r>
          </a:p>
          <a:p>
            <a:r>
              <a:rPr lang="en-US" dirty="0" smtClean="0"/>
              <a:t>Key </a:t>
            </a:r>
            <a:r>
              <a:rPr lang="en-US" dirty="0"/>
              <a:t>Features of </a:t>
            </a:r>
            <a:r>
              <a:rPr lang="en-US" dirty="0" smtClean="0"/>
              <a:t>AES</a:t>
            </a:r>
          </a:p>
          <a:p>
            <a:r>
              <a:rPr lang="en-US" dirty="0" smtClean="0"/>
              <a:t>How </a:t>
            </a:r>
            <a:r>
              <a:rPr lang="en-US" dirty="0"/>
              <a:t>AES Works (Encryption Process</a:t>
            </a:r>
            <a:r>
              <a:rPr lang="en-US" dirty="0" smtClean="0"/>
              <a:t>)</a:t>
            </a:r>
          </a:p>
          <a:p>
            <a:r>
              <a:rPr lang="en-US" dirty="0" smtClean="0"/>
              <a:t>AES </a:t>
            </a:r>
            <a:r>
              <a:rPr lang="en-US" dirty="0"/>
              <a:t>Structure (Rounds and Key Sizes</a:t>
            </a:r>
            <a:r>
              <a:rPr lang="en-US" dirty="0" smtClean="0"/>
              <a:t>)</a:t>
            </a:r>
          </a:p>
          <a:p>
            <a:r>
              <a:rPr lang="en-US" dirty="0" smtClean="0"/>
              <a:t>Modes </a:t>
            </a:r>
            <a:r>
              <a:rPr lang="en-US" dirty="0"/>
              <a:t>of </a:t>
            </a:r>
            <a:r>
              <a:rPr lang="en-US" dirty="0" smtClean="0"/>
              <a:t>Operation</a:t>
            </a:r>
          </a:p>
          <a:p>
            <a:r>
              <a:rPr lang="en-US" dirty="0" smtClean="0"/>
              <a:t>Applications </a:t>
            </a:r>
            <a:r>
              <a:rPr lang="en-US" dirty="0"/>
              <a:t>of </a:t>
            </a:r>
            <a:r>
              <a:rPr lang="en-US" dirty="0" smtClean="0"/>
              <a:t>AES</a:t>
            </a:r>
          </a:p>
          <a:p>
            <a:r>
              <a:rPr lang="en-US" dirty="0" smtClean="0"/>
              <a:t>Advantages </a:t>
            </a:r>
            <a:r>
              <a:rPr lang="en-US" dirty="0"/>
              <a:t>of </a:t>
            </a:r>
            <a:r>
              <a:rPr lang="en-US" dirty="0" smtClean="0"/>
              <a:t>AES</a:t>
            </a:r>
          </a:p>
          <a:p>
            <a:r>
              <a:rPr lang="en-US" dirty="0" smtClean="0"/>
              <a:t>Limitations </a:t>
            </a:r>
            <a:r>
              <a:rPr lang="en-US" dirty="0"/>
              <a:t>of </a:t>
            </a:r>
            <a:r>
              <a:rPr lang="en-US" dirty="0" smtClean="0"/>
              <a:t>AES</a:t>
            </a:r>
          </a:p>
          <a:p>
            <a:r>
              <a:rPr lang="en-US" dirty="0" smtClean="0"/>
              <a:t>AES </a:t>
            </a:r>
            <a:r>
              <a:rPr lang="en-US" dirty="0"/>
              <a:t>vs DES </a:t>
            </a:r>
            <a:r>
              <a:rPr lang="en-US" dirty="0" smtClean="0"/>
              <a:t>Comparison</a:t>
            </a:r>
          </a:p>
          <a:p>
            <a:r>
              <a:rPr lang="en-US" dirty="0" smtClean="0"/>
              <a:t>Conclusion</a:t>
            </a:r>
            <a:endParaRPr lang="en-IN" dirty="0"/>
          </a:p>
        </p:txBody>
      </p:sp>
    </p:spTree>
    <p:extLst>
      <p:ext uri="{BB962C8B-B14F-4D97-AF65-F5344CB8AC3E}">
        <p14:creationId xmlns:p14="http://schemas.microsoft.com/office/powerpoint/2010/main" val="140400665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 to AES</a:t>
            </a:r>
            <a:endParaRPr lang="en-IN" dirty="0"/>
          </a:p>
        </p:txBody>
      </p:sp>
      <p:sp>
        <p:nvSpPr>
          <p:cNvPr id="3" name="Text Placeholder 2"/>
          <p:cNvSpPr>
            <a:spLocks noGrp="1"/>
          </p:cNvSpPr>
          <p:nvPr>
            <p:ph type="body" idx="1"/>
          </p:nvPr>
        </p:nvSpPr>
        <p:spPr/>
        <p:txBody>
          <a:bodyPr>
            <a:normAutofit lnSpcReduction="10000"/>
          </a:bodyPr>
          <a:lstStyle/>
          <a:p>
            <a:r>
              <a:rPr lang="en-US" dirty="0"/>
              <a:t>What is AES?</a:t>
            </a:r>
          </a:p>
          <a:p>
            <a:pPr lvl="1"/>
            <a:r>
              <a:rPr lang="en-US" dirty="0"/>
              <a:t>AES (Advanced Encryption Standard) is a symmetric-key encryption algorithm.</a:t>
            </a:r>
          </a:p>
          <a:p>
            <a:pPr lvl="1"/>
            <a:r>
              <a:rPr lang="en-US" dirty="0"/>
              <a:t>Used to secure data through encryption and decryption.</a:t>
            </a:r>
          </a:p>
          <a:p>
            <a:r>
              <a:rPr lang="en-US" dirty="0"/>
              <a:t>Developed by: Vincent </a:t>
            </a:r>
            <a:r>
              <a:rPr lang="en-US" dirty="0" err="1"/>
              <a:t>Rijmen</a:t>
            </a:r>
            <a:r>
              <a:rPr lang="en-US" dirty="0"/>
              <a:t> and Joan </a:t>
            </a:r>
            <a:r>
              <a:rPr lang="en-US" dirty="0" err="1"/>
              <a:t>Daemen</a:t>
            </a:r>
            <a:r>
              <a:rPr lang="en-US" dirty="0" smtClean="0"/>
              <a:t>.</a:t>
            </a:r>
          </a:p>
          <a:p>
            <a:r>
              <a:rPr lang="en-US" dirty="0"/>
              <a:t>Origin: Developed as the successor to DES.</a:t>
            </a:r>
          </a:p>
          <a:p>
            <a:r>
              <a:rPr lang="en-US" dirty="0"/>
              <a:t>Adopted by: U.S. National Institute of Standards and Technology (NIST) in 2001.</a:t>
            </a:r>
          </a:p>
          <a:p>
            <a:r>
              <a:rPr lang="en-US" dirty="0"/>
              <a:t>Also known as: </a:t>
            </a:r>
            <a:r>
              <a:rPr lang="en-US" dirty="0" err="1"/>
              <a:t>Rijndael</a:t>
            </a:r>
            <a:r>
              <a:rPr lang="en-US" dirty="0"/>
              <a:t> algorithm (its original name</a:t>
            </a:r>
            <a:r>
              <a:rPr lang="en-US" dirty="0" smtClean="0"/>
              <a:t>).</a:t>
            </a:r>
            <a:endParaRPr lang="en-US" dirty="0"/>
          </a:p>
        </p:txBody>
      </p:sp>
    </p:spTree>
    <p:extLst>
      <p:ext uri="{BB962C8B-B14F-4D97-AF65-F5344CB8AC3E}">
        <p14:creationId xmlns:p14="http://schemas.microsoft.com/office/powerpoint/2010/main" val="109147125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AES</a:t>
            </a:r>
          </a:p>
        </p:txBody>
      </p:sp>
      <p:sp>
        <p:nvSpPr>
          <p:cNvPr id="3" name="Text Placeholder 2"/>
          <p:cNvSpPr>
            <a:spLocks noGrp="1"/>
          </p:cNvSpPr>
          <p:nvPr>
            <p:ph type="body" idx="1"/>
          </p:nvPr>
        </p:nvSpPr>
        <p:spPr/>
        <p:txBody>
          <a:bodyPr/>
          <a:lstStyle/>
          <a:p>
            <a:r>
              <a:rPr lang="en-US" dirty="0"/>
              <a:t>In February 2001, NIST announced that a draft of the Federal Information Processing Standard (FIPS) was available for public review and comment</a:t>
            </a:r>
            <a:r>
              <a:rPr lang="en-US" dirty="0" smtClean="0"/>
              <a:t>.</a:t>
            </a:r>
          </a:p>
          <a:p>
            <a:r>
              <a:rPr lang="en-US" dirty="0" smtClean="0"/>
              <a:t> </a:t>
            </a:r>
            <a:r>
              <a:rPr lang="en-US" dirty="0"/>
              <a:t>Finally, AES was published as FIPS 197 in the Federal Register in December 2001.</a:t>
            </a:r>
            <a:endParaRPr lang="en-IN" dirty="0"/>
          </a:p>
        </p:txBody>
      </p:sp>
    </p:spTree>
    <p:extLst>
      <p:ext uri="{BB962C8B-B14F-4D97-AF65-F5344CB8AC3E}">
        <p14:creationId xmlns:p14="http://schemas.microsoft.com/office/powerpoint/2010/main" val="17515885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AES</a:t>
            </a:r>
          </a:p>
        </p:txBody>
      </p:sp>
      <p:sp>
        <p:nvSpPr>
          <p:cNvPr id="3" name="Text Placeholder 2"/>
          <p:cNvSpPr>
            <a:spLocks noGrp="1"/>
          </p:cNvSpPr>
          <p:nvPr>
            <p:ph type="body" idx="1"/>
          </p:nvPr>
        </p:nvSpPr>
        <p:spPr/>
        <p:txBody>
          <a:bodyPr/>
          <a:lstStyle/>
          <a:p>
            <a:r>
              <a:rPr lang="en-US" dirty="0"/>
              <a:t>AES is a non-</a:t>
            </a:r>
            <a:r>
              <a:rPr lang="en-US" dirty="0" err="1"/>
              <a:t>Feistel</a:t>
            </a:r>
            <a:r>
              <a:rPr lang="en-US" dirty="0"/>
              <a:t> cipher that encrypts and decrypts a data block of 128 bits</a:t>
            </a:r>
            <a:r>
              <a:rPr lang="en-US" dirty="0" smtClean="0"/>
              <a:t>.</a:t>
            </a:r>
          </a:p>
          <a:p>
            <a:r>
              <a:rPr lang="en-US" dirty="0" smtClean="0"/>
              <a:t> </a:t>
            </a:r>
            <a:r>
              <a:rPr lang="en-US" dirty="0"/>
              <a:t>It uses 10, 12, or 14 rounds. </a:t>
            </a:r>
            <a:endParaRPr lang="en-US" dirty="0" smtClean="0"/>
          </a:p>
          <a:p>
            <a:r>
              <a:rPr lang="en-US" dirty="0" smtClean="0"/>
              <a:t>The </a:t>
            </a:r>
            <a:r>
              <a:rPr lang="en-US" dirty="0"/>
              <a:t>key size, which can be 128, 192, or 256 bits, depends on the number of rounds</a:t>
            </a:r>
            <a:endParaRPr lang="en-IN" dirty="0"/>
          </a:p>
        </p:txBody>
      </p:sp>
    </p:spTree>
    <p:extLst>
      <p:ext uri="{BB962C8B-B14F-4D97-AF65-F5344CB8AC3E}">
        <p14:creationId xmlns:p14="http://schemas.microsoft.com/office/powerpoint/2010/main" val="371583501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Features of </a:t>
            </a:r>
            <a:r>
              <a:rPr lang="en-US" b="1" dirty="0" smtClean="0"/>
              <a:t>AES</a:t>
            </a:r>
            <a:endParaRPr lang="en-IN" dirty="0"/>
          </a:p>
        </p:txBody>
      </p:sp>
      <p:sp>
        <p:nvSpPr>
          <p:cNvPr id="3" name="Text Placeholder 2"/>
          <p:cNvSpPr>
            <a:spLocks noGrp="1"/>
          </p:cNvSpPr>
          <p:nvPr>
            <p:ph type="body" idx="1"/>
          </p:nvPr>
        </p:nvSpPr>
        <p:spPr/>
        <p:txBody>
          <a:bodyPr>
            <a:normAutofit lnSpcReduction="10000"/>
          </a:bodyPr>
          <a:lstStyle/>
          <a:p>
            <a:r>
              <a:rPr lang="en-US" b="1" dirty="0"/>
              <a:t>Block Cipher</a:t>
            </a:r>
            <a:r>
              <a:rPr lang="en-US" dirty="0"/>
              <a:t> – Operates on 128-bit data blocks</a:t>
            </a:r>
            <a:r>
              <a:rPr lang="en-US" dirty="0" smtClean="0"/>
              <a:t>.</a:t>
            </a:r>
          </a:p>
          <a:p>
            <a:r>
              <a:rPr lang="en-US" dirty="0" smtClean="0"/>
              <a:t> </a:t>
            </a:r>
            <a:r>
              <a:rPr lang="en-US" b="1" dirty="0"/>
              <a:t>Key Sizes</a:t>
            </a:r>
            <a:r>
              <a:rPr lang="en-US" dirty="0"/>
              <a:t> – Supports </a:t>
            </a:r>
            <a:r>
              <a:rPr lang="en-US" b="1" dirty="0"/>
              <a:t>128, 192, and 256-bit</a:t>
            </a:r>
            <a:r>
              <a:rPr lang="en-US" dirty="0"/>
              <a:t> </a:t>
            </a:r>
            <a:r>
              <a:rPr lang="en-US" dirty="0" smtClean="0"/>
              <a:t>keys.</a:t>
            </a:r>
          </a:p>
          <a:p>
            <a:r>
              <a:rPr lang="en-US" b="1" dirty="0" smtClean="0"/>
              <a:t>Fast </a:t>
            </a:r>
            <a:r>
              <a:rPr lang="en-US" b="1" dirty="0"/>
              <a:t>&amp; Efficient</a:t>
            </a:r>
            <a:r>
              <a:rPr lang="en-US" dirty="0"/>
              <a:t> – Works well in both hardware and </a:t>
            </a:r>
            <a:r>
              <a:rPr lang="en-US" dirty="0" smtClean="0"/>
              <a:t>software.</a:t>
            </a:r>
          </a:p>
          <a:p>
            <a:r>
              <a:rPr lang="en-US" b="1" dirty="0" smtClean="0"/>
              <a:t>Strong </a:t>
            </a:r>
            <a:r>
              <a:rPr lang="en-US" b="1" dirty="0"/>
              <a:t>Security</a:t>
            </a:r>
            <a:r>
              <a:rPr lang="en-US" dirty="0"/>
              <a:t> – Resistant to cryptanalysis </a:t>
            </a:r>
            <a:r>
              <a:rPr lang="en-US" dirty="0" smtClean="0"/>
              <a:t>attacks.</a:t>
            </a:r>
          </a:p>
          <a:p>
            <a:r>
              <a:rPr lang="en-US" b="1" dirty="0" smtClean="0"/>
              <a:t>Widely </a:t>
            </a:r>
            <a:r>
              <a:rPr lang="en-US" b="1" dirty="0"/>
              <a:t>Used</a:t>
            </a:r>
            <a:r>
              <a:rPr lang="en-US" dirty="0"/>
              <a:t> – Found in VPNs, banking, military, and more.</a:t>
            </a:r>
            <a:endParaRPr lang="en-IN" dirty="0"/>
          </a:p>
        </p:txBody>
      </p:sp>
    </p:spTree>
    <p:extLst>
      <p:ext uri="{BB962C8B-B14F-4D97-AF65-F5344CB8AC3E}">
        <p14:creationId xmlns:p14="http://schemas.microsoft.com/office/powerpoint/2010/main" val="136979970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323" y="214817"/>
            <a:ext cx="8160422" cy="874951"/>
          </a:xfrm>
        </p:spPr>
        <p:txBody>
          <a:bodyPr/>
          <a:lstStyle/>
          <a:p>
            <a:r>
              <a:rPr lang="en-US" b="1" dirty="0"/>
              <a:t>AES Structure (Rounds and Key Sizes</a:t>
            </a:r>
            <a:r>
              <a:rPr lang="en-US" b="1" dirty="0" smtClean="0"/>
              <a:t>)</a:t>
            </a:r>
            <a:endParaRPr lang="en-IN" dirty="0"/>
          </a:p>
        </p:txBody>
      </p:sp>
      <p:sp>
        <p:nvSpPr>
          <p:cNvPr id="3" name="Text Placeholder 2"/>
          <p:cNvSpPr>
            <a:spLocks noGrp="1"/>
          </p:cNvSpPr>
          <p:nvPr>
            <p:ph type="body" idx="1"/>
          </p:nvPr>
        </p:nvSpPr>
        <p:spPr/>
        <p:txBody>
          <a:bodyPr/>
          <a:lstStyle/>
          <a:p>
            <a:r>
              <a:rPr lang="en-US" dirty="0" smtClean="0"/>
              <a:t>AES-128</a:t>
            </a:r>
            <a:r>
              <a:rPr lang="en-US" dirty="0"/>
              <a:t>: 10 rounds</a:t>
            </a:r>
          </a:p>
          <a:p>
            <a:r>
              <a:rPr lang="en-US" dirty="0"/>
              <a:t>AES-192: 12 rounds</a:t>
            </a:r>
          </a:p>
          <a:p>
            <a:r>
              <a:rPr lang="en-US" dirty="0"/>
              <a:t>AES-256: 14 rounds</a:t>
            </a:r>
          </a:p>
          <a:p>
            <a:r>
              <a:rPr lang="en-US" dirty="0"/>
              <a:t>Each round increases security and complexity.</a:t>
            </a:r>
          </a:p>
          <a:p>
            <a:endParaRPr lang="en-IN" dirty="0"/>
          </a:p>
        </p:txBody>
      </p:sp>
    </p:spTree>
    <p:extLst>
      <p:ext uri="{BB962C8B-B14F-4D97-AF65-F5344CB8AC3E}">
        <p14:creationId xmlns:p14="http://schemas.microsoft.com/office/powerpoint/2010/main" val="214736070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normAutofit/>
          </a:bodyPr>
          <a:lstStyle/>
          <a:p>
            <a:r>
              <a:rPr lang="en-US" dirty="0" smtClean="0"/>
              <a:t>Round </a:t>
            </a:r>
            <a:r>
              <a:rPr lang="en-US" dirty="0"/>
              <a:t>Keys created by the Key expansion algorithm are always 128 bits , the same size as the plaintext or </a:t>
            </a:r>
            <a:r>
              <a:rPr lang="en-US" dirty="0" err="1"/>
              <a:t>ciphertext</a:t>
            </a:r>
            <a:r>
              <a:rPr lang="en-US" dirty="0"/>
              <a:t> </a:t>
            </a:r>
          </a:p>
          <a:p>
            <a:r>
              <a:rPr lang="en-US" dirty="0" smtClean="0"/>
              <a:t>The </a:t>
            </a:r>
            <a:r>
              <a:rPr lang="en-US" dirty="0"/>
              <a:t>number of round keys generated by the key expansion algorithm is always one more than the number of rounds </a:t>
            </a:r>
          </a:p>
          <a:p>
            <a:r>
              <a:rPr lang="en-IN" dirty="0" smtClean="0"/>
              <a:t>Number </a:t>
            </a:r>
            <a:r>
              <a:rPr lang="en-IN" dirty="0"/>
              <a:t>of Round Keys=N</a:t>
            </a:r>
            <a:r>
              <a:rPr lang="en-IN" baseline="-25000" dirty="0"/>
              <a:t>r</a:t>
            </a:r>
            <a:r>
              <a:rPr lang="en-IN" dirty="0"/>
              <a:t>+1 </a:t>
            </a:r>
          </a:p>
          <a:p>
            <a:r>
              <a:rPr lang="en-US" dirty="0" smtClean="0"/>
              <a:t>Round </a:t>
            </a:r>
            <a:r>
              <a:rPr lang="en-US" dirty="0"/>
              <a:t>Keys are K</a:t>
            </a:r>
            <a:r>
              <a:rPr lang="en-US" baseline="-25000" dirty="0"/>
              <a:t>0</a:t>
            </a:r>
            <a:r>
              <a:rPr lang="en-US" dirty="0"/>
              <a:t>,K</a:t>
            </a:r>
            <a:r>
              <a:rPr lang="en-US" baseline="-25000" dirty="0"/>
              <a:t>1</a:t>
            </a:r>
            <a:r>
              <a:rPr lang="en-US" dirty="0"/>
              <a:t>,K</a:t>
            </a:r>
            <a:r>
              <a:rPr lang="en-US" baseline="-25000" dirty="0"/>
              <a:t>2</a:t>
            </a:r>
            <a:r>
              <a:rPr lang="en-US" dirty="0"/>
              <a:t>,……………….</a:t>
            </a:r>
            <a:r>
              <a:rPr lang="en-US" dirty="0" err="1"/>
              <a:t>K</a:t>
            </a:r>
            <a:r>
              <a:rPr lang="en-US" baseline="-25000" dirty="0" err="1"/>
              <a:t>Nr</a:t>
            </a:r>
            <a:r>
              <a:rPr lang="en-US" dirty="0"/>
              <a:t> </a:t>
            </a:r>
          </a:p>
          <a:p>
            <a:endParaRPr lang="en-IN" dirty="0"/>
          </a:p>
        </p:txBody>
      </p:sp>
    </p:spTree>
    <p:extLst>
      <p:ext uri="{BB962C8B-B14F-4D97-AF65-F5344CB8AC3E}">
        <p14:creationId xmlns:p14="http://schemas.microsoft.com/office/powerpoint/2010/main" val="36587997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323" y="214817"/>
            <a:ext cx="8326677" cy="874951"/>
          </a:xfrm>
        </p:spPr>
        <p:txBody>
          <a:bodyPr/>
          <a:lstStyle/>
          <a:p>
            <a:r>
              <a:rPr lang="en-US" b="1" dirty="0"/>
              <a:t>How AES Works (Encryption Process</a:t>
            </a:r>
            <a:r>
              <a:rPr lang="en-US" b="1" dirty="0" smtClean="0"/>
              <a:t>)</a:t>
            </a:r>
            <a:endParaRPr lang="en-IN" dirty="0"/>
          </a:p>
        </p:txBody>
      </p:sp>
      <p:sp>
        <p:nvSpPr>
          <p:cNvPr id="3" name="Text Placeholder 2"/>
          <p:cNvSpPr>
            <a:spLocks noGrp="1"/>
          </p:cNvSpPr>
          <p:nvPr>
            <p:ph type="body" idx="1"/>
          </p:nvPr>
        </p:nvSpPr>
        <p:spPr/>
        <p:txBody>
          <a:bodyPr>
            <a:normAutofit lnSpcReduction="10000"/>
          </a:bodyPr>
          <a:lstStyle/>
          <a:p>
            <a:r>
              <a:rPr lang="en-US" dirty="0"/>
              <a:t>Key Expansion: Generates round keys from the cipher key.</a:t>
            </a:r>
          </a:p>
          <a:p>
            <a:r>
              <a:rPr lang="en-US" dirty="0"/>
              <a:t>Initial Round: </a:t>
            </a:r>
            <a:r>
              <a:rPr lang="en-US" dirty="0" err="1"/>
              <a:t>AddRoundKey</a:t>
            </a:r>
            <a:r>
              <a:rPr lang="en-US" dirty="0"/>
              <a:t> (XOR with the key).</a:t>
            </a:r>
          </a:p>
          <a:p>
            <a:r>
              <a:rPr lang="en-US" dirty="0"/>
              <a:t>Main Rounds (9/11/13 Rounds):</a:t>
            </a:r>
          </a:p>
          <a:p>
            <a:pPr lvl="1"/>
            <a:r>
              <a:rPr lang="en-US" dirty="0" err="1"/>
              <a:t>SubBytes</a:t>
            </a:r>
            <a:r>
              <a:rPr lang="en-US" dirty="0"/>
              <a:t> (byte substitution using S-box).</a:t>
            </a:r>
          </a:p>
          <a:p>
            <a:pPr lvl="1"/>
            <a:r>
              <a:rPr lang="en-US" dirty="0" err="1"/>
              <a:t>ShiftRows</a:t>
            </a:r>
            <a:r>
              <a:rPr lang="en-US" dirty="0"/>
              <a:t> (row-wise shifting).</a:t>
            </a:r>
          </a:p>
          <a:p>
            <a:pPr lvl="1"/>
            <a:r>
              <a:rPr lang="en-US" dirty="0" err="1"/>
              <a:t>MixColumns</a:t>
            </a:r>
            <a:r>
              <a:rPr lang="en-US" dirty="0"/>
              <a:t> (column mixing for diffusion).</a:t>
            </a:r>
          </a:p>
          <a:p>
            <a:pPr lvl="1"/>
            <a:r>
              <a:rPr lang="en-US" dirty="0" err="1"/>
              <a:t>AddRoundKey</a:t>
            </a:r>
            <a:r>
              <a:rPr lang="en-US" dirty="0"/>
              <a:t>.</a:t>
            </a:r>
          </a:p>
          <a:p>
            <a:r>
              <a:rPr lang="en-US" dirty="0"/>
              <a:t>Final Round: Same as main rounds but without </a:t>
            </a:r>
            <a:r>
              <a:rPr lang="en-US" dirty="0" err="1"/>
              <a:t>MixColumns</a:t>
            </a:r>
            <a:r>
              <a:rPr lang="en-US" dirty="0" smtClean="0"/>
              <a:t>.</a:t>
            </a:r>
            <a:endParaRPr lang="en-US" dirty="0"/>
          </a:p>
        </p:txBody>
      </p:sp>
    </p:spTree>
    <p:extLst>
      <p:ext uri="{BB962C8B-B14F-4D97-AF65-F5344CB8AC3E}">
        <p14:creationId xmlns:p14="http://schemas.microsoft.com/office/powerpoint/2010/main" val="783524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AES: General design structure </a:t>
            </a:r>
            <a:endParaRPr lang="en-IN" dirty="0"/>
          </a:p>
        </p:txBody>
      </p:sp>
      <p:sp>
        <p:nvSpPr>
          <p:cNvPr id="3" name="Text Placeholder 2"/>
          <p:cNvSpPr>
            <a:spLocks noGrp="1"/>
          </p:cNvSpPr>
          <p:nvPr>
            <p:ph type="body" idx="1"/>
          </p:nvPr>
        </p:nvSpPr>
        <p:spPr/>
        <p:txBody>
          <a:bodyPr/>
          <a:lstStyle/>
          <a:p>
            <a:endParaRPr lang="en-IN"/>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4925" y="1358900"/>
            <a:ext cx="6534150" cy="414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840038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sizes in AES</a:t>
            </a:r>
            <a:endParaRPr lang="en-IN" dirty="0"/>
          </a:p>
        </p:txBody>
      </p:sp>
      <p:sp>
        <p:nvSpPr>
          <p:cNvPr id="3" name="Text Placeholder 2"/>
          <p:cNvSpPr>
            <a:spLocks noGrp="1"/>
          </p:cNvSpPr>
          <p:nvPr>
            <p:ph type="body" idx="1"/>
          </p:nvPr>
        </p:nvSpPr>
        <p:spPr>
          <a:xfrm>
            <a:off x="7243907" y="1366192"/>
            <a:ext cx="1900093" cy="4525963"/>
          </a:xfrm>
        </p:spPr>
        <p:txBody>
          <a:bodyPr>
            <a:normAutofit/>
          </a:bodyPr>
          <a:lstStyle/>
          <a:p>
            <a:pPr marL="269875" indent="-219075"/>
            <a:r>
              <a:rPr lang="en-IN" sz="2400" dirty="0" smtClean="0"/>
              <a:t>Byte- 8 bits</a:t>
            </a:r>
          </a:p>
          <a:p>
            <a:pPr marL="269875" indent="-219075"/>
            <a:r>
              <a:rPr lang="en-IN" sz="2400" dirty="0" smtClean="0"/>
              <a:t>Word- 32 bits</a:t>
            </a:r>
          </a:p>
          <a:p>
            <a:pPr marL="269875" indent="-219075"/>
            <a:r>
              <a:rPr lang="en-IN" sz="2400" dirty="0" smtClean="0"/>
              <a:t>Block – 128 bits</a:t>
            </a:r>
          </a:p>
          <a:p>
            <a:pPr marL="269875" indent="-219075"/>
            <a:r>
              <a:rPr lang="en-IN" sz="2400" dirty="0" smtClean="0"/>
              <a:t>State- 16 bytes</a:t>
            </a:r>
            <a:endParaRPr lang="en-IN" sz="2400"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57" y="1187162"/>
            <a:ext cx="7131050"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377805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323" y="214817"/>
            <a:ext cx="8326677" cy="874951"/>
          </a:xfrm>
        </p:spPr>
        <p:txBody>
          <a:bodyPr/>
          <a:lstStyle/>
          <a:p>
            <a:r>
              <a:rPr lang="en-IN" dirty="0" smtClean="0"/>
              <a:t>Data transformation - bit, block, state</a:t>
            </a:r>
            <a:endParaRPr lang="en-IN" dirty="0"/>
          </a:p>
        </p:txBody>
      </p:sp>
      <p:sp>
        <p:nvSpPr>
          <p:cNvPr id="3" name="Text Placeholder 2"/>
          <p:cNvSpPr>
            <a:spLocks noGrp="1"/>
          </p:cNvSpPr>
          <p:nvPr>
            <p:ph type="body" idx="1"/>
          </p:nvPr>
        </p:nvSpPr>
        <p:spPr/>
        <p:txBody>
          <a:bodyPr/>
          <a:lstStyle/>
          <a:p>
            <a:endParaRPr lang="en-IN"/>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631" y="1298287"/>
            <a:ext cx="7970706" cy="4499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361467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Structure of AES round</a:t>
            </a:r>
            <a:endParaRPr lang="en-IN"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6209" y="1359766"/>
            <a:ext cx="5791200" cy="461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2"/>
          <p:cNvSpPr>
            <a:spLocks noGrp="1"/>
          </p:cNvSpPr>
          <p:nvPr>
            <p:ph type="body" idx="1"/>
          </p:nvPr>
        </p:nvSpPr>
        <p:spPr>
          <a:xfrm>
            <a:off x="700003" y="1324629"/>
            <a:ext cx="3747305" cy="4525963"/>
          </a:xfrm>
        </p:spPr>
        <p:txBody>
          <a:bodyPr>
            <a:normAutofit lnSpcReduction="10000"/>
          </a:bodyPr>
          <a:lstStyle/>
          <a:p>
            <a:pPr marL="269875" indent="-219075"/>
            <a:r>
              <a:rPr lang="en-IN" dirty="0" smtClean="0"/>
              <a:t>All transformations are invertible</a:t>
            </a:r>
          </a:p>
          <a:p>
            <a:pPr marL="269875" indent="-219075"/>
            <a:r>
              <a:rPr lang="en-US" i="1" dirty="0" smtClean="0"/>
              <a:t>The </a:t>
            </a:r>
            <a:r>
              <a:rPr lang="en-US" i="1" dirty="0"/>
              <a:t>pre-round section uses only one transformation(</a:t>
            </a:r>
            <a:r>
              <a:rPr lang="en-US" i="1" dirty="0" err="1"/>
              <a:t>AddRoundKey</a:t>
            </a:r>
            <a:r>
              <a:rPr lang="en-US" i="1" dirty="0"/>
              <a:t>) </a:t>
            </a:r>
            <a:endParaRPr lang="en-US" dirty="0"/>
          </a:p>
          <a:p>
            <a:pPr marL="269875" indent="-219075"/>
            <a:r>
              <a:rPr lang="en-US" dirty="0"/>
              <a:t>•</a:t>
            </a:r>
            <a:r>
              <a:rPr lang="en-US" i="1" dirty="0"/>
              <a:t>In the last round, </a:t>
            </a:r>
            <a:r>
              <a:rPr lang="en-US" i="1" dirty="0" err="1"/>
              <a:t>MixColumns</a:t>
            </a:r>
            <a:r>
              <a:rPr lang="en-US" i="1" dirty="0"/>
              <a:t> transformation is missing </a:t>
            </a:r>
            <a:endParaRPr lang="en-US" dirty="0"/>
          </a:p>
          <a:p>
            <a:endParaRPr lang="en-IN" dirty="0"/>
          </a:p>
        </p:txBody>
      </p:sp>
    </p:spTree>
    <p:extLst>
      <p:ext uri="{BB962C8B-B14F-4D97-AF65-F5344CB8AC3E}">
        <p14:creationId xmlns:p14="http://schemas.microsoft.com/office/powerpoint/2010/main" val="390747295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40328" y="950557"/>
            <a:ext cx="8229600" cy="4525963"/>
          </a:xfrm>
        </p:spPr>
        <p:txBody>
          <a:bodyPr/>
          <a:lstStyle/>
          <a:p>
            <a:r>
              <a:rPr lang="en-US" i="1" dirty="0" smtClean="0"/>
              <a:t>State </a:t>
            </a:r>
            <a:r>
              <a:rPr lang="en-US" i="1" dirty="0"/>
              <a:t>is treated as 4X4 matrix of bytes </a:t>
            </a:r>
            <a:endParaRPr lang="en-US" dirty="0"/>
          </a:p>
          <a:p>
            <a:r>
              <a:rPr lang="en-US" i="1" dirty="0" smtClean="0"/>
              <a:t>Transformation </a:t>
            </a:r>
            <a:r>
              <a:rPr lang="en-US" i="1" dirty="0"/>
              <a:t>is done one byte at a time </a:t>
            </a:r>
            <a:endParaRPr lang="en-US" dirty="0"/>
          </a:p>
          <a:p>
            <a:r>
              <a:rPr lang="en-US" i="1" dirty="0" smtClean="0"/>
              <a:t>The </a:t>
            </a:r>
            <a:r>
              <a:rPr lang="en-US" i="1" dirty="0"/>
              <a:t>content of each byte is changed but the arrangement of the bytes in the matrix remains the same </a:t>
            </a:r>
            <a:endParaRPr lang="en-US" dirty="0"/>
          </a:p>
          <a:p>
            <a:r>
              <a:rPr lang="en-US" i="1" dirty="0" smtClean="0"/>
              <a:t>Each </a:t>
            </a:r>
            <a:r>
              <a:rPr lang="en-US" i="1" dirty="0"/>
              <a:t>byte is transformed independently </a:t>
            </a:r>
            <a:endParaRPr lang="en-US" dirty="0"/>
          </a:p>
          <a:p>
            <a:endParaRPr lang="en-IN"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4003" y="3803650"/>
            <a:ext cx="5302250" cy="305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806932" y="162862"/>
            <a:ext cx="7402883" cy="874951"/>
          </a:xfrm>
        </p:spPr>
        <p:txBody>
          <a:bodyPr/>
          <a:lstStyle/>
          <a:p>
            <a:r>
              <a:rPr lang="en-IN" dirty="0" err="1" smtClean="0"/>
              <a:t>SubBytes</a:t>
            </a:r>
            <a:r>
              <a:rPr lang="en-IN" dirty="0" smtClean="0"/>
              <a:t>- </a:t>
            </a:r>
            <a:r>
              <a:rPr lang="en-US" sz="2400" dirty="0" smtClean="0"/>
              <a:t>involves </a:t>
            </a:r>
            <a:r>
              <a:rPr lang="en-US" sz="2400" dirty="0"/>
              <a:t>16 independent byte-to-byte transformations</a:t>
            </a:r>
            <a:endParaRPr lang="en-IN" sz="2400" dirty="0"/>
          </a:p>
        </p:txBody>
      </p:sp>
    </p:spTree>
    <p:extLst>
      <p:ext uri="{BB962C8B-B14F-4D97-AF65-F5344CB8AC3E}">
        <p14:creationId xmlns:p14="http://schemas.microsoft.com/office/powerpoint/2010/main" val="379631567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SubBytes</a:t>
            </a:r>
            <a:endParaRPr lang="en-IN" dirty="0"/>
          </a:p>
        </p:txBody>
      </p:sp>
      <p:sp>
        <p:nvSpPr>
          <p:cNvPr id="3" name="Text Placeholder 2"/>
          <p:cNvSpPr>
            <a:spLocks noGrp="1"/>
          </p:cNvSpPr>
          <p:nvPr>
            <p:ph type="body" idx="1"/>
          </p:nvPr>
        </p:nvSpPr>
        <p:spPr>
          <a:xfrm>
            <a:off x="648049" y="941387"/>
            <a:ext cx="8229600" cy="4525963"/>
          </a:xfrm>
        </p:spPr>
        <p:txBody>
          <a:bodyPr/>
          <a:lstStyle/>
          <a:p>
            <a:r>
              <a:rPr lang="en-US" dirty="0"/>
              <a:t>The Substitution Table </a:t>
            </a:r>
            <a:r>
              <a:rPr lang="en-US" dirty="0" smtClean="0"/>
              <a:t>is used (S </a:t>
            </a:r>
            <a:r>
              <a:rPr lang="en-US" dirty="0"/>
              <a:t>Box) for </a:t>
            </a:r>
            <a:r>
              <a:rPr lang="en-US" dirty="0" err="1"/>
              <a:t>SubBytes</a:t>
            </a:r>
            <a:r>
              <a:rPr lang="en-US" dirty="0"/>
              <a:t> transformation</a:t>
            </a:r>
          </a:p>
          <a:p>
            <a:r>
              <a:rPr lang="en-US" dirty="0" smtClean="0"/>
              <a:t>Provides </a:t>
            </a:r>
            <a:r>
              <a:rPr lang="en-US" dirty="0"/>
              <a:t>confusion effect</a:t>
            </a:r>
          </a:p>
          <a:p>
            <a:r>
              <a:rPr lang="en-US" dirty="0" smtClean="0"/>
              <a:t>Two </a:t>
            </a:r>
            <a:r>
              <a:rPr lang="en-US" dirty="0"/>
              <a:t>bytes 5A</a:t>
            </a:r>
            <a:r>
              <a:rPr lang="en-US" baseline="-25000" dirty="0"/>
              <a:t>16 </a:t>
            </a:r>
            <a:r>
              <a:rPr lang="en-US" dirty="0"/>
              <a:t>and 5B</a:t>
            </a:r>
            <a:r>
              <a:rPr lang="en-US" baseline="-25000" dirty="0"/>
              <a:t>16</a:t>
            </a:r>
            <a:r>
              <a:rPr lang="en-US" dirty="0"/>
              <a:t> which differ only in one bit </a:t>
            </a:r>
            <a:r>
              <a:rPr lang="en-US" dirty="0" smtClean="0"/>
              <a:t>are transformed </a:t>
            </a:r>
            <a:r>
              <a:rPr lang="en-US" dirty="0"/>
              <a:t>to BE</a:t>
            </a:r>
            <a:r>
              <a:rPr lang="en-US" baseline="-25000" dirty="0"/>
              <a:t>16</a:t>
            </a:r>
            <a:r>
              <a:rPr lang="en-US" dirty="0"/>
              <a:t> and 39</a:t>
            </a:r>
            <a:r>
              <a:rPr lang="en-US" baseline="-25000" dirty="0"/>
              <a:t>16</a:t>
            </a:r>
            <a:r>
              <a:rPr lang="en-US" dirty="0"/>
              <a:t> which differ in four bits</a:t>
            </a:r>
            <a:endParaRPr lang="en-IN" dirty="0"/>
          </a:p>
        </p:txBody>
      </p:sp>
    </p:spTree>
    <p:extLst>
      <p:ext uri="{BB962C8B-B14F-4D97-AF65-F5344CB8AC3E}">
        <p14:creationId xmlns:p14="http://schemas.microsoft.com/office/powerpoint/2010/main" val="375046377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917" y="286037"/>
            <a:ext cx="8445065" cy="5844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07802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SubBytes</a:t>
            </a:r>
            <a:r>
              <a:rPr lang="en-IN" dirty="0" smtClean="0"/>
              <a:t> and </a:t>
            </a:r>
            <a:r>
              <a:rPr lang="en-IN" dirty="0" err="1" smtClean="0"/>
              <a:t>InverseSubBytes</a:t>
            </a:r>
            <a:endParaRPr lang="en-IN" dirty="0"/>
          </a:p>
        </p:txBody>
      </p:sp>
      <p:sp>
        <p:nvSpPr>
          <p:cNvPr id="3" name="Text Placeholder 2"/>
          <p:cNvSpPr>
            <a:spLocks noGrp="1"/>
          </p:cNvSpPr>
          <p:nvPr>
            <p:ph type="body" idx="1"/>
          </p:nvPr>
        </p:nvSpPr>
        <p:spPr/>
        <p:txBody>
          <a:bodyPr/>
          <a:lstStyle/>
          <a:p>
            <a:endParaRPr lang="en-IN"/>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490" y="838489"/>
            <a:ext cx="8097403" cy="530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88666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ShiftRows</a:t>
            </a:r>
            <a:endParaRPr lang="en-IN" dirty="0"/>
          </a:p>
        </p:txBody>
      </p:sp>
      <p:sp>
        <p:nvSpPr>
          <p:cNvPr id="3" name="Text Placeholder 2"/>
          <p:cNvSpPr>
            <a:spLocks noGrp="1"/>
          </p:cNvSpPr>
          <p:nvPr>
            <p:ph type="body" idx="1"/>
          </p:nvPr>
        </p:nvSpPr>
        <p:spPr/>
        <p:txBody>
          <a:bodyPr/>
          <a:lstStyle/>
          <a:p>
            <a:r>
              <a:rPr lang="en-US" i="1" dirty="0" smtClean="0"/>
              <a:t>Another </a:t>
            </a:r>
            <a:r>
              <a:rPr lang="en-US" i="1" dirty="0"/>
              <a:t>transformation found in a round is shifting, which permutes the bytes. </a:t>
            </a:r>
            <a:endParaRPr lang="en-US" dirty="0"/>
          </a:p>
          <a:p>
            <a:r>
              <a:rPr lang="en-US" i="1" dirty="0" smtClean="0"/>
              <a:t>In </a:t>
            </a:r>
            <a:r>
              <a:rPr lang="en-US" i="1" dirty="0"/>
              <a:t>DES, Permutation is done at the bit level, </a:t>
            </a:r>
            <a:r>
              <a:rPr lang="en-US" i="1" dirty="0" smtClean="0"/>
              <a:t>Shifting </a:t>
            </a:r>
            <a:r>
              <a:rPr lang="en-US" i="1" dirty="0"/>
              <a:t>transformation in AES is done at the byte level </a:t>
            </a:r>
            <a:endParaRPr lang="en-US" dirty="0"/>
          </a:p>
          <a:p>
            <a:r>
              <a:rPr lang="en-US" i="1" dirty="0" smtClean="0"/>
              <a:t>The </a:t>
            </a:r>
            <a:r>
              <a:rPr lang="en-US" i="1" dirty="0"/>
              <a:t>order of the bits in the byte is not changed </a:t>
            </a:r>
            <a:endParaRPr lang="en-US" dirty="0"/>
          </a:p>
          <a:p>
            <a:endParaRPr lang="en-IN" dirty="0"/>
          </a:p>
        </p:txBody>
      </p:sp>
    </p:spTree>
    <p:extLst>
      <p:ext uri="{BB962C8B-B14F-4D97-AF65-F5344CB8AC3E}">
        <p14:creationId xmlns:p14="http://schemas.microsoft.com/office/powerpoint/2010/main" val="94007206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ShiftRows</a:t>
            </a:r>
            <a:endParaRPr lang="en-IN" dirty="0"/>
          </a:p>
        </p:txBody>
      </p:sp>
      <p:sp>
        <p:nvSpPr>
          <p:cNvPr id="3" name="Text Placeholder 2"/>
          <p:cNvSpPr>
            <a:spLocks noGrp="1"/>
          </p:cNvSpPr>
          <p:nvPr>
            <p:ph type="body" idx="1"/>
          </p:nvPr>
        </p:nvSpPr>
        <p:spPr/>
        <p:txBody>
          <a:bodyPr/>
          <a:lstStyle/>
          <a:p>
            <a:r>
              <a:rPr lang="en-US" dirty="0"/>
              <a:t>In the encryption, the transformation is called </a:t>
            </a:r>
            <a:r>
              <a:rPr lang="en-US" dirty="0" err="1"/>
              <a:t>ShiftRows</a:t>
            </a:r>
            <a:r>
              <a:rPr lang="en-US" dirty="0"/>
              <a:t>.</a:t>
            </a:r>
          </a:p>
          <a:p>
            <a:r>
              <a:rPr lang="en-US" dirty="0" smtClean="0"/>
              <a:t>Shifting </a:t>
            </a:r>
            <a:r>
              <a:rPr lang="en-US" dirty="0"/>
              <a:t>is to the left</a:t>
            </a:r>
          </a:p>
          <a:p>
            <a:r>
              <a:rPr lang="en-US" dirty="0" smtClean="0"/>
              <a:t>The </a:t>
            </a:r>
            <a:r>
              <a:rPr lang="en-US" dirty="0"/>
              <a:t>no of shifts depends on the row </a:t>
            </a:r>
            <a:r>
              <a:rPr lang="en-US" dirty="0" smtClean="0"/>
              <a:t>number(0,1,2,3</a:t>
            </a:r>
            <a:r>
              <a:rPr lang="en-US" dirty="0"/>
              <a:t>) of the state matrix</a:t>
            </a:r>
          </a:p>
          <a:p>
            <a:r>
              <a:rPr lang="en-US" dirty="0" smtClean="0"/>
              <a:t>Shift </a:t>
            </a:r>
            <a:r>
              <a:rPr lang="en-US" dirty="0"/>
              <a:t>row transformation operates one row at a </a:t>
            </a:r>
            <a:r>
              <a:rPr lang="en-US" dirty="0" smtClean="0"/>
              <a:t>time</a:t>
            </a:r>
            <a:endParaRPr lang="en-US" dirty="0"/>
          </a:p>
        </p:txBody>
      </p:sp>
    </p:spTree>
    <p:extLst>
      <p:ext uri="{BB962C8B-B14F-4D97-AF65-F5344CB8AC3E}">
        <p14:creationId xmlns:p14="http://schemas.microsoft.com/office/powerpoint/2010/main" val="99862988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ShiftRows</a:t>
            </a:r>
            <a:endParaRPr lang="en-IN" dirty="0"/>
          </a:p>
        </p:txBody>
      </p:sp>
      <p:sp>
        <p:nvSpPr>
          <p:cNvPr id="3" name="Text Placeholder 2"/>
          <p:cNvSpPr>
            <a:spLocks noGrp="1"/>
          </p:cNvSpPr>
          <p:nvPr>
            <p:ph type="body" idx="1"/>
          </p:nvPr>
        </p:nvSpPr>
        <p:spPr/>
        <p:txBody>
          <a:bodyPr/>
          <a:lstStyle/>
          <a:p>
            <a:endParaRPr lang="en-IN"/>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940" y="2481696"/>
            <a:ext cx="7147173" cy="2641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916534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InvShiftRows</a:t>
            </a:r>
            <a:endParaRPr lang="en-IN" dirty="0"/>
          </a:p>
        </p:txBody>
      </p:sp>
      <p:sp>
        <p:nvSpPr>
          <p:cNvPr id="3" name="Text Placeholder 2"/>
          <p:cNvSpPr>
            <a:spLocks noGrp="1"/>
          </p:cNvSpPr>
          <p:nvPr>
            <p:ph type="body" idx="1"/>
          </p:nvPr>
        </p:nvSpPr>
        <p:spPr>
          <a:xfrm>
            <a:off x="637659" y="877819"/>
            <a:ext cx="8229600" cy="4525963"/>
          </a:xfrm>
        </p:spPr>
        <p:txBody>
          <a:bodyPr/>
          <a:lstStyle/>
          <a:p>
            <a:r>
              <a:rPr lang="en-US" dirty="0" smtClean="0"/>
              <a:t>the </a:t>
            </a:r>
            <a:r>
              <a:rPr lang="en-US" dirty="0"/>
              <a:t>shifting is to the right.</a:t>
            </a:r>
          </a:p>
          <a:p>
            <a:r>
              <a:rPr lang="en-US" dirty="0" smtClean="0"/>
              <a:t>The </a:t>
            </a:r>
            <a:r>
              <a:rPr lang="en-US" dirty="0"/>
              <a:t>number of shifts is the same as the row number (0,1,2 and 3) of the state matrix</a:t>
            </a:r>
          </a:p>
          <a:p>
            <a:r>
              <a:rPr lang="en-US" dirty="0" err="1" smtClean="0"/>
              <a:t>ShiftRows</a:t>
            </a:r>
            <a:r>
              <a:rPr lang="en-US" dirty="0" smtClean="0"/>
              <a:t> </a:t>
            </a:r>
            <a:r>
              <a:rPr lang="en-US" dirty="0"/>
              <a:t>and </a:t>
            </a:r>
            <a:r>
              <a:rPr lang="en-US" dirty="0" err="1"/>
              <a:t>InvShiftRows</a:t>
            </a:r>
            <a:r>
              <a:rPr lang="en-US" dirty="0"/>
              <a:t> transformations are inverses of each </a:t>
            </a:r>
            <a:r>
              <a:rPr lang="en-US" dirty="0" smtClean="0"/>
              <a:t>other</a:t>
            </a:r>
            <a:endParaRPr lang="en-US"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3902" y="3309792"/>
            <a:ext cx="6984133" cy="284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197464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Mixing</a:t>
            </a:r>
            <a:endParaRPr lang="en-IN" dirty="0"/>
          </a:p>
        </p:txBody>
      </p:sp>
      <p:sp>
        <p:nvSpPr>
          <p:cNvPr id="3" name="Text Placeholder 2"/>
          <p:cNvSpPr>
            <a:spLocks noGrp="1"/>
          </p:cNvSpPr>
          <p:nvPr>
            <p:ph type="body" idx="1"/>
          </p:nvPr>
        </p:nvSpPr>
        <p:spPr/>
        <p:txBody>
          <a:bodyPr>
            <a:normAutofit/>
          </a:bodyPr>
          <a:lstStyle/>
          <a:p>
            <a:r>
              <a:rPr lang="en-US" dirty="0" err="1"/>
              <a:t>interbyte</a:t>
            </a:r>
            <a:r>
              <a:rPr lang="en-US" dirty="0"/>
              <a:t> transformation that changes the bits inside a byte, based on the bits inside the neighboring bytes</a:t>
            </a:r>
            <a:r>
              <a:rPr lang="en-US" dirty="0" smtClean="0"/>
              <a:t>.</a:t>
            </a:r>
          </a:p>
          <a:p>
            <a:r>
              <a:rPr lang="en-US" dirty="0"/>
              <a:t>Takes 4 bytes at a time, combining them to recreate four new bytes</a:t>
            </a:r>
          </a:p>
          <a:p>
            <a:r>
              <a:rPr lang="en-US" dirty="0" smtClean="0"/>
              <a:t>Each </a:t>
            </a:r>
            <a:r>
              <a:rPr lang="en-US" dirty="0"/>
              <a:t>new byte is different, even if all 4 bytes are the same</a:t>
            </a:r>
          </a:p>
          <a:p>
            <a:r>
              <a:rPr lang="en-US" dirty="0" smtClean="0"/>
              <a:t>Multiplies </a:t>
            </a:r>
            <a:r>
              <a:rPr lang="en-US" dirty="0"/>
              <a:t>each byte with a different constant and mixes </a:t>
            </a:r>
            <a:r>
              <a:rPr lang="en-US" dirty="0" smtClean="0"/>
              <a:t>them</a:t>
            </a:r>
            <a:endParaRPr lang="en-US" dirty="0"/>
          </a:p>
        </p:txBody>
      </p:sp>
    </p:spTree>
    <p:extLst>
      <p:ext uri="{BB962C8B-B14F-4D97-AF65-F5344CB8AC3E}">
        <p14:creationId xmlns:p14="http://schemas.microsoft.com/office/powerpoint/2010/main" val="403484353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Mixing</a:t>
            </a:r>
            <a:endParaRPr lang="en-IN" dirty="0"/>
          </a:p>
        </p:txBody>
      </p:sp>
      <p:sp>
        <p:nvSpPr>
          <p:cNvPr id="3" name="Text Placeholder 2"/>
          <p:cNvSpPr>
            <a:spLocks noGrp="1"/>
          </p:cNvSpPr>
          <p:nvPr>
            <p:ph type="body" idx="1"/>
          </p:nvPr>
        </p:nvSpPr>
        <p:spPr/>
        <p:txBody>
          <a:bodyPr/>
          <a:lstStyle/>
          <a:p>
            <a:endParaRPr lang="en-IN"/>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790" y="2404051"/>
            <a:ext cx="8082638" cy="1762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456095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err="1" smtClean="0"/>
              <a:t>MixColumns</a:t>
            </a:r>
            <a:r>
              <a:rPr lang="en-US" dirty="0" smtClean="0"/>
              <a:t> &amp; </a:t>
            </a:r>
            <a:r>
              <a:rPr lang="en-US" dirty="0" err="1" smtClean="0"/>
              <a:t>Inv</a:t>
            </a:r>
            <a:r>
              <a:rPr lang="en-US" dirty="0"/>
              <a:t> </a:t>
            </a:r>
            <a:r>
              <a:rPr lang="en-US" dirty="0" err="1"/>
              <a:t>MixColumns</a:t>
            </a:r>
            <a:r>
              <a:rPr lang="en-US" dirty="0"/>
              <a:t> </a:t>
            </a:r>
            <a:endParaRPr lang="en-IN" dirty="0"/>
          </a:p>
        </p:txBody>
      </p:sp>
      <p:sp>
        <p:nvSpPr>
          <p:cNvPr id="3" name="Text Placeholder 2"/>
          <p:cNvSpPr>
            <a:spLocks noGrp="1"/>
          </p:cNvSpPr>
          <p:nvPr>
            <p:ph type="body" idx="1"/>
          </p:nvPr>
        </p:nvSpPr>
        <p:spPr>
          <a:xfrm>
            <a:off x="637659" y="908992"/>
            <a:ext cx="8229600" cy="4525963"/>
          </a:xfrm>
        </p:spPr>
        <p:txBody>
          <a:bodyPr/>
          <a:lstStyle/>
          <a:p>
            <a:r>
              <a:rPr lang="en-US" dirty="0"/>
              <a:t>The </a:t>
            </a:r>
            <a:r>
              <a:rPr lang="en-US" dirty="0" err="1"/>
              <a:t>MixColumns</a:t>
            </a:r>
            <a:r>
              <a:rPr lang="en-US" dirty="0"/>
              <a:t> transformation operates at the column level; it transforms each column of the state to a new column. </a:t>
            </a:r>
            <a:endParaRPr lang="en-US" dirty="0" smtClean="0"/>
          </a:p>
          <a:p>
            <a:r>
              <a:rPr lang="en-US" dirty="0" smtClean="0"/>
              <a:t>Matrix </a:t>
            </a:r>
            <a:r>
              <a:rPr lang="en-US" dirty="0"/>
              <a:t>multiplication of a state column by a constant square </a:t>
            </a:r>
            <a:r>
              <a:rPr lang="en-US" dirty="0" smtClean="0"/>
              <a:t>matrix</a:t>
            </a:r>
          </a:p>
          <a:p>
            <a:r>
              <a:rPr lang="en-US" i="1" dirty="0" smtClean="0"/>
              <a:t>The </a:t>
            </a:r>
            <a:r>
              <a:rPr lang="en-US" i="1" dirty="0" err="1"/>
              <a:t>InvMixColumns</a:t>
            </a:r>
            <a:r>
              <a:rPr lang="en-US" i="1" dirty="0"/>
              <a:t> transformation is basically the same as the </a:t>
            </a:r>
            <a:r>
              <a:rPr lang="en-US" i="1" dirty="0" err="1"/>
              <a:t>MixColumns</a:t>
            </a:r>
            <a:r>
              <a:rPr lang="en-US" i="1" dirty="0"/>
              <a:t> transformation</a:t>
            </a:r>
            <a:endParaRPr lang="en-IN"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6350" y="4110757"/>
            <a:ext cx="6591300" cy="250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046884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AddRoundKey</a:t>
            </a:r>
            <a:endParaRPr lang="en-IN" dirty="0"/>
          </a:p>
        </p:txBody>
      </p:sp>
      <p:sp>
        <p:nvSpPr>
          <p:cNvPr id="3" name="Text Placeholder 2"/>
          <p:cNvSpPr>
            <a:spLocks noGrp="1"/>
          </p:cNvSpPr>
          <p:nvPr>
            <p:ph type="body" idx="1"/>
          </p:nvPr>
        </p:nvSpPr>
        <p:spPr/>
        <p:txBody>
          <a:bodyPr>
            <a:normAutofit fontScale="92500" lnSpcReduction="10000"/>
          </a:bodyPr>
          <a:lstStyle/>
          <a:p>
            <a:r>
              <a:rPr lang="en-US" dirty="0"/>
              <a:t>Each Round key is 128 bits long</a:t>
            </a:r>
          </a:p>
          <a:p>
            <a:r>
              <a:rPr lang="en-US" dirty="0" smtClean="0"/>
              <a:t>Treated </a:t>
            </a:r>
            <a:r>
              <a:rPr lang="en-US" dirty="0"/>
              <a:t>as Four 32 bit words</a:t>
            </a:r>
          </a:p>
          <a:p>
            <a:r>
              <a:rPr lang="en-US" dirty="0" smtClean="0"/>
              <a:t>For </a:t>
            </a:r>
            <a:r>
              <a:rPr lang="en-US" dirty="0"/>
              <a:t>adding the key to the state , each word is considered as a column matrix</a:t>
            </a:r>
          </a:p>
          <a:p>
            <a:r>
              <a:rPr lang="en-US" dirty="0" err="1" smtClean="0"/>
              <a:t>AddRoundKey</a:t>
            </a:r>
            <a:r>
              <a:rPr lang="en-US" dirty="0" smtClean="0"/>
              <a:t> </a:t>
            </a:r>
            <a:r>
              <a:rPr lang="en-US" dirty="0"/>
              <a:t>proceeds one column at a time.</a:t>
            </a:r>
          </a:p>
          <a:p>
            <a:r>
              <a:rPr lang="en-US" dirty="0" err="1" smtClean="0"/>
              <a:t>AddRoundKey</a:t>
            </a:r>
            <a:r>
              <a:rPr lang="en-US" dirty="0" smtClean="0"/>
              <a:t> </a:t>
            </a:r>
            <a:r>
              <a:rPr lang="en-US" dirty="0"/>
              <a:t>adds a round key word with each state column matrix;</a:t>
            </a:r>
          </a:p>
          <a:p>
            <a:r>
              <a:rPr lang="en-US" dirty="0" smtClean="0"/>
              <a:t>The </a:t>
            </a:r>
            <a:r>
              <a:rPr lang="en-US" dirty="0"/>
              <a:t>operation in </a:t>
            </a:r>
            <a:r>
              <a:rPr lang="en-US" dirty="0" err="1"/>
              <a:t>AddRoundKey</a:t>
            </a:r>
            <a:r>
              <a:rPr lang="en-US" dirty="0"/>
              <a:t> is matrix addition.</a:t>
            </a:r>
          </a:p>
          <a:p>
            <a:r>
              <a:rPr lang="en-US" dirty="0"/>
              <a:t>The </a:t>
            </a:r>
            <a:r>
              <a:rPr lang="en-US" dirty="0" err="1"/>
              <a:t>AddRoundKey</a:t>
            </a:r>
            <a:r>
              <a:rPr lang="en-US" dirty="0"/>
              <a:t> transformation is the inverse of itself.</a:t>
            </a:r>
            <a:endParaRPr lang="en-IN" dirty="0"/>
          </a:p>
        </p:txBody>
      </p:sp>
    </p:spTree>
    <p:extLst>
      <p:ext uri="{BB962C8B-B14F-4D97-AF65-F5344CB8AC3E}">
        <p14:creationId xmlns:p14="http://schemas.microsoft.com/office/powerpoint/2010/main" val="378944310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AddRoundKey</a:t>
            </a:r>
            <a:endParaRPr lang="en-IN" dirty="0"/>
          </a:p>
        </p:txBody>
      </p:sp>
      <p:sp>
        <p:nvSpPr>
          <p:cNvPr id="3" name="Text Placeholder 2"/>
          <p:cNvSpPr>
            <a:spLocks noGrp="1"/>
          </p:cNvSpPr>
          <p:nvPr>
            <p:ph type="body" idx="1"/>
          </p:nvPr>
        </p:nvSpPr>
        <p:spPr/>
        <p:txBody>
          <a:bodyPr/>
          <a:lstStyle/>
          <a:p>
            <a:endParaRPr lang="en-IN"/>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699" y="2044699"/>
            <a:ext cx="7529913" cy="3296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015487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Key expansion</a:t>
            </a:r>
            <a:endParaRPr lang="en-IN" dirty="0"/>
          </a:p>
        </p:txBody>
      </p:sp>
      <p:sp>
        <p:nvSpPr>
          <p:cNvPr id="3" name="Text Placeholder 2"/>
          <p:cNvSpPr>
            <a:spLocks noGrp="1"/>
          </p:cNvSpPr>
          <p:nvPr>
            <p:ph type="body" idx="1"/>
          </p:nvPr>
        </p:nvSpPr>
        <p:spPr/>
        <p:txBody>
          <a:bodyPr>
            <a:normAutofit fontScale="70000" lnSpcReduction="20000"/>
          </a:bodyPr>
          <a:lstStyle/>
          <a:p>
            <a:endParaRPr lang="en-IN" dirty="0" smtClean="0"/>
          </a:p>
          <a:p>
            <a:endParaRPr lang="en-IN" dirty="0"/>
          </a:p>
          <a:p>
            <a:endParaRPr lang="en-IN" dirty="0" smtClean="0"/>
          </a:p>
          <a:p>
            <a:endParaRPr lang="en-IN" dirty="0"/>
          </a:p>
          <a:p>
            <a:endParaRPr lang="en-IN" dirty="0"/>
          </a:p>
          <a:p>
            <a:r>
              <a:rPr lang="en-IN" i="1" dirty="0" err="1"/>
              <a:t>RotWord</a:t>
            </a:r>
            <a:r>
              <a:rPr lang="en-IN" i="1" dirty="0"/>
              <a:t>- </a:t>
            </a:r>
            <a:endParaRPr lang="en-IN" dirty="0"/>
          </a:p>
          <a:p>
            <a:pPr lvl="1"/>
            <a:r>
              <a:rPr lang="en-IN" i="1" dirty="0" smtClean="0"/>
              <a:t>Rotate </a:t>
            </a:r>
            <a:r>
              <a:rPr lang="en-IN" i="1" dirty="0"/>
              <a:t>Word </a:t>
            </a:r>
            <a:endParaRPr lang="en-IN" dirty="0"/>
          </a:p>
          <a:p>
            <a:pPr lvl="1"/>
            <a:r>
              <a:rPr lang="en-US" i="1" dirty="0" smtClean="0"/>
              <a:t>Takes </a:t>
            </a:r>
            <a:r>
              <a:rPr lang="en-US" i="1" dirty="0"/>
              <a:t>a word as an array of 4 bytes </a:t>
            </a:r>
            <a:endParaRPr lang="en-US" dirty="0"/>
          </a:p>
          <a:p>
            <a:pPr lvl="1"/>
            <a:r>
              <a:rPr lang="en-US" i="1" dirty="0" smtClean="0"/>
              <a:t>Shifts </a:t>
            </a:r>
            <a:r>
              <a:rPr lang="en-US" i="1" dirty="0"/>
              <a:t>each byte to the left with wrapping </a:t>
            </a:r>
            <a:endParaRPr lang="en-US" dirty="0"/>
          </a:p>
          <a:p>
            <a:r>
              <a:rPr lang="en-IN" i="1" dirty="0" err="1" smtClean="0"/>
              <a:t>SubWord</a:t>
            </a:r>
            <a:r>
              <a:rPr lang="en-IN" i="1" dirty="0" smtClean="0"/>
              <a:t>- </a:t>
            </a:r>
            <a:endParaRPr lang="en-IN" dirty="0"/>
          </a:p>
          <a:p>
            <a:pPr lvl="1"/>
            <a:r>
              <a:rPr lang="en-IN" i="1" dirty="0" smtClean="0"/>
              <a:t>Substitute </a:t>
            </a:r>
            <a:r>
              <a:rPr lang="en-IN" i="1" dirty="0"/>
              <a:t>Word </a:t>
            </a:r>
            <a:endParaRPr lang="en-IN" dirty="0"/>
          </a:p>
          <a:p>
            <a:pPr lvl="1"/>
            <a:r>
              <a:rPr lang="en-US" i="1" dirty="0" smtClean="0"/>
              <a:t>Takes </a:t>
            </a:r>
            <a:r>
              <a:rPr lang="en-US" i="1" dirty="0"/>
              <a:t>each byte in the word and substitute another byte for it </a:t>
            </a:r>
            <a:endParaRPr lang="en-US" dirty="0"/>
          </a:p>
          <a:p>
            <a:r>
              <a:rPr lang="en-IN" i="1" dirty="0" smtClean="0"/>
              <a:t>Round </a:t>
            </a:r>
            <a:r>
              <a:rPr lang="en-IN" i="1" dirty="0"/>
              <a:t>Constants- </a:t>
            </a:r>
            <a:r>
              <a:rPr lang="en-IN" i="1" dirty="0" smtClean="0"/>
              <a:t>(Generated with some mathematical logic)</a:t>
            </a:r>
            <a:endParaRPr lang="en-IN" dirty="0"/>
          </a:p>
          <a:p>
            <a:pPr lvl="1"/>
            <a:r>
              <a:rPr lang="en-US" i="1" dirty="0" err="1" smtClean="0"/>
              <a:t>Rcon</a:t>
            </a:r>
            <a:r>
              <a:rPr lang="en-US" i="1" dirty="0" smtClean="0"/>
              <a:t>=4 </a:t>
            </a:r>
            <a:r>
              <a:rPr lang="en-US" i="1" dirty="0"/>
              <a:t>byte value, Rightmost three bytes are always Zero </a:t>
            </a:r>
            <a:endParaRPr lang="en-US" dirty="0"/>
          </a:p>
          <a:p>
            <a:endParaRPr lang="en-IN" dirty="0"/>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5707" y="1300884"/>
            <a:ext cx="5942702" cy="1307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598536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a:t>Each round key in AES depends on the previous round key</a:t>
            </a:r>
            <a:r>
              <a:rPr lang="en-US" dirty="0" smtClean="0"/>
              <a:t>.</a:t>
            </a:r>
          </a:p>
          <a:p>
            <a:r>
              <a:rPr lang="en-US" dirty="0" smtClean="0"/>
              <a:t> </a:t>
            </a:r>
            <a:r>
              <a:rPr lang="en-US" dirty="0"/>
              <a:t>The dependency, however, is nonlinear because of </a:t>
            </a:r>
            <a:r>
              <a:rPr lang="en-US" dirty="0" err="1"/>
              <a:t>SubWord</a:t>
            </a:r>
            <a:r>
              <a:rPr lang="en-US" dirty="0"/>
              <a:t> transformation</a:t>
            </a:r>
            <a:r>
              <a:rPr lang="en-US" dirty="0" smtClean="0"/>
              <a:t>.</a:t>
            </a:r>
          </a:p>
          <a:p>
            <a:r>
              <a:rPr lang="en-US" dirty="0" smtClean="0"/>
              <a:t> </a:t>
            </a:r>
            <a:r>
              <a:rPr lang="en-US" dirty="0"/>
              <a:t>The addition of the round constants also guarantees that each round key will be different from the previous one.</a:t>
            </a:r>
            <a:endParaRPr lang="en-IN" dirty="0"/>
          </a:p>
        </p:txBody>
      </p:sp>
    </p:spTree>
    <p:extLst>
      <p:ext uri="{BB962C8B-B14F-4D97-AF65-F5344CB8AC3E}">
        <p14:creationId xmlns:p14="http://schemas.microsoft.com/office/powerpoint/2010/main" val="300064042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Key expansion analysis</a:t>
            </a:r>
            <a:endParaRPr lang="en-IN" dirty="0"/>
          </a:p>
        </p:txBody>
      </p:sp>
      <p:sp>
        <p:nvSpPr>
          <p:cNvPr id="3" name="Text Placeholder 2"/>
          <p:cNvSpPr>
            <a:spLocks noGrp="1"/>
          </p:cNvSpPr>
          <p:nvPr>
            <p:ph type="body" idx="1"/>
          </p:nvPr>
        </p:nvSpPr>
        <p:spPr/>
        <p:txBody>
          <a:bodyPr>
            <a:normAutofit lnSpcReduction="10000"/>
          </a:bodyPr>
          <a:lstStyle/>
          <a:p>
            <a:r>
              <a:rPr lang="en-US" dirty="0" smtClean="0"/>
              <a:t>designed </a:t>
            </a:r>
            <a:r>
              <a:rPr lang="en-US" dirty="0"/>
              <a:t>to provide several features that thwart the cryptanalyst.</a:t>
            </a:r>
          </a:p>
          <a:p>
            <a:r>
              <a:rPr lang="en-US" dirty="0" smtClean="0"/>
              <a:t>Two </a:t>
            </a:r>
            <a:r>
              <a:rPr lang="en-US" dirty="0"/>
              <a:t>different Cipher keys, no matter how similar to each other, produce two expansions that differ in </a:t>
            </a:r>
            <a:r>
              <a:rPr lang="en-US" dirty="0" err="1"/>
              <a:t>atleast</a:t>
            </a:r>
            <a:r>
              <a:rPr lang="en-US" dirty="0"/>
              <a:t> a few rounds</a:t>
            </a:r>
          </a:p>
          <a:p>
            <a:r>
              <a:rPr lang="en-US" dirty="0" smtClean="0"/>
              <a:t>Each </a:t>
            </a:r>
            <a:r>
              <a:rPr lang="en-US" dirty="0"/>
              <a:t>bit of cipher key is diffused into several rounds. </a:t>
            </a:r>
            <a:endParaRPr lang="en-US" dirty="0" smtClean="0"/>
          </a:p>
          <a:p>
            <a:r>
              <a:rPr lang="en-US" dirty="0" smtClean="0"/>
              <a:t>Changing </a:t>
            </a:r>
            <a:r>
              <a:rPr lang="en-US" dirty="0"/>
              <a:t>a single bit in the cipher key, will change some bits in several rounds</a:t>
            </a:r>
          </a:p>
          <a:p>
            <a:r>
              <a:rPr lang="en-US" dirty="0" smtClean="0"/>
              <a:t>No </a:t>
            </a:r>
            <a:r>
              <a:rPr lang="en-US" dirty="0"/>
              <a:t>serious weak keys in AES</a:t>
            </a:r>
            <a:endParaRPr lang="en-IN" dirty="0"/>
          </a:p>
        </p:txBody>
      </p:sp>
    </p:spTree>
    <p:extLst>
      <p:ext uri="{BB962C8B-B14F-4D97-AF65-F5344CB8AC3E}">
        <p14:creationId xmlns:p14="http://schemas.microsoft.com/office/powerpoint/2010/main" val="170395918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AES </a:t>
            </a:r>
            <a:r>
              <a:rPr lang="en-US" b="1" dirty="0" smtClean="0"/>
              <a:t>Decryption</a:t>
            </a:r>
            <a:endParaRPr lang="en-IN" dirty="0"/>
          </a:p>
        </p:txBody>
      </p:sp>
      <p:sp>
        <p:nvSpPr>
          <p:cNvPr id="3" name="Text Placeholder 2"/>
          <p:cNvSpPr>
            <a:spLocks noGrp="1"/>
          </p:cNvSpPr>
          <p:nvPr>
            <p:ph type="body" idx="1"/>
          </p:nvPr>
        </p:nvSpPr>
        <p:spPr/>
        <p:txBody>
          <a:bodyPr/>
          <a:lstStyle/>
          <a:p>
            <a:r>
              <a:rPr lang="en-US" dirty="0" smtClean="0"/>
              <a:t>🔄 </a:t>
            </a:r>
            <a:r>
              <a:rPr lang="en-US" dirty="0"/>
              <a:t>Reverse process of encryption:</a:t>
            </a:r>
          </a:p>
          <a:p>
            <a:r>
              <a:rPr lang="en-US" dirty="0"/>
              <a:t>Uses </a:t>
            </a:r>
            <a:r>
              <a:rPr lang="en-US" dirty="0" smtClean="0"/>
              <a:t>:</a:t>
            </a:r>
          </a:p>
          <a:p>
            <a:pPr lvl="1"/>
            <a:r>
              <a:rPr lang="en-US" b="1" dirty="0" smtClean="0"/>
              <a:t>Inverse </a:t>
            </a:r>
            <a:r>
              <a:rPr lang="en-US" b="1" dirty="0" err="1"/>
              <a:t>SubBytes</a:t>
            </a:r>
            <a:r>
              <a:rPr lang="en-US" b="1" dirty="0"/>
              <a:t>, </a:t>
            </a:r>
            <a:endParaRPr lang="en-US" b="1" dirty="0" smtClean="0"/>
          </a:p>
          <a:p>
            <a:pPr lvl="1"/>
            <a:r>
              <a:rPr lang="en-US" b="1" dirty="0" smtClean="0"/>
              <a:t>Inverse </a:t>
            </a:r>
            <a:r>
              <a:rPr lang="en-US" b="1" dirty="0" err="1"/>
              <a:t>ShiftRows</a:t>
            </a:r>
            <a:r>
              <a:rPr lang="en-US" b="1" dirty="0"/>
              <a:t>, and </a:t>
            </a:r>
            <a:endParaRPr lang="en-US" b="1" dirty="0" smtClean="0"/>
          </a:p>
          <a:p>
            <a:pPr lvl="1"/>
            <a:r>
              <a:rPr lang="en-US" b="1" dirty="0" smtClean="0"/>
              <a:t>Inverse </a:t>
            </a:r>
            <a:r>
              <a:rPr lang="en-US" b="1" dirty="0" err="1"/>
              <a:t>MixColumns</a:t>
            </a:r>
            <a:r>
              <a:rPr lang="en-US" dirty="0"/>
              <a:t>.</a:t>
            </a:r>
          </a:p>
          <a:p>
            <a:r>
              <a:rPr lang="en-US" dirty="0"/>
              <a:t>The </a:t>
            </a:r>
            <a:r>
              <a:rPr lang="en-US" b="1" dirty="0" err="1"/>
              <a:t>AddRoundKey</a:t>
            </a:r>
            <a:r>
              <a:rPr lang="en-US" dirty="0"/>
              <a:t> step remains the same.</a:t>
            </a:r>
          </a:p>
          <a:p>
            <a:endParaRPr lang="en-IN" dirty="0"/>
          </a:p>
        </p:txBody>
      </p:sp>
    </p:spTree>
    <p:extLst>
      <p:ext uri="{BB962C8B-B14F-4D97-AF65-F5344CB8AC3E}">
        <p14:creationId xmlns:p14="http://schemas.microsoft.com/office/powerpoint/2010/main" val="200306687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AES process</a:t>
            </a:r>
            <a:endParaRPr lang="en-IN" dirty="0"/>
          </a:p>
        </p:txBody>
      </p:sp>
      <p:sp>
        <p:nvSpPr>
          <p:cNvPr id="3" name="Text Placeholder 2"/>
          <p:cNvSpPr>
            <a:spLocks noGrp="1"/>
          </p:cNvSpPr>
          <p:nvPr>
            <p:ph type="body" idx="1"/>
          </p:nvPr>
        </p:nvSpPr>
        <p:spPr/>
        <p:txBody>
          <a:bodyPr/>
          <a:lstStyle/>
          <a:p>
            <a:endParaRPr lang="en-IN"/>
          </a:p>
        </p:txBody>
      </p:sp>
      <p:pic>
        <p:nvPicPr>
          <p:cNvPr id="256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20" y="1023504"/>
            <a:ext cx="7449416" cy="517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110628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AES is Secure</a:t>
            </a:r>
            <a:r>
              <a:rPr lang="en-US" b="1" dirty="0" smtClean="0"/>
              <a:t>?</a:t>
            </a:r>
            <a:endParaRPr lang="en-IN" dirty="0"/>
          </a:p>
        </p:txBody>
      </p:sp>
      <p:sp>
        <p:nvSpPr>
          <p:cNvPr id="3" name="Text Placeholder 2"/>
          <p:cNvSpPr>
            <a:spLocks noGrp="1"/>
          </p:cNvSpPr>
          <p:nvPr>
            <p:ph type="body" idx="1"/>
          </p:nvPr>
        </p:nvSpPr>
        <p:spPr/>
        <p:txBody>
          <a:bodyPr/>
          <a:lstStyle/>
          <a:p>
            <a:pPr>
              <a:tabLst>
                <a:tab pos="7804150" algn="l"/>
              </a:tabLst>
            </a:pPr>
            <a:r>
              <a:rPr lang="en-US" b="1" dirty="0" smtClean="0"/>
              <a:t>Large </a:t>
            </a:r>
            <a:r>
              <a:rPr lang="en-US" b="1" dirty="0"/>
              <a:t>Key Size</a:t>
            </a:r>
            <a:r>
              <a:rPr lang="en-US" dirty="0"/>
              <a:t> – 128-bit key has </a:t>
            </a:r>
            <a:r>
              <a:rPr lang="en-US" b="1" dirty="0" smtClean="0"/>
              <a:t>2</a:t>
            </a:r>
            <a:r>
              <a:rPr lang="en-US" b="1" baseline="30000" dirty="0" smtClean="0"/>
              <a:t>128 </a:t>
            </a:r>
            <a:r>
              <a:rPr lang="en-US" dirty="0" smtClean="0"/>
              <a:t>possible keys.</a:t>
            </a:r>
          </a:p>
          <a:p>
            <a:pPr>
              <a:tabLst>
                <a:tab pos="7804150" algn="l"/>
              </a:tabLst>
            </a:pPr>
            <a:r>
              <a:rPr lang="en-US" b="1" dirty="0"/>
              <a:t>S</a:t>
            </a:r>
            <a:r>
              <a:rPr lang="en-US" b="1" dirty="0" smtClean="0"/>
              <a:t>trong </a:t>
            </a:r>
            <a:r>
              <a:rPr lang="en-US" b="1" dirty="0"/>
              <a:t>S-box</a:t>
            </a:r>
            <a:r>
              <a:rPr lang="en-US" dirty="0"/>
              <a:t> – Prevents linear and differential </a:t>
            </a:r>
            <a:r>
              <a:rPr lang="en-US" dirty="0" smtClean="0"/>
              <a:t>cryptanalysis.</a:t>
            </a:r>
          </a:p>
          <a:p>
            <a:pPr>
              <a:tabLst>
                <a:tab pos="7804150" algn="l"/>
              </a:tabLst>
            </a:pPr>
            <a:r>
              <a:rPr lang="en-US" b="1" dirty="0" smtClean="0"/>
              <a:t>No </a:t>
            </a:r>
            <a:r>
              <a:rPr lang="en-US" b="1" dirty="0"/>
              <a:t>Known Practical Attacks</a:t>
            </a:r>
            <a:r>
              <a:rPr lang="en-US" dirty="0"/>
              <a:t> – Even </a:t>
            </a:r>
            <a:r>
              <a:rPr lang="en-US" b="1" dirty="0"/>
              <a:t>brute-force</a:t>
            </a:r>
            <a:r>
              <a:rPr lang="en-US" dirty="0"/>
              <a:t> attacks are </a:t>
            </a:r>
            <a:r>
              <a:rPr lang="en-US" dirty="0" smtClean="0"/>
              <a:t>infeasible.</a:t>
            </a:r>
          </a:p>
          <a:p>
            <a:pPr>
              <a:tabLst>
                <a:tab pos="7804150" algn="l"/>
              </a:tabLst>
            </a:pPr>
            <a:r>
              <a:rPr lang="en-US" b="1" dirty="0" smtClean="0"/>
              <a:t>Used </a:t>
            </a:r>
            <a:r>
              <a:rPr lang="en-US" b="1" dirty="0"/>
              <a:t>by Governments &amp; Organizations</a:t>
            </a:r>
            <a:r>
              <a:rPr lang="en-US" dirty="0"/>
              <a:t> – Approved for </a:t>
            </a:r>
            <a:r>
              <a:rPr lang="en-US" b="1" dirty="0"/>
              <a:t>Top Secret</a:t>
            </a:r>
            <a:r>
              <a:rPr lang="en-US" dirty="0"/>
              <a:t> U.S. data.</a:t>
            </a:r>
          </a:p>
          <a:p>
            <a:endParaRPr lang="en-IN" dirty="0"/>
          </a:p>
        </p:txBody>
      </p:sp>
    </p:spTree>
    <p:extLst>
      <p:ext uri="{BB962C8B-B14F-4D97-AF65-F5344CB8AC3E}">
        <p14:creationId xmlns:p14="http://schemas.microsoft.com/office/powerpoint/2010/main" val="9347250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Applications of </a:t>
            </a:r>
            <a:r>
              <a:rPr lang="en-IN" b="1" dirty="0" smtClean="0"/>
              <a:t>AES</a:t>
            </a:r>
            <a:endParaRPr lang="en-IN" dirty="0"/>
          </a:p>
        </p:txBody>
      </p:sp>
      <p:sp>
        <p:nvSpPr>
          <p:cNvPr id="3" name="Text Placeholder 2"/>
          <p:cNvSpPr>
            <a:spLocks noGrp="1"/>
          </p:cNvSpPr>
          <p:nvPr>
            <p:ph type="body" idx="1"/>
          </p:nvPr>
        </p:nvSpPr>
        <p:spPr/>
        <p:txBody>
          <a:bodyPr>
            <a:normAutofit lnSpcReduction="10000"/>
          </a:bodyPr>
          <a:lstStyle/>
          <a:p>
            <a:r>
              <a:rPr lang="en-IN" dirty="0" smtClean="0"/>
              <a:t>🔐 </a:t>
            </a:r>
            <a:r>
              <a:rPr lang="en-IN" b="1" dirty="0"/>
              <a:t>Cybersecurity</a:t>
            </a:r>
            <a:r>
              <a:rPr lang="en-IN" dirty="0"/>
              <a:t> – Secure communication, SSL/TLS encryption</a:t>
            </a:r>
            <a:r>
              <a:rPr lang="en-IN" dirty="0" smtClean="0"/>
              <a:t>.</a:t>
            </a:r>
          </a:p>
          <a:p>
            <a:r>
              <a:rPr lang="en-IN" dirty="0" smtClean="0"/>
              <a:t>🏦 </a:t>
            </a:r>
            <a:r>
              <a:rPr lang="en-IN" b="1" dirty="0"/>
              <a:t>Banking &amp; Finance</a:t>
            </a:r>
            <a:r>
              <a:rPr lang="en-IN" dirty="0"/>
              <a:t> – Secure transactions and ATM encryption</a:t>
            </a:r>
            <a:r>
              <a:rPr lang="en-IN" dirty="0" smtClean="0"/>
              <a:t>.</a:t>
            </a:r>
          </a:p>
          <a:p>
            <a:r>
              <a:rPr lang="en-IN" dirty="0" smtClean="0"/>
              <a:t>📱 </a:t>
            </a:r>
            <a:r>
              <a:rPr lang="en-IN" b="1" dirty="0"/>
              <a:t>Mobile Security</a:t>
            </a:r>
            <a:r>
              <a:rPr lang="en-IN" dirty="0"/>
              <a:t> – Used in encrypted messaging apps like WhatsApp</a:t>
            </a:r>
            <a:r>
              <a:rPr lang="en-IN" dirty="0" smtClean="0"/>
              <a:t>.</a:t>
            </a:r>
          </a:p>
          <a:p>
            <a:r>
              <a:rPr lang="en-IN" dirty="0" smtClean="0"/>
              <a:t>🔑 </a:t>
            </a:r>
            <a:r>
              <a:rPr lang="en-IN" b="1" dirty="0"/>
              <a:t>Disk &amp; File Encryption</a:t>
            </a:r>
            <a:r>
              <a:rPr lang="en-IN" dirty="0"/>
              <a:t> – BitLocker, </a:t>
            </a:r>
            <a:r>
              <a:rPr lang="en-IN" dirty="0" err="1"/>
              <a:t>VeraCrypt</a:t>
            </a:r>
            <a:r>
              <a:rPr lang="en-IN" dirty="0"/>
              <a:t>, and other encryption tools</a:t>
            </a:r>
            <a:r>
              <a:rPr lang="en-IN" dirty="0" smtClean="0"/>
              <a:t>.</a:t>
            </a:r>
          </a:p>
          <a:p>
            <a:r>
              <a:rPr lang="en-IN" dirty="0" smtClean="0"/>
              <a:t>🛰 </a:t>
            </a:r>
            <a:r>
              <a:rPr lang="en-IN" b="1" dirty="0"/>
              <a:t>Government &amp; Military</a:t>
            </a:r>
            <a:r>
              <a:rPr lang="en-IN" dirty="0"/>
              <a:t> – Protection of classified information.</a:t>
            </a:r>
          </a:p>
          <a:p>
            <a:endParaRPr lang="en-IN" dirty="0"/>
          </a:p>
        </p:txBody>
      </p:sp>
    </p:spTree>
    <p:extLst>
      <p:ext uri="{BB962C8B-B14F-4D97-AF65-F5344CB8AC3E}">
        <p14:creationId xmlns:p14="http://schemas.microsoft.com/office/powerpoint/2010/main" val="215759758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a:t>
            </a:r>
            <a:r>
              <a:rPr lang="en-US" b="1" dirty="0" smtClean="0"/>
              <a:t>AES</a:t>
            </a:r>
            <a:endParaRPr lang="en-IN" dirty="0"/>
          </a:p>
        </p:txBody>
      </p:sp>
      <p:sp>
        <p:nvSpPr>
          <p:cNvPr id="3" name="Text Placeholder 2"/>
          <p:cNvSpPr>
            <a:spLocks noGrp="1"/>
          </p:cNvSpPr>
          <p:nvPr>
            <p:ph type="body" idx="1"/>
          </p:nvPr>
        </p:nvSpPr>
        <p:spPr/>
        <p:txBody>
          <a:bodyPr/>
          <a:lstStyle/>
          <a:p>
            <a:r>
              <a:rPr lang="en-US" b="1" dirty="0" smtClean="0"/>
              <a:t>High </a:t>
            </a:r>
            <a:r>
              <a:rPr lang="en-US" b="1" dirty="0"/>
              <a:t>Security:</a:t>
            </a:r>
            <a:r>
              <a:rPr lang="en-US" dirty="0"/>
              <a:t> Resistant to known cryptographic attacks.</a:t>
            </a:r>
          </a:p>
          <a:p>
            <a:r>
              <a:rPr lang="en-US" b="1" dirty="0"/>
              <a:t>Speed:</a:t>
            </a:r>
            <a:r>
              <a:rPr lang="en-US" dirty="0"/>
              <a:t> Efficient in both hardware and software.</a:t>
            </a:r>
          </a:p>
          <a:p>
            <a:r>
              <a:rPr lang="en-US" b="1" dirty="0"/>
              <a:t>Flexibility:</a:t>
            </a:r>
            <a:r>
              <a:rPr lang="en-US" dirty="0"/>
              <a:t> Supports various key lengths.</a:t>
            </a:r>
          </a:p>
          <a:p>
            <a:r>
              <a:rPr lang="en-US" b="1" dirty="0"/>
              <a:t>Global Standard:</a:t>
            </a:r>
            <a:r>
              <a:rPr lang="en-US" dirty="0"/>
              <a:t> Widely adopted across industries.</a:t>
            </a:r>
          </a:p>
          <a:p>
            <a:endParaRPr lang="en-IN" dirty="0" smtClean="0"/>
          </a:p>
          <a:p>
            <a:endParaRPr lang="en-IN" dirty="0"/>
          </a:p>
        </p:txBody>
      </p:sp>
    </p:spTree>
    <p:extLst>
      <p:ext uri="{BB962C8B-B14F-4D97-AF65-F5344CB8AC3E}">
        <p14:creationId xmlns:p14="http://schemas.microsoft.com/office/powerpoint/2010/main" val="56018080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Limitations of </a:t>
            </a:r>
            <a:r>
              <a:rPr lang="en-US" b="1" dirty="0" smtClean="0"/>
              <a:t>AES</a:t>
            </a:r>
            <a:endParaRPr lang="en-IN" dirty="0"/>
          </a:p>
        </p:txBody>
      </p:sp>
      <p:sp>
        <p:nvSpPr>
          <p:cNvPr id="3" name="Text Placeholder 2"/>
          <p:cNvSpPr>
            <a:spLocks noGrp="1"/>
          </p:cNvSpPr>
          <p:nvPr>
            <p:ph type="body" idx="1"/>
          </p:nvPr>
        </p:nvSpPr>
        <p:spPr/>
        <p:txBody>
          <a:bodyPr/>
          <a:lstStyle/>
          <a:p>
            <a:r>
              <a:rPr lang="en-US" b="1" dirty="0" smtClean="0"/>
              <a:t>Key </a:t>
            </a:r>
            <a:r>
              <a:rPr lang="en-US" b="1" dirty="0"/>
              <a:t>Management Challenges:</a:t>
            </a:r>
            <a:r>
              <a:rPr lang="en-US" dirty="0"/>
              <a:t> Security relies heavily on key secrecy.</a:t>
            </a:r>
          </a:p>
          <a:p>
            <a:r>
              <a:rPr lang="en-US" b="1" dirty="0"/>
              <a:t>Vulnerability in Poor Implementations:</a:t>
            </a:r>
            <a:r>
              <a:rPr lang="en-US" dirty="0"/>
              <a:t> Side-channel attacks if not properly implemented.</a:t>
            </a:r>
          </a:p>
          <a:p>
            <a:r>
              <a:rPr lang="en-US" b="1" dirty="0"/>
              <a:t>Not Suitable for Very Large Data Streams</a:t>
            </a:r>
            <a:r>
              <a:rPr lang="en-US" dirty="0"/>
              <a:t> in its basic form without modes like CTR.</a:t>
            </a:r>
          </a:p>
          <a:p>
            <a:endParaRPr lang="en-IN" dirty="0"/>
          </a:p>
        </p:txBody>
      </p:sp>
    </p:spTree>
    <p:extLst>
      <p:ext uri="{BB962C8B-B14F-4D97-AF65-F5344CB8AC3E}">
        <p14:creationId xmlns:p14="http://schemas.microsoft.com/office/powerpoint/2010/main" val="106275531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21"/>
          <p:cNvSpPr/>
          <p:nvPr/>
        </p:nvSpPr>
        <p:spPr>
          <a:xfrm>
            <a:off x="3033631" y="2967334"/>
            <a:ext cx="5282785"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IN" sz="5400" b="1" i="0" u="none" strike="noStrike" cap="none" dirty="0" smtClean="0">
                <a:solidFill>
                  <a:srgbClr val="C00000"/>
                </a:solidFill>
                <a:latin typeface="Marcellus" panose="020B0604020202020204" charset="0"/>
                <a:ea typeface="Calibri"/>
                <a:cs typeface="Calibri"/>
                <a:sym typeface="Calibri"/>
              </a:rPr>
              <a:t>Thank you!!</a:t>
            </a:r>
            <a:endParaRPr sz="5400" b="1" i="0" u="none" strike="noStrike" cap="none" dirty="0">
              <a:solidFill>
                <a:srgbClr val="C00000"/>
              </a:solidFill>
              <a:latin typeface="Marcellus" panose="020B0604020202020204" charset="0"/>
              <a:ea typeface="Calibri"/>
              <a:cs typeface="Calibri"/>
              <a:sym typeface="Calibri"/>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40186</TotalTime>
  <Words>3955</Words>
  <Application>Microsoft Office PowerPoint</Application>
  <PresentationFormat>On-screen Show (4:3)</PresentationFormat>
  <Paragraphs>508</Paragraphs>
  <Slides>103</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103</vt:i4>
      </vt:variant>
    </vt:vector>
  </HeadingPairs>
  <TitlesOfParts>
    <vt:vector size="112" baseType="lpstr">
      <vt:lpstr>Arial</vt:lpstr>
      <vt:lpstr>Fira Sans</vt:lpstr>
      <vt:lpstr>Times New Roman</vt:lpstr>
      <vt:lpstr>Tahoma</vt:lpstr>
      <vt:lpstr>Marcellus</vt:lpstr>
      <vt:lpstr>Calibri</vt:lpstr>
      <vt:lpstr>Noto Sans Symbols</vt:lpstr>
      <vt:lpstr>Courier New</vt:lpstr>
      <vt:lpstr>2_Custom Design</vt:lpstr>
      <vt:lpstr>Modern Block Ciphers- DES &amp; AES   </vt:lpstr>
      <vt:lpstr>Module 3: Symmetric Key Cryptography </vt:lpstr>
      <vt:lpstr>MODERN BLOCK CIPHERS</vt:lpstr>
      <vt:lpstr>“must-know” vocabulary terms</vt:lpstr>
      <vt:lpstr>3.2 Classical block ciphers</vt:lpstr>
      <vt:lpstr>Electronic codebook mode</vt:lpstr>
      <vt:lpstr>Cipher Feedback Mode</vt:lpstr>
      <vt:lpstr>Output Feedback Mode</vt:lpstr>
      <vt:lpstr>Cipher block chaining mode</vt:lpstr>
      <vt:lpstr>Summary : Classical block cipher modes</vt:lpstr>
      <vt:lpstr>PowerPoint Presentation</vt:lpstr>
      <vt:lpstr>PowerPoint Presentation</vt:lpstr>
      <vt:lpstr>Modern Block Cipher techniques</vt:lpstr>
      <vt:lpstr>Modern Block Cipher techniques</vt:lpstr>
      <vt:lpstr>Diffusion</vt:lpstr>
      <vt:lpstr>Confusion</vt:lpstr>
      <vt:lpstr>S-Box</vt:lpstr>
      <vt:lpstr>S-Box</vt:lpstr>
      <vt:lpstr>S-Box</vt:lpstr>
      <vt:lpstr>Invertability of S-Box</vt:lpstr>
      <vt:lpstr>P-Box</vt:lpstr>
      <vt:lpstr>Types of P Boxes</vt:lpstr>
      <vt:lpstr>Straight P box</vt:lpstr>
      <vt:lpstr>PowerPoint Presentation</vt:lpstr>
      <vt:lpstr>All possibilities of a 3 × 3 straight P-box. </vt:lpstr>
      <vt:lpstr>Example</vt:lpstr>
      <vt:lpstr>Compression P Box</vt:lpstr>
      <vt:lpstr>Expansion P-box</vt:lpstr>
      <vt:lpstr>Invertability of P Box</vt:lpstr>
      <vt:lpstr>Invertability of P Box</vt:lpstr>
      <vt:lpstr>Invertability of P Box</vt:lpstr>
      <vt:lpstr>Circular Shift</vt:lpstr>
      <vt:lpstr>PowerPoint Presentation</vt:lpstr>
      <vt:lpstr>Invertibility of circular shift</vt:lpstr>
      <vt:lpstr>Swap</vt:lpstr>
      <vt:lpstr>Swap operation invertability</vt:lpstr>
      <vt:lpstr>Split and Combine</vt:lpstr>
      <vt:lpstr>Split and Combine</vt:lpstr>
      <vt:lpstr>Rounds</vt:lpstr>
      <vt:lpstr>A product cipher with two rounds</vt:lpstr>
      <vt:lpstr>PowerPoint Presentation</vt:lpstr>
      <vt:lpstr> Classes of Product Ciphers </vt:lpstr>
      <vt:lpstr>Data Encryption Standard</vt:lpstr>
      <vt:lpstr>History of DES</vt:lpstr>
      <vt:lpstr>DES - a block cipher</vt:lpstr>
      <vt:lpstr>DES Structure</vt:lpstr>
      <vt:lpstr>DES Keys and General structure</vt:lpstr>
      <vt:lpstr>DES Rounds</vt:lpstr>
      <vt:lpstr>A round in DES</vt:lpstr>
      <vt:lpstr>Expansion P-box</vt:lpstr>
      <vt:lpstr>Expansion P-box</vt:lpstr>
      <vt:lpstr> Expansion P-box  expressed as table </vt:lpstr>
      <vt:lpstr>PowerPoint Presentation</vt:lpstr>
      <vt:lpstr>PowerPoint Presentation</vt:lpstr>
      <vt:lpstr>Example</vt:lpstr>
      <vt:lpstr>Example</vt:lpstr>
      <vt:lpstr>Straight Permutation </vt:lpstr>
      <vt:lpstr>Key Generation</vt:lpstr>
      <vt:lpstr>Triple DES</vt:lpstr>
      <vt:lpstr>DES Analysis</vt:lpstr>
      <vt:lpstr>DES Properties</vt:lpstr>
      <vt:lpstr>PowerPoint Presentation</vt:lpstr>
      <vt:lpstr>PowerPoint Presentation</vt:lpstr>
      <vt:lpstr>Applications of DES</vt:lpstr>
      <vt:lpstr>Applications of DES</vt:lpstr>
      <vt:lpstr>Limitations of DES</vt:lpstr>
      <vt:lpstr>Limitations of DES</vt:lpstr>
      <vt:lpstr>Advanced Encryption Standard</vt:lpstr>
      <vt:lpstr>PowerPoint Presentation</vt:lpstr>
      <vt:lpstr>Introduction to AES</vt:lpstr>
      <vt:lpstr>Introduction to AES</vt:lpstr>
      <vt:lpstr>Introduction to AES</vt:lpstr>
      <vt:lpstr>Key Features of AES</vt:lpstr>
      <vt:lpstr>AES Structure (Rounds and Key Sizes)</vt:lpstr>
      <vt:lpstr>PowerPoint Presentation</vt:lpstr>
      <vt:lpstr>How AES Works (Encryption Process)</vt:lpstr>
      <vt:lpstr>AES: General design structure </vt:lpstr>
      <vt:lpstr>Data sizes in AES</vt:lpstr>
      <vt:lpstr>Data transformation - bit, block, state</vt:lpstr>
      <vt:lpstr>Structure of AES round</vt:lpstr>
      <vt:lpstr>SubBytes- involves 16 independent byte-to-byte transformations</vt:lpstr>
      <vt:lpstr>SubBytes</vt:lpstr>
      <vt:lpstr>PowerPoint Presentation</vt:lpstr>
      <vt:lpstr>SubBytes and InverseSubBytes</vt:lpstr>
      <vt:lpstr>ShiftRows</vt:lpstr>
      <vt:lpstr>ShiftRows</vt:lpstr>
      <vt:lpstr>ShiftRows</vt:lpstr>
      <vt:lpstr>InvShiftRows</vt:lpstr>
      <vt:lpstr>Mixing</vt:lpstr>
      <vt:lpstr>Mixing</vt:lpstr>
      <vt:lpstr> MixColumns &amp; Inv MixColumns </vt:lpstr>
      <vt:lpstr>AddRoundKey</vt:lpstr>
      <vt:lpstr>AddRoundKey</vt:lpstr>
      <vt:lpstr>Key expansion</vt:lpstr>
      <vt:lpstr>PowerPoint Presentation</vt:lpstr>
      <vt:lpstr>Key expansion analysis</vt:lpstr>
      <vt:lpstr>AES Decryption</vt:lpstr>
      <vt:lpstr>AES process</vt:lpstr>
      <vt:lpstr>Why AES is Secure?</vt:lpstr>
      <vt:lpstr>Applications of AES</vt:lpstr>
      <vt:lpstr>Advantages of AES</vt:lpstr>
      <vt:lpstr>Limitations of AES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Theory</dc:title>
  <dc:creator>Swati Mali</dc:creator>
  <cp:lastModifiedBy>Swati</cp:lastModifiedBy>
  <cp:revision>157</cp:revision>
  <dcterms:created xsi:type="dcterms:W3CDTF">2021-02-11T03:47:51Z</dcterms:created>
  <dcterms:modified xsi:type="dcterms:W3CDTF">2025-08-19T06:27:10Z</dcterms:modified>
</cp:coreProperties>
</file>